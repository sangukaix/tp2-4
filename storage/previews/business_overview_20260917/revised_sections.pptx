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ns0="http://schemas.openxmlformats.org/officeDocument/2006/relationships" id="276" ns0:id="rId20"/>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4.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6.xml"/><Relationship Id="R4c9d0e3030fa4c5f" Type="http://schemas.openxmlformats.org/officeDocument/2006/relationships/slide" Target="slides/slide10.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2.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1.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5.xml"/><Relationship Id="rId20" Type="http://schemas.openxmlformats.org/officeDocument/2006/relationships/slide" Target="slides/slide17.xml"/><Relationship Id="rId21" Type="http://schemas.openxmlformats.org/officeDocument/2006/relationships/slide" Target="slides/slide13.xml"/><Relationship Id="rId22" Type="http://schemas.openxmlformats.org/officeDocument/2006/relationships/slide" Target="slides/slide8.xml"/><Relationship Id="rId23"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499.8578</c:v>
                </c:pt>
                <c:pt idx="1">
                  <c:v>494.0348</c:v>
                </c:pt>
                <c:pt idx="2">
                  <c:v>498.9633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499.8578</c:v>
                </c:pt>
                <c:pt idx="1">
                  <c:v>494.08248288</c:v>
                </c:pt>
                <c:pt idx="2">
                  <c:v>499.05961712</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520.0"/>
          <c:min val="46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793.5937471</c:v>
                </c:pt>
                <c:pt idx="1">
                  <c:v>859.71975908</c:v>
                </c:pt>
                <c:pt idx="2">
                  <c:v>810.33922052</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793.5937471</c:v>
                </c:pt>
                <c:pt idx="1">
                  <c:v>859.89822377</c:v>
                </c:pt>
                <c:pt idx="2">
                  <c:v>810.6756486</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900.0"/>
          <c:min val="7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-1.766149</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49452172000000005"/>
          <c:min val="-2.260670720000000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서구</c:v>
                </c:pt>
                <c:pt idx="1">
                  <c:v>전국 비교 평균</c:v>
                </c:pt>
              </c:strCache>
            </c:strRef>
          </c:cat>
          <c:val>
            <c:numRef>
              <c:f>Sheet1!$B$2:$B$3</c:f>
              <c:numCache>
                <c:formatCode>General</c:formatCode>
                <c:ptCount val="2"/>
                <c:pt idx="0">
                  <c:v>4.485906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0036352"/>
          <c:min val="-1.85945452"/>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27649B"/>
              </a:solidFill>
              <a:ln>
                <a:noFill/>
              </a:ln>
            </c:spPr>
          </c:dPt>
          <c:dPt>
            <c:idx val="1"/>
            <c:spPr>
              <a:solidFill>
                <a:srgbClr val="27649B"/>
              </a:solidFill>
              <a:ln>
                <a:noFill/>
              </a:ln>
            </c:spPr>
          </c:dPt>
          <c:dPt>
            <c:idx val="2"/>
            <c:spPr>
              <a:solidFill>
                <a:srgbClr val="27649B"/>
              </a:solidFill>
              <a:ln>
                <a:noFill/>
              </a:ln>
            </c:spPr>
          </c:dPt>
          <c:cat>
            <c:strRef>
              <c:f>Sheet1!$A$2:$A$4</c:f>
              <c:strCache>
                <c:ptCount val="3"/>
                <c:pt idx="0">
                  <c:v>26.10</c:v>
                </c:pt>
                <c:pt idx="1">
                  <c:v>26.11</c:v>
                </c:pt>
                <c:pt idx="2">
                  <c:v>26.12</c:v>
                </c:pt>
              </c:strCache>
            </c:strRef>
          </c:cat>
          <c:val>
            <c:numRef>
              <c:f>Sheet1!$B$2:$B$4</c:f>
              <c:numCache>
                <c:formatCode>General</c:formatCode>
                <c:ptCount val="3"/>
                <c:pt idx="0">
                  <c:v>0.0</c:v>
                </c:pt>
                <c:pt idx="1">
                  <c:v>476.83</c:v>
                </c:pt>
                <c:pt idx="2">
                  <c:v>963.17</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월별 추가 목표</c:v>
                </c:pt>
              </c:strCache>
            </c:strRef>
          </c:tx>
          <c:dPt>
            <c:idx val="0"/>
            <c:spPr>
              <a:solidFill>
                <a:srgbClr val="187C70"/>
              </a:solidFill>
              <a:ln>
                <a:noFill/>
              </a:ln>
            </c:spPr>
          </c:dPt>
          <c:dPt>
            <c:idx val="1"/>
            <c:spPr>
              <a:solidFill>
                <a:srgbClr val="187C70"/>
              </a:solidFill>
              <a:ln>
                <a:noFill/>
              </a:ln>
            </c:spPr>
          </c:dPt>
          <c:dPt>
            <c:idx val="2"/>
            <c:spPr>
              <a:solidFill>
                <a:srgbClr val="187C70"/>
              </a:solidFill>
              <a:ln>
                <a:noFill/>
              </a:ln>
            </c:spPr>
          </c:dPt>
          <c:cat>
            <c:strRef>
              <c:f>Sheet1!$A$2:$A$4</c:f>
              <c:strCache>
                <c:ptCount val="3"/>
                <c:pt idx="0">
                  <c:v>26.10</c:v>
                </c:pt>
                <c:pt idx="1">
                  <c:v>26.11</c:v>
                </c:pt>
                <c:pt idx="2">
                  <c:v>26.12</c:v>
                </c:pt>
              </c:strCache>
            </c:strRef>
          </c:cat>
          <c:val>
            <c:numRef>
              <c:f>Sheet1!$B$2:$B$4</c:f>
              <c:numCache>
                <c:formatCode>General</c:formatCode>
                <c:ptCount val="3"/>
                <c:pt idx="0">
                  <c:v>0.0</c:v>
                </c:pt>
                <c:pt idx="1">
                  <c:v>1784.65</c:v>
                </c:pt>
                <c:pt idx="2">
                  <c:v>3364.28</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10.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6.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표지 사진 출처: {"title": "도산서원(대전)", "address": "대전광역시 서구 남선로 8", "summary": "한국관광공사 국문관광정보 API가 반환한 선택 지역 관광자원", "image_url": "http://tong.visitkorea.or.kr/cms/resource/24/3035024_image2_1.JPG", "source_id": "tour-api:1955818", "content_id": "1955818",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"9da8906bc18ad5ed9a1f620a997c40557df67be2a658dc8a337d675d2ed7fe0e",</a:t>
            </a:r>
          </a:p>
          <a:p xmlns:a="http://schemas.openxmlformats.org/drawingml/2006/main">
            <a:r>
              <a:t>    "region_code": "30170",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4998578,</a:t>
            </a:r>
          </a:p>
          <a:p xmlns:a="http://schemas.openxmlformats.org/drawingml/2006/main">
            <a:r>
              <a:t>          4940348,</a:t>
            </a:r>
          </a:p>
          <a:p xmlns:a="http://schemas.openxmlformats.org/drawingml/2006/main">
            <a:r>
              <a:t>          4989633</a:t>
            </a:r>
          </a:p>
          <a:p xmlns:a="http://schemas.openxmlformats.org/drawingml/2006/main">
            <a:r>
              <a:t>        ],</a:t>
            </a:r>
          </a:p>
          <a:p xmlns:a="http://schemas.openxmlformats.org/drawingml/2006/main">
            <a:r>
              <a:t>        "previous": [</a:t>
            </a:r>
          </a:p>
          <a:p xmlns:a="http://schemas.openxmlformats.org/drawingml/2006/main">
            <a:r>
              <a:t>          4949394.0,</a:t>
            </a:r>
          </a:p>
          <a:p xmlns:a="http://schemas.openxmlformats.org/drawingml/2006/main">
            <a:r>
              <a:t>          5167969.0,</a:t>
            </a:r>
          </a:p>
          <a:p xmlns:a="http://schemas.openxmlformats.org/drawingml/2006/main">
            <a:r>
              <a:t>          5079597.0</a:t>
            </a:r>
          </a:p>
          <a:p xmlns:a="http://schemas.openxmlformats.org/drawingml/2006/main">
            <a:r>
              <a:t>        ],</a:t>
            </a:r>
          </a:p>
          <a:p xmlns:a="http://schemas.openxmlformats.org/drawingml/2006/main">
            <a:r>
              <a:t>        "growth_pct": -1.766149282488072,</a:t>
            </a:r>
          </a:p>
          <a:p xmlns:a="http://schemas.openxmlformats.org/drawingml/2006/main">
            <a:r>
              <a:t>        "national_mean_pct": -0.394766937691683,</a:t>
            </a:r>
          </a:p>
          <a:p xmlns:a="http://schemas.openxmlformats.org/drawingml/2006/main">
            <a:r>
              <a:t>        "gap_pp": -1.371382344796389,</a:t>
            </a:r>
          </a:p>
          <a:p xmlns:a="http://schemas.openxmlformats.org/drawingml/2006/main">
            <a:r>
              <a:t>        "rank": 185,</a:t>
            </a:r>
          </a:p>
          <a:p xmlns:a="http://schemas.openxmlformats.org/drawingml/2006/main">
            <a:r>
              <a:t>        "target_growth_pct": -1.756673703161682,</a:t>
            </a:r>
          </a:p>
          <a:p xmlns:a="http://schemas.openxmlformats.org/drawingml/2006/main">
            <a:r>
              <a:t>        "target_rank": 185,</a:t>
            </a:r>
          </a:p>
          <a:p xmlns:a="http://schemas.openxmlformats.org/drawingml/2006/main">
            <a:r>
              <a:t>        "target": [</a:t>
            </a:r>
          </a:p>
          <a:p xmlns:a="http://schemas.openxmlformats.org/drawingml/2006/main">
            <a:r>
              <a:t>          4998578.0,</a:t>
            </a:r>
          </a:p>
          <a:p xmlns:a="http://schemas.openxmlformats.org/drawingml/2006/main">
            <a:r>
              <a:t>          4940824.828765141,</a:t>
            </a:r>
          </a:p>
          <a:p xmlns:a="http://schemas.openxmlformats.org/drawingml/2006/main">
            <a:r>
              <a:t>          4990596.171234859</a:t>
            </a:r>
          </a:p>
          <a:p xmlns:a="http://schemas.openxmlformats.org/drawingml/2006/main">
            <a:r>
              <a:t>        ],</a:t>
            </a:r>
          </a:p>
          <a:p xmlns:a="http://schemas.openxmlformats.org/drawingml/2006/main">
            <a:r>
              <a:t>        "additional": 1440.0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79359374710,</a:t>
            </a:r>
          </a:p>
          <a:p xmlns:a="http://schemas.openxmlformats.org/drawingml/2006/main">
            <a:r>
              <a:t>          85971975908,</a:t>
            </a:r>
          </a:p>
          <a:p xmlns:a="http://schemas.openxmlformats.org/drawingml/2006/main">
            <a:r>
              <a:t>          81033922052</a:t>
            </a:r>
          </a:p>
          <a:p xmlns:a="http://schemas.openxmlformats.org/drawingml/2006/main">
            <a:r>
              <a:t>        ],</a:t>
            </a:r>
          </a:p>
          <a:p xmlns:a="http://schemas.openxmlformats.org/drawingml/2006/main">
            <a:r>
              <a:t>        "previous": [</a:t>
            </a:r>
          </a:p>
          <a:p xmlns:a="http://schemas.openxmlformats.org/drawingml/2006/main">
            <a:r>
              <a:t>          78158272000.0,</a:t>
            </a:r>
          </a:p>
          <a:p xmlns:a="http://schemas.openxmlformats.org/drawingml/2006/main">
            <a:r>
              <a:t>          76509918000.0,</a:t>
            </a:r>
          </a:p>
          <a:p xmlns:a="http://schemas.openxmlformats.org/drawingml/2006/main">
            <a:r>
              <a:t>          81119852000.0</a:t>
            </a:r>
          </a:p>
          <a:p xmlns:a="http://schemas.openxmlformats.org/drawingml/2006/main">
            <a:r>
              <a:t>        ],</a:t>
            </a:r>
          </a:p>
          <a:p xmlns:a="http://schemas.openxmlformats.org/drawingml/2006/main">
            <a:r>
              <a:t>        "growth_pct": 4.485906316657062,</a:t>
            </a:r>
          </a:p>
          <a:p xmlns:a="http://schemas.openxmlformats.org/drawingml/2006/main">
            <a:r>
              <a:t>        "national_mean_pct": 6.640909128955906,</a:t>
            </a:r>
          </a:p>
          <a:p xmlns:a="http://schemas.openxmlformats.org/drawingml/2006/main">
            <a:r>
              <a:t>        "gap_pp": -2.155002812298844,</a:t>
            </a:r>
          </a:p>
          <a:p xmlns:a="http://schemas.openxmlformats.org/drawingml/2006/main">
            <a:r>
              <a:t>        "rank": 60,</a:t>
            </a:r>
          </a:p>
          <a:p xmlns:a="http://schemas.openxmlformats.org/drawingml/2006/main">
            <a:r>
              <a:t>        "target_growth_pct": 4.507743419405474,</a:t>
            </a:r>
          </a:p>
          <a:p xmlns:a="http://schemas.openxmlformats.org/drawingml/2006/main">
            <a:r>
              <a:t>        "target_rank": 60,</a:t>
            </a:r>
          </a:p>
          <a:p xmlns:a="http://schemas.openxmlformats.org/drawingml/2006/main">
            <a:r>
              <a:t>        "target": [</a:t>
            </a:r>
          </a:p>
          <a:p xmlns:a="http://schemas.openxmlformats.org/drawingml/2006/main">
            <a:r>
              <a:t>          79359374710.0,</a:t>
            </a:r>
          </a:p>
          <a:p xmlns:a="http://schemas.openxmlformats.org/drawingml/2006/main">
            <a:r>
              <a:t>          85989822376.69019,</a:t>
            </a:r>
          </a:p>
          <a:p xmlns:a="http://schemas.openxmlformats.org/drawingml/2006/main">
            <a:r>
              <a:t>          81067564860.30981</a:t>
            </a:r>
          </a:p>
          <a:p xmlns:a="http://schemas.openxmlformats.org/drawingml/2006/main">
            <a:r>
              <a:t>        ],</a:t>
            </a:r>
          </a:p>
          <a:p xmlns:a="http://schemas.openxmlformats.org/drawingml/2006/main">
            <a:r>
              <a:t>        "additional": 51489277.0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"kpi": "1. 인정 결제액 합계(취소·중복 제외): 2026-10~12 기간 중 운영팀 정산 원장 기준, 사업 미참여 기간 대비 증가분 측정. 2. 사업 참여자 1인당 평균 결제액: 적격 신청자 수 대비 인정 결제액 합계/참여자 수, 운영팀 정산 데이터 기반.",</a:t>
            </a:r>
          </a:p>
          <a:p xmlns:a="http://schemas.openxmlformats.org/drawingml/2006/main">
            <a:r>
              <a:t>    "title": "서구 상권 활력 제고를 위한 '서구 관광 소비 환급' 시범 사업",</a:t>
            </a:r>
          </a:p>
          <a:p xmlns:a="http://schemas.openxmlformats.org/drawingml/2006/main">
            <a:r>
              <a:t>    "budget": "총 예산 = Σ min(적격 결제액 × 가정 환급률, 건별 상한액). (기획 가정/미확정 견적)",</a:t>
            </a:r>
          </a:p>
          <a:p xmlns:a="http://schemas.openxmlformats.org/drawingml/2006/main">
            <a:r>
              <a:t>    "evidence": "ml:30170:regional-demand-v3.1:202606, dataset:30170:3, case:58c0694a3e85d8",</a:t>
            </a:r>
          </a:p>
          <a:p xmlns:a="http://schemas.openxmlformats.org/drawingml/2006/main">
            <a:r>
              <a:t>    "priority": 1,</a:t>
            </a:r>
          </a:p>
          <a:p xmlns:a="http://schemas.openxmlformats.org/drawingml/2006/main">
            <a:r>
              <a:t>    "solution": "서구 내 지정된 식음료·쇼핑 업종에서 일정 금액 이상 결제 시, 증빙을 통해 지역사랑상품권으로 일부를 환급해 주는 방식",</a:t>
            </a:r>
          </a:p>
          <a:p xmlns:a="http://schemas.openxmlformats.org/drawingml/2006/main">
            <a:r>
              <a:t>    "timeframe": "2026-10 ~ 2026-12, 3개월",</a:t>
            </a:r>
          </a:p>
          <a:p xmlns:a="http://schemas.openxmlformats.org/drawingml/2006/main">
            <a:r>
              <a:t>    "expected_effect": "계획 목표: 최종월 ML 전망 대비 방문 +0.02%, 소비 +0.04%. 운영 규모와 참여 가정으로 산정하며 실제 성과는 별도 집계합니다.",</a:t>
            </a:r>
          </a:p>
          <a:p xmlns:a="http://schemas.openxmlformats.org/drawingml/2006/main">
            <a:r>
              <a:t>    "problem_to_solve": "방문객 수 및 검색량 감소 전망에 대응하여, 방문객의 지출을 지역 내 상권(식음료, 쇼핑)으로 확실히 연결하고 체류형 소비를 유도함",</a:t>
            </a:r>
          </a:p>
          <a:p xmlns:a="http://schemas.openxmlformats.org/drawingml/2006/main">
            <a:r>
              <a:t>    "comparison_analysis": "강진의 '반값여행'(case:58c0694a3e85d8)은 지출 증빙 후 지역상품권을 환급하여 재사용을 유도하는 검증된 메커니즘을 가짐. 대전 서구는 군 단위 체류 정책이 아닌 도시형 상권(백화점, 식음료업)에 집중하여 결제액 기반 환급을 실시함으로써 소비 전환을 꾀함.",</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"task": "관광기획팀이 환급 대상 업종(식음료, 쇼핑) 및 가맹점 리스트를 확정하고, 모바일 지역화폐 정산 체계와 부정수급 방지 지침을 수립함",</a:t>
            </a:r>
          </a:p>
          <a:p xmlns:a="http://schemas.openxmlformats.org/drawingml/2006/main">
            <a:r>
              <a:t>        "schedule": "2026-10",</a:t>
            </a:r>
          </a:p>
          <a:p xmlns:a="http://schemas.openxmlformats.org/drawingml/2006/main">
            <a:r>
              <a:t>        "deliverable": "참여 가맹점 명단 및 운영 지침서"</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"task": "홍보팀이 외지인 관광객을 대상으로 사업 홍보물을 제작하고, 온라인 채널을 통해 참여 신청 접수 프로세스를 가동함",</a:t>
            </a:r>
          </a:p>
          <a:p xmlns:a="http://schemas.openxmlformats.org/drawingml/2006/main">
            <a:r>
              <a:t>        "schedule": "2026-10",</a:t>
            </a:r>
          </a:p>
          <a:p xmlns:a="http://schemas.openxmlformats.org/drawingml/2006/main">
            <a:r>
              <a:t>        "deliverable": "홍보물 및 신청자 명단"</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"task": "운영팀이 시범 운영을 개시하고, 관광객의 결제 증빙을 확인하여 지역사랑상품권을 환급함",</a:t>
            </a:r>
          </a:p>
          <a:p xmlns:a="http://schemas.openxmlformats.org/drawingml/2006/main">
            <a:r>
              <a:t>        "schedule": "2026-11",</a:t>
            </a:r>
          </a:p>
          <a:p xmlns:a="http://schemas.openxmlformats.org/drawingml/2006/main">
            <a:r>
              <a:t>        "deliverable": "주간 결제 및 환급 현황 보고서"</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"task": "정산 담당자가 월별 결제 데이터를 검수하고, 부정수급 여부를 모니터링하여 최종 정산을 실시함",</a:t>
            </a:r>
          </a:p>
          <a:p xmlns:a="http://schemas.openxmlformats.org/drawingml/2006/main">
            <a:r>
              <a:t>        "schedule": "2026-12",</a:t>
            </a:r>
          </a:p>
          <a:p xmlns:a="http://schemas.openxmlformats.org/drawingml/2006/main">
            <a:r>
              <a:t>        "deliverable": "월간 정산 원장"</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"task": "기획팀이 사업 성과(인정 결제액, 참여자 1인당 결제액)를 분석하고 차기 운영 규모를 검토함",</a:t>
            </a:r>
          </a:p>
          <a:p xmlns:a="http://schemas.openxmlformats.org/drawingml/2006/main">
            <a:r>
              <a:t>        "schedule": "2026-12",</a:t>
            </a:r>
          </a:p>
          <a:p xmlns:a="http://schemas.openxmlformats.org/drawingml/2006/main">
            <a:r>
              <a:t>        "deliverable": "최종 결과 보고서"</a:t>
            </a:r>
          </a:p>
          <a:p xmlns:a="http://schemas.openxmlformats.org/drawingml/2006/main">
            <a:r>
              <a:t>      }</a:t>
            </a:r>
          </a:p>
          <a:p xmlns:a="http://schemas.openxmlformats.org/drawingml/2006/main">
            <a:r>
              <a:t>    ],</a:t>
            </a:r>
          </a:p>
          <a:p xmlns:a="http://schemas.openxmlformats.org/drawingml/2006/main">
            <a:r>
              <a:t>    "visual_asset_source_ids": [</a:t>
            </a:r>
          </a:p>
          <a:p xmlns:a="http://schemas.openxmlformats.org/drawingml/2006/main">
            <a:r>
              <a:t>      "ml:30170:regional-demand-v3.1:202606",</a:t>
            </a:r>
          </a:p>
          <a:p xmlns:a="http://schemas.openxmlformats.org/drawingml/2006/main">
            <a:r>
              <a:t>      "dataset:30170:3"</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"gangjin_official.jpg",</a:t>
            </a:r>
          </a:p>
          <a:p xmlns:a="http://schemas.openxmlformats.org/drawingml/2006/main">
            <a:r>
              <a:t>      "caption": "다른 지역 참고 사진 ·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"jeongdong_2024.jpg",</a:t>
            </a:r>
          </a:p>
          <a:p xmlns:a="http://schemas.openxmlformats.org/drawingml/2006/main">
            <a:r>
              <a:t>      "caption": "다른 지역 참고 사진 · 서울 중구 정동야행 · 문화행사 참고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"다른 지역 참고 사진 ·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"similar_operation",</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"task": "관광기획팀이 환급 대상 업종(식음료, 쇼핑) 및 가맹점 리스트를 확정하고, 모바일 지역화폐 정산 체계와 부정수급 방지 지침을 수립함", "schedule": "2026-10", "deliverable": "참여 가맹점 명단 및 운영 지침서"}, {"step": 2, "task": "홍보팀이 외지인 관광객을 대상으로 사업 홍보물을 제작하고, 온라인 채널을 통해 참여 신청 접수 프로세스를 가동함", "schedule": "2026-10", "deliverable": "홍보물 및 신청자 명단"}, {"step": 3, "task": "운영팀이 시범 운영을 개시하고, 관광객의 결제 증빙을 확인하여 지역사랑상품권을 환급함", "schedule": "2026-11", "deliverable": "주간 결제 및 환급 현황 보고서"}, {"step": 4, "task": "정산 담당자가 월별 결제 데이터를 검수하고, 부정수급 여부를 모니터링하여 최종 정산을 실시함", "schedule": "2026-12", "deliverable": "월간 정산 원장"}, {"step": 5, "task": "기획팀이 사업 성과(인정 결제액, 참여자 1인당 결제액)를 분석하고 차기 운영 규모를 검토함", "schedule": "2026-12", "deliverable": "최종 결과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"export_evidence": null,</a:t>
            </a:r>
          </a:p>
          <a:p>
            <a:r>
              <a:t>  "rule": "Facts refer only to the named event / period. Saved regional targets are unchanged."</a:t>
            </a:r>
          </a:p>
          <a:p>
            <a:r>
              <a:t>}</a:t>
            </a:r>
          </a:p>
          <a:p>
            <a:r>
              <a:t>지역 적용 근거 원문: {"summary": [["우리 지역의 관광 신호", "관광소비액 전망 · +4.49%\n업종별 소비 비중 · 쇼핑 43.0%, 식음료업 39.7%\n숙박 특성 · 숙박 비율 7.57%, 숙박일수 2.82일"], ["이 사례를 선택한 이유", "2026년 10~12월 전망된 관광소비액 증가 추세(4.49%)를 실제 상권 매출로 연결하기 위해, 결제 증빙 기반의 환급을 통해 추가 소비를 유도함 (source_id: ml:30170:regional-demand-v3.1:202606)"], ["우리 지역에 적용할 내용", "서구 내 지정된 식음료·쇼핑 업종에서 일정 금액 이상 결제 시, 증빙을 통해 지역사랑상품권으로 일부를 환급해 주는 방식"]],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operating_target.build_operating_target; 사용자 재배분: idea_proposal.scale_estimate; 전망 없는 기존 견적: proposal_evidence.build_reference_estimate.</a:t>
            </a:r>
          </a:p>
          <a:p>
            <a:r>
              <a:t>{</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dataset:30170:1 | 한국관광 데이터랩 · 대전광역시 서구 순 방문자 수 및 숙박 비율 (이동통신 기반 외지인) | https://datalab.visitkorea.or.kr/</a:t>
            </a:r>
          </a:p>
          <a:p xmlns:a="http://schemas.openxmlformats.org/drawingml/2006/main">
            <a:r>
              <a:t>dataset:30170:2 | 한국관광 데이터랩 · 대전광역시 서구 월간 순 방문자 수 (이동통신 기반 외지인) | https://datalab.visitkorea.or.kr/</a:t>
            </a:r>
          </a:p>
          <a:p xmlns:a="http://schemas.openxmlformats.org/drawingml/2006/main">
            <a:r>
              <a:t>dataset:30170:3 | 한국관광 데이터랩 · 대전광역시 서구 관광소비 추이_외지인 | https://datalab.visitkorea.or.kr/</a:t>
            </a:r>
          </a:p>
          <a:p xmlns:a="http://schemas.openxmlformats.org/drawingml/2006/main">
            <a:r>
              <a:t>dataset:30170:4 | 한국관광 데이터랩 · 대전광역시 서구 숙박방문자 비율 추이 (이동통신 기반 외지인) | https://datalab.visitkorea.or.kr/</a:t>
            </a:r>
          </a:p>
          <a:p xmlns:a="http://schemas.openxmlformats.org/drawingml/2006/main">
            <a:r>
              <a:t>dataset:30170:5 | 한국관광 데이터랩 · 대전광역시 서구 평균 숙박일 (이동통신 기반 외지인) | https://datalab.visitkorea.or.kr/</a:t>
            </a:r>
          </a:p>
          <a:p xmlns:a="http://schemas.openxmlformats.org/drawingml/2006/main">
            <a:r>
              <a:t>dataset:30170:6 | 한국관광 데이터랩 · 대전광역시 서구 내비게이션 목적지 유형별 검색량 | https://datalab.visitkorea.or.kr/</a:t>
            </a:r>
          </a:p>
          <a:p xmlns:a="http://schemas.openxmlformats.org/drawingml/2006/main">
            <a:r>
              <a:t>dataset:30170:7 | 한국관광 데이터랩 · 대전광역시 서구 SNS 언급량 | https://datalab.visitkorea.or.kr/</a:t>
            </a:r>
          </a:p>
          <a:p xmlns:a="http://schemas.openxmlformats.org/drawingml/2006/main">
            <a:r>
              <a:t>datalab:12c41f8a3e52:f92921dca662 | 한국관광 데이터랩 공식 다운로드 · 대전광역시_서구/방문자/2025_01_12.zip | https://datalab.visitkorea.or.kr/</a:t>
            </a:r>
          </a:p>
          <a:p xmlns:a="http://schemas.openxmlformats.org/drawingml/2006/main">
            <a:r>
              <a:t>datalab:162285800b98:dbba3ac2e220 | 한국관광 데이터랩 공식 다운로드 · 대전광역시_서구/관광소비/2025_01_12.zip | https://datalab.visitkorea.or.kr/</a:t>
            </a:r>
          </a:p>
          <a:p xmlns:a="http://schemas.openxmlformats.org/drawingml/2006/main">
            <a:r>
              <a:t>datalab:1bec5b4405e1:6c5494eef7c6 | 한국관광 데이터랩 공식 다운로드 · 대전광역시_서구/숙박_체류시간/2025_01_12.zip | https://datalab.visitkorea.or.kr/</a:t>
            </a:r>
          </a:p>
          <a:p xmlns:a="http://schemas.openxmlformats.org/drawingml/2006/main">
            <a:r>
              <a:t>datalab:7a4db91d6ba9:d81294f3e5a0 | 한국관광 데이터랩 공식 다운로드 · 대전광역시_서구/관광소비/2026_01_06.zip | https://datalab.visitkorea.or.kr/</a:t>
            </a:r>
          </a:p>
          <a:p xmlns:a="http://schemas.openxmlformats.org/drawingml/2006/main">
            <a:r>
              <a:t>datalab:cc1dc8fb5607:77f3b69cfb89 | 한국관광 데이터랩 공식 다운로드 · 대전광역시_서구/방문자/2026_01_06.zip | https://datalab.visitkorea.or.kr/</a:t>
            </a:r>
          </a:p>
          <a:p xmlns:a="http://schemas.openxmlformats.org/drawingml/2006/main">
            <a:r>
              <a:t>datalab:e53d144382ee:fc025995a6df | 한국관광 데이터랩 공식 다운로드 · 대전광역시_서구/숙박_체류시간/2026_01_06.zip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regional-status:0c68fedc2071:0ad82310f803 | 한국관광 데이터랩 지역별 관광 현황 · 대전광역시 서구 · 지역집중률 | https://datalab.visitkorea.or.kr/</a:t>
            </a:r>
          </a:p>
          <a:p xmlns:a="http://schemas.openxmlformats.org/drawingml/2006/main">
            <a:r>
              <a:t>regional-status:4cddd6aa75d4:be8b01ec64e2 | 한국관광 데이터랩 지역별 관광 현황 · 대전광역시 서구 · 유입유출 | https://datalab.visitkorea.or.kr/</a:t>
            </a:r>
          </a:p>
          <a:p xmlns:a="http://schemas.openxmlformats.org/drawingml/2006/main">
            <a:r>
              <a:t>regional-status:8c9a813e95eb:5e0cc3f56b73 | 한국관광 데이터랩 지역별 관광 현황 · 대전광역시 서구 · 인기관광지 | https://datalab.visitkorea.or.kr/</a:t>
            </a:r>
          </a:p>
          <a:p xmlns:a="http://schemas.openxmlformats.org/drawingml/2006/main">
            <a:r>
              <a:t>ml:30170:regional-demand-v3.1:202606 | 지역 관광수요 ML 전망 · 공식 관측값 아님 | URL 미기록</a:t>
            </a:r>
          </a:p>
          <a:p xmlns:a="http://schemas.openxmlformats.org/drawingml/2006/main">
            <a:r>
              <a:t>tour-api:2899643 | 갈마짬뽕 | https://apis.data.go.kr/B551011/KorService2</a:t>
            </a:r>
          </a:p>
          <a:p xmlns:a="http://schemas.openxmlformats.org/drawingml/2006/main">
            <a:r>
              <a:t>tour-api:2899637 | 관저당 | https://apis.data.go.kr/B551011/KorService2</a:t>
            </a:r>
          </a:p>
          <a:p xmlns:a="http://schemas.openxmlformats.org/drawingml/2006/main">
            <a:r>
              <a:t>tour-api:1932079 | 굿모닝레지던스호텔휴 | https://apis.data.go.kr/B551011/KorService2</a:t>
            </a:r>
          </a:p>
          <a:p xmlns:a="http://schemas.openxmlformats.org/drawingml/2006/main">
            <a:r>
              <a:t>tour-api:133881 | 귀빈돌솥밥 | https://apis.data.go.kr/B551011/KorService2</a:t>
            </a:r>
          </a:p>
          <a:p xmlns:a="http://schemas.openxmlformats.org/drawingml/2006/main">
            <a:r>
              <a:t>tour-api:2758252 | 남선공원 | https://apis.data.go.kr/B551011/KorService2</a:t>
            </a:r>
          </a:p>
          <a:p xmlns:a="http://schemas.openxmlformats.org/drawingml/2006/main">
            <a:r>
              <a:t>tour-api:298208 | 내원사(대전) | https://apis.data.go.kr/B551011/KorService2</a:t>
            </a:r>
          </a:p>
          <a:p xmlns:a="http://schemas.openxmlformats.org/drawingml/2006/main">
            <a:r>
              <a:t>tour-api:3452550 | 노크노크 | https://apis.data.go.kr/B551011/KorService2</a:t>
            </a:r>
          </a:p>
          <a:p xmlns:a="http://schemas.openxmlformats.org/drawingml/2006/main">
            <a:r>
              <a:t>tour-api:2899585 | 대성콩국수 | https://apis.data.go.kr/B551011/KorService2</a:t>
            </a:r>
          </a:p>
          <a:p xmlns:a="http://schemas.openxmlformats.org/drawingml/2006/main">
            <a:r>
              <a:t>tour-api:130802 | 대전 가수원도서관 | https://apis.data.go.kr/B551011/KorService2</a:t>
            </a:r>
          </a:p>
          <a:p xmlns:a="http://schemas.openxmlformats.org/drawingml/2006/main">
            <a:r>
              <a:t>tour-api:2743325 | 대전광역시청 시민잔디광장 | https://apis.data.go.kr/B551011/KorService2</a:t>
            </a:r>
          </a:p>
          <a:p xmlns:a="http://schemas.openxmlformats.org/drawingml/2006/main">
            <a:r>
              <a:t>tour-api:130197 | 대전서구문화원 | https://apis.data.go.kr/B551011/KorService2</a:t>
            </a:r>
          </a:p>
          <a:p xmlns:a="http://schemas.openxmlformats.org/drawingml/2006/main">
            <a:r>
              <a:t>tour-api:2865847 | 델빠네 | https://apis.data.go.kr/B551011/KorService2</a:t>
            </a:r>
          </a:p>
          <a:p xmlns:a="http://schemas.openxmlformats.org/drawingml/2006/main">
            <a:r>
              <a:t>tour-api:2758334 | 도마큰시장 | https://apis.data.go.kr/B551011/KorService2</a:t>
            </a:r>
          </a:p>
          <a:p xmlns:a="http://schemas.openxmlformats.org/drawingml/2006/main">
            <a:r>
              <a:t>tour-api:1955818 | 도산서원(대전) | https://apis.data.go.kr/B551011/KorService2</a:t>
            </a:r>
          </a:p>
          <a:p xmlns:a="http://schemas.openxmlformats.org/drawingml/2006/main">
            <a:r>
              <a:t>tour-api:2758341 | 둔산꽃시장 | https://apis.data.go.kr/B551011/KorService2</a:t>
            </a:r>
          </a:p>
          <a:p xmlns:a="http://schemas.openxmlformats.org/drawingml/2006/main">
            <a:r>
              <a:t>tour-api:1623725 | 둔산전자타운 | https://apis.data.go.kr/B551011/KorService2</a:t>
            </a:r>
          </a:p>
          <a:p xmlns:a="http://schemas.openxmlformats.org/drawingml/2006/main">
            <a:r>
              <a:t>tour-api:132661 | 롯데백화점 (대전점) | https://apis.data.go.kr/B551011/KorService2</a:t>
            </a:r>
          </a:p>
          <a:p xmlns:a="http://schemas.openxmlformats.org/drawingml/2006/main">
            <a:r>
              <a:t>tour-api:2758646 | 마치광장 | https://apis.data.go.kr/B551011/KorService2</a:t>
            </a:r>
          </a:p>
          <a:p xmlns:a="http://schemas.openxmlformats.org/drawingml/2006/main">
            <a:r>
              <a:t>tour-api:2899544 | 몽뜨 | https://apis.data.go.kr/B551011/KorService2</a:t>
            </a:r>
          </a:p>
          <a:p xmlns:a="http://schemas.openxmlformats.org/drawingml/2006/main">
            <a:r>
              <a:t>tour-api:2865914 | 미세노센세 | https://apis.data.go.kr/B551011/KorService2</a:t>
            </a:r>
          </a:p>
          <a:p xmlns:a="http://schemas.openxmlformats.org/drawingml/2006/main">
            <a:r>
              <a:t>reference:kto:2026:local-airport | 요즘, 한국관광 2호 - 지방공항 연계 지역관광 활성화 방안 | PDF 44쪽, PDF 40쪽, PDF 41쪽, PDF 41쪽, PDF 43쪽 | https://datalab.visitkorea.or.kr/site/portal/ex/bbs/View.do?bcIdx=311068&amp;cbIdx=1135&amp;pageIndex=1</a:t>
            </a:r>
          </a:p>
          <a:p xmlns:a="http://schemas.openxmlformats.org/drawingml/2006/main">
            <a:r>
              <a:t>web:30170:1 | 여행가는 달 지역 여행할인 모아보기 | https://korean.visitkorea.or.kr/travelmonth/benefit.do?modal=benefit-190</a:t>
            </a:r>
          </a:p>
          <a:p xmlns:a="http://schemas.openxmlformats.org/drawingml/2006/main">
            <a:r>
              <a:t>web:30170:2 | 대전광역시_문화시설 | 공공데이터포털 | https://www.data.go.kr/data/15112114/openapi.do?recommendDataYn=Y</a:t>
            </a:r>
          </a:p>
          <a:p xmlns:a="http://schemas.openxmlformats.org/drawingml/2006/main">
            <a:r>
              <a:t>web:30170:3 | 대전광역시 문화관광(숙박정보) 데이터 | 공공데이터포털 | https://www.data.go.kr/dataset/15001021/openapi.do</a:t>
            </a:r>
          </a:p>
          <a:p xmlns:a="http://schemas.openxmlformats.org/drawingml/2006/main">
            <a:r>
              <a:t>web:30170:4 | 대전문화관광해설사 신규 양성 교육 | 한국관광공사 관광e배움터 | https://touredu.visitkorea.or.kr/home/pkgEdu/pkgEduDetail?crsCd=C202600107&amp;eduPlanYr=2026&amp;eduPlanYrStepCnt=1</a:t>
            </a:r>
          </a:p>
          <a:p xmlns:a="http://schemas.openxmlformats.org/drawingml/2006/main">
            <a:r>
              <a:t>web:30170:5 | 대전광역시 서구_체육시설 현황 | 공공데이터포털 | https://www.data.go.kr/dataset/15037511/fileData.do</a:t>
            </a:r>
          </a:p>
          <a:p xmlns:a="http://schemas.openxmlformats.org/drawingml/2006/main">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case:41508ca81cf29f | 한국관광 데이터랩 · 안동탈춤축제 연도별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case:28ff66d9b44637 | 2025년 문화예술 축제 통합 지원사업 종합결과보고서 | https://culture.seoul.go.kr/culture/cmmn/file/fileDown.do?atchFileId=bb34395b25504c66a77ef69999cacb1c&amp;bbsId=B0000006&amp;fileSn=1</a:t>
            </a:r>
          </a:p>
          <a:p xmlns:a="http://schemas.openxmlformats.org/drawingml/2006/main">
            <a:r>
              <a:t>case:58c0694a3e85d8 | 귀촌 '원조 반값'은 다르다… 강진서 전국 확산 '체류 관광 도시' | https://jnfarm.jeonnam.go.kr/board/FARM_BOARD_008/boardView.do?bdId=BD_00000000000015383&amp;menuCd=farm004002</a:t>
            </a:r>
          </a:p>
          <a:p xmlns:a="http://schemas.openxmlformats.org/drawingml/2006/main">
            <a:r>
              <a:t>case:4544b7bca8ebab | 요즘, 한국관광 2호 - 지방공항 연계 지역관광 활성화 방안 | https://datalab.visitkorea.or.kr/site/portal/ex/bbs/View.do?bcIdx=311068&amp;cbIdx=1135&amp;pageIndex=1</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"title": "한국관광 데이터랩 · 대전광역시 서구 순 방문자 수 및 숙박 비율 (이동통신 기반 외지인)",</a:t>
            </a:r>
          </a:p>
          <a:p xmlns:a="http://schemas.openxmlformats.org/drawingml/2006/main">
            <a:r>
              <a:t>      "summary": "월간 순 방문자 수: 4,619,168명 (관측 기준월: 2026-06)",</a:t>
            </a:r>
          </a:p>
          <a:p xmlns:a="http://schemas.openxmlformats.org/drawingml/2006/main">
            <a:r>
              <a:t>      "source_id": "dataset:30170:1",</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월간 순 방문자 수 (이동통신 기반 외지인)",</a:t>
            </a:r>
          </a:p>
          <a:p xmlns:a="http://schemas.openxmlformats.org/drawingml/2006/main">
            <a:r>
              <a:t>      "summary": "전년동월 외지인 방문자 증감률: -3.5% (관측 기준월: 2026-06)",</a:t>
            </a:r>
          </a:p>
          <a:p xmlns:a="http://schemas.openxmlformats.org/drawingml/2006/main">
            <a:r>
              <a:t>      "source_id": "dataset:30170:2",</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관광소비 추이_외지인",</a:t>
            </a:r>
          </a:p>
          <a:p xmlns:a="http://schemas.openxmlformats.org/drawingml/2006/main">
            <a:r>
              <a:t>      "summary": "월간 외지인 관광소비 총액: 76,758,413,000원 (관측 기준월: 2026-06)",</a:t>
            </a:r>
          </a:p>
          <a:p xmlns:a="http://schemas.openxmlformats.org/drawingml/2006/main">
            <a:r>
              <a:t>      "source_id": "dataset:30170:3",</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숙박방문자 비율 추이 (이동통신 기반 외지인)",</a:t>
            </a:r>
          </a:p>
          <a:p xmlns:a="http://schemas.openxmlformats.org/drawingml/2006/main">
            <a:r>
              <a:t>      "summary": "외지인 숙박 방문 비율: 6.7% (관측 기준월: 2026-06)",</a:t>
            </a:r>
          </a:p>
          <a:p xmlns:a="http://schemas.openxmlformats.org/drawingml/2006/main">
            <a:r>
              <a:t>      "source_id": "dataset:30170:4",</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평균 숙박일 (이동통신 기반 외지인)",</a:t>
            </a:r>
          </a:p>
          <a:p xmlns:a="http://schemas.openxmlformats.org/drawingml/2006/main">
            <a:r>
              <a:t>      "summary": "외지인 평균 숙박일수: 2.81일 (관측 기준월: 2026-06)",</a:t>
            </a:r>
          </a:p>
          <a:p xmlns:a="http://schemas.openxmlformats.org/drawingml/2006/main">
            <a:r>
              <a:t>      "source_id": "dataset:30170:5",</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내비게이션 목적지 유형별 검색량",</a:t>
            </a:r>
          </a:p>
          <a:p xmlns:a="http://schemas.openxmlformats.org/drawingml/2006/main">
            <a:r>
              <a:t>      "summary": "내비게이션 목적지 검색량: 191,346건 (관측 기준월: 2026-06)",</a:t>
            </a:r>
          </a:p>
          <a:p xmlns:a="http://schemas.openxmlformats.org/drawingml/2006/main">
            <a:r>
              <a:t>      "source_id": "dataset:30170:6",</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 대전광역시 서구 SNS 언급량",</a:t>
            </a:r>
          </a:p>
          <a:p xmlns:a="http://schemas.openxmlformats.org/drawingml/2006/main">
            <a:r>
              <a:t>      "summary": "SNS 언급량: 54,388건 (관측 기준월: 2026-06)",</a:t>
            </a:r>
          </a:p>
          <a:p xmlns:a="http://schemas.openxmlformats.org/drawingml/2006/main">
            <a:r>
              <a:t>      "source_id": "dataset:30170:7",</a:t>
            </a:r>
          </a:p>
          <a:p xmlns:a="http://schemas.openxmlformats.org/drawingml/2006/main">
            <a:r>
              <a:t>      "source_url": "https://datalab.visitkorea.or.kr/",</a:t>
            </a:r>
          </a:p>
          <a:p xmlns:a="http://schemas.openxmlformats.org/drawingml/2006/main">
            <a:r>
              <a:t>      "source_type": "dataset",</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대전광역시_서구/방문자/2025_01_12.zip",</a:t>
            </a:r>
          </a:p>
          <a:p xmlns:a="http://schemas.openxmlformats.org/drawingml/2006/main">
            <a:r>
              <a:t>      "summary": "전국 비교 기준 기간: 2025-07 ~ 2026-06",</a:t>
            </a:r>
          </a:p>
          <a:p xmlns:a="http://schemas.openxmlformats.org/drawingml/2006/main">
            <a:r>
              <a:t>      "source_id": "datalab:12c41f8a3e52:f92921dca662",</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대전광역시_서구/관광소비/2025_01_12.zip",</a:t>
            </a:r>
          </a:p>
          <a:p xmlns:a="http://schemas.openxmlformats.org/drawingml/2006/main">
            <a:r>
              <a:t>      "summary": "전국 비교 기준 기간: 2025-07 ~ 2026-06",</a:t>
            </a:r>
          </a:p>
          <a:p xmlns:a="http://schemas.openxmlformats.org/drawingml/2006/main">
            <a:r>
              <a:t>      "source_id": "datalab:162285800b98:dbba3ac2e220",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대전광역시_서구/숙박_체류시간/2025_01_12.zip",</a:t>
            </a:r>
          </a:p>
          <a:p xmlns:a="http://schemas.openxmlformats.org/drawingml/2006/main">
            <a:r>
              <a:t>      "summary": "전국 비교 기준 기간: 2025-07 ~ 2026-06",</a:t>
            </a:r>
          </a:p>
          <a:p xmlns:a="http://schemas.openxmlformats.org/drawingml/2006/main">
            <a:r>
              <a:t>      "source_id": "datalab:1bec5b4405e1:6c5494eef7c6",</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대전광역시_서구/관광소비/2026_01_06.zip",</a:t>
            </a:r>
          </a:p>
          <a:p xmlns:a="http://schemas.openxmlformats.org/drawingml/2006/main">
            <a:r>
              <a:t>      "summary": "전국 비교 기준 기간: 2025-07 ~ 2026-06",</a:t>
            </a:r>
          </a:p>
          <a:p xmlns:a="http://schemas.openxmlformats.org/drawingml/2006/main">
            <a:r>
              <a:t>      "source_id": "datalab:7a4db91d6ba9:d81294f3e5a0",</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대전광역시_서구/방문자/2026_01_06.zip",</a:t>
            </a:r>
          </a:p>
          <a:p xmlns:a="http://schemas.openxmlformats.org/drawingml/2006/main">
            <a:r>
              <a:t>      "summary": "전국 비교 기준 기간: 2025-07 ~ 2026-06",</a:t>
            </a:r>
          </a:p>
          <a:p xmlns:a="http://schemas.openxmlformats.org/drawingml/2006/main">
            <a:r>
              <a:t>      "source_id": "datalab:cc1dc8fb5607:77f3b69cfb89",</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공식 다운로드 · 대전광역시_서구/숙박_체류시간/2026_01_06.zip",</a:t>
            </a:r>
          </a:p>
          <a:p xmlns:a="http://schemas.openxmlformats.org/drawingml/2006/main">
            <a:r>
              <a:t>      "summary": "전국 비교 기준 기간: 2025-07 ~ 2026-06",</a:t>
            </a:r>
          </a:p>
          <a:p xmlns:a="http://schemas.openxmlformats.org/drawingml/2006/main">
            <a:r>
              <a:t>      "source_id": "datalab:e53d144382ee:fc025995a6df",</a:t>
            </a:r>
          </a:p>
          <a:p xmlns:a="http://schemas.openxmlformats.org/drawingml/2006/main">
            <a:r>
              <a:t>      "source_url": "https://datalab.visitkorea.or.kr/",</a:t>
            </a:r>
          </a:p>
          <a:p xmlns:a="http://schemas.openxmlformats.org/drawingml/2006/main">
            <a:r>
              <a:t>      "source_type": "nationwide_dataset",</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"team-bigdata:23ea68053684:6bfbcf8aabf6",</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"team-bigdata:98d4ae590d9a:3be52dd54323",</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"team-bigdata:367cd0294ec4:873930d645e5",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"team-bigdata:553a0dad4bb4:5a31355dffe8",</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"team-bigdata:a53dbe1c21df:77a052de41d5",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"team-bigdata:823a38d1d61c:5385261d02e5",</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"team-bigdata:2723bdb0d589:1666a34058ed",</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"team-bigdata:83177a234971:c02cb7972e0f",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"team-bigdata:58ded7732251:589c76395cbc",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"team-bigdata:e28c947cb52f:bb4cb344a6ba",</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"team-bigdata:8815bbb11a39:1a5988f5f8ec",</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"summary": "시군구 기간합계·비중 또는 전국 월별 추이. 지역 월별 ML·정책 효과가 아닌 보조 근거.",</a:t>
            </a:r>
          </a:p>
          <a:p xmlns:a="http://schemas.openxmlformats.org/drawingml/2006/main">
            <a:r>
              <a:t>      "source_id": "team-bigdata:19fd67fbb73d:afa4f0f54a2f",</a:t>
            </a:r>
          </a:p>
          <a:p xmlns:a="http://schemas.openxmlformats.org/drawingml/2006/main">
            <a:r>
              <a:t>      "source_url": "https://datalab.visitkorea.or.kr/",</a:t>
            </a:r>
          </a:p>
          <a:p xmlns:a="http://schemas.openxmlformats.org/drawingml/2006/main">
            <a:r>
              <a:t>      "source_type": "nationwide_bigdata_dataset",</a:t>
            </a:r>
          </a:p>
          <a:p xmlns:a="http://schemas.openxmlformats.org/drawingml/2006/main">
            <a:r>
              <a:t>      "observation_period": "2026-01 ~ 2026-06",</a:t>
            </a:r>
          </a:p>
          <a:p xmlns:a="http://schemas.openxmlformats.org/drawingml/2006/main">
            <a:r>
              <a:t>      "source_review_status": "needs_exact_download_url",</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지역집중률",</a:t>
            </a:r>
          </a:p>
          <a:p xmlns:a="http://schemas.openxmlformats.org/drawingml/2006/main">
            <a:r>
              <a:t>      "summary": "관측 기간: 2025-07 ~ 2026-06. 유입·유출·인기장소 또는 30일 집중 운영 신호.",</a:t>
            </a:r>
          </a:p>
          <a:p xmlns:a="http://schemas.openxmlformats.org/drawingml/2006/main">
            <a:r>
              <a:t>      "source_id": "regional-status:0c68fedc2071:0ad82310f803",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유입유출",</a:t>
            </a:r>
          </a:p>
          <a:p xmlns:a="http://schemas.openxmlformats.org/drawingml/2006/main">
            <a:r>
              <a:t>      "summary": "관측 기간: 2025-07 ~ 2026-06. 유입·유출·인기장소 또는 30일 집중 운영 신호.",</a:t>
            </a:r>
          </a:p>
          <a:p xmlns:a="http://schemas.openxmlformats.org/drawingml/2006/main">
            <a:r>
              <a:t>      "source_id": "regional-status:4cddd6aa75d4:be8b01ec64e2",</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"한국관광 데이터랩 지역별 관광 현황 · 대전광역시 서구 · 인기관광지",</a:t>
            </a:r>
          </a:p>
          <a:p xmlns:a="http://schemas.openxmlformats.org/drawingml/2006/main">
            <a:r>
              <a:t>      "summary": "관측 기간: 2025-07 ~ 2026-06. 유입·유출·인기장소 또는 30일 집중 운영 신호.",</a:t>
            </a:r>
          </a:p>
          <a:p xmlns:a="http://schemas.openxmlformats.org/drawingml/2006/main">
            <a:r>
              <a:t>      "source_id": "regional-status:8c9a813e95eb:5e0cc3f56b73",</a:t>
            </a:r>
          </a:p>
          <a:p xmlns:a="http://schemas.openxmlformats.org/drawingml/2006/main">
            <a:r>
              <a:t>      "source_url": "https://datalab.visitkorea.or.kr/",</a:t>
            </a:r>
          </a:p>
          <a:p xmlns:a="http://schemas.openxmlformats.org/drawingml/2006/main">
            <a:r>
              <a:t>      "source_type": "regional_tourism_status",</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"title": "지역 관광수요 ML 전망 · 공식 관측값 아님",</a:t>
            </a:r>
          </a:p>
          <a:p xmlns:a="http://schemas.openxmlformats.org/drawingml/2006/main">
            <a:r>
              <a:t>      "summary": "학습 202401~202606 · 모델 regional-demand-v3.1 · 자연 추세 예측",</a:t>
            </a:r>
          </a:p>
          <a:p xmlns:a="http://schemas.openxmlformats.org/drawingml/2006/main">
            <a:r>
              <a:t>      "source_id": "ml:30170:regional-demand-v3.1:202606",</a:t>
            </a:r>
          </a:p>
          <a:p xmlns:a="http://schemas.openxmlformats.org/drawingml/2006/main">
            <a:r>
              <a:t>      "source_url": "",</a:t>
            </a:r>
          </a:p>
          <a:p xmlns:a="http://schemas.openxmlformats.org/drawingml/2006/main">
            <a:r>
              <a:t>      "source_type": "model_forecast",</a:t>
            </a:r>
          </a:p>
          <a:p xmlns:a="http://schemas.openxmlformats.org/drawingml/2006/main">
            <a:r>
              <a:t>      "model_version": "regional-demand-v3.1",</a:t>
            </a:r>
          </a:p>
          <a:p xmlns:a="http://schemas.openxmlformats.org/drawingml/2006/main">
            <a:r>
              <a:t>      "data_fingerprint": "edea7fa8270d3b72aee15e6816efec3fce699e1bab55ebd844a10870c2f0e0a0"</a:t>
            </a:r>
          </a:p>
          <a:p xmlns:a="http://schemas.openxmlformats.org/drawingml/2006/main">
            <a:r>
              <a:t>    },</a:t>
            </a:r>
          </a:p>
          <a:p xmlns:a="http://schemas.openxmlformats.org/drawingml/2006/main">
            <a:r>
              <a:t>    {</a:t>
            </a:r>
          </a:p>
          <a:p xmlns:a="http://schemas.openxmlformats.org/drawingml/2006/main">
            <a:r>
              <a:t>      "title": "갈마짬뽕",</a:t>
            </a:r>
          </a:p>
          <a:p xmlns:a="http://schemas.openxmlformats.org/drawingml/2006/main">
            <a:r>
              <a:t>      "address": "대전광역시 서구 월평동로 5-11 (갈마동)",</a:t>
            </a:r>
          </a:p>
          <a:p xmlns:a="http://schemas.openxmlformats.org/drawingml/2006/main">
            <a:r>
              <a:t>      "summary": "한국관광공사 국문관광정보 API가 반환한 선택 지역 관광자원",</a:t>
            </a:r>
          </a:p>
          <a:p xmlns:a="http://schemas.openxmlformats.org/drawingml/2006/main">
            <a:r>
              <a:t>      "image_url": "http://tong.visitkorea.or.kr/cms/resource/38/2899638_image2_1.jpg",</a:t>
            </a:r>
          </a:p>
          <a:p xmlns:a="http://schemas.openxmlformats.org/drawingml/2006/main">
            <a:r>
              <a:t>      "source_id": "tour-api:2899643",</a:t>
            </a:r>
          </a:p>
          <a:p xmlns:a="http://schemas.openxmlformats.org/drawingml/2006/main">
            <a:r>
              <a:t>      "content_id": "2899643",</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"관저당",</a:t>
            </a:r>
          </a:p>
          <a:p xmlns:a="http://schemas.openxmlformats.org/drawingml/2006/main">
            <a:r>
              <a:t>      "address": "대전광역시 서구 구봉산북로21번길 11 (관저동)",</a:t>
            </a:r>
          </a:p>
          <a:p xmlns:a="http://schemas.openxmlformats.org/drawingml/2006/main">
            <a:r>
              <a:t>      "summary": "한국관광공사 국문관광정보 API가 반환한 선택 지역 관광자원",</a:t>
            </a:r>
          </a:p>
          <a:p xmlns:a="http://schemas.openxmlformats.org/drawingml/2006/main">
            <a:r>
              <a:t>      "image_url": "http://tong.visitkorea.or.kr/cms/resource/36/2899636_image2_1.jpg",</a:t>
            </a:r>
          </a:p>
          <a:p xmlns:a="http://schemas.openxmlformats.org/drawingml/2006/main">
            <a:r>
              <a:t>      "source_id": "tour-api:2899637",</a:t>
            </a:r>
          </a:p>
          <a:p xmlns:a="http://schemas.openxmlformats.org/drawingml/2006/main">
            <a:r>
              <a:t>      "content_id": "2899637",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"굿모닝레지던스호텔휴",</a:t>
            </a:r>
          </a:p>
          <a:p xmlns:a="http://schemas.openxmlformats.org/drawingml/2006/main">
            <a:r>
              <a:t>      "address": "대전광역시 서구 둔산로73번길 21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"http://tong.visitkorea.or.kr/cms/resource/87/2584687_image2_1.jpg",</a:t>
            </a:r>
          </a:p>
          <a:p xmlns:a="http://schemas.openxmlformats.org/drawingml/2006/main">
            <a:r>
              <a:t>      "source_id": "tour-api:1932079",</a:t>
            </a:r>
          </a:p>
          <a:p xmlns:a="http://schemas.openxmlformats.org/drawingml/2006/main">
            <a:r>
              <a:t>      "content_id": "1932079",</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"32"</a:t>
            </a:r>
          </a:p>
          <a:p xmlns:a="http://schemas.openxmlformats.org/drawingml/2006/main">
            <a:r>
              <a:t>    },</a:t>
            </a:r>
          </a:p>
          <a:p xmlns:a="http://schemas.openxmlformats.org/drawingml/2006/main">
            <a:r>
              <a:t>    {</a:t>
            </a:r>
          </a:p>
          <a:p xmlns:a="http://schemas.openxmlformats.org/drawingml/2006/main">
            <a:r>
              <a:t>      "title": "귀빈돌솥밥",</a:t>
            </a:r>
          </a:p>
          <a:p xmlns:a="http://schemas.openxmlformats.org/drawingml/2006/main">
            <a:r>
              <a:t>      "address": "대전광역시 서구 만년로68번길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"http://tong.visitkorea.or.kr/cms/resource/72/3060272_image2_1.JPG",</a:t>
            </a:r>
          </a:p>
          <a:p xmlns:a="http://schemas.openxmlformats.org/drawingml/2006/main">
            <a:r>
              <a:t>      "source_id": "tour-api:133881",</a:t>
            </a:r>
          </a:p>
          <a:p xmlns:a="http://schemas.openxmlformats.org/drawingml/2006/main">
            <a:r>
              <a:t>      "content_id": "133881",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"내원사(대전)",</a:t>
            </a:r>
          </a:p>
          <a:p xmlns:a="http://schemas.openxmlformats.org/drawingml/2006/main">
            <a:r>
              <a:t>      "address": "대전광역시 서구 배재로197번길 200",</a:t>
            </a:r>
          </a:p>
          <a:p xmlns:a="http://schemas.openxmlformats.org/drawingml/2006/main">
            <a:r>
              <a:t>      "summary": "한국관광공사 국문관광정보 API가 반환한 선택 지역 관광자원",</a:t>
            </a:r>
          </a:p>
          <a:p xmlns:a="http://schemas.openxmlformats.org/drawingml/2006/main">
            <a:r>
              <a:t>      "image_url": "http://tong.visitkorea.or.kr/cms/resource/79/3034979_image2_1.JPG",</a:t>
            </a:r>
          </a:p>
          <a:p xmlns:a="http://schemas.openxmlformats.org/drawingml/2006/main">
            <a:r>
              <a:t>      "source_id": "tour-api:298208",</a:t>
            </a:r>
          </a:p>
          <a:p xmlns:a="http://schemas.openxmlformats.org/drawingml/2006/main">
            <a:r>
              <a:t>      "content_id": "298208",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"노크노크",</a:t>
            </a:r>
          </a:p>
          <a:p xmlns:a="http://schemas.openxmlformats.org/drawingml/2006/main">
            <a:r>
              <a:t>      "address": "대전광역시 서구 둔산로 68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"http://tong.visitkorea.or.kr/cms/resource/59/3453059_image2_1.jpg",</a:t>
            </a:r>
          </a:p>
          <a:p xmlns:a="http://schemas.openxmlformats.org/drawingml/2006/main">
            <a:r>
              <a:t>      "source_id": "tour-api:3452550",</a:t>
            </a:r>
          </a:p>
          <a:p xmlns:a="http://schemas.openxmlformats.org/drawingml/2006/main">
            <a:r>
              <a:t>      "content_id": "3452550",</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"대성콩국수",</a:t>
            </a:r>
          </a:p>
          <a:p xmlns:a="http://schemas.openxmlformats.org/drawingml/2006/main">
            <a:r>
              <a:t>      "address": "대전광역시 서구 도산로 141",</a:t>
            </a:r>
          </a:p>
          <a:p xmlns:a="http://schemas.openxmlformats.org/drawingml/2006/main">
            <a:r>
              <a:t>      "summary": "한국관광공사 국문관광정보 API가 반환한 선택 지역 관광자원",</a:t>
            </a:r>
          </a:p>
          <a:p xmlns:a="http://schemas.openxmlformats.org/drawingml/2006/main">
            <a:r>
              <a:t>      "image_url": "http://tong.visitkorea.or.kr/cms/resource/69/2899569_image2_1.jpg",</a:t>
            </a:r>
          </a:p>
          <a:p xmlns:a="http://schemas.openxmlformats.org/drawingml/2006/main">
            <a:r>
              <a:t>      "source_id": "tour-api:2899585",</a:t>
            </a:r>
          </a:p>
          <a:p xmlns:a="http://schemas.openxmlformats.org/drawingml/2006/main">
            <a:r>
              <a:t>      "content_id": "2899585",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"대전 가수원도서관",</a:t>
            </a:r>
          </a:p>
          <a:p xmlns:a="http://schemas.openxmlformats.org/drawingml/2006/main">
            <a:r>
              <a:t>      "address": "대전광역시 서구 가수원로 91-11 (가수원동)",</a:t>
            </a:r>
          </a:p>
          <a:p xmlns:a="http://schemas.openxmlformats.org/drawingml/2006/main">
            <a:r>
              <a:t>      "summary": "한국관광공사 국문관광정보 API가 반환한 선택 지역 관광자원",</a:t>
            </a:r>
          </a:p>
          <a:p xmlns:a="http://schemas.openxmlformats.org/drawingml/2006/main">
            <a:r>
              <a:t>      "image_url": "http://tong.visitkorea.or.kr/cms/resource/58/3033558_image2_1.JPG",</a:t>
            </a:r>
          </a:p>
          <a:p xmlns:a="http://schemas.openxmlformats.org/drawingml/2006/main">
            <a:r>
              <a:t>      "source_id": "tour-api:130802",</a:t>
            </a:r>
          </a:p>
          <a:p xmlns:a="http://schemas.openxmlformats.org/drawingml/2006/main">
            <a:r>
              <a:t>      "content_id": "130802",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"대전광역시청 시민잔디광장",</a:t>
            </a:r>
          </a:p>
          <a:p xmlns:a="http://schemas.openxmlformats.org/drawingml/2006/main">
            <a:r>
              <a:t>      "address": "대전광역시 서구 둔산로 100",</a:t>
            </a:r>
          </a:p>
          <a:p xmlns:a="http://schemas.openxmlformats.org/drawingml/2006/main">
            <a:r>
              <a:t>      "summary": "한국관광공사 국문관광정보 API가 반환한 선택 지역 관광자원",</a:t>
            </a:r>
          </a:p>
          <a:p xmlns:a="http://schemas.openxmlformats.org/drawingml/2006/main">
            <a:r>
              <a:t>      "image_url": "http://tong.visitkorea.or.kr/cms/resource/86/3565586_image2_1.jpg",</a:t>
            </a:r>
          </a:p>
          <a:p xmlns:a="http://schemas.openxmlformats.org/drawingml/2006/main">
            <a:r>
              <a:t>      "source_id": "tour-api:2743325",</a:t>
            </a:r>
          </a:p>
          <a:p xmlns:a="http://schemas.openxmlformats.org/drawingml/2006/main">
            <a:r>
              <a:t>      "content_id": "2743325",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"대전서구문화원",</a:t>
            </a:r>
          </a:p>
          <a:p xmlns:a="http://schemas.openxmlformats.org/drawingml/2006/main">
            <a:r>
              <a:t>      "address": "대전광역시 서구 계룡로553번길 38",</a:t>
            </a:r>
          </a:p>
          <a:p xmlns:a="http://schemas.openxmlformats.org/drawingml/2006/main">
            <a:r>
              <a:t>      "summary": "한국관광공사 국문관광정보 API가 반환한 선택 지역 관광자원",</a:t>
            </a:r>
          </a:p>
          <a:p xmlns:a="http://schemas.openxmlformats.org/drawingml/2006/main">
            <a:r>
              <a:t>      "image_url": "http://tong.visitkorea.or.kr/cms/resource/43/3585043_image2_1.jpg",</a:t>
            </a:r>
          </a:p>
          <a:p xmlns:a="http://schemas.openxmlformats.org/drawingml/2006/main">
            <a:r>
              <a:t>      "source_id": "tour-api:130197",</a:t>
            </a:r>
          </a:p>
          <a:p xmlns:a="http://schemas.openxmlformats.org/drawingml/2006/main">
            <a:r>
              <a:t>      "content_id": "130197",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"14"</a:t>
            </a:r>
          </a:p>
          <a:p xmlns:a="http://schemas.openxmlformats.org/drawingml/2006/main">
            <a:r>
              <a:t>    },</a:t>
            </a:r>
          </a:p>
          <a:p xmlns:a="http://schemas.openxmlformats.org/drawingml/2006/main">
            <a:r>
              <a:t>    {</a:t>
            </a:r>
          </a:p>
          <a:p xmlns:a="http://schemas.openxmlformats.org/drawingml/2006/main">
            <a:r>
              <a:t>      "title": "델빠네",</a:t>
            </a:r>
          </a:p>
          <a:p xmlns:a="http://schemas.openxmlformats.org/drawingml/2006/main">
            <a:r>
              <a:t>      "address": "대전광역시 서구 원도안로207번길 16-61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"http://tong.visitkorea.or.kr/cms/resource/36/2865836_image2_1.jpg",</a:t>
            </a:r>
          </a:p>
          <a:p xmlns:a="http://schemas.openxmlformats.org/drawingml/2006/main">
            <a:r>
              <a:t>      "source_id": "tour-api:2865847",</a:t>
            </a:r>
          </a:p>
          <a:p xmlns:a="http://schemas.openxmlformats.org/drawingml/2006/main">
            <a:r>
              <a:t>      "content_id": "2865847",</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"도마큰시장",</a:t>
            </a:r>
          </a:p>
          <a:p xmlns:a="http://schemas.openxmlformats.org/drawingml/2006/main">
            <a:r>
              <a:t>      "address": "대전광역시 서구 도마4길 69 (도마동)",</a:t>
            </a:r>
          </a:p>
          <a:p xmlns:a="http://schemas.openxmlformats.org/drawingml/2006/main">
            <a:r>
              <a:t>      "summary": "한국관광공사 국문관광정보 API가 반환한 선택 지역 관광자원",</a:t>
            </a:r>
          </a:p>
          <a:p xmlns:a="http://schemas.openxmlformats.org/drawingml/2006/main">
            <a:r>
              <a:t>      "image_url": "http://tong.visitkorea.or.kr/cms/resource/34/3565534_image2_1.jpg",</a:t>
            </a:r>
          </a:p>
          <a:p xmlns:a="http://schemas.openxmlformats.org/drawingml/2006/main">
            <a:r>
              <a:t>      "source_id": "tour-api:2758334",</a:t>
            </a:r>
          </a:p>
          <a:p xmlns:a="http://schemas.openxmlformats.org/drawingml/2006/main">
            <a:r>
              <a:t>      "content_id": "2758334",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"도산서원(대전)",</a:t>
            </a:r>
          </a:p>
          <a:p xmlns:a="http://schemas.openxmlformats.org/drawingml/2006/main">
            <a:r>
              <a:t>      "address": "대전광역시 서구 남선로 8",</a:t>
            </a:r>
          </a:p>
          <a:p xmlns:a="http://schemas.openxmlformats.org/drawingml/2006/main">
            <a:r>
              <a:t>      "summary": "한국관광공사 국문관광정보 API가 반환한 선택 지역 관광자원",</a:t>
            </a:r>
          </a:p>
          <a:p xmlns:a="http://schemas.openxmlformats.org/drawingml/2006/main">
            <a:r>
              <a:t>      "image_url": "http://tong.visitkorea.or.kr/cms/resource/24/3035024_image2_1.JPG",</a:t>
            </a:r>
          </a:p>
          <a:p xmlns:a="http://schemas.openxmlformats.org/drawingml/2006/main">
            <a:r>
              <a:t>      "source_id": "tour-api:1955818",</a:t>
            </a:r>
          </a:p>
          <a:p xmlns:a="http://schemas.openxmlformats.org/drawingml/2006/main">
            <a:r>
              <a:t>      "content_id": "1955818",</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"둔산꽃시장",</a:t>
            </a:r>
          </a:p>
          <a:p xmlns:a="http://schemas.openxmlformats.org/drawingml/2006/main">
            <a:r>
              <a:t>      "address": "대전광역시 서구 둔산북로 22 (둔산동)",</a:t>
            </a:r>
          </a:p>
          <a:p xmlns:a="http://schemas.openxmlformats.org/drawingml/2006/main">
            <a:r>
              <a:t>      "summary": "한국관광공사 국문관광정보 API가 반환한 선택 지역 관광자원",</a:t>
            </a:r>
          </a:p>
          <a:p xmlns:a="http://schemas.openxmlformats.org/drawingml/2006/main">
            <a:r>
              <a:t>      "image_url": "http://tong.visitkorea.or.kr/cms/resource/31/2758631_image2_1.jpg",</a:t>
            </a:r>
          </a:p>
          <a:p xmlns:a="http://schemas.openxmlformats.org/drawingml/2006/main">
            <a:r>
              <a:t>      "source_id": "tour-api:2758341",</a:t>
            </a:r>
          </a:p>
          <a:p xmlns:a="http://schemas.openxmlformats.org/drawingml/2006/main">
            <a:r>
              <a:t>      "content_id": "2758341",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"둔산전자타운",</a:t>
            </a:r>
          </a:p>
          <a:p xmlns:a="http://schemas.openxmlformats.org/drawingml/2006/main">
            <a:r>
              <a:t>      "address": "대전광역시 서구 도산로403번길 21",</a:t>
            </a:r>
          </a:p>
          <a:p xmlns:a="http://schemas.openxmlformats.org/drawingml/2006/main">
            <a:r>
              <a:t>      "summary": "한국관광공사 국문관광정보 API가 반환한 선택 지역 관광자원",</a:t>
            </a:r>
          </a:p>
          <a:p xmlns:a="http://schemas.openxmlformats.org/drawingml/2006/main">
            <a:r>
              <a:t>      "image_url": "http://tong.visitkorea.or.kr/cms/resource/60/3565560_image2_1.jpg",</a:t>
            </a:r>
          </a:p>
          <a:p xmlns:a="http://schemas.openxmlformats.org/drawingml/2006/main">
            <a:r>
              <a:t>      "source_id": "tour-api:1623725",</a:t>
            </a:r>
          </a:p>
          <a:p xmlns:a="http://schemas.openxmlformats.org/drawingml/2006/main">
            <a:r>
              <a:t>      "content_id": "1623725",</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"롯데백화점 (대전점)",</a:t>
            </a:r>
          </a:p>
          <a:p xmlns:a="http://schemas.openxmlformats.org/drawingml/2006/main">
            <a:r>
              <a:t>      "address": "대전광역시 서구 계룡로 598 (괴정동)",</a:t>
            </a:r>
          </a:p>
          <a:p xmlns:a="http://schemas.openxmlformats.org/drawingml/2006/main">
            <a:r>
              <a:t>      "summary": "한국관광공사 국문관광정보 API가 반환한 선택 지역 관광자원",</a:t>
            </a:r>
          </a:p>
          <a:p xmlns:a="http://schemas.openxmlformats.org/drawingml/2006/main">
            <a:r>
              <a:t>      "image_url": "http://tong.visitkorea.or.kr/cms/resource/21/3443221_image2_1.jpg",</a:t>
            </a:r>
          </a:p>
          <a:p xmlns:a="http://schemas.openxmlformats.org/drawingml/2006/main">
            <a:r>
              <a:t>      "source_id": "tour-api:132661",</a:t>
            </a:r>
          </a:p>
          <a:p xmlns:a="http://schemas.openxmlformats.org/drawingml/2006/main">
            <a:r>
              <a:t>      "content_id": "132661",</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"38"</a:t>
            </a:r>
          </a:p>
          <a:p xmlns:a="http://schemas.openxmlformats.org/drawingml/2006/main">
            <a:r>
              <a:t>    },</a:t>
            </a:r>
          </a:p>
          <a:p xmlns:a="http://schemas.openxmlformats.org/drawingml/2006/main">
            <a:r>
              <a:t>    {</a:t>
            </a:r>
          </a:p>
          <a:p xmlns:a="http://schemas.openxmlformats.org/drawingml/2006/main">
            <a:r>
              <a:t>      "title": "마치광장",</a:t>
            </a:r>
          </a:p>
          <a:p xmlns:a="http://schemas.openxmlformats.org/drawingml/2006/main">
            <a:r>
              <a:t>      "address": "대전광역시 서구 구봉로131번길 27",</a:t>
            </a:r>
          </a:p>
          <a:p xmlns:a="http://schemas.openxmlformats.org/drawingml/2006/main">
            <a:r>
              <a:t>      "summary": "한국관광공사 국문관광정보 API가 반환한 선택 지역 관광자원",</a:t>
            </a:r>
          </a:p>
          <a:p xmlns:a="http://schemas.openxmlformats.org/drawingml/2006/main">
            <a:r>
              <a:t>      "image_url": "http://tong.visitkorea.or.kr/cms/resource/16/3542516_image2_1.jpg",</a:t>
            </a:r>
          </a:p>
          <a:p xmlns:a="http://schemas.openxmlformats.org/drawingml/2006/main">
            <a:r>
              <a:t>      "source_id": "tour-api:2758646",</a:t>
            </a:r>
          </a:p>
          <a:p xmlns:a="http://schemas.openxmlformats.org/drawingml/2006/main">
            <a:r>
              <a:t>      "content_id": "2758646",</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"title": "몽뜨",</a:t>
            </a:r>
          </a:p>
          <a:p xmlns:a="http://schemas.openxmlformats.org/drawingml/2006/main">
            <a:r>
              <a:t>      "address": "대전광역시 서구 원도안로257번길 48 (도안동)",</a:t>
            </a:r>
          </a:p>
          <a:p xmlns:a="http://schemas.openxmlformats.org/drawingml/2006/main">
            <a:r>
              <a:t>      "summary": "한국관광공사 국문관광정보 API가 반환한 선택 지역 관광자원",</a:t>
            </a:r>
          </a:p>
          <a:p xmlns:a="http://schemas.openxmlformats.org/drawingml/2006/main">
            <a:r>
              <a:t>      "image_url": "http://tong.visitkorea.or.kr/cms/resource/35/2899535_image2_1.jpg",</a:t>
            </a:r>
          </a:p>
          <a:p xmlns:a="http://schemas.openxmlformats.org/drawingml/2006/main">
            <a:r>
              <a:t>      "source_id": "tour-api:2899544",</a:t>
            </a:r>
          </a:p>
          <a:p xmlns:a="http://schemas.openxmlformats.org/drawingml/2006/main">
            <a:r>
              <a:t>      "content_id": "2899544",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"미세노센세",</a:t>
            </a:r>
          </a:p>
          <a:p xmlns:a="http://schemas.openxmlformats.org/drawingml/2006/main">
            <a:r>
              <a:t>      "address": "대전광역시 서구 계룡로553번안길 65 (탄방동)",</a:t>
            </a:r>
          </a:p>
          <a:p xmlns:a="http://schemas.openxmlformats.org/drawingml/2006/main">
            <a:r>
              <a:t>      "summary": "한국관광공사 국문관광정보 API가 반환한 선택 지역 관광자원",</a:t>
            </a:r>
          </a:p>
          <a:p xmlns:a="http://schemas.openxmlformats.org/drawingml/2006/main">
            <a:r>
              <a:t>      "image_url": "http://tong.visitkorea.or.kr/cms/resource/05/2865905_image2_1.jpg",</a:t>
            </a:r>
          </a:p>
          <a:p xmlns:a="http://schemas.openxmlformats.org/drawingml/2006/main">
            <a:r>
              <a:t>      "source_id": "tour-api:2865914",</a:t>
            </a:r>
          </a:p>
          <a:p xmlns:a="http://schemas.openxmlformats.org/drawingml/2006/main">
            <a:r>
              <a:t>      "content_id": "2865914",</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"39"</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"chunk_id": "reference:kto:2026:local-airport:page:044:chunk:01",</a:t>
            </a:r>
          </a:p>
          <a:p xmlns:a="http://schemas.openxmlformats.org/drawingml/2006/main">
            <a:r>
              <a:t>      "source_id": "reference:kto:2026:local-airport",</a:t>
            </a:r>
          </a:p>
          <a:p xmlns:a="http://schemas.openxmlformats.org/drawingml/2006/main">
            <a:r>
              <a:t>      "source_url": "https://datalab.visitkorea.or.kr/site/portal/ex/bbs/View.do?bcIdx=311068&amp;cbIdx=1135&amp;pageIndex=1",</a:t>
            </a:r>
          </a:p>
          <a:p xmlns:a="http://schemas.openxmlformats.org/drawingml/2006/main">
            <a:r>
              <a:t>      "case_region": "",</a:t>
            </a:r>
          </a:p>
          <a:p xmlns:a="http://schemas.openxmlformats.org/drawingml/2006/main">
            <a:r>
              <a:t>      "region_code": "ALL",</a:t>
            </a:r>
          </a:p>
          <a:p xmlns:a="http://schemas.openxmlformats.org/drawingml/2006/main">
            <a:r>
              <a:t>      "region_name": "전국 공통",</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"source_type": "rag",</a:t>
            </a:r>
          </a:p>
          <a:p xmlns:a="http://schemas.openxmlformats.org/drawingml/2006/main">
            <a:r>
              <a:t>      "intervention": "",</a:t>
            </a:r>
          </a:p>
          <a:p xmlns:a="http://schemas.openxmlformats.org/drawingml/2006/main">
            <a:r>
              <a:t>      "document_type": "policy",</a:t>
            </a:r>
          </a:p>
          <a:p xmlns:a="http://schemas.openxmlformats.org/drawingml/2006/main">
            <a:r>
              <a:t>      "matched_terms": [</a:t>
            </a:r>
          </a:p>
          <a:p xmlns:a="http://schemas.openxmlformats.org/drawingml/2006/main">
            <a:r>
              <a:t>        "관광",</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"정책",</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a:t>
            </a:r>
          </a:p>
          <a:p xmlns:a="http://schemas.openxmlformats.org/drawingml/2006/main">
            <a:r>
              <a:t>      "page_references": "PDF 44쪽, PDF 40쪽, PDF 41쪽, PDF 41쪽, PDF 43쪽",</a:t>
            </a:r>
          </a:p>
          <a:p xmlns:a="http://schemas.openxmlformats.org/drawingml/2006/main">
            <a:r>
              <a:t>      "parent_source_id": "reference:kto:2026:local-airport",</a:t>
            </a:r>
          </a:p>
          <a:p xmlns:a="http://schemas.openxmlformats.org/drawingml/2006/main">
            <a:r>
              <a:t>      "retrieval_method": "local_curated_chunk",</a:t>
            </a:r>
          </a:p>
          <a:p xmlns:a="http://schemas.openxmlformats.org/drawingml/2006/main">
            <a:r>
              <a:t>      "evidence_strength": "medium",</a:t>
            </a:r>
          </a:p>
          <a:p xmlns:a="http://schemas.openxmlformats.org/drawingml/2006/main">
            <a:r>
              <a:t>      "published_or_updated_at": "2026-08",</a:t>
            </a:r>
          </a:p>
          <a:p xmlns:a="http://schemas.openxmlformats.org/drawingml/2006/main">
            <a:r>
              <a:t>      "chunk_ids": [</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"reference:kto:2026:local-airport:page:044:chunk:01"</a:t>
            </a:r>
          </a:p>
          <a:p xmlns:a="http://schemas.openxmlformats.org/drawingml/2006/main">
            <a:r>
              <a:t>      ],</a:t>
            </a:r>
          </a:p>
          <a:p xmlns:a="http://schemas.openxmlformats.org/drawingml/2006/main">
            <a:r>
              <a:t>      "source_chunk_count": 5</a:t>
            </a:r>
          </a:p>
          <a:p xmlns:a="http://schemas.openxmlformats.org/drawingml/2006/main">
            <a:r>
              <a:t>    },</a:t>
            </a:r>
          </a:p>
          <a:p xmlns:a="http://schemas.openxmlformats.org/drawingml/2006/main">
            <a:r>
              <a:t>    {</a:t>
            </a:r>
          </a:p>
          <a:p xmlns:a="http://schemas.openxmlformats.org/drawingml/2006/main">
            <a:r>
              <a:t>      "title": "여행가는 달 지역 여행할인 모아보기",</a:t>
            </a:r>
          </a:p>
          <a:p xmlns:a="http://schemas.openxmlformats.org/drawingml/2006/main">
            <a:r>
              <a:t>      "summary": "한국관광공사 ‘여행가는 달’ 페이지에는 대전관광공사·대전광역시의 ‘대전관광상품 최대 1만원 할인’이 2026-09-21부터 2026-10-18까지 ‘진행예정’으로 게시되어 있다.",</a:t>
            </a:r>
          </a:p>
          <a:p xmlns:a="http://schemas.openxmlformats.org/drawingml/2006/main">
            <a:r>
              <a:t>      "source_id": "web:30170:1",</a:t>
            </a:r>
          </a:p>
          <a:p xmlns:a="http://schemas.openxmlformats.org/drawingml/2006/main">
            <a:r>
              <a:t>      "source_url": "https://korean.visitkorea.or.kr/travelmonth/benefit.do?modal=benefit-190",</a:t>
            </a:r>
          </a:p>
          <a:p xmlns:a="http://schemas.openxmlformats.org/drawingml/2006/main">
            <a:r>
              <a:t>      "source_type": "official_web",</a:t>
            </a:r>
          </a:p>
          <a:p xmlns:a="http://schemas.openxmlformats.org/drawingml/2006/main">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xmlns:a="http://schemas.openxmlformats.org/drawingml/2006/main">
            <a:r>
              <a:t>      "published_or_updated_at": "2026-09-17 기준 페이지 확인; 행사 예정 기간 2026-09-21~2026-10-18"</a:t>
            </a:r>
          </a:p>
          <a:p xmlns:a="http://schemas.openxmlformats.org/drawingml/2006/main">
            <a:r>
              <a:t>    },</a:t>
            </a:r>
          </a:p>
          <a:p xmlns:a="http://schemas.openxmlformats.org/drawingml/2006/main">
            <a:r>
              <a:t>    {</a:t>
            </a:r>
          </a:p>
          <a:p xmlns:a="http://schemas.openxmlformats.org/drawingml/2006/main">
            <a:r>
              <a:t>      "title": "대전광역시_문화시설 | 공공데이터포털",</a:t>
            </a:r>
          </a:p>
          <a:p xmlns:a="http://schemas.openxmlformats.org/drawingml/2006/main">
            <a:r>
              <a:t>      "summary": "공공데이터포털의 ‘대전광역시_문화시설’ OpenAPI는 공연장·전시관·박물관·도서관·체육관 등 문화시설의 위치, 명칭, 시설유형, 운영시간, 연락처 정보를 제공하며, 제공기관은 대전광역시이다.",</a:t>
            </a:r>
          </a:p>
          <a:p xmlns:a="http://schemas.openxmlformats.org/drawingml/2006/main">
            <a:r>
              <a:t>      "source_id": "web:30170:2",</a:t>
            </a:r>
          </a:p>
          <a:p xmlns:a="http://schemas.openxmlformats.org/drawingml/2006/main">
            <a:r>
              <a:t>      "source_url": "https://www.data.go.kr/data/15112114/openapi.do?recommendDataYn=Y",</a:t>
            </a:r>
          </a:p>
          <a:p xmlns:a="http://schemas.openxmlformats.org/drawingml/2006/main">
            <a:r>
              <a:t>      "source_type": "official_web",</a:t>
            </a:r>
          </a:p>
          <a:p xmlns:a="http://schemas.openxmlformats.org/drawingml/2006/main">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xmlns:a="http://schemas.openxmlformats.org/drawingml/2006/main">
            <a:r>
              <a:t>      "published_or_updated_at": "수정일 2025-07-23"</a:t>
            </a:r>
          </a:p>
          <a:p xmlns:a="http://schemas.openxmlformats.org/drawingml/2006/main">
            <a:r>
              <a:t>    },</a:t>
            </a:r>
          </a:p>
          <a:p xmlns:a="http://schemas.openxmlformats.org/drawingml/2006/main">
            <a:r>
              <a:t>    {</a:t>
            </a:r>
          </a:p>
          <a:p xmlns:a="http://schemas.openxmlformats.org/drawingml/2006/main">
            <a:r>
              <a:t>      "title": "대전광역시 문화관광(숙박정보) 데이터 | 공공데이터포털",</a:t>
            </a:r>
          </a:p>
          <a:p xmlns:a="http://schemas.openxmlformats.org/drawingml/2006/main">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xmlns:a="http://schemas.openxmlformats.org/drawingml/2006/main">
            <a:r>
              <a:t>      "source_id": "web:30170:3",</a:t>
            </a:r>
          </a:p>
          <a:p xmlns:a="http://schemas.openxmlformats.org/drawingml/2006/main">
            <a:r>
              <a:t>      "source_url": "https://www.data.go.kr/dataset/15001021/openapi.do",</a:t>
            </a:r>
          </a:p>
          <a:p xmlns:a="http://schemas.openxmlformats.org/drawingml/2006/main">
            <a:r>
              <a:t>      "source_type": "official_web",</a:t>
            </a:r>
          </a:p>
          <a:p xmlns:a="http://schemas.openxmlformats.org/drawingml/2006/main">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"대전문화관광해설사 신규 양성 교육 | 한국관광공사 관광e배움터",</a:t>
            </a:r>
          </a:p>
          <a:p xmlns:a="http://schemas.openxmlformats.org/drawingml/2006/main">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xmlns:a="http://schemas.openxmlformats.org/drawingml/2006/main">
            <a:r>
              <a:t>      "source_id": "web:30170:4",</a:t>
            </a:r>
          </a:p>
          <a:p xmlns:a="http://schemas.openxmlformats.org/drawingml/2006/main">
            <a:r>
              <a:t>      "source_url": "https://touredu.visitkorea.or.kr/home/pkgEdu/pkgEduDetail?crsCd=C202600107&amp;eduPlanYr=2026&amp;eduPlanYrStepCnt=1",</a:t>
            </a:r>
          </a:p>
          <a:p xmlns:a="http://schemas.openxmlformats.org/drawingml/2006/main">
            <a:r>
              <a:t>      "source_type": "official_web",</a:t>
            </a:r>
          </a:p>
          <a:p xmlns:a="http://schemas.openxmlformats.org/drawingml/2006/main">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xmlns:a="http://schemas.openxmlformats.org/drawingml/2006/main">
            <a:r>
              <a:t>      "published_or_updated_at": "신청·학습기간 2026-07-01~2026-08-31"</a:t>
            </a:r>
          </a:p>
          <a:p xmlns:a="http://schemas.openxmlformats.org/drawingml/2006/main">
            <a:r>
              <a:t>    },</a:t>
            </a:r>
          </a:p>
          <a:p xmlns:a="http://schemas.openxmlformats.org/drawingml/2006/main">
            <a:r>
              <a:t>    {</a:t>
            </a:r>
          </a:p>
          <a:p xmlns:a="http://schemas.openxmlformats.org/drawingml/2006/main">
            <a:r>
              <a:t>      "title": "대전광역시 서구_체육시설 현황 | 공공데이터포털",</a:t>
            </a:r>
          </a:p>
          <a:p xmlns:a="http://schemas.openxmlformats.org/drawingml/2006/main">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xmlns:a="http://schemas.openxmlformats.org/drawingml/2006/main">
            <a:r>
              <a:t>      "source_id": "web:30170:5",</a:t>
            </a:r>
          </a:p>
          <a:p xmlns:a="http://schemas.openxmlformats.org/drawingml/2006/main">
            <a:r>
              <a:t>      "source_url": "https://www.data.go.kr/dataset/15037511/fileData.do",</a:t>
            </a:r>
          </a:p>
          <a:p xmlns:a="http://schemas.openxmlformats.org/drawingml/2006/main">
            <a:r>
              <a:t>      "source_type": "official_web",</a:t>
            </a:r>
          </a:p>
          <a:p xmlns:a="http://schemas.openxmlformats.org/drawingml/2006/main">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xmlns:a="http://schemas.openxmlformats.org/drawingml/2006/main">
            <a:r>
              <a:t>      "published_or_updated_at": "페이지 확인일 2026-09-17"</a:t>
            </a:r>
          </a:p>
          <a:p xmlns:a="http://schemas.openxmlformats.org/drawingml/2006/main">
            <a:r>
              <a:t>    },</a:t>
            </a:r>
          </a:p>
          <a:p xmlns:a="http://schemas.openxmlformats.org/drawingml/2006/main">
            <a:r>
              <a:t>    {</a:t>
            </a:r>
          </a:p>
          <a:p xmlns:a="http://schemas.openxmlformats.org/drawingml/2006/main">
            <a:r>
              <a:t>      "title": "제4차 관광개발기본계획 발표 관련 문화체육관광부 보도자료",</a:t>
            </a:r>
          </a:p>
          <a:p xmlns:a="http://schemas.openxmlformats.org/drawingml/2006/main">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xmlns:a="http://schemas.openxmlformats.org/drawingml/2006/main">
            <a:r>
              <a:t>      "source_id": "web:30170:6",</a:t>
            </a:r>
          </a:p>
          <a:p xmlns:a="http://schemas.openxmlformats.org/drawingml/2006/main">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xmlns:a="http://schemas.openxmlformats.org/drawingml/2006/main">
            <a:r>
              <a:t>      "source_type": "official_web",</a:t>
            </a:r>
          </a:p>
          <a:p xmlns:a="http://schemas.openxmlformats.org/drawingml/2006/main">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xmlns:a="http://schemas.openxmlformats.org/drawingml/2006/main">
            <a:r>
              <a:t>      "published_or_updated_at": "2021-12-30"</a:t>
            </a:r>
          </a:p>
          <a:p xmlns:a="http://schemas.openxmlformats.org/drawingml/2006/main">
            <a:r>
              <a:t>    },</a:t>
            </a:r>
          </a:p>
          <a:p xmlns:a="http://schemas.openxmlformats.org/drawingml/2006/main">
            <a:r>
              <a:t>    {</a:t>
            </a:r>
          </a:p>
          <a:p xmlns:a="http://schemas.openxmlformats.org/drawingml/2006/main">
            <a:r>
              <a:t>      "title": "한국관광 데이터랩 · 안동탈춤축제 연도별 방문자 추이",</a:t>
            </a:r>
          </a:p>
          <a:p xmlns:a="http://schemas.openxmlformats.org/drawingml/2006/main">
            <a:r>
              <a:t>      "summary": "경상북도 안동시 · 2025 안동탈춤축제: 10일간 집중 운영한 공연·문화형 축제 · 2024→2025년 전체 504,573→554,494명 (+9.89%). 개최 10→10일, 일평균 +9.89%, 외지인 +10.75%.",</a:t>
            </a:r>
          </a:p>
          <a:p xmlns:a="http://schemas.openxmlformats.org/drawingml/2006/main">
            <a:r>
              <a:t>      "source_id": "case:41508ca81cf29f",</a:t>
            </a:r>
          </a:p>
          <a:p xmlns:a="http://schemas.openxmlformats.org/drawingml/2006/main">
            <a:r>
              <a:t>      "source_url": "https://datalab.visitkorea.or.kr/",</a:t>
            </a:r>
          </a:p>
          <a:p xmlns:a="http://schemas.openxmlformats.org/drawingml/2006/main">
            <a:r>
              <a:t>      "case_region": "경상북도 안동시",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"2025 안동탈춤축제: 10일간 집중 운영한 공연·문화형 축제",</a:t>
            </a:r>
          </a:p>
          <a:p xmlns:a="http://schemas.openxmlformats.org/drawingml/2006/main">
            <a:r>
              <a:t>      "source_files": [</a:t>
            </a:r>
          </a:p>
          <a:p xmlns:a="http://schemas.openxmlformats.org/drawingml/2006/main">
            <a:r>
              <a:t>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"c0b34e003112bda1f5afa06dcb153cc870d61730036ef23f1b3e7aed39ca5458",</a:t>
            </a:r>
          </a:p>
          <a:p xmlns:a="http://schemas.openxmlformats.org/drawingml/2006/main">
            <a:r>
              <a:t>          "provider": "한국관광 데이터랩",</a:t>
            </a:r>
          </a:p>
          <a:p xmlns:a="http://schemas.openxmlformats.org/drawingml/2006/main">
            <a:r>
              <a:t>          "file_name": "20260820175023_안동탈춤축제_성_연령별 내국인 방문자.csv",</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"40ddabd2e46fcb12bc9cc2361174e1a5ebe80f169611896b6d4b5e60d9fda352",</a:t>
            </a:r>
          </a:p>
          <a:p xmlns:a="http://schemas.openxmlformats.org/drawingml/2006/main">
            <a:r>
              <a:t>          "provider": "한국관광 데이터랩",</a:t>
            </a:r>
          </a:p>
          <a:p xmlns:a="http://schemas.openxmlformats.org/drawingml/2006/main">
            <a:r>
              <a:t>          "file_name": "20260820175023_안동탈춤축제_문화관광축제 주요 지표.csv",</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"11de7e20288dde00f7f18e353a24b5a95c511a7dc354ec9cc2c7a3a2436712f6",</a:t>
            </a:r>
          </a:p>
          <a:p xmlns:a="http://schemas.openxmlformats.org/drawingml/2006/main">
            <a:r>
              <a:t>          "provider": "한국관광 데이터랩",</a:t>
            </a:r>
          </a:p>
          <a:p xmlns:a="http://schemas.openxmlformats.org/drawingml/2006/main">
            <a:r>
              <a:t>          "file_name": "20260820175023_안동탈춤축제_목적지 검색순위.csv",</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null,</a:t>
            </a:r>
          </a:p>
          <a:p xmlns:a="http://schemas.openxmlformats.org/drawingml/2006/main">
            <a:r>
              <a:t>      "evidence_kind": "festival_document_and_statistics",</a:t>
            </a:r>
          </a:p>
          <a:p xmlns:a="http://schemas.openxmlformats.org/drawingml/2006/main">
            <a:r>
              <a:t>      "observed_result": "2024→2025년 전체 504,573→554,494명 (+9.89%). 개최 10→10일, 일평균 +9.89%, 외지인 +10.75%.",</a:t>
            </a:r>
          </a:p>
          <a:p xmlns:a="http://schemas.openxmlformats.org/drawingml/2006/main">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"공연·문화",</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"2024년과 2025년 각 축제 10일 개최기간 비교",</a:t>
            </a:r>
          </a:p>
          <a:p xmlns:a="http://schemas.openxmlformats.org/drawingml/2006/main">
            <a:r>
              <a:t>      "festival_statistics": {</a:t>
            </a:r>
          </a:p>
          <a:p xmlns:a="http://schemas.openxmlformats.org/drawingml/2006/main">
            <a:r>
              <a:t>        "name": "안동탈춤축제",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8,</a:t>
            </a:r>
          </a:p>
          <a:p xmlns:a="http://schemas.openxmlformats.org/drawingml/2006/main">
            <a:r>
              <a:t>            "year": 2023,</a:t>
            </a:r>
          </a:p>
          <a:p xmlns:a="http://schemas.openxmlformats.org/drawingml/2006/main">
            <a:r>
              <a:t>            "daily": 45517.125,</a:t>
            </a:r>
          </a:p>
          <a:p xmlns:a="http://schemas.openxmlformats.org/drawingml/2006/main">
            <a:r>
              <a:t>            "local": 233513,</a:t>
            </a:r>
          </a:p>
          <a:p xmlns:a="http://schemas.openxmlformats.org/drawingml/2006/main">
            <a:r>
              <a:t>            "total": 364137,</a:t>
            </a:r>
          </a:p>
          <a:p xmlns:a="http://schemas.openxmlformats.org/drawingml/2006/main">
            <a:r>
              <a:t>            "foreign": 3319,</a:t>
            </a:r>
          </a:p>
          <a:p xmlns:a="http://schemas.openxmlformats.org/drawingml/2006/main">
            <a:r>
              <a:t>            "outside": 127305,</a:t>
            </a:r>
          </a:p>
          <a:p xmlns:a="http://schemas.openxmlformats.org/drawingml/2006/main">
            <a:r>
              <a:t>            "outside_daily": 15913.125,</a:t>
            </a:r>
          </a:p>
          <a:p xmlns:a="http://schemas.openxmlformats.org/drawingml/2006/main">
            <a:r>
              <a:t>            "outside_share_pct": 34.960742797353745</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50457.3,</a:t>
            </a:r>
          </a:p>
          <a:p xmlns:a="http://schemas.openxmlformats.org/drawingml/2006/main">
            <a:r>
              <a:t>            "local": 317925,</a:t>
            </a:r>
          </a:p>
          <a:p xmlns:a="http://schemas.openxmlformats.org/drawingml/2006/main">
            <a:r>
              <a:t>            "total": 504573,</a:t>
            </a:r>
          </a:p>
          <a:p xmlns:a="http://schemas.openxmlformats.org/drawingml/2006/main">
            <a:r>
              <a:t>            "foreign": 4684,</a:t>
            </a:r>
          </a:p>
          <a:p xmlns:a="http://schemas.openxmlformats.org/drawingml/2006/main">
            <a:r>
              <a:t>            "outside": 181964,</a:t>
            </a:r>
          </a:p>
          <a:p xmlns:a="http://schemas.openxmlformats.org/drawingml/2006/main">
            <a:r>
              <a:t>            "outside_daily": 18196.4,</a:t>
            </a:r>
          </a:p>
          <a:p xmlns:a="http://schemas.openxmlformats.org/drawingml/2006/main">
            <a:r>
              <a:t>            "outside_share_pct": 36.06296809381398</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2025,</a:t>
            </a:r>
          </a:p>
          <a:p xmlns:a="http://schemas.openxmlformats.org/drawingml/2006/main">
            <a:r>
              <a:t>            "daily": 55449.4,</a:t>
            </a:r>
          </a:p>
          <a:p xmlns:a="http://schemas.openxmlformats.org/drawingml/2006/main">
            <a:r>
              <a:t>            "local": 347269,</a:t>
            </a:r>
          </a:p>
          <a:p xmlns:a="http://schemas.openxmlformats.org/drawingml/2006/main">
            <a:r>
              <a:t>            "total": 554494,</a:t>
            </a:r>
          </a:p>
          <a:p xmlns:a="http://schemas.openxmlformats.org/drawingml/2006/main">
            <a:r>
              <a:t>            "foreign": 5702,</a:t>
            </a:r>
          </a:p>
          <a:p xmlns:a="http://schemas.openxmlformats.org/drawingml/2006/main">
            <a:r>
              <a:t>            "outside": 201523,</a:t>
            </a:r>
          </a:p>
          <a:p xmlns:a="http://schemas.openxmlformats.org/drawingml/2006/main">
            <a:r>
              <a:t>            "outside_daily": 20152.3,</a:t>
            </a:r>
          </a:p>
          <a:p xmlns:a="http://schemas.openxmlformats.org/drawingml/2006/main">
            <a:r>
              <a:t>            "outside_share_pct": 36.34358532283487</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"안동탈춤축제",</a:t>
            </a:r>
          </a:p>
          <a:p xmlns:a="http://schemas.openxmlformats.org/drawingml/2006/main">
            <a:r>
              <a:t>            "남성비율": "4.4",</a:t>
            </a:r>
          </a:p>
          <a:p xmlns:a="http://schemas.openxmlformats.org/drawingml/2006/main">
            <a:r>
              <a:t>            "여성비율": "5.0"</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"안동탈춤축제",</a:t>
            </a:r>
          </a:p>
          <a:p xmlns:a="http://schemas.openxmlformats.org/drawingml/2006/main">
            <a:r>
              <a:t>            "남성비율": "8.0",</a:t>
            </a:r>
          </a:p>
          <a:p xmlns:a="http://schemas.openxmlformats.org/drawingml/2006/main">
            <a:r>
              <a:t>            "여성비율": "8.5"</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"안동탈춤축제",</a:t>
            </a:r>
          </a:p>
          <a:p xmlns:a="http://schemas.openxmlformats.org/drawingml/2006/main">
            <a:r>
              <a:t>            "남성비율": "9.2",</a:t>
            </a:r>
          </a:p>
          <a:p xmlns:a="http://schemas.openxmlformats.org/drawingml/2006/main">
            <a:r>
              <a:t>            "여성비율": "10.9"</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"안동탈춤축제",</a:t>
            </a:r>
          </a:p>
          <a:p xmlns:a="http://schemas.openxmlformats.org/drawingml/2006/main">
            <a:r>
              <a:t>            "남성비율": "7.5",</a:t>
            </a:r>
          </a:p>
          <a:p xmlns:a="http://schemas.openxmlformats.org/drawingml/2006/main">
            <a:r>
              <a:t>            "여성비율": "7.9"</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"안동탈춤축제",</a:t>
            </a:r>
          </a:p>
          <a:p xmlns:a="http://schemas.openxmlformats.org/drawingml/2006/main">
            <a:r>
              <a:t>            "남성비율": "7.9",</a:t>
            </a:r>
          </a:p>
          <a:p xmlns:a="http://schemas.openxmlformats.org/drawingml/2006/main">
            <a:r>
              <a:t>            "여성비율": "7.2"</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"안동탈춤축제",</a:t>
            </a:r>
          </a:p>
          <a:p xmlns:a="http://schemas.openxmlformats.org/drawingml/2006/main">
            <a:r>
              <a:t>            "남성비율": "7.1",</a:t>
            </a:r>
          </a:p>
          <a:p xmlns:a="http://schemas.openxmlformats.org/drawingml/2006/main">
            <a:r>
              <a:t>            "여성비율": "8.2"</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"안동탈춤축제",</a:t>
            </a:r>
          </a:p>
          <a:p xmlns:a="http://schemas.openxmlformats.org/drawingml/2006/main">
            <a:r>
              <a:t>            "남성비율": "3.2",</a:t>
            </a:r>
          </a:p>
          <a:p xmlns:a="http://schemas.openxmlformats.org/drawingml/2006/main">
            <a:r>
              <a:t>            "여성비율": "3.9"</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"안동탈춤축제",</a:t>
            </a:r>
          </a:p>
          <a:p xmlns:a="http://schemas.openxmlformats.org/drawingml/2006/main">
            <a:r>
              <a:t>            "남성비율": "0.5",</a:t>
            </a:r>
          </a:p>
          <a:p xmlns:a="http://schemas.openxmlformats.org/drawingml/2006/main">
            <a:r>
              <a:t>            "여성비율": "0.7"</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4992.0999999999985</a:t>
            </a:r>
          </a:p>
          <a:p xmlns:a="http://schemas.openxmlformats.org/drawingml/2006/main">
            <a:r>
              <a:t>          },</a:t>
            </a:r>
          </a:p>
          <a:p xmlns:a="http://schemas.openxmlformats.org/drawingml/2006/main">
            <a:r>
              <a:t>          "total": {</a:t>
            </a:r>
          </a:p>
          <a:p xmlns:a="http://schemas.openxmlformats.org/drawingml/2006/main">
            <a:r>
              <a:t>            "after": 554494,</a:t>
            </a:r>
          </a:p>
          <a:p xmlns:a="http://schemas.openxmlformats.org/drawingml/2006/main">
            <a:r>
              <a:t>            "before": 504573,</a:t>
            </a:r>
          </a:p>
          <a:p xmlns:a="http://schemas.openxmlformats.org/drawingml/2006/main">
            <a:r>
              <a:t>            "change_pct": 9.893712109050613,</a:t>
            </a:r>
          </a:p>
          <a:p xmlns:a="http://schemas.openxmlformats.org/drawingml/2006/main">
            <a:r>
              <a:t>            "difference": 49921</a:t>
            </a:r>
          </a:p>
          <a:p xmlns:a="http://schemas.openxmlformats.org/drawingml/2006/main">
            <a:r>
              <a:t>          },</a:t>
            </a:r>
          </a:p>
          <a:p xmlns:a="http://schemas.openxmlformats.org/drawingml/2006/main">
            <a:r>
              <a:t>          "outside": {</a:t>
            </a:r>
          </a:p>
          <a:p xmlns:a="http://schemas.openxmlformats.org/drawingml/2006/main">
            <a:r>
              <a:t>            "after": 201523,</a:t>
            </a:r>
          </a:p>
          <a:p xmlns:a="http://schemas.openxmlformats.org/drawingml/2006/main">
            <a:r>
              <a:t>            "before": 181964,</a:t>
            </a:r>
          </a:p>
          <a:p xmlns:a="http://schemas.openxmlformats.org/drawingml/2006/main">
            <a:r>
              <a:t>            "change_pct": 10.748829438790096,</a:t>
            </a:r>
          </a:p>
          <a:p xmlns:a="http://schemas.openxmlformats.org/drawingml/2006/main">
            <a:r>
              <a:t>            "difference": 19559</a:t>
            </a:r>
          </a:p>
          <a:p xmlns:a="http://schemas.openxmlformats.org/drawingml/2006/main">
            <a:r>
              <a:t>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1955.8999999999976</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"28f418873eda5b37d320d3fef32c46bef172ca1cfea3861db2d5fc96a0b16f50",</a:t>
            </a:r>
          </a:p>
          <a:p xmlns:a="http://schemas.openxmlformats.org/drawingml/2006/main">
            <a:r>
              <a:t>          "provider": "한국관광 데이터랩",</a:t>
            </a:r>
          </a:p>
          <a:p xmlns:a="http://schemas.openxmlformats.org/drawingml/2006/main">
            <a:r>
              <a:t>          "file_name": "20260820175023_안동탈춤축제_연도별 방문자 추이.csv",</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"카테고리": "시장",</a:t>
            </a:r>
          </a:p>
          <a:p xmlns:a="http://schemas.openxmlformats.org/drawingml/2006/main">
            <a:r>
              <a:t>            "도로명주소": "경북 안동시 번영1길 47-0"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"카테고리": "기타문화관광지",</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"카테고리": "도시공원",</a:t>
            </a:r>
          </a:p>
          <a:p xmlns:a="http://schemas.openxmlformats.org/drawingml/2006/main">
            <a:r>
              <a:t>            "도로명주소": "경북 안동시 육사로 239-0"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"대전 서구의 기존 문화·상업시설과 맞는 주제를 새로 선정하고 프로그램·회차·정원을 별도로 설계해야 한다.",</a:t>
            </a:r>
          </a:p>
          <a:p xmlns:a="http://schemas.openxmlformats.org/drawingml/2006/main">
            <a:r>
              <a:t>        "10일 연속 운영보다 고정 일정인 10~12월에 주말 반복형으로 분산하는 방안을 비교해야 한다.",</a:t>
            </a:r>
          </a:p>
          <a:p xmlns:a="http://schemas.openxmlformats.org/drawingml/2006/main">
            <a:r>
              <a:t>        "외지인 관측 증가가 실제 상권 결제로 이어졌는지 확인할 수 있도록 예약·QR·카드 또는 영수증 기반 기록이 필요하다.",</a:t>
            </a:r>
          </a:p>
          <a:p xmlns:a="http://schemas.openxmlformats.org/drawingml/2006/main">
            <a:r>
              <a:t>        "행사장 주변 교통·식음·야간 운영 가능 시설을 현장 확인한 뒤 참여처를 모집해야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"day",</a:t>
            </a:r>
          </a:p>
          <a:p xmlns:a="http://schemas.openxmlformats.org/drawingml/2006/main">
            <a:r>
              <a:t>          "quote": "2025년 10일 개최",</a:t>
            </a:r>
          </a:p>
          <a:p xmlns:a="http://schemas.openxmlformats.org/drawingml/2006/main">
            <a:r>
              <a:t>          "scope": "안동탈춤축제 전체 개최일수",</a:t>
            </a:r>
          </a:p>
          <a:p xmlns:a="http://schemas.openxmlformats.org/drawingml/2006/main">
            <a:r>
              <a:t>          "value": 10,</a:t>
            </a:r>
          </a:p>
          <a:p xmlns:a="http://schemas.openxmlformats.org/drawingml/2006/main">
            <a:r>
              <a:t>          "metric": "operating_days",</a:t>
            </a:r>
          </a:p>
          <a:p xmlns:a="http://schemas.openxmlformats.org/drawingml/2006/main">
            <a:r>
              <a:t>          "period": "2025년 축제 개최기간",</a:t>
            </a:r>
          </a:p>
          <a:p xmlns:a="http://schemas.openxmlformats.org/drawingml/2006/main">
            <a:r>
              <a:t>          "program_name": "안동탈춤축제",</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"한국관광 데이터랩 · 문경찻사발축제 방문자 추이",</a:t>
            </a:r>
          </a:p>
          <a:p xmlns:a="http://schemas.openxmlformats.org/drawingml/2006/main">
            <a:r>
              <a:t>      "summary": "경상북도 문경시 · 문경찻사발축제 · 2024→2025년 전체 245,750→256,570명 (+4.40%). 개최 10→9일, 일평균 +16.00%, 외지인 +9.28%.",</a:t>
            </a:r>
          </a:p>
          <a:p xmlns:a="http://schemas.openxmlformats.org/drawingml/2006/main">
            <a:r>
              <a:t>      "source_id": "case:festival:01474ef75569b1",</a:t>
            </a:r>
          </a:p>
          <a:p xmlns:a="http://schemas.openxmlformats.org/drawingml/2006/main">
            <a:r>
              <a:t>      "source_url": "https://datalab.visitkorea.or.kr/",</a:t>
            </a:r>
          </a:p>
          <a:p xmlns:a="http://schemas.openxmlformats.org/drawingml/2006/main">
            <a:r>
              <a:t>      "case_region": "경상북도 문경시",</a:t>
            </a:r>
          </a:p>
          <a:p xmlns:a="http://schemas.openxmlformats.org/drawingml/2006/main">
            <a:r>
              <a:t>      "source_type": "benchmark_case",</a:t>
            </a:r>
          </a:p>
          <a:p xmlns:a="http://schemas.openxmlformats.org/drawingml/2006/main">
            <a:r>
              <a:t>      "dataset_hash": "ad20e3daf70fd44fd481d672398c07bb9c96fce77acb450784065a568735e2e2",</a:t>
            </a:r>
          </a:p>
          <a:p xmlns:a="http://schemas.openxmlformats.org/drawingml/2006/main">
            <a:r>
              <a:t>      "intervention": "문경찻사발축제",</a:t>
            </a:r>
          </a:p>
          <a:p xmlns:a="http://schemas.openxmlformats.org/drawingml/2006/main">
            <a:r>
              <a:t>      "source_files": [</a:t>
            </a:r>
          </a:p>
          <a:p xmlns:a="http://schemas.openxmlformats.org/drawingml/2006/main">
            <a:r>
              <a:t>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"44238aecdfa68974febce93cd262e119492da76910929b96da438d8b6ee7a9b3",</a:t>
            </a:r>
          </a:p>
          <a:p xmlns:a="http://schemas.openxmlformats.org/drawingml/2006/main">
            <a:r>
              <a:t>          "provider": "한국관광 데이터랩",</a:t>
            </a:r>
          </a:p>
          <a:p xmlns:a="http://schemas.openxmlformats.org/drawingml/2006/main">
            <a:r>
              <a:t>          "file_name": "20260820160334_문경찻사발축제_성_연령별 내국인 방문자.csv",</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"eadf4622620ddb1575df5f358ec588aeed8718c09e0998a19494cf0f3cfe0f16",</a:t>
            </a:r>
          </a:p>
          <a:p xmlns:a="http://schemas.openxmlformats.org/drawingml/2006/main">
            <a:r>
              <a:t>          "provider": "한국관광 데이터랩",</a:t>
            </a:r>
          </a:p>
          <a:p xmlns:a="http://schemas.openxmlformats.org/drawingml/2006/main">
            <a:r>
              <a:t>          "file_name": "20260820160334_문경찻사발축제_문화관광축제 주요 지표.csv",</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"sha256": "343671c431cfa7e76ba333ca2ea221803e111e0db5e9a51c6d387b0ba5d7eeaf",</a:t>
            </a:r>
          </a:p>
          <a:p xmlns:a="http://schemas.openxmlformats.org/drawingml/2006/main">
            <a:r>
              <a:t>          "provider": "한국관광 데이터랩",</a:t>
            </a:r>
          </a:p>
          <a:p xmlns:a="http://schemas.openxmlformats.org/drawingml/2006/main">
            <a:r>
              <a:t>          "file_name": "20260820160334_문경찻사발축제_목적지 검색순위.csv",</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"provenance_status": "team_download_exact_query_url_unrecorded"</a:t>
            </a:r>
          </a:p>
          <a:p xmlns:a="http://schemas.openxmlformats.org/drawingml/2006/main">
            <a:r>
              <a:t>        }</a:t>
            </a:r>
          </a:p>
          <a:p xmlns:a="http://schemas.openxmlformats.org/drawingml/2006/main">
            <a:r>
              <a:t>      ],</a:t>
            </a:r>
          </a:p>
          <a:p xmlns:a="http://schemas.openxmlformats.org/drawingml/2006/main">
            <a:r>
              <a:t>      "document_type": "case_study",</a:t>
            </a:r>
          </a:p>
          <a:p xmlns:a="http://schemas.openxmlformats.org/drawingml/2006/main">
            <a:r>
              <a:t>      "evidence_kind": "festival_statistics",</a:t>
            </a:r>
          </a:p>
          <a:p xmlns:a="http://schemas.openxmlformats.org/drawingml/2006/main">
            <a:r>
              <a:t>      "observed_result": "2024→2025년 전체 245,750→256,570명 (+4.40%). 개최 10→9일, 일평균 +16.00%, 외지인 +9.28%.",</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"retrieval_basis": {</a:t>
            </a:r>
          </a:p>
          <a:p xmlns:a="http://schemas.openxmlformats.org/drawingml/2006/main">
            <a:r>
              <a:t>        "kind": "external_benchmark",</a:t>
            </a:r>
          </a:p>
          <a:p xmlns:a="http://schemas.openxmlformats.org/drawingml/2006/main">
            <a:r>
              <a:t>        "rule": "함수 기반 조사 우선순위. 사업효과·인구/환경 유사도 점수가 아니며 소비·체류 개선은 조사 가설이다.",</a:t>
            </a:r>
          </a:p>
          <a:p xmlns:a="http://schemas.openxmlformats.org/drawingml/2006/main">
            <a:r>
              <a:t>        "score": 31,</a:t>
            </a:r>
          </a:p>
          <a:p xmlns:a="http://schemas.openxmlformats.org/drawingml/2006/main">
            <a:r>
              <a:t>        "theme": "역사·공예",</a:t>
            </a:r>
          </a:p>
          <a:p xmlns:a="http://schemas.openxmlformats.org/drawingml/2006/main">
            <a:r>
              <a:t>        "components": {</a:t>
            </a:r>
          </a:p>
          <a:p xmlns:a="http://schemas.openxmlformats.org/drawingml/2006/main">
            <a:r>
              <a:t>          "최근 개최연도": 6,</a:t>
            </a:r>
          </a:p>
          <a:p xmlns:a="http://schemas.openxmlformats.org/drawingml/2006/main">
            <a:r>
              <a:t>          "방문 실적 비교 가능": 10,</a:t>
            </a:r>
          </a:p>
          <a:p xmlns:a="http://schemas.openxmlformats.org/drawingml/2006/main">
            <a:r>
              <a:t>          "방문 전망 조사: 외지인·일평균 동반 증가": 15</a:t>
            </a:r>
          </a:p>
          <a:p xmlns:a="http://schemas.openxmlformats.org/drawingml/2006/main">
            <a:r>
              <a:t>        },</a:t>
            </a:r>
          </a:p>
          <a:p xmlns:a="http://schemas.openxmlformats.org/drawingml/2006/main">
            <a:r>
              <a:t>        "priority_signal": "visit"</a:t>
            </a:r>
          </a:p>
          <a:p xmlns:a="http://schemas.openxmlformats.org/drawingml/2006/main">
            <a:r>
              <a:t>      },</a:t>
            </a:r>
          </a:p>
          <a:p xmlns:a="http://schemas.openxmlformats.org/drawingml/2006/main">
            <a:r>
              <a:t>      "retrieval_method": "datalab_festival_table",</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"2023~2025년 각 축제 개최기간",</a:t>
            </a:r>
          </a:p>
          <a:p xmlns:a="http://schemas.openxmlformats.org/drawingml/2006/main">
            <a:r>
              <a:t>      "festival_statistics": {</a:t>
            </a:r>
          </a:p>
          <a:p xmlns:a="http://schemas.openxmlformats.org/drawingml/2006/main">
            <a:r>
              <a:t>        "name": "문경찻사발축제",</a:t>
            </a:r>
          </a:p>
          <a:p xmlns:a="http://schemas.openxmlformats.org/drawingml/2006/main">
            <a:r>
              <a:t>        "scope": "축제 관측구역 방문 지표. 도시 전체·순증 관광객·입장권 실구매자 수가 아님.",</a:t>
            </a:r>
          </a:p>
          <a:p xmlns:a="http://schemas.openxmlformats.org/drawingml/2006/main">
            <a:r>
              <a:t>        "annual": [</a:t>
            </a:r>
          </a:p>
          <a:p xmlns:a="http://schemas.openxmlformats.org/drawingml/2006/main">
            <a:r>
              <a:t>          {</a:t>
            </a:r>
          </a:p>
          <a:p xmlns:a="http://schemas.openxmlformats.org/drawingml/2006/main">
            <a:r>
              <a:t>            "days": 9,</a:t>
            </a:r>
          </a:p>
          <a:p xmlns:a="http://schemas.openxmlformats.org/drawingml/2006/main">
            <a:r>
              <a:t>            "year": 2023,</a:t>
            </a:r>
          </a:p>
          <a:p xmlns:a="http://schemas.openxmlformats.org/drawingml/2006/main">
            <a:r>
              <a:t>            "daily": 23055.333333333332,</a:t>
            </a:r>
          </a:p>
          <a:p xmlns:a="http://schemas.openxmlformats.org/drawingml/2006/main">
            <a:r>
              <a:t>            "local": 59726,</a:t>
            </a:r>
          </a:p>
          <a:p xmlns:a="http://schemas.openxmlformats.org/drawingml/2006/main">
            <a:r>
              <a:t>            "total": 207498,</a:t>
            </a:r>
          </a:p>
          <a:p xmlns:a="http://schemas.openxmlformats.org/drawingml/2006/main">
            <a:r>
              <a:t>            "foreign": 1241,</a:t>
            </a:r>
          </a:p>
          <a:p xmlns:a="http://schemas.openxmlformats.org/drawingml/2006/main">
            <a:r>
              <a:t>            "outside": 146531,</a:t>
            </a:r>
          </a:p>
          <a:p xmlns:a="http://schemas.openxmlformats.org/drawingml/2006/main">
            <a:r>
              <a:t>            "outside_daily": 16281.222222222224,</a:t>
            </a:r>
          </a:p>
          <a:p xmlns:a="http://schemas.openxmlformats.org/drawingml/2006/main">
            <a:r>
              <a:t>            "outside_share_pct": 70.61803005330172</a:t>
            </a:r>
          </a:p>
          <a:p xmlns:a="http://schemas.openxmlformats.org/drawingml/2006/main">
            <a:r>
              <a:t>          },</a:t>
            </a:r>
          </a:p>
          <a:p xmlns:a="http://schemas.openxmlformats.org/drawingml/2006/main">
            <a:r>
              <a:t>          {</a:t>
            </a:r>
          </a:p>
          <a:p xmlns:a="http://schemas.openxmlformats.org/drawingml/2006/main">
            <a:r>
              <a:t>            "days": 10,</a:t>
            </a:r>
          </a:p>
          <a:p xmlns:a="http://schemas.openxmlformats.org/drawingml/2006/main">
            <a:r>
              <a:t>            "year": 2024,</a:t>
            </a:r>
          </a:p>
          <a:p xmlns:a="http://schemas.openxmlformats.org/drawingml/2006/main">
            <a:r>
              <a:t>            "daily": 24575,</a:t>
            </a:r>
          </a:p>
          <a:p xmlns:a="http://schemas.openxmlformats.org/drawingml/2006/main">
            <a:r>
              <a:t>            "local": 64582,</a:t>
            </a:r>
          </a:p>
          <a:p xmlns:a="http://schemas.openxmlformats.org/drawingml/2006/main">
            <a:r>
              <a:t>            "total": 245750,</a:t>
            </a:r>
          </a:p>
          <a:p xmlns:a="http://schemas.openxmlformats.org/drawingml/2006/main">
            <a:r>
              <a:t>            "foreign": 1170,</a:t>
            </a:r>
          </a:p>
          <a:p xmlns:a="http://schemas.openxmlformats.org/drawingml/2006/main">
            <a:r>
              <a:t>            "outside": 179998,</a:t>
            </a:r>
          </a:p>
          <a:p xmlns:a="http://schemas.openxmlformats.org/drawingml/2006/main">
            <a:r>
              <a:t>            "outside_daily": 17999.8,</a:t>
            </a:r>
          </a:p>
          <a:p xmlns:a="http://schemas.openxmlformats.org/drawingml/2006/main">
            <a:r>
              <a:t>            "outside_share_pct": 73.2443540183113</a:t>
            </a:r>
          </a:p>
          <a:p xmlns:a="http://schemas.openxmlformats.org/drawingml/2006/main">
            <a:r>
              <a:t>          },</a:t>
            </a:r>
          </a:p>
          <a:p xmlns:a="http://schemas.openxmlformats.org/drawingml/2006/main">
            <a:r>
              <a:t>          {</a:t>
            </a:r>
          </a:p>
          <a:p xmlns:a="http://schemas.openxmlformats.org/drawingml/2006/main">
            <a:r>
              <a:t>            "days": 9,</a:t>
            </a:r>
          </a:p>
          <a:p xmlns:a="http://schemas.openxmlformats.org/drawingml/2006/main">
            <a:r>
              <a:t>            "year": 2025,</a:t>
            </a:r>
          </a:p>
          <a:p xmlns:a="http://schemas.openxmlformats.org/drawingml/2006/main">
            <a:r>
              <a:t>            "daily": 28507.777777777777,</a:t>
            </a:r>
          </a:p>
          <a:p xmlns:a="http://schemas.openxmlformats.org/drawingml/2006/main">
            <a:r>
              <a:t>            "local": 58704,</a:t>
            </a:r>
          </a:p>
          <a:p xmlns:a="http://schemas.openxmlformats.org/drawingml/2006/main">
            <a:r>
              <a:t>            "total": 256570,</a:t>
            </a:r>
          </a:p>
          <a:p xmlns:a="http://schemas.openxmlformats.org/drawingml/2006/main">
            <a:r>
              <a:t>            "foreign": 1166,</a:t>
            </a:r>
          </a:p>
          <a:p xmlns:a="http://schemas.openxmlformats.org/drawingml/2006/main">
            <a:r>
              <a:t>            "outside": 196700,</a:t>
            </a:r>
          </a:p>
          <a:p xmlns:a="http://schemas.openxmlformats.org/drawingml/2006/main">
            <a:r>
              <a:t>            "outside_daily": 21855.555555555555,</a:t>
            </a:r>
          </a:p>
          <a:p xmlns:a="http://schemas.openxmlformats.org/drawingml/2006/main">
            <a:r>
              <a:t>            "outside_share_pct": 76.66523755700199</a:t>
            </a:r>
          </a:p>
          <a:p xmlns:a="http://schemas.openxmlformats.org/drawingml/2006/main">
            <a:r>
              <a:t>          }</a:t>
            </a:r>
          </a:p>
          <a:p xmlns:a="http://schemas.openxmlformats.org/drawingml/2006/main">
            <a:r>
              <a:t>        ],</a:t>
            </a:r>
          </a:p>
          <a:p xmlns:a="http://schemas.openxmlformats.org/drawingml/2006/main">
            <a:r>
              <a:t>        "audience": [</a:t>
            </a:r>
          </a:p>
          <a:p xmlns:a="http://schemas.openxmlformats.org/drawingml/2006/main">
            <a:r>
              <a:t>          {</a:t>
            </a:r>
          </a:p>
          <a:p xmlns:a="http://schemas.openxmlformats.org/drawingml/2006/main">
            <a:r>
              <a:t>            "연령대": "70세 이상",</a:t>
            </a:r>
          </a:p>
          <a:p xmlns:a="http://schemas.openxmlformats.org/drawingml/2006/main">
            <a:r>
              <a:t>            "축제명": "문경찻사발축제",</a:t>
            </a:r>
          </a:p>
          <a:p xmlns:a="http://schemas.openxmlformats.org/drawingml/2006/main">
            <a:r>
              <a:t>            "남성비율": "4.0",</a:t>
            </a:r>
          </a:p>
          <a:p xmlns:a="http://schemas.openxmlformats.org/drawingml/2006/main">
            <a:r>
              <a:t>            "여성비율": "3.8"</a:t>
            </a:r>
          </a:p>
          <a:p xmlns:a="http://schemas.openxmlformats.org/drawingml/2006/main">
            <a:r>
              <a:t>          },</a:t>
            </a:r>
          </a:p>
          <a:p xmlns:a="http://schemas.openxmlformats.org/drawingml/2006/main">
            <a:r>
              <a:t>          {</a:t>
            </a:r>
          </a:p>
          <a:p xmlns:a="http://schemas.openxmlformats.org/drawingml/2006/main">
            <a:r>
              <a:t>            "연령대": "60~69세",</a:t>
            </a:r>
          </a:p>
          <a:p xmlns:a="http://schemas.openxmlformats.org/drawingml/2006/main">
            <a:r>
              <a:t>            "축제명": "문경찻사발축제",</a:t>
            </a:r>
          </a:p>
          <a:p xmlns:a="http://schemas.openxmlformats.org/drawingml/2006/main">
            <a:r>
              <a:t>            "남성비율": "12.3",</a:t>
            </a:r>
          </a:p>
          <a:p xmlns:a="http://schemas.openxmlformats.org/drawingml/2006/main">
            <a:r>
              <a:t>            "여성비율": "10.0"</a:t>
            </a:r>
          </a:p>
          <a:p xmlns:a="http://schemas.openxmlformats.org/drawingml/2006/main">
            <a:r>
              <a:t>          },</a:t>
            </a:r>
          </a:p>
          <a:p xmlns:a="http://schemas.openxmlformats.org/drawingml/2006/main">
            <a:r>
              <a:t>          {</a:t>
            </a:r>
          </a:p>
          <a:p xmlns:a="http://schemas.openxmlformats.org/drawingml/2006/main">
            <a:r>
              <a:t>            "연령대": "50~59세",</a:t>
            </a:r>
          </a:p>
          <a:p xmlns:a="http://schemas.openxmlformats.org/drawingml/2006/main">
            <a:r>
              <a:t>            "축제명": "문경찻사발축제",</a:t>
            </a:r>
          </a:p>
          <a:p xmlns:a="http://schemas.openxmlformats.org/drawingml/2006/main">
            <a:r>
              <a:t>            "남성비율": "13.0",</a:t>
            </a:r>
          </a:p>
          <a:p xmlns:a="http://schemas.openxmlformats.org/drawingml/2006/main">
            <a:r>
              <a:t>            "여성비율": "11.7"</a:t>
            </a:r>
          </a:p>
          <a:p xmlns:a="http://schemas.openxmlformats.org/drawingml/2006/main">
            <a:r>
              <a:t>          },</a:t>
            </a:r>
          </a:p>
          <a:p xmlns:a="http://schemas.openxmlformats.org/drawingml/2006/main">
            <a:r>
              <a:t>          {</a:t>
            </a:r>
          </a:p>
          <a:p xmlns:a="http://schemas.openxmlformats.org/drawingml/2006/main">
            <a:r>
              <a:t>            "연령대": "40~49세",</a:t>
            </a:r>
          </a:p>
          <a:p xmlns:a="http://schemas.openxmlformats.org/drawingml/2006/main">
            <a:r>
              <a:t>            "축제명": "문경찻사발축제",</a:t>
            </a:r>
          </a:p>
          <a:p xmlns:a="http://schemas.openxmlformats.org/drawingml/2006/main">
            <a:r>
              <a:t>            "남성비율": "9.3",</a:t>
            </a:r>
          </a:p>
          <a:p xmlns:a="http://schemas.openxmlformats.org/drawingml/2006/main">
            <a:r>
              <a:t>            "여성비율": "7.6"</a:t>
            </a:r>
          </a:p>
          <a:p xmlns:a="http://schemas.openxmlformats.org/drawingml/2006/main">
            <a:r>
              <a:t>          },</a:t>
            </a:r>
          </a:p>
          <a:p xmlns:a="http://schemas.openxmlformats.org/drawingml/2006/main">
            <a:r>
              <a:t>          {</a:t>
            </a:r>
          </a:p>
          <a:p xmlns:a="http://schemas.openxmlformats.org/drawingml/2006/main">
            <a:r>
              <a:t>            "연령대": "30~39세",</a:t>
            </a:r>
          </a:p>
          <a:p xmlns:a="http://schemas.openxmlformats.org/drawingml/2006/main">
            <a:r>
              <a:t>            "축제명": "문경찻사발축제",</a:t>
            </a:r>
          </a:p>
          <a:p xmlns:a="http://schemas.openxmlformats.org/drawingml/2006/main">
            <a:r>
              <a:t>            "남성비율": "7.2",</a:t>
            </a:r>
          </a:p>
          <a:p xmlns:a="http://schemas.openxmlformats.org/drawingml/2006/main">
            <a:r>
              <a:t>            "여성비율": "6.1"</a:t>
            </a:r>
          </a:p>
          <a:p xmlns:a="http://schemas.openxmlformats.org/drawingml/2006/main">
            <a:r>
              <a:t>          },</a:t>
            </a:r>
          </a:p>
          <a:p xmlns:a="http://schemas.openxmlformats.org/drawingml/2006/main">
            <a:r>
              <a:t>          {</a:t>
            </a:r>
          </a:p>
          <a:p xmlns:a="http://schemas.openxmlformats.org/drawingml/2006/main">
            <a:r>
              <a:t>            "연령대": "20~29세",</a:t>
            </a:r>
          </a:p>
          <a:p xmlns:a="http://schemas.openxmlformats.org/drawingml/2006/main">
            <a:r>
              <a:t>            "축제명": "문경찻사발축제",</a:t>
            </a:r>
          </a:p>
          <a:p xmlns:a="http://schemas.openxmlformats.org/drawingml/2006/main">
            <a:r>
              <a:t>            "남성비율": "4.6",</a:t>
            </a:r>
          </a:p>
          <a:p xmlns:a="http://schemas.openxmlformats.org/drawingml/2006/main">
            <a:r>
              <a:t>            "여성비율": "4.1"</a:t>
            </a:r>
          </a:p>
          <a:p xmlns:a="http://schemas.openxmlformats.org/drawingml/2006/main">
            <a:r>
              <a:t>          },</a:t>
            </a:r>
          </a:p>
          <a:p xmlns:a="http://schemas.openxmlformats.org/drawingml/2006/main">
            <a:r>
              <a:t>          {</a:t>
            </a:r>
          </a:p>
          <a:p xmlns:a="http://schemas.openxmlformats.org/drawingml/2006/main">
            <a:r>
              <a:t>            "연령대": "10~19세",</a:t>
            </a:r>
          </a:p>
          <a:p xmlns:a="http://schemas.openxmlformats.org/drawingml/2006/main">
            <a:r>
              <a:t>            "축제명": "문경찻사발축제",</a:t>
            </a:r>
          </a:p>
          <a:p xmlns:a="http://schemas.openxmlformats.org/drawingml/2006/main">
            <a:r>
              <a:t>            "남성비율": "2.5",</a:t>
            </a:r>
          </a:p>
          <a:p xmlns:a="http://schemas.openxmlformats.org/drawingml/2006/main">
            <a:r>
              <a:t>            "여성비율": "2.5"</a:t>
            </a:r>
          </a:p>
          <a:p xmlns:a="http://schemas.openxmlformats.org/drawingml/2006/main">
            <a:r>
              <a:t>          },</a:t>
            </a:r>
          </a:p>
          <a:p xmlns:a="http://schemas.openxmlformats.org/drawingml/2006/main">
            <a:r>
              <a:t>          {</a:t>
            </a:r>
          </a:p>
          <a:p xmlns:a="http://schemas.openxmlformats.org/drawingml/2006/main">
            <a:r>
              <a:t>            "연령대": "0~9세",</a:t>
            </a:r>
          </a:p>
          <a:p xmlns:a="http://schemas.openxmlformats.org/drawingml/2006/main">
            <a:r>
              <a:t>            "축제명": "문경찻사발축제",</a:t>
            </a:r>
          </a:p>
          <a:p xmlns:a="http://schemas.openxmlformats.org/drawingml/2006/main">
            <a:r>
              <a:t>            "남성비율": "0.6",</a:t>
            </a:r>
          </a:p>
          <a:p xmlns:a="http://schemas.openxmlformats.org/drawingml/2006/main">
            <a:r>
              <a:t>            "여성비율": "0.6"</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"daily": {</a:t>
            </a:r>
          </a:p>
          <a:p xmlns:a="http://schemas.openxmlformats.org/drawingml/2006/main">
            <a:r>
              <a:t>            "after": 28507.777777777777,</a:t>
            </a:r>
          </a:p>
          <a:p xmlns:a="http://schemas.openxmlformats.org/drawingml/2006/main">
            <a:r>
              <a:t>            "before": 24575,</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"total": {</a:t>
            </a:r>
          </a:p>
          <a:p xmlns:a="http://schemas.openxmlformats.org/drawingml/2006/main">
            <a:r>
              <a:t>            "after": 256570,</a:t>
            </a:r>
          </a:p>
          <a:p xmlns:a="http://schemas.openxmlformats.org/drawingml/2006/main">
            <a:r>
              <a:t>            "before": 245750,</a:t>
            </a:r>
          </a:p>
          <a:p xmlns:a="http://schemas.openxmlformats.org/drawingml/2006/main">
            <a:r>
              <a:t>            "change_pct": 4.402848423194294,</a:t>
            </a:r>
          </a:p>
          <a:p xmlns:a="http://schemas.openxmlformats.org/drawingml/2006/main">
            <a:r>
              <a:t>            "difference": 10820</a:t>
            </a:r>
          </a:p>
          <a:p xmlns:a="http://schemas.openxmlformats.org/drawingml/2006/main">
            <a:r>
              <a:t>          },</a:t>
            </a:r>
          </a:p>
          <a:p xmlns:a="http://schemas.openxmlformats.org/drawingml/2006/main">
            <a:r>
              <a:t>          "outside": {</a:t>
            </a:r>
          </a:p>
          <a:p xmlns:a="http://schemas.openxmlformats.org/drawingml/2006/main">
            <a:r>
              <a:t>            "after": 196700,</a:t>
            </a:r>
          </a:p>
          <a:p xmlns:a="http://schemas.openxmlformats.org/drawingml/2006/main">
            <a:r>
              <a:t>            "before": 179998,</a:t>
            </a:r>
          </a:p>
          <a:p xmlns:a="http://schemas.openxmlformats.org/drawingml/2006/main">
            <a:r>
              <a:t>            "change_pct": 9.278991988799866,</a:t>
            </a:r>
          </a:p>
          <a:p xmlns:a="http://schemas.openxmlformats.org/drawingml/2006/main">
            <a:r>
              <a:t>            "difference": 16702</a:t>
            </a:r>
          </a:p>
          <a:p xmlns:a="http://schemas.openxmlformats.org/drawingml/2006/main">
            <a:r>
              <a:t>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a:t>
            </a:r>
          </a:p>
          <a:p xmlns:a="http://schemas.openxmlformats.org/drawingml/2006/main">
            <a:r>
              <a:t>          }</a:t>
            </a:r>
          </a:p>
          <a:p xmlns:a="http://schemas.openxmlformats.org/drawingml/2006/main">
            <a:r>
              <a:t>        },</a:t>
            </a:r>
          </a:p>
          <a:p xmlns:a="http://schemas.openxmlformats.org/drawingml/2006/main">
            <a:r>
              <a:t>        "source_file": {</a:t>
            </a:r>
          </a:p>
          <a:p xmlns:a="http://schemas.openxmlformats.org/drawingml/2006/main">
            <a:r>
              <a:t>          "sha256": "dfcb5b619f820d7ce4451f5e89294681bc37f49f8200ba859754d423602e51a1",</a:t>
            </a:r>
          </a:p>
          <a:p xmlns:a="http://schemas.openxmlformats.org/drawingml/2006/main">
            <a:r>
              <a:t>          "provider": "한국관광 데이터랩",</a:t>
            </a:r>
          </a:p>
          <a:p xmlns:a="http://schemas.openxmlformats.org/drawingml/2006/main">
            <a:r>
              <a:t>          "file_name": "20260820160334_문경찻사발축제_연도별 방문자 추이.csv",</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"downloaded_at": "2026-08-20",</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"provenance_status": "team_download_exact_query_url_unrecorded"</a:t>
            </a:r>
          </a:p>
          <a:p xmlns:a="http://schemas.openxmlformats.org/drawingml/2006/main">
            <a:r>
              <a:t>        },</a:t>
            </a:r>
          </a:p>
          <a:p xmlns:a="http://schemas.openxmlformats.org/drawingml/2006/main">
            <a:r>
              <a:t>        "region_basis": "목적지 검색 CSV의 시도+시군구 최빈 주소; 행사장 행정경계 확정은 아님",</a:t>
            </a:r>
          </a:p>
          <a:p xmlns:a="http://schemas.openxmlformats.org/drawingml/2006/main">
            <a:r>
              <a:t>        "indicator_rule": "원본 지표값만 보존. 산식·단위 미확인으로 성장률/원화/정원/참여율 변환 금지.",</a:t>
            </a:r>
          </a:p>
          <a:p xmlns:a="http://schemas.openxmlformats.org/drawingml/2006/main">
            <a:r>
              <a:t>        "audience_period": "다운로드 CSV에 연도 열 없음; 최신 개최연도와 자동 결합하지 않음",</a:t>
            </a:r>
          </a:p>
          <a:p xmlns:a="http://schemas.openxmlformats.org/drawingml/2006/main">
            <a:r>
              <a:t>        "indicator_values": [</a:t>
            </a:r>
          </a:p>
          <a:p xmlns:a="http://schemas.openxmlformats.org/drawingml/2006/main">
            <a:r>
              <a:t>          {</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"개최년도": "2025"</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"카테고리": "역사유적지",</a:t>
            </a:r>
          </a:p>
          <a:p xmlns:a="http://schemas.openxmlformats.org/drawingml/2006/main">
            <a:r>
              <a:t>            "도로명주소": "경북 문경시 새재로 932-0"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"카테고리": "웰니스관광",</a:t>
            </a:r>
          </a:p>
          <a:p xmlns:a="http://schemas.openxmlformats.org/drawingml/2006/main">
            <a:r>
              <a:t>            "도로명주소": "경북 문경시 온천2길 24-0"</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"카테고리": "기타문화관광지",</a:t>
            </a:r>
          </a:p>
          <a:p xmlns:a="http://schemas.openxmlformats.org/drawingml/2006/main">
            <a:r>
              <a:t>            "도로명주소": "경북 문경시 새재로 933-0"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"operating_statistics": [],</a:t>
            </a:r>
          </a:p>
          <a:p xmlns:a="http://schemas.openxmlformats.org/drawingml/2006/main">
            <a:r>
              <a:t>      "published_or_updated_at": "2026-08-20",</a:t>
            </a:r>
          </a:p>
          <a:p xmlns:a="http://schemas.openxmlformats.org/drawingml/2006/main">
            <a:r>
              <a:t>      "quantitative_result_approved": true</a:t>
            </a:r>
          </a:p>
          <a:p xmlns:a="http://schemas.openxmlformats.org/drawingml/2006/main">
            <a:r>
              <a:t>    },</a:t>
            </a:r>
          </a:p>
          <a:p xmlns:a="http://schemas.openxmlformats.org/drawingml/2006/main">
            <a:r>
              <a:t>    {</a:t>
            </a:r>
          </a:p>
          <a:p xmlns:a="http://schemas.openxmlformats.org/drawingml/2006/main">
            <a:r>
              <a:t>      "title": "2025년 문화예술 축제 통합 지원사업 종합결과보고서",</a:t>
            </a:r>
          </a:p>
          <a:p xmlns:a="http://schemas.openxmlformats.org/drawingml/2006/main">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"source_id": "case:28ff66d9b44637",</a:t>
            </a:r>
          </a:p>
          <a:p xmlns:a="http://schemas.openxmlformats.org/drawingml/2006/main">
            <a:r>
              <a:t>      "source_url": "https://culture.seoul.go.kr/culture/cmmn/file/fileDown.do?atchFileId=bb34395b25504c66a77ef69999cacb1c&amp;bbsId=B0000006&amp;fileSn=1",</a:t>
            </a:r>
          </a:p>
          <a:p xmlns:a="http://schemas.openxmlformats.org/drawingml/2006/main">
            <a:r>
              <a:t>      "case_region": "서울특별시",</a:t>
            </a:r>
          </a:p>
          <a:p xmlns:a="http://schemas.openxmlformats.org/drawingml/2006/main">
            <a:r>
              <a:t>      "source_type": "benchmark_case",</a:t>
            </a:r>
          </a:p>
          <a:p xmlns:a="http://schemas.openxmlformats.org/drawingml/2006/main">
            <a:r>
              <a:t>      "intervention": "2025 문화예술 축제 통합 지원사업: 기존 공공·민간 축제의 재정지원·현장평가·관람객 조사",</a:t>
            </a:r>
          </a:p>
          <a:p xmlns:a="http://schemas.openxmlformats.org/drawingml/2006/main">
            <a:r>
              <a:t>      "document_type": null,</a:t>
            </a:r>
          </a:p>
          <a:p xmlns:a="http://schemas.openxmlformats.org/drawingml/2006/main">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xmlns:a="http://schemas.openxmlformats.org/drawingml/2006/main">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"2025년 평가 대상 축제 개최기간과 종료 후 종합평가",</a:t>
            </a:r>
          </a:p>
          <a:p xmlns:a="http://schemas.openxmlformats.org/drawingml/2006/main">
            <a:r>
              <a:t>      "transfer_conditions": [</a:t>
            </a:r>
          </a:p>
          <a:p xmlns:a="http://schemas.openxmlformats.org/drawingml/2006/main">
            <a:r>
              <a:t>        "대전 서구에서는 신규 대형축제보다 기존 시설·민간행사·상권 프로그램을 묶고 공통 예약·결제 기록을 적용하는 요소만 축소 도입한다.",</a:t>
            </a:r>
          </a:p>
          <a:p xmlns:a="http://schemas.openxmlformats.org/drawingml/2006/main">
            <a:r>
              <a:t>        "관광형, 지역상권형, 주민문화형의 목적과 지표를 분리해야 한다.",</a:t>
            </a:r>
          </a:p>
          <a:p xmlns:a="http://schemas.openxmlformats.org/drawingml/2006/main">
            <a:r>
              <a:t>        "10~11월 행사 집중도를 확인하고 동일 날짜 경쟁을 피하는 회차·시간대 배치가 필요하다.",</a:t>
            </a:r>
          </a:p>
          <a:p xmlns:a="http://schemas.openxmlformats.org/drawingml/2006/main">
            <a:r>
              <a:t>        "축제별 방문자 중 외지인, 사전예약자, 상권 결제자, 재방문자를 별도로 측정해야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"festival",</a:t>
            </a:r>
          </a:p>
          <a:p xmlns:a="http://schemas.openxmlformats.org/drawingml/2006/main">
            <a:r>
              <a:t>          "quote": "평가 대상 축제는 총 263개",</a:t>
            </a:r>
          </a:p>
          <a:p xmlns:a="http://schemas.openxmlformats.org/drawingml/2006/main">
            <a:r>
              <a:t>          "scope": "서울시·서울문화재단 재정지원 축제 중 평가 대상",</a:t>
            </a:r>
          </a:p>
          <a:p xmlns:a="http://schemas.openxmlformats.org/drawingml/2006/main">
            <a:r>
              <a:t>          "value": 263,</a:t>
            </a:r>
          </a:p>
          <a:p xmlns:a="http://schemas.openxmlformats.org/drawingml/2006/main">
            <a:r>
              <a:t>          "metric": "sites",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null</a:t>
            </a:r>
          </a:p>
          <a:p xmlns:a="http://schemas.openxmlformats.org/drawingml/2006/main">
            <a:r>
              <a:t>        },</a:t>
            </a:r>
          </a:p>
          <a:p xmlns:a="http://schemas.openxmlformats.org/drawingml/2006/main">
            <a:r>
              <a:t>        {</a:t>
            </a:r>
          </a:p>
          <a:p xmlns:a="http://schemas.openxmlformats.org/drawingml/2006/main">
            <a:r>
              <a:t>          "unit": "person_visit",</a:t>
            </a:r>
          </a:p>
          <a:p xmlns:a="http://schemas.openxmlformats.org/drawingml/2006/main">
            <a:r>
              <a:t>          "quote": "총 8,880,289명의 관람객이 방문",</a:t>
            </a:r>
          </a:p>
          <a:p xmlns:a="http://schemas.openxmlformats.org/drawingml/2006/main">
            <a:r>
              <a:t>          "scope": "평가 대상 축제 실적집계표의 관람객 합계; 중복 방문 가능",</a:t>
            </a:r>
          </a:p>
          <a:p xmlns:a="http://schemas.openxmlformats.org/drawingml/2006/main">
            <a:r>
              <a:t>          "value": 8880289,</a:t>
            </a:r>
          </a:p>
          <a:p xmlns:a="http://schemas.openxmlformats.org/drawingml/2006/main">
            <a:r>
              <a:t>          "metric": "participants",</a:t>
            </a:r>
          </a:p>
          <a:p xmlns:a="http://schemas.openxmlformats.org/drawingml/2006/main">
            <a:r>
              <a:t>          "period": "2025-04 ~ 2025-12",</a:t>
            </a:r>
          </a:p>
          <a:p xmlns:a="http://schemas.openxmlformats.org/drawingml/2006/main">
            <a:r>
              <a:t>          "program_name": "2025 문화예술 축제 통합 지원사업",</a:t>
            </a:r>
          </a:p>
          <a:p xmlns:a="http://schemas.openxmlformats.org/drawingml/2006/main">
            <a:r>
              <a:t>          "capacity_count": null,</a:t>
            </a:r>
          </a:p>
          <a:p xmlns:a="http://schemas.openxmlformats.org/drawingml/2006/main">
            <a:r>
              <a:t>          "participant_count": 8880289</a:t>
            </a:r>
          </a:p>
          <a:p xmlns:a="http://schemas.openxmlformats.org/drawingml/2006/main">
            <a:r>
              <a:t>        }</a:t>
            </a:r>
          </a:p>
          <a:p xmlns:a="http://schemas.openxmlformats.org/drawingml/2006/main">
            <a:r>
              <a:t>      ],</a:t>
            </a:r>
          </a:p>
          <a:p xmlns:a="http://schemas.openxmlformats.org/drawingml/2006/main">
            <a:r>
              <a:t>      "published_or_updated_at": "2026",</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"귀촌 '원조 반값'은 다르다… 강진서 전국 확산 '체류 관광 도시'",</a:t>
            </a:r>
          </a:p>
          <a:p xmlns:a="http://schemas.openxmlformats.org/drawingml/2006/main">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"source_id": "case:58c0694a3e85d8",</a:t>
            </a:r>
          </a:p>
          <a:p xmlns:a="http://schemas.openxmlformats.org/drawingml/2006/main">
            <a:r>
              <a:t>      "source_url": "https://jnfarm.jeonnam.go.kr/board/FARM_BOARD_008/boardView.do?bdId=BD_00000000000015383&amp;menuCd=farm004002",</a:t>
            </a:r>
          </a:p>
          <a:p xmlns:a="http://schemas.openxmlformats.org/drawingml/2006/main">
            <a:r>
              <a:t>      "case_region": "전라남도 강진군",</a:t>
            </a:r>
          </a:p>
          <a:p xmlns:a="http://schemas.openxmlformats.org/drawingml/2006/main">
            <a:r>
              <a:t>      "source_type": "benchmark_case",</a:t>
            </a:r>
          </a:p>
          <a:p xmlns:a="http://schemas.openxmlformats.org/drawingml/2006/main">
            <a:r>
              <a:t>      "intervention": "강진 반값여행: 여행 지출 증빙 후 모바일 지역상품권 환급",</a:t>
            </a:r>
          </a:p>
          <a:p xmlns:a="http://schemas.openxmlformats.org/drawingml/2006/main">
            <a:r>
              <a:t>      "document_type": null,</a:t>
            </a:r>
          </a:p>
          <a:p xmlns:a="http://schemas.openxmlformats.org/drawingml/2006/main">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xmlns:a="http://schemas.openxmlformats.org/drawingml/2006/main">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"measurement_period": "2026년 사업 개시 후 2026-05-19까지 누적 집행·방문·결제 실적",</a:t>
            </a:r>
          </a:p>
          <a:p xmlns:a="http://schemas.openxmlformats.org/drawingml/2006/main">
            <a:r>
              <a:t>      "transfer_conditions": [</a:t>
            </a:r>
          </a:p>
          <a:p xmlns:a="http://schemas.openxmlformats.org/drawingml/2006/main">
            <a:r>
              <a:t>        "대전 서구 내 환급 대상 업종, 가맹점, 증빙 가능 결제수단을 사전에 확정해야 한다.",</a:t>
            </a:r>
          </a:p>
          <a:p xmlns:a="http://schemas.openxmlformats.org/drawingml/2006/main">
            <a:r>
              <a:t>        "모바일 지역화폐 발급·정산기관, 부정수급 점검, 중복수혜 방지 절차가 필요하다.",</a:t>
            </a:r>
          </a:p>
          <a:p xmlns:a="http://schemas.openxmlformats.org/drawingml/2006/main">
            <a:r>
              <a:t>        "예산 미정 상태에서는 전면 환급이 아니라 특정 기간·업종·인원에 한정한 실증으로 축소해야 한다.",</a:t>
            </a:r>
          </a:p>
          <a:p xmlns:a="http://schemas.openxmlformats.org/drawingml/2006/main">
            <a:r>
              <a:t>        "기존 방문객 보조와 추가 방문을 구분하려면 방문 동기, 미지원 비교군, 환급 전후 추가 결제를 조사해야 한다."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"team",</a:t>
            </a:r>
          </a:p>
          <a:p xmlns:a="http://schemas.openxmlformats.org/drawingml/2006/main">
            <a:r>
              <a:t>          "quote": "1만6292팀이 실제 강진을 찾았다.",</a:t>
            </a:r>
          </a:p>
          <a:p xmlns:a="http://schemas.openxmlformats.org/drawingml/2006/main">
            <a:r>
              <a:t>          "scope": "사전신청자 중 실제 강진 방문 확인 팀",</a:t>
            </a:r>
          </a:p>
          <a:p xmlns:a="http://schemas.openxmlformats.org/drawingml/2006/main">
            <a:r>
              <a:t>          "value": 16292,</a:t>
            </a:r>
          </a:p>
          <a:p xmlns:a="http://schemas.openxmlformats.org/drawingml/2006/main">
            <a:r>
              <a:t>          "metric": "participants",</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"unit": "KRW",</a:t>
            </a:r>
          </a:p>
          <a:p xmlns:a="http://schemas.openxmlformats.org/drawingml/2006/main">
            <a:r>
              <a:t>          "quote": "지역 내 소비액은 총 49억7000만원",</a:t>
            </a:r>
          </a:p>
          <a:p xmlns:a="http://schemas.openxmlformats.org/drawingml/2006/main">
            <a:r>
              <a:t>          "scope": "사업 등록 관광객의 강진 지역 내 소비액",</a:t>
            </a:r>
          </a:p>
          <a:p xmlns:a="http://schemas.openxmlformats.org/drawingml/2006/main">
            <a:r>
              <a:t>          "value": 4970000000,</a:t>
            </a:r>
          </a:p>
          <a:p xmlns:a="http://schemas.openxmlformats.org/drawingml/2006/main">
            <a:r>
              <a:t>          "metric": "participant_spending",</a:t>
            </a:r>
          </a:p>
          <a:p xmlns:a="http://schemas.openxmlformats.org/drawingml/2006/main">
            <a:r>
              <a:t>          "period": "2026-05-19 누적",</a:t>
            </a:r>
          </a:p>
          <a:p xmlns:a="http://schemas.openxmlformats.org/drawingml/2006/main">
            <a:r>
              <a:t>          "program_name": "강진 반값여행",</a:t>
            </a:r>
          </a:p>
          <a:p xmlns:a="http://schemas.openxmlformats.org/drawingml/2006/main">
            <a:r>
              <a:t>          "capacity_count": null,</a:t>
            </a:r>
          </a:p>
          <a:p xmlns:a="http://schemas.openxmlformats.org/drawingml/2006/main">
            <a:r>
              <a:t>          "participant_count": 16292</a:t>
            </a:r>
          </a:p>
          <a:p xmlns:a="http://schemas.openxmlformats.org/drawingml/2006/main">
            <a:r>
              <a:t>        }</a:t>
            </a:r>
          </a:p>
          <a:p xmlns:a="http://schemas.openxmlformats.org/drawingml/2006/main">
            <a:r>
              <a:t>      ],</a:t>
            </a:r>
          </a:p>
          <a:p xmlns:a="http://schemas.openxmlformats.org/drawingml/2006/main">
            <a:r>
              <a:t>      "published_or_updated_at": "2026-05-29",</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"요즘, 한국관광 2호 - 지방공항 연계 지역관광 활성화 방안",</a:t>
            </a:r>
          </a:p>
          <a:p xmlns:a="http://schemas.openxmlformats.org/drawingml/2006/main">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"source_id": "case:4544b7bca8ebab",</a:t>
            </a:r>
          </a:p>
          <a:p xmlns:a="http://schemas.openxmlformats.org/drawingml/2006/main">
            <a:r>
              <a:t>      "source_url": "https://datalab.visitkorea.or.kr/site/portal/ex/bbs/View.do?bcIdx=311068&amp;cbIdx=1135&amp;pageIndex=1",</a:t>
            </a:r>
          </a:p>
          <a:p xmlns:a="http://schemas.openxmlformats.org/drawingml/2006/main">
            <a:r>
              <a:t>      "case_region": "청주공항과 충청권 주요 관광지 연계 권역",</a:t>
            </a:r>
          </a:p>
          <a:p xmlns:a="http://schemas.openxmlformats.org/drawingml/2006/main">
            <a:r>
              <a:t>      "source_type": "benchmark_case",</a:t>
            </a:r>
          </a:p>
          <a:p xmlns:a="http://schemas.openxmlformats.org/drawingml/2006/main">
            <a:r>
              <a:t>      "intervention": "청주공항·오송역·공주·부여 연계 광역 순환버스 및 수요응답형교통(DRT)",</a:t>
            </a:r>
          </a:p>
          <a:p xmlns:a="http://schemas.openxmlformats.org/drawingml/2006/main">
            <a:r>
              <a:t>      "document_type": null,</a:t>
            </a:r>
          </a:p>
          <a:p xmlns:a="http://schemas.openxmlformats.org/drawingml/2006/main">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xmlns:a="http://schemas.openxmlformats.org/drawingml/2006/main">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xmlns:a="http://schemas.openxmlformats.org/drawingml/2006/main">
            <a:r>
              <a:t>      "retrieval_method": "official_web_search",</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"2026-01 ~ 2026-06",</a:t>
            </a:r>
          </a:p>
          <a:p xmlns:a="http://schemas.openxmlformats.org/drawingml/2006/main">
            <a:r>
              <a:t>      "transfer_conditions": [</a:t>
            </a:r>
          </a:p>
          <a:p xmlns:a="http://schemas.openxmlformats.org/drawingml/2006/main">
            <a:r>
              <a:t>        "대전역·복합터미널·청주공항 등 실제 유입 거점과 서구 내 목적지 사이의 이동 수요를 먼저 확인해야 한다.",</a:t>
            </a:r>
          </a:p>
          <a:p xmlns:a="http://schemas.openxmlformats.org/drawingml/2006/main">
            <a:r>
              <a:t>        "고정 노선은 일정 수요가 확인될 때 적용하고, 초기에는 예약형 셔틀·택시·기존 대중교통 이용권 방식도 비교해야 한다.",</a:t>
            </a:r>
          </a:p>
          <a:p xmlns:a="http://schemas.openxmlformats.org/drawingml/2006/main">
            <a:r>
              <a:t>        "운송사업자, 시설 운영자, 예약 플랫폼 간 운행시간·취소·노쇼·안전 책임 협약이 필요하다.",</a:t>
            </a:r>
          </a:p>
          <a:p xmlns:a="http://schemas.openxmlformats.org/drawingml/2006/main">
            <a:r>
              <a:t>        "대전 서구 단독보다 인접 자치구나 청주공항 연계 권역상품으로 운영할 경우 비용·성과의 행정구역별 배분 기준이 필요하다."</a:t>
            </a:r>
          </a:p>
          <a:p xmlns:a="http://schemas.openxmlformats.org/drawingml/2006/main">
            <a:r>
              <a:t>      ],</a:t>
            </a:r>
          </a:p>
          <a:p xmlns:a="http://schemas.openxmlformats.org/drawingml/2006/main">
            <a:r>
              <a:t>      "operating_statistics": [</a:t>
            </a:r>
          </a:p>
          <a:p xmlns:a="http://schemas.openxmlformats.org/drawingml/2006/main">
            <a:r>
              <a:t>        {</a:t>
            </a:r>
          </a:p>
          <a:p xmlns:a="http://schemas.openxmlformats.org/drawingml/2006/main">
            <a:r>
              <a:t>          "unit": "person",</a:t>
            </a:r>
          </a:p>
          <a:p xmlns:a="http://schemas.openxmlformats.org/drawingml/2006/main">
            <a:r>
              <a:t>          "quote": "순환버스와 DRT 이용객은 총 7,470명",</a:t>
            </a:r>
          </a:p>
          <a:p xmlns:a="http://schemas.openxmlformats.org/drawingml/2006/main">
            <a:r>
              <a:t>          "scope": "청주공항·충청권 광역 순환버스와 DRT 실제 이용객 합계",</a:t>
            </a:r>
          </a:p>
          <a:p xmlns:a="http://schemas.openxmlformats.org/drawingml/2006/main">
            <a:r>
              <a:t>          "value": 7470,</a:t>
            </a:r>
          </a:p>
          <a:p xmlns:a="http://schemas.openxmlformats.org/drawingml/2006/main">
            <a:r>
              <a:t>          "metric": "participants",</a:t>
            </a:r>
          </a:p>
          <a:p xmlns:a="http://schemas.openxmlformats.org/drawingml/2006/main">
            <a:r>
              <a:t>          "period": "2026년 상반기",</a:t>
            </a:r>
          </a:p>
          <a:p xmlns:a="http://schemas.openxmlformats.org/drawingml/2006/main">
            <a:r>
              <a:t>          "program_name": "청주공항 연계 광역 순환버스·DRT",</a:t>
            </a:r>
          </a:p>
          <a:p xmlns:a="http://schemas.openxmlformats.org/drawingml/2006/main">
            <a:r>
              <a:t>          "capacity_count": null,</a:t>
            </a:r>
          </a:p>
          <a:p xmlns:a="http://schemas.openxmlformats.org/drawingml/2006/main">
            <a:r>
              <a:t>          "participant_count": 7470</a:t>
            </a:r>
          </a:p>
          <a:p xmlns:a="http://schemas.openxmlformats.org/drawingml/2006/main">
            <a:r>
              <a:t>        }</a:t>
            </a:r>
          </a:p>
          <a:p xmlns:a="http://schemas.openxmlformats.org/drawingml/2006/main">
            <a:r>
              <a:t>      ],</a:t>
            </a:r>
          </a:p>
          <a:p xmlns:a="http://schemas.openxmlformats.org/drawingml/2006/main">
            <a:r>
              <a:t>      "published_or_updated_at": "2026-08",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"2024년 6월 여행가는 달 추진 보도자료",</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"source_id": "case:digital_tourism_resident_2024",</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"case_region": "전국 인구감소지역 34곳",</a:t>
            </a:r>
          </a:p>
          <a:p xmlns:a="http://schemas.openxmlformats.org/drawingml/2006/main">
            <a:r>
              <a:t>      "source_type": "benchmark_case",</a:t>
            </a:r>
          </a:p>
          <a:p xmlns:a="http://schemas.openxmlformats.org/drawingml/2006/main">
            <a:r>
              <a:t>      "intervention": "디지털 관광주민증과 교통·숙박·상점 할인 결합",</a:t>
            </a:r>
          </a:p>
          <a:p xmlns:a="http://schemas.openxmlformats.org/drawingml/2006/main">
            <a:r>
              <a:t>      "document_type": "case_study",</a:t>
            </a:r>
          </a:p>
          <a:p xmlns:a="http://schemas.openxmlformats.org/drawingml/2006/main">
            <a:r>
              <a:t>      "observed_result": "2024년 34개 지역 약 800개 관광업체에 혜택 구조를 적용",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"operating_statistics": [],</a:t>
            </a:r>
          </a:p>
          <a:p xmlns:a="http://schemas.openxmlformats.org/drawingml/2006/main">
            <a:r>
              <a:t>      "published_or_updated_at": "2024-05-14",</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"2022 대한민국 숙박대전 경제파급효과 공개자료",</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"source_id": "case:kto_stay_discount_2022",</a:t>
            </a:r>
          </a:p>
          <a:p xmlns:a="http://schemas.openxmlformats.org/drawingml/2006/main">
            <a:r>
              <a:t>      "source_url": "https://kto.visitkorea.or.kr/upload/flexer/upload/ktobiz/20220928/b623b5f9-3ec0-11ed-9832-ddf31964842e.hwp.files/Sections1.html",</a:t>
            </a:r>
          </a:p>
          <a:p xmlns:a="http://schemas.openxmlformats.org/drawingml/2006/main">
            <a:r>
              <a:t>      "case_region": "전국 숙박할인쿠폰 지원사업",</a:t>
            </a:r>
          </a:p>
          <a:p xmlns:a="http://schemas.openxmlformats.org/drawingml/2006/main">
            <a:r>
              <a:t>      "source_type": "benchmark_case",</a:t>
            </a:r>
          </a:p>
          <a:p xmlns:a="http://schemas.openxmlformats.org/drawingml/2006/main">
            <a:r>
              <a:t>      "intervention": "온라인 예약 채널 숙박할인쿠폰",</a:t>
            </a:r>
          </a:p>
          <a:p xmlns:a="http://schemas.openxmlformats.org/drawingml/2006/main">
            <a:r>
              <a:t>      "document_type": "case_study",</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"operating_statistics": [],</a:t>
            </a:r>
          </a:p>
          <a:p xmlns:a="http://schemas.openxmlformats.org/drawingml/2006/main">
            <a:r>
              <a:t>      "published_or_updated_at": "2022-09-28",</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"2025 대한민국 밤밤페스타 개최 도시 및 일정",</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"source_id": "case:night_festival_2025",</a:t>
            </a:r>
          </a:p>
          <a:p xmlns:a="http://schemas.openxmlformats.org/drawingml/2006/main">
            <a:r>
              <a:t>      "source_url": "https://korean.visitkorea.or.kr/detail/rem_detail.do?cotid=f9c636b2-dd7c-4f09-af3d-6af43b33d371",</a:t>
            </a:r>
          </a:p>
          <a:p xmlns:a="http://schemas.openxmlformats.org/drawingml/2006/main">
            <a:r>
              <a:t>      "case_region": "야간관광 특화도시 10곳",</a:t>
            </a:r>
          </a:p>
          <a:p xmlns:a="http://schemas.openxmlformats.org/drawingml/2006/main">
            <a:r>
              <a:t>      "source_type": "benchmark_case",</a:t>
            </a:r>
          </a:p>
          <a:p xmlns:a="http://schemas.openxmlformats.org/drawingml/2006/main">
            <a:r>
              <a:t>      "intervention": "도시별 야간 콘텐츠를 순회형 축제로 묶는 운영",</a:t>
            </a:r>
          </a:p>
          <a:p xmlns:a="http://schemas.openxmlformats.org/drawingml/2006/main">
            <a:r>
              <a:t>      "document_type": "case_study",</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"retrieval_method": "curated_registry",</a:t>
            </a:r>
          </a:p>
          <a:p xmlns:a="http://schemas.openxmlformats.org/drawingml/2006/main">
            <a:r>
              <a:t>      "evidence_strength": "medium",</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"operating_statistics": [],</a:t>
            </a:r>
          </a:p>
          <a:p xmlns:a="http://schemas.openxmlformats.org/drawingml/2006/main">
            <a:r>
              <a:t>      "published_or_updated_at": "2025",</a:t>
            </a:r>
          </a:p>
          <a:p xmlns:a="http://schemas.openxmlformats.org/drawingml/2006/main">
            <a:r>
              <a:t>      "quantitative_result_approved": null</a:t>
            </a:r>
          </a:p>
          <a:p xmlns:a="http://schemas.openxmlformats.org/drawingml/2006/main">
            <a:r>
              <a:t>    },</a:t>
            </a:r>
          </a:p>
          <a:p xmlns:a="http://schemas.openxmlformats.org/drawingml/2006/main">
            <a:r>
              <a:t>    {</a:t>
            </a:r>
          </a:p>
          <a:p xmlns:a="http://schemas.openxmlformats.org/drawingml/2006/main">
            <a:r>
              <a:t>      "title": "남선공원",</a:t>
            </a:r>
          </a:p>
          <a:p xmlns:a="http://schemas.openxmlformats.org/drawingml/2006/main">
            <a:r>
              <a:t>      "address": "대전광역시 서구 남선로 66",</a:t>
            </a:r>
          </a:p>
          <a:p xmlns:a="http://schemas.openxmlformats.org/drawingml/2006/main">
            <a:r>
              <a:t>      "summary": "한국관광공사 국문관광정보 API가 반환한 선택 지역 관광자원",</a:t>
            </a:r>
          </a:p>
          <a:p xmlns:a="http://schemas.openxmlformats.org/drawingml/2006/main">
            <a:r>
              <a:t>      "image_url": "http://tong.visitkorea.or.kr/cms/resource/24/3565624_image2_1.jpg",</a:t>
            </a:r>
          </a:p>
          <a:p xmlns:a="http://schemas.openxmlformats.org/drawingml/2006/main">
            <a:r>
              <a:t>      "source_id": "tour-api:2758252",</a:t>
            </a:r>
          </a:p>
          <a:p xmlns:a="http://schemas.openxmlformats.org/drawingml/2006/main">
            <a:r>
              <a:t>      "content_id": "2758252",</a:t>
            </a:r>
          </a:p>
          <a:p xmlns:a="http://schemas.openxmlformats.org/drawingml/2006/main">
            <a:r>
              <a:t>      "source_url": "https://apis.data.go.kr/B551011/KorService2",</a:t>
            </a:r>
          </a:p>
          <a:p xmlns:a="http://schemas.openxmlformats.org/drawingml/2006/main">
            <a:r>
              <a:t>      "source_type": "open_api",</a:t>
            </a:r>
          </a:p>
          <a:p xmlns:a="http://schemas.openxmlformats.org/drawingml/2006/main">
            <a:r>
              <a:t>      "content_type_id": "12"</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4998578.0,</a:t>
            </a:r>
          </a:p>
          <a:p xmlns:a="http://schemas.openxmlformats.org/drawingml/2006/main">
            <a:r>
              <a:t>        "is_forecast": true,</a:t>
            </a:r>
          </a:p>
          <a:p xmlns:a="http://schemas.openxmlformats.org/drawingml/2006/main">
            <a:r>
              <a:t>        "spending_krw": 79359374710.0,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4940348.0,</a:t>
            </a:r>
          </a:p>
          <a:p xmlns:a="http://schemas.openxmlformats.org/drawingml/2006/main">
            <a:r>
              <a:t>        "is_forecast": true,</a:t>
            </a:r>
          </a:p>
          <a:p xmlns:a="http://schemas.openxmlformats.org/drawingml/2006/main">
            <a:r>
              <a:t>        "spending_krw": 85971975908.0,</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4989633.0,</a:t>
            </a:r>
          </a:p>
          <a:p xmlns:a="http://schemas.openxmlformats.org/drawingml/2006/main">
            <a:r>
              <a:t>        "is_forecast": true,</a:t>
            </a:r>
          </a:p>
          <a:p xmlns:a="http://schemas.openxmlformats.org/drawingml/2006/main">
            <a:r>
              <a:t>        "spending_krw": 81033922052.0,</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4982887,</a:t>
            </a:r>
          </a:p>
          <a:p xmlns:a="http://schemas.openxmlformats.org/drawingml/2006/main">
            <a:r>
              <a:t>      "is_forecast": true,</a:t>
            </a:r>
          </a:p>
          <a:p xmlns:a="http://schemas.openxmlformats.org/drawingml/2006/main">
            <a:r>
              <a:t>      "spending_krw": 80283647550,</a:t>
            </a:r>
          </a:p>
          <a:p xmlns:a="http://schemas.openxmlformats.org/drawingml/2006/main">
            <a:r>
              <a:t>      "stay_minutes": 1223.0,</a:t>
            </a:r>
          </a:p>
          <a:p xmlns:a="http://schemas.openxmlformats.org/drawingml/2006/main">
            <a:r>
              <a:t>      "lodging_nights": 2.91,</a:t>
            </a:r>
          </a:p>
          <a:p xmlns:a="http://schemas.openxmlformats.org/drawingml/2006/main">
            <a:r>
              <a:t>      "lodging_rate_pct": 7.3,</a:t>
            </a:r>
          </a:p>
          <a:p xmlns:a="http://schemas.openxmlformats.org/drawingml/2006/main">
            <a:r>
              <a:t>      "lodging_searches": 12843,</a:t>
            </a:r>
          </a:p>
          <a:p xmlns:a="http://schemas.openxmlformats.org/drawingml/2006/main">
            <a:r>
              <a:t>      "navigation_searches": 209722,</a:t>
            </a:r>
          </a:p>
          <a:p xmlns:a="http://schemas.openxmlformats.org/drawingml/2006/main">
            <a:r>
              <a:t>      "visitor_yoy_percent": 0.64,</a:t>
            </a:r>
          </a:p>
          <a:p xmlns:a="http://schemas.openxmlformats.org/drawingml/2006/main">
            <a:r>
              <a:t>      "spending_yoy_percent": 6.85,</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-0.44</a:t>
            </a:r>
          </a:p>
          <a:p xmlns:a="http://schemas.openxmlformats.org/drawingml/2006/main">
            <a:r>
              <a:t>      },</a:t>
            </a:r>
          </a:p>
          <a:p xmlns:a="http://schemas.openxmlformats.org/drawingml/2006/main">
            <a:r>
              <a:t>      "previous_year_visitors": 4951150,</a:t>
            </a:r>
          </a:p>
          <a:p xmlns:a="http://schemas.openxmlformats.org/drawingml/2006/main">
            <a:r>
              <a:t>      "previous_year_spending_krw": 75135145000,</a:t>
            </a:r>
          </a:p>
          <a:p xmlns:a="http://schemas.openxmlformats.org/drawingml/2006/main">
            <a:r>
              <a:t>      "previous_year_stay_minutes": 1223.0,</a:t>
            </a:r>
          </a:p>
          <a:p xmlns:a="http://schemas.openxmlformats.org/drawingml/2006/main">
            <a:r>
              <a:t>      "previous_year_lodging_nights": 2.91,</a:t>
            </a:r>
          </a:p>
          <a:p xmlns:a="http://schemas.openxmlformats.org/drawingml/2006/main">
            <a:r>
              <a:t>      "previous_year_lodging_rate_pct": 7.3,</a:t>
            </a:r>
          </a:p>
          <a:p xmlns:a="http://schemas.openxmlformats.org/drawingml/2006/main">
            <a:r>
              <a:t>      "previous_year_lodging_searches": 12843,</a:t>
            </a:r>
          </a:p>
          <a:p xmlns:a="http://schemas.openxmlformats.org/drawingml/2006/main">
            <a:r>
              <a:t>      "previous_year_navigation_searches": 210646</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4852547,</a:t>
            </a:r>
          </a:p>
          <a:p xmlns:a="http://schemas.openxmlformats.org/drawingml/2006/main">
            <a:r>
              <a:t>      "is_forecast": true,</a:t>
            </a:r>
          </a:p>
          <a:p xmlns:a="http://schemas.openxmlformats.org/drawingml/2006/main">
            <a:r>
              <a:t>      "spending_krw": 76665340753,</a:t>
            </a:r>
          </a:p>
          <a:p xmlns:a="http://schemas.openxmlformats.org/drawingml/2006/main">
            <a:r>
              <a:t>      "stay_minutes": 1218.0,</a:t>
            </a:r>
          </a:p>
          <a:p xmlns:a="http://schemas.openxmlformats.org/drawingml/2006/main">
            <a:r>
              <a:t>      "lodging_nights": 2.84,</a:t>
            </a:r>
          </a:p>
          <a:p xmlns:a="http://schemas.openxmlformats.org/drawingml/2006/main">
            <a:r>
              <a:t>      "lodging_rate_pct": 7.9,</a:t>
            </a:r>
          </a:p>
          <a:p xmlns:a="http://schemas.openxmlformats.org/drawingml/2006/main">
            <a:r>
              <a:t>      "lodging_searches": 13272,</a:t>
            </a:r>
          </a:p>
          <a:p xmlns:a="http://schemas.openxmlformats.org/drawingml/2006/main">
            <a:r>
              <a:t>      "navigation_searches": 225159,</a:t>
            </a:r>
          </a:p>
          <a:p xmlns:a="http://schemas.openxmlformats.org/drawingml/2006/main">
            <a:r>
              <a:t>      "visitor_yoy_percent": -1.76,</a:t>
            </a:r>
          </a:p>
          <a:p xmlns:a="http://schemas.openxmlformats.org/drawingml/2006/main">
            <a:r>
              <a:t>      "spending_yoy_percent": 0.49,</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2.0</a:t>
            </a:r>
          </a:p>
          <a:p xmlns:a="http://schemas.openxmlformats.org/drawingml/2006/main">
            <a:r>
              <a:t>      },</a:t>
            </a:r>
          </a:p>
          <a:p xmlns:a="http://schemas.openxmlformats.org/drawingml/2006/main">
            <a:r>
              <a:t>      "previous_year_visitors": 4939438,</a:t>
            </a:r>
          </a:p>
          <a:p xmlns:a="http://schemas.openxmlformats.org/drawingml/2006/main">
            <a:r>
              <a:t>      "previous_year_spending_krw": 76291079000,</a:t>
            </a:r>
          </a:p>
          <a:p xmlns:a="http://schemas.openxmlformats.org/drawingml/2006/main">
            <a:r>
              <a:t>      "previous_year_stay_minutes": 1218.0,</a:t>
            </a:r>
          </a:p>
          <a:p xmlns:a="http://schemas.openxmlformats.org/drawingml/2006/main">
            <a:r>
              <a:t>      "previous_year_lodging_nights": 2.84,</a:t>
            </a:r>
          </a:p>
          <a:p xmlns:a="http://schemas.openxmlformats.org/drawingml/2006/main">
            <a:r>
              <a:t>      "previous_year_lodging_rate_pct": 7.9,</a:t>
            </a:r>
          </a:p>
          <a:p xmlns:a="http://schemas.openxmlformats.org/drawingml/2006/main">
            <a:r>
              <a:t>      "previous_year_lodging_searches": 13272,</a:t>
            </a:r>
          </a:p>
          <a:p xmlns:a="http://schemas.openxmlformats.org/drawingml/2006/main">
            <a:r>
              <a:t>      "previous_year_navigation_searches": 220742</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4823300,</a:t>
            </a:r>
          </a:p>
          <a:p xmlns:a="http://schemas.openxmlformats.org/drawingml/2006/main">
            <a:r>
              <a:t>      "is_forecast": true,</a:t>
            </a:r>
          </a:p>
          <a:p xmlns:a="http://schemas.openxmlformats.org/drawingml/2006/main">
            <a:r>
              <a:t>      "spending_krw": 80194062490,</a:t>
            </a:r>
          </a:p>
          <a:p xmlns:a="http://schemas.openxmlformats.org/drawingml/2006/main">
            <a:r>
              <a:t>      "stay_minutes": 1281.0,</a:t>
            </a:r>
          </a:p>
          <a:p xmlns:a="http://schemas.openxmlformats.org/drawingml/2006/main">
            <a:r>
              <a:t>      "lodging_nights": 2.93,</a:t>
            </a:r>
          </a:p>
          <a:p xmlns:a="http://schemas.openxmlformats.org/drawingml/2006/main">
            <a:r>
              <a:t>      "lodging_rate_pct": 6.7,</a:t>
            </a:r>
          </a:p>
          <a:p xmlns:a="http://schemas.openxmlformats.org/drawingml/2006/main">
            <a:r>
              <a:t>      "lodging_searches": 11464,</a:t>
            </a:r>
          </a:p>
          <a:p xmlns:a="http://schemas.openxmlformats.org/drawingml/2006/main">
            <a:r>
              <a:t>      "navigation_searches": 206180,</a:t>
            </a:r>
          </a:p>
          <a:p xmlns:a="http://schemas.openxmlformats.org/drawingml/2006/main">
            <a:r>
              <a:t>      "visitor_yoy_percent": -0.39,</a:t>
            </a:r>
          </a:p>
          <a:p xmlns:a="http://schemas.openxmlformats.org/drawingml/2006/main">
            <a:r>
              <a:t>      "spending_yoy_percent": 13.32,</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7.4</a:t>
            </a:r>
          </a:p>
          <a:p xmlns:a="http://schemas.openxmlformats.org/drawingml/2006/main">
            <a:r>
              <a:t>      },</a:t>
            </a:r>
          </a:p>
          <a:p xmlns:a="http://schemas.openxmlformats.org/drawingml/2006/main">
            <a:r>
              <a:t>      "previous_year_visitors": 4842196,</a:t>
            </a:r>
          </a:p>
          <a:p xmlns:a="http://schemas.openxmlformats.org/drawingml/2006/main">
            <a:r>
              <a:t>      "previous_year_spending_krw": 70764730000,</a:t>
            </a:r>
          </a:p>
          <a:p xmlns:a="http://schemas.openxmlformats.org/drawingml/2006/main">
            <a:r>
              <a:t>      "previous_year_stay_minutes": 1281.0,</a:t>
            </a:r>
          </a:p>
          <a:p xmlns:a="http://schemas.openxmlformats.org/drawingml/2006/main">
            <a:r>
              <a:t>      "previous_year_lodging_nights": 2.93,</a:t>
            </a:r>
          </a:p>
          <a:p xmlns:a="http://schemas.openxmlformats.org/drawingml/2006/main">
            <a:r>
              <a:t>      "previous_year_lodging_rate_pct": 6.7,</a:t>
            </a:r>
          </a:p>
          <a:p xmlns:a="http://schemas.openxmlformats.org/drawingml/2006/main">
            <a:r>
              <a:t>      "previous_year_lodging_searches": 11464,</a:t>
            </a:r>
          </a:p>
          <a:p xmlns:a="http://schemas.openxmlformats.org/drawingml/2006/main">
            <a:r>
              <a:t>      "previous_year_navigation_searches": 191971</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4998578,</a:t>
            </a:r>
          </a:p>
          <a:p xmlns:a="http://schemas.openxmlformats.org/drawingml/2006/main">
            <a:r>
              <a:t>      "is_forecast": true,</a:t>
            </a:r>
          </a:p>
          <a:p xmlns:a="http://schemas.openxmlformats.org/drawingml/2006/main">
            <a:r>
              <a:t>      "spending_krw": 79359374710,</a:t>
            </a:r>
          </a:p>
          <a:p xmlns:a="http://schemas.openxmlformats.org/drawingml/2006/main">
            <a:r>
              <a:t>      "stay_minutes": 1170.0,</a:t>
            </a:r>
          </a:p>
          <a:p xmlns:a="http://schemas.openxmlformats.org/drawingml/2006/main">
            <a:r>
              <a:t>      "lodging_nights": 2.85,</a:t>
            </a:r>
          </a:p>
          <a:p xmlns:a="http://schemas.openxmlformats.org/drawingml/2006/main">
            <a:r>
              <a:t>      "lodging_rate_pct": 8.9,</a:t>
            </a:r>
          </a:p>
          <a:p xmlns:a="http://schemas.openxmlformats.org/drawingml/2006/main">
            <a:r>
              <a:t>      "lodging_searches": 19187,</a:t>
            </a:r>
          </a:p>
          <a:p xmlns:a="http://schemas.openxmlformats.org/drawingml/2006/main">
            <a:r>
              <a:t>      "navigation_searches": 237779,</a:t>
            </a:r>
          </a:p>
          <a:p xmlns:a="http://schemas.openxmlformats.org/drawingml/2006/main">
            <a:r>
              <a:t>      "visitor_yoy_percent": 0.99,</a:t>
            </a:r>
          </a:p>
          <a:p xmlns:a="http://schemas.openxmlformats.org/drawingml/2006/main">
            <a:r>
              <a:t>      "spending_yoy_percent": 1.54,</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-26.82</a:t>
            </a:r>
          </a:p>
          <a:p xmlns:a="http://schemas.openxmlformats.org/drawingml/2006/main">
            <a:r>
              <a:t>      },</a:t>
            </a:r>
          </a:p>
          <a:p xmlns:a="http://schemas.openxmlformats.org/drawingml/2006/main">
            <a:r>
              <a:t>      "previous_year_visitors": 4949394,</a:t>
            </a:r>
          </a:p>
          <a:p xmlns:a="http://schemas.openxmlformats.org/drawingml/2006/main">
            <a:r>
              <a:t>      "previous_year_spending_krw": 78158272000,</a:t>
            </a:r>
          </a:p>
          <a:p xmlns:a="http://schemas.openxmlformats.org/drawingml/2006/main">
            <a:r>
              <a:t>      "previous_year_stay_minutes": 1170.0,</a:t>
            </a:r>
          </a:p>
          <a:p xmlns:a="http://schemas.openxmlformats.org/drawingml/2006/main">
            <a:r>
              <a:t>      "previous_year_lodging_nights": 2.85,</a:t>
            </a:r>
          </a:p>
          <a:p xmlns:a="http://schemas.openxmlformats.org/drawingml/2006/main">
            <a:r>
              <a:t>      "previous_year_lodging_rate_pct": 8.9,</a:t>
            </a:r>
          </a:p>
          <a:p xmlns:a="http://schemas.openxmlformats.org/drawingml/2006/main">
            <a:r>
              <a:t>      "previous_year_lodging_searches": 19187,</a:t>
            </a:r>
          </a:p>
          <a:p xmlns:a="http://schemas.openxmlformats.org/drawingml/2006/main">
            <a:r>
              <a:t>      "previous_year_navigation_searches": 324902</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4940348,</a:t>
            </a:r>
          </a:p>
          <a:p xmlns:a="http://schemas.openxmlformats.org/drawingml/2006/main">
            <a:r>
              <a:t>      "is_forecast": true,</a:t>
            </a:r>
          </a:p>
          <a:p xmlns:a="http://schemas.openxmlformats.org/drawingml/2006/main">
            <a:r>
              <a:t>      "spending_krw": 85971975908,</a:t>
            </a:r>
          </a:p>
          <a:p xmlns:a="http://schemas.openxmlformats.org/drawingml/2006/main">
            <a:r>
              <a:t>      "stay_minutes": 987.0,</a:t>
            </a:r>
          </a:p>
          <a:p xmlns:a="http://schemas.openxmlformats.org/drawingml/2006/main">
            <a:r>
              <a:t>      "lodging_nights": 2.79,</a:t>
            </a:r>
          </a:p>
          <a:p xmlns:a="http://schemas.openxmlformats.org/drawingml/2006/main">
            <a:r>
              <a:t>      "lodging_rate_pct": 6.5,</a:t>
            </a:r>
          </a:p>
          <a:p xmlns:a="http://schemas.openxmlformats.org/drawingml/2006/main">
            <a:r>
              <a:t>      "lodging_searches": 14379,</a:t>
            </a:r>
          </a:p>
          <a:p xmlns:a="http://schemas.openxmlformats.org/drawingml/2006/main">
            <a:r>
              <a:t>      "navigation_searches": 231894,</a:t>
            </a:r>
          </a:p>
          <a:p xmlns:a="http://schemas.openxmlformats.org/drawingml/2006/main">
            <a:r>
              <a:t>      "visitor_yoy_percent": -4.4,</a:t>
            </a:r>
          </a:p>
          <a:p xmlns:a="http://schemas.openxmlformats.org/drawingml/2006/main">
            <a:r>
              <a:t>      "spending_yoy_percent": 12.37,</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-2.86</a:t>
            </a:r>
          </a:p>
          <a:p xmlns:a="http://schemas.openxmlformats.org/drawingml/2006/main">
            <a:r>
              <a:t>      },</a:t>
            </a:r>
          </a:p>
          <a:p xmlns:a="http://schemas.openxmlformats.org/drawingml/2006/main">
            <a:r>
              <a:t>      "previous_year_visitors": 5167969,</a:t>
            </a:r>
          </a:p>
          <a:p xmlns:a="http://schemas.openxmlformats.org/drawingml/2006/main">
            <a:r>
              <a:t>      "previous_year_spending_krw": 76509918000,</a:t>
            </a:r>
          </a:p>
          <a:p xmlns:a="http://schemas.openxmlformats.org/drawingml/2006/main">
            <a:r>
              <a:t>      "previous_year_stay_minutes": 987.0,</a:t>
            </a:r>
          </a:p>
          <a:p xmlns:a="http://schemas.openxmlformats.org/drawingml/2006/main">
            <a:r>
              <a:t>      "previous_year_lodging_nights": 2.79,</a:t>
            </a:r>
          </a:p>
          <a:p xmlns:a="http://schemas.openxmlformats.org/drawingml/2006/main">
            <a:r>
              <a:t>      "previous_year_lodging_rate_pct": 6.5,</a:t>
            </a:r>
          </a:p>
          <a:p xmlns:a="http://schemas.openxmlformats.org/drawingml/2006/main">
            <a:r>
              <a:t>      "previous_year_lodging_searches": 14379,</a:t>
            </a:r>
          </a:p>
          <a:p xmlns:a="http://schemas.openxmlformats.org/drawingml/2006/main">
            <a:r>
              <a:t>      "previous_year_navigation_searches": 238728</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4989633,</a:t>
            </a:r>
          </a:p>
          <a:p xmlns:a="http://schemas.openxmlformats.org/drawingml/2006/main">
            <a:r>
              <a:t>      "is_forecast": true,</a:t>
            </a:r>
          </a:p>
          <a:p xmlns:a="http://schemas.openxmlformats.org/drawingml/2006/main">
            <a:r>
              <a:t>      "spending_krw": 81033922052,</a:t>
            </a:r>
          </a:p>
          <a:p xmlns:a="http://schemas.openxmlformats.org/drawingml/2006/main">
            <a:r>
              <a:t>      "stay_minutes": 1118.0,</a:t>
            </a:r>
          </a:p>
          <a:p xmlns:a="http://schemas.openxmlformats.org/drawingml/2006/main">
            <a:r>
              <a:t>      "lodging_nights": 2.81,</a:t>
            </a:r>
          </a:p>
          <a:p xmlns:a="http://schemas.openxmlformats.org/drawingml/2006/main">
            <a:r>
              <a:t>      "lodging_rate_pct": 7.3,</a:t>
            </a:r>
          </a:p>
          <a:p xmlns:a="http://schemas.openxmlformats.org/drawingml/2006/main">
            <a:r>
              <a:t>      "lodging_searches": 12004,</a:t>
            </a:r>
          </a:p>
          <a:p xmlns:a="http://schemas.openxmlformats.org/drawingml/2006/main">
            <a:r>
              <a:t>      "navigation_searches": 225518,</a:t>
            </a:r>
          </a:p>
          <a:p xmlns:a="http://schemas.openxmlformats.org/drawingml/2006/main">
            <a:r>
              <a:t>      "visitor_yoy_percent": -1.77,</a:t>
            </a:r>
          </a:p>
          <a:p xmlns:a="http://schemas.openxmlformats.org/drawingml/2006/main">
            <a:r>
              <a:t>      "spending_yoy_percent": -0.11,</a:t>
            </a:r>
          </a:p>
          <a:p xmlns:a="http://schemas.openxmlformats.org/drawingml/2006/main">
            <a:r>
              <a:t>      "metric_changes_percent": {</a:t>
            </a:r>
          </a:p>
          <a:p xmlns:a="http://schemas.openxmlformats.org/drawingml/2006/main">
            <a:r>
              <a:t>        "stay_minutes": 0.0,</a:t>
            </a:r>
          </a:p>
          <a:p xmlns:a="http://schemas.openxmlformats.org/drawingml/2006/main">
            <a:r>
              <a:t>        "lodging_nights": 0.0,</a:t>
            </a:r>
          </a:p>
          <a:p xmlns:a="http://schemas.openxmlformats.org/drawingml/2006/main">
            <a:r>
              <a:t>        "lodging_rate_pct": 0.0,</a:t>
            </a:r>
          </a:p>
          <a:p xmlns:a="http://schemas.openxmlformats.org/drawingml/2006/main">
            <a:r>
              <a:t>        "lodging_searches": 0.0,</a:t>
            </a:r>
          </a:p>
          <a:p xmlns:a="http://schemas.openxmlformats.org/drawingml/2006/main">
            <a:r>
              <a:t>        "navigation_searches": 2.41</a:t>
            </a:r>
          </a:p>
          <a:p xmlns:a="http://schemas.openxmlformats.org/drawingml/2006/main">
            <a:r>
              <a:t>      },</a:t>
            </a:r>
          </a:p>
          <a:p xmlns:a="http://schemas.openxmlformats.org/drawingml/2006/main">
            <a:r>
              <a:t>      "previous_year_visitors": 5079597,</a:t>
            </a:r>
          </a:p>
          <a:p xmlns:a="http://schemas.openxmlformats.org/drawingml/2006/main">
            <a:r>
              <a:t>      "previous_year_spending_krw": 81119852000,</a:t>
            </a:r>
          </a:p>
          <a:p xmlns:a="http://schemas.openxmlformats.org/drawingml/2006/main">
            <a:r>
              <a:t>      "previous_year_stay_minutes": 1118.0,</a:t>
            </a:r>
          </a:p>
          <a:p xmlns:a="http://schemas.openxmlformats.org/drawingml/2006/main">
            <a:r>
              <a:t>      "previous_year_lodging_nights": 2.81,</a:t>
            </a:r>
          </a:p>
          <a:p xmlns:a="http://schemas.openxmlformats.org/drawingml/2006/main">
            <a:r>
              <a:t>      "previous_year_lodging_rate_pct": 7.3,</a:t>
            </a:r>
          </a:p>
          <a:p xmlns:a="http://schemas.openxmlformats.org/drawingml/2006/main">
            <a:r>
              <a:t>      "previous_year_lodging_searches": 12004,</a:t>
            </a:r>
          </a:p>
          <a:p xmlns:a="http://schemas.openxmlformats.org/drawingml/2006/main">
            <a:r>
              <a:t>      "previous_year_navigation_searches": 220205</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"metrics": {</a:t>
            </a:r>
          </a:p>
          <a:p xmlns:a="http://schemas.openxmlformats.org/drawingml/2006/main">
            <a:r>
              <a:t>      "visitors": {</a:t>
            </a:r>
          </a:p>
          <a:p xmlns:a="http://schemas.openxmlformats.org/drawingml/2006/main">
            <a:r>
              <a:t>        "test_mae": 237105.53,</a:t>
            </a:r>
          </a:p>
          <a:p xmlns:a="http://schemas.openxmlformats.org/drawingml/2006/main">
            <a:r>
              <a:t>        "recursive_mae": {</a:t>
            </a:r>
          </a:p>
          <a:p xmlns:a="http://schemas.openxmlformats.org/drawingml/2006/main">
            <a:r>
              <a:t>          "1": {</a:t>
            </a:r>
          </a:p>
          <a:p xmlns:a="http://schemas.openxmlformats.org/drawingml/2006/main">
            <a:r>
              <a:t>            "baseline": 211072,</a:t>
            </a:r>
          </a:p>
          <a:p xmlns:a="http://schemas.openxmlformats.org/drawingml/2006/main">
            <a:r>
              <a:t>            "selected": 332727,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97043,</a:t>
            </a:r>
          </a:p>
          <a:p xmlns:a="http://schemas.openxmlformats.org/drawingml/2006/main">
            <a:r>
              <a:t>            "selected": 141143.5,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174799,</a:t>
            </a:r>
          </a:p>
          <a:p xmlns:a="http://schemas.openxmlformats.org/drawingml/2006/main">
            <a:r>
              <a:t>            "selected": 168591.5,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192935.5,</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"test_mae": 4927867951.9,</a:t>
            </a:r>
          </a:p>
          <a:p xmlns:a="http://schemas.openxmlformats.org/drawingml/2006/main">
            <a:r>
              <a:t>        "recursive_mae": {</a:t>
            </a:r>
          </a:p>
          <a:p xmlns:a="http://schemas.openxmlformats.org/drawingml/2006/main">
            <a:r>
              <a:t>          "1": {</a:t>
            </a:r>
          </a:p>
          <a:p xmlns:a="http://schemas.openxmlformats.org/drawingml/2006/main">
            <a:r>
              <a:t>            "baseline": 1944140500,</a:t>
            </a:r>
          </a:p>
          <a:p xmlns:a="http://schemas.openxmlformats.org/drawingml/2006/main">
            <a:r>
              <a:t>            "selected": 3237755191,</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3984052500,</a:t>
            </a:r>
          </a:p>
          <a:p xmlns:a="http://schemas.openxmlformats.org/drawingml/2006/main">
            <a:r>
              <a:t>            "selected": 1581504765.5,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2878173500,</a:t>
            </a:r>
          </a:p>
          <a:p xmlns:a="http://schemas.openxmlformats.org/drawingml/2006/main">
            <a:r>
              <a:t>            "selected": 4493524184.5,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"LinearRegression",</a:t>
            </a:r>
          </a:p>
          <a:p xmlns:a="http://schemas.openxmlformats.org/drawingml/2006/main">
            <a:r>
              <a:t>        "baseline_test_mae": 2411157000,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"test_mae": 113.5,</a:t>
            </a:r>
          </a:p>
          <a:p xmlns:a="http://schemas.openxmlformats.org/drawingml/2006/main">
            <a:r>
              <a:t>        "recursive_mae": {</a:t>
            </a:r>
          </a:p>
          <a:p xmlns:a="http://schemas.openxmlformats.org/drawingml/2006/main">
            <a:r>
              <a:t>          "1": {</a:t>
            </a:r>
          </a:p>
          <a:p xmlns:a="http://schemas.openxmlformats.org/drawingml/2006/main">
            <a:r>
              <a:t>            "baseline": 52,</a:t>
            </a:r>
          </a:p>
          <a:p xmlns:a="http://schemas.openxmlformats.org/drawingml/2006/main">
            <a:r>
              <a:t>            "selected": 52,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218.5,</a:t>
            </a:r>
          </a:p>
          <a:p xmlns:a="http://schemas.openxmlformats.org/drawingml/2006/main">
            <a:r>
              <a:t>            "selected": 218.5,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175,</a:t>
            </a:r>
          </a:p>
          <a:p xmlns:a="http://schemas.openxmlformats.org/drawingml/2006/main">
            <a:r>
              <a:t>            "selected": 175,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113.5,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"lodging_nights": {</a:t>
            </a:r>
          </a:p>
          <a:p xmlns:a="http://schemas.openxmlformats.org/drawingml/2006/main">
            <a:r>
              <a:t>        "test_mae": 0.07,</a:t>
            </a:r>
          </a:p>
          <a:p xmlns:a="http://schemas.openxmlformats.org/drawingml/2006/main">
            <a:r>
              <a:t>        "recursive_mae": {</a:t>
            </a:r>
          </a:p>
          <a:p xmlns:a="http://schemas.openxmlformats.org/drawingml/2006/main">
            <a:r>
              <a:t>          "1": {</a:t>
            </a:r>
          </a:p>
          <a:p xmlns:a="http://schemas.openxmlformats.org/drawingml/2006/main">
            <a:r>
              <a:t>            "baseline": 0.06,</a:t>
            </a:r>
          </a:p>
          <a:p xmlns:a="http://schemas.openxmlformats.org/drawingml/2006/main">
            <a:r>
              <a:t>            "selected": 0.06,</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0.11,</a:t>
            </a:r>
          </a:p>
          <a:p xmlns:a="http://schemas.openxmlformats.org/drawingml/2006/main">
            <a:r>
              <a:t>            "selected": 0.11,</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0.08,</a:t>
            </a:r>
          </a:p>
          <a:p xmlns:a="http://schemas.openxmlformats.org/drawingml/2006/main">
            <a:r>
              <a:t>            "selected": 0.08,</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0.07,</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"lodging_rate_pct": {</a:t>
            </a:r>
          </a:p>
          <a:p xmlns:a="http://schemas.openxmlformats.org/drawingml/2006/main">
            <a:r>
              <a:t>        "test_mae": 0.3,</a:t>
            </a:r>
          </a:p>
          <a:p xmlns:a="http://schemas.openxmlformats.org/drawingml/2006/main">
            <a:r>
              <a:t>        "recursive_mae": {</a:t>
            </a:r>
          </a:p>
          <a:p xmlns:a="http://schemas.openxmlformats.org/drawingml/2006/main">
            <a:r>
              <a:t>          "1": {</a:t>
            </a:r>
          </a:p>
          <a:p xmlns:a="http://schemas.openxmlformats.org/drawingml/2006/main">
            <a:r>
              <a:t>            "baseline": 0.4,</a:t>
            </a:r>
          </a:p>
          <a:p xmlns:a="http://schemas.openxmlformats.org/drawingml/2006/main">
            <a:r>
              <a:t>            "selected": 0.4,</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0.2,</a:t>
            </a:r>
          </a:p>
          <a:p xmlns:a="http://schemas.openxmlformats.org/drawingml/2006/main">
            <a:r>
              <a:t>            "selected": 0.2,</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0.3,</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"lodging_searches": {</a:t>
            </a:r>
          </a:p>
          <a:p xmlns:a="http://schemas.openxmlformats.org/drawingml/2006/main">
            <a:r>
              <a:t>        "test_mae": 526.5,</a:t>
            </a:r>
          </a:p>
          <a:p xmlns:a="http://schemas.openxmlformats.org/drawingml/2006/main">
            <a:r>
              <a:t>        "recursive_mae": {</a:t>
            </a:r>
          </a:p>
          <a:p xmlns:a="http://schemas.openxmlformats.org/drawingml/2006/main">
            <a:r>
              <a:t>          "1": {</a:t>
            </a:r>
          </a:p>
          <a:p xmlns:a="http://schemas.openxmlformats.org/drawingml/2006/main">
            <a:r>
              <a:t>            "baseline": 779,</a:t>
            </a:r>
          </a:p>
          <a:p xmlns:a="http://schemas.openxmlformats.org/drawingml/2006/main">
            <a:r>
              <a:t>            "selected": 779,</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391.5,</a:t>
            </a:r>
          </a:p>
          <a:p xmlns:a="http://schemas.openxmlformats.org/drawingml/2006/main">
            <a:r>
              <a:t>            "selected": 391.5,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274,</a:t>
            </a:r>
          </a:p>
          <a:p xmlns:a="http://schemas.openxmlformats.org/drawingml/2006/main">
            <a:r>
              <a:t>            "selected": 274,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"seasonal_naive_previous_year_same_month",</a:t>
            </a:r>
          </a:p>
          <a:p xmlns:a="http://schemas.openxmlformats.org/drawingml/2006/main">
            <a:r>
              <a:t>        "baseline_test_mae": 526.5,</a:t>
            </a:r>
          </a:p>
          <a:p xmlns:a="http://schemas.openxmlformats.org/drawingml/2006/main">
            <a:r>
              <a:t>        "model_reliability": "seasonal_baseline",</a:t>
            </a:r>
          </a:p>
          <a:p xmlns:a="http://schemas.openxmlformats.org/drawingml/2006/main">
            <a:r>
              <a:t>        "beats_baseline_on_test": false,</a:t>
            </a:r>
          </a:p>
          <a:p xmlns:a="http://schemas.openxmlformats.org/drawingml/2006/main">
            <a:r>
              <a:t>        "recursive_horizons_worse_than_baseline": []</a:t>
            </a:r>
          </a:p>
          <a:p xmlns:a="http://schemas.openxmlformats.org/drawingml/2006/main">
            <a:r>
              <a:t>      },</a:t>
            </a:r>
          </a:p>
          <a:p xmlns:a="http://schemas.openxmlformats.org/drawingml/2006/main">
            <a:r>
              <a:t>      "navigation_searches": {</a:t>
            </a:r>
          </a:p>
          <a:p xmlns:a="http://schemas.openxmlformats.org/drawingml/2006/main">
            <a:r>
              <a:t>        "test_mae": 20482.57,</a:t>
            </a:r>
          </a:p>
          <a:p xmlns:a="http://schemas.openxmlformats.org/drawingml/2006/main">
            <a:r>
              <a:t>        "recursive_mae": {</a:t>
            </a:r>
          </a:p>
          <a:p xmlns:a="http://schemas.openxmlformats.org/drawingml/2006/main">
            <a:r>
              <a:t>          "1": {</a:t>
            </a:r>
          </a:p>
          <a:p xmlns:a="http://schemas.openxmlformats.org/drawingml/2006/main">
            <a:r>
              <a:t>            "baseline": 9487,</a:t>
            </a:r>
          </a:p>
          <a:p xmlns:a="http://schemas.openxmlformats.org/drawingml/2006/main">
            <a:r>
              <a:t>            "selected": 20785,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"baseline": 6758.5,</a:t>
            </a:r>
          </a:p>
          <a:p xmlns:a="http://schemas.openxmlformats.org/drawingml/2006/main">
            <a:r>
              <a:t>            "selected": 14198,</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"baseline": 14633,</a:t>
            </a:r>
          </a:p>
          <a:p xmlns:a="http://schemas.openxmlformats.org/drawingml/2006/main">
            <a:r>
              <a:t>            "selected": 18839,</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"selected_model": "RandomForestRegressor",</a:t>
            </a:r>
          </a:p>
          <a:p xmlns:a="http://schemas.openxmlformats.org/drawingml/2006/main">
            <a:r>
              <a:t>        "baseline_test_mae": 12060,</a:t>
            </a:r>
          </a:p>
          <a:p xmlns:a="http://schemas.openxmlformats.org/drawingml/2006/main">
            <a:r>
              <a:t>        "model_reliability": "below_baseline_on_test",</a:t>
            </a:r>
          </a:p>
          <a:p xmlns:a="http://schemas.openxmlformats.org/drawingml/2006/main">
            <a:r>
              <a:t>        "beats_baseline_on_test": false,</a:t>
            </a:r>
          </a:p>
          <a:p xmlns:a="http://schemas.openxmlformats.org/drawingml/2006/main">
            <a:r>
              <a:t>        "recursive_horizons_worse_than_baseline":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"test_period": "202603~202606",</a:t>
            </a:r>
          </a:p>
          <a:p xmlns:a="http://schemas.openxmlformats.org/drawingml/2006/main">
            <a:r>
              <a:t>    "selection_basis": "validation_mae_only",</a:t>
            </a:r>
          </a:p>
          <a:p xmlns:a="http://schemas.openxmlformats.org/drawingml/2006/main">
            <a:r>
              <a:t>    "validation_period": "202512~202602",</a:t>
            </a:r>
          </a:p>
          <a:p xmlns:a="http://schemas.openxmlformats.org/drawingml/2006/main">
            <a:r>
              <a:t>    "longer_horizon_status": "exploratory_not_recursively_backtested",</a:t>
            </a:r>
          </a:p>
          <a:p xmlns:a="http://schemas.openxmlformats.org/drawingml/2006/main">
            <a:r>
              <a:t>    "forecast_horizon_months": 6,</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0.019303448467232462,</a:t>
            </a:r>
          </a:p>
          <a:p xmlns:a="http://schemas.openxmlformats.org/drawingml/2006/main">
            <a:r>
              <a:t>    "spending_target_pct": 0.04151694433378397,</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"총 예산 = Σ min(적격 결제액 × 가정 환급률, 건별 상한액). (기획 가정/미확정 견적)",</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"총 예산 = Σ min(적격 결제액 × 가정 환급률, 건별 상한액). (기획 가정/미확정 견적)",</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{"title": "내원사(대전)", "address": "대전광역시 서구 배재로197번길 200", "summary": "한국관광공사 국문관광정보 API가 반환한 선택 지역 관광자원", "image_url": "http://tong.visitkorea.or.kr/cms/resource/79/3034979_image2_1.JPG", "source_id": "tour-api:298208", "content_id": "298208", "source_url": "https://apis.data.go.kr/B551011/KorService2", "source_type": "open_api", "content_type_id":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dataset:30170:1 | 한국관광 데이터랩 · 대전광역시 서구 순 방문자 수 및 숙박 비율 (이동통신 기반 외지인) | https://datalab.visitkorea.or.kr/</a:t>
            </a:r>
          </a:p>
          <a:p>
            <a:r>
              <a:t>dataset:30170:2 | 한국관광 데이터랩 · 대전광역시 서구 월간 순 방문자 수 (이동통신 기반 외지인) | https://datalab.visitkorea.or.kr/</a:t>
            </a:r>
          </a:p>
          <a:p>
            <a:r>
              <a:t>dataset:30170:3 | 한국관광 데이터랩 · 대전광역시 서구 관광소비 추이_외지인 | https://datalab.visitkorea.or.kr/</a:t>
            </a:r>
          </a:p>
          <a:p>
            <a:r>
              <a:t>dataset:30170:4 | 한국관광 데이터랩 · 대전광역시 서구 숙박방문자 비율 추이 (이동통신 기반 외지인) | https://datalab.visitkorea.or.kr/</a:t>
            </a:r>
          </a:p>
          <a:p>
            <a:r>
              <a:t>dataset:30170:5 | 한국관광 데이터랩 · 대전광역시 서구 평균 숙박일 (이동통신 기반 외지인) | https://datalab.visitkorea.or.kr/</a:t>
            </a:r>
          </a:p>
          <a:p>
            <a:r>
              <a:t>dataset:30170:6 | 한국관광 데이터랩 · 대전광역시 서구 내비게이션 목적지 유형별 검색량 | https://datalab.visitkorea.or.kr/</a:t>
            </a:r>
          </a:p>
          <a:p>
            <a:r>
              <a:t>dataset:30170:7 | 한국관광 데이터랩 · 대전광역시 서구 SNS 언급량 | https://datalab.visitkorea.or.kr/</a:t>
            </a:r>
          </a:p>
          <a:p>
            <a:r>
              <a:t>datalab:12c41f8a3e52:f92921dca662 | 한국관광 데이터랩 공식 다운로드 · 대전광역시_서구/방문자/2025_01_12.zip | https://datalab.visitkorea.or.kr/</a:t>
            </a:r>
          </a:p>
          <a:p>
            <a:r>
              <a:t>datalab:162285800b98:dbba3ac2e220 | 한국관광 데이터랩 공식 다운로드 · 대전광역시_서구/관광소비/2025_01_12.zip | https://datalab.visitkorea.or.kr/</a:t>
            </a:r>
          </a:p>
          <a:p>
            <a:r>
              <a:t>datalab:1bec5b4405e1:6c5494eef7c6 | 한국관광 데이터랩 공식 다운로드 · 대전광역시_서구/숙박_체류시간/2025_01_12.zip | https://datalab.visitkorea.or.kr/</a:t>
            </a:r>
          </a:p>
          <a:p>
            <a:r>
              <a:t>datalab:7a4db91d6ba9:d81294f3e5a0 | 한국관광 데이터랩 공식 다운로드 · 대전광역시_서구/관광소비/2026_01_06.zip | https://datalab.visitkorea.or.kr/</a:t>
            </a:r>
          </a:p>
          <a:p>
            <a:r>
              <a:t>datalab:cc1dc8fb5607:77f3b69cfb89 | 한국관광 데이터랩 공식 다운로드 · 대전광역시_서구/방문자/2026_01_06.zip | https://datalab.visitkorea.or.kr/</a:t>
            </a:r>
          </a:p>
          <a:p>
            <a:r>
              <a:t>datalab:e53d144382ee:fc025995a6df | 한국관광 데이터랩 공식 다운로드 · 대전광역시_서구/숙박_체류시간/2026_01_06.zip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regional-status:0c68fedc2071:0ad82310f803 | 한국관광 데이터랩 지역별 관광 현황 · 대전광역시 서구 · 지역집중률 | https://datalab.visitkorea.or.kr/</a:t>
            </a:r>
          </a:p>
          <a:p>
            <a:r>
              <a:t>regional-status:4cddd6aa75d4:be8b01ec64e2 | 한국관광 데이터랩 지역별 관광 현황 · 대전광역시 서구 · 유입유출 | https://datalab.visitkorea.or.kr/</a:t>
            </a:r>
          </a:p>
          <a:p>
            <a:r>
              <a:t>regional-status:8c9a813e95eb:5e0cc3f56b73 | 한국관광 데이터랩 지역별 관광 현황 · 대전광역시 서구 · 인기관광지 | https://datalab.visitkorea.or.kr/</a:t>
            </a:r>
          </a:p>
          <a:p>
            <a:r>
              <a:t>ml:30170:regional-demand-v3.1:202606 | 지역 관광수요 ML 전망 · 공식 관측값 아님 | URL 미기록</a:t>
            </a:r>
          </a:p>
          <a:p>
            <a:r>
              <a:t>tour-api:2899643 | 갈마짬뽕 | https://apis.data.go.kr/B551011/KorService2</a:t>
            </a:r>
          </a:p>
          <a:p>
            <a:r>
              <a:t>tour-api:2899637 | 관저당 | https://apis.data.go.kr/B551011/KorService2</a:t>
            </a:r>
          </a:p>
          <a:p>
            <a:r>
              <a:t>tour-api:1932079 | 굿모닝레지던스호텔휴 | https://apis.data.go.kr/B551011/KorService2</a:t>
            </a:r>
          </a:p>
          <a:p>
            <a:r>
              <a:t>tour-api:133881 | 귀빈돌솥밥 | https://apis.data.go.kr/B551011/KorService2</a:t>
            </a:r>
          </a:p>
          <a:p>
            <a:r>
              <a:t>tour-api:2758252 | 남선공원 | https://apis.data.go.kr/B551011/KorService2</a:t>
            </a:r>
          </a:p>
          <a:p>
            <a:r>
              <a:t>tour-api:298208 | 내원사(대전) | https://apis.data.go.kr/B551011/KorService2</a:t>
            </a:r>
          </a:p>
          <a:p>
            <a:r>
              <a:t>tour-api:3452550 | 노크노크 | https://apis.data.go.kr/B551011/KorService2</a:t>
            </a:r>
          </a:p>
          <a:p>
            <a:r>
              <a:t>tour-api:2899585 | 대성콩국수 | https://apis.data.go.kr/B551011/KorService2</a:t>
            </a:r>
          </a:p>
          <a:p>
            <a:r>
              <a:t>tour-api:130802 | 대전 가수원도서관 | https://apis.data.go.kr/B551011/KorService2</a:t>
            </a:r>
          </a:p>
          <a:p>
            <a:r>
              <a:t>tour-api:2743325 | 대전광역시청 시민잔디광장 | https://apis.data.go.kr/B551011/KorService2</a:t>
            </a:r>
          </a:p>
          <a:p>
            <a:r>
              <a:t>tour-api:130197 | 대전서구문화원 | https://apis.data.go.kr/B551011/KorService2</a:t>
            </a:r>
          </a:p>
          <a:p>
            <a:r>
              <a:t>tour-api:2865847 | 델빠네 | https://apis.data.go.kr/B551011/KorService2</a:t>
            </a:r>
          </a:p>
          <a:p>
            <a:r>
              <a:t>tour-api:2758334 | 도마큰시장 | https://apis.data.go.kr/B551011/KorService2</a:t>
            </a:r>
          </a:p>
          <a:p>
            <a:r>
              <a:t>tour-api:1955818 | 도산서원(대전) | https://apis.data.go.kr/B551011/KorService2</a:t>
            </a:r>
          </a:p>
          <a:p>
            <a:r>
              <a:t>tour-api:2758341 | 둔산꽃시장 | https://apis.data.go.kr/B551011/KorService2</a:t>
            </a:r>
          </a:p>
          <a:p>
            <a:r>
              <a:t>tour-api:1623725 | 둔산전자타운 | https://apis.data.go.kr/B551011/KorService2</a:t>
            </a:r>
          </a:p>
          <a:p>
            <a:r>
              <a:t>tour-api:132661 | 롯데백화점 (대전점) | https://apis.data.go.kr/B551011/KorService2</a:t>
            </a:r>
          </a:p>
          <a:p>
            <a:r>
              <a:t>tour-api:2758646 | 마치광장 | https://apis.data.go.kr/B551011/KorService2</a:t>
            </a:r>
          </a:p>
          <a:p>
            <a:r>
              <a:t>tour-api:2899544 | 몽뜨 | https://apis.data.go.kr/B551011/KorService2</a:t>
            </a:r>
          </a:p>
          <a:p>
            <a:r>
              <a:t>tour-api:2865914 | 미세노센세 | https://apis.data.go.kr/B551011/KorService2</a:t>
            </a:r>
          </a:p>
          <a:p>
            <a:r>
              <a:t>reference:kto:2026:local-airport | 요즘, 한국관광 2호 - 지방공항 연계 지역관광 활성화 방안 | PDF 44쪽, PDF 40쪽, PDF 41쪽, PDF 41쪽, PDF 43쪽 | https://datalab.visitkorea.or.kr/site/portal/ex/bbs/View.do?bcIdx=311068&amp;cbIdx=1135&amp;pageIndex=1</a:t>
            </a:r>
          </a:p>
          <a:p>
            <a:r>
              <a:t>web:30170:1 | 여행가는 달 지역 여행할인 모아보기 | https://korean.visitkorea.or.kr/travelmonth/benefit.do?modal=benefit-190</a:t>
            </a:r>
          </a:p>
          <a:p>
            <a:r>
              <a:t>web:30170:2 | 대전광역시_문화시설 | 공공데이터포털 | https://www.data.go.kr/data/15112114/openapi.do?recommendDataYn=Y</a:t>
            </a:r>
          </a:p>
          <a:p>
            <a:r>
              <a:t>web:30170:3 | 대전광역시 문화관광(숙박정보) 데이터 | 공공데이터포털 | https://www.data.go.kr/dataset/15001021/openapi.do</a:t>
            </a:r>
          </a:p>
          <a:p>
            <a:r>
              <a:t>web:30170:4 | 대전문화관광해설사 신규 양성 교육 | 한국관광공사 관광e배움터 | https://touredu.visitkorea.or.kr/home/pkgEdu/pkgEduDetail?crsCd=C202600107&amp;eduPlanYr=2026&amp;eduPlanYrStepCnt=1</a:t>
            </a:r>
          </a:p>
          <a:p>
            <a:r>
              <a:t>web:30170:5 | 대전광역시 서구_체육시설 현황 | 공공데이터포털 | https://www.data.go.kr/dataset/15037511/fileData.do</a:t>
            </a:r>
          </a:p>
          <a:p>
            <a:r>
              <a:t>web:30170:6 | 제4차 관광개발기본계획 발표 관련 문화체육관광부 보도자료 |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case:41508ca81cf29f | 한국관광 데이터랩 · 안동탈춤축제 연도별 방문자 추이 | https://datalab.visitkorea.or.kr/</a:t>
            </a:r>
          </a:p>
          <a:p>
            <a:r>
              <a:t>case:festival:01474ef75569b1 | 한국관광 데이터랩 · 문경찻사발축제 방문자 추이 | https://datalab.visitkorea.or.kr/</a:t>
            </a:r>
          </a:p>
          <a:p>
            <a:r>
              <a:t>case:28ff66d9b44637 | 2025년 문화예술 축제 통합 지원사업 종합결과보고서 | https://culture.seoul.go.kr/culture/cmmn/file/fileDown.do?atchFileId=bb34395b25504c66a77ef69999cacb1c&amp;bbsId=B0000006&amp;fileSn=1</a:t>
            </a:r>
          </a:p>
          <a:p>
            <a:r>
              <a:t>case:58c0694a3e85d8 | 귀촌 '원조 반값'은 다르다… 강진서 전국 확산 '체류 관광 도시' | https://jnfarm.jeonnam.go.kr/board/FARM_BOARD_008/boardView.do?bdId=BD_00000000000015383&amp;menuCd=farm004002</a:t>
            </a:r>
          </a:p>
          <a:p>
            <a:r>
              <a:t>case:4544b7bca8ebab | 요즘, 한국관광 2호 - 지방공항 연계 지역관광 활성화 방안 | https://datalab.visitkorea.or.kr/site/portal/ex/bbs/View.do?bcIdx=311068&amp;cbIdx=1135&amp;pageIndex=1</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[/Sources]</a:t>
            </a:r>
          </a:p>
          <a:p>
            <a:r>
              <a:t>[Calculation audit]</a:t>
            </a:r>
          </a:p>
          <a:p>
            <a:r>
              <a:t>{</a:t>
            </a:r>
          </a:p>
          <a:p>
            <a:r>
              <a:t>  "source_inventory": [</a:t>
            </a:r>
          </a:p>
          <a:p>
            <a:r>
              <a:t>    {</a:t>
            </a:r>
          </a:p>
          <a:p>
            <a:r>
              <a:t>      "title": "한국관광 데이터랩 · 대전광역시 서구 순 방문자 수 및 숙박 비율 (이동통신 기반 외지인)",</a:t>
            </a:r>
          </a:p>
          <a:p>
            <a:r>
              <a:t>      "summary": "월간 순 방문자 수: 4,619,168명 (관측 기준월: 2026-06)",</a:t>
            </a:r>
          </a:p>
          <a:p>
            <a:r>
              <a:t>      "source_id": "dataset:30170:1",</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월간 순 방문자 수 (이동통신 기반 외지인)",</a:t>
            </a:r>
          </a:p>
          <a:p>
            <a:r>
              <a:t>      "summary": "전년동월 외지인 방문자 증감률: -3.5% (관측 기준월: 2026-06)",</a:t>
            </a:r>
          </a:p>
          <a:p>
            <a:r>
              <a:t>      "source_id": "dataset:30170:2",</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관광소비 추이_외지인",</a:t>
            </a:r>
          </a:p>
          <a:p>
            <a:r>
              <a:t>      "summary": "월간 외지인 관광소비 총액: 76,758,413,000원 (관측 기준월: 2026-06)",</a:t>
            </a:r>
          </a:p>
          <a:p>
            <a:r>
              <a:t>      "source_id": "dataset:30170:3",</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숙박방문자 비율 추이 (이동통신 기반 외지인)",</a:t>
            </a:r>
          </a:p>
          <a:p>
            <a:r>
              <a:t>      "summary": "외지인 숙박 방문 비율: 6.7% (관측 기준월: 2026-06)",</a:t>
            </a:r>
          </a:p>
          <a:p>
            <a:r>
              <a:t>      "source_id": "dataset:30170:4",</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평균 숙박일 (이동통신 기반 외지인)",</a:t>
            </a:r>
          </a:p>
          <a:p>
            <a:r>
              <a:t>      "summary": "외지인 평균 숙박일수: 2.81일 (관측 기준월: 2026-06)",</a:t>
            </a:r>
          </a:p>
          <a:p>
            <a:r>
              <a:t>      "source_id": "dataset:30170:5",</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내비게이션 목적지 유형별 검색량",</a:t>
            </a:r>
          </a:p>
          <a:p>
            <a:r>
              <a:t>      "summary": "내비게이션 목적지 검색량: 191,346건 (관측 기준월: 2026-06)",</a:t>
            </a:r>
          </a:p>
          <a:p>
            <a:r>
              <a:t>      "source_id": "dataset:30170:6",</a:t>
            </a:r>
          </a:p>
          <a:p>
            <a:r>
              <a:t>      "source_url": "https://datalab.visitkorea.or.kr/",</a:t>
            </a:r>
          </a:p>
          <a:p>
            <a:r>
              <a:t>      "source_type": "dataset",</a:t>
            </a:r>
          </a:p>
          <a:p>
            <a:r>
              <a:t>      "observation_period": "2026-06",</a:t>
            </a:r>
          </a:p>
          <a:p>
            <a:r>
              <a:t>      "published_or_updated_at": "2026-06"</a:t>
            </a:r>
          </a:p>
          <a:p>
            <a:r>
              <a:t>    },</a:t>
            </a:r>
          </a:p>
          <a:p>
            <a:r>
              <a:t>    {</a:t>
            </a:r>
          </a:p>
          <a:p>
            <a:r>
              <a:t>      "title": "한국관광 데이터랩 · 대전광역시 서구 SNS 언급량",</a:t>
            </a:r>
          </a:p>
          <a:p>
            <a:r>
              <a:t>      "summary": "SNS 언급량: 54,388건 (관측 기준월: 2026-06)",</a:t>
            </a:r>
          </a:p>
          <a:p>
            <a:r>
              <a:t>      "source_id": "dataset:30170:7",</a:t>
            </a:r>
          </a:p>
          <a:p>
            <a:r>
              <a:t>      "source_url": "https://datalab.visitkorea.or.kr/",</a:t>
            </a:r>
          </a:p>
          <a:p>
            <a:r>
              <a:t>      "source_type": "dataset",</a:t>
            </a:r>
          </a:p>
          <a:p>
            <a:r>
              <a:t>      "observation_period": "2026-06",</a:t>
            </a:r>
          </a:p>
          <a:p>
            <a:r>
              <a:t>      "published_or_updated_at": "2026-06"</a:t>
            </a:r>
          </a:p>
          <a:p>
            <a:r>
              <a:t>    },</a:t>
            </a:r>
          </a:p>
          <a:p>
            <a:r>
              <a:t>    {</a:t>
            </a:r>
          </a:p>
          <a:p>
            <a:r>
              <a:t>      "title": "한국관광 데이터랩 공식 다운로드 · 대전광역시_서구/방문자/2025_01_12.zip",</a:t>
            </a:r>
          </a:p>
          <a:p>
            <a:r>
              <a:t>      "summary": "전국 비교 기준 기간: 2025-07 ~ 2026-06",</a:t>
            </a:r>
          </a:p>
          <a:p>
            <a:r>
              <a:t>      "source_id": "datalab:12c41f8a3e52:f92921dca662",</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대전광역시_서구/관광소비/2025_01_12.zip",</a:t>
            </a:r>
          </a:p>
          <a:p>
            <a:r>
              <a:t>      "summary": "전국 비교 기준 기간: 2025-07 ~ 2026-06",</a:t>
            </a:r>
          </a:p>
          <a:p>
            <a:r>
              <a:t>      "source_id": "datalab:162285800b98:dbba3ac2e220",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대전광역시_서구/숙박_체류시간/2025_01_12.zip",</a:t>
            </a:r>
          </a:p>
          <a:p>
            <a:r>
              <a:t>      "summary": "전국 비교 기준 기간: 2025-07 ~ 2026-06",</a:t>
            </a:r>
          </a:p>
          <a:p>
            <a:r>
              <a:t>      "source_id": "datalab:1bec5b4405e1:6c5494eef7c6",</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대전광역시_서구/관광소비/2026_01_06.zip",</a:t>
            </a:r>
          </a:p>
          <a:p>
            <a:r>
              <a:t>      "summary": "전국 비교 기준 기간: 2025-07 ~ 2026-06",</a:t>
            </a:r>
          </a:p>
          <a:p>
            <a:r>
              <a:t>      "source_id": "datalab:7a4db91d6ba9:d81294f3e5a0",</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대전광역시_서구/방문자/2026_01_06.zip",</a:t>
            </a:r>
          </a:p>
          <a:p>
            <a:r>
              <a:t>      "summary": "전국 비교 기준 기간: 2025-07 ~ 2026-06",</a:t>
            </a:r>
          </a:p>
          <a:p>
            <a:r>
              <a:t>      "source_id": "datalab:cc1dc8fb5607:77f3b69cfb89",</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공식 다운로드 · 대전광역시_서구/숙박_체류시간/2026_01_06.zip",</a:t>
            </a:r>
          </a:p>
          <a:p>
            <a:r>
              <a:t>      "summary": "전국 비교 기준 기간: 2025-07 ~ 2026-06",</a:t>
            </a:r>
          </a:p>
          <a:p>
            <a:r>
              <a:t>      "source_id": "datalab:e53d144382ee:fc025995a6df",</a:t>
            </a:r>
          </a:p>
          <a:p>
            <a:r>
              <a:t>      "source_url": "https://datalab.visitkorea.or.kr/",</a:t>
            </a:r>
          </a:p>
          <a:p>
            <a:r>
              <a:t>      "source_type": "nationwide_dataset",</a:t>
            </a:r>
          </a:p>
          <a:p>
            <a:r>
              <a:t>      "observation_period": "2025-07 ~ 2026-06",</a:t>
            </a:r>
          </a:p>
          <a:p>
            <a:r>
              <a:t>      "published_or_updated_at": "2024-07 ~ 2025-06"</a:t>
            </a:r>
          </a:p>
          <a:p>
            <a:r>
              <a:t>    },</a:t>
            </a:r>
          </a:p>
          <a:p>
            <a:r>
              <a:t>    {</a:t>
            </a:r>
          </a:p>
          <a:p>
            <a:r>
              <a:t>      "title": "한국관광 데이터랩 전국 빅데이터 다운로드 · 이동통신/내국인/지역별 방문자수/20260820140607__202601-202606_데이터랩_다운로드.zip",</a:t>
            </a:r>
          </a:p>
          <a:p>
            <a:r>
              <a:t>      "summary": "시군구 기간합계·비중 또는 전국 월별 추이. 지역 월별 ML·정책 효과가 아닌 보조 근거.",</a:t>
            </a:r>
          </a:p>
          <a:p>
            <a:r>
              <a:t>      "source_id": "team-bigdata:23ea68053684:6bfbcf8aabf6",</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이동통신/외국인/20260820141710_전국_202601-202606_데이터랩_다운로드.zip",</a:t>
            </a:r>
          </a:p>
          <a:p>
            <a:r>
              <a:t>      "summary": "시군구 기간합계·비중 또는 전국 월별 추이. 지역 월별 ML·정책 효과가 아닌 보조 근거.",</a:t>
            </a:r>
          </a:p>
          <a:p>
            <a:r>
              <a:t>      "source_id": "team-bigdata:98d4ae590d9a:3be52dd54323",</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관광지출액/20260820140046__202601-202606_데이터랩_다운로드.zip",</a:t>
            </a:r>
          </a:p>
          <a:p>
            <a:r>
              <a:t>      "summary": "시군구 기간합계·비중 또는 전국 월별 추이. 지역 월별 ML·정책 효과가 아닌 보조 근거.",</a:t>
            </a:r>
          </a:p>
          <a:p>
            <a:r>
              <a:t>      "source_id": "team-bigdata:367cd0294ec4:873930d645e5",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관광지출액/20260820140355__202601-202606_데이터랩_다운로드.zip",</a:t>
            </a:r>
          </a:p>
          <a:p>
            <a:r>
              <a:t>      "summary": "시군구 기간합계·비중 또는 전국 월별 추이. 지역 월별 ML·정책 효과가 아닌 보조 근거.",</a:t>
            </a:r>
          </a:p>
          <a:p>
            <a:r>
              <a:t>      "source_id": "team-bigdata:553a0dad4bb4:5a31355dffe8",</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검색건수/20260820195507__202601-202606_데이터랩_다운로드.zip",</a:t>
            </a:r>
          </a:p>
          <a:p>
            <a:r>
              <a:t>      "summary": "시군구 기간합계·비중 또는 전국 월별 추이. 지역 월별 ML·정책 효과가 아닌 보조 근거.",</a:t>
            </a:r>
          </a:p>
          <a:p>
            <a:r>
              <a:t>      "source_id": "team-bigdata:a53dbe1c21df:77a052de41d5",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방문자수/20260820140614__202501-202512_데이터랩_다운로드.zip",</a:t>
            </a:r>
          </a:p>
          <a:p>
            <a:r>
              <a:t>      "summary": "시군구 기간합계·비중 또는 전국 월별 추이. 지역 월별 ML·정책 효과가 아닌 보조 근거.",</a:t>
            </a:r>
          </a:p>
          <a:p>
            <a:r>
              <a:t>      "source_id": "team-bigdata:823a38d1d61c:5385261d02e5",</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이동통신/외국인/20260820141649_전국_202501-202512_데이터랩_다운로드.zip",</a:t>
            </a:r>
          </a:p>
          <a:p>
            <a:r>
              <a:t>      "summary": "시군구 기간합계·비중 또는 전국 월별 추이. 지역 월별 ML·정책 효과가 아닌 보조 근거.",</a:t>
            </a:r>
          </a:p>
          <a:p>
            <a:r>
              <a:t>      "source_id": "team-bigdata:2723bdb0d589:1666a34058ed",</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신용카드/내국인/지역별 관광지출액/20260820135957__202501-202512_데이터랩_다운로드.zip",</a:t>
            </a:r>
          </a:p>
          <a:p>
            <a:r>
              <a:t>      "summary": "시군구 기간합계·비중 또는 전국 월별 추이. 지역 월별 ML·정책 효과가 아닌 보조 근거.",</a:t>
            </a:r>
          </a:p>
          <a:p>
            <a:r>
              <a:t>      "source_id": "team-bigdata:83177a234971:c02cb7972e0f",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신용카드/외국인/지역별 관광지출액/20260820140409__202501-202512_데이터랩_다운로드.zip",</a:t>
            </a:r>
          </a:p>
          <a:p>
            <a:r>
              <a:t>      "summary": "시군구 기간합계·비중 또는 전국 월별 추이. 지역 월별 ML·정책 효과가 아닌 보조 근거.",</a:t>
            </a:r>
          </a:p>
          <a:p>
            <a:r>
              <a:t>      "source_id": "team-bigdata:58ded7732251:589c76395cbc",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네비게이션/지역별 검색건수/20260820132007__202501-202512_데이터랩_다운로드.zip",</a:t>
            </a:r>
          </a:p>
          <a:p>
            <a:r>
              <a:t>      "summary": "시군구 기간합계·비중 또는 전국 월별 추이. 지역 월별 ML·정책 효과가 아닌 보조 근거.",</a:t>
            </a:r>
          </a:p>
          <a:p>
            <a:r>
              <a:t>      "source_id": "team-bigdata:e28c947cb52f:bb4cb344a6ba",</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이동통신/내국인/지역별 방문자수/20260820140624__202401-202412_데이터랩_다운로드.zip",</a:t>
            </a:r>
          </a:p>
          <a:p>
            <a:r>
              <a:t>      "summary": "시군구 기간합계·비중 또는 전국 월별 추이. 지역 월별 ML·정책 효과가 아닌 보조 근거.",</a:t>
            </a:r>
          </a:p>
          <a:p>
            <a:r>
              <a:t>      "source_id": "team-bigdata:8815bbb11a39:1a5988f5f8ec",</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전국 빅데이터 다운로드 · 이동통신/외국인/20260820141639_전국_202401-202412_데이터랩_다운로드.zip",</a:t>
            </a:r>
          </a:p>
          <a:p>
            <a:r>
              <a:t>      "summary": "시군구 기간합계·비중 또는 전국 월별 추이. 지역 월별 ML·정책 효과가 아닌 보조 근거.",</a:t>
            </a:r>
          </a:p>
          <a:p>
            <a:r>
              <a:t>      "source_id": "team-bigdata:19fd67fbb73d:afa4f0f54a2f",</a:t>
            </a:r>
          </a:p>
          <a:p>
            <a:r>
              <a:t>      "source_url": "https://datalab.visitkorea.or.kr/",</a:t>
            </a:r>
          </a:p>
          <a:p>
            <a:r>
              <a:t>      "source_type": "nationwide_bigdata_dataset",</a:t>
            </a:r>
          </a:p>
          <a:p>
            <a:r>
              <a:t>      "observation_period": "2026-01 ~ 2026-06",</a:t>
            </a:r>
          </a:p>
          <a:p>
            <a:r>
              <a:t>      "source_review_status": "needs_exact_download_url",</a:t>
            </a:r>
          </a:p>
          <a:p>
            <a:r>
              <a:t>      "published_or_updated_at": ""</a:t>
            </a:r>
          </a:p>
          <a:p>
            <a:r>
              <a:t>    },</a:t>
            </a:r>
          </a:p>
          <a:p>
            <a:r>
              <a:t>    {</a:t>
            </a:r>
          </a:p>
          <a:p>
            <a:r>
              <a:t>      "title": "한국관광 데이터랩 지역별 관광 현황 · 대전광역시 서구 · 지역집중률",</a:t>
            </a:r>
          </a:p>
          <a:p>
            <a:r>
              <a:t>      "summary": "관측 기간: 2025-07 ~ 2026-06. 유입·유출·인기장소 또는 30일 집중 운영 신호.",</a:t>
            </a:r>
          </a:p>
          <a:p>
            <a:r>
              <a:t>      "source_id": "regional-status:0c68fedc2071:0ad82310f803",</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유입유출",</a:t>
            </a:r>
          </a:p>
          <a:p>
            <a:r>
              <a:t>      "summary": "관측 기간: 2025-07 ~ 2026-06. 유입·유출·인기장소 또는 30일 집중 운영 신호.",</a:t>
            </a:r>
          </a:p>
          <a:p>
            <a:r>
              <a:t>      "source_id": "regional-status:4cddd6aa75d4:be8b01ec64e2",</a:t>
            </a:r>
          </a:p>
          <a:p>
            <a:r>
              <a:t>      "source_url": "https://datalab.visitkorea.or.kr/",</a:t>
            </a:r>
          </a:p>
          <a:p>
            <a:r>
              <a:t>      "source_type": "regional_tourism_status",</a:t>
            </a:r>
          </a:p>
          <a:p>
            <a:r>
              <a:t>      "observation_period": "2025-07 ~ 2026-06",</a:t>
            </a:r>
          </a:p>
          <a:p>
            <a:r>
              <a:t>      "published_or_updated_at": ""</a:t>
            </a:r>
          </a:p>
          <a:p>
            <a:r>
              <a:t>    },</a:t>
            </a:r>
          </a:p>
          <a:p>
            <a:r>
              <a:t>    {</a:t>
            </a:r>
          </a:p>
          <a:p>
            <a:r>
              <a:t>      "title": "한국관광 데이터랩 지역별 관광 현황 · 대전광역시 서구 · 인기관광지",</a:t>
            </a:r>
          </a:p>
          <a:p>
            <a:r>
              <a:t>      "summary": "관측 기간: 2025-07 ~ 2026-06. 유입·유출·인기장소 또는 30일 집중 운영 신호.",</a:t>
            </a:r>
          </a:p>
          <a:p>
            <a:r>
              <a:t>      "source_id": "regional-status:8c9a813e95eb:5e0cc3f56b73",</a:t>
            </a:r>
          </a:p>
          <a:p>
            <a:r>
              <a:t>      "source_url": "https://datalab.visitkorea.or.kr/",</a:t>
            </a:r>
          </a:p>
          <a:p>
            <a:r>
              <a:t>      "source_type": "regional_tourism_status",</a:t>
            </a:r>
          </a:p>
          <a:p>
            <a:r>
              <a:t>      "observation_period": "2025-07 ~ 2026-06",</a:t>
            </a:r>
          </a:p>
          <a:p>
            <a:r>
              <a:t>      "published_or_updated_at": ""</a:t>
            </a:r>
          </a:p>
          <a:p>
            <a:r>
              <a:t>    },</a:t>
            </a:r>
          </a:p>
          <a:p>
            <a:r>
              <a:t>    {</a:t>
            </a:r>
          </a:p>
          <a:p>
            <a:r>
              <a:t>      "title": "지역 관광수요 ML 전망 · 공식 관측값 아님",</a:t>
            </a:r>
          </a:p>
          <a:p>
            <a:r>
              <a:t>      "summary": "학습 202401~202606 · 모델 regional-demand-v3.1 · 자연 추세 예측",</a:t>
            </a:r>
          </a:p>
          <a:p>
            <a:r>
              <a:t>      "source_id": "ml:30170:regional-demand-v3.1:202606",</a:t>
            </a:r>
          </a:p>
          <a:p>
            <a:r>
              <a:t>      "source_url": "",</a:t>
            </a:r>
          </a:p>
          <a:p>
            <a:r>
              <a:t>      "source_type": "model_forecast",</a:t>
            </a:r>
          </a:p>
          <a:p>
            <a:r>
              <a:t>      "model_version": "regional-demand-v3.1",</a:t>
            </a:r>
          </a:p>
          <a:p>
            <a:r>
              <a:t>      "data_fingerprint": "edea7fa8270d3b72aee15e6816efec3fce699e1bab55ebd844a10870c2f0e0a0"</a:t>
            </a:r>
          </a:p>
          <a:p>
            <a:r>
              <a:t>    },</a:t>
            </a:r>
          </a:p>
          <a:p>
            <a:r>
              <a:t>    {</a:t>
            </a:r>
          </a:p>
          <a:p>
            <a:r>
              <a:t>      "title": "갈마짬뽕",</a:t>
            </a:r>
          </a:p>
          <a:p>
            <a:r>
              <a:t>      "address": "대전광역시 서구 월평동로 5-11 (갈마동)",</a:t>
            </a:r>
          </a:p>
          <a:p>
            <a:r>
              <a:t>      "summary": "한국관광공사 국문관광정보 API가 반환한 선택 지역 관광자원",</a:t>
            </a:r>
          </a:p>
          <a:p>
            <a:r>
              <a:t>      "image_url": "http://tong.visitkorea.or.kr/cms/resource/38/2899638_image2_1.jpg",</a:t>
            </a:r>
          </a:p>
          <a:p>
            <a:r>
              <a:t>      "source_id": "tour-api:2899643",</a:t>
            </a:r>
          </a:p>
          <a:p>
            <a:r>
              <a:t>      "content_id": "2899643",</a:t>
            </a:r>
          </a:p>
          <a:p>
            <a:r>
              <a:t>      "source_url": "https://apis.data.go.kr/B551011/KorService2",</a:t>
            </a:r>
          </a:p>
          <a:p>
            <a:r>
              <a:t>      "source_type": "open_api",</a:t>
            </a:r>
          </a:p>
          <a:p>
            <a:r>
              <a:t>      "content_type_id": "39"</a:t>
            </a:r>
          </a:p>
          <a:p>
            <a:r>
              <a:t>    },</a:t>
            </a:r>
          </a:p>
          <a:p>
            <a:r>
              <a:t>    {</a:t>
            </a:r>
          </a:p>
          <a:p>
            <a:r>
              <a:t>      "title": "관저당",</a:t>
            </a:r>
          </a:p>
          <a:p>
            <a:r>
              <a:t>      "address": "대전광역시 서구 구봉산북로21번길 11 (관저동)",</a:t>
            </a:r>
          </a:p>
          <a:p>
            <a:r>
              <a:t>      "summary": "한국관광공사 국문관광정보 API가 반환한 선택 지역 관광자원",</a:t>
            </a:r>
          </a:p>
          <a:p>
            <a:r>
              <a:t>      "image_url": "http://tong.visitkorea.or.kr/cms/resource/36/2899636_image2_1.jpg",</a:t>
            </a:r>
          </a:p>
          <a:p>
            <a:r>
              <a:t>      "source_id": "tour-api:2899637",</a:t>
            </a:r>
          </a:p>
          <a:p>
            <a:r>
              <a:t>      "content_id": "2899637",</a:t>
            </a:r>
          </a:p>
          <a:p>
            <a:r>
              <a:t>      "source_url": "https://apis.data.go.kr/B551011/KorService2",</a:t>
            </a:r>
          </a:p>
          <a:p>
            <a:r>
              <a:t>      "source_type": "open_api",</a:t>
            </a:r>
          </a:p>
          <a:p>
            <a:r>
              <a:t>      "content_type_id": "39"</a:t>
            </a:r>
          </a:p>
          <a:p>
            <a:r>
              <a:t>    },</a:t>
            </a:r>
          </a:p>
          <a:p>
            <a:r>
              <a:t>    {</a:t>
            </a:r>
          </a:p>
          <a:p>
            <a:r>
              <a:t>      "title": "굿모닝레지던스호텔휴",</a:t>
            </a:r>
          </a:p>
          <a:p>
            <a:r>
              <a:t>      "address": "대전광역시 서구 둔산로73번길 21 (둔산동)",</a:t>
            </a:r>
          </a:p>
          <a:p>
            <a:r>
              <a:t>      "summary": "한국관광공사 국문관광정보 API가 반환한 선택 지역 관광자원",</a:t>
            </a:r>
          </a:p>
          <a:p>
            <a:r>
              <a:t>      "image_url": "http://tong.visitkorea.or.kr/cms/resource/87/2584687_image2_1.jpg",</a:t>
            </a:r>
          </a:p>
          <a:p>
            <a:r>
              <a:t>      "source_id": "tour-api:1932079",</a:t>
            </a:r>
          </a:p>
          <a:p>
            <a:r>
              <a:t>      "content_id": "1932079",</a:t>
            </a:r>
          </a:p>
          <a:p>
            <a:r>
              <a:t>      "source_url": "https://apis.data.go.kr/B551011/KorService2",</a:t>
            </a:r>
          </a:p>
          <a:p>
            <a:r>
              <a:t>      "source_type": "open_api",</a:t>
            </a:r>
          </a:p>
          <a:p>
            <a:r>
              <a:t>      "content_type_id": "32"</a:t>
            </a:r>
          </a:p>
          <a:p>
            <a:r>
              <a:t>    },</a:t>
            </a:r>
          </a:p>
          <a:p>
            <a:r>
              <a:t>    {</a:t>
            </a:r>
          </a:p>
          <a:p>
            <a:r>
              <a:t>      "title": "귀빈돌솥밥",</a:t>
            </a:r>
          </a:p>
          <a:p>
            <a:r>
              <a:t>      "address": "대전광역시 서구 만년로68번길 21",</a:t>
            </a:r>
          </a:p>
          <a:p>
            <a:r>
              <a:t>      "summary": "한국관광공사 국문관광정보 API가 반환한 선택 지역 관광자원",</a:t>
            </a:r>
          </a:p>
          <a:p>
            <a:r>
              <a:t>      "image_url": "http://tong.visitkorea.or.kr/cms/resource/72/3060272_image2_1.JPG",</a:t>
            </a:r>
          </a:p>
          <a:p>
            <a:r>
              <a:t>      "source_id": "tour-api:133881",</a:t>
            </a:r>
          </a:p>
          <a:p>
            <a:r>
              <a:t>      "content_id": "133881",</a:t>
            </a:r>
          </a:p>
          <a:p>
            <a:r>
              <a:t>      "source_url": "https://apis.data.go.kr/B551011/KorService2",</a:t>
            </a:r>
          </a:p>
          <a:p>
            <a:r>
              <a:t>      "source_type": "open_api",</a:t>
            </a:r>
          </a:p>
          <a:p>
            <a:r>
              <a:t>      "content_type_id": "39"</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"title": "내원사(대전)",</a:t>
            </a:r>
          </a:p>
          <a:p>
            <a:r>
              <a:t>      "address": "대전광역시 서구 배재로197번길 200",</a:t>
            </a:r>
          </a:p>
          <a:p>
            <a:r>
              <a:t>      "summary": "한국관광공사 국문관광정보 API가 반환한 선택 지역 관광자원",</a:t>
            </a:r>
          </a:p>
          <a:p>
            <a:r>
              <a:t>      "image_url": "http://tong.visitkorea.or.kr/cms/resource/79/3034979_image2_1.JPG",</a:t>
            </a:r>
          </a:p>
          <a:p>
            <a:r>
              <a:t>      "source_id": "tour-api:298208",</a:t>
            </a:r>
          </a:p>
          <a:p>
            <a:r>
              <a:t>      "content_id": "298208",</a:t>
            </a:r>
          </a:p>
          <a:p>
            <a:r>
              <a:t>      "source_url": "https://apis.data.go.kr/B551011/KorService2",</a:t>
            </a:r>
          </a:p>
          <a:p>
            <a:r>
              <a:t>      "source_type": "open_api",</a:t>
            </a:r>
          </a:p>
          <a:p>
            <a:r>
              <a:t>      "content_type_id": "12"</a:t>
            </a:r>
          </a:p>
          <a:p>
            <a:r>
              <a:t>    },</a:t>
            </a:r>
          </a:p>
          <a:p>
            <a:r>
              <a:t>    {</a:t>
            </a:r>
          </a:p>
          <a:p>
            <a:r>
              <a:t>      "title": "노크노크",</a:t>
            </a:r>
          </a:p>
          <a:p>
            <a:r>
              <a:t>      "address": "대전광역시 서구 둔산로 68 (둔산동)",</a:t>
            </a:r>
          </a:p>
          <a:p>
            <a:r>
              <a:t>      "summary": "한국관광공사 국문관광정보 API가 반환한 선택 지역 관광자원",</a:t>
            </a:r>
          </a:p>
          <a:p>
            <a:r>
              <a:t>      "image_url": "http://tong.visitkorea.or.kr/cms/resource/59/3453059_image2_1.jpg",</a:t>
            </a:r>
          </a:p>
          <a:p>
            <a:r>
              <a:t>      "source_id": "tour-api:3452550",</a:t>
            </a:r>
          </a:p>
          <a:p>
            <a:r>
              <a:t>      "content_id": "3452550",</a:t>
            </a:r>
          </a:p>
          <a:p>
            <a:r>
              <a:t>      "source_url": "https://apis.data.go.kr/B551011/KorService2",</a:t>
            </a:r>
          </a:p>
          <a:p>
            <a:r>
              <a:t>      "source_type": "open_api",</a:t>
            </a:r>
          </a:p>
          <a:p>
            <a:r>
              <a:t>      "content_type_id": "39"</a:t>
            </a:r>
          </a:p>
          <a:p>
            <a:r>
              <a:t>    },</a:t>
            </a:r>
          </a:p>
          <a:p>
            <a:r>
              <a:t>    {</a:t>
            </a:r>
          </a:p>
          <a:p>
            <a:r>
              <a:t>      "title": "대성콩국수",</a:t>
            </a:r>
          </a:p>
          <a:p>
            <a:r>
              <a:t>      "address": "대전광역시 서구 도산로 141",</a:t>
            </a:r>
          </a:p>
          <a:p>
            <a:r>
              <a:t>      "summary": "한국관광공사 국문관광정보 API가 반환한 선택 지역 관광자원",</a:t>
            </a:r>
          </a:p>
          <a:p>
            <a:r>
              <a:t>      "image_url": "http://tong.visitkorea.or.kr/cms/resource/69/2899569_image2_1.jpg",</a:t>
            </a:r>
          </a:p>
          <a:p>
            <a:r>
              <a:t>      "source_id": "tour-api:2899585",</a:t>
            </a:r>
          </a:p>
          <a:p>
            <a:r>
              <a:t>      "content_id": "2899585",</a:t>
            </a:r>
          </a:p>
          <a:p>
            <a:r>
              <a:t>      "source_url": "https://apis.data.go.kr/B551011/KorService2",</a:t>
            </a:r>
          </a:p>
          <a:p>
            <a:r>
              <a:t>      "source_type": "open_api",</a:t>
            </a:r>
          </a:p>
          <a:p>
            <a:r>
              <a:t>      "content_type_id": "39"</a:t>
            </a:r>
          </a:p>
          <a:p>
            <a:r>
              <a:t>    },</a:t>
            </a:r>
          </a:p>
          <a:p>
            <a:r>
              <a:t>    {</a:t>
            </a:r>
          </a:p>
          <a:p>
            <a:r>
              <a:t>      "title": "대전 가수원도서관",</a:t>
            </a:r>
          </a:p>
          <a:p>
            <a:r>
              <a:t>      "address": "대전광역시 서구 가수원로 91-11 (가수원동)",</a:t>
            </a:r>
          </a:p>
          <a:p>
            <a:r>
              <a:t>      "summary": "한국관광공사 국문관광정보 API가 반환한 선택 지역 관광자원",</a:t>
            </a:r>
          </a:p>
          <a:p>
            <a:r>
              <a:t>      "image_url": "http://tong.visitkorea.or.kr/cms/resource/58/3033558_image2_1.JPG",</a:t>
            </a:r>
          </a:p>
          <a:p>
            <a:r>
              <a:t>      "source_id": "tour-api:130802",</a:t>
            </a:r>
          </a:p>
          <a:p>
            <a:r>
              <a:t>      "content_id": "130802",</a:t>
            </a:r>
          </a:p>
          <a:p>
            <a:r>
              <a:t>      "source_url": "https://apis.data.go.kr/B551011/KorService2",</a:t>
            </a:r>
          </a:p>
          <a:p>
            <a:r>
              <a:t>      "source_type": "open_api",</a:t>
            </a:r>
          </a:p>
          <a:p>
            <a:r>
              <a:t>      "content_type_id": "14"</a:t>
            </a:r>
          </a:p>
          <a:p>
            <a:r>
              <a:t>    },</a:t>
            </a:r>
          </a:p>
          <a:p>
            <a:r>
              <a:t>    {</a:t>
            </a:r>
          </a:p>
          <a:p>
            <a:r>
              <a:t>      "title": "대전광역시청 시민잔디광장",</a:t>
            </a:r>
          </a:p>
          <a:p>
            <a:r>
              <a:t>      "address": "대전광역시 서구 둔산로 100",</a:t>
            </a:r>
          </a:p>
          <a:p>
            <a:r>
              <a:t>      "summary": "한국관광공사 국문관광정보 API가 반환한 선택 지역 관광자원",</a:t>
            </a:r>
          </a:p>
          <a:p>
            <a:r>
              <a:t>      "image_url": "http://tong.visitkorea.or.kr/cms/resource/86/3565586_image2_1.jpg",</a:t>
            </a:r>
          </a:p>
          <a:p>
            <a:r>
              <a:t>      "source_id": "tour-api:2743325",</a:t>
            </a:r>
          </a:p>
          <a:p>
            <a:r>
              <a:t>      "content_id": "2743325",</a:t>
            </a:r>
          </a:p>
          <a:p>
            <a:r>
              <a:t>      "source_url": "https://apis.data.go.kr/B551011/KorService2",</a:t>
            </a:r>
          </a:p>
          <a:p>
            <a:r>
              <a:t>      "source_type": "open_api",</a:t>
            </a:r>
          </a:p>
          <a:p>
            <a:r>
              <a:t>      "content_type_id": "12"</a:t>
            </a:r>
          </a:p>
          <a:p>
            <a:r>
              <a:t>    },</a:t>
            </a:r>
          </a:p>
          <a:p>
            <a:r>
              <a:t>    {</a:t>
            </a:r>
          </a:p>
          <a:p>
            <a:r>
              <a:t>      "title": "대전서구문화원",</a:t>
            </a:r>
          </a:p>
          <a:p>
            <a:r>
              <a:t>      "address": "대전광역시 서구 계룡로553번길 38",</a:t>
            </a:r>
          </a:p>
          <a:p>
            <a:r>
              <a:t>      "summary": "한국관광공사 국문관광정보 API가 반환한 선택 지역 관광자원",</a:t>
            </a:r>
          </a:p>
          <a:p>
            <a:r>
              <a:t>      "image_url": "http://tong.visitkorea.or.kr/cms/resource/43/3585043_image2_1.jpg",</a:t>
            </a:r>
          </a:p>
          <a:p>
            <a:r>
              <a:t>      "source_id": "tour-api:130197",</a:t>
            </a:r>
          </a:p>
          <a:p>
            <a:r>
              <a:t>      "content_id": "130197",</a:t>
            </a:r>
          </a:p>
          <a:p>
            <a:r>
              <a:t>      "source_url": "https://apis.data.go.kr/B551011/KorService2",</a:t>
            </a:r>
          </a:p>
          <a:p>
            <a:r>
              <a:t>      "source_type": "open_api",</a:t>
            </a:r>
          </a:p>
          <a:p>
            <a:r>
              <a:t>      "content_type_id": "14"</a:t>
            </a:r>
          </a:p>
          <a:p>
            <a:r>
              <a:t>    },</a:t>
            </a:r>
          </a:p>
          <a:p>
            <a:r>
              <a:t>    {</a:t>
            </a:r>
          </a:p>
          <a:p>
            <a:r>
              <a:t>      "title": "델빠네",</a:t>
            </a:r>
          </a:p>
          <a:p>
            <a:r>
              <a:t>      "address": "대전광역시 서구 원도안로207번길 16-61 (도안동)",</a:t>
            </a:r>
          </a:p>
          <a:p>
            <a:r>
              <a:t>      "summary": "한국관광공사 국문관광정보 API가 반환한 선택 지역 관광자원",</a:t>
            </a:r>
          </a:p>
          <a:p>
            <a:r>
              <a:t>      "image_url": "http://tong.visitkorea.or.kr/cms/resource/36/2865836_image2_1.jpg",</a:t>
            </a:r>
          </a:p>
          <a:p>
            <a:r>
              <a:t>      "source_id": "tour-api:2865847",</a:t>
            </a:r>
          </a:p>
          <a:p>
            <a:r>
              <a:t>      "content_id": "2865847",</a:t>
            </a:r>
          </a:p>
          <a:p>
            <a:r>
              <a:t>      "source_url": "https://apis.data.go.kr/B551011/KorService2",</a:t>
            </a:r>
          </a:p>
          <a:p>
            <a:r>
              <a:t>      "source_type": "open_api",</a:t>
            </a:r>
          </a:p>
          <a:p>
            <a:r>
              <a:t>      "content_type_id": "39"</a:t>
            </a:r>
          </a:p>
          <a:p>
            <a:r>
              <a:t>    },</a:t>
            </a:r>
          </a:p>
          <a:p>
            <a:r>
              <a:t>    {</a:t>
            </a:r>
          </a:p>
          <a:p>
            <a:r>
              <a:t>      "title": "도마큰시장",</a:t>
            </a:r>
          </a:p>
          <a:p>
            <a:r>
              <a:t>      "address": "대전광역시 서구 도마4길 69 (도마동)",</a:t>
            </a:r>
          </a:p>
          <a:p>
            <a:r>
              <a:t>      "summary": "한국관광공사 국문관광정보 API가 반환한 선택 지역 관광자원",</a:t>
            </a:r>
          </a:p>
          <a:p>
            <a:r>
              <a:t>      "image_url": "http://tong.visitkorea.or.kr/cms/resource/34/3565534_image2_1.jpg",</a:t>
            </a:r>
          </a:p>
          <a:p>
            <a:r>
              <a:t>      "source_id": "tour-api:2758334",</a:t>
            </a:r>
          </a:p>
          <a:p>
            <a:r>
              <a:t>      "content_id": "2758334",</a:t>
            </a:r>
          </a:p>
          <a:p>
            <a:r>
              <a:t>      "source_url": "https://apis.data.go.kr/B551011/KorService2",</a:t>
            </a:r>
          </a:p>
          <a:p>
            <a:r>
              <a:t>      "source_type": "open_api",</a:t>
            </a:r>
          </a:p>
          <a:p>
            <a:r>
              <a:t>      "content_type_id": "38"</a:t>
            </a:r>
          </a:p>
          <a:p>
            <a:r>
              <a:t>    },</a:t>
            </a:r>
          </a:p>
          <a:p>
            <a:r>
              <a:t>    {</a:t>
            </a:r>
          </a:p>
          <a:p>
            <a:r>
              <a:t>      "title": "도산서원(대전)",</a:t>
            </a:r>
          </a:p>
          <a:p>
            <a:r>
              <a:t>      "address": "대전광역시 서구 남선로 8",</a:t>
            </a:r>
          </a:p>
          <a:p>
            <a:r>
              <a:t>      "summary": "한국관광공사 국문관광정보 API가 반환한 선택 지역 관광자원",</a:t>
            </a:r>
          </a:p>
          <a:p>
            <a:r>
              <a:t>      "image_url": "http://tong.visitkorea.or.kr/cms/resource/24/3035024_image2_1.JPG",</a:t>
            </a:r>
          </a:p>
          <a:p>
            <a:r>
              <a:t>      "source_id": "tour-api:1955818",</a:t>
            </a:r>
          </a:p>
          <a:p>
            <a:r>
              <a:t>      "content_id": "1955818",</a:t>
            </a:r>
          </a:p>
          <a:p>
            <a:r>
              <a:t>      "source_url": "https://apis.data.go.kr/B551011/KorService2",</a:t>
            </a:r>
          </a:p>
          <a:p>
            <a:r>
              <a:t>      "source_type": "open_api",</a:t>
            </a:r>
          </a:p>
          <a:p>
            <a:r>
              <a:t>      "content_type_id": "12"</a:t>
            </a:r>
          </a:p>
          <a:p>
            <a:r>
              <a:t>    },</a:t>
            </a:r>
          </a:p>
          <a:p>
            <a:r>
              <a:t>    {</a:t>
            </a:r>
          </a:p>
          <a:p>
            <a:r>
              <a:t>      "title": "둔산꽃시장",</a:t>
            </a:r>
          </a:p>
          <a:p>
            <a:r>
              <a:t>      "address": "대전광역시 서구 둔산북로 22 (둔산동)",</a:t>
            </a:r>
          </a:p>
          <a:p>
            <a:r>
              <a:t>      "summary": "한국관광공사 국문관광정보 API가 반환한 선택 지역 관광자원",</a:t>
            </a:r>
          </a:p>
          <a:p>
            <a:r>
              <a:t>      "image_url": "http://tong.visitkorea.or.kr/cms/resource/31/2758631_image2_1.jpg",</a:t>
            </a:r>
          </a:p>
          <a:p>
            <a:r>
              <a:t>      "source_id": "tour-api:2758341",</a:t>
            </a:r>
          </a:p>
          <a:p>
            <a:r>
              <a:t>      "content_id": "2758341",</a:t>
            </a:r>
          </a:p>
          <a:p>
            <a:r>
              <a:t>      "source_url": "https://apis.data.go.kr/B551011/KorService2",</a:t>
            </a:r>
          </a:p>
          <a:p>
            <a:r>
              <a:t>      "source_type": "open_api",</a:t>
            </a:r>
          </a:p>
          <a:p>
            <a:r>
              <a:t>      "content_type_id": "38"</a:t>
            </a:r>
          </a:p>
          <a:p>
            <a:r>
              <a:t>    },</a:t>
            </a:r>
          </a:p>
          <a:p>
            <a:r>
              <a:t>    {</a:t>
            </a:r>
          </a:p>
          <a:p>
            <a:r>
              <a:t>      "title": "둔산전자타운",</a:t>
            </a:r>
          </a:p>
          <a:p>
            <a:r>
              <a:t>      "address": "대전광역시 서구 도산로403번길 21",</a:t>
            </a:r>
          </a:p>
          <a:p>
            <a:r>
              <a:t>      "summary": "한국관광공사 국문관광정보 API가 반환한 선택 지역 관광자원",</a:t>
            </a:r>
          </a:p>
          <a:p>
            <a:r>
              <a:t>      "image_url": "http://tong.visitkorea.or.kr/cms/resource/60/3565560_image2_1.jpg",</a:t>
            </a:r>
          </a:p>
          <a:p>
            <a:r>
              <a:t>      "source_id": "tour-api:1623725",</a:t>
            </a:r>
          </a:p>
          <a:p>
            <a:r>
              <a:t>      "content_id": "1623725",</a:t>
            </a:r>
          </a:p>
          <a:p>
            <a:r>
              <a:t>      "source_url": "https://apis.data.go.kr/B551011/KorService2",</a:t>
            </a:r>
          </a:p>
          <a:p>
            <a:r>
              <a:t>      "source_type": "open_api",</a:t>
            </a:r>
          </a:p>
          <a:p>
            <a:r>
              <a:t>      "content_type_id": "38"</a:t>
            </a:r>
          </a:p>
          <a:p>
            <a:r>
              <a:t>    },</a:t>
            </a:r>
          </a:p>
          <a:p>
            <a:r>
              <a:t>    {</a:t>
            </a:r>
          </a:p>
          <a:p>
            <a:r>
              <a:t>      "title": "롯데백화점 (대전점)",</a:t>
            </a:r>
          </a:p>
          <a:p>
            <a:r>
              <a:t>      "address": "대전광역시 서구 계룡로 598 (괴정동)",</a:t>
            </a:r>
          </a:p>
          <a:p>
            <a:r>
              <a:t>      "summary": "한국관광공사 국문관광정보 API가 반환한 선택 지역 관광자원",</a:t>
            </a:r>
          </a:p>
          <a:p>
            <a:r>
              <a:t>      "image_url": "http://tong.visitkorea.or.kr/cms/resource/21/3443221_image2_1.jpg",</a:t>
            </a:r>
          </a:p>
          <a:p>
            <a:r>
              <a:t>      "source_id": "tour-api:132661",</a:t>
            </a:r>
          </a:p>
          <a:p>
            <a:r>
              <a:t>      "content_id": "132661",</a:t>
            </a:r>
          </a:p>
          <a:p>
            <a:r>
              <a:t>      "source_url": "https://apis.data.go.kr/B551011/KorService2",</a:t>
            </a:r>
          </a:p>
          <a:p>
            <a:r>
              <a:t>      "source_type": "open_api",</a:t>
            </a:r>
          </a:p>
          <a:p>
            <a:r>
              <a:t>      "content_type_id": "38"</a:t>
            </a:r>
          </a:p>
          <a:p>
            <a:r>
              <a:t>    },</a:t>
            </a:r>
          </a:p>
          <a:p>
            <a:r>
              <a:t>    {</a:t>
            </a:r>
          </a:p>
          <a:p>
            <a:r>
              <a:t>      "title": "마치광장",</a:t>
            </a:r>
          </a:p>
          <a:p>
            <a:r>
              <a:t>      "address": "대전광역시 서구 구봉로131번길 27",</a:t>
            </a:r>
          </a:p>
          <a:p>
            <a:r>
              <a:t>      "summary": "한국관광공사 국문관광정보 API가 반환한 선택 지역 관광자원",</a:t>
            </a:r>
          </a:p>
          <a:p>
            <a:r>
              <a:t>      "image_url": "http://tong.visitkorea.or.kr/cms/resource/16/3542516_image2_1.jpg",</a:t>
            </a:r>
          </a:p>
          <a:p>
            <a:r>
              <a:t>      "source_id": "tour-api:2758646",</a:t>
            </a:r>
          </a:p>
          <a:p>
            <a:r>
              <a:t>      "content_id": "2758646",</a:t>
            </a:r>
          </a:p>
          <a:p>
            <a:r>
              <a:t>      "source_url": "https://apis.data.go.kr/B551011/KorService2",</a:t>
            </a:r>
          </a:p>
          <a:p>
            <a:r>
              <a:t>      "source_type": "open_api",</a:t>
            </a:r>
          </a:p>
          <a:p>
            <a:r>
              <a:t>      "content_type_id": "12"</a:t>
            </a:r>
          </a:p>
          <a:p>
            <a:r>
              <a:t>    },</a:t>
            </a:r>
          </a:p>
          <a:p>
            <a:r>
              <a:t>    {</a:t>
            </a:r>
          </a:p>
          <a:p>
            <a:r>
              <a:t>      "title": "몽뜨",</a:t>
            </a:r>
          </a:p>
          <a:p>
            <a:r>
              <a:t>      "address": "대전광역시 서구 원도안로257번길 48 (도안동)",</a:t>
            </a:r>
          </a:p>
          <a:p>
            <a:r>
              <a:t>      "summary": "한국관광공사 국문관광정보 API가 반환한 선택 지역 관광자원",</a:t>
            </a:r>
          </a:p>
          <a:p>
            <a:r>
              <a:t>      "image_url": "http://tong.visitkorea.or.kr/cms/resource/35/2899535_image2_1.jpg",</a:t>
            </a:r>
          </a:p>
          <a:p>
            <a:r>
              <a:t>      "source_id": "tour-api:2899544",</a:t>
            </a:r>
          </a:p>
          <a:p>
            <a:r>
              <a:t>      "content_id": "2899544",</a:t>
            </a:r>
          </a:p>
          <a:p>
            <a:r>
              <a:t>      "source_url": "https://apis.data.go.kr/B551011/KorService2",</a:t>
            </a:r>
          </a:p>
          <a:p>
            <a:r>
              <a:t>      "source_type": "open_api",</a:t>
            </a:r>
          </a:p>
          <a:p>
            <a:r>
              <a:t>      "content_type_id": "39"</a:t>
            </a:r>
          </a:p>
          <a:p>
            <a:r>
              <a:t>    },</a:t>
            </a:r>
          </a:p>
          <a:p>
            <a:r>
              <a:t>    {</a:t>
            </a:r>
          </a:p>
          <a:p>
            <a:r>
              <a:t>      "title": "미세노센세",</a:t>
            </a:r>
          </a:p>
          <a:p>
            <a:r>
              <a:t>      "address": "대전광역시 서구 계룡로553번안길 65 (탄방동)",</a:t>
            </a:r>
          </a:p>
          <a:p>
            <a:r>
              <a:t>      "summary": "한국관광공사 국문관광정보 API가 반환한 선택 지역 관광자원",</a:t>
            </a:r>
          </a:p>
          <a:p>
            <a:r>
              <a:t>      "image_url": "http://tong.visitkorea.or.kr/cms/resource/05/2865905_image2_1.jpg",</a:t>
            </a:r>
          </a:p>
          <a:p>
            <a:r>
              <a:t>      "source_id": "tour-api:2865914",</a:t>
            </a:r>
          </a:p>
          <a:p>
            <a:r>
              <a:t>      "content_id": "2865914",</a:t>
            </a:r>
          </a:p>
          <a:p>
            <a:r>
              <a:t>      "source_url": "https://apis.data.go.kr/B551011/KorService2",</a:t>
            </a:r>
          </a:p>
          <a:p>
            <a:r>
              <a:t>      "source_type": "open_api",</a:t>
            </a:r>
          </a:p>
          <a:p>
            <a:r>
              <a:t>      "content_type_id": "39"</a:t>
            </a:r>
          </a:p>
          <a:p>
            <a:r>
              <a:t>    },</a:t>
            </a:r>
          </a:p>
          <a:p>
            <a:r>
              <a:t>    {</a:t>
            </a:r>
          </a:p>
          <a:p>
            <a:r>
              <a:t>      "title": "요즘, 한국관광 2호 - 지방공항 연계 지역관광 활성화 방안",</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"chunk_id": "reference:kto:2026:local-airport:page:044:chunk:01",</a:t>
            </a:r>
          </a:p>
          <a:p>
            <a:r>
              <a:t>      "source_id": "reference:kto:2026:local-airport",</a:t>
            </a:r>
          </a:p>
          <a:p>
            <a:r>
              <a:t>      "source_url": "https://datalab.visitkorea.or.kr/site/portal/ex/bbs/View.do?bcIdx=311068&amp;cbIdx=1135&amp;pageIndex=1",</a:t>
            </a:r>
          </a:p>
          <a:p>
            <a:r>
              <a:t>      "case_region": "",</a:t>
            </a:r>
          </a:p>
          <a:p>
            <a:r>
              <a:t>      "region_code": "ALL",</a:t>
            </a:r>
          </a:p>
          <a:p>
            <a:r>
              <a:t>      "region_name": "전국 공통",</a:t>
            </a:r>
          </a:p>
          <a:p>
            <a:r>
              <a:t>      "source_note": "지방공항·연계 지역에 관한 자료입니다. 다른 시군구의 사업 효과·예산을 보장하는 근거로 사용하지 않습니다.",</a:t>
            </a:r>
          </a:p>
          <a:p>
            <a:r>
              <a:t>      "source_type": "rag",</a:t>
            </a:r>
          </a:p>
          <a:p>
            <a:r>
              <a:t>      "intervention": "",</a:t>
            </a:r>
          </a:p>
          <a:p>
            <a:r>
              <a:t>      "document_type": "policy",</a:t>
            </a:r>
          </a:p>
          <a:p>
            <a:r>
              <a:t>      "matched_terms": [</a:t>
            </a:r>
          </a:p>
          <a:p>
            <a:r>
              <a:t>        "관광",</a:t>
            </a:r>
          </a:p>
          <a:p>
            <a:r>
              <a:t>        "상권",</a:t>
            </a:r>
          </a:p>
          <a:p>
            <a:r>
              <a:t>        "성과",</a:t>
            </a:r>
          </a:p>
          <a:p>
            <a:r>
              <a:t>        "소비",</a:t>
            </a:r>
          </a:p>
          <a:p>
            <a:r>
              <a:t>        "수와",</a:t>
            </a:r>
          </a:p>
          <a:p>
            <a:r>
              <a:t>        "숙박",</a:t>
            </a:r>
          </a:p>
          <a:p>
            <a:r>
              <a:t>        "실제",</a:t>
            </a:r>
          </a:p>
          <a:p>
            <a:r>
              <a:t>        "연결한",</a:t>
            </a:r>
          </a:p>
          <a:p>
            <a:r>
              <a:t>        "예산",</a:t>
            </a:r>
          </a:p>
          <a:p>
            <a:r>
              <a:t>        "운영",</a:t>
            </a:r>
          </a:p>
          <a:p>
            <a:r>
              <a:t>        "정책",</a:t>
            </a:r>
          </a:p>
          <a:p>
            <a:r>
              <a:t>        "중심으로",</a:t>
            </a:r>
          </a:p>
          <a:p>
            <a:r>
              <a:t>        "지역",</a:t>
            </a:r>
          </a:p>
          <a:p>
            <a:r>
              <a:t>        "체류",</a:t>
            </a:r>
          </a:p>
          <a:p>
            <a:r>
              <a:t>        "함께"</a:t>
            </a:r>
          </a:p>
          <a:p>
            <a:r>
              <a:t>      ],</a:t>
            </a:r>
          </a:p>
          <a:p>
            <a:r>
              <a:t>      "page_references": "PDF 44쪽, PDF 40쪽, PDF 41쪽, PDF 41쪽, PDF 43쪽",</a:t>
            </a:r>
          </a:p>
          <a:p>
            <a:r>
              <a:t>      "parent_source_id": "reference:kto:2026:local-airport",</a:t>
            </a:r>
          </a:p>
          <a:p>
            <a:r>
              <a:t>      "retrieval_method": "local_curated_chunk",</a:t>
            </a:r>
          </a:p>
          <a:p>
            <a:r>
              <a:t>      "evidence_strength": "medium",</a:t>
            </a:r>
          </a:p>
          <a:p>
            <a:r>
              <a:t>      "published_or_updated_at": "2026-08",</a:t>
            </a:r>
          </a:p>
          <a:p>
            <a:r>
              <a:t>      "chunk_ids": [</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"reference:kto:2026:local-airport:page:044:chunk:01"</a:t>
            </a:r>
          </a:p>
          <a:p>
            <a:r>
              <a:t>      ],</a:t>
            </a:r>
          </a:p>
          <a:p>
            <a:r>
              <a:t>      "source_chunk_count": 5</a:t>
            </a:r>
          </a:p>
          <a:p>
            <a:r>
              <a:t>    },</a:t>
            </a:r>
          </a:p>
          <a:p>
            <a:r>
              <a:t>    {</a:t>
            </a:r>
          </a:p>
          <a:p>
            <a:r>
              <a:t>      "title": "여행가는 달 지역 여행할인 모아보기",</a:t>
            </a:r>
          </a:p>
          <a:p>
            <a:r>
              <a:t>      "summary": "한국관광공사 ‘여행가는 달’ 페이지에는 대전관광공사·대전광역시의 ‘대전관광상품 최대 1만원 할인’이 2026-09-21부터 2026-10-18까지 ‘진행예정’으로 게시되어 있다.",</a:t>
            </a:r>
          </a:p>
          <a:p>
            <a:r>
              <a:t>      "source_id": "web:30170:1",</a:t>
            </a:r>
          </a:p>
          <a:p>
            <a:r>
              <a:t>      "source_url": "https://korean.visitkorea.or.kr/travelmonth/benefit.do?modal=benefit-190",</a:t>
            </a:r>
          </a:p>
          <a:p>
            <a:r>
              <a:t>      "source_type": "official_web",</a:t>
            </a:r>
          </a:p>
          <a:p>
            <a:r>
              <a:t>      "why_relevant": "확정된 실행기간(2026-10-01~2026-12-31) 중 10월 초·중순과 겹치는 기존 관광할인 일정이다. 신규 할인 재원을 가정하기보다, 서구 소재 상품 또는 참여처가 이 할인에 포함될 수 있는지 먼저 대전관광공사·운영주체와 확인할 근거가 된다. 할인 적용 대상, 서구 참여 여부, 중복지원 가능 여부, 정산방식은 이 문서만으로 확인되지 않는다.",</a:t>
            </a:r>
          </a:p>
          <a:p>
            <a:r>
              <a:t>      "published_or_updated_at": "2026-09-17 기준 페이지 확인; 행사 예정 기간 2026-09-21~2026-10-18"</a:t>
            </a:r>
          </a:p>
          <a:p>
            <a:r>
              <a:t>    },</a:t>
            </a:r>
          </a:p>
          <a:p>
            <a:r>
              <a:t>    {</a:t>
            </a:r>
          </a:p>
          <a:p>
            <a:r>
              <a:t>      "title": "대전광역시_문화시설 | 공공데이터포털",</a:t>
            </a:r>
          </a:p>
          <a:p>
            <a:r>
              <a:t>      "summary": "공공데이터포털의 ‘대전광역시_문화시설’ OpenAPI는 공연장·전시관·박물관·도서관·체육관 등 문화시설의 위치, 명칭, 시설유형, 운영시간, 연락처 정보를 제공하며, 제공기관은 대전광역시이다.",</a:t>
            </a:r>
          </a:p>
          <a:p>
            <a:r>
              <a:t>      "source_id": "web:30170:2",</a:t>
            </a:r>
          </a:p>
          <a:p>
            <a:r>
              <a:t>      "source_url": "https://www.data.go.kr/data/15112114/openapi.do?recommendDataYn=Y",</a:t>
            </a:r>
          </a:p>
          <a:p>
            <a:r>
              <a:t>      "source_type": "official_web",</a:t>
            </a:r>
          </a:p>
          <a:p>
            <a:r>
              <a:t>      "why_relevant": "서구 체류 연장 파일럿의 참여 후보를 선정할 때 운영시간과 연락처를 공식 데이터로 대조할 수 있다. 특히 야간·주말 운영 가능 여부를 실제 데이터와 시설별 협의로 확인한 뒤, 10~12월 동선과 안내 페이지를 구성하는 데 활용할 수 있다. 이 데이터셋 설명만으로 특정 시설의 운영시간이나 행사 참여가 확정되는 것은 아니다.",</a:t>
            </a:r>
          </a:p>
          <a:p>
            <a:r>
              <a:t>      "published_or_updated_at": "수정일 2025-07-23"</a:t>
            </a:r>
          </a:p>
          <a:p>
            <a:r>
              <a:t>    },</a:t>
            </a:r>
          </a:p>
          <a:p>
            <a:r>
              <a:t>    {</a:t>
            </a:r>
          </a:p>
          <a:p>
            <a:r>
              <a:t>      "title": "대전광역시 문화관광(숙박정보) 데이터 | 공공데이터포털",</a:t>
            </a:r>
          </a:p>
          <a:p>
            <a:r>
              <a:t>      "summary": "공공데이터포털에는 대전광역시 문화관광 숙박정보 OpenAPI가 있으며, 호텔·모텔·게스트하우스·펜션 등 숙박시설을 행정구역별로 분류하고 위치·연락처·부대시설 등의 정보를 제공한다고 명시되어 있다.",</a:t>
            </a:r>
          </a:p>
          <a:p>
            <a:r>
              <a:t>      "source_id": "web:30170:3",</a:t>
            </a:r>
          </a:p>
          <a:p>
            <a:r>
              <a:t>      "source_url": "https://www.data.go.kr/dataset/15001021/openapi.do",</a:t>
            </a:r>
          </a:p>
          <a:p>
            <a:r>
              <a:t>      "source_type": "official_web",</a:t>
            </a:r>
          </a:p>
          <a:p>
            <a:r>
              <a:t>      "why_relevant": "숙박 연계는 숙박업소의 실제 참여의사와 판매 가능 객실을 확인하기 전에는 확정할 수 없지만, 공식 숙박정보를 이용해 서구 소재 후보 업소를 우선 목록화하고 연락·운영조건 확인 절차를 설계할 수 있다. 제공된 내부 관측의 숙박방문 비율과 평균 숙박일수 개선을 직접 보장하는 근거는 아니다.",</a:t>
            </a:r>
          </a:p>
          <a:p>
            <a:r>
              <a:t>      "published_or_updated_at": "페이지 확인일 2026-09-17"</a:t>
            </a:r>
          </a:p>
          <a:p>
            <a:r>
              <a:t>    },</a:t>
            </a:r>
          </a:p>
          <a:p>
            <a:r>
              <a:t>    {</a:t>
            </a:r>
          </a:p>
          <a:p>
            <a:r>
              <a:t>      "title": "대전문화관광해설사 신규 양성 교육 | 한국관광공사 관광e배움터",</a:t>
            </a:r>
          </a:p>
          <a:p>
            <a:r>
              <a:t>      "summary": "(사)대전광역시관광협회는 2026-07-01~2026-08-31에 ‘대전문화관광해설사 신규 양성 교육’을 운영했으며, 과정 목표는 대전 관광자원을 설명할 전문 해설 인력 양성이다. 과정은 60시간, 신청인원은 13명으로 게시되어 있다.",</a:t>
            </a:r>
          </a:p>
          <a:p>
            <a:r>
              <a:t>      "source_id": "web:30170:4",</a:t>
            </a:r>
          </a:p>
          <a:p>
            <a:r>
              <a:t>      "source_url": "https://touredu.visitkorea.or.kr/home/pkgEdu/pkgEduDetail?crsCd=C202600107&amp;eduPlanYr=2026&amp;eduPlanYrStepCnt=1",</a:t>
            </a:r>
          </a:p>
          <a:p>
            <a:r>
              <a:t>      "source_type": "official_web",</a:t>
            </a:r>
          </a:p>
          <a:p>
            <a:r>
              <a:t>      "why_relevant": "해설·현장안내를 포함하는 방식은 완전히 새로운 인력체계를 만드는 대신, 대전광역시관광협회에 10~12월 서구 권역 배치 가능 여부와 운영조건을 문의하는 조건부 선택지가 될 수 있다. 이 교육 이력은 해설사의 실제 배치, 유급 운영, 서구 코스 담당 또는 특정 언어 서비스 제공을 보장하지 않는다.",</a:t>
            </a:r>
          </a:p>
          <a:p>
            <a:r>
              <a:t>      "published_or_updated_at": "신청·학습기간 2026-07-01~2026-08-31"</a:t>
            </a:r>
          </a:p>
          <a:p>
            <a:r>
              <a:t>    },</a:t>
            </a:r>
          </a:p>
          <a:p>
            <a:r>
              <a:t>    {</a:t>
            </a:r>
          </a:p>
          <a:p>
            <a:r>
              <a:t>      "title": "대전광역시 서구_체육시설 현황 | 공공데이터포털",</a:t>
            </a:r>
          </a:p>
          <a:p>
            <a:r>
              <a:t>      "summary": "공공데이터포털의 ‘대전광역시 서구_체육시설 현황’ 파일은 서구 소재 체육시설의 명칭·주소·면적·운동시설 종류·최대 수용 가능 인원·연락처·관리기관·데이터 기준일자 항목을 포함한다고 명시한다.",</a:t>
            </a:r>
          </a:p>
          <a:p>
            <a:r>
              <a:t>      "source_id": "web:30170:5",</a:t>
            </a:r>
          </a:p>
          <a:p>
            <a:r>
              <a:t>      "source_url": "https://www.data.go.kr/dataset/15037511/fileData.do",</a:t>
            </a:r>
          </a:p>
          <a:p>
            <a:r>
              <a:t>      "source_type": "official_web",</a:t>
            </a:r>
          </a:p>
          <a:p>
            <a:r>
              <a:t>      "why_relevant": "10~12월 체육·공연·문화시설을 체류 콘텐츠 후보로 검토할 경우, 시설의 물리적 수용 조건과 관리기관을 공식 목록으로 확인할 수 있다. 다만 파일 설명만으로 해당 시설의 대관 가능일, 대관료, 행사 가능 시간 또는 관광객 대상 운영 의사가 확인되는 것은 아니다.",</a:t>
            </a:r>
          </a:p>
          <a:p>
            <a:r>
              <a:t>      "published_or_updated_at": "페이지 확인일 2026-09-17"</a:t>
            </a:r>
          </a:p>
          <a:p>
            <a:r>
              <a:t>    },</a:t>
            </a:r>
          </a:p>
          <a:p>
            <a:r>
              <a:t>    {</a:t>
            </a:r>
          </a:p>
          <a:p>
            <a:r>
              <a:t>      "title": "제4차 관광개발기본계획 발표 관련 문화체육관광부 보도자료",</a:t>
            </a:r>
          </a:p>
          <a:p>
            <a:r>
              <a:t>      "summary": "제4차 관광개발기본계획 관련 문화체육관광부 자료는 대전·세종·충청권을 관광 성장 지역 권역 중 하나로 제시하고, 부처·지역 간 연계협력과 지역 여건에 맞는 권역별 발전전략 수립 방향을 밝힌다.",</a:t>
            </a:r>
          </a:p>
          <a:p>
            <a:r>
              <a:t>      "source_id": "web:30170:6",</a:t>
            </a:r>
          </a:p>
          <a:p>
            <a:r>
              <a:t>      "source_url": "https://www.mcst.go.kr/servlets/eduport/front/upload/UplDownloadFile?pFileName=%5B1230%5D%EB%AC%B8%EC%B2%B4%EB%B6%80%EB%B3%B4%EB%8F%84%EC%9E%90%EB%A3%8C-%EC%A0%9C4%EC%B0%A8+%EA%B4%80%EA%B4%91%EA%B0%9C%EB%B0%9C%EA%B8%B0%EB%B3%B8%EA%B3%84%ED%9A%8D+%EB%B0%9C%ED%91%9C.pdf&amp;pPath=0302000000&amp;pRealName=20211230083238607242235788_PRESS20211230083238374598.pdf",</a:t>
            </a:r>
          </a:p>
          <a:p>
            <a:r>
              <a:t>      "source_type": "official_web",</a:t>
            </a:r>
          </a:p>
          <a:p>
            <a:r>
              <a:t>      "why_relevant": "서구 단독의 대규모 시설 신설보다 인접 생활·관광권 및 기존 관광사업과의 연계를 검토하는 정책 참고 근거다. 이는 서구 사업의 국비지원 확정, 개별 사업 적격성 또는 성과를 뜻하지 않는다.",</a:t>
            </a:r>
          </a:p>
          <a:p>
            <a:r>
              <a:t>      "published_or_updated_at": "2021-12-30"</a:t>
            </a:r>
          </a:p>
          <a:p>
            <a:r>
              <a:t>    },</a:t>
            </a:r>
          </a:p>
          <a:p>
            <a:r>
              <a:t>    {</a:t>
            </a:r>
          </a:p>
          <a:p>
            <a:r>
              <a:t>      "title": "한국관광 데이터랩 · 안동탈춤축제 연도별 방문자 추이",</a:t>
            </a:r>
          </a:p>
          <a:p>
            <a:r>
              <a:t>      "summary": "경상북도 안동시 · 2025 안동탈춤축제: 10일간 집중 운영한 공연·문화형 축제 · 2024→2025년 전체 504,573→554,494명 (+9.89%). 개최 10→10일, 일평균 +9.89%, 외지인 +10.75%.",</a:t>
            </a:r>
          </a:p>
          <a:p>
            <a:r>
              <a:t>      "source_id": "case:41508ca81cf29f",</a:t>
            </a:r>
          </a:p>
          <a:p>
            <a:r>
              <a:t>      "source_url": "https://datalab.visitkorea.or.kr/",</a:t>
            </a:r>
          </a:p>
          <a:p>
            <a:r>
              <a:t>      "case_region": "경상북도 안동시",</a:t>
            </a:r>
          </a:p>
          <a:p>
            <a:r>
              <a:t>      "source_type": "benchmark_case",</a:t>
            </a:r>
          </a:p>
          <a:p>
            <a:r>
              <a:t>      "dataset_hash": "ad20e3daf70fd44fd481d672398c07bb9c96fce77acb450784065a568735e2e2",</a:t>
            </a:r>
          </a:p>
          <a:p>
            <a:r>
              <a:t>      "intervention": "2025 안동탈춤축제: 10일간 집중 운영한 공연·문화형 축제",</a:t>
            </a:r>
          </a:p>
          <a:p>
            <a:r>
              <a:t>      "source_files": [</a:t>
            </a:r>
          </a:p>
          <a:p>
            <a:r>
              <a:t>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a:t>
            </a:r>
          </a:p>
          <a:p>
            <a:r>
              <a:t>          "sha256": "c0b34e003112bda1f5afa06dcb153cc870d61730036ef23f1b3e7aed39ca5458",</a:t>
            </a:r>
          </a:p>
          <a:p>
            <a:r>
              <a:t>          "provider": "한국관광 데이터랩",</a:t>
            </a:r>
          </a:p>
          <a:p>
            <a:r>
              <a:t>          "file_name": "20260820175023_안동탈춤축제_성_연령별 내국인 방문자.csv",</a:t>
            </a:r>
          </a:p>
          <a:p>
            <a:r>
              <a:t>          "source_id": "festival-file:c0b34e003112bda1f5af",</a:t>
            </a:r>
          </a:p>
          <a:p>
            <a:r>
              <a:t>          "source_url": "https://datalab.visitkorea.or.kr/",</a:t>
            </a:r>
          </a:p>
          <a:p>
            <a:r>
              <a:t>          "downloaded_at": "2026-08-20",</a:t>
            </a:r>
          </a:p>
          <a:p>
            <a:r>
              <a:t>          "relative_path": "data/source_snapshots/festivals_20260820/43. 안동탈춤축제_2023-2025/20260820175023_안동탈춤축제_성_연령별 내국인 방문자.csv",</a:t>
            </a:r>
          </a:p>
          <a:p>
            <a:r>
              <a:t>          "provenance_status": "team_download_exact_query_url_unrecorded"</a:t>
            </a:r>
          </a:p>
          <a:p>
            <a:r>
              <a:t>        },</a:t>
            </a:r>
          </a:p>
          <a:p>
            <a:r>
              <a:t>        {</a:t>
            </a:r>
          </a:p>
          <a:p>
            <a:r>
              <a:t>          "sha256": "40ddabd2e46fcb12bc9cc2361174e1a5ebe80f169611896b6d4b5e60d9fda352",</a:t>
            </a:r>
          </a:p>
          <a:p>
            <a:r>
              <a:t>          "provider": "한국관광 데이터랩",</a:t>
            </a:r>
          </a:p>
          <a:p>
            <a:r>
              <a:t>          "file_name": "20260820175023_안동탈춤축제_문화관광축제 주요 지표.csv",</a:t>
            </a:r>
          </a:p>
          <a:p>
            <a:r>
              <a:t>          "source_id": "festival-file:40ddabd2e46fcb12bc9c",</a:t>
            </a:r>
          </a:p>
          <a:p>
            <a:r>
              <a:t>          "source_url": "https://datalab.visitkorea.or.kr/",</a:t>
            </a:r>
          </a:p>
          <a:p>
            <a:r>
              <a:t>          "downloaded_at": "2026-08-20",</a:t>
            </a:r>
          </a:p>
          <a:p>
            <a:r>
              <a:t>          "relative_path": "data/source_snapshots/festivals_20260820/43. 안동탈춤축제_2023-2025/20260820175023_안동탈춤축제_문화관광축제 주요 지표.csv",</a:t>
            </a:r>
          </a:p>
          <a:p>
            <a:r>
              <a:t>          "provenance_status": "team_download_exact_query_url_unrecorded"</a:t>
            </a:r>
          </a:p>
          <a:p>
            <a:r>
              <a:t>        },</a:t>
            </a:r>
          </a:p>
          <a:p>
            <a:r>
              <a:t>        {</a:t>
            </a:r>
          </a:p>
          <a:p>
            <a:r>
              <a:t>          "sha256": "11de7e20288dde00f7f18e353a24b5a95c511a7dc354ec9cc2c7a3a2436712f6",</a:t>
            </a:r>
          </a:p>
          <a:p>
            <a:r>
              <a:t>          "provider": "한국관광 데이터랩",</a:t>
            </a:r>
          </a:p>
          <a:p>
            <a:r>
              <a:t>          "file_name": "20260820175023_안동탈춤축제_목적지 검색순위.csv",</a:t>
            </a:r>
          </a:p>
          <a:p>
            <a:r>
              <a:t>          "source_id": "festival-file:11de7e20288dde00f7f1",</a:t>
            </a:r>
          </a:p>
          <a:p>
            <a:r>
              <a:t>          "source_url": "https://datalab.visitkorea.or.kr/",</a:t>
            </a:r>
          </a:p>
          <a:p>
            <a:r>
              <a:t>          "downloaded_at": "2026-08-20",</a:t>
            </a:r>
          </a:p>
          <a:p>
            <a:r>
              <a:t>          "relative_path": "data/source_snapshots/festivals_20260820/43. 안동탈춤축제_2023-2025/20260820175023_안동탈춤축제_목적지 검색순위.csv",</a:t>
            </a:r>
          </a:p>
          <a:p>
            <a:r>
              <a:t>          "provenance_status": "team_download_exact_query_url_unrecorded"</a:t>
            </a:r>
          </a:p>
          <a:p>
            <a:r>
              <a:t>        }</a:t>
            </a:r>
          </a:p>
          <a:p>
            <a:r>
              <a:t>      ],</a:t>
            </a:r>
          </a:p>
          <a:p>
            <a:r>
              <a:t>      "document_type": null,</a:t>
            </a:r>
          </a:p>
          <a:p>
            <a:r>
              <a:t>      "evidence_kind": "festival_document_and_statistics",</a:t>
            </a:r>
          </a:p>
          <a:p>
            <a:r>
              <a:t>      "observed_result": "2024→2025년 전체 504,573→554,494명 (+9.89%). 개최 10→10일, 일평균 +9.89%, 외지인 +10.75%.",</a:t>
            </a:r>
          </a:p>
          <a:p>
            <a:r>
              <a:t>      "operating_model": "2025년 10일간 운영된 지역문화 축제다. 관광데이터랩 보유 CSV에서 개최일수와 관측구역 방문지표는 확인되지만 프로그램별 예약, 정원, 결제, 상권 제휴 구조는 확인되지 않아 대전 서구 운영안으로 복사하지 않는다.",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"공연·문화",</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"official_web_search",</a:t>
            </a:r>
          </a:p>
          <a:p>
            <a:r>
              <a:t>      "evidence_strength": "medium",</a:t>
            </a:r>
          </a:p>
          <a:p>
            <a:r>
              <a:t>      "retrieval_context": {</a:t>
            </a:r>
          </a:p>
          <a:p>
            <a:r>
              <a:t>        "scope": "cross_province",</a:t>
            </a:r>
          </a:p>
          <a:p>
            <a:r>
              <a:t>        "peer_region_code": null</a:t>
            </a:r>
          </a:p>
          <a:p>
            <a:r>
              <a:t>      },</a:t>
            </a:r>
          </a:p>
          <a:p>
            <a:r>
              <a:t>      "measurement_period": "2024년과 2025년 각 축제 10일 개최기간 비교",</a:t>
            </a:r>
          </a:p>
          <a:p>
            <a:r>
              <a:t>      "festival_statistics": {</a:t>
            </a:r>
          </a:p>
          <a:p>
            <a:r>
              <a:t>        "name": "안동탈춤축제",</a:t>
            </a:r>
          </a:p>
          <a:p>
            <a:r>
              <a:t>        "scope": "축제 관측구역 방문 지표. 도시 전체·순증 관광객·입장권 실구매자 수가 아님.",</a:t>
            </a:r>
          </a:p>
          <a:p>
            <a:r>
              <a:t>        "annual": [</a:t>
            </a:r>
          </a:p>
          <a:p>
            <a:r>
              <a:t>          {</a:t>
            </a:r>
          </a:p>
          <a:p>
            <a:r>
              <a:t>            "days": 8,</a:t>
            </a:r>
          </a:p>
          <a:p>
            <a:r>
              <a:t>            "year": 2023,</a:t>
            </a:r>
          </a:p>
          <a:p>
            <a:r>
              <a:t>            "daily": 45517.125,</a:t>
            </a:r>
          </a:p>
          <a:p>
            <a:r>
              <a:t>            "local": 233513,</a:t>
            </a:r>
          </a:p>
          <a:p>
            <a:r>
              <a:t>            "total": 364137,</a:t>
            </a:r>
          </a:p>
          <a:p>
            <a:r>
              <a:t>            "foreign": 3319,</a:t>
            </a:r>
          </a:p>
          <a:p>
            <a:r>
              <a:t>            "outside": 127305,</a:t>
            </a:r>
          </a:p>
          <a:p>
            <a:r>
              <a:t>            "outside_daily": 15913.125,</a:t>
            </a:r>
          </a:p>
          <a:p>
            <a:r>
              <a:t>            "outside_share_pct": 34.960742797353745</a:t>
            </a:r>
          </a:p>
          <a:p>
            <a:r>
              <a:t>          },</a:t>
            </a:r>
          </a:p>
          <a:p>
            <a:r>
              <a:t>          {</a:t>
            </a:r>
          </a:p>
          <a:p>
            <a:r>
              <a:t>            "days": 10,</a:t>
            </a:r>
          </a:p>
          <a:p>
            <a:r>
              <a:t>            "year": 2024,</a:t>
            </a:r>
          </a:p>
          <a:p>
            <a:r>
              <a:t>            "daily": 50457.3,</a:t>
            </a:r>
          </a:p>
          <a:p>
            <a:r>
              <a:t>            "local": 317925,</a:t>
            </a:r>
          </a:p>
          <a:p>
            <a:r>
              <a:t>            "total": 504573,</a:t>
            </a:r>
          </a:p>
          <a:p>
            <a:r>
              <a:t>            "foreign": 4684,</a:t>
            </a:r>
          </a:p>
          <a:p>
            <a:r>
              <a:t>            "outside": 181964,</a:t>
            </a:r>
          </a:p>
          <a:p>
            <a:r>
              <a:t>            "outside_daily": 18196.4,</a:t>
            </a:r>
          </a:p>
          <a:p>
            <a:r>
              <a:t>            "outside_share_pct": 36.06296809381398</a:t>
            </a:r>
          </a:p>
          <a:p>
            <a:r>
              <a:t>          },</a:t>
            </a:r>
          </a:p>
          <a:p>
            <a:r>
              <a:t>          {</a:t>
            </a:r>
          </a:p>
          <a:p>
            <a:r>
              <a:t>            "days": 10,</a:t>
            </a:r>
          </a:p>
          <a:p>
            <a:r>
              <a:t>            "year": 2025,</a:t>
            </a:r>
          </a:p>
          <a:p>
            <a:r>
              <a:t>            "daily": 55449.4,</a:t>
            </a:r>
          </a:p>
          <a:p>
            <a:r>
              <a:t>            "local": 347269,</a:t>
            </a:r>
          </a:p>
          <a:p>
            <a:r>
              <a:t>            "total": 554494,</a:t>
            </a:r>
          </a:p>
          <a:p>
            <a:r>
              <a:t>            "foreign": 5702,</a:t>
            </a:r>
          </a:p>
          <a:p>
            <a:r>
              <a:t>            "outside": 201523,</a:t>
            </a:r>
          </a:p>
          <a:p>
            <a:r>
              <a:t>            "outside_daily": 20152.3,</a:t>
            </a:r>
          </a:p>
          <a:p>
            <a:r>
              <a:t>            "outside_share_pct": 36.34358532283487</a:t>
            </a:r>
          </a:p>
          <a:p>
            <a:r>
              <a:t>          }</a:t>
            </a:r>
          </a:p>
          <a:p>
            <a:r>
              <a:t>        ],</a:t>
            </a:r>
          </a:p>
          <a:p>
            <a:r>
              <a:t>        "audience": [</a:t>
            </a:r>
          </a:p>
          <a:p>
            <a:r>
              <a:t>          {</a:t>
            </a:r>
          </a:p>
          <a:p>
            <a:r>
              <a:t>            "연령대": "70세 이상",</a:t>
            </a:r>
          </a:p>
          <a:p>
            <a:r>
              <a:t>            "축제명": "안동탈춤축제",</a:t>
            </a:r>
          </a:p>
          <a:p>
            <a:r>
              <a:t>            "남성비율": "4.4",</a:t>
            </a:r>
          </a:p>
          <a:p>
            <a:r>
              <a:t>            "여성비율": "5.0"</a:t>
            </a:r>
          </a:p>
          <a:p>
            <a:r>
              <a:t>          },</a:t>
            </a:r>
          </a:p>
          <a:p>
            <a:r>
              <a:t>          {</a:t>
            </a:r>
          </a:p>
          <a:p>
            <a:r>
              <a:t>            "연령대": "60~69세",</a:t>
            </a:r>
          </a:p>
          <a:p>
            <a:r>
              <a:t>            "축제명": "안동탈춤축제",</a:t>
            </a:r>
          </a:p>
          <a:p>
            <a:r>
              <a:t>            "남성비율": "8.0",</a:t>
            </a:r>
          </a:p>
          <a:p>
            <a:r>
              <a:t>            "여성비율": "8.5"</a:t>
            </a:r>
          </a:p>
          <a:p>
            <a:r>
              <a:t>          },</a:t>
            </a:r>
          </a:p>
          <a:p>
            <a:r>
              <a:t>          {</a:t>
            </a:r>
          </a:p>
          <a:p>
            <a:r>
              <a:t>            "연령대": "50~59세",</a:t>
            </a:r>
          </a:p>
          <a:p>
            <a:r>
              <a:t>            "축제명": "안동탈춤축제",</a:t>
            </a:r>
          </a:p>
          <a:p>
            <a:r>
              <a:t>            "남성비율": "9.2",</a:t>
            </a:r>
          </a:p>
          <a:p>
            <a:r>
              <a:t>            "여성비율": "10.9"</a:t>
            </a:r>
          </a:p>
          <a:p>
            <a:r>
              <a:t>          },</a:t>
            </a:r>
          </a:p>
          <a:p>
            <a:r>
              <a:t>          {</a:t>
            </a:r>
          </a:p>
          <a:p>
            <a:r>
              <a:t>            "연령대": "40~49세",</a:t>
            </a:r>
          </a:p>
          <a:p>
            <a:r>
              <a:t>            "축제명": "안동탈춤축제",</a:t>
            </a:r>
          </a:p>
          <a:p>
            <a:r>
              <a:t>            "남성비율": "7.5",</a:t>
            </a:r>
          </a:p>
          <a:p>
            <a:r>
              <a:t>            "여성비율": "7.9"</a:t>
            </a:r>
          </a:p>
          <a:p>
            <a:r>
              <a:t>          },</a:t>
            </a:r>
          </a:p>
          <a:p>
            <a:r>
              <a:t>          {</a:t>
            </a:r>
          </a:p>
          <a:p>
            <a:r>
              <a:t>            "연령대": "30~39세",</a:t>
            </a:r>
          </a:p>
          <a:p>
            <a:r>
              <a:t>            "축제명": "안동탈춤축제",</a:t>
            </a:r>
          </a:p>
          <a:p>
            <a:r>
              <a:t>            "남성비율": "7.9",</a:t>
            </a:r>
          </a:p>
          <a:p>
            <a:r>
              <a:t>            "여성비율": "7.2"</a:t>
            </a:r>
          </a:p>
          <a:p>
            <a:r>
              <a:t>          },</a:t>
            </a:r>
          </a:p>
          <a:p>
            <a:r>
              <a:t>          {</a:t>
            </a:r>
          </a:p>
          <a:p>
            <a:r>
              <a:t>            "연령대": "20~29세",</a:t>
            </a:r>
          </a:p>
          <a:p>
            <a:r>
              <a:t>            "축제명": "안동탈춤축제",</a:t>
            </a:r>
          </a:p>
          <a:p>
            <a:r>
              <a:t>            "남성비율": "7.1",</a:t>
            </a:r>
          </a:p>
          <a:p>
            <a:r>
              <a:t>            "여성비율": "8.2"</a:t>
            </a:r>
          </a:p>
          <a:p>
            <a:r>
              <a:t>          },</a:t>
            </a:r>
          </a:p>
          <a:p>
            <a:r>
              <a:t>          {</a:t>
            </a:r>
          </a:p>
          <a:p>
            <a:r>
              <a:t>            "연령대": "10~19세",</a:t>
            </a:r>
          </a:p>
          <a:p>
            <a:r>
              <a:t>            "축제명": "안동탈춤축제",</a:t>
            </a:r>
          </a:p>
          <a:p>
            <a:r>
              <a:t>            "남성비율": "3.2",</a:t>
            </a:r>
          </a:p>
          <a:p>
            <a:r>
              <a:t>            "여성비율": "3.9"</a:t>
            </a:r>
          </a:p>
          <a:p>
            <a:r>
              <a:t>          },</a:t>
            </a:r>
          </a:p>
          <a:p>
            <a:r>
              <a:t>          {</a:t>
            </a:r>
          </a:p>
          <a:p>
            <a:r>
              <a:t>            "연령대": "0~9세",</a:t>
            </a:r>
          </a:p>
          <a:p>
            <a:r>
              <a:t>            "축제명": "안동탈춤축제",</a:t>
            </a:r>
          </a:p>
          <a:p>
            <a:r>
              <a:t>            "남성비율": "0.5",</a:t>
            </a:r>
          </a:p>
          <a:p>
            <a:r>
              <a:t>            "여성비율": "0.7"</a:t>
            </a:r>
          </a:p>
          <a:p>
            <a:r>
              <a:t>          }</a:t>
            </a:r>
          </a:p>
          <a:p>
            <a:r>
              <a:t>        ],</a:t>
            </a:r>
          </a:p>
          <a:p>
            <a:r>
              <a:t>        "comparison": {</a:t>
            </a:r>
          </a:p>
          <a:p>
            <a:r>
              <a:t>          "daily": {</a:t>
            </a:r>
          </a:p>
          <a:p>
            <a:r>
              <a:t>            "after": 55449.4,</a:t>
            </a:r>
          </a:p>
          <a:p>
            <a:r>
              <a:t>            "before": 50457.3,</a:t>
            </a:r>
          </a:p>
          <a:p>
            <a:r>
              <a:t>            "change_pct": 9.893712109050613,</a:t>
            </a:r>
          </a:p>
          <a:p>
            <a:r>
              <a:t>            "difference": 4992.0999999999985</a:t>
            </a:r>
          </a:p>
          <a:p>
            <a:r>
              <a:t>          },</a:t>
            </a:r>
          </a:p>
          <a:p>
            <a:r>
              <a:t>          "total": {</a:t>
            </a:r>
          </a:p>
          <a:p>
            <a:r>
              <a:t>            "after": 554494,</a:t>
            </a:r>
          </a:p>
          <a:p>
            <a:r>
              <a:t>            "before": 504573,</a:t>
            </a:r>
          </a:p>
          <a:p>
            <a:r>
              <a:t>            "change_pct": 9.893712109050613,</a:t>
            </a:r>
          </a:p>
          <a:p>
            <a:r>
              <a:t>            "difference": 49921</a:t>
            </a:r>
          </a:p>
          <a:p>
            <a:r>
              <a:t>          },</a:t>
            </a:r>
          </a:p>
          <a:p>
            <a:r>
              <a:t>          "outside": {</a:t>
            </a:r>
          </a:p>
          <a:p>
            <a:r>
              <a:t>            "after": 201523,</a:t>
            </a:r>
          </a:p>
          <a:p>
            <a:r>
              <a:t>            "before": 181964,</a:t>
            </a:r>
          </a:p>
          <a:p>
            <a:r>
              <a:t>            "change_pct": 10.748829438790096,</a:t>
            </a:r>
          </a:p>
          <a:p>
            <a:r>
              <a:t>            "difference": 19559</a:t>
            </a:r>
          </a:p>
          <a:p>
            <a:r>
              <a:t>          },</a:t>
            </a:r>
          </a:p>
          <a:p>
            <a:r>
              <a:t>          "after_days": 10,</a:t>
            </a:r>
          </a:p>
          <a:p>
            <a:r>
              <a:t>          "after_year": 2025,</a:t>
            </a:r>
          </a:p>
          <a:p>
            <a:r>
              <a:t>          "before_days": 10,</a:t>
            </a:r>
          </a:p>
          <a:p>
            <a:r>
              <a:t>          "before_year": 2024,</a:t>
            </a:r>
          </a:p>
          <a:p>
            <a:r>
              <a:t>          "outside_daily": {</a:t>
            </a:r>
          </a:p>
          <a:p>
            <a:r>
              <a:t>            "after": 20152.3,</a:t>
            </a:r>
          </a:p>
          <a:p>
            <a:r>
              <a:t>            "before": 18196.4,</a:t>
            </a:r>
          </a:p>
          <a:p>
            <a:r>
              <a:t>            "change_pct": 10.748829438790075,</a:t>
            </a:r>
          </a:p>
          <a:p>
            <a:r>
              <a:t>            "difference": 1955.8999999999976</a:t>
            </a:r>
          </a:p>
          <a:p>
            <a:r>
              <a:t>          }</a:t>
            </a:r>
          </a:p>
          <a:p>
            <a:r>
              <a:t>        },</a:t>
            </a:r>
          </a:p>
          <a:p>
            <a:r>
              <a:t>        "source_file": {</a:t>
            </a:r>
          </a:p>
          <a:p>
            <a:r>
              <a:t>          "sha256": "28f418873eda5b37d320d3fef32c46bef172ca1cfea3861db2d5fc96a0b16f50",</a:t>
            </a:r>
          </a:p>
          <a:p>
            <a:r>
              <a:t>          "provider": "한국관광 데이터랩",</a:t>
            </a:r>
          </a:p>
          <a:p>
            <a:r>
              <a:t>          "file_name": "20260820175023_안동탈춤축제_연도별 방문자 추이.csv",</a:t>
            </a:r>
          </a:p>
          <a:p>
            <a:r>
              <a:t>          "source_id": "festival-file:28f418873eda5b37d320",</a:t>
            </a:r>
          </a:p>
          <a:p>
            <a:r>
              <a:t>          "source_url": "https://datalab.visitkorea.or.kr/",</a:t>
            </a:r>
          </a:p>
          <a:p>
            <a:r>
              <a:t>          "downloaded_at": "2026-08-20",</a:t>
            </a:r>
          </a:p>
          <a:p>
            <a:r>
              <a:t>          "relative_path": "data/source_snapshots/festivals_20260820/43. 안동탈춤축제_2023-2025/20260820175023_안동탈춤축제_연도별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"0.515",</a:t>
            </a:r>
          </a:p>
          <a:p>
            <a:r>
              <a:t>            "축제명": "안동탈춤축제",</a:t>
            </a:r>
          </a:p>
          <a:p>
            <a:r>
              <a:t>            "개최년도": "2025"</a:t>
            </a:r>
          </a:p>
          <a:p>
            <a:r>
              <a:t>          },</a:t>
            </a:r>
          </a:p>
          <a:p>
            <a:r>
              <a:t>          {</a:t>
            </a:r>
          </a:p>
          <a:p>
            <a:r>
              <a:t>            "구분명": "현지인방문자 유입",</a:t>
            </a:r>
          </a:p>
          <a:p>
            <a:r>
              <a:t>            "그룹명": "축제기간",</a:t>
            </a:r>
          </a:p>
          <a:p>
            <a:r>
              <a:t>            "지표값": "0.859",</a:t>
            </a:r>
          </a:p>
          <a:p>
            <a:r>
              <a:t>            "축제명": "안동탈춤축제",</a:t>
            </a:r>
          </a:p>
          <a:p>
            <a:r>
              <a:t>            "개최년도": "2025"</a:t>
            </a:r>
          </a:p>
          <a:p>
            <a:r>
              <a:t>          },</a:t>
            </a:r>
          </a:p>
          <a:p>
            <a:r>
              <a:t>          {</a:t>
            </a:r>
          </a:p>
          <a:p>
            <a:r>
              <a:t>            "구분명": "내비게이션 검색량",</a:t>
            </a:r>
          </a:p>
          <a:p>
            <a:r>
              <a:t>            "그룹명": "축제기간",</a:t>
            </a:r>
          </a:p>
          <a:p>
            <a:r>
              <a:t>            "지표값": "0.434",</a:t>
            </a:r>
          </a:p>
          <a:p>
            <a:r>
              <a:t>            "축제명": "안동탈춤축제",</a:t>
            </a:r>
          </a:p>
          <a:p>
            <a:r>
              <a:t>            "개최년도": "2025"</a:t>
            </a:r>
          </a:p>
          <a:p>
            <a:r>
              <a:t>          },</a:t>
            </a:r>
          </a:p>
          <a:p>
            <a:r>
              <a:t>          {</a:t>
            </a:r>
          </a:p>
          <a:p>
            <a:r>
              <a:t>            "구분명": "관광소비",</a:t>
            </a:r>
          </a:p>
          <a:p>
            <a:r>
              <a:t>            "그룹명": "축제기간",</a:t>
            </a:r>
          </a:p>
          <a:p>
            <a:r>
              <a:t>            "지표값": "0.544",</a:t>
            </a:r>
          </a:p>
          <a:p>
            <a:r>
              <a:t>            "축제명": "안동탈춤축제",</a:t>
            </a:r>
          </a:p>
          <a:p>
            <a:r>
              <a:t>            "개최년도": "2025"</a:t>
            </a:r>
          </a:p>
          <a:p>
            <a:r>
              <a:t>          },</a:t>
            </a:r>
          </a:p>
          <a:p>
            <a:r>
              <a:t>          {</a:t>
            </a:r>
          </a:p>
          <a:p>
            <a:r>
              <a:t>            "구분명": "축제지 집중률",</a:t>
            </a:r>
          </a:p>
          <a:p>
            <a:r>
              <a:t>            "그룹명": "축제기간",</a:t>
            </a:r>
          </a:p>
          <a:p>
            <a:r>
              <a:t>            "지표값": "0.879",</a:t>
            </a:r>
          </a:p>
          <a:p>
            <a:r>
              <a:t>            "축제명": "안동탈춤축제",</a:t>
            </a:r>
          </a:p>
          <a:p>
            <a:r>
              <a:t>            "개최년도": "2025"</a:t>
            </a:r>
          </a:p>
          <a:p>
            <a:r>
              <a:t>          },</a:t>
            </a:r>
          </a:p>
          <a:p>
            <a:r>
              <a:t>          {</a:t>
            </a:r>
          </a:p>
          <a:p>
            <a:r>
              <a:t>            "구분명": "외부방문자 유입",</a:t>
            </a:r>
          </a:p>
          <a:p>
            <a:r>
              <a:t>            "그룹명": "비축제기간",</a:t>
            </a:r>
          </a:p>
          <a:p>
            <a:r>
              <a:t>            "지표값": "0.258",</a:t>
            </a:r>
          </a:p>
          <a:p>
            <a:r>
              <a:t>            "축제명": "안동탈춤축제",</a:t>
            </a:r>
          </a:p>
          <a:p>
            <a:r>
              <a:t>            "개최년도": "2025"</a:t>
            </a:r>
          </a:p>
          <a:p>
            <a:r>
              <a:t>          },</a:t>
            </a:r>
          </a:p>
          <a:p>
            <a:r>
              <a:t>          {</a:t>
            </a:r>
          </a:p>
          <a:p>
            <a:r>
              <a:t>            "구분명": "현지인방문자 유입",</a:t>
            </a:r>
          </a:p>
          <a:p>
            <a:r>
              <a:t>            "그룹명": "비축제기간",</a:t>
            </a:r>
          </a:p>
          <a:p>
            <a:r>
              <a:t>            "지표값": "0.618",</a:t>
            </a:r>
          </a:p>
          <a:p>
            <a:r>
              <a:t>            "축제명": "안동탈춤축제",</a:t>
            </a:r>
          </a:p>
          <a:p>
            <a:r>
              <a:t>            "개최년도": "2025"</a:t>
            </a:r>
          </a:p>
          <a:p>
            <a:r>
              <a:t>          },</a:t>
            </a:r>
          </a:p>
          <a:p>
            <a:r>
              <a:t>          {</a:t>
            </a:r>
          </a:p>
          <a:p>
            <a:r>
              <a:t>            "구분명": "내비게이션 검색량",</a:t>
            </a:r>
          </a:p>
          <a:p>
            <a:r>
              <a:t>            "그룹명": "비축제기간",</a:t>
            </a:r>
          </a:p>
          <a:p>
            <a:r>
              <a:t>            "지표값": "0.252",</a:t>
            </a:r>
          </a:p>
          <a:p>
            <a:r>
              <a:t>            "축제명": "안동탈춤축제",</a:t>
            </a:r>
          </a:p>
          <a:p>
            <a:r>
              <a:t>            "개최년도": "2025"</a:t>
            </a:r>
          </a:p>
          <a:p>
            <a:r>
              <a:t>          },</a:t>
            </a:r>
          </a:p>
          <a:p>
            <a:r>
              <a:t>          {</a:t>
            </a:r>
          </a:p>
          <a:p>
            <a:r>
              <a:t>            "구분명": "관광소비",</a:t>
            </a:r>
          </a:p>
          <a:p>
            <a:r>
              <a:t>            "그룹명": "비축제기간",</a:t>
            </a:r>
          </a:p>
          <a:p>
            <a:r>
              <a:t>            "지표값": "0.375",</a:t>
            </a:r>
          </a:p>
          <a:p>
            <a:r>
              <a:t>            "축제명": "안동탈춤축제",</a:t>
            </a:r>
          </a:p>
          <a:p>
            <a:r>
              <a:t>            "개최년도": "2025"</a:t>
            </a:r>
          </a:p>
          <a:p>
            <a:r>
              <a:t>          },</a:t>
            </a:r>
          </a:p>
          <a:p>
            <a:r>
              <a:t>          {</a:t>
            </a:r>
          </a:p>
          <a:p>
            <a:r>
              <a:t>            "구분명": "축제지 집중률",</a:t>
            </a:r>
          </a:p>
          <a:p>
            <a:r>
              <a:t>            "그룹명": "비축제기간",</a:t>
            </a:r>
          </a:p>
          <a:p>
            <a:r>
              <a:t>            "지표값": "0.65",</a:t>
            </a:r>
          </a:p>
          <a:p>
            <a:r>
              <a:t>            "축제명": "안동탈춤축제",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"안동구시장",</a:t>
            </a:r>
          </a:p>
          <a:p>
            <a:r>
              <a:t>            "카테고리": "시장",</a:t>
            </a:r>
          </a:p>
          <a:p>
            <a:r>
              <a:t>            "도로명주소": "경북 안동시 번영1길 47-0"</a:t>
            </a:r>
          </a:p>
          <a:p>
            <a:r>
              <a:t>          },</a:t>
            </a:r>
          </a:p>
          <a:p>
            <a:r>
              <a:t>          {</a:t>
            </a:r>
          </a:p>
          <a:p>
            <a:r>
              <a:t>            "구분": "외지인",</a:t>
            </a:r>
          </a:p>
          <a:p>
            <a:r>
              <a:t>            "순위": "2",</a:t>
            </a:r>
          </a:p>
          <a:p>
            <a:r>
              <a:t>            "목적지명": "안동국제탈춤페스티벌",</a:t>
            </a:r>
          </a:p>
          <a:p>
            <a:r>
              <a:t>            "카테고리": "기타문화관광지",</a:t>
            </a:r>
          </a:p>
          <a:p>
            <a:r>
              <a:t>            "도로명주소": "경북 안동시 육사로 239-0"</a:t>
            </a:r>
          </a:p>
          <a:p>
            <a:r>
              <a:t>          },</a:t>
            </a:r>
          </a:p>
          <a:p>
            <a:r>
              <a:t>          {</a:t>
            </a:r>
          </a:p>
          <a:p>
            <a:r>
              <a:t>            "구분": "외지인",</a:t>
            </a:r>
          </a:p>
          <a:p>
            <a:r>
              <a:t>            "순위": "3",</a:t>
            </a:r>
          </a:p>
          <a:p>
            <a:r>
              <a:t>            "목적지명": "탈춤공원",</a:t>
            </a:r>
          </a:p>
          <a:p>
            <a:r>
              <a:t>            "카테고리": "도시공원",</a:t>
            </a:r>
          </a:p>
          <a:p>
            <a:r>
              <a:t>            "도로명주소": "경북 안동시 육사로 239-0"</a:t>
            </a:r>
          </a:p>
          <a:p>
            <a:r>
              <a:t>          }</a:t>
            </a:r>
          </a:p>
          <a:p>
            <a:r>
              <a:t>        ]</a:t>
            </a:r>
          </a:p>
          <a:p>
            <a:r>
              <a:t>      },</a:t>
            </a:r>
          </a:p>
          <a:p>
            <a:r>
              <a:t>      "transfer_conditions": [</a:t>
            </a:r>
          </a:p>
          <a:p>
            <a:r>
              <a:t>        "대전 서구의 기존 문화·상업시설과 맞는 주제를 새로 선정하고 프로그램·회차·정원을 별도로 설계해야 한다.",</a:t>
            </a:r>
          </a:p>
          <a:p>
            <a:r>
              <a:t>        "10일 연속 운영보다 고정 일정인 10~12월에 주말 반복형으로 분산하는 방안을 비교해야 한다.",</a:t>
            </a:r>
          </a:p>
          <a:p>
            <a:r>
              <a:t>        "외지인 관측 증가가 실제 상권 결제로 이어졌는지 확인할 수 있도록 예약·QR·카드 또는 영수증 기반 기록이 필요하다.",</a:t>
            </a:r>
          </a:p>
          <a:p>
            <a:r>
              <a:t>        "행사장 주변 교통·식음·야간 운영 가능 시설을 현장 확인한 뒤 참여처를 모집해야 한다."</a:t>
            </a:r>
          </a:p>
          <a:p>
            <a:r>
              <a:t>      ],</a:t>
            </a:r>
          </a:p>
          <a:p>
            <a:r>
              <a:t>      "operating_statistics": [</a:t>
            </a:r>
          </a:p>
          <a:p>
            <a:r>
              <a:t>        {</a:t>
            </a:r>
          </a:p>
          <a:p>
            <a:r>
              <a:t>          "unit": "day",</a:t>
            </a:r>
          </a:p>
          <a:p>
            <a:r>
              <a:t>          "quote": "2025년 10일 개최",</a:t>
            </a:r>
          </a:p>
          <a:p>
            <a:r>
              <a:t>          "scope": "안동탈춤축제 전체 개최일수",</a:t>
            </a:r>
          </a:p>
          <a:p>
            <a:r>
              <a:t>          "value": 10,</a:t>
            </a:r>
          </a:p>
          <a:p>
            <a:r>
              <a:t>          "metric": "operating_days",</a:t>
            </a:r>
          </a:p>
          <a:p>
            <a:r>
              <a:t>          "period": "2025년 축제 개최기간",</a:t>
            </a:r>
          </a:p>
          <a:p>
            <a:r>
              <a:t>          "program_name": "안동탈춤축제",</a:t>
            </a:r>
          </a:p>
          <a:p>
            <a:r>
              <a:t>          "capacity_count": null,</a:t>
            </a:r>
          </a:p>
          <a:p>
            <a:r>
              <a:t>          "participant_count": null</a:t>
            </a:r>
          </a:p>
          <a:p>
            <a:r>
              <a:t>        }</a:t>
            </a:r>
          </a:p>
          <a:p>
            <a:r>
              <a:t>      ],</a:t>
            </a:r>
          </a:p>
          <a:p>
            <a:r>
              <a:t>      "published_or_updated_at": "2026-08-20",</a:t>
            </a:r>
          </a:p>
          <a:p>
            <a:r>
              <a:t>      "quantitative_result_approved": true</a:t>
            </a:r>
          </a:p>
          <a:p>
            <a:r>
              <a:t>    },</a:t>
            </a:r>
          </a:p>
          <a:p>
            <a:r>
              <a:t>    {</a:t>
            </a:r>
          </a:p>
          <a:p>
            <a:r>
              <a:t>      "title": "한국관광 데이터랩 · 문경찻사발축제 방문자 추이",</a:t>
            </a:r>
          </a:p>
          <a:p>
            <a:r>
              <a:t>      "summary": "경상북도 문경시 · 문경찻사발축제 · 2024→2025년 전체 245,750→256,570명 (+4.40%). 개최 10→9일, 일평균 +16.00%, 외지인 +9.28%.",</a:t>
            </a:r>
          </a:p>
          <a:p>
            <a:r>
              <a:t>      "source_id": "case:festival:01474ef75569b1",</a:t>
            </a:r>
          </a:p>
          <a:p>
            <a:r>
              <a:t>      "source_url": "https://datalab.visitkorea.or.kr/",</a:t>
            </a:r>
          </a:p>
          <a:p>
            <a:r>
              <a:t>      "case_region": "경상북도 문경시",</a:t>
            </a:r>
          </a:p>
          <a:p>
            <a:r>
              <a:t>      "source_type": "benchmark_case",</a:t>
            </a:r>
          </a:p>
          <a:p>
            <a:r>
              <a:t>      "dataset_hash": "ad20e3daf70fd44fd481d672398c07bb9c96fce77acb450784065a568735e2e2",</a:t>
            </a:r>
          </a:p>
          <a:p>
            <a:r>
              <a:t>      "intervention": "문경찻사발축제",</a:t>
            </a:r>
          </a:p>
          <a:p>
            <a:r>
              <a:t>      "source_files": [</a:t>
            </a:r>
          </a:p>
          <a:p>
            <a:r>
              <a:t>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a:t>
            </a:r>
          </a:p>
          <a:p>
            <a:r>
              <a:t>          "sha256": "44238aecdfa68974febce93cd262e119492da76910929b96da438d8b6ee7a9b3",</a:t>
            </a:r>
          </a:p>
          <a:p>
            <a:r>
              <a:t>          "provider": "한국관광 데이터랩",</a:t>
            </a:r>
          </a:p>
          <a:p>
            <a:r>
              <a:t>          "file_name": "20260820160334_문경찻사발축제_성_연령별 내국인 방문자.csv",</a:t>
            </a:r>
          </a:p>
          <a:p>
            <a:r>
              <a:t>          "source_id": "festival-file:44238aecdfa68974febc",</a:t>
            </a:r>
          </a:p>
          <a:p>
            <a:r>
              <a:t>          "source_url": "https://datalab.visitkorea.or.kr/",</a:t>
            </a:r>
          </a:p>
          <a:p>
            <a:r>
              <a:t>          "downloaded_at": "2026-08-20",</a:t>
            </a:r>
          </a:p>
          <a:p>
            <a:r>
              <a:t>          "relative_path": "data/source_snapshots/festivals_20260820/25. 문경찻사발축제_2023-2025/20260820160334_문경찻사발축제_성_연령별 내국인 방문자.csv",</a:t>
            </a:r>
          </a:p>
          <a:p>
            <a:r>
              <a:t>          "provenance_status": "team_download_exact_query_url_unrecorded"</a:t>
            </a:r>
          </a:p>
          <a:p>
            <a:r>
              <a:t>        },</a:t>
            </a:r>
          </a:p>
          <a:p>
            <a:r>
              <a:t>        {</a:t>
            </a:r>
          </a:p>
          <a:p>
            <a:r>
              <a:t>          "sha256": "eadf4622620ddb1575df5f358ec588aeed8718c09e0998a19494cf0f3cfe0f16",</a:t>
            </a:r>
          </a:p>
          <a:p>
            <a:r>
              <a:t>          "provider": "한국관광 데이터랩",</a:t>
            </a:r>
          </a:p>
          <a:p>
            <a:r>
              <a:t>          "file_name": "20260820160334_문경찻사발축제_문화관광축제 주요 지표.csv",</a:t>
            </a:r>
          </a:p>
          <a:p>
            <a:r>
              <a:t>          "source_id": "festival-file:eadf4622620ddb1575df",</a:t>
            </a:r>
          </a:p>
          <a:p>
            <a:r>
              <a:t>          "source_url": "https://datalab.visitkorea.or.kr/",</a:t>
            </a:r>
          </a:p>
          <a:p>
            <a:r>
              <a:t>          "downloaded_at": "2026-08-20",</a:t>
            </a:r>
          </a:p>
          <a:p>
            <a:r>
              <a:t>          "relative_path": "data/source_snapshots/festivals_20260820/25. 문경찻사발축제_2023-2025/20260820160334_문경찻사발축제_문화관광축제 주요 지표.csv",</a:t>
            </a:r>
          </a:p>
          <a:p>
            <a:r>
              <a:t>          "provenance_status": "team_download_exact_query_url_unrecorded"</a:t>
            </a:r>
          </a:p>
          <a:p>
            <a:r>
              <a:t>        },</a:t>
            </a:r>
          </a:p>
          <a:p>
            <a:r>
              <a:t>        {</a:t>
            </a:r>
          </a:p>
          <a:p>
            <a:r>
              <a:t>          "sha256": "343671c431cfa7e76ba333ca2ea221803e111e0db5e9a51c6d387b0ba5d7eeaf",</a:t>
            </a:r>
          </a:p>
          <a:p>
            <a:r>
              <a:t>          "provider": "한국관광 데이터랩",</a:t>
            </a:r>
          </a:p>
          <a:p>
            <a:r>
              <a:t>          "file_name": "20260820160334_문경찻사발축제_목적지 검색순위.csv",</a:t>
            </a:r>
          </a:p>
          <a:p>
            <a:r>
              <a:t>          "source_id": "festival-file:343671c431cfa7e76ba3",</a:t>
            </a:r>
          </a:p>
          <a:p>
            <a:r>
              <a:t>          "source_url": "https://datalab.visitkorea.or.kr/",</a:t>
            </a:r>
          </a:p>
          <a:p>
            <a:r>
              <a:t>          "downloaded_at": "2026-08-20",</a:t>
            </a:r>
          </a:p>
          <a:p>
            <a:r>
              <a:t>          "relative_path": "data/source_snapshots/festivals_20260820/25. 문경찻사발축제_2023-2025/20260820160334_문경찻사발축제_목적지 검색순위.csv",</a:t>
            </a:r>
          </a:p>
          <a:p>
            <a:r>
              <a:t>          "provenance_status": "team_download_exact_query_url_unrecorded"</a:t>
            </a:r>
          </a:p>
          <a:p>
            <a:r>
              <a:t>        }</a:t>
            </a:r>
          </a:p>
          <a:p>
            <a:r>
              <a:t>      ],</a:t>
            </a:r>
          </a:p>
          <a:p>
            <a:r>
              <a:t>      "document_type": "case_study",</a:t>
            </a:r>
          </a:p>
          <a:p>
            <a:r>
              <a:t>      "evidence_kind": "festival_statistics",</a:t>
            </a:r>
          </a:p>
          <a:p>
            <a:r>
              <a:t>      "observed_result": "2024→2025년 전체 245,750→256,570명 (+4.40%). 개최 10→9일, 일평균 +16.00%, 외지인 +9.28%.",</a:t>
            </a:r>
          </a:p>
          <a:p>
            <a:r>
              <a:t>      "operating_model": "문경찻사발축제를 2025년 9일 개최한 문화관광축제 운영 사례. 세부 프로그램·예약·혜택은 이 CSV에 기록되어 있지 않으며 새로운 운영안은 제안으로 구분한다.",</a:t>
            </a:r>
          </a:p>
          <a:p>
            <a:r>
              <a:t>      "retrieval_basis": {</a:t>
            </a:r>
          </a:p>
          <a:p>
            <a:r>
              <a:t>        "kind": "external_benchmark",</a:t>
            </a:r>
          </a:p>
          <a:p>
            <a:r>
              <a:t>        "rule": "함수 기반 조사 우선순위. 사업효과·인구/환경 유사도 점수가 아니며 소비·체류 개선은 조사 가설이다.",</a:t>
            </a:r>
          </a:p>
          <a:p>
            <a:r>
              <a:t>        "score": 31,</a:t>
            </a:r>
          </a:p>
          <a:p>
            <a:r>
              <a:t>        "theme": "역사·공예",</a:t>
            </a:r>
          </a:p>
          <a:p>
            <a:r>
              <a:t>        "components": {</a:t>
            </a:r>
          </a:p>
          <a:p>
            <a:r>
              <a:t>          "최근 개최연도": 6,</a:t>
            </a:r>
          </a:p>
          <a:p>
            <a:r>
              <a:t>          "방문 실적 비교 가능": 10,</a:t>
            </a:r>
          </a:p>
          <a:p>
            <a:r>
              <a:t>          "방문 전망 조사: 외지인·일평균 동반 증가": 15</a:t>
            </a:r>
          </a:p>
          <a:p>
            <a:r>
              <a:t>        },</a:t>
            </a:r>
          </a:p>
          <a:p>
            <a:r>
              <a:t>        "priority_signal": "visit"</a:t>
            </a:r>
          </a:p>
          <a:p>
            <a:r>
              <a:t>      },</a:t>
            </a:r>
          </a:p>
          <a:p>
            <a:r>
              <a:t>      "retrieval_method": "datalab_festival_table",</a:t>
            </a:r>
          </a:p>
          <a:p>
            <a:r>
              <a:t>      "evidence_strength": "medium",</a:t>
            </a:r>
          </a:p>
          <a:p>
            <a:r>
              <a:t>      "retrieval_context": {</a:t>
            </a:r>
          </a:p>
          <a:p>
            <a:r>
              <a:t>        "scope": "cross_province",</a:t>
            </a:r>
          </a:p>
          <a:p>
            <a:r>
              <a:t>        "peer_region_code": null</a:t>
            </a:r>
          </a:p>
          <a:p>
            <a:r>
              <a:t>      },</a:t>
            </a:r>
          </a:p>
          <a:p>
            <a:r>
              <a:t>      "measurement_period": "2023~2025년 각 축제 개최기간",</a:t>
            </a:r>
          </a:p>
          <a:p>
            <a:r>
              <a:t>      "festival_statistics": {</a:t>
            </a:r>
          </a:p>
          <a:p>
            <a:r>
              <a:t>        "name": "문경찻사발축제",</a:t>
            </a:r>
          </a:p>
          <a:p>
            <a:r>
              <a:t>        "scope": "축제 관측구역 방문 지표. 도시 전체·순증 관광객·입장권 실구매자 수가 아님.",</a:t>
            </a:r>
          </a:p>
          <a:p>
            <a:r>
              <a:t>        "annual": [</a:t>
            </a:r>
          </a:p>
          <a:p>
            <a:r>
              <a:t>          {</a:t>
            </a:r>
          </a:p>
          <a:p>
            <a:r>
              <a:t>            "days": 9,</a:t>
            </a:r>
          </a:p>
          <a:p>
            <a:r>
              <a:t>            "year": 2023,</a:t>
            </a:r>
          </a:p>
          <a:p>
            <a:r>
              <a:t>            "daily": 23055.333333333332,</a:t>
            </a:r>
          </a:p>
          <a:p>
            <a:r>
              <a:t>            "local": 59726,</a:t>
            </a:r>
          </a:p>
          <a:p>
            <a:r>
              <a:t>            "total": 207498,</a:t>
            </a:r>
          </a:p>
          <a:p>
            <a:r>
              <a:t>            "foreign": 1241,</a:t>
            </a:r>
          </a:p>
          <a:p>
            <a:r>
              <a:t>            "outside": 146531,</a:t>
            </a:r>
          </a:p>
          <a:p>
            <a:r>
              <a:t>            "outside_daily": 16281.222222222224,</a:t>
            </a:r>
          </a:p>
          <a:p>
            <a:r>
              <a:t>            "outside_share_pct": 70.61803005330172</a:t>
            </a:r>
          </a:p>
          <a:p>
            <a:r>
              <a:t>          },</a:t>
            </a:r>
          </a:p>
          <a:p>
            <a:r>
              <a:t>          {</a:t>
            </a:r>
          </a:p>
          <a:p>
            <a:r>
              <a:t>            "days": 10,</a:t>
            </a:r>
          </a:p>
          <a:p>
            <a:r>
              <a:t>            "year": 2024,</a:t>
            </a:r>
          </a:p>
          <a:p>
            <a:r>
              <a:t>            "daily": 24575,</a:t>
            </a:r>
          </a:p>
          <a:p>
            <a:r>
              <a:t>            "local": 64582,</a:t>
            </a:r>
          </a:p>
          <a:p>
            <a:r>
              <a:t>            "total": 245750,</a:t>
            </a:r>
          </a:p>
          <a:p>
            <a:r>
              <a:t>            "foreign": 1170,</a:t>
            </a:r>
          </a:p>
          <a:p>
            <a:r>
              <a:t>            "outside": 179998,</a:t>
            </a:r>
          </a:p>
          <a:p>
            <a:r>
              <a:t>            "outside_daily": 17999.8,</a:t>
            </a:r>
          </a:p>
          <a:p>
            <a:r>
              <a:t>            "outside_share_pct": 73.2443540183113</a:t>
            </a:r>
          </a:p>
          <a:p>
            <a:r>
              <a:t>          },</a:t>
            </a:r>
          </a:p>
          <a:p>
            <a:r>
              <a:t>          {</a:t>
            </a:r>
          </a:p>
          <a:p>
            <a:r>
              <a:t>            "days": 9,</a:t>
            </a:r>
          </a:p>
          <a:p>
            <a:r>
              <a:t>            "year": 2025,</a:t>
            </a:r>
          </a:p>
          <a:p>
            <a:r>
              <a:t>            "daily": 28507.777777777777,</a:t>
            </a:r>
          </a:p>
          <a:p>
            <a:r>
              <a:t>            "local": 58704,</a:t>
            </a:r>
          </a:p>
          <a:p>
            <a:r>
              <a:t>            "total": 256570,</a:t>
            </a:r>
          </a:p>
          <a:p>
            <a:r>
              <a:t>            "foreign": 1166,</a:t>
            </a:r>
          </a:p>
          <a:p>
            <a:r>
              <a:t>            "outside": 196700,</a:t>
            </a:r>
          </a:p>
          <a:p>
            <a:r>
              <a:t>            "outside_daily": 21855.555555555555,</a:t>
            </a:r>
          </a:p>
          <a:p>
            <a:r>
              <a:t>            "outside_share_pct": 76.66523755700199</a:t>
            </a:r>
          </a:p>
          <a:p>
            <a:r>
              <a:t>          }</a:t>
            </a:r>
          </a:p>
          <a:p>
            <a:r>
              <a:t>        ],</a:t>
            </a:r>
          </a:p>
          <a:p>
            <a:r>
              <a:t>        "audience": [</a:t>
            </a:r>
          </a:p>
          <a:p>
            <a:r>
              <a:t>          {</a:t>
            </a:r>
          </a:p>
          <a:p>
            <a:r>
              <a:t>            "연령대": "70세 이상",</a:t>
            </a:r>
          </a:p>
          <a:p>
            <a:r>
              <a:t>            "축제명": "문경찻사발축제",</a:t>
            </a:r>
          </a:p>
          <a:p>
            <a:r>
              <a:t>            "남성비율": "4.0",</a:t>
            </a:r>
          </a:p>
          <a:p>
            <a:r>
              <a:t>            "여성비율": "3.8"</a:t>
            </a:r>
          </a:p>
          <a:p>
            <a:r>
              <a:t>          },</a:t>
            </a:r>
          </a:p>
          <a:p>
            <a:r>
              <a:t>          {</a:t>
            </a:r>
          </a:p>
          <a:p>
            <a:r>
              <a:t>            "연령대": "60~69세",</a:t>
            </a:r>
          </a:p>
          <a:p>
            <a:r>
              <a:t>            "축제명": "문경찻사발축제",</a:t>
            </a:r>
          </a:p>
          <a:p>
            <a:r>
              <a:t>            "남성비율": "12.3",</a:t>
            </a:r>
          </a:p>
          <a:p>
            <a:r>
              <a:t>            "여성비율": "10.0"</a:t>
            </a:r>
          </a:p>
          <a:p>
            <a:r>
              <a:t>          },</a:t>
            </a:r>
          </a:p>
          <a:p>
            <a:r>
              <a:t>          {</a:t>
            </a:r>
          </a:p>
          <a:p>
            <a:r>
              <a:t>            "연령대": "50~59세",</a:t>
            </a:r>
          </a:p>
          <a:p>
            <a:r>
              <a:t>            "축제명": "문경찻사발축제",</a:t>
            </a:r>
          </a:p>
          <a:p>
            <a:r>
              <a:t>            "남성비율": "13.0",</a:t>
            </a:r>
          </a:p>
          <a:p>
            <a:r>
              <a:t>            "여성비율": "11.7"</a:t>
            </a:r>
          </a:p>
          <a:p>
            <a:r>
              <a:t>          },</a:t>
            </a:r>
          </a:p>
          <a:p>
            <a:r>
              <a:t>          {</a:t>
            </a:r>
          </a:p>
          <a:p>
            <a:r>
              <a:t>            "연령대": "40~49세",</a:t>
            </a:r>
          </a:p>
          <a:p>
            <a:r>
              <a:t>            "축제명": "문경찻사발축제",</a:t>
            </a:r>
          </a:p>
          <a:p>
            <a:r>
              <a:t>            "남성비율": "9.3",</a:t>
            </a:r>
          </a:p>
          <a:p>
            <a:r>
              <a:t>            "여성비율": "7.6"</a:t>
            </a:r>
          </a:p>
          <a:p>
            <a:r>
              <a:t>          },</a:t>
            </a:r>
          </a:p>
          <a:p>
            <a:r>
              <a:t>          {</a:t>
            </a:r>
          </a:p>
          <a:p>
            <a:r>
              <a:t>            "연령대": "30~39세",</a:t>
            </a:r>
          </a:p>
          <a:p>
            <a:r>
              <a:t>            "축제명": "문경찻사발축제",</a:t>
            </a:r>
          </a:p>
          <a:p>
            <a:r>
              <a:t>            "남성비율": "7.2",</a:t>
            </a:r>
          </a:p>
          <a:p>
            <a:r>
              <a:t>            "여성비율": "6.1"</a:t>
            </a:r>
          </a:p>
          <a:p>
            <a:r>
              <a:t>          },</a:t>
            </a:r>
          </a:p>
          <a:p>
            <a:r>
              <a:t>          {</a:t>
            </a:r>
          </a:p>
          <a:p>
            <a:r>
              <a:t>            "연령대": "20~29세",</a:t>
            </a:r>
          </a:p>
          <a:p>
            <a:r>
              <a:t>            "축제명": "문경찻사발축제",</a:t>
            </a:r>
          </a:p>
          <a:p>
            <a:r>
              <a:t>            "남성비율": "4.6",</a:t>
            </a:r>
          </a:p>
          <a:p>
            <a:r>
              <a:t>            "여성비율": "4.1"</a:t>
            </a:r>
          </a:p>
          <a:p>
            <a:r>
              <a:t>          },</a:t>
            </a:r>
          </a:p>
          <a:p>
            <a:r>
              <a:t>          {</a:t>
            </a:r>
          </a:p>
          <a:p>
            <a:r>
              <a:t>            "연령대": "10~19세",</a:t>
            </a:r>
          </a:p>
          <a:p>
            <a:r>
              <a:t>            "축제명": "문경찻사발축제",</a:t>
            </a:r>
          </a:p>
          <a:p>
            <a:r>
              <a:t>            "남성비율": "2.5",</a:t>
            </a:r>
          </a:p>
          <a:p>
            <a:r>
              <a:t>            "여성비율": "2.5"</a:t>
            </a:r>
          </a:p>
          <a:p>
            <a:r>
              <a:t>          },</a:t>
            </a:r>
          </a:p>
          <a:p>
            <a:r>
              <a:t>          {</a:t>
            </a:r>
          </a:p>
          <a:p>
            <a:r>
              <a:t>            "연령대": "0~9세",</a:t>
            </a:r>
          </a:p>
          <a:p>
            <a:r>
              <a:t>            "축제명": "문경찻사발축제",</a:t>
            </a:r>
          </a:p>
          <a:p>
            <a:r>
              <a:t>            "남성비율": "0.6",</a:t>
            </a:r>
          </a:p>
          <a:p>
            <a:r>
              <a:t>            "여성비율": "0.6"</a:t>
            </a:r>
          </a:p>
          <a:p>
            <a:r>
              <a:t>          }</a:t>
            </a:r>
          </a:p>
          <a:p>
            <a:r>
              <a:t>        ],</a:t>
            </a:r>
          </a:p>
          <a:p>
            <a:r>
              <a:t>        "comparison": {</a:t>
            </a:r>
          </a:p>
          <a:p>
            <a:r>
              <a:t>          "daily": {</a:t>
            </a:r>
          </a:p>
          <a:p>
            <a:r>
              <a:t>            "after": 28507.777777777777,</a:t>
            </a:r>
          </a:p>
          <a:p>
            <a:r>
              <a:t>            "before": 24575,</a:t>
            </a:r>
          </a:p>
          <a:p>
            <a:r>
              <a:t>            "change_pct": 16.00316491466034,</a:t>
            </a:r>
          </a:p>
          <a:p>
            <a:r>
              <a:t>            "difference": 3932.7777777777774</a:t>
            </a:r>
          </a:p>
          <a:p>
            <a:r>
              <a:t>          },</a:t>
            </a:r>
          </a:p>
          <a:p>
            <a:r>
              <a:t>          "total": {</a:t>
            </a:r>
          </a:p>
          <a:p>
            <a:r>
              <a:t>            "after": 256570,</a:t>
            </a:r>
          </a:p>
          <a:p>
            <a:r>
              <a:t>            "before": 245750,</a:t>
            </a:r>
          </a:p>
          <a:p>
            <a:r>
              <a:t>            "change_pct": 4.402848423194294,</a:t>
            </a:r>
          </a:p>
          <a:p>
            <a:r>
              <a:t>            "difference": 10820</a:t>
            </a:r>
          </a:p>
          <a:p>
            <a:r>
              <a:t>          },</a:t>
            </a:r>
          </a:p>
          <a:p>
            <a:r>
              <a:t>          "outside": {</a:t>
            </a:r>
          </a:p>
          <a:p>
            <a:r>
              <a:t>            "after": 196700,</a:t>
            </a:r>
          </a:p>
          <a:p>
            <a:r>
              <a:t>            "before": 179998,</a:t>
            </a:r>
          </a:p>
          <a:p>
            <a:r>
              <a:t>            "change_pct": 9.278991988799866,</a:t>
            </a:r>
          </a:p>
          <a:p>
            <a:r>
              <a:t>            "difference": 16702</a:t>
            </a:r>
          </a:p>
          <a:p>
            <a:r>
              <a:t>          },</a:t>
            </a:r>
          </a:p>
          <a:p>
            <a:r>
              <a:t>          "after_days": 9,</a:t>
            </a:r>
          </a:p>
          <a:p>
            <a:r>
              <a:t>          "after_year": 2025,</a:t>
            </a:r>
          </a:p>
          <a:p>
            <a:r>
              <a:t>          "before_days": 10,</a:t>
            </a:r>
          </a:p>
          <a:p>
            <a:r>
              <a:t>          "before_year": 2024,</a:t>
            </a:r>
          </a:p>
          <a:p>
            <a:r>
              <a:t>          "outside_daily": {</a:t>
            </a:r>
          </a:p>
          <a:p>
            <a:r>
              <a:t>            "after": 21855.555555555555,</a:t>
            </a:r>
          </a:p>
          <a:p>
            <a:r>
              <a:t>            "before": 17999.8,</a:t>
            </a:r>
          </a:p>
          <a:p>
            <a:r>
              <a:t>            "change_pct": 21.421102209777644,</a:t>
            </a:r>
          </a:p>
          <a:p>
            <a:r>
              <a:t>            "difference": 3855.755555555555</a:t>
            </a:r>
          </a:p>
          <a:p>
            <a:r>
              <a:t>          }</a:t>
            </a:r>
          </a:p>
          <a:p>
            <a:r>
              <a:t>        },</a:t>
            </a:r>
          </a:p>
          <a:p>
            <a:r>
              <a:t>        "source_file": {</a:t>
            </a:r>
          </a:p>
          <a:p>
            <a:r>
              <a:t>          "sha256": "dfcb5b619f820d7ce4451f5e89294681bc37f49f8200ba859754d423602e51a1",</a:t>
            </a:r>
          </a:p>
          <a:p>
            <a:r>
              <a:t>          "provider": "한국관광 데이터랩",</a:t>
            </a:r>
          </a:p>
          <a:p>
            <a:r>
              <a:t>          "file_name": "20260820160334_문경찻사발축제_연도별 방문자 추이.csv",</a:t>
            </a:r>
          </a:p>
          <a:p>
            <a:r>
              <a:t>          "source_id": "festival-file:dfcb5b619f820d7ce445",</a:t>
            </a:r>
          </a:p>
          <a:p>
            <a:r>
              <a:t>          "source_url": "https://datalab.visitkorea.or.kr/",</a:t>
            </a:r>
          </a:p>
          <a:p>
            <a:r>
              <a:t>          "downloaded_at": "2026-08-20",</a:t>
            </a:r>
          </a:p>
          <a:p>
            <a:r>
              <a:t>          "relative_path": "data/source_snapshots/festivals_20260820/25. 문경찻사발축제_2023-2025/20260820160334_문경찻사발축제_연도별 방문자 추이.csv",</a:t>
            </a:r>
          </a:p>
          <a:p>
            <a:r>
              <a:t>          "provenance_status": "team_download_exact_query_url_unrecorded"</a:t>
            </a:r>
          </a:p>
          <a:p>
            <a:r>
              <a:t>        },</a:t>
            </a:r>
          </a:p>
          <a:p>
            <a:r>
              <a:t>        "region_basis": "목적지 검색 CSV의 시도+시군구 최빈 주소; 행사장 행정경계 확정은 아님",</a:t>
            </a:r>
          </a:p>
          <a:p>
            <a:r>
              <a:t>        "indicator_rule": "원본 지표값만 보존. 산식·단위 미확인으로 성장률/원화/정원/참여율 변환 금지.",</a:t>
            </a:r>
          </a:p>
          <a:p>
            <a:r>
              <a:t>        "audience_period": "다운로드 CSV에 연도 열 없음; 최신 개최연도와 자동 결합하지 않음",</a:t>
            </a:r>
          </a:p>
          <a:p>
            <a:r>
              <a:t>        "indicator_values": [</a:t>
            </a:r>
          </a:p>
          <a:p>
            <a:r>
              <a:t>          {</a:t>
            </a:r>
          </a:p>
          <a:p>
            <a:r>
              <a:t>            "구분명": "외부방문자 유입",</a:t>
            </a:r>
          </a:p>
          <a:p>
            <a:r>
              <a:t>            "그룹명": "축제기간",</a:t>
            </a:r>
          </a:p>
          <a:p>
            <a:r>
              <a:t>            "지표값": "0.414",</a:t>
            </a:r>
          </a:p>
          <a:p>
            <a:r>
              <a:t>            "축제명": "문경찻사발축제",</a:t>
            </a:r>
          </a:p>
          <a:p>
            <a:r>
              <a:t>            "개최년도": "2025"</a:t>
            </a:r>
          </a:p>
          <a:p>
            <a:r>
              <a:t>          },</a:t>
            </a:r>
          </a:p>
          <a:p>
            <a:r>
              <a:t>          {</a:t>
            </a:r>
          </a:p>
          <a:p>
            <a:r>
              <a:t>            "구분명": "현지인방문자 유입",</a:t>
            </a:r>
          </a:p>
          <a:p>
            <a:r>
              <a:t>            "그룹명": "축제기간",</a:t>
            </a:r>
          </a:p>
          <a:p>
            <a:r>
              <a:t>            "지표값": "0.86",</a:t>
            </a:r>
          </a:p>
          <a:p>
            <a:r>
              <a:t>            "축제명": "문경찻사발축제",</a:t>
            </a:r>
          </a:p>
          <a:p>
            <a:r>
              <a:t>            "개최년도": "2025"</a:t>
            </a:r>
          </a:p>
          <a:p>
            <a:r>
              <a:t>          },</a:t>
            </a:r>
          </a:p>
          <a:p>
            <a:r>
              <a:t>          {</a:t>
            </a:r>
          </a:p>
          <a:p>
            <a:r>
              <a:t>            "구분명": "내비게이션 검색량",</a:t>
            </a:r>
          </a:p>
          <a:p>
            <a:r>
              <a:t>            "그룹명": "축제기간",</a:t>
            </a:r>
          </a:p>
          <a:p>
            <a:r>
              <a:t>            "지표값": "0.273",</a:t>
            </a:r>
          </a:p>
          <a:p>
            <a:r>
              <a:t>            "축제명": "문경찻사발축제",</a:t>
            </a:r>
          </a:p>
          <a:p>
            <a:r>
              <a:t>            "개최년도": "2025"</a:t>
            </a:r>
          </a:p>
          <a:p>
            <a:r>
              <a:t>          },</a:t>
            </a:r>
          </a:p>
          <a:p>
            <a:r>
              <a:t>          {</a:t>
            </a:r>
          </a:p>
          <a:p>
            <a:r>
              <a:t>            "구분명": "관광소비",</a:t>
            </a:r>
          </a:p>
          <a:p>
            <a:r>
              <a:t>            "그룹명": "축제기간",</a:t>
            </a:r>
          </a:p>
          <a:p>
            <a:r>
              <a:t>            "지표값": "0.536",</a:t>
            </a:r>
          </a:p>
          <a:p>
            <a:r>
              <a:t>            "축제명": "문경찻사발축제",</a:t>
            </a:r>
          </a:p>
          <a:p>
            <a:r>
              <a:t>            "개최년도": "2025"</a:t>
            </a:r>
          </a:p>
          <a:p>
            <a:r>
              <a:t>          },</a:t>
            </a:r>
          </a:p>
          <a:p>
            <a:r>
              <a:t>          {</a:t>
            </a:r>
          </a:p>
          <a:p>
            <a:r>
              <a:t>            "구분명": "축제지 집중률",</a:t>
            </a:r>
          </a:p>
          <a:p>
            <a:r>
              <a:t>            "그룹명": "축제기간",</a:t>
            </a:r>
          </a:p>
          <a:p>
            <a:r>
              <a:t>            "지표값": "0.716",</a:t>
            </a:r>
          </a:p>
          <a:p>
            <a:r>
              <a:t>            "축제명": "문경찻사발축제",</a:t>
            </a:r>
          </a:p>
          <a:p>
            <a:r>
              <a:t>            "개최년도": "2025"</a:t>
            </a:r>
          </a:p>
          <a:p>
            <a:r>
              <a:t>          },</a:t>
            </a:r>
          </a:p>
          <a:p>
            <a:r>
              <a:t>          {</a:t>
            </a:r>
          </a:p>
          <a:p>
            <a:r>
              <a:t>            "구분명": "외부방문자 유입",</a:t>
            </a:r>
          </a:p>
          <a:p>
            <a:r>
              <a:t>            "그룹명": "비축제기간",</a:t>
            </a:r>
          </a:p>
          <a:p>
            <a:r>
              <a:t>            "지표값": "0.217",</a:t>
            </a:r>
          </a:p>
          <a:p>
            <a:r>
              <a:t>            "축제명": "문경찻사발축제",</a:t>
            </a:r>
          </a:p>
          <a:p>
            <a:r>
              <a:t>            "개최년도": "2025"</a:t>
            </a:r>
          </a:p>
          <a:p>
            <a:r>
              <a:t>          },</a:t>
            </a:r>
          </a:p>
          <a:p>
            <a:r>
              <a:t>          {</a:t>
            </a:r>
          </a:p>
          <a:p>
            <a:r>
              <a:t>            "구분명": "현지인방문자 유입",</a:t>
            </a:r>
          </a:p>
          <a:p>
            <a:r>
              <a:t>            "그룹명": "비축제기간",</a:t>
            </a:r>
          </a:p>
          <a:p>
            <a:r>
              <a:t>            "지표값": "0.725",</a:t>
            </a:r>
          </a:p>
          <a:p>
            <a:r>
              <a:t>            "축제명": "문경찻사발축제",</a:t>
            </a:r>
          </a:p>
          <a:p>
            <a:r>
              <a:t>            "개최년도": "2025"</a:t>
            </a:r>
          </a:p>
          <a:p>
            <a:r>
              <a:t>          },</a:t>
            </a:r>
          </a:p>
          <a:p>
            <a:r>
              <a:t>          {</a:t>
            </a:r>
          </a:p>
          <a:p>
            <a:r>
              <a:t>            "구분명": "내비게이션 검색량",</a:t>
            </a:r>
          </a:p>
          <a:p>
            <a:r>
              <a:t>            "그룹명": "비축제기간",</a:t>
            </a:r>
          </a:p>
          <a:p>
            <a:r>
              <a:t>            "지표값": "0.148",</a:t>
            </a:r>
          </a:p>
          <a:p>
            <a:r>
              <a:t>            "축제명": "문경찻사발축제",</a:t>
            </a:r>
          </a:p>
          <a:p>
            <a:r>
              <a:t>            "개최년도": "2025"</a:t>
            </a:r>
          </a:p>
          <a:p>
            <a:r>
              <a:t>          },</a:t>
            </a:r>
          </a:p>
          <a:p>
            <a:r>
              <a:t>          {</a:t>
            </a:r>
          </a:p>
          <a:p>
            <a:r>
              <a:t>            "구분명": "관광소비",</a:t>
            </a:r>
          </a:p>
          <a:p>
            <a:r>
              <a:t>            "그룹명": "비축제기간",</a:t>
            </a:r>
          </a:p>
          <a:p>
            <a:r>
              <a:t>            "지표값": "0.381",</a:t>
            </a:r>
          </a:p>
          <a:p>
            <a:r>
              <a:t>            "축제명": "문경찻사발축제",</a:t>
            </a:r>
          </a:p>
          <a:p>
            <a:r>
              <a:t>            "개최년도": "2025"</a:t>
            </a:r>
          </a:p>
          <a:p>
            <a:r>
              <a:t>          },</a:t>
            </a:r>
          </a:p>
          <a:p>
            <a:r>
              <a:t>          {</a:t>
            </a:r>
          </a:p>
          <a:p>
            <a:r>
              <a:t>            "구분명": "축제지 집중률",</a:t>
            </a:r>
          </a:p>
          <a:p>
            <a:r>
              <a:t>            "그룹명": "비축제기간",</a:t>
            </a:r>
          </a:p>
          <a:p>
            <a:r>
              <a:t>            "지표값": "0.607",</a:t>
            </a:r>
          </a:p>
          <a:p>
            <a:r>
              <a:t>            "축제명": "문경찻사발축제",</a:t>
            </a:r>
          </a:p>
          <a:p>
            <a:r>
              <a:t>            "개최년도": "2025"</a:t>
            </a:r>
          </a:p>
          <a:p>
            <a:r>
              <a:t>          }</a:t>
            </a:r>
          </a:p>
          <a:p>
            <a:r>
              <a:t>        ],</a:t>
            </a:r>
          </a:p>
          <a:p>
            <a:r>
              <a:t>        "destination_period": "다운로드 CSV에 연도 열 없음; 주변 검색 후보이며 제휴·실제 방문 증거 아님",</a:t>
            </a:r>
          </a:p>
          <a:p>
            <a:r>
              <a:t>        "destination_examples": [</a:t>
            </a:r>
          </a:p>
          <a:p>
            <a:r>
              <a:t>          {</a:t>
            </a:r>
          </a:p>
          <a:p>
            <a:r>
              <a:t>            "구분": "외지인",</a:t>
            </a:r>
          </a:p>
          <a:p>
            <a:r>
              <a:t>            "순위": "1",</a:t>
            </a:r>
          </a:p>
          <a:p>
            <a:r>
              <a:t>            "목적지명": "문경새재",</a:t>
            </a:r>
          </a:p>
          <a:p>
            <a:r>
              <a:t>            "카테고리": "역사유적지",</a:t>
            </a:r>
          </a:p>
          <a:p>
            <a:r>
              <a:t>            "도로명주소": "경북 문경시 새재로 932-0"</a:t>
            </a:r>
          </a:p>
          <a:p>
            <a:r>
              <a:t>          },</a:t>
            </a:r>
          </a:p>
          <a:p>
            <a:r>
              <a:t>          {</a:t>
            </a:r>
          </a:p>
          <a:p>
            <a:r>
              <a:t>            "구분": "외지인",</a:t>
            </a:r>
          </a:p>
          <a:p>
            <a:r>
              <a:t>            "순위": "2",</a:t>
            </a:r>
          </a:p>
          <a:p>
            <a:r>
              <a:t>            "목적지명": "문경종합온천",</a:t>
            </a:r>
          </a:p>
          <a:p>
            <a:r>
              <a:t>            "카테고리": "웰니스관광",</a:t>
            </a:r>
          </a:p>
          <a:p>
            <a:r>
              <a:t>            "도로명주소": "경북 문경시 온천2길 24-0"</a:t>
            </a:r>
          </a:p>
          <a:p>
            <a:r>
              <a:t>          },</a:t>
            </a:r>
          </a:p>
          <a:p>
            <a:r>
              <a:t>          {</a:t>
            </a:r>
          </a:p>
          <a:p>
            <a:r>
              <a:t>            "구분": "외지인",</a:t>
            </a:r>
          </a:p>
          <a:p>
            <a:r>
              <a:t>            "순위": "3",</a:t>
            </a:r>
          </a:p>
          <a:p>
            <a:r>
              <a:t>            "목적지명": "문경찻사발축제",</a:t>
            </a:r>
          </a:p>
          <a:p>
            <a:r>
              <a:t>            "카테고리": "기타문화관광지",</a:t>
            </a:r>
          </a:p>
          <a:p>
            <a:r>
              <a:t>            "도로명주소": "경북 문경시 새재로 933-0"</a:t>
            </a:r>
          </a:p>
          <a:p>
            <a:r>
              <a:t>          }</a:t>
            </a:r>
          </a:p>
          <a:p>
            <a:r>
              <a:t>        ]</a:t>
            </a:r>
          </a:p>
          <a:p>
            <a:r>
              <a:t>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"operating_statistics": [],</a:t>
            </a:r>
          </a:p>
          <a:p>
            <a:r>
              <a:t>      "published_or_updated_at": "2026-08-20",</a:t>
            </a:r>
          </a:p>
          <a:p>
            <a:r>
              <a:t>      "quantitative_result_approved": true</a:t>
            </a:r>
          </a:p>
          <a:p>
            <a:r>
              <a:t>    },</a:t>
            </a:r>
          </a:p>
          <a:p>
            <a:r>
              <a:t>    {</a:t>
            </a:r>
          </a:p>
          <a:p>
            <a:r>
              <a:t>      "title": "2025년 문화예술 축제 통합 지원사업 종합결과보고서",</a:t>
            </a:r>
          </a:p>
          <a:p>
            <a:r>
              <a:t>      "summary": "서울특별시 · 2025 문화예술 축제 통합 지원사업: 기존 공공·민간 축제의 재정지원·현장평가·관람객 조사 ·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"source_id": "case:28ff66d9b44637",</a:t>
            </a:r>
          </a:p>
          <a:p>
            <a:r>
              <a:t>      "source_url": "https://culture.seoul.go.kr/culture/cmmn/file/fileDown.do?atchFileId=bb34395b25504c66a77ef69999cacb1c&amp;bbsId=B0000006&amp;fileSn=1",</a:t>
            </a:r>
          </a:p>
          <a:p>
            <a:r>
              <a:t>      "case_region": "서울특별시",</a:t>
            </a:r>
          </a:p>
          <a:p>
            <a:r>
              <a:t>      "source_type": "benchmark_case",</a:t>
            </a:r>
          </a:p>
          <a:p>
            <a:r>
              <a:t>      "intervention": "2025 문화예술 축제 통합 지원사업: 기존 공공·민간 축제의 재정지원·현장평가·관람객 조사",</a:t>
            </a:r>
          </a:p>
          <a:p>
            <a:r>
              <a:t>      "document_type": null,</a:t>
            </a:r>
          </a:p>
          <a:p>
            <a:r>
              <a:t>      "observed_result": "평가 대상 263개 축제의 실적집계표상 관람객 수는 총 8,880,289명, 투입 인력은 64,810명이었다. 관람객 조사는 자치구 축제 5,955부 등 유형별 표본으로 실시했다. 다만 9~11월에 147개 축제가 열려 전체의 약 56%가 가을에 집중됐고, 보고서는 일률적 지표와 사후 개선 점검 부족을 한계로 지적했다. ([culture.seoul.go.kr](https://culture.seoul.go.kr/culture/cmmn/file/fileDown.do?atchFileId=bb34395b25504c66a77ef69999cacb1c&amp;bbsId=B0000006&amp;fileSn=1))",</a:t>
            </a:r>
          </a:p>
          <a:p>
            <a:r>
              <a:t>      "operating_model": "자치구 축제, 민간 축제, 지역대표공연예술제, 국악 민간행사를 묶어 지원하고 계획 실행도, 현장 운영, 접근성, 안전, 홍보, 만족도를 공통 체계로 평가했다. 2025년 평가 대상은 263개 축제였고 1,731개 프로그램을 4,993회 운영했다. ([culture.seoul.go.kr](https://culture.seoul.go.kr/culture/cmmn/file/fileDown.do?atchFileId=bb34395b25504c66a77ef69999cacb1c&amp;bbsId=B0000006&amp;fileSn=1))",</a:t>
            </a:r>
          </a:p>
          <a:p>
            <a:r>
              <a:t>      "retrieval_method": "official_web_search",</a:t>
            </a:r>
          </a:p>
          <a:p>
            <a:r>
              <a:t>      "evidence_strength": "medium",</a:t>
            </a:r>
          </a:p>
          <a:p>
            <a:r>
              <a:t>      "retrieval_context": {</a:t>
            </a:r>
          </a:p>
          <a:p>
            <a:r>
              <a:t>        "scope": "cross_province",</a:t>
            </a:r>
          </a:p>
          <a:p>
            <a:r>
              <a:t>        "peer_region_code": null</a:t>
            </a:r>
          </a:p>
          <a:p>
            <a:r>
              <a:t>      },</a:t>
            </a:r>
          </a:p>
          <a:p>
            <a:r>
              <a:t>      "measurement_period": "2025년 평가 대상 축제 개최기간과 종료 후 종합평가",</a:t>
            </a:r>
          </a:p>
          <a:p>
            <a:r>
              <a:t>      "transfer_conditions": [</a:t>
            </a:r>
          </a:p>
          <a:p>
            <a:r>
              <a:t>        "대전 서구에서는 신규 대형축제보다 기존 시설·민간행사·상권 프로그램을 묶고 공통 예약·결제 기록을 적용하는 요소만 축소 도입한다.",</a:t>
            </a:r>
          </a:p>
          <a:p>
            <a:r>
              <a:t>        "관광형, 지역상권형, 주민문화형의 목적과 지표를 분리해야 한다.",</a:t>
            </a:r>
          </a:p>
          <a:p>
            <a:r>
              <a:t>        "10~11월 행사 집중도를 확인하고 동일 날짜 경쟁을 피하는 회차·시간대 배치가 필요하다.",</a:t>
            </a:r>
          </a:p>
          <a:p>
            <a:r>
              <a:t>        "축제별 방문자 중 외지인, 사전예약자, 상권 결제자, 재방문자를 별도로 측정해야 한다."</a:t>
            </a:r>
          </a:p>
          <a:p>
            <a:r>
              <a:t>      ],</a:t>
            </a:r>
          </a:p>
          <a:p>
            <a:r>
              <a:t>      "operating_statistics": [</a:t>
            </a:r>
          </a:p>
          <a:p>
            <a:r>
              <a:t>        {</a:t>
            </a:r>
          </a:p>
          <a:p>
            <a:r>
              <a:t>          "unit": "festival",</a:t>
            </a:r>
          </a:p>
          <a:p>
            <a:r>
              <a:t>          "quote": "평가 대상 축제는 총 263개",</a:t>
            </a:r>
          </a:p>
          <a:p>
            <a:r>
              <a:t>          "scope": "서울시·서울문화재단 재정지원 축제 중 평가 대상",</a:t>
            </a:r>
          </a:p>
          <a:p>
            <a:r>
              <a:t>          "value": 263,</a:t>
            </a:r>
          </a:p>
          <a:p>
            <a:r>
              <a:t>          "metric": "sites",</a:t>
            </a:r>
          </a:p>
          <a:p>
            <a:r>
              <a:t>          "period": "2025-04 ~ 2025-12",</a:t>
            </a:r>
          </a:p>
          <a:p>
            <a:r>
              <a:t>          "program_name": "2025 문화예술 축제 통합 지원사업",</a:t>
            </a:r>
          </a:p>
          <a:p>
            <a:r>
              <a:t>          "capacity_count": null,</a:t>
            </a:r>
          </a:p>
          <a:p>
            <a:r>
              <a:t>          "participant_count": null</a:t>
            </a:r>
          </a:p>
          <a:p>
            <a:r>
              <a:t>        },</a:t>
            </a:r>
          </a:p>
          <a:p>
            <a:r>
              <a:t>        {</a:t>
            </a:r>
          </a:p>
          <a:p>
            <a:r>
              <a:t>          "unit": "person_visit",</a:t>
            </a:r>
          </a:p>
          <a:p>
            <a:r>
              <a:t>          "quote": "총 8,880,289명의 관람객이 방문",</a:t>
            </a:r>
          </a:p>
          <a:p>
            <a:r>
              <a:t>          "scope": "평가 대상 축제 실적집계표의 관람객 합계; 중복 방문 가능",</a:t>
            </a:r>
          </a:p>
          <a:p>
            <a:r>
              <a:t>          "value": 8880289,</a:t>
            </a:r>
          </a:p>
          <a:p>
            <a:r>
              <a:t>          "metric": "participants",</a:t>
            </a:r>
          </a:p>
          <a:p>
            <a:r>
              <a:t>          "period": "2025-04 ~ 2025-12",</a:t>
            </a:r>
          </a:p>
          <a:p>
            <a:r>
              <a:t>          "program_name": "2025 문화예술 축제 통합 지원사업",</a:t>
            </a:r>
          </a:p>
          <a:p>
            <a:r>
              <a:t>          "capacity_count": null,</a:t>
            </a:r>
          </a:p>
          <a:p>
            <a:r>
              <a:t>          "participant_count": 8880289</a:t>
            </a:r>
          </a:p>
          <a:p>
            <a:r>
              <a:t>        }</a:t>
            </a:r>
          </a:p>
          <a:p>
            <a:r>
              <a:t>      ],</a:t>
            </a:r>
          </a:p>
          <a:p>
            <a:r>
              <a:t>      "published_or_updated_at": "2026",</a:t>
            </a:r>
          </a:p>
          <a:p>
            <a:r>
              <a:t>      "quantitative_result_approved": null</a:t>
            </a:r>
          </a:p>
          <a:p>
            <a:r>
              <a:t>    },</a:t>
            </a:r>
          </a:p>
          <a:p>
            <a:r>
              <a:t>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a:t>
            </a:r>
          </a:p>
          <a:p>
            <a:r>
              <a:t>      "title": "요즘, 한국관광 2호 - 지방공항 연계 지역관광 활성화 방안",</a:t>
            </a:r>
          </a:p>
          <a:p>
            <a:r>
              <a:t>      "summary": "청주공항과 충청권 주요 관광지 연계 권역 · 청주공항·오송역·공주·부여 연계 광역 순환버스 및 수요응답형교통(DRT) ·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"source_id": "case:4544b7bca8ebab",</a:t>
            </a:r>
          </a:p>
          <a:p>
            <a:r>
              <a:t>      "source_url": "https://datalab.visitkorea.or.kr/site/portal/ex/bbs/View.do?bcIdx=311068&amp;cbIdx=1135&amp;pageIndex=1",</a:t>
            </a:r>
          </a:p>
          <a:p>
            <a:r>
              <a:t>      "case_region": "청주공항과 충청권 주요 관광지 연계 권역",</a:t>
            </a:r>
          </a:p>
          <a:p>
            <a:r>
              <a:t>      "source_type": "benchmark_case",</a:t>
            </a:r>
          </a:p>
          <a:p>
            <a:r>
              <a:t>      "intervention": "청주공항·오송역·공주·부여 연계 광역 순환버스 및 수요응답형교통(DRT)",</a:t>
            </a:r>
          </a:p>
          <a:p>
            <a:r>
              <a:t>      "document_type": null,</a:t>
            </a:r>
          </a:p>
          <a:p>
            <a:r>
              <a:t>      "observed_result": "2026년 상반기 순환버스와 DRT 이용객 합계는 7,470명으로 공개됐다. 같은 시기 청주공항 방한객과 국제선 공급도 증가했으나, 외부 항공수요와 노선 확대가 함께 작용했으므로 버스 운영의 단독 효과로 해석할 수 없다.",</a:t>
            </a:r>
          </a:p>
          <a:p>
            <a:r>
              <a:t>      "operating_model": "한국관광공사, 충청남도·충청북도, 지역 관광조직이 협업해 청주공항, 오송역, 공주터미널, 부여터미널 등 주요 거점을 연결하는 순환버스와 수요응답형 버스를 운영했다. 공항 유입을 개별 도시 홍보에 그치지 않고 교통·숙박·쇼핑·식당을 포함한 권역 상품으로 연결하는 구조다.",</a:t>
            </a:r>
          </a:p>
          <a:p>
            <a:r>
              <a:t>      "retrieval_method": "official_web_search",</a:t>
            </a:r>
          </a:p>
          <a:p>
            <a:r>
              <a:t>      "evidence_strength": "medium",</a:t>
            </a:r>
          </a:p>
          <a:p>
            <a:r>
              <a:t>      "retrieval_context": {</a:t>
            </a:r>
          </a:p>
          <a:p>
            <a:r>
              <a:t>        "scope": "national_or_unresolved",</a:t>
            </a:r>
          </a:p>
          <a:p>
            <a:r>
              <a:t>        "peer_region_code": null</a:t>
            </a:r>
          </a:p>
          <a:p>
            <a:r>
              <a:t>      },</a:t>
            </a:r>
          </a:p>
          <a:p>
            <a:r>
              <a:t>      "measurement_period": "2026-01 ~ 2026-06",</a:t>
            </a:r>
          </a:p>
          <a:p>
            <a:r>
              <a:t>      "transfer_conditions": [</a:t>
            </a:r>
          </a:p>
          <a:p>
            <a:r>
              <a:t>        "대전역·복합터미널·청주공항 등 실제 유입 거점과 서구 내 목적지 사이의 이동 수요를 먼저 확인해야 한다.",</a:t>
            </a:r>
          </a:p>
          <a:p>
            <a:r>
              <a:t>        "고정 노선은 일정 수요가 확인될 때 적용하고, 초기에는 예약형 셔틀·택시·기존 대중교통 이용권 방식도 비교해야 한다.",</a:t>
            </a:r>
          </a:p>
          <a:p>
            <a:r>
              <a:t>        "운송사업자, 시설 운영자, 예약 플랫폼 간 운행시간·취소·노쇼·안전 책임 협약이 필요하다.",</a:t>
            </a:r>
          </a:p>
          <a:p>
            <a:r>
              <a:t>        "대전 서구 단독보다 인접 자치구나 청주공항 연계 권역상품으로 운영할 경우 비용·성과의 행정구역별 배분 기준이 필요하다."</a:t>
            </a:r>
          </a:p>
          <a:p>
            <a:r>
              <a:t>      ],</a:t>
            </a:r>
          </a:p>
          <a:p>
            <a:r>
              <a:t>      "operating_statistics": [</a:t>
            </a:r>
          </a:p>
          <a:p>
            <a:r>
              <a:t>        {</a:t>
            </a:r>
          </a:p>
          <a:p>
            <a:r>
              <a:t>          "unit": "person",</a:t>
            </a:r>
          </a:p>
          <a:p>
            <a:r>
              <a:t>          "quote": "순환버스와 DRT 이용객은 총 7,470명",</a:t>
            </a:r>
          </a:p>
          <a:p>
            <a:r>
              <a:t>          "scope": "청주공항·충청권 광역 순환버스와 DRT 실제 이용객 합계",</a:t>
            </a:r>
          </a:p>
          <a:p>
            <a:r>
              <a:t>          "value": 7470,</a:t>
            </a:r>
          </a:p>
          <a:p>
            <a:r>
              <a:t>          "metric": "participants",</a:t>
            </a:r>
          </a:p>
          <a:p>
            <a:r>
              <a:t>          "period": "2026년 상반기",</a:t>
            </a:r>
          </a:p>
          <a:p>
            <a:r>
              <a:t>          "program_name": "청주공항 연계 광역 순환버스·DRT",</a:t>
            </a:r>
          </a:p>
          <a:p>
            <a:r>
              <a:t>          "capacity_count": null,</a:t>
            </a:r>
          </a:p>
          <a:p>
            <a:r>
              <a:t>          "participant_count": 7470</a:t>
            </a:r>
          </a:p>
          <a:p>
            <a:r>
              <a:t>        }</a:t>
            </a:r>
          </a:p>
          <a:p>
            <a:r>
              <a:t>      ],</a:t>
            </a:r>
          </a:p>
          <a:p>
            <a:r>
              <a:t>      "published_or_updated_at": "2026-08",</a:t>
            </a:r>
          </a:p>
          <a:p>
            <a:r>
              <a:t>      "quantitative_result_approved": null</a:t>
            </a:r>
          </a:p>
          <a:p>
            <a:r>
              <a:t>    },</a:t>
            </a:r>
          </a:p>
          <a:p>
            <a:r>
              <a:t>    {</a:t>
            </a:r>
          </a:p>
          <a:p>
            <a:r>
              <a:t>      "title": "2024년 6월 여행가는 달 추진 보도자료",</a:t>
            </a:r>
          </a:p>
          <a:p>
            <a:r>
              <a:t>      "summary": "전국 인구감소지역 34곳 · 디지털 관광주민증과 교통·숙박·상점 할인 결합 · 2024년 34개 지역 약 800개 관광업체에 혜택 구조를 적용",</a:t>
            </a:r>
          </a:p>
          <a:p>
            <a:r>
              <a:t>      "source_id": "case:digital_tourism_resident_2024",</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"case_region": "전국 인구감소지역 34곳",</a:t>
            </a:r>
          </a:p>
          <a:p>
            <a:r>
              <a:t>      "source_type": "benchmark_case",</a:t>
            </a:r>
          </a:p>
          <a:p>
            <a:r>
              <a:t>      "intervention": "디지털 관광주민증과 교통·숙박·상점 할인 결합",</a:t>
            </a:r>
          </a:p>
          <a:p>
            <a:r>
              <a:t>      "document_type": "case_study",</a:t>
            </a:r>
          </a:p>
          <a:p>
            <a:r>
              <a:t>      "observed_result": "2024년 34개 지역 약 800개 관광업체에 혜택 구조를 적용",</a:t>
            </a:r>
          </a:p>
          <a:p>
            <a:r>
              <a:t>      "operating_model": "디지털 관광주민증 참여업체 현장 인증과 숙박·식음·관람·체험 할인, 특정 시간대 KTX 할인과 방문 후 교통 할인권을 결합",</a:t>
            </a:r>
          </a:p>
          <a:p>
            <a:r>
              <a:t>      "retrieval_method": "curated_registry",</a:t>
            </a:r>
          </a:p>
          <a:p>
            <a:r>
              <a:t>      "evidence_strength": "medium",</a:t>
            </a:r>
          </a:p>
          <a:p>
            <a:r>
              <a:t>      "retrieval_context": {</a:t>
            </a:r>
          </a:p>
          <a:p>
            <a:r>
              <a:t>        "scope": "national_or_unresolved",</a:t>
            </a:r>
          </a:p>
          <a:p>
            <a:r>
              <a:t>        "peer_region_code": null</a:t>
            </a:r>
          </a:p>
          <a:p>
            <a:r>
              <a:t>      },</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"operating_statistics": [],</a:t>
            </a:r>
          </a:p>
          <a:p>
            <a:r>
              <a:t>      "published_or_updated_at": "2024-05-14",</a:t>
            </a:r>
          </a:p>
          <a:p>
            <a:r>
              <a:t>      "quantitative_result_approved": null</a:t>
            </a:r>
          </a:p>
          <a:p>
            <a:r>
              <a:t>    },</a:t>
            </a:r>
          </a:p>
          <a:p>
            <a:r>
              <a:t>    {</a:t>
            </a:r>
          </a:p>
          <a:p>
            <a:r>
              <a:t>      "title": "2022 대한민국 숙박대전 경제파급효과 공개자료",</a:t>
            </a:r>
          </a:p>
          <a:p>
            <a:r>
              <a:t>      "summary": "전국 숙박할인쿠폰 지원사업 · 온라인 예약 채널 숙박할인쿠폰 · 한국관광공사 자료는 약 104만 명이 할인혜택을 이용했고 서울·제주를 제외한 지역 사용 비율이 76%였다고 소개함",</a:t>
            </a:r>
          </a:p>
          <a:p>
            <a:r>
              <a:t>      "source_id": "case:kto_stay_discount_2022",</a:t>
            </a:r>
          </a:p>
          <a:p>
            <a:r>
              <a:t>      "source_url": "https://kto.visitkorea.or.kr/upload/flexer/upload/ktobiz/20220928/b623b5f9-3ec0-11ed-9832-ddf31964842e.hwp.files/Sections1.html",</a:t>
            </a:r>
          </a:p>
          <a:p>
            <a:r>
              <a:t>      "case_region": "전국 숙박할인쿠폰 지원사업",</a:t>
            </a:r>
          </a:p>
          <a:p>
            <a:r>
              <a:t>      "source_type": "benchmark_case",</a:t>
            </a:r>
          </a:p>
          <a:p>
            <a:r>
              <a:t>      "intervention": "온라인 예약 채널 숙박할인쿠폰",</a:t>
            </a:r>
          </a:p>
          <a:p>
            <a:r>
              <a:t>      "document_type": "case_study",</a:t>
            </a:r>
          </a:p>
          <a:p>
            <a:r>
              <a:t>      "observed_result": "한국관광공사 자료는 약 104만 명이 할인혜택을 이용했고 서울·제주를 제외한 지역 사용 비율이 76%였다고 소개함",</a:t>
            </a:r>
          </a:p>
          <a:p>
            <a:r>
              <a:t>      "operating_model": "온라인 여행사 예약 단계에서 할인쿠폰을 제공하고, 지역 숙소에서 사용할 수 있도록 참여 채널과 기간을 통합 운영",</a:t>
            </a:r>
          </a:p>
          <a:p>
            <a:r>
              <a:t>      "retrieval_method": "curated_registry",</a:t>
            </a:r>
          </a:p>
          <a:p>
            <a:r>
              <a:t>      "evidence_strength": "medium",</a:t>
            </a:r>
          </a:p>
          <a:p>
            <a:r>
              <a:t>      "retrieval_context": {</a:t>
            </a:r>
          </a:p>
          <a:p>
            <a:r>
              <a:t>        "scope": "national_or_unresolved",</a:t>
            </a:r>
          </a:p>
          <a:p>
            <a:r>
              <a:t>        "peer_region_code": null</a:t>
            </a:r>
          </a:p>
          <a:p>
            <a:r>
              <a:t>      },</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"operating_statistics": [],</a:t>
            </a:r>
          </a:p>
          <a:p>
            <a:r>
              <a:t>      "published_or_updated_at": "2022-09-28",</a:t>
            </a:r>
          </a:p>
          <a:p>
            <a:r>
              <a:t>      "quantitative_result_approved": null</a:t>
            </a:r>
          </a:p>
          <a:p>
            <a:r>
              <a:t>    },</a:t>
            </a:r>
          </a:p>
          <a:p>
            <a:r>
              <a:t>    {</a:t>
            </a:r>
          </a:p>
          <a:p>
            <a:r>
              <a:t>      "title": "2025 대한민국 밤밤페스타 개최 도시 및 일정",</a:t>
            </a:r>
          </a:p>
          <a:p>
            <a:r>
              <a:t>      "summary": "야간관광 특화도시 10곳 · 도시별 야간 콘텐츠를 순회형 축제로 묶는 운영 · 공식 여행기사는 개최 도시·장소·운영 시간과 콘텐츠만 제시하며 방문·소비 성과 수치는 제시하지 않음",</a:t>
            </a:r>
          </a:p>
          <a:p>
            <a:r>
              <a:t>      "source_id": "case:night_festival_2025",</a:t>
            </a:r>
          </a:p>
          <a:p>
            <a:r>
              <a:t>      "source_url": "https://korean.visitkorea.or.kr/detail/rem_detail.do?cotid=f9c636b2-dd7c-4f09-af3d-6af43b33d371",</a:t>
            </a:r>
          </a:p>
          <a:p>
            <a:r>
              <a:t>      "case_region": "야간관광 특화도시 10곳",</a:t>
            </a:r>
          </a:p>
          <a:p>
            <a:r>
              <a:t>      "source_type": "benchmark_case",</a:t>
            </a:r>
          </a:p>
          <a:p>
            <a:r>
              <a:t>      "intervention": "도시별 야간 콘텐츠를 순회형 축제로 묶는 운영",</a:t>
            </a:r>
          </a:p>
          <a:p>
            <a:r>
              <a:t>      "document_type": "case_study",</a:t>
            </a:r>
          </a:p>
          <a:p>
            <a:r>
              <a:t>      "observed_result": "공식 여행기사는 개최 도시·장소·운영 시간과 콘텐츠만 제시하며 방문·소비 성과 수치는 제시하지 않음",</a:t>
            </a:r>
          </a:p>
          <a:p>
            <a:r>
              <a:t>      "operating_model": "10개 야간관광 특화도시의 대표 장소와 시간대를 연결하고, 공연·체험·지역 디저트·판매상품 등 도시별 콘텐츠를 순회 일정으로 운영",</a:t>
            </a:r>
          </a:p>
          <a:p>
            <a:r>
              <a:t>      "retrieval_method": "curated_registry",</a:t>
            </a:r>
          </a:p>
          <a:p>
            <a:r>
              <a:t>      "evidence_strength": "medium",</a:t>
            </a:r>
          </a:p>
          <a:p>
            <a:r>
              <a:t>      "retrieval_context": {</a:t>
            </a:r>
          </a:p>
          <a:p>
            <a:r>
              <a:t>        "scope": "national_or_unresolved",</a:t>
            </a:r>
          </a:p>
          <a:p>
            <a:r>
              <a:t>        "peer_region_code": null</a:t>
            </a:r>
          </a:p>
          <a:p>
            <a:r>
              <a:t>      },</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"operating_statistics": [],</a:t>
            </a:r>
          </a:p>
          <a:p>
            <a:r>
              <a:t>      "published_or_updated_at": "2025",</a:t>
            </a:r>
          </a:p>
          <a:p>
            <a:r>
              <a:t>      "quantitative_result_approved": null</a:t>
            </a:r>
          </a:p>
          <a:p>
            <a:r>
              <a:t>    },</a:t>
            </a:r>
          </a:p>
          <a:p>
            <a:r>
              <a:t>    {</a:t>
            </a:r>
          </a:p>
          <a:p>
            <a:r>
              <a:t>      "title": "남선공원",</a:t>
            </a:r>
          </a:p>
          <a:p>
            <a:r>
              <a:t>      "address": "대전광역시 서구 남선로 66",</a:t>
            </a:r>
          </a:p>
          <a:p>
            <a:r>
              <a:t>      "summary": "한국관광공사 국문관광정보 API가 반환한 선택 지역 관광자원",</a:t>
            </a:r>
          </a:p>
          <a:p>
            <a:r>
              <a:t>      "image_url": "http://tong.visitkorea.or.kr/cms/resource/24/3565624_image2_1.jpg",</a:t>
            </a:r>
          </a:p>
          <a:p>
            <a:r>
              <a:t>      "source_id": "tour-api:2758252",</a:t>
            </a:r>
          </a:p>
          <a:p>
            <a:r>
              <a:t>      "content_id": "2758252",</a:t>
            </a:r>
          </a:p>
          <a:p>
            <a:r>
              <a:t>      "source_url": "https://apis.data.go.kr/B551011/KorService2",</a:t>
            </a:r>
          </a:p>
          <a:p>
            <a:r>
              <a:t>      "source_type": "open_api",</a:t>
            </a:r>
          </a:p>
          <a:p>
            <a:r>
              <a:t>      "content_type_id": "12"</a:t>
            </a:r>
          </a:p>
          <a:p>
            <a:r>
              <a:t>    }</a:t>
            </a:r>
          </a:p>
          <a:p>
            <a:r>
              <a:t>  ],</a:t>
            </a:r>
          </a:p>
          <a:p>
            <a:r>
              <a:t>  "selected_forecast": {</a:t>
            </a:r>
          </a:p>
          <a:p>
            <a:r>
              <a:t>    "rows": [</a:t>
            </a:r>
          </a:p>
          <a:p>
            <a:r>
              <a:t>      {</a:t>
            </a:r>
          </a:p>
          <a:p>
            <a:r>
              <a:t>        "month": "202610",</a:t>
            </a:r>
          </a:p>
          <a:p>
            <a:r>
              <a:t>        "visitors": 4998578.0,</a:t>
            </a:r>
          </a:p>
          <a:p>
            <a:r>
              <a:t>        "is_forecast": true,</a:t>
            </a:r>
          </a:p>
          <a:p>
            <a:r>
              <a:t>        "spending_krw": 79359374710.0,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4940348.0,</a:t>
            </a:r>
          </a:p>
          <a:p>
            <a:r>
              <a:t>        "is_forecast": true,</a:t>
            </a:r>
          </a:p>
          <a:p>
            <a:r>
              <a:t>        "spending_krw": 85971975908.0,</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4989633.0,</a:t>
            </a:r>
          </a:p>
          <a:p>
            <a:r>
              <a:t>        "is_forecast": true,</a:t>
            </a:r>
          </a:p>
          <a:p>
            <a:r>
              <a:t>        "spending_krw": 81033922052.0,</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4982887,</a:t>
            </a:r>
          </a:p>
          <a:p>
            <a:r>
              <a:t>      "is_forecast": true,</a:t>
            </a:r>
          </a:p>
          <a:p>
            <a:r>
              <a:t>      "spending_krw": 80283647550,</a:t>
            </a:r>
          </a:p>
          <a:p>
            <a:r>
              <a:t>      "stay_minutes": 1223.0,</a:t>
            </a:r>
          </a:p>
          <a:p>
            <a:r>
              <a:t>      "lodging_nights": 2.91,</a:t>
            </a:r>
          </a:p>
          <a:p>
            <a:r>
              <a:t>      "lodging_rate_pct": 7.3,</a:t>
            </a:r>
          </a:p>
          <a:p>
            <a:r>
              <a:t>      "lodging_searches": 12843,</a:t>
            </a:r>
          </a:p>
          <a:p>
            <a:r>
              <a:t>      "navigation_searches": 209722,</a:t>
            </a:r>
          </a:p>
          <a:p>
            <a:r>
              <a:t>      "visitor_yoy_percent": 0.64,</a:t>
            </a:r>
          </a:p>
          <a:p>
            <a:r>
              <a:t>      "spending_yoy_percent": 6.85,</a:t>
            </a:r>
          </a:p>
          <a:p>
            <a:r>
              <a:t>      "metric_changes_percent": {</a:t>
            </a:r>
          </a:p>
          <a:p>
            <a:r>
              <a:t>        "stay_minutes": 0.0,</a:t>
            </a:r>
          </a:p>
          <a:p>
            <a:r>
              <a:t>        "lodging_nights": 0.0,</a:t>
            </a:r>
          </a:p>
          <a:p>
            <a:r>
              <a:t>        "lodging_rate_pct": 0.0,</a:t>
            </a:r>
          </a:p>
          <a:p>
            <a:r>
              <a:t>        "lodging_searches": 0.0,</a:t>
            </a:r>
          </a:p>
          <a:p>
            <a:r>
              <a:t>        "navigation_searches": -0.44</a:t>
            </a:r>
          </a:p>
          <a:p>
            <a:r>
              <a:t>      },</a:t>
            </a:r>
          </a:p>
          <a:p>
            <a:r>
              <a:t>      "previous_year_visitors": 4951150,</a:t>
            </a:r>
          </a:p>
          <a:p>
            <a:r>
              <a:t>      "previous_year_spending_krw": 75135145000,</a:t>
            </a:r>
          </a:p>
          <a:p>
            <a:r>
              <a:t>      "previous_year_stay_minutes": 1223.0,</a:t>
            </a:r>
          </a:p>
          <a:p>
            <a:r>
              <a:t>      "previous_year_lodging_nights": 2.91,</a:t>
            </a:r>
          </a:p>
          <a:p>
            <a:r>
              <a:t>      "previous_year_lodging_rate_pct": 7.3,</a:t>
            </a:r>
          </a:p>
          <a:p>
            <a:r>
              <a:t>      "previous_year_lodging_searches": 12843,</a:t>
            </a:r>
          </a:p>
          <a:p>
            <a:r>
              <a:t>      "previous_year_navigation_searches": 210646</a:t>
            </a:r>
          </a:p>
          <a:p>
            <a:r>
              <a:t>    },</a:t>
            </a:r>
          </a:p>
          <a:p>
            <a:r>
              <a:t>    {</a:t>
            </a:r>
          </a:p>
          <a:p>
            <a:r>
              <a:t>      "month": "202608",</a:t>
            </a:r>
          </a:p>
          <a:p>
            <a:r>
              <a:t>      "visitors": 4852547,</a:t>
            </a:r>
          </a:p>
          <a:p>
            <a:r>
              <a:t>      "is_forecast": true,</a:t>
            </a:r>
          </a:p>
          <a:p>
            <a:r>
              <a:t>      "spending_krw": 76665340753,</a:t>
            </a:r>
          </a:p>
          <a:p>
            <a:r>
              <a:t>      "stay_minutes": 1218.0,</a:t>
            </a:r>
          </a:p>
          <a:p>
            <a:r>
              <a:t>      "lodging_nights": 2.84,</a:t>
            </a:r>
          </a:p>
          <a:p>
            <a:r>
              <a:t>      "lodging_rate_pct": 7.9,</a:t>
            </a:r>
          </a:p>
          <a:p>
            <a:r>
              <a:t>      "lodging_searches": 13272,</a:t>
            </a:r>
          </a:p>
          <a:p>
            <a:r>
              <a:t>      "navigation_searches": 225159,</a:t>
            </a:r>
          </a:p>
          <a:p>
            <a:r>
              <a:t>      "visitor_yoy_percent": -1.76,</a:t>
            </a:r>
          </a:p>
          <a:p>
            <a:r>
              <a:t>      "spending_yoy_percent": 0.49,</a:t>
            </a:r>
          </a:p>
          <a:p>
            <a:r>
              <a:t>      "metric_changes_percent": {</a:t>
            </a:r>
          </a:p>
          <a:p>
            <a:r>
              <a:t>        "stay_minutes": 0.0,</a:t>
            </a:r>
          </a:p>
          <a:p>
            <a:r>
              <a:t>        "lodging_nights": 0.0,</a:t>
            </a:r>
          </a:p>
          <a:p>
            <a:r>
              <a:t>        "lodging_rate_pct": 0.0,</a:t>
            </a:r>
          </a:p>
          <a:p>
            <a:r>
              <a:t>        "lodging_searches": 0.0,</a:t>
            </a:r>
          </a:p>
          <a:p>
            <a:r>
              <a:t>        "navigation_searches": 2.0</a:t>
            </a:r>
          </a:p>
          <a:p>
            <a:r>
              <a:t>      },</a:t>
            </a:r>
          </a:p>
          <a:p>
            <a:r>
              <a:t>      "previous_year_visitors": 4939438,</a:t>
            </a:r>
          </a:p>
          <a:p>
            <a:r>
              <a:t>      "previous_year_spending_krw": 76291079000,</a:t>
            </a:r>
          </a:p>
          <a:p>
            <a:r>
              <a:t>      "previous_year_stay_minutes": 1218.0,</a:t>
            </a:r>
          </a:p>
          <a:p>
            <a:r>
              <a:t>      "previous_year_lodging_nights": 2.84,</a:t>
            </a:r>
          </a:p>
          <a:p>
            <a:r>
              <a:t>      "previous_year_lodging_rate_pct": 7.9,</a:t>
            </a:r>
          </a:p>
          <a:p>
            <a:r>
              <a:t>      "previous_year_lodging_searches": 13272,</a:t>
            </a:r>
          </a:p>
          <a:p>
            <a:r>
              <a:t>      "previous_year_navigation_searches": 220742</a:t>
            </a:r>
          </a:p>
          <a:p>
            <a:r>
              <a:t>    },</a:t>
            </a:r>
          </a:p>
          <a:p>
            <a:r>
              <a:t>    {</a:t>
            </a:r>
          </a:p>
          <a:p>
            <a:r>
              <a:t>      "month": "202609",</a:t>
            </a:r>
          </a:p>
          <a:p>
            <a:r>
              <a:t>      "visitors": 4823300,</a:t>
            </a:r>
          </a:p>
          <a:p>
            <a:r>
              <a:t>      "is_forecast": true,</a:t>
            </a:r>
          </a:p>
          <a:p>
            <a:r>
              <a:t>      "spending_krw": 80194062490,</a:t>
            </a:r>
          </a:p>
          <a:p>
            <a:r>
              <a:t>      "stay_minutes": 1281.0,</a:t>
            </a:r>
          </a:p>
          <a:p>
            <a:r>
              <a:t>      "lodging_nights": 2.93,</a:t>
            </a:r>
          </a:p>
          <a:p>
            <a:r>
              <a:t>      "lodging_rate_pct": 6.7,</a:t>
            </a:r>
          </a:p>
          <a:p>
            <a:r>
              <a:t>      "lodging_searches": 11464,</a:t>
            </a:r>
          </a:p>
          <a:p>
            <a:r>
              <a:t>      "navigation_searches": 206180,</a:t>
            </a:r>
          </a:p>
          <a:p>
            <a:r>
              <a:t>      "visitor_yoy_percent": -0.39,</a:t>
            </a:r>
          </a:p>
          <a:p>
            <a:r>
              <a:t>      "spending_yoy_percent": 13.32,</a:t>
            </a:r>
          </a:p>
          <a:p>
            <a:r>
              <a:t>      "metric_changes_percent": {</a:t>
            </a:r>
          </a:p>
          <a:p>
            <a:r>
              <a:t>        "stay_minutes": 0.0,</a:t>
            </a:r>
          </a:p>
          <a:p>
            <a:r>
              <a:t>        "lodging_nights": 0.0,</a:t>
            </a:r>
          </a:p>
          <a:p>
            <a:r>
              <a:t>        "lodging_rate_pct": 0.0,</a:t>
            </a:r>
          </a:p>
          <a:p>
            <a:r>
              <a:t>        "lodging_searches": 0.0,</a:t>
            </a:r>
          </a:p>
          <a:p>
            <a:r>
              <a:t>        "navigation_searches": 7.4</a:t>
            </a:r>
          </a:p>
          <a:p>
            <a:r>
              <a:t>      },</a:t>
            </a:r>
          </a:p>
          <a:p>
            <a:r>
              <a:t>      "previous_year_visitors": 4842196,</a:t>
            </a:r>
          </a:p>
          <a:p>
            <a:r>
              <a:t>      "previous_year_spending_krw": 70764730000,</a:t>
            </a:r>
          </a:p>
          <a:p>
            <a:r>
              <a:t>      "previous_year_stay_minutes": 1281.0,</a:t>
            </a:r>
          </a:p>
          <a:p>
            <a:r>
              <a:t>      "previous_year_lodging_nights": 2.93,</a:t>
            </a:r>
          </a:p>
          <a:p>
            <a:r>
              <a:t>      "previous_year_lodging_rate_pct": 6.7,</a:t>
            </a:r>
          </a:p>
          <a:p>
            <a:r>
              <a:t>      "previous_year_lodging_searches": 11464,</a:t>
            </a:r>
          </a:p>
          <a:p>
            <a:r>
              <a:t>      "previous_year_navigation_searches": 191971</a:t>
            </a:r>
          </a:p>
          <a:p>
            <a:r>
              <a:t>    },</a:t>
            </a:r>
          </a:p>
          <a:p>
            <a:r>
              <a:t>    {</a:t>
            </a:r>
          </a:p>
          <a:p>
            <a:r>
              <a:t>      "month": "202610",</a:t>
            </a:r>
          </a:p>
          <a:p>
            <a:r>
              <a:t>      "visitors": 4998578,</a:t>
            </a:r>
          </a:p>
          <a:p>
            <a:r>
              <a:t>      "is_forecast": true,</a:t>
            </a:r>
          </a:p>
          <a:p>
            <a:r>
              <a:t>      "spending_krw": 79359374710,</a:t>
            </a:r>
          </a:p>
          <a:p>
            <a:r>
              <a:t>      "stay_minutes": 1170.0,</a:t>
            </a:r>
          </a:p>
          <a:p>
            <a:r>
              <a:t>      "lodging_nights": 2.85,</a:t>
            </a:r>
          </a:p>
          <a:p>
            <a:r>
              <a:t>      "lodging_rate_pct": 8.9,</a:t>
            </a:r>
          </a:p>
          <a:p>
            <a:r>
              <a:t>      "lodging_searches": 19187,</a:t>
            </a:r>
          </a:p>
          <a:p>
            <a:r>
              <a:t>      "navigation_searches": 237779,</a:t>
            </a:r>
          </a:p>
          <a:p>
            <a:r>
              <a:t>      "visitor_yoy_percent": 0.99,</a:t>
            </a:r>
          </a:p>
          <a:p>
            <a:r>
              <a:t>      "spending_yoy_percent": 1.54,</a:t>
            </a:r>
          </a:p>
          <a:p>
            <a:r>
              <a:t>      "metric_changes_percent": {</a:t>
            </a:r>
          </a:p>
          <a:p>
            <a:r>
              <a:t>        "stay_minutes": 0.0,</a:t>
            </a:r>
          </a:p>
          <a:p>
            <a:r>
              <a:t>        "lodging_nights": 0.0,</a:t>
            </a:r>
          </a:p>
          <a:p>
            <a:r>
              <a:t>        "lodging_rate_pct": 0.0,</a:t>
            </a:r>
          </a:p>
          <a:p>
            <a:r>
              <a:t>        "lodging_searches": 0.0,</a:t>
            </a:r>
          </a:p>
          <a:p>
            <a:r>
              <a:t>        "navigation_searches": -26.82</a:t>
            </a:r>
          </a:p>
          <a:p>
            <a:r>
              <a:t>      },</a:t>
            </a:r>
          </a:p>
          <a:p>
            <a:r>
              <a:t>      "previous_year_visitors": 4949394,</a:t>
            </a:r>
          </a:p>
          <a:p>
            <a:r>
              <a:t>      "previous_year_spending_krw": 78158272000,</a:t>
            </a:r>
          </a:p>
          <a:p>
            <a:r>
              <a:t>      "previous_year_stay_minutes": 1170.0,</a:t>
            </a:r>
          </a:p>
          <a:p>
            <a:r>
              <a:t>      "previous_year_lodging_nights": 2.85,</a:t>
            </a:r>
          </a:p>
          <a:p>
            <a:r>
              <a:t>      "previous_year_lodging_rate_pct": 8.9,</a:t>
            </a:r>
          </a:p>
          <a:p>
            <a:r>
              <a:t>      "previous_year_lodging_searches": 19187,</a:t>
            </a:r>
          </a:p>
          <a:p>
            <a:r>
              <a:t>      "previous_year_navigation_searches": 324902</a:t>
            </a:r>
          </a:p>
          <a:p>
            <a:r>
              <a:t>    },</a:t>
            </a:r>
          </a:p>
          <a:p>
            <a:r>
              <a:t>    {</a:t>
            </a:r>
          </a:p>
          <a:p>
            <a:r>
              <a:t>      "month": "202611",</a:t>
            </a:r>
          </a:p>
          <a:p>
            <a:r>
              <a:t>      "visitors": 4940348,</a:t>
            </a:r>
          </a:p>
          <a:p>
            <a:r>
              <a:t>      "is_forecast": true,</a:t>
            </a:r>
          </a:p>
          <a:p>
            <a:r>
              <a:t>      "spending_krw": 85971975908,</a:t>
            </a:r>
          </a:p>
          <a:p>
            <a:r>
              <a:t>      "stay_minutes": 987.0,</a:t>
            </a:r>
          </a:p>
          <a:p>
            <a:r>
              <a:t>      "lodging_nights": 2.79,</a:t>
            </a:r>
          </a:p>
          <a:p>
            <a:r>
              <a:t>      "lodging_rate_pct": 6.5,</a:t>
            </a:r>
          </a:p>
          <a:p>
            <a:r>
              <a:t>      "lodging_searches": 14379,</a:t>
            </a:r>
          </a:p>
          <a:p>
            <a:r>
              <a:t>      "navigation_searches": 231894,</a:t>
            </a:r>
          </a:p>
          <a:p>
            <a:r>
              <a:t>      "visitor_yoy_percent": -4.4,</a:t>
            </a:r>
          </a:p>
          <a:p>
            <a:r>
              <a:t>      "spending_yoy_percent": 12.37,</a:t>
            </a:r>
          </a:p>
          <a:p>
            <a:r>
              <a:t>      "metric_changes_percent": {</a:t>
            </a:r>
          </a:p>
          <a:p>
            <a:r>
              <a:t>        "stay_minutes": 0.0,</a:t>
            </a:r>
          </a:p>
          <a:p>
            <a:r>
              <a:t>        "lodging_nights": 0.0,</a:t>
            </a:r>
          </a:p>
          <a:p>
            <a:r>
              <a:t>        "lodging_rate_pct": 0.0,</a:t>
            </a:r>
          </a:p>
          <a:p>
            <a:r>
              <a:t>        "lodging_searches": 0.0,</a:t>
            </a:r>
          </a:p>
          <a:p>
            <a:r>
              <a:t>        "navigation_searches": -2.86</a:t>
            </a:r>
          </a:p>
          <a:p>
            <a:r>
              <a:t>      },</a:t>
            </a:r>
          </a:p>
          <a:p>
            <a:r>
              <a:t>      "previous_year_visitors": 5167969,</a:t>
            </a:r>
          </a:p>
          <a:p>
            <a:r>
              <a:t>      "previous_year_spending_krw": 76509918000,</a:t>
            </a:r>
          </a:p>
          <a:p>
            <a:r>
              <a:t>      "previous_year_stay_minutes": 987.0,</a:t>
            </a:r>
          </a:p>
          <a:p>
            <a:r>
              <a:t>      "previous_year_lodging_nights": 2.79,</a:t>
            </a:r>
          </a:p>
          <a:p>
            <a:r>
              <a:t>      "previous_year_lodging_rate_pct": 6.5,</a:t>
            </a:r>
          </a:p>
          <a:p>
            <a:r>
              <a:t>      "previous_year_lodging_searches": 14379,</a:t>
            </a:r>
          </a:p>
          <a:p>
            <a:r>
              <a:t>      "previous_year_navigation_searches": 238728</a:t>
            </a:r>
          </a:p>
          <a:p>
            <a:r>
              <a:t>    },</a:t>
            </a:r>
          </a:p>
          <a:p>
            <a:r>
              <a:t>    {</a:t>
            </a:r>
          </a:p>
          <a:p>
            <a:r>
              <a:t>      "month": "202612",</a:t>
            </a:r>
          </a:p>
          <a:p>
            <a:r>
              <a:t>      "visitors": 4989633,</a:t>
            </a:r>
          </a:p>
          <a:p>
            <a:r>
              <a:t>      "is_forecast": true,</a:t>
            </a:r>
          </a:p>
          <a:p>
            <a:r>
              <a:t>      "spending_krw": 81033922052,</a:t>
            </a:r>
          </a:p>
          <a:p>
            <a:r>
              <a:t>      "stay_minutes": 1118.0,</a:t>
            </a:r>
          </a:p>
          <a:p>
            <a:r>
              <a:t>      "lodging_nights": 2.81,</a:t>
            </a:r>
          </a:p>
          <a:p>
            <a:r>
              <a:t>      "lodging_rate_pct": 7.3,</a:t>
            </a:r>
          </a:p>
          <a:p>
            <a:r>
              <a:t>      "lodging_searches": 12004,</a:t>
            </a:r>
          </a:p>
          <a:p>
            <a:r>
              <a:t>      "navigation_searches": 225518,</a:t>
            </a:r>
          </a:p>
          <a:p>
            <a:r>
              <a:t>      "visitor_yoy_percent": -1.77,</a:t>
            </a:r>
          </a:p>
          <a:p>
            <a:r>
              <a:t>      "spending_yoy_percent": -0.11,</a:t>
            </a:r>
          </a:p>
          <a:p>
            <a:r>
              <a:t>      "metric_changes_percent": {</a:t>
            </a:r>
          </a:p>
          <a:p>
            <a:r>
              <a:t>        "stay_minutes": 0.0,</a:t>
            </a:r>
          </a:p>
          <a:p>
            <a:r>
              <a:t>        "lodging_nights": 0.0,</a:t>
            </a:r>
          </a:p>
          <a:p>
            <a:r>
              <a:t>        "lodging_rate_pct": 0.0,</a:t>
            </a:r>
          </a:p>
          <a:p>
            <a:r>
              <a:t>        "lodging_searches": 0.0,</a:t>
            </a:r>
          </a:p>
          <a:p>
            <a:r>
              <a:t>        "navigation_searches": 2.41</a:t>
            </a:r>
          </a:p>
          <a:p>
            <a:r>
              <a:t>      },</a:t>
            </a:r>
          </a:p>
          <a:p>
            <a:r>
              <a:t>      "previous_year_visitors": 5079597,</a:t>
            </a:r>
          </a:p>
          <a:p>
            <a:r>
              <a:t>      "previous_year_spending_krw": 81119852000,</a:t>
            </a:r>
          </a:p>
          <a:p>
            <a:r>
              <a:t>      "previous_year_stay_minutes": 1118.0,</a:t>
            </a:r>
          </a:p>
          <a:p>
            <a:r>
              <a:t>      "previous_year_lodging_nights": 2.81,</a:t>
            </a:r>
          </a:p>
          <a:p>
            <a:r>
              <a:t>      "previous_year_lodging_rate_pct": 7.3,</a:t>
            </a:r>
          </a:p>
          <a:p>
            <a:r>
              <a:t>      "previous_year_lodging_searches": 12004,</a:t>
            </a:r>
          </a:p>
          <a:p>
            <a:r>
              <a:t>      "previous_year_navigation_searches": 220205</a:t>
            </a:r>
          </a:p>
          <a:p>
            <a:r>
              <a:t>    }</a:t>
            </a:r>
          </a:p>
          <a:p>
            <a:r>
              <a:t>  ],</a:t>
            </a:r>
          </a:p>
          <a:p>
            <a:r>
              <a:t>  "evaluation": {</a:t>
            </a:r>
          </a:p>
          <a:p>
            <a:r>
              <a:t>    "metrics": {</a:t>
            </a:r>
          </a:p>
          <a:p>
            <a:r>
              <a:t>      "visitors": {</a:t>
            </a:r>
          </a:p>
          <a:p>
            <a:r>
              <a:t>        "test_mae": 237105.53,</a:t>
            </a:r>
          </a:p>
          <a:p>
            <a:r>
              <a:t>        "recursive_mae": {</a:t>
            </a:r>
          </a:p>
          <a:p>
            <a:r>
              <a:t>          "1": {</a:t>
            </a:r>
          </a:p>
          <a:p>
            <a:r>
              <a:t>            "baseline": 211072,</a:t>
            </a:r>
          </a:p>
          <a:p>
            <a:r>
              <a:t>            "selected": 332727,</a:t>
            </a:r>
          </a:p>
          <a:p>
            <a:r>
              <a:t>            "sample_count": 2</a:t>
            </a:r>
          </a:p>
          <a:p>
            <a:r>
              <a:t>          },</a:t>
            </a:r>
          </a:p>
          <a:p>
            <a:r>
              <a:t>          "2": {</a:t>
            </a:r>
          </a:p>
          <a:p>
            <a:r>
              <a:t>            "baseline": 97043,</a:t>
            </a:r>
          </a:p>
          <a:p>
            <a:r>
              <a:t>            "selected": 141143.5,</a:t>
            </a:r>
          </a:p>
          <a:p>
            <a:r>
              <a:t>            "sample_count": 2</a:t>
            </a:r>
          </a:p>
          <a:p>
            <a:r>
              <a:t>          },</a:t>
            </a:r>
          </a:p>
          <a:p>
            <a:r>
              <a:t>          "3": {</a:t>
            </a:r>
          </a:p>
          <a:p>
            <a:r>
              <a:t>            "baseline": 174799,</a:t>
            </a:r>
          </a:p>
          <a:p>
            <a:r>
              <a:t>            "selected": 168591.5,</a:t>
            </a:r>
          </a:p>
          <a:p>
            <a:r>
              <a:t>            "sample_count": 2</a:t>
            </a:r>
          </a:p>
          <a:p>
            <a:r>
              <a:t>          }</a:t>
            </a:r>
          </a:p>
          <a:p>
            <a:r>
              <a:t>        },</a:t>
            </a:r>
          </a:p>
          <a:p>
            <a:r>
              <a:t>        "selected_model": "RandomForestRegressor",</a:t>
            </a:r>
          </a:p>
          <a:p>
            <a:r>
              <a:t>        "baseline_test_mae": 192935.5,</a:t>
            </a:r>
          </a:p>
          <a:p>
            <a:r>
              <a:t>        "model_reliability": "below_baseline_on_test",</a:t>
            </a:r>
          </a:p>
          <a:p>
            <a:r>
              <a:t>        "beats_baseline_on_test": false,</a:t>
            </a:r>
          </a:p>
          <a:p>
            <a:r>
              <a:t>        "recursive_horizons_worse_than_baseline": [</a:t>
            </a:r>
          </a:p>
          <a:p>
            <a:r>
              <a:t>          "1",</a:t>
            </a:r>
          </a:p>
          <a:p>
            <a:r>
              <a:t>          "2"</a:t>
            </a:r>
          </a:p>
          <a:p>
            <a:r>
              <a:t>        ]</a:t>
            </a:r>
          </a:p>
          <a:p>
            <a:r>
              <a:t>      },</a:t>
            </a:r>
          </a:p>
          <a:p>
            <a:r>
              <a:t>      "spending_krw": {</a:t>
            </a:r>
          </a:p>
          <a:p>
            <a:r>
              <a:t>        "test_mae": 4927867951.9,</a:t>
            </a:r>
          </a:p>
          <a:p>
            <a:r>
              <a:t>        "recursive_mae": {</a:t>
            </a:r>
          </a:p>
          <a:p>
            <a:r>
              <a:t>          "1": {</a:t>
            </a:r>
          </a:p>
          <a:p>
            <a:r>
              <a:t>            "baseline": 1944140500,</a:t>
            </a:r>
          </a:p>
          <a:p>
            <a:r>
              <a:t>            "selected": 3237755191,</a:t>
            </a:r>
          </a:p>
          <a:p>
            <a:r>
              <a:t>            "sample_count": 2</a:t>
            </a:r>
          </a:p>
          <a:p>
            <a:r>
              <a:t>          },</a:t>
            </a:r>
          </a:p>
          <a:p>
            <a:r>
              <a:t>          "2": {</a:t>
            </a:r>
          </a:p>
          <a:p>
            <a:r>
              <a:t>            "baseline": 3984052500,</a:t>
            </a:r>
          </a:p>
          <a:p>
            <a:r>
              <a:t>            "selected": 1581504765.5,</a:t>
            </a:r>
          </a:p>
          <a:p>
            <a:r>
              <a:t>            "sample_count": 2</a:t>
            </a:r>
          </a:p>
          <a:p>
            <a:r>
              <a:t>          },</a:t>
            </a:r>
          </a:p>
          <a:p>
            <a:r>
              <a:t>          "3": {</a:t>
            </a:r>
          </a:p>
          <a:p>
            <a:r>
              <a:t>            "baseline": 2878173500,</a:t>
            </a:r>
          </a:p>
          <a:p>
            <a:r>
              <a:t>            "selected": 4493524184.5,</a:t>
            </a:r>
          </a:p>
          <a:p>
            <a:r>
              <a:t>            "sample_count": 2</a:t>
            </a:r>
          </a:p>
          <a:p>
            <a:r>
              <a:t>          }</a:t>
            </a:r>
          </a:p>
          <a:p>
            <a:r>
              <a:t>        },</a:t>
            </a:r>
          </a:p>
          <a:p>
            <a:r>
              <a:t>        "selected_model": "LinearRegression",</a:t>
            </a:r>
          </a:p>
          <a:p>
            <a:r>
              <a:t>        "baseline_test_mae": 2411157000,</a:t>
            </a:r>
          </a:p>
          <a:p>
            <a:r>
              <a:t>        "model_reliability": "below_baseline_on_test",</a:t>
            </a:r>
          </a:p>
          <a:p>
            <a:r>
              <a:t>        "beats_baseline_on_test": false,</a:t>
            </a:r>
          </a:p>
          <a:p>
            <a:r>
              <a:t>        "recursive_horizons_worse_than_baseline": [</a:t>
            </a:r>
          </a:p>
          <a:p>
            <a:r>
              <a:t>          "1",</a:t>
            </a:r>
          </a:p>
          <a:p>
            <a:r>
              <a:t>          "3"</a:t>
            </a:r>
          </a:p>
          <a:p>
            <a:r>
              <a:t>        ]</a:t>
            </a:r>
          </a:p>
          <a:p>
            <a:r>
              <a:t>      },</a:t>
            </a:r>
          </a:p>
          <a:p>
            <a:r>
              <a:t>      "stay_minutes": {</a:t>
            </a:r>
          </a:p>
          <a:p>
            <a:r>
              <a:t>        "test_mae": 113.5,</a:t>
            </a:r>
          </a:p>
          <a:p>
            <a:r>
              <a:t>        "recursive_mae": {</a:t>
            </a:r>
          </a:p>
          <a:p>
            <a:r>
              <a:t>          "1": {</a:t>
            </a:r>
          </a:p>
          <a:p>
            <a:r>
              <a:t>            "baseline": 52,</a:t>
            </a:r>
          </a:p>
          <a:p>
            <a:r>
              <a:t>            "selected": 52,</a:t>
            </a:r>
          </a:p>
          <a:p>
            <a:r>
              <a:t>            "sample_count": 2</a:t>
            </a:r>
          </a:p>
          <a:p>
            <a:r>
              <a:t>          },</a:t>
            </a:r>
          </a:p>
          <a:p>
            <a:r>
              <a:t>          "2": {</a:t>
            </a:r>
          </a:p>
          <a:p>
            <a:r>
              <a:t>            "baseline": 218.5,</a:t>
            </a:r>
          </a:p>
          <a:p>
            <a:r>
              <a:t>            "selected": 218.5,</a:t>
            </a:r>
          </a:p>
          <a:p>
            <a:r>
              <a:t>            "sample_count": 2</a:t>
            </a:r>
          </a:p>
          <a:p>
            <a:r>
              <a:t>          },</a:t>
            </a:r>
          </a:p>
          <a:p>
            <a:r>
              <a:t>          "3": {</a:t>
            </a:r>
          </a:p>
          <a:p>
            <a:r>
              <a:t>            "baseline": 175,</a:t>
            </a:r>
          </a:p>
          <a:p>
            <a:r>
              <a:t>            "selected": 175,</a:t>
            </a:r>
          </a:p>
          <a:p>
            <a:r>
              <a:t>            "sample_count": 2</a:t>
            </a:r>
          </a:p>
          <a:p>
            <a:r>
              <a:t>          }</a:t>
            </a:r>
          </a:p>
          <a:p>
            <a:r>
              <a:t>        },</a:t>
            </a:r>
          </a:p>
          <a:p>
            <a:r>
              <a:t>        "selected_model": "seasonal_naive_previous_year_same_month",</a:t>
            </a:r>
          </a:p>
          <a:p>
            <a:r>
              <a:t>        "baseline_test_mae": 113.5,</a:t>
            </a:r>
          </a:p>
          <a:p>
            <a:r>
              <a:t>        "model_reliability": "seasonal_baseline",</a:t>
            </a:r>
          </a:p>
          <a:p>
            <a:r>
              <a:t>        "beats_baseline_on_test": false,</a:t>
            </a:r>
          </a:p>
          <a:p>
            <a:r>
              <a:t>        "recursive_horizons_worse_than_baseline": []</a:t>
            </a:r>
          </a:p>
          <a:p>
            <a:r>
              <a:t>      },</a:t>
            </a:r>
          </a:p>
          <a:p>
            <a:r>
              <a:t>      "lodging_nights": {</a:t>
            </a:r>
          </a:p>
          <a:p>
            <a:r>
              <a:t>        "test_mae": 0.07,</a:t>
            </a:r>
          </a:p>
          <a:p>
            <a:r>
              <a:t>        "recursive_mae": {</a:t>
            </a:r>
          </a:p>
          <a:p>
            <a:r>
              <a:t>          "1": {</a:t>
            </a:r>
          </a:p>
          <a:p>
            <a:r>
              <a:t>            "baseline": 0.06,</a:t>
            </a:r>
          </a:p>
          <a:p>
            <a:r>
              <a:t>            "selected": 0.06,</a:t>
            </a:r>
          </a:p>
          <a:p>
            <a:r>
              <a:t>            "sample_count": 2</a:t>
            </a:r>
          </a:p>
          <a:p>
            <a:r>
              <a:t>          },</a:t>
            </a:r>
          </a:p>
          <a:p>
            <a:r>
              <a:t>          "2": {</a:t>
            </a:r>
          </a:p>
          <a:p>
            <a:r>
              <a:t>            "baseline": 0.11,</a:t>
            </a:r>
          </a:p>
          <a:p>
            <a:r>
              <a:t>            "selected": 0.11,</a:t>
            </a:r>
          </a:p>
          <a:p>
            <a:r>
              <a:t>            "sample_count": 2</a:t>
            </a:r>
          </a:p>
          <a:p>
            <a:r>
              <a:t>          },</a:t>
            </a:r>
          </a:p>
          <a:p>
            <a:r>
              <a:t>          "3": {</a:t>
            </a:r>
          </a:p>
          <a:p>
            <a:r>
              <a:t>            "baseline": 0.08,</a:t>
            </a:r>
          </a:p>
          <a:p>
            <a:r>
              <a:t>            "selected": 0.08,</a:t>
            </a:r>
          </a:p>
          <a:p>
            <a:r>
              <a:t>            "sample_count": 2</a:t>
            </a:r>
          </a:p>
          <a:p>
            <a:r>
              <a:t>          }</a:t>
            </a:r>
          </a:p>
          <a:p>
            <a:r>
              <a:t>        },</a:t>
            </a:r>
          </a:p>
          <a:p>
            <a:r>
              <a:t>        "selected_model": "seasonal_naive_previous_year_same_month",</a:t>
            </a:r>
          </a:p>
          <a:p>
            <a:r>
              <a:t>        "baseline_test_mae": 0.07,</a:t>
            </a:r>
          </a:p>
          <a:p>
            <a:r>
              <a:t>        "model_reliability": "seasonal_baseline",</a:t>
            </a:r>
          </a:p>
          <a:p>
            <a:r>
              <a:t>        "beats_baseline_on_test": false,</a:t>
            </a:r>
          </a:p>
          <a:p>
            <a:r>
              <a:t>        "recursive_horizons_worse_than_baseline": []</a:t>
            </a:r>
          </a:p>
          <a:p>
            <a:r>
              <a:t>      },</a:t>
            </a:r>
          </a:p>
          <a:p>
            <a:r>
              <a:t>      "lodging_rate_pct": {</a:t>
            </a:r>
          </a:p>
          <a:p>
            <a:r>
              <a:t>        "test_mae": 0.3,</a:t>
            </a:r>
          </a:p>
          <a:p>
            <a:r>
              <a:t>        "recursive_mae": {</a:t>
            </a:r>
          </a:p>
          <a:p>
            <a:r>
              <a:t>          "1": {</a:t>
            </a:r>
          </a:p>
          <a:p>
            <a:r>
              <a:t>            "baseline": 0.4,</a:t>
            </a:r>
          </a:p>
          <a:p>
            <a:r>
              <a:t>            "selected": 0.4,</a:t>
            </a:r>
          </a:p>
          <a:p>
            <a:r>
              <a:t>            "sample_count": 2</a:t>
            </a:r>
          </a:p>
          <a:p>
            <a:r>
              <a:t>          },</a:t>
            </a:r>
          </a:p>
          <a:p>
            <a:r>
              <a:t>          "2": {</a:t>
            </a:r>
          </a:p>
          <a:p>
            <a:r>
              <a:t>            "baseline": 0.2,</a:t>
            </a:r>
          </a:p>
          <a:p>
            <a:r>
              <a:t>            "selected": 0.2,</a:t>
            </a:r>
          </a:p>
          <a:p>
            <a:r>
              <a:t>            "sample_count": 2</a:t>
            </a:r>
          </a:p>
          <a:p>
            <a:r>
              <a:t>          },</a:t>
            </a:r>
          </a:p>
          <a:p>
            <a:r>
              <a:t>          "3": {</a:t>
            </a:r>
          </a:p>
          <a:p>
            <a:r>
              <a:t>            "baseline": 0.2,</a:t>
            </a:r>
          </a:p>
          <a:p>
            <a:r>
              <a:t>            "selected": 0.2,</a:t>
            </a:r>
          </a:p>
          <a:p>
            <a:r>
              <a:t>            "sample_count": 2</a:t>
            </a:r>
          </a:p>
          <a:p>
            <a:r>
              <a:t>          }</a:t>
            </a:r>
          </a:p>
          <a:p>
            <a:r>
              <a:t>        },</a:t>
            </a:r>
          </a:p>
          <a:p>
            <a:r>
              <a:t>        "selected_model": "seasonal_naive_previous_year_same_month",</a:t>
            </a:r>
          </a:p>
          <a:p>
            <a:r>
              <a:t>        "baseline_test_mae": 0.3,</a:t>
            </a:r>
          </a:p>
          <a:p>
            <a:r>
              <a:t>        "model_reliability": "seasonal_baseline",</a:t>
            </a:r>
          </a:p>
          <a:p>
            <a:r>
              <a:t>        "beats_baseline_on_test": false,</a:t>
            </a:r>
          </a:p>
          <a:p>
            <a:r>
              <a:t>        "recursive_horizons_worse_than_baseline": []</a:t>
            </a:r>
          </a:p>
          <a:p>
            <a:r>
              <a:t>      },</a:t>
            </a:r>
          </a:p>
          <a:p>
            <a:r>
              <a:t>      "lodging_searches": {</a:t>
            </a:r>
          </a:p>
          <a:p>
            <a:r>
              <a:t>        "test_mae": 526.5,</a:t>
            </a:r>
          </a:p>
          <a:p>
            <a:r>
              <a:t>        "recursive_mae": {</a:t>
            </a:r>
          </a:p>
          <a:p>
            <a:r>
              <a:t>          "1": {</a:t>
            </a:r>
          </a:p>
          <a:p>
            <a:r>
              <a:t>            "baseline": 779,</a:t>
            </a:r>
          </a:p>
          <a:p>
            <a:r>
              <a:t>            "selected": 779,</a:t>
            </a:r>
          </a:p>
          <a:p>
            <a:r>
              <a:t>            "sample_count": 2</a:t>
            </a:r>
          </a:p>
          <a:p>
            <a:r>
              <a:t>          },</a:t>
            </a:r>
          </a:p>
          <a:p>
            <a:r>
              <a:t>          "2": {</a:t>
            </a:r>
          </a:p>
          <a:p>
            <a:r>
              <a:t>            "baseline": 391.5,</a:t>
            </a:r>
          </a:p>
          <a:p>
            <a:r>
              <a:t>            "selected": 391.5,</a:t>
            </a:r>
          </a:p>
          <a:p>
            <a:r>
              <a:t>            "sample_count": 2</a:t>
            </a:r>
          </a:p>
          <a:p>
            <a:r>
              <a:t>          },</a:t>
            </a:r>
          </a:p>
          <a:p>
            <a:r>
              <a:t>          "3": {</a:t>
            </a:r>
          </a:p>
          <a:p>
            <a:r>
              <a:t>            "baseline": 274,</a:t>
            </a:r>
          </a:p>
          <a:p>
            <a:r>
              <a:t>            "selected": 274,</a:t>
            </a:r>
          </a:p>
          <a:p>
            <a:r>
              <a:t>            "sample_count": 2</a:t>
            </a:r>
          </a:p>
          <a:p>
            <a:r>
              <a:t>          }</a:t>
            </a:r>
          </a:p>
          <a:p>
            <a:r>
              <a:t>        },</a:t>
            </a:r>
          </a:p>
          <a:p>
            <a:r>
              <a:t>        "selected_model": "seasonal_naive_previous_year_same_month",</a:t>
            </a:r>
          </a:p>
          <a:p>
            <a:r>
              <a:t>        "baseline_test_mae": 526.5,</a:t>
            </a:r>
          </a:p>
          <a:p>
            <a:r>
              <a:t>        "model_reliability": "seasonal_baseline",</a:t>
            </a:r>
          </a:p>
          <a:p>
            <a:r>
              <a:t>        "beats_baseline_on_test": false,</a:t>
            </a:r>
          </a:p>
          <a:p>
            <a:r>
              <a:t>        "recursive_horizons_worse_than_baseline": []</a:t>
            </a:r>
          </a:p>
          <a:p>
            <a:r>
              <a:t>      },</a:t>
            </a:r>
          </a:p>
          <a:p>
            <a:r>
              <a:t>      "navigation_searches": {</a:t>
            </a:r>
          </a:p>
          <a:p>
            <a:r>
              <a:t>        "test_mae": 20482.57,</a:t>
            </a:r>
          </a:p>
          <a:p>
            <a:r>
              <a:t>        "recursive_mae": {</a:t>
            </a:r>
          </a:p>
          <a:p>
            <a:r>
              <a:t>          "1": {</a:t>
            </a:r>
          </a:p>
          <a:p>
            <a:r>
              <a:t>            "baseline": 9487,</a:t>
            </a:r>
          </a:p>
          <a:p>
            <a:r>
              <a:t>            "selected": 20785,</a:t>
            </a:r>
          </a:p>
          <a:p>
            <a:r>
              <a:t>            "sample_count": 2</a:t>
            </a:r>
          </a:p>
          <a:p>
            <a:r>
              <a:t>          },</a:t>
            </a:r>
          </a:p>
          <a:p>
            <a:r>
              <a:t>          "2": {</a:t>
            </a:r>
          </a:p>
          <a:p>
            <a:r>
              <a:t>            "baseline": 6758.5,</a:t>
            </a:r>
          </a:p>
          <a:p>
            <a:r>
              <a:t>            "selected": 14198,</a:t>
            </a:r>
          </a:p>
          <a:p>
            <a:r>
              <a:t>            "sample_count": 2</a:t>
            </a:r>
          </a:p>
          <a:p>
            <a:r>
              <a:t>          },</a:t>
            </a:r>
          </a:p>
          <a:p>
            <a:r>
              <a:t>          "3": {</a:t>
            </a:r>
          </a:p>
          <a:p>
            <a:r>
              <a:t>            "baseline": 14633,</a:t>
            </a:r>
          </a:p>
          <a:p>
            <a:r>
              <a:t>            "selected": 18839,</a:t>
            </a:r>
          </a:p>
          <a:p>
            <a:r>
              <a:t>            "sample_count": 2</a:t>
            </a:r>
          </a:p>
          <a:p>
            <a:r>
              <a:t>          }</a:t>
            </a:r>
          </a:p>
          <a:p>
            <a:r>
              <a:t>        },</a:t>
            </a:r>
          </a:p>
          <a:p>
            <a:r>
              <a:t>        "selected_model": "RandomForestRegressor",</a:t>
            </a:r>
          </a:p>
          <a:p>
            <a:r>
              <a:t>        "baseline_test_mae": 12060,</a:t>
            </a:r>
          </a:p>
          <a:p>
            <a:r>
              <a:t>        "model_reliability": "below_baseline_on_test",</a:t>
            </a:r>
          </a:p>
          <a:p>
            <a:r>
              <a:t>        "beats_baseline_on_test": false,</a:t>
            </a:r>
          </a:p>
          <a:p>
            <a:r>
              <a:t>        "recursive_horizons_worse_than_baseline": [</a:t>
            </a:r>
          </a:p>
          <a:p>
            <a:r>
              <a:t>          "1",</a:t>
            </a:r>
          </a:p>
          <a:p>
            <a:r>
              <a:t>          "2",</a:t>
            </a:r>
          </a:p>
          <a:p>
            <a:r>
              <a:t>          "3"</a:t>
            </a:r>
          </a:p>
          <a:p>
            <a:r>
              <a:t>        ]</a:t>
            </a:r>
          </a:p>
          <a:p>
            <a:r>
              <a:t>      }</a:t>
            </a:r>
          </a:p>
          <a:p>
            <a:r>
              <a:t>    },</a:t>
            </a:r>
          </a:p>
          <a:p>
            <a:r>
              <a:t>    "test_period": "202603~202606",</a:t>
            </a:r>
          </a:p>
          <a:p>
            <a:r>
              <a:t>    "selection_basis": "validation_mae_only",</a:t>
            </a:r>
          </a:p>
          <a:p>
            <a:r>
              <a:t>    "validation_period": "202512~202602",</a:t>
            </a:r>
          </a:p>
          <a:p>
            <a:r>
              <a:t>    "longer_horizon_status": "exploratory_not_recursively_backtested",</a:t>
            </a:r>
          </a:p>
          <a:p>
            <a:r>
              <a:t>    "forecast_horizon_months": 6,</a:t>
            </a:r>
          </a:p>
          <a:p>
            <a:r>
              <a:t>    "recursive_backtest_horizon_months": [</a:t>
            </a:r>
          </a:p>
          <a:p>
            <a:r>
              <a:t>      1,</a:t>
            </a:r>
          </a:p>
          <a:p>
            <a:r>
              <a:t>      2,</a:t>
            </a:r>
          </a:p>
          <a:p>
            <a:r>
              <a:t>      3</a:t>
            </a:r>
          </a:p>
          <a:p>
            <a:r>
              <a:t>    ]</a:t>
            </a:r>
          </a:p>
          <a:p>
            <a:r>
              <a:t>  },</a:t>
            </a:r>
          </a:p>
          <a:p>
            <a:r>
              <a:t>  "execution_scenario": {</a:t>
            </a:r>
          </a:p>
          <a:p>
            <a:r>
              <a:t>    "visitor_target_pct": 0.019303448467232462,</a:t>
            </a:r>
          </a:p>
          <a:p>
            <a:r>
              <a:t>    "spending_target_pct": 0.04151694433378397,</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"총 예산 = Σ min(적격 결제액 × 가정 환급률, 건별 상한액). (기획 가정/미확정 견적)",</a:t>
            </a:r>
          </a:p>
          <a:p>
            <a:r>
              <a:t>        "본문 기준"</a:t>
            </a:r>
          </a:p>
          <a:p>
            <a:r>
              <a:t>      ]</a:t>
            </a:r>
          </a:p>
          <a:p>
            <a:r>
              <a:t>    ],</a:t>
            </a:r>
          </a:p>
          <a:p>
            <a:r>
              <a:t>    "original_text": "총 예산 = Σ min(적격 결제액 × 가정 환급률, 건별 상한액). (기획 가정/미확정 견적)",</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사업명·사업개요는 저장된 제안에서 읽고, 추가 방문은 목표 합계−ML 합계, 월평균 추가 소비는 같은 차이를 전체 사업 개월 수로 나눈다. 사진은 사업 테마별 AI 생성 예시이며 실제 지역의 시행 현장 증거가 아니다.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14,928,559명 → 목표 14,929,999명 (추가 1,440명, +0.01%)\n관광소비액: 기준 246,365,272,670원 → 목표 246,416,761,947원 (추가 51,489,277원, +0.02%)\n준비월 추가 목표는 0명·0원. 운영월 추가 목표 = 월별 전망 × 최종월 목표율 × 경과 운영월/전체 운영월.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8건 → 설계 후보 2개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않습니다.\n8개 × 월 20일 × 2개월 × 하루 1회 × 회당 20명 = 6,400명분 → 참여 목표 4,800건의 예상 집행액.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14928559.0,</a:t>
            </a:r>
          </a:p>
          <a:p>
            <a:r>
              <a:t>        "target": 14929999.0,</a:t>
            </a:r>
          </a:p>
          <a:p>
            <a:r>
              <a:t>        "additional": 1440.0,</a:t>
            </a:r>
          </a:p>
          <a:p>
            <a:r>
              <a:t>        "pct": 0.009645941044955642</a:t>
            </a:r>
          </a:p>
          <a:p>
            <a:r>
              <a:t>      },</a:t>
            </a:r>
          </a:p>
          <a:p>
            <a:r>
              <a:t>      {</a:t>
            </a:r>
          </a:p>
          <a:p>
            <a:r>
              <a:t>        "key": "spending",</a:t>
            </a:r>
          </a:p>
          <a:p>
            <a:r>
              <a:t>        "label": "관광소비액",</a:t>
            </a:r>
          </a:p>
          <a:p>
            <a:r>
              <a:t>        "unit": "원",</a:t>
            </a:r>
          </a:p>
          <a:p>
            <a:r>
              <a:t>        "baseline": 246365272670.0,</a:t>
            </a:r>
          </a:p>
          <a:p>
            <a:r>
              <a:t>        "target": 246416761947.0,</a:t>
            </a:r>
          </a:p>
          <a:p>
            <a:r>
              <a:t>        "additional": 51489277.0,</a:t>
            </a:r>
          </a:p>
          <a:p>
            <a:r>
              <a:t>        "pct": 0.02089956771991197</a:t>
            </a:r>
          </a:p>
          <a:p>
            <a:r>
              <a:t>      }</a:t>
            </a:r>
          </a:p>
          <a:p>
            <a:r>
              <a:t>    ],</a:t>
            </a:r>
          </a:p>
          <a:p>
            <a:r>
              <a:t>    "demo": false,</a:t>
            </a:r>
          </a:p>
          <a:p>
            <a:r>
              <a:t>    "models": {</a:t>
            </a:r>
          </a:p>
          <a:p>
            <a:r>
              <a:t>      "visitors": "랜덤 포레스트",</a:t>
            </a:r>
          </a:p>
          <a:p>
            <a:r>
              <a:t>      "spending_krw": "선형 회귀",</a:t>
            </a:r>
          </a:p>
          <a:p>
            <a:r>
              <a:t>      "stay_minutes": "전년 동월 기준모델",</a:t>
            </a:r>
          </a:p>
          <a:p>
            <a:r>
              <a:t>      "lodging_nights": "전년 동월 기준모델",</a:t>
            </a:r>
          </a:p>
          <a:p>
            <a:r>
              <a:t>      "lodging_rate_pct": "전년 동월 기준모델",</a:t>
            </a:r>
          </a:p>
          <a:p>
            <a:r>
              <a:t>      "lodging_searches": "전년 동월 기준모델",</a:t>
            </a:r>
          </a:p>
          <a:p>
            <a:r>
              <a:t>      "navigation_searches": "랜덤 포레스트"</a:t>
            </a:r>
          </a:p>
          <a:p>
            <a:r>
              <a:t>    },</a:t>
            </a:r>
          </a:p>
          <a:p>
            <a:r>
              <a:t>    "source_period": "202401~202606",</a:t>
            </a:r>
          </a:p>
          <a:p>
            <a:r>
              <a:t>    "months": [</a:t>
            </a:r>
          </a:p>
          <a:p>
            <a:r>
              <a:t>      "26.10",</a:t>
            </a:r>
          </a:p>
          <a:p>
            <a:r>
              <a:t>      "26.11",</a:t>
            </a:r>
          </a:p>
          <a:p>
            <a:r>
              <a:t>      "26.12"</a:t>
            </a:r>
          </a:p>
          <a:p>
            <a:r>
              <a:t>    ],</a:t>
            </a:r>
          </a:p>
          <a:p>
            <a:r>
              <a:t>    "case_count": 8,</a:t>
            </a:r>
          </a:p>
          <a:p>
            <a:r>
              <a:t>    "case_region_count": 8,</a:t>
            </a:r>
          </a:p>
          <a:p>
            <a:r>
              <a:t>    "candidate_count": 2,</a:t>
            </a:r>
          </a:p>
          <a:p>
            <a:r>
              <a:t>    "displayed_count": 3,</a:t>
            </a:r>
          </a:p>
          <a:p>
            <a:r>
              <a:t>    "primary": {</a:t>
            </a:r>
          </a:p>
          <a:p>
            <a:r>
              <a:t>      "title": "귀촌 '원조 반값'은 다르다… 강진서 전국 확산 '체류 관광 도시'",</a:t>
            </a:r>
          </a:p>
          <a:p>
            <a:r>
              <a:t>      "summary": "전라남도 강진군 · 강진 반값여행: 여행 지출 증빙 후 모바일 지역상품권 환급 ·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"source_id": "case:58c0694a3e85d8",</a:t>
            </a:r>
          </a:p>
          <a:p>
            <a:r>
              <a:t>      "source_url": "https://jnfarm.jeonnam.go.kr/board/FARM_BOARD_008/boardView.do?bdId=BD_00000000000015383&amp;menuCd=farm004002",</a:t>
            </a:r>
          </a:p>
          <a:p>
            <a:r>
              <a:t>      "case_region": "전라남도 강진군",</a:t>
            </a:r>
          </a:p>
          <a:p>
            <a:r>
              <a:t>      "source_type": "benchmark_case",</a:t>
            </a:r>
          </a:p>
          <a:p>
            <a:r>
              <a:t>      "intervention": "강진 반값여행: 여행 지출 증빙 후 모바일 지역상품권 환급",</a:t>
            </a:r>
          </a:p>
          <a:p>
            <a:r>
              <a:t>      "document_type": null,</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"retrieval_method": "official_web_search",</a:t>
            </a:r>
          </a:p>
          <a:p>
            <a:r>
              <a:t>      "evidence_strength": "medium",</a:t>
            </a:r>
          </a:p>
          <a:p>
            <a:r>
              <a:t>      "retrieval_context": {</a:t>
            </a:r>
          </a:p>
          <a:p>
            <a:r>
              <a:t>        "scope": "cross_province",</a:t>
            </a:r>
          </a:p>
          <a:p>
            <a:r>
              <a:t>        "peer_region_code": null</a:t>
            </a:r>
          </a:p>
          <a:p>
            <a:r>
              <a:t>      },</a:t>
            </a:r>
          </a:p>
          <a:p>
            <a:r>
              <a:t>      "measurement_period": "2026년 사업 개시 후 2026-05-19까지 누적 집행·방문·결제 실적",</a:t>
            </a:r>
          </a:p>
          <a:p>
            <a:r>
              <a:t>      "transfer_conditions": [</a:t>
            </a:r>
          </a:p>
          <a:p>
            <a:r>
              <a:t>        "대전 서구 내 환급 대상 업종, 가맹점, 증빙 가능 결제수단을 사전에 확정해야 한다.",</a:t>
            </a:r>
          </a:p>
          <a:p>
            <a:r>
              <a:t>        "모바일 지역화폐 발급·정산기관, 부정수급 점검, 중복수혜 방지 절차가 필요하다.",</a:t>
            </a:r>
          </a:p>
          <a:p>
            <a:r>
              <a:t>        "예산 미정 상태에서는 전면 환급이 아니라 특정 기간·업종·인원에 한정한 실증으로 축소해야 한다.",</a:t>
            </a:r>
          </a:p>
          <a:p>
            <a:r>
              <a:t>        "기존 방문객 보조와 추가 방문을 구분하려면 방문 동기, 미지원 비교군, 환급 전후 추가 결제를 조사해야 한다."</a:t>
            </a:r>
          </a:p>
          <a:p>
            <a:r>
              <a:t>      ],</a:t>
            </a:r>
          </a:p>
          <a:p>
            <a:r>
              <a:t>      "operating_statistics": [</a:t>
            </a:r>
          </a:p>
          <a:p>
            <a:r>
              <a:t>        {</a:t>
            </a:r>
          </a:p>
          <a:p>
            <a:r>
              <a:t>          "unit": "team",</a:t>
            </a:r>
          </a:p>
          <a:p>
            <a:r>
              <a:t>          "quote": "1만6292팀이 실제 강진을 찾았다.",</a:t>
            </a:r>
          </a:p>
          <a:p>
            <a:r>
              <a:t>          "scope": "사전신청자 중 실제 강진 방문 확인 팀",</a:t>
            </a:r>
          </a:p>
          <a:p>
            <a:r>
              <a:t>          "value": 16292,</a:t>
            </a:r>
          </a:p>
          <a:p>
            <a:r>
              <a:t>          "metric": "participants",</a:t>
            </a:r>
          </a:p>
          <a:p>
            <a:r>
              <a:t>          "period": "2026-05-19 누적",</a:t>
            </a:r>
          </a:p>
          <a:p>
            <a:r>
              <a:t>          "program_name": "강진 반값여행",</a:t>
            </a:r>
          </a:p>
          <a:p>
            <a:r>
              <a:t>          "capacity_count": null,</a:t>
            </a:r>
          </a:p>
          <a:p>
            <a:r>
              <a:t>          "participant_count": 16292</a:t>
            </a:r>
          </a:p>
          <a:p>
            <a:r>
              <a:t>        },</a:t>
            </a:r>
          </a:p>
          <a:p>
            <a:r>
              <a:t>        {</a:t>
            </a:r>
          </a:p>
          <a:p>
            <a:r>
              <a:t>          "unit": "KRW",</a:t>
            </a:r>
          </a:p>
          <a:p>
            <a:r>
              <a:t>          "quote": "지역 내 소비액은 총 49억7000만원",</a:t>
            </a:r>
          </a:p>
          <a:p>
            <a:r>
              <a:t>          "scope": "사업 등록 관광객의 강진 지역 내 소비액",</a:t>
            </a:r>
          </a:p>
          <a:p>
            <a:r>
              <a:t>          "value": 4970000000,</a:t>
            </a:r>
          </a:p>
          <a:p>
            <a:r>
              <a:t>          "metric": "participant_spending",</a:t>
            </a:r>
          </a:p>
          <a:p>
            <a:r>
              <a:t>          "period": "2026-05-19 누적",</a:t>
            </a:r>
          </a:p>
          <a:p>
            <a:r>
              <a:t>          "program_name": "강진 반값여행",</a:t>
            </a:r>
          </a:p>
          <a:p>
            <a:r>
              <a:t>          "capacity_count": null,</a:t>
            </a:r>
          </a:p>
          <a:p>
            <a:r>
              <a:t>          "participant_count": 16292</a:t>
            </a:r>
          </a:p>
          <a:p>
            <a:r>
              <a:t>        }</a:t>
            </a:r>
          </a:p>
          <a:p>
            <a:r>
              <a:t>      ],</a:t>
            </a:r>
          </a:p>
          <a:p>
            <a:r>
              <a:t>      "published_or_updated_at": "2026-05-29",</a:t>
            </a:r>
          </a:p>
          <a:p>
            <a:r>
              <a:t>      "quantitative_result_approved": null</a:t>
            </a:r>
          </a:p>
          <a:p>
            <a:r>
              <a:t>    },</a:t>
            </a:r>
          </a:p>
          <a:p>
            <a:r>
              <a:t>    "selection_reason": "강진의 '반값여행' 사례(case:58c0694a3e85d8)는 방문객 지출을 지역 내 재사용으로 연결하는 검증된 메커니즘을 가짐. 대전 서구는 2026년 4분기 관광소비액이 전년 대비 증가(+4.49%)할 것으로 전망되므로, 단순 방문객 유치보다 결제액을 상권으로 유도하는 환급형 모델이 경제적 파급효과 측면에서 더 적합함. 다만, 안동의 집중형 축제(case:41508ca81cf29f)는 방문자 수 감소 전망을 해결할 수 있으나, 소비 전환 효과를 측정하기 어렵다는 한계가 있어 '소비 환급'을 우선순위로 선정함.",</a:t>
            </a:r>
          </a:p>
          <a:p>
            <a:r>
              <a:t>    "target_explanation":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23764800,</a:t>
            </a:r>
          </a:p>
          <a:p>
            <a:r>
              <a:t>      "expected_budget_krw": 56941280,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28517760,</a:t>
            </a:r>
          </a:p>
          <a:p>
            <a:r>
              <a:t>      "expected_budget_krw": 62169536,</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"operating-capacity-v5-refund-incentive",</a:t>
            </a:r>
          </a:p>
          <a:p>
            <a:r>
              <a:t>  "status": "proposed",</a:t>
            </a:r>
          </a:p>
          <a:p>
            <a:r>
              <a:t>  "minimum_operating_budget_krw": 30800000,</a:t>
            </a:r>
          </a:p>
          <a:p>
            <a:r>
              <a:t>  "family": "spend_conversion",</a:t>
            </a:r>
          </a:p>
          <a:p>
            <a:r>
              <a:t>  "program_label": "지역 소비·환급",</a:t>
            </a:r>
          </a:p>
          <a:p>
            <a:r>
              <a:t>  "site_label": "참여 점포 묶음",</a:t>
            </a:r>
          </a:p>
          <a:p>
            <a:r>
              <a:t>  "months": 2,</a:t>
            </a:r>
          </a:p>
          <a:p>
            <a:r>
              <a:t>  "active_months": [</a:t>
            </a:r>
          </a:p>
          <a:p>
            <a:r>
              <a:t>    "202611",</a:t>
            </a:r>
          </a:p>
          <a:p>
            <a:r>
              <a:t>    "202612"</a:t>
            </a:r>
          </a:p>
          <a:p>
            <a:r>
              <a:t>  ],</a:t>
            </a:r>
          </a:p>
          <a:p>
            <a:r>
              <a:t>  "monthly_weights": [</a:t>
            </a:r>
          </a:p>
          <a:p>
            <a:r>
              <a:t>    0,</a:t>
            </a:r>
          </a:p>
          <a:p>
            <a:r>
              <a:t>    0.5,</a:t>
            </a:r>
          </a:p>
          <a:p>
            <a:r>
              <a:t>    1.0</a:t>
            </a:r>
          </a:p>
          <a:p>
            <a:r>
              <a:t>  ],</a:t>
            </a:r>
          </a:p>
          <a:p>
            <a:r>
              <a:t>  "schedule_basis": "dated_launch_step",</a:t>
            </a:r>
          </a:p>
          <a:p>
            <a:r>
              <a:t>  "forecast_period": "202610~202612",</a:t>
            </a:r>
          </a:p>
          <a:p>
            <a:r>
              <a:t>  "baseline_visitors": 14928559.0,</a:t>
            </a:r>
          </a:p>
          <a:p>
            <a:r>
              <a:t>  "baseline_spending_krw": 246365272670.0,</a:t>
            </a:r>
          </a:p>
          <a:p>
            <a:r>
              <a:t>  "mean_monthly_visitors": 4976186.333333333,</a:t>
            </a:r>
          </a:p>
          <a:p>
            <a:r>
              <a:t>  "sites": 8,</a:t>
            </a:r>
          </a:p>
          <a:p>
            <a:r>
              <a:t>  "days_per_month": 20,</a:t>
            </a:r>
          </a:p>
          <a:p>
            <a:r>
              <a:t>  "sessions_per_day": 1,</a:t>
            </a:r>
          </a:p>
          <a:p>
            <a:r>
              <a:t>  "capacity_per_session": 20,</a:t>
            </a:r>
          </a:p>
          <a:p>
            <a:r>
              <a:t>  "capacity": 6400,</a:t>
            </a:r>
          </a:p>
          <a:p>
            <a:r>
              <a:t>  "funded_capacity": 6400,</a:t>
            </a:r>
          </a:p>
          <a:p>
            <a:r>
              <a:t>  "scale_rule": "운영 거점 = ceil(√(월평균 ML 방문 전망 ÷ 100,000)), 최소 1·최대 12개",</a:t>
            </a:r>
          </a:p>
          <a:p>
            <a:r>
              <a:t>  "capacity_formula": "8개 × 월 20일 × 2개월 × 하루 1회 × 회당 20명 = 6,400명분",</a:t>
            </a:r>
          </a:p>
          <a:p>
            <a:r>
              <a:t>  "scale_kind": "planning_rule_not_population_model",</a:t>
            </a:r>
          </a:p>
          <a:p>
            <a:r>
              <a:t>  "spending_per_visit_proxy_krw": 16502.9506645618,</a:t>
            </a:r>
          </a:p>
          <a:p>
            <a:r>
              <a:t>  "program_purchase_krw": 16503,</a:t>
            </a:r>
          </a:p>
          <a:p>
            <a:r>
              <a:t>  "existing_participant_extra_spend_krw": 8251.4753322809,</a:t>
            </a:r>
          </a:p>
          <a:p>
            <a:r>
              <a:t>  "spending_formula": "추가 방문 × 계획 결제 16,503원 + 기존 방문 참여 × 추가 구매 8,251원",</a:t>
            </a:r>
          </a:p>
          <a:p>
            <a:r>
              <a:t>  "purchase_basis": "계획 결제액은 3개월 ML 소비 합계 ÷ ML 방문 합계를 참고한 기획값입니다. 실제 객단가가 아닙니다.",</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4800,</a:t>
            </a:r>
          </a:p>
          <a:p>
            <a:r>
              <a:t>      "additional_visitors": 720,</a:t>
            </a:r>
          </a:p>
          <a:p>
            <a:r>
              <a:t>      "additional_spending_krw": 45548179,</a:t>
            </a:r>
          </a:p>
          <a:p>
            <a:r>
              <a:t>      "participant_purchases_krw": 79214400,</a:t>
            </a:r>
          </a:p>
          <a:p>
            <a:r>
              <a:t>      "expected_support_krw": 23764800,</a:t>
            </a:r>
          </a:p>
          <a:p>
            <a:r>
              <a:t>      "expected_budget_krw": 56941280,</a:t>
            </a:r>
          </a:p>
          <a:p>
            <a:r>
              <a:t>      "visitor_growth_pct": 0.004822970522473067,</a:t>
            </a:r>
          </a:p>
          <a:p>
            <a:r>
              <a:t>      "spending_growth_pct": 0.018488067943330074,</a:t>
            </a:r>
          </a:p>
          <a:p>
            <a:r>
              <a:t>      "visitor_target_pct": 0.009651724233616231,</a:t>
            </a:r>
          </a:p>
          <a:p>
            <a:r>
              <a:t>      "spending_target_pct": 0.03672650544400202</a:t>
            </a:r>
          </a:p>
          <a:p>
            <a:r>
              <a:t>    },</a:t>
            </a:r>
          </a:p>
          <a:p>
            <a:r>
              <a:t>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a:t>
            </a:r>
          </a:p>
          <a:p>
            <a:r>
              <a:t>      "label": "확대",</a:t>
            </a:r>
          </a:p>
          <a:p>
            <a:r>
              <a:t>      "utilization_pct": 90.0,</a:t>
            </a:r>
          </a:p>
          <a:p>
            <a:r>
              <a:t>      "additional_visitor_share_pct": 44.99999999999999,</a:t>
            </a:r>
          </a:p>
          <a:p>
            <a:r>
              <a:t>      "participants": 5760,</a:t>
            </a:r>
          </a:p>
          <a:p>
            <a:r>
              <a:t>      "additional_visitors": 2591,</a:t>
            </a:r>
          </a:p>
          <a:p>
            <a:r>
              <a:t>      "additional_spending_krw": 68908198,</a:t>
            </a:r>
          </a:p>
          <a:p>
            <a:r>
              <a:t>      "participant_purchases_krw": 95057280,</a:t>
            </a:r>
          </a:p>
          <a:p>
            <a:r>
              <a:t>      "expected_support_krw": 28517760,</a:t>
            </a:r>
          </a:p>
          <a:p>
            <a:r>
              <a:t>      "expected_budget_krw": 62169536,</a:t>
            </a:r>
          </a:p>
          <a:p>
            <a:r>
              <a:t>      "visitor_growth_pct": 0.01735599531073294,</a:t>
            </a:r>
          </a:p>
          <a:p>
            <a:r>
              <a:t>      "spending_growth_pct": 0.02796993149773214,</a:t>
            </a:r>
          </a:p>
          <a:p>
            <a:r>
              <a:t>      "visitor_target_pct": 0.03473280206847174,</a:t>
            </a:r>
          </a:p>
          <a:p>
            <a:r>
              <a:t>      "spending_target_pct": 0.05556220609792917</a:t>
            </a:r>
          </a:p>
          <a:p>
            <a:r>
              <a:t>    }</a:t>
            </a:r>
          </a:p>
          <a:p>
            <a:r>
              <a:t>  ],</a:t>
            </a:r>
          </a:p>
          <a:p>
            <a:r>
              <a:t>  "central": {</a:t>
            </a:r>
          </a:p>
          <a:p>
            <a:r>
              <a:t>    "label": "기준",</a:t>
            </a:r>
          </a:p>
          <a:p>
            <a:r>
              <a:t>    "utilization_pct": 75.0,</a:t>
            </a:r>
          </a:p>
          <a:p>
            <a:r>
              <a:t>    "additional_visitor_share_pct": 30.0,</a:t>
            </a:r>
          </a:p>
          <a:p>
            <a:r>
              <a:t>    "participants": 4800,</a:t>
            </a:r>
          </a:p>
          <a:p>
            <a:r>
              <a:t>    "additional_visitors": 1440,</a:t>
            </a:r>
          </a:p>
          <a:p>
            <a:r>
              <a:t>    "additional_spending_krw": 51489277,</a:t>
            </a:r>
          </a:p>
          <a:p>
            <a:r>
              <a:t>    "participant_purchases_krw": 79214400,</a:t>
            </a:r>
          </a:p>
          <a:p>
            <a:r>
              <a:t>    "expected_support_krw": 23764800,</a:t>
            </a:r>
          </a:p>
          <a:p>
            <a:r>
              <a:t>    "expected_budget_krw": 56941280,</a:t>
            </a:r>
          </a:p>
          <a:p>
            <a:r>
              <a:t>    "visitor_growth_pct": 0.009645941044946134,</a:t>
            </a:r>
          </a:p>
          <a:p>
            <a:r>
              <a:t>    "spending_growth_pct": 0.020899567719906927,</a:t>
            </a:r>
          </a:p>
          <a:p>
            <a:r>
              <a:t>    "visitor_target_pct": 0.019303448467232462,</a:t>
            </a:r>
          </a:p>
          <a:p>
            <a:r>
              <a:t>    "spending_target_pct": 0.04151694433378397</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"case:58c0694a3e85d8",</a:t>
            </a:r>
          </a:p>
          <a:p>
            <a:r>
              <a:t>      "title": "귀촌 '원조 반값'은 다르다… 강진서 전국 확산 '체류 관광 도시'",</a:t>
            </a:r>
          </a:p>
          <a:p>
            <a:r>
              <a:t>      "source_url": "https://jnfarm.jeonnam.go.kr/board/FARM_BOARD_008/boardView.do?bdId=BD_00000000000015383&amp;menuCd=farm004002",</a:t>
            </a:r>
          </a:p>
          <a:p>
            <a:r>
              <a:t>      "operating_model": "관광객이 강진에서 사용한 숙박·식음·체험비 등의 최대 50%를 모바일 강진사랑상품권으로 돌려받고, 지급 상품권을 다시 지역 가맹점에서 쓰도록 설계했다. 2026년에는 군비, 지역사랑휴가지원사업, 지방소멸대응기금을 결합해 연중 운영체계를 마련했다. ([jnfarm.jeonnam.go.kr](https://jnfarm.jeonnam.go.kr/board/FARM_BOARD_008/boardView.do?bdId=BD_00000000000015383&amp;menuCd=farm004002))",</a:t>
            </a:r>
          </a:p>
          <a:p>
            <a:r>
              <a:t>      "observed_result": "2026-05-19까지 사전신청 23,665팀 중 실제 방문이 확인된 팀은 16,292팀이었다. 등록 관광객의 지역 내 소비액은 49억7천만원, 지급한 모바일 상품권은 22억원, 이 중 지역 내 재사용액은 8억2천만원으로 공개됐다. 신청 수는 정원이 아니므로 이용률로 계산하지 않았으며, 이 수치는 반값여행의 순인과효과를 입증하지 않는다. ([jnfarm.jeonnam.go.kr](https://jnfarm.jeonnam.go.kr/board/FARM_BOARD_008/boardView.do?bdId=BD_00000000000015383&amp;menuCd=farm004002))"</a:t>
            </a:r>
          </a:p>
          <a:p>
            <a:r>
              <a:t>    }</a:t>
            </a:r>
          </a:p>
          <a:p>
            <a:r>
              <a:t>  ],</a:t>
            </a:r>
          </a:p>
          <a:p>
            <a:r>
              <a:t>  "explanation": "지역 소비·환급: 8개 × 월 20일 × 2개월 × 하루 1회 × 회당 20명 = 6,400명분. 편성 한도 6,400명분에 이용률 75%를 적용해 4,800명 참여, 추가 방문 비중 30%로 1,440명 유치를 제안합니다. 기간 합계 ML 전망 대비 방문 +0.01%, 소비 +0.02%의 계획 시나리오입니다. 참여 목표 75%는 공통 최소 운영 목표입니다. 사례 참여율을 인용한 값이 아닙니다. 계획 결제 16,503원에 환급률 30%를 적용해 건당 4,951원을 지원합니다. 환급 혜택과 추가 방문 비중은 별도의 운영 목표이며, 혜택을 높였다고 방문 목표를 자동 상향하지 않습니다. 실제 운영 산정: 2026-11~2026-12, 2개월. 준비 기간에는 추가 방문·소비 목표를 배분하지 않습니다.",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"operating_period": "2026-11~2026-12",</a:t>
            </a:r>
          </a:p>
          <a:p>
            <a:r>
              <a:t>  "schedule_note": "실제 운영 산정: 2026-11~2026-12, 2개월. 준비 기간에는 추가 방문·소비 목표를 배분하지 않습니다.",</a:t>
            </a:r>
          </a:p>
          <a:p>
            <a:r>
              <a:t>  "estimate": {</a:t>
            </a:r>
          </a:p>
          <a:p>
            <a:r>
              <a:t>    "version": "operating-capacity-v5-refund-incentive",</a:t>
            </a:r>
          </a:p>
          <a:p>
            <a:r>
              <a:t>    "status": "planning_assumption_not_quote",</a:t>
            </a:r>
          </a:p>
          <a:p>
            <a:r>
              <a:t>    "scale_basis": "8개 × 월 20일 × 2개월 × 하루 1회 × 회당 20명 = 6,400명분 → 참여 목표 4,800건의 예상 집행액. 모든 단가는 기획 가정.",</a:t>
            </a:r>
          </a:p>
          <a:p>
            <a:r>
              <a:t>    "months": 2,</a:t>
            </a:r>
          </a:p>
          <a:p>
            <a:r>
              <a:t>    "refund": true,</a:t>
            </a:r>
          </a:p>
          <a:p>
            <a:r>
              <a:t>    "quantity": 4800,</a:t>
            </a:r>
          </a:p>
          <a:p>
            <a:r>
              <a:t>    "unit_krw": 4951,</a:t>
            </a:r>
          </a:p>
          <a:p>
            <a:r>
              <a:t>    "capacity_quantity": 6400,</a:t>
            </a:r>
          </a:p>
          <a:p>
            <a:r>
              <a:t>    "per_claim_cap_krw": 50000,</a:t>
            </a:r>
          </a:p>
          <a:p>
            <a:r>
              <a:t>    "refund_rate_pct": 30.0,</a:t>
            </a:r>
          </a:p>
          <a:p>
            <a:r>
              <a:t>    "redemption_target_pct": 75.0,</a:t>
            </a:r>
          </a:p>
          <a:p>
            <a:r>
              <a:t>    "redemption_count": 4800,</a:t>
            </a:r>
          </a:p>
          <a:p>
            <a:r>
              <a:t>    "purchase_per_participant_krw": 16503,</a:t>
            </a:r>
          </a:p>
          <a:p>
            <a:r>
              <a:t>    "qualifying_spend_krw": 79214400,</a:t>
            </a:r>
          </a:p>
          <a:p>
            <a:r>
              <a:t>    "subtotal_krw": 51764800,</a:t>
            </a:r>
          </a:p>
          <a:p>
            <a:r>
              <a:t>    "reserve_krw": 5176480,</a:t>
            </a:r>
          </a:p>
          <a:p>
            <a:r>
              <a:t>    "total_krw": 56941280,</a:t>
            </a:r>
          </a:p>
          <a:p>
            <a:r>
              <a:t>    "within_hard_budget": true,</a:t>
            </a:r>
          </a:p>
          <a:p>
            <a:r>
              <a:t>    "full_participation_budget_krw": 65655040,</a:t>
            </a:r>
          </a:p>
          <a:p>
            <a:r>
              <a:t>    "participant_purchases_krw": 79214400,</a:t>
            </a:r>
          </a:p>
          <a:p>
            <a:r>
              <a:t>    "additional_spending_krw": 51489277,</a:t>
            </a:r>
          </a:p>
          <a:p>
            <a:r>
              <a:t>    "scenario_note": "참여자 결제 79,214,400원 중 추가 소비 목표 51,489,277원. 견적은 같은 참여 목표의 사업비이며, 결제액 전체를 신규 소비나 사업 수익으로 계산하지 않습니다.",</a:t>
            </a:r>
          </a:p>
          <a:p>
            <a:r>
              <a:t>    "items": [</a:t>
            </a:r>
          </a:p>
          <a:p>
            <a:r>
              <a:t>      {</a:t>
            </a:r>
          </a:p>
          <a:p>
            <a:r>
              <a:t>        "name": "여행비 환급 지원",</a:t>
            </a:r>
          </a:p>
          <a:p>
            <a:r>
              <a:t>        "basis": "참여 목표 4,800건 × min(계획 결제 16,503원 × 30%, 건별 상한 50,000원) = 건당 4,951원",</a:t>
            </a:r>
          </a:p>
          <a:p>
            <a:r>
              <a:t>        "amount": 23764800</a:t>
            </a:r>
          </a:p>
          <a:p>
            <a:r>
              <a:t>      },</a:t>
            </a:r>
          </a:p>
          <a:p>
            <a:r>
              <a:t>      {</a:t>
            </a:r>
          </a:p>
          <a:p>
            <a:r>
              <a:t>        "name": "현장 운영·정산",</a:t>
            </a:r>
          </a:p>
          <a:p>
            <a:r>
              <a:t>        "basis": "2개 운영팀 × 월 20일 × 2개월 × 150,000원 (점포 묶음 8개, 최대 4개당 공동 정산팀 1개)",</a:t>
            </a:r>
          </a:p>
          <a:p>
            <a:r>
              <a:t>        "amount": 12000000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51,764,800원 × 10%",</a:t>
            </a:r>
          </a:p>
          <a:p>
            <a:r>
              <a:t>        "amount": 5176480</a:t>
            </a:r>
          </a:p>
          <a:p>
            <a:r>
              <a:t>      }</a:t>
            </a:r>
          </a:p>
          <a:p>
            <a:r>
              <a:t>    ],</a:t>
            </a:r>
          </a:p>
          <a:p>
            <a:r>
              <a:t>    "sources": [],</a:t>
            </a:r>
          </a:p>
          <a:p>
            <a:r>
              <a:t>    "assumptions": [</a:t>
            </a:r>
          </a:p>
          <a:p>
            <a:r>
              <a:t>      "기획용 예상 견적이며 실제 액수와 다를 수 있습니다.",</a:t>
            </a:r>
          </a:p>
          <a:p>
            <a:r>
              <a:t>      "환급률 미지정 시 30%를 제안합니다. 이는 참여 혜택을 위한 계획 설정이며 공식 사례 실적이나 추정 효과가 아닙니다.",</a:t>
            </a:r>
          </a:p>
          <a:p>
            <a:r>
              <a:t>      "100% 참여 참고예산도 같은 계획 결제액을 사용한 참고값이며 최대 지급 책임액이 아닙니다.",</a:t>
            </a:r>
          </a:p>
          <a:p>
            <a:r>
              <a:t>      "계획 결제액은 3개월 ML 소비 합계 ÷ ML 방문 합계를 참고한 기획값입니다. 실제 객단가가 아닙니다.",</a:t>
            </a:r>
          </a:p>
          <a:p>
            <a:r>
              <a:t>      "기존 방문 참여자의 추가 구매액은 유형별 기준 20,000원과 ML 소비/방문 비율의 50% 중 작은 값입니다.",</a:t>
            </a:r>
          </a:p>
          <a:p>
            <a:r>
              <a:t>      "환급률 30%, 건별 상한 50,000원 및 점포 묶음 최대 4개당 정산팀 1개는 계획 설정입니다. 지급 총액은 편성 예산 내에서 운영합니다."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www.gangjintour.com/" TargetMode="External"/><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image" Target="../media/image2.jpg"/><Relationship Id="rId8" Type="http://schemas.openxmlformats.org/officeDocument/2006/relationships/hyperlink" Target="https://culture.seoul.go.kr/culture/culture/cultureEvent/view.do?cultcode=146365&amp;menuNo=200009" TargetMode="External"/><Relationship Id="rId9" Type="http://schemas.openxmlformats.org/officeDocument/2006/relationships/hyperlink" Target="https://datalab.visitkorea.or.kr/"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datalab.visitkorea.or.kr/site/portal/ex/bbs/View.do?bcIdx=311068&amp;cbIdx=1135&amp;pageIndex=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www.gangjintour.com/" TargetMode="External"/><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jnfarm.jeonnam.go.kr/board/FARM_BOARD_008/boardView.do?bdId=BD_00000000000015383&amp;menuCd=farm004002" TargetMode="External"/><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image" Target="../media/image21.png"/><Relationship Id="rId10"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hyperlink" Target="https://jnfarm.jeonnam.go.kr/board/FARM_BOARD_008/boardView.do?bdId=BD_00000000000015383&amp;menuCd=farm004002" TargetMode="External"/><Relationship Id="rId7"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_rels/slide10.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5.png"/><Relationship Id="rId9" Type="http://schemas.openxmlformats.org/officeDocument/2006/relationships/image" Target="../media/image16.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17.png"/><Relationship Id="rId18" Type="http://schemas.openxmlformats.org/officeDocument/2006/relationships/image" Target="../media/image28.png"/><Relationship Id="rId19" Type="http://schemas.openxmlformats.org/officeDocument/2006/relationships/image" Target="../media/image6.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_rels/slide14.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site/portal/ex/bbs/View.do?bcIdx=311068&amp;cbIdx=1135&amp;pageIndex=1" TargetMode="External"/><Relationship Id="rId3" Type="http://schemas.openxmlformats.org/officeDocument/2006/relationships/hyperlink" Target="https://korean.visitkorea.or.kr/travelmonth/benefit.do?modal=benefit-190" TargetMode="External"/><Relationship Id="rId4" Type="http://schemas.openxmlformats.org/officeDocument/2006/relationships/hyperlink" Target="https://www.data.go.kr/data/15112114/openapi.do?recommendDataYn=Y" TargetMode="External"/><Relationship Id="rId5" Type="http://schemas.openxmlformats.org/officeDocument/2006/relationships/hyperlink" Target="https://www.data.go.kr/dataset/15001021/openapi.do" TargetMode="External"/><Relationship Id="rId6" Type="http://schemas.openxmlformats.org/officeDocument/2006/relationships/hyperlink" Target="https://touredu.visitkorea.or.kr/home/pkgEdu/pkgEduDetail?crsCd=C202600107&amp;eduPlanYr=2026&amp;eduPlanYrStepCnt=1" TargetMode="External"/><Relationship Id="rId7" Type="http://schemas.openxmlformats.org/officeDocument/2006/relationships/hyperlink" Target="https://www.data.go.kr/dataset/15037511/fileData.do" TargetMode="External"/><Relationship Id="rId8" Type="http://schemas.openxmlformats.org/officeDocument/2006/relationships/hyperlink" Target="https://www.mcst.go.kr/servlets/eduport/front/upload/UplDownloadFile?pFileName=%5B1230%5D%EB%AC%B8%EC%B2%B4%EB%B6%80%EB%B3%B4%EB%8F%84%EC%9E%90%EB%A3%8C-%EC%A0%9C4%EC%B0%A8+%EA%B4%80%EA%B4%91%EA%B0%9C%EB%B0%9C%EA%B8%B0%EB%B3%B8%EA%B3%84%ED%9A%8D+%EB%B0%9C%ED%91%9C.pdf&amp;pPath=0302000000&amp;pRealName=20211230083238607242235788_PRESS20211230083238374598.pdf" TargetMode="External"/><Relationship Id="rId9" Type="http://schemas.openxmlformats.org/officeDocument/2006/relationships/hyperlink" Target="https://datalab.visitkorea.or.kr/" TargetMode="External"/><Relationship Id="rId10" Type="http://schemas.openxmlformats.org/officeDocument/2006/relationships/hyperlink" Target="https://culture.seoul.go.kr/culture/cmmn/file/fileDown.do?atchFileId=bb34395b25504c66a77ef69999cacb1c&amp;bbsId=B0000006&amp;fileSn=1" TargetMode="External"/><Relationship Id="rId11" Type="http://schemas.openxmlformats.org/officeDocument/2006/relationships/hyperlink" Target="https://jnfarm.jeonnam.go.kr/board/FARM_BOARD_008/boardView.do?bdId=BD_00000000000015383&amp;menuCd=farm004002"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13" Type="http://schemas.openxmlformats.org/officeDocument/2006/relationships/hyperlink" Target="https://kto.visitkorea.or.kr/upload/flexer/upload/ktobiz/20220928/b623b5f9-3ec0-11ed-9832-ddf31964842e.hwp.files/Sections1.html" TargetMode="External"/><Relationship Id="rId14" Type="http://schemas.openxmlformats.org/officeDocument/2006/relationships/hyperlink" Target="https://korean.visitkorea.or.kr/detail/rem_detail.do?cotid=f9c636b2-dd7c-4f09-af3d-6af43b33d371" TargetMode="External"/><Relationship Id="rId15" Type="http://schemas.openxmlformats.org/officeDocument/2006/relationships/hyperlink" Target="https://apis.data.go.kr/B551011/KorService2" TargetMode="External"/><Relationship Id="rId16"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notesSlide" Target="../notesSlides/notesSlide14.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서구 여행비 환급 사업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2026.09.17</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대전광역시</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도산서원(대전)</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대전광역시 서구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7</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90" r="3139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대전광역시 서구 남선로 66 · 남선공원</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1.2 지역 관광 전망</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1,492.9만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1.37%p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2,463.7억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서구의 예상 증가율은 전국 비교 평균보다 2.16%p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04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2.1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강진 반값여행:</a:t>
            </a:r>
          </a:p>
          <a:p>
            <a:pPr eaLnBrk="0">
              <a:lnSpc>
                <a:spcPts val="2125"/>
              </a:lnSpc>
              <a:spcBef>
                <a:spcPts val="0"/>
              </a:spcBef>
              <a:spcAft>
                <a:spcPts val="0"/>
              </a:spcAft>
            </a:pPr>
            <a:r>
              <a:rPr sz="1700" b="1">
                <a:solidFill>
                  <a:srgbClr val="202124"/>
                </a:solidFill>
                <a:latin typeface="Century Gothic"/>
                <a:ea typeface="맑은 고딕"/>
              </a:rPr>
              <a:t>여행 지출 증빙 후 모바일</a:t>
            </a:r>
          </a:p>
          <a:p>
            <a:pPr eaLnBrk="0">
              <a:lnSpc>
                <a:spcPts val="2125"/>
              </a:lnSpc>
              <a:spcBef>
                <a:spcPts val="0"/>
              </a:spcBef>
              <a:spcAft>
                <a:spcPts val="0"/>
              </a:spcAft>
            </a:pPr>
            <a:r>
              <a:rPr sz="1700" b="1">
                <a:solidFill>
                  <a:srgbClr val="202124"/>
                </a:solidFill>
                <a:latin typeface="Century Gothic"/>
                <a:ea typeface="맑은 고딕"/>
              </a:rPr>
              <a:t>지역상품권 환급</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Century Gothic"/>
                <a:ea typeface="맑은 고딕"/>
              </a:rPr>
              <a:t>관광객이 강진에서 사용한 숙박·식음·체험비</a:t>
            </a:r>
          </a:p>
          <a:p>
            <a:pPr eaLnBrk="0">
              <a:lnSpc>
                <a:spcPts val="1687"/>
              </a:lnSpc>
              <a:spcBef>
                <a:spcPts val="0"/>
              </a:spcBef>
              <a:spcAft>
                <a:spcPts val="0"/>
              </a:spcAft>
            </a:pPr>
            <a:r>
              <a:rPr sz="1350" b="0">
                <a:solidFill>
                  <a:srgbClr val="62666C"/>
                </a:solidFill>
                <a:latin typeface="Century Gothic"/>
                <a:ea typeface="맑은 고딕"/>
              </a:rPr>
              <a:t>등의 최대 50%를 모바일 강진사랑상품권으로</a:t>
            </a:r>
          </a:p>
          <a:p>
            <a:pPr eaLnBrk="0">
              <a:lnSpc>
                <a:spcPts val="1687"/>
              </a:lnSpc>
              <a:spcBef>
                <a:spcPts val="0"/>
              </a:spcBef>
              <a:spcAft>
                <a:spcPts val="0"/>
              </a:spcAft>
            </a:pPr>
            <a:r>
              <a:rPr sz="1350" b="0">
                <a:solidFill>
                  <a:srgbClr val="62666C"/>
                </a:solidFill>
                <a:latin typeface="Century Gothic"/>
                <a:ea typeface="맑은 고딕"/>
              </a:rPr>
              <a:t>돌려받고, 지급 상품권을 다시 지역 가맹점에서</a:t>
            </a:r>
          </a:p>
          <a:p>
            <a:pPr eaLnBrk="0">
              <a:lnSpc>
                <a:spcPts val="1687"/>
              </a:lnSpc>
              <a:spcBef>
                <a:spcPts val="0"/>
              </a:spcBef>
              <a:spcAft>
                <a:spcPts val="0"/>
              </a:spcAft>
            </a:pPr>
            <a:r>
              <a:rPr sz="1350" b="0">
                <a:solidFill>
                  <a:srgbClr val="62666C"/>
                </a:solidFill>
                <a:latin typeface="Century Gothic"/>
                <a:ea typeface="맑은 고딕"/>
              </a:rPr>
              <a:t>쓰도록 설계했다. 2026년에는 군비,</a:t>
            </a:r>
          </a:p>
          <a:p>
            <a:pPr eaLnBrk="0">
              <a:lnSpc>
                <a:spcPts val="1687"/>
              </a:lnSpc>
              <a:spcBef>
                <a:spcPts val="0"/>
              </a:spcBef>
              <a:spcAft>
                <a:spcPts val="0"/>
              </a:spcAft>
            </a:pPr>
            <a:r>
              <a:rPr sz="1350" b="0">
                <a:solidFill>
                  <a:srgbClr val="62666C"/>
                </a:solidFill>
                <a:latin typeface="Century Gothic"/>
                <a:ea typeface="맑은 고딕"/>
              </a:rPr>
              <a:t>지역사랑휴가지원사업, 지방소멸대응기금을</a:t>
            </a:r>
          </a:p>
          <a:p>
            <a:pPr eaLnBrk="0">
              <a:lnSpc>
                <a:spcPts val="1687"/>
              </a:lnSpc>
              <a:spcBef>
                <a:spcPts val="0"/>
              </a:spcBef>
              <a:spcAft>
                <a:spcPts val="0"/>
              </a:spcAft>
            </a:pPr>
            <a:r>
              <a:rPr sz="1350" b="0">
                <a:solidFill>
                  <a:srgbClr val="62666C"/>
                </a:solidFill>
                <a:latin typeface="Century Gothic"/>
                <a:ea typeface="맑은 고딕"/>
              </a:rPr>
              <a:t>결합해 연중 운영체계를 마련했다.</a:t>
            </a:r>
          </a:p>
        </p:txBody>
      </p:sp>
      <p:pic xmlns:a="http://schemas.openxmlformats.org/drawingml/2006/main" xmlns:r="http://schemas.openxmlformats.org/officeDocument/2006/relationships">
        <p:nvPicPr>
          <p:cNvPr id="12" name="case-photo-0" descr="gangjin_official.jpg"/>
          <p:cNvPicPr>
            <a:picLocks noChangeAspect="1"/>
          </p:cNvPicPr>
          <p:nvPr/>
        </p:nvPicPr>
        <p:blipFill>
          <a:blip r:embed="rId4"/>
          <a:stretch>
            <a:fillRect/>
          </a:stretch>
        </p:blipFill>
        <p:spPr>
          <a:xfrm>
            <a:off x="1518636" y="5457825"/>
            <a:ext cx="3211126"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다른 지역 참고 사진 · 강진군 · 반값여행 공식 홍보물</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강진 반값여행 공식 홈페이지</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안동시 · 2025</a:t>
            </a:r>
          </a:p>
          <a:p>
            <a:pPr eaLnBrk="0">
              <a:lnSpc>
                <a:spcPts val="2125"/>
              </a:lnSpc>
              <a:spcBef>
                <a:spcPts val="0"/>
              </a:spcBef>
              <a:spcAft>
                <a:spcPts val="0"/>
              </a:spcAft>
            </a:pPr>
            <a:r>
              <a:rPr sz="1700" b="1">
                <a:solidFill>
                  <a:srgbClr val="202124"/>
                </a:solidFill>
                <a:latin typeface="Century Gothic"/>
                <a:ea typeface="맑은 고딕"/>
              </a:rPr>
              <a:t>안동탈춤축제: 10일간 집중 운영한</a:t>
            </a:r>
          </a:p>
          <a:p>
            <a:pPr eaLnBrk="0">
              <a:lnSpc>
                <a:spcPts val="2125"/>
              </a:lnSpc>
              <a:spcBef>
                <a:spcPts val="0"/>
              </a:spcBef>
              <a:spcAft>
                <a:spcPts val="0"/>
              </a:spcAft>
            </a:pPr>
            <a:r>
              <a:rPr sz="1700" b="1">
                <a:solidFill>
                  <a:srgbClr val="202124"/>
                </a:solidFill>
                <a:latin typeface="Century Gothic"/>
                <a:ea typeface="맑은 고딕"/>
              </a:rPr>
              <a:t>공연·문화형 축제</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2024→2025년 전체 504,573→554,494명</a:t>
            </a:r>
          </a:p>
          <a:p>
            <a:pPr eaLnBrk="0">
              <a:lnSpc>
                <a:spcPts val="1875"/>
              </a:lnSpc>
              <a:spcBef>
                <a:spcPts val="0"/>
              </a:spcBef>
              <a:spcAft>
                <a:spcPts val="0"/>
              </a:spcAft>
            </a:pPr>
            <a:r>
              <a:rPr sz="1500" b="0">
                <a:solidFill>
                  <a:srgbClr val="62666C"/>
                </a:solidFill>
                <a:latin typeface="Century Gothic"/>
                <a:ea typeface="맑은 고딕"/>
              </a:rPr>
              <a:t>(+9.89%). 개최 10→10일, 일평균 +9.89%,</a:t>
            </a:r>
          </a:p>
          <a:p>
            <a:pPr eaLnBrk="0">
              <a:lnSpc>
                <a:spcPts val="1875"/>
              </a:lnSpc>
              <a:spcBef>
                <a:spcPts val="0"/>
              </a:spcBef>
              <a:spcAft>
                <a:spcPts val="0"/>
              </a:spcAft>
            </a:pPr>
            <a:r>
              <a:rPr sz="1500" b="0">
                <a:solidFill>
                  <a:srgbClr val="62666C"/>
                </a:solidFill>
                <a:latin typeface="Century Gothic"/>
                <a:ea typeface="맑은 고딕"/>
              </a:rPr>
              <a:t>외지인 +10.75%. 축제 개최기간의 방문</a:t>
            </a:r>
          </a:p>
          <a:p>
            <a:pPr eaLnBrk="0">
              <a:lnSpc>
                <a:spcPts val="1875"/>
              </a:lnSpc>
              <a:spcBef>
                <a:spcPts val="0"/>
              </a:spcBef>
              <a:spcAft>
                <a:spcPts val="0"/>
              </a:spcAft>
            </a:pPr>
            <a:r>
              <a:rPr sz="1500" b="0">
                <a:solidFill>
                  <a:srgbClr val="62666C"/>
                </a:solidFill>
                <a:latin typeface="Century Gothic"/>
                <a:ea typeface="맑은 고딕"/>
              </a:rPr>
              <a:t>실적을 참고합니다.</a:t>
            </a:r>
          </a:p>
        </p:txBody>
      </p:sp>
      <p:pic xmlns:a="http://schemas.openxmlformats.org/drawingml/2006/main" xmlns:r="http://schemas.openxmlformats.org/officeDocument/2006/relationships">
        <p:nvPicPr>
          <p:cNvPr id="20" name="case-photo-1" descr="jeongdong_2024.jpg"/>
          <p:cNvPicPr>
            <a:picLocks noChangeAspect="1"/>
          </p:cNvPicPr>
          <p:nvPr/>
        </p:nvPicPr>
        <p:blipFill>
          <a:blip r:embed="rId7"/>
          <a:stretch>
            <a:fillRect/>
          </a:stretch>
        </p:blipFill>
        <p:spPr>
          <a:xfrm>
            <a:off x="6330902" y="5457825"/>
            <a:ext cx="2578195"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218"/>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다른 지역 참고 사진 · 서울 중구 정동야행 · 문화행사 참고 사진</a:t>
            </a:r>
          </a:p>
          <a:p>
            <a:pPr eaLnBrk="0">
              <a:lnSpc>
                <a:spcPts val="1218"/>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서울문화포털 · 2024 정동야행</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1984"/>
              </a:lnSpc>
              <a:spcBef>
                <a:spcPts val="0"/>
              </a:spcBef>
              <a:spcAft>
                <a:spcPts val="0"/>
              </a:spcAft>
            </a:pPr>
            <a:r>
              <a:rPr sz="1587" b="1">
                <a:solidFill>
                  <a:srgbClr val="202124"/>
                </a:solidFill>
                <a:latin typeface="Century Gothic"/>
                <a:ea typeface="맑은 고딕"/>
              </a:rPr>
              <a:t>청주공항과 충청권 주요 관광지 연계 권역</a:t>
            </a:r>
          </a:p>
          <a:p>
            <a:pPr eaLnBrk="0">
              <a:lnSpc>
                <a:spcPts val="1984"/>
              </a:lnSpc>
              <a:spcBef>
                <a:spcPts val="0"/>
              </a:spcBef>
              <a:spcAft>
                <a:spcPts val="0"/>
              </a:spcAft>
            </a:pPr>
            <a:r>
              <a:rPr sz="1587" b="1">
                <a:solidFill>
                  <a:srgbClr val="202124"/>
                </a:solidFill>
                <a:latin typeface="Century Gothic"/>
                <a:ea typeface="맑은 고딕"/>
              </a:rPr>
              <a:t>· 청주공항·오송역·공주·부여 연계 광역</a:t>
            </a:r>
          </a:p>
          <a:p>
            <a:pPr eaLnBrk="0">
              <a:lnSpc>
                <a:spcPts val="1984"/>
              </a:lnSpc>
              <a:spcBef>
                <a:spcPts val="0"/>
              </a:spcBef>
              <a:spcAft>
                <a:spcPts val="0"/>
              </a:spcAft>
            </a:pPr>
            <a:r>
              <a:rPr sz="1587" b="1">
                <a:solidFill>
                  <a:srgbClr val="202124"/>
                </a:solidFill>
                <a:latin typeface="Century Gothic"/>
                <a:ea typeface="맑은 고딕"/>
              </a:rPr>
              <a:t>순환버스 및 수요응답형교통(DRT)</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2666C"/>
                </a:solidFill>
                <a:latin typeface="Century Gothic"/>
                <a:ea typeface="맑은 고딕"/>
              </a:rPr>
              <a:t>한국관광공사, 충청남도·충청북도, 지역</a:t>
            </a:r>
          </a:p>
          <a:p>
            <a:pPr eaLnBrk="0">
              <a:lnSpc>
                <a:spcPts val="1593"/>
              </a:lnSpc>
              <a:spcBef>
                <a:spcPts val="0"/>
              </a:spcBef>
              <a:spcAft>
                <a:spcPts val="0"/>
              </a:spcAft>
            </a:pPr>
            <a:r>
              <a:rPr sz="1275" b="0">
                <a:solidFill>
                  <a:srgbClr val="62666C"/>
                </a:solidFill>
                <a:latin typeface="Century Gothic"/>
                <a:ea typeface="맑은 고딕"/>
              </a:rPr>
              <a:t>관광조직이 협업해 청주공항, 오송역, 공주터미널,</a:t>
            </a:r>
          </a:p>
          <a:p>
            <a:pPr eaLnBrk="0">
              <a:lnSpc>
                <a:spcPts val="1593"/>
              </a:lnSpc>
              <a:spcBef>
                <a:spcPts val="0"/>
              </a:spcBef>
              <a:spcAft>
                <a:spcPts val="0"/>
              </a:spcAft>
            </a:pPr>
            <a:r>
              <a:rPr sz="1275" b="0">
                <a:solidFill>
                  <a:srgbClr val="62666C"/>
                </a:solidFill>
                <a:latin typeface="Century Gothic"/>
                <a:ea typeface="맑은 고딕"/>
              </a:rPr>
              <a:t>부여터미널 등 주요 거점을 연결하는 순환버스와</a:t>
            </a:r>
          </a:p>
          <a:p>
            <a:pPr eaLnBrk="0">
              <a:lnSpc>
                <a:spcPts val="1593"/>
              </a:lnSpc>
              <a:spcBef>
                <a:spcPts val="0"/>
              </a:spcBef>
              <a:spcAft>
                <a:spcPts val="0"/>
              </a:spcAft>
            </a:pPr>
            <a:r>
              <a:rPr sz="1275" b="0">
                <a:solidFill>
                  <a:srgbClr val="62666C"/>
                </a:solidFill>
                <a:latin typeface="Century Gothic"/>
                <a:ea typeface="맑은 고딕"/>
              </a:rPr>
              <a:t>수요응답형 버스를 운영했다. 공항 유입을 개별</a:t>
            </a:r>
          </a:p>
          <a:p>
            <a:pPr eaLnBrk="0">
              <a:lnSpc>
                <a:spcPts val="1593"/>
              </a:lnSpc>
              <a:spcBef>
                <a:spcPts val="0"/>
              </a:spcBef>
              <a:spcAft>
                <a:spcPts val="0"/>
              </a:spcAft>
            </a:pPr>
            <a:r>
              <a:rPr sz="1275" b="0">
                <a:solidFill>
                  <a:srgbClr val="62666C"/>
                </a:solidFill>
                <a:latin typeface="Century Gothic"/>
                <a:ea typeface="맑은 고딕"/>
              </a:rPr>
              <a:t>도시 홍보에 그치지 않고 교통·숙박·쇼핑·식당을</a:t>
            </a:r>
          </a:p>
          <a:p>
            <a:pPr eaLnBrk="0">
              <a:lnSpc>
                <a:spcPts val="1593"/>
              </a:lnSpc>
              <a:spcBef>
                <a:spcPts val="0"/>
              </a:spcBef>
              <a:spcAft>
                <a:spcPts val="0"/>
              </a:spcAft>
            </a:pPr>
            <a:r>
              <a:rPr sz="1275" b="0">
                <a:solidFill>
                  <a:srgbClr val="62666C"/>
                </a:solidFill>
                <a:latin typeface="Century Gothic"/>
                <a:ea typeface="맑은 고딕"/>
              </a:rPr>
              <a:t>포함한 권역 상품으로 연결하는 구조다.</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다른 지역 참고 사진 · 전국 · 디지털 관광주민증 홍보물</a:t>
            </a:r>
          </a:p>
          <a:p>
            <a:pPr eaLnBrk="0">
              <a:lnSpc>
                <a:spcPts val="1406"/>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2.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05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참고 사례 운영 방식</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전라남도 강진군 · 강진 반값여행: 여행 지출 증빙 후 모바일 지역상품권 환급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공식 자료에서 확인한 운영 사례</a:t>
            </a:r>
          </a:p>
        </p:txBody>
      </p:sp>
      <p:sp>
        <p:nvSpPr>
          <p:cNvPr id="6" name="result-photo-panel"/>
          <p:cNvSpPr/>
          <p:nvPr/>
        </p:nvSpPr>
        <p:spPr>
          <a:xfrm>
            <a:off x="1009650" y="3003232"/>
            <a:ext cx="5581650" cy="286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gangjin_official.jpg"/>
          <p:cNvPicPr>
            <a:picLocks noChangeAspect="1"/>
          </p:cNvPicPr>
          <p:nvPr/>
        </p:nvPicPr>
        <p:blipFill>
          <a:blip r:embed="rId3"/>
          <a:stretch>
            <a:fillRect/>
          </a:stretch>
        </p:blipFill>
        <p:spPr>
          <a:xfrm>
            <a:off x="1428274" y="3169691"/>
            <a:ext cx="4744402" cy="2533154"/>
          </a:xfrm>
          <a:prstGeom prst="rect">
            <a:avLst/>
          </a:prstGeom>
        </p:spPr>
      </p:pic>
      <p:sp>
        <p:nvSpPr>
          <p:cNvPr id="9" name="result-operation-label"/>
          <p:cNvSpPr txBox="1"/>
          <p:nvPr/>
        </p:nvSpPr>
        <p:spPr>
          <a:xfrm>
            <a:off x="7172325" y="2962751"/>
            <a:ext cx="7058025" cy="396716"/>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26323C"/>
                </a:solidFill>
                <a:latin typeface="Noto Sans KR"/>
              </a:rPr>
              <a:t>사례에서 참고한 이용 흐름</a:t>
            </a:r>
          </a:p>
        </p:txBody>
      </p:sp>
      <p:sp>
        <p:nvSpPr>
          <p:cNvPr id="10" name="result-flow-panel-0"/>
          <p:cNvSpPr/>
          <p:nvPr/>
        </p:nvSpPr>
        <p:spPr>
          <a:xfrm>
            <a:off x="7172325" y="3489008"/>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result-flow-icon-0" descr="coins-jade.png"/>
          <p:cNvPicPr>
            <a:picLocks noChangeAspect="1"/>
          </p:cNvPicPr>
          <p:nvPr/>
        </p:nvPicPr>
        <p:blipFill>
          <a:blip r:embed="rId5"/>
          <a:stretch>
            <a:fillRect/>
          </a:stretch>
        </p:blipFill>
        <p:spPr>
          <a:xfrm>
            <a:off x="7397115" y="3610451"/>
            <a:ext cx="388620" cy="388620"/>
          </a:xfrm>
          <a:prstGeom prst="rect">
            <a:avLst/>
          </a:prstGeom>
        </p:spPr>
      </p:pic>
      <p:sp>
        <p:nvSpPr>
          <p:cNvPr id="12" name="result-flow-title-0"/>
          <p:cNvSpPr txBox="1"/>
          <p:nvPr/>
        </p:nvSpPr>
        <p:spPr>
          <a:xfrm>
            <a:off x="7981950" y="3569970"/>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지역에서 소비</a:t>
            </a:r>
          </a:p>
        </p:txBody>
      </p:sp>
      <p:sp>
        <p:nvSpPr>
          <p:cNvPr id="13" name="result-flow-detail-0"/>
          <p:cNvSpPr txBox="1"/>
          <p:nvPr/>
        </p:nvSpPr>
        <p:spPr>
          <a:xfrm>
            <a:off x="7981950" y="3853339"/>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여행자가 지역 내에서 지출</a:t>
            </a:r>
          </a:p>
        </p:txBody>
      </p:sp>
      <p:cxnSp>
        <p:nvCxnSpPr>
          <p:cNvPr id="14" name="result-flow-arrow-0-0"/>
          <p:cNvCxnSpPr/>
          <p:nvPr/>
        </p:nvCxnSpPr>
        <p:spPr>
          <a:xfrm>
            <a:off x="7591425" y="4160996"/>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15" name="result-flow-panel-1"/>
          <p:cNvSpPr/>
          <p:nvPr/>
        </p:nvSpPr>
        <p:spPr>
          <a:xfrm>
            <a:off x="7172325" y="4282440"/>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result-flow-icon-1" descr="files-red.png"/>
          <p:cNvPicPr>
            <a:picLocks noChangeAspect="1"/>
          </p:cNvPicPr>
          <p:nvPr/>
        </p:nvPicPr>
        <p:blipFill>
          <a:blip r:embed="rId9"/>
          <a:stretch>
            <a:fillRect/>
          </a:stretch>
        </p:blipFill>
        <p:spPr>
          <a:xfrm>
            <a:off x="7397115" y="4403884"/>
            <a:ext cx="388620" cy="388620"/>
          </a:xfrm>
          <a:prstGeom prst="rect">
            <a:avLst/>
          </a:prstGeom>
        </p:spPr>
      </p:pic>
      <p:sp>
        <p:nvSpPr>
          <p:cNvPr id="17" name="result-flow-title-1"/>
          <p:cNvSpPr txBox="1"/>
          <p:nvPr/>
        </p:nvSpPr>
        <p:spPr>
          <a:xfrm>
            <a:off x="7981950" y="4363402"/>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혜택을 환급</a:t>
            </a:r>
          </a:p>
        </p:txBody>
      </p:sp>
      <p:sp>
        <p:nvSpPr>
          <p:cNvPr id="18" name="result-flow-detail-1"/>
          <p:cNvSpPr txBox="1"/>
          <p:nvPr/>
        </p:nvSpPr>
        <p:spPr>
          <a:xfrm>
            <a:off x="7981950" y="4646771"/>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지출 일부를 상품권으로 지급</a:t>
            </a:r>
          </a:p>
        </p:txBody>
      </p:sp>
      <p:cxnSp>
        <p:nvCxnSpPr>
          <p:cNvPr id="19" name="result-flow-arrow-1-0"/>
          <p:cNvCxnSpPr/>
          <p:nvPr/>
        </p:nvCxnSpPr>
        <p:spPr>
          <a:xfrm>
            <a:off x="7591425" y="4954429"/>
            <a:ext cx="0" cy="113348"/>
          </a:xfrm>
          <a:prstGeom prst="line">
            <a:avLst/>
          </a:prstGeom>
          <a:ln w="21590">
            <a:solidFill>
              <a:srgbClr val="839BA7"/>
            </a:solidFill>
            <a:tailEnd type="triangle"/>
          </a:ln>
        </p:spPr>
        <p:style>
          <a:lnRef idx="2">
            <a:schemeClr val="accent1"/>
          </a:lnRef>
          <a:fillRef idx="0">
            <a:schemeClr val="accent1"/>
          </a:fillRef>
          <a:effectRef idx="1">
            <a:schemeClr val="accent1"/>
          </a:effectRef>
          <a:fontRef idx="minor">
            <a:schemeClr val="tx1"/>
          </a:fontRef>
        </p:style>
      </p:cxnSp>
      <p:sp>
        <p:nvSpPr>
          <p:cNvPr id="20" name="result-flow-panel-2"/>
          <p:cNvSpPr/>
          <p:nvPr/>
        </p:nvSpPr>
        <p:spPr>
          <a:xfrm>
            <a:off x="7172325" y="5075872"/>
            <a:ext cx="7058025" cy="663892"/>
          </a:xfrm>
          <a:prstGeom prst="rect">
            <a:avLst/>
          </a:prstGeom>
          <a:solidFill>
            <a:srgbClr val="F0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result-flow-icon-2" descr="map-pinned-ocean.png"/>
          <p:cNvPicPr>
            <a:picLocks noChangeAspect="1"/>
          </p:cNvPicPr>
          <p:nvPr/>
        </p:nvPicPr>
        <p:blipFill>
          <a:blip r:embed="rId7"/>
          <a:stretch>
            <a:fillRect/>
          </a:stretch>
        </p:blipFill>
        <p:spPr>
          <a:xfrm>
            <a:off x="7397115" y="5197316"/>
            <a:ext cx="388620" cy="388620"/>
          </a:xfrm>
          <a:prstGeom prst="rect">
            <a:avLst/>
          </a:prstGeom>
        </p:spPr>
      </p:pic>
      <p:sp>
        <p:nvSpPr>
          <p:cNvPr id="22" name="result-flow-title-2"/>
          <p:cNvSpPr txBox="1"/>
          <p:nvPr/>
        </p:nvSpPr>
        <p:spPr>
          <a:xfrm>
            <a:off x="7981950" y="5156835"/>
            <a:ext cx="5981700" cy="242888"/>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26323C"/>
                </a:solidFill>
                <a:latin typeface="Noto Sans KR"/>
              </a:rPr>
              <a:t>지역 상점 재이용</a:t>
            </a:r>
          </a:p>
        </p:txBody>
      </p:sp>
      <p:sp>
        <p:nvSpPr>
          <p:cNvPr id="23" name="result-flow-detail-2"/>
          <p:cNvSpPr txBox="1"/>
          <p:nvPr/>
        </p:nvSpPr>
        <p:spPr>
          <a:xfrm>
            <a:off x="7981950" y="5440204"/>
            <a:ext cx="5981700" cy="22669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받은 혜택을 지역에서 다시 사용</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지역별 사례</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06 / 17</a:t>
            </a:r>
          </a:p>
        </p:txBody>
      </p:sp>
      <p:sp>
        <p:nvSpPr>
          <p:cNvPr id="32" name="result-photo-source-bg"/>
          <p:cNvSpPr/>
          <p:nvPr/>
        </p:nvSpPr>
        <p:spPr>
          <a:xfrm>
            <a:off x="1123950" y="5119915"/>
            <a:ext cx="5353050" cy="485775"/>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sult-photo-source">
            <a:hlinkClick r:id="rId4"/>
          </p:cNvPr>
          <p:cNvSpPr txBox="1"/>
          <p:nvPr/>
        </p:nvSpPr>
        <p:spPr>
          <a:xfrm>
            <a:off x="1238250" y="5152300"/>
            <a:ext cx="5124450" cy="421005"/>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다른 지역 참고 사진 · 강진군 · 반값여행 공식 홍보물</a:t>
            </a:r>
          </a:p>
          <a:p>
            <a:pPr eaLnBrk="0" algn="ctr">
              <a:lnSpc>
                <a:spcPts val="1593"/>
              </a:lnSpc>
              <a:spcBef>
                <a:spcPts val="0"/>
              </a:spcBef>
              <a:spcAft>
                <a:spcPts val="0"/>
              </a:spcAft>
            </a:pPr>
            <a:r>
              <a:rPr sz="1275" b="0">
                <a:solidFill>
                  <a:srgbClr val="FFFFFF"/>
                </a:solidFill>
                <a:latin typeface="Noto Sans KR"/>
              </a:rPr>
              <a:t>출처: 강진 반값여행 공식 홈페이지</a:t>
            </a:r>
          </a:p>
        </p:txBody>
      </p:sp>
      <p:sp>
        <p:nvSpPr>
          <p:cNvPr id="34" name="case-adaptation-card-0"/>
          <p:cNvSpPr/>
          <p:nvPr/>
        </p:nvSpPr>
        <p:spPr>
          <a:xfrm>
            <a:off x="10096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ase-adaptation-label-0"/>
          <p:cNvSpPr txBox="1"/>
          <p:nvPr/>
        </p:nvSpPr>
        <p:spPr>
          <a:xfrm>
            <a:off x="11906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지역의 관광 신호</a:t>
            </a:r>
          </a:p>
        </p:txBody>
      </p:sp>
      <p:sp>
        <p:nvSpPr>
          <p:cNvPr id="36" name="case-adaptation-body-0"/>
          <p:cNvSpPr txBox="1"/>
          <p:nvPr/>
        </p:nvSpPr>
        <p:spPr>
          <a:xfrm>
            <a:off x="11906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관광소비액 전망 · +4.49%</a:t>
            </a:r>
          </a:p>
          <a:p>
            <a:pPr eaLnBrk="0">
              <a:lnSpc>
                <a:spcPts val="1875"/>
              </a:lnSpc>
              <a:spcBef>
                <a:spcPts val="0"/>
              </a:spcBef>
              <a:spcAft>
                <a:spcPts val="0"/>
              </a:spcAft>
            </a:pPr>
            <a:r>
              <a:rPr sz="1500" b="0">
                <a:solidFill>
                  <a:srgbClr val="46515C"/>
                </a:solidFill>
                <a:latin typeface="Noto Sans KR"/>
              </a:rPr>
              <a:t>업종별 소비 비중 · 쇼핑 43.0%,</a:t>
            </a:r>
          </a:p>
          <a:p>
            <a:pPr eaLnBrk="0">
              <a:lnSpc>
                <a:spcPts val="1875"/>
              </a:lnSpc>
              <a:spcBef>
                <a:spcPts val="0"/>
              </a:spcBef>
              <a:spcAft>
                <a:spcPts val="0"/>
              </a:spcAft>
            </a:pPr>
            <a:r>
              <a:rPr sz="1500" b="0">
                <a:solidFill>
                  <a:srgbClr val="46515C"/>
                </a:solidFill>
                <a:latin typeface="Noto Sans KR"/>
              </a:rPr>
              <a:t>식음료업 39.7%</a:t>
            </a:r>
          </a:p>
          <a:p>
            <a:pPr eaLnBrk="0">
              <a:lnSpc>
                <a:spcPts val="1875"/>
              </a:lnSpc>
              <a:spcBef>
                <a:spcPts val="0"/>
              </a:spcBef>
              <a:spcAft>
                <a:spcPts val="0"/>
              </a:spcAft>
            </a:pPr>
            <a:r>
              <a:rPr sz="1500" b="0">
                <a:solidFill>
                  <a:srgbClr val="46515C"/>
                </a:solidFill>
                <a:latin typeface="Noto Sans KR"/>
              </a:rPr>
              <a:t>숙박 특성 · 숙박 비율 7.57%, 숙박일수 2.82일</a:t>
            </a:r>
          </a:p>
        </p:txBody>
      </p:sp>
      <p:sp>
        <p:nvSpPr>
          <p:cNvPr id="37" name="case-adaptation-card-1"/>
          <p:cNvSpPr/>
          <p:nvPr/>
        </p:nvSpPr>
        <p:spPr>
          <a:xfrm>
            <a:off x="55054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case-adaptation-label-1"/>
          <p:cNvSpPr txBox="1"/>
          <p:nvPr/>
        </p:nvSpPr>
        <p:spPr>
          <a:xfrm>
            <a:off x="56864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이 사례를 선택한 이유</a:t>
            </a:r>
          </a:p>
        </p:txBody>
      </p:sp>
      <p:sp>
        <p:nvSpPr>
          <p:cNvPr id="39" name="case-adaptation-body-1"/>
          <p:cNvSpPr txBox="1"/>
          <p:nvPr/>
        </p:nvSpPr>
        <p:spPr>
          <a:xfrm>
            <a:off x="56864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2026년 10~12월 전망된 관광소비액 증가</a:t>
            </a:r>
          </a:p>
          <a:p>
            <a:pPr eaLnBrk="0">
              <a:lnSpc>
                <a:spcPts val="1875"/>
              </a:lnSpc>
              <a:spcBef>
                <a:spcPts val="0"/>
              </a:spcBef>
              <a:spcAft>
                <a:spcPts val="0"/>
              </a:spcAft>
            </a:pPr>
            <a:r>
              <a:rPr sz="1500" b="0">
                <a:solidFill>
                  <a:srgbClr val="46515C"/>
                </a:solidFill>
                <a:latin typeface="Noto Sans KR"/>
              </a:rPr>
              <a:t>추세(4.49%)를 실제 상권 매출로 연결하기</a:t>
            </a:r>
          </a:p>
          <a:p>
            <a:pPr eaLnBrk="0">
              <a:lnSpc>
                <a:spcPts val="1875"/>
              </a:lnSpc>
              <a:spcBef>
                <a:spcPts val="0"/>
              </a:spcBef>
              <a:spcAft>
                <a:spcPts val="0"/>
              </a:spcAft>
            </a:pPr>
            <a:r>
              <a:rPr sz="1500" b="0">
                <a:solidFill>
                  <a:srgbClr val="46515C"/>
                </a:solidFill>
                <a:latin typeface="Noto Sans KR"/>
              </a:rPr>
              <a:t>위해, 결제 증빙 기반의 환급을 통해 추가</a:t>
            </a:r>
          </a:p>
          <a:p>
            <a:pPr eaLnBrk="0">
              <a:lnSpc>
                <a:spcPts val="1875"/>
              </a:lnSpc>
              <a:spcBef>
                <a:spcPts val="0"/>
              </a:spcBef>
              <a:spcAft>
                <a:spcPts val="0"/>
              </a:spcAft>
            </a:pPr>
            <a:r>
              <a:rPr sz="1500" b="0">
                <a:solidFill>
                  <a:srgbClr val="46515C"/>
                </a:solidFill>
                <a:latin typeface="Noto Sans KR"/>
              </a:rPr>
              <a:t>소비를 유도함</a:t>
            </a:r>
          </a:p>
        </p:txBody>
      </p:sp>
      <p:sp>
        <p:nvSpPr>
          <p:cNvPr id="40" name="case-adaptation-card-2"/>
          <p:cNvSpPr/>
          <p:nvPr/>
        </p:nvSpPr>
        <p:spPr>
          <a:xfrm>
            <a:off x="10001250" y="6257925"/>
            <a:ext cx="4229100" cy="1847850"/>
          </a:xfrm>
          <a:prstGeom prst="roundRect">
            <a:avLst>
              <a:gd name="adj" fmla="val 9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ase-adaptation-label-2"/>
          <p:cNvSpPr txBox="1"/>
          <p:nvPr/>
        </p:nvSpPr>
        <p:spPr>
          <a:xfrm>
            <a:off x="10182225" y="6419850"/>
            <a:ext cx="3867150" cy="323850"/>
          </a:xfrm>
          <a:prstGeom prst="rect">
            <a:avLst/>
          </a:prstGeom>
          <a:noFill/>
        </p:spPr>
        <p:txBody>
          <a:bodyPr wrap="none" lIns="57150" rIns="57150" tIns="38100" bIns="38100" anchor="t">
            <a:noAutofit/>
          </a:bodyPr>
          <a:lstStyle/>
          <a:p>
            <a:pPr eaLnBrk="0">
              <a:lnSpc>
                <a:spcPts val="1921"/>
              </a:lnSpc>
              <a:spcBef>
                <a:spcPts val="0"/>
              </a:spcBef>
              <a:spcAft>
                <a:spcPts val="0"/>
              </a:spcAft>
            </a:pPr>
            <a:r>
              <a:rPr sz="1537" b="1">
                <a:solidFill>
                  <a:srgbClr val="137E7A"/>
                </a:solidFill>
                <a:latin typeface="Noto Sans KR"/>
              </a:rPr>
              <a:t>우리 지역에 적용할 내용</a:t>
            </a:r>
          </a:p>
        </p:txBody>
      </p:sp>
      <p:sp>
        <p:nvSpPr>
          <p:cNvPr id="42" name="case-adaptation-body-2"/>
          <p:cNvSpPr txBox="1"/>
          <p:nvPr/>
        </p:nvSpPr>
        <p:spPr>
          <a:xfrm>
            <a:off x="10182225" y="6877050"/>
            <a:ext cx="3867150" cy="10382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46515C"/>
                </a:solidFill>
                <a:latin typeface="Noto Sans KR"/>
              </a:rPr>
              <a:t>서구 내 지정된 식음료·쇼핑 업종에서 일정</a:t>
            </a:r>
          </a:p>
          <a:p>
            <a:pPr eaLnBrk="0">
              <a:lnSpc>
                <a:spcPts val="1875"/>
              </a:lnSpc>
              <a:spcBef>
                <a:spcPts val="0"/>
              </a:spcBef>
              <a:spcAft>
                <a:spcPts val="0"/>
              </a:spcAft>
            </a:pPr>
            <a:r>
              <a:rPr sz="1500" b="0">
                <a:solidFill>
                  <a:srgbClr val="46515C"/>
                </a:solidFill>
                <a:latin typeface="Noto Sans KR"/>
              </a:rPr>
              <a:t>금액 이상 결제 시, 증빙을 통해</a:t>
            </a:r>
          </a:p>
          <a:p>
            <a:pPr eaLnBrk="0">
              <a:lnSpc>
                <a:spcPts val="1875"/>
              </a:lnSpc>
              <a:spcBef>
                <a:spcPts val="0"/>
              </a:spcBef>
              <a:spcAft>
                <a:spcPts val="0"/>
              </a:spcAft>
            </a:pPr>
            <a:r>
              <a:rPr sz="1500" b="0">
                <a:solidFill>
                  <a:srgbClr val="46515C"/>
                </a:solidFill>
                <a:latin typeface="Noto Sans KR"/>
              </a:rPr>
              <a:t>지역사랑상품권으로 일부를 환급해 주는 방식</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202124"/>
                </a:solidFill>
                <a:latin typeface="Noto Sans KR"/>
              </a:rPr>
              <a:t>서구 내 지정된 식음료·쇼핑 업종에서</a:t>
            </a:r>
          </a:p>
          <a:p>
            <a:pPr eaLnBrk="0">
              <a:lnSpc>
                <a:spcPts val="1781"/>
              </a:lnSpc>
              <a:spcBef>
                <a:spcPts val="0"/>
              </a:spcBef>
              <a:spcAft>
                <a:spcPts val="0"/>
              </a:spcAft>
            </a:pPr>
            <a:r>
              <a:rPr sz="1425" b="0">
                <a:solidFill>
                  <a:srgbClr val="202124"/>
                </a:solidFill>
                <a:latin typeface="Noto Sans KR"/>
              </a:rPr>
              <a:t>일정 금액 이상 결제 시, 증빙을 통해</a:t>
            </a:r>
          </a:p>
          <a:p>
            <a:pPr eaLnBrk="0">
              <a:lnSpc>
                <a:spcPts val="1781"/>
              </a:lnSpc>
              <a:spcBef>
                <a:spcPts val="0"/>
              </a:spcBef>
              <a:spcAft>
                <a:spcPts val="0"/>
              </a:spcAft>
            </a:pPr>
            <a:r>
              <a:rPr sz="1425" b="0">
                <a:solidFill>
                  <a:srgbClr val="202124"/>
                </a:solidFill>
                <a:latin typeface="Noto Sans KR"/>
              </a:rPr>
              <a:t>지역사랑상품권으로 일부를</a:t>
            </a:r>
          </a:p>
          <a:p>
            <a:pPr eaLnBrk="0">
              <a:lnSpc>
                <a:spcPts val="1781"/>
              </a:lnSpc>
              <a:spcBef>
                <a:spcPts val="0"/>
              </a:spcBef>
              <a:spcAft>
                <a:spcPts val="0"/>
              </a:spcAft>
            </a:pPr>
            <a:r>
              <a:rPr sz="1425" b="0">
                <a:solidFill>
                  <a:srgbClr val="202124"/>
                </a:solidFill>
                <a:latin typeface="Noto Sans KR"/>
              </a:rPr>
              <a:t>환급해 주는 방식</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1,493만 명</a:t>
            </a:r>
          </a:p>
          <a:p>
            <a:pPr eaLnBrk="0">
              <a:lnSpc>
                <a:spcPts val="2156"/>
              </a:lnSpc>
              <a:spcBef>
                <a:spcPts val="0"/>
              </a:spcBef>
              <a:spcAft>
                <a:spcPts val="0"/>
              </a:spcAft>
            </a:pPr>
            <a:r>
              <a:rPr sz="1725" b="0">
                <a:solidFill>
                  <a:srgbClr val="202124"/>
                </a:solidFill>
                <a:latin typeface="Noto Sans KR"/>
              </a:rPr>
              <a:t>관광소비액 2,464억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07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+1,440명, 관광소비액 약 +5,149만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대전광역시 서구의 2개월 운영안</a:t>
            </a:r>
          </a:p>
          <a:p>
            <a:pPr eaLnBrk="0">
              <a:lnSpc>
                <a:spcPts val="2437"/>
              </a:lnSpc>
              <a:spcBef>
                <a:spcPts val="0"/>
              </a:spcBef>
              <a:spcAft>
                <a:spcPts val="0"/>
              </a:spcAft>
            </a:pPr>
            <a:r>
              <a:rPr sz="1950" b="0">
                <a:solidFill>
                  <a:srgbClr val="62666C"/>
                </a:solidFill>
                <a:latin typeface="Noto Sans KR"/>
              </a:rPr>
              <a:t>운영 산정 기간 2026-11 ~ 2026-12</a:t>
            </a:r>
          </a:p>
          <a:p>
            <a:pPr eaLnBrk="0">
              <a:lnSpc>
                <a:spcPts val="2437"/>
              </a:lnSpc>
              <a:spcBef>
                <a:spcPts val="0"/>
              </a:spcBef>
              <a:spcAft>
                <a:spcPts val="0"/>
              </a:spcAft>
            </a:pPr>
            <a:r>
              <a:rPr sz="1950" b="0">
                <a:solidFill>
                  <a:srgbClr val="62666C"/>
                </a:solidFill>
                <a:latin typeface="Noto Sans KR"/>
              </a:rPr>
              <a:t>편성 정원 6,400명분 × 이용률 75%</a:t>
            </a:r>
          </a:p>
          <a:p>
            <a:pPr eaLnBrk="0">
              <a:lnSpc>
                <a:spcPts val="2437"/>
              </a:lnSpc>
              <a:spcBef>
                <a:spcPts val="0"/>
              </a:spcBef>
              <a:spcAft>
                <a:spcPts val="0"/>
              </a:spcAft>
            </a:pPr>
            <a:r>
              <a:rPr sz="1950" b="0">
                <a:solidFill>
                  <a:srgbClr val="62666C"/>
                </a:solidFill>
                <a:latin typeface="Noto Sans KR"/>
              </a:rPr>
              <a:t>예상 참여 4,800명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1,440명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8개 거점 × 월 20일 × 2개월</a:t>
            </a:r>
          </a:p>
          <a:p>
            <a:pPr eaLnBrk="0">
              <a:lnSpc>
                <a:spcPts val="2062"/>
              </a:lnSpc>
              <a:spcBef>
                <a:spcPts val="0"/>
              </a:spcBef>
              <a:spcAft>
                <a:spcPts val="0"/>
              </a:spcAft>
            </a:pPr>
            <a:r>
              <a:rPr sz="1650" b="0">
                <a:solidFill>
                  <a:srgbClr val="62666C"/>
                </a:solidFill>
                <a:latin typeface="Noto Sans KR"/>
              </a:rPr>
              <a:t>× 하루 1회 × 회당 20명 = 6,400명분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1,440명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+0.01%</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0.51억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08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497.6만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8개 참여 점포 묶음</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20일 · 하루 1회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4,800명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6,400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1,440명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8개 × 월 20일 × 2개월 × 하루 1회 × 회당 20명 = 6,400명분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2026-11~2026-12 운영 · 예상 견적 5,694만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공식 사례의 운영 방식을 참고하며, 발표 실적을 우리 지역 정원으로 환산하지 않습니다.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대전광역시 서구: 월평균 ML 방문 497.6만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09 / 17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3.4 월별 방문·소비 증가 목표</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‘서구 관광 소비 환급’으로 인한 방문자 및 소비액 증가 목표</a:t>
            </a:r>
          </a:p>
        </p:txBody>
      </p:sp>
      <p:sp>
        <p:nvSpPr>
          <p:cNvPr id="5" name="scenario-panel-0"/>
          <p:cNvSpPr/>
          <p:nvPr/>
        </p:nvSpPr>
        <p:spPr>
          <a:xfrm>
            <a:off x="100965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7649B"/>
                </a:solidFill>
                <a:latin typeface="Noto Sans KR"/>
              </a:rPr>
              <a:t>3개월 추가 목표 합계 · 1,440명</a:t>
            </a:r>
          </a:p>
        </p:txBody>
      </p:sp>
      <p:sp>
        <p:nvSpPr>
          <p:cNvPr id="9" name="scenario-panel-1"/>
          <p:cNvSpPr/>
          <p:nvPr/>
        </p:nvSpPr>
        <p:spPr>
          <a:xfrm>
            <a:off x="7810500" y="27622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876550"/>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419850"/>
            <a:ext cx="5962650"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87C70"/>
                </a:solidFill>
                <a:latin typeface="Noto Sans KR"/>
              </a:rPr>
              <a:t>3개월 추가 목표 합계 · 5,149만 원</a:t>
            </a:r>
          </a:p>
        </p:txBody>
      </p:sp>
      <p:sp>
        <p:nvSpPr>
          <p:cNvPr id="13" name="scenario-disclaimer"/>
          <p:cNvSpPr txBox="1"/>
          <p:nvPr/>
        </p:nvSpPr>
        <p:spPr>
          <a:xfrm>
            <a:off x="1009650" y="7620000"/>
            <a:ext cx="13220700" cy="6191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기준 전망에 더하는 월별 계획 목표입니다. 준비월은 추가 목표를 배분하지 않으며, 실제 효과는 사업 후 확인합니다.</a:t>
            </a:r>
          </a:p>
        </p:txBody>
      </p:sp>
      <p:sp>
        <p:nvSpPr>
          <p:cNvPr id="1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10 / 17</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4.1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참여 가게와 지원 기준을 먼저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참여를 희망하는 가게에 사용 가능한 상품권과 정산 방법을 확인합니다. 지원 대상, 인정할 지출, 신청</a:t>
            </a:r>
          </a:p>
          <a:p>
            <a:pPr eaLnBrk="0">
              <a:lnSpc>
                <a:spcPts val="1875"/>
              </a:lnSpc>
              <a:spcBef>
                <a:spcPts val="0"/>
              </a:spcBef>
              <a:spcAft>
                <a:spcPts val="0"/>
              </a:spcAft>
            </a:pPr>
            <a:r>
              <a:rPr sz="1500" b="0">
                <a:solidFill>
                  <a:srgbClr val="62666C"/>
                </a:solidFill>
                <a:latin typeface="Noto Sans KR"/>
              </a:rPr>
              <a:t>마감일과 1인당 한도를 정해 같은 안내문을 배포합니다.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신청부터 지급까지 직접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시험 신청서를 넣고 영수증의 날짜·가게·금액을 확인합니다. 취소 결제와 중복 신청을 걸러내고, 서류가</a:t>
            </a:r>
          </a:p>
          <a:p>
            <a:pPr eaLnBrk="0">
              <a:lnSpc>
                <a:spcPts val="1875"/>
              </a:lnSpc>
              <a:spcBef>
                <a:spcPts val="0"/>
              </a:spcBef>
              <a:spcAft>
                <a:spcPts val="0"/>
              </a:spcAft>
            </a:pPr>
            <a:r>
              <a:rPr sz="1500" b="0">
                <a:solidFill>
                  <a:srgbClr val="62666C"/>
                </a:solidFill>
                <a:latin typeface="Noto Sans KR"/>
              </a:rPr>
              <a:t>부족할 때 누구에게 보완을 요청할지도 정합니다.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2026-11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작게 시작하고 확인된 신청부터 지급합니다.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가게를 한정해 먼저 운영합니다. 담당자가 지출 증빙을 확인한 뒤 정해진 기준에 따라 환급하고,</a:t>
            </a:r>
          </a:p>
          <a:p>
            <a:pPr eaLnBrk="0">
              <a:lnSpc>
                <a:spcPts val="1875"/>
              </a:lnSpc>
              <a:spcBef>
                <a:spcPts val="0"/>
              </a:spcBef>
              <a:spcAft>
                <a:spcPts val="0"/>
              </a:spcAft>
            </a:pPr>
            <a:r>
              <a:rPr sz="1500" b="0">
                <a:solidFill>
                  <a:srgbClr val="62666C"/>
                </a:solidFill>
                <a:latin typeface="Noto Sans KR"/>
              </a:rPr>
              <a:t>신청자에게 지급일과 상품권 사용 방법을 알려줍니다.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지급 기록과 실제 사용 결과를 확인합니다.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신청·승인·지급 건수와 비용을 맞춰 봅니다. 상품권 사용 집계가 가능한지 운영사에 확인하고, 종료 후</a:t>
            </a:r>
          </a:p>
          <a:p>
            <a:pPr eaLnBrk="0">
              <a:lnSpc>
                <a:spcPts val="1875"/>
              </a:lnSpc>
              <a:spcBef>
                <a:spcPts val="0"/>
              </a:spcBef>
              <a:spcAft>
                <a:spcPts val="0"/>
              </a:spcAft>
            </a:pPr>
            <a:r>
              <a:rPr sz="1500" b="0">
                <a:solidFill>
                  <a:srgbClr val="62666C"/>
                </a:solidFill>
                <a:latin typeface="Noto Sans KR"/>
              </a:rPr>
              <a:t>취소를 뺀 실적을 정리합니다. 전체 관광소비 증가를 전부 사업 성과로 보지는 않습니다.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11 / 17</a:t>
            </a:r>
          </a:p>
        </p:txBody>
      </p:sp>
    </p:spTree>
    <p:extLst>
      <p:ext uri="{BB962C8B-B14F-4D97-AF65-F5344CB8AC3E}">
        <p14:creationId xmlns:p14="http://schemas.microsoft.com/office/powerpoint/2010/main" val="380383987"/>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2262A"/>
                </a:solidFill>
                <a:latin typeface="Noto Sans KR"/>
              </a:rPr>
              <a:t>4.2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4,998,578명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0명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4,940,348명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4,940,825명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477명 · 0.01%</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4,989,633명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4,990,596명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963명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14,928,559명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14,929,999명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1,440명 · 0.01%</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1,440명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793.59억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0만 원 · 0.00%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859.72억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859.90억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1,785만 원 · 0.02%</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810.34억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810.68억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3,364만 원 · 0.04%</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2,463.65억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2,464.17억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5,149만 원 · 0.02%</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5,149만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준비월의 추가 목표는 0명·0원입니다. 운영월에는 ML 전망 × 최종월 목표율 × (경과 운영월 ÷ 전체 운영월)을 더합니다.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12 / 17</a:t>
            </a:r>
          </a:p>
        </p:txBody>
      </p:sp>
    </p:spTree>
    <p:extLst>
      <p:ext uri="{BB962C8B-B14F-4D97-AF65-F5344CB8AC3E}">
        <p14:creationId xmlns:p14="http://schemas.microsoft.com/office/powerpoint/2010/main" val="553742078"/>
      </p:ext>
    </p:extLst>
  </p:cSld>
</p:sld>
</file>

<file path=ppt/slides/slide1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참여 목표에 따른 예상 사업비</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5,694만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여행비 환급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23,764,800원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참여 목표 4,800건 × min(계획 결제 16,503원 × 30%, 건별 상한 50,000원) = 건당 4,951원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12,000,000원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37" b="0">
                          <a:solidFill>
                            <a:srgbClr val="202124"/>
                          </a:solidFill>
                          <a:latin typeface="Noto Sans KR"/>
                        </a:rPr>
                        <a:t>2개 운영팀 × 월 20일 × 2개월 × 150,000원 (점포 묶음 8개, 최대 4개당 공동 정산팀 1개)</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5,176,480원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51,764,800원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참여자 결제 79,214,400원 중 추가 소비 목표 51,489,277원. 견적은 같은 참여 목표의 사업비이며, 결제액 전체를 신규 소비나 사업 수익으로 계산하지 않습니다.</a:t>
            </a:r>
          </a:p>
          <a:p>
            <a:pPr eaLnBrk="0">
              <a:lnSpc>
                <a:spcPts val="1781"/>
              </a:lnSpc>
              <a:spcBef>
                <a:spcPts val="0"/>
              </a:spcBef>
              <a:spcAft>
                <a:spcPts val="0"/>
              </a:spcAft>
            </a:pPr>
            <a:r>
              <a:rPr sz="1425" b="0">
                <a:solidFill>
                  <a:srgbClr val="62666C"/>
                </a:solidFill>
                <a:latin typeface="Noto Sans KR"/>
              </a:rPr>
              <a:t>100% 참여 시 참고예산 65,655,040원 · 같은 계획 결제·단가 기준, 지급 상한 총액은 아님. 예비비는 직접비의 10%.</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13 / 17</a:t>
            </a:r>
          </a:p>
        </p:txBody>
      </p:sp>
    </p:spTree>
    <p:extLst>
      <p:ext uri="{BB962C8B-B14F-4D97-AF65-F5344CB8AC3E}">
        <p14:creationId xmlns:p14="http://schemas.microsoft.com/office/powerpoint/2010/main" val="1823133345"/>
      </p:ext>
    </p:extLst>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96"/>
          <p:cNvSpPr/>
          <p:nvPr/>
        </p:nvSpPr>
        <p:spPr>
          <a:xfrm>
            <a:off x="104394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74"/>
          <p:cNvSpPr/>
          <p:nvPr/>
        </p:nvSpPr>
        <p:spPr>
          <a:xfrm>
            <a:off x="832485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52"/>
          <p:cNvSpPr/>
          <p:nvPr/>
        </p:nvSpPr>
        <p:spPr>
          <a:xfrm>
            <a:off x="6210300" y="2686050"/>
            <a:ext cx="17145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2480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39350" y="4324350"/>
            <a:ext cx="4000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53900" y="4324350"/>
            <a:ext cx="6096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3055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AI</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2960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2960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42010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AI</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41057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41057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534650" y="2933700"/>
            <a:ext cx="15049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AI</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525125" y="4724400"/>
            <a:ext cx="15240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525125" y="5276850"/>
            <a:ext cx="15240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14 / 17</a:t>
            </a:r>
          </a:p>
        </p:txBody>
      </p:sp>
    </p:spTree>
  </p:cSld>
  <p:clrMapOvr>
    <a:masterClrMapping/>
  </p:clrMapOvr>
</p:sld>
</file>

<file path=ppt/slides/slide1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265"/>
              </a:lnSpc>
              <a:spcBef>
                <a:spcPts val="0"/>
              </a:spcBef>
              <a:spcAft>
                <a:spcPts val="0"/>
              </a:spcAft>
            </a:pPr>
            <a:r>
              <a:rPr sz="1012" b="0" u="none">
                <a:solidFill>
                  <a:srgbClr val="62666C"/>
                </a:solidFill>
                <a:latin typeface="Noto Sans KR"/>
                <a:hlinkClick xmlns:ns10="http://schemas.openxmlformats.org/officeDocument/2006/relationships" ns10:id="rId2"/>
              </a:rPr>
              <a:t>대전광역시_서구/방문자/2025_01_12.zip 2025-07 ~ 2026-06</a:t>
            </a:r>
          </a:p>
        </p:txBody>
      </p:sp>
      <p:sp xmlns:a="http://schemas.openxmlformats.org/drawingml/2006/main">
        <p:nvSpPr>
          <p:cNvPr id="13" name="reference-8"/>
          <p:cNvSpPr txBox="1"/>
          <p:nvPr/>
        </p:nvSpPr>
        <p:spPr>
          <a:xfrm>
            <a:off x="1009650" y="54292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265"/>
              </a:lnSpc>
              <a:spcBef>
                <a:spcPts val="0"/>
              </a:spcBef>
              <a:spcAft>
                <a:spcPts val="0"/>
              </a:spcAft>
            </a:pPr>
            <a:r>
              <a:rPr sz="1012" b="0" u="none">
                <a:solidFill>
                  <a:srgbClr val="62666C"/>
                </a:solidFill>
                <a:latin typeface="Noto Sans KR"/>
                <a:hlinkClick xmlns:ns12="http://schemas.openxmlformats.org/officeDocument/2006/relationships" ns12:id="rId2"/>
              </a:rPr>
              <a:t>대전광역시_서구/관광소비/2025_01_12.zip 2025-07 ~ 2026-06</a:t>
            </a:r>
          </a:p>
        </p:txBody>
      </p:sp>
      <p:sp xmlns:a="http://schemas.openxmlformats.org/drawingml/2006/main">
        <p:nvSpPr>
          <p:cNvPr id="14" name="reference-9"/>
          <p:cNvSpPr txBox="1"/>
          <p:nvPr/>
        </p:nvSpPr>
        <p:spPr>
          <a:xfrm>
            <a:off x="1009650" y="586263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3="http://schemas.openxmlformats.org/officeDocument/2006/relationships" ns13:id="rId2"/>
              </a:rPr>
              <a:t>관측 데이터 D10 한국관광 데이터랩 공식 다운로드 ·</a:t>
            </a:r>
          </a:p>
          <a:p>
            <a:pPr eaLnBrk="0">
              <a:lnSpc>
                <a:spcPts val="1359"/>
              </a:lnSpc>
              <a:spcBef>
                <a:spcPts val="0"/>
              </a:spcBef>
              <a:spcAft>
                <a:spcPts val="0"/>
              </a:spcAft>
            </a:pPr>
            <a:r>
              <a:rPr sz="1087" b="0" u="none">
                <a:solidFill>
                  <a:srgbClr val="62666C"/>
                </a:solidFill>
                <a:latin typeface="Noto Sans KR"/>
                <a:hlinkClick xmlns:ns14="http://schemas.openxmlformats.org/officeDocument/2006/relationships" ns14:id="rId2"/>
              </a:rPr>
              <a:t>대전광역시_서구/숙박_체류시간/2025_01_12.zip 2025-07 ~ 2026-06</a:t>
            </a:r>
          </a:p>
        </p:txBody>
      </p:sp>
      <p:sp xmlns:a="http://schemas.openxmlformats.org/drawingml/2006/main">
        <p:nvSpPr>
          <p:cNvPr id="15" name="reference-10"/>
          <p:cNvSpPr txBox="1"/>
          <p:nvPr/>
        </p:nvSpPr>
        <p:spPr>
          <a:xfrm>
            <a:off x="1009650" y="647461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5="http://schemas.openxmlformats.org/officeDocument/2006/relationships" ns15:id="rId2"/>
              </a:rPr>
              <a:t>관측 데이터 D11 한국관광 데이터랩 공식 다운로드 ·</a:t>
            </a:r>
          </a:p>
          <a:p>
            <a:pPr eaLnBrk="0">
              <a:lnSpc>
                <a:spcPts val="1265"/>
              </a:lnSpc>
              <a:spcBef>
                <a:spcPts val="0"/>
              </a:spcBef>
              <a:spcAft>
                <a:spcPts val="0"/>
              </a:spcAft>
            </a:pPr>
            <a:r>
              <a:rPr sz="1012" b="0" u="none">
                <a:solidFill>
                  <a:srgbClr val="62666C"/>
                </a:solidFill>
                <a:latin typeface="Noto Sans KR"/>
                <a:hlinkClick xmlns:ns16="http://schemas.openxmlformats.org/officeDocument/2006/relationships" ns16:id="rId2"/>
              </a:rPr>
              <a:t>대전광역시_서구/관광소비/2026_01_06.zip 2025-07 ~ 2026-06</a:t>
            </a:r>
          </a:p>
        </p:txBody>
      </p:sp>
      <p:sp xmlns:a="http://schemas.openxmlformats.org/drawingml/2006/main">
        <p:nvSpPr>
          <p:cNvPr id="16" name="reference-11"/>
          <p:cNvSpPr txBox="1"/>
          <p:nvPr/>
        </p:nvSpPr>
        <p:spPr>
          <a:xfrm>
            <a:off x="1009650" y="690800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17="http://schemas.openxmlformats.org/officeDocument/2006/relationships" ns17:id="rId2"/>
              </a:rPr>
              <a:t>관측 데이터 D12 한국관광 데이터랩 공식 다운로드 ·</a:t>
            </a:r>
          </a:p>
          <a:p>
            <a:pPr eaLnBrk="0">
              <a:lnSpc>
                <a:spcPts val="1265"/>
              </a:lnSpc>
              <a:spcBef>
                <a:spcPts val="0"/>
              </a:spcBef>
              <a:spcAft>
                <a:spcPts val="0"/>
              </a:spcAft>
            </a:pPr>
            <a:r>
              <a:rPr sz="1012" b="0" u="none">
                <a:solidFill>
                  <a:srgbClr val="62666C"/>
                </a:solidFill>
                <a:latin typeface="Noto Sans KR"/>
                <a:hlinkClick xmlns:ns18="http://schemas.openxmlformats.org/officeDocument/2006/relationships" ns18:id="rId2"/>
              </a:rPr>
              <a:t>대전광역시_서구/방문자/2026_01_06.zip 2025-07 ~ 2026-06</a:t>
            </a:r>
          </a:p>
        </p:txBody>
      </p:sp>
      <p:sp xmlns:a="http://schemas.openxmlformats.org/drawingml/2006/main">
        <p:nvSpPr>
          <p:cNvPr id="17" name="reference-12"/>
          <p:cNvSpPr txBox="1"/>
          <p:nvPr/>
        </p:nvSpPr>
        <p:spPr>
          <a:xfrm>
            <a:off x="1009650" y="7341394"/>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19="http://schemas.openxmlformats.org/officeDocument/2006/relationships" ns19:id="rId2"/>
              </a:rPr>
              <a:t>관측 데이터 D13 한국관광 데이터랩 공식 다운로드 ·</a:t>
            </a:r>
          </a:p>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대전광역시_서구/숙박_체류시간/2026_01_06.zip 2025-07 ~ 2026-06</a:t>
            </a:r>
          </a:p>
        </p:txBody>
      </p:sp>
      <p:sp xmlns:a="http://schemas.openxmlformats.org/drawingml/2006/main">
        <p:nvSpPr>
          <p:cNvPr id="18" name="reference-13"/>
          <p:cNvSpPr txBox="1"/>
          <p:nvPr/>
        </p:nvSpPr>
        <p:spPr>
          <a:xfrm>
            <a:off x="548640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1="http://schemas.openxmlformats.org/officeDocument/2006/relationships" ns21: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이동통신/내국인/지역별</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p 2026-01 ~ 2026-06</a:t>
            </a:r>
          </a:p>
        </p:txBody>
      </p:sp>
      <p:sp xmlns:a="http://schemas.openxmlformats.org/drawingml/2006/main">
        <p:nvSpPr>
          <p:cNvPr id="19" name="reference-14"/>
          <p:cNvSpPr txBox="1"/>
          <p:nvPr/>
        </p:nvSpPr>
        <p:spPr>
          <a:xfrm>
            <a:off x="5486400" y="326707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다운로드.zip 2026-01 ~ 2026-06</a:t>
            </a:r>
          </a:p>
        </p:txBody>
      </p:sp>
      <p:sp xmlns:a="http://schemas.openxmlformats.org/drawingml/2006/main">
        <p:nvSpPr>
          <p:cNvPr id="20" name="reference-15"/>
          <p:cNvSpPr txBox="1"/>
          <p:nvPr/>
        </p:nvSpPr>
        <p:spPr>
          <a:xfrm>
            <a:off x="548640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신용카드/내국인/지역별</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zip 2026-01 ~ 2026-06</a:t>
            </a:r>
          </a:p>
        </p:txBody>
      </p:sp>
      <p:sp xmlns:a="http://schemas.openxmlformats.org/drawingml/2006/main">
        <p:nvSpPr>
          <p:cNvPr id="21" name="reference-16"/>
          <p:cNvSpPr txBox="1"/>
          <p:nvPr/>
        </p:nvSpPr>
        <p:spPr>
          <a:xfrm>
            <a:off x="548640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신용카드/외국인/지역별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2" name="reference-17"/>
          <p:cNvSpPr txBox="1"/>
          <p:nvPr/>
        </p:nvSpPr>
        <p:spPr>
          <a:xfrm>
            <a:off x="548640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네비게이션/지역별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p 2026-01 ~ 2026-06</a:t>
            </a:r>
          </a:p>
        </p:txBody>
      </p:sp>
      <p:sp xmlns:a="http://schemas.openxmlformats.org/drawingml/2006/main">
        <p:nvSpPr>
          <p:cNvPr id="23" name="reference-18"/>
          <p:cNvSpPr txBox="1"/>
          <p:nvPr/>
        </p:nvSpPr>
        <p:spPr>
          <a:xfrm>
            <a:off x="5486400" y="62507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이동통신/내국인/지역별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4" name="reference-19"/>
          <p:cNvSpPr txBox="1"/>
          <p:nvPr/>
        </p:nvSpPr>
        <p:spPr>
          <a:xfrm>
            <a:off x="5486400" y="70413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다운로드.zip 2026-01 ~ 2026-06</a:t>
            </a:r>
          </a:p>
        </p:txBody>
      </p:sp>
      <p:sp xmlns:a="http://schemas.openxmlformats.org/drawingml/2006/main">
        <p:nvSpPr>
          <p:cNvPr id="25" name="reference-20"/>
          <p:cNvSpPr txBox="1"/>
          <p:nvPr/>
        </p:nvSpPr>
        <p:spPr>
          <a:xfrm>
            <a:off x="9963150" y="247650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신용카드/내국인/지역별</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zip 2026-01 ~ 2026-06</a:t>
            </a:r>
          </a:p>
        </p:txBody>
      </p:sp>
      <p:sp xmlns:a="http://schemas.openxmlformats.org/drawingml/2006/main">
        <p:nvSpPr>
          <p:cNvPr id="26" name="reference-21"/>
          <p:cNvSpPr txBox="1"/>
          <p:nvPr/>
        </p:nvSpPr>
        <p:spPr>
          <a:xfrm>
            <a:off x="9963150" y="326707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신용카드/외국인/지역별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7" name="reference-22"/>
          <p:cNvSpPr txBox="1"/>
          <p:nvPr/>
        </p:nvSpPr>
        <p:spPr>
          <a:xfrm>
            <a:off x="9963150" y="4057650"/>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네비게이션/지역별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p 2026-01 ~ 2026-06</a:t>
            </a:r>
          </a:p>
        </p:txBody>
      </p:sp>
      <p:sp xmlns:a="http://schemas.openxmlformats.org/drawingml/2006/main">
        <p:nvSpPr>
          <p:cNvPr id="28" name="reference-23"/>
          <p:cNvSpPr txBox="1"/>
          <p:nvPr/>
        </p:nvSpPr>
        <p:spPr>
          <a:xfrm>
            <a:off x="9963150" y="4848225"/>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이동통신/내국인/지역별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9" name="reference-24"/>
          <p:cNvSpPr txBox="1"/>
          <p:nvPr/>
        </p:nvSpPr>
        <p:spPr>
          <a:xfrm>
            <a:off x="9963150" y="56388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다운로드.zip 2026-01 ~ 2026-06</a:t>
            </a:r>
          </a:p>
        </p:txBody>
      </p:sp>
      <p:sp xmlns:a="http://schemas.openxmlformats.org/drawingml/2006/main">
        <p:nvSpPr>
          <p:cNvPr id="30" name="reference-25"/>
          <p:cNvSpPr txBox="1"/>
          <p:nvPr/>
        </p:nvSpPr>
        <p:spPr>
          <a:xfrm>
            <a:off x="9963150" y="6250781"/>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6="http://schemas.openxmlformats.org/officeDocument/2006/relationships" ns66: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7="http://schemas.openxmlformats.org/officeDocument/2006/relationships" ns67:id="rId2"/>
              </a:rPr>
              <a:t>지역집중률 2025-07 ~ 2026-06</a:t>
            </a:r>
          </a:p>
        </p:txBody>
      </p:sp>
      <p:sp xmlns:a="http://schemas.openxmlformats.org/drawingml/2006/main">
        <p:nvSpPr>
          <p:cNvPr id="31" name="reference-26"/>
          <p:cNvSpPr txBox="1"/>
          <p:nvPr/>
        </p:nvSpPr>
        <p:spPr>
          <a:xfrm>
            <a:off x="9963150" y="6684169"/>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68="http://schemas.openxmlformats.org/officeDocument/2006/relationships" ns68: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69="http://schemas.openxmlformats.org/officeDocument/2006/relationships" ns69:id="rId2"/>
              </a:rPr>
              <a:t>유입유출 2025-07 ~ 2026-06</a:t>
            </a:r>
          </a:p>
        </p:txBody>
      </p:sp>
      <p:sp xmlns:a="http://schemas.openxmlformats.org/drawingml/2006/main">
        <p:nvSpPr>
          <p:cNvPr id="32" name="reference-27"/>
          <p:cNvSpPr txBox="1"/>
          <p:nvPr/>
        </p:nvSpPr>
        <p:spPr>
          <a:xfrm>
            <a:off x="9963150" y="7117556"/>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인기관광지 2025-07 ~ 2026-06</a:t>
            </a:r>
          </a:p>
        </p:txBody>
      </p:sp>
      <p:sp xmlns:a="http://schemas.openxmlformats.org/drawingml/2006/main">
        <p:nvSpPr>
          <p:cNvPr id="33" name="reference-28"/>
          <p:cNvSpPr txBox="1"/>
          <p:nvPr/>
        </p:nvSpPr>
        <p:spPr>
          <a:xfrm>
            <a:off x="9963150" y="7550944"/>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4,989,633명</a:t>
            </a:r>
          </a:p>
        </p:txBody>
      </p:sp>
      <p:sp xmlns:a="http://schemas.openxmlformats.org/drawingml/2006/main">
        <p:nvSpPr>
          <p:cNvPr id="35"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xmlns:a="http://schemas.openxmlformats.org/drawingml/2006/main">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15 / 17</a:t>
            </a:r>
          </a:p>
        </p:txBody>
      </p:sp>
    </p:spTree>
    <p:extLst>
      <p:ext uri="{BB962C8B-B14F-4D97-AF65-F5344CB8AC3E}">
        <p14:creationId xmlns:p14="http://schemas.microsoft.com/office/powerpoint/2010/main" val="930694367"/>
      </p:ext>
    </p:extLst>
  </p:cSld>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7.2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참고 전망: 방문자·소비액 모델의 검증 오차가 전년동월 기준선보다 큽니다. 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810.34억 원</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1,118분</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2.81일</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7%</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12,004건</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RandomForestRegressor</a:t>
            </a:r>
          </a:p>
          <a:p>
            <a:pPr eaLnBrk="0">
              <a:lnSpc>
                <a:spcPts val="1265"/>
              </a:lnSpc>
              <a:spcBef>
                <a:spcPts val="0"/>
              </a:spcBef>
              <a:spcAft>
                <a:spcPts val="0"/>
              </a:spcAft>
            </a:pPr>
            <a:r>
              <a:rPr sz="1012" b="0">
                <a:solidFill>
                  <a:srgbClr val="F50045"/>
                </a:solidFill>
                <a:latin typeface="Noto Sans KR"/>
              </a:rPr>
              <a:t>최종 월 225,518건</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 PDF 44쪽 외 4쪽 (5개 청크) datalab.visitkorea.or.kr</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D51 여행가는 달 지역 여행할인</a:t>
            </a:r>
          </a:p>
          <a:p>
            <a:pPr eaLnBrk="0">
              <a:lnSpc>
                <a:spcPts val="1265"/>
              </a:lnSpc>
              <a:spcBef>
                <a:spcPts val="0"/>
              </a:spcBef>
              <a:spcAft>
                <a:spcPts val="0"/>
              </a:spcAft>
            </a:pPr>
            <a:r>
              <a:rPr sz="1012" b="0" u="none">
                <a:solidFill>
                  <a:srgbClr val="62666C"/>
                </a:solidFill>
                <a:latin typeface="Noto Sans KR"/>
                <a:hlinkClick r:id="rId3"/>
              </a:rPr>
              <a:t>모아보기 korean.visitkorea.or.kr</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D52 대전광역시_문화시설 |</a:t>
            </a:r>
          </a:p>
          <a:p>
            <a:pPr eaLnBrk="0">
              <a:lnSpc>
                <a:spcPts val="1265"/>
              </a:lnSpc>
              <a:spcBef>
                <a:spcPts val="0"/>
              </a:spcBef>
              <a:spcAft>
                <a:spcPts val="0"/>
              </a:spcAft>
            </a:pPr>
            <a:r>
              <a:rPr sz="1012" b="0" u="none">
                <a:solidFill>
                  <a:srgbClr val="62666C"/>
                </a:solidFill>
                <a:latin typeface="Noto Sans KR"/>
                <a:hlinkClick r:id="rId4"/>
              </a:rPr>
              <a:t>공공데이터포털 www.data.go.kr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D53 대전광역시 문화관광(숙박정보) 데이터 |</a:t>
            </a:r>
          </a:p>
          <a:p>
            <a:pPr eaLnBrk="0">
              <a:lnSpc>
                <a:spcPts val="1265"/>
              </a:lnSpc>
              <a:spcBef>
                <a:spcPts val="0"/>
              </a:spcBef>
              <a:spcAft>
                <a:spcPts val="0"/>
              </a:spcAft>
            </a:pPr>
            <a:r>
              <a:rPr sz="1012" b="0" u="none">
                <a:solidFill>
                  <a:srgbClr val="62666C"/>
                </a:solidFill>
                <a:latin typeface="Noto Sans KR"/>
                <a:hlinkClick r:id="rId5"/>
              </a:rPr>
              <a:t>공공데이터포털 www.data.go.kr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D54 대전문화관광해설사 신규 양성 교육 |</a:t>
            </a:r>
          </a:p>
          <a:p>
            <a:pPr eaLnBrk="0">
              <a:lnSpc>
                <a:spcPts val="1265"/>
              </a:lnSpc>
              <a:spcBef>
                <a:spcPts val="0"/>
              </a:spcBef>
              <a:spcAft>
                <a:spcPts val="0"/>
              </a:spcAft>
            </a:pPr>
            <a:r>
              <a:rPr sz="1012" b="0" u="none">
                <a:solidFill>
                  <a:srgbClr val="62666C"/>
                </a:solidFill>
                <a:latin typeface="Noto Sans KR"/>
                <a:hlinkClick r:id="rId6"/>
              </a:rPr>
              <a:t>한국관광공사 관광e배움터 touredu.visitkorea.or.kr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D55 대전광역시 서구_체육시설 현황 |</a:t>
            </a:r>
          </a:p>
          <a:p>
            <a:pPr eaLnBrk="0">
              <a:lnSpc>
                <a:spcPts val="1265"/>
              </a:lnSpc>
              <a:spcBef>
                <a:spcPts val="0"/>
              </a:spcBef>
              <a:spcAft>
                <a:spcPts val="0"/>
              </a:spcAft>
            </a:pPr>
            <a:r>
              <a:rPr sz="1012" b="0" u="none">
                <a:solidFill>
                  <a:srgbClr val="62666C"/>
                </a:solidFill>
                <a:latin typeface="Noto Sans KR"/>
                <a:hlinkClick r:id="rId7"/>
              </a:rPr>
              <a:t>공공데이터포털 www.data.go.kr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D56 제4차 관광개발기본계획 발표 관련</a:t>
            </a:r>
          </a:p>
          <a:p>
            <a:pPr eaLnBrk="0">
              <a:lnSpc>
                <a:spcPts val="1265"/>
              </a:lnSpc>
              <a:spcBef>
                <a:spcPts val="0"/>
              </a:spcBef>
              <a:spcAft>
                <a:spcPts val="0"/>
              </a:spcAft>
            </a:pPr>
            <a:r>
              <a:rPr sz="1012" b="0" u="none">
                <a:solidFill>
                  <a:srgbClr val="62666C"/>
                </a:solidFill>
                <a:latin typeface="Noto Sans KR"/>
                <a:hlinkClick r:id="rId8"/>
              </a:rPr>
              <a:t>문화체육관광부 보도자료 www.mcst.go.kr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D57 한국관광 데이터랩 · 안동탈춤축제 연도별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D58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9"/>
              </a:rPr>
              <a:t>추이 datalab.visitkorea.or.kr</a:t>
            </a:r>
          </a:p>
        </p:txBody>
      </p:sp>
      <p:sp>
        <p:nvSpPr>
          <p:cNvPr id="20" name="reference-15"/>
          <p:cNvSpPr txBox="1"/>
          <p:nvPr/>
        </p:nvSpPr>
        <p:spPr>
          <a:xfrm>
            <a:off x="5486400" y="37766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0"/>
              </a:rPr>
              <a:t>공식 사례·문서 D59 2025년 문화예술 축제 통합 지원사업</a:t>
            </a:r>
          </a:p>
          <a:p>
            <a:pPr eaLnBrk="0">
              <a:lnSpc>
                <a:spcPts val="1265"/>
              </a:lnSpc>
              <a:spcBef>
                <a:spcPts val="0"/>
              </a:spcBef>
              <a:spcAft>
                <a:spcPts val="0"/>
              </a:spcAft>
            </a:pPr>
            <a:r>
              <a:rPr sz="1012" b="0" u="none">
                <a:solidFill>
                  <a:srgbClr val="62666C"/>
                </a:solidFill>
                <a:latin typeface="Noto Sans KR"/>
                <a:hlinkClick r:id="rId10"/>
              </a:rPr>
              <a:t>종합결과보고서 culture.seoul.go.kr</a:t>
            </a:r>
          </a:p>
        </p:txBody>
      </p:sp>
      <p:sp>
        <p:nvSpPr>
          <p:cNvPr id="21" name="reference-16"/>
          <p:cNvSpPr txBox="1"/>
          <p:nvPr/>
        </p:nvSpPr>
        <p:spPr>
          <a:xfrm>
            <a:off x="5486400" y="42100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1"/>
              </a:rPr>
              <a:t>공식 사례·문서 D60 귀촌 '원조 반값'은 다르다 강진서 전국 확산 '체류</a:t>
            </a:r>
          </a:p>
          <a:p>
            <a:pPr eaLnBrk="0">
              <a:lnSpc>
                <a:spcPts val="1265"/>
              </a:lnSpc>
              <a:spcBef>
                <a:spcPts val="0"/>
              </a:spcBef>
              <a:spcAft>
                <a:spcPts val="0"/>
              </a:spcAft>
            </a:pPr>
            <a:r>
              <a:rPr sz="1012" b="0" u="none">
                <a:solidFill>
                  <a:srgbClr val="62666C"/>
                </a:solidFill>
                <a:latin typeface="Noto Sans KR"/>
                <a:hlinkClick r:id="rId11"/>
              </a:rPr>
              <a:t>관광 도시' jnfarm.jeonnam.go.kr</a:t>
            </a:r>
          </a:p>
        </p:txBody>
      </p:sp>
      <p:sp>
        <p:nvSpPr>
          <p:cNvPr id="22" name="reference-17"/>
          <p:cNvSpPr txBox="1"/>
          <p:nvPr/>
        </p:nvSpPr>
        <p:spPr>
          <a:xfrm>
            <a:off x="5486400" y="464343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D61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2"/>
              </a:rPr>
              <a:t>활성화 방안 datalab.visitkorea.or.kr</a:t>
            </a:r>
          </a:p>
        </p:txBody>
      </p:sp>
      <p:sp>
        <p:nvSpPr>
          <p:cNvPr id="23" name="reference-18"/>
          <p:cNvSpPr txBox="1"/>
          <p:nvPr/>
        </p:nvSpPr>
        <p:spPr>
          <a:xfrm>
            <a:off x="548640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2"/>
              </a:rPr>
              <a:t>공식 사례·문서 D62 2024년 6월 여행가는 달 추진</a:t>
            </a:r>
          </a:p>
          <a:p>
            <a:pPr eaLnBrk="0">
              <a:lnSpc>
                <a:spcPts val="1265"/>
              </a:lnSpc>
              <a:spcBef>
                <a:spcPts val="0"/>
              </a:spcBef>
              <a:spcAft>
                <a:spcPts val="0"/>
              </a:spcAft>
            </a:pPr>
            <a:r>
              <a:rPr sz="1012" b="0" u="none">
                <a:solidFill>
                  <a:srgbClr val="62666C"/>
                </a:solidFill>
                <a:latin typeface="Noto Sans KR"/>
                <a:hlinkClick r:id="rId12"/>
              </a:rPr>
              <a:t>보도자료 mcst.go.kr</a:t>
            </a:r>
          </a:p>
        </p:txBody>
      </p:sp>
      <p:sp>
        <p:nvSpPr>
          <p:cNvPr id="24" name="reference-19"/>
          <p:cNvSpPr txBox="1"/>
          <p:nvPr/>
        </p:nvSpPr>
        <p:spPr>
          <a:xfrm>
            <a:off x="548640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3"/>
              </a:rPr>
              <a:t>공식 사례·문서 D63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13"/>
              </a:rPr>
              <a:t>공개자료 kto.visitkorea.or.kr</a:t>
            </a:r>
          </a:p>
        </p:txBody>
      </p:sp>
      <p:sp>
        <p:nvSpPr>
          <p:cNvPr id="25" name="reference-20"/>
          <p:cNvSpPr txBox="1"/>
          <p:nvPr/>
        </p:nvSpPr>
        <p:spPr>
          <a:xfrm>
            <a:off x="548640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14"/>
              </a:rPr>
              <a:t>공식 사례·문서 D64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14"/>
              </a:rPr>
              <a:t>일정 korean.visitkorea.or.kr</a:t>
            </a:r>
          </a:p>
        </p:txBody>
      </p:sp>
      <p:sp>
        <p:nvSpPr>
          <p:cNvPr id="26" name="reference-21"/>
          <p:cNvSpPr txBox="1"/>
          <p:nvPr/>
        </p:nvSpPr>
        <p:spPr>
          <a:xfrm>
            <a:off x="5486400" y="63769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D30 갈마짬뽕</a:t>
            </a:r>
          </a:p>
        </p:txBody>
      </p:sp>
      <p:sp>
        <p:nvSpPr>
          <p:cNvPr id="27" name="reference-22"/>
          <p:cNvSpPr txBox="1"/>
          <p:nvPr/>
        </p:nvSpPr>
        <p:spPr>
          <a:xfrm>
            <a:off x="5486400" y="66817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D31 관저당</a:t>
            </a:r>
          </a:p>
        </p:txBody>
      </p:sp>
      <p:sp>
        <p:nvSpPr>
          <p:cNvPr id="28" name="reference-23"/>
          <p:cNvSpPr txBox="1"/>
          <p:nvPr/>
        </p:nvSpPr>
        <p:spPr>
          <a:xfrm>
            <a:off x="5486400" y="69865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D32 굿모닝레지던스호텔휴</a:t>
            </a:r>
          </a:p>
        </p:txBody>
      </p:sp>
      <p:sp>
        <p:nvSpPr>
          <p:cNvPr id="29" name="reference-24"/>
          <p:cNvSpPr txBox="1"/>
          <p:nvPr/>
        </p:nvSpPr>
        <p:spPr>
          <a:xfrm>
            <a:off x="5486400" y="72913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D33 귀빈돌솥밥</a:t>
            </a:r>
          </a:p>
        </p:txBody>
      </p:sp>
      <p:sp>
        <p:nvSpPr>
          <p:cNvPr id="30" name="reference-25"/>
          <p:cNvSpPr txBox="1"/>
          <p:nvPr/>
        </p:nvSpPr>
        <p:spPr>
          <a:xfrm>
            <a:off x="5486400" y="75961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D34 남선공원</a:t>
            </a:r>
          </a:p>
        </p:txBody>
      </p:sp>
      <p:sp>
        <p:nvSpPr>
          <p:cNvPr id="31" name="reference-26"/>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D35 내원사(대전)</a:t>
            </a:r>
          </a:p>
        </p:txBody>
      </p:sp>
      <p:sp>
        <p:nvSpPr>
          <p:cNvPr id="32" name="reference-27"/>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D36 노크노크</a:t>
            </a:r>
          </a:p>
        </p:txBody>
      </p:sp>
      <p:sp>
        <p:nvSpPr>
          <p:cNvPr id="33" name="reference-28"/>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D37 대성콩국수</a:t>
            </a:r>
          </a:p>
        </p:txBody>
      </p:sp>
      <p:sp>
        <p:nvSpPr>
          <p:cNvPr id="34" name="reference-29"/>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D38 대전 가수원도서관</a:t>
            </a:r>
          </a:p>
        </p:txBody>
      </p:sp>
      <p:sp>
        <p:nvSpPr>
          <p:cNvPr id="35" name="reference-30"/>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D39 대전광역시청 시민잔디광장</a:t>
            </a:r>
          </a:p>
        </p:txBody>
      </p:sp>
      <p:sp>
        <p:nvSpPr>
          <p:cNvPr id="36" name="reference-31"/>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D40 대전서구문화원</a:t>
            </a:r>
          </a:p>
        </p:txBody>
      </p:sp>
      <p:sp>
        <p:nvSpPr>
          <p:cNvPr id="37" name="reference-32"/>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D41 델빠네</a:t>
            </a:r>
          </a:p>
        </p:txBody>
      </p:sp>
      <p:sp>
        <p:nvSpPr>
          <p:cNvPr id="38" name="reference-33"/>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D42 도마큰시장</a:t>
            </a:r>
          </a:p>
        </p:txBody>
      </p:sp>
      <p:sp>
        <p:nvSpPr>
          <p:cNvPr id="39" name="reference-34"/>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D43 도산서원(대전)</a:t>
            </a:r>
          </a:p>
        </p:txBody>
      </p:sp>
      <p:sp>
        <p:nvSpPr>
          <p:cNvPr id="40" name="reference-35"/>
          <p:cNvSpPr txBox="1"/>
          <p:nvPr/>
        </p:nvSpPr>
        <p:spPr>
          <a:xfrm>
            <a:off x="9963150" y="5219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D44 둔산꽃시장</a:t>
            </a:r>
          </a:p>
        </p:txBody>
      </p:sp>
      <p:sp>
        <p:nvSpPr>
          <p:cNvPr id="41" name="reference-36"/>
          <p:cNvSpPr txBox="1"/>
          <p:nvPr/>
        </p:nvSpPr>
        <p:spPr>
          <a:xfrm>
            <a:off x="9963150" y="5524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D45 둔산전자타운</a:t>
            </a:r>
          </a:p>
        </p:txBody>
      </p:sp>
      <p:sp>
        <p:nvSpPr>
          <p:cNvPr id="42" name="reference-37"/>
          <p:cNvSpPr txBox="1"/>
          <p:nvPr/>
        </p:nvSpPr>
        <p:spPr>
          <a:xfrm>
            <a:off x="9963150" y="5829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D46 롯데백화점 (대전점)</a:t>
            </a:r>
          </a:p>
        </p:txBody>
      </p:sp>
      <p:sp>
        <p:nvSpPr>
          <p:cNvPr id="43" name="reference-38"/>
          <p:cNvSpPr txBox="1"/>
          <p:nvPr/>
        </p:nvSpPr>
        <p:spPr>
          <a:xfrm>
            <a:off x="9963150" y="6134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D47 마치광장</a:t>
            </a:r>
          </a:p>
        </p:txBody>
      </p:sp>
      <p:sp>
        <p:nvSpPr>
          <p:cNvPr id="44" name="reference-39"/>
          <p:cNvSpPr txBox="1"/>
          <p:nvPr/>
        </p:nvSpPr>
        <p:spPr>
          <a:xfrm>
            <a:off x="9963150" y="6438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D48 몽뜨</a:t>
            </a:r>
          </a:p>
        </p:txBody>
      </p:sp>
      <p:sp>
        <p:nvSpPr>
          <p:cNvPr id="45" name="reference-40"/>
          <p:cNvSpPr txBox="1"/>
          <p:nvPr/>
        </p:nvSpPr>
        <p:spPr>
          <a:xfrm>
            <a:off x="9963150" y="6743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5"/>
              </a:rPr>
              <a:t>관광자원·사진 D49 미세노센세</a:t>
            </a:r>
          </a:p>
        </p:txBody>
      </p:sp>
      <p:sp>
        <p:nvSpPr>
          <p:cNvPr id="47"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7. 근거와 출처</a:t>
            </a:r>
          </a:p>
        </p:txBody>
      </p:sp>
      <p:sp>
        <p:nvSpPr>
          <p:cNvPr id="48"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t>16 / 17</a:t>
            </a:r>
          </a:p>
        </p:txBody>
      </p:sp>
    </p:spTree>
  </p:cSld>
  <p:clrMapOvr>
    <a:masterClrMapping/>
  </p:clrMapOvr>
</p:sld>
</file>

<file path=ppt/slides/slide16.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대전광역시 서구</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서구 여행비 환급 사업</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대전광역시 서구 · 내원사(대전)</a:t>
            </a:r>
          </a:p>
        </p:txBody>
      </p:sp>
    </p:spTree>
    <p:extLst>
      <p:ext uri="{BB962C8B-B14F-4D97-AF65-F5344CB8AC3E}">
        <p14:creationId xmlns:p14="http://schemas.microsoft.com/office/powerpoint/2010/main" val="655411831"/>
      </p:ext>
    </p:extLst>
  </p:cSld>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erview-bg"/>
          <p:cNvSpPr/>
          <p:nvPr/>
        </p:nvSpPr>
        <p:spPr>
          <a:xfrm>
            <a:off x="0" y="0"/>
            <a:ext cx="15240000" cy="8572500"/>
          </a:xfrm>
          <a:prstGeom prst="rect">
            <a:avLst/>
          </a:prstGeom>
          <a:solidFill>
            <a:srgbClr val="F3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ditorial-kicker"/>
          <p:cNvSpPr txBox="1"/>
          <p:nvPr/>
        </p:nvSpPr>
        <p:spPr>
          <a:xfrm>
            <a:off x="1009650" y="361950"/>
            <a:ext cx="11430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EC164B"/>
                </a:solidFill>
                <a:latin typeface="Noto Sans KR"/>
              </a:rPr>
              <a:t>1. 개요</a:t>
            </a:r>
          </a:p>
        </p:txBody>
      </p:sp>
      <p:sp>
        <p:nvSpPr>
          <p:cNvPr id="4" name="title"/>
          <p:cNvSpPr txBox="1"/>
          <p:nvPr/>
        </p:nvSpPr>
        <p:spPr>
          <a:xfrm>
            <a:off x="1009650" y="876300"/>
            <a:ext cx="13220700" cy="61912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2262A"/>
                </a:solidFill>
                <a:latin typeface="Noto Sans KR"/>
              </a:rPr>
              <a:t>1.1 제안 사업 소개</a:t>
            </a:r>
          </a:p>
        </p:txBody>
      </p:sp>
      <p:sp>
        <p:nvSpPr>
          <p:cNvPr id="5" name="overview-name"/>
          <p:cNvSpPr txBox="1"/>
          <p:nvPr/>
        </p:nvSpPr>
        <p:spPr>
          <a:xfrm>
            <a:off x="1009650" y="1638300"/>
            <a:ext cx="13220700" cy="619125"/>
          </a:xfrm>
          <a:prstGeom prst="rect">
            <a:avLst/>
          </a:prstGeom>
          <a:noFill/>
        </p:spPr>
        <p:txBody>
          <a:bodyPr wrap="none" lIns="57150" rIns="57150" tIns="38100" bIns="38100" anchor="t">
            <a:noAutofit/>
          </a:bodyPr>
          <a:lstStyle/>
          <a:p>
            <a:pPr eaLnBrk="0" algn="ctr">
              <a:lnSpc>
                <a:spcPts val="3281"/>
              </a:lnSpc>
              <a:spcBef>
                <a:spcPts val="0"/>
              </a:spcBef>
              <a:spcAft>
                <a:spcPts val="0"/>
              </a:spcAft>
            </a:pPr>
            <a:r>
              <a:rPr sz="2625" b="1">
                <a:solidFill>
                  <a:srgbClr val="22262A"/>
                </a:solidFill>
                <a:latin typeface="Noto Sans KR"/>
              </a:rPr>
              <a:t>서구 상권 활력 제고를 위한 '서구 관광 소비 환급' 시범 사업</a:t>
            </a:r>
          </a:p>
        </p:txBody>
      </p:sp>
      <p:sp>
        <p:nvSpPr>
          <p:cNvPr id="6" name="overview-photo-panel"/>
          <p:cNvSpPr/>
          <p:nvPr/>
        </p:nvSpPr>
        <p:spPr>
          <a:xfrm>
            <a:off x="1009650" y="2381250"/>
            <a:ext cx="7010400" cy="3886200"/>
          </a:xfrm>
          <a:prstGeom prst="rect">
            <a:avLst/>
          </a:prstGeom>
          <a:solidFill>
            <a:srgbClr val="E4EC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overview-business-photo" descr="refund.png"/>
          <p:cNvPicPr>
            <a:picLocks noChangeAspect="1"/>
          </p:cNvPicPr>
          <p:nvPr/>
        </p:nvPicPr>
        <p:blipFill>
          <a:blip r:embed="rId2"/>
          <a:stretch>
            <a:fillRect/>
          </a:stretch>
        </p:blipFill>
        <p:spPr>
          <a:xfrm>
            <a:off x="1009650" y="2381250"/>
            <a:ext cx="7010400" cy="3505200"/>
          </a:xfrm>
          <a:prstGeom prst="rect">
            <a:avLst/>
          </a:prstGeom>
        </p:spPr>
      </p:pic>
      <p:sp>
        <p:nvSpPr>
          <p:cNvPr id="8" name="overview-caption-bg"/>
          <p:cNvSpPr/>
          <p:nvPr/>
        </p:nvSpPr>
        <p:spPr>
          <a:xfrm>
            <a:off x="3600450" y="5886450"/>
            <a:ext cx="1828800" cy="342900"/>
          </a:xfrm>
          <a:prstGeom prst="rect">
            <a:avLst/>
          </a:prstGeom>
          <a:solidFill>
            <a:srgbClr val="1339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caption"/>
          <p:cNvSpPr txBox="1"/>
          <p:nvPr/>
        </p:nvSpPr>
        <p:spPr>
          <a:xfrm>
            <a:off x="3752850" y="5943600"/>
            <a:ext cx="1524000" cy="228600"/>
          </a:xfrm>
          <a:prstGeom prst="rect">
            <a:avLst/>
          </a:prstGeom>
          <a:noFill/>
        </p:spPr>
        <p:txBody>
          <a:bodyPr wrap="none" lIns="57150" rIns="57150" tIns="38100" bIns="38100" anchor="t">
            <a:noAutofit/>
          </a:bodyPr>
          <a:lstStyle/>
          <a:p>
            <a:pPr eaLnBrk="0" algn="ctr">
              <a:lnSpc>
                <a:spcPts val="1171"/>
              </a:lnSpc>
              <a:spcBef>
                <a:spcPts val="0"/>
              </a:spcBef>
              <a:spcAft>
                <a:spcPts val="0"/>
              </a:spcAft>
            </a:pPr>
            <a:r>
              <a:rPr sz="937" b="0">
                <a:solidFill>
                  <a:srgbClr val="FFFFFF"/>
                </a:solidFill>
                <a:latin typeface="Noto Sans KR"/>
              </a:rPr>
              <a:t>관광객 쿠폰·환급 이용</a:t>
            </a:r>
          </a:p>
        </p:txBody>
      </p:sp>
      <p:sp>
        <p:nvSpPr>
          <p:cNvPr id="10" name="overview-description-panel"/>
          <p:cNvSpPr/>
          <p:nvPr/>
        </p:nvSpPr>
        <p:spPr>
          <a:xfrm>
            <a:off x="8334375" y="2381250"/>
            <a:ext cx="5895975" cy="3886200"/>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erview-description-accent"/>
          <p:cNvSpPr/>
          <p:nvPr/>
        </p:nvSpPr>
        <p:spPr>
          <a:xfrm>
            <a:off x="8639175" y="2752725"/>
            <a:ext cx="47625" cy="361950"/>
          </a:xfrm>
          <a:prstGeom prst="rect">
            <a:avLst/>
          </a:prstGeom>
          <a:solidFill>
            <a:srgbClr val="D52C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description-label"/>
          <p:cNvSpPr txBox="1"/>
          <p:nvPr/>
        </p:nvSpPr>
        <p:spPr>
          <a:xfrm>
            <a:off x="8839200" y="2752725"/>
            <a:ext cx="4743450" cy="4000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2262A"/>
                </a:solidFill>
                <a:latin typeface="Noto Sans KR"/>
              </a:rPr>
              <a:t>사업개요</a:t>
            </a:r>
          </a:p>
        </p:txBody>
      </p:sp>
      <p:sp>
        <p:nvSpPr>
          <p:cNvPr id="13" name="overview-description-divider"/>
          <p:cNvSpPr/>
          <p:nvPr/>
        </p:nvSpPr>
        <p:spPr>
          <a:xfrm>
            <a:off x="8639175" y="3333750"/>
            <a:ext cx="5257800" cy="9525"/>
          </a:xfrm>
          <a:prstGeom prst="rect">
            <a:avLst/>
          </a:prstGeom>
          <a:solidFill>
            <a:srgbClr val="E2E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erview-description"/>
          <p:cNvSpPr txBox="1"/>
          <p:nvPr/>
        </p:nvSpPr>
        <p:spPr>
          <a:xfrm>
            <a:off x="8639175" y="3638550"/>
            <a:ext cx="5238750" cy="21812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44505C"/>
                </a:solidFill>
                <a:latin typeface="Noto Sans KR"/>
              </a:rPr>
              <a:t>서구 내 지정된 식음료·쇼핑 업종에서 일정</a:t>
            </a:r>
          </a:p>
          <a:p>
            <a:pPr eaLnBrk="0">
              <a:lnSpc>
                <a:spcPts val="2437"/>
              </a:lnSpc>
              <a:spcBef>
                <a:spcPts val="0"/>
              </a:spcBef>
              <a:spcAft>
                <a:spcPts val="0"/>
              </a:spcAft>
            </a:pPr>
            <a:r>
              <a:rPr sz="1950" b="0">
                <a:solidFill>
                  <a:srgbClr val="44505C"/>
                </a:solidFill>
                <a:latin typeface="Noto Sans KR"/>
              </a:rPr>
              <a:t>금액 이상 결제 시, 증빙을 통해</a:t>
            </a:r>
          </a:p>
          <a:p>
            <a:pPr eaLnBrk="0">
              <a:lnSpc>
                <a:spcPts val="2437"/>
              </a:lnSpc>
              <a:spcBef>
                <a:spcPts val="0"/>
              </a:spcBef>
              <a:spcAft>
                <a:spcPts val="0"/>
              </a:spcAft>
            </a:pPr>
            <a:r>
              <a:rPr sz="1950" b="0">
                <a:solidFill>
                  <a:srgbClr val="44505C"/>
                </a:solidFill>
                <a:latin typeface="Noto Sans KR"/>
              </a:rPr>
              <a:t>지역사랑상품권으로 일부를 환급해 주는 방식</a:t>
            </a:r>
          </a:p>
        </p:txBody>
      </p:sp>
      <p:sp>
        <p:nvSpPr>
          <p:cNvPr id="15" name="overview-goal-0"/>
          <p:cNvSpPr/>
          <p:nvPr/>
        </p:nvSpPr>
        <p:spPr>
          <a:xfrm>
            <a:off x="100965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overview-goal-icon-0" descr="map-pinned-blue.png"/>
          <p:cNvPicPr>
            <a:picLocks noChangeAspect="1"/>
          </p:cNvPicPr>
          <p:nvPr/>
        </p:nvPicPr>
        <p:blipFill>
          <a:blip r:embed="rId3"/>
          <a:stretch>
            <a:fillRect/>
          </a:stretch>
        </p:blipFill>
        <p:spPr>
          <a:xfrm>
            <a:off x="1238250" y="6629400"/>
            <a:ext cx="571500" cy="571500"/>
          </a:xfrm>
          <a:prstGeom prst="rect">
            <a:avLst/>
          </a:prstGeom>
        </p:spPr>
      </p:pic>
      <p:sp>
        <p:nvSpPr>
          <p:cNvPr id="17" name="overview-goal-label-0"/>
          <p:cNvSpPr txBox="1"/>
          <p:nvPr/>
        </p:nvSpPr>
        <p:spPr>
          <a:xfrm>
            <a:off x="203835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 추가 방문 목표</a:t>
            </a:r>
          </a:p>
        </p:txBody>
      </p:sp>
      <p:sp>
        <p:nvSpPr>
          <p:cNvPr id="18" name="overview-goal-value-0"/>
          <p:cNvSpPr txBox="1"/>
          <p:nvPr/>
        </p:nvSpPr>
        <p:spPr>
          <a:xfrm>
            <a:off x="2038350" y="7019925"/>
            <a:ext cx="5076825" cy="552450"/>
          </a:xfrm>
          <a:prstGeom prst="rect">
            <a:avLst/>
          </a:prstGeom>
          <a:noFill/>
        </p:spPr>
        <p:txBody>
          <a:bodyPr wrap="none" lIns="57150" rIns="57150" tIns="38100" bIns="38100" anchor="t">
            <a:noAutofit/>
          </a:bodyPr>
          <a:lstStyle/>
          <a:p>
            <a:pPr eaLnBrk="0">
              <a:lnSpc>
                <a:spcPts val="3375"/>
              </a:lnSpc>
              <a:spcBef>
                <a:spcPts val="0"/>
              </a:spcBef>
              <a:spcAft>
                <a:spcPts val="0"/>
              </a:spcAft>
            </a:pPr>
            <a:r>
              <a:rPr sz="2700" b="1">
                <a:solidFill>
                  <a:srgbClr val="276AA5"/>
                </a:solidFill>
                <a:latin typeface="Noto Sans KR"/>
              </a:rPr>
              <a:t>+1,440명</a:t>
            </a:r>
          </a:p>
        </p:txBody>
      </p:sp>
      <p:sp>
        <p:nvSpPr>
          <p:cNvPr id="19" name="overview-goal-1"/>
          <p:cNvSpPr/>
          <p:nvPr/>
        </p:nvSpPr>
        <p:spPr>
          <a:xfrm>
            <a:off x="7810500" y="6400800"/>
            <a:ext cx="6419850" cy="13620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overview-goal-icon-1" descr="coins-jade.png"/>
          <p:cNvPicPr>
            <a:picLocks noChangeAspect="1"/>
          </p:cNvPicPr>
          <p:nvPr/>
        </p:nvPicPr>
        <p:blipFill>
          <a:blip r:embed="rId4"/>
          <a:stretch>
            <a:fillRect/>
          </a:stretch>
        </p:blipFill>
        <p:spPr>
          <a:xfrm>
            <a:off x="8039100" y="6629400"/>
            <a:ext cx="571500" cy="571500"/>
          </a:xfrm>
          <a:prstGeom prst="rect">
            <a:avLst/>
          </a:prstGeom>
        </p:spPr>
      </p:pic>
      <p:sp>
        <p:nvSpPr>
          <p:cNvPr id="21" name="overview-goal-label-1"/>
          <p:cNvSpPr txBox="1"/>
          <p:nvPr/>
        </p:nvSpPr>
        <p:spPr>
          <a:xfrm>
            <a:off x="8839200" y="6591300"/>
            <a:ext cx="5076825"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3개월간 월평균 추가 소비 목표</a:t>
            </a:r>
          </a:p>
        </p:txBody>
      </p:sp>
      <p:sp>
        <p:nvSpPr>
          <p:cNvPr id="22" name="overview-goal-value-1"/>
          <p:cNvSpPr txBox="1"/>
          <p:nvPr/>
        </p:nvSpPr>
        <p:spPr>
          <a:xfrm>
            <a:off x="8839200" y="7019925"/>
            <a:ext cx="5076825" cy="552450"/>
          </a:xfrm>
          <a:prstGeom prst="rect">
            <a:avLst/>
          </a:prstGeom>
          <a:noFill/>
        </p:spPr>
        <p:txBody>
          <a:bodyPr wrap="none" lIns="57150" rIns="57150" tIns="38100" bIns="38100" anchor="t">
            <a:noAutofit/>
          </a:bodyPr>
          <a:lstStyle/>
          <a:p>
            <a:pPr eaLnBrk="0">
              <a:lnSpc>
                <a:spcPts val="3375"/>
              </a:lnSpc>
              <a:spcBef>
                <a:spcPts val="0"/>
              </a:spcBef>
              <a:spcAft>
                <a:spcPts val="0"/>
              </a:spcAft>
            </a:pPr>
            <a:r>
              <a:rPr sz="2700" b="1">
                <a:solidFill>
                  <a:srgbClr val="12867F"/>
                </a:solidFill>
                <a:latin typeface="Noto Sans KR"/>
              </a:rPr>
              <a:t>약 +1,716만 원</a:t>
            </a:r>
          </a:p>
        </p:txBody>
      </p:sp>
      <p:sp>
        <p:nvSpPr>
          <p:cNvPr id="23" name="overview-note"/>
          <p:cNvSpPr txBox="1"/>
          <p:nvPr/>
        </p:nvSpPr>
        <p:spPr>
          <a:xfrm>
            <a:off x="1009650" y="8077200"/>
            <a:ext cx="13220700" cy="295275"/>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66717A"/>
                </a:solidFill>
                <a:latin typeface="Noto Sans KR"/>
              </a:rPr>
              <a:t>운영 규모를 바탕으로 제안한 계획 목표입니다. 월평균 소비 증가는 준비 기간을 포함한 사업기간 합계 ÷ 개월 수입니다.</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6717A"/>
                </a:solidFill>
                <a:latin typeface="Noto Sans KR"/>
              </a:rPr>
              <a:t>03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