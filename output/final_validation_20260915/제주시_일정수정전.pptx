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59" r:id="R5b6702ccd7664af1"/>
    <p:sldId xmlns:r="http://schemas.openxmlformats.org/officeDocument/2006/relationships" id="261" r:id="Rbf371966fa964fc8"/>
    <p:sldId xmlns:r="http://schemas.openxmlformats.org/officeDocument/2006/relationships" id="272" r:id="rId21"/>
    <p:sldId xmlns:r="http://schemas.openxmlformats.org/officeDocument/2006/relationships" id="262" r:id="R4c9d0e3030fa4c5f"/>
    <p:sldId xmlns:r="http://schemas.openxmlformats.org/officeDocument/2006/relationships" id="263" r:id="Rbbe47957bc6641c0"/>
    <p:sldId xmlns:r="http://schemas.openxmlformats.org/officeDocument/2006/relationships" id="271" r:id="rId17"/>
    <p:sldId xmlns:r="http://schemas.openxmlformats.org/officeDocument/2006/relationships" id="264" r:id="R72f63d3229d64861"/>
    <p:sldId xmlns:r="http://schemas.openxmlformats.org/officeDocument/2006/relationships" id="273" r:id="rId18"/>
    <p:sldId xmlns:r="http://schemas.openxmlformats.org/officeDocument/2006/relationships" id="274" r:id="rId22"/>
    <p:sldId xmlns:r="http://schemas.openxmlformats.org/officeDocument/2006/relationships" id="266" r:id="R029df0519ade4c8b"/>
    <p:sldId xmlns:r="http://schemas.openxmlformats.org/officeDocument/2006/relationships" id="268" r:id="rId19"/>
    <p:sldId xmlns:r="http://schemas.openxmlformats.org/officeDocument/2006/relationships" id="269" r:id="rId20"/>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4.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0.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5.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9.xml"/><Relationship Id="rId18" Type="http://schemas.openxmlformats.org/officeDocument/2006/relationships/slide" Target="slides/slide15.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6.xml"/><Relationship Id="rId22"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만&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만&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367.53130333</c:v>
                </c:pt>
                <c:pt idx="1">
                  <c:v>371.41203333</c:v>
                </c:pt>
                <c:pt idx="2">
                  <c:v>353.933265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40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억&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억&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1529.74857386</c:v>
                </c:pt>
                <c:pt idx="1">
                  <c:v>1499.21311306</c:v>
                </c:pt>
                <c:pt idx="2">
                  <c:v>1568.34971483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165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5.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4.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방문자/2026_01_06.zip | https://datalab.visitkorea.or.kr/</a:t>
            </a:r>
          </a:p>
          <a:p xmlns:a="http://schemas.openxmlformats.org/drawingml/2006/main">
            <a:r>
              <a:t>datalab:4833a91757b2:5c2efa032440 | 숙박_체류시간/2026_01_06.zip | https://datalab.visitkorea.or.kr/</a:t>
            </a:r>
          </a:p>
          <a:p xmlns:a="http://schemas.openxmlformats.org/drawingml/2006/main">
            <a:r>
              <a:t>datalab:5d9f73f9fe47:2904d99e7279 | 숙박_체류시간/2025_01_12.zip | https://datalab.visitkorea.or.kr/</a:t>
            </a:r>
          </a:p>
          <a:p xmlns:a="http://schemas.openxmlformats.org/drawingml/2006/main">
            <a:r>
              <a:t>datalab:95122c38b4fc:522e2d839300 | 관광소비/2026_01_06.zip | https://datalab.visitkorea.or.kr/</a:t>
            </a:r>
          </a:p>
          <a:p xmlns:a="http://schemas.openxmlformats.org/drawingml/2006/main">
            <a:r>
              <a:t>datalab:d73227708014:f4517115deb9 | 방문자/2025_01_12.zip | https://datalab.visitkorea.or.kr/</a:t>
            </a:r>
          </a:p>
          <a:p xmlns:a="http://schemas.openxmlformats.org/drawingml/2006/main">
            <a:r>
              <a:t>datalab:f07ad8a73d99:ed1b998de1b3 | 관광소비/2025_01_12.zip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방문자/2026_01_06.zip | https://datalab.visitkorea.or.kr/</a:t>
            </a:r>
          </a:p>
          <a:p xmlns:a="http://schemas.openxmlformats.org/drawingml/2006/main">
            <a:r>
              <a:t>datalab:4833a91757b2:5c2efa032440 | 숙박_체류시간/2026_01_06.zip | https://datalab.visitkorea.or.kr/</a:t>
            </a:r>
          </a:p>
          <a:p xmlns:a="http://schemas.openxmlformats.org/drawingml/2006/main">
            <a:r>
              <a:t>datalab:5d9f73f9fe47:2904d99e7279 | 숙박_체류시간/2025_01_12.zip | https://datalab.visitkorea.or.kr/</a:t>
            </a:r>
          </a:p>
          <a:p xmlns:a="http://schemas.openxmlformats.org/drawingml/2006/main">
            <a:r>
              <a:t>datalab:95122c38b4fc:522e2d839300 | 관광소비/2026_01_06.zip | https://datalab.visitkorea.or.kr/</a:t>
            </a:r>
          </a:p>
          <a:p xmlns:a="http://schemas.openxmlformats.org/drawingml/2006/main">
            <a:r>
              <a:t>datalab:d73227708014:f4517115deb9 | 방문자/2025_01_12.zip | https://datalab.visitkorea.or.kr/</a:t>
            </a:r>
          </a:p>
          <a:p xmlns:a="http://schemas.openxmlformats.org/drawingml/2006/main">
            <a:r>
              <a:t>datalab:f07ad8a73d99:ed1b998de1b3 | 관광소비/2025_01_12.zip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방문자/2026_01_06.zip | https://datalab.visitkorea.or.kr/</a:t>
            </a:r>
          </a:p>
          <a:p xmlns:a="http://schemas.openxmlformats.org/drawingml/2006/main">
            <a:r>
              <a:t>datalab:4833a91757b2:5c2efa032440 | 숙박_체류시간/2026_01_06.zip | https://datalab.visitkorea.or.kr/</a:t>
            </a:r>
          </a:p>
          <a:p xmlns:a="http://schemas.openxmlformats.org/drawingml/2006/main">
            <a:r>
              <a:t>datalab:5d9f73f9fe47:2904d99e7279 | 숙박_체류시간/2025_01_12.zip | https://datalab.visitkorea.or.kr/</a:t>
            </a:r>
          </a:p>
          <a:p xmlns:a="http://schemas.openxmlformats.org/drawingml/2006/main">
            <a:r>
              <a:t>datalab:95122c38b4fc:522e2d839300 | 관광소비/2026_01_06.zip | https://datalab.visitkorea.or.kr/</a:t>
            </a:r>
          </a:p>
          <a:p xmlns:a="http://schemas.openxmlformats.org/drawingml/2006/main">
            <a:r>
              <a:t>datalab:d73227708014:f4517115deb9 | 방문자/2025_01_12.zip | https://datalab.visitkorea.or.kr/</a:t>
            </a:r>
          </a:p>
          <a:p xmlns:a="http://schemas.openxmlformats.org/drawingml/2006/main">
            <a:r>
              <a:t>datalab:f07ad8a73d99:ed1b998de1b3 | 관광소비/2025_01_12.zip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방문자/2026_01_06.zip | https://datalab.visitkorea.or.kr/</a:t>
            </a:r>
          </a:p>
          <a:p xmlns:a="http://schemas.openxmlformats.org/drawingml/2006/main">
            <a:r>
              <a:t>datalab:4833a91757b2:5c2efa032440 | 숙박_체류시간/2026_01_06.zip | https://datalab.visitkorea.or.kr/</a:t>
            </a:r>
          </a:p>
          <a:p xmlns:a="http://schemas.openxmlformats.org/drawingml/2006/main">
            <a:r>
              <a:t>datalab:5d9f73f9fe47:2904d99e7279 | 숙박_체류시간/2025_01_12.zip | https://datalab.visitkorea.or.kr/</a:t>
            </a:r>
          </a:p>
          <a:p xmlns:a="http://schemas.openxmlformats.org/drawingml/2006/main">
            <a:r>
              <a:t>datalab:95122c38b4fc:522e2d839300 | 관광소비/2026_01_06.zip | https://datalab.visitkorea.or.kr/</a:t>
            </a:r>
          </a:p>
          <a:p xmlns:a="http://schemas.openxmlformats.org/drawingml/2006/main">
            <a:r>
              <a:t>datalab:d73227708014:f4517115deb9 | 방문자/2025_01_12.zip | https://datalab.visitkorea.or.kr/</a:t>
            </a:r>
          </a:p>
          <a:p xmlns:a="http://schemas.openxmlformats.org/drawingml/2006/main">
            <a:r>
              <a:t>datalab:f07ad8a73d99:ed1b998de1b3 | 관광소비/2025_01_12.zip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방문자/2026_01_06.zip | https://datalab.visitkorea.or.kr/</a:t>
            </a:r>
          </a:p>
          <a:p>
            <a:r>
              <a:t>datalab:4833a91757b2:5c2efa032440 | 숙박_체류시간/2026_01_06.zip | https://datalab.visitkorea.or.kr/</a:t>
            </a:r>
          </a:p>
          <a:p>
            <a:r>
              <a:t>datalab:5d9f73f9fe47:2904d99e7279 | 숙박_체류시간/2025_01_12.zip | https://datalab.visitkorea.or.kr/</a:t>
            </a:r>
          </a:p>
          <a:p>
            <a:r>
              <a:t>datalab:95122c38b4fc:522e2d839300 | 관광소비/2026_01_06.zip | https://datalab.visitkorea.or.kr/</a:t>
            </a:r>
          </a:p>
          <a:p>
            <a:r>
              <a:t>datalab:d73227708014:f4517115deb9 | 방문자/2025_01_12.zip | https://datalab.visitkorea.or.kr/</a:t>
            </a:r>
          </a:p>
          <a:p>
            <a:r>
              <a:t>datalab:f07ad8a73d99:ed1b998de1b3 | 관광소비/2025_01_12.zip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"제주특별자치도_제주시/방문자/2026_01_06.zip"</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"제주특별자치도_제주시/숙박_체류시간/2026_01_06.zip"</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"제주특별자치도_제주시/숙박_체류시간/2025_01_12.zip"</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"제주특별자치도_제주시/관광소비/2026_01_06.zip"</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"제주특별자치도_제주시/방문자/2025_01_12.zip"</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"제주특별자치도_제주시/관광소비/2025_01_12.zip"</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방문자수/20260820140607__202601-202606_데이터랩_다운로드.zip"</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"이동통신/외국인/20260820141710_전국_202601-202606_데이터랩_다운로드.zip"</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관광지출액/20260820140046__202601-202606_데이터랩_다운로드.zip"</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관광지출액/20260820140355__202601-202606_데이터랩_다운로드.zip"</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검색건수/20260820195507__202601-202606_데이터랩_다운로드.zip"</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방문자수/20260820140614__202501-202512_데이터랩_다운로드.zip"</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"이동통신/외국인/20260820141649_전국_202501-202512_데이터랩_다운로드.zip"</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관광지출액/20260820135957__202501-202512_데이터랩_다운로드.zip"</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관광지출액/20260820140409__202501-202512_데이터랩_다운로드.zip"</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검색건수/20260820132007__202501-202512_데이터랩_다운로드.zip"</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방문자수/20260820140624__202401-202412_데이터랩_다운로드.zip"</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"이동통신/외국인/20260820141639_전국_202401-202412_데이터랩_다운로드.zip"</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"yeosu_night.jpg",</a:t>
            </a:r>
          </a:p>
          <a:p xmlns:a="http://schemas.openxmlformats.org/drawingml/2006/main">
            <a:r>
              <a:t>      "caption": "유사 사업 참고 · 전남 여수시 야경",</a:t>
            </a:r>
          </a:p>
          <a:p xmlns:a="http://schemas.openxmlformats.org/drawingml/2006/main">
            <a:r>
              <a:t>      "credit": "문화체육관광부 코리아넷 (2024)",</a:t>
            </a:r>
          </a:p>
          <a:p xmlns:a="http://schemas.openxmlformats.org/drawingml/2006/main">
            <a:r>
              <a:t>      "page_url": "https://www.korean-culture.org/koreanet/view.do?seq=1047457",</a:t>
            </a:r>
          </a:p>
          <a:p xmlns:a="http://schemas.openxmlformats.org/drawingml/2006/main">
            <a:r>
              <a:t>      "image_url": "https://www.korean-culture.org/CONTENTS/editImage/20240201110349153_XHMYP6Q1.jpg",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제주시 내 야간 개방 가능 시설(박물관, 문화유산 등)을 전수 조사하고 시설 관리 주체와 운영 협약을 체결함", "deliverable": "대상 시설 목록 및 운영 협약서(안)"}, {"step": 2, "schedule": "2026-10", "task": "기획팀이 야간 프로그램 콘텐츠를 기획하고, 운영팀이 현장 인력 배치 및 안전 관리 계획을 수립함", "deliverable": "프로그램 운영 매뉴얼 및 안전 관리 계획서"}, {"step": 3, "schedule": "2026-10", "task": "운영팀이 예약 시스템 구축을 확인하고, 지역 상권 담당자가 인근 식음·상점 연계 프로모션을 설계함", "deliverable": "예약 시스템 및 연계 상점 리스트"}, {"step": 4, "schedule": "2026-11 ~ 2026-12", "task": "현장 운영팀이 야간 체험 프로그램을 시범 운영하며, 사업 담당자가 주간 운영 결과 및 현장 모니터링을 수행함", "deliverable": "주간 운영 결과 보고서"}, {"step": 5, "schedule": "2026-12", "task": "데이터 분석 담당자가 이용 완료율 및 인근 상권 결제 데이터를 집계하여 성과를 검증함",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방문자/2026_01_06.zip | https://datalab.visitkorea.or.kr/</a:t>
            </a:r>
          </a:p>
          <a:p>
            <a:r>
              <a:t>datalab:4833a91757b2:5c2efa032440 | 숙박_체류시간/2026_01_06.zip | https://datalab.visitkorea.or.kr/</a:t>
            </a:r>
          </a:p>
          <a:p>
            <a:r>
              <a:t>datalab:5d9f73f9fe47:2904d99e7279 | 숙박_체류시간/2025_01_12.zip | https://datalab.visitkorea.or.kr/</a:t>
            </a:r>
          </a:p>
          <a:p>
            <a:r>
              <a:t>datalab:95122c38b4fc:522e2d839300 | 관광소비/2026_01_06.zip | https://datalab.visitkorea.or.kr/</a:t>
            </a:r>
          </a:p>
          <a:p>
            <a:r>
              <a:t>datalab:d73227708014:f4517115deb9 | 방문자/2025_01_12.zip | https://datalab.visitkorea.or.kr/</a:t>
            </a:r>
          </a:p>
          <a:p>
            <a:r>
              <a:t>datalab:f07ad8a73d99:ed1b998de1b3 | 관광소비/2025_01_12.zip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"제주특별자치도_제주시/방문자/2026_01_06.zip"</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"제주특별자치도_제주시/숙박_체류시간/2026_01_06.zip"</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"제주특별자치도_제주시/숙박_체류시간/2025_01_12.zip"</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"제주특별자치도_제주시/관광소비/2026_01_06.zip"</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"제주특별자치도_제주시/방문자/2025_01_12.zip"</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"제주특별자치도_제주시/관광소비/2025_01_12.zip"</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방문자수/20260820140607__202601-202606_데이터랩_다운로드.zip"</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"이동통신/외국인/20260820141710_전국_202601-202606_데이터랩_다운로드.zip"</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관광지출액/20260820140046__202601-202606_데이터랩_다운로드.zip"</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관광지출액/20260820140355__202601-202606_데이터랩_다운로드.zip"</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검색건수/20260820195507__202601-202606_데이터랩_다운로드.zip"</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방문자수/20260820140614__202501-202512_데이터랩_다운로드.zip"</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"이동통신/외국인/20260820141649_전국_202501-202512_데이터랩_다운로드.zip"</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관광지출액/20260820135957__202501-202512_데이터랩_다운로드.zip"</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관광지출액/20260820140409__202501-202512_데이터랩_다운로드.zip"</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검색건수/20260820132007__202501-202512_데이터랩_다운로드.zip"</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방문자수/20260820140624__202401-202412_데이터랩_다운로드.zip"</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"이동통신/외국인/20260820141639_전국_202401-202412_데이터랩_다운로드.zip"</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여기에 공식 사례를 참고한 계획 목표율을 단계적으로 적용합니다. 강진을 참고한 경우 25%는 발표된 지역 증가율이고, 80%는 우리가 채택한 계획 가정입니다. 두 값을 곱한 20%는 신규 사업 효과의 ML 예측이 아닙니다. 추가 방문 목표의 일부를 직접 운영할 참여량으로 배분하고 가정 단가를 곱합니다. 상세 항목의 합계에 예비비를 더한 값이 견적입니다.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방문자/2026_01_06.zip | https://datalab.visitkorea.or.kr/</a:t>
            </a:r>
          </a:p>
          <a:p xmlns:a="http://schemas.openxmlformats.org/drawingml/2006/main">
            <a:r>
              <a:t>datalab:4833a91757b2:5c2efa032440 | 숙박_체류시간/2026_01_06.zip | https://datalab.visitkorea.or.kr/</a:t>
            </a:r>
          </a:p>
          <a:p xmlns:a="http://schemas.openxmlformats.org/drawingml/2006/main">
            <a:r>
              <a:t>datalab:5d9f73f9fe47:2904d99e7279 | 숙박_체류시간/2025_01_12.zip | https://datalab.visitkorea.or.kr/</a:t>
            </a:r>
          </a:p>
          <a:p xmlns:a="http://schemas.openxmlformats.org/drawingml/2006/main">
            <a:r>
              <a:t>datalab:95122c38b4fc:522e2d839300 | 관광소비/2026_01_06.zip | https://datalab.visitkorea.or.kr/</a:t>
            </a:r>
          </a:p>
          <a:p xmlns:a="http://schemas.openxmlformats.org/drawingml/2006/main">
            <a:r>
              <a:t>datalab:d73227708014:f4517115deb9 | 방문자/2025_01_12.zip | https://datalab.visitkorea.or.kr/</a:t>
            </a:r>
          </a:p>
          <a:p xmlns:a="http://schemas.openxmlformats.org/drawingml/2006/main">
            <a:r>
              <a:t>datalab:f07ad8a73d99:ed1b998de1b3 | 관광소비/2025_01_12.zip | https://datalab.visitkorea.or.kr/</a:t>
            </a:r>
          </a:p>
          <a:p xmlns:a="http://schemas.openxmlformats.org/drawingml/2006/main">
            <a:r>
              <a:t>team-bigdata:23ea68053684:6bfbcf8aabf6 | 이동통신/내국인/지역별 방문자수/20260820140607__202601-202606_데이터랩_다운로드.zip | https://datalab.visitkorea.or.kr/</a:t>
            </a:r>
          </a:p>
          <a:p xmlns:a="http://schemas.openxmlformats.org/drawingml/2006/main">
            <a:r>
              <a:t>team-bigdata:98d4ae590d9a:3be52dd54323 | 이동통신/외국인/20260820141710_전국_202601-202606_데이터랩_다운로드.zip | https://datalab.visitkorea.or.kr/</a:t>
            </a:r>
          </a:p>
          <a:p xmlns:a="http://schemas.openxmlformats.org/drawingml/2006/main">
            <a:r>
              <a:t>team-bigdata:367cd0294ec4:873930d645e5 | 신용카드/내국인/지역별 관광지출액/20260820140046__202601-202606_데이터랩_다운로드.zip | https://datalab.visitkorea.or.kr/</a:t>
            </a:r>
          </a:p>
          <a:p xmlns:a="http://schemas.openxmlformats.org/drawingml/2006/main">
            <a:r>
              <a:t>team-bigdata:553a0dad4bb4:5a31355dffe8 | 신용카드/외국인/지역별 관광지출액/20260820140355__202601-202606_데이터랩_다운로드.zip | https://datalab.visitkorea.or.kr/</a:t>
            </a:r>
          </a:p>
          <a:p xmlns:a="http://schemas.openxmlformats.org/drawingml/2006/main">
            <a:r>
              <a:t>team-bigdata:a53dbe1c21df:77a052de41d5 | 지역별 검색건수/20260820195507__202601-202606_데이터랩_다운로드.zip | https://datalab.visitkorea.or.kr/</a:t>
            </a:r>
          </a:p>
          <a:p xmlns:a="http://schemas.openxmlformats.org/drawingml/2006/main">
            <a:r>
              <a:t>team-bigdata:823a38d1d61c:5385261d02e5 | 이동통신/내국인/지역별 방문자수/20260820140614__202501-202512_데이터랩_다운로드.zip | https://datalab.visitkorea.or.kr/</a:t>
            </a:r>
          </a:p>
          <a:p xmlns:a="http://schemas.openxmlformats.org/drawingml/2006/main">
            <a:r>
              <a:t>team-bigdata:2723bdb0d589:1666a34058ed | 이동통신/외국인/20260820141649_전국_202501-202512_데이터랩_다운로드.zip | https://datalab.visitkorea.or.kr/</a:t>
            </a:r>
          </a:p>
          <a:p xmlns:a="http://schemas.openxmlformats.org/drawingml/2006/main">
            <a:r>
              <a:t>team-bigdata:83177a234971:c02cb7972e0f | 신용카드/내국인/지역별 관광지출액/20260820135957__202501-202512_데이터랩_다운로드.zip | https://datalab.visitkorea.or.kr/</a:t>
            </a:r>
          </a:p>
          <a:p xmlns:a="http://schemas.openxmlformats.org/drawingml/2006/main">
            <a:r>
              <a:t>team-bigdata:58ded7732251:589c76395cbc | 신용카드/외국인/지역별 관광지출액/20260820140409__202501-202512_데이터랩_다운로드.zip | https://datalab.visitkorea.or.kr/</a:t>
            </a:r>
          </a:p>
          <a:p xmlns:a="http://schemas.openxmlformats.org/drawingml/2006/main">
            <a:r>
              <a:t>team-bigdata:e28c947cb52f:bb4cb344a6ba | 지역별 검색건수/20260820132007__202501-202512_데이터랩_다운로드.zip | https://datalab.visitkorea.or.kr/</a:t>
            </a:r>
          </a:p>
          <a:p xmlns:a="http://schemas.openxmlformats.org/drawingml/2006/main">
            <a:r>
              <a:t>team-bigdata:8815bbb11a39:1a5988f5f8ec | 이동통신/내국인/지역별 방문자수/20260820140624__202401-202412_데이터랩_다운로드.zip | https://datalab.visitkorea.or.kr/</a:t>
            </a:r>
          </a:p>
          <a:p xmlns:a="http://schemas.openxmlformats.org/drawingml/2006/main">
            <a:r>
              <a:t>team-bigdata:19fd67fbb73d:afa4f0f54a2f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"dataset:50110:1",</a:t>
            </a:r>
          </a:p>
          <a:p xmlns:a="http://schemas.openxmlformats.org/drawingml/2006/main">
            <a:r>
              <a:t>      "source_type": "dataset",</a:t>
            </a:r>
          </a:p>
          <a:p xmlns:a="http://schemas.openxmlformats.org/drawingml/2006/main">
            <a:r>
              <a:t>      "title": "한국관광 데이터랩 · 제주특별자치도 제주시 순 방문자 수 및 숙박 비율 (이동통신 기반 외지인)",</a:t>
            </a:r>
          </a:p>
          <a:p xmlns:a="http://schemas.openxmlformats.org/drawingml/2006/main">
            <a:r>
              <a:t>      "source_url": "https://datalab.visitkorea.or.kr/",</a:t>
            </a:r>
          </a:p>
          <a:p xmlns:a="http://schemas.openxmlformats.org/drawingml/2006/main">
            <a:r>
              <a:t>      "summary": "월간 순 방문자 수: 3,131,476명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"dataset:50110:2",</a:t>
            </a:r>
          </a:p>
          <a:p xmlns:a="http://schemas.openxmlformats.org/drawingml/2006/main">
            <a:r>
              <a:t>      "source_type": "dataset",</a:t>
            </a:r>
          </a:p>
          <a:p xmlns:a="http://schemas.openxmlformats.org/drawingml/2006/main">
            <a:r>
              <a:t>      "title": "한국관광 데이터랩 · 제주특별자치도 제주시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-8.9%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"dataset:50110:3",</a:t>
            </a:r>
          </a:p>
          <a:p xmlns:a="http://schemas.openxmlformats.org/drawingml/2006/main">
            <a:r>
              <a:t>      "source_type": "dataset",</a:t>
            </a:r>
          </a:p>
          <a:p xmlns:a="http://schemas.openxmlformats.org/drawingml/2006/main">
            <a:r>
              <a:t>      "title": "한국관광 데이터랩 · 제주특별자치도 제주시 관광소비 추이_외지인",</a:t>
            </a:r>
          </a:p>
          <a:p xmlns:a="http://schemas.openxmlformats.org/drawingml/2006/main">
            <a:r>
              <a:t>      "source_url": "https://datalab.visitkorea.or.kr/",</a:t>
            </a:r>
          </a:p>
          <a:p xmlns:a="http://schemas.openxmlformats.org/drawingml/2006/main">
            <a:r>
              <a:t>      "summary": "월간 외지인 관광소비 총액: 129,503,828,000원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"dataset:50110:4",</a:t>
            </a:r>
          </a:p>
          <a:p xmlns:a="http://schemas.openxmlformats.org/drawingml/2006/main">
            <a:r>
              <a:t>      "source_type": "dataset",</a:t>
            </a:r>
          </a:p>
          <a:p xmlns:a="http://schemas.openxmlformats.org/drawingml/2006/main">
            <a:r>
              <a:t>      "title": "한국관광 데이터랩 · 제주특별자치도 제주시 숙박방문자 비율 추이 (이동통신 기반 외지인)",</a:t>
            </a:r>
          </a:p>
          <a:p xmlns:a="http://schemas.openxmlformats.org/drawingml/2006/main">
            <a:r>
              <a:t>      "source_url": "https://datalab.visitkorea.or.kr/",</a:t>
            </a:r>
          </a:p>
          <a:p xmlns:a="http://schemas.openxmlformats.org/drawingml/2006/main">
            <a:r>
              <a:t>      "summary": "외지인 숙박 방문 비율: 21.0%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"dataset:50110:5",</a:t>
            </a:r>
          </a:p>
          <a:p xmlns:a="http://schemas.openxmlformats.org/drawingml/2006/main">
            <a:r>
              <a:t>      "source_type": "dataset",</a:t>
            </a:r>
          </a:p>
          <a:p xmlns:a="http://schemas.openxmlformats.org/drawingml/2006/main">
            <a:r>
              <a:t>      "title": "한국관광 데이터랩 · 제주특별자치도 제주시 평균 숙박일 (이동통신 기반 외지인)",</a:t>
            </a:r>
          </a:p>
          <a:p xmlns:a="http://schemas.openxmlformats.org/drawingml/2006/main">
            <a:r>
              <a:t>      "source_url": "https://datalab.visitkorea.or.kr/",</a:t>
            </a:r>
          </a:p>
          <a:p xmlns:a="http://schemas.openxmlformats.org/drawingml/2006/main">
            <a:r>
              <a:t>      "summary": "외지인 평균 숙박일수: 3.13일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"dataset:50110:6",</a:t>
            </a:r>
          </a:p>
          <a:p xmlns:a="http://schemas.openxmlformats.org/drawingml/2006/main">
            <a:r>
              <a:t>      "source_type": "dataset",</a:t>
            </a:r>
          </a:p>
          <a:p xmlns:a="http://schemas.openxmlformats.org/drawingml/2006/main">
            <a:r>
              <a:t>      "title": "한국관광 데이터랩 · 제주특별자치도 제주시 내비게이션 목적지 유형별 검색량",</a:t>
            </a:r>
          </a:p>
          <a:p xmlns:a="http://schemas.openxmlformats.org/drawingml/2006/main">
            <a:r>
              <a:t>      "source_url": "https://datalab.visitkorea.or.kr/",</a:t>
            </a:r>
          </a:p>
          <a:p xmlns:a="http://schemas.openxmlformats.org/drawingml/2006/main">
            <a:r>
              <a:t>      "summary": "내비게이션 목적지 검색량: 580,380건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"dataset:50110:7",</a:t>
            </a:r>
          </a:p>
          <a:p xmlns:a="http://schemas.openxmlformats.org/drawingml/2006/main">
            <a:r>
              <a:t>      "source_type": "dataset",</a:t>
            </a:r>
          </a:p>
          <a:p xmlns:a="http://schemas.openxmlformats.org/drawingml/2006/main">
            <a:r>
              <a:t>      "title": "한국관광 데이터랩 · 제주특별자치도 제주시 SNS 언급량",</a:t>
            </a:r>
          </a:p>
          <a:p xmlns:a="http://schemas.openxmlformats.org/drawingml/2006/main">
            <a:r>
              <a:t>      "source_url": "https://datalab.visitkorea.or.kr/",</a:t>
            </a:r>
          </a:p>
          <a:p xmlns:a="http://schemas.openxmlformats.org/drawingml/2006/main">
            <a:r>
              <a:t>      "summary": "SNS 언급량: 138,652건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"datalab:3ec866bde028:27b141591f10",</a:t>
            </a:r>
          </a:p>
          <a:p xmlns:a="http://schemas.openxmlformats.org/drawingml/2006/main">
            <a:r>
              <a:t>      "source_type": "nationwide_dataset",</a:t>
            </a:r>
          </a:p>
          <a:p xmlns:a="http://schemas.openxmlformats.org/drawingml/2006/main">
            <a:r>
              <a:t>      "title": "한국관광 데이터랩 공식 다운로드 · 제주특별자치도_제주시/방문자/2026_01_06.zip",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"제주특별자치도_제주시/방문자/2026_01_06.zip"</a:t>
            </a:r>
          </a:p>
          <a:p xmlns:a="http://schemas.openxmlformats.org/drawingml/2006/main">
            <a:r>
              <a:t>    },</a:t>
            </a:r>
          </a:p>
          <a:p xmlns:a="http://schemas.openxmlformats.org/drawingml/2006/main">
            <a:r>
              <a:t>    {</a:t>
            </a:r>
          </a:p>
          <a:p xmlns:a="http://schemas.openxmlformats.org/drawingml/2006/main">
            <a:r>
              <a:t>      "source_id": "datalab:4833a91757b2:5c2efa032440",</a:t>
            </a:r>
          </a:p>
          <a:p xmlns:a="http://schemas.openxmlformats.org/drawingml/2006/main">
            <a:r>
              <a:t>      "source_type": "nationwide_dataset",</a:t>
            </a:r>
          </a:p>
          <a:p xmlns:a="http://schemas.openxmlformats.org/drawingml/2006/main">
            <a:r>
              <a:t>      "title": "한국관광 데이터랩 공식 다운로드 · 제주특별자치도_제주시/숙박_체류시간/2026_01_06.zip",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"제주특별자치도_제주시/숙박_체류시간/2026_01_06.zip"</a:t>
            </a:r>
          </a:p>
          <a:p xmlns:a="http://schemas.openxmlformats.org/drawingml/2006/main">
            <a:r>
              <a:t>    },</a:t>
            </a:r>
          </a:p>
          <a:p xmlns:a="http://schemas.openxmlformats.org/drawingml/2006/main">
            <a:r>
              <a:t>    {</a:t>
            </a:r>
          </a:p>
          <a:p xmlns:a="http://schemas.openxmlformats.org/drawingml/2006/main">
            <a:r>
              <a:t>      "source_id": "datalab:5d9f73f9fe47:2904d99e7279",</a:t>
            </a:r>
          </a:p>
          <a:p xmlns:a="http://schemas.openxmlformats.org/drawingml/2006/main">
            <a:r>
              <a:t>      "source_type": "nationwide_dataset",</a:t>
            </a:r>
          </a:p>
          <a:p xmlns:a="http://schemas.openxmlformats.org/drawingml/2006/main">
            <a:r>
              <a:t>      "title": "한국관광 데이터랩 공식 다운로드 · 제주특별자치도_제주시/숙박_체류시간/2025_01_12.zip",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"제주특별자치도_제주시/숙박_체류시간/2025_01_12.zip"</a:t>
            </a:r>
          </a:p>
          <a:p xmlns:a="http://schemas.openxmlformats.org/drawingml/2006/main">
            <a:r>
              <a:t>    },</a:t>
            </a:r>
          </a:p>
          <a:p xmlns:a="http://schemas.openxmlformats.org/drawingml/2006/main">
            <a:r>
              <a:t>    {</a:t>
            </a:r>
          </a:p>
          <a:p xmlns:a="http://schemas.openxmlformats.org/drawingml/2006/main">
            <a:r>
              <a:t>      "source_id": "datalab:95122c38b4fc:522e2d839300",</a:t>
            </a:r>
          </a:p>
          <a:p xmlns:a="http://schemas.openxmlformats.org/drawingml/2006/main">
            <a:r>
              <a:t>      "source_type": "nationwide_dataset",</a:t>
            </a:r>
          </a:p>
          <a:p xmlns:a="http://schemas.openxmlformats.org/drawingml/2006/main">
            <a:r>
              <a:t>      "title": "한국관광 데이터랩 공식 다운로드 · 제주특별자치도_제주시/관광소비/2026_01_06.zip",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"제주특별자치도_제주시/관광소비/2026_01_06.zip"</a:t>
            </a:r>
          </a:p>
          <a:p xmlns:a="http://schemas.openxmlformats.org/drawingml/2006/main">
            <a:r>
              <a:t>    },</a:t>
            </a:r>
          </a:p>
          <a:p xmlns:a="http://schemas.openxmlformats.org/drawingml/2006/main">
            <a:r>
              <a:t>    {</a:t>
            </a:r>
          </a:p>
          <a:p xmlns:a="http://schemas.openxmlformats.org/drawingml/2006/main">
            <a:r>
              <a:t>      "source_id": "datalab:d73227708014:f4517115deb9",</a:t>
            </a:r>
          </a:p>
          <a:p xmlns:a="http://schemas.openxmlformats.org/drawingml/2006/main">
            <a:r>
              <a:t>      "source_type": "nationwide_dataset",</a:t>
            </a:r>
          </a:p>
          <a:p xmlns:a="http://schemas.openxmlformats.org/drawingml/2006/main">
            <a:r>
              <a:t>      "title": "한국관광 데이터랩 공식 다운로드 · 제주특별자치도_제주시/방문자/2025_01_12.zip",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"제주특별자치도_제주시/방문자/2025_01_12.zip"</a:t>
            </a:r>
          </a:p>
          <a:p xmlns:a="http://schemas.openxmlformats.org/drawingml/2006/main">
            <a:r>
              <a:t>    },</a:t>
            </a:r>
          </a:p>
          <a:p xmlns:a="http://schemas.openxmlformats.org/drawingml/2006/main">
            <a:r>
              <a:t>    {</a:t>
            </a:r>
          </a:p>
          <a:p xmlns:a="http://schemas.openxmlformats.org/drawingml/2006/main">
            <a:r>
              <a:t>      "source_id": "datalab:f07ad8a73d99:ed1b998de1b3",</a:t>
            </a:r>
          </a:p>
          <a:p xmlns:a="http://schemas.openxmlformats.org/drawingml/2006/main">
            <a:r>
              <a:t>      "source_type": "nationwide_dataset",</a:t>
            </a:r>
          </a:p>
          <a:p xmlns:a="http://schemas.openxmlformats.org/drawingml/2006/main">
            <a:r>
              <a:t>      "title": "한국관광 데이터랩 공식 다운로드 · 제주특별자치도_제주시/관광소비/2025_01_12.zip",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"source_file_name": "제주특별자치도_제주시/관광소비/2025_01_12.zip"</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"이동통신/내국인/지역별 방문자수/20260820140607__202601-202606_데이터랩_다운로드.zip"</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"이동통신/외국인/20260820141710_전국_202601-202606_데이터랩_다운로드.zip"</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"신용카드/내국인/지역별 관광지출액/20260820140046__202601-202606_데이터랩_다운로드.zip"</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"신용카드/외국인/지역별 관광지출액/20260820140355__202601-202606_데이터랩_다운로드.zip"</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"네비게이션/지역별 검색건수/20260820195507__202601-202606_데이터랩_다운로드.zip"</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"이동통신/내국인/지역별 방문자수/20260820140614__202501-202512_데이터랩_다운로드.zip"</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"이동통신/외국인/20260820141649_전국_202501-202512_데이터랩_다운로드.zip"</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"신용카드/내국인/지역별 관광지출액/20260820135957__202501-202512_데이터랩_다운로드.zip"</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"신용카드/외국인/지역별 관광지출액/20260820140409__202501-202512_데이터랩_다운로드.zip"</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"네비게이션/지역별 검색건수/20260820132007__202501-202512_데이터랩_다운로드.zip"</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"이동통신/내국인/지역별 방문자수/20260820140624__202401-202412_데이터랩_다운로드.zip"</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"source_file_name": "이동통신/외국인/20260820141639_전국_202401-202412_데이터랩_다운로드.zip"</a:t>
            </a:r>
          </a:p>
          <a:p xmlns:a="http://schemas.openxmlformats.org/drawingml/2006/main">
            <a:r>
              <a:t>    },</a:t>
            </a:r>
          </a:p>
          <a:p xmlns:a="http://schemas.openxmlformats.org/drawingml/2006/main">
            <a:r>
              <a:t>    {</a:t>
            </a:r>
          </a:p>
          <a:p xmlns:a="http://schemas.openxmlformats.org/drawingml/2006/main">
            <a:r>
              <a:t>      "source_id": "regional-status:9ac27e83f27b:e998409010f6",</a:t>
            </a:r>
          </a:p>
          <a:p xmlns:a="http://schemas.openxmlformats.org/drawingml/2006/main">
            <a:r>
              <a:t>      "source_type": "regional_tourism_status",</a:t>
            </a:r>
          </a:p>
          <a:p xmlns:a="http://schemas.openxmlformats.org/drawingml/2006/main">
            <a:r>
              <a:t>      "title": "한국관광 데이터랩 지역별 관광 현황 · 제주특별자치도 제주시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"regional-status:daecd5ff8069:00c8b971be40",</a:t>
            </a:r>
          </a:p>
          <a:p xmlns:a="http://schemas.openxmlformats.org/drawingml/2006/main">
            <a:r>
              <a:t>      "source_type": "regional_tourism_status",</a:t>
            </a:r>
          </a:p>
          <a:p xmlns:a="http://schemas.openxmlformats.org/drawingml/2006/main">
            <a:r>
              <a:t>      "title": "한국관광 데이터랩 지역별 관광 현황 · 제주특별자치도 제주시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"regional-status:dd0eaa9c763f:3aadcdcac2c5",</a:t>
            </a:r>
          </a:p>
          <a:p xmlns:a="http://schemas.openxmlformats.org/drawingml/2006/main">
            <a:r>
              <a:t>      "source_type": "regional_tourism_status",</a:t>
            </a:r>
          </a:p>
          <a:p xmlns:a="http://schemas.openxmlformats.org/drawingml/2006/main">
            <a:r>
              <a:t>      "title": "한국관광 데이터랩 지역별 관광 현황 · 제주특별자치도 제주시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"ml:50110:regional-demand-v3.1:202606",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"source_id": "tour-api:2850913",</a:t>
            </a:r>
          </a:p>
          <a:p xmlns:a="http://schemas.openxmlformats.org/drawingml/2006/main">
            <a:r>
              <a:t>      "source_type": "open_api",</a:t>
            </a:r>
          </a:p>
          <a:p xmlns:a="http://schemas.openxmlformats.org/drawingml/2006/main">
            <a:r>
              <a:t>      "title": "가는곶 세화",</a:t>
            </a:r>
          </a:p>
          <a:p xmlns:a="http://schemas.openxmlformats.org/drawingml/2006/main">
            <a:r>
              <a:t>      "source_url": "https://apis.data.go.kr/B551011/KorService2",</a:t>
            </a:r>
          </a:p>
          <a:p xmlns:a="http://schemas.openxmlformats.org/drawingml/2006/main">
            <a:r>
              <a:t>      "content_id": "2850913",</a:t>
            </a:r>
          </a:p>
          <a:p xmlns:a="http://schemas.openxmlformats.org/drawingml/2006/main">
            <a:r>
              <a:t>      "content_type_id": "39",</a:t>
            </a:r>
          </a:p>
          <a:p xmlns:a="http://schemas.openxmlformats.org/drawingml/2006/main">
            <a:r>
              <a:t>      "address": "제주특별자치도 제주시 구좌읍 세화14길 3",</a:t>
            </a:r>
          </a:p>
          <a:p xmlns:a="http://schemas.openxmlformats.org/drawingml/2006/main">
            <a:r>
              <a:t>      "image_url": "http://tong.visitkorea.or.kr/cms/resource/05/2850905_image2_1.jpg",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"tour-api:1884521",</a:t>
            </a:r>
          </a:p>
          <a:p xmlns:a="http://schemas.openxmlformats.org/drawingml/2006/main">
            <a:r>
              <a:t>      "source_type": "open_api",</a:t>
            </a:r>
          </a:p>
          <a:p xmlns:a="http://schemas.openxmlformats.org/drawingml/2006/main">
            <a:r>
              <a:t>      "title": "가새기오름",</a:t>
            </a:r>
          </a:p>
          <a:p xmlns:a="http://schemas.openxmlformats.org/drawingml/2006/main">
            <a:r>
              <a:t>      "source_url": "https://apis.data.go.kr/B551011/KorService2",</a:t>
            </a:r>
          </a:p>
          <a:p xmlns:a="http://schemas.openxmlformats.org/drawingml/2006/main">
            <a:r>
              <a:t>      "content_id": "1884521",</a:t>
            </a:r>
          </a:p>
          <a:p xmlns:a="http://schemas.openxmlformats.org/drawingml/2006/main">
            <a:r>
              <a:t>      "content_type_id": "12",</a:t>
            </a:r>
          </a:p>
          <a:p xmlns:a="http://schemas.openxmlformats.org/drawingml/2006/main">
            <a:r>
              <a:t>      "address": "제주특별자치도 제주시 오라삼동",</a:t>
            </a:r>
          </a:p>
          <a:p xmlns:a="http://schemas.openxmlformats.org/drawingml/2006/main">
            <a:r>
              <a:t>      "image_url": "http://tong.visitkorea.or.kr/cms/resource/82/3477882_image2_1.jpg",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"tour-api:2837181",</a:t>
            </a:r>
          </a:p>
          <a:p xmlns:a="http://schemas.openxmlformats.org/drawingml/2006/main">
            <a:r>
              <a:t>      "source_type": "open_api",</a:t>
            </a:r>
          </a:p>
          <a:p xmlns:a="http://schemas.openxmlformats.org/drawingml/2006/main">
            <a:r>
              <a:t>      "title": "가시어멍김밥",</a:t>
            </a:r>
          </a:p>
          <a:p xmlns:a="http://schemas.openxmlformats.org/drawingml/2006/main">
            <a:r>
              <a:t>      "source_url": "https://apis.data.go.kr/B551011/KorService2",</a:t>
            </a:r>
          </a:p>
          <a:p xmlns:a="http://schemas.openxmlformats.org/drawingml/2006/main">
            <a:r>
              <a:t>      "content_id": "2837181",</a:t>
            </a:r>
          </a:p>
          <a:p xmlns:a="http://schemas.openxmlformats.org/drawingml/2006/main">
            <a:r>
              <a:t>      "content_type_id": "39",</a:t>
            </a:r>
          </a:p>
          <a:p xmlns:a="http://schemas.openxmlformats.org/drawingml/2006/main">
            <a:r>
              <a:t>      "address": "제주특별자치도 제주시 월랑로 36",</a:t>
            </a:r>
          </a:p>
          <a:p xmlns:a="http://schemas.openxmlformats.org/drawingml/2006/main">
            <a:r>
              <a:t>      "image_url": "http://tong.visitkorea.or.kr/cms/resource/75/2837175_image2_1.jpg",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"tour-api:2853435",</a:t>
            </a:r>
          </a:p>
          <a:p xmlns:a="http://schemas.openxmlformats.org/drawingml/2006/main">
            <a:r>
              <a:t>      "source_type": "open_api",</a:t>
            </a:r>
          </a:p>
          <a:p xmlns:a="http://schemas.openxmlformats.org/drawingml/2006/main">
            <a:r>
              <a:t>      "title": "갈치공장",</a:t>
            </a:r>
          </a:p>
          <a:p xmlns:a="http://schemas.openxmlformats.org/drawingml/2006/main">
            <a:r>
              <a:t>      "source_url": "https://apis.data.go.kr/B551011/KorService2",</a:t>
            </a:r>
          </a:p>
          <a:p xmlns:a="http://schemas.openxmlformats.org/drawingml/2006/main">
            <a:r>
              <a:t>      "content_id": "2853435",</a:t>
            </a:r>
          </a:p>
          <a:p xmlns:a="http://schemas.openxmlformats.org/drawingml/2006/main">
            <a:r>
              <a:t>      "content_type_id": "39",</a:t>
            </a:r>
          </a:p>
          <a:p xmlns:a="http://schemas.openxmlformats.org/drawingml/2006/main">
            <a:r>
              <a:t>      "address": "제주특별자치도 제주시 해맞이해안로 1296",</a:t>
            </a:r>
          </a:p>
          <a:p xmlns:a="http://schemas.openxmlformats.org/drawingml/2006/main">
            <a:r>
              <a:t>      "image_url": "http://tong.visitkorea.or.kr/cms/resource/24/2853424_image2_1.jpg",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"tour-api:1889809",</a:t>
            </a:r>
          </a:p>
          <a:p xmlns:a="http://schemas.openxmlformats.org/drawingml/2006/main">
            <a:r>
              <a:t>      "source_type": "open_api",</a:t>
            </a:r>
          </a:p>
          <a:p xmlns:a="http://schemas.openxmlformats.org/drawingml/2006/main">
            <a:r>
              <a:t>      "title": "개오리오름",</a:t>
            </a:r>
          </a:p>
          <a:p xmlns:a="http://schemas.openxmlformats.org/drawingml/2006/main">
            <a:r>
              <a:t>      "source_url": "https://apis.data.go.kr/B551011/KorService2",</a:t>
            </a:r>
          </a:p>
          <a:p xmlns:a="http://schemas.openxmlformats.org/drawingml/2006/main">
            <a:r>
              <a:t>      "content_id": "1889809",</a:t>
            </a:r>
          </a:p>
          <a:p xmlns:a="http://schemas.openxmlformats.org/drawingml/2006/main">
            <a:r>
              <a:t>      "content_type_id": "12",</a:t>
            </a:r>
          </a:p>
          <a:p xmlns:a="http://schemas.openxmlformats.org/drawingml/2006/main">
            <a:r>
              <a:t>      "address": "제주특별자치도 제주시 봉개동",</a:t>
            </a:r>
          </a:p>
          <a:p xmlns:a="http://schemas.openxmlformats.org/drawingml/2006/main">
            <a:r>
              <a:t>      "image_url": "http://tong.visitkorea.or.kr/cms/resource/47/3478047_image2_1.jpg",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"tour-api:1918646",</a:t>
            </a:r>
          </a:p>
          <a:p xmlns:a="http://schemas.openxmlformats.org/drawingml/2006/main">
            <a:r>
              <a:t>      "source_type": "open_api",</a:t>
            </a:r>
          </a:p>
          <a:p xmlns:a="http://schemas.openxmlformats.org/drawingml/2006/main">
            <a:r>
              <a:t>      "title": "거슨새미오름",</a:t>
            </a:r>
          </a:p>
          <a:p xmlns:a="http://schemas.openxmlformats.org/drawingml/2006/main">
            <a:r>
              <a:t>      "source_url": "https://apis.data.go.kr/B551011/KorService2",</a:t>
            </a:r>
          </a:p>
          <a:p xmlns:a="http://schemas.openxmlformats.org/drawingml/2006/main">
            <a:r>
              <a:t>      "content_id": "1918646",</a:t>
            </a:r>
          </a:p>
          <a:p xmlns:a="http://schemas.openxmlformats.org/drawingml/2006/main">
            <a:r>
              <a:t>      "content_type_id": "12",</a:t>
            </a:r>
          </a:p>
          <a:p xmlns:a="http://schemas.openxmlformats.org/drawingml/2006/main">
            <a:r>
              <a:t>      "address": "제주특별자치도 제주시 구좌읍 송당리",</a:t>
            </a:r>
          </a:p>
          <a:p xmlns:a="http://schemas.openxmlformats.org/drawingml/2006/main">
            <a:r>
              <a:t>      "image_url": "http://tong.visitkorea.or.kr/cms/resource/04/3477804_image2_1.jpg",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"tour-api:2870515",</a:t>
            </a:r>
          </a:p>
          <a:p xmlns:a="http://schemas.openxmlformats.org/drawingml/2006/main">
            <a:r>
              <a:t>      "source_type": "open_api",</a:t>
            </a:r>
          </a:p>
          <a:p xmlns:a="http://schemas.openxmlformats.org/drawingml/2006/main">
            <a:r>
              <a:t>      "title": "경성수산",</a:t>
            </a:r>
          </a:p>
          <a:p xmlns:a="http://schemas.openxmlformats.org/drawingml/2006/main">
            <a:r>
              <a:t>      "source_url": "https://apis.data.go.kr/B551011/KorService2",</a:t>
            </a:r>
          </a:p>
          <a:p xmlns:a="http://schemas.openxmlformats.org/drawingml/2006/main">
            <a:r>
              <a:t>      "content_id": "2870515",</a:t>
            </a:r>
          </a:p>
          <a:p xmlns:a="http://schemas.openxmlformats.org/drawingml/2006/main">
            <a:r>
              <a:t>      "content_type_id": "39",</a:t>
            </a:r>
          </a:p>
          <a:p xmlns:a="http://schemas.openxmlformats.org/drawingml/2006/main">
            <a:r>
              <a:t>      "address": "제주특별자치도 제주시 한림상로 111",</a:t>
            </a:r>
          </a:p>
          <a:p xmlns:a="http://schemas.openxmlformats.org/drawingml/2006/main">
            <a:r>
              <a:t>      "image_url": "http://tong.visitkorea.or.kr/cms/resource/09/2870509_image2_1.jpg",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"tour-api:2791433",</a:t>
            </a:r>
          </a:p>
          <a:p xmlns:a="http://schemas.openxmlformats.org/drawingml/2006/main">
            <a:r>
              <a:t>      "source_type": "open_api",</a:t>
            </a:r>
          </a:p>
          <a:p xmlns:a="http://schemas.openxmlformats.org/drawingml/2006/main">
            <a:r>
              <a:t>      "title": "고내포구",</a:t>
            </a:r>
          </a:p>
          <a:p xmlns:a="http://schemas.openxmlformats.org/drawingml/2006/main">
            <a:r>
              <a:t>      "source_url": "https://apis.data.go.kr/B551011/KorService2",</a:t>
            </a:r>
          </a:p>
          <a:p xmlns:a="http://schemas.openxmlformats.org/drawingml/2006/main">
            <a:r>
              <a:t>      "content_id": "2791433",</a:t>
            </a:r>
          </a:p>
          <a:p xmlns:a="http://schemas.openxmlformats.org/drawingml/2006/main">
            <a:r>
              <a:t>      "content_type_id": "12",</a:t>
            </a:r>
          </a:p>
          <a:p xmlns:a="http://schemas.openxmlformats.org/drawingml/2006/main">
            <a:r>
              <a:t>      "address": "제주특별자치도 제주시 애월읍 고내리 1111-4",</a:t>
            </a:r>
          </a:p>
          <a:p xmlns:a="http://schemas.openxmlformats.org/drawingml/2006/main">
            <a:r>
              <a:t>      "image_url": "http://tong.visitkorea.or.kr/cms/resource/19/3589219_image2_1.jpg",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"tour-api:2863927",</a:t>
            </a:r>
          </a:p>
          <a:p xmlns:a="http://schemas.openxmlformats.org/drawingml/2006/main">
            <a:r>
              <a:t>      "source_type": "open_api",</a:t>
            </a:r>
          </a:p>
          <a:p xmlns:a="http://schemas.openxmlformats.org/drawingml/2006/main">
            <a:r>
              <a:t>      "title": "고사리커피",</a:t>
            </a:r>
          </a:p>
          <a:p xmlns:a="http://schemas.openxmlformats.org/drawingml/2006/main">
            <a:r>
              <a:t>      "source_url": "https://apis.data.go.kr/B551011/KorService2",</a:t>
            </a:r>
          </a:p>
          <a:p xmlns:a="http://schemas.openxmlformats.org/drawingml/2006/main">
            <a:r>
              <a:t>      "content_id": "2863927",</a:t>
            </a:r>
          </a:p>
          <a:p xmlns:a="http://schemas.openxmlformats.org/drawingml/2006/main">
            <a:r>
              <a:t>      "content_type_id": "39",</a:t>
            </a:r>
          </a:p>
          <a:p xmlns:a="http://schemas.openxmlformats.org/drawingml/2006/main">
            <a:r>
              <a:t>      "address": "제주특별자치도 제주시 구좌읍 중산간동로 2064",</a:t>
            </a:r>
          </a:p>
          <a:p xmlns:a="http://schemas.openxmlformats.org/drawingml/2006/main">
            <a:r>
              <a:t>      "image_url": "http://tong.visitkorea.or.kr/cms/resource/18/2863918_image2_1.JPG",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"tour-api:2759120",</a:t>
            </a:r>
          </a:p>
          <a:p xmlns:a="http://schemas.openxmlformats.org/drawingml/2006/main">
            <a:r>
              <a:t>      "source_type": "open_api",</a:t>
            </a:r>
          </a:p>
          <a:p xmlns:a="http://schemas.openxmlformats.org/drawingml/2006/main">
            <a:r>
              <a:t>      "title": "고스트타운",</a:t>
            </a:r>
          </a:p>
          <a:p xmlns:a="http://schemas.openxmlformats.org/drawingml/2006/main">
            <a:r>
              <a:t>      "source_url": "https://apis.data.go.kr/B551011/KorService2",</a:t>
            </a:r>
          </a:p>
          <a:p xmlns:a="http://schemas.openxmlformats.org/drawingml/2006/main">
            <a:r>
              <a:t>      "content_id": "2759120",</a:t>
            </a:r>
          </a:p>
          <a:p xmlns:a="http://schemas.openxmlformats.org/drawingml/2006/main">
            <a:r>
              <a:t>      "content_type_id": "12",</a:t>
            </a:r>
          </a:p>
          <a:p xmlns:a="http://schemas.openxmlformats.org/drawingml/2006/main">
            <a:r>
              <a:t>      "address": "제주특별자치도 제주시 애월읍 부룡수길 35-14",</a:t>
            </a:r>
          </a:p>
          <a:p xmlns:a="http://schemas.openxmlformats.org/drawingml/2006/main">
            <a:r>
              <a:t>      "image_url": "http://tong.visitkorea.or.kr/cms/resource/81/3396881_image2_1.jpg",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"tour-api:2759061",</a:t>
            </a:r>
          </a:p>
          <a:p xmlns:a="http://schemas.openxmlformats.org/drawingml/2006/main">
            <a:r>
              <a:t>      "source_type": "open_api",</a:t>
            </a:r>
          </a:p>
          <a:p xmlns:a="http://schemas.openxmlformats.org/drawingml/2006/main">
            <a:r>
              <a:t>      "title": "고이정",</a:t>
            </a:r>
          </a:p>
          <a:p xmlns:a="http://schemas.openxmlformats.org/drawingml/2006/main">
            <a:r>
              <a:t>      "source_url": "https://apis.data.go.kr/B551011/KorService2",</a:t>
            </a:r>
          </a:p>
          <a:p xmlns:a="http://schemas.openxmlformats.org/drawingml/2006/main">
            <a:r>
              <a:t>      "content_id": "2759061",</a:t>
            </a:r>
          </a:p>
          <a:p xmlns:a="http://schemas.openxmlformats.org/drawingml/2006/main">
            <a:r>
              <a:t>      "content_type_id": "39",</a:t>
            </a:r>
          </a:p>
          <a:p xmlns:a="http://schemas.openxmlformats.org/drawingml/2006/main">
            <a:r>
              <a:t>      "address": "제주특별자치도 제주시 애월읍 애월로 6",</a:t>
            </a:r>
          </a:p>
          <a:p xmlns:a="http://schemas.openxmlformats.org/drawingml/2006/main">
            <a:r>
              <a:t>      "image_url": "http://tong.visitkorea.or.kr/cms/resource/08/2759208_image2_1.jpg",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"tour-api:2863913",</a:t>
            </a:r>
          </a:p>
          <a:p xmlns:a="http://schemas.openxmlformats.org/drawingml/2006/main">
            <a:r>
              <a:t>      "source_type": "open_api",</a:t>
            </a:r>
          </a:p>
          <a:p xmlns:a="http://schemas.openxmlformats.org/drawingml/2006/main">
            <a:r>
              <a:t>      "title": "고토커피바",</a:t>
            </a:r>
          </a:p>
          <a:p xmlns:a="http://schemas.openxmlformats.org/drawingml/2006/main">
            <a:r>
              <a:t>      "source_url": "https://apis.data.go.kr/B551011/KorService2",</a:t>
            </a:r>
          </a:p>
          <a:p xmlns:a="http://schemas.openxmlformats.org/drawingml/2006/main">
            <a:r>
              <a:t>      "content_id": "2863913",</a:t>
            </a:r>
          </a:p>
          <a:p xmlns:a="http://schemas.openxmlformats.org/drawingml/2006/main">
            <a:r>
              <a:t>      "content_type_id": "39",</a:t>
            </a:r>
          </a:p>
          <a:p xmlns:a="http://schemas.openxmlformats.org/drawingml/2006/main">
            <a:r>
              <a:t>      "address": "제주특별자치도 제주시 애월읍 구엄동3길 56",</a:t>
            </a:r>
          </a:p>
          <a:p xmlns:a="http://schemas.openxmlformats.org/drawingml/2006/main">
            <a:r>
              <a:t>      "image_url": "http://tong.visitkorea.or.kr/cms/resource/07/2863907_image2_1.jpg",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"tour-api:2857289",</a:t>
            </a:r>
          </a:p>
          <a:p xmlns:a="http://schemas.openxmlformats.org/drawingml/2006/main">
            <a:r>
              <a:t>      "source_type": "open_api",</a:t>
            </a:r>
          </a:p>
          <a:p xmlns:a="http://schemas.openxmlformats.org/drawingml/2006/main">
            <a:r>
              <a:t>      "title": "골목식당",</a:t>
            </a:r>
          </a:p>
          <a:p xmlns:a="http://schemas.openxmlformats.org/drawingml/2006/main">
            <a:r>
              <a:t>      "source_url": "https://apis.data.go.kr/B551011/KorService2",</a:t>
            </a:r>
          </a:p>
          <a:p xmlns:a="http://schemas.openxmlformats.org/drawingml/2006/main">
            <a:r>
              <a:t>      "content_id": "2857289",</a:t>
            </a:r>
          </a:p>
          <a:p xmlns:a="http://schemas.openxmlformats.org/drawingml/2006/main">
            <a:r>
              <a:t>      "content_type_id": "39",</a:t>
            </a:r>
          </a:p>
          <a:p xmlns:a="http://schemas.openxmlformats.org/drawingml/2006/main">
            <a:r>
              <a:t>      "address": "제주특별자치도 제주시 중앙로 63-9 (이도일동)",</a:t>
            </a:r>
          </a:p>
          <a:p xmlns:a="http://schemas.openxmlformats.org/drawingml/2006/main">
            <a:r>
              <a:t>      "image_url": "http://tong.visitkorea.or.kr/cms/resource/79/2857279_image2_1.JPG",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"tour-api:2852311",</a:t>
            </a:r>
          </a:p>
          <a:p xmlns:a="http://schemas.openxmlformats.org/drawingml/2006/main">
            <a:r>
              <a:t>      "source_type": "open_api",</a:t>
            </a:r>
          </a:p>
          <a:p xmlns:a="http://schemas.openxmlformats.org/drawingml/2006/main">
            <a:r>
              <a:t>      "title": "골목카페옥수",</a:t>
            </a:r>
          </a:p>
          <a:p xmlns:a="http://schemas.openxmlformats.org/drawingml/2006/main">
            <a:r>
              <a:t>      "source_url": "https://apis.data.go.kr/B551011/KorService2",</a:t>
            </a:r>
          </a:p>
          <a:p xmlns:a="http://schemas.openxmlformats.org/drawingml/2006/main">
            <a:r>
              <a:t>      "content_id": "2852311",</a:t>
            </a:r>
          </a:p>
          <a:p xmlns:a="http://schemas.openxmlformats.org/drawingml/2006/main">
            <a:r>
              <a:t>      "content_type_id": "39",</a:t>
            </a:r>
          </a:p>
          <a:p xmlns:a="http://schemas.openxmlformats.org/drawingml/2006/main">
            <a:r>
              <a:t>      "address": "제주특별자치도 제주시 소길1길 19",</a:t>
            </a:r>
          </a:p>
          <a:p xmlns:a="http://schemas.openxmlformats.org/drawingml/2006/main">
            <a:r>
              <a:t>      "image_url": "http://tong.visitkorea.or.kr/cms/resource/03/2852303_image2_1.jpg",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"tour-api:2739395",</a:t>
            </a:r>
          </a:p>
          <a:p xmlns:a="http://schemas.openxmlformats.org/drawingml/2006/main">
            <a:r>
              <a:t>      "source_type": "open_api",</a:t>
            </a:r>
          </a:p>
          <a:p xmlns:a="http://schemas.openxmlformats.org/drawingml/2006/main">
            <a:r>
              <a:t>      "title": "골체오름캠핑",</a:t>
            </a:r>
          </a:p>
          <a:p xmlns:a="http://schemas.openxmlformats.org/drawingml/2006/main">
            <a:r>
              <a:t>      "source_url": "https://apis.data.go.kr/B551011/KorService2",</a:t>
            </a:r>
          </a:p>
          <a:p xmlns:a="http://schemas.openxmlformats.org/drawingml/2006/main">
            <a:r>
              <a:t>      "content_id": "2739395",</a:t>
            </a:r>
          </a:p>
          <a:p xmlns:a="http://schemas.openxmlformats.org/drawingml/2006/main">
            <a:r>
              <a:t>      "content_type_id": "28",</a:t>
            </a:r>
          </a:p>
          <a:p xmlns:a="http://schemas.openxmlformats.org/drawingml/2006/main">
            <a:r>
              <a:t>      "address": "제주특별자치도 제주시 조천읍 번영로 1648-41",</a:t>
            </a:r>
          </a:p>
          <a:p xmlns:a="http://schemas.openxmlformats.org/drawingml/2006/main">
            <a:r>
              <a:t>      "image_url": "http://tong.visitkorea.or.kr/cms/resource/74/2739574_image2_1.jpg",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"tour-api:2759096",</a:t>
            </a:r>
          </a:p>
          <a:p xmlns:a="http://schemas.openxmlformats.org/drawingml/2006/main">
            <a:r>
              <a:t>      "source_type": "open_api",</a:t>
            </a:r>
          </a:p>
          <a:p xmlns:a="http://schemas.openxmlformats.org/drawingml/2006/main">
            <a:r>
              <a:t>      "title": "곰막식당/곰막",</a:t>
            </a:r>
          </a:p>
          <a:p xmlns:a="http://schemas.openxmlformats.org/drawingml/2006/main">
            <a:r>
              <a:t>      "source_url": "https://apis.data.go.kr/B551011/KorService2",</a:t>
            </a:r>
          </a:p>
          <a:p xmlns:a="http://schemas.openxmlformats.org/drawingml/2006/main">
            <a:r>
              <a:t>      "content_id": "2759096",</a:t>
            </a:r>
          </a:p>
          <a:p xmlns:a="http://schemas.openxmlformats.org/drawingml/2006/main">
            <a:r>
              <a:t>      "content_type_id": "39",</a:t>
            </a:r>
          </a:p>
          <a:p xmlns:a="http://schemas.openxmlformats.org/drawingml/2006/main">
            <a:r>
              <a:t>      "address": "제주특별자치도 제주시 구좌읍 구좌해안로 64",</a:t>
            </a:r>
          </a:p>
          <a:p xmlns:a="http://schemas.openxmlformats.org/drawingml/2006/main">
            <a:r>
              <a:t>      "image_url": "http://tong.visitkorea.or.kr/cms/resource/21/2759221_image2_1.jpg",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"tour-api:127870",</a:t>
            </a:r>
          </a:p>
          <a:p xmlns:a="http://schemas.openxmlformats.org/drawingml/2006/main">
            <a:r>
              <a:t>      "source_type": "open_api",</a:t>
            </a:r>
          </a:p>
          <a:p xmlns:a="http://schemas.openxmlformats.org/drawingml/2006/main">
            <a:r>
              <a:t>      "title": "곽지해수욕장",</a:t>
            </a:r>
          </a:p>
          <a:p xmlns:a="http://schemas.openxmlformats.org/drawingml/2006/main">
            <a:r>
              <a:t>      "source_url": "https://apis.data.go.kr/B551011/KorService2",</a:t>
            </a:r>
          </a:p>
          <a:p xmlns:a="http://schemas.openxmlformats.org/drawingml/2006/main">
            <a:r>
              <a:t>      "content_id": "127870",</a:t>
            </a:r>
          </a:p>
          <a:p xmlns:a="http://schemas.openxmlformats.org/drawingml/2006/main">
            <a:r>
              <a:t>      "content_type_id": "12",</a:t>
            </a:r>
          </a:p>
          <a:p xmlns:a="http://schemas.openxmlformats.org/drawingml/2006/main">
            <a:r>
              <a:t>      "address": "제주특별자치도 제주시 애월읍 곽지리 1565",</a:t>
            </a:r>
          </a:p>
          <a:p xmlns:a="http://schemas.openxmlformats.org/drawingml/2006/main">
            <a:r>
              <a:t>      "image_url": "http://tong.visitkorea.or.kr/cms/resource/30/3053130_image2_1.jpg",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"tour-api:1918950",</a:t>
            </a:r>
          </a:p>
          <a:p xmlns:a="http://schemas.openxmlformats.org/drawingml/2006/main">
            <a:r>
              <a:t>      "source_type": "open_api",</a:t>
            </a:r>
          </a:p>
          <a:p xmlns:a="http://schemas.openxmlformats.org/drawingml/2006/main">
            <a:r>
              <a:t>      "title": "괴오름",</a:t>
            </a:r>
          </a:p>
          <a:p xmlns:a="http://schemas.openxmlformats.org/drawingml/2006/main">
            <a:r>
              <a:t>      "source_url": "https://apis.data.go.kr/B551011/KorService2",</a:t>
            </a:r>
          </a:p>
          <a:p xmlns:a="http://schemas.openxmlformats.org/drawingml/2006/main">
            <a:r>
              <a:t>      "content_id": "1918950",</a:t>
            </a:r>
          </a:p>
          <a:p xmlns:a="http://schemas.openxmlformats.org/drawingml/2006/main">
            <a:r>
              <a:t>      "content_type_id": "12",</a:t>
            </a:r>
          </a:p>
          <a:p xmlns:a="http://schemas.openxmlformats.org/drawingml/2006/main">
            <a:r>
              <a:t>      "address": "제주특별자치도 제주시 애월읍 봉성리 산41",</a:t>
            </a:r>
          </a:p>
          <a:p xmlns:a="http://schemas.openxmlformats.org/drawingml/2006/main">
            <a:r>
              <a:t>      "image_url": "http://tong.visitkorea.or.kr/cms/resource/40/3585540_image2_1.jpg",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"tour-api:128443",</a:t>
            </a:r>
          </a:p>
          <a:p xmlns:a="http://schemas.openxmlformats.org/drawingml/2006/main">
            <a:r>
              <a:t>      "source_type": "open_api",</a:t>
            </a:r>
          </a:p>
          <a:p xmlns:a="http://schemas.openxmlformats.org/drawingml/2006/main">
            <a:r>
              <a:t>      "title": "교래 삼다수마을",</a:t>
            </a:r>
          </a:p>
          <a:p xmlns:a="http://schemas.openxmlformats.org/drawingml/2006/main">
            <a:r>
              <a:t>      "source_url": "https://apis.data.go.kr/B551011/KorService2",</a:t>
            </a:r>
          </a:p>
          <a:p xmlns:a="http://schemas.openxmlformats.org/drawingml/2006/main">
            <a:r>
              <a:t>      "content_id": "128443",</a:t>
            </a:r>
          </a:p>
          <a:p xmlns:a="http://schemas.openxmlformats.org/drawingml/2006/main">
            <a:r>
              <a:t>      "content_type_id": "12",</a:t>
            </a:r>
          </a:p>
          <a:p xmlns:a="http://schemas.openxmlformats.org/drawingml/2006/main">
            <a:r>
              <a:t>      "address": "제주특별자치도 제주시 조천읍 교래3길 98",</a:t>
            </a:r>
          </a:p>
          <a:p xmlns:a="http://schemas.openxmlformats.org/drawingml/2006/main">
            <a:r>
              <a:t>      "image_url": "http://tong.visitkorea.or.kr/cms/resource/18/3586318_image2_1.jpg",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"case:night_tourism_cities_2024",</a:t>
            </a:r>
          </a:p>
          <a:p xmlns:a="http://schemas.openxmlformats.org/drawingml/2006/main">
            <a:r>
              <a:t>      "source_type": "benchmark_case",</a:t>
            </a:r>
          </a:p>
          <a:p xmlns:a="http://schemas.openxmlformats.org/drawingml/2006/main">
            <a:r>
              <a:t>      "title": "2024년도 정부업무평가 관광분야 성과자료",</a:t>
            </a:r>
          </a:p>
          <a:p xmlns:a="http://schemas.openxmlformats.org/drawingml/2006/main">
            <a:r>
              <a:t>      "source_url": "https://www.evaluation.go.kr/upload2/atch/eval/20250429095846463.pdf",</a:t>
            </a:r>
          </a:p>
          <a:p xmlns:a="http://schemas.openxmlformats.org/drawingml/2006/main">
            <a:r>
              <a:t>      "published_or_updated_at": "2025-04-29",</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"case_region": "야간관광 특화도시 10곳",</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"정부업무평가 자료는 특화도시 10곳 방문객이 2023년 같은 기간보다 3% 증가했다고 기록",</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"spending_krw": 150467072839.0,</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"spending_krw": 145085139974.0,</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"spending_krw": 149366639508.0,</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"spending_krw": 140803668431,</a:t>
            </a:r>
          </a:p>
          <a:p xmlns:a="http://schemas.openxmlformats.org/drawingml/2006/main">
            <a:r>
              <a:t>      "previous_year_visitors": 3628591,</a:t>
            </a:r>
          </a:p>
          <a:p xmlns:a="http://schemas.openxmlformats.org/drawingml/2006/main">
            <a:r>
              <a:t>      "previous_year_spending_krw": 147121716000,</a:t>
            </a:r>
          </a:p>
          <a:p xmlns:a="http://schemas.openxmlformats.org/drawingml/2006/main">
            <a:r>
              <a:t>      "visitor_yoy_percent": -3.05,</a:t>
            </a:r>
          </a:p>
          <a:p xmlns:a="http://schemas.openxmlformats.org/drawingml/2006/main">
            <a:r>
              <a:t>      "spending_yoy_percent": -4.29,</a:t>
            </a:r>
          </a:p>
          <a:p xmlns:a="http://schemas.openxmlformats.org/drawingml/2006/main">
            <a:r>
              <a:t>      "lodging_nights": 3.2,</a:t>
            </a:r>
          </a:p>
          <a:p xmlns:a="http://schemas.openxmlformats.org/drawingml/2006/main">
            <a:r>
              <a:t>      "previous_year_lodging_nights": 3.2,</a:t>
            </a:r>
          </a:p>
          <a:p xmlns:a="http://schemas.openxmlformats.org/drawingml/2006/main">
            <a:r>
              <a:t>      "lodging_rate_pct": 21.7,</a:t>
            </a:r>
          </a:p>
          <a:p xmlns:a="http://schemas.openxmlformats.org/drawingml/2006/main">
            <a:r>
              <a:t>      "previous_year_lodging_rate_pct": 21.7,</a:t>
            </a:r>
          </a:p>
          <a:p xmlns:a="http://schemas.openxmlformats.org/drawingml/2006/main">
            <a:r>
              <a:t>      "stay_minutes": 2599.0,</a:t>
            </a:r>
          </a:p>
          <a:p xmlns:a="http://schemas.openxmlformats.org/drawingml/2006/main">
            <a:r>
              <a:t>      "previous_year_stay_minutes": 2599.0,</a:t>
            </a:r>
          </a:p>
          <a:p xmlns:a="http://schemas.openxmlformats.org/drawingml/2006/main">
            <a:r>
              <a:t>      "navigation_searches": 710719,</a:t>
            </a:r>
          </a:p>
          <a:p xmlns:a="http://schemas.openxmlformats.org/drawingml/2006/main">
            <a:r>
              <a:t>      "previous_year_navigation_searches": 710719,</a:t>
            </a:r>
          </a:p>
          <a:p xmlns:a="http://schemas.openxmlformats.org/drawingml/2006/main">
            <a:r>
              <a:t>      "lodging_searches": 99946,</a:t>
            </a:r>
          </a:p>
          <a:p xmlns:a="http://schemas.openxmlformats.org/drawingml/2006/main">
            <a:r>
              <a:t>      "previous_year_lodging_searches": 99946,</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"spending_krw": 147968744557,</a:t>
            </a:r>
          </a:p>
          <a:p xmlns:a="http://schemas.openxmlformats.org/drawingml/2006/main">
            <a:r>
              <a:t>      "previous_year_visitors": 3874804,</a:t>
            </a:r>
          </a:p>
          <a:p xmlns:a="http://schemas.openxmlformats.org/drawingml/2006/main">
            <a:r>
              <a:t>      "previous_year_spending_krw": 159605711000,</a:t>
            </a:r>
          </a:p>
          <a:p xmlns:a="http://schemas.openxmlformats.org/drawingml/2006/main">
            <a:r>
              <a:t>      "visitor_yoy_percent": -6.31,</a:t>
            </a:r>
          </a:p>
          <a:p xmlns:a="http://schemas.openxmlformats.org/drawingml/2006/main">
            <a:r>
              <a:t>      "spending_yoy_percent": -7.29,</a:t>
            </a:r>
          </a:p>
          <a:p xmlns:a="http://schemas.openxmlformats.org/drawingml/2006/main">
            <a:r>
              <a:t>      "lodging_nights": 3.15,</a:t>
            </a:r>
          </a:p>
          <a:p xmlns:a="http://schemas.openxmlformats.org/drawingml/2006/main">
            <a:r>
              <a:t>      "previous_year_lodging_nights": 3.15,</a:t>
            </a:r>
          </a:p>
          <a:p xmlns:a="http://schemas.openxmlformats.org/drawingml/2006/main">
            <a:r>
              <a:t>      "lodging_rate_pct": 22.1,</a:t>
            </a:r>
          </a:p>
          <a:p xmlns:a="http://schemas.openxmlformats.org/drawingml/2006/main">
            <a:r>
              <a:t>      "previous_year_lodging_rate_pct": 22.1,</a:t>
            </a:r>
          </a:p>
          <a:p xmlns:a="http://schemas.openxmlformats.org/drawingml/2006/main">
            <a:r>
              <a:t>      "stay_minutes": 2361.0,</a:t>
            </a:r>
          </a:p>
          <a:p xmlns:a="http://schemas.openxmlformats.org/drawingml/2006/main">
            <a:r>
              <a:t>      "previous_year_stay_minutes": 2361.0,</a:t>
            </a:r>
          </a:p>
          <a:p xmlns:a="http://schemas.openxmlformats.org/drawingml/2006/main">
            <a:r>
              <a:t>      "navigation_searches": 832625,</a:t>
            </a:r>
          </a:p>
          <a:p xmlns:a="http://schemas.openxmlformats.org/drawingml/2006/main">
            <a:r>
              <a:t>      "previous_year_navigation_searches": 832625,</a:t>
            </a:r>
          </a:p>
          <a:p xmlns:a="http://schemas.openxmlformats.org/drawingml/2006/main">
            <a:r>
              <a:t>      "lodging_searches": 114775,</a:t>
            </a:r>
          </a:p>
          <a:p xmlns:a="http://schemas.openxmlformats.org/drawingml/2006/main">
            <a:r>
              <a:t>      "previous_year_lodging_searches": 114775,</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"spending_krw": 128844309211,</a:t>
            </a:r>
          </a:p>
          <a:p xmlns:a="http://schemas.openxmlformats.org/drawingml/2006/main">
            <a:r>
              <a:t>      "previous_year_visitors": 3482583,</a:t>
            </a:r>
          </a:p>
          <a:p xmlns:a="http://schemas.openxmlformats.org/drawingml/2006/main">
            <a:r>
              <a:t>      "previous_year_spending_krw": 133843940000,</a:t>
            </a:r>
          </a:p>
          <a:p xmlns:a="http://schemas.openxmlformats.org/drawingml/2006/main">
            <a:r>
              <a:t>      "visitor_yoy_percent": 0.75,</a:t>
            </a:r>
          </a:p>
          <a:p xmlns:a="http://schemas.openxmlformats.org/drawingml/2006/main">
            <a:r>
              <a:t>      "spending_yoy_percent": -3.74,</a:t>
            </a:r>
          </a:p>
          <a:p xmlns:a="http://schemas.openxmlformats.org/drawingml/2006/main">
            <a:r>
              <a:t>      "lodging_nights": 3.04,</a:t>
            </a:r>
          </a:p>
          <a:p xmlns:a="http://schemas.openxmlformats.org/drawingml/2006/main">
            <a:r>
              <a:t>      "previous_year_lodging_nights": 3.04,</a:t>
            </a:r>
          </a:p>
          <a:p xmlns:a="http://schemas.openxmlformats.org/drawingml/2006/main">
            <a:r>
              <a:t>      "lodging_rate_pct": 21.3,</a:t>
            </a:r>
          </a:p>
          <a:p xmlns:a="http://schemas.openxmlformats.org/drawingml/2006/main">
            <a:r>
              <a:t>      "previous_year_lodging_rate_pct": 21.3,</a:t>
            </a:r>
          </a:p>
          <a:p xmlns:a="http://schemas.openxmlformats.org/drawingml/2006/main">
            <a:r>
              <a:t>      "stay_minutes": 2331.0,</a:t>
            </a:r>
          </a:p>
          <a:p xmlns:a="http://schemas.openxmlformats.org/drawingml/2006/main">
            <a:r>
              <a:t>      "previous_year_stay_minutes": 2331.0,</a:t>
            </a:r>
          </a:p>
          <a:p xmlns:a="http://schemas.openxmlformats.org/drawingml/2006/main">
            <a:r>
              <a:t>      "navigation_searches": 625924,</a:t>
            </a:r>
          </a:p>
          <a:p xmlns:a="http://schemas.openxmlformats.org/drawingml/2006/main">
            <a:r>
              <a:t>      "previous_year_navigation_searches": 625924,</a:t>
            </a:r>
          </a:p>
          <a:p xmlns:a="http://schemas.openxmlformats.org/drawingml/2006/main">
            <a:r>
              <a:t>      "lodging_searches": 83147,</a:t>
            </a:r>
          </a:p>
          <a:p xmlns:a="http://schemas.openxmlformats.org/drawingml/2006/main">
            <a:r>
              <a:t>      "previous_year_lodging_searches": 83147,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"spending_krw": 150467072839,</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"spending_krw": 145085139974,</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"spending_krw": 149366639508,</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183762.22,</a:t>
            </a:r>
          </a:p>
          <a:p xmlns:a="http://schemas.openxmlformats.org/drawingml/2006/main">
            <a:r>
              <a:t>        "baseline_test_mae": 219359.25,</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265459.0,</a:t>
            </a:r>
          </a:p>
          <a:p xmlns:a="http://schemas.openxmlformats.org/drawingml/2006/main">
            <a:r>
              <a:t>            "baseline": 141219.0,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136814.0,</a:t>
            </a:r>
          </a:p>
          <a:p xmlns:a="http://schemas.openxmlformats.org/drawingml/2006/main">
            <a:r>
              <a:t>            "baseline": 144459.5,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180437.5,</a:t>
            </a:r>
          </a:p>
          <a:p xmlns:a="http://schemas.openxmlformats.org/drawingml/2006/main">
            <a:r>
              <a:t>            "baseline": 297499.5,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7866027889.97,</a:t>
            </a:r>
          </a:p>
          <a:p xmlns:a="http://schemas.openxmlformats.org/drawingml/2006/main">
            <a:r>
              <a:t>        "baseline_test_mae": 8640464250.0,</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5070058833.0,</a:t>
            </a:r>
          </a:p>
          <a:p xmlns:a="http://schemas.openxmlformats.org/drawingml/2006/main">
            <a:r>
              <a:t>            "baseline": 11633402000.0,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2754801694.5,</a:t>
            </a:r>
          </a:p>
          <a:p xmlns:a="http://schemas.openxmlformats.org/drawingml/2006/main">
            <a:r>
              <a:t>            "baseline": 5588447000.0,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11586732430.5,</a:t>
            </a:r>
          </a:p>
          <a:p xmlns:a="http://schemas.openxmlformats.org/drawingml/2006/main">
            <a:r>
              <a:t>            "baseline": 5647526500.0,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0.03,</a:t>
            </a:r>
          </a:p>
          <a:p xmlns:a="http://schemas.openxmlformats.org/drawingml/2006/main">
            <a:r>
              <a:t>        "baseline_test_mae": 0.03,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0.04,</a:t>
            </a:r>
          </a:p>
          <a:p xmlns:a="http://schemas.openxmlformats.org/drawingml/2006/main">
            <a:r>
              <a:t>            "baseline":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0.5,</a:t>
            </a:r>
          </a:p>
          <a:p xmlns:a="http://schemas.openxmlformats.org/drawingml/2006/main">
            <a:r>
              <a:t>        "baseline_test_mae": 0.5,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0.7,</a:t>
            </a:r>
          </a:p>
          <a:p xmlns:a="http://schemas.openxmlformats.org/drawingml/2006/main">
            <a:r>
              <a:t>            "baseline":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0.55,</a:t>
            </a:r>
          </a:p>
          <a:p xmlns:a="http://schemas.openxmlformats.org/drawingml/2006/main">
            <a:r>
              <a:t>            "baseline":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0.3,</a:t>
            </a:r>
          </a:p>
          <a:p xmlns:a="http://schemas.openxmlformats.org/drawingml/2006/main">
            <a:r>
              <a:t>            "baseline":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138.75,</a:t>
            </a:r>
          </a:p>
          <a:p xmlns:a="http://schemas.openxmlformats.org/drawingml/2006/main">
            <a:r>
              <a:t>        "baseline_test_mae": 138.75,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41.0,</a:t>
            </a:r>
          </a:p>
          <a:p xmlns:a="http://schemas.openxmlformats.org/drawingml/2006/main">
            <a:r>
              <a:t>            "baseline":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208.5,</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236.5,</a:t>
            </a:r>
          </a:p>
          <a:p xmlns:a="http://schemas.openxmlformats.org/drawingml/2006/main">
            <a:r>
              <a:t>            "baseline":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29189.5,</a:t>
            </a:r>
          </a:p>
          <a:p xmlns:a="http://schemas.openxmlformats.org/drawingml/2006/main">
            <a:r>
              <a:t>        "baseline_test_mae": 29189.5,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11165.5,</a:t>
            </a:r>
          </a:p>
          <a:p xmlns:a="http://schemas.openxmlformats.org/drawingml/2006/main">
            <a:r>
              <a:t>            "baseline":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19541.0,</a:t>
            </a:r>
          </a:p>
          <a:p xmlns:a="http://schemas.openxmlformats.org/drawingml/2006/main">
            <a:r>
              <a:t>            "baseline":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47213.5,</a:t>
            </a:r>
          </a:p>
          <a:p xmlns:a="http://schemas.openxmlformats.org/drawingml/2006/main">
            <a:r>
              <a:t>            "baseline":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5915.25,</a:t>
            </a:r>
          </a:p>
          <a:p xmlns:a="http://schemas.openxmlformats.org/drawingml/2006/main">
            <a:r>
              <a:t>        "baseline_test_mae": 5915.25,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2259.5,</a:t>
            </a:r>
          </a:p>
          <a:p xmlns:a="http://schemas.openxmlformats.org/drawingml/2006/main">
            <a:r>
              <a:t>            "baseline":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5253.5,</a:t>
            </a:r>
          </a:p>
          <a:p xmlns:a="http://schemas.openxmlformats.org/drawingml/2006/main">
            <a:r>
              <a:t>            "baseline":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9571.0,</a:t>
            </a:r>
          </a:p>
          <a:p xmlns:a="http://schemas.openxmlformats.org/drawingml/2006/main">
            <a:r>
              <a:t>            "baseline":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방문자/2026_01_06.zip | https://datalab.visitkorea.or.kr/</a:t>
            </a:r>
          </a:p>
          <a:p>
            <a:r>
              <a:t>datalab:4833a91757b2:5c2efa032440 | 숙박_체류시간/2026_01_06.zip | https://datalab.visitkorea.or.kr/</a:t>
            </a:r>
          </a:p>
          <a:p>
            <a:r>
              <a:t>datalab:5d9f73f9fe47:2904d99e7279 | 숙박_체류시간/2025_01_12.zip | https://datalab.visitkorea.or.kr/</a:t>
            </a:r>
          </a:p>
          <a:p>
            <a:r>
              <a:t>datalab:95122c38b4fc:522e2d839300 | 관광소비/2026_01_06.zip | https://datalab.visitkorea.or.kr/</a:t>
            </a:r>
          </a:p>
          <a:p>
            <a:r>
              <a:t>datalab:d73227708014:f4517115deb9 | 방문자/2025_01_12.zip | https://datalab.visitkorea.or.kr/</a:t>
            </a:r>
          </a:p>
          <a:p>
            <a:r>
              <a:t>datalab:f07ad8a73d99:ed1b998de1b3 | 관광소비/2025_01_12.zip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"제주특별자치도_제주시/방문자/2026_01_06.zip"</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"제주특별자치도_제주시/숙박_체류시간/2026_01_06.zip"</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"제주특별자치도_제주시/숙박_체류시간/2025_01_12.zip"</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"제주특별자치도_제주시/관광소비/2026_01_06.zip"</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"제주특별자치도_제주시/방문자/2025_01_12.zip"</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"제주특별자치도_제주시/관광소비/2025_01_12.zip"</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방문자수/20260820140607__202601-202606_데이터랩_다운로드.zip"</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"이동통신/외국인/20260820141710_전국_202601-202606_데이터랩_다운로드.zip"</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관광지출액/20260820140046__202601-202606_데이터랩_다운로드.zip"</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관광지출액/20260820140355__202601-202606_데이터랩_다운로드.zip"</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검색건수/20260820195507__202601-202606_데이터랩_다운로드.zip"</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방문자수/20260820140614__202501-202512_데이터랩_다운로드.zip"</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"이동통신/외국인/20260820141649_전국_202501-202512_데이터랩_다운로드.zip"</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관광지출액/20260820135957__202501-202512_데이터랩_다운로드.zip"</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관광지출액/20260820140409__202501-202512_데이터랩_다운로드.zip"</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검색건수/20260820132007__202501-202512_데이터랩_다운로드.zip"</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방문자수/20260820140624__202401-202412_데이터랩_다운로드.zip"</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"이동통신/외국인/20260820141639_전국_202401-202412_데이터랩_다운로드.zip"</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방문자/2026_01_06.zip | https://datalab.visitkorea.or.kr/</a:t>
            </a:r>
          </a:p>
          <a:p>
            <a:r>
              <a:t>datalab:4833a91757b2:5c2efa032440 | 숙박_체류시간/2026_01_06.zip | https://datalab.visitkorea.or.kr/</a:t>
            </a:r>
          </a:p>
          <a:p>
            <a:r>
              <a:t>datalab:5d9f73f9fe47:2904d99e7279 | 숙박_체류시간/2025_01_12.zip | https://datalab.visitkorea.or.kr/</a:t>
            </a:r>
          </a:p>
          <a:p>
            <a:r>
              <a:t>datalab:95122c38b4fc:522e2d839300 | 관광소비/2026_01_06.zip | https://datalab.visitkorea.or.kr/</a:t>
            </a:r>
          </a:p>
          <a:p>
            <a:r>
              <a:t>datalab:d73227708014:f4517115deb9 | 방문자/2025_01_12.zip | https://datalab.visitkorea.or.kr/</a:t>
            </a:r>
          </a:p>
          <a:p>
            <a:r>
              <a:t>datalab:f07ad8a73d99:ed1b998de1b3 | 관광소비/2025_01_12.zip | https://datalab.visitkorea.or.kr/</a:t>
            </a:r>
          </a:p>
          <a:p>
            <a:r>
              <a:t>team-bigdata:23ea68053684:6bfbcf8aabf6 | 이동통신/내국인/지역별 방문자수/20260820140607__202601-202606_데이터랩_다운로드.zip | https://datalab.visitkorea.or.kr/</a:t>
            </a:r>
          </a:p>
          <a:p>
            <a:r>
              <a:t>team-bigdata:98d4ae590d9a:3be52dd54323 | 이동통신/외국인/20260820141710_전국_202601-202606_데이터랩_다운로드.zip | https://datalab.visitkorea.or.kr/</a:t>
            </a:r>
          </a:p>
          <a:p>
            <a:r>
              <a:t>team-bigdata:367cd0294ec4:873930d645e5 | 신용카드/내국인/지역별 관광지출액/20260820140046__202601-202606_데이터랩_다운로드.zip | https://datalab.visitkorea.or.kr/</a:t>
            </a:r>
          </a:p>
          <a:p>
            <a:r>
              <a:t>team-bigdata:553a0dad4bb4:5a31355dffe8 | 신용카드/외국인/지역별 관광지출액/20260820140355__202601-202606_데이터랩_다운로드.zip | https://datalab.visitkorea.or.kr/</a:t>
            </a:r>
          </a:p>
          <a:p>
            <a:r>
              <a:t>team-bigdata:a53dbe1c21df:77a052de41d5 | 지역별 검색건수/20260820195507__202601-202606_데이터랩_다운로드.zip | https://datalab.visitkorea.or.kr/</a:t>
            </a:r>
          </a:p>
          <a:p>
            <a:r>
              <a:t>team-bigdata:823a38d1d61c:5385261d02e5 | 이동통신/내국인/지역별 방문자수/20260820140614__202501-202512_데이터랩_다운로드.zip | https://datalab.visitkorea.or.kr/</a:t>
            </a:r>
          </a:p>
          <a:p>
            <a:r>
              <a:t>team-bigdata:2723bdb0d589:1666a34058ed | 이동통신/외국인/20260820141649_전국_202501-202512_데이터랩_다운로드.zip | https://datalab.visitkorea.or.kr/</a:t>
            </a:r>
          </a:p>
          <a:p>
            <a:r>
              <a:t>team-bigdata:83177a234971:c02cb7972e0f | 신용카드/내국인/지역별 관광지출액/20260820135957__202501-202512_데이터랩_다운로드.zip | https://datalab.visitkorea.or.kr/</a:t>
            </a:r>
          </a:p>
          <a:p>
            <a:r>
              <a:t>team-bigdata:58ded7732251:589c76395cbc | 신용카드/외국인/지역별 관광지출액/20260820140409__202501-202512_데이터랩_다운로드.zip | https://datalab.visitkorea.or.kr/</a:t>
            </a:r>
          </a:p>
          <a:p>
            <a:r>
              <a:t>team-bigdata:e28c947cb52f:bb4cb344a6ba | 지역별 검색건수/20260820132007__202501-202512_데이터랩_다운로드.zip | https://datalab.visitkorea.or.kr/</a:t>
            </a:r>
          </a:p>
          <a:p>
            <a:r>
              <a:t>team-bigdata:8815bbb11a39:1a5988f5f8ec | 이동통신/내국인/지역별 방문자수/20260820140624__202401-202412_데이터랩_다운로드.zip | https://datalab.visitkorea.or.kr/</a:t>
            </a:r>
          </a:p>
          <a:p>
            <a:r>
              <a:t>team-bigdata:19fd67fbb73d:afa4f0f54a2f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"제주특별자치도_제주시/방문자/2026_01_06.zip"</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"제주특별자치도_제주시/숙박_체류시간/2026_01_06.zip"</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"제주특별자치도_제주시/숙박_체류시간/2025_01_12.zip"</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"제주특별자치도_제주시/관광소비/2026_01_06.zip"</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"제주특별자치도_제주시/방문자/2025_01_12.zip"</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"source_file_name": "제주특별자치도_제주시/관광소비/2025_01_12.zip"</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방문자수/20260820140607__202601-202606_데이터랩_다운로드.zip"</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"이동통신/외국인/20260820141710_전국_202601-202606_데이터랩_다운로드.zip"</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관광지출액/20260820140046__202601-202606_데이터랩_다운로드.zip"</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관광지출액/20260820140355__202601-202606_데이터랩_다운로드.zip"</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검색건수/20260820195507__202601-202606_데이터랩_다운로드.zip"</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방문자수/20260820140614__202501-202512_데이터랩_다운로드.zip"</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"이동통신/외국인/20260820141649_전국_202501-202512_데이터랩_다운로드.zip"</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"신용카드/내국인/지역별 관광지출액/20260820135957__202501-202512_데이터랩_다운로드.zip"</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"신용카드/외국인/지역별 관광지출액/20260820140409__202501-202512_데이터랩_다운로드.zip"</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"네비게이션/지역별 검색건수/20260820132007__202501-202512_데이터랩_다운로드.zip"</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"이동통신/내국인/지역별 방문자수/20260820140624__202401-202412_데이터랩_다운로드.zip"</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"source_file_name": "이동통신/외국인/20260820141639_전국_202401-202412_데이터랩_다운로드.zip"</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"observed_findings": [</a:t>
            </a:r>
          </a:p>
          <a:p>
            <a:r>
              <a:t>    {</a:t>
            </a:r>
          </a:p>
          <a:p>
            <a:r>
              <a:t>      "metric": "월간 순 방문자 수",</a:t>
            </a:r>
          </a:p>
          <a:p>
            <a:r>
              <a:t>      "value": "3,131,476명",</a:t>
            </a:r>
          </a:p>
          <a:p>
            <a:r>
              <a:t>      "interpretation": "2026년 6월 기준, 전년 동월 대비 -8.9% 감소하며 방문객 감소 추세가 관측됨",</a:t>
            </a:r>
          </a:p>
          <a:p>
            <a:r>
              <a:t>      "source": "dataset:50110:1"</a:t>
            </a:r>
          </a:p>
          <a:p>
            <a:r>
              <a:t>    },</a:t>
            </a:r>
          </a:p>
          <a:p>
            <a:r>
              <a:t>    {</a:t>
            </a:r>
          </a:p>
          <a:p>
            <a:r>
              <a:t>      "metric": "내비게이션 목적지 검색량",</a:t>
            </a:r>
          </a:p>
          <a:p>
            <a:r>
              <a:t>      "value": "580,380건",</a:t>
            </a:r>
          </a:p>
          <a:p>
            <a:r>
              <a:t>      "interpretation": "제주시 내 관광 목적지에 대한 높은 관심이 확인되어 야간 프로그램 운영을 위한 잠재 수요로 판단됨",</a:t>
            </a:r>
          </a:p>
          <a:p>
            <a:r>
              <a:t>      "source": "dataset:50110:6"</a:t>
            </a:r>
          </a:p>
          <a:p>
            <a:r>
              <a:t>    },</a:t>
            </a:r>
          </a:p>
          <a:p>
            <a:r>
              <a:t>    {</a:t>
            </a:r>
          </a:p>
          <a:p>
            <a:r>
              <a:t>      "metric": "외지인 숙박 방문 비율",</a:t>
            </a:r>
          </a:p>
          <a:p>
            <a:r>
              <a:t>      "value": "21.0%",</a:t>
            </a:r>
          </a:p>
          <a:p>
            <a:r>
              <a:t>      "interpretation": "전체 방문객 중 숙박객 비중이 낮아 야간 체류 프로그램이 숙박 전환의 핵심 기제가 될 수 있음",</a:t>
            </a:r>
          </a:p>
          <a:p>
            <a:r>
              <a:t>      "source": "dataset:50110:4"</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korean-culture.org/koreanet/view.do?seq=1047457"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5.xm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apis.data.go.kr/B551011/KorService2" TargetMode="External"/><Relationship Id="rId3"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ecurity-label">
            <a:extLst xmlns:a="http://schemas.openxmlformats.org/drawingml/2006/main">
              <a:ext uri="{FF2B5EF4-FFF2-40B4-BE49-F238E27FC236}">
                <a16:creationId xmlns:a16="http://schemas.microsoft.com/office/drawing/2014/main" id="{EA7BB441-19DF-412D-93DE-6B5F825D6027}"/>
              </a:ext>
            </a:extLst>
          </p:cNvPr>
          <p:cNvSpPr>
            <a:spLocks xmlns:a="http://schemas.openxmlformats.org/drawingml/2006/main" noGrp="1"/>
          </p:cNvSpPr>
          <p:nvPr/>
        </p:nvSpPr>
        <p:spPr>
          <a:xfrm xmlns:a="http://schemas.openxmlformats.org/drawingml/2006/main">
            <a:off x="5829300" y="294322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200" b="1" i="0">
                <a:solidFill>
                  <a:srgbClr val="59636E"/>
                </a:solidFill>
                <a:latin typeface="Noto Sans KR"/>
                <a:ea typeface="Noto Sans KR"/>
                <a:cs typeface="Noto Sans KR"/>
              </a:defRPr>
            </a:pPr>
            <a:r>
              <a:rPr sz="1350" b="0" i="0">
                <a:solidFill>
                  <a:srgbClr val="59636E"/>
                </a:solidFill>
                <a:latin typeface="Noto Sans KR"/>
                <a:ea typeface="Noto Sans KR"/>
                <a:cs typeface="Noto Sans KR"/>
              </a:rPr>
              <a:t>관광사업 아이디어 제안</a:t>
            </a: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3525" b="1" i="0">
                <a:solidFill>
                  <a:srgbClr val="1B1F23"/>
                </a:solidFill>
                <a:latin typeface="Noto Sans KR"/>
                <a:ea typeface="Noto Sans KR"/>
                <a:cs typeface="Noto Sans KR"/>
              </a:rPr>
              <a:t>제주시 야간 문화유산 및 시설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4181475" y="4410075"/>
            <a:ext cx="6924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625" b="1">
                <a:solidFill>
                  <a:srgbClr val="1B1F23"/>
                </a:solidFill>
                <a:latin typeface="Noto Sans KR"/>
                <a:ea typeface="Noto Sans KR"/>
                <a:cs typeface="Noto Sans KR"/>
              </a:rPr>
              <a:t>개방 프로그램 실행 기획안</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6115050"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6343650" y="533400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650" b="0" i="0">
                <a:solidFill>
                  <a:srgbClr val="1B1F23"/>
                </a:solidFill>
                <a:latin typeface="Noto Sans KR"/>
                <a:ea typeface="Noto Sans KR"/>
                <a:cs typeface="Noto Sans KR"/>
              </a:rPr>
              <a:t>사업기간 2026.10 ~ 2026.12</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534525"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제주특별자치도 제주시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org-owner">
            <a:extLst xmlns:a="http://schemas.openxmlformats.org/drawingml/2006/main">
              <a:ext uri="{FF2B5EF4-FFF2-40B4-BE49-F238E27FC236}">
                <a16:creationId xmlns:a16="http://schemas.microsoft.com/office/drawing/2014/main" id="{2CD7CFDD-25BB-432C-BC3B-756F92EB8CFB}"/>
              </a:ext>
            </a:extLst>
          </p:cNvPr>
          <p:cNvSpPr>
            <a:spLocks xmlns:a="http://schemas.openxmlformats.org/drawingml/2006/main" noGrp="1"/>
          </p:cNvSpPr>
          <p:nvPr/>
        </p:nvSpPr>
        <p:spPr>
          <a:xfrm xmlns:a="http://schemas.openxmlformats.org/drawingml/2006/main">
            <a:off x="12334875" y="15811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r" eaLnBrk="0">
              <a:lnSpc>
                <a:spcPts val="1687"/>
              </a:lnSpc>
              <a:spcBef>
                <a:spcPts val="0"/>
              </a:spcBef>
              <a:spcAft>
                <a:spcPts val="0"/>
              </a:spcAft>
              <a:buNone/>
              <a:defRPr sz="1050" b="0" i="0">
                <a:solidFill>
                  <a:srgbClr val="59636E"/>
                </a:solidFill>
                <a:latin typeface="Noto Sans KR"/>
                <a:ea typeface="Noto Sans KR"/>
                <a:cs typeface="Noto Sans KR"/>
              </a:defRPr>
            </a:pPr>
            <a:r>
              <a:rPr sz="1350" b="0">
                <a:solidFill>
                  <a:srgbClr val="59636E"/>
                </a:solidFill>
                <a:latin typeface="Noto Sans KR"/>
              </a:rPr>
              <a:t>관광 전략 검토용</a:t>
            </a:r>
          </a:p>
        </p:txBody>
      </p:sp>
      <p:sp>
        <p:nvSpPr>
          <p:cNvPr id="15" name="report-number">
            <a:extLst xmlns:a="http://schemas.openxmlformats.org/drawingml/2006/main">
              <a:ext uri="{FF2B5EF4-FFF2-40B4-BE49-F238E27FC236}">
                <a16:creationId xmlns:a16="http://schemas.microsoft.com/office/drawing/2014/main" id="{91C450AB-B31C-4B87-BDB0-6281DFDBCBBA}"/>
              </a:ext>
            </a:extLst>
          </p:cNvPr>
          <p:cNvSpPr>
            <a:spLocks xmlns:a="http://schemas.openxmlformats.org/drawingml/2006/main" noGrp="1"/>
          </p:cNvSpPr>
          <p:nvPr/>
        </p:nvSpPr>
        <p:spPr>
          <a:xfrm xmlns:a="http://schemas.openxmlformats.org/drawingml/2006/main">
            <a:off x="1047750" y="6315075"/>
            <a:ext cx="35147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050" b="1" i="0">
                <a:solidFill>
                  <a:srgbClr val="00B7C9"/>
                </a:solidFill>
                <a:latin typeface="Noto Sans KR"/>
                <a:ea typeface="Noto Sans KR"/>
                <a:cs typeface="Noto Sans KR"/>
              </a:defRPr>
            </a:pPr>
            <a:r>
              <a:rPr sz="1200" b="1" i="0">
                <a:solidFill>
                  <a:srgbClr val="00B7C9"/>
                </a:solidFill>
                <a:latin typeface="Noto Sans KR"/>
                <a:ea typeface="Noto Sans KR"/>
                <a:cs typeface="Noto Sans KR"/>
              </a:rPr>
              <a:t>보고서 출력일 2026-09-15</a:t>
            </a: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제주시 관광 활성화 실행안</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top-brand">
            <a:extLst xmlns:a="http://schemas.openxmlformats.org/drawingml/2006/main">
              <a:ext uri="{FF2B5EF4-FFF2-40B4-BE49-F238E27FC236}">
                <a16:creationId xmlns:a16="http://schemas.microsoft.com/office/drawing/2014/main" id="{BC511F59-C000-4ABE-8C07-978065167F95}"/>
              </a:ext>
            </a:extLst>
          </p:cNvPr>
          <p:cNvSpPr>
            <a:spLocks xmlns:a="http://schemas.openxmlformats.org/drawingml/2006/main" noGrp="1"/>
          </p:cNvSpPr>
          <p:nvPr/>
        </p:nvSpPr>
        <p:spPr>
          <a:xfrm xmlns:a="http://schemas.openxmlformats.org/drawingml/2006/main">
            <a:off x="857250" y="3333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200" b="1" i="0">
                <a:solidFill>
                  <a:srgbClr val="004EA2"/>
                </a:solidFill>
                <a:latin typeface="Noto Sans KR"/>
                <a:ea typeface="Noto Sans KR"/>
                <a:cs typeface="Noto Sans KR"/>
              </a:defRPr>
            </a:pPr>
            <a:r>
              <a:rPr sz="1425" b="1" i="0">
                <a:solidFill>
                  <a:srgbClr val="004EA2"/>
                </a:solidFill>
                <a:latin typeface="Noto Sans KR"/>
                <a:ea typeface="Noto Sans KR"/>
                <a:cs typeface="Noto Sans KR"/>
              </a:rPr>
              <a:t>제주특별자치도 제주시 관광 전략기획안</a:t>
            </a:r>
          </a:p>
        </p:txBody>
      </p:sp>
      <p:sp>
        <p:nvSpPr>
          <p:cNvPr id="2" name="top-date">
            <a:extLst xmlns:a="http://schemas.openxmlformats.org/drawingml/2006/main">
              <a:ext uri="{FF2B5EF4-FFF2-40B4-BE49-F238E27FC236}">
                <a16:creationId xmlns:a16="http://schemas.microsoft.com/office/drawing/2014/main" id="{B2EA0AA8-9451-4577-B2DB-64FEA4AE440C}"/>
              </a:ext>
            </a:extLst>
          </p:cNvPr>
          <p:cNvSpPr>
            <a:spLocks xmlns:a="http://schemas.openxmlformats.org/drawingml/2006/main" noGrp="1"/>
          </p:cNvSpPr>
          <p:nvPr/>
        </p:nvSpPr>
        <p:spPr>
          <a:xfrm xmlns:a="http://schemas.openxmlformats.org/drawingml/2006/main">
            <a:off x="13049250" y="3238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200" b="1" i="0">
                <a:solidFill>
                  <a:srgbClr val="59636E"/>
                </a:solidFill>
                <a:latin typeface="Noto Sans KR"/>
                <a:ea typeface="Noto Sans KR"/>
                <a:cs typeface="Noto Sans KR"/>
              </a:defRPr>
            </a:pPr>
            <a:r>
              <a:rPr sz="1388" b="1" i="0">
                <a:solidFill>
                  <a:srgbClr val="59636E"/>
                </a:solidFill>
                <a:latin typeface="Noto Sans KR"/>
                <a:ea typeface="Noto Sans KR"/>
                <a:cs typeface="Noto Sans KR"/>
              </a:rPr>
              <a:t>2026. 09. 15</a:t>
            </a:r>
          </a:p>
        </p:txBody>
      </p:sp>
      <p:sp>
        <p:nvSpPr>
          <p:cNvPr id="3" name="top-rule">
            <a:extLst xmlns:a="http://schemas.openxmlformats.org/drawingml/2006/main">
              <a:ext uri="{FF2B5EF4-FFF2-40B4-BE49-F238E27FC236}">
                <a16:creationId xmlns:a16="http://schemas.microsoft.com/office/drawing/2014/main" id="{578AD546-B3C6-4345-964E-CA38D80C5C3B}"/>
              </a:ext>
            </a:extLst>
          </p:cNvPr>
          <p:cNvSpPr>
            <a:spLocks xmlns:a="http://schemas.openxmlformats.org/drawingml/2006/main" noGrp="1"/>
          </p:cNvSpPr>
          <p:nvPr/>
        </p:nvSpPr>
        <p:spPr>
          <a:xfrm xmlns:a="http://schemas.openxmlformats.org/drawingml/2006/main">
            <a:off x="28575" y="981075"/>
            <a:ext cx="15182850" cy="0"/>
          </a:xfrm>
          <a:prstGeom xmlns:a="http://schemas.openxmlformats.org/drawingml/2006/main" prst="line">
            <a:avLst/>
          </a:prstGeom>
          <a:noFill xmlns:a="http://schemas.openxmlformats.org/drawingml/2006/main"/>
          <a:ln xmlns:a="http://schemas.openxmlformats.org/drawingml/2006/main" w="9525">
            <a:solidFill>
              <a:srgbClr val="E5EAF0"/>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contents-rail">
            <a:extLst xmlns:a="http://schemas.openxmlformats.org/drawingml/2006/main">
              <a:ext uri="{FF2B5EF4-FFF2-40B4-BE49-F238E27FC236}">
                <a16:creationId xmlns:a16="http://schemas.microsoft.com/office/drawing/2014/main" id="{7FA9108D-F5FC-4EF8-882D-8BF062FDC348}"/>
              </a:ext>
            </a:extLst>
          </p:cNvPr>
          <p:cNvSpPr>
            <a:spLocks xmlns:a="http://schemas.openxmlformats.org/drawingml/2006/main" noGrp="1"/>
          </p:cNvSpPr>
          <p:nvPr/>
        </p:nvSpPr>
        <p:spPr>
          <a:xfrm xmlns:a="http://schemas.openxmlformats.org/drawingml/2006/main">
            <a:off x="28575" y="981075"/>
            <a:ext cx="4810125" cy="7591425"/>
          </a:xfrm>
          <a:prstGeom xmlns:a="http://schemas.openxmlformats.org/drawingml/2006/main" prst="rect">
            <a:avLst/>
          </a:prstGeom>
          <a:solidFill xmlns:a="http://schemas.openxmlformats.org/drawingml/2006/main">
            <a:srgbClr val="004E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contents-vertical">
            <a:extLst xmlns:a="http://schemas.openxmlformats.org/drawingml/2006/main">
              <a:ext uri="{FF2B5EF4-FFF2-40B4-BE49-F238E27FC236}">
                <a16:creationId xmlns:a16="http://schemas.microsoft.com/office/drawing/2014/main" id="{8A649E8C-B469-49E6-9B71-2587FA310B95}"/>
              </a:ext>
            </a:extLst>
          </p:cNvPr>
          <p:cNvSpPr>
            <a:spLocks xmlns:a="http://schemas.openxmlformats.org/drawingml/2006/main" noGrp="1"/>
          </p:cNvSpPr>
          <p:nvPr/>
        </p:nvSpPr>
        <p:spPr>
          <a:xfrm xmlns:a="http://schemas.openxmlformats.org/drawingml/2006/main" rot="-5400000">
            <a:off x="-866775" y="4162425"/>
            <a:ext cx="676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1667" lnSpcReduction="10000"/>
          </a:bodyPr>
          <a:lstStyle xmlns:a="http://schemas.openxmlformats.org/drawingml/2006/main"/>
          <a:p xmlns:a="http://schemas.openxmlformats.org/drawingml/2006/main">
            <a:pPr algn="ctr" eaLnBrk="0">
              <a:buNone/>
              <a:defRPr sz="7500" b="1" i="0">
                <a:solidFill>
                  <a:srgbClr val="2B6CB2"/>
                </a:solidFill>
                <a:latin typeface="Noto Sans KR"/>
                <a:ea typeface="Noto Sans KR"/>
                <a:cs typeface="Noto Sans KR"/>
              </a:defRPr>
            </a:pPr>
            <a:r>
              <a:rPr sz="7500" b="1" i="0">
                <a:solidFill>
                  <a:srgbClr val="2B6CB2"/>
                </a:solidFill>
                <a:latin typeface="Noto Sans KR"/>
                <a:ea typeface="Noto Sans KR"/>
                <a:cs typeface="Noto Sans KR"/>
              </a:rPr>
              <a:t>CONTENTS</a:t>
            </a:r>
          </a:p>
        </p:txBody>
      </p:sp>
      <p:sp>
        <p:nvSpPr>
          <p:cNvPr id="6" name="contents-en">
            <a:extLst xmlns:a="http://schemas.openxmlformats.org/drawingml/2006/main">
              <a:ext uri="{FF2B5EF4-FFF2-40B4-BE49-F238E27FC236}">
                <a16:creationId xmlns:a16="http://schemas.microsoft.com/office/drawing/2014/main" id="{A4545508-3408-4837-8886-DBD8CE263FDE}"/>
              </a:ext>
            </a:extLst>
          </p:cNvPr>
          <p:cNvSpPr>
            <a:spLocks xmlns:a="http://schemas.openxmlformats.org/drawingml/2006/main" noGrp="1"/>
          </p:cNvSpPr>
          <p:nvPr/>
        </p:nvSpPr>
        <p:spPr>
          <a:xfrm xmlns:a="http://schemas.openxmlformats.org/drawingml/2006/main">
            <a:off x="419100" y="40195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725" b="1" i="0">
                <a:solidFill>
                  <a:srgbClr val="00C1D4"/>
                </a:solidFill>
                <a:latin typeface="Noto Sans KR"/>
                <a:ea typeface="Noto Sans KR"/>
                <a:cs typeface="Noto Sans KR"/>
              </a:defRPr>
            </a:pPr>
            <a:r>
              <a:rPr sz="1725" b="1" i="0">
                <a:solidFill>
                  <a:srgbClr val="00B7C9"/>
                </a:solidFill>
                <a:latin typeface="Noto Sans KR"/>
                <a:ea typeface="Noto Sans KR"/>
                <a:cs typeface="Noto Sans KR"/>
              </a:rPr>
              <a:t>TABLE OF CONTENTS</a:t>
            </a:r>
          </a:p>
        </p:txBody>
      </p:sp>
      <p:sp>
        <p:nvSpPr>
          <p:cNvPr id="7" name="contents-ko">
            <a:extLst xmlns:a="http://schemas.openxmlformats.org/drawingml/2006/main">
              <a:ext uri="{FF2B5EF4-FFF2-40B4-BE49-F238E27FC236}">
                <a16:creationId xmlns:a16="http://schemas.microsoft.com/office/drawing/2014/main" id="{99A460E5-8765-444E-944E-1A8069ABC357}"/>
              </a:ext>
            </a:extLst>
          </p:cNvPr>
          <p:cNvSpPr>
            <a:spLocks xmlns:a="http://schemas.openxmlformats.org/drawingml/2006/main" noGrp="1"/>
          </p:cNvSpPr>
          <p:nvPr/>
        </p:nvSpPr>
        <p:spPr>
          <a:xfrm xmlns:a="http://schemas.openxmlformats.org/drawingml/2006/main">
            <a:off x="1257300" y="46005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925" b="1" i="0">
                <a:solidFill>
                  <a:srgbClr val="FFFFFF"/>
                </a:solidFill>
                <a:latin typeface="Noto Sans KR"/>
                <a:ea typeface="Noto Sans KR"/>
                <a:cs typeface="Noto Sans KR"/>
              </a:defRPr>
            </a:pPr>
            <a:r>
              <a:rPr sz="2925" b="1" i="0">
                <a:solidFill>
                  <a:srgbClr val="FFFFFF"/>
                </a:solidFill>
                <a:latin typeface="Noto Sans KR"/>
                <a:ea typeface="Noto Sans KR"/>
                <a:cs typeface="Noto Sans KR"/>
              </a:rPr>
              <a:t>목차 안내</a:t>
            </a:r>
          </a:p>
        </p:txBody>
      </p:sp>
      <p:sp>
        <p:nvSpPr>
          <p:cNvPr id="8" name="contents-orange">
            <a:extLst xmlns:a="http://schemas.openxmlformats.org/drawingml/2006/main">
              <a:ext uri="{FF2B5EF4-FFF2-40B4-BE49-F238E27FC236}">
                <a16:creationId xmlns:a16="http://schemas.microsoft.com/office/drawing/2014/main" id="{D5323B82-A54D-47BA-8350-BCD7E58DB666}"/>
              </a:ext>
            </a:extLst>
          </p:cNvPr>
          <p:cNvSpPr>
            <a:spLocks xmlns:a="http://schemas.openxmlformats.org/drawingml/2006/main" noGrp="1"/>
          </p:cNvSpPr>
          <p:nvPr/>
        </p:nvSpPr>
        <p:spPr>
          <a:xfrm xmlns:a="http://schemas.openxmlformats.org/drawingml/2006/main">
            <a:off x="2057400" y="5381625"/>
            <a:ext cx="704850" cy="0"/>
          </a:xfrm>
          <a:prstGeom xmlns:a="http://schemas.openxmlformats.org/drawingml/2006/main" prst="line">
            <a:avLst/>
          </a:prstGeom>
          <a:noFill xmlns:a="http://schemas.openxmlformats.org/drawingml/2006/main"/>
          <a:ln xmlns:a="http://schemas.openxmlformats.org/drawingml/2006/main" w="3810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xmlns:a="http://schemas.openxmlformats.org/drawingml/2006/main">
        <p:nvSpPr>
          <p:cNvPr id="40" name="toc-0-number"/>
          <p:cNvSpPr txBox="1"/>
          <p:nvPr/>
        </p:nvSpPr>
        <p:spPr>
          <a:xfrm>
            <a:off x="53530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01</a:t>
            </a:r>
          </a:p>
        </p:txBody>
      </p:sp>
      <p:sp xmlns:a="http://schemas.openxmlformats.org/drawingml/2006/main">
        <p:nvSpPr>
          <p:cNvPr id="41" name="toc-0-label"/>
          <p:cNvSpPr txBox="1"/>
          <p:nvPr/>
        </p:nvSpPr>
        <p:spPr>
          <a:xfrm>
            <a:off x="59721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프로젝트 개요</a:t>
            </a:r>
          </a:p>
        </p:txBody>
      </p:sp>
      <p:sp xmlns:a="http://schemas.openxmlformats.org/drawingml/2006/main">
        <p:nvSpPr>
          <p:cNvPr id="42" name="toc-1-number"/>
          <p:cNvSpPr txBox="1"/>
          <p:nvPr/>
        </p:nvSpPr>
        <p:spPr>
          <a:xfrm>
            <a:off x="53530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02</a:t>
            </a:r>
          </a:p>
        </p:txBody>
      </p:sp>
      <p:sp xmlns:a="http://schemas.openxmlformats.org/drawingml/2006/main">
        <p:nvSpPr>
          <p:cNvPr id="43" name="toc-1-label"/>
          <p:cNvSpPr txBox="1"/>
          <p:nvPr/>
        </p:nvSpPr>
        <p:spPr>
          <a:xfrm>
            <a:off x="59721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사업 설계와 3개월 목표</a:t>
            </a:r>
          </a:p>
        </p:txBody>
      </p:sp>
      <p:sp xmlns:a="http://schemas.openxmlformats.org/drawingml/2006/main">
        <p:nvSpPr>
          <p:cNvPr id="44" name="toc-2-number"/>
          <p:cNvSpPr txBox="1"/>
          <p:nvPr/>
        </p:nvSpPr>
        <p:spPr>
          <a:xfrm>
            <a:off x="53530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03</a:t>
            </a:r>
          </a:p>
        </p:txBody>
      </p:sp>
      <p:sp xmlns:a="http://schemas.openxmlformats.org/drawingml/2006/main">
        <p:nvSpPr>
          <p:cNvPr id="45" name="toc-2-label"/>
          <p:cNvSpPr txBox="1"/>
          <p:nvPr/>
        </p:nvSpPr>
        <p:spPr>
          <a:xfrm>
            <a:off x="59721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지역별 참고 사례</a:t>
            </a:r>
          </a:p>
        </p:txBody>
      </p:sp>
      <p:sp xmlns:a="http://schemas.openxmlformats.org/drawingml/2006/main">
        <p:nvSpPr>
          <p:cNvPr id="46" name="toc-3-number"/>
          <p:cNvSpPr txBox="1"/>
          <p:nvPr/>
        </p:nvSpPr>
        <p:spPr>
          <a:xfrm>
            <a:off x="53530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04</a:t>
            </a:r>
          </a:p>
        </p:txBody>
      </p:sp>
      <p:sp xmlns:a="http://schemas.openxmlformats.org/drawingml/2006/main">
        <p:nvSpPr>
          <p:cNvPr id="47" name="toc-3-label"/>
          <p:cNvSpPr txBox="1"/>
          <p:nvPr/>
        </p:nvSpPr>
        <p:spPr>
          <a:xfrm>
            <a:off x="59721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선정과 지역 적용</a:t>
            </a:r>
          </a:p>
        </p:txBody>
      </p:sp>
      <p:sp xmlns:a="http://schemas.openxmlformats.org/drawingml/2006/main">
        <p:nvSpPr>
          <p:cNvPr id="48" name="toc-4-number"/>
          <p:cNvSpPr txBox="1"/>
          <p:nvPr/>
        </p:nvSpPr>
        <p:spPr>
          <a:xfrm>
            <a:off x="53530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05</a:t>
            </a:r>
          </a:p>
        </p:txBody>
      </p:sp>
      <p:sp xmlns:a="http://schemas.openxmlformats.org/drawingml/2006/main">
        <p:nvSpPr>
          <p:cNvPr id="49" name="toc-4-label"/>
          <p:cNvSpPr txBox="1"/>
          <p:nvPr/>
        </p:nvSpPr>
        <p:spPr>
          <a:xfrm>
            <a:off x="59721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4단계 실행 가이드 예시안</a:t>
            </a:r>
          </a:p>
        </p:txBody>
      </p:sp>
      <p:sp xmlns:a="http://schemas.openxmlformats.org/drawingml/2006/main">
        <p:nvSpPr>
          <p:cNvPr id="50" name="toc-5-number"/>
          <p:cNvSpPr txBox="1"/>
          <p:nvPr/>
        </p:nvSpPr>
        <p:spPr>
          <a:xfrm>
            <a:off x="104965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06</a:t>
            </a:r>
          </a:p>
        </p:txBody>
      </p:sp>
      <p:sp xmlns:a="http://schemas.openxmlformats.org/drawingml/2006/main">
        <p:nvSpPr>
          <p:cNvPr id="51" name="toc-5-label"/>
          <p:cNvSpPr txBox="1"/>
          <p:nvPr/>
        </p:nvSpPr>
        <p:spPr>
          <a:xfrm>
            <a:off x="111156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ML 전망과 목표 KPI</a:t>
            </a:r>
          </a:p>
        </p:txBody>
      </p:sp>
      <p:sp xmlns:a="http://schemas.openxmlformats.org/drawingml/2006/main">
        <p:nvSpPr>
          <p:cNvPr id="52" name="toc-6-number"/>
          <p:cNvSpPr txBox="1"/>
          <p:nvPr/>
        </p:nvSpPr>
        <p:spPr>
          <a:xfrm>
            <a:off x="104965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07</a:t>
            </a:r>
          </a:p>
        </p:txBody>
      </p:sp>
      <p:sp xmlns:a="http://schemas.openxmlformats.org/drawingml/2006/main">
        <p:nvSpPr>
          <p:cNvPr id="53" name="toc-6-label"/>
          <p:cNvSpPr txBox="1"/>
          <p:nvPr/>
        </p:nvSpPr>
        <p:spPr>
          <a:xfrm>
            <a:off x="111156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실적과 목표 설정</a:t>
            </a:r>
          </a:p>
        </p:txBody>
      </p:sp>
      <p:sp xmlns:a="http://schemas.openxmlformats.org/drawingml/2006/main">
        <p:nvSpPr>
          <p:cNvPr id="54" name="toc-7-number"/>
          <p:cNvSpPr txBox="1"/>
          <p:nvPr/>
        </p:nvSpPr>
        <p:spPr>
          <a:xfrm>
            <a:off x="104965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08</a:t>
            </a:r>
          </a:p>
        </p:txBody>
      </p:sp>
      <p:sp xmlns:a="http://schemas.openxmlformats.org/drawingml/2006/main">
        <p:nvSpPr>
          <p:cNvPr id="55" name="toc-7-label"/>
          <p:cNvSpPr txBox="1"/>
          <p:nvPr/>
        </p:nvSpPr>
        <p:spPr>
          <a:xfrm>
            <a:off x="111156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견적 예시안</a:t>
            </a:r>
          </a:p>
        </p:txBody>
      </p:sp>
      <p:sp xmlns:a="http://schemas.openxmlformats.org/drawingml/2006/main">
        <p:nvSpPr>
          <p:cNvPr id="56" name="toc-8-number"/>
          <p:cNvSpPr txBox="1"/>
          <p:nvPr/>
        </p:nvSpPr>
        <p:spPr>
          <a:xfrm>
            <a:off x="104965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09</a:t>
            </a:r>
          </a:p>
        </p:txBody>
      </p:sp>
      <p:sp xmlns:a="http://schemas.openxmlformats.org/drawingml/2006/main">
        <p:nvSpPr>
          <p:cNvPr id="57" name="toc-8-label"/>
          <p:cNvSpPr txBox="1"/>
          <p:nvPr/>
        </p:nvSpPr>
        <p:spPr>
          <a:xfrm>
            <a:off x="111156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산출 근거와 사례 선정 과정</a:t>
            </a:r>
          </a:p>
        </p:txBody>
      </p:sp>
      <p:sp xmlns:a="http://schemas.openxmlformats.org/drawingml/2006/main">
        <p:nvSpPr>
          <p:cNvPr id="58" name="toc-9-number"/>
          <p:cNvSpPr txBox="1"/>
          <p:nvPr/>
        </p:nvSpPr>
        <p:spPr>
          <a:xfrm>
            <a:off x="104965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10</a:t>
            </a:r>
          </a:p>
        </p:txBody>
      </p:sp>
      <p:sp xmlns:a="http://schemas.openxmlformats.org/drawingml/2006/main">
        <p:nvSpPr>
          <p:cNvPr id="59" name="toc-9-label"/>
          <p:cNvSpPr txBox="1"/>
          <p:nvPr/>
        </p:nvSpPr>
        <p:spPr>
          <a:xfrm>
            <a:off x="111156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근거·데이터·출처 및 맺음말</a:t>
            </a: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3" name="title-rule">
            <a:extLst xmlns:a="http://schemas.openxmlformats.org/drawingml/2006/main">
              <a:ext uri="{FF2B5EF4-FFF2-40B4-BE49-F238E27FC236}">
                <a16:creationId xmlns:a16="http://schemas.microsoft.com/office/drawing/2014/main" id="{7BB0242C-FDEC-4963-ABFB-596DC97C0148}"/>
              </a:ext>
            </a:extLst>
          </p:cNvPr>
          <p:cNvSpPr>
            <a:spLocks xmlns:a="http://schemas.openxmlformats.org/drawingml/2006/main" noGrp="1"/>
          </p:cNvSpPr>
          <p:nvPr/>
        </p:nvSpPr>
        <p:spPr>
          <a:xfrm xmlns:a="http://schemas.openxmlformats.org/drawingml/2006/main">
            <a:off x="4772025" y="2152650"/>
            <a:ext cx="104394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556"/>
            </a:avLst>
          </a:prstGeom>
          <a:solidFill xmlns:a="http://schemas.openxmlformats.org/drawingml/2006/main">
            <a:srgbClr val="0B2F5B"/>
          </a:solidFill>
          <a:ln xmlns:a="http://schemas.openxmlformats.org/drawingml/2006/main" w="9525">
            <a:solidFill>
              <a:srgbClr val="0B2F5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l"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343525" y="762000"/>
            <a:ext cx="9048750" cy="1285875"/>
          </a:xfrm>
          <a:prstGeom prst="rect">
            <a:avLst/>
          </a:prstGeom>
          <a:noFill/>
        </p:spPr>
        <p:txBody>
          <a:bodyPr wrap="none" lIns="57150" rIns="57150" tIns="38100" bIns="38100" anchor="t">
            <a:noAutofit/>
          </a:bodyPr>
          <a:lstStyle/>
          <a:p>
            <a:pPr eaLnBrk="0">
              <a:lnSpc>
                <a:spcPts val="4312"/>
              </a:lnSpc>
              <a:spcBef>
                <a:spcPts val="0"/>
              </a:spcBef>
              <a:spcAft>
                <a:spcPts val="0"/>
              </a:spcAft>
            </a:pPr>
            <a:r>
              <a:rPr sz="3450" b="1">
                <a:solidFill>
                  <a:srgbClr val="004EA2"/>
                </a:solidFill>
                <a:latin typeface="Noto Sans KR"/>
              </a:rPr>
              <a:t>제주시 야간 문화유산 및 시설 개방 프로그램</a:t>
            </a:r>
          </a:p>
        </p:txBody>
      </p:sp>
      <p:sp xmlns:a="http://schemas.openxmlformats.org/drawingml/2006/main">
        <p:nvSpPr>
          <p:cNvPr id="35" name="s3-thesis"/>
          <p:cNvSpPr txBox="1"/>
          <p:nvPr/>
        </p:nvSpPr>
        <p:spPr>
          <a:xfrm>
            <a:off x="5343525" y="2619375"/>
            <a:ext cx="8524875" cy="18097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1D2227"/>
                </a:solidFill>
                <a:latin typeface="Noto Sans KR"/>
              </a:rPr>
              <a:t>제주시 내 박물관, 공연장, 문화유산 등 기존 시설을 활용하여</a:t>
            </a:r>
          </a:p>
          <a:p>
            <a:pPr eaLnBrk="0">
              <a:lnSpc>
                <a:spcPts val="3187"/>
              </a:lnSpc>
              <a:spcBef>
                <a:spcPts val="0"/>
              </a:spcBef>
              <a:spcAft>
                <a:spcPts val="0"/>
              </a:spcAft>
            </a:pPr>
            <a:r>
              <a:rPr sz="2550" b="1">
                <a:solidFill>
                  <a:srgbClr val="1D2227"/>
                </a:solidFill>
                <a:latin typeface="Noto Sans KR"/>
              </a:rPr>
              <a:t>야간 개방 및 체험 프로그램을 확대 운영</a:t>
            </a:r>
          </a:p>
        </p:txBody>
      </p:sp>
      <p:sp xmlns:a="http://schemas.openxmlformats.org/drawingml/2006/main">
        <p:nvSpPr>
          <p:cNvPr id="36" name="s3-detail-label"/>
          <p:cNvSpPr txBox="1"/>
          <p:nvPr/>
        </p:nvSpPr>
        <p:spPr>
          <a:xfrm>
            <a:off x="5343525" y="4762500"/>
            <a:ext cx="8524875" cy="4286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사업 대상과 운영 범위</a:t>
            </a:r>
          </a:p>
        </p:txBody>
      </p:sp>
      <p:sp xmlns:a="http://schemas.openxmlformats.org/drawingml/2006/main">
        <p:nvSpPr>
          <p:cNvPr id="37" name="s3-detail"/>
          <p:cNvSpPr txBox="1"/>
          <p:nvPr/>
        </p:nvSpPr>
        <p:spPr>
          <a:xfrm>
            <a:off x="5343525" y="5276850"/>
            <a:ext cx="8524875" cy="9048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제주시 내 박물관, 공연장, 문화유산 등 기존 시설을 활용하여 야간 개방 및 체험 프로그램을 이용하는 방문객</a:t>
            </a:r>
          </a:p>
          <a:p>
            <a:pPr eaLnBrk="0">
              <a:lnSpc>
                <a:spcPts val="1781"/>
              </a:lnSpc>
              <a:spcBef>
                <a:spcPts val="0"/>
              </a:spcBef>
              <a:spcAft>
                <a:spcPts val="0"/>
              </a:spcAft>
            </a:pPr>
            <a:r>
              <a:rPr sz="1425" b="0">
                <a:solidFill>
                  <a:srgbClr val="59636E"/>
                </a:solidFill>
                <a:latin typeface="Noto Sans KR"/>
              </a:rPr>
              <a:t>제주시 내 박물관, 공연장, 문화유산 등 기존 시설을 활용하여 야간 개방 및 체험 프로그램을 확대 운영</a:t>
            </a:r>
          </a:p>
          <a:p>
            <a:pPr eaLnBrk="0">
              <a:lnSpc>
                <a:spcPts val="1781"/>
              </a:lnSpc>
              <a:spcBef>
                <a:spcPts val="0"/>
              </a:spcBef>
              <a:spcAft>
                <a:spcPts val="0"/>
              </a:spcAft>
            </a:pPr>
            <a:r>
              <a:rPr sz="1425" b="0">
                <a:solidFill>
                  <a:srgbClr val="59636E"/>
                </a:solidFill>
                <a:latin typeface="Noto Sans KR"/>
              </a:rPr>
              <a:t>2026-10 ~ 2026-12, 3개월</a:t>
            </a:r>
          </a:p>
        </p:txBody>
      </p:sp>
      <p:sp xmlns:a="http://schemas.openxmlformats.org/drawingml/2006/main">
        <p:nvSpPr>
          <p:cNvPr id="38" name="s3-goal-label"/>
          <p:cNvSpPr txBox="1"/>
          <p:nvPr/>
        </p:nvSpPr>
        <p:spPr>
          <a:xfrm>
            <a:off x="5343525" y="6429375"/>
            <a:ext cx="8524875"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사업의 목표 · 3개월 월별 합계 기준</a:t>
            </a:r>
          </a:p>
        </p:txBody>
      </p:sp>
      <p:sp xmlns:a="http://schemas.openxmlformats.org/drawingml/2006/main">
        <p:nvSpPr>
          <p:cNvPr id="39" name="s3-goal-panel-0"/>
          <p:cNvSpPr/>
          <p:nvPr/>
        </p:nvSpPr>
        <p:spPr>
          <a:xfrm>
            <a:off x="5343525" y="6934200"/>
            <a:ext cx="4171950" cy="125730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s3-goal-name-0"/>
          <p:cNvSpPr txBox="1"/>
          <p:nvPr/>
        </p:nvSpPr>
        <p:spPr>
          <a:xfrm>
            <a:off x="5486400" y="7038975"/>
            <a:ext cx="38100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방문자 수</a:t>
            </a:r>
          </a:p>
        </p:txBody>
      </p:sp>
      <p:sp xmlns:a="http://schemas.openxmlformats.org/drawingml/2006/main">
        <p:nvSpPr>
          <p:cNvPr id="41" name="s3-goal-value-0"/>
          <p:cNvSpPr txBox="1"/>
          <p:nvPr/>
        </p:nvSpPr>
        <p:spPr>
          <a:xfrm>
            <a:off x="5486400" y="7391400"/>
            <a:ext cx="3848100" cy="3905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6B00"/>
                </a:solidFill>
                <a:latin typeface="Noto Sans KR"/>
              </a:rPr>
              <a:t>↑ 348,601명</a:t>
            </a:r>
          </a:p>
        </p:txBody>
      </p:sp>
      <p:sp xmlns:a="http://schemas.openxmlformats.org/drawingml/2006/main">
        <p:nvSpPr>
          <p:cNvPr id="42" name="s3-goal-pct-0"/>
          <p:cNvSpPr txBox="1"/>
          <p:nvPr/>
        </p:nvSpPr>
        <p:spPr>
          <a:xfrm>
            <a:off x="5486400" y="7829550"/>
            <a:ext cx="38481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기준 전망 대비 +3.29% · 계획 목표</a:t>
            </a:r>
          </a:p>
        </p:txBody>
      </p:sp>
      <p:sp xmlns:a="http://schemas.openxmlformats.org/drawingml/2006/main">
        <p:nvSpPr>
          <p:cNvPr id="43" name="s3-goal-panel-1"/>
          <p:cNvSpPr/>
          <p:nvPr/>
        </p:nvSpPr>
        <p:spPr>
          <a:xfrm>
            <a:off x="9715500" y="6934200"/>
            <a:ext cx="4171950" cy="125730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s3-goal-name-1"/>
          <p:cNvSpPr txBox="1"/>
          <p:nvPr/>
        </p:nvSpPr>
        <p:spPr>
          <a:xfrm>
            <a:off x="9858375" y="7038975"/>
            <a:ext cx="38100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관광소비액</a:t>
            </a:r>
          </a:p>
        </p:txBody>
      </p:sp>
      <p:sp xmlns:a="http://schemas.openxmlformats.org/drawingml/2006/main">
        <p:nvSpPr>
          <p:cNvPr id="45" name="s3-goal-value-1"/>
          <p:cNvSpPr txBox="1"/>
          <p:nvPr/>
        </p:nvSpPr>
        <p:spPr>
          <a:xfrm>
            <a:off x="9858375" y="7391400"/>
            <a:ext cx="3848100" cy="3905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6B00"/>
                </a:solidFill>
                <a:latin typeface="Noto Sans KR"/>
              </a:rPr>
              <a:t>↑ 148.12억 원</a:t>
            </a:r>
          </a:p>
        </p:txBody>
      </p:sp>
      <p:sp xmlns:a="http://schemas.openxmlformats.org/drawingml/2006/main">
        <p:nvSpPr>
          <p:cNvPr id="46" name="s3-goal-pct-1"/>
          <p:cNvSpPr txBox="1"/>
          <p:nvPr/>
        </p:nvSpPr>
        <p:spPr>
          <a:xfrm>
            <a:off x="9858375" y="7829550"/>
            <a:ext cx="38481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기준 전망 대비 +3.33% · 계획 목표</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사업 설계와 3개월 목표</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block-0"/>
          <p:cNvSpPr/>
          <p:nvPr/>
        </p:nvSpPr>
        <p:spPr>
          <a:xfrm>
            <a:off x="10096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block-rail-0"/>
          <p:cNvSpPr/>
          <p:nvPr/>
        </p:nvSpPr>
        <p:spPr>
          <a:xfrm>
            <a:off x="10096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제주시 내 박물관, 공연장, 문화유산 등</a:t>
            </a:r>
          </a:p>
          <a:p>
            <a:pPr eaLnBrk="0">
              <a:lnSpc>
                <a:spcPts val="2156"/>
              </a:lnSpc>
              <a:spcBef>
                <a:spcPts val="0"/>
              </a:spcBef>
              <a:spcAft>
                <a:spcPts val="0"/>
              </a:spcAft>
            </a:pPr>
            <a:r>
              <a:rPr sz="1725" b="0">
                <a:solidFill>
                  <a:srgbClr val="59636E"/>
                </a:solidFill>
                <a:latin typeface="Noto Sans KR"/>
              </a:rPr>
              <a:t>기존 시설을 활용하여 야간 개방 및 체험</a:t>
            </a:r>
          </a:p>
          <a:p>
            <a:pPr eaLnBrk="0">
              <a:lnSpc>
                <a:spcPts val="2156"/>
              </a:lnSpc>
              <a:spcBef>
                <a:spcPts val="0"/>
              </a:spcBef>
              <a:spcAft>
                <a:spcPts val="0"/>
              </a:spcAft>
            </a:pPr>
            <a:r>
              <a:rPr sz="1725" b="0">
                <a:solidFill>
                  <a:srgbClr val="59636E"/>
                </a:solidFill>
                <a:latin typeface="Noto Sans KR"/>
              </a:rPr>
              <a:t>프로그램을 확대 운영</a:t>
            </a:r>
          </a:p>
        </p:txBody>
      </p:sp>
      <p:sp xmlns:a="http://schemas.openxmlformats.org/drawingml/2006/main">
        <p:nvSpPr>
          <p:cNvPr id="8" name="block-1"/>
          <p:cNvSpPr/>
          <p:nvPr/>
        </p:nvSpPr>
        <p:spPr>
          <a:xfrm>
            <a:off x="548640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block-rail-1"/>
          <p:cNvSpPr/>
          <p:nvPr/>
        </p:nvSpPr>
        <p:spPr>
          <a:xfrm>
            <a:off x="5486400" y="2057400"/>
            <a:ext cx="57150" cy="1971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2026-10 ~ 2026-12, 3개월</a:t>
            </a:r>
          </a:p>
          <a:p>
            <a:pPr eaLnBrk="0">
              <a:lnSpc>
                <a:spcPts val="2156"/>
              </a:lnSpc>
              <a:spcBef>
                <a:spcPts val="0"/>
              </a:spcBef>
              <a:spcAft>
                <a:spcPts val="0"/>
              </a:spcAft>
            </a:pPr>
            <a:r>
              <a:rPr sz="1725" b="0">
                <a:solidFill>
                  <a:srgbClr val="59636E"/>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block-rail-2"/>
          <p:cNvSpPr/>
          <p:nvPr/>
        </p:nvSpPr>
        <p:spPr>
          <a:xfrm>
            <a:off x="99631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3개월 월별 합계</a:t>
            </a:r>
          </a:p>
          <a:p>
            <a:pPr eaLnBrk="0">
              <a:lnSpc>
                <a:spcPts val="2156"/>
              </a:lnSpc>
              <a:spcBef>
                <a:spcPts val="0"/>
              </a:spcBef>
              <a:spcAft>
                <a:spcPts val="0"/>
              </a:spcAft>
            </a:pPr>
            <a:r>
              <a:rPr sz="1725" b="0">
                <a:solidFill>
                  <a:srgbClr val="59636E"/>
                </a:solidFill>
                <a:latin typeface="Noto Sans KR"/>
              </a:rPr>
              <a:t>방문자 1,093만 명</a:t>
            </a:r>
          </a:p>
          <a:p>
            <a:pPr eaLnBrk="0">
              <a:lnSpc>
                <a:spcPts val="2156"/>
              </a:lnSpc>
              <a:spcBef>
                <a:spcPts val="0"/>
              </a:spcBef>
              <a:spcAft>
                <a:spcPts val="0"/>
              </a:spcAft>
            </a:pPr>
            <a:r>
              <a:rPr sz="1725" b="0">
                <a:solidFill>
                  <a:srgbClr val="59636E"/>
                </a:solidFill>
                <a:latin typeface="Noto Sans KR"/>
              </a:rPr>
              <a:t>관광소비액 4,597억 원</a:t>
            </a:r>
          </a:p>
        </p:txBody>
      </p:sp>
      <p:sp xmlns:a="http://schemas.openxmlformats.org/drawingml/2006/main">
        <p:nvSpPr>
          <p:cNvPr id="16" name="chart-panel-0"/>
          <p:cNvSpPr/>
          <p:nvPr/>
        </p:nvSpPr>
        <p:spPr>
          <a:xfrm>
            <a:off x="100965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23" name="chart-panel-1"/>
          <p:cNvSpPr/>
          <p:nvPr/>
        </p:nvSpPr>
        <p:spPr>
          <a:xfrm>
            <a:off x="781050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30" name="comparison-note"/>
          <p:cNvSpPr txBox="1"/>
          <p:nvPr/>
        </p:nvSpPr>
        <p:spPr>
          <a:xfrm>
            <a:off x="1009650" y="7724775"/>
            <a:ext cx="13220700" cy="600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ML 기준: 202401~202606 월별 지표의 1·3·12개월 전 값과 계절 정보를 저장 모델에 입력. 목표: 기준 전망 × (1 + 최종월 목표율 × 경과월/전체월).</a:t>
            </a:r>
          </a:p>
          <a:p>
            <a:pPr eaLnBrk="0">
              <a:lnSpc>
                <a:spcPts val="1875"/>
              </a:lnSpc>
              <a:spcBef>
                <a:spcPts val="0"/>
              </a:spcBef>
              <a:spcAft>
                <a:spcPts val="0"/>
              </a:spcAft>
            </a:pPr>
            <a:r>
              <a:rPr sz="1500" b="0">
                <a:solidFill>
                  <a:srgbClr val="59636E"/>
                </a:solidFill>
                <a:latin typeface="Noto Sans KR"/>
              </a:rPr>
              <a:t>목표율은 조정 가능한 계획 가정입니다. 사례 실적의 활용 여부와 목표 채택 이유는 목표 설정 근거에 제시합니다.</a:t>
            </a:r>
          </a:p>
        </p:txBody>
      </p:sp>
    </p:spTree>
    <p:extLst>
      <p:ext uri="{BB962C8B-B14F-4D97-AF65-F5344CB8AC3E}">
        <p14:creationId xmlns:p14="http://schemas.microsoft.com/office/powerpoint/2010/main" val="380383987"/>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지역별 참고 사례</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ase-intro"/>
          <p:cNvSpPr txBox="1"/>
          <p:nvPr/>
        </p:nvSpPr>
        <p:spPr>
          <a:xfrm>
            <a:off x="1009650" y="1790700"/>
            <a:ext cx="13220700" cy="4476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운영 방식이 맞는 공식 사례를 연결합니다. 지역 자체의 유사도 순위와는 구분합니다.</a:t>
            </a:r>
          </a:p>
        </p:txBody>
      </p:sp>
      <p:sp xmlns:a="http://schemas.openxmlformats.org/drawingml/2006/main">
        <p:nvSpPr>
          <p:cNvPr id="5" name="case-panel-0"/>
          <p:cNvSpPr/>
          <p:nvPr/>
        </p:nvSpPr>
        <p:spPr>
          <a:xfrm>
            <a:off x="1009650" y="2457450"/>
            <a:ext cx="4229100" cy="51625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01</a:t>
            </a:r>
          </a:p>
        </p:txBody>
      </p:sp>
      <p:sp xmlns:a="http://schemas.openxmlformats.org/drawingml/2006/main">
        <p:nvSpPr>
          <p:cNvPr id="7" name="case-badge-0"/>
          <p:cNvSpPr txBox="1"/>
          <p:nvPr/>
        </p:nvSpPr>
        <p:spPr>
          <a:xfrm>
            <a:off x="19526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핵심 운영 참고</a:t>
            </a:r>
          </a:p>
        </p:txBody>
      </p:sp>
      <p:sp xmlns:a="http://schemas.openxmlformats.org/drawingml/2006/main">
        <p:nvSpPr>
          <p:cNvPr id="8" name="case-title-0"/>
          <p:cNvSpPr txBox="1"/>
          <p:nvPr/>
        </p:nvSpPr>
        <p:spPr>
          <a:xfrm>
            <a:off x="12382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서울특별시 문화유산 집적지역 ·</a:t>
            </a:r>
          </a:p>
          <a:p>
            <a:pPr eaLnBrk="0">
              <a:lnSpc>
                <a:spcPts val="2250"/>
              </a:lnSpc>
              <a:spcBef>
                <a:spcPts val="0"/>
              </a:spcBef>
              <a:spcAft>
                <a:spcPts val="0"/>
              </a:spcAft>
            </a:pPr>
            <a:r>
              <a:rPr sz="1800" b="1">
                <a:solidFill>
                  <a:srgbClr val="1D2227"/>
                </a:solidFill>
                <a:latin typeface="Noto Sans KR"/>
              </a:rPr>
              <a:t>기존 문화유산을 활용한 야간</a:t>
            </a:r>
          </a:p>
          <a:p>
            <a:pPr eaLnBrk="0">
              <a:lnSpc>
                <a:spcPts val="2250"/>
              </a:lnSpc>
              <a:spcBef>
                <a:spcPts val="0"/>
              </a:spcBef>
              <a:spcAft>
                <a:spcPts val="0"/>
              </a:spcAft>
            </a:pPr>
            <a:r>
              <a:rPr sz="1800" b="1">
                <a:solidFill>
                  <a:srgbClr val="1D2227"/>
                </a:solidFill>
                <a:latin typeface="Noto Sans KR"/>
              </a:rPr>
              <a:t>개방·체험 프로그램</a:t>
            </a:r>
          </a:p>
        </p:txBody>
      </p:sp>
      <p:sp xmlns:a="http://schemas.openxmlformats.org/drawingml/2006/main">
        <p:nvSpPr>
          <p:cNvPr id="9" name="case-body-0"/>
          <p:cNvSpPr txBox="1"/>
          <p:nvPr/>
        </p:nvSpPr>
        <p:spPr>
          <a:xfrm>
            <a:off x="12382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문화유산이 모인 거점을 중심으로</a:t>
            </a:r>
          </a:p>
          <a:p>
            <a:pPr eaLnBrk="0">
              <a:lnSpc>
                <a:spcPts val="1968"/>
              </a:lnSpc>
              <a:spcBef>
                <a:spcPts val="0"/>
              </a:spcBef>
              <a:spcAft>
                <a:spcPts val="0"/>
              </a:spcAft>
            </a:pPr>
            <a:r>
              <a:rPr sz="1575" b="0">
                <a:solidFill>
                  <a:srgbClr val="59636E"/>
                </a:solidFill>
                <a:latin typeface="Noto Sans KR"/>
              </a:rPr>
              <a:t>야간 개방, 해설, 공연과</a:t>
            </a:r>
          </a:p>
          <a:p>
            <a:pPr eaLnBrk="0">
              <a:lnSpc>
                <a:spcPts val="1968"/>
              </a:lnSpc>
              <a:spcBef>
                <a:spcPts val="0"/>
              </a:spcBef>
              <a:spcAft>
                <a:spcPts val="0"/>
              </a:spcAft>
            </a:pPr>
            <a:r>
              <a:rPr sz="1575" b="0">
                <a:solidFill>
                  <a:srgbClr val="59636E"/>
                </a:solidFill>
                <a:latin typeface="Noto Sans KR"/>
              </a:rPr>
              <a:t>체험프로그램을 구성하고 국비와</a:t>
            </a:r>
          </a:p>
          <a:p>
            <a:pPr eaLnBrk="0">
              <a:lnSpc>
                <a:spcPts val="1968"/>
              </a:lnSpc>
              <a:spcBef>
                <a:spcPts val="0"/>
              </a:spcBef>
              <a:spcAft>
                <a:spcPts val="0"/>
              </a:spcAft>
            </a:pPr>
            <a:r>
              <a:rPr sz="1575" b="0">
                <a:solidFill>
                  <a:srgbClr val="59636E"/>
                </a:solidFill>
                <a:latin typeface="Noto Sans KR"/>
              </a:rPr>
              <a:t>지방비를 결합해 운영했다.</a:t>
            </a:r>
          </a:p>
        </p:txBody>
      </p:sp>
      <p:pic xmlns:a="http://schemas.openxmlformats.org/drawingml/2006/main" xmlns:r="http://schemas.openxmlformats.org/officeDocument/2006/relationships">
        <p:nvPicPr>
          <p:cNvPr id="10" name="case-photo-0" descr="yeosu_night.jpg"/>
          <p:cNvPicPr>
            <a:picLocks noChangeAspect="1"/>
          </p:cNvPicPr>
          <p:nvPr/>
        </p:nvPicPr>
        <p:blipFill>
          <a:blip r:embed="rId4"/>
          <a:stretch>
            <a:fillRect/>
          </a:stretch>
        </p:blipFill>
        <p:spPr>
          <a:xfrm>
            <a:off x="1479595" y="5857875"/>
            <a:ext cx="3289208" cy="1714500"/>
          </a:xfrm>
          <a:prstGeom prst="rect">
            <a:avLst/>
          </a:prstGeom>
        </p:spPr>
      </p:pic>
      <p:sp xmlns:a="http://schemas.openxmlformats.org/drawingml/2006/main">
        <p:nvSpPr>
          <p:cNvPr id="11" name="case-image-caption-0"/>
          <p:cNvSpPr txBox="1"/>
          <p:nvPr/>
        </p:nvSpPr>
        <p:spPr>
          <a:xfrm>
            <a:off x="12382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5"/>
              </a:rPr>
              <a:t>유사 사업 참고 · 전남 여수시 야경</a:t>
            </a:r>
          </a:p>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5"/>
              </a:rPr>
              <a:t>출처: 문화체육관광부 코리아넷 (2024)</a:t>
            </a:r>
          </a:p>
        </p:txBody>
      </p:sp>
      <p:sp xmlns:a="http://schemas.openxmlformats.org/drawingml/2006/main">
        <p:nvSpPr>
          <p:cNvPr id="12" name="case-source-0"/>
          <p:cNvSpPr txBox="1"/>
          <p:nvPr/>
        </p:nvSpPr>
        <p:spPr>
          <a:xfrm>
            <a:off x="12382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r="http://schemas.openxmlformats.org/officeDocument/2006/relationships" r:id="rId6"/>
              </a:rPr>
              <a:t>사업 원문 보기 ↗</a:t>
            </a:r>
          </a:p>
        </p:txBody>
      </p:sp>
      <p:sp xmlns:a="http://schemas.openxmlformats.org/drawingml/2006/main">
        <p:nvSpPr>
          <p:cNvPr id="13" name="case-panel-1"/>
          <p:cNvSpPr/>
          <p:nvPr/>
        </p:nvSpPr>
        <p:spPr>
          <a:xfrm>
            <a:off x="55054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case-number-1"/>
          <p:cNvSpPr txBox="1"/>
          <p:nvPr/>
        </p:nvSpPr>
        <p:spPr>
          <a:xfrm>
            <a:off x="57340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02</a:t>
            </a:r>
          </a:p>
        </p:txBody>
      </p:sp>
      <p:sp xmlns:a="http://schemas.openxmlformats.org/drawingml/2006/main">
        <p:nvSpPr>
          <p:cNvPr id="15" name="case-badge-1"/>
          <p:cNvSpPr txBox="1"/>
          <p:nvPr/>
        </p:nvSpPr>
        <p:spPr>
          <a:xfrm>
            <a:off x="64484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후보 비교에 사용한 사례</a:t>
            </a:r>
          </a:p>
        </p:txBody>
      </p:sp>
      <p:sp xmlns:a="http://schemas.openxmlformats.org/drawingml/2006/main">
        <p:nvSpPr>
          <p:cNvPr id="16" name="case-title-1"/>
          <p:cNvSpPr txBox="1"/>
          <p:nvPr/>
        </p:nvSpPr>
        <p:spPr>
          <a:xfrm>
            <a:off x="5734050" y="3228975"/>
            <a:ext cx="3771900" cy="933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전라남도 강진군 ·</a:t>
            </a:r>
          </a:p>
          <a:p>
            <a:pPr eaLnBrk="0">
              <a:lnSpc>
                <a:spcPts val="2343"/>
              </a:lnSpc>
              <a:spcBef>
                <a:spcPts val="0"/>
              </a:spcBef>
              <a:spcAft>
                <a:spcPts val="0"/>
              </a:spcAft>
            </a:pPr>
            <a:r>
              <a:rPr sz="1875" b="1">
                <a:solidFill>
                  <a:srgbClr val="1D2227"/>
                </a:solidFill>
                <a:latin typeface="Noto Sans KR"/>
              </a:rPr>
              <a:t>반값여행 지역환급</a:t>
            </a:r>
          </a:p>
        </p:txBody>
      </p:sp>
      <p:sp xmlns:a="http://schemas.openxmlformats.org/drawingml/2006/main">
        <p:nvSpPr>
          <p:cNvPr id="17" name="case-body-1"/>
          <p:cNvSpPr txBox="1"/>
          <p:nvPr/>
        </p:nvSpPr>
        <p:spPr>
          <a:xfrm>
            <a:off x="57340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여행자가 지역에서 지출한 비용의</a:t>
            </a:r>
          </a:p>
          <a:p>
            <a:pPr eaLnBrk="0">
              <a:lnSpc>
                <a:spcPts val="1968"/>
              </a:lnSpc>
              <a:spcBef>
                <a:spcPts val="0"/>
              </a:spcBef>
              <a:spcAft>
                <a:spcPts val="0"/>
              </a:spcAft>
            </a:pPr>
            <a:r>
              <a:rPr sz="1575" b="0">
                <a:solidFill>
                  <a:srgbClr val="59636E"/>
                </a:solidFill>
                <a:latin typeface="Noto Sans KR"/>
              </a:rPr>
              <a:t>일부를 지역상품권으로 돌려받게 하여</a:t>
            </a:r>
          </a:p>
          <a:p>
            <a:pPr eaLnBrk="0">
              <a:lnSpc>
                <a:spcPts val="1968"/>
              </a:lnSpc>
              <a:spcBef>
                <a:spcPts val="0"/>
              </a:spcBef>
              <a:spcAft>
                <a:spcPts val="0"/>
              </a:spcAft>
            </a:pPr>
            <a:r>
              <a:rPr sz="1575" b="0">
                <a:solidFill>
                  <a:srgbClr val="59636E"/>
                </a:solidFill>
                <a:latin typeface="Noto Sans KR"/>
              </a:rPr>
              <a:t>혜택이 다시 지역 상점에서</a:t>
            </a:r>
          </a:p>
          <a:p>
            <a:pPr eaLnBrk="0">
              <a:lnSpc>
                <a:spcPts val="1968"/>
              </a:lnSpc>
              <a:spcBef>
                <a:spcPts val="0"/>
              </a:spcBef>
              <a:spcAft>
                <a:spcPts val="0"/>
              </a:spcAft>
            </a:pPr>
            <a:r>
              <a:rPr sz="1575" b="0">
                <a:solidFill>
                  <a:srgbClr val="59636E"/>
                </a:solidFill>
                <a:latin typeface="Noto Sans KR"/>
              </a:rPr>
              <a:t>사용되도록 설계</a:t>
            </a:r>
          </a:p>
        </p:txBody>
      </p:sp>
      <p:pic xmlns:a="http://schemas.openxmlformats.org/drawingml/2006/main" xmlns:r="http://schemas.openxmlformats.org/officeDocument/2006/relationships">
        <p:nvPicPr>
          <p:cNvPr id="18" name="case-photo-1" descr="gangjin_official.jpg"/>
          <p:cNvPicPr>
            <a:picLocks noChangeAspect="1"/>
          </p:cNvPicPr>
          <p:nvPr/>
        </p:nvPicPr>
        <p:blipFill>
          <a:blip r:embed="rId7"/>
          <a:stretch>
            <a:fillRect/>
          </a:stretch>
        </p:blipFill>
        <p:spPr>
          <a:xfrm>
            <a:off x="6014436" y="5857875"/>
            <a:ext cx="3211126" cy="1714500"/>
          </a:xfrm>
          <a:prstGeom prst="rect">
            <a:avLst/>
          </a:prstGeom>
        </p:spPr>
      </p:pic>
      <p:sp xmlns:a="http://schemas.openxmlformats.org/drawingml/2006/main">
        <p:nvSpPr>
          <p:cNvPr id="19" name="case-image-caption-1"/>
          <p:cNvSpPr txBox="1"/>
          <p:nvPr/>
        </p:nvSpPr>
        <p:spPr>
          <a:xfrm>
            <a:off x="57340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8"/>
              </a:rPr>
              <a:t>강진군 · 반값여행 공식 홍보물</a:t>
            </a:r>
          </a:p>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8"/>
              </a:rPr>
              <a:t>출처: 강진 반값여행 공식 홈페이지</a:t>
            </a:r>
          </a:p>
        </p:txBody>
      </p:sp>
      <p:sp xmlns:a="http://schemas.openxmlformats.org/drawingml/2006/main">
        <p:nvSpPr>
          <p:cNvPr id="20" name="case-source-1"/>
          <p:cNvSpPr txBox="1"/>
          <p:nvPr/>
        </p:nvSpPr>
        <p:spPr>
          <a:xfrm>
            <a:off x="57340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r="http://schemas.openxmlformats.org/officeDocument/2006/relationships" r:id="rId9"/>
              </a:rPr>
              <a:t>사업 원문 보기 ↗</a:t>
            </a:r>
          </a:p>
        </p:txBody>
      </p:sp>
      <p:sp xmlns:a="http://schemas.openxmlformats.org/drawingml/2006/main">
        <p:nvSpPr>
          <p:cNvPr id="21" name="case-panel-2"/>
          <p:cNvSpPr/>
          <p:nvPr/>
        </p:nvSpPr>
        <p:spPr>
          <a:xfrm>
            <a:off x="100012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ase-number-2"/>
          <p:cNvSpPr txBox="1"/>
          <p:nvPr/>
        </p:nvSpPr>
        <p:spPr>
          <a:xfrm>
            <a:off x="102298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03</a:t>
            </a:r>
          </a:p>
        </p:txBody>
      </p:sp>
      <p:sp xmlns:a="http://schemas.openxmlformats.org/drawingml/2006/main">
        <p:nvSpPr>
          <p:cNvPr id="23" name="case-badge-2"/>
          <p:cNvSpPr txBox="1"/>
          <p:nvPr/>
        </p:nvSpPr>
        <p:spPr>
          <a:xfrm>
            <a:off x="109442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후보 비교에 사용한 사례</a:t>
            </a:r>
          </a:p>
        </p:txBody>
      </p:sp>
      <p:sp xmlns:a="http://schemas.openxmlformats.org/drawingml/2006/main">
        <p:nvSpPr>
          <p:cNvPr id="24" name="case-title-2"/>
          <p:cNvSpPr txBox="1"/>
          <p:nvPr/>
        </p:nvSpPr>
        <p:spPr>
          <a:xfrm>
            <a:off x="102298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전국 인구감소지역 34곳 ·</a:t>
            </a:r>
          </a:p>
          <a:p>
            <a:pPr eaLnBrk="0">
              <a:lnSpc>
                <a:spcPts val="2250"/>
              </a:lnSpc>
              <a:spcBef>
                <a:spcPts val="0"/>
              </a:spcBef>
              <a:spcAft>
                <a:spcPts val="0"/>
              </a:spcAft>
            </a:pPr>
            <a:r>
              <a:rPr sz="1800" b="1">
                <a:solidFill>
                  <a:srgbClr val="1D2227"/>
                </a:solidFill>
                <a:latin typeface="Noto Sans KR"/>
              </a:rPr>
              <a:t>디지털 관광주민증과</a:t>
            </a:r>
          </a:p>
          <a:p>
            <a:pPr eaLnBrk="0">
              <a:lnSpc>
                <a:spcPts val="2250"/>
              </a:lnSpc>
              <a:spcBef>
                <a:spcPts val="0"/>
              </a:spcBef>
              <a:spcAft>
                <a:spcPts val="0"/>
              </a:spcAft>
            </a:pPr>
            <a:r>
              <a:rPr sz="1800" b="1">
                <a:solidFill>
                  <a:srgbClr val="1D2227"/>
                </a:solidFill>
                <a:latin typeface="Noto Sans KR"/>
              </a:rPr>
              <a:t>교통·숙박·상점 할인 결합</a:t>
            </a:r>
          </a:p>
        </p:txBody>
      </p:sp>
      <p:sp xmlns:a="http://schemas.openxmlformats.org/drawingml/2006/main">
        <p:nvSpPr>
          <p:cNvPr id="25" name="case-body-2"/>
          <p:cNvSpPr txBox="1"/>
          <p:nvPr/>
        </p:nvSpPr>
        <p:spPr>
          <a:xfrm>
            <a:off x="102298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디지털 관광주민증 참여업체 현장</a:t>
            </a:r>
          </a:p>
          <a:p>
            <a:pPr eaLnBrk="0">
              <a:lnSpc>
                <a:spcPts val="1968"/>
              </a:lnSpc>
              <a:spcBef>
                <a:spcPts val="0"/>
              </a:spcBef>
              <a:spcAft>
                <a:spcPts val="0"/>
              </a:spcAft>
            </a:pPr>
            <a:r>
              <a:rPr sz="1575" b="0">
                <a:solidFill>
                  <a:srgbClr val="59636E"/>
                </a:solidFill>
                <a:latin typeface="Noto Sans KR"/>
              </a:rPr>
              <a:t>인증과 숙박·식음·관람·체험 할인,</a:t>
            </a:r>
          </a:p>
          <a:p>
            <a:pPr eaLnBrk="0">
              <a:lnSpc>
                <a:spcPts val="1968"/>
              </a:lnSpc>
              <a:spcBef>
                <a:spcPts val="0"/>
              </a:spcBef>
              <a:spcAft>
                <a:spcPts val="0"/>
              </a:spcAft>
            </a:pPr>
            <a:r>
              <a:rPr sz="1575" b="0">
                <a:solidFill>
                  <a:srgbClr val="59636E"/>
                </a:solidFill>
                <a:latin typeface="Noto Sans KR"/>
              </a:rPr>
              <a:t>특정 시간대 KTX 할인과 방문 후 교통</a:t>
            </a:r>
          </a:p>
          <a:p>
            <a:pPr eaLnBrk="0">
              <a:lnSpc>
                <a:spcPts val="1968"/>
              </a:lnSpc>
              <a:spcBef>
                <a:spcPts val="0"/>
              </a:spcBef>
              <a:spcAft>
                <a:spcPts val="0"/>
              </a:spcAft>
            </a:pPr>
            <a:r>
              <a:rPr sz="1575" b="0">
                <a:solidFill>
                  <a:srgbClr val="59636E"/>
                </a:solidFill>
                <a:latin typeface="Noto Sans KR"/>
              </a:rPr>
              <a:t>할인권을 결합</a:t>
            </a:r>
          </a:p>
        </p:txBody>
      </p:sp>
      <p:pic xmlns:a="http://schemas.openxmlformats.org/drawingml/2006/main" xmlns:r="http://schemas.openxmlformats.org/officeDocument/2006/relationships">
        <p:nvPicPr>
          <p:cNvPr id="26" name="case-photo-2" descr="digital_official.jpg"/>
          <p:cNvPicPr>
            <a:picLocks noChangeAspect="1"/>
          </p:cNvPicPr>
          <p:nvPr/>
        </p:nvPicPr>
        <p:blipFill>
          <a:blip r:embed="rId10"/>
          <a:stretch>
            <a:fillRect/>
          </a:stretch>
        </p:blipFill>
        <p:spPr>
          <a:xfrm>
            <a:off x="11430000" y="5857875"/>
            <a:ext cx="1371600" cy="1714500"/>
          </a:xfrm>
          <a:prstGeom prst="rect">
            <a:avLst/>
          </a:prstGeom>
        </p:spPr>
      </p:pic>
      <p:sp xmlns:a="http://schemas.openxmlformats.org/drawingml/2006/main">
        <p:nvSpPr>
          <p:cNvPr id="27" name="case-image-caption-2"/>
          <p:cNvSpPr txBox="1"/>
          <p:nvPr/>
        </p:nvSpPr>
        <p:spPr>
          <a:xfrm>
            <a:off x="102298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11"/>
              </a:rPr>
              <a:t>전국 · 디지털 관광주민증 홍보물</a:t>
            </a:r>
          </a:p>
          <a:p>
            <a:pPr eaLnBrk="0">
              <a:lnSpc>
                <a:spcPts val="1500"/>
              </a:lnSpc>
              <a:spcBef>
                <a:spcPts val="0"/>
              </a:spcBef>
              <a:spcAft>
                <a:spcPts val="0"/>
              </a:spcAft>
            </a:pPr>
            <a:r>
              <a:rPr sz="1200" b="0">
                <a:solidFill>
                  <a:srgbClr val="59636E"/>
                </a:solidFill>
                <a:latin typeface="Noto Sans KR"/>
                <a:hlinkClick xmlns:r="http://schemas.openxmlformats.org/officeDocument/2006/relationships" r:id="rId11"/>
              </a:rPr>
              <a:t>출처: 대한민국 정책브리핑 (2025)</a:t>
            </a:r>
          </a:p>
        </p:txBody>
      </p:sp>
      <p:sp xmlns:a="http://schemas.openxmlformats.org/drawingml/2006/main">
        <p:nvSpPr>
          <p:cNvPr id="28" name="case-source-2"/>
          <p:cNvSpPr txBox="1"/>
          <p:nvPr/>
        </p:nvSpPr>
        <p:spPr>
          <a:xfrm>
            <a:off x="102298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r="http://schemas.openxmlformats.org/officeDocument/2006/relationships" r:id="rId12"/>
              </a:rPr>
              <a:t>사업 원문 보기 ↗</a:t>
            </a:r>
          </a:p>
        </p:txBody>
      </p:sp>
    </p:spTree>
    <p:extLst>
      <p:ext uri="{BB962C8B-B14F-4D97-AF65-F5344CB8AC3E}">
        <p14:creationId xmlns:p14="http://schemas.microsoft.com/office/powerpoint/2010/main" val="930694367"/>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이 사업을 참고한 이유와 지역 적용 방법</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004EA2"/>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1D2227"/>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결제·혜택·재이용 또는 예약·체류 등 실제 이용</a:t>
                      </a:r>
                    </a:p>
                    <a:p>
                      <a:pPr eaLnBrk="0">
                        <a:lnSpc>
                          <a:spcPct val="112000"/>
                        </a:lnSpc>
                        <a:spcBef>
                          <a:spcPts val="0"/>
                        </a:spcBef>
                        <a:spcAft>
                          <a:spcPts val="0"/>
                        </a:spcAft>
                      </a:pPr>
                      <a:r>
                        <a:rPr sz="1575" b="0">
                          <a:solidFill>
                            <a:srgbClr val="1D2227"/>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선택 지역의</a:t>
                      </a:r>
                    </a:p>
                    <a:p>
                      <a:pPr eaLnBrk="0">
                        <a:lnSpc>
                          <a:spcPct val="112000"/>
                        </a:lnSpc>
                        <a:spcBef>
                          <a:spcPts val="0"/>
                        </a:spcBef>
                        <a:spcAft>
                          <a:spcPts val="0"/>
                        </a:spcAft>
                      </a:pPr>
                      <a:r>
                        <a:rPr sz="1575" b="1">
                          <a:solidFill>
                            <a:srgbClr val="1D2227"/>
                          </a:solidFill>
                          <a:latin typeface="Noto Sans KR"/>
                        </a:rPr>
                        <a:t>소비·체류</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1D2227"/>
                          </a:solidFill>
                          <a:latin typeface="Noto Sans KR"/>
                        </a:rPr>
                        <a:t>580,380건 / 외지인 숙박 방문 비율: 21.0%</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지역 소비·체류 지표를 보고 참여 업종과 이용</a:t>
                      </a:r>
                    </a:p>
                    <a:p>
                      <a:pPr eaLnBrk="0">
                        <a:lnSpc>
                          <a:spcPct val="112000"/>
                        </a:lnSpc>
                        <a:spcBef>
                          <a:spcPts val="0"/>
                        </a:spcBef>
                        <a:spcAft>
                          <a:spcPts val="0"/>
                        </a:spcAft>
                      </a:pPr>
                      <a:r>
                        <a:rPr sz="1575" b="0">
                          <a:solidFill>
                            <a:srgbClr val="1D2227"/>
                          </a:solidFill>
                          <a:latin typeface="Noto Sans KR"/>
                        </a:rPr>
                        <a:t>대상을 정합니다.</a:t>
                      </a:r>
                    </a:p>
                  </a:txBody>
                  <a:tcPr marL="95250" marR="95250" marT="66675" marB="66675" anchor="ctr">
                    <a:solidFill>
                      <a:srgbClr val="EAF1F6"/>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추가 방문 목표 348,601명 × 1%</a:t>
                      </a:r>
                    </a:p>
                    <a:p>
                      <a:pPr eaLnBrk="0">
                        <a:lnSpc>
                          <a:spcPct val="112000"/>
                        </a:lnSpc>
                        <a:spcBef>
                          <a:spcPts val="0"/>
                        </a:spcBef>
                        <a:spcAft>
                          <a:spcPts val="0"/>
                        </a:spcAft>
                      </a:pPr>
                      <a:r>
                        <a:rPr sz="1575" b="0">
                          <a:solidFill>
                            <a:srgbClr val="1D2227"/>
                          </a:solidFill>
                          <a:latin typeface="Noto Sans KR"/>
                        </a:rPr>
                        <a:t>시범 참여 3,487건(올림·계획 가정)</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4763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사례 → 우리 지역의 제안</a:t>
            </a:r>
          </a:p>
        </p:txBody>
      </p:sp>
      <p:sp>
        <p:nvSpPr>
          <p:cNvPr id="8" name="adaptation-body"/>
          <p:cNvSpPr txBox="1"/>
          <p:nvPr/>
        </p:nvSpPr>
        <p:spPr>
          <a:xfrm>
            <a:off x="4552950" y="6638925"/>
            <a:ext cx="9163050" cy="11811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1D2227"/>
                </a:solidFill>
                <a:latin typeface="Noto Sans KR"/>
              </a:rPr>
              <a:t>제주시 내 박물관, 공연장, 문화유산 등 기존 시설을 활용하여 야간 개방 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hlinkClick r:id="rId2"/>
              </a:rPr>
              <a:t>문서 기반 함수 연결 · 2024년 문화재야행 사업 예산 확정자료</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4단계 실행 가이드 예시안</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xecution-panel-0"/>
          <p:cNvSpPr/>
          <p:nvPr/>
        </p:nvSpPr>
        <p:spPr>
          <a:xfrm>
            <a:off x="1009650" y="209550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59636E"/>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59636E"/>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59636E"/>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2026-11 ~ 2026-12 / 2026-12 ·</a:t>
            </a:r>
          </a:p>
          <a:p>
            <a:pPr eaLnBrk="0">
              <a:lnSpc>
                <a:spcPts val="1546"/>
              </a:lnSpc>
              <a:spcBef>
                <a:spcPts val="0"/>
              </a:spcBef>
              <a:spcAft>
                <a:spcPts val="0"/>
              </a:spcAft>
            </a:pPr>
            <a:r>
              <a:rPr sz="1237" b="0">
                <a:solidFill>
                  <a:srgbClr val="59636E"/>
                </a:solidFill>
                <a:latin typeface="Noto Sans KR"/>
              </a:rPr>
              <a:t>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59636E"/>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작성 기준: 저장된 일정 + 사업 유형별 운영 안내 함수. 공식 협약·법정 절차를 인용한 내용이 아니라 조정 가능한 실행 예시입니다.</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머신러닝 예측값과 목표 KPI</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3,675,313명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60,251명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3,594,310명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3,714,120명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119,810명 ·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3,539,333명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168,540명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10,580,165명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10,928,766명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348,601명 · 3.29%</a:t>
                      </a:r>
                    </a:p>
                  </a:txBody>
                  <a:tcPr marL="95250" marR="95250" marT="66675" marB="66675" anchor="ctr">
                    <a:solidFill>
                      <a:srgbClr val="EAF1F6"/>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348,601명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1,529.75억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25.08억 원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1,450.85억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1,499.21억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48.36억 원 ·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1,568.35억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74.68억 원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4,449.19억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4,597.31억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148.12억 원 · 3.33%</a:t>
                      </a:r>
                    </a:p>
                  </a:txBody>
                  <a:tcPr marL="95250" marR="95250" marT="66675" marB="66675" anchor="ctr">
                    <a:solidFill>
                      <a:srgbClr val="EAF1F6"/>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148.12억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월별 소비/방문 비율 = ML 소비액 ÷ ML 방문 수 | 26.10 41,622원 · 26.11 40,365원 · 26.12 44,312원</a:t>
            </a:r>
          </a:p>
          <a:p>
            <a:pPr eaLnBrk="0">
              <a:lnSpc>
                <a:spcPts val="1687"/>
              </a:lnSpc>
              <a:spcBef>
                <a:spcPts val="0"/>
              </a:spcBef>
              <a:spcAft>
                <a:spcPts val="0"/>
              </a:spcAft>
            </a:pPr>
            <a:r>
              <a:rPr sz="1350" b="0">
                <a:solidFill>
                  <a:srgbClr val="59636E"/>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59636E"/>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59636E"/>
                </a:solidFill>
                <a:latin typeface="Noto Sans KR"/>
              </a:rPr>
              <a:t>비율은 기획용 가정이며 실제 객단가·보장 효과가 아닙니다. 방문 합계는 월 간 중복을 포함합니다.</a:t>
            </a:r>
          </a:p>
        </p:txBody>
      </p:sp>
    </p:spTree>
    <p:extLst>
      <p:ext uri="{BB962C8B-B14F-4D97-AF65-F5344CB8AC3E}">
        <p14:creationId xmlns:p14="http://schemas.microsoft.com/office/powerpoint/2010/main" val="553742078"/>
      </p:ext>
    </p:extLst>
  </p:cSld>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사례 실적과 목표 KPI 설정 근거</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sis-case-title"/>
          <p:cNvSpPr txBox="1"/>
          <p:nvPr/>
        </p:nvSpPr>
        <p:spPr>
          <a:xfrm>
            <a:off x="1009650" y="1952625"/>
            <a:ext cx="13220700" cy="49530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선정 사례의 운영 방식과 시범 목표</a:t>
            </a:r>
          </a:p>
        </p:txBody>
      </p:sp>
      <p:sp>
        <p:nvSpPr>
          <p:cNvPr id="5" name="basis-description"/>
          <p:cNvSpPr txBox="1"/>
          <p:nvPr/>
        </p:nvSpPr>
        <p:spPr>
          <a:xfrm>
            <a:off x="1009650" y="2714625"/>
            <a:ext cx="13220700" cy="16192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59636E"/>
                </a:solidFill>
                <a:latin typeface="Noto Sans KR"/>
              </a:rPr>
              <a:t>선정 사례의 운영 방식을 지역의 시범사업에 적용합니다. 비교 가능한 전후 실적이 없는</a:t>
            </a:r>
          </a:p>
          <a:p>
            <a:pPr eaLnBrk="0">
              <a:lnSpc>
                <a:spcPts val="2531"/>
              </a:lnSpc>
              <a:spcBef>
                <a:spcPts val="0"/>
              </a:spcBef>
              <a:spcAft>
                <a:spcPts val="0"/>
              </a:spcAft>
            </a:pPr>
            <a:r>
              <a:rPr sz="2025" b="0">
                <a:solidFill>
                  <a:srgbClr val="59636E"/>
                </a:solidFill>
                <a:latin typeface="Noto Sans KR"/>
              </a:rPr>
              <a:t>경우 목표는 계획 가정으로 제시합니다.</a:t>
            </a:r>
          </a:p>
        </p:txBody>
      </p:sp>
      <p:sp>
        <p:nvSpPr>
          <p:cNvPr id="6" name="proposed-target"/>
          <p:cNvSpPr txBox="1"/>
          <p:nvPr/>
        </p:nvSpPr>
        <p:spPr>
          <a:xfrm>
            <a:off x="1009650" y="5305425"/>
            <a:ext cx="13220700" cy="600075"/>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F6B00"/>
                </a:solidFill>
                <a:latin typeface="Noto Sans KR"/>
              </a:rPr>
              <a:t>최종월 계획 목표 방문 +5% · 소비 +5%</a:t>
            </a:r>
          </a:p>
        </p:txBody>
      </p:sp>
      <p:sp>
        <p:nvSpPr>
          <p:cNvPr id="7" name="basis-method"/>
          <p:cNvSpPr txBox="1"/>
          <p:nvPr/>
        </p:nvSpPr>
        <p:spPr>
          <a:xfrm>
            <a:off x="1009650" y="6067425"/>
            <a:ext cx="12839700" cy="16668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① 목표 채택: 공식 사례의 운영 방식을 참고해 초기 계획 목표 5% 제안.</a:t>
            </a:r>
          </a:p>
          <a:p>
            <a:pPr eaLnBrk="0">
              <a:lnSpc>
                <a:spcPts val="2156"/>
              </a:lnSpc>
              <a:spcBef>
                <a:spcPts val="0"/>
              </a:spcBef>
              <a:spcAft>
                <a:spcPts val="0"/>
              </a:spcAft>
            </a:pPr>
            <a:r>
              <a:rPr sz="1725" b="0">
                <a:solidFill>
                  <a:srgbClr val="59636E"/>
                </a:solidFill>
                <a:latin typeface="Noto Sans KR"/>
              </a:rPr>
              <a:t>② 적용 목표: 최종월 방문 +5% · 소비 +5%. 월별 기준 전망에 단계 적용.</a:t>
            </a:r>
          </a:p>
          <a:p>
            <a:pPr eaLnBrk="0">
              <a:lnSpc>
                <a:spcPts val="2156"/>
              </a:lnSpc>
              <a:spcBef>
                <a:spcPts val="0"/>
              </a:spcBef>
              <a:spcAft>
                <a:spcPts val="0"/>
              </a:spcAft>
            </a:pPr>
            <a:r>
              <a:rPr sz="1725" b="0">
                <a:solidFill>
                  <a:srgbClr val="59636E"/>
                </a:solidFill>
                <a:latin typeface="Noto Sans KR"/>
              </a:rPr>
              <a:t>소비 목표는 해당 월 ML 소비/방문 비율을 추가 방문 목표에 적용한 계획값. 사례의 소비 증가율·사업 단독 효과가 아님.</a:t>
            </a:r>
          </a:p>
        </p:txBody>
      </p:sp>
      <p:sp>
        <p:nvSpPr>
          <p:cNvPr id="8" name="basis-source"/>
          <p:cNvSpPr txBox="1"/>
          <p:nvPr/>
        </p:nvSpPr>
        <p:spPr>
          <a:xfrm>
            <a:off x="1009650" y="7858125"/>
            <a:ext cx="13220700" cy="4000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목표율: 조정 가능한 기획 가정</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견적 예시안</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59636E"/>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656"/>
              </a:lnSpc>
              <a:spcBef>
                <a:spcPts val="0"/>
              </a:spcBef>
              <a:spcAft>
                <a:spcPts val="0"/>
              </a:spcAft>
            </a:pPr>
            <a:r>
              <a:rPr sz="2925" b="1">
                <a:solidFill>
                  <a:srgbClr val="004EA2"/>
                </a:solidFill>
                <a:latin typeface="Noto Sans KR"/>
              </a:rPr>
              <a:t>총 7,906만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16845B"/>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참여 혜택</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34,870,000원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3,487건 ×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현장 운영·정산</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21,000,000원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max(월 20인일 × 3, 3,487건 ÷ 25건/인일 올림) = 140인일 × 150,000원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기존 시스템 설정 1식 × 800만원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홍보·참여처 안내</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5,000,000원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콘텐츠·안내물 1식 × 500만원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자료 정리·평가 1식 × 300만원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예비비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7,187,000원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직접비 7,187만원 × 10%</a:t>
                      </a:r>
                    </a:p>
                  </a:txBody>
                  <a:tcPr marL="95250" marR="95250" marT="66675" marB="66675" anchor="ctr">
                    <a:solidFill>
                      <a:srgbClr val="EAF1F6"/>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사업기간 추가 방문 목표 348,601명 × 시범 담당 비중 1% → 3,487건(올림). 1%는 직접 운영할 참여량 배분 가정이며 전환율 예측이 아닙니다.</a:t>
            </a:r>
          </a:p>
          <a:p>
            <a:pPr eaLnBrk="0">
              <a:lnSpc>
                <a:spcPts val="1781"/>
              </a:lnSpc>
              <a:spcBef>
                <a:spcPts val="0"/>
              </a:spcBef>
              <a:spcAft>
                <a:spcPts val="0"/>
              </a:spcAft>
            </a:pPr>
            <a:r>
              <a:rPr sz="1425" b="0">
                <a:solidFill>
                  <a:srgbClr val="59636E"/>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예상 견적이며 실제 액수와 다를 수 있습니다. 세금 포함 여부·업무 범위·수량·단가는 계약 전에 조정합니다.</a:t>
            </a:r>
          </a:p>
        </p:txBody>
      </p:sp>
    </p:spTree>
    <p:extLst>
      <p:ext uri="{BB962C8B-B14F-4D97-AF65-F5344CB8AC3E}">
        <p14:creationId xmlns:p14="http://schemas.microsoft.com/office/powerpoint/2010/main" val="1823133345"/>
      </p:ext>
    </p:extLst>
  </p:cSld>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1/3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xmlns:a="http://schemas.openxmlformats.org/drawingml/2006/main">
        <p:nvSpPr>
          <p:cNvPr id="5" name="reference-0"/>
          <p:cNvSpPr txBox="1"/>
          <p:nvPr/>
        </p:nvSpPr>
        <p:spPr>
          <a:xfrm>
            <a:off x="10096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D01 순 방문자 수 및 숙박 비율 (이동통신</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기반 외지인) 2026-06</a:t>
            </a:r>
          </a:p>
        </p:txBody>
      </p:sp>
      <p:sp xmlns:a="http://schemas.openxmlformats.org/drawingml/2006/main">
        <p:nvSpPr>
          <p:cNvPr id="6" name="reference-1"/>
          <p:cNvSpPr txBox="1"/>
          <p:nvPr/>
        </p:nvSpPr>
        <p:spPr>
          <a:xfrm>
            <a:off x="10096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D02 월간 순 방문자 수 (이동통신</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기반 외지인) 2026-06</a:t>
            </a:r>
          </a:p>
        </p:txBody>
      </p:sp>
      <p:sp xmlns:a="http://schemas.openxmlformats.org/drawingml/2006/main">
        <p:nvSpPr>
          <p:cNvPr id="7" name="reference-2"/>
          <p:cNvSpPr txBox="1"/>
          <p:nvPr/>
        </p:nvSpPr>
        <p:spPr>
          <a:xfrm>
            <a:off x="1009650" y="37719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D03 관광소비 추이_외지인 2026-06</a:t>
            </a:r>
          </a:p>
        </p:txBody>
      </p:sp>
      <p:sp xmlns:a="http://schemas.openxmlformats.org/drawingml/2006/main">
        <p:nvSpPr>
          <p:cNvPr id="8" name="reference-3"/>
          <p:cNvSpPr txBox="1"/>
          <p:nvPr/>
        </p:nvSpPr>
        <p:spPr>
          <a:xfrm>
            <a:off x="1009650" y="42291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D04 숙박방문자 비율 추이 (이동통신</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기반 외지인) 2026-06</a:t>
            </a:r>
          </a:p>
        </p:txBody>
      </p:sp>
      <p:sp xmlns:a="http://schemas.openxmlformats.org/drawingml/2006/main">
        <p:nvSpPr>
          <p:cNvPr id="9" name="reference-4"/>
          <p:cNvSpPr txBox="1"/>
          <p:nvPr/>
        </p:nvSpPr>
        <p:spPr>
          <a:xfrm>
            <a:off x="1009650" y="48291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D05 평균 숙박일 (이동통신 기반</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외지인) 2026-06</a:t>
            </a:r>
          </a:p>
        </p:txBody>
      </p:sp>
      <p:sp xmlns:a="http://schemas.openxmlformats.org/drawingml/2006/main">
        <p:nvSpPr>
          <p:cNvPr id="10" name="reference-5"/>
          <p:cNvSpPr txBox="1"/>
          <p:nvPr/>
        </p:nvSpPr>
        <p:spPr>
          <a:xfrm>
            <a:off x="1009650" y="54292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D06 내비게이션 목적지 유형별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검색량 2026-06</a:t>
            </a:r>
          </a:p>
        </p:txBody>
      </p:sp>
      <p:sp xmlns:a="http://schemas.openxmlformats.org/drawingml/2006/main">
        <p:nvSpPr>
          <p:cNvPr id="11" name="reference-6"/>
          <p:cNvSpPr txBox="1"/>
          <p:nvPr/>
        </p:nvSpPr>
        <p:spPr>
          <a:xfrm>
            <a:off x="1009650" y="60293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D07 SNS 언급량 2026-06</a:t>
            </a:r>
          </a:p>
        </p:txBody>
      </p:sp>
      <p:sp xmlns:a="http://schemas.openxmlformats.org/drawingml/2006/main">
        <p:nvSpPr>
          <p:cNvPr id="12" name="reference-7"/>
          <p:cNvSpPr txBox="1"/>
          <p:nvPr/>
        </p:nvSpPr>
        <p:spPr>
          <a:xfrm>
            <a:off x="1009650" y="64865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D08 방문자/2026_01_06.zip</a:t>
            </a:r>
          </a:p>
        </p:txBody>
      </p:sp>
      <p:sp xmlns:a="http://schemas.openxmlformats.org/drawingml/2006/main">
        <p:nvSpPr>
          <p:cNvPr id="13" name="reference-8"/>
          <p:cNvSpPr txBox="1"/>
          <p:nvPr/>
        </p:nvSpPr>
        <p:spPr>
          <a:xfrm>
            <a:off x="1009650" y="69437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D09 숙박_체류시간/2026_01_06.zip</a:t>
            </a:r>
          </a:p>
        </p:txBody>
      </p:sp>
      <p:sp xmlns:a="http://schemas.openxmlformats.org/drawingml/2006/main">
        <p:nvSpPr>
          <p:cNvPr id="14" name="reference-9"/>
          <p:cNvSpPr txBox="1"/>
          <p:nvPr/>
        </p:nvSpPr>
        <p:spPr>
          <a:xfrm>
            <a:off x="1009650" y="74009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D10 숙박_체류시간/2025_01_12.zip</a:t>
            </a:r>
          </a:p>
        </p:txBody>
      </p:sp>
      <p:sp xmlns:a="http://schemas.openxmlformats.org/drawingml/2006/main">
        <p:nvSpPr>
          <p:cNvPr id="15" name="reference-10"/>
          <p:cNvSpPr txBox="1"/>
          <p:nvPr/>
        </p:nvSpPr>
        <p:spPr>
          <a:xfrm>
            <a:off x="5486400" y="2571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D11 관광소비/2026_01_06.zip</a:t>
            </a:r>
          </a:p>
        </p:txBody>
      </p:sp>
      <p:sp xmlns:a="http://schemas.openxmlformats.org/drawingml/2006/main">
        <p:nvSpPr>
          <p:cNvPr id="16" name="reference-11"/>
          <p:cNvSpPr txBox="1"/>
          <p:nvPr/>
        </p:nvSpPr>
        <p:spPr>
          <a:xfrm>
            <a:off x="5486400" y="3028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D12 방문자/2025_01_12.zip</a:t>
            </a:r>
          </a:p>
        </p:txBody>
      </p:sp>
      <p:sp xmlns:a="http://schemas.openxmlformats.org/drawingml/2006/main">
        <p:nvSpPr>
          <p:cNvPr id="17" name="reference-12"/>
          <p:cNvSpPr txBox="1"/>
          <p:nvPr/>
        </p:nvSpPr>
        <p:spPr>
          <a:xfrm>
            <a:off x="5486400" y="3486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D13 관광소비/2025_01_12.zip</a:t>
            </a:r>
          </a:p>
        </p:txBody>
      </p:sp>
      <p:sp xmlns:a="http://schemas.openxmlformats.org/drawingml/2006/main">
        <p:nvSpPr>
          <p:cNvPr id="18" name="reference-13"/>
          <p:cNvSpPr txBox="1"/>
          <p:nvPr/>
        </p:nvSpPr>
        <p:spPr>
          <a:xfrm>
            <a:off x="5486400" y="39433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D14 이동통신/내국인/지역별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방문자수/20260820140607__202601-202606_데이터</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랩_다운로드.zip</a:t>
            </a:r>
          </a:p>
        </p:txBody>
      </p:sp>
      <p:sp xmlns:a="http://schemas.openxmlformats.org/drawingml/2006/main">
        <p:nvSpPr>
          <p:cNvPr id="19" name="reference-14"/>
          <p:cNvSpPr txBox="1"/>
          <p:nvPr/>
        </p:nvSpPr>
        <p:spPr>
          <a:xfrm>
            <a:off x="5486400" y="475773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D15</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이동통신/외국인/20260820141710_전국_202601-202</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606_데이터랩_다운로드.zip</a:t>
            </a:r>
          </a:p>
        </p:txBody>
      </p:sp>
      <p:sp xmlns:a="http://schemas.openxmlformats.org/drawingml/2006/main">
        <p:nvSpPr>
          <p:cNvPr id="20" name="reference-15"/>
          <p:cNvSpPr txBox="1"/>
          <p:nvPr/>
        </p:nvSpPr>
        <p:spPr>
          <a:xfrm>
            <a:off x="5486400" y="55721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D16 신용카드/내국인/지역별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관광지출액/20260820140046__202601-202606_데이</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터랩_다운로드.zip</a:t>
            </a:r>
          </a:p>
        </p:txBody>
      </p:sp>
      <p:sp xmlns:a="http://schemas.openxmlformats.org/drawingml/2006/main">
        <p:nvSpPr>
          <p:cNvPr id="21" name="reference-16"/>
          <p:cNvSpPr txBox="1"/>
          <p:nvPr/>
        </p:nvSpPr>
        <p:spPr>
          <a:xfrm>
            <a:off x="5486400" y="6386512"/>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D17 신용카드/외국인/지역별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관광지출액/20260820140355__202601-202606_데이</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터랩_다운로드.zip</a:t>
            </a:r>
          </a:p>
        </p:txBody>
      </p:sp>
      <p:sp xmlns:a="http://schemas.openxmlformats.org/drawingml/2006/main">
        <p:nvSpPr>
          <p:cNvPr id="22" name="reference-17"/>
          <p:cNvSpPr txBox="1"/>
          <p:nvPr/>
        </p:nvSpPr>
        <p:spPr>
          <a:xfrm>
            <a:off x="5486400" y="720090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D18 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검색건수/20260820195507__202601-202606_데이터</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랩_다운로드.zip</a:t>
            </a:r>
          </a:p>
        </p:txBody>
      </p:sp>
      <p:sp xmlns:a="http://schemas.openxmlformats.org/drawingml/2006/main">
        <p:nvSpPr>
          <p:cNvPr id="23" name="reference-18"/>
          <p:cNvSpPr txBox="1"/>
          <p:nvPr/>
        </p:nvSpPr>
        <p:spPr>
          <a:xfrm>
            <a:off x="9963150" y="25717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D19 이동통신/내국인/지역별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방문자수/20260820140614__202501-202512_데이터</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랩_다운로드.zip</a:t>
            </a:r>
          </a:p>
        </p:txBody>
      </p:sp>
      <p:sp xmlns:a="http://schemas.openxmlformats.org/drawingml/2006/main">
        <p:nvSpPr>
          <p:cNvPr id="24" name="reference-19"/>
          <p:cNvSpPr txBox="1"/>
          <p:nvPr/>
        </p:nvSpPr>
        <p:spPr>
          <a:xfrm>
            <a:off x="9963150" y="338613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D20</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이동통신/외국인/20260820141649_전국_202501-202</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512_데이터랩_다운로드.zip</a:t>
            </a:r>
          </a:p>
        </p:txBody>
      </p:sp>
      <p:sp xmlns:a="http://schemas.openxmlformats.org/drawingml/2006/main">
        <p:nvSpPr>
          <p:cNvPr id="25" name="reference-20"/>
          <p:cNvSpPr txBox="1"/>
          <p:nvPr/>
        </p:nvSpPr>
        <p:spPr>
          <a:xfrm>
            <a:off x="9963150" y="42005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D21 신용카드/내국인/지역별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관광지출액/20260820135957__202501-202512_데이</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터랩_다운로드.zip</a:t>
            </a:r>
          </a:p>
        </p:txBody>
      </p:sp>
      <p:sp xmlns:a="http://schemas.openxmlformats.org/drawingml/2006/main">
        <p:nvSpPr>
          <p:cNvPr id="26" name="reference-21"/>
          <p:cNvSpPr txBox="1"/>
          <p:nvPr/>
        </p:nvSpPr>
        <p:spPr>
          <a:xfrm>
            <a:off x="9963150" y="5014912"/>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D22 신용카드/외국인/지역별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관광지출액/20260820140409__202501-202512_데이</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터랩_다운로드.zip</a:t>
            </a:r>
          </a:p>
        </p:txBody>
      </p:sp>
      <p:sp xmlns:a="http://schemas.openxmlformats.org/drawingml/2006/main">
        <p:nvSpPr>
          <p:cNvPr id="27" name="reference-22"/>
          <p:cNvSpPr txBox="1"/>
          <p:nvPr/>
        </p:nvSpPr>
        <p:spPr>
          <a:xfrm>
            <a:off x="9963150" y="582930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D23 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검색건수/20260820132007__202501-202512_데이터</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랩_다운로드.zip</a:t>
            </a:r>
          </a:p>
        </p:txBody>
      </p:sp>
      <p:sp xmlns:a="http://schemas.openxmlformats.org/drawingml/2006/main">
        <p:nvSpPr>
          <p:cNvPr id="28" name="reference-23"/>
          <p:cNvSpPr txBox="1"/>
          <p:nvPr/>
        </p:nvSpPr>
        <p:spPr>
          <a:xfrm>
            <a:off x="9963150" y="664368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관측 데이터 D24 이동통신/내국인/지역별</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방문자수/20260820140624__202401-202412_데이터</a:t>
            </a:r>
          </a:p>
          <a:p>
            <a:pPr eaLnBrk="0">
              <a:lnSpc>
                <a:spcPts val="1687"/>
              </a:lnSpc>
              <a:spcBef>
                <a:spcPts val="0"/>
              </a:spcBef>
              <a:spcAft>
                <a:spcPts val="0"/>
              </a:spcAft>
            </a:pPr>
            <a:r>
              <a:rPr sz="1350" b="0" u="none">
                <a:solidFill>
                  <a:srgbClr val="004EA2"/>
                </a:solidFill>
                <a:latin typeface="Noto Sans KR"/>
                <a:hlinkClick xmlns:r="http://schemas.openxmlformats.org/officeDocument/2006/relationships" r:id="rId2"/>
              </a:rPr>
              <a:t>랩_다운로드.zip</a:t>
            </a:r>
          </a:p>
        </p:txBody>
      </p:sp>
    </p:spTree>
    <p:extLst>
      <p:ext uri="{BB962C8B-B14F-4D97-AF65-F5344CB8AC3E}">
        <p14:creationId xmlns:p14="http://schemas.microsoft.com/office/powerpoint/2010/main" val="930694367"/>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2/3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p:nvSpPr>
          <p:cNvPr id="5" name="reference-0"/>
          <p:cNvSpPr txBox="1"/>
          <p:nvPr/>
        </p:nvSpPr>
        <p:spPr>
          <a:xfrm>
            <a:off x="1009650" y="25717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D25</a:t>
            </a:r>
          </a:p>
          <a:p>
            <a:pPr eaLnBrk="0">
              <a:lnSpc>
                <a:spcPts val="1687"/>
              </a:lnSpc>
              <a:spcBef>
                <a:spcPts val="0"/>
              </a:spcBef>
              <a:spcAft>
                <a:spcPts val="0"/>
              </a:spcAft>
            </a:pPr>
            <a:r>
              <a:rPr sz="1350" b="0" u="none">
                <a:solidFill>
                  <a:srgbClr val="004EA2"/>
                </a:solidFill>
                <a:latin typeface="Noto Sans KR"/>
                <a:hlinkClick r:id="rId2"/>
              </a:rPr>
              <a:t>이동통신/외국인/20260820141639_전국_202401-202</a:t>
            </a:r>
          </a:p>
          <a:p>
            <a:pPr eaLnBrk="0">
              <a:lnSpc>
                <a:spcPts val="1687"/>
              </a:lnSpc>
              <a:spcBef>
                <a:spcPts val="0"/>
              </a:spcBef>
              <a:spcAft>
                <a:spcPts val="0"/>
              </a:spcAft>
            </a:pPr>
            <a:r>
              <a:rPr sz="1350" b="0" u="none">
                <a:solidFill>
                  <a:srgbClr val="004EA2"/>
                </a:solidFill>
                <a:latin typeface="Noto Sans KR"/>
                <a:hlinkClick r:id="rId2"/>
              </a:rPr>
              <a:t>412_데이터랩_다운로드.zip</a:t>
            </a:r>
          </a:p>
        </p:txBody>
      </p:sp>
      <p:sp>
        <p:nvSpPr>
          <p:cNvPr id="6" name="reference-1"/>
          <p:cNvSpPr txBox="1"/>
          <p:nvPr/>
        </p:nvSpPr>
        <p:spPr>
          <a:xfrm>
            <a:off x="1009650" y="338613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D26 한국관광 데이터랩 지역별 관광 현황</a:t>
            </a:r>
          </a:p>
          <a:p>
            <a:pPr eaLnBrk="0">
              <a:lnSpc>
                <a:spcPts val="1687"/>
              </a:lnSpc>
              <a:spcBef>
                <a:spcPts val="0"/>
              </a:spcBef>
              <a:spcAft>
                <a:spcPts val="0"/>
              </a:spcAft>
            </a:pPr>
            <a:r>
              <a:rPr sz="1350" b="0" u="none">
                <a:solidFill>
                  <a:srgbClr val="004EA2"/>
                </a:solidFill>
                <a:latin typeface="Noto Sans KR"/>
                <a:hlinkClick r:id="rId2"/>
              </a:rPr>
              <a:t>· · 유입유출 2025-07 ~ 2026-06</a:t>
            </a:r>
          </a:p>
        </p:txBody>
      </p:sp>
      <p:sp>
        <p:nvSpPr>
          <p:cNvPr id="7" name="reference-2"/>
          <p:cNvSpPr txBox="1"/>
          <p:nvPr/>
        </p:nvSpPr>
        <p:spPr>
          <a:xfrm>
            <a:off x="1009650" y="398621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D27 한국관광 데이터랩 지역별 관광 현황</a:t>
            </a:r>
          </a:p>
          <a:p>
            <a:pPr eaLnBrk="0">
              <a:lnSpc>
                <a:spcPts val="1687"/>
              </a:lnSpc>
              <a:spcBef>
                <a:spcPts val="0"/>
              </a:spcBef>
              <a:spcAft>
                <a:spcPts val="0"/>
              </a:spcAft>
            </a:pPr>
            <a:r>
              <a:rPr sz="1350" b="0" u="none">
                <a:solidFill>
                  <a:srgbClr val="004EA2"/>
                </a:solidFill>
                <a:latin typeface="Noto Sans KR"/>
                <a:hlinkClick r:id="rId2"/>
              </a:rPr>
              <a:t>· · 인기관광지 2025-07 ~ 2026-06</a:t>
            </a:r>
          </a:p>
        </p:txBody>
      </p:sp>
      <p:sp>
        <p:nvSpPr>
          <p:cNvPr id="8" name="reference-3"/>
          <p:cNvSpPr txBox="1"/>
          <p:nvPr/>
        </p:nvSpPr>
        <p:spPr>
          <a:xfrm>
            <a:off x="1009650" y="458628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D28 한국관광 데이터랩 지역별 관광 현황</a:t>
            </a:r>
          </a:p>
          <a:p>
            <a:pPr eaLnBrk="0">
              <a:lnSpc>
                <a:spcPts val="1687"/>
              </a:lnSpc>
              <a:spcBef>
                <a:spcPts val="0"/>
              </a:spcBef>
              <a:spcAft>
                <a:spcPts val="0"/>
              </a:spcAft>
            </a:pPr>
            <a:r>
              <a:rPr sz="1350" b="0" u="none">
                <a:solidFill>
                  <a:srgbClr val="004EA2"/>
                </a:solidFill>
                <a:latin typeface="Noto Sans KR"/>
                <a:hlinkClick r:id="rId2"/>
              </a:rPr>
              <a:t>· · 지역집중률 2025-07 ~ 2026-06</a:t>
            </a:r>
          </a:p>
        </p:txBody>
      </p:sp>
      <p:sp>
        <p:nvSpPr>
          <p:cNvPr id="9" name="reference-4"/>
          <p:cNvSpPr txBox="1"/>
          <p:nvPr/>
        </p:nvSpPr>
        <p:spPr>
          <a:xfrm>
            <a:off x="1009650" y="518636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방문자 수</a:t>
            </a:r>
          </a:p>
          <a:p>
            <a:pPr eaLnBrk="0">
              <a:lnSpc>
                <a:spcPts val="1687"/>
              </a:lnSpc>
              <a:spcBef>
                <a:spcPts val="0"/>
              </a:spcBef>
              <a:spcAft>
                <a:spcPts val="0"/>
              </a:spcAft>
            </a:pPr>
            <a:r>
              <a:rPr sz="1350" b="0">
                <a:solidFill>
                  <a:srgbClr val="004EA2"/>
                </a:solidFill>
                <a:latin typeface="Noto Sans KR"/>
              </a:rPr>
              <a:t>RandomForestRegressor 최종 월 3,370,793명</a:t>
            </a:r>
          </a:p>
        </p:txBody>
      </p:sp>
      <p:sp>
        <p:nvSpPr>
          <p:cNvPr id="10" name="reference-5"/>
          <p:cNvSpPr txBox="1"/>
          <p:nvPr/>
        </p:nvSpPr>
        <p:spPr>
          <a:xfrm>
            <a:off x="1009650" y="578643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관광소비액 LinearRegression</a:t>
            </a:r>
          </a:p>
          <a:p>
            <a:pPr eaLnBrk="0">
              <a:lnSpc>
                <a:spcPts val="1687"/>
              </a:lnSpc>
              <a:spcBef>
                <a:spcPts val="0"/>
              </a:spcBef>
              <a:spcAft>
                <a:spcPts val="0"/>
              </a:spcAft>
            </a:pPr>
            <a:r>
              <a:rPr sz="1350" b="0">
                <a:solidFill>
                  <a:srgbClr val="004EA2"/>
                </a:solidFill>
                <a:latin typeface="Noto Sans KR"/>
              </a:rPr>
              <a:t>최종 월 1,493.67억 원</a:t>
            </a:r>
          </a:p>
        </p:txBody>
      </p:sp>
      <p:sp>
        <p:nvSpPr>
          <p:cNvPr id="11" name="reference-6"/>
          <p:cNvSpPr txBox="1"/>
          <p:nvPr/>
        </p:nvSpPr>
        <p:spPr>
          <a:xfrm>
            <a:off x="1009650" y="638651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숙박일수 전년동월 계절</a:t>
            </a:r>
          </a:p>
          <a:p>
            <a:pPr eaLnBrk="0">
              <a:lnSpc>
                <a:spcPts val="1687"/>
              </a:lnSpc>
              <a:spcBef>
                <a:spcPts val="0"/>
              </a:spcBef>
              <a:spcAft>
                <a:spcPts val="0"/>
              </a:spcAft>
            </a:pPr>
            <a:r>
              <a:rPr sz="1350" b="0">
                <a:solidFill>
                  <a:srgbClr val="004EA2"/>
                </a:solidFill>
                <a:latin typeface="Noto Sans KR"/>
              </a:rPr>
              <a:t>기준선 최종 월 3.03일</a:t>
            </a:r>
          </a:p>
        </p:txBody>
      </p:sp>
      <p:sp>
        <p:nvSpPr>
          <p:cNvPr id="12" name="reference-7"/>
          <p:cNvSpPr txBox="1"/>
          <p:nvPr/>
        </p:nvSpPr>
        <p:spPr>
          <a:xfrm>
            <a:off x="1009650" y="698658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숙박방문자 비율 전년동월 계절</a:t>
            </a:r>
          </a:p>
          <a:p>
            <a:pPr eaLnBrk="0">
              <a:lnSpc>
                <a:spcPts val="1687"/>
              </a:lnSpc>
              <a:spcBef>
                <a:spcPts val="0"/>
              </a:spcBef>
              <a:spcAft>
                <a:spcPts val="0"/>
              </a:spcAft>
            </a:pPr>
            <a:r>
              <a:rPr sz="1350" b="0">
                <a:solidFill>
                  <a:srgbClr val="004EA2"/>
                </a:solidFill>
                <a:latin typeface="Noto Sans KR"/>
              </a:rPr>
              <a:t>기준선 최종 월 22%</a:t>
            </a:r>
          </a:p>
        </p:txBody>
      </p:sp>
      <p:sp>
        <p:nvSpPr>
          <p:cNvPr id="13" name="reference-8"/>
          <p:cNvSpPr txBox="1"/>
          <p:nvPr/>
        </p:nvSpPr>
        <p:spPr>
          <a:xfrm>
            <a:off x="548640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체류시간 전년동월 계절</a:t>
            </a:r>
          </a:p>
          <a:p>
            <a:pPr eaLnBrk="0">
              <a:lnSpc>
                <a:spcPts val="1687"/>
              </a:lnSpc>
              <a:spcBef>
                <a:spcPts val="0"/>
              </a:spcBef>
              <a:spcAft>
                <a:spcPts val="0"/>
              </a:spcAft>
            </a:pPr>
            <a:r>
              <a:rPr sz="1350" b="0">
                <a:solidFill>
                  <a:srgbClr val="004EA2"/>
                </a:solidFill>
                <a:latin typeface="Noto Sans KR"/>
              </a:rPr>
              <a:t>기준선 최종 월 2,289분</a:t>
            </a:r>
          </a:p>
        </p:txBody>
      </p:sp>
      <p:sp>
        <p:nvSpPr>
          <p:cNvPr id="14" name="reference-9"/>
          <p:cNvSpPr txBox="1"/>
          <p:nvPr/>
        </p:nvSpPr>
        <p:spPr>
          <a:xfrm>
            <a:off x="548640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내비게이션 검색량 전년동월 계절</a:t>
            </a:r>
          </a:p>
          <a:p>
            <a:pPr eaLnBrk="0">
              <a:lnSpc>
                <a:spcPts val="1687"/>
              </a:lnSpc>
              <a:spcBef>
                <a:spcPts val="0"/>
              </a:spcBef>
              <a:spcAft>
                <a:spcPts val="0"/>
              </a:spcAft>
            </a:pPr>
            <a:r>
              <a:rPr sz="1350" b="0">
                <a:solidFill>
                  <a:srgbClr val="004EA2"/>
                </a:solidFill>
                <a:latin typeface="Noto Sans KR"/>
              </a:rPr>
              <a:t>기준선 최종 월 556,973건</a:t>
            </a:r>
          </a:p>
        </p:txBody>
      </p:sp>
      <p:sp>
        <p:nvSpPr>
          <p:cNvPr id="15" name="reference-10"/>
          <p:cNvSpPr txBox="1"/>
          <p:nvPr/>
        </p:nvSpPr>
        <p:spPr>
          <a:xfrm>
            <a:off x="5486400" y="3771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 목적지 검색량 전년동월 계절</a:t>
            </a:r>
          </a:p>
          <a:p>
            <a:pPr eaLnBrk="0">
              <a:lnSpc>
                <a:spcPts val="1687"/>
              </a:lnSpc>
              <a:spcBef>
                <a:spcPts val="0"/>
              </a:spcBef>
              <a:spcAft>
                <a:spcPts val="0"/>
              </a:spcAft>
            </a:pPr>
            <a:r>
              <a:rPr sz="1350" b="0">
                <a:solidFill>
                  <a:srgbClr val="004EA2"/>
                </a:solidFill>
                <a:latin typeface="Noto Sans KR"/>
              </a:rPr>
              <a:t>기준선 최종 월 75,858건</a:t>
            </a:r>
          </a:p>
        </p:txBody>
      </p:sp>
      <p:sp>
        <p:nvSpPr>
          <p:cNvPr id="16" name="reference-11"/>
          <p:cNvSpPr txBox="1"/>
          <p:nvPr/>
        </p:nvSpPr>
        <p:spPr>
          <a:xfrm>
            <a:off x="5486400" y="437197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3"/>
              </a:rPr>
              <a:t>공식 사례·문서 D50 요즘, 한국관광 2호 - 지방공항</a:t>
            </a:r>
          </a:p>
          <a:p>
            <a:pPr eaLnBrk="0">
              <a:lnSpc>
                <a:spcPts val="1687"/>
              </a:lnSpc>
              <a:spcBef>
                <a:spcPts val="0"/>
              </a:spcBef>
              <a:spcAft>
                <a:spcPts val="0"/>
              </a:spcAft>
            </a:pPr>
            <a:r>
              <a:rPr sz="1350" b="0" u="none">
                <a:solidFill>
                  <a:srgbClr val="004EA2"/>
                </a:solidFill>
                <a:latin typeface="Noto Sans KR"/>
                <a:hlinkClick r:id="rId3"/>
              </a:rPr>
              <a:t>연계 지역관광 활성화 방안 · PDF 44쪽 외 7쪽 (8개</a:t>
            </a:r>
          </a:p>
          <a:p>
            <a:pPr eaLnBrk="0">
              <a:lnSpc>
                <a:spcPts val="1687"/>
              </a:lnSpc>
              <a:spcBef>
                <a:spcPts val="0"/>
              </a:spcBef>
              <a:spcAft>
                <a:spcPts val="0"/>
              </a:spcAft>
            </a:pPr>
            <a:r>
              <a:rPr sz="1350" b="0" u="none">
                <a:solidFill>
                  <a:srgbClr val="004EA2"/>
                </a:solidFill>
                <a:latin typeface="Noto Sans KR"/>
                <a:hlinkClick r:id="rId3"/>
              </a:rPr>
              <a:t>청크) datalab.visitkorea.or.kr</a:t>
            </a:r>
          </a:p>
        </p:txBody>
      </p:sp>
      <p:sp>
        <p:nvSpPr>
          <p:cNvPr id="17" name="reference-12"/>
          <p:cNvSpPr txBox="1"/>
          <p:nvPr/>
        </p:nvSpPr>
        <p:spPr>
          <a:xfrm>
            <a:off x="5486400" y="518636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4"/>
              </a:rPr>
              <a:t>공식 사례·문서 D51 2024년 문화재야행 사업 예산</a:t>
            </a:r>
          </a:p>
          <a:p>
            <a:pPr eaLnBrk="0">
              <a:lnSpc>
                <a:spcPts val="1687"/>
              </a:lnSpc>
              <a:spcBef>
                <a:spcPts val="0"/>
              </a:spcBef>
              <a:spcAft>
                <a:spcPts val="0"/>
              </a:spcAft>
            </a:pPr>
            <a:r>
              <a:rPr sz="1350" b="0" u="none">
                <a:solidFill>
                  <a:srgbClr val="004EA2"/>
                </a:solidFill>
                <a:latin typeface="Noto Sans KR"/>
                <a:hlinkClick r:id="rId4"/>
              </a:rPr>
              <a:t>확정자료 culture.seoul.go.kr</a:t>
            </a:r>
          </a:p>
        </p:txBody>
      </p:sp>
      <p:sp>
        <p:nvSpPr>
          <p:cNvPr id="18" name="reference-13"/>
          <p:cNvSpPr txBox="1"/>
          <p:nvPr/>
        </p:nvSpPr>
        <p:spPr>
          <a:xfrm>
            <a:off x="5486400" y="578643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공식 사례·문서 D52 강진 반값여행 지역경제 효과</a:t>
            </a:r>
          </a:p>
          <a:p>
            <a:pPr eaLnBrk="0">
              <a:lnSpc>
                <a:spcPts val="1687"/>
              </a:lnSpc>
              <a:spcBef>
                <a:spcPts val="0"/>
              </a:spcBef>
              <a:spcAft>
                <a:spcPts val="0"/>
              </a:spcAft>
            </a:pPr>
            <a:r>
              <a:rPr sz="1350" b="0" u="none">
                <a:solidFill>
                  <a:srgbClr val="004EA2"/>
                </a:solidFill>
                <a:latin typeface="Noto Sans KR"/>
                <a:hlinkClick r:id="rId5"/>
              </a:rPr>
              <a:t>소개 jnfarm.jeonnam.go.kr</a:t>
            </a:r>
          </a:p>
        </p:txBody>
      </p:sp>
      <p:sp>
        <p:nvSpPr>
          <p:cNvPr id="19" name="reference-14"/>
          <p:cNvSpPr txBox="1"/>
          <p:nvPr/>
        </p:nvSpPr>
        <p:spPr>
          <a:xfrm>
            <a:off x="5486400" y="638651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공식 사례·문서 D53 2024년 6월 여행가는 달 추진</a:t>
            </a:r>
          </a:p>
          <a:p>
            <a:pPr eaLnBrk="0">
              <a:lnSpc>
                <a:spcPts val="1687"/>
              </a:lnSpc>
              <a:spcBef>
                <a:spcPts val="0"/>
              </a:spcBef>
              <a:spcAft>
                <a:spcPts val="0"/>
              </a:spcAft>
            </a:pPr>
            <a:r>
              <a:rPr sz="1350" b="0" u="none">
                <a:solidFill>
                  <a:srgbClr val="004EA2"/>
                </a:solidFill>
                <a:latin typeface="Noto Sans KR"/>
                <a:hlinkClick r:id="rId6"/>
              </a:rPr>
              <a:t>보도자료 mcst.go.kr</a:t>
            </a:r>
          </a:p>
        </p:txBody>
      </p:sp>
      <p:sp>
        <p:nvSpPr>
          <p:cNvPr id="20" name="reference-15"/>
          <p:cNvSpPr txBox="1"/>
          <p:nvPr/>
        </p:nvSpPr>
        <p:spPr>
          <a:xfrm>
            <a:off x="5486400" y="698658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7"/>
              </a:rPr>
              <a:t>공식 사례·문서 D54 2022 대한민국 숙박대전</a:t>
            </a:r>
          </a:p>
          <a:p>
            <a:pPr eaLnBrk="0">
              <a:lnSpc>
                <a:spcPts val="1687"/>
              </a:lnSpc>
              <a:spcBef>
                <a:spcPts val="0"/>
              </a:spcBef>
              <a:spcAft>
                <a:spcPts val="0"/>
              </a:spcAft>
            </a:pPr>
            <a:r>
              <a:rPr sz="1350" b="0" u="none">
                <a:solidFill>
                  <a:srgbClr val="004EA2"/>
                </a:solidFill>
                <a:latin typeface="Noto Sans KR"/>
                <a:hlinkClick r:id="rId7"/>
              </a:rPr>
              <a:t>경제파급효과 공개자료 kto.visitkorea.or.kr</a:t>
            </a:r>
          </a:p>
        </p:txBody>
      </p:sp>
      <p:sp>
        <p:nvSpPr>
          <p:cNvPr id="21" name="reference-16"/>
          <p:cNvSpPr txBox="1"/>
          <p:nvPr/>
        </p:nvSpPr>
        <p:spPr>
          <a:xfrm>
            <a:off x="99631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8"/>
              </a:rPr>
              <a:t>공식 사례·문서 D55 2025 대한민국 밤밤페스타 개최</a:t>
            </a:r>
          </a:p>
          <a:p>
            <a:pPr eaLnBrk="0">
              <a:lnSpc>
                <a:spcPts val="1687"/>
              </a:lnSpc>
              <a:spcBef>
                <a:spcPts val="0"/>
              </a:spcBef>
              <a:spcAft>
                <a:spcPts val="0"/>
              </a:spcAft>
            </a:pPr>
            <a:r>
              <a:rPr sz="1350" b="0" u="none">
                <a:solidFill>
                  <a:srgbClr val="004EA2"/>
                </a:solidFill>
                <a:latin typeface="Noto Sans KR"/>
                <a:hlinkClick r:id="rId8"/>
              </a:rPr>
              <a:t>도시 및 일정 korean.visitkorea.or.kr</a:t>
            </a:r>
          </a:p>
        </p:txBody>
      </p:sp>
      <p:sp>
        <p:nvSpPr>
          <p:cNvPr id="22" name="reference-17"/>
          <p:cNvSpPr txBox="1"/>
          <p:nvPr/>
        </p:nvSpPr>
        <p:spPr>
          <a:xfrm>
            <a:off x="99631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9"/>
              </a:rPr>
              <a:t>공식 사례·문서 D56 2024년도 정부업무평가 관광분야</a:t>
            </a:r>
          </a:p>
          <a:p>
            <a:pPr eaLnBrk="0">
              <a:lnSpc>
                <a:spcPts val="1687"/>
              </a:lnSpc>
              <a:spcBef>
                <a:spcPts val="0"/>
              </a:spcBef>
              <a:spcAft>
                <a:spcPts val="0"/>
              </a:spcAft>
            </a:pPr>
            <a:r>
              <a:rPr sz="1350" b="0" u="none">
                <a:solidFill>
                  <a:srgbClr val="004EA2"/>
                </a:solidFill>
                <a:latin typeface="Noto Sans KR"/>
                <a:hlinkClick r:id="rId9"/>
              </a:rPr>
              <a:t>성과자료 www.evaluation.go.kr</a:t>
            </a:r>
          </a:p>
        </p:txBody>
      </p:sp>
      <p:sp>
        <p:nvSpPr>
          <p:cNvPr id="23" name="reference-18"/>
          <p:cNvSpPr txBox="1"/>
          <p:nvPr/>
        </p:nvSpPr>
        <p:spPr>
          <a:xfrm>
            <a:off x="9963150" y="37719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0"/>
              </a:rPr>
              <a:t>관광자원·사진 D30 가는곶 세화</a:t>
            </a:r>
          </a:p>
        </p:txBody>
      </p:sp>
      <p:sp>
        <p:nvSpPr>
          <p:cNvPr id="24" name="reference-19"/>
          <p:cNvSpPr txBox="1"/>
          <p:nvPr/>
        </p:nvSpPr>
        <p:spPr>
          <a:xfrm>
            <a:off x="9963150" y="42291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0"/>
              </a:rPr>
              <a:t>관광자원·사진 D31 가마오름</a:t>
            </a:r>
          </a:p>
        </p:txBody>
      </p:sp>
      <p:sp>
        <p:nvSpPr>
          <p:cNvPr id="25" name="reference-20"/>
          <p:cNvSpPr txBox="1"/>
          <p:nvPr/>
        </p:nvSpPr>
        <p:spPr>
          <a:xfrm>
            <a:off x="9963150" y="46863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0"/>
              </a:rPr>
              <a:t>관광자원·사진 D32 가새기오름</a:t>
            </a:r>
          </a:p>
        </p:txBody>
      </p:sp>
      <p:sp>
        <p:nvSpPr>
          <p:cNvPr id="26" name="reference-21"/>
          <p:cNvSpPr txBox="1"/>
          <p:nvPr/>
        </p:nvSpPr>
        <p:spPr>
          <a:xfrm>
            <a:off x="9963150" y="51435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0"/>
              </a:rPr>
              <a:t>관광자원·사진 D33 가시어멍김밥</a:t>
            </a:r>
          </a:p>
        </p:txBody>
      </p:sp>
      <p:sp>
        <p:nvSpPr>
          <p:cNvPr id="27" name="reference-22"/>
          <p:cNvSpPr txBox="1"/>
          <p:nvPr/>
        </p:nvSpPr>
        <p:spPr>
          <a:xfrm>
            <a:off x="9963150" y="56007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0"/>
              </a:rPr>
              <a:t>관광자원·사진 D34 갈치공장</a:t>
            </a:r>
          </a:p>
        </p:txBody>
      </p:sp>
      <p:sp>
        <p:nvSpPr>
          <p:cNvPr id="28" name="reference-23"/>
          <p:cNvSpPr txBox="1"/>
          <p:nvPr/>
        </p:nvSpPr>
        <p:spPr>
          <a:xfrm>
            <a:off x="9963150" y="60579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0"/>
              </a:rPr>
              <a:t>관광자원·사진 D35 개오리오름</a:t>
            </a:r>
          </a:p>
        </p:txBody>
      </p:sp>
      <p:sp>
        <p:nvSpPr>
          <p:cNvPr id="29" name="reference-24"/>
          <p:cNvSpPr txBox="1"/>
          <p:nvPr/>
        </p:nvSpPr>
        <p:spPr>
          <a:xfrm>
            <a:off x="9963150" y="65151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0"/>
              </a:rPr>
              <a:t>관광자원·사진 D36 거슨새미오름</a:t>
            </a:r>
          </a:p>
        </p:txBody>
      </p:sp>
      <p:sp>
        <p:nvSpPr>
          <p:cNvPr id="30" name="reference-25"/>
          <p:cNvSpPr txBox="1"/>
          <p:nvPr/>
        </p:nvSpPr>
        <p:spPr>
          <a:xfrm>
            <a:off x="9963150" y="69723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0"/>
              </a:rPr>
              <a:t>관광자원·사진 D37 경성수산</a:t>
            </a:r>
          </a:p>
        </p:txBody>
      </p:sp>
      <p:sp>
        <p:nvSpPr>
          <p:cNvPr id="31" name="reference-26"/>
          <p:cNvSpPr txBox="1"/>
          <p:nvPr/>
        </p:nvSpPr>
        <p:spPr>
          <a:xfrm>
            <a:off x="9963150" y="74295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10"/>
              </a:rPr>
              <a:t>관광자원·사진 D38 고내포구</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3/3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p:nvSpPr>
          <p:cNvPr id="5" name="reference-0"/>
          <p:cNvSpPr txBox="1"/>
          <p:nvPr/>
        </p:nvSpPr>
        <p:spPr>
          <a:xfrm>
            <a:off x="1009650" y="2571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D39 고사리커피</a:t>
            </a:r>
          </a:p>
        </p:txBody>
      </p:sp>
      <p:sp>
        <p:nvSpPr>
          <p:cNvPr id="6" name="reference-1"/>
          <p:cNvSpPr txBox="1"/>
          <p:nvPr/>
        </p:nvSpPr>
        <p:spPr>
          <a:xfrm>
            <a:off x="1009650" y="3028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D40 고스트타운</a:t>
            </a:r>
          </a:p>
        </p:txBody>
      </p:sp>
      <p:sp>
        <p:nvSpPr>
          <p:cNvPr id="7" name="reference-2"/>
          <p:cNvSpPr txBox="1"/>
          <p:nvPr/>
        </p:nvSpPr>
        <p:spPr>
          <a:xfrm>
            <a:off x="1009650" y="3486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D41 고이정</a:t>
            </a:r>
          </a:p>
        </p:txBody>
      </p:sp>
      <p:sp>
        <p:nvSpPr>
          <p:cNvPr id="8" name="reference-3"/>
          <p:cNvSpPr txBox="1"/>
          <p:nvPr/>
        </p:nvSpPr>
        <p:spPr>
          <a:xfrm>
            <a:off x="1009650" y="3943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D42 고토커피바</a:t>
            </a:r>
          </a:p>
        </p:txBody>
      </p:sp>
      <p:sp>
        <p:nvSpPr>
          <p:cNvPr id="9" name="reference-4"/>
          <p:cNvSpPr txBox="1"/>
          <p:nvPr/>
        </p:nvSpPr>
        <p:spPr>
          <a:xfrm>
            <a:off x="1009650" y="4400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D43 골목식당</a:t>
            </a:r>
          </a:p>
        </p:txBody>
      </p:sp>
      <p:sp>
        <p:nvSpPr>
          <p:cNvPr id="10" name="reference-5"/>
          <p:cNvSpPr txBox="1"/>
          <p:nvPr/>
        </p:nvSpPr>
        <p:spPr>
          <a:xfrm>
            <a:off x="1009650" y="4857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D44 골목카페옥수</a:t>
            </a:r>
          </a:p>
        </p:txBody>
      </p:sp>
      <p:sp>
        <p:nvSpPr>
          <p:cNvPr id="11" name="reference-6"/>
          <p:cNvSpPr txBox="1"/>
          <p:nvPr/>
        </p:nvSpPr>
        <p:spPr>
          <a:xfrm>
            <a:off x="1009650" y="5314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D45 골체오름캠핑</a:t>
            </a:r>
          </a:p>
        </p:txBody>
      </p:sp>
      <p:sp>
        <p:nvSpPr>
          <p:cNvPr id="12" name="reference-7"/>
          <p:cNvSpPr txBox="1"/>
          <p:nvPr/>
        </p:nvSpPr>
        <p:spPr>
          <a:xfrm>
            <a:off x="1009650" y="5772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D46 곰막식당/곰막</a:t>
            </a:r>
          </a:p>
        </p:txBody>
      </p:sp>
      <p:sp>
        <p:nvSpPr>
          <p:cNvPr id="13" name="reference-8"/>
          <p:cNvSpPr txBox="1"/>
          <p:nvPr/>
        </p:nvSpPr>
        <p:spPr>
          <a:xfrm>
            <a:off x="1009650" y="6229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D47 곽지해수욕장</a:t>
            </a:r>
          </a:p>
        </p:txBody>
      </p:sp>
      <p:sp>
        <p:nvSpPr>
          <p:cNvPr id="14" name="reference-9"/>
          <p:cNvSpPr txBox="1"/>
          <p:nvPr/>
        </p:nvSpPr>
        <p:spPr>
          <a:xfrm>
            <a:off x="1009650" y="6686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D48 괴오름</a:t>
            </a:r>
          </a:p>
        </p:txBody>
      </p:sp>
      <p:sp>
        <p:nvSpPr>
          <p:cNvPr id="15" name="reference-10"/>
          <p:cNvSpPr txBox="1"/>
          <p:nvPr/>
        </p:nvSpPr>
        <p:spPr>
          <a:xfrm>
            <a:off x="1009650" y="7143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관광자원·사진 D49 교래 삼다수마을</a:t>
            </a:r>
          </a:p>
        </p:txBody>
      </p:sp>
    </p:spTree>
  </p:cSld>
  <p:clrMapOvr>
    <a:masterClrMapping/>
  </p:clrMapOvr>
</p:sld>
</file>

<file path=ppt/slides/slide1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4500" b="1" i="0">
                <a:solidFill>
                  <a:srgbClr val="1B1F23"/>
                </a:solidFill>
                <a:latin typeface="Noto Sans KR"/>
                <a:ea typeface="Noto Sans KR"/>
                <a:cs typeface="Noto Sans KR"/>
              </a:rPr>
              <a:t>감사합니다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3952875" y="4438650"/>
            <a:ext cx="7381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775" b="1">
                <a:solidFill>
                  <a:srgbClr val="004EA2"/>
                </a:solidFill>
                <a:latin typeface="Noto Sans KR"/>
                <a:ea typeface="Noto Sans KR"/>
                <a:cs typeface="Noto Sans KR"/>
              </a:rPr>
              <a:t>데이터로 확인하고, 현장에서 완성합니다</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49720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5524500" y="53340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575" b="0" i="0">
                <a:solidFill>
                  <a:srgbClr val="1B1F23"/>
                </a:solidFill>
                <a:latin typeface="Noto Sans KR"/>
                <a:ea typeface="Noto Sans KR"/>
                <a:cs typeface="Noto Sans KR"/>
              </a:rPr>
              <a:t>지역 관광 전략기획안</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8488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제주특별자치도 제주시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제주시 야간 문화유산 및</a:t>
            </a:r>
          </a:p>
          <a:p xmlns:a="http://schemas.openxmlformats.org/drawingml/2006/main">
            <a:pPr eaLnBrk="0">
              <a:lnSpc>
                <a:spcPts val="2625"/>
              </a:lnSpc>
              <a:spcBef>
                <a:spcPts val="0"/>
              </a:spcBef>
              <a:spcAft>
                <a:spcPts val="0"/>
              </a:spcAft>
            </a:pPr>
            <a:r>
              <a:rPr sz="2100" b="1">
                <a:solidFill>
                  <a:srgbClr val="004EA2"/>
                </a:solidFill>
                <a:latin typeface="Noto Sans KR"/>
              </a:rPr>
              <a:t>시설 개방 프로그램</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산출 근거 ① 전망 × 목표율 → 운영 예산</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sis-origin"/>
          <p:cNvSpPr txBox="1"/>
          <p:nvPr/>
        </p:nvSpPr>
        <p:spPr>
          <a:xfrm>
            <a:off x="1009650" y="2019300"/>
            <a:ext cx="59055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공식 운영 사례와 계획 가정</a:t>
            </a:r>
          </a:p>
        </p:txBody>
      </p:sp>
      <p:sp>
        <p:nvSpPr>
          <p:cNvPr id="5" name="basis-formula"/>
          <p:cNvSpPr txBox="1"/>
          <p:nvPr/>
        </p:nvSpPr>
        <p:spPr>
          <a:xfrm>
            <a:off x="1009650" y="2505075"/>
            <a:ext cx="8810625" cy="6572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6B00"/>
                </a:solidFill>
                <a:latin typeface="Noto Sans KR"/>
              </a:rPr>
              <a:t>운영 사례 참고 → 초기 목표 5%</a:t>
            </a:r>
          </a:p>
        </p:txBody>
      </p:sp>
      <p:sp>
        <p:nvSpPr>
          <p:cNvPr id="6" name="basis-factor-labels"/>
          <p:cNvSpPr txBox="1"/>
          <p:nvPr/>
        </p:nvSpPr>
        <p:spPr>
          <a:xfrm>
            <a:off x="1009650" y="3257550"/>
            <a:ext cx="8810625"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59636E"/>
                </a:solidFill>
                <a:latin typeface="Noto Sans KR"/>
              </a:rPr>
              <a:t>전후 효과 추정이 아닌 계획 가정</a:t>
            </a:r>
          </a:p>
        </p:txBody>
      </p:sp>
      <p:sp>
        <p:nvSpPr>
          <p:cNvPr id="7" name="basis-divider"/>
          <p:cNvSpPr/>
          <p:nvPr/>
        </p:nvSpPr>
        <p:spPr>
          <a:xfrm>
            <a:off x="10001250" y="2133600"/>
            <a:ext cx="28575" cy="14763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is-actual"/>
          <p:cNvSpPr txBox="1"/>
          <p:nvPr/>
        </p:nvSpPr>
        <p:spPr>
          <a:xfrm>
            <a:off x="10296525" y="2124075"/>
            <a:ext cx="3933825" cy="4000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이 기획서의 최종월 목표</a:t>
            </a:r>
          </a:p>
        </p:txBody>
      </p:sp>
      <p:sp>
        <p:nvSpPr>
          <p:cNvPr id="9" name="basis-actual-value"/>
          <p:cNvSpPr txBox="1"/>
          <p:nvPr/>
        </p:nvSpPr>
        <p:spPr>
          <a:xfrm>
            <a:off x="10296525" y="2619375"/>
            <a:ext cx="3933825" cy="895350"/>
          </a:xfrm>
          <a:prstGeom prst="rect">
            <a:avLst/>
          </a:prstGeom>
          <a:noFill/>
        </p:spPr>
        <p:txBody>
          <a:bodyPr wrap="none" lIns="57150" rIns="57150" tIns="38100" bIns="38100" anchor="t">
            <a:noAutofit/>
          </a:bodyPr>
          <a:lstStyle/>
          <a:p>
            <a:pPr eaLnBrk="0">
              <a:lnSpc>
                <a:spcPts val="2906"/>
              </a:lnSpc>
              <a:spcBef>
                <a:spcPts val="0"/>
              </a:spcBef>
              <a:spcAft>
                <a:spcPts val="0"/>
              </a:spcAft>
            </a:pPr>
            <a:r>
              <a:rPr sz="2325" b="1">
                <a:solidFill>
                  <a:srgbClr val="FF6B00"/>
                </a:solidFill>
                <a:latin typeface="Noto Sans KR"/>
              </a:rPr>
              <a:t>방문 +5%</a:t>
            </a:r>
          </a:p>
          <a:p>
            <a:pPr eaLnBrk="0">
              <a:lnSpc>
                <a:spcPts val="2906"/>
              </a:lnSpc>
              <a:spcBef>
                <a:spcPts val="0"/>
              </a:spcBef>
              <a:spcAft>
                <a:spcPts val="0"/>
              </a:spcAft>
            </a:pPr>
            <a:r>
              <a:rPr sz="2325" b="1">
                <a:solidFill>
                  <a:srgbClr val="FF6B00"/>
                </a:solidFill>
                <a:latin typeface="Noto Sans KR"/>
              </a:rPr>
              <a:t>소비 +5%</a:t>
            </a:r>
          </a:p>
        </p:txBody>
      </p:sp>
      <p:sp>
        <p:nvSpPr>
          <p:cNvPr id="10" name="basis-meaning"/>
          <p:cNvSpPr txBox="1"/>
          <p:nvPr/>
        </p:nvSpPr>
        <p:spPr>
          <a:xfrm>
            <a:off x="1009650" y="3800475"/>
            <a:ext cx="13220700" cy="4000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5%는 ML이 찾아낸 사업 효과가 아닌 초기 계획 목표이며 생성 후 조정할 수 있습니다.</a:t>
            </a:r>
          </a:p>
        </p:txBody>
      </p:sp>
      <p:sp>
        <p:nvSpPr>
          <p:cNvPr id="11" name="basis-mid-rule"/>
          <p:cNvSpPr/>
          <p:nvPr/>
        </p:nvSpPr>
        <p:spPr>
          <a:xfrm>
            <a:off x="1009650" y="4371975"/>
            <a:ext cx="13220700" cy="19050"/>
          </a:xfrm>
          <a:prstGeom prst="rect">
            <a:avLst/>
          </a:prstGeom>
          <a:solidFill>
            <a:srgbClr val="DCE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line-label"/>
          <p:cNvSpPr txBox="1"/>
          <p:nvPr/>
        </p:nvSpPr>
        <p:spPr>
          <a:xfrm>
            <a:off x="1009650" y="4610100"/>
            <a:ext cx="372427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01 ML 기준 전망</a:t>
            </a:r>
          </a:p>
        </p:txBody>
      </p:sp>
      <p:sp>
        <p:nvSpPr>
          <p:cNvPr id="13" name="baseline-value"/>
          <p:cNvSpPr txBox="1"/>
          <p:nvPr/>
        </p:nvSpPr>
        <p:spPr>
          <a:xfrm>
            <a:off x="1009650" y="5067300"/>
            <a:ext cx="3724275" cy="57150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F6B00"/>
                </a:solidFill>
                <a:latin typeface="Noto Sans KR"/>
              </a:rPr>
              <a:t>1,058.02만 명</a:t>
            </a:r>
          </a:p>
        </p:txBody>
      </p:sp>
      <p:sp>
        <p:nvSpPr>
          <p:cNvPr id="14" name="baseline-sub"/>
          <p:cNvSpPr txBox="1"/>
          <p:nvPr/>
        </p:nvSpPr>
        <p:spPr>
          <a:xfrm>
            <a:off x="1009650" y="5724525"/>
            <a:ext cx="3724275" cy="7239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관광소비 4,449.19억 원</a:t>
            </a:r>
          </a:p>
          <a:p>
            <a:pPr eaLnBrk="0">
              <a:lnSpc>
                <a:spcPts val="1968"/>
              </a:lnSpc>
              <a:spcBef>
                <a:spcPts val="0"/>
              </a:spcBef>
              <a:spcAft>
                <a:spcPts val="0"/>
              </a:spcAft>
            </a:pPr>
            <a:r>
              <a:rPr sz="1575" b="0">
                <a:solidFill>
                  <a:srgbClr val="59636E"/>
                </a:solidFill>
                <a:latin typeface="Noto Sans KR"/>
              </a:rPr>
              <a:t>사업기간 3개월 월별 합계</a:t>
            </a:r>
          </a:p>
        </p:txBody>
      </p:sp>
      <p:sp>
        <p:nvSpPr>
          <p:cNvPr id="15" name="to-target"/>
          <p:cNvSpPr txBox="1"/>
          <p:nvPr/>
        </p:nvSpPr>
        <p:spPr>
          <a:xfrm>
            <a:off x="4752975" y="5133975"/>
            <a:ext cx="68580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16" name="uplift-label"/>
          <p:cNvSpPr txBox="1"/>
          <p:nvPr/>
        </p:nvSpPr>
        <p:spPr>
          <a:xfrm>
            <a:off x="5591175" y="4610100"/>
            <a:ext cx="3981450"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02 단계 목표를 합산</a:t>
            </a:r>
          </a:p>
        </p:txBody>
      </p:sp>
      <p:sp>
        <p:nvSpPr>
          <p:cNvPr id="17" name="uplift-value"/>
          <p:cNvSpPr txBox="1"/>
          <p:nvPr/>
        </p:nvSpPr>
        <p:spPr>
          <a:xfrm>
            <a:off x="5591175" y="5067300"/>
            <a:ext cx="3981450" cy="57150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F6B00"/>
                </a:solidFill>
                <a:latin typeface="Noto Sans KR"/>
              </a:rPr>
              <a:t>+34.86만 명</a:t>
            </a:r>
          </a:p>
        </p:txBody>
      </p:sp>
      <p:sp>
        <p:nvSpPr>
          <p:cNvPr id="18" name="uplift-sub"/>
          <p:cNvSpPr txBox="1"/>
          <p:nvPr/>
        </p:nvSpPr>
        <p:spPr>
          <a:xfrm>
            <a:off x="5591175" y="5724525"/>
            <a:ext cx="3981450" cy="7239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추가 소비 +148.12억 원</a:t>
            </a:r>
          </a:p>
          <a:p>
            <a:pPr eaLnBrk="0">
              <a:lnSpc>
                <a:spcPts val="1968"/>
              </a:lnSpc>
              <a:spcBef>
                <a:spcPts val="0"/>
              </a:spcBef>
              <a:spcAft>
                <a:spcPts val="0"/>
              </a:spcAft>
            </a:pPr>
            <a:r>
              <a:rPr sz="1575" b="0">
                <a:solidFill>
                  <a:srgbClr val="59636E"/>
                </a:solidFill>
                <a:latin typeface="Noto Sans KR"/>
              </a:rPr>
              <a:t>최종월까지 ⅓ → ⅔ → 전체 목표율</a:t>
            </a:r>
          </a:p>
        </p:txBody>
      </p:sp>
      <p:sp>
        <p:nvSpPr>
          <p:cNvPr id="19" name="to-volume"/>
          <p:cNvSpPr txBox="1"/>
          <p:nvPr/>
        </p:nvSpPr>
        <p:spPr>
          <a:xfrm>
            <a:off x="9525000" y="5133975"/>
            <a:ext cx="68580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20" name="quantity-label"/>
          <p:cNvSpPr txBox="1"/>
          <p:nvPr/>
        </p:nvSpPr>
        <p:spPr>
          <a:xfrm>
            <a:off x="10391775" y="4610100"/>
            <a:ext cx="383857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03 직접 운영할 규모</a:t>
            </a:r>
          </a:p>
        </p:txBody>
      </p:sp>
      <p:sp>
        <p:nvSpPr>
          <p:cNvPr id="21" name="quantity-value"/>
          <p:cNvSpPr txBox="1"/>
          <p:nvPr/>
        </p:nvSpPr>
        <p:spPr>
          <a:xfrm>
            <a:off x="10391775" y="5067300"/>
            <a:ext cx="3838575" cy="57150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F6B00"/>
                </a:solidFill>
                <a:latin typeface="Noto Sans KR"/>
              </a:rPr>
              <a:t>3,487건</a:t>
            </a:r>
          </a:p>
        </p:txBody>
      </p:sp>
      <p:sp>
        <p:nvSpPr>
          <p:cNvPr id="22" name="quantity-sub"/>
          <p:cNvSpPr txBox="1"/>
          <p:nvPr/>
        </p:nvSpPr>
        <p:spPr>
          <a:xfrm>
            <a:off x="10391775" y="5724525"/>
            <a:ext cx="3838575" cy="7239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추가 방문 목표 × 1% 올림</a:t>
            </a:r>
          </a:p>
          <a:p>
            <a:pPr eaLnBrk="0">
              <a:lnSpc>
                <a:spcPts val="1968"/>
              </a:lnSpc>
              <a:spcBef>
                <a:spcPts val="0"/>
              </a:spcBef>
              <a:spcAft>
                <a:spcPts val="0"/>
              </a:spcAft>
            </a:pPr>
            <a:r>
              <a:rPr sz="1575" b="0">
                <a:solidFill>
                  <a:srgbClr val="59636E"/>
                </a:solidFill>
                <a:latin typeface="Noto Sans KR"/>
              </a:rPr>
              <a:t>참여량 배분 가정 · 전환율 아님</a:t>
            </a:r>
          </a:p>
        </p:txBody>
      </p:sp>
      <p:sp>
        <p:nvSpPr>
          <p:cNvPr id="23" name="monthly-formula"/>
          <p:cNvSpPr txBox="1"/>
          <p:nvPr/>
        </p:nvSpPr>
        <p:spPr>
          <a:xfrm>
            <a:off x="1009650" y="6619875"/>
            <a:ext cx="13220700" cy="36195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월 목표 = 월 기준 전망 × (1 + 최종월 목표율 × 경과월/전체월). 방문 합계는 3개월 고유 인원과 다릅니다.</a:t>
            </a:r>
          </a:p>
        </p:txBody>
      </p:sp>
      <p:sp>
        <p:nvSpPr>
          <p:cNvPr id="24" name="budget-band"/>
          <p:cNvSpPr/>
          <p:nvPr/>
        </p:nvSpPr>
        <p:spPr>
          <a:xfrm>
            <a:off x="1009650" y="7162800"/>
            <a:ext cx="13220700" cy="96202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udget-label-0"/>
          <p:cNvSpPr txBox="1"/>
          <p:nvPr/>
        </p:nvSpPr>
        <p:spPr>
          <a:xfrm>
            <a:off x="1190625" y="7296150"/>
            <a:ext cx="29241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직접 혜택</a:t>
            </a:r>
          </a:p>
        </p:txBody>
      </p:sp>
      <p:sp>
        <p:nvSpPr>
          <p:cNvPr id="26" name="budget-value-0"/>
          <p:cNvSpPr txBox="1"/>
          <p:nvPr/>
        </p:nvSpPr>
        <p:spPr>
          <a:xfrm>
            <a:off x="1190625" y="7639050"/>
            <a:ext cx="292417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3,487.0만 원</a:t>
            </a:r>
          </a:p>
        </p:txBody>
      </p:sp>
      <p:sp>
        <p:nvSpPr>
          <p:cNvPr id="27" name="budget-sign-0"/>
          <p:cNvSpPr txBox="1"/>
          <p:nvPr/>
        </p:nvSpPr>
        <p:spPr>
          <a:xfrm>
            <a:off x="4105275" y="7505700"/>
            <a:ext cx="40957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B7C9"/>
                </a:solidFill>
                <a:latin typeface="Noto Sans KR"/>
              </a:rPr>
              <a:t>+</a:t>
            </a:r>
          </a:p>
        </p:txBody>
      </p:sp>
      <p:sp>
        <p:nvSpPr>
          <p:cNvPr id="28" name="budget-label-1"/>
          <p:cNvSpPr txBox="1"/>
          <p:nvPr/>
        </p:nvSpPr>
        <p:spPr>
          <a:xfrm>
            <a:off x="4543425" y="7296150"/>
            <a:ext cx="29241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운영·시스템·홍보·평가</a:t>
            </a:r>
          </a:p>
        </p:txBody>
      </p:sp>
      <p:sp>
        <p:nvSpPr>
          <p:cNvPr id="29" name="budget-value-1"/>
          <p:cNvSpPr txBox="1"/>
          <p:nvPr/>
        </p:nvSpPr>
        <p:spPr>
          <a:xfrm>
            <a:off x="4543425" y="7639050"/>
            <a:ext cx="292417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3,700.0만 원</a:t>
            </a:r>
          </a:p>
        </p:txBody>
      </p:sp>
      <p:sp>
        <p:nvSpPr>
          <p:cNvPr id="30" name="budget-sign-1"/>
          <p:cNvSpPr txBox="1"/>
          <p:nvPr/>
        </p:nvSpPr>
        <p:spPr>
          <a:xfrm>
            <a:off x="7458075" y="7505700"/>
            <a:ext cx="40957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B7C9"/>
                </a:solidFill>
                <a:latin typeface="Noto Sans KR"/>
              </a:rPr>
              <a:t>+</a:t>
            </a:r>
          </a:p>
        </p:txBody>
      </p:sp>
      <p:sp>
        <p:nvSpPr>
          <p:cNvPr id="31" name="budget-label-2"/>
          <p:cNvSpPr txBox="1"/>
          <p:nvPr/>
        </p:nvSpPr>
        <p:spPr>
          <a:xfrm>
            <a:off x="7896225" y="7296150"/>
            <a:ext cx="29241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예비비 10%</a:t>
            </a:r>
          </a:p>
        </p:txBody>
      </p:sp>
      <p:sp>
        <p:nvSpPr>
          <p:cNvPr id="32" name="budget-value-2"/>
          <p:cNvSpPr txBox="1"/>
          <p:nvPr/>
        </p:nvSpPr>
        <p:spPr>
          <a:xfrm>
            <a:off x="7896225" y="7639050"/>
            <a:ext cx="292417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718.7만 원</a:t>
            </a:r>
          </a:p>
        </p:txBody>
      </p:sp>
      <p:sp>
        <p:nvSpPr>
          <p:cNvPr id="33" name="budget-sign-2"/>
          <p:cNvSpPr txBox="1"/>
          <p:nvPr/>
        </p:nvSpPr>
        <p:spPr>
          <a:xfrm>
            <a:off x="10810875" y="7505700"/>
            <a:ext cx="40957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B7C9"/>
                </a:solidFill>
                <a:latin typeface="Noto Sans KR"/>
              </a:rPr>
              <a:t>=</a:t>
            </a:r>
          </a:p>
        </p:txBody>
      </p:sp>
      <p:sp>
        <p:nvSpPr>
          <p:cNvPr id="34" name="budget-label-3"/>
          <p:cNvSpPr txBox="1"/>
          <p:nvPr/>
        </p:nvSpPr>
        <p:spPr>
          <a:xfrm>
            <a:off x="11249025" y="7296150"/>
            <a:ext cx="29241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견적 총액</a:t>
            </a:r>
          </a:p>
        </p:txBody>
      </p:sp>
      <p:sp>
        <p:nvSpPr>
          <p:cNvPr id="35" name="budget-value-3"/>
          <p:cNvSpPr txBox="1"/>
          <p:nvPr/>
        </p:nvSpPr>
        <p:spPr>
          <a:xfrm>
            <a:off x="11249025" y="7639050"/>
            <a:ext cx="2924175"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7,905.7만 원</a:t>
            </a:r>
          </a:p>
        </p:txBody>
      </p:sp>
      <p:sp>
        <p:nvSpPr>
          <p:cNvPr id="36" name="budget-assumption"/>
          <p:cNvSpPr txBox="1"/>
          <p:nvPr/>
        </p:nvSpPr>
        <p:spPr>
          <a:xfrm>
            <a:off x="1009650" y="8191500"/>
            <a:ext cx="13220700"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단가·인력 처리량은 기획 가정입니다. 항목별 곱셈 산식은 바로 앞 견적표에 제시합니다.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산출 근거 ② 7개 전망은 어떻게 기획에 쓰이나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l-period"/>
          <p:cNvSpPr txBox="1"/>
          <p:nvPr/>
        </p:nvSpPr>
        <p:spPr>
          <a:xfrm>
            <a:off x="1009650" y="2009775"/>
            <a:ext cx="13220700" cy="4000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공식 월별 데이터 202401~202606 → 지표별 저장 모델 → 사업기간의 전망</a:t>
            </a:r>
          </a:p>
        </p:txBody>
      </p:sp>
      <p:sp>
        <p:nvSpPr>
          <p:cNvPr id="5" name="ml-two"/>
          <p:cNvSpPr/>
          <p:nvPr/>
        </p:nvSpPr>
        <p:spPr>
          <a:xfrm>
            <a:off x="1009650" y="2695575"/>
            <a:ext cx="5981700" cy="20859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l-five"/>
          <p:cNvSpPr/>
          <p:nvPr/>
        </p:nvSpPr>
        <p:spPr>
          <a:xfrm>
            <a:off x="7543800" y="2695575"/>
            <a:ext cx="6686550" cy="2085975"/>
          </a:xfrm>
          <a:prstGeom prst="rect">
            <a:avLst/>
          </a:prstGeom>
          <a:solidFill>
            <a:srgbClr val="ED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wo-heading"/>
          <p:cNvSpPr txBox="1"/>
          <p:nvPr/>
        </p:nvSpPr>
        <p:spPr>
          <a:xfrm>
            <a:off x="1200150" y="2867025"/>
            <a:ext cx="5524500" cy="40957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004EA2"/>
                </a:solidFill>
                <a:latin typeface="Noto Sans KR"/>
              </a:rPr>
              <a:t>2개 · 수치 기준선</a:t>
            </a:r>
          </a:p>
        </p:txBody>
      </p:sp>
      <p:sp>
        <p:nvSpPr>
          <p:cNvPr id="8" name="two-metrics"/>
          <p:cNvSpPr txBox="1"/>
          <p:nvPr/>
        </p:nvSpPr>
        <p:spPr>
          <a:xfrm>
            <a:off x="1200150" y="3400425"/>
            <a:ext cx="55245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4EA2"/>
                </a:solidFill>
                <a:latin typeface="Noto Sans KR"/>
              </a:rPr>
              <a:t>방문자 수 / 관광소비액</a:t>
            </a:r>
          </a:p>
        </p:txBody>
      </p:sp>
      <p:sp>
        <p:nvSpPr>
          <p:cNvPr id="9" name="two-use"/>
          <p:cNvSpPr txBox="1"/>
          <p:nvPr/>
        </p:nvSpPr>
        <p:spPr>
          <a:xfrm>
            <a:off x="1200150" y="3971925"/>
            <a:ext cx="5524500" cy="6762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전망 그래프 → 추가 목표 인원·소비액 계산</a:t>
            </a:r>
          </a:p>
          <a:p>
            <a:pPr eaLnBrk="0">
              <a:lnSpc>
                <a:spcPts val="2156"/>
              </a:lnSpc>
              <a:spcBef>
                <a:spcPts val="0"/>
              </a:spcBef>
              <a:spcAft>
                <a:spcPts val="0"/>
              </a:spcAft>
            </a:pPr>
            <a:r>
              <a:rPr sz="1725" b="0">
                <a:solidFill>
                  <a:srgbClr val="59636E"/>
                </a:solidFill>
                <a:latin typeface="Noto Sans KR"/>
              </a:rPr>
              <a:t>방문·소비 전망은 후보 비교에도 함께 전달</a:t>
            </a:r>
          </a:p>
        </p:txBody>
      </p:sp>
      <p:sp>
        <p:nvSpPr>
          <p:cNvPr id="10" name="five-heading"/>
          <p:cNvSpPr txBox="1"/>
          <p:nvPr/>
        </p:nvSpPr>
        <p:spPr>
          <a:xfrm>
            <a:off x="7734300" y="2867025"/>
            <a:ext cx="6305550" cy="40957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004EA2"/>
                </a:solidFill>
                <a:latin typeface="Noto Sans KR"/>
              </a:rPr>
              <a:t>5개 · 관광 흐름 진단</a:t>
            </a:r>
          </a:p>
        </p:txBody>
      </p:sp>
      <p:sp>
        <p:nvSpPr>
          <p:cNvPr id="11" name="five-metrics"/>
          <p:cNvSpPr txBox="1"/>
          <p:nvPr/>
        </p:nvSpPr>
        <p:spPr>
          <a:xfrm>
            <a:off x="7734300" y="3400425"/>
            <a:ext cx="6305550" cy="7239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체류시간 · 숙박일수 · 숙박방문 비율</a:t>
            </a:r>
          </a:p>
          <a:p>
            <a:pPr eaLnBrk="0">
              <a:lnSpc>
                <a:spcPts val="2531"/>
              </a:lnSpc>
              <a:spcBef>
                <a:spcPts val="0"/>
              </a:spcBef>
              <a:spcAft>
                <a:spcPts val="0"/>
              </a:spcAft>
            </a:pPr>
            <a:r>
              <a:rPr sz="2025" b="1">
                <a:solidFill>
                  <a:srgbClr val="004EA2"/>
                </a:solidFill>
                <a:latin typeface="Noto Sans KR"/>
              </a:rPr>
              <a:t>내비게이션 검색 · 숙박 목적지 검색</a:t>
            </a:r>
          </a:p>
        </p:txBody>
      </p:sp>
      <p:sp>
        <p:nvSpPr>
          <p:cNvPr id="12" name="five-use"/>
          <p:cNvSpPr txBox="1"/>
          <p:nvPr/>
        </p:nvSpPr>
        <p:spPr>
          <a:xfrm>
            <a:off x="7734300" y="4324350"/>
            <a:ext cx="6305550" cy="36195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관심 → 방문 → 체류·숙박의 흐름을 살필 참고 입력</a:t>
            </a:r>
          </a:p>
        </p:txBody>
      </p:sp>
      <p:sp>
        <p:nvSpPr>
          <p:cNvPr id="13" name="ml-arrow-left"/>
          <p:cNvSpPr txBox="1"/>
          <p:nvPr/>
        </p:nvSpPr>
        <p:spPr>
          <a:xfrm>
            <a:off x="3638550" y="4829175"/>
            <a:ext cx="952500" cy="523875"/>
          </a:xfrm>
          <a:prstGeom prst="rect">
            <a:avLst/>
          </a:prstGeom>
          <a:noFill/>
        </p:spPr>
        <p:txBody>
          <a:bodyPr wrap="none" lIns="57150" rIns="57150" tIns="38100" bIns="38100" anchor="t">
            <a:noAutofit/>
          </a:bodyPr>
          <a:lstStyle/>
          <a:p>
            <a:pPr eaLnBrk="0">
              <a:lnSpc>
                <a:spcPts val="3468"/>
              </a:lnSpc>
              <a:spcBef>
                <a:spcPts val="0"/>
              </a:spcBef>
              <a:spcAft>
                <a:spcPts val="0"/>
              </a:spcAft>
            </a:pPr>
            <a:r>
              <a:rPr sz="2775" b="1">
                <a:solidFill>
                  <a:srgbClr val="00B7C9"/>
                </a:solidFill>
                <a:latin typeface="Noto Sans KR"/>
              </a:rPr>
              <a:t>↓</a:t>
            </a:r>
          </a:p>
        </p:txBody>
      </p:sp>
      <p:sp>
        <p:nvSpPr>
          <p:cNvPr id="14" name="ml-arrow-right"/>
          <p:cNvSpPr txBox="1"/>
          <p:nvPr/>
        </p:nvSpPr>
        <p:spPr>
          <a:xfrm>
            <a:off x="10287000" y="4829175"/>
            <a:ext cx="952500" cy="523875"/>
          </a:xfrm>
          <a:prstGeom prst="rect">
            <a:avLst/>
          </a:prstGeom>
          <a:noFill/>
        </p:spPr>
        <p:txBody>
          <a:bodyPr wrap="none" lIns="57150" rIns="57150" tIns="38100" bIns="38100" anchor="t">
            <a:noAutofit/>
          </a:bodyPr>
          <a:lstStyle/>
          <a:p>
            <a:pPr eaLnBrk="0">
              <a:lnSpc>
                <a:spcPts val="3468"/>
              </a:lnSpc>
              <a:spcBef>
                <a:spcPts val="0"/>
              </a:spcBef>
              <a:spcAft>
                <a:spcPts val="0"/>
              </a:spcAft>
            </a:pPr>
            <a:r>
              <a:rPr sz="2775" b="1">
                <a:solidFill>
                  <a:srgbClr val="00B7C9"/>
                </a:solidFill>
                <a:latin typeface="Noto Sans KR"/>
              </a:rPr>
              <a:t>↓</a:t>
            </a:r>
          </a:p>
        </p:txBody>
      </p:sp>
      <p:sp>
        <p:nvSpPr>
          <p:cNvPr id="15" name="handoff"/>
          <p:cNvSpPr txBox="1"/>
          <p:nvPr/>
        </p:nvSpPr>
        <p:spPr>
          <a:xfrm>
            <a:off x="1009650" y="5410200"/>
            <a:ext cx="13220700" cy="40957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004EA2"/>
                </a:solidFill>
                <a:latin typeface="Noto Sans KR"/>
              </a:rPr>
              <a:t>서버가 7개 전망·전년 대비 변화·모델 평가를 근거 묶음으로 전달</a:t>
            </a:r>
          </a:p>
        </p:txBody>
      </p:sp>
      <p:sp>
        <p:nvSpPr>
          <p:cNvPr id="16" name="flow-title-0"/>
          <p:cNvSpPr txBox="1"/>
          <p:nvPr/>
        </p:nvSpPr>
        <p:spPr>
          <a:xfrm>
            <a:off x="1009650" y="6134100"/>
            <a:ext cx="290512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공식 사례</a:t>
            </a:r>
          </a:p>
        </p:txBody>
      </p:sp>
      <p:sp>
        <p:nvSpPr>
          <p:cNvPr id="17" name="flow-body-0"/>
          <p:cNvSpPr txBox="1"/>
          <p:nvPr/>
        </p:nvSpPr>
        <p:spPr>
          <a:xfrm>
            <a:off x="1009650" y="6677025"/>
            <a:ext cx="2905125" cy="7143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저장 6건</a:t>
            </a:r>
          </a:p>
          <a:p>
            <a:pPr eaLnBrk="0">
              <a:lnSpc>
                <a:spcPts val="2343"/>
              </a:lnSpc>
              <a:spcBef>
                <a:spcPts val="0"/>
              </a:spcBef>
              <a:spcAft>
                <a:spcPts val="0"/>
              </a:spcAft>
            </a:pPr>
            <a:r>
              <a:rPr sz="1875" b="0">
                <a:solidFill>
                  <a:srgbClr val="59636E"/>
                </a:solidFill>
                <a:latin typeface="Noto Sans KR"/>
              </a:rPr>
              <a:t>운영 방식·출처 확인</a:t>
            </a:r>
          </a:p>
        </p:txBody>
      </p:sp>
      <p:sp>
        <p:nvSpPr>
          <p:cNvPr id="18" name="flow-arrow-0"/>
          <p:cNvSpPr txBox="1"/>
          <p:nvPr/>
        </p:nvSpPr>
        <p:spPr>
          <a:xfrm>
            <a:off x="3876675" y="6553200"/>
            <a:ext cx="55245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19" name="flow-title-1"/>
          <p:cNvSpPr txBox="1"/>
          <p:nvPr/>
        </p:nvSpPr>
        <p:spPr>
          <a:xfrm>
            <a:off x="4429125" y="6134100"/>
            <a:ext cx="290512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Qwen 후보 비교</a:t>
            </a:r>
          </a:p>
        </p:txBody>
      </p:sp>
      <p:sp>
        <p:nvSpPr>
          <p:cNvPr id="20" name="flow-body-1"/>
          <p:cNvSpPr txBox="1"/>
          <p:nvPr/>
        </p:nvSpPr>
        <p:spPr>
          <a:xfrm>
            <a:off x="4429125" y="6677025"/>
            <a:ext cx="2905125" cy="7143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설계 후보 3개</a:t>
            </a:r>
          </a:p>
          <a:p>
            <a:pPr eaLnBrk="0">
              <a:lnSpc>
                <a:spcPts val="2343"/>
              </a:lnSpc>
              <a:spcBef>
                <a:spcPts val="0"/>
              </a:spcBef>
              <a:spcAft>
                <a:spcPts val="0"/>
              </a:spcAft>
            </a:pPr>
            <a:r>
              <a:rPr sz="1875" b="0">
                <a:solidFill>
                  <a:srgbClr val="59636E"/>
                </a:solidFill>
                <a:latin typeface="Noto Sans KR"/>
              </a:rPr>
              <a:t>지역 조건 + 사례 판단</a:t>
            </a:r>
          </a:p>
        </p:txBody>
      </p:sp>
      <p:sp>
        <p:nvSpPr>
          <p:cNvPr id="21" name="flow-arrow-1"/>
          <p:cNvSpPr txBox="1"/>
          <p:nvPr/>
        </p:nvSpPr>
        <p:spPr>
          <a:xfrm>
            <a:off x="7296150" y="6553200"/>
            <a:ext cx="55245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22" name="flow-title-2"/>
          <p:cNvSpPr txBox="1"/>
          <p:nvPr/>
        </p:nvSpPr>
        <p:spPr>
          <a:xfrm>
            <a:off x="7848600" y="6134100"/>
            <a:ext cx="290512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Gemma 본문</a:t>
            </a:r>
          </a:p>
        </p:txBody>
      </p:sp>
      <p:sp>
        <p:nvSpPr>
          <p:cNvPr id="23" name="flow-body-2"/>
          <p:cNvSpPr txBox="1"/>
          <p:nvPr/>
        </p:nvSpPr>
        <p:spPr>
          <a:xfrm>
            <a:off x="7848600" y="6677025"/>
            <a:ext cx="2905125" cy="7143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선정 사업·근거를</a:t>
            </a:r>
          </a:p>
          <a:p>
            <a:pPr eaLnBrk="0">
              <a:lnSpc>
                <a:spcPts val="2343"/>
              </a:lnSpc>
              <a:spcBef>
                <a:spcPts val="0"/>
              </a:spcBef>
              <a:spcAft>
                <a:spcPts val="0"/>
              </a:spcAft>
            </a:pPr>
            <a:r>
              <a:rPr sz="1875" b="0">
                <a:solidFill>
                  <a:srgbClr val="59636E"/>
                </a:solidFill>
                <a:latin typeface="Noto Sans KR"/>
              </a:rPr>
              <a:t>실행 계획으로 작성</a:t>
            </a:r>
          </a:p>
        </p:txBody>
      </p:sp>
      <p:sp>
        <p:nvSpPr>
          <p:cNvPr id="24" name="flow-arrow-2"/>
          <p:cNvSpPr txBox="1"/>
          <p:nvPr/>
        </p:nvSpPr>
        <p:spPr>
          <a:xfrm>
            <a:off x="10715625" y="6553200"/>
            <a:ext cx="55245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00B7C9"/>
                </a:solidFill>
                <a:latin typeface="Noto Sans KR"/>
              </a:rPr>
              <a:t>→</a:t>
            </a:r>
          </a:p>
        </p:txBody>
      </p:sp>
      <p:sp>
        <p:nvSpPr>
          <p:cNvPr id="25" name="flow-title-3"/>
          <p:cNvSpPr txBox="1"/>
          <p:nvPr/>
        </p:nvSpPr>
        <p:spPr>
          <a:xfrm>
            <a:off x="11268075" y="6134100"/>
            <a:ext cx="2905125"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004EA2"/>
                </a:solidFill>
                <a:latin typeface="Noto Sans KR"/>
              </a:rPr>
              <a:t>검수·출력</a:t>
            </a:r>
          </a:p>
        </p:txBody>
      </p:sp>
      <p:sp>
        <p:nvSpPr>
          <p:cNvPr id="26" name="flow-body-3"/>
          <p:cNvSpPr txBox="1"/>
          <p:nvPr/>
        </p:nvSpPr>
        <p:spPr>
          <a:xfrm>
            <a:off x="11268075" y="6677025"/>
            <a:ext cx="2905125" cy="7143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코드·로컬 검수</a:t>
            </a:r>
          </a:p>
          <a:p>
            <a:pPr eaLnBrk="0">
              <a:lnSpc>
                <a:spcPts val="2343"/>
              </a:lnSpc>
              <a:spcBef>
                <a:spcPts val="0"/>
              </a:spcBef>
              <a:spcAft>
                <a:spcPts val="0"/>
              </a:spcAft>
            </a:pPr>
            <a:r>
              <a:rPr sz="1875" b="0">
                <a:solidFill>
                  <a:srgbClr val="59636E"/>
                </a:solidFill>
                <a:latin typeface="Noto Sans KR"/>
              </a:rPr>
              <a:t>웹 · Word · PPT</a:t>
            </a:r>
          </a:p>
        </p:txBody>
      </p:sp>
      <p:sp>
        <p:nvSpPr>
          <p:cNvPr id="27" name="ml-boundary-rule"/>
          <p:cNvSpPr/>
          <p:nvPr/>
        </p:nvSpPr>
        <p:spPr>
          <a:xfrm>
            <a:off x="1009650" y="7620000"/>
            <a:ext cx="13220700" cy="19050"/>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ml-boundary"/>
          <p:cNvSpPr txBox="1"/>
          <p:nvPr/>
        </p:nvSpPr>
        <p:spPr>
          <a:xfrm>
            <a:off x="1009650" y="7839075"/>
            <a:ext cx="13220700" cy="6191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이 보고서: 5개 지표는 전년 동월 기준모델을 사용. ML은 관광지표를 예측하고, 사례·사업의 최종 선택은 문서와 LLM 판단으로 수행합니다.</a:t>
            </a:r>
          </a:p>
          <a:p>
            <a:pPr eaLnBrk="0">
              <a:lnSpc>
                <a:spcPts val="1968"/>
              </a:lnSpc>
              <a:spcBef>
                <a:spcPts val="0"/>
              </a:spcBef>
              <a:spcAft>
                <a:spcPts val="0"/>
              </a:spcAft>
            </a:pPr>
            <a:r>
              <a:rPr sz="1575" b="0">
                <a:solidFill>
                  <a:srgbClr val="59636E"/>
                </a:solidFill>
                <a:latin typeface="Noto Sans KR"/>
              </a:rPr>
              <a:t>7개 값으로 학습한 별도 사업 추천 모델은 아닙니다. 입력을 읽었다는 사실과 판단의 타당성은 구분합니다.</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