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r="http://schemas.openxmlformats.org/officeDocument/2006/relationships" id="272" r:id="rId21"/>
    <p:sldId xmlns:r="http://schemas.openxmlformats.org/officeDocument/2006/relationships" id="262" r:id="R4c9d0e3030fa4c5f"/>
    <p:sldId xmlns:r="http://schemas.openxmlformats.org/officeDocument/2006/relationships" id="263" r:id="Rbbe47957bc6641c0"/>
    <p:sldId xmlns:r="http://schemas.openxmlformats.org/officeDocument/2006/relationships" id="271" r:id="rId17"/>
    <p:sldId xmlns:r="http://schemas.openxmlformats.org/officeDocument/2006/relationships" id="264" r:id="R72f63d3229d64861"/>
    <p:sldId xmlns:r="http://schemas.openxmlformats.org/officeDocument/2006/relationships" id="273" r:id="rId18"/>
    <p:sldId xmlns:r="http://schemas.openxmlformats.org/officeDocument/2006/relationships" id="274" r:id="rId22"/>
    <p:sldId xmlns:r="http://schemas.openxmlformats.org/officeDocument/2006/relationships" id="266" r:id="R029df0519ade4c8b"/>
    <p:sldId xmlns:r="http://schemas.openxmlformats.org/officeDocument/2006/relationships" id="268" r:id="rId19"/>
    <p:sldId xmlns:r="http://schemas.openxmlformats.org/officeDocument/2006/relationships" id="269" r: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4.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5.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6.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377.8392</c:v>
                </c:pt>
                <c:pt idx="1">
                  <c:v>374.8084</c:v>
                </c:pt>
                <c:pt idx="2">
                  <c:v>374.1663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384.13652</c:v>
                </c:pt>
                <c:pt idx="1">
                  <c:v>387.30201333</c:v>
                </c:pt>
                <c:pt idx="2">
                  <c:v>392.874615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20.0"/>
          <c:min val="34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787.39302878</c:v>
                </c:pt>
                <c:pt idx="1">
                  <c:v>811.04223698</c:v>
                </c:pt>
                <c:pt idx="2">
                  <c:v>837.02422444</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800.51624593</c:v>
                </c:pt>
                <c:pt idx="1">
                  <c:v>838.07697821</c:v>
                </c:pt>
                <c:pt idx="2">
                  <c:v>878.87543566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95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4.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"야간 프로그램 이용 완료율 (분자: 야간 이용을 완료한 고유 참여 ID 수 / 분모: 승인한 고유 참여 ID 수). 기준기간: 해당 승인·발급 집단의 이용 유효기간. 측정 주기: 매주. 수집 방법: 사업 담당자의 신청·승인·이용·결제 원장 집계. 성공 기준: 착수 전 확정할 기준선 및 표본수 달성 여부. 매출 비교는 별도 지표로, 같은 참여 상점·업종·요일·집계범위의 취소 제외 결제액을 운영 전 4주와 운영기간의 동일 길이 구간에서 비교함.",</a:t>
            </a:r>
          </a:p>
          <a:p xmlns:a="http://schemas.openxmlformats.org/drawingml/2006/main">
            <a:r>
              <a:t>    "title": "부평역 권역 야간 체류 유도 프로그램",</a:t>
            </a:r>
          </a:p>
          <a:p xmlns:a="http://schemas.openxmlformats.org/drawingml/2006/main">
            <a:r>
              <a:t>    "budget":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xmlns:a="http://schemas.openxmlformats.org/drawingml/2006/main">
            <a:r>
              <a:t>    "evidence": "dataset:28237:1, dataset:28237:2, dataset:28237:3, dataset:28237:4, dataset:28237:5, dataset:28237:6, case:3e081ab48300f1",</a:t>
            </a:r>
          </a:p>
          <a:p xmlns:a="http://schemas.openxmlformats.org/drawingml/2006/main">
            <a:r>
              <a:t>    "priority": 1,</a:t>
            </a:r>
          </a:p>
          <a:p xmlns:a="http://schemas.openxmlformats.org/drawingml/2006/main">
            <a:r>
              <a:t>    "solution": "부평역 인근 보행 권역 내 2~3개의 야간 콘텐츠(실내 공연, 야간 체험 등)와 소수 참여 점포를 연계하여, 체험 완료 후 인접 식음/쇼핑 점포에서 사용할 수 있는 후속 혜택을 제공하는 방식",</a:t>
            </a:r>
          </a:p>
          <a:p xmlns:a="http://schemas.openxmlformats.org/drawingml/2006/main">
            <a:r>
              <a:t>    "timeframe": "2026-10 ~ 2026-12, 3개월",</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"problem_to_solve": "관광소비 및 방문자 수 감소 전망에 대응하고, 예측된 체류시간 증가 추세를 실질적인 야간 경제 활성화로 연결함",</a:t>
            </a:r>
          </a:p>
          <a:p xmlns:a="http://schemas.openxmlformats.org/drawingml/2006/main">
            <a:r>
              <a:t>    "comparison_analysis": "인천광역시의 '야간관광 특화도시' 사업(송도·개항장 등)은 광역 단위의 대규모 사업이나, 본 안은 부평역 인근 보행 권역으로 축소하여 운영 효율을 높임. 또한 10~12월의 기온과 일몰 시간을 고려하여 실외 행사보다는 실내 문화시설 및 식음업소를 연결한 예약제 콘텐츠에 집중함",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참여 업체 명단 및 콘텐츠 운영 계획을 확정하고 협약 체결",</a:t>
            </a:r>
          </a:p>
          <a:p xmlns:a="http://schemas.openxmlformats.org/drawingml/2006/main">
            <a:r>
              <a:t>        "schedule": "2026-10",</a:t>
            </a:r>
          </a:p>
          <a:p xmlns:a="http://schemas.openxmlformats.org/drawingml/2006/main">
            <a:r>
              <a:t>        "deliverable": "참여 업체 명단 및 콘텐츠 운영 계획서"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"안전 관리자가 야간 보행 동선 점검 및 안전요원 배치 계획 수립",</a:t>
            </a:r>
          </a:p>
          <a:p xmlns:a="http://schemas.openxmlformats.org/drawingml/2006/main">
            <a:r>
              <a:t>        "schedule": "2026-10",</a:t>
            </a:r>
          </a:p>
          <a:p xmlns:a="http://schemas.openxmlformats.org/drawingml/2006/main">
            <a:r>
              <a:t>        "deliverable": "야간 보행 동선 및 안전요원 배치 계획"</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실시하고 주간 운영 결과 및 참여자 피드백을 기록",</a:t>
            </a:r>
          </a:p>
          <a:p xmlns:a="http://schemas.openxmlformats.org/drawingml/2006/main">
            <a:r>
              <a:t>        "schedule": "2026-11",</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"사업 담당자가 매주 신청·승인·취소·이용·결제 원장을 집계하여 데이터 수집",</a:t>
            </a:r>
          </a:p>
          <a:p xmlns:a="http://schemas.openxmlformats.org/drawingml/2006/main">
            <a:r>
              <a:t>        "schedule": "2026-11 ~ 2026-12",</a:t>
            </a:r>
          </a:p>
          <a:p xmlns:a="http://schemas.openxmlformats.org/drawingml/2006/main">
            <a:r>
              <a:t>        "deliverable": "매주 업데이트되는 이용·결제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수집된 원장을 바탕으로 최종 성과 분석 및 사업 종료 보고",</a:t>
            </a:r>
          </a:p>
          <a:p xmlns:a="http://schemas.openxmlformats.org/drawingml/2006/main">
            <a:r>
              <a:t>        "schedule": "2026-12",</a:t>
            </a:r>
          </a:p>
          <a:p xmlns:a="http://schemas.openxmlformats.org/drawingml/2006/main">
            <a:r>
              <a:t>        "deliverable": "최종 성과 분석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"case:3e081ab48300f1"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"야간 프로그램 이용 완료율 (분자: 야간 이용을 완료한 고유 참여 ID 수 / 분모: 승인한 고유 참여 ID 수). 기준기간: 해당 승인·발급 집단의 이용 유효기간. 측정 주기: 매주. 수집 방법: 사업 담당자의 신청·승인·이용·결제 원장 집계. 성공 기준: 착수 전 확정할 기준선 및 표본수 달성 여부. 매출 비교는 별도 지표로, 같은 참여 상점·업종·요일·집계범위의 취소 제외 결제액을 운영 전 4주와 운영기간의 동일 길이 구간에서 비교함.",</a:t>
            </a:r>
          </a:p>
          <a:p xmlns:a="http://schemas.openxmlformats.org/drawingml/2006/main">
            <a:r>
              <a:t>    "title": "부평역 권역 야간 체류 유도 프로그램",</a:t>
            </a:r>
          </a:p>
          <a:p xmlns:a="http://schemas.openxmlformats.org/drawingml/2006/main">
            <a:r>
              <a:t>    "budget":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xmlns:a="http://schemas.openxmlformats.org/drawingml/2006/main">
            <a:r>
              <a:t>    "evidence": "dataset:28237:1, dataset:28237:2, dataset:28237:3, dataset:28237:4, dataset:28237:5, dataset:28237:6, case:3e081ab48300f1",</a:t>
            </a:r>
          </a:p>
          <a:p xmlns:a="http://schemas.openxmlformats.org/drawingml/2006/main">
            <a:r>
              <a:t>    "priority": 1,</a:t>
            </a:r>
          </a:p>
          <a:p xmlns:a="http://schemas.openxmlformats.org/drawingml/2006/main">
            <a:r>
              <a:t>    "solution": "부평역 인근 보행 권역 내 2~3개의 야간 콘텐츠(실내 공연, 야간 체험 등)와 소수 참여 점포를 연계하여, 체험 완료 후 인접 식음/쇼핑 점포에서 사용할 수 있는 후속 혜택을 제공하는 방식",</a:t>
            </a:r>
          </a:p>
          <a:p xmlns:a="http://schemas.openxmlformats.org/drawingml/2006/main">
            <a:r>
              <a:t>    "timeframe": "2026-10 ~ 2026-12, 3개월",</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"problem_to_solve": "관광소비 및 방문자 수 감소 전망에 대응하고, 예측된 체류시간 증가 추세를 실질적인 야간 경제 활성화로 연결함",</a:t>
            </a:r>
          </a:p>
          <a:p xmlns:a="http://schemas.openxmlformats.org/drawingml/2006/main">
            <a:r>
              <a:t>    "comparison_analysis": "인천광역시의 '야간관광 특화도시' 사업(송도·개항장 등)은 광역 단위의 대규모 사업이나, 본 안은 부평역 인근 보행 권역으로 축소하여 운영 효율을 높임. 또한 10~12월의 기온과 일몰 시간을 고려하여 실외 행사보다는 실내 문화시설 및 식음업소를 연결한 예약제 콘텐츠에 집중함",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참여 업체 명단 및 콘텐츠 운영 계획을 확정하고 협약 체결",</a:t>
            </a:r>
          </a:p>
          <a:p xmlns:a="http://schemas.openxmlformats.org/drawingml/2006/main">
            <a:r>
              <a:t>        "schedule": "2026-10",</a:t>
            </a:r>
          </a:p>
          <a:p xmlns:a="http://schemas.openxmlformats.org/drawingml/2006/main">
            <a:r>
              <a:t>        "deliverable": "참여 업체 명단 및 콘텐츠 운영 계획서"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"안전 관리자가 야간 보행 동선 점검 및 안전요원 배치 계획 수립",</a:t>
            </a:r>
          </a:p>
          <a:p xmlns:a="http://schemas.openxmlformats.org/drawingml/2006/main">
            <a:r>
              <a:t>        "schedule": "2026-10",</a:t>
            </a:r>
          </a:p>
          <a:p xmlns:a="http://schemas.openxmlformats.org/drawingml/2006/main">
            <a:r>
              <a:t>        "deliverable": "야간 보행 동선 및 안전요원 배치 계획"</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실시하고 주간 운영 결과 및 참여자 피드백을 기록",</a:t>
            </a:r>
          </a:p>
          <a:p xmlns:a="http://schemas.openxmlformats.org/drawingml/2006/main">
            <a:r>
              <a:t>        "schedule": "2026-11",</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"사업 담당자가 매주 신청·승인·취소·이용·결제 원장을 집계하여 데이터 수집",</a:t>
            </a:r>
          </a:p>
          <a:p xmlns:a="http://schemas.openxmlformats.org/drawingml/2006/main">
            <a:r>
              <a:t>        "schedule": "2026-11 ~ 2026-12",</a:t>
            </a:r>
          </a:p>
          <a:p xmlns:a="http://schemas.openxmlformats.org/drawingml/2006/main">
            <a:r>
              <a:t>        "deliverable": "매주 업데이트되는 이용·결제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수집된 원장을 바탕으로 최종 성과 분석 및 사업 종료 보고",</a:t>
            </a:r>
          </a:p>
          <a:p xmlns:a="http://schemas.openxmlformats.org/drawingml/2006/main">
            <a:r>
              <a:t>        "schedule": "2026-12",</a:t>
            </a:r>
          </a:p>
          <a:p xmlns:a="http://schemas.openxmlformats.org/drawingml/2006/main">
            <a:r>
              <a:t>        "deliverable": "최종 성과 분석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"case:3e081ab48300f1"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dataset:28237:1 | 한국관광 데이터랩 · 인천광역시 부평구 순 방문자 수 및 숙박 비율 (이동통신 기반 외지인) | https://datalab.visitkorea.or.kr/</a:t>
            </a:r>
          </a:p>
          <a:p>
            <a:r>
              <a:t>dataset:28237:2 | 한국관광 데이터랩 · 인천광역시 부평구 월간 순 방문자 수 (이동통신 기반 외지인) | https://datalab.visitkorea.or.kr/</a:t>
            </a:r>
          </a:p>
          <a:p>
            <a:r>
              <a:t>dataset:28237:3 | 한국관광 데이터랩 · 인천광역시 부평구 관광소비 추이_외지인 | https://datalab.visitkorea.or.kr/</a:t>
            </a:r>
          </a:p>
          <a:p>
            <a:r>
              <a:t>dataset:28237:4 | 한국관광 데이터랩 · 인천광역시 부평구 숙박방문자 비율 추이 (이동통신 기반 외지인) | https://datalab.visitkorea.or.kr/</a:t>
            </a:r>
          </a:p>
          <a:p>
            <a:r>
              <a:t>dataset:28237:5 | 한국관광 데이터랩 · 인천광역시 부평구 평균 숙박일 (이동통신 기반 외지인) | https://datalab.visitkorea.or.kr/</a:t>
            </a:r>
          </a:p>
          <a:p>
            <a:r>
              <a:t>dataset:28237:6 | 한국관광 데이터랩 · 인천광역시 부평구 내비게이션 목적지 유형별 검색량 | https://datalab.visitkorea.or.kr/</a:t>
            </a:r>
          </a:p>
          <a:p>
            <a:r>
              <a:t>dataset:28237:7 | 한국관광 데이터랩 · 인천광역시 부평구 SNS 언급량 | https://datalab.visitkorea.or.kr/</a:t>
            </a:r>
          </a:p>
          <a:p>
            <a:r>
              <a:t>datalab:088dce68db8c:f9e07528e9cc | 관광소비/2025_01_12.zip | https://datalab.visitkorea.or.kr/</a:t>
            </a:r>
          </a:p>
          <a:p>
            <a:r>
              <a:t>datalab:12893561bbea:153ed3aa5a6e | 숙박_체류시간/2026_01_06.zip | https://datalab.visitkorea.or.kr/</a:t>
            </a:r>
          </a:p>
          <a:p>
            <a:r>
              <a:t>datalab:328e6d50da04:877452ad2b59 | 방문자/2025_01_12.zip | https://datalab.visitkorea.or.kr/</a:t>
            </a:r>
          </a:p>
          <a:p>
            <a:r>
              <a:t>datalab:5104039977f5:37dc3b7e64b5 | 방문자/2026_01_06.zip | https://datalab.visitkorea.or.kr/</a:t>
            </a:r>
          </a:p>
          <a:p>
            <a:r>
              <a:t>datalab:b7bac265962d:97cf4d1db102 | 숙박_체류시간/2025_01_12.zip | https://datalab.visitkorea.or.kr/</a:t>
            </a:r>
          </a:p>
          <a:p>
            <a:r>
              <a:t>datalab:bd21758c8a88:9597865e62ef | 관광소비/2026_01_06.zip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regional-status:0b32b3d6db4d:a1a67792e3b1 | 한국관광 데이터랩 지역별 관광 현황 · 인천광역시 부평구 · 지역집중률 | https://datalab.visitkorea.or.kr/</a:t>
            </a:r>
          </a:p>
          <a:p>
            <a:r>
              <a:t>regional-status:98eebe8613d3:723745281038 | 한국관광 데이터랩 지역별 관광 현황 · 인천광역시 부평구 · 유입유출 | https://datalab.visitkorea.or.kr/</a:t>
            </a:r>
          </a:p>
          <a:p>
            <a:r>
              <a:t>regional-status:b12ff2da0892:a553d7015259 | 한국관광 데이터랩 지역별 관광 현황 · 인천광역시 부평구 · 인기관광지 | https://datalab.visitkorea.or.kr/</a:t>
            </a:r>
          </a:p>
          <a:p>
            <a:r>
              <a:t>ml:28237:regional-demand-v3.1:202606 | 지역 관광수요 ML 전망 · 공식 관측값 아님 | URL 미기록</a:t>
            </a:r>
          </a:p>
          <a:p>
            <a:r>
              <a:t>tour-api:1619098 | 굴포천 생태하천 | https://apis.data.go.kr/B551011/KorService2</a:t>
            </a:r>
          </a:p>
          <a:p>
            <a:r>
              <a:t>tour-api:2875411 | 대왕김밥 | https://apis.data.go.kr/B551011/KorService2</a:t>
            </a:r>
          </a:p>
          <a:p>
            <a:r>
              <a:t>tour-api:2768148 | 돈타래게장정식 | https://apis.data.go.kr/B551011/KorService2</a:t>
            </a:r>
          </a:p>
          <a:p>
            <a:r>
              <a:t>tour-api:2873461 | 면박사가야밀면 | https://apis.data.go.kr/B551011/KorService2</a:t>
            </a:r>
          </a:p>
          <a:p>
            <a:r>
              <a:t>tour-api:2833868 | 모녀떡볶이 부평남부역점 | https://apis.data.go.kr/B551011/KorService2</a:t>
            </a:r>
          </a:p>
          <a:p>
            <a:r>
              <a:t>tour-api:2768156 | 백운공원 | https://apis.data.go.kr/B551011/KorService2</a:t>
            </a:r>
          </a:p>
          <a:p>
            <a:r>
              <a:t>tour-api:2875455 | 별미칡냉면원조 | https://apis.data.go.kr/B551011/KorService2</a:t>
            </a:r>
          </a:p>
          <a:p>
            <a:r>
              <a:t>tour-api:2767563 | 부영공원 | https://apis.data.go.kr/B551011/KorService2</a:t>
            </a:r>
          </a:p>
          <a:p>
            <a:r>
              <a:t>tour-api:3456754 | 부평 굴포누리 기후변화체험관 | https://apis.data.go.kr/B551011/KorService2</a:t>
            </a:r>
          </a:p>
          <a:p>
            <a:r>
              <a:t>tour-api:1025514 | 부평 종합시장 | https://apis.data.go.kr/B551011/KorService2</a:t>
            </a:r>
          </a:p>
          <a:p>
            <a:r>
              <a:t>tour-api:749211 | 부평 해물탕거리 | https://apis.data.go.kr/B551011/KorService2</a:t>
            </a:r>
          </a:p>
          <a:p>
            <a:r>
              <a:t>tour-api:2021033 | 부평모두몰(부평지하도상가) | https://apis.data.go.kr/B551011/KorService2</a:t>
            </a:r>
          </a:p>
          <a:p>
            <a:r>
              <a:t>tour-api:2768142 | 부평시장 | https://apis.data.go.kr/B551011/KorService2</a:t>
            </a:r>
          </a:p>
          <a:p>
            <a:r>
              <a:t>tour-api:3457385 | 부평아트센터 | https://apis.data.go.kr/B551011/KorService2</a:t>
            </a:r>
          </a:p>
          <a:p>
            <a:r>
              <a:t>tour-api:2768190 | 부평역북광장 | https://apis.data.go.kr/B551011/KorService2</a:t>
            </a:r>
          </a:p>
          <a:p>
            <a:r>
              <a:t>tour-api:2875488 | 부흥기사식당 | https://apis.data.go.kr/B551011/KorService2</a:t>
            </a:r>
          </a:p>
          <a:p>
            <a:r>
              <a:t>tour-api:2768180 | 삼산건강공원 | https://apis.data.go.kr/B551011/KorService2</a:t>
            </a:r>
          </a:p>
          <a:p>
            <a:r>
              <a:t>tour-api:126568 | 신트리공원(인천) | https://apis.data.go.kr/B551011/KorService2</a:t>
            </a:r>
          </a:p>
          <a:p>
            <a:r>
              <a:t>tour-api:2835948 | 양평신내서울해장국 부평직영점 | https://apis.data.go.kr/B551011/KorService2</a:t>
            </a:r>
          </a:p>
          <a:p>
            <a:r>
              <a:t>tour-api:2765473 | 열우물전통시장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a:r>
              <a:t>case:c621f7b6c81807 | 서울특별시 ‘서울의 밤이 더 길어진다—서울달 금·토 심야 운영’ 및 운영 확대 자료 | https://www.seoul.go.kr/news/news_report.do?nttNo=462801</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인천광역시 부평구 순 방문자 수 및 숙박 비율 (이동통신 기반 외지인)",</a:t>
            </a:r>
          </a:p>
          <a:p>
            <a:r>
              <a:t>      "summary": "월간 순 방문자 수: 3,514,485명 (관측 기준월: 2026-06)",</a:t>
            </a:r>
          </a:p>
          <a:p>
            <a:r>
              <a:t>      "source_id": "dataset:28237:1",</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월간 순 방문자 수 (이동통신 기반 외지인)",</a:t>
            </a:r>
          </a:p>
          <a:p>
            <a:r>
              <a:t>      "summary": "전년동월 외지인 방문자 증감률: -2.2% (관측 기준월: 2026-06)",</a:t>
            </a:r>
          </a:p>
          <a:p>
            <a:r>
              <a:t>      "source_id": "dataset:28237:2",</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관광소비 추이_외지인",</a:t>
            </a:r>
          </a:p>
          <a:p>
            <a:r>
              <a:t>      "summary": "월간 외지인 관광소비 총액: 77,138,204,000원 (관측 기준월: 2026-06)",</a:t>
            </a:r>
          </a:p>
          <a:p>
            <a:r>
              <a:t>      "source_id": "dataset:28237:3",</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숙박방문자 비율 추이 (이동통신 기반 외지인)",</a:t>
            </a:r>
          </a:p>
          <a:p>
            <a:r>
              <a:t>      "summary": "외지인 숙박 방문 비율: 6.6% (관측 기준월: 2026-06)",</a:t>
            </a:r>
          </a:p>
          <a:p>
            <a:r>
              <a:t>      "source_id": "dataset:28237:4",</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평균 숙박일 (이동통신 기반 외지인)",</a:t>
            </a:r>
          </a:p>
          <a:p>
            <a:r>
              <a:t>      "summary": "외지인 평균 숙박일수: 2.90일 (관측 기준월: 2026-06)",</a:t>
            </a:r>
          </a:p>
          <a:p>
            <a:r>
              <a:t>      "source_id": "dataset:28237:5",</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내비게이션 목적지 유형별 검색량",</a:t>
            </a:r>
          </a:p>
          <a:p>
            <a:r>
              <a:t>      "summary": "내비게이션 목적지 검색량: 121,606건 (관측 기준월: 2026-06)",</a:t>
            </a:r>
          </a:p>
          <a:p>
            <a:r>
              <a:t>      "source_id": "dataset:28237:6",</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SNS 언급량",</a:t>
            </a:r>
          </a:p>
          <a:p>
            <a:r>
              <a:t>      "summary": "SNS 언급량: 44,932건 (관측 기준월: 2026-06)",</a:t>
            </a:r>
          </a:p>
          <a:p>
            <a:r>
              <a:t>      "source_id": "dataset:28237:7",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인천광역시_부평구/관광소비/2025_01_12.zip",</a:t>
            </a:r>
          </a:p>
          <a:p>
            <a:r>
              <a:t>      "summary": "전국 비교 기준 기간: 2025-07 ~ 2026-06",</a:t>
            </a:r>
          </a:p>
          <a:p>
            <a:r>
              <a:t>      "source_id": "datalab:088dce68db8c:f9e07528e9cc",</a:t>
            </a:r>
          </a:p>
          <a:p>
            <a:r>
              <a:t>      "source_url": "https://datalab.visitkorea.or.kr/",</a:t>
            </a:r>
          </a:p>
          <a:p>
            <a:r>
              <a:t>      "source_type": "nationwide_dataset",</a:t>
            </a:r>
          </a:p>
          <a:p>
            <a:r>
              <a:t>      "observation_period": "2025-07 ~ 2026-06",</a:t>
            </a:r>
          </a:p>
          <a:p>
            <a:r>
              <a:t>      "published_or_updated_at": "2024-07 ~ 2025-06",</a:t>
            </a:r>
          </a:p>
          <a:p>
            <a:r>
              <a:t>      "source_file_name": "인천광역시_부평구/관광소비/2025_01_12.zip"</a:t>
            </a:r>
          </a:p>
          <a:p>
            <a:r>
              <a:t>    },</a:t>
            </a:r>
          </a:p>
          <a:p>
            <a:r>
              <a:t>    {</a:t>
            </a:r>
          </a:p>
          <a:p>
            <a:r>
              <a:t>      "title": "한국관광 데이터랩 공식 다운로드 · 인천광역시_부평구/숙박_체류시간/2026_01_06.zip",</a:t>
            </a:r>
          </a:p>
          <a:p>
            <a:r>
              <a:t>      "summary": "전국 비교 기준 기간: 2025-07 ~ 2026-06",</a:t>
            </a:r>
          </a:p>
          <a:p>
            <a:r>
              <a:t>      "source_id": "datalab:12893561bbea:153ed3aa5a6e",</a:t>
            </a:r>
          </a:p>
          <a:p>
            <a:r>
              <a:t>      "source_url": "https://datalab.visitkorea.or.kr/",</a:t>
            </a:r>
          </a:p>
          <a:p>
            <a:r>
              <a:t>      "source_type": "nationwide_dataset",</a:t>
            </a:r>
          </a:p>
          <a:p>
            <a:r>
              <a:t>      "observation_period": "2025-07 ~ 2026-06",</a:t>
            </a:r>
          </a:p>
          <a:p>
            <a:r>
              <a:t>      "published_or_updated_at": "2024-07 ~ 2025-06",</a:t>
            </a:r>
          </a:p>
          <a:p>
            <a:r>
              <a:t>      "source_file_name": "인천광역시_부평구/숙박_체류시간/2026_01_06.zip"</a:t>
            </a:r>
          </a:p>
          <a:p>
            <a:r>
              <a:t>    },</a:t>
            </a:r>
          </a:p>
          <a:p>
            <a:r>
              <a:t>    {</a:t>
            </a:r>
          </a:p>
          <a:p>
            <a:r>
              <a:t>      "title": "한국관광 데이터랩 공식 다운로드 · 인천광역시_부평구/방문자/2025_01_12.zip",</a:t>
            </a:r>
          </a:p>
          <a:p>
            <a:r>
              <a:t>      "summary": "전국 비교 기준 기간: 2025-07 ~ 2026-06",</a:t>
            </a:r>
          </a:p>
          <a:p>
            <a:r>
              <a:t>      "source_id": "datalab:328e6d50da04:877452ad2b59",</a:t>
            </a:r>
          </a:p>
          <a:p>
            <a:r>
              <a:t>      "source_url": "https://datalab.visitkorea.or.kr/",</a:t>
            </a:r>
          </a:p>
          <a:p>
            <a:r>
              <a:t>      "source_type": "nationwide_dataset",</a:t>
            </a:r>
          </a:p>
          <a:p>
            <a:r>
              <a:t>      "observation_period": "2025-07 ~ 2026-06",</a:t>
            </a:r>
          </a:p>
          <a:p>
            <a:r>
              <a:t>      "published_or_updated_at": "2024-07 ~ 2025-06",</a:t>
            </a:r>
          </a:p>
          <a:p>
            <a:r>
              <a:t>      "source_file_name": "인천광역시_부평구/방문자/2025_01_12.zip"</a:t>
            </a:r>
          </a:p>
          <a:p>
            <a:r>
              <a:t>    },</a:t>
            </a:r>
          </a:p>
          <a:p>
            <a:r>
              <a:t>    {</a:t>
            </a:r>
          </a:p>
          <a:p>
            <a:r>
              <a:t>      "title": "한국관광 데이터랩 공식 다운로드 · 인천광역시_부평구/방문자/2026_01_06.zip",</a:t>
            </a:r>
          </a:p>
          <a:p>
            <a:r>
              <a:t>      "summary": "전국 비교 기준 기간: 2025-07 ~ 2026-06",</a:t>
            </a:r>
          </a:p>
          <a:p>
            <a:r>
              <a:t>      "source_id": "datalab:5104039977f5:37dc3b7e64b5",</a:t>
            </a:r>
          </a:p>
          <a:p>
            <a:r>
              <a:t>      "source_url": "https://datalab.visitkorea.or.kr/",</a:t>
            </a:r>
          </a:p>
          <a:p>
            <a:r>
              <a:t>      "source_type": "nationwide_dataset",</a:t>
            </a:r>
          </a:p>
          <a:p>
            <a:r>
              <a:t>      "observation_period": "2025-07 ~ 2026-06",</a:t>
            </a:r>
          </a:p>
          <a:p>
            <a:r>
              <a:t>      "published_or_updated_at": "2024-07 ~ 2025-06",</a:t>
            </a:r>
          </a:p>
          <a:p>
            <a:r>
              <a:t>      "source_file_name": "인천광역시_부평구/방문자/2026_01_06.zip"</a:t>
            </a:r>
          </a:p>
          <a:p>
            <a:r>
              <a:t>    },</a:t>
            </a:r>
          </a:p>
          <a:p>
            <a:r>
              <a:t>    {</a:t>
            </a:r>
          </a:p>
          <a:p>
            <a:r>
              <a:t>      "title": "한국관광 데이터랩 공식 다운로드 · 인천광역시_부평구/숙박_체류시간/2025_01_12.zip",</a:t>
            </a:r>
          </a:p>
          <a:p>
            <a:r>
              <a:t>      "summary": "전국 비교 기준 기간: 2025-07 ~ 2026-06",</a:t>
            </a:r>
          </a:p>
          <a:p>
            <a:r>
              <a:t>      "source_id": "datalab:b7bac265962d:97cf4d1db102",</a:t>
            </a:r>
          </a:p>
          <a:p>
            <a:r>
              <a:t>      "source_url": "https://datalab.visitkorea.or.kr/",</a:t>
            </a:r>
          </a:p>
          <a:p>
            <a:r>
              <a:t>      "source_type": "nationwide_dataset",</a:t>
            </a:r>
          </a:p>
          <a:p>
            <a:r>
              <a:t>      "observation_period": "2025-07 ~ 2026-06",</a:t>
            </a:r>
          </a:p>
          <a:p>
            <a:r>
              <a:t>      "published_or_updated_at": "2024-07 ~ 2025-06",</a:t>
            </a:r>
          </a:p>
          <a:p>
            <a:r>
              <a:t>      "source_file_name": "인천광역시_부평구/숙박_체류시간/2025_01_12.zip"</a:t>
            </a:r>
          </a:p>
          <a:p>
            <a:r>
              <a:t>    },</a:t>
            </a:r>
          </a:p>
          <a:p>
            <a:r>
              <a:t>    {</a:t>
            </a:r>
          </a:p>
          <a:p>
            <a:r>
              <a:t>      "title": "한국관광 데이터랩 공식 다운로드 · 인천광역시_부평구/관광소비/2026_01_06.zip",</a:t>
            </a:r>
          </a:p>
          <a:p>
            <a:r>
              <a:t>      "summary": "전국 비교 기준 기간: 2025-07 ~ 2026-06",</a:t>
            </a:r>
          </a:p>
          <a:p>
            <a:r>
              <a:t>      "source_id": "datalab:bd21758c8a88:9597865e62ef",</a:t>
            </a:r>
          </a:p>
          <a:p>
            <a:r>
              <a:t>      "source_url": "https://datalab.visitkorea.or.kr/",</a:t>
            </a:r>
          </a:p>
          <a:p>
            <a:r>
              <a:t>      "source_type": "nationwide_dataset",</a:t>
            </a:r>
          </a:p>
          <a:p>
            <a:r>
              <a:t>      "observation_period": "2025-07 ~ 2026-06",</a:t>
            </a:r>
          </a:p>
          <a:p>
            <a:r>
              <a:t>      "published_or_updated_at": "2024-07 ~ 2025-06",</a:t>
            </a:r>
          </a:p>
          <a:p>
            <a:r>
              <a:t>      "source_file_name": "인천광역시_부평구/관광소비/2026_01_06.zip"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인천광역시 부평구 · 지역집중률",</a:t>
            </a:r>
          </a:p>
          <a:p>
            <a:r>
              <a:t>      "summary": "관측 기간: 2025-07 ~ 2026-06. 유입·유출·인기장소 또는 30일 집중 운영 신호.",</a:t>
            </a:r>
          </a:p>
          <a:p>
            <a:r>
              <a:t>      "source_id": "regional-status:0b32b3d6db4d:a1a67792e3b1",</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인천광역시 부평구 · 유입유출",</a:t>
            </a:r>
          </a:p>
          <a:p>
            <a:r>
              <a:t>      "summary": "관측 기간: 2025-07 ~ 2026-06. 유입·유출·인기장소 또는 30일 집중 운영 신호.",</a:t>
            </a:r>
          </a:p>
          <a:p>
            <a:r>
              <a:t>      "source_id": "regional-status:98eebe8613d3:723745281038",</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인천광역시 부평구 · 인기관광지",</a:t>
            </a:r>
          </a:p>
          <a:p>
            <a:r>
              <a:t>      "summary": "관측 기간: 2025-07 ~ 2026-06. 유입·유출·인기장소 또는 30일 집중 운영 신호.",</a:t>
            </a:r>
          </a:p>
          <a:p>
            <a:r>
              <a:t>      "source_id": "regional-status:b12ff2da0892:a553d7015259",</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"ml:28237:regional-demand-v3.1:202606",</a:t>
            </a:r>
          </a:p>
          <a:p>
            <a:r>
              <a:t>      "source_url": "",</a:t>
            </a:r>
          </a:p>
          <a:p>
            <a:r>
              <a:t>      "source_type": "model_forecast",</a:t>
            </a:r>
          </a:p>
          <a:p>
            <a:r>
              <a:t>      "model_version": "regional-demand-v3.1",</a:t>
            </a:r>
          </a:p>
          <a:p>
            <a:r>
              <a:t>      "data_fingerprint": "06231bffd046b8ec0625c675881feb25e51324ad265d5b5ecf0dc8d247440a7d"</a:t>
            </a:r>
          </a:p>
          <a:p>
            <a:r>
              <a:t>    },</a:t>
            </a:r>
          </a:p>
          <a:p>
            <a:r>
              <a:t>    {</a:t>
            </a:r>
          </a:p>
          <a:p>
            <a:r>
              <a:t>      "title": "굴포천 생태하천",</a:t>
            </a:r>
          </a:p>
          <a:p>
            <a:r>
              <a:t>      "address": "인천광역시 부평구 굴포로 141 (삼산동)",</a:t>
            </a:r>
          </a:p>
          <a:p>
            <a:r>
              <a:t>      "summary": "한국관광공사 국문관광정보 API가 반환한 선택 지역 관광자원",</a:t>
            </a:r>
          </a:p>
          <a:p>
            <a:r>
              <a:t>      "image_url": "http://tong.visitkorea.or.kr/cms/resource/60/3523760_image2_1.jpg",</a:t>
            </a:r>
          </a:p>
          <a:p>
            <a:r>
              <a:t>      "source_id": "tour-api:1619098",</a:t>
            </a:r>
          </a:p>
          <a:p>
            <a:r>
              <a:t>      "content_id": "1619098",</a:t>
            </a:r>
          </a:p>
          <a:p>
            <a:r>
              <a:t>      "source_url": "https://apis.data.go.kr/B551011/KorService2",</a:t>
            </a:r>
          </a:p>
          <a:p>
            <a:r>
              <a:t>      "source_type": "open_api",</a:t>
            </a:r>
          </a:p>
          <a:p>
            <a:r>
              <a:t>      "content_type_id": "12"</a:t>
            </a:r>
          </a:p>
          <a:p>
            <a:r>
              <a:t>    },</a:t>
            </a:r>
          </a:p>
          <a:p>
            <a:r>
              <a:t>    {</a:t>
            </a:r>
          </a:p>
          <a:p>
            <a:r>
              <a:t>      "title": "대왕김밥",</a:t>
            </a:r>
          </a:p>
          <a:p>
            <a:r>
              <a:t>      "address": "인천광역시 부평구 부평문화로 41 (부평동)",</a:t>
            </a:r>
          </a:p>
          <a:p>
            <a:r>
              <a:t>      "summary": "한국관광공사 국문관광정보 API가 반환한 선택 지역 관광자원",</a:t>
            </a:r>
          </a:p>
          <a:p>
            <a:r>
              <a:t>      "image_url": "http://tong.visitkorea.or.kr/cms/resource/03/2875403_image2_1.jpg",</a:t>
            </a:r>
          </a:p>
          <a:p>
            <a:r>
              <a:t>      "source_id": "tour-api:2875411",</a:t>
            </a:r>
          </a:p>
          <a:p>
            <a:r>
              <a:t>      "content_id": "2875411",</a:t>
            </a:r>
          </a:p>
          <a:p>
            <a:r>
              <a:t>      "source_url": "https://apis.data.go.kr/B551011/KorService2",</a:t>
            </a:r>
          </a:p>
          <a:p>
            <a:r>
              <a:t>      "source_type": "open_api",</a:t>
            </a:r>
          </a:p>
          <a:p>
            <a:r>
              <a:t>      "content_type_id": "39"</a:t>
            </a:r>
          </a:p>
          <a:p>
            <a:r>
              <a:t>    },</a:t>
            </a:r>
          </a:p>
          <a:p>
            <a:r>
              <a:t>    {</a:t>
            </a:r>
          </a:p>
          <a:p>
            <a:r>
              <a:t>      "title": "돈타래게장정식",</a:t>
            </a:r>
          </a:p>
          <a:p>
            <a:r>
              <a:t>      "address": "인천광역시 부평구 열우물로 59",</a:t>
            </a:r>
          </a:p>
          <a:p>
            <a:r>
              <a:t>      "summary": "한국관광공사 국문관광정보 API가 반환한 선택 지역 관광자원",</a:t>
            </a:r>
          </a:p>
          <a:p>
            <a:r>
              <a:t>      "image_url": "http://tong.visitkorea.or.kr/cms/resource/35/2790235_image2_1.jpg",</a:t>
            </a:r>
          </a:p>
          <a:p>
            <a:r>
              <a:t>      "source_id": "tour-api:2768148",</a:t>
            </a:r>
          </a:p>
          <a:p>
            <a:r>
              <a:t>      "content_id": "2768148",</a:t>
            </a:r>
          </a:p>
          <a:p>
            <a:r>
              <a:t>      "source_url": "https://apis.data.go.kr/B551011/KorService2",</a:t>
            </a:r>
          </a:p>
          <a:p>
            <a:r>
              <a:t>      "source_type": "open_api",</a:t>
            </a:r>
          </a:p>
          <a:p>
            <a:r>
              <a:t>      "content_type_id": "39"</a:t>
            </a:r>
          </a:p>
          <a:p>
            <a:r>
              <a:t>    },</a:t>
            </a:r>
          </a:p>
          <a:p>
            <a:r>
              <a:t>    {</a:t>
            </a:r>
          </a:p>
          <a:p>
            <a:r>
              <a:t>      "title": "면박사가야밀면",</a:t>
            </a:r>
          </a:p>
          <a:p>
            <a:r>
              <a:t>      "address": "인천광역시 부평구 주부토로172번길 28",</a:t>
            </a:r>
          </a:p>
          <a:p>
            <a:r>
              <a:t>      "summary": "한국관광공사 국문관광정보 API가 반환한 선택 지역 관광자원",</a:t>
            </a:r>
          </a:p>
          <a:p>
            <a:r>
              <a:t>      "image_url": "http://tong.visitkorea.or.kr/cms/resource/52/2873452_image2_1.jpg",</a:t>
            </a:r>
          </a:p>
          <a:p>
            <a:r>
              <a:t>      "source_id": "tour-api:2873461",</a:t>
            </a:r>
          </a:p>
          <a:p>
            <a:r>
              <a:t>      "content_id": "2873461",</a:t>
            </a:r>
          </a:p>
          <a:p>
            <a:r>
              <a:t>      "source_url": "https://apis.data.go.kr/B551011/KorService2",</a:t>
            </a:r>
          </a:p>
          <a:p>
            <a:r>
              <a:t>      "source_type": "open_api",</a:t>
            </a:r>
          </a:p>
          <a:p>
            <a:r>
              <a:t>      "content_type_id": "39"</a:t>
            </a:r>
          </a:p>
          <a:p>
            <a:r>
              <a:t>    },</a:t>
            </a:r>
          </a:p>
          <a:p>
            <a:r>
              <a:t>    {</a:t>
            </a:r>
          </a:p>
          <a:p>
            <a:r>
              <a:t>      "title": "모녀떡볶이 부평남부역점",</a:t>
            </a:r>
          </a:p>
          <a:p>
            <a:r>
              <a:t>      "address": "강원특별자치도 태백시 광장로 16 (황지동)",</a:t>
            </a:r>
          </a:p>
          <a:p>
            <a:r>
              <a:t>      "summary": "한국관광공사 국문관광정보 API가 반환한 선택 지역 관광자원",</a:t>
            </a:r>
          </a:p>
          <a:p>
            <a:r>
              <a:t>      "image_url": "http://tong.visitkorea.or.kr/cms/resource/58/2833858_image2_1.jpg",</a:t>
            </a:r>
          </a:p>
          <a:p>
            <a:r>
              <a:t>      "source_id": "tour-api:2833868",</a:t>
            </a:r>
          </a:p>
          <a:p>
            <a:r>
              <a:t>      "content_id": "2833868",</a:t>
            </a:r>
          </a:p>
          <a:p>
            <a:r>
              <a:t>      "source_url": "https://apis.data.go.kr/B551011/KorService2",</a:t>
            </a:r>
          </a:p>
          <a:p>
            <a:r>
              <a:t>      "source_type": "open_api",</a:t>
            </a:r>
          </a:p>
          <a:p>
            <a:r>
              <a:t>      "content_type_id": "39"</a:t>
            </a:r>
          </a:p>
          <a:p>
            <a:r>
              <a:t>    },</a:t>
            </a:r>
          </a:p>
          <a:p>
            <a:r>
              <a:t>    {</a:t>
            </a:r>
          </a:p>
          <a:p>
            <a:r>
              <a:t>      "title": "백운공원",</a:t>
            </a:r>
          </a:p>
          <a:p>
            <a:r>
              <a:t>      "address": "인천광역시 부평구 십정동 186-419",</a:t>
            </a:r>
          </a:p>
          <a:p>
            <a:r>
              <a:t>      "summary": "한국관광공사 국문관광정보 API가 반환한 선택 지역 관광자원",</a:t>
            </a:r>
          </a:p>
          <a:p>
            <a:r>
              <a:t>      "image_url": "http://tong.visitkorea.or.kr/cms/resource/55/3395555_image2_1.JPG",</a:t>
            </a:r>
          </a:p>
          <a:p>
            <a:r>
              <a:t>      "source_id": "tour-api:2768156",</a:t>
            </a:r>
          </a:p>
          <a:p>
            <a:r>
              <a:t>      "content_id": "2768156",</a:t>
            </a:r>
          </a:p>
          <a:p>
            <a:r>
              <a:t>      "source_url": "https://apis.data.go.kr/B551011/KorService2",</a:t>
            </a:r>
          </a:p>
          <a:p>
            <a:r>
              <a:t>      "source_type": "open_api",</a:t>
            </a:r>
          </a:p>
          <a:p>
            <a:r>
              <a:t>      "content_type_id": "12"</a:t>
            </a:r>
          </a:p>
          <a:p>
            <a:r>
              <a:t>    },</a:t>
            </a:r>
          </a:p>
          <a:p>
            <a:r>
              <a:t>    {</a:t>
            </a:r>
          </a:p>
          <a:p>
            <a:r>
              <a:t>      "title": "별미칡냉면원조",</a:t>
            </a:r>
          </a:p>
          <a:p>
            <a:r>
              <a:t>      "address": "인천광역시 부평구 주부토로145번길 28 (갈산동)",</a:t>
            </a:r>
          </a:p>
          <a:p>
            <a:r>
              <a:t>      "summary": "한국관광공사 국문관광정보 API가 반환한 선택 지역 관광자원",</a:t>
            </a:r>
          </a:p>
          <a:p>
            <a:r>
              <a:t>      "image_url": "http://tong.visitkorea.or.kr/cms/resource/46/2875446_image2_1.jpg",</a:t>
            </a:r>
          </a:p>
          <a:p>
            <a:r>
              <a:t>      "source_id": "tour-api:2875455",</a:t>
            </a:r>
          </a:p>
          <a:p>
            <a:r>
              <a:t>      "content_id": "2875455",</a:t>
            </a:r>
          </a:p>
          <a:p>
            <a:r>
              <a:t>      "source_url": "https://apis.data.go.kr/B551011/KorService2",</a:t>
            </a:r>
          </a:p>
          <a:p>
            <a:r>
              <a:t>      "source_type": "open_api",</a:t>
            </a:r>
          </a:p>
          <a:p>
            <a:r>
              <a:t>      "content_type_id": "39"</a:t>
            </a:r>
          </a:p>
          <a:p>
            <a:r>
              <a:t>    },</a:t>
            </a:r>
          </a:p>
          <a:p>
            <a:r>
              <a:t>    {</a:t>
            </a:r>
          </a:p>
          <a:p>
            <a:r>
              <a:t>      "title": "부영공원",</a:t>
            </a:r>
          </a:p>
          <a:p>
            <a:r>
              <a:t>      "address": "인천광역시 부평구 안남로 146",</a:t>
            </a:r>
          </a:p>
          <a:p>
            <a:r>
              <a:t>      "summary": "한국관광공사 국문관광정보 API가 반환한 선택 지역 관광자원",</a:t>
            </a:r>
          </a:p>
          <a:p>
            <a:r>
              <a:t>      "image_url": "http://tong.visitkorea.or.kr/cms/resource/62/3395562_image2_1.JPG",</a:t>
            </a:r>
          </a:p>
          <a:p>
            <a:r>
              <a:t>      "source_id": "tour-api:2767563",</a:t>
            </a:r>
          </a:p>
          <a:p>
            <a:r>
              <a:t>      "content_id": "2767563",</a:t>
            </a:r>
          </a:p>
          <a:p>
            <a:r>
              <a:t>      "source_url": "https://apis.data.go.kr/B551011/KorService2",</a:t>
            </a:r>
          </a:p>
          <a:p>
            <a:r>
              <a:t>      "source_type": "open_api",</a:t>
            </a:r>
          </a:p>
          <a:p>
            <a:r>
              <a:t>      "content_type_id": "12"</a:t>
            </a:r>
          </a:p>
          <a:p>
            <a:r>
              <a:t>    },</a:t>
            </a:r>
          </a:p>
          <a:p>
            <a:r>
              <a:t>    {</a:t>
            </a:r>
          </a:p>
          <a:p>
            <a:r>
              <a:t>      "title": "부평 굴포누리 기후변화체험관",</a:t>
            </a:r>
          </a:p>
          <a:p>
            <a:r>
              <a:t>      "address": "인천광역시 부평구 장제로 267 (갈산동)",</a:t>
            </a:r>
          </a:p>
          <a:p>
            <a:r>
              <a:t>      "summary": "한국관광공사 국문관광정보 API가 반환한 선택 지역 관광자원",</a:t>
            </a:r>
          </a:p>
          <a:p>
            <a:r>
              <a:t>      "image_url": "http://tong.visitkorea.or.kr/cms/resource/89/3456089_image2_1.jpg",</a:t>
            </a:r>
          </a:p>
          <a:p>
            <a:r>
              <a:t>      "source_id": "tour-api:3456754",</a:t>
            </a:r>
          </a:p>
          <a:p>
            <a:r>
              <a:t>      "content_id": "3456754",</a:t>
            </a:r>
          </a:p>
          <a:p>
            <a:r>
              <a:t>      "source_url": "https://apis.data.go.kr/B551011/KorService2",</a:t>
            </a:r>
          </a:p>
          <a:p>
            <a:r>
              <a:t>      "source_type": "open_api",</a:t>
            </a:r>
          </a:p>
          <a:p>
            <a:r>
              <a:t>      "content_type_id": "12"</a:t>
            </a:r>
          </a:p>
          <a:p>
            <a:r>
              <a:t>    },</a:t>
            </a:r>
          </a:p>
          <a:p>
            <a:r>
              <a:t>    {</a:t>
            </a:r>
          </a:p>
          <a:p>
            <a:r>
              <a:t>      "title": "부평 종합시장",</a:t>
            </a:r>
          </a:p>
          <a:p>
            <a:r>
              <a:t>      "address": "인천광역시 부평구 부흥로316번길 38-3",</a:t>
            </a:r>
          </a:p>
          <a:p>
            <a:r>
              <a:t>      "summary": "한국관광공사 국문관광정보 API가 반환한 선택 지역 관광자원",</a:t>
            </a:r>
          </a:p>
          <a:p>
            <a:r>
              <a:t>      "image_url": "http://tong.visitkorea.or.kr/cms/resource/47/3395547_image2_1.JPG",</a:t>
            </a:r>
          </a:p>
          <a:p>
            <a:r>
              <a:t>      "source_id": "tour-api:1025514",</a:t>
            </a:r>
          </a:p>
          <a:p>
            <a:r>
              <a:t>      "content_id": "1025514",</a:t>
            </a:r>
          </a:p>
          <a:p>
            <a:r>
              <a:t>      "source_url": "https://apis.data.go.kr/B551011/KorService2",</a:t>
            </a:r>
          </a:p>
          <a:p>
            <a:r>
              <a:t>      "source_type": "open_api",</a:t>
            </a:r>
          </a:p>
          <a:p>
            <a:r>
              <a:t>      "content_type_id": "38"</a:t>
            </a:r>
          </a:p>
          <a:p>
            <a:r>
              <a:t>    },</a:t>
            </a:r>
          </a:p>
          <a:p>
            <a:r>
              <a:t>    {</a:t>
            </a:r>
          </a:p>
          <a:p>
            <a:r>
              <a:t>      "title": "부평 해물탕거리",</a:t>
            </a:r>
          </a:p>
          <a:p>
            <a:r>
              <a:t>      "address": "인천광역시 부평구 부평동",</a:t>
            </a:r>
          </a:p>
          <a:p>
            <a:r>
              <a:t>      "summary": "한국관광공사 국문관광정보 API가 반환한 선택 지역 관광자원",</a:t>
            </a:r>
          </a:p>
          <a:p>
            <a:r>
              <a:t>      "image_url": "http://tong.visitkorea.or.kr/cms/resource/95/3309195_image2_1.jpg",</a:t>
            </a:r>
          </a:p>
          <a:p>
            <a:r>
              <a:t>      "source_id": "tour-api:749211",</a:t>
            </a:r>
          </a:p>
          <a:p>
            <a:r>
              <a:t>      "content_id": "749211",</a:t>
            </a:r>
          </a:p>
          <a:p>
            <a:r>
              <a:t>      "source_url": "https://apis.data.go.kr/B551011/KorService2",</a:t>
            </a:r>
          </a:p>
          <a:p>
            <a:r>
              <a:t>      "source_type": "open_api",</a:t>
            </a:r>
          </a:p>
          <a:p>
            <a:r>
              <a:t>      "content_type_id": "12"</a:t>
            </a:r>
          </a:p>
          <a:p>
            <a:r>
              <a:t>    },</a:t>
            </a:r>
          </a:p>
          <a:p>
            <a:r>
              <a:t>    {</a:t>
            </a:r>
          </a:p>
          <a:p>
            <a:r>
              <a:t>      "title": "부평모두몰(부평지하도상가)",</a:t>
            </a:r>
          </a:p>
          <a:p>
            <a:r>
              <a:t>      "address": "인천광역시 부평구 부평대로 지하 69",</a:t>
            </a:r>
          </a:p>
          <a:p>
            <a:r>
              <a:t>      "summary": "한국관광공사 국문관광정보 API가 반환한 선택 지역 관광자원",</a:t>
            </a:r>
          </a:p>
          <a:p>
            <a:r>
              <a:t>      "image_url": "http://tong.visitkorea.or.kr/cms/resource/07/3395507_image2_1.JPG",</a:t>
            </a:r>
          </a:p>
          <a:p>
            <a:r>
              <a:t>      "source_id": "tour-api:2021033",</a:t>
            </a:r>
          </a:p>
          <a:p>
            <a:r>
              <a:t>      "content_id": "2021033",</a:t>
            </a:r>
          </a:p>
          <a:p>
            <a:r>
              <a:t>      "source_url": "https://apis.data.go.kr/B551011/KorService2",</a:t>
            </a:r>
          </a:p>
          <a:p>
            <a:r>
              <a:t>      "source_type": "open_api",</a:t>
            </a:r>
          </a:p>
          <a:p>
            <a:r>
              <a:t>      "content_type_id": "38"</a:t>
            </a:r>
          </a:p>
          <a:p>
            <a:r>
              <a:t>    },</a:t>
            </a:r>
          </a:p>
          <a:p>
            <a:r>
              <a:t>    {</a:t>
            </a:r>
          </a:p>
          <a:p>
            <a:r>
              <a:t>      "title": "부평시장",</a:t>
            </a:r>
          </a:p>
          <a:p>
            <a:r>
              <a:t>      "address": "인천광역시 부평구 부흥로316번길 38-3",</a:t>
            </a:r>
          </a:p>
          <a:p>
            <a:r>
              <a:t>      "summary": "한국관광공사 국문관광정보 API가 반환한 선택 지역 관광자원",</a:t>
            </a:r>
          </a:p>
          <a:p>
            <a:r>
              <a:t>      "image_url": "http://tong.visitkorea.or.kr/cms/resource/42/3523842_image2_1.jpg",</a:t>
            </a:r>
          </a:p>
          <a:p>
            <a:r>
              <a:t>      "source_id": "tour-api:2768142",</a:t>
            </a:r>
          </a:p>
          <a:p>
            <a:r>
              <a:t>      "content_id": "2768142",</a:t>
            </a:r>
          </a:p>
          <a:p>
            <a:r>
              <a:t>      "source_url": "https://apis.data.go.kr/B551011/KorService2",</a:t>
            </a:r>
          </a:p>
          <a:p>
            <a:r>
              <a:t>      "source_type": "open_api",</a:t>
            </a:r>
          </a:p>
          <a:p>
            <a:r>
              <a:t>      "content_type_id": "38"</a:t>
            </a:r>
          </a:p>
          <a:p>
            <a:r>
              <a:t>    },</a:t>
            </a:r>
          </a:p>
          <a:p>
            <a:r>
              <a:t>    {</a:t>
            </a:r>
          </a:p>
          <a:p>
            <a:r>
              <a:t>      "title": "부평아트센터",</a:t>
            </a:r>
          </a:p>
          <a:p>
            <a:r>
              <a:t>      "address": "인천광역시 부평구 아트센터로 166 (십정동)",</a:t>
            </a:r>
          </a:p>
          <a:p>
            <a:r>
              <a:t>      "summary": "한국관광공사 국문관광정보 API가 반환한 선택 지역 관광자원",</a:t>
            </a:r>
          </a:p>
          <a:p>
            <a:r>
              <a:t>      "image_url": "http://tong.visitkorea.or.kr/cms/resource/55/3457455_image2_1.jpg",</a:t>
            </a:r>
          </a:p>
          <a:p>
            <a:r>
              <a:t>      "source_id": "tour-api:3457385",</a:t>
            </a:r>
          </a:p>
          <a:p>
            <a:r>
              <a:t>      "content_id": "3457385",</a:t>
            </a:r>
          </a:p>
          <a:p>
            <a:r>
              <a:t>      "source_url": "https://apis.data.go.kr/B551011/KorService2",</a:t>
            </a:r>
          </a:p>
          <a:p>
            <a:r>
              <a:t>      "source_type": "open_api",</a:t>
            </a:r>
          </a:p>
          <a:p>
            <a:r>
              <a:t>      "content_type_id": "14"</a:t>
            </a:r>
          </a:p>
          <a:p>
            <a:r>
              <a:t>    },</a:t>
            </a:r>
          </a:p>
          <a:p>
            <a:r>
              <a:t>    {</a:t>
            </a:r>
          </a:p>
          <a:p>
            <a:r>
              <a:t>      "title": "부평역북광장",</a:t>
            </a:r>
          </a:p>
          <a:p>
            <a:r>
              <a:t>      "address": "인천광역시 부평구 광장로 지하30 (부평동)",</a:t>
            </a:r>
          </a:p>
          <a:p>
            <a:r>
              <a:t>      "summary": "한국관광공사 국문관광정보 API가 반환한 선택 지역 관광자원",</a:t>
            </a:r>
          </a:p>
          <a:p>
            <a:r>
              <a:t>      "image_url": "http://tong.visitkorea.or.kr/cms/resource/90/3395490_image2_1.JPG",</a:t>
            </a:r>
          </a:p>
          <a:p>
            <a:r>
              <a:t>      "source_id": "tour-api:2768190",</a:t>
            </a:r>
          </a:p>
          <a:p>
            <a:r>
              <a:t>      "content_id": "2768190",</a:t>
            </a:r>
          </a:p>
          <a:p>
            <a:r>
              <a:t>      "source_url": "https://apis.data.go.kr/B551011/KorService2",</a:t>
            </a:r>
          </a:p>
          <a:p>
            <a:r>
              <a:t>      "source_type": "open_api",</a:t>
            </a:r>
          </a:p>
          <a:p>
            <a:r>
              <a:t>      "content_type_id": "12"</a:t>
            </a:r>
          </a:p>
          <a:p>
            <a:r>
              <a:t>    },</a:t>
            </a:r>
          </a:p>
          <a:p>
            <a:r>
              <a:t>    {</a:t>
            </a:r>
          </a:p>
          <a:p>
            <a:r>
              <a:t>      "title": "부흥기사식당",</a:t>
            </a:r>
          </a:p>
          <a:p>
            <a:r>
              <a:t>      "address": "인천광역시 부평구 부흥로 387 (부개동)",</a:t>
            </a:r>
          </a:p>
          <a:p>
            <a:r>
              <a:t>      "summary": "한국관광공사 국문관광정보 API가 반환한 선택 지역 관광자원",</a:t>
            </a:r>
          </a:p>
          <a:p>
            <a:r>
              <a:t>      "image_url": "http://tong.visitkorea.or.kr/cms/resource/66/2875466_image2_1.jpg",</a:t>
            </a:r>
          </a:p>
          <a:p>
            <a:r>
              <a:t>      "source_id": "tour-api:2875488",</a:t>
            </a:r>
          </a:p>
          <a:p>
            <a:r>
              <a:t>      "content_id": "2875488",</a:t>
            </a:r>
          </a:p>
          <a:p>
            <a:r>
              <a:t>      "source_url": "https://apis.data.go.kr/B551011/KorService2",</a:t>
            </a:r>
          </a:p>
          <a:p>
            <a:r>
              <a:t>      "source_type": "open_api",</a:t>
            </a:r>
          </a:p>
          <a:p>
            <a:r>
              <a:t>      "content_type_id": "39"</a:t>
            </a:r>
          </a:p>
          <a:p>
            <a:r>
              <a:t>    },</a:t>
            </a:r>
          </a:p>
          <a:p>
            <a:r>
              <a:t>    {</a:t>
            </a:r>
          </a:p>
          <a:p>
            <a:r>
              <a:t>      "title": "삼산건강공원",</a:t>
            </a:r>
          </a:p>
          <a:p>
            <a:r>
              <a:t>      "address": "인천광역시 부평구 영성동로18번길 48 (삼산동)",</a:t>
            </a:r>
          </a:p>
          <a:p>
            <a:r>
              <a:t>      "summary": "한국관광공사 국문관광정보 API가 반환한 선택 지역 관광자원",</a:t>
            </a:r>
          </a:p>
          <a:p>
            <a:r>
              <a:t>      "image_url": "http://tong.visitkorea.or.kr/cms/resource/25/3523825_image2_1.jpg",</a:t>
            </a:r>
          </a:p>
          <a:p>
            <a:r>
              <a:t>      "source_id": "tour-api:2768180",</a:t>
            </a:r>
          </a:p>
          <a:p>
            <a:r>
              <a:t>      "content_id": "2768180",</a:t>
            </a:r>
          </a:p>
          <a:p>
            <a:r>
              <a:t>      "source_url": "https://apis.data.go.kr/B551011/KorService2",</a:t>
            </a:r>
          </a:p>
          <a:p>
            <a:r>
              <a:t>      "source_type": "open_api",</a:t>
            </a:r>
          </a:p>
          <a:p>
            <a:r>
              <a:t>      "content_type_id": "12"</a:t>
            </a:r>
          </a:p>
          <a:p>
            <a:r>
              <a:t>    },</a:t>
            </a:r>
          </a:p>
          <a:p>
            <a:r>
              <a:t>    {</a:t>
            </a:r>
          </a:p>
          <a:p>
            <a:r>
              <a:t>      "title": "신트리공원(인천)",</a:t>
            </a:r>
          </a:p>
          <a:p>
            <a:r>
              <a:t>      "address": "인천광역시 부평구 신트리로 21",</a:t>
            </a:r>
          </a:p>
          <a:p>
            <a:r>
              <a:t>      "summary": "한국관광공사 국문관광정보 API가 반환한 선택 지역 관광자원",</a:t>
            </a:r>
          </a:p>
          <a:p>
            <a:r>
              <a:t>      "image_url": "http://tong.visitkorea.or.kr/cms/resource/73/3030773_image2_1.jpg",</a:t>
            </a:r>
          </a:p>
          <a:p>
            <a:r>
              <a:t>      "source_id": "tour-api:126568",</a:t>
            </a:r>
          </a:p>
          <a:p>
            <a:r>
              <a:t>      "content_id": "126568",</a:t>
            </a:r>
          </a:p>
          <a:p>
            <a:r>
              <a:t>      "source_url": "https://apis.data.go.kr/B551011/KorService2",</a:t>
            </a:r>
          </a:p>
          <a:p>
            <a:r>
              <a:t>      "source_type": "open_api",</a:t>
            </a:r>
          </a:p>
          <a:p>
            <a:r>
              <a:t>      "content_type_id": "12"</a:t>
            </a:r>
          </a:p>
          <a:p>
            <a:r>
              <a:t>    },</a:t>
            </a:r>
          </a:p>
          <a:p>
            <a:r>
              <a:t>    {</a:t>
            </a:r>
          </a:p>
          <a:p>
            <a:r>
              <a:t>      "title": "양평신내서울해장국 부평직영점",</a:t>
            </a:r>
          </a:p>
          <a:p>
            <a:r>
              <a:t>      "address": "인천광역시 부평구 마장로 191 (산곡동)",</a:t>
            </a:r>
          </a:p>
          <a:p>
            <a:r>
              <a:t>      "summary": "한국관광공사 국문관광정보 API가 반환한 선택 지역 관광자원",</a:t>
            </a:r>
          </a:p>
          <a:p>
            <a:r>
              <a:t>      "image_url": "http://tong.visitkorea.or.kr/cms/resource/45/2835945_image2_1.jpg",</a:t>
            </a:r>
          </a:p>
          <a:p>
            <a:r>
              <a:t>      "source_id": "tour-api:2835948",</a:t>
            </a:r>
          </a:p>
          <a:p>
            <a:r>
              <a:t>      "content_id": "2835948",</a:t>
            </a:r>
          </a:p>
          <a:p>
            <a:r>
              <a:t>      "source_url": "https://apis.data.go.kr/B551011/KorService2",</a:t>
            </a:r>
          </a:p>
          <a:p>
            <a:r>
              <a:t>      "source_type": "open_api",</a:t>
            </a:r>
          </a:p>
          <a:p>
            <a:r>
              <a:t>      "content_type_id": "39"</a:t>
            </a:r>
          </a:p>
          <a:p>
            <a:r>
              <a:t>    },</a:t>
            </a:r>
          </a:p>
          <a:p>
            <a:r>
              <a:t>    {</a:t>
            </a:r>
          </a:p>
          <a:p>
            <a:r>
              <a:t>      "title": "열우물전통시장",</a:t>
            </a:r>
          </a:p>
          <a:p>
            <a:r>
              <a:t>      "address": "인천광역시 부평구 배곶남로21번길 18",</a:t>
            </a:r>
          </a:p>
          <a:p>
            <a:r>
              <a:t>      "summary": "한국관광공사 국문관광정보 API가 반환한 선택 지역 관광자원",</a:t>
            </a:r>
          </a:p>
          <a:p>
            <a:r>
              <a:t>      "image_url": "http://tong.visitkorea.or.kr/cms/resource/31/3523831_image2_1.jpg",</a:t>
            </a:r>
          </a:p>
          <a:p>
            <a:r>
              <a:t>      "source_id": "tour-api:2765473",</a:t>
            </a:r>
          </a:p>
          <a:p>
            <a:r>
              <a:t>      "content_id": "2765473",</a:t>
            </a:r>
          </a:p>
          <a:p>
            <a:r>
              <a:t>      "source_url": "https://apis.data.go.kr/B551011/KorService2",</a:t>
            </a:r>
          </a:p>
          <a:p>
            <a:r>
              <a:t>      "source_type": "open_api",</a:t>
            </a:r>
          </a:p>
          <a:p>
            <a:r>
              <a:t>      "content_type_id": "38"</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"인천광역시 ‘6월부터 밤마다 인천으로’ 야간관광 특화도시 운영 및 성과 자료",</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"source_id": "case:3e081ab48300f1",</a:t>
            </a:r>
          </a:p>
          <a:p>
            <a:r>
              <a:t>      "source_url": "https://www.incheon.go.kr/IC010205/view?beginDt=2021-10-01&amp;curPage=479&amp;endDt=&amp;repSeq=DOM_0000000010085993&amp;srchMainManagerDeptNm=&amp;srchRepContents=&amp;srchRepTitle=",</a:t>
            </a:r>
          </a:p>
          <a:p>
            <a:r>
              <a:t>      "case_region": "인천광역시 송도·개항장·월미도 등",</a:t>
            </a:r>
          </a:p>
          <a:p>
            <a:r>
              <a:t>      "source_type": "benchmark_case",</a:t>
            </a:r>
          </a:p>
          <a:p>
            <a:r>
              <a:t>      "intervention": "야간 프로그램·시티투어·관광패스·야시장·상권쿠폰을 결합한 야간관광 특화도시 사업",</a:t>
            </a:r>
          </a:p>
          <a:p>
            <a:r>
              <a:t>      "document_type": null,</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"retrieval_method": "official_web_search",</a:t>
            </a:r>
          </a:p>
          <a:p>
            <a:r>
              <a:t>      "evidence_strength": "medium",</a:t>
            </a:r>
          </a:p>
          <a:p>
            <a:r>
              <a:t>      "retrieval_context": {</a:t>
            </a:r>
          </a:p>
          <a:p>
            <a:r>
              <a:t>        "scope": "same_province",</a:t>
            </a:r>
          </a:p>
          <a:p>
            <a:r>
              <a:t>        "peer_region_code": null</a:t>
            </a:r>
          </a:p>
          <a:p>
            <a:r>
              <a:t>      },</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"published_or_updated_at": "2024-05-29",</a:t>
            </a:r>
          </a:p>
          <a:p>
            <a:r>
              <a:t>      "quantitative_result_approved": null</a:t>
            </a:r>
          </a:p>
          <a:p>
            <a:r>
              <a:t>    },</a:t>
            </a:r>
          </a:p>
          <a:p>
            <a:r>
              <a:t>    {</a:t>
            </a:r>
          </a:p>
          <a:p>
            <a:r>
              <a:t>      "title": "서울특별시 ‘서울의 밤이 더 길어진다—서울달 금·토 심야 운영’ 및 운영 확대 자료",</a:t>
            </a:r>
          </a:p>
          <a:p>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"source_id": "case:c621f7b6c81807",</a:t>
            </a:r>
          </a:p>
          <a:p>
            <a:r>
              <a:t>      "source_url": "https://www.seoul.go.kr/news/news_report.do?nttNo=462801",</a:t>
            </a:r>
          </a:p>
          <a:p>
            <a:r>
              <a:t>      "case_region": "서울특별시 영등포구 여의도공원",</a:t>
            </a:r>
          </a:p>
          <a:p>
            <a:r>
              <a:t>      "source_type": "benchmark_case",</a:t>
            </a:r>
          </a:p>
          <a:p>
            <a:r>
              <a:t>      "intervention": "예약시간·OTA 판매·성수기 및 심야 운영시간을 조정한 체험형 야간관광시설 ‘서울달’",</a:t>
            </a:r>
          </a:p>
          <a:p>
            <a:r>
              <a:t>      "document_type": null,</a:t>
            </a:r>
          </a:p>
          <a:p>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a:r>
              <a:t>      "retrieval_method": "official_web_search",</a:t>
            </a:r>
          </a:p>
          <a:p>
            <a:r>
              <a:t>      "evidence_strength": "medium",</a:t>
            </a:r>
          </a:p>
          <a:p>
            <a:r>
              <a:t>      "retrieval_context": {</a:t>
            </a:r>
          </a:p>
          <a:p>
            <a:r>
              <a:t>        "scope": "cross_province",</a:t>
            </a:r>
          </a:p>
          <a:p>
            <a:r>
              <a:t>        "peer_region_code": null</a:t>
            </a:r>
          </a:p>
          <a:p>
            <a:r>
              <a:t>      },</a:t>
            </a:r>
          </a:p>
          <a:p>
            <a:r>
              <a:t>      "measurement_period": "2024-08-23 ~ 2026-07-15 누적 이용; 외국인 비율 비교는 2025년과 2026년 상반기",</a:t>
            </a:r>
          </a:p>
          <a:p>
            <a:r>
              <a:t>      "transfer_conditions": [</a:t>
            </a:r>
          </a:p>
          <a:p>
            <a:r>
              <a:t>        "부평구에는 신규 대형시설 대신 기존 공연장·전시장·문화공간의 예약 가능 시간을 저녁으로 연장하는 운영원리만 적용",</a:t>
            </a:r>
          </a:p>
          <a:p>
            <a:r>
              <a:t>        "온라인 사전예약과 현장 잔여석을 함께 관리하고 회차별 정원·취소·대기 규칙을 명확히 설정",</a:t>
            </a:r>
          </a:p>
          <a:p>
            <a:r>
              <a:t>        "금·토 및 10~12월 수요가 예상되는 시간대부터 시험하고 비효율 시간대는 축소",</a:t>
            </a:r>
          </a:p>
          <a:p>
            <a:r>
              <a:t>        "프로그램 종료 뒤 이용 가능한 식음료점·상점 정보를 예약 확인서와 현장 안내에 결합",</a:t>
            </a:r>
          </a:p>
          <a:p>
            <a:r>
              <a:t>        "회차별 예약률, 노쇼율, 현장 이용 완료율과 프로그램 전후 주변 결제를 측정"</a:t>
            </a:r>
          </a:p>
          <a:p>
            <a:r>
              <a:t>      ],</a:t>
            </a:r>
          </a:p>
          <a:p>
            <a:r>
              <a:t>      "published_or_updated_at": "2026-07-28",</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"title": "굴포천 생태하천",</a:t>
            </a:r>
          </a:p>
          <a:p>
            <a:r>
              <a:t>      "address": "인천광역시 부평구 굴포로 141 (삼산동)",</a:t>
            </a:r>
          </a:p>
          <a:p>
            <a:r>
              <a:t>      "summary": "한국관광공사 국문관광정보 API가 반환한 선택 지역 관광자원",</a:t>
            </a:r>
          </a:p>
          <a:p>
            <a:r>
              <a:t>      "image_url": "http://tong.visitkorea.or.kr/cms/resource/60/3523760_image2_1.jpg",</a:t>
            </a:r>
          </a:p>
          <a:p>
            <a:r>
              <a:t>      "source_id": "tour-api:1619098",</a:t>
            </a:r>
          </a:p>
          <a:p>
            <a:r>
              <a:t>      "content_id": "1619098",</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3778392.0,</a:t>
            </a:r>
          </a:p>
          <a:p>
            <a:r>
              <a:t>        "is_forecast": true,</a:t>
            </a:r>
          </a:p>
          <a:p>
            <a:r>
              <a:t>        "spending_krw": 78739302878.0,</a:t>
            </a:r>
          </a:p>
          <a:p>
            <a:r>
              <a:t>        "stay_minutes": 1189.22,</a:t>
            </a:r>
          </a:p>
          <a:p>
            <a:r>
              <a:t>        "lodging_nights": 2.9,</a:t>
            </a:r>
          </a:p>
          <a:p>
            <a:r>
              <a:t>        "lodging_rate_pct": 8.5,</a:t>
            </a:r>
          </a:p>
          <a:p>
            <a:r>
              <a:t>        "lodging_searches": 9560,</a:t>
            </a:r>
          </a:p>
          <a:p>
            <a:r>
              <a:t>        "navigation_searches": 211413,</a:t>
            </a:r>
          </a:p>
          <a:p>
            <a:r>
              <a:t>        "visitor_yoy_percent": -3.74,</a:t>
            </a:r>
          </a:p>
          <a:p>
            <a:r>
              <a:t>        "spending_yoy_percent": -6.27,</a:t>
            </a:r>
          </a:p>
          <a:p>
            <a:r>
              <a:t>        "metric_changes_percent": {</a:t>
            </a:r>
          </a:p>
          <a:p>
            <a:r>
              <a:t>          "stay_minutes": -3.55,</a:t>
            </a:r>
          </a:p>
          <a:p>
            <a:r>
              <a:t>          "lodging_nights": 0.69,</a:t>
            </a:r>
          </a:p>
          <a:p>
            <a:r>
              <a:t>          "lodging_rate_pct": 0.0,</a:t>
            </a:r>
          </a:p>
          <a:p>
            <a:r>
              <a:t>          "lodging_searches": 0.0,</a:t>
            </a:r>
          </a:p>
          <a:p>
            <a:r>
              <a:t>          "navigation_searches": 0.0</a:t>
            </a:r>
          </a:p>
          <a:p>
            <a:r>
              <a:t>        },</a:t>
            </a:r>
          </a:p>
          <a:p>
            <a:r>
              <a:t>        "previous_year_visitors": 3925237,</a:t>
            </a:r>
          </a:p>
          <a:p>
            <a:r>
              <a:t>        "previous_year_spending_krw": 84007025000,</a:t>
            </a:r>
          </a:p>
          <a:p>
            <a:r>
              <a:t>        "previous_year_stay_minutes": 1233.0,</a:t>
            </a:r>
          </a:p>
          <a:p>
            <a:r>
              <a:t>        "previous_year_lodging_nights": 2.88,</a:t>
            </a:r>
          </a:p>
          <a:p>
            <a:r>
              <a:t>        "previous_year_lodging_rate_pct": 8.5,</a:t>
            </a:r>
          </a:p>
          <a:p>
            <a:r>
              <a:t>        "previous_year_lodging_searches": 9560,</a:t>
            </a:r>
          </a:p>
          <a:p>
            <a:r>
              <a:t>        "previous_year_navigation_searches": 211413</a:t>
            </a:r>
          </a:p>
          <a:p>
            <a:r>
              <a:t>      },</a:t>
            </a:r>
          </a:p>
          <a:p>
            <a:r>
              <a:t>      {</a:t>
            </a:r>
          </a:p>
          <a:p>
            <a:r>
              <a:t>        "month": "202611",</a:t>
            </a:r>
          </a:p>
          <a:p>
            <a:r>
              <a:t>        "visitors": 3748084.0,</a:t>
            </a:r>
          </a:p>
          <a:p>
            <a:r>
              <a:t>        "is_forecast": true,</a:t>
            </a:r>
          </a:p>
          <a:p>
            <a:r>
              <a:t>        "spending_krw": 81104223698.0,</a:t>
            </a:r>
          </a:p>
          <a:p>
            <a:r>
              <a:t>        "stay_minutes": 1157.37,</a:t>
            </a:r>
          </a:p>
          <a:p>
            <a:r>
              <a:t>        "lodging_nights": 2.86,</a:t>
            </a:r>
          </a:p>
          <a:p>
            <a:r>
              <a:t>        "lodging_rate_pct": 6.5,</a:t>
            </a:r>
          </a:p>
          <a:p>
            <a:r>
              <a:t>        "lodging_searches": 6582,</a:t>
            </a:r>
          </a:p>
          <a:p>
            <a:r>
              <a:t>        "navigation_searches": 141791,</a:t>
            </a:r>
          </a:p>
          <a:p>
            <a:r>
              <a:t>        "visitor_yoy_percent": -1.44,</a:t>
            </a:r>
          </a:p>
          <a:p>
            <a:r>
              <a:t>        "spending_yoy_percent": -1.77,</a:t>
            </a:r>
          </a:p>
          <a:p>
            <a:r>
              <a:t>        "metric_changes_percent": {</a:t>
            </a:r>
          </a:p>
          <a:p>
            <a:r>
              <a:t>          "stay_minutes": 4.74,</a:t>
            </a:r>
          </a:p>
          <a:p>
            <a:r>
              <a:t>          "lodging_nights": -1.38,</a:t>
            </a:r>
          </a:p>
          <a:p>
            <a:r>
              <a:t>          "lodging_rate_pct": 0.0,</a:t>
            </a:r>
          </a:p>
          <a:p>
            <a:r>
              <a:t>          "lodging_searches": 0.0,</a:t>
            </a:r>
          </a:p>
          <a:p>
            <a:r>
              <a:t>          "navigation_searches": 0.0</a:t>
            </a:r>
          </a:p>
          <a:p>
            <a:r>
              <a:t>        },</a:t>
            </a:r>
          </a:p>
          <a:p>
            <a:r>
              <a:t>        "previous_year_visitors": 3802982,</a:t>
            </a:r>
          </a:p>
          <a:p>
            <a:r>
              <a:t>        "previous_year_spending_krw": 82569585000,</a:t>
            </a:r>
          </a:p>
          <a:p>
            <a:r>
              <a:t>        "previous_year_stay_minutes": 1105.0,</a:t>
            </a:r>
          </a:p>
          <a:p>
            <a:r>
              <a:t>        "previous_year_lodging_nights": 2.9,</a:t>
            </a:r>
          </a:p>
          <a:p>
            <a:r>
              <a:t>        "previous_year_lodging_rate_pct": 6.5,</a:t>
            </a:r>
          </a:p>
          <a:p>
            <a:r>
              <a:t>        "previous_year_lodging_searches": 6582,</a:t>
            </a:r>
          </a:p>
          <a:p>
            <a:r>
              <a:t>        "previous_year_navigation_searches": 141791</a:t>
            </a:r>
          </a:p>
          <a:p>
            <a:r>
              <a:t>      },</a:t>
            </a:r>
          </a:p>
          <a:p>
            <a:r>
              <a:t>      {</a:t>
            </a:r>
          </a:p>
          <a:p>
            <a:r>
              <a:t>        "month": "202612",</a:t>
            </a:r>
          </a:p>
          <a:p>
            <a:r>
              <a:t>        "visitors": 3741663.0,</a:t>
            </a:r>
          </a:p>
          <a:p>
            <a:r>
              <a:t>        "is_forecast": true,</a:t>
            </a:r>
          </a:p>
          <a:p>
            <a:r>
              <a:t>        "spending_krw": 83702422444.0,</a:t>
            </a:r>
          </a:p>
          <a:p>
            <a:r>
              <a:t>        "stay_minutes": 1216.03,</a:t>
            </a:r>
          </a:p>
          <a:p>
            <a:r>
              <a:t>        "lodging_nights": 2.93,</a:t>
            </a:r>
          </a:p>
          <a:p>
            <a:r>
              <a:t>        "lodging_rate_pct": 7.4,</a:t>
            </a:r>
          </a:p>
          <a:p>
            <a:r>
              <a:t>        "lodging_searches": 6099,</a:t>
            </a:r>
          </a:p>
          <a:p>
            <a:r>
              <a:t>        "navigation_searches": 134392,</a:t>
            </a:r>
          </a:p>
          <a:p>
            <a:r>
              <a:t>        "visitor_yoy_percent": -1.2,</a:t>
            </a:r>
          </a:p>
          <a:p>
            <a:r>
              <a:t>        "spending_yoy_percent": -1.66,</a:t>
            </a:r>
          </a:p>
          <a:p>
            <a:r>
              <a:t>        "metric_changes_percent": {</a:t>
            </a:r>
          </a:p>
          <a:p>
            <a:r>
              <a:t>          "stay_minutes": 3.49,</a:t>
            </a:r>
          </a:p>
          <a:p>
            <a:r>
              <a:t>          "lodging_nights": 2.81,</a:t>
            </a:r>
          </a:p>
          <a:p>
            <a:r>
              <a:t>          "lodging_rate_pct": 0.0,</a:t>
            </a:r>
          </a:p>
          <a:p>
            <a:r>
              <a:t>          "lodging_searches": 0.0,</a:t>
            </a:r>
          </a:p>
          <a:p>
            <a:r>
              <a:t>          "navigation_searches": 0.0</a:t>
            </a:r>
          </a:p>
          <a:p>
            <a:r>
              <a:t>        },</a:t>
            </a:r>
          </a:p>
          <a:p>
            <a:r>
              <a:t>        "previous_year_visitors": 3787225,</a:t>
            </a:r>
          </a:p>
          <a:p>
            <a:r>
              <a:t>        "previous_year_spending_krw": 85114549000,</a:t>
            </a:r>
          </a:p>
          <a:p>
            <a:r>
              <a:t>        "previous_year_stay_minutes": 1175.0,</a:t>
            </a:r>
          </a:p>
          <a:p>
            <a:r>
              <a:t>        "previous_year_lodging_nights": 2.85,</a:t>
            </a:r>
          </a:p>
          <a:p>
            <a:r>
              <a:t>        "previous_year_lodging_rate_pct": 7.4,</a:t>
            </a:r>
          </a:p>
          <a:p>
            <a:r>
              <a:t>        "previous_year_lodging_searches": 6099,</a:t>
            </a:r>
          </a:p>
          <a:p>
            <a:r>
              <a:t>        "previous_year_navigation_searches": 134392</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3817303,</a:t>
            </a:r>
          </a:p>
          <a:p>
            <a:r>
              <a:t>      "is_forecast": true,</a:t>
            </a:r>
          </a:p>
          <a:p>
            <a:r>
              <a:t>      "spending_krw": 78887191546,</a:t>
            </a:r>
          </a:p>
          <a:p>
            <a:r>
              <a:t>      "stay_minutes": 1212.73,</a:t>
            </a:r>
          </a:p>
          <a:p>
            <a:r>
              <a:t>      "lodging_nights": 2.91,</a:t>
            </a:r>
          </a:p>
          <a:p>
            <a:r>
              <a:t>      "lodging_rate_pct": 7.1,</a:t>
            </a:r>
          </a:p>
          <a:p>
            <a:r>
              <a:t>      "lodging_searches": 7347,</a:t>
            </a:r>
          </a:p>
          <a:p>
            <a:r>
              <a:t>      "navigation_searches": 141607,</a:t>
            </a:r>
          </a:p>
          <a:p>
            <a:r>
              <a:t>      "visitor_yoy_percent": -1.21,</a:t>
            </a:r>
          </a:p>
          <a:p>
            <a:r>
              <a:t>      "spending_yoy_percent": 0.76,</a:t>
            </a:r>
          </a:p>
          <a:p>
            <a:r>
              <a:t>      "metric_changes_percent": {</a:t>
            </a:r>
          </a:p>
          <a:p>
            <a:r>
              <a:t>        "stay_minutes": -7.07,</a:t>
            </a:r>
          </a:p>
          <a:p>
            <a:r>
              <a:t>        "lodging_nights": -2.35,</a:t>
            </a:r>
          </a:p>
          <a:p>
            <a:r>
              <a:t>        "lodging_rate_pct": 0.0,</a:t>
            </a:r>
          </a:p>
          <a:p>
            <a:r>
              <a:t>        "lodging_searches": 0.0,</a:t>
            </a:r>
          </a:p>
          <a:p>
            <a:r>
              <a:t>        "navigation_searches": 0.0</a:t>
            </a:r>
          </a:p>
          <a:p>
            <a:r>
              <a:t>      },</a:t>
            </a:r>
          </a:p>
          <a:p>
            <a:r>
              <a:t>      "previous_year_visitors": 3863992,</a:t>
            </a:r>
          </a:p>
          <a:p>
            <a:r>
              <a:t>      "previous_year_spending_krw": 78295445000,</a:t>
            </a:r>
          </a:p>
          <a:p>
            <a:r>
              <a:t>      "previous_year_stay_minutes": 1305.0,</a:t>
            </a:r>
          </a:p>
          <a:p>
            <a:r>
              <a:t>      "previous_year_lodging_nights": 2.98,</a:t>
            </a:r>
          </a:p>
          <a:p>
            <a:r>
              <a:t>      "previous_year_lodging_rate_pct": 7.1,</a:t>
            </a:r>
          </a:p>
          <a:p>
            <a:r>
              <a:t>      "previous_year_lodging_searches": 7347,</a:t>
            </a:r>
          </a:p>
          <a:p>
            <a:r>
              <a:t>      "previous_year_navigation_searches": 141607</a:t>
            </a:r>
          </a:p>
          <a:p>
            <a:r>
              <a:t>    },</a:t>
            </a:r>
          </a:p>
          <a:p>
            <a:r>
              <a:t>    {</a:t>
            </a:r>
          </a:p>
          <a:p>
            <a:r>
              <a:t>      "month": "202608",</a:t>
            </a:r>
          </a:p>
          <a:p>
            <a:r>
              <a:t>      "visitors": 3749035,</a:t>
            </a:r>
          </a:p>
          <a:p>
            <a:r>
              <a:t>      "is_forecast": true,</a:t>
            </a:r>
          </a:p>
          <a:p>
            <a:r>
              <a:t>      "spending_krw": 80682185171,</a:t>
            </a:r>
          </a:p>
          <a:p>
            <a:r>
              <a:t>      "stay_minutes": 1150.71,</a:t>
            </a:r>
          </a:p>
          <a:p>
            <a:r>
              <a:t>      "lodging_nights": 2.93,</a:t>
            </a:r>
          </a:p>
          <a:p>
            <a:r>
              <a:t>      "lodging_rate_pct": 7.4,</a:t>
            </a:r>
          </a:p>
          <a:p>
            <a:r>
              <a:t>      "lodging_searches": 6953,</a:t>
            </a:r>
          </a:p>
          <a:p>
            <a:r>
              <a:t>      "navigation_searches": 142750,</a:t>
            </a:r>
          </a:p>
          <a:p>
            <a:r>
              <a:t>      "visitor_yoy_percent": -0.2,</a:t>
            </a:r>
          </a:p>
          <a:p>
            <a:r>
              <a:t>      "spending_yoy_percent": 0.35,</a:t>
            </a:r>
          </a:p>
          <a:p>
            <a:r>
              <a:t>      "metric_changes_percent": {</a:t>
            </a:r>
          </a:p>
          <a:p>
            <a:r>
              <a:t>        "stay_minutes": -4.98,</a:t>
            </a:r>
          </a:p>
          <a:p>
            <a:r>
              <a:t>        "lodging_nights": 1.03,</a:t>
            </a:r>
          </a:p>
          <a:p>
            <a:r>
              <a:t>        "lodging_rate_pct": 0.0,</a:t>
            </a:r>
          </a:p>
          <a:p>
            <a:r>
              <a:t>        "lodging_searches": 0.0,</a:t>
            </a:r>
          </a:p>
          <a:p>
            <a:r>
              <a:t>        "navigation_searches": 0.0</a:t>
            </a:r>
          </a:p>
          <a:p>
            <a:r>
              <a:t>      },</a:t>
            </a:r>
          </a:p>
          <a:p>
            <a:r>
              <a:t>      "previous_year_visitors": 3756696,</a:t>
            </a:r>
          </a:p>
          <a:p>
            <a:r>
              <a:t>      "previous_year_spending_krw": 80401710000,</a:t>
            </a:r>
          </a:p>
          <a:p>
            <a:r>
              <a:t>      "previous_year_stay_minutes": 1211.0,</a:t>
            </a:r>
          </a:p>
          <a:p>
            <a:r>
              <a:t>      "previous_year_lodging_nights": 2.9,</a:t>
            </a:r>
          </a:p>
          <a:p>
            <a:r>
              <a:t>      "previous_year_lodging_rate_pct": 7.4,</a:t>
            </a:r>
          </a:p>
          <a:p>
            <a:r>
              <a:t>      "previous_year_lodging_searches": 6953,</a:t>
            </a:r>
          </a:p>
          <a:p>
            <a:r>
              <a:t>      "previous_year_navigation_searches": 142750</a:t>
            </a:r>
          </a:p>
          <a:p>
            <a:r>
              <a:t>    },</a:t>
            </a:r>
          </a:p>
          <a:p>
            <a:r>
              <a:t>    {</a:t>
            </a:r>
          </a:p>
          <a:p>
            <a:r>
              <a:t>      "month": "202609",</a:t>
            </a:r>
          </a:p>
          <a:p>
            <a:r>
              <a:t>      "visitors": 3753359,</a:t>
            </a:r>
          </a:p>
          <a:p>
            <a:r>
              <a:t>      "is_forecast": true,</a:t>
            </a:r>
          </a:p>
          <a:p>
            <a:r>
              <a:t>      "spending_krw": 75157794156,</a:t>
            </a:r>
          </a:p>
          <a:p>
            <a:r>
              <a:t>      "stay_minutes": 1127.96,</a:t>
            </a:r>
          </a:p>
          <a:p>
            <a:r>
              <a:t>      "lodging_nights": 2.86,</a:t>
            </a:r>
          </a:p>
          <a:p>
            <a:r>
              <a:t>      "lodging_rate_pct": 6.4,</a:t>
            </a:r>
          </a:p>
          <a:p>
            <a:r>
              <a:t>      "lodging_searches": 6207,</a:t>
            </a:r>
          </a:p>
          <a:p>
            <a:r>
              <a:t>      "navigation_searches": 127671,</a:t>
            </a:r>
          </a:p>
          <a:p>
            <a:r>
              <a:t>      "visitor_yoy_percent": 0.83,</a:t>
            </a:r>
          </a:p>
          <a:p>
            <a:r>
              <a:t>      "spending_yoy_percent": -1.74,</a:t>
            </a:r>
          </a:p>
          <a:p>
            <a:r>
              <a:t>      "metric_changes_percent": {</a:t>
            </a:r>
          </a:p>
          <a:p>
            <a:r>
              <a:t>        "stay_minutes": -0.88,</a:t>
            </a:r>
          </a:p>
          <a:p>
            <a:r>
              <a:t>        "lodging_nights": -2.72,</a:t>
            </a:r>
          </a:p>
          <a:p>
            <a:r>
              <a:t>        "lodging_rate_pct": 0.0,</a:t>
            </a:r>
          </a:p>
          <a:p>
            <a:r>
              <a:t>        "lodging_searches": 0.0,</a:t>
            </a:r>
          </a:p>
          <a:p>
            <a:r>
              <a:t>        "navigation_searches": 0.0</a:t>
            </a:r>
          </a:p>
          <a:p>
            <a:r>
              <a:t>      },</a:t>
            </a:r>
          </a:p>
          <a:p>
            <a:r>
              <a:t>      "previous_year_visitors": 3722556,</a:t>
            </a:r>
          </a:p>
          <a:p>
            <a:r>
              <a:t>      "previous_year_spending_krw": 76492493000,</a:t>
            </a:r>
          </a:p>
          <a:p>
            <a:r>
              <a:t>      "previous_year_stay_minutes": 1138.0,</a:t>
            </a:r>
          </a:p>
          <a:p>
            <a:r>
              <a:t>      "previous_year_lodging_nights": 2.94,</a:t>
            </a:r>
          </a:p>
          <a:p>
            <a:r>
              <a:t>      "previous_year_lodging_rate_pct": 6.4,</a:t>
            </a:r>
          </a:p>
          <a:p>
            <a:r>
              <a:t>      "previous_year_lodging_searches": 6207,</a:t>
            </a:r>
          </a:p>
          <a:p>
            <a:r>
              <a:t>      "previous_year_navigation_searches": 127671</a:t>
            </a:r>
          </a:p>
          <a:p>
            <a:r>
              <a:t>    },</a:t>
            </a:r>
          </a:p>
          <a:p>
            <a:r>
              <a:t>    {</a:t>
            </a:r>
          </a:p>
          <a:p>
            <a:r>
              <a:t>      "month": "202610",</a:t>
            </a:r>
          </a:p>
          <a:p>
            <a:r>
              <a:t>      "visitors": 3778392,</a:t>
            </a:r>
          </a:p>
          <a:p>
            <a:r>
              <a:t>      "is_forecast": true,</a:t>
            </a:r>
          </a:p>
          <a:p>
            <a:r>
              <a:t>      "spending_krw": 78739302878,</a:t>
            </a:r>
          </a:p>
          <a:p>
            <a:r>
              <a:t>      "stay_minutes": 1189.22,</a:t>
            </a:r>
          </a:p>
          <a:p>
            <a:r>
              <a:t>      "lodging_nights": 2.9,</a:t>
            </a:r>
          </a:p>
          <a:p>
            <a:r>
              <a:t>      "lodging_rate_pct": 8.5,</a:t>
            </a:r>
          </a:p>
          <a:p>
            <a:r>
              <a:t>      "lodging_searches": 9560,</a:t>
            </a:r>
          </a:p>
          <a:p>
            <a:r>
              <a:t>      "navigation_searches": 211413,</a:t>
            </a:r>
          </a:p>
          <a:p>
            <a:r>
              <a:t>      "visitor_yoy_percent": -3.74,</a:t>
            </a:r>
          </a:p>
          <a:p>
            <a:r>
              <a:t>      "spending_yoy_percent": -6.27,</a:t>
            </a:r>
          </a:p>
          <a:p>
            <a:r>
              <a:t>      "metric_changes_percent": {</a:t>
            </a:r>
          </a:p>
          <a:p>
            <a:r>
              <a:t>        "stay_minutes": -3.55,</a:t>
            </a:r>
          </a:p>
          <a:p>
            <a:r>
              <a:t>        "lodging_nights": 0.69,</a:t>
            </a:r>
          </a:p>
          <a:p>
            <a:r>
              <a:t>        "lodging_rate_pct": 0.0,</a:t>
            </a:r>
          </a:p>
          <a:p>
            <a:r>
              <a:t>        "lodging_searches": 0.0,</a:t>
            </a:r>
          </a:p>
          <a:p>
            <a:r>
              <a:t>        "navigation_searches": 0.0</a:t>
            </a:r>
          </a:p>
          <a:p>
            <a:r>
              <a:t>      },</a:t>
            </a:r>
          </a:p>
          <a:p>
            <a:r>
              <a:t>      "previous_year_visitors": 3925237,</a:t>
            </a:r>
          </a:p>
          <a:p>
            <a:r>
              <a:t>      "previous_year_spending_krw": 84007025000,</a:t>
            </a:r>
          </a:p>
          <a:p>
            <a:r>
              <a:t>      "previous_year_stay_minutes": 1233.0,</a:t>
            </a:r>
          </a:p>
          <a:p>
            <a:r>
              <a:t>      "previous_year_lodging_nights": 2.88,</a:t>
            </a:r>
          </a:p>
          <a:p>
            <a:r>
              <a:t>      "previous_year_lodging_rate_pct": 8.5,</a:t>
            </a:r>
          </a:p>
          <a:p>
            <a:r>
              <a:t>      "previous_year_lodging_searches": 9560,</a:t>
            </a:r>
          </a:p>
          <a:p>
            <a:r>
              <a:t>      "previous_year_navigation_searches": 211413</a:t>
            </a:r>
          </a:p>
          <a:p>
            <a:r>
              <a:t>    },</a:t>
            </a:r>
          </a:p>
          <a:p>
            <a:r>
              <a:t>    {</a:t>
            </a:r>
          </a:p>
          <a:p>
            <a:r>
              <a:t>      "month": "202611",</a:t>
            </a:r>
          </a:p>
          <a:p>
            <a:r>
              <a:t>      "visitors": 3748084,</a:t>
            </a:r>
          </a:p>
          <a:p>
            <a:r>
              <a:t>      "is_forecast": true,</a:t>
            </a:r>
          </a:p>
          <a:p>
            <a:r>
              <a:t>      "spending_krw": 81104223698,</a:t>
            </a:r>
          </a:p>
          <a:p>
            <a:r>
              <a:t>      "stay_minutes": 1157.37,</a:t>
            </a:r>
          </a:p>
          <a:p>
            <a:r>
              <a:t>      "lodging_nights": 2.86,</a:t>
            </a:r>
          </a:p>
          <a:p>
            <a:r>
              <a:t>      "lodging_rate_pct": 6.5,</a:t>
            </a:r>
          </a:p>
          <a:p>
            <a:r>
              <a:t>      "lodging_searches": 6582,</a:t>
            </a:r>
          </a:p>
          <a:p>
            <a:r>
              <a:t>      "navigation_searches": 141791,</a:t>
            </a:r>
          </a:p>
          <a:p>
            <a:r>
              <a:t>      "visitor_yoy_percent": -1.44,</a:t>
            </a:r>
          </a:p>
          <a:p>
            <a:r>
              <a:t>      "spending_yoy_percent": -1.77,</a:t>
            </a:r>
          </a:p>
          <a:p>
            <a:r>
              <a:t>      "metric_changes_percent": {</a:t>
            </a:r>
          </a:p>
          <a:p>
            <a:r>
              <a:t>        "stay_minutes": 4.74,</a:t>
            </a:r>
          </a:p>
          <a:p>
            <a:r>
              <a:t>        "lodging_nights": -1.38,</a:t>
            </a:r>
          </a:p>
          <a:p>
            <a:r>
              <a:t>        "lodging_rate_pct": 0.0,</a:t>
            </a:r>
          </a:p>
          <a:p>
            <a:r>
              <a:t>        "lodging_searches": 0.0,</a:t>
            </a:r>
          </a:p>
          <a:p>
            <a:r>
              <a:t>        "navigation_searches": 0.0</a:t>
            </a:r>
          </a:p>
          <a:p>
            <a:r>
              <a:t>      },</a:t>
            </a:r>
          </a:p>
          <a:p>
            <a:r>
              <a:t>      "previous_year_visitors": 3802982,</a:t>
            </a:r>
          </a:p>
          <a:p>
            <a:r>
              <a:t>      "previous_year_spending_krw": 82569585000,</a:t>
            </a:r>
          </a:p>
          <a:p>
            <a:r>
              <a:t>      "previous_year_stay_minutes": 1105.0,</a:t>
            </a:r>
          </a:p>
          <a:p>
            <a:r>
              <a:t>      "previous_year_lodging_nights": 2.9,</a:t>
            </a:r>
          </a:p>
          <a:p>
            <a:r>
              <a:t>      "previous_year_lodging_rate_pct": 6.5,</a:t>
            </a:r>
          </a:p>
          <a:p>
            <a:r>
              <a:t>      "previous_year_lodging_searches": 6582,</a:t>
            </a:r>
          </a:p>
          <a:p>
            <a:r>
              <a:t>      "previous_year_navigation_searches": 141791</a:t>
            </a:r>
          </a:p>
          <a:p>
            <a:r>
              <a:t>    },</a:t>
            </a:r>
          </a:p>
          <a:p>
            <a:r>
              <a:t>    {</a:t>
            </a:r>
          </a:p>
          <a:p>
            <a:r>
              <a:t>      "month": "202612",</a:t>
            </a:r>
          </a:p>
          <a:p>
            <a:r>
              <a:t>      "visitors": 3741663,</a:t>
            </a:r>
          </a:p>
          <a:p>
            <a:r>
              <a:t>      "is_forecast": true,</a:t>
            </a:r>
          </a:p>
          <a:p>
            <a:r>
              <a:t>      "spending_krw": 83702422444,</a:t>
            </a:r>
          </a:p>
          <a:p>
            <a:r>
              <a:t>      "stay_minutes": 1216.03,</a:t>
            </a:r>
          </a:p>
          <a:p>
            <a:r>
              <a:t>      "lodging_nights": 2.93,</a:t>
            </a:r>
          </a:p>
          <a:p>
            <a:r>
              <a:t>      "lodging_rate_pct": 7.4,</a:t>
            </a:r>
          </a:p>
          <a:p>
            <a:r>
              <a:t>      "lodging_searches": 6099,</a:t>
            </a:r>
          </a:p>
          <a:p>
            <a:r>
              <a:t>      "navigation_searches": 134392,</a:t>
            </a:r>
          </a:p>
          <a:p>
            <a:r>
              <a:t>      "visitor_yoy_percent": -1.2,</a:t>
            </a:r>
          </a:p>
          <a:p>
            <a:r>
              <a:t>      "spending_yoy_percent": -1.66,</a:t>
            </a:r>
          </a:p>
          <a:p>
            <a:r>
              <a:t>      "metric_changes_percent": {</a:t>
            </a:r>
          </a:p>
          <a:p>
            <a:r>
              <a:t>        "stay_minutes": 3.49,</a:t>
            </a:r>
          </a:p>
          <a:p>
            <a:r>
              <a:t>        "lodging_nights": 2.81,</a:t>
            </a:r>
          </a:p>
          <a:p>
            <a:r>
              <a:t>        "lodging_rate_pct": 0.0,</a:t>
            </a:r>
          </a:p>
          <a:p>
            <a:r>
              <a:t>        "lodging_searches": 0.0,</a:t>
            </a:r>
          </a:p>
          <a:p>
            <a:r>
              <a:t>        "navigation_searches": 0.0</a:t>
            </a:r>
          </a:p>
          <a:p>
            <a:r>
              <a:t>      },</a:t>
            </a:r>
          </a:p>
          <a:p>
            <a:r>
              <a:t>      "previous_year_visitors": 3787225,</a:t>
            </a:r>
          </a:p>
          <a:p>
            <a:r>
              <a:t>      "previous_year_spending_krw": 85114549000,</a:t>
            </a:r>
          </a:p>
          <a:p>
            <a:r>
              <a:t>      "previous_year_stay_minutes": 1175.0,</a:t>
            </a:r>
          </a:p>
          <a:p>
            <a:r>
              <a:t>      "previous_year_lodging_nights": 2.85,</a:t>
            </a:r>
          </a:p>
          <a:p>
            <a:r>
              <a:t>      "previous_year_lodging_rate_pct": 7.4,</a:t>
            </a:r>
          </a:p>
          <a:p>
            <a:r>
              <a:t>      "previous_year_lodging_searches": 6099,</a:t>
            </a:r>
          </a:p>
          <a:p>
            <a:r>
              <a:t>      "previous_year_navigation_searches": 134392</a:t>
            </a:r>
          </a:p>
          <a:p>
            <a:r>
              <a:t>    }</a:t>
            </a:r>
          </a:p>
          <a:p>
            <a:r>
              <a:t>  ],</a:t>
            </a:r>
          </a:p>
          <a:p>
            <a:r>
              <a:t>  "evaluation": {</a:t>
            </a:r>
          </a:p>
          <a:p>
            <a:r>
              <a:t>    "metrics": {</a:t>
            </a:r>
          </a:p>
          <a:p>
            <a:r>
              <a:t>      "visitors": {</a:t>
            </a:r>
          </a:p>
          <a:p>
            <a:r>
              <a:t>        "test_mae": 116276.26,</a:t>
            </a:r>
          </a:p>
          <a:p>
            <a:r>
              <a:t>        "recursive_mae": {</a:t>
            </a:r>
          </a:p>
          <a:p>
            <a:r>
              <a:t>          "1": {</a:t>
            </a:r>
          </a:p>
          <a:p>
            <a:r>
              <a:t>            "baseline": 107629,</a:t>
            </a:r>
          </a:p>
          <a:p>
            <a:r>
              <a:t>            "selected": 144586,</a:t>
            </a:r>
          </a:p>
          <a:p>
            <a:r>
              <a:t>            "sample_count": 2</a:t>
            </a:r>
          </a:p>
          <a:p>
            <a:r>
              <a:t>          },</a:t>
            </a:r>
          </a:p>
          <a:p>
            <a:r>
              <a:t>          "2": {</a:t>
            </a:r>
          </a:p>
          <a:p>
            <a:r>
              <a:t>            "baseline": 97982,</a:t>
            </a:r>
          </a:p>
          <a:p>
            <a:r>
              <a:t>            "selected": 42697.5,</a:t>
            </a:r>
          </a:p>
          <a:p>
            <a:r>
              <a:t>            "sample_count": 2</a:t>
            </a:r>
          </a:p>
          <a:p>
            <a:r>
              <a:t>          },</a:t>
            </a:r>
          </a:p>
          <a:p>
            <a:r>
              <a:t>          "3": {</a:t>
            </a:r>
          </a:p>
          <a:p>
            <a:r>
              <a:t>            "baseline": 117576.5,</a:t>
            </a:r>
          </a:p>
          <a:p>
            <a:r>
              <a:t>            "selected": 61978,</a:t>
            </a:r>
          </a:p>
          <a:p>
            <a:r>
              <a:t>            "sample_count": 2</a:t>
            </a:r>
          </a:p>
          <a:p>
            <a:r>
              <a:t>          }</a:t>
            </a:r>
          </a:p>
          <a:p>
            <a:r>
              <a:t>        },</a:t>
            </a:r>
          </a:p>
          <a:p>
            <a:r>
              <a:t>        "selected_model": "RandomForestRegressor",</a:t>
            </a:r>
          </a:p>
          <a:p>
            <a:r>
              <a:t>        "baseline_test_mae": 112602.75,</a:t>
            </a:r>
          </a:p>
          <a:p>
            <a:r>
              <a:t>        "model_reliability": "below_baseline_on_test",</a:t>
            </a:r>
          </a:p>
          <a:p>
            <a:r>
              <a:t>        "beats_baseline_on_test": false,</a:t>
            </a:r>
          </a:p>
          <a:p>
            <a:r>
              <a:t>        "recursive_horizons_worse_than_baseline": [</a:t>
            </a:r>
          </a:p>
          <a:p>
            <a:r>
              <a:t>          "1"</a:t>
            </a:r>
          </a:p>
          <a:p>
            <a:r>
              <a:t>        ]</a:t>
            </a:r>
          </a:p>
          <a:p>
            <a:r>
              <a:t>      },</a:t>
            </a:r>
          </a:p>
          <a:p>
            <a:r>
              <a:t>      "spending_krw": {</a:t>
            </a:r>
          </a:p>
          <a:p>
            <a:r>
              <a:t>        "test_mae": 8497417178.46,</a:t>
            </a:r>
          </a:p>
          <a:p>
            <a:r>
              <a:t>        "recursive_mae": {</a:t>
            </a:r>
          </a:p>
          <a:p>
            <a:r>
              <a:t>          "1": {</a:t>
            </a:r>
          </a:p>
          <a:p>
            <a:r>
              <a:t>            "baseline": 8544467500,</a:t>
            </a:r>
          </a:p>
          <a:p>
            <a:r>
              <a:t>            "selected": 9094829451,</a:t>
            </a:r>
          </a:p>
          <a:p>
            <a:r>
              <a:t>            "sample_count": 2</a:t>
            </a:r>
          </a:p>
          <a:p>
            <a:r>
              <a:t>          },</a:t>
            </a:r>
          </a:p>
          <a:p>
            <a:r>
              <a:t>          "2": {</a:t>
            </a:r>
          </a:p>
          <a:p>
            <a:r>
              <a:t>            "baseline": 7477646000,</a:t>
            </a:r>
          </a:p>
          <a:p>
            <a:r>
              <a:t>            "selected": 11843172152.5,</a:t>
            </a:r>
          </a:p>
          <a:p>
            <a:r>
              <a:t>            "sample_count": 2</a:t>
            </a:r>
          </a:p>
          <a:p>
            <a:r>
              <a:t>          },</a:t>
            </a:r>
          </a:p>
          <a:p>
            <a:r>
              <a:t>          "3": {</a:t>
            </a:r>
          </a:p>
          <a:p>
            <a:r>
              <a:t>            "baseline": 3820910500,</a:t>
            </a:r>
          </a:p>
          <a:p>
            <a:r>
              <a:t>            "selected": 11502063502,</a:t>
            </a:r>
          </a:p>
          <a:p>
            <a:r>
              <a:t>            "sample_count": 2</a:t>
            </a:r>
          </a:p>
          <a:p>
            <a:r>
              <a:t>          }</a:t>
            </a:r>
          </a:p>
          <a:p>
            <a:r>
              <a:t>        },</a:t>
            </a:r>
          </a:p>
          <a:p>
            <a:r>
              <a:t>        "selected_model": "LinearRegression",</a:t>
            </a:r>
          </a:p>
          <a:p>
            <a:r>
              <a:t>        "baseline_test_mae": 6182689000,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251.99,</a:t>
            </a:r>
          </a:p>
          <a:p>
            <a:r>
              <a:t>        "recursive_mae": {</a:t>
            </a:r>
          </a:p>
          <a:p>
            <a:r>
              <a:t>          "1": {</a:t>
            </a:r>
          </a:p>
          <a:p>
            <a:r>
              <a:t>            "baseline": 54.5,</a:t>
            </a:r>
          </a:p>
          <a:p>
            <a:r>
              <a:t>            "selected": 117.74,</a:t>
            </a:r>
          </a:p>
          <a:p>
            <a:r>
              <a:t>            "sample_count": 2</a:t>
            </a:r>
          </a:p>
          <a:p>
            <a:r>
              <a:t>          },</a:t>
            </a:r>
          </a:p>
          <a:p>
            <a:r>
              <a:t>          "2": {</a:t>
            </a:r>
          </a:p>
          <a:p>
            <a:r>
              <a:t>            "baseline": 205.5,</a:t>
            </a:r>
          </a:p>
          <a:p>
            <a:r>
              <a:t>            "selected": 187.84,</a:t>
            </a:r>
          </a:p>
          <a:p>
            <a:r>
              <a:t>            "sample_count": 2</a:t>
            </a:r>
          </a:p>
          <a:p>
            <a:r>
              <a:t>          },</a:t>
            </a:r>
          </a:p>
          <a:p>
            <a:r>
              <a:t>          "3": {</a:t>
            </a:r>
          </a:p>
          <a:p>
            <a:r>
              <a:t>            "baseline": 208.5,</a:t>
            </a:r>
          </a:p>
          <a:p>
            <a:r>
              <a:t>            "selected": 234.17,</a:t>
            </a:r>
          </a:p>
          <a:p>
            <a:r>
              <a:t>            "sample_count": 2</a:t>
            </a:r>
          </a:p>
          <a:p>
            <a:r>
              <a:t>          }</a:t>
            </a:r>
          </a:p>
          <a:p>
            <a:r>
              <a:t>        },</a:t>
            </a:r>
          </a:p>
          <a:p>
            <a:r>
              <a:t>        "selected_model": "LinearRegression",</a:t>
            </a:r>
          </a:p>
          <a:p>
            <a:r>
              <a:t>        "baseline_test_mae": 131.5,</a:t>
            </a:r>
          </a:p>
          <a:p>
            <a:r>
              <a:t>        "model_reliability": "below_baseline_on_test",</a:t>
            </a:r>
          </a:p>
          <a:p>
            <a:r>
              <a:t>        "beats_baseline_on_test": false,</a:t>
            </a:r>
          </a:p>
          <a:p>
            <a:r>
              <a:t>        "recursive_horizons_worse_than_baseline": [</a:t>
            </a:r>
          </a:p>
          <a:p>
            <a:r>
              <a:t>          "1",</a:t>
            </a:r>
          </a:p>
          <a:p>
            <a:r>
              <a:t>          "3"</a:t>
            </a:r>
          </a:p>
          <a:p>
            <a:r>
              <a:t>        ]</a:t>
            </a:r>
          </a:p>
          <a:p>
            <a:r>
              <a:t>      },</a:t>
            </a:r>
          </a:p>
          <a:p>
            <a:r>
              <a:t>      "lodging_nights": {</a:t>
            </a:r>
          </a:p>
          <a:p>
            <a:r>
              <a:t>        "test_mae": 0.08,</a:t>
            </a:r>
          </a:p>
          <a:p>
            <a:r>
              <a:t>        "recursive_mae": {</a:t>
            </a:r>
          </a:p>
          <a:p>
            <a:r>
              <a:t>          "1": {</a:t>
            </a:r>
          </a:p>
          <a:p>
            <a:r>
              <a:t>            "baseline": 0.07,</a:t>
            </a:r>
          </a:p>
          <a:p>
            <a:r>
              <a:t>            "selected": 0.04,</a:t>
            </a:r>
          </a:p>
          <a:p>
            <a:r>
              <a:t>            "sample_count": 2</a:t>
            </a:r>
          </a:p>
          <a:p>
            <a:r>
              <a:t>          },</a:t>
            </a:r>
          </a:p>
          <a:p>
            <a:r>
              <a:t>          "2": {</a:t>
            </a:r>
          </a:p>
          <a:p>
            <a:r>
              <a:t>            "baseline": 0.11,</a:t>
            </a:r>
          </a:p>
          <a:p>
            <a:r>
              <a:t>            "selected": 0.09,</a:t>
            </a:r>
          </a:p>
          <a:p>
            <a:r>
              <a:t>            "sample_count": 2</a:t>
            </a:r>
          </a:p>
          <a:p>
            <a:r>
              <a:t>          },</a:t>
            </a:r>
          </a:p>
          <a:p>
            <a:r>
              <a:t>          "3": {</a:t>
            </a:r>
          </a:p>
          <a:p>
            <a:r>
              <a:t>            "baseline": 0.1,</a:t>
            </a:r>
          </a:p>
          <a:p>
            <a:r>
              <a:t>            "selected": 0.07,</a:t>
            </a:r>
          </a:p>
          <a:p>
            <a:r>
              <a:t>            "sample_count": 2</a:t>
            </a:r>
          </a:p>
          <a:p>
            <a:r>
              <a:t>          }</a:t>
            </a:r>
          </a:p>
          <a:p>
            <a:r>
              <a:t>        },</a:t>
            </a:r>
          </a:p>
          <a:p>
            <a:r>
              <a:t>        "selected_model": "LinearRegression",</a:t>
            </a:r>
          </a:p>
          <a:p>
            <a:r>
              <a:t>        "baseline_test_mae": 0.09,</a:t>
            </a:r>
          </a:p>
          <a:p>
            <a:r>
              <a:t>        "model_reliability": "limited_backtest_support",</a:t>
            </a:r>
          </a:p>
          <a:p>
            <a:r>
              <a:t>        "beats_baseline_on_test": true,</a:t>
            </a:r>
          </a:p>
          <a:p>
            <a:r>
              <a:t>        "recursive_horizons_worse_than_baseline": []</a:t>
            </a:r>
          </a:p>
          <a:p>
            <a:r>
              <a:t>      },</a:t>
            </a:r>
          </a:p>
          <a:p>
            <a:r>
              <a:t>      "lodging_rate_pct": {</a:t>
            </a:r>
          </a:p>
          <a:p>
            <a:r>
              <a:t>        "test_mae": 0.27,</a:t>
            </a:r>
          </a:p>
          <a:p>
            <a:r>
              <a:t>        "recursive_mae": {</a:t>
            </a:r>
          </a:p>
          <a:p>
            <a:r>
              <a:t>          "1": {</a:t>
            </a:r>
          </a:p>
          <a:p>
            <a:r>
              <a:t>            "baseline": 0.35,</a:t>
            </a:r>
          </a:p>
          <a:p>
            <a:r>
              <a:t>            "selected": 0.35,</a:t>
            </a:r>
          </a:p>
          <a:p>
            <a:r>
              <a:t>            "sample_count": 2</a:t>
            </a:r>
          </a:p>
          <a:p>
            <a:r>
              <a:t>          },</a:t>
            </a:r>
          </a:p>
          <a:p>
            <a:r>
              <a:t>          "2": {</a:t>
            </a:r>
          </a:p>
          <a:p>
            <a:r>
              <a:t>            "baseline": 0.1,</a:t>
            </a:r>
          </a:p>
          <a:p>
            <a:r>
              <a:t>            "selected": 0.1,</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0.27,</a:t>
            </a:r>
          </a:p>
          <a:p>
            <a:r>
              <a:t>        "model_reliability": "seasonal_baseline",</a:t>
            </a:r>
          </a:p>
          <a:p>
            <a:r>
              <a:t>        "beats_baseline_on_test": false,</a:t>
            </a:r>
          </a:p>
          <a:p>
            <a:r>
              <a:t>        "recursive_horizons_worse_than_baseline": []</a:t>
            </a:r>
          </a:p>
          <a:p>
            <a:r>
              <a:t>      },</a:t>
            </a:r>
          </a:p>
          <a:p>
            <a:r>
              <a:t>      "lodging_searches": {</a:t>
            </a:r>
          </a:p>
          <a:p>
            <a:r>
              <a:t>        "test_mae": 414.25,</a:t>
            </a:r>
          </a:p>
          <a:p>
            <a:r>
              <a:t>        "recursive_mae": {</a:t>
            </a:r>
          </a:p>
          <a:p>
            <a:r>
              <a:t>          "1": {</a:t>
            </a:r>
          </a:p>
          <a:p>
            <a:r>
              <a:t>            "baseline": 527,</a:t>
            </a:r>
          </a:p>
          <a:p>
            <a:r>
              <a:t>            "selected": 527,</a:t>
            </a:r>
          </a:p>
          <a:p>
            <a:r>
              <a:t>            "sample_count": 2</a:t>
            </a:r>
          </a:p>
          <a:p>
            <a:r>
              <a:t>          },</a:t>
            </a:r>
          </a:p>
          <a:p>
            <a:r>
              <a:t>          "2": {</a:t>
            </a:r>
          </a:p>
          <a:p>
            <a:r>
              <a:t>            "baseline": 252.5,</a:t>
            </a:r>
          </a:p>
          <a:p>
            <a:r>
              <a:t>            "selected": 252.5,</a:t>
            </a:r>
          </a:p>
          <a:p>
            <a:r>
              <a:t>            "sample_count": 2</a:t>
            </a:r>
          </a:p>
          <a:p>
            <a:r>
              <a:t>          },</a:t>
            </a:r>
          </a:p>
          <a:p>
            <a:r>
              <a:t>          "3": {</a:t>
            </a:r>
          </a:p>
          <a:p>
            <a:r>
              <a:t>            "baseline": 301.5,</a:t>
            </a:r>
          </a:p>
          <a:p>
            <a:r>
              <a:t>            "selected": 301.5,</a:t>
            </a:r>
          </a:p>
          <a:p>
            <a:r>
              <a:t>            "sample_count": 2</a:t>
            </a:r>
          </a:p>
          <a:p>
            <a:r>
              <a:t>          }</a:t>
            </a:r>
          </a:p>
          <a:p>
            <a:r>
              <a:t>        },</a:t>
            </a:r>
          </a:p>
          <a:p>
            <a:r>
              <a:t>        "selected_model": "seasonal_naive_previous_year_same_month",</a:t>
            </a:r>
          </a:p>
          <a:p>
            <a:r>
              <a:t>        "baseline_test_mae": 414.25,</a:t>
            </a:r>
          </a:p>
          <a:p>
            <a:r>
              <a:t>        "model_reliability": "seasonal_baseline",</a:t>
            </a:r>
          </a:p>
          <a:p>
            <a:r>
              <a:t>        "beats_baseline_on_test": false,</a:t>
            </a:r>
          </a:p>
          <a:p>
            <a:r>
              <a:t>        "recursive_horizons_worse_than_baseline": []</a:t>
            </a:r>
          </a:p>
          <a:p>
            <a:r>
              <a:t>      },</a:t>
            </a:r>
          </a:p>
          <a:p>
            <a:r>
              <a:t>      "navigation_searches": {</a:t>
            </a:r>
          </a:p>
          <a:p>
            <a:r>
              <a:t>        "test_mae": 6613.5,</a:t>
            </a:r>
          </a:p>
          <a:p>
            <a:r>
              <a:t>        "recursive_mae": {</a:t>
            </a:r>
          </a:p>
          <a:p>
            <a:r>
              <a:t>          "1": {</a:t>
            </a:r>
          </a:p>
          <a:p>
            <a:r>
              <a:t>            "baseline": 7157.5,</a:t>
            </a:r>
          </a:p>
          <a:p>
            <a:r>
              <a:t>            "selected": 7157.5,</a:t>
            </a:r>
          </a:p>
          <a:p>
            <a:r>
              <a:t>            "sample_count": 2</a:t>
            </a:r>
          </a:p>
          <a:p>
            <a:r>
              <a:t>          },</a:t>
            </a:r>
          </a:p>
          <a:p>
            <a:r>
              <a:t>          "2": {</a:t>
            </a:r>
          </a:p>
          <a:p>
            <a:r>
              <a:t>            "baseline": 2837.5,</a:t>
            </a:r>
          </a:p>
          <a:p>
            <a:r>
              <a:t>            "selected": 2837.5,</a:t>
            </a:r>
          </a:p>
          <a:p>
            <a:r>
              <a:t>            "sample_count": 2</a:t>
            </a:r>
          </a:p>
          <a:p>
            <a:r>
              <a:t>          },</a:t>
            </a:r>
          </a:p>
          <a:p>
            <a:r>
              <a:t>          "3": {</a:t>
            </a:r>
          </a:p>
          <a:p>
            <a:r>
              <a:t>            "baseline": 6069.5,</a:t>
            </a:r>
          </a:p>
          <a:p>
            <a:r>
              <a:t>            "selected": 6069.5,</a:t>
            </a:r>
          </a:p>
          <a:p>
            <a:r>
              <a:t>            "sample_count": 2</a:t>
            </a:r>
          </a:p>
          <a:p>
            <a:r>
              <a:t>          }</a:t>
            </a:r>
          </a:p>
          <a:p>
            <a:r>
              <a:t>        },</a:t>
            </a:r>
          </a:p>
          <a:p>
            <a:r>
              <a:t>        "selected_model": "seasonal_naive_previous_year_same_month",</a:t>
            </a:r>
          </a:p>
          <a:p>
            <a:r>
              <a:t>        "baseline_test_mae": 6613.5,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"본문 기준"</a:t>
            </a:r>
          </a:p>
          <a:p>
            <a:r>
              <a:t>      ]</a:t>
            </a:r>
          </a:p>
          <a:p>
            <a:r>
              <a:t>    ],</a:t>
            </a:r>
          </a:p>
          <a:p>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"인천광역시 ‘6월부터 밤마다 인천으로’ 야간관광 특화도시 운영 및 성과 자료",</a:t>
            </a:r>
          </a:p>
          <a:p xmlns:a="http://schemas.openxmlformats.org/drawingml/2006/main">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xmlns:a="http://schemas.openxmlformats.org/drawingml/2006/main">
            <a:r>
              <a:t>      "source_id": "case:3e081ab48300f1",</a:t>
            </a:r>
          </a:p>
          <a:p xmlns:a="http://schemas.openxmlformats.org/drawingml/2006/main">
            <a:r>
              <a:t>      "source_url": "https://www.incheon.go.kr/IC010205/view?beginDt=2021-10-01&amp;curPage=479&amp;endDt=&amp;repSeq=DOM_0000000010085993&amp;srchMainManagerDeptNm=&amp;srchRepContents=&amp;srchRepTitle=",</a:t>
            </a:r>
          </a:p>
          <a:p xmlns:a="http://schemas.openxmlformats.org/drawingml/2006/main">
            <a:r>
              <a:t>      "case_region": "인천광역시 송도·개항장·월미도 등",</a:t>
            </a:r>
          </a:p>
          <a:p xmlns:a="http://schemas.openxmlformats.org/drawingml/2006/main">
            <a:r>
              <a:t>      "source_type": "benchmark_case",</a:t>
            </a:r>
          </a:p>
          <a:p xmlns:a="http://schemas.openxmlformats.org/drawingml/2006/main">
            <a:r>
              <a:t>      "intervention": "야간 프로그램·시티투어·관광패스·야시장·상권쿠폰을 결합한 야간관광 특화도시 사업",</a:t>
            </a:r>
          </a:p>
          <a:p xmlns:a="http://schemas.openxmlformats.org/drawingml/2006/main">
            <a:r>
              <a:t>      "document_type": null,</a:t>
            </a:r>
          </a:p>
          <a:p xmlns:a="http://schemas.openxmlformats.org/drawingml/2006/main">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xmlns:a="http://schemas.openxmlformats.org/drawingml/2006/main">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"measurement_period": "2022-11 ~ 2023 사업 운영기간; 일부 프로그램은 2024년 기사에서 별도 실적 공개",</a:t>
            </a:r>
          </a:p>
          <a:p xmlns:a="http://schemas.openxmlformats.org/drawingml/2006/main">
            <a:r>
              <a:t>      "transfer_conditions": [</a:t>
            </a:r>
          </a:p>
          <a:p xmlns:a="http://schemas.openxmlformats.org/drawingml/2006/main">
            <a:r>
              <a:t>        "부평구에서는 광역 단위 21개 사업이 아니라 부평역 인근 등 보행 가능한 한 권역, 2~3개 콘텐츠, 소수 점포로 축소",</a:t>
            </a:r>
          </a:p>
          <a:p xmlns:a="http://schemas.openxmlformats.org/drawingml/2006/main">
            <a:r>
              <a:t>        "10~12월 기온과 일몰시간을 고려해 실외 행사보다 실내 문화시설·공연·식음업소를 연결한 예약 회차 확보",</a:t>
            </a:r>
          </a:p>
          <a:p xmlns:a="http://schemas.openxmlformats.org/drawingml/2006/main">
            <a:r>
              <a:t>        "야간 귀가 교통, 보행 동선, 안전요원, 시설별 종료시간을 함께 설계",</a:t>
            </a:r>
          </a:p>
          <a:p xmlns:a="http://schemas.openxmlformats.org/drawingml/2006/main">
            <a:r>
              <a:t>        "현장 첫 결제에 즉시 할인하기보다 체험 완료 후 인접 점포에서 사용할 수 있는 후속 혜택으로 교차이용을 유도",</a:t>
            </a:r>
          </a:p>
          <a:p xmlns:a="http://schemas.openxmlformats.org/drawingml/2006/main">
            <a:r>
              <a:t>        "행사 방문자, 실제 체험 완료자, 상권 혜택 사용자와 결제액을 각각 분리 집계"</a:t>
            </a:r>
          </a:p>
          <a:p xmlns:a="http://schemas.openxmlformats.org/drawingml/2006/main">
            <a:r>
              <a:t>      ],</a:t>
            </a:r>
          </a:p>
          <a:p xmlns:a="http://schemas.openxmlformats.org/drawingml/2006/main">
            <a:r>
              <a:t>      "published_or_updated_at": "2024-05-29",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"사업 담당자가 참여 업체 명단 및 콘텐츠 운영 계획을 확정하고 협약 체결", "schedule": "2026-10", "deliverable": "참여 업체 명단 및 콘텐츠 운영 계획서"}, {"step": 2, "task": "안전 관리자가 야간 보행 동선 점검 및 안전요원 배치 계획 수립", "schedule": "2026-10", "deliverable": "야간 보행 동선 및 안전요원 배치 계획"}, {"step": 3, "task": "운영팀이 시범 운영을 실시하고 주간 운영 결과 및 참여자 피드백을 기록", "schedule": "2026-11", "deliverable": "주간 운영 결과 보고서"}, {"step": 4, "task": "사업 담당자가 매주 신청·승인·취소·이용·결제 원장을 집계하여 데이터 수집", "schedule": "2026-11 ~ 2026-12", "deliverable": "매주 업데이트되는 이용·결제 원장"}, {"step": 5, "task": "기획팀이 수집된 원장을 바탕으로 최종 성과 분석 및 사업 종료 보고", "schedule": "2026-12", "deliverable": "최종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dataset:28237:1 | 한국관광 데이터랩 · 인천광역시 부평구 순 방문자 수 및 숙박 비율 (이동통신 기반 외지인) | https://datalab.visitkorea.or.kr/</a:t>
            </a:r>
          </a:p>
          <a:p>
            <a:r>
              <a:t>dataset:28237:2 | 한국관광 데이터랩 · 인천광역시 부평구 월간 순 방문자 수 (이동통신 기반 외지인) | https://datalab.visitkorea.or.kr/</a:t>
            </a:r>
          </a:p>
          <a:p>
            <a:r>
              <a:t>dataset:28237:3 | 한국관광 데이터랩 · 인천광역시 부평구 관광소비 추이_외지인 | https://datalab.visitkorea.or.kr/</a:t>
            </a:r>
          </a:p>
          <a:p>
            <a:r>
              <a:t>dataset:28237:4 | 한국관광 데이터랩 · 인천광역시 부평구 숙박방문자 비율 추이 (이동통신 기반 외지인) | https://datalab.visitkorea.or.kr/</a:t>
            </a:r>
          </a:p>
          <a:p>
            <a:r>
              <a:t>dataset:28237:5 | 한국관광 데이터랩 · 인천광역시 부평구 평균 숙박일 (이동통신 기반 외지인) | https://datalab.visitkorea.or.kr/</a:t>
            </a:r>
          </a:p>
          <a:p>
            <a:r>
              <a:t>dataset:28237:6 | 한국관광 데이터랩 · 인천광역시 부평구 내비게이션 목적지 유형별 검색량 | https://datalab.visitkorea.or.kr/</a:t>
            </a:r>
          </a:p>
          <a:p>
            <a:r>
              <a:t>dataset:28237:7 | 한국관광 데이터랩 · 인천광역시 부평구 SNS 언급량 | https://datalab.visitkorea.or.kr/</a:t>
            </a:r>
          </a:p>
          <a:p>
            <a:r>
              <a:t>datalab:088dce68db8c:f9e07528e9cc | 관광소비/2025_01_12.zip | https://datalab.visitkorea.or.kr/</a:t>
            </a:r>
          </a:p>
          <a:p>
            <a:r>
              <a:t>datalab:12893561bbea:153ed3aa5a6e | 숙박_체류시간/2026_01_06.zip | https://datalab.visitkorea.or.kr/</a:t>
            </a:r>
          </a:p>
          <a:p>
            <a:r>
              <a:t>datalab:328e6d50da04:877452ad2b59 | 방문자/2025_01_12.zip | https://datalab.visitkorea.or.kr/</a:t>
            </a:r>
          </a:p>
          <a:p>
            <a:r>
              <a:t>datalab:5104039977f5:37dc3b7e64b5 | 방문자/2026_01_06.zip | https://datalab.visitkorea.or.kr/</a:t>
            </a:r>
          </a:p>
          <a:p>
            <a:r>
              <a:t>datalab:b7bac265962d:97cf4d1db102 | 숙박_체류시간/2025_01_12.zip | https://datalab.visitkorea.or.kr/</a:t>
            </a:r>
          </a:p>
          <a:p>
            <a:r>
              <a:t>datalab:bd21758c8a88:9597865e62ef | 관광소비/2026_01_06.zip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regional-status:0b32b3d6db4d:a1a67792e3b1 | 한국관광 데이터랩 지역별 관광 현황 · 인천광역시 부평구 · 지역집중률 | https://datalab.visitkorea.or.kr/</a:t>
            </a:r>
          </a:p>
          <a:p>
            <a:r>
              <a:t>regional-status:98eebe8613d3:723745281038 | 한국관광 데이터랩 지역별 관광 현황 · 인천광역시 부평구 · 유입유출 | https://datalab.visitkorea.or.kr/</a:t>
            </a:r>
          </a:p>
          <a:p>
            <a:r>
              <a:t>regional-status:b12ff2da0892:a553d7015259 | 한국관광 데이터랩 지역별 관광 현황 · 인천광역시 부평구 · 인기관광지 | https://datalab.visitkorea.or.kr/</a:t>
            </a:r>
          </a:p>
          <a:p>
            <a:r>
              <a:t>ml:28237:regional-demand-v3.1:202606 | 지역 관광수요 ML 전망 · 공식 관측값 아님 | URL 미기록</a:t>
            </a:r>
          </a:p>
          <a:p>
            <a:r>
              <a:t>tour-api:1619098 | 굴포천 생태하천 | https://apis.data.go.kr/B551011/KorService2</a:t>
            </a:r>
          </a:p>
          <a:p>
            <a:r>
              <a:t>tour-api:2875411 | 대왕김밥 | https://apis.data.go.kr/B551011/KorService2</a:t>
            </a:r>
          </a:p>
          <a:p>
            <a:r>
              <a:t>tour-api:2768148 | 돈타래게장정식 | https://apis.data.go.kr/B551011/KorService2</a:t>
            </a:r>
          </a:p>
          <a:p>
            <a:r>
              <a:t>tour-api:2873461 | 면박사가야밀면 | https://apis.data.go.kr/B551011/KorService2</a:t>
            </a:r>
          </a:p>
          <a:p>
            <a:r>
              <a:t>tour-api:2833868 | 모녀떡볶이 부평남부역점 | https://apis.data.go.kr/B551011/KorService2</a:t>
            </a:r>
          </a:p>
          <a:p>
            <a:r>
              <a:t>tour-api:2768156 | 백운공원 | https://apis.data.go.kr/B551011/KorService2</a:t>
            </a:r>
          </a:p>
          <a:p>
            <a:r>
              <a:t>tour-api:2875455 | 별미칡냉면원조 | https://apis.data.go.kr/B551011/KorService2</a:t>
            </a:r>
          </a:p>
          <a:p>
            <a:r>
              <a:t>tour-api:2767563 | 부영공원 | https://apis.data.go.kr/B551011/KorService2</a:t>
            </a:r>
          </a:p>
          <a:p>
            <a:r>
              <a:t>tour-api:3456754 | 부평 굴포누리 기후변화체험관 | https://apis.data.go.kr/B551011/KorService2</a:t>
            </a:r>
          </a:p>
          <a:p>
            <a:r>
              <a:t>tour-api:1025514 | 부평 종합시장 | https://apis.data.go.kr/B551011/KorService2</a:t>
            </a:r>
          </a:p>
          <a:p>
            <a:r>
              <a:t>tour-api:749211 | 부평 해물탕거리 | https://apis.data.go.kr/B551011/KorService2</a:t>
            </a:r>
          </a:p>
          <a:p>
            <a:r>
              <a:t>tour-api:2021033 | 부평모두몰(부평지하도상가) | https://apis.data.go.kr/B551011/KorService2</a:t>
            </a:r>
          </a:p>
          <a:p>
            <a:r>
              <a:t>tour-api:2768142 | 부평시장 | https://apis.data.go.kr/B551011/KorService2</a:t>
            </a:r>
          </a:p>
          <a:p>
            <a:r>
              <a:t>tour-api:3457385 | 부평아트센터 | https://apis.data.go.kr/B551011/KorService2</a:t>
            </a:r>
          </a:p>
          <a:p>
            <a:r>
              <a:t>tour-api:2768190 | 부평역북광장 | https://apis.data.go.kr/B551011/KorService2</a:t>
            </a:r>
          </a:p>
          <a:p>
            <a:r>
              <a:t>tour-api:2875488 | 부흥기사식당 | https://apis.data.go.kr/B551011/KorService2</a:t>
            </a:r>
          </a:p>
          <a:p>
            <a:r>
              <a:t>tour-api:2768180 | 삼산건강공원 | https://apis.data.go.kr/B551011/KorService2</a:t>
            </a:r>
          </a:p>
          <a:p>
            <a:r>
              <a:t>tour-api:126568 | 신트리공원(인천) | https://apis.data.go.kr/B551011/KorService2</a:t>
            </a:r>
          </a:p>
          <a:p>
            <a:r>
              <a:t>tour-api:2835948 | 양평신내서울해장국 부평직영점 | https://apis.data.go.kr/B551011/KorService2</a:t>
            </a:r>
          </a:p>
          <a:p>
            <a:r>
              <a:t>tour-api:2765473 | 열우물전통시장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a:r>
              <a:t>case:c621f7b6c81807 | 서울특별시 ‘서울의 밤이 더 길어진다—서울달 금·토 심야 운영’ 및 운영 확대 자료 | https://www.seoul.go.kr/news/news_report.do?nttNo=462801</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인천광역시 부평구 순 방문자 수 및 숙박 비율 (이동통신 기반 외지인)",</a:t>
            </a:r>
          </a:p>
          <a:p>
            <a:r>
              <a:t>      "summary": "월간 순 방문자 수: 3,514,485명 (관측 기준월: 2026-06)",</a:t>
            </a:r>
          </a:p>
          <a:p>
            <a:r>
              <a:t>      "source_id": "dataset:28237:1",</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월간 순 방문자 수 (이동통신 기반 외지인)",</a:t>
            </a:r>
          </a:p>
          <a:p>
            <a:r>
              <a:t>      "summary": "전년동월 외지인 방문자 증감률: -2.2% (관측 기준월: 2026-06)",</a:t>
            </a:r>
          </a:p>
          <a:p>
            <a:r>
              <a:t>      "source_id": "dataset:28237:2",</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관광소비 추이_외지인",</a:t>
            </a:r>
          </a:p>
          <a:p>
            <a:r>
              <a:t>      "summary": "월간 외지인 관광소비 총액: 77,138,204,000원 (관측 기준월: 2026-06)",</a:t>
            </a:r>
          </a:p>
          <a:p>
            <a:r>
              <a:t>      "source_id": "dataset:28237:3",</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숙박방문자 비율 추이 (이동통신 기반 외지인)",</a:t>
            </a:r>
          </a:p>
          <a:p>
            <a:r>
              <a:t>      "summary": "외지인 숙박 방문 비율: 6.6% (관측 기준월: 2026-06)",</a:t>
            </a:r>
          </a:p>
          <a:p>
            <a:r>
              <a:t>      "source_id": "dataset:28237:4",</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평균 숙박일 (이동통신 기반 외지인)",</a:t>
            </a:r>
          </a:p>
          <a:p>
            <a:r>
              <a:t>      "summary": "외지인 평균 숙박일수: 2.90일 (관측 기준월: 2026-06)",</a:t>
            </a:r>
          </a:p>
          <a:p>
            <a:r>
              <a:t>      "source_id": "dataset:28237:5",</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내비게이션 목적지 유형별 검색량",</a:t>
            </a:r>
          </a:p>
          <a:p>
            <a:r>
              <a:t>      "summary": "내비게이션 목적지 검색량: 121,606건 (관측 기준월: 2026-06)",</a:t>
            </a:r>
          </a:p>
          <a:p>
            <a:r>
              <a:t>      "source_id": "dataset:28237:6",</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SNS 언급량",</a:t>
            </a:r>
          </a:p>
          <a:p>
            <a:r>
              <a:t>      "summary": "SNS 언급량: 44,932건 (관측 기준월: 2026-06)",</a:t>
            </a:r>
          </a:p>
          <a:p>
            <a:r>
              <a:t>      "source_id": "dataset:28237:7",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인천광역시_부평구/관광소비/2025_01_12.zip",</a:t>
            </a:r>
          </a:p>
          <a:p>
            <a:r>
              <a:t>      "summary": "전국 비교 기준 기간: 2025-07 ~ 2026-06",</a:t>
            </a:r>
          </a:p>
          <a:p>
            <a:r>
              <a:t>      "source_id": "datalab:088dce68db8c:f9e07528e9cc",</a:t>
            </a:r>
          </a:p>
          <a:p>
            <a:r>
              <a:t>      "source_url": "https://datalab.visitkorea.or.kr/",</a:t>
            </a:r>
          </a:p>
          <a:p>
            <a:r>
              <a:t>      "source_type": "nationwide_dataset",</a:t>
            </a:r>
          </a:p>
          <a:p>
            <a:r>
              <a:t>      "observation_period": "2025-07 ~ 2026-06",</a:t>
            </a:r>
          </a:p>
          <a:p>
            <a:r>
              <a:t>      "published_or_updated_at": "2024-07 ~ 2025-06",</a:t>
            </a:r>
          </a:p>
          <a:p>
            <a:r>
              <a:t>      "source_file_name": "인천광역시_부평구/관광소비/2025_01_12.zip"</a:t>
            </a:r>
          </a:p>
          <a:p>
            <a:r>
              <a:t>    },</a:t>
            </a:r>
          </a:p>
          <a:p>
            <a:r>
              <a:t>    {</a:t>
            </a:r>
          </a:p>
          <a:p>
            <a:r>
              <a:t>      "title": "한국관광 데이터랩 공식 다운로드 · 인천광역시_부평구/숙박_체류시간/2026_01_06.zip",</a:t>
            </a:r>
          </a:p>
          <a:p>
            <a:r>
              <a:t>      "summary": "전국 비교 기준 기간: 2025-07 ~ 2026-06",</a:t>
            </a:r>
          </a:p>
          <a:p>
            <a:r>
              <a:t>      "source_id": "datalab:12893561bbea:153ed3aa5a6e",</a:t>
            </a:r>
          </a:p>
          <a:p>
            <a:r>
              <a:t>      "source_url": "https://datalab.visitkorea.or.kr/",</a:t>
            </a:r>
          </a:p>
          <a:p>
            <a:r>
              <a:t>      "source_type": "nationwide_dataset",</a:t>
            </a:r>
          </a:p>
          <a:p>
            <a:r>
              <a:t>      "observation_period": "2025-07 ~ 2026-06",</a:t>
            </a:r>
          </a:p>
          <a:p>
            <a:r>
              <a:t>      "published_or_updated_at": "2024-07 ~ 2025-06",</a:t>
            </a:r>
          </a:p>
          <a:p>
            <a:r>
              <a:t>      "source_file_name": "인천광역시_부평구/숙박_체류시간/2026_01_06.zip"</a:t>
            </a:r>
          </a:p>
          <a:p>
            <a:r>
              <a:t>    },</a:t>
            </a:r>
          </a:p>
          <a:p>
            <a:r>
              <a:t>    {</a:t>
            </a:r>
          </a:p>
          <a:p>
            <a:r>
              <a:t>      "title": "한국관광 데이터랩 공식 다운로드 · 인천광역시_부평구/방문자/2025_01_12.zip",</a:t>
            </a:r>
          </a:p>
          <a:p>
            <a:r>
              <a:t>      "summary": "전국 비교 기준 기간: 2025-07 ~ 2026-06",</a:t>
            </a:r>
          </a:p>
          <a:p>
            <a:r>
              <a:t>      "source_id": "datalab:328e6d50da04:877452ad2b59",</a:t>
            </a:r>
          </a:p>
          <a:p>
            <a:r>
              <a:t>      "source_url": "https://datalab.visitkorea.or.kr/",</a:t>
            </a:r>
          </a:p>
          <a:p>
            <a:r>
              <a:t>      "source_type": "nationwide_dataset",</a:t>
            </a:r>
          </a:p>
          <a:p>
            <a:r>
              <a:t>      "observation_period": "2025-07 ~ 2026-06",</a:t>
            </a:r>
          </a:p>
          <a:p>
            <a:r>
              <a:t>      "published_or_updated_at": "2024-07 ~ 2025-06",</a:t>
            </a:r>
          </a:p>
          <a:p>
            <a:r>
              <a:t>      "source_file_name": "인천광역시_부평구/방문자/2025_01_12.zip"</a:t>
            </a:r>
          </a:p>
          <a:p>
            <a:r>
              <a:t>    },</a:t>
            </a:r>
          </a:p>
          <a:p>
            <a:r>
              <a:t>    {</a:t>
            </a:r>
          </a:p>
          <a:p>
            <a:r>
              <a:t>      "title": "한국관광 데이터랩 공식 다운로드 · 인천광역시_부평구/방문자/2026_01_06.zip",</a:t>
            </a:r>
          </a:p>
          <a:p>
            <a:r>
              <a:t>      "summary": "전국 비교 기준 기간: 2025-07 ~ 2026-06",</a:t>
            </a:r>
          </a:p>
          <a:p>
            <a:r>
              <a:t>      "source_id": "datalab:5104039977f5:37dc3b7e64b5",</a:t>
            </a:r>
          </a:p>
          <a:p>
            <a:r>
              <a:t>      "source_url": "https://datalab.visitkorea.or.kr/",</a:t>
            </a:r>
          </a:p>
          <a:p>
            <a:r>
              <a:t>      "source_type": "nationwide_dataset",</a:t>
            </a:r>
          </a:p>
          <a:p>
            <a:r>
              <a:t>      "observation_period": "2025-07 ~ 2026-06",</a:t>
            </a:r>
          </a:p>
          <a:p>
            <a:r>
              <a:t>      "published_or_updated_at": "2024-07 ~ 2025-06",</a:t>
            </a:r>
          </a:p>
          <a:p>
            <a:r>
              <a:t>      "source_file_name": "인천광역시_부평구/방문자/2026_01_06.zip"</a:t>
            </a:r>
          </a:p>
          <a:p>
            <a:r>
              <a:t>    },</a:t>
            </a:r>
          </a:p>
          <a:p>
            <a:r>
              <a:t>    {</a:t>
            </a:r>
          </a:p>
          <a:p>
            <a:r>
              <a:t>      "title": "한국관광 데이터랩 공식 다운로드 · 인천광역시_부평구/숙박_체류시간/2025_01_12.zip",</a:t>
            </a:r>
          </a:p>
          <a:p>
            <a:r>
              <a:t>      "summary": "전국 비교 기준 기간: 2025-07 ~ 2026-06",</a:t>
            </a:r>
          </a:p>
          <a:p>
            <a:r>
              <a:t>      "source_id": "datalab:b7bac265962d:97cf4d1db102",</a:t>
            </a:r>
          </a:p>
          <a:p>
            <a:r>
              <a:t>      "source_url": "https://datalab.visitkorea.or.kr/",</a:t>
            </a:r>
          </a:p>
          <a:p>
            <a:r>
              <a:t>      "source_type": "nationwide_dataset",</a:t>
            </a:r>
          </a:p>
          <a:p>
            <a:r>
              <a:t>      "observation_period": "2025-07 ~ 2026-06",</a:t>
            </a:r>
          </a:p>
          <a:p>
            <a:r>
              <a:t>      "published_or_updated_at": "2024-07 ~ 2025-06",</a:t>
            </a:r>
          </a:p>
          <a:p>
            <a:r>
              <a:t>      "source_file_name": "인천광역시_부평구/숙박_체류시간/2025_01_12.zip"</a:t>
            </a:r>
          </a:p>
          <a:p>
            <a:r>
              <a:t>    },</a:t>
            </a:r>
          </a:p>
          <a:p>
            <a:r>
              <a:t>    {</a:t>
            </a:r>
          </a:p>
          <a:p>
            <a:r>
              <a:t>      "title": "한국관광 데이터랩 공식 다운로드 · 인천광역시_부평구/관광소비/2026_01_06.zip",</a:t>
            </a:r>
          </a:p>
          <a:p>
            <a:r>
              <a:t>      "summary": "전국 비교 기준 기간: 2025-07 ~ 2026-06",</a:t>
            </a:r>
          </a:p>
          <a:p>
            <a:r>
              <a:t>      "source_id": "datalab:bd21758c8a88:9597865e62ef",</a:t>
            </a:r>
          </a:p>
          <a:p>
            <a:r>
              <a:t>      "source_url": "https://datalab.visitkorea.or.kr/",</a:t>
            </a:r>
          </a:p>
          <a:p>
            <a:r>
              <a:t>      "source_type": "nationwide_dataset",</a:t>
            </a:r>
          </a:p>
          <a:p>
            <a:r>
              <a:t>      "observation_period": "2025-07 ~ 2026-06",</a:t>
            </a:r>
          </a:p>
          <a:p>
            <a:r>
              <a:t>      "published_or_updated_at": "2024-07 ~ 2025-06",</a:t>
            </a:r>
          </a:p>
          <a:p>
            <a:r>
              <a:t>      "source_file_name": "인천광역시_부평구/관광소비/2026_01_06.zip"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인천광역시 부평구 · 지역집중률",</a:t>
            </a:r>
          </a:p>
          <a:p>
            <a:r>
              <a:t>      "summary": "관측 기간: 2025-07 ~ 2026-06. 유입·유출·인기장소 또는 30일 집중 운영 신호.",</a:t>
            </a:r>
          </a:p>
          <a:p>
            <a:r>
              <a:t>      "source_id": "regional-status:0b32b3d6db4d:a1a67792e3b1",</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인천광역시 부평구 · 유입유출",</a:t>
            </a:r>
          </a:p>
          <a:p>
            <a:r>
              <a:t>      "summary": "관측 기간: 2025-07 ~ 2026-06. 유입·유출·인기장소 또는 30일 집중 운영 신호.",</a:t>
            </a:r>
          </a:p>
          <a:p>
            <a:r>
              <a:t>      "source_id": "regional-status:98eebe8613d3:723745281038",</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인천광역시 부평구 · 인기관광지",</a:t>
            </a:r>
          </a:p>
          <a:p>
            <a:r>
              <a:t>      "summary": "관측 기간: 2025-07 ~ 2026-06. 유입·유출·인기장소 또는 30일 집중 운영 신호.",</a:t>
            </a:r>
          </a:p>
          <a:p>
            <a:r>
              <a:t>      "source_id": "regional-status:b12ff2da0892:a553d7015259",</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"ml:28237:regional-demand-v3.1:202606",</a:t>
            </a:r>
          </a:p>
          <a:p>
            <a:r>
              <a:t>      "source_url": "",</a:t>
            </a:r>
          </a:p>
          <a:p>
            <a:r>
              <a:t>      "source_type": "model_forecast",</a:t>
            </a:r>
          </a:p>
          <a:p>
            <a:r>
              <a:t>      "model_version": "regional-demand-v3.1",</a:t>
            </a:r>
          </a:p>
          <a:p>
            <a:r>
              <a:t>      "data_fingerprint": "06231bffd046b8ec0625c675881feb25e51324ad265d5b5ecf0dc8d247440a7d"</a:t>
            </a:r>
          </a:p>
          <a:p>
            <a:r>
              <a:t>    },</a:t>
            </a:r>
          </a:p>
          <a:p>
            <a:r>
              <a:t>    {</a:t>
            </a:r>
          </a:p>
          <a:p>
            <a:r>
              <a:t>      "title": "굴포천 생태하천",</a:t>
            </a:r>
          </a:p>
          <a:p>
            <a:r>
              <a:t>      "address": "인천광역시 부평구 굴포로 141 (삼산동)",</a:t>
            </a:r>
          </a:p>
          <a:p>
            <a:r>
              <a:t>      "summary": "한국관광공사 국문관광정보 API가 반환한 선택 지역 관광자원",</a:t>
            </a:r>
          </a:p>
          <a:p>
            <a:r>
              <a:t>      "image_url": "http://tong.visitkorea.or.kr/cms/resource/60/3523760_image2_1.jpg",</a:t>
            </a:r>
          </a:p>
          <a:p>
            <a:r>
              <a:t>      "source_id": "tour-api:1619098",</a:t>
            </a:r>
          </a:p>
          <a:p>
            <a:r>
              <a:t>      "content_id": "1619098",</a:t>
            </a:r>
          </a:p>
          <a:p>
            <a:r>
              <a:t>      "source_url": "https://apis.data.go.kr/B551011/KorService2",</a:t>
            </a:r>
          </a:p>
          <a:p>
            <a:r>
              <a:t>      "source_type": "open_api",</a:t>
            </a:r>
          </a:p>
          <a:p>
            <a:r>
              <a:t>      "content_type_id": "12"</a:t>
            </a:r>
          </a:p>
          <a:p>
            <a:r>
              <a:t>    },</a:t>
            </a:r>
          </a:p>
          <a:p>
            <a:r>
              <a:t>    {</a:t>
            </a:r>
          </a:p>
          <a:p>
            <a:r>
              <a:t>      "title": "대왕김밥",</a:t>
            </a:r>
          </a:p>
          <a:p>
            <a:r>
              <a:t>      "address": "인천광역시 부평구 부평문화로 41 (부평동)",</a:t>
            </a:r>
          </a:p>
          <a:p>
            <a:r>
              <a:t>      "summary": "한국관광공사 국문관광정보 API가 반환한 선택 지역 관광자원",</a:t>
            </a:r>
          </a:p>
          <a:p>
            <a:r>
              <a:t>      "image_url": "http://tong.visitkorea.or.kr/cms/resource/03/2875403_image2_1.jpg",</a:t>
            </a:r>
          </a:p>
          <a:p>
            <a:r>
              <a:t>      "source_id": "tour-api:2875411",</a:t>
            </a:r>
          </a:p>
          <a:p>
            <a:r>
              <a:t>      "content_id": "2875411",</a:t>
            </a:r>
          </a:p>
          <a:p>
            <a:r>
              <a:t>      "source_url": "https://apis.data.go.kr/B551011/KorService2",</a:t>
            </a:r>
          </a:p>
          <a:p>
            <a:r>
              <a:t>      "source_type": "open_api",</a:t>
            </a:r>
          </a:p>
          <a:p>
            <a:r>
              <a:t>      "content_type_id": "39"</a:t>
            </a:r>
          </a:p>
          <a:p>
            <a:r>
              <a:t>    },</a:t>
            </a:r>
          </a:p>
          <a:p>
            <a:r>
              <a:t>    {</a:t>
            </a:r>
          </a:p>
          <a:p>
            <a:r>
              <a:t>      "title": "돈타래게장정식",</a:t>
            </a:r>
          </a:p>
          <a:p>
            <a:r>
              <a:t>      "address": "인천광역시 부평구 열우물로 59",</a:t>
            </a:r>
          </a:p>
          <a:p>
            <a:r>
              <a:t>      "summary": "한국관광공사 국문관광정보 API가 반환한 선택 지역 관광자원",</a:t>
            </a:r>
          </a:p>
          <a:p>
            <a:r>
              <a:t>      "image_url": "http://tong.visitkorea.or.kr/cms/resource/35/2790235_image2_1.jpg",</a:t>
            </a:r>
          </a:p>
          <a:p>
            <a:r>
              <a:t>      "source_id": "tour-api:2768148",</a:t>
            </a:r>
          </a:p>
          <a:p>
            <a:r>
              <a:t>      "content_id": "2768148",</a:t>
            </a:r>
          </a:p>
          <a:p>
            <a:r>
              <a:t>      "source_url": "https://apis.data.go.kr/B551011/KorService2",</a:t>
            </a:r>
          </a:p>
          <a:p>
            <a:r>
              <a:t>      "source_type": "open_api",</a:t>
            </a:r>
          </a:p>
          <a:p>
            <a:r>
              <a:t>      "content_type_id": "39"</a:t>
            </a:r>
          </a:p>
          <a:p>
            <a:r>
              <a:t>    },</a:t>
            </a:r>
          </a:p>
          <a:p>
            <a:r>
              <a:t>    {</a:t>
            </a:r>
          </a:p>
          <a:p>
            <a:r>
              <a:t>      "title": "면박사가야밀면",</a:t>
            </a:r>
          </a:p>
          <a:p>
            <a:r>
              <a:t>      "address": "인천광역시 부평구 주부토로172번길 28",</a:t>
            </a:r>
          </a:p>
          <a:p>
            <a:r>
              <a:t>      "summary": "한국관광공사 국문관광정보 API가 반환한 선택 지역 관광자원",</a:t>
            </a:r>
          </a:p>
          <a:p>
            <a:r>
              <a:t>      "image_url": "http://tong.visitkorea.or.kr/cms/resource/52/2873452_image2_1.jpg",</a:t>
            </a:r>
          </a:p>
          <a:p>
            <a:r>
              <a:t>      "source_id": "tour-api:2873461",</a:t>
            </a:r>
          </a:p>
          <a:p>
            <a:r>
              <a:t>      "content_id": "2873461",</a:t>
            </a:r>
          </a:p>
          <a:p>
            <a:r>
              <a:t>      "source_url": "https://apis.data.go.kr/B551011/KorService2",</a:t>
            </a:r>
          </a:p>
          <a:p>
            <a:r>
              <a:t>      "source_type": "open_api",</a:t>
            </a:r>
          </a:p>
          <a:p>
            <a:r>
              <a:t>      "content_type_id": "39"</a:t>
            </a:r>
          </a:p>
          <a:p>
            <a:r>
              <a:t>    },</a:t>
            </a:r>
          </a:p>
          <a:p>
            <a:r>
              <a:t>    {</a:t>
            </a:r>
          </a:p>
          <a:p>
            <a:r>
              <a:t>      "title": "모녀떡볶이 부평남부역점",</a:t>
            </a:r>
          </a:p>
          <a:p>
            <a:r>
              <a:t>      "address": "강원특별자치도 태백시 광장로 16 (황지동)",</a:t>
            </a:r>
          </a:p>
          <a:p>
            <a:r>
              <a:t>      "summary": "한국관광공사 국문관광정보 API가 반환한 선택 지역 관광자원",</a:t>
            </a:r>
          </a:p>
          <a:p>
            <a:r>
              <a:t>      "image_url": "http://tong.visitkorea.or.kr/cms/resource/58/2833858_image2_1.jpg",</a:t>
            </a:r>
          </a:p>
          <a:p>
            <a:r>
              <a:t>      "source_id": "tour-api:2833868",</a:t>
            </a:r>
          </a:p>
          <a:p>
            <a:r>
              <a:t>      "content_id": "2833868",</a:t>
            </a:r>
          </a:p>
          <a:p>
            <a:r>
              <a:t>      "source_url": "https://apis.data.go.kr/B551011/KorService2",</a:t>
            </a:r>
          </a:p>
          <a:p>
            <a:r>
              <a:t>      "source_type": "open_api",</a:t>
            </a:r>
          </a:p>
          <a:p>
            <a:r>
              <a:t>      "content_type_id": "39"</a:t>
            </a:r>
          </a:p>
          <a:p>
            <a:r>
              <a:t>    },</a:t>
            </a:r>
          </a:p>
          <a:p>
            <a:r>
              <a:t>    {</a:t>
            </a:r>
          </a:p>
          <a:p>
            <a:r>
              <a:t>      "title": "백운공원",</a:t>
            </a:r>
          </a:p>
          <a:p>
            <a:r>
              <a:t>      "address": "인천광역시 부평구 십정동 186-419",</a:t>
            </a:r>
          </a:p>
          <a:p>
            <a:r>
              <a:t>      "summary": "한국관광공사 국문관광정보 API가 반환한 선택 지역 관광자원",</a:t>
            </a:r>
          </a:p>
          <a:p>
            <a:r>
              <a:t>      "image_url": "http://tong.visitkorea.or.kr/cms/resource/55/3395555_image2_1.JPG",</a:t>
            </a:r>
          </a:p>
          <a:p>
            <a:r>
              <a:t>      "source_id": "tour-api:2768156",</a:t>
            </a:r>
          </a:p>
          <a:p>
            <a:r>
              <a:t>      "content_id": "2768156",</a:t>
            </a:r>
          </a:p>
          <a:p>
            <a:r>
              <a:t>      "source_url": "https://apis.data.go.kr/B551011/KorService2",</a:t>
            </a:r>
          </a:p>
          <a:p>
            <a:r>
              <a:t>      "source_type": "open_api",</a:t>
            </a:r>
          </a:p>
          <a:p>
            <a:r>
              <a:t>      "content_type_id": "12"</a:t>
            </a:r>
          </a:p>
          <a:p>
            <a:r>
              <a:t>    },</a:t>
            </a:r>
          </a:p>
          <a:p>
            <a:r>
              <a:t>    {</a:t>
            </a:r>
          </a:p>
          <a:p>
            <a:r>
              <a:t>      "title": "별미칡냉면원조",</a:t>
            </a:r>
          </a:p>
          <a:p>
            <a:r>
              <a:t>      "address": "인천광역시 부평구 주부토로145번길 28 (갈산동)",</a:t>
            </a:r>
          </a:p>
          <a:p>
            <a:r>
              <a:t>      "summary": "한국관광공사 국문관광정보 API가 반환한 선택 지역 관광자원",</a:t>
            </a:r>
          </a:p>
          <a:p>
            <a:r>
              <a:t>      "image_url": "http://tong.visitkorea.or.kr/cms/resource/46/2875446_image2_1.jpg",</a:t>
            </a:r>
          </a:p>
          <a:p>
            <a:r>
              <a:t>      "source_id": "tour-api:2875455",</a:t>
            </a:r>
          </a:p>
          <a:p>
            <a:r>
              <a:t>      "content_id": "2875455",</a:t>
            </a:r>
          </a:p>
          <a:p>
            <a:r>
              <a:t>      "source_url": "https://apis.data.go.kr/B551011/KorService2",</a:t>
            </a:r>
          </a:p>
          <a:p>
            <a:r>
              <a:t>      "source_type": "open_api",</a:t>
            </a:r>
          </a:p>
          <a:p>
            <a:r>
              <a:t>      "content_type_id": "39"</a:t>
            </a:r>
          </a:p>
          <a:p>
            <a:r>
              <a:t>    },</a:t>
            </a:r>
          </a:p>
          <a:p>
            <a:r>
              <a:t>    {</a:t>
            </a:r>
          </a:p>
          <a:p>
            <a:r>
              <a:t>      "title": "부영공원",</a:t>
            </a:r>
          </a:p>
          <a:p>
            <a:r>
              <a:t>      "address": "인천광역시 부평구 안남로 146",</a:t>
            </a:r>
          </a:p>
          <a:p>
            <a:r>
              <a:t>      "summary": "한국관광공사 국문관광정보 API가 반환한 선택 지역 관광자원",</a:t>
            </a:r>
          </a:p>
          <a:p>
            <a:r>
              <a:t>      "image_url": "http://tong.visitkorea.or.kr/cms/resource/62/3395562_image2_1.JPG",</a:t>
            </a:r>
          </a:p>
          <a:p>
            <a:r>
              <a:t>      "source_id": "tour-api:2767563",</a:t>
            </a:r>
          </a:p>
          <a:p>
            <a:r>
              <a:t>      "content_id": "2767563",</a:t>
            </a:r>
          </a:p>
          <a:p>
            <a:r>
              <a:t>      "source_url": "https://apis.data.go.kr/B551011/KorService2",</a:t>
            </a:r>
          </a:p>
          <a:p>
            <a:r>
              <a:t>      "source_type": "open_api",</a:t>
            </a:r>
          </a:p>
          <a:p>
            <a:r>
              <a:t>      "content_type_id": "12"</a:t>
            </a:r>
          </a:p>
          <a:p>
            <a:r>
              <a:t>    },</a:t>
            </a:r>
          </a:p>
          <a:p>
            <a:r>
              <a:t>    {</a:t>
            </a:r>
          </a:p>
          <a:p>
            <a:r>
              <a:t>      "title": "부평 굴포누리 기후변화체험관",</a:t>
            </a:r>
          </a:p>
          <a:p>
            <a:r>
              <a:t>      "address": "인천광역시 부평구 장제로 267 (갈산동)",</a:t>
            </a:r>
          </a:p>
          <a:p>
            <a:r>
              <a:t>      "summary": "한국관광공사 국문관광정보 API가 반환한 선택 지역 관광자원",</a:t>
            </a:r>
          </a:p>
          <a:p>
            <a:r>
              <a:t>      "image_url": "http://tong.visitkorea.or.kr/cms/resource/89/3456089_image2_1.jpg",</a:t>
            </a:r>
          </a:p>
          <a:p>
            <a:r>
              <a:t>      "source_id": "tour-api:3456754",</a:t>
            </a:r>
          </a:p>
          <a:p>
            <a:r>
              <a:t>      "content_id": "3456754",</a:t>
            </a:r>
          </a:p>
          <a:p>
            <a:r>
              <a:t>      "source_url": "https://apis.data.go.kr/B551011/KorService2",</a:t>
            </a:r>
          </a:p>
          <a:p>
            <a:r>
              <a:t>      "source_type": "open_api",</a:t>
            </a:r>
          </a:p>
          <a:p>
            <a:r>
              <a:t>      "content_type_id": "12"</a:t>
            </a:r>
          </a:p>
          <a:p>
            <a:r>
              <a:t>    },</a:t>
            </a:r>
          </a:p>
          <a:p>
            <a:r>
              <a:t>    {</a:t>
            </a:r>
          </a:p>
          <a:p>
            <a:r>
              <a:t>      "title": "부평 종합시장",</a:t>
            </a:r>
          </a:p>
          <a:p>
            <a:r>
              <a:t>      "address": "인천광역시 부평구 부흥로316번길 38-3",</a:t>
            </a:r>
          </a:p>
          <a:p>
            <a:r>
              <a:t>      "summary": "한국관광공사 국문관광정보 API가 반환한 선택 지역 관광자원",</a:t>
            </a:r>
          </a:p>
          <a:p>
            <a:r>
              <a:t>      "image_url": "http://tong.visitkorea.or.kr/cms/resource/47/3395547_image2_1.JPG",</a:t>
            </a:r>
          </a:p>
          <a:p>
            <a:r>
              <a:t>      "source_id": "tour-api:1025514",</a:t>
            </a:r>
          </a:p>
          <a:p>
            <a:r>
              <a:t>      "content_id": "1025514",</a:t>
            </a:r>
          </a:p>
          <a:p>
            <a:r>
              <a:t>      "source_url": "https://apis.data.go.kr/B551011/KorService2",</a:t>
            </a:r>
          </a:p>
          <a:p>
            <a:r>
              <a:t>      "source_type": "open_api",</a:t>
            </a:r>
          </a:p>
          <a:p>
            <a:r>
              <a:t>      "content_type_id": "38"</a:t>
            </a:r>
          </a:p>
          <a:p>
            <a:r>
              <a:t>    },</a:t>
            </a:r>
          </a:p>
          <a:p>
            <a:r>
              <a:t>    {</a:t>
            </a:r>
          </a:p>
          <a:p>
            <a:r>
              <a:t>      "title": "부평 해물탕거리",</a:t>
            </a:r>
          </a:p>
          <a:p>
            <a:r>
              <a:t>      "address": "인천광역시 부평구 부평동",</a:t>
            </a:r>
          </a:p>
          <a:p>
            <a:r>
              <a:t>      "summary": "한국관광공사 국문관광정보 API가 반환한 선택 지역 관광자원",</a:t>
            </a:r>
          </a:p>
          <a:p>
            <a:r>
              <a:t>      "image_url": "http://tong.visitkorea.or.kr/cms/resource/95/3309195_image2_1.jpg",</a:t>
            </a:r>
          </a:p>
          <a:p>
            <a:r>
              <a:t>      "source_id": "tour-api:749211",</a:t>
            </a:r>
          </a:p>
          <a:p>
            <a:r>
              <a:t>      "content_id": "749211",</a:t>
            </a:r>
          </a:p>
          <a:p>
            <a:r>
              <a:t>      "source_url": "https://apis.data.go.kr/B551011/KorService2",</a:t>
            </a:r>
          </a:p>
          <a:p>
            <a:r>
              <a:t>      "source_type": "open_api",</a:t>
            </a:r>
          </a:p>
          <a:p>
            <a:r>
              <a:t>      "content_type_id": "12"</a:t>
            </a:r>
          </a:p>
          <a:p>
            <a:r>
              <a:t>    },</a:t>
            </a:r>
          </a:p>
          <a:p>
            <a:r>
              <a:t>    {</a:t>
            </a:r>
          </a:p>
          <a:p>
            <a:r>
              <a:t>      "title": "부평모두몰(부평지하도상가)",</a:t>
            </a:r>
          </a:p>
          <a:p>
            <a:r>
              <a:t>      "address": "인천광역시 부평구 부평대로 지하 69",</a:t>
            </a:r>
          </a:p>
          <a:p>
            <a:r>
              <a:t>      "summary": "한국관광공사 국문관광정보 API가 반환한 선택 지역 관광자원",</a:t>
            </a:r>
          </a:p>
          <a:p>
            <a:r>
              <a:t>      "image_url": "http://tong.visitkorea.or.kr/cms/resource/07/3395507_image2_1.JPG",</a:t>
            </a:r>
          </a:p>
          <a:p>
            <a:r>
              <a:t>      "source_id": "tour-api:2021033",</a:t>
            </a:r>
          </a:p>
          <a:p>
            <a:r>
              <a:t>      "content_id": "2021033",</a:t>
            </a:r>
          </a:p>
          <a:p>
            <a:r>
              <a:t>      "source_url": "https://apis.data.go.kr/B551011/KorService2",</a:t>
            </a:r>
          </a:p>
          <a:p>
            <a:r>
              <a:t>      "source_type": "open_api",</a:t>
            </a:r>
          </a:p>
          <a:p>
            <a:r>
              <a:t>      "content_type_id": "38"</a:t>
            </a:r>
          </a:p>
          <a:p>
            <a:r>
              <a:t>    },</a:t>
            </a:r>
          </a:p>
          <a:p>
            <a:r>
              <a:t>    {</a:t>
            </a:r>
          </a:p>
          <a:p>
            <a:r>
              <a:t>      "title": "부평시장",</a:t>
            </a:r>
          </a:p>
          <a:p>
            <a:r>
              <a:t>      "address": "인천광역시 부평구 부흥로316번길 38-3",</a:t>
            </a:r>
          </a:p>
          <a:p>
            <a:r>
              <a:t>      "summary": "한국관광공사 국문관광정보 API가 반환한 선택 지역 관광자원",</a:t>
            </a:r>
          </a:p>
          <a:p>
            <a:r>
              <a:t>      "image_url": "http://tong.visitkorea.or.kr/cms/resource/42/3523842_image2_1.jpg",</a:t>
            </a:r>
          </a:p>
          <a:p>
            <a:r>
              <a:t>      "source_id": "tour-api:2768142",</a:t>
            </a:r>
          </a:p>
          <a:p>
            <a:r>
              <a:t>      "content_id": "2768142",</a:t>
            </a:r>
          </a:p>
          <a:p>
            <a:r>
              <a:t>      "source_url": "https://apis.data.go.kr/B551011/KorService2",</a:t>
            </a:r>
          </a:p>
          <a:p>
            <a:r>
              <a:t>      "source_type": "open_api",</a:t>
            </a:r>
          </a:p>
          <a:p>
            <a:r>
              <a:t>      "content_type_id": "38"</a:t>
            </a:r>
          </a:p>
          <a:p>
            <a:r>
              <a:t>    },</a:t>
            </a:r>
          </a:p>
          <a:p>
            <a:r>
              <a:t>    {</a:t>
            </a:r>
          </a:p>
          <a:p>
            <a:r>
              <a:t>      "title": "부평아트센터",</a:t>
            </a:r>
          </a:p>
          <a:p>
            <a:r>
              <a:t>      "address": "인천광역시 부평구 아트센터로 166 (십정동)",</a:t>
            </a:r>
          </a:p>
          <a:p>
            <a:r>
              <a:t>      "summary": "한국관광공사 국문관광정보 API가 반환한 선택 지역 관광자원",</a:t>
            </a:r>
          </a:p>
          <a:p>
            <a:r>
              <a:t>      "image_url": "http://tong.visitkorea.or.kr/cms/resource/55/3457455_image2_1.jpg",</a:t>
            </a:r>
          </a:p>
          <a:p>
            <a:r>
              <a:t>      "source_id": "tour-api:3457385",</a:t>
            </a:r>
          </a:p>
          <a:p>
            <a:r>
              <a:t>      "content_id": "3457385",</a:t>
            </a:r>
          </a:p>
          <a:p>
            <a:r>
              <a:t>      "source_url": "https://apis.data.go.kr/B551011/KorService2",</a:t>
            </a:r>
          </a:p>
          <a:p>
            <a:r>
              <a:t>      "source_type": "open_api",</a:t>
            </a:r>
          </a:p>
          <a:p>
            <a:r>
              <a:t>      "content_type_id": "14"</a:t>
            </a:r>
          </a:p>
          <a:p>
            <a:r>
              <a:t>    },</a:t>
            </a:r>
          </a:p>
          <a:p>
            <a:r>
              <a:t>    {</a:t>
            </a:r>
          </a:p>
          <a:p>
            <a:r>
              <a:t>      "title": "부평역북광장",</a:t>
            </a:r>
          </a:p>
          <a:p>
            <a:r>
              <a:t>      "address": "인천광역시 부평구 광장로 지하30 (부평동)",</a:t>
            </a:r>
          </a:p>
          <a:p>
            <a:r>
              <a:t>      "summary": "한국관광공사 국문관광정보 API가 반환한 선택 지역 관광자원",</a:t>
            </a:r>
          </a:p>
          <a:p>
            <a:r>
              <a:t>      "image_url": "http://tong.visitkorea.or.kr/cms/resource/90/3395490_image2_1.JPG",</a:t>
            </a:r>
          </a:p>
          <a:p>
            <a:r>
              <a:t>      "source_id": "tour-api:2768190",</a:t>
            </a:r>
          </a:p>
          <a:p>
            <a:r>
              <a:t>      "content_id": "2768190",</a:t>
            </a:r>
          </a:p>
          <a:p>
            <a:r>
              <a:t>      "source_url": "https://apis.data.go.kr/B551011/KorService2",</a:t>
            </a:r>
          </a:p>
          <a:p>
            <a:r>
              <a:t>      "source_type": "open_api",</a:t>
            </a:r>
          </a:p>
          <a:p>
            <a:r>
              <a:t>      "content_type_id": "12"</a:t>
            </a:r>
          </a:p>
          <a:p>
            <a:r>
              <a:t>    },</a:t>
            </a:r>
          </a:p>
          <a:p>
            <a:r>
              <a:t>    {</a:t>
            </a:r>
          </a:p>
          <a:p>
            <a:r>
              <a:t>      "title": "부흥기사식당",</a:t>
            </a:r>
          </a:p>
          <a:p>
            <a:r>
              <a:t>      "address": "인천광역시 부평구 부흥로 387 (부개동)",</a:t>
            </a:r>
          </a:p>
          <a:p>
            <a:r>
              <a:t>      "summary": "한국관광공사 국문관광정보 API가 반환한 선택 지역 관광자원",</a:t>
            </a:r>
          </a:p>
          <a:p>
            <a:r>
              <a:t>      "image_url": "http://tong.visitkorea.or.kr/cms/resource/66/2875466_image2_1.jpg",</a:t>
            </a:r>
          </a:p>
          <a:p>
            <a:r>
              <a:t>      "source_id": "tour-api:2875488",</a:t>
            </a:r>
          </a:p>
          <a:p>
            <a:r>
              <a:t>      "content_id": "2875488",</a:t>
            </a:r>
          </a:p>
          <a:p>
            <a:r>
              <a:t>      "source_url": "https://apis.data.go.kr/B551011/KorService2",</a:t>
            </a:r>
          </a:p>
          <a:p>
            <a:r>
              <a:t>      "source_type": "open_api",</a:t>
            </a:r>
          </a:p>
          <a:p>
            <a:r>
              <a:t>      "content_type_id": "39"</a:t>
            </a:r>
          </a:p>
          <a:p>
            <a:r>
              <a:t>    },</a:t>
            </a:r>
          </a:p>
          <a:p>
            <a:r>
              <a:t>    {</a:t>
            </a:r>
          </a:p>
          <a:p>
            <a:r>
              <a:t>      "title": "삼산건강공원",</a:t>
            </a:r>
          </a:p>
          <a:p>
            <a:r>
              <a:t>      "address": "인천광역시 부평구 영성동로18번길 48 (삼산동)",</a:t>
            </a:r>
          </a:p>
          <a:p>
            <a:r>
              <a:t>      "summary": "한국관광공사 국문관광정보 API가 반환한 선택 지역 관광자원",</a:t>
            </a:r>
          </a:p>
          <a:p>
            <a:r>
              <a:t>      "image_url": "http://tong.visitkorea.or.kr/cms/resource/25/3523825_image2_1.jpg",</a:t>
            </a:r>
          </a:p>
          <a:p>
            <a:r>
              <a:t>      "source_id": "tour-api:2768180",</a:t>
            </a:r>
          </a:p>
          <a:p>
            <a:r>
              <a:t>      "content_id": "2768180",</a:t>
            </a:r>
          </a:p>
          <a:p>
            <a:r>
              <a:t>      "source_url": "https://apis.data.go.kr/B551011/KorService2",</a:t>
            </a:r>
          </a:p>
          <a:p>
            <a:r>
              <a:t>      "source_type": "open_api",</a:t>
            </a:r>
          </a:p>
          <a:p>
            <a:r>
              <a:t>      "content_type_id": "12"</a:t>
            </a:r>
          </a:p>
          <a:p>
            <a:r>
              <a:t>    },</a:t>
            </a:r>
          </a:p>
          <a:p>
            <a:r>
              <a:t>    {</a:t>
            </a:r>
          </a:p>
          <a:p>
            <a:r>
              <a:t>      "title": "신트리공원(인천)",</a:t>
            </a:r>
          </a:p>
          <a:p>
            <a:r>
              <a:t>      "address": "인천광역시 부평구 신트리로 21",</a:t>
            </a:r>
          </a:p>
          <a:p>
            <a:r>
              <a:t>      "summary": "한국관광공사 국문관광정보 API가 반환한 선택 지역 관광자원",</a:t>
            </a:r>
          </a:p>
          <a:p>
            <a:r>
              <a:t>      "image_url": "http://tong.visitkorea.or.kr/cms/resource/73/3030773_image2_1.jpg",</a:t>
            </a:r>
          </a:p>
          <a:p>
            <a:r>
              <a:t>      "source_id": "tour-api:126568",</a:t>
            </a:r>
          </a:p>
          <a:p>
            <a:r>
              <a:t>      "content_id": "126568",</a:t>
            </a:r>
          </a:p>
          <a:p>
            <a:r>
              <a:t>      "source_url": "https://apis.data.go.kr/B551011/KorService2",</a:t>
            </a:r>
          </a:p>
          <a:p>
            <a:r>
              <a:t>      "source_type": "open_api",</a:t>
            </a:r>
          </a:p>
          <a:p>
            <a:r>
              <a:t>      "content_type_id": "12"</a:t>
            </a:r>
          </a:p>
          <a:p>
            <a:r>
              <a:t>    },</a:t>
            </a:r>
          </a:p>
          <a:p>
            <a:r>
              <a:t>    {</a:t>
            </a:r>
          </a:p>
          <a:p>
            <a:r>
              <a:t>      "title": "양평신내서울해장국 부평직영점",</a:t>
            </a:r>
          </a:p>
          <a:p>
            <a:r>
              <a:t>      "address": "인천광역시 부평구 마장로 191 (산곡동)",</a:t>
            </a:r>
          </a:p>
          <a:p>
            <a:r>
              <a:t>      "summary": "한국관광공사 국문관광정보 API가 반환한 선택 지역 관광자원",</a:t>
            </a:r>
          </a:p>
          <a:p>
            <a:r>
              <a:t>      "image_url": "http://tong.visitkorea.or.kr/cms/resource/45/2835945_image2_1.jpg",</a:t>
            </a:r>
          </a:p>
          <a:p>
            <a:r>
              <a:t>      "source_id": "tour-api:2835948",</a:t>
            </a:r>
          </a:p>
          <a:p>
            <a:r>
              <a:t>      "content_id": "2835948",</a:t>
            </a:r>
          </a:p>
          <a:p>
            <a:r>
              <a:t>      "source_url": "https://apis.data.go.kr/B551011/KorService2",</a:t>
            </a:r>
          </a:p>
          <a:p>
            <a:r>
              <a:t>      "source_type": "open_api",</a:t>
            </a:r>
          </a:p>
          <a:p>
            <a:r>
              <a:t>      "content_type_id": "39"</a:t>
            </a:r>
          </a:p>
          <a:p>
            <a:r>
              <a:t>    },</a:t>
            </a:r>
          </a:p>
          <a:p>
            <a:r>
              <a:t>    {</a:t>
            </a:r>
          </a:p>
          <a:p>
            <a:r>
              <a:t>      "title": "열우물전통시장",</a:t>
            </a:r>
          </a:p>
          <a:p>
            <a:r>
              <a:t>      "address": "인천광역시 부평구 배곶남로21번길 18",</a:t>
            </a:r>
          </a:p>
          <a:p>
            <a:r>
              <a:t>      "summary": "한국관광공사 국문관광정보 API가 반환한 선택 지역 관광자원",</a:t>
            </a:r>
          </a:p>
          <a:p>
            <a:r>
              <a:t>      "image_url": "http://tong.visitkorea.or.kr/cms/resource/31/3523831_image2_1.jpg",</a:t>
            </a:r>
          </a:p>
          <a:p>
            <a:r>
              <a:t>      "source_id": "tour-api:2765473",</a:t>
            </a:r>
          </a:p>
          <a:p>
            <a:r>
              <a:t>      "content_id": "2765473",</a:t>
            </a:r>
          </a:p>
          <a:p>
            <a:r>
              <a:t>      "source_url": "https://apis.data.go.kr/B551011/KorService2",</a:t>
            </a:r>
          </a:p>
          <a:p>
            <a:r>
              <a:t>      "source_type": "open_api",</a:t>
            </a:r>
          </a:p>
          <a:p>
            <a:r>
              <a:t>      "content_type_id": "38"</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"인천광역시 ‘6월부터 밤마다 인천으로’ 야간관광 특화도시 운영 및 성과 자료",</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"source_id": "case:3e081ab48300f1",</a:t>
            </a:r>
          </a:p>
          <a:p>
            <a:r>
              <a:t>      "source_url": "https://www.incheon.go.kr/IC010205/view?beginDt=2021-10-01&amp;curPage=479&amp;endDt=&amp;repSeq=DOM_0000000010085993&amp;srchMainManagerDeptNm=&amp;srchRepContents=&amp;srchRepTitle=",</a:t>
            </a:r>
          </a:p>
          <a:p>
            <a:r>
              <a:t>      "case_region": "인천광역시 송도·개항장·월미도 등",</a:t>
            </a:r>
          </a:p>
          <a:p>
            <a:r>
              <a:t>      "source_type": "benchmark_case",</a:t>
            </a:r>
          </a:p>
          <a:p>
            <a:r>
              <a:t>      "intervention": "야간 프로그램·시티투어·관광패스·야시장·상권쿠폰을 결합한 야간관광 특화도시 사업",</a:t>
            </a:r>
          </a:p>
          <a:p>
            <a:r>
              <a:t>      "document_type": null,</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"retrieval_method": "official_web_search",</a:t>
            </a:r>
          </a:p>
          <a:p>
            <a:r>
              <a:t>      "evidence_strength": "medium",</a:t>
            </a:r>
          </a:p>
          <a:p>
            <a:r>
              <a:t>      "retrieval_context": {</a:t>
            </a:r>
          </a:p>
          <a:p>
            <a:r>
              <a:t>        "scope": "same_province",</a:t>
            </a:r>
          </a:p>
          <a:p>
            <a:r>
              <a:t>        "peer_region_code": null</a:t>
            </a:r>
          </a:p>
          <a:p>
            <a:r>
              <a:t>      },</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"published_or_updated_at": "2024-05-29",</a:t>
            </a:r>
          </a:p>
          <a:p>
            <a:r>
              <a:t>      "quantitative_result_approved": null</a:t>
            </a:r>
          </a:p>
          <a:p>
            <a:r>
              <a:t>    },</a:t>
            </a:r>
          </a:p>
          <a:p>
            <a:r>
              <a:t>    {</a:t>
            </a:r>
          </a:p>
          <a:p>
            <a:r>
              <a:t>      "title": "서울특별시 ‘서울의 밤이 더 길어진다—서울달 금·토 심야 운영’ 및 운영 확대 자료",</a:t>
            </a:r>
          </a:p>
          <a:p>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"source_id": "case:c621f7b6c81807",</a:t>
            </a:r>
          </a:p>
          <a:p>
            <a:r>
              <a:t>      "source_url": "https://www.seoul.go.kr/news/news_report.do?nttNo=462801",</a:t>
            </a:r>
          </a:p>
          <a:p>
            <a:r>
              <a:t>      "case_region": "서울특별시 영등포구 여의도공원",</a:t>
            </a:r>
          </a:p>
          <a:p>
            <a:r>
              <a:t>      "source_type": "benchmark_case",</a:t>
            </a:r>
          </a:p>
          <a:p>
            <a:r>
              <a:t>      "intervention": "예약시간·OTA 판매·성수기 및 심야 운영시간을 조정한 체험형 야간관광시설 ‘서울달’",</a:t>
            </a:r>
          </a:p>
          <a:p>
            <a:r>
              <a:t>      "document_type": null,</a:t>
            </a:r>
          </a:p>
          <a:p>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a:r>
              <a:t>      "retrieval_method": "official_web_search",</a:t>
            </a:r>
          </a:p>
          <a:p>
            <a:r>
              <a:t>      "evidence_strength": "medium",</a:t>
            </a:r>
          </a:p>
          <a:p>
            <a:r>
              <a:t>      "retrieval_context": {</a:t>
            </a:r>
          </a:p>
          <a:p>
            <a:r>
              <a:t>        "scope": "cross_province",</a:t>
            </a:r>
          </a:p>
          <a:p>
            <a:r>
              <a:t>        "peer_region_code": null</a:t>
            </a:r>
          </a:p>
          <a:p>
            <a:r>
              <a:t>      },</a:t>
            </a:r>
          </a:p>
          <a:p>
            <a:r>
              <a:t>      "measurement_period": "2024-08-23 ~ 2026-07-15 누적 이용; 외국인 비율 비교는 2025년과 2026년 상반기",</a:t>
            </a:r>
          </a:p>
          <a:p>
            <a:r>
              <a:t>      "transfer_conditions": [</a:t>
            </a:r>
          </a:p>
          <a:p>
            <a:r>
              <a:t>        "부평구에는 신규 대형시설 대신 기존 공연장·전시장·문화공간의 예약 가능 시간을 저녁으로 연장하는 운영원리만 적용",</a:t>
            </a:r>
          </a:p>
          <a:p>
            <a:r>
              <a:t>        "온라인 사전예약과 현장 잔여석을 함께 관리하고 회차별 정원·취소·대기 규칙을 명확히 설정",</a:t>
            </a:r>
          </a:p>
          <a:p>
            <a:r>
              <a:t>        "금·토 및 10~12월 수요가 예상되는 시간대부터 시험하고 비효율 시간대는 축소",</a:t>
            </a:r>
          </a:p>
          <a:p>
            <a:r>
              <a:t>        "프로그램 종료 뒤 이용 가능한 식음료점·상점 정보를 예약 확인서와 현장 안내에 결합",</a:t>
            </a:r>
          </a:p>
          <a:p>
            <a:r>
              <a:t>        "회차별 예약률, 노쇼율, 현장 이용 완료율과 프로그램 전후 주변 결제를 측정"</a:t>
            </a:r>
          </a:p>
          <a:p>
            <a:r>
              <a:t>      ],</a:t>
            </a:r>
          </a:p>
          <a:p>
            <a:r>
              <a:t>      "published_or_updated_at": "2026-07-28",</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"title": "굴포천 생태하천",</a:t>
            </a:r>
          </a:p>
          <a:p>
            <a:r>
              <a:t>      "address": "인천광역시 부평구 굴포로 141 (삼산동)",</a:t>
            </a:r>
          </a:p>
          <a:p>
            <a:r>
              <a:t>      "summary": "한국관광공사 국문관광정보 API가 반환한 선택 지역 관광자원",</a:t>
            </a:r>
          </a:p>
          <a:p>
            <a:r>
              <a:t>      "image_url": "http://tong.visitkorea.or.kr/cms/resource/60/3523760_image2_1.jpg",</a:t>
            </a:r>
          </a:p>
          <a:p>
            <a:r>
              <a:t>      "source_id": "tour-api:1619098",</a:t>
            </a:r>
          </a:p>
          <a:p>
            <a:r>
              <a:t>      "content_id": "1619098",</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3778392.0,</a:t>
            </a:r>
          </a:p>
          <a:p>
            <a:r>
              <a:t>        "is_forecast": true,</a:t>
            </a:r>
          </a:p>
          <a:p>
            <a:r>
              <a:t>        "spending_krw": 78739302878.0,</a:t>
            </a:r>
          </a:p>
          <a:p>
            <a:r>
              <a:t>        "stay_minutes": 1189.22,</a:t>
            </a:r>
          </a:p>
          <a:p>
            <a:r>
              <a:t>        "lodging_nights": 2.9,</a:t>
            </a:r>
          </a:p>
          <a:p>
            <a:r>
              <a:t>        "lodging_rate_pct": 8.5,</a:t>
            </a:r>
          </a:p>
          <a:p>
            <a:r>
              <a:t>        "lodging_searches": 9560,</a:t>
            </a:r>
          </a:p>
          <a:p>
            <a:r>
              <a:t>        "navigation_searches": 211413,</a:t>
            </a:r>
          </a:p>
          <a:p>
            <a:r>
              <a:t>        "visitor_yoy_percent": -3.74,</a:t>
            </a:r>
          </a:p>
          <a:p>
            <a:r>
              <a:t>        "spending_yoy_percent": -6.27,</a:t>
            </a:r>
          </a:p>
          <a:p>
            <a:r>
              <a:t>        "metric_changes_percent": {</a:t>
            </a:r>
          </a:p>
          <a:p>
            <a:r>
              <a:t>          "stay_minutes": -3.55,</a:t>
            </a:r>
          </a:p>
          <a:p>
            <a:r>
              <a:t>          "lodging_nights": 0.69,</a:t>
            </a:r>
          </a:p>
          <a:p>
            <a:r>
              <a:t>          "lodging_rate_pct": 0.0,</a:t>
            </a:r>
          </a:p>
          <a:p>
            <a:r>
              <a:t>          "lodging_searches": 0.0,</a:t>
            </a:r>
          </a:p>
          <a:p>
            <a:r>
              <a:t>          "navigation_searches": 0.0</a:t>
            </a:r>
          </a:p>
          <a:p>
            <a:r>
              <a:t>        },</a:t>
            </a:r>
          </a:p>
          <a:p>
            <a:r>
              <a:t>        "previous_year_visitors": 3925237,</a:t>
            </a:r>
          </a:p>
          <a:p>
            <a:r>
              <a:t>        "previous_year_spending_krw": 84007025000,</a:t>
            </a:r>
          </a:p>
          <a:p>
            <a:r>
              <a:t>        "previous_year_stay_minutes": 1233.0,</a:t>
            </a:r>
          </a:p>
          <a:p>
            <a:r>
              <a:t>        "previous_year_lodging_nights": 2.88,</a:t>
            </a:r>
          </a:p>
          <a:p>
            <a:r>
              <a:t>        "previous_year_lodging_rate_pct": 8.5,</a:t>
            </a:r>
          </a:p>
          <a:p>
            <a:r>
              <a:t>        "previous_year_lodging_searches": 9560,</a:t>
            </a:r>
          </a:p>
          <a:p>
            <a:r>
              <a:t>        "previous_year_navigation_searches": 211413</a:t>
            </a:r>
          </a:p>
          <a:p>
            <a:r>
              <a:t>      },</a:t>
            </a:r>
          </a:p>
          <a:p>
            <a:r>
              <a:t>      {</a:t>
            </a:r>
          </a:p>
          <a:p>
            <a:r>
              <a:t>        "month": "202611",</a:t>
            </a:r>
          </a:p>
          <a:p>
            <a:r>
              <a:t>        "visitors": 3748084.0,</a:t>
            </a:r>
          </a:p>
          <a:p>
            <a:r>
              <a:t>        "is_forecast": true,</a:t>
            </a:r>
          </a:p>
          <a:p>
            <a:r>
              <a:t>        "spending_krw": 81104223698.0,</a:t>
            </a:r>
          </a:p>
          <a:p>
            <a:r>
              <a:t>        "stay_minutes": 1157.37,</a:t>
            </a:r>
          </a:p>
          <a:p>
            <a:r>
              <a:t>        "lodging_nights": 2.86,</a:t>
            </a:r>
          </a:p>
          <a:p>
            <a:r>
              <a:t>        "lodging_rate_pct": 6.5,</a:t>
            </a:r>
          </a:p>
          <a:p>
            <a:r>
              <a:t>        "lodging_searches": 6582,</a:t>
            </a:r>
          </a:p>
          <a:p>
            <a:r>
              <a:t>        "navigation_searches": 141791,</a:t>
            </a:r>
          </a:p>
          <a:p>
            <a:r>
              <a:t>        "visitor_yoy_percent": -1.44,</a:t>
            </a:r>
          </a:p>
          <a:p>
            <a:r>
              <a:t>        "spending_yoy_percent": -1.77,</a:t>
            </a:r>
          </a:p>
          <a:p>
            <a:r>
              <a:t>        "metric_changes_percent": {</a:t>
            </a:r>
          </a:p>
          <a:p>
            <a:r>
              <a:t>          "stay_minutes": 4.74,</a:t>
            </a:r>
          </a:p>
          <a:p>
            <a:r>
              <a:t>          "lodging_nights": -1.38,</a:t>
            </a:r>
          </a:p>
          <a:p>
            <a:r>
              <a:t>          "lodging_rate_pct": 0.0,</a:t>
            </a:r>
          </a:p>
          <a:p>
            <a:r>
              <a:t>          "lodging_searches": 0.0,</a:t>
            </a:r>
          </a:p>
          <a:p>
            <a:r>
              <a:t>          "navigation_searches": 0.0</a:t>
            </a:r>
          </a:p>
          <a:p>
            <a:r>
              <a:t>        },</a:t>
            </a:r>
          </a:p>
          <a:p>
            <a:r>
              <a:t>        "previous_year_visitors": 3802982,</a:t>
            </a:r>
          </a:p>
          <a:p>
            <a:r>
              <a:t>        "previous_year_spending_krw": 82569585000,</a:t>
            </a:r>
          </a:p>
          <a:p>
            <a:r>
              <a:t>        "previous_year_stay_minutes": 1105.0,</a:t>
            </a:r>
          </a:p>
          <a:p>
            <a:r>
              <a:t>        "previous_year_lodging_nights": 2.9,</a:t>
            </a:r>
          </a:p>
          <a:p>
            <a:r>
              <a:t>        "previous_year_lodging_rate_pct": 6.5,</a:t>
            </a:r>
          </a:p>
          <a:p>
            <a:r>
              <a:t>        "previous_year_lodging_searches": 6582,</a:t>
            </a:r>
          </a:p>
          <a:p>
            <a:r>
              <a:t>        "previous_year_navigation_searches": 141791</a:t>
            </a:r>
          </a:p>
          <a:p>
            <a:r>
              <a:t>      },</a:t>
            </a:r>
          </a:p>
          <a:p>
            <a:r>
              <a:t>      {</a:t>
            </a:r>
          </a:p>
          <a:p>
            <a:r>
              <a:t>        "month": "202612",</a:t>
            </a:r>
          </a:p>
          <a:p>
            <a:r>
              <a:t>        "visitors": 3741663.0,</a:t>
            </a:r>
          </a:p>
          <a:p>
            <a:r>
              <a:t>        "is_forecast": true,</a:t>
            </a:r>
          </a:p>
          <a:p>
            <a:r>
              <a:t>        "spending_krw": 83702422444.0,</a:t>
            </a:r>
          </a:p>
          <a:p>
            <a:r>
              <a:t>        "stay_minutes": 1216.03,</a:t>
            </a:r>
          </a:p>
          <a:p>
            <a:r>
              <a:t>        "lodging_nights": 2.93,</a:t>
            </a:r>
          </a:p>
          <a:p>
            <a:r>
              <a:t>        "lodging_rate_pct": 7.4,</a:t>
            </a:r>
          </a:p>
          <a:p>
            <a:r>
              <a:t>        "lodging_searches": 6099,</a:t>
            </a:r>
          </a:p>
          <a:p>
            <a:r>
              <a:t>        "navigation_searches": 134392,</a:t>
            </a:r>
          </a:p>
          <a:p>
            <a:r>
              <a:t>        "visitor_yoy_percent": -1.2,</a:t>
            </a:r>
          </a:p>
          <a:p>
            <a:r>
              <a:t>        "spending_yoy_percent": -1.66,</a:t>
            </a:r>
          </a:p>
          <a:p>
            <a:r>
              <a:t>        "metric_changes_percent": {</a:t>
            </a:r>
          </a:p>
          <a:p>
            <a:r>
              <a:t>          "stay_minutes": 3.49,</a:t>
            </a:r>
          </a:p>
          <a:p>
            <a:r>
              <a:t>          "lodging_nights": 2.81,</a:t>
            </a:r>
          </a:p>
          <a:p>
            <a:r>
              <a:t>          "lodging_rate_pct": 0.0,</a:t>
            </a:r>
          </a:p>
          <a:p>
            <a:r>
              <a:t>          "lodging_searches": 0.0,</a:t>
            </a:r>
          </a:p>
          <a:p>
            <a:r>
              <a:t>          "navigation_searches": 0.0</a:t>
            </a:r>
          </a:p>
          <a:p>
            <a:r>
              <a:t>        },</a:t>
            </a:r>
          </a:p>
          <a:p>
            <a:r>
              <a:t>        "previous_year_visitors": 3787225,</a:t>
            </a:r>
          </a:p>
          <a:p>
            <a:r>
              <a:t>        "previous_year_spending_krw": 85114549000,</a:t>
            </a:r>
          </a:p>
          <a:p>
            <a:r>
              <a:t>        "previous_year_stay_minutes": 1175.0,</a:t>
            </a:r>
          </a:p>
          <a:p>
            <a:r>
              <a:t>        "previous_year_lodging_nights": 2.85,</a:t>
            </a:r>
          </a:p>
          <a:p>
            <a:r>
              <a:t>        "previous_year_lodging_rate_pct": 7.4,</a:t>
            </a:r>
          </a:p>
          <a:p>
            <a:r>
              <a:t>        "previous_year_lodging_searches": 6099,</a:t>
            </a:r>
          </a:p>
          <a:p>
            <a:r>
              <a:t>        "previous_year_navigation_searches": 134392</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3817303,</a:t>
            </a:r>
          </a:p>
          <a:p>
            <a:r>
              <a:t>      "is_forecast": true,</a:t>
            </a:r>
          </a:p>
          <a:p>
            <a:r>
              <a:t>      "spending_krw": 78887191546,</a:t>
            </a:r>
          </a:p>
          <a:p>
            <a:r>
              <a:t>      "stay_minutes": 1212.73,</a:t>
            </a:r>
          </a:p>
          <a:p>
            <a:r>
              <a:t>      "lodging_nights": 2.91,</a:t>
            </a:r>
          </a:p>
          <a:p>
            <a:r>
              <a:t>      "lodging_rate_pct": 7.1,</a:t>
            </a:r>
          </a:p>
          <a:p>
            <a:r>
              <a:t>      "lodging_searches": 7347,</a:t>
            </a:r>
          </a:p>
          <a:p>
            <a:r>
              <a:t>      "navigation_searches": 141607,</a:t>
            </a:r>
          </a:p>
          <a:p>
            <a:r>
              <a:t>      "visitor_yoy_percent": -1.21,</a:t>
            </a:r>
          </a:p>
          <a:p>
            <a:r>
              <a:t>      "spending_yoy_percent": 0.76,</a:t>
            </a:r>
          </a:p>
          <a:p>
            <a:r>
              <a:t>      "metric_changes_percent": {</a:t>
            </a:r>
          </a:p>
          <a:p>
            <a:r>
              <a:t>        "stay_minutes": -7.07,</a:t>
            </a:r>
          </a:p>
          <a:p>
            <a:r>
              <a:t>        "lodging_nights": -2.35,</a:t>
            </a:r>
          </a:p>
          <a:p>
            <a:r>
              <a:t>        "lodging_rate_pct": 0.0,</a:t>
            </a:r>
          </a:p>
          <a:p>
            <a:r>
              <a:t>        "lodging_searches": 0.0,</a:t>
            </a:r>
          </a:p>
          <a:p>
            <a:r>
              <a:t>        "navigation_searches": 0.0</a:t>
            </a:r>
          </a:p>
          <a:p>
            <a:r>
              <a:t>      },</a:t>
            </a:r>
          </a:p>
          <a:p>
            <a:r>
              <a:t>      "previous_year_visitors": 3863992,</a:t>
            </a:r>
          </a:p>
          <a:p>
            <a:r>
              <a:t>      "previous_year_spending_krw": 78295445000,</a:t>
            </a:r>
          </a:p>
          <a:p>
            <a:r>
              <a:t>      "previous_year_stay_minutes": 1305.0,</a:t>
            </a:r>
          </a:p>
          <a:p>
            <a:r>
              <a:t>      "previous_year_lodging_nights": 2.98,</a:t>
            </a:r>
          </a:p>
          <a:p>
            <a:r>
              <a:t>      "previous_year_lodging_rate_pct": 7.1,</a:t>
            </a:r>
          </a:p>
          <a:p>
            <a:r>
              <a:t>      "previous_year_lodging_searches": 7347,</a:t>
            </a:r>
          </a:p>
          <a:p>
            <a:r>
              <a:t>      "previous_year_navigation_searches": 141607</a:t>
            </a:r>
          </a:p>
          <a:p>
            <a:r>
              <a:t>    },</a:t>
            </a:r>
          </a:p>
          <a:p>
            <a:r>
              <a:t>    {</a:t>
            </a:r>
          </a:p>
          <a:p>
            <a:r>
              <a:t>      "month": "202608",</a:t>
            </a:r>
          </a:p>
          <a:p>
            <a:r>
              <a:t>      "visitors": 3749035,</a:t>
            </a:r>
          </a:p>
          <a:p>
            <a:r>
              <a:t>      "is_forecast": true,</a:t>
            </a:r>
          </a:p>
          <a:p>
            <a:r>
              <a:t>      "spending_krw": 80682185171,</a:t>
            </a:r>
          </a:p>
          <a:p>
            <a:r>
              <a:t>      "stay_minutes": 1150.71,</a:t>
            </a:r>
          </a:p>
          <a:p>
            <a:r>
              <a:t>      "lodging_nights": 2.93,</a:t>
            </a:r>
          </a:p>
          <a:p>
            <a:r>
              <a:t>      "lodging_rate_pct": 7.4,</a:t>
            </a:r>
          </a:p>
          <a:p>
            <a:r>
              <a:t>      "lodging_searches": 6953,</a:t>
            </a:r>
          </a:p>
          <a:p>
            <a:r>
              <a:t>      "navigation_searches": 142750,</a:t>
            </a:r>
          </a:p>
          <a:p>
            <a:r>
              <a:t>      "visitor_yoy_percent": -0.2,</a:t>
            </a:r>
          </a:p>
          <a:p>
            <a:r>
              <a:t>      "spending_yoy_percent": 0.35,</a:t>
            </a:r>
          </a:p>
          <a:p>
            <a:r>
              <a:t>      "metric_changes_percent": {</a:t>
            </a:r>
          </a:p>
          <a:p>
            <a:r>
              <a:t>        "stay_minutes": -4.98,</a:t>
            </a:r>
          </a:p>
          <a:p>
            <a:r>
              <a:t>        "lodging_nights": 1.03,</a:t>
            </a:r>
          </a:p>
          <a:p>
            <a:r>
              <a:t>        "lodging_rate_pct": 0.0,</a:t>
            </a:r>
          </a:p>
          <a:p>
            <a:r>
              <a:t>        "lodging_searches": 0.0,</a:t>
            </a:r>
          </a:p>
          <a:p>
            <a:r>
              <a:t>        "navigation_searches": 0.0</a:t>
            </a:r>
          </a:p>
          <a:p>
            <a:r>
              <a:t>      },</a:t>
            </a:r>
          </a:p>
          <a:p>
            <a:r>
              <a:t>      "previous_year_visitors": 3756696,</a:t>
            </a:r>
          </a:p>
          <a:p>
            <a:r>
              <a:t>      "previous_year_spending_krw": 80401710000,</a:t>
            </a:r>
          </a:p>
          <a:p>
            <a:r>
              <a:t>      "previous_year_stay_minutes": 1211.0,</a:t>
            </a:r>
          </a:p>
          <a:p>
            <a:r>
              <a:t>      "previous_year_lodging_nights": 2.9,</a:t>
            </a:r>
          </a:p>
          <a:p>
            <a:r>
              <a:t>      "previous_year_lodging_rate_pct": 7.4,</a:t>
            </a:r>
          </a:p>
          <a:p>
            <a:r>
              <a:t>      "previous_year_lodging_searches": 6953,</a:t>
            </a:r>
          </a:p>
          <a:p>
            <a:r>
              <a:t>      "previous_year_navigation_searches": 142750</a:t>
            </a:r>
          </a:p>
          <a:p>
            <a:r>
              <a:t>    },</a:t>
            </a:r>
          </a:p>
          <a:p>
            <a:r>
              <a:t>    {</a:t>
            </a:r>
          </a:p>
          <a:p>
            <a:r>
              <a:t>      "month": "202609",</a:t>
            </a:r>
          </a:p>
          <a:p>
            <a:r>
              <a:t>      "visitors": 3753359,</a:t>
            </a:r>
          </a:p>
          <a:p>
            <a:r>
              <a:t>      "is_forecast": true,</a:t>
            </a:r>
          </a:p>
          <a:p>
            <a:r>
              <a:t>      "spending_krw": 75157794156,</a:t>
            </a:r>
          </a:p>
          <a:p>
            <a:r>
              <a:t>      "stay_minutes": 1127.96,</a:t>
            </a:r>
          </a:p>
          <a:p>
            <a:r>
              <a:t>      "lodging_nights": 2.86,</a:t>
            </a:r>
          </a:p>
          <a:p>
            <a:r>
              <a:t>      "lodging_rate_pct": 6.4,</a:t>
            </a:r>
          </a:p>
          <a:p>
            <a:r>
              <a:t>      "lodging_searches": 6207,</a:t>
            </a:r>
          </a:p>
          <a:p>
            <a:r>
              <a:t>      "navigation_searches": 127671,</a:t>
            </a:r>
          </a:p>
          <a:p>
            <a:r>
              <a:t>      "visitor_yoy_percent": 0.83,</a:t>
            </a:r>
          </a:p>
          <a:p>
            <a:r>
              <a:t>      "spending_yoy_percent": -1.74,</a:t>
            </a:r>
          </a:p>
          <a:p>
            <a:r>
              <a:t>      "metric_changes_percent": {</a:t>
            </a:r>
          </a:p>
          <a:p>
            <a:r>
              <a:t>        "stay_minutes": -0.88,</a:t>
            </a:r>
          </a:p>
          <a:p>
            <a:r>
              <a:t>        "lodging_nights": -2.72,</a:t>
            </a:r>
          </a:p>
          <a:p>
            <a:r>
              <a:t>        "lodging_rate_pct": 0.0,</a:t>
            </a:r>
          </a:p>
          <a:p>
            <a:r>
              <a:t>        "lodging_searches": 0.0,</a:t>
            </a:r>
          </a:p>
          <a:p>
            <a:r>
              <a:t>        "navigation_searches": 0.0</a:t>
            </a:r>
          </a:p>
          <a:p>
            <a:r>
              <a:t>      },</a:t>
            </a:r>
          </a:p>
          <a:p>
            <a:r>
              <a:t>      "previous_year_visitors": 3722556,</a:t>
            </a:r>
          </a:p>
          <a:p>
            <a:r>
              <a:t>      "previous_year_spending_krw": 76492493000,</a:t>
            </a:r>
          </a:p>
          <a:p>
            <a:r>
              <a:t>      "previous_year_stay_minutes": 1138.0,</a:t>
            </a:r>
          </a:p>
          <a:p>
            <a:r>
              <a:t>      "previous_year_lodging_nights": 2.94,</a:t>
            </a:r>
          </a:p>
          <a:p>
            <a:r>
              <a:t>      "previous_year_lodging_rate_pct": 6.4,</a:t>
            </a:r>
          </a:p>
          <a:p>
            <a:r>
              <a:t>      "previous_year_lodging_searches": 6207,</a:t>
            </a:r>
          </a:p>
          <a:p>
            <a:r>
              <a:t>      "previous_year_navigation_searches": 127671</a:t>
            </a:r>
          </a:p>
          <a:p>
            <a:r>
              <a:t>    },</a:t>
            </a:r>
          </a:p>
          <a:p>
            <a:r>
              <a:t>    {</a:t>
            </a:r>
          </a:p>
          <a:p>
            <a:r>
              <a:t>      "month": "202610",</a:t>
            </a:r>
          </a:p>
          <a:p>
            <a:r>
              <a:t>      "visitors": 3778392,</a:t>
            </a:r>
          </a:p>
          <a:p>
            <a:r>
              <a:t>      "is_forecast": true,</a:t>
            </a:r>
          </a:p>
          <a:p>
            <a:r>
              <a:t>      "spending_krw": 78739302878,</a:t>
            </a:r>
          </a:p>
          <a:p>
            <a:r>
              <a:t>      "stay_minutes": 1189.22,</a:t>
            </a:r>
          </a:p>
          <a:p>
            <a:r>
              <a:t>      "lodging_nights": 2.9,</a:t>
            </a:r>
          </a:p>
          <a:p>
            <a:r>
              <a:t>      "lodging_rate_pct": 8.5,</a:t>
            </a:r>
          </a:p>
          <a:p>
            <a:r>
              <a:t>      "lodging_searches": 9560,</a:t>
            </a:r>
          </a:p>
          <a:p>
            <a:r>
              <a:t>      "navigation_searches": 211413,</a:t>
            </a:r>
          </a:p>
          <a:p>
            <a:r>
              <a:t>      "visitor_yoy_percent": -3.74,</a:t>
            </a:r>
          </a:p>
          <a:p>
            <a:r>
              <a:t>      "spending_yoy_percent": -6.27,</a:t>
            </a:r>
          </a:p>
          <a:p>
            <a:r>
              <a:t>      "metric_changes_percent": {</a:t>
            </a:r>
          </a:p>
          <a:p>
            <a:r>
              <a:t>        "stay_minutes": -3.55,</a:t>
            </a:r>
          </a:p>
          <a:p>
            <a:r>
              <a:t>        "lodging_nights": 0.69,</a:t>
            </a:r>
          </a:p>
          <a:p>
            <a:r>
              <a:t>        "lodging_rate_pct": 0.0,</a:t>
            </a:r>
          </a:p>
          <a:p>
            <a:r>
              <a:t>        "lodging_searches": 0.0,</a:t>
            </a:r>
          </a:p>
          <a:p>
            <a:r>
              <a:t>        "navigation_searches": 0.0</a:t>
            </a:r>
          </a:p>
          <a:p>
            <a:r>
              <a:t>      },</a:t>
            </a:r>
          </a:p>
          <a:p>
            <a:r>
              <a:t>      "previous_year_visitors": 3925237,</a:t>
            </a:r>
          </a:p>
          <a:p>
            <a:r>
              <a:t>      "previous_year_spending_krw": 84007025000,</a:t>
            </a:r>
          </a:p>
          <a:p>
            <a:r>
              <a:t>      "previous_year_stay_minutes": 1233.0,</a:t>
            </a:r>
          </a:p>
          <a:p>
            <a:r>
              <a:t>      "previous_year_lodging_nights": 2.88,</a:t>
            </a:r>
          </a:p>
          <a:p>
            <a:r>
              <a:t>      "previous_year_lodging_rate_pct": 8.5,</a:t>
            </a:r>
          </a:p>
          <a:p>
            <a:r>
              <a:t>      "previous_year_lodging_searches": 9560,</a:t>
            </a:r>
          </a:p>
          <a:p>
            <a:r>
              <a:t>      "previous_year_navigation_searches": 211413</a:t>
            </a:r>
          </a:p>
          <a:p>
            <a:r>
              <a:t>    },</a:t>
            </a:r>
          </a:p>
          <a:p>
            <a:r>
              <a:t>    {</a:t>
            </a:r>
          </a:p>
          <a:p>
            <a:r>
              <a:t>      "month": "202611",</a:t>
            </a:r>
          </a:p>
          <a:p>
            <a:r>
              <a:t>      "visitors": 3748084,</a:t>
            </a:r>
          </a:p>
          <a:p>
            <a:r>
              <a:t>      "is_forecast": true,</a:t>
            </a:r>
          </a:p>
          <a:p>
            <a:r>
              <a:t>      "spending_krw": 81104223698,</a:t>
            </a:r>
          </a:p>
          <a:p>
            <a:r>
              <a:t>      "stay_minutes": 1157.37,</a:t>
            </a:r>
          </a:p>
          <a:p>
            <a:r>
              <a:t>      "lodging_nights": 2.86,</a:t>
            </a:r>
          </a:p>
          <a:p>
            <a:r>
              <a:t>      "lodging_rate_pct": 6.5,</a:t>
            </a:r>
          </a:p>
          <a:p>
            <a:r>
              <a:t>      "lodging_searches": 6582,</a:t>
            </a:r>
          </a:p>
          <a:p>
            <a:r>
              <a:t>      "navigation_searches": 141791,</a:t>
            </a:r>
          </a:p>
          <a:p>
            <a:r>
              <a:t>      "visitor_yoy_percent": -1.44,</a:t>
            </a:r>
          </a:p>
          <a:p>
            <a:r>
              <a:t>      "spending_yoy_percent": -1.77,</a:t>
            </a:r>
          </a:p>
          <a:p>
            <a:r>
              <a:t>      "metric_changes_percent": {</a:t>
            </a:r>
          </a:p>
          <a:p>
            <a:r>
              <a:t>        "stay_minutes": 4.74,</a:t>
            </a:r>
          </a:p>
          <a:p>
            <a:r>
              <a:t>        "lodging_nights": -1.38,</a:t>
            </a:r>
          </a:p>
          <a:p>
            <a:r>
              <a:t>        "lodging_rate_pct": 0.0,</a:t>
            </a:r>
          </a:p>
          <a:p>
            <a:r>
              <a:t>        "lodging_searches": 0.0,</a:t>
            </a:r>
          </a:p>
          <a:p>
            <a:r>
              <a:t>        "navigation_searches": 0.0</a:t>
            </a:r>
          </a:p>
          <a:p>
            <a:r>
              <a:t>      },</a:t>
            </a:r>
          </a:p>
          <a:p>
            <a:r>
              <a:t>      "previous_year_visitors": 3802982,</a:t>
            </a:r>
          </a:p>
          <a:p>
            <a:r>
              <a:t>      "previous_year_spending_krw": 82569585000,</a:t>
            </a:r>
          </a:p>
          <a:p>
            <a:r>
              <a:t>      "previous_year_stay_minutes": 1105.0,</a:t>
            </a:r>
          </a:p>
          <a:p>
            <a:r>
              <a:t>      "previous_year_lodging_nights": 2.9,</a:t>
            </a:r>
          </a:p>
          <a:p>
            <a:r>
              <a:t>      "previous_year_lodging_rate_pct": 6.5,</a:t>
            </a:r>
          </a:p>
          <a:p>
            <a:r>
              <a:t>      "previous_year_lodging_searches": 6582,</a:t>
            </a:r>
          </a:p>
          <a:p>
            <a:r>
              <a:t>      "previous_year_navigation_searches": 141791</a:t>
            </a:r>
          </a:p>
          <a:p>
            <a:r>
              <a:t>    },</a:t>
            </a:r>
          </a:p>
          <a:p>
            <a:r>
              <a:t>    {</a:t>
            </a:r>
          </a:p>
          <a:p>
            <a:r>
              <a:t>      "month": "202612",</a:t>
            </a:r>
          </a:p>
          <a:p>
            <a:r>
              <a:t>      "visitors": 3741663,</a:t>
            </a:r>
          </a:p>
          <a:p>
            <a:r>
              <a:t>      "is_forecast": true,</a:t>
            </a:r>
          </a:p>
          <a:p>
            <a:r>
              <a:t>      "spending_krw": 83702422444,</a:t>
            </a:r>
          </a:p>
          <a:p>
            <a:r>
              <a:t>      "stay_minutes": 1216.03,</a:t>
            </a:r>
          </a:p>
          <a:p>
            <a:r>
              <a:t>      "lodging_nights": 2.93,</a:t>
            </a:r>
          </a:p>
          <a:p>
            <a:r>
              <a:t>      "lodging_rate_pct": 7.4,</a:t>
            </a:r>
          </a:p>
          <a:p>
            <a:r>
              <a:t>      "lodging_searches": 6099,</a:t>
            </a:r>
          </a:p>
          <a:p>
            <a:r>
              <a:t>      "navigation_searches": 134392,</a:t>
            </a:r>
          </a:p>
          <a:p>
            <a:r>
              <a:t>      "visitor_yoy_percent": -1.2,</a:t>
            </a:r>
          </a:p>
          <a:p>
            <a:r>
              <a:t>      "spending_yoy_percent": -1.66,</a:t>
            </a:r>
          </a:p>
          <a:p>
            <a:r>
              <a:t>      "metric_changes_percent": {</a:t>
            </a:r>
          </a:p>
          <a:p>
            <a:r>
              <a:t>        "stay_minutes": 3.49,</a:t>
            </a:r>
          </a:p>
          <a:p>
            <a:r>
              <a:t>        "lodging_nights": 2.81,</a:t>
            </a:r>
          </a:p>
          <a:p>
            <a:r>
              <a:t>        "lodging_rate_pct": 0.0,</a:t>
            </a:r>
          </a:p>
          <a:p>
            <a:r>
              <a:t>        "lodging_searches": 0.0,</a:t>
            </a:r>
          </a:p>
          <a:p>
            <a:r>
              <a:t>        "navigation_searches": 0.0</a:t>
            </a:r>
          </a:p>
          <a:p>
            <a:r>
              <a:t>      },</a:t>
            </a:r>
          </a:p>
          <a:p>
            <a:r>
              <a:t>      "previous_year_visitors": 3787225,</a:t>
            </a:r>
          </a:p>
          <a:p>
            <a:r>
              <a:t>      "previous_year_spending_krw": 85114549000,</a:t>
            </a:r>
          </a:p>
          <a:p>
            <a:r>
              <a:t>      "previous_year_stay_minutes": 1175.0,</a:t>
            </a:r>
          </a:p>
          <a:p>
            <a:r>
              <a:t>      "previous_year_lodging_nights": 2.85,</a:t>
            </a:r>
          </a:p>
          <a:p>
            <a:r>
              <a:t>      "previous_year_lodging_rate_pct": 7.4,</a:t>
            </a:r>
          </a:p>
          <a:p>
            <a:r>
              <a:t>      "previous_year_lodging_searches": 6099,</a:t>
            </a:r>
          </a:p>
          <a:p>
            <a:r>
              <a:t>      "previous_year_navigation_searches": 134392</a:t>
            </a:r>
          </a:p>
          <a:p>
            <a:r>
              <a:t>    }</a:t>
            </a:r>
          </a:p>
          <a:p>
            <a:r>
              <a:t>  ],</a:t>
            </a:r>
          </a:p>
          <a:p>
            <a:r>
              <a:t>  "evaluation": {</a:t>
            </a:r>
          </a:p>
          <a:p>
            <a:r>
              <a:t>    "metrics": {</a:t>
            </a:r>
          </a:p>
          <a:p>
            <a:r>
              <a:t>      "visitors": {</a:t>
            </a:r>
          </a:p>
          <a:p>
            <a:r>
              <a:t>        "test_mae": 116276.26,</a:t>
            </a:r>
          </a:p>
          <a:p>
            <a:r>
              <a:t>        "recursive_mae": {</a:t>
            </a:r>
          </a:p>
          <a:p>
            <a:r>
              <a:t>          "1": {</a:t>
            </a:r>
          </a:p>
          <a:p>
            <a:r>
              <a:t>            "baseline": 107629,</a:t>
            </a:r>
          </a:p>
          <a:p>
            <a:r>
              <a:t>            "selected": 144586,</a:t>
            </a:r>
          </a:p>
          <a:p>
            <a:r>
              <a:t>            "sample_count": 2</a:t>
            </a:r>
          </a:p>
          <a:p>
            <a:r>
              <a:t>          },</a:t>
            </a:r>
          </a:p>
          <a:p>
            <a:r>
              <a:t>          "2": {</a:t>
            </a:r>
          </a:p>
          <a:p>
            <a:r>
              <a:t>            "baseline": 97982,</a:t>
            </a:r>
          </a:p>
          <a:p>
            <a:r>
              <a:t>            "selected": 42697.5,</a:t>
            </a:r>
          </a:p>
          <a:p>
            <a:r>
              <a:t>            "sample_count": 2</a:t>
            </a:r>
          </a:p>
          <a:p>
            <a:r>
              <a:t>          },</a:t>
            </a:r>
          </a:p>
          <a:p>
            <a:r>
              <a:t>          "3": {</a:t>
            </a:r>
          </a:p>
          <a:p>
            <a:r>
              <a:t>            "baseline": 117576.5,</a:t>
            </a:r>
          </a:p>
          <a:p>
            <a:r>
              <a:t>            "selected": 61978,</a:t>
            </a:r>
          </a:p>
          <a:p>
            <a:r>
              <a:t>            "sample_count": 2</a:t>
            </a:r>
          </a:p>
          <a:p>
            <a:r>
              <a:t>          }</a:t>
            </a:r>
          </a:p>
          <a:p>
            <a:r>
              <a:t>        },</a:t>
            </a:r>
          </a:p>
          <a:p>
            <a:r>
              <a:t>        "selected_model": "RandomForestRegressor",</a:t>
            </a:r>
          </a:p>
          <a:p>
            <a:r>
              <a:t>        "baseline_test_mae": 112602.75,</a:t>
            </a:r>
          </a:p>
          <a:p>
            <a:r>
              <a:t>        "model_reliability": "below_baseline_on_test",</a:t>
            </a:r>
          </a:p>
          <a:p>
            <a:r>
              <a:t>        "beats_baseline_on_test": false,</a:t>
            </a:r>
          </a:p>
          <a:p>
            <a:r>
              <a:t>        "recursive_horizons_worse_than_baseline": [</a:t>
            </a:r>
          </a:p>
          <a:p>
            <a:r>
              <a:t>          "1"</a:t>
            </a:r>
          </a:p>
          <a:p>
            <a:r>
              <a:t>        ]</a:t>
            </a:r>
          </a:p>
          <a:p>
            <a:r>
              <a:t>      },</a:t>
            </a:r>
          </a:p>
          <a:p>
            <a:r>
              <a:t>      "spending_krw": {</a:t>
            </a:r>
          </a:p>
          <a:p>
            <a:r>
              <a:t>        "test_mae": 8497417178.46,</a:t>
            </a:r>
          </a:p>
          <a:p>
            <a:r>
              <a:t>        "recursive_mae": {</a:t>
            </a:r>
          </a:p>
          <a:p>
            <a:r>
              <a:t>          "1": {</a:t>
            </a:r>
          </a:p>
          <a:p>
            <a:r>
              <a:t>            "baseline": 8544467500,</a:t>
            </a:r>
          </a:p>
          <a:p>
            <a:r>
              <a:t>            "selected": 9094829451,</a:t>
            </a:r>
          </a:p>
          <a:p>
            <a:r>
              <a:t>            "sample_count": 2</a:t>
            </a:r>
          </a:p>
          <a:p>
            <a:r>
              <a:t>          },</a:t>
            </a:r>
          </a:p>
          <a:p>
            <a:r>
              <a:t>          "2": {</a:t>
            </a:r>
          </a:p>
          <a:p>
            <a:r>
              <a:t>            "baseline": 7477646000,</a:t>
            </a:r>
          </a:p>
          <a:p>
            <a:r>
              <a:t>            "selected": 11843172152.5,</a:t>
            </a:r>
          </a:p>
          <a:p>
            <a:r>
              <a:t>            "sample_count": 2</a:t>
            </a:r>
          </a:p>
          <a:p>
            <a:r>
              <a:t>          },</a:t>
            </a:r>
          </a:p>
          <a:p>
            <a:r>
              <a:t>          "3": {</a:t>
            </a:r>
          </a:p>
          <a:p>
            <a:r>
              <a:t>            "baseline": 3820910500,</a:t>
            </a:r>
          </a:p>
          <a:p>
            <a:r>
              <a:t>            "selected": 11502063502,</a:t>
            </a:r>
          </a:p>
          <a:p>
            <a:r>
              <a:t>            "sample_count": 2</a:t>
            </a:r>
          </a:p>
          <a:p>
            <a:r>
              <a:t>          }</a:t>
            </a:r>
          </a:p>
          <a:p>
            <a:r>
              <a:t>        },</a:t>
            </a:r>
          </a:p>
          <a:p>
            <a:r>
              <a:t>        "selected_model": "LinearRegression",</a:t>
            </a:r>
          </a:p>
          <a:p>
            <a:r>
              <a:t>        "baseline_test_mae": 6182689000,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251.99,</a:t>
            </a:r>
          </a:p>
          <a:p>
            <a:r>
              <a:t>        "recursive_mae": {</a:t>
            </a:r>
          </a:p>
          <a:p>
            <a:r>
              <a:t>          "1": {</a:t>
            </a:r>
          </a:p>
          <a:p>
            <a:r>
              <a:t>            "baseline": 54.5,</a:t>
            </a:r>
          </a:p>
          <a:p>
            <a:r>
              <a:t>            "selected": 117.74,</a:t>
            </a:r>
          </a:p>
          <a:p>
            <a:r>
              <a:t>            "sample_count": 2</a:t>
            </a:r>
          </a:p>
          <a:p>
            <a:r>
              <a:t>          },</a:t>
            </a:r>
          </a:p>
          <a:p>
            <a:r>
              <a:t>          "2": {</a:t>
            </a:r>
          </a:p>
          <a:p>
            <a:r>
              <a:t>            "baseline": 205.5,</a:t>
            </a:r>
          </a:p>
          <a:p>
            <a:r>
              <a:t>            "selected": 187.84,</a:t>
            </a:r>
          </a:p>
          <a:p>
            <a:r>
              <a:t>            "sample_count": 2</a:t>
            </a:r>
          </a:p>
          <a:p>
            <a:r>
              <a:t>          },</a:t>
            </a:r>
          </a:p>
          <a:p>
            <a:r>
              <a:t>          "3": {</a:t>
            </a:r>
          </a:p>
          <a:p>
            <a:r>
              <a:t>            "baseline": 208.5,</a:t>
            </a:r>
          </a:p>
          <a:p>
            <a:r>
              <a:t>            "selected": 234.17,</a:t>
            </a:r>
          </a:p>
          <a:p>
            <a:r>
              <a:t>            "sample_count": 2</a:t>
            </a:r>
          </a:p>
          <a:p>
            <a:r>
              <a:t>          }</a:t>
            </a:r>
          </a:p>
          <a:p>
            <a:r>
              <a:t>        },</a:t>
            </a:r>
          </a:p>
          <a:p>
            <a:r>
              <a:t>        "selected_model": "LinearRegression",</a:t>
            </a:r>
          </a:p>
          <a:p>
            <a:r>
              <a:t>        "baseline_test_mae": 131.5,</a:t>
            </a:r>
          </a:p>
          <a:p>
            <a:r>
              <a:t>        "model_reliability": "below_baseline_on_test",</a:t>
            </a:r>
          </a:p>
          <a:p>
            <a:r>
              <a:t>        "beats_baseline_on_test": false,</a:t>
            </a:r>
          </a:p>
          <a:p>
            <a:r>
              <a:t>        "recursive_horizons_worse_than_baseline": [</a:t>
            </a:r>
          </a:p>
          <a:p>
            <a:r>
              <a:t>          "1",</a:t>
            </a:r>
          </a:p>
          <a:p>
            <a:r>
              <a:t>          "3"</a:t>
            </a:r>
          </a:p>
          <a:p>
            <a:r>
              <a:t>        ]</a:t>
            </a:r>
          </a:p>
          <a:p>
            <a:r>
              <a:t>      },</a:t>
            </a:r>
          </a:p>
          <a:p>
            <a:r>
              <a:t>      "lodging_nights": {</a:t>
            </a:r>
          </a:p>
          <a:p>
            <a:r>
              <a:t>        "test_mae": 0.08,</a:t>
            </a:r>
          </a:p>
          <a:p>
            <a:r>
              <a:t>        "recursive_mae": {</a:t>
            </a:r>
          </a:p>
          <a:p>
            <a:r>
              <a:t>          "1": {</a:t>
            </a:r>
          </a:p>
          <a:p>
            <a:r>
              <a:t>            "baseline": 0.07,</a:t>
            </a:r>
          </a:p>
          <a:p>
            <a:r>
              <a:t>            "selected": 0.04,</a:t>
            </a:r>
          </a:p>
          <a:p>
            <a:r>
              <a:t>            "sample_count": 2</a:t>
            </a:r>
          </a:p>
          <a:p>
            <a:r>
              <a:t>          },</a:t>
            </a:r>
          </a:p>
          <a:p>
            <a:r>
              <a:t>          "2": {</a:t>
            </a:r>
          </a:p>
          <a:p>
            <a:r>
              <a:t>            "baseline": 0.11,</a:t>
            </a:r>
          </a:p>
          <a:p>
            <a:r>
              <a:t>            "selected": 0.09,</a:t>
            </a:r>
          </a:p>
          <a:p>
            <a:r>
              <a:t>            "sample_count": 2</a:t>
            </a:r>
          </a:p>
          <a:p>
            <a:r>
              <a:t>          },</a:t>
            </a:r>
          </a:p>
          <a:p>
            <a:r>
              <a:t>          "3": {</a:t>
            </a:r>
          </a:p>
          <a:p>
            <a:r>
              <a:t>            "baseline": 0.1,</a:t>
            </a:r>
          </a:p>
          <a:p>
            <a:r>
              <a:t>            "selected": 0.07,</a:t>
            </a:r>
          </a:p>
          <a:p>
            <a:r>
              <a:t>            "sample_count": 2</a:t>
            </a:r>
          </a:p>
          <a:p>
            <a:r>
              <a:t>          }</a:t>
            </a:r>
          </a:p>
          <a:p>
            <a:r>
              <a:t>        },</a:t>
            </a:r>
          </a:p>
          <a:p>
            <a:r>
              <a:t>        "selected_model": "LinearRegression",</a:t>
            </a:r>
          </a:p>
          <a:p>
            <a:r>
              <a:t>        "baseline_test_mae": 0.09,</a:t>
            </a:r>
          </a:p>
          <a:p>
            <a:r>
              <a:t>        "model_reliability": "limited_backtest_support",</a:t>
            </a:r>
          </a:p>
          <a:p>
            <a:r>
              <a:t>        "beats_baseline_on_test": true,</a:t>
            </a:r>
          </a:p>
          <a:p>
            <a:r>
              <a:t>        "recursive_horizons_worse_than_baseline": []</a:t>
            </a:r>
          </a:p>
          <a:p>
            <a:r>
              <a:t>      },</a:t>
            </a:r>
          </a:p>
          <a:p>
            <a:r>
              <a:t>      "lodging_rate_pct": {</a:t>
            </a:r>
          </a:p>
          <a:p>
            <a:r>
              <a:t>        "test_mae": 0.27,</a:t>
            </a:r>
          </a:p>
          <a:p>
            <a:r>
              <a:t>        "recursive_mae": {</a:t>
            </a:r>
          </a:p>
          <a:p>
            <a:r>
              <a:t>          "1": {</a:t>
            </a:r>
          </a:p>
          <a:p>
            <a:r>
              <a:t>            "baseline": 0.35,</a:t>
            </a:r>
          </a:p>
          <a:p>
            <a:r>
              <a:t>            "selected": 0.35,</a:t>
            </a:r>
          </a:p>
          <a:p>
            <a:r>
              <a:t>            "sample_count": 2</a:t>
            </a:r>
          </a:p>
          <a:p>
            <a:r>
              <a:t>          },</a:t>
            </a:r>
          </a:p>
          <a:p>
            <a:r>
              <a:t>          "2": {</a:t>
            </a:r>
          </a:p>
          <a:p>
            <a:r>
              <a:t>            "baseline": 0.1,</a:t>
            </a:r>
          </a:p>
          <a:p>
            <a:r>
              <a:t>            "selected": 0.1,</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0.27,</a:t>
            </a:r>
          </a:p>
          <a:p>
            <a:r>
              <a:t>        "model_reliability": "seasonal_baseline",</a:t>
            </a:r>
          </a:p>
          <a:p>
            <a:r>
              <a:t>        "beats_baseline_on_test": false,</a:t>
            </a:r>
          </a:p>
          <a:p>
            <a:r>
              <a:t>        "recursive_horizons_worse_than_baseline": []</a:t>
            </a:r>
          </a:p>
          <a:p>
            <a:r>
              <a:t>      },</a:t>
            </a:r>
          </a:p>
          <a:p>
            <a:r>
              <a:t>      "lodging_searches": {</a:t>
            </a:r>
          </a:p>
          <a:p>
            <a:r>
              <a:t>        "test_mae": 414.25,</a:t>
            </a:r>
          </a:p>
          <a:p>
            <a:r>
              <a:t>        "recursive_mae": {</a:t>
            </a:r>
          </a:p>
          <a:p>
            <a:r>
              <a:t>          "1": {</a:t>
            </a:r>
          </a:p>
          <a:p>
            <a:r>
              <a:t>            "baseline": 527,</a:t>
            </a:r>
          </a:p>
          <a:p>
            <a:r>
              <a:t>            "selected": 527,</a:t>
            </a:r>
          </a:p>
          <a:p>
            <a:r>
              <a:t>            "sample_count": 2</a:t>
            </a:r>
          </a:p>
          <a:p>
            <a:r>
              <a:t>          },</a:t>
            </a:r>
          </a:p>
          <a:p>
            <a:r>
              <a:t>          "2": {</a:t>
            </a:r>
          </a:p>
          <a:p>
            <a:r>
              <a:t>            "baseline": 252.5,</a:t>
            </a:r>
          </a:p>
          <a:p>
            <a:r>
              <a:t>            "selected": 252.5,</a:t>
            </a:r>
          </a:p>
          <a:p>
            <a:r>
              <a:t>            "sample_count": 2</a:t>
            </a:r>
          </a:p>
          <a:p>
            <a:r>
              <a:t>          },</a:t>
            </a:r>
          </a:p>
          <a:p>
            <a:r>
              <a:t>          "3": {</a:t>
            </a:r>
          </a:p>
          <a:p>
            <a:r>
              <a:t>            "baseline": 301.5,</a:t>
            </a:r>
          </a:p>
          <a:p>
            <a:r>
              <a:t>            "selected": 301.5,</a:t>
            </a:r>
          </a:p>
          <a:p>
            <a:r>
              <a:t>            "sample_count": 2</a:t>
            </a:r>
          </a:p>
          <a:p>
            <a:r>
              <a:t>          }</a:t>
            </a:r>
          </a:p>
          <a:p>
            <a:r>
              <a:t>        },</a:t>
            </a:r>
          </a:p>
          <a:p>
            <a:r>
              <a:t>        "selected_model": "seasonal_naive_previous_year_same_month",</a:t>
            </a:r>
          </a:p>
          <a:p>
            <a:r>
              <a:t>        "baseline_test_mae": 414.25,</a:t>
            </a:r>
          </a:p>
          <a:p>
            <a:r>
              <a:t>        "model_reliability": "seasonal_baseline",</a:t>
            </a:r>
          </a:p>
          <a:p>
            <a:r>
              <a:t>        "beats_baseline_on_test": false,</a:t>
            </a:r>
          </a:p>
          <a:p>
            <a:r>
              <a:t>        "recursive_horizons_worse_than_baseline": []</a:t>
            </a:r>
          </a:p>
          <a:p>
            <a:r>
              <a:t>      },</a:t>
            </a:r>
          </a:p>
          <a:p>
            <a:r>
              <a:t>      "navigation_searches": {</a:t>
            </a:r>
          </a:p>
          <a:p>
            <a:r>
              <a:t>        "test_mae": 6613.5,</a:t>
            </a:r>
          </a:p>
          <a:p>
            <a:r>
              <a:t>        "recursive_mae": {</a:t>
            </a:r>
          </a:p>
          <a:p>
            <a:r>
              <a:t>          "1": {</a:t>
            </a:r>
          </a:p>
          <a:p>
            <a:r>
              <a:t>            "baseline": 7157.5,</a:t>
            </a:r>
          </a:p>
          <a:p>
            <a:r>
              <a:t>            "selected": 7157.5,</a:t>
            </a:r>
          </a:p>
          <a:p>
            <a:r>
              <a:t>            "sample_count": 2</a:t>
            </a:r>
          </a:p>
          <a:p>
            <a:r>
              <a:t>          },</a:t>
            </a:r>
          </a:p>
          <a:p>
            <a:r>
              <a:t>          "2": {</a:t>
            </a:r>
          </a:p>
          <a:p>
            <a:r>
              <a:t>            "baseline": 2837.5,</a:t>
            </a:r>
          </a:p>
          <a:p>
            <a:r>
              <a:t>            "selected": 2837.5,</a:t>
            </a:r>
          </a:p>
          <a:p>
            <a:r>
              <a:t>            "sample_count": 2</a:t>
            </a:r>
          </a:p>
          <a:p>
            <a:r>
              <a:t>          },</a:t>
            </a:r>
          </a:p>
          <a:p>
            <a:r>
              <a:t>          "3": {</a:t>
            </a:r>
          </a:p>
          <a:p>
            <a:r>
              <a:t>            "baseline": 6069.5,</a:t>
            </a:r>
          </a:p>
          <a:p>
            <a:r>
              <a:t>            "selected": 6069.5,</a:t>
            </a:r>
          </a:p>
          <a:p>
            <a:r>
              <a:t>            "sample_count": 2</a:t>
            </a:r>
          </a:p>
          <a:p>
            <a:r>
              <a:t>          }</a:t>
            </a:r>
          </a:p>
          <a:p>
            <a:r>
              <a:t>        },</a:t>
            </a:r>
          </a:p>
          <a:p>
            <a:r>
              <a:t>        "selected_model": "seasonal_naive_previous_year_same_month",</a:t>
            </a:r>
          </a:p>
          <a:p>
            <a:r>
              <a:t>        "baseline_test_mae": 6613.5,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"본문 기준"</a:t>
            </a:r>
          </a:p>
          <a:p>
            <a:r>
              <a:t>      ]</a:t>
            </a:r>
          </a:p>
          <a:p>
            <a:r>
              <a:t>    ],</a:t>
            </a:r>
          </a:p>
          <a:p>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11,268,139명 → 목표 11,643,131명 (추가 374,992명, +3.33%)\n관광소비액: 기준 243,545,949,020원 → 목표 251,746,865,980원 (추가 8,200,916,960원, +3.37%)\n월별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7건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374,992명 × 시범 담당 비중 1% → 3,750건(올림).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11268139.0,</a:t>
            </a:r>
          </a:p>
          <a:p>
            <a:r>
              <a:t>        "target": 11643131.483333334,</a:t>
            </a:r>
          </a:p>
          <a:p>
            <a:r>
              <a:t>        "additional": 374992.4833333343,</a:t>
            </a:r>
          </a:p>
          <a:p>
            <a:r>
              <a:t>        "pct": 3.3279007592410315</a:t>
            </a:r>
          </a:p>
          <a:p>
            <a:r>
              <a:t>      },</a:t>
            </a:r>
          </a:p>
          <a:p>
            <a:r>
              <a:t>      {</a:t>
            </a:r>
          </a:p>
          <a:p>
            <a:r>
              <a:t>        "key": "spending",</a:t>
            </a:r>
          </a:p>
          <a:p>
            <a:r>
              <a:t>        "label": "관광소비액",</a:t>
            </a:r>
          </a:p>
          <a:p>
            <a:r>
              <a:t>        "unit": "원",</a:t>
            </a:r>
          </a:p>
          <a:p>
            <a:r>
              <a:t>        "baseline": 243545949020.0,</a:t>
            </a:r>
          </a:p>
          <a:p>
            <a:r>
              <a:t>        "target": 251746865980.10004,</a:t>
            </a:r>
          </a:p>
          <a:p>
            <a:r>
              <a:t>        "additional": 8200916960.100037,</a:t>
            </a:r>
          </a:p>
          <a:p>
            <a:r>
              <a:t>        "pct": 3.367297626217791</a:t>
            </a:r>
          </a:p>
          <a:p>
            <a:r>
              <a:t>      }</a:t>
            </a:r>
          </a:p>
          <a:p>
            <a:r>
              <a:t>    ],</a:t>
            </a:r>
          </a:p>
          <a:p>
            <a:r>
              <a:t>    "demo": false,</a:t>
            </a:r>
          </a:p>
          <a:p>
            <a:r>
              <a:t>    "models": {</a:t>
            </a:r>
          </a:p>
          <a:p>
            <a:r>
              <a:t>      "visitors": "랜덤 포레스트",</a:t>
            </a:r>
          </a:p>
          <a:p>
            <a:r>
              <a:t>      "spending_krw": "선형 회귀",</a:t>
            </a:r>
          </a:p>
          <a:p>
            <a:r>
              <a:t>      "stay_minutes": "선형 회귀",</a:t>
            </a:r>
          </a:p>
          <a:p>
            <a:r>
              <a:t>      "lodging_nights": "선형 회귀",</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7,</a:t>
            </a:r>
          </a:p>
          <a:p>
            <a:r>
              <a:t>    "case_region_count": 6,</a:t>
            </a:r>
          </a:p>
          <a:p>
            <a:r>
              <a:t>    "candidate_count": 3,</a:t>
            </a:r>
          </a:p>
          <a:p>
            <a:r>
              <a:t>    "displayed_count": 3,</a:t>
            </a:r>
          </a:p>
          <a:p>
            <a:r>
              <a:t>    "primary": {</a:t>
            </a:r>
          </a:p>
          <a:p>
            <a:r>
              <a:t>      "title": "인천광역시 ‘6월부터 밤마다 인천으로’ 야간관광 특화도시 운영 및 성과 자료",</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"source_id": "case:3e081ab48300f1",</a:t>
            </a:r>
          </a:p>
          <a:p>
            <a:r>
              <a:t>      "source_url": "https://www.incheon.go.kr/IC010205/view?beginDt=2021-10-01&amp;curPage=479&amp;endDt=&amp;repSeq=DOM_0000000010085993&amp;srchMainManagerDeptNm=&amp;srchRepContents=&amp;srchRepTitle=",</a:t>
            </a:r>
          </a:p>
          <a:p>
            <a:r>
              <a:t>      "case_region": "인천광역시 송도·개항장·월미도 등",</a:t>
            </a:r>
          </a:p>
          <a:p>
            <a:r>
              <a:t>      "source_type": "benchmark_case",</a:t>
            </a:r>
          </a:p>
          <a:p>
            <a:r>
              <a:t>      "intervention": "야간 프로그램·시티투어·관광패스·야시장·상권쿠폰을 결합한 야간관광 특화도시 사업",</a:t>
            </a:r>
          </a:p>
          <a:p>
            <a:r>
              <a:t>      "document_type": null,</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"retrieval_method": "official_web_search",</a:t>
            </a:r>
          </a:p>
          <a:p>
            <a:r>
              <a:t>      "evidence_strength": "medium",</a:t>
            </a:r>
          </a:p>
          <a:p>
            <a:r>
              <a:t>      "retrieval_context": {</a:t>
            </a:r>
          </a:p>
          <a:p>
            <a:r>
              <a:t>        "scope": "same_province",</a:t>
            </a:r>
          </a:p>
          <a:p>
            <a:r>
              <a:t>        "peer_region_code": null</a:t>
            </a:r>
          </a:p>
          <a:p>
            <a:r>
              <a:t>      },</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"published_or_updated_at": "2024-05-29",</a:t>
            </a:r>
          </a:p>
          <a:p>
            <a:r>
              <a:t>      "quantitative_result_approved": null</a:t>
            </a:r>
          </a:p>
          <a:p>
            <a:r>
              <a:t>    },</a:t>
            </a:r>
          </a:p>
          <a:p>
            <a:r>
              <a:t>    "selection_reason": "야간 체류 유도 프로그램은 인천광역시 부평구의 평균 체류시간 증가 예측과 연계하여, 야간 체류 유도 프로그램을 운영함으로써 체류시간을 증가시킬 수 있음. 이는 인천광역시 송도·개항장·월미도 등에서 운영한 야간관광 특화도시 사업과 유사한 방식으로, 야간 프로그램·시티투어·관광패스·야시장·상권쿠폰을 결합한 야간관광 특화도시 사업을 참고함. 이와 비교하여, 지역 상품권 환급 프로그램과 디지털 관광주민증 프로그램은 부평구의 관광소비액 감소 예측과 방문자 수 감소 예측에 대응하기 위해 설계되었으나, 야간 체류 유도 프로그램은 체류시간 증가에 대한 직접적인 영향을 미칠 수 있음.",</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"items": [</a:t>
            </a:r>
          </a:p>
          <a:p>
            <a:r>
              <a:t>        {</a:t>
            </a:r>
          </a:p>
          <a:p>
            <a:r>
              <a:t>          "name": "참여 혜택",</a:t>
            </a:r>
          </a:p>
          <a:p>
            <a:r>
              <a:t>          "basis": "3,750건 × 10,000원",</a:t>
            </a:r>
          </a:p>
          <a:p>
            <a:r>
              <a:t>          "amount": 37500000</a:t>
            </a:r>
          </a:p>
          <a:p>
            <a:r>
              <a:t>        },</a:t>
            </a:r>
          </a:p>
          <a:p>
            <a:r>
              <a:t>        {</a:t>
            </a:r>
          </a:p>
          <a:p>
            <a:r>
              <a:t>          "name": "현장 운영·정산",</a:t>
            </a:r>
          </a:p>
          <a:p>
            <a:r>
              <a:t>          "basis": "max(월 20인일 × 3, 3,750건 ÷ 25건/인일 올림) = 150인일 × 150,000원",</a:t>
            </a:r>
          </a:p>
          <a:p>
            <a:r>
              <a:t>          "amount": 22500000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7,600만원 × 10%",</a:t>
            </a:r>
          </a:p>
          <a:p>
            <a:r>
              <a:t>          "amount": 7600000</a:t>
            </a:r>
          </a:p>
          <a:p>
            <a:r>
              <a:t>        }</a:t>
            </a:r>
          </a:p>
          <a:p>
            <a:r>
              <a:t>      ],</a:t>
            </a:r>
          </a:p>
          <a:p>
            <a:r>
              <a:t>      "months": 3,</a:t>
            </a:r>
          </a:p>
          <a:p>
            <a:r>
              <a:t>      "refund": false,</a:t>
            </a:r>
          </a:p>
          <a:p>
            <a:r>
              <a:t>      "status": "planning_assumption_not_quote",</a:t>
            </a:r>
          </a:p>
          <a:p>
            <a:r>
              <a:t>      "sources": [],</a:t>
            </a:r>
          </a:p>
          <a:p>
            <a:r>
              <a:t>      "version": "reference-estimate-v2",</a:t>
            </a:r>
          </a:p>
          <a:p>
            <a:r>
              <a:t>      "quantity": 3750,</a:t>
            </a:r>
          </a:p>
          <a:p>
            <a:r>
              <a:t>      "unit_krw": 10000,</a:t>
            </a:r>
          </a:p>
          <a:p>
            <a:r>
              <a:t>      "total_krw": 83600000,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7600000,</a:t>
            </a:r>
          </a:p>
          <a:p>
            <a:r>
              <a:t>      "scale_basis": "사업기간 추가 방문 목표 374,992명 × 시범 담당 비중 1% → 3,750건(올림). 1%는 직접 운영할 참여량 배분 가정이며 전환율 예측이 아닙니다.",</a:t>
            </a:r>
          </a:p>
          <a:p>
            <a:r>
              <a:t>      "subtotal_krw": 76000000,</a:t>
            </a:r>
          </a:p>
          <a:p>
            <a:r>
              <a:t>      "pilot_share_pct": 1,</a:t>
            </a:r>
          </a:p>
          <a:p>
            <a:r>
              <a:t>      "redemption_count": 3000,</a:t>
            </a:r>
          </a:p>
          <a:p>
            <a:r>
              <a:t>      "within_hard_budget": true,</a:t>
            </a:r>
          </a:p>
          <a:p>
            <a:r>
              <a:t>      "qualifying_spend_krw": null,</a:t>
            </a:r>
          </a:p>
          <a:p>
            <a:r>
              <a:t>      "redemption_target_pct": 80,</a:t>
            </a:r>
          </a:p>
          <a:p>
            <a:r>
              <a:t>      "additional_visitors_target": 374992.4833333343</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"items": [</a:t>
            </a:r>
          </a:p>
          <a:p>
            <a:r>
              <a:t>    {</a:t>
            </a:r>
          </a:p>
          <a:p>
            <a:r>
              <a:t>      "name": "참여 혜택",</a:t>
            </a:r>
          </a:p>
          <a:p>
            <a:r>
              <a:t>      "basis": "3,750건 × 10,000원",</a:t>
            </a:r>
          </a:p>
          <a:p>
            <a:r>
              <a:t>      "amount": 37500000</a:t>
            </a:r>
          </a:p>
          <a:p>
            <a:r>
              <a:t>    },</a:t>
            </a:r>
          </a:p>
          <a:p>
            <a:r>
              <a:t>    {</a:t>
            </a:r>
          </a:p>
          <a:p>
            <a:r>
              <a:t>      "name": "현장 운영·정산",</a:t>
            </a:r>
          </a:p>
          <a:p>
            <a:r>
              <a:t>      "basis": "max(월 20인일 × 3, 3,750건 ÷ 25건/인일 올림) = 150인일 × 150,000원",</a:t>
            </a:r>
          </a:p>
          <a:p>
            <a:r>
              <a:t>      "amount": 22500000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7,600만원 × 10%",</a:t>
            </a:r>
          </a:p>
          <a:p>
            <a:r>
              <a:t>      "amount": 7600000</a:t>
            </a:r>
          </a:p>
          <a:p>
            <a:r>
              <a:t>    }</a:t>
            </a:r>
          </a:p>
          <a:p>
            <a:r>
              <a:t>  ],</a:t>
            </a:r>
          </a:p>
          <a:p>
            <a:r>
              <a:t>  "months": 3,</a:t>
            </a:r>
          </a:p>
          <a:p>
            <a:r>
              <a:t>  "refund": false,</a:t>
            </a:r>
          </a:p>
          <a:p>
            <a:r>
              <a:t>  "status": "planning_assumption_not_quote",</a:t>
            </a:r>
          </a:p>
          <a:p>
            <a:r>
              <a:t>  "sources": [],</a:t>
            </a:r>
          </a:p>
          <a:p>
            <a:r>
              <a:t>  "version": "reference-estimate-v2",</a:t>
            </a:r>
          </a:p>
          <a:p>
            <a:r>
              <a:t>  "quantity": 3750,</a:t>
            </a:r>
          </a:p>
          <a:p>
            <a:r>
              <a:t>  "unit_krw": 10000,</a:t>
            </a:r>
          </a:p>
          <a:p>
            <a:r>
              <a:t>  "total_krw": 83600000,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7600000,</a:t>
            </a:r>
          </a:p>
          <a:p>
            <a:r>
              <a:t>  "scale_basis": "사업기간 추가 방문 목표 374,992명 × 시범 담당 비중 1% → 3,750건(올림). 1%는 직접 운영할 참여량 배분 가정이며 전환율 예측이 아닙니다.",</a:t>
            </a:r>
          </a:p>
          <a:p>
            <a:r>
              <a:t>  "subtotal_krw": 76000000,</a:t>
            </a:r>
          </a:p>
          <a:p>
            <a:r>
              <a:t>  "pilot_share_pct": 1,</a:t>
            </a:r>
          </a:p>
          <a:p>
            <a:r>
              <a:t>  "redemption_count": 3000,</a:t>
            </a:r>
          </a:p>
          <a:p>
            <a:r>
              <a:t>  "within_hard_budget": true,</a:t>
            </a:r>
          </a:p>
          <a:p>
            <a:r>
              <a:t>  "qualifying_spend_krw": null,</a:t>
            </a:r>
          </a:p>
          <a:p>
            <a:r>
              <a:t>  "redemption_target_pct": 80,</a:t>
            </a:r>
          </a:p>
          <a:p>
            <a:r>
              <a:t>  "additional_visitors_target": 374992.4833333343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인천광역시 부평구 순 방문자 수 및 숙박 비율 (이동통신 기반 외지인)",</a:t>
            </a:r>
          </a:p>
          <a:p xmlns:a="http://schemas.openxmlformats.org/drawingml/2006/main">
            <a:r>
              <a:t>      "summary": "월간 순 방문자 수: 3,514,485명 (관측 기준월: 2026-06)",</a:t>
            </a:r>
          </a:p>
          <a:p xmlns:a="http://schemas.openxmlformats.org/drawingml/2006/main">
            <a:r>
              <a:t>      "source_id": "dataset:28237:1",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월간 순 방문자 수 (이동통신 기반 외지인)",</a:t>
            </a:r>
          </a:p>
          <a:p xmlns:a="http://schemas.openxmlformats.org/drawingml/2006/main">
            <a:r>
              <a:t>      "summary": "전년동월 외지인 방문자 증감률: -2.2% (관측 기준월: 2026-06)",</a:t>
            </a:r>
          </a:p>
          <a:p xmlns:a="http://schemas.openxmlformats.org/drawingml/2006/main">
            <a:r>
              <a:t>      "source_id": "dataset:28237:2",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관광소비 추이_외지인",</a:t>
            </a:r>
          </a:p>
          <a:p xmlns:a="http://schemas.openxmlformats.org/drawingml/2006/main">
            <a:r>
              <a:t>      "summary": "월간 외지인 관광소비 총액: 77,138,204,000원 (관측 기준월: 2026-06)",</a:t>
            </a:r>
          </a:p>
          <a:p xmlns:a="http://schemas.openxmlformats.org/drawingml/2006/main">
            <a:r>
              <a:t>      "source_id": "dataset:28237:3",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숙박방문자 비율 추이 (이동통신 기반 외지인)",</a:t>
            </a:r>
          </a:p>
          <a:p xmlns:a="http://schemas.openxmlformats.org/drawingml/2006/main">
            <a:r>
              <a:t>      "summary": "외지인 숙박 방문 비율: 6.6% (관측 기준월: 2026-06)",</a:t>
            </a:r>
          </a:p>
          <a:p xmlns:a="http://schemas.openxmlformats.org/drawingml/2006/main">
            <a:r>
              <a:t>      "source_id": "dataset:28237:4",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평균 숙박일 (이동통신 기반 외지인)",</a:t>
            </a:r>
          </a:p>
          <a:p xmlns:a="http://schemas.openxmlformats.org/drawingml/2006/main">
            <a:r>
              <a:t>      "summary": "외지인 평균 숙박일수: 2.90일 (관측 기준월: 2026-06)",</a:t>
            </a:r>
          </a:p>
          <a:p xmlns:a="http://schemas.openxmlformats.org/drawingml/2006/main">
            <a:r>
              <a:t>      "source_id": "dataset:28237:5",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내비게이션 목적지 유형별 검색량",</a:t>
            </a:r>
          </a:p>
          <a:p xmlns:a="http://schemas.openxmlformats.org/drawingml/2006/main">
            <a:r>
              <a:t>      "summary": "내비게이션 목적지 검색량: 121,606건 (관측 기준월: 2026-06)",</a:t>
            </a:r>
          </a:p>
          <a:p xmlns:a="http://schemas.openxmlformats.org/drawingml/2006/main">
            <a:r>
              <a:t>      "source_id": "dataset:28237:6",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SNS 언급량",</a:t>
            </a:r>
          </a:p>
          <a:p xmlns:a="http://schemas.openxmlformats.org/drawingml/2006/main">
            <a:r>
              <a:t>      "summary": "SNS 언급량: 44,932건 (관측 기준월: 2026-06)",</a:t>
            </a:r>
          </a:p>
          <a:p xmlns:a="http://schemas.openxmlformats.org/drawingml/2006/main">
            <a:r>
              <a:t>      "source_id": "dataset:28237:7",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인천광역시_부평구/관광소비/2025_01_12.zip",</a:t>
            </a:r>
          </a:p>
          <a:p xmlns:a="http://schemas.openxmlformats.org/drawingml/2006/main">
            <a:r>
              <a:t>      "summary": "전국 비교 기준 기간: 2025-07 ~ 2026-06",</a:t>
            </a:r>
          </a:p>
          <a:p xmlns:a="http://schemas.openxmlformats.org/drawingml/2006/main">
            <a:r>
              <a:t>      "source_id": "datalab:088dce68db8c:f9e07528e9cc",</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"인천광역시_부평구/관광소비/2025_01_12.zip"</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인천광역시_부평구/숙박_체류시간/2026_01_06.zip",</a:t>
            </a:r>
          </a:p>
          <a:p xmlns:a="http://schemas.openxmlformats.org/drawingml/2006/main">
            <a:r>
              <a:t>      "summary": "전국 비교 기준 기간: 2025-07 ~ 2026-06",</a:t>
            </a:r>
          </a:p>
          <a:p xmlns:a="http://schemas.openxmlformats.org/drawingml/2006/main">
            <a:r>
              <a:t>      "source_id": "datalab:12893561bbea:153ed3aa5a6e",</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"인천광역시_부평구/숙박_체류시간/2026_01_06.zip"</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인천광역시_부평구/방문자/2025_01_12.zip",</a:t>
            </a:r>
          </a:p>
          <a:p xmlns:a="http://schemas.openxmlformats.org/drawingml/2006/main">
            <a:r>
              <a:t>      "summary": "전국 비교 기준 기간: 2025-07 ~ 2026-06",</a:t>
            </a:r>
          </a:p>
          <a:p xmlns:a="http://schemas.openxmlformats.org/drawingml/2006/main">
            <a:r>
              <a:t>      "source_id": "datalab:328e6d50da04:877452ad2b59",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"인천광역시_부평구/방문자/2025_01_12.zip"</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인천광역시_부평구/방문자/2026_01_06.zip",</a:t>
            </a:r>
          </a:p>
          <a:p xmlns:a="http://schemas.openxmlformats.org/drawingml/2006/main">
            <a:r>
              <a:t>      "summary": "전국 비교 기준 기간: 2025-07 ~ 2026-06",</a:t>
            </a:r>
          </a:p>
          <a:p xmlns:a="http://schemas.openxmlformats.org/drawingml/2006/main">
            <a:r>
              <a:t>      "source_id": "datalab:5104039977f5:37dc3b7e64b5",</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"인천광역시_부평구/방문자/2026_01_06.zip"</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인천광역시_부평구/숙박_체류시간/2025_01_12.zip",</a:t>
            </a:r>
          </a:p>
          <a:p xmlns:a="http://schemas.openxmlformats.org/drawingml/2006/main">
            <a:r>
              <a:t>      "summary": "전국 비교 기준 기간: 2025-07 ~ 2026-06",</a:t>
            </a:r>
          </a:p>
          <a:p xmlns:a="http://schemas.openxmlformats.org/drawingml/2006/main">
            <a:r>
              <a:t>      "source_id": "datalab:b7bac265962d:97cf4d1db102",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"인천광역시_부평구/숙박_체류시간/2025_01_12.zip"</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인천광역시_부평구/관광소비/2026_01_06.zip",</a:t>
            </a:r>
          </a:p>
          <a:p xmlns:a="http://schemas.openxmlformats.org/drawingml/2006/main">
            <a:r>
              <a:t>      "summary": "전국 비교 기준 기간: 2025-07 ~ 2026-06",</a:t>
            </a:r>
          </a:p>
          <a:p xmlns:a="http://schemas.openxmlformats.org/drawingml/2006/main">
            <a:r>
              <a:t>      "source_id": "datalab:bd21758c8a88:9597865e62ef",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"인천광역시_부평구/관광소비/2026_01_06.zip"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"title": "한국관광 데이터랩 지역별 관광 현황 · 인천광역시 부평구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"regional-status:0b32b3d6db4d:a1a67792e3b1",</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인천광역시 부평구 · 유입유출",</a:t>
            </a:r>
          </a:p>
          <a:p xmlns:a="http://schemas.openxmlformats.org/drawingml/2006/main">
            <a:r>
              <a:t>      "summary": "관측 기간: 2025-07 ~ 2026-06. 유입·유출·인기장소 또는 30일 집중 운영 신호.",</a:t>
            </a:r>
          </a:p>
          <a:p xmlns:a="http://schemas.openxmlformats.org/drawingml/2006/main">
            <a:r>
              <a:t>      "source_id": "regional-status:98eebe8613d3:723745281038",</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인천광역시 부평구 · 인기관광지",</a:t>
            </a:r>
          </a:p>
          <a:p xmlns:a="http://schemas.openxmlformats.org/drawingml/2006/main">
            <a:r>
              <a:t>      "summary": "관측 기간: 2025-07 ~ 2026-06. 유입·유출·인기장소 또는 30일 집중 운영 신호.",</a:t>
            </a:r>
          </a:p>
          <a:p xmlns:a="http://schemas.openxmlformats.org/drawingml/2006/main">
            <a:r>
              <a:t>      "source_id": "regional-status:b12ff2da0892:a553d7015259",</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"ml:28237:regional-demand-v3.1:202606",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"06231bffd046b8ec0625c675881feb25e51324ad265d5b5ecf0dc8d247440a7d"</a:t>
            </a:r>
          </a:p>
          <a:p xmlns:a="http://schemas.openxmlformats.org/drawingml/2006/main">
            <a:r>
              <a:t>    },</a:t>
            </a:r>
          </a:p>
          <a:p xmlns:a="http://schemas.openxmlformats.org/drawingml/2006/main">
            <a:r>
              <a:t>    {</a:t>
            </a:r>
          </a:p>
          <a:p xmlns:a="http://schemas.openxmlformats.org/drawingml/2006/main">
            <a:r>
              <a:t>      "title": "굴포천 생태하천",</a:t>
            </a:r>
          </a:p>
          <a:p xmlns:a="http://schemas.openxmlformats.org/drawingml/2006/main">
            <a:r>
              <a:t>      "address": "인천광역시 부평구 굴포로 141 (삼산동)",</a:t>
            </a:r>
          </a:p>
          <a:p xmlns:a="http://schemas.openxmlformats.org/drawingml/2006/main">
            <a:r>
              <a:t>      "summary": "한국관광공사 국문관광정보 API가 반환한 선택 지역 관광자원",</a:t>
            </a:r>
          </a:p>
          <a:p xmlns:a="http://schemas.openxmlformats.org/drawingml/2006/main">
            <a:r>
              <a:t>      "image_url": "http://tong.visitkorea.or.kr/cms/resource/60/3523760_image2_1.jpg",</a:t>
            </a:r>
          </a:p>
          <a:p xmlns:a="http://schemas.openxmlformats.org/drawingml/2006/main">
            <a:r>
              <a:t>      "source_id": "tour-api:1619098",</a:t>
            </a:r>
          </a:p>
          <a:p xmlns:a="http://schemas.openxmlformats.org/drawingml/2006/main">
            <a:r>
              <a:t>      "content_id": "1619098",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"대왕김밥",</a:t>
            </a:r>
          </a:p>
          <a:p xmlns:a="http://schemas.openxmlformats.org/drawingml/2006/main">
            <a:r>
              <a:t>      "address": "인천광역시 부평구 부평문화로 41 (부평동)",</a:t>
            </a:r>
          </a:p>
          <a:p xmlns:a="http://schemas.openxmlformats.org/drawingml/2006/main">
            <a:r>
              <a:t>      "summary": "한국관광공사 국문관광정보 API가 반환한 선택 지역 관광자원",</a:t>
            </a:r>
          </a:p>
          <a:p xmlns:a="http://schemas.openxmlformats.org/drawingml/2006/main">
            <a:r>
              <a:t>      "image_url": "http://tong.visitkorea.or.kr/cms/resource/03/2875403_image2_1.jpg",</a:t>
            </a:r>
          </a:p>
          <a:p xmlns:a="http://schemas.openxmlformats.org/drawingml/2006/main">
            <a:r>
              <a:t>      "source_id": "tour-api:2875411",</a:t>
            </a:r>
          </a:p>
          <a:p xmlns:a="http://schemas.openxmlformats.org/drawingml/2006/main">
            <a:r>
              <a:t>      "content_id": "2875411",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"돈타래게장정식",</a:t>
            </a:r>
          </a:p>
          <a:p xmlns:a="http://schemas.openxmlformats.org/drawingml/2006/main">
            <a:r>
              <a:t>      "address": "인천광역시 부평구 열우물로 59",</a:t>
            </a:r>
          </a:p>
          <a:p xmlns:a="http://schemas.openxmlformats.org/drawingml/2006/main">
            <a:r>
              <a:t>      "summary": "한국관광공사 국문관광정보 API가 반환한 선택 지역 관광자원",</a:t>
            </a:r>
          </a:p>
          <a:p xmlns:a="http://schemas.openxmlformats.org/drawingml/2006/main">
            <a:r>
              <a:t>      "image_url": "http://tong.visitkorea.or.kr/cms/resource/35/2790235_image2_1.jpg",</a:t>
            </a:r>
          </a:p>
          <a:p xmlns:a="http://schemas.openxmlformats.org/drawingml/2006/main">
            <a:r>
              <a:t>      "source_id": "tour-api:2768148",</a:t>
            </a:r>
          </a:p>
          <a:p xmlns:a="http://schemas.openxmlformats.org/drawingml/2006/main">
            <a:r>
              <a:t>      "content_id": "2768148",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"면박사가야밀면",</a:t>
            </a:r>
          </a:p>
          <a:p xmlns:a="http://schemas.openxmlformats.org/drawingml/2006/main">
            <a:r>
              <a:t>      "address": "인천광역시 부평구 주부토로172번길 28",</a:t>
            </a:r>
          </a:p>
          <a:p xmlns:a="http://schemas.openxmlformats.org/drawingml/2006/main">
            <a:r>
              <a:t>      "summary": "한국관광공사 국문관광정보 API가 반환한 선택 지역 관광자원",</a:t>
            </a:r>
          </a:p>
          <a:p xmlns:a="http://schemas.openxmlformats.org/drawingml/2006/main">
            <a:r>
              <a:t>      "image_url": "http://tong.visitkorea.or.kr/cms/resource/52/2873452_image2_1.jpg",</a:t>
            </a:r>
          </a:p>
          <a:p xmlns:a="http://schemas.openxmlformats.org/drawingml/2006/main">
            <a:r>
              <a:t>      "source_id": "tour-api:2873461",</a:t>
            </a:r>
          </a:p>
          <a:p xmlns:a="http://schemas.openxmlformats.org/drawingml/2006/main">
            <a:r>
              <a:t>      "content_id": "2873461",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"모녀떡볶이 부평남부역점",</a:t>
            </a:r>
          </a:p>
          <a:p xmlns:a="http://schemas.openxmlformats.org/drawingml/2006/main">
            <a:r>
              <a:t>      "address": "강원특별자치도 태백시 광장로 16 (황지동)",</a:t>
            </a:r>
          </a:p>
          <a:p xmlns:a="http://schemas.openxmlformats.org/drawingml/2006/main">
            <a:r>
              <a:t>      "summary": "한국관광공사 국문관광정보 API가 반환한 선택 지역 관광자원",</a:t>
            </a:r>
          </a:p>
          <a:p xmlns:a="http://schemas.openxmlformats.org/drawingml/2006/main">
            <a:r>
              <a:t>      "image_url": "http://tong.visitkorea.or.kr/cms/resource/58/2833858_image2_1.jpg",</a:t>
            </a:r>
          </a:p>
          <a:p xmlns:a="http://schemas.openxmlformats.org/drawingml/2006/main">
            <a:r>
              <a:t>      "source_id": "tour-api:2833868",</a:t>
            </a:r>
          </a:p>
          <a:p xmlns:a="http://schemas.openxmlformats.org/drawingml/2006/main">
            <a:r>
              <a:t>      "content_id": "2833868",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"백운공원",</a:t>
            </a:r>
          </a:p>
          <a:p xmlns:a="http://schemas.openxmlformats.org/drawingml/2006/main">
            <a:r>
              <a:t>      "address": "인천광역시 부평구 십정동 186-419",</a:t>
            </a:r>
          </a:p>
          <a:p xmlns:a="http://schemas.openxmlformats.org/drawingml/2006/main">
            <a:r>
              <a:t>      "summary": "한국관광공사 국문관광정보 API가 반환한 선택 지역 관광자원",</a:t>
            </a:r>
          </a:p>
          <a:p xmlns:a="http://schemas.openxmlformats.org/drawingml/2006/main">
            <a:r>
              <a:t>      "image_url": "http://tong.visitkorea.or.kr/cms/resource/55/3395555_image2_1.JPG",</a:t>
            </a:r>
          </a:p>
          <a:p xmlns:a="http://schemas.openxmlformats.org/drawingml/2006/main">
            <a:r>
              <a:t>      "source_id": "tour-api:2768156",</a:t>
            </a:r>
          </a:p>
          <a:p xmlns:a="http://schemas.openxmlformats.org/drawingml/2006/main">
            <a:r>
              <a:t>      "content_id": "2768156",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"별미칡냉면원조",</a:t>
            </a:r>
          </a:p>
          <a:p xmlns:a="http://schemas.openxmlformats.org/drawingml/2006/main">
            <a:r>
              <a:t>      "address": "인천광역시 부평구 주부토로145번길 28 (갈산동)",</a:t>
            </a:r>
          </a:p>
          <a:p xmlns:a="http://schemas.openxmlformats.org/drawingml/2006/main">
            <a:r>
              <a:t>      "summary": "한국관광공사 국문관광정보 API가 반환한 선택 지역 관광자원",</a:t>
            </a:r>
          </a:p>
          <a:p xmlns:a="http://schemas.openxmlformats.org/drawingml/2006/main">
            <a:r>
              <a:t>      "image_url": "http://tong.visitkorea.or.kr/cms/resource/46/2875446_image2_1.jpg",</a:t>
            </a:r>
          </a:p>
          <a:p xmlns:a="http://schemas.openxmlformats.org/drawingml/2006/main">
            <a:r>
              <a:t>      "source_id": "tour-api:2875455",</a:t>
            </a:r>
          </a:p>
          <a:p xmlns:a="http://schemas.openxmlformats.org/drawingml/2006/main">
            <a:r>
              <a:t>      "content_id": "2875455",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"부영공원",</a:t>
            </a:r>
          </a:p>
          <a:p xmlns:a="http://schemas.openxmlformats.org/drawingml/2006/main">
            <a:r>
              <a:t>      "address": "인천광역시 부평구 안남로 146",</a:t>
            </a:r>
          </a:p>
          <a:p xmlns:a="http://schemas.openxmlformats.org/drawingml/2006/main">
            <a:r>
              <a:t>      "summary": "한국관광공사 국문관광정보 API가 반환한 선택 지역 관광자원",</a:t>
            </a:r>
          </a:p>
          <a:p xmlns:a="http://schemas.openxmlformats.org/drawingml/2006/main">
            <a:r>
              <a:t>      "image_url": "http://tong.visitkorea.or.kr/cms/resource/62/3395562_image2_1.JPG",</a:t>
            </a:r>
          </a:p>
          <a:p xmlns:a="http://schemas.openxmlformats.org/drawingml/2006/main">
            <a:r>
              <a:t>      "source_id": "tour-api:2767563",</a:t>
            </a:r>
          </a:p>
          <a:p xmlns:a="http://schemas.openxmlformats.org/drawingml/2006/main">
            <a:r>
              <a:t>      "content_id": "2767563",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"부평 굴포누리 기후변화체험관",</a:t>
            </a:r>
          </a:p>
          <a:p xmlns:a="http://schemas.openxmlformats.org/drawingml/2006/main">
            <a:r>
              <a:t>      "address": "인천광역시 부평구 장제로 267 (갈산동)",</a:t>
            </a:r>
          </a:p>
          <a:p xmlns:a="http://schemas.openxmlformats.org/drawingml/2006/main">
            <a:r>
              <a:t>      "summary": "한국관광공사 국문관광정보 API가 반환한 선택 지역 관광자원",</a:t>
            </a:r>
          </a:p>
          <a:p xmlns:a="http://schemas.openxmlformats.org/drawingml/2006/main">
            <a:r>
              <a:t>      "image_url": "http://tong.visitkorea.or.kr/cms/resource/89/3456089_image2_1.jpg",</a:t>
            </a:r>
          </a:p>
          <a:p xmlns:a="http://schemas.openxmlformats.org/drawingml/2006/main">
            <a:r>
              <a:t>      "source_id": "tour-api:3456754",</a:t>
            </a:r>
          </a:p>
          <a:p xmlns:a="http://schemas.openxmlformats.org/drawingml/2006/main">
            <a:r>
              <a:t>      "content_id": "3456754",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"부평 종합시장",</a:t>
            </a:r>
          </a:p>
          <a:p xmlns:a="http://schemas.openxmlformats.org/drawingml/2006/main">
            <a:r>
              <a:t>      "address": "인천광역시 부평구 부흥로316번길 38-3",</a:t>
            </a:r>
          </a:p>
          <a:p xmlns:a="http://schemas.openxmlformats.org/drawingml/2006/main">
            <a:r>
              <a:t>      "summary": "한국관광공사 국문관광정보 API가 반환한 선택 지역 관광자원",</a:t>
            </a:r>
          </a:p>
          <a:p xmlns:a="http://schemas.openxmlformats.org/drawingml/2006/main">
            <a:r>
              <a:t>      "image_url": "http://tong.visitkorea.or.kr/cms/resource/47/3395547_image2_1.JPG",</a:t>
            </a:r>
          </a:p>
          <a:p xmlns:a="http://schemas.openxmlformats.org/drawingml/2006/main">
            <a:r>
              <a:t>      "source_id": "tour-api:1025514",</a:t>
            </a:r>
          </a:p>
          <a:p xmlns:a="http://schemas.openxmlformats.org/drawingml/2006/main">
            <a:r>
              <a:t>      "content_id": "1025514",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"부평 해물탕거리",</a:t>
            </a:r>
          </a:p>
          <a:p xmlns:a="http://schemas.openxmlformats.org/drawingml/2006/main">
            <a:r>
              <a:t>      "address": "인천광역시 부평구 부평동",</a:t>
            </a:r>
          </a:p>
          <a:p xmlns:a="http://schemas.openxmlformats.org/drawingml/2006/main">
            <a:r>
              <a:t>      "summary": "한국관광공사 국문관광정보 API가 반환한 선택 지역 관광자원",</a:t>
            </a:r>
          </a:p>
          <a:p xmlns:a="http://schemas.openxmlformats.org/drawingml/2006/main">
            <a:r>
              <a:t>      "image_url": "http://tong.visitkorea.or.kr/cms/resource/95/3309195_image2_1.jpg",</a:t>
            </a:r>
          </a:p>
          <a:p xmlns:a="http://schemas.openxmlformats.org/drawingml/2006/main">
            <a:r>
              <a:t>      "source_id": "tour-api:749211",</a:t>
            </a:r>
          </a:p>
          <a:p xmlns:a="http://schemas.openxmlformats.org/drawingml/2006/main">
            <a:r>
              <a:t>      "content_id": "749211",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"부평모두몰(부평지하도상가)",</a:t>
            </a:r>
          </a:p>
          <a:p xmlns:a="http://schemas.openxmlformats.org/drawingml/2006/main">
            <a:r>
              <a:t>      "address": "인천광역시 부평구 부평대로 지하 69",</a:t>
            </a:r>
          </a:p>
          <a:p xmlns:a="http://schemas.openxmlformats.org/drawingml/2006/main">
            <a:r>
              <a:t>      "summary": "한국관광공사 국문관광정보 API가 반환한 선택 지역 관광자원",</a:t>
            </a:r>
          </a:p>
          <a:p xmlns:a="http://schemas.openxmlformats.org/drawingml/2006/main">
            <a:r>
              <a:t>      "image_url": "http://tong.visitkorea.or.kr/cms/resource/07/3395507_image2_1.JPG",</a:t>
            </a:r>
          </a:p>
          <a:p xmlns:a="http://schemas.openxmlformats.org/drawingml/2006/main">
            <a:r>
              <a:t>      "source_id": "tour-api:2021033",</a:t>
            </a:r>
          </a:p>
          <a:p xmlns:a="http://schemas.openxmlformats.org/drawingml/2006/main">
            <a:r>
              <a:t>      "content_id": "2021033",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"부평시장",</a:t>
            </a:r>
          </a:p>
          <a:p xmlns:a="http://schemas.openxmlformats.org/drawingml/2006/main">
            <a:r>
              <a:t>      "address": "인천광역시 부평구 부흥로316번길 38-3",</a:t>
            </a:r>
          </a:p>
          <a:p xmlns:a="http://schemas.openxmlformats.org/drawingml/2006/main">
            <a:r>
              <a:t>      "summary": "한국관광공사 국문관광정보 API가 반환한 선택 지역 관광자원",</a:t>
            </a:r>
          </a:p>
          <a:p xmlns:a="http://schemas.openxmlformats.org/drawingml/2006/main">
            <a:r>
              <a:t>      "image_url": "http://tong.visitkorea.or.kr/cms/resource/42/3523842_image2_1.jpg",</a:t>
            </a:r>
          </a:p>
          <a:p xmlns:a="http://schemas.openxmlformats.org/drawingml/2006/main">
            <a:r>
              <a:t>      "source_id": "tour-api:2768142",</a:t>
            </a:r>
          </a:p>
          <a:p xmlns:a="http://schemas.openxmlformats.org/drawingml/2006/main">
            <a:r>
              <a:t>      "content_id": "2768142",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"부평아트센터",</a:t>
            </a:r>
          </a:p>
          <a:p xmlns:a="http://schemas.openxmlformats.org/drawingml/2006/main">
            <a:r>
              <a:t>      "address": "인천광역시 부평구 아트센터로 166 (십정동)",</a:t>
            </a:r>
          </a:p>
          <a:p xmlns:a="http://schemas.openxmlformats.org/drawingml/2006/main">
            <a:r>
              <a:t>      "summary": "한국관광공사 국문관광정보 API가 반환한 선택 지역 관광자원",</a:t>
            </a:r>
          </a:p>
          <a:p xmlns:a="http://schemas.openxmlformats.org/drawingml/2006/main">
            <a:r>
              <a:t>      "image_url": "http://tong.visitkorea.or.kr/cms/resource/55/3457455_image2_1.jpg",</a:t>
            </a:r>
          </a:p>
          <a:p xmlns:a="http://schemas.openxmlformats.org/drawingml/2006/main">
            <a:r>
              <a:t>      "source_id": "tour-api:3457385",</a:t>
            </a:r>
          </a:p>
          <a:p xmlns:a="http://schemas.openxmlformats.org/drawingml/2006/main">
            <a:r>
              <a:t>      "content_id": "3457385",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"부평역북광장",</a:t>
            </a:r>
          </a:p>
          <a:p xmlns:a="http://schemas.openxmlformats.org/drawingml/2006/main">
            <a:r>
              <a:t>      "address": "인천광역시 부평구 광장로 지하30 (부평동)",</a:t>
            </a:r>
          </a:p>
          <a:p xmlns:a="http://schemas.openxmlformats.org/drawingml/2006/main">
            <a:r>
              <a:t>      "summary": "한국관광공사 국문관광정보 API가 반환한 선택 지역 관광자원",</a:t>
            </a:r>
          </a:p>
          <a:p xmlns:a="http://schemas.openxmlformats.org/drawingml/2006/main">
            <a:r>
              <a:t>      "image_url": "http://tong.visitkorea.or.kr/cms/resource/90/3395490_image2_1.JPG",</a:t>
            </a:r>
          </a:p>
          <a:p xmlns:a="http://schemas.openxmlformats.org/drawingml/2006/main">
            <a:r>
              <a:t>      "source_id": "tour-api:2768190",</a:t>
            </a:r>
          </a:p>
          <a:p xmlns:a="http://schemas.openxmlformats.org/drawingml/2006/main">
            <a:r>
              <a:t>      "content_id": "2768190",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"부흥기사식당",</a:t>
            </a:r>
          </a:p>
          <a:p xmlns:a="http://schemas.openxmlformats.org/drawingml/2006/main">
            <a:r>
              <a:t>      "address": "인천광역시 부평구 부흥로 387 (부개동)",</a:t>
            </a:r>
          </a:p>
          <a:p xmlns:a="http://schemas.openxmlformats.org/drawingml/2006/main">
            <a:r>
              <a:t>      "summary": "한국관광공사 국문관광정보 API가 반환한 선택 지역 관광자원",</a:t>
            </a:r>
          </a:p>
          <a:p xmlns:a="http://schemas.openxmlformats.org/drawingml/2006/main">
            <a:r>
              <a:t>      "image_url": "http://tong.visitkorea.or.kr/cms/resource/66/2875466_image2_1.jpg",</a:t>
            </a:r>
          </a:p>
          <a:p xmlns:a="http://schemas.openxmlformats.org/drawingml/2006/main">
            <a:r>
              <a:t>      "source_id": "tour-api:2875488",</a:t>
            </a:r>
          </a:p>
          <a:p xmlns:a="http://schemas.openxmlformats.org/drawingml/2006/main">
            <a:r>
              <a:t>      "content_id": "2875488",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"삼산건강공원",</a:t>
            </a:r>
          </a:p>
          <a:p xmlns:a="http://schemas.openxmlformats.org/drawingml/2006/main">
            <a:r>
              <a:t>      "address": "인천광역시 부평구 영성동로18번길 48 (삼산동)",</a:t>
            </a:r>
          </a:p>
          <a:p xmlns:a="http://schemas.openxmlformats.org/drawingml/2006/main">
            <a:r>
              <a:t>      "summary": "한국관광공사 국문관광정보 API가 반환한 선택 지역 관광자원",</a:t>
            </a:r>
          </a:p>
          <a:p xmlns:a="http://schemas.openxmlformats.org/drawingml/2006/main">
            <a:r>
              <a:t>      "image_url": "http://tong.visitkorea.or.kr/cms/resource/25/3523825_image2_1.jpg",</a:t>
            </a:r>
          </a:p>
          <a:p xmlns:a="http://schemas.openxmlformats.org/drawingml/2006/main">
            <a:r>
              <a:t>      "source_id": "tour-api:2768180",</a:t>
            </a:r>
          </a:p>
          <a:p xmlns:a="http://schemas.openxmlformats.org/drawingml/2006/main">
            <a:r>
              <a:t>      "content_id": "2768180",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"신트리공원(인천)",</a:t>
            </a:r>
          </a:p>
          <a:p xmlns:a="http://schemas.openxmlformats.org/drawingml/2006/main">
            <a:r>
              <a:t>      "address": "인천광역시 부평구 신트리로 21",</a:t>
            </a:r>
          </a:p>
          <a:p xmlns:a="http://schemas.openxmlformats.org/drawingml/2006/main">
            <a:r>
              <a:t>      "summary": "한국관광공사 국문관광정보 API가 반환한 선택 지역 관광자원",</a:t>
            </a:r>
          </a:p>
          <a:p xmlns:a="http://schemas.openxmlformats.org/drawingml/2006/main">
            <a:r>
              <a:t>      "image_url": "http://tong.visitkorea.or.kr/cms/resource/73/3030773_image2_1.jpg",</a:t>
            </a:r>
          </a:p>
          <a:p xmlns:a="http://schemas.openxmlformats.org/drawingml/2006/main">
            <a:r>
              <a:t>      "source_id": "tour-api:126568",</a:t>
            </a:r>
          </a:p>
          <a:p xmlns:a="http://schemas.openxmlformats.org/drawingml/2006/main">
            <a:r>
              <a:t>      "content_id": "126568",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"양평신내서울해장국 부평직영점",</a:t>
            </a:r>
          </a:p>
          <a:p xmlns:a="http://schemas.openxmlformats.org/drawingml/2006/main">
            <a:r>
              <a:t>      "address": "인천광역시 부평구 마장로 191 (산곡동)",</a:t>
            </a:r>
          </a:p>
          <a:p xmlns:a="http://schemas.openxmlformats.org/drawingml/2006/main">
            <a:r>
              <a:t>      "summary": "한국관광공사 국문관광정보 API가 반환한 선택 지역 관광자원",</a:t>
            </a:r>
          </a:p>
          <a:p xmlns:a="http://schemas.openxmlformats.org/drawingml/2006/main">
            <a:r>
              <a:t>      "image_url": "http://tong.visitkorea.or.kr/cms/resource/45/2835945_image2_1.jpg",</a:t>
            </a:r>
          </a:p>
          <a:p xmlns:a="http://schemas.openxmlformats.org/drawingml/2006/main">
            <a:r>
              <a:t>      "source_id": "tour-api:2835948",</a:t>
            </a:r>
          </a:p>
          <a:p xmlns:a="http://schemas.openxmlformats.org/drawingml/2006/main">
            <a:r>
              <a:t>      "content_id": "2835948",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"열우물전통시장",</a:t>
            </a:r>
          </a:p>
          <a:p xmlns:a="http://schemas.openxmlformats.org/drawingml/2006/main">
            <a:r>
              <a:t>      "address": "인천광역시 부평구 배곶남로21번길 18",</a:t>
            </a:r>
          </a:p>
          <a:p xmlns:a="http://schemas.openxmlformats.org/drawingml/2006/main">
            <a:r>
              <a:t>      "summary": "한국관광공사 국문관광정보 API가 반환한 선택 지역 관광자원",</a:t>
            </a:r>
          </a:p>
          <a:p xmlns:a="http://schemas.openxmlformats.org/drawingml/2006/main">
            <a:r>
              <a:t>      "image_url": "http://tong.visitkorea.or.kr/cms/resource/31/3523831_image2_1.jpg",</a:t>
            </a:r>
          </a:p>
          <a:p xmlns:a="http://schemas.openxmlformats.org/drawingml/2006/main">
            <a:r>
              <a:t>      "source_id": "tour-api:2765473",</a:t>
            </a:r>
          </a:p>
          <a:p xmlns:a="http://schemas.openxmlformats.org/drawingml/2006/main">
            <a:r>
              <a:t>      "content_id": "2765473",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"title": "인천광역시 ‘6월부터 밤마다 인천으로’ 야간관광 특화도시 운영 및 성과 자료",</a:t>
            </a:r>
          </a:p>
          <a:p xmlns:a="http://schemas.openxmlformats.org/drawingml/2006/main">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xmlns:a="http://schemas.openxmlformats.org/drawingml/2006/main">
            <a:r>
              <a:t>      "source_id": "case:3e081ab48300f1",</a:t>
            </a:r>
          </a:p>
          <a:p xmlns:a="http://schemas.openxmlformats.org/drawingml/2006/main">
            <a:r>
              <a:t>      "source_url": "https://www.incheon.go.kr/IC010205/view?beginDt=2021-10-01&amp;curPage=479&amp;endDt=&amp;repSeq=DOM_0000000010085993&amp;srchMainManagerDeptNm=&amp;srchRepContents=&amp;srchRepTitle=",</a:t>
            </a:r>
          </a:p>
          <a:p xmlns:a="http://schemas.openxmlformats.org/drawingml/2006/main">
            <a:r>
              <a:t>      "case_region": "인천광역시 송도·개항장·월미도 등",</a:t>
            </a:r>
          </a:p>
          <a:p xmlns:a="http://schemas.openxmlformats.org/drawingml/2006/main">
            <a:r>
              <a:t>      "source_type": "benchmark_case",</a:t>
            </a:r>
          </a:p>
          <a:p xmlns:a="http://schemas.openxmlformats.org/drawingml/2006/main">
            <a:r>
              <a:t>      "intervention": "야간 프로그램·시티투어·관광패스·야시장·상권쿠폰을 결합한 야간관광 특화도시 사업",</a:t>
            </a:r>
          </a:p>
          <a:p xmlns:a="http://schemas.openxmlformats.org/drawingml/2006/main">
            <a:r>
              <a:t>      "document_type": null,</a:t>
            </a:r>
          </a:p>
          <a:p xmlns:a="http://schemas.openxmlformats.org/drawingml/2006/main">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xmlns:a="http://schemas.openxmlformats.org/drawingml/2006/main">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"measurement_period": "2022-11 ~ 2023 사업 운영기간; 일부 프로그램은 2024년 기사에서 별도 실적 공개",</a:t>
            </a:r>
          </a:p>
          <a:p xmlns:a="http://schemas.openxmlformats.org/drawingml/2006/main">
            <a:r>
              <a:t>      "transfer_conditions": [</a:t>
            </a:r>
          </a:p>
          <a:p xmlns:a="http://schemas.openxmlformats.org/drawingml/2006/main">
            <a:r>
              <a:t>        "부평구에서는 광역 단위 21개 사업이 아니라 부평역 인근 등 보행 가능한 한 권역, 2~3개 콘텐츠, 소수 점포로 축소",</a:t>
            </a:r>
          </a:p>
          <a:p xmlns:a="http://schemas.openxmlformats.org/drawingml/2006/main">
            <a:r>
              <a:t>        "10~12월 기온과 일몰시간을 고려해 실외 행사보다 실내 문화시설·공연·식음업소를 연결한 예약 회차 확보",</a:t>
            </a:r>
          </a:p>
          <a:p xmlns:a="http://schemas.openxmlformats.org/drawingml/2006/main">
            <a:r>
              <a:t>        "야간 귀가 교통, 보행 동선, 안전요원, 시설별 종료시간을 함께 설계",</a:t>
            </a:r>
          </a:p>
          <a:p xmlns:a="http://schemas.openxmlformats.org/drawingml/2006/main">
            <a:r>
              <a:t>        "현장 첫 결제에 즉시 할인하기보다 체험 완료 후 인접 점포에서 사용할 수 있는 후속 혜택으로 교차이용을 유도",</a:t>
            </a:r>
          </a:p>
          <a:p xmlns:a="http://schemas.openxmlformats.org/drawingml/2006/main">
            <a:r>
              <a:t>        "행사 방문자, 실제 체험 완료자, 상권 혜택 사용자와 결제액을 각각 분리 집계"</a:t>
            </a:r>
          </a:p>
          <a:p xmlns:a="http://schemas.openxmlformats.org/drawingml/2006/main">
            <a:r>
              <a:t>      ],</a:t>
            </a:r>
          </a:p>
          <a:p xmlns:a="http://schemas.openxmlformats.org/drawingml/2006/main">
            <a:r>
              <a:t>      "published_or_updated_at": "2024-05-29",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"서울특별시 ‘서울의 밤이 더 길어진다—서울달 금·토 심야 운영’ 및 운영 확대 자료",</a:t>
            </a:r>
          </a:p>
          <a:p xmlns:a="http://schemas.openxmlformats.org/drawingml/2006/main">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xmlns:a="http://schemas.openxmlformats.org/drawingml/2006/main">
            <a:r>
              <a:t>      "source_id": "case:c621f7b6c81807",</a:t>
            </a:r>
          </a:p>
          <a:p xmlns:a="http://schemas.openxmlformats.org/drawingml/2006/main">
            <a:r>
              <a:t>      "source_url": "https://www.seoul.go.kr/news/news_report.do?nttNo=462801",</a:t>
            </a:r>
          </a:p>
          <a:p xmlns:a="http://schemas.openxmlformats.org/drawingml/2006/main">
            <a:r>
              <a:t>      "case_region": "서울특별시 영등포구 여의도공원",</a:t>
            </a:r>
          </a:p>
          <a:p xmlns:a="http://schemas.openxmlformats.org/drawingml/2006/main">
            <a:r>
              <a:t>      "source_type": "benchmark_case",</a:t>
            </a:r>
          </a:p>
          <a:p xmlns:a="http://schemas.openxmlformats.org/drawingml/2006/main">
            <a:r>
              <a:t>      "intervention": "예약시간·OTA 판매·성수기 및 심야 운영시간을 조정한 체험형 야간관광시설 ‘서울달’",</a:t>
            </a:r>
          </a:p>
          <a:p xmlns:a="http://schemas.openxmlformats.org/drawingml/2006/main">
            <a:r>
              <a:t>      "document_type": null,</a:t>
            </a:r>
          </a:p>
          <a:p xmlns:a="http://schemas.openxmlformats.org/drawingml/2006/main">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xmlns:a="http://schemas.openxmlformats.org/drawingml/2006/main">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"2024-08-23 ~ 2026-07-15 누적 이용; 외국인 비율 비교는 2025년과 2026년 상반기",</a:t>
            </a:r>
          </a:p>
          <a:p xmlns:a="http://schemas.openxmlformats.org/drawingml/2006/main">
            <a:r>
              <a:t>      "transfer_conditions": [</a:t>
            </a:r>
          </a:p>
          <a:p xmlns:a="http://schemas.openxmlformats.org/drawingml/2006/main">
            <a:r>
              <a:t>        "부평구에는 신규 대형시설 대신 기존 공연장·전시장·문화공간의 예약 가능 시간을 저녁으로 연장하는 운영원리만 적용",</a:t>
            </a:r>
          </a:p>
          <a:p xmlns:a="http://schemas.openxmlformats.org/drawingml/2006/main">
            <a:r>
              <a:t>        "온라인 사전예약과 현장 잔여석을 함께 관리하고 회차별 정원·취소·대기 규칙을 명확히 설정",</a:t>
            </a:r>
          </a:p>
          <a:p xmlns:a="http://schemas.openxmlformats.org/drawingml/2006/main">
            <a:r>
              <a:t>        "금·토 및 10~12월 수요가 예상되는 시간대부터 시험하고 비효율 시간대는 축소",</a:t>
            </a:r>
          </a:p>
          <a:p xmlns:a="http://schemas.openxmlformats.org/drawingml/2006/main">
            <a:r>
              <a:t>        "프로그램 종료 뒤 이용 가능한 식음료점·상점 정보를 예약 확인서와 현장 안내에 결합",</a:t>
            </a:r>
          </a:p>
          <a:p xmlns:a="http://schemas.openxmlformats.org/drawingml/2006/main">
            <a:r>
              <a:t>        "회차별 예약률, 노쇼율, 현장 이용 완료율과 프로그램 전후 주변 결제를 측정"</a:t>
            </a:r>
          </a:p>
          <a:p xmlns:a="http://schemas.openxmlformats.org/drawingml/2006/main">
            <a:r>
              <a:t>      ],</a:t>
            </a:r>
          </a:p>
          <a:p xmlns:a="http://schemas.openxmlformats.org/drawingml/2006/main">
            <a:r>
              <a:t>      "published_or_updated_at": "2026-07-28",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"2024년도 정부업무평가 관광분야 성과자료",</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"source_id": "case:night_tourism_cities_2024",</a:t>
            </a:r>
          </a:p>
          <a:p xmlns:a="http://schemas.openxmlformats.org/drawingml/2006/main">
            <a:r>
              <a:t>      "source_url": "https://www.evaluation.go.kr/upload2/atch/eval/20250429095846463.pdf",</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"상설 야간 콘텐츠와 경관·교통·안전 운영",</a:t>
            </a:r>
          </a:p>
          <a:p xmlns:a="http://schemas.openxmlformats.org/drawingml/2006/main">
            <a:r>
              <a:t>      "document_type": "case_study",</a:t>
            </a:r>
          </a:p>
          <a:p xmlns:a="http://schemas.openxmlformats.org/drawingml/2006/main">
            <a:r>
              <a:t>      "observed_result": "정부업무평가 자료는 특화도시 10곳 방문객이 2023년 같은 기간보다 3% 증가했다고 기록",</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"published_or_updated_at": "2025-04-29",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"굴포천 생태하천",</a:t>
            </a:r>
          </a:p>
          <a:p xmlns:a="http://schemas.openxmlformats.org/drawingml/2006/main">
            <a:r>
              <a:t>      "address": "인천광역시 부평구 굴포로 141 (삼산동)",</a:t>
            </a:r>
          </a:p>
          <a:p xmlns:a="http://schemas.openxmlformats.org/drawingml/2006/main">
            <a:r>
              <a:t>      "summary": "한국관광공사 국문관광정보 API가 반환한 선택 지역 관광자원",</a:t>
            </a:r>
          </a:p>
          <a:p xmlns:a="http://schemas.openxmlformats.org/drawingml/2006/main">
            <a:r>
              <a:t>      "image_url": "http://tong.visitkorea.or.kr/cms/resource/60/3523760_image2_1.jpg",</a:t>
            </a:r>
          </a:p>
          <a:p xmlns:a="http://schemas.openxmlformats.org/drawingml/2006/main">
            <a:r>
              <a:t>      "source_id": "tour-api:1619098",</a:t>
            </a:r>
          </a:p>
          <a:p xmlns:a="http://schemas.openxmlformats.org/drawingml/2006/main">
            <a:r>
              <a:t>      "content_id": "1619098",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3778392.0,</a:t>
            </a:r>
          </a:p>
          <a:p xmlns:a="http://schemas.openxmlformats.org/drawingml/2006/main">
            <a:r>
              <a:t>        "is_forecast": true,</a:t>
            </a:r>
          </a:p>
          <a:p xmlns:a="http://schemas.openxmlformats.org/drawingml/2006/main">
            <a:r>
              <a:t>        "spending_krw": 78739302878.0,</a:t>
            </a:r>
          </a:p>
          <a:p xmlns:a="http://schemas.openxmlformats.org/drawingml/2006/main">
            <a:r>
              <a:t>        "stay_minutes": 1189.22,</a:t>
            </a:r>
          </a:p>
          <a:p xmlns:a="http://schemas.openxmlformats.org/drawingml/2006/main">
            <a:r>
              <a:t>        "lodging_nights": 2.9,</a:t>
            </a:r>
          </a:p>
          <a:p xmlns:a="http://schemas.openxmlformats.org/drawingml/2006/main">
            <a:r>
              <a:t>        "lodging_rate_pct": 8.5,</a:t>
            </a:r>
          </a:p>
          <a:p xmlns:a="http://schemas.openxmlformats.org/drawingml/2006/main">
            <a:r>
              <a:t>        "lodging_searches": 9560,</a:t>
            </a:r>
          </a:p>
          <a:p xmlns:a="http://schemas.openxmlformats.org/drawingml/2006/main">
            <a:r>
              <a:t>        "navigation_searches": 211413,</a:t>
            </a:r>
          </a:p>
          <a:p xmlns:a="http://schemas.openxmlformats.org/drawingml/2006/main">
            <a:r>
              <a:t>        "visitor_yoy_percent": -3.74,</a:t>
            </a:r>
          </a:p>
          <a:p xmlns:a="http://schemas.openxmlformats.org/drawingml/2006/main">
            <a:r>
              <a:t>        "spending_yoy_percent": -6.27,</a:t>
            </a:r>
          </a:p>
          <a:p xmlns:a="http://schemas.openxmlformats.org/drawingml/2006/main">
            <a:r>
              <a:t>        "metric_changes_percent": {</a:t>
            </a:r>
          </a:p>
          <a:p xmlns:a="http://schemas.openxmlformats.org/drawingml/2006/main">
            <a:r>
              <a:t>          "stay_minutes": -3.55,</a:t>
            </a:r>
          </a:p>
          <a:p xmlns:a="http://schemas.openxmlformats.org/drawingml/2006/main">
            <a:r>
              <a:t>          "lodging_nights": 0.69,</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3925237,</a:t>
            </a:r>
          </a:p>
          <a:p xmlns:a="http://schemas.openxmlformats.org/drawingml/2006/main">
            <a:r>
              <a:t>        "previous_year_spending_krw": 84007025000,</a:t>
            </a:r>
          </a:p>
          <a:p xmlns:a="http://schemas.openxmlformats.org/drawingml/2006/main">
            <a:r>
              <a:t>        "previous_year_stay_minutes": 1233.0,</a:t>
            </a:r>
          </a:p>
          <a:p xmlns:a="http://schemas.openxmlformats.org/drawingml/2006/main">
            <a:r>
              <a:t>        "previous_year_lodging_nights": 2.88,</a:t>
            </a:r>
          </a:p>
          <a:p xmlns:a="http://schemas.openxmlformats.org/drawingml/2006/main">
            <a:r>
              <a:t>        "previous_year_lodging_rate_pct": 8.5,</a:t>
            </a:r>
          </a:p>
          <a:p xmlns:a="http://schemas.openxmlformats.org/drawingml/2006/main">
            <a:r>
              <a:t>        "previous_year_lodging_searches": 9560,</a:t>
            </a:r>
          </a:p>
          <a:p xmlns:a="http://schemas.openxmlformats.org/drawingml/2006/main">
            <a:r>
              <a:t>        "previous_year_navigation_searches": 211413</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3748084.0,</a:t>
            </a:r>
          </a:p>
          <a:p xmlns:a="http://schemas.openxmlformats.org/drawingml/2006/main">
            <a:r>
              <a:t>        "is_forecast": true,</a:t>
            </a:r>
          </a:p>
          <a:p xmlns:a="http://schemas.openxmlformats.org/drawingml/2006/main">
            <a:r>
              <a:t>        "spending_krw": 81104223698.0,</a:t>
            </a:r>
          </a:p>
          <a:p xmlns:a="http://schemas.openxmlformats.org/drawingml/2006/main">
            <a:r>
              <a:t>        "stay_minutes": 1157.37,</a:t>
            </a:r>
          </a:p>
          <a:p xmlns:a="http://schemas.openxmlformats.org/drawingml/2006/main">
            <a:r>
              <a:t>        "lodging_nights": 2.86,</a:t>
            </a:r>
          </a:p>
          <a:p xmlns:a="http://schemas.openxmlformats.org/drawingml/2006/main">
            <a:r>
              <a:t>        "lodging_rate_pct": 6.5,</a:t>
            </a:r>
          </a:p>
          <a:p xmlns:a="http://schemas.openxmlformats.org/drawingml/2006/main">
            <a:r>
              <a:t>        "lodging_searches": 6582,</a:t>
            </a:r>
          </a:p>
          <a:p xmlns:a="http://schemas.openxmlformats.org/drawingml/2006/main">
            <a:r>
              <a:t>        "navigation_searches": 141791,</a:t>
            </a:r>
          </a:p>
          <a:p xmlns:a="http://schemas.openxmlformats.org/drawingml/2006/main">
            <a:r>
              <a:t>        "visitor_yoy_percent": -1.44,</a:t>
            </a:r>
          </a:p>
          <a:p xmlns:a="http://schemas.openxmlformats.org/drawingml/2006/main">
            <a:r>
              <a:t>        "spending_yoy_percent": -1.77,</a:t>
            </a:r>
          </a:p>
          <a:p xmlns:a="http://schemas.openxmlformats.org/drawingml/2006/main">
            <a:r>
              <a:t>        "metric_changes_percent": {</a:t>
            </a:r>
          </a:p>
          <a:p xmlns:a="http://schemas.openxmlformats.org/drawingml/2006/main">
            <a:r>
              <a:t>          "stay_minutes": 4.74,</a:t>
            </a:r>
          </a:p>
          <a:p xmlns:a="http://schemas.openxmlformats.org/drawingml/2006/main">
            <a:r>
              <a:t>          "lodging_nights": -1.38,</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3802982,</a:t>
            </a:r>
          </a:p>
          <a:p xmlns:a="http://schemas.openxmlformats.org/drawingml/2006/main">
            <a:r>
              <a:t>        "previous_year_spending_krw": 82569585000,</a:t>
            </a:r>
          </a:p>
          <a:p xmlns:a="http://schemas.openxmlformats.org/drawingml/2006/main">
            <a:r>
              <a:t>        "previous_year_stay_minutes": 1105.0,</a:t>
            </a:r>
          </a:p>
          <a:p xmlns:a="http://schemas.openxmlformats.org/drawingml/2006/main">
            <a:r>
              <a:t>        "previous_year_lodging_nights": 2.9,</a:t>
            </a:r>
          </a:p>
          <a:p xmlns:a="http://schemas.openxmlformats.org/drawingml/2006/main">
            <a:r>
              <a:t>        "previous_year_lodging_rate_pct": 6.5,</a:t>
            </a:r>
          </a:p>
          <a:p xmlns:a="http://schemas.openxmlformats.org/drawingml/2006/main">
            <a:r>
              <a:t>        "previous_year_lodging_searches": 6582,</a:t>
            </a:r>
          </a:p>
          <a:p xmlns:a="http://schemas.openxmlformats.org/drawingml/2006/main">
            <a:r>
              <a:t>        "previous_year_navigation_searches": 141791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3741663.0,</a:t>
            </a:r>
          </a:p>
          <a:p xmlns:a="http://schemas.openxmlformats.org/drawingml/2006/main">
            <a:r>
              <a:t>        "is_forecast": true,</a:t>
            </a:r>
          </a:p>
          <a:p xmlns:a="http://schemas.openxmlformats.org/drawingml/2006/main">
            <a:r>
              <a:t>        "spending_krw": 83702422444.0,</a:t>
            </a:r>
          </a:p>
          <a:p xmlns:a="http://schemas.openxmlformats.org/drawingml/2006/main">
            <a:r>
              <a:t>        "stay_minutes": 1216.03,</a:t>
            </a:r>
          </a:p>
          <a:p xmlns:a="http://schemas.openxmlformats.org/drawingml/2006/main">
            <a:r>
              <a:t>        "lodging_nights": 2.93,</a:t>
            </a:r>
          </a:p>
          <a:p xmlns:a="http://schemas.openxmlformats.org/drawingml/2006/main">
            <a:r>
              <a:t>        "lodging_rate_pct": 7.4,</a:t>
            </a:r>
          </a:p>
          <a:p xmlns:a="http://schemas.openxmlformats.org/drawingml/2006/main">
            <a:r>
              <a:t>        "lodging_searches": 6099,</a:t>
            </a:r>
          </a:p>
          <a:p xmlns:a="http://schemas.openxmlformats.org/drawingml/2006/main">
            <a:r>
              <a:t>        "navigation_searches": 134392,</a:t>
            </a:r>
          </a:p>
          <a:p xmlns:a="http://schemas.openxmlformats.org/drawingml/2006/main">
            <a:r>
              <a:t>        "visitor_yoy_percent": -1.2,</a:t>
            </a:r>
          </a:p>
          <a:p xmlns:a="http://schemas.openxmlformats.org/drawingml/2006/main">
            <a:r>
              <a:t>        "spending_yoy_percent": -1.66,</a:t>
            </a:r>
          </a:p>
          <a:p xmlns:a="http://schemas.openxmlformats.org/drawingml/2006/main">
            <a:r>
              <a:t>        "metric_changes_percent": {</a:t>
            </a:r>
          </a:p>
          <a:p xmlns:a="http://schemas.openxmlformats.org/drawingml/2006/main">
            <a:r>
              <a:t>          "stay_minutes": 3.49,</a:t>
            </a:r>
          </a:p>
          <a:p xmlns:a="http://schemas.openxmlformats.org/drawingml/2006/main">
            <a:r>
              <a:t>          "lodging_nights": 2.81,</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3787225,</a:t>
            </a:r>
          </a:p>
          <a:p xmlns:a="http://schemas.openxmlformats.org/drawingml/2006/main">
            <a:r>
              <a:t>        "previous_year_spending_krw": 85114549000,</a:t>
            </a:r>
          </a:p>
          <a:p xmlns:a="http://schemas.openxmlformats.org/drawingml/2006/main">
            <a:r>
              <a:t>        "previous_year_stay_minutes": 1175.0,</a:t>
            </a:r>
          </a:p>
          <a:p xmlns:a="http://schemas.openxmlformats.org/drawingml/2006/main">
            <a:r>
              <a:t>        "previous_year_lodging_nights": 2.85,</a:t>
            </a:r>
          </a:p>
          <a:p xmlns:a="http://schemas.openxmlformats.org/drawingml/2006/main">
            <a:r>
              <a:t>        "previous_year_lodging_rate_pct": 7.4,</a:t>
            </a:r>
          </a:p>
          <a:p xmlns:a="http://schemas.openxmlformats.org/drawingml/2006/main">
            <a:r>
              <a:t>        "previous_year_lodging_searches": 6099,</a:t>
            </a:r>
          </a:p>
          <a:p xmlns:a="http://schemas.openxmlformats.org/drawingml/2006/main">
            <a:r>
              <a:t>        "previous_year_navigation_searches": 134392</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3817303,</a:t>
            </a:r>
          </a:p>
          <a:p xmlns:a="http://schemas.openxmlformats.org/drawingml/2006/main">
            <a:r>
              <a:t>      "is_forecast": true,</a:t>
            </a:r>
          </a:p>
          <a:p xmlns:a="http://schemas.openxmlformats.org/drawingml/2006/main">
            <a:r>
              <a:t>      "spending_krw": 78887191546,</a:t>
            </a:r>
          </a:p>
          <a:p xmlns:a="http://schemas.openxmlformats.org/drawingml/2006/main">
            <a:r>
              <a:t>      "stay_minutes": 1212.73,</a:t>
            </a:r>
          </a:p>
          <a:p xmlns:a="http://schemas.openxmlformats.org/drawingml/2006/main">
            <a:r>
              <a:t>      "lodging_nights": 2.91,</a:t>
            </a:r>
          </a:p>
          <a:p xmlns:a="http://schemas.openxmlformats.org/drawingml/2006/main">
            <a:r>
              <a:t>      "lodging_rate_pct": 7.1,</a:t>
            </a:r>
          </a:p>
          <a:p xmlns:a="http://schemas.openxmlformats.org/drawingml/2006/main">
            <a:r>
              <a:t>      "lodging_searches": 7347,</a:t>
            </a:r>
          </a:p>
          <a:p xmlns:a="http://schemas.openxmlformats.org/drawingml/2006/main">
            <a:r>
              <a:t>      "navigation_searches": 141607,</a:t>
            </a:r>
          </a:p>
          <a:p xmlns:a="http://schemas.openxmlformats.org/drawingml/2006/main">
            <a:r>
              <a:t>      "visitor_yoy_percent": -1.21,</a:t>
            </a:r>
          </a:p>
          <a:p xmlns:a="http://schemas.openxmlformats.org/drawingml/2006/main">
            <a:r>
              <a:t>      "spending_yoy_percent": 0.76,</a:t>
            </a:r>
          </a:p>
          <a:p xmlns:a="http://schemas.openxmlformats.org/drawingml/2006/main">
            <a:r>
              <a:t>      "metric_changes_percent": {</a:t>
            </a:r>
          </a:p>
          <a:p xmlns:a="http://schemas.openxmlformats.org/drawingml/2006/main">
            <a:r>
              <a:t>        "stay_minutes": -7.07,</a:t>
            </a:r>
          </a:p>
          <a:p xmlns:a="http://schemas.openxmlformats.org/drawingml/2006/main">
            <a:r>
              <a:t>        "lodging_nights": -2.35,</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3863992,</a:t>
            </a:r>
          </a:p>
          <a:p xmlns:a="http://schemas.openxmlformats.org/drawingml/2006/main">
            <a:r>
              <a:t>      "previous_year_spending_krw": 78295445000,</a:t>
            </a:r>
          </a:p>
          <a:p xmlns:a="http://schemas.openxmlformats.org/drawingml/2006/main">
            <a:r>
              <a:t>      "previous_year_stay_minutes": 1305.0,</a:t>
            </a:r>
          </a:p>
          <a:p xmlns:a="http://schemas.openxmlformats.org/drawingml/2006/main">
            <a:r>
              <a:t>      "previous_year_lodging_nights": 2.98,</a:t>
            </a:r>
          </a:p>
          <a:p xmlns:a="http://schemas.openxmlformats.org/drawingml/2006/main">
            <a:r>
              <a:t>      "previous_year_lodging_rate_pct": 7.1,</a:t>
            </a:r>
          </a:p>
          <a:p xmlns:a="http://schemas.openxmlformats.org/drawingml/2006/main">
            <a:r>
              <a:t>      "previous_year_lodging_searches": 7347,</a:t>
            </a:r>
          </a:p>
          <a:p xmlns:a="http://schemas.openxmlformats.org/drawingml/2006/main">
            <a:r>
              <a:t>      "previous_year_navigation_searches": 141607</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3749035,</a:t>
            </a:r>
          </a:p>
          <a:p xmlns:a="http://schemas.openxmlformats.org/drawingml/2006/main">
            <a:r>
              <a:t>      "is_forecast": true,</a:t>
            </a:r>
          </a:p>
          <a:p xmlns:a="http://schemas.openxmlformats.org/drawingml/2006/main">
            <a:r>
              <a:t>      "spending_krw": 80682185171,</a:t>
            </a:r>
          </a:p>
          <a:p xmlns:a="http://schemas.openxmlformats.org/drawingml/2006/main">
            <a:r>
              <a:t>      "stay_minutes": 1150.71,</a:t>
            </a:r>
          </a:p>
          <a:p xmlns:a="http://schemas.openxmlformats.org/drawingml/2006/main">
            <a:r>
              <a:t>      "lodging_nights": 2.93,</a:t>
            </a:r>
          </a:p>
          <a:p xmlns:a="http://schemas.openxmlformats.org/drawingml/2006/main">
            <a:r>
              <a:t>      "lodging_rate_pct": 7.4,</a:t>
            </a:r>
          </a:p>
          <a:p xmlns:a="http://schemas.openxmlformats.org/drawingml/2006/main">
            <a:r>
              <a:t>      "lodging_searches": 6953,</a:t>
            </a:r>
          </a:p>
          <a:p xmlns:a="http://schemas.openxmlformats.org/drawingml/2006/main">
            <a:r>
              <a:t>      "navigation_searches": 142750,</a:t>
            </a:r>
          </a:p>
          <a:p xmlns:a="http://schemas.openxmlformats.org/drawingml/2006/main">
            <a:r>
              <a:t>      "visitor_yoy_percent": -0.2,</a:t>
            </a:r>
          </a:p>
          <a:p xmlns:a="http://schemas.openxmlformats.org/drawingml/2006/main">
            <a:r>
              <a:t>      "spending_yoy_percent": 0.35,</a:t>
            </a:r>
          </a:p>
          <a:p xmlns:a="http://schemas.openxmlformats.org/drawingml/2006/main">
            <a:r>
              <a:t>      "metric_changes_percent": {</a:t>
            </a:r>
          </a:p>
          <a:p xmlns:a="http://schemas.openxmlformats.org/drawingml/2006/main">
            <a:r>
              <a:t>        "stay_minutes": -4.98,</a:t>
            </a:r>
          </a:p>
          <a:p xmlns:a="http://schemas.openxmlformats.org/drawingml/2006/main">
            <a:r>
              <a:t>        "lodging_nights": 1.03,</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3756696,</a:t>
            </a:r>
          </a:p>
          <a:p xmlns:a="http://schemas.openxmlformats.org/drawingml/2006/main">
            <a:r>
              <a:t>      "previous_year_spending_krw": 80401710000,</a:t>
            </a:r>
          </a:p>
          <a:p xmlns:a="http://schemas.openxmlformats.org/drawingml/2006/main">
            <a:r>
              <a:t>      "previous_year_stay_minutes": 1211.0,</a:t>
            </a:r>
          </a:p>
          <a:p xmlns:a="http://schemas.openxmlformats.org/drawingml/2006/main">
            <a:r>
              <a:t>      "previous_year_lodging_nights": 2.9,</a:t>
            </a:r>
          </a:p>
          <a:p xmlns:a="http://schemas.openxmlformats.org/drawingml/2006/main">
            <a:r>
              <a:t>      "previous_year_lodging_rate_pct": 7.4,</a:t>
            </a:r>
          </a:p>
          <a:p xmlns:a="http://schemas.openxmlformats.org/drawingml/2006/main">
            <a:r>
              <a:t>      "previous_year_lodging_searches": 6953,</a:t>
            </a:r>
          </a:p>
          <a:p xmlns:a="http://schemas.openxmlformats.org/drawingml/2006/main">
            <a:r>
              <a:t>      "previous_year_navigation_searches": 142750</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3753359,</a:t>
            </a:r>
          </a:p>
          <a:p xmlns:a="http://schemas.openxmlformats.org/drawingml/2006/main">
            <a:r>
              <a:t>      "is_forecast": true,</a:t>
            </a:r>
          </a:p>
          <a:p xmlns:a="http://schemas.openxmlformats.org/drawingml/2006/main">
            <a:r>
              <a:t>      "spending_krw": 75157794156,</a:t>
            </a:r>
          </a:p>
          <a:p xmlns:a="http://schemas.openxmlformats.org/drawingml/2006/main">
            <a:r>
              <a:t>      "stay_minutes": 1127.96,</a:t>
            </a:r>
          </a:p>
          <a:p xmlns:a="http://schemas.openxmlformats.org/drawingml/2006/main">
            <a:r>
              <a:t>      "lodging_nights": 2.86,</a:t>
            </a:r>
          </a:p>
          <a:p xmlns:a="http://schemas.openxmlformats.org/drawingml/2006/main">
            <a:r>
              <a:t>      "lodging_rate_pct": 6.4,</a:t>
            </a:r>
          </a:p>
          <a:p xmlns:a="http://schemas.openxmlformats.org/drawingml/2006/main">
            <a:r>
              <a:t>      "lodging_searches": 6207,</a:t>
            </a:r>
          </a:p>
          <a:p xmlns:a="http://schemas.openxmlformats.org/drawingml/2006/main">
            <a:r>
              <a:t>      "navigation_searches": 127671,</a:t>
            </a:r>
          </a:p>
          <a:p xmlns:a="http://schemas.openxmlformats.org/drawingml/2006/main">
            <a:r>
              <a:t>      "visitor_yoy_percent": 0.83,</a:t>
            </a:r>
          </a:p>
          <a:p xmlns:a="http://schemas.openxmlformats.org/drawingml/2006/main">
            <a:r>
              <a:t>      "spending_yoy_percent": -1.74,</a:t>
            </a:r>
          </a:p>
          <a:p xmlns:a="http://schemas.openxmlformats.org/drawingml/2006/main">
            <a:r>
              <a:t>      "metric_changes_percent": {</a:t>
            </a:r>
          </a:p>
          <a:p xmlns:a="http://schemas.openxmlformats.org/drawingml/2006/main">
            <a:r>
              <a:t>        "stay_minutes": -0.88,</a:t>
            </a:r>
          </a:p>
          <a:p xmlns:a="http://schemas.openxmlformats.org/drawingml/2006/main">
            <a:r>
              <a:t>        "lodging_nights": -2.72,</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3722556,</a:t>
            </a:r>
          </a:p>
          <a:p xmlns:a="http://schemas.openxmlformats.org/drawingml/2006/main">
            <a:r>
              <a:t>      "previous_year_spending_krw": 76492493000,</a:t>
            </a:r>
          </a:p>
          <a:p xmlns:a="http://schemas.openxmlformats.org/drawingml/2006/main">
            <a:r>
              <a:t>      "previous_year_stay_minutes": 1138.0,</a:t>
            </a:r>
          </a:p>
          <a:p xmlns:a="http://schemas.openxmlformats.org/drawingml/2006/main">
            <a:r>
              <a:t>      "previous_year_lodging_nights": 2.94,</a:t>
            </a:r>
          </a:p>
          <a:p xmlns:a="http://schemas.openxmlformats.org/drawingml/2006/main">
            <a:r>
              <a:t>      "previous_year_lodging_rate_pct": 6.4,</a:t>
            </a:r>
          </a:p>
          <a:p xmlns:a="http://schemas.openxmlformats.org/drawingml/2006/main">
            <a:r>
              <a:t>      "previous_year_lodging_searches": 6207,</a:t>
            </a:r>
          </a:p>
          <a:p xmlns:a="http://schemas.openxmlformats.org/drawingml/2006/main">
            <a:r>
              <a:t>      "previous_year_navigation_searches": 127671</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3778392,</a:t>
            </a:r>
          </a:p>
          <a:p xmlns:a="http://schemas.openxmlformats.org/drawingml/2006/main">
            <a:r>
              <a:t>      "is_forecast": true,</a:t>
            </a:r>
          </a:p>
          <a:p xmlns:a="http://schemas.openxmlformats.org/drawingml/2006/main">
            <a:r>
              <a:t>      "spending_krw": 78739302878,</a:t>
            </a:r>
          </a:p>
          <a:p xmlns:a="http://schemas.openxmlformats.org/drawingml/2006/main">
            <a:r>
              <a:t>      "stay_minutes": 1189.22,</a:t>
            </a:r>
          </a:p>
          <a:p xmlns:a="http://schemas.openxmlformats.org/drawingml/2006/main">
            <a:r>
              <a:t>      "lodging_nights": 2.9,</a:t>
            </a:r>
          </a:p>
          <a:p xmlns:a="http://schemas.openxmlformats.org/drawingml/2006/main">
            <a:r>
              <a:t>      "lodging_rate_pct": 8.5,</a:t>
            </a:r>
          </a:p>
          <a:p xmlns:a="http://schemas.openxmlformats.org/drawingml/2006/main">
            <a:r>
              <a:t>      "lodging_searches": 9560,</a:t>
            </a:r>
          </a:p>
          <a:p xmlns:a="http://schemas.openxmlformats.org/drawingml/2006/main">
            <a:r>
              <a:t>      "navigation_searches": 211413,</a:t>
            </a:r>
          </a:p>
          <a:p xmlns:a="http://schemas.openxmlformats.org/drawingml/2006/main">
            <a:r>
              <a:t>      "visitor_yoy_percent": -3.74,</a:t>
            </a:r>
          </a:p>
          <a:p xmlns:a="http://schemas.openxmlformats.org/drawingml/2006/main">
            <a:r>
              <a:t>      "spending_yoy_percent": -6.27,</a:t>
            </a:r>
          </a:p>
          <a:p xmlns:a="http://schemas.openxmlformats.org/drawingml/2006/main">
            <a:r>
              <a:t>      "metric_changes_percent": {</a:t>
            </a:r>
          </a:p>
          <a:p xmlns:a="http://schemas.openxmlformats.org/drawingml/2006/main">
            <a:r>
              <a:t>        "stay_minutes": -3.55,</a:t>
            </a:r>
          </a:p>
          <a:p xmlns:a="http://schemas.openxmlformats.org/drawingml/2006/main">
            <a:r>
              <a:t>        "lodging_nights": 0.69,</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3925237,</a:t>
            </a:r>
          </a:p>
          <a:p xmlns:a="http://schemas.openxmlformats.org/drawingml/2006/main">
            <a:r>
              <a:t>      "previous_year_spending_krw": 84007025000,</a:t>
            </a:r>
          </a:p>
          <a:p xmlns:a="http://schemas.openxmlformats.org/drawingml/2006/main">
            <a:r>
              <a:t>      "previous_year_stay_minutes": 1233.0,</a:t>
            </a:r>
          </a:p>
          <a:p xmlns:a="http://schemas.openxmlformats.org/drawingml/2006/main">
            <a:r>
              <a:t>      "previous_year_lodging_nights": 2.88,</a:t>
            </a:r>
          </a:p>
          <a:p xmlns:a="http://schemas.openxmlformats.org/drawingml/2006/main">
            <a:r>
              <a:t>      "previous_year_lodging_rate_pct": 8.5,</a:t>
            </a:r>
          </a:p>
          <a:p xmlns:a="http://schemas.openxmlformats.org/drawingml/2006/main">
            <a:r>
              <a:t>      "previous_year_lodging_searches": 9560,</a:t>
            </a:r>
          </a:p>
          <a:p xmlns:a="http://schemas.openxmlformats.org/drawingml/2006/main">
            <a:r>
              <a:t>      "previous_year_navigation_searches": 211413</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3748084,</a:t>
            </a:r>
          </a:p>
          <a:p xmlns:a="http://schemas.openxmlformats.org/drawingml/2006/main">
            <a:r>
              <a:t>      "is_forecast": true,</a:t>
            </a:r>
          </a:p>
          <a:p xmlns:a="http://schemas.openxmlformats.org/drawingml/2006/main">
            <a:r>
              <a:t>      "spending_krw": 81104223698,</a:t>
            </a:r>
          </a:p>
          <a:p xmlns:a="http://schemas.openxmlformats.org/drawingml/2006/main">
            <a:r>
              <a:t>      "stay_minutes": 1157.37,</a:t>
            </a:r>
          </a:p>
          <a:p xmlns:a="http://schemas.openxmlformats.org/drawingml/2006/main">
            <a:r>
              <a:t>      "lodging_nights": 2.86,</a:t>
            </a:r>
          </a:p>
          <a:p xmlns:a="http://schemas.openxmlformats.org/drawingml/2006/main">
            <a:r>
              <a:t>      "lodging_rate_pct": 6.5,</a:t>
            </a:r>
          </a:p>
          <a:p xmlns:a="http://schemas.openxmlformats.org/drawingml/2006/main">
            <a:r>
              <a:t>      "lodging_searches": 6582,</a:t>
            </a:r>
          </a:p>
          <a:p xmlns:a="http://schemas.openxmlformats.org/drawingml/2006/main">
            <a:r>
              <a:t>      "navigation_searches": 141791,</a:t>
            </a:r>
          </a:p>
          <a:p xmlns:a="http://schemas.openxmlformats.org/drawingml/2006/main">
            <a:r>
              <a:t>      "visitor_yoy_percent": -1.44,</a:t>
            </a:r>
          </a:p>
          <a:p xmlns:a="http://schemas.openxmlformats.org/drawingml/2006/main">
            <a:r>
              <a:t>      "spending_yoy_percent": -1.77,</a:t>
            </a:r>
          </a:p>
          <a:p xmlns:a="http://schemas.openxmlformats.org/drawingml/2006/main">
            <a:r>
              <a:t>      "metric_changes_percent": {</a:t>
            </a:r>
          </a:p>
          <a:p xmlns:a="http://schemas.openxmlformats.org/drawingml/2006/main">
            <a:r>
              <a:t>        "stay_minutes": 4.74,</a:t>
            </a:r>
          </a:p>
          <a:p xmlns:a="http://schemas.openxmlformats.org/drawingml/2006/main">
            <a:r>
              <a:t>        "lodging_nights": -1.38,</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3802982,</a:t>
            </a:r>
          </a:p>
          <a:p xmlns:a="http://schemas.openxmlformats.org/drawingml/2006/main">
            <a:r>
              <a:t>      "previous_year_spending_krw": 82569585000,</a:t>
            </a:r>
          </a:p>
          <a:p xmlns:a="http://schemas.openxmlformats.org/drawingml/2006/main">
            <a:r>
              <a:t>      "previous_year_stay_minutes": 1105.0,</a:t>
            </a:r>
          </a:p>
          <a:p xmlns:a="http://schemas.openxmlformats.org/drawingml/2006/main">
            <a:r>
              <a:t>      "previous_year_lodging_nights": 2.9,</a:t>
            </a:r>
          </a:p>
          <a:p xmlns:a="http://schemas.openxmlformats.org/drawingml/2006/main">
            <a:r>
              <a:t>      "previous_year_lodging_rate_pct": 6.5,</a:t>
            </a:r>
          </a:p>
          <a:p xmlns:a="http://schemas.openxmlformats.org/drawingml/2006/main">
            <a:r>
              <a:t>      "previous_year_lodging_searches": 6582,</a:t>
            </a:r>
          </a:p>
          <a:p xmlns:a="http://schemas.openxmlformats.org/drawingml/2006/main">
            <a:r>
              <a:t>      "previous_year_navigation_searches": 141791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3741663,</a:t>
            </a:r>
          </a:p>
          <a:p xmlns:a="http://schemas.openxmlformats.org/drawingml/2006/main">
            <a:r>
              <a:t>      "is_forecast": true,</a:t>
            </a:r>
          </a:p>
          <a:p xmlns:a="http://schemas.openxmlformats.org/drawingml/2006/main">
            <a:r>
              <a:t>      "spending_krw": 83702422444,</a:t>
            </a:r>
          </a:p>
          <a:p xmlns:a="http://schemas.openxmlformats.org/drawingml/2006/main">
            <a:r>
              <a:t>      "stay_minutes": 1216.03,</a:t>
            </a:r>
          </a:p>
          <a:p xmlns:a="http://schemas.openxmlformats.org/drawingml/2006/main">
            <a:r>
              <a:t>      "lodging_nights": 2.93,</a:t>
            </a:r>
          </a:p>
          <a:p xmlns:a="http://schemas.openxmlformats.org/drawingml/2006/main">
            <a:r>
              <a:t>      "lodging_rate_pct": 7.4,</a:t>
            </a:r>
          </a:p>
          <a:p xmlns:a="http://schemas.openxmlformats.org/drawingml/2006/main">
            <a:r>
              <a:t>      "lodging_searches": 6099,</a:t>
            </a:r>
          </a:p>
          <a:p xmlns:a="http://schemas.openxmlformats.org/drawingml/2006/main">
            <a:r>
              <a:t>      "navigation_searches": 134392,</a:t>
            </a:r>
          </a:p>
          <a:p xmlns:a="http://schemas.openxmlformats.org/drawingml/2006/main">
            <a:r>
              <a:t>      "visitor_yoy_percent": -1.2,</a:t>
            </a:r>
          </a:p>
          <a:p xmlns:a="http://schemas.openxmlformats.org/drawingml/2006/main">
            <a:r>
              <a:t>      "spending_yoy_percent": -1.66,</a:t>
            </a:r>
          </a:p>
          <a:p xmlns:a="http://schemas.openxmlformats.org/drawingml/2006/main">
            <a:r>
              <a:t>      "metric_changes_percent": {</a:t>
            </a:r>
          </a:p>
          <a:p xmlns:a="http://schemas.openxmlformats.org/drawingml/2006/main">
            <a:r>
              <a:t>        "stay_minutes": 3.49,</a:t>
            </a:r>
          </a:p>
          <a:p xmlns:a="http://schemas.openxmlformats.org/drawingml/2006/main">
            <a:r>
              <a:t>        "lodging_nights": 2.81,</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3787225,</a:t>
            </a:r>
          </a:p>
          <a:p xmlns:a="http://schemas.openxmlformats.org/drawingml/2006/main">
            <a:r>
              <a:t>      "previous_year_spending_krw": 85114549000,</a:t>
            </a:r>
          </a:p>
          <a:p xmlns:a="http://schemas.openxmlformats.org/drawingml/2006/main">
            <a:r>
              <a:t>      "previous_year_stay_minutes": 1175.0,</a:t>
            </a:r>
          </a:p>
          <a:p xmlns:a="http://schemas.openxmlformats.org/drawingml/2006/main">
            <a:r>
              <a:t>      "previous_year_lodging_nights": 2.85,</a:t>
            </a:r>
          </a:p>
          <a:p xmlns:a="http://schemas.openxmlformats.org/drawingml/2006/main">
            <a:r>
              <a:t>      "previous_year_lodging_rate_pct": 7.4,</a:t>
            </a:r>
          </a:p>
          <a:p xmlns:a="http://schemas.openxmlformats.org/drawingml/2006/main">
            <a:r>
              <a:t>      "previous_year_lodging_searches": 6099,</a:t>
            </a:r>
          </a:p>
          <a:p xmlns:a="http://schemas.openxmlformats.org/drawingml/2006/main">
            <a:r>
              <a:t>      "previous_year_navigation_searches": 134392</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116276.26,</a:t>
            </a:r>
          </a:p>
          <a:p xmlns:a="http://schemas.openxmlformats.org/drawingml/2006/main">
            <a:r>
              <a:t>        "recursive_mae": {</a:t>
            </a:r>
          </a:p>
          <a:p xmlns:a="http://schemas.openxmlformats.org/drawingml/2006/main">
            <a:r>
              <a:t>          "1": {</a:t>
            </a:r>
          </a:p>
          <a:p xmlns:a="http://schemas.openxmlformats.org/drawingml/2006/main">
            <a:r>
              <a:t>            "baseline": 107629,</a:t>
            </a:r>
          </a:p>
          <a:p xmlns:a="http://schemas.openxmlformats.org/drawingml/2006/main">
            <a:r>
              <a:t>            "selected": 144586,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97982,</a:t>
            </a:r>
          </a:p>
          <a:p xmlns:a="http://schemas.openxmlformats.org/drawingml/2006/main">
            <a:r>
              <a:t>            "selected": 42697.5,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117576.5,</a:t>
            </a:r>
          </a:p>
          <a:p xmlns:a="http://schemas.openxmlformats.org/drawingml/2006/main">
            <a:r>
              <a:t>            "selected": 61978,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112602.75,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8497417178.46,</a:t>
            </a:r>
          </a:p>
          <a:p xmlns:a="http://schemas.openxmlformats.org/drawingml/2006/main">
            <a:r>
              <a:t>        "recursive_mae": {</a:t>
            </a:r>
          </a:p>
          <a:p xmlns:a="http://schemas.openxmlformats.org/drawingml/2006/main">
            <a:r>
              <a:t>          "1": {</a:t>
            </a:r>
          </a:p>
          <a:p xmlns:a="http://schemas.openxmlformats.org/drawingml/2006/main">
            <a:r>
              <a:t>            "baseline": 8544467500,</a:t>
            </a:r>
          </a:p>
          <a:p xmlns:a="http://schemas.openxmlformats.org/drawingml/2006/main">
            <a:r>
              <a:t>            "selected": 9094829451,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7477646000,</a:t>
            </a:r>
          </a:p>
          <a:p xmlns:a="http://schemas.openxmlformats.org/drawingml/2006/main">
            <a:r>
              <a:t>            "selected": 11843172152.5,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3820910500,</a:t>
            </a:r>
          </a:p>
          <a:p xmlns:a="http://schemas.openxmlformats.org/drawingml/2006/main">
            <a:r>
              <a:t>            "selected": 11502063502,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6182689000,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251.99,</a:t>
            </a:r>
          </a:p>
          <a:p xmlns:a="http://schemas.openxmlformats.org/drawingml/2006/main">
            <a:r>
              <a:t>        "recursive_mae": {</a:t>
            </a:r>
          </a:p>
          <a:p xmlns:a="http://schemas.openxmlformats.org/drawingml/2006/main">
            <a:r>
              <a:t>          "1": {</a:t>
            </a:r>
          </a:p>
          <a:p xmlns:a="http://schemas.openxmlformats.org/drawingml/2006/main">
            <a:r>
              <a:t>            "baseline": 54.5,</a:t>
            </a:r>
          </a:p>
          <a:p xmlns:a="http://schemas.openxmlformats.org/drawingml/2006/main">
            <a:r>
              <a:t>            "selected": 117.74,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205.5,</a:t>
            </a:r>
          </a:p>
          <a:p xmlns:a="http://schemas.openxmlformats.org/drawingml/2006/main">
            <a:r>
              <a:t>            "selected": 187.84,</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208.5,</a:t>
            </a:r>
          </a:p>
          <a:p xmlns:a="http://schemas.openxmlformats.org/drawingml/2006/main">
            <a:r>
              <a:t>            "selected": 234.17,</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131.5,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"test_mae": 0.08,</a:t>
            </a:r>
          </a:p>
          <a:p xmlns:a="http://schemas.openxmlformats.org/drawingml/2006/main">
            <a:r>
              <a:t>        "recursive_mae": {</a:t>
            </a:r>
          </a:p>
          <a:p xmlns:a="http://schemas.openxmlformats.org/drawingml/2006/main">
            <a:r>
              <a:t>          "1": {</a:t>
            </a:r>
          </a:p>
          <a:p xmlns:a="http://schemas.openxmlformats.org/drawingml/2006/main">
            <a:r>
              <a:t>            "baseline": 0.07,</a:t>
            </a:r>
          </a:p>
          <a:p xmlns:a="http://schemas.openxmlformats.org/drawingml/2006/main">
            <a:r>
              <a:t>            "selected": 0.04,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0.09,</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0.1,</a:t>
            </a:r>
          </a:p>
          <a:p xmlns:a="http://schemas.openxmlformats.org/drawingml/2006/main">
            <a:r>
              <a:t>            "selected": 0.07,</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0.09,</a:t>
            </a:r>
          </a:p>
          <a:p xmlns:a="http://schemas.openxmlformats.org/drawingml/2006/main">
            <a:r>
              <a:t>        "model_reliability": "limited_backtest_support",</a:t>
            </a:r>
          </a:p>
          <a:p xmlns:a="http://schemas.openxmlformats.org/drawingml/2006/main">
            <a:r>
              <a:t>        "beats_baseline_on_test": true,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0.27,</a:t>
            </a:r>
          </a:p>
          <a:p xmlns:a="http://schemas.openxmlformats.org/drawingml/2006/main">
            <a:r>
              <a:t>        "recursive_mae": {</a:t>
            </a:r>
          </a:p>
          <a:p xmlns:a="http://schemas.openxmlformats.org/drawingml/2006/main">
            <a:r>
              <a:t>          "1": {</a:t>
            </a:r>
          </a:p>
          <a:p xmlns:a="http://schemas.openxmlformats.org/drawingml/2006/main">
            <a:r>
              <a:t>            "baseline": 0.35,</a:t>
            </a:r>
          </a:p>
          <a:p xmlns:a="http://schemas.openxmlformats.org/drawingml/2006/main">
            <a:r>
              <a:t>            "selected": 0.35,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a:t>
            </a:r>
          </a:p>
          <a:p xmlns:a="http://schemas.openxmlformats.org/drawingml/2006/main">
            <a:r>
              <a:t>            "selected": 0.1,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0.27,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414.25,</a:t>
            </a:r>
          </a:p>
          <a:p xmlns:a="http://schemas.openxmlformats.org/drawingml/2006/main">
            <a:r>
              <a:t>        "recursive_mae": {</a:t>
            </a:r>
          </a:p>
          <a:p xmlns:a="http://schemas.openxmlformats.org/drawingml/2006/main">
            <a:r>
              <a:t>          "1": {</a:t>
            </a:r>
          </a:p>
          <a:p xmlns:a="http://schemas.openxmlformats.org/drawingml/2006/main">
            <a:r>
              <a:t>            "baseline": 527,</a:t>
            </a:r>
          </a:p>
          <a:p xmlns:a="http://schemas.openxmlformats.org/drawingml/2006/main">
            <a:r>
              <a:t>            "selected": 527,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252.5,</a:t>
            </a:r>
          </a:p>
          <a:p xmlns:a="http://schemas.openxmlformats.org/drawingml/2006/main">
            <a:r>
              <a:t>            "selected": 252.5,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301.5,</a:t>
            </a:r>
          </a:p>
          <a:p xmlns:a="http://schemas.openxmlformats.org/drawingml/2006/main">
            <a:r>
              <a:t>            "selected": 301.5,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414.25,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6613.5,</a:t>
            </a:r>
          </a:p>
          <a:p xmlns:a="http://schemas.openxmlformats.org/drawingml/2006/main">
            <a:r>
              <a:t>        "recursive_mae": {</a:t>
            </a:r>
          </a:p>
          <a:p xmlns:a="http://schemas.openxmlformats.org/drawingml/2006/main">
            <a:r>
              <a:t>          "1": {</a:t>
            </a:r>
          </a:p>
          <a:p xmlns:a="http://schemas.openxmlformats.org/drawingml/2006/main">
            <a:r>
              <a:t>            "baseline": 7157.5,</a:t>
            </a:r>
          </a:p>
          <a:p xmlns:a="http://schemas.openxmlformats.org/drawingml/2006/main">
            <a:r>
              <a:t>            "selected": 7157.5,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2837.5,</a:t>
            </a:r>
          </a:p>
          <a:p xmlns:a="http://schemas.openxmlformats.org/drawingml/2006/main">
            <a:r>
              <a:t>            "selected": 2837.5,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6069.5,</a:t>
            </a:r>
          </a:p>
          <a:p xmlns:a="http://schemas.openxmlformats.org/drawingml/2006/main">
            <a:r>
              <a:t>            "selected": 6069.5,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6613.5,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dataset:28237:1 | 한국관광 데이터랩 · 인천광역시 부평구 순 방문자 수 및 숙박 비율 (이동통신 기반 외지인) | https://datalab.visitkorea.or.kr/</a:t>
            </a:r>
          </a:p>
          <a:p>
            <a:r>
              <a:t>dataset:28237:2 | 한국관광 데이터랩 · 인천광역시 부평구 월간 순 방문자 수 (이동통신 기반 외지인) | https://datalab.visitkorea.or.kr/</a:t>
            </a:r>
          </a:p>
          <a:p>
            <a:r>
              <a:t>dataset:28237:3 | 한국관광 데이터랩 · 인천광역시 부평구 관광소비 추이_외지인 | https://datalab.visitkorea.or.kr/</a:t>
            </a:r>
          </a:p>
          <a:p>
            <a:r>
              <a:t>dataset:28237:4 | 한국관광 데이터랩 · 인천광역시 부평구 숙박방문자 비율 추이 (이동통신 기반 외지인) | https://datalab.visitkorea.or.kr/</a:t>
            </a:r>
          </a:p>
          <a:p>
            <a:r>
              <a:t>dataset:28237:5 | 한국관광 데이터랩 · 인천광역시 부평구 평균 숙박일 (이동통신 기반 외지인) | https://datalab.visitkorea.or.kr/</a:t>
            </a:r>
          </a:p>
          <a:p>
            <a:r>
              <a:t>dataset:28237:6 | 한국관광 데이터랩 · 인천광역시 부평구 내비게이션 목적지 유형별 검색량 | https://datalab.visitkorea.or.kr/</a:t>
            </a:r>
          </a:p>
          <a:p>
            <a:r>
              <a:t>dataset:28237:7 | 한국관광 데이터랩 · 인천광역시 부평구 SNS 언급량 | https://datalab.visitkorea.or.kr/</a:t>
            </a:r>
          </a:p>
          <a:p>
            <a:r>
              <a:t>datalab:088dce68db8c:f9e07528e9cc | 관광소비/2025_01_12.zip | https://datalab.visitkorea.or.kr/</a:t>
            </a:r>
          </a:p>
          <a:p>
            <a:r>
              <a:t>datalab:12893561bbea:153ed3aa5a6e | 숙박_체류시간/2026_01_06.zip | https://datalab.visitkorea.or.kr/</a:t>
            </a:r>
          </a:p>
          <a:p>
            <a:r>
              <a:t>datalab:328e6d50da04:877452ad2b59 | 방문자/2025_01_12.zip | https://datalab.visitkorea.or.kr/</a:t>
            </a:r>
          </a:p>
          <a:p>
            <a:r>
              <a:t>datalab:5104039977f5:37dc3b7e64b5 | 방문자/2026_01_06.zip | https://datalab.visitkorea.or.kr/</a:t>
            </a:r>
          </a:p>
          <a:p>
            <a:r>
              <a:t>datalab:b7bac265962d:97cf4d1db102 | 숙박_체류시간/2025_01_12.zip | https://datalab.visitkorea.or.kr/</a:t>
            </a:r>
          </a:p>
          <a:p>
            <a:r>
              <a:t>datalab:bd21758c8a88:9597865e62ef | 관광소비/2026_01_06.zip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regional-status:0b32b3d6db4d:a1a67792e3b1 | 한국관광 데이터랩 지역별 관광 현황 · 인천광역시 부평구 · 지역집중률 | https://datalab.visitkorea.or.kr/</a:t>
            </a:r>
          </a:p>
          <a:p>
            <a:r>
              <a:t>regional-status:98eebe8613d3:723745281038 | 한국관광 데이터랩 지역별 관광 현황 · 인천광역시 부평구 · 유입유출 | https://datalab.visitkorea.or.kr/</a:t>
            </a:r>
          </a:p>
          <a:p>
            <a:r>
              <a:t>regional-status:b12ff2da0892:a553d7015259 | 한국관광 데이터랩 지역별 관광 현황 · 인천광역시 부평구 · 인기관광지 | https://datalab.visitkorea.or.kr/</a:t>
            </a:r>
          </a:p>
          <a:p>
            <a:r>
              <a:t>ml:28237:regional-demand-v3.1:202606 | 지역 관광수요 ML 전망 · 공식 관측값 아님 | URL 미기록</a:t>
            </a:r>
          </a:p>
          <a:p>
            <a:r>
              <a:t>tour-api:1619098 | 굴포천 생태하천 | https://apis.data.go.kr/B551011/KorService2</a:t>
            </a:r>
          </a:p>
          <a:p>
            <a:r>
              <a:t>tour-api:2875411 | 대왕김밥 | https://apis.data.go.kr/B551011/KorService2</a:t>
            </a:r>
          </a:p>
          <a:p>
            <a:r>
              <a:t>tour-api:2768148 | 돈타래게장정식 | https://apis.data.go.kr/B551011/KorService2</a:t>
            </a:r>
          </a:p>
          <a:p>
            <a:r>
              <a:t>tour-api:2873461 | 면박사가야밀면 | https://apis.data.go.kr/B551011/KorService2</a:t>
            </a:r>
          </a:p>
          <a:p>
            <a:r>
              <a:t>tour-api:2833868 | 모녀떡볶이 부평남부역점 | https://apis.data.go.kr/B551011/KorService2</a:t>
            </a:r>
          </a:p>
          <a:p>
            <a:r>
              <a:t>tour-api:2768156 | 백운공원 | https://apis.data.go.kr/B551011/KorService2</a:t>
            </a:r>
          </a:p>
          <a:p>
            <a:r>
              <a:t>tour-api:2875455 | 별미칡냉면원조 | https://apis.data.go.kr/B551011/KorService2</a:t>
            </a:r>
          </a:p>
          <a:p>
            <a:r>
              <a:t>tour-api:2767563 | 부영공원 | https://apis.data.go.kr/B551011/KorService2</a:t>
            </a:r>
          </a:p>
          <a:p>
            <a:r>
              <a:t>tour-api:3456754 | 부평 굴포누리 기후변화체험관 | https://apis.data.go.kr/B551011/KorService2</a:t>
            </a:r>
          </a:p>
          <a:p>
            <a:r>
              <a:t>tour-api:1025514 | 부평 종합시장 | https://apis.data.go.kr/B551011/KorService2</a:t>
            </a:r>
          </a:p>
          <a:p>
            <a:r>
              <a:t>tour-api:749211 | 부평 해물탕거리 | https://apis.data.go.kr/B551011/KorService2</a:t>
            </a:r>
          </a:p>
          <a:p>
            <a:r>
              <a:t>tour-api:2021033 | 부평모두몰(부평지하도상가) | https://apis.data.go.kr/B551011/KorService2</a:t>
            </a:r>
          </a:p>
          <a:p>
            <a:r>
              <a:t>tour-api:2768142 | 부평시장 | https://apis.data.go.kr/B551011/KorService2</a:t>
            </a:r>
          </a:p>
          <a:p>
            <a:r>
              <a:t>tour-api:3457385 | 부평아트센터 | https://apis.data.go.kr/B551011/KorService2</a:t>
            </a:r>
          </a:p>
          <a:p>
            <a:r>
              <a:t>tour-api:2768190 | 부평역북광장 | https://apis.data.go.kr/B551011/KorService2</a:t>
            </a:r>
          </a:p>
          <a:p>
            <a:r>
              <a:t>tour-api:2875488 | 부흥기사식당 | https://apis.data.go.kr/B551011/KorService2</a:t>
            </a:r>
          </a:p>
          <a:p>
            <a:r>
              <a:t>tour-api:2768180 | 삼산건강공원 | https://apis.data.go.kr/B551011/KorService2</a:t>
            </a:r>
          </a:p>
          <a:p>
            <a:r>
              <a:t>tour-api:126568 | 신트리공원(인천) | https://apis.data.go.kr/B551011/KorService2</a:t>
            </a:r>
          </a:p>
          <a:p>
            <a:r>
              <a:t>tour-api:2835948 | 양평신내서울해장국 부평직영점 | https://apis.data.go.kr/B551011/KorService2</a:t>
            </a:r>
          </a:p>
          <a:p>
            <a:r>
              <a:t>tour-api:2765473 | 열우물전통시장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a:r>
              <a:t>case:c621f7b6c81807 | 서울특별시 ‘서울의 밤이 더 길어진다—서울달 금·토 심야 운영’ 및 운영 확대 자료 | https://www.seoul.go.kr/news/news_report.do?nttNo=462801</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인천광역시 부평구 순 방문자 수 및 숙박 비율 (이동통신 기반 외지인)",</a:t>
            </a:r>
          </a:p>
          <a:p>
            <a:r>
              <a:t>      "summary": "월간 순 방문자 수: 3,514,485명 (관측 기준월: 2026-06)",</a:t>
            </a:r>
          </a:p>
          <a:p>
            <a:r>
              <a:t>      "source_id": "dataset:28237:1",</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월간 순 방문자 수 (이동통신 기반 외지인)",</a:t>
            </a:r>
          </a:p>
          <a:p>
            <a:r>
              <a:t>      "summary": "전년동월 외지인 방문자 증감률: -2.2% (관측 기준월: 2026-06)",</a:t>
            </a:r>
          </a:p>
          <a:p>
            <a:r>
              <a:t>      "source_id": "dataset:28237:2",</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관광소비 추이_외지인",</a:t>
            </a:r>
          </a:p>
          <a:p>
            <a:r>
              <a:t>      "summary": "월간 외지인 관광소비 총액: 77,138,204,000원 (관측 기준월: 2026-06)",</a:t>
            </a:r>
          </a:p>
          <a:p>
            <a:r>
              <a:t>      "source_id": "dataset:28237:3",</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숙박방문자 비율 추이 (이동통신 기반 외지인)",</a:t>
            </a:r>
          </a:p>
          <a:p>
            <a:r>
              <a:t>      "summary": "외지인 숙박 방문 비율: 6.6% (관측 기준월: 2026-06)",</a:t>
            </a:r>
          </a:p>
          <a:p>
            <a:r>
              <a:t>      "source_id": "dataset:28237:4",</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평균 숙박일 (이동통신 기반 외지인)",</a:t>
            </a:r>
          </a:p>
          <a:p>
            <a:r>
              <a:t>      "summary": "외지인 평균 숙박일수: 2.90일 (관측 기준월: 2026-06)",</a:t>
            </a:r>
          </a:p>
          <a:p>
            <a:r>
              <a:t>      "source_id": "dataset:28237:5",</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내비게이션 목적지 유형별 검색량",</a:t>
            </a:r>
          </a:p>
          <a:p>
            <a:r>
              <a:t>      "summary": "내비게이션 목적지 검색량: 121,606건 (관측 기준월: 2026-06)",</a:t>
            </a:r>
          </a:p>
          <a:p>
            <a:r>
              <a:t>      "source_id": "dataset:28237:6",</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SNS 언급량",</a:t>
            </a:r>
          </a:p>
          <a:p>
            <a:r>
              <a:t>      "summary": "SNS 언급량: 44,932건 (관측 기준월: 2026-06)",</a:t>
            </a:r>
          </a:p>
          <a:p>
            <a:r>
              <a:t>      "source_id": "dataset:28237:7",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인천광역시_부평구/관광소비/2025_01_12.zip",</a:t>
            </a:r>
          </a:p>
          <a:p>
            <a:r>
              <a:t>      "summary": "전국 비교 기준 기간: 2025-07 ~ 2026-06",</a:t>
            </a:r>
          </a:p>
          <a:p>
            <a:r>
              <a:t>      "source_id": "datalab:088dce68db8c:f9e07528e9cc",</a:t>
            </a:r>
          </a:p>
          <a:p>
            <a:r>
              <a:t>      "source_url": "https://datalab.visitkorea.or.kr/",</a:t>
            </a:r>
          </a:p>
          <a:p>
            <a:r>
              <a:t>      "source_type": "nationwide_dataset",</a:t>
            </a:r>
          </a:p>
          <a:p>
            <a:r>
              <a:t>      "observation_period": "2025-07 ~ 2026-06",</a:t>
            </a:r>
          </a:p>
          <a:p>
            <a:r>
              <a:t>      "published_or_updated_at": "2024-07 ~ 2025-06",</a:t>
            </a:r>
          </a:p>
          <a:p>
            <a:r>
              <a:t>      "source_file_name": "인천광역시_부평구/관광소비/2025_01_12.zip"</a:t>
            </a:r>
          </a:p>
          <a:p>
            <a:r>
              <a:t>    },</a:t>
            </a:r>
          </a:p>
          <a:p>
            <a:r>
              <a:t>    {</a:t>
            </a:r>
          </a:p>
          <a:p>
            <a:r>
              <a:t>      "title": "한국관광 데이터랩 공식 다운로드 · 인천광역시_부평구/숙박_체류시간/2026_01_06.zip",</a:t>
            </a:r>
          </a:p>
          <a:p>
            <a:r>
              <a:t>      "summary": "전국 비교 기준 기간: 2025-07 ~ 2026-06",</a:t>
            </a:r>
          </a:p>
          <a:p>
            <a:r>
              <a:t>      "source_id": "datalab:12893561bbea:153ed3aa5a6e",</a:t>
            </a:r>
          </a:p>
          <a:p>
            <a:r>
              <a:t>      "source_url": "https://datalab.visitkorea.or.kr/",</a:t>
            </a:r>
          </a:p>
          <a:p>
            <a:r>
              <a:t>      "source_type": "nationwide_dataset",</a:t>
            </a:r>
          </a:p>
          <a:p>
            <a:r>
              <a:t>      "observation_period": "2025-07 ~ 2026-06",</a:t>
            </a:r>
          </a:p>
          <a:p>
            <a:r>
              <a:t>      "published_or_updated_at": "2024-07 ~ 2025-06",</a:t>
            </a:r>
          </a:p>
          <a:p>
            <a:r>
              <a:t>      "source_file_name": "인천광역시_부평구/숙박_체류시간/2026_01_06.zip"</a:t>
            </a:r>
          </a:p>
          <a:p>
            <a:r>
              <a:t>    },</a:t>
            </a:r>
          </a:p>
          <a:p>
            <a:r>
              <a:t>    {</a:t>
            </a:r>
          </a:p>
          <a:p>
            <a:r>
              <a:t>      "title": "한국관광 데이터랩 공식 다운로드 · 인천광역시_부평구/방문자/2025_01_12.zip",</a:t>
            </a:r>
          </a:p>
          <a:p>
            <a:r>
              <a:t>      "summary": "전국 비교 기준 기간: 2025-07 ~ 2026-06",</a:t>
            </a:r>
          </a:p>
          <a:p>
            <a:r>
              <a:t>      "source_id": "datalab:328e6d50da04:877452ad2b59",</a:t>
            </a:r>
          </a:p>
          <a:p>
            <a:r>
              <a:t>      "source_url": "https://datalab.visitkorea.or.kr/",</a:t>
            </a:r>
          </a:p>
          <a:p>
            <a:r>
              <a:t>      "source_type": "nationwide_dataset",</a:t>
            </a:r>
          </a:p>
          <a:p>
            <a:r>
              <a:t>      "observation_period": "2025-07 ~ 2026-06",</a:t>
            </a:r>
          </a:p>
          <a:p>
            <a:r>
              <a:t>      "published_or_updated_at": "2024-07 ~ 2025-06",</a:t>
            </a:r>
          </a:p>
          <a:p>
            <a:r>
              <a:t>      "source_file_name": "인천광역시_부평구/방문자/2025_01_12.zip"</a:t>
            </a:r>
          </a:p>
          <a:p>
            <a:r>
              <a:t>    },</a:t>
            </a:r>
          </a:p>
          <a:p>
            <a:r>
              <a:t>    {</a:t>
            </a:r>
          </a:p>
          <a:p>
            <a:r>
              <a:t>      "title": "한국관광 데이터랩 공식 다운로드 · 인천광역시_부평구/방문자/2026_01_06.zip",</a:t>
            </a:r>
          </a:p>
          <a:p>
            <a:r>
              <a:t>      "summary": "전국 비교 기준 기간: 2025-07 ~ 2026-06",</a:t>
            </a:r>
          </a:p>
          <a:p>
            <a:r>
              <a:t>      "source_id": "datalab:5104039977f5:37dc3b7e64b5",</a:t>
            </a:r>
          </a:p>
          <a:p>
            <a:r>
              <a:t>      "source_url": "https://datalab.visitkorea.or.kr/",</a:t>
            </a:r>
          </a:p>
          <a:p>
            <a:r>
              <a:t>      "source_type": "nationwide_dataset",</a:t>
            </a:r>
          </a:p>
          <a:p>
            <a:r>
              <a:t>      "observation_period": "2025-07 ~ 2026-06",</a:t>
            </a:r>
          </a:p>
          <a:p>
            <a:r>
              <a:t>      "published_or_updated_at": "2024-07 ~ 2025-06",</a:t>
            </a:r>
          </a:p>
          <a:p>
            <a:r>
              <a:t>      "source_file_name": "인천광역시_부평구/방문자/2026_01_06.zip"</a:t>
            </a:r>
          </a:p>
          <a:p>
            <a:r>
              <a:t>    },</a:t>
            </a:r>
          </a:p>
          <a:p>
            <a:r>
              <a:t>    {</a:t>
            </a:r>
          </a:p>
          <a:p>
            <a:r>
              <a:t>      "title": "한국관광 데이터랩 공식 다운로드 · 인천광역시_부평구/숙박_체류시간/2025_01_12.zip",</a:t>
            </a:r>
          </a:p>
          <a:p>
            <a:r>
              <a:t>      "summary": "전국 비교 기준 기간: 2025-07 ~ 2026-06",</a:t>
            </a:r>
          </a:p>
          <a:p>
            <a:r>
              <a:t>      "source_id": "datalab:b7bac265962d:97cf4d1db102",</a:t>
            </a:r>
          </a:p>
          <a:p>
            <a:r>
              <a:t>      "source_url": "https://datalab.visitkorea.or.kr/",</a:t>
            </a:r>
          </a:p>
          <a:p>
            <a:r>
              <a:t>      "source_type": "nationwide_dataset",</a:t>
            </a:r>
          </a:p>
          <a:p>
            <a:r>
              <a:t>      "observation_period": "2025-07 ~ 2026-06",</a:t>
            </a:r>
          </a:p>
          <a:p>
            <a:r>
              <a:t>      "published_or_updated_at": "2024-07 ~ 2025-06",</a:t>
            </a:r>
          </a:p>
          <a:p>
            <a:r>
              <a:t>      "source_file_name": "인천광역시_부평구/숙박_체류시간/2025_01_12.zip"</a:t>
            </a:r>
          </a:p>
          <a:p>
            <a:r>
              <a:t>    },</a:t>
            </a:r>
          </a:p>
          <a:p>
            <a:r>
              <a:t>    {</a:t>
            </a:r>
          </a:p>
          <a:p>
            <a:r>
              <a:t>      "title": "한국관광 데이터랩 공식 다운로드 · 인천광역시_부평구/관광소비/2026_01_06.zip",</a:t>
            </a:r>
          </a:p>
          <a:p>
            <a:r>
              <a:t>      "summary": "전국 비교 기준 기간: 2025-07 ~ 2026-06",</a:t>
            </a:r>
          </a:p>
          <a:p>
            <a:r>
              <a:t>      "source_id": "datalab:bd21758c8a88:9597865e62ef",</a:t>
            </a:r>
          </a:p>
          <a:p>
            <a:r>
              <a:t>      "source_url": "https://datalab.visitkorea.or.kr/",</a:t>
            </a:r>
          </a:p>
          <a:p>
            <a:r>
              <a:t>      "source_type": "nationwide_dataset",</a:t>
            </a:r>
          </a:p>
          <a:p>
            <a:r>
              <a:t>      "observation_period": "2025-07 ~ 2026-06",</a:t>
            </a:r>
          </a:p>
          <a:p>
            <a:r>
              <a:t>      "published_or_updated_at": "2024-07 ~ 2025-06",</a:t>
            </a:r>
          </a:p>
          <a:p>
            <a:r>
              <a:t>      "source_file_name": "인천광역시_부평구/관광소비/2026_01_06.zip"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인천광역시 부평구 · 지역집중률",</a:t>
            </a:r>
          </a:p>
          <a:p>
            <a:r>
              <a:t>      "summary": "관측 기간: 2025-07 ~ 2026-06. 유입·유출·인기장소 또는 30일 집중 운영 신호.",</a:t>
            </a:r>
          </a:p>
          <a:p>
            <a:r>
              <a:t>      "source_id": "regional-status:0b32b3d6db4d:a1a67792e3b1",</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인천광역시 부평구 · 유입유출",</a:t>
            </a:r>
          </a:p>
          <a:p>
            <a:r>
              <a:t>      "summary": "관측 기간: 2025-07 ~ 2026-06. 유입·유출·인기장소 또는 30일 집중 운영 신호.",</a:t>
            </a:r>
          </a:p>
          <a:p>
            <a:r>
              <a:t>      "source_id": "regional-status:98eebe8613d3:723745281038",</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인천광역시 부평구 · 인기관광지",</a:t>
            </a:r>
          </a:p>
          <a:p>
            <a:r>
              <a:t>      "summary": "관측 기간: 2025-07 ~ 2026-06. 유입·유출·인기장소 또는 30일 집중 운영 신호.",</a:t>
            </a:r>
          </a:p>
          <a:p>
            <a:r>
              <a:t>      "source_id": "regional-status:b12ff2da0892:a553d7015259",</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"ml:28237:regional-demand-v3.1:202606",</a:t>
            </a:r>
          </a:p>
          <a:p>
            <a:r>
              <a:t>      "source_url": "",</a:t>
            </a:r>
          </a:p>
          <a:p>
            <a:r>
              <a:t>      "source_type": "model_forecast",</a:t>
            </a:r>
          </a:p>
          <a:p>
            <a:r>
              <a:t>      "model_version": "regional-demand-v3.1",</a:t>
            </a:r>
          </a:p>
          <a:p>
            <a:r>
              <a:t>      "data_fingerprint": "06231bffd046b8ec0625c675881feb25e51324ad265d5b5ecf0dc8d247440a7d"</a:t>
            </a:r>
          </a:p>
          <a:p>
            <a:r>
              <a:t>    },</a:t>
            </a:r>
          </a:p>
          <a:p>
            <a:r>
              <a:t>    {</a:t>
            </a:r>
          </a:p>
          <a:p>
            <a:r>
              <a:t>      "title": "굴포천 생태하천",</a:t>
            </a:r>
          </a:p>
          <a:p>
            <a:r>
              <a:t>      "address": "인천광역시 부평구 굴포로 141 (삼산동)",</a:t>
            </a:r>
          </a:p>
          <a:p>
            <a:r>
              <a:t>      "summary": "한국관광공사 국문관광정보 API가 반환한 선택 지역 관광자원",</a:t>
            </a:r>
          </a:p>
          <a:p>
            <a:r>
              <a:t>      "image_url": "http://tong.visitkorea.or.kr/cms/resource/60/3523760_image2_1.jpg",</a:t>
            </a:r>
          </a:p>
          <a:p>
            <a:r>
              <a:t>      "source_id": "tour-api:1619098",</a:t>
            </a:r>
          </a:p>
          <a:p>
            <a:r>
              <a:t>      "content_id": "1619098",</a:t>
            </a:r>
          </a:p>
          <a:p>
            <a:r>
              <a:t>      "source_url": "https://apis.data.go.kr/B551011/KorService2",</a:t>
            </a:r>
          </a:p>
          <a:p>
            <a:r>
              <a:t>      "source_type": "open_api",</a:t>
            </a:r>
          </a:p>
          <a:p>
            <a:r>
              <a:t>      "content_type_id": "12"</a:t>
            </a:r>
          </a:p>
          <a:p>
            <a:r>
              <a:t>    },</a:t>
            </a:r>
          </a:p>
          <a:p>
            <a:r>
              <a:t>    {</a:t>
            </a:r>
          </a:p>
          <a:p>
            <a:r>
              <a:t>      "title": "대왕김밥",</a:t>
            </a:r>
          </a:p>
          <a:p>
            <a:r>
              <a:t>      "address": "인천광역시 부평구 부평문화로 41 (부평동)",</a:t>
            </a:r>
          </a:p>
          <a:p>
            <a:r>
              <a:t>      "summary": "한국관광공사 국문관광정보 API가 반환한 선택 지역 관광자원",</a:t>
            </a:r>
          </a:p>
          <a:p>
            <a:r>
              <a:t>      "image_url": "http://tong.visitkorea.or.kr/cms/resource/03/2875403_image2_1.jpg",</a:t>
            </a:r>
          </a:p>
          <a:p>
            <a:r>
              <a:t>      "source_id": "tour-api:2875411",</a:t>
            </a:r>
          </a:p>
          <a:p>
            <a:r>
              <a:t>      "content_id": "2875411",</a:t>
            </a:r>
          </a:p>
          <a:p>
            <a:r>
              <a:t>      "source_url": "https://apis.data.go.kr/B551011/KorService2",</a:t>
            </a:r>
          </a:p>
          <a:p>
            <a:r>
              <a:t>      "source_type": "open_api",</a:t>
            </a:r>
          </a:p>
          <a:p>
            <a:r>
              <a:t>      "content_type_id": "39"</a:t>
            </a:r>
          </a:p>
          <a:p>
            <a:r>
              <a:t>    },</a:t>
            </a:r>
          </a:p>
          <a:p>
            <a:r>
              <a:t>    {</a:t>
            </a:r>
          </a:p>
          <a:p>
            <a:r>
              <a:t>      "title": "돈타래게장정식",</a:t>
            </a:r>
          </a:p>
          <a:p>
            <a:r>
              <a:t>      "address": "인천광역시 부평구 열우물로 59",</a:t>
            </a:r>
          </a:p>
          <a:p>
            <a:r>
              <a:t>      "summary": "한국관광공사 국문관광정보 API가 반환한 선택 지역 관광자원",</a:t>
            </a:r>
          </a:p>
          <a:p>
            <a:r>
              <a:t>      "image_url": "http://tong.visitkorea.or.kr/cms/resource/35/2790235_image2_1.jpg",</a:t>
            </a:r>
          </a:p>
          <a:p>
            <a:r>
              <a:t>      "source_id": "tour-api:2768148",</a:t>
            </a:r>
          </a:p>
          <a:p>
            <a:r>
              <a:t>      "content_id": "2768148",</a:t>
            </a:r>
          </a:p>
          <a:p>
            <a:r>
              <a:t>      "source_url": "https://apis.data.go.kr/B551011/KorService2",</a:t>
            </a:r>
          </a:p>
          <a:p>
            <a:r>
              <a:t>      "source_type": "open_api",</a:t>
            </a:r>
          </a:p>
          <a:p>
            <a:r>
              <a:t>      "content_type_id": "39"</a:t>
            </a:r>
          </a:p>
          <a:p>
            <a:r>
              <a:t>    },</a:t>
            </a:r>
          </a:p>
          <a:p>
            <a:r>
              <a:t>    {</a:t>
            </a:r>
          </a:p>
          <a:p>
            <a:r>
              <a:t>      "title": "면박사가야밀면",</a:t>
            </a:r>
          </a:p>
          <a:p>
            <a:r>
              <a:t>      "address": "인천광역시 부평구 주부토로172번길 28",</a:t>
            </a:r>
          </a:p>
          <a:p>
            <a:r>
              <a:t>      "summary": "한국관광공사 국문관광정보 API가 반환한 선택 지역 관광자원",</a:t>
            </a:r>
          </a:p>
          <a:p>
            <a:r>
              <a:t>      "image_url": "http://tong.visitkorea.or.kr/cms/resource/52/2873452_image2_1.jpg",</a:t>
            </a:r>
          </a:p>
          <a:p>
            <a:r>
              <a:t>      "source_id": "tour-api:2873461",</a:t>
            </a:r>
          </a:p>
          <a:p>
            <a:r>
              <a:t>      "content_id": "2873461",</a:t>
            </a:r>
          </a:p>
          <a:p>
            <a:r>
              <a:t>      "source_url": "https://apis.data.go.kr/B551011/KorService2",</a:t>
            </a:r>
          </a:p>
          <a:p>
            <a:r>
              <a:t>      "source_type": "open_api",</a:t>
            </a:r>
          </a:p>
          <a:p>
            <a:r>
              <a:t>      "content_type_id": "39"</a:t>
            </a:r>
          </a:p>
          <a:p>
            <a:r>
              <a:t>    },</a:t>
            </a:r>
          </a:p>
          <a:p>
            <a:r>
              <a:t>    {</a:t>
            </a:r>
          </a:p>
          <a:p>
            <a:r>
              <a:t>      "title": "모녀떡볶이 부평남부역점",</a:t>
            </a:r>
          </a:p>
          <a:p>
            <a:r>
              <a:t>      "address": "강원특별자치도 태백시 광장로 16 (황지동)",</a:t>
            </a:r>
          </a:p>
          <a:p>
            <a:r>
              <a:t>      "summary": "한국관광공사 국문관광정보 API가 반환한 선택 지역 관광자원",</a:t>
            </a:r>
          </a:p>
          <a:p>
            <a:r>
              <a:t>      "image_url": "http://tong.visitkorea.or.kr/cms/resource/58/2833858_image2_1.jpg",</a:t>
            </a:r>
          </a:p>
          <a:p>
            <a:r>
              <a:t>      "source_id": "tour-api:2833868",</a:t>
            </a:r>
          </a:p>
          <a:p>
            <a:r>
              <a:t>      "content_id": "2833868",</a:t>
            </a:r>
          </a:p>
          <a:p>
            <a:r>
              <a:t>      "source_url": "https://apis.data.go.kr/B551011/KorService2",</a:t>
            </a:r>
          </a:p>
          <a:p>
            <a:r>
              <a:t>      "source_type": "open_api",</a:t>
            </a:r>
          </a:p>
          <a:p>
            <a:r>
              <a:t>      "content_type_id": "39"</a:t>
            </a:r>
          </a:p>
          <a:p>
            <a:r>
              <a:t>    },</a:t>
            </a:r>
          </a:p>
          <a:p>
            <a:r>
              <a:t>    {</a:t>
            </a:r>
          </a:p>
          <a:p>
            <a:r>
              <a:t>      "title": "백운공원",</a:t>
            </a:r>
          </a:p>
          <a:p>
            <a:r>
              <a:t>      "address": "인천광역시 부평구 십정동 186-419",</a:t>
            </a:r>
          </a:p>
          <a:p>
            <a:r>
              <a:t>      "summary": "한국관광공사 국문관광정보 API가 반환한 선택 지역 관광자원",</a:t>
            </a:r>
          </a:p>
          <a:p>
            <a:r>
              <a:t>      "image_url": "http://tong.visitkorea.or.kr/cms/resource/55/3395555_image2_1.JPG",</a:t>
            </a:r>
          </a:p>
          <a:p>
            <a:r>
              <a:t>      "source_id": "tour-api:2768156",</a:t>
            </a:r>
          </a:p>
          <a:p>
            <a:r>
              <a:t>      "content_id": "2768156",</a:t>
            </a:r>
          </a:p>
          <a:p>
            <a:r>
              <a:t>      "source_url": "https://apis.data.go.kr/B551011/KorService2",</a:t>
            </a:r>
          </a:p>
          <a:p>
            <a:r>
              <a:t>      "source_type": "open_api",</a:t>
            </a:r>
          </a:p>
          <a:p>
            <a:r>
              <a:t>      "content_type_id": "12"</a:t>
            </a:r>
          </a:p>
          <a:p>
            <a:r>
              <a:t>    },</a:t>
            </a:r>
          </a:p>
          <a:p>
            <a:r>
              <a:t>    {</a:t>
            </a:r>
          </a:p>
          <a:p>
            <a:r>
              <a:t>      "title": "별미칡냉면원조",</a:t>
            </a:r>
          </a:p>
          <a:p>
            <a:r>
              <a:t>      "address": "인천광역시 부평구 주부토로145번길 28 (갈산동)",</a:t>
            </a:r>
          </a:p>
          <a:p>
            <a:r>
              <a:t>      "summary": "한국관광공사 국문관광정보 API가 반환한 선택 지역 관광자원",</a:t>
            </a:r>
          </a:p>
          <a:p>
            <a:r>
              <a:t>      "image_url": "http://tong.visitkorea.or.kr/cms/resource/46/2875446_image2_1.jpg",</a:t>
            </a:r>
          </a:p>
          <a:p>
            <a:r>
              <a:t>      "source_id": "tour-api:2875455",</a:t>
            </a:r>
          </a:p>
          <a:p>
            <a:r>
              <a:t>      "content_id": "2875455",</a:t>
            </a:r>
          </a:p>
          <a:p>
            <a:r>
              <a:t>      "source_url": "https://apis.data.go.kr/B551011/KorService2",</a:t>
            </a:r>
          </a:p>
          <a:p>
            <a:r>
              <a:t>      "source_type": "open_api",</a:t>
            </a:r>
          </a:p>
          <a:p>
            <a:r>
              <a:t>      "content_type_id": "39"</a:t>
            </a:r>
          </a:p>
          <a:p>
            <a:r>
              <a:t>    },</a:t>
            </a:r>
          </a:p>
          <a:p>
            <a:r>
              <a:t>    {</a:t>
            </a:r>
          </a:p>
          <a:p>
            <a:r>
              <a:t>      "title": "부영공원",</a:t>
            </a:r>
          </a:p>
          <a:p>
            <a:r>
              <a:t>      "address": "인천광역시 부평구 안남로 146",</a:t>
            </a:r>
          </a:p>
          <a:p>
            <a:r>
              <a:t>      "summary": "한국관광공사 국문관광정보 API가 반환한 선택 지역 관광자원",</a:t>
            </a:r>
          </a:p>
          <a:p>
            <a:r>
              <a:t>      "image_url": "http://tong.visitkorea.or.kr/cms/resource/62/3395562_image2_1.JPG",</a:t>
            </a:r>
          </a:p>
          <a:p>
            <a:r>
              <a:t>      "source_id": "tour-api:2767563",</a:t>
            </a:r>
          </a:p>
          <a:p>
            <a:r>
              <a:t>      "content_id": "2767563",</a:t>
            </a:r>
          </a:p>
          <a:p>
            <a:r>
              <a:t>      "source_url": "https://apis.data.go.kr/B551011/KorService2",</a:t>
            </a:r>
          </a:p>
          <a:p>
            <a:r>
              <a:t>      "source_type": "open_api",</a:t>
            </a:r>
          </a:p>
          <a:p>
            <a:r>
              <a:t>      "content_type_id": "12"</a:t>
            </a:r>
          </a:p>
          <a:p>
            <a:r>
              <a:t>    },</a:t>
            </a:r>
          </a:p>
          <a:p>
            <a:r>
              <a:t>    {</a:t>
            </a:r>
          </a:p>
          <a:p>
            <a:r>
              <a:t>      "title": "부평 굴포누리 기후변화체험관",</a:t>
            </a:r>
          </a:p>
          <a:p>
            <a:r>
              <a:t>      "address": "인천광역시 부평구 장제로 267 (갈산동)",</a:t>
            </a:r>
          </a:p>
          <a:p>
            <a:r>
              <a:t>      "summary": "한국관광공사 국문관광정보 API가 반환한 선택 지역 관광자원",</a:t>
            </a:r>
          </a:p>
          <a:p>
            <a:r>
              <a:t>      "image_url": "http://tong.visitkorea.or.kr/cms/resource/89/3456089_image2_1.jpg",</a:t>
            </a:r>
          </a:p>
          <a:p>
            <a:r>
              <a:t>      "source_id": "tour-api:3456754",</a:t>
            </a:r>
          </a:p>
          <a:p>
            <a:r>
              <a:t>      "content_id": "3456754",</a:t>
            </a:r>
          </a:p>
          <a:p>
            <a:r>
              <a:t>      "source_url": "https://apis.data.go.kr/B551011/KorService2",</a:t>
            </a:r>
          </a:p>
          <a:p>
            <a:r>
              <a:t>      "source_type": "open_api",</a:t>
            </a:r>
          </a:p>
          <a:p>
            <a:r>
              <a:t>      "content_type_id": "12"</a:t>
            </a:r>
          </a:p>
          <a:p>
            <a:r>
              <a:t>    },</a:t>
            </a:r>
          </a:p>
          <a:p>
            <a:r>
              <a:t>    {</a:t>
            </a:r>
          </a:p>
          <a:p>
            <a:r>
              <a:t>      "title": "부평 종합시장",</a:t>
            </a:r>
          </a:p>
          <a:p>
            <a:r>
              <a:t>      "address": "인천광역시 부평구 부흥로316번길 38-3",</a:t>
            </a:r>
          </a:p>
          <a:p>
            <a:r>
              <a:t>      "summary": "한국관광공사 국문관광정보 API가 반환한 선택 지역 관광자원",</a:t>
            </a:r>
          </a:p>
          <a:p>
            <a:r>
              <a:t>      "image_url": "http://tong.visitkorea.or.kr/cms/resource/47/3395547_image2_1.JPG",</a:t>
            </a:r>
          </a:p>
          <a:p>
            <a:r>
              <a:t>      "source_id": "tour-api:1025514",</a:t>
            </a:r>
          </a:p>
          <a:p>
            <a:r>
              <a:t>      "content_id": "1025514",</a:t>
            </a:r>
          </a:p>
          <a:p>
            <a:r>
              <a:t>      "source_url": "https://apis.data.go.kr/B551011/KorService2",</a:t>
            </a:r>
          </a:p>
          <a:p>
            <a:r>
              <a:t>      "source_type": "open_api",</a:t>
            </a:r>
          </a:p>
          <a:p>
            <a:r>
              <a:t>      "content_type_id": "38"</a:t>
            </a:r>
          </a:p>
          <a:p>
            <a:r>
              <a:t>    },</a:t>
            </a:r>
          </a:p>
          <a:p>
            <a:r>
              <a:t>    {</a:t>
            </a:r>
          </a:p>
          <a:p>
            <a:r>
              <a:t>      "title": "부평 해물탕거리",</a:t>
            </a:r>
          </a:p>
          <a:p>
            <a:r>
              <a:t>      "address": "인천광역시 부평구 부평동",</a:t>
            </a:r>
          </a:p>
          <a:p>
            <a:r>
              <a:t>      "summary": "한국관광공사 국문관광정보 API가 반환한 선택 지역 관광자원",</a:t>
            </a:r>
          </a:p>
          <a:p>
            <a:r>
              <a:t>      "image_url": "http://tong.visitkorea.or.kr/cms/resource/95/3309195_image2_1.jpg",</a:t>
            </a:r>
          </a:p>
          <a:p>
            <a:r>
              <a:t>      "source_id": "tour-api:749211",</a:t>
            </a:r>
          </a:p>
          <a:p>
            <a:r>
              <a:t>      "content_id": "749211",</a:t>
            </a:r>
          </a:p>
          <a:p>
            <a:r>
              <a:t>      "source_url": "https://apis.data.go.kr/B551011/KorService2",</a:t>
            </a:r>
          </a:p>
          <a:p>
            <a:r>
              <a:t>      "source_type": "open_api",</a:t>
            </a:r>
          </a:p>
          <a:p>
            <a:r>
              <a:t>      "content_type_id": "12"</a:t>
            </a:r>
          </a:p>
          <a:p>
            <a:r>
              <a:t>    },</a:t>
            </a:r>
          </a:p>
          <a:p>
            <a:r>
              <a:t>    {</a:t>
            </a:r>
          </a:p>
          <a:p>
            <a:r>
              <a:t>      "title": "부평모두몰(부평지하도상가)",</a:t>
            </a:r>
          </a:p>
          <a:p>
            <a:r>
              <a:t>      "address": "인천광역시 부평구 부평대로 지하 69",</a:t>
            </a:r>
          </a:p>
          <a:p>
            <a:r>
              <a:t>      "summary": "한국관광공사 국문관광정보 API가 반환한 선택 지역 관광자원",</a:t>
            </a:r>
          </a:p>
          <a:p>
            <a:r>
              <a:t>      "image_url": "http://tong.visitkorea.or.kr/cms/resource/07/3395507_image2_1.JPG",</a:t>
            </a:r>
          </a:p>
          <a:p>
            <a:r>
              <a:t>      "source_id": "tour-api:2021033",</a:t>
            </a:r>
          </a:p>
          <a:p>
            <a:r>
              <a:t>      "content_id": "2021033",</a:t>
            </a:r>
          </a:p>
          <a:p>
            <a:r>
              <a:t>      "source_url": "https://apis.data.go.kr/B551011/KorService2",</a:t>
            </a:r>
          </a:p>
          <a:p>
            <a:r>
              <a:t>      "source_type": "open_api",</a:t>
            </a:r>
          </a:p>
          <a:p>
            <a:r>
              <a:t>      "content_type_id": "38"</a:t>
            </a:r>
          </a:p>
          <a:p>
            <a:r>
              <a:t>    },</a:t>
            </a:r>
          </a:p>
          <a:p>
            <a:r>
              <a:t>    {</a:t>
            </a:r>
          </a:p>
          <a:p>
            <a:r>
              <a:t>      "title": "부평시장",</a:t>
            </a:r>
          </a:p>
          <a:p>
            <a:r>
              <a:t>      "address": "인천광역시 부평구 부흥로316번길 38-3",</a:t>
            </a:r>
          </a:p>
          <a:p>
            <a:r>
              <a:t>      "summary": "한국관광공사 국문관광정보 API가 반환한 선택 지역 관광자원",</a:t>
            </a:r>
          </a:p>
          <a:p>
            <a:r>
              <a:t>      "image_url": "http://tong.visitkorea.or.kr/cms/resource/42/3523842_image2_1.jpg",</a:t>
            </a:r>
          </a:p>
          <a:p>
            <a:r>
              <a:t>      "source_id": "tour-api:2768142",</a:t>
            </a:r>
          </a:p>
          <a:p>
            <a:r>
              <a:t>      "content_id": "2768142",</a:t>
            </a:r>
          </a:p>
          <a:p>
            <a:r>
              <a:t>      "source_url": "https://apis.data.go.kr/B551011/KorService2",</a:t>
            </a:r>
          </a:p>
          <a:p>
            <a:r>
              <a:t>      "source_type": "open_api",</a:t>
            </a:r>
          </a:p>
          <a:p>
            <a:r>
              <a:t>      "content_type_id": "38"</a:t>
            </a:r>
          </a:p>
          <a:p>
            <a:r>
              <a:t>    },</a:t>
            </a:r>
          </a:p>
          <a:p>
            <a:r>
              <a:t>    {</a:t>
            </a:r>
          </a:p>
          <a:p>
            <a:r>
              <a:t>      "title": "부평아트센터",</a:t>
            </a:r>
          </a:p>
          <a:p>
            <a:r>
              <a:t>      "address": "인천광역시 부평구 아트센터로 166 (십정동)",</a:t>
            </a:r>
          </a:p>
          <a:p>
            <a:r>
              <a:t>      "summary": "한국관광공사 국문관광정보 API가 반환한 선택 지역 관광자원",</a:t>
            </a:r>
          </a:p>
          <a:p>
            <a:r>
              <a:t>      "image_url": "http://tong.visitkorea.or.kr/cms/resource/55/3457455_image2_1.jpg",</a:t>
            </a:r>
          </a:p>
          <a:p>
            <a:r>
              <a:t>      "source_id": "tour-api:3457385",</a:t>
            </a:r>
          </a:p>
          <a:p>
            <a:r>
              <a:t>      "content_id": "3457385",</a:t>
            </a:r>
          </a:p>
          <a:p>
            <a:r>
              <a:t>      "source_url": "https://apis.data.go.kr/B551011/KorService2",</a:t>
            </a:r>
          </a:p>
          <a:p>
            <a:r>
              <a:t>      "source_type": "open_api",</a:t>
            </a:r>
          </a:p>
          <a:p>
            <a:r>
              <a:t>      "content_type_id": "14"</a:t>
            </a:r>
          </a:p>
          <a:p>
            <a:r>
              <a:t>    },</a:t>
            </a:r>
          </a:p>
          <a:p>
            <a:r>
              <a:t>    {</a:t>
            </a:r>
          </a:p>
          <a:p>
            <a:r>
              <a:t>      "title": "부평역북광장",</a:t>
            </a:r>
          </a:p>
          <a:p>
            <a:r>
              <a:t>      "address": "인천광역시 부평구 광장로 지하30 (부평동)",</a:t>
            </a:r>
          </a:p>
          <a:p>
            <a:r>
              <a:t>      "summary": "한국관광공사 국문관광정보 API가 반환한 선택 지역 관광자원",</a:t>
            </a:r>
          </a:p>
          <a:p>
            <a:r>
              <a:t>      "image_url": "http://tong.visitkorea.or.kr/cms/resource/90/3395490_image2_1.JPG",</a:t>
            </a:r>
          </a:p>
          <a:p>
            <a:r>
              <a:t>      "source_id": "tour-api:2768190",</a:t>
            </a:r>
          </a:p>
          <a:p>
            <a:r>
              <a:t>      "content_id": "2768190",</a:t>
            </a:r>
          </a:p>
          <a:p>
            <a:r>
              <a:t>      "source_url": "https://apis.data.go.kr/B551011/KorService2",</a:t>
            </a:r>
          </a:p>
          <a:p>
            <a:r>
              <a:t>      "source_type": "open_api",</a:t>
            </a:r>
          </a:p>
          <a:p>
            <a:r>
              <a:t>      "content_type_id": "12"</a:t>
            </a:r>
          </a:p>
          <a:p>
            <a:r>
              <a:t>    },</a:t>
            </a:r>
          </a:p>
          <a:p>
            <a:r>
              <a:t>    {</a:t>
            </a:r>
          </a:p>
          <a:p>
            <a:r>
              <a:t>      "title": "부흥기사식당",</a:t>
            </a:r>
          </a:p>
          <a:p>
            <a:r>
              <a:t>      "address": "인천광역시 부평구 부흥로 387 (부개동)",</a:t>
            </a:r>
          </a:p>
          <a:p>
            <a:r>
              <a:t>      "summary": "한국관광공사 국문관광정보 API가 반환한 선택 지역 관광자원",</a:t>
            </a:r>
          </a:p>
          <a:p>
            <a:r>
              <a:t>      "image_url": "http://tong.visitkorea.or.kr/cms/resource/66/2875466_image2_1.jpg",</a:t>
            </a:r>
          </a:p>
          <a:p>
            <a:r>
              <a:t>      "source_id": "tour-api:2875488",</a:t>
            </a:r>
          </a:p>
          <a:p>
            <a:r>
              <a:t>      "content_id": "2875488",</a:t>
            </a:r>
          </a:p>
          <a:p>
            <a:r>
              <a:t>      "source_url": "https://apis.data.go.kr/B551011/KorService2",</a:t>
            </a:r>
          </a:p>
          <a:p>
            <a:r>
              <a:t>      "source_type": "open_api",</a:t>
            </a:r>
          </a:p>
          <a:p>
            <a:r>
              <a:t>      "content_type_id": "39"</a:t>
            </a:r>
          </a:p>
          <a:p>
            <a:r>
              <a:t>    },</a:t>
            </a:r>
          </a:p>
          <a:p>
            <a:r>
              <a:t>    {</a:t>
            </a:r>
          </a:p>
          <a:p>
            <a:r>
              <a:t>      "title": "삼산건강공원",</a:t>
            </a:r>
          </a:p>
          <a:p>
            <a:r>
              <a:t>      "address": "인천광역시 부평구 영성동로18번길 48 (삼산동)",</a:t>
            </a:r>
          </a:p>
          <a:p>
            <a:r>
              <a:t>      "summary": "한국관광공사 국문관광정보 API가 반환한 선택 지역 관광자원",</a:t>
            </a:r>
          </a:p>
          <a:p>
            <a:r>
              <a:t>      "image_url": "http://tong.visitkorea.or.kr/cms/resource/25/3523825_image2_1.jpg",</a:t>
            </a:r>
          </a:p>
          <a:p>
            <a:r>
              <a:t>      "source_id": "tour-api:2768180",</a:t>
            </a:r>
          </a:p>
          <a:p>
            <a:r>
              <a:t>      "content_id": "2768180",</a:t>
            </a:r>
          </a:p>
          <a:p>
            <a:r>
              <a:t>      "source_url": "https://apis.data.go.kr/B551011/KorService2",</a:t>
            </a:r>
          </a:p>
          <a:p>
            <a:r>
              <a:t>      "source_type": "open_api",</a:t>
            </a:r>
          </a:p>
          <a:p>
            <a:r>
              <a:t>      "content_type_id": "12"</a:t>
            </a:r>
          </a:p>
          <a:p>
            <a:r>
              <a:t>    },</a:t>
            </a:r>
          </a:p>
          <a:p>
            <a:r>
              <a:t>    {</a:t>
            </a:r>
          </a:p>
          <a:p>
            <a:r>
              <a:t>      "title": "신트리공원(인천)",</a:t>
            </a:r>
          </a:p>
          <a:p>
            <a:r>
              <a:t>      "address": "인천광역시 부평구 신트리로 21",</a:t>
            </a:r>
          </a:p>
          <a:p>
            <a:r>
              <a:t>      "summary": "한국관광공사 국문관광정보 API가 반환한 선택 지역 관광자원",</a:t>
            </a:r>
          </a:p>
          <a:p>
            <a:r>
              <a:t>      "image_url": "http://tong.visitkorea.or.kr/cms/resource/73/3030773_image2_1.jpg",</a:t>
            </a:r>
          </a:p>
          <a:p>
            <a:r>
              <a:t>      "source_id": "tour-api:126568",</a:t>
            </a:r>
          </a:p>
          <a:p>
            <a:r>
              <a:t>      "content_id": "126568",</a:t>
            </a:r>
          </a:p>
          <a:p>
            <a:r>
              <a:t>      "source_url": "https://apis.data.go.kr/B551011/KorService2",</a:t>
            </a:r>
          </a:p>
          <a:p>
            <a:r>
              <a:t>      "source_type": "open_api",</a:t>
            </a:r>
          </a:p>
          <a:p>
            <a:r>
              <a:t>      "content_type_id": "12"</a:t>
            </a:r>
          </a:p>
          <a:p>
            <a:r>
              <a:t>    },</a:t>
            </a:r>
          </a:p>
          <a:p>
            <a:r>
              <a:t>    {</a:t>
            </a:r>
          </a:p>
          <a:p>
            <a:r>
              <a:t>      "title": "양평신내서울해장국 부평직영점",</a:t>
            </a:r>
          </a:p>
          <a:p>
            <a:r>
              <a:t>      "address": "인천광역시 부평구 마장로 191 (산곡동)",</a:t>
            </a:r>
          </a:p>
          <a:p>
            <a:r>
              <a:t>      "summary": "한국관광공사 국문관광정보 API가 반환한 선택 지역 관광자원",</a:t>
            </a:r>
          </a:p>
          <a:p>
            <a:r>
              <a:t>      "image_url": "http://tong.visitkorea.or.kr/cms/resource/45/2835945_image2_1.jpg",</a:t>
            </a:r>
          </a:p>
          <a:p>
            <a:r>
              <a:t>      "source_id": "tour-api:2835948",</a:t>
            </a:r>
          </a:p>
          <a:p>
            <a:r>
              <a:t>      "content_id": "2835948",</a:t>
            </a:r>
          </a:p>
          <a:p>
            <a:r>
              <a:t>      "source_url": "https://apis.data.go.kr/B551011/KorService2",</a:t>
            </a:r>
          </a:p>
          <a:p>
            <a:r>
              <a:t>      "source_type": "open_api",</a:t>
            </a:r>
          </a:p>
          <a:p>
            <a:r>
              <a:t>      "content_type_id": "39"</a:t>
            </a:r>
          </a:p>
          <a:p>
            <a:r>
              <a:t>    },</a:t>
            </a:r>
          </a:p>
          <a:p>
            <a:r>
              <a:t>    {</a:t>
            </a:r>
          </a:p>
          <a:p>
            <a:r>
              <a:t>      "title": "열우물전통시장",</a:t>
            </a:r>
          </a:p>
          <a:p>
            <a:r>
              <a:t>      "address": "인천광역시 부평구 배곶남로21번길 18",</a:t>
            </a:r>
          </a:p>
          <a:p>
            <a:r>
              <a:t>      "summary": "한국관광공사 국문관광정보 API가 반환한 선택 지역 관광자원",</a:t>
            </a:r>
          </a:p>
          <a:p>
            <a:r>
              <a:t>      "image_url": "http://tong.visitkorea.or.kr/cms/resource/31/3523831_image2_1.jpg",</a:t>
            </a:r>
          </a:p>
          <a:p>
            <a:r>
              <a:t>      "source_id": "tour-api:2765473",</a:t>
            </a:r>
          </a:p>
          <a:p>
            <a:r>
              <a:t>      "content_id": "2765473",</a:t>
            </a:r>
          </a:p>
          <a:p>
            <a:r>
              <a:t>      "source_url": "https://apis.data.go.kr/B551011/KorService2",</a:t>
            </a:r>
          </a:p>
          <a:p>
            <a:r>
              <a:t>      "source_type": "open_api",</a:t>
            </a:r>
          </a:p>
          <a:p>
            <a:r>
              <a:t>      "content_type_id": "38"</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"인천광역시 ‘6월부터 밤마다 인천으로’ 야간관광 특화도시 운영 및 성과 자료",</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"source_id": "case:3e081ab48300f1",</a:t>
            </a:r>
          </a:p>
          <a:p>
            <a:r>
              <a:t>      "source_url": "https://www.incheon.go.kr/IC010205/view?beginDt=2021-10-01&amp;curPage=479&amp;endDt=&amp;repSeq=DOM_0000000010085993&amp;srchMainManagerDeptNm=&amp;srchRepContents=&amp;srchRepTitle=",</a:t>
            </a:r>
          </a:p>
          <a:p>
            <a:r>
              <a:t>      "case_region": "인천광역시 송도·개항장·월미도 등",</a:t>
            </a:r>
          </a:p>
          <a:p>
            <a:r>
              <a:t>      "source_type": "benchmark_case",</a:t>
            </a:r>
          </a:p>
          <a:p>
            <a:r>
              <a:t>      "intervention": "야간 프로그램·시티투어·관광패스·야시장·상권쿠폰을 결합한 야간관광 특화도시 사업",</a:t>
            </a:r>
          </a:p>
          <a:p>
            <a:r>
              <a:t>      "document_type": null,</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"retrieval_method": "official_web_search",</a:t>
            </a:r>
          </a:p>
          <a:p>
            <a:r>
              <a:t>      "evidence_strength": "medium",</a:t>
            </a:r>
          </a:p>
          <a:p>
            <a:r>
              <a:t>      "retrieval_context": {</a:t>
            </a:r>
          </a:p>
          <a:p>
            <a:r>
              <a:t>        "scope": "same_province",</a:t>
            </a:r>
          </a:p>
          <a:p>
            <a:r>
              <a:t>        "peer_region_code": null</a:t>
            </a:r>
          </a:p>
          <a:p>
            <a:r>
              <a:t>      },</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"published_or_updated_at": "2024-05-29",</a:t>
            </a:r>
          </a:p>
          <a:p>
            <a:r>
              <a:t>      "quantitative_result_approved": null</a:t>
            </a:r>
          </a:p>
          <a:p>
            <a:r>
              <a:t>    },</a:t>
            </a:r>
          </a:p>
          <a:p>
            <a:r>
              <a:t>    {</a:t>
            </a:r>
          </a:p>
          <a:p>
            <a:r>
              <a:t>      "title": "서울특별시 ‘서울의 밤이 더 길어진다—서울달 금·토 심야 운영’ 및 운영 확대 자료",</a:t>
            </a:r>
          </a:p>
          <a:p>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"source_id": "case:c621f7b6c81807",</a:t>
            </a:r>
          </a:p>
          <a:p>
            <a:r>
              <a:t>      "source_url": "https://www.seoul.go.kr/news/news_report.do?nttNo=462801",</a:t>
            </a:r>
          </a:p>
          <a:p>
            <a:r>
              <a:t>      "case_region": "서울특별시 영등포구 여의도공원",</a:t>
            </a:r>
          </a:p>
          <a:p>
            <a:r>
              <a:t>      "source_type": "benchmark_case",</a:t>
            </a:r>
          </a:p>
          <a:p>
            <a:r>
              <a:t>      "intervention": "예약시간·OTA 판매·성수기 및 심야 운영시간을 조정한 체험형 야간관광시설 ‘서울달’",</a:t>
            </a:r>
          </a:p>
          <a:p>
            <a:r>
              <a:t>      "document_type": null,</a:t>
            </a:r>
          </a:p>
          <a:p>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a:r>
              <a:t>      "retrieval_method": "official_web_search",</a:t>
            </a:r>
          </a:p>
          <a:p>
            <a:r>
              <a:t>      "evidence_strength": "medium",</a:t>
            </a:r>
          </a:p>
          <a:p>
            <a:r>
              <a:t>      "retrieval_context": {</a:t>
            </a:r>
          </a:p>
          <a:p>
            <a:r>
              <a:t>        "scope": "cross_province",</a:t>
            </a:r>
          </a:p>
          <a:p>
            <a:r>
              <a:t>        "peer_region_code": null</a:t>
            </a:r>
          </a:p>
          <a:p>
            <a:r>
              <a:t>      },</a:t>
            </a:r>
          </a:p>
          <a:p>
            <a:r>
              <a:t>      "measurement_period": "2024-08-23 ~ 2026-07-15 누적 이용; 외국인 비율 비교는 2025년과 2026년 상반기",</a:t>
            </a:r>
          </a:p>
          <a:p>
            <a:r>
              <a:t>      "transfer_conditions": [</a:t>
            </a:r>
          </a:p>
          <a:p>
            <a:r>
              <a:t>        "부평구에는 신규 대형시설 대신 기존 공연장·전시장·문화공간의 예약 가능 시간을 저녁으로 연장하는 운영원리만 적용",</a:t>
            </a:r>
          </a:p>
          <a:p>
            <a:r>
              <a:t>        "온라인 사전예약과 현장 잔여석을 함께 관리하고 회차별 정원·취소·대기 규칙을 명확히 설정",</a:t>
            </a:r>
          </a:p>
          <a:p>
            <a:r>
              <a:t>        "금·토 및 10~12월 수요가 예상되는 시간대부터 시험하고 비효율 시간대는 축소",</a:t>
            </a:r>
          </a:p>
          <a:p>
            <a:r>
              <a:t>        "프로그램 종료 뒤 이용 가능한 식음료점·상점 정보를 예약 확인서와 현장 안내에 결합",</a:t>
            </a:r>
          </a:p>
          <a:p>
            <a:r>
              <a:t>        "회차별 예약률, 노쇼율, 현장 이용 완료율과 프로그램 전후 주변 결제를 측정"</a:t>
            </a:r>
          </a:p>
          <a:p>
            <a:r>
              <a:t>      ],</a:t>
            </a:r>
          </a:p>
          <a:p>
            <a:r>
              <a:t>      "published_or_updated_at": "2026-07-28",</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"title": "굴포천 생태하천",</a:t>
            </a:r>
          </a:p>
          <a:p>
            <a:r>
              <a:t>      "address": "인천광역시 부평구 굴포로 141 (삼산동)",</a:t>
            </a:r>
          </a:p>
          <a:p>
            <a:r>
              <a:t>      "summary": "한국관광공사 국문관광정보 API가 반환한 선택 지역 관광자원",</a:t>
            </a:r>
          </a:p>
          <a:p>
            <a:r>
              <a:t>      "image_url": "http://tong.visitkorea.or.kr/cms/resource/60/3523760_image2_1.jpg",</a:t>
            </a:r>
          </a:p>
          <a:p>
            <a:r>
              <a:t>      "source_id": "tour-api:1619098",</a:t>
            </a:r>
          </a:p>
          <a:p>
            <a:r>
              <a:t>      "content_id": "1619098",</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3778392.0,</a:t>
            </a:r>
          </a:p>
          <a:p>
            <a:r>
              <a:t>        "is_forecast": true,</a:t>
            </a:r>
          </a:p>
          <a:p>
            <a:r>
              <a:t>        "spending_krw": 78739302878.0,</a:t>
            </a:r>
          </a:p>
          <a:p>
            <a:r>
              <a:t>        "stay_minutes": 1189.22,</a:t>
            </a:r>
          </a:p>
          <a:p>
            <a:r>
              <a:t>        "lodging_nights": 2.9,</a:t>
            </a:r>
          </a:p>
          <a:p>
            <a:r>
              <a:t>        "lodging_rate_pct": 8.5,</a:t>
            </a:r>
          </a:p>
          <a:p>
            <a:r>
              <a:t>        "lodging_searches": 9560,</a:t>
            </a:r>
          </a:p>
          <a:p>
            <a:r>
              <a:t>        "navigation_searches": 211413,</a:t>
            </a:r>
          </a:p>
          <a:p>
            <a:r>
              <a:t>        "visitor_yoy_percent": -3.74,</a:t>
            </a:r>
          </a:p>
          <a:p>
            <a:r>
              <a:t>        "spending_yoy_percent": -6.27,</a:t>
            </a:r>
          </a:p>
          <a:p>
            <a:r>
              <a:t>        "metric_changes_percent": {</a:t>
            </a:r>
          </a:p>
          <a:p>
            <a:r>
              <a:t>          "stay_minutes": -3.55,</a:t>
            </a:r>
          </a:p>
          <a:p>
            <a:r>
              <a:t>          "lodging_nights": 0.69,</a:t>
            </a:r>
          </a:p>
          <a:p>
            <a:r>
              <a:t>          "lodging_rate_pct": 0.0,</a:t>
            </a:r>
          </a:p>
          <a:p>
            <a:r>
              <a:t>          "lodging_searches": 0.0,</a:t>
            </a:r>
          </a:p>
          <a:p>
            <a:r>
              <a:t>          "navigation_searches": 0.0</a:t>
            </a:r>
          </a:p>
          <a:p>
            <a:r>
              <a:t>        },</a:t>
            </a:r>
          </a:p>
          <a:p>
            <a:r>
              <a:t>        "previous_year_visitors": 3925237,</a:t>
            </a:r>
          </a:p>
          <a:p>
            <a:r>
              <a:t>        "previous_year_spending_krw": 84007025000,</a:t>
            </a:r>
          </a:p>
          <a:p>
            <a:r>
              <a:t>        "previous_year_stay_minutes": 1233.0,</a:t>
            </a:r>
          </a:p>
          <a:p>
            <a:r>
              <a:t>        "previous_year_lodging_nights": 2.88,</a:t>
            </a:r>
          </a:p>
          <a:p>
            <a:r>
              <a:t>        "previous_year_lodging_rate_pct": 8.5,</a:t>
            </a:r>
          </a:p>
          <a:p>
            <a:r>
              <a:t>        "previous_year_lodging_searches": 9560,</a:t>
            </a:r>
          </a:p>
          <a:p>
            <a:r>
              <a:t>        "previous_year_navigation_searches": 211413</a:t>
            </a:r>
          </a:p>
          <a:p>
            <a:r>
              <a:t>      },</a:t>
            </a:r>
          </a:p>
          <a:p>
            <a:r>
              <a:t>      {</a:t>
            </a:r>
          </a:p>
          <a:p>
            <a:r>
              <a:t>        "month": "202611",</a:t>
            </a:r>
          </a:p>
          <a:p>
            <a:r>
              <a:t>        "visitors": 3748084.0,</a:t>
            </a:r>
          </a:p>
          <a:p>
            <a:r>
              <a:t>        "is_forecast": true,</a:t>
            </a:r>
          </a:p>
          <a:p>
            <a:r>
              <a:t>        "spending_krw": 81104223698.0,</a:t>
            </a:r>
          </a:p>
          <a:p>
            <a:r>
              <a:t>        "stay_minutes": 1157.37,</a:t>
            </a:r>
          </a:p>
          <a:p>
            <a:r>
              <a:t>        "lodging_nights": 2.86,</a:t>
            </a:r>
          </a:p>
          <a:p>
            <a:r>
              <a:t>        "lodging_rate_pct": 6.5,</a:t>
            </a:r>
          </a:p>
          <a:p>
            <a:r>
              <a:t>        "lodging_searches": 6582,</a:t>
            </a:r>
          </a:p>
          <a:p>
            <a:r>
              <a:t>        "navigation_searches": 141791,</a:t>
            </a:r>
          </a:p>
          <a:p>
            <a:r>
              <a:t>        "visitor_yoy_percent": -1.44,</a:t>
            </a:r>
          </a:p>
          <a:p>
            <a:r>
              <a:t>        "spending_yoy_percent": -1.77,</a:t>
            </a:r>
          </a:p>
          <a:p>
            <a:r>
              <a:t>        "metric_changes_percent": {</a:t>
            </a:r>
          </a:p>
          <a:p>
            <a:r>
              <a:t>          "stay_minutes": 4.74,</a:t>
            </a:r>
          </a:p>
          <a:p>
            <a:r>
              <a:t>          "lodging_nights": -1.38,</a:t>
            </a:r>
          </a:p>
          <a:p>
            <a:r>
              <a:t>          "lodging_rate_pct": 0.0,</a:t>
            </a:r>
          </a:p>
          <a:p>
            <a:r>
              <a:t>          "lodging_searches": 0.0,</a:t>
            </a:r>
          </a:p>
          <a:p>
            <a:r>
              <a:t>          "navigation_searches": 0.0</a:t>
            </a:r>
          </a:p>
          <a:p>
            <a:r>
              <a:t>        },</a:t>
            </a:r>
          </a:p>
          <a:p>
            <a:r>
              <a:t>        "previous_year_visitors": 3802982,</a:t>
            </a:r>
          </a:p>
          <a:p>
            <a:r>
              <a:t>        "previous_year_spending_krw": 82569585000,</a:t>
            </a:r>
          </a:p>
          <a:p>
            <a:r>
              <a:t>        "previous_year_stay_minutes": 1105.0,</a:t>
            </a:r>
          </a:p>
          <a:p>
            <a:r>
              <a:t>        "previous_year_lodging_nights": 2.9,</a:t>
            </a:r>
          </a:p>
          <a:p>
            <a:r>
              <a:t>        "previous_year_lodging_rate_pct": 6.5,</a:t>
            </a:r>
          </a:p>
          <a:p>
            <a:r>
              <a:t>        "previous_year_lodging_searches": 6582,</a:t>
            </a:r>
          </a:p>
          <a:p>
            <a:r>
              <a:t>        "previous_year_navigation_searches": 141791</a:t>
            </a:r>
          </a:p>
          <a:p>
            <a:r>
              <a:t>      },</a:t>
            </a:r>
          </a:p>
          <a:p>
            <a:r>
              <a:t>      {</a:t>
            </a:r>
          </a:p>
          <a:p>
            <a:r>
              <a:t>        "month": "202612",</a:t>
            </a:r>
          </a:p>
          <a:p>
            <a:r>
              <a:t>        "visitors": 3741663.0,</a:t>
            </a:r>
          </a:p>
          <a:p>
            <a:r>
              <a:t>        "is_forecast": true,</a:t>
            </a:r>
          </a:p>
          <a:p>
            <a:r>
              <a:t>        "spending_krw": 83702422444.0,</a:t>
            </a:r>
          </a:p>
          <a:p>
            <a:r>
              <a:t>        "stay_minutes": 1216.03,</a:t>
            </a:r>
          </a:p>
          <a:p>
            <a:r>
              <a:t>        "lodging_nights": 2.93,</a:t>
            </a:r>
          </a:p>
          <a:p>
            <a:r>
              <a:t>        "lodging_rate_pct": 7.4,</a:t>
            </a:r>
          </a:p>
          <a:p>
            <a:r>
              <a:t>        "lodging_searches": 6099,</a:t>
            </a:r>
          </a:p>
          <a:p>
            <a:r>
              <a:t>        "navigation_searches": 134392,</a:t>
            </a:r>
          </a:p>
          <a:p>
            <a:r>
              <a:t>        "visitor_yoy_percent": -1.2,</a:t>
            </a:r>
          </a:p>
          <a:p>
            <a:r>
              <a:t>        "spending_yoy_percent": -1.66,</a:t>
            </a:r>
          </a:p>
          <a:p>
            <a:r>
              <a:t>        "metric_changes_percent": {</a:t>
            </a:r>
          </a:p>
          <a:p>
            <a:r>
              <a:t>          "stay_minutes": 3.49,</a:t>
            </a:r>
          </a:p>
          <a:p>
            <a:r>
              <a:t>          "lodging_nights": 2.81,</a:t>
            </a:r>
          </a:p>
          <a:p>
            <a:r>
              <a:t>          "lodging_rate_pct": 0.0,</a:t>
            </a:r>
          </a:p>
          <a:p>
            <a:r>
              <a:t>          "lodging_searches": 0.0,</a:t>
            </a:r>
          </a:p>
          <a:p>
            <a:r>
              <a:t>          "navigation_searches": 0.0</a:t>
            </a:r>
          </a:p>
          <a:p>
            <a:r>
              <a:t>        },</a:t>
            </a:r>
          </a:p>
          <a:p>
            <a:r>
              <a:t>        "previous_year_visitors": 3787225,</a:t>
            </a:r>
          </a:p>
          <a:p>
            <a:r>
              <a:t>        "previous_year_spending_krw": 85114549000,</a:t>
            </a:r>
          </a:p>
          <a:p>
            <a:r>
              <a:t>        "previous_year_stay_minutes": 1175.0,</a:t>
            </a:r>
          </a:p>
          <a:p>
            <a:r>
              <a:t>        "previous_year_lodging_nights": 2.85,</a:t>
            </a:r>
          </a:p>
          <a:p>
            <a:r>
              <a:t>        "previous_year_lodging_rate_pct": 7.4,</a:t>
            </a:r>
          </a:p>
          <a:p>
            <a:r>
              <a:t>        "previous_year_lodging_searches": 6099,</a:t>
            </a:r>
          </a:p>
          <a:p>
            <a:r>
              <a:t>        "previous_year_navigation_searches": 134392</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3817303,</a:t>
            </a:r>
          </a:p>
          <a:p>
            <a:r>
              <a:t>      "is_forecast": true,</a:t>
            </a:r>
          </a:p>
          <a:p>
            <a:r>
              <a:t>      "spending_krw": 78887191546,</a:t>
            </a:r>
          </a:p>
          <a:p>
            <a:r>
              <a:t>      "stay_minutes": 1212.73,</a:t>
            </a:r>
          </a:p>
          <a:p>
            <a:r>
              <a:t>      "lodging_nights": 2.91,</a:t>
            </a:r>
          </a:p>
          <a:p>
            <a:r>
              <a:t>      "lodging_rate_pct": 7.1,</a:t>
            </a:r>
          </a:p>
          <a:p>
            <a:r>
              <a:t>      "lodging_searches": 7347,</a:t>
            </a:r>
          </a:p>
          <a:p>
            <a:r>
              <a:t>      "navigation_searches": 141607,</a:t>
            </a:r>
          </a:p>
          <a:p>
            <a:r>
              <a:t>      "visitor_yoy_percent": -1.21,</a:t>
            </a:r>
          </a:p>
          <a:p>
            <a:r>
              <a:t>      "spending_yoy_percent": 0.76,</a:t>
            </a:r>
          </a:p>
          <a:p>
            <a:r>
              <a:t>      "metric_changes_percent": {</a:t>
            </a:r>
          </a:p>
          <a:p>
            <a:r>
              <a:t>        "stay_minutes": -7.07,</a:t>
            </a:r>
          </a:p>
          <a:p>
            <a:r>
              <a:t>        "lodging_nights": -2.35,</a:t>
            </a:r>
          </a:p>
          <a:p>
            <a:r>
              <a:t>        "lodging_rate_pct": 0.0,</a:t>
            </a:r>
          </a:p>
          <a:p>
            <a:r>
              <a:t>        "lodging_searches": 0.0,</a:t>
            </a:r>
          </a:p>
          <a:p>
            <a:r>
              <a:t>        "navigation_searches": 0.0</a:t>
            </a:r>
          </a:p>
          <a:p>
            <a:r>
              <a:t>      },</a:t>
            </a:r>
          </a:p>
          <a:p>
            <a:r>
              <a:t>      "previous_year_visitors": 3863992,</a:t>
            </a:r>
          </a:p>
          <a:p>
            <a:r>
              <a:t>      "previous_year_spending_krw": 78295445000,</a:t>
            </a:r>
          </a:p>
          <a:p>
            <a:r>
              <a:t>      "previous_year_stay_minutes": 1305.0,</a:t>
            </a:r>
          </a:p>
          <a:p>
            <a:r>
              <a:t>      "previous_year_lodging_nights": 2.98,</a:t>
            </a:r>
          </a:p>
          <a:p>
            <a:r>
              <a:t>      "previous_year_lodging_rate_pct": 7.1,</a:t>
            </a:r>
          </a:p>
          <a:p>
            <a:r>
              <a:t>      "previous_year_lodging_searches": 7347,</a:t>
            </a:r>
          </a:p>
          <a:p>
            <a:r>
              <a:t>      "previous_year_navigation_searches": 141607</a:t>
            </a:r>
          </a:p>
          <a:p>
            <a:r>
              <a:t>    },</a:t>
            </a:r>
          </a:p>
          <a:p>
            <a:r>
              <a:t>    {</a:t>
            </a:r>
          </a:p>
          <a:p>
            <a:r>
              <a:t>      "month": "202608",</a:t>
            </a:r>
          </a:p>
          <a:p>
            <a:r>
              <a:t>      "visitors": 3749035,</a:t>
            </a:r>
          </a:p>
          <a:p>
            <a:r>
              <a:t>      "is_forecast": true,</a:t>
            </a:r>
          </a:p>
          <a:p>
            <a:r>
              <a:t>      "spending_krw": 80682185171,</a:t>
            </a:r>
          </a:p>
          <a:p>
            <a:r>
              <a:t>      "stay_minutes": 1150.71,</a:t>
            </a:r>
          </a:p>
          <a:p>
            <a:r>
              <a:t>      "lodging_nights": 2.93,</a:t>
            </a:r>
          </a:p>
          <a:p>
            <a:r>
              <a:t>      "lodging_rate_pct": 7.4,</a:t>
            </a:r>
          </a:p>
          <a:p>
            <a:r>
              <a:t>      "lodging_searches": 6953,</a:t>
            </a:r>
          </a:p>
          <a:p>
            <a:r>
              <a:t>      "navigation_searches": 142750,</a:t>
            </a:r>
          </a:p>
          <a:p>
            <a:r>
              <a:t>      "visitor_yoy_percent": -0.2,</a:t>
            </a:r>
          </a:p>
          <a:p>
            <a:r>
              <a:t>      "spending_yoy_percent": 0.35,</a:t>
            </a:r>
          </a:p>
          <a:p>
            <a:r>
              <a:t>      "metric_changes_percent": {</a:t>
            </a:r>
          </a:p>
          <a:p>
            <a:r>
              <a:t>        "stay_minutes": -4.98,</a:t>
            </a:r>
          </a:p>
          <a:p>
            <a:r>
              <a:t>        "lodging_nights": 1.03,</a:t>
            </a:r>
          </a:p>
          <a:p>
            <a:r>
              <a:t>        "lodging_rate_pct": 0.0,</a:t>
            </a:r>
          </a:p>
          <a:p>
            <a:r>
              <a:t>        "lodging_searches": 0.0,</a:t>
            </a:r>
          </a:p>
          <a:p>
            <a:r>
              <a:t>        "navigation_searches": 0.0</a:t>
            </a:r>
          </a:p>
          <a:p>
            <a:r>
              <a:t>      },</a:t>
            </a:r>
          </a:p>
          <a:p>
            <a:r>
              <a:t>      "previous_year_visitors": 3756696,</a:t>
            </a:r>
          </a:p>
          <a:p>
            <a:r>
              <a:t>      "previous_year_spending_krw": 80401710000,</a:t>
            </a:r>
          </a:p>
          <a:p>
            <a:r>
              <a:t>      "previous_year_stay_minutes": 1211.0,</a:t>
            </a:r>
          </a:p>
          <a:p>
            <a:r>
              <a:t>      "previous_year_lodging_nights": 2.9,</a:t>
            </a:r>
          </a:p>
          <a:p>
            <a:r>
              <a:t>      "previous_year_lodging_rate_pct": 7.4,</a:t>
            </a:r>
          </a:p>
          <a:p>
            <a:r>
              <a:t>      "previous_year_lodging_searches": 6953,</a:t>
            </a:r>
          </a:p>
          <a:p>
            <a:r>
              <a:t>      "previous_year_navigation_searches": 142750</a:t>
            </a:r>
          </a:p>
          <a:p>
            <a:r>
              <a:t>    },</a:t>
            </a:r>
          </a:p>
          <a:p>
            <a:r>
              <a:t>    {</a:t>
            </a:r>
          </a:p>
          <a:p>
            <a:r>
              <a:t>      "month": "202609",</a:t>
            </a:r>
          </a:p>
          <a:p>
            <a:r>
              <a:t>      "visitors": 3753359,</a:t>
            </a:r>
          </a:p>
          <a:p>
            <a:r>
              <a:t>      "is_forecast": true,</a:t>
            </a:r>
          </a:p>
          <a:p>
            <a:r>
              <a:t>      "spending_krw": 75157794156,</a:t>
            </a:r>
          </a:p>
          <a:p>
            <a:r>
              <a:t>      "stay_minutes": 1127.96,</a:t>
            </a:r>
          </a:p>
          <a:p>
            <a:r>
              <a:t>      "lodging_nights": 2.86,</a:t>
            </a:r>
          </a:p>
          <a:p>
            <a:r>
              <a:t>      "lodging_rate_pct": 6.4,</a:t>
            </a:r>
          </a:p>
          <a:p>
            <a:r>
              <a:t>      "lodging_searches": 6207,</a:t>
            </a:r>
          </a:p>
          <a:p>
            <a:r>
              <a:t>      "navigation_searches": 127671,</a:t>
            </a:r>
          </a:p>
          <a:p>
            <a:r>
              <a:t>      "visitor_yoy_percent": 0.83,</a:t>
            </a:r>
          </a:p>
          <a:p>
            <a:r>
              <a:t>      "spending_yoy_percent": -1.74,</a:t>
            </a:r>
          </a:p>
          <a:p>
            <a:r>
              <a:t>      "metric_changes_percent": {</a:t>
            </a:r>
          </a:p>
          <a:p>
            <a:r>
              <a:t>        "stay_minutes": -0.88,</a:t>
            </a:r>
          </a:p>
          <a:p>
            <a:r>
              <a:t>        "lodging_nights": -2.72,</a:t>
            </a:r>
          </a:p>
          <a:p>
            <a:r>
              <a:t>        "lodging_rate_pct": 0.0,</a:t>
            </a:r>
          </a:p>
          <a:p>
            <a:r>
              <a:t>        "lodging_searches": 0.0,</a:t>
            </a:r>
          </a:p>
          <a:p>
            <a:r>
              <a:t>        "navigation_searches": 0.0</a:t>
            </a:r>
          </a:p>
          <a:p>
            <a:r>
              <a:t>      },</a:t>
            </a:r>
          </a:p>
          <a:p>
            <a:r>
              <a:t>      "previous_year_visitors": 3722556,</a:t>
            </a:r>
          </a:p>
          <a:p>
            <a:r>
              <a:t>      "previous_year_spending_krw": 76492493000,</a:t>
            </a:r>
          </a:p>
          <a:p>
            <a:r>
              <a:t>      "previous_year_stay_minutes": 1138.0,</a:t>
            </a:r>
          </a:p>
          <a:p>
            <a:r>
              <a:t>      "previous_year_lodging_nights": 2.94,</a:t>
            </a:r>
          </a:p>
          <a:p>
            <a:r>
              <a:t>      "previous_year_lodging_rate_pct": 6.4,</a:t>
            </a:r>
          </a:p>
          <a:p>
            <a:r>
              <a:t>      "previous_year_lodging_searches": 6207,</a:t>
            </a:r>
          </a:p>
          <a:p>
            <a:r>
              <a:t>      "previous_year_navigation_searches": 127671</a:t>
            </a:r>
          </a:p>
          <a:p>
            <a:r>
              <a:t>    },</a:t>
            </a:r>
          </a:p>
          <a:p>
            <a:r>
              <a:t>    {</a:t>
            </a:r>
          </a:p>
          <a:p>
            <a:r>
              <a:t>      "month": "202610",</a:t>
            </a:r>
          </a:p>
          <a:p>
            <a:r>
              <a:t>      "visitors": 3778392,</a:t>
            </a:r>
          </a:p>
          <a:p>
            <a:r>
              <a:t>      "is_forecast": true,</a:t>
            </a:r>
          </a:p>
          <a:p>
            <a:r>
              <a:t>      "spending_krw": 78739302878,</a:t>
            </a:r>
          </a:p>
          <a:p>
            <a:r>
              <a:t>      "stay_minutes": 1189.22,</a:t>
            </a:r>
          </a:p>
          <a:p>
            <a:r>
              <a:t>      "lodging_nights": 2.9,</a:t>
            </a:r>
          </a:p>
          <a:p>
            <a:r>
              <a:t>      "lodging_rate_pct": 8.5,</a:t>
            </a:r>
          </a:p>
          <a:p>
            <a:r>
              <a:t>      "lodging_searches": 9560,</a:t>
            </a:r>
          </a:p>
          <a:p>
            <a:r>
              <a:t>      "navigation_searches": 211413,</a:t>
            </a:r>
          </a:p>
          <a:p>
            <a:r>
              <a:t>      "visitor_yoy_percent": -3.74,</a:t>
            </a:r>
          </a:p>
          <a:p>
            <a:r>
              <a:t>      "spending_yoy_percent": -6.27,</a:t>
            </a:r>
          </a:p>
          <a:p>
            <a:r>
              <a:t>      "metric_changes_percent": {</a:t>
            </a:r>
          </a:p>
          <a:p>
            <a:r>
              <a:t>        "stay_minutes": -3.55,</a:t>
            </a:r>
          </a:p>
          <a:p>
            <a:r>
              <a:t>        "lodging_nights": 0.69,</a:t>
            </a:r>
          </a:p>
          <a:p>
            <a:r>
              <a:t>        "lodging_rate_pct": 0.0,</a:t>
            </a:r>
          </a:p>
          <a:p>
            <a:r>
              <a:t>        "lodging_searches": 0.0,</a:t>
            </a:r>
          </a:p>
          <a:p>
            <a:r>
              <a:t>        "navigation_searches": 0.0</a:t>
            </a:r>
          </a:p>
          <a:p>
            <a:r>
              <a:t>      },</a:t>
            </a:r>
          </a:p>
          <a:p>
            <a:r>
              <a:t>      "previous_year_visitors": 3925237,</a:t>
            </a:r>
          </a:p>
          <a:p>
            <a:r>
              <a:t>      "previous_year_spending_krw": 84007025000,</a:t>
            </a:r>
          </a:p>
          <a:p>
            <a:r>
              <a:t>      "previous_year_stay_minutes": 1233.0,</a:t>
            </a:r>
          </a:p>
          <a:p>
            <a:r>
              <a:t>      "previous_year_lodging_nights": 2.88,</a:t>
            </a:r>
          </a:p>
          <a:p>
            <a:r>
              <a:t>      "previous_year_lodging_rate_pct": 8.5,</a:t>
            </a:r>
          </a:p>
          <a:p>
            <a:r>
              <a:t>      "previous_year_lodging_searches": 9560,</a:t>
            </a:r>
          </a:p>
          <a:p>
            <a:r>
              <a:t>      "previous_year_navigation_searches": 211413</a:t>
            </a:r>
          </a:p>
          <a:p>
            <a:r>
              <a:t>    },</a:t>
            </a:r>
          </a:p>
          <a:p>
            <a:r>
              <a:t>    {</a:t>
            </a:r>
          </a:p>
          <a:p>
            <a:r>
              <a:t>      "month": "202611",</a:t>
            </a:r>
          </a:p>
          <a:p>
            <a:r>
              <a:t>      "visitors": 3748084,</a:t>
            </a:r>
          </a:p>
          <a:p>
            <a:r>
              <a:t>      "is_forecast": true,</a:t>
            </a:r>
          </a:p>
          <a:p>
            <a:r>
              <a:t>      "spending_krw": 81104223698,</a:t>
            </a:r>
          </a:p>
          <a:p>
            <a:r>
              <a:t>      "stay_minutes": 1157.37,</a:t>
            </a:r>
          </a:p>
          <a:p>
            <a:r>
              <a:t>      "lodging_nights": 2.86,</a:t>
            </a:r>
          </a:p>
          <a:p>
            <a:r>
              <a:t>      "lodging_rate_pct": 6.5,</a:t>
            </a:r>
          </a:p>
          <a:p>
            <a:r>
              <a:t>      "lodging_searches": 6582,</a:t>
            </a:r>
          </a:p>
          <a:p>
            <a:r>
              <a:t>      "navigation_searches": 141791,</a:t>
            </a:r>
          </a:p>
          <a:p>
            <a:r>
              <a:t>      "visitor_yoy_percent": -1.44,</a:t>
            </a:r>
          </a:p>
          <a:p>
            <a:r>
              <a:t>      "spending_yoy_percent": -1.77,</a:t>
            </a:r>
          </a:p>
          <a:p>
            <a:r>
              <a:t>      "metric_changes_percent": {</a:t>
            </a:r>
          </a:p>
          <a:p>
            <a:r>
              <a:t>        "stay_minutes": 4.74,</a:t>
            </a:r>
          </a:p>
          <a:p>
            <a:r>
              <a:t>        "lodging_nights": -1.38,</a:t>
            </a:r>
          </a:p>
          <a:p>
            <a:r>
              <a:t>        "lodging_rate_pct": 0.0,</a:t>
            </a:r>
          </a:p>
          <a:p>
            <a:r>
              <a:t>        "lodging_searches": 0.0,</a:t>
            </a:r>
          </a:p>
          <a:p>
            <a:r>
              <a:t>        "navigation_searches": 0.0</a:t>
            </a:r>
          </a:p>
          <a:p>
            <a:r>
              <a:t>      },</a:t>
            </a:r>
          </a:p>
          <a:p>
            <a:r>
              <a:t>      "previous_year_visitors": 3802982,</a:t>
            </a:r>
          </a:p>
          <a:p>
            <a:r>
              <a:t>      "previous_year_spending_krw": 82569585000,</a:t>
            </a:r>
          </a:p>
          <a:p>
            <a:r>
              <a:t>      "previous_year_stay_minutes": 1105.0,</a:t>
            </a:r>
          </a:p>
          <a:p>
            <a:r>
              <a:t>      "previous_year_lodging_nights": 2.9,</a:t>
            </a:r>
          </a:p>
          <a:p>
            <a:r>
              <a:t>      "previous_year_lodging_rate_pct": 6.5,</a:t>
            </a:r>
          </a:p>
          <a:p>
            <a:r>
              <a:t>      "previous_year_lodging_searches": 6582,</a:t>
            </a:r>
          </a:p>
          <a:p>
            <a:r>
              <a:t>      "previous_year_navigation_searches": 141791</a:t>
            </a:r>
          </a:p>
          <a:p>
            <a:r>
              <a:t>    },</a:t>
            </a:r>
          </a:p>
          <a:p>
            <a:r>
              <a:t>    {</a:t>
            </a:r>
          </a:p>
          <a:p>
            <a:r>
              <a:t>      "month": "202612",</a:t>
            </a:r>
          </a:p>
          <a:p>
            <a:r>
              <a:t>      "visitors": 3741663,</a:t>
            </a:r>
          </a:p>
          <a:p>
            <a:r>
              <a:t>      "is_forecast": true,</a:t>
            </a:r>
          </a:p>
          <a:p>
            <a:r>
              <a:t>      "spending_krw": 83702422444,</a:t>
            </a:r>
          </a:p>
          <a:p>
            <a:r>
              <a:t>      "stay_minutes": 1216.03,</a:t>
            </a:r>
          </a:p>
          <a:p>
            <a:r>
              <a:t>      "lodging_nights": 2.93,</a:t>
            </a:r>
          </a:p>
          <a:p>
            <a:r>
              <a:t>      "lodging_rate_pct": 7.4,</a:t>
            </a:r>
          </a:p>
          <a:p>
            <a:r>
              <a:t>      "lodging_searches": 6099,</a:t>
            </a:r>
          </a:p>
          <a:p>
            <a:r>
              <a:t>      "navigation_searches": 134392,</a:t>
            </a:r>
          </a:p>
          <a:p>
            <a:r>
              <a:t>      "visitor_yoy_percent": -1.2,</a:t>
            </a:r>
          </a:p>
          <a:p>
            <a:r>
              <a:t>      "spending_yoy_percent": -1.66,</a:t>
            </a:r>
          </a:p>
          <a:p>
            <a:r>
              <a:t>      "metric_changes_percent": {</a:t>
            </a:r>
          </a:p>
          <a:p>
            <a:r>
              <a:t>        "stay_minutes": 3.49,</a:t>
            </a:r>
          </a:p>
          <a:p>
            <a:r>
              <a:t>        "lodging_nights": 2.81,</a:t>
            </a:r>
          </a:p>
          <a:p>
            <a:r>
              <a:t>        "lodging_rate_pct": 0.0,</a:t>
            </a:r>
          </a:p>
          <a:p>
            <a:r>
              <a:t>        "lodging_searches": 0.0,</a:t>
            </a:r>
          </a:p>
          <a:p>
            <a:r>
              <a:t>        "navigation_searches": 0.0</a:t>
            </a:r>
          </a:p>
          <a:p>
            <a:r>
              <a:t>      },</a:t>
            </a:r>
          </a:p>
          <a:p>
            <a:r>
              <a:t>      "previous_year_visitors": 3787225,</a:t>
            </a:r>
          </a:p>
          <a:p>
            <a:r>
              <a:t>      "previous_year_spending_krw": 85114549000,</a:t>
            </a:r>
          </a:p>
          <a:p>
            <a:r>
              <a:t>      "previous_year_stay_minutes": 1175.0,</a:t>
            </a:r>
          </a:p>
          <a:p>
            <a:r>
              <a:t>      "previous_year_lodging_nights": 2.85,</a:t>
            </a:r>
          </a:p>
          <a:p>
            <a:r>
              <a:t>      "previous_year_lodging_rate_pct": 7.4,</a:t>
            </a:r>
          </a:p>
          <a:p>
            <a:r>
              <a:t>      "previous_year_lodging_searches": 6099,</a:t>
            </a:r>
          </a:p>
          <a:p>
            <a:r>
              <a:t>      "previous_year_navigation_searches": 134392</a:t>
            </a:r>
          </a:p>
          <a:p>
            <a:r>
              <a:t>    }</a:t>
            </a:r>
          </a:p>
          <a:p>
            <a:r>
              <a:t>  ],</a:t>
            </a:r>
          </a:p>
          <a:p>
            <a:r>
              <a:t>  "evaluation": {</a:t>
            </a:r>
          </a:p>
          <a:p>
            <a:r>
              <a:t>    "metrics": {</a:t>
            </a:r>
          </a:p>
          <a:p>
            <a:r>
              <a:t>      "visitors": {</a:t>
            </a:r>
          </a:p>
          <a:p>
            <a:r>
              <a:t>        "test_mae": 116276.26,</a:t>
            </a:r>
          </a:p>
          <a:p>
            <a:r>
              <a:t>        "recursive_mae": {</a:t>
            </a:r>
          </a:p>
          <a:p>
            <a:r>
              <a:t>          "1": {</a:t>
            </a:r>
          </a:p>
          <a:p>
            <a:r>
              <a:t>            "baseline": 107629,</a:t>
            </a:r>
          </a:p>
          <a:p>
            <a:r>
              <a:t>            "selected": 144586,</a:t>
            </a:r>
          </a:p>
          <a:p>
            <a:r>
              <a:t>            "sample_count": 2</a:t>
            </a:r>
          </a:p>
          <a:p>
            <a:r>
              <a:t>          },</a:t>
            </a:r>
          </a:p>
          <a:p>
            <a:r>
              <a:t>          "2": {</a:t>
            </a:r>
          </a:p>
          <a:p>
            <a:r>
              <a:t>            "baseline": 97982,</a:t>
            </a:r>
          </a:p>
          <a:p>
            <a:r>
              <a:t>            "selected": 42697.5,</a:t>
            </a:r>
          </a:p>
          <a:p>
            <a:r>
              <a:t>            "sample_count": 2</a:t>
            </a:r>
          </a:p>
          <a:p>
            <a:r>
              <a:t>          },</a:t>
            </a:r>
          </a:p>
          <a:p>
            <a:r>
              <a:t>          "3": {</a:t>
            </a:r>
          </a:p>
          <a:p>
            <a:r>
              <a:t>            "baseline": 117576.5,</a:t>
            </a:r>
          </a:p>
          <a:p>
            <a:r>
              <a:t>            "selected": 61978,</a:t>
            </a:r>
          </a:p>
          <a:p>
            <a:r>
              <a:t>            "sample_count": 2</a:t>
            </a:r>
          </a:p>
          <a:p>
            <a:r>
              <a:t>          }</a:t>
            </a:r>
          </a:p>
          <a:p>
            <a:r>
              <a:t>        },</a:t>
            </a:r>
          </a:p>
          <a:p>
            <a:r>
              <a:t>        "selected_model": "RandomForestRegressor",</a:t>
            </a:r>
          </a:p>
          <a:p>
            <a:r>
              <a:t>        "baseline_test_mae": 112602.75,</a:t>
            </a:r>
          </a:p>
          <a:p>
            <a:r>
              <a:t>        "model_reliability": "below_baseline_on_test",</a:t>
            </a:r>
          </a:p>
          <a:p>
            <a:r>
              <a:t>        "beats_baseline_on_test": false,</a:t>
            </a:r>
          </a:p>
          <a:p>
            <a:r>
              <a:t>        "recursive_horizons_worse_than_baseline": [</a:t>
            </a:r>
          </a:p>
          <a:p>
            <a:r>
              <a:t>          "1"</a:t>
            </a:r>
          </a:p>
          <a:p>
            <a:r>
              <a:t>        ]</a:t>
            </a:r>
          </a:p>
          <a:p>
            <a:r>
              <a:t>      },</a:t>
            </a:r>
          </a:p>
          <a:p>
            <a:r>
              <a:t>      "spending_krw": {</a:t>
            </a:r>
          </a:p>
          <a:p>
            <a:r>
              <a:t>        "test_mae": 8497417178.46,</a:t>
            </a:r>
          </a:p>
          <a:p>
            <a:r>
              <a:t>        "recursive_mae": {</a:t>
            </a:r>
          </a:p>
          <a:p>
            <a:r>
              <a:t>          "1": {</a:t>
            </a:r>
          </a:p>
          <a:p>
            <a:r>
              <a:t>            "baseline": 8544467500,</a:t>
            </a:r>
          </a:p>
          <a:p>
            <a:r>
              <a:t>            "selected": 9094829451,</a:t>
            </a:r>
          </a:p>
          <a:p>
            <a:r>
              <a:t>            "sample_count": 2</a:t>
            </a:r>
          </a:p>
          <a:p>
            <a:r>
              <a:t>          },</a:t>
            </a:r>
          </a:p>
          <a:p>
            <a:r>
              <a:t>          "2": {</a:t>
            </a:r>
          </a:p>
          <a:p>
            <a:r>
              <a:t>            "baseline": 7477646000,</a:t>
            </a:r>
          </a:p>
          <a:p>
            <a:r>
              <a:t>            "selected": 11843172152.5,</a:t>
            </a:r>
          </a:p>
          <a:p>
            <a:r>
              <a:t>            "sample_count": 2</a:t>
            </a:r>
          </a:p>
          <a:p>
            <a:r>
              <a:t>          },</a:t>
            </a:r>
          </a:p>
          <a:p>
            <a:r>
              <a:t>          "3": {</a:t>
            </a:r>
          </a:p>
          <a:p>
            <a:r>
              <a:t>            "baseline": 3820910500,</a:t>
            </a:r>
          </a:p>
          <a:p>
            <a:r>
              <a:t>            "selected": 11502063502,</a:t>
            </a:r>
          </a:p>
          <a:p>
            <a:r>
              <a:t>            "sample_count": 2</a:t>
            </a:r>
          </a:p>
          <a:p>
            <a:r>
              <a:t>          }</a:t>
            </a:r>
          </a:p>
          <a:p>
            <a:r>
              <a:t>        },</a:t>
            </a:r>
          </a:p>
          <a:p>
            <a:r>
              <a:t>        "selected_model": "LinearRegression",</a:t>
            </a:r>
          </a:p>
          <a:p>
            <a:r>
              <a:t>        "baseline_test_mae": 6182689000,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251.99,</a:t>
            </a:r>
          </a:p>
          <a:p>
            <a:r>
              <a:t>        "recursive_mae": {</a:t>
            </a:r>
          </a:p>
          <a:p>
            <a:r>
              <a:t>          "1": {</a:t>
            </a:r>
          </a:p>
          <a:p>
            <a:r>
              <a:t>            "baseline": 54.5,</a:t>
            </a:r>
          </a:p>
          <a:p>
            <a:r>
              <a:t>            "selected": 117.74,</a:t>
            </a:r>
          </a:p>
          <a:p>
            <a:r>
              <a:t>            "sample_count": 2</a:t>
            </a:r>
          </a:p>
          <a:p>
            <a:r>
              <a:t>          },</a:t>
            </a:r>
          </a:p>
          <a:p>
            <a:r>
              <a:t>          "2": {</a:t>
            </a:r>
          </a:p>
          <a:p>
            <a:r>
              <a:t>            "baseline": 205.5,</a:t>
            </a:r>
          </a:p>
          <a:p>
            <a:r>
              <a:t>            "selected": 187.84,</a:t>
            </a:r>
          </a:p>
          <a:p>
            <a:r>
              <a:t>            "sample_count": 2</a:t>
            </a:r>
          </a:p>
          <a:p>
            <a:r>
              <a:t>          },</a:t>
            </a:r>
          </a:p>
          <a:p>
            <a:r>
              <a:t>          "3": {</a:t>
            </a:r>
          </a:p>
          <a:p>
            <a:r>
              <a:t>            "baseline": 208.5,</a:t>
            </a:r>
          </a:p>
          <a:p>
            <a:r>
              <a:t>            "selected": 234.17,</a:t>
            </a:r>
          </a:p>
          <a:p>
            <a:r>
              <a:t>            "sample_count": 2</a:t>
            </a:r>
          </a:p>
          <a:p>
            <a:r>
              <a:t>          }</a:t>
            </a:r>
          </a:p>
          <a:p>
            <a:r>
              <a:t>        },</a:t>
            </a:r>
          </a:p>
          <a:p>
            <a:r>
              <a:t>        "selected_model": "LinearRegression",</a:t>
            </a:r>
          </a:p>
          <a:p>
            <a:r>
              <a:t>        "baseline_test_mae": 131.5,</a:t>
            </a:r>
          </a:p>
          <a:p>
            <a:r>
              <a:t>        "model_reliability": "below_baseline_on_test",</a:t>
            </a:r>
          </a:p>
          <a:p>
            <a:r>
              <a:t>        "beats_baseline_on_test": false,</a:t>
            </a:r>
          </a:p>
          <a:p>
            <a:r>
              <a:t>        "recursive_horizons_worse_than_baseline": [</a:t>
            </a:r>
          </a:p>
          <a:p>
            <a:r>
              <a:t>          "1",</a:t>
            </a:r>
          </a:p>
          <a:p>
            <a:r>
              <a:t>          "3"</a:t>
            </a:r>
          </a:p>
          <a:p>
            <a:r>
              <a:t>        ]</a:t>
            </a:r>
          </a:p>
          <a:p>
            <a:r>
              <a:t>      },</a:t>
            </a:r>
          </a:p>
          <a:p>
            <a:r>
              <a:t>      "lodging_nights": {</a:t>
            </a:r>
          </a:p>
          <a:p>
            <a:r>
              <a:t>        "test_mae": 0.08,</a:t>
            </a:r>
          </a:p>
          <a:p>
            <a:r>
              <a:t>        "recursive_mae": {</a:t>
            </a:r>
          </a:p>
          <a:p>
            <a:r>
              <a:t>          "1": {</a:t>
            </a:r>
          </a:p>
          <a:p>
            <a:r>
              <a:t>            "baseline": 0.07,</a:t>
            </a:r>
          </a:p>
          <a:p>
            <a:r>
              <a:t>            "selected": 0.04,</a:t>
            </a:r>
          </a:p>
          <a:p>
            <a:r>
              <a:t>            "sample_count": 2</a:t>
            </a:r>
          </a:p>
          <a:p>
            <a:r>
              <a:t>          },</a:t>
            </a:r>
          </a:p>
          <a:p>
            <a:r>
              <a:t>          "2": {</a:t>
            </a:r>
          </a:p>
          <a:p>
            <a:r>
              <a:t>            "baseline": 0.11,</a:t>
            </a:r>
          </a:p>
          <a:p>
            <a:r>
              <a:t>            "selected": 0.09,</a:t>
            </a:r>
          </a:p>
          <a:p>
            <a:r>
              <a:t>            "sample_count": 2</a:t>
            </a:r>
          </a:p>
          <a:p>
            <a:r>
              <a:t>          },</a:t>
            </a:r>
          </a:p>
          <a:p>
            <a:r>
              <a:t>          "3": {</a:t>
            </a:r>
          </a:p>
          <a:p>
            <a:r>
              <a:t>            "baseline": 0.1,</a:t>
            </a:r>
          </a:p>
          <a:p>
            <a:r>
              <a:t>            "selected": 0.07,</a:t>
            </a:r>
          </a:p>
          <a:p>
            <a:r>
              <a:t>            "sample_count": 2</a:t>
            </a:r>
          </a:p>
          <a:p>
            <a:r>
              <a:t>          }</a:t>
            </a:r>
          </a:p>
          <a:p>
            <a:r>
              <a:t>        },</a:t>
            </a:r>
          </a:p>
          <a:p>
            <a:r>
              <a:t>        "selected_model": "LinearRegression",</a:t>
            </a:r>
          </a:p>
          <a:p>
            <a:r>
              <a:t>        "baseline_test_mae": 0.09,</a:t>
            </a:r>
          </a:p>
          <a:p>
            <a:r>
              <a:t>        "model_reliability": "limited_backtest_support",</a:t>
            </a:r>
          </a:p>
          <a:p>
            <a:r>
              <a:t>        "beats_baseline_on_test": true,</a:t>
            </a:r>
          </a:p>
          <a:p>
            <a:r>
              <a:t>        "recursive_horizons_worse_than_baseline": []</a:t>
            </a:r>
          </a:p>
          <a:p>
            <a:r>
              <a:t>      },</a:t>
            </a:r>
          </a:p>
          <a:p>
            <a:r>
              <a:t>      "lodging_rate_pct": {</a:t>
            </a:r>
          </a:p>
          <a:p>
            <a:r>
              <a:t>        "test_mae": 0.27,</a:t>
            </a:r>
          </a:p>
          <a:p>
            <a:r>
              <a:t>        "recursive_mae": {</a:t>
            </a:r>
          </a:p>
          <a:p>
            <a:r>
              <a:t>          "1": {</a:t>
            </a:r>
          </a:p>
          <a:p>
            <a:r>
              <a:t>            "baseline": 0.35,</a:t>
            </a:r>
          </a:p>
          <a:p>
            <a:r>
              <a:t>            "selected": 0.35,</a:t>
            </a:r>
          </a:p>
          <a:p>
            <a:r>
              <a:t>            "sample_count": 2</a:t>
            </a:r>
          </a:p>
          <a:p>
            <a:r>
              <a:t>          },</a:t>
            </a:r>
          </a:p>
          <a:p>
            <a:r>
              <a:t>          "2": {</a:t>
            </a:r>
          </a:p>
          <a:p>
            <a:r>
              <a:t>            "baseline": 0.1,</a:t>
            </a:r>
          </a:p>
          <a:p>
            <a:r>
              <a:t>            "selected": 0.1,</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0.27,</a:t>
            </a:r>
          </a:p>
          <a:p>
            <a:r>
              <a:t>        "model_reliability": "seasonal_baseline",</a:t>
            </a:r>
          </a:p>
          <a:p>
            <a:r>
              <a:t>        "beats_baseline_on_test": false,</a:t>
            </a:r>
          </a:p>
          <a:p>
            <a:r>
              <a:t>        "recursive_horizons_worse_than_baseline": []</a:t>
            </a:r>
          </a:p>
          <a:p>
            <a:r>
              <a:t>      },</a:t>
            </a:r>
          </a:p>
          <a:p>
            <a:r>
              <a:t>      "lodging_searches": {</a:t>
            </a:r>
          </a:p>
          <a:p>
            <a:r>
              <a:t>        "test_mae": 414.25,</a:t>
            </a:r>
          </a:p>
          <a:p>
            <a:r>
              <a:t>        "recursive_mae": {</a:t>
            </a:r>
          </a:p>
          <a:p>
            <a:r>
              <a:t>          "1": {</a:t>
            </a:r>
          </a:p>
          <a:p>
            <a:r>
              <a:t>            "baseline": 527,</a:t>
            </a:r>
          </a:p>
          <a:p>
            <a:r>
              <a:t>            "selected": 527,</a:t>
            </a:r>
          </a:p>
          <a:p>
            <a:r>
              <a:t>            "sample_count": 2</a:t>
            </a:r>
          </a:p>
          <a:p>
            <a:r>
              <a:t>          },</a:t>
            </a:r>
          </a:p>
          <a:p>
            <a:r>
              <a:t>          "2": {</a:t>
            </a:r>
          </a:p>
          <a:p>
            <a:r>
              <a:t>            "baseline": 252.5,</a:t>
            </a:r>
          </a:p>
          <a:p>
            <a:r>
              <a:t>            "selected": 252.5,</a:t>
            </a:r>
          </a:p>
          <a:p>
            <a:r>
              <a:t>            "sample_count": 2</a:t>
            </a:r>
          </a:p>
          <a:p>
            <a:r>
              <a:t>          },</a:t>
            </a:r>
          </a:p>
          <a:p>
            <a:r>
              <a:t>          "3": {</a:t>
            </a:r>
          </a:p>
          <a:p>
            <a:r>
              <a:t>            "baseline": 301.5,</a:t>
            </a:r>
          </a:p>
          <a:p>
            <a:r>
              <a:t>            "selected": 301.5,</a:t>
            </a:r>
          </a:p>
          <a:p>
            <a:r>
              <a:t>            "sample_count": 2</a:t>
            </a:r>
          </a:p>
          <a:p>
            <a:r>
              <a:t>          }</a:t>
            </a:r>
          </a:p>
          <a:p>
            <a:r>
              <a:t>        },</a:t>
            </a:r>
          </a:p>
          <a:p>
            <a:r>
              <a:t>        "selected_model": "seasonal_naive_previous_year_same_month",</a:t>
            </a:r>
          </a:p>
          <a:p>
            <a:r>
              <a:t>        "baseline_test_mae": 414.25,</a:t>
            </a:r>
          </a:p>
          <a:p>
            <a:r>
              <a:t>        "model_reliability": "seasonal_baseline",</a:t>
            </a:r>
          </a:p>
          <a:p>
            <a:r>
              <a:t>        "beats_baseline_on_test": false,</a:t>
            </a:r>
          </a:p>
          <a:p>
            <a:r>
              <a:t>        "recursive_horizons_worse_than_baseline": []</a:t>
            </a:r>
          </a:p>
          <a:p>
            <a:r>
              <a:t>      },</a:t>
            </a:r>
          </a:p>
          <a:p>
            <a:r>
              <a:t>      "navigation_searches": {</a:t>
            </a:r>
          </a:p>
          <a:p>
            <a:r>
              <a:t>        "test_mae": 6613.5,</a:t>
            </a:r>
          </a:p>
          <a:p>
            <a:r>
              <a:t>        "recursive_mae": {</a:t>
            </a:r>
          </a:p>
          <a:p>
            <a:r>
              <a:t>          "1": {</a:t>
            </a:r>
          </a:p>
          <a:p>
            <a:r>
              <a:t>            "baseline": 7157.5,</a:t>
            </a:r>
          </a:p>
          <a:p>
            <a:r>
              <a:t>            "selected": 7157.5,</a:t>
            </a:r>
          </a:p>
          <a:p>
            <a:r>
              <a:t>            "sample_count": 2</a:t>
            </a:r>
          </a:p>
          <a:p>
            <a:r>
              <a:t>          },</a:t>
            </a:r>
          </a:p>
          <a:p>
            <a:r>
              <a:t>          "2": {</a:t>
            </a:r>
          </a:p>
          <a:p>
            <a:r>
              <a:t>            "baseline": 2837.5,</a:t>
            </a:r>
          </a:p>
          <a:p>
            <a:r>
              <a:t>            "selected": 2837.5,</a:t>
            </a:r>
          </a:p>
          <a:p>
            <a:r>
              <a:t>            "sample_count": 2</a:t>
            </a:r>
          </a:p>
          <a:p>
            <a:r>
              <a:t>          },</a:t>
            </a:r>
          </a:p>
          <a:p>
            <a:r>
              <a:t>          "3": {</a:t>
            </a:r>
          </a:p>
          <a:p>
            <a:r>
              <a:t>            "baseline": 6069.5,</a:t>
            </a:r>
          </a:p>
          <a:p>
            <a:r>
              <a:t>            "selected": 6069.5,</a:t>
            </a:r>
          </a:p>
          <a:p>
            <a:r>
              <a:t>            "sample_count": 2</a:t>
            </a:r>
          </a:p>
          <a:p>
            <a:r>
              <a:t>          }</a:t>
            </a:r>
          </a:p>
          <a:p>
            <a:r>
              <a:t>        },</a:t>
            </a:r>
          </a:p>
          <a:p>
            <a:r>
              <a:t>        "selected_model": "seasonal_naive_previous_year_same_month",</a:t>
            </a:r>
          </a:p>
          <a:p>
            <a:r>
              <a:t>        "baseline_test_mae": 6613.5,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"본문 기준"</a:t>
            </a:r>
          </a:p>
          <a:p>
            <a:r>
              <a:t>      ]</a:t>
            </a:r>
          </a:p>
          <a:p>
            <a:r>
              <a:t>    ],</a:t>
            </a:r>
          </a:p>
          <a:p>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dataset:28237:1 | 한국관광 데이터랩 · 인천광역시 부평구 순 방문자 수 및 숙박 비율 (이동통신 기반 외지인) | https://datalab.visitkorea.or.kr/</a:t>
            </a:r>
          </a:p>
          <a:p>
            <a:r>
              <a:t>dataset:28237:2 | 한국관광 데이터랩 · 인천광역시 부평구 월간 순 방문자 수 (이동통신 기반 외지인) | https://datalab.visitkorea.or.kr/</a:t>
            </a:r>
          </a:p>
          <a:p>
            <a:r>
              <a:t>dataset:28237:3 | 한국관광 데이터랩 · 인천광역시 부평구 관광소비 추이_외지인 | https://datalab.visitkorea.or.kr/</a:t>
            </a:r>
          </a:p>
          <a:p>
            <a:r>
              <a:t>dataset:28237:4 | 한국관광 데이터랩 · 인천광역시 부평구 숙박방문자 비율 추이 (이동통신 기반 외지인) | https://datalab.visitkorea.or.kr/</a:t>
            </a:r>
          </a:p>
          <a:p>
            <a:r>
              <a:t>dataset:28237:5 | 한국관광 데이터랩 · 인천광역시 부평구 평균 숙박일 (이동통신 기반 외지인) | https://datalab.visitkorea.or.kr/</a:t>
            </a:r>
          </a:p>
          <a:p>
            <a:r>
              <a:t>dataset:28237:6 | 한국관광 데이터랩 · 인천광역시 부평구 내비게이션 목적지 유형별 검색량 | https://datalab.visitkorea.or.kr/</a:t>
            </a:r>
          </a:p>
          <a:p>
            <a:r>
              <a:t>dataset:28237:7 | 한국관광 데이터랩 · 인천광역시 부평구 SNS 언급량 | https://datalab.visitkorea.or.kr/</a:t>
            </a:r>
          </a:p>
          <a:p>
            <a:r>
              <a:t>datalab:088dce68db8c:f9e07528e9cc | 관광소비/2025_01_12.zip | https://datalab.visitkorea.or.kr/</a:t>
            </a:r>
          </a:p>
          <a:p>
            <a:r>
              <a:t>datalab:12893561bbea:153ed3aa5a6e | 숙박_체류시간/2026_01_06.zip | https://datalab.visitkorea.or.kr/</a:t>
            </a:r>
          </a:p>
          <a:p>
            <a:r>
              <a:t>datalab:328e6d50da04:877452ad2b59 | 방문자/2025_01_12.zip | https://datalab.visitkorea.or.kr/</a:t>
            </a:r>
          </a:p>
          <a:p>
            <a:r>
              <a:t>datalab:5104039977f5:37dc3b7e64b5 | 방문자/2026_01_06.zip | https://datalab.visitkorea.or.kr/</a:t>
            </a:r>
          </a:p>
          <a:p>
            <a:r>
              <a:t>datalab:b7bac265962d:97cf4d1db102 | 숙박_체류시간/2025_01_12.zip | https://datalab.visitkorea.or.kr/</a:t>
            </a:r>
          </a:p>
          <a:p>
            <a:r>
              <a:t>datalab:bd21758c8a88:9597865e62ef | 관광소비/2026_01_06.zip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regional-status:0b32b3d6db4d:a1a67792e3b1 | 한국관광 데이터랩 지역별 관광 현황 · 인천광역시 부평구 · 지역집중률 | https://datalab.visitkorea.or.kr/</a:t>
            </a:r>
          </a:p>
          <a:p>
            <a:r>
              <a:t>regional-status:98eebe8613d3:723745281038 | 한국관광 데이터랩 지역별 관광 현황 · 인천광역시 부평구 · 유입유출 | https://datalab.visitkorea.or.kr/</a:t>
            </a:r>
          </a:p>
          <a:p>
            <a:r>
              <a:t>regional-status:b12ff2da0892:a553d7015259 | 한국관광 데이터랩 지역별 관광 현황 · 인천광역시 부평구 · 인기관광지 | https://datalab.visitkorea.or.kr/</a:t>
            </a:r>
          </a:p>
          <a:p>
            <a:r>
              <a:t>ml:28237:regional-demand-v3.1:202606 | 지역 관광수요 ML 전망 · 공식 관측값 아님 | URL 미기록</a:t>
            </a:r>
          </a:p>
          <a:p>
            <a:r>
              <a:t>tour-api:1619098 | 굴포천 생태하천 | https://apis.data.go.kr/B551011/KorService2</a:t>
            </a:r>
          </a:p>
          <a:p>
            <a:r>
              <a:t>tour-api:2875411 | 대왕김밥 | https://apis.data.go.kr/B551011/KorService2</a:t>
            </a:r>
          </a:p>
          <a:p>
            <a:r>
              <a:t>tour-api:2768148 | 돈타래게장정식 | https://apis.data.go.kr/B551011/KorService2</a:t>
            </a:r>
          </a:p>
          <a:p>
            <a:r>
              <a:t>tour-api:2873461 | 면박사가야밀면 | https://apis.data.go.kr/B551011/KorService2</a:t>
            </a:r>
          </a:p>
          <a:p>
            <a:r>
              <a:t>tour-api:2833868 | 모녀떡볶이 부평남부역점 | https://apis.data.go.kr/B551011/KorService2</a:t>
            </a:r>
          </a:p>
          <a:p>
            <a:r>
              <a:t>tour-api:2768156 | 백운공원 | https://apis.data.go.kr/B551011/KorService2</a:t>
            </a:r>
          </a:p>
          <a:p>
            <a:r>
              <a:t>tour-api:2875455 | 별미칡냉면원조 | https://apis.data.go.kr/B551011/KorService2</a:t>
            </a:r>
          </a:p>
          <a:p>
            <a:r>
              <a:t>tour-api:2767563 | 부영공원 | https://apis.data.go.kr/B551011/KorService2</a:t>
            </a:r>
          </a:p>
          <a:p>
            <a:r>
              <a:t>tour-api:3456754 | 부평 굴포누리 기후변화체험관 | https://apis.data.go.kr/B551011/KorService2</a:t>
            </a:r>
          </a:p>
          <a:p>
            <a:r>
              <a:t>tour-api:1025514 | 부평 종합시장 | https://apis.data.go.kr/B551011/KorService2</a:t>
            </a:r>
          </a:p>
          <a:p>
            <a:r>
              <a:t>tour-api:749211 | 부평 해물탕거리 | https://apis.data.go.kr/B551011/KorService2</a:t>
            </a:r>
          </a:p>
          <a:p>
            <a:r>
              <a:t>tour-api:2021033 | 부평모두몰(부평지하도상가) | https://apis.data.go.kr/B551011/KorService2</a:t>
            </a:r>
          </a:p>
          <a:p>
            <a:r>
              <a:t>tour-api:2768142 | 부평시장 | https://apis.data.go.kr/B551011/KorService2</a:t>
            </a:r>
          </a:p>
          <a:p>
            <a:r>
              <a:t>tour-api:3457385 | 부평아트센터 | https://apis.data.go.kr/B551011/KorService2</a:t>
            </a:r>
          </a:p>
          <a:p>
            <a:r>
              <a:t>tour-api:2768190 | 부평역북광장 | https://apis.data.go.kr/B551011/KorService2</a:t>
            </a:r>
          </a:p>
          <a:p>
            <a:r>
              <a:t>tour-api:2875488 | 부흥기사식당 | https://apis.data.go.kr/B551011/KorService2</a:t>
            </a:r>
          </a:p>
          <a:p>
            <a:r>
              <a:t>tour-api:2768180 | 삼산건강공원 | https://apis.data.go.kr/B551011/KorService2</a:t>
            </a:r>
          </a:p>
          <a:p>
            <a:r>
              <a:t>tour-api:126568 | 신트리공원(인천) | https://apis.data.go.kr/B551011/KorService2</a:t>
            </a:r>
          </a:p>
          <a:p>
            <a:r>
              <a:t>tour-api:2835948 | 양평신내서울해장국 부평직영점 | https://apis.data.go.kr/B551011/KorService2</a:t>
            </a:r>
          </a:p>
          <a:p>
            <a:r>
              <a:t>tour-api:2765473 | 열우물전통시장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a:r>
              <a:t>case:c621f7b6c81807 | 서울특별시 ‘서울의 밤이 더 길어진다—서울달 금·토 심야 운영’ 및 운영 확대 자료 | https://www.seoul.go.kr/news/news_report.do?nttNo=462801</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인천광역시 부평구 순 방문자 수 및 숙박 비율 (이동통신 기반 외지인)",</a:t>
            </a:r>
          </a:p>
          <a:p>
            <a:r>
              <a:t>      "summary": "월간 순 방문자 수: 3,514,485명 (관측 기준월: 2026-06)",</a:t>
            </a:r>
          </a:p>
          <a:p>
            <a:r>
              <a:t>      "source_id": "dataset:28237:1",</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월간 순 방문자 수 (이동통신 기반 외지인)",</a:t>
            </a:r>
          </a:p>
          <a:p>
            <a:r>
              <a:t>      "summary": "전년동월 외지인 방문자 증감률: -2.2% (관측 기준월: 2026-06)",</a:t>
            </a:r>
          </a:p>
          <a:p>
            <a:r>
              <a:t>      "source_id": "dataset:28237:2",</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관광소비 추이_외지인",</a:t>
            </a:r>
          </a:p>
          <a:p>
            <a:r>
              <a:t>      "summary": "월간 외지인 관광소비 총액: 77,138,204,000원 (관측 기준월: 2026-06)",</a:t>
            </a:r>
          </a:p>
          <a:p>
            <a:r>
              <a:t>      "source_id": "dataset:28237:3",</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숙박방문자 비율 추이 (이동통신 기반 외지인)",</a:t>
            </a:r>
          </a:p>
          <a:p>
            <a:r>
              <a:t>      "summary": "외지인 숙박 방문 비율: 6.6% (관측 기준월: 2026-06)",</a:t>
            </a:r>
          </a:p>
          <a:p>
            <a:r>
              <a:t>      "source_id": "dataset:28237:4",</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평균 숙박일 (이동통신 기반 외지인)",</a:t>
            </a:r>
          </a:p>
          <a:p>
            <a:r>
              <a:t>      "summary": "외지인 평균 숙박일수: 2.90일 (관측 기준월: 2026-06)",</a:t>
            </a:r>
          </a:p>
          <a:p>
            <a:r>
              <a:t>      "source_id": "dataset:28237:5",</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내비게이션 목적지 유형별 검색량",</a:t>
            </a:r>
          </a:p>
          <a:p>
            <a:r>
              <a:t>      "summary": "내비게이션 목적지 검색량: 121,606건 (관측 기준월: 2026-06)",</a:t>
            </a:r>
          </a:p>
          <a:p>
            <a:r>
              <a:t>      "source_id": "dataset:28237:6",</a:t>
            </a:r>
          </a:p>
          <a:p>
            <a:r>
              <a:t>      "source_url": "https://datalab.visitkorea.or.kr/",</a:t>
            </a:r>
          </a:p>
          <a:p>
            <a:r>
              <a:t>      "source_type": "dataset",</a:t>
            </a:r>
          </a:p>
          <a:p>
            <a:r>
              <a:t>      "observation_period": "2026-06",</a:t>
            </a:r>
          </a:p>
          <a:p>
            <a:r>
              <a:t>      "published_or_updated_at": "2026-06"</a:t>
            </a:r>
          </a:p>
          <a:p>
            <a:r>
              <a:t>    },</a:t>
            </a:r>
          </a:p>
          <a:p>
            <a:r>
              <a:t>    {</a:t>
            </a:r>
          </a:p>
          <a:p>
            <a:r>
              <a:t>      "title": "한국관광 데이터랩 · 인천광역시 부평구 SNS 언급량",</a:t>
            </a:r>
          </a:p>
          <a:p>
            <a:r>
              <a:t>      "summary": "SNS 언급량: 44,932건 (관측 기준월: 2026-06)",</a:t>
            </a:r>
          </a:p>
          <a:p>
            <a:r>
              <a:t>      "source_id": "dataset:28237:7",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인천광역시_부평구/관광소비/2025_01_12.zip",</a:t>
            </a:r>
          </a:p>
          <a:p>
            <a:r>
              <a:t>      "summary": "전국 비교 기준 기간: 2025-07 ~ 2026-06",</a:t>
            </a:r>
          </a:p>
          <a:p>
            <a:r>
              <a:t>      "source_id": "datalab:088dce68db8c:f9e07528e9cc",</a:t>
            </a:r>
          </a:p>
          <a:p>
            <a:r>
              <a:t>      "source_url": "https://datalab.visitkorea.or.kr/",</a:t>
            </a:r>
          </a:p>
          <a:p>
            <a:r>
              <a:t>      "source_type": "nationwide_dataset",</a:t>
            </a:r>
          </a:p>
          <a:p>
            <a:r>
              <a:t>      "observation_period": "2025-07 ~ 2026-06",</a:t>
            </a:r>
          </a:p>
          <a:p>
            <a:r>
              <a:t>      "published_or_updated_at": "2024-07 ~ 2025-06",</a:t>
            </a:r>
          </a:p>
          <a:p>
            <a:r>
              <a:t>      "source_file_name": "인천광역시_부평구/관광소비/2025_01_12.zip"</a:t>
            </a:r>
          </a:p>
          <a:p>
            <a:r>
              <a:t>    },</a:t>
            </a:r>
          </a:p>
          <a:p>
            <a:r>
              <a:t>    {</a:t>
            </a:r>
          </a:p>
          <a:p>
            <a:r>
              <a:t>      "title": "한국관광 데이터랩 공식 다운로드 · 인천광역시_부평구/숙박_체류시간/2026_01_06.zip",</a:t>
            </a:r>
          </a:p>
          <a:p>
            <a:r>
              <a:t>      "summary": "전국 비교 기준 기간: 2025-07 ~ 2026-06",</a:t>
            </a:r>
          </a:p>
          <a:p>
            <a:r>
              <a:t>      "source_id": "datalab:12893561bbea:153ed3aa5a6e",</a:t>
            </a:r>
          </a:p>
          <a:p>
            <a:r>
              <a:t>      "source_url": "https://datalab.visitkorea.or.kr/",</a:t>
            </a:r>
          </a:p>
          <a:p>
            <a:r>
              <a:t>      "source_type": "nationwide_dataset",</a:t>
            </a:r>
          </a:p>
          <a:p>
            <a:r>
              <a:t>      "observation_period": "2025-07 ~ 2026-06",</a:t>
            </a:r>
          </a:p>
          <a:p>
            <a:r>
              <a:t>      "published_or_updated_at": "2024-07 ~ 2025-06",</a:t>
            </a:r>
          </a:p>
          <a:p>
            <a:r>
              <a:t>      "source_file_name": "인천광역시_부평구/숙박_체류시간/2026_01_06.zip"</a:t>
            </a:r>
          </a:p>
          <a:p>
            <a:r>
              <a:t>    },</a:t>
            </a:r>
          </a:p>
          <a:p>
            <a:r>
              <a:t>    {</a:t>
            </a:r>
          </a:p>
          <a:p>
            <a:r>
              <a:t>      "title": "한국관광 데이터랩 공식 다운로드 · 인천광역시_부평구/방문자/2025_01_12.zip",</a:t>
            </a:r>
          </a:p>
          <a:p>
            <a:r>
              <a:t>      "summary": "전국 비교 기준 기간: 2025-07 ~ 2026-06",</a:t>
            </a:r>
          </a:p>
          <a:p>
            <a:r>
              <a:t>      "source_id": "datalab:328e6d50da04:877452ad2b59",</a:t>
            </a:r>
          </a:p>
          <a:p>
            <a:r>
              <a:t>      "source_url": "https://datalab.visitkorea.or.kr/",</a:t>
            </a:r>
          </a:p>
          <a:p>
            <a:r>
              <a:t>      "source_type": "nationwide_dataset",</a:t>
            </a:r>
          </a:p>
          <a:p>
            <a:r>
              <a:t>      "observation_period": "2025-07 ~ 2026-06",</a:t>
            </a:r>
          </a:p>
          <a:p>
            <a:r>
              <a:t>      "published_or_updated_at": "2024-07 ~ 2025-06",</a:t>
            </a:r>
          </a:p>
          <a:p>
            <a:r>
              <a:t>      "source_file_name": "인천광역시_부평구/방문자/2025_01_12.zip"</a:t>
            </a:r>
          </a:p>
          <a:p>
            <a:r>
              <a:t>    },</a:t>
            </a:r>
          </a:p>
          <a:p>
            <a:r>
              <a:t>    {</a:t>
            </a:r>
          </a:p>
          <a:p>
            <a:r>
              <a:t>      "title": "한국관광 데이터랩 공식 다운로드 · 인천광역시_부평구/방문자/2026_01_06.zip",</a:t>
            </a:r>
          </a:p>
          <a:p>
            <a:r>
              <a:t>      "summary": "전국 비교 기준 기간: 2025-07 ~ 2026-06",</a:t>
            </a:r>
          </a:p>
          <a:p>
            <a:r>
              <a:t>      "source_id": "datalab:5104039977f5:37dc3b7e64b5",</a:t>
            </a:r>
          </a:p>
          <a:p>
            <a:r>
              <a:t>      "source_url": "https://datalab.visitkorea.or.kr/",</a:t>
            </a:r>
          </a:p>
          <a:p>
            <a:r>
              <a:t>      "source_type": "nationwide_dataset",</a:t>
            </a:r>
          </a:p>
          <a:p>
            <a:r>
              <a:t>      "observation_period": "2025-07 ~ 2026-06",</a:t>
            </a:r>
          </a:p>
          <a:p>
            <a:r>
              <a:t>      "published_or_updated_at": "2024-07 ~ 2025-06",</a:t>
            </a:r>
          </a:p>
          <a:p>
            <a:r>
              <a:t>      "source_file_name": "인천광역시_부평구/방문자/2026_01_06.zip"</a:t>
            </a:r>
          </a:p>
          <a:p>
            <a:r>
              <a:t>    },</a:t>
            </a:r>
          </a:p>
          <a:p>
            <a:r>
              <a:t>    {</a:t>
            </a:r>
          </a:p>
          <a:p>
            <a:r>
              <a:t>      "title": "한국관광 데이터랩 공식 다운로드 · 인천광역시_부평구/숙박_체류시간/2025_01_12.zip",</a:t>
            </a:r>
          </a:p>
          <a:p>
            <a:r>
              <a:t>      "summary": "전국 비교 기준 기간: 2025-07 ~ 2026-06",</a:t>
            </a:r>
          </a:p>
          <a:p>
            <a:r>
              <a:t>      "source_id": "datalab:b7bac265962d:97cf4d1db102",</a:t>
            </a:r>
          </a:p>
          <a:p>
            <a:r>
              <a:t>      "source_url": "https://datalab.visitkorea.or.kr/",</a:t>
            </a:r>
          </a:p>
          <a:p>
            <a:r>
              <a:t>      "source_type": "nationwide_dataset",</a:t>
            </a:r>
          </a:p>
          <a:p>
            <a:r>
              <a:t>      "observation_period": "2025-07 ~ 2026-06",</a:t>
            </a:r>
          </a:p>
          <a:p>
            <a:r>
              <a:t>      "published_or_updated_at": "2024-07 ~ 2025-06",</a:t>
            </a:r>
          </a:p>
          <a:p>
            <a:r>
              <a:t>      "source_file_name": "인천광역시_부평구/숙박_체류시간/2025_01_12.zip"</a:t>
            </a:r>
          </a:p>
          <a:p>
            <a:r>
              <a:t>    },</a:t>
            </a:r>
          </a:p>
          <a:p>
            <a:r>
              <a:t>    {</a:t>
            </a:r>
          </a:p>
          <a:p>
            <a:r>
              <a:t>      "title": "한국관광 데이터랩 공식 다운로드 · 인천광역시_부평구/관광소비/2026_01_06.zip",</a:t>
            </a:r>
          </a:p>
          <a:p>
            <a:r>
              <a:t>      "summary": "전국 비교 기준 기간: 2025-07 ~ 2026-06",</a:t>
            </a:r>
          </a:p>
          <a:p>
            <a:r>
              <a:t>      "source_id": "datalab:bd21758c8a88:9597865e62ef",</a:t>
            </a:r>
          </a:p>
          <a:p>
            <a:r>
              <a:t>      "source_url": "https://datalab.visitkorea.or.kr/",</a:t>
            </a:r>
          </a:p>
          <a:p>
            <a:r>
              <a:t>      "source_type": "nationwide_dataset",</a:t>
            </a:r>
          </a:p>
          <a:p>
            <a:r>
              <a:t>      "observation_period": "2025-07 ~ 2026-06",</a:t>
            </a:r>
          </a:p>
          <a:p>
            <a:r>
              <a:t>      "published_or_updated_at": "2024-07 ~ 2025-06",</a:t>
            </a:r>
          </a:p>
          <a:p>
            <a:r>
              <a:t>      "source_file_name": "인천광역시_부평구/관광소비/2026_01_06.zip"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인천광역시 부평구 · 지역집중률",</a:t>
            </a:r>
          </a:p>
          <a:p>
            <a:r>
              <a:t>      "summary": "관측 기간: 2025-07 ~ 2026-06. 유입·유출·인기장소 또는 30일 집중 운영 신호.",</a:t>
            </a:r>
          </a:p>
          <a:p>
            <a:r>
              <a:t>      "source_id": "regional-status:0b32b3d6db4d:a1a67792e3b1",</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인천광역시 부평구 · 유입유출",</a:t>
            </a:r>
          </a:p>
          <a:p>
            <a:r>
              <a:t>      "summary": "관측 기간: 2025-07 ~ 2026-06. 유입·유출·인기장소 또는 30일 집중 운영 신호.",</a:t>
            </a:r>
          </a:p>
          <a:p>
            <a:r>
              <a:t>      "source_id": "regional-status:98eebe8613d3:723745281038",</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인천광역시 부평구 · 인기관광지",</a:t>
            </a:r>
          </a:p>
          <a:p>
            <a:r>
              <a:t>      "summary": "관측 기간: 2025-07 ~ 2026-06. 유입·유출·인기장소 또는 30일 집중 운영 신호.",</a:t>
            </a:r>
          </a:p>
          <a:p>
            <a:r>
              <a:t>      "source_id": "regional-status:b12ff2da0892:a553d7015259",</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"ml:28237:regional-demand-v3.1:202606",</a:t>
            </a:r>
          </a:p>
          <a:p>
            <a:r>
              <a:t>      "source_url": "",</a:t>
            </a:r>
          </a:p>
          <a:p>
            <a:r>
              <a:t>      "source_type": "model_forecast",</a:t>
            </a:r>
          </a:p>
          <a:p>
            <a:r>
              <a:t>      "model_version": "regional-demand-v3.1",</a:t>
            </a:r>
          </a:p>
          <a:p>
            <a:r>
              <a:t>      "data_fingerprint": "06231bffd046b8ec0625c675881feb25e51324ad265d5b5ecf0dc8d247440a7d"</a:t>
            </a:r>
          </a:p>
          <a:p>
            <a:r>
              <a:t>    },</a:t>
            </a:r>
          </a:p>
          <a:p>
            <a:r>
              <a:t>    {</a:t>
            </a:r>
          </a:p>
          <a:p>
            <a:r>
              <a:t>      "title": "굴포천 생태하천",</a:t>
            </a:r>
          </a:p>
          <a:p>
            <a:r>
              <a:t>      "address": "인천광역시 부평구 굴포로 141 (삼산동)",</a:t>
            </a:r>
          </a:p>
          <a:p>
            <a:r>
              <a:t>      "summary": "한국관광공사 국문관광정보 API가 반환한 선택 지역 관광자원",</a:t>
            </a:r>
          </a:p>
          <a:p>
            <a:r>
              <a:t>      "image_url": "http://tong.visitkorea.or.kr/cms/resource/60/3523760_image2_1.jpg",</a:t>
            </a:r>
          </a:p>
          <a:p>
            <a:r>
              <a:t>      "source_id": "tour-api:1619098",</a:t>
            </a:r>
          </a:p>
          <a:p>
            <a:r>
              <a:t>      "content_id": "1619098",</a:t>
            </a:r>
          </a:p>
          <a:p>
            <a:r>
              <a:t>      "source_url": "https://apis.data.go.kr/B551011/KorService2",</a:t>
            </a:r>
          </a:p>
          <a:p>
            <a:r>
              <a:t>      "source_type": "open_api",</a:t>
            </a:r>
          </a:p>
          <a:p>
            <a:r>
              <a:t>      "content_type_id": "12"</a:t>
            </a:r>
          </a:p>
          <a:p>
            <a:r>
              <a:t>    },</a:t>
            </a:r>
          </a:p>
          <a:p>
            <a:r>
              <a:t>    {</a:t>
            </a:r>
          </a:p>
          <a:p>
            <a:r>
              <a:t>      "title": "대왕김밥",</a:t>
            </a:r>
          </a:p>
          <a:p>
            <a:r>
              <a:t>      "address": "인천광역시 부평구 부평문화로 41 (부평동)",</a:t>
            </a:r>
          </a:p>
          <a:p>
            <a:r>
              <a:t>      "summary": "한국관광공사 국문관광정보 API가 반환한 선택 지역 관광자원",</a:t>
            </a:r>
          </a:p>
          <a:p>
            <a:r>
              <a:t>      "image_url": "http://tong.visitkorea.or.kr/cms/resource/03/2875403_image2_1.jpg",</a:t>
            </a:r>
          </a:p>
          <a:p>
            <a:r>
              <a:t>      "source_id": "tour-api:2875411",</a:t>
            </a:r>
          </a:p>
          <a:p>
            <a:r>
              <a:t>      "content_id": "2875411",</a:t>
            </a:r>
          </a:p>
          <a:p>
            <a:r>
              <a:t>      "source_url": "https://apis.data.go.kr/B551011/KorService2",</a:t>
            </a:r>
          </a:p>
          <a:p>
            <a:r>
              <a:t>      "source_type": "open_api",</a:t>
            </a:r>
          </a:p>
          <a:p>
            <a:r>
              <a:t>      "content_type_id": "39"</a:t>
            </a:r>
          </a:p>
          <a:p>
            <a:r>
              <a:t>    },</a:t>
            </a:r>
          </a:p>
          <a:p>
            <a:r>
              <a:t>    {</a:t>
            </a:r>
          </a:p>
          <a:p>
            <a:r>
              <a:t>      "title": "돈타래게장정식",</a:t>
            </a:r>
          </a:p>
          <a:p>
            <a:r>
              <a:t>      "address": "인천광역시 부평구 열우물로 59",</a:t>
            </a:r>
          </a:p>
          <a:p>
            <a:r>
              <a:t>      "summary": "한국관광공사 국문관광정보 API가 반환한 선택 지역 관광자원",</a:t>
            </a:r>
          </a:p>
          <a:p>
            <a:r>
              <a:t>      "image_url": "http://tong.visitkorea.or.kr/cms/resource/35/2790235_image2_1.jpg",</a:t>
            </a:r>
          </a:p>
          <a:p>
            <a:r>
              <a:t>      "source_id": "tour-api:2768148",</a:t>
            </a:r>
          </a:p>
          <a:p>
            <a:r>
              <a:t>      "content_id": "2768148",</a:t>
            </a:r>
          </a:p>
          <a:p>
            <a:r>
              <a:t>      "source_url": "https://apis.data.go.kr/B551011/KorService2",</a:t>
            </a:r>
          </a:p>
          <a:p>
            <a:r>
              <a:t>      "source_type": "open_api",</a:t>
            </a:r>
          </a:p>
          <a:p>
            <a:r>
              <a:t>      "content_type_id": "39"</a:t>
            </a:r>
          </a:p>
          <a:p>
            <a:r>
              <a:t>    },</a:t>
            </a:r>
          </a:p>
          <a:p>
            <a:r>
              <a:t>    {</a:t>
            </a:r>
          </a:p>
          <a:p>
            <a:r>
              <a:t>      "title": "면박사가야밀면",</a:t>
            </a:r>
          </a:p>
          <a:p>
            <a:r>
              <a:t>      "address": "인천광역시 부평구 주부토로172번길 28",</a:t>
            </a:r>
          </a:p>
          <a:p>
            <a:r>
              <a:t>      "summary": "한국관광공사 국문관광정보 API가 반환한 선택 지역 관광자원",</a:t>
            </a:r>
          </a:p>
          <a:p>
            <a:r>
              <a:t>      "image_url": "http://tong.visitkorea.or.kr/cms/resource/52/2873452_image2_1.jpg",</a:t>
            </a:r>
          </a:p>
          <a:p>
            <a:r>
              <a:t>      "source_id": "tour-api:2873461",</a:t>
            </a:r>
          </a:p>
          <a:p>
            <a:r>
              <a:t>      "content_id": "2873461",</a:t>
            </a:r>
          </a:p>
          <a:p>
            <a:r>
              <a:t>      "source_url": "https://apis.data.go.kr/B551011/KorService2",</a:t>
            </a:r>
          </a:p>
          <a:p>
            <a:r>
              <a:t>      "source_type": "open_api",</a:t>
            </a:r>
          </a:p>
          <a:p>
            <a:r>
              <a:t>      "content_type_id": "39"</a:t>
            </a:r>
          </a:p>
          <a:p>
            <a:r>
              <a:t>    },</a:t>
            </a:r>
          </a:p>
          <a:p>
            <a:r>
              <a:t>    {</a:t>
            </a:r>
          </a:p>
          <a:p>
            <a:r>
              <a:t>      "title": "모녀떡볶이 부평남부역점",</a:t>
            </a:r>
          </a:p>
          <a:p>
            <a:r>
              <a:t>      "address": "강원특별자치도 태백시 광장로 16 (황지동)",</a:t>
            </a:r>
          </a:p>
          <a:p>
            <a:r>
              <a:t>      "summary": "한국관광공사 국문관광정보 API가 반환한 선택 지역 관광자원",</a:t>
            </a:r>
          </a:p>
          <a:p>
            <a:r>
              <a:t>      "image_url": "http://tong.visitkorea.or.kr/cms/resource/58/2833858_image2_1.jpg",</a:t>
            </a:r>
          </a:p>
          <a:p>
            <a:r>
              <a:t>      "source_id": "tour-api:2833868",</a:t>
            </a:r>
          </a:p>
          <a:p>
            <a:r>
              <a:t>      "content_id": "2833868",</a:t>
            </a:r>
          </a:p>
          <a:p>
            <a:r>
              <a:t>      "source_url": "https://apis.data.go.kr/B551011/KorService2",</a:t>
            </a:r>
          </a:p>
          <a:p>
            <a:r>
              <a:t>      "source_type": "open_api",</a:t>
            </a:r>
          </a:p>
          <a:p>
            <a:r>
              <a:t>      "content_type_id": "39"</a:t>
            </a:r>
          </a:p>
          <a:p>
            <a:r>
              <a:t>    },</a:t>
            </a:r>
          </a:p>
          <a:p>
            <a:r>
              <a:t>    {</a:t>
            </a:r>
          </a:p>
          <a:p>
            <a:r>
              <a:t>      "title": "백운공원",</a:t>
            </a:r>
          </a:p>
          <a:p>
            <a:r>
              <a:t>      "address": "인천광역시 부평구 십정동 186-419",</a:t>
            </a:r>
          </a:p>
          <a:p>
            <a:r>
              <a:t>      "summary": "한국관광공사 국문관광정보 API가 반환한 선택 지역 관광자원",</a:t>
            </a:r>
          </a:p>
          <a:p>
            <a:r>
              <a:t>      "image_url": "http://tong.visitkorea.or.kr/cms/resource/55/3395555_image2_1.JPG",</a:t>
            </a:r>
          </a:p>
          <a:p>
            <a:r>
              <a:t>      "source_id": "tour-api:2768156",</a:t>
            </a:r>
          </a:p>
          <a:p>
            <a:r>
              <a:t>      "content_id": "2768156",</a:t>
            </a:r>
          </a:p>
          <a:p>
            <a:r>
              <a:t>      "source_url": "https://apis.data.go.kr/B551011/KorService2",</a:t>
            </a:r>
          </a:p>
          <a:p>
            <a:r>
              <a:t>      "source_type": "open_api",</a:t>
            </a:r>
          </a:p>
          <a:p>
            <a:r>
              <a:t>      "content_type_id": "12"</a:t>
            </a:r>
          </a:p>
          <a:p>
            <a:r>
              <a:t>    },</a:t>
            </a:r>
          </a:p>
          <a:p>
            <a:r>
              <a:t>    {</a:t>
            </a:r>
          </a:p>
          <a:p>
            <a:r>
              <a:t>      "title": "별미칡냉면원조",</a:t>
            </a:r>
          </a:p>
          <a:p>
            <a:r>
              <a:t>      "address": "인천광역시 부평구 주부토로145번길 28 (갈산동)",</a:t>
            </a:r>
          </a:p>
          <a:p>
            <a:r>
              <a:t>      "summary": "한국관광공사 국문관광정보 API가 반환한 선택 지역 관광자원",</a:t>
            </a:r>
          </a:p>
          <a:p>
            <a:r>
              <a:t>      "image_url": "http://tong.visitkorea.or.kr/cms/resource/46/2875446_image2_1.jpg",</a:t>
            </a:r>
          </a:p>
          <a:p>
            <a:r>
              <a:t>      "source_id": "tour-api:2875455",</a:t>
            </a:r>
          </a:p>
          <a:p>
            <a:r>
              <a:t>      "content_id": "2875455",</a:t>
            </a:r>
          </a:p>
          <a:p>
            <a:r>
              <a:t>      "source_url": "https://apis.data.go.kr/B551011/KorService2",</a:t>
            </a:r>
          </a:p>
          <a:p>
            <a:r>
              <a:t>      "source_type": "open_api",</a:t>
            </a:r>
          </a:p>
          <a:p>
            <a:r>
              <a:t>      "content_type_id": "39"</a:t>
            </a:r>
          </a:p>
          <a:p>
            <a:r>
              <a:t>    },</a:t>
            </a:r>
          </a:p>
          <a:p>
            <a:r>
              <a:t>    {</a:t>
            </a:r>
          </a:p>
          <a:p>
            <a:r>
              <a:t>      "title": "부영공원",</a:t>
            </a:r>
          </a:p>
          <a:p>
            <a:r>
              <a:t>      "address": "인천광역시 부평구 안남로 146",</a:t>
            </a:r>
          </a:p>
          <a:p>
            <a:r>
              <a:t>      "summary": "한국관광공사 국문관광정보 API가 반환한 선택 지역 관광자원",</a:t>
            </a:r>
          </a:p>
          <a:p>
            <a:r>
              <a:t>      "image_url": "http://tong.visitkorea.or.kr/cms/resource/62/3395562_image2_1.JPG",</a:t>
            </a:r>
          </a:p>
          <a:p>
            <a:r>
              <a:t>      "source_id": "tour-api:2767563",</a:t>
            </a:r>
          </a:p>
          <a:p>
            <a:r>
              <a:t>      "content_id": "2767563",</a:t>
            </a:r>
          </a:p>
          <a:p>
            <a:r>
              <a:t>      "source_url": "https://apis.data.go.kr/B551011/KorService2",</a:t>
            </a:r>
          </a:p>
          <a:p>
            <a:r>
              <a:t>      "source_type": "open_api",</a:t>
            </a:r>
          </a:p>
          <a:p>
            <a:r>
              <a:t>      "content_type_id": "12"</a:t>
            </a:r>
          </a:p>
          <a:p>
            <a:r>
              <a:t>    },</a:t>
            </a:r>
          </a:p>
          <a:p>
            <a:r>
              <a:t>    {</a:t>
            </a:r>
          </a:p>
          <a:p>
            <a:r>
              <a:t>      "title": "부평 굴포누리 기후변화체험관",</a:t>
            </a:r>
          </a:p>
          <a:p>
            <a:r>
              <a:t>      "address": "인천광역시 부평구 장제로 267 (갈산동)",</a:t>
            </a:r>
          </a:p>
          <a:p>
            <a:r>
              <a:t>      "summary": "한국관광공사 국문관광정보 API가 반환한 선택 지역 관광자원",</a:t>
            </a:r>
          </a:p>
          <a:p>
            <a:r>
              <a:t>      "image_url": "http://tong.visitkorea.or.kr/cms/resource/89/3456089_image2_1.jpg",</a:t>
            </a:r>
          </a:p>
          <a:p>
            <a:r>
              <a:t>      "source_id": "tour-api:3456754",</a:t>
            </a:r>
          </a:p>
          <a:p>
            <a:r>
              <a:t>      "content_id": "3456754",</a:t>
            </a:r>
          </a:p>
          <a:p>
            <a:r>
              <a:t>      "source_url": "https://apis.data.go.kr/B551011/KorService2",</a:t>
            </a:r>
          </a:p>
          <a:p>
            <a:r>
              <a:t>      "source_type": "open_api",</a:t>
            </a:r>
          </a:p>
          <a:p>
            <a:r>
              <a:t>      "content_type_id": "12"</a:t>
            </a:r>
          </a:p>
          <a:p>
            <a:r>
              <a:t>    },</a:t>
            </a:r>
          </a:p>
          <a:p>
            <a:r>
              <a:t>    {</a:t>
            </a:r>
          </a:p>
          <a:p>
            <a:r>
              <a:t>      "title": "부평 종합시장",</a:t>
            </a:r>
          </a:p>
          <a:p>
            <a:r>
              <a:t>      "address": "인천광역시 부평구 부흥로316번길 38-3",</a:t>
            </a:r>
          </a:p>
          <a:p>
            <a:r>
              <a:t>      "summary": "한국관광공사 국문관광정보 API가 반환한 선택 지역 관광자원",</a:t>
            </a:r>
          </a:p>
          <a:p>
            <a:r>
              <a:t>      "image_url": "http://tong.visitkorea.or.kr/cms/resource/47/3395547_image2_1.JPG",</a:t>
            </a:r>
          </a:p>
          <a:p>
            <a:r>
              <a:t>      "source_id": "tour-api:1025514",</a:t>
            </a:r>
          </a:p>
          <a:p>
            <a:r>
              <a:t>      "content_id": "1025514",</a:t>
            </a:r>
          </a:p>
          <a:p>
            <a:r>
              <a:t>      "source_url": "https://apis.data.go.kr/B551011/KorService2",</a:t>
            </a:r>
          </a:p>
          <a:p>
            <a:r>
              <a:t>      "source_type": "open_api",</a:t>
            </a:r>
          </a:p>
          <a:p>
            <a:r>
              <a:t>      "content_type_id": "38"</a:t>
            </a:r>
          </a:p>
          <a:p>
            <a:r>
              <a:t>    },</a:t>
            </a:r>
          </a:p>
          <a:p>
            <a:r>
              <a:t>    {</a:t>
            </a:r>
          </a:p>
          <a:p>
            <a:r>
              <a:t>      "title": "부평 해물탕거리",</a:t>
            </a:r>
          </a:p>
          <a:p>
            <a:r>
              <a:t>      "address": "인천광역시 부평구 부평동",</a:t>
            </a:r>
          </a:p>
          <a:p>
            <a:r>
              <a:t>      "summary": "한국관광공사 국문관광정보 API가 반환한 선택 지역 관광자원",</a:t>
            </a:r>
          </a:p>
          <a:p>
            <a:r>
              <a:t>      "image_url": "http://tong.visitkorea.or.kr/cms/resource/95/3309195_image2_1.jpg",</a:t>
            </a:r>
          </a:p>
          <a:p>
            <a:r>
              <a:t>      "source_id": "tour-api:749211",</a:t>
            </a:r>
          </a:p>
          <a:p>
            <a:r>
              <a:t>      "content_id": "749211",</a:t>
            </a:r>
          </a:p>
          <a:p>
            <a:r>
              <a:t>      "source_url": "https://apis.data.go.kr/B551011/KorService2",</a:t>
            </a:r>
          </a:p>
          <a:p>
            <a:r>
              <a:t>      "source_type": "open_api",</a:t>
            </a:r>
          </a:p>
          <a:p>
            <a:r>
              <a:t>      "content_type_id": "12"</a:t>
            </a:r>
          </a:p>
          <a:p>
            <a:r>
              <a:t>    },</a:t>
            </a:r>
          </a:p>
          <a:p>
            <a:r>
              <a:t>    {</a:t>
            </a:r>
          </a:p>
          <a:p>
            <a:r>
              <a:t>      "title": "부평모두몰(부평지하도상가)",</a:t>
            </a:r>
          </a:p>
          <a:p>
            <a:r>
              <a:t>      "address": "인천광역시 부평구 부평대로 지하 69",</a:t>
            </a:r>
          </a:p>
          <a:p>
            <a:r>
              <a:t>      "summary": "한국관광공사 국문관광정보 API가 반환한 선택 지역 관광자원",</a:t>
            </a:r>
          </a:p>
          <a:p>
            <a:r>
              <a:t>      "image_url": "http://tong.visitkorea.or.kr/cms/resource/07/3395507_image2_1.JPG",</a:t>
            </a:r>
          </a:p>
          <a:p>
            <a:r>
              <a:t>      "source_id": "tour-api:2021033",</a:t>
            </a:r>
          </a:p>
          <a:p>
            <a:r>
              <a:t>      "content_id": "2021033",</a:t>
            </a:r>
          </a:p>
          <a:p>
            <a:r>
              <a:t>      "source_url": "https://apis.data.go.kr/B551011/KorService2",</a:t>
            </a:r>
          </a:p>
          <a:p>
            <a:r>
              <a:t>      "source_type": "open_api",</a:t>
            </a:r>
          </a:p>
          <a:p>
            <a:r>
              <a:t>      "content_type_id": "38"</a:t>
            </a:r>
          </a:p>
          <a:p>
            <a:r>
              <a:t>    },</a:t>
            </a:r>
          </a:p>
          <a:p>
            <a:r>
              <a:t>    {</a:t>
            </a:r>
          </a:p>
          <a:p>
            <a:r>
              <a:t>      "title": "부평시장",</a:t>
            </a:r>
          </a:p>
          <a:p>
            <a:r>
              <a:t>      "address": "인천광역시 부평구 부흥로316번길 38-3",</a:t>
            </a:r>
          </a:p>
          <a:p>
            <a:r>
              <a:t>      "summary": "한국관광공사 국문관광정보 API가 반환한 선택 지역 관광자원",</a:t>
            </a:r>
          </a:p>
          <a:p>
            <a:r>
              <a:t>      "image_url": "http://tong.visitkorea.or.kr/cms/resource/42/3523842_image2_1.jpg",</a:t>
            </a:r>
          </a:p>
          <a:p>
            <a:r>
              <a:t>      "source_id": "tour-api:2768142",</a:t>
            </a:r>
          </a:p>
          <a:p>
            <a:r>
              <a:t>      "content_id": "2768142",</a:t>
            </a:r>
          </a:p>
          <a:p>
            <a:r>
              <a:t>      "source_url": "https://apis.data.go.kr/B551011/KorService2",</a:t>
            </a:r>
          </a:p>
          <a:p>
            <a:r>
              <a:t>      "source_type": "open_api",</a:t>
            </a:r>
          </a:p>
          <a:p>
            <a:r>
              <a:t>      "content_type_id": "38"</a:t>
            </a:r>
          </a:p>
          <a:p>
            <a:r>
              <a:t>    },</a:t>
            </a:r>
          </a:p>
          <a:p>
            <a:r>
              <a:t>    {</a:t>
            </a:r>
          </a:p>
          <a:p>
            <a:r>
              <a:t>      "title": "부평아트센터",</a:t>
            </a:r>
          </a:p>
          <a:p>
            <a:r>
              <a:t>      "address": "인천광역시 부평구 아트센터로 166 (십정동)",</a:t>
            </a:r>
          </a:p>
          <a:p>
            <a:r>
              <a:t>      "summary": "한국관광공사 국문관광정보 API가 반환한 선택 지역 관광자원",</a:t>
            </a:r>
          </a:p>
          <a:p>
            <a:r>
              <a:t>      "image_url": "http://tong.visitkorea.or.kr/cms/resource/55/3457455_image2_1.jpg",</a:t>
            </a:r>
          </a:p>
          <a:p>
            <a:r>
              <a:t>      "source_id": "tour-api:3457385",</a:t>
            </a:r>
          </a:p>
          <a:p>
            <a:r>
              <a:t>      "content_id": "3457385",</a:t>
            </a:r>
          </a:p>
          <a:p>
            <a:r>
              <a:t>      "source_url": "https://apis.data.go.kr/B551011/KorService2",</a:t>
            </a:r>
          </a:p>
          <a:p>
            <a:r>
              <a:t>      "source_type": "open_api",</a:t>
            </a:r>
          </a:p>
          <a:p>
            <a:r>
              <a:t>      "content_type_id": "14"</a:t>
            </a:r>
          </a:p>
          <a:p>
            <a:r>
              <a:t>    },</a:t>
            </a:r>
          </a:p>
          <a:p>
            <a:r>
              <a:t>    {</a:t>
            </a:r>
          </a:p>
          <a:p>
            <a:r>
              <a:t>      "title": "부평역북광장",</a:t>
            </a:r>
          </a:p>
          <a:p>
            <a:r>
              <a:t>      "address": "인천광역시 부평구 광장로 지하30 (부평동)",</a:t>
            </a:r>
          </a:p>
          <a:p>
            <a:r>
              <a:t>      "summary": "한국관광공사 국문관광정보 API가 반환한 선택 지역 관광자원",</a:t>
            </a:r>
          </a:p>
          <a:p>
            <a:r>
              <a:t>      "image_url": "http://tong.visitkorea.or.kr/cms/resource/90/3395490_image2_1.JPG",</a:t>
            </a:r>
          </a:p>
          <a:p>
            <a:r>
              <a:t>      "source_id": "tour-api:2768190",</a:t>
            </a:r>
          </a:p>
          <a:p>
            <a:r>
              <a:t>      "content_id": "2768190",</a:t>
            </a:r>
          </a:p>
          <a:p>
            <a:r>
              <a:t>      "source_url": "https://apis.data.go.kr/B551011/KorService2",</a:t>
            </a:r>
          </a:p>
          <a:p>
            <a:r>
              <a:t>      "source_type": "open_api",</a:t>
            </a:r>
          </a:p>
          <a:p>
            <a:r>
              <a:t>      "content_type_id": "12"</a:t>
            </a:r>
          </a:p>
          <a:p>
            <a:r>
              <a:t>    },</a:t>
            </a:r>
          </a:p>
          <a:p>
            <a:r>
              <a:t>    {</a:t>
            </a:r>
          </a:p>
          <a:p>
            <a:r>
              <a:t>      "title": "부흥기사식당",</a:t>
            </a:r>
          </a:p>
          <a:p>
            <a:r>
              <a:t>      "address": "인천광역시 부평구 부흥로 387 (부개동)",</a:t>
            </a:r>
          </a:p>
          <a:p>
            <a:r>
              <a:t>      "summary": "한국관광공사 국문관광정보 API가 반환한 선택 지역 관광자원",</a:t>
            </a:r>
          </a:p>
          <a:p>
            <a:r>
              <a:t>      "image_url": "http://tong.visitkorea.or.kr/cms/resource/66/2875466_image2_1.jpg",</a:t>
            </a:r>
          </a:p>
          <a:p>
            <a:r>
              <a:t>      "source_id": "tour-api:2875488",</a:t>
            </a:r>
          </a:p>
          <a:p>
            <a:r>
              <a:t>      "content_id": "2875488",</a:t>
            </a:r>
          </a:p>
          <a:p>
            <a:r>
              <a:t>      "source_url": "https://apis.data.go.kr/B551011/KorService2",</a:t>
            </a:r>
          </a:p>
          <a:p>
            <a:r>
              <a:t>      "source_type": "open_api",</a:t>
            </a:r>
          </a:p>
          <a:p>
            <a:r>
              <a:t>      "content_type_id": "39"</a:t>
            </a:r>
          </a:p>
          <a:p>
            <a:r>
              <a:t>    },</a:t>
            </a:r>
          </a:p>
          <a:p>
            <a:r>
              <a:t>    {</a:t>
            </a:r>
          </a:p>
          <a:p>
            <a:r>
              <a:t>      "title": "삼산건강공원",</a:t>
            </a:r>
          </a:p>
          <a:p>
            <a:r>
              <a:t>      "address": "인천광역시 부평구 영성동로18번길 48 (삼산동)",</a:t>
            </a:r>
          </a:p>
          <a:p>
            <a:r>
              <a:t>      "summary": "한국관광공사 국문관광정보 API가 반환한 선택 지역 관광자원",</a:t>
            </a:r>
          </a:p>
          <a:p>
            <a:r>
              <a:t>      "image_url": "http://tong.visitkorea.or.kr/cms/resource/25/3523825_image2_1.jpg",</a:t>
            </a:r>
          </a:p>
          <a:p>
            <a:r>
              <a:t>      "source_id": "tour-api:2768180",</a:t>
            </a:r>
          </a:p>
          <a:p>
            <a:r>
              <a:t>      "content_id": "2768180",</a:t>
            </a:r>
          </a:p>
          <a:p>
            <a:r>
              <a:t>      "source_url": "https://apis.data.go.kr/B551011/KorService2",</a:t>
            </a:r>
          </a:p>
          <a:p>
            <a:r>
              <a:t>      "source_type": "open_api",</a:t>
            </a:r>
          </a:p>
          <a:p>
            <a:r>
              <a:t>      "content_type_id": "12"</a:t>
            </a:r>
          </a:p>
          <a:p>
            <a:r>
              <a:t>    },</a:t>
            </a:r>
          </a:p>
          <a:p>
            <a:r>
              <a:t>    {</a:t>
            </a:r>
          </a:p>
          <a:p>
            <a:r>
              <a:t>      "title": "신트리공원(인천)",</a:t>
            </a:r>
          </a:p>
          <a:p>
            <a:r>
              <a:t>      "address": "인천광역시 부평구 신트리로 21",</a:t>
            </a:r>
          </a:p>
          <a:p>
            <a:r>
              <a:t>      "summary": "한국관광공사 국문관광정보 API가 반환한 선택 지역 관광자원",</a:t>
            </a:r>
          </a:p>
          <a:p>
            <a:r>
              <a:t>      "image_url": "http://tong.visitkorea.or.kr/cms/resource/73/3030773_image2_1.jpg",</a:t>
            </a:r>
          </a:p>
          <a:p>
            <a:r>
              <a:t>      "source_id": "tour-api:126568",</a:t>
            </a:r>
          </a:p>
          <a:p>
            <a:r>
              <a:t>      "content_id": "126568",</a:t>
            </a:r>
          </a:p>
          <a:p>
            <a:r>
              <a:t>      "source_url": "https://apis.data.go.kr/B551011/KorService2",</a:t>
            </a:r>
          </a:p>
          <a:p>
            <a:r>
              <a:t>      "source_type": "open_api",</a:t>
            </a:r>
          </a:p>
          <a:p>
            <a:r>
              <a:t>      "content_type_id": "12"</a:t>
            </a:r>
          </a:p>
          <a:p>
            <a:r>
              <a:t>    },</a:t>
            </a:r>
          </a:p>
          <a:p>
            <a:r>
              <a:t>    {</a:t>
            </a:r>
          </a:p>
          <a:p>
            <a:r>
              <a:t>      "title": "양평신내서울해장국 부평직영점",</a:t>
            </a:r>
          </a:p>
          <a:p>
            <a:r>
              <a:t>      "address": "인천광역시 부평구 마장로 191 (산곡동)",</a:t>
            </a:r>
          </a:p>
          <a:p>
            <a:r>
              <a:t>      "summary": "한국관광공사 국문관광정보 API가 반환한 선택 지역 관광자원",</a:t>
            </a:r>
          </a:p>
          <a:p>
            <a:r>
              <a:t>      "image_url": "http://tong.visitkorea.or.kr/cms/resource/45/2835945_image2_1.jpg",</a:t>
            </a:r>
          </a:p>
          <a:p>
            <a:r>
              <a:t>      "source_id": "tour-api:2835948",</a:t>
            </a:r>
          </a:p>
          <a:p>
            <a:r>
              <a:t>      "content_id": "2835948",</a:t>
            </a:r>
          </a:p>
          <a:p>
            <a:r>
              <a:t>      "source_url": "https://apis.data.go.kr/B551011/KorService2",</a:t>
            </a:r>
          </a:p>
          <a:p>
            <a:r>
              <a:t>      "source_type": "open_api",</a:t>
            </a:r>
          </a:p>
          <a:p>
            <a:r>
              <a:t>      "content_type_id": "39"</a:t>
            </a:r>
          </a:p>
          <a:p>
            <a:r>
              <a:t>    },</a:t>
            </a:r>
          </a:p>
          <a:p>
            <a:r>
              <a:t>    {</a:t>
            </a:r>
          </a:p>
          <a:p>
            <a:r>
              <a:t>      "title": "열우물전통시장",</a:t>
            </a:r>
          </a:p>
          <a:p>
            <a:r>
              <a:t>      "address": "인천광역시 부평구 배곶남로21번길 18",</a:t>
            </a:r>
          </a:p>
          <a:p>
            <a:r>
              <a:t>      "summary": "한국관광공사 국문관광정보 API가 반환한 선택 지역 관광자원",</a:t>
            </a:r>
          </a:p>
          <a:p>
            <a:r>
              <a:t>      "image_url": "http://tong.visitkorea.or.kr/cms/resource/31/3523831_image2_1.jpg",</a:t>
            </a:r>
          </a:p>
          <a:p>
            <a:r>
              <a:t>      "source_id": "tour-api:2765473",</a:t>
            </a:r>
          </a:p>
          <a:p>
            <a:r>
              <a:t>      "content_id": "2765473",</a:t>
            </a:r>
          </a:p>
          <a:p>
            <a:r>
              <a:t>      "source_url": "https://apis.data.go.kr/B551011/KorService2",</a:t>
            </a:r>
          </a:p>
          <a:p>
            <a:r>
              <a:t>      "source_type": "open_api",</a:t>
            </a:r>
          </a:p>
          <a:p>
            <a:r>
              <a:t>      "content_type_id": "38"</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"인천광역시 ‘6월부터 밤마다 인천으로’ 야간관광 특화도시 운영 및 성과 자료",</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"source_id": "case:3e081ab48300f1",</a:t>
            </a:r>
          </a:p>
          <a:p>
            <a:r>
              <a:t>      "source_url": "https://www.incheon.go.kr/IC010205/view?beginDt=2021-10-01&amp;curPage=479&amp;endDt=&amp;repSeq=DOM_0000000010085993&amp;srchMainManagerDeptNm=&amp;srchRepContents=&amp;srchRepTitle=",</a:t>
            </a:r>
          </a:p>
          <a:p>
            <a:r>
              <a:t>      "case_region": "인천광역시 송도·개항장·월미도 등",</a:t>
            </a:r>
          </a:p>
          <a:p>
            <a:r>
              <a:t>      "source_type": "benchmark_case",</a:t>
            </a:r>
          </a:p>
          <a:p>
            <a:r>
              <a:t>      "intervention": "야간 프로그램·시티투어·관광패스·야시장·상권쿠폰을 결합한 야간관광 특화도시 사업",</a:t>
            </a:r>
          </a:p>
          <a:p>
            <a:r>
              <a:t>      "document_type": null,</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"retrieval_method": "official_web_search",</a:t>
            </a:r>
          </a:p>
          <a:p>
            <a:r>
              <a:t>      "evidence_strength": "medium",</a:t>
            </a:r>
          </a:p>
          <a:p>
            <a:r>
              <a:t>      "retrieval_context": {</a:t>
            </a:r>
          </a:p>
          <a:p>
            <a:r>
              <a:t>        "scope": "same_province",</a:t>
            </a:r>
          </a:p>
          <a:p>
            <a:r>
              <a:t>        "peer_region_code": null</a:t>
            </a:r>
          </a:p>
          <a:p>
            <a:r>
              <a:t>      },</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"published_or_updated_at": "2024-05-29",</a:t>
            </a:r>
          </a:p>
          <a:p>
            <a:r>
              <a:t>      "quantitative_result_approved": null</a:t>
            </a:r>
          </a:p>
          <a:p>
            <a:r>
              <a:t>    },</a:t>
            </a:r>
          </a:p>
          <a:p>
            <a:r>
              <a:t>    {</a:t>
            </a:r>
          </a:p>
          <a:p>
            <a:r>
              <a:t>      "title": "서울특별시 ‘서울의 밤이 더 길어진다—서울달 금·토 심야 운영’ 및 운영 확대 자료",</a:t>
            </a:r>
          </a:p>
          <a:p>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"source_id": "case:c621f7b6c81807",</a:t>
            </a:r>
          </a:p>
          <a:p>
            <a:r>
              <a:t>      "source_url": "https://www.seoul.go.kr/news/news_report.do?nttNo=462801",</a:t>
            </a:r>
          </a:p>
          <a:p>
            <a:r>
              <a:t>      "case_region": "서울특별시 영등포구 여의도공원",</a:t>
            </a:r>
          </a:p>
          <a:p>
            <a:r>
              <a:t>      "source_type": "benchmark_case",</a:t>
            </a:r>
          </a:p>
          <a:p>
            <a:r>
              <a:t>      "intervention": "예약시간·OTA 판매·성수기 및 심야 운영시간을 조정한 체험형 야간관광시설 ‘서울달’",</a:t>
            </a:r>
          </a:p>
          <a:p>
            <a:r>
              <a:t>      "document_type": null,</a:t>
            </a:r>
          </a:p>
          <a:p>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a:r>
              <a:t>      "retrieval_method": "official_web_search",</a:t>
            </a:r>
          </a:p>
          <a:p>
            <a:r>
              <a:t>      "evidence_strength": "medium",</a:t>
            </a:r>
          </a:p>
          <a:p>
            <a:r>
              <a:t>      "retrieval_context": {</a:t>
            </a:r>
          </a:p>
          <a:p>
            <a:r>
              <a:t>        "scope": "cross_province",</a:t>
            </a:r>
          </a:p>
          <a:p>
            <a:r>
              <a:t>        "peer_region_code": null</a:t>
            </a:r>
          </a:p>
          <a:p>
            <a:r>
              <a:t>      },</a:t>
            </a:r>
          </a:p>
          <a:p>
            <a:r>
              <a:t>      "measurement_period": "2024-08-23 ~ 2026-07-15 누적 이용; 외국인 비율 비교는 2025년과 2026년 상반기",</a:t>
            </a:r>
          </a:p>
          <a:p>
            <a:r>
              <a:t>      "transfer_conditions": [</a:t>
            </a:r>
          </a:p>
          <a:p>
            <a:r>
              <a:t>        "부평구에는 신규 대형시설 대신 기존 공연장·전시장·문화공간의 예약 가능 시간을 저녁으로 연장하는 운영원리만 적용",</a:t>
            </a:r>
          </a:p>
          <a:p>
            <a:r>
              <a:t>        "온라인 사전예약과 현장 잔여석을 함께 관리하고 회차별 정원·취소·대기 규칙을 명확히 설정",</a:t>
            </a:r>
          </a:p>
          <a:p>
            <a:r>
              <a:t>        "금·토 및 10~12월 수요가 예상되는 시간대부터 시험하고 비효율 시간대는 축소",</a:t>
            </a:r>
          </a:p>
          <a:p>
            <a:r>
              <a:t>        "프로그램 종료 뒤 이용 가능한 식음료점·상점 정보를 예약 확인서와 현장 안내에 결합",</a:t>
            </a:r>
          </a:p>
          <a:p>
            <a:r>
              <a:t>        "회차별 예약률, 노쇼율, 현장 이용 완료율과 프로그램 전후 주변 결제를 측정"</a:t>
            </a:r>
          </a:p>
          <a:p>
            <a:r>
              <a:t>      ],</a:t>
            </a:r>
          </a:p>
          <a:p>
            <a:r>
              <a:t>      "published_or_updated_at": "2026-07-28",</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"title": "굴포천 생태하천",</a:t>
            </a:r>
          </a:p>
          <a:p>
            <a:r>
              <a:t>      "address": "인천광역시 부평구 굴포로 141 (삼산동)",</a:t>
            </a:r>
          </a:p>
          <a:p>
            <a:r>
              <a:t>      "summary": "한국관광공사 국문관광정보 API가 반환한 선택 지역 관광자원",</a:t>
            </a:r>
          </a:p>
          <a:p>
            <a:r>
              <a:t>      "image_url": "http://tong.visitkorea.or.kr/cms/resource/60/3523760_image2_1.jpg",</a:t>
            </a:r>
          </a:p>
          <a:p>
            <a:r>
              <a:t>      "source_id": "tour-api:1619098",</a:t>
            </a:r>
          </a:p>
          <a:p>
            <a:r>
              <a:t>      "content_id": "1619098",</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3778392.0,</a:t>
            </a:r>
          </a:p>
          <a:p>
            <a:r>
              <a:t>        "is_forecast": true,</a:t>
            </a:r>
          </a:p>
          <a:p>
            <a:r>
              <a:t>        "spending_krw": 78739302878.0,</a:t>
            </a:r>
          </a:p>
          <a:p>
            <a:r>
              <a:t>        "stay_minutes": 1189.22,</a:t>
            </a:r>
          </a:p>
          <a:p>
            <a:r>
              <a:t>        "lodging_nights": 2.9,</a:t>
            </a:r>
          </a:p>
          <a:p>
            <a:r>
              <a:t>        "lodging_rate_pct": 8.5,</a:t>
            </a:r>
          </a:p>
          <a:p>
            <a:r>
              <a:t>        "lodging_searches": 9560,</a:t>
            </a:r>
          </a:p>
          <a:p>
            <a:r>
              <a:t>        "navigation_searches": 211413,</a:t>
            </a:r>
          </a:p>
          <a:p>
            <a:r>
              <a:t>        "visitor_yoy_percent": -3.74,</a:t>
            </a:r>
          </a:p>
          <a:p>
            <a:r>
              <a:t>        "spending_yoy_percent": -6.27,</a:t>
            </a:r>
          </a:p>
          <a:p>
            <a:r>
              <a:t>        "metric_changes_percent": {</a:t>
            </a:r>
          </a:p>
          <a:p>
            <a:r>
              <a:t>          "stay_minutes": -3.55,</a:t>
            </a:r>
          </a:p>
          <a:p>
            <a:r>
              <a:t>          "lodging_nights": 0.69,</a:t>
            </a:r>
          </a:p>
          <a:p>
            <a:r>
              <a:t>          "lodging_rate_pct": 0.0,</a:t>
            </a:r>
          </a:p>
          <a:p>
            <a:r>
              <a:t>          "lodging_searches": 0.0,</a:t>
            </a:r>
          </a:p>
          <a:p>
            <a:r>
              <a:t>          "navigation_searches": 0.0</a:t>
            </a:r>
          </a:p>
          <a:p>
            <a:r>
              <a:t>        },</a:t>
            </a:r>
          </a:p>
          <a:p>
            <a:r>
              <a:t>        "previous_year_visitors": 3925237,</a:t>
            </a:r>
          </a:p>
          <a:p>
            <a:r>
              <a:t>        "previous_year_spending_krw": 84007025000,</a:t>
            </a:r>
          </a:p>
          <a:p>
            <a:r>
              <a:t>        "previous_year_stay_minutes": 1233.0,</a:t>
            </a:r>
          </a:p>
          <a:p>
            <a:r>
              <a:t>        "previous_year_lodging_nights": 2.88,</a:t>
            </a:r>
          </a:p>
          <a:p>
            <a:r>
              <a:t>        "previous_year_lodging_rate_pct": 8.5,</a:t>
            </a:r>
          </a:p>
          <a:p>
            <a:r>
              <a:t>        "previous_year_lodging_searches": 9560,</a:t>
            </a:r>
          </a:p>
          <a:p>
            <a:r>
              <a:t>        "previous_year_navigation_searches": 211413</a:t>
            </a:r>
          </a:p>
          <a:p>
            <a:r>
              <a:t>      },</a:t>
            </a:r>
          </a:p>
          <a:p>
            <a:r>
              <a:t>      {</a:t>
            </a:r>
          </a:p>
          <a:p>
            <a:r>
              <a:t>        "month": "202611",</a:t>
            </a:r>
          </a:p>
          <a:p>
            <a:r>
              <a:t>        "visitors": 3748084.0,</a:t>
            </a:r>
          </a:p>
          <a:p>
            <a:r>
              <a:t>        "is_forecast": true,</a:t>
            </a:r>
          </a:p>
          <a:p>
            <a:r>
              <a:t>        "spending_krw": 81104223698.0,</a:t>
            </a:r>
          </a:p>
          <a:p>
            <a:r>
              <a:t>        "stay_minutes": 1157.37,</a:t>
            </a:r>
          </a:p>
          <a:p>
            <a:r>
              <a:t>        "lodging_nights": 2.86,</a:t>
            </a:r>
          </a:p>
          <a:p>
            <a:r>
              <a:t>        "lodging_rate_pct": 6.5,</a:t>
            </a:r>
          </a:p>
          <a:p>
            <a:r>
              <a:t>        "lodging_searches": 6582,</a:t>
            </a:r>
          </a:p>
          <a:p>
            <a:r>
              <a:t>        "navigation_searches": 141791,</a:t>
            </a:r>
          </a:p>
          <a:p>
            <a:r>
              <a:t>        "visitor_yoy_percent": -1.44,</a:t>
            </a:r>
          </a:p>
          <a:p>
            <a:r>
              <a:t>        "spending_yoy_percent": -1.77,</a:t>
            </a:r>
          </a:p>
          <a:p>
            <a:r>
              <a:t>        "metric_changes_percent": {</a:t>
            </a:r>
          </a:p>
          <a:p>
            <a:r>
              <a:t>          "stay_minutes": 4.74,</a:t>
            </a:r>
          </a:p>
          <a:p>
            <a:r>
              <a:t>          "lodging_nights": -1.38,</a:t>
            </a:r>
          </a:p>
          <a:p>
            <a:r>
              <a:t>          "lodging_rate_pct": 0.0,</a:t>
            </a:r>
          </a:p>
          <a:p>
            <a:r>
              <a:t>          "lodging_searches": 0.0,</a:t>
            </a:r>
          </a:p>
          <a:p>
            <a:r>
              <a:t>          "navigation_searches": 0.0</a:t>
            </a:r>
          </a:p>
          <a:p>
            <a:r>
              <a:t>        },</a:t>
            </a:r>
          </a:p>
          <a:p>
            <a:r>
              <a:t>        "previous_year_visitors": 3802982,</a:t>
            </a:r>
          </a:p>
          <a:p>
            <a:r>
              <a:t>        "previous_year_spending_krw": 82569585000,</a:t>
            </a:r>
          </a:p>
          <a:p>
            <a:r>
              <a:t>        "previous_year_stay_minutes": 1105.0,</a:t>
            </a:r>
          </a:p>
          <a:p>
            <a:r>
              <a:t>        "previous_year_lodging_nights": 2.9,</a:t>
            </a:r>
          </a:p>
          <a:p>
            <a:r>
              <a:t>        "previous_year_lodging_rate_pct": 6.5,</a:t>
            </a:r>
          </a:p>
          <a:p>
            <a:r>
              <a:t>        "previous_year_lodging_searches": 6582,</a:t>
            </a:r>
          </a:p>
          <a:p>
            <a:r>
              <a:t>        "previous_year_navigation_searches": 141791</a:t>
            </a:r>
          </a:p>
          <a:p>
            <a:r>
              <a:t>      },</a:t>
            </a:r>
          </a:p>
          <a:p>
            <a:r>
              <a:t>      {</a:t>
            </a:r>
          </a:p>
          <a:p>
            <a:r>
              <a:t>        "month": "202612",</a:t>
            </a:r>
          </a:p>
          <a:p>
            <a:r>
              <a:t>        "visitors": 3741663.0,</a:t>
            </a:r>
          </a:p>
          <a:p>
            <a:r>
              <a:t>        "is_forecast": true,</a:t>
            </a:r>
          </a:p>
          <a:p>
            <a:r>
              <a:t>        "spending_krw": 83702422444.0,</a:t>
            </a:r>
          </a:p>
          <a:p>
            <a:r>
              <a:t>        "stay_minutes": 1216.03,</a:t>
            </a:r>
          </a:p>
          <a:p>
            <a:r>
              <a:t>        "lodging_nights": 2.93,</a:t>
            </a:r>
          </a:p>
          <a:p>
            <a:r>
              <a:t>        "lodging_rate_pct": 7.4,</a:t>
            </a:r>
          </a:p>
          <a:p>
            <a:r>
              <a:t>        "lodging_searches": 6099,</a:t>
            </a:r>
          </a:p>
          <a:p>
            <a:r>
              <a:t>        "navigation_searches": 134392,</a:t>
            </a:r>
          </a:p>
          <a:p>
            <a:r>
              <a:t>        "visitor_yoy_percent": -1.2,</a:t>
            </a:r>
          </a:p>
          <a:p>
            <a:r>
              <a:t>        "spending_yoy_percent": -1.66,</a:t>
            </a:r>
          </a:p>
          <a:p>
            <a:r>
              <a:t>        "metric_changes_percent": {</a:t>
            </a:r>
          </a:p>
          <a:p>
            <a:r>
              <a:t>          "stay_minutes": 3.49,</a:t>
            </a:r>
          </a:p>
          <a:p>
            <a:r>
              <a:t>          "lodging_nights": 2.81,</a:t>
            </a:r>
          </a:p>
          <a:p>
            <a:r>
              <a:t>          "lodging_rate_pct": 0.0,</a:t>
            </a:r>
          </a:p>
          <a:p>
            <a:r>
              <a:t>          "lodging_searches": 0.0,</a:t>
            </a:r>
          </a:p>
          <a:p>
            <a:r>
              <a:t>          "navigation_searches": 0.0</a:t>
            </a:r>
          </a:p>
          <a:p>
            <a:r>
              <a:t>        },</a:t>
            </a:r>
          </a:p>
          <a:p>
            <a:r>
              <a:t>        "previous_year_visitors": 3787225,</a:t>
            </a:r>
          </a:p>
          <a:p>
            <a:r>
              <a:t>        "previous_year_spending_krw": 85114549000,</a:t>
            </a:r>
          </a:p>
          <a:p>
            <a:r>
              <a:t>        "previous_year_stay_minutes": 1175.0,</a:t>
            </a:r>
          </a:p>
          <a:p>
            <a:r>
              <a:t>        "previous_year_lodging_nights": 2.85,</a:t>
            </a:r>
          </a:p>
          <a:p>
            <a:r>
              <a:t>        "previous_year_lodging_rate_pct": 7.4,</a:t>
            </a:r>
          </a:p>
          <a:p>
            <a:r>
              <a:t>        "previous_year_lodging_searches": 6099,</a:t>
            </a:r>
          </a:p>
          <a:p>
            <a:r>
              <a:t>        "previous_year_navigation_searches": 134392</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3817303,</a:t>
            </a:r>
          </a:p>
          <a:p>
            <a:r>
              <a:t>      "is_forecast": true,</a:t>
            </a:r>
          </a:p>
          <a:p>
            <a:r>
              <a:t>      "spending_krw": 78887191546,</a:t>
            </a:r>
          </a:p>
          <a:p>
            <a:r>
              <a:t>      "stay_minutes": 1212.73,</a:t>
            </a:r>
          </a:p>
          <a:p>
            <a:r>
              <a:t>      "lodging_nights": 2.91,</a:t>
            </a:r>
          </a:p>
          <a:p>
            <a:r>
              <a:t>      "lodging_rate_pct": 7.1,</a:t>
            </a:r>
          </a:p>
          <a:p>
            <a:r>
              <a:t>      "lodging_searches": 7347,</a:t>
            </a:r>
          </a:p>
          <a:p>
            <a:r>
              <a:t>      "navigation_searches": 141607,</a:t>
            </a:r>
          </a:p>
          <a:p>
            <a:r>
              <a:t>      "visitor_yoy_percent": -1.21,</a:t>
            </a:r>
          </a:p>
          <a:p>
            <a:r>
              <a:t>      "spending_yoy_percent": 0.76,</a:t>
            </a:r>
          </a:p>
          <a:p>
            <a:r>
              <a:t>      "metric_changes_percent": {</a:t>
            </a:r>
          </a:p>
          <a:p>
            <a:r>
              <a:t>        "stay_minutes": -7.07,</a:t>
            </a:r>
          </a:p>
          <a:p>
            <a:r>
              <a:t>        "lodging_nights": -2.35,</a:t>
            </a:r>
          </a:p>
          <a:p>
            <a:r>
              <a:t>        "lodging_rate_pct": 0.0,</a:t>
            </a:r>
          </a:p>
          <a:p>
            <a:r>
              <a:t>        "lodging_searches": 0.0,</a:t>
            </a:r>
          </a:p>
          <a:p>
            <a:r>
              <a:t>        "navigation_searches": 0.0</a:t>
            </a:r>
          </a:p>
          <a:p>
            <a:r>
              <a:t>      },</a:t>
            </a:r>
          </a:p>
          <a:p>
            <a:r>
              <a:t>      "previous_year_visitors": 3863992,</a:t>
            </a:r>
          </a:p>
          <a:p>
            <a:r>
              <a:t>      "previous_year_spending_krw": 78295445000,</a:t>
            </a:r>
          </a:p>
          <a:p>
            <a:r>
              <a:t>      "previous_year_stay_minutes": 1305.0,</a:t>
            </a:r>
          </a:p>
          <a:p>
            <a:r>
              <a:t>      "previous_year_lodging_nights": 2.98,</a:t>
            </a:r>
          </a:p>
          <a:p>
            <a:r>
              <a:t>      "previous_year_lodging_rate_pct": 7.1,</a:t>
            </a:r>
          </a:p>
          <a:p>
            <a:r>
              <a:t>      "previous_year_lodging_searches": 7347,</a:t>
            </a:r>
          </a:p>
          <a:p>
            <a:r>
              <a:t>      "previous_year_navigation_searches": 141607</a:t>
            </a:r>
          </a:p>
          <a:p>
            <a:r>
              <a:t>    },</a:t>
            </a:r>
          </a:p>
          <a:p>
            <a:r>
              <a:t>    {</a:t>
            </a:r>
          </a:p>
          <a:p>
            <a:r>
              <a:t>      "month": "202608",</a:t>
            </a:r>
          </a:p>
          <a:p>
            <a:r>
              <a:t>      "visitors": 3749035,</a:t>
            </a:r>
          </a:p>
          <a:p>
            <a:r>
              <a:t>      "is_forecast": true,</a:t>
            </a:r>
          </a:p>
          <a:p>
            <a:r>
              <a:t>      "spending_krw": 80682185171,</a:t>
            </a:r>
          </a:p>
          <a:p>
            <a:r>
              <a:t>      "stay_minutes": 1150.71,</a:t>
            </a:r>
          </a:p>
          <a:p>
            <a:r>
              <a:t>      "lodging_nights": 2.93,</a:t>
            </a:r>
          </a:p>
          <a:p>
            <a:r>
              <a:t>      "lodging_rate_pct": 7.4,</a:t>
            </a:r>
          </a:p>
          <a:p>
            <a:r>
              <a:t>      "lodging_searches": 6953,</a:t>
            </a:r>
          </a:p>
          <a:p>
            <a:r>
              <a:t>      "navigation_searches": 142750,</a:t>
            </a:r>
          </a:p>
          <a:p>
            <a:r>
              <a:t>      "visitor_yoy_percent": -0.2,</a:t>
            </a:r>
          </a:p>
          <a:p>
            <a:r>
              <a:t>      "spending_yoy_percent": 0.35,</a:t>
            </a:r>
          </a:p>
          <a:p>
            <a:r>
              <a:t>      "metric_changes_percent": {</a:t>
            </a:r>
          </a:p>
          <a:p>
            <a:r>
              <a:t>        "stay_minutes": -4.98,</a:t>
            </a:r>
          </a:p>
          <a:p>
            <a:r>
              <a:t>        "lodging_nights": 1.03,</a:t>
            </a:r>
          </a:p>
          <a:p>
            <a:r>
              <a:t>        "lodging_rate_pct": 0.0,</a:t>
            </a:r>
          </a:p>
          <a:p>
            <a:r>
              <a:t>        "lodging_searches": 0.0,</a:t>
            </a:r>
          </a:p>
          <a:p>
            <a:r>
              <a:t>        "navigation_searches": 0.0</a:t>
            </a:r>
          </a:p>
          <a:p>
            <a:r>
              <a:t>      },</a:t>
            </a:r>
          </a:p>
          <a:p>
            <a:r>
              <a:t>      "previous_year_visitors": 3756696,</a:t>
            </a:r>
          </a:p>
          <a:p>
            <a:r>
              <a:t>      "previous_year_spending_krw": 80401710000,</a:t>
            </a:r>
          </a:p>
          <a:p>
            <a:r>
              <a:t>      "previous_year_stay_minutes": 1211.0,</a:t>
            </a:r>
          </a:p>
          <a:p>
            <a:r>
              <a:t>      "previous_year_lodging_nights": 2.9,</a:t>
            </a:r>
          </a:p>
          <a:p>
            <a:r>
              <a:t>      "previous_year_lodging_rate_pct": 7.4,</a:t>
            </a:r>
          </a:p>
          <a:p>
            <a:r>
              <a:t>      "previous_year_lodging_searches": 6953,</a:t>
            </a:r>
          </a:p>
          <a:p>
            <a:r>
              <a:t>      "previous_year_navigation_searches": 142750</a:t>
            </a:r>
          </a:p>
          <a:p>
            <a:r>
              <a:t>    },</a:t>
            </a:r>
          </a:p>
          <a:p>
            <a:r>
              <a:t>    {</a:t>
            </a:r>
          </a:p>
          <a:p>
            <a:r>
              <a:t>      "month": "202609",</a:t>
            </a:r>
          </a:p>
          <a:p>
            <a:r>
              <a:t>      "visitors": 3753359,</a:t>
            </a:r>
          </a:p>
          <a:p>
            <a:r>
              <a:t>      "is_forecast": true,</a:t>
            </a:r>
          </a:p>
          <a:p>
            <a:r>
              <a:t>      "spending_krw": 75157794156,</a:t>
            </a:r>
          </a:p>
          <a:p>
            <a:r>
              <a:t>      "stay_minutes": 1127.96,</a:t>
            </a:r>
          </a:p>
          <a:p>
            <a:r>
              <a:t>      "lodging_nights": 2.86,</a:t>
            </a:r>
          </a:p>
          <a:p>
            <a:r>
              <a:t>      "lodging_rate_pct": 6.4,</a:t>
            </a:r>
          </a:p>
          <a:p>
            <a:r>
              <a:t>      "lodging_searches": 6207,</a:t>
            </a:r>
          </a:p>
          <a:p>
            <a:r>
              <a:t>      "navigation_searches": 127671,</a:t>
            </a:r>
          </a:p>
          <a:p>
            <a:r>
              <a:t>      "visitor_yoy_percent": 0.83,</a:t>
            </a:r>
          </a:p>
          <a:p>
            <a:r>
              <a:t>      "spending_yoy_percent": -1.74,</a:t>
            </a:r>
          </a:p>
          <a:p>
            <a:r>
              <a:t>      "metric_changes_percent": {</a:t>
            </a:r>
          </a:p>
          <a:p>
            <a:r>
              <a:t>        "stay_minutes": -0.88,</a:t>
            </a:r>
          </a:p>
          <a:p>
            <a:r>
              <a:t>        "lodging_nights": -2.72,</a:t>
            </a:r>
          </a:p>
          <a:p>
            <a:r>
              <a:t>        "lodging_rate_pct": 0.0,</a:t>
            </a:r>
          </a:p>
          <a:p>
            <a:r>
              <a:t>        "lodging_searches": 0.0,</a:t>
            </a:r>
          </a:p>
          <a:p>
            <a:r>
              <a:t>        "navigation_searches": 0.0</a:t>
            </a:r>
          </a:p>
          <a:p>
            <a:r>
              <a:t>      },</a:t>
            </a:r>
          </a:p>
          <a:p>
            <a:r>
              <a:t>      "previous_year_visitors": 3722556,</a:t>
            </a:r>
          </a:p>
          <a:p>
            <a:r>
              <a:t>      "previous_year_spending_krw": 76492493000,</a:t>
            </a:r>
          </a:p>
          <a:p>
            <a:r>
              <a:t>      "previous_year_stay_minutes": 1138.0,</a:t>
            </a:r>
          </a:p>
          <a:p>
            <a:r>
              <a:t>      "previous_year_lodging_nights": 2.94,</a:t>
            </a:r>
          </a:p>
          <a:p>
            <a:r>
              <a:t>      "previous_year_lodging_rate_pct": 6.4,</a:t>
            </a:r>
          </a:p>
          <a:p>
            <a:r>
              <a:t>      "previous_year_lodging_searches": 6207,</a:t>
            </a:r>
          </a:p>
          <a:p>
            <a:r>
              <a:t>      "previous_year_navigation_searches": 127671</a:t>
            </a:r>
          </a:p>
          <a:p>
            <a:r>
              <a:t>    },</a:t>
            </a:r>
          </a:p>
          <a:p>
            <a:r>
              <a:t>    {</a:t>
            </a:r>
          </a:p>
          <a:p>
            <a:r>
              <a:t>      "month": "202610",</a:t>
            </a:r>
          </a:p>
          <a:p>
            <a:r>
              <a:t>      "visitors": 3778392,</a:t>
            </a:r>
          </a:p>
          <a:p>
            <a:r>
              <a:t>      "is_forecast": true,</a:t>
            </a:r>
          </a:p>
          <a:p>
            <a:r>
              <a:t>      "spending_krw": 78739302878,</a:t>
            </a:r>
          </a:p>
          <a:p>
            <a:r>
              <a:t>      "stay_minutes": 1189.22,</a:t>
            </a:r>
          </a:p>
          <a:p>
            <a:r>
              <a:t>      "lodging_nights": 2.9,</a:t>
            </a:r>
          </a:p>
          <a:p>
            <a:r>
              <a:t>      "lodging_rate_pct": 8.5,</a:t>
            </a:r>
          </a:p>
          <a:p>
            <a:r>
              <a:t>      "lodging_searches": 9560,</a:t>
            </a:r>
          </a:p>
          <a:p>
            <a:r>
              <a:t>      "navigation_searches": 211413,</a:t>
            </a:r>
          </a:p>
          <a:p>
            <a:r>
              <a:t>      "visitor_yoy_percent": -3.74,</a:t>
            </a:r>
          </a:p>
          <a:p>
            <a:r>
              <a:t>      "spending_yoy_percent": -6.27,</a:t>
            </a:r>
          </a:p>
          <a:p>
            <a:r>
              <a:t>      "metric_changes_percent": {</a:t>
            </a:r>
          </a:p>
          <a:p>
            <a:r>
              <a:t>        "stay_minutes": -3.55,</a:t>
            </a:r>
          </a:p>
          <a:p>
            <a:r>
              <a:t>        "lodging_nights": 0.69,</a:t>
            </a:r>
          </a:p>
          <a:p>
            <a:r>
              <a:t>        "lodging_rate_pct": 0.0,</a:t>
            </a:r>
          </a:p>
          <a:p>
            <a:r>
              <a:t>        "lodging_searches": 0.0,</a:t>
            </a:r>
          </a:p>
          <a:p>
            <a:r>
              <a:t>        "navigation_searches": 0.0</a:t>
            </a:r>
          </a:p>
          <a:p>
            <a:r>
              <a:t>      },</a:t>
            </a:r>
          </a:p>
          <a:p>
            <a:r>
              <a:t>      "previous_year_visitors": 3925237,</a:t>
            </a:r>
          </a:p>
          <a:p>
            <a:r>
              <a:t>      "previous_year_spending_krw": 84007025000,</a:t>
            </a:r>
          </a:p>
          <a:p>
            <a:r>
              <a:t>      "previous_year_stay_minutes": 1233.0,</a:t>
            </a:r>
          </a:p>
          <a:p>
            <a:r>
              <a:t>      "previous_year_lodging_nights": 2.88,</a:t>
            </a:r>
          </a:p>
          <a:p>
            <a:r>
              <a:t>      "previous_year_lodging_rate_pct": 8.5,</a:t>
            </a:r>
          </a:p>
          <a:p>
            <a:r>
              <a:t>      "previous_year_lodging_searches": 9560,</a:t>
            </a:r>
          </a:p>
          <a:p>
            <a:r>
              <a:t>      "previous_year_navigation_searches": 211413</a:t>
            </a:r>
          </a:p>
          <a:p>
            <a:r>
              <a:t>    },</a:t>
            </a:r>
          </a:p>
          <a:p>
            <a:r>
              <a:t>    {</a:t>
            </a:r>
          </a:p>
          <a:p>
            <a:r>
              <a:t>      "month": "202611",</a:t>
            </a:r>
          </a:p>
          <a:p>
            <a:r>
              <a:t>      "visitors": 3748084,</a:t>
            </a:r>
          </a:p>
          <a:p>
            <a:r>
              <a:t>      "is_forecast": true,</a:t>
            </a:r>
          </a:p>
          <a:p>
            <a:r>
              <a:t>      "spending_krw": 81104223698,</a:t>
            </a:r>
          </a:p>
          <a:p>
            <a:r>
              <a:t>      "stay_minutes": 1157.37,</a:t>
            </a:r>
          </a:p>
          <a:p>
            <a:r>
              <a:t>      "lodging_nights": 2.86,</a:t>
            </a:r>
          </a:p>
          <a:p>
            <a:r>
              <a:t>      "lodging_rate_pct": 6.5,</a:t>
            </a:r>
          </a:p>
          <a:p>
            <a:r>
              <a:t>      "lodging_searches": 6582,</a:t>
            </a:r>
          </a:p>
          <a:p>
            <a:r>
              <a:t>      "navigation_searches": 141791,</a:t>
            </a:r>
          </a:p>
          <a:p>
            <a:r>
              <a:t>      "visitor_yoy_percent": -1.44,</a:t>
            </a:r>
          </a:p>
          <a:p>
            <a:r>
              <a:t>      "spending_yoy_percent": -1.77,</a:t>
            </a:r>
          </a:p>
          <a:p>
            <a:r>
              <a:t>      "metric_changes_percent": {</a:t>
            </a:r>
          </a:p>
          <a:p>
            <a:r>
              <a:t>        "stay_minutes": 4.74,</a:t>
            </a:r>
          </a:p>
          <a:p>
            <a:r>
              <a:t>        "lodging_nights": -1.38,</a:t>
            </a:r>
          </a:p>
          <a:p>
            <a:r>
              <a:t>        "lodging_rate_pct": 0.0,</a:t>
            </a:r>
          </a:p>
          <a:p>
            <a:r>
              <a:t>        "lodging_searches": 0.0,</a:t>
            </a:r>
          </a:p>
          <a:p>
            <a:r>
              <a:t>        "navigation_searches": 0.0</a:t>
            </a:r>
          </a:p>
          <a:p>
            <a:r>
              <a:t>      },</a:t>
            </a:r>
          </a:p>
          <a:p>
            <a:r>
              <a:t>      "previous_year_visitors": 3802982,</a:t>
            </a:r>
          </a:p>
          <a:p>
            <a:r>
              <a:t>      "previous_year_spending_krw": 82569585000,</a:t>
            </a:r>
          </a:p>
          <a:p>
            <a:r>
              <a:t>      "previous_year_stay_minutes": 1105.0,</a:t>
            </a:r>
          </a:p>
          <a:p>
            <a:r>
              <a:t>      "previous_year_lodging_nights": 2.9,</a:t>
            </a:r>
          </a:p>
          <a:p>
            <a:r>
              <a:t>      "previous_year_lodging_rate_pct": 6.5,</a:t>
            </a:r>
          </a:p>
          <a:p>
            <a:r>
              <a:t>      "previous_year_lodging_searches": 6582,</a:t>
            </a:r>
          </a:p>
          <a:p>
            <a:r>
              <a:t>      "previous_year_navigation_searches": 141791</a:t>
            </a:r>
          </a:p>
          <a:p>
            <a:r>
              <a:t>    },</a:t>
            </a:r>
          </a:p>
          <a:p>
            <a:r>
              <a:t>    {</a:t>
            </a:r>
          </a:p>
          <a:p>
            <a:r>
              <a:t>      "month": "202612",</a:t>
            </a:r>
          </a:p>
          <a:p>
            <a:r>
              <a:t>      "visitors": 3741663,</a:t>
            </a:r>
          </a:p>
          <a:p>
            <a:r>
              <a:t>      "is_forecast": true,</a:t>
            </a:r>
          </a:p>
          <a:p>
            <a:r>
              <a:t>      "spending_krw": 83702422444,</a:t>
            </a:r>
          </a:p>
          <a:p>
            <a:r>
              <a:t>      "stay_minutes": 1216.03,</a:t>
            </a:r>
          </a:p>
          <a:p>
            <a:r>
              <a:t>      "lodging_nights": 2.93,</a:t>
            </a:r>
          </a:p>
          <a:p>
            <a:r>
              <a:t>      "lodging_rate_pct": 7.4,</a:t>
            </a:r>
          </a:p>
          <a:p>
            <a:r>
              <a:t>      "lodging_searches": 6099,</a:t>
            </a:r>
          </a:p>
          <a:p>
            <a:r>
              <a:t>      "navigation_searches": 134392,</a:t>
            </a:r>
          </a:p>
          <a:p>
            <a:r>
              <a:t>      "visitor_yoy_percent": -1.2,</a:t>
            </a:r>
          </a:p>
          <a:p>
            <a:r>
              <a:t>      "spending_yoy_percent": -1.66,</a:t>
            </a:r>
          </a:p>
          <a:p>
            <a:r>
              <a:t>      "metric_changes_percent": {</a:t>
            </a:r>
          </a:p>
          <a:p>
            <a:r>
              <a:t>        "stay_minutes": 3.49,</a:t>
            </a:r>
          </a:p>
          <a:p>
            <a:r>
              <a:t>        "lodging_nights": 2.81,</a:t>
            </a:r>
          </a:p>
          <a:p>
            <a:r>
              <a:t>        "lodging_rate_pct": 0.0,</a:t>
            </a:r>
          </a:p>
          <a:p>
            <a:r>
              <a:t>        "lodging_searches": 0.0,</a:t>
            </a:r>
          </a:p>
          <a:p>
            <a:r>
              <a:t>        "navigation_searches": 0.0</a:t>
            </a:r>
          </a:p>
          <a:p>
            <a:r>
              <a:t>      },</a:t>
            </a:r>
          </a:p>
          <a:p>
            <a:r>
              <a:t>      "previous_year_visitors": 3787225,</a:t>
            </a:r>
          </a:p>
          <a:p>
            <a:r>
              <a:t>      "previous_year_spending_krw": 85114549000,</a:t>
            </a:r>
          </a:p>
          <a:p>
            <a:r>
              <a:t>      "previous_year_stay_minutes": 1175.0,</a:t>
            </a:r>
          </a:p>
          <a:p>
            <a:r>
              <a:t>      "previous_year_lodging_nights": 2.85,</a:t>
            </a:r>
          </a:p>
          <a:p>
            <a:r>
              <a:t>      "previous_year_lodging_rate_pct": 7.4,</a:t>
            </a:r>
          </a:p>
          <a:p>
            <a:r>
              <a:t>      "previous_year_lodging_searches": 6099,</a:t>
            </a:r>
          </a:p>
          <a:p>
            <a:r>
              <a:t>      "previous_year_navigation_searches": 134392</a:t>
            </a:r>
          </a:p>
          <a:p>
            <a:r>
              <a:t>    }</a:t>
            </a:r>
          </a:p>
          <a:p>
            <a:r>
              <a:t>  ],</a:t>
            </a:r>
          </a:p>
          <a:p>
            <a:r>
              <a:t>  "evaluation": {</a:t>
            </a:r>
          </a:p>
          <a:p>
            <a:r>
              <a:t>    "metrics": {</a:t>
            </a:r>
          </a:p>
          <a:p>
            <a:r>
              <a:t>      "visitors": {</a:t>
            </a:r>
          </a:p>
          <a:p>
            <a:r>
              <a:t>        "test_mae": 116276.26,</a:t>
            </a:r>
          </a:p>
          <a:p>
            <a:r>
              <a:t>        "recursive_mae": {</a:t>
            </a:r>
          </a:p>
          <a:p>
            <a:r>
              <a:t>          "1": {</a:t>
            </a:r>
          </a:p>
          <a:p>
            <a:r>
              <a:t>            "baseline": 107629,</a:t>
            </a:r>
          </a:p>
          <a:p>
            <a:r>
              <a:t>            "selected": 144586,</a:t>
            </a:r>
          </a:p>
          <a:p>
            <a:r>
              <a:t>            "sample_count": 2</a:t>
            </a:r>
          </a:p>
          <a:p>
            <a:r>
              <a:t>          },</a:t>
            </a:r>
          </a:p>
          <a:p>
            <a:r>
              <a:t>          "2": {</a:t>
            </a:r>
          </a:p>
          <a:p>
            <a:r>
              <a:t>            "baseline": 97982,</a:t>
            </a:r>
          </a:p>
          <a:p>
            <a:r>
              <a:t>            "selected": 42697.5,</a:t>
            </a:r>
          </a:p>
          <a:p>
            <a:r>
              <a:t>            "sample_count": 2</a:t>
            </a:r>
          </a:p>
          <a:p>
            <a:r>
              <a:t>          },</a:t>
            </a:r>
          </a:p>
          <a:p>
            <a:r>
              <a:t>          "3": {</a:t>
            </a:r>
          </a:p>
          <a:p>
            <a:r>
              <a:t>            "baseline": 117576.5,</a:t>
            </a:r>
          </a:p>
          <a:p>
            <a:r>
              <a:t>            "selected": 61978,</a:t>
            </a:r>
          </a:p>
          <a:p>
            <a:r>
              <a:t>            "sample_count": 2</a:t>
            </a:r>
          </a:p>
          <a:p>
            <a:r>
              <a:t>          }</a:t>
            </a:r>
          </a:p>
          <a:p>
            <a:r>
              <a:t>        },</a:t>
            </a:r>
          </a:p>
          <a:p>
            <a:r>
              <a:t>        "selected_model": "RandomForestRegressor",</a:t>
            </a:r>
          </a:p>
          <a:p>
            <a:r>
              <a:t>        "baseline_test_mae": 112602.75,</a:t>
            </a:r>
          </a:p>
          <a:p>
            <a:r>
              <a:t>        "model_reliability": "below_baseline_on_test",</a:t>
            </a:r>
          </a:p>
          <a:p>
            <a:r>
              <a:t>        "beats_baseline_on_test": false,</a:t>
            </a:r>
          </a:p>
          <a:p>
            <a:r>
              <a:t>        "recursive_horizons_worse_than_baseline": [</a:t>
            </a:r>
          </a:p>
          <a:p>
            <a:r>
              <a:t>          "1"</a:t>
            </a:r>
          </a:p>
          <a:p>
            <a:r>
              <a:t>        ]</a:t>
            </a:r>
          </a:p>
          <a:p>
            <a:r>
              <a:t>      },</a:t>
            </a:r>
          </a:p>
          <a:p>
            <a:r>
              <a:t>      "spending_krw": {</a:t>
            </a:r>
          </a:p>
          <a:p>
            <a:r>
              <a:t>        "test_mae": 8497417178.46,</a:t>
            </a:r>
          </a:p>
          <a:p>
            <a:r>
              <a:t>        "recursive_mae": {</a:t>
            </a:r>
          </a:p>
          <a:p>
            <a:r>
              <a:t>          "1": {</a:t>
            </a:r>
          </a:p>
          <a:p>
            <a:r>
              <a:t>            "baseline": 8544467500,</a:t>
            </a:r>
          </a:p>
          <a:p>
            <a:r>
              <a:t>            "selected": 9094829451,</a:t>
            </a:r>
          </a:p>
          <a:p>
            <a:r>
              <a:t>            "sample_count": 2</a:t>
            </a:r>
          </a:p>
          <a:p>
            <a:r>
              <a:t>          },</a:t>
            </a:r>
          </a:p>
          <a:p>
            <a:r>
              <a:t>          "2": {</a:t>
            </a:r>
          </a:p>
          <a:p>
            <a:r>
              <a:t>            "baseline": 7477646000,</a:t>
            </a:r>
          </a:p>
          <a:p>
            <a:r>
              <a:t>            "selected": 11843172152.5,</a:t>
            </a:r>
          </a:p>
          <a:p>
            <a:r>
              <a:t>            "sample_count": 2</a:t>
            </a:r>
          </a:p>
          <a:p>
            <a:r>
              <a:t>          },</a:t>
            </a:r>
          </a:p>
          <a:p>
            <a:r>
              <a:t>          "3": {</a:t>
            </a:r>
          </a:p>
          <a:p>
            <a:r>
              <a:t>            "baseline": 3820910500,</a:t>
            </a:r>
          </a:p>
          <a:p>
            <a:r>
              <a:t>            "selected": 11502063502,</a:t>
            </a:r>
          </a:p>
          <a:p>
            <a:r>
              <a:t>            "sample_count": 2</a:t>
            </a:r>
          </a:p>
          <a:p>
            <a:r>
              <a:t>          }</a:t>
            </a:r>
          </a:p>
          <a:p>
            <a:r>
              <a:t>        },</a:t>
            </a:r>
          </a:p>
          <a:p>
            <a:r>
              <a:t>        "selected_model": "LinearRegression",</a:t>
            </a:r>
          </a:p>
          <a:p>
            <a:r>
              <a:t>        "baseline_test_mae": 6182689000,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251.99,</a:t>
            </a:r>
          </a:p>
          <a:p>
            <a:r>
              <a:t>        "recursive_mae": {</a:t>
            </a:r>
          </a:p>
          <a:p>
            <a:r>
              <a:t>          "1": {</a:t>
            </a:r>
          </a:p>
          <a:p>
            <a:r>
              <a:t>            "baseline": 54.5,</a:t>
            </a:r>
          </a:p>
          <a:p>
            <a:r>
              <a:t>            "selected": 117.74,</a:t>
            </a:r>
          </a:p>
          <a:p>
            <a:r>
              <a:t>            "sample_count": 2</a:t>
            </a:r>
          </a:p>
          <a:p>
            <a:r>
              <a:t>          },</a:t>
            </a:r>
          </a:p>
          <a:p>
            <a:r>
              <a:t>          "2": {</a:t>
            </a:r>
          </a:p>
          <a:p>
            <a:r>
              <a:t>            "baseline": 205.5,</a:t>
            </a:r>
          </a:p>
          <a:p>
            <a:r>
              <a:t>            "selected": 187.84,</a:t>
            </a:r>
          </a:p>
          <a:p>
            <a:r>
              <a:t>            "sample_count": 2</a:t>
            </a:r>
          </a:p>
          <a:p>
            <a:r>
              <a:t>          },</a:t>
            </a:r>
          </a:p>
          <a:p>
            <a:r>
              <a:t>          "3": {</a:t>
            </a:r>
          </a:p>
          <a:p>
            <a:r>
              <a:t>            "baseline": 208.5,</a:t>
            </a:r>
          </a:p>
          <a:p>
            <a:r>
              <a:t>            "selected": 234.17,</a:t>
            </a:r>
          </a:p>
          <a:p>
            <a:r>
              <a:t>            "sample_count": 2</a:t>
            </a:r>
          </a:p>
          <a:p>
            <a:r>
              <a:t>          }</a:t>
            </a:r>
          </a:p>
          <a:p>
            <a:r>
              <a:t>        },</a:t>
            </a:r>
          </a:p>
          <a:p>
            <a:r>
              <a:t>        "selected_model": "LinearRegression",</a:t>
            </a:r>
          </a:p>
          <a:p>
            <a:r>
              <a:t>        "baseline_test_mae": 131.5,</a:t>
            </a:r>
          </a:p>
          <a:p>
            <a:r>
              <a:t>        "model_reliability": "below_baseline_on_test",</a:t>
            </a:r>
          </a:p>
          <a:p>
            <a:r>
              <a:t>        "beats_baseline_on_test": false,</a:t>
            </a:r>
          </a:p>
          <a:p>
            <a:r>
              <a:t>        "recursive_horizons_worse_than_baseline": [</a:t>
            </a:r>
          </a:p>
          <a:p>
            <a:r>
              <a:t>          "1",</a:t>
            </a:r>
          </a:p>
          <a:p>
            <a:r>
              <a:t>          "3"</a:t>
            </a:r>
          </a:p>
          <a:p>
            <a:r>
              <a:t>        ]</a:t>
            </a:r>
          </a:p>
          <a:p>
            <a:r>
              <a:t>      },</a:t>
            </a:r>
          </a:p>
          <a:p>
            <a:r>
              <a:t>      "lodging_nights": {</a:t>
            </a:r>
          </a:p>
          <a:p>
            <a:r>
              <a:t>        "test_mae": 0.08,</a:t>
            </a:r>
          </a:p>
          <a:p>
            <a:r>
              <a:t>        "recursive_mae": {</a:t>
            </a:r>
          </a:p>
          <a:p>
            <a:r>
              <a:t>          "1": {</a:t>
            </a:r>
          </a:p>
          <a:p>
            <a:r>
              <a:t>            "baseline": 0.07,</a:t>
            </a:r>
          </a:p>
          <a:p>
            <a:r>
              <a:t>            "selected": 0.04,</a:t>
            </a:r>
          </a:p>
          <a:p>
            <a:r>
              <a:t>            "sample_count": 2</a:t>
            </a:r>
          </a:p>
          <a:p>
            <a:r>
              <a:t>          },</a:t>
            </a:r>
          </a:p>
          <a:p>
            <a:r>
              <a:t>          "2": {</a:t>
            </a:r>
          </a:p>
          <a:p>
            <a:r>
              <a:t>            "baseline": 0.11,</a:t>
            </a:r>
          </a:p>
          <a:p>
            <a:r>
              <a:t>            "selected": 0.09,</a:t>
            </a:r>
          </a:p>
          <a:p>
            <a:r>
              <a:t>            "sample_count": 2</a:t>
            </a:r>
          </a:p>
          <a:p>
            <a:r>
              <a:t>          },</a:t>
            </a:r>
          </a:p>
          <a:p>
            <a:r>
              <a:t>          "3": {</a:t>
            </a:r>
          </a:p>
          <a:p>
            <a:r>
              <a:t>            "baseline": 0.1,</a:t>
            </a:r>
          </a:p>
          <a:p>
            <a:r>
              <a:t>            "selected": 0.07,</a:t>
            </a:r>
          </a:p>
          <a:p>
            <a:r>
              <a:t>            "sample_count": 2</a:t>
            </a:r>
          </a:p>
          <a:p>
            <a:r>
              <a:t>          }</a:t>
            </a:r>
          </a:p>
          <a:p>
            <a:r>
              <a:t>        },</a:t>
            </a:r>
          </a:p>
          <a:p>
            <a:r>
              <a:t>        "selected_model": "LinearRegression",</a:t>
            </a:r>
          </a:p>
          <a:p>
            <a:r>
              <a:t>        "baseline_test_mae": 0.09,</a:t>
            </a:r>
          </a:p>
          <a:p>
            <a:r>
              <a:t>        "model_reliability": "limited_backtest_support",</a:t>
            </a:r>
          </a:p>
          <a:p>
            <a:r>
              <a:t>        "beats_baseline_on_test": true,</a:t>
            </a:r>
          </a:p>
          <a:p>
            <a:r>
              <a:t>        "recursive_horizons_worse_than_baseline": []</a:t>
            </a:r>
          </a:p>
          <a:p>
            <a:r>
              <a:t>      },</a:t>
            </a:r>
          </a:p>
          <a:p>
            <a:r>
              <a:t>      "lodging_rate_pct": {</a:t>
            </a:r>
          </a:p>
          <a:p>
            <a:r>
              <a:t>        "test_mae": 0.27,</a:t>
            </a:r>
          </a:p>
          <a:p>
            <a:r>
              <a:t>        "recursive_mae": {</a:t>
            </a:r>
          </a:p>
          <a:p>
            <a:r>
              <a:t>          "1": {</a:t>
            </a:r>
          </a:p>
          <a:p>
            <a:r>
              <a:t>            "baseline": 0.35,</a:t>
            </a:r>
          </a:p>
          <a:p>
            <a:r>
              <a:t>            "selected": 0.35,</a:t>
            </a:r>
          </a:p>
          <a:p>
            <a:r>
              <a:t>            "sample_count": 2</a:t>
            </a:r>
          </a:p>
          <a:p>
            <a:r>
              <a:t>          },</a:t>
            </a:r>
          </a:p>
          <a:p>
            <a:r>
              <a:t>          "2": {</a:t>
            </a:r>
          </a:p>
          <a:p>
            <a:r>
              <a:t>            "baseline": 0.1,</a:t>
            </a:r>
          </a:p>
          <a:p>
            <a:r>
              <a:t>            "selected": 0.1,</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0.27,</a:t>
            </a:r>
          </a:p>
          <a:p>
            <a:r>
              <a:t>        "model_reliability": "seasonal_baseline",</a:t>
            </a:r>
          </a:p>
          <a:p>
            <a:r>
              <a:t>        "beats_baseline_on_test": false,</a:t>
            </a:r>
          </a:p>
          <a:p>
            <a:r>
              <a:t>        "recursive_horizons_worse_than_baseline": []</a:t>
            </a:r>
          </a:p>
          <a:p>
            <a:r>
              <a:t>      },</a:t>
            </a:r>
          </a:p>
          <a:p>
            <a:r>
              <a:t>      "lodging_searches": {</a:t>
            </a:r>
          </a:p>
          <a:p>
            <a:r>
              <a:t>        "test_mae": 414.25,</a:t>
            </a:r>
          </a:p>
          <a:p>
            <a:r>
              <a:t>        "recursive_mae": {</a:t>
            </a:r>
          </a:p>
          <a:p>
            <a:r>
              <a:t>          "1": {</a:t>
            </a:r>
          </a:p>
          <a:p>
            <a:r>
              <a:t>            "baseline": 527,</a:t>
            </a:r>
          </a:p>
          <a:p>
            <a:r>
              <a:t>            "selected": 527,</a:t>
            </a:r>
          </a:p>
          <a:p>
            <a:r>
              <a:t>            "sample_count": 2</a:t>
            </a:r>
          </a:p>
          <a:p>
            <a:r>
              <a:t>          },</a:t>
            </a:r>
          </a:p>
          <a:p>
            <a:r>
              <a:t>          "2": {</a:t>
            </a:r>
          </a:p>
          <a:p>
            <a:r>
              <a:t>            "baseline": 252.5,</a:t>
            </a:r>
          </a:p>
          <a:p>
            <a:r>
              <a:t>            "selected": 252.5,</a:t>
            </a:r>
          </a:p>
          <a:p>
            <a:r>
              <a:t>            "sample_count": 2</a:t>
            </a:r>
          </a:p>
          <a:p>
            <a:r>
              <a:t>          },</a:t>
            </a:r>
          </a:p>
          <a:p>
            <a:r>
              <a:t>          "3": {</a:t>
            </a:r>
          </a:p>
          <a:p>
            <a:r>
              <a:t>            "baseline": 301.5,</a:t>
            </a:r>
          </a:p>
          <a:p>
            <a:r>
              <a:t>            "selected": 301.5,</a:t>
            </a:r>
          </a:p>
          <a:p>
            <a:r>
              <a:t>            "sample_count": 2</a:t>
            </a:r>
          </a:p>
          <a:p>
            <a:r>
              <a:t>          }</a:t>
            </a:r>
          </a:p>
          <a:p>
            <a:r>
              <a:t>        },</a:t>
            </a:r>
          </a:p>
          <a:p>
            <a:r>
              <a:t>        "selected_model": "seasonal_naive_previous_year_same_month",</a:t>
            </a:r>
          </a:p>
          <a:p>
            <a:r>
              <a:t>        "baseline_test_mae": 414.25,</a:t>
            </a:r>
          </a:p>
          <a:p>
            <a:r>
              <a:t>        "model_reliability": "seasonal_baseline",</a:t>
            </a:r>
          </a:p>
          <a:p>
            <a:r>
              <a:t>        "beats_baseline_on_test": false,</a:t>
            </a:r>
          </a:p>
          <a:p>
            <a:r>
              <a:t>        "recursive_horizons_worse_than_baseline": []</a:t>
            </a:r>
          </a:p>
          <a:p>
            <a:r>
              <a:t>      },</a:t>
            </a:r>
          </a:p>
          <a:p>
            <a:r>
              <a:t>      "navigation_searches": {</a:t>
            </a:r>
          </a:p>
          <a:p>
            <a:r>
              <a:t>        "test_mae": 6613.5,</a:t>
            </a:r>
          </a:p>
          <a:p>
            <a:r>
              <a:t>        "recursive_mae": {</a:t>
            </a:r>
          </a:p>
          <a:p>
            <a:r>
              <a:t>          "1": {</a:t>
            </a:r>
          </a:p>
          <a:p>
            <a:r>
              <a:t>            "baseline": 7157.5,</a:t>
            </a:r>
          </a:p>
          <a:p>
            <a:r>
              <a:t>            "selected": 7157.5,</a:t>
            </a:r>
          </a:p>
          <a:p>
            <a:r>
              <a:t>            "sample_count": 2</a:t>
            </a:r>
          </a:p>
          <a:p>
            <a:r>
              <a:t>          },</a:t>
            </a:r>
          </a:p>
          <a:p>
            <a:r>
              <a:t>          "2": {</a:t>
            </a:r>
          </a:p>
          <a:p>
            <a:r>
              <a:t>            "baseline": 2837.5,</a:t>
            </a:r>
          </a:p>
          <a:p>
            <a:r>
              <a:t>            "selected": 2837.5,</a:t>
            </a:r>
          </a:p>
          <a:p>
            <a:r>
              <a:t>            "sample_count": 2</a:t>
            </a:r>
          </a:p>
          <a:p>
            <a:r>
              <a:t>          },</a:t>
            </a:r>
          </a:p>
          <a:p>
            <a:r>
              <a:t>          "3": {</a:t>
            </a:r>
          </a:p>
          <a:p>
            <a:r>
              <a:t>            "baseline": 6069.5,</a:t>
            </a:r>
          </a:p>
          <a:p>
            <a:r>
              <a:t>            "selected": 6069.5,</a:t>
            </a:r>
          </a:p>
          <a:p>
            <a:r>
              <a:t>            "sample_count": 2</a:t>
            </a:r>
          </a:p>
          <a:p>
            <a:r>
              <a:t>          }</a:t>
            </a:r>
          </a:p>
          <a:p>
            <a:r>
              <a:t>        },</a:t>
            </a:r>
          </a:p>
          <a:p>
            <a:r>
              <a:t>        "selected_model": "seasonal_naive_previous_year_same_month",</a:t>
            </a:r>
          </a:p>
          <a:p>
            <a:r>
              <a:t>        "baseline_test_mae": 6613.5,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"본문 기준"</a:t>
            </a:r>
          </a:p>
          <a:p>
            <a:r>
              <a:t>      ]</a:t>
            </a:r>
          </a:p>
          <a:p>
            <a:r>
              <a:t>    ],</a:t>
            </a:r>
          </a:p>
          <a:p>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"인천광역시 ‘6월부터 밤마다 인천으로’ 야간관광 특화도시 운영 및 성과 자료",</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"source_id": "case:3e081ab48300f1",</a:t>
            </a:r>
          </a:p>
          <a:p>
            <a:r>
              <a:t>    "source_url": "https://www.incheon.go.kr/IC010205/view?beginDt=2021-10-01&amp;curPage=479&amp;endDt=&amp;repSeq=DOM_0000000010085993&amp;srchMainManagerDeptNm=&amp;srchRepContents=&amp;srchRepTitle=",</a:t>
            </a:r>
          </a:p>
          <a:p>
            <a:r>
              <a:t>    "case_region": "인천광역시 송도·개항장·월미도 등",</a:t>
            </a:r>
          </a:p>
          <a:p>
            <a:r>
              <a:t>    "source_type": "benchmark_case",</a:t>
            </a:r>
          </a:p>
          <a:p>
            <a:r>
              <a:t>    "intervention": "야간 프로그램·시티투어·관광패스·야시장·상권쿠폰을 결합한 야간관광 특화도시 사업",</a:t>
            </a:r>
          </a:p>
          <a:p>
            <a:r>
              <a:t>    "document_type": null,</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"retrieval_method": "official_web_search",</a:t>
            </a:r>
          </a:p>
          <a:p>
            <a:r>
              <a:t>    "evidence_strength": "medium",</a:t>
            </a:r>
          </a:p>
          <a:p>
            <a:r>
              <a:t>    "retrieval_context": {</a:t>
            </a:r>
          </a:p>
          <a:p>
            <a:r>
              <a:t>      "scope": "same_province",</a:t>
            </a:r>
          </a:p>
          <a:p>
            <a:r>
              <a:t>      "peer_region_code": null</a:t>
            </a:r>
          </a:p>
          <a:p>
            <a:r>
              <a:t>    },</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"published_or_updated_at": "2024-05-29",</a:t>
            </a:r>
          </a:p>
          <a:p>
            <a:r>
              <a:t>    "quantitative_result_approved": null</a:t>
            </a:r>
          </a:p>
          <a:p>
            <a:r>
              <a:t>  },</a:t>
            </a:r>
          </a:p>
          <a:p>
            <a:r>
              <a:t>  "observed_findings": [</a:t>
            </a:r>
          </a:p>
          <a:p>
            <a:r>
              <a:t>    {</a:t>
            </a:r>
          </a:p>
          <a:p>
            <a:r>
              <a:t>      "value": "2026년 10월~12월 기간 동안 전년 동기 대비 감소 예측",</a:t>
            </a:r>
          </a:p>
          <a:p>
            <a:r>
              <a:t>      "metric": "관광소비액 전망",</a:t>
            </a:r>
          </a:p>
          <a:p>
            <a:r>
              <a:t>      "source": "ml:28237:regional-demand-v3.1:202606",</a:t>
            </a:r>
          </a:p>
          <a:p>
            <a:r>
              <a:t>      "interpretation": "ML 모델의 예측 결과이며, 정책 실행에 따른 인가효과가 아님"</a:t>
            </a:r>
          </a:p>
          <a:p>
            <a:r>
              <a:t>    },</a:t>
            </a:r>
          </a:p>
          <a:p>
            <a:r>
              <a:t>    {</a:t>
            </a:r>
          </a:p>
          <a:p>
            <a:r>
              <a:t>      "value": "2026년 10월~12월 기간 동안 전년 동기 대비 감소 예측",</a:t>
            </a:r>
          </a:p>
          <a:p>
            <a:r>
              <a:t>      "metric": "방문자 수 전망",</a:t>
            </a:r>
          </a:p>
          <a:p>
            <a:r>
              <a:t>      "source": "ml:28237:regional-demand-v3.1:202606",</a:t>
            </a:r>
          </a:p>
          <a:p>
            <a:r>
              <a:t>      "interpretation": "ML 모델의 예측 결과이며, 정책 실행에 따른 인과효과가 아님"</a:t>
            </a:r>
          </a:p>
          <a:p>
            <a:r>
              <a:t>    },</a:t>
            </a:r>
          </a:p>
          <a:p>
            <a:r>
              <a:t>    {</a:t>
            </a:r>
          </a:p>
          <a:p>
            <a:r>
              <a:t>      "value": "2026년 10월~12월 기간 동안 증가 예측",</a:t>
            </a:r>
          </a:p>
          <a:p>
            <a:r>
              <a:t>      "metric": "평균 체류시간 전망",</a:t>
            </a:r>
          </a:p>
          <a:p>
            <a:r>
              <a:t>      "source": "ml:28237:regional-demand-v3.1:202606",</a:t>
            </a:r>
          </a:p>
          <a:p>
            <a:r>
              <a:t>      "interpretation": "ML 모델의 예측 결과이며, 정책 실행에 따른 인과효과가 아님"</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11,268,139명 → 목표 11,643,131명 (추가 374,992명, +3.33%)\n관광소비액: 기준 243,545,949,020원 → 목표 251,746,865,980원 (추가 8,200,916,960원, +3.37%)\n월별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7건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374,992명 × 시범 담당 비중 1% → 3,750건(올림).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11268139.0,</a:t>
            </a:r>
          </a:p>
          <a:p>
            <a:r>
              <a:t>        "target": 11643131.483333334,</a:t>
            </a:r>
          </a:p>
          <a:p>
            <a:r>
              <a:t>        "additional": 374992.4833333343,</a:t>
            </a:r>
          </a:p>
          <a:p>
            <a:r>
              <a:t>        "pct": 3.3279007592410315</a:t>
            </a:r>
          </a:p>
          <a:p>
            <a:r>
              <a:t>      },</a:t>
            </a:r>
          </a:p>
          <a:p>
            <a:r>
              <a:t>      {</a:t>
            </a:r>
          </a:p>
          <a:p>
            <a:r>
              <a:t>        "key": "spending",</a:t>
            </a:r>
          </a:p>
          <a:p>
            <a:r>
              <a:t>        "label": "관광소비액",</a:t>
            </a:r>
          </a:p>
          <a:p>
            <a:r>
              <a:t>        "unit": "원",</a:t>
            </a:r>
          </a:p>
          <a:p>
            <a:r>
              <a:t>        "baseline": 243545949020.0,</a:t>
            </a:r>
          </a:p>
          <a:p>
            <a:r>
              <a:t>        "target": 251746865980.10004,</a:t>
            </a:r>
          </a:p>
          <a:p>
            <a:r>
              <a:t>        "additional": 8200916960.100037,</a:t>
            </a:r>
          </a:p>
          <a:p>
            <a:r>
              <a:t>        "pct": 3.367297626217791</a:t>
            </a:r>
          </a:p>
          <a:p>
            <a:r>
              <a:t>      }</a:t>
            </a:r>
          </a:p>
          <a:p>
            <a:r>
              <a:t>    ],</a:t>
            </a:r>
          </a:p>
          <a:p>
            <a:r>
              <a:t>    "demo": false,</a:t>
            </a:r>
          </a:p>
          <a:p>
            <a:r>
              <a:t>    "models": {</a:t>
            </a:r>
          </a:p>
          <a:p>
            <a:r>
              <a:t>      "visitors": "랜덤 포레스트",</a:t>
            </a:r>
          </a:p>
          <a:p>
            <a:r>
              <a:t>      "spending_krw": "선형 회귀",</a:t>
            </a:r>
          </a:p>
          <a:p>
            <a:r>
              <a:t>      "stay_minutes": "선형 회귀",</a:t>
            </a:r>
          </a:p>
          <a:p>
            <a:r>
              <a:t>      "lodging_nights": "선형 회귀",</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7,</a:t>
            </a:r>
          </a:p>
          <a:p>
            <a:r>
              <a:t>    "case_region_count": 6,</a:t>
            </a:r>
          </a:p>
          <a:p>
            <a:r>
              <a:t>    "candidate_count": 3,</a:t>
            </a:r>
          </a:p>
          <a:p>
            <a:r>
              <a:t>    "displayed_count": 3,</a:t>
            </a:r>
          </a:p>
          <a:p>
            <a:r>
              <a:t>    "primary": {</a:t>
            </a:r>
          </a:p>
          <a:p>
            <a:r>
              <a:t>      "title": "인천광역시 ‘6월부터 밤마다 인천으로’ 야간관광 특화도시 운영 및 성과 자료",</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"source_id": "case:3e081ab48300f1",</a:t>
            </a:r>
          </a:p>
          <a:p>
            <a:r>
              <a:t>      "source_url": "https://www.incheon.go.kr/IC010205/view?beginDt=2021-10-01&amp;curPage=479&amp;endDt=&amp;repSeq=DOM_0000000010085993&amp;srchMainManagerDeptNm=&amp;srchRepContents=&amp;srchRepTitle=",</a:t>
            </a:r>
          </a:p>
          <a:p>
            <a:r>
              <a:t>      "case_region": "인천광역시 송도·개항장·월미도 등",</a:t>
            </a:r>
          </a:p>
          <a:p>
            <a:r>
              <a:t>      "source_type": "benchmark_case",</a:t>
            </a:r>
          </a:p>
          <a:p>
            <a:r>
              <a:t>      "intervention": "야간 프로그램·시티투어·관광패스·야시장·상권쿠폰을 결합한 야간관광 특화도시 사업",</a:t>
            </a:r>
          </a:p>
          <a:p>
            <a:r>
              <a:t>      "document_type": null,</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"retrieval_method": "official_web_search",</a:t>
            </a:r>
          </a:p>
          <a:p>
            <a:r>
              <a:t>      "evidence_strength": "medium",</a:t>
            </a:r>
          </a:p>
          <a:p>
            <a:r>
              <a:t>      "retrieval_context": {</a:t>
            </a:r>
          </a:p>
          <a:p>
            <a:r>
              <a:t>        "scope": "same_province",</a:t>
            </a:r>
          </a:p>
          <a:p>
            <a:r>
              <a:t>        "peer_region_code": null</a:t>
            </a:r>
          </a:p>
          <a:p>
            <a:r>
              <a:t>      },</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"published_or_updated_at": "2024-05-29",</a:t>
            </a:r>
          </a:p>
          <a:p>
            <a:r>
              <a:t>      "quantitative_result_approved": null</a:t>
            </a:r>
          </a:p>
          <a:p>
            <a:r>
              <a:t>    },</a:t>
            </a:r>
          </a:p>
          <a:p>
            <a:r>
              <a:t>    "selection_reason": "야간 체류 유도 프로그램은 인천광역시 부평구의 평균 체류시간 증가 예측과 연계하여, 야간 체류 유도 프로그램을 운영함으로써 체류시간을 증가시킬 수 있음. 이는 인천광역시 송도·개항장·월미도 등에서 운영한 야간관광 특화도시 사업과 유사한 방식으로, 야간 프로그램·시티투어·관광패스·야시장·상권쿠폰을 결합한 야간관광 특화도시 사업을 참고함. 이와 비교하여, 지역 상품권 환급 프로그램과 디지털 관광주민증 프로그램은 부평구의 관광소비액 감소 예측과 방문자 수 감소 예측에 대응하기 위해 설계되었으나, 야간 체류 유도 프로그램은 체류시간 증가에 대한 직접적인 영향을 미칠 수 있음.",</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"items": [</a:t>
            </a:r>
          </a:p>
          <a:p>
            <a:r>
              <a:t>        {</a:t>
            </a:r>
          </a:p>
          <a:p>
            <a:r>
              <a:t>          "name": "참여 혜택",</a:t>
            </a:r>
          </a:p>
          <a:p>
            <a:r>
              <a:t>          "basis": "3,750건 × 10,000원",</a:t>
            </a:r>
          </a:p>
          <a:p>
            <a:r>
              <a:t>          "amount": 37500000</a:t>
            </a:r>
          </a:p>
          <a:p>
            <a:r>
              <a:t>        },</a:t>
            </a:r>
          </a:p>
          <a:p>
            <a:r>
              <a:t>        {</a:t>
            </a:r>
          </a:p>
          <a:p>
            <a:r>
              <a:t>          "name": "현장 운영·정산",</a:t>
            </a:r>
          </a:p>
          <a:p>
            <a:r>
              <a:t>          "basis": "max(월 20인일 × 3, 3,750건 ÷ 25건/인일 올림) = 150인일 × 150,000원",</a:t>
            </a:r>
          </a:p>
          <a:p>
            <a:r>
              <a:t>          "amount": 22500000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7,600만원 × 10%",</a:t>
            </a:r>
          </a:p>
          <a:p>
            <a:r>
              <a:t>          "amount": 7600000</a:t>
            </a:r>
          </a:p>
          <a:p>
            <a:r>
              <a:t>        }</a:t>
            </a:r>
          </a:p>
          <a:p>
            <a:r>
              <a:t>      ],</a:t>
            </a:r>
          </a:p>
          <a:p>
            <a:r>
              <a:t>      "months": 3,</a:t>
            </a:r>
          </a:p>
          <a:p>
            <a:r>
              <a:t>      "refund": false,</a:t>
            </a:r>
          </a:p>
          <a:p>
            <a:r>
              <a:t>      "status": "planning_assumption_not_quote",</a:t>
            </a:r>
          </a:p>
          <a:p>
            <a:r>
              <a:t>      "sources": [],</a:t>
            </a:r>
          </a:p>
          <a:p>
            <a:r>
              <a:t>      "version": "reference-estimate-v2",</a:t>
            </a:r>
          </a:p>
          <a:p>
            <a:r>
              <a:t>      "quantity": 3750,</a:t>
            </a:r>
          </a:p>
          <a:p>
            <a:r>
              <a:t>      "unit_krw": 10000,</a:t>
            </a:r>
          </a:p>
          <a:p>
            <a:r>
              <a:t>      "total_krw": 83600000,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7600000,</a:t>
            </a:r>
          </a:p>
          <a:p>
            <a:r>
              <a:t>      "scale_basis": "사업기간 추가 방문 목표 374,992명 × 시범 담당 비중 1% → 3,750건(올림). 1%는 직접 운영할 참여량 배분 가정이며 전환율 예측이 아닙니다.",</a:t>
            </a:r>
          </a:p>
          <a:p>
            <a:r>
              <a:t>      "subtotal_krw": 76000000,</a:t>
            </a:r>
          </a:p>
          <a:p>
            <a:r>
              <a:t>      "pilot_share_pct": 1,</a:t>
            </a:r>
          </a:p>
          <a:p>
            <a:r>
              <a:t>      "redemption_count": 3000,</a:t>
            </a:r>
          </a:p>
          <a:p>
            <a:r>
              <a:t>      "within_hard_budget": true,</a:t>
            </a:r>
          </a:p>
          <a:p>
            <a:r>
              <a:t>      "qualifying_spend_krw": null,</a:t>
            </a:r>
          </a:p>
          <a:p>
            <a:r>
              <a:t>      "redemption_target_pct": 80,</a:t>
            </a:r>
          </a:p>
          <a:p>
            <a:r>
              <a:t>      "additional_visitors_target": 374992.4833333343</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korean-culture.org/koreanet/view.do?seq=1047457" TargetMode="External"/><Relationship Id="rId6" Type="http://schemas.openxmlformats.org/officeDocument/2006/relationships/hyperlink" Target="https://www.incheon.go.kr/IC010205/view?beginDt=2021-10-01&amp;curPage=479&amp;endDt=&amp;repSeq=DOM_0000000010085993&amp;srchMainManagerDeptNm=&amp;srchRepContents=&amp;srchRepTitle="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incheon.go.kr/IC010205/view?beginDt=2021-10-01&amp;curPage=479&amp;endDt=&amp;repSeq=DOM_0000000010085993&amp;srchMainManagerDeptNm=&amp;srchRepContents=&amp;srchRepTitle=" TargetMode="External"/><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www.incheon.go.kr/IC010205/view?beginDt=2021-10-01&amp;curPage=479&amp;endDt=&amp;repSeq=DOM_0000000010085993&amp;srchMainManagerDeptNm=&amp;srchRepContents=&amp;srchRepTitle=" TargetMode="External"/><Relationship Id="rId5" Type="http://schemas.openxmlformats.org/officeDocument/2006/relationships/hyperlink" Target="https://www.seoul.go.kr/news/news_report.do?nttNo=462801"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8" Type="http://schemas.openxmlformats.org/officeDocument/2006/relationships/hyperlink" Target="https://kto.visitkorea.or.kr/upload/flexer/upload/ktobiz/20220928/b623b5f9-3ec0-11ed-9832-ddf31964842e.hwp.files/Sections1.html" TargetMode="External"/><Relationship Id="rId9" Type="http://schemas.openxmlformats.org/officeDocument/2006/relationships/hyperlink" Target="https://korean.visitkorea.or.kr/detail/rem_detail.do?cotid=f9c636b2-dd7c-4f09-af3d-6af43b33d371" TargetMode="External"/><Relationship Id="rId10" Type="http://schemas.openxmlformats.org/officeDocument/2006/relationships/hyperlink" Target="https://www.evaluation.go.kr/upload2/atch/eval/20250429095846463.pdf" TargetMode="External"/><Relationship Id="rId11" Type="http://schemas.openxmlformats.org/officeDocument/2006/relationships/hyperlink" Target="https://apis.data.go.kr/B551011/KorService2" TargetMode="External"/><Relationship Id="rId1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pis.data.go.kr/B551011/KorService2" TargetMode="External"/><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부평역 권역 야간 체류 유도</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인천광역시 부평구</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2026-09-14</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부평구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인천광역시 부평구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2026. 09. 14</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산출 근거와 사례 선정 과정</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7900988"/>
            <a:ext cx="4143375" cy="595312"/>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7958138"/>
            <a:ext cx="4143375" cy="4810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l"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인천광역시 부평구 굴포로 141 (삼산동) · 굴포천 생태하천</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부평역 권역 야간 체류 유도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부평역 인근 보행 권역 내 2~3개의 야간 콘텐츠(실내 공연,</a:t>
            </a:r>
          </a:p>
          <a:p>
            <a:pPr eaLnBrk="0">
              <a:lnSpc>
                <a:spcPts val="3187"/>
              </a:lnSpc>
              <a:spcBef>
                <a:spcPts val="0"/>
              </a:spcBef>
              <a:spcAft>
                <a:spcPts val="0"/>
              </a:spcAft>
            </a:pPr>
            <a:r>
              <a:rPr sz="2550" b="1">
                <a:solidFill>
                  <a:srgbClr val="1D2227"/>
                </a:solidFill>
                <a:latin typeface="Noto Sans KR"/>
              </a:rPr>
              <a:t>야간 체험 등)와 소수 참여 점포를 연계하여, 체험 완료 후 인접</a:t>
            </a:r>
          </a:p>
          <a:p>
            <a:pPr eaLnBrk="0">
              <a:lnSpc>
                <a:spcPts val="3187"/>
              </a:lnSpc>
              <a:spcBef>
                <a:spcPts val="0"/>
              </a:spcBef>
              <a:spcAft>
                <a:spcPts val="0"/>
              </a:spcAft>
            </a:pPr>
            <a:r>
              <a:rPr sz="2550" b="1">
                <a:solidFill>
                  <a:srgbClr val="1D2227"/>
                </a:solidFill>
                <a:latin typeface="Noto Sans KR"/>
              </a:rPr>
              <a:t>식음/쇼핑 점포에서 사용할 수 있는 후속</a:t>
            </a:r>
          </a:p>
          <a:p>
            <a:pPr eaLnBrk="0">
              <a:lnSpc>
                <a:spcPts val="3187"/>
              </a:lnSpc>
              <a:spcBef>
                <a:spcPts val="0"/>
              </a:spcBef>
              <a:spcAft>
                <a:spcPts val="0"/>
              </a:spcAft>
            </a:pPr>
            <a:r>
              <a:rPr sz="2550" b="1">
                <a:solidFill>
                  <a:srgbClr val="1D2227"/>
                </a:solidFill>
                <a:latin typeface="Noto Sans KR"/>
              </a:rPr>
              <a:t>혜택을 제공하는 방식</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인천광역시 부평구를 방문하는 내·외국인 관광객, 주변 상점과 관광기업</a:t>
            </a:r>
          </a:p>
          <a:p>
            <a:pPr eaLnBrk="0">
              <a:lnSpc>
                <a:spcPts val="2156"/>
              </a:lnSpc>
              <a:spcBef>
                <a:spcPts val="0"/>
              </a:spcBef>
              <a:spcAft>
                <a:spcPts val="0"/>
              </a:spcAft>
            </a:pPr>
            <a:r>
              <a:rPr sz="1725" b="0">
                <a:solidFill>
                  <a:srgbClr val="59636E"/>
                </a:solidFill>
                <a:latin typeface="Noto Sans KR"/>
              </a:rPr>
              <a:t>부평역 인근 등 보행 가능한 한 권역, 2~3개 콘텐츠, 소수 점포</a:t>
            </a:r>
          </a:p>
          <a:p>
            <a:pPr eaLnBrk="0">
              <a:lnSpc>
                <a:spcPts val="2156"/>
              </a:lnSpc>
              <a:spcBef>
                <a:spcPts val="0"/>
              </a:spcBef>
              <a:spcAft>
                <a:spcPts val="0"/>
              </a:spcAft>
            </a:pPr>
            <a:r>
              <a:rPr sz="1725" b="0">
                <a:solidFill>
                  <a:srgbClr val="59636E"/>
                </a:solidFill>
                <a:latin typeface="Noto Sans KR"/>
              </a:rPr>
              <a:t>2026-10 ~ 2026-12, 3개월</a:t>
            </a:r>
          </a:p>
        </p:txBody>
      </p:sp>
      <p:sp xmlns:a="http://schemas.openxmlformats.org/drawingml/2006/main">
        <p:nvSpPr>
          <p:cNvPr id="38" name="s3-goal-label"/>
          <p:cNvSpPr txBox="1"/>
          <p:nvPr/>
        </p:nvSpPr>
        <p:spPr>
          <a:xfrm>
            <a:off x="5343525" y="6429375"/>
            <a:ext cx="8524875"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374,992명</a:t>
            </a:r>
          </a:p>
        </p:txBody>
      </p:sp>
      <p:sp xmlns:a="http://schemas.openxmlformats.org/drawingml/2006/main">
        <p:nvSpPr>
          <p:cNvPr id="42" name="s3-goal-pct-0"/>
          <p:cNvSpPr txBox="1"/>
          <p:nvPr/>
        </p:nvSpPr>
        <p:spPr>
          <a:xfrm>
            <a:off x="5486400"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+3.33% · 계획 목표</a:t>
            </a:r>
          </a:p>
        </p:txBody>
      </p:sp>
      <p:sp xmlns:a="http://schemas.openxmlformats.org/drawingml/2006/main">
        <p:nvSpPr>
          <p:cNvPr id="43" name="s3-goal-panel-1"/>
          <p:cNvSpPr/>
          <p:nvPr/>
        </p:nvSpPr>
        <p:spPr>
          <a:xfrm>
            <a:off x="9715500"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82.01억 원</a:t>
            </a:r>
          </a:p>
        </p:txBody>
      </p:sp>
      <p:sp xmlns:a="http://schemas.openxmlformats.org/drawingml/2006/main">
        <p:nvSpPr>
          <p:cNvPr id="46" name="s3-goal-pct-1"/>
          <p:cNvSpPr txBox="1"/>
          <p:nvPr/>
        </p:nvSpPr>
        <p:spPr>
          <a:xfrm>
            <a:off x="9858375"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+3.37% · 계획 목표</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부평역 인근 보행 권역 내 2~3개의 야간</a:t>
            </a:r>
          </a:p>
          <a:p>
            <a:pPr eaLnBrk="0">
              <a:lnSpc>
                <a:spcPts val="1827"/>
              </a:lnSpc>
              <a:spcBef>
                <a:spcPts val="0"/>
              </a:spcBef>
              <a:spcAft>
                <a:spcPts val="0"/>
              </a:spcAft>
            </a:pPr>
            <a:r>
              <a:rPr sz="1462" b="0">
                <a:solidFill>
                  <a:srgbClr val="59636E"/>
                </a:solidFill>
                <a:latin typeface="Noto Sans KR"/>
              </a:rPr>
              <a:t>콘텐츠(실내 공연, 야간 체험 등)와 소수 참여</a:t>
            </a:r>
          </a:p>
          <a:p>
            <a:pPr eaLnBrk="0">
              <a:lnSpc>
                <a:spcPts val="1827"/>
              </a:lnSpc>
              <a:spcBef>
                <a:spcPts val="0"/>
              </a:spcBef>
              <a:spcAft>
                <a:spcPts val="0"/>
              </a:spcAft>
            </a:pPr>
            <a:r>
              <a:rPr sz="1462" b="0">
                <a:solidFill>
                  <a:srgbClr val="59636E"/>
                </a:solidFill>
                <a:latin typeface="Noto Sans KR"/>
              </a:rPr>
              <a:t>점포를 연계하여, 체험 완료 후 인접 식음/쇼핑</a:t>
            </a:r>
          </a:p>
          <a:p>
            <a:pPr eaLnBrk="0">
              <a:lnSpc>
                <a:spcPts val="1827"/>
              </a:lnSpc>
              <a:spcBef>
                <a:spcPts val="0"/>
              </a:spcBef>
              <a:spcAft>
                <a:spcPts val="0"/>
              </a:spcAft>
            </a:pPr>
            <a:r>
              <a:rPr sz="1462" b="0">
                <a:solidFill>
                  <a:srgbClr val="59636E"/>
                </a:solidFill>
                <a:latin typeface="Noto Sans KR"/>
              </a:rPr>
              <a:t>점포에서 사용할 수 있는 후속 혜택을</a:t>
            </a:r>
          </a:p>
          <a:p>
            <a:pPr eaLnBrk="0">
              <a:lnSpc>
                <a:spcPts val="1827"/>
              </a:lnSpc>
              <a:spcBef>
                <a:spcPts val="0"/>
              </a:spcBef>
              <a:spcAft>
                <a:spcPts val="0"/>
              </a:spcAft>
            </a:pPr>
            <a:r>
              <a:rPr sz="1462" b="0">
                <a:solidFill>
                  <a:srgbClr val="59636E"/>
                </a:solidFill>
                <a:latin typeface="Noto Sans KR"/>
              </a:rPr>
              <a:t>제공하는 방식</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2026-10 ~ 2026-12, 3개월</a:t>
            </a:r>
          </a:p>
          <a:p>
            <a:pPr eaLnBrk="0">
              <a:lnSpc>
                <a:spcPts val="1827"/>
              </a:lnSpc>
              <a:spcBef>
                <a:spcPts val="0"/>
              </a:spcBef>
              <a:spcAft>
                <a:spcPts val="0"/>
              </a:spcAft>
            </a:pPr>
            <a:r>
              <a:rPr sz="1462"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3개월 월별 합계</a:t>
            </a:r>
          </a:p>
          <a:p>
            <a:pPr eaLnBrk="0">
              <a:lnSpc>
                <a:spcPts val="1827"/>
              </a:lnSpc>
              <a:spcBef>
                <a:spcPts val="0"/>
              </a:spcBef>
              <a:spcAft>
                <a:spcPts val="0"/>
              </a:spcAft>
            </a:pPr>
            <a:r>
              <a:rPr sz="1462" b="0">
                <a:solidFill>
                  <a:srgbClr val="59636E"/>
                </a:solidFill>
                <a:latin typeface="Noto Sans KR"/>
              </a:rPr>
              <a:t>방문자 1,164만 명</a:t>
            </a:r>
          </a:p>
          <a:p>
            <a:pPr eaLnBrk="0">
              <a:lnSpc>
                <a:spcPts val="1827"/>
              </a:lnSpc>
              <a:spcBef>
                <a:spcPts val="0"/>
              </a:spcBef>
              <a:spcAft>
                <a:spcPts val="0"/>
              </a:spcAft>
            </a:pPr>
            <a:r>
              <a:rPr sz="1462" b="0">
                <a:solidFill>
                  <a:srgbClr val="59636E"/>
                </a:solidFill>
                <a:latin typeface="Noto Sans KR"/>
              </a:rPr>
              <a:t>관광소비액 2,517억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ML 기준: 202401~202606 월별 지표의 1·3·12개월 전 값과 계절 정보를 저장 모델에 입력. 목표: 기준 전망 × (1 + 최종월 목표율 × 경과월/전체월).</a:t>
            </a:r>
          </a:p>
          <a:p>
            <a:pPr eaLnBrk="0">
              <a:lnSpc>
                <a:spcPts val="1875"/>
              </a:lnSpc>
              <a:spcBef>
                <a:spcPts val="0"/>
              </a:spcBef>
              <a:spcAft>
                <a:spcPts val="0"/>
              </a:spcAft>
            </a:pPr>
            <a:r>
              <a:rPr sz="1500" b="0">
                <a:solidFill>
                  <a:srgbClr val="59636E"/>
                </a:solidFill>
                <a:latin typeface="Noto Sans KR"/>
              </a:rPr>
              <a:t>목표율은 조정 가능한 계획 가정입니다. 사례 실적의 활용 여부와 목표 채택 이유는 목표 설정 근거에 제시합니다.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1D2227"/>
                </a:solidFill>
                <a:latin typeface="Noto Sans KR"/>
              </a:rPr>
              <a:t>인천광역시 송도·개항장·월미도 등 · 야간</a:t>
            </a:r>
          </a:p>
          <a:p>
            <a:pPr eaLnBrk="0">
              <a:lnSpc>
                <a:spcPts val="1781"/>
              </a:lnSpc>
              <a:spcBef>
                <a:spcPts val="0"/>
              </a:spcBef>
              <a:spcAft>
                <a:spcPts val="0"/>
              </a:spcAft>
            </a:pPr>
            <a:r>
              <a:rPr sz="1425" b="1">
                <a:solidFill>
                  <a:srgbClr val="1D2227"/>
                </a:solidFill>
                <a:latin typeface="Noto Sans KR"/>
              </a:rPr>
              <a:t>프로그램·시티투어·관광패스·야시장·상</a:t>
            </a:r>
          </a:p>
          <a:p>
            <a:pPr eaLnBrk="0">
              <a:lnSpc>
                <a:spcPts val="1781"/>
              </a:lnSpc>
              <a:spcBef>
                <a:spcPts val="0"/>
              </a:spcBef>
              <a:spcAft>
                <a:spcPts val="0"/>
              </a:spcAft>
            </a:pPr>
            <a:r>
              <a:rPr sz="1425" b="1">
                <a:solidFill>
                  <a:srgbClr val="1D2227"/>
                </a:solidFill>
                <a:latin typeface="Noto Sans KR"/>
              </a:rPr>
              <a:t>권쿠폰을 결합한 야간관광 특화도시 사업</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야간관광 콘텐츠, 관광여건 개선, 야간명소와 홍보를</a:t>
            </a:r>
          </a:p>
          <a:p>
            <a:pPr eaLnBrk="0">
              <a:lnSpc>
                <a:spcPts val="1406"/>
              </a:lnSpc>
              <a:spcBef>
                <a:spcPts val="0"/>
              </a:spcBef>
              <a:spcAft>
                <a:spcPts val="0"/>
              </a:spcAft>
            </a:pPr>
            <a:r>
              <a:rPr sz="1125" b="0">
                <a:solidFill>
                  <a:srgbClr val="59636E"/>
                </a:solidFill>
                <a:latin typeface="Noto Sans KR"/>
              </a:rPr>
              <a:t>21개 세부사업으로 구성했다. 캔들라이트 콘서트,</a:t>
            </a:r>
          </a:p>
          <a:p>
            <a:pPr eaLnBrk="0">
              <a:lnSpc>
                <a:spcPts val="1406"/>
              </a:lnSpc>
              <a:spcBef>
                <a:spcPts val="0"/>
              </a:spcBef>
              <a:spcAft>
                <a:spcPts val="0"/>
              </a:spcAft>
            </a:pPr>
            <a:r>
              <a:rPr sz="1125" b="0">
                <a:solidFill>
                  <a:srgbClr val="59636E"/>
                </a:solidFill>
                <a:latin typeface="Noto Sans KR"/>
              </a:rPr>
              <a:t>2층 버스 노을·야경투어,</a:t>
            </a:r>
          </a:p>
          <a:p>
            <a:pPr eaLnBrk="0">
              <a:lnSpc>
                <a:spcPts val="1406"/>
              </a:lnSpc>
              <a:spcBef>
                <a:spcPts val="0"/>
              </a:spcBef>
              <a:spcAft>
                <a:spcPts val="0"/>
              </a:spcAft>
            </a:pPr>
            <a:r>
              <a:rPr sz="1125" b="0">
                <a:solidFill>
                  <a:srgbClr val="59636E"/>
                </a:solidFill>
                <a:latin typeface="Noto Sans KR"/>
              </a:rPr>
              <a:t>라이브클럽·LP바·루프톱카페 할인패스, 야시장과</a:t>
            </a:r>
          </a:p>
          <a:p>
            <a:pPr eaLnBrk="0">
              <a:lnSpc>
                <a:spcPts val="1406"/>
              </a:lnSpc>
              <a:spcBef>
                <a:spcPts val="0"/>
              </a:spcBef>
              <a:spcAft>
                <a:spcPts val="0"/>
              </a:spcAft>
            </a:pPr>
            <a:r>
              <a:rPr sz="1125" b="0">
                <a:solidFill>
                  <a:srgbClr val="59636E"/>
                </a:solidFill>
                <a:latin typeface="Noto Sans KR"/>
              </a:rPr>
              <a:t>체험부스를 운영했다. 인천e지에서 야시장 쿠폰을</a:t>
            </a:r>
          </a:p>
          <a:p>
            <a:pPr eaLnBrk="0">
              <a:lnSpc>
                <a:spcPts val="1406"/>
              </a:lnSpc>
              <a:spcBef>
                <a:spcPts val="0"/>
              </a:spcBef>
              <a:spcAft>
                <a:spcPts val="0"/>
              </a:spcAft>
            </a:pPr>
            <a:r>
              <a:rPr sz="1125" b="0">
                <a:solidFill>
                  <a:srgbClr val="59636E"/>
                </a:solidFill>
                <a:latin typeface="Noto Sans KR"/>
              </a:rPr>
              <a:t>발급하고, 행사장 구매자에게 주변 상권에서 사용할</a:t>
            </a:r>
          </a:p>
          <a:p>
            <a:pPr eaLnBrk="0">
              <a:lnSpc>
                <a:spcPts val="1406"/>
              </a:lnSpc>
              <a:spcBef>
                <a:spcPts val="0"/>
              </a:spcBef>
              <a:spcAft>
                <a:spcPts val="0"/>
              </a:spcAft>
            </a:pPr>
            <a:r>
              <a:rPr sz="1125" b="0">
                <a:solidFill>
                  <a:srgbClr val="59636E"/>
                </a:solidFill>
                <a:latin typeface="Noto Sans KR"/>
              </a:rPr>
              <a:t>수 있는 쿠폰을 제공하는 방식도 적용했다.</a:t>
            </a:r>
          </a:p>
        </p:txBody>
      </p:sp>
      <p:pic xmlns:a="http://schemas.openxmlformats.org/drawingml/2006/main" xmlns:r="http://schemas.openxmlformats.org/officeDocument/2006/relationships">
        <p:nvPicPr>
          <p:cNvPr id="10" name="case-photo-0" descr="yeosu_night.jpg"/>
          <p:cNvPicPr>
            <a:picLocks noChangeAspect="1"/>
          </p:cNvPicPr>
          <p:nvPr/>
        </p:nvPicPr>
        <p:blipFill>
          <a:blip r:embed="rId4"/>
          <a:stretch>
            <a:fillRect/>
          </a:stretch>
        </p:blipFill>
        <p:spPr>
          <a:xfrm>
            <a:off x="1479595" y="5857875"/>
            <a:ext cx="3289208" cy="171450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5"/>
              </a:rPr>
              <a:t>유사 사업 참고 · 전남 여수시 야경</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5"/>
              </a:rPr>
              <a:t>출처: 문화체육관광부 코리아넷 (2024)</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6"/>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18"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8"/>
              </a:rPr>
              <a:t>강진군 · 반값여행 공식 홍보물</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8"/>
              </a:rPr>
              <a:t>출처: 강진 반값여행 공식 홈페이지</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9"/>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6"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11"/>
              </a:rPr>
              <a:t>전국 · 디지털 관광주민증 홍보물</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11"/>
              </a:rPr>
              <a:t>출처: 대한민국 정책브리핑 (2025)</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12"/>
              </a:rPr>
              <a:t>사업 원문 보기 ↗</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484"/>
              </a:lnSpc>
              <a:spcBef>
                <a:spcPts val="0"/>
              </a:spcBef>
              <a:spcAft>
                <a:spcPts val="0"/>
              </a:spcAft>
            </a:pPr>
            <a:r>
              <a:rPr sz="1987" b="1">
                <a:solidFill>
                  <a:srgbClr val="004EA2"/>
                </a:solidFill>
                <a:latin typeface="Noto Sans KR"/>
              </a:rPr>
              <a:t>인천광역시 송도·개항장·월미도 등 · 야간 프로그램·시티투어·관광패스·야시장·상권쿠폰을 결합한 야간관광 특화도시 사업</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125" b="0">
                          <a:solidFill>
                            <a:srgbClr val="1D2227"/>
                          </a:solidFill>
                          <a:latin typeface="Noto Sans KR"/>
                        </a:rPr>
                        <a:t>야간관광 콘텐츠, 관광여건 개선, 야간명소와 홍보를 21개 세부사업으로 구성했다.</a:t>
                      </a:r>
                    </a:p>
                    <a:p>
                      <a:pPr eaLnBrk="0">
                        <a:lnSpc>
                          <a:spcPct val="112000"/>
                        </a:lnSpc>
                        <a:spcBef>
                          <a:spcPts val="0"/>
                        </a:spcBef>
                        <a:spcAft>
                          <a:spcPts val="0"/>
                        </a:spcAft>
                      </a:pPr>
                      <a:r>
                        <a:rPr sz="1125" b="0">
                          <a:solidFill>
                            <a:srgbClr val="1D2227"/>
                          </a:solidFill>
                          <a:latin typeface="Noto Sans KR"/>
                        </a:rPr>
                        <a:t>캔들라이트 콘서트, 2층 버스 노을·야경투어, 라이브클럽·LP바·루프톱카페</a:t>
                      </a:r>
                    </a:p>
                    <a:p>
                      <a:pPr eaLnBrk="0">
                        <a:lnSpc>
                          <a:spcPct val="112000"/>
                        </a:lnSpc>
                        <a:spcBef>
                          <a:spcPts val="0"/>
                        </a:spcBef>
                        <a:spcAft>
                          <a:spcPts val="0"/>
                        </a:spcAft>
                      </a:pPr>
                      <a:r>
                        <a:rPr sz="1125" b="0">
                          <a:solidFill>
                            <a:srgbClr val="1D2227"/>
                          </a:solidFill>
                          <a:latin typeface="Noto Sans KR"/>
                        </a:rPr>
                        <a:t>할인패스, 야시장과 체험부스를 운영했다. 인천e지에서 야시장 쿠폰을 발급하고,</a:t>
                      </a:r>
                    </a:p>
                    <a:p>
                      <a:pPr eaLnBrk="0">
                        <a:lnSpc>
                          <a:spcPct val="112000"/>
                        </a:lnSpc>
                        <a:spcBef>
                          <a:spcPts val="0"/>
                        </a:spcBef>
                        <a:spcAft>
                          <a:spcPts val="0"/>
                        </a:spcAft>
                      </a:pPr>
                      <a:r>
                        <a:rPr sz="1125" b="0">
                          <a:solidFill>
                            <a:srgbClr val="1D2227"/>
                          </a:solidFill>
                          <a:latin typeface="Noto Sans KR"/>
                        </a:rPr>
                        <a:t>행사장 구매자에게 주변 상권에서 사용할 수 있는 쿠폰을 제공하는 방식도 적용했다.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312" b="0">
                          <a:solidFill>
                            <a:srgbClr val="1D2227"/>
                          </a:solidFill>
                          <a:latin typeface="Noto Sans KR"/>
                        </a:rPr>
                        <a:t>관광소비액 전망: 2026년 10월~12월 기간 동안 전년 동기 대비 감소</a:t>
                      </a:r>
                    </a:p>
                    <a:p>
                      <a:pPr eaLnBrk="0">
                        <a:lnSpc>
                          <a:spcPct val="112000"/>
                        </a:lnSpc>
                        <a:spcBef>
                          <a:spcPts val="0"/>
                        </a:spcBef>
                        <a:spcAft>
                          <a:spcPts val="0"/>
                        </a:spcAft>
                      </a:pPr>
                      <a:r>
                        <a:rPr sz="1312" b="0">
                          <a:solidFill>
                            <a:srgbClr val="1D2227"/>
                          </a:solidFill>
                          <a:latin typeface="Noto Sans KR"/>
                        </a:rPr>
                        <a:t>예측 / 방문자 수 전망: 2026년 10월~12월 기간 동안 전년 동기 대비</a:t>
                      </a:r>
                    </a:p>
                    <a:p>
                      <a:pPr eaLnBrk="0">
                        <a:lnSpc>
                          <a:spcPct val="112000"/>
                        </a:lnSpc>
                        <a:spcBef>
                          <a:spcPts val="0"/>
                        </a:spcBef>
                        <a:spcAft>
                          <a:spcPts val="0"/>
                        </a:spcAft>
                      </a:pPr>
                      <a:r>
                        <a:rPr sz="1312" b="0">
                          <a:solidFill>
                            <a:srgbClr val="1D2227"/>
                          </a:solidFill>
                          <a:latin typeface="Noto Sans KR"/>
                        </a:rPr>
                        <a:t>감소 예측 / 평균 체류시간 전망: 2026년 10월~12월</a:t>
                      </a:r>
                    </a:p>
                    <a:p>
                      <a:pPr eaLnBrk="0">
                        <a:lnSpc>
                          <a:spcPct val="112000"/>
                        </a:lnSpc>
                        <a:spcBef>
                          <a:spcPts val="0"/>
                        </a:spcBef>
                        <a:spcAft>
                          <a:spcPts val="0"/>
                        </a:spcAft>
                      </a:pPr>
                      <a:r>
                        <a:rPr sz="1312" b="0">
                          <a:solidFill>
                            <a:srgbClr val="1D2227"/>
                          </a:solidFill>
                          <a:latin typeface="Noto Sans KR"/>
                        </a:rPr>
                        <a:t>기간 동안 증가 예측</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374,992명 × 1%</a:t>
                      </a:r>
                    </a:p>
                    <a:p>
                      <a:pPr eaLnBrk="0">
                        <a:lnSpc>
                          <a:spcPct val="112000"/>
                        </a:lnSpc>
                        <a:spcBef>
                          <a:spcPts val="0"/>
                        </a:spcBef>
                        <a:spcAft>
                          <a:spcPts val="0"/>
                        </a:spcAft>
                      </a:pPr>
                      <a:r>
                        <a:rPr sz="1575" b="0">
                          <a:solidFill>
                            <a:srgbClr val="1D2227"/>
                          </a:solidFill>
                          <a:latin typeface="Noto Sans KR"/>
                        </a:rPr>
                        <a:t>시범 참여 3,750건(올림·계획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부평역 인근 보행 권역 내 2~3개의 야간 콘텐츠(실내 공연, 야간 체험 등)와 소수 참여 점포를 연계하여,</a:t>
            </a:r>
          </a:p>
          <a:p>
            <a:pPr eaLnBrk="0">
              <a:lnSpc>
                <a:spcPts val="1968"/>
              </a:lnSpc>
              <a:spcBef>
                <a:spcPts val="0"/>
              </a:spcBef>
              <a:spcAft>
                <a:spcPts val="0"/>
              </a:spcAft>
            </a:pPr>
            <a:r>
              <a:rPr sz="1575" b="0">
                <a:solidFill>
                  <a:srgbClr val="1D2227"/>
                </a:solidFill>
                <a:latin typeface="Noto Sans KR"/>
              </a:rPr>
              <a:t>체험 완료 후 인접 식음/쇼핑 점포에서 사용할 수 있는 후속 혜택을 제공하는 방식</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인천광역시 ‘6월부터 밤마다 인천으로’ 야간관광 특화도시 운영 및 성과 자료</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2026-12 ·</a:t>
            </a:r>
          </a:p>
          <a:p>
            <a:pPr eaLnBrk="0">
              <a:lnSpc>
                <a:spcPts val="1546"/>
              </a:lnSpc>
              <a:spcBef>
                <a:spcPts val="0"/>
              </a:spcBef>
              <a:spcAft>
                <a:spcPts val="0"/>
              </a:spcAft>
            </a:pPr>
            <a:r>
              <a:rPr sz="1237" b="0">
                <a:solidFill>
                  <a:srgbClr val="59636E"/>
                </a:solidFill>
                <a:latin typeface="Noto Sans KR"/>
              </a:rPr>
              <a:t>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3,778,392명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3,841,365명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62,973명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3,748,084명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3,873,020명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124,936명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3,741,663명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3,928,746명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187,083명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11,268,139명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11,643,131명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374,992명 · 3.33%</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374,992명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787.39억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800.52억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13.12억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811.04억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838.08억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27.03억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837.02억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878.88억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41.85억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2,435.46억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2,517.47억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82.01억 원 · 3.37%</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82.01억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20,839원 · 26.11 21,639원 · 26.12 22,370원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선정 사례의 운영 방식과 시범 목표</a:t>
            </a:r>
          </a:p>
        </p:txBody>
      </p:sp>
      <p:sp>
        <p:nvSpPr>
          <p:cNvPr id="5" name="basis-description"/>
          <p:cNvSpPr txBox="1"/>
          <p:nvPr/>
        </p:nvSpPr>
        <p:spPr>
          <a:xfrm>
            <a:off x="1009650" y="2714625"/>
            <a:ext cx="13220700" cy="16192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59636E"/>
                </a:solidFill>
                <a:latin typeface="Noto Sans KR"/>
              </a:rPr>
              <a:t>선정 사례의 운영 방식을 지역의 시범사업에 적용합니다. 비교 가능한 전후 실적이 없는</a:t>
            </a:r>
          </a:p>
          <a:p>
            <a:pPr eaLnBrk="0">
              <a:lnSpc>
                <a:spcPts val="2531"/>
              </a:lnSpc>
              <a:spcBef>
                <a:spcPts val="0"/>
              </a:spcBef>
              <a:spcAft>
                <a:spcPts val="0"/>
              </a:spcAft>
            </a:pPr>
            <a:r>
              <a:rPr sz="2025" b="0">
                <a:solidFill>
                  <a:srgbClr val="59636E"/>
                </a:solidFill>
                <a:latin typeface="Noto Sans KR"/>
              </a:rPr>
              <a:t>경우 목표는 계획 가정으로 제시합니다.</a:t>
            </a:r>
          </a:p>
        </p:txBody>
      </p:sp>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2839700" cy="1666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① 목표 채택: 공식 사례의 운영 방식을 참고해 초기 계획 목표 5% 제안.</a:t>
            </a:r>
          </a:p>
          <a:p>
            <a:pPr eaLnBrk="0">
              <a:lnSpc>
                <a:spcPts val="2156"/>
              </a:lnSpc>
              <a:spcBef>
                <a:spcPts val="0"/>
              </a:spcBef>
              <a:spcAft>
                <a:spcPts val="0"/>
              </a:spcAft>
            </a:pPr>
            <a:r>
              <a:rPr sz="1725" b="0">
                <a:solidFill>
                  <a:srgbClr val="59636E"/>
                </a:solidFill>
                <a:latin typeface="Noto Sans KR"/>
              </a:rPr>
              <a:t>② 적용 목표: 최종월 방문 +5% · 소비 +5%. 월별 기준 전망에 단계 적용.</a:t>
            </a:r>
          </a:p>
          <a:p>
            <a:pPr eaLnBrk="0">
              <a:lnSpc>
                <a:spcPts val="2156"/>
              </a:lnSpc>
              <a:spcBef>
                <a:spcPts val="0"/>
              </a:spcBef>
              <a:spcAft>
                <a:spcPts val="0"/>
              </a:spcAft>
            </a:pPr>
            <a:r>
              <a:rPr sz="1725" b="0">
                <a:solidFill>
                  <a:srgbClr val="59636E"/>
                </a:solidFill>
                <a:latin typeface="Noto Sans KR"/>
              </a:rPr>
              <a:t>소비 목표는 해당 월 ML 소비/방문 비율을 추가 방문 목표에 적용한 계획값. 사례의 소비 증가율·사업 단독 효과가 아님.</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목표율: 조정 가능한 기획 가정</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8,360만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37,500,000원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3,750건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22,500,000원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3,750건 ÷ 25건/인일 올림) = 150인일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7,600,000원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7,600만원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374,992명 × 시범 담당 비중 1% → 3,750건(올림).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64865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D08 관광소비/2025_01_12.zip</a:t>
            </a:r>
          </a:p>
        </p:txBody>
      </p:sp>
      <p:sp xmlns:a="http://schemas.openxmlformats.org/drawingml/2006/main">
        <p:nvSpPr>
          <p:cNvPr id="13" name="reference-8"/>
          <p:cNvSpPr txBox="1"/>
          <p:nvPr/>
        </p:nvSpPr>
        <p:spPr>
          <a:xfrm>
            <a:off x="1009650" y="69437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D09 숙박_체류시간/2026_01_06.zip</a:t>
            </a:r>
          </a:p>
        </p:txBody>
      </p:sp>
      <p:sp xmlns:a="http://schemas.openxmlformats.org/drawingml/2006/main">
        <p:nvSpPr>
          <p:cNvPr id="14" name="reference-9"/>
          <p:cNvSpPr txBox="1"/>
          <p:nvPr/>
        </p:nvSpPr>
        <p:spPr>
          <a:xfrm>
            <a:off x="1009650" y="74009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D10 방문자/2025_01_12.zip</a:t>
            </a:r>
          </a:p>
        </p:txBody>
      </p:sp>
      <p:sp xmlns:a="http://schemas.openxmlformats.org/drawingml/2006/main">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D11 방문자/2026_01_06.zip</a:t>
            </a:r>
          </a:p>
        </p:txBody>
      </p:sp>
      <p:sp xmlns:a="http://schemas.openxmlformats.org/drawingml/2006/main">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D12 숙박_체류시간/2025_01_12.zip</a:t>
            </a:r>
          </a:p>
        </p:txBody>
      </p:sp>
      <p:sp xmlns:a="http://schemas.openxmlformats.org/drawingml/2006/main">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D13 관광소비/2026_01_06.zip</a:t>
            </a:r>
          </a:p>
        </p:txBody>
      </p:sp>
      <p:sp xmlns:a="http://schemas.openxmlformats.org/drawingml/2006/main">
        <p:nvSpPr>
          <p:cNvPr id="18" name="reference-13"/>
          <p:cNvSpPr txBox="1"/>
          <p:nvPr/>
        </p:nvSpPr>
        <p:spPr>
          <a:xfrm>
            <a:off x="5486400" y="39433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D14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방문자수/20260820140607__202601-202606_데이터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19" name="reference-14"/>
          <p:cNvSpPr txBox="1"/>
          <p:nvPr/>
        </p:nvSpPr>
        <p:spPr>
          <a:xfrm>
            <a:off x="5486400" y="47577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D15</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이동통신/외국인/20260820141710_전국_202601-202</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606_데이터랩_다운로드.zip</a:t>
            </a:r>
          </a:p>
        </p:txBody>
      </p:sp>
      <p:sp xmlns:a="http://schemas.openxmlformats.org/drawingml/2006/main">
        <p:nvSpPr>
          <p:cNvPr id="20" name="reference-15"/>
          <p:cNvSpPr txBox="1"/>
          <p:nvPr/>
        </p:nvSpPr>
        <p:spPr>
          <a:xfrm>
            <a:off x="5486400" y="55721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D16 신용카드/내국인/지역별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관광지출액/20260820140046__202601-202606_데이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1" name="reference-16"/>
          <p:cNvSpPr txBox="1"/>
          <p:nvPr/>
        </p:nvSpPr>
        <p:spPr>
          <a:xfrm>
            <a:off x="5486400" y="63865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D17 신용카드/외국인/지역별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관광지출액/20260820140355__202601-202606_데이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2" name="reference-17"/>
          <p:cNvSpPr txBox="1"/>
          <p:nvPr/>
        </p:nvSpPr>
        <p:spPr>
          <a:xfrm>
            <a:off x="5486400" y="72009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D18 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검색건수/20260820195507__202601-202606_데이터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3" name="reference-18"/>
          <p:cNvSpPr txBox="1"/>
          <p:nvPr/>
        </p:nvSpPr>
        <p:spPr>
          <a:xfrm>
            <a:off x="99631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D19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방문자수/20260820140614__202501-202512_데이터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4" name="reference-19"/>
          <p:cNvSpPr txBox="1"/>
          <p:nvPr/>
        </p:nvSpPr>
        <p:spPr>
          <a:xfrm>
            <a:off x="996315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D20</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이동통신/외국인/20260820141649_전국_202501-202</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512_데이터랩_다운로드.zip</a:t>
            </a:r>
          </a:p>
        </p:txBody>
      </p:sp>
      <p:sp xmlns:a="http://schemas.openxmlformats.org/drawingml/2006/main">
        <p:nvSpPr>
          <p:cNvPr id="25" name="reference-20"/>
          <p:cNvSpPr txBox="1"/>
          <p:nvPr/>
        </p:nvSpPr>
        <p:spPr>
          <a:xfrm>
            <a:off x="996315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D21 신용카드/내국인/지역별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관광지출액/20260820135957__202501-202512_데이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6" name="reference-21"/>
          <p:cNvSpPr txBox="1"/>
          <p:nvPr/>
        </p:nvSpPr>
        <p:spPr>
          <a:xfrm>
            <a:off x="996315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D22 신용카드/외국인/지역별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관광지출액/20260820140409__202501-202512_데이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7" name="reference-22"/>
          <p:cNvSpPr txBox="1"/>
          <p:nvPr/>
        </p:nvSpPr>
        <p:spPr>
          <a:xfrm>
            <a:off x="996315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D23 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검색건수/20260820132007__202501-202512_데이터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8" name="reference-23"/>
          <p:cNvSpPr txBox="1"/>
          <p:nvPr/>
        </p:nvSpPr>
        <p:spPr>
          <a:xfrm>
            <a:off x="9963150" y="664368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D24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방문자수/20260820140624__202401-202412_데이터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a:t>
            </a:r>
          </a:p>
          <a:p>
            <a:pPr eaLnBrk="0">
              <a:lnSpc>
                <a:spcPts val="1687"/>
              </a:lnSpc>
              <a:spcBef>
                <a:spcPts val="0"/>
              </a:spcBef>
              <a:spcAft>
                <a:spcPts val="0"/>
              </a:spcAft>
            </a:pPr>
            <a:r>
              <a:rPr sz="1350" b="0" u="none">
                <a:solidFill>
                  <a:srgbClr val="004EA2"/>
                </a:solidFill>
                <a:latin typeface="Noto Sans KR"/>
                <a:hlinkClick r:id="rId2"/>
              </a:rPr>
              <a:t>412_데이터랩_다운로드.zip</a:t>
            </a:r>
          </a:p>
        </p:txBody>
      </p:sp>
      <p:sp>
        <p:nvSpPr>
          <p:cNvPr id="6" name="reference-1"/>
          <p:cNvSpPr txBox="1"/>
          <p:nvPr/>
        </p:nvSpPr>
        <p:spPr>
          <a:xfrm>
            <a:off x="1009650" y="33861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지역집중률 2025-07 ~ 2026-06</a:t>
            </a:r>
          </a:p>
        </p:txBody>
      </p:sp>
      <p:sp>
        <p:nvSpPr>
          <p:cNvPr id="7" name="reference-2"/>
          <p:cNvSpPr txBox="1"/>
          <p:nvPr/>
        </p:nvSpPr>
        <p:spPr>
          <a:xfrm>
            <a:off x="1009650" y="39862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유입유출 2025-07 ~ 2026-06</a:t>
            </a:r>
          </a:p>
        </p:txBody>
      </p:sp>
      <p:sp>
        <p:nvSpPr>
          <p:cNvPr id="8" name="reference-3"/>
          <p:cNvSpPr txBox="1"/>
          <p:nvPr/>
        </p:nvSpPr>
        <p:spPr>
          <a:xfrm>
            <a:off x="1009650" y="45862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인기관광지 2025-07 ~ 2026-06</a:t>
            </a:r>
          </a:p>
        </p:txBody>
      </p:sp>
      <p:sp>
        <p:nvSpPr>
          <p:cNvPr id="9" name="reference-4"/>
          <p:cNvSpPr txBox="1"/>
          <p:nvPr/>
        </p:nvSpPr>
        <p:spPr>
          <a:xfrm>
            <a:off x="10096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a:t>
            </a:r>
          </a:p>
          <a:p>
            <a:pPr eaLnBrk="0">
              <a:lnSpc>
                <a:spcPts val="1687"/>
              </a:lnSpc>
              <a:spcBef>
                <a:spcPts val="0"/>
              </a:spcBef>
              <a:spcAft>
                <a:spcPts val="0"/>
              </a:spcAft>
            </a:pPr>
            <a:r>
              <a:rPr sz="1350" b="0">
                <a:solidFill>
                  <a:srgbClr val="004EA2"/>
                </a:solidFill>
                <a:latin typeface="Noto Sans KR"/>
              </a:rPr>
              <a:t>RandomForestRegressor 최종 월 3,741,663명</a:t>
            </a:r>
          </a:p>
        </p:txBody>
      </p:sp>
      <p:sp>
        <p:nvSpPr>
          <p:cNvPr id="10" name="reference-5"/>
          <p:cNvSpPr txBox="1"/>
          <p:nvPr/>
        </p:nvSpPr>
        <p:spPr>
          <a:xfrm>
            <a:off x="10096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837.02억 원</a:t>
            </a:r>
          </a:p>
        </p:txBody>
      </p:sp>
      <p:sp>
        <p:nvSpPr>
          <p:cNvPr id="11" name="reference-6"/>
          <p:cNvSpPr txBox="1"/>
          <p:nvPr/>
        </p:nvSpPr>
        <p:spPr>
          <a:xfrm>
            <a:off x="10096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LinearRegression</a:t>
            </a:r>
          </a:p>
          <a:p>
            <a:pPr eaLnBrk="0">
              <a:lnSpc>
                <a:spcPts val="1687"/>
              </a:lnSpc>
              <a:spcBef>
                <a:spcPts val="0"/>
              </a:spcBef>
              <a:spcAft>
                <a:spcPts val="0"/>
              </a:spcAft>
            </a:pPr>
            <a:r>
              <a:rPr sz="1350" b="0">
                <a:solidFill>
                  <a:srgbClr val="004EA2"/>
                </a:solidFill>
                <a:latin typeface="Noto Sans KR"/>
              </a:rPr>
              <a:t>최종 월 1,216분</a:t>
            </a:r>
          </a:p>
        </p:txBody>
      </p:sp>
      <p:sp>
        <p:nvSpPr>
          <p:cNvPr id="12" name="reference-7"/>
          <p:cNvSpPr txBox="1"/>
          <p:nvPr/>
        </p:nvSpPr>
        <p:spPr>
          <a:xfrm>
            <a:off x="10096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LinearRegression</a:t>
            </a:r>
          </a:p>
          <a:p>
            <a:pPr eaLnBrk="0">
              <a:lnSpc>
                <a:spcPts val="1687"/>
              </a:lnSpc>
              <a:spcBef>
                <a:spcPts val="0"/>
              </a:spcBef>
              <a:spcAft>
                <a:spcPts val="0"/>
              </a:spcAft>
            </a:pPr>
            <a:r>
              <a:rPr sz="1350" b="0">
                <a:solidFill>
                  <a:srgbClr val="004EA2"/>
                </a:solidFill>
                <a:latin typeface="Noto Sans KR"/>
              </a:rPr>
              <a:t>최종 월 2.93일</a:t>
            </a:r>
          </a:p>
        </p:txBody>
      </p:sp>
      <p:sp>
        <p:nvSpPr>
          <p:cNvPr id="13" name="reference-8"/>
          <p:cNvSpPr txBox="1"/>
          <p:nvPr/>
        </p:nvSpPr>
        <p:spPr>
          <a:xfrm>
            <a:off x="548640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7%</a:t>
            </a:r>
          </a:p>
        </p:txBody>
      </p:sp>
      <p:sp>
        <p:nvSpPr>
          <p:cNvPr id="14" name="reference-9"/>
          <p:cNvSpPr txBox="1"/>
          <p:nvPr/>
        </p:nvSpPr>
        <p:spPr>
          <a:xfrm>
            <a:off x="548640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 전년동월 계절</a:t>
            </a:r>
          </a:p>
          <a:p>
            <a:pPr eaLnBrk="0">
              <a:lnSpc>
                <a:spcPts val="1687"/>
              </a:lnSpc>
              <a:spcBef>
                <a:spcPts val="0"/>
              </a:spcBef>
              <a:spcAft>
                <a:spcPts val="0"/>
              </a:spcAft>
            </a:pPr>
            <a:r>
              <a:rPr sz="1350" b="0">
                <a:solidFill>
                  <a:srgbClr val="004EA2"/>
                </a:solidFill>
                <a:latin typeface="Noto Sans KR"/>
              </a:rPr>
              <a:t>기준선 최종 월 6,099건</a:t>
            </a:r>
          </a:p>
        </p:txBody>
      </p:sp>
      <p:sp>
        <p:nvSpPr>
          <p:cNvPr id="15" name="reference-10"/>
          <p:cNvSpPr txBox="1"/>
          <p:nvPr/>
        </p:nvSpPr>
        <p:spPr>
          <a:xfrm>
            <a:off x="548640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134,392건</a:t>
            </a:r>
          </a:p>
        </p:txBody>
      </p:sp>
      <p:sp>
        <p:nvSpPr>
          <p:cNvPr id="16" name="reference-11"/>
          <p:cNvSpPr txBox="1"/>
          <p:nvPr/>
        </p:nvSpPr>
        <p:spPr>
          <a:xfrm>
            <a:off x="548640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a:t>
            </a:r>
          </a:p>
          <a:p>
            <a:pPr eaLnBrk="0">
              <a:lnSpc>
                <a:spcPts val="1687"/>
              </a:lnSpc>
              <a:spcBef>
                <a:spcPts val="0"/>
              </a:spcBef>
              <a:spcAft>
                <a:spcPts val="0"/>
              </a:spcAft>
            </a:pPr>
            <a:r>
              <a:rPr sz="1350" b="0" u="none">
                <a:solidFill>
                  <a:srgbClr val="004EA2"/>
                </a:solidFill>
                <a:latin typeface="Noto Sans KR"/>
                <a:hlinkClick r:id="rId3"/>
              </a:rPr>
              <a:t>연계 지역관광 활성화 방안 · PDF 44쪽 외 7쪽 (8개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17" name="reference-12"/>
          <p:cNvSpPr txBox="1"/>
          <p:nvPr/>
        </p:nvSpPr>
        <p:spPr>
          <a:xfrm>
            <a:off x="5486400" y="518636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인천광역시 ‘6월부터 밤마다</a:t>
            </a:r>
          </a:p>
          <a:p>
            <a:pPr eaLnBrk="0">
              <a:lnSpc>
                <a:spcPts val="1687"/>
              </a:lnSpc>
              <a:spcBef>
                <a:spcPts val="0"/>
              </a:spcBef>
              <a:spcAft>
                <a:spcPts val="0"/>
              </a:spcAft>
            </a:pPr>
            <a:r>
              <a:rPr sz="1350" b="0" u="none">
                <a:solidFill>
                  <a:srgbClr val="004EA2"/>
                </a:solidFill>
                <a:latin typeface="Noto Sans KR"/>
                <a:hlinkClick r:id="rId4"/>
              </a:rPr>
              <a:t>인천으로’ 야간관광 특화도시 운영 및 성과</a:t>
            </a:r>
          </a:p>
          <a:p>
            <a:pPr eaLnBrk="0">
              <a:lnSpc>
                <a:spcPts val="1687"/>
              </a:lnSpc>
              <a:spcBef>
                <a:spcPts val="0"/>
              </a:spcBef>
              <a:spcAft>
                <a:spcPts val="0"/>
              </a:spcAft>
            </a:pPr>
            <a:r>
              <a:rPr sz="1350" b="0" u="none">
                <a:solidFill>
                  <a:srgbClr val="004EA2"/>
                </a:solidFill>
                <a:latin typeface="Noto Sans KR"/>
                <a:hlinkClick r:id="rId4"/>
              </a:rPr>
              <a:t>자료 www.incheon.go.kr</a:t>
            </a:r>
          </a:p>
        </p:txBody>
      </p:sp>
      <p:sp>
        <p:nvSpPr>
          <p:cNvPr id="18" name="reference-13"/>
          <p:cNvSpPr txBox="1"/>
          <p:nvPr/>
        </p:nvSpPr>
        <p:spPr>
          <a:xfrm>
            <a:off x="5486400" y="6000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서울특별시 ‘서울의 밤이 더</a:t>
            </a:r>
          </a:p>
          <a:p>
            <a:pPr eaLnBrk="0">
              <a:lnSpc>
                <a:spcPts val="1687"/>
              </a:lnSpc>
              <a:spcBef>
                <a:spcPts val="0"/>
              </a:spcBef>
              <a:spcAft>
                <a:spcPts val="0"/>
              </a:spcAft>
            </a:pPr>
            <a:r>
              <a:rPr sz="1350" b="0" u="none">
                <a:solidFill>
                  <a:srgbClr val="004EA2"/>
                </a:solidFill>
                <a:latin typeface="Noto Sans KR"/>
                <a:hlinkClick r:id="rId5"/>
              </a:rPr>
              <a:t>길어진다—서울달 금·토 심야 운영’ 및 운영 확대</a:t>
            </a:r>
          </a:p>
          <a:p>
            <a:pPr eaLnBrk="0">
              <a:lnSpc>
                <a:spcPts val="1687"/>
              </a:lnSpc>
              <a:spcBef>
                <a:spcPts val="0"/>
              </a:spcBef>
              <a:spcAft>
                <a:spcPts val="0"/>
              </a:spcAft>
            </a:pPr>
            <a:r>
              <a:rPr sz="1350" b="0" u="none">
                <a:solidFill>
                  <a:srgbClr val="004EA2"/>
                </a:solidFill>
                <a:latin typeface="Noto Sans KR"/>
                <a:hlinkClick r:id="rId5"/>
              </a:rPr>
              <a:t>자료 www.seoul.go.kr</a:t>
            </a:r>
          </a:p>
        </p:txBody>
      </p:sp>
      <p:sp>
        <p:nvSpPr>
          <p:cNvPr id="19" name="reference-14"/>
          <p:cNvSpPr txBox="1"/>
          <p:nvPr/>
        </p:nvSpPr>
        <p:spPr>
          <a:xfrm>
            <a:off x="5486400" y="68151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강진 반값여행 지역경제 효과</a:t>
            </a:r>
          </a:p>
          <a:p>
            <a:pPr eaLnBrk="0">
              <a:lnSpc>
                <a:spcPts val="1687"/>
              </a:lnSpc>
              <a:spcBef>
                <a:spcPts val="0"/>
              </a:spcBef>
              <a:spcAft>
                <a:spcPts val="0"/>
              </a:spcAft>
            </a:pPr>
            <a:r>
              <a:rPr sz="1350" b="0" u="none">
                <a:solidFill>
                  <a:srgbClr val="004EA2"/>
                </a:solidFill>
                <a:latin typeface="Noto Sans KR"/>
                <a:hlinkClick r:id="rId6"/>
              </a:rPr>
              <a:t>소개 jnfarm.jeonnam.go.kr</a:t>
            </a:r>
          </a:p>
        </p:txBody>
      </p:sp>
      <p:sp>
        <p:nvSpPr>
          <p:cNvPr id="20" name="reference-15"/>
          <p:cNvSpPr txBox="1"/>
          <p:nvPr/>
        </p:nvSpPr>
        <p:spPr>
          <a:xfrm>
            <a:off x="5486400" y="74152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2024년 6월 여행가는 달 추진</a:t>
            </a:r>
          </a:p>
          <a:p>
            <a:pPr eaLnBrk="0">
              <a:lnSpc>
                <a:spcPts val="1687"/>
              </a:lnSpc>
              <a:spcBef>
                <a:spcPts val="0"/>
              </a:spcBef>
              <a:spcAft>
                <a:spcPts val="0"/>
              </a:spcAft>
            </a:pPr>
            <a:r>
              <a:rPr sz="1350" b="0" u="none">
                <a:solidFill>
                  <a:srgbClr val="004EA2"/>
                </a:solidFill>
                <a:latin typeface="Noto Sans KR"/>
                <a:hlinkClick r:id="rId7"/>
              </a:rPr>
              <a:t>보도자료 mcst.go.kr</a:t>
            </a:r>
          </a:p>
        </p:txBody>
      </p:sp>
      <p:sp>
        <p:nvSpPr>
          <p:cNvPr id="21" name="reference-16"/>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8"/>
              </a:rPr>
              <a:t>공식 사례·문서 D55 2022 대한민국 숙박대전</a:t>
            </a:r>
          </a:p>
          <a:p>
            <a:pPr eaLnBrk="0">
              <a:lnSpc>
                <a:spcPts val="1687"/>
              </a:lnSpc>
              <a:spcBef>
                <a:spcPts val="0"/>
              </a:spcBef>
              <a:spcAft>
                <a:spcPts val="0"/>
              </a:spcAft>
            </a:pPr>
            <a:r>
              <a:rPr sz="1350" b="0" u="none">
                <a:solidFill>
                  <a:srgbClr val="004EA2"/>
                </a:solidFill>
                <a:latin typeface="Noto Sans KR"/>
                <a:hlinkClick r:id="rId8"/>
              </a:rPr>
              <a:t>경제파급효과 공개자료 kto.visitkorea.or.kr</a:t>
            </a:r>
          </a:p>
        </p:txBody>
      </p:sp>
      <p:sp>
        <p:nvSpPr>
          <p:cNvPr id="22" name="reference-17"/>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9"/>
              </a:rPr>
              <a:t>공식 사례·문서 D56 2025 대한민국 밤밤페스타 개최</a:t>
            </a:r>
          </a:p>
          <a:p>
            <a:pPr eaLnBrk="0">
              <a:lnSpc>
                <a:spcPts val="1687"/>
              </a:lnSpc>
              <a:spcBef>
                <a:spcPts val="0"/>
              </a:spcBef>
              <a:spcAft>
                <a:spcPts val="0"/>
              </a:spcAft>
            </a:pPr>
            <a:r>
              <a:rPr sz="1350" b="0" u="none">
                <a:solidFill>
                  <a:srgbClr val="004EA2"/>
                </a:solidFill>
                <a:latin typeface="Noto Sans KR"/>
                <a:hlinkClick r:id="rId9"/>
              </a:rPr>
              <a:t>도시 및 일정 korean.visitkorea.or.kr</a:t>
            </a:r>
          </a:p>
        </p:txBody>
      </p:sp>
      <p:sp>
        <p:nvSpPr>
          <p:cNvPr id="23" name="reference-18"/>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공식 사례·문서 D57 2024년도 정부업무평가 관광분야</a:t>
            </a:r>
          </a:p>
          <a:p>
            <a:pPr eaLnBrk="0">
              <a:lnSpc>
                <a:spcPts val="1687"/>
              </a:lnSpc>
              <a:spcBef>
                <a:spcPts val="0"/>
              </a:spcBef>
              <a:spcAft>
                <a:spcPts val="0"/>
              </a:spcAft>
            </a:pPr>
            <a:r>
              <a:rPr sz="1350" b="0" u="none">
                <a:solidFill>
                  <a:srgbClr val="004EA2"/>
                </a:solidFill>
                <a:latin typeface="Noto Sans KR"/>
                <a:hlinkClick r:id="rId10"/>
              </a:rPr>
              <a:t>성과자료 www.evaluation.go.kr</a:t>
            </a:r>
          </a:p>
        </p:txBody>
      </p:sp>
      <p:sp>
        <p:nvSpPr>
          <p:cNvPr id="24" name="reference-19"/>
          <p:cNvSpPr txBox="1"/>
          <p:nvPr/>
        </p:nvSpPr>
        <p:spPr>
          <a:xfrm>
            <a:off x="9963150" y="43719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D30 굴포천 생태하천</a:t>
            </a:r>
          </a:p>
        </p:txBody>
      </p:sp>
      <p:sp>
        <p:nvSpPr>
          <p:cNvPr id="25" name="reference-20"/>
          <p:cNvSpPr txBox="1"/>
          <p:nvPr/>
        </p:nvSpPr>
        <p:spPr>
          <a:xfrm>
            <a:off x="9963150" y="48291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D31 대왕김밥</a:t>
            </a:r>
          </a:p>
        </p:txBody>
      </p:sp>
      <p:sp>
        <p:nvSpPr>
          <p:cNvPr id="26" name="reference-21"/>
          <p:cNvSpPr txBox="1"/>
          <p:nvPr/>
        </p:nvSpPr>
        <p:spPr>
          <a:xfrm>
            <a:off x="9963150" y="52863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D32 돈타래게장정식</a:t>
            </a:r>
          </a:p>
        </p:txBody>
      </p:sp>
      <p:sp>
        <p:nvSpPr>
          <p:cNvPr id="27" name="reference-22"/>
          <p:cNvSpPr txBox="1"/>
          <p:nvPr/>
        </p:nvSpPr>
        <p:spPr>
          <a:xfrm>
            <a:off x="9963150" y="57435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D33 면박사가야밀면</a:t>
            </a:r>
          </a:p>
        </p:txBody>
      </p:sp>
      <p:sp>
        <p:nvSpPr>
          <p:cNvPr id="28" name="reference-23"/>
          <p:cNvSpPr txBox="1"/>
          <p:nvPr/>
        </p:nvSpPr>
        <p:spPr>
          <a:xfrm>
            <a:off x="9963150" y="62007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D34 모녀떡볶이 부평남부역점</a:t>
            </a:r>
          </a:p>
        </p:txBody>
      </p:sp>
      <p:sp>
        <p:nvSpPr>
          <p:cNvPr id="29" name="reference-24"/>
          <p:cNvSpPr txBox="1"/>
          <p:nvPr/>
        </p:nvSpPr>
        <p:spPr>
          <a:xfrm>
            <a:off x="9963150" y="66579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D35 백운공원</a:t>
            </a:r>
          </a:p>
        </p:txBody>
      </p:sp>
      <p:sp>
        <p:nvSpPr>
          <p:cNvPr id="30" name="reference-25"/>
          <p:cNvSpPr txBox="1"/>
          <p:nvPr/>
        </p:nvSpPr>
        <p:spPr>
          <a:xfrm>
            <a:off x="9963150" y="71151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D36 별미칡냉면원조</a:t>
            </a:r>
          </a:p>
        </p:txBody>
      </p:sp>
      <p:sp>
        <p:nvSpPr>
          <p:cNvPr id="31" name="reference-26"/>
          <p:cNvSpPr txBox="1"/>
          <p:nvPr/>
        </p:nvSpPr>
        <p:spPr>
          <a:xfrm>
            <a:off x="9963150" y="75723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D37 부영공원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D38 부평 굴포누리 기후변화체험관</a:t>
            </a:r>
          </a:p>
        </p:txBody>
      </p:sp>
      <p:sp>
        <p:nvSpPr>
          <p:cNvPr id="6" name="reference-1"/>
          <p:cNvSpPr txBox="1"/>
          <p:nvPr/>
        </p:nvSpPr>
        <p:spPr>
          <a:xfrm>
            <a:off x="10096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D39 부평 종합시장</a:t>
            </a:r>
          </a:p>
        </p:txBody>
      </p:sp>
      <p:sp>
        <p:nvSpPr>
          <p:cNvPr id="7" name="reference-2"/>
          <p:cNvSpPr txBox="1"/>
          <p:nvPr/>
        </p:nvSpPr>
        <p:spPr>
          <a:xfrm>
            <a:off x="100965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D40 부평 해물탕거리</a:t>
            </a:r>
          </a:p>
        </p:txBody>
      </p:sp>
      <p:sp>
        <p:nvSpPr>
          <p:cNvPr id="8" name="reference-3"/>
          <p:cNvSpPr txBox="1"/>
          <p:nvPr/>
        </p:nvSpPr>
        <p:spPr>
          <a:xfrm>
            <a:off x="100965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D41 부평모두몰(부평지하도상가)</a:t>
            </a:r>
          </a:p>
        </p:txBody>
      </p:sp>
      <p:sp>
        <p:nvSpPr>
          <p:cNvPr id="9" name="reference-4"/>
          <p:cNvSpPr txBox="1"/>
          <p:nvPr/>
        </p:nvSpPr>
        <p:spPr>
          <a:xfrm>
            <a:off x="100965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D42 부평시장</a:t>
            </a:r>
          </a:p>
        </p:txBody>
      </p:sp>
      <p:sp>
        <p:nvSpPr>
          <p:cNvPr id="10" name="reference-5"/>
          <p:cNvSpPr txBox="1"/>
          <p:nvPr/>
        </p:nvSpPr>
        <p:spPr>
          <a:xfrm>
            <a:off x="100965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D43 부평아트센터</a:t>
            </a:r>
          </a:p>
        </p:txBody>
      </p:sp>
      <p:sp>
        <p:nvSpPr>
          <p:cNvPr id="11" name="reference-6"/>
          <p:cNvSpPr txBox="1"/>
          <p:nvPr/>
        </p:nvSpPr>
        <p:spPr>
          <a:xfrm>
            <a:off x="100965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D44 부평역북광장</a:t>
            </a:r>
          </a:p>
        </p:txBody>
      </p:sp>
      <p:sp>
        <p:nvSpPr>
          <p:cNvPr id="12" name="reference-7"/>
          <p:cNvSpPr txBox="1"/>
          <p:nvPr/>
        </p:nvSpPr>
        <p:spPr>
          <a:xfrm>
            <a:off x="100965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D45 부흥기사식당</a:t>
            </a:r>
          </a:p>
        </p:txBody>
      </p:sp>
      <p:sp>
        <p:nvSpPr>
          <p:cNvPr id="13" name="reference-8"/>
          <p:cNvSpPr txBox="1"/>
          <p:nvPr/>
        </p:nvSpPr>
        <p:spPr>
          <a:xfrm>
            <a:off x="100965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D46 삼산건강공원</a:t>
            </a:r>
          </a:p>
        </p:txBody>
      </p:sp>
      <p:sp>
        <p:nvSpPr>
          <p:cNvPr id="14" name="reference-9"/>
          <p:cNvSpPr txBox="1"/>
          <p:nvPr/>
        </p:nvSpPr>
        <p:spPr>
          <a:xfrm>
            <a:off x="100965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D47 신트리공원(인천)</a:t>
            </a:r>
          </a:p>
        </p:txBody>
      </p:sp>
      <p:sp>
        <p:nvSpPr>
          <p:cNvPr id="15" name="reference-10"/>
          <p:cNvSpPr txBox="1"/>
          <p:nvPr/>
        </p:nvSpPr>
        <p:spPr>
          <a:xfrm>
            <a:off x="100965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D48 양평신내서울해장국 부평직영점</a:t>
            </a:r>
          </a:p>
        </p:txBody>
      </p:sp>
      <p:sp>
        <p:nvSpPr>
          <p:cNvPr id="16" name="reference-11"/>
          <p:cNvSpPr txBox="1"/>
          <p:nvPr/>
        </p:nvSpPr>
        <p:spPr>
          <a:xfrm>
            <a:off x="100965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D49 열우물전통시장</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인천광역시 부평구</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부평역 권역 야간 체류</a:t>
            </a:r>
          </a:p>
          <a:p xmlns:a="http://schemas.openxmlformats.org/drawingml/2006/main">
            <a:pPr eaLnBrk="0">
              <a:lnSpc>
                <a:spcPts val="2625"/>
              </a:lnSpc>
              <a:spcBef>
                <a:spcPts val="0"/>
              </a:spcBef>
              <a:spcAft>
                <a:spcPts val="0"/>
              </a:spcAft>
            </a:pPr>
            <a:r>
              <a:rPr sz="2100" b="1">
                <a:solidFill>
                  <a:srgbClr val="004EA2"/>
                </a:solidFill>
                <a:latin typeface="Noto Sans KR"/>
              </a:rPr>
              <a:t>유도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① 전망 × 목표율 → 운영 예산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origin"/>
          <p:cNvSpPr txBox="1"/>
          <p:nvPr/>
        </p:nvSpPr>
        <p:spPr>
          <a:xfrm>
            <a:off x="1009650" y="2019300"/>
            <a:ext cx="59055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공식 운영 사례와 계획 가정</a:t>
            </a:r>
          </a:p>
        </p:txBody>
      </p:sp>
      <p:sp>
        <p:nvSpPr>
          <p:cNvPr id="5" name="basis-formula"/>
          <p:cNvSpPr txBox="1"/>
          <p:nvPr/>
        </p:nvSpPr>
        <p:spPr>
          <a:xfrm>
            <a:off x="1009650" y="2505075"/>
            <a:ext cx="8810625" cy="6572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6B00"/>
                </a:solidFill>
                <a:latin typeface="Noto Sans KR"/>
              </a:rPr>
              <a:t>운영 사례 참고 → 초기 목표 5%</a:t>
            </a:r>
          </a:p>
        </p:txBody>
      </p:sp>
      <p:sp>
        <p:nvSpPr>
          <p:cNvPr id="6" name="basis-factor-labels"/>
          <p:cNvSpPr txBox="1"/>
          <p:nvPr/>
        </p:nvSpPr>
        <p:spPr>
          <a:xfrm>
            <a:off x="1009650" y="3257550"/>
            <a:ext cx="8810625"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전후 효과 추정이 아닌 계획 가정</a:t>
            </a:r>
          </a:p>
        </p:txBody>
      </p:sp>
      <p:sp>
        <p:nvSpPr>
          <p:cNvPr id="7" name="basis-divider"/>
          <p:cNvSpPr/>
          <p:nvPr/>
        </p:nvSpPr>
        <p:spPr>
          <a:xfrm>
            <a:off x="10001250" y="2133600"/>
            <a:ext cx="28575" cy="14763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is-actual"/>
          <p:cNvSpPr txBox="1"/>
          <p:nvPr/>
        </p:nvSpPr>
        <p:spPr>
          <a:xfrm>
            <a:off x="10296525" y="2124075"/>
            <a:ext cx="3933825"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이 기획서의 최종월 목표</a:t>
            </a:r>
          </a:p>
        </p:txBody>
      </p:sp>
      <p:sp>
        <p:nvSpPr>
          <p:cNvPr id="9" name="basis-actual-value"/>
          <p:cNvSpPr txBox="1"/>
          <p:nvPr/>
        </p:nvSpPr>
        <p:spPr>
          <a:xfrm>
            <a:off x="10296525" y="2619375"/>
            <a:ext cx="3933825" cy="895350"/>
          </a:xfrm>
          <a:prstGeom prst="rect">
            <a:avLst/>
          </a:prstGeom>
          <a:noFill/>
        </p:spPr>
        <p:txBody>
          <a:bodyPr wrap="none" lIns="57150" rIns="57150" tIns="38100" bIns="38100" anchor="t">
            <a:noAutofit/>
          </a:bodyPr>
          <a:lstStyle/>
          <a:p>
            <a:pPr eaLnBrk="0">
              <a:lnSpc>
                <a:spcPts val="2906"/>
              </a:lnSpc>
              <a:spcBef>
                <a:spcPts val="0"/>
              </a:spcBef>
              <a:spcAft>
                <a:spcPts val="0"/>
              </a:spcAft>
            </a:pPr>
            <a:r>
              <a:rPr sz="2325" b="1">
                <a:solidFill>
                  <a:srgbClr val="FF6B00"/>
                </a:solidFill>
                <a:latin typeface="Noto Sans KR"/>
              </a:rPr>
              <a:t>방문 +5%</a:t>
            </a:r>
          </a:p>
          <a:p>
            <a:pPr eaLnBrk="0">
              <a:lnSpc>
                <a:spcPts val="2906"/>
              </a:lnSpc>
              <a:spcBef>
                <a:spcPts val="0"/>
              </a:spcBef>
              <a:spcAft>
                <a:spcPts val="0"/>
              </a:spcAft>
            </a:pPr>
            <a:r>
              <a:rPr sz="2325" b="1">
                <a:solidFill>
                  <a:srgbClr val="FF6B00"/>
                </a:solidFill>
                <a:latin typeface="Noto Sans KR"/>
              </a:rPr>
              <a:t>소비 +5%</a:t>
            </a:r>
          </a:p>
        </p:txBody>
      </p:sp>
      <p:sp>
        <p:nvSpPr>
          <p:cNvPr id="10" name="basis-meaning"/>
          <p:cNvSpPr txBox="1"/>
          <p:nvPr/>
        </p:nvSpPr>
        <p:spPr>
          <a:xfrm>
            <a:off x="1009650" y="3800475"/>
            <a:ext cx="13220700" cy="400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5%는 ML이 찾아낸 사업 효과가 아닌 초기 계획 목표이며 생성 후 조정할 수 있습니다.</a:t>
            </a:r>
          </a:p>
        </p:txBody>
      </p:sp>
      <p:sp>
        <p:nvSpPr>
          <p:cNvPr id="11" name="basis-mid-rule"/>
          <p:cNvSpPr/>
          <p:nvPr/>
        </p:nvSpPr>
        <p:spPr>
          <a:xfrm>
            <a:off x="1009650" y="4371975"/>
            <a:ext cx="13220700" cy="19050"/>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line-label"/>
          <p:cNvSpPr txBox="1"/>
          <p:nvPr/>
        </p:nvSpPr>
        <p:spPr>
          <a:xfrm>
            <a:off x="1009650" y="4610100"/>
            <a:ext cx="37242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01 ML 기준 전망</a:t>
            </a:r>
          </a:p>
        </p:txBody>
      </p:sp>
      <p:sp>
        <p:nvSpPr>
          <p:cNvPr id="13" name="baseline-value"/>
          <p:cNvSpPr txBox="1"/>
          <p:nvPr/>
        </p:nvSpPr>
        <p:spPr>
          <a:xfrm>
            <a:off x="1009650" y="5067300"/>
            <a:ext cx="37242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1,126.81만 명</a:t>
            </a:r>
          </a:p>
        </p:txBody>
      </p:sp>
      <p:sp>
        <p:nvSpPr>
          <p:cNvPr id="14" name="baseline-sub"/>
          <p:cNvSpPr txBox="1"/>
          <p:nvPr/>
        </p:nvSpPr>
        <p:spPr>
          <a:xfrm>
            <a:off x="1009650" y="5724525"/>
            <a:ext cx="37242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관광소비 2,435.46억 원</a:t>
            </a:r>
          </a:p>
          <a:p>
            <a:pPr eaLnBrk="0">
              <a:lnSpc>
                <a:spcPts val="1968"/>
              </a:lnSpc>
              <a:spcBef>
                <a:spcPts val="0"/>
              </a:spcBef>
              <a:spcAft>
                <a:spcPts val="0"/>
              </a:spcAft>
            </a:pPr>
            <a:r>
              <a:rPr sz="1575" b="0">
                <a:solidFill>
                  <a:srgbClr val="59636E"/>
                </a:solidFill>
                <a:latin typeface="Noto Sans KR"/>
              </a:rPr>
              <a:t>사업기간 3개월 월별 합계</a:t>
            </a:r>
          </a:p>
        </p:txBody>
      </p:sp>
      <p:sp>
        <p:nvSpPr>
          <p:cNvPr id="15" name="to-target"/>
          <p:cNvSpPr txBox="1"/>
          <p:nvPr/>
        </p:nvSpPr>
        <p:spPr>
          <a:xfrm>
            <a:off x="4752975"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6" name="uplift-label"/>
          <p:cNvSpPr txBox="1"/>
          <p:nvPr/>
        </p:nvSpPr>
        <p:spPr>
          <a:xfrm>
            <a:off x="5591175" y="4610100"/>
            <a:ext cx="3981450"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02 단계 목표를 합산</a:t>
            </a:r>
          </a:p>
        </p:txBody>
      </p:sp>
      <p:sp>
        <p:nvSpPr>
          <p:cNvPr id="17" name="uplift-value"/>
          <p:cNvSpPr txBox="1"/>
          <p:nvPr/>
        </p:nvSpPr>
        <p:spPr>
          <a:xfrm>
            <a:off x="5591175" y="5067300"/>
            <a:ext cx="3981450"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+37.50만 명</a:t>
            </a:r>
          </a:p>
        </p:txBody>
      </p:sp>
      <p:sp>
        <p:nvSpPr>
          <p:cNvPr id="18" name="uplift-sub"/>
          <p:cNvSpPr txBox="1"/>
          <p:nvPr/>
        </p:nvSpPr>
        <p:spPr>
          <a:xfrm>
            <a:off x="5591175" y="5724525"/>
            <a:ext cx="3981450"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소비 +82.01억 원</a:t>
            </a:r>
          </a:p>
          <a:p>
            <a:pPr eaLnBrk="0">
              <a:lnSpc>
                <a:spcPts val="1968"/>
              </a:lnSpc>
              <a:spcBef>
                <a:spcPts val="0"/>
              </a:spcBef>
              <a:spcAft>
                <a:spcPts val="0"/>
              </a:spcAft>
            </a:pPr>
            <a:r>
              <a:rPr sz="1575" b="0">
                <a:solidFill>
                  <a:srgbClr val="59636E"/>
                </a:solidFill>
                <a:latin typeface="Noto Sans KR"/>
              </a:rPr>
              <a:t>최종월까지 ⅓ → ⅔ → 전체 목표율</a:t>
            </a:r>
          </a:p>
        </p:txBody>
      </p:sp>
      <p:sp>
        <p:nvSpPr>
          <p:cNvPr id="19" name="to-volume"/>
          <p:cNvSpPr txBox="1"/>
          <p:nvPr/>
        </p:nvSpPr>
        <p:spPr>
          <a:xfrm>
            <a:off x="9525000"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0" name="quantity-label"/>
          <p:cNvSpPr txBox="1"/>
          <p:nvPr/>
        </p:nvSpPr>
        <p:spPr>
          <a:xfrm>
            <a:off x="10391775" y="4610100"/>
            <a:ext cx="38385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03 직접 운영할 규모</a:t>
            </a:r>
          </a:p>
        </p:txBody>
      </p:sp>
      <p:sp>
        <p:nvSpPr>
          <p:cNvPr id="21" name="quantity-value"/>
          <p:cNvSpPr txBox="1"/>
          <p:nvPr/>
        </p:nvSpPr>
        <p:spPr>
          <a:xfrm>
            <a:off x="10391775" y="5067300"/>
            <a:ext cx="38385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3,750건</a:t>
            </a:r>
          </a:p>
        </p:txBody>
      </p:sp>
      <p:sp>
        <p:nvSpPr>
          <p:cNvPr id="22" name="quantity-sub"/>
          <p:cNvSpPr txBox="1"/>
          <p:nvPr/>
        </p:nvSpPr>
        <p:spPr>
          <a:xfrm>
            <a:off x="10391775" y="5724525"/>
            <a:ext cx="38385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방문 목표 × 1% 올림</a:t>
            </a:r>
          </a:p>
          <a:p>
            <a:pPr eaLnBrk="0">
              <a:lnSpc>
                <a:spcPts val="1968"/>
              </a:lnSpc>
              <a:spcBef>
                <a:spcPts val="0"/>
              </a:spcBef>
              <a:spcAft>
                <a:spcPts val="0"/>
              </a:spcAft>
            </a:pPr>
            <a:r>
              <a:rPr sz="1575" b="0">
                <a:solidFill>
                  <a:srgbClr val="59636E"/>
                </a:solidFill>
                <a:latin typeface="Noto Sans KR"/>
              </a:rPr>
              <a:t>참여량 배분 가정 · 전환율 아님</a:t>
            </a:r>
          </a:p>
        </p:txBody>
      </p:sp>
      <p:sp>
        <p:nvSpPr>
          <p:cNvPr id="23" name="monthly-formula"/>
          <p:cNvSpPr txBox="1"/>
          <p:nvPr/>
        </p:nvSpPr>
        <p:spPr>
          <a:xfrm>
            <a:off x="1009650" y="6619875"/>
            <a:ext cx="13220700" cy="3619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월 목표 = 월 기준 전망 × (1 + 최종월 목표율 × 경과월/전체월). 방문 합계는 3개월 고유 인원과 다릅니다.</a:t>
            </a:r>
          </a:p>
        </p:txBody>
      </p:sp>
      <p:sp>
        <p:nvSpPr>
          <p:cNvPr id="24" name="budget-band"/>
          <p:cNvSpPr/>
          <p:nvPr/>
        </p:nvSpPr>
        <p:spPr>
          <a:xfrm>
            <a:off x="1009650" y="7162800"/>
            <a:ext cx="13220700" cy="96202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dget-label-0"/>
          <p:cNvSpPr txBox="1"/>
          <p:nvPr/>
        </p:nvSpPr>
        <p:spPr>
          <a:xfrm>
            <a:off x="11906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직접 혜택</a:t>
            </a:r>
          </a:p>
        </p:txBody>
      </p:sp>
      <p:sp>
        <p:nvSpPr>
          <p:cNvPr id="26" name="budget-value-0"/>
          <p:cNvSpPr txBox="1"/>
          <p:nvPr/>
        </p:nvSpPr>
        <p:spPr>
          <a:xfrm>
            <a:off x="11906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3,750.0만 원</a:t>
            </a:r>
          </a:p>
        </p:txBody>
      </p:sp>
      <p:sp>
        <p:nvSpPr>
          <p:cNvPr id="27" name="budget-sign-0"/>
          <p:cNvSpPr txBox="1"/>
          <p:nvPr/>
        </p:nvSpPr>
        <p:spPr>
          <a:xfrm>
            <a:off x="41052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28" name="budget-label-1"/>
          <p:cNvSpPr txBox="1"/>
          <p:nvPr/>
        </p:nvSpPr>
        <p:spPr>
          <a:xfrm>
            <a:off x="45434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운영·시스템·홍보·평가</a:t>
            </a:r>
          </a:p>
        </p:txBody>
      </p:sp>
      <p:sp>
        <p:nvSpPr>
          <p:cNvPr id="29" name="budget-value-1"/>
          <p:cNvSpPr txBox="1"/>
          <p:nvPr/>
        </p:nvSpPr>
        <p:spPr>
          <a:xfrm>
            <a:off x="45434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3,850.0만 원</a:t>
            </a:r>
          </a:p>
        </p:txBody>
      </p:sp>
      <p:sp>
        <p:nvSpPr>
          <p:cNvPr id="30" name="budget-sign-1"/>
          <p:cNvSpPr txBox="1"/>
          <p:nvPr/>
        </p:nvSpPr>
        <p:spPr>
          <a:xfrm>
            <a:off x="74580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1" name="budget-label-2"/>
          <p:cNvSpPr txBox="1"/>
          <p:nvPr/>
        </p:nvSpPr>
        <p:spPr>
          <a:xfrm>
            <a:off x="78962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예비비 10%</a:t>
            </a:r>
          </a:p>
        </p:txBody>
      </p:sp>
      <p:sp>
        <p:nvSpPr>
          <p:cNvPr id="32" name="budget-value-2"/>
          <p:cNvSpPr txBox="1"/>
          <p:nvPr/>
        </p:nvSpPr>
        <p:spPr>
          <a:xfrm>
            <a:off x="78962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760.0만 원</a:t>
            </a:r>
          </a:p>
        </p:txBody>
      </p:sp>
      <p:sp>
        <p:nvSpPr>
          <p:cNvPr id="33" name="budget-sign-2"/>
          <p:cNvSpPr txBox="1"/>
          <p:nvPr/>
        </p:nvSpPr>
        <p:spPr>
          <a:xfrm>
            <a:off x="108108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4" name="budget-label-3"/>
          <p:cNvSpPr txBox="1"/>
          <p:nvPr/>
        </p:nvSpPr>
        <p:spPr>
          <a:xfrm>
            <a:off x="112490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견적 총액</a:t>
            </a:r>
          </a:p>
        </p:txBody>
      </p:sp>
      <p:sp>
        <p:nvSpPr>
          <p:cNvPr id="35" name="budget-value-3"/>
          <p:cNvSpPr txBox="1"/>
          <p:nvPr/>
        </p:nvSpPr>
        <p:spPr>
          <a:xfrm>
            <a:off x="112490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8,360.0만 원</a:t>
            </a:r>
          </a:p>
        </p:txBody>
      </p:sp>
      <p:sp>
        <p:nvSpPr>
          <p:cNvPr id="36" name="budget-assumption"/>
          <p:cNvSpPr txBox="1"/>
          <p:nvPr/>
        </p:nvSpPr>
        <p:spPr>
          <a:xfrm>
            <a:off x="1009650" y="8191500"/>
            <a:ext cx="13220700"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단가·인력 처리량은 기획 가정입니다. 항목별 곱셈 산식은 바로 앞 견적표에 제시합니다.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② 7개 전망은 어떻게 기획에 쓰이나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l-period"/>
          <p:cNvSpPr txBox="1"/>
          <p:nvPr/>
        </p:nvSpPr>
        <p:spPr>
          <a:xfrm>
            <a:off x="1009650" y="2009775"/>
            <a:ext cx="13220700"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공식 월별 데이터 202401~202606 → 지표별 저장 모델 → 사업기간의 전망</a:t>
            </a:r>
          </a:p>
        </p:txBody>
      </p:sp>
      <p:sp>
        <p:nvSpPr>
          <p:cNvPr id="5" name="ml-two"/>
          <p:cNvSpPr/>
          <p:nvPr/>
        </p:nvSpPr>
        <p:spPr>
          <a:xfrm>
            <a:off x="1009650" y="2695575"/>
            <a:ext cx="5981700" cy="20859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l-five"/>
          <p:cNvSpPr/>
          <p:nvPr/>
        </p:nvSpPr>
        <p:spPr>
          <a:xfrm>
            <a:off x="7543800" y="2695575"/>
            <a:ext cx="6686550" cy="2085975"/>
          </a:xfrm>
          <a:prstGeom prst="rect">
            <a:avLst/>
          </a:prstGeom>
          <a:solidFill>
            <a:srgbClr val="ED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wo-heading"/>
          <p:cNvSpPr txBox="1"/>
          <p:nvPr/>
        </p:nvSpPr>
        <p:spPr>
          <a:xfrm>
            <a:off x="1200150" y="2867025"/>
            <a:ext cx="55245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2개 · 수치 기준선</a:t>
            </a:r>
          </a:p>
        </p:txBody>
      </p:sp>
      <p:sp>
        <p:nvSpPr>
          <p:cNvPr id="8" name="two-metrics"/>
          <p:cNvSpPr txBox="1"/>
          <p:nvPr/>
        </p:nvSpPr>
        <p:spPr>
          <a:xfrm>
            <a:off x="1200150" y="3400425"/>
            <a:ext cx="55245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방문자 수 / 관광소비액</a:t>
            </a:r>
          </a:p>
        </p:txBody>
      </p:sp>
      <p:sp>
        <p:nvSpPr>
          <p:cNvPr id="9" name="two-use"/>
          <p:cNvSpPr txBox="1"/>
          <p:nvPr/>
        </p:nvSpPr>
        <p:spPr>
          <a:xfrm>
            <a:off x="1200150" y="3971925"/>
            <a:ext cx="5524500" cy="6762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전망 그래프 → 추가 목표 인원·소비액 계산</a:t>
            </a:r>
          </a:p>
          <a:p>
            <a:pPr eaLnBrk="0">
              <a:lnSpc>
                <a:spcPts val="2156"/>
              </a:lnSpc>
              <a:spcBef>
                <a:spcPts val="0"/>
              </a:spcBef>
              <a:spcAft>
                <a:spcPts val="0"/>
              </a:spcAft>
            </a:pPr>
            <a:r>
              <a:rPr sz="1725" b="0">
                <a:solidFill>
                  <a:srgbClr val="59636E"/>
                </a:solidFill>
                <a:latin typeface="Noto Sans KR"/>
              </a:rPr>
              <a:t>방문·소비 전망은 후보 비교에도 함께 전달</a:t>
            </a:r>
          </a:p>
        </p:txBody>
      </p:sp>
      <p:sp>
        <p:nvSpPr>
          <p:cNvPr id="10" name="five-heading"/>
          <p:cNvSpPr txBox="1"/>
          <p:nvPr/>
        </p:nvSpPr>
        <p:spPr>
          <a:xfrm>
            <a:off x="7734300" y="2867025"/>
            <a:ext cx="630555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5개 · 관광 흐름 진단</a:t>
            </a:r>
          </a:p>
        </p:txBody>
      </p:sp>
      <p:sp>
        <p:nvSpPr>
          <p:cNvPr id="11" name="five-metrics"/>
          <p:cNvSpPr txBox="1"/>
          <p:nvPr/>
        </p:nvSpPr>
        <p:spPr>
          <a:xfrm>
            <a:off x="7734300" y="3400425"/>
            <a:ext cx="6305550" cy="7239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체류시간 · 숙박일수 · 숙박방문 비율</a:t>
            </a:r>
          </a:p>
          <a:p>
            <a:pPr eaLnBrk="0">
              <a:lnSpc>
                <a:spcPts val="2531"/>
              </a:lnSpc>
              <a:spcBef>
                <a:spcPts val="0"/>
              </a:spcBef>
              <a:spcAft>
                <a:spcPts val="0"/>
              </a:spcAft>
            </a:pPr>
            <a:r>
              <a:rPr sz="2025" b="1">
                <a:solidFill>
                  <a:srgbClr val="004EA2"/>
                </a:solidFill>
                <a:latin typeface="Noto Sans KR"/>
              </a:rPr>
              <a:t>내비게이션 검색 · 숙박 목적지 검색</a:t>
            </a:r>
          </a:p>
        </p:txBody>
      </p:sp>
      <p:sp>
        <p:nvSpPr>
          <p:cNvPr id="12" name="five-use"/>
          <p:cNvSpPr txBox="1"/>
          <p:nvPr/>
        </p:nvSpPr>
        <p:spPr>
          <a:xfrm>
            <a:off x="7734300" y="4324350"/>
            <a:ext cx="6305550" cy="3619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관심 → 방문 → 체류·숙박의 흐름을 살필 참고 입력</a:t>
            </a:r>
          </a:p>
        </p:txBody>
      </p:sp>
      <p:sp>
        <p:nvSpPr>
          <p:cNvPr id="13" name="ml-arrow-left"/>
          <p:cNvSpPr txBox="1"/>
          <p:nvPr/>
        </p:nvSpPr>
        <p:spPr>
          <a:xfrm>
            <a:off x="363855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4" name="ml-arrow-right"/>
          <p:cNvSpPr txBox="1"/>
          <p:nvPr/>
        </p:nvSpPr>
        <p:spPr>
          <a:xfrm>
            <a:off x="1028700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5" name="handoff"/>
          <p:cNvSpPr txBox="1"/>
          <p:nvPr/>
        </p:nvSpPr>
        <p:spPr>
          <a:xfrm>
            <a:off x="1009650" y="5410200"/>
            <a:ext cx="132207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서버가 7개 전망·전년 대비 변화·모델 평가를 근거 묶음으로 전달</a:t>
            </a:r>
          </a:p>
        </p:txBody>
      </p:sp>
      <p:sp>
        <p:nvSpPr>
          <p:cNvPr id="16" name="flow-title-0"/>
          <p:cNvSpPr txBox="1"/>
          <p:nvPr/>
        </p:nvSpPr>
        <p:spPr>
          <a:xfrm>
            <a:off x="100965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공식 사례</a:t>
            </a:r>
          </a:p>
        </p:txBody>
      </p:sp>
      <p:sp>
        <p:nvSpPr>
          <p:cNvPr id="17" name="flow-body-0"/>
          <p:cNvSpPr txBox="1"/>
          <p:nvPr/>
        </p:nvSpPr>
        <p:spPr>
          <a:xfrm>
            <a:off x="100965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저장 7건</a:t>
            </a:r>
          </a:p>
          <a:p>
            <a:pPr eaLnBrk="0">
              <a:lnSpc>
                <a:spcPts val="2343"/>
              </a:lnSpc>
              <a:spcBef>
                <a:spcPts val="0"/>
              </a:spcBef>
              <a:spcAft>
                <a:spcPts val="0"/>
              </a:spcAft>
            </a:pPr>
            <a:r>
              <a:rPr sz="1875" b="0">
                <a:solidFill>
                  <a:srgbClr val="59636E"/>
                </a:solidFill>
                <a:latin typeface="Noto Sans KR"/>
              </a:rPr>
              <a:t>운영 방식·출처 확인</a:t>
            </a:r>
          </a:p>
        </p:txBody>
      </p:sp>
      <p:sp>
        <p:nvSpPr>
          <p:cNvPr id="18" name="flow-arrow-0"/>
          <p:cNvSpPr txBox="1"/>
          <p:nvPr/>
        </p:nvSpPr>
        <p:spPr>
          <a:xfrm>
            <a:off x="387667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9" name="flow-title-1"/>
          <p:cNvSpPr txBox="1"/>
          <p:nvPr/>
        </p:nvSpPr>
        <p:spPr>
          <a:xfrm>
            <a:off x="442912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Qwen 후보 비교</a:t>
            </a:r>
          </a:p>
        </p:txBody>
      </p:sp>
      <p:sp>
        <p:nvSpPr>
          <p:cNvPr id="20" name="flow-body-1"/>
          <p:cNvSpPr txBox="1"/>
          <p:nvPr/>
        </p:nvSpPr>
        <p:spPr>
          <a:xfrm>
            <a:off x="442912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설계 후보 3개</a:t>
            </a:r>
          </a:p>
          <a:p>
            <a:pPr eaLnBrk="0">
              <a:lnSpc>
                <a:spcPts val="2343"/>
              </a:lnSpc>
              <a:spcBef>
                <a:spcPts val="0"/>
              </a:spcBef>
              <a:spcAft>
                <a:spcPts val="0"/>
              </a:spcAft>
            </a:pPr>
            <a:r>
              <a:rPr sz="1875" b="0">
                <a:solidFill>
                  <a:srgbClr val="59636E"/>
                </a:solidFill>
                <a:latin typeface="Noto Sans KR"/>
              </a:rPr>
              <a:t>지역 조건 + 사례 판단</a:t>
            </a:r>
          </a:p>
        </p:txBody>
      </p:sp>
      <p:sp>
        <p:nvSpPr>
          <p:cNvPr id="21" name="flow-arrow-1"/>
          <p:cNvSpPr txBox="1"/>
          <p:nvPr/>
        </p:nvSpPr>
        <p:spPr>
          <a:xfrm>
            <a:off x="7296150"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2" name="flow-title-2"/>
          <p:cNvSpPr txBox="1"/>
          <p:nvPr/>
        </p:nvSpPr>
        <p:spPr>
          <a:xfrm>
            <a:off x="784860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Gemma 본문</a:t>
            </a:r>
          </a:p>
        </p:txBody>
      </p:sp>
      <p:sp>
        <p:nvSpPr>
          <p:cNvPr id="23" name="flow-body-2"/>
          <p:cNvSpPr txBox="1"/>
          <p:nvPr/>
        </p:nvSpPr>
        <p:spPr>
          <a:xfrm>
            <a:off x="784860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선정 사업·근거를</a:t>
            </a:r>
          </a:p>
          <a:p>
            <a:pPr eaLnBrk="0">
              <a:lnSpc>
                <a:spcPts val="2343"/>
              </a:lnSpc>
              <a:spcBef>
                <a:spcPts val="0"/>
              </a:spcBef>
              <a:spcAft>
                <a:spcPts val="0"/>
              </a:spcAft>
            </a:pPr>
            <a:r>
              <a:rPr sz="1875" b="0">
                <a:solidFill>
                  <a:srgbClr val="59636E"/>
                </a:solidFill>
                <a:latin typeface="Noto Sans KR"/>
              </a:rPr>
              <a:t>실행 계획으로 작성</a:t>
            </a:r>
          </a:p>
        </p:txBody>
      </p:sp>
      <p:sp>
        <p:nvSpPr>
          <p:cNvPr id="24" name="flow-arrow-2"/>
          <p:cNvSpPr txBox="1"/>
          <p:nvPr/>
        </p:nvSpPr>
        <p:spPr>
          <a:xfrm>
            <a:off x="1071562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5" name="flow-title-3"/>
          <p:cNvSpPr txBox="1"/>
          <p:nvPr/>
        </p:nvSpPr>
        <p:spPr>
          <a:xfrm>
            <a:off x="1126807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검수·출력</a:t>
            </a:r>
          </a:p>
        </p:txBody>
      </p:sp>
      <p:sp>
        <p:nvSpPr>
          <p:cNvPr id="26" name="flow-body-3"/>
          <p:cNvSpPr txBox="1"/>
          <p:nvPr/>
        </p:nvSpPr>
        <p:spPr>
          <a:xfrm>
            <a:off x="1126807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코드·로컬 검수</a:t>
            </a:r>
          </a:p>
          <a:p>
            <a:pPr eaLnBrk="0">
              <a:lnSpc>
                <a:spcPts val="2343"/>
              </a:lnSpc>
              <a:spcBef>
                <a:spcPts val="0"/>
              </a:spcBef>
              <a:spcAft>
                <a:spcPts val="0"/>
              </a:spcAft>
            </a:pPr>
            <a:r>
              <a:rPr sz="1875" b="0">
                <a:solidFill>
                  <a:srgbClr val="59636E"/>
                </a:solidFill>
                <a:latin typeface="Noto Sans KR"/>
              </a:rPr>
              <a:t>웹 · Word · PPT</a:t>
            </a:r>
          </a:p>
        </p:txBody>
      </p:sp>
      <p:sp>
        <p:nvSpPr>
          <p:cNvPr id="27" name="ml-boundary-rule"/>
          <p:cNvSpPr/>
          <p:nvPr/>
        </p:nvSpPr>
        <p:spPr>
          <a:xfrm>
            <a:off x="1009650" y="7620000"/>
            <a:ext cx="13220700" cy="190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l-boundary"/>
          <p:cNvSpPr txBox="1"/>
          <p:nvPr/>
        </p:nvSpPr>
        <p:spPr>
          <a:xfrm>
            <a:off x="1009650" y="7839075"/>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이 보고서: 3개 지표는 전년 동월 기준모델을 사용. ML은 관광지표를 예측하고, 사례·사업의 최종 선택은 문서와 LLM 판단으로 수행합니다.</a:t>
            </a:r>
          </a:p>
          <a:p>
            <a:pPr eaLnBrk="0">
              <a:lnSpc>
                <a:spcPts val="1968"/>
              </a:lnSpc>
              <a:spcBef>
                <a:spcPts val="0"/>
              </a:spcBef>
              <a:spcAft>
                <a:spcPts val="0"/>
              </a:spcAft>
            </a:pPr>
            <a:r>
              <a:rPr sz="1575" b="0">
                <a:solidFill>
                  <a:srgbClr val="59636E"/>
                </a:solidFill>
                <a:latin typeface="Noto Sans KR"/>
              </a:rPr>
              <a:t>7개 값으로 학습한 별도 사업 추천 모델은 아닙니다. 입력을 읽었다는 사실과 판단의 타당성은 구분합니다.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