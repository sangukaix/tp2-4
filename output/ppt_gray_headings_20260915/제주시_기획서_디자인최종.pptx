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0.19907317463907503,</a:t>
            </a:r>
          </a:p>
          <a:p xmlns:a="http://schemas.openxmlformats.org/drawingml/2006/main">
            <a:r>
              <a:t>        "target_rank": 87,</a:t>
            </a:r>
          </a:p>
          <a:p xmlns:a="http://schemas.openxmlformats.org/drawingml/2006/main">
            <a:r>
              <a:t>        "target": [</a:t>
            </a:r>
          </a:p>
          <a:p xmlns:a="http://schemas.openxmlformats.org/drawingml/2006/main">
            <a:r>
              <a:t>          3675313.033333333,</a:t>
            </a:r>
          </a:p>
          <a:p xmlns:a="http://schemas.openxmlformats.org/drawingml/2006/main">
            <a:r>
              <a:t>          3714120.3333333335,</a:t>
            </a:r>
          </a:p>
          <a:p xmlns:a="http://schemas.openxmlformats.org/drawingml/2006/main">
            <a:r>
              <a:t>          3539332.6500000004</a:t>
            </a:r>
          </a:p>
          <a:p xmlns:a="http://schemas.openxmlformats.org/drawingml/2006/main">
            <a:r>
              <a:t>        ],</a:t>
            </a:r>
          </a:p>
          <a:p xmlns:a="http://schemas.openxmlformats.org/drawingml/2006/main">
            <a:r>
              <a:t>        "additional": 348601.01666666754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2.9735354338785047,</a:t>
            </a:r>
          </a:p>
          <a:p xmlns:a="http://schemas.openxmlformats.org/drawingml/2006/main">
            <a:r>
              <a:t>        "target_rank": 68,</a:t>
            </a:r>
          </a:p>
          <a:p xmlns:a="http://schemas.openxmlformats.org/drawingml/2006/main">
            <a:r>
              <a:t>        "target": [</a:t>
            </a:r>
          </a:p>
          <a:p xmlns:a="http://schemas.openxmlformats.org/drawingml/2006/main">
            <a:r>
              <a:t>          152974857386.31665,</a:t>
            </a:r>
          </a:p>
          <a:p xmlns:a="http://schemas.openxmlformats.org/drawingml/2006/main">
            <a:r>
              <a:t>          149921311306.46667,</a:t>
            </a:r>
          </a:p>
          <a:p xmlns:a="http://schemas.openxmlformats.org/drawingml/2006/main">
            <a:r>
              <a:t>          156834971483.40002</a:t>
            </a:r>
          </a:p>
          <a:p xmlns:a="http://schemas.openxmlformats.org/drawingml/2006/main">
            <a:r>
              <a:t>        ],</a:t>
            </a:r>
          </a:p>
          <a:p xmlns:a="http://schemas.openxmlformats.org/drawingml/2006/main">
            <a:r>
              <a:t>        "additional": 14812287855.18335</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a:p>
            <a:r>
              <a:t>적용 공간 참고 사진(사업 참여 확정 아님): [{"source_id": "tour-api:130461", "source_type": "open_api", "title": "국립제주박물관", "content_id": "130461", "content_type_id": "14", "address": "제주특별자치도 제주시 일주동로 17 (건입동)", "source_url": "https://apis.data.go.kr/B551011/KorService2", "image_url": "https://tong.visitkorea.or.kr/cms/resource/63/3562163_image2_1.jpg"}, {"source_id": "tour-api:128641", "source_type": "open_api", "title": "제주목 관아", "content_id": "128641", "content_type_id": "12", "address": "제주특별자치도 제주시 관덕로 25", "source_url": "https://apis.data.go.kr/B551011/KorService2", "image_url": "https://tong.visitkorea.or.kr/cms/resource/65/4074265_image2_1.jpg"}]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8.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 Id="rId4" Type="http://schemas.openxmlformats.org/officeDocument/2006/relationships/image" Target="../media/image20.jpg"/><Relationship Id="rId5" Type="http://schemas.openxmlformats.org/officeDocument/2006/relationships/hyperlink" Target="https://apis.data.go.kr/B551011/KorService2" TargetMode="External"/><Relationship Id="rId6" Type="http://schemas.openxmlformats.org/officeDocument/2006/relationships/image" Target="../media/image21.jpg"/></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9.jpg"/><Relationship Id="rId4" Type="http://schemas.openxmlformats.org/officeDocument/2006/relationships/hyperlink" Target="https://apis.data.go.kr/B551011/KorService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 Id="rId14" Type="http://schemas.openxmlformats.org/officeDocument/2006/relationships/image" Target="../media/image25.png"/><Relationship Id="rId15" Type="http://schemas.openxmlformats.org/officeDocument/2006/relationships/image" Target="../media/image26.png"/><Relationship Id="rId16" Type="http://schemas.openxmlformats.org/officeDocument/2006/relationships/image" Target="../media/image27.png"/><Relationship Id="rId17" Type="http://schemas.openxmlformats.org/officeDocument/2006/relationships/image" Target="../media/image28.png"/><Relationship Id="rId18" Type="http://schemas.openxmlformats.org/officeDocument/2006/relationships/image" Target="../media/image29.png"/><Relationship Id="rId19" Type="http://schemas.openxmlformats.org/officeDocument/2006/relationships/image" Target="../media/image30.png"/><Relationship Id="rId20" Type="http://schemas.openxmlformats.org/officeDocument/2006/relationships/image" Target="../media/image31.png"/><Relationship Id="rId21" Type="http://schemas.openxmlformats.org/officeDocument/2006/relationships/image" Target="../media/image32.png"/><Relationship Id="rId22" Type="http://schemas.openxmlformats.org/officeDocument/2006/relationships/image" Target="../media/image33.png"/><Relationship Id="rId23" Type="http://schemas.openxmlformats.org/officeDocument/2006/relationships/image" Target="../media/image34.png"/><Relationship Id="rId24" Type="http://schemas.openxmlformats.org/officeDocument/2006/relationships/image" Target="../media/image35.png"/><Relationship Id="rId25" Type="http://schemas.openxmlformats.org/officeDocument/2006/relationships/image" Target="../media/image36.png"/><Relationship Id="rId26" Type="http://schemas.openxmlformats.org/officeDocument/2006/relationships/image" Target="../media/image37.png"/></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781050"/>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ribbon-light"/>
          <p:cNvSpPr/>
          <p:nvPr/>
        </p:nvSpPr>
        <p:spPr>
          <a:xfrm>
            <a:off x="4619625" y="1866900"/>
            <a:ext cx="4333875" cy="685800"/>
          </a:xfrm>
          <a:custGeom>
            <a:avLst/>
            <a:gdLst/>
            <a:ahLst/>
            <a:cxnLst/>
            <a:rect l="l" t="t" r="r" b="b"/>
            <a:pathLst>
              <a:path w="4333875" h="685800">
                <a:moveTo>
                  <a:pt x="0" y="685800"/>
                </a:moveTo>
                <a:lnTo>
                  <a:pt x="1076325" y="0"/>
                </a:lnTo>
                <a:lnTo>
                  <a:pt x="4333875" y="0"/>
                </a:lnTo>
                <a:lnTo>
                  <a:pt x="4333875" y="685800"/>
                </a:lnTo>
                <a:close/>
              </a:path>
            </a:pathLst>
          </a:custGeom>
          <a:solidFill>
            <a:srgbClr val="FA9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over-ribbon-pink"/>
          <p:cNvSpPr/>
          <p:nvPr/>
        </p:nvSpPr>
        <p:spPr>
          <a:xfrm>
            <a:off x="5334000" y="1866900"/>
            <a:ext cx="3619500" cy="685800"/>
          </a:xfrm>
          <a:custGeom>
            <a:avLst/>
            <a:gdLst/>
            <a:ahLst/>
            <a:cxnLst/>
            <a:rect l="l" t="t" r="r" b="b"/>
            <a:pathLst>
              <a:path w="3619500" h="685800">
                <a:moveTo>
                  <a:pt x="0" y="685800"/>
                </a:moveTo>
                <a:lnTo>
                  <a:pt x="1028700" y="0"/>
                </a:lnTo>
                <a:lnTo>
                  <a:pt x="3619500" y="0"/>
                </a:lnTo>
                <a:lnTo>
                  <a:pt x="3619500" y="685800"/>
                </a:lnTo>
                <a:close/>
              </a:path>
            </a:pathLst>
          </a:custGeom>
          <a:solidFill>
            <a:srgbClr val="F67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contents-rail"/>
          <p:cNvSpPr/>
          <p:nvPr/>
        </p:nvSpPr>
        <p:spPr>
          <a:xfrm>
            <a:off x="0" y="0"/>
            <a:ext cx="15240000" cy="8572500"/>
          </a:xfrm>
          <a:prstGeom prst="rect">
            <a:avLst/>
          </a:prstGeom>
          <a:gradFill rotWithShape="1">
            <a:gsLst>
              <a:gs pos="0">
                <a:srgbClr val="E7E9ED"/>
              </a:gs>
              <a:gs pos="100000">
                <a:srgbClr val="FAFAFB"/>
              </a:gs>
            </a:gsLst>
            <a:lin scaled="0" ang="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1009650" y="971550"/>
            <a:ext cx="3333750" cy="3238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CONTENTS</a:t>
            </a:r>
          </a:p>
        </p:txBody>
      </p:sp>
      <p:sp xmlns:a="http://schemas.openxmlformats.org/drawingml/2006/main">
        <p:nvSpPr>
          <p:cNvPr id="4" name="contents-ko"/>
          <p:cNvSpPr txBox="1"/>
          <p:nvPr/>
        </p:nvSpPr>
        <p:spPr>
          <a:xfrm>
            <a:off x="1009650" y="1409700"/>
            <a:ext cx="8572500" cy="714375"/>
          </a:xfrm>
          <a:prstGeom prst="rect">
            <a:avLst/>
          </a:prstGeom>
          <a:noFill/>
        </p:spPr>
        <p:txBody>
          <a:bodyPr wrap="none" lIns="57150" rIns="57150" tIns="38100" bIns="38100" anchor="t">
            <a:noAutofit/>
          </a:bodyPr>
          <a:lstStyle/>
          <a:p>
            <a:pPr eaLnBrk="0">
              <a:lnSpc>
                <a:spcPts val="3937"/>
              </a:lnSpc>
              <a:spcBef>
                <a:spcPts val="0"/>
              </a:spcBef>
              <a:spcAft>
                <a:spcPts val="0"/>
              </a:spcAft>
            </a:pPr>
            <a:r>
              <a:rPr sz="3150" b="1">
                <a:solidFill>
                  <a:srgbClr val="202124"/>
                </a:solidFill>
                <a:latin typeface="Noto Sans KR"/>
              </a:rPr>
              <a:t>목차</a:t>
            </a:r>
          </a:p>
        </p:txBody>
      </p:sp>
      <p:sp xmlns:a="http://schemas.openxmlformats.org/drawingml/2006/main">
        <p:nvSpPr>
          <p:cNvPr id="5" name="contents-short-rule"/>
          <p:cNvSpPr/>
          <p:nvPr/>
        </p:nvSpPr>
        <p:spPr>
          <a:xfrm>
            <a:off x="1066800" y="2324100"/>
            <a:ext cx="552450"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top-brand"/>
          <p:cNvSpPr txBox="1"/>
          <p:nvPr/>
        </p:nvSpPr>
        <p:spPr>
          <a:xfrm>
            <a:off x="1009650" y="7610475"/>
            <a:ext cx="11430000" cy="400050"/>
          </a:xfrm>
          <a:prstGeom prst="rect">
            <a:avLst/>
          </a:prstGeom>
          <a:noFill/>
        </p:spPr>
        <p:txBody>
          <a:bodyPr wrap="none" lIns="57150" rIns="57150" tIns="38100" bIns="38100" anchor="t">
            <a:noAutofit/>
          </a:bodyPr>
          <a:lstStyle/>
          <a:p>
            <a:pPr eaLnBrk="0">
              <a:lnSpc>
                <a:spcPts val="1593"/>
              </a:lnSpc>
              <a:spcBef>
                <a:spcPts val="0"/>
              </a:spcBef>
              <a:spcAft>
                <a:spcPts val="0"/>
              </a:spcAft>
            </a:pPr>
            <a:r>
              <a:rPr sz="1275" b="0">
                <a:solidFill>
                  <a:srgbClr val="495565"/>
                </a:solidFill>
                <a:latin typeface="Noto Sans KR"/>
              </a:rPr>
              <a:t>제주특별자치도 제주시 관광 전략기획안</a:t>
            </a:r>
          </a:p>
        </p:txBody>
      </p:sp>
      <p:sp xmlns:a="http://schemas.openxmlformats.org/drawingml/2006/main">
        <p:nvSpPr>
          <p:cNvPr id="7" name="toc-0-number"/>
          <p:cNvSpPr txBox="1"/>
          <p:nvPr/>
        </p:nvSpPr>
        <p:spPr>
          <a:xfrm>
            <a:off x="1009650"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0</a:t>
            </a:r>
          </a:p>
        </p:txBody>
      </p:sp>
      <p:sp xmlns:a="http://schemas.openxmlformats.org/drawingml/2006/main">
        <p:nvSpPr>
          <p:cNvPr id="8" name="toc-0-label"/>
          <p:cNvSpPr txBox="1"/>
          <p:nvPr/>
        </p:nvSpPr>
        <p:spPr>
          <a:xfrm>
            <a:off x="1657350"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개요</a:t>
            </a:r>
          </a:p>
        </p:txBody>
      </p:sp>
      <p:sp xmlns:a="http://schemas.openxmlformats.org/drawingml/2006/main">
        <p:nvSpPr>
          <p:cNvPr id="9" name="contents-rule-0"/>
          <p:cNvSpPr/>
          <p:nvPr/>
        </p:nvSpPr>
        <p:spPr>
          <a:xfrm>
            <a:off x="1066800"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toc-1-number"/>
          <p:cNvSpPr txBox="1"/>
          <p:nvPr/>
        </p:nvSpPr>
        <p:spPr>
          <a:xfrm>
            <a:off x="1009650"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1</a:t>
            </a:r>
          </a:p>
        </p:txBody>
      </p:sp>
      <p:sp xmlns:a="http://schemas.openxmlformats.org/drawingml/2006/main">
        <p:nvSpPr>
          <p:cNvPr id="11" name="toc-1-label"/>
          <p:cNvSpPr txBox="1"/>
          <p:nvPr/>
        </p:nvSpPr>
        <p:spPr>
          <a:xfrm>
            <a:off x="1657350"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지역별 사례와 실적</a:t>
            </a:r>
          </a:p>
        </p:txBody>
      </p:sp>
      <p:sp xmlns:a="http://schemas.openxmlformats.org/drawingml/2006/main">
        <p:nvSpPr>
          <p:cNvPr id="12" name="contents-rule-1"/>
          <p:cNvSpPr/>
          <p:nvPr/>
        </p:nvSpPr>
        <p:spPr>
          <a:xfrm>
            <a:off x="1066800"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toc-2-number"/>
          <p:cNvSpPr txBox="1"/>
          <p:nvPr/>
        </p:nvSpPr>
        <p:spPr>
          <a:xfrm>
            <a:off x="1009650"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2</a:t>
            </a:r>
          </a:p>
        </p:txBody>
      </p:sp>
      <p:sp xmlns:a="http://schemas.openxmlformats.org/drawingml/2006/main">
        <p:nvSpPr>
          <p:cNvPr id="14" name="toc-2-label"/>
          <p:cNvSpPr txBox="1"/>
          <p:nvPr/>
        </p:nvSpPr>
        <p:spPr>
          <a:xfrm>
            <a:off x="1657350"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사업 목표와 KPI 산출근거</a:t>
            </a:r>
          </a:p>
        </p:txBody>
      </p:sp>
      <p:sp xmlns:a="http://schemas.openxmlformats.org/drawingml/2006/main">
        <p:nvSpPr>
          <p:cNvPr id="15" name="contents-rule-2"/>
          <p:cNvSpPr/>
          <p:nvPr/>
        </p:nvSpPr>
        <p:spPr>
          <a:xfrm>
            <a:off x="1066800"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toc-3-number"/>
          <p:cNvSpPr txBox="1"/>
          <p:nvPr/>
        </p:nvSpPr>
        <p:spPr>
          <a:xfrm>
            <a:off x="1009650" y="588645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3</a:t>
            </a:r>
          </a:p>
        </p:txBody>
      </p:sp>
      <p:sp xmlns:a="http://schemas.openxmlformats.org/drawingml/2006/main">
        <p:nvSpPr>
          <p:cNvPr id="17" name="toc-3-label"/>
          <p:cNvSpPr txBox="1"/>
          <p:nvPr/>
        </p:nvSpPr>
        <p:spPr>
          <a:xfrm>
            <a:off x="1657350" y="589597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지역 적용과 실행</a:t>
            </a:r>
          </a:p>
        </p:txBody>
      </p:sp>
      <p:sp xmlns:a="http://schemas.openxmlformats.org/drawingml/2006/main">
        <p:nvSpPr>
          <p:cNvPr id="18" name="contents-rule-3"/>
          <p:cNvSpPr/>
          <p:nvPr/>
        </p:nvSpPr>
        <p:spPr>
          <a:xfrm>
            <a:off x="1066800" y="654367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toc-4-number"/>
          <p:cNvSpPr txBox="1"/>
          <p:nvPr/>
        </p:nvSpPr>
        <p:spPr>
          <a:xfrm>
            <a:off x="8239125" y="300037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4</a:t>
            </a:r>
          </a:p>
        </p:txBody>
      </p:sp>
      <p:sp xmlns:a="http://schemas.openxmlformats.org/drawingml/2006/main">
        <p:nvSpPr>
          <p:cNvPr id="20" name="toc-4-label"/>
          <p:cNvSpPr txBox="1"/>
          <p:nvPr/>
        </p:nvSpPr>
        <p:spPr>
          <a:xfrm>
            <a:off x="8886825" y="300990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견적 예시안</a:t>
            </a:r>
          </a:p>
        </p:txBody>
      </p:sp>
      <p:sp xmlns:a="http://schemas.openxmlformats.org/drawingml/2006/main">
        <p:nvSpPr>
          <p:cNvPr id="21" name="contents-rule-4"/>
          <p:cNvSpPr/>
          <p:nvPr/>
        </p:nvSpPr>
        <p:spPr>
          <a:xfrm>
            <a:off x="8296275" y="365760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toc-5-number"/>
          <p:cNvSpPr txBox="1"/>
          <p:nvPr/>
        </p:nvSpPr>
        <p:spPr>
          <a:xfrm>
            <a:off x="8239125" y="3962400"/>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5</a:t>
            </a:r>
          </a:p>
        </p:txBody>
      </p:sp>
      <p:sp xmlns:a="http://schemas.openxmlformats.org/drawingml/2006/main">
        <p:nvSpPr>
          <p:cNvPr id="23" name="toc-5-label"/>
          <p:cNvSpPr txBox="1"/>
          <p:nvPr/>
        </p:nvSpPr>
        <p:spPr>
          <a:xfrm>
            <a:off x="8886825" y="3971925"/>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기획서 생성 과정</a:t>
            </a:r>
          </a:p>
        </p:txBody>
      </p:sp>
      <p:sp xmlns:a="http://schemas.openxmlformats.org/drawingml/2006/main">
        <p:nvSpPr>
          <p:cNvPr id="24" name="contents-rule-5"/>
          <p:cNvSpPr/>
          <p:nvPr/>
        </p:nvSpPr>
        <p:spPr>
          <a:xfrm>
            <a:off x="8296275" y="4619625"/>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toc-6-number"/>
          <p:cNvSpPr txBox="1"/>
          <p:nvPr/>
        </p:nvSpPr>
        <p:spPr>
          <a:xfrm>
            <a:off x="8239125" y="4924425"/>
            <a:ext cx="476250" cy="4381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6</a:t>
            </a:r>
          </a:p>
        </p:txBody>
      </p:sp>
      <p:sp xmlns:a="http://schemas.openxmlformats.org/drawingml/2006/main">
        <p:nvSpPr>
          <p:cNvPr id="26" name="toc-6-label"/>
          <p:cNvSpPr txBox="1"/>
          <p:nvPr/>
        </p:nvSpPr>
        <p:spPr>
          <a:xfrm>
            <a:off x="8886825" y="4933950"/>
            <a:ext cx="5381625" cy="4572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0">
                <a:solidFill>
                  <a:srgbClr val="202124"/>
                </a:solidFill>
                <a:latin typeface="Noto Sans KR"/>
              </a:rPr>
              <a:t>근거·데이터·출처</a:t>
            </a:r>
          </a:p>
        </p:txBody>
      </p:sp>
      <p:sp xmlns:a="http://schemas.openxmlformats.org/drawingml/2006/main">
        <p:nvSpPr>
          <p:cNvPr id="27" name="contents-rule-6"/>
          <p:cNvSpPr/>
          <p:nvPr/>
        </p:nvSpPr>
        <p:spPr>
          <a:xfrm>
            <a:off x="8296275" y="5581650"/>
            <a:ext cx="5829300" cy="9525"/>
          </a:xfrm>
          <a:prstGeom prst="rect">
            <a:avLst/>
          </a:prstGeom>
          <a:solidFill>
            <a:srgbClr val="CDD2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t">
            <a:noAutofit/>
          </a:bodyPr>
          <a:lstStyle/>
          <a:p>
            <a:pPr eaLnBrk="0" algn="l">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개요</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03 / 15</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a:t>
            </a:r>
          </a:p>
          <a:p>
            <a:pPr eaLnBrk="0">
              <a:lnSpc>
                <a:spcPts val="2156"/>
              </a:lnSpc>
              <a:spcBef>
                <a:spcPts val="0"/>
              </a:spcBef>
              <a:spcAft>
                <a:spcPts val="0"/>
              </a:spcAft>
            </a:pPr>
            <a:r>
              <a:rPr sz="1725" b="0">
                <a:solidFill>
                  <a:srgbClr val="202124"/>
                </a:solidFill>
                <a:latin typeface="Noto Sans KR"/>
              </a:rPr>
              <a:t>기존 시설을 활용하여 야간 개방 및 체험</a:t>
            </a:r>
          </a:p>
          <a:p>
            <a:pPr eaLnBrk="0">
              <a:lnSpc>
                <a:spcPts val="2156"/>
              </a:lnSpc>
              <a:spcBef>
                <a:spcPts val="0"/>
              </a:spcBef>
              <a:spcAft>
                <a:spcPts val="0"/>
              </a:spcAft>
            </a:pPr>
            <a:r>
              <a:rPr sz="1725" b="0">
                <a:solidFill>
                  <a:srgbClr val="202124"/>
                </a:solidFill>
                <a:latin typeface="Noto Sans KR"/>
              </a:rPr>
              <a:t>프로그램을 확대 운영</a:t>
            </a:r>
          </a:p>
        </p:txBody>
      </p:sp>
      <p:sp xmlns:a="http://schemas.openxmlformats.org/drawingml/2006/main">
        <p:nvSpPr>
          <p:cNvPr id="8" name="block-1"/>
          <p:cNvSpPr/>
          <p:nvPr/>
        </p:nvSpPr>
        <p:spPr>
          <a:xfrm>
            <a:off x="548640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2026-10 ~ 2026-12, 3개월</a:t>
            </a:r>
          </a:p>
          <a:p>
            <a:pPr eaLnBrk="0">
              <a:lnSpc>
                <a:spcPts val="2156"/>
              </a:lnSpc>
              <a:spcBef>
                <a:spcPts val="0"/>
              </a:spcBef>
              <a:spcAft>
                <a:spcPts val="0"/>
              </a:spcAft>
            </a:pPr>
            <a:r>
              <a:rPr sz="1725" b="0">
                <a:solidFill>
                  <a:srgbClr val="202124"/>
                </a:solidFill>
                <a:latin typeface="Noto Sans KR"/>
              </a:rPr>
              <a:t>준비·협의 → 시범 운영 → 성과 확인</a:t>
            </a:r>
          </a:p>
        </p:txBody>
      </p:sp>
      <p:sp xmlns:a="http://schemas.openxmlformats.org/drawingml/2006/main">
        <p:nvSpPr>
          <p:cNvPr id="12" name="block-2"/>
          <p:cNvSpPr/>
          <p:nvPr/>
        </p:nvSpPr>
        <p:spPr>
          <a:xfrm>
            <a:off x="9963150" y="2447925"/>
            <a:ext cx="4267200" cy="16192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590800"/>
            <a:ext cx="39433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3009900"/>
            <a:ext cx="3943350" cy="9906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3개월 월별 합계</a:t>
            </a:r>
          </a:p>
          <a:p>
            <a:pPr eaLnBrk="0">
              <a:lnSpc>
                <a:spcPts val="2156"/>
              </a:lnSpc>
              <a:spcBef>
                <a:spcPts val="0"/>
              </a:spcBef>
              <a:spcAft>
                <a:spcPts val="0"/>
              </a:spcAft>
            </a:pPr>
            <a:r>
              <a:rPr sz="1725" b="0">
                <a:solidFill>
                  <a:srgbClr val="202124"/>
                </a:solidFill>
                <a:latin typeface="Noto Sans KR"/>
              </a:rPr>
              <a:t>방문자 1,093만 명</a:t>
            </a:r>
          </a:p>
          <a:p>
            <a:pPr eaLnBrk="0">
              <a:lnSpc>
                <a:spcPts val="2156"/>
              </a:lnSpc>
              <a:spcBef>
                <a:spcPts val="0"/>
              </a:spcBef>
              <a:spcAft>
                <a:spcPts val="0"/>
              </a:spcAft>
            </a:pPr>
            <a:r>
              <a:rPr sz="1725" b="0">
                <a:solidFill>
                  <a:srgbClr val="202124"/>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06 / 15</a:t>
            </a:r>
          </a:p>
        </p:txBody>
      </p:sp>
      <p:sp xmlns:a="http://schemas.openxmlformats.org/drawingml/2006/main">
        <p:nvSpPr>
          <p:cNvPr id="34" name="business-goal-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3개월간 ML 전망 대비 방문자 +3.29%, 관광소비액 +3.33%를 목표로 합니다.</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2600" b="1">
                <a:solidFill>
                  <a:srgbClr val="202124"/>
                </a:solidFill>
                <a:latin typeface="Century Gothic"/>
                <a:ea typeface="맑은 고딕"/>
              </a:rPr>
              <a:t>1.1 지역별 참고 사례</a:t>
            </a:r>
          </a:p>
        </p:txBody>
      </p:sp>
      <p:sp xmlns:a="http://schemas.openxmlformats.org/drawingml/2006/main">
        <p:nvSpPr>
          <p:cNvPr id="5" name="case-panel-0"/>
          <p:cNvSpPr/>
          <p:nvPr/>
        </p:nvSpPr>
        <p:spPr>
          <a:xfrm>
            <a:off x="10096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01</a:t>
            </a:r>
          </a:p>
        </p:txBody>
      </p:sp>
      <p:sp xmlns:a="http://schemas.openxmlformats.org/drawingml/2006/main">
        <p:nvSpPr>
          <p:cNvPr id="7" name="case-badge-0"/>
          <p:cNvSpPr txBox="1"/>
          <p:nvPr/>
        </p:nvSpPr>
        <p:spPr>
          <a:xfrm>
            <a:off x="1952625" y="224790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FFFFF"/>
                </a:solidFill>
                <a:latin typeface="Century Gothic"/>
                <a:ea typeface="맑은 고딕"/>
              </a:rPr>
              <a:t>적용 사례</a:t>
            </a:r>
          </a:p>
        </p:txBody>
      </p:sp>
      <p:sp xmlns:a="http://schemas.openxmlformats.org/drawingml/2006/main">
        <p:nvSpPr>
          <p:cNvPr id="8" name="case-selected-tick-0"/>
          <p:cNvSpPr/>
          <p:nvPr/>
        </p:nvSpPr>
        <p:spPr>
          <a:xfrm>
            <a:off x="4486275" y="228600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27647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서울특별시 문화유산 집적지역 · 기존</a:t>
            </a:r>
          </a:p>
          <a:p>
            <a:pPr eaLnBrk="0">
              <a:lnSpc>
                <a:spcPts val="2125"/>
              </a:lnSpc>
              <a:spcBef>
                <a:spcPts val="0"/>
              </a:spcBef>
              <a:spcAft>
                <a:spcPts val="0"/>
              </a:spcAft>
            </a:pPr>
            <a:r>
              <a:rPr sz="1700" b="1">
                <a:solidFill>
                  <a:srgbClr val="202124"/>
                </a:solidFill>
                <a:latin typeface="Century Gothic"/>
                <a:ea typeface="맑은 고딕"/>
              </a:rPr>
              <a:t>문화유산을 활용한 야간</a:t>
            </a:r>
          </a:p>
          <a:p>
            <a:pPr eaLnBrk="0">
              <a:lnSpc>
                <a:spcPts val="2125"/>
              </a:lnSpc>
              <a:spcBef>
                <a:spcPts val="0"/>
              </a:spcBef>
              <a:spcAft>
                <a:spcPts val="0"/>
              </a:spcAft>
            </a:pPr>
            <a:r>
              <a:rPr sz="1700" b="1">
                <a:solidFill>
                  <a:srgbClr val="202124"/>
                </a:solidFill>
                <a:latin typeface="Century Gothic"/>
                <a:ea typeface="맑은 고딕"/>
              </a:rPr>
              <a:t>개방·체험 프로그램</a:t>
            </a:r>
          </a:p>
        </p:txBody>
      </p:sp>
      <p:sp xmlns:a="http://schemas.openxmlformats.org/drawingml/2006/main">
        <p:nvSpPr>
          <p:cNvPr id="11" name="case-body-0"/>
          <p:cNvSpPr txBox="1"/>
          <p:nvPr/>
        </p:nvSpPr>
        <p:spPr>
          <a:xfrm>
            <a:off x="12382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문화유산이 모인 거점을 중심으로 야간 개방,</a:t>
            </a:r>
          </a:p>
          <a:p>
            <a:pPr eaLnBrk="0">
              <a:lnSpc>
                <a:spcPts val="1875"/>
              </a:lnSpc>
              <a:spcBef>
                <a:spcPts val="0"/>
              </a:spcBef>
              <a:spcAft>
                <a:spcPts val="0"/>
              </a:spcAft>
            </a:pPr>
            <a:r>
              <a:rPr sz="1500" b="0">
                <a:solidFill>
                  <a:srgbClr val="62666C"/>
                </a:solidFill>
                <a:latin typeface="Century Gothic"/>
                <a:ea typeface="맑은 고딕"/>
              </a:rPr>
              <a:t>해설, 공연과 체험프로그램을 구성하고</a:t>
            </a:r>
          </a:p>
          <a:p>
            <a:pPr eaLnBrk="0">
              <a:lnSpc>
                <a:spcPts val="1875"/>
              </a:lnSpc>
              <a:spcBef>
                <a:spcPts val="0"/>
              </a:spcBef>
              <a:spcAft>
                <a:spcPts val="0"/>
              </a:spcAft>
            </a:pPr>
            <a:r>
              <a:rPr sz="1500" b="0">
                <a:solidFill>
                  <a:srgbClr val="62666C"/>
                </a:solidFill>
                <a:latin typeface="Century Gothic"/>
                <a:ea typeface="맑은 고딕"/>
              </a:rPr>
              <a:t>국비와 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457825"/>
            <a:ext cx="2578195" cy="1714500"/>
          </a:xfrm>
          <a:prstGeom prst="rect">
            <a:avLst/>
          </a:prstGeom>
        </p:spPr>
      </p:pic>
      <p:sp xmlns:a="http://schemas.openxmlformats.org/drawingml/2006/main">
        <p:nvSpPr>
          <p:cNvPr id="13" name="case-image-caption-0"/>
          <p:cNvSpPr txBox="1"/>
          <p:nvPr/>
        </p:nvSpPr>
        <p:spPr>
          <a:xfrm>
            <a:off x="12382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0="http://schemas.openxmlformats.org/officeDocument/2006/relationships" ns0:id="rId5"/>
                <a:ea typeface="맑은 고딕"/>
              </a:rPr>
              <a:t>서울 중구 정동 · 정동야행 행사 사진</a:t>
            </a:r>
          </a:p>
          <a:p>
            <a:pPr eaLnBrk="0">
              <a:lnSpc>
                <a:spcPts val="1500"/>
              </a:lnSpc>
              <a:spcBef>
                <a:spcPts val="0"/>
              </a:spcBef>
              <a:spcAft>
                <a:spcPts val="0"/>
              </a:spcAft>
            </a:pPr>
            <a:r>
              <a:rPr sz="1050" b="0" u="none">
                <a:solidFill>
                  <a:srgbClr val="62666C"/>
                </a:solidFill>
                <a:latin typeface="Century Gothic"/>
                <a:hlinkClick xmlns:ns1="http://schemas.openxmlformats.org/officeDocument/2006/relationships" ns1:id="rId5"/>
                <a:ea typeface="맑은 고딕"/>
              </a:rPr>
              <a:t>출처: 서울문화포털 · 2024 정동야행</a:t>
            </a:r>
          </a:p>
        </p:txBody>
      </p:sp>
      <p:sp xmlns:a="http://schemas.openxmlformats.org/drawingml/2006/main">
        <p:nvSpPr>
          <p:cNvPr id="14" name="case-source-0"/>
          <p:cNvSpPr txBox="1"/>
          <p:nvPr/>
        </p:nvSpPr>
        <p:spPr>
          <a:xfrm>
            <a:off x="12382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2="http://schemas.openxmlformats.org/officeDocument/2006/relationships" ns2:id="rId6"/>
                <a:ea typeface="맑은 고딕"/>
              </a:rPr>
              <a:t>사업 원문 보기 ↗</a:t>
            </a:r>
          </a:p>
        </p:txBody>
      </p:sp>
      <p:sp xmlns:a="http://schemas.openxmlformats.org/drawingml/2006/main">
        <p:nvSpPr>
          <p:cNvPr id="15" name="case-panel-1"/>
          <p:cNvSpPr/>
          <p:nvPr/>
        </p:nvSpPr>
        <p:spPr>
          <a:xfrm>
            <a:off x="55054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02</a:t>
            </a:r>
          </a:p>
        </p:txBody>
      </p:sp>
      <p:sp xmlns:a="http://schemas.openxmlformats.org/drawingml/2006/main">
        <p:nvSpPr>
          <p:cNvPr id="17" name="case-badge-1"/>
          <p:cNvSpPr txBox="1"/>
          <p:nvPr/>
        </p:nvSpPr>
        <p:spPr>
          <a:xfrm>
            <a:off x="64484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18" name="case-title-1"/>
          <p:cNvSpPr txBox="1"/>
          <p:nvPr/>
        </p:nvSpPr>
        <p:spPr>
          <a:xfrm>
            <a:off x="57340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전라남도 강진군 · 반값여행 지역환급</a:t>
            </a:r>
          </a:p>
        </p:txBody>
      </p:sp>
      <p:sp xmlns:a="http://schemas.openxmlformats.org/drawingml/2006/main">
        <p:nvSpPr>
          <p:cNvPr id="19" name="case-body-1"/>
          <p:cNvSpPr txBox="1"/>
          <p:nvPr/>
        </p:nvSpPr>
        <p:spPr>
          <a:xfrm>
            <a:off x="57340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여행자가 지역에서 지출한 비용의 일부를</a:t>
            </a:r>
          </a:p>
          <a:p>
            <a:pPr eaLnBrk="0">
              <a:lnSpc>
                <a:spcPts val="1875"/>
              </a:lnSpc>
              <a:spcBef>
                <a:spcPts val="0"/>
              </a:spcBef>
              <a:spcAft>
                <a:spcPts val="0"/>
              </a:spcAft>
            </a:pPr>
            <a:r>
              <a:rPr sz="1500" b="0">
                <a:solidFill>
                  <a:srgbClr val="62666C"/>
                </a:solidFill>
                <a:latin typeface="Century Gothic"/>
                <a:ea typeface="맑은 고딕"/>
              </a:rPr>
              <a:t>지역상품권으로 돌려받게 하여 혜택이 다시</a:t>
            </a:r>
          </a:p>
          <a:p>
            <a:pPr eaLnBrk="0">
              <a:lnSpc>
                <a:spcPts val="1875"/>
              </a:lnSpc>
              <a:spcBef>
                <a:spcPts val="0"/>
              </a:spcBef>
              <a:spcAft>
                <a:spcPts val="0"/>
              </a:spcAft>
            </a:pPr>
            <a:r>
              <a:rPr sz="1500" b="0">
                <a:solidFill>
                  <a:srgbClr val="62666C"/>
                </a:solidFill>
                <a:latin typeface="Century Gothic"/>
                <a:ea typeface="맑은 고딕"/>
              </a:rPr>
              <a:t>지역 상점에서 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457825"/>
            <a:ext cx="3211126" cy="1714500"/>
          </a:xfrm>
          <a:prstGeom prst="rect">
            <a:avLst/>
          </a:prstGeom>
        </p:spPr>
      </p:pic>
      <p:sp xmlns:a="http://schemas.openxmlformats.org/drawingml/2006/main">
        <p:nvSpPr>
          <p:cNvPr id="21" name="case-image-caption-1"/>
          <p:cNvSpPr txBox="1"/>
          <p:nvPr/>
        </p:nvSpPr>
        <p:spPr>
          <a:xfrm>
            <a:off x="57340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3="http://schemas.openxmlformats.org/officeDocument/2006/relationships" ns3:id="rId8"/>
                <a:ea typeface="맑은 고딕"/>
              </a:rPr>
              <a:t>강진군 · 반값여행 공식 홍보물</a:t>
            </a:r>
          </a:p>
          <a:p>
            <a:pPr eaLnBrk="0">
              <a:lnSpc>
                <a:spcPts val="1500"/>
              </a:lnSpc>
              <a:spcBef>
                <a:spcPts val="0"/>
              </a:spcBef>
              <a:spcAft>
                <a:spcPts val="0"/>
              </a:spcAft>
            </a:pPr>
            <a:r>
              <a:rPr sz="1050" b="0" u="none">
                <a:solidFill>
                  <a:srgbClr val="62666C"/>
                </a:solidFill>
                <a:latin typeface="Century Gothic"/>
                <a:hlinkClick xmlns:ns4="http://schemas.openxmlformats.org/officeDocument/2006/relationships" ns4:id="rId8"/>
                <a:ea typeface="맑은 고딕"/>
              </a:rPr>
              <a:t>출처: 강진 반값여행 공식 홈페이지</a:t>
            </a:r>
          </a:p>
        </p:txBody>
      </p:sp>
      <p:sp xmlns:a="http://schemas.openxmlformats.org/drawingml/2006/main">
        <p:nvSpPr>
          <p:cNvPr id="22" name="case-source-1"/>
          <p:cNvSpPr txBox="1"/>
          <p:nvPr/>
        </p:nvSpPr>
        <p:spPr>
          <a:xfrm>
            <a:off x="57340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5="http://schemas.openxmlformats.org/officeDocument/2006/relationships" ns5:id="rId9"/>
                <a:ea typeface="맑은 고딕"/>
              </a:rPr>
              <a:t>사업 원문 보기 ↗</a:t>
            </a:r>
          </a:p>
        </p:txBody>
      </p:sp>
      <p:sp xmlns:a="http://schemas.openxmlformats.org/drawingml/2006/main">
        <p:nvSpPr>
          <p:cNvPr id="23" name="case-panel-2"/>
          <p:cNvSpPr/>
          <p:nvPr/>
        </p:nvSpPr>
        <p:spPr>
          <a:xfrm>
            <a:off x="10001250" y="2057400"/>
            <a:ext cx="4229100" cy="6238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23837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000" b="1">
                <a:solidFill>
                  <a:srgbClr val="36A69C"/>
                </a:solidFill>
                <a:latin typeface="Century Gothic"/>
                <a:ea typeface="맑은 고딕"/>
              </a:rPr>
              <a:t>03</a:t>
            </a:r>
          </a:p>
        </p:txBody>
      </p:sp>
      <p:sp xmlns:a="http://schemas.openxmlformats.org/drawingml/2006/main">
        <p:nvSpPr>
          <p:cNvPr id="25" name="case-badge-2"/>
          <p:cNvSpPr txBox="1"/>
          <p:nvPr/>
        </p:nvSpPr>
        <p:spPr>
          <a:xfrm>
            <a:off x="10944225" y="224790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700" b="1">
                <a:solidFill>
                  <a:srgbClr val="F50045"/>
                </a:solidFill>
                <a:latin typeface="Century Gothic"/>
                <a:ea typeface="맑은 고딕"/>
              </a:rPr>
              <a:t>후보 사례</a:t>
            </a:r>
          </a:p>
        </p:txBody>
      </p:sp>
      <p:sp xmlns:a="http://schemas.openxmlformats.org/drawingml/2006/main">
        <p:nvSpPr>
          <p:cNvPr id="26" name="case-title-2"/>
          <p:cNvSpPr txBox="1"/>
          <p:nvPr/>
        </p:nvSpPr>
        <p:spPr>
          <a:xfrm>
            <a:off x="10229850" y="2886075"/>
            <a:ext cx="3771900" cy="1028700"/>
          </a:xfrm>
          <a:prstGeom prst="rect">
            <a:avLst/>
          </a:prstGeom>
          <a:noFill/>
        </p:spPr>
        <p:txBody>
          <a:bodyPr wrap="none" lIns="57150" rIns="57150" tIns="38100" bIns="38100" anchor="t">
            <a:noAutofit/>
          </a:bodyPr>
          <a:lstStyle/>
          <a:p>
            <a:pPr eaLnBrk="0">
              <a:lnSpc>
                <a:spcPts val="2125"/>
              </a:lnSpc>
              <a:spcBef>
                <a:spcPts val="0"/>
              </a:spcBef>
              <a:spcAft>
                <a:spcPts val="0"/>
              </a:spcAft>
            </a:pPr>
            <a:r>
              <a:rPr sz="1700" b="1">
                <a:solidFill>
                  <a:srgbClr val="202124"/>
                </a:solidFill>
                <a:latin typeface="Century Gothic"/>
                <a:ea typeface="맑은 고딕"/>
              </a:rPr>
              <a:t>전국 인구감소지역 34곳 · 디지털</a:t>
            </a:r>
          </a:p>
          <a:p>
            <a:pPr eaLnBrk="0">
              <a:lnSpc>
                <a:spcPts val="2125"/>
              </a:lnSpc>
              <a:spcBef>
                <a:spcPts val="0"/>
              </a:spcBef>
              <a:spcAft>
                <a:spcPts val="0"/>
              </a:spcAft>
            </a:pPr>
            <a:r>
              <a:rPr sz="1700" b="1">
                <a:solidFill>
                  <a:srgbClr val="202124"/>
                </a:solidFill>
                <a:latin typeface="Century Gothic"/>
                <a:ea typeface="맑은 고딕"/>
              </a:rPr>
              <a:t>관광주민증과 교통·숙박·상점</a:t>
            </a:r>
          </a:p>
          <a:p>
            <a:pPr eaLnBrk="0">
              <a:lnSpc>
                <a:spcPts val="2125"/>
              </a:lnSpc>
              <a:spcBef>
                <a:spcPts val="0"/>
              </a:spcBef>
              <a:spcAft>
                <a:spcPts val="0"/>
              </a:spcAft>
            </a:pPr>
            <a:r>
              <a:rPr sz="1700" b="1">
                <a:solidFill>
                  <a:srgbClr val="202124"/>
                </a:solidFill>
                <a:latin typeface="Century Gothic"/>
                <a:ea typeface="맑은 고딕"/>
              </a:rPr>
              <a:t>할인 결합</a:t>
            </a:r>
          </a:p>
        </p:txBody>
      </p:sp>
      <p:sp xmlns:a="http://schemas.openxmlformats.org/drawingml/2006/main">
        <p:nvSpPr>
          <p:cNvPr id="27" name="case-body-2"/>
          <p:cNvSpPr txBox="1"/>
          <p:nvPr/>
        </p:nvSpPr>
        <p:spPr>
          <a:xfrm>
            <a:off x="10229850" y="4076700"/>
            <a:ext cx="3771900" cy="13620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Century Gothic"/>
                <a:ea typeface="맑은 고딕"/>
              </a:rPr>
              <a:t>디지털 관광주민증 참여업체 현장 인증과</a:t>
            </a:r>
          </a:p>
          <a:p>
            <a:pPr eaLnBrk="0">
              <a:lnSpc>
                <a:spcPts val="1875"/>
              </a:lnSpc>
              <a:spcBef>
                <a:spcPts val="0"/>
              </a:spcBef>
              <a:spcAft>
                <a:spcPts val="0"/>
              </a:spcAft>
            </a:pPr>
            <a:r>
              <a:rPr sz="1500" b="0">
                <a:solidFill>
                  <a:srgbClr val="62666C"/>
                </a:solidFill>
                <a:latin typeface="Century Gothic"/>
                <a:ea typeface="맑은 고딕"/>
              </a:rPr>
              <a:t>숙박·식음·관람·체험 할인, 특정 시간대 KTX</a:t>
            </a:r>
          </a:p>
          <a:p>
            <a:pPr eaLnBrk="0">
              <a:lnSpc>
                <a:spcPts val="1875"/>
              </a:lnSpc>
              <a:spcBef>
                <a:spcPts val="0"/>
              </a:spcBef>
              <a:spcAft>
                <a:spcPts val="0"/>
              </a:spcAft>
            </a:pPr>
            <a:r>
              <a:rPr sz="1500" b="0">
                <a:solidFill>
                  <a:srgbClr val="62666C"/>
                </a:solidFill>
                <a:latin typeface="Century Gothic"/>
                <a:ea typeface="맑은 고딕"/>
              </a:rPr>
              <a:t>할인과 방문 후 교통 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457825"/>
            <a:ext cx="1371600" cy="1714500"/>
          </a:xfrm>
          <a:prstGeom prst="rect">
            <a:avLst/>
          </a:prstGeom>
        </p:spPr>
      </p:pic>
      <p:sp xmlns:a="http://schemas.openxmlformats.org/drawingml/2006/main">
        <p:nvSpPr>
          <p:cNvPr id="29" name="case-image-caption-2"/>
          <p:cNvSpPr txBox="1"/>
          <p:nvPr/>
        </p:nvSpPr>
        <p:spPr>
          <a:xfrm>
            <a:off x="10229850" y="7353300"/>
            <a:ext cx="3771900" cy="55245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050" b="0" u="none">
                <a:solidFill>
                  <a:srgbClr val="62666C"/>
                </a:solidFill>
                <a:latin typeface="Century Gothic"/>
                <a:hlinkClick xmlns:ns6="http://schemas.openxmlformats.org/officeDocument/2006/relationships" ns6:id="rId11"/>
                <a:ea typeface="맑은 고딕"/>
              </a:rPr>
              <a:t>전국 · 디지털 관광주민증 홍보물</a:t>
            </a:r>
          </a:p>
          <a:p>
            <a:pPr eaLnBrk="0">
              <a:lnSpc>
                <a:spcPts val="1500"/>
              </a:lnSpc>
              <a:spcBef>
                <a:spcPts val="0"/>
              </a:spcBef>
              <a:spcAft>
                <a:spcPts val="0"/>
              </a:spcAft>
            </a:pPr>
            <a:r>
              <a:rPr sz="1050" b="0" u="none">
                <a:solidFill>
                  <a:srgbClr val="62666C"/>
                </a:solidFill>
                <a:latin typeface="Century Gothic"/>
                <a:hlinkClick xmlns:ns7="http://schemas.openxmlformats.org/officeDocument/2006/relationships" ns7:id="rId11"/>
                <a:ea typeface="맑은 고딕"/>
              </a:rPr>
              <a:t>출처: 대한민국 정책브리핑 (2025)</a:t>
            </a:r>
          </a:p>
        </p:txBody>
      </p:sp>
      <p:sp xmlns:a="http://schemas.openxmlformats.org/drawingml/2006/main">
        <p:nvSpPr>
          <p:cNvPr id="30" name="case-source-2"/>
          <p:cNvSpPr txBox="1"/>
          <p:nvPr/>
        </p:nvSpPr>
        <p:spPr>
          <a:xfrm>
            <a:off x="10229850" y="8001000"/>
            <a:ext cx="3771900" cy="24765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1050" b="0" u="none">
                <a:solidFill>
                  <a:srgbClr val="62666C"/>
                </a:solidFill>
                <a:latin typeface="Century Gothic"/>
                <a:hlinkClick xmlns:ns8="http://schemas.openxmlformats.org/officeDocument/2006/relationships" ns8:id="rId12"/>
                <a:ea typeface="맑은 고딕"/>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000" b="1">
                <a:solidFill>
                  <a:srgbClr val="F50045"/>
                </a:solidFill>
                <a:latin typeface="Century Gothic"/>
                <a:ea typeface="맑은 고딕"/>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000" b="0">
                <a:solidFill>
                  <a:srgbClr val="62666C"/>
                </a:solidFill>
                <a:latin typeface="Century Gothic"/>
                <a:ea typeface="맑은 고딕"/>
              </a:rPr>
              <a:t>04 / 15</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733550"/>
            <a:ext cx="13220700" cy="61912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524125"/>
          <a:ext cx="13220700" cy="3143250"/>
        </p:xfrm>
        <a:graphic>
          <a:graphicData uri="http://schemas.openxmlformats.org/drawingml/2006/table">
            <a:tbl>
              <a:tblPr firstRow="1" bandRow="1">
                <a:tableStyleId>{5C22544A-7EE6-4342-B048-85BDC9FD1C3A}</a:tableStyleId>
              </a:tblPr>
              <a:tblGrid>
                <a:gridCol w="2209800"/>
                <a:gridCol w="5505450"/>
                <a:gridCol w="5505450"/>
              </a:tblGrid>
              <a:tr h="47625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8890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추가 방문 목표 348,601명 × 1%</a:t>
                      </a:r>
                    </a:p>
                    <a:p>
                      <a:pPr eaLnBrk="0">
                        <a:lnSpc>
                          <a:spcPct val="112000"/>
                        </a:lnSpc>
                        <a:spcBef>
                          <a:spcPts val="0"/>
                        </a:spcBef>
                        <a:spcAft>
                          <a:spcPts val="0"/>
                        </a:spcAft>
                      </a:pPr>
                      <a:r>
                        <a:rPr sz="1575" b="0">
                          <a:solidFill>
                            <a:srgbClr val="202124"/>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5895975"/>
            <a:ext cx="13220700" cy="20478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038850"/>
            <a:ext cx="7010400"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1219200" y="6515100"/>
            <a:ext cx="7048500" cy="116205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202124"/>
                </a:solidFill>
                <a:latin typeface="Noto Sans KR"/>
              </a:rPr>
              <a:t>제주시 내 박물관, 공연장, 문화유산 등 기존 시설을 활용하여 야간 개방</a:t>
            </a:r>
          </a:p>
          <a:p>
            <a:pPr eaLnBrk="0">
              <a:lnSpc>
                <a:spcPts val="2156"/>
              </a:lnSpc>
              <a:spcBef>
                <a:spcPts val="0"/>
              </a:spcBef>
              <a:spcAft>
                <a:spcPts val="0"/>
              </a:spcAft>
            </a:pPr>
            <a:r>
              <a:rPr sz="1725" b="0">
                <a:solidFill>
                  <a:srgbClr val="202124"/>
                </a:solidFill>
                <a:latin typeface="Noto Sans KR"/>
              </a:rPr>
              <a:t>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15</a:t>
            </a:r>
          </a:p>
        </p:txBody>
      </p:sp>
      <p:pic>
        <p:nvPicPr>
          <p:cNvPr id="13" name="adaptation-photo-0" descr="image.jpg"/>
          <p:cNvPicPr>
            <a:picLocks noChangeAspect="1"/>
          </p:cNvPicPr>
          <p:nvPr/>
        </p:nvPicPr>
        <p:blipFill>
          <a:blip r:embed="rId4"/>
          <a:srcRect t="12460" b="12460"/>
          <a:stretch>
            <a:fillRect/>
          </a:stretch>
        </p:blipFill>
        <p:spPr>
          <a:xfrm>
            <a:off x="8734425" y="6143625"/>
            <a:ext cx="2400300" cy="1200150"/>
          </a:xfrm>
          <a:prstGeom prst="rect">
            <a:avLst/>
          </a:prstGeom>
        </p:spPr>
      </p:pic>
      <p:sp>
        <p:nvSpPr>
          <p:cNvPr id="14" name="adaptation-photo-label-0">
            <a:hlinkClick r:id="rId5"/>
          </p:cNvPr>
          <p:cNvSpPr txBox="1"/>
          <p:nvPr/>
        </p:nvSpPr>
        <p:spPr>
          <a:xfrm>
            <a:off x="873442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국립제주박물관</a:t>
            </a:r>
          </a:p>
          <a:p>
            <a:pPr eaLnBrk="0">
              <a:lnSpc>
                <a:spcPts val="1312"/>
              </a:lnSpc>
              <a:spcBef>
                <a:spcPts val="0"/>
              </a:spcBef>
              <a:spcAft>
                <a:spcPts val="0"/>
              </a:spcAft>
            </a:pPr>
            <a:r>
              <a:rPr sz="1050" b="0">
                <a:solidFill>
                  <a:srgbClr val="62666C"/>
                </a:solidFill>
                <a:latin typeface="Noto Sans KR"/>
              </a:rPr>
              <a:t>사진: 한국관광공사</a:t>
            </a:r>
          </a:p>
        </p:txBody>
      </p:sp>
      <p:pic>
        <p:nvPicPr>
          <p:cNvPr id="15" name="adaptation-photo-1" descr="image.jpg"/>
          <p:cNvPicPr>
            <a:picLocks noChangeAspect="1"/>
          </p:cNvPicPr>
          <p:nvPr/>
        </p:nvPicPr>
        <p:blipFill>
          <a:blip r:embed="rId6"/>
          <a:srcRect t="5577" b="5577"/>
          <a:stretch>
            <a:fillRect/>
          </a:stretch>
        </p:blipFill>
        <p:spPr>
          <a:xfrm>
            <a:off x="11382375" y="6143625"/>
            <a:ext cx="2400300" cy="1200150"/>
          </a:xfrm>
          <a:prstGeom prst="rect">
            <a:avLst/>
          </a:prstGeom>
        </p:spPr>
      </p:pic>
      <p:sp>
        <p:nvSpPr>
          <p:cNvPr id="16" name="adaptation-photo-label-1">
            <a:hlinkClick r:id="rId5"/>
          </p:cNvPr>
          <p:cNvSpPr txBox="1"/>
          <p:nvPr/>
        </p:nvSpPr>
        <p:spPr>
          <a:xfrm>
            <a:off x="11382375" y="7410450"/>
            <a:ext cx="2400300" cy="4572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a:solidFill>
                  <a:srgbClr val="62666C"/>
                </a:solidFill>
                <a:latin typeface="Noto Sans KR"/>
              </a:rPr>
              <a:t>적용 공간 예시 · 제주목 관아</a:t>
            </a:r>
          </a:p>
          <a:p>
            <a:pPr eaLnBrk="0">
              <a:lnSpc>
                <a:spcPts val="1312"/>
              </a:lnSpc>
              <a:spcBef>
                <a:spcPts val="0"/>
              </a:spcBef>
              <a:spcAft>
                <a:spcPts val="0"/>
              </a:spcAft>
            </a:pPr>
            <a:r>
              <a:rPr sz="1050" b="0">
                <a:solidFill>
                  <a:srgbClr val="62666C"/>
                </a:solidFill>
                <a:latin typeface="Noto Sans KR"/>
              </a:rPr>
              <a:t>사진: 한국관광공사</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15</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3,714,120명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119,810명 · 3.33%</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10,928,766명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348,601명 · 3.29%</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1,499.21억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48.36억 원 · 3.33%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4,597.31억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148.12억 원 · 3.33%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62666C"/>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62666C"/>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62666C"/>
                </a:solidFill>
                <a:latin typeface="Noto Sans KR"/>
              </a:rPr>
              <a:t>비율은 기획용 가정이며 실제 객단가·보장 효과가 아닙니다. 방문 합계는 월 간 중복을 포함합니다.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28384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1.2 참고 사례 실적</a:t>
            </a:r>
          </a:p>
        </p:txBody>
      </p:sp>
      <p:sp>
        <p:nvSpPr>
          <p:cNvPr id="4" name="result-title"/>
          <p:cNvSpPr txBox="1"/>
          <p:nvPr/>
        </p:nvSpPr>
        <p:spPr>
          <a:xfrm>
            <a:off x="1009650" y="1543050"/>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1526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선정한 서울 문화재야행 사업에 포함된 정동야행</a:t>
            </a:r>
          </a:p>
        </p:txBody>
      </p:sp>
      <p:sp>
        <p:nvSpPr>
          <p:cNvPr id="6" name="result-photo-panel"/>
          <p:cNvSpPr/>
          <p:nvPr/>
        </p:nvSpPr>
        <p:spPr>
          <a:xfrm>
            <a:off x="1009650" y="30289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028950"/>
            <a:ext cx="5070451" cy="3371850"/>
          </a:xfrm>
          <a:prstGeom prst="rect">
            <a:avLst/>
          </a:prstGeom>
        </p:spPr>
      </p:pic>
      <p:sp>
        <p:nvSpPr>
          <p:cNvPr id="9" name="result-metric"/>
          <p:cNvSpPr txBox="1"/>
          <p:nvPr/>
        </p:nvSpPr>
        <p:spPr>
          <a:xfrm>
            <a:off x="7172325" y="29337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4290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38862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37338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3719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48291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6767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5530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56959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2388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67341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3056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78009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05 / 15</a:t>
            </a:r>
          </a:p>
        </p:txBody>
      </p:sp>
      <p:sp>
        <p:nvSpPr>
          <p:cNvPr id="26" name="result-photo-source-bg"/>
          <p:cNvSpPr/>
          <p:nvPr/>
        </p:nvSpPr>
        <p:spPr>
          <a:xfrm>
            <a:off x="1379549" y="5715000"/>
            <a:ext cx="4841851"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sult-photo-source">
            <a:hlinkClick r:id="rId4"/>
          </p:cNvPr>
          <p:cNvSpPr txBox="1"/>
          <p:nvPr/>
        </p:nvSpPr>
        <p:spPr>
          <a:xfrm>
            <a:off x="1493849" y="5753100"/>
            <a:ext cx="4613251"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서울 중구 정동 · 정동야행 행사 사진</a:t>
            </a:r>
          </a:p>
          <a:p>
            <a:pPr eaLnBrk="0" algn="ctr">
              <a:lnSpc>
                <a:spcPts val="1593"/>
              </a:lnSpc>
              <a:spcBef>
                <a:spcPts val="0"/>
              </a:spcBef>
              <a:spcAft>
                <a:spcPts val="0"/>
              </a:spcAft>
            </a:pPr>
            <a:r>
              <a:rPr sz="1275" b="0">
                <a:solidFill>
                  <a:srgbClr val="FFFFFF"/>
                </a:solidFill>
                <a:latin typeface="Noto Sans KR"/>
              </a:rPr>
              <a:t>출처: 서울문화포털 · 2024 정동야행</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max(월 20인일 × 3, 3,487건 ÷ 25건/인일 올림) = 140인일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콘텐츠·안내물 1식 × 500만원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7,187,000원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7,187만원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8001000"/>
            <a:ext cx="5676900" cy="40005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8039100"/>
            <a:ext cx="5467350" cy="32385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54317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167640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724150"/>
            <a:ext cx="809625" cy="809625"/>
          </a:xfrm>
          <a:prstGeom prst="rect">
            <a:avLst/>
          </a:prstGeom>
        </p:spPr>
      </p:pic>
      <p:sp>
        <p:nvSpPr>
          <p:cNvPr id="6" name="kpi-reason-title"/>
          <p:cNvSpPr txBox="1"/>
          <p:nvPr/>
        </p:nvSpPr>
        <p:spPr>
          <a:xfrm>
            <a:off x="2247900" y="278130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71475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사례의 운영 방식은 참고하되, 성장률을</a:t>
            </a:r>
          </a:p>
          <a:p>
            <a:pPr eaLnBrk="0">
              <a:lnSpc>
                <a:spcPts val="2437"/>
              </a:lnSpc>
              <a:spcBef>
                <a:spcPts val="0"/>
              </a:spcBef>
              <a:spcAft>
                <a:spcPts val="0"/>
              </a:spcAft>
            </a:pPr>
            <a:r>
              <a:rPr sz="1950" b="0">
                <a:solidFill>
                  <a:srgbClr val="62666C"/>
                </a:solidFill>
                <a:latin typeface="Noto Sans KR"/>
              </a:rPr>
              <a:t>그대로 옮기지 않고 초기 목표 5%를 채택했습니다.</a:t>
            </a:r>
          </a:p>
        </p:txBody>
      </p:sp>
      <p:sp>
        <p:nvSpPr>
          <p:cNvPr id="8" name="kpi-decision-band"/>
          <p:cNvSpPr/>
          <p:nvPr/>
        </p:nvSpPr>
        <p:spPr>
          <a:xfrm>
            <a:off x="1200150" y="506730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28637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조정 가능한 최종월 목표 +5%</a:t>
            </a:r>
          </a:p>
        </p:txBody>
      </p:sp>
      <p:sp>
        <p:nvSpPr>
          <p:cNvPr id="10" name="kpi-step-explanation"/>
          <p:cNvSpPr txBox="1"/>
          <p:nvPr/>
        </p:nvSpPr>
        <p:spPr>
          <a:xfrm>
            <a:off x="1200150" y="655320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첫 달부터 마지막 달까지 목표율을</a:t>
            </a:r>
          </a:p>
          <a:p>
            <a:pPr eaLnBrk="0">
              <a:lnSpc>
                <a:spcPts val="2062"/>
              </a:lnSpc>
              <a:spcBef>
                <a:spcPts val="0"/>
              </a:spcBef>
              <a:spcAft>
                <a:spcPts val="0"/>
              </a:spcAft>
            </a:pPr>
            <a:r>
              <a:rPr sz="1650" b="0">
                <a:solidFill>
                  <a:srgbClr val="62666C"/>
                </a:solidFill>
                <a:latin typeface="Noto Sans KR"/>
              </a:rPr>
              <a:t>단계적으로 높여 3개월 추가 목표를 합산합니다.</a:t>
            </a:r>
          </a:p>
        </p:txBody>
      </p:sp>
      <p:cxnSp>
        <p:nvCxnSpPr>
          <p:cNvPr id="11" name="kpi-to-visitors-0"/>
          <p:cNvCxnSpPr/>
          <p:nvPr/>
        </p:nvCxnSpPr>
        <p:spPr>
          <a:xfrm>
            <a:off x="7762875" y="516255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72427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72427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16255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21030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60985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2838450"/>
            <a:ext cx="523875" cy="523875"/>
          </a:xfrm>
          <a:prstGeom prst="rect">
            <a:avLst/>
          </a:prstGeom>
        </p:spPr>
      </p:pic>
      <p:sp>
        <p:nvSpPr>
          <p:cNvPr id="18" name="kpi-impact-title-0"/>
          <p:cNvSpPr txBox="1"/>
          <p:nvPr/>
        </p:nvSpPr>
        <p:spPr>
          <a:xfrm>
            <a:off x="9629775" y="284797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51472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348,601명</a:t>
            </a:r>
          </a:p>
        </p:txBody>
      </p:sp>
      <p:sp>
        <p:nvSpPr>
          <p:cNvPr id="20" name="kpi-impact-period-0"/>
          <p:cNvSpPr txBox="1"/>
          <p:nvPr/>
        </p:nvSpPr>
        <p:spPr>
          <a:xfrm>
            <a:off x="8953500" y="433387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+3.29%</a:t>
            </a:r>
          </a:p>
        </p:txBody>
      </p:sp>
      <p:sp>
        <p:nvSpPr>
          <p:cNvPr id="21" name="kpi-impact-panel-1"/>
          <p:cNvSpPr/>
          <p:nvPr/>
        </p:nvSpPr>
        <p:spPr>
          <a:xfrm>
            <a:off x="8696325" y="509587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324475"/>
            <a:ext cx="523875" cy="523875"/>
          </a:xfrm>
          <a:prstGeom prst="rect">
            <a:avLst/>
          </a:prstGeom>
        </p:spPr>
      </p:pic>
      <p:sp>
        <p:nvSpPr>
          <p:cNvPr id="23" name="kpi-impact-title-1"/>
          <p:cNvSpPr txBox="1"/>
          <p:nvPr/>
        </p:nvSpPr>
        <p:spPr>
          <a:xfrm>
            <a:off x="9629775" y="533400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00075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148.12억 원</a:t>
            </a:r>
          </a:p>
        </p:txBody>
      </p:sp>
      <p:sp>
        <p:nvSpPr>
          <p:cNvPr id="25" name="kpi-impact-period-1"/>
          <p:cNvSpPr txBox="1"/>
          <p:nvPr/>
        </p:nvSpPr>
        <p:spPr>
          <a:xfrm>
            <a:off x="8953500" y="681990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07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1009650" y="819150"/>
            <a:ext cx="13220700" cy="733425"/>
          </a:xfrm>
          <a:prstGeom prst="rect">
            <a:avLst/>
          </a:prstGeom>
          <a:noFill/>
        </p:spPr>
        <p:txBody>
          <a:bodyPr wrap="none" lIns="57150" rIns="57150" tIns="38100" bIns="38100" anchor="t">
            <a:noAutofit/>
          </a:bodyPr>
          <a:lstStyle/>
          <a:p>
            <a:pPr eaLnBrk="0" algn="l">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1809750"/>
            <a:ext cx="13220700" cy="590550"/>
          </a:xfrm>
          <a:prstGeom prst="rect">
            <a:avLst/>
          </a:prstGeom>
          <a:noFill/>
        </p:spPr>
        <p:txBody>
          <a:bodyPr wrap="none" lIns="57150" rIns="57150" tIns="38100" bIns="38100" anchor="ctr">
            <a:noAutofit/>
          </a:bodyPr>
          <a:lstStyle/>
          <a:p>
            <a:pPr eaLnBrk="0" algn="ctr">
              <a:lnSpc>
                <a:spcPts val="3250"/>
              </a:lnSpc>
              <a:spcBef>
                <a:spcPts val="0"/>
              </a:spcBef>
              <a:spcAft>
                <a:spcPts val="0"/>
              </a:spcAft>
            </a:pPr>
            <a:r>
              <a:rPr sz="26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