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ns0="http://schemas.openxmlformats.org/officeDocument/2006/relationships" id="276" ns0:id="rId20"/>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5.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7.xml"/><Relationship Id="R4c9d0e3030fa4c5f" Type="http://schemas.openxmlformats.org/officeDocument/2006/relationships/slide" Target="slides/slide11.xml"/><Relationship Id="R5b6702ccd7664af1" Type="http://schemas.openxmlformats.org/officeDocument/2006/relationships/slide" Target="slides/slide7.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3.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2.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6.xml"/><Relationship Id="rId18" Type="http://schemas.openxmlformats.org/officeDocument/2006/relationships/slide" Target="slides/slide8.xml"/><Relationship Id="rId19" Type="http://schemas.openxmlformats.org/officeDocument/2006/relationships/slide" Target="slides/slide16.xml"/><Relationship Id="rId20" Type="http://schemas.openxmlformats.org/officeDocument/2006/relationships/slide" Target="slides/slide4.xml"/><Relationship Id="rId21" Type="http://schemas.openxmlformats.org/officeDocument/2006/relationships/slide" Target="slides/slide14.xml"/><Relationship Id="rId22" Type="http://schemas.openxmlformats.org/officeDocument/2006/relationships/slide" Target="slides/slide9.xml"/><Relationship Id="rId23"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494.0348</c:v>
                </c:pt>
                <c:pt idx="1">
                  <c:v>498.9633</c:v>
                </c:pt>
                <c:pt idx="2">
                  <c:v>500.3655</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494.07045301</c:v>
                </c:pt>
                <c:pt idx="1">
                  <c:v>499.03531737</c:v>
                </c:pt>
                <c:pt idx="2">
                  <c:v>500.47382963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859.71975908</c:v>
                </c:pt>
                <c:pt idx="1">
                  <c:v>810.33922052</c:v>
                </c:pt>
                <c:pt idx="2">
                  <c:v>783.71629498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859.85658972</c:v>
                </c:pt>
                <c:pt idx="1">
                  <c:v>810.59716326</c:v>
                </c:pt>
                <c:pt idx="2">
                  <c:v>784.09049739</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-0.819346</c:v>
                </c:pt>
                <c:pt idx="1">
                  <c:v>2.514965</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3.4485720800000004"/>
          <c:min val="-1.75295308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3.845927</c:v>
                </c:pt>
                <c:pt idx="1">
                  <c:v>9.565691</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12.24408448"/>
          <c:min val="-2.67839348"/>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27649B"/>
              </a:solidFill>
              <a:ln>
                <a:noFill/>
              </a:ln>
            </c:spPr>
          </c:dPt>
          <c:dPt>
            <c:idx val="1"/>
            <c:spPr>
              <a:solidFill>
                <a:srgbClr val="27649B"/>
              </a:solidFill>
              <a:ln>
                <a:noFill/>
              </a:ln>
            </c:spPr>
          </c:dPt>
          <c:dPt>
            <c:idx val="2"/>
            <c:spPr>
              <a:solidFill>
                <a:srgbClr val="27649B"/>
              </a:solidFill>
              <a:ln>
                <a:noFill/>
              </a:ln>
            </c:spPr>
          </c:dPt>
          <c:cat>
            <c:strRef>
              <c:f>Sheet1!$A$2:$A$4</c:f>
              <c:strCache>
                <c:ptCount val="3"/>
                <c:pt idx="0">
                  <c:v>26.11</c:v>
                </c:pt>
                <c:pt idx="1">
                  <c:v>26.12</c:v>
                </c:pt>
                <c:pt idx="2">
                  <c:v>27.01</c:v>
                </c:pt>
              </c:strCache>
            </c:strRef>
          </c:cat>
          <c:val>
            <c:numRef>
              <c:f>Sheet1!$B$2:$B$4</c:f>
              <c:numCache>
                <c:formatCode>General</c:formatCode>
                <c:ptCount val="3"/>
                <c:pt idx="0">
                  <c:v>356.53</c:v>
                </c:pt>
                <c:pt idx="1">
                  <c:v>720.17</c:v>
                </c:pt>
                <c:pt idx="2">
                  <c:v>1083.3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187C70"/>
              </a:solidFill>
              <a:ln>
                <a:noFill/>
              </a:ln>
            </c:spPr>
          </c:dPt>
          <c:dPt>
            <c:idx val="1"/>
            <c:spPr>
              <a:solidFill>
                <a:srgbClr val="187C70"/>
              </a:solidFill>
              <a:ln>
                <a:noFill/>
              </a:ln>
            </c:spPr>
          </c:dPt>
          <c:dPt>
            <c:idx val="2"/>
            <c:spPr>
              <a:solidFill>
                <a:srgbClr val="187C70"/>
              </a:solidFill>
              <a:ln>
                <a:noFill/>
              </a:ln>
            </c:spPr>
          </c:dPt>
          <c:cat>
            <c:strRef>
              <c:f>Sheet1!$A$2:$A$4</c:f>
              <c:strCache>
                <c:ptCount val="3"/>
                <c:pt idx="0">
                  <c:v>26.11</c:v>
                </c:pt>
                <c:pt idx="1">
                  <c:v>26.12</c:v>
                </c:pt>
                <c:pt idx="2">
                  <c:v>27.01</c:v>
                </c:pt>
              </c:strCache>
            </c:strRef>
          </c:cat>
          <c:val>
            <c:numRef>
              <c:f>Sheet1!$B$2:$B$4</c:f>
              <c:numCache>
                <c:formatCode>General</c:formatCode>
                <c:ptCount val="3"/>
                <c:pt idx="0">
                  <c:v>1368.31</c:v>
                </c:pt>
                <c:pt idx="1">
                  <c:v>2579.43</c:v>
                </c:pt>
                <c:pt idx="2">
                  <c:v>3742.02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7.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1.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7.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"202611",</a:t>
            </a:r>
          </a:p>
          <a:p xmlns:a="http://schemas.openxmlformats.org/drawingml/2006/main">
            <a:r>
              <a:t>      "202612",</a:t>
            </a:r>
          </a:p>
          <a:p xmlns:a="http://schemas.openxmlformats.org/drawingml/2006/main">
            <a:r>
              <a:t>      "202701"</a:t>
            </a:r>
          </a:p>
          <a:p xmlns:a="http://schemas.openxmlformats.org/drawingml/2006/main">
            <a:r>
              <a:t>    ],</a:t>
            </a:r>
          </a:p>
          <a:p xmlns:a="http://schemas.openxmlformats.org/drawingml/2006/main">
            <a:r>
              <a:t>    "origin": "202606",</a:t>
            </a:r>
          </a:p>
          <a:p xmlns:a="http://schemas.openxmlformats.org/drawingml/2006/main">
            <a:r>
              <a:t>    "signature": "d46051da15df7b53732bc513556f317ca9dc5380e9a00ec7c0a56e1b268af9d2",</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4940348,</a:t>
            </a:r>
          </a:p>
          <a:p xmlns:a="http://schemas.openxmlformats.org/drawingml/2006/main">
            <a:r>
              <a:t>          4989633,</a:t>
            </a:r>
          </a:p>
          <a:p xmlns:a="http://schemas.openxmlformats.org/drawingml/2006/main">
            <a:r>
              <a:t>          5003655</a:t>
            </a:r>
          </a:p>
          <a:p xmlns:a="http://schemas.openxmlformats.org/drawingml/2006/main">
            <a:r>
              <a:t>        ],</a:t>
            </a:r>
          </a:p>
          <a:p xmlns:a="http://schemas.openxmlformats.org/drawingml/2006/main">
            <a:r>
              <a:t>        "previous": [</a:t>
            </a:r>
          </a:p>
          <a:p xmlns:a="http://schemas.openxmlformats.org/drawingml/2006/main">
            <a:r>
              <a:t>          5167969.0,</a:t>
            </a:r>
          </a:p>
          <a:p xmlns:a="http://schemas.openxmlformats.org/drawingml/2006/main">
            <a:r>
              <a:t>          5079597.0,</a:t>
            </a:r>
          </a:p>
          <a:p xmlns:a="http://schemas.openxmlformats.org/drawingml/2006/main">
            <a:r>
              <a:t>          4809439.0</a:t>
            </a:r>
          </a:p>
          <a:p xmlns:a="http://schemas.openxmlformats.org/drawingml/2006/main">
            <a:r>
              <a:t>        ],</a:t>
            </a:r>
          </a:p>
          <a:p xmlns:a="http://schemas.openxmlformats.org/drawingml/2006/main">
            <a:r>
              <a:t>        "growth_pct": -0.819346211281724,</a:t>
            </a:r>
          </a:p>
          <a:p xmlns:a="http://schemas.openxmlformats.org/drawingml/2006/main">
            <a:r>
              <a:t>        "national_mean_pct": 2.514965160691237,</a:t>
            </a:r>
          </a:p>
          <a:p xmlns:a="http://schemas.openxmlformats.org/drawingml/2006/main">
            <a:r>
              <a:t>        "gap_pp": -3.334311371972961,</a:t>
            </a:r>
          </a:p>
          <a:p xmlns:a="http://schemas.openxmlformats.org/drawingml/2006/main">
            <a:r>
              <a:t>        "rank": 233,</a:t>
            </a:r>
          </a:p>
          <a:p xmlns:a="http://schemas.openxmlformats.org/drawingml/2006/main">
            <a:r>
              <a:t>        "target_growth_pct": -0.8050007288966321,</a:t>
            </a:r>
          </a:p>
          <a:p xmlns:a="http://schemas.openxmlformats.org/drawingml/2006/main">
            <a:r>
              <a:t>        "target_rank": 233,</a:t>
            </a:r>
          </a:p>
          <a:p xmlns:a="http://schemas.openxmlformats.org/drawingml/2006/main">
            <a:r>
              <a:t>        "target": [</a:t>
            </a:r>
          </a:p>
          <a:p xmlns:a="http://schemas.openxmlformats.org/drawingml/2006/main">
            <a:r>
              <a:t>          4940704.530078486,</a:t>
            </a:r>
          </a:p>
          <a:p xmlns:a="http://schemas.openxmlformats.org/drawingml/2006/main">
            <a:r>
              <a:t>          4990353.173657849,</a:t>
            </a:r>
          </a:p>
          <a:p xmlns:a="http://schemas.openxmlformats.org/drawingml/2006/main">
            <a:r>
              <a:t>          5004738.296263663</a:t>
            </a:r>
          </a:p>
          <a:p xmlns:a="http://schemas.openxmlformats.org/drawingml/2006/main">
            <a:r>
              <a:t>        ],</a:t>
            </a:r>
          </a:p>
          <a:p xmlns:a="http://schemas.openxmlformats.org/drawingml/2006/main">
            <a:r>
              <a:t>        "additional": 2159.9999999981374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85971975908,</a:t>
            </a:r>
          </a:p>
          <a:p xmlns:a="http://schemas.openxmlformats.org/drawingml/2006/main">
            <a:r>
              <a:t>          81033922052,</a:t>
            </a:r>
          </a:p>
          <a:p xmlns:a="http://schemas.openxmlformats.org/drawingml/2006/main">
            <a:r>
              <a:t>          78371629498</a:t>
            </a:r>
          </a:p>
          <a:p xmlns:a="http://schemas.openxmlformats.org/drawingml/2006/main">
            <a:r>
              <a:t>        ],</a:t>
            </a:r>
          </a:p>
          <a:p xmlns:a="http://schemas.openxmlformats.org/drawingml/2006/main">
            <a:r>
              <a:t>        "previous": [</a:t>
            </a:r>
          </a:p>
          <a:p xmlns:a="http://schemas.openxmlformats.org/drawingml/2006/main">
            <a:r>
              <a:t>          76509918000.0,</a:t>
            </a:r>
          </a:p>
          <a:p xmlns:a="http://schemas.openxmlformats.org/drawingml/2006/main">
            <a:r>
              <a:t>          81119852000.0,</a:t>
            </a:r>
          </a:p>
          <a:p xmlns:a="http://schemas.openxmlformats.org/drawingml/2006/main">
            <a:r>
              <a:t>          78660217000.0</a:t>
            </a:r>
          </a:p>
          <a:p xmlns:a="http://schemas.openxmlformats.org/drawingml/2006/main">
            <a:r>
              <a:t>        ],</a:t>
            </a:r>
          </a:p>
          <a:p xmlns:a="http://schemas.openxmlformats.org/drawingml/2006/main">
            <a:r>
              <a:t>        "growth_pct": 3.8459270210210006,</a:t>
            </a:r>
          </a:p>
          <a:p xmlns:a="http://schemas.openxmlformats.org/drawingml/2006/main">
            <a:r>
              <a:t>        "national_mean_pct": 9.565691114245439,</a:t>
            </a:r>
          </a:p>
          <a:p xmlns:a="http://schemas.openxmlformats.org/drawingml/2006/main">
            <a:r>
              <a:t>        "gap_pp": -5.7197640932244385,</a:t>
            </a:r>
          </a:p>
          <a:p xmlns:a="http://schemas.openxmlformats.org/drawingml/2006/main">
            <a:r>
              <a:t>        "rank": 70,</a:t>
            </a:r>
          </a:p>
          <a:p xmlns:a="http://schemas.openxmlformats.org/drawingml/2006/main">
            <a:r>
              <a:t>        "target_growth_pct": 3.878470752550345,</a:t>
            </a:r>
          </a:p>
          <a:p xmlns:a="http://schemas.openxmlformats.org/drawingml/2006/main">
            <a:r>
              <a:t>        "target_rank": 70,</a:t>
            </a:r>
          </a:p>
          <a:p xmlns:a="http://schemas.openxmlformats.org/drawingml/2006/main">
            <a:r>
              <a:t>        "target": [</a:t>
            </a:r>
          </a:p>
          <a:p xmlns:a="http://schemas.openxmlformats.org/drawingml/2006/main">
            <a:r>
              <a:t>          85985658972.02232,</a:t>
            </a:r>
          </a:p>
          <a:p xmlns:a="http://schemas.openxmlformats.org/drawingml/2006/main">
            <a:r>
              <a:t>          81059716325.81322,</a:t>
            </a:r>
          </a:p>
          <a:p xmlns:a="http://schemas.openxmlformats.org/drawingml/2006/main">
            <a:r>
              <a:t>          78409049739.16447</a:t>
            </a:r>
          </a:p>
          <a:p xmlns:a="http://schemas.openxmlformats.org/drawingml/2006/main">
            <a:r>
              <a:t>        ],</a:t>
            </a:r>
          </a:p>
          <a:p xmlns:a="http://schemas.openxmlformats.org/drawingml/2006/main">
            <a:r>
              <a:t>        "additional": 76897579.0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3.2875867868914055,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3.380595607680559,</a:t>
            </a:r>
          </a:p>
          <a:p xmlns:a="http://schemas.openxmlformats.org/drawingml/2006/main">
            <a:r>
              <a:t>        "spending_yoy_pct": 5.648215454695205</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-4.0518148966727345,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2.7119695145277456,</a:t>
            </a:r>
          </a:p>
          <a:p xmlns:a="http://schemas.openxmlformats.org/drawingml/2006/main">
            <a:r>
              <a:t>        "spending_yoy_pct": 17.67843250733401</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4.165662982940743,</a:t>
            </a:r>
          </a:p>
          <a:p xmlns:a="http://schemas.openxmlformats.org/drawingml/2006/main">
            <a:r>
              <a:t>        "spending_yoy_pct": 5.1971035990049375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5.788804569853823,</a:t>
            </a:r>
          </a:p>
          <a:p xmlns:a="http://schemas.openxmlformats.org/drawingml/2006/main">
            <a:r>
              <a:t>        "spending_yoy_pct": 19.52738075257865</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3.5101887826582523,</a:t>
            </a:r>
          </a:p>
          <a:p xmlns:a="http://schemas.openxmlformats.org/drawingml/2006/main">
            <a:r>
              <a:t>        "spending_yoy_pct": 4.382432601417863</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-0.11579844359291824,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8.705640232607404,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2.7472890977941145,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3.514956030286287,</a:t>
            </a:r>
          </a:p>
          <a:p xmlns:a="http://schemas.openxmlformats.org/drawingml/2006/main">
            <a:r>
              <a:t>        "spending_yoy_pct": -2.5040232142768737</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4.696499794287856,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1.2250415327720754,</a:t>
            </a:r>
          </a:p>
          <a:p xmlns:a="http://schemas.openxmlformats.org/drawingml/2006/main">
            <a:r>
              <a:t>        "spending_yoy_pct": 12.19557859511724</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-0.22735795943712445,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0.5739588120649453,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1.3576055096917505,</a:t>
            </a:r>
          </a:p>
          <a:p xmlns:a="http://schemas.openxmlformats.org/drawingml/2006/main">
            <a:r>
              <a:t>        "spending_yoy_pct": 6.626836274491077</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-3.049111773679136,</a:t>
            </a:r>
          </a:p>
          <a:p xmlns:a="http://schemas.openxmlformats.org/drawingml/2006/main">
            <a:r>
              <a:t>        "spending_yoy_pct": 1.5196436346591513</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-3.256142684601193,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0.19905328071248007,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-1.6317277122867235,</a:t>
            </a:r>
          </a:p>
          <a:p xmlns:a="http://schemas.openxmlformats.org/drawingml/2006/main">
            <a:r>
              <a:t>        "spending_yoy_pct": 6.539237936963516</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2.902964601626601,</a:t>
            </a:r>
          </a:p>
          <a:p xmlns:a="http://schemas.openxmlformats.org/drawingml/2006/main">
            <a:r>
              <a:t>        "spending_yoy_pct": 2.7363254100926104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-4.3657056821402085,</a:t>
            </a:r>
          </a:p>
          <a:p xmlns:a="http://schemas.openxmlformats.org/drawingml/2006/main">
            <a:r>
              <a:t>        "spending_yoy_pct": 8.07241935991243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1.0566811519832076,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0.9197678798290587,</a:t>
            </a:r>
          </a:p>
          <a:p xmlns:a="http://schemas.openxmlformats.org/drawingml/2006/main">
            <a:r>
              <a:t>        "spending_yoy_pct": 4.734851038949284</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0.6930305374551082,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0.8617865354602738,</a:t>
            </a:r>
          </a:p>
          <a:p xmlns:a="http://schemas.openxmlformats.org/drawingml/2006/main">
            <a:r>
              <a:t>        "spending_yoy_pct": 57.41880146286793</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8.710745667993546,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3.1920808079337615,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-1.1438635456003987,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20.23932769560186,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0.6274249767530771,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1.5094291400099102,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1.9243063928166215,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0.5240195771314182,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2.9158637445051205,</a:t>
            </a:r>
          </a:p>
          <a:p xmlns:a="http://schemas.openxmlformats.org/drawingml/2006/main">
            <a:r>
              <a:t>        "spending_yoy_pct": 4.520264133233187</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1.210445125437265,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4.12323742927474,</a:t>
            </a:r>
          </a:p>
          <a:p xmlns:a="http://schemas.openxmlformats.org/drawingml/2006/main">
            <a:r>
              <a:t>        "spending_yoy_pct": 11.895302839673372</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16.147010113508074</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-0.7822488489986013,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2.8643102379710905,</a:t>
            </a:r>
          </a:p>
          <a:p xmlns:a="http://schemas.openxmlformats.org/drawingml/2006/main">
            <a:r>
              <a:t>        "spending_yoy_pct": 0.19488744797944157</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3.9046185377575204,</a:t>
            </a:r>
          </a:p>
          <a:p xmlns:a="http://schemas.openxmlformats.org/drawingml/2006/main">
            <a:r>
              <a:t>        "spending_yoy_pct": 0.5713335237841122</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1.6510666395191942,</a:t>
            </a:r>
          </a:p>
          <a:p xmlns:a="http://schemas.openxmlformats.org/drawingml/2006/main">
            <a:r>
              <a:t>        "spending_yoy_pct": -0.4582054962217641</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-0.2098847807354809</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1.5544985519476695,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0.21689382606051577,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6.085733514510894,</a:t>
            </a:r>
          </a:p>
          <a:p xmlns:a="http://schemas.openxmlformats.org/drawingml/2006/main">
            <a:r>
              <a:t>        "spending_yoy_pct": 17.521588655309618</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0.7509577956833491,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5.0315096239816,</a:t>
            </a:r>
          </a:p>
          <a:p xmlns:a="http://schemas.openxmlformats.org/drawingml/2006/main">
            <a:r>
              <a:t>        "spending_yoy_pct": 16.965160253491728</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5.022983190206376,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7.1498512099725575,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5.350049823723646,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12.061770183104548,</a:t>
            </a:r>
          </a:p>
          <a:p xmlns:a="http://schemas.openxmlformats.org/drawingml/2006/main">
            <a:r>
              <a:t>        "spending_yoy_pct": 32.501433300050245</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2.9791663767793297,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6.649126486972001,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3.2372426578552993,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4.433659221140607,</a:t>
            </a:r>
          </a:p>
          <a:p xmlns:a="http://schemas.openxmlformats.org/drawingml/2006/main">
            <a:r>
              <a:t>        "spending_yoy_pct": -2.1744445027468196</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2.8143661310433554,</a:t>
            </a:r>
          </a:p>
          <a:p xmlns:a="http://schemas.openxmlformats.org/drawingml/2006/main">
            <a:r>
              <a:t>        "spending_yoy_pct": 71.36235434555765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3.8579875619026316,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2.8017628717401877,</a:t>
            </a:r>
          </a:p>
          <a:p xmlns:a="http://schemas.openxmlformats.org/drawingml/2006/main">
            <a:r>
              <a:t>        "spending_yoy_pct": -0.4678125623589935</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9.510234246645899,</a:t>
            </a:r>
          </a:p>
          <a:p xmlns:a="http://schemas.openxmlformats.org/drawingml/2006/main">
            <a:r>
              <a:t>        "spending_yoy_pct": 119.32034325511474</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11.315605852117216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3.764049728335239,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1.9640566672868731,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2.1400250276531807,</a:t>
            </a:r>
          </a:p>
          <a:p xmlns:a="http://schemas.openxmlformats.org/drawingml/2006/main">
            <a:r>
              <a:t>        "spending_yoy_pct": 142.6732157338367</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6.371272492573143,</a:t>
            </a:r>
          </a:p>
          <a:p xmlns:a="http://schemas.openxmlformats.org/drawingml/2006/main">
            <a:r>
              <a:t>        "spending_yoy_pct": 262.9594050500134</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4.823584776638157,</a:t>
            </a:r>
          </a:p>
          <a:p xmlns:a="http://schemas.openxmlformats.org/drawingml/2006/main">
            <a:r>
              <a:t>        "spending_yoy_pct": 3.5254116759376286</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6.123602025114194,</a:t>
            </a:r>
          </a:p>
          <a:p xmlns:a="http://schemas.openxmlformats.org/drawingml/2006/main">
            <a:r>
              <a:t>        "spending_yoy_pct": 131.768929157409</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11.21235904377016</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5.723345585832296,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1.7145878856211993,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2.8133974853504995,</a:t>
            </a:r>
          </a:p>
          <a:p xmlns:a="http://schemas.openxmlformats.org/drawingml/2006/main">
            <a:r>
              <a:t>        "spending_yoy_pct": 18.402140537954704</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2.7427196890843275,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2.238597081481619,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5.526247666579298,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5.346437623470246,</a:t>
            </a:r>
          </a:p>
          <a:p xmlns:a="http://schemas.openxmlformats.org/drawingml/2006/main">
            <a:r>
              <a:t>        "spending_yoy_pct": 14.74648547917683</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7.54463331495876,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3.487489125118426,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4.783807435644838,</a:t>
            </a:r>
          </a:p>
          <a:p xmlns:a="http://schemas.openxmlformats.org/drawingml/2006/main">
            <a:r>
              <a:t>        "spending_yoy_pct": 7.971877077198997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3.539183241860955,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5.18416747022592,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2.800987021911272,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1.5444864760004506,</a:t>
            </a:r>
          </a:p>
          <a:p xmlns:a="http://schemas.openxmlformats.org/drawingml/2006/main">
            <a:r>
              <a:t>        "spending_yoy_pct": -1.1385273981981414</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4.804268532774381,</a:t>
            </a:r>
          </a:p>
          <a:p xmlns:a="http://schemas.openxmlformats.org/drawingml/2006/main">
            <a:r>
              <a:t>        "spending_yoy_pct": 30.615083875768214</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-0.3845166690600532,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3.7070539338890596,</a:t>
            </a:r>
          </a:p>
          <a:p xmlns:a="http://schemas.openxmlformats.org/drawingml/2006/main">
            <a:r>
              <a:t>        "spending_yoy_pct": 17.487585173231103</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0.021529318218460602,</a:t>
            </a:r>
          </a:p>
          <a:p xmlns:a="http://schemas.openxmlformats.org/drawingml/2006/main">
            <a:r>
              <a:t>        "spending_yoy_pct": 15.933026995444344</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2.1530447446345136,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7.5340705733542235,</a:t>
            </a:r>
          </a:p>
          <a:p xmlns:a="http://schemas.openxmlformats.org/drawingml/2006/main">
            <a:r>
              <a:t>        "spending_yoy_pct": 18.864871675744133</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11.932612875005887,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12.22974269811341,</a:t>
            </a:r>
          </a:p>
          <a:p xmlns:a="http://schemas.openxmlformats.org/drawingml/2006/main">
            <a:r>
              <a:t>        "spending_yoy_pct": 59.23025510524471</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2.0950889432013176,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5.726917295497258,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6.222269508499756,</a:t>
            </a:r>
          </a:p>
          <a:p xmlns:a="http://schemas.openxmlformats.org/drawingml/2006/main">
            <a:r>
              <a:t>        "spending_yoy_pct": 322.3273089695823</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-0.29675901273958916,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1.3883127455491362,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5.870717645429502,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4.81492003841355,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4.047079755822058,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4.606338542960131,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6.432386795843814,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3.3847674587574206,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5.3602517512145065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9.345419395332023</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99.51274637217024</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3.9612196116062925,</a:t>
            </a:r>
          </a:p>
          <a:p xmlns:a="http://schemas.openxmlformats.org/drawingml/2006/main">
            <a:r>
              <a:t>        "spending_yoy_pct": 9.218601909804459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10.480379352796731</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11.22132580820525,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9.148916485647263,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-6.3591410335017144,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2.5996891700749813,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-0.29765707011925047,</a:t>
            </a:r>
          </a:p>
          <a:p xmlns:a="http://schemas.openxmlformats.org/drawingml/2006/main">
            <a:r>
              <a:t>        "spending_yoy_pct": -3.343873936078412</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2.078512568518076,</a:t>
            </a:r>
          </a:p>
          <a:p xmlns:a="http://schemas.openxmlformats.org/drawingml/2006/main">
            <a:r>
              <a:t>        "spending_yoy_pct": 7.447209233649366</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-0.39881129181118524,</a:t>
            </a:r>
          </a:p>
          <a:p xmlns:a="http://schemas.openxmlformats.org/drawingml/2006/main">
            <a:r>
              <a:t>        "spending_yoy_pct": -0.9252360689613548</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7.3361436986845385,</a:t>
            </a:r>
          </a:p>
          <a:p xmlns:a="http://schemas.openxmlformats.org/drawingml/2006/main">
            <a:r>
              <a:t>        "spending_yoy_pct": 11.767857210318278</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5.648311405922013,</a:t>
            </a:r>
          </a:p>
          <a:p xmlns:a="http://schemas.openxmlformats.org/drawingml/2006/main">
            <a:r>
              <a:t>        "spending_yoy_pct": 2.0498666784573905</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1.3090512983046532,</a:t>
            </a:r>
          </a:p>
          <a:p xmlns:a="http://schemas.openxmlformats.org/drawingml/2006/main">
            <a:r>
              <a:t>        "spending_yoy_pct": 3.5205518403766956</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7.553051633669572,</a:t>
            </a:r>
          </a:p>
          <a:p xmlns:a="http://schemas.openxmlformats.org/drawingml/2006/main">
            <a:r>
              <a:t>        "spending_yoy_pct": 1.7553330789018995</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0.8333140188663712,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0.8990156591192067,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6.350462144534652,</a:t>
            </a:r>
          </a:p>
          <a:p xmlns:a="http://schemas.openxmlformats.org/drawingml/2006/main">
            <a:r>
              <a:t>        "spending_yoy_pct": 22.573683764809083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-0.7373045353280205,</a:t>
            </a:r>
          </a:p>
          <a:p xmlns:a="http://schemas.openxmlformats.org/drawingml/2006/main">
            <a:r>
              <a:t>        "spending_yoy_pct": 4.60692930404647</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2.7247685911729658,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-1.1783728020124618,</a:t>
            </a:r>
          </a:p>
          <a:p xmlns:a="http://schemas.openxmlformats.org/drawingml/2006/main">
            <a:r>
              <a:t>        "spending_yoy_pct": 8.027175625784366</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2.0478029135022613,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4.214574653222192,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0.6871687391595493,</a:t>
            </a:r>
          </a:p>
          <a:p xmlns:a="http://schemas.openxmlformats.org/drawingml/2006/main">
            <a:r>
              <a:t>        "spending_yoy_pct": 9.420167024623606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-0.819346211281724,</a:t>
            </a:r>
          </a:p>
          <a:p xmlns:a="http://schemas.openxmlformats.org/drawingml/2006/main">
            <a:r>
              <a:t>        "spending_yoy_pct": 3.8459270210210006</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2.7680933591958112,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6.6376833118433565,</a:t>
            </a:r>
          </a:p>
          <a:p xmlns:a="http://schemas.openxmlformats.org/drawingml/2006/main">
            <a:r>
              <a:t>        "spending_yoy_pct": 13.030941142275143</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1.0049819760918233,</a:t>
            </a:r>
          </a:p>
          <a:p xmlns:a="http://schemas.openxmlformats.org/drawingml/2006/main">
            <a:r>
              <a:t>        "spending_yoy_pct": 39.73194457083986</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4.143857421215702,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0.7368526350952198,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4.273952160462713,</a:t>
            </a:r>
          </a:p>
          <a:p xmlns:a="http://schemas.openxmlformats.org/drawingml/2006/main">
            <a:r>
              <a:t>        "spending_yoy_pct": 26.095260080388606</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2.644387339627574,</a:t>
            </a:r>
          </a:p>
          <a:p xmlns:a="http://schemas.openxmlformats.org/drawingml/2006/main">
            <a:r>
              <a:t>        "spending_yoy_pct": 18.097584809270817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-0.27526650995337576,</a:t>
            </a:r>
          </a:p>
          <a:p xmlns:a="http://schemas.openxmlformats.org/drawingml/2006/main">
            <a:r>
              <a:t>        "spending_yoy_pct": -4.619758853542455</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-0.4833899292355004,</a:t>
            </a:r>
          </a:p>
          <a:p xmlns:a="http://schemas.openxmlformats.org/drawingml/2006/main">
            <a:r>
              <a:t>        "spending_yoy_pct": 13.094615651219765</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1.8716437511106188,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3.1412846269131656,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5.153273674476,</a:t>
            </a:r>
          </a:p>
          <a:p xmlns:a="http://schemas.openxmlformats.org/drawingml/2006/main">
            <a:r>
              <a:t>        "spending_yoy_pct": 9.830323295715736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0.48883639702146375,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3.7269707980129185,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-1.0009969620847103,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1.7577942753985498,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0.9147314234330794,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2.992649250609114,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-2.412975072015977,</a:t>
            </a:r>
          </a:p>
          <a:p xmlns:a="http://schemas.openxmlformats.org/drawingml/2006/main">
            <a:r>
              <a:t>        "spending_yoy_pct": 6.408098640571813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0.2949968476416043</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8.40995624472698,</a:t>
            </a:r>
          </a:p>
          <a:p xmlns:a="http://schemas.openxmlformats.org/drawingml/2006/main">
            <a:r>
              <a:t>        "spending_yoy_pct": 81.43941066200114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-0.17080456491902485,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2.761754833526564,</a:t>
            </a:r>
          </a:p>
          <a:p xmlns:a="http://schemas.openxmlformats.org/drawingml/2006/main">
            <a:r>
              <a:t>        "spending_yoy_pct": 11.114687021806713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4.8132227492542645,</a:t>
            </a:r>
          </a:p>
          <a:p xmlns:a="http://schemas.openxmlformats.org/drawingml/2006/main">
            <a:r>
              <a:t>        "spending_yoy_pct": 3.509708801871203</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0.4439984789967433,</a:t>
            </a:r>
          </a:p>
          <a:p xmlns:a="http://schemas.openxmlformats.org/drawingml/2006/main">
            <a:r>
              <a:t>        "spending_yoy_pct": 0.546897758231002</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3.0776536200578963,</a:t>
            </a:r>
          </a:p>
          <a:p xmlns:a="http://schemas.openxmlformats.org/drawingml/2006/main">
            <a:r>
              <a:t>        "spending_yoy_pct": 8.70221721754081</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4.269565781613238,</a:t>
            </a:r>
          </a:p>
          <a:p xmlns:a="http://schemas.openxmlformats.org/drawingml/2006/main">
            <a:r>
              <a:t>        "spending_yoy_pct": 2.2124442485851326</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0.03324962622512917,</a:t>
            </a:r>
          </a:p>
          <a:p xmlns:a="http://schemas.openxmlformats.org/drawingml/2006/main">
            <a:r>
              <a:t>        "spending_yoy_pct": 0.9525392476834815</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7.400396804118192,</a:t>
            </a:r>
          </a:p>
          <a:p xmlns:a="http://schemas.openxmlformats.org/drawingml/2006/main">
            <a:r>
              <a:t>        "spending_yoy_pct": 10.076597865078373</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5.835368257884599,</a:t>
            </a:r>
          </a:p>
          <a:p xmlns:a="http://schemas.openxmlformats.org/drawingml/2006/main">
            <a:r>
              <a:t>        "spending_yoy_pct": 7.41269603352237</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6.818659437699259,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6.256709780782033,</a:t>
            </a:r>
          </a:p>
          <a:p xmlns:a="http://schemas.openxmlformats.org/drawingml/2006/main">
            <a:r>
              <a:t>        "spending_yoy_pct": 44.447876241338676</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7.373756863501768,</a:t>
            </a:r>
          </a:p>
          <a:p xmlns:a="http://schemas.openxmlformats.org/drawingml/2006/main">
            <a:r>
              <a:t>        "spending_yoy_pct": 23.578279122775058</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-1.1331133792781278,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1.4075690657894935,</a:t>
            </a:r>
          </a:p>
          <a:p xmlns:a="http://schemas.openxmlformats.org/drawingml/2006/main">
            <a:r>
              <a:t>        "spending_yoy_pct": 0.9890734895862563</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1.0697974548409261,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0.9163890778699724,</a:t>
            </a:r>
          </a:p>
          <a:p xmlns:a="http://schemas.openxmlformats.org/drawingml/2006/main">
            <a:r>
              <a:t>        "spending_yoy_pct": 1.6618268565630423</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0.7071757344048857,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0.40208917616029183,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3.194004597673139,</a:t>
            </a:r>
          </a:p>
          <a:p xmlns:a="http://schemas.openxmlformats.org/drawingml/2006/main">
            <a:r>
              <a:t>        "spending_yoy_pct": 7.435313858166781</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5.57351701191342,</a:t>
            </a:r>
          </a:p>
          <a:p xmlns:a="http://schemas.openxmlformats.org/drawingml/2006/main">
            <a:r>
              <a:t>        "spending_yoy_pct": 38.88484938801311</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5.299353725195743,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-1.8669547711114287,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0.8319529973970896,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3.898312326425968,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1.080498166030397,</a:t>
            </a:r>
          </a:p>
          <a:p xmlns:a="http://schemas.openxmlformats.org/drawingml/2006/main">
            <a:r>
              <a:t>        "spending_yoy_pct": 11.660743142378639</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-0.49123933989323465,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3.099506935599794,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0.23917140527376368,</a:t>
            </a:r>
          </a:p>
          <a:p xmlns:a="http://schemas.openxmlformats.org/drawingml/2006/main">
            <a:r>
              <a:t>        "spending_yoy_pct": -1.2376707489410221</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7.956355670433024,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4.6076411076692025,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8.354477566753737,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-7.052943132629119,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2.3008892542630166,</a:t>
            </a:r>
          </a:p>
          <a:p xmlns:a="http://schemas.openxmlformats.org/drawingml/2006/main">
            <a:r>
              <a:t>        "spending_yoy_pct": 0.9074597640745363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6.348494995343712,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31.595090652921478</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5.758941617594915,</a:t>
            </a:r>
          </a:p>
          <a:p xmlns:a="http://schemas.openxmlformats.org/drawingml/2006/main">
            <a:r>
              <a:t>        "spending_yoy_pct": 3.511960496475819</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1.5504311547378302,</a:t>
            </a:r>
          </a:p>
          <a:p xmlns:a="http://schemas.openxmlformats.org/drawingml/2006/main">
            <a:r>
              <a:t>        "spending_yoy_pct": -1.5294414130139433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-5.523148235870979,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0.48567734141498065,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-1.5879832207140288,</a:t>
            </a:r>
          </a:p>
          <a:p xmlns:a="http://schemas.openxmlformats.org/drawingml/2006/main">
            <a:r>
              <a:t>        "spending_yoy_pct": 1.3981784014424292</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-3.173817343784502,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8.744390557354787,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4.103173763025625,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4.804361012468972,</a:t>
            </a:r>
          </a:p>
          <a:p xmlns:a="http://schemas.openxmlformats.org/drawingml/2006/main">
            <a:r>
              <a:t>        "spending_yoy_pct": 171.98018724620985</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2.6104896844348913,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9.411053362609788,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3.7722502564567773,</a:t>
            </a:r>
          </a:p>
          <a:p xmlns:a="http://schemas.openxmlformats.org/drawingml/2006/main">
            <a:r>
              <a:t>        "spending_yoy_pct": 3.1415583712597783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-0.2596137446849722,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3.580488680307048,</a:t>
            </a:r>
          </a:p>
          <a:p xmlns:a="http://schemas.openxmlformats.org/drawingml/2006/main">
            <a:r>
              <a:t>        "spending_yoy_pct": 21.464795055500872</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5.566865736044102,</a:t>
            </a:r>
          </a:p>
          <a:p xmlns:a="http://schemas.openxmlformats.org/drawingml/2006/main">
            <a:r>
              <a:t>        "spending_yoy_pct": -6.465424887081772</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4.306132946192065,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2.073238931894217,</a:t>
            </a:r>
          </a:p>
          <a:p xmlns:a="http://schemas.openxmlformats.org/drawingml/2006/main">
            <a:r>
              <a:t>        "spending_yoy_pct": 7.373493526370023</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2.7599213267348377,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4.6852619840355825,</a:t>
            </a:r>
          </a:p>
          <a:p xmlns:a="http://schemas.openxmlformats.org/drawingml/2006/main">
            <a:r>
              <a:t>        "spending_yoy_pct": 24.766235386050717</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1.571063560324637,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5.8723580375046325,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6.35361099528613,</a:t>
            </a:r>
          </a:p>
          <a:p xmlns:a="http://schemas.openxmlformats.org/drawingml/2006/main">
            <a:r>
              <a:t>        "spending_yoy_pct": 4.551457385155788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3.6938618905598686,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3.1209835159346166,</a:t>
            </a:r>
          </a:p>
          <a:p xmlns:a="http://schemas.openxmlformats.org/drawingml/2006/main">
            <a:r>
              <a:t>        "spending_yoy_pct": 9.531959860157935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4.776598528537801,</a:t>
            </a:r>
          </a:p>
          <a:p xmlns:a="http://schemas.openxmlformats.org/drawingml/2006/main">
            <a:r>
              <a:t>        "spending_yoy_pct": 2.6698295644516534</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3.3551870909287684,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1.850030473098263,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2.699008168290784,</a:t>
            </a:r>
          </a:p>
          <a:p xmlns:a="http://schemas.openxmlformats.org/drawingml/2006/main">
            <a:r>
              <a:t>        "spending_yoy_pct": 21.587662144613518</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5.2455095134388285,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"1. 인정 결제액 합계(취소·중복 제외): 2026-11~2027-01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"title": "서구 상권 활력 제고를 위한 '서구 관광 소비 환급' 시범 사업",</a:t>
            </a:r>
          </a:p>
          <a:p xmlns:a="http://schemas.openxmlformats.org/drawingml/2006/main">
            <a:r>
              <a:t>    "budget": "총 예산 = Σ min(적격 결제액 × 가정 환급률, 건별 상한액). (기획 가정/미확정 견적)",</a:t>
            </a:r>
          </a:p>
          <a:p xmlns:a="http://schemas.openxmlformats.org/drawingml/2006/main">
            <a:r>
              <a:t>    "evidence": "ml:30170:regional-demand-v3.1:202606, dataset:30170:3, case:58c0694a3e85d8",</a:t>
            </a:r>
          </a:p>
          <a:p xmlns:a="http://schemas.openxmlformats.org/drawingml/2006/main">
            <a:r>
              <a:t>    "priority": 1,</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"timeframe": "2026-11 ~ 2027-01, 3개월",</a:t>
            </a:r>
          </a:p>
          <a:p xmlns:a="http://schemas.openxmlformats.org/drawingml/2006/main">
            <a:r>
              <a:t>    "expected_effect": "계획 목표: 최종월 ML 전망 대비 방문 +0.02%, 소비 +0.05%. 운영 규모와 참여 가정으로 산정하며 실제 성과는 별도 집계합니다.",</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"schedule": "2026-11",</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"schedule": "2026-11",</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개시하고, 관광객의 결제 증빙을 확인하여 지역사랑상품권을 환급함",</a:t>
            </a:r>
          </a:p>
          <a:p xmlns:a="http://schemas.openxmlformats.org/drawingml/2006/main">
            <a:r>
              <a:t>        "schedule": "2026-11 ~ 2027-01",</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"정산 담당자가 월별 결제 데이터를 검수하고, 부정수급 여부를 모니터링하여 최종 정산을 실시함",</a:t>
            </a:r>
          </a:p>
          <a:p xmlns:a="http://schemas.openxmlformats.org/drawingml/2006/main">
            <a:r>
              <a:t>        "schedule": "2027-01",</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성과(인정 결제액, 참여자 1인당 결제액)를 분석하고 차기 운영 규모를 검토함",</a:t>
            </a:r>
          </a:p>
          <a:p xmlns:a="http://schemas.openxmlformats.org/drawingml/2006/main">
            <a:r>
              <a:t>        "schedule": "2027-01",</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"다른 지역 참고 사진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"다른 지역 참고 사진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"다른 지역 참고 사진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환급 대상 업종(식음료, 쇼핑) 및 가맹점 리스트를 확정하고, 모바일 지역화폐 정산 체계와 부정수급 방지 지침을 수립함", "schedule": "2026-11", "deliverable": "참여 가맹점 명단 및 운영 지침서"}, {"step": 2, "task": "홍보팀이 외지인 관광객을 대상으로 사업 홍보물을 제작하고, 온라인 채널을 통해 참여 신청 접수 프로세스를 가동함", "schedule": "2026-11", "deliverable": "홍보물 및 신청자 명단"}, {"step": 3, "task": "운영팀이 시범 운영을 개시하고, 관광객의 결제 증빙을 확인하여 지역사랑상품권을 환급함", "schedule": "2026-11 ~ 2027-01", "deliverable": "주간 결제 및 환급 현황 보고서"}, {"step": 4, "task": "정산 담당자가 월별 결제 데이터를 검수하고, 부정수급 여부를 모니터링하여 최종 정산을 실시함", "schedule": "2027-01", "deliverable": "월간 정산 원장"}, {"step": 5, "task": "기획팀이 사업 성과(인정 결제액, 참여자 1인당 결제액)를 분석하고 차기 운영 규모를 검토함", "schedule": "2027-01",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a:p>
            <a:r>
              <a:t>지역 적용 근거 원문: {"summary": [["우리 지역의 관광 신호", "관광소비액 전망 · +3.85%\n업종별 소비 비중 · 쇼핑 43.0%, 식음료업 39.7%\n숙박 특성 · 숙박 비율 7.03%, 숙박일수 2.82일"], ["이 사례를 선택한 이유", "2026년 11월~2027년 1월 전망된 관광소비액 증가 추세(3.85%)를 실제 상권 매출로 연결하기 위해, 결제 증빙 기반의 환급을 통해 추가 소비를 유도함 (source_id: ml:30170:regional-demand-v3.1:202606)"], ["우리 지역에 적용할 내용", "서구 내 지정된 식음료·쇼핑 업종에서 일정 금액 이상 결제 시, 증빙을 통해 지역사랑상품권으로 일부를 환급해 주는 방식"]],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"title": "여행가는 달 지역 여행할인 모아보기",</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"source_id": "web:30170:1",</a:t>
            </a:r>
          </a:p>
          <a:p xmlns:a="http://schemas.openxmlformats.org/drawingml/2006/main">
            <a:r>
              <a:t>      "source_url": "https://korean.visitkorea.or.kr/travelmonth/benefit.do?modal=benefit-190",</a:t>
            </a:r>
          </a:p>
          <a:p xmlns:a="http://schemas.openxmlformats.org/drawingml/2006/main">
            <a:r>
              <a:t>      "source_type": "official_web",</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"published_or_updated_at": "2026-09-17 기준 페이지 확인; 행사 예정 기간 2026-09-21~2026-10-18"</a:t>
            </a:r>
          </a:p>
          <a:p xmlns:a="http://schemas.openxmlformats.org/drawingml/2006/main">
            <a:r>
              <a:t>    },</a:t>
            </a:r>
          </a:p>
          <a:p xmlns:a="http://schemas.openxmlformats.org/drawingml/2006/main">
            <a:r>
              <a:t>    {</a:t>
            </a:r>
          </a:p>
          <a:p xmlns:a="http://schemas.openxmlformats.org/drawingml/2006/main">
            <a:r>
              <a:t>      "title": "대전광역시_문화시설 | 공공데이터포털",</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"source_id": "web:30170:2",</a:t>
            </a:r>
          </a:p>
          <a:p xmlns:a="http://schemas.openxmlformats.org/drawingml/2006/main">
            <a:r>
              <a:t>      "source_url": "https://www.data.go.kr/data/15112114/openapi.do?recommendDataYn=Y",</a:t>
            </a:r>
          </a:p>
          <a:p xmlns:a="http://schemas.openxmlformats.org/drawingml/2006/main">
            <a:r>
              <a:t>      "source_type": "official_web",</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"published_or_updated_at": "수정일 2025-07-23"</a:t>
            </a:r>
          </a:p>
          <a:p xmlns:a="http://schemas.openxmlformats.org/drawingml/2006/main">
            <a:r>
              <a:t>    },</a:t>
            </a:r>
          </a:p>
          <a:p xmlns:a="http://schemas.openxmlformats.org/drawingml/2006/main">
            <a:r>
              <a:t>    {</a:t>
            </a:r>
          </a:p>
          <a:p xmlns:a="http://schemas.openxmlformats.org/drawingml/2006/main">
            <a:r>
              <a:t>      "title": "대전광역시 문화관광(숙박정보) 데이터 | 공공데이터포털",</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"source_id": "web:30170:3",</a:t>
            </a:r>
          </a:p>
          <a:p xmlns:a="http://schemas.openxmlformats.org/drawingml/2006/main">
            <a:r>
              <a:t>      "source_url": "https://www.data.go.kr/dataset/15001021/openapi.do",</a:t>
            </a:r>
          </a:p>
          <a:p xmlns:a="http://schemas.openxmlformats.org/drawingml/2006/main">
            <a:r>
              <a:t>      "source_type": "official_web",</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"대전문화관광해설사 신규 양성 교육 | 한국관광공사 관광e배움터",</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"source_id": "web:30170:4",</a:t>
            </a:r>
          </a:p>
          <a:p xmlns:a="http://schemas.openxmlformats.org/drawingml/2006/main">
            <a:r>
              <a:t>      "source_url": "https://touredu.visitkorea.or.kr/home/pkgEdu/pkgEduDetail?crsCd=C202600107&amp;eduPlanYr=2026&amp;eduPlanYrStepCnt=1",</a:t>
            </a:r>
          </a:p>
          <a:p xmlns:a="http://schemas.openxmlformats.org/drawingml/2006/main">
            <a:r>
              <a:t>      "source_type": "official_web",</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"published_or_updated_at": "신청·학습기간 2026-07-01~2026-08-31"</a:t>
            </a:r>
          </a:p>
          <a:p xmlns:a="http://schemas.openxmlformats.org/drawingml/2006/main">
            <a:r>
              <a:t>    },</a:t>
            </a:r>
          </a:p>
          <a:p xmlns:a="http://schemas.openxmlformats.org/drawingml/2006/main">
            <a:r>
              <a:t>    {</a:t>
            </a:r>
          </a:p>
          <a:p xmlns:a="http://schemas.openxmlformats.org/drawingml/2006/main">
            <a:r>
              <a:t>      "title": "대전광역시 서구_체육시설 현황 | 공공데이터포털",</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"source_id": "web:30170:5",</a:t>
            </a:r>
          </a:p>
          <a:p xmlns:a="http://schemas.openxmlformats.org/drawingml/2006/main">
            <a:r>
              <a:t>      "source_url": "https://www.data.go.kr/dataset/15037511/fileData.do",</a:t>
            </a:r>
          </a:p>
          <a:p xmlns:a="http://schemas.openxmlformats.org/drawingml/2006/main">
            <a:r>
              <a:t>      "source_type": "official_web",</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"제4차 관광개발기본계획 발표 관련 문화체육관광부 보도자료",</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"source_id": "web:30170:6",</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"source_type": "official_web",</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"published_or_updated_at": "2021-12-30"</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"2025년 문화예술 축제 통합 지원사업 종합결과보고서",</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"source_id": "case:28ff66d9b44637",</a:t>
            </a:r>
          </a:p>
          <a:p xmlns:a="http://schemas.openxmlformats.org/drawingml/2006/main">
            <a:r>
              <a:t>      "source_url": "https://culture.seoul.go.kr/culture/cmmn/file/fileDown.do?atchFileId=bb34395b25504c66a77ef69999cacb1c&amp;bbsId=B0000006&amp;fileSn=1",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"source_type": "benchmark_case",</a:t>
            </a:r>
          </a:p>
          <a:p xmlns:a="http://schemas.openxmlformats.org/drawingml/2006/main">
            <a:r>
              <a:t>      "intervention": "2025 문화예술 축제 통합 지원사업: 기존 공공·민간 축제의 재정지원·현장평가·관람객 조사",</a:t>
            </a:r>
          </a:p>
          <a:p xmlns:a="http://schemas.openxmlformats.org/drawingml/2006/main">
            <a:r>
              <a:t>      "document_type": null,</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"festival",</a:t>
            </a:r>
          </a:p>
          <a:p xmlns:a="http://schemas.openxmlformats.org/drawingml/2006/main">
            <a:r>
              <a:t>          "quote": "평가 대상 축제는 총 263개",</a:t>
            </a:r>
          </a:p>
          <a:p xmlns:a="http://schemas.openxmlformats.org/drawingml/2006/main">
            <a:r>
              <a:t>          "scope": "서울시·서울문화재단 재정지원 축제 중 평가 대상",</a:t>
            </a:r>
          </a:p>
          <a:p xmlns:a="http://schemas.openxmlformats.org/drawingml/2006/main">
            <a:r>
              <a:t>          "value": 263,</a:t>
            </a:r>
          </a:p>
          <a:p xmlns:a="http://schemas.openxmlformats.org/drawingml/2006/main">
            <a:r>
              <a:t>          "metric": "sites",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"unit": "person_visit",</a:t>
            </a:r>
          </a:p>
          <a:p xmlns:a="http://schemas.openxmlformats.org/drawingml/2006/main">
            <a:r>
              <a:t>          "quote": "총 8,880,289명의 관람객이 방문",</a:t>
            </a:r>
          </a:p>
          <a:p xmlns:a="http://schemas.openxmlformats.org/drawingml/2006/main">
            <a:r>
              <a:t>          "scope": "평가 대상 축제 실적집계표의 관람객 합계; 중복 방문 가능",</a:t>
            </a:r>
          </a:p>
          <a:p xmlns:a="http://schemas.openxmlformats.org/drawingml/2006/main">
            <a:r>
              <a:t>          "value": 8880289,</a:t>
            </a:r>
          </a:p>
          <a:p xmlns:a="http://schemas.openxmlformats.org/drawingml/2006/main">
            <a:r>
              <a:t>          "metric": "participants",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8880289</a:t>
            </a:r>
          </a:p>
          <a:p xmlns:a="http://schemas.openxmlformats.org/drawingml/2006/main">
            <a:r>
              <a:t>        }</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"spending_krw": 85971975908.0,</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"spending_krw": 81033922052.0,</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5003655.0,</a:t>
            </a:r>
          </a:p>
          <a:p xmlns:a="http://schemas.openxmlformats.org/drawingml/2006/main">
            <a:r>
              <a:t>        "spending_krw": 78371629498.0,</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"202611~202701",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"202611~202701"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"spending_krw": 80283647550,</a:t>
            </a:r>
          </a:p>
          <a:p xmlns:a="http://schemas.openxmlformats.org/drawingml/2006/main">
            <a:r>
              <a:t>      "previous_year_visitors": 4951150,</a:t>
            </a:r>
          </a:p>
          <a:p xmlns:a="http://schemas.openxmlformats.org/drawingml/2006/main">
            <a:r>
              <a:t>      "previous_year_spending_krw": 75135145000,</a:t>
            </a:r>
          </a:p>
          <a:p xmlns:a="http://schemas.openxmlformats.org/drawingml/2006/main">
            <a:r>
              <a:t>      "visitor_yoy_percent": 0.64,</a:t>
            </a:r>
          </a:p>
          <a:p xmlns:a="http://schemas.openxmlformats.org/drawingml/2006/main">
            <a:r>
              <a:t>      "spending_yoy_percent": 6.85,</a:t>
            </a:r>
          </a:p>
          <a:p xmlns:a="http://schemas.openxmlformats.org/drawingml/2006/main">
            <a:r>
              <a:t>      "lodging_nights": 2.91,</a:t>
            </a:r>
          </a:p>
          <a:p xmlns:a="http://schemas.openxmlformats.org/drawingml/2006/main">
            <a:r>
              <a:t>      "previous_year_lodging_nights": 2.91,</a:t>
            </a:r>
          </a:p>
          <a:p xmlns:a="http://schemas.openxmlformats.org/drawingml/2006/main">
            <a:r>
              <a:t>      "lodging_rate_pct": 7.3,</a:t>
            </a:r>
          </a:p>
          <a:p xmlns:a="http://schemas.openxmlformats.org/drawingml/2006/main">
            <a:r>
              <a:t>      "previous_year_lodging_rate_pct": 7.3,</a:t>
            </a:r>
          </a:p>
          <a:p xmlns:a="http://schemas.openxmlformats.org/drawingml/2006/main">
            <a:r>
              <a:t>      "stay_minutes": 1223.0,</a:t>
            </a:r>
          </a:p>
          <a:p xmlns:a="http://schemas.openxmlformats.org/drawingml/2006/main">
            <a:r>
              <a:t>      "previous_year_stay_minutes": 1223.0,</a:t>
            </a:r>
          </a:p>
          <a:p xmlns:a="http://schemas.openxmlformats.org/drawingml/2006/main">
            <a:r>
              <a:t>      "navigation_searches": 209722,</a:t>
            </a:r>
          </a:p>
          <a:p xmlns:a="http://schemas.openxmlformats.org/drawingml/2006/main">
            <a:r>
              <a:t>      "previous_year_navigation_searches": 210646,</a:t>
            </a:r>
          </a:p>
          <a:p xmlns:a="http://schemas.openxmlformats.org/drawingml/2006/main">
            <a:r>
              <a:t>      "lodging_searches": 12843,</a:t>
            </a:r>
          </a:p>
          <a:p xmlns:a="http://schemas.openxmlformats.org/drawingml/2006/main">
            <a:r>
              <a:t>      "previous_year_lodging_searches": 12843,</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-0.44,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"spending_krw": 76665340753,</a:t>
            </a:r>
          </a:p>
          <a:p xmlns:a="http://schemas.openxmlformats.org/drawingml/2006/main">
            <a:r>
              <a:t>      "previous_year_visitors": 4939438,</a:t>
            </a:r>
          </a:p>
          <a:p xmlns:a="http://schemas.openxmlformats.org/drawingml/2006/main">
            <a:r>
              <a:t>      "previous_year_spending_krw": 76291079000,</a:t>
            </a:r>
          </a:p>
          <a:p xmlns:a="http://schemas.openxmlformats.org/drawingml/2006/main">
            <a:r>
              <a:t>      "visitor_yoy_percent": -1.76,</a:t>
            </a:r>
          </a:p>
          <a:p xmlns:a="http://schemas.openxmlformats.org/drawingml/2006/main">
            <a:r>
              <a:t>      "spending_yoy_percent": 0.49,</a:t>
            </a:r>
          </a:p>
          <a:p xmlns:a="http://schemas.openxmlformats.org/drawingml/2006/main">
            <a:r>
              <a:t>      "lodging_nights": 2.84,</a:t>
            </a:r>
          </a:p>
          <a:p xmlns:a="http://schemas.openxmlformats.org/drawingml/2006/main">
            <a:r>
              <a:t>      "previous_year_lodging_nights": 2.84,</a:t>
            </a:r>
          </a:p>
          <a:p xmlns:a="http://schemas.openxmlformats.org/drawingml/2006/main">
            <a:r>
              <a:t>      "lodging_rate_pct": 7.9,</a:t>
            </a:r>
          </a:p>
          <a:p xmlns:a="http://schemas.openxmlformats.org/drawingml/2006/main">
            <a:r>
              <a:t>      "previous_year_lodging_rate_pct": 7.9,</a:t>
            </a:r>
          </a:p>
          <a:p xmlns:a="http://schemas.openxmlformats.org/drawingml/2006/main">
            <a:r>
              <a:t>      "stay_minutes": 1218.0,</a:t>
            </a:r>
          </a:p>
          <a:p xmlns:a="http://schemas.openxmlformats.org/drawingml/2006/main">
            <a:r>
              <a:t>      "previous_year_stay_minutes": 1218.0,</a:t>
            </a:r>
          </a:p>
          <a:p xmlns:a="http://schemas.openxmlformats.org/drawingml/2006/main">
            <a:r>
              <a:t>      "navigation_searches": 225159,</a:t>
            </a:r>
          </a:p>
          <a:p xmlns:a="http://schemas.openxmlformats.org/drawingml/2006/main">
            <a:r>
              <a:t>      "previous_year_navigation_searches": 220742,</a:t>
            </a:r>
          </a:p>
          <a:p xmlns:a="http://schemas.openxmlformats.org/drawingml/2006/main">
            <a:r>
              <a:t>      "lodging_searches": 13272,</a:t>
            </a:r>
          </a:p>
          <a:p xmlns:a="http://schemas.openxmlformats.org/drawingml/2006/main">
            <a:r>
              <a:t>      "previous_year_lodging_searches": 13272,</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"spending_krw": 80194062490,</a:t>
            </a:r>
          </a:p>
          <a:p xmlns:a="http://schemas.openxmlformats.org/drawingml/2006/main">
            <a:r>
              <a:t>      "previous_year_visitors": 4842196,</a:t>
            </a:r>
          </a:p>
          <a:p xmlns:a="http://schemas.openxmlformats.org/drawingml/2006/main">
            <a:r>
              <a:t>      "previous_year_spending_krw": 70764730000,</a:t>
            </a:r>
          </a:p>
          <a:p xmlns:a="http://schemas.openxmlformats.org/drawingml/2006/main">
            <a:r>
              <a:t>      "visitor_yoy_percent": -0.39,</a:t>
            </a:r>
          </a:p>
          <a:p xmlns:a="http://schemas.openxmlformats.org/drawingml/2006/main">
            <a:r>
              <a:t>      "spending_yoy_percent": 13.32,</a:t>
            </a:r>
          </a:p>
          <a:p xmlns:a="http://schemas.openxmlformats.org/drawingml/2006/main">
            <a:r>
              <a:t>      "lodging_nights": 2.93,</a:t>
            </a:r>
          </a:p>
          <a:p xmlns:a="http://schemas.openxmlformats.org/drawingml/2006/main">
            <a:r>
              <a:t>      "previous_year_lodging_nights": 2.93,</a:t>
            </a:r>
          </a:p>
          <a:p xmlns:a="http://schemas.openxmlformats.org/drawingml/2006/main">
            <a:r>
              <a:t>      "lodging_rate_pct": 6.7,</a:t>
            </a:r>
          </a:p>
          <a:p xmlns:a="http://schemas.openxmlformats.org/drawingml/2006/main">
            <a:r>
              <a:t>      "previous_year_lodging_rate_pct": 6.7,</a:t>
            </a:r>
          </a:p>
          <a:p xmlns:a="http://schemas.openxmlformats.org/drawingml/2006/main">
            <a:r>
              <a:t>      "stay_minutes": 1281.0,</a:t>
            </a:r>
          </a:p>
          <a:p xmlns:a="http://schemas.openxmlformats.org/drawingml/2006/main">
            <a:r>
              <a:t>      "previous_year_stay_minutes": 1281.0,</a:t>
            </a:r>
          </a:p>
          <a:p xmlns:a="http://schemas.openxmlformats.org/drawingml/2006/main">
            <a:r>
              <a:t>      "navigation_searches": 206180,</a:t>
            </a:r>
          </a:p>
          <a:p xmlns:a="http://schemas.openxmlformats.org/drawingml/2006/main">
            <a:r>
              <a:t>      "previous_year_navigation_searches": 191971,</a:t>
            </a:r>
          </a:p>
          <a:p xmlns:a="http://schemas.openxmlformats.org/drawingml/2006/main">
            <a:r>
              <a:t>      "lodging_searches": 11464,</a:t>
            </a:r>
          </a:p>
          <a:p xmlns:a="http://schemas.openxmlformats.org/drawingml/2006/main">
            <a:r>
              <a:t>      "previous_year_lodging_searches": 11464,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7.4,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"spending_krw": 79359374710,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"spending_krw": 85971975908,</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"spending_krw": 81033922052,</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a:t>
            </a:r>
          </a:p>
          <a:p xmlns:a="http://schemas.openxmlformats.org/drawingml/2006/main">
            <a:r>
              <a:t>      "spending_krw": 78371629498,</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7,</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237105.53,</a:t>
            </a:r>
          </a:p>
          <a:p xmlns:a="http://schemas.openxmlformats.org/drawingml/2006/main">
            <a:r>
              <a:t>        "baseline_test_mae": 192935.5,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332727.0,</a:t>
            </a:r>
          </a:p>
          <a:p xmlns:a="http://schemas.openxmlformats.org/drawingml/2006/main">
            <a:r>
              <a:t>            "baseline": 211072.0,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141143.5,</a:t>
            </a:r>
          </a:p>
          <a:p xmlns:a="http://schemas.openxmlformats.org/drawingml/2006/main">
            <a:r>
              <a:t>            "baseline": 97043.0,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168591.5,</a:t>
            </a:r>
          </a:p>
          <a:p xmlns:a="http://schemas.openxmlformats.org/drawingml/2006/main">
            <a:r>
              <a:t>            "baseline": 174799.0,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4927867951.9,</a:t>
            </a:r>
          </a:p>
          <a:p xmlns:a="http://schemas.openxmlformats.org/drawingml/2006/main">
            <a:r>
              <a:t>        "baseline_test_mae": 2411157000.0,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3237755191.0,</a:t>
            </a:r>
          </a:p>
          <a:p xmlns:a="http://schemas.openxmlformats.org/drawingml/2006/main">
            <a:r>
              <a:t>            "baseline": 1944140500.0,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1581504765.5,</a:t>
            </a:r>
          </a:p>
          <a:p xmlns:a="http://schemas.openxmlformats.org/drawingml/2006/main">
            <a:r>
              <a:t>            "baseline": 3984052500.0,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4493524184.5,</a:t>
            </a:r>
          </a:p>
          <a:p xmlns:a="http://schemas.openxmlformats.org/drawingml/2006/main">
            <a:r>
              <a:t>            "baseline": 2878173500.0,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0.07,</a:t>
            </a:r>
          </a:p>
          <a:p xmlns:a="http://schemas.openxmlformats.org/drawingml/2006/main">
            <a:r>
              <a:t>        "baseline_test_mae": 0.07,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0.06,</a:t>
            </a:r>
          </a:p>
          <a:p xmlns:a="http://schemas.openxmlformats.org/drawingml/2006/main">
            <a:r>
              <a:t>            "baseline":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0.11,</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0.08,</a:t>
            </a:r>
          </a:p>
          <a:p xmlns:a="http://schemas.openxmlformats.org/drawingml/2006/main">
            <a:r>
              <a:t>            "baseline":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0.3,</a:t>
            </a:r>
          </a:p>
          <a:p xmlns:a="http://schemas.openxmlformats.org/drawingml/2006/main">
            <a:r>
              <a:t>        "baseline_test_mae": 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0.4,</a:t>
            </a:r>
          </a:p>
          <a:p xmlns:a="http://schemas.openxmlformats.org/drawingml/2006/main">
            <a:r>
              <a:t>            "baseline":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113.5,</a:t>
            </a:r>
          </a:p>
          <a:p xmlns:a="http://schemas.openxmlformats.org/drawingml/2006/main">
            <a:r>
              <a:t>        "baseline_test_mae": 113.5,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52.0,</a:t>
            </a:r>
          </a:p>
          <a:p xmlns:a="http://schemas.openxmlformats.org/drawingml/2006/main">
            <a:r>
              <a:t>            "baseline": 52.0,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218.5,</a:t>
            </a:r>
          </a:p>
          <a:p xmlns:a="http://schemas.openxmlformats.org/drawingml/2006/main">
            <a:r>
              <a:t>            "baseline":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175.0,</a:t>
            </a:r>
          </a:p>
          <a:p xmlns:a="http://schemas.openxmlformats.org/drawingml/2006/main">
            <a:r>
              <a:t>            "baseline": 175.0,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"RandomForestRegressor",</a:t>
            </a:r>
          </a:p>
          <a:p xmlns:a="http://schemas.openxmlformats.org/drawingml/2006/main">
            <a:r>
              <a:t>        "test_mae": 20482.57,</a:t>
            </a:r>
          </a:p>
          <a:p xmlns:a="http://schemas.openxmlformats.org/drawingml/2006/main">
            <a:r>
              <a:t>        "baseline_test_mae": 12060.0,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20785.0,</a:t>
            </a:r>
          </a:p>
          <a:p xmlns:a="http://schemas.openxmlformats.org/drawingml/2006/main">
            <a:r>
              <a:t>            "baseline": 9487.0,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14198.0,</a:t>
            </a:r>
          </a:p>
          <a:p xmlns:a="http://schemas.openxmlformats.org/drawingml/2006/main">
            <a:r>
              <a:t>            "baseline": 6758.5,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18839.0,</a:t>
            </a:r>
          </a:p>
          <a:p xmlns:a="http://schemas.openxmlformats.org/drawingml/2006/main">
            <a:r>
              <a:t>            "baseline": 14633.0,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526.5,</a:t>
            </a:r>
          </a:p>
          <a:p xmlns:a="http://schemas.openxmlformats.org/drawingml/2006/main">
            <a:r>
              <a:t>        "baseline_test_mae": 526.5,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779.0,</a:t>
            </a:r>
          </a:p>
          <a:p xmlns:a="http://schemas.openxmlformats.org/drawingml/2006/main">
            <a:r>
              <a:t>            "baseline": 779.0,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391.5,</a:t>
            </a:r>
          </a:p>
          <a:p xmlns:a="http://schemas.openxmlformats.org/drawingml/2006/main">
            <a:r>
              <a:t>            "baseline":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274.0,</a:t>
            </a:r>
          </a:p>
          <a:p xmlns:a="http://schemas.openxmlformats.org/drawingml/2006/main">
            <a:r>
              <a:t>            "baseline": 274.0,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0.02165009905087369,</a:t>
            </a:r>
          </a:p>
          <a:p xmlns:a="http://schemas.openxmlformats.org/drawingml/2006/main">
            <a:r>
              <a:t>    "spending_target_pct": 0.04774717765109706,</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사업 테마별 AI 생성 예시이며 실제 지역의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5.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korean.visitkorea.or.kr/travelmonth/benefit.do?modal=benefit-190" TargetMode="External"/><Relationship Id="rId4" Type="http://schemas.openxmlformats.org/officeDocument/2006/relationships/hyperlink" Target="https://www.data.go.kr/data/15112114/openapi.do?recommendDataYn=Y" TargetMode="External"/><Relationship Id="rId5" Type="http://schemas.openxmlformats.org/officeDocument/2006/relationships/hyperlink" Target="https://www.data.go.kr/dataset/15001021/openapi.do" TargetMode="External"/><Relationship Id="rId6" Type="http://schemas.openxmlformats.org/officeDocument/2006/relationships/hyperlink" Target="https://touredu.visitkorea.or.kr/home/pkgEdu/pkgEduDetail?crsCd=C202600107&amp;eduPlanYr=2026&amp;eduPlanYrStepCnt=1" TargetMode="External"/><Relationship Id="rId7" Type="http://schemas.openxmlformats.org/officeDocument/2006/relationships/hyperlink" Target="https://www.data.go.kr/dataset/15037511/fileData.do" TargetMode="External"/><Relationship Id="rId8"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9" Type="http://schemas.openxmlformats.org/officeDocument/2006/relationships/hyperlink" Target="https://datalab.visitkorea.or.kr/" TargetMode="External"/><Relationship Id="rId10" Type="http://schemas.openxmlformats.org/officeDocument/2006/relationships/hyperlink" Target="https://culture.seoul.go.kr/culture/cmmn/file/fileDown.do?atchFileId=bb34395b25504c66a77ef69999cacb1c&amp;bbsId=B0000006&amp;fileSn=1" TargetMode="External"/><Relationship Id="rId11" Type="http://schemas.openxmlformats.org/officeDocument/2006/relationships/hyperlink" Target="https://jnfarm.jeonnam.go.kr/board/FARM_BOARD_008/boardView.do?bdId=BD_00000000000015383&amp;menuCd=farm004002"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2026.11 ~ 2027.01</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1.1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11–01월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1,493.4만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3.33%p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2,453.8억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5.72%p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1.2 제안 사업 소개</a:t>
            </a:r>
          </a:p>
        </p:txBody>
      </p:sp>
      <p:sp>
        <p:nvSpPr>
          <p:cNvPr id="5" name="overview-name"/>
          <p:cNvSpPr txBox="1"/>
          <p:nvPr/>
        </p:nvSpPr>
        <p:spPr>
          <a:xfrm>
            <a:off x="1009650" y="1638300"/>
            <a:ext cx="13220700" cy="619125"/>
          </a:xfrm>
          <a:prstGeom prst="rect">
            <a:avLst/>
          </a:prstGeom>
          <a:noFill/>
        </p:spPr>
        <p:txBody>
          <a:bodyPr wrap="none" lIns="57150" rIns="57150" tIns="38100" bIns="38100" anchor="t">
            <a:noAutofit/>
          </a:bodyPr>
          <a:lstStyle/>
          <a:p>
            <a:pPr eaLnBrk="0" algn="ctr">
              <a:lnSpc>
                <a:spcPts val="3000"/>
              </a:lnSpc>
              <a:spcBef>
                <a:spcPts val="0"/>
              </a:spcBef>
              <a:spcAft>
                <a:spcPts val="0"/>
              </a:spcAft>
            </a:pPr>
            <a:r>
              <a:rPr sz="2400" b="1">
                <a:solidFill>
                  <a:srgbClr val="22262A"/>
                </a:solidFill>
                <a:latin typeface="Noto Sans KR"/>
              </a:rPr>
              <a:t>서구 상권 활력 제고를 위한 '서구 관광 소비 환급' 시범 사업</a:t>
            </a:r>
          </a:p>
        </p:txBody>
      </p:sp>
      <p:sp>
        <p:nvSpPr>
          <p:cNvPr id="6" name="overview-photo-panel"/>
          <p:cNvSpPr/>
          <p:nvPr/>
        </p:nvSpPr>
        <p:spPr>
          <a:xfrm>
            <a:off x="1009650" y="2667000"/>
            <a:ext cx="6419850" cy="3209925"/>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business-photo" descr="refund.png"/>
          <p:cNvPicPr>
            <a:picLocks noChangeAspect="1"/>
          </p:cNvPicPr>
          <p:nvPr/>
        </p:nvPicPr>
        <p:blipFill>
          <a:blip r:embed="rId2"/>
          <a:stretch>
            <a:fillRect/>
          </a:stretch>
        </p:blipFill>
        <p:spPr>
          <a:xfrm>
            <a:off x="1009650" y="2667000"/>
            <a:ext cx="6419850" cy="3209925"/>
          </a:xfrm>
          <a:prstGeom prst="rect">
            <a:avLst/>
          </a:prstGeom>
        </p:spPr>
      </p:pic>
      <p:sp>
        <p:nvSpPr>
          <p:cNvPr id="8" name="overview-caption-bg"/>
          <p:cNvSpPr/>
          <p:nvPr/>
        </p:nvSpPr>
        <p:spPr>
          <a:xfrm>
            <a:off x="3071812" y="5419725"/>
            <a:ext cx="2295525" cy="342900"/>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caption"/>
          <p:cNvSpPr txBox="1"/>
          <p:nvPr/>
        </p:nvSpPr>
        <p:spPr>
          <a:xfrm>
            <a:off x="3224212" y="5476875"/>
            <a:ext cx="1990725" cy="228600"/>
          </a:xfrm>
          <a:prstGeom prst="rect">
            <a:avLst/>
          </a:prstGeom>
          <a:noFill/>
        </p:spPr>
        <p:txBody>
          <a:bodyPr wrap="none" lIns="57150" rIns="57150" tIns="38100" bIns="38100" anchor="ctr">
            <a:noAutofit/>
          </a:bodyPr>
          <a:lstStyle/>
          <a:p>
            <a:pPr eaLnBrk="0" algn="ctr">
              <a:lnSpc>
                <a:spcPts val="1171"/>
              </a:lnSpc>
              <a:spcBef>
                <a:spcPts val="0"/>
              </a:spcBef>
              <a:spcAft>
                <a:spcPts val="0"/>
              </a:spcAft>
            </a:pPr>
            <a:r>
              <a:rPr sz="937" b="0">
                <a:solidFill>
                  <a:srgbClr val="FFFFFF"/>
                </a:solidFill>
                <a:latin typeface="Noto Sans KR"/>
              </a:rPr>
              <a:t>관광객 쿠폰·환급 이용 예시안</a:t>
            </a:r>
          </a:p>
        </p:txBody>
      </p:sp>
      <p:sp>
        <p:nvSpPr>
          <p:cNvPr id="10" name="overview-description-panel"/>
          <p:cNvSpPr/>
          <p:nvPr/>
        </p:nvSpPr>
        <p:spPr>
          <a:xfrm>
            <a:off x="7810500" y="2667000"/>
            <a:ext cx="6419850" cy="3209925"/>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view-description-accent"/>
          <p:cNvSpPr/>
          <p:nvPr/>
        </p:nvSpPr>
        <p:spPr>
          <a:xfrm>
            <a:off x="8115300" y="2943225"/>
            <a:ext cx="47625" cy="323850"/>
          </a:xfrm>
          <a:prstGeom prst="rect">
            <a:avLst/>
          </a:prstGeom>
          <a:solidFill>
            <a:srgbClr val="D5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description-label"/>
          <p:cNvSpPr txBox="1"/>
          <p:nvPr/>
        </p:nvSpPr>
        <p:spPr>
          <a:xfrm>
            <a:off x="8315325" y="2943225"/>
            <a:ext cx="538162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2262A"/>
                </a:solidFill>
                <a:latin typeface="Noto Sans KR"/>
              </a:rPr>
              <a:t>사업개요</a:t>
            </a:r>
          </a:p>
        </p:txBody>
      </p:sp>
      <p:sp>
        <p:nvSpPr>
          <p:cNvPr id="13" name="overview-description-divider"/>
          <p:cNvSpPr/>
          <p:nvPr/>
        </p:nvSpPr>
        <p:spPr>
          <a:xfrm>
            <a:off x="8115300" y="3476625"/>
            <a:ext cx="5810250" cy="9525"/>
          </a:xfrm>
          <a:prstGeom prst="rect">
            <a:avLst/>
          </a:prstGeom>
          <a:solidFill>
            <a:srgbClr val="E2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erview-description"/>
          <p:cNvSpPr txBox="1"/>
          <p:nvPr/>
        </p:nvSpPr>
        <p:spPr>
          <a:xfrm>
            <a:off x="8115300" y="3705225"/>
            <a:ext cx="5810250" cy="19431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44505C"/>
                </a:solidFill>
                <a:latin typeface="Noto Sans KR"/>
              </a:rPr>
              <a:t>서구 내 지정된 식음료·쇼핑 업종에서 일정 금액 이상 결제</a:t>
            </a:r>
          </a:p>
          <a:p>
            <a:pPr eaLnBrk="0">
              <a:lnSpc>
                <a:spcPts val="2156"/>
              </a:lnSpc>
              <a:spcBef>
                <a:spcPts val="0"/>
              </a:spcBef>
              <a:spcAft>
                <a:spcPts val="0"/>
              </a:spcAft>
            </a:pPr>
            <a:r>
              <a:rPr sz="1725" b="0">
                <a:solidFill>
                  <a:srgbClr val="44505C"/>
                </a:solidFill>
                <a:latin typeface="Noto Sans KR"/>
              </a:rPr>
              <a:t>시, 증빙을 통해 지역사랑상품권으로 일부를</a:t>
            </a:r>
          </a:p>
          <a:p>
            <a:pPr eaLnBrk="0">
              <a:lnSpc>
                <a:spcPts val="2156"/>
              </a:lnSpc>
              <a:spcBef>
                <a:spcPts val="0"/>
              </a:spcBef>
              <a:spcAft>
                <a:spcPts val="0"/>
              </a:spcAft>
            </a:pPr>
            <a:r>
              <a:rPr sz="1725" b="0">
                <a:solidFill>
                  <a:srgbClr val="44505C"/>
                </a:solidFill>
                <a:latin typeface="Noto Sans KR"/>
              </a:rPr>
              <a:t>환급해 주는 방식</a:t>
            </a:r>
          </a:p>
          <a:p>
            <a:pPr eaLnBrk="0">
              <a:lnSpc>
                <a:spcPts val="2156"/>
              </a:lnSpc>
              <a:spcBef>
                <a:spcPts val="0"/>
              </a:spcBef>
              <a:spcAft>
                <a:spcPts val="0"/>
              </a:spcAft>
            </a:pPr>
            <a:r>
              <a:rPr sz="1725" b="0">
                <a:solidFill>
                  <a:srgbClr val="44505C"/>
                </a:solidFill>
                <a:latin typeface="Noto Sans KR"/>
              </a:rPr>
              <a:t>관광기획팀이 환급 대상 업종(식음료, 쇼핑) 및 가맹점</a:t>
            </a:r>
          </a:p>
          <a:p>
            <a:pPr eaLnBrk="0">
              <a:lnSpc>
                <a:spcPts val="2156"/>
              </a:lnSpc>
              <a:spcBef>
                <a:spcPts val="0"/>
              </a:spcBef>
              <a:spcAft>
                <a:spcPts val="0"/>
              </a:spcAft>
            </a:pPr>
            <a:r>
              <a:rPr sz="1725" b="0">
                <a:solidFill>
                  <a:srgbClr val="44505C"/>
                </a:solidFill>
                <a:latin typeface="Noto Sans KR"/>
              </a:rPr>
              <a:t>리스트를 확정하고, 모바일 지역화폐 정산 체계와 부정수급</a:t>
            </a:r>
          </a:p>
          <a:p>
            <a:pPr eaLnBrk="0">
              <a:lnSpc>
                <a:spcPts val="2156"/>
              </a:lnSpc>
              <a:spcBef>
                <a:spcPts val="0"/>
              </a:spcBef>
              <a:spcAft>
                <a:spcPts val="0"/>
              </a:spcAft>
            </a:pPr>
            <a:r>
              <a:rPr sz="1725" b="0">
                <a:solidFill>
                  <a:srgbClr val="44505C"/>
                </a:solidFill>
                <a:latin typeface="Noto Sans KR"/>
              </a:rPr>
              <a:t>방지 지침을 수립함</a:t>
            </a:r>
          </a:p>
        </p:txBody>
      </p:sp>
      <p:sp>
        <p:nvSpPr>
          <p:cNvPr id="15" name="overview-goal-0"/>
          <p:cNvSpPr/>
          <p:nvPr/>
        </p:nvSpPr>
        <p:spPr>
          <a:xfrm>
            <a:off x="1009650" y="6400800"/>
            <a:ext cx="6419850" cy="1362075"/>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overview-goal-icon-0" descr="map-pinned-blue.png"/>
          <p:cNvPicPr>
            <a:picLocks noChangeAspect="1"/>
          </p:cNvPicPr>
          <p:nvPr/>
        </p:nvPicPr>
        <p:blipFill>
          <a:blip r:embed="rId3"/>
          <a:stretch>
            <a:fillRect/>
          </a:stretch>
        </p:blipFill>
        <p:spPr>
          <a:xfrm>
            <a:off x="1238250" y="6629400"/>
            <a:ext cx="571500" cy="571500"/>
          </a:xfrm>
          <a:prstGeom prst="rect">
            <a:avLst/>
          </a:prstGeom>
        </p:spPr>
      </p:pic>
      <p:sp>
        <p:nvSpPr>
          <p:cNvPr id="17"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추가 방문 목표</a:t>
            </a:r>
          </a:p>
        </p:txBody>
      </p:sp>
      <p:sp>
        <p:nvSpPr>
          <p:cNvPr id="18"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276AA5"/>
                </a:solidFill>
                <a:latin typeface="Noto Sans KR"/>
              </a:rPr>
              <a:t>+2,160명</a:t>
            </a:r>
          </a:p>
        </p:txBody>
      </p:sp>
      <p:sp>
        <p:nvSpPr>
          <p:cNvPr id="19" name="overview-goal-1"/>
          <p:cNvSpPr/>
          <p:nvPr/>
        </p:nvSpPr>
        <p:spPr>
          <a:xfrm>
            <a:off x="7810500" y="6400800"/>
            <a:ext cx="6419850" cy="1362075"/>
          </a:xfrm>
          <a:prstGeom prst="rect">
            <a:avLst/>
          </a:prstGeom>
          <a:solidFill>
            <a:srgbClr val="E7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overview-goal-icon-1" descr="coins-jade.png"/>
          <p:cNvPicPr>
            <a:picLocks noChangeAspect="1"/>
          </p:cNvPicPr>
          <p:nvPr/>
        </p:nvPicPr>
        <p:blipFill>
          <a:blip r:embed="rId4"/>
          <a:stretch>
            <a:fillRect/>
          </a:stretch>
        </p:blipFill>
        <p:spPr>
          <a:xfrm>
            <a:off x="8039100" y="6629400"/>
            <a:ext cx="571500" cy="571500"/>
          </a:xfrm>
          <a:prstGeom prst="rect">
            <a:avLst/>
          </a:prstGeom>
        </p:spPr>
      </p:pic>
      <p:sp>
        <p:nvSpPr>
          <p:cNvPr id="21"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3개월간 월평균 추가 소비 목표</a:t>
            </a:r>
          </a:p>
        </p:txBody>
      </p:sp>
      <p:sp>
        <p:nvSpPr>
          <p:cNvPr id="22"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2867F"/>
                </a:solidFill>
                <a:latin typeface="Noto Sans KR"/>
              </a:rPr>
              <a:t>약 +2,563만 원</a:t>
            </a:r>
          </a:p>
        </p:txBody>
      </p:sp>
      <p:sp>
        <p:nvSpPr>
          <p:cNvPr id="23"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24" name="editorial-page"/>
          <p:cNvSpPr txBox="1"/>
          <p:nvPr/>
        </p:nvSpPr>
        <p:spPr>
          <a:xfrm>
            <a:off x="13268325" y="428625"/>
            <a:ext cx="962025" cy="266700"/>
          </a:xfrm>
          <a:prstGeom prst="rect">
            <a:avLst/>
          </a:prstGeom>
          <a:noFill/>
        </p:spPr>
        <p:txBody>
          <a:bodyPr wrap="none" lIns="57150" rIns="57150" tIns="38100" bIns="38100" anchor="ctr">
            <a:noAutofit/>
          </a:bodyPr>
          <a:lstStyle/>
          <a:p>
            <a:pPr eaLnBrk="0" algn="ctr">
              <a:lnSpc>
                <a:spcPts val="1406"/>
              </a:lnSpc>
              <a:spcBef>
                <a:spcPts val="0"/>
              </a:spcBef>
              <a:spcAft>
                <a:spcPts val="0"/>
              </a:spcAft>
            </a:pPr>
            <a:r>
              <a:rPr sz="1125" b="0">
                <a:solidFill>
                  <a:srgbClr val="66717A"/>
                </a:solidFill>
                <a:latin typeface="Noto Sans KR"/>
              </a:rPr>
              <a:t>04 / 17</a:t>
            </a:r>
          </a:p>
        </p:txBody>
      </p:sp>
    </p:spTree>
  </p:cSld>
  <p:clrMapOvr>
    <a:masterClrMapping/>
  </p:clrMapOvr>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1866900"/>
            <a:ext cx="4229100" cy="6429375"/>
          </a:xfrm>
          <a:prstGeom prst="roundRect">
            <a:avLst>
              <a:gd name="adj" fmla="val 10000"/>
            </a:avLst>
          </a:prstGeom>
          <a:solidFill>
            <a:srgbClr val="DC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다른 지역 참고 사진 · 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1866900"/>
            <a:ext cx="4229100" cy="6429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218"/>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다른 지역 참고 사진 · 서울 중구 정동야행 · 문화행사 참고 사진</a:t>
            </a:r>
          </a:p>
          <a:p>
            <a:pPr eaLnBrk="0">
              <a:lnSpc>
                <a:spcPts val="1218"/>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1866900"/>
            <a:ext cx="4229100" cy="6429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다른 지역 참고 사진 · 전국 · 디지털 관광주민증 홍보물</a:t>
            </a:r>
          </a:p>
          <a:p>
            <a:pPr eaLnBrk="0">
              <a:lnSpc>
                <a:spcPts val="1406"/>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05 / 17</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운영 방식</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6" name="result-photo-panel"/>
          <p:cNvSpPr/>
          <p:nvPr/>
        </p:nvSpPr>
        <p:spPr>
          <a:xfrm>
            <a:off x="1009650" y="2381250"/>
            <a:ext cx="5581650" cy="3476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2629472"/>
            <a:ext cx="5581650" cy="2980182"/>
          </a:xfrm>
          <a:prstGeom prst="rect">
            <a:avLst/>
          </a:prstGeom>
        </p:spPr>
      </p:pic>
      <p:sp>
        <p:nvSpPr>
          <p:cNvPr id="10" name="result-flow-panel-0"/>
          <p:cNvSpPr/>
          <p:nvPr/>
        </p:nvSpPr>
        <p:spPr>
          <a:xfrm>
            <a:off x="7172325" y="2629472"/>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400925" y="2865819"/>
            <a:ext cx="457200" cy="457200"/>
          </a:xfrm>
          <a:prstGeom prst="rect">
            <a:avLst/>
          </a:prstGeom>
        </p:spPr>
      </p:pic>
      <p:sp>
        <p:nvSpPr>
          <p:cNvPr id="12" name="result-flow-title-0"/>
          <p:cNvSpPr txBox="1"/>
          <p:nvPr/>
        </p:nvSpPr>
        <p:spPr>
          <a:xfrm>
            <a:off x="8048625" y="2724722"/>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지역에서 소비</a:t>
            </a:r>
          </a:p>
        </p:txBody>
      </p:sp>
      <p:sp>
        <p:nvSpPr>
          <p:cNvPr id="13" name="result-flow-detail-0"/>
          <p:cNvSpPr txBox="1"/>
          <p:nvPr/>
        </p:nvSpPr>
        <p:spPr>
          <a:xfrm>
            <a:off x="8048625" y="3124772"/>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여행자가 지역 내에서 지출</a:t>
            </a:r>
          </a:p>
        </p:txBody>
      </p:sp>
      <p:sp>
        <p:nvSpPr>
          <p:cNvPr id="15" name="result-flow-panel-1"/>
          <p:cNvSpPr/>
          <p:nvPr/>
        </p:nvSpPr>
        <p:spPr>
          <a:xfrm>
            <a:off x="7172325" y="3654616"/>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400925" y="3890962"/>
            <a:ext cx="457200" cy="457200"/>
          </a:xfrm>
          <a:prstGeom prst="rect">
            <a:avLst/>
          </a:prstGeom>
        </p:spPr>
      </p:pic>
      <p:sp>
        <p:nvSpPr>
          <p:cNvPr id="17" name="result-flow-title-1"/>
          <p:cNvSpPr txBox="1"/>
          <p:nvPr/>
        </p:nvSpPr>
        <p:spPr>
          <a:xfrm>
            <a:off x="8048625" y="3749866"/>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혜택을 환급</a:t>
            </a:r>
          </a:p>
        </p:txBody>
      </p:sp>
      <p:sp>
        <p:nvSpPr>
          <p:cNvPr id="18" name="result-flow-detail-1"/>
          <p:cNvSpPr txBox="1"/>
          <p:nvPr/>
        </p:nvSpPr>
        <p:spPr>
          <a:xfrm>
            <a:off x="8048625" y="4149916"/>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지출 일부를 상품권으로 지급</a:t>
            </a:r>
          </a:p>
        </p:txBody>
      </p:sp>
      <p:sp>
        <p:nvSpPr>
          <p:cNvPr id="20" name="result-flow-panel-2"/>
          <p:cNvSpPr/>
          <p:nvPr/>
        </p:nvSpPr>
        <p:spPr>
          <a:xfrm>
            <a:off x="7172325" y="4679759"/>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400925" y="4916106"/>
            <a:ext cx="457200" cy="457200"/>
          </a:xfrm>
          <a:prstGeom prst="rect">
            <a:avLst/>
          </a:prstGeom>
        </p:spPr>
      </p:pic>
      <p:sp>
        <p:nvSpPr>
          <p:cNvPr id="22" name="result-flow-title-2"/>
          <p:cNvSpPr txBox="1"/>
          <p:nvPr/>
        </p:nvSpPr>
        <p:spPr>
          <a:xfrm>
            <a:off x="8048625" y="4775009"/>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 상점 재이용</a:t>
            </a:r>
          </a:p>
        </p:txBody>
      </p:sp>
      <p:sp>
        <p:nvSpPr>
          <p:cNvPr id="23" name="result-flow-detail-2"/>
          <p:cNvSpPr txBox="1"/>
          <p:nvPr/>
        </p:nvSpPr>
        <p:spPr>
          <a:xfrm>
            <a:off x="8048625" y="5175059"/>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받은 혜택을 지역에서 다시 사용</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06 / 17</a:t>
            </a:r>
          </a:p>
        </p:txBody>
      </p:sp>
      <p:sp>
        <p:nvSpPr>
          <p:cNvPr id="32" name="result-photo-source-bg"/>
          <p:cNvSpPr/>
          <p:nvPr/>
        </p:nvSpPr>
        <p:spPr>
          <a:xfrm>
            <a:off x="1123950" y="5009578"/>
            <a:ext cx="5353050" cy="485775"/>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038153"/>
            <a:ext cx="5124450" cy="428625"/>
          </a:xfrm>
          <a:prstGeom prst="rect">
            <a:avLst/>
          </a:prstGeom>
          <a:noFill/>
        </p:spPr>
        <p:txBody>
          <a:bodyPr wrap="none" lIns="57150" rIns="57150" tIns="38100" bIns="38100" anchor="ctr">
            <a:noAutofit/>
          </a:bodyPr>
          <a:lstStyle/>
          <a:p>
            <a:pPr eaLnBrk="0" algn="ctr">
              <a:lnSpc>
                <a:spcPts val="1359"/>
              </a:lnSpc>
              <a:spcBef>
                <a:spcPts val="0"/>
              </a:spcBef>
              <a:spcAft>
                <a:spcPts val="0"/>
              </a:spcAft>
            </a:pPr>
            <a:r>
              <a:rPr sz="1087" b="0">
                <a:solidFill>
                  <a:srgbClr val="FFFFFF"/>
                </a:solidFill>
                <a:latin typeface="Noto Sans KR"/>
              </a:rPr>
              <a:t>다른 지역 참고 사진 · 강진군 · 반값여행 공식 홍보물</a:t>
            </a:r>
          </a:p>
          <a:p>
            <a:pPr eaLnBrk="0" algn="ctr">
              <a:lnSpc>
                <a:spcPts val="1359"/>
              </a:lnSpc>
              <a:spcBef>
                <a:spcPts val="0"/>
              </a:spcBef>
              <a:spcAft>
                <a:spcPts val="0"/>
              </a:spcAft>
            </a:pPr>
            <a:r>
              <a:rPr sz="1087" b="0">
                <a:solidFill>
                  <a:srgbClr val="FFFFFF"/>
                </a:solidFill>
                <a:latin typeface="Noto Sans KR"/>
              </a:rPr>
              <a:t>출처: 강진 반값여행 공식 홈페이지</a:t>
            </a:r>
          </a:p>
        </p:txBody>
      </p:sp>
      <p:sp>
        <p:nvSpPr>
          <p:cNvPr id="34" name="case-adaptation-card-0"/>
          <p:cNvSpPr/>
          <p:nvPr/>
        </p:nvSpPr>
        <p:spPr>
          <a:xfrm>
            <a:off x="10096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ase-adaptation-label-0"/>
          <p:cNvSpPr txBox="1"/>
          <p:nvPr/>
        </p:nvSpPr>
        <p:spPr>
          <a:xfrm>
            <a:off x="11906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지역의 관광 신호</a:t>
            </a:r>
          </a:p>
        </p:txBody>
      </p:sp>
      <p:sp>
        <p:nvSpPr>
          <p:cNvPr id="36" name="case-adaptation-body-0"/>
          <p:cNvSpPr txBox="1"/>
          <p:nvPr/>
        </p:nvSpPr>
        <p:spPr>
          <a:xfrm>
            <a:off x="11906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관광소비액 전망 · +3.85%</a:t>
            </a:r>
          </a:p>
          <a:p>
            <a:pPr eaLnBrk="0">
              <a:lnSpc>
                <a:spcPts val="1875"/>
              </a:lnSpc>
              <a:spcBef>
                <a:spcPts val="0"/>
              </a:spcBef>
              <a:spcAft>
                <a:spcPts val="0"/>
              </a:spcAft>
            </a:pPr>
            <a:r>
              <a:rPr sz="1500" b="0">
                <a:solidFill>
                  <a:srgbClr val="46515C"/>
                </a:solidFill>
                <a:latin typeface="Noto Sans KR"/>
              </a:rPr>
              <a:t>업종별 소비 비중 · 쇼핑 43.0%,</a:t>
            </a:r>
          </a:p>
          <a:p>
            <a:pPr eaLnBrk="0">
              <a:lnSpc>
                <a:spcPts val="1875"/>
              </a:lnSpc>
              <a:spcBef>
                <a:spcPts val="0"/>
              </a:spcBef>
              <a:spcAft>
                <a:spcPts val="0"/>
              </a:spcAft>
            </a:pPr>
            <a:r>
              <a:rPr sz="1500" b="0">
                <a:solidFill>
                  <a:srgbClr val="46515C"/>
                </a:solidFill>
                <a:latin typeface="Noto Sans KR"/>
              </a:rPr>
              <a:t>식음료업 39.7%</a:t>
            </a:r>
          </a:p>
          <a:p>
            <a:pPr eaLnBrk="0">
              <a:lnSpc>
                <a:spcPts val="1875"/>
              </a:lnSpc>
              <a:spcBef>
                <a:spcPts val="0"/>
              </a:spcBef>
              <a:spcAft>
                <a:spcPts val="0"/>
              </a:spcAft>
            </a:pPr>
            <a:r>
              <a:rPr sz="1500" b="0">
                <a:solidFill>
                  <a:srgbClr val="46515C"/>
                </a:solidFill>
                <a:latin typeface="Noto Sans KR"/>
              </a:rPr>
              <a:t>숙박 특성 · 숙박 비율 7.03%, 숙박일수 2.82일</a:t>
            </a:r>
          </a:p>
        </p:txBody>
      </p:sp>
      <p:sp>
        <p:nvSpPr>
          <p:cNvPr id="37" name="case-adaptation-card-1"/>
          <p:cNvSpPr/>
          <p:nvPr/>
        </p:nvSpPr>
        <p:spPr>
          <a:xfrm>
            <a:off x="55054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se-adaptation-label-1"/>
          <p:cNvSpPr txBox="1"/>
          <p:nvPr/>
        </p:nvSpPr>
        <p:spPr>
          <a:xfrm>
            <a:off x="56864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이 사례를 선택한 이유</a:t>
            </a:r>
          </a:p>
        </p:txBody>
      </p:sp>
      <p:sp>
        <p:nvSpPr>
          <p:cNvPr id="39" name="case-adaptation-body-1"/>
          <p:cNvSpPr txBox="1"/>
          <p:nvPr/>
        </p:nvSpPr>
        <p:spPr>
          <a:xfrm>
            <a:off x="56864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2026년 11월~2027년 1월 전망된 관광소비액</a:t>
            </a:r>
          </a:p>
          <a:p>
            <a:pPr eaLnBrk="0">
              <a:lnSpc>
                <a:spcPts val="1875"/>
              </a:lnSpc>
              <a:spcBef>
                <a:spcPts val="0"/>
              </a:spcBef>
              <a:spcAft>
                <a:spcPts val="0"/>
              </a:spcAft>
            </a:pPr>
            <a:r>
              <a:rPr sz="1500" b="0">
                <a:solidFill>
                  <a:srgbClr val="46515C"/>
                </a:solidFill>
                <a:latin typeface="Noto Sans KR"/>
              </a:rPr>
              <a:t>증가 추세(3.85%)를 실제 상권 매출로</a:t>
            </a:r>
          </a:p>
          <a:p>
            <a:pPr eaLnBrk="0">
              <a:lnSpc>
                <a:spcPts val="1875"/>
              </a:lnSpc>
              <a:spcBef>
                <a:spcPts val="0"/>
              </a:spcBef>
              <a:spcAft>
                <a:spcPts val="0"/>
              </a:spcAft>
            </a:pPr>
            <a:r>
              <a:rPr sz="1500" b="0">
                <a:solidFill>
                  <a:srgbClr val="46515C"/>
                </a:solidFill>
                <a:latin typeface="Noto Sans KR"/>
              </a:rPr>
              <a:t>연결하기 위해, 결제 증빙 기반의 환급을 통해</a:t>
            </a:r>
          </a:p>
          <a:p>
            <a:pPr eaLnBrk="0">
              <a:lnSpc>
                <a:spcPts val="1875"/>
              </a:lnSpc>
              <a:spcBef>
                <a:spcPts val="0"/>
              </a:spcBef>
              <a:spcAft>
                <a:spcPts val="0"/>
              </a:spcAft>
            </a:pPr>
            <a:r>
              <a:rPr sz="1500" b="0">
                <a:solidFill>
                  <a:srgbClr val="46515C"/>
                </a:solidFill>
                <a:latin typeface="Noto Sans KR"/>
              </a:rPr>
              <a:t>추가 소비를 유도함</a:t>
            </a:r>
          </a:p>
        </p:txBody>
      </p:sp>
      <p:sp>
        <p:nvSpPr>
          <p:cNvPr id="40" name="case-adaptation-card-2"/>
          <p:cNvSpPr/>
          <p:nvPr/>
        </p:nvSpPr>
        <p:spPr>
          <a:xfrm>
            <a:off x="100012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se-adaptation-label-2"/>
          <p:cNvSpPr txBox="1"/>
          <p:nvPr/>
        </p:nvSpPr>
        <p:spPr>
          <a:xfrm>
            <a:off x="101822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지역에 적용할 내용</a:t>
            </a:r>
          </a:p>
        </p:txBody>
      </p:sp>
      <p:sp>
        <p:nvSpPr>
          <p:cNvPr id="42" name="case-adaptation-body-2"/>
          <p:cNvSpPr txBox="1"/>
          <p:nvPr/>
        </p:nvSpPr>
        <p:spPr>
          <a:xfrm>
            <a:off x="101822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서구 내 지정된 식음료·쇼핑 업종에서 일정</a:t>
            </a:r>
          </a:p>
          <a:p>
            <a:pPr eaLnBrk="0">
              <a:lnSpc>
                <a:spcPts val="1875"/>
              </a:lnSpc>
              <a:spcBef>
                <a:spcPts val="0"/>
              </a:spcBef>
              <a:spcAft>
                <a:spcPts val="0"/>
              </a:spcAft>
            </a:pPr>
            <a:r>
              <a:rPr sz="1500" b="0">
                <a:solidFill>
                  <a:srgbClr val="46515C"/>
                </a:solidFill>
                <a:latin typeface="Noto Sans KR"/>
              </a:rPr>
              <a:t>금액 이상 결제 시, 증빙을 통해</a:t>
            </a:r>
          </a:p>
          <a:p>
            <a:pPr eaLnBrk="0">
              <a:lnSpc>
                <a:spcPts val="1875"/>
              </a:lnSpc>
              <a:spcBef>
                <a:spcPts val="0"/>
              </a:spcBef>
              <a:spcAft>
                <a:spcPts val="0"/>
              </a:spcAft>
            </a:pPr>
            <a:r>
              <a:rPr sz="1500" b="0">
                <a:solidFill>
                  <a:srgbClr val="46515C"/>
                </a:solidFill>
                <a:latin typeface="Noto Sans KR"/>
              </a:rPr>
              <a:t>지역사랑상품권으로 일부를 환급해 주는 방식</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2026-11 ~ 2027-01,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1,494만 명</a:t>
            </a:r>
          </a:p>
          <a:p>
            <a:pPr eaLnBrk="0">
              <a:lnSpc>
                <a:spcPts val="2156"/>
              </a:lnSpc>
              <a:spcBef>
                <a:spcPts val="0"/>
              </a:spcBef>
              <a:spcAft>
                <a:spcPts val="0"/>
              </a:spcAft>
            </a:pPr>
            <a:r>
              <a:rPr sz="1725" b="0">
                <a:solidFill>
                  <a:srgbClr val="202124"/>
                </a:solidFill>
                <a:latin typeface="Noto Sans KR"/>
              </a:rPr>
              <a:t>관광소비액 2,455억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07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+2,160명, 관광소비액 약 +7,690만 원</a:t>
            </a:r>
          </a:p>
        </p:txBody>
      </p:sp>
    </p:spTree>
    <p:extLst>
      <p:ext uri="{BB962C8B-B14F-4D97-AF65-F5344CB8AC3E}">
        <p14:creationId xmlns:p14="http://schemas.microsoft.com/office/powerpoint/2010/main" val="380383987"/>
      </p:ext>
    </p:extLst>
  </p:cSld>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600"/>
              </a:lnSpc>
              <a:spcBef>
                <a:spcPts val="0"/>
              </a:spcBef>
              <a:spcAft>
                <a:spcPts val="0"/>
              </a:spcAft>
            </a:pPr>
            <a:r>
              <a:rPr sz="2000"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080"/>
              </a:lnSpc>
              <a:spcBef>
                <a:spcPts val="0"/>
              </a:spcBef>
              <a:spcAft>
                <a:spcPts val="0"/>
              </a:spcAft>
            </a:pPr>
            <a:r>
              <a:rPr sz="1600" b="0">
                <a:solidFill>
                  <a:srgbClr val="62666C"/>
                </a:solidFill>
                <a:latin typeface="Noto Sans KR"/>
              </a:rPr>
              <a:t>대전광역시 서구의 3개월 운영안</a:t>
            </a:r>
          </a:p>
          <a:p>
            <a:pPr eaLnBrk="0">
              <a:lnSpc>
                <a:spcPts val="2080"/>
              </a:lnSpc>
              <a:spcBef>
                <a:spcPts val="0"/>
              </a:spcBef>
              <a:spcAft>
                <a:spcPts val="0"/>
              </a:spcAft>
            </a:pPr>
            <a:r>
              <a:rPr sz="1600" b="0">
                <a:solidFill>
                  <a:srgbClr val="62666C"/>
                </a:solidFill>
                <a:latin typeface="Noto Sans KR"/>
              </a:rPr>
              <a:t>운영 산정 기간 2026-11 ~ 2027-01</a:t>
            </a:r>
          </a:p>
          <a:p>
            <a:pPr eaLnBrk="0">
              <a:lnSpc>
                <a:spcPts val="2080"/>
              </a:lnSpc>
              <a:spcBef>
                <a:spcPts val="0"/>
              </a:spcBef>
              <a:spcAft>
                <a:spcPts val="0"/>
              </a:spcAft>
            </a:pPr>
            <a:r>
              <a:rPr sz="1600" b="0">
                <a:solidFill>
                  <a:srgbClr val="62666C"/>
                </a:solidFill>
                <a:latin typeface="Noto Sans KR"/>
              </a:rPr>
              <a:t>편성 정원 9,600명분 × 이용률 75%</a:t>
            </a:r>
          </a:p>
          <a:p>
            <a:pPr eaLnBrk="0">
              <a:lnSpc>
                <a:spcPts val="2080"/>
              </a:lnSpc>
              <a:spcBef>
                <a:spcPts val="0"/>
              </a:spcBef>
              <a:spcAft>
                <a:spcPts val="0"/>
              </a:spcAft>
            </a:pPr>
            <a:r>
              <a:rPr sz="1600" b="0">
                <a:solidFill>
                  <a:srgbClr val="62666C"/>
                </a:solidFill>
                <a:latin typeface="Noto Sans KR"/>
              </a:rPr>
              <a:t>예상 참여 7,200명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600"/>
              </a:lnSpc>
              <a:spcBef>
                <a:spcPts val="0"/>
              </a:spcBef>
              <a:spcAft>
                <a:spcPts val="0"/>
              </a:spcAft>
            </a:pPr>
            <a:r>
              <a:rPr sz="2000" b="1">
                <a:solidFill>
                  <a:srgbClr val="AE2349"/>
                </a:solidFill>
                <a:latin typeface="Noto Sans KR"/>
              </a:rPr>
              <a:t>추가 방문 목표 2,160명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1950"/>
              </a:lnSpc>
              <a:spcBef>
                <a:spcPts val="0"/>
              </a:spcBef>
              <a:spcAft>
                <a:spcPts val="0"/>
              </a:spcAft>
            </a:pPr>
            <a:r>
              <a:rPr sz="1500" b="0">
                <a:solidFill>
                  <a:srgbClr val="62666C"/>
                </a:solidFill>
                <a:latin typeface="Noto Sans KR"/>
              </a:rPr>
              <a:t>운영 정원 = 8개 거점 × 월 20일 × 3개월</a:t>
            </a:r>
          </a:p>
          <a:p>
            <a:pPr eaLnBrk="0">
              <a:lnSpc>
                <a:spcPts val="1950"/>
              </a:lnSpc>
              <a:spcBef>
                <a:spcPts val="0"/>
              </a:spcBef>
              <a:spcAft>
                <a:spcPts val="0"/>
              </a:spcAft>
            </a:pPr>
            <a:r>
              <a:rPr sz="1500" b="0">
                <a:solidFill>
                  <a:srgbClr val="62666C"/>
                </a:solidFill>
                <a:latin typeface="Noto Sans KR"/>
              </a:rPr>
              <a:t>× 하루 1회 × 회당 20명 = 9,600명분</a:t>
            </a:r>
          </a:p>
          <a:p>
            <a:pPr eaLnBrk="0">
              <a:lnSpc>
                <a:spcPts val="1950"/>
              </a:lnSpc>
              <a:spcBef>
                <a:spcPts val="0"/>
              </a:spcBef>
              <a:spcAft>
                <a:spcPts val="0"/>
              </a:spcAft>
            </a:pPr>
            <a:r>
              <a:rPr sz="150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0"/>
              </a:lnSpc>
              <a:spcBef>
                <a:spcPts val="0"/>
              </a:spcBef>
              <a:spcAft>
                <a:spcPts val="0"/>
              </a:spcAft>
            </a:pPr>
            <a:r>
              <a:rPr sz="1800"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510"/>
              </a:lnSpc>
              <a:spcBef>
                <a:spcPts val="0"/>
              </a:spcBef>
              <a:spcAft>
                <a:spcPts val="0"/>
              </a:spcAft>
            </a:pPr>
            <a:r>
              <a:rPr sz="2700" b="1">
                <a:solidFill>
                  <a:srgbClr val="27649B"/>
                </a:solidFill>
                <a:latin typeface="Noto Sans KR"/>
              </a:rPr>
              <a:t>↑ 2,160명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755"/>
              </a:lnSpc>
              <a:spcBef>
                <a:spcPts val="0"/>
              </a:spcBef>
              <a:spcAft>
                <a:spcPts val="0"/>
              </a:spcAft>
            </a:pPr>
            <a:r>
              <a:rPr sz="135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0"/>
              </a:lnSpc>
              <a:spcBef>
                <a:spcPts val="0"/>
              </a:spcBef>
              <a:spcAft>
                <a:spcPts val="0"/>
              </a:spcAft>
            </a:pPr>
            <a:r>
              <a:rPr sz="1800"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510"/>
              </a:lnSpc>
              <a:spcBef>
                <a:spcPts val="0"/>
              </a:spcBef>
              <a:spcAft>
                <a:spcPts val="0"/>
              </a:spcAft>
            </a:pPr>
            <a:r>
              <a:rPr sz="2700" b="1">
                <a:solidFill>
                  <a:srgbClr val="187C70"/>
                </a:solidFill>
                <a:latin typeface="Noto Sans KR"/>
              </a:rPr>
              <a:t>↑ 0.77억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755"/>
              </a:lnSpc>
              <a:spcBef>
                <a:spcPts val="0"/>
              </a:spcBef>
              <a:spcAft>
                <a:spcPts val="0"/>
              </a:spcAft>
            </a:pPr>
            <a:r>
              <a:rPr sz="1350" b="0">
                <a:solidFill>
                  <a:srgbClr val="62666C"/>
                </a:solidFill>
                <a:latin typeface="Noto Sans KR"/>
              </a:rPr>
              <a:t>3개월 월별 합계 · +0.03%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55"/>
              </a:lnSpc>
              <a:spcBef>
                <a:spcPts val="0"/>
              </a:spcBef>
              <a:spcAft>
                <a:spcPts val="0"/>
              </a:spcAft>
            </a:pPr>
            <a:r>
              <a:rPr sz="135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월평균 497.8만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187C70"/>
                </a:solidFill>
                <a:latin typeface="Noto Sans KR"/>
              </a:rPr>
              <a:t>7,200명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편성 한도 9,600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2,160명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참여 목표 × 추가 방문 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8개 × 월 20일 × 3개월 × 하루 1회 × 회당 20명 = 9,600명분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2026-11~2027-01 운영 · 예상 견적 7,644만 원</a:t>
            </a:r>
          </a:p>
        </p:txBody>
      </p:sp>
      <p:sp>
        <p:nvSpPr>
          <p:cNvPr id="32" name="capacity-scale-rule"/>
          <p:cNvSpPr txBox="1"/>
          <p:nvPr/>
        </p:nvSpPr>
        <p:spPr>
          <a:xfrm>
            <a:off x="1009650" y="6743700"/>
            <a:ext cx="13220700" cy="9906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대전광역시 서구의 월평균 방문 전망을 기준으로 8개 운영 거점을 제안했습니다.</a:t>
            </a:r>
          </a:p>
          <a:p>
            <a:pPr eaLnBrk="0">
              <a:lnSpc>
                <a:spcPts val="1968"/>
              </a:lnSpc>
              <a:spcBef>
                <a:spcPts val="0"/>
              </a:spcBef>
              <a:spcAft>
                <a:spcPts val="0"/>
              </a:spcAft>
            </a:pPr>
            <a:r>
              <a:rPr sz="1575" b="0">
                <a:solidFill>
                  <a:srgbClr val="62666C"/>
                </a:solidFill>
                <a:latin typeface="Noto Sans KR"/>
              </a:rPr>
              <a:t>위 식으로 계산한 9,600명분 중 75%인 7,200명을 참여 목표로 잡았습니다.</a:t>
            </a:r>
          </a:p>
          <a:p>
            <a:pPr eaLnBrk="0">
              <a:lnSpc>
                <a:spcPts val="1968"/>
              </a:lnSpc>
              <a:spcBef>
                <a:spcPts val="0"/>
              </a:spcBef>
              <a:spcAft>
                <a:spcPts val="0"/>
              </a:spcAft>
            </a:pPr>
            <a:r>
              <a:rPr sz="1575" b="0">
                <a:solidFill>
                  <a:srgbClr val="62666C"/>
                </a:solidFill>
                <a:latin typeface="Noto Sans KR"/>
              </a:rPr>
              <a:t>참여자 중 30%가 사업 때문에 추가로 방문한다고 보고, 2,160명을 추가 방문 목표로 계산했습니다.</a:t>
            </a:r>
          </a:p>
        </p:txBody>
      </p:sp>
      <p:sp>
        <p:nvSpPr>
          <p:cNvPr id="33"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3.4 월별 방문·소비 증가 목표</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‘서구 관광 소비 환급’으로 인한 방문자 및 소비액 증가 목표</a:t>
            </a:r>
          </a:p>
        </p:txBody>
      </p:sp>
      <p:sp>
        <p:nvSpPr>
          <p:cNvPr id="5" name="scenario-panel-0"/>
          <p:cNvSpPr/>
          <p:nvPr/>
        </p:nvSpPr>
        <p:spPr>
          <a:xfrm>
            <a:off x="100965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7649B"/>
                </a:solidFill>
                <a:latin typeface="Noto Sans KR"/>
              </a:rPr>
              <a:t>3개월 추가 목표 합계 · 2,160명</a:t>
            </a:r>
          </a:p>
        </p:txBody>
      </p:sp>
      <p:sp>
        <p:nvSpPr>
          <p:cNvPr id="9" name="scenario-panel-1"/>
          <p:cNvSpPr/>
          <p:nvPr/>
        </p:nvSpPr>
        <p:spPr>
          <a:xfrm>
            <a:off x="781050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87C70"/>
                </a:solidFill>
                <a:latin typeface="Noto Sans KR"/>
              </a:rPr>
              <a:t>3개월 추가 목표 합계 · 7,690만 원</a:t>
            </a:r>
          </a:p>
        </p:txBody>
      </p:sp>
      <p:sp>
        <p:nvSpPr>
          <p:cNvPr id="13" name="scenario-disclaimer"/>
          <p:cNvSpPr txBox="1"/>
          <p:nvPr/>
        </p:nvSpPr>
        <p:spPr>
          <a:xfrm>
            <a:off x="1009650" y="7620000"/>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기준 전망에 더하는 월별 계획 목표입니다. 준비월은 추가 목표를 배분하지 않으며, 실제 효과는 사업 후 확인합니다.</a:t>
            </a:r>
          </a:p>
        </p:txBody>
      </p:sp>
      <p:sp>
        <p:nvSpPr>
          <p:cNvPr id="1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10 / 17</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4.1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2027-01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2027-01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11 / 17</a:t>
            </a:r>
          </a:p>
        </p:txBody>
      </p:sp>
    </p:spTree>
    <p:extLst>
      <p:ext uri="{BB962C8B-B14F-4D97-AF65-F5344CB8AC3E}">
        <p14:creationId xmlns:p14="http://schemas.microsoft.com/office/powerpoint/2010/main" val="380383987"/>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4.2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4,940,705명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357명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4,990,353명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720명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5,003,655명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5,004,738명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14,933,636명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14,935,796명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2,160명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2,160명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859.86억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1,368만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810.60억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2,579만 원 · 0.03%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783.72억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784.09억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3,742만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2,453.78억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2,454.54억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7,690만 원 · 0.03%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7,690만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12 / 17</a:t>
            </a:r>
          </a:p>
        </p:txBody>
      </p:sp>
    </p:spTree>
    <p:extLst>
      <p:ext uri="{BB962C8B-B14F-4D97-AF65-F5344CB8AC3E}">
        <p14:creationId xmlns:p14="http://schemas.microsoft.com/office/powerpoint/2010/main" val="553742078"/>
      </p:ext>
    </p:extLst>
  </p:cSld>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7,644만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35,488,800원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7,200건 × min(계획 결제 16,431원 × 30%, 건별 상한 50,000원) = 건당 4,929원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18,000,000원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3개월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6,948,880원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69,488,800원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118,303,200원 중 추가 소비 목표 76,897,579원.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89,450,240원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13 / 17</a:t>
            </a:r>
          </a:p>
        </p:txBody>
      </p:sp>
    </p:spTree>
    <p:extLst>
      <p:ext uri="{BB962C8B-B14F-4D97-AF65-F5344CB8AC3E}">
        <p14:creationId xmlns:p14="http://schemas.microsoft.com/office/powerpoint/2010/main" val="1823133345"/>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96"/>
          <p:cNvSpPr/>
          <p:nvPr/>
        </p:nvSpPr>
        <p:spPr>
          <a:xfrm>
            <a:off x="104394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74"/>
          <p:cNvSpPr/>
          <p:nvPr/>
        </p:nvSpPr>
        <p:spPr>
          <a:xfrm>
            <a:off x="832485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52"/>
          <p:cNvSpPr/>
          <p:nvPr/>
        </p:nvSpPr>
        <p:spPr>
          <a:xfrm>
            <a:off x="62103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2480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3935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53900" y="4324350"/>
            <a:ext cx="6096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3055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AI</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2960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2960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42010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AI</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41057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41057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5346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AI</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5251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5251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14 / 17</a:t>
            </a:r>
          </a:p>
        </p:txBody>
      </p:sp>
      <p:pic>
        <p:nvPicPr>
          <p:cNvPr id="75" name="pipeline-click-icon" descr="mouse-pointer-click-red.png"/>
          <p:cNvPicPr>
            <a:picLocks noChangeAspect="1"/>
          </p:cNvPicPr>
          <p:nvPr/>
        </p:nvPicPr>
        <p:blipFill>
          <a:blip r:embed="rId13"/>
          <a:stretch>
            <a:fillRect/>
          </a:stretch>
        </p:blipFill>
        <p:spPr>
          <a:xfrm>
            <a:off x="1352550" y="3476625"/>
            <a:ext cx="819150" cy="819150"/>
          </a:xfrm>
          <a:prstGeom prst="rect">
            <a:avLst/>
          </a:prstGeom>
        </p:spPr>
      </p:pic>
      <p:sp>
        <p:nvSpPr>
          <p:cNvPr id="76" name="pipeline-export-doc-P"/>
          <p:cNvSpPr/>
          <p:nvPr/>
        </p:nvSpPr>
        <p:spPr>
          <a:xfrm>
            <a:off x="12858750" y="3648075"/>
            <a:ext cx="590550" cy="695325"/>
          </a:xfrm>
          <a:prstGeom prst="roundRect">
            <a:avLst>
              <a:gd name="adj" fmla="val 7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ipeline-export-line-P"/>
          <p:cNvSpPr/>
          <p:nvPr/>
        </p:nvSpPr>
        <p:spPr>
          <a:xfrm>
            <a:off x="13001625"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ipeline-export-line2-P"/>
          <p:cNvSpPr/>
          <p:nvPr/>
        </p:nvSpPr>
        <p:spPr>
          <a:xfrm>
            <a:off x="13001625"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ipeline-export-tile-P"/>
          <p:cNvSpPr/>
          <p:nvPr/>
        </p:nvSpPr>
        <p:spPr>
          <a:xfrm>
            <a:off x="12782550" y="3962400"/>
            <a:ext cx="438150" cy="419100"/>
          </a:xfrm>
          <a:prstGeom prst="roundRect">
            <a:avLst>
              <a:gd name="adj" fmla="val 5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ipeline-export-letter-P"/>
          <p:cNvSpPr txBox="1"/>
          <p:nvPr/>
        </p:nvSpPr>
        <p:spPr>
          <a:xfrm>
            <a:off x="12820650"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P</a:t>
            </a:r>
          </a:p>
        </p:txBody>
      </p:sp>
      <p:sp>
        <p:nvSpPr>
          <p:cNvPr id="81" name="pipeline-export-label-P"/>
          <p:cNvSpPr txBox="1"/>
          <p:nvPr/>
        </p:nvSpPr>
        <p:spPr>
          <a:xfrm>
            <a:off x="12753975"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PowerPoint</a:t>
            </a:r>
          </a:p>
        </p:txBody>
      </p:sp>
      <p:sp>
        <p:nvSpPr>
          <p:cNvPr id="82" name="pipeline-export-doc-W"/>
          <p:cNvSpPr/>
          <p:nvPr/>
        </p:nvSpPr>
        <p:spPr>
          <a:xfrm>
            <a:off x="13649325" y="3648075"/>
            <a:ext cx="590550" cy="695325"/>
          </a:xfrm>
          <a:prstGeom prst="roundRect">
            <a:avLst>
              <a:gd name="adj" fmla="val 7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ipeline-export-line-W"/>
          <p:cNvSpPr/>
          <p:nvPr/>
        </p:nvSpPr>
        <p:spPr>
          <a:xfrm>
            <a:off x="13792200"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ipeline-export-line2-W"/>
          <p:cNvSpPr/>
          <p:nvPr/>
        </p:nvSpPr>
        <p:spPr>
          <a:xfrm>
            <a:off x="13792200"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ipeline-export-tile-W"/>
          <p:cNvSpPr/>
          <p:nvPr/>
        </p:nvSpPr>
        <p:spPr>
          <a:xfrm>
            <a:off x="13573125" y="3962400"/>
            <a:ext cx="438150" cy="419100"/>
          </a:xfrm>
          <a:prstGeom prst="roundRect">
            <a:avLst>
              <a:gd name="adj" fmla="val 5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ipeline-export-letter-W"/>
          <p:cNvSpPr txBox="1"/>
          <p:nvPr/>
        </p:nvSpPr>
        <p:spPr>
          <a:xfrm>
            <a:off x="13611225"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W</a:t>
            </a:r>
          </a:p>
        </p:txBody>
      </p:sp>
      <p:sp>
        <p:nvSpPr>
          <p:cNvPr id="87" name="pipeline-export-label-W"/>
          <p:cNvSpPr txBox="1"/>
          <p:nvPr/>
        </p:nvSpPr>
        <p:spPr>
          <a:xfrm>
            <a:off x="13544550"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Word</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5,003,655명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15 / 17</a:t>
            </a:r>
          </a:p>
        </p:txBody>
      </p:sp>
    </p:spTree>
    <p:extLst>
      <p:ext uri="{BB962C8B-B14F-4D97-AF65-F5344CB8AC3E}">
        <p14:creationId xmlns:p14="http://schemas.microsoft.com/office/powerpoint/2010/main" val="930694367"/>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783.72억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2.87일</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1,219분</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197,204건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11,010건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4쪽 (5개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3"/>
              </a:rPr>
              <a:t>모아보기 korean.visitkorea.or.kr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5"/>
              </a:rPr>
              <a:t>공공데이터포털 www.data.go.kr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6"/>
              </a:rPr>
              <a:t>한국관광공사 관광e배움터 touredu.visitkorea.or.kr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7"/>
              </a:rPr>
              <a:t>공공데이터포털 www.data.go.kr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8"/>
              </a:rPr>
              <a:t>문화체육관광부 보도자료 www.mcst.go.kr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20" name="reference-15"/>
          <p:cNvSpPr txBox="1"/>
          <p:nvPr/>
        </p:nvSpPr>
        <p:spPr>
          <a:xfrm>
            <a:off x="548640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10"/>
              </a:rPr>
              <a:t>종합결과보고서 culture.seoul.go.kr</a:t>
            </a:r>
          </a:p>
        </p:txBody>
      </p:sp>
      <p:sp>
        <p:nvSpPr>
          <p:cNvPr id="21" name="reference-16"/>
          <p:cNvSpPr txBox="1"/>
          <p:nvPr/>
        </p:nvSpPr>
        <p:spPr>
          <a:xfrm>
            <a:off x="548640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1"/>
              </a:rPr>
              <a:t>관광 도시' jnfarm.jeonnam.go.kr</a:t>
            </a:r>
          </a:p>
        </p:txBody>
      </p:sp>
      <p:sp>
        <p:nvSpPr>
          <p:cNvPr id="22" name="reference-17"/>
          <p:cNvSpPr txBox="1"/>
          <p:nvPr/>
        </p:nvSpPr>
        <p:spPr>
          <a:xfrm>
            <a:off x="548640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datalab.visitkorea.or.kr</a:t>
            </a:r>
          </a:p>
        </p:txBody>
      </p:sp>
      <p:sp>
        <p:nvSpPr>
          <p:cNvPr id="23" name="reference-18"/>
          <p:cNvSpPr txBox="1"/>
          <p:nvPr/>
        </p:nvSpPr>
        <p:spPr>
          <a:xfrm>
            <a:off x="548640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24" name="reference-19"/>
          <p:cNvSpPr txBox="1"/>
          <p:nvPr/>
        </p:nvSpPr>
        <p:spPr>
          <a:xfrm>
            <a:off x="548640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25" name="reference-20"/>
          <p:cNvSpPr txBox="1"/>
          <p:nvPr/>
        </p:nvSpPr>
        <p:spPr>
          <a:xfrm>
            <a:off x="548640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26" name="reference-21"/>
          <p:cNvSpPr txBox="1"/>
          <p:nvPr/>
        </p:nvSpPr>
        <p:spPr>
          <a:xfrm>
            <a:off x="5486400" y="63769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7" name="reference-22"/>
          <p:cNvSpPr txBox="1"/>
          <p:nvPr/>
        </p:nvSpPr>
        <p:spPr>
          <a:xfrm>
            <a:off x="5486400" y="66817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8" name="reference-23"/>
          <p:cNvSpPr txBox="1"/>
          <p:nvPr/>
        </p:nvSpPr>
        <p:spPr>
          <a:xfrm>
            <a:off x="5486400" y="69865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9" name="reference-24"/>
          <p:cNvSpPr txBox="1"/>
          <p:nvPr/>
        </p:nvSpPr>
        <p:spPr>
          <a:xfrm>
            <a:off x="5486400" y="72913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30" name="reference-25"/>
          <p:cNvSpPr txBox="1"/>
          <p:nvPr/>
        </p:nvSpPr>
        <p:spPr>
          <a:xfrm>
            <a:off x="5486400" y="75961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31" name="reference-26"/>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32" name="reference-27"/>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33" name="reference-28"/>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34" name="reference-29"/>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35" name="reference-30"/>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36" name="reference-31"/>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7" name="reference-32"/>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8" name="reference-33"/>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9" name="reference-34"/>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40" name="reference-35"/>
          <p:cNvSpPr txBox="1"/>
          <p:nvPr/>
        </p:nvSpPr>
        <p:spPr>
          <a:xfrm>
            <a:off x="996315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41" name="reference-36"/>
          <p:cNvSpPr txBox="1"/>
          <p:nvPr/>
        </p:nvSpPr>
        <p:spPr>
          <a:xfrm>
            <a:off x="996315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42" name="reference-37"/>
          <p:cNvSpPr txBox="1"/>
          <p:nvPr/>
        </p:nvSpPr>
        <p:spPr>
          <a:xfrm>
            <a:off x="996315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43" name="reference-38"/>
          <p:cNvSpPr txBox="1"/>
          <p:nvPr/>
        </p:nvSpPr>
        <p:spPr>
          <a:xfrm>
            <a:off x="996315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44" name="reference-39"/>
          <p:cNvSpPr txBox="1"/>
          <p:nvPr/>
        </p:nvSpPr>
        <p:spPr>
          <a:xfrm>
            <a:off x="9963150" y="6438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45" name="reference-40"/>
          <p:cNvSpPr txBox="1"/>
          <p:nvPr/>
        </p:nvSpPr>
        <p:spPr>
          <a:xfrm>
            <a:off x="9963150" y="6743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7"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p:nvSpPr>
          <p:cNvPr id="48"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16 / 17</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