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사업명·사업개요는 저장된 제안에서 읽고, 추가 방문은 목표 합계−ML 합계, 월평균 추가 소비는 같은 차이를 전체 사업 개월 수로 나눈다. 사진은 사업 테마별 AI 생성 예시이며 실제 지역의 시행 현장 증거가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erview-bg"/>
          <p:cNvSpPr/>
          <p:nvPr/>
        </p:nvSpPr>
        <p:spPr>
          <a:xfrm>
            <a:off x="0" y="0"/>
            <a:ext cx="15240000" cy="8572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orial-kicker"/>
          <p:cNvSpPr txBox="1"/>
          <p:nvPr/>
        </p:nvSpPr>
        <p:spPr>
          <a:xfrm>
            <a:off x="1009650" y="361950"/>
            <a:ext cx="11430000" cy="3524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156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EC164B"/>
                </a:solidFill>
                <a:latin typeface="Noto Sans KR"/>
              </a:rPr>
              <a:t>1. 개요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009650" y="87630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937"/>
              </a:lnSpc>
              <a:spcBef>
                <a:spcPts val="0"/>
              </a:spcBef>
              <a:spcAft>
                <a:spcPts val="0"/>
              </a:spcAft>
            </a:pPr>
            <a:r>
              <a:rPr sz="3150" b="1">
                <a:solidFill>
                  <a:srgbClr val="22262A"/>
                </a:solidFill>
                <a:latin typeface="Noto Sans KR"/>
              </a:rPr>
              <a:t>1.1 제안 사업 소개</a:t>
            </a:r>
          </a:p>
        </p:txBody>
      </p:sp>
      <p:sp>
        <p:nvSpPr>
          <p:cNvPr id="5" name="overview-name"/>
          <p:cNvSpPr txBox="1"/>
          <p:nvPr/>
        </p:nvSpPr>
        <p:spPr>
          <a:xfrm>
            <a:off x="1009650" y="1638300"/>
            <a:ext cx="13220700" cy="6191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 algn="ctr">
              <a:lnSpc>
                <a:spcPts val="3281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22262A"/>
                </a:solidFill>
                <a:latin typeface="Noto Sans KR"/>
              </a:rPr>
              <a:t>서구 상권 활력 제고를 위한 '서구 관광 소비 환급' 시범 사업</a:t>
            </a:r>
          </a:p>
        </p:txBody>
      </p:sp>
      <p:sp>
        <p:nvSpPr>
          <p:cNvPr id="6" name="overview-photo-panel"/>
          <p:cNvSpPr/>
          <p:nvPr/>
        </p:nvSpPr>
        <p:spPr>
          <a:xfrm>
            <a:off x="1009650" y="2667000"/>
            <a:ext cx="7010400" cy="3505200"/>
          </a:xfrm>
          <a:prstGeom prst="rect">
            <a:avLst/>
          </a:prstGeom>
          <a:solidFill>
            <a:srgbClr val="E4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overview-business-photo" descr="ref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2667000"/>
            <a:ext cx="7010400" cy="3505200"/>
          </a:xfrm>
          <a:prstGeom prst="rect">
            <a:avLst/>
          </a:prstGeom>
        </p:spPr>
      </p:pic>
      <p:sp>
        <p:nvSpPr>
          <p:cNvPr id="8" name="overview-caption-bg"/>
          <p:cNvSpPr/>
          <p:nvPr/>
        </p:nvSpPr>
        <p:spPr>
          <a:xfrm>
            <a:off x="3600450" y="5715000"/>
            <a:ext cx="1828800" cy="342900"/>
          </a:xfrm>
          <a:prstGeom prst="rect">
            <a:avLst/>
          </a:prstGeom>
          <a:solidFill>
            <a:srgbClr val="133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erview-caption"/>
          <p:cNvSpPr txBox="1"/>
          <p:nvPr/>
        </p:nvSpPr>
        <p:spPr>
          <a:xfrm>
            <a:off x="3752850" y="5772150"/>
            <a:ext cx="1524000" cy="228600"/>
          </a:xfrm>
          <a:prstGeom prst="rect">
            <a:avLst/>
          </a:prstGeom>
          <a:noFill/>
        </p:spPr>
        <p:txBody>
          <a:bodyPr wrap="none" lIns="57150" rIns="57150" tIns="38100" bIns="38100" anchor="ctr">
            <a:noAutofit/>
          </a:bodyPr>
          <a:lstStyle/>
          <a:p>
            <a:pPr eaLnBrk="0" algn="ctr">
              <a:lnSpc>
                <a:spcPts val="1171"/>
              </a:lnSpc>
              <a:spcBef>
                <a:spcPts val="0"/>
              </a:spcBef>
              <a:spcAft>
                <a:spcPts val="0"/>
              </a:spcAft>
            </a:pPr>
            <a:r>
              <a:rPr sz="937" b="0">
                <a:solidFill>
                  <a:srgbClr val="FFFFFF"/>
                </a:solidFill>
                <a:latin typeface="Noto Sans KR"/>
              </a:rPr>
              <a:t>관광객 쿠폰·환급 이용</a:t>
            </a:r>
          </a:p>
        </p:txBody>
      </p:sp>
      <p:sp>
        <p:nvSpPr>
          <p:cNvPr id="10" name="overview-description-panel"/>
          <p:cNvSpPr/>
          <p:nvPr/>
        </p:nvSpPr>
        <p:spPr>
          <a:xfrm>
            <a:off x="8334375" y="2667000"/>
            <a:ext cx="5895975" cy="3505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erview-description-accent"/>
          <p:cNvSpPr/>
          <p:nvPr/>
        </p:nvSpPr>
        <p:spPr>
          <a:xfrm>
            <a:off x="8639175" y="3038475"/>
            <a:ext cx="47625" cy="361950"/>
          </a:xfrm>
          <a:prstGeom prst="rect">
            <a:avLst/>
          </a:prstGeom>
          <a:solidFill>
            <a:srgbClr val="D5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erview-description-label"/>
          <p:cNvSpPr txBox="1"/>
          <p:nvPr/>
        </p:nvSpPr>
        <p:spPr>
          <a:xfrm>
            <a:off x="8839200" y="3038475"/>
            <a:ext cx="4743450" cy="4000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22262A"/>
                </a:solidFill>
                <a:latin typeface="Noto Sans KR"/>
              </a:rPr>
              <a:t>사업개요</a:t>
            </a:r>
          </a:p>
        </p:txBody>
      </p:sp>
      <p:sp>
        <p:nvSpPr>
          <p:cNvPr id="13" name="overview-description-divider"/>
          <p:cNvSpPr/>
          <p:nvPr/>
        </p:nvSpPr>
        <p:spPr>
          <a:xfrm>
            <a:off x="8639175" y="3619500"/>
            <a:ext cx="5257800" cy="9525"/>
          </a:xfrm>
          <a:prstGeom prst="rect">
            <a:avLst/>
          </a:prstGeom>
          <a:solidFill>
            <a:srgbClr val="E2E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erview-description"/>
          <p:cNvSpPr txBox="1"/>
          <p:nvPr/>
        </p:nvSpPr>
        <p:spPr>
          <a:xfrm>
            <a:off x="8639175" y="3924300"/>
            <a:ext cx="5238750" cy="195262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4505C"/>
                </a:solidFill>
                <a:latin typeface="Noto Sans KR"/>
              </a:rPr>
              <a:t>서구 내 지정된 식음료·쇼핑 업종에서 일정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4505C"/>
                </a:solidFill>
                <a:latin typeface="Noto Sans KR"/>
              </a:rPr>
              <a:t>금액 이상 결제 시, 증빙을 통해</a:t>
            </a:r>
          </a:p>
          <a:p>
            <a:pPr eaLnBrk="0">
              <a:lnSpc>
                <a:spcPts val="2437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4505C"/>
                </a:solidFill>
                <a:latin typeface="Noto Sans KR"/>
              </a:rPr>
              <a:t>지역사랑상품권으로 일부를 환급해 주는 방식</a:t>
            </a:r>
          </a:p>
        </p:txBody>
      </p:sp>
      <p:sp>
        <p:nvSpPr>
          <p:cNvPr id="15" name="overview-goal-0"/>
          <p:cNvSpPr/>
          <p:nvPr/>
        </p:nvSpPr>
        <p:spPr>
          <a:xfrm>
            <a:off x="1009650" y="6400800"/>
            <a:ext cx="6419850" cy="1362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overview-goal-icon-0" descr="map-pinned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6629400"/>
            <a:ext cx="571500" cy="571500"/>
          </a:xfrm>
          <a:prstGeom prst="rect">
            <a:avLst/>
          </a:prstGeom>
        </p:spPr>
      </p:pic>
      <p:sp>
        <p:nvSpPr>
          <p:cNvPr id="17" name="overview-goal-label-0"/>
          <p:cNvSpPr txBox="1"/>
          <p:nvPr/>
        </p:nvSpPr>
        <p:spPr>
          <a:xfrm>
            <a:off x="2038350" y="6591300"/>
            <a:ext cx="507682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12" b="0">
                <a:solidFill>
                  <a:srgbClr val="59636E"/>
                </a:solidFill>
                <a:latin typeface="Noto Sans KR"/>
              </a:rPr>
              <a:t>3개월 추가 방문 목표</a:t>
            </a:r>
          </a:p>
        </p:txBody>
      </p:sp>
      <p:sp>
        <p:nvSpPr>
          <p:cNvPr id="18" name="overview-goal-value-0"/>
          <p:cNvSpPr txBox="1"/>
          <p:nvPr/>
        </p:nvSpPr>
        <p:spPr>
          <a:xfrm>
            <a:off x="2038350" y="7019925"/>
            <a:ext cx="5076825" cy="5524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76AA5"/>
                </a:solidFill>
                <a:latin typeface="Noto Sans KR"/>
              </a:rPr>
              <a:t>+1,440명</a:t>
            </a:r>
          </a:p>
        </p:txBody>
      </p:sp>
      <p:sp>
        <p:nvSpPr>
          <p:cNvPr id="19" name="overview-goal-1"/>
          <p:cNvSpPr/>
          <p:nvPr/>
        </p:nvSpPr>
        <p:spPr>
          <a:xfrm>
            <a:off x="7810500" y="6400800"/>
            <a:ext cx="6419850" cy="13620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overview-goal-icon-1" descr="coins-ja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6629400"/>
            <a:ext cx="571500" cy="571500"/>
          </a:xfrm>
          <a:prstGeom prst="rect">
            <a:avLst/>
          </a:prstGeom>
        </p:spPr>
      </p:pic>
      <p:sp>
        <p:nvSpPr>
          <p:cNvPr id="21" name="overview-goal-label-1"/>
          <p:cNvSpPr txBox="1"/>
          <p:nvPr/>
        </p:nvSpPr>
        <p:spPr>
          <a:xfrm>
            <a:off x="8839200" y="6591300"/>
            <a:ext cx="5076825" cy="3333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2015"/>
              </a:lnSpc>
              <a:spcBef>
                <a:spcPts val="0"/>
              </a:spcBef>
              <a:spcAft>
                <a:spcPts val="0"/>
              </a:spcAft>
            </a:pPr>
            <a:r>
              <a:rPr sz="1612" b="0">
                <a:solidFill>
                  <a:srgbClr val="59636E"/>
                </a:solidFill>
                <a:latin typeface="Noto Sans KR"/>
              </a:rPr>
              <a:t>3개월간 월평균 추가 소비 목표</a:t>
            </a:r>
          </a:p>
        </p:txBody>
      </p:sp>
      <p:sp>
        <p:nvSpPr>
          <p:cNvPr id="22" name="overview-goal-value-1"/>
          <p:cNvSpPr txBox="1"/>
          <p:nvPr/>
        </p:nvSpPr>
        <p:spPr>
          <a:xfrm>
            <a:off x="8839200" y="7019925"/>
            <a:ext cx="5076825" cy="552450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867F"/>
                </a:solidFill>
                <a:latin typeface="Noto Sans KR"/>
              </a:rPr>
              <a:t>약 +1,716만 원</a:t>
            </a:r>
          </a:p>
        </p:txBody>
      </p:sp>
      <p:sp>
        <p:nvSpPr>
          <p:cNvPr id="23" name="overview-note"/>
          <p:cNvSpPr txBox="1"/>
          <p:nvPr/>
        </p:nvSpPr>
        <p:spPr>
          <a:xfrm>
            <a:off x="1009650" y="8077200"/>
            <a:ext cx="13220700" cy="295275"/>
          </a:xfrm>
          <a:prstGeom prst="rect">
            <a:avLst/>
          </a:prstGeom>
          <a:noFill/>
        </p:spPr>
        <p:txBody>
          <a:bodyPr wrap="none" lIns="57150" rIns="57150" tIns="38100" bIns="38100" anchor="t">
            <a:noAutofit/>
          </a:bodyPr>
          <a:lstStyle/>
          <a:p>
            <a:pPr eaLnBrk="0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66717A"/>
                </a:solidFill>
                <a:latin typeface="Noto Sans KR"/>
              </a:rPr>
              <a:t>운영 규모를 바탕으로 제안한 계획 목표입니다. 월평균 소비 증가는 준비 기간을 포함한 사업기간 합계 ÷ 개월 수입니다.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