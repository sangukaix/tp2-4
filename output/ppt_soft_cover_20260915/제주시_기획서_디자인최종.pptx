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361.54501911</c:v>
                </c:pt>
                <c:pt idx="1">
                  <c:v>359.50819255</c:v>
                </c:pt>
                <c:pt idx="2">
                  <c:v>337.18788834</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1504.93713412</c:v>
                </c:pt>
                <c:pt idx="1">
                  <c:v>1451.3651535</c:v>
                </c:pt>
                <c:pt idx="2">
                  <c:v>1494.45976723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864.0</c:v>
                </c:pt>
                <c:pt idx="1">
                  <c:v>2246.0</c:v>
                </c:pt>
                <c:pt idx="2">
                  <c:v>4147.0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9508.51</c:v>
                </c:pt>
                <c:pt idx="1">
                  <c:v>15735.32</c:v>
                </c:pt>
                <c:pt idx="2">
                  <c:v>23521.83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-2.976441023986953,</a:t>
            </a:r>
          </a:p>
          <a:p xmlns:a="http://schemas.openxmlformats.org/drawingml/2006/main">
            <a:r>
              <a:t>        "target_rank": 208,</a:t>
            </a:r>
          </a:p>
          <a:p xmlns:a="http://schemas.openxmlformats.org/drawingml/2006/main">
            <a:r>
              <a:t>        "target": [</a:t>
            </a:r>
          </a:p>
          <a:p xmlns:a="http://schemas.openxmlformats.org/drawingml/2006/main">
            <a:r>
              <a:t>          3615450.191125088,</a:t>
            </a:r>
          </a:p>
          <a:p xmlns:a="http://schemas.openxmlformats.org/drawingml/2006/main">
            <a:r>
              <a:t>          3595081.9254844403,</a:t>
            </a:r>
          </a:p>
          <a:p xmlns:a="http://schemas.openxmlformats.org/drawingml/2006/main">
            <a:r>
              <a:t>          3371878.8833904723</a:t>
            </a:r>
          </a:p>
          <a:p xmlns:a="http://schemas.openxmlformats.org/drawingml/2006/main">
            <a:r>
              <a:t>        ],</a:t>
            </a:r>
          </a:p>
          <a:p xmlns:a="http://schemas.openxmlformats.org/drawingml/2006/main">
            <a:r>
              <a:t>        "additional": 2246.0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-0.3089710244080113,</a:t>
            </a:r>
          </a:p>
          <a:p xmlns:a="http://schemas.openxmlformats.org/drawingml/2006/main">
            <a:r>
              <a:t>        "target_rank": 228,</a:t>
            </a:r>
          </a:p>
          <a:p xmlns:a="http://schemas.openxmlformats.org/drawingml/2006/main">
            <a:r>
              <a:t>        "target": [</a:t>
            </a:r>
          </a:p>
          <a:p xmlns:a="http://schemas.openxmlformats.org/drawingml/2006/main">
            <a:r>
              <a:t>          150493713411.81418,</a:t>
            </a:r>
          </a:p>
          <a:p xmlns:a="http://schemas.openxmlformats.org/drawingml/2006/main">
            <a:r>
              <a:t>          145136515350.191,</a:t>
            </a:r>
          </a:p>
          <a:p xmlns:a="http://schemas.openxmlformats.org/drawingml/2006/main">
            <a:r>
              <a:t>          149445976722.9948</a:t>
            </a:r>
          </a:p>
          <a:p xmlns:a="http://schemas.openxmlformats.org/drawingml/2006/main">
            <a:r>
              <a:t>        ],</a:t>
            </a:r>
          </a:p>
          <a:p xmlns:a="http://schemas.openxmlformats.org/drawingml/2006/main">
            <a:r>
              <a:t>        "additional": 157353164.0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+0.03%, 소비 +0.05%. 운영 규모와 참여 가정으로 산정하며 실제 성과는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0.03221447862482329,</a:t>
            </a:r>
          </a:p>
          <a:p xmlns:a="http://schemas.openxmlformats.org/drawingml/2006/main">
            <a:r>
              <a:t>    "spending_target_pct": 0.05311575279200933,</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www.junggu.seoul.kr/content.do?cid=1280957763&amp;cmsid=14390&amp;mode=view"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4,451억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+2,246명, 관광소비액 약 +1억 5,735만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제주특별자치도 제주시의 3개월 운영안</a:t>
            </a:r>
          </a:p>
          <a:p>
            <a:pPr eaLnBrk="0">
              <a:lnSpc>
                <a:spcPts val="2437"/>
              </a:lnSpc>
              <a:spcBef>
                <a:spcPts val="0"/>
              </a:spcBef>
              <a:spcAft>
                <a:spcPts val="0"/>
              </a:spcAft>
            </a:pPr>
            <a:r>
              <a:rPr sz="1950" b="0">
                <a:solidFill>
                  <a:srgbClr val="62666C"/>
                </a:solidFill>
                <a:latin typeface="Noto Sans KR"/>
              </a:rPr>
              <a:t>사업기간 2026.10 ~ 2026.12</a:t>
            </a:r>
          </a:p>
          <a:p>
            <a:pPr eaLnBrk="0">
              <a:lnSpc>
                <a:spcPts val="2437"/>
              </a:lnSpc>
              <a:spcBef>
                <a:spcPts val="0"/>
              </a:spcBef>
              <a:spcAft>
                <a:spcPts val="0"/>
              </a:spcAft>
            </a:pPr>
            <a:r>
              <a:rPr sz="1950" b="0">
                <a:solidFill>
                  <a:srgbClr val="62666C"/>
                </a:solidFill>
                <a:latin typeface="Noto Sans KR"/>
              </a:rPr>
              <a:t>편성 정원 11,520명분 × 이용률 65%</a:t>
            </a:r>
          </a:p>
          <a:p>
            <a:pPr eaLnBrk="0">
              <a:lnSpc>
                <a:spcPts val="2437"/>
              </a:lnSpc>
              <a:spcBef>
                <a:spcPts val="0"/>
              </a:spcBef>
              <a:spcAft>
                <a:spcPts val="0"/>
              </a:spcAft>
            </a:pPr>
            <a:r>
              <a:rPr sz="1950" b="0">
                <a:solidFill>
                  <a:srgbClr val="62666C"/>
                </a:solidFill>
                <a:latin typeface="Noto Sans KR"/>
              </a:rPr>
              <a:t>예상 참여 7,488명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2,246명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6개 거점 × 월 8일 × 3개월</a:t>
            </a:r>
          </a:p>
          <a:p>
            <a:pPr eaLnBrk="0">
              <a:lnSpc>
                <a:spcPts val="2062"/>
              </a:lnSpc>
              <a:spcBef>
                <a:spcPts val="0"/>
              </a:spcBef>
              <a:spcAft>
                <a:spcPts val="0"/>
              </a:spcAft>
            </a:pPr>
            <a:r>
              <a:rPr sz="1650" b="0">
                <a:solidFill>
                  <a:srgbClr val="62666C"/>
                </a:solidFill>
                <a:latin typeface="Noto Sans KR"/>
              </a:rPr>
              <a:t>× 하루 2회 × 회당 40명 = 11,520명분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2,246명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1.57억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+0.04%</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3,615,450명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388명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3,595,082명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772명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3,371,879명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1,086명 · 0.03%</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10,582,411명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2,246명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2,246명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1,504.94억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2,664만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1,451.37억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5,138만 원 · 0.04%</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1,494.46억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7,934만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4,450.76억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1.57억 원 · 0.04%</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1.57억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16,808만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115,200,000원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11,520건 × 가정 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21,600,000원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15,280,000원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152,800,000원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6개 × 월 8일 × 3개월 × 하루 2회 × 회당 40명 = 11,520명분 → 편성 참여 한도 11,520건.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7,488명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11,520 × 이용률 65%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2,246명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3개월 × 하루 2회 × 회당 40명 = 11,520명분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11,520명분 · 예상 견적 1.68억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서울 중구 · 정동야행: 행사 방문객 100,000 → 130,000명, 차이 +30,000명. 우리 지역 운영 정원과 집계 기준이 다릅니다.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제주특별자치도 제주시: 월평균 ML 방문 352.7만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월 8일·하루 2회·회당 40명도 운영 가정입니다. 명분은 수용 정원이며 예상 방문객 수가 아닙니다.</a:t>
            </a:r>
          </a:p>
          <a:p>
            <a:pPr eaLnBrk="0">
              <a:lnSpc>
                <a:spcPts val="1781"/>
              </a:lnSpc>
              <a:spcBef>
                <a:spcPts val="0"/>
              </a:spcBef>
              <a:spcAft>
                <a:spcPts val="0"/>
              </a:spcAft>
            </a:pPr>
            <a:r>
              <a:rPr sz="1425" b="0">
                <a:solidFill>
                  <a:srgbClr val="62666C"/>
                </a:solidFill>
                <a:latin typeface="Noto Sans KR"/>
              </a:rPr>
              <a:t>사례는 운영 방식을 참고했습니다. 이용률 65%·추가 방문 비중 30%는 이번 기획의 가정입니다.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+0.04%</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50%·15% / 기준 65%·30% / 확대 80%·45%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42,052원(ML 소비/방문 비율) + 기존 방문 참여 × 12,000원(추가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