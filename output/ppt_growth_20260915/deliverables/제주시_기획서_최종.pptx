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도입</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기획 의도 · 지역 성장 비교</a:t>
            </a:r>
          </a:p>
        </p:txBody>
      </p:sp>
      <p:sp xmlns:a="http://schemas.openxmlformats.org/drawingml/2006/main">
        <p:nvSpPr>
          <p:cNvPr id="42" name="toc-1-number"/>
          <p:cNvSpPr txBox="1"/>
          <p:nvPr/>
        </p:nvSpPr>
        <p:spPr>
          <a:xfrm>
            <a:off x="5353050" y="3848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a:t>
            </a:r>
          </a:p>
        </p:txBody>
      </p:sp>
      <p:sp xmlns:a="http://schemas.openxmlformats.org/drawingml/2006/main">
        <p:nvSpPr>
          <p:cNvPr id="43" name="toc-1-label"/>
          <p:cNvSpPr txBox="1"/>
          <p:nvPr/>
        </p:nvSpPr>
        <p:spPr>
          <a:xfrm>
            <a:off x="5972175" y="3895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사례와 실적</a:t>
            </a:r>
          </a:p>
        </p:txBody>
      </p:sp>
      <p:sp xmlns:a="http://schemas.openxmlformats.org/drawingml/2006/main">
        <p:nvSpPr>
          <p:cNvPr id="44" name="toc-2-number"/>
          <p:cNvSpPr txBox="1"/>
          <p:nvPr/>
        </p:nvSpPr>
        <p:spPr>
          <a:xfrm>
            <a:off x="5353050" y="4876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2</a:t>
            </a:r>
          </a:p>
        </p:txBody>
      </p:sp>
      <p:sp xmlns:a="http://schemas.openxmlformats.org/drawingml/2006/main">
        <p:nvSpPr>
          <p:cNvPr id="45" name="toc-2-label"/>
          <p:cNvSpPr txBox="1"/>
          <p:nvPr/>
        </p:nvSpPr>
        <p:spPr>
          <a:xfrm>
            <a:off x="5972175" y="4924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목표와 KPI 산출근거</a:t>
            </a:r>
          </a:p>
        </p:txBody>
      </p:sp>
      <p:sp xmlns:a="http://schemas.openxmlformats.org/drawingml/2006/main">
        <p:nvSpPr>
          <p:cNvPr id="46" name="toc-3-number"/>
          <p:cNvSpPr txBox="1"/>
          <p:nvPr/>
        </p:nvSpPr>
        <p:spPr>
          <a:xfrm>
            <a:off x="5353050" y="59055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3</a:t>
            </a:r>
          </a:p>
        </p:txBody>
      </p:sp>
      <p:sp xmlns:a="http://schemas.openxmlformats.org/drawingml/2006/main">
        <p:nvSpPr>
          <p:cNvPr id="47" name="toc-3-label"/>
          <p:cNvSpPr txBox="1"/>
          <p:nvPr/>
        </p:nvSpPr>
        <p:spPr>
          <a:xfrm>
            <a:off x="5972175" y="59531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 적용과 실행</a:t>
            </a:r>
          </a:p>
        </p:txBody>
      </p:sp>
      <p:sp xmlns:a="http://schemas.openxmlformats.org/drawingml/2006/main">
        <p:nvSpPr>
          <p:cNvPr id="48" name="toc-4-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4</a:t>
            </a:r>
          </a:p>
        </p:txBody>
      </p:sp>
      <p:sp xmlns:a="http://schemas.openxmlformats.org/drawingml/2006/main">
        <p:nvSpPr>
          <p:cNvPr id="49" name="toc-4-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0" name="toc-5-number"/>
          <p:cNvSpPr txBox="1"/>
          <p:nvPr/>
        </p:nvSpPr>
        <p:spPr>
          <a:xfrm>
            <a:off x="10496550" y="3848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5</a:t>
            </a:r>
          </a:p>
        </p:txBody>
      </p:sp>
      <p:sp xmlns:a="http://schemas.openxmlformats.org/drawingml/2006/main">
        <p:nvSpPr>
          <p:cNvPr id="51" name="toc-5-label"/>
          <p:cNvSpPr txBox="1"/>
          <p:nvPr/>
        </p:nvSpPr>
        <p:spPr>
          <a:xfrm>
            <a:off x="11115675" y="3895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기획서 생성 과정</a:t>
            </a:r>
          </a:p>
        </p:txBody>
      </p:sp>
      <p:sp xmlns:a="http://schemas.openxmlformats.org/drawingml/2006/main">
        <p:nvSpPr>
          <p:cNvPr id="52" name="toc-6-number"/>
          <p:cNvSpPr txBox="1"/>
          <p:nvPr/>
        </p:nvSpPr>
        <p:spPr>
          <a:xfrm>
            <a:off x="10496550" y="4876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6</a:t>
            </a:r>
          </a:p>
        </p:txBody>
      </p:sp>
      <p:sp xmlns:a="http://schemas.openxmlformats.org/drawingml/2006/main">
        <p:nvSpPr>
          <p:cNvPr id="53" name="toc-6-label"/>
          <p:cNvSpPr txBox="1"/>
          <p:nvPr/>
        </p:nvSpPr>
        <p:spPr>
          <a:xfrm>
            <a:off x="11115675" y="4924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전국 비교로 찾는 제주시 관광 성장 기회</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purpose-period"/>
          <p:cNvSpPr txBox="1"/>
          <p:nvPr/>
        </p:nvSpPr>
        <p:spPr>
          <a:xfrm>
            <a:off x="1009650" y="2009775"/>
            <a:ext cx="13220700" cy="4095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2026년 10–12월 · 동일 조건 249개 지역의 전년 동기 대비 성장률 비교</a:t>
            </a:r>
          </a:p>
        </p:txBody>
      </p:sp>
      <p:sp xmlns:a="http://schemas.openxmlformats.org/drawingml/2006/main">
        <p:nvSpPr>
          <p:cNvPr id="5" name="growth-panel-0"/>
          <p:cNvSpPr/>
          <p:nvPr/>
        </p:nvSpPr>
        <p:spPr>
          <a:xfrm>
            <a:off x="1009650" y="2667000"/>
            <a:ext cx="6448425" cy="4581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6" name="growth-icon-0" descr="users-blue.png"/>
          <p:cNvPicPr>
            <a:picLocks noChangeAspect="1"/>
          </p:cNvPicPr>
          <p:nvPr/>
        </p:nvPicPr>
        <p:blipFill>
          <a:blip r:embed="rId4"/>
          <a:stretch>
            <a:fillRect/>
          </a:stretch>
        </p:blipFill>
        <p:spPr>
          <a:xfrm>
            <a:off x="1238250" y="2876550"/>
            <a:ext cx="419100" cy="419100"/>
          </a:xfrm>
          <a:prstGeom prst="rect">
            <a:avLst/>
          </a:prstGeom>
        </p:spPr>
      </p:pic>
      <p:sp xmlns:a="http://schemas.openxmlformats.org/drawingml/2006/main">
        <p:nvSpPr>
          <p:cNvPr id="7" name="growth-label-0"/>
          <p:cNvSpPr txBox="1"/>
          <p:nvPr/>
        </p:nvSpPr>
        <p:spPr>
          <a:xfrm>
            <a:off x="1809750" y="2914650"/>
            <a:ext cx="5400675" cy="4191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방문자 수</a:t>
            </a:r>
          </a:p>
        </p:txBody>
      </p:sp>
      <p:sp xmlns:a="http://schemas.openxmlformats.org/drawingml/2006/main">
        <p:nvSpPr>
          <p:cNvPr id="8" name="growth-rate-0"/>
          <p:cNvSpPr txBox="1"/>
          <p:nvPr/>
        </p:nvSpPr>
        <p:spPr>
          <a:xfrm>
            <a:off x="1238250" y="3552825"/>
            <a:ext cx="2847975" cy="762000"/>
          </a:xfrm>
          <a:prstGeom prst="rect">
            <a:avLst/>
          </a:prstGeom>
          <a:noFill/>
        </p:spPr>
        <p:txBody>
          <a:bodyPr wrap="none" lIns="57150" rIns="57150" tIns="38100" bIns="38100" anchor="t">
            <a:noAutofit/>
          </a:bodyPr>
          <a:lstStyle/>
          <a:p>
            <a:pPr eaLnBrk="0">
              <a:lnSpc>
                <a:spcPts val="4968"/>
              </a:lnSpc>
              <a:spcBef>
                <a:spcPts val="0"/>
              </a:spcBef>
              <a:spcAft>
                <a:spcPts val="0"/>
              </a:spcAft>
            </a:pPr>
            <a:r>
              <a:rPr sz="3975" b="1">
                <a:solidFill>
                  <a:srgbClr val="004EA2"/>
                </a:solidFill>
                <a:latin typeface="Noto Sans KR"/>
              </a:rPr>
              <a:t>-3.00%</a:t>
            </a:r>
          </a:p>
        </p:txBody>
      </p:sp>
      <p:sp xmlns:a="http://schemas.openxmlformats.org/drawingml/2006/main">
        <p:nvSpPr>
          <p:cNvPr id="9" name="growth-rank-0"/>
          <p:cNvSpPr txBox="1"/>
          <p:nvPr/>
        </p:nvSpPr>
        <p:spPr>
          <a:xfrm>
            <a:off x="4076700" y="3800475"/>
            <a:ext cx="31432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성장률 208위 / 249곳</a:t>
            </a:r>
          </a:p>
        </p:txBody>
      </p:sp>
      <p:sp xmlns:a="http://schemas.openxmlformats.org/drawingml/2006/main">
        <p:nvSpPr>
          <p:cNvPr id="10" name="growth-gap-0"/>
          <p:cNvSpPr txBox="1"/>
          <p:nvPr/>
        </p:nvSpPr>
        <p:spPr>
          <a:xfrm>
            <a:off x="1238250" y="4448175"/>
            <a:ext cx="5991225" cy="5524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전국 비교 평균 -0.39%보다 2.60%p 낮음</a:t>
            </a:r>
          </a:p>
        </p:txBody>
      </p:sp>
      <p:sp xmlns:a="http://schemas.openxmlformats.org/drawingml/2006/main">
        <p:nvSpPr>
          <p:cNvPr id="11" name="growth-months-0"/>
          <p:cNvSpPr txBox="1"/>
          <p:nvPr/>
        </p:nvSpPr>
        <p:spPr>
          <a:xfrm>
            <a:off x="1238250" y="5086350"/>
            <a:ext cx="5991225" cy="3524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10월 362만 · 11월 359만 · 12월 337만</a:t>
            </a:r>
          </a:p>
        </p:txBody>
      </p:sp>
      <p:sp xmlns:a="http://schemas.openxmlformats.org/drawingml/2006/main">
        <p:nvSpPr>
          <p:cNvPr id="12" name="growth-target-band-0"/>
          <p:cNvSpPr/>
          <p:nvPr/>
        </p:nvSpPr>
        <p:spPr>
          <a:xfrm>
            <a:off x="1238250" y="5629275"/>
            <a:ext cx="5991225" cy="13811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growth-target-label-0"/>
          <p:cNvSpPr txBox="1"/>
          <p:nvPr/>
        </p:nvSpPr>
        <p:spPr>
          <a:xfrm>
            <a:off x="1419225" y="5762625"/>
            <a:ext cx="5629275" cy="3048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계획 목표를 달성하면</a:t>
            </a:r>
          </a:p>
        </p:txBody>
      </p:sp>
      <p:sp xmlns:a="http://schemas.openxmlformats.org/drawingml/2006/main">
        <p:nvSpPr>
          <p:cNvPr id="14" name="growth-target-rate-0"/>
          <p:cNvSpPr txBox="1"/>
          <p:nvPr/>
        </p:nvSpPr>
        <p:spPr>
          <a:xfrm>
            <a:off x="1419225" y="6191250"/>
            <a:ext cx="2628900" cy="5905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+0.20%</a:t>
            </a:r>
          </a:p>
        </p:txBody>
      </p:sp>
      <p:sp xmlns:a="http://schemas.openxmlformats.org/drawingml/2006/main">
        <p:nvSpPr>
          <p:cNvPr id="15" name="growth-target-rank-0"/>
          <p:cNvSpPr txBox="1"/>
          <p:nvPr/>
        </p:nvSpPr>
        <p:spPr>
          <a:xfrm>
            <a:off x="4229100" y="6315075"/>
            <a:ext cx="2771775" cy="4191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6B00"/>
                </a:solidFill>
                <a:latin typeface="Noto Sans KR"/>
              </a:rPr>
              <a:t>208위 → 87위</a:t>
            </a:r>
          </a:p>
        </p:txBody>
      </p:sp>
      <p:sp xmlns:a="http://schemas.openxmlformats.org/drawingml/2006/main">
        <p:nvSpPr>
          <p:cNvPr id="16" name="growth-panel-1"/>
          <p:cNvSpPr/>
          <p:nvPr/>
        </p:nvSpPr>
        <p:spPr>
          <a:xfrm>
            <a:off x="7781925" y="2667000"/>
            <a:ext cx="6448425" cy="4581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7" name="growth-icon-1" descr="coins-blue.png"/>
          <p:cNvPicPr>
            <a:picLocks noChangeAspect="1"/>
          </p:cNvPicPr>
          <p:nvPr/>
        </p:nvPicPr>
        <p:blipFill>
          <a:blip r:embed="rId5"/>
          <a:stretch>
            <a:fillRect/>
          </a:stretch>
        </p:blipFill>
        <p:spPr>
          <a:xfrm>
            <a:off x="8010525" y="2876550"/>
            <a:ext cx="419100" cy="419100"/>
          </a:xfrm>
          <a:prstGeom prst="rect">
            <a:avLst/>
          </a:prstGeom>
        </p:spPr>
      </p:pic>
      <p:sp xmlns:a="http://schemas.openxmlformats.org/drawingml/2006/main">
        <p:nvSpPr>
          <p:cNvPr id="18" name="growth-label-1"/>
          <p:cNvSpPr txBox="1"/>
          <p:nvPr/>
        </p:nvSpPr>
        <p:spPr>
          <a:xfrm>
            <a:off x="8582025" y="2914650"/>
            <a:ext cx="5400675" cy="4191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관광소비액</a:t>
            </a:r>
          </a:p>
        </p:txBody>
      </p:sp>
      <p:sp xmlns:a="http://schemas.openxmlformats.org/drawingml/2006/main">
        <p:nvSpPr>
          <p:cNvPr id="19" name="growth-rate-1"/>
          <p:cNvSpPr txBox="1"/>
          <p:nvPr/>
        </p:nvSpPr>
        <p:spPr>
          <a:xfrm>
            <a:off x="8010525" y="3552825"/>
            <a:ext cx="2847975" cy="762000"/>
          </a:xfrm>
          <a:prstGeom prst="rect">
            <a:avLst/>
          </a:prstGeom>
          <a:noFill/>
        </p:spPr>
        <p:txBody>
          <a:bodyPr wrap="none" lIns="57150" rIns="57150" tIns="38100" bIns="38100" anchor="t">
            <a:noAutofit/>
          </a:bodyPr>
          <a:lstStyle/>
          <a:p>
            <a:pPr eaLnBrk="0">
              <a:lnSpc>
                <a:spcPts val="4968"/>
              </a:lnSpc>
              <a:spcBef>
                <a:spcPts val="0"/>
              </a:spcBef>
              <a:spcAft>
                <a:spcPts val="0"/>
              </a:spcAft>
            </a:pPr>
            <a:r>
              <a:rPr sz="3975" b="1">
                <a:solidFill>
                  <a:srgbClr val="004EA2"/>
                </a:solidFill>
                <a:latin typeface="Noto Sans KR"/>
              </a:rPr>
              <a:t>-0.34%</a:t>
            </a:r>
          </a:p>
        </p:txBody>
      </p:sp>
      <p:sp xmlns:a="http://schemas.openxmlformats.org/drawingml/2006/main">
        <p:nvSpPr>
          <p:cNvPr id="20" name="growth-rank-1"/>
          <p:cNvSpPr txBox="1"/>
          <p:nvPr/>
        </p:nvSpPr>
        <p:spPr>
          <a:xfrm>
            <a:off x="10848975" y="3800475"/>
            <a:ext cx="31432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성장률 228위 / 249곳</a:t>
            </a:r>
          </a:p>
        </p:txBody>
      </p:sp>
      <p:sp xmlns:a="http://schemas.openxmlformats.org/drawingml/2006/main">
        <p:nvSpPr>
          <p:cNvPr id="21" name="growth-gap-1"/>
          <p:cNvSpPr txBox="1"/>
          <p:nvPr/>
        </p:nvSpPr>
        <p:spPr>
          <a:xfrm>
            <a:off x="8010525" y="4448175"/>
            <a:ext cx="5991225" cy="5524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전국 비교 평균 +6.64%보다 6.99%p 낮음</a:t>
            </a:r>
          </a:p>
        </p:txBody>
      </p:sp>
      <p:sp xmlns:a="http://schemas.openxmlformats.org/drawingml/2006/main">
        <p:nvSpPr>
          <p:cNvPr id="22" name="growth-months-1"/>
          <p:cNvSpPr txBox="1"/>
          <p:nvPr/>
        </p:nvSpPr>
        <p:spPr>
          <a:xfrm>
            <a:off x="8010525" y="5086350"/>
            <a:ext cx="5991225" cy="3524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10월 1,505억 · 11월 1,451억 · 12월 1,494억</a:t>
            </a:r>
          </a:p>
        </p:txBody>
      </p:sp>
      <p:sp xmlns:a="http://schemas.openxmlformats.org/drawingml/2006/main">
        <p:nvSpPr>
          <p:cNvPr id="23" name="growth-target-band-1"/>
          <p:cNvSpPr/>
          <p:nvPr/>
        </p:nvSpPr>
        <p:spPr>
          <a:xfrm>
            <a:off x="8010525" y="5629275"/>
            <a:ext cx="5991225" cy="13811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growth-target-label-1"/>
          <p:cNvSpPr txBox="1"/>
          <p:nvPr/>
        </p:nvSpPr>
        <p:spPr>
          <a:xfrm>
            <a:off x="8191500" y="5762625"/>
            <a:ext cx="5629275" cy="3048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계획 목표를 달성하면</a:t>
            </a:r>
          </a:p>
        </p:txBody>
      </p:sp>
      <p:sp xmlns:a="http://schemas.openxmlformats.org/drawingml/2006/main">
        <p:nvSpPr>
          <p:cNvPr id="25" name="growth-target-rate-1"/>
          <p:cNvSpPr txBox="1"/>
          <p:nvPr/>
        </p:nvSpPr>
        <p:spPr>
          <a:xfrm>
            <a:off x="8191500" y="6191250"/>
            <a:ext cx="2628900" cy="5905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+2.97%</a:t>
            </a:r>
          </a:p>
        </p:txBody>
      </p:sp>
      <p:sp xmlns:a="http://schemas.openxmlformats.org/drawingml/2006/main">
        <p:nvSpPr>
          <p:cNvPr id="26" name="growth-target-rank-1"/>
          <p:cNvSpPr txBox="1"/>
          <p:nvPr/>
        </p:nvSpPr>
        <p:spPr>
          <a:xfrm>
            <a:off x="11001375" y="6315075"/>
            <a:ext cx="2771775" cy="4191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6B00"/>
                </a:solidFill>
                <a:latin typeface="Noto Sans KR"/>
              </a:rPr>
              <a:t>228위 → 68위</a:t>
            </a:r>
          </a:p>
        </p:txBody>
      </p:sp>
      <p:sp xmlns:a="http://schemas.openxmlformats.org/drawingml/2006/main">
        <p:nvSpPr>
          <p:cNvPr id="27" name="purpose-conclusion"/>
          <p:cNvSpPr txBox="1"/>
          <p:nvPr/>
        </p:nvSpPr>
        <p:spPr>
          <a:xfrm>
            <a:off x="1009650" y="751522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지역의 성장 흐름을 바탕으로, 공식 사례에서 실행 가능한 관광 활성화 방식을 찾습니다.</a:t>
            </a:r>
          </a:p>
        </p:txBody>
      </p:sp>
      <p:sp xmlns:a="http://schemas.openxmlformats.org/drawingml/2006/main">
        <p:nvSpPr>
          <p:cNvPr id="28" name="purpose-note"/>
          <p:cNvSpPr txBox="1"/>
          <p:nvPr/>
        </p:nvSpPr>
        <p:spPr>
          <a:xfrm>
            <a:off x="1009650" y="8039100"/>
            <a:ext cx="13220700" cy="4953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출처: 한국관광 데이터랩 · 2026년 06월까지의 관측값과 저장 모델. 성장률 = (3개월 합계 ÷ 전년 동기 합계 − 1) × 100.</a:t>
            </a:r>
          </a:p>
          <a:p>
            <a:pPr eaLnBrk="0">
              <a:lnSpc>
                <a:spcPts val="1500"/>
              </a:lnSpc>
              <a:spcBef>
                <a:spcPts val="0"/>
              </a:spcBef>
              <a:spcAft>
                <a:spcPts val="0"/>
              </a:spcAft>
            </a:pPr>
            <a:r>
              <a:rPr sz="1200" b="0">
                <a:solidFill>
                  <a:srgbClr val="59636E"/>
                </a:solidFill>
                <a:latin typeface="Noto Sans KR"/>
              </a:rPr>
              <a:t>비교 평균은 지역별 증가율 단순평균이며 인구 보정 전 탐색 전망입니다. 목표 순위는 타지역 전망 고정·목표 달성 가정입니다.</a:t>
            </a:r>
          </a:p>
        </p:txBody>
      </p:sp>
      <p:sp xmlns:a="http://schemas.openxmlformats.org/drawingml/2006/main">
        <p:nvSpPr>
          <p:cNvPr id="2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기획 의도</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2.1 사업 목표</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파란선: 한국관광 데이터랩의 과거 월별 방문·소비 기록과 계절 흐름을 바탕으로 계산한 전망입니다.</a:t>
            </a:r>
          </a:p>
          <a:p>
            <a:pPr eaLnBrk="0">
              <a:lnSpc>
                <a:spcPts val="1968"/>
              </a:lnSpc>
              <a:spcBef>
                <a:spcPts val="0"/>
              </a:spcBef>
              <a:spcAft>
                <a:spcPts val="0"/>
              </a:spcAft>
            </a:pPr>
            <a:r>
              <a:rPr sz="1575" b="0">
                <a:solidFill>
                  <a:srgbClr val="59636E"/>
                </a:solidFill>
                <a:latin typeface="Noto Sans KR"/>
              </a:rPr>
              <a:t>주황선: 공식 사례를 참고해 정한 사업 목표입니다. 목표율은 조정할 수 있으며, 산출 근거 페이지에서 설명합니다.</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1.1 지역별 참고 사례</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39718B"/>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7" name="case-badge-1"/>
          <p:cNvSpPr txBox="1"/>
          <p:nvPr/>
        </p:nvSpPr>
        <p:spPr>
          <a:xfrm>
            <a:off x="64484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전라남도 강진군 ·</a:t>
            </a:r>
          </a:p>
          <a:p>
            <a:pPr eaLnBrk="0">
              <a:lnSpc>
                <a:spcPts val="2250"/>
              </a:lnSpc>
              <a:spcBef>
                <a:spcPts val="0"/>
              </a:spcBef>
              <a:spcAft>
                <a:spcPts val="0"/>
              </a:spcAft>
            </a:pPr>
            <a:r>
              <a:rPr sz="1800" b="1">
                <a:solidFill>
                  <a:srgbClr val="1D2227"/>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39718B"/>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5" name="case-badge-2"/>
          <p:cNvSpPr txBox="1"/>
          <p:nvPr/>
        </p:nvSpPr>
        <p:spPr>
          <a:xfrm>
            <a:off x="109442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39718B"/>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8="http://schemas.openxmlformats.org/officeDocument/2006/relationships" ns8:id="rId12"/>
              </a:rPr>
              <a:t>사업 원문 보기 ↗</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04 / 15</a:t>
            </a:r>
          </a:p>
        </p:txBody>
      </p:sp>
      <p:sp xmlns:a="http://schemas.openxmlformats.org/drawingml/2006/main">
        <p:nvSpPr>
          <p:cNvPr id="34" name="case-panel-0-accent"/>
          <p:cNvSpPr/>
          <p:nvPr/>
        </p:nvSpPr>
        <p:spPr>
          <a:xfrm>
            <a:off x="10096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case-panel-1-accent"/>
          <p:cNvSpPr/>
          <p:nvPr/>
        </p:nvSpPr>
        <p:spPr>
          <a:xfrm>
            <a:off x="55054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case-panel-2-accent"/>
          <p:cNvSpPr/>
          <p:nvPr/>
        </p:nvSpPr>
        <p:spPr>
          <a:xfrm>
            <a:off x="100012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3.1 사례 선정과 지역 적용</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39718B"/>
                </a:solidFill>
                <a:latin typeface="Noto Sans KR"/>
                <a:hlinkClick r:id="rId2"/>
              </a:rPr>
              <a:t>문서 기반 함수 연결 · 2024년 문화재야행 사업 예산 확정자료</a:t>
            </a:r>
          </a:p>
        </p:txBody>
      </p:sp>
      <p:sp>
        <p:nvSpPr>
          <p:cNvPr id="10"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3.2 4단계 실행 가이드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2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09 / 15</a:t>
            </a:r>
          </a:p>
        </p:txBody>
      </p:sp>
      <p:sp xmlns:a="http://schemas.openxmlformats.org/drawingml/2006/main">
        <p:nvSpPr>
          <p:cNvPr id="32" name="execution-panel-0-accent"/>
          <p:cNvSpPr/>
          <p:nvPr/>
        </p:nvSpPr>
        <p:spPr>
          <a:xfrm>
            <a:off x="1009650" y="209550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xecution-panel-1-accent"/>
          <p:cNvSpPr/>
          <p:nvPr/>
        </p:nvSpPr>
        <p:spPr>
          <a:xfrm>
            <a:off x="1009650" y="345757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execution-panel-2-accent"/>
          <p:cNvSpPr/>
          <p:nvPr/>
        </p:nvSpPr>
        <p:spPr>
          <a:xfrm>
            <a:off x="1009650" y="481965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execution-panel-3-accent"/>
          <p:cNvSpPr/>
          <p:nvPr/>
        </p:nvSpPr>
        <p:spPr>
          <a:xfrm>
            <a:off x="1009650" y="618172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3.3 머신러닝 예측값과 목표 KPI</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 xmlns:a="http://schemas.openxmlformats.org/drawingml/2006/main">
        <p:nvSpPr>
          <p:cNvPr id="1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1.2 사례 실적</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sult-title"/>
          <p:cNvSpPr txBox="1"/>
          <p:nvPr/>
        </p:nvSpPr>
        <p:spPr>
          <a:xfrm>
            <a:off x="1009650" y="2009775"/>
            <a:ext cx="13220700" cy="5524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39718B"/>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39718B"/>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2024년 · 5월 24–25일</a:t>
            </a:r>
          </a:p>
        </p:txBody>
      </p:sp>
      <p:sp>
        <p:nvSpPr>
          <p:cNvPr id="14" name="result-bar-1"/>
          <p:cNvSpPr/>
          <p:nvPr/>
        </p:nvSpPr>
        <p:spPr>
          <a:xfrm>
            <a:off x="7172325" y="5133975"/>
            <a:ext cx="4572000" cy="2286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13.0만 명</a:t>
            </a:r>
          </a:p>
        </p:txBody>
      </p:sp>
      <p:sp>
        <p:nvSpPr>
          <p:cNvPr id="16" name="result-change-band"/>
          <p:cNvSpPr/>
          <p:nvPr/>
        </p:nvSpPr>
        <p:spPr>
          <a:xfrm>
            <a:off x="7172325" y="5857875"/>
            <a:ext cx="7058025"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두 해의 행사 방문객 비교입니다. 개최 계절이 달라 사업 단독 효과로 해석하지 않습니다.</a:t>
            </a:r>
          </a:p>
        </p:txBody>
      </p:sp>
      <p:sp>
        <p:nvSpPr>
          <p:cNvPr id="2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4.1 견적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6.1 근거·데이터·출처</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39718B"/>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39718B"/>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39718B"/>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39718B"/>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39718B"/>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39718B"/>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39718B"/>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39718B"/>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39718B"/>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39718B"/>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39718B"/>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39718B"/>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39718B"/>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39718B"/>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39718B"/>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39718B"/>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39718B"/>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39718B"/>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39718B"/>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39718B"/>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39718B"/>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39718B"/>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39718B"/>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39718B"/>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39718B"/>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39718B"/>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39718B"/>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39718B"/>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39718B"/>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39718B"/>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39718B"/>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39718B"/>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39718B"/>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3="http://schemas.openxmlformats.org/officeDocument/2006/relationships" ns73:id="rId2"/>
              </a:rPr>
              <a:t>인기관광지 2025-07 ~ 2026-06</a:t>
            </a:r>
          </a:p>
        </p:txBody>
      </p:sp>
      <p:sp xmlns:a="http://schemas.openxmlformats.org/drawingml/2006/main">
        <p:nvSpPr>
          <p:cNvPr id="3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6.2 근거·데이터·출처 계속</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39718B"/>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방문자 수 RandomForestRegressor</a:t>
            </a:r>
          </a:p>
          <a:p>
            <a:pPr eaLnBrk="0">
              <a:lnSpc>
                <a:spcPts val="1265"/>
              </a:lnSpc>
              <a:spcBef>
                <a:spcPts val="0"/>
              </a:spcBef>
              <a:spcAft>
                <a:spcPts val="0"/>
              </a:spcAft>
            </a:pPr>
            <a:r>
              <a:rPr sz="1012" b="0">
                <a:solidFill>
                  <a:srgbClr val="004EA2"/>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내비게이션 검색량 전년동월 계절</a:t>
            </a:r>
          </a:p>
          <a:p>
            <a:pPr eaLnBrk="0">
              <a:lnSpc>
                <a:spcPts val="1265"/>
              </a:lnSpc>
              <a:spcBef>
                <a:spcPts val="0"/>
              </a:spcBef>
              <a:spcAft>
                <a:spcPts val="0"/>
              </a:spcAft>
            </a:pPr>
            <a:r>
              <a:rPr sz="1012" b="0">
                <a:solidFill>
                  <a:srgbClr val="004EA2"/>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숙박 목적지 검색량 전년동월 계절</a:t>
            </a:r>
          </a:p>
          <a:p>
            <a:pPr eaLnBrk="0">
              <a:lnSpc>
                <a:spcPts val="1265"/>
              </a:lnSpc>
              <a:spcBef>
                <a:spcPts val="0"/>
              </a:spcBef>
              <a:spcAft>
                <a:spcPts val="0"/>
              </a:spcAft>
            </a:pPr>
            <a:r>
              <a:rPr sz="1012" b="0">
                <a:solidFill>
                  <a:srgbClr val="004EA2"/>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39718B"/>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39718B"/>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39718B"/>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39718B"/>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39718B"/>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39718B"/>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39718B"/>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3"/>
              </a:rPr>
              <a:t>사례 실적 서울문화포털 · 2024 정동야행 행사 내용과 사진</a:t>
            </a:r>
          </a:p>
        </p:txBody>
      </p:sp>
      <p:sp>
        <p:nvSpPr>
          <p:cNvPr id="4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2.2 목표 KPI 산출근거</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pi-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목표율을 정한 이유와 3개월 동안 추가로 달성할 규모</a:t>
            </a:r>
          </a:p>
        </p:txBody>
      </p:sp>
      <p:pic>
        <p:nvPicPr>
          <p:cNvPr id="5" name="kpi-reason-icon" descr="target-blue.png"/>
          <p:cNvPicPr>
            <a:picLocks noChangeAspect="1"/>
          </p:cNvPicPr>
          <p:nvPr/>
        </p:nvPicPr>
        <p:blipFill>
          <a:blip r:embed="rId2"/>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사례의 운영 방식은 참고하되, 성장률을</a:t>
            </a:r>
          </a:p>
          <a:p>
            <a:pPr eaLnBrk="0">
              <a:lnSpc>
                <a:spcPts val="2437"/>
              </a:lnSpc>
              <a:spcBef>
                <a:spcPts val="0"/>
              </a:spcBef>
              <a:spcAft>
                <a:spcPts val="0"/>
              </a:spcAft>
            </a:pPr>
            <a:r>
              <a:rPr sz="1950" b="0">
                <a:solidFill>
                  <a:srgbClr val="59636E"/>
                </a:solidFill>
                <a:latin typeface="Noto Sans KR"/>
              </a:rPr>
              <a:t>그대로 옮기지 않고 초기 목표 5%를 채택했습니다.</a:t>
            </a:r>
          </a:p>
        </p:txBody>
      </p:sp>
      <p:sp>
        <p:nvSpPr>
          <p:cNvPr id="8" name="kpi-decision-band"/>
          <p:cNvSpPr/>
          <p:nvPr/>
        </p:nvSpPr>
        <p:spPr>
          <a:xfrm>
            <a:off x="1200150" y="5238750"/>
            <a:ext cx="6391275" cy="10477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첫 달부터 마지막 달까지 목표율을</a:t>
            </a:r>
          </a:p>
          <a:p>
            <a:pPr eaLnBrk="0">
              <a:lnSpc>
                <a:spcPts val="2062"/>
              </a:lnSpc>
              <a:spcBef>
                <a:spcPts val="0"/>
              </a:spcBef>
              <a:spcAft>
                <a:spcPts val="0"/>
              </a:spcAft>
            </a:pPr>
            <a:r>
              <a:rPr sz="1650" b="0">
                <a:solidFill>
                  <a:srgbClr val="59636E"/>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kpi-impact-icon-0" descr="users-blue.png"/>
          <p:cNvPicPr>
            <a:picLocks noChangeAspect="1"/>
          </p:cNvPicPr>
          <p:nvPr/>
        </p:nvPicPr>
        <p:blipFill>
          <a:blip r:embed="rId3"/>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+3.29%</a:t>
            </a:r>
          </a:p>
        </p:txBody>
      </p:sp>
      <p:sp>
        <p:nvSpPr>
          <p:cNvPr id="21" name="kpi-impact-panel-1"/>
          <p:cNvSpPr/>
          <p:nvPr/>
        </p:nvSpPr>
        <p:spPr>
          <a:xfrm>
            <a:off x="8696325" y="5267325"/>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kpi-impact-icon-1" descr="coins-blue.png"/>
          <p:cNvPicPr>
            <a:picLocks noChangeAspect="1"/>
          </p:cNvPicPr>
          <p:nvPr/>
        </p:nvPicPr>
        <p:blipFill>
          <a:blip r:embed="rId4"/>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목표는 계획 가정입니다. 사례의 사업 효과를 예측한 값이 아니며, 방문 합계에는 월간 중복이 포함됩니다.</a:t>
            </a:r>
          </a:p>
        </p:txBody>
      </p:sp>
      <p:sp>
        <p:nvSpPr>
          <p:cNvPr id="27"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5.1 기획서 생성 파이프라인</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ipeline-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peline-evidence-icon" descr="map-pinned-blue.png"/>
          <p:cNvPicPr>
            <a:picLocks noChangeAspect="1"/>
          </p:cNvPicPr>
          <p:nvPr/>
        </p:nvPicPr>
        <p:blipFill>
          <a:blip r:embed="rId2"/>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① 지역</a:t>
            </a:r>
          </a:p>
          <a:p>
            <a:pPr eaLnBrk="0">
              <a:lnSpc>
                <a:spcPts val="2203"/>
              </a:lnSpc>
              <a:spcBef>
                <a:spcPts val="0"/>
              </a:spcBef>
              <a:spcAft>
                <a:spcPts val="0"/>
              </a:spcAft>
            </a:pPr>
            <a:r>
              <a:rPr sz="1762" b="1">
                <a:solidFill>
                  <a:srgbClr val="004EA2"/>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SQL · 공식 관광자료</a:t>
            </a:r>
          </a:p>
        </p:txBody>
      </p:sp>
      <p:pic>
        <p:nvPicPr>
          <p:cNvPr id="22" name="pipeline-case-icon" descr="search-check-blue.png"/>
          <p:cNvPicPr>
            <a:picLocks noChangeAspect="1"/>
          </p:cNvPicPr>
          <p:nvPr/>
        </p:nvPicPr>
        <p:blipFill>
          <a:blip r:embed="rId3"/>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② 타지역</a:t>
            </a:r>
          </a:p>
          <a:p>
            <a:pPr eaLnBrk="0">
              <a:lnSpc>
                <a:spcPts val="2203"/>
              </a:lnSpc>
              <a:spcBef>
                <a:spcPts val="0"/>
              </a:spcBef>
              <a:spcAft>
                <a:spcPts val="0"/>
              </a:spcAft>
            </a:pPr>
            <a:r>
              <a:rPr sz="1762" b="1">
                <a:solidFill>
                  <a:srgbClr val="004EA2"/>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OpenAI · 공식 사업·성과</a:t>
            </a:r>
          </a:p>
        </p:txBody>
      </p:sp>
      <p:pic>
        <p:nvPicPr>
          <p:cNvPr id="25" name="pipeline-click-icon" descr="mouse-pointer-click-blue.png"/>
          <p:cNvPicPr>
            <a:picLocks noChangeAspect="1"/>
          </p:cNvPicPr>
          <p:nvPr/>
        </p:nvPicPr>
        <p:blipFill>
          <a:blip r:embed="rId4"/>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기획서 생성</a:t>
            </a:r>
          </a:p>
          <a:p>
            <a:pPr eaLnBrk="0" algn="ctr">
              <a:lnSpc>
                <a:spcPts val="2531"/>
              </a:lnSpc>
              <a:spcBef>
                <a:spcPts val="0"/>
              </a:spcBef>
              <a:spcAft>
                <a:spcPts val="0"/>
              </a:spcAft>
            </a:pPr>
            <a:r>
              <a:rPr sz="2025" b="1">
                <a:solidFill>
                  <a:srgbClr val="004EA2"/>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28" name="pipeline-icon-652" descr="git-compare-arrows-blue.png"/>
          <p:cNvPicPr>
            <a:picLocks noChangeAspect="1"/>
          </p:cNvPicPr>
          <p:nvPr/>
        </p:nvPicPr>
        <p:blipFill>
          <a:blip r:embed="rId5"/>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지역에 맞는</a:t>
            </a:r>
          </a:p>
          <a:p>
            <a:pPr eaLnBrk="0" algn="ctr">
              <a:lnSpc>
                <a:spcPts val="2062"/>
              </a:lnSpc>
              <a:spcBef>
                <a:spcPts val="0"/>
              </a:spcBef>
              <a:spcAft>
                <a:spcPts val="0"/>
              </a:spcAft>
            </a:pPr>
            <a:r>
              <a:rPr sz="1650" b="0">
                <a:solidFill>
                  <a:srgbClr val="59636E"/>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Gemma</a:t>
            </a:r>
          </a:p>
        </p:txBody>
      </p:sp>
      <p:pic>
        <p:nvPicPr>
          <p:cNvPr id="32" name="pipeline-icon-874" descr="notebook-pen-blue.png"/>
          <p:cNvPicPr>
            <a:picLocks noChangeAspect="1"/>
          </p:cNvPicPr>
          <p:nvPr/>
        </p:nvPicPr>
        <p:blipFill>
          <a:blip r:embed="rId6"/>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선정 근거로</a:t>
            </a:r>
          </a:p>
          <a:p>
            <a:pPr eaLnBrk="0" algn="ctr">
              <a:lnSpc>
                <a:spcPts val="2062"/>
              </a:lnSpc>
              <a:spcBef>
                <a:spcPts val="0"/>
              </a:spcBef>
              <a:spcAft>
                <a:spcPts val="0"/>
              </a:spcAft>
            </a:pPr>
            <a:r>
              <a:rPr sz="1650" b="0">
                <a:solidFill>
                  <a:srgbClr val="59636E"/>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36" name="pipeline-icon-1096" descr="shield-check-blue.png"/>
          <p:cNvPicPr>
            <a:picLocks noChangeAspect="1"/>
          </p:cNvPicPr>
          <p:nvPr/>
        </p:nvPicPr>
        <p:blipFill>
          <a:blip r:embed="rId7"/>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수치·출처와</a:t>
            </a:r>
          </a:p>
          <a:p>
            <a:pPr eaLnBrk="0" algn="ctr">
              <a:lnSpc>
                <a:spcPts val="2062"/>
              </a:lnSpc>
              <a:spcBef>
                <a:spcPts val="0"/>
              </a:spcBef>
              <a:spcAft>
                <a:spcPts val="0"/>
              </a:spcAft>
            </a:pPr>
            <a:r>
              <a:rPr sz="1650" b="0">
                <a:solidFill>
                  <a:srgbClr val="59636E"/>
                </a:solidFill>
                <a:latin typeface="Noto Sans KR"/>
              </a:rPr>
              <a:t>본문 연결 확인</a:t>
            </a:r>
          </a:p>
        </p:txBody>
      </p:sp>
      <p:pic>
        <p:nvPicPr>
          <p:cNvPr id="39" name="pipeline-output-icon" descr="files-blue.png"/>
          <p:cNvPicPr>
            <a:picLocks noChangeAspect="1"/>
          </p:cNvPicPr>
          <p:nvPr/>
        </p:nvPicPr>
        <p:blipFill>
          <a:blip r:embed="rId8"/>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웹</a:t>
            </a:r>
          </a:p>
          <a:p>
            <a:pPr eaLnBrk="0" algn="ctr">
              <a:lnSpc>
                <a:spcPts val="2062"/>
              </a:lnSpc>
              <a:spcBef>
                <a:spcPts val="0"/>
              </a:spcBef>
              <a:spcAft>
                <a:spcPts val="0"/>
              </a:spcAft>
            </a:pPr>
            <a:r>
              <a:rPr sz="1650" b="0">
                <a:solidFill>
                  <a:srgbClr val="59636E"/>
                </a:solidFill>
                <a:latin typeface="Noto Sans KR"/>
              </a:rPr>
              <a:t>PPT · Word</a:t>
            </a:r>
          </a:p>
        </p:txBody>
      </p:sp>
      <p:sp>
        <p:nvSpPr>
          <p:cNvPr id="42" name="pipeline-data-band"/>
          <p:cNvSpPr/>
          <p:nvPr/>
        </p:nvSpPr>
        <p:spPr>
          <a:xfrm>
            <a:off x="1009650" y="6762750"/>
            <a:ext cx="6610350" cy="9620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peline-data-icon" descr="database-blue.png"/>
          <p:cNvPicPr>
            <a:picLocks noChangeAspect="1"/>
          </p:cNvPicPr>
          <p:nvPr/>
        </p:nvPicPr>
        <p:blipFill>
          <a:blip r:embed="rId9"/>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OpenAI는 공식 웹에서 사업 사례와 출처를 조사합니다. 이미 확보한 공식 근거는 재사용합니다.</a:t>
            </a:r>
          </a:p>
        </p:txBody>
      </p:sp>
      <p:sp>
        <p:nvSpPr>
          <p:cNvPr id="5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orial-kicker"/>
          <p:cNvSpPr txBox="1"/>
          <p:nvPr/>
        </p:nvSpPr>
        <p:spPr>
          <a:xfrm>
            <a:off x="1009650" y="428625"/>
            <a:ext cx="1047750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1">
                <a:solidFill>
                  <a:srgbClr val="00879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