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p-date"/>
          <p:cNvSpPr txBox="1"/>
          <p:nvPr/>
        </p:nvSpPr>
        <p:spPr>
          <a:xfrm>
            <a:off x="12477750" y="7610475"/>
            <a:ext cx="1905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2026. 09. 15</a:t>
            </a:r>
          </a:p>
        </p:txBody>
      </p:sp>
      <p:sp xmlns:a="http://schemas.openxmlformats.org/drawingml/2006/main">
        <p:nvSpPr>
          <p:cNvPr id="8"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9"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10"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2"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3"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5"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6"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8"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9"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1"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2"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4"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5"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7"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8"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100" b="0">
                <a:solidFill>
                  <a:srgbClr val="62666C"/>
                </a:solidFill>
                <a:latin typeface="Century Gothic"/>
                <a:ea typeface="맑은 고딕"/>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14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4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1750"/>
              </a:lnSpc>
              <a:spcBef>
                <a:spcPts val="0"/>
              </a:spcBef>
              <a:spcAft>
                <a:spcPts val="0"/>
              </a:spcAft>
            </a:pPr>
            <a:r>
              <a:rPr sz="1400" b="1">
                <a:solidFill>
                  <a:srgbClr val="202124"/>
                </a:solidFill>
                <a:latin typeface="Century Gothic"/>
                <a:ea typeface="맑은 고딕"/>
              </a:rPr>
              <a:t>서울특별시 문화유산 집적지역 · 기존</a:t>
            </a:r>
          </a:p>
          <a:p>
            <a:pPr eaLnBrk="0">
              <a:lnSpc>
                <a:spcPts val="1750"/>
              </a:lnSpc>
              <a:spcBef>
                <a:spcPts val="0"/>
              </a:spcBef>
              <a:spcAft>
                <a:spcPts val="0"/>
              </a:spcAft>
            </a:pPr>
            <a:r>
              <a:rPr sz="1400" b="1">
                <a:solidFill>
                  <a:srgbClr val="202124"/>
                </a:solidFill>
                <a:latin typeface="Century Gothic"/>
                <a:ea typeface="맑은 고딕"/>
              </a:rPr>
              <a:t>문화유산을 활용한 야간 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375"/>
              </a:lnSpc>
              <a:spcBef>
                <a:spcPts val="0"/>
              </a:spcBef>
              <a:spcAft>
                <a:spcPts val="0"/>
              </a:spcAft>
            </a:pPr>
            <a:r>
              <a:rPr sz="1100" b="0">
                <a:solidFill>
                  <a:srgbClr val="62666C"/>
                </a:solidFill>
                <a:latin typeface="Century Gothic"/>
                <a:ea typeface="맑은 고딕"/>
              </a:rPr>
              <a:t>문화유산이 모인 거점을 중심으로 야간 개방, 해설, 공연과</a:t>
            </a:r>
          </a:p>
          <a:p>
            <a:pPr eaLnBrk="0">
              <a:lnSpc>
                <a:spcPts val="1375"/>
              </a:lnSpc>
              <a:spcBef>
                <a:spcPts val="0"/>
              </a:spcBef>
              <a:spcAft>
                <a:spcPts val="0"/>
              </a:spcAft>
            </a:pPr>
            <a:r>
              <a:rPr sz="1100" b="0">
                <a:solidFill>
                  <a:srgbClr val="62666C"/>
                </a:solidFill>
                <a:latin typeface="Century Gothic"/>
                <a:ea typeface="맑은 고딕"/>
              </a:rPr>
              <a:t>체험프로그램을 구성하고 국비와 지방비를</a:t>
            </a:r>
          </a:p>
          <a:p>
            <a:pPr eaLnBrk="0">
              <a:lnSpc>
                <a:spcPts val="1375"/>
              </a:lnSpc>
              <a:spcBef>
                <a:spcPts val="0"/>
              </a:spcBef>
              <a:spcAft>
                <a:spcPts val="0"/>
              </a:spcAft>
            </a:pPr>
            <a:r>
              <a:rPr sz="1100" b="0">
                <a:solidFill>
                  <a:srgbClr val="62666C"/>
                </a:solidFill>
                <a:latin typeface="Century Gothic"/>
                <a:ea typeface="맑은 고딕"/>
              </a:rPr>
              <a:t>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90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90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0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14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4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1750"/>
              </a:lnSpc>
              <a:spcBef>
                <a:spcPts val="0"/>
              </a:spcBef>
              <a:spcAft>
                <a:spcPts val="0"/>
              </a:spcAft>
            </a:pPr>
            <a:r>
              <a:rPr sz="14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375"/>
              </a:lnSpc>
              <a:spcBef>
                <a:spcPts val="0"/>
              </a:spcBef>
              <a:spcAft>
                <a:spcPts val="0"/>
              </a:spcAft>
            </a:pPr>
            <a:r>
              <a:rPr sz="1100" b="0">
                <a:solidFill>
                  <a:srgbClr val="62666C"/>
                </a:solidFill>
                <a:latin typeface="Century Gothic"/>
                <a:ea typeface="맑은 고딕"/>
              </a:rPr>
              <a:t>여행자가 지역에서 지출한 비용의 일부를 지역상품권으로</a:t>
            </a:r>
          </a:p>
          <a:p>
            <a:pPr eaLnBrk="0">
              <a:lnSpc>
                <a:spcPts val="1375"/>
              </a:lnSpc>
              <a:spcBef>
                <a:spcPts val="0"/>
              </a:spcBef>
              <a:spcAft>
                <a:spcPts val="0"/>
              </a:spcAft>
            </a:pPr>
            <a:r>
              <a:rPr sz="1100" b="0">
                <a:solidFill>
                  <a:srgbClr val="62666C"/>
                </a:solidFill>
                <a:latin typeface="Century Gothic"/>
                <a:ea typeface="맑은 고딕"/>
              </a:rPr>
              <a:t>돌려받게 하여 혜택이 다시 지역 상점에서</a:t>
            </a:r>
          </a:p>
          <a:p>
            <a:pPr eaLnBrk="0">
              <a:lnSpc>
                <a:spcPts val="1375"/>
              </a:lnSpc>
              <a:spcBef>
                <a:spcPts val="0"/>
              </a:spcBef>
              <a:spcAft>
                <a:spcPts val="0"/>
              </a:spcAft>
            </a:pPr>
            <a:r>
              <a:rPr sz="1100" b="0">
                <a:solidFill>
                  <a:srgbClr val="62666C"/>
                </a:solidFill>
                <a:latin typeface="Century Gothic"/>
                <a:ea typeface="맑은 고딕"/>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90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90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0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14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4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1750"/>
              </a:lnSpc>
              <a:spcBef>
                <a:spcPts val="0"/>
              </a:spcBef>
              <a:spcAft>
                <a:spcPts val="0"/>
              </a:spcAft>
            </a:pPr>
            <a:r>
              <a:rPr sz="1400" b="1">
                <a:solidFill>
                  <a:srgbClr val="202124"/>
                </a:solidFill>
                <a:latin typeface="Century Gothic"/>
                <a:ea typeface="맑은 고딕"/>
              </a:rPr>
              <a:t>전국 인구감소지역 34곳 · 디지털 관광주민증과</a:t>
            </a:r>
          </a:p>
          <a:p>
            <a:pPr eaLnBrk="0">
              <a:lnSpc>
                <a:spcPts val="1750"/>
              </a:lnSpc>
              <a:spcBef>
                <a:spcPts val="0"/>
              </a:spcBef>
              <a:spcAft>
                <a:spcPts val="0"/>
              </a:spcAft>
            </a:pPr>
            <a:r>
              <a:rPr sz="1400" b="1">
                <a:solidFill>
                  <a:srgbClr val="202124"/>
                </a:solidFill>
                <a:latin typeface="Century Gothic"/>
                <a:ea typeface="맑은 고딕"/>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375"/>
              </a:lnSpc>
              <a:spcBef>
                <a:spcPts val="0"/>
              </a:spcBef>
              <a:spcAft>
                <a:spcPts val="0"/>
              </a:spcAft>
            </a:pPr>
            <a:r>
              <a:rPr sz="1100" b="0">
                <a:solidFill>
                  <a:srgbClr val="62666C"/>
                </a:solidFill>
                <a:latin typeface="Century Gothic"/>
                <a:ea typeface="맑은 고딕"/>
              </a:rPr>
              <a:t>디지털 관광주민증 참여업체 현장 인증과</a:t>
            </a:r>
          </a:p>
          <a:p>
            <a:pPr eaLnBrk="0">
              <a:lnSpc>
                <a:spcPts val="1375"/>
              </a:lnSpc>
              <a:spcBef>
                <a:spcPts val="0"/>
              </a:spcBef>
              <a:spcAft>
                <a:spcPts val="0"/>
              </a:spcAft>
            </a:pPr>
            <a:r>
              <a:rPr sz="1100" b="0">
                <a:solidFill>
                  <a:srgbClr val="62666C"/>
                </a:solidFill>
                <a:latin typeface="Century Gothic"/>
                <a:ea typeface="맑은 고딕"/>
              </a:rPr>
              <a:t>숙박·식음·관람·체험 할인, 특정 시간대 KTX 할인과 방문</a:t>
            </a:r>
          </a:p>
          <a:p>
            <a:pPr eaLnBrk="0">
              <a:lnSpc>
                <a:spcPts val="1375"/>
              </a:lnSpc>
              <a:spcBef>
                <a:spcPts val="0"/>
              </a:spcBef>
              <a:spcAft>
                <a:spcPts val="0"/>
              </a:spcAft>
            </a:pPr>
            <a:r>
              <a:rPr sz="1100" b="0">
                <a:solidFill>
                  <a:srgbClr val="62666C"/>
                </a:solidFill>
                <a:latin typeface="Century Gothic"/>
                <a:ea typeface="맑은 고딕"/>
              </a:rPr>
              <a:t>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90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90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0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000" b="0">
                <a:solidFill>
                  <a:srgbClr val="62666C"/>
                </a:solidFill>
                <a:latin typeface="Century Gothic"/>
                <a:ea typeface="맑은 고딕"/>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