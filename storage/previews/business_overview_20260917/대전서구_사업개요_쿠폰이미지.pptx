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ns0="http://schemas.openxmlformats.org/officeDocument/2006/relationships" id="276" ns0:id="rId24"/>
    <p:sldId xmlns:r="http://schemas.openxmlformats.org/officeDocument/2006/relationships" id="258" r:id="Rb96b5134fc1b4629"/>
    <p:sldId xmlns:r="http://schemas.openxmlformats.org/officeDocument/2006/relationships" id="261" r:id="Rbf371966fa964fc8"/>
    <p:sldId xmlns:r="http://schemas.openxmlformats.org/officeDocument/2006/relationships" id="270" r:id="rId17"/>
    <p:sldId xmlns:r="http://schemas.openxmlformats.org/officeDocument/2006/relationships" id="259" r:id="R5b6702ccd7664af1"/>
    <p:sldId xmlns:r="http://schemas.openxmlformats.org/officeDocument/2006/relationships" id="272" r:id="rId18"/>
    <p:sldId xmlns:r="http://schemas.openxmlformats.org/officeDocument/2006/relationships" id="274" r:id="rId22"/>
    <p:sldId xmlns:r="http://schemas.openxmlformats.org/officeDocument/2006/relationships" id="275" r:id="rId23"/>
    <p:sldId xmlns:r="http://schemas.openxmlformats.org/officeDocument/2006/relationships" id="271" r: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r="http://schemas.openxmlformats.org/officeDocument/2006/relationships" id="273" r:id="rId21"/>
    <p:sldId xmlns:r="http://schemas.openxmlformats.org/officeDocument/2006/relationships" id="266" r:id="R029df0519ade4c8b"/>
    <p:sldId xmlns:r="http://schemas.openxmlformats.org/officeDocument/2006/relationships" id="268" r: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5.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7.xml"/><Relationship Id="R4c9d0e3030fa4c5f" Type="http://schemas.openxmlformats.org/officeDocument/2006/relationships/slide" Target="slides/slide11.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3.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2.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6.xml"/><Relationship Id="rId20" Type="http://schemas.openxmlformats.org/officeDocument/2006/relationships/slide" Target="slides/slide10.xml"/><Relationship Id="rId21" Type="http://schemas.openxmlformats.org/officeDocument/2006/relationships/slide" Target="slides/slide14.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499.8578</c:v>
                </c:pt>
                <c:pt idx="1">
                  <c:v>494.08248288</c:v>
                </c:pt>
                <c:pt idx="2">
                  <c:v>499.05961712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793.5937471</c:v>
                </c:pt>
                <c:pt idx="1">
                  <c:v>859.89822377</c:v>
                </c:pt>
                <c:pt idx="2">
                  <c:v>810.6756486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720.0</c:v>
                </c:pt>
                <c:pt idx="1">
                  <c:v>1440.0</c:v>
                </c:pt>
                <c:pt idx="2">
                  <c:v>2591.0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4554.82</c:v>
                </c:pt>
                <c:pt idx="1">
                  <c:v>5148.93</c:v>
                </c:pt>
                <c:pt idx="2">
                  <c:v>6890.82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1.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7.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{"source_id": "tour-api:1955818", "source_type": "open_api", "title": "도산서원(대전)", "source_url": "https://apis.data.go.kr/B551011/KorService2", "content_id": "1955818", "content_type_id": "12", "address": "대전광역시 서구 남선로 8", "image_url": "http://tong.visitkorea.or.kr/cms/resource/24/3035024_image2_1.JPG",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"9da8906bc18ad5ed9a1f620a997c40557df67be2a658dc8a337d675d2ed7fe0e",</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-1.756673703161682,</a:t>
            </a:r>
          </a:p>
          <a:p xmlns:a="http://schemas.openxmlformats.org/drawingml/2006/main">
            <a:r>
              <a:t>        "target_rank": 185,</a:t>
            </a:r>
          </a:p>
          <a:p xmlns:a="http://schemas.openxmlformats.org/drawingml/2006/main">
            <a:r>
              <a:t>        "target": [</a:t>
            </a:r>
          </a:p>
          <a:p xmlns:a="http://schemas.openxmlformats.org/drawingml/2006/main">
            <a:r>
              <a:t>          4998578.0,</a:t>
            </a:r>
          </a:p>
          <a:p xmlns:a="http://schemas.openxmlformats.org/drawingml/2006/main">
            <a:r>
              <a:t>          4940824.828765141,</a:t>
            </a:r>
          </a:p>
          <a:p xmlns:a="http://schemas.openxmlformats.org/drawingml/2006/main">
            <a:r>
              <a:t>          4990596.171234859</a:t>
            </a:r>
          </a:p>
          <a:p xmlns:a="http://schemas.openxmlformats.org/drawingml/2006/main">
            <a:r>
              <a:t>        ],</a:t>
            </a:r>
          </a:p>
          <a:p xmlns:a="http://schemas.openxmlformats.org/drawingml/2006/main">
            <a:r>
              <a:t>        "additional": 1440.0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4.507743419405474,</a:t>
            </a:r>
          </a:p>
          <a:p xmlns:a="http://schemas.openxmlformats.org/drawingml/2006/main">
            <a:r>
              <a:t>        "target_rank": 60,</a:t>
            </a:r>
          </a:p>
          <a:p xmlns:a="http://schemas.openxmlformats.org/drawingml/2006/main">
            <a:r>
              <a:t>        "target": [</a:t>
            </a:r>
          </a:p>
          <a:p xmlns:a="http://schemas.openxmlformats.org/drawingml/2006/main">
            <a:r>
              <a:t>          79359374710.0,</a:t>
            </a:r>
          </a:p>
          <a:p xmlns:a="http://schemas.openxmlformats.org/drawingml/2006/main">
            <a:r>
              <a:t>          85989822376.69019,</a:t>
            </a:r>
          </a:p>
          <a:p xmlns:a="http://schemas.openxmlformats.org/drawingml/2006/main">
            <a:r>
              <a:t>          81067564860.30981</a:t>
            </a:r>
          </a:p>
          <a:p xmlns:a="http://schemas.openxmlformats.org/drawingml/2006/main">
            <a:r>
              <a:t>        ],</a:t>
            </a:r>
          </a:p>
          <a:p xmlns:a="http://schemas.openxmlformats.org/drawingml/2006/main">
            <a:r>
              <a:t>        "additional": 51489277.0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"서구 상권 활력 제고를 위한 '서구 관광 소비 환급' 시범 사업",</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"2026-11",</a:t>
            </a:r>
          </a:p>
          <a:p xmlns:a="http://schemas.openxmlformats.org/drawingml/2006/main">
            <a:r>
              <a:t>        "task": "운영팀이 시범 운영을 개시하고, 관광객의 결제 증빙을 확인하여 지역사랑상품권을 환급함",</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"2026-12",</a:t>
            </a:r>
          </a:p>
          <a:p xmlns:a="http://schemas.openxmlformats.org/drawingml/2006/main">
            <a:r>
              <a:t>        "task": "정산 담당자가 월별 결제 데이터를 검수하고, 부정수급 여부를 모니터링하여 최종 정산을 실시함",</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"기획팀이 사업 성과(인정 결제액, 참여자 1인당 결제액)를 분석하고 차기 운영 규모를 검토함",</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+0.02%, 소비 +0.04%. 운영 규모와 참여 가정으로 산정하며 실제 성과는 별도 집계합니다.",</a:t>
            </a:r>
          </a:p>
          <a:p xmlns:a="http://schemas.openxmlformats.org/drawingml/2006/main">
            <a:r>
              <a:t>    "budget": "총 예산 = Σ min(적격 결제액 × 가정 환급률, 건별 상한액). (기획 가정/미확정 견적)",</a:t>
            </a:r>
          </a:p>
          <a:p xmlns:a="http://schemas.openxmlformats.org/drawingml/2006/main">
            <a:r>
              <a:t>    "kpi": "1. 인정 결제액 합계(취소·중복 제외): 2026-10~12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"evidence": "ml:30170:regional-demand-v3.1:202606, dataset:30170:3, case:58c0694a3e85d8",</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"여행가는 달 지역 여행할인 모아보기",</a:t>
            </a:r>
          </a:p>
          <a:p>
            <a:r>
              <a:t>      "source_url": "https://korean.visitkorea.or.kr/travelmonth/benefit.do?modal=benefit-190",</a:t>
            </a:r>
          </a:p>
          <a:p>
            <a:r>
              <a:t>      "published_or_updated_at": "2026-09-17 기준 페이지 확인; 행사 예정 기간 2026-09-21~2026-10-18",</a:t>
            </a:r>
          </a:p>
          <a:p>
            <a:r>
              <a:t>      "summary": "한국관광공사 ‘여행가는 달’ 페이지에는 대전관광공사·대전광역시의 ‘대전관광상품 최대 1만원 할인’이 2026-09-21부터 2026-10-18까지 ‘진행예정’으로 게시되어 있다.",</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a:t>
            </a:r>
          </a:p>
          <a:p>
            <a:r>
              <a:t>    {</a:t>
            </a:r>
          </a:p>
          <a:p>
            <a:r>
              <a:t>      "source_id": "web:30170:2",</a:t>
            </a:r>
          </a:p>
          <a:p>
            <a:r>
              <a:t>      "source_type": "official_web",</a:t>
            </a:r>
          </a:p>
          <a:p>
            <a:r>
              <a:t>      "title": "대전광역시_문화시설 | 공공데이터포털",</a:t>
            </a:r>
          </a:p>
          <a:p>
            <a:r>
              <a:t>      "source_url": "https://www.data.go.kr/data/15112114/openapi.do?recommendDataYn=Y",</a:t>
            </a:r>
          </a:p>
          <a:p>
            <a:r>
              <a:t>      "published_or_updated_at": "수정일 2025-07-23",</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a:t>
            </a:r>
          </a:p>
          <a:p>
            <a:r>
              <a:t>    {</a:t>
            </a:r>
          </a:p>
          <a:p>
            <a:r>
              <a:t>      "source_id": "web:30170:3",</a:t>
            </a:r>
          </a:p>
          <a:p>
            <a:r>
              <a:t>      "source_type": "official_web",</a:t>
            </a:r>
          </a:p>
          <a:p>
            <a:r>
              <a:t>      "title": "대전광역시 문화관광(숙박정보) 데이터 | 공공데이터포털",</a:t>
            </a:r>
          </a:p>
          <a:p>
            <a:r>
              <a:t>      "source_url": "https://www.data.go.kr/dataset/15001021/openapi.do",</a:t>
            </a:r>
          </a:p>
          <a:p>
            <a:r>
              <a:t>      "published_or_updated_at": "페이지 확인일 2026-09-17",</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a:t>
            </a:r>
          </a:p>
          <a:p>
            <a:r>
              <a:t>    {</a:t>
            </a:r>
          </a:p>
          <a:p>
            <a:r>
              <a:t>      "source_id": "web:30170:4",</a:t>
            </a:r>
          </a:p>
          <a:p>
            <a:r>
              <a:t>      "source_type": "official_web",</a:t>
            </a:r>
          </a:p>
          <a:p>
            <a:r>
              <a:t>      "title": "대전문화관광해설사 신규 양성 교육 | 한국관광공사 관광e배움터",</a:t>
            </a:r>
          </a:p>
          <a:p>
            <a:r>
              <a:t>      "source_url": "https://touredu.visitkorea.or.kr/home/pkgEdu/pkgEduDetail?crsCd=C202600107&amp;eduPlanYr=2026&amp;eduPlanYrStepCnt=1",</a:t>
            </a:r>
          </a:p>
          <a:p>
            <a:r>
              <a:t>      "published_or_updated_at": "신청·학습기간 2026-07-01~2026-08-31",</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a:t>
            </a:r>
          </a:p>
          <a:p>
            <a:r>
              <a:t>    {</a:t>
            </a:r>
          </a:p>
          <a:p>
            <a:r>
              <a:t>      "source_id": "web:30170:5",</a:t>
            </a:r>
          </a:p>
          <a:p>
            <a:r>
              <a:t>      "source_type": "official_web",</a:t>
            </a:r>
          </a:p>
          <a:p>
            <a:r>
              <a:t>      "title": "대전광역시 서구_체육시설 현황 | 공공데이터포털",</a:t>
            </a:r>
          </a:p>
          <a:p>
            <a:r>
              <a:t>      "source_url": "https://www.data.go.kr/dataset/15037511/fileData.do",</a:t>
            </a:r>
          </a:p>
          <a:p>
            <a:r>
              <a:t>      "published_or_updated_at": "페이지 확인일 2026-09-17",</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a:t>
            </a:r>
          </a:p>
          <a:p>
            <a:r>
              <a:t>    {</a:t>
            </a:r>
          </a:p>
          <a:p>
            <a:r>
              <a:t>      "source_id": "web:30170:6",</a:t>
            </a:r>
          </a:p>
          <a:p>
            <a:r>
              <a:t>      "source_type": "official_web",</a:t>
            </a:r>
          </a:p>
          <a:p>
            <a:r>
              <a:t>      "title": "제4차 관광개발기본계획 발표 관련 문화체육관광부 보도자료",</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"published_or_updated_at": "2021-12-30",</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a:t>
            </a:r>
          </a:p>
          <a:p>
            <a:r>
              <a:t>    {</a:t>
            </a:r>
          </a:p>
          <a:p>
            <a:r>
              <a:t>      "source_id": "case:41508ca81cf29f",</a:t>
            </a:r>
          </a:p>
          <a:p>
            <a:r>
              <a:t>      "source_type": "benchmark_case",</a:t>
            </a:r>
          </a:p>
          <a:p>
            <a:r>
              <a:t>      "title": "한국관광 데이터랩 · 안동탈춤축제 연도별 방문자 추이",</a:t>
            </a:r>
          </a:p>
          <a:p>
            <a:r>
              <a:t>      "source_url": "https://datalab.visitkorea.or.kr/",</a:t>
            </a:r>
          </a:p>
          <a:p>
            <a:r>
              <a:t>      "published_or_updated_at": "2026-08-20",</a:t>
            </a:r>
          </a:p>
          <a:p>
            <a:r>
              <a:t>      "summary": "경상북도 안동시 · 2025 안동탈춤축제: 10일간 집중 운영한 공연·문화형 축제 · 2024→2025년 전체 504,573→554,494명 (+9.89%). 개최 10→10일, 일평균 +9.89%, 외지인 +10.75%.",</a:t>
            </a:r>
          </a:p>
          <a:p>
            <a:r>
              <a:t>      "case_region": "경상북도 안동시",</a:t>
            </a:r>
          </a:p>
          <a:p>
            <a:r>
              <a:t>      "intervention": "2025 안동탈춤축제: 10일간 집중 운영한 공연·문화형 축제",</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"day",</a:t>
            </a:r>
          </a:p>
          <a:p>
            <a:r>
              <a:t>          "period": "2025년 축제 개최기간",</a:t>
            </a:r>
          </a:p>
          <a:p>
            <a:r>
              <a:t>          "scope": "안동탈춤축제 전체 개최일수",</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10일 개최기간 비교",</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"case:28ff66d9b44637",</a:t>
            </a:r>
          </a:p>
          <a:p>
            <a:r>
              <a:t>      "source_type": "benchmark_case",</a:t>
            </a:r>
          </a:p>
          <a:p>
            <a:r>
              <a:t>      "title": "2025년 문화예술 축제 통합 지원사업 종합결과보고서",</a:t>
            </a:r>
          </a:p>
          <a:p>
            <a:r>
              <a:t>      "source_url": "https://culture.seoul.go.kr/culture/cmmn/file/fileDown.do?atchFileId=bb34395b25504c66a77ef69999cacb1c&amp;bbsId=B0000006&amp;fileSn=1",</a:t>
            </a:r>
          </a:p>
          <a:p>
            <a:r>
              <a:t>      "published_or_updated_at": "2026",</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"case_region": "서울특별시",</a:t>
            </a:r>
          </a:p>
          <a:p>
            <a:r>
              <a:t>      "intervention": "2025 문화예술 축제 통합 지원사업: 기존 공공·민간 축제의 재정지원·현장평가·관람객 조사",</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"operating_statistics": [</a:t>
            </a:r>
          </a:p>
          <a:p>
            <a:r>
              <a:t>        {</a:t>
            </a:r>
          </a:p>
          <a:p>
            <a:r>
              <a:t>          "metric": "sites",</a:t>
            </a:r>
          </a:p>
          <a:p>
            <a:r>
              <a:t>          "value": 263,</a:t>
            </a:r>
          </a:p>
          <a:p>
            <a:r>
              <a:t>          "unit": "festival",</a:t>
            </a:r>
          </a:p>
          <a:p>
            <a:r>
              <a:t>          "period": "2025-04 ~ 2025-12",</a:t>
            </a:r>
          </a:p>
          <a:p>
            <a:r>
              <a:t>          "scope": "서울시·서울문화재단 재정지원 축제 중 평가 대상",</a:t>
            </a:r>
          </a:p>
          <a:p>
            <a:r>
              <a:t>          "quote": "평가 대상 축제는 총 263개",</a:t>
            </a:r>
          </a:p>
          <a:p>
            <a:r>
              <a:t>          "capacity_count": null,</a:t>
            </a:r>
          </a:p>
          <a:p>
            <a:r>
              <a:t>          "participant_count": null,</a:t>
            </a:r>
          </a:p>
          <a:p>
            <a:r>
              <a:t>          "program_name": "2025 문화예술 축제 통합 지원사업"</a:t>
            </a:r>
          </a:p>
          <a:p>
            <a:r>
              <a:t>        },</a:t>
            </a:r>
          </a:p>
          <a:p>
            <a:r>
              <a:t>        {</a:t>
            </a:r>
          </a:p>
          <a:p>
            <a:r>
              <a:t>          "metric": "participants",</a:t>
            </a:r>
          </a:p>
          <a:p>
            <a:r>
              <a:t>          "value": 8880289,</a:t>
            </a:r>
          </a:p>
          <a:p>
            <a:r>
              <a:t>          "unit": "person_visit",</a:t>
            </a:r>
          </a:p>
          <a:p>
            <a:r>
              <a:t>          "period": "2025-04 ~ 2025-12",</a:t>
            </a:r>
          </a:p>
          <a:p>
            <a:r>
              <a:t>          "scope": "평가 대상 축제 실적집계표의 관람객 합계; 중복 방문 가능",</a:t>
            </a:r>
          </a:p>
          <a:p>
            <a:r>
              <a:t>          "quote": "총 8,880,289명의 관람객이 방문",</a:t>
            </a:r>
          </a:p>
          <a:p>
            <a:r>
              <a:t>          "capacity_count": null,</a:t>
            </a:r>
          </a:p>
          <a:p>
            <a:r>
              <a:t>          "participant_count": 8880289,</a:t>
            </a:r>
          </a:p>
          <a:p>
            <a:r>
              <a:t>          "program_name": "2025 문화예술 축제 통합 지원사업"</a:t>
            </a:r>
          </a:p>
          <a:p>
            <a:r>
              <a:t>        }</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a:t>
            </a:r>
          </a:p>
          <a:p>
            <a:r>
              <a:t>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"case_region": "청주공항과 충청권 주요 관광지 연계 권역",</a:t>
            </a:r>
          </a:p>
          <a:p>
            <a:r>
              <a:t>      "intervention": "청주공항·오송역·공주·부여 연계 광역 순환버스 및 수요응답형교통(DRT)",</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"operating_statistics": [</a:t>
            </a:r>
          </a:p>
          <a:p>
            <a:r>
              <a:t>        {</a:t>
            </a:r>
          </a:p>
          <a:p>
            <a:r>
              <a:t>          "metric": "participants",</a:t>
            </a:r>
          </a:p>
          <a:p>
            <a:r>
              <a:t>          "value": 7470,</a:t>
            </a:r>
          </a:p>
          <a:p>
            <a:r>
              <a:t>          "unit": "person",</a:t>
            </a:r>
          </a:p>
          <a:p>
            <a:r>
              <a:t>          "period": "2026년 상반기",</a:t>
            </a:r>
          </a:p>
          <a:p>
            <a:r>
              <a:t>          "scope": "청주공항·충청권 광역 순환버스와 DRT 실제 이용객 합계",</a:t>
            </a:r>
          </a:p>
          <a:p>
            <a:r>
              <a:t>          "quote": "순환버스와 DRT 이용객은 총 7,470명",</a:t>
            </a:r>
          </a:p>
          <a:p>
            <a:r>
              <a:t>          "capacity_count": null,</a:t>
            </a:r>
          </a:p>
          <a:p>
            <a:r>
              <a:t>          "participant_count": 7470,</a:t>
            </a:r>
          </a:p>
          <a:p>
            <a:r>
              <a:t>          "program_name": "청주공항 연계 광역 순환버스·DRT"</a:t>
            </a:r>
          </a:p>
          <a:p>
            <a:r>
              <a:t>        }</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"operating_statistics":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"case:58c0694a3e85d8",</a:t>
            </a:r>
          </a:p>
          <a:p xmlns:a="http://schemas.openxmlformats.org/drawingml/2006/main">
            <a:r>
              <a:t>      "source_type": "benchmark_case",</a:t>
            </a:r>
          </a:p>
          <a:p xmlns:a="http://schemas.openxmlformats.org/drawingml/2006/main">
            <a:r>
              <a:t>      "title": "귀촌 '원조 반값'은 다르다… 강진서 전국 확산 '체류 관광 도시'",</a:t>
            </a:r>
          </a:p>
          <a:p xmlns:a="http://schemas.openxmlformats.org/drawingml/2006/main">
            <a:r>
              <a:t>      "source_url": "https://jnfarm.jeonnam.go.kr/board/FARM_BOARD_008/boardView.do?bdId=BD_00000000000015383&amp;menuCd=farm004002",</a:t>
            </a:r>
          </a:p>
          <a:p xmlns:a="http://schemas.openxmlformats.org/drawingml/2006/main">
            <a:r>
              <a:t>      "published_or_updated_at": "2026-05-29",</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"case_region": "전라남도 강진군",</a:t>
            </a:r>
          </a:p>
          <a:p xmlns:a="http://schemas.openxmlformats.org/drawingml/2006/main">
            <a:r>
              <a:t>      "intervention": "강진 반값여행: 여행 지출 증빙 후 모바일 지역상품권 환급",</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16292,</a:t>
            </a:r>
          </a:p>
          <a:p xmlns:a="http://schemas.openxmlformats.org/drawingml/2006/main">
            <a:r>
              <a:t>          "unit": "team",</a:t>
            </a:r>
          </a:p>
          <a:p xmlns:a="http://schemas.openxmlformats.org/drawingml/2006/main">
            <a:r>
              <a:t>          "period": "2026-05-19 누적",</a:t>
            </a:r>
          </a:p>
          <a:p xmlns:a="http://schemas.openxmlformats.org/drawingml/2006/main">
            <a:r>
              <a:t>          "scope": "사전신청자 중 실제 강진 방문 확인 팀",</a:t>
            </a:r>
          </a:p>
          <a:p xmlns:a="http://schemas.openxmlformats.org/drawingml/2006/main">
            <a:r>
              <a:t>          "quote": "1만6292팀이 실제 강진을 찾았다.",</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"metric": "participant_spending",</a:t>
            </a:r>
          </a:p>
          <a:p xmlns:a="http://schemas.openxmlformats.org/drawingml/2006/main">
            <a:r>
              <a:t>          "value": 4970000000,</a:t>
            </a:r>
          </a:p>
          <a:p xmlns:a="http://schemas.openxmlformats.org/drawingml/2006/main">
            <a:r>
              <a:t>          "unit": "KRW",</a:t>
            </a:r>
          </a:p>
          <a:p xmlns:a="http://schemas.openxmlformats.org/drawingml/2006/main">
            <a:r>
              <a:t>          "period": "2026-05-19 누적",</a:t>
            </a:r>
          </a:p>
          <a:p xmlns:a="http://schemas.openxmlformats.org/drawingml/2006/main">
            <a:r>
              <a:t>          "scope": "사업 등록 관광객의 강진 지역 내 소비액",</a:t>
            </a:r>
          </a:p>
          <a:p xmlns:a="http://schemas.openxmlformats.org/drawingml/2006/main">
            <a:r>
              <a:t>          "quote": "지역 내 소비액은 총 49억7000만원",</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"case:41508ca81cf29f",</a:t>
            </a:r>
          </a:p>
          <a:p xmlns:a="http://schemas.openxmlformats.org/drawingml/2006/main">
            <a:r>
              <a:t>      "source_type": "benchmark_case",</a:t>
            </a:r>
          </a:p>
          <a:p xmlns:a="http://schemas.openxmlformats.org/drawingml/2006/main">
            <a:r>
              <a:t>      "title": "한국관광 데이터랩 · 안동탈춤축제 연도별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"case_region": "경상북도 안동시",</a:t>
            </a:r>
          </a:p>
          <a:p xmlns:a="http://schemas.openxmlformats.org/drawingml/2006/main">
            <a:r>
              <a:t>      "intervention": "2025 안동탈춤축제: 10일간 집중 운영한 공연·문화형 축제",</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504,573→554,494명 (+9.89%). 개최 10→10일, 일평균 +9.89%, 외지인 +10.75%.",</a:t>
            </a:r>
          </a:p>
          <a:p xmlns:a="http://schemas.openxmlformats.org/drawingml/2006/main">
            <a:r>
              <a:t>      "operating_statistics": [</a:t>
            </a:r>
          </a:p>
          <a:p xmlns:a="http://schemas.openxmlformats.org/drawingml/2006/main">
            <a:r>
              <a:t>        {</a:t>
            </a:r>
          </a:p>
          <a:p xmlns:a="http://schemas.openxmlformats.org/drawingml/2006/main">
            <a:r>
              <a:t>          "metric": "operating_days",</a:t>
            </a:r>
          </a:p>
          <a:p xmlns:a="http://schemas.openxmlformats.org/drawingml/2006/main">
            <a:r>
              <a:t>          "value": 10,</a:t>
            </a:r>
          </a:p>
          <a:p xmlns:a="http://schemas.openxmlformats.org/drawingml/2006/main">
            <a:r>
              <a:t>          "unit": "day",</a:t>
            </a:r>
          </a:p>
          <a:p xmlns:a="http://schemas.openxmlformats.org/drawingml/2006/main">
            <a:r>
              <a:t>          "period": "2025년 축제 개최기간",</a:t>
            </a:r>
          </a:p>
          <a:p xmlns:a="http://schemas.openxmlformats.org/drawingml/2006/main">
            <a:r>
              <a:t>          "scope": "안동탈춤축제 전체 개최일수",</a:t>
            </a:r>
          </a:p>
          <a:p xmlns:a="http://schemas.openxmlformats.org/drawingml/2006/main">
            <a:r>
              <a:t>          "quote": "2025년 10일 개최",</a:t>
            </a:r>
          </a:p>
          <a:p xmlns:a="http://schemas.openxmlformats.org/drawingml/2006/main">
            <a:r>
              <a:t>          "capacity_count": null,</a:t>
            </a:r>
          </a:p>
          <a:p xmlns:a="http://schemas.openxmlformats.org/drawingml/2006/main">
            <a:r>
              <a:t>          "participant_count": null,</a:t>
            </a:r>
          </a:p>
          <a:p xmlns:a="http://schemas.openxmlformats.org/drawingml/2006/main">
            <a:r>
              <a:t>          "program_name": "안동탈춤축제"</a:t>
            </a:r>
          </a:p>
          <a:p xmlns:a="http://schemas.openxmlformats.org/drawingml/2006/main">
            <a:r>
              <a:t>        }</a:t>
            </a:r>
          </a:p>
          <a:p xmlns:a="http://schemas.openxmlformats.org/drawingml/2006/main">
            <a:r>
              <a:t>      ],</a:t>
            </a:r>
          </a:p>
          <a:p xmlns:a="http://schemas.openxmlformats.org/drawingml/2006/main">
            <a:r>
              <a:t>      "evidence_kind": "festival_document_and_statistics",</a:t>
            </a:r>
          </a:p>
          <a:p xmlns:a="http://schemas.openxmlformats.org/drawingml/2006/main">
            <a:r>
              <a:t>      "festival_statistics": {</a:t>
            </a:r>
          </a:p>
          <a:p xmlns:a="http://schemas.openxmlformats.org/drawingml/2006/main">
            <a:r>
              <a:t>        "name": "안동탈춤축제",</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"도로명주소": "경북 안동시 번영1길 47-0",</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"도로명주소": "경북 안동시 육사로 239-0",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"도로명주소": "경북 안동시 육사로 239-0",</a:t>
            </a:r>
          </a:p>
          <a:p xmlns:a="http://schemas.openxmlformats.org/drawingml/2006/main">
            <a:r>
              <a:t>            "카테고리": "도시공원"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"2024년과 2025년 각 축제 10일 개최기간 비교",</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"case:4544b7bca8ebab",</a:t>
            </a:r>
          </a:p>
          <a:p xmlns:a="http://schemas.openxmlformats.org/drawingml/2006/main">
            <a:r>
              <a:t>      "source_type": "benchmark_case",</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"case_region": "청주공항과 충청권 주요 관광지 연계 권역",</a:t>
            </a:r>
          </a:p>
          <a:p xmlns:a="http://schemas.openxmlformats.org/drawingml/2006/main">
            <a:r>
              <a:t>      "intervention": "청주공항·오송역·공주·부여 연계 광역 순환버스 및 수요응답형교통(DRT)",</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7470,</a:t>
            </a:r>
          </a:p>
          <a:p xmlns:a="http://schemas.openxmlformats.org/drawingml/2006/main">
            <a:r>
              <a:t>          "unit": "person",</a:t>
            </a:r>
          </a:p>
          <a:p xmlns:a="http://schemas.openxmlformats.org/drawingml/2006/main">
            <a:r>
              <a:t>          "period": "2026년 상반기",</a:t>
            </a:r>
          </a:p>
          <a:p xmlns:a="http://schemas.openxmlformats.org/drawingml/2006/main">
            <a:r>
              <a:t>          "scope": "청주공항·충청권 광역 순환버스와 DRT 실제 이용객 합계",</a:t>
            </a:r>
          </a:p>
          <a:p xmlns:a="http://schemas.openxmlformats.org/drawingml/2006/main">
            <a:r>
              <a:t>          "quote": "순환버스와 DRT 이용객은 총 7,470명",</a:t>
            </a:r>
          </a:p>
          <a:p xmlns:a="http://schemas.openxmlformats.org/drawingml/2006/main">
            <a:r>
              <a:t>          "capacity_count": null,</a:t>
            </a:r>
          </a:p>
          <a:p xmlns:a="http://schemas.openxmlformats.org/drawingml/2006/main">
            <a:r>
              <a:t>          "participant_count": 7470,</a:t>
            </a:r>
          </a:p>
          <a:p xmlns:a="http://schemas.openxmlformats.org/drawingml/2006/main">
            <a:r>
              <a:t>          "program_name": "청주공항 연계 광역 순환버스·DRT"</a:t>
            </a:r>
          </a:p>
          <a:p xmlns:a="http://schemas.openxmlformats.org/drawingml/2006/main">
            <a:r>
              <a:t>        }</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"유사 사업 참고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"유사 사업 참고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"유사 사업 참고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"관광기획팀이 환급 대상 업종(식음료, 쇼핑) 및 가맹점 리스트를 확정하고, 모바일 지역화폐 정산 체계와 부정수급 방지 지침을 수립함", "deliverable": "참여 가맹점 명단 및 운영 지침서"}, {"step": 2, "schedule": "2026-10", "task": "홍보팀이 외지인 관광객을 대상으로 사업 홍보물을 제작하고, 온라인 채널을 통해 참여 신청 접수 프로세스를 가동함", "deliverable": "홍보물 및 신청자 명단"}, {"step": 3, "schedule": "2026-11", "task": "운영팀이 시범 운영을 개시하고, 관광객의 결제 증빙을 확인하여 지역사랑상품권을 환급함", "deliverable": "주간 결제 및 환급 현황 보고서"}, {"step": 4, "schedule": "2026-12", "task": "정산 담당자가 월별 결제 데이터를 검수하고, 부정수급 여부를 모니터링하여 최종 정산을 실시함", "deliverable": "월간 정산 원장"}, {"step": 5, "schedule": "2026-12", "task": "기획팀이 사업 성과(인정 결제액, 참여자 1인당 결제액)를 분석하고 차기 운영 규모를 검토함",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"여행가는 달 지역 여행할인 모아보기",</a:t>
            </a:r>
          </a:p>
          <a:p>
            <a:r>
              <a:t>      "source_url": "https://korean.visitkorea.or.kr/travelmonth/benefit.do?modal=benefit-190",</a:t>
            </a:r>
          </a:p>
          <a:p>
            <a:r>
              <a:t>      "published_or_updated_at": "2026-09-17 기준 페이지 확인; 행사 예정 기간 2026-09-21~2026-10-18",</a:t>
            </a:r>
          </a:p>
          <a:p>
            <a:r>
              <a:t>      "summary": "한국관광공사 ‘여행가는 달’ 페이지에는 대전관광공사·대전광역시의 ‘대전관광상품 최대 1만원 할인’이 2026-09-21부터 2026-10-18까지 ‘진행예정’으로 게시되어 있다.",</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a:t>
            </a:r>
          </a:p>
          <a:p>
            <a:r>
              <a:t>    {</a:t>
            </a:r>
          </a:p>
          <a:p>
            <a:r>
              <a:t>      "source_id": "web:30170:2",</a:t>
            </a:r>
          </a:p>
          <a:p>
            <a:r>
              <a:t>      "source_type": "official_web",</a:t>
            </a:r>
          </a:p>
          <a:p>
            <a:r>
              <a:t>      "title": "대전광역시_문화시설 | 공공데이터포털",</a:t>
            </a:r>
          </a:p>
          <a:p>
            <a:r>
              <a:t>      "source_url": "https://www.data.go.kr/data/15112114/openapi.do?recommendDataYn=Y",</a:t>
            </a:r>
          </a:p>
          <a:p>
            <a:r>
              <a:t>      "published_or_updated_at": "수정일 2025-07-23",</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a:t>
            </a:r>
          </a:p>
          <a:p>
            <a:r>
              <a:t>    {</a:t>
            </a:r>
          </a:p>
          <a:p>
            <a:r>
              <a:t>      "source_id": "web:30170:3",</a:t>
            </a:r>
          </a:p>
          <a:p>
            <a:r>
              <a:t>      "source_type": "official_web",</a:t>
            </a:r>
          </a:p>
          <a:p>
            <a:r>
              <a:t>      "title": "대전광역시 문화관광(숙박정보) 데이터 | 공공데이터포털",</a:t>
            </a:r>
          </a:p>
          <a:p>
            <a:r>
              <a:t>      "source_url": "https://www.data.go.kr/dataset/15001021/openapi.do",</a:t>
            </a:r>
          </a:p>
          <a:p>
            <a:r>
              <a:t>      "published_or_updated_at": "페이지 확인일 2026-09-17",</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a:t>
            </a:r>
          </a:p>
          <a:p>
            <a:r>
              <a:t>    {</a:t>
            </a:r>
          </a:p>
          <a:p>
            <a:r>
              <a:t>      "source_id": "web:30170:4",</a:t>
            </a:r>
          </a:p>
          <a:p>
            <a:r>
              <a:t>      "source_type": "official_web",</a:t>
            </a:r>
          </a:p>
          <a:p>
            <a:r>
              <a:t>      "title": "대전문화관광해설사 신규 양성 교육 | 한국관광공사 관광e배움터",</a:t>
            </a:r>
          </a:p>
          <a:p>
            <a:r>
              <a:t>      "source_url": "https://touredu.visitkorea.or.kr/home/pkgEdu/pkgEduDetail?crsCd=C202600107&amp;eduPlanYr=2026&amp;eduPlanYrStepCnt=1",</a:t>
            </a:r>
          </a:p>
          <a:p>
            <a:r>
              <a:t>      "published_or_updated_at": "신청·학습기간 2026-07-01~2026-08-31",</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a:t>
            </a:r>
          </a:p>
          <a:p>
            <a:r>
              <a:t>    {</a:t>
            </a:r>
          </a:p>
          <a:p>
            <a:r>
              <a:t>      "source_id": "web:30170:5",</a:t>
            </a:r>
          </a:p>
          <a:p>
            <a:r>
              <a:t>      "source_type": "official_web",</a:t>
            </a:r>
          </a:p>
          <a:p>
            <a:r>
              <a:t>      "title": "대전광역시 서구_체육시설 현황 | 공공데이터포털",</a:t>
            </a:r>
          </a:p>
          <a:p>
            <a:r>
              <a:t>      "source_url": "https://www.data.go.kr/dataset/15037511/fileData.do",</a:t>
            </a:r>
          </a:p>
          <a:p>
            <a:r>
              <a:t>      "published_or_updated_at": "페이지 확인일 2026-09-17",</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a:t>
            </a:r>
          </a:p>
          <a:p>
            <a:r>
              <a:t>    {</a:t>
            </a:r>
          </a:p>
          <a:p>
            <a:r>
              <a:t>      "source_id": "web:30170:6",</a:t>
            </a:r>
          </a:p>
          <a:p>
            <a:r>
              <a:t>      "source_type": "official_web",</a:t>
            </a:r>
          </a:p>
          <a:p>
            <a:r>
              <a:t>      "title": "제4차 관광개발기본계획 발표 관련 문화체육관광부 보도자료",</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"published_or_updated_at": "2021-12-30",</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a:t>
            </a:r>
          </a:p>
          <a:p>
            <a:r>
              <a:t>    {</a:t>
            </a:r>
          </a:p>
          <a:p>
            <a:r>
              <a:t>      "source_id": "case:41508ca81cf29f",</a:t>
            </a:r>
          </a:p>
          <a:p>
            <a:r>
              <a:t>      "source_type": "benchmark_case",</a:t>
            </a:r>
          </a:p>
          <a:p>
            <a:r>
              <a:t>      "title": "한국관광 데이터랩 · 안동탈춤축제 연도별 방문자 추이",</a:t>
            </a:r>
          </a:p>
          <a:p>
            <a:r>
              <a:t>      "source_url": "https://datalab.visitkorea.or.kr/",</a:t>
            </a:r>
          </a:p>
          <a:p>
            <a:r>
              <a:t>      "published_or_updated_at": "2026-08-20",</a:t>
            </a:r>
          </a:p>
          <a:p>
            <a:r>
              <a:t>      "summary": "경상북도 안동시 · 2025 안동탈춤축제: 10일간 집중 운영한 공연·문화형 축제 · 2024→2025년 전체 504,573→554,494명 (+9.89%). 개최 10→10일, 일평균 +9.89%, 외지인 +10.75%.",</a:t>
            </a:r>
          </a:p>
          <a:p>
            <a:r>
              <a:t>      "case_region": "경상북도 안동시",</a:t>
            </a:r>
          </a:p>
          <a:p>
            <a:r>
              <a:t>      "intervention": "2025 안동탈춤축제: 10일간 집중 운영한 공연·문화형 축제",</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"day",</a:t>
            </a:r>
          </a:p>
          <a:p>
            <a:r>
              <a:t>          "period": "2025년 축제 개최기간",</a:t>
            </a:r>
          </a:p>
          <a:p>
            <a:r>
              <a:t>          "scope": "안동탈춤축제 전체 개최일수",</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10일 개최기간 비교",</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"case:28ff66d9b44637",</a:t>
            </a:r>
          </a:p>
          <a:p>
            <a:r>
              <a:t>      "source_type": "benchmark_case",</a:t>
            </a:r>
          </a:p>
          <a:p>
            <a:r>
              <a:t>      "title": "2025년 문화예술 축제 통합 지원사업 종합결과보고서",</a:t>
            </a:r>
          </a:p>
          <a:p>
            <a:r>
              <a:t>      "source_url": "https://culture.seoul.go.kr/culture/cmmn/file/fileDown.do?atchFileId=bb34395b25504c66a77ef69999cacb1c&amp;bbsId=B0000006&amp;fileSn=1",</a:t>
            </a:r>
          </a:p>
          <a:p>
            <a:r>
              <a:t>      "published_or_updated_at": "2026",</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"case_region": "서울특별시",</a:t>
            </a:r>
          </a:p>
          <a:p>
            <a:r>
              <a:t>      "intervention": "2025 문화예술 축제 통합 지원사업: 기존 공공·민간 축제의 재정지원·현장평가·관람객 조사",</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"operating_statistics": [</a:t>
            </a:r>
          </a:p>
          <a:p>
            <a:r>
              <a:t>        {</a:t>
            </a:r>
          </a:p>
          <a:p>
            <a:r>
              <a:t>          "metric": "sites",</a:t>
            </a:r>
          </a:p>
          <a:p>
            <a:r>
              <a:t>          "value": 263,</a:t>
            </a:r>
          </a:p>
          <a:p>
            <a:r>
              <a:t>          "unit": "festival",</a:t>
            </a:r>
          </a:p>
          <a:p>
            <a:r>
              <a:t>          "period": "2025-04 ~ 2025-12",</a:t>
            </a:r>
          </a:p>
          <a:p>
            <a:r>
              <a:t>          "scope": "서울시·서울문화재단 재정지원 축제 중 평가 대상",</a:t>
            </a:r>
          </a:p>
          <a:p>
            <a:r>
              <a:t>          "quote": "평가 대상 축제는 총 263개",</a:t>
            </a:r>
          </a:p>
          <a:p>
            <a:r>
              <a:t>          "capacity_count": null,</a:t>
            </a:r>
          </a:p>
          <a:p>
            <a:r>
              <a:t>          "participant_count": null,</a:t>
            </a:r>
          </a:p>
          <a:p>
            <a:r>
              <a:t>          "program_name": "2025 문화예술 축제 통합 지원사업"</a:t>
            </a:r>
          </a:p>
          <a:p>
            <a:r>
              <a:t>        },</a:t>
            </a:r>
          </a:p>
          <a:p>
            <a:r>
              <a:t>        {</a:t>
            </a:r>
          </a:p>
          <a:p>
            <a:r>
              <a:t>          "metric": "participants",</a:t>
            </a:r>
          </a:p>
          <a:p>
            <a:r>
              <a:t>          "value": 8880289,</a:t>
            </a:r>
          </a:p>
          <a:p>
            <a:r>
              <a:t>          "unit": "person_visit",</a:t>
            </a:r>
          </a:p>
          <a:p>
            <a:r>
              <a:t>          "period": "2025-04 ~ 2025-12",</a:t>
            </a:r>
          </a:p>
          <a:p>
            <a:r>
              <a:t>          "scope": "평가 대상 축제 실적집계표의 관람객 합계; 중복 방문 가능",</a:t>
            </a:r>
          </a:p>
          <a:p>
            <a:r>
              <a:t>          "quote": "총 8,880,289명의 관람객이 방문",</a:t>
            </a:r>
          </a:p>
          <a:p>
            <a:r>
              <a:t>          "capacity_count": null,</a:t>
            </a:r>
          </a:p>
          <a:p>
            <a:r>
              <a:t>          "participant_count": 8880289,</a:t>
            </a:r>
          </a:p>
          <a:p>
            <a:r>
              <a:t>          "program_name": "2025 문화예술 축제 통합 지원사업"</a:t>
            </a:r>
          </a:p>
          <a:p>
            <a:r>
              <a:t>        }</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a:t>
            </a:r>
          </a:p>
          <a:p>
            <a:r>
              <a:t>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"case_region": "청주공항과 충청권 주요 관광지 연계 권역",</a:t>
            </a:r>
          </a:p>
          <a:p>
            <a:r>
              <a:t>      "intervention": "청주공항·오송역·공주·부여 연계 광역 순환버스 및 수요응답형교통(DRT)",</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"operating_statistics": [</a:t>
            </a:r>
          </a:p>
          <a:p>
            <a:r>
              <a:t>        {</a:t>
            </a:r>
          </a:p>
          <a:p>
            <a:r>
              <a:t>          "metric": "participants",</a:t>
            </a:r>
          </a:p>
          <a:p>
            <a:r>
              <a:t>          "value": 7470,</a:t>
            </a:r>
          </a:p>
          <a:p>
            <a:r>
              <a:t>          "unit": "person",</a:t>
            </a:r>
          </a:p>
          <a:p>
            <a:r>
              <a:t>          "period": "2026년 상반기",</a:t>
            </a:r>
          </a:p>
          <a:p>
            <a:r>
              <a:t>          "scope": "청주공항·충청권 광역 순환버스와 DRT 실제 이용객 합계",</a:t>
            </a:r>
          </a:p>
          <a:p>
            <a:r>
              <a:t>          "quote": "순환버스와 DRT 이용객은 총 7,470명",</a:t>
            </a:r>
          </a:p>
          <a:p>
            <a:r>
              <a:t>          "capacity_count": null,</a:t>
            </a:r>
          </a:p>
          <a:p>
            <a:r>
              <a:t>          "participant_count": 7470,</a:t>
            </a:r>
          </a:p>
          <a:p>
            <a:r>
              <a:t>          "program_name": "청주공항 연계 광역 순환버스·DRT"</a:t>
            </a:r>
          </a:p>
          <a:p>
            <a:r>
              <a:t>        }</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"operating_statistics":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"dataset:30170:1",</a:t>
            </a:r>
          </a:p>
          <a:p xmlns:a="http://schemas.openxmlformats.org/drawingml/2006/main">
            <a:r>
              <a:t>      "source_type": "dataset",</a:t>
            </a:r>
          </a:p>
          <a:p xmlns:a="http://schemas.openxmlformats.org/drawingml/2006/main">
            <a:r>
              <a:t>      "title": "한국관광 데이터랩 · 대전광역시 서구 순 방문자 수 및 숙박 비율 (이동통신 기반 외지인)",</a:t>
            </a:r>
          </a:p>
          <a:p xmlns:a="http://schemas.openxmlformats.org/drawingml/2006/main">
            <a:r>
              <a:t>      "source_url": "https://datalab.visitkorea.or.kr/",</a:t>
            </a:r>
          </a:p>
          <a:p xmlns:a="http://schemas.openxmlformats.org/drawingml/2006/main">
            <a:r>
              <a:t>      "summary": "월간 순 방문자 수: 4,619,168명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"dataset:30170:2",</a:t>
            </a:r>
          </a:p>
          <a:p xmlns:a="http://schemas.openxmlformats.org/drawingml/2006/main">
            <a:r>
              <a:t>      "source_type": "dataset",</a:t>
            </a:r>
          </a:p>
          <a:p xmlns:a="http://schemas.openxmlformats.org/drawingml/2006/main">
            <a:r>
              <a:t>      "title": "한국관광 데이터랩 · 대전광역시 서구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-3.5%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"dataset:30170:3",</a:t>
            </a:r>
          </a:p>
          <a:p xmlns:a="http://schemas.openxmlformats.org/drawingml/2006/main">
            <a:r>
              <a:t>      "source_type": "dataset",</a:t>
            </a:r>
          </a:p>
          <a:p xmlns:a="http://schemas.openxmlformats.org/drawingml/2006/main">
            <a:r>
              <a:t>      "title": "한국관광 데이터랩 · 대전광역시 서구 관광소비 추이_외지인",</a:t>
            </a:r>
          </a:p>
          <a:p xmlns:a="http://schemas.openxmlformats.org/drawingml/2006/main">
            <a:r>
              <a:t>      "source_url": "https://datalab.visitkorea.or.kr/",</a:t>
            </a:r>
          </a:p>
          <a:p xmlns:a="http://schemas.openxmlformats.org/drawingml/2006/main">
            <a:r>
              <a:t>      "summary": "월간 외지인 관광소비 총액: 76,758,413,000원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"dataset:30170:4",</a:t>
            </a:r>
          </a:p>
          <a:p xmlns:a="http://schemas.openxmlformats.org/drawingml/2006/main">
            <a:r>
              <a:t>      "source_type": "dataset",</a:t>
            </a:r>
          </a:p>
          <a:p xmlns:a="http://schemas.openxmlformats.org/drawingml/2006/main">
            <a:r>
              <a:t>      "title": "한국관광 데이터랩 · 대전광역시 서구 숙박방문자 비율 추이 (이동통신 기반 외지인)",</a:t>
            </a:r>
          </a:p>
          <a:p xmlns:a="http://schemas.openxmlformats.org/drawingml/2006/main">
            <a:r>
              <a:t>      "source_url": "https://datalab.visitkorea.or.kr/",</a:t>
            </a:r>
          </a:p>
          <a:p xmlns:a="http://schemas.openxmlformats.org/drawingml/2006/main">
            <a:r>
              <a:t>      "summary": "외지인 숙박 방문 비율: 6.7%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"dataset:30170:5",</a:t>
            </a:r>
          </a:p>
          <a:p xmlns:a="http://schemas.openxmlformats.org/drawingml/2006/main">
            <a:r>
              <a:t>      "source_type": "dataset",</a:t>
            </a:r>
          </a:p>
          <a:p xmlns:a="http://schemas.openxmlformats.org/drawingml/2006/main">
            <a:r>
              <a:t>      "title": "한국관광 데이터랩 · 대전광역시 서구 평균 숙박일 (이동통신 기반 외지인)",</a:t>
            </a:r>
          </a:p>
          <a:p xmlns:a="http://schemas.openxmlformats.org/drawingml/2006/main">
            <a:r>
              <a:t>      "source_url": "https://datalab.visitkorea.or.kr/",</a:t>
            </a:r>
          </a:p>
          <a:p xmlns:a="http://schemas.openxmlformats.org/drawingml/2006/main">
            <a:r>
              <a:t>      "summary": "외지인 평균 숙박일수: 2.81일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"dataset:30170:6",</a:t>
            </a:r>
          </a:p>
          <a:p xmlns:a="http://schemas.openxmlformats.org/drawingml/2006/main">
            <a:r>
              <a:t>      "source_type": "dataset",</a:t>
            </a:r>
          </a:p>
          <a:p xmlns:a="http://schemas.openxmlformats.org/drawingml/2006/main">
            <a:r>
              <a:t>      "title": "한국관광 데이터랩 · 대전광역시 서구 내비게이션 목적지 유형별 검색량",</a:t>
            </a:r>
          </a:p>
          <a:p xmlns:a="http://schemas.openxmlformats.org/drawingml/2006/main">
            <a:r>
              <a:t>      "source_url": "https://datalab.visitkorea.or.kr/",</a:t>
            </a:r>
          </a:p>
          <a:p xmlns:a="http://schemas.openxmlformats.org/drawingml/2006/main">
            <a:r>
              <a:t>      "summary": "내비게이션 목적지 검색량: 191,346건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"dataset:30170:7",</a:t>
            </a:r>
          </a:p>
          <a:p xmlns:a="http://schemas.openxmlformats.org/drawingml/2006/main">
            <a:r>
              <a:t>      "source_type": "dataset",</a:t>
            </a:r>
          </a:p>
          <a:p xmlns:a="http://schemas.openxmlformats.org/drawingml/2006/main">
            <a:r>
              <a:t>      "title": "한국관광 데이터랩 · 대전광역시 서구 SNS 언급량",</a:t>
            </a:r>
          </a:p>
          <a:p xmlns:a="http://schemas.openxmlformats.org/drawingml/2006/main">
            <a:r>
              <a:t>      "source_url": "https://datalab.visitkorea.or.kr/",</a:t>
            </a:r>
          </a:p>
          <a:p xmlns:a="http://schemas.openxmlformats.org/drawingml/2006/main">
            <a:r>
              <a:t>      "summary": "SNS 언급량: 54,388건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"datalab:12c41f8a3e52:f92921dca662",</a:t>
            </a:r>
          </a:p>
          <a:p xmlns:a="http://schemas.openxmlformats.org/drawingml/2006/main">
            <a:r>
              <a:t>      "source_type": "nationwide_dataset",</a:t>
            </a:r>
          </a:p>
          <a:p xmlns:a="http://schemas.openxmlformats.org/drawingml/2006/main">
            <a:r>
              <a:t>      "title": "한국관광 데이터랩 공식 다운로드 · 대전광역시_서구/방문자/2025_01_12.zip",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"대전광역시_서구/방문자/2025_01_12.zip"</a:t>
            </a:r>
          </a:p>
          <a:p xmlns:a="http://schemas.openxmlformats.org/drawingml/2006/main">
            <a:r>
              <a:t>    },</a:t>
            </a:r>
          </a:p>
          <a:p xmlns:a="http://schemas.openxmlformats.org/drawingml/2006/main">
            <a:r>
              <a:t>    {</a:t>
            </a:r>
          </a:p>
          <a:p xmlns:a="http://schemas.openxmlformats.org/drawingml/2006/main">
            <a:r>
              <a:t>      "source_id": "datalab:162285800b98:dbba3ac2e220",</a:t>
            </a:r>
          </a:p>
          <a:p xmlns:a="http://schemas.openxmlformats.org/drawingml/2006/main">
            <a:r>
              <a:t>      "source_type": "nationwide_dataset",</a:t>
            </a:r>
          </a:p>
          <a:p xmlns:a="http://schemas.openxmlformats.org/drawingml/2006/main">
            <a:r>
              <a:t>      "title": "한국관광 데이터랩 공식 다운로드 · 대전광역시_서구/관광소비/2025_01_12.zip",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"대전광역시_서구/관광소비/2025_01_12.zip"</a:t>
            </a:r>
          </a:p>
          <a:p xmlns:a="http://schemas.openxmlformats.org/drawingml/2006/main">
            <a:r>
              <a:t>    },</a:t>
            </a:r>
          </a:p>
          <a:p xmlns:a="http://schemas.openxmlformats.org/drawingml/2006/main">
            <a:r>
              <a:t>    {</a:t>
            </a:r>
          </a:p>
          <a:p xmlns:a="http://schemas.openxmlformats.org/drawingml/2006/main">
            <a:r>
              <a:t>      "source_id": "datalab:1bec5b4405e1:6c5494eef7c6",</a:t>
            </a:r>
          </a:p>
          <a:p xmlns:a="http://schemas.openxmlformats.org/drawingml/2006/main">
            <a:r>
              <a:t>      "source_type": "nationwide_dataset",</a:t>
            </a:r>
          </a:p>
          <a:p xmlns:a="http://schemas.openxmlformats.org/drawingml/2006/main">
            <a:r>
              <a:t>      "title": "한국관광 데이터랩 공식 다운로드 · 대전광역시_서구/숙박_체류시간/2025_01_12.zip",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"대전광역시_서구/숙박_체류시간/2025_01_12.zip"</a:t>
            </a:r>
          </a:p>
          <a:p xmlns:a="http://schemas.openxmlformats.org/drawingml/2006/main">
            <a:r>
              <a:t>    },</a:t>
            </a:r>
          </a:p>
          <a:p xmlns:a="http://schemas.openxmlformats.org/drawingml/2006/main">
            <a:r>
              <a:t>    {</a:t>
            </a:r>
          </a:p>
          <a:p xmlns:a="http://schemas.openxmlformats.org/drawingml/2006/main">
            <a:r>
              <a:t>      "source_id": "datalab:7a4db91d6ba9:d81294f3e5a0",</a:t>
            </a:r>
          </a:p>
          <a:p xmlns:a="http://schemas.openxmlformats.org/drawingml/2006/main">
            <a:r>
              <a:t>      "source_type": "nationwide_dataset",</a:t>
            </a:r>
          </a:p>
          <a:p xmlns:a="http://schemas.openxmlformats.org/drawingml/2006/main">
            <a:r>
              <a:t>      "title": "한국관광 데이터랩 공식 다운로드 · 대전광역시_서구/관광소비/2026_01_06.zip",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"대전광역시_서구/관광소비/2026_01_06.zip"</a:t>
            </a:r>
          </a:p>
          <a:p xmlns:a="http://schemas.openxmlformats.org/drawingml/2006/main">
            <a:r>
              <a:t>    },</a:t>
            </a:r>
          </a:p>
          <a:p xmlns:a="http://schemas.openxmlformats.org/drawingml/2006/main">
            <a:r>
              <a:t>    {</a:t>
            </a:r>
          </a:p>
          <a:p xmlns:a="http://schemas.openxmlformats.org/drawingml/2006/main">
            <a:r>
              <a:t>      "source_id": "datalab:cc1dc8fb5607:77f3b69cfb89",</a:t>
            </a:r>
          </a:p>
          <a:p xmlns:a="http://schemas.openxmlformats.org/drawingml/2006/main">
            <a:r>
              <a:t>      "source_type": "nationwide_dataset",</a:t>
            </a:r>
          </a:p>
          <a:p xmlns:a="http://schemas.openxmlformats.org/drawingml/2006/main">
            <a:r>
              <a:t>      "title": "한국관광 데이터랩 공식 다운로드 · 대전광역시_서구/방문자/2026_01_06.zip",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"대전광역시_서구/방문자/2026_01_06.zip"</a:t>
            </a:r>
          </a:p>
          <a:p xmlns:a="http://schemas.openxmlformats.org/drawingml/2006/main">
            <a:r>
              <a:t>    },</a:t>
            </a:r>
          </a:p>
          <a:p xmlns:a="http://schemas.openxmlformats.org/drawingml/2006/main">
            <a:r>
              <a:t>    {</a:t>
            </a:r>
          </a:p>
          <a:p xmlns:a="http://schemas.openxmlformats.org/drawingml/2006/main">
            <a:r>
              <a:t>      "source_id": "datalab:e53d144382ee:fc025995a6df",</a:t>
            </a:r>
          </a:p>
          <a:p xmlns:a="http://schemas.openxmlformats.org/drawingml/2006/main">
            <a:r>
              <a:t>      "source_type": "nationwide_dataset",</a:t>
            </a:r>
          </a:p>
          <a:p xmlns:a="http://schemas.openxmlformats.org/drawingml/2006/main">
            <a:r>
              <a:t>      "title": "한국관광 데이터랩 공식 다운로드 · 대전광역시_서구/숙박_체류시간/2026_01_06.zip",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"대전광역시_서구/숙박_체류시간/2026_01_06.zip"</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"source_id": "regional-status:0c68fedc2071:0ad82310f803",</a:t>
            </a:r>
          </a:p>
          <a:p xmlns:a="http://schemas.openxmlformats.org/drawingml/2006/main">
            <a:r>
              <a:t>      "source_type": "regional_tourism_status",</a:t>
            </a:r>
          </a:p>
          <a:p xmlns:a="http://schemas.openxmlformats.org/drawingml/2006/main">
            <a:r>
              <a:t>      "title": "한국관광 데이터랩 지역별 관광 현황 · 대전광역시 서구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"regional-status:4cddd6aa75d4:be8b01ec64e2",</a:t>
            </a:r>
          </a:p>
          <a:p xmlns:a="http://schemas.openxmlformats.org/drawingml/2006/main">
            <a:r>
              <a:t>      "source_type": "regional_tourism_status",</a:t>
            </a:r>
          </a:p>
          <a:p xmlns:a="http://schemas.openxmlformats.org/drawingml/2006/main">
            <a:r>
              <a:t>      "title": "한국관광 데이터랩 지역별 관광 현황 · 대전광역시 서구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"regional-status:8c9a813e95eb:5e0cc3f56b73",</a:t>
            </a:r>
          </a:p>
          <a:p xmlns:a="http://schemas.openxmlformats.org/drawingml/2006/main">
            <a:r>
              <a:t>      "source_type": "regional_tourism_status",</a:t>
            </a:r>
          </a:p>
          <a:p xmlns:a="http://schemas.openxmlformats.org/drawingml/2006/main">
            <a:r>
              <a:t>      "title": "한국관광 데이터랩 지역별 관광 현황 · 대전광역시 서구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"ml:30170:regional-demand-v3.1:202606",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"source_id": "tour-api:2899643",</a:t>
            </a:r>
          </a:p>
          <a:p xmlns:a="http://schemas.openxmlformats.org/drawingml/2006/main">
            <a:r>
              <a:t>      "source_type": "open_api",</a:t>
            </a:r>
          </a:p>
          <a:p xmlns:a="http://schemas.openxmlformats.org/drawingml/2006/main">
            <a:r>
              <a:t>      "title": "갈마짬뽕",</a:t>
            </a:r>
          </a:p>
          <a:p xmlns:a="http://schemas.openxmlformats.org/drawingml/2006/main">
            <a:r>
              <a:t>      "source_url": "https://apis.data.go.kr/B551011/KorService2",</a:t>
            </a:r>
          </a:p>
          <a:p xmlns:a="http://schemas.openxmlformats.org/drawingml/2006/main">
            <a:r>
              <a:t>      "content_id": "2899643",</a:t>
            </a:r>
          </a:p>
          <a:p xmlns:a="http://schemas.openxmlformats.org/drawingml/2006/main">
            <a:r>
              <a:t>      "content_type_id": "39",</a:t>
            </a:r>
          </a:p>
          <a:p xmlns:a="http://schemas.openxmlformats.org/drawingml/2006/main">
            <a:r>
              <a:t>      "address": "대전광역시 서구 월평동로 5-11 (갈마동)",</a:t>
            </a:r>
          </a:p>
          <a:p xmlns:a="http://schemas.openxmlformats.org/drawingml/2006/main">
            <a:r>
              <a:t>      "image_url": "http://tong.visitkorea.or.kr/cms/resource/38/2899638_image2_1.jpg",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"tour-api:2899637",</a:t>
            </a:r>
          </a:p>
          <a:p xmlns:a="http://schemas.openxmlformats.org/drawingml/2006/main">
            <a:r>
              <a:t>      "source_type": "open_api",</a:t>
            </a:r>
          </a:p>
          <a:p xmlns:a="http://schemas.openxmlformats.org/drawingml/2006/main">
            <a:r>
              <a:t>      "title": "관저당",</a:t>
            </a:r>
          </a:p>
          <a:p xmlns:a="http://schemas.openxmlformats.org/drawingml/2006/main">
            <a:r>
              <a:t>      "source_url": "https://apis.data.go.kr/B551011/KorService2",</a:t>
            </a:r>
          </a:p>
          <a:p xmlns:a="http://schemas.openxmlformats.org/drawingml/2006/main">
            <a:r>
              <a:t>      "content_id": "2899637",</a:t>
            </a:r>
          </a:p>
          <a:p xmlns:a="http://schemas.openxmlformats.org/drawingml/2006/main">
            <a:r>
              <a:t>      "content_type_id": "39",</a:t>
            </a:r>
          </a:p>
          <a:p xmlns:a="http://schemas.openxmlformats.org/drawingml/2006/main">
            <a:r>
              <a:t>      "address": "대전광역시 서구 구봉산북로21번길 11 (관저동)",</a:t>
            </a:r>
          </a:p>
          <a:p xmlns:a="http://schemas.openxmlformats.org/drawingml/2006/main">
            <a:r>
              <a:t>      "image_url": "http://tong.visitkorea.or.kr/cms/resource/36/2899636_image2_1.jpg",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"tour-api:1932079",</a:t>
            </a:r>
          </a:p>
          <a:p xmlns:a="http://schemas.openxmlformats.org/drawingml/2006/main">
            <a:r>
              <a:t>      "source_type": "open_api",</a:t>
            </a:r>
          </a:p>
          <a:p xmlns:a="http://schemas.openxmlformats.org/drawingml/2006/main">
            <a:r>
              <a:t>      "title": "굿모닝레지던스호텔휴",</a:t>
            </a:r>
          </a:p>
          <a:p xmlns:a="http://schemas.openxmlformats.org/drawingml/2006/main">
            <a:r>
              <a:t>      "source_url": "https://apis.data.go.kr/B551011/KorService2",</a:t>
            </a:r>
          </a:p>
          <a:p xmlns:a="http://schemas.openxmlformats.org/drawingml/2006/main">
            <a:r>
              <a:t>      "content_id": "1932079",</a:t>
            </a:r>
          </a:p>
          <a:p xmlns:a="http://schemas.openxmlformats.org/drawingml/2006/main">
            <a:r>
              <a:t>      "content_type_id": "32",</a:t>
            </a:r>
          </a:p>
          <a:p xmlns:a="http://schemas.openxmlformats.org/drawingml/2006/main">
            <a:r>
              <a:t>      "address": "대전광역시 서구 둔산로73번길 21 (둔산동)",</a:t>
            </a:r>
          </a:p>
          <a:p xmlns:a="http://schemas.openxmlformats.org/drawingml/2006/main">
            <a:r>
              <a:t>      "image_url": "http://tong.visitkorea.or.kr/cms/resource/87/2584687_image2_1.jpg",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"tour-api:133881",</a:t>
            </a:r>
          </a:p>
          <a:p xmlns:a="http://schemas.openxmlformats.org/drawingml/2006/main">
            <a:r>
              <a:t>      "source_type": "open_api",</a:t>
            </a:r>
          </a:p>
          <a:p xmlns:a="http://schemas.openxmlformats.org/drawingml/2006/main">
            <a:r>
              <a:t>      "title": "귀빈돌솥밥",</a:t>
            </a:r>
          </a:p>
          <a:p xmlns:a="http://schemas.openxmlformats.org/drawingml/2006/main">
            <a:r>
              <a:t>      "source_url": "https://apis.data.go.kr/B551011/KorService2",</a:t>
            </a:r>
          </a:p>
          <a:p xmlns:a="http://schemas.openxmlformats.org/drawingml/2006/main">
            <a:r>
              <a:t>      "content_id": "133881",</a:t>
            </a:r>
          </a:p>
          <a:p xmlns:a="http://schemas.openxmlformats.org/drawingml/2006/main">
            <a:r>
              <a:t>      "content_type_id": "39",</a:t>
            </a:r>
          </a:p>
          <a:p xmlns:a="http://schemas.openxmlformats.org/drawingml/2006/main">
            <a:r>
              <a:t>      "address": "대전광역시 서구 만년로68번길 21",</a:t>
            </a:r>
          </a:p>
          <a:p xmlns:a="http://schemas.openxmlformats.org/drawingml/2006/main">
            <a:r>
              <a:t>      "image_url": "http://tong.visitkorea.or.kr/cms/resource/72/3060272_image2_1.JPG",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"tour-api:2758252",</a:t>
            </a:r>
          </a:p>
          <a:p xmlns:a="http://schemas.openxmlformats.org/drawingml/2006/main">
            <a:r>
              <a:t>      "source_type": "open_api",</a:t>
            </a:r>
          </a:p>
          <a:p xmlns:a="http://schemas.openxmlformats.org/drawingml/2006/main">
            <a:r>
              <a:t>      "title": "남선공원",</a:t>
            </a:r>
          </a:p>
          <a:p xmlns:a="http://schemas.openxmlformats.org/drawingml/2006/main">
            <a:r>
              <a:t>      "source_url": "https://apis.data.go.kr/B551011/KorService2",</a:t>
            </a:r>
          </a:p>
          <a:p xmlns:a="http://schemas.openxmlformats.org/drawingml/2006/main">
            <a:r>
              <a:t>      "content_id": "2758252",</a:t>
            </a:r>
          </a:p>
          <a:p xmlns:a="http://schemas.openxmlformats.org/drawingml/2006/main">
            <a:r>
              <a:t>      "content_type_id": "12",</a:t>
            </a:r>
          </a:p>
          <a:p xmlns:a="http://schemas.openxmlformats.org/drawingml/2006/main">
            <a:r>
              <a:t>      "address": "대전광역시 서구 남선로 66",</a:t>
            </a:r>
          </a:p>
          <a:p xmlns:a="http://schemas.openxmlformats.org/drawingml/2006/main">
            <a:r>
              <a:t>      "image_url": "http://tong.visitkorea.or.kr/cms/resource/24/3565624_image2_1.jpg",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"tour-api:298208",</a:t>
            </a:r>
          </a:p>
          <a:p xmlns:a="http://schemas.openxmlformats.org/drawingml/2006/main">
            <a:r>
              <a:t>      "source_type": "open_api",</a:t>
            </a:r>
          </a:p>
          <a:p xmlns:a="http://schemas.openxmlformats.org/drawingml/2006/main">
            <a:r>
              <a:t>      "title": "내원사(대전)",</a:t>
            </a:r>
          </a:p>
          <a:p xmlns:a="http://schemas.openxmlformats.org/drawingml/2006/main">
            <a:r>
              <a:t>      "source_url": "https://apis.data.go.kr/B551011/KorService2",</a:t>
            </a:r>
          </a:p>
          <a:p xmlns:a="http://schemas.openxmlformats.org/drawingml/2006/main">
            <a:r>
              <a:t>      "content_id": "298208",</a:t>
            </a:r>
          </a:p>
          <a:p xmlns:a="http://schemas.openxmlformats.org/drawingml/2006/main">
            <a:r>
              <a:t>      "content_type_id": "12",</a:t>
            </a:r>
          </a:p>
          <a:p xmlns:a="http://schemas.openxmlformats.org/drawingml/2006/main">
            <a:r>
              <a:t>      "address": "대전광역시 서구 배재로197번길 200",</a:t>
            </a:r>
          </a:p>
          <a:p xmlns:a="http://schemas.openxmlformats.org/drawingml/2006/main">
            <a:r>
              <a:t>      "image_url": "http://tong.visitkorea.or.kr/cms/resource/79/3034979_image2_1.JPG",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"tour-api:3452550",</a:t>
            </a:r>
          </a:p>
          <a:p xmlns:a="http://schemas.openxmlformats.org/drawingml/2006/main">
            <a:r>
              <a:t>      "source_type": "open_api",</a:t>
            </a:r>
          </a:p>
          <a:p xmlns:a="http://schemas.openxmlformats.org/drawingml/2006/main">
            <a:r>
              <a:t>      "title": "노크노크",</a:t>
            </a:r>
          </a:p>
          <a:p xmlns:a="http://schemas.openxmlformats.org/drawingml/2006/main">
            <a:r>
              <a:t>      "source_url": "https://apis.data.go.kr/B551011/KorService2",</a:t>
            </a:r>
          </a:p>
          <a:p xmlns:a="http://schemas.openxmlformats.org/drawingml/2006/main">
            <a:r>
              <a:t>      "content_id": "3452550",</a:t>
            </a:r>
          </a:p>
          <a:p xmlns:a="http://schemas.openxmlformats.org/drawingml/2006/main">
            <a:r>
              <a:t>      "content_type_id": "39",</a:t>
            </a:r>
          </a:p>
          <a:p xmlns:a="http://schemas.openxmlformats.org/drawingml/2006/main">
            <a:r>
              <a:t>      "address": "대전광역시 서구 둔산로 68 (둔산동)",</a:t>
            </a:r>
          </a:p>
          <a:p xmlns:a="http://schemas.openxmlformats.org/drawingml/2006/main">
            <a:r>
              <a:t>      "image_url": "http://tong.visitkorea.or.kr/cms/resource/59/3453059_image2_1.jpg",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"tour-api:2899585",</a:t>
            </a:r>
          </a:p>
          <a:p xmlns:a="http://schemas.openxmlformats.org/drawingml/2006/main">
            <a:r>
              <a:t>      "source_type": "open_api",</a:t>
            </a:r>
          </a:p>
          <a:p xmlns:a="http://schemas.openxmlformats.org/drawingml/2006/main">
            <a:r>
              <a:t>      "title": "대성콩국수",</a:t>
            </a:r>
          </a:p>
          <a:p xmlns:a="http://schemas.openxmlformats.org/drawingml/2006/main">
            <a:r>
              <a:t>      "source_url": "https://apis.data.go.kr/B551011/KorService2",</a:t>
            </a:r>
          </a:p>
          <a:p xmlns:a="http://schemas.openxmlformats.org/drawingml/2006/main">
            <a:r>
              <a:t>      "content_id": "2899585",</a:t>
            </a:r>
          </a:p>
          <a:p xmlns:a="http://schemas.openxmlformats.org/drawingml/2006/main">
            <a:r>
              <a:t>      "content_type_id": "39",</a:t>
            </a:r>
          </a:p>
          <a:p xmlns:a="http://schemas.openxmlformats.org/drawingml/2006/main">
            <a:r>
              <a:t>      "address": "대전광역시 서구 도산로 141",</a:t>
            </a:r>
          </a:p>
          <a:p xmlns:a="http://schemas.openxmlformats.org/drawingml/2006/main">
            <a:r>
              <a:t>      "image_url": "http://tong.visitkorea.or.kr/cms/resource/69/2899569_image2_1.jpg",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"tour-api:130802",</a:t>
            </a:r>
          </a:p>
          <a:p xmlns:a="http://schemas.openxmlformats.org/drawingml/2006/main">
            <a:r>
              <a:t>      "source_type": "open_api",</a:t>
            </a:r>
          </a:p>
          <a:p xmlns:a="http://schemas.openxmlformats.org/drawingml/2006/main">
            <a:r>
              <a:t>      "title": "대전 가수원도서관",</a:t>
            </a:r>
          </a:p>
          <a:p xmlns:a="http://schemas.openxmlformats.org/drawingml/2006/main">
            <a:r>
              <a:t>      "source_url": "https://apis.data.go.kr/B551011/KorService2",</a:t>
            </a:r>
          </a:p>
          <a:p xmlns:a="http://schemas.openxmlformats.org/drawingml/2006/main">
            <a:r>
              <a:t>      "content_id": "130802",</a:t>
            </a:r>
          </a:p>
          <a:p xmlns:a="http://schemas.openxmlformats.org/drawingml/2006/main">
            <a:r>
              <a:t>      "content_type_id": "14",</a:t>
            </a:r>
          </a:p>
          <a:p xmlns:a="http://schemas.openxmlformats.org/drawingml/2006/main">
            <a:r>
              <a:t>      "address": "대전광역시 서구 가수원로 91-11 (가수원동)",</a:t>
            </a:r>
          </a:p>
          <a:p xmlns:a="http://schemas.openxmlformats.org/drawingml/2006/main">
            <a:r>
              <a:t>      "image_url": "http://tong.visitkorea.or.kr/cms/resource/58/3033558_image2_1.JPG",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"tour-api:2743325",</a:t>
            </a:r>
          </a:p>
          <a:p xmlns:a="http://schemas.openxmlformats.org/drawingml/2006/main">
            <a:r>
              <a:t>      "source_type": "open_api",</a:t>
            </a:r>
          </a:p>
          <a:p xmlns:a="http://schemas.openxmlformats.org/drawingml/2006/main">
            <a:r>
              <a:t>      "title": "대전광역시청 시민잔디광장",</a:t>
            </a:r>
          </a:p>
          <a:p xmlns:a="http://schemas.openxmlformats.org/drawingml/2006/main">
            <a:r>
              <a:t>      "source_url": "https://apis.data.go.kr/B551011/KorService2",</a:t>
            </a:r>
          </a:p>
          <a:p xmlns:a="http://schemas.openxmlformats.org/drawingml/2006/main">
            <a:r>
              <a:t>      "content_id": "2743325",</a:t>
            </a:r>
          </a:p>
          <a:p xmlns:a="http://schemas.openxmlformats.org/drawingml/2006/main">
            <a:r>
              <a:t>      "content_type_id": "12",</a:t>
            </a:r>
          </a:p>
          <a:p xmlns:a="http://schemas.openxmlformats.org/drawingml/2006/main">
            <a:r>
              <a:t>      "address": "대전광역시 서구 둔산로 100",</a:t>
            </a:r>
          </a:p>
          <a:p xmlns:a="http://schemas.openxmlformats.org/drawingml/2006/main">
            <a:r>
              <a:t>      "image_url": "http://tong.visitkorea.or.kr/cms/resource/86/3565586_image2_1.jpg",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"tour-api:130197",</a:t>
            </a:r>
          </a:p>
          <a:p xmlns:a="http://schemas.openxmlformats.org/drawingml/2006/main">
            <a:r>
              <a:t>      "source_type": "open_api",</a:t>
            </a:r>
          </a:p>
          <a:p xmlns:a="http://schemas.openxmlformats.org/drawingml/2006/main">
            <a:r>
              <a:t>      "title": "대전서구문화원",</a:t>
            </a:r>
          </a:p>
          <a:p xmlns:a="http://schemas.openxmlformats.org/drawingml/2006/main">
            <a:r>
              <a:t>      "source_url": "https://apis.data.go.kr/B551011/KorService2",</a:t>
            </a:r>
          </a:p>
          <a:p xmlns:a="http://schemas.openxmlformats.org/drawingml/2006/main">
            <a:r>
              <a:t>      "content_id": "130197",</a:t>
            </a:r>
          </a:p>
          <a:p xmlns:a="http://schemas.openxmlformats.org/drawingml/2006/main">
            <a:r>
              <a:t>      "content_type_id": "14",</a:t>
            </a:r>
          </a:p>
          <a:p xmlns:a="http://schemas.openxmlformats.org/drawingml/2006/main">
            <a:r>
              <a:t>      "address": "대전광역시 서구 계룡로553번길 38",</a:t>
            </a:r>
          </a:p>
          <a:p xmlns:a="http://schemas.openxmlformats.org/drawingml/2006/main">
            <a:r>
              <a:t>      "image_url": "http://tong.visitkorea.or.kr/cms/resource/43/3585043_image2_1.jpg",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"tour-api:2865847",</a:t>
            </a:r>
          </a:p>
          <a:p xmlns:a="http://schemas.openxmlformats.org/drawingml/2006/main">
            <a:r>
              <a:t>      "source_type": "open_api",</a:t>
            </a:r>
          </a:p>
          <a:p xmlns:a="http://schemas.openxmlformats.org/drawingml/2006/main">
            <a:r>
              <a:t>      "title": "델빠네",</a:t>
            </a:r>
          </a:p>
          <a:p xmlns:a="http://schemas.openxmlformats.org/drawingml/2006/main">
            <a:r>
              <a:t>      "source_url": "https://apis.data.go.kr/B551011/KorService2",</a:t>
            </a:r>
          </a:p>
          <a:p xmlns:a="http://schemas.openxmlformats.org/drawingml/2006/main">
            <a:r>
              <a:t>      "content_id": "2865847",</a:t>
            </a:r>
          </a:p>
          <a:p xmlns:a="http://schemas.openxmlformats.org/drawingml/2006/main">
            <a:r>
              <a:t>      "content_type_id": "39",</a:t>
            </a:r>
          </a:p>
          <a:p xmlns:a="http://schemas.openxmlformats.org/drawingml/2006/main">
            <a:r>
              <a:t>      "address": "대전광역시 서구 원도안로207번길 16-61 (도안동)",</a:t>
            </a:r>
          </a:p>
          <a:p xmlns:a="http://schemas.openxmlformats.org/drawingml/2006/main">
            <a:r>
              <a:t>      "image_url": "http://tong.visitkorea.or.kr/cms/resource/36/2865836_image2_1.jpg",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"tour-api:2758334",</a:t>
            </a:r>
          </a:p>
          <a:p xmlns:a="http://schemas.openxmlformats.org/drawingml/2006/main">
            <a:r>
              <a:t>      "source_type": "open_api",</a:t>
            </a:r>
          </a:p>
          <a:p xmlns:a="http://schemas.openxmlformats.org/drawingml/2006/main">
            <a:r>
              <a:t>      "title": "도마큰시장",</a:t>
            </a:r>
          </a:p>
          <a:p xmlns:a="http://schemas.openxmlformats.org/drawingml/2006/main">
            <a:r>
              <a:t>      "source_url": "https://apis.data.go.kr/B551011/KorService2",</a:t>
            </a:r>
          </a:p>
          <a:p xmlns:a="http://schemas.openxmlformats.org/drawingml/2006/main">
            <a:r>
              <a:t>      "content_id": "2758334",</a:t>
            </a:r>
          </a:p>
          <a:p xmlns:a="http://schemas.openxmlformats.org/drawingml/2006/main">
            <a:r>
              <a:t>      "content_type_id": "38",</a:t>
            </a:r>
          </a:p>
          <a:p xmlns:a="http://schemas.openxmlformats.org/drawingml/2006/main">
            <a:r>
              <a:t>      "address": "대전광역시 서구 도마4길 69 (도마동)",</a:t>
            </a:r>
          </a:p>
          <a:p xmlns:a="http://schemas.openxmlformats.org/drawingml/2006/main">
            <a:r>
              <a:t>      "image_url": "http://tong.visitkorea.or.kr/cms/resource/34/3565534_image2_1.jpg",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"tour-api:1955818",</a:t>
            </a:r>
          </a:p>
          <a:p xmlns:a="http://schemas.openxmlformats.org/drawingml/2006/main">
            <a:r>
              <a:t>      "source_type": "open_api",</a:t>
            </a:r>
          </a:p>
          <a:p xmlns:a="http://schemas.openxmlformats.org/drawingml/2006/main">
            <a:r>
              <a:t>      "title": "도산서원(대전)",</a:t>
            </a:r>
          </a:p>
          <a:p xmlns:a="http://schemas.openxmlformats.org/drawingml/2006/main">
            <a:r>
              <a:t>      "source_url": "https://apis.data.go.kr/B551011/KorService2",</a:t>
            </a:r>
          </a:p>
          <a:p xmlns:a="http://schemas.openxmlformats.org/drawingml/2006/main">
            <a:r>
              <a:t>      "content_id": "1955818",</a:t>
            </a:r>
          </a:p>
          <a:p xmlns:a="http://schemas.openxmlformats.org/drawingml/2006/main">
            <a:r>
              <a:t>      "content_type_id": "12",</a:t>
            </a:r>
          </a:p>
          <a:p xmlns:a="http://schemas.openxmlformats.org/drawingml/2006/main">
            <a:r>
              <a:t>      "address": "대전광역시 서구 남선로 8",</a:t>
            </a:r>
          </a:p>
          <a:p xmlns:a="http://schemas.openxmlformats.org/drawingml/2006/main">
            <a:r>
              <a:t>      "image_url": "http://tong.visitkorea.or.kr/cms/resource/24/3035024_image2_1.JPG",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"tour-api:2758341",</a:t>
            </a:r>
          </a:p>
          <a:p xmlns:a="http://schemas.openxmlformats.org/drawingml/2006/main">
            <a:r>
              <a:t>      "source_type": "open_api",</a:t>
            </a:r>
          </a:p>
          <a:p xmlns:a="http://schemas.openxmlformats.org/drawingml/2006/main">
            <a:r>
              <a:t>      "title": "둔산꽃시장",</a:t>
            </a:r>
          </a:p>
          <a:p xmlns:a="http://schemas.openxmlformats.org/drawingml/2006/main">
            <a:r>
              <a:t>      "source_url": "https://apis.data.go.kr/B551011/KorService2",</a:t>
            </a:r>
          </a:p>
          <a:p xmlns:a="http://schemas.openxmlformats.org/drawingml/2006/main">
            <a:r>
              <a:t>      "content_id": "2758341",</a:t>
            </a:r>
          </a:p>
          <a:p xmlns:a="http://schemas.openxmlformats.org/drawingml/2006/main">
            <a:r>
              <a:t>      "content_type_id": "38",</a:t>
            </a:r>
          </a:p>
          <a:p xmlns:a="http://schemas.openxmlformats.org/drawingml/2006/main">
            <a:r>
              <a:t>      "address": "대전광역시 서구 둔산북로 22 (둔산동)",</a:t>
            </a:r>
          </a:p>
          <a:p xmlns:a="http://schemas.openxmlformats.org/drawingml/2006/main">
            <a:r>
              <a:t>      "image_url": "http://tong.visitkorea.or.kr/cms/resource/31/2758631_image2_1.jpg",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"tour-api:1623725",</a:t>
            </a:r>
          </a:p>
          <a:p xmlns:a="http://schemas.openxmlformats.org/drawingml/2006/main">
            <a:r>
              <a:t>      "source_type": "open_api",</a:t>
            </a:r>
          </a:p>
          <a:p xmlns:a="http://schemas.openxmlformats.org/drawingml/2006/main">
            <a:r>
              <a:t>      "title": "둔산전자타운",</a:t>
            </a:r>
          </a:p>
          <a:p xmlns:a="http://schemas.openxmlformats.org/drawingml/2006/main">
            <a:r>
              <a:t>      "source_url": "https://apis.data.go.kr/B551011/KorService2",</a:t>
            </a:r>
          </a:p>
          <a:p xmlns:a="http://schemas.openxmlformats.org/drawingml/2006/main">
            <a:r>
              <a:t>      "content_id": "1623725",</a:t>
            </a:r>
          </a:p>
          <a:p xmlns:a="http://schemas.openxmlformats.org/drawingml/2006/main">
            <a:r>
              <a:t>      "content_type_id": "38",</a:t>
            </a:r>
          </a:p>
          <a:p xmlns:a="http://schemas.openxmlformats.org/drawingml/2006/main">
            <a:r>
              <a:t>      "address": "대전광역시 서구 도산로403번길 21",</a:t>
            </a:r>
          </a:p>
          <a:p xmlns:a="http://schemas.openxmlformats.org/drawingml/2006/main">
            <a:r>
              <a:t>      "image_url": "http://tong.visitkorea.or.kr/cms/resource/60/3565560_image2_1.jpg",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"tour-api:132661",</a:t>
            </a:r>
          </a:p>
          <a:p xmlns:a="http://schemas.openxmlformats.org/drawingml/2006/main">
            <a:r>
              <a:t>      "source_type": "open_api",</a:t>
            </a:r>
          </a:p>
          <a:p xmlns:a="http://schemas.openxmlformats.org/drawingml/2006/main">
            <a:r>
              <a:t>      "title": "롯데백화점 (대전점)",</a:t>
            </a:r>
          </a:p>
          <a:p xmlns:a="http://schemas.openxmlformats.org/drawingml/2006/main">
            <a:r>
              <a:t>      "source_url": "https://apis.data.go.kr/B551011/KorService2",</a:t>
            </a:r>
          </a:p>
          <a:p xmlns:a="http://schemas.openxmlformats.org/drawingml/2006/main">
            <a:r>
              <a:t>      "content_id": "132661",</a:t>
            </a:r>
          </a:p>
          <a:p xmlns:a="http://schemas.openxmlformats.org/drawingml/2006/main">
            <a:r>
              <a:t>      "content_type_id": "38",</a:t>
            </a:r>
          </a:p>
          <a:p xmlns:a="http://schemas.openxmlformats.org/drawingml/2006/main">
            <a:r>
              <a:t>      "address": "대전광역시 서구 계룡로 598 (괴정동)",</a:t>
            </a:r>
          </a:p>
          <a:p xmlns:a="http://schemas.openxmlformats.org/drawingml/2006/main">
            <a:r>
              <a:t>      "image_url": "http://tong.visitkorea.or.kr/cms/resource/21/3443221_image2_1.jpg",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"tour-api:2758646",</a:t>
            </a:r>
          </a:p>
          <a:p xmlns:a="http://schemas.openxmlformats.org/drawingml/2006/main">
            <a:r>
              <a:t>      "source_type": "open_api",</a:t>
            </a:r>
          </a:p>
          <a:p xmlns:a="http://schemas.openxmlformats.org/drawingml/2006/main">
            <a:r>
              <a:t>      "title": "마치광장",</a:t>
            </a:r>
          </a:p>
          <a:p xmlns:a="http://schemas.openxmlformats.org/drawingml/2006/main">
            <a:r>
              <a:t>      "source_url": "https://apis.data.go.kr/B551011/KorService2",</a:t>
            </a:r>
          </a:p>
          <a:p xmlns:a="http://schemas.openxmlformats.org/drawingml/2006/main">
            <a:r>
              <a:t>      "content_id": "2758646",</a:t>
            </a:r>
          </a:p>
          <a:p xmlns:a="http://schemas.openxmlformats.org/drawingml/2006/main">
            <a:r>
              <a:t>      "content_type_id": "12",</a:t>
            </a:r>
          </a:p>
          <a:p xmlns:a="http://schemas.openxmlformats.org/drawingml/2006/main">
            <a:r>
              <a:t>      "address": "대전광역시 서구 구봉로131번길 27",</a:t>
            </a:r>
          </a:p>
          <a:p xmlns:a="http://schemas.openxmlformats.org/drawingml/2006/main">
            <a:r>
              <a:t>      "image_url": "http://tong.visitkorea.or.kr/cms/resource/16/3542516_image2_1.jpg",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"tour-api:2899544",</a:t>
            </a:r>
          </a:p>
          <a:p xmlns:a="http://schemas.openxmlformats.org/drawingml/2006/main">
            <a:r>
              <a:t>      "source_type": "open_api",</a:t>
            </a:r>
          </a:p>
          <a:p xmlns:a="http://schemas.openxmlformats.org/drawingml/2006/main">
            <a:r>
              <a:t>      "title": "몽뜨",</a:t>
            </a:r>
          </a:p>
          <a:p xmlns:a="http://schemas.openxmlformats.org/drawingml/2006/main">
            <a:r>
              <a:t>      "source_url": "https://apis.data.go.kr/B551011/KorService2",</a:t>
            </a:r>
          </a:p>
          <a:p xmlns:a="http://schemas.openxmlformats.org/drawingml/2006/main">
            <a:r>
              <a:t>      "content_id": "2899544",</a:t>
            </a:r>
          </a:p>
          <a:p xmlns:a="http://schemas.openxmlformats.org/drawingml/2006/main">
            <a:r>
              <a:t>      "content_type_id": "39",</a:t>
            </a:r>
          </a:p>
          <a:p xmlns:a="http://schemas.openxmlformats.org/drawingml/2006/main">
            <a:r>
              <a:t>      "address": "대전광역시 서구 원도안로257번길 48 (도안동)",</a:t>
            </a:r>
          </a:p>
          <a:p xmlns:a="http://schemas.openxmlformats.org/drawingml/2006/main">
            <a:r>
              <a:t>      "image_url": "http://tong.visitkorea.or.kr/cms/resource/35/2899535_image2_1.jpg",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"tour-api:2865914",</a:t>
            </a:r>
          </a:p>
          <a:p xmlns:a="http://schemas.openxmlformats.org/drawingml/2006/main">
            <a:r>
              <a:t>      "source_type": "open_api",</a:t>
            </a:r>
          </a:p>
          <a:p xmlns:a="http://schemas.openxmlformats.org/drawingml/2006/main">
            <a:r>
              <a:t>      "title": "미세노센세",</a:t>
            </a:r>
          </a:p>
          <a:p xmlns:a="http://schemas.openxmlformats.org/drawingml/2006/main">
            <a:r>
              <a:t>      "source_url": "https://apis.data.go.kr/B551011/KorService2",</a:t>
            </a:r>
          </a:p>
          <a:p xmlns:a="http://schemas.openxmlformats.org/drawingml/2006/main">
            <a:r>
              <a:t>      "content_id": "2865914",</a:t>
            </a:r>
          </a:p>
          <a:p xmlns:a="http://schemas.openxmlformats.org/drawingml/2006/main">
            <a:r>
              <a:t>      "content_type_id": "39",</a:t>
            </a:r>
          </a:p>
          <a:p xmlns:a="http://schemas.openxmlformats.org/drawingml/2006/main">
            <a:r>
              <a:t>      "address": "대전광역시 서구 계룡로553번안길 65 (탄방동)",</a:t>
            </a:r>
          </a:p>
          <a:p xmlns:a="http://schemas.openxmlformats.org/drawingml/2006/main">
            <a:r>
              <a:t>      "image_url": "http://tong.visitkorea.or.kr/cms/resource/05/2865905_image2_1.jpg",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"source_id": "web:30170:1",</a:t>
            </a:r>
          </a:p>
          <a:p xmlns:a="http://schemas.openxmlformats.org/drawingml/2006/main">
            <a:r>
              <a:t>      "source_type": "official_web",</a:t>
            </a:r>
          </a:p>
          <a:p xmlns:a="http://schemas.openxmlformats.org/drawingml/2006/main">
            <a:r>
              <a:t>      "title": "여행가는 달 지역 여행할인 모아보기",</a:t>
            </a:r>
          </a:p>
          <a:p xmlns:a="http://schemas.openxmlformats.org/drawingml/2006/main">
            <a:r>
              <a:t>      "source_url": "https://korean.visitkorea.or.kr/travelmonth/benefit.do?modal=benefit-190",</a:t>
            </a:r>
          </a:p>
          <a:p xmlns:a="http://schemas.openxmlformats.org/drawingml/2006/main">
            <a:r>
              <a:t>      "published_or_updated_at": "2026-09-17 기준 페이지 확인; 행사 예정 기간 2026-09-21~2026-10-18",</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a:t>
            </a:r>
          </a:p>
          <a:p xmlns:a="http://schemas.openxmlformats.org/drawingml/2006/main">
            <a:r>
              <a:t>    {</a:t>
            </a:r>
          </a:p>
          <a:p xmlns:a="http://schemas.openxmlformats.org/drawingml/2006/main">
            <a:r>
              <a:t>      "source_id": "web:30170:2",</a:t>
            </a:r>
          </a:p>
          <a:p xmlns:a="http://schemas.openxmlformats.org/drawingml/2006/main">
            <a:r>
              <a:t>      "source_type": "official_web",</a:t>
            </a:r>
          </a:p>
          <a:p xmlns:a="http://schemas.openxmlformats.org/drawingml/2006/main">
            <a:r>
              <a:t>      "title": "대전광역시_문화시설 | 공공데이터포털",</a:t>
            </a:r>
          </a:p>
          <a:p xmlns:a="http://schemas.openxmlformats.org/drawingml/2006/main">
            <a:r>
              <a:t>      "source_url": "https://www.data.go.kr/data/15112114/openapi.do?recommendDataYn=Y",</a:t>
            </a:r>
          </a:p>
          <a:p xmlns:a="http://schemas.openxmlformats.org/drawingml/2006/main">
            <a:r>
              <a:t>      "published_or_updated_at": "수정일 2025-07-23",</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a:t>
            </a:r>
          </a:p>
          <a:p xmlns:a="http://schemas.openxmlformats.org/drawingml/2006/main">
            <a:r>
              <a:t>    {</a:t>
            </a:r>
          </a:p>
          <a:p xmlns:a="http://schemas.openxmlformats.org/drawingml/2006/main">
            <a:r>
              <a:t>      "source_id": "web:30170:3",</a:t>
            </a:r>
          </a:p>
          <a:p xmlns:a="http://schemas.openxmlformats.org/drawingml/2006/main">
            <a:r>
              <a:t>      "source_type": "official_web",</a:t>
            </a:r>
          </a:p>
          <a:p xmlns:a="http://schemas.openxmlformats.org/drawingml/2006/main">
            <a:r>
              <a:t>      "title": "대전광역시 문화관광(숙박정보) 데이터 | 공공데이터포털",</a:t>
            </a:r>
          </a:p>
          <a:p xmlns:a="http://schemas.openxmlformats.org/drawingml/2006/main">
            <a:r>
              <a:t>      "source_url": "https://www.data.go.kr/dataset/15001021/openapi.do",</a:t>
            </a:r>
          </a:p>
          <a:p xmlns:a="http://schemas.openxmlformats.org/drawingml/2006/main">
            <a:r>
              <a:t>      "published_or_updated_at": "페이지 확인일 2026-09-17",</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a:t>
            </a:r>
          </a:p>
          <a:p xmlns:a="http://schemas.openxmlformats.org/drawingml/2006/main">
            <a:r>
              <a:t>    {</a:t>
            </a:r>
          </a:p>
          <a:p xmlns:a="http://schemas.openxmlformats.org/drawingml/2006/main">
            <a:r>
              <a:t>      "source_id": "web:30170:4",</a:t>
            </a:r>
          </a:p>
          <a:p xmlns:a="http://schemas.openxmlformats.org/drawingml/2006/main">
            <a:r>
              <a:t>      "source_type": "official_web",</a:t>
            </a:r>
          </a:p>
          <a:p xmlns:a="http://schemas.openxmlformats.org/drawingml/2006/main">
            <a:r>
              <a:t>      "title": "대전문화관광해설사 신규 양성 교육 | 한국관광공사 관광e배움터",</a:t>
            </a:r>
          </a:p>
          <a:p xmlns:a="http://schemas.openxmlformats.org/drawingml/2006/main">
            <a:r>
              <a:t>      "source_url": "https://touredu.visitkorea.or.kr/home/pkgEdu/pkgEduDetail?crsCd=C202600107&amp;eduPlanYr=2026&amp;eduPlanYrStepCnt=1",</a:t>
            </a:r>
          </a:p>
          <a:p xmlns:a="http://schemas.openxmlformats.org/drawingml/2006/main">
            <a:r>
              <a:t>      "published_or_updated_at": "신청·학습기간 2026-07-01~2026-08-31",</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a:t>
            </a:r>
          </a:p>
          <a:p xmlns:a="http://schemas.openxmlformats.org/drawingml/2006/main">
            <a:r>
              <a:t>    {</a:t>
            </a:r>
          </a:p>
          <a:p xmlns:a="http://schemas.openxmlformats.org/drawingml/2006/main">
            <a:r>
              <a:t>      "source_id": "web:30170:5",</a:t>
            </a:r>
          </a:p>
          <a:p xmlns:a="http://schemas.openxmlformats.org/drawingml/2006/main">
            <a:r>
              <a:t>      "source_type": "official_web",</a:t>
            </a:r>
          </a:p>
          <a:p xmlns:a="http://schemas.openxmlformats.org/drawingml/2006/main">
            <a:r>
              <a:t>      "title": "대전광역시 서구_체육시설 현황 | 공공데이터포털",</a:t>
            </a:r>
          </a:p>
          <a:p xmlns:a="http://schemas.openxmlformats.org/drawingml/2006/main">
            <a:r>
              <a:t>      "source_url": "https://www.data.go.kr/dataset/15037511/fileData.do",</a:t>
            </a:r>
          </a:p>
          <a:p xmlns:a="http://schemas.openxmlformats.org/drawingml/2006/main">
            <a:r>
              <a:t>      "published_or_updated_at": "페이지 확인일 2026-09-17",</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a:t>
            </a:r>
          </a:p>
          <a:p xmlns:a="http://schemas.openxmlformats.org/drawingml/2006/main">
            <a:r>
              <a:t>    {</a:t>
            </a:r>
          </a:p>
          <a:p xmlns:a="http://schemas.openxmlformats.org/drawingml/2006/main">
            <a:r>
              <a:t>      "source_id": "web:30170:6",</a:t>
            </a:r>
          </a:p>
          <a:p xmlns:a="http://schemas.openxmlformats.org/drawingml/2006/main">
            <a:r>
              <a:t>      "source_type": "official_web",</a:t>
            </a:r>
          </a:p>
          <a:p xmlns:a="http://schemas.openxmlformats.org/drawingml/2006/main">
            <a:r>
              <a:t>      "title": "제4차 관광개발기본계획 발표 관련 문화체육관광부 보도자료",</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"published_or_updated_at": "2021-12-30",</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a:t>
            </a:r>
          </a:p>
          <a:p xmlns:a="http://schemas.openxmlformats.org/drawingml/2006/main">
            <a:r>
              <a:t>    {</a:t>
            </a:r>
          </a:p>
          <a:p xmlns:a="http://schemas.openxmlformats.org/drawingml/2006/main">
            <a:r>
              <a:t>      "source_id": "case:41508ca81cf29f",</a:t>
            </a:r>
          </a:p>
          <a:p xmlns:a="http://schemas.openxmlformats.org/drawingml/2006/main">
            <a:r>
              <a:t>      "source_type": "benchmark_case",</a:t>
            </a:r>
          </a:p>
          <a:p xmlns:a="http://schemas.openxmlformats.org/drawingml/2006/main">
            <a:r>
              <a:t>      "title": "한국관광 데이터랩 · 안동탈춤축제 연도별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"case_region": "경상북도 안동시",</a:t>
            </a:r>
          </a:p>
          <a:p xmlns:a="http://schemas.openxmlformats.org/drawingml/2006/main">
            <a:r>
              <a:t>      "intervention": "2025 안동탈춤축제: 10일간 집중 운영한 공연·문화형 축제",</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504,573→554,494명 (+9.89%). 개최 10→10일, 일평균 +9.89%, 외지인 +10.75%.",</a:t>
            </a:r>
          </a:p>
          <a:p xmlns:a="http://schemas.openxmlformats.org/drawingml/2006/main">
            <a:r>
              <a:t>      "operating_statistics": [</a:t>
            </a:r>
          </a:p>
          <a:p xmlns:a="http://schemas.openxmlformats.org/drawingml/2006/main">
            <a:r>
              <a:t>        {</a:t>
            </a:r>
          </a:p>
          <a:p xmlns:a="http://schemas.openxmlformats.org/drawingml/2006/main">
            <a:r>
              <a:t>          "metric": "operating_days",</a:t>
            </a:r>
          </a:p>
          <a:p xmlns:a="http://schemas.openxmlformats.org/drawingml/2006/main">
            <a:r>
              <a:t>          "value": 10,</a:t>
            </a:r>
          </a:p>
          <a:p xmlns:a="http://schemas.openxmlformats.org/drawingml/2006/main">
            <a:r>
              <a:t>          "unit": "day",</a:t>
            </a:r>
          </a:p>
          <a:p xmlns:a="http://schemas.openxmlformats.org/drawingml/2006/main">
            <a:r>
              <a:t>          "period": "2025년 축제 개최기간",</a:t>
            </a:r>
          </a:p>
          <a:p xmlns:a="http://schemas.openxmlformats.org/drawingml/2006/main">
            <a:r>
              <a:t>          "scope": "안동탈춤축제 전체 개최일수",</a:t>
            </a:r>
          </a:p>
          <a:p xmlns:a="http://schemas.openxmlformats.org/drawingml/2006/main">
            <a:r>
              <a:t>          "quote": "2025년 10일 개최",</a:t>
            </a:r>
          </a:p>
          <a:p xmlns:a="http://schemas.openxmlformats.org/drawingml/2006/main">
            <a:r>
              <a:t>          "capacity_count": null,</a:t>
            </a:r>
          </a:p>
          <a:p xmlns:a="http://schemas.openxmlformats.org/drawingml/2006/main">
            <a:r>
              <a:t>          "participant_count": null,</a:t>
            </a:r>
          </a:p>
          <a:p xmlns:a="http://schemas.openxmlformats.org/drawingml/2006/main">
            <a:r>
              <a:t>          "program_name": "안동탈춤축제"</a:t>
            </a:r>
          </a:p>
          <a:p xmlns:a="http://schemas.openxmlformats.org/drawingml/2006/main">
            <a:r>
              <a:t>        }</a:t>
            </a:r>
          </a:p>
          <a:p xmlns:a="http://schemas.openxmlformats.org/drawingml/2006/main">
            <a:r>
              <a:t>      ],</a:t>
            </a:r>
          </a:p>
          <a:p xmlns:a="http://schemas.openxmlformats.org/drawingml/2006/main">
            <a:r>
              <a:t>      "evidence_kind": "festival_document_and_statistics",</a:t>
            </a:r>
          </a:p>
          <a:p xmlns:a="http://schemas.openxmlformats.org/drawingml/2006/main">
            <a:r>
              <a:t>      "festival_statistics": {</a:t>
            </a:r>
          </a:p>
          <a:p xmlns:a="http://schemas.openxmlformats.org/drawingml/2006/main">
            <a:r>
              <a:t>        "name": "안동탈춤축제",</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"도로명주소": "경북 안동시 번영1길 47-0",</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"도로명주소": "경북 안동시 육사로 239-0",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"도로명주소": "경북 안동시 육사로 239-0",</a:t>
            </a:r>
          </a:p>
          <a:p xmlns:a="http://schemas.openxmlformats.org/drawingml/2006/main">
            <a:r>
              <a:t>            "카테고리": "도시공원"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"2024년과 2025년 각 축제 10일 개최기간 비교",</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"case:festival:01474ef75569b1",</a:t>
            </a:r>
          </a:p>
          <a:p xmlns:a="http://schemas.openxmlformats.org/drawingml/2006/main">
            <a:r>
              <a:t>      "source_type": "benchmark_case",</a:t>
            </a:r>
          </a:p>
          <a:p xmlns:a="http://schemas.openxmlformats.org/drawingml/2006/main">
            <a:r>
              <a:t>      "title": "한국관광 데이터랩 · 문경찻사발축제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문경시 · 문경찻사발축제 · 2024→2025년 전체 245,750→256,570명 (+4.40%). 개최 10→9일, 일평균 +16.00%, 외지인 +9.28%.",</a:t>
            </a:r>
          </a:p>
          <a:p xmlns:a="http://schemas.openxmlformats.org/drawingml/2006/main">
            <a:r>
              <a:t>      "case_region": "경상북도 문경시",</a:t>
            </a:r>
          </a:p>
          <a:p xmlns:a="http://schemas.openxmlformats.org/drawingml/2006/main">
            <a:r>
              <a:t>      "intervention": "문경찻사발축제",</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"case_study",</a:t>
            </a:r>
          </a:p>
          <a:p xmlns:a="http://schemas.openxmlformats.org/drawingml/2006/main">
            <a:r>
              <a:t>      "retrieval_method": "datalab_festival_table",</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245,750→256,570명 (+4.40%). 개최 10→9일, 일평균 +16.00%, 외지인 +9.28%.",</a:t>
            </a:r>
          </a:p>
          <a:p xmlns:a="http://schemas.openxmlformats.org/drawingml/2006/main">
            <a:r>
              <a:t>      "operating_statistics": [],</a:t>
            </a:r>
          </a:p>
          <a:p xmlns:a="http://schemas.openxmlformats.org/drawingml/2006/main">
            <a:r>
              <a:t>      "evidence_kind": "festival_statistics",</a:t>
            </a:r>
          </a:p>
          <a:p xmlns:a="http://schemas.openxmlformats.org/drawingml/2006/main">
            <a:r>
              <a:t>      "festival_statistics": {</a:t>
            </a:r>
          </a:p>
          <a:p xmlns:a="http://schemas.openxmlformats.org/drawingml/2006/main">
            <a:r>
              <a:t>        "name": "문경찻사발축제",</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"도로명주소": "경북 문경시 새재로 932-0",</a:t>
            </a:r>
          </a:p>
          <a:p xmlns:a="http://schemas.openxmlformats.org/drawingml/2006/main">
            <a:r>
              <a:t>            "카테고리": "역사유적지"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"도로명주소": "경북 문경시 온천2길 24-0",</a:t>
            </a:r>
          </a:p>
          <a:p xmlns:a="http://schemas.openxmlformats.org/drawingml/2006/main">
            <a:r>
              <a:t>            "카테고리": "웰니스관광"</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"도로명주소": "경북 문경시 새재로 933-0",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"역사·공예",</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"2023~2025년 각 축제 개최기간",</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"case:28ff66d9b44637",</a:t>
            </a:r>
          </a:p>
          <a:p xmlns:a="http://schemas.openxmlformats.org/drawingml/2006/main">
            <a:r>
              <a:t>      "source_type": "benchmark_case",</a:t>
            </a:r>
          </a:p>
          <a:p xmlns:a="http://schemas.openxmlformats.org/drawingml/2006/main">
            <a:r>
              <a:t>      "title": "2025년 문화예술 축제 통합 지원사업 종합결과보고서",</a:t>
            </a:r>
          </a:p>
          <a:p xmlns:a="http://schemas.openxmlformats.org/drawingml/2006/main">
            <a:r>
              <a:t>      "source_url": "https://culture.seoul.go.kr/culture/cmmn/file/fileDown.do?atchFileId=bb34395b25504c66a77ef69999cacb1c&amp;bbsId=B0000006&amp;fileSn=1",</a:t>
            </a:r>
          </a:p>
          <a:p xmlns:a="http://schemas.openxmlformats.org/drawingml/2006/main">
            <a:r>
              <a:t>      "published_or_updated_at": "2026",</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"intervention": "2025 문화예술 축제 통합 지원사업: 기존 공공·민간 축제의 재정지원·현장평가·관람객 조사",</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"operating_statistics": [</a:t>
            </a:r>
          </a:p>
          <a:p xmlns:a="http://schemas.openxmlformats.org/drawingml/2006/main">
            <a:r>
              <a:t>        {</a:t>
            </a:r>
          </a:p>
          <a:p xmlns:a="http://schemas.openxmlformats.org/drawingml/2006/main">
            <a:r>
              <a:t>          "metric": "sites",</a:t>
            </a:r>
          </a:p>
          <a:p xmlns:a="http://schemas.openxmlformats.org/drawingml/2006/main">
            <a:r>
              <a:t>          "value": 263,</a:t>
            </a:r>
          </a:p>
          <a:p xmlns:a="http://schemas.openxmlformats.org/drawingml/2006/main">
            <a:r>
              <a:t>          "unit": "festival",</a:t>
            </a:r>
          </a:p>
          <a:p xmlns:a="http://schemas.openxmlformats.org/drawingml/2006/main">
            <a:r>
              <a:t>          "period": "2025-04 ~ 2025-12",</a:t>
            </a:r>
          </a:p>
          <a:p xmlns:a="http://schemas.openxmlformats.org/drawingml/2006/main">
            <a:r>
              <a:t>          "scope": "서울시·서울문화재단 재정지원 축제 중 평가 대상",</a:t>
            </a:r>
          </a:p>
          <a:p xmlns:a="http://schemas.openxmlformats.org/drawingml/2006/main">
            <a:r>
              <a:t>          "quote": "평가 대상 축제는 총 263개",</a:t>
            </a:r>
          </a:p>
          <a:p xmlns:a="http://schemas.openxmlformats.org/drawingml/2006/main">
            <a:r>
              <a:t>          "capacity_count": null,</a:t>
            </a:r>
          </a:p>
          <a:p xmlns:a="http://schemas.openxmlformats.org/drawingml/2006/main">
            <a:r>
              <a:t>          "participant_count": null,</a:t>
            </a:r>
          </a:p>
          <a:p xmlns:a="http://schemas.openxmlformats.org/drawingml/2006/main">
            <a:r>
              <a:t>          "program_name": "2025 문화예술 축제 통합 지원사업"</a:t>
            </a:r>
          </a:p>
          <a:p xmlns:a="http://schemas.openxmlformats.org/drawingml/2006/main">
            <a:r>
              <a:t>        },</a:t>
            </a:r>
          </a:p>
          <a:p xmlns:a="http://schemas.openxmlformats.org/drawingml/2006/main">
            <a:r>
              <a:t>        {</a:t>
            </a:r>
          </a:p>
          <a:p xmlns:a="http://schemas.openxmlformats.org/drawingml/2006/main">
            <a:r>
              <a:t>          "metric": "participants",</a:t>
            </a:r>
          </a:p>
          <a:p xmlns:a="http://schemas.openxmlformats.org/drawingml/2006/main">
            <a:r>
              <a:t>          "value": 8880289,</a:t>
            </a:r>
          </a:p>
          <a:p xmlns:a="http://schemas.openxmlformats.org/drawingml/2006/main">
            <a:r>
              <a:t>          "unit": "person_visit",</a:t>
            </a:r>
          </a:p>
          <a:p xmlns:a="http://schemas.openxmlformats.org/drawingml/2006/main">
            <a:r>
              <a:t>          "period": "2025-04 ~ 2025-12",</a:t>
            </a:r>
          </a:p>
          <a:p xmlns:a="http://schemas.openxmlformats.org/drawingml/2006/main">
            <a:r>
              <a:t>          "scope": "평가 대상 축제 실적집계표의 관람객 합계; 중복 방문 가능",</a:t>
            </a:r>
          </a:p>
          <a:p xmlns:a="http://schemas.openxmlformats.org/drawingml/2006/main">
            <a:r>
              <a:t>          "quote": "총 8,880,289명의 관람객이 방문",</a:t>
            </a:r>
          </a:p>
          <a:p xmlns:a="http://schemas.openxmlformats.org/drawingml/2006/main">
            <a:r>
              <a:t>          "capacity_count": null,</a:t>
            </a:r>
          </a:p>
          <a:p xmlns:a="http://schemas.openxmlformats.org/drawingml/2006/main">
            <a:r>
              <a:t>          "participant_count": 8880289,</a:t>
            </a:r>
          </a:p>
          <a:p xmlns:a="http://schemas.openxmlformats.org/drawingml/2006/main">
            <a:r>
              <a:t>          "program_name": "2025 문화예술 축제 통합 지원사업"</a:t>
            </a:r>
          </a:p>
          <a:p xmlns:a="http://schemas.openxmlformats.org/drawingml/2006/main">
            <a:r>
              <a:t>        }</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"case:58c0694a3e85d8",</a:t>
            </a:r>
          </a:p>
          <a:p xmlns:a="http://schemas.openxmlformats.org/drawingml/2006/main">
            <a:r>
              <a:t>      "source_type": "benchmark_case",</a:t>
            </a:r>
          </a:p>
          <a:p xmlns:a="http://schemas.openxmlformats.org/drawingml/2006/main">
            <a:r>
              <a:t>      "title": "귀촌 '원조 반값'은 다르다… 강진서 전국 확산 '체류 관광 도시'",</a:t>
            </a:r>
          </a:p>
          <a:p xmlns:a="http://schemas.openxmlformats.org/drawingml/2006/main">
            <a:r>
              <a:t>      "source_url": "https://jnfarm.jeonnam.go.kr/board/FARM_BOARD_008/boardView.do?bdId=BD_00000000000015383&amp;menuCd=farm004002",</a:t>
            </a:r>
          </a:p>
          <a:p xmlns:a="http://schemas.openxmlformats.org/drawingml/2006/main">
            <a:r>
              <a:t>      "published_or_updated_at": "2026-05-29",</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"case_region": "전라남도 강진군",</a:t>
            </a:r>
          </a:p>
          <a:p xmlns:a="http://schemas.openxmlformats.org/drawingml/2006/main">
            <a:r>
              <a:t>      "intervention": "강진 반값여행: 여행 지출 증빙 후 모바일 지역상품권 환급",</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16292,</a:t>
            </a:r>
          </a:p>
          <a:p xmlns:a="http://schemas.openxmlformats.org/drawingml/2006/main">
            <a:r>
              <a:t>          "unit": "team",</a:t>
            </a:r>
          </a:p>
          <a:p xmlns:a="http://schemas.openxmlformats.org/drawingml/2006/main">
            <a:r>
              <a:t>          "period": "2026-05-19 누적",</a:t>
            </a:r>
          </a:p>
          <a:p xmlns:a="http://schemas.openxmlformats.org/drawingml/2006/main">
            <a:r>
              <a:t>          "scope": "사전신청자 중 실제 강진 방문 확인 팀",</a:t>
            </a:r>
          </a:p>
          <a:p xmlns:a="http://schemas.openxmlformats.org/drawingml/2006/main">
            <a:r>
              <a:t>          "quote": "1만6292팀이 실제 강진을 찾았다.",</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"metric": "participant_spending",</a:t>
            </a:r>
          </a:p>
          <a:p xmlns:a="http://schemas.openxmlformats.org/drawingml/2006/main">
            <a:r>
              <a:t>          "value": 4970000000,</a:t>
            </a:r>
          </a:p>
          <a:p xmlns:a="http://schemas.openxmlformats.org/drawingml/2006/main">
            <a:r>
              <a:t>          "unit": "KRW",</a:t>
            </a:r>
          </a:p>
          <a:p xmlns:a="http://schemas.openxmlformats.org/drawingml/2006/main">
            <a:r>
              <a:t>          "period": "2026-05-19 누적",</a:t>
            </a:r>
          </a:p>
          <a:p xmlns:a="http://schemas.openxmlformats.org/drawingml/2006/main">
            <a:r>
              <a:t>          "scope": "사업 등록 관광객의 강진 지역 내 소비액",</a:t>
            </a:r>
          </a:p>
          <a:p xmlns:a="http://schemas.openxmlformats.org/drawingml/2006/main">
            <a:r>
              <a:t>          "quote": "지역 내 소비액은 총 49억7000만원",</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"case:4544b7bca8ebab",</a:t>
            </a:r>
          </a:p>
          <a:p xmlns:a="http://schemas.openxmlformats.org/drawingml/2006/main">
            <a:r>
              <a:t>      "source_type": "benchmark_case",</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"case_region": "청주공항과 충청권 주요 관광지 연계 권역",</a:t>
            </a:r>
          </a:p>
          <a:p xmlns:a="http://schemas.openxmlformats.org/drawingml/2006/main">
            <a:r>
              <a:t>      "intervention": "청주공항·오송역·공주·부여 연계 광역 순환버스 및 수요응답형교통(DRT)",</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7470,</a:t>
            </a:r>
          </a:p>
          <a:p xmlns:a="http://schemas.openxmlformats.org/drawingml/2006/main">
            <a:r>
              <a:t>          "unit": "person",</a:t>
            </a:r>
          </a:p>
          <a:p xmlns:a="http://schemas.openxmlformats.org/drawingml/2006/main">
            <a:r>
              <a:t>          "period": "2026년 상반기",</a:t>
            </a:r>
          </a:p>
          <a:p xmlns:a="http://schemas.openxmlformats.org/drawingml/2006/main">
            <a:r>
              <a:t>          "scope": "청주공항·충청권 광역 순환버스와 DRT 실제 이용객 합계",</a:t>
            </a:r>
          </a:p>
          <a:p xmlns:a="http://schemas.openxmlformats.org/drawingml/2006/main">
            <a:r>
              <a:t>          "quote": "순환버스와 DRT 이용객은 총 7,470명",</a:t>
            </a:r>
          </a:p>
          <a:p xmlns:a="http://schemas.openxmlformats.org/drawingml/2006/main">
            <a:r>
              <a:t>          "capacity_count": null,</a:t>
            </a:r>
          </a:p>
          <a:p xmlns:a="http://schemas.openxmlformats.org/drawingml/2006/main">
            <a:r>
              <a:t>          "participant_count": 7470,</a:t>
            </a:r>
          </a:p>
          <a:p xmlns:a="http://schemas.openxmlformats.org/drawingml/2006/main">
            <a:r>
              <a:t>          "program_name": "청주공항 연계 광역 순환버스·DRT"</a:t>
            </a:r>
          </a:p>
          <a:p xmlns:a="http://schemas.openxmlformats.org/drawingml/2006/main">
            <a:r>
              <a:t>        }</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"operating_statistics":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"operating_statistics":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"operating_statistics":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"tour-api:2758252",</a:t>
            </a:r>
          </a:p>
          <a:p xmlns:a="http://schemas.openxmlformats.org/drawingml/2006/main">
            <a:r>
              <a:t>      "source_type": "open_api",</a:t>
            </a:r>
          </a:p>
          <a:p xmlns:a="http://schemas.openxmlformats.org/drawingml/2006/main">
            <a:r>
              <a:t>      "title": "남선공원",</a:t>
            </a:r>
          </a:p>
          <a:p xmlns:a="http://schemas.openxmlformats.org/drawingml/2006/main">
            <a:r>
              <a:t>      "source_url": "https://apis.data.go.kr/B551011/KorService2",</a:t>
            </a:r>
          </a:p>
          <a:p xmlns:a="http://schemas.openxmlformats.org/drawingml/2006/main">
            <a:r>
              <a:t>      "content_id": "2758252",</a:t>
            </a:r>
          </a:p>
          <a:p xmlns:a="http://schemas.openxmlformats.org/drawingml/2006/main">
            <a:r>
              <a:t>      "content_type_id": "12",</a:t>
            </a:r>
          </a:p>
          <a:p xmlns:a="http://schemas.openxmlformats.org/drawingml/2006/main">
            <a:r>
              <a:t>      "address": "대전광역시 서구 남선로 66",</a:t>
            </a:r>
          </a:p>
          <a:p xmlns:a="http://schemas.openxmlformats.org/drawingml/2006/main">
            <a:r>
              <a:t>      "image_url": "http://tong.visitkorea.or.kr/cms/resource/24/3565624_image2_1.jpg",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"spending_krw": 79359374710.0,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a:t>
            </a:r>
          </a:p>
          <a:p xmlns:a="http://schemas.openxmlformats.org/drawingml/2006/main">
            <a:r>
              <a:t>            "baseline": 211072,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a:t>
            </a:r>
          </a:p>
          <a:p xmlns:a="http://schemas.openxmlformats.org/drawingml/2006/main">
            <a:r>
              <a:t>            "baseline": 1944140500,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a:t>
            </a:r>
          </a:p>
          <a:p xmlns:a="http://schemas.openxmlformats.org/drawingml/2006/main">
            <a:r>
              <a:t>            "baseline":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a:t>
            </a:r>
          </a:p>
          <a:p xmlns:a="http://schemas.openxmlformats.org/drawingml/2006/main">
            <a:r>
              <a:t>            "baseline":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a:t>
            </a:r>
          </a:p>
          <a:p xmlns:a="http://schemas.openxmlformats.org/drawingml/2006/main">
            <a:r>
              <a:t>            "baseline": 9487,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a:t>
            </a:r>
          </a:p>
          <a:p xmlns:a="http://schemas.openxmlformats.org/drawingml/2006/main">
            <a:r>
              <a:t>            "baseline": 14633,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a:t>
            </a:r>
          </a:p>
          <a:p xmlns:a="http://schemas.openxmlformats.org/drawingml/2006/main">
            <a:r>
              <a:t>            "baseline":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a:t>
            </a:r>
          </a:p>
          <a:p xmlns:a="http://schemas.openxmlformats.org/drawingml/2006/main">
            <a:r>
              <a:t>            "baseline":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0.019303448467232462,</a:t>
            </a:r>
          </a:p>
          <a:p xmlns:a="http://schemas.openxmlformats.org/drawingml/2006/main">
            <a:r>
              <a:t>    "spending_target_pct": 0.04151694433378397,</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"tour-api:298208", "source_type": "open_api", "title": "내원사(대전)", "source_url": "https://apis.data.go.kr/B551011/KorService2", "content_id": "298208", "content_type_id": "12", "address": "대전광역시 서구 배재로197번길 200", "image_url": "http://tong.visitkorea.or.kr/cms/resource/79/3034979_image2_1.JPG",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"여행가는 달 지역 여행할인 모아보기",</a:t>
            </a:r>
          </a:p>
          <a:p>
            <a:r>
              <a:t>      "source_url": "https://korean.visitkorea.or.kr/travelmonth/benefit.do?modal=benefit-190",</a:t>
            </a:r>
          </a:p>
          <a:p>
            <a:r>
              <a:t>      "published_or_updated_at": "2026-09-17 기준 페이지 확인; 행사 예정 기간 2026-09-21~2026-10-18",</a:t>
            </a:r>
          </a:p>
          <a:p>
            <a:r>
              <a:t>      "summary": "한국관광공사 ‘여행가는 달’ 페이지에는 대전관광공사·대전광역시의 ‘대전관광상품 최대 1만원 할인’이 2026-09-21부터 2026-10-18까지 ‘진행예정’으로 게시되어 있다.",</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a:t>
            </a:r>
          </a:p>
          <a:p>
            <a:r>
              <a:t>    {</a:t>
            </a:r>
          </a:p>
          <a:p>
            <a:r>
              <a:t>      "source_id": "web:30170:2",</a:t>
            </a:r>
          </a:p>
          <a:p>
            <a:r>
              <a:t>      "source_type": "official_web",</a:t>
            </a:r>
          </a:p>
          <a:p>
            <a:r>
              <a:t>      "title": "대전광역시_문화시설 | 공공데이터포털",</a:t>
            </a:r>
          </a:p>
          <a:p>
            <a:r>
              <a:t>      "source_url": "https://www.data.go.kr/data/15112114/openapi.do?recommendDataYn=Y",</a:t>
            </a:r>
          </a:p>
          <a:p>
            <a:r>
              <a:t>      "published_or_updated_at": "수정일 2025-07-23",</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a:t>
            </a:r>
          </a:p>
          <a:p>
            <a:r>
              <a:t>    {</a:t>
            </a:r>
          </a:p>
          <a:p>
            <a:r>
              <a:t>      "source_id": "web:30170:3",</a:t>
            </a:r>
          </a:p>
          <a:p>
            <a:r>
              <a:t>      "source_type": "official_web",</a:t>
            </a:r>
          </a:p>
          <a:p>
            <a:r>
              <a:t>      "title": "대전광역시 문화관광(숙박정보) 데이터 | 공공데이터포털",</a:t>
            </a:r>
          </a:p>
          <a:p>
            <a:r>
              <a:t>      "source_url": "https://www.data.go.kr/dataset/15001021/openapi.do",</a:t>
            </a:r>
          </a:p>
          <a:p>
            <a:r>
              <a:t>      "published_or_updated_at": "페이지 확인일 2026-09-17",</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a:t>
            </a:r>
          </a:p>
          <a:p>
            <a:r>
              <a:t>    {</a:t>
            </a:r>
          </a:p>
          <a:p>
            <a:r>
              <a:t>      "source_id": "web:30170:4",</a:t>
            </a:r>
          </a:p>
          <a:p>
            <a:r>
              <a:t>      "source_type": "official_web",</a:t>
            </a:r>
          </a:p>
          <a:p>
            <a:r>
              <a:t>      "title": "대전문화관광해설사 신규 양성 교육 | 한국관광공사 관광e배움터",</a:t>
            </a:r>
          </a:p>
          <a:p>
            <a:r>
              <a:t>      "source_url": "https://touredu.visitkorea.or.kr/home/pkgEdu/pkgEduDetail?crsCd=C202600107&amp;eduPlanYr=2026&amp;eduPlanYrStepCnt=1",</a:t>
            </a:r>
          </a:p>
          <a:p>
            <a:r>
              <a:t>      "published_or_updated_at": "신청·학습기간 2026-07-01~2026-08-31",</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a:t>
            </a:r>
          </a:p>
          <a:p>
            <a:r>
              <a:t>    {</a:t>
            </a:r>
          </a:p>
          <a:p>
            <a:r>
              <a:t>      "source_id": "web:30170:5",</a:t>
            </a:r>
          </a:p>
          <a:p>
            <a:r>
              <a:t>      "source_type": "official_web",</a:t>
            </a:r>
          </a:p>
          <a:p>
            <a:r>
              <a:t>      "title": "대전광역시 서구_체육시설 현황 | 공공데이터포털",</a:t>
            </a:r>
          </a:p>
          <a:p>
            <a:r>
              <a:t>      "source_url": "https://www.data.go.kr/dataset/15037511/fileData.do",</a:t>
            </a:r>
          </a:p>
          <a:p>
            <a:r>
              <a:t>      "published_or_updated_at": "페이지 확인일 2026-09-17",</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a:t>
            </a:r>
          </a:p>
          <a:p>
            <a:r>
              <a:t>    {</a:t>
            </a:r>
          </a:p>
          <a:p>
            <a:r>
              <a:t>      "source_id": "web:30170:6",</a:t>
            </a:r>
          </a:p>
          <a:p>
            <a:r>
              <a:t>      "source_type": "official_web",</a:t>
            </a:r>
          </a:p>
          <a:p>
            <a:r>
              <a:t>      "title": "제4차 관광개발기본계획 발표 관련 문화체육관광부 보도자료",</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"published_or_updated_at": "2021-12-30",</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a:t>
            </a:r>
          </a:p>
          <a:p>
            <a:r>
              <a:t>    {</a:t>
            </a:r>
          </a:p>
          <a:p>
            <a:r>
              <a:t>      "source_id": "case:41508ca81cf29f",</a:t>
            </a:r>
          </a:p>
          <a:p>
            <a:r>
              <a:t>      "source_type": "benchmark_case",</a:t>
            </a:r>
          </a:p>
          <a:p>
            <a:r>
              <a:t>      "title": "한국관광 데이터랩 · 안동탈춤축제 연도별 방문자 추이",</a:t>
            </a:r>
          </a:p>
          <a:p>
            <a:r>
              <a:t>      "source_url": "https://datalab.visitkorea.or.kr/",</a:t>
            </a:r>
          </a:p>
          <a:p>
            <a:r>
              <a:t>      "published_or_updated_at": "2026-08-20",</a:t>
            </a:r>
          </a:p>
          <a:p>
            <a:r>
              <a:t>      "summary": "경상북도 안동시 · 2025 안동탈춤축제: 10일간 집중 운영한 공연·문화형 축제 · 2024→2025년 전체 504,573→554,494명 (+9.89%). 개최 10→10일, 일평균 +9.89%, 외지인 +10.75%.",</a:t>
            </a:r>
          </a:p>
          <a:p>
            <a:r>
              <a:t>      "case_region": "경상북도 안동시",</a:t>
            </a:r>
          </a:p>
          <a:p>
            <a:r>
              <a:t>      "intervention": "2025 안동탈춤축제: 10일간 집중 운영한 공연·문화형 축제",</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"day",</a:t>
            </a:r>
          </a:p>
          <a:p>
            <a:r>
              <a:t>          "period": "2025년 축제 개최기간",</a:t>
            </a:r>
          </a:p>
          <a:p>
            <a:r>
              <a:t>          "scope": "안동탈춤축제 전체 개최일수",</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10일 개최기간 비교",</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"case:28ff66d9b44637",</a:t>
            </a:r>
          </a:p>
          <a:p>
            <a:r>
              <a:t>      "source_type": "benchmark_case",</a:t>
            </a:r>
          </a:p>
          <a:p>
            <a:r>
              <a:t>      "title": "2025년 문화예술 축제 통합 지원사업 종합결과보고서",</a:t>
            </a:r>
          </a:p>
          <a:p>
            <a:r>
              <a:t>      "source_url": "https://culture.seoul.go.kr/culture/cmmn/file/fileDown.do?atchFileId=bb34395b25504c66a77ef69999cacb1c&amp;bbsId=B0000006&amp;fileSn=1",</a:t>
            </a:r>
          </a:p>
          <a:p>
            <a:r>
              <a:t>      "published_or_updated_at": "2026",</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"case_region": "서울특별시",</a:t>
            </a:r>
          </a:p>
          <a:p>
            <a:r>
              <a:t>      "intervention": "2025 문화예술 축제 통합 지원사업: 기존 공공·민간 축제의 재정지원·현장평가·관람객 조사",</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"operating_statistics": [</a:t>
            </a:r>
          </a:p>
          <a:p>
            <a:r>
              <a:t>        {</a:t>
            </a:r>
          </a:p>
          <a:p>
            <a:r>
              <a:t>          "metric": "sites",</a:t>
            </a:r>
          </a:p>
          <a:p>
            <a:r>
              <a:t>          "value": 263,</a:t>
            </a:r>
          </a:p>
          <a:p>
            <a:r>
              <a:t>          "unit": "festival",</a:t>
            </a:r>
          </a:p>
          <a:p>
            <a:r>
              <a:t>          "period": "2025-04 ~ 2025-12",</a:t>
            </a:r>
          </a:p>
          <a:p>
            <a:r>
              <a:t>          "scope": "서울시·서울문화재단 재정지원 축제 중 평가 대상",</a:t>
            </a:r>
          </a:p>
          <a:p>
            <a:r>
              <a:t>          "quote": "평가 대상 축제는 총 263개",</a:t>
            </a:r>
          </a:p>
          <a:p>
            <a:r>
              <a:t>          "capacity_count": null,</a:t>
            </a:r>
          </a:p>
          <a:p>
            <a:r>
              <a:t>          "participant_count": null,</a:t>
            </a:r>
          </a:p>
          <a:p>
            <a:r>
              <a:t>          "program_name": "2025 문화예술 축제 통합 지원사업"</a:t>
            </a:r>
          </a:p>
          <a:p>
            <a:r>
              <a:t>        },</a:t>
            </a:r>
          </a:p>
          <a:p>
            <a:r>
              <a:t>        {</a:t>
            </a:r>
          </a:p>
          <a:p>
            <a:r>
              <a:t>          "metric": "participants",</a:t>
            </a:r>
          </a:p>
          <a:p>
            <a:r>
              <a:t>          "value": 8880289,</a:t>
            </a:r>
          </a:p>
          <a:p>
            <a:r>
              <a:t>          "unit": "person_visit",</a:t>
            </a:r>
          </a:p>
          <a:p>
            <a:r>
              <a:t>          "period": "2025-04 ~ 2025-12",</a:t>
            </a:r>
          </a:p>
          <a:p>
            <a:r>
              <a:t>          "scope": "평가 대상 축제 실적집계표의 관람객 합계; 중복 방문 가능",</a:t>
            </a:r>
          </a:p>
          <a:p>
            <a:r>
              <a:t>          "quote": "총 8,880,289명의 관람객이 방문",</a:t>
            </a:r>
          </a:p>
          <a:p>
            <a:r>
              <a:t>          "capacity_count": null,</a:t>
            </a:r>
          </a:p>
          <a:p>
            <a:r>
              <a:t>          "participant_count": 8880289,</a:t>
            </a:r>
          </a:p>
          <a:p>
            <a:r>
              <a:t>          "program_name": "2025 문화예술 축제 통합 지원사업"</a:t>
            </a:r>
          </a:p>
          <a:p>
            <a:r>
              <a:t>        }</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a:t>
            </a:r>
          </a:p>
          <a:p>
            <a:r>
              <a:t>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"case_region": "청주공항과 충청권 주요 관광지 연계 권역",</a:t>
            </a:r>
          </a:p>
          <a:p>
            <a:r>
              <a:t>      "intervention": "청주공항·오송역·공주·부여 연계 광역 순환버스 및 수요응답형교통(DRT)",</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"operating_statistics": [</a:t>
            </a:r>
          </a:p>
          <a:p>
            <a:r>
              <a:t>        {</a:t>
            </a:r>
          </a:p>
          <a:p>
            <a:r>
              <a:t>          "metric": "participants",</a:t>
            </a:r>
          </a:p>
          <a:p>
            <a:r>
              <a:t>          "value": 7470,</a:t>
            </a:r>
          </a:p>
          <a:p>
            <a:r>
              <a:t>          "unit": "person",</a:t>
            </a:r>
          </a:p>
          <a:p>
            <a:r>
              <a:t>          "period": "2026년 상반기",</a:t>
            </a:r>
          </a:p>
          <a:p>
            <a:r>
              <a:t>          "scope": "청주공항·충청권 광역 순환버스와 DRT 실제 이용객 합계",</a:t>
            </a:r>
          </a:p>
          <a:p>
            <a:r>
              <a:t>          "quote": "순환버스와 DRT 이용객은 총 7,470명",</a:t>
            </a:r>
          </a:p>
          <a:p>
            <a:r>
              <a:t>          "capacity_count": null,</a:t>
            </a:r>
          </a:p>
          <a:p>
            <a:r>
              <a:t>          "participant_count": 7470,</a:t>
            </a:r>
          </a:p>
          <a:p>
            <a:r>
              <a:t>          "program_name": "청주공항 연계 광역 순환버스·DRT"</a:t>
            </a:r>
          </a:p>
          <a:p>
            <a:r>
              <a:t>        }</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"operating_statistics":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"observed_findings": [</a:t>
            </a:r>
          </a:p>
          <a:p>
            <a:r>
              <a:t>    {</a:t>
            </a:r>
          </a:p>
          <a:p>
            <a:r>
              <a:t>      "metric": "관광소비액 전망",</a:t>
            </a:r>
          </a:p>
          <a:p>
            <a:r>
              <a:t>      "value": "+4.49%",</a:t>
            </a:r>
          </a:p>
          <a:p>
            <a:r>
              <a:t>      "interpretation": "2026년 4분기(10~12월) 관광소비액은 전년 동기 대비 증가할 것으로 전망되나, 방문자 수(-1.77%)와 내비게이션 검색량(-11.31%)은 감소할 것으로 예측되어 소비 밀도 중심의 전략이 필요함.",</a:t>
            </a:r>
          </a:p>
          <a:p>
            <a:r>
              <a:t>      "source": "ml:30170:regional-demand-v3.1:202606"</a:t>
            </a:r>
          </a:p>
          <a:p>
            <a:r>
              <a:t>    },</a:t>
            </a:r>
          </a:p>
          <a:p>
            <a:r>
              <a:t>    {</a:t>
            </a:r>
          </a:p>
          <a:p>
            <a:r>
              <a:t>      "metric": "업종별 소비 비중",</a:t>
            </a:r>
          </a:p>
          <a:p>
            <a:r>
              <a:t>      "value": "쇼핑 43.0%, 식음료업 39.7%",</a:t>
            </a:r>
          </a:p>
          <a:p>
            <a:r>
              <a:t>      "interpretation": "서구 관광소비의 대부분이 쇼핑과 식음료업에 집중되어 있어, 해당 업종 중심의 환급 설계가 경제적 파급효과를 높이는 데 유리함.",</a:t>
            </a:r>
          </a:p>
          <a:p>
            <a:r>
              <a:t>      "source": "dataset:30170:3"</a:t>
            </a:r>
          </a:p>
          <a:p>
            <a:r>
              <a:t>    },</a:t>
            </a:r>
          </a:p>
          <a:p>
            <a:r>
              <a:t>    {</a:t>
            </a:r>
          </a:p>
          <a:p>
            <a:r>
              <a:t>      "metric": "숙박 특성",</a:t>
            </a:r>
          </a:p>
          <a:p>
            <a:r>
              <a:t>      "value": "숙박 비율 7.57%, 숙박일수 2.82일",</a:t>
            </a:r>
          </a:p>
          <a:p>
            <a:r>
              <a:t>      "interpretation": "숙박 비율과 숙박일수가 전년과 유사한 수준을 유지할 것으로 보여, 낮 시간 방문객을 야간 체류 및 지역 상권 결제로 전환할 유인이 필요함.",</a:t>
            </a:r>
          </a:p>
          <a:p>
            <a:r>
              <a:t>      "source": "ml:30170:regional-demand-v3.1:202606"</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5383&amp;menuCd=farm004002" TargetMode="External"/><Relationship Id="rId3"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5.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korean.visitkorea.or.kr/travelmonth/benefit.do?modal=benefit-190" TargetMode="External"/><Relationship Id="rId3" Type="http://schemas.openxmlformats.org/officeDocument/2006/relationships/hyperlink" Target="https://www.data.go.kr/data/15112114/openapi.do?recommendDataYn=Y" TargetMode="External"/><Relationship Id="rId4" Type="http://schemas.openxmlformats.org/officeDocument/2006/relationships/hyperlink" Target="https://www.data.go.kr/dataset/15001021/openapi.do" TargetMode="External"/><Relationship Id="rId5" Type="http://schemas.openxmlformats.org/officeDocument/2006/relationships/hyperlink" Target="https://touredu.visitkorea.or.kr/home/pkgEdu/pkgEduDetail?crsCd=C202600107&amp;eduPlanYr=2026&amp;eduPlanYrStepCnt=1" TargetMode="External"/><Relationship Id="rId6" Type="http://schemas.openxmlformats.org/officeDocument/2006/relationships/hyperlink" Target="https://www.data.go.kr/dataset/15037511/fileData.do" TargetMode="External"/><Relationship Id="rId7"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8" Type="http://schemas.openxmlformats.org/officeDocument/2006/relationships/hyperlink" Target="https://datalab.visitkorea.or.kr/" TargetMode="External"/><Relationship Id="rId9" Type="http://schemas.openxmlformats.org/officeDocument/2006/relationships/hyperlink" Target="https://culture.seoul.go.kr/culture/cmmn/file/fileDown.do?atchFileId=bb34395b25504c66a77ef69999cacb1c&amp;bbsId=B0000006&amp;fileSn=1" TargetMode="External"/><Relationship Id="rId10" Type="http://schemas.openxmlformats.org/officeDocument/2006/relationships/hyperlink" Target="https://jnfarm.jeonnam.go.kr/board/FARM_BOARD_008/boardView.do?bdId=BD_00000000000015383&amp;menuCd=farm004002" TargetMode="External"/><Relationship Id="rId11" Type="http://schemas.openxmlformats.org/officeDocument/2006/relationships/hyperlink" Target="https://datalab.visitkorea.or.kr/site/portal/ex/bbs/View.do?bcIdx=311068&amp;cbIdx=1135&amp;pageIndex=1"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8.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1.2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04 / 18</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유사 사업 참고 · 강진군 · 반값여행 공식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유사 사업 참고 · 서울 중구 정동야행 · 문화행사 참고 사진</a:t>
            </a:r>
          </a:p>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유사 사업 참고 · 전국 · 디지털 관광주민증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05 / 18</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1"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3224784"/>
            <a:ext cx="5581650" cy="2980181"/>
          </a:xfrm>
          <a:prstGeom prst="rect">
            <a:avLst/>
          </a:prstGeom>
        </p:spPr>
      </p:pic>
      <p:sp>
        <p:nvSpPr>
          <p:cNvPr id="9" name="result-operation-label"/>
          <p:cNvSpPr txBox="1"/>
          <p:nvPr/>
        </p:nvSpPr>
        <p:spPr>
          <a:xfrm>
            <a:off x="7172325" y="298132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6004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362825" y="3743325"/>
            <a:ext cx="457200" cy="457200"/>
          </a:xfrm>
          <a:prstGeom prst="rect">
            <a:avLst/>
          </a:prstGeom>
        </p:spPr>
      </p:pic>
      <p:sp>
        <p:nvSpPr>
          <p:cNvPr id="12" name="result-flow-title-0"/>
          <p:cNvSpPr txBox="1"/>
          <p:nvPr/>
        </p:nvSpPr>
        <p:spPr>
          <a:xfrm>
            <a:off x="7981950" y="36957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지역에서 소비</a:t>
            </a:r>
          </a:p>
        </p:txBody>
      </p:sp>
      <p:sp>
        <p:nvSpPr>
          <p:cNvPr id="13" name="result-flow-detail-0"/>
          <p:cNvSpPr txBox="1"/>
          <p:nvPr/>
        </p:nvSpPr>
        <p:spPr>
          <a:xfrm>
            <a:off x="7981950" y="40290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여행자가 지역 내에서 지출</a:t>
            </a:r>
          </a:p>
        </p:txBody>
      </p:sp>
      <p:cxnSp>
        <p:nvCxnSpPr>
          <p:cNvPr id="14" name="result-flow-arrow-0-0"/>
          <p:cNvCxnSpPr/>
          <p:nvPr/>
        </p:nvCxnSpPr>
        <p:spPr>
          <a:xfrm>
            <a:off x="7591425" y="439102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53390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362825" y="4676775"/>
            <a:ext cx="457200" cy="457200"/>
          </a:xfrm>
          <a:prstGeom prst="rect">
            <a:avLst/>
          </a:prstGeom>
        </p:spPr>
      </p:pic>
      <p:sp>
        <p:nvSpPr>
          <p:cNvPr id="17" name="result-flow-title-1"/>
          <p:cNvSpPr txBox="1"/>
          <p:nvPr/>
        </p:nvSpPr>
        <p:spPr>
          <a:xfrm>
            <a:off x="7981950" y="462915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혜택을 환급</a:t>
            </a:r>
          </a:p>
        </p:txBody>
      </p:sp>
      <p:sp>
        <p:nvSpPr>
          <p:cNvPr id="18" name="result-flow-detail-1"/>
          <p:cNvSpPr txBox="1"/>
          <p:nvPr/>
        </p:nvSpPr>
        <p:spPr>
          <a:xfrm>
            <a:off x="7981950" y="496252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지출 일부를 상품권으로 지급</a:t>
            </a:r>
          </a:p>
        </p:txBody>
      </p:sp>
      <p:cxnSp>
        <p:nvCxnSpPr>
          <p:cNvPr id="19" name="result-flow-arrow-1-0"/>
          <p:cNvCxnSpPr/>
          <p:nvPr/>
        </p:nvCxnSpPr>
        <p:spPr>
          <a:xfrm>
            <a:off x="7591425" y="532447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4673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362825" y="5610225"/>
            <a:ext cx="457200" cy="457200"/>
          </a:xfrm>
          <a:prstGeom prst="rect">
            <a:avLst/>
          </a:prstGeom>
        </p:spPr>
      </p:pic>
      <p:sp>
        <p:nvSpPr>
          <p:cNvPr id="22" name="result-flow-title-2"/>
          <p:cNvSpPr txBox="1"/>
          <p:nvPr/>
        </p:nvSpPr>
        <p:spPr>
          <a:xfrm>
            <a:off x="7981950" y="55626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상점 재이용</a:t>
            </a:r>
          </a:p>
        </p:txBody>
      </p:sp>
      <p:sp>
        <p:nvSpPr>
          <p:cNvPr id="23" name="result-flow-detail-2"/>
          <p:cNvSpPr txBox="1"/>
          <p:nvPr/>
        </p:nvSpPr>
        <p:spPr>
          <a:xfrm>
            <a:off x="7981950" y="58959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받은 혜택을 지역에서 다시 사용</a:t>
            </a:r>
          </a:p>
        </p:txBody>
      </p:sp>
      <p:sp>
        <p:nvSpPr>
          <p:cNvPr id="24" name="result-operation"/>
          <p:cNvSpPr txBox="1"/>
          <p:nvPr/>
        </p:nvSpPr>
        <p:spPr>
          <a:xfrm>
            <a:off x="7172325" y="6524625"/>
            <a:ext cx="7058025" cy="69532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u="none">
                <a:solidFill>
                  <a:srgbClr val="62666C"/>
                </a:solidFill>
                <a:latin typeface="Noto Sans KR"/>
                <a:hlinkClick r:id="rId8"/>
              </a:rPr>
              <a:t>관광객이 강진에서 사용한 숙박·식음·체험비 등의 최대 50%를 모바일 강진사랑상품권으로</a:t>
            </a:r>
          </a:p>
          <a:p>
            <a:pPr eaLnBrk="0">
              <a:lnSpc>
                <a:spcPts val="1593"/>
              </a:lnSpc>
              <a:spcBef>
                <a:spcPts val="0"/>
              </a:spcBef>
              <a:spcAft>
                <a:spcPts val="0"/>
              </a:spcAft>
            </a:pPr>
            <a:r>
              <a:rPr sz="1275" b="0" u="none">
                <a:solidFill>
                  <a:srgbClr val="62666C"/>
                </a:solidFill>
                <a:latin typeface="Noto Sans KR"/>
                <a:hlinkClick r:id="rId8"/>
              </a:rPr>
              <a:t>돌려받고, 지급 상품권을 다시 지역 가맹점에서 쓰도록 설계했다. 2026년에는 군비,</a:t>
            </a:r>
          </a:p>
          <a:p>
            <a:pPr eaLnBrk="0">
              <a:lnSpc>
                <a:spcPts val="1593"/>
              </a:lnSpc>
              <a:spcBef>
                <a:spcPts val="0"/>
              </a:spcBef>
              <a:spcAft>
                <a:spcPts val="0"/>
              </a:spcAft>
            </a:pPr>
            <a:r>
              <a:rPr sz="1275" b="0" u="none">
                <a:solidFill>
                  <a:srgbClr val="62666C"/>
                </a:solidFill>
                <a:latin typeface="Noto Sans KR"/>
                <a:hlinkClick r:id="rId8"/>
              </a:rPr>
              <a:t>지역사랑휴가지원사업, 지방소멸대응기금을 결합해 연중 운영체계를 마련했다.</a:t>
            </a:r>
          </a:p>
        </p:txBody>
      </p:sp>
      <p:sp>
        <p:nvSpPr>
          <p:cNvPr id="25"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26"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06 / 18</a:t>
            </a:r>
          </a:p>
        </p:txBody>
      </p:sp>
      <p:sp>
        <p:nvSpPr>
          <p:cNvPr id="32" name="result-photo-source-bg"/>
          <p:cNvSpPr/>
          <p:nvPr/>
        </p:nvSpPr>
        <p:spPr>
          <a:xfrm>
            <a:off x="1123950" y="5519165"/>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557265"/>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유사 사업 참고 · 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07 / 18</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+1,440명, 관광소비액 약 +5,149만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6,400명분 × 이용률 75%</a:t>
            </a:r>
          </a:p>
          <a:p>
            <a:pPr eaLnBrk="0">
              <a:lnSpc>
                <a:spcPts val="2437"/>
              </a:lnSpc>
              <a:spcBef>
                <a:spcPts val="0"/>
              </a:spcBef>
              <a:spcAft>
                <a:spcPts val="0"/>
              </a:spcAft>
            </a:pPr>
            <a:r>
              <a:rPr sz="1950" b="0">
                <a:solidFill>
                  <a:srgbClr val="62666C"/>
                </a:solidFill>
                <a:latin typeface="Noto Sans KR"/>
              </a:rPr>
              <a:t>예상 참여 4,800명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1,440명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2개월</a:t>
            </a:r>
          </a:p>
          <a:p>
            <a:pPr eaLnBrk="0">
              <a:lnSpc>
                <a:spcPts val="2062"/>
              </a:lnSpc>
              <a:spcBef>
                <a:spcPts val="0"/>
              </a:spcBef>
              <a:spcAft>
                <a:spcPts val="0"/>
              </a:spcAft>
            </a:pPr>
            <a:r>
              <a:rPr sz="1650" b="0">
                <a:solidFill>
                  <a:srgbClr val="62666C"/>
                </a:solidFill>
                <a:latin typeface="Noto Sans KR"/>
              </a:rPr>
              <a:t>× 하루 1회 × 회당 20명 = 6,400명분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1,440명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0.51억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08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4,800명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6,400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1,440명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2개월 × 하루 1회 × 회당 20명 = 6,400명분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3,951만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09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+0.01%</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+0.02%</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추가 방문 × 계획 결제 16,503원 + 기존 방문 참여 × 추가 구매 8,251원</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10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전라남도 강진군 · 강진 반값여행: 여행 지출 증빙 후 모바일 지역상품권 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275" b="0">
                          <a:solidFill>
                            <a:srgbClr val="202124"/>
                          </a:solidFill>
                          <a:latin typeface="Noto Sans KR"/>
                        </a:rPr>
                        <a:t>관광객이 강진에서 사용한 숙박·식음·체험비 등의 최대 50%를 모바일</a:t>
                      </a:r>
                    </a:p>
                    <a:p>
                      <a:pPr eaLnBrk="0">
                        <a:lnSpc>
                          <a:spcPct val="112000"/>
                        </a:lnSpc>
                        <a:spcBef>
                          <a:spcPts val="0"/>
                        </a:spcBef>
                        <a:spcAft>
                          <a:spcPts val="0"/>
                        </a:spcAft>
                      </a:pPr>
                      <a:r>
                        <a:rPr sz="1275" b="0">
                          <a:solidFill>
                            <a:srgbClr val="202124"/>
                          </a:solidFill>
                          <a:latin typeface="Noto Sans KR"/>
                        </a:rPr>
                        <a:t>강진사랑상품권으로 돌려받고, 지급 상품권을 다시 지역 가맹점에서</a:t>
                      </a:r>
                    </a:p>
                    <a:p>
                      <a:pPr eaLnBrk="0">
                        <a:lnSpc>
                          <a:spcPct val="112000"/>
                        </a:lnSpc>
                        <a:spcBef>
                          <a:spcPts val="0"/>
                        </a:spcBef>
                        <a:spcAft>
                          <a:spcPts val="0"/>
                        </a:spcAft>
                      </a:pPr>
                      <a:r>
                        <a:rPr sz="1275" b="0">
                          <a:solidFill>
                            <a:srgbClr val="202124"/>
                          </a:solidFill>
                          <a:latin typeface="Noto Sans KR"/>
                        </a:rPr>
                        <a:t>쓰도록 설계했다. 2026년에는 군비, 지역사랑휴가지원사업,</a:t>
                      </a:r>
                    </a:p>
                    <a:p>
                      <a:pPr eaLnBrk="0">
                        <a:lnSpc>
                          <a:spcPct val="112000"/>
                        </a:lnSpc>
                        <a:spcBef>
                          <a:spcPts val="0"/>
                        </a:spcBef>
                        <a:spcAft>
                          <a:spcPts val="0"/>
                        </a:spcAft>
                      </a:pPr>
                      <a:r>
                        <a:rPr sz="1275" b="0">
                          <a:solidFill>
                            <a:srgbClr val="202124"/>
                          </a:solidFill>
                          <a:latin typeface="Noto Sans KR"/>
                        </a:rPr>
                        <a:t>지방소멸대응기금을 결합해 연중 운영체계를 마련했다.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관광소비액 전망: +4.49% / 업종별 소비 비중: 쇼핑 43.0%,</a:t>
                      </a:r>
                    </a:p>
                    <a:p>
                      <a:pPr eaLnBrk="0">
                        <a:lnSpc>
                          <a:spcPct val="112000"/>
                        </a:lnSpc>
                        <a:spcBef>
                          <a:spcPts val="0"/>
                        </a:spcBef>
                        <a:spcAft>
                          <a:spcPts val="0"/>
                        </a:spcAft>
                      </a:pPr>
                      <a:r>
                        <a:rPr sz="1575" b="0">
                          <a:solidFill>
                            <a:srgbClr val="202124"/>
                          </a:solidFill>
                          <a:latin typeface="Noto Sans KR"/>
                        </a:rPr>
                        <a:t>식음료업 39.7% / 숙박 특성: 숙박 비율 7.57%,</a:t>
                      </a:r>
                    </a:p>
                    <a:p>
                      <a:pPr eaLnBrk="0">
                        <a:lnSpc>
                          <a:spcPct val="112000"/>
                        </a:lnSpc>
                        <a:spcBef>
                          <a:spcPts val="0"/>
                        </a:spcBef>
                        <a:spcAft>
                          <a:spcPts val="0"/>
                        </a:spcAft>
                      </a:pPr>
                      <a:r>
                        <a:rPr sz="1575" b="0">
                          <a:solidFill>
                            <a:srgbClr val="202124"/>
                          </a:solidFill>
                          <a:latin typeface="Noto Sans KR"/>
                        </a:rPr>
                        <a:t>숙박일수 2.82일</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서구 내 지정된 식음료·쇼핑 업종에서 일정 금액 이상 결제 시, 증빙을 통해</a:t>
            </a:r>
          </a:p>
          <a:p>
            <a:pPr eaLnBrk="0">
              <a:lnSpc>
                <a:spcPts val="1968"/>
              </a:lnSpc>
              <a:spcBef>
                <a:spcPts val="0"/>
              </a:spcBef>
              <a:spcAft>
                <a:spcPts val="0"/>
              </a:spcAft>
            </a:pPr>
            <a:r>
              <a:rPr sz="1575" b="0">
                <a:solidFill>
                  <a:srgbClr val="202124"/>
                </a:solidFill>
                <a:latin typeface="Noto Sans KR"/>
              </a:rPr>
              <a:t>지역사랑상품권으로 일부를 환급해 주는 방식</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귀촌 '원조 반값'은 다르다 강진서 전국 확산 '체류 관광 도시'</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11 / 18</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12 / 18</a:t>
            </a:r>
          </a:p>
        </p:txBody>
      </p:sp>
    </p:spTree>
    <p:extLst>
      <p:ext uri="{BB962C8B-B14F-4D97-AF65-F5344CB8AC3E}">
        <p14:creationId xmlns:p14="http://schemas.microsoft.com/office/powerpoint/2010/main" val="380383987"/>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4,940,825명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477명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4,990,596명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963명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14,929,999명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1,440명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1,440명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859.90억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1,785만 원 · 0.02%</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810.68억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3,364만 원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2,464.17억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5,149만 원 · 0.02%</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5,149만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13 / 18</a:t>
            </a:r>
          </a:p>
        </p:txBody>
      </p:sp>
    </p:spTree>
    <p:extLst>
      <p:ext uri="{BB962C8B-B14F-4D97-AF65-F5344CB8AC3E}">
        <p14:creationId xmlns:p14="http://schemas.microsoft.com/office/powerpoint/2010/main" val="553742078"/>
      </p:ext>
    </p:extLst>
  </p:cSld>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3,951만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7,920,000원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4,800건 × min(계획 결제 16,503원 × 10%, 건별 상한 50,000원) = 건당 1,650원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12,000,000원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2개월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3,592,000원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35,920,000원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79,214,400원 중 추가 소비 목표 51,489,277원.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42,416,000원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14 / 18</a:t>
            </a:r>
          </a:p>
        </p:txBody>
      </p:sp>
    </p:spTree>
    <p:extLst>
      <p:ext uri="{BB962C8B-B14F-4D97-AF65-F5344CB8AC3E}">
        <p14:creationId xmlns:p14="http://schemas.microsoft.com/office/powerpoint/2010/main" val="1823133345"/>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Gemma</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Gemma</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15 / 18</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D08 방문자/2025_01_12.zip</a:t>
            </a:r>
          </a:p>
        </p:txBody>
      </p:sp>
      <p:sp xmlns:a="http://schemas.openxmlformats.org/drawingml/2006/main">
        <p:nvSpPr>
          <p:cNvPr id="13" name="reference-8"/>
          <p:cNvSpPr txBox="1"/>
          <p:nvPr/>
        </p:nvSpPr>
        <p:spPr>
          <a:xfrm>
            <a:off x="100965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D09 관광소비/2025_01_12.zip</a:t>
            </a:r>
          </a:p>
        </p:txBody>
      </p:sp>
      <p:sp xmlns:a="http://schemas.openxmlformats.org/drawingml/2006/main">
        <p:nvSpPr>
          <p:cNvPr id="14" name="reference-9"/>
          <p:cNvSpPr txBox="1"/>
          <p:nvPr/>
        </p:nvSpPr>
        <p:spPr>
          <a:xfrm>
            <a:off x="100965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D10 숙박_체류시간/2025_01_12.zip</a:t>
            </a:r>
          </a:p>
        </p:txBody>
      </p:sp>
      <p:sp xmlns:a="http://schemas.openxmlformats.org/drawingml/2006/main">
        <p:nvSpPr>
          <p:cNvPr id="15" name="reference-10"/>
          <p:cNvSpPr txBox="1"/>
          <p:nvPr/>
        </p:nvSpPr>
        <p:spPr>
          <a:xfrm>
            <a:off x="100965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D11 관광소비/2026_01_06.zip</a:t>
            </a:r>
          </a:p>
        </p:txBody>
      </p:sp>
      <p:sp xmlns:a="http://schemas.openxmlformats.org/drawingml/2006/main">
        <p:nvSpPr>
          <p:cNvPr id="16" name="reference-11"/>
          <p:cNvSpPr txBox="1"/>
          <p:nvPr/>
        </p:nvSpPr>
        <p:spPr>
          <a:xfrm>
            <a:off x="100965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D12 방문자/2026_01_06.zip</a:t>
            </a:r>
          </a:p>
        </p:txBody>
      </p:sp>
      <p:sp xmlns:a="http://schemas.openxmlformats.org/drawingml/2006/main">
        <p:nvSpPr>
          <p:cNvPr id="17" name="reference-12"/>
          <p:cNvSpPr txBox="1"/>
          <p:nvPr/>
        </p:nvSpPr>
        <p:spPr>
          <a:xfrm>
            <a:off x="100965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D13 숙박_체류시간/2026_01_06.zip</a:t>
            </a:r>
          </a:p>
        </p:txBody>
      </p:sp>
      <p:sp xmlns:a="http://schemas.openxmlformats.org/drawingml/2006/main">
        <p:nvSpPr>
          <p:cNvPr id="18" name="reference-13"/>
          <p:cNvSpPr txBox="1"/>
          <p:nvPr/>
        </p:nvSpPr>
        <p:spPr>
          <a:xfrm>
            <a:off x="1009650" y="68246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19" name="reference-14"/>
          <p:cNvSpPr txBox="1"/>
          <p:nvPr/>
        </p:nvSpPr>
        <p:spPr>
          <a:xfrm>
            <a:off x="1009650" y="74366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0" name="reference-15"/>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D16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1" name="reference-16"/>
          <p:cNvSpPr txBox="1"/>
          <p:nvPr/>
        </p:nvSpPr>
        <p:spPr>
          <a:xfrm>
            <a:off x="5486400" y="30884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D17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2" name="reference-17"/>
          <p:cNvSpPr txBox="1"/>
          <p:nvPr/>
        </p:nvSpPr>
        <p:spPr>
          <a:xfrm>
            <a:off x="5486400" y="37004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D18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3" name="reference-18"/>
          <p:cNvSpPr txBox="1"/>
          <p:nvPr/>
        </p:nvSpPr>
        <p:spPr>
          <a:xfrm>
            <a:off x="5486400" y="43124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D19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4" name="reference-19"/>
          <p:cNvSpPr txBox="1"/>
          <p:nvPr/>
        </p:nvSpPr>
        <p:spPr>
          <a:xfrm>
            <a:off x="5486400" y="49244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D20</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5" name="reference-20"/>
          <p:cNvSpPr txBox="1"/>
          <p:nvPr/>
        </p:nvSpPr>
        <p:spPr>
          <a:xfrm>
            <a:off x="5486400" y="55364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D21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6" name="reference-21"/>
          <p:cNvSpPr txBox="1"/>
          <p:nvPr/>
        </p:nvSpPr>
        <p:spPr>
          <a:xfrm>
            <a:off x="5486400" y="6148388"/>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D22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7" name="reference-22"/>
          <p:cNvSpPr txBox="1"/>
          <p:nvPr/>
        </p:nvSpPr>
        <p:spPr>
          <a:xfrm>
            <a:off x="5486400" y="6760369"/>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D23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8" name="reference-23"/>
          <p:cNvSpPr txBox="1"/>
          <p:nvPr/>
        </p:nvSpPr>
        <p:spPr>
          <a:xfrm>
            <a:off x="5486400" y="737235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9" name="reference-24"/>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30" name="reference-25"/>
          <p:cNvSpPr txBox="1"/>
          <p:nvPr/>
        </p:nvSpPr>
        <p:spPr>
          <a:xfrm>
            <a:off x="9963150" y="30884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지역집중률 2025-07 ~ 2026-06</a:t>
            </a:r>
          </a:p>
        </p:txBody>
      </p:sp>
      <p:sp xmlns:a="http://schemas.openxmlformats.org/drawingml/2006/main">
        <p:nvSpPr>
          <p:cNvPr id="31" name="reference-26"/>
          <p:cNvSpPr txBox="1"/>
          <p:nvPr/>
        </p:nvSpPr>
        <p:spPr>
          <a:xfrm>
            <a:off x="9963150" y="35218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유입유출 2025-07 ~ 2026-06</a:t>
            </a:r>
          </a:p>
        </p:txBody>
      </p:sp>
      <p:sp xmlns:a="http://schemas.openxmlformats.org/drawingml/2006/main">
        <p:nvSpPr>
          <p:cNvPr id="32" name="reference-27"/>
          <p:cNvSpPr txBox="1"/>
          <p:nvPr/>
        </p:nvSpPr>
        <p:spPr>
          <a:xfrm>
            <a:off x="9963150" y="39552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인기관광지 2025-07 ~ 2026-06</a:t>
            </a:r>
          </a:p>
        </p:txBody>
      </p:sp>
      <p:sp xmlns:a="http://schemas.openxmlformats.org/drawingml/2006/main">
        <p:nvSpPr>
          <p:cNvPr id="33" name="reference-28"/>
          <p:cNvSpPr txBox="1"/>
          <p:nvPr/>
        </p:nvSpPr>
        <p:spPr>
          <a:xfrm>
            <a:off x="9963150" y="43886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4" name="reference-29"/>
          <p:cNvSpPr txBox="1"/>
          <p:nvPr/>
        </p:nvSpPr>
        <p:spPr>
          <a:xfrm>
            <a:off x="9963150" y="4822031"/>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xmlns:a="http://schemas.openxmlformats.org/drawingml/2006/main">
        <p:nvSpPr>
          <p:cNvPr id="35" name="reference-30"/>
          <p:cNvSpPr txBox="1"/>
          <p:nvPr/>
        </p:nvSpPr>
        <p:spPr>
          <a:xfrm>
            <a:off x="9963150" y="5255419"/>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xmlns:a="http://schemas.openxmlformats.org/drawingml/2006/main">
        <p:nvSpPr>
          <p:cNvPr id="36" name="reference-31"/>
          <p:cNvSpPr txBox="1"/>
          <p:nvPr/>
        </p:nvSpPr>
        <p:spPr>
          <a:xfrm>
            <a:off x="9963150" y="5688806"/>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xmlns:a="http://schemas.openxmlformats.org/drawingml/2006/main">
        <p:nvSpPr>
          <p:cNvPr id="37" name="reference-32"/>
          <p:cNvSpPr txBox="1"/>
          <p:nvPr/>
        </p:nvSpPr>
        <p:spPr>
          <a:xfrm>
            <a:off x="9963150" y="6122194"/>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xmlns:a="http://schemas.openxmlformats.org/drawingml/2006/main">
        <p:nvSpPr>
          <p:cNvPr id="38" name="reference-33"/>
          <p:cNvSpPr txBox="1"/>
          <p:nvPr/>
        </p:nvSpPr>
        <p:spPr>
          <a:xfrm>
            <a:off x="9963150" y="65555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xmlns:a="http://schemas.openxmlformats.org/drawingml/2006/main">
        <p:nvSpPr>
          <p:cNvPr id="39" name="reference-34"/>
          <p:cNvSpPr txBox="1"/>
          <p:nvPr/>
        </p:nvSpPr>
        <p:spPr>
          <a:xfrm>
            <a:off x="9963150" y="69889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xmlns:a="http://schemas.openxmlformats.org/drawingml/2006/main">
        <p:nvSpPr>
          <p:cNvPr id="40" name="reference-35"/>
          <p:cNvSpPr txBox="1"/>
          <p:nvPr/>
        </p:nvSpPr>
        <p:spPr>
          <a:xfrm>
            <a:off x="9963150" y="74223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활성화 방안 · PDF 44쪽 외 4쪽 (5개 청크) datalab.visitkorea.or.kr</a:t>
            </a:r>
          </a:p>
        </p:txBody>
      </p:sp>
      <p:sp xmlns:a="http://schemas.openxmlformats.org/drawingml/2006/main">
        <p:nvSpPr>
          <p:cNvPr id="4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xmlns:a="http://schemas.openxmlformats.org/drawingml/2006/main">
        <p:nvSpPr>
          <p:cNvPr id="4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16 / 18</a:t>
            </a:r>
          </a:p>
        </p:txBody>
      </p:sp>
    </p:spTree>
    <p:extLst>
      <p:ext uri="{BB962C8B-B14F-4D97-AF65-F5344CB8AC3E}">
        <p14:creationId xmlns:p14="http://schemas.microsoft.com/office/powerpoint/2010/main" val="930694367"/>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2"/>
              </a:rPr>
              <a:t>모아보기 korean.visitkorea.or.kr</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3"/>
              </a:rPr>
              <a:t>공공데이터포털 www.data.go.kr</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5"/>
              </a:rPr>
              <a:t>한국관광공사 관광e배움터 touredu.visitkorea.or.kr</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6"/>
              </a:rPr>
              <a:t>공공데이터포털 www.data.go.kr</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7"/>
              </a:rPr>
              <a:t>문화체육관광부 보도자료 www.mcst.go.kr</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8"/>
              </a:rPr>
              <a:t>추이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8"/>
              </a:rPr>
              <a:t>추이 datalab.visitkorea.or.kr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9"/>
              </a:rPr>
              <a:t>종합결과보고서 culture.seoul.go.kr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0"/>
              </a:rPr>
              <a:t>관광 도시' jnfarm.jeonnam.go.kr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11"/>
              </a:rPr>
              <a:t>활성화 방안 datalab.visitkorea.or.kr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19" name="reference-14"/>
          <p:cNvSpPr txBox="1"/>
          <p:nvPr/>
        </p:nvSpPr>
        <p:spPr>
          <a:xfrm>
            <a:off x="548640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0" name="reference-15"/>
          <p:cNvSpPr txBox="1"/>
          <p:nvPr/>
        </p:nvSpPr>
        <p:spPr>
          <a:xfrm>
            <a:off x="5486400" y="3648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1" name="reference-16"/>
          <p:cNvSpPr txBox="1"/>
          <p:nvPr/>
        </p:nvSpPr>
        <p:spPr>
          <a:xfrm>
            <a:off x="5486400" y="3952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2" name="reference-17"/>
          <p:cNvSpPr txBox="1"/>
          <p:nvPr/>
        </p:nvSpPr>
        <p:spPr>
          <a:xfrm>
            <a:off x="5486400" y="4257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23" name="reference-18"/>
          <p:cNvSpPr txBox="1"/>
          <p:nvPr/>
        </p:nvSpPr>
        <p:spPr>
          <a:xfrm>
            <a:off x="5486400" y="4562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24" name="reference-19"/>
          <p:cNvSpPr txBox="1"/>
          <p:nvPr/>
        </p:nvSpPr>
        <p:spPr>
          <a:xfrm>
            <a:off x="5486400" y="4867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25" name="reference-20"/>
          <p:cNvSpPr txBox="1"/>
          <p:nvPr/>
        </p:nvSpPr>
        <p:spPr>
          <a:xfrm>
            <a:off x="5486400" y="5172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26" name="reference-21"/>
          <p:cNvSpPr txBox="1"/>
          <p:nvPr/>
        </p:nvSpPr>
        <p:spPr>
          <a:xfrm>
            <a:off x="5486400" y="5476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27" name="reference-22"/>
          <p:cNvSpPr txBox="1"/>
          <p:nvPr/>
        </p:nvSpPr>
        <p:spPr>
          <a:xfrm>
            <a:off x="5486400" y="5781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28" name="reference-23"/>
          <p:cNvSpPr txBox="1"/>
          <p:nvPr/>
        </p:nvSpPr>
        <p:spPr>
          <a:xfrm>
            <a:off x="5486400" y="6086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29" name="reference-24"/>
          <p:cNvSpPr txBox="1"/>
          <p:nvPr/>
        </p:nvSpPr>
        <p:spPr>
          <a:xfrm>
            <a:off x="5486400" y="6391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0" name="reference-25"/>
          <p:cNvSpPr txBox="1"/>
          <p:nvPr/>
        </p:nvSpPr>
        <p:spPr>
          <a:xfrm>
            <a:off x="5486400" y="6696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1" name="reference-26"/>
          <p:cNvSpPr txBox="1"/>
          <p:nvPr/>
        </p:nvSpPr>
        <p:spPr>
          <a:xfrm>
            <a:off x="5486400" y="7000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2" name="reference-27"/>
          <p:cNvSpPr txBox="1"/>
          <p:nvPr/>
        </p:nvSpPr>
        <p:spPr>
          <a:xfrm>
            <a:off x="5486400" y="7305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33" name="reference-28"/>
          <p:cNvSpPr txBox="1"/>
          <p:nvPr/>
        </p:nvSpPr>
        <p:spPr>
          <a:xfrm>
            <a:off x="5486400" y="7610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p:nvSpPr>
          <p:cNvPr id="4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17 / 18</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2262A"/>
                </a:solidFill>
                <a:latin typeface="Noto Sans KR"/>
              </a:rPr>
              <a:t>1.1 제안 사업 소개</a:t>
            </a:r>
          </a:p>
        </p:txBody>
      </p:sp>
      <p:sp>
        <p:nvSpPr>
          <p:cNvPr id="5" name="overview-name"/>
          <p:cNvSpPr txBox="1"/>
          <p:nvPr/>
        </p:nvSpPr>
        <p:spPr>
          <a:xfrm>
            <a:off x="1009650" y="1666875"/>
            <a:ext cx="13220700" cy="8667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22262A"/>
                </a:solidFill>
                <a:latin typeface="Noto Sans KR"/>
              </a:rPr>
              <a:t>서구 여행플러스 — 관광 소비 환급 프로그램</a:t>
            </a:r>
          </a:p>
        </p:txBody>
      </p:sp>
      <p:sp>
        <p:nvSpPr>
          <p:cNvPr id="6" name="overview-photo-panel"/>
          <p:cNvSpPr/>
          <p:nvPr/>
        </p:nvSpPr>
        <p:spPr>
          <a:xfrm>
            <a:off x="1009650" y="2714625"/>
            <a:ext cx="7010400" cy="3352800"/>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rcRect t="9375" b="9375"/>
          <a:stretch>
            <a:fillRect/>
          </a:stretch>
        </p:blipFill>
        <p:spPr>
          <a:xfrm>
            <a:off x="1009650" y="2714625"/>
            <a:ext cx="7010400" cy="2847975"/>
          </a:xfrm>
          <a:prstGeom prst="rect">
            <a:avLst/>
          </a:prstGeom>
        </p:spPr>
      </p:pic>
      <p:sp>
        <p:nvSpPr>
          <p:cNvPr id="8" name="overview-caption-bg"/>
          <p:cNvSpPr/>
          <p:nvPr/>
        </p:nvSpPr>
        <p:spPr>
          <a:xfrm>
            <a:off x="1009650" y="5562600"/>
            <a:ext cx="7010400" cy="504825"/>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1171575" y="5638800"/>
            <a:ext cx="6677025" cy="3619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관광객 쿠폰·환급 이용 · AI 생성 예시 이미지</a:t>
            </a:r>
          </a:p>
        </p:txBody>
      </p:sp>
      <p:sp>
        <p:nvSpPr>
          <p:cNvPr id="10" name="overview-description-panel"/>
          <p:cNvSpPr/>
          <p:nvPr/>
        </p:nvSpPr>
        <p:spPr>
          <a:xfrm>
            <a:off x="8334375" y="2714625"/>
            <a:ext cx="5895975" cy="335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label"/>
          <p:cNvSpPr txBox="1"/>
          <p:nvPr/>
        </p:nvSpPr>
        <p:spPr>
          <a:xfrm>
            <a:off x="8601075" y="2952750"/>
            <a:ext cx="529590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EC164B"/>
                </a:solidFill>
                <a:latin typeface="Noto Sans KR"/>
              </a:rPr>
              <a:t>사업개요</a:t>
            </a:r>
          </a:p>
        </p:txBody>
      </p:sp>
      <p:sp>
        <p:nvSpPr>
          <p:cNvPr id="12" name="overview-description"/>
          <p:cNvSpPr txBox="1"/>
          <p:nvPr/>
        </p:nvSpPr>
        <p:spPr>
          <a:xfrm>
            <a:off x="8601075" y="3495675"/>
            <a:ext cx="5238750" cy="20002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37424B"/>
                </a:solidFill>
                <a:latin typeface="Noto Sans KR"/>
              </a:rPr>
              <a:t>서구의 식음료·쇼핑 가맹점에서 결제하면</a:t>
            </a:r>
          </a:p>
          <a:p>
            <a:pPr eaLnBrk="0">
              <a:lnSpc>
                <a:spcPts val="2531"/>
              </a:lnSpc>
              <a:spcBef>
                <a:spcPts val="0"/>
              </a:spcBef>
              <a:spcAft>
                <a:spcPts val="0"/>
              </a:spcAft>
            </a:pPr>
            <a:r>
              <a:rPr sz="2025" b="0">
                <a:solidFill>
                  <a:srgbClr val="37424B"/>
                </a:solidFill>
                <a:latin typeface="Noto Sans KR"/>
              </a:rPr>
              <a:t>지출 일부를 지역상품권으로 환급합니다.</a:t>
            </a:r>
          </a:p>
          <a:p>
            <a:pPr eaLnBrk="0">
              <a:lnSpc>
                <a:spcPts val="2531"/>
              </a:lnSpc>
              <a:spcBef>
                <a:spcPts val="0"/>
              </a:spcBef>
              <a:spcAft>
                <a:spcPts val="0"/>
              </a:spcAft>
            </a:pPr>
            <a:r>
              <a:rPr sz="2025" b="0">
                <a:solidFill>
                  <a:srgbClr val="37424B"/>
                </a:solidFill>
                <a:latin typeface="Noto Sans KR"/>
              </a:rPr>
              <a:t>받은 혜택을 지역 가게에서 다시 사용하도록</a:t>
            </a:r>
          </a:p>
          <a:p>
            <a:pPr eaLnBrk="0">
              <a:lnSpc>
                <a:spcPts val="2531"/>
              </a:lnSpc>
              <a:spcBef>
                <a:spcPts val="0"/>
              </a:spcBef>
              <a:spcAft>
                <a:spcPts val="0"/>
              </a:spcAft>
            </a:pPr>
            <a:r>
              <a:rPr sz="2025" b="0">
                <a:solidFill>
                  <a:srgbClr val="37424B"/>
                </a:solidFill>
                <a:latin typeface="Noto Sans KR"/>
              </a:rPr>
              <a:t>연결하는 관광 소비 프로그램입니다.</a:t>
            </a:r>
          </a:p>
        </p:txBody>
      </p:sp>
      <p:sp>
        <p:nvSpPr>
          <p:cNvPr id="13" name="overview-goal-0"/>
          <p:cNvSpPr/>
          <p:nvPr/>
        </p:nvSpPr>
        <p:spPr>
          <a:xfrm>
            <a:off x="1009650" y="6400800"/>
            <a:ext cx="6419850" cy="13620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overview-goal-icon-0" descr="image.png"/>
          <p:cNvPicPr>
            <a:picLocks noChangeAspect="1"/>
          </p:cNvPicPr>
          <p:nvPr/>
        </p:nvPicPr>
        <p:blipFill>
          <a:blip r:embed="rId3"/>
          <a:stretch>
            <a:fillRect/>
          </a:stretch>
        </p:blipFill>
        <p:spPr>
          <a:xfrm>
            <a:off x="1238250" y="6629400"/>
            <a:ext cx="571500" cy="571500"/>
          </a:xfrm>
          <a:prstGeom prst="rect">
            <a:avLst/>
          </a:prstGeom>
        </p:spPr>
      </p:pic>
      <p:sp>
        <p:nvSpPr>
          <p:cNvPr id="15"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 추가 방문 목표</a:t>
            </a:r>
          </a:p>
        </p:txBody>
      </p:sp>
      <p:sp>
        <p:nvSpPr>
          <p:cNvPr id="16"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76AA5"/>
                </a:solidFill>
                <a:latin typeface="Noto Sans KR"/>
              </a:rPr>
              <a:t>+1,440명</a:t>
            </a:r>
          </a:p>
        </p:txBody>
      </p:sp>
      <p:sp>
        <p:nvSpPr>
          <p:cNvPr id="17" name="overview-goal-1"/>
          <p:cNvSpPr/>
          <p:nvPr/>
        </p:nvSpPr>
        <p:spPr>
          <a:xfrm>
            <a:off x="7810500" y="6400800"/>
            <a:ext cx="6419850" cy="13620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overview-goal-icon-1" descr="image.png"/>
          <p:cNvPicPr>
            <a:picLocks noChangeAspect="1"/>
          </p:cNvPicPr>
          <p:nvPr/>
        </p:nvPicPr>
        <p:blipFill>
          <a:blip r:embed="rId4"/>
          <a:stretch>
            <a:fillRect/>
          </a:stretch>
        </p:blipFill>
        <p:spPr>
          <a:xfrm>
            <a:off x="8039100" y="6629400"/>
            <a:ext cx="571500" cy="571500"/>
          </a:xfrm>
          <a:prstGeom prst="rect">
            <a:avLst/>
          </a:prstGeom>
        </p:spPr>
      </p:pic>
      <p:sp>
        <p:nvSpPr>
          <p:cNvPr id="19"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3개월간 월평균 추가 소비 목표</a:t>
            </a:r>
          </a:p>
        </p:txBody>
      </p:sp>
      <p:sp>
        <p:nvSpPr>
          <p:cNvPr id="20"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12867F"/>
                </a:solidFill>
                <a:latin typeface="Noto Sans KR"/>
              </a:rPr>
              <a:t>약 +1,716만 원</a:t>
            </a:r>
          </a:p>
        </p:txBody>
      </p:sp>
      <p:sp>
        <p:nvSpPr>
          <p:cNvPr id="21"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6717A"/>
                </a:solidFill>
                <a:latin typeface="Noto Sans KR"/>
              </a:rPr>
              <a:t>03 / 18</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