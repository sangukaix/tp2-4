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361.54501911</c:v>
                </c:pt>
                <c:pt idx="1">
                  <c:v>359.50819255</c:v>
                </c:pt>
                <c:pt idx="2">
                  <c:v>337.18788834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1504.93713412</c:v>
                </c:pt>
                <c:pt idx="1">
                  <c:v>1451.3651535</c:v>
                </c:pt>
                <c:pt idx="2">
                  <c:v>1494.45976723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2246.0</c:v>
                </c:pt>
                <c:pt idx="2">
                  <c:v>4147.0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15735.32</c:v>
                </c:pt>
                <c:pt idx="2">
                  <c:v>23521.83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-2.976441023986953,</a:t>
            </a:r>
          </a:p>
          <a:p xmlns:a="http://schemas.openxmlformats.org/drawingml/2006/main">
            <a:r>
              <a:t>        "target_rank": 208,</a:t>
            </a:r>
          </a:p>
          <a:p xmlns:a="http://schemas.openxmlformats.org/drawingml/2006/main">
            <a:r>
              <a:t>        "target": [</a:t>
            </a:r>
          </a:p>
          <a:p xmlns:a="http://schemas.openxmlformats.org/drawingml/2006/main">
            <a:r>
              <a:t>          3615450.191125088,</a:t>
            </a:r>
          </a:p>
          <a:p xmlns:a="http://schemas.openxmlformats.org/drawingml/2006/main">
            <a:r>
              <a:t>          3595081.9254844403,</a:t>
            </a:r>
          </a:p>
          <a:p xmlns:a="http://schemas.openxmlformats.org/drawingml/2006/main">
            <a:r>
              <a:t>          3371878.8833904723</a:t>
            </a:r>
          </a:p>
          <a:p xmlns:a="http://schemas.openxmlformats.org/drawingml/2006/main">
            <a:r>
              <a:t>        ],</a:t>
            </a:r>
          </a:p>
          <a:p xmlns:a="http://schemas.openxmlformats.org/drawingml/2006/main">
            <a:r>
              <a:t>        "additional": 2246.0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-0.3089710244080113,</a:t>
            </a:r>
          </a:p>
          <a:p xmlns:a="http://schemas.openxmlformats.org/drawingml/2006/main">
            <a:r>
              <a:t>        "target_rank": 228,</a:t>
            </a:r>
          </a:p>
          <a:p xmlns:a="http://schemas.openxmlformats.org/drawingml/2006/main">
            <a:r>
              <a:t>        "target": [</a:t>
            </a:r>
          </a:p>
          <a:p xmlns:a="http://schemas.openxmlformats.org/drawingml/2006/main">
            <a:r>
              <a:t>          150493713411.81418,</a:t>
            </a:r>
          </a:p>
          <a:p xmlns:a="http://schemas.openxmlformats.org/drawingml/2006/main">
            <a:r>
              <a:t>          145136515350.191,</a:t>
            </a:r>
          </a:p>
          <a:p xmlns:a="http://schemas.openxmlformats.org/drawingml/2006/main">
            <a:r>
              <a:t>          149445976722.9948</a:t>
            </a:r>
          </a:p>
          <a:p xmlns:a="http://schemas.openxmlformats.org/drawingml/2006/main">
            <a:r>
              <a:t>        ],</a:t>
            </a:r>
          </a:p>
          <a:p xmlns:a="http://schemas.openxmlformats.org/drawingml/2006/main">
            <a:r>
              <a:t>        "additional": 157353164.0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0.03221447862482329,</a:t>
            </a:r>
          </a:p>
          <a:p xmlns:a="http://schemas.openxmlformats.org/drawingml/2006/main">
            <a:r>
              <a:t>    "spending_target_pct": 0.05311575279200933,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+2,246명, 관광소비액 약 +1억 5,735만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11,520명분 × 이용률 65%</a:t>
            </a:r>
          </a:p>
          <a:p>
            <a:pPr eaLnBrk="0">
              <a:lnSpc>
                <a:spcPts val="2437"/>
              </a:lnSpc>
              <a:spcBef>
                <a:spcPts val="0"/>
              </a:spcBef>
              <a:spcAft>
                <a:spcPts val="0"/>
              </a:spcAft>
            </a:pPr>
            <a:r>
              <a:rPr sz="1950" b="0">
                <a:solidFill>
                  <a:srgbClr val="62666C"/>
                </a:solidFill>
                <a:latin typeface="Noto Sans KR"/>
              </a:rPr>
              <a:t>예상 참여 7,488명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2,246명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3개월</a:t>
            </a:r>
          </a:p>
          <a:p>
            <a:pPr eaLnBrk="0">
              <a:lnSpc>
                <a:spcPts val="2062"/>
              </a:lnSpc>
              <a:spcBef>
                <a:spcPts val="0"/>
              </a:spcBef>
              <a:spcAft>
                <a:spcPts val="0"/>
              </a:spcAft>
            </a:pPr>
            <a:r>
              <a:rPr sz="1650" b="0">
                <a:solidFill>
                  <a:srgbClr val="62666C"/>
                </a:solidFill>
                <a:latin typeface="Noto Sans KR"/>
              </a:rPr>
              <a:t>× 하루 2회 × 회당 40명 = 11,520명분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2,246명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1.57억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3,615,450명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388명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3,595,082명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772명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3,371,879명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1,086명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10,582,411명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2,246명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2,246명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2,664만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5,138만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7,934만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4,450.76억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1.57억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1.57억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7,488명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65%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2,246명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715125"/>
            <a:ext cx="1809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 근거</a:t>
            </a:r>
          </a:p>
        </p:txBody>
      </p:sp>
      <p:sp>
        <p:nvSpPr>
          <p:cNvPr id="33" name="capacity-case-name">
            <a:hlinkClick r:id="rId6"/>
          </p:cNvPr>
          <p:cNvSpPr txBox="1"/>
          <p:nvPr/>
        </p:nvSpPr>
        <p:spPr>
          <a:xfrm>
            <a:off x="2809875" y="6715125"/>
            <a:ext cx="11410950" cy="5524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202124"/>
                </a:solidFill>
                <a:latin typeface="Noto Sans KR"/>
              </a:rPr>
              <a:t>2024년 문화재야행 사업 예산 확정자료</a:t>
            </a:r>
          </a:p>
        </p:txBody>
      </p:sp>
      <p:sp>
        <p:nvSpPr>
          <p:cNvPr id="34" name="capacity-scale-rule"/>
          <p:cNvSpPr txBox="1"/>
          <p:nvPr/>
        </p:nvSpPr>
        <p:spPr>
          <a:xfrm>
            <a:off x="1009650" y="73437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규모 규칙: √(월평균 방문 ÷ 10만)을 올림, 1~12개 거점으로 제안. 야간 문화·체험 운영일·회차·정원은 계획 가정.</a:t>
            </a:r>
          </a:p>
        </p:txBody>
      </p:sp>
      <p:sp>
        <p:nvSpPr>
          <p:cNvPr id="35" name="capacity-disclosure"/>
          <p:cNvSpPr txBox="1"/>
          <p:nvPr/>
        </p:nvSpPr>
        <p:spPr>
          <a:xfrm>
            <a:off x="1009650" y="790575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사례는 운영 방식을 참고했습니다. 이용률 65%·추가 방문 비중 30%는 이번 기획의 가정입니다. 확보 시설 수·인구 보정·실제 사업 효과를 뜻하지 않습니다.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50%·15% / 기준 65%·30% / 확대 80%·45%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