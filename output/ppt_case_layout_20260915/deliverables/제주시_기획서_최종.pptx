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p-date"/>
          <p:cNvSpPr txBox="1"/>
          <p:nvPr/>
        </p:nvSpPr>
        <p:spPr>
          <a:xfrm>
            <a:off x="12477750" y="7610475"/>
            <a:ext cx="1905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2026. 09. 15</a:t>
            </a:r>
          </a:p>
        </p:txBody>
      </p:sp>
      <p:sp xmlns:a="http://schemas.openxmlformats.org/drawingml/2006/main">
        <p:nvSpPr>
          <p:cNvPr id="8"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9"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10"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2"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3"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5"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6"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8"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9"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1"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2"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4"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5"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7"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8"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제주시 내 박물관, 공연장, 문화유산 등</a:t>
            </a:r>
          </a:p>
          <a:p>
            <a:pPr eaLnBrk="0">
              <a:lnSpc>
                <a:spcPts val="2156"/>
              </a:lnSpc>
              <a:spcBef>
                <a:spcPts val="0"/>
              </a:spcBef>
              <a:spcAft>
                <a:spcPts val="0"/>
              </a:spcAft>
            </a:pPr>
            <a:r>
              <a:rPr sz="1725" b="0">
                <a:solidFill>
                  <a:srgbClr val="62666C"/>
                </a:solidFill>
                <a:latin typeface="Noto Sans KR"/>
              </a:rPr>
              <a:t>기존 시설을 활용하여 야간 개방 및 체험</a:t>
            </a:r>
          </a:p>
          <a:p>
            <a:pPr eaLnBrk="0">
              <a:lnSpc>
                <a:spcPts val="2156"/>
              </a:lnSpc>
              <a:spcBef>
                <a:spcPts val="0"/>
              </a:spcBef>
              <a:spcAft>
                <a:spcPts val="0"/>
              </a:spcAft>
            </a:pPr>
            <a:r>
              <a:rPr sz="1725" b="0">
                <a:solidFill>
                  <a:srgbClr val="62666C"/>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 ~ 2026-12, 3개월</a:t>
            </a:r>
          </a:p>
          <a:p>
            <a:pPr eaLnBrk="0">
              <a:lnSpc>
                <a:spcPts val="2156"/>
              </a:lnSpc>
              <a:spcBef>
                <a:spcPts val="0"/>
              </a:spcBef>
              <a:spcAft>
                <a:spcPts val="0"/>
              </a:spcAft>
            </a:pPr>
            <a:r>
              <a:rPr sz="1725" b="0">
                <a:solidFill>
                  <a:srgbClr val="62666C"/>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3개월 월별 합계</a:t>
            </a:r>
          </a:p>
          <a:p>
            <a:pPr eaLnBrk="0">
              <a:lnSpc>
                <a:spcPts val="2156"/>
              </a:lnSpc>
              <a:spcBef>
                <a:spcPts val="0"/>
              </a:spcBef>
              <a:spcAft>
                <a:spcPts val="0"/>
              </a:spcAft>
            </a:pPr>
            <a:r>
              <a:rPr sz="1725" b="0">
                <a:solidFill>
                  <a:srgbClr val="62666C"/>
                </a:solidFill>
                <a:latin typeface="Noto Sans KR"/>
              </a:rPr>
              <a:t>방문자 1,093만 명</a:t>
            </a:r>
          </a:p>
          <a:p>
            <a:pPr eaLnBrk="0">
              <a:lnSpc>
                <a:spcPts val="2156"/>
              </a:lnSpc>
              <a:spcBef>
                <a:spcPts val="0"/>
              </a:spcBef>
              <a:spcAft>
                <a:spcPts val="0"/>
              </a:spcAft>
            </a:pPr>
            <a:r>
              <a:rPr sz="1725" b="0">
                <a:solidFill>
                  <a:srgbClr val="62666C"/>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000" b="0">
                <a:solidFill>
                  <a:srgbClr val="62666C"/>
                </a:solidFill>
                <a:latin typeface="Century Gothic"/>
                <a:ea typeface="맑은 고딕"/>
              </a:rPr>
              <a:t>04 / 15</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추가 방문 목표 348,601명 × 1%</a:t>
                      </a:r>
                    </a:p>
                    <a:p>
                      <a:pPr eaLnBrk="0">
                        <a:lnSpc>
                          <a:spcPct val="112000"/>
                        </a:lnSpc>
                        <a:spcBef>
                          <a:spcPts val="0"/>
                        </a:spcBef>
                        <a:spcAft>
                          <a:spcPts val="0"/>
                        </a:spcAft>
                      </a:pPr>
                      <a:r>
                        <a:rPr sz="1575" b="0">
                          <a:solidFill>
                            <a:srgbClr val="202124"/>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15</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15</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3,714,120명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119,810명 · 3.33%</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10,928,766명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348,601명 · 3.29%</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1,499.21억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48.36억 원 · 3.33%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4,597.31억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148.12억 원 · 3.33%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62666C"/>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62666C"/>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62666C"/>
                </a:solidFill>
                <a:latin typeface="Noto Sans KR"/>
              </a:rPr>
              <a:t>비율은 기획용 가정이며 실제 객단가·보장 효과가 아닙니다. 방문 합계는 월 간 중복을 포함합니다.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사례 실적</a:t>
            </a:r>
          </a:p>
        </p:txBody>
      </p:sp>
      <p:sp>
        <p:nvSpPr>
          <p:cNvPr id="4" name="result-title"/>
          <p:cNvSpPr txBox="1"/>
          <p:nvPr/>
        </p:nvSpPr>
        <p:spPr>
          <a:xfrm>
            <a:off x="1009650" y="16573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286000"/>
            <a:ext cx="13220700" cy="419100"/>
          </a:xfrm>
          <a:prstGeom prst="rect">
            <a:avLst/>
          </a:prstGeom>
          <a:noFill/>
        </p:spPr>
        <p:txBody>
          <a:bodyPr wrap="none" lIns="57150" rIns="57150" tIns="38100" bIns="38100" anchor="ctr">
            <a:noAutofit/>
          </a:bodyPr>
          <a:lstStyle/>
          <a:p>
            <a:pPr eaLnBrk="0" algn="ctr">
              <a:lnSpc>
                <a:spcPts val="2531"/>
              </a:lnSpc>
              <a:spcBef>
                <a:spcPts val="0"/>
              </a:spcBef>
              <a:spcAft>
                <a:spcPts val="0"/>
              </a:spcAft>
            </a:pPr>
            <a:r>
              <a:rPr sz="2025"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8" name="result-photo-source"/>
          <p:cNvSpPr txBox="1"/>
          <p:nvPr/>
        </p:nvSpPr>
        <p:spPr>
          <a:xfrm>
            <a:off x="1009650" y="65055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62666C"/>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62666C"/>
                </a:solidFill>
                <a:latin typeface="Noto Sans KR"/>
                <a:hlinkClick r:id="rId4"/>
              </a:rPr>
              <a:t>출처: 서울문화포털 · 2024 정동야행</a:t>
            </a:r>
          </a:p>
        </p:txBody>
      </p:sp>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max(월 20인일 × 3, 3,487건 ÷ 25건/인일 올림) = 140인일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콘텐츠·안내물 1식 × 500만원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7,187,000원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7,187만원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485775"/>
          </a:xfrm>
          <a:prstGeom prst="rect">
            <a:avLst/>
          </a:prstGeom>
          <a:noFill/>
        </p:spPr>
        <p:txBody>
          <a:bodyPr wrap="none" lIns="57150" rIns="57150" tIns="38100" bIns="38100" anchor="ctr">
            <a:noAutofit/>
          </a:bodyPr>
          <a:lstStyle/>
          <a:p>
            <a:pPr eaLnBrk="0" algn="ctr">
              <a:lnSpc>
                <a:spcPts val="2718"/>
              </a:lnSpc>
              <a:spcBef>
                <a:spcPts val="0"/>
              </a:spcBef>
              <a:spcAft>
                <a:spcPts val="0"/>
              </a:spcAft>
            </a:pPr>
            <a:r>
              <a:rPr sz="2175"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71475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사례의 운영 방식은 참고하되, 성장률을</a:t>
            </a:r>
          </a:p>
          <a:p>
            <a:pPr eaLnBrk="0">
              <a:lnSpc>
                <a:spcPts val="2437"/>
              </a:lnSpc>
              <a:spcBef>
                <a:spcPts val="0"/>
              </a:spcBef>
              <a:spcAft>
                <a:spcPts val="0"/>
              </a:spcAft>
            </a:pPr>
            <a:r>
              <a:rPr sz="1950" b="0">
                <a:solidFill>
                  <a:srgbClr val="62666C"/>
                </a:solidFill>
                <a:latin typeface="Noto Sans KR"/>
              </a:rPr>
              <a:t>그대로 옮기지 않고 초기 목표 5%를 채택했습니다.</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조정 가능한 최종월 목표 +5%</a:t>
            </a:r>
          </a:p>
        </p:txBody>
      </p:sp>
      <p:sp>
        <p:nvSpPr>
          <p:cNvPr id="10" name="kpi-step-explanation"/>
          <p:cNvSpPr txBox="1"/>
          <p:nvPr/>
        </p:nvSpPr>
        <p:spPr>
          <a:xfrm>
            <a:off x="1200150" y="655320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첫 달부터 마지막 달까지 목표율을</a:t>
            </a:r>
          </a:p>
          <a:p>
            <a:pPr eaLnBrk="0">
              <a:lnSpc>
                <a:spcPts val="2062"/>
              </a:lnSpc>
              <a:spcBef>
                <a:spcPts val="0"/>
              </a:spcBef>
              <a:spcAft>
                <a:spcPts val="0"/>
              </a:spcAft>
            </a:pPr>
            <a:r>
              <a:rPr sz="1650" b="0">
                <a:solidFill>
                  <a:srgbClr val="62666C"/>
                </a:solidFill>
                <a:latin typeface="Noto Sans KR"/>
              </a:rPr>
              <a:t>단계적으로 높여 3개월 추가 목표를 합산합니다.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348,601명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+3.29%</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148.12억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