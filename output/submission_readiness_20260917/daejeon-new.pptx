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71" r: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499.87226913</c:v>
                </c:pt>
                <c:pt idx="1">
                  <c:v>494.06340115</c:v>
                </c:pt>
                <c:pt idx="2">
                  <c:v>499.00662972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793.6433358</c:v>
                </c:pt>
                <c:pt idx="1">
                  <c:v>859.82720042</c:v>
                </c:pt>
                <c:pt idx="2">
                  <c:v>810.49112572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432.0</c:v>
                </c:pt>
                <c:pt idx="1">
                  <c:v>864.0</c:v>
                </c:pt>
                <c:pt idx="2">
                  <c:v>1555.0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2732.89</c:v>
                </c:pt>
                <c:pt idx="1">
                  <c:v>3089.35</c:v>
                </c:pt>
                <c:pt idx="2">
                  <c:v>4134.81</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-1.7604639348922424,</a:t>
            </a:r>
          </a:p>
          <a:p xmlns:a="http://schemas.openxmlformats.org/drawingml/2006/main">
            <a:r>
              <a:t>        "target_rank": 185,</a:t>
            </a:r>
          </a:p>
          <a:p xmlns:a="http://schemas.openxmlformats.org/drawingml/2006/main">
            <a:r>
              <a:t>        "target": [</a:t>
            </a:r>
          </a:p>
          <a:p xmlns:a="http://schemas.openxmlformats.org/drawingml/2006/main">
            <a:r>
              <a:t>          4998722.691314675,</a:t>
            </a:r>
          </a:p>
          <a:p xmlns:a="http://schemas.openxmlformats.org/drawingml/2006/main">
            <a:r>
              <a:t>          4940634.011520504,</a:t>
            </a:r>
          </a:p>
          <a:p xmlns:a="http://schemas.openxmlformats.org/drawingml/2006/main">
            <a:r>
              <a:t>          4990066.297164822</a:t>
            </a:r>
          </a:p>
          <a:p xmlns:a="http://schemas.openxmlformats.org/drawingml/2006/main">
            <a:r>
              <a:t>        ],</a:t>
            </a:r>
          </a:p>
          <a:p xmlns:a="http://schemas.openxmlformats.org/drawingml/2006/main">
            <a:r>
              <a:t>        "additional": 864.0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4.499008560408679,</a:t>
            </a:r>
          </a:p>
          <a:p xmlns:a="http://schemas.openxmlformats.org/drawingml/2006/main">
            <a:r>
              <a:t>        "target_rank": 60,</a:t>
            </a:r>
          </a:p>
          <a:p xmlns:a="http://schemas.openxmlformats.org/drawingml/2006/main">
            <a:r>
              <a:t>        "target": [</a:t>
            </a:r>
          </a:p>
          <a:p xmlns:a="http://schemas.openxmlformats.org/drawingml/2006/main">
            <a:r>
              <a:t>          79364333580.3343,</a:t>
            </a:r>
          </a:p>
          <a:p xmlns:a="http://schemas.openxmlformats.org/drawingml/2006/main">
            <a:r>
              <a:t>          85982720042.07286,</a:t>
            </a:r>
          </a:p>
          <a:p xmlns:a="http://schemas.openxmlformats.org/drawingml/2006/main">
            <a:r>
              <a:t>          81049112571.59283</a:t>
            </a:r>
          </a:p>
          <a:p xmlns:a="http://schemas.openxmlformats.org/drawingml/2006/main">
            <a:r>
              <a:t>        ],</a:t>
            </a:r>
          </a:p>
          <a:p xmlns:a="http://schemas.openxmlformats.org/drawingml/2006/main">
            <a:r>
              <a:t>        "additional": 30893524.0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"지표: ①적격 신청 건수(신청 완료 건수) ②인정 결제액 합계(취소 제외 인정 업종 결제액 합계) ③지급 상품권 재사용액(지급된 상품권으로 지역 내 재결제된 금액 합계) / 기준기간: 2026-10~2026-12 / 측정 주기: 월별 / 수집 방법: 카드 결제 및 영수증 증빙 데이터 / 수집 담당: 대전 서구 관광기획팀 / 비교 집단: 사업 미참여 외지인 / 성공 기준: 착수 전 확정할 기준선 대비 인정 결제액 증가율 달성",</a:t>
            </a:r>
          </a:p>
          <a:p xmlns:a="http://schemas.openxmlformats.org/drawingml/2006/main">
            <a:r>
              <a:t>    "title": "대전 서구 외지인 1박형 상권 결제 인증 지원 시범",</a:t>
            </a:r>
          </a:p>
          <a:p xmlns:a="http://schemas.openxmlformats.org/drawingml/2006/main">
            <a:r>
              <a:t>    "budget": "공공비용 = 적격 신청 건수 × min(인정 지출액 × 환급률, 건별 상한). (예: 적격 신청 500건, 건별 상한 20,000원, 환급률 20% 가정 시 10,000,000원 - 기획 가정/미확정 견적)",</a:t>
            </a:r>
          </a:p>
          <a:p xmlns:a="http://schemas.openxmlformats.org/drawingml/2006/main">
            <a:r>
              <a:t>    "evidence": "case:58c0694a3e85d8",</a:t>
            </a:r>
          </a:p>
          <a:p xmlns:a="http://schemas.openxmlformats.org/drawingml/2006/main">
            <a:r>
              <a:t>    "priority": 1,</a:t>
            </a:r>
          </a:p>
          <a:p xmlns:a="http://schemas.openxmlformats.org/drawingml/2006/main">
            <a:r>
              <a:t>    "solution": "외지인이 대전 서구 내 인정 업종(숙박·식음·체험) 중 2개 이상 업종을 결제하고 증빙을 제출하면, 건별 상한 내에서 지역 상품권 또는 후속결제 혜택을 지급함",</a:t>
            </a:r>
          </a:p>
          <a:p xmlns:a="http://schemas.openxmlformats.org/drawingml/2006/main">
            <a:r>
              <a:t>    "timeframe": "2026-10 ~ 2026-12, 3개월",</a:t>
            </a:r>
          </a:p>
          <a:p xmlns:a="http://schemas.openxmlformats.org/drawingml/2006/main">
            <a:r>
              <a:t>    "expected_effect": "계획 목표: 최종월 ML 전망 대비 방문 +0.01%, 소비 +0.02%. 운영 규모와 참여 가정으로 산정하며 실제 성과는 별도 집계합니다.",</a:t>
            </a:r>
          </a:p>
          <a:p xmlns:a="http://schemas.openxmlformats.org/drawingml/2006/main">
            <a:r>
              <a:t>    "problem_to_solve": "방문 목적의 불분명함과 낮은 숙박·체류 비중, 지역 상권 결제 연결 부족",</a:t>
            </a:r>
          </a:p>
          <a:p xmlns:a="http://schemas.openxmlformats.org/drawingml/2006/main">
            <a:r>
              <a:t>    "comparison_analysis": "강진 반값여행은 지출액 일부를 상품권으로 환급하여 재소비를 유도하나, 대전 서구는 광역시 자치구로서 업무·생활 방문이 섞일 수 있어 무차별 환급 대신 '복수 업종 결제' 조건을 통해 관광 목적의 체류를 유도함",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수혜 자격(외지인 판별 기준), 인정 업종 리스트, 최소 결제액을 확정하고 정산 체계를 구축함",</a:t>
            </a:r>
          </a:p>
          <a:p xmlns:a="http://schemas.openxmlformats.org/drawingml/2006/main">
            <a:r>
              <a:t>        "schedule": "2026-10",</a:t>
            </a:r>
          </a:p>
          <a:p xmlns:a="http://schemas.openxmlformats.org/drawingml/2006/main">
            <a:r>
              <a:t>        "deliverable": "사업 운영 지침 및 정산 시스템 설계안"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"지역 상권 담당자가 참여 업체(숙박·식음·체험)를 모집하고 영수증/카드 결제 인증 방식을 협의하여 확정함",</a:t>
            </a:r>
          </a:p>
          <a:p xmlns:a="http://schemas.openxmlformats.org/drawingml/2006/main">
            <a:r>
              <a:t>        "schedule": "2026-10",</a:t>
            </a:r>
          </a:p>
          <a:p xmlns:a="http://schemas.openxmlformats.org/drawingml/2006/main">
            <a:r>
              <a:t>        "deliverable": "참여 업체 명단 및 결제 인증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주간 단위로 신청 건수, 승인 현황, 결제 데이터를 집계하여 모니터링함",</a:t>
            </a:r>
          </a:p>
          <a:p xmlns:a="http://schemas.openxmlformats.org/drawingml/2006/main">
            <a:r>
              <a:t>        "schedule": "2026-11",</a:t>
            </a:r>
          </a:p>
          <a:p xmlns:a="http://schemas.openxmlformats.org/drawingml/2006/main">
            <a:r>
              <a:t>        "deliverable": "주간 신청·승인·결제 데이터 집계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적격 신청 건수, 인정 결제액, 상품권 재사용액을 분석함",</a:t>
            </a:r>
          </a:p>
          <a:p xmlns:a="http://schemas.openxmlformats.org/drawingml/2006/main">
            <a:r>
              <a:t>        "schedule": "2026-12",</a:t>
            </a:r>
          </a:p>
          <a:p xmlns:a="http://schemas.openxmlformats.org/drawingml/2006/main">
            <a:r>
              <a:t>        "deliverable": "성과 데이터 분석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효과성을 검토하고 차기 예산 규모 및 운영 방식을 조정함",</a:t>
            </a:r>
          </a:p>
          <a:p xmlns:a="http://schemas.openxmlformats.org/drawingml/2006/main">
            <a:r>
              <a:t>        "schedule": "2026-12",</a:t>
            </a:r>
          </a:p>
          <a:p xmlns:a="http://schemas.openxmlformats.org/drawingml/2006/main">
            <a:r>
              <a:t>        "deliverable": "최종 평가 및 차기 계획 수립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"dataset:30170:1",</a:t>
            </a:r>
          </a:p>
          <a:p xmlns:a="http://schemas.openxmlformats.org/drawingml/2006/main">
            <a:r>
              <a:t>      "dataset:30170:2"</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"강진 반값여행 운영예산·실제 방문팀·관광객 소비·상품권 재사용 실적",</a:t>
            </a:r>
          </a:p>
          <a:p xmlns:a="http://schemas.openxmlformats.org/drawingml/2006/main">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누구나 반값여행—증빙된 여행지출 일부를 모바일 강진사랑상품권으로 환급",</a:t>
            </a:r>
          </a:p>
          <a:p xmlns:a="http://schemas.openxmlformats.org/drawingml/2006/main">
            <a:r>
              <a:t>      "document_type": null,</a:t>
            </a:r>
          </a:p>
          <a:p xmlns:a="http://schemas.openxmlformats.org/drawingml/2006/main">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사업 결과 및 2026년 5월 19일까지의 누적 운영실적",</a:t>
            </a:r>
          </a:p>
          <a:p xmlns:a="http://schemas.openxmlformats.org/drawingml/2006/main">
            <a:r>
              <a:t>      "transfer_conditions": [</a:t>
            </a:r>
          </a:p>
          <a:p xmlns:a="http://schemas.openxmlformats.org/drawingml/2006/main">
            <a:r>
              <a:t>        "대전 서구 내 인정 업종, 최소 결제액, 외지인·숙박객 등 수혜 자격을 사전에 확정해야 한다.",</a:t>
            </a:r>
          </a:p>
          <a:p xmlns:a="http://schemas.openxmlformats.org/drawingml/2006/main">
            <a:r>
              <a:t>        "영수증·카드결제 확인, 중복신청 방지, 취소·환불 검증 및 상품권 지급 정산체계가 필요하다.",</a:t>
            </a:r>
          </a:p>
          <a:p xmlns:a="http://schemas.openxmlformats.org/drawingml/2006/main">
            <a:r>
              <a:t>        "대전 서구는 농촌형 인구감소지역과 달리 일상·업무 목적 방문이 섞일 수 있으므로 기존 방문객에 대한 무차별 환급보다 예약 프로그램 참여 및 복수 업종 결제를 조건으로 제한해야 한다.",</a:t>
            </a:r>
          </a:p>
          <a:p xmlns:a="http://schemas.openxmlformats.org/drawingml/2006/main">
            <a:r>
              <a:t>        "예산 미정 상태에서는 전면 50% 환급을 복제하지 말고 한도형 후속결제 혜택으로 축소 실증해야 한다.",</a:t>
            </a:r>
          </a:p>
          <a:p xmlns:a="http://schemas.openxmlformats.org/drawingml/2006/main">
            <a:r>
              <a:t>        "성과 측정 시 신청팀, 실제 방문팀, 인정 결제액, 지급액, 지급 상품권 재사용액을 분리해야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"팀",</a:t>
            </a:r>
          </a:p>
          <a:p xmlns:a="http://schemas.openxmlformats.org/drawingml/2006/main">
            <a:r>
              <a:t>          "quote": "이 가운데 1만6292팀이 실제 강진을 찾았다.",</a:t>
            </a:r>
          </a:p>
          <a:p xmlns:a="http://schemas.openxmlformats.org/drawingml/2006/main">
            <a:r>
              <a:t>          "scope": "program_participants",</a:t>
            </a:r>
          </a:p>
          <a:p xmlns:a="http://schemas.openxmlformats.org/drawingml/2006/main">
            <a:r>
              <a:t>          "value": 16292,</a:t>
            </a:r>
          </a:p>
          <a:p xmlns:a="http://schemas.openxmlformats.org/drawingml/2006/main">
            <a:r>
              <a:t>          "metric": "participants",</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"원",</a:t>
            </a:r>
          </a:p>
          <a:p xmlns:a="http://schemas.openxmlformats.org/drawingml/2006/main">
            <a:r>
              <a:t>          "quote": "관광객들의 지역 내 소비액은 총 49억7000만원에 달했고",</a:t>
            </a:r>
          </a:p>
          <a:p xmlns:a="http://schemas.openxmlformats.org/drawingml/2006/main">
            <a:r>
              <a:t>          "scope": "program_participants",</a:t>
            </a:r>
          </a:p>
          <a:p xmlns:a="http://schemas.openxmlformats.org/drawingml/2006/main">
            <a:r>
              <a:t>          "value": 4970000000,</a:t>
            </a:r>
          </a:p>
          <a:p xmlns:a="http://schemas.openxmlformats.org/drawingml/2006/main">
            <a:r>
              <a:t>          "metric": "participant_spending",</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"개 이상",</a:t>
            </a:r>
          </a:p>
          <a:p xmlns:a="http://schemas.openxmlformats.org/drawingml/2006/main">
            <a:r>
              <a:t>          "quote": "관내 업체 1,800개 이상이 반값 수혜를 입었다.",</a:t>
            </a:r>
          </a:p>
          <a:p xmlns:a="http://schemas.openxmlformats.org/drawingml/2006/main">
            <a:r>
              <a:t>          "scope": "beneficiary_local_businesses",</a:t>
            </a:r>
          </a:p>
          <a:p xmlns:a="http://schemas.openxmlformats.org/drawingml/2006/main">
            <a:r>
              <a:t>          "value": 1800,</a:t>
            </a:r>
          </a:p>
          <a:p xmlns:a="http://schemas.openxmlformats.org/drawingml/2006/main">
            <a:r>
              <a:t>          "metric": "sites",</a:t>
            </a:r>
          </a:p>
          <a:p xmlns:a="http://schemas.openxmlformats.org/drawingml/2006/main">
            <a:r>
              <a:t>          "period": "2024년 사업",</a:t>
            </a:r>
          </a:p>
          <a:p xmlns:a="http://schemas.openxmlformats.org/drawingml/2006/main">
            <a:r>
              <a:t>          "program_name": "강진 누구나 반값여행",</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"관광객 눈도장 찍힌 전주 문화재 야행, 상설화—왕과의 산책 16회 매진",</a:t>
            </a:r>
          </a:p>
          <a:p xmlns:a="http://schemas.openxmlformats.org/drawingml/2006/main">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"source_id": "case:8ddef7055c7e11",</a:t>
            </a:r>
          </a:p>
          <a:p xmlns:a="http://schemas.openxmlformats.org/drawingml/2006/main">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      "case_region": "전북특별자치도 전주시 한옥마을·경기전 일원",</a:t>
            </a:r>
          </a:p>
          <a:p xmlns:a="http://schemas.openxmlformats.org/drawingml/2006/main">
            <a:r>
              <a:t>      "source_type": "benchmark_case",</a:t>
            </a:r>
          </a:p>
          <a:p xmlns:a="http://schemas.openxmlformats.org/drawingml/2006/main">
            <a:r>
              <a:t>      "intervention": "왕과의 산책 및 전주 문화재 야행—예약형 야간 해설·공연 프로그램",</a:t>
            </a:r>
          </a:p>
          <a:p xmlns:a="http://schemas.openxmlformats.org/drawingml/2006/main">
            <a:r>
              <a:t>      "document_type": null,</a:t>
            </a:r>
          </a:p>
          <a:p xmlns:a="http://schemas.openxmlformats.org/drawingml/2006/main">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"cross_province_peer",</a:t>
            </a:r>
          </a:p>
          <a:p xmlns:a="http://schemas.openxmlformats.org/drawingml/2006/main">
            <a:r>
              <a:t>        "peer_region_code": "52110"</a:t>
            </a:r>
          </a:p>
          <a:p xmlns:a="http://schemas.openxmlformats.org/drawingml/2006/main">
            <a:r>
              <a:t>      },</a:t>
            </a:r>
          </a:p>
          <a:p xmlns:a="http://schemas.openxmlformats.org/drawingml/2006/main">
            <a:r>
              <a:t>      "measurement_period": "문화재 야행 해당 개최기간의 16회 운영실적; 재정정보는 2023~2024년",</a:t>
            </a:r>
          </a:p>
          <a:p xmlns:a="http://schemas.openxmlformats.org/drawingml/2006/main">
            <a:r>
              <a:t>      "transfer_conditions": [</a:t>
            </a:r>
          </a:p>
          <a:p xmlns:a="http://schemas.openxmlformats.org/drawingml/2006/main">
            <a:r>
              <a:t>        "대전 서구의 기존 공원·전시시설·공연장·상권 가운데 야간 개방과 해설이 가능한 장소를 우선 선정해야 한다.",</a:t>
            </a:r>
          </a:p>
          <a:p xmlns:a="http://schemas.openxmlformats.org/drawingml/2006/main">
            <a:r>
              <a:t>        "100분 내외의 해설·공연 조합을 그대로 복제하지 말고 시설 운영시간과 겨울철 기온에 맞춰 실내외 모듈로 재구성해야 한다.",</a:t>
            </a:r>
          </a:p>
          <a:p xmlns:a="http://schemas.openxmlformats.org/drawingml/2006/main">
            <a:r>
              <a:t>        "예약 단계에서 방문 목적과 거주지를 받고, 현장 QR 체크인으로 실제 참여를 기록해야 한다.",</a:t>
            </a:r>
          </a:p>
          <a:p xmlns:a="http://schemas.openxmlformats.org/drawingml/2006/main">
            <a:r>
              <a:t>        "프로그램 종료 후 지정 식음·쇼핑업소에서 사용할 수 있는 시간제 혜택을 연결해 결제 전환을 측정해야 한다.",</a:t>
            </a:r>
          </a:p>
          <a:p xmlns:a="http://schemas.openxmlformats.org/drawingml/2006/main">
            <a:r>
              <a:t>        "문화재 밀집지역인 전주와 달리 서구는 콘텐츠 거점이 분산될 수 있으므로 도보권 한 권역 또는 셔틀 연결이 가능한 소수 거점으로 축소해야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"회",</a:t>
            </a:r>
          </a:p>
          <a:p xmlns:a="http://schemas.openxmlformats.org/drawingml/2006/main">
            <a:r>
              <a:t>          "quote": "‘왕과의 산책’은 총 16회를 운영, 모두 매진",</a:t>
            </a:r>
          </a:p>
          <a:p xmlns:a="http://schemas.openxmlformats.org/drawingml/2006/main">
            <a:r>
              <a:t>          "scope": "program_sessions",</a:t>
            </a:r>
          </a:p>
          <a:p xmlns:a="http://schemas.openxmlformats.org/drawingml/2006/main">
            <a:r>
              <a:t>          "value": 16,</a:t>
            </a:r>
          </a:p>
          <a:p xmlns:a="http://schemas.openxmlformats.org/drawingml/2006/main">
            <a:r>
              <a:t>          "metric": "operating_days",</a:t>
            </a:r>
          </a:p>
          <a:p xmlns:a="http://schemas.openxmlformats.org/drawingml/2006/main">
            <a:r>
              <a:t>          "period": "전주 문화재 야행 해당 운영기간",</a:t>
            </a:r>
          </a:p>
          <a:p xmlns:a="http://schemas.openxmlformats.org/drawingml/2006/main">
            <a:r>
              <a:t>          "program_name": "왕과의 산책",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"2018년 공식 게시자료",</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"通했다, 인천시 섬 부흥책—도도하게 살아보기 중간 모객률과 숙박비 지원 구조",</a:t>
            </a:r>
          </a:p>
          <a:p xmlns:a="http://schemas.openxmlformats.org/drawingml/2006/main">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"source_id": "case:d7ea2cf5c00f66",</a:t>
            </a:r>
          </a:p>
          <a:p xmlns:a="http://schemas.openxmlformats.org/drawingml/2006/main">
            <a:r>
              <a:t>      "source_url": "https://www.incheon.go.kr/IC010205/view?beginDt=&amp;curPage=37&amp;endDt=&amp;repSeq=DOM_0000000005292518&amp;srchMainManagerDeptNm=&amp;srchRepContents=%EC%BB%A8%EC%84%A4%ED%8C%85&amp;srchRepTitle=",</a:t>
            </a:r>
          </a:p>
          <a:p xmlns:a="http://schemas.openxmlformats.org/drawingml/2006/main">
            <a:r>
              <a:t>      "case_region": "인천광역시 강화군·옹진군 섬 지역",</a:t>
            </a:r>
          </a:p>
          <a:p xmlns:a="http://schemas.openxmlformats.org/drawingml/2006/main">
            <a:r>
              <a:t>      "source_type": "benchmark_case",</a:t>
            </a:r>
          </a:p>
          <a:p xmlns:a="http://schemas.openxmlformats.org/drawingml/2006/main">
            <a:r>
              <a:t>      "intervention": "인천 섬 도도하게 살아보기—숙박·식사·주민체험 패키지 예약 및 참가비 지원",</a:t>
            </a:r>
          </a:p>
          <a:p xmlns:a="http://schemas.openxmlformats.org/drawingml/2006/main">
            <a:r>
              <a:t>      "document_type": null,</a:t>
            </a:r>
          </a:p>
          <a:p xmlns:a="http://schemas.openxmlformats.org/drawingml/2006/main">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7월 운영 개시 후 7월 31일까지의 중간 모객실적; 2024년 운영규모는 계획치",</a:t>
            </a:r>
          </a:p>
          <a:p xmlns:a="http://schemas.openxmlformats.org/drawingml/2006/main">
            <a:r>
              <a:t>      "transfer_conditions": [</a:t>
            </a:r>
          </a:p>
          <a:p xmlns:a="http://schemas.openxmlformats.org/drawingml/2006/main">
            <a:r>
              <a:t>        "서구에서는 섬 패키지를 복제하지 말고 숙박시설·저녁 체험·식음업소를 묶은 1박형 소규모 상품으로 변환해야 한다.",</a:t>
            </a:r>
          </a:p>
          <a:p xmlns:a="http://schemas.openxmlformats.org/drawingml/2006/main">
            <a:r>
              <a:t>        "숙박시설과 체험시설의 확정 재고를 공유하고 통합 예약 또는 예약코드를 운영해야 한다.",</a:t>
            </a:r>
          </a:p>
          <a:p xmlns:a="http://schemas.openxmlformats.org/drawingml/2006/main">
            <a:r>
              <a:t>        "할인 지급 기준은 예약이 아니라 실제 체크인·체험 완료로 설정해야 한다.",</a:t>
            </a:r>
          </a:p>
          <a:p xmlns:a="http://schemas.openxmlformats.org/drawingml/2006/main">
            <a:r>
              <a:t>        "10~12월 고정기간에 참여 가능한 숙소·야간시설·식음업소를 먼저 모집하고 회차별 총 정원을 확정해야 한다.",</a:t>
            </a:r>
          </a:p>
          <a:p xmlns:a="http://schemas.openxmlformats.org/drawingml/2006/main">
            <a:r>
              <a:t>        "대중교통 종료시간, 주차, 겨울철 야외 프로그램 대체공간을 현장 확인해야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"percent",</a:t>
            </a:r>
          </a:p>
          <a:p xmlns:a="http://schemas.openxmlformats.org/drawingml/2006/main">
            <a:r>
              <a:t>          "quote": "모객률은 33%(전체 목표 모객 700명 중 228명 모객)",</a:t>
            </a:r>
          </a:p>
          <a:p xmlns:a="http://schemas.openxmlformats.org/drawingml/2006/main">
            <a:r>
              <a:t>          "scope": "program_participants",</a:t>
            </a:r>
          </a:p>
          <a:p xmlns:a="http://schemas.openxmlformats.org/drawingml/2006/main">
            <a:r>
              <a:t>          "value": 33,</a:t>
            </a:r>
          </a:p>
          <a:p xmlns:a="http://schemas.openxmlformats.org/drawingml/2006/main">
            <a:r>
              <a:t>          "metric": "utilization_rate",</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"명 모객",</a:t>
            </a:r>
          </a:p>
          <a:p xmlns:a="http://schemas.openxmlformats.org/drawingml/2006/main">
            <a:r>
              <a:t>          "quote": "전체 목표 모객 700명 중 228명 모객",</a:t>
            </a:r>
          </a:p>
          <a:p xmlns:a="http://schemas.openxmlformats.org/drawingml/2006/main">
            <a:r>
              <a:t>          "scope": "program_participants",</a:t>
            </a:r>
          </a:p>
          <a:p xmlns:a="http://schemas.openxmlformats.org/drawingml/2006/main">
            <a:r>
              <a:t>          "value": 228,</a:t>
            </a:r>
          </a:p>
          <a:p xmlns:a="http://schemas.openxmlformats.org/drawingml/2006/main">
            <a:r>
              <a:t>          "metric": "participants",</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"개 섬",</a:t>
            </a:r>
          </a:p>
          <a:p xmlns:a="http://schemas.openxmlformats.org/drawingml/2006/main">
            <a:r>
              <a:t>          "quote": "인천 관내 21개 섬을 대상으로 하며",</a:t>
            </a:r>
          </a:p>
          <a:p xmlns:a="http://schemas.openxmlformats.org/drawingml/2006/main">
            <a:r>
              <a:t>          "scope": "program_area",</a:t>
            </a:r>
          </a:p>
          <a:p xmlns:a="http://schemas.openxmlformats.org/drawingml/2006/main">
            <a:r>
              <a:t>          "value": 21,</a:t>
            </a:r>
          </a:p>
          <a:p xmlns:a="http://schemas.openxmlformats.org/drawingml/2006/main">
            <a:r>
              <a:t>          "metric": "sites",</a:t>
            </a:r>
          </a:p>
          <a:p xmlns:a="http://schemas.openxmlformats.org/drawingml/2006/main">
            <a:r>
              <a:t>          "period": "2024년",</a:t>
            </a:r>
          </a:p>
          <a:p xmlns:a="http://schemas.openxmlformats.org/drawingml/2006/main">
            <a:r>
              <a:t>          "program_name": "인천 섬 도도하게 살아보기",</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"2022-08-07",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수혜 자격(외지인 판별 기준), 인정 업종 리스트, 최소 결제액을 확정하고 정산 체계를 구축함", "schedule": "2026-10", "deliverable": "사업 운영 지침 및 정산 시스템 설계안"}, {"step": 2, "task": "지역 상권 담당자가 참여 업체(숙박·식음·체험)를 모집하고 영수증/카드 결제 인증 방식을 협의하여 확정함", "schedule": "2026-10", "deliverable": "참여 업체 명단 및 결제 인증 매뉴얼"}, {"step": 3, "task": "운영팀이 주간 단위로 신청 건수, 승인 현황, 결제 데이터를 집계하여 모니터링함", "schedule": "2026-11", "deliverable": "주간 신청·승인·결제 데이터 집계 보고서"}, {"step": 4, "task": "데이터 분석 담당자가 적격 신청 건수, 인정 결제액, 상품권 재사용액을 분석함", "schedule": "2026-12", "deliverable": "성과 데이터 분석 결과 보고서"}, {"step": 5, "task": "기획팀이 사업 효과성을 검토하고 차기 예산 규모 및 운영 방식을 조정함", "schedule": "2026-12", "deliverable": "최종 평가 및 차기 계획 수립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14,929,423명 (추가 864명, +0.01%)\n관광소비액: 기준 246,365,272,670원 → 목표 246,396,166,194원 (추가 30,893,524원, +0.01%)\n준비월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않습니다.\n8개 × 월 8일 × 3개월 × 하루 1회 × 회당 20명 = 3,840명분 → 참여 목표 2,880건의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14929423.0,</a:t>
            </a:r>
          </a:p>
          <a:p>
            <a:r>
              <a:t>        "additional": 864.0,</a:t>
            </a:r>
          </a:p>
          <a:p>
            <a:r>
              <a:t>        "pct": 0.005787564626968944</a:t>
            </a:r>
          </a:p>
          <a:p>
            <a:r>
              <a:t>      },</a:t>
            </a:r>
          </a:p>
          <a:p>
            <a:r>
              <a:t>      {</a:t>
            </a:r>
          </a:p>
          <a:p>
            <a:r>
              <a:t>        "key": "spending",</a:t>
            </a:r>
          </a:p>
          <a:p>
            <a:r>
              <a:t>        "label": "관광소비액",</a:t>
            </a:r>
          </a:p>
          <a:p>
            <a:r>
              <a:t>        "unit": "원",</a:t>
            </a:r>
          </a:p>
          <a:p>
            <a:r>
              <a:t>        "baseline": 246365272670.0,</a:t>
            </a:r>
          </a:p>
          <a:p>
            <a:r>
              <a:t>        "target": 246396166194.0,</a:t>
            </a:r>
          </a:p>
          <a:p>
            <a:r>
              <a:t>        "additional": 30893524.0,</a:t>
            </a:r>
          </a:p>
          <a:p>
            <a:r>
              <a:t>        "pct": 0.012539723502902334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3,</a:t>
            </a:r>
          </a:p>
          <a:p>
            <a:r>
              <a:t>    "displayed_count": 3,</a:t>
            </a:r>
          </a:p>
          <a:p>
            <a:r>
              <a:t>    "primary":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"selection_reason": "C1은 대전 서구의 숙박비율 7.38%, 평균 숙박 2.85일, 소비/방문 비율 15,157원(집계 비율, 표본 일치 미검증)을 기반으로, 방문 목적·이용 전환·지역 상권 결제 연결을 확인하는 데 초점을 맞춘다. C2는 숙박 전환 동기를 강화하지만, 서구는 귀가가 쉬워 숙박 전환 동기가 더 약할 수 있다. C3는 야간 체류와 주변 문화시설·상가·숙박 이용을 연결하지만, 서구는 문화재 밀집지역이 아니므로 콘텐츠 거점이 분산될 수 있다. C1은 강진 반값여행의 2단계 결제 구조를 참고하되, 서구는 업무·생활 방문이 섞일 수 있어 무차별 환급이 아니라 예약 프로그램 참여 또는 복수 업종 결제를 조건으로 제한한다. 따라서 C1이 가장 적합하다.",</a:t>
            </a:r>
          </a:p>
          <a:p>
            <a:r>
              <a:t>    "target_explanation":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"대전광역시_서구/관광소비/2026_01_06.zip"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"대전광역시_서구/방문자/2026_01_06.zip"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"대전광역시_서구/숙박_체류시간/2026_01_06.zip"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59726.0,</a:t>
            </a:r>
          </a:p>
          <a:p xmlns:a="http://schemas.openxmlformats.org/drawingml/2006/main">
            <a:r>
              <a:t>            "total": 207498.0,</a:t>
            </a:r>
          </a:p>
          <a:p xmlns:a="http://schemas.openxmlformats.org/drawingml/2006/main">
            <a:r>
              <a:t>            "foreign": 1241.0,</a:t>
            </a:r>
          </a:p>
          <a:p xmlns:a="http://schemas.openxmlformats.org/drawingml/2006/main">
            <a:r>
              <a:t>            "outside": 146531.0,</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24575.0,</a:t>
            </a:r>
          </a:p>
          <a:p xmlns:a="http://schemas.openxmlformats.org/drawingml/2006/main">
            <a:r>
              <a:t>            "local": 64582.0,</a:t>
            </a:r>
          </a:p>
          <a:p xmlns:a="http://schemas.openxmlformats.org/drawingml/2006/main">
            <a:r>
              <a:t>            "total": 245750.0,</a:t>
            </a:r>
          </a:p>
          <a:p xmlns:a="http://schemas.openxmlformats.org/drawingml/2006/main">
            <a:r>
              <a:t>            "foreign": 1170.0,</a:t>
            </a:r>
          </a:p>
          <a:p xmlns:a="http://schemas.openxmlformats.org/drawingml/2006/main">
            <a:r>
              <a:t>            "outside": 179998.0,</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58704.0,</a:t>
            </a:r>
          </a:p>
          <a:p xmlns:a="http://schemas.openxmlformats.org/drawingml/2006/main">
            <a:r>
              <a:t>            "total": 256570.0,</a:t>
            </a:r>
          </a:p>
          <a:p xmlns:a="http://schemas.openxmlformats.org/drawingml/2006/main">
            <a:r>
              <a:t>            "foreign": 1166.0,</a:t>
            </a:r>
          </a:p>
          <a:p xmlns:a="http://schemas.openxmlformats.org/drawingml/2006/main">
            <a:r>
              <a:t>            "outside": 196700.0,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24575.0,</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256570.0,</a:t>
            </a:r>
          </a:p>
          <a:p xmlns:a="http://schemas.openxmlformats.org/drawingml/2006/main">
            <a:r>
              <a:t>            "before": 245750.0,</a:t>
            </a:r>
          </a:p>
          <a:p xmlns:a="http://schemas.openxmlformats.org/drawingml/2006/main">
            <a:r>
              <a:t>            "change_pct": 4.402848423194294,</a:t>
            </a:r>
          </a:p>
          <a:p xmlns:a="http://schemas.openxmlformats.org/drawingml/2006/main">
            <a:r>
              <a:t>            "difference": 10820.0</a:t>
            </a:r>
          </a:p>
          <a:p xmlns:a="http://schemas.openxmlformats.org/drawingml/2006/main">
            <a:r>
              <a:t>          },</a:t>
            </a:r>
          </a:p>
          <a:p xmlns:a="http://schemas.openxmlformats.org/drawingml/2006/main">
            <a:r>
              <a:t>          "outside": {</a:t>
            </a:r>
          </a:p>
          <a:p xmlns:a="http://schemas.openxmlformats.org/drawingml/2006/main">
            <a:r>
              <a:t>            "after": 196700.0,</a:t>
            </a:r>
          </a:p>
          <a:p xmlns:a="http://schemas.openxmlformats.org/drawingml/2006/main">
            <a:r>
              <a:t>            "before": 179998.0,</a:t>
            </a:r>
          </a:p>
          <a:p xmlns:a="http://schemas.openxmlformats.org/drawingml/2006/main">
            <a:r>
              <a:t>            "change_pct": 9.278991988799866,</a:t>
            </a:r>
          </a:p>
          <a:p xmlns:a="http://schemas.openxmlformats.org/drawingml/2006/main">
            <a:r>
              <a:t>            "difference": 16702.0</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안동탈춤축제 방문자 추이",</a:t>
            </a:r>
          </a:p>
          <a:p xmlns:a="http://schemas.openxmlformats.org/drawingml/2006/main">
            <a:r>
              <a:t>      "summary": "경상북도 안동시 · 안동탈춤축제 · 2024→2025년 전체 504,573→554,494명 (+9.89%). 개최 10→10일, 일평균 +9.89%, 외지인 +10.75%.",</a:t>
            </a:r>
          </a:p>
          <a:p xmlns:a="http://schemas.openxmlformats.org/drawingml/2006/main">
            <a:r>
              <a:t>      "source_id": "case:festival:0e9c7c065555b0",</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"안동탈춤축제",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504,573→554,494명 (+9.89%). 개최 10→10일, 일평균 +9.89%, 외지인 +10.75%.",</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233513.0,</a:t>
            </a:r>
          </a:p>
          <a:p xmlns:a="http://schemas.openxmlformats.org/drawingml/2006/main">
            <a:r>
              <a:t>            "total": 364137.0,</a:t>
            </a:r>
          </a:p>
          <a:p xmlns:a="http://schemas.openxmlformats.org/drawingml/2006/main">
            <a:r>
              <a:t>            "foreign": 3319.0,</a:t>
            </a:r>
          </a:p>
          <a:p xmlns:a="http://schemas.openxmlformats.org/drawingml/2006/main">
            <a:r>
              <a:t>            "outside": 127305.0,</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317925.0,</a:t>
            </a:r>
          </a:p>
          <a:p xmlns:a="http://schemas.openxmlformats.org/drawingml/2006/main">
            <a:r>
              <a:t>            "total": 504573.0,</a:t>
            </a:r>
          </a:p>
          <a:p xmlns:a="http://schemas.openxmlformats.org/drawingml/2006/main">
            <a:r>
              <a:t>            "foreign": 4684.0,</a:t>
            </a:r>
          </a:p>
          <a:p xmlns:a="http://schemas.openxmlformats.org/drawingml/2006/main">
            <a:r>
              <a:t>            "outside": 181964.0,</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347269.0,</a:t>
            </a:r>
          </a:p>
          <a:p xmlns:a="http://schemas.openxmlformats.org/drawingml/2006/main">
            <a:r>
              <a:t>            "total": 554494.0,</a:t>
            </a:r>
          </a:p>
          <a:p xmlns:a="http://schemas.openxmlformats.org/drawingml/2006/main">
            <a:r>
              <a:t>            "foreign": 5702.0,</a:t>
            </a:r>
          </a:p>
          <a:p xmlns:a="http://schemas.openxmlformats.org/drawingml/2006/main">
            <a:r>
              <a:t>            "outside": 201523.0,</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554494.0,</a:t>
            </a:r>
          </a:p>
          <a:p xmlns:a="http://schemas.openxmlformats.org/drawingml/2006/main">
            <a:r>
              <a:t>            "before": 504573.0,</a:t>
            </a:r>
          </a:p>
          <a:p xmlns:a="http://schemas.openxmlformats.org/drawingml/2006/main">
            <a:r>
              <a:t>            "change_pct": 9.893712109050613,</a:t>
            </a:r>
          </a:p>
          <a:p xmlns:a="http://schemas.openxmlformats.org/drawingml/2006/main">
            <a:r>
              <a:t>            "difference": 49921.0</a:t>
            </a:r>
          </a:p>
          <a:p xmlns:a="http://schemas.openxmlformats.org/drawingml/2006/main">
            <a:r>
              <a:t>          },</a:t>
            </a:r>
          </a:p>
          <a:p xmlns:a="http://schemas.openxmlformats.org/drawingml/2006/main">
            <a:r>
              <a:t>          "outside": {</a:t>
            </a:r>
          </a:p>
          <a:p xmlns:a="http://schemas.openxmlformats.org/drawingml/2006/main">
            <a:r>
              <a:t>            "after": 201523.0,</a:t>
            </a:r>
          </a:p>
          <a:p xmlns:a="http://schemas.openxmlformats.org/drawingml/2006/main">
            <a:r>
              <a:t>            "before": 181964.0,</a:t>
            </a:r>
          </a:p>
          <a:p xmlns:a="http://schemas.openxmlformats.org/drawingml/2006/main">
            <a:r>
              <a:t>            "change_pct": 10.748829438790096,</a:t>
            </a:r>
          </a:p>
          <a:p xmlns:a="http://schemas.openxmlformats.org/drawingml/2006/main">
            <a:r>
              <a:t>            "difference": 19559.0</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"관광객 눈도장 찍힌 전주 문화재 야행, 상설화—왕과의 산책 16회 매진",</a:t>
            </a:r>
          </a:p>
          <a:p xmlns:a="http://schemas.openxmlformats.org/drawingml/2006/main">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"source_id": "case:8ddef7055c7e11",</a:t>
            </a:r>
          </a:p>
          <a:p xmlns:a="http://schemas.openxmlformats.org/drawingml/2006/main">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      "case_region": "전북특별자치도 전주시 한옥마을·경기전 일원",</a:t>
            </a:r>
          </a:p>
          <a:p xmlns:a="http://schemas.openxmlformats.org/drawingml/2006/main">
            <a:r>
              <a:t>      "source_type": "benchmark_case",</a:t>
            </a:r>
          </a:p>
          <a:p xmlns:a="http://schemas.openxmlformats.org/drawingml/2006/main">
            <a:r>
              <a:t>      "intervention": "왕과의 산책 및 전주 문화재 야행—예약형 야간 해설·공연 프로그램",</a:t>
            </a:r>
          </a:p>
          <a:p xmlns:a="http://schemas.openxmlformats.org/drawingml/2006/main">
            <a:r>
              <a:t>      "document_type": null,</a:t>
            </a:r>
          </a:p>
          <a:p xmlns:a="http://schemas.openxmlformats.org/drawingml/2006/main">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"cross_province_peer",</a:t>
            </a:r>
          </a:p>
          <a:p xmlns:a="http://schemas.openxmlformats.org/drawingml/2006/main">
            <a:r>
              <a:t>        "peer_region_code": "52110"</a:t>
            </a:r>
          </a:p>
          <a:p xmlns:a="http://schemas.openxmlformats.org/drawingml/2006/main">
            <a:r>
              <a:t>      },</a:t>
            </a:r>
          </a:p>
          <a:p xmlns:a="http://schemas.openxmlformats.org/drawingml/2006/main">
            <a:r>
              <a:t>      "measurement_period": "문화재 야행 해당 개최기간의 16회 운영실적; 재정정보는 2023~2024년",</a:t>
            </a:r>
          </a:p>
          <a:p xmlns:a="http://schemas.openxmlformats.org/drawingml/2006/main">
            <a:r>
              <a:t>      "transfer_conditions": [</a:t>
            </a:r>
          </a:p>
          <a:p xmlns:a="http://schemas.openxmlformats.org/drawingml/2006/main">
            <a:r>
              <a:t>        "대전 서구의 기존 공원·전시시설·공연장·상권 가운데 야간 개방과 해설이 가능한 장소를 우선 선정해야 한다.",</a:t>
            </a:r>
          </a:p>
          <a:p xmlns:a="http://schemas.openxmlformats.org/drawingml/2006/main">
            <a:r>
              <a:t>        "100분 내외의 해설·공연 조합을 그대로 복제하지 말고 시설 운영시간과 겨울철 기온에 맞춰 실내외 모듈로 재구성해야 한다.",</a:t>
            </a:r>
          </a:p>
          <a:p xmlns:a="http://schemas.openxmlformats.org/drawingml/2006/main">
            <a:r>
              <a:t>        "예약 단계에서 방문 목적과 거주지를 받고, 현장 QR 체크인으로 실제 참여를 기록해야 한다.",</a:t>
            </a:r>
          </a:p>
          <a:p xmlns:a="http://schemas.openxmlformats.org/drawingml/2006/main">
            <a:r>
              <a:t>        "프로그램 종료 후 지정 식음·쇼핑업소에서 사용할 수 있는 시간제 혜택을 연결해 결제 전환을 측정해야 한다.",</a:t>
            </a:r>
          </a:p>
          <a:p xmlns:a="http://schemas.openxmlformats.org/drawingml/2006/main">
            <a:r>
              <a:t>        "문화재 밀집지역인 전주와 달리 서구는 콘텐츠 거점이 분산될 수 있으므로 도보권 한 권역 또는 셔틀 연결이 가능한 소수 거점으로 축소해야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"회",</a:t>
            </a:r>
          </a:p>
          <a:p xmlns:a="http://schemas.openxmlformats.org/drawingml/2006/main">
            <a:r>
              <a:t>          "quote": "‘왕과의 산책’은 총 16회를 운영, 모두 매진",</a:t>
            </a:r>
          </a:p>
          <a:p xmlns:a="http://schemas.openxmlformats.org/drawingml/2006/main">
            <a:r>
              <a:t>          "scope": "program_sessions",</a:t>
            </a:r>
          </a:p>
          <a:p xmlns:a="http://schemas.openxmlformats.org/drawingml/2006/main">
            <a:r>
              <a:t>          "value": 16,</a:t>
            </a:r>
          </a:p>
          <a:p xmlns:a="http://schemas.openxmlformats.org/drawingml/2006/main">
            <a:r>
              <a:t>          "metric": "operating_days",</a:t>
            </a:r>
          </a:p>
          <a:p xmlns:a="http://schemas.openxmlformats.org/drawingml/2006/main">
            <a:r>
              <a:t>          "period": "전주 문화재 야행 해당 운영기간",</a:t>
            </a:r>
          </a:p>
          <a:p xmlns:a="http://schemas.openxmlformats.org/drawingml/2006/main">
            <a:r>
              <a:t>          "program_name": "왕과의 산책",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"2018년 공식 게시자료",</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운영예산·실제 방문팀·관광객 소비·상품권 재사용 실적",</a:t>
            </a:r>
          </a:p>
          <a:p xmlns:a="http://schemas.openxmlformats.org/drawingml/2006/main">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누구나 반값여행—증빙된 여행지출 일부를 모바일 강진사랑상품권으로 환급",</a:t>
            </a:r>
          </a:p>
          <a:p xmlns:a="http://schemas.openxmlformats.org/drawingml/2006/main">
            <a:r>
              <a:t>      "document_type": null,</a:t>
            </a:r>
          </a:p>
          <a:p xmlns:a="http://schemas.openxmlformats.org/drawingml/2006/main">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사업 결과 및 2026년 5월 19일까지의 누적 운영실적",</a:t>
            </a:r>
          </a:p>
          <a:p xmlns:a="http://schemas.openxmlformats.org/drawingml/2006/main">
            <a:r>
              <a:t>      "transfer_conditions": [</a:t>
            </a:r>
          </a:p>
          <a:p xmlns:a="http://schemas.openxmlformats.org/drawingml/2006/main">
            <a:r>
              <a:t>        "대전 서구 내 인정 업종, 최소 결제액, 외지인·숙박객 등 수혜 자격을 사전에 확정해야 한다.",</a:t>
            </a:r>
          </a:p>
          <a:p xmlns:a="http://schemas.openxmlformats.org/drawingml/2006/main">
            <a:r>
              <a:t>        "영수증·카드결제 확인, 중복신청 방지, 취소·환불 검증 및 상품권 지급 정산체계가 필요하다.",</a:t>
            </a:r>
          </a:p>
          <a:p xmlns:a="http://schemas.openxmlformats.org/drawingml/2006/main">
            <a:r>
              <a:t>        "대전 서구는 농촌형 인구감소지역과 달리 일상·업무 목적 방문이 섞일 수 있으므로 기존 방문객에 대한 무차별 환급보다 예약 프로그램 참여 및 복수 업종 결제를 조건으로 제한해야 한다.",</a:t>
            </a:r>
          </a:p>
          <a:p xmlns:a="http://schemas.openxmlformats.org/drawingml/2006/main">
            <a:r>
              <a:t>        "예산 미정 상태에서는 전면 50% 환급을 복제하지 말고 한도형 후속결제 혜택으로 축소 실증해야 한다.",</a:t>
            </a:r>
          </a:p>
          <a:p xmlns:a="http://schemas.openxmlformats.org/drawingml/2006/main">
            <a:r>
              <a:t>        "성과 측정 시 신청팀, 실제 방문팀, 인정 결제액, 지급액, 지급 상품권 재사용액을 분리해야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"팀",</a:t>
            </a:r>
          </a:p>
          <a:p xmlns:a="http://schemas.openxmlformats.org/drawingml/2006/main">
            <a:r>
              <a:t>          "quote": "이 가운데 1만6292팀이 실제 강진을 찾았다.",</a:t>
            </a:r>
          </a:p>
          <a:p xmlns:a="http://schemas.openxmlformats.org/drawingml/2006/main">
            <a:r>
              <a:t>          "scope": "program_participants",</a:t>
            </a:r>
          </a:p>
          <a:p xmlns:a="http://schemas.openxmlformats.org/drawingml/2006/main">
            <a:r>
              <a:t>          "value": 16292,</a:t>
            </a:r>
          </a:p>
          <a:p xmlns:a="http://schemas.openxmlformats.org/drawingml/2006/main">
            <a:r>
              <a:t>          "metric": "participants",</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"원",</a:t>
            </a:r>
          </a:p>
          <a:p xmlns:a="http://schemas.openxmlformats.org/drawingml/2006/main">
            <a:r>
              <a:t>          "quote": "관광객들의 지역 내 소비액은 총 49억7000만원에 달했고",</a:t>
            </a:r>
          </a:p>
          <a:p xmlns:a="http://schemas.openxmlformats.org/drawingml/2006/main">
            <a:r>
              <a:t>          "scope": "program_participants",</a:t>
            </a:r>
          </a:p>
          <a:p xmlns:a="http://schemas.openxmlformats.org/drawingml/2006/main">
            <a:r>
              <a:t>          "value": 4970000000,</a:t>
            </a:r>
          </a:p>
          <a:p xmlns:a="http://schemas.openxmlformats.org/drawingml/2006/main">
            <a:r>
              <a:t>          "metric": "participant_spending",</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"개 이상",</a:t>
            </a:r>
          </a:p>
          <a:p xmlns:a="http://schemas.openxmlformats.org/drawingml/2006/main">
            <a:r>
              <a:t>          "quote": "관내 업체 1,800개 이상이 반값 수혜를 입었다.",</a:t>
            </a:r>
          </a:p>
          <a:p xmlns:a="http://schemas.openxmlformats.org/drawingml/2006/main">
            <a:r>
              <a:t>          "scope": "beneficiary_local_businesses",</a:t>
            </a:r>
          </a:p>
          <a:p xmlns:a="http://schemas.openxmlformats.org/drawingml/2006/main">
            <a:r>
              <a:t>          "value": 1800,</a:t>
            </a:r>
          </a:p>
          <a:p xmlns:a="http://schemas.openxmlformats.org/drawingml/2006/main">
            <a:r>
              <a:t>          "metric": "sites",</a:t>
            </a:r>
          </a:p>
          <a:p xmlns:a="http://schemas.openxmlformats.org/drawingml/2006/main">
            <a:r>
              <a:t>          "period": "2024년 사업",</a:t>
            </a:r>
          </a:p>
          <a:p xmlns:a="http://schemas.openxmlformats.org/drawingml/2006/main">
            <a:r>
              <a:t>          "program_name": "강진 누구나 반값여행",</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"通했다, 인천시 섬 부흥책—도도하게 살아보기 중간 모객률과 숙박비 지원 구조",</a:t>
            </a:r>
          </a:p>
          <a:p xmlns:a="http://schemas.openxmlformats.org/drawingml/2006/main">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"source_id": "case:d7ea2cf5c00f66",</a:t>
            </a:r>
          </a:p>
          <a:p xmlns:a="http://schemas.openxmlformats.org/drawingml/2006/main">
            <a:r>
              <a:t>      "source_url": "https://www.incheon.go.kr/IC010205/view?beginDt=&amp;curPage=37&amp;endDt=&amp;repSeq=DOM_0000000005292518&amp;srchMainManagerDeptNm=&amp;srchRepContents=%EC%BB%A8%EC%84%A4%ED%8C%85&amp;srchRepTitle=",</a:t>
            </a:r>
          </a:p>
          <a:p xmlns:a="http://schemas.openxmlformats.org/drawingml/2006/main">
            <a:r>
              <a:t>      "case_region": "인천광역시 강화군·옹진군 섬 지역",</a:t>
            </a:r>
          </a:p>
          <a:p xmlns:a="http://schemas.openxmlformats.org/drawingml/2006/main">
            <a:r>
              <a:t>      "source_type": "benchmark_case",</a:t>
            </a:r>
          </a:p>
          <a:p xmlns:a="http://schemas.openxmlformats.org/drawingml/2006/main">
            <a:r>
              <a:t>      "intervention": "인천 섬 도도하게 살아보기—숙박·식사·주민체험 패키지 예약 및 참가비 지원",</a:t>
            </a:r>
          </a:p>
          <a:p xmlns:a="http://schemas.openxmlformats.org/drawingml/2006/main">
            <a:r>
              <a:t>      "document_type": null,</a:t>
            </a:r>
          </a:p>
          <a:p xmlns:a="http://schemas.openxmlformats.org/drawingml/2006/main">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7월 운영 개시 후 7월 31일까지의 중간 모객실적; 2024년 운영규모는 계획치",</a:t>
            </a:r>
          </a:p>
          <a:p xmlns:a="http://schemas.openxmlformats.org/drawingml/2006/main">
            <a:r>
              <a:t>      "transfer_conditions": [</a:t>
            </a:r>
          </a:p>
          <a:p xmlns:a="http://schemas.openxmlformats.org/drawingml/2006/main">
            <a:r>
              <a:t>        "서구에서는 섬 패키지를 복제하지 말고 숙박시설·저녁 체험·식음업소를 묶은 1박형 소규모 상품으로 변환해야 한다.",</a:t>
            </a:r>
          </a:p>
          <a:p xmlns:a="http://schemas.openxmlformats.org/drawingml/2006/main">
            <a:r>
              <a:t>        "숙박시설과 체험시설의 확정 재고를 공유하고 통합 예약 또는 예약코드를 운영해야 한다.",</a:t>
            </a:r>
          </a:p>
          <a:p xmlns:a="http://schemas.openxmlformats.org/drawingml/2006/main">
            <a:r>
              <a:t>        "할인 지급 기준은 예약이 아니라 실제 체크인·체험 완료로 설정해야 한다.",</a:t>
            </a:r>
          </a:p>
          <a:p xmlns:a="http://schemas.openxmlformats.org/drawingml/2006/main">
            <a:r>
              <a:t>        "10~12월 고정기간에 참여 가능한 숙소·야간시설·식음업소를 먼저 모집하고 회차별 총 정원을 확정해야 한다.",</a:t>
            </a:r>
          </a:p>
          <a:p xmlns:a="http://schemas.openxmlformats.org/drawingml/2006/main">
            <a:r>
              <a:t>        "대중교통 종료시간, 주차, 겨울철 야외 프로그램 대체공간을 현장 확인해야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"percent",</a:t>
            </a:r>
          </a:p>
          <a:p xmlns:a="http://schemas.openxmlformats.org/drawingml/2006/main">
            <a:r>
              <a:t>          "quote": "모객률은 33%(전체 목표 모객 700명 중 228명 모객)",</a:t>
            </a:r>
          </a:p>
          <a:p xmlns:a="http://schemas.openxmlformats.org/drawingml/2006/main">
            <a:r>
              <a:t>          "scope": "program_participants",</a:t>
            </a:r>
          </a:p>
          <a:p xmlns:a="http://schemas.openxmlformats.org/drawingml/2006/main">
            <a:r>
              <a:t>          "value": 33,</a:t>
            </a:r>
          </a:p>
          <a:p xmlns:a="http://schemas.openxmlformats.org/drawingml/2006/main">
            <a:r>
              <a:t>          "metric": "utilization_rate",</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"명 모객",</a:t>
            </a:r>
          </a:p>
          <a:p xmlns:a="http://schemas.openxmlformats.org/drawingml/2006/main">
            <a:r>
              <a:t>          "quote": "전체 목표 모객 700명 중 228명 모객",</a:t>
            </a:r>
          </a:p>
          <a:p xmlns:a="http://schemas.openxmlformats.org/drawingml/2006/main">
            <a:r>
              <a:t>          "scope": "program_participants",</a:t>
            </a:r>
          </a:p>
          <a:p xmlns:a="http://schemas.openxmlformats.org/drawingml/2006/main">
            <a:r>
              <a:t>          "value": 228,</a:t>
            </a:r>
          </a:p>
          <a:p xmlns:a="http://schemas.openxmlformats.org/drawingml/2006/main">
            <a:r>
              <a:t>          "metric": "participants",</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"개 섬",</a:t>
            </a:r>
          </a:p>
          <a:p xmlns:a="http://schemas.openxmlformats.org/drawingml/2006/main">
            <a:r>
              <a:t>          "quote": "인천 관내 21개 섬을 대상으로 하며",</a:t>
            </a:r>
          </a:p>
          <a:p xmlns:a="http://schemas.openxmlformats.org/drawingml/2006/main">
            <a:r>
              <a:t>          "scope": "program_area",</a:t>
            </a:r>
          </a:p>
          <a:p xmlns:a="http://schemas.openxmlformats.org/drawingml/2006/main">
            <a:r>
              <a:t>          "value": 21,</a:t>
            </a:r>
          </a:p>
          <a:p xmlns:a="http://schemas.openxmlformats.org/drawingml/2006/main">
            <a:r>
              <a:t>          "metric": "sites",</a:t>
            </a:r>
          </a:p>
          <a:p xmlns:a="http://schemas.openxmlformats.org/drawingml/2006/main">
            <a:r>
              <a:t>          "period": "2024년",</a:t>
            </a:r>
          </a:p>
          <a:p xmlns:a="http://schemas.openxmlformats.org/drawingml/2006/main">
            <a:r>
              <a:t>          "program_name": "인천 섬 도도하게 살아보기",</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"2022-08-07",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"강남유닉투어 2022년 운영주기·회당 정원 및 청담명품거리 참여실적",</a:t>
            </a:r>
          </a:p>
          <a:p xmlns:a="http://schemas.openxmlformats.org/drawingml/2006/main">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xmlns:a="http://schemas.openxmlformats.org/drawingml/2006/main">
            <a:r>
              <a:t>      "source_id": "case:dd2dea35fef7a6",</a:t>
            </a:r>
          </a:p>
          <a:p xmlns:a="http://schemas.openxmlformats.org/drawingml/2006/main">
            <a:r>
              <a:t>      "source_url": "https://www.gangnam.go.kr/board/cardnews/780/view.do?mid=ID01_0306",</a:t>
            </a:r>
          </a:p>
          <a:p xmlns:a="http://schemas.openxmlformats.org/drawingml/2006/main">
            <a:r>
              <a:t>      "case_region": "서울특별시 강남구",</a:t>
            </a:r>
          </a:p>
          <a:p xmlns:a="http://schemas.openxmlformats.org/drawingml/2006/main">
            <a:r>
              <a:t>      "source_type": "benchmark_case",</a:t>
            </a:r>
          </a:p>
          <a:p xmlns:a="http://schemas.openxmlformats.org/drawingml/2006/main">
            <a:r>
              <a:t>      "intervention": "강남유닉투어—기존 명소·공공시설·민간 콘텐츠를 월별 테마 예약상품으로 운영",</a:t>
            </a:r>
          </a:p>
          <a:p xmlns:a="http://schemas.openxmlformats.org/drawingml/2006/main">
            <a:r>
              <a:t>      "document_type": null,</a:t>
            </a:r>
          </a:p>
          <a:p xmlns:a="http://schemas.openxmlformats.org/drawingml/2006/main">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xmlns:a="http://schemas.openxmlformats.org/drawingml/2006/main">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6월 개별 코스 참여실적; 2022년 5~11월 전체 운영계획",</a:t>
            </a:r>
          </a:p>
          <a:p xmlns:a="http://schemas.openxmlformats.org/drawingml/2006/main">
            <a:r>
              <a:t>      "transfer_conditions": [</a:t>
            </a:r>
          </a:p>
          <a:p xmlns:a="http://schemas.openxmlformats.org/drawingml/2006/main">
            <a:r>
              <a:t>        "대전 서구의 기존 시설을 대상으로 야간 개방시간, 외부인 예약 가능 여부, 체험 단가와 안전인력을 확인해야 한다.",</a:t>
            </a:r>
          </a:p>
          <a:p xmlns:a="http://schemas.openxmlformats.org/drawingml/2006/main">
            <a:r>
              <a:t>        "공공시설과 민간 체험처를 한 예약페이지 또는 통합 예약코드로 연결해야 한다.",</a:t>
            </a:r>
          </a:p>
          <a:p xmlns:a="http://schemas.openxmlformats.org/drawingml/2006/main">
            <a:r>
              <a:t>        "회차별 정원은 시설 수용력과 운영 인력을 기준으로 설정하고 실제 체크인과 취소를 기록해야 한다.",</a:t>
            </a:r>
          </a:p>
          <a:p xmlns:a="http://schemas.openxmlformats.org/drawingml/2006/main">
            <a:r>
              <a:t>        "프로그램 종료 지점을 상권 안에 배치하거나 참여자 전용 결제 혜택을 제공해 식음·쇼핑 전환을 측정해야 한다.",</a:t>
            </a:r>
          </a:p>
          <a:p xmlns:a="http://schemas.openxmlformats.org/drawingml/2006/main">
            <a:r>
              <a:t>        "외국인 대상 운영은 다국어 안내·결제·예약 취소 규정이 확보된 회차로 제한해야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"여명/회",</a:t>
            </a:r>
          </a:p>
          <a:p xmlns:a="http://schemas.openxmlformats.org/drawingml/2006/main">
            <a:r>
              <a:t>          "quote": "신청자를 포함해 회당 20여명이 참여했다.",</a:t>
            </a:r>
          </a:p>
          <a:p xmlns:a="http://schemas.openxmlformats.org/drawingml/2006/main">
            <a:r>
              <a:t>          "scope": "program_participants",</a:t>
            </a:r>
          </a:p>
          <a:p xmlns:a="http://schemas.openxmlformats.org/drawingml/2006/main">
            <a:r>
              <a:t>          "value": 20,</a:t>
            </a:r>
          </a:p>
          <a:p xmlns:a="http://schemas.openxmlformats.org/drawingml/2006/main">
            <a:r>
              <a:t>          "metric": "participants",</a:t>
            </a:r>
          </a:p>
          <a:p xmlns:a="http://schemas.openxmlformats.org/drawingml/2006/main">
            <a:r>
              <a:t>          "period": "2022년 6월 청담명품거리 코스",</a:t>
            </a:r>
          </a:p>
          <a:p xmlns:a="http://schemas.openxmlformats.org/drawingml/2006/main">
            <a:r>
              <a:t>          "program_name": "강남유닉투어 청담명품거리 코스",</a:t>
            </a:r>
          </a:p>
          <a:p xmlns:a="http://schemas.openxmlformats.org/drawingml/2006/main">
            <a:r>
              <a:t>          "capacity_count": 30,</a:t>
            </a:r>
          </a:p>
          <a:p xmlns:a="http://schemas.openxmlformats.org/drawingml/2006/main">
            <a:r>
              <a:t>          "participant_count": 20</a:t>
            </a:r>
          </a:p>
          <a:p xmlns:a="http://schemas.openxmlformats.org/drawingml/2006/main">
            <a:r>
              <a:t>        }</a:t>
            </a:r>
          </a:p>
          <a:p xmlns:a="http://schemas.openxmlformats.org/drawingml/2006/main">
            <a:r>
              <a:t>      ],</a:t>
            </a:r>
          </a:p>
          <a:p xmlns:a="http://schemas.openxmlformats.org/drawingml/2006/main">
            <a:r>
              <a:t>      "published_or_updated_at": "2022년",</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진도신비의바닷길축제 방문자 추이",</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"source_id": "case:festival:1ff9d11d3ee0ee",</a:t>
            </a:r>
          </a:p>
          <a:p xmlns:a="http://schemas.openxmlformats.org/drawingml/2006/main">
            <a:r>
              <a:t>      "source_url": "https://datalab.visitkorea.or.kr/",</a:t>
            </a:r>
          </a:p>
          <a:p xmlns:a="http://schemas.openxmlformats.org/drawingml/2006/main">
            <a:r>
              <a:t>      "case_region": "전라남도 진도군",</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"진도신비의바닷길축제",</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28,171→43,973명 (+56.09%). 개최 3→4일, 일평균 +17.07%, 외지인 +89.98%.",</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"자연·야외",</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"진도신비의바닷길축제",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12120.0,</a:t>
            </a:r>
          </a:p>
          <a:p xmlns:a="http://schemas.openxmlformats.org/drawingml/2006/main">
            <a:r>
              <a:t>            "total": 33556.0,</a:t>
            </a:r>
          </a:p>
          <a:p xmlns:a="http://schemas.openxmlformats.org/drawingml/2006/main">
            <a:r>
              <a:t>            "foreign": 278.0,</a:t>
            </a:r>
          </a:p>
          <a:p xmlns:a="http://schemas.openxmlformats.org/drawingml/2006/main">
            <a:r>
              <a:t>            "outside": 21158.0,</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13068.0,</a:t>
            </a:r>
          </a:p>
          <a:p xmlns:a="http://schemas.openxmlformats.org/drawingml/2006/main">
            <a:r>
              <a:t>            "total": 28171.0,</a:t>
            </a:r>
          </a:p>
          <a:p xmlns:a="http://schemas.openxmlformats.org/drawingml/2006/main">
            <a:r>
              <a:t>            "foreign": 223.0,</a:t>
            </a:r>
          </a:p>
          <a:p xmlns:a="http://schemas.openxmlformats.org/drawingml/2006/main">
            <a:r>
              <a:t>            "outside": 14880.0,</a:t>
            </a:r>
          </a:p>
          <a:p xmlns:a="http://schemas.openxmlformats.org/drawingml/2006/main">
            <a:r>
              <a:t>            "outside_daily": 4960.0,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15345.0,</a:t>
            </a:r>
          </a:p>
          <a:p xmlns:a="http://schemas.openxmlformats.org/drawingml/2006/main">
            <a:r>
              <a:t>            "total": 43973.0,</a:t>
            </a:r>
          </a:p>
          <a:p xmlns:a="http://schemas.openxmlformats.org/drawingml/2006/main">
            <a:r>
              <a:t>            "foreign": 359.0,</a:t>
            </a:r>
          </a:p>
          <a:p xmlns:a="http://schemas.openxmlformats.org/drawingml/2006/main">
            <a:r>
              <a:t>            "outside": 28269.0,</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43973.0,</a:t>
            </a:r>
          </a:p>
          <a:p xmlns:a="http://schemas.openxmlformats.org/drawingml/2006/main">
            <a:r>
              <a:t>            "before": 28171.0,</a:t>
            </a:r>
          </a:p>
          <a:p xmlns:a="http://schemas.openxmlformats.org/drawingml/2006/main">
            <a:r>
              <a:t>            "change_pct": 56.093145433246946,</a:t>
            </a:r>
          </a:p>
          <a:p xmlns:a="http://schemas.openxmlformats.org/drawingml/2006/main">
            <a:r>
              <a:t>            "difference": 15802.0</a:t>
            </a:r>
          </a:p>
          <a:p xmlns:a="http://schemas.openxmlformats.org/drawingml/2006/main">
            <a:r>
              <a:t>          },</a:t>
            </a:r>
          </a:p>
          <a:p xmlns:a="http://schemas.openxmlformats.org/drawingml/2006/main">
            <a:r>
              <a:t>          "outside": {</a:t>
            </a:r>
          </a:p>
          <a:p xmlns:a="http://schemas.openxmlformats.org/drawingml/2006/main">
            <a:r>
              <a:t>            "after": 28269.0,</a:t>
            </a:r>
          </a:p>
          <a:p xmlns:a="http://schemas.openxmlformats.org/drawingml/2006/main">
            <a:r>
              <a:t>            "before": 14880.0,</a:t>
            </a:r>
          </a:p>
          <a:p xmlns:a="http://schemas.openxmlformats.org/drawingml/2006/main">
            <a:r>
              <a:t>            "change_pct": 89.97983870967742,</a:t>
            </a:r>
          </a:p>
          <a:p xmlns:a="http://schemas.openxmlformats.org/drawingml/2006/main">
            <a:r>
              <a:t>            "difference": 13389.0</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"카테고리": "기타문화관광지",</a:t>
            </a:r>
          </a:p>
          <a:p xmlns:a="http://schemas.openxmlformats.org/drawingml/2006/main">
            <a:r>
              <a:t>            "도로명주소": "전남 진도군 신비의바닷길 74-0"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"카테고리": "테마공원",</a:t>
            </a:r>
          </a:p>
          <a:p xmlns:a="http://schemas.openxmlformats.org/drawingml/2006/main">
            <a:r>
              <a:t>            "도로명주소": "전남 진도군"</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"카테고리": "자연경관(하천/해양)",</a:t>
            </a:r>
          </a:p>
          <a:p xmlns:a="http://schemas.openxmlformats.org/drawingml/2006/main">
            <a:r>
              <a:t>            "도로명주소": "전남 진도군 신비의바닷길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211072.0,</a:t>
            </a:r>
          </a:p>
          <a:p xmlns:a="http://schemas.openxmlformats.org/drawingml/2006/main">
            <a:r>
              <a:t>            "selected": 332727.0,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97043.0,</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174799.0,</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1944140500.0,</a:t>
            </a:r>
          </a:p>
          <a:p xmlns:a="http://schemas.openxmlformats.org/drawingml/2006/main">
            <a:r>
              <a:t>            "selected": 3237755191.0,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52.0,</a:t>
            </a:r>
          </a:p>
          <a:p xmlns:a="http://schemas.openxmlformats.org/drawingml/2006/main">
            <a:r>
              <a:t>            "selected":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175.0,</a:t>
            </a:r>
          </a:p>
          <a:p xmlns:a="http://schemas.openxmlformats.org/drawingml/2006/main">
            <a:r>
              <a:t>            "selected":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779.0,</a:t>
            </a:r>
          </a:p>
          <a:p xmlns:a="http://schemas.openxmlformats.org/drawingml/2006/main">
            <a:r>
              <a:t>            "selected":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274.0,</a:t>
            </a:r>
          </a:p>
          <a:p xmlns:a="http://schemas.openxmlformats.org/drawingml/2006/main">
            <a:r>
              <a:t>            "selected":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9487.0,</a:t>
            </a:r>
          </a:p>
          <a:p xmlns:a="http://schemas.openxmlformats.org/drawingml/2006/main">
            <a:r>
              <a:t>            "selected": 20785.0,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14633.0,</a:t>
            </a:r>
          </a:p>
          <a:p xmlns:a="http://schemas.openxmlformats.org/drawingml/2006/main">
            <a:r>
              <a:t>            "selected": 18839.0,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0.008683948595446696,</a:t>
            </a:r>
          </a:p>
          <a:p xmlns:a="http://schemas.openxmlformats.org/drawingml/2006/main">
            <a:r>
              <a:t>    "spending_target_pct": 0.018745877292087664,</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"공공비용 = 적격 신청 건수 × min(인정 지출액 × 환급률, 건별 상한). (예: 적격 신청 500건, 건별 상한 20,000원, 환급률 20% 가정 시 10,000,000원 -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"공공비용 = 적격 신청 건수 × min(인정 지출액 × 환급률, 건별 상한). (예: 적격 신청 500건, 건별 상한 20,000원, 환급률 20% 가정 시 10,000,000원 -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"observed_findings": [</a:t>
            </a:r>
          </a:p>
          <a:p>
            <a:r>
              <a:t>    {</a:t>
            </a:r>
          </a:p>
          <a:p>
            <a:r>
              <a:t>      "value": "6.7%",</a:t>
            </a:r>
          </a:p>
          <a:p>
            <a:r>
              <a:t>      "metric": "외지인 숙박 방문 비율",</a:t>
            </a:r>
          </a:p>
          <a:p>
            <a:r>
              <a:t>      "source": "dataset:30170:4",</a:t>
            </a:r>
          </a:p>
          <a:p>
            <a:r>
              <a:t>      "interpretation": "2026-06 관측 기준, 방문객 규모 대비 숙박 비중이 매우 낮아 체류형 관광으로의 전환이 필요함"</a:t>
            </a:r>
          </a:p>
          <a:p>
            <a:r>
              <a:t>    },</a:t>
            </a:r>
          </a:p>
          <a:p>
            <a:r>
              <a:t>    {</a:t>
            </a:r>
          </a:p>
          <a:p>
            <a:r>
              <a:t>      "value": "쇼핑 43.0%, 식음료 39.7%, 숙박 0.6%",</a:t>
            </a:r>
          </a:p>
          <a:p>
            <a:r>
              <a:t>      "metric": "관광소비 업종별 비중",</a:t>
            </a:r>
          </a:p>
          <a:p>
            <a:r>
              <a:t>      "source": "dataset:30170:3",</a:t>
            </a:r>
          </a:p>
          <a:p>
            <a:r>
              <a:t>      "interpretation": "쇼핑과 식음료 중심의 소비 구조를 보이며, 숙박업의 소비 기여도가 극히 낮음"</a:t>
            </a:r>
          </a:p>
          <a:p>
            <a:r>
              <a:t>    },</a:t>
            </a:r>
          </a:p>
          <a:p>
            <a:r>
              <a:t>    {</a:t>
            </a:r>
          </a:p>
          <a:p>
            <a:r>
              <a:t>      "value": "방문자 -1.77% ~ 0.99%, 소비 +1.54% ~ 12.37%",</a:t>
            </a:r>
          </a:p>
          <a:p>
            <a:r>
              <a:t>      "metric": "ML 전망 (2026-10~12)",</a:t>
            </a:r>
          </a:p>
          <a:p>
            <a:r>
              <a:t>      "source": "ml:30170:regional-demand-v3.1:202606",</a:t>
            </a:r>
          </a:p>
          <a:p>
            <a:r>
              <a:t>      "interpretation": "방문자 수는 정체되거나 소폭 감소할 전망이나, 소비액은 증가하는 탐색적 추세임"</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14,929,423명 (추가 864명, +0.01%)\n관광소비액: 기준 246,365,272,670원 → 목표 246,396,166,194원 (추가 30,893,524원, +0.01%)\n준비월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않습니다.\n8개 × 월 8일 × 3개월 × 하루 1회 × 회당 20명 = 3,840명분 → 참여 목표 2,880건의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14929423.0,</a:t>
            </a:r>
          </a:p>
          <a:p>
            <a:r>
              <a:t>        "additional": 864.0,</a:t>
            </a:r>
          </a:p>
          <a:p>
            <a:r>
              <a:t>        "pct": 0.005787564626968944</a:t>
            </a:r>
          </a:p>
          <a:p>
            <a:r>
              <a:t>      },</a:t>
            </a:r>
          </a:p>
          <a:p>
            <a:r>
              <a:t>      {</a:t>
            </a:r>
          </a:p>
          <a:p>
            <a:r>
              <a:t>        "key": "spending",</a:t>
            </a:r>
          </a:p>
          <a:p>
            <a:r>
              <a:t>        "label": "관광소비액",</a:t>
            </a:r>
          </a:p>
          <a:p>
            <a:r>
              <a:t>        "unit": "원",</a:t>
            </a:r>
          </a:p>
          <a:p>
            <a:r>
              <a:t>        "baseline": 246365272670.0,</a:t>
            </a:r>
          </a:p>
          <a:p>
            <a:r>
              <a:t>        "target": 246396166194.0,</a:t>
            </a:r>
          </a:p>
          <a:p>
            <a:r>
              <a:t>        "additional": 30893524.0,</a:t>
            </a:r>
          </a:p>
          <a:p>
            <a:r>
              <a:t>        "pct": 0.012539723502902334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3,</a:t>
            </a:r>
          </a:p>
          <a:p>
            <a:r>
              <a:t>    "displayed_count": 3,</a:t>
            </a:r>
          </a:p>
          <a:p>
            <a:r>
              <a:t>    "primary":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"selection_reason": "C1은 대전 서구의 숙박비율 7.38%, 평균 숙박 2.85일, 소비/방문 비율 15,157원(집계 비율, 표본 일치 미검증)을 기반으로, 방문 목적·이용 전환·지역 상권 결제 연결을 확인하는 데 초점을 맞춘다. C2는 숙박 전환 동기를 강화하지만, 서구는 귀가가 쉬워 숙박 전환 동기가 더 약할 수 있다. C3는 야간 체류와 주변 문화시설·상가·숙박 이용을 연결하지만, 서구는 문화재 밀집지역이 아니므로 콘텐츠 거점이 분산될 수 있다. C1은 강진 반값여행의 2단계 결제 구조를 참고하되, 서구는 업무·생활 방문이 섞일 수 있어 무차별 환급이 아니라 예약 프로그램 참여 또는 복수 업종 결제를 조건으로 제한한다. 따라서 C1이 가장 적합하다.",</a:t>
            </a:r>
          </a:p>
          <a:p>
            <a:r>
              <a:t>    "target_explanation":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49280000,</a:t>
            </a:r>
          </a:p>
          <a:p>
            <a:r>
              <a:t>  "family": "stay_conversion",</a:t>
            </a:r>
          </a:p>
          <a:p>
            <a:r>
              <a:t>  "program_label": "체류 상품",</a:t>
            </a:r>
          </a:p>
          <a:p>
            <a:r>
              <a:t>  "site_label": "숙박·체험 묶음",</a:t>
            </a:r>
          </a:p>
          <a:p>
            <a:r>
              <a:t>  "months": 3,</a:t>
            </a:r>
          </a:p>
          <a:p>
            <a:r>
              <a:t>  "active_months": [</a:t>
            </a:r>
          </a:p>
          <a:p>
            <a:r>
              <a:t>    "202610",</a:t>
            </a:r>
          </a:p>
          <a:p>
            <a:r>
              <a:t>    "202611",</a:t>
            </a:r>
          </a:p>
          <a:p>
            <a:r>
              <a:t>    "202612"</a:t>
            </a:r>
          </a:p>
          <a:p>
            <a:r>
              <a:t>  ],</a:t>
            </a:r>
          </a:p>
          <a:p>
            <a:r>
              <a:t>  "monthly_weights": [</a:t>
            </a:r>
          </a:p>
          <a:p>
            <a:r>
              <a:t>    0.3333333333333333,</a:t>
            </a:r>
          </a:p>
          <a:p>
            <a:r>
              <a:t>    0.6666666666666666,</a:t>
            </a:r>
          </a:p>
          <a:p>
            <a:r>
              <a:t>    1.0</a:t>
            </a:r>
          </a:p>
          <a:p>
            <a:r>
              <a:t>  ],</a:t>
            </a:r>
          </a:p>
          <a:p>
            <a:r>
              <a:t>  "schedule_basis": "declared_business_window",</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1,</a:t>
            </a:r>
          </a:p>
          <a:p>
            <a:r>
              <a:t>  "capacity_per_session": 20,</a:t>
            </a:r>
          </a:p>
          <a:p>
            <a:r>
              <a:t>  "capacity": 3840,</a:t>
            </a:r>
          </a:p>
          <a:p>
            <a:r>
              <a:t>  "funded_capacity": 3840,</a:t>
            </a:r>
          </a:p>
          <a:p>
            <a:r>
              <a:t>  "scale_rule": "운영 거점 = ceil(√(월평균 ML 방문 전망 ÷ 100,000)), 최소 1·최대 12개",</a:t>
            </a:r>
          </a:p>
          <a:p>
            <a:r>
              <a:t>  "capacity_formula": "8개 × 월 8일 × 3개월 × 하루 1회 × 회당 20명 = 3,840명분",</a:t>
            </a:r>
          </a:p>
          <a:p>
            <a:r>
              <a:t>  "scale_kind": "planning_rule_not_population_model",</a:t>
            </a:r>
          </a:p>
          <a:p>
            <a:r>
              <a:t>  "spending_per_visit_proxy_krw": 16502.9506645618,</a:t>
            </a:r>
          </a:p>
          <a:p>
            <a:r>
              <a:t>  "program_purchase_krw": 16502.9506645618,</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2880,</a:t>
            </a:r>
          </a:p>
          <a:p>
            <a:r>
              <a:t>      "additional_visitors": 432,</a:t>
            </a:r>
          </a:p>
          <a:p>
            <a:r>
              <a:t>      "additional_spending_krw": 27328886,</a:t>
            </a:r>
          </a:p>
          <a:p>
            <a:r>
              <a:t>      "participant_purchases_krw": 47528498,</a:t>
            </a:r>
          </a:p>
          <a:p>
            <a:r>
              <a:t>      "expected_support_krw": 86400000,</a:t>
            </a:r>
          </a:p>
          <a:p>
            <a:r>
              <a:t>      "expected_budget_krw": 144320000,</a:t>
            </a:r>
          </a:p>
          <a:p>
            <a:r>
              <a:t>      "visitor_growth_pct": 0.0028937823134838397,</a:t>
            </a:r>
          </a:p>
          <a:p>
            <a:r>
              <a:t>      "spending_growth_pct": 0.011092832079708874,</a:t>
            </a:r>
          </a:p>
          <a:p>
            <a:r>
              <a:t>      "visitor_target_pct": 0.004341974297723348,</a:t>
            </a:r>
          </a:p>
          <a:p>
            <a:r>
              <a:t>      "spending_target_pct": 0.016582891077283786</a:t>
            </a:r>
          </a:p>
          <a:p>
            <a:r>
              <a:t>    },</a:t>
            </a:r>
          </a:p>
          <a:p>
            <a:r>
              <a:t>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a:t>
            </a:r>
          </a:p>
          <a:p>
            <a:r>
              <a:t>      "label": "확대",</a:t>
            </a:r>
          </a:p>
          <a:p>
            <a:r>
              <a:t>      "utilization_pct": 90.0,</a:t>
            </a:r>
          </a:p>
          <a:p>
            <a:r>
              <a:t>      "additional_visitor_share_pct": 44.99999999999999,</a:t>
            </a:r>
          </a:p>
          <a:p>
            <a:r>
              <a:t>      "participants": 3456,</a:t>
            </a:r>
          </a:p>
          <a:p>
            <a:r>
              <a:t>      "additional_visitors": 1555,</a:t>
            </a:r>
          </a:p>
          <a:p>
            <a:r>
              <a:t>      "additional_spending_krw": 41348143,</a:t>
            </a:r>
          </a:p>
          <a:p>
            <a:r>
              <a:t>      "participant_purchases_krw": 57034197,</a:t>
            </a:r>
          </a:p>
          <a:p>
            <a:r>
              <a:t>      "expected_support_krw": 103680000,</a:t>
            </a:r>
          </a:p>
          <a:p>
            <a:r>
              <a:t>      "expected_budget_krw": 163328000,</a:t>
            </a:r>
          </a:p>
          <a:p>
            <a:r>
              <a:t>      "visitor_growth_pct": 0.010416276614507804,</a:t>
            </a:r>
          </a:p>
          <a:p>
            <a:r>
              <a:t>      "spending_growth_pct": 0.016783267605814226,</a:t>
            </a:r>
          </a:p>
          <a:p>
            <a:r>
              <a:t>      "visitor_target_pct": 0.01562909729851807,</a:t>
            </a:r>
          </a:p>
          <a:p>
            <a:r>
              <a:t>      "spending_target_pct": 0.02508963415548493</a:t>
            </a:r>
          </a:p>
          <a:p>
            <a:r>
              <a:t>    }</a:t>
            </a:r>
          </a:p>
          <a:p>
            <a:r>
              <a:t>  ],</a:t>
            </a:r>
          </a:p>
          <a:p>
            <a:r>
              <a:t>  "central":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"강진 반값여행 운영예산·실제 방문팀·관광객 소비·상품권 재사용 실적",</a:t>
            </a:r>
          </a:p>
          <a:p>
            <a:r>
              <a:t>      "source_url": "https://jnfarm.jeonnam.go.kr/board/FARM_BOARD_008/boardView.do?bdId=BD_00000000000015383&amp;menuCd=farm004002",</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a:t>
            </a:r>
          </a:p>
          <a:p>
            <a:r>
              <a:t>  ],</a:t>
            </a:r>
          </a:p>
          <a:p>
            <a:r>
              <a:t>  "explanation":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"2026-10~2026-12",</a:t>
            </a:r>
          </a:p>
          <a:p>
            <a:r>
              <a:t>  "schedule_note":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49280000,</a:t>
            </a:r>
          </a:p>
          <a:p>
            <a:r>
              <a:t>  "family": "stay_conversion",</a:t>
            </a:r>
          </a:p>
          <a:p>
            <a:r>
              <a:t>  "program_label": "체류 상품",</a:t>
            </a:r>
          </a:p>
          <a:p>
            <a:r>
              <a:t>  "site_label": "숙박·체험 묶음",</a:t>
            </a:r>
          </a:p>
          <a:p>
            <a:r>
              <a:t>  "months": 3,</a:t>
            </a:r>
          </a:p>
          <a:p>
            <a:r>
              <a:t>  "active_months": [</a:t>
            </a:r>
          </a:p>
          <a:p>
            <a:r>
              <a:t>    "202610",</a:t>
            </a:r>
          </a:p>
          <a:p>
            <a:r>
              <a:t>    "202611",</a:t>
            </a:r>
          </a:p>
          <a:p>
            <a:r>
              <a:t>    "202612"</a:t>
            </a:r>
          </a:p>
          <a:p>
            <a:r>
              <a:t>  ],</a:t>
            </a:r>
          </a:p>
          <a:p>
            <a:r>
              <a:t>  "monthly_weights": [</a:t>
            </a:r>
          </a:p>
          <a:p>
            <a:r>
              <a:t>    0.3333333333333333,</a:t>
            </a:r>
          </a:p>
          <a:p>
            <a:r>
              <a:t>    0.6666666666666666,</a:t>
            </a:r>
          </a:p>
          <a:p>
            <a:r>
              <a:t>    1.0</a:t>
            </a:r>
          </a:p>
          <a:p>
            <a:r>
              <a:t>  ],</a:t>
            </a:r>
          </a:p>
          <a:p>
            <a:r>
              <a:t>  "schedule_basis": "declared_business_window",</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1,</a:t>
            </a:r>
          </a:p>
          <a:p>
            <a:r>
              <a:t>  "capacity_per_session": 20,</a:t>
            </a:r>
          </a:p>
          <a:p>
            <a:r>
              <a:t>  "capacity": 3840,</a:t>
            </a:r>
          </a:p>
          <a:p>
            <a:r>
              <a:t>  "funded_capacity": 3840,</a:t>
            </a:r>
          </a:p>
          <a:p>
            <a:r>
              <a:t>  "scale_rule": "운영 거점 = ceil(√(월평균 ML 방문 전망 ÷ 100,000)), 최소 1·최대 12개",</a:t>
            </a:r>
          </a:p>
          <a:p>
            <a:r>
              <a:t>  "capacity_formula": "8개 × 월 8일 × 3개월 × 하루 1회 × 회당 20명 = 3,840명분",</a:t>
            </a:r>
          </a:p>
          <a:p>
            <a:r>
              <a:t>  "scale_kind": "planning_rule_not_population_model",</a:t>
            </a:r>
          </a:p>
          <a:p>
            <a:r>
              <a:t>  "spending_per_visit_proxy_krw": 16502.9506645618,</a:t>
            </a:r>
          </a:p>
          <a:p>
            <a:r>
              <a:t>  "program_purchase_krw": 16502.9506645618,</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2880,</a:t>
            </a:r>
          </a:p>
          <a:p>
            <a:r>
              <a:t>      "additional_visitors": 432,</a:t>
            </a:r>
          </a:p>
          <a:p>
            <a:r>
              <a:t>      "additional_spending_krw": 27328886,</a:t>
            </a:r>
          </a:p>
          <a:p>
            <a:r>
              <a:t>      "participant_purchases_krw": 47528498,</a:t>
            </a:r>
          </a:p>
          <a:p>
            <a:r>
              <a:t>      "expected_support_krw": 86400000,</a:t>
            </a:r>
          </a:p>
          <a:p>
            <a:r>
              <a:t>      "expected_budget_krw": 144320000,</a:t>
            </a:r>
          </a:p>
          <a:p>
            <a:r>
              <a:t>      "visitor_growth_pct": 0.0028937823134838397,</a:t>
            </a:r>
          </a:p>
          <a:p>
            <a:r>
              <a:t>      "spending_growth_pct": 0.011092832079708874,</a:t>
            </a:r>
          </a:p>
          <a:p>
            <a:r>
              <a:t>      "visitor_target_pct": 0.004341974297723348,</a:t>
            </a:r>
          </a:p>
          <a:p>
            <a:r>
              <a:t>      "spending_target_pct": 0.016582891077283786</a:t>
            </a:r>
          </a:p>
          <a:p>
            <a:r>
              <a:t>    },</a:t>
            </a:r>
          </a:p>
          <a:p>
            <a:r>
              <a:t>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a:t>
            </a:r>
          </a:p>
          <a:p>
            <a:r>
              <a:t>      "label": "확대",</a:t>
            </a:r>
          </a:p>
          <a:p>
            <a:r>
              <a:t>      "utilization_pct": 90.0,</a:t>
            </a:r>
          </a:p>
          <a:p>
            <a:r>
              <a:t>      "additional_visitor_share_pct": 44.99999999999999,</a:t>
            </a:r>
          </a:p>
          <a:p>
            <a:r>
              <a:t>      "participants": 3456,</a:t>
            </a:r>
          </a:p>
          <a:p>
            <a:r>
              <a:t>      "additional_visitors": 1555,</a:t>
            </a:r>
          </a:p>
          <a:p>
            <a:r>
              <a:t>      "additional_spending_krw": 41348143,</a:t>
            </a:r>
          </a:p>
          <a:p>
            <a:r>
              <a:t>      "participant_purchases_krw": 57034197,</a:t>
            </a:r>
          </a:p>
          <a:p>
            <a:r>
              <a:t>      "expected_support_krw": 103680000,</a:t>
            </a:r>
          </a:p>
          <a:p>
            <a:r>
              <a:t>      "expected_budget_krw": 163328000,</a:t>
            </a:r>
          </a:p>
          <a:p>
            <a:r>
              <a:t>      "visitor_growth_pct": 0.010416276614507804,</a:t>
            </a:r>
          </a:p>
          <a:p>
            <a:r>
              <a:t>      "spending_growth_pct": 0.016783267605814226,</a:t>
            </a:r>
          </a:p>
          <a:p>
            <a:r>
              <a:t>      "visitor_target_pct": 0.01562909729851807,</a:t>
            </a:r>
          </a:p>
          <a:p>
            <a:r>
              <a:t>      "spending_target_pct": 0.02508963415548493</a:t>
            </a:r>
          </a:p>
          <a:p>
            <a:r>
              <a:t>    }</a:t>
            </a:r>
          </a:p>
          <a:p>
            <a:r>
              <a:t>  ],</a:t>
            </a:r>
          </a:p>
          <a:p>
            <a:r>
              <a:t>  "central":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"강진 반값여행 운영예산·실제 방문팀·관광객 소비·상품권 재사용 실적",</a:t>
            </a:r>
          </a:p>
          <a:p>
            <a:r>
              <a:t>      "source_url": "https://jnfarm.jeonnam.go.kr/board/FARM_BOARD_008/boardView.do?bdId=BD_00000000000015383&amp;menuCd=farm004002",</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a:t>
            </a:r>
          </a:p>
          <a:p>
            <a:r>
              <a:t>  ],</a:t>
            </a:r>
          </a:p>
          <a:p>
            <a:r>
              <a:t>  "explanation":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"2026-10~2026-12",</a:t>
            </a:r>
          </a:p>
          <a:p>
            <a:r>
              <a:t>  "schedule_note":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www.korean-culture.org/koreanet/view.do?seq=1047457" TargetMode="External"/><Relationship Id="rId9" Type="http://schemas.openxmlformats.org/officeDocument/2006/relationships/hyperlink" Target="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www.incheon.go.kr/IC010205/view?beginDt=&amp;curPage=37&amp;endDt=&amp;repSeq=DOM_0000000005292518&amp;srchMainManagerDeptNm=&amp;srchRepContents=%EC%BB%A8%EC%84%A4%ED%8C%85&amp;srchRepTit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5383&amp;menuCd=farm004002"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4.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5.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 TargetMode="External"/><Relationship Id="rId4" Type="http://schemas.openxmlformats.org/officeDocument/2006/relationships/hyperlink" Target="https://jnfarm.jeonnam.go.kr/board/FARM_BOARD_008/boardView.do?bdId=BD_00000000000015383&amp;menuCd=farm004002" TargetMode="External"/><Relationship Id="rId5" Type="http://schemas.openxmlformats.org/officeDocument/2006/relationships/hyperlink" Target="https://www.incheon.go.kr/IC010205/view?beginDt=&amp;curPage=37&amp;endDt=&amp;repSeq=DOM_0000000005292518&amp;srchMainManagerDeptNm=&amp;srchRepContents=%EC%BB%A8%EC%84%A4%ED%8C%85&amp;srchRepTitle=" TargetMode="External"/><Relationship Id="rId6" Type="http://schemas.openxmlformats.org/officeDocument/2006/relationships/hyperlink" Target="https://www.gangnam.go.kr/board/cardnews/780/view.do?mid=ID01_0306"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hyperlink" Target="https://apis.data.go.kr/B551011/KorService2" TargetMode="External"/><Relationship Id="rId9"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외지인 1박형 상권 결제 인증</a:t>
            </a:r>
          </a:p>
          <a:p>
            <a:pPr eaLnBrk="0">
              <a:lnSpc>
                <a:spcPts val="4031"/>
              </a:lnSpc>
              <a:spcBef>
                <a:spcPts val="0"/>
              </a:spcBef>
              <a:spcAft>
                <a:spcPts val="0"/>
              </a:spcAft>
            </a:pPr>
            <a:r>
              <a:rPr sz="3225" b="1">
                <a:solidFill>
                  <a:srgbClr val="FFFFFF"/>
                </a:solidFill>
                <a:latin typeface="Noto Sans KR"/>
              </a:rPr>
              <a:t>지원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누구나</a:t>
            </a:r>
          </a:p>
          <a:p>
            <a:pPr eaLnBrk="0">
              <a:lnSpc>
                <a:spcPts val="2125"/>
              </a:lnSpc>
              <a:spcBef>
                <a:spcPts val="0"/>
              </a:spcBef>
              <a:spcAft>
                <a:spcPts val="0"/>
              </a:spcAft>
            </a:pPr>
            <a:r>
              <a:rPr sz="1700" b="1">
                <a:solidFill>
                  <a:srgbClr val="202124"/>
                </a:solidFill>
                <a:latin typeface="Century Gothic"/>
                <a:ea typeface="맑은 고딕"/>
              </a:rPr>
              <a:t>반값여행—증빙된 여행지출 일부를</a:t>
            </a:r>
          </a:p>
          <a:p>
            <a:pPr eaLnBrk="0">
              <a:lnSpc>
                <a:spcPts val="2125"/>
              </a:lnSpc>
              <a:spcBef>
                <a:spcPts val="0"/>
              </a:spcBef>
              <a:spcAft>
                <a:spcPts val="0"/>
              </a:spcAft>
            </a:pPr>
            <a:r>
              <a:rPr sz="1700" b="1">
                <a:solidFill>
                  <a:srgbClr val="202124"/>
                </a:solidFill>
                <a:latin typeface="Century Gothic"/>
                <a:ea typeface="맑은 고딕"/>
              </a:rPr>
              <a:t>모바일 강진사랑상품권으로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62666C"/>
                </a:solidFill>
                <a:latin typeface="Century Gothic"/>
                <a:ea typeface="맑은 고딕"/>
              </a:rPr>
              <a:t>관광객이 지역에서 지출한 여행비의 최대 50%, 최대</a:t>
            </a:r>
          </a:p>
          <a:p>
            <a:pPr eaLnBrk="0">
              <a:lnSpc>
                <a:spcPts val="1406"/>
              </a:lnSpc>
              <a:spcBef>
                <a:spcPts val="0"/>
              </a:spcBef>
              <a:spcAft>
                <a:spcPts val="0"/>
              </a:spcAft>
            </a:pPr>
            <a:r>
              <a:rPr sz="1125" b="0">
                <a:solidFill>
                  <a:srgbClr val="62666C"/>
                </a:solidFill>
                <a:latin typeface="Century Gothic"/>
                <a:ea typeface="맑은 고딕"/>
              </a:rPr>
              <a:t>20만원을 모바일 강진사랑상품권으로 지급한다. 현금성</a:t>
            </a:r>
          </a:p>
          <a:p>
            <a:pPr eaLnBrk="0">
              <a:lnSpc>
                <a:spcPts val="1406"/>
              </a:lnSpc>
              <a:spcBef>
                <a:spcPts val="0"/>
              </a:spcBef>
              <a:spcAft>
                <a:spcPts val="0"/>
              </a:spcAft>
            </a:pPr>
            <a:r>
              <a:rPr sz="1125" b="0">
                <a:solidFill>
                  <a:srgbClr val="62666C"/>
                </a:solidFill>
                <a:latin typeface="Century Gothic"/>
                <a:ea typeface="맑은 고딕"/>
              </a:rPr>
              <a:t>할인으로 끝내지 않고 지급 상품권을 지역 가맹점에서</a:t>
            </a:r>
          </a:p>
          <a:p>
            <a:pPr eaLnBrk="0">
              <a:lnSpc>
                <a:spcPts val="1406"/>
              </a:lnSpc>
              <a:spcBef>
                <a:spcPts val="0"/>
              </a:spcBef>
              <a:spcAft>
                <a:spcPts val="0"/>
              </a:spcAft>
            </a:pPr>
            <a:r>
              <a:rPr sz="1125" b="0">
                <a:solidFill>
                  <a:srgbClr val="62666C"/>
                </a:solidFill>
                <a:latin typeface="Century Gothic"/>
                <a:ea typeface="맑은 고딕"/>
              </a:rPr>
              <a:t>다시 사용하게 하는 2단계 결제 구조다. 2026년에는</a:t>
            </a:r>
          </a:p>
          <a:p>
            <a:pPr eaLnBrk="0">
              <a:lnSpc>
                <a:spcPts val="1406"/>
              </a:lnSpc>
              <a:spcBef>
                <a:spcPts val="0"/>
              </a:spcBef>
              <a:spcAft>
                <a:spcPts val="0"/>
              </a:spcAft>
            </a:pPr>
            <a:r>
              <a:rPr sz="1125" b="0">
                <a:solidFill>
                  <a:srgbClr val="62666C"/>
                </a:solidFill>
                <a:latin typeface="Century Gothic"/>
                <a:ea typeface="맑은 고딕"/>
              </a:rPr>
              <a:t>군비·지역사랑 휴가지원사업·지방소멸대응기금을</a:t>
            </a:r>
          </a:p>
          <a:p>
            <a:pPr eaLnBrk="0">
              <a:lnSpc>
                <a:spcPts val="1406"/>
              </a:lnSpc>
              <a:spcBef>
                <a:spcPts val="0"/>
              </a:spcBef>
              <a:spcAft>
                <a:spcPts val="0"/>
              </a:spcAft>
            </a:pPr>
            <a:r>
              <a:rPr sz="1125"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유사 사업 참고 · 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전북특별자치도 전주시 한옥마을·경기전</a:t>
            </a:r>
          </a:p>
          <a:p>
            <a:pPr eaLnBrk="0">
              <a:lnSpc>
                <a:spcPts val="1984"/>
              </a:lnSpc>
              <a:spcBef>
                <a:spcPts val="0"/>
              </a:spcBef>
              <a:spcAft>
                <a:spcPts val="0"/>
              </a:spcAft>
            </a:pPr>
            <a:r>
              <a:rPr sz="1587" b="1">
                <a:solidFill>
                  <a:srgbClr val="202124"/>
                </a:solidFill>
                <a:latin typeface="Century Gothic"/>
                <a:ea typeface="맑은 고딕"/>
              </a:rPr>
              <a:t>일원 · 왕과의 산책 및 전주 문화재</a:t>
            </a:r>
          </a:p>
          <a:p>
            <a:pPr eaLnBrk="0">
              <a:lnSpc>
                <a:spcPts val="1984"/>
              </a:lnSpc>
              <a:spcBef>
                <a:spcPts val="0"/>
              </a:spcBef>
              <a:spcAft>
                <a:spcPts val="0"/>
              </a:spcAft>
            </a:pPr>
            <a:r>
              <a:rPr sz="1587" b="1">
                <a:solidFill>
                  <a:srgbClr val="202124"/>
                </a:solidFill>
                <a:latin typeface="Century Gothic"/>
                <a:ea typeface="맑은 고딕"/>
              </a:rPr>
              <a:t>야행—예약형 야간 해설·공연 프로그램</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경기전을 중심으로 야간 문화유산 해설 40분,</a:t>
            </a:r>
          </a:p>
          <a:p>
            <a:pPr eaLnBrk="0">
              <a:lnSpc>
                <a:spcPts val="1687"/>
              </a:lnSpc>
              <a:spcBef>
                <a:spcPts val="0"/>
              </a:spcBef>
              <a:spcAft>
                <a:spcPts val="0"/>
              </a:spcAft>
            </a:pPr>
            <a:r>
              <a:rPr sz="1350" b="0">
                <a:solidFill>
                  <a:srgbClr val="62666C"/>
                </a:solidFill>
                <a:latin typeface="Century Gothic"/>
                <a:ea typeface="맑은 고딕"/>
              </a:rPr>
              <a:t>휴식·대기 20분, 퓨전국악공연 40분을 조합한</a:t>
            </a:r>
          </a:p>
          <a:p>
            <a:pPr eaLnBrk="0">
              <a:lnSpc>
                <a:spcPts val="1687"/>
              </a:lnSpc>
              <a:spcBef>
                <a:spcPts val="0"/>
              </a:spcBef>
              <a:spcAft>
                <a:spcPts val="0"/>
              </a:spcAft>
            </a:pPr>
            <a:r>
              <a:rPr sz="1350" b="0">
                <a:solidFill>
                  <a:srgbClr val="62666C"/>
                </a:solidFill>
                <a:latin typeface="Century Gothic"/>
                <a:ea typeface="맑은 고딕"/>
              </a:rPr>
              <a:t>예약형 프로그램을 운영했다.</a:t>
            </a:r>
          </a:p>
          <a:p>
            <a:pPr eaLnBrk="0">
              <a:lnSpc>
                <a:spcPts val="1687"/>
              </a:lnSpc>
              <a:spcBef>
                <a:spcPts val="0"/>
              </a:spcBef>
              <a:spcAft>
                <a:spcPts val="0"/>
              </a:spcAft>
            </a:pPr>
            <a:r>
              <a:rPr sz="1350" b="0">
                <a:solidFill>
                  <a:srgbClr val="62666C"/>
                </a:solidFill>
                <a:latin typeface="Century Gothic"/>
                <a:ea typeface="맑은 고딕"/>
              </a:rPr>
              <a:t>문화시설·상가·숙박시설과 문화예술인이 함께</a:t>
            </a:r>
          </a:p>
          <a:p>
            <a:pPr eaLnBrk="0">
              <a:lnSpc>
                <a:spcPts val="1687"/>
              </a:lnSpc>
              <a:spcBef>
                <a:spcPts val="0"/>
              </a:spcBef>
              <a:spcAft>
                <a:spcPts val="0"/>
              </a:spcAft>
            </a:pPr>
            <a:r>
              <a:rPr sz="1350" b="0">
                <a:solidFill>
                  <a:srgbClr val="62666C"/>
                </a:solidFill>
                <a:latin typeface="Century Gothic"/>
                <a:ea typeface="맑은 고딕"/>
              </a:rPr>
              <a:t>참여하는 문화재 야행 안에 배치하고, 이후 평일</a:t>
            </a:r>
          </a:p>
          <a:p>
            <a:pPr eaLnBrk="0">
              <a:lnSpc>
                <a:spcPts val="1687"/>
              </a:lnSpc>
              <a:spcBef>
                <a:spcPts val="0"/>
              </a:spcBef>
              <a:spcAft>
                <a:spcPts val="0"/>
              </a:spcAft>
            </a:pPr>
            <a:r>
              <a:rPr sz="1350" b="0">
                <a:solidFill>
                  <a:srgbClr val="62666C"/>
                </a:solidFill>
                <a:latin typeface="Century Gothic"/>
                <a:ea typeface="맑은 고딕"/>
              </a:rPr>
              <a:t>야간에도 상설 콘텐츠로 확대하는 구조다.</a:t>
            </a:r>
          </a:p>
        </p:txBody>
      </p:sp>
      <p:pic xmlns:a="http://schemas.openxmlformats.org/drawingml/2006/main" xmlns:r="http://schemas.openxmlformats.org/officeDocument/2006/relationships">
        <p:nvPicPr>
          <p:cNvPr id="20" name="case-photo-1" descr="yeosu_night.jpg"/>
          <p:cNvPicPr>
            <a:picLocks noChangeAspect="1"/>
          </p:cNvPicPr>
          <p:nvPr/>
        </p:nvPicPr>
        <p:blipFill>
          <a:blip r:embed="rId7"/>
          <a:stretch>
            <a:fillRect/>
          </a:stretch>
        </p:blipFill>
        <p:spPr>
          <a:xfrm>
            <a:off x="5975395" y="5457825"/>
            <a:ext cx="3289208"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유사 사업 참고 · 전남 여수시 야경</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문화체육관광부 코리아넷 (2024)</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890"/>
              </a:lnSpc>
              <a:spcBef>
                <a:spcPts val="0"/>
              </a:spcBef>
              <a:spcAft>
                <a:spcPts val="0"/>
              </a:spcAft>
            </a:pPr>
            <a:r>
              <a:rPr sz="1512" b="1">
                <a:solidFill>
                  <a:srgbClr val="202124"/>
                </a:solidFill>
                <a:latin typeface="Century Gothic"/>
                <a:ea typeface="맑은 고딕"/>
              </a:rPr>
              <a:t>인천광역시 강화군·옹진군 섬 지역 · 인천 섬</a:t>
            </a:r>
          </a:p>
          <a:p>
            <a:pPr eaLnBrk="0">
              <a:lnSpc>
                <a:spcPts val="1890"/>
              </a:lnSpc>
              <a:spcBef>
                <a:spcPts val="0"/>
              </a:spcBef>
              <a:spcAft>
                <a:spcPts val="0"/>
              </a:spcAft>
            </a:pPr>
            <a:r>
              <a:rPr sz="1512" b="1">
                <a:solidFill>
                  <a:srgbClr val="202124"/>
                </a:solidFill>
                <a:latin typeface="Century Gothic"/>
                <a:ea typeface="맑은 고딕"/>
              </a:rPr>
              <a:t>도도하게 살아보기—숙박·식사·주민체험</a:t>
            </a:r>
          </a:p>
          <a:p>
            <a:pPr eaLnBrk="0">
              <a:lnSpc>
                <a:spcPts val="1890"/>
              </a:lnSpc>
              <a:spcBef>
                <a:spcPts val="0"/>
              </a:spcBef>
              <a:spcAft>
                <a:spcPts val="0"/>
              </a:spcAft>
            </a:pPr>
            <a:r>
              <a:rPr sz="1512" b="1">
                <a:solidFill>
                  <a:srgbClr val="202124"/>
                </a:solidFill>
                <a:latin typeface="Century Gothic"/>
                <a:ea typeface="맑은 고딕"/>
              </a:rPr>
              <a:t>패키지 예약 및 참가비 지원</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62666C"/>
                </a:solidFill>
                <a:latin typeface="Century Gothic"/>
                <a:ea typeface="맑은 고딕"/>
              </a:rPr>
              <a:t>섬별 숙박형 패키지를 사전 판매하고 주민 숙소·식당,</a:t>
            </a:r>
          </a:p>
          <a:p>
            <a:pPr eaLnBrk="0">
              <a:lnSpc>
                <a:spcPts val="1406"/>
              </a:lnSpc>
              <a:spcBef>
                <a:spcPts val="0"/>
              </a:spcBef>
              <a:spcAft>
                <a:spcPts val="0"/>
              </a:spcAft>
            </a:pPr>
            <a:r>
              <a:rPr sz="1125" b="0">
                <a:solidFill>
                  <a:srgbClr val="62666C"/>
                </a:solidFill>
                <a:latin typeface="Century Gothic"/>
                <a:ea typeface="맑은 고딕"/>
              </a:rPr>
              <a:t>마을투어, 낚시, 카약 등 체험을 하나의 상품으로 묶었다.</a:t>
            </a:r>
          </a:p>
          <a:p>
            <a:pPr eaLnBrk="0">
              <a:lnSpc>
                <a:spcPts val="1406"/>
              </a:lnSpc>
              <a:spcBef>
                <a:spcPts val="0"/>
              </a:spcBef>
              <a:spcAft>
                <a:spcPts val="0"/>
              </a:spcAft>
            </a:pPr>
            <a:r>
              <a:rPr sz="1125" b="0">
                <a:solidFill>
                  <a:srgbClr val="62666C"/>
                </a:solidFill>
                <a:latin typeface="Century Gothic"/>
                <a:ea typeface="맑은 고딕"/>
              </a:rPr>
              <a:t>2022년에는 5개 상품을 운영하며 인천시가 상품가의 약</a:t>
            </a:r>
          </a:p>
          <a:p>
            <a:pPr eaLnBrk="0">
              <a:lnSpc>
                <a:spcPts val="1406"/>
              </a:lnSpc>
              <a:spcBef>
                <a:spcPts val="0"/>
              </a:spcBef>
              <a:spcAft>
                <a:spcPts val="0"/>
              </a:spcAft>
            </a:pPr>
            <a:r>
              <a:rPr sz="1125" b="0">
                <a:solidFill>
                  <a:srgbClr val="62666C"/>
                </a:solidFill>
                <a:latin typeface="Century Gothic"/>
                <a:ea typeface="맑은 고딕"/>
              </a:rPr>
              <a:t>43%에 해당하는 숙박비를 지원했고, 상품가격은</a:t>
            </a:r>
          </a:p>
          <a:p>
            <a:pPr eaLnBrk="0">
              <a:lnSpc>
                <a:spcPts val="1406"/>
              </a:lnSpc>
              <a:spcBef>
                <a:spcPts val="0"/>
              </a:spcBef>
              <a:spcAft>
                <a:spcPts val="0"/>
              </a:spcAft>
            </a:pPr>
            <a:r>
              <a:rPr sz="1125" b="0">
                <a:solidFill>
                  <a:srgbClr val="62666C"/>
                </a:solidFill>
                <a:latin typeface="Century Gothic"/>
                <a:ea typeface="맑은 고딕"/>
              </a:rPr>
              <a:t>4만~29만원이었다. 2024년에는 대상 범위를 21개 섬으로</a:t>
            </a:r>
          </a:p>
          <a:p>
            <a:pPr eaLnBrk="0">
              <a:lnSpc>
                <a:spcPts val="1406"/>
              </a:lnSpc>
              <a:spcBef>
                <a:spcPts val="0"/>
              </a:spcBef>
              <a:spcAft>
                <a:spcPts val="0"/>
              </a:spcAft>
            </a:pPr>
            <a:r>
              <a:rPr sz="1125" b="0">
                <a:solidFill>
                  <a:srgbClr val="62666C"/>
                </a:solidFill>
                <a:latin typeface="Century Gothic"/>
                <a:ea typeface="맑은 고딕"/>
              </a:rPr>
              <a:t>확대하고 2,000명 이상 유치를 목표로 했다.</a:t>
            </a:r>
          </a:p>
        </p:txBody>
      </p:sp>
      <p:pic xmlns:a="http://schemas.openxmlformats.org/drawingml/2006/main" xmlns:r="http://schemas.openxmlformats.org/officeDocument/2006/relationships">
        <p:nvPicPr>
          <p:cNvPr id="28" name="case-photo-2" descr="incheon_official.jpg"/>
          <p:cNvPicPr>
            <a:picLocks noChangeAspect="1"/>
          </p:cNvPicPr>
          <p:nvPr/>
        </p:nvPicPr>
        <p:blipFill>
          <a:blip r:embed="rId10"/>
          <a:stretch>
            <a:fillRect/>
          </a:stretch>
        </p:blipFill>
        <p:spPr>
          <a:xfrm>
            <a:off x="10590240" y="5457825"/>
            <a:ext cx="3051119"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유사 사업 참고 · 인천 섬 · 로컬체험 여행 소개 사진</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인천광역시 섬포털</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누구나 반값여행—증빙된 여행지출 일부를 모바일 강진사랑상품권으로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0" descr="files-red.png"/>
          <p:cNvPicPr>
            <a:picLocks noChangeAspect="1"/>
          </p:cNvPicPr>
          <p:nvPr/>
        </p:nvPicPr>
        <p:blipFill>
          <a:blip r:embed="rId9"/>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공식 운영 확인</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사례의 대상·이용 방식 확인</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result-flow-icon-1" descr="map-pinned-ocean.png"/>
          <p:cNvPicPr>
            <a:picLocks noChangeAspect="1"/>
          </p:cNvPicPr>
          <p:nvPr/>
        </p:nvPicPr>
        <p:blipFill>
          <a:blip r:embed="rId6"/>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조건 연결</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우리 지역 자원·참여처와 비교</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coins-jade.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실행안 구성</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일정·규모·집계 방법을 제안</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u="none">
                <a:solidFill>
                  <a:srgbClr val="62666C"/>
                </a:solidFill>
                <a:latin typeface="Noto Sans KR"/>
                <a:hlinkClick r:id="rId8"/>
              </a:rPr>
              <a:t>관광객이 지역에서 지출한 여행비의 최대 50%, 최대 20만원을 모바일 강진사랑상품권으로 지급한다.</a:t>
            </a:r>
          </a:p>
          <a:p>
            <a:pPr eaLnBrk="0">
              <a:lnSpc>
                <a:spcPts val="1546"/>
              </a:lnSpc>
              <a:spcBef>
                <a:spcPts val="0"/>
              </a:spcBef>
              <a:spcAft>
                <a:spcPts val="0"/>
              </a:spcAft>
            </a:pPr>
            <a:r>
              <a:rPr sz="1237" b="0" u="none">
                <a:solidFill>
                  <a:srgbClr val="62666C"/>
                </a:solidFill>
                <a:latin typeface="Noto Sans KR"/>
                <a:hlinkClick r:id="rId8"/>
              </a:rPr>
              <a:t>현금성 할인으로 끝내지 않고 지급 상품권을 지역 가맹점에서 다시 사용하게 하는 2단계 결제 구조다.</a:t>
            </a:r>
          </a:p>
          <a:p>
            <a:pPr eaLnBrk="0">
              <a:lnSpc>
                <a:spcPts val="1546"/>
              </a:lnSpc>
              <a:spcBef>
                <a:spcPts val="0"/>
              </a:spcBef>
              <a:spcAft>
                <a:spcPts val="0"/>
              </a:spcAft>
            </a:pPr>
            <a:r>
              <a:rPr sz="1237" b="0" u="none">
                <a:solidFill>
                  <a:srgbClr val="62666C"/>
                </a:solidFill>
                <a:latin typeface="Noto Sans KR"/>
                <a:hlinkClick r:id="rId8"/>
              </a:rPr>
              <a:t>2026년에는 군비·지역사랑 휴가지원사업·지방소멸대응기금을 결합해 연중 운영체계를 마련했다.</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유사 사업 참고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외지인이 대전 서구 내 인정</a:t>
            </a:r>
          </a:p>
          <a:p>
            <a:pPr eaLnBrk="0">
              <a:lnSpc>
                <a:spcPts val="1781"/>
              </a:lnSpc>
              <a:spcBef>
                <a:spcPts val="0"/>
              </a:spcBef>
              <a:spcAft>
                <a:spcPts val="0"/>
              </a:spcAft>
            </a:pPr>
            <a:r>
              <a:rPr sz="1425" b="0">
                <a:solidFill>
                  <a:srgbClr val="202124"/>
                </a:solidFill>
                <a:latin typeface="Noto Sans KR"/>
              </a:rPr>
              <a:t>업종(숙박·식음·체험) 중 2개 이상 업종을</a:t>
            </a:r>
          </a:p>
          <a:p>
            <a:pPr eaLnBrk="0">
              <a:lnSpc>
                <a:spcPts val="1781"/>
              </a:lnSpc>
              <a:spcBef>
                <a:spcPts val="0"/>
              </a:spcBef>
              <a:spcAft>
                <a:spcPts val="0"/>
              </a:spcAft>
            </a:pPr>
            <a:r>
              <a:rPr sz="1425" b="0">
                <a:solidFill>
                  <a:srgbClr val="202124"/>
                </a:solidFill>
                <a:latin typeface="Noto Sans KR"/>
              </a:rPr>
              <a:t>결제하고 증빙을 제출하면, 건별 상한 내에서</a:t>
            </a:r>
          </a:p>
          <a:p>
            <a:pPr eaLnBrk="0">
              <a:lnSpc>
                <a:spcPts val="1781"/>
              </a:lnSpc>
              <a:spcBef>
                <a:spcPts val="0"/>
              </a:spcBef>
              <a:spcAft>
                <a:spcPts val="0"/>
              </a:spcAft>
            </a:pPr>
            <a:r>
              <a:rPr sz="1425" b="0">
                <a:solidFill>
                  <a:srgbClr val="202124"/>
                </a:solidFill>
                <a:latin typeface="Noto Sans KR"/>
              </a:rPr>
              <a:t>지역 상품권 또는 후속결제 혜택을 지급함</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+864명, 관광소비액 약 +3,089만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2026-10 ~ 2026-12</a:t>
            </a:r>
          </a:p>
          <a:p>
            <a:pPr eaLnBrk="0">
              <a:lnSpc>
                <a:spcPts val="2437"/>
              </a:lnSpc>
              <a:spcBef>
                <a:spcPts val="0"/>
              </a:spcBef>
              <a:spcAft>
                <a:spcPts val="0"/>
              </a:spcAft>
            </a:pPr>
            <a:r>
              <a:rPr sz="1950" b="0">
                <a:solidFill>
                  <a:srgbClr val="62666C"/>
                </a:solidFill>
                <a:latin typeface="Noto Sans KR"/>
              </a:rPr>
              <a:t>편성 정원 3,840명분 × 이용률 75%</a:t>
            </a:r>
          </a:p>
          <a:p>
            <a:pPr eaLnBrk="0">
              <a:lnSpc>
                <a:spcPts val="2437"/>
              </a:lnSpc>
              <a:spcBef>
                <a:spcPts val="0"/>
              </a:spcBef>
              <a:spcAft>
                <a:spcPts val="0"/>
              </a:spcAft>
            </a:pPr>
            <a:r>
              <a:rPr sz="1950" b="0">
                <a:solidFill>
                  <a:srgbClr val="62666C"/>
                </a:solidFill>
                <a:latin typeface="Noto Sans KR"/>
              </a:rPr>
              <a:t>예상 참여 2,880명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864명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8일 × 3개월</a:t>
            </a:r>
          </a:p>
          <a:p>
            <a:pPr eaLnBrk="0">
              <a:lnSpc>
                <a:spcPts val="2062"/>
              </a:lnSpc>
              <a:spcBef>
                <a:spcPts val="0"/>
              </a:spcBef>
              <a:spcAft>
                <a:spcPts val="0"/>
              </a:spcAft>
            </a:pPr>
            <a:r>
              <a:rPr sz="1650" b="0">
                <a:solidFill>
                  <a:srgbClr val="62666C"/>
                </a:solidFill>
                <a:latin typeface="Noto Sans KR"/>
              </a:rPr>
              <a:t>× 하루 1회 × 회당 20명 = 3,840명분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864명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0.31억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강진 누구나 반값여행—증빙된 여행지출 일부를 모바일 강진사랑상품권으로 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125" b="0">
                          <a:solidFill>
                            <a:srgbClr val="202124"/>
                          </a:solidFill>
                          <a:latin typeface="Noto Sans KR"/>
                        </a:rPr>
                        <a:t>관광객이 지역에서 지출한 여행비의 최대 50%, 최대 20만원을 모바일</a:t>
                      </a:r>
                    </a:p>
                    <a:p>
                      <a:pPr eaLnBrk="0">
                        <a:lnSpc>
                          <a:spcPct val="112000"/>
                        </a:lnSpc>
                        <a:spcBef>
                          <a:spcPts val="0"/>
                        </a:spcBef>
                        <a:spcAft>
                          <a:spcPts val="0"/>
                        </a:spcAft>
                      </a:pPr>
                      <a:r>
                        <a:rPr sz="1125" b="0">
                          <a:solidFill>
                            <a:srgbClr val="202124"/>
                          </a:solidFill>
                          <a:latin typeface="Noto Sans KR"/>
                        </a:rPr>
                        <a:t>강진사랑상품권으로 지급한다. 현금성 할인으로 끝내지 않고 지급 상품권을 지역</a:t>
                      </a:r>
                    </a:p>
                    <a:p>
                      <a:pPr eaLnBrk="0">
                        <a:lnSpc>
                          <a:spcPct val="112000"/>
                        </a:lnSpc>
                        <a:spcBef>
                          <a:spcPts val="0"/>
                        </a:spcBef>
                        <a:spcAft>
                          <a:spcPts val="0"/>
                        </a:spcAft>
                      </a:pPr>
                      <a:r>
                        <a:rPr sz="1125" b="0">
                          <a:solidFill>
                            <a:srgbClr val="202124"/>
                          </a:solidFill>
                          <a:latin typeface="Noto Sans KR"/>
                        </a:rPr>
                        <a:t>가맹점에서 다시 사용하게 하는 2단계 결제 구조다. 2026년에는 군비·지역사랑</a:t>
                      </a:r>
                    </a:p>
                    <a:p>
                      <a:pPr eaLnBrk="0">
                        <a:lnSpc>
                          <a:spcPct val="112000"/>
                        </a:lnSpc>
                        <a:spcBef>
                          <a:spcPts val="0"/>
                        </a:spcBef>
                        <a:spcAft>
                          <a:spcPts val="0"/>
                        </a:spcAft>
                      </a:pPr>
                      <a:r>
                        <a:rPr sz="1125" b="0">
                          <a:solidFill>
                            <a:srgbClr val="202124"/>
                          </a:solidFill>
                          <a:latin typeface="Noto Sans KR"/>
                        </a:rPr>
                        <a:t>휴가지원사업·지방소멸대응기금을 결합해 연중 운영체계를 마련했다.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외지인 숙박 방문 비율: 6.7% / 관광소비 업종별 비중: 쇼핑</a:t>
                      </a:r>
                    </a:p>
                    <a:p>
                      <a:pPr eaLnBrk="0">
                        <a:lnSpc>
                          <a:spcPct val="112000"/>
                        </a:lnSpc>
                        <a:spcBef>
                          <a:spcPts val="0"/>
                        </a:spcBef>
                        <a:spcAft>
                          <a:spcPts val="0"/>
                        </a:spcAft>
                      </a:pPr>
                      <a:r>
                        <a:rPr sz="1575" b="0">
                          <a:solidFill>
                            <a:srgbClr val="202124"/>
                          </a:solidFill>
                          <a:latin typeface="Noto Sans KR"/>
                        </a:rPr>
                        <a:t>43.0%, 식음료 39.7%, 숙박 0.6% / ML 전망 (2026-10~12):</a:t>
                      </a:r>
                    </a:p>
                    <a:p>
                      <a:pPr eaLnBrk="0">
                        <a:lnSpc>
                          <a:spcPct val="112000"/>
                        </a:lnSpc>
                        <a:spcBef>
                          <a:spcPts val="0"/>
                        </a:spcBef>
                        <a:spcAft>
                          <a:spcPts val="0"/>
                        </a:spcAft>
                      </a:pPr>
                      <a:r>
                        <a:rPr sz="1575" b="0">
                          <a:solidFill>
                            <a:srgbClr val="202124"/>
                          </a:solidFill>
                          <a:latin typeface="Noto Sans KR"/>
                        </a:rPr>
                        <a:t>방문자 -1.77% ~ 0.99%, 소비 +1.54% ~ 12.37%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외지인이 대전 서구 내 인정 업종(숙박·식음·체험) 중 2개 이상 업종을 결제하고 증빙을 제출하면, 건별</a:t>
            </a:r>
          </a:p>
          <a:p>
            <a:pPr eaLnBrk="0">
              <a:lnSpc>
                <a:spcPts val="1968"/>
              </a:lnSpc>
              <a:spcBef>
                <a:spcPts val="0"/>
              </a:spcBef>
              <a:spcAft>
                <a:spcPts val="0"/>
              </a:spcAft>
            </a:pPr>
            <a:r>
              <a:rPr sz="1575" b="0">
                <a:solidFill>
                  <a:srgbClr val="202124"/>
                </a:solidFill>
                <a:latin typeface="Noto Sans KR"/>
              </a:rPr>
              <a:t>상한 내에서 지역 상품권 또는 후속결제 혜택을 지급함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강진 반값여행 운영예산·실제 방문팀·관광객 소비·상품권 재사용 실적</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4,998,723명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145명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4,940,634명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286명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4,990,066명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433명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14,929,423명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864명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864명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793.64억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496만 원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859.83억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1,074만 원 · 0.01%</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810.49억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1,519만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2,463.96억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3,089만 원 · 0.01%</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3,089만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14,432만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86,400,000원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 목표 2,880명 × 계획 지원단가 30,000원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28,800,000원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8개 운영팀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13,120,000원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131,200,000원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47,528,498원 중 추가 소비 목표 30,893,524원.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176,000,000원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D08 방문자/2025_01_12.zip</a:t>
            </a:r>
          </a:p>
        </p:txBody>
      </p:sp>
      <p:sp xmlns:a="http://schemas.openxmlformats.org/drawingml/2006/main">
        <p:nvSpPr>
          <p:cNvPr id="13" name="reference-8"/>
          <p:cNvSpPr txBox="1"/>
          <p:nvPr/>
        </p:nvSpPr>
        <p:spPr>
          <a:xfrm>
            <a:off x="100965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D09 관광소비/2025_01_12.zip</a:t>
            </a:r>
          </a:p>
        </p:txBody>
      </p:sp>
      <p:sp xmlns:a="http://schemas.openxmlformats.org/drawingml/2006/main">
        <p:nvSpPr>
          <p:cNvPr id="14" name="reference-9"/>
          <p:cNvSpPr txBox="1"/>
          <p:nvPr/>
        </p:nvSpPr>
        <p:spPr>
          <a:xfrm>
            <a:off x="100965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100965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100965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D12 방문자/2026_01_06.zip</a:t>
            </a:r>
          </a:p>
        </p:txBody>
      </p:sp>
      <p:sp xmlns:a="http://schemas.openxmlformats.org/drawingml/2006/main">
        <p:nvSpPr>
          <p:cNvPr id="17" name="reference-12"/>
          <p:cNvSpPr txBox="1"/>
          <p:nvPr/>
        </p:nvSpPr>
        <p:spPr>
          <a:xfrm>
            <a:off x="100965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D13 숙박_체류시간/2026_01_06.zip</a:t>
            </a:r>
          </a:p>
        </p:txBody>
      </p:sp>
      <p:sp xmlns:a="http://schemas.openxmlformats.org/drawingml/2006/main">
        <p:nvSpPr>
          <p:cNvPr id="18" name="reference-13"/>
          <p:cNvSpPr txBox="1"/>
          <p:nvPr/>
        </p:nvSpPr>
        <p:spPr>
          <a:xfrm>
            <a:off x="1009650" y="68246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19" name="reference-14"/>
          <p:cNvSpPr txBox="1"/>
          <p:nvPr/>
        </p:nvSpPr>
        <p:spPr>
          <a:xfrm>
            <a:off x="1009650" y="74366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0" name="reference-15"/>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1" name="reference-16"/>
          <p:cNvSpPr txBox="1"/>
          <p:nvPr/>
        </p:nvSpPr>
        <p:spPr>
          <a:xfrm>
            <a:off x="5486400" y="30884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2" name="reference-17"/>
          <p:cNvSpPr txBox="1"/>
          <p:nvPr/>
        </p:nvSpPr>
        <p:spPr>
          <a:xfrm>
            <a:off x="5486400" y="37004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3" name="reference-18"/>
          <p:cNvSpPr txBox="1"/>
          <p:nvPr/>
        </p:nvSpPr>
        <p:spPr>
          <a:xfrm>
            <a:off x="5486400" y="43124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4" name="reference-19"/>
          <p:cNvSpPr txBox="1"/>
          <p:nvPr/>
        </p:nvSpPr>
        <p:spPr>
          <a:xfrm>
            <a:off x="5486400" y="49244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5" name="reference-20"/>
          <p:cNvSpPr txBox="1"/>
          <p:nvPr/>
        </p:nvSpPr>
        <p:spPr>
          <a:xfrm>
            <a:off x="5486400" y="55364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6" name="reference-21"/>
          <p:cNvSpPr txBox="1"/>
          <p:nvPr/>
        </p:nvSpPr>
        <p:spPr>
          <a:xfrm>
            <a:off x="5486400" y="6148388"/>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7" name="reference-22"/>
          <p:cNvSpPr txBox="1"/>
          <p:nvPr/>
        </p:nvSpPr>
        <p:spPr>
          <a:xfrm>
            <a:off x="5486400" y="6760369"/>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8" name="reference-23"/>
          <p:cNvSpPr txBox="1"/>
          <p:nvPr/>
        </p:nvSpPr>
        <p:spPr>
          <a:xfrm>
            <a:off x="5486400" y="737235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9" name="reference-24"/>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30" name="reference-25"/>
          <p:cNvSpPr txBox="1"/>
          <p:nvPr/>
        </p:nvSpPr>
        <p:spPr>
          <a:xfrm>
            <a:off x="9963150" y="30884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35218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39552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43886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4" name="reference-29"/>
          <p:cNvSpPr txBox="1"/>
          <p:nvPr/>
        </p:nvSpPr>
        <p:spPr>
          <a:xfrm>
            <a:off x="9963150" y="4822031"/>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xmlns:a="http://schemas.openxmlformats.org/drawingml/2006/main">
        <p:nvSpPr>
          <p:cNvPr id="35" name="reference-30"/>
          <p:cNvSpPr txBox="1"/>
          <p:nvPr/>
        </p:nvSpPr>
        <p:spPr>
          <a:xfrm>
            <a:off x="9963150" y="5255419"/>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xmlns:a="http://schemas.openxmlformats.org/drawingml/2006/main">
        <p:nvSpPr>
          <p:cNvPr id="36" name="reference-31"/>
          <p:cNvSpPr txBox="1"/>
          <p:nvPr/>
        </p:nvSpPr>
        <p:spPr>
          <a:xfrm>
            <a:off x="9963150" y="5688806"/>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xmlns:a="http://schemas.openxmlformats.org/drawingml/2006/main">
        <p:nvSpPr>
          <p:cNvPr id="37" name="reference-32"/>
          <p:cNvSpPr txBox="1"/>
          <p:nvPr/>
        </p:nvSpPr>
        <p:spPr>
          <a:xfrm>
            <a:off x="9963150" y="6122194"/>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xmlns:a="http://schemas.openxmlformats.org/drawingml/2006/main">
        <p:nvSpPr>
          <p:cNvPr id="38" name="reference-33"/>
          <p:cNvSpPr txBox="1"/>
          <p:nvPr/>
        </p:nvSpPr>
        <p:spPr>
          <a:xfrm>
            <a:off x="9963150" y="65555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xmlns:a="http://schemas.openxmlformats.org/drawingml/2006/main">
        <p:nvSpPr>
          <p:cNvPr id="39" name="reference-34"/>
          <p:cNvSpPr txBox="1"/>
          <p:nvPr/>
        </p:nvSpPr>
        <p:spPr>
          <a:xfrm>
            <a:off x="9963150" y="69889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xmlns:a="http://schemas.openxmlformats.org/drawingml/2006/main">
        <p:nvSpPr>
          <p:cNvPr id="40" name="reference-35"/>
          <p:cNvSpPr txBox="1"/>
          <p:nvPr/>
        </p:nvSpPr>
        <p:spPr>
          <a:xfrm>
            <a:off x="9963150" y="74223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활성화 방안 · PDF 44쪽 외 7쪽 (8개 청크) datalab.visitkorea.or.kr</a:t>
            </a:r>
          </a:p>
        </p:txBody>
      </p:sp>
      <p:sp xmlns:a="http://schemas.openxmlformats.org/drawingml/2006/main">
        <p:nvSpPr>
          <p:cNvPr id="4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4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D52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D53 관광객 눈도장 찍힌 전주 문화재 야행,</a:t>
            </a:r>
          </a:p>
          <a:p>
            <a:pPr eaLnBrk="0">
              <a:lnSpc>
                <a:spcPts val="1265"/>
              </a:lnSpc>
              <a:spcBef>
                <a:spcPts val="0"/>
              </a:spcBef>
              <a:spcAft>
                <a:spcPts val="0"/>
              </a:spcAft>
            </a:pPr>
            <a:r>
              <a:rPr sz="1012" b="0" u="none">
                <a:solidFill>
                  <a:srgbClr val="62666C"/>
                </a:solidFill>
                <a:latin typeface="Noto Sans KR"/>
                <a:hlinkClick r:id="rId3"/>
              </a:rPr>
              <a:t>상설화—왕과의 산책 16회 매진 www.jeonju.go.kr</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D54 강진 반값여행 운영예산·실제 방문팀·관광객</a:t>
            </a:r>
          </a:p>
          <a:p>
            <a:pPr eaLnBrk="0">
              <a:lnSpc>
                <a:spcPts val="1265"/>
              </a:lnSpc>
              <a:spcBef>
                <a:spcPts val="0"/>
              </a:spcBef>
              <a:spcAft>
                <a:spcPts val="0"/>
              </a:spcAft>
            </a:pPr>
            <a:r>
              <a:rPr sz="1012" b="0" u="none">
                <a:solidFill>
                  <a:srgbClr val="62666C"/>
                </a:solidFill>
                <a:latin typeface="Noto Sans KR"/>
                <a:hlinkClick r:id="rId4"/>
              </a:rPr>
              <a:t>소비·상품권 재사용 실적 jnfarm.jeonnam.go.kr</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D55 通했다, 인천시 섬 부흥책—도도하게 살아보기</a:t>
            </a:r>
          </a:p>
          <a:p>
            <a:pPr eaLnBrk="0">
              <a:lnSpc>
                <a:spcPts val="1265"/>
              </a:lnSpc>
              <a:spcBef>
                <a:spcPts val="0"/>
              </a:spcBef>
              <a:spcAft>
                <a:spcPts val="0"/>
              </a:spcAft>
            </a:pPr>
            <a:r>
              <a:rPr sz="1012" b="0" u="none">
                <a:solidFill>
                  <a:srgbClr val="62666C"/>
                </a:solidFill>
                <a:latin typeface="Noto Sans KR"/>
                <a:hlinkClick r:id="rId5"/>
              </a:rPr>
              <a:t>중간 모객률과 숙박비 지원 구조 www.incheon.go.kr</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D56 강남유닉투어 2022년 운영주기·회당 정원 및</a:t>
            </a:r>
          </a:p>
          <a:p>
            <a:pPr eaLnBrk="0">
              <a:lnSpc>
                <a:spcPts val="1265"/>
              </a:lnSpc>
              <a:spcBef>
                <a:spcPts val="0"/>
              </a:spcBef>
              <a:spcAft>
                <a:spcPts val="0"/>
              </a:spcAft>
            </a:pPr>
            <a:r>
              <a:rPr sz="1012" b="0" u="none">
                <a:solidFill>
                  <a:srgbClr val="62666C"/>
                </a:solidFill>
                <a:latin typeface="Noto Sans KR"/>
                <a:hlinkClick r:id="rId6"/>
              </a:rPr>
              <a:t>청담명품거리 참여실적 www.gangnam.go.kr</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D57 2024년 6월 여행가는 달 추진</a:t>
            </a:r>
          </a:p>
          <a:p>
            <a:pPr eaLnBrk="0">
              <a:lnSpc>
                <a:spcPts val="1265"/>
              </a:lnSpc>
              <a:spcBef>
                <a:spcPts val="0"/>
              </a:spcBef>
              <a:spcAft>
                <a:spcPts val="0"/>
              </a:spcAft>
            </a:pPr>
            <a:r>
              <a:rPr sz="1012" b="0" u="none">
                <a:solidFill>
                  <a:srgbClr val="62666C"/>
                </a:solidFill>
                <a:latin typeface="Noto Sans KR"/>
                <a:hlinkClick r:id="rId7"/>
              </a:rPr>
              <a:t>보도자료 mcst.go.kr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D58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2"/>
              </a:rPr>
              <a:t>방문자 추이 datalab.visitkorea.or.kr</a:t>
            </a:r>
          </a:p>
        </p:txBody>
      </p:sp>
      <p:sp>
        <p:nvSpPr>
          <p:cNvPr id="13" name="reference-8"/>
          <p:cNvSpPr txBox="1"/>
          <p:nvPr/>
        </p:nvSpPr>
        <p:spPr>
          <a:xfrm>
            <a:off x="1009650" y="59436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D30 갈마짬뽕</a:t>
            </a:r>
          </a:p>
        </p:txBody>
      </p:sp>
      <p:sp>
        <p:nvSpPr>
          <p:cNvPr id="14" name="reference-9"/>
          <p:cNvSpPr txBox="1"/>
          <p:nvPr/>
        </p:nvSpPr>
        <p:spPr>
          <a:xfrm>
            <a:off x="1009650" y="62484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D31 관저당</a:t>
            </a:r>
          </a:p>
        </p:txBody>
      </p:sp>
      <p:sp>
        <p:nvSpPr>
          <p:cNvPr id="15" name="reference-10"/>
          <p:cNvSpPr txBox="1"/>
          <p:nvPr/>
        </p:nvSpPr>
        <p:spPr>
          <a:xfrm>
            <a:off x="1009650" y="65532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D32 굿모닝레지던스호텔휴</a:t>
            </a:r>
          </a:p>
        </p:txBody>
      </p:sp>
      <p:sp>
        <p:nvSpPr>
          <p:cNvPr id="16" name="reference-11"/>
          <p:cNvSpPr txBox="1"/>
          <p:nvPr/>
        </p:nvSpPr>
        <p:spPr>
          <a:xfrm>
            <a:off x="1009650" y="68580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D33 귀빈돌솥밥</a:t>
            </a:r>
          </a:p>
        </p:txBody>
      </p:sp>
      <p:sp>
        <p:nvSpPr>
          <p:cNvPr id="17" name="reference-12"/>
          <p:cNvSpPr txBox="1"/>
          <p:nvPr/>
        </p:nvSpPr>
        <p:spPr>
          <a:xfrm>
            <a:off x="1009650" y="71628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D34 남선공원</a:t>
            </a:r>
          </a:p>
        </p:txBody>
      </p:sp>
      <p:sp>
        <p:nvSpPr>
          <p:cNvPr id="18" name="reference-13"/>
          <p:cNvSpPr txBox="1"/>
          <p:nvPr/>
        </p:nvSpPr>
        <p:spPr>
          <a:xfrm>
            <a:off x="1009650" y="74676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D35 내원사(대전)</a:t>
            </a:r>
          </a:p>
        </p:txBody>
      </p:sp>
      <p:sp>
        <p:nvSpPr>
          <p:cNvPr id="19" name="reference-14"/>
          <p:cNvSpPr txBox="1"/>
          <p:nvPr/>
        </p:nvSpPr>
        <p:spPr>
          <a:xfrm>
            <a:off x="1009650" y="77724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D36 노크노크</a:t>
            </a:r>
          </a:p>
        </p:txBody>
      </p:sp>
      <p:sp>
        <p:nvSpPr>
          <p:cNvPr id="20" name="reference-15"/>
          <p:cNvSpPr txBox="1"/>
          <p:nvPr/>
        </p:nvSpPr>
        <p:spPr>
          <a:xfrm>
            <a:off x="548640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D37 대성콩국수</a:t>
            </a:r>
          </a:p>
        </p:txBody>
      </p:sp>
      <p:sp>
        <p:nvSpPr>
          <p:cNvPr id="21" name="reference-16"/>
          <p:cNvSpPr txBox="1"/>
          <p:nvPr/>
        </p:nvSpPr>
        <p:spPr>
          <a:xfrm>
            <a:off x="548640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D38 대전 가수원도서관</a:t>
            </a:r>
          </a:p>
        </p:txBody>
      </p:sp>
      <p:sp>
        <p:nvSpPr>
          <p:cNvPr id="22" name="reference-17"/>
          <p:cNvSpPr txBox="1"/>
          <p:nvPr/>
        </p:nvSpPr>
        <p:spPr>
          <a:xfrm>
            <a:off x="548640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D39 대전광역시청 시민잔디광장</a:t>
            </a:r>
          </a:p>
        </p:txBody>
      </p:sp>
      <p:sp>
        <p:nvSpPr>
          <p:cNvPr id="23" name="reference-18"/>
          <p:cNvSpPr txBox="1"/>
          <p:nvPr/>
        </p:nvSpPr>
        <p:spPr>
          <a:xfrm>
            <a:off x="548640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D40 대전서구문화원</a:t>
            </a:r>
          </a:p>
        </p:txBody>
      </p:sp>
      <p:sp>
        <p:nvSpPr>
          <p:cNvPr id="24" name="reference-19"/>
          <p:cNvSpPr txBox="1"/>
          <p:nvPr/>
        </p:nvSpPr>
        <p:spPr>
          <a:xfrm>
            <a:off x="548640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D41 델빠네</a:t>
            </a:r>
          </a:p>
        </p:txBody>
      </p:sp>
      <p:sp>
        <p:nvSpPr>
          <p:cNvPr id="25" name="reference-20"/>
          <p:cNvSpPr txBox="1"/>
          <p:nvPr/>
        </p:nvSpPr>
        <p:spPr>
          <a:xfrm>
            <a:off x="548640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D42 도마큰시장</a:t>
            </a:r>
          </a:p>
        </p:txBody>
      </p:sp>
      <p:sp>
        <p:nvSpPr>
          <p:cNvPr id="26" name="reference-21"/>
          <p:cNvSpPr txBox="1"/>
          <p:nvPr/>
        </p:nvSpPr>
        <p:spPr>
          <a:xfrm>
            <a:off x="548640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D43 도산서원(대전)</a:t>
            </a:r>
          </a:p>
        </p:txBody>
      </p:sp>
      <p:sp>
        <p:nvSpPr>
          <p:cNvPr id="27" name="reference-22"/>
          <p:cNvSpPr txBox="1"/>
          <p:nvPr/>
        </p:nvSpPr>
        <p:spPr>
          <a:xfrm>
            <a:off x="548640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D44 둔산꽃시장</a:t>
            </a:r>
          </a:p>
        </p:txBody>
      </p:sp>
      <p:sp>
        <p:nvSpPr>
          <p:cNvPr id="28" name="reference-23"/>
          <p:cNvSpPr txBox="1"/>
          <p:nvPr/>
        </p:nvSpPr>
        <p:spPr>
          <a:xfrm>
            <a:off x="548640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D45 둔산전자타운</a:t>
            </a:r>
          </a:p>
        </p:txBody>
      </p:sp>
      <p:sp>
        <p:nvSpPr>
          <p:cNvPr id="29" name="reference-24"/>
          <p:cNvSpPr txBox="1"/>
          <p:nvPr/>
        </p:nvSpPr>
        <p:spPr>
          <a:xfrm>
            <a:off x="548640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D46 롯데백화점 (대전점)</a:t>
            </a:r>
          </a:p>
        </p:txBody>
      </p:sp>
      <p:sp>
        <p:nvSpPr>
          <p:cNvPr id="30" name="reference-25"/>
          <p:cNvSpPr txBox="1"/>
          <p:nvPr/>
        </p:nvSpPr>
        <p:spPr>
          <a:xfrm>
            <a:off x="548640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D47 마치광장</a:t>
            </a:r>
          </a:p>
        </p:txBody>
      </p:sp>
      <p:sp>
        <p:nvSpPr>
          <p:cNvPr id="31" name="reference-26"/>
          <p:cNvSpPr txBox="1"/>
          <p:nvPr/>
        </p:nvSpPr>
        <p:spPr>
          <a:xfrm>
            <a:off x="548640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D48 몽뜨</a:t>
            </a:r>
          </a:p>
        </p:txBody>
      </p:sp>
      <p:sp>
        <p:nvSpPr>
          <p:cNvPr id="32" name="reference-27"/>
          <p:cNvSpPr txBox="1"/>
          <p:nvPr/>
        </p:nvSpPr>
        <p:spPr>
          <a:xfrm>
            <a:off x="548640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D49 미세노센세</a:t>
            </a:r>
          </a:p>
        </p:txBody>
      </p:sp>
      <p:sp>
        <p:nvSpPr>
          <p:cNvPr id="3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3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외지인 1박형 상권 결제 인증 지원 시범</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숙박·체험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2,880명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3,840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864명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8일 × 3개월 × 하루 1회 × 회당 20명 = 3,840명분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2026-10~2026-12 운영 · 예상 견적 1.44억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+0.01%</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