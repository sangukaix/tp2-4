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ns0="http://schemas.openxmlformats.org/officeDocument/2006/relationships" id="276" ns0:id="rId20"/>
    <p:sldId xmlns:r="http://schemas.openxmlformats.org/officeDocument/2006/relationships" id="258" r:id="Rb96b5134fc1b4629"/>
    <p:sldId xmlns:r="http://schemas.openxmlformats.org/officeDocument/2006/relationships" id="261" r:id="Rbf371966fa964fc8"/>
    <p:sldId xmlns:ns0="http://schemas.openxmlformats.org/officeDocument/2006/relationships" id="270" ns0:id="rId17"/>
    <p:sldId xmlns:r="http://schemas.openxmlformats.org/officeDocument/2006/relationships" id="259" r:id="R5b6702ccd7664af1"/>
    <p:sldId xmlns:ns0="http://schemas.openxmlformats.org/officeDocument/2006/relationships" id="272" ns0:id="rId18"/>
    <p:sldId xmlns:ns0="http://schemas.openxmlformats.org/officeDocument/2006/relationships" id="274" ns0:id="rId22"/>
    <p:sldId xmlns:ns0="http://schemas.openxmlformats.org/officeDocument/2006/relationships" id="275" ns0:id="rId23"/>
    <p:sldId xmlns:r="http://schemas.openxmlformats.org/officeDocument/2006/relationships" id="262" r:id="R4c9d0e3030fa4c5f"/>
    <p:sldId xmlns:r="http://schemas.openxmlformats.org/officeDocument/2006/relationships" id="263" r:id="Rbbe47957bc6641c0"/>
    <p:sldId xmlns:r="http://schemas.openxmlformats.org/officeDocument/2006/relationships" id="264" r:id="R72f63d3229d64861"/>
    <p:sldId xmlns:ns0="http://schemas.openxmlformats.org/officeDocument/2006/relationships" id="273" ns0:id="rId21"/>
    <p:sldId xmlns:r="http://schemas.openxmlformats.org/officeDocument/2006/relationships" id="266" r:id="R029df0519ade4c8b"/>
    <p:sldId xmlns:ns0="http://schemas.openxmlformats.org/officeDocument/2006/relationships" id="268" ns0:id="rId19"/>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4.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6.xml"/><Relationship Id="R4c9d0e3030fa4c5f" Type="http://schemas.openxmlformats.org/officeDocument/2006/relationships/slide" Target="slides/slide10.xml"/><Relationship Id="R5b6702ccd7664af1" Type="http://schemas.openxmlformats.org/officeDocument/2006/relationships/slide" Target="slides/slide6.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12.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11.xml"/><Relationship Id="Rbf371966fa964fc8" Type="http://schemas.openxmlformats.org/officeDocument/2006/relationships/slide" Target="slides/slide4.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5.xml"/><Relationship Id="rId18" Type="http://schemas.openxmlformats.org/officeDocument/2006/relationships/slide" Target="slides/slide7.xml"/><Relationship Id="rId19" Type="http://schemas.openxmlformats.org/officeDocument/2006/relationships/slide" Target="slides/slide15.xml"/><Relationship Id="rId20" Type="http://schemas.openxmlformats.org/officeDocument/2006/relationships/slide" Target="slides/slide17.xml"/><Relationship Id="rId21" Type="http://schemas.openxmlformats.org/officeDocument/2006/relationships/slide" Target="slides/slide13.xml"/><Relationship Id="rId22" Type="http://schemas.openxmlformats.org/officeDocument/2006/relationships/slide" Target="slides/slide8.xml"/><Relationship Id="rId23"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만&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499.8578</c:v>
                </c:pt>
                <c:pt idx="1">
                  <c:v>494.0348</c:v>
                </c:pt>
                <c:pt idx="2">
                  <c:v>498.9633</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만&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499.8578</c:v>
                </c:pt>
                <c:pt idx="1">
                  <c:v>494.08248288</c:v>
                </c:pt>
                <c:pt idx="2">
                  <c:v>499.05961712</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520.0"/>
          <c:min val="46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억&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793.5937471</c:v>
                </c:pt>
                <c:pt idx="1">
                  <c:v>859.71975908</c:v>
                </c:pt>
                <c:pt idx="2">
                  <c:v>810.33922052</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억&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793.5937471</c:v>
                </c:pt>
                <c:pt idx="1">
                  <c:v>859.89822377</c:v>
                </c:pt>
                <c:pt idx="2">
                  <c:v>810.6756486</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900.0"/>
          <c:min val="75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5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서구</c:v>
                </c:pt>
                <c:pt idx="1">
                  <c:v>전국 비교 평균</c:v>
                </c:pt>
              </c:strCache>
            </c:strRef>
          </c:cat>
          <c:val>
            <c:numRef>
              <c:f>Sheet1!$B$2:$B$3</c:f>
              <c:numCache>
                <c:formatCode>General</c:formatCode>
                <c:ptCount val="2"/>
                <c:pt idx="0">
                  <c:v>-1.766149</c:v>
                </c:pt>
                <c:pt idx="1">
                  <c:v>-0.394767</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0.49452172000000005"/>
          <c:min val="-2.2606707200000002"/>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서구</c:v>
                </c:pt>
                <c:pt idx="1">
                  <c:v>전국 비교 평균</c:v>
                </c:pt>
              </c:strCache>
            </c:strRef>
          </c:cat>
          <c:val>
            <c:numRef>
              <c:f>Sheet1!$B$2:$B$3</c:f>
              <c:numCache>
                <c:formatCode>General</c:formatCode>
                <c:ptCount val="2"/>
                <c:pt idx="0">
                  <c:v>4.485906</c:v>
                </c:pt>
                <c:pt idx="1">
                  <c:v>6.640909</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8.50036352"/>
          <c:min val="-1.85945452"/>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월별 추가 목표</c:v>
                </c:pt>
              </c:strCache>
            </c:strRef>
          </c:tx>
          <c:dPt>
            <c:idx val="0"/>
            <c:spPr>
              <a:solidFill>
                <a:srgbClr val="27649B"/>
              </a:solidFill>
              <a:ln>
                <a:noFill/>
              </a:ln>
            </c:spPr>
          </c:dPt>
          <c:dPt>
            <c:idx val="1"/>
            <c:spPr>
              <a:solidFill>
                <a:srgbClr val="27649B"/>
              </a:solidFill>
              <a:ln>
                <a:noFill/>
              </a:ln>
            </c:spPr>
          </c:dPt>
          <c:dPt>
            <c:idx val="2"/>
            <c:spPr>
              <a:solidFill>
                <a:srgbClr val="27649B"/>
              </a:solidFill>
              <a:ln>
                <a:noFill/>
              </a:ln>
            </c:spPr>
          </c:dPt>
          <c:cat>
            <c:strRef>
              <c:f>Sheet1!$A$2:$A$4</c:f>
              <c:strCache>
                <c:ptCount val="3"/>
                <c:pt idx="0">
                  <c:v>26.10</c:v>
                </c:pt>
                <c:pt idx="1">
                  <c:v>26.11</c:v>
                </c:pt>
                <c:pt idx="2">
                  <c:v>26.12</c:v>
                </c:pt>
              </c:strCache>
            </c:strRef>
          </c:cat>
          <c:val>
            <c:numRef>
              <c:f>Sheet1!$B$2:$B$4</c:f>
              <c:numCache>
                <c:formatCode>General</c:formatCode>
                <c:ptCount val="3"/>
                <c:pt idx="0">
                  <c:v>0.0</c:v>
                </c:pt>
                <c:pt idx="1">
                  <c:v>476.83</c:v>
                </c:pt>
                <c:pt idx="2">
                  <c:v>963.17</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월별 추가 목표</c:v>
                </c:pt>
              </c:strCache>
            </c:strRef>
          </c:tx>
          <c:dPt>
            <c:idx val="0"/>
            <c:spPr>
              <a:solidFill>
                <a:srgbClr val="187C70"/>
              </a:solidFill>
              <a:ln>
                <a:noFill/>
              </a:ln>
            </c:spPr>
          </c:dPt>
          <c:dPt>
            <c:idx val="1"/>
            <c:spPr>
              <a:solidFill>
                <a:srgbClr val="187C70"/>
              </a:solidFill>
              <a:ln>
                <a:noFill/>
              </a:ln>
            </c:spPr>
          </c:dPt>
          <c:dPt>
            <c:idx val="2"/>
            <c:spPr>
              <a:solidFill>
                <a:srgbClr val="187C70"/>
              </a:solidFill>
              <a:ln>
                <a:noFill/>
              </a:ln>
            </c:spPr>
          </c:dPt>
          <c:cat>
            <c:strRef>
              <c:f>Sheet1!$A$2:$A$4</c:f>
              <c:strCache>
                <c:ptCount val="3"/>
                <c:pt idx="0">
                  <c:v>26.10</c:v>
                </c:pt>
                <c:pt idx="1">
                  <c:v>26.11</c:v>
                </c:pt>
                <c:pt idx="2">
                  <c:v>26.12</c:v>
                </c:pt>
              </c:strCache>
            </c:strRef>
          </c:cat>
          <c:val>
            <c:numRef>
              <c:f>Sheet1!$B$2:$B$4</c:f>
              <c:numCache>
                <c:formatCode>General</c:formatCode>
                <c:ptCount val="3"/>
                <c:pt idx="0">
                  <c:v>0.0</c:v>
                </c:pt>
                <c:pt idx="1">
                  <c:v>1784.65</c:v>
                </c:pt>
                <c:pt idx="2">
                  <c:v>3364.28</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6.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4.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10.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6.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한국관광 데이터랩 공식 다운로드 · 대전광역시_서구/방문자/2025_01_12.zip | https://datalab.visitkorea.or.kr/</a:t>
            </a:r>
          </a:p>
          <a:p xmlns:a="http://schemas.openxmlformats.org/drawingml/2006/main">
            <a:r>
              <a:t>datalab:162285800b98:dbba3ac2e220 | 한국관광 데이터랩 공식 다운로드 · 대전광역시_서구/관광소비/2025_01_12.zip | https://datalab.visitkorea.or.kr/</a:t>
            </a:r>
          </a:p>
          <a:p xmlns:a="http://schemas.openxmlformats.org/drawingml/2006/main">
            <a:r>
              <a:t>datalab:1bec5b4405e1:6c5494eef7c6 | 한국관광 데이터랩 공식 다운로드 · 대전광역시_서구/숙박_체류시간/2025_01_12.zip | https://datalab.visitkorea.or.kr/</a:t>
            </a:r>
          </a:p>
          <a:p xmlns:a="http://schemas.openxmlformats.org/drawingml/2006/main">
            <a:r>
              <a:t>datalab:7a4db91d6ba9:d81294f3e5a0 | 한국관광 데이터랩 공식 다운로드 · 대전광역시_서구/관광소비/2026_01_06.zip | https://datalab.visitkorea.or.kr/</a:t>
            </a:r>
          </a:p>
          <a:p xmlns:a="http://schemas.openxmlformats.org/drawingml/2006/main">
            <a:r>
              <a:t>datalab:cc1dc8fb5607:77f3b69cfb89 | 한국관광 데이터랩 공식 다운로드 · 대전광역시_서구/방문자/2026_01_06.zip | https://datalab.visitkorea.or.kr/</a:t>
            </a:r>
          </a:p>
          <a:p xmlns:a="http://schemas.openxmlformats.org/drawingml/2006/main">
            <a:r>
              <a:t>datalab:e53d144382ee:fc025995a6df | 한국관광 데이터랩 공식 다운로드 · 대전광역시_서구/숙박_체류시간/2026_01_06.zip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 https://datalab.visitkorea.or.kr/site/portal/ex/bbs/View.do?bcIdx=311068&amp;cbIdx=1135&amp;pageIndex=1</a:t>
            </a:r>
          </a:p>
          <a:p xmlns:a="http://schemas.openxmlformats.org/drawingml/2006/main">
            <a:r>
              <a:t>web:30170:1 | 여행가는 달 지역 여행할인 모아보기 | https://korean.visitkorea.or.kr/travelmonth/benefit.do?modal=benefit-190</a:t>
            </a:r>
          </a:p>
          <a:p xmlns:a="http://schemas.openxmlformats.org/drawingml/2006/main">
            <a:r>
              <a:t>web:30170:2 | 대전광역시_문화시설 | 공공데이터포털 | https://www.data.go.kr/data/15112114/openapi.do?recommendDataYn=Y</a:t>
            </a:r>
          </a:p>
          <a:p xmlns:a="http://schemas.openxmlformats.org/drawingml/2006/main">
            <a:r>
              <a:t>web:30170:3 | 대전광역시 문화관광(숙박정보) 데이터 | 공공데이터포털 | https://www.data.go.kr/dataset/15001021/openapi.do</a:t>
            </a:r>
          </a:p>
          <a:p xmlns:a="http://schemas.openxmlformats.org/drawingml/2006/main">
            <a:r>
              <a:t>web:30170:4 | 대전문화관광해설사 신규 양성 교육 | 한국관광공사 관광e배움터 | https://touredu.visitkorea.or.kr/home/pkgEdu/pkgEduDetail?crsCd=C202600107&amp;eduPlanYr=2026&amp;eduPlanYrStepCnt=1</a:t>
            </a:r>
          </a:p>
          <a:p xmlns:a="http://schemas.openxmlformats.org/drawingml/2006/main">
            <a:r>
              <a:t>web:30170:5 | 대전광역시 서구_체육시설 현황 | 공공데이터포털 | https://www.data.go.kr/dataset/15037511/fileData.do</a:t>
            </a:r>
          </a:p>
          <a:p xmlns:a="http://schemas.openxmlformats.org/drawingml/2006/main">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case:41508ca81cf29f | 한국관광 데이터랩 · 안동탈춤축제 연도별 방문자 추이 | https://datalab.visitkorea.or.kr/</a:t>
            </a:r>
          </a:p>
          <a:p xmlns:a="http://schemas.openxmlformats.org/drawingml/2006/main">
            <a:r>
              <a:t>case:festival:01474ef75569b1 | 한국관광 데이터랩 · 문경찻사발축제 방문자 추이 | https://datalab.visitkorea.or.kr/</a:t>
            </a:r>
          </a:p>
          <a:p xmlns:a="http://schemas.openxmlformats.org/drawingml/2006/main">
            <a:r>
              <a:t>case:28ff66d9b44637 | 2025년 문화예술 축제 통합 지원사업 종합결과보고서 | https://culture.seoul.go.kr/culture/cmmn/file/fileDown.do?atchFileId=bb34395b25504c66a77ef69999cacb1c&amp;bbsId=B0000006&amp;fileSn=1</a:t>
            </a:r>
          </a:p>
          <a:p xmlns:a="http://schemas.openxmlformats.org/drawingml/2006/main">
            <a:r>
              <a:t>case:58c0694a3e85d8 | 귀촌 '원조 반값'은 다르다… 강진서 전국 확산 '체류 관광 도시' | https://jnfarm.jeonnam.go.kr/board/FARM_BOARD_008/boardView.do?bdId=BD_00000000000015383&amp;menuCd=farm004002</a:t>
            </a:r>
          </a:p>
          <a:p xmlns:a="http://schemas.openxmlformats.org/drawingml/2006/main">
            <a:r>
              <a:t>case:4544b7bca8ebab | 요즘, 한국관광 2호 - 지방공항 연계 지역관광 활성화 방안 | https://datalab.visitkorea.or.kr/site/portal/ex/bbs/View.do?bcIdx=311068&amp;cbIdx=1135&amp;pageIndex=1</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표지 사진 출처: {"title": "도산서원(대전)", "address": "대전광역시 서구 남선로 8", "summary": "한국관광공사 국문관광정보 API가 반환한 선택 지역 관광자원", "image_url": "http://tong.visitkorea.or.kr/cms/resource/24/3035024_image2_1.JPG", "source_id": "tour-api:1955818", "content_id": "1955818", "source_url": "https://apis.data.go.kr/B551011/KorService2", "source_type": "open_api", "content_type_id":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한국관광 데이터랩 공식 다운로드 · 대전광역시_서구/방문자/2025_01_12.zip | https://datalab.visitkorea.or.kr/</a:t>
            </a:r>
          </a:p>
          <a:p xmlns:a="http://schemas.openxmlformats.org/drawingml/2006/main">
            <a:r>
              <a:t>datalab:162285800b98:dbba3ac2e220 | 한국관광 데이터랩 공식 다운로드 · 대전광역시_서구/관광소비/2025_01_12.zip | https://datalab.visitkorea.or.kr/</a:t>
            </a:r>
          </a:p>
          <a:p xmlns:a="http://schemas.openxmlformats.org/drawingml/2006/main">
            <a:r>
              <a:t>datalab:1bec5b4405e1:6c5494eef7c6 | 한국관광 데이터랩 공식 다운로드 · 대전광역시_서구/숙박_체류시간/2025_01_12.zip | https://datalab.visitkorea.or.kr/</a:t>
            </a:r>
          </a:p>
          <a:p xmlns:a="http://schemas.openxmlformats.org/drawingml/2006/main">
            <a:r>
              <a:t>datalab:7a4db91d6ba9:d81294f3e5a0 | 한국관광 데이터랩 공식 다운로드 · 대전광역시_서구/관광소비/2026_01_06.zip | https://datalab.visitkorea.or.kr/</a:t>
            </a:r>
          </a:p>
          <a:p xmlns:a="http://schemas.openxmlformats.org/drawingml/2006/main">
            <a:r>
              <a:t>datalab:cc1dc8fb5607:77f3b69cfb89 | 한국관광 데이터랩 공식 다운로드 · 대전광역시_서구/방문자/2026_01_06.zip | https://datalab.visitkorea.or.kr/</a:t>
            </a:r>
          </a:p>
          <a:p xmlns:a="http://schemas.openxmlformats.org/drawingml/2006/main">
            <a:r>
              <a:t>datalab:e53d144382ee:fc025995a6df | 한국관광 데이터랩 공식 다운로드 · 대전광역시_서구/숙박_체류시간/2026_01_06.zip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 https://datalab.visitkorea.or.kr/site/portal/ex/bbs/View.do?bcIdx=311068&amp;cbIdx=1135&amp;pageIndex=1</a:t>
            </a:r>
          </a:p>
          <a:p xmlns:a="http://schemas.openxmlformats.org/drawingml/2006/main">
            <a:r>
              <a:t>web:30170:1 | 여행가는 달 지역 여행할인 모아보기 | https://korean.visitkorea.or.kr/travelmonth/benefit.do?modal=benefit-190</a:t>
            </a:r>
          </a:p>
          <a:p xmlns:a="http://schemas.openxmlformats.org/drawingml/2006/main">
            <a:r>
              <a:t>web:30170:2 | 대전광역시_문화시설 | 공공데이터포털 | https://www.data.go.kr/data/15112114/openapi.do?recommendDataYn=Y</a:t>
            </a:r>
          </a:p>
          <a:p xmlns:a="http://schemas.openxmlformats.org/drawingml/2006/main">
            <a:r>
              <a:t>web:30170:3 | 대전광역시 문화관광(숙박정보) 데이터 | 공공데이터포털 | https://www.data.go.kr/dataset/15001021/openapi.do</a:t>
            </a:r>
          </a:p>
          <a:p xmlns:a="http://schemas.openxmlformats.org/drawingml/2006/main">
            <a:r>
              <a:t>web:30170:4 | 대전문화관광해설사 신규 양성 교육 | 한국관광공사 관광e배움터 | https://touredu.visitkorea.or.kr/home/pkgEdu/pkgEduDetail?crsCd=C202600107&amp;eduPlanYr=2026&amp;eduPlanYrStepCnt=1</a:t>
            </a:r>
          </a:p>
          <a:p xmlns:a="http://schemas.openxmlformats.org/drawingml/2006/main">
            <a:r>
              <a:t>web:30170:5 | 대전광역시 서구_체육시설 현황 | 공공데이터포털 | https://www.data.go.kr/dataset/15037511/fileData.do</a:t>
            </a:r>
          </a:p>
          <a:p xmlns:a="http://schemas.openxmlformats.org/drawingml/2006/main">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case:41508ca81cf29f | 한국관광 데이터랩 · 안동탈춤축제 연도별 방문자 추이 | https://datalab.visitkorea.or.kr/</a:t>
            </a:r>
          </a:p>
          <a:p xmlns:a="http://schemas.openxmlformats.org/drawingml/2006/main">
            <a:r>
              <a:t>case:festival:01474ef75569b1 | 한국관광 데이터랩 · 문경찻사발축제 방문자 추이 | https://datalab.visitkorea.or.kr/</a:t>
            </a:r>
          </a:p>
          <a:p xmlns:a="http://schemas.openxmlformats.org/drawingml/2006/main">
            <a:r>
              <a:t>case:28ff66d9b44637 | 2025년 문화예술 축제 통합 지원사업 종합결과보고서 | https://culture.seoul.go.kr/culture/cmmn/file/fileDown.do?atchFileId=bb34395b25504c66a77ef69999cacb1c&amp;bbsId=B0000006&amp;fileSn=1</a:t>
            </a:r>
          </a:p>
          <a:p xmlns:a="http://schemas.openxmlformats.org/drawingml/2006/main">
            <a:r>
              <a:t>case:58c0694a3e85d8 | 귀촌 '원조 반값'은 다르다… 강진서 전국 확산 '체류 관광 도시' | https://jnfarm.jeonnam.go.kr/board/FARM_BOARD_008/boardView.do?bdId=BD_00000000000015383&amp;menuCd=farm004002</a:t>
            </a:r>
          </a:p>
          <a:p xmlns:a="http://schemas.openxmlformats.org/drawingml/2006/main">
            <a:r>
              <a:t>case:4544b7bca8ebab | 요즘, 한국관광 2호 - 지방공항 연계 지역관광 활성화 방안 | https://datalab.visitkorea.or.kr/site/portal/ex/bbs/View.do?bcIdx=311068&amp;cbIdx=1135&amp;pageIndex=1</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"comparison": {</a:t>
            </a:r>
          </a:p>
          <a:p xmlns:a="http://schemas.openxmlformats.org/drawingml/2006/main">
            <a:r>
              <a:t>    "count": 249,</a:t>
            </a:r>
          </a:p>
          <a:p xmlns:a="http://schemas.openxmlformats.org/drawingml/2006/main">
            <a:r>
              <a:t>    "months": [</a:t>
            </a:r>
          </a:p>
          <a:p xmlns:a="http://schemas.openxmlformats.org/drawingml/2006/main">
            <a:r>
              <a:t>      "202610",</a:t>
            </a:r>
          </a:p>
          <a:p xmlns:a="http://schemas.openxmlformats.org/drawingml/2006/main">
            <a:r>
              <a:t>      "202611",</a:t>
            </a:r>
          </a:p>
          <a:p xmlns:a="http://schemas.openxmlformats.org/drawingml/2006/main">
            <a:r>
              <a:t>      "202612"</a:t>
            </a:r>
          </a:p>
          <a:p xmlns:a="http://schemas.openxmlformats.org/drawingml/2006/main">
            <a:r>
              <a:t>    ],</a:t>
            </a:r>
          </a:p>
          <a:p xmlns:a="http://schemas.openxmlformats.org/drawingml/2006/main">
            <a:r>
              <a:t>    "origin": "202606",</a:t>
            </a:r>
          </a:p>
          <a:p xmlns:a="http://schemas.openxmlformats.org/drawingml/2006/main">
            <a:r>
              <a:t>    "signature": "9da8906bc18ad5ed9a1f620a997c40557df67be2a658dc8a337d675d2ed7fe0e",</a:t>
            </a:r>
          </a:p>
          <a:p xmlns:a="http://schemas.openxmlformats.org/drawingml/2006/main">
            <a:r>
              <a:t>    "region_code": "30170",</a:t>
            </a:r>
          </a:p>
          <a:p xmlns:a="http://schemas.openxmlformats.org/drawingml/2006/main">
            <a:r>
              <a:t>    "metrics": {</a:t>
            </a:r>
          </a:p>
          <a:p xmlns:a="http://schemas.openxmlformats.org/drawingml/2006/main">
            <a:r>
              <a:t>      "visitors": {</a:t>
            </a:r>
          </a:p>
          <a:p xmlns:a="http://schemas.openxmlformats.org/drawingml/2006/main">
            <a:r>
              <a:t>        "forecast": [</a:t>
            </a:r>
          </a:p>
          <a:p xmlns:a="http://schemas.openxmlformats.org/drawingml/2006/main">
            <a:r>
              <a:t>          4998578,</a:t>
            </a:r>
          </a:p>
          <a:p xmlns:a="http://schemas.openxmlformats.org/drawingml/2006/main">
            <a:r>
              <a:t>          4940348,</a:t>
            </a:r>
          </a:p>
          <a:p xmlns:a="http://schemas.openxmlformats.org/drawingml/2006/main">
            <a:r>
              <a:t>          4989633</a:t>
            </a:r>
          </a:p>
          <a:p xmlns:a="http://schemas.openxmlformats.org/drawingml/2006/main">
            <a:r>
              <a:t>        ],</a:t>
            </a:r>
          </a:p>
          <a:p xmlns:a="http://schemas.openxmlformats.org/drawingml/2006/main">
            <a:r>
              <a:t>        "previous": [</a:t>
            </a:r>
          </a:p>
          <a:p xmlns:a="http://schemas.openxmlformats.org/drawingml/2006/main">
            <a:r>
              <a:t>          4949394.0,</a:t>
            </a:r>
          </a:p>
          <a:p xmlns:a="http://schemas.openxmlformats.org/drawingml/2006/main">
            <a:r>
              <a:t>          5167969.0,</a:t>
            </a:r>
          </a:p>
          <a:p xmlns:a="http://schemas.openxmlformats.org/drawingml/2006/main">
            <a:r>
              <a:t>          5079597.0</a:t>
            </a:r>
          </a:p>
          <a:p xmlns:a="http://schemas.openxmlformats.org/drawingml/2006/main">
            <a:r>
              <a:t>        ],</a:t>
            </a:r>
          </a:p>
          <a:p xmlns:a="http://schemas.openxmlformats.org/drawingml/2006/main">
            <a:r>
              <a:t>        "growth_pct": -1.766149282488072,</a:t>
            </a:r>
          </a:p>
          <a:p xmlns:a="http://schemas.openxmlformats.org/drawingml/2006/main">
            <a:r>
              <a:t>        "national_mean_pct": -0.394766937691683,</a:t>
            </a:r>
          </a:p>
          <a:p xmlns:a="http://schemas.openxmlformats.org/drawingml/2006/main">
            <a:r>
              <a:t>        "gap_pp": -1.371382344796389,</a:t>
            </a:r>
          </a:p>
          <a:p xmlns:a="http://schemas.openxmlformats.org/drawingml/2006/main">
            <a:r>
              <a:t>        "rank": 185,</a:t>
            </a:r>
          </a:p>
          <a:p xmlns:a="http://schemas.openxmlformats.org/drawingml/2006/main">
            <a:r>
              <a:t>        "target_growth_pct": -1.756673703161682,</a:t>
            </a:r>
          </a:p>
          <a:p xmlns:a="http://schemas.openxmlformats.org/drawingml/2006/main">
            <a:r>
              <a:t>        "target_rank": 185,</a:t>
            </a:r>
          </a:p>
          <a:p xmlns:a="http://schemas.openxmlformats.org/drawingml/2006/main">
            <a:r>
              <a:t>        "target": [</a:t>
            </a:r>
          </a:p>
          <a:p xmlns:a="http://schemas.openxmlformats.org/drawingml/2006/main">
            <a:r>
              <a:t>          4998578.0,</a:t>
            </a:r>
          </a:p>
          <a:p xmlns:a="http://schemas.openxmlformats.org/drawingml/2006/main">
            <a:r>
              <a:t>          4940824.828765141,</a:t>
            </a:r>
          </a:p>
          <a:p xmlns:a="http://schemas.openxmlformats.org/drawingml/2006/main">
            <a:r>
              <a:t>          4990596.171234859</a:t>
            </a:r>
          </a:p>
          <a:p xmlns:a="http://schemas.openxmlformats.org/drawingml/2006/main">
            <a:r>
              <a:t>        ],</a:t>
            </a:r>
          </a:p>
          <a:p xmlns:a="http://schemas.openxmlformats.org/drawingml/2006/main">
            <a:r>
              <a:t>        "additional": 1440.0</a:t>
            </a:r>
          </a:p>
          <a:p xmlns:a="http://schemas.openxmlformats.org/drawingml/2006/main">
            <a:r>
              <a:t>      },</a:t>
            </a:r>
          </a:p>
          <a:p xmlns:a="http://schemas.openxmlformats.org/drawingml/2006/main">
            <a:r>
              <a:t>      "spending": {</a:t>
            </a:r>
          </a:p>
          <a:p xmlns:a="http://schemas.openxmlformats.org/drawingml/2006/main">
            <a:r>
              <a:t>        "forecast": [</a:t>
            </a:r>
          </a:p>
          <a:p xmlns:a="http://schemas.openxmlformats.org/drawingml/2006/main">
            <a:r>
              <a:t>          79359374710,</a:t>
            </a:r>
          </a:p>
          <a:p xmlns:a="http://schemas.openxmlformats.org/drawingml/2006/main">
            <a:r>
              <a:t>          85971975908,</a:t>
            </a:r>
          </a:p>
          <a:p xmlns:a="http://schemas.openxmlformats.org/drawingml/2006/main">
            <a:r>
              <a:t>          81033922052</a:t>
            </a:r>
          </a:p>
          <a:p xmlns:a="http://schemas.openxmlformats.org/drawingml/2006/main">
            <a:r>
              <a:t>        ],</a:t>
            </a:r>
          </a:p>
          <a:p xmlns:a="http://schemas.openxmlformats.org/drawingml/2006/main">
            <a:r>
              <a:t>        "previous": [</a:t>
            </a:r>
          </a:p>
          <a:p xmlns:a="http://schemas.openxmlformats.org/drawingml/2006/main">
            <a:r>
              <a:t>          78158272000.0,</a:t>
            </a:r>
          </a:p>
          <a:p xmlns:a="http://schemas.openxmlformats.org/drawingml/2006/main">
            <a:r>
              <a:t>          76509918000.0,</a:t>
            </a:r>
          </a:p>
          <a:p xmlns:a="http://schemas.openxmlformats.org/drawingml/2006/main">
            <a:r>
              <a:t>          81119852000.0</a:t>
            </a:r>
          </a:p>
          <a:p xmlns:a="http://schemas.openxmlformats.org/drawingml/2006/main">
            <a:r>
              <a:t>        ],</a:t>
            </a:r>
          </a:p>
          <a:p xmlns:a="http://schemas.openxmlformats.org/drawingml/2006/main">
            <a:r>
              <a:t>        "growth_pct": 4.485906316657062,</a:t>
            </a:r>
          </a:p>
          <a:p xmlns:a="http://schemas.openxmlformats.org/drawingml/2006/main">
            <a:r>
              <a:t>        "national_mean_pct": 6.640909128955906,</a:t>
            </a:r>
          </a:p>
          <a:p xmlns:a="http://schemas.openxmlformats.org/drawingml/2006/main">
            <a:r>
              <a:t>        "gap_pp": -2.155002812298844,</a:t>
            </a:r>
          </a:p>
          <a:p xmlns:a="http://schemas.openxmlformats.org/drawingml/2006/main">
            <a:r>
              <a:t>        "rank": 60,</a:t>
            </a:r>
          </a:p>
          <a:p xmlns:a="http://schemas.openxmlformats.org/drawingml/2006/main">
            <a:r>
              <a:t>        "target_growth_pct": 4.507743419405474,</a:t>
            </a:r>
          </a:p>
          <a:p xmlns:a="http://schemas.openxmlformats.org/drawingml/2006/main">
            <a:r>
              <a:t>        "target_rank": 60,</a:t>
            </a:r>
          </a:p>
          <a:p xmlns:a="http://schemas.openxmlformats.org/drawingml/2006/main">
            <a:r>
              <a:t>        "target": [</a:t>
            </a:r>
          </a:p>
          <a:p xmlns:a="http://schemas.openxmlformats.org/drawingml/2006/main">
            <a:r>
              <a:t>          79359374710.0,</a:t>
            </a:r>
          </a:p>
          <a:p xmlns:a="http://schemas.openxmlformats.org/drawingml/2006/main">
            <a:r>
              <a:t>          85989822376.69019,</a:t>
            </a:r>
          </a:p>
          <a:p xmlns:a="http://schemas.openxmlformats.org/drawingml/2006/main">
            <a:r>
              <a:t>          81067564860.30981</a:t>
            </a:r>
          </a:p>
          <a:p xmlns:a="http://schemas.openxmlformats.org/drawingml/2006/main">
            <a:r>
              <a:t>        ],</a:t>
            </a:r>
          </a:p>
          <a:p xmlns:a="http://schemas.openxmlformats.org/drawingml/2006/main">
            <a:r>
              <a:t>        "additional": 51489277.0</a:t>
            </a:r>
          </a:p>
          <a:p xmlns:a="http://schemas.openxmlformats.org/drawingml/2006/main">
            <a:r>
              <a:t>      }</a:t>
            </a:r>
          </a:p>
          <a:p xmlns:a="http://schemas.openxmlformats.org/drawingml/2006/main">
            <a:r>
              <a:t>    },</a:t>
            </a:r>
          </a:p>
          <a:p xmlns:a="http://schemas.openxmlformats.org/drawingml/2006/main">
            <a:r>
              <a:t>    "population_adjusted": false,</a:t>
            </a:r>
          </a:p>
          <a:p xmlns:a="http://schemas.openxmlformats.org/drawingml/2006/main">
            <a:r>
              <a:t>    "cohort": [</a:t>
            </a:r>
          </a:p>
          <a:p xmlns:a="http://schemas.openxmlformats.org/drawingml/2006/main">
            <a:r>
              <a:t>      {</a:t>
            </a:r>
          </a:p>
          <a:p xmlns:a="http://schemas.openxmlformats.org/drawingml/2006/main">
            <a:r>
              <a:t>        "region_code": "28245",</a:t>
            </a:r>
          </a:p>
          <a:p xmlns:a="http://schemas.openxmlformats.org/drawingml/2006/main">
            <a:r>
              <a:t>        "region_name": "인천광역시 계양구",</a:t>
            </a:r>
          </a:p>
          <a:p xmlns:a="http://schemas.openxmlformats.org/drawingml/2006/main">
            <a:r>
              <a:t>        "visitors_yoy_pct": -0.181730776849387,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"11110",</a:t>
            </a:r>
          </a:p>
          <a:p xmlns:a="http://schemas.openxmlformats.org/drawingml/2006/main">
            <a:r>
              <a:t>        "region_name": "서울특별시 종로구",</a:t>
            </a:r>
          </a:p>
          <a:p xmlns:a="http://schemas.openxmlformats.org/drawingml/2006/main">
            <a:r>
              <a:t>        "visitors_yoy_pct": 0.22058697128235494,</a:t>
            </a:r>
          </a:p>
          <a:p xmlns:a="http://schemas.openxmlformats.org/drawingml/2006/main">
            <a:r>
              <a:t>        "spending_yoy_pct": 4.580217217936977</a:t>
            </a:r>
          </a:p>
          <a:p xmlns:a="http://schemas.openxmlformats.org/drawingml/2006/main">
            <a:r>
              <a:t>      },</a:t>
            </a:r>
          </a:p>
          <a:p xmlns:a="http://schemas.openxmlformats.org/drawingml/2006/main">
            <a:r>
              <a:t>      {</a:t>
            </a:r>
          </a:p>
          <a:p xmlns:a="http://schemas.openxmlformats.org/drawingml/2006/main">
            <a:r>
              <a:t>        "region_code": "11140",</a:t>
            </a:r>
          </a:p>
          <a:p xmlns:a="http://schemas.openxmlformats.org/drawingml/2006/main">
            <a:r>
              <a:t>        "region_name": "서울특별시 중구",</a:t>
            </a:r>
          </a:p>
          <a:p xmlns:a="http://schemas.openxmlformats.org/drawingml/2006/main">
            <a:r>
              <a:t>        "visitors_yoy_pct": -4.979614214123506,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"11170",</a:t>
            </a:r>
          </a:p>
          <a:p xmlns:a="http://schemas.openxmlformats.org/drawingml/2006/main">
            <a:r>
              <a:t>        "region_name": "서울특별시 용산구",</a:t>
            </a:r>
          </a:p>
          <a:p xmlns:a="http://schemas.openxmlformats.org/drawingml/2006/main">
            <a:r>
              <a:t>        "visitors_yoy_pct": -0.3378475483719168,</a:t>
            </a:r>
          </a:p>
          <a:p xmlns:a="http://schemas.openxmlformats.org/drawingml/2006/main">
            <a:r>
              <a:t>        "spending_yoy_pct": 17.74232531130686</a:t>
            </a:r>
          </a:p>
          <a:p xmlns:a="http://schemas.openxmlformats.org/drawingml/2006/main">
            <a:r>
              <a:t>      },</a:t>
            </a:r>
          </a:p>
          <a:p xmlns:a="http://schemas.openxmlformats.org/drawingml/2006/main">
            <a:r>
              <a:t>      {</a:t>
            </a:r>
          </a:p>
          <a:p xmlns:a="http://schemas.openxmlformats.org/drawingml/2006/main">
            <a:r>
              <a:t>        "region_code": "11200",</a:t>
            </a:r>
          </a:p>
          <a:p xmlns:a="http://schemas.openxmlformats.org/drawingml/2006/main">
            <a:r>
              <a:t>        "region_name": "서울특별시 성동구",</a:t>
            </a:r>
          </a:p>
          <a:p xmlns:a="http://schemas.openxmlformats.org/drawingml/2006/main">
            <a:r>
              <a:t>        "visitors_yoy_pct": 2.5969573020728554,</a:t>
            </a:r>
          </a:p>
          <a:p xmlns:a="http://schemas.openxmlformats.org/drawingml/2006/main">
            <a:r>
              <a:t>        "spending_yoy_pct": 5.2897098661769615</a:t>
            </a:r>
          </a:p>
          <a:p xmlns:a="http://schemas.openxmlformats.org/drawingml/2006/main">
            <a:r>
              <a:t>      },</a:t>
            </a:r>
          </a:p>
          <a:p xmlns:a="http://schemas.openxmlformats.org/drawingml/2006/main">
            <a:r>
              <a:t>      {</a:t>
            </a:r>
          </a:p>
          <a:p xmlns:a="http://schemas.openxmlformats.org/drawingml/2006/main">
            <a:r>
              <a:t>        "region_code": "11215",</a:t>
            </a:r>
          </a:p>
          <a:p xmlns:a="http://schemas.openxmlformats.org/drawingml/2006/main">
            <a:r>
              <a:t>        "region_name": "서울특별시 광진구",</a:t>
            </a:r>
          </a:p>
          <a:p xmlns:a="http://schemas.openxmlformats.org/drawingml/2006/main">
            <a:r>
              <a:t>        "visitors_yoy_pct": 3.8434435752205065,</a:t>
            </a:r>
          </a:p>
          <a:p xmlns:a="http://schemas.openxmlformats.org/drawingml/2006/main">
            <a:r>
              <a:t>        "spending_yoy_pct": 15.750677281894143</a:t>
            </a:r>
          </a:p>
          <a:p xmlns:a="http://schemas.openxmlformats.org/drawingml/2006/main">
            <a:r>
              <a:t>      },</a:t>
            </a:r>
          </a:p>
          <a:p xmlns:a="http://schemas.openxmlformats.org/drawingml/2006/main">
            <a:r>
              <a:t>      {</a:t>
            </a:r>
          </a:p>
          <a:p xmlns:a="http://schemas.openxmlformats.org/drawingml/2006/main">
            <a:r>
              <a:t>        "region_code": "11230",</a:t>
            </a:r>
          </a:p>
          <a:p xmlns:a="http://schemas.openxmlformats.org/drawingml/2006/main">
            <a:r>
              <a:t>        "region_name": "서울특별시 동대문구",</a:t>
            </a:r>
          </a:p>
          <a:p xmlns:a="http://schemas.openxmlformats.org/drawingml/2006/main">
            <a:r>
              <a:t>        "visitors_yoy_pct": 3.9319477713267714,</a:t>
            </a:r>
          </a:p>
          <a:p xmlns:a="http://schemas.openxmlformats.org/drawingml/2006/main">
            <a:r>
              <a:t>        "spending_yoy_pct": 4.008665139200995</a:t>
            </a:r>
          </a:p>
          <a:p xmlns:a="http://schemas.openxmlformats.org/drawingml/2006/main">
            <a:r>
              <a:t>      },</a:t>
            </a:r>
          </a:p>
          <a:p xmlns:a="http://schemas.openxmlformats.org/drawingml/2006/main">
            <a:r>
              <a:t>      {</a:t>
            </a:r>
          </a:p>
          <a:p xmlns:a="http://schemas.openxmlformats.org/drawingml/2006/main">
            <a:r>
              <a:t>        "region_code": "11260",</a:t>
            </a:r>
          </a:p>
          <a:p xmlns:a="http://schemas.openxmlformats.org/drawingml/2006/main">
            <a:r>
              <a:t>        "region_name": "서울특별시 중랑구",</a:t>
            </a:r>
          </a:p>
          <a:p xmlns:a="http://schemas.openxmlformats.org/drawingml/2006/main">
            <a:r>
              <a:t>        "visitors_yoy_pct": 0.06390882102844664,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"11290",</a:t>
            </a:r>
          </a:p>
          <a:p xmlns:a="http://schemas.openxmlformats.org/drawingml/2006/main">
            <a:r>
              <a:t>        "region_name": "서울특별시 성북구",</a:t>
            </a:r>
          </a:p>
          <a:p xmlns:a="http://schemas.openxmlformats.org/drawingml/2006/main">
            <a:r>
              <a:t>        "visitors_yoy_pct": 6.491412818941056,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"11305",</a:t>
            </a:r>
          </a:p>
          <a:p xmlns:a="http://schemas.openxmlformats.org/drawingml/2006/main">
            <a:r>
              <a:t>        "region_name": "서울특별시 강북구",</a:t>
            </a:r>
          </a:p>
          <a:p xmlns:a="http://schemas.openxmlformats.org/drawingml/2006/main">
            <a:r>
              <a:t>        "visitors_yoy_pct": -0.31553169799538594,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"11320",</a:t>
            </a:r>
          </a:p>
          <a:p xmlns:a="http://schemas.openxmlformats.org/drawingml/2006/main">
            <a:r>
              <a:t>        "region_name": "서울특별시 도봉구",</a:t>
            </a:r>
          </a:p>
          <a:p xmlns:a="http://schemas.openxmlformats.org/drawingml/2006/main">
            <a:r>
              <a:t>        "visitors_yoy_pct": 1.9885852169564178,</a:t>
            </a:r>
          </a:p>
          <a:p xmlns:a="http://schemas.openxmlformats.org/drawingml/2006/main">
            <a:r>
              <a:t>        "spending_yoy_pct": -3.9398837471920745</a:t>
            </a:r>
          </a:p>
          <a:p xmlns:a="http://schemas.openxmlformats.org/drawingml/2006/main">
            <a:r>
              <a:t>      },</a:t>
            </a:r>
          </a:p>
          <a:p xmlns:a="http://schemas.openxmlformats.org/drawingml/2006/main">
            <a:r>
              <a:t>      {</a:t>
            </a:r>
          </a:p>
          <a:p xmlns:a="http://schemas.openxmlformats.org/drawingml/2006/main">
            <a:r>
              <a:t>        "region_code": "11350",</a:t>
            </a:r>
          </a:p>
          <a:p xmlns:a="http://schemas.openxmlformats.org/drawingml/2006/main">
            <a:r>
              <a:t>        "region_name": "서울특별시 노원구",</a:t>
            </a:r>
          </a:p>
          <a:p xmlns:a="http://schemas.openxmlformats.org/drawingml/2006/main">
            <a:r>
              <a:t>        "visitors_yoy_pct": 2.6732126130347034,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"11380",</a:t>
            </a:r>
          </a:p>
          <a:p xmlns:a="http://schemas.openxmlformats.org/drawingml/2006/main">
            <a:r>
              <a:t>        "region_name": "서울특별시 은평구",</a:t>
            </a:r>
          </a:p>
          <a:p xmlns:a="http://schemas.openxmlformats.org/drawingml/2006/main">
            <a:r>
              <a:t>        "visitors_yoy_pct": -1.5414900930146969,</a:t>
            </a:r>
          </a:p>
          <a:p xmlns:a="http://schemas.openxmlformats.org/drawingml/2006/main">
            <a:r>
              <a:t>        "spending_yoy_pct": 9.742111155875799</a:t>
            </a:r>
          </a:p>
          <a:p xmlns:a="http://schemas.openxmlformats.org/drawingml/2006/main">
            <a:r>
              <a:t>      },</a:t>
            </a:r>
          </a:p>
          <a:p xmlns:a="http://schemas.openxmlformats.org/drawingml/2006/main">
            <a:r>
              <a:t>      {</a:t>
            </a:r>
          </a:p>
          <a:p xmlns:a="http://schemas.openxmlformats.org/drawingml/2006/main">
            <a:r>
              <a:t>        "region_code": "11410",</a:t>
            </a:r>
          </a:p>
          <a:p xmlns:a="http://schemas.openxmlformats.org/drawingml/2006/main">
            <a:r>
              <a:t>        "region_name": "서울특별시 서대문구",</a:t>
            </a:r>
          </a:p>
          <a:p xmlns:a="http://schemas.openxmlformats.org/drawingml/2006/main">
            <a:r>
              <a:t>        "visitors_yoy_pct": 0.26100209122330575,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"11440",</a:t>
            </a:r>
          </a:p>
          <a:p xmlns:a="http://schemas.openxmlformats.org/drawingml/2006/main">
            <a:r>
              <a:t>        "region_name": "서울특별시 마포구",</a:t>
            </a:r>
          </a:p>
          <a:p xmlns:a="http://schemas.openxmlformats.org/drawingml/2006/main">
            <a:r>
              <a:t>        "visitors_yoy_pct": -0.42315356265129056,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"11470",</a:t>
            </a:r>
          </a:p>
          <a:p xmlns:a="http://schemas.openxmlformats.org/drawingml/2006/main">
            <a:r>
              <a:t>        "region_name": "서울특별시 양천구",</a:t>
            </a:r>
          </a:p>
          <a:p xmlns:a="http://schemas.openxmlformats.org/drawingml/2006/main">
            <a:r>
              <a:t>        "visitors_yoy_pct": 0.2040172459361056,</a:t>
            </a:r>
          </a:p>
          <a:p xmlns:a="http://schemas.openxmlformats.org/drawingml/2006/main">
            <a:r>
              <a:t>        "spending_yoy_pct": 7.8308763097921785</a:t>
            </a:r>
          </a:p>
          <a:p xmlns:a="http://schemas.openxmlformats.org/drawingml/2006/main">
            <a:r>
              <a:t>      },</a:t>
            </a:r>
          </a:p>
          <a:p xmlns:a="http://schemas.openxmlformats.org/drawingml/2006/main">
            <a:r>
              <a:t>      {</a:t>
            </a:r>
          </a:p>
          <a:p xmlns:a="http://schemas.openxmlformats.org/drawingml/2006/main">
            <a:r>
              <a:t>        "region_code": "11500",</a:t>
            </a:r>
          </a:p>
          <a:p xmlns:a="http://schemas.openxmlformats.org/drawingml/2006/main">
            <a:r>
              <a:t>        "region_name": "서울특별시 강서구",</a:t>
            </a:r>
          </a:p>
          <a:p xmlns:a="http://schemas.openxmlformats.org/drawingml/2006/main">
            <a:r>
              <a:t>        "visitors_yoy_pct": -2.5203770541048165,</a:t>
            </a:r>
          </a:p>
          <a:p xmlns:a="http://schemas.openxmlformats.org/drawingml/2006/main">
            <a:r>
              <a:t>        "spending_yoy_pct": 1.0661216099866477</a:t>
            </a:r>
          </a:p>
          <a:p xmlns:a="http://schemas.openxmlformats.org/drawingml/2006/main">
            <a:r>
              <a:t>      },</a:t>
            </a:r>
          </a:p>
          <a:p xmlns:a="http://schemas.openxmlformats.org/drawingml/2006/main">
            <a:r>
              <a:t>      {</a:t>
            </a:r>
          </a:p>
          <a:p xmlns:a="http://schemas.openxmlformats.org/drawingml/2006/main">
            <a:r>
              <a:t>        "region_code": "11530",</a:t>
            </a:r>
          </a:p>
          <a:p xmlns:a="http://schemas.openxmlformats.org/drawingml/2006/main">
            <a:r>
              <a:t>        "region_name": "서울특별시 구로구",</a:t>
            </a:r>
          </a:p>
          <a:p xmlns:a="http://schemas.openxmlformats.org/drawingml/2006/main">
            <a:r>
              <a:t>        "visitors_yoy_pct": -5.084948743139006,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"11545",</a:t>
            </a:r>
          </a:p>
          <a:p xmlns:a="http://schemas.openxmlformats.org/drawingml/2006/main">
            <a:r>
              <a:t>        "region_name": "서울특별시 금천구",</a:t>
            </a:r>
          </a:p>
          <a:p xmlns:a="http://schemas.openxmlformats.org/drawingml/2006/main">
            <a:r>
              <a:t>        "visitors_yoy_pct": -0.004729088367683154,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"11560",</a:t>
            </a:r>
          </a:p>
          <a:p xmlns:a="http://schemas.openxmlformats.org/drawingml/2006/main">
            <a:r>
              <a:t>        "region_name": "서울특별시 영등포구",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"11590",</a:t>
            </a:r>
          </a:p>
          <a:p xmlns:a="http://schemas.openxmlformats.org/drawingml/2006/main">
            <a:r>
              <a:t>        "region_name": "서울특별시 동작구",</a:t>
            </a:r>
          </a:p>
          <a:p xmlns:a="http://schemas.openxmlformats.org/drawingml/2006/main">
            <a:r>
              <a:t>        "visitors_yoy_pct": -2.159738232477182,</a:t>
            </a:r>
          </a:p>
          <a:p xmlns:a="http://schemas.openxmlformats.org/drawingml/2006/main">
            <a:r>
              <a:t>        "spending_yoy_pct": 6.658745677758771</a:t>
            </a:r>
          </a:p>
          <a:p xmlns:a="http://schemas.openxmlformats.org/drawingml/2006/main">
            <a:r>
              <a:t>      },</a:t>
            </a:r>
          </a:p>
          <a:p xmlns:a="http://schemas.openxmlformats.org/drawingml/2006/main">
            <a:r>
              <a:t>      {</a:t>
            </a:r>
          </a:p>
          <a:p xmlns:a="http://schemas.openxmlformats.org/drawingml/2006/main">
            <a:r>
              <a:t>        "region_code": "11620",</a:t>
            </a:r>
          </a:p>
          <a:p xmlns:a="http://schemas.openxmlformats.org/drawingml/2006/main">
            <a:r>
              <a:t>        "region_name": "서울특별시 관악구",</a:t>
            </a:r>
          </a:p>
          <a:p xmlns:a="http://schemas.openxmlformats.org/drawingml/2006/main">
            <a:r>
              <a:t>        "visitors_yoy_pct": 3.416171684213065,</a:t>
            </a:r>
          </a:p>
          <a:p xmlns:a="http://schemas.openxmlformats.org/drawingml/2006/main">
            <a:r>
              <a:t>        "spending_yoy_pct": 2.78161019702714</a:t>
            </a:r>
          </a:p>
          <a:p xmlns:a="http://schemas.openxmlformats.org/drawingml/2006/main">
            <a:r>
              <a:t>      },</a:t>
            </a:r>
          </a:p>
          <a:p xmlns:a="http://schemas.openxmlformats.org/drawingml/2006/main">
            <a:r>
              <a:t>      {</a:t>
            </a:r>
          </a:p>
          <a:p xmlns:a="http://schemas.openxmlformats.org/drawingml/2006/main">
            <a:r>
              <a:t>        "region_code": "11650",</a:t>
            </a:r>
          </a:p>
          <a:p xmlns:a="http://schemas.openxmlformats.org/drawingml/2006/main">
            <a:r>
              <a:t>        "region_name": "서울특별시 서초구",</a:t>
            </a:r>
          </a:p>
          <a:p xmlns:a="http://schemas.openxmlformats.org/drawingml/2006/main">
            <a:r>
              <a:t>        "visitors_yoy_pct": -3.3407180053658725,</a:t>
            </a:r>
          </a:p>
          <a:p xmlns:a="http://schemas.openxmlformats.org/drawingml/2006/main">
            <a:r>
              <a:t>        "spending_yoy_pct": 7.659458813227693</a:t>
            </a:r>
          </a:p>
          <a:p xmlns:a="http://schemas.openxmlformats.org/drawingml/2006/main">
            <a:r>
              <a:t>      },</a:t>
            </a:r>
          </a:p>
          <a:p xmlns:a="http://schemas.openxmlformats.org/drawingml/2006/main">
            <a:r>
              <a:t>      {</a:t>
            </a:r>
          </a:p>
          <a:p xmlns:a="http://schemas.openxmlformats.org/drawingml/2006/main">
            <a:r>
              <a:t>        "region_code": "11710",</a:t>
            </a:r>
          </a:p>
          <a:p xmlns:a="http://schemas.openxmlformats.org/drawingml/2006/main">
            <a:r>
              <a:t>        "region_name": "서울특별시 송파구",</a:t>
            </a:r>
          </a:p>
          <a:p xmlns:a="http://schemas.openxmlformats.org/drawingml/2006/main">
            <a:r>
              <a:t>        "visitors_yoy_pct": 0.1917648649844672,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"11740",</a:t>
            </a:r>
          </a:p>
          <a:p xmlns:a="http://schemas.openxmlformats.org/drawingml/2006/main">
            <a:r>
              <a:t>        "region_name": "서울특별시 강동구",</a:t>
            </a:r>
          </a:p>
          <a:p xmlns:a="http://schemas.openxmlformats.org/drawingml/2006/main">
            <a:r>
              <a:t>        "visitors_yoy_pct": -0.13711943373028168,</a:t>
            </a:r>
          </a:p>
          <a:p xmlns:a="http://schemas.openxmlformats.org/drawingml/2006/main">
            <a:r>
              <a:t>        "spending_yoy_pct": 4.933893018036728</a:t>
            </a:r>
          </a:p>
          <a:p xmlns:a="http://schemas.openxmlformats.org/drawingml/2006/main">
            <a:r>
              <a:t>      },</a:t>
            </a:r>
          </a:p>
          <a:p xmlns:a="http://schemas.openxmlformats.org/drawingml/2006/main">
            <a:r>
              <a:t>      {</a:t>
            </a:r>
          </a:p>
          <a:p xmlns:a="http://schemas.openxmlformats.org/drawingml/2006/main">
            <a:r>
              <a:t>        "region_code": "51110",</a:t>
            </a:r>
          </a:p>
          <a:p xmlns:a="http://schemas.openxmlformats.org/drawingml/2006/main">
            <a:r>
              <a:t>        "region_name": "강원특별자치도 춘천시",</a:t>
            </a:r>
          </a:p>
          <a:p xmlns:a="http://schemas.openxmlformats.org/drawingml/2006/main">
            <a:r>
              <a:t>        "visitors_yoy_pct": -1.9664957516168258,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"51130",</a:t>
            </a:r>
          </a:p>
          <a:p xmlns:a="http://schemas.openxmlformats.org/drawingml/2006/main">
            <a:r>
              <a:t>        "region_name": "강원특별자치도 원주시",</a:t>
            </a:r>
          </a:p>
          <a:p xmlns:a="http://schemas.openxmlformats.org/drawingml/2006/main">
            <a:r>
              <a:t>        "visitors_yoy_pct": -0.8330123914969678,</a:t>
            </a:r>
          </a:p>
          <a:p xmlns:a="http://schemas.openxmlformats.org/drawingml/2006/main">
            <a:r>
              <a:t>        "spending_yoy_pct": 37.640108864536415</a:t>
            </a:r>
          </a:p>
          <a:p xmlns:a="http://schemas.openxmlformats.org/drawingml/2006/main">
            <a:r>
              <a:t>      },</a:t>
            </a:r>
          </a:p>
          <a:p xmlns:a="http://schemas.openxmlformats.org/drawingml/2006/main">
            <a:r>
              <a:t>      {</a:t>
            </a:r>
          </a:p>
          <a:p xmlns:a="http://schemas.openxmlformats.org/drawingml/2006/main">
            <a:r>
              <a:t>        "region_code": "51150",</a:t>
            </a:r>
          </a:p>
          <a:p xmlns:a="http://schemas.openxmlformats.org/drawingml/2006/main">
            <a:r>
              <a:t>        "region_name": "강원특별자치도 강릉시",</a:t>
            </a:r>
          </a:p>
          <a:p xmlns:a="http://schemas.openxmlformats.org/drawingml/2006/main">
            <a:r>
              <a:t>        "visitors_yoy_pct": 7.745107525681205,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"51170",</a:t>
            </a:r>
          </a:p>
          <a:p xmlns:a="http://schemas.openxmlformats.org/drawingml/2006/main">
            <a:r>
              <a:t>        "region_name": "강원특별자치도 동해시",</a:t>
            </a:r>
          </a:p>
          <a:p xmlns:a="http://schemas.openxmlformats.org/drawingml/2006/main">
            <a:r>
              <a:t>        "visitors_yoy_pct": 2.6814404526349644,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"51190",</a:t>
            </a:r>
          </a:p>
          <a:p xmlns:a="http://schemas.openxmlformats.org/drawingml/2006/main">
            <a:r>
              <a:t>        "region_name": "강원특별자치도 태백시",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"51210",</a:t>
            </a:r>
          </a:p>
          <a:p xmlns:a="http://schemas.openxmlformats.org/drawingml/2006/main">
            <a:r>
              <a:t>        "region_name": "강원특별자치도 속초시",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"51230",</a:t>
            </a:r>
          </a:p>
          <a:p xmlns:a="http://schemas.openxmlformats.org/drawingml/2006/main">
            <a:r>
              <a:t>        "region_name": "강원특별자치도 삼척시",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"51720",</a:t>
            </a:r>
          </a:p>
          <a:p xmlns:a="http://schemas.openxmlformats.org/drawingml/2006/main">
            <a:r>
              <a:t>        "region_name": "강원특별자치도 홍천군",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"51730",</a:t>
            </a:r>
          </a:p>
          <a:p xmlns:a="http://schemas.openxmlformats.org/drawingml/2006/main">
            <a:r>
              <a:t>        "region_name": "강원특별자치도 횡성군",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"51750",</a:t>
            </a:r>
          </a:p>
          <a:p xmlns:a="http://schemas.openxmlformats.org/drawingml/2006/main">
            <a:r>
              <a:t>        "region_name": "강원특별자치도 영월군",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"51760",</a:t>
            </a:r>
          </a:p>
          <a:p xmlns:a="http://schemas.openxmlformats.org/drawingml/2006/main">
            <a:r>
              <a:t>        "region_name": "강원특별자치도 평창군",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"51770",</a:t>
            </a:r>
          </a:p>
          <a:p xmlns:a="http://schemas.openxmlformats.org/drawingml/2006/main">
            <a:r>
              <a:t>        "region_name": "강원특별자치도 정선군",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"51780",</a:t>
            </a:r>
          </a:p>
          <a:p xmlns:a="http://schemas.openxmlformats.org/drawingml/2006/main">
            <a:r>
              <a:t>        "region_name": "강원특별자치도 철원군",</a:t>
            </a:r>
          </a:p>
          <a:p xmlns:a="http://schemas.openxmlformats.org/drawingml/2006/main">
            <a:r>
              <a:t>        "visitors_yoy_pct": -11.738262349313622,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"51790",</a:t>
            </a:r>
          </a:p>
          <a:p xmlns:a="http://schemas.openxmlformats.org/drawingml/2006/main">
            <a:r>
              <a:t>        "region_name": "강원특별자치도 화천군",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"51800",</a:t>
            </a:r>
          </a:p>
          <a:p xmlns:a="http://schemas.openxmlformats.org/drawingml/2006/main">
            <a:r>
              <a:t>        "region_name": "강원특별자치도 양구군",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"51810",</a:t>
            </a:r>
          </a:p>
          <a:p xmlns:a="http://schemas.openxmlformats.org/drawingml/2006/main">
            <a:r>
              <a:t>        "region_name": "강원특별자치도 인제군",</a:t>
            </a:r>
          </a:p>
          <a:p xmlns:a="http://schemas.openxmlformats.org/drawingml/2006/main">
            <a:r>
              <a:t>        "visitors_yoy_pct": 0.7982735908174332,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"51820",</a:t>
            </a:r>
          </a:p>
          <a:p xmlns:a="http://schemas.openxmlformats.org/drawingml/2006/main">
            <a:r>
              <a:t>        "region_name": "강원특별자치도 고성군",</a:t>
            </a:r>
          </a:p>
          <a:p xmlns:a="http://schemas.openxmlformats.org/drawingml/2006/main">
            <a:r>
              <a:t>        "visitors_yoy_pct": 3.9292214795380698,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"51830",</a:t>
            </a:r>
          </a:p>
          <a:p xmlns:a="http://schemas.openxmlformats.org/drawingml/2006/main">
            <a:r>
              <a:t>        "region_name": "강원특별자치도 양양군",</a:t>
            </a:r>
          </a:p>
          <a:p xmlns:a="http://schemas.openxmlformats.org/drawingml/2006/main">
            <a:r>
              <a:t>        "visitors_yoy_pct": 1.016923718387308,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"41111",</a:t>
            </a:r>
          </a:p>
          <a:p xmlns:a="http://schemas.openxmlformats.org/drawingml/2006/main">
            <a:r>
              <a:t>        "region_name": "경기도 수원시 장안구",</a:t>
            </a:r>
          </a:p>
          <a:p xmlns:a="http://schemas.openxmlformats.org/drawingml/2006/main">
            <a:r>
              <a:t>        "visitors_yoy_pct": 1.1475336925274693,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"41113",</a:t>
            </a:r>
          </a:p>
          <a:p xmlns:a="http://schemas.openxmlformats.org/drawingml/2006/main">
            <a:r>
              <a:t>        "region_name": "경기도 수원시 권선구",</a:t>
            </a:r>
          </a:p>
          <a:p xmlns:a="http://schemas.openxmlformats.org/drawingml/2006/main">
            <a:r>
              <a:t>        "visitors_yoy_pct": 0.02309067516510499,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"41115",</a:t>
            </a:r>
          </a:p>
          <a:p xmlns:a="http://schemas.openxmlformats.org/drawingml/2006/main">
            <a:r>
              <a:t>        "region_name": "경기도 수원시 팔달구",</a:t>
            </a:r>
          </a:p>
          <a:p xmlns:a="http://schemas.openxmlformats.org/drawingml/2006/main">
            <a:r>
              <a:t>        "visitors_yoy_pct": 1.1752424903732184,</a:t>
            </a:r>
          </a:p>
          <a:p xmlns:a="http://schemas.openxmlformats.org/drawingml/2006/main">
            <a:r>
              <a:t>        "spending_yoy_pct": 5.784673016796771</a:t>
            </a:r>
          </a:p>
          <a:p xmlns:a="http://schemas.openxmlformats.org/drawingml/2006/main">
            <a:r>
              <a:t>      },</a:t>
            </a:r>
          </a:p>
          <a:p xmlns:a="http://schemas.openxmlformats.org/drawingml/2006/main">
            <a:r>
              <a:t>      {</a:t>
            </a:r>
          </a:p>
          <a:p xmlns:a="http://schemas.openxmlformats.org/drawingml/2006/main">
            <a:r>
              <a:t>        "region_code": "41117",</a:t>
            </a:r>
          </a:p>
          <a:p xmlns:a="http://schemas.openxmlformats.org/drawingml/2006/main">
            <a:r>
              <a:t>        "region_name": "경기도 수원시 영통구",</a:t>
            </a:r>
          </a:p>
          <a:p xmlns:a="http://schemas.openxmlformats.org/drawingml/2006/main">
            <a:r>
              <a:t>        "visitors_yoy_pct": 0.6512867290074942,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"41131",</a:t>
            </a:r>
          </a:p>
          <a:p xmlns:a="http://schemas.openxmlformats.org/drawingml/2006/main">
            <a:r>
              <a:t>        "region_name": "경기도 성남시 수정구",</a:t>
            </a:r>
          </a:p>
          <a:p xmlns:a="http://schemas.openxmlformats.org/drawingml/2006/main">
            <a:r>
              <a:t>        "visitors_yoy_pct": 2.5103800143091215,</a:t>
            </a:r>
          </a:p>
          <a:p xmlns:a="http://schemas.openxmlformats.org/drawingml/2006/main">
            <a:r>
              <a:t>        "spending_yoy_pct": 9.520113178780786</a:t>
            </a:r>
          </a:p>
          <a:p xmlns:a="http://schemas.openxmlformats.org/drawingml/2006/main">
            <a:r>
              <a:t>      },</a:t>
            </a:r>
          </a:p>
          <a:p xmlns:a="http://schemas.openxmlformats.org/drawingml/2006/main">
            <a:r>
              <a:t>      {</a:t>
            </a:r>
          </a:p>
          <a:p xmlns:a="http://schemas.openxmlformats.org/drawingml/2006/main">
            <a:r>
              <a:t>        "region_code": "41133",</a:t>
            </a:r>
          </a:p>
          <a:p xmlns:a="http://schemas.openxmlformats.org/drawingml/2006/main">
            <a:r>
              <a:t>        "region_name": "경기도 성남시 중원구",</a:t>
            </a:r>
          </a:p>
          <a:p xmlns:a="http://schemas.openxmlformats.org/drawingml/2006/main">
            <a:r>
              <a:t>        "visitors_yoy_pct": 0.0,</a:t>
            </a:r>
          </a:p>
          <a:p xmlns:a="http://schemas.openxmlformats.org/drawingml/2006/main">
            <a:r>
              <a:t>        "spending_yoy_pct": 15.517585713868876</a:t>
            </a:r>
          </a:p>
          <a:p xmlns:a="http://schemas.openxmlformats.org/drawingml/2006/main">
            <a:r>
              <a:t>      },</a:t>
            </a:r>
          </a:p>
          <a:p xmlns:a="http://schemas.openxmlformats.org/drawingml/2006/main">
            <a:r>
              <a:t>      {</a:t>
            </a:r>
          </a:p>
          <a:p xmlns:a="http://schemas.openxmlformats.org/drawingml/2006/main">
            <a:r>
              <a:t>        "region_code": "41135",</a:t>
            </a:r>
          </a:p>
          <a:p xmlns:a="http://schemas.openxmlformats.org/drawingml/2006/main">
            <a:r>
              <a:t>        "region_name": "경기도 성남시 분당구",</a:t>
            </a:r>
          </a:p>
          <a:p xmlns:a="http://schemas.openxmlformats.org/drawingml/2006/main">
            <a:r>
              <a:t>        "visitors_yoy_pct": -0.021831037261310637,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"41150",</a:t>
            </a:r>
          </a:p>
          <a:p xmlns:a="http://schemas.openxmlformats.org/drawingml/2006/main">
            <a:r>
              <a:t>        "region_name": "경기도 의정부시",</a:t>
            </a:r>
          </a:p>
          <a:p xmlns:a="http://schemas.openxmlformats.org/drawingml/2006/main">
            <a:r>
              <a:t>        "visitors_yoy_pct": -1.8020937666352155,</a:t>
            </a:r>
          </a:p>
          <a:p xmlns:a="http://schemas.openxmlformats.org/drawingml/2006/main">
            <a:r>
              <a:t>        "spending_yoy_pct": 4.387608388035358</a:t>
            </a:r>
          </a:p>
          <a:p xmlns:a="http://schemas.openxmlformats.org/drawingml/2006/main">
            <a:r>
              <a:t>      },</a:t>
            </a:r>
          </a:p>
          <a:p xmlns:a="http://schemas.openxmlformats.org/drawingml/2006/main">
            <a:r>
              <a:t>      {</a:t>
            </a:r>
          </a:p>
          <a:p xmlns:a="http://schemas.openxmlformats.org/drawingml/2006/main">
            <a:r>
              <a:t>        "region_code": "41171",</a:t>
            </a:r>
          </a:p>
          <a:p xmlns:a="http://schemas.openxmlformats.org/drawingml/2006/main">
            <a:r>
              <a:t>        "region_name": "경기도 안양시 만안구",</a:t>
            </a:r>
          </a:p>
          <a:p xmlns:a="http://schemas.openxmlformats.org/drawingml/2006/main">
            <a:r>
              <a:t>        "visitors_yoy_pct": 2.161627087729401,</a:t>
            </a:r>
          </a:p>
          <a:p xmlns:a="http://schemas.openxmlformats.org/drawingml/2006/main">
            <a:r>
              <a:t>        "spending_yoy_pct": 0.7681955241102489</a:t>
            </a:r>
          </a:p>
          <a:p xmlns:a="http://schemas.openxmlformats.org/drawingml/2006/main">
            <a:r>
              <a:t>      },</a:t>
            </a:r>
          </a:p>
          <a:p xmlns:a="http://schemas.openxmlformats.org/drawingml/2006/main">
            <a:r>
              <a:t>      {</a:t>
            </a:r>
          </a:p>
          <a:p xmlns:a="http://schemas.openxmlformats.org/drawingml/2006/main">
            <a:r>
              <a:t>        "region_code": "41173",</a:t>
            </a:r>
          </a:p>
          <a:p xmlns:a="http://schemas.openxmlformats.org/drawingml/2006/main">
            <a:r>
              <a:t>        "region_name": "경기도 안양시 동안구",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"41192",</a:t>
            </a:r>
          </a:p>
          <a:p xmlns:a="http://schemas.openxmlformats.org/drawingml/2006/main">
            <a:r>
              <a:t>        "region_name": "경기도 부천시 원미구",</a:t>
            </a:r>
          </a:p>
          <a:p xmlns:a="http://schemas.openxmlformats.org/drawingml/2006/main">
            <a:r>
              <a:t>        "visitors_yoy_pct": 1.4376074623922541,</a:t>
            </a:r>
          </a:p>
          <a:p xmlns:a="http://schemas.openxmlformats.org/drawingml/2006/main">
            <a:r>
              <a:t>        "spending_yoy_pct": -0.5252023407957496</a:t>
            </a:r>
          </a:p>
          <a:p xmlns:a="http://schemas.openxmlformats.org/drawingml/2006/main">
            <a:r>
              <a:t>      },</a:t>
            </a:r>
          </a:p>
          <a:p xmlns:a="http://schemas.openxmlformats.org/drawingml/2006/main">
            <a:r>
              <a:t>      {</a:t>
            </a:r>
          </a:p>
          <a:p xmlns:a="http://schemas.openxmlformats.org/drawingml/2006/main">
            <a:r>
              <a:t>        "region_code": "41194",</a:t>
            </a:r>
          </a:p>
          <a:p xmlns:a="http://schemas.openxmlformats.org/drawingml/2006/main">
            <a:r>
              <a:t>        "region_name": "경기도 부천시 소사구",</a:t>
            </a:r>
          </a:p>
          <a:p xmlns:a="http://schemas.openxmlformats.org/drawingml/2006/main">
            <a:r>
              <a:t>        "visitors_yoy_pct": 0.0,</a:t>
            </a:r>
          </a:p>
          <a:p xmlns:a="http://schemas.openxmlformats.org/drawingml/2006/main">
            <a:r>
              <a:t>        "spending_yoy_pct": -1.9824476603583885</a:t>
            </a:r>
          </a:p>
          <a:p xmlns:a="http://schemas.openxmlformats.org/drawingml/2006/main">
            <a:r>
              <a:t>      },</a:t>
            </a:r>
          </a:p>
          <a:p xmlns:a="http://schemas.openxmlformats.org/drawingml/2006/main">
            <a:r>
              <a:t>      {</a:t>
            </a:r>
          </a:p>
          <a:p xmlns:a="http://schemas.openxmlformats.org/drawingml/2006/main">
            <a:r>
              <a:t>        "region_code": "41196",</a:t>
            </a:r>
          </a:p>
          <a:p xmlns:a="http://schemas.openxmlformats.org/drawingml/2006/main">
            <a:r>
              <a:t>        "region_name": "경기도 부천시 오정구",</a:t>
            </a:r>
          </a:p>
          <a:p xmlns:a="http://schemas.openxmlformats.org/drawingml/2006/main">
            <a:r>
              <a:t>        "visitors_yoy_pct": -1.094635619559492,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"41210",</a:t>
            </a:r>
          </a:p>
          <a:p xmlns:a="http://schemas.openxmlformats.org/drawingml/2006/main">
            <a:r>
              <a:t>        "region_name": "경기도 광명시",</a:t>
            </a:r>
          </a:p>
          <a:p xmlns:a="http://schemas.openxmlformats.org/drawingml/2006/main">
            <a:r>
              <a:t>        "visitors_yoy_pct": -0.4157538524296678,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"41220",</a:t>
            </a:r>
          </a:p>
          <a:p xmlns:a="http://schemas.openxmlformats.org/drawingml/2006/main">
            <a:r>
              <a:t>        "region_name": "경기도 평택시",</a:t>
            </a:r>
          </a:p>
          <a:p xmlns:a="http://schemas.openxmlformats.org/drawingml/2006/main">
            <a:r>
              <a:t>        "visitors_yoy_pct": -0.03909969108389921,</a:t>
            </a:r>
          </a:p>
          <a:p xmlns:a="http://schemas.openxmlformats.org/drawingml/2006/main">
            <a:r>
              <a:t>        "spending_yoy_pct": 24.268928579775473</a:t>
            </a:r>
          </a:p>
          <a:p xmlns:a="http://schemas.openxmlformats.org/drawingml/2006/main">
            <a:r>
              <a:t>      },</a:t>
            </a:r>
          </a:p>
          <a:p xmlns:a="http://schemas.openxmlformats.org/drawingml/2006/main">
            <a:r>
              <a:t>      {</a:t>
            </a:r>
          </a:p>
          <a:p xmlns:a="http://schemas.openxmlformats.org/drawingml/2006/main">
            <a:r>
              <a:t>        "region_code": "41250",</a:t>
            </a:r>
          </a:p>
          <a:p xmlns:a="http://schemas.openxmlformats.org/drawingml/2006/main">
            <a:r>
              <a:t>        "region_name": "경기도 동두천시",</a:t>
            </a:r>
          </a:p>
          <a:p xmlns:a="http://schemas.openxmlformats.org/drawingml/2006/main">
            <a:r>
              <a:t>        "visitors_yoy_pct": -2.7650328166700766,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"41271",</a:t>
            </a:r>
          </a:p>
          <a:p xmlns:a="http://schemas.openxmlformats.org/drawingml/2006/main">
            <a:r>
              <a:t>        "region_name": "경기도 안산시 상록구",</a:t>
            </a:r>
          </a:p>
          <a:p xmlns:a="http://schemas.openxmlformats.org/drawingml/2006/main">
            <a:r>
              <a:t>        "visitors_yoy_pct": 3.17645200245269,</a:t>
            </a:r>
          </a:p>
          <a:p xmlns:a="http://schemas.openxmlformats.org/drawingml/2006/main">
            <a:r>
              <a:t>        "spending_yoy_pct": 15.490271744531281</a:t>
            </a:r>
          </a:p>
          <a:p xmlns:a="http://schemas.openxmlformats.org/drawingml/2006/main">
            <a:r>
              <a:t>      },</a:t>
            </a:r>
          </a:p>
          <a:p xmlns:a="http://schemas.openxmlformats.org/drawingml/2006/main">
            <a:r>
              <a:t>      {</a:t>
            </a:r>
          </a:p>
          <a:p xmlns:a="http://schemas.openxmlformats.org/drawingml/2006/main">
            <a:r>
              <a:t>        "region_code": "41273",</a:t>
            </a:r>
          </a:p>
          <a:p xmlns:a="http://schemas.openxmlformats.org/drawingml/2006/main">
            <a:r>
              <a:t>        "region_name": "경기도 안산시 단원구",</a:t>
            </a:r>
          </a:p>
          <a:p xmlns:a="http://schemas.openxmlformats.org/drawingml/2006/main">
            <a:r>
              <a:t>        "visitors_yoy_pct": 2.126429602344748,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"41281",</a:t>
            </a:r>
          </a:p>
          <a:p xmlns:a="http://schemas.openxmlformats.org/drawingml/2006/main">
            <a:r>
              <a:t>        "region_name": "경기도 고양시 덕양구",</a:t>
            </a:r>
          </a:p>
          <a:p xmlns:a="http://schemas.openxmlformats.org/drawingml/2006/main">
            <a:r>
              <a:t>        "visitors_yoy_pct": 2.446276459112906,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"41285",</a:t>
            </a:r>
          </a:p>
          <a:p xmlns:a="http://schemas.openxmlformats.org/drawingml/2006/main">
            <a:r>
              <a:t>        "region_name": "경기도 고양시 일산동구",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"41287",</a:t>
            </a:r>
          </a:p>
          <a:p xmlns:a="http://schemas.openxmlformats.org/drawingml/2006/main">
            <a:r>
              <a:t>        "region_name": "경기도 고양시 일산서구",</a:t>
            </a:r>
          </a:p>
          <a:p xmlns:a="http://schemas.openxmlformats.org/drawingml/2006/main">
            <a:r>
              <a:t>        "visitors_yoy_pct": 2.5971124765787224,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"41290",</a:t>
            </a:r>
          </a:p>
          <a:p xmlns:a="http://schemas.openxmlformats.org/drawingml/2006/main">
            <a:r>
              <a:t>        "region_name": "경기도 과천시",</a:t>
            </a:r>
          </a:p>
          <a:p xmlns:a="http://schemas.openxmlformats.org/drawingml/2006/main">
            <a:r>
              <a:t>        "visitors_yoy_pct": 4.5266599226026605,</a:t>
            </a:r>
          </a:p>
          <a:p xmlns:a="http://schemas.openxmlformats.org/drawingml/2006/main">
            <a:r>
              <a:t>        "spending_yoy_pct": 27.301280740216516</a:t>
            </a:r>
          </a:p>
          <a:p xmlns:a="http://schemas.openxmlformats.org/drawingml/2006/main">
            <a:r>
              <a:t>      },</a:t>
            </a:r>
          </a:p>
          <a:p xmlns:a="http://schemas.openxmlformats.org/drawingml/2006/main">
            <a:r>
              <a:t>      {</a:t>
            </a:r>
          </a:p>
          <a:p xmlns:a="http://schemas.openxmlformats.org/drawingml/2006/main">
            <a:r>
              <a:t>        "region_code": "41310",</a:t>
            </a:r>
          </a:p>
          <a:p xmlns:a="http://schemas.openxmlformats.org/drawingml/2006/main">
            <a:r>
              <a:t>        "region_name": "경기도 구리시",</a:t>
            </a:r>
          </a:p>
          <a:p xmlns:a="http://schemas.openxmlformats.org/drawingml/2006/main">
            <a:r>
              <a:t>        "visitors_yoy_pct": -0.12423394404349475,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"41360",</a:t>
            </a:r>
          </a:p>
          <a:p xmlns:a="http://schemas.openxmlformats.org/drawingml/2006/main">
            <a:r>
              <a:t>        "region_name": "경기도 남양주시",</a:t>
            </a:r>
          </a:p>
          <a:p xmlns:a="http://schemas.openxmlformats.org/drawingml/2006/main">
            <a:r>
              <a:t>        "visitors_yoy_pct": 4.565492258559134,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"41370",</a:t>
            </a:r>
          </a:p>
          <a:p xmlns:a="http://schemas.openxmlformats.org/drawingml/2006/main">
            <a:r>
              <a:t>        "region_name": "경기도 오산시",</a:t>
            </a:r>
          </a:p>
          <a:p xmlns:a="http://schemas.openxmlformats.org/drawingml/2006/main">
            <a:r>
              <a:t>        "visitors_yoy_pct": 1.0039353259585715,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"41390",</a:t>
            </a:r>
          </a:p>
          <a:p xmlns:a="http://schemas.openxmlformats.org/drawingml/2006/main">
            <a:r>
              <a:t>        "region_name": "경기도 시흥시",</a:t>
            </a:r>
          </a:p>
          <a:p xmlns:a="http://schemas.openxmlformats.org/drawingml/2006/main">
            <a:r>
              <a:t>        "visitors_yoy_pct": 1.1493001597324914,</a:t>
            </a:r>
          </a:p>
          <a:p xmlns:a="http://schemas.openxmlformats.org/drawingml/2006/main">
            <a:r>
              <a:t>        "spending_yoy_pct": 0.7152053675203662</a:t>
            </a:r>
          </a:p>
          <a:p xmlns:a="http://schemas.openxmlformats.org/drawingml/2006/main">
            <a:r>
              <a:t>      },</a:t>
            </a:r>
          </a:p>
          <a:p xmlns:a="http://schemas.openxmlformats.org/drawingml/2006/main">
            <a:r>
              <a:t>      {</a:t>
            </a:r>
          </a:p>
          <a:p xmlns:a="http://schemas.openxmlformats.org/drawingml/2006/main">
            <a:r>
              <a:t>        "region_code": "41410",</a:t>
            </a:r>
          </a:p>
          <a:p xmlns:a="http://schemas.openxmlformats.org/drawingml/2006/main">
            <a:r>
              <a:t>        "region_name": "경기도 군포시",</a:t>
            </a:r>
          </a:p>
          <a:p xmlns:a="http://schemas.openxmlformats.org/drawingml/2006/main">
            <a:r>
              <a:t>        "visitors_yoy_pct": 0.8549389592575896,</a:t>
            </a:r>
          </a:p>
          <a:p xmlns:a="http://schemas.openxmlformats.org/drawingml/2006/main">
            <a:r>
              <a:t>        "spending_yoy_pct": 54.515586744429825</a:t>
            </a:r>
          </a:p>
          <a:p xmlns:a="http://schemas.openxmlformats.org/drawingml/2006/main">
            <a:r>
              <a:t>      },</a:t>
            </a:r>
          </a:p>
          <a:p xmlns:a="http://schemas.openxmlformats.org/drawingml/2006/main">
            <a:r>
              <a:t>      {</a:t>
            </a:r>
          </a:p>
          <a:p xmlns:a="http://schemas.openxmlformats.org/drawingml/2006/main">
            <a:r>
              <a:t>        "region_code": "41430",</a:t>
            </a:r>
          </a:p>
          <a:p xmlns:a="http://schemas.openxmlformats.org/drawingml/2006/main">
            <a:r>
              <a:t>        "region_name": "경기도 의왕시",</a:t>
            </a:r>
          </a:p>
          <a:p xmlns:a="http://schemas.openxmlformats.org/drawingml/2006/main">
            <a:r>
              <a:t>        "visitors_yoy_pct": 0.6696990720158169,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"41450",</a:t>
            </a:r>
          </a:p>
          <a:p xmlns:a="http://schemas.openxmlformats.org/drawingml/2006/main">
            <a:r>
              <a:t>        "region_name": "경기도 하남시",</a:t>
            </a:r>
          </a:p>
          <a:p xmlns:a="http://schemas.openxmlformats.org/drawingml/2006/main">
            <a:r>
              <a:t>        "visitors_yoy_pct": -1.2265414627372073,</a:t>
            </a:r>
          </a:p>
          <a:p xmlns:a="http://schemas.openxmlformats.org/drawingml/2006/main">
            <a:r>
              <a:t>        "spending_yoy_pct": 2.819393017454064</a:t>
            </a:r>
          </a:p>
          <a:p xmlns:a="http://schemas.openxmlformats.org/drawingml/2006/main">
            <a:r>
              <a:t>      },</a:t>
            </a:r>
          </a:p>
          <a:p xmlns:a="http://schemas.openxmlformats.org/drawingml/2006/main">
            <a:r>
              <a:t>      {</a:t>
            </a:r>
          </a:p>
          <a:p xmlns:a="http://schemas.openxmlformats.org/drawingml/2006/main">
            <a:r>
              <a:t>        "region_code": "41461",</a:t>
            </a:r>
          </a:p>
          <a:p xmlns:a="http://schemas.openxmlformats.org/drawingml/2006/main">
            <a:r>
              <a:t>        "region_name": "경기도 용인시 처인구",</a:t>
            </a:r>
          </a:p>
          <a:p xmlns:a="http://schemas.openxmlformats.org/drawingml/2006/main">
            <a:r>
              <a:t>        "visitors_yoy_pct": 4.418720080278593,</a:t>
            </a:r>
          </a:p>
          <a:p xmlns:a="http://schemas.openxmlformats.org/drawingml/2006/main">
            <a:r>
              <a:t>        "spending_yoy_pct": 80.10191905439277</a:t>
            </a:r>
          </a:p>
          <a:p xmlns:a="http://schemas.openxmlformats.org/drawingml/2006/main">
            <a:r>
              <a:t>      },</a:t>
            </a:r>
          </a:p>
          <a:p xmlns:a="http://schemas.openxmlformats.org/drawingml/2006/main">
            <a:r>
              <a:t>      {</a:t>
            </a:r>
          </a:p>
          <a:p xmlns:a="http://schemas.openxmlformats.org/drawingml/2006/main">
            <a:r>
              <a:t>        "region_code": "41463",</a:t>
            </a:r>
          </a:p>
          <a:p xmlns:a="http://schemas.openxmlformats.org/drawingml/2006/main">
            <a:r>
              <a:t>        "region_name": "경기도 용인시 기흥구",</a:t>
            </a:r>
          </a:p>
          <a:p xmlns:a="http://schemas.openxmlformats.org/drawingml/2006/main">
            <a:r>
              <a:t>        "visitors_yoy_pct": 0.0,</a:t>
            </a:r>
          </a:p>
          <a:p xmlns:a="http://schemas.openxmlformats.org/drawingml/2006/main">
            <a:r>
              <a:t>        "spending_yoy_pct": 8.438700210446726</a:t>
            </a:r>
          </a:p>
          <a:p xmlns:a="http://schemas.openxmlformats.org/drawingml/2006/main">
            <a:r>
              <a:t>      },</a:t>
            </a:r>
          </a:p>
          <a:p xmlns:a="http://schemas.openxmlformats.org/drawingml/2006/main">
            <a:r>
              <a:t>      {</a:t>
            </a:r>
          </a:p>
          <a:p xmlns:a="http://schemas.openxmlformats.org/drawingml/2006/main">
            <a:r>
              <a:t>        "region_code": "41465",</a:t>
            </a:r>
          </a:p>
          <a:p xmlns:a="http://schemas.openxmlformats.org/drawingml/2006/main">
            <a:r>
              <a:t>        "region_name": "경기도 용인시 수지구",</a:t>
            </a:r>
          </a:p>
          <a:p xmlns:a="http://schemas.openxmlformats.org/drawingml/2006/main">
            <a:r>
              <a:t>        "visitors_yoy_pct": 2.3706895536131256,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"41480",</a:t>
            </a:r>
          </a:p>
          <a:p xmlns:a="http://schemas.openxmlformats.org/drawingml/2006/main">
            <a:r>
              <a:t>        "region_name": "경기도 파주시",</a:t>
            </a:r>
          </a:p>
          <a:p xmlns:a="http://schemas.openxmlformats.org/drawingml/2006/main">
            <a:r>
              <a:t>        "visitors_yoy_pct": -2.196919183444135,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"41500",</a:t>
            </a:r>
          </a:p>
          <a:p xmlns:a="http://schemas.openxmlformats.org/drawingml/2006/main">
            <a:r>
              <a:t>        "region_name": "경기도 이천시",</a:t>
            </a:r>
          </a:p>
          <a:p xmlns:a="http://schemas.openxmlformats.org/drawingml/2006/main">
            <a:r>
              <a:t>        "visitors_yoy_pct": -0.20943825484315282,</a:t>
            </a:r>
          </a:p>
          <a:p xmlns:a="http://schemas.openxmlformats.org/drawingml/2006/main">
            <a:r>
              <a:t>        "spending_yoy_pct": 90.16980699536094</a:t>
            </a:r>
          </a:p>
          <a:p xmlns:a="http://schemas.openxmlformats.org/drawingml/2006/main">
            <a:r>
              <a:t>      },</a:t>
            </a:r>
          </a:p>
          <a:p xmlns:a="http://schemas.openxmlformats.org/drawingml/2006/main">
            <a:r>
              <a:t>      {</a:t>
            </a:r>
          </a:p>
          <a:p xmlns:a="http://schemas.openxmlformats.org/drawingml/2006/main">
            <a:r>
              <a:t>        "region_code": "41550",</a:t>
            </a:r>
          </a:p>
          <a:p xmlns:a="http://schemas.openxmlformats.org/drawingml/2006/main">
            <a:r>
              <a:t>        "region_name": "경기도 안성시",</a:t>
            </a:r>
          </a:p>
          <a:p xmlns:a="http://schemas.openxmlformats.org/drawingml/2006/main">
            <a:r>
              <a:t>        "visitors_yoy_pct": 1.4931429611678482,</a:t>
            </a:r>
          </a:p>
          <a:p xmlns:a="http://schemas.openxmlformats.org/drawingml/2006/main">
            <a:r>
              <a:t>        "spending_yoy_pct": 164.41633132776067</a:t>
            </a:r>
          </a:p>
          <a:p xmlns:a="http://schemas.openxmlformats.org/drawingml/2006/main">
            <a:r>
              <a:t>      },</a:t>
            </a:r>
          </a:p>
          <a:p xmlns:a="http://schemas.openxmlformats.org/drawingml/2006/main">
            <a:r>
              <a:t>      {</a:t>
            </a:r>
          </a:p>
          <a:p xmlns:a="http://schemas.openxmlformats.org/drawingml/2006/main">
            <a:r>
              <a:t>        "region_code": "41570",</a:t>
            </a:r>
          </a:p>
          <a:p xmlns:a="http://schemas.openxmlformats.org/drawingml/2006/main">
            <a:r>
              <a:t>        "region_name": "경기도 김포시",</a:t>
            </a:r>
          </a:p>
          <a:p xmlns:a="http://schemas.openxmlformats.org/drawingml/2006/main">
            <a:r>
              <a:t>        "visitors_yoy_pct": 0.5725787983204667,</a:t>
            </a:r>
          </a:p>
          <a:p xmlns:a="http://schemas.openxmlformats.org/drawingml/2006/main">
            <a:r>
              <a:t>        "spending_yoy_pct": 2.9201707509641794</a:t>
            </a:r>
          </a:p>
          <a:p xmlns:a="http://schemas.openxmlformats.org/drawingml/2006/main">
            <a:r>
              <a:t>      },</a:t>
            </a:r>
          </a:p>
          <a:p xmlns:a="http://schemas.openxmlformats.org/drawingml/2006/main">
            <a:r>
              <a:t>      {</a:t>
            </a:r>
          </a:p>
          <a:p xmlns:a="http://schemas.openxmlformats.org/drawingml/2006/main">
            <a:r>
              <a:t>        "region_code": "41610",</a:t>
            </a:r>
          </a:p>
          <a:p xmlns:a="http://schemas.openxmlformats.org/drawingml/2006/main">
            <a:r>
              <a:t>        "region_name": "경기도 광주시",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"41630",</a:t>
            </a:r>
          </a:p>
          <a:p xmlns:a="http://schemas.openxmlformats.org/drawingml/2006/main">
            <a:r>
              <a:t>        "region_name": "경기도 양주시",</a:t>
            </a:r>
          </a:p>
          <a:p xmlns:a="http://schemas.openxmlformats.org/drawingml/2006/main">
            <a:r>
              <a:t>        "visitors_yoy_pct": 1.9080906230178662,</a:t>
            </a:r>
          </a:p>
          <a:p xmlns:a="http://schemas.openxmlformats.org/drawingml/2006/main">
            <a:r>
              <a:t>        "spending_yoy_pct": 93.29406351350364</a:t>
            </a:r>
          </a:p>
          <a:p xmlns:a="http://schemas.openxmlformats.org/drawingml/2006/main">
            <a:r>
              <a:t>      },</a:t>
            </a:r>
          </a:p>
          <a:p xmlns:a="http://schemas.openxmlformats.org/drawingml/2006/main">
            <a:r>
              <a:t>      {</a:t>
            </a:r>
          </a:p>
          <a:p xmlns:a="http://schemas.openxmlformats.org/drawingml/2006/main">
            <a:r>
              <a:t>        "region_code": "41650",</a:t>
            </a:r>
          </a:p>
          <a:p xmlns:a="http://schemas.openxmlformats.org/drawingml/2006/main">
            <a:r>
              <a:t>        "region_name": "경기도 포천시",</a:t>
            </a:r>
          </a:p>
          <a:p xmlns:a="http://schemas.openxmlformats.org/drawingml/2006/main">
            <a:r>
              <a:t>        "visitors_yoy_pct": 0.0,</a:t>
            </a:r>
          </a:p>
          <a:p xmlns:a="http://schemas.openxmlformats.org/drawingml/2006/main">
            <a:r>
              <a:t>        "spending_yoy_pct": 8.779900218563274</a:t>
            </a:r>
          </a:p>
          <a:p xmlns:a="http://schemas.openxmlformats.org/drawingml/2006/main">
            <a:r>
              <a:t>      },</a:t>
            </a:r>
          </a:p>
          <a:p xmlns:a="http://schemas.openxmlformats.org/drawingml/2006/main">
            <a:r>
              <a:t>      {</a:t>
            </a:r>
          </a:p>
          <a:p xmlns:a="http://schemas.openxmlformats.org/drawingml/2006/main">
            <a:r>
              <a:t>        "region_code": "41670",</a:t>
            </a:r>
          </a:p>
          <a:p xmlns:a="http://schemas.openxmlformats.org/drawingml/2006/main">
            <a:r>
              <a:t>        "region_name": "경기도 여주시",</a:t>
            </a:r>
          </a:p>
          <a:p xmlns:a="http://schemas.openxmlformats.org/drawingml/2006/main">
            <a:r>
              <a:t>        "visitors_yoy_pct": -0.1543004095628131,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"41800",</a:t>
            </a:r>
          </a:p>
          <a:p xmlns:a="http://schemas.openxmlformats.org/drawingml/2006/main">
            <a:r>
              <a:t>        "region_name": "경기도 연천군",</a:t>
            </a:r>
          </a:p>
          <a:p xmlns:a="http://schemas.openxmlformats.org/drawingml/2006/main">
            <a:r>
              <a:t>        "visitors_yoy_pct": -4.9845806071294625,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"41820",</a:t>
            </a:r>
          </a:p>
          <a:p xmlns:a="http://schemas.openxmlformats.org/drawingml/2006/main">
            <a:r>
              <a:t>        "region_name": "경기도 가평군",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"41830",</a:t>
            </a:r>
          </a:p>
          <a:p xmlns:a="http://schemas.openxmlformats.org/drawingml/2006/main">
            <a:r>
              <a:t>        "region_name": "경기도 양평군",</a:t>
            </a:r>
          </a:p>
          <a:p xmlns:a="http://schemas.openxmlformats.org/drawingml/2006/main">
            <a:r>
              <a:t>        "visitors_yoy_pct": 0.4443307513116945,</a:t>
            </a:r>
          </a:p>
          <a:p xmlns:a="http://schemas.openxmlformats.org/drawingml/2006/main">
            <a:r>
              <a:t>        "spending_yoy_pct": 11.522133499214316</a:t>
            </a:r>
          </a:p>
          <a:p xmlns:a="http://schemas.openxmlformats.org/drawingml/2006/main">
            <a:r>
              <a:t>      },</a:t>
            </a:r>
          </a:p>
          <a:p xmlns:a="http://schemas.openxmlformats.org/drawingml/2006/main">
            <a:r>
              <a:t>      {</a:t>
            </a:r>
          </a:p>
          <a:p xmlns:a="http://schemas.openxmlformats.org/drawingml/2006/main">
            <a:r>
              <a:t>        "region_code": "48310",</a:t>
            </a:r>
          </a:p>
          <a:p xmlns:a="http://schemas.openxmlformats.org/drawingml/2006/main">
            <a:r>
              <a:t>        "region_name": "경상남도 거제시",</a:t>
            </a:r>
          </a:p>
          <a:p xmlns:a="http://schemas.openxmlformats.org/drawingml/2006/main">
            <a:r>
              <a:t>        "visitors_yoy_pct": -0.5533626758409849,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"48820",</a:t>
            </a:r>
          </a:p>
          <a:p xmlns:a="http://schemas.openxmlformats.org/drawingml/2006/main">
            <a:r>
              <a:t>        "region_name": "경상남도 고성군",</a:t>
            </a:r>
          </a:p>
          <a:p xmlns:a="http://schemas.openxmlformats.org/drawingml/2006/main">
            <a:r>
              <a:t>        "visitors_yoy_pct": -5.682902364697629,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"48880",</a:t>
            </a:r>
          </a:p>
          <a:p xmlns:a="http://schemas.openxmlformats.org/drawingml/2006/main">
            <a:r>
              <a:t>        "region_name": "경상남도 거창군",</a:t>
            </a:r>
          </a:p>
          <a:p xmlns:a="http://schemas.openxmlformats.org/drawingml/2006/main">
            <a:r>
              <a:t>        "visitors_yoy_pct": -6.197087223670394,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"48250",</a:t>
            </a:r>
          </a:p>
          <a:p xmlns:a="http://schemas.openxmlformats.org/drawingml/2006/main">
            <a:r>
              <a:t>        "region_name": "경상남도 김해시",</a:t>
            </a:r>
          </a:p>
          <a:p xmlns:a="http://schemas.openxmlformats.org/drawingml/2006/main">
            <a:r>
              <a:t>        "visitors_yoy_pct": 1.532627270013709,</a:t>
            </a:r>
          </a:p>
          <a:p xmlns:a="http://schemas.openxmlformats.org/drawingml/2006/main">
            <a:r>
              <a:t>        "spending_yoy_pct": 11.550184318092782</a:t>
            </a:r>
          </a:p>
          <a:p xmlns:a="http://schemas.openxmlformats.org/drawingml/2006/main">
            <a:r>
              <a:t>      },</a:t>
            </a:r>
          </a:p>
          <a:p xmlns:a="http://schemas.openxmlformats.org/drawingml/2006/main">
            <a:r>
              <a:t>      {</a:t>
            </a:r>
          </a:p>
          <a:p xmlns:a="http://schemas.openxmlformats.org/drawingml/2006/main">
            <a:r>
              <a:t>        "region_code": "48840",</a:t>
            </a:r>
          </a:p>
          <a:p xmlns:a="http://schemas.openxmlformats.org/drawingml/2006/main">
            <a:r>
              <a:t>        "region_name": "경상남도 남해군",</a:t>
            </a:r>
          </a:p>
          <a:p xmlns:a="http://schemas.openxmlformats.org/drawingml/2006/main">
            <a:r>
              <a:t>        "visitors_yoy_pct": -0.19569437562877434,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"48270",</a:t>
            </a:r>
          </a:p>
          <a:p xmlns:a="http://schemas.openxmlformats.org/drawingml/2006/main">
            <a:r>
              <a:t>        "region_name": "경상남도 밀양시",</a:t>
            </a:r>
          </a:p>
          <a:p xmlns:a="http://schemas.openxmlformats.org/drawingml/2006/main">
            <a:r>
              <a:t>        "visitors_yoy_pct": -0.9188809536138209,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"48240",</a:t>
            </a:r>
          </a:p>
          <a:p xmlns:a="http://schemas.openxmlformats.org/drawingml/2006/main">
            <a:r>
              <a:t>        "region_name": "경상남도 사천시",</a:t>
            </a:r>
          </a:p>
          <a:p xmlns:a="http://schemas.openxmlformats.org/drawingml/2006/main">
            <a:r>
              <a:t>        "visitors_yoy_pct": -0.013909531225120286,</a:t>
            </a:r>
          </a:p>
          <a:p xmlns:a="http://schemas.openxmlformats.org/drawingml/2006/main">
            <a:r>
              <a:t>        "spending_yoy_pct": 2.9088830140476807</a:t>
            </a:r>
          </a:p>
          <a:p xmlns:a="http://schemas.openxmlformats.org/drawingml/2006/main">
            <a:r>
              <a:t>      },</a:t>
            </a:r>
          </a:p>
          <a:p xmlns:a="http://schemas.openxmlformats.org/drawingml/2006/main">
            <a:r>
              <a:t>      {</a:t>
            </a:r>
          </a:p>
          <a:p xmlns:a="http://schemas.openxmlformats.org/drawingml/2006/main">
            <a:r>
              <a:t>        "region_code": "48860",</a:t>
            </a:r>
          </a:p>
          <a:p xmlns:a="http://schemas.openxmlformats.org/drawingml/2006/main">
            <a:r>
              <a:t>        "region_name": "경상남도 산청군",</a:t>
            </a:r>
          </a:p>
          <a:p xmlns:a="http://schemas.openxmlformats.org/drawingml/2006/main">
            <a:r>
              <a:t>        "visitors_yoy_pct": -0.15207888510152534,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"48330",</a:t>
            </a:r>
          </a:p>
          <a:p xmlns:a="http://schemas.openxmlformats.org/drawingml/2006/main">
            <a:r>
              <a:t>        "region_name": "경상남도 양산시",</a:t>
            </a:r>
          </a:p>
          <a:p xmlns:a="http://schemas.openxmlformats.org/drawingml/2006/main">
            <a:r>
              <a:t>        "visitors_yoy_pct": -1.3899560482204198,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"48720",</a:t>
            </a:r>
          </a:p>
          <a:p xmlns:a="http://schemas.openxmlformats.org/drawingml/2006/main">
            <a:r>
              <a:t>        "region_name": "경상남도 의령군",</a:t>
            </a:r>
          </a:p>
          <a:p xmlns:a="http://schemas.openxmlformats.org/drawingml/2006/main">
            <a:r>
              <a:t>        "visitors_yoy_pct": -7.2910216851574505,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"48170",</a:t>
            </a:r>
          </a:p>
          <a:p xmlns:a="http://schemas.openxmlformats.org/drawingml/2006/main">
            <a:r>
              <a:t>        "region_name": "경상남도 진주시",</a:t>
            </a:r>
          </a:p>
          <a:p xmlns:a="http://schemas.openxmlformats.org/drawingml/2006/main">
            <a:r>
              <a:t>        "visitors_yoy_pct": -5.515868609397323,</a:t>
            </a:r>
          </a:p>
          <a:p xmlns:a="http://schemas.openxmlformats.org/drawingml/2006/main">
            <a:r>
              <a:t>        "spending_yoy_pct": -1.7817730383349328</a:t>
            </a:r>
          </a:p>
          <a:p xmlns:a="http://schemas.openxmlformats.org/drawingml/2006/main">
            <a:r>
              <a:t>      },</a:t>
            </a:r>
          </a:p>
          <a:p xmlns:a="http://schemas.openxmlformats.org/drawingml/2006/main">
            <a:r>
              <a:t>      {</a:t>
            </a:r>
          </a:p>
          <a:p xmlns:a="http://schemas.openxmlformats.org/drawingml/2006/main">
            <a:r>
              <a:t>        "region_code": "48740",</a:t>
            </a:r>
          </a:p>
          <a:p xmlns:a="http://schemas.openxmlformats.org/drawingml/2006/main">
            <a:r>
              <a:t>        "region_name": "경상남도 창녕군",</a:t>
            </a:r>
          </a:p>
          <a:p xmlns:a="http://schemas.openxmlformats.org/drawingml/2006/main">
            <a:r>
              <a:t>        "visitors_yoy_pct": 2.1795297362594557,</a:t>
            </a:r>
          </a:p>
          <a:p xmlns:a="http://schemas.openxmlformats.org/drawingml/2006/main">
            <a:r>
              <a:t>        "spending_yoy_pct": 28.383514181768852</a:t>
            </a:r>
          </a:p>
          <a:p xmlns:a="http://schemas.openxmlformats.org/drawingml/2006/main">
            <a:r>
              <a:t>      },</a:t>
            </a:r>
          </a:p>
          <a:p xmlns:a="http://schemas.openxmlformats.org/drawingml/2006/main">
            <a:r>
              <a:t>      {</a:t>
            </a:r>
          </a:p>
          <a:p xmlns:a="http://schemas.openxmlformats.org/drawingml/2006/main">
            <a:r>
              <a:t>        "region_code": "48125",</a:t>
            </a:r>
          </a:p>
          <a:p xmlns:a="http://schemas.openxmlformats.org/drawingml/2006/main">
            <a:r>
              <a:t>        "region_name": "경상남도 창원시 마산합포구",</a:t>
            </a:r>
          </a:p>
          <a:p xmlns:a="http://schemas.openxmlformats.org/drawingml/2006/main">
            <a:r>
              <a:t>        "visitors_yoy_pct": -3.7906092926320967,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"48127",</a:t>
            </a:r>
          </a:p>
          <a:p xmlns:a="http://schemas.openxmlformats.org/drawingml/2006/main">
            <a:r>
              <a:t>        "region_name": "경상남도 창원시 마산회원구",</a:t>
            </a:r>
          </a:p>
          <a:p xmlns:a="http://schemas.openxmlformats.org/drawingml/2006/main">
            <a:r>
              <a:t>        "visitors_yoy_pct": -0.12463356717037355,</a:t>
            </a:r>
          </a:p>
          <a:p xmlns:a="http://schemas.openxmlformats.org/drawingml/2006/main">
            <a:r>
              <a:t>        "spending_yoy_pct": 15.444220129143616</a:t>
            </a:r>
          </a:p>
          <a:p xmlns:a="http://schemas.openxmlformats.org/drawingml/2006/main">
            <a:r>
              <a:t>      },</a:t>
            </a:r>
          </a:p>
          <a:p xmlns:a="http://schemas.openxmlformats.org/drawingml/2006/main">
            <a:r>
              <a:t>      {</a:t>
            </a:r>
          </a:p>
          <a:p xmlns:a="http://schemas.openxmlformats.org/drawingml/2006/main">
            <a:r>
              <a:t>        "region_code": "48123",</a:t>
            </a:r>
          </a:p>
          <a:p xmlns:a="http://schemas.openxmlformats.org/drawingml/2006/main">
            <a:r>
              <a:t>        "region_name": "경상남도 창원시 성산구",</a:t>
            </a:r>
          </a:p>
          <a:p xmlns:a="http://schemas.openxmlformats.org/drawingml/2006/main">
            <a:r>
              <a:t>        "visitors_yoy_pct": -0.3368063498548568,</a:t>
            </a:r>
          </a:p>
          <a:p xmlns:a="http://schemas.openxmlformats.org/drawingml/2006/main">
            <a:r>
              <a:t>        "spending_yoy_pct": 13.970563515910307</a:t>
            </a:r>
          </a:p>
          <a:p xmlns:a="http://schemas.openxmlformats.org/drawingml/2006/main">
            <a:r>
              <a:t>      },</a:t>
            </a:r>
          </a:p>
          <a:p xmlns:a="http://schemas.openxmlformats.org/drawingml/2006/main">
            <a:r>
              <a:t>      {</a:t>
            </a:r>
          </a:p>
          <a:p xmlns:a="http://schemas.openxmlformats.org/drawingml/2006/main">
            <a:r>
              <a:t>        "region_code": "48121",</a:t>
            </a:r>
          </a:p>
          <a:p xmlns:a="http://schemas.openxmlformats.org/drawingml/2006/main">
            <a:r>
              <a:t>        "region_name": "경상남도 창원시 의창구",</a:t>
            </a:r>
          </a:p>
          <a:p xmlns:a="http://schemas.openxmlformats.org/drawingml/2006/main">
            <a:r>
              <a:t>        "visitors_yoy_pct": 1.010200811824924,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"48129",</a:t>
            </a:r>
          </a:p>
          <a:p xmlns:a="http://schemas.openxmlformats.org/drawingml/2006/main">
            <a:r>
              <a:t>        "region_name": "경상남도 창원시 진해구",</a:t>
            </a:r>
          </a:p>
          <a:p xmlns:a="http://schemas.openxmlformats.org/drawingml/2006/main">
            <a:r>
              <a:t>        "visitors_yoy_pct": 5.772683047324012,</a:t>
            </a:r>
          </a:p>
          <a:p xmlns:a="http://schemas.openxmlformats.org/drawingml/2006/main">
            <a:r>
              <a:t>        "spending_yoy_pct": 16.64700605789211</a:t>
            </a:r>
          </a:p>
          <a:p xmlns:a="http://schemas.openxmlformats.org/drawingml/2006/main">
            <a:r>
              <a:t>      },</a:t>
            </a:r>
          </a:p>
          <a:p xmlns:a="http://schemas.openxmlformats.org/drawingml/2006/main">
            <a:r>
              <a:t>      {</a:t>
            </a:r>
          </a:p>
          <a:p xmlns:a="http://schemas.openxmlformats.org/drawingml/2006/main">
            <a:r>
              <a:t>        "region_code": "48220",</a:t>
            </a:r>
          </a:p>
          <a:p xmlns:a="http://schemas.openxmlformats.org/drawingml/2006/main">
            <a:r>
              <a:t>        "region_name": "경상남도 통영시",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"48850",</a:t>
            </a:r>
          </a:p>
          <a:p xmlns:a="http://schemas.openxmlformats.org/drawingml/2006/main">
            <a:r>
              <a:t>        "region_name": "경상남도 하동군",</a:t>
            </a:r>
          </a:p>
          <a:p xmlns:a="http://schemas.openxmlformats.org/drawingml/2006/main">
            <a:r>
              <a:t>        "visitors_yoy_pct": 7.0968608639590425,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"48730",</a:t>
            </a:r>
          </a:p>
          <a:p xmlns:a="http://schemas.openxmlformats.org/drawingml/2006/main">
            <a:r>
              <a:t>        "region_name": "경상남도 함안군",</a:t>
            </a:r>
          </a:p>
          <a:p xmlns:a="http://schemas.openxmlformats.org/drawingml/2006/main">
            <a:r>
              <a:t>        "visitors_yoy_pct": 8.91384142916214,</a:t>
            </a:r>
          </a:p>
          <a:p xmlns:a="http://schemas.openxmlformats.org/drawingml/2006/main">
            <a:r>
              <a:t>        "spending_yoy_pct": 51.42963050638678</a:t>
            </a:r>
          </a:p>
          <a:p xmlns:a="http://schemas.openxmlformats.org/drawingml/2006/main">
            <a:r>
              <a:t>      },</a:t>
            </a:r>
          </a:p>
          <a:p xmlns:a="http://schemas.openxmlformats.org/drawingml/2006/main">
            <a:r>
              <a:t>      {</a:t>
            </a:r>
          </a:p>
          <a:p xmlns:a="http://schemas.openxmlformats.org/drawingml/2006/main">
            <a:r>
              <a:t>        "region_code": "48870",</a:t>
            </a:r>
          </a:p>
          <a:p xmlns:a="http://schemas.openxmlformats.org/drawingml/2006/main">
            <a:r>
              <a:t>        "region_name": "경상남도 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"48890",</a:t>
            </a:r>
          </a:p>
          <a:p xmlns:a="http://schemas.openxmlformats.org/drawingml/2006/main">
            <a:r>
              <a:t>        "region_name": "경상남도 합천군",</a:t>
            </a:r>
          </a:p>
          <a:p xmlns:a="http://schemas.openxmlformats.org/drawingml/2006/main">
            <a:r>
              <a:t>        "visitors_yoy_pct": -4.5613101360050035,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"47290",</a:t>
            </a:r>
          </a:p>
          <a:p xmlns:a="http://schemas.openxmlformats.org/drawingml/2006/main">
            <a:r>
              <a:t>        "region_name": "경상북도 경산시",</a:t>
            </a:r>
          </a:p>
          <a:p xmlns:a="http://schemas.openxmlformats.org/drawingml/2006/main">
            <a:r>
              <a:t>        "visitors_yoy_pct": 4.65529590507352,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"47130",</a:t>
            </a:r>
          </a:p>
          <a:p xmlns:a="http://schemas.openxmlformats.org/drawingml/2006/main">
            <a:r>
              <a:t>        "region_name": "경상북도 경주시",</a:t>
            </a:r>
          </a:p>
          <a:p xmlns:a="http://schemas.openxmlformats.org/drawingml/2006/main">
            <a:r>
              <a:t>        "visitors_yoy_pct": 0.31874615966416275,</a:t>
            </a:r>
          </a:p>
          <a:p xmlns:a="http://schemas.openxmlformats.org/drawingml/2006/main">
            <a:r>
              <a:t>        "spending_yoy_pct": 199.8299142834811</a:t>
            </a:r>
          </a:p>
          <a:p xmlns:a="http://schemas.openxmlformats.org/drawingml/2006/main">
            <a:r>
              <a:t>      },</a:t>
            </a:r>
          </a:p>
          <a:p xmlns:a="http://schemas.openxmlformats.org/drawingml/2006/main">
            <a:r>
              <a:t>      {</a:t>
            </a:r>
          </a:p>
          <a:p xmlns:a="http://schemas.openxmlformats.org/drawingml/2006/main">
            <a:r>
              <a:t>        "region_code": "47830",</a:t>
            </a:r>
          </a:p>
          <a:p xmlns:a="http://schemas.openxmlformats.org/drawingml/2006/main">
            <a:r>
              <a:t>        "region_name": "경상북도 고령군",</a:t>
            </a:r>
          </a:p>
          <a:p xmlns:a="http://schemas.openxmlformats.org/drawingml/2006/main">
            <a:r>
              <a:t>        "visitors_yoy_pct": -3.899263505165773,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"47190",</a:t>
            </a:r>
          </a:p>
          <a:p xmlns:a="http://schemas.openxmlformats.org/drawingml/2006/main">
            <a:r>
              <a:t>        "region_name": "경상북도 구미시",</a:t>
            </a:r>
          </a:p>
          <a:p xmlns:a="http://schemas.openxmlformats.org/drawingml/2006/main">
            <a:r>
              <a:t>        "visitors_yoy_pct": -1.8883975251061003,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"47150",</a:t>
            </a:r>
          </a:p>
          <a:p xmlns:a="http://schemas.openxmlformats.org/drawingml/2006/main">
            <a:r>
              <a:t>        "region_name": "경상북도 김천시",</a:t>
            </a:r>
          </a:p>
          <a:p xmlns:a="http://schemas.openxmlformats.org/drawingml/2006/main">
            <a:r>
              <a:t>        "visitors_yoy_pct": 0.11812466942986433,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"47280",</a:t>
            </a:r>
          </a:p>
          <a:p xmlns:a="http://schemas.openxmlformats.org/drawingml/2006/main">
            <a:r>
              <a:t>        "region_name": "경상북도 문경시",</a:t>
            </a:r>
          </a:p>
          <a:p xmlns:a="http://schemas.openxmlformats.org/drawingml/2006/main">
            <a:r>
              <a:t>        "visitors_yoy_pct": -4.449903676617362,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"47920",</a:t>
            </a:r>
          </a:p>
          <a:p xmlns:a="http://schemas.openxmlformats.org/drawingml/2006/main">
            <a:r>
              <a:t>        "region_name": "경상북도 봉화군",</a:t>
            </a:r>
          </a:p>
          <a:p xmlns:a="http://schemas.openxmlformats.org/drawingml/2006/main">
            <a:r>
              <a:t>        "visitors_yoy_pct": -4.529772428896173,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"47250",</a:t>
            </a:r>
          </a:p>
          <a:p xmlns:a="http://schemas.openxmlformats.org/drawingml/2006/main">
            <a:r>
              <a:t>        "region_name": "경상북도 상주시",</a:t>
            </a:r>
          </a:p>
          <a:p xmlns:a="http://schemas.openxmlformats.org/drawingml/2006/main">
            <a:r>
              <a:t>        "visitors_yoy_pct": -3.967948727511972,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"47840",</a:t>
            </a:r>
          </a:p>
          <a:p xmlns:a="http://schemas.openxmlformats.org/drawingml/2006/main">
            <a:r>
              <a:t>        "region_name": "경상북도 성주군",</a:t>
            </a:r>
          </a:p>
          <a:p xmlns:a="http://schemas.openxmlformats.org/drawingml/2006/main">
            <a:r>
              <a:t>        "visitors_yoy_pct": -0.2007651826217982,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"47170",</a:t>
            </a:r>
          </a:p>
          <a:p xmlns:a="http://schemas.openxmlformats.org/drawingml/2006/main">
            <a:r>
              <a:t>        "region_name": "경상북도 안동시",</a:t>
            </a:r>
          </a:p>
          <a:p xmlns:a="http://schemas.openxmlformats.org/drawingml/2006/main">
            <a:r>
              <a:t>        "visitors_yoy_pct": -3.204974055201437,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"47770",</a:t>
            </a:r>
          </a:p>
          <a:p xmlns:a="http://schemas.openxmlformats.org/drawingml/2006/main">
            <a:r>
              <a:t>        "region_name": "경상북도 영덕군",</a:t>
            </a:r>
          </a:p>
          <a:p xmlns:a="http://schemas.openxmlformats.org/drawingml/2006/main">
            <a:r>
              <a:t>        "visitors_yoy_pct": 0.0,</a:t>
            </a:r>
          </a:p>
          <a:p xmlns:a="http://schemas.openxmlformats.org/drawingml/2006/main">
            <a:r>
              <a:t>        "spending_yoy_pct": 21.98935102974735</a:t>
            </a:r>
          </a:p>
          <a:p xmlns:a="http://schemas.openxmlformats.org/drawingml/2006/main">
            <a:r>
              <a:t>      },</a:t>
            </a:r>
          </a:p>
          <a:p xmlns:a="http://schemas.openxmlformats.org/drawingml/2006/main">
            <a:r>
              <a:t>      {</a:t>
            </a:r>
          </a:p>
          <a:p xmlns:a="http://schemas.openxmlformats.org/drawingml/2006/main">
            <a:r>
              <a:t>        "region_code": "47760",</a:t>
            </a:r>
          </a:p>
          <a:p xmlns:a="http://schemas.openxmlformats.org/drawingml/2006/main">
            <a:r>
              <a:t>        "region_name": "경상북도 영양군",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"47210",</a:t>
            </a:r>
          </a:p>
          <a:p xmlns:a="http://schemas.openxmlformats.org/drawingml/2006/main">
            <a:r>
              <a:t>        "region_name": "경상북도 영주시",</a:t>
            </a:r>
          </a:p>
          <a:p xmlns:a="http://schemas.openxmlformats.org/drawingml/2006/main">
            <a:r>
              <a:t>        "visitors_yoy_pct": 0.0,</a:t>
            </a:r>
          </a:p>
          <a:p xmlns:a="http://schemas.openxmlformats.org/drawingml/2006/main">
            <a:r>
              <a:t>        "spending_yoy_pct": -23.845377664211888</a:t>
            </a:r>
          </a:p>
          <a:p xmlns:a="http://schemas.openxmlformats.org/drawingml/2006/main">
            <a:r>
              <a:t>      },</a:t>
            </a:r>
          </a:p>
          <a:p xmlns:a="http://schemas.openxmlformats.org/drawingml/2006/main">
            <a:r>
              <a:t>      {</a:t>
            </a:r>
          </a:p>
          <a:p xmlns:a="http://schemas.openxmlformats.org/drawingml/2006/main">
            <a:r>
              <a:t>        "region_code": "47230",</a:t>
            </a:r>
          </a:p>
          <a:p xmlns:a="http://schemas.openxmlformats.org/drawingml/2006/main">
            <a:r>
              <a:t>        "region_name": "경상북도 영천시",</a:t>
            </a:r>
          </a:p>
          <a:p xmlns:a="http://schemas.openxmlformats.org/drawingml/2006/main">
            <a:r>
              <a:t>        "visitors_yoy_pct": 0.0,</a:t>
            </a:r>
          </a:p>
          <a:p xmlns:a="http://schemas.openxmlformats.org/drawingml/2006/main">
            <a:r>
              <a:t>        "spending_yoy_pct": 77.2454788529685</a:t>
            </a:r>
          </a:p>
          <a:p xmlns:a="http://schemas.openxmlformats.org/drawingml/2006/main">
            <a:r>
              <a:t>      },</a:t>
            </a:r>
          </a:p>
          <a:p xmlns:a="http://schemas.openxmlformats.org/drawingml/2006/main">
            <a:r>
              <a:t>      {</a:t>
            </a:r>
          </a:p>
          <a:p xmlns:a="http://schemas.openxmlformats.org/drawingml/2006/main">
            <a:r>
              <a:t>        "region_code": "47900",</a:t>
            </a:r>
          </a:p>
          <a:p xmlns:a="http://schemas.openxmlformats.org/drawingml/2006/main">
            <a:r>
              <a:t>        "region_name": "경상북도 예천군",</a:t>
            </a:r>
          </a:p>
          <a:p xmlns:a="http://schemas.openxmlformats.org/drawingml/2006/main">
            <a:r>
              <a:t>        "visitors_yoy_pct": -2.975129590969039,</a:t>
            </a:r>
          </a:p>
          <a:p xmlns:a="http://schemas.openxmlformats.org/drawingml/2006/main">
            <a:r>
              <a:t>        "spending_yoy_pct": -1.629426609535689</a:t>
            </a:r>
          </a:p>
          <a:p xmlns:a="http://schemas.openxmlformats.org/drawingml/2006/main">
            <a:r>
              <a:t>      },</a:t>
            </a:r>
          </a:p>
          <a:p xmlns:a="http://schemas.openxmlformats.org/drawingml/2006/main">
            <a:r>
              <a:t>      {</a:t>
            </a:r>
          </a:p>
          <a:p xmlns:a="http://schemas.openxmlformats.org/drawingml/2006/main">
            <a:r>
              <a:t>        "region_code": "47940",</a:t>
            </a:r>
          </a:p>
          <a:p xmlns:a="http://schemas.openxmlformats.org/drawingml/2006/main">
            <a:r>
              <a:t>        "region_name": "경상북도 울릉군",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"47930",</a:t>
            </a:r>
          </a:p>
          <a:p xmlns:a="http://schemas.openxmlformats.org/drawingml/2006/main">
            <a:r>
              <a:t>        "region_name": "경상북도 울진군",</a:t>
            </a:r>
          </a:p>
          <a:p xmlns:a="http://schemas.openxmlformats.org/drawingml/2006/main">
            <a:r>
              <a:t>        "visitors_yoy_pct": 0.0,</a:t>
            </a:r>
          </a:p>
          <a:p xmlns:a="http://schemas.openxmlformats.org/drawingml/2006/main">
            <a:r>
              <a:t>        "spending_yoy_pct": 13.71754848584239</a:t>
            </a:r>
          </a:p>
          <a:p xmlns:a="http://schemas.openxmlformats.org/drawingml/2006/main">
            <a:r>
              <a:t>      },</a:t>
            </a:r>
          </a:p>
          <a:p xmlns:a="http://schemas.openxmlformats.org/drawingml/2006/main">
            <a:r>
              <a:t>      {</a:t>
            </a:r>
          </a:p>
          <a:p xmlns:a="http://schemas.openxmlformats.org/drawingml/2006/main">
            <a:r>
              <a:t>        "region_code": "47730",</a:t>
            </a:r>
          </a:p>
          <a:p xmlns:a="http://schemas.openxmlformats.org/drawingml/2006/main">
            <a:r>
              <a:t>        "region_name": "경상북도 의성군",</a:t>
            </a:r>
          </a:p>
          <a:p xmlns:a="http://schemas.openxmlformats.org/drawingml/2006/main">
            <a:r>
              <a:t>        "visitors_yoy_pct": 2.817683783685676,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"47820",</a:t>
            </a:r>
          </a:p>
          <a:p xmlns:a="http://schemas.openxmlformats.org/drawingml/2006/main">
            <a:r>
              <a:t>        "region_name": "경상북도 청도군",</a:t>
            </a:r>
          </a:p>
          <a:p xmlns:a="http://schemas.openxmlformats.org/drawingml/2006/main">
            <a:r>
              <a:t>        "visitors_yoy_pct": 2.4821537544526873,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"47750",</a:t>
            </a:r>
          </a:p>
          <a:p xmlns:a="http://schemas.openxmlformats.org/drawingml/2006/main">
            <a:r>
              <a:t>        "region_name": "경상북도 청송군",</a:t>
            </a:r>
          </a:p>
          <a:p xmlns:a="http://schemas.openxmlformats.org/drawingml/2006/main">
            <a:r>
              <a:t>        "visitors_yoy_pct": -8.388009807135566,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"47850",</a:t>
            </a:r>
          </a:p>
          <a:p xmlns:a="http://schemas.openxmlformats.org/drawingml/2006/main">
            <a:r>
              <a:t>        "region_name": "경상북도 칠곡군",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"47111",</a:t>
            </a:r>
          </a:p>
          <a:p xmlns:a="http://schemas.openxmlformats.org/drawingml/2006/main">
            <a:r>
              <a:t>        "region_name": "경상북도 포항시 남구",</a:t>
            </a:r>
          </a:p>
          <a:p xmlns:a="http://schemas.openxmlformats.org/drawingml/2006/main">
            <a:r>
              <a:t>        "visitors_yoy_pct": 1.1946114274143271,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"47113",</a:t>
            </a:r>
          </a:p>
          <a:p xmlns:a="http://schemas.openxmlformats.org/drawingml/2006/main">
            <a:r>
              <a:t>        "region_name": "경상북도 포항시 북구",</a:t>
            </a:r>
          </a:p>
          <a:p xmlns:a="http://schemas.openxmlformats.org/drawingml/2006/main">
            <a:r>
              <a:t>        "visitors_yoy_pct": -0.8521609077245751,</a:t>
            </a:r>
          </a:p>
          <a:p xmlns:a="http://schemas.openxmlformats.org/drawingml/2006/main">
            <a:r>
              <a:t>        "spending_yoy_pct": 11.610152246182537</a:t>
            </a:r>
          </a:p>
          <a:p xmlns:a="http://schemas.openxmlformats.org/drawingml/2006/main">
            <a:r>
              <a:t>      },</a:t>
            </a:r>
          </a:p>
          <a:p xmlns:a="http://schemas.openxmlformats.org/drawingml/2006/main">
            <a:r>
              <a:t>      {</a:t>
            </a:r>
          </a:p>
          <a:p xmlns:a="http://schemas.openxmlformats.org/drawingml/2006/main">
            <a:r>
              <a:t>        "region_code": "29200",</a:t>
            </a:r>
          </a:p>
          <a:p xmlns:a="http://schemas.openxmlformats.org/drawingml/2006/main">
            <a:r>
              <a:t>        "region_name": "광주광역시 광산구",</a:t>
            </a:r>
          </a:p>
          <a:p xmlns:a="http://schemas.openxmlformats.org/drawingml/2006/main">
            <a:r>
              <a:t>        "visitors_yoy_pct": -0.7214500007304392,</a:t>
            </a:r>
          </a:p>
          <a:p xmlns:a="http://schemas.openxmlformats.org/drawingml/2006/main">
            <a:r>
              <a:t>        "spending_yoy_pct": 7.591638703469283</a:t>
            </a:r>
          </a:p>
          <a:p xmlns:a="http://schemas.openxmlformats.org/drawingml/2006/main">
            <a:r>
              <a:t>      },</a:t>
            </a:r>
          </a:p>
          <a:p xmlns:a="http://schemas.openxmlformats.org/drawingml/2006/main">
            <a:r>
              <a:t>      {</a:t>
            </a:r>
          </a:p>
          <a:p xmlns:a="http://schemas.openxmlformats.org/drawingml/2006/main">
            <a:r>
              <a:t>        "region_code": "29155",</a:t>
            </a:r>
          </a:p>
          <a:p xmlns:a="http://schemas.openxmlformats.org/drawingml/2006/main">
            <a:r>
              <a:t>        "region_name": "광주광역시 남구",</a:t>
            </a:r>
          </a:p>
          <a:p xmlns:a="http://schemas.openxmlformats.org/drawingml/2006/main">
            <a:r>
              <a:t>        "visitors_yoy_pct": -0.9553189898898751,</a:t>
            </a:r>
          </a:p>
          <a:p xmlns:a="http://schemas.openxmlformats.org/drawingml/2006/main">
            <a:r>
              <a:t>        "spending_yoy_pct": -1.8532051877563682</a:t>
            </a:r>
          </a:p>
          <a:p xmlns:a="http://schemas.openxmlformats.org/drawingml/2006/main">
            <a:r>
              <a:t>      },</a:t>
            </a:r>
          </a:p>
          <a:p xmlns:a="http://schemas.openxmlformats.org/drawingml/2006/main">
            <a:r>
              <a:t>      {</a:t>
            </a:r>
          </a:p>
          <a:p xmlns:a="http://schemas.openxmlformats.org/drawingml/2006/main">
            <a:r>
              <a:t>        "region_code": "29110",</a:t>
            </a:r>
          </a:p>
          <a:p xmlns:a="http://schemas.openxmlformats.org/drawingml/2006/main">
            <a:r>
              <a:t>        "region_name": "광주광역시 동구",</a:t>
            </a:r>
          </a:p>
          <a:p xmlns:a="http://schemas.openxmlformats.org/drawingml/2006/main">
            <a:r>
              <a:t>        "visitors_yoy_pct": 4.555014466689378,</a:t>
            </a:r>
          </a:p>
          <a:p xmlns:a="http://schemas.openxmlformats.org/drawingml/2006/main">
            <a:r>
              <a:t>        "spending_yoy_pct": 12.98517569147155</a:t>
            </a:r>
          </a:p>
          <a:p xmlns:a="http://schemas.openxmlformats.org/drawingml/2006/main">
            <a:r>
              <a:t>      },</a:t>
            </a:r>
          </a:p>
          <a:p xmlns:a="http://schemas.openxmlformats.org/drawingml/2006/main">
            <a:r>
              <a:t>      {</a:t>
            </a:r>
          </a:p>
          <a:p xmlns:a="http://schemas.openxmlformats.org/drawingml/2006/main">
            <a:r>
              <a:t>        "region_code": "29170",</a:t>
            </a:r>
          </a:p>
          <a:p xmlns:a="http://schemas.openxmlformats.org/drawingml/2006/main">
            <a:r>
              <a:t>        "region_name": "광주광역시 북구",</a:t>
            </a:r>
          </a:p>
          <a:p xmlns:a="http://schemas.openxmlformats.org/drawingml/2006/main">
            <a:r>
              <a:t>        "visitors_yoy_pct": 2.6888462104591726,</a:t>
            </a:r>
          </a:p>
          <a:p xmlns:a="http://schemas.openxmlformats.org/drawingml/2006/main">
            <a:r>
              <a:t>        "spending_yoy_pct": 1.7726236280316332</a:t>
            </a:r>
          </a:p>
          <a:p xmlns:a="http://schemas.openxmlformats.org/drawingml/2006/main">
            <a:r>
              <a:t>      },</a:t>
            </a:r>
          </a:p>
          <a:p xmlns:a="http://schemas.openxmlformats.org/drawingml/2006/main">
            <a:r>
              <a:t>      {</a:t>
            </a:r>
          </a:p>
          <a:p xmlns:a="http://schemas.openxmlformats.org/drawingml/2006/main">
            <a:r>
              <a:t>        "region_code": "29140",</a:t>
            </a:r>
          </a:p>
          <a:p xmlns:a="http://schemas.openxmlformats.org/drawingml/2006/main">
            <a:r>
              <a:t>        "region_name": "광주광역시 서구",</a:t>
            </a:r>
          </a:p>
          <a:p xmlns:a="http://schemas.openxmlformats.org/drawingml/2006/main">
            <a:r>
              <a:t>        "visitors_yoy_pct": -0.9873473880396388,</a:t>
            </a:r>
          </a:p>
          <a:p xmlns:a="http://schemas.openxmlformats.org/drawingml/2006/main">
            <a:r>
              <a:t>        "spending_yoy_pct": 4.430062438540672</a:t>
            </a:r>
          </a:p>
          <a:p xmlns:a="http://schemas.openxmlformats.org/drawingml/2006/main">
            <a:r>
              <a:t>      },</a:t>
            </a:r>
          </a:p>
          <a:p xmlns:a="http://schemas.openxmlformats.org/drawingml/2006/main">
            <a:r>
              <a:t>      {</a:t>
            </a:r>
          </a:p>
          <a:p xmlns:a="http://schemas.openxmlformats.org/drawingml/2006/main">
            <a:r>
              <a:t>        "region_code": "27720",</a:t>
            </a:r>
          </a:p>
          <a:p xmlns:a="http://schemas.openxmlformats.org/drawingml/2006/main">
            <a:r>
              <a:t>        "region_name": "대구광역시 군위군",</a:t>
            </a:r>
          </a:p>
          <a:p xmlns:a="http://schemas.openxmlformats.org/drawingml/2006/main">
            <a:r>
              <a:t>        "visitors_yoy_pct": -5.749236240423238,</a:t>
            </a:r>
          </a:p>
          <a:p xmlns:a="http://schemas.openxmlformats.org/drawingml/2006/main">
            <a:r>
              <a:t>        "spending_yoy_pct": -3.869100627733313</a:t>
            </a:r>
          </a:p>
          <a:p xmlns:a="http://schemas.openxmlformats.org/drawingml/2006/main">
            <a:r>
              <a:t>      },</a:t>
            </a:r>
          </a:p>
          <a:p xmlns:a="http://schemas.openxmlformats.org/drawingml/2006/main">
            <a:r>
              <a:t>      {</a:t>
            </a:r>
          </a:p>
          <a:p xmlns:a="http://schemas.openxmlformats.org/drawingml/2006/main">
            <a:r>
              <a:t>        "region_code": "27200",</a:t>
            </a:r>
          </a:p>
          <a:p xmlns:a="http://schemas.openxmlformats.org/drawingml/2006/main">
            <a:r>
              <a:t>        "region_name": "대구광역시 남구",</a:t>
            </a:r>
          </a:p>
          <a:p xmlns:a="http://schemas.openxmlformats.org/drawingml/2006/main">
            <a:r>
              <a:t>        "visitors_yoy_pct": 1.3969318106962447,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"27290",</a:t>
            </a:r>
          </a:p>
          <a:p xmlns:a="http://schemas.openxmlformats.org/drawingml/2006/main">
            <a:r>
              <a:t>        "region_name": "대구광역시 달서구",</a:t>
            </a:r>
          </a:p>
          <a:p xmlns:a="http://schemas.openxmlformats.org/drawingml/2006/main">
            <a:r>
              <a:t>        "visitors_yoy_pct": -0.22657328637972762,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"27710",</a:t>
            </a:r>
          </a:p>
          <a:p xmlns:a="http://schemas.openxmlformats.org/drawingml/2006/main">
            <a:r>
              <a:t>        "region_name": "대구광역시 달성군",</a:t>
            </a:r>
          </a:p>
          <a:p xmlns:a="http://schemas.openxmlformats.org/drawingml/2006/main">
            <a:r>
              <a:t>        "visitors_yoy_pct": 1.5620618810417541,</a:t>
            </a:r>
          </a:p>
          <a:p xmlns:a="http://schemas.openxmlformats.org/drawingml/2006/main">
            <a:r>
              <a:t>        "spending_yoy_pct": 18.180566393295393</a:t>
            </a:r>
          </a:p>
          <a:p xmlns:a="http://schemas.openxmlformats.org/drawingml/2006/main">
            <a:r>
              <a:t>      },</a:t>
            </a:r>
          </a:p>
          <a:p xmlns:a="http://schemas.openxmlformats.org/drawingml/2006/main">
            <a:r>
              <a:t>      {</a:t>
            </a:r>
          </a:p>
          <a:p xmlns:a="http://schemas.openxmlformats.org/drawingml/2006/main">
            <a:r>
              <a:t>        "region_code": "27140",</a:t>
            </a:r>
          </a:p>
          <a:p xmlns:a="http://schemas.openxmlformats.org/drawingml/2006/main">
            <a:r>
              <a:t>        "region_name": "대구광역시 동구",</a:t>
            </a:r>
          </a:p>
          <a:p xmlns:a="http://schemas.openxmlformats.org/drawingml/2006/main">
            <a:r>
              <a:t>        "visitors_yoy_pct": -2.906227538650663,</a:t>
            </a:r>
          </a:p>
          <a:p xmlns:a="http://schemas.openxmlformats.org/drawingml/2006/main">
            <a:r>
              <a:t>        "spending_yoy_pct": 4.35084627396245</a:t>
            </a:r>
          </a:p>
          <a:p xmlns:a="http://schemas.openxmlformats.org/drawingml/2006/main">
            <a:r>
              <a:t>      },</a:t>
            </a:r>
          </a:p>
          <a:p xmlns:a="http://schemas.openxmlformats.org/drawingml/2006/main">
            <a:r>
              <a:t>      {</a:t>
            </a:r>
          </a:p>
          <a:p xmlns:a="http://schemas.openxmlformats.org/drawingml/2006/main">
            <a:r>
              <a:t>        "region_code": "27230",</a:t>
            </a:r>
          </a:p>
          <a:p xmlns:a="http://schemas.openxmlformats.org/drawingml/2006/main">
            <a:r>
              <a:t>        "region_name": "대구광역시 북구",</a:t>
            </a:r>
          </a:p>
          <a:p xmlns:a="http://schemas.openxmlformats.org/drawingml/2006/main">
            <a:r>
              <a:t>        "visitors_yoy_pct": 0.7014064474913484,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"27170",</a:t>
            </a:r>
          </a:p>
          <a:p xmlns:a="http://schemas.openxmlformats.org/drawingml/2006/main">
            <a:r>
              <a:t>        "region_name": "대구광역시 서구",</a:t>
            </a:r>
          </a:p>
          <a:p xmlns:a="http://schemas.openxmlformats.org/drawingml/2006/main">
            <a:r>
              <a:t>        "visitors_yoy_pct": -3.2244991634435616,</a:t>
            </a:r>
          </a:p>
          <a:p xmlns:a="http://schemas.openxmlformats.org/drawingml/2006/main">
            <a:r>
              <a:t>        "spending_yoy_pct": 9.438557404688797</a:t>
            </a:r>
          </a:p>
          <a:p xmlns:a="http://schemas.openxmlformats.org/drawingml/2006/main">
            <a:r>
              <a:t>      },</a:t>
            </a:r>
          </a:p>
          <a:p xmlns:a="http://schemas.openxmlformats.org/drawingml/2006/main">
            <a:r>
              <a:t>      {</a:t>
            </a:r>
          </a:p>
          <a:p xmlns:a="http://schemas.openxmlformats.org/drawingml/2006/main">
            <a:r>
              <a:t>        "region_code": "27260",</a:t>
            </a:r>
          </a:p>
          <a:p xmlns:a="http://schemas.openxmlformats.org/drawingml/2006/main">
            <a:r>
              <a:t>        "region_name": "대구광역시 수성구",</a:t>
            </a:r>
          </a:p>
          <a:p xmlns:a="http://schemas.openxmlformats.org/drawingml/2006/main">
            <a:r>
              <a:t>        "visitors_yoy_pct": 0.652448528912597,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"27110",</a:t>
            </a:r>
          </a:p>
          <a:p xmlns:a="http://schemas.openxmlformats.org/drawingml/2006/main">
            <a:r>
              <a:t>        "region_name": "대구광역시 중구",</a:t>
            </a:r>
          </a:p>
          <a:p xmlns:a="http://schemas.openxmlformats.org/drawingml/2006/main">
            <a:r>
              <a:t>        "visitors_yoy_pct": 4.100821235547691,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"30230",</a:t>
            </a:r>
          </a:p>
          <a:p xmlns:a="http://schemas.openxmlformats.org/drawingml/2006/main">
            <a:r>
              <a:t>        "region_name": "대전광역시 대덕구",</a:t>
            </a:r>
          </a:p>
          <a:p xmlns:a="http://schemas.openxmlformats.org/drawingml/2006/main">
            <a:r>
              <a:t>        "visitors_yoy_pct": 0.403969457144826,</a:t>
            </a:r>
          </a:p>
          <a:p xmlns:a="http://schemas.openxmlformats.org/drawingml/2006/main">
            <a:r>
              <a:t>        "spending_yoy_pct": 8.655919147978096</a:t>
            </a:r>
          </a:p>
          <a:p xmlns:a="http://schemas.openxmlformats.org/drawingml/2006/main">
            <a:r>
              <a:t>      },</a:t>
            </a:r>
          </a:p>
          <a:p xmlns:a="http://schemas.openxmlformats.org/drawingml/2006/main">
            <a:r>
              <a:t>      {</a:t>
            </a:r>
          </a:p>
          <a:p xmlns:a="http://schemas.openxmlformats.org/drawingml/2006/main">
            <a:r>
              <a:t>        "region_code": "30110",</a:t>
            </a:r>
          </a:p>
          <a:p xmlns:a="http://schemas.openxmlformats.org/drawingml/2006/main">
            <a:r>
              <a:t>        "region_name": "대전광역시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"30170",</a:t>
            </a:r>
          </a:p>
          <a:p xmlns:a="http://schemas.openxmlformats.org/drawingml/2006/main">
            <a:r>
              <a:t>        "region_name": "대전광역시 서구",</a:t>
            </a:r>
          </a:p>
          <a:p xmlns:a="http://schemas.openxmlformats.org/drawingml/2006/main">
            <a:r>
              <a:t>        "visitors_yoy_pct": -1.766149282488072,</a:t>
            </a:r>
          </a:p>
          <a:p xmlns:a="http://schemas.openxmlformats.org/drawingml/2006/main">
            <a:r>
              <a:t>        "spending_yoy_pct": 4.485906316657062</a:t>
            </a:r>
          </a:p>
          <a:p xmlns:a="http://schemas.openxmlformats.org/drawingml/2006/main">
            <a:r>
              <a:t>      },</a:t>
            </a:r>
          </a:p>
          <a:p xmlns:a="http://schemas.openxmlformats.org/drawingml/2006/main">
            <a:r>
              <a:t>      {</a:t>
            </a:r>
          </a:p>
          <a:p xmlns:a="http://schemas.openxmlformats.org/drawingml/2006/main">
            <a:r>
              <a:t>        "region_code": "30200",</a:t>
            </a:r>
          </a:p>
          <a:p xmlns:a="http://schemas.openxmlformats.org/drawingml/2006/main">
            <a:r>
              <a:t>        "region_name": "대전광역시 유성구",</a:t>
            </a:r>
          </a:p>
          <a:p xmlns:a="http://schemas.openxmlformats.org/drawingml/2006/main">
            <a:r>
              <a:t>        "visitors_yoy_pct": 0.9780077525350483,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"30140",</a:t>
            </a:r>
          </a:p>
          <a:p xmlns:a="http://schemas.openxmlformats.org/drawingml/2006/main">
            <a:r>
              <a:t>        "region_name": "대전광역시 중구",</a:t>
            </a:r>
          </a:p>
          <a:p xmlns:a="http://schemas.openxmlformats.org/drawingml/2006/main">
            <a:r>
              <a:t>        "visitors_yoy_pct": 4.733581858819513,</a:t>
            </a:r>
          </a:p>
          <a:p xmlns:a="http://schemas.openxmlformats.org/drawingml/2006/main">
            <a:r>
              <a:t>        "spending_yoy_pct": 11.04932382073196</a:t>
            </a:r>
          </a:p>
          <a:p xmlns:a="http://schemas.openxmlformats.org/drawingml/2006/main">
            <a:r>
              <a:t>      },</a:t>
            </a:r>
          </a:p>
          <a:p xmlns:a="http://schemas.openxmlformats.org/drawingml/2006/main">
            <a:r>
              <a:t>      {</a:t>
            </a:r>
          </a:p>
          <a:p xmlns:a="http://schemas.openxmlformats.org/drawingml/2006/main">
            <a:r>
              <a:t>        "region_code": "26440",</a:t>
            </a:r>
          </a:p>
          <a:p xmlns:a="http://schemas.openxmlformats.org/drawingml/2006/main">
            <a:r>
              <a:t>        "region_name": "부산광역시 강서구",</a:t>
            </a:r>
          </a:p>
          <a:p xmlns:a="http://schemas.openxmlformats.org/drawingml/2006/main">
            <a:r>
              <a:t>        "visitors_yoy_pct": -0.9787440386389679,</a:t>
            </a:r>
          </a:p>
          <a:p xmlns:a="http://schemas.openxmlformats.org/drawingml/2006/main">
            <a:r>
              <a:t>        "spending_yoy_pct": 33.77418347740544</a:t>
            </a:r>
          </a:p>
          <a:p xmlns:a="http://schemas.openxmlformats.org/drawingml/2006/main">
            <a:r>
              <a:t>      },</a:t>
            </a:r>
          </a:p>
          <a:p xmlns:a="http://schemas.openxmlformats.org/drawingml/2006/main">
            <a:r>
              <a:t>      {</a:t>
            </a:r>
          </a:p>
          <a:p xmlns:a="http://schemas.openxmlformats.org/drawingml/2006/main">
            <a:r>
              <a:t>        "region_code": "26410",</a:t>
            </a:r>
          </a:p>
          <a:p xmlns:a="http://schemas.openxmlformats.org/drawingml/2006/main">
            <a:r>
              <a:t>        "region_name": "부산광역시 금정구",</a:t>
            </a:r>
          </a:p>
          <a:p xmlns:a="http://schemas.openxmlformats.org/drawingml/2006/main">
            <a:r>
              <a:t>        "visitors_yoy_pct": 4.408676083206853,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"26710",</a:t>
            </a:r>
          </a:p>
          <a:p xmlns:a="http://schemas.openxmlformats.org/drawingml/2006/main">
            <a:r>
              <a:t>        "region_name": "부산광역시 기장군",</a:t>
            </a:r>
          </a:p>
          <a:p xmlns:a="http://schemas.openxmlformats.org/drawingml/2006/main">
            <a:r>
              <a:t>        "visitors_yoy_pct": -3.5195344542938822,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"26290",</a:t>
            </a:r>
          </a:p>
          <a:p xmlns:a="http://schemas.openxmlformats.org/drawingml/2006/main">
            <a:r>
              <a:t>        "region_name": "부산광역시 남구",</a:t>
            </a:r>
          </a:p>
          <a:p xmlns:a="http://schemas.openxmlformats.org/drawingml/2006/main">
            <a:r>
              <a:t>        "visitors_yoy_pct": 3.68077924608996,</a:t>
            </a:r>
          </a:p>
          <a:p xmlns:a="http://schemas.openxmlformats.org/drawingml/2006/main">
            <a:r>
              <a:t>        "spending_yoy_pct": 24.203541185743948</a:t>
            </a:r>
          </a:p>
          <a:p xmlns:a="http://schemas.openxmlformats.org/drawingml/2006/main">
            <a:r>
              <a:t>      },</a:t>
            </a:r>
          </a:p>
          <a:p xmlns:a="http://schemas.openxmlformats.org/drawingml/2006/main">
            <a:r>
              <a:t>      {</a:t>
            </a:r>
          </a:p>
          <a:p xmlns:a="http://schemas.openxmlformats.org/drawingml/2006/main">
            <a:r>
              <a:t>        "region_code": "26170",</a:t>
            </a:r>
          </a:p>
          <a:p xmlns:a="http://schemas.openxmlformats.org/drawingml/2006/main">
            <a:r>
              <a:t>        "region_name": "부산광역시 동구",</a:t>
            </a:r>
          </a:p>
          <a:p xmlns:a="http://schemas.openxmlformats.org/drawingml/2006/main">
            <a:r>
              <a:t>        "visitors_yoy_pct": 2.091306262979553,</a:t>
            </a:r>
          </a:p>
          <a:p xmlns:a="http://schemas.openxmlformats.org/drawingml/2006/main">
            <a:r>
              <a:t>        "spending_yoy_pct": 19.094327547078937</a:t>
            </a:r>
          </a:p>
          <a:p xmlns:a="http://schemas.openxmlformats.org/drawingml/2006/main">
            <a:r>
              <a:t>      },</a:t>
            </a:r>
          </a:p>
          <a:p xmlns:a="http://schemas.openxmlformats.org/drawingml/2006/main">
            <a:r>
              <a:t>      {</a:t>
            </a:r>
          </a:p>
          <a:p xmlns:a="http://schemas.openxmlformats.org/drawingml/2006/main">
            <a:r>
              <a:t>        "region_code": "26260",</a:t>
            </a:r>
          </a:p>
          <a:p xmlns:a="http://schemas.openxmlformats.org/drawingml/2006/main">
            <a:r>
              <a:t>        "region_name": "부산광역시 동래구",</a:t>
            </a:r>
          </a:p>
          <a:p xmlns:a="http://schemas.openxmlformats.org/drawingml/2006/main">
            <a:r>
              <a:t>        "visitors_yoy_pct": -0.5303591349263614,</a:t>
            </a:r>
          </a:p>
          <a:p xmlns:a="http://schemas.openxmlformats.org/drawingml/2006/main">
            <a:r>
              <a:t>        "spending_yoy_pct": 2.817126268224812</a:t>
            </a:r>
          </a:p>
          <a:p xmlns:a="http://schemas.openxmlformats.org/drawingml/2006/main">
            <a:r>
              <a:t>      },</a:t>
            </a:r>
          </a:p>
          <a:p xmlns:a="http://schemas.openxmlformats.org/drawingml/2006/main">
            <a:r>
              <a:t>      {</a:t>
            </a:r>
          </a:p>
          <a:p xmlns:a="http://schemas.openxmlformats.org/drawingml/2006/main">
            <a:r>
              <a:t>        "region_code": "26230",</a:t>
            </a:r>
          </a:p>
          <a:p xmlns:a="http://schemas.openxmlformats.org/drawingml/2006/main">
            <a:r>
              <a:t>        "region_name": "부산광역시 부산진구",</a:t>
            </a:r>
          </a:p>
          <a:p xmlns:a="http://schemas.openxmlformats.org/drawingml/2006/main">
            <a:r>
              <a:t>        "visitors_yoy_pct": -0.7135985449665094,</a:t>
            </a:r>
          </a:p>
          <a:p xmlns:a="http://schemas.openxmlformats.org/drawingml/2006/main">
            <a:r>
              <a:t>        "spending_yoy_pct": 12.440013216896407</a:t>
            </a:r>
          </a:p>
          <a:p xmlns:a="http://schemas.openxmlformats.org/drawingml/2006/main">
            <a:r>
              <a:t>      },</a:t>
            </a:r>
          </a:p>
          <a:p xmlns:a="http://schemas.openxmlformats.org/drawingml/2006/main">
            <a:r>
              <a:t>      {</a:t>
            </a:r>
          </a:p>
          <a:p xmlns:a="http://schemas.openxmlformats.org/drawingml/2006/main">
            <a:r>
              <a:t>        "region_code": "26320",</a:t>
            </a:r>
          </a:p>
          <a:p xmlns:a="http://schemas.openxmlformats.org/drawingml/2006/main">
            <a:r>
              <a:t>        "region_name": "부산광역시 북구",</a:t>
            </a:r>
          </a:p>
          <a:p xmlns:a="http://schemas.openxmlformats.org/drawingml/2006/main">
            <a:r>
              <a:t>        "visitors_yoy_pct": -0.826923040419314,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"26530",</a:t>
            </a:r>
          </a:p>
          <a:p xmlns:a="http://schemas.openxmlformats.org/drawingml/2006/main">
            <a:r>
              <a:t>        "region_name": "부산광역시 사상구",</a:t>
            </a:r>
          </a:p>
          <a:p xmlns:a="http://schemas.openxmlformats.org/drawingml/2006/main">
            <a:r>
              <a:t>        "visitors_yoy_pct": 3.2552629691459556,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"26380",</a:t>
            </a:r>
          </a:p>
          <a:p xmlns:a="http://schemas.openxmlformats.org/drawingml/2006/main">
            <a:r>
              <a:t>        "region_name": "부산광역시 사하구",</a:t>
            </a:r>
          </a:p>
          <a:p xmlns:a="http://schemas.openxmlformats.org/drawingml/2006/main">
            <a:r>
              <a:t>        "visitors_yoy_pct": 1.544310172085006,</a:t>
            </a:r>
          </a:p>
          <a:p xmlns:a="http://schemas.openxmlformats.org/drawingml/2006/main">
            <a:r>
              <a:t>        "spending_yoy_pct": 13.269352912248976</a:t>
            </a:r>
          </a:p>
          <a:p xmlns:a="http://schemas.openxmlformats.org/drawingml/2006/main">
            <a:r>
              <a:t>      },</a:t>
            </a:r>
          </a:p>
          <a:p xmlns:a="http://schemas.openxmlformats.org/drawingml/2006/main">
            <a:r>
              <a:t>      {</a:t>
            </a:r>
          </a:p>
          <a:p xmlns:a="http://schemas.openxmlformats.org/drawingml/2006/main">
            <a:r>
              <a:t>        "region_code": "26140",</a:t>
            </a:r>
          </a:p>
          <a:p xmlns:a="http://schemas.openxmlformats.org/drawingml/2006/main">
            <a:r>
              <a:t>        "region_name": "부산광역시 서구",</a:t>
            </a:r>
          </a:p>
          <a:p xmlns:a="http://schemas.openxmlformats.org/drawingml/2006/main">
            <a:r>
              <a:t>        "visitors_yoy_pct": -0.5690410799997103,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"26500",</a:t>
            </a:r>
          </a:p>
          <a:p xmlns:a="http://schemas.openxmlformats.org/drawingml/2006/main">
            <a:r>
              <a:t>        "region_name": "부산광역시 수영구",</a:t>
            </a:r>
          </a:p>
          <a:p xmlns:a="http://schemas.openxmlformats.org/drawingml/2006/main">
            <a:r>
              <a:t>        "visitors_yoy_pct": 2.036957530408534,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"26470",</a:t>
            </a:r>
          </a:p>
          <a:p xmlns:a="http://schemas.openxmlformats.org/drawingml/2006/main">
            <a:r>
              <a:t>        "region_name": "부산광역시 연제구",</a:t>
            </a:r>
          </a:p>
          <a:p xmlns:a="http://schemas.openxmlformats.org/drawingml/2006/main">
            <a:r>
              <a:t>        "visitors_yoy_pct": -1.8008178398181807,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"26200",</a:t>
            </a:r>
          </a:p>
          <a:p xmlns:a="http://schemas.openxmlformats.org/drawingml/2006/main">
            <a:r>
              <a:t>        "region_name": "부산광역시 영도구",</a:t>
            </a:r>
          </a:p>
          <a:p xmlns:a="http://schemas.openxmlformats.org/drawingml/2006/main">
            <a:r>
              <a:t>        "visitors_yoy_pct": -1.424513143058459,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"26110",</a:t>
            </a:r>
          </a:p>
          <a:p xmlns:a="http://schemas.openxmlformats.org/drawingml/2006/main">
            <a:r>
              <a:t>        "region_name": "부산광역시 중구",</a:t>
            </a:r>
          </a:p>
          <a:p xmlns:a="http://schemas.openxmlformats.org/drawingml/2006/main">
            <a:r>
              <a:t>        "visitors_yoy_pct": -0.5564090965809787,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"26350",</a:t>
            </a:r>
          </a:p>
          <a:p xmlns:a="http://schemas.openxmlformats.org/drawingml/2006/main">
            <a:r>
              <a:t>        "region_name": "부산광역시 해운대구",</a:t>
            </a:r>
          </a:p>
          <a:p xmlns:a="http://schemas.openxmlformats.org/drawingml/2006/main">
            <a:r>
              <a:t>        "visitors_yoy_pct": 2.294602584905081,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"31140",</a:t>
            </a:r>
          </a:p>
          <a:p xmlns:a="http://schemas.openxmlformats.org/drawingml/2006/main">
            <a:r>
              <a:t>        "region_name": "울산광역시 남구",</a:t>
            </a:r>
          </a:p>
          <a:p xmlns:a="http://schemas.openxmlformats.org/drawingml/2006/main">
            <a:r>
              <a:t>        "visitors_yoy_pct": -4.281167592593893,</a:t>
            </a:r>
          </a:p>
          <a:p xmlns:a="http://schemas.openxmlformats.org/drawingml/2006/main">
            <a:r>
              <a:t>        "spending_yoy_pct": 7.363366661362503</a:t>
            </a:r>
          </a:p>
          <a:p xmlns:a="http://schemas.openxmlformats.org/drawingml/2006/main">
            <a:r>
              <a:t>      },</a:t>
            </a:r>
          </a:p>
          <a:p xmlns:a="http://schemas.openxmlformats.org/drawingml/2006/main">
            <a:r>
              <a:t>      {</a:t>
            </a:r>
          </a:p>
          <a:p xmlns:a="http://schemas.openxmlformats.org/drawingml/2006/main">
            <a:r>
              <a:t>        "region_code": "31170",</a:t>
            </a:r>
          </a:p>
          <a:p xmlns:a="http://schemas.openxmlformats.org/drawingml/2006/main">
            <a:r>
              <a:t>        "region_name": "울산광역시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"31200",</a:t>
            </a:r>
          </a:p>
          <a:p xmlns:a="http://schemas.openxmlformats.org/drawingml/2006/main">
            <a:r>
              <a:t>        "region_name": "울산광역시 북구",</a:t>
            </a:r>
          </a:p>
          <a:p xmlns:a="http://schemas.openxmlformats.org/drawingml/2006/main">
            <a:r>
              <a:t>        "visitors_yoy_pct": 0.0,</a:t>
            </a:r>
          </a:p>
          <a:p xmlns:a="http://schemas.openxmlformats.org/drawingml/2006/main">
            <a:r>
              <a:t>        "spending_yoy_pct": 0.9016050829677491</a:t>
            </a:r>
          </a:p>
          <a:p xmlns:a="http://schemas.openxmlformats.org/drawingml/2006/main">
            <a:r>
              <a:t>      },</a:t>
            </a:r>
          </a:p>
          <a:p xmlns:a="http://schemas.openxmlformats.org/drawingml/2006/main">
            <a:r>
              <a:t>      {</a:t>
            </a:r>
          </a:p>
          <a:p xmlns:a="http://schemas.openxmlformats.org/drawingml/2006/main">
            <a:r>
              <a:t>        "region_code": "31710",</a:t>
            </a:r>
          </a:p>
          <a:p xmlns:a="http://schemas.openxmlformats.org/drawingml/2006/main">
            <a:r>
              <a:t>        "region_name": "울산광역시 울주군",</a:t>
            </a:r>
          </a:p>
          <a:p xmlns:a="http://schemas.openxmlformats.org/drawingml/2006/main">
            <a:r>
              <a:t>        "visitors_yoy_pct": 2.6030321555469804,</a:t>
            </a:r>
          </a:p>
          <a:p xmlns:a="http://schemas.openxmlformats.org/drawingml/2006/main">
            <a:r>
              <a:t>        "spending_yoy_pct": 62.52152140018454</a:t>
            </a:r>
          </a:p>
          <a:p xmlns:a="http://schemas.openxmlformats.org/drawingml/2006/main">
            <a:r>
              <a:t>      },</a:t>
            </a:r>
          </a:p>
          <a:p xmlns:a="http://schemas.openxmlformats.org/drawingml/2006/main">
            <a:r>
              <a:t>      {</a:t>
            </a:r>
          </a:p>
          <a:p xmlns:a="http://schemas.openxmlformats.org/drawingml/2006/main">
            <a:r>
              <a:t>        "region_code": "31110",</a:t>
            </a:r>
          </a:p>
          <a:p xmlns:a="http://schemas.openxmlformats.org/drawingml/2006/main">
            <a:r>
              <a:t>        "region_name": "울산광역시 중구",</a:t>
            </a:r>
          </a:p>
          <a:p xmlns:a="http://schemas.openxmlformats.org/drawingml/2006/main">
            <a:r>
              <a:t>        "visitors_yoy_pct": -1.869977091489472,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"28710",</a:t>
            </a:r>
          </a:p>
          <a:p xmlns:a="http://schemas.openxmlformats.org/drawingml/2006/main">
            <a:r>
              <a:t>        "region_name": "인천광역시 강화군",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"28200",</a:t>
            </a:r>
          </a:p>
          <a:p xmlns:a="http://schemas.openxmlformats.org/drawingml/2006/main">
            <a:r>
              <a:t>        "region_name": "인천광역시 남동구",</a:t>
            </a:r>
          </a:p>
          <a:p xmlns:a="http://schemas.openxmlformats.org/drawingml/2006/main">
            <a:r>
              <a:t>        "visitors_yoy_pct": -0.30452048491245165,</a:t>
            </a:r>
          </a:p>
          <a:p xmlns:a="http://schemas.openxmlformats.org/drawingml/2006/main">
            <a:r>
              <a:t>        "spending_yoy_pct": 9.128785699086993</a:t>
            </a:r>
          </a:p>
          <a:p xmlns:a="http://schemas.openxmlformats.org/drawingml/2006/main">
            <a:r>
              <a:t>      },</a:t>
            </a:r>
          </a:p>
          <a:p xmlns:a="http://schemas.openxmlformats.org/drawingml/2006/main">
            <a:r>
              <a:t>      {</a:t>
            </a:r>
          </a:p>
          <a:p xmlns:a="http://schemas.openxmlformats.org/drawingml/2006/main">
            <a:r>
              <a:t>        "region_code": "28140",</a:t>
            </a:r>
          </a:p>
          <a:p xmlns:a="http://schemas.openxmlformats.org/drawingml/2006/main">
            <a:r>
              <a:t>        "region_name": "인천광역시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"28177",</a:t>
            </a:r>
          </a:p>
          <a:p xmlns:a="http://schemas.openxmlformats.org/drawingml/2006/main">
            <a:r>
              <a:t>        "region_name": "인천광역시 미추홀구",</a:t>
            </a:r>
          </a:p>
          <a:p xmlns:a="http://schemas.openxmlformats.org/drawingml/2006/main">
            <a:r>
              <a:t>        "visitors_yoy_pct": 4.253574353563128,</a:t>
            </a:r>
          </a:p>
          <a:p xmlns:a="http://schemas.openxmlformats.org/drawingml/2006/main">
            <a:r>
              <a:t>        "spending_yoy_pct": -0.39307051850207</a:t>
            </a:r>
          </a:p>
          <a:p xmlns:a="http://schemas.openxmlformats.org/drawingml/2006/main">
            <a:r>
              <a:t>      },</a:t>
            </a:r>
          </a:p>
          <a:p xmlns:a="http://schemas.openxmlformats.org/drawingml/2006/main">
            <a:r>
              <a:t>      {</a:t>
            </a:r>
          </a:p>
          <a:p xmlns:a="http://schemas.openxmlformats.org/drawingml/2006/main">
            <a:r>
              <a:t>        "region_code": "28237",</a:t>
            </a:r>
          </a:p>
          <a:p xmlns:a="http://schemas.openxmlformats.org/drawingml/2006/main">
            <a:r>
              <a:t>        "region_name": "인천광역시 부평구",</a:t>
            </a:r>
          </a:p>
          <a:p xmlns:a="http://schemas.openxmlformats.org/drawingml/2006/main">
            <a:r>
              <a:t>        "visitors_yoy_pct": -2.147594135319486,</a:t>
            </a:r>
          </a:p>
          <a:p xmlns:a="http://schemas.openxmlformats.org/drawingml/2006/main">
            <a:r>
              <a:t>        "spending_yoy_pct": -3.236192328869203</a:t>
            </a:r>
          </a:p>
          <a:p xmlns:a="http://schemas.openxmlformats.org/drawingml/2006/main">
            <a:r>
              <a:t>      },</a:t>
            </a:r>
          </a:p>
          <a:p xmlns:a="http://schemas.openxmlformats.org/drawingml/2006/main">
            <a:r>
              <a:t>      {</a:t>
            </a:r>
          </a:p>
          <a:p xmlns:a="http://schemas.openxmlformats.org/drawingml/2006/main">
            <a:r>
              <a:t>        "region_code": "28260",</a:t>
            </a:r>
          </a:p>
          <a:p xmlns:a="http://schemas.openxmlformats.org/drawingml/2006/main">
            <a:r>
              <a:t>        "region_name": "인천광역시 서구",</a:t>
            </a:r>
          </a:p>
          <a:p xmlns:a="http://schemas.openxmlformats.org/drawingml/2006/main">
            <a:r>
              <a:t>        "visitors_yoy_pct": 0.9935772294742629,</a:t>
            </a:r>
          </a:p>
          <a:p xmlns:a="http://schemas.openxmlformats.org/drawingml/2006/main">
            <a:r>
              <a:t>        "spending_yoy_pct": 10.485707821897062</a:t>
            </a:r>
          </a:p>
          <a:p xmlns:a="http://schemas.openxmlformats.org/drawingml/2006/main">
            <a:r>
              <a:t>      },</a:t>
            </a:r>
          </a:p>
          <a:p xmlns:a="http://schemas.openxmlformats.org/drawingml/2006/main">
            <a:r>
              <a:t>      {</a:t>
            </a:r>
          </a:p>
          <a:p xmlns:a="http://schemas.openxmlformats.org/drawingml/2006/main">
            <a:r>
              <a:t>        "region_code": "28185",</a:t>
            </a:r>
          </a:p>
          <a:p xmlns:a="http://schemas.openxmlformats.org/drawingml/2006/main">
            <a:r>
              <a:t>        "region_name": "인천광역시 연수구",</a:t>
            </a:r>
          </a:p>
          <a:p xmlns:a="http://schemas.openxmlformats.org/drawingml/2006/main">
            <a:r>
              <a:t>        "visitors_yoy_pct": 1.487521488159138,</a:t>
            </a:r>
          </a:p>
          <a:p xmlns:a="http://schemas.openxmlformats.org/drawingml/2006/main">
            <a:r>
              <a:t>        "spending_yoy_pct": 1.2888193298384865</a:t>
            </a:r>
          </a:p>
          <a:p xmlns:a="http://schemas.openxmlformats.org/drawingml/2006/main">
            <a:r>
              <a:t>      },</a:t>
            </a:r>
          </a:p>
          <a:p xmlns:a="http://schemas.openxmlformats.org/drawingml/2006/main">
            <a:r>
              <a:t>      {</a:t>
            </a:r>
          </a:p>
          <a:p xmlns:a="http://schemas.openxmlformats.org/drawingml/2006/main">
            <a:r>
              <a:t>        "region_code": "28720",</a:t>
            </a:r>
          </a:p>
          <a:p xmlns:a="http://schemas.openxmlformats.org/drawingml/2006/main">
            <a:r>
              <a:t>        "region_name": "인천광역시 옹진군",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"28110",</a:t>
            </a:r>
          </a:p>
          <a:p xmlns:a="http://schemas.openxmlformats.org/drawingml/2006/main">
            <a:r>
              <a:t>        "region_name": "인천광역시 중구",</a:t>
            </a:r>
          </a:p>
          <a:p xmlns:a="http://schemas.openxmlformats.org/drawingml/2006/main">
            <a:r>
              <a:t>        "visitors_yoy_pct": -1.40416628182366,</a:t>
            </a:r>
          </a:p>
          <a:p xmlns:a="http://schemas.openxmlformats.org/drawingml/2006/main">
            <a:r>
              <a:t>        "spending_yoy_pct": -2.588345108767043</a:t>
            </a:r>
          </a:p>
          <a:p xmlns:a="http://schemas.openxmlformats.org/drawingml/2006/main">
            <a:r>
              <a:t>      },</a:t>
            </a:r>
          </a:p>
          <a:p xmlns:a="http://schemas.openxmlformats.org/drawingml/2006/main">
            <a:r>
              <a:t>      {</a:t>
            </a:r>
          </a:p>
          <a:p xmlns:a="http://schemas.openxmlformats.org/drawingml/2006/main">
            <a:r>
              <a:t>        "region_code": "46810",</a:t>
            </a:r>
          </a:p>
          <a:p xmlns:a="http://schemas.openxmlformats.org/drawingml/2006/main">
            <a:r>
              <a:t>        "region_name": "전라남도 강진군",</a:t>
            </a:r>
          </a:p>
          <a:p xmlns:a="http://schemas.openxmlformats.org/drawingml/2006/main">
            <a:r>
              <a:t>        "visitors_yoy_pct": -2.5168617337829824,</a:t>
            </a:r>
          </a:p>
          <a:p xmlns:a="http://schemas.openxmlformats.org/drawingml/2006/main">
            <a:r>
              <a:t>        "spending_yoy_pct": -4.482092207211219</a:t>
            </a:r>
          </a:p>
          <a:p xmlns:a="http://schemas.openxmlformats.org/drawingml/2006/main">
            <a:r>
              <a:t>      },</a:t>
            </a:r>
          </a:p>
          <a:p xmlns:a="http://schemas.openxmlformats.org/drawingml/2006/main">
            <a:r>
              <a:t>      {</a:t>
            </a:r>
          </a:p>
          <a:p xmlns:a="http://schemas.openxmlformats.org/drawingml/2006/main">
            <a:r>
              <a:t>        "region_code": "46770",</a:t>
            </a:r>
          </a:p>
          <a:p xmlns:a="http://schemas.openxmlformats.org/drawingml/2006/main">
            <a:r>
              <a:t>        "region_name": "전라남도 고흥군",</a:t>
            </a:r>
          </a:p>
          <a:p xmlns:a="http://schemas.openxmlformats.org/drawingml/2006/main">
            <a:r>
              <a:t>        "visitors_yoy_pct": -11.306522531093933,</a:t>
            </a:r>
          </a:p>
          <a:p xmlns:a="http://schemas.openxmlformats.org/drawingml/2006/main">
            <a:r>
              <a:t>        "spending_yoy_pct": -11.57250799849544</a:t>
            </a:r>
          </a:p>
          <a:p xmlns:a="http://schemas.openxmlformats.org/drawingml/2006/main">
            <a:r>
              <a:t>      },</a:t>
            </a:r>
          </a:p>
          <a:p xmlns:a="http://schemas.openxmlformats.org/drawingml/2006/main">
            <a:r>
              <a:t>      {</a:t>
            </a:r>
          </a:p>
          <a:p xmlns:a="http://schemas.openxmlformats.org/drawingml/2006/main">
            <a:r>
              <a:t>        "region_code": "46720",</a:t>
            </a:r>
          </a:p>
          <a:p xmlns:a="http://schemas.openxmlformats.org/drawingml/2006/main">
            <a:r>
              <a:t>        "region_name": "전라남도 곡성군",</a:t>
            </a:r>
          </a:p>
          <a:p xmlns:a="http://schemas.openxmlformats.org/drawingml/2006/main">
            <a:r>
              <a:t>        "visitors_yoy_pct": 5.339277215525051,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"46230",</a:t>
            </a:r>
          </a:p>
          <a:p xmlns:a="http://schemas.openxmlformats.org/drawingml/2006/main">
            <a:r>
              <a:t>        "region_name": "전라남도 광양시",</a:t>
            </a:r>
          </a:p>
          <a:p xmlns:a="http://schemas.openxmlformats.org/drawingml/2006/main">
            <a:r>
              <a:t>        "visitors_yoy_pct": 3.917907343849847,</a:t>
            </a:r>
          </a:p>
          <a:p xmlns:a="http://schemas.openxmlformats.org/drawingml/2006/main">
            <a:r>
              <a:t>        "spending_yoy_pct": 37.63030093728903</a:t>
            </a:r>
          </a:p>
          <a:p xmlns:a="http://schemas.openxmlformats.org/drawingml/2006/main">
            <a:r>
              <a:t>      },</a:t>
            </a:r>
          </a:p>
          <a:p xmlns:a="http://schemas.openxmlformats.org/drawingml/2006/main">
            <a:r>
              <a:t>      {</a:t>
            </a:r>
          </a:p>
          <a:p xmlns:a="http://schemas.openxmlformats.org/drawingml/2006/main">
            <a:r>
              <a:t>        "region_code": "46730",</a:t>
            </a:r>
          </a:p>
          <a:p xmlns:a="http://schemas.openxmlformats.org/drawingml/2006/main">
            <a:r>
              <a:t>        "region_name": "전라남도 구례군",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"46170",</a:t>
            </a:r>
          </a:p>
          <a:p xmlns:a="http://schemas.openxmlformats.org/drawingml/2006/main">
            <a:r>
              <a:t>        "region_name": "전라남도 나주시",</a:t>
            </a:r>
          </a:p>
          <a:p xmlns:a="http://schemas.openxmlformats.org/drawingml/2006/main">
            <a:r>
              <a:t>        "visitors_yoy_pct": -1.8552327862504048,</a:t>
            </a:r>
          </a:p>
          <a:p xmlns:a="http://schemas.openxmlformats.org/drawingml/2006/main">
            <a:r>
              <a:t>        "spending_yoy_pct": 17.91727578060309</a:t>
            </a:r>
          </a:p>
          <a:p xmlns:a="http://schemas.openxmlformats.org/drawingml/2006/main">
            <a:r>
              <a:t>      },</a:t>
            </a:r>
          </a:p>
          <a:p xmlns:a="http://schemas.openxmlformats.org/drawingml/2006/main">
            <a:r>
              <a:t>      {</a:t>
            </a:r>
          </a:p>
          <a:p xmlns:a="http://schemas.openxmlformats.org/drawingml/2006/main">
            <a:r>
              <a:t>        "region_code": "46710",</a:t>
            </a:r>
          </a:p>
          <a:p xmlns:a="http://schemas.openxmlformats.org/drawingml/2006/main">
            <a:r>
              <a:t>        "region_name": "전라남도 담양군",</a:t>
            </a:r>
          </a:p>
          <a:p xmlns:a="http://schemas.openxmlformats.org/drawingml/2006/main">
            <a:r>
              <a:t>        "visitors_yoy_pct": -2.5922628029858785,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"46110",</a:t>
            </a:r>
          </a:p>
          <a:p xmlns:a="http://schemas.openxmlformats.org/drawingml/2006/main">
            <a:r>
              <a:t>        "region_name": "전라남도 목포시",</a:t>
            </a:r>
          </a:p>
          <a:p xmlns:a="http://schemas.openxmlformats.org/drawingml/2006/main">
            <a:r>
              <a:t>        "visitors_yoy_pct": -3.8050913694334665,</a:t>
            </a:r>
          </a:p>
          <a:p xmlns:a="http://schemas.openxmlformats.org/drawingml/2006/main">
            <a:r>
              <a:t>        "spending_yoy_pct": -2.829737192897619</a:t>
            </a:r>
          </a:p>
          <a:p xmlns:a="http://schemas.openxmlformats.org/drawingml/2006/main">
            <a:r>
              <a:t>      },</a:t>
            </a:r>
          </a:p>
          <a:p xmlns:a="http://schemas.openxmlformats.org/drawingml/2006/main">
            <a:r>
              <a:t>      {</a:t>
            </a:r>
          </a:p>
          <a:p xmlns:a="http://schemas.openxmlformats.org/drawingml/2006/main">
            <a:r>
              <a:t>        "region_code": "46840",</a:t>
            </a:r>
          </a:p>
          <a:p xmlns:a="http://schemas.openxmlformats.org/drawingml/2006/main">
            <a:r>
              <a:t>        "region_name": "전라남도 무안군",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"46780",</a:t>
            </a:r>
          </a:p>
          <a:p xmlns:a="http://schemas.openxmlformats.org/drawingml/2006/main">
            <a:r>
              <a:t>        "region_name": "전라남도 보성군",</a:t>
            </a:r>
          </a:p>
          <a:p xmlns:a="http://schemas.openxmlformats.org/drawingml/2006/main">
            <a:r>
              <a:t>        "visitors_yoy_pct": -4.470951871747653,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"46150",</a:t>
            </a:r>
          </a:p>
          <a:p xmlns:a="http://schemas.openxmlformats.org/drawingml/2006/main">
            <a:r>
              <a:t>        "region_name": "전라남도 순천시",</a:t>
            </a:r>
          </a:p>
          <a:p xmlns:a="http://schemas.openxmlformats.org/drawingml/2006/main">
            <a:r>
              <a:t>        "visitors_yoy_pct": -4.022517360300859,</a:t>
            </a:r>
          </a:p>
          <a:p xmlns:a="http://schemas.openxmlformats.org/drawingml/2006/main">
            <a:r>
              <a:t>        "spending_yoy_pct": -1.9999763950737104</a:t>
            </a:r>
          </a:p>
          <a:p xmlns:a="http://schemas.openxmlformats.org/drawingml/2006/main">
            <a:r>
              <a:t>      },</a:t>
            </a:r>
          </a:p>
          <a:p xmlns:a="http://schemas.openxmlformats.org/drawingml/2006/main">
            <a:r>
              <a:t>      {</a:t>
            </a:r>
          </a:p>
          <a:p xmlns:a="http://schemas.openxmlformats.org/drawingml/2006/main">
            <a:r>
              <a:t>        "region_code": "46910",</a:t>
            </a:r>
          </a:p>
          <a:p xmlns:a="http://schemas.openxmlformats.org/drawingml/2006/main">
            <a:r>
              <a:t>        "region_name": "전라남도 신안군",</a:t>
            </a:r>
          </a:p>
          <a:p xmlns:a="http://schemas.openxmlformats.org/drawingml/2006/main">
            <a:r>
              <a:t>        "visitors_yoy_pct": -3.942188474476893,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"46130",</a:t>
            </a:r>
          </a:p>
          <a:p xmlns:a="http://schemas.openxmlformats.org/drawingml/2006/main">
            <a:r>
              <a:t>        "region_name": "전라남도 여수시",</a:t>
            </a:r>
          </a:p>
          <a:p xmlns:a="http://schemas.openxmlformats.org/drawingml/2006/main">
            <a:r>
              <a:t>        "visitors_yoy_pct": -2.7943796052375403,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"46870",</a:t>
            </a:r>
          </a:p>
          <a:p xmlns:a="http://schemas.openxmlformats.org/drawingml/2006/main">
            <a:r>
              <a:t>        "region_name": "전라남도 영광군",</a:t>
            </a:r>
          </a:p>
          <a:p xmlns:a="http://schemas.openxmlformats.org/drawingml/2006/main">
            <a:r>
              <a:t>        "visitors_yoy_pct": -3.3897637721457707,</a:t>
            </a:r>
          </a:p>
          <a:p xmlns:a="http://schemas.openxmlformats.org/drawingml/2006/main">
            <a:r>
              <a:t>        "spending_yoy_pct": 0.633656482224243</a:t>
            </a:r>
          </a:p>
          <a:p xmlns:a="http://schemas.openxmlformats.org/drawingml/2006/main">
            <a:r>
              <a:t>      },</a:t>
            </a:r>
          </a:p>
          <a:p xmlns:a="http://schemas.openxmlformats.org/drawingml/2006/main">
            <a:r>
              <a:t>      {</a:t>
            </a:r>
          </a:p>
          <a:p xmlns:a="http://schemas.openxmlformats.org/drawingml/2006/main">
            <a:r>
              <a:t>        "region_code": "46830",</a:t>
            </a:r>
          </a:p>
          <a:p xmlns:a="http://schemas.openxmlformats.org/drawingml/2006/main">
            <a:r>
              <a:t>        "region_name": "전라남도 영암군",</a:t>
            </a:r>
          </a:p>
          <a:p xmlns:a="http://schemas.openxmlformats.org/drawingml/2006/main">
            <a:r>
              <a:t>        "visitors_yoy_pct": -0.04349507838015132,</a:t>
            </a:r>
          </a:p>
          <a:p xmlns:a="http://schemas.openxmlformats.org/drawingml/2006/main">
            <a:r>
              <a:t>        "spending_yoy_pct": 27.22182967008513</a:t>
            </a:r>
          </a:p>
          <a:p xmlns:a="http://schemas.openxmlformats.org/drawingml/2006/main">
            <a:r>
              <a:t>      },</a:t>
            </a:r>
          </a:p>
          <a:p xmlns:a="http://schemas.openxmlformats.org/drawingml/2006/main">
            <a:r>
              <a:t>      {</a:t>
            </a:r>
          </a:p>
          <a:p xmlns:a="http://schemas.openxmlformats.org/drawingml/2006/main">
            <a:r>
              <a:t>        "region_code": "46890",</a:t>
            </a:r>
          </a:p>
          <a:p xmlns:a="http://schemas.openxmlformats.org/drawingml/2006/main">
            <a:r>
              <a:t>        "region_name": "전라남도 완도군",</a:t>
            </a:r>
          </a:p>
          <a:p xmlns:a="http://schemas.openxmlformats.org/drawingml/2006/main">
            <a:r>
              <a:t>        "visitors_yoy_pct": -5.909742520692795,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"46880",</a:t>
            </a:r>
          </a:p>
          <a:p xmlns:a="http://schemas.openxmlformats.org/drawingml/2006/main">
            <a:r>
              <a:t>        "region_name": "전라남도 장성군",</a:t>
            </a:r>
          </a:p>
          <a:p xmlns:a="http://schemas.openxmlformats.org/drawingml/2006/main">
            <a:r>
              <a:t>        "visitors_yoy_pct": -7.053620032661945,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"46800",</a:t>
            </a:r>
          </a:p>
          <a:p xmlns:a="http://schemas.openxmlformats.org/drawingml/2006/main">
            <a:r>
              <a:t>        "region_name": "전라남도 장흥군",</a:t>
            </a:r>
          </a:p>
          <a:p xmlns:a="http://schemas.openxmlformats.org/drawingml/2006/main">
            <a:r>
              <a:t>        "visitors_yoy_pct": -6.648802559754008,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"46900",</a:t>
            </a:r>
          </a:p>
          <a:p xmlns:a="http://schemas.openxmlformats.org/drawingml/2006/main">
            <a:r>
              <a:t>        "region_name": "전라남도 진도군",</a:t>
            </a:r>
          </a:p>
          <a:p xmlns:a="http://schemas.openxmlformats.org/drawingml/2006/main">
            <a:r>
              <a:t>        "visitors_yoy_pct": -4.343147418429072,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"46860",</a:t>
            </a:r>
          </a:p>
          <a:p xmlns:a="http://schemas.openxmlformats.org/drawingml/2006/main">
            <a:r>
              <a:t>        "region_name": "전라남도 함평군",</a:t>
            </a:r>
          </a:p>
          <a:p xmlns:a="http://schemas.openxmlformats.org/drawingml/2006/main">
            <a:r>
              <a:t>        "visitors_yoy_pct": -3.47720564034385,</a:t>
            </a:r>
          </a:p>
          <a:p xmlns:a="http://schemas.openxmlformats.org/drawingml/2006/main">
            <a:r>
              <a:t>        "spending_yoy_pct": -19.459853142577387</a:t>
            </a:r>
          </a:p>
          <a:p xmlns:a="http://schemas.openxmlformats.org/drawingml/2006/main">
            <a:r>
              <a:t>      },</a:t>
            </a:r>
          </a:p>
          <a:p xmlns:a="http://schemas.openxmlformats.org/drawingml/2006/main">
            <a:r>
              <a:t>      {</a:t>
            </a:r>
          </a:p>
          <a:p xmlns:a="http://schemas.openxmlformats.org/drawingml/2006/main">
            <a:r>
              <a:t>        "region_code": "46820",</a:t>
            </a:r>
          </a:p>
          <a:p xmlns:a="http://schemas.openxmlformats.org/drawingml/2006/main">
            <a:r>
              <a:t>        "region_name": "전라남도 해남군",</a:t>
            </a:r>
          </a:p>
          <a:p xmlns:a="http://schemas.openxmlformats.org/drawingml/2006/main">
            <a:r>
              <a:t>        "visitors_yoy_pct": -7.594166067586816,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"46790",</a:t>
            </a:r>
          </a:p>
          <a:p xmlns:a="http://schemas.openxmlformats.org/drawingml/2006/main">
            <a:r>
              <a:t>        "region_name": "전라남도 화순군",</a:t>
            </a:r>
          </a:p>
          <a:p xmlns:a="http://schemas.openxmlformats.org/drawingml/2006/main">
            <a:r>
              <a:t>        "visitors_yoy_pct": -0.4638258656956218,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"52790",</a:t>
            </a:r>
          </a:p>
          <a:p xmlns:a="http://schemas.openxmlformats.org/drawingml/2006/main">
            <a:r>
              <a:t>        "region_name": "전북특별자치도 고창군",</a:t>
            </a:r>
          </a:p>
          <a:p xmlns:a="http://schemas.openxmlformats.org/drawingml/2006/main">
            <a:r>
              <a:t>        "visitors_yoy_pct": -6.627616864286345,</a:t>
            </a:r>
          </a:p>
          <a:p xmlns:a="http://schemas.openxmlformats.org/drawingml/2006/main">
            <a:r>
              <a:t>        "spending_yoy_pct": 1.7686019122850727</a:t>
            </a:r>
          </a:p>
          <a:p xmlns:a="http://schemas.openxmlformats.org/drawingml/2006/main">
            <a:r>
              <a:t>      },</a:t>
            </a:r>
          </a:p>
          <a:p xmlns:a="http://schemas.openxmlformats.org/drawingml/2006/main">
            <a:r>
              <a:t>      {</a:t>
            </a:r>
          </a:p>
          <a:p xmlns:a="http://schemas.openxmlformats.org/drawingml/2006/main">
            <a:r>
              <a:t>        "region_code": "52130",</a:t>
            </a:r>
          </a:p>
          <a:p xmlns:a="http://schemas.openxmlformats.org/drawingml/2006/main">
            <a:r>
              <a:t>        "region_name": "전북특별자치도 군산시",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"52210",</a:t>
            </a:r>
          </a:p>
          <a:p xmlns:a="http://schemas.openxmlformats.org/drawingml/2006/main">
            <a:r>
              <a:t>        "region_name": "전북특별자치도 김제시",</a:t>
            </a:r>
          </a:p>
          <a:p xmlns:a="http://schemas.openxmlformats.org/drawingml/2006/main">
            <a:r>
              <a:t>        "visitors_yoy_pct": -0.6758954076027224,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"52190",</a:t>
            </a:r>
          </a:p>
          <a:p xmlns:a="http://schemas.openxmlformats.org/drawingml/2006/main">
            <a:r>
              <a:t>        "region_name": "전북특별자치도 남원시",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"52730",</a:t>
            </a:r>
          </a:p>
          <a:p xmlns:a="http://schemas.openxmlformats.org/drawingml/2006/main">
            <a:r>
              <a:t>        "region_name": "전북특별자치도 무주군",</a:t>
            </a:r>
          </a:p>
          <a:p xmlns:a="http://schemas.openxmlformats.org/drawingml/2006/main">
            <a:r>
              <a:t>        "visitors_yoy_pct": 4.597012440752213,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"52800",</a:t>
            </a:r>
          </a:p>
          <a:p xmlns:a="http://schemas.openxmlformats.org/drawingml/2006/main">
            <a:r>
              <a:t>        "region_name": "전북특별자치도 부안군",</a:t>
            </a:r>
          </a:p>
          <a:p xmlns:a="http://schemas.openxmlformats.org/drawingml/2006/main">
            <a:r>
              <a:t>        "visitors_yoy_pct": 0.2262425995711581,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"52770",</a:t>
            </a:r>
          </a:p>
          <a:p xmlns:a="http://schemas.openxmlformats.org/drawingml/2006/main">
            <a:r>
              <a:t>        "region_name": "전북특별자치도 순창군",</a:t>
            </a:r>
          </a:p>
          <a:p xmlns:a="http://schemas.openxmlformats.org/drawingml/2006/main">
            <a:r>
              <a:t>        "visitors_yoy_pct": -9.68958471728848,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"52710",</a:t>
            </a:r>
          </a:p>
          <a:p xmlns:a="http://schemas.openxmlformats.org/drawingml/2006/main">
            <a:r>
              <a:t>        "region_name": "전북특별자치도 완주군",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"52140",</a:t>
            </a:r>
          </a:p>
          <a:p xmlns:a="http://schemas.openxmlformats.org/drawingml/2006/main">
            <a:r>
              <a:t>        "region_name": "전북특별자치도 익산시",</a:t>
            </a:r>
          </a:p>
          <a:p xmlns:a="http://schemas.openxmlformats.org/drawingml/2006/main">
            <a:r>
              <a:t>        "visitors_yoy_pct": -2.186202233151302,</a:t>
            </a:r>
          </a:p>
          <a:p xmlns:a="http://schemas.openxmlformats.org/drawingml/2006/main">
            <a:r>
              <a:t>        "spending_yoy_pct": -1.7467930855516123</a:t>
            </a:r>
          </a:p>
          <a:p xmlns:a="http://schemas.openxmlformats.org/drawingml/2006/main">
            <a:r>
              <a:t>      },</a:t>
            </a:r>
          </a:p>
          <a:p xmlns:a="http://schemas.openxmlformats.org/drawingml/2006/main">
            <a:r>
              <a:t>      {</a:t>
            </a:r>
          </a:p>
          <a:p xmlns:a="http://schemas.openxmlformats.org/drawingml/2006/main">
            <a:r>
              <a:t>        "region_code": "52750",</a:t>
            </a:r>
          </a:p>
          <a:p xmlns:a="http://schemas.openxmlformats.org/drawingml/2006/main">
            <a:r>
              <a:t>        "region_name": "전북특별자치도 임실군",</a:t>
            </a:r>
          </a:p>
          <a:p xmlns:a="http://schemas.openxmlformats.org/drawingml/2006/main">
            <a:r>
              <a:t>        "visitors_yoy_pct": -6.611276395036647,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"52740",</a:t>
            </a:r>
          </a:p>
          <a:p xmlns:a="http://schemas.openxmlformats.org/drawingml/2006/main">
            <a:r>
              <a:t>        "region_name": "전북특별자치도 장수군",</a:t>
            </a:r>
          </a:p>
          <a:p xmlns:a="http://schemas.openxmlformats.org/drawingml/2006/main">
            <a:r>
              <a:t>        "visitors_yoy_pct": 0.0,</a:t>
            </a:r>
          </a:p>
          <a:p xmlns:a="http://schemas.openxmlformats.org/drawingml/2006/main">
            <a:r>
              <a:t>        "spending_yoy_pct": -16.028109986249916</a:t>
            </a:r>
          </a:p>
          <a:p xmlns:a="http://schemas.openxmlformats.org/drawingml/2006/main">
            <a:r>
              <a:t>      },</a:t>
            </a:r>
          </a:p>
          <a:p xmlns:a="http://schemas.openxmlformats.org/drawingml/2006/main">
            <a:r>
              <a:t>      {</a:t>
            </a:r>
          </a:p>
          <a:p xmlns:a="http://schemas.openxmlformats.org/drawingml/2006/main">
            <a:r>
              <a:t>        "region_code": "52113",</a:t>
            </a:r>
          </a:p>
          <a:p xmlns:a="http://schemas.openxmlformats.org/drawingml/2006/main">
            <a:r>
              <a:t>        "region_name": "전북특별자치도 전주시 덕진구",</a:t>
            </a:r>
          </a:p>
          <a:p xmlns:a="http://schemas.openxmlformats.org/drawingml/2006/main">
            <a:r>
              <a:t>        "visitors_yoy_pct": 4.291963563452361,</a:t>
            </a:r>
          </a:p>
          <a:p xmlns:a="http://schemas.openxmlformats.org/drawingml/2006/main">
            <a:r>
              <a:t>        "spending_yoy_pct": 3.429187439863446</a:t>
            </a:r>
          </a:p>
          <a:p xmlns:a="http://schemas.openxmlformats.org/drawingml/2006/main">
            <a:r>
              <a:t>      },</a:t>
            </a:r>
          </a:p>
          <a:p xmlns:a="http://schemas.openxmlformats.org/drawingml/2006/main">
            <a:r>
              <a:t>      {</a:t>
            </a:r>
          </a:p>
          <a:p xmlns:a="http://schemas.openxmlformats.org/drawingml/2006/main">
            <a:r>
              <a:t>        "region_code": "52111",</a:t>
            </a:r>
          </a:p>
          <a:p xmlns:a="http://schemas.openxmlformats.org/drawingml/2006/main">
            <a:r>
              <a:t>        "region_name": "전북특별자치도 전주시 완산구",</a:t>
            </a:r>
          </a:p>
          <a:p xmlns:a="http://schemas.openxmlformats.org/drawingml/2006/main">
            <a:r>
              <a:t>        "visitors_yoy_pct": -0.77126243208957,</a:t>
            </a:r>
          </a:p>
          <a:p xmlns:a="http://schemas.openxmlformats.org/drawingml/2006/main">
            <a:r>
              <a:t>        "spending_yoy_pct": -1.6686228105042833</a:t>
            </a:r>
          </a:p>
          <a:p xmlns:a="http://schemas.openxmlformats.org/drawingml/2006/main">
            <a:r>
              <a:t>      },</a:t>
            </a:r>
          </a:p>
          <a:p xmlns:a="http://schemas.openxmlformats.org/drawingml/2006/main">
            <a:r>
              <a:t>      {</a:t>
            </a:r>
          </a:p>
          <a:p xmlns:a="http://schemas.openxmlformats.org/drawingml/2006/main">
            <a:r>
              <a:t>        "region_code": "52180",</a:t>
            </a:r>
          </a:p>
          <a:p xmlns:a="http://schemas.openxmlformats.org/drawingml/2006/main">
            <a:r>
              <a:t>        "region_name": "전북특별자치도 정읍시",</a:t>
            </a:r>
          </a:p>
          <a:p xmlns:a="http://schemas.openxmlformats.org/drawingml/2006/main">
            <a:r>
              <a:t>        "visitors_yoy_pct": -8.113949274469512,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"52720",</a:t>
            </a:r>
          </a:p>
          <a:p xmlns:a="http://schemas.openxmlformats.org/drawingml/2006/main">
            <a:r>
              <a:t>        "region_name": "전북특별자치도 진안군",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"50130",</a:t>
            </a:r>
          </a:p>
          <a:p xmlns:a="http://schemas.openxmlformats.org/drawingml/2006/main">
            <a:r>
              <a:t>        "region_name": "제주특별자치도 서귀포시",</a:t>
            </a:r>
          </a:p>
          <a:p xmlns:a="http://schemas.openxmlformats.org/drawingml/2006/main">
            <a:r>
              <a:t>        "visitors_yoy_pct": -1.9404077647184215,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"50110",</a:t>
            </a:r>
          </a:p>
          <a:p xmlns:a="http://schemas.openxmlformats.org/drawingml/2006/main">
            <a:r>
              <a:t>        "region_name": "제주특별자치도 제주시",</a:t>
            </a:r>
          </a:p>
          <a:p xmlns:a="http://schemas.openxmlformats.org/drawingml/2006/main">
            <a:r>
              <a:t>        "visitors_yoy_pct": -2.9970332041111325,</a:t>
            </a:r>
          </a:p>
          <a:p xmlns:a="http://schemas.openxmlformats.org/drawingml/2006/main">
            <a:r>
              <a:t>        "spending_yoy_pct": -0.344215997377606</a:t>
            </a:r>
          </a:p>
          <a:p xmlns:a="http://schemas.openxmlformats.org/drawingml/2006/main">
            <a:r>
              <a:t>      },</a:t>
            </a:r>
          </a:p>
          <a:p xmlns:a="http://schemas.openxmlformats.org/drawingml/2006/main">
            <a:r>
              <a:t>      {</a:t>
            </a:r>
          </a:p>
          <a:p xmlns:a="http://schemas.openxmlformats.org/drawingml/2006/main">
            <a:r>
              <a:t>        "region_code": "44250",</a:t>
            </a:r>
          </a:p>
          <a:p xmlns:a="http://schemas.openxmlformats.org/drawingml/2006/main">
            <a:r>
              <a:t>        "region_name": "충청남도 계룡시",</a:t>
            </a:r>
          </a:p>
          <a:p xmlns:a="http://schemas.openxmlformats.org/drawingml/2006/main">
            <a:r>
              <a:t>        "visitors_yoy_pct": -3.253411379185267,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"44150",</a:t>
            </a:r>
          </a:p>
          <a:p xmlns:a="http://schemas.openxmlformats.org/drawingml/2006/main">
            <a:r>
              <a:t>        "region_name": "충청남도 공주시",</a:t>
            </a:r>
          </a:p>
          <a:p xmlns:a="http://schemas.openxmlformats.org/drawingml/2006/main">
            <a:r>
              <a:t>        "visitors_yoy_pct": 0.9396432003732524,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"44710",</a:t>
            </a:r>
          </a:p>
          <a:p xmlns:a="http://schemas.openxmlformats.org/drawingml/2006/main">
            <a:r>
              <a:t>        "region_name": "충청남도 금산군",</a:t>
            </a:r>
          </a:p>
          <a:p xmlns:a="http://schemas.openxmlformats.org/drawingml/2006/main">
            <a:r>
              <a:t>        "visitors_yoy_pct": 0.2564369450511528,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"44230",</a:t>
            </a:r>
          </a:p>
          <a:p xmlns:a="http://schemas.openxmlformats.org/drawingml/2006/main">
            <a:r>
              <a:t>        "region_name": "충청남도 논산시",</a:t>
            </a:r>
          </a:p>
          <a:p xmlns:a="http://schemas.openxmlformats.org/drawingml/2006/main">
            <a:r>
              <a:t>        "visitors_yoy_pct": -0.20290858416329716,</a:t>
            </a:r>
          </a:p>
          <a:p xmlns:a="http://schemas.openxmlformats.org/drawingml/2006/main">
            <a:r>
              <a:t>        "spending_yoy_pct": 107.12602440650927</a:t>
            </a:r>
          </a:p>
          <a:p xmlns:a="http://schemas.openxmlformats.org/drawingml/2006/main">
            <a:r>
              <a:t>      },</a:t>
            </a:r>
          </a:p>
          <a:p xmlns:a="http://schemas.openxmlformats.org/drawingml/2006/main">
            <a:r>
              <a:t>      {</a:t>
            </a:r>
          </a:p>
          <a:p xmlns:a="http://schemas.openxmlformats.org/drawingml/2006/main">
            <a:r>
              <a:t>        "region_code": "44270",</a:t>
            </a:r>
          </a:p>
          <a:p xmlns:a="http://schemas.openxmlformats.org/drawingml/2006/main">
            <a:r>
              <a:t>        "region_name": "충청남도 당진시",</a:t>
            </a:r>
          </a:p>
          <a:p xmlns:a="http://schemas.openxmlformats.org/drawingml/2006/main">
            <a:r>
              <a:t>        "visitors_yoy_pct": -4.419836099319118,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"44180",</a:t>
            </a:r>
          </a:p>
          <a:p xmlns:a="http://schemas.openxmlformats.org/drawingml/2006/main">
            <a:r>
              <a:t>        "region_name": "충청남도 보령시",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"44760",</a:t>
            </a:r>
          </a:p>
          <a:p xmlns:a="http://schemas.openxmlformats.org/drawingml/2006/main">
            <a:r>
              <a:t>        "region_name": "충청남도 부여군",</a:t>
            </a:r>
          </a:p>
          <a:p xmlns:a="http://schemas.openxmlformats.org/drawingml/2006/main">
            <a:r>
              <a:t>        "visitors_yoy_pct": -1.5360538235401844,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"44210",</a:t>
            </a:r>
          </a:p>
          <a:p xmlns:a="http://schemas.openxmlformats.org/drawingml/2006/main">
            <a:r>
              <a:t>        "region_name": "충청남도 서산시",</a:t>
            </a:r>
          </a:p>
          <a:p xmlns:a="http://schemas.openxmlformats.org/drawingml/2006/main">
            <a:r>
              <a:t>        "visitors_yoy_pct": 0.24478534850893574,</a:t>
            </a:r>
          </a:p>
          <a:p xmlns:a="http://schemas.openxmlformats.org/drawingml/2006/main">
            <a:r>
              <a:t>        "spending_yoy_pct": -3.5472930631496813</a:t>
            </a:r>
          </a:p>
          <a:p xmlns:a="http://schemas.openxmlformats.org/drawingml/2006/main">
            <a:r>
              <a:t>      },</a:t>
            </a:r>
          </a:p>
          <a:p xmlns:a="http://schemas.openxmlformats.org/drawingml/2006/main">
            <a:r>
              <a:t>      {</a:t>
            </a:r>
          </a:p>
          <a:p xmlns:a="http://schemas.openxmlformats.org/drawingml/2006/main">
            <a:r>
              <a:t>        "region_code": "44770",</a:t>
            </a:r>
          </a:p>
          <a:p xmlns:a="http://schemas.openxmlformats.org/drawingml/2006/main">
            <a:r>
              <a:t>        "region_name": "충청남도 서천군",</a:t>
            </a:r>
          </a:p>
          <a:p xmlns:a="http://schemas.openxmlformats.org/drawingml/2006/main">
            <a:r>
              <a:t>        "visitors_yoy_pct": -6.101401347839364,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"44200",</a:t>
            </a:r>
          </a:p>
          <a:p xmlns:a="http://schemas.openxmlformats.org/drawingml/2006/main">
            <a:r>
              <a:t>        "region_name": "충청남도 아산시",</a:t>
            </a:r>
          </a:p>
          <a:p xmlns:a="http://schemas.openxmlformats.org/drawingml/2006/main">
            <a:r>
              <a:t>        "visitors_yoy_pct": 1.6381359427136033,</a:t>
            </a:r>
          </a:p>
          <a:p xmlns:a="http://schemas.openxmlformats.org/drawingml/2006/main">
            <a:r>
              <a:t>        "spending_yoy_pct": 21.67555151294014</a:t>
            </a:r>
          </a:p>
          <a:p xmlns:a="http://schemas.openxmlformats.org/drawingml/2006/main">
            <a:r>
              <a:t>      },</a:t>
            </a:r>
          </a:p>
          <a:p xmlns:a="http://schemas.openxmlformats.org/drawingml/2006/main">
            <a:r>
              <a:t>      {</a:t>
            </a:r>
          </a:p>
          <a:p xmlns:a="http://schemas.openxmlformats.org/drawingml/2006/main">
            <a:r>
              <a:t>        "region_code": "44810",</a:t>
            </a:r>
          </a:p>
          <a:p xmlns:a="http://schemas.openxmlformats.org/drawingml/2006/main">
            <a:r>
              <a:t>        "region_name": "충청남도 예산군",</a:t>
            </a:r>
          </a:p>
          <a:p xmlns:a="http://schemas.openxmlformats.org/drawingml/2006/main">
            <a:r>
              <a:t>        "visitors_yoy_pct": -2.7921566891576433,</a:t>
            </a:r>
          </a:p>
          <a:p xmlns:a="http://schemas.openxmlformats.org/drawingml/2006/main">
            <a:r>
              <a:t>        "spending_yoy_pct": 3.2182000713773418</a:t>
            </a:r>
          </a:p>
          <a:p xmlns:a="http://schemas.openxmlformats.org/drawingml/2006/main">
            <a:r>
              <a:t>      },</a:t>
            </a:r>
          </a:p>
          <a:p xmlns:a="http://schemas.openxmlformats.org/drawingml/2006/main">
            <a:r>
              <a:t>      {</a:t>
            </a:r>
          </a:p>
          <a:p xmlns:a="http://schemas.openxmlformats.org/drawingml/2006/main">
            <a:r>
              <a:t>        "region_code": "44131",</a:t>
            </a:r>
          </a:p>
          <a:p xmlns:a="http://schemas.openxmlformats.org/drawingml/2006/main">
            <a:r>
              <a:t>        "region_name": "충청남도 천안시 동남구",</a:t>
            </a:r>
          </a:p>
          <a:p xmlns:a="http://schemas.openxmlformats.org/drawingml/2006/main">
            <a:r>
              <a:t>        "visitors_yoy_pct": 1.9721057822461585,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"44133",</a:t>
            </a:r>
          </a:p>
          <a:p xmlns:a="http://schemas.openxmlformats.org/drawingml/2006/main">
            <a:r>
              <a:t>        "region_name": "충청남도 천안시 서북구",</a:t>
            </a:r>
          </a:p>
          <a:p xmlns:a="http://schemas.openxmlformats.org/drawingml/2006/main">
            <a:r>
              <a:t>        "visitors_yoy_pct": 0.2612705243280944,</a:t>
            </a:r>
          </a:p>
          <a:p xmlns:a="http://schemas.openxmlformats.org/drawingml/2006/main">
            <a:r>
              <a:t>        "spending_yoy_pct": 7.768108787176065</a:t>
            </a:r>
          </a:p>
          <a:p xmlns:a="http://schemas.openxmlformats.org/drawingml/2006/main">
            <a:r>
              <a:t>      },</a:t>
            </a:r>
          </a:p>
          <a:p xmlns:a="http://schemas.openxmlformats.org/drawingml/2006/main">
            <a:r>
              <a:t>      {</a:t>
            </a:r>
          </a:p>
          <a:p xmlns:a="http://schemas.openxmlformats.org/drawingml/2006/main">
            <a:r>
              <a:t>        "region_code": "44790",</a:t>
            </a:r>
          </a:p>
          <a:p xmlns:a="http://schemas.openxmlformats.org/drawingml/2006/main">
            <a:r>
              <a:t>        "region_name": "충청남도 청양군",</a:t>
            </a:r>
          </a:p>
          <a:p xmlns:a="http://schemas.openxmlformats.org/drawingml/2006/main">
            <a:r>
              <a:t>        "visitors_yoy_pct": -2.2014068292360522,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"44825",</a:t>
            </a:r>
          </a:p>
          <a:p xmlns:a="http://schemas.openxmlformats.org/drawingml/2006/main">
            <a:r>
              <a:t>        "region_name": "충청남도 태안군",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"44800",</a:t>
            </a:r>
          </a:p>
          <a:p xmlns:a="http://schemas.openxmlformats.org/drawingml/2006/main">
            <a:r>
              <a:t>        "region_name": "충청남도 홍성군",</a:t>
            </a:r>
          </a:p>
          <a:p xmlns:a="http://schemas.openxmlformats.org/drawingml/2006/main">
            <a:r>
              <a:t>        "visitors_yoy_pct": -1.926036252205876,</a:t>
            </a:r>
          </a:p>
          <a:p xmlns:a="http://schemas.openxmlformats.org/drawingml/2006/main">
            <a:r>
              <a:t>        "spending_yoy_pct": 17.440281108802136</a:t>
            </a:r>
          </a:p>
          <a:p xmlns:a="http://schemas.openxmlformats.org/drawingml/2006/main">
            <a:r>
              <a:t>      },</a:t>
            </a:r>
          </a:p>
          <a:p xmlns:a="http://schemas.openxmlformats.org/drawingml/2006/main">
            <a:r>
              <a:t>      {</a:t>
            </a:r>
          </a:p>
          <a:p xmlns:a="http://schemas.openxmlformats.org/drawingml/2006/main">
            <a:r>
              <a:t>        "region_code": "43760",</a:t>
            </a:r>
          </a:p>
          <a:p xmlns:a="http://schemas.openxmlformats.org/drawingml/2006/main">
            <a:r>
              <a:t>        "region_name": "충청북도 괴산군",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"43800",</a:t>
            </a:r>
          </a:p>
          <a:p xmlns:a="http://schemas.openxmlformats.org/drawingml/2006/main">
            <a:r>
              <a:t>        "region_name": "충청북도 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"43720",</a:t>
            </a:r>
          </a:p>
          <a:p xmlns:a="http://schemas.openxmlformats.org/drawingml/2006/main">
            <a:r>
              <a:t>        "region_name": "충청북도 보은군",</a:t>
            </a:r>
          </a:p>
          <a:p xmlns:a="http://schemas.openxmlformats.org/drawingml/2006/main">
            <a:r>
              <a:t>        "visitors_yoy_pct": -7.112510215020695,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"43740",</a:t>
            </a:r>
          </a:p>
          <a:p xmlns:a="http://schemas.openxmlformats.org/drawingml/2006/main">
            <a:r>
              <a:t>        "region_name": "충청북도 영동군",</a:t>
            </a:r>
          </a:p>
          <a:p xmlns:a="http://schemas.openxmlformats.org/drawingml/2006/main">
            <a:r>
              <a:t>        "visitors_yoy_pct": 1.8046777943435899,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"43730",</a:t>
            </a:r>
          </a:p>
          <a:p xmlns:a="http://schemas.openxmlformats.org/drawingml/2006/main">
            <a:r>
              <a:t>        "region_name": "충청북도 옥천군",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"43770",</a:t>
            </a:r>
          </a:p>
          <a:p xmlns:a="http://schemas.openxmlformats.org/drawingml/2006/main">
            <a:r>
              <a:t>        "region_name": "충청북도 음성군",</a:t>
            </a:r>
          </a:p>
          <a:p xmlns:a="http://schemas.openxmlformats.org/drawingml/2006/main">
            <a:r>
              <a:t>        "visitors_yoy_pct": 1.3354637153798476,</a:t>
            </a:r>
          </a:p>
          <a:p xmlns:a="http://schemas.openxmlformats.org/drawingml/2006/main">
            <a:r>
              <a:t>        "spending_yoy_pct": 4.336507996980998</a:t>
            </a:r>
          </a:p>
          <a:p xmlns:a="http://schemas.openxmlformats.org/drawingml/2006/main">
            <a:r>
              <a:t>      },</a:t>
            </a:r>
          </a:p>
          <a:p xmlns:a="http://schemas.openxmlformats.org/drawingml/2006/main">
            <a:r>
              <a:t>      {</a:t>
            </a:r>
          </a:p>
          <a:p xmlns:a="http://schemas.openxmlformats.org/drawingml/2006/main">
            <a:r>
              <a:t>        "region_code": "43150",</a:t>
            </a:r>
          </a:p>
          <a:p xmlns:a="http://schemas.openxmlformats.org/drawingml/2006/main">
            <a:r>
              <a:t>        "region_name": "충청북도 제천시",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"43745",</a:t>
            </a:r>
          </a:p>
          <a:p xmlns:a="http://schemas.openxmlformats.org/drawingml/2006/main">
            <a:r>
              <a:t>        "region_name": "충청북도 증평군",</a:t>
            </a:r>
          </a:p>
          <a:p xmlns:a="http://schemas.openxmlformats.org/drawingml/2006/main">
            <a:r>
              <a:t>        "visitors_yoy_pct": 3.43009996565109,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"43750",</a:t>
            </a:r>
          </a:p>
          <a:p xmlns:a="http://schemas.openxmlformats.org/drawingml/2006/main">
            <a:r>
              <a:t>        "region_name": "충청북도 진천군",</a:t>
            </a:r>
          </a:p>
          <a:p xmlns:a="http://schemas.openxmlformats.org/drawingml/2006/main">
            <a:r>
              <a:t>        "visitors_yoy_pct": 0.8598805391942577,</a:t>
            </a:r>
          </a:p>
          <a:p xmlns:a="http://schemas.openxmlformats.org/drawingml/2006/main">
            <a:r>
              <a:t>        "spending_yoy_pct": 6.441991433916305</a:t>
            </a:r>
          </a:p>
          <a:p xmlns:a="http://schemas.openxmlformats.org/drawingml/2006/main">
            <a:r>
              <a:t>      },</a:t>
            </a:r>
          </a:p>
          <a:p xmlns:a="http://schemas.openxmlformats.org/drawingml/2006/main">
            <a:r>
              <a:t>      {</a:t>
            </a:r>
          </a:p>
          <a:p xmlns:a="http://schemas.openxmlformats.org/drawingml/2006/main">
            <a:r>
              <a:t>        "region_code": "43111",</a:t>
            </a:r>
          </a:p>
          <a:p xmlns:a="http://schemas.openxmlformats.org/drawingml/2006/main">
            <a:r>
              <a:t>        "region_name": "충청북도 청주시 상당구",</a:t>
            </a:r>
          </a:p>
          <a:p xmlns:a="http://schemas.openxmlformats.org/drawingml/2006/main">
            <a:r>
              <a:t>        "visitors_yoy_pct": 0.21217211529411806,</a:t>
            </a:r>
          </a:p>
          <a:p xmlns:a="http://schemas.openxmlformats.org/drawingml/2006/main">
            <a:r>
              <a:t>        "spending_yoy_pct": -3.405545347488803</a:t>
            </a:r>
          </a:p>
          <a:p xmlns:a="http://schemas.openxmlformats.org/drawingml/2006/main">
            <a:r>
              <a:t>      },</a:t>
            </a:r>
          </a:p>
          <a:p xmlns:a="http://schemas.openxmlformats.org/drawingml/2006/main">
            <a:r>
              <a:t>      {</a:t>
            </a:r>
          </a:p>
          <a:p xmlns:a="http://schemas.openxmlformats.org/drawingml/2006/main">
            <a:r>
              <a:t>        "region_code": "43112",</a:t>
            </a:r>
          </a:p>
          <a:p xmlns:a="http://schemas.openxmlformats.org/drawingml/2006/main">
            <a:r>
              <a:t>        "region_name": "충청북도 청주시 서원구",</a:t>
            </a:r>
          </a:p>
          <a:p xmlns:a="http://schemas.openxmlformats.org/drawingml/2006/main">
            <a:r>
              <a:t>        "visitors_yoy_pct": 2.511238291733453,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"43114",</a:t>
            </a:r>
          </a:p>
          <a:p xmlns:a="http://schemas.openxmlformats.org/drawingml/2006/main">
            <a:r>
              <a:t>        "region_name": "충청북도 청주시 청원구",</a:t>
            </a:r>
          </a:p>
          <a:p xmlns:a="http://schemas.openxmlformats.org/drawingml/2006/main">
            <a:r>
              <a:t>        "visitors_yoy_pct": 0.18077100821116687,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"43113",</a:t>
            </a:r>
          </a:p>
          <a:p xmlns:a="http://schemas.openxmlformats.org/drawingml/2006/main">
            <a:r>
              <a:t>        "region_name": "충청북도 청주시 흥덕구",</a:t>
            </a:r>
          </a:p>
          <a:p xmlns:a="http://schemas.openxmlformats.org/drawingml/2006/main">
            <a:r>
              <a:t>        "visitors_yoy_pct": 0.18973668636870222,</a:t>
            </a:r>
          </a:p>
          <a:p xmlns:a="http://schemas.openxmlformats.org/drawingml/2006/main">
            <a:r>
              <a:t>        "spending_yoy_pct": 18.335822536892167</a:t>
            </a:r>
          </a:p>
          <a:p xmlns:a="http://schemas.openxmlformats.org/drawingml/2006/main">
            <a:r>
              <a:t>      },</a:t>
            </a:r>
          </a:p>
          <a:p xmlns:a="http://schemas.openxmlformats.org/drawingml/2006/main">
            <a:r>
              <a:t>      {</a:t>
            </a:r>
          </a:p>
          <a:p xmlns:a="http://schemas.openxmlformats.org/drawingml/2006/main">
            <a:r>
              <a:t>        "region_code": "43130",</a:t>
            </a:r>
          </a:p>
          <a:p xmlns:a="http://schemas.openxmlformats.org/drawingml/2006/main">
            <a:r>
              <a:t>        "region_name": "충청북도 충주시",</a:t>
            </a:r>
          </a:p>
          <a:p xmlns:a="http://schemas.openxmlformats.org/drawingml/2006/main">
            <a:r>
              <a:t>        "visitors_yoy_pct": -1.9728604465589328,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"method": "Saved region-specific models; same cutoff, same months; no retraining. Equal-weight mean of regional quarterly YoY growth. Competition ranks.",</a:t>
            </a:r>
          </a:p>
          <a:p xmlns:a="http://schemas.openxmlformats.org/drawingml/2006/main">
            <a:r>
              <a:t>  "source": "한국관광 데이터랩 공식 다운로드; data/processed/ml/&lt;region_code&gt;/monthly_demand.csv; artifacts/ml/&lt;region_code&gt;/demand_model.joblib",</a:t>
            </a:r>
          </a:p>
          <a:p xmlns:a="http://schemas.openxmlformats.org/drawingml/2006/main">
            <a:r>
              <a:t>  "limits": "No resident population or density adjustment. Forecast distance from last observed month may exceed 3 months. Rank changes are conditional scenarios, not causal estimates."</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한국관광 데이터랩 공식 다운로드 · 대전광역시_서구/방문자/2025_01_12.zip | https://datalab.visitkorea.or.kr/</a:t>
            </a:r>
          </a:p>
          <a:p xmlns:a="http://schemas.openxmlformats.org/drawingml/2006/main">
            <a:r>
              <a:t>datalab:162285800b98:dbba3ac2e220 | 한국관광 데이터랩 공식 다운로드 · 대전광역시_서구/관광소비/2025_01_12.zip | https://datalab.visitkorea.or.kr/</a:t>
            </a:r>
          </a:p>
          <a:p xmlns:a="http://schemas.openxmlformats.org/drawingml/2006/main">
            <a:r>
              <a:t>datalab:1bec5b4405e1:6c5494eef7c6 | 한국관광 데이터랩 공식 다운로드 · 대전광역시_서구/숙박_체류시간/2025_01_12.zip | https://datalab.visitkorea.or.kr/</a:t>
            </a:r>
          </a:p>
          <a:p xmlns:a="http://schemas.openxmlformats.org/drawingml/2006/main">
            <a:r>
              <a:t>datalab:7a4db91d6ba9:d81294f3e5a0 | 한국관광 데이터랩 공식 다운로드 · 대전광역시_서구/관광소비/2026_01_06.zip | https://datalab.visitkorea.or.kr/</a:t>
            </a:r>
          </a:p>
          <a:p xmlns:a="http://schemas.openxmlformats.org/drawingml/2006/main">
            <a:r>
              <a:t>datalab:cc1dc8fb5607:77f3b69cfb89 | 한국관광 데이터랩 공식 다운로드 · 대전광역시_서구/방문자/2026_01_06.zip | https://datalab.visitkorea.or.kr/</a:t>
            </a:r>
          </a:p>
          <a:p xmlns:a="http://schemas.openxmlformats.org/drawingml/2006/main">
            <a:r>
              <a:t>datalab:e53d144382ee:fc025995a6df | 한국관광 데이터랩 공식 다운로드 · 대전광역시_서구/숙박_체류시간/2026_01_06.zip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 https://datalab.visitkorea.or.kr/site/portal/ex/bbs/View.do?bcIdx=311068&amp;cbIdx=1135&amp;pageIndex=1</a:t>
            </a:r>
          </a:p>
          <a:p xmlns:a="http://schemas.openxmlformats.org/drawingml/2006/main">
            <a:r>
              <a:t>web:30170:1 | 여행가는 달 지역 여행할인 모아보기 | https://korean.visitkorea.or.kr/travelmonth/benefit.do?modal=benefit-190</a:t>
            </a:r>
          </a:p>
          <a:p xmlns:a="http://schemas.openxmlformats.org/drawingml/2006/main">
            <a:r>
              <a:t>web:30170:2 | 대전광역시_문화시설 | 공공데이터포털 | https://www.data.go.kr/data/15112114/openapi.do?recommendDataYn=Y</a:t>
            </a:r>
          </a:p>
          <a:p xmlns:a="http://schemas.openxmlformats.org/drawingml/2006/main">
            <a:r>
              <a:t>web:30170:3 | 대전광역시 문화관광(숙박정보) 데이터 | 공공데이터포털 | https://www.data.go.kr/dataset/15001021/openapi.do</a:t>
            </a:r>
          </a:p>
          <a:p xmlns:a="http://schemas.openxmlformats.org/drawingml/2006/main">
            <a:r>
              <a:t>web:30170:4 | 대전문화관광해설사 신규 양성 교육 | 한국관광공사 관광e배움터 | https://touredu.visitkorea.or.kr/home/pkgEdu/pkgEduDetail?crsCd=C202600107&amp;eduPlanYr=2026&amp;eduPlanYrStepCnt=1</a:t>
            </a:r>
          </a:p>
          <a:p xmlns:a="http://schemas.openxmlformats.org/drawingml/2006/main">
            <a:r>
              <a:t>web:30170:5 | 대전광역시 서구_체육시설 현황 | 공공데이터포털 | https://www.data.go.kr/dataset/15037511/fileData.do</a:t>
            </a:r>
          </a:p>
          <a:p xmlns:a="http://schemas.openxmlformats.org/drawingml/2006/main">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case:41508ca81cf29f | 한국관광 데이터랩 · 안동탈춤축제 연도별 방문자 추이 | https://datalab.visitkorea.or.kr/</a:t>
            </a:r>
          </a:p>
          <a:p xmlns:a="http://schemas.openxmlformats.org/drawingml/2006/main">
            <a:r>
              <a:t>case:festival:01474ef75569b1 | 한국관광 데이터랩 · 문경찻사발축제 방문자 추이 | https://datalab.visitkorea.or.kr/</a:t>
            </a:r>
          </a:p>
          <a:p xmlns:a="http://schemas.openxmlformats.org/drawingml/2006/main">
            <a:r>
              <a:t>case:28ff66d9b44637 | 2025년 문화예술 축제 통합 지원사업 종합결과보고서 | https://culture.seoul.go.kr/culture/cmmn/file/fileDown.do?atchFileId=bb34395b25504c66a77ef69999cacb1c&amp;bbsId=B0000006&amp;fileSn=1</a:t>
            </a:r>
          </a:p>
          <a:p xmlns:a="http://schemas.openxmlformats.org/drawingml/2006/main">
            <a:r>
              <a:t>case:58c0694a3e85d8 | 귀촌 '원조 반값'은 다르다… 강진서 전국 확산 '체류 관광 도시' | https://jnfarm.jeonnam.go.kr/board/FARM_BOARD_008/boardView.do?bdId=BD_00000000000015383&amp;menuCd=farm004002</a:t>
            </a:r>
          </a:p>
          <a:p xmlns:a="http://schemas.openxmlformats.org/drawingml/2006/main">
            <a:r>
              <a:t>case:4544b7bca8ebab | 요즘, 한국관광 2호 - 지방공항 연계 지역관광 활성화 방안 | https://datalab.visitkorea.or.kr/site/portal/ex/bbs/View.do?bcIdx=311068&amp;cbIdx=1135&amp;pageIndex=1</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"kpi": "1. 인정 결제액 합계(취소·중복 제외): 2026-10~12 기간 중 운영팀 정산 원장 기준, 사업 미참여 기간 대비 증가분 측정. 2. 사업 참여자 1인당 평균 결제액: 적격 신청자 수 대비 인정 결제액 합계/참여자 수, 운영팀 정산 데이터 기반.",</a:t>
            </a:r>
          </a:p>
          <a:p xmlns:a="http://schemas.openxmlformats.org/drawingml/2006/main">
            <a:r>
              <a:t>    "title": "서구 상권 활력 제고를 위한 '서구 관광 소비 환급' 시범 사업",</a:t>
            </a:r>
          </a:p>
          <a:p xmlns:a="http://schemas.openxmlformats.org/drawingml/2006/main">
            <a:r>
              <a:t>    "budget": "총 예산 = Σ min(적격 결제액 × 가정 환급률, 건별 상한액). (기획 가정/미확정 견적)",</a:t>
            </a:r>
          </a:p>
          <a:p xmlns:a="http://schemas.openxmlformats.org/drawingml/2006/main">
            <a:r>
              <a:t>    "evidence": "ml:30170:regional-demand-v3.1:202606, dataset:30170:3, case:58c0694a3e85d8",</a:t>
            </a:r>
          </a:p>
          <a:p xmlns:a="http://schemas.openxmlformats.org/drawingml/2006/main">
            <a:r>
              <a:t>    "priority": 1,</a:t>
            </a:r>
          </a:p>
          <a:p xmlns:a="http://schemas.openxmlformats.org/drawingml/2006/main">
            <a:r>
              <a:t>    "solution": "서구 내 지정된 식음료·쇼핑 업종에서 일정 금액 이상 결제 시, 증빙을 통해 지역사랑상품권으로 일부를 환급해 주는 방식",</a:t>
            </a:r>
          </a:p>
          <a:p xmlns:a="http://schemas.openxmlformats.org/drawingml/2006/main">
            <a:r>
              <a:t>    "timeframe": "2026-10 ~ 2026-12, 3개월",</a:t>
            </a:r>
          </a:p>
          <a:p xmlns:a="http://schemas.openxmlformats.org/drawingml/2006/main">
            <a:r>
              <a:t>    "expected_effect": "계획 목표: 최종월 ML 전망 대비 방문 +0.02%, 소비 +0.04%. 운영 규모와 참여 가정으로 산정하며 실제 성과는 별도 집계합니다.",</a:t>
            </a:r>
          </a:p>
          <a:p xmlns:a="http://schemas.openxmlformats.org/drawingml/2006/main">
            <a:r>
              <a:t>    "problem_to_solve": "방문객 수 및 검색량 감소 전망에 대응하여, 방문객의 지출을 지역 내 상권(식음료, 쇼핑)으로 확실히 연결하고 체류형 소비를 유도함",</a:t>
            </a:r>
          </a:p>
          <a:p xmlns:a="http://schemas.openxmlformats.org/drawingml/2006/main">
            <a:r>
              <a:t>    "comparison_analysis": "강진의 '반값여행'(case:58c0694a3e85d8)은 지출 증빙 후 지역상품권을 환급하여 재사용을 유도하는 검증된 메커니즘을 가짐. 대전 서구는 군 단위 체류 정책이 아닌 도시형 상권(백화점, 식음료업)에 집중하여 결제액 기반 환급을 실시함으로써 소비 전환을 꾀함.",</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"task": "관광기획팀이 환급 대상 업종(식음료, 쇼핑) 및 가맹점 리스트를 확정하고, 모바일 지역화폐 정산 체계와 부정수급 방지 지침을 수립함",</a:t>
            </a:r>
          </a:p>
          <a:p xmlns:a="http://schemas.openxmlformats.org/drawingml/2006/main">
            <a:r>
              <a:t>        "schedule": "2026-10",</a:t>
            </a:r>
          </a:p>
          <a:p xmlns:a="http://schemas.openxmlformats.org/drawingml/2006/main">
            <a:r>
              <a:t>        "deliverable": "참여 가맹점 명단 및 운영 지침서"</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"task": "홍보팀이 외지인 관광객을 대상으로 사업 홍보물을 제작하고, 온라인 채널을 통해 참여 신청 접수 프로세스를 가동함",</a:t>
            </a:r>
          </a:p>
          <a:p xmlns:a="http://schemas.openxmlformats.org/drawingml/2006/main">
            <a:r>
              <a:t>        "schedule": "2026-10",</a:t>
            </a:r>
          </a:p>
          <a:p xmlns:a="http://schemas.openxmlformats.org/drawingml/2006/main">
            <a:r>
              <a:t>        "deliverable": "홍보물 및 신청자 명단"</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"task": "운영팀이 시범 운영을 개시하고, 관광객의 결제 증빙을 확인하여 지역사랑상품권을 환급함",</a:t>
            </a:r>
          </a:p>
          <a:p xmlns:a="http://schemas.openxmlformats.org/drawingml/2006/main">
            <a:r>
              <a:t>        "schedule": "2026-11",</a:t>
            </a:r>
          </a:p>
          <a:p xmlns:a="http://schemas.openxmlformats.org/drawingml/2006/main">
            <a:r>
              <a:t>        "deliverable": "주간 결제 및 환급 현황 보고서"</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"task": "정산 담당자가 월별 결제 데이터를 검수하고, 부정수급 여부를 모니터링하여 최종 정산을 실시함",</a:t>
            </a:r>
          </a:p>
          <a:p xmlns:a="http://schemas.openxmlformats.org/drawingml/2006/main">
            <a:r>
              <a:t>        "schedule": "2026-12",</a:t>
            </a:r>
          </a:p>
          <a:p xmlns:a="http://schemas.openxmlformats.org/drawingml/2006/main">
            <a:r>
              <a:t>        "deliverable": "월간 정산 원장"</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"task": "기획팀이 사업 성과(인정 결제액, 참여자 1인당 결제액)를 분석하고 차기 운영 규모를 검토함",</a:t>
            </a:r>
          </a:p>
          <a:p xmlns:a="http://schemas.openxmlformats.org/drawingml/2006/main">
            <a:r>
              <a:t>        "schedule": "2026-12",</a:t>
            </a:r>
          </a:p>
          <a:p xmlns:a="http://schemas.openxmlformats.org/drawingml/2006/main">
            <a:r>
              <a:t>        "deliverable": "최종 결과 보고서"</a:t>
            </a:r>
          </a:p>
          <a:p xmlns:a="http://schemas.openxmlformats.org/drawingml/2006/main">
            <a:r>
              <a:t>      }</a:t>
            </a:r>
          </a:p>
          <a:p xmlns:a="http://schemas.openxmlformats.org/drawingml/2006/main">
            <a:r>
              <a:t>    ],</a:t>
            </a:r>
          </a:p>
          <a:p xmlns:a="http://schemas.openxmlformats.org/drawingml/2006/main">
            <a:r>
              <a:t>    "visual_asset_source_ids": [</a:t>
            </a:r>
          </a:p>
          <a:p xmlns:a="http://schemas.openxmlformats.org/drawingml/2006/main">
            <a:r>
              <a:t>      "ml:30170:regional-demand-v3.1:202606",</a:t>
            </a:r>
          </a:p>
          <a:p xmlns:a="http://schemas.openxmlformats.org/drawingml/2006/main">
            <a:r>
              <a:t>      "dataset:30170:3"</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dataset:30170:1 | 한국관광 데이터랩 · 대전광역시 서구 순 방문자 수 및 숙박 비율 (이동통신 기반 외지인) | https://datalab.visitkorea.or.kr/</a:t>
            </a:r>
          </a:p>
          <a:p>
            <a:r>
              <a:t>dataset:30170:2 | 한국관광 데이터랩 · 대전광역시 서구 월간 순 방문자 수 (이동통신 기반 외지인) | https://datalab.visitkorea.or.kr/</a:t>
            </a:r>
          </a:p>
          <a:p>
            <a:r>
              <a:t>dataset:30170:3 | 한국관광 데이터랩 · 대전광역시 서구 관광소비 추이_외지인 | https://datalab.visitkorea.or.kr/</a:t>
            </a:r>
          </a:p>
          <a:p>
            <a:r>
              <a:t>dataset:30170:4 | 한국관광 데이터랩 · 대전광역시 서구 숙박방문자 비율 추이 (이동통신 기반 외지인) | https://datalab.visitkorea.or.kr/</a:t>
            </a:r>
          </a:p>
          <a:p>
            <a:r>
              <a:t>dataset:30170:5 | 한국관광 데이터랩 · 대전광역시 서구 평균 숙박일 (이동통신 기반 외지인) | https://datalab.visitkorea.or.kr/</a:t>
            </a:r>
          </a:p>
          <a:p>
            <a:r>
              <a:t>dataset:30170:6 | 한국관광 데이터랩 · 대전광역시 서구 내비게이션 목적지 유형별 검색량 | https://datalab.visitkorea.or.kr/</a:t>
            </a:r>
          </a:p>
          <a:p>
            <a:r>
              <a:t>dataset:30170:7 | 한국관광 데이터랩 · 대전광역시 서구 SNS 언급량 | https://datalab.visitkorea.or.kr/</a:t>
            </a:r>
          </a:p>
          <a:p>
            <a:r>
              <a:t>datalab:12c41f8a3e52:f92921dca662 | 한국관광 데이터랩 공식 다운로드 · 대전광역시_서구/방문자/2025_01_12.zip | https://datalab.visitkorea.or.kr/</a:t>
            </a:r>
          </a:p>
          <a:p>
            <a:r>
              <a:t>datalab:162285800b98:dbba3ac2e220 | 한국관광 데이터랩 공식 다운로드 · 대전광역시_서구/관광소비/2025_01_12.zip | https://datalab.visitkorea.or.kr/</a:t>
            </a:r>
          </a:p>
          <a:p>
            <a:r>
              <a:t>datalab:1bec5b4405e1:6c5494eef7c6 | 한국관광 데이터랩 공식 다운로드 · 대전광역시_서구/숙박_체류시간/2025_01_12.zip | https://datalab.visitkorea.or.kr/</a:t>
            </a:r>
          </a:p>
          <a:p>
            <a:r>
              <a:t>datalab:7a4db91d6ba9:d81294f3e5a0 | 한국관광 데이터랩 공식 다운로드 · 대전광역시_서구/관광소비/2026_01_06.zip | https://datalab.visitkorea.or.kr/</a:t>
            </a:r>
          </a:p>
          <a:p>
            <a:r>
              <a:t>datalab:cc1dc8fb5607:77f3b69cfb89 | 한국관광 데이터랩 공식 다운로드 · 대전광역시_서구/방문자/2026_01_06.zip | https://datalab.visitkorea.or.kr/</a:t>
            </a:r>
          </a:p>
          <a:p>
            <a:r>
              <a:t>datalab:e53d144382ee:fc025995a6df | 한국관광 데이터랩 공식 다운로드 · 대전광역시_서구/숙박_체류시간/2026_01_06.zip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regional-status:0c68fedc2071:0ad82310f803 | 한국관광 데이터랩 지역별 관광 현황 · 대전광역시 서구 · 지역집중률 | https://datalab.visitkorea.or.kr/</a:t>
            </a:r>
          </a:p>
          <a:p>
            <a:r>
              <a:t>regional-status:4cddd6aa75d4:be8b01ec64e2 | 한국관광 데이터랩 지역별 관광 현황 · 대전광역시 서구 · 유입유출 | https://datalab.visitkorea.or.kr/</a:t>
            </a:r>
          </a:p>
          <a:p>
            <a:r>
              <a:t>regional-status:8c9a813e95eb:5e0cc3f56b73 | 한국관광 데이터랩 지역별 관광 현황 · 대전광역시 서구 · 인기관광지 | https://datalab.visitkorea.or.kr/</a:t>
            </a:r>
          </a:p>
          <a:p>
            <a:r>
              <a:t>ml:30170:regional-demand-v3.1:202606 | 지역 관광수요 ML 전망 · 공식 관측값 아님 | URL 미기록</a:t>
            </a:r>
          </a:p>
          <a:p>
            <a:r>
              <a:t>tour-api:2899643 | 갈마짬뽕 | https://apis.data.go.kr/B551011/KorService2</a:t>
            </a:r>
          </a:p>
          <a:p>
            <a:r>
              <a:t>tour-api:2899637 | 관저당 | https://apis.data.go.kr/B551011/KorService2</a:t>
            </a:r>
          </a:p>
          <a:p>
            <a:r>
              <a:t>tour-api:1932079 | 굿모닝레지던스호텔휴 | https://apis.data.go.kr/B551011/KorService2</a:t>
            </a:r>
          </a:p>
          <a:p>
            <a:r>
              <a:t>tour-api:133881 | 귀빈돌솥밥 | https://apis.data.go.kr/B551011/KorService2</a:t>
            </a:r>
          </a:p>
          <a:p>
            <a:r>
              <a:t>tour-api:2758252 | 남선공원 | https://apis.data.go.kr/B551011/KorService2</a:t>
            </a:r>
          </a:p>
          <a:p>
            <a:r>
              <a:t>tour-api:298208 | 내원사(대전) | https://apis.data.go.kr/B551011/KorService2</a:t>
            </a:r>
          </a:p>
          <a:p>
            <a:r>
              <a:t>tour-api:3452550 | 노크노크 | https://apis.data.go.kr/B551011/KorService2</a:t>
            </a:r>
          </a:p>
          <a:p>
            <a:r>
              <a:t>tour-api:2899585 | 대성콩국수 | https://apis.data.go.kr/B551011/KorService2</a:t>
            </a:r>
          </a:p>
          <a:p>
            <a:r>
              <a:t>tour-api:130802 | 대전 가수원도서관 | https://apis.data.go.kr/B551011/KorService2</a:t>
            </a:r>
          </a:p>
          <a:p>
            <a:r>
              <a:t>tour-api:2743325 | 대전광역시청 시민잔디광장 | https://apis.data.go.kr/B551011/KorService2</a:t>
            </a:r>
          </a:p>
          <a:p>
            <a:r>
              <a:t>tour-api:130197 | 대전서구문화원 | https://apis.data.go.kr/B551011/KorService2</a:t>
            </a:r>
          </a:p>
          <a:p>
            <a:r>
              <a:t>tour-api:2865847 | 델빠네 | https://apis.data.go.kr/B551011/KorService2</a:t>
            </a:r>
          </a:p>
          <a:p>
            <a:r>
              <a:t>tour-api:2758334 | 도마큰시장 | https://apis.data.go.kr/B551011/KorService2</a:t>
            </a:r>
          </a:p>
          <a:p>
            <a:r>
              <a:t>tour-api:1955818 | 도산서원(대전) | https://apis.data.go.kr/B551011/KorService2</a:t>
            </a:r>
          </a:p>
          <a:p>
            <a:r>
              <a:t>tour-api:2758341 | 둔산꽃시장 | https://apis.data.go.kr/B551011/KorService2</a:t>
            </a:r>
          </a:p>
          <a:p>
            <a:r>
              <a:t>tour-api:1623725 | 둔산전자타운 | https://apis.data.go.kr/B551011/KorService2</a:t>
            </a:r>
          </a:p>
          <a:p>
            <a:r>
              <a:t>tour-api:132661 | 롯데백화점 (대전점) | https://apis.data.go.kr/B551011/KorService2</a:t>
            </a:r>
          </a:p>
          <a:p>
            <a:r>
              <a:t>tour-api:2758646 | 마치광장 | https://apis.data.go.kr/B551011/KorService2</a:t>
            </a:r>
          </a:p>
          <a:p>
            <a:r>
              <a:t>tour-api:2899544 | 몽뜨 | https://apis.data.go.kr/B551011/KorService2</a:t>
            </a:r>
          </a:p>
          <a:p>
            <a:r>
              <a:t>tour-api:2865914 | 미세노센세 | https://apis.data.go.kr/B551011/KorService2</a:t>
            </a:r>
          </a:p>
          <a:p>
            <a:r>
              <a:t>reference:kto:2026:local-airport | 요즘, 한국관광 2호 - 지방공항 연계 지역관광 활성화 방안 | PDF 44쪽, PDF 40쪽, PDF 41쪽, PDF 41쪽, PDF 43쪽 | https://datalab.visitkorea.or.kr/site/portal/ex/bbs/View.do?bcIdx=311068&amp;cbIdx=1135&amp;pageIndex=1</a:t>
            </a:r>
          </a:p>
          <a:p>
            <a:r>
              <a:t>web:30170:1 | 여행가는 달 지역 여행할인 모아보기 | https://korean.visitkorea.or.kr/travelmonth/benefit.do?modal=benefit-190</a:t>
            </a:r>
          </a:p>
          <a:p>
            <a:r>
              <a:t>web:30170:2 | 대전광역시_문화시설 | 공공데이터포털 | https://www.data.go.kr/data/15112114/openapi.do?recommendDataYn=Y</a:t>
            </a:r>
          </a:p>
          <a:p>
            <a:r>
              <a:t>web:30170:3 | 대전광역시 문화관광(숙박정보) 데이터 | 공공데이터포털 | https://www.data.go.kr/dataset/15001021/openapi.do</a:t>
            </a:r>
          </a:p>
          <a:p>
            <a:r>
              <a:t>web:30170:4 | 대전문화관광해설사 신규 양성 교육 | 한국관광공사 관광e배움터 | https://touredu.visitkorea.or.kr/home/pkgEdu/pkgEduDetail?crsCd=C202600107&amp;eduPlanYr=2026&amp;eduPlanYrStepCnt=1</a:t>
            </a:r>
          </a:p>
          <a:p>
            <a:r>
              <a:t>web:30170:5 | 대전광역시 서구_체육시설 현황 | 공공데이터포털 | https://www.data.go.kr/dataset/15037511/fileData.do</a:t>
            </a:r>
          </a:p>
          <a:p>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case:41508ca81cf29f | 한국관광 데이터랩 · 안동탈춤축제 연도별 방문자 추이 | https://datalab.visitkorea.or.kr/</a:t>
            </a:r>
          </a:p>
          <a:p>
            <a:r>
              <a:t>case:festival:01474ef75569b1 | 한국관광 데이터랩 · 문경찻사발축제 방문자 추이 | https://datalab.visitkorea.or.kr/</a:t>
            </a:r>
          </a:p>
          <a:p>
            <a:r>
              <a:t>case:28ff66d9b44637 | 2025년 문화예술 축제 통합 지원사업 종합결과보고서 | https://culture.seoul.go.kr/culture/cmmn/file/fileDown.do?atchFileId=bb34395b25504c66a77ef69999cacb1c&amp;bbsId=B0000006&amp;fileSn=1</a:t>
            </a:r>
          </a:p>
          <a:p>
            <a:r>
              <a:t>case:58c0694a3e85d8 | 귀촌 '원조 반값'은 다르다… 강진서 전국 확산 '체류 관광 도시' | https://jnfarm.jeonnam.go.kr/board/FARM_BOARD_008/boardView.do?bdId=BD_00000000000015383&amp;menuCd=farm004002</a:t>
            </a:r>
          </a:p>
          <a:p>
            <a:r>
              <a:t>case:4544b7bca8ebab | 요즘, 한국관광 2호 - 지방공항 연계 지역관광 활성화 방안 | https://datalab.visitkorea.or.kr/site/portal/ex/bbs/View.do?bcIdx=311068&amp;cbIdx=1135&amp;pageIndex=1</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대전광역시 서구 순 방문자 수 및 숙박 비율 (이동통신 기반 외지인)",</a:t>
            </a:r>
          </a:p>
          <a:p>
            <a:r>
              <a:t>      "summary": "월간 순 방문자 수: 4,619,168명 (관측 기준월: 2026-06)",</a:t>
            </a:r>
          </a:p>
          <a:p>
            <a:r>
              <a:t>      "source_id": "dataset:30170:1",</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월간 순 방문자 수 (이동통신 기반 외지인)",</a:t>
            </a:r>
          </a:p>
          <a:p>
            <a:r>
              <a:t>      "summary": "전년동월 외지인 방문자 증감률: -3.5% (관측 기준월: 2026-06)",</a:t>
            </a:r>
          </a:p>
          <a:p>
            <a:r>
              <a:t>      "source_id": "dataset:30170:2",</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관광소비 추이_외지인",</a:t>
            </a:r>
          </a:p>
          <a:p>
            <a:r>
              <a:t>      "summary": "월간 외지인 관광소비 총액: 76,758,413,000원 (관측 기준월: 2026-06)",</a:t>
            </a:r>
          </a:p>
          <a:p>
            <a:r>
              <a:t>      "source_id": "dataset:30170:3",</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숙박방문자 비율 추이 (이동통신 기반 외지인)",</a:t>
            </a:r>
          </a:p>
          <a:p>
            <a:r>
              <a:t>      "summary": "외지인 숙박 방문 비율: 6.7% (관측 기준월: 2026-06)",</a:t>
            </a:r>
          </a:p>
          <a:p>
            <a:r>
              <a:t>      "source_id": "dataset:30170:4",</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평균 숙박일 (이동통신 기반 외지인)",</a:t>
            </a:r>
          </a:p>
          <a:p>
            <a:r>
              <a:t>      "summary": "외지인 평균 숙박일수: 2.81일 (관측 기준월: 2026-06)",</a:t>
            </a:r>
          </a:p>
          <a:p>
            <a:r>
              <a:t>      "source_id": "dataset:30170:5",</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내비게이션 목적지 유형별 검색량",</a:t>
            </a:r>
          </a:p>
          <a:p>
            <a:r>
              <a:t>      "summary": "내비게이션 목적지 검색량: 191,346건 (관측 기준월: 2026-06)",</a:t>
            </a:r>
          </a:p>
          <a:p>
            <a:r>
              <a:t>      "source_id": "dataset:30170:6",</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SNS 언급량",</a:t>
            </a:r>
          </a:p>
          <a:p>
            <a:r>
              <a:t>      "summary": "SNS 언급량: 54,388건 (관측 기준월: 2026-06)",</a:t>
            </a:r>
          </a:p>
          <a:p>
            <a:r>
              <a:t>      "source_id": "dataset:30170:7",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대전광역시_서구/방문자/2025_01_12.zip",</a:t>
            </a:r>
          </a:p>
          <a:p>
            <a:r>
              <a:t>      "summary": "전국 비교 기준 기간: 2025-07 ~ 2026-06",</a:t>
            </a:r>
          </a:p>
          <a:p>
            <a:r>
              <a:t>      "source_id": "datalab:12c41f8a3e52:f92921dca662",</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대전광역시_서구/관광소비/2025_01_12.zip",</a:t>
            </a:r>
          </a:p>
          <a:p>
            <a:r>
              <a:t>      "summary": "전국 비교 기준 기간: 2025-07 ~ 2026-06",</a:t>
            </a:r>
          </a:p>
          <a:p>
            <a:r>
              <a:t>      "source_id": "datalab:162285800b98:dbba3ac2e220",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대전광역시_서구/숙박_체류시간/2025_01_12.zip",</a:t>
            </a:r>
          </a:p>
          <a:p>
            <a:r>
              <a:t>      "summary": "전국 비교 기준 기간: 2025-07 ~ 2026-06",</a:t>
            </a:r>
          </a:p>
          <a:p>
            <a:r>
              <a:t>      "source_id": "datalab:1bec5b4405e1:6c5494eef7c6",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대전광역시_서구/관광소비/2026_01_06.zip",</a:t>
            </a:r>
          </a:p>
          <a:p>
            <a:r>
              <a:t>      "summary": "전국 비교 기준 기간: 2025-07 ~ 2026-06",</a:t>
            </a:r>
          </a:p>
          <a:p>
            <a:r>
              <a:t>      "source_id": "datalab:7a4db91d6ba9:d81294f3e5a0",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대전광역시_서구/방문자/2026_01_06.zip",</a:t>
            </a:r>
          </a:p>
          <a:p>
            <a:r>
              <a:t>      "summary": "전국 비교 기준 기간: 2025-07 ~ 2026-06",</a:t>
            </a:r>
          </a:p>
          <a:p>
            <a:r>
              <a:t>      "source_id": "datalab:cc1dc8fb5607:77f3b69cfb89",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대전광역시_서구/숙박_체류시간/2026_01_06.zip",</a:t>
            </a:r>
          </a:p>
          <a:p>
            <a:r>
              <a:t>      "summary": "전국 비교 기준 기간: 2025-07 ~ 2026-06",</a:t>
            </a:r>
          </a:p>
          <a:p>
            <a:r>
              <a:t>      "source_id": "datalab:e53d144382ee:fc025995a6df",</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대전광역시 서구 · 지역집중률",</a:t>
            </a:r>
          </a:p>
          <a:p>
            <a:r>
              <a:t>      "summary": "관측 기간: 2025-07 ~ 2026-06. 유입·유출·인기장소 또는 30일 집중 운영 신호.",</a:t>
            </a:r>
          </a:p>
          <a:p>
            <a:r>
              <a:t>      "source_id": "regional-status:0c68fedc2071:0ad82310f803",</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유입유출",</a:t>
            </a:r>
          </a:p>
          <a:p>
            <a:r>
              <a:t>      "summary": "관측 기간: 2025-07 ~ 2026-06. 유입·유출·인기장소 또는 30일 집중 운영 신호.",</a:t>
            </a:r>
          </a:p>
          <a:p>
            <a:r>
              <a:t>      "source_id": "regional-status:4cddd6aa75d4:be8b01ec64e2",</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인기관광지",</a:t>
            </a:r>
          </a:p>
          <a:p>
            <a:r>
              <a:t>      "summary": "관측 기간: 2025-07 ~ 2026-06. 유입·유출·인기장소 또는 30일 집중 운영 신호.",</a:t>
            </a:r>
          </a:p>
          <a:p>
            <a:r>
              <a:t>      "source_id": "regional-status:8c9a813e95eb:5e0cc3f56b73",</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"ml:30170:regional-demand-v3.1:202606",</a:t>
            </a:r>
          </a:p>
          <a:p>
            <a:r>
              <a:t>      "source_url": "",</a:t>
            </a:r>
          </a:p>
          <a:p>
            <a:r>
              <a:t>      "source_type": "model_forecast",</a:t>
            </a:r>
          </a:p>
          <a:p>
            <a:r>
              <a:t>      "model_version": "regional-demand-v3.1",</a:t>
            </a:r>
          </a:p>
          <a:p>
            <a:r>
              <a:t>      "data_fingerprint": "edea7fa8270d3b72aee15e6816efec3fce699e1bab55ebd844a10870c2f0e0a0"</a:t>
            </a:r>
          </a:p>
          <a:p>
            <a:r>
              <a:t>    },</a:t>
            </a:r>
          </a:p>
          <a:p>
            <a:r>
              <a:t>    {</a:t>
            </a:r>
          </a:p>
          <a:p>
            <a:r>
              <a:t>      "title": "갈마짬뽕",</a:t>
            </a:r>
          </a:p>
          <a:p>
            <a:r>
              <a:t>      "address": "대전광역시 서구 월평동로 5-11 (갈마동)",</a:t>
            </a:r>
          </a:p>
          <a:p>
            <a:r>
              <a:t>      "summary": "한국관광공사 국문관광정보 API가 반환한 선택 지역 관광자원",</a:t>
            </a:r>
          </a:p>
          <a:p>
            <a:r>
              <a:t>      "image_url": "http://tong.visitkorea.or.kr/cms/resource/38/2899638_image2_1.jpg",</a:t>
            </a:r>
          </a:p>
          <a:p>
            <a:r>
              <a:t>      "source_id": "tour-api:2899643",</a:t>
            </a:r>
          </a:p>
          <a:p>
            <a:r>
              <a:t>      "content_id": "2899643",</a:t>
            </a:r>
          </a:p>
          <a:p>
            <a:r>
              <a:t>      "source_url": "https://apis.data.go.kr/B551011/KorService2",</a:t>
            </a:r>
          </a:p>
          <a:p>
            <a:r>
              <a:t>      "source_type": "open_api",</a:t>
            </a:r>
          </a:p>
          <a:p>
            <a:r>
              <a:t>      "content_type_id": "39"</a:t>
            </a:r>
          </a:p>
          <a:p>
            <a:r>
              <a:t>    },</a:t>
            </a:r>
          </a:p>
          <a:p>
            <a:r>
              <a:t>    {</a:t>
            </a:r>
          </a:p>
          <a:p>
            <a:r>
              <a:t>      "title": "관저당",</a:t>
            </a:r>
          </a:p>
          <a:p>
            <a:r>
              <a:t>      "address": "대전광역시 서구 구봉산북로21번길 11 (관저동)",</a:t>
            </a:r>
          </a:p>
          <a:p>
            <a:r>
              <a:t>      "summary": "한국관광공사 국문관광정보 API가 반환한 선택 지역 관광자원",</a:t>
            </a:r>
          </a:p>
          <a:p>
            <a:r>
              <a:t>      "image_url": "http://tong.visitkorea.or.kr/cms/resource/36/2899636_image2_1.jpg",</a:t>
            </a:r>
          </a:p>
          <a:p>
            <a:r>
              <a:t>      "source_id": "tour-api:2899637",</a:t>
            </a:r>
          </a:p>
          <a:p>
            <a:r>
              <a:t>      "content_id": "2899637",</a:t>
            </a:r>
          </a:p>
          <a:p>
            <a:r>
              <a:t>      "source_url": "https://apis.data.go.kr/B551011/KorService2",</a:t>
            </a:r>
          </a:p>
          <a:p>
            <a:r>
              <a:t>      "source_type": "open_api",</a:t>
            </a:r>
          </a:p>
          <a:p>
            <a:r>
              <a:t>      "content_type_id": "39"</a:t>
            </a:r>
          </a:p>
          <a:p>
            <a:r>
              <a:t>    },</a:t>
            </a:r>
          </a:p>
          <a:p>
            <a:r>
              <a:t>    {</a:t>
            </a:r>
          </a:p>
          <a:p>
            <a:r>
              <a:t>      "title": "굿모닝레지던스호텔휴",</a:t>
            </a:r>
          </a:p>
          <a:p>
            <a:r>
              <a:t>      "address": "대전광역시 서구 둔산로73번길 21 (둔산동)",</a:t>
            </a:r>
          </a:p>
          <a:p>
            <a:r>
              <a:t>      "summary": "한국관광공사 국문관광정보 API가 반환한 선택 지역 관광자원",</a:t>
            </a:r>
          </a:p>
          <a:p>
            <a:r>
              <a:t>      "image_url": "http://tong.visitkorea.or.kr/cms/resource/87/2584687_image2_1.jpg",</a:t>
            </a:r>
          </a:p>
          <a:p>
            <a:r>
              <a:t>      "source_id": "tour-api:1932079",</a:t>
            </a:r>
          </a:p>
          <a:p>
            <a:r>
              <a:t>      "content_id": "1932079",</a:t>
            </a:r>
          </a:p>
          <a:p>
            <a:r>
              <a:t>      "source_url": "https://apis.data.go.kr/B551011/KorService2",</a:t>
            </a:r>
          </a:p>
          <a:p>
            <a:r>
              <a:t>      "source_type": "open_api",</a:t>
            </a:r>
          </a:p>
          <a:p>
            <a:r>
              <a:t>      "content_type_id": "32"</a:t>
            </a:r>
          </a:p>
          <a:p>
            <a:r>
              <a:t>    },</a:t>
            </a:r>
          </a:p>
          <a:p>
            <a:r>
              <a:t>    {</a:t>
            </a:r>
          </a:p>
          <a:p>
            <a:r>
              <a:t>      "title": "귀빈돌솥밥",</a:t>
            </a:r>
          </a:p>
          <a:p>
            <a:r>
              <a:t>      "address": "대전광역시 서구 만년로68번길 21",</a:t>
            </a:r>
          </a:p>
          <a:p>
            <a:r>
              <a:t>      "summary": "한국관광공사 국문관광정보 API가 반환한 선택 지역 관광자원",</a:t>
            </a:r>
          </a:p>
          <a:p>
            <a:r>
              <a:t>      "image_url": "http://tong.visitkorea.or.kr/cms/resource/72/3060272_image2_1.JPG",</a:t>
            </a:r>
          </a:p>
          <a:p>
            <a:r>
              <a:t>      "source_id": "tour-api:133881",</a:t>
            </a:r>
          </a:p>
          <a:p>
            <a:r>
              <a:t>      "content_id": "133881",</a:t>
            </a:r>
          </a:p>
          <a:p>
            <a:r>
              <a:t>      "source_url": "https://apis.data.go.kr/B551011/KorService2",</a:t>
            </a:r>
          </a:p>
          <a:p>
            <a:r>
              <a:t>      "source_type": "open_api",</a:t>
            </a:r>
          </a:p>
          <a:p>
            <a:r>
              <a:t>      "content_type_id": "39"</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"title": "내원사(대전)",</a:t>
            </a:r>
          </a:p>
          <a:p>
            <a:r>
              <a:t>      "address": "대전광역시 서구 배재로197번길 200",</a:t>
            </a:r>
          </a:p>
          <a:p>
            <a:r>
              <a:t>      "summary": "한국관광공사 국문관광정보 API가 반환한 선택 지역 관광자원",</a:t>
            </a:r>
          </a:p>
          <a:p>
            <a:r>
              <a:t>      "image_url": "http://tong.visitkorea.or.kr/cms/resource/79/3034979_image2_1.JPG",</a:t>
            </a:r>
          </a:p>
          <a:p>
            <a:r>
              <a:t>      "source_id": "tour-api:298208",</a:t>
            </a:r>
          </a:p>
          <a:p>
            <a:r>
              <a:t>      "content_id": "298208",</a:t>
            </a:r>
          </a:p>
          <a:p>
            <a:r>
              <a:t>      "source_url": "https://apis.data.go.kr/B551011/KorService2",</a:t>
            </a:r>
          </a:p>
          <a:p>
            <a:r>
              <a:t>      "source_type": "open_api",</a:t>
            </a:r>
          </a:p>
          <a:p>
            <a:r>
              <a:t>      "content_type_id": "12"</a:t>
            </a:r>
          </a:p>
          <a:p>
            <a:r>
              <a:t>    },</a:t>
            </a:r>
          </a:p>
          <a:p>
            <a:r>
              <a:t>    {</a:t>
            </a:r>
          </a:p>
          <a:p>
            <a:r>
              <a:t>      "title": "노크노크",</a:t>
            </a:r>
          </a:p>
          <a:p>
            <a:r>
              <a:t>      "address": "대전광역시 서구 둔산로 68 (둔산동)",</a:t>
            </a:r>
          </a:p>
          <a:p>
            <a:r>
              <a:t>      "summary": "한국관광공사 국문관광정보 API가 반환한 선택 지역 관광자원",</a:t>
            </a:r>
          </a:p>
          <a:p>
            <a:r>
              <a:t>      "image_url": "http://tong.visitkorea.or.kr/cms/resource/59/3453059_image2_1.jpg",</a:t>
            </a:r>
          </a:p>
          <a:p>
            <a:r>
              <a:t>      "source_id": "tour-api:3452550",</a:t>
            </a:r>
          </a:p>
          <a:p>
            <a:r>
              <a:t>      "content_id": "3452550",</a:t>
            </a:r>
          </a:p>
          <a:p>
            <a:r>
              <a:t>      "source_url": "https://apis.data.go.kr/B551011/KorService2",</a:t>
            </a:r>
          </a:p>
          <a:p>
            <a:r>
              <a:t>      "source_type": "open_api",</a:t>
            </a:r>
          </a:p>
          <a:p>
            <a:r>
              <a:t>      "content_type_id": "39"</a:t>
            </a:r>
          </a:p>
          <a:p>
            <a:r>
              <a:t>    },</a:t>
            </a:r>
          </a:p>
          <a:p>
            <a:r>
              <a:t>    {</a:t>
            </a:r>
          </a:p>
          <a:p>
            <a:r>
              <a:t>      "title": "대성콩국수",</a:t>
            </a:r>
          </a:p>
          <a:p>
            <a:r>
              <a:t>      "address": "대전광역시 서구 도산로 141",</a:t>
            </a:r>
          </a:p>
          <a:p>
            <a:r>
              <a:t>      "summary": "한국관광공사 국문관광정보 API가 반환한 선택 지역 관광자원",</a:t>
            </a:r>
          </a:p>
          <a:p>
            <a:r>
              <a:t>      "image_url": "http://tong.visitkorea.or.kr/cms/resource/69/2899569_image2_1.jpg",</a:t>
            </a:r>
          </a:p>
          <a:p>
            <a:r>
              <a:t>      "source_id": "tour-api:2899585",</a:t>
            </a:r>
          </a:p>
          <a:p>
            <a:r>
              <a:t>      "content_id": "2899585",</a:t>
            </a:r>
          </a:p>
          <a:p>
            <a:r>
              <a:t>      "source_url": "https://apis.data.go.kr/B551011/KorService2",</a:t>
            </a:r>
          </a:p>
          <a:p>
            <a:r>
              <a:t>      "source_type": "open_api",</a:t>
            </a:r>
          </a:p>
          <a:p>
            <a:r>
              <a:t>      "content_type_id": "39"</a:t>
            </a:r>
          </a:p>
          <a:p>
            <a:r>
              <a:t>    },</a:t>
            </a:r>
          </a:p>
          <a:p>
            <a:r>
              <a:t>    {</a:t>
            </a:r>
          </a:p>
          <a:p>
            <a:r>
              <a:t>      "title": "대전 가수원도서관",</a:t>
            </a:r>
          </a:p>
          <a:p>
            <a:r>
              <a:t>      "address": "대전광역시 서구 가수원로 91-11 (가수원동)",</a:t>
            </a:r>
          </a:p>
          <a:p>
            <a:r>
              <a:t>      "summary": "한국관광공사 국문관광정보 API가 반환한 선택 지역 관광자원",</a:t>
            </a:r>
          </a:p>
          <a:p>
            <a:r>
              <a:t>      "image_url": "http://tong.visitkorea.or.kr/cms/resource/58/3033558_image2_1.JPG",</a:t>
            </a:r>
          </a:p>
          <a:p>
            <a:r>
              <a:t>      "source_id": "tour-api:130802",</a:t>
            </a:r>
          </a:p>
          <a:p>
            <a:r>
              <a:t>      "content_id": "130802",</a:t>
            </a:r>
          </a:p>
          <a:p>
            <a:r>
              <a:t>      "source_url": "https://apis.data.go.kr/B551011/KorService2",</a:t>
            </a:r>
          </a:p>
          <a:p>
            <a:r>
              <a:t>      "source_type": "open_api",</a:t>
            </a:r>
          </a:p>
          <a:p>
            <a:r>
              <a:t>      "content_type_id": "14"</a:t>
            </a:r>
          </a:p>
          <a:p>
            <a:r>
              <a:t>    },</a:t>
            </a:r>
          </a:p>
          <a:p>
            <a:r>
              <a:t>    {</a:t>
            </a:r>
          </a:p>
          <a:p>
            <a:r>
              <a:t>      "title": "대전광역시청 시민잔디광장",</a:t>
            </a:r>
          </a:p>
          <a:p>
            <a:r>
              <a:t>      "address": "대전광역시 서구 둔산로 100",</a:t>
            </a:r>
          </a:p>
          <a:p>
            <a:r>
              <a:t>      "summary": "한국관광공사 국문관광정보 API가 반환한 선택 지역 관광자원",</a:t>
            </a:r>
          </a:p>
          <a:p>
            <a:r>
              <a:t>      "image_url": "http://tong.visitkorea.or.kr/cms/resource/86/3565586_image2_1.jpg",</a:t>
            </a:r>
          </a:p>
          <a:p>
            <a:r>
              <a:t>      "source_id": "tour-api:2743325",</a:t>
            </a:r>
          </a:p>
          <a:p>
            <a:r>
              <a:t>      "content_id": "2743325",</a:t>
            </a:r>
          </a:p>
          <a:p>
            <a:r>
              <a:t>      "source_url": "https://apis.data.go.kr/B551011/KorService2",</a:t>
            </a:r>
          </a:p>
          <a:p>
            <a:r>
              <a:t>      "source_type": "open_api",</a:t>
            </a:r>
          </a:p>
          <a:p>
            <a:r>
              <a:t>      "content_type_id": "12"</a:t>
            </a:r>
          </a:p>
          <a:p>
            <a:r>
              <a:t>    },</a:t>
            </a:r>
          </a:p>
          <a:p>
            <a:r>
              <a:t>    {</a:t>
            </a:r>
          </a:p>
          <a:p>
            <a:r>
              <a:t>      "title": "대전서구문화원",</a:t>
            </a:r>
          </a:p>
          <a:p>
            <a:r>
              <a:t>      "address": "대전광역시 서구 계룡로553번길 38",</a:t>
            </a:r>
          </a:p>
          <a:p>
            <a:r>
              <a:t>      "summary": "한국관광공사 국문관광정보 API가 반환한 선택 지역 관광자원",</a:t>
            </a:r>
          </a:p>
          <a:p>
            <a:r>
              <a:t>      "image_url": "http://tong.visitkorea.or.kr/cms/resource/43/3585043_image2_1.jpg",</a:t>
            </a:r>
          </a:p>
          <a:p>
            <a:r>
              <a:t>      "source_id": "tour-api:130197",</a:t>
            </a:r>
          </a:p>
          <a:p>
            <a:r>
              <a:t>      "content_id": "130197",</a:t>
            </a:r>
          </a:p>
          <a:p>
            <a:r>
              <a:t>      "source_url": "https://apis.data.go.kr/B551011/KorService2",</a:t>
            </a:r>
          </a:p>
          <a:p>
            <a:r>
              <a:t>      "source_type": "open_api",</a:t>
            </a:r>
          </a:p>
          <a:p>
            <a:r>
              <a:t>      "content_type_id": "14"</a:t>
            </a:r>
          </a:p>
          <a:p>
            <a:r>
              <a:t>    },</a:t>
            </a:r>
          </a:p>
          <a:p>
            <a:r>
              <a:t>    {</a:t>
            </a:r>
          </a:p>
          <a:p>
            <a:r>
              <a:t>      "title": "델빠네",</a:t>
            </a:r>
          </a:p>
          <a:p>
            <a:r>
              <a:t>      "address": "대전광역시 서구 원도안로207번길 16-61 (도안동)",</a:t>
            </a:r>
          </a:p>
          <a:p>
            <a:r>
              <a:t>      "summary": "한국관광공사 국문관광정보 API가 반환한 선택 지역 관광자원",</a:t>
            </a:r>
          </a:p>
          <a:p>
            <a:r>
              <a:t>      "image_url": "http://tong.visitkorea.or.kr/cms/resource/36/2865836_image2_1.jpg",</a:t>
            </a:r>
          </a:p>
          <a:p>
            <a:r>
              <a:t>      "source_id": "tour-api:2865847",</a:t>
            </a:r>
          </a:p>
          <a:p>
            <a:r>
              <a:t>      "content_id": "2865847",</a:t>
            </a:r>
          </a:p>
          <a:p>
            <a:r>
              <a:t>      "source_url": "https://apis.data.go.kr/B551011/KorService2",</a:t>
            </a:r>
          </a:p>
          <a:p>
            <a:r>
              <a:t>      "source_type": "open_api",</a:t>
            </a:r>
          </a:p>
          <a:p>
            <a:r>
              <a:t>      "content_type_id": "39"</a:t>
            </a:r>
          </a:p>
          <a:p>
            <a:r>
              <a:t>    },</a:t>
            </a:r>
          </a:p>
          <a:p>
            <a:r>
              <a:t>    {</a:t>
            </a:r>
          </a:p>
          <a:p>
            <a:r>
              <a:t>      "title": "도마큰시장",</a:t>
            </a:r>
          </a:p>
          <a:p>
            <a:r>
              <a:t>      "address": "대전광역시 서구 도마4길 69 (도마동)",</a:t>
            </a:r>
          </a:p>
          <a:p>
            <a:r>
              <a:t>      "summary": "한국관광공사 국문관광정보 API가 반환한 선택 지역 관광자원",</a:t>
            </a:r>
          </a:p>
          <a:p>
            <a:r>
              <a:t>      "image_url": "http://tong.visitkorea.or.kr/cms/resource/34/3565534_image2_1.jpg",</a:t>
            </a:r>
          </a:p>
          <a:p>
            <a:r>
              <a:t>      "source_id": "tour-api:2758334",</a:t>
            </a:r>
          </a:p>
          <a:p>
            <a:r>
              <a:t>      "content_id": "2758334",</a:t>
            </a:r>
          </a:p>
          <a:p>
            <a:r>
              <a:t>      "source_url": "https://apis.data.go.kr/B551011/KorService2",</a:t>
            </a:r>
          </a:p>
          <a:p>
            <a:r>
              <a:t>      "source_type": "open_api",</a:t>
            </a:r>
          </a:p>
          <a:p>
            <a:r>
              <a:t>      "content_type_id": "38"</a:t>
            </a:r>
          </a:p>
          <a:p>
            <a:r>
              <a:t>    },</a:t>
            </a:r>
          </a:p>
          <a:p>
            <a:r>
              <a:t>    {</a:t>
            </a:r>
          </a:p>
          <a:p>
            <a:r>
              <a:t>      "title": "도산서원(대전)",</a:t>
            </a:r>
          </a:p>
          <a:p>
            <a:r>
              <a:t>      "address": "대전광역시 서구 남선로 8",</a:t>
            </a:r>
          </a:p>
          <a:p>
            <a:r>
              <a:t>      "summary": "한국관광공사 국문관광정보 API가 반환한 선택 지역 관광자원",</a:t>
            </a:r>
          </a:p>
          <a:p>
            <a:r>
              <a:t>      "image_url": "http://tong.visitkorea.or.kr/cms/resource/24/3035024_image2_1.JPG",</a:t>
            </a:r>
          </a:p>
          <a:p>
            <a:r>
              <a:t>      "source_id": "tour-api:1955818",</a:t>
            </a:r>
          </a:p>
          <a:p>
            <a:r>
              <a:t>      "content_id": "1955818",</a:t>
            </a:r>
          </a:p>
          <a:p>
            <a:r>
              <a:t>      "source_url": "https://apis.data.go.kr/B551011/KorService2",</a:t>
            </a:r>
          </a:p>
          <a:p>
            <a:r>
              <a:t>      "source_type": "open_api",</a:t>
            </a:r>
          </a:p>
          <a:p>
            <a:r>
              <a:t>      "content_type_id": "12"</a:t>
            </a:r>
          </a:p>
          <a:p>
            <a:r>
              <a:t>    },</a:t>
            </a:r>
          </a:p>
          <a:p>
            <a:r>
              <a:t>    {</a:t>
            </a:r>
          </a:p>
          <a:p>
            <a:r>
              <a:t>      "title": "둔산꽃시장",</a:t>
            </a:r>
          </a:p>
          <a:p>
            <a:r>
              <a:t>      "address": "대전광역시 서구 둔산북로 22 (둔산동)",</a:t>
            </a:r>
          </a:p>
          <a:p>
            <a:r>
              <a:t>      "summary": "한국관광공사 국문관광정보 API가 반환한 선택 지역 관광자원",</a:t>
            </a:r>
          </a:p>
          <a:p>
            <a:r>
              <a:t>      "image_url": "http://tong.visitkorea.or.kr/cms/resource/31/2758631_image2_1.jpg",</a:t>
            </a:r>
          </a:p>
          <a:p>
            <a:r>
              <a:t>      "source_id": "tour-api:2758341",</a:t>
            </a:r>
          </a:p>
          <a:p>
            <a:r>
              <a:t>      "content_id": "2758341",</a:t>
            </a:r>
          </a:p>
          <a:p>
            <a:r>
              <a:t>      "source_url": "https://apis.data.go.kr/B551011/KorService2",</a:t>
            </a:r>
          </a:p>
          <a:p>
            <a:r>
              <a:t>      "source_type": "open_api",</a:t>
            </a:r>
          </a:p>
          <a:p>
            <a:r>
              <a:t>      "content_type_id": "38"</a:t>
            </a:r>
          </a:p>
          <a:p>
            <a:r>
              <a:t>    },</a:t>
            </a:r>
          </a:p>
          <a:p>
            <a:r>
              <a:t>    {</a:t>
            </a:r>
          </a:p>
          <a:p>
            <a:r>
              <a:t>      "title": "둔산전자타운",</a:t>
            </a:r>
          </a:p>
          <a:p>
            <a:r>
              <a:t>      "address": "대전광역시 서구 도산로403번길 21",</a:t>
            </a:r>
          </a:p>
          <a:p>
            <a:r>
              <a:t>      "summary": "한국관광공사 국문관광정보 API가 반환한 선택 지역 관광자원",</a:t>
            </a:r>
          </a:p>
          <a:p>
            <a:r>
              <a:t>      "image_url": "http://tong.visitkorea.or.kr/cms/resource/60/3565560_image2_1.jpg",</a:t>
            </a:r>
          </a:p>
          <a:p>
            <a:r>
              <a:t>      "source_id": "tour-api:1623725",</a:t>
            </a:r>
          </a:p>
          <a:p>
            <a:r>
              <a:t>      "content_id": "1623725",</a:t>
            </a:r>
          </a:p>
          <a:p>
            <a:r>
              <a:t>      "source_url": "https://apis.data.go.kr/B551011/KorService2",</a:t>
            </a:r>
          </a:p>
          <a:p>
            <a:r>
              <a:t>      "source_type": "open_api",</a:t>
            </a:r>
          </a:p>
          <a:p>
            <a:r>
              <a:t>      "content_type_id": "38"</a:t>
            </a:r>
          </a:p>
          <a:p>
            <a:r>
              <a:t>    },</a:t>
            </a:r>
          </a:p>
          <a:p>
            <a:r>
              <a:t>    {</a:t>
            </a:r>
          </a:p>
          <a:p>
            <a:r>
              <a:t>      "title": "롯데백화점 (대전점)",</a:t>
            </a:r>
          </a:p>
          <a:p>
            <a:r>
              <a:t>      "address": "대전광역시 서구 계룡로 598 (괴정동)",</a:t>
            </a:r>
          </a:p>
          <a:p>
            <a:r>
              <a:t>      "summary": "한국관광공사 국문관광정보 API가 반환한 선택 지역 관광자원",</a:t>
            </a:r>
          </a:p>
          <a:p>
            <a:r>
              <a:t>      "image_url": "http://tong.visitkorea.or.kr/cms/resource/21/3443221_image2_1.jpg",</a:t>
            </a:r>
          </a:p>
          <a:p>
            <a:r>
              <a:t>      "source_id": "tour-api:132661",</a:t>
            </a:r>
          </a:p>
          <a:p>
            <a:r>
              <a:t>      "content_id": "132661",</a:t>
            </a:r>
          </a:p>
          <a:p>
            <a:r>
              <a:t>      "source_url": "https://apis.data.go.kr/B551011/KorService2",</a:t>
            </a:r>
          </a:p>
          <a:p>
            <a:r>
              <a:t>      "source_type": "open_api",</a:t>
            </a:r>
          </a:p>
          <a:p>
            <a:r>
              <a:t>      "content_type_id": "38"</a:t>
            </a:r>
          </a:p>
          <a:p>
            <a:r>
              <a:t>    },</a:t>
            </a:r>
          </a:p>
          <a:p>
            <a:r>
              <a:t>    {</a:t>
            </a:r>
          </a:p>
          <a:p>
            <a:r>
              <a:t>      "title": "마치광장",</a:t>
            </a:r>
          </a:p>
          <a:p>
            <a:r>
              <a:t>      "address": "대전광역시 서구 구봉로131번길 27",</a:t>
            </a:r>
          </a:p>
          <a:p>
            <a:r>
              <a:t>      "summary": "한국관광공사 국문관광정보 API가 반환한 선택 지역 관광자원",</a:t>
            </a:r>
          </a:p>
          <a:p>
            <a:r>
              <a:t>      "image_url": "http://tong.visitkorea.or.kr/cms/resource/16/3542516_image2_1.jpg",</a:t>
            </a:r>
          </a:p>
          <a:p>
            <a:r>
              <a:t>      "source_id": "tour-api:2758646",</a:t>
            </a:r>
          </a:p>
          <a:p>
            <a:r>
              <a:t>      "content_id": "2758646",</a:t>
            </a:r>
          </a:p>
          <a:p>
            <a:r>
              <a:t>      "source_url": "https://apis.data.go.kr/B551011/KorService2",</a:t>
            </a:r>
          </a:p>
          <a:p>
            <a:r>
              <a:t>      "source_type": "open_api",</a:t>
            </a:r>
          </a:p>
          <a:p>
            <a:r>
              <a:t>      "content_type_id": "12"</a:t>
            </a:r>
          </a:p>
          <a:p>
            <a:r>
              <a:t>    },</a:t>
            </a:r>
          </a:p>
          <a:p>
            <a:r>
              <a:t>    {</a:t>
            </a:r>
          </a:p>
          <a:p>
            <a:r>
              <a:t>      "title": "몽뜨",</a:t>
            </a:r>
          </a:p>
          <a:p>
            <a:r>
              <a:t>      "address": "대전광역시 서구 원도안로257번길 48 (도안동)",</a:t>
            </a:r>
          </a:p>
          <a:p>
            <a:r>
              <a:t>      "summary": "한국관광공사 국문관광정보 API가 반환한 선택 지역 관광자원",</a:t>
            </a:r>
          </a:p>
          <a:p>
            <a:r>
              <a:t>      "image_url": "http://tong.visitkorea.or.kr/cms/resource/35/2899535_image2_1.jpg",</a:t>
            </a:r>
          </a:p>
          <a:p>
            <a:r>
              <a:t>      "source_id": "tour-api:2899544",</a:t>
            </a:r>
          </a:p>
          <a:p>
            <a:r>
              <a:t>      "content_id": "2899544",</a:t>
            </a:r>
          </a:p>
          <a:p>
            <a:r>
              <a:t>      "source_url": "https://apis.data.go.kr/B551011/KorService2",</a:t>
            </a:r>
          </a:p>
          <a:p>
            <a:r>
              <a:t>      "source_type": "open_api",</a:t>
            </a:r>
          </a:p>
          <a:p>
            <a:r>
              <a:t>      "content_type_id": "39"</a:t>
            </a:r>
          </a:p>
          <a:p>
            <a:r>
              <a:t>    },</a:t>
            </a:r>
          </a:p>
          <a:p>
            <a:r>
              <a:t>    {</a:t>
            </a:r>
          </a:p>
          <a:p>
            <a:r>
              <a:t>      "title": "미세노센세",</a:t>
            </a:r>
          </a:p>
          <a:p>
            <a:r>
              <a:t>      "address": "대전광역시 서구 계룡로553번안길 65 (탄방동)",</a:t>
            </a:r>
          </a:p>
          <a:p>
            <a:r>
              <a:t>      "summary": "한국관광공사 국문관광정보 API가 반환한 선택 지역 관광자원",</a:t>
            </a:r>
          </a:p>
          <a:p>
            <a:r>
              <a:t>      "image_url": "http://tong.visitkorea.or.kr/cms/resource/05/2865905_image2_1.jpg",</a:t>
            </a:r>
          </a:p>
          <a:p>
            <a:r>
              <a:t>      "source_id": "tour-api:2865914",</a:t>
            </a:r>
          </a:p>
          <a:p>
            <a:r>
              <a:t>      "content_id": "2865914",</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"관광",</a:t>
            </a:r>
          </a:p>
          <a:p>
            <a:r>
              <a:t>        "상권",</a:t>
            </a:r>
          </a:p>
          <a:p>
            <a:r>
              <a:t>        "성과",</a:t>
            </a:r>
          </a:p>
          <a:p>
            <a:r>
              <a:t>        "소비",</a:t>
            </a:r>
          </a:p>
          <a:p>
            <a:r>
              <a:t>        "수와",</a:t>
            </a:r>
          </a:p>
          <a:p>
            <a:r>
              <a:t>        "숙박",</a:t>
            </a:r>
          </a:p>
          <a:p>
            <a:r>
              <a:t>        "실제",</a:t>
            </a:r>
          </a:p>
          <a:p>
            <a:r>
              <a:t>        "연결한",</a:t>
            </a:r>
          </a:p>
          <a:p>
            <a:r>
              <a:t>        "예산",</a:t>
            </a:r>
          </a:p>
          <a:p>
            <a:r>
              <a:t>        "운영",</a:t>
            </a:r>
          </a:p>
          <a:p>
            <a:r>
              <a:t>        "정책",</a:t>
            </a:r>
          </a:p>
          <a:p>
            <a:r>
              <a:t>        "중심으로",</a:t>
            </a:r>
          </a:p>
          <a:p>
            <a:r>
              <a:t>        "지역",</a:t>
            </a:r>
          </a:p>
          <a:p>
            <a:r>
              <a:t>        "체류",</a:t>
            </a:r>
          </a:p>
          <a:p>
            <a:r>
              <a:t>        "함께"</a:t>
            </a:r>
          </a:p>
          <a:p>
            <a:r>
              <a:t>      ],</a:t>
            </a:r>
          </a:p>
          <a:p>
            <a:r>
              <a:t>      "page_references": "PDF 44쪽, PDF 40쪽, PDF 41쪽, PDF 41쪽,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"reference:kto:2026:local-airport:page:044:chunk:01"</a:t>
            </a:r>
          </a:p>
          <a:p>
            <a:r>
              <a:t>      ],</a:t>
            </a:r>
          </a:p>
          <a:p>
            <a:r>
              <a:t>      "source_chunk_count": 5</a:t>
            </a:r>
          </a:p>
          <a:p>
            <a:r>
              <a:t>    },</a:t>
            </a:r>
          </a:p>
          <a:p>
            <a:r>
              <a:t>    {</a:t>
            </a:r>
          </a:p>
          <a:p>
            <a:r>
              <a:t>      "title": "여행가는 달 지역 여행할인 모아보기",</a:t>
            </a:r>
          </a:p>
          <a:p>
            <a:r>
              <a:t>      "summary": "한국관광공사 ‘여행가는 달’ 페이지에는 대전관광공사·대전광역시의 ‘대전관광상품 최대 1만원 할인’이 2026-09-21부터 2026-10-18까지 ‘진행예정’으로 게시되어 있다.",</a:t>
            </a:r>
          </a:p>
          <a:p>
            <a:r>
              <a:t>      "source_id": "web:30170:1",</a:t>
            </a:r>
          </a:p>
          <a:p>
            <a:r>
              <a:t>      "source_url": "https://korean.visitkorea.or.kr/travelmonth/benefit.do?modal=benefit-190",</a:t>
            </a:r>
          </a:p>
          <a:p>
            <a:r>
              <a:t>      "source_type": "official_web",</a:t>
            </a:r>
          </a:p>
          <a:p>
            <a:r>
              <a:t>      "why_relevant": "확정된 실행기간(2026-10-01~2026-12-31) 중 10월 초·중순과 겹치는 기존 관광할인 일정이다. 신규 할인 재원을 가정하기보다, 서구 소재 상품 또는 참여처가 이 할인에 포함될 수 있는지 먼저 대전관광공사·운영주체와 확인할 근거가 된다. 할인 적용 대상, 서구 참여 여부, 중복지원 가능 여부, 정산방식은 이 문서만으로 확인되지 않는다.",</a:t>
            </a:r>
          </a:p>
          <a:p>
            <a:r>
              <a:t>      "published_or_updated_at": "2026-09-17 기준 페이지 확인; 행사 예정 기간 2026-09-21~2026-10-18"</a:t>
            </a:r>
          </a:p>
          <a:p>
            <a:r>
              <a:t>    },</a:t>
            </a:r>
          </a:p>
          <a:p>
            <a:r>
              <a:t>    {</a:t>
            </a:r>
          </a:p>
          <a:p>
            <a:r>
              <a:t>      "title": "대전광역시_문화시설 | 공공데이터포털",</a:t>
            </a:r>
          </a:p>
          <a:p>
            <a:r>
              <a:t>      "summary": "공공데이터포털의 ‘대전광역시_문화시설’ OpenAPI는 공연장·전시관·박물관·도서관·체육관 등 문화시설의 위치, 명칭, 시설유형, 운영시간, 연락처 정보를 제공하며, 제공기관은 대전광역시이다.",</a:t>
            </a:r>
          </a:p>
          <a:p>
            <a:r>
              <a:t>      "source_id": "web:30170:2",</a:t>
            </a:r>
          </a:p>
          <a:p>
            <a:r>
              <a:t>      "source_url": "https://www.data.go.kr/data/15112114/openapi.do?recommendDataYn=Y",</a:t>
            </a:r>
          </a:p>
          <a:p>
            <a:r>
              <a:t>      "source_type": "official_web",</a:t>
            </a:r>
          </a:p>
          <a:p>
            <a:r>
              <a:t>      "why_relevant": "서구 체류 연장 파일럿의 참여 후보를 선정할 때 운영시간과 연락처를 공식 데이터로 대조할 수 있다. 특히 야간·주말 운영 가능 여부를 실제 데이터와 시설별 협의로 확인한 뒤, 10~12월 동선과 안내 페이지를 구성하는 데 활용할 수 있다. 이 데이터셋 설명만으로 특정 시설의 운영시간이나 행사 참여가 확정되는 것은 아니다.",</a:t>
            </a:r>
          </a:p>
          <a:p>
            <a:r>
              <a:t>      "published_or_updated_at": "수정일 2025-07-23"</a:t>
            </a:r>
          </a:p>
          <a:p>
            <a:r>
              <a:t>    },</a:t>
            </a:r>
          </a:p>
          <a:p>
            <a:r>
              <a:t>    {</a:t>
            </a:r>
          </a:p>
          <a:p>
            <a:r>
              <a:t>      "title": "대전광역시 문화관광(숙박정보) 데이터 | 공공데이터포털",</a:t>
            </a:r>
          </a:p>
          <a:p>
            <a:r>
              <a:t>      "summary": "공공데이터포털에는 대전광역시 문화관광 숙박정보 OpenAPI가 있으며, 호텔·모텔·게스트하우스·펜션 등 숙박시설을 행정구역별로 분류하고 위치·연락처·부대시설 등의 정보를 제공한다고 명시되어 있다.",</a:t>
            </a:r>
          </a:p>
          <a:p>
            <a:r>
              <a:t>      "source_id": "web:30170:3",</a:t>
            </a:r>
          </a:p>
          <a:p>
            <a:r>
              <a:t>      "source_url": "https://www.data.go.kr/dataset/15001021/openapi.do",</a:t>
            </a:r>
          </a:p>
          <a:p>
            <a:r>
              <a:t>      "source_type": "official_web",</a:t>
            </a:r>
          </a:p>
          <a:p>
            <a:r>
              <a:t>      "why_relevant": "숙박 연계는 숙박업소의 실제 참여의사와 판매 가능 객실을 확인하기 전에는 확정할 수 없지만, 공식 숙박정보를 이용해 서구 소재 후보 업소를 우선 목록화하고 연락·운영조건 확인 절차를 설계할 수 있다. 제공된 내부 관측의 숙박방문 비율과 평균 숙박일수 개선을 직접 보장하는 근거는 아니다.",</a:t>
            </a:r>
          </a:p>
          <a:p>
            <a:r>
              <a:t>      "published_or_updated_at": "페이지 확인일 2026-09-17"</a:t>
            </a:r>
          </a:p>
          <a:p>
            <a:r>
              <a:t>    },</a:t>
            </a:r>
          </a:p>
          <a:p>
            <a:r>
              <a:t>    {</a:t>
            </a:r>
          </a:p>
          <a:p>
            <a:r>
              <a:t>      "title": "대전문화관광해설사 신규 양성 교육 | 한국관광공사 관광e배움터",</a:t>
            </a:r>
          </a:p>
          <a:p>
            <a:r>
              <a:t>      "summary": "(사)대전광역시관광협회는 2026-07-01~2026-08-31에 ‘대전문화관광해설사 신규 양성 교육’을 운영했으며, 과정 목표는 대전 관광자원을 설명할 전문 해설 인력 양성이다. 과정은 60시간, 신청인원은 13명으로 게시되어 있다.",</a:t>
            </a:r>
          </a:p>
          <a:p>
            <a:r>
              <a:t>      "source_id": "web:30170:4",</a:t>
            </a:r>
          </a:p>
          <a:p>
            <a:r>
              <a:t>      "source_url": "https://touredu.visitkorea.or.kr/home/pkgEdu/pkgEduDetail?crsCd=C202600107&amp;eduPlanYr=2026&amp;eduPlanYrStepCnt=1",</a:t>
            </a:r>
          </a:p>
          <a:p>
            <a:r>
              <a:t>      "source_type": "official_web",</a:t>
            </a:r>
          </a:p>
          <a:p>
            <a:r>
              <a:t>      "why_relevant": "해설·현장안내를 포함하는 방식은 완전히 새로운 인력체계를 만드는 대신, 대전광역시관광협회에 10~12월 서구 권역 배치 가능 여부와 운영조건을 문의하는 조건부 선택지가 될 수 있다. 이 교육 이력은 해설사의 실제 배치, 유급 운영, 서구 코스 담당 또는 특정 언어 서비스 제공을 보장하지 않는다.",</a:t>
            </a:r>
          </a:p>
          <a:p>
            <a:r>
              <a:t>      "published_or_updated_at": "신청·학습기간 2026-07-01~2026-08-31"</a:t>
            </a:r>
          </a:p>
          <a:p>
            <a:r>
              <a:t>    },</a:t>
            </a:r>
          </a:p>
          <a:p>
            <a:r>
              <a:t>    {</a:t>
            </a:r>
          </a:p>
          <a:p>
            <a:r>
              <a:t>      "title": "대전광역시 서구_체육시설 현황 | 공공데이터포털",</a:t>
            </a:r>
          </a:p>
          <a:p>
            <a:r>
              <a:t>      "summary": "공공데이터포털의 ‘대전광역시 서구_체육시설 현황’ 파일은 서구 소재 체육시설의 명칭·주소·면적·운동시설 종류·최대 수용 가능 인원·연락처·관리기관·데이터 기준일자 항목을 포함한다고 명시한다.",</a:t>
            </a:r>
          </a:p>
          <a:p>
            <a:r>
              <a:t>      "source_id": "web:30170:5",</a:t>
            </a:r>
          </a:p>
          <a:p>
            <a:r>
              <a:t>      "source_url": "https://www.data.go.kr/dataset/15037511/fileData.do",</a:t>
            </a:r>
          </a:p>
          <a:p>
            <a:r>
              <a:t>      "source_type": "official_web",</a:t>
            </a:r>
          </a:p>
          <a:p>
            <a:r>
              <a:t>      "why_relevant": "10~12월 체육·공연·문화시설을 체류 콘텐츠 후보로 검토할 경우, 시설의 물리적 수용 조건과 관리기관을 공식 목록으로 확인할 수 있다. 다만 파일 설명만으로 해당 시설의 대관 가능일, 대관료, 행사 가능 시간 또는 관광객 대상 운영 의사가 확인되는 것은 아니다.",</a:t>
            </a:r>
          </a:p>
          <a:p>
            <a:r>
              <a:t>      "published_or_updated_at": "페이지 확인일 2026-09-17"</a:t>
            </a:r>
          </a:p>
          <a:p>
            <a:r>
              <a:t>    },</a:t>
            </a:r>
          </a:p>
          <a:p>
            <a:r>
              <a:t>    {</a:t>
            </a:r>
          </a:p>
          <a:p>
            <a:r>
              <a:t>      "title": "제4차 관광개발기본계획 발표 관련 문화체육관광부 보도자료",</a:t>
            </a:r>
          </a:p>
          <a:p>
            <a:r>
              <a:t>      "summary": "제4차 관광개발기본계획 관련 문화체육관광부 자료는 대전·세종·충청권을 관광 성장 지역 권역 중 하나로 제시하고, 부처·지역 간 연계협력과 지역 여건에 맞는 권역별 발전전략 수립 방향을 밝힌다.",</a:t>
            </a:r>
          </a:p>
          <a:p>
            <a:r>
              <a:t>      "source_id": "web:30170:6",</a:t>
            </a:r>
          </a:p>
          <a:p>
            <a:r>
              <a:t>      "source_url":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      "source_type": "official_web",</a:t>
            </a:r>
          </a:p>
          <a:p>
            <a:r>
              <a:t>      "why_relevant": "서구 단독의 대규모 시설 신설보다 인접 생활·관광권 및 기존 관광사업과의 연계를 검토하는 정책 참고 근거다. 이는 서구 사업의 국비지원 확정, 개별 사업 적격성 또는 성과를 뜻하지 않는다.",</a:t>
            </a:r>
          </a:p>
          <a:p>
            <a:r>
              <a:t>      "published_or_updated_at": "2021-12-30"</a:t>
            </a:r>
          </a:p>
          <a:p>
            <a:r>
              <a:t>    },</a:t>
            </a:r>
          </a:p>
          <a:p>
            <a:r>
              <a:t>    {</a:t>
            </a:r>
          </a:p>
          <a:p>
            <a:r>
              <a:t>      "title": "한국관광 데이터랩 · 안동탈춤축제 연도별 방문자 추이",</a:t>
            </a:r>
          </a:p>
          <a:p>
            <a:r>
              <a:t>      "summary": "경상북도 안동시 · 2025 안동탈춤축제: 10일간 집중 운영한 공연·문화형 축제 · 2024→2025년 전체 504,573→554,494명 (+9.89%). 개최 10→10일, 일평균 +9.89%, 외지인 +10.75%.",</a:t>
            </a:r>
          </a:p>
          <a:p>
            <a:r>
              <a:t>      "source_id": "case:41508ca81cf29f",</a:t>
            </a:r>
          </a:p>
          <a:p>
            <a:r>
              <a:t>      "source_url": "https://datalab.visitkorea.or.kr/",</a:t>
            </a:r>
          </a:p>
          <a:p>
            <a:r>
              <a:t>      "case_region": "경상북도 안동시",</a:t>
            </a:r>
          </a:p>
          <a:p>
            <a:r>
              <a:t>      "source_type": "benchmark_case",</a:t>
            </a:r>
          </a:p>
          <a:p>
            <a:r>
              <a:t>      "dataset_hash": "ad20e3daf70fd44fd481d672398c07bb9c96fce77acb450784065a568735e2e2",</a:t>
            </a:r>
          </a:p>
          <a:p>
            <a:r>
              <a:t>      "intervention": "2025 안동탈춤축제: 10일간 집중 운영한 공연·문화형 축제",</a:t>
            </a:r>
          </a:p>
          <a:p>
            <a:r>
              <a:t>      "source_files": [</a:t>
            </a:r>
          </a:p>
          <a:p>
            <a:r>
              <a:t>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a:t>
            </a:r>
          </a:p>
          <a:p>
            <a:r>
              <a:t>          "sha256": "c0b34e003112bda1f5afa06dcb153cc870d61730036ef23f1b3e7aed39ca5458",</a:t>
            </a:r>
          </a:p>
          <a:p>
            <a:r>
              <a:t>          "provider": "한국관광 데이터랩",</a:t>
            </a:r>
          </a:p>
          <a:p>
            <a:r>
              <a:t>          "file_name": "20260820175023_안동탈춤축제_성_연령별 내국인 방문자.csv",</a:t>
            </a:r>
          </a:p>
          <a:p>
            <a:r>
              <a:t>          "source_id": "festival-file:c0b34e003112bda1f5af",</a:t>
            </a:r>
          </a:p>
          <a:p>
            <a:r>
              <a:t>          "source_url": "https://datalab.visitkorea.or.kr/",</a:t>
            </a:r>
          </a:p>
          <a:p>
            <a:r>
              <a:t>          "downloaded_at": "2026-08-20",</a:t>
            </a:r>
          </a:p>
          <a:p>
            <a:r>
              <a:t>          "relative_path": "data/source_snapshots/festivals_20260820/43. 안동탈춤축제_2023-2025/20260820175023_안동탈춤축제_성_연령별 내국인 방문자.csv",</a:t>
            </a:r>
          </a:p>
          <a:p>
            <a:r>
              <a:t>          "provenance_status": "team_download_exact_query_url_unrecorded"</a:t>
            </a:r>
          </a:p>
          <a:p>
            <a:r>
              <a:t>        },</a:t>
            </a:r>
          </a:p>
          <a:p>
            <a:r>
              <a:t>        {</a:t>
            </a:r>
          </a:p>
          <a:p>
            <a:r>
              <a:t>          "sha256": "40ddabd2e46fcb12bc9cc2361174e1a5ebe80f169611896b6d4b5e60d9fda352",</a:t>
            </a:r>
          </a:p>
          <a:p>
            <a:r>
              <a:t>          "provider": "한국관광 데이터랩",</a:t>
            </a:r>
          </a:p>
          <a:p>
            <a:r>
              <a:t>          "file_name": "20260820175023_안동탈춤축제_문화관광축제 주요 지표.csv",</a:t>
            </a:r>
          </a:p>
          <a:p>
            <a:r>
              <a:t>          "source_id": "festival-file:40ddabd2e46fcb12bc9c",</a:t>
            </a:r>
          </a:p>
          <a:p>
            <a:r>
              <a:t>          "source_url": "https://datalab.visitkorea.or.kr/",</a:t>
            </a:r>
          </a:p>
          <a:p>
            <a:r>
              <a:t>          "downloaded_at": "2026-08-20",</a:t>
            </a:r>
          </a:p>
          <a:p>
            <a:r>
              <a:t>          "relative_path": "data/source_snapshots/festivals_20260820/43. 안동탈춤축제_2023-2025/20260820175023_안동탈춤축제_문화관광축제 주요 지표.csv",</a:t>
            </a:r>
          </a:p>
          <a:p>
            <a:r>
              <a:t>          "provenance_status": "team_download_exact_query_url_unrecorded"</a:t>
            </a:r>
          </a:p>
          <a:p>
            <a:r>
              <a:t>        },</a:t>
            </a:r>
          </a:p>
          <a:p>
            <a:r>
              <a:t>        {</a:t>
            </a:r>
          </a:p>
          <a:p>
            <a:r>
              <a:t>          "sha256": "11de7e20288dde00f7f18e353a24b5a95c511a7dc354ec9cc2c7a3a2436712f6",</a:t>
            </a:r>
          </a:p>
          <a:p>
            <a:r>
              <a:t>          "provider": "한국관광 데이터랩",</a:t>
            </a:r>
          </a:p>
          <a:p>
            <a:r>
              <a:t>          "file_name": "20260820175023_안동탈춤축제_목적지 검색순위.csv",</a:t>
            </a:r>
          </a:p>
          <a:p>
            <a:r>
              <a:t>          "source_id": "festival-file:11de7e20288dde00f7f1",</a:t>
            </a:r>
          </a:p>
          <a:p>
            <a:r>
              <a:t>          "source_url": "https://datalab.visitkorea.or.kr/",</a:t>
            </a:r>
          </a:p>
          <a:p>
            <a:r>
              <a:t>          "downloaded_at": "2026-08-20",</a:t>
            </a:r>
          </a:p>
          <a:p>
            <a:r>
              <a:t>          "relative_path": "data/source_snapshots/festivals_20260820/43. 안동탈춤축제_2023-2025/20260820175023_안동탈춤축제_목적지 검색순위.csv",</a:t>
            </a:r>
          </a:p>
          <a:p>
            <a:r>
              <a:t>          "provenance_status": "team_download_exact_query_url_unrecorded"</a:t>
            </a:r>
          </a:p>
          <a:p>
            <a:r>
              <a:t>        }</a:t>
            </a:r>
          </a:p>
          <a:p>
            <a:r>
              <a:t>      ],</a:t>
            </a:r>
          </a:p>
          <a:p>
            <a:r>
              <a:t>      "document_type": null,</a:t>
            </a:r>
          </a:p>
          <a:p>
            <a:r>
              <a:t>      "evidence_kind": "festival_document_and_statistics",</a:t>
            </a:r>
          </a:p>
          <a:p>
            <a:r>
              <a:t>      "observed_result": "2024→2025년 전체 504,573→554,494명 (+9.89%). 개최 10→10일, 일평균 +9.89%, 외지인 +10.75%.",</a:t>
            </a:r>
          </a:p>
          <a:p>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"공연·문화",</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"official_web_search",</a:t>
            </a:r>
          </a:p>
          <a:p>
            <a:r>
              <a:t>      "evidence_strength": "medium",</a:t>
            </a:r>
          </a:p>
          <a:p>
            <a:r>
              <a:t>      "retrieval_context": {</a:t>
            </a:r>
          </a:p>
          <a:p>
            <a:r>
              <a:t>        "scope": "cross_province",</a:t>
            </a:r>
          </a:p>
          <a:p>
            <a:r>
              <a:t>        "peer_region_code": null</a:t>
            </a:r>
          </a:p>
          <a:p>
            <a:r>
              <a:t>      },</a:t>
            </a:r>
          </a:p>
          <a:p>
            <a:r>
              <a:t>      "measurement_period": "2024년과 2025년 각 축제 10일 개최기간 비교",</a:t>
            </a:r>
          </a:p>
          <a:p>
            <a:r>
              <a:t>      "festival_statistics": {</a:t>
            </a:r>
          </a:p>
          <a:p>
            <a:r>
              <a:t>        "name": "안동탈춤축제",</a:t>
            </a:r>
          </a:p>
          <a:p>
            <a:r>
              <a:t>        "scope": "축제 관측구역 방문 지표. 도시 전체·순증 관광객·입장권 실구매자 수가 아님.",</a:t>
            </a:r>
          </a:p>
          <a:p>
            <a:r>
              <a:t>        "annual": [</a:t>
            </a:r>
          </a:p>
          <a:p>
            <a:r>
              <a:t>          {</a:t>
            </a:r>
          </a:p>
          <a:p>
            <a:r>
              <a:t>            "days": 8,</a:t>
            </a:r>
          </a:p>
          <a:p>
            <a:r>
              <a:t>            "year": 2023,</a:t>
            </a:r>
          </a:p>
          <a:p>
            <a:r>
              <a:t>            "daily": 45517.125,</a:t>
            </a:r>
          </a:p>
          <a:p>
            <a:r>
              <a:t>            "local": 233513,</a:t>
            </a:r>
          </a:p>
          <a:p>
            <a:r>
              <a:t>            "total": 364137,</a:t>
            </a:r>
          </a:p>
          <a:p>
            <a:r>
              <a:t>            "foreign": 3319,</a:t>
            </a:r>
          </a:p>
          <a:p>
            <a:r>
              <a:t>            "outside": 127305,</a:t>
            </a:r>
          </a:p>
          <a:p>
            <a:r>
              <a:t>            "outside_daily": 15913.125,</a:t>
            </a:r>
          </a:p>
          <a:p>
            <a:r>
              <a:t>            "outside_share_pct": 34.960742797353745</a:t>
            </a:r>
          </a:p>
          <a:p>
            <a:r>
              <a:t>          },</a:t>
            </a:r>
          </a:p>
          <a:p>
            <a:r>
              <a:t>          {</a:t>
            </a:r>
          </a:p>
          <a:p>
            <a:r>
              <a:t>            "days": 10,</a:t>
            </a:r>
          </a:p>
          <a:p>
            <a:r>
              <a:t>            "year": 2024,</a:t>
            </a:r>
          </a:p>
          <a:p>
            <a:r>
              <a:t>            "daily": 50457.3,</a:t>
            </a:r>
          </a:p>
          <a:p>
            <a:r>
              <a:t>            "local": 317925,</a:t>
            </a:r>
          </a:p>
          <a:p>
            <a:r>
              <a:t>            "total": 504573,</a:t>
            </a:r>
          </a:p>
          <a:p>
            <a:r>
              <a:t>            "foreign": 4684,</a:t>
            </a:r>
          </a:p>
          <a:p>
            <a:r>
              <a:t>            "outside": 181964,</a:t>
            </a:r>
          </a:p>
          <a:p>
            <a:r>
              <a:t>            "outside_daily": 18196.4,</a:t>
            </a:r>
          </a:p>
          <a:p>
            <a:r>
              <a:t>            "outside_share_pct": 36.06296809381398</a:t>
            </a:r>
          </a:p>
          <a:p>
            <a:r>
              <a:t>          },</a:t>
            </a:r>
          </a:p>
          <a:p>
            <a:r>
              <a:t>          {</a:t>
            </a:r>
          </a:p>
          <a:p>
            <a:r>
              <a:t>            "days": 10,</a:t>
            </a:r>
          </a:p>
          <a:p>
            <a:r>
              <a:t>            "year": 2025,</a:t>
            </a:r>
          </a:p>
          <a:p>
            <a:r>
              <a:t>            "daily": 55449.4,</a:t>
            </a:r>
          </a:p>
          <a:p>
            <a:r>
              <a:t>            "local": 347269,</a:t>
            </a:r>
          </a:p>
          <a:p>
            <a:r>
              <a:t>            "total": 554494,</a:t>
            </a:r>
          </a:p>
          <a:p>
            <a:r>
              <a:t>            "foreign": 5702,</a:t>
            </a:r>
          </a:p>
          <a:p>
            <a:r>
              <a:t>            "outside": 201523,</a:t>
            </a:r>
          </a:p>
          <a:p>
            <a:r>
              <a:t>            "outside_daily": 20152.3,</a:t>
            </a:r>
          </a:p>
          <a:p>
            <a:r>
              <a:t>            "outside_share_pct": 36.34358532283487</a:t>
            </a:r>
          </a:p>
          <a:p>
            <a:r>
              <a:t>          }</a:t>
            </a:r>
          </a:p>
          <a:p>
            <a:r>
              <a:t>        ],</a:t>
            </a:r>
          </a:p>
          <a:p>
            <a:r>
              <a:t>        "audience": [</a:t>
            </a:r>
          </a:p>
          <a:p>
            <a:r>
              <a:t>          {</a:t>
            </a:r>
          </a:p>
          <a:p>
            <a:r>
              <a:t>            "연령대": "70세 이상",</a:t>
            </a:r>
          </a:p>
          <a:p>
            <a:r>
              <a:t>            "축제명": "안동탈춤축제",</a:t>
            </a:r>
          </a:p>
          <a:p>
            <a:r>
              <a:t>            "남성비율": "4.4",</a:t>
            </a:r>
          </a:p>
          <a:p>
            <a:r>
              <a:t>            "여성비율": "5.0"</a:t>
            </a:r>
          </a:p>
          <a:p>
            <a:r>
              <a:t>          },</a:t>
            </a:r>
          </a:p>
          <a:p>
            <a:r>
              <a:t>          {</a:t>
            </a:r>
          </a:p>
          <a:p>
            <a:r>
              <a:t>            "연령대": "60~69세",</a:t>
            </a:r>
          </a:p>
          <a:p>
            <a:r>
              <a:t>            "축제명": "안동탈춤축제",</a:t>
            </a:r>
          </a:p>
          <a:p>
            <a:r>
              <a:t>            "남성비율": "8.0",</a:t>
            </a:r>
          </a:p>
          <a:p>
            <a:r>
              <a:t>            "여성비율": "8.5"</a:t>
            </a:r>
          </a:p>
          <a:p>
            <a:r>
              <a:t>          },</a:t>
            </a:r>
          </a:p>
          <a:p>
            <a:r>
              <a:t>          {</a:t>
            </a:r>
          </a:p>
          <a:p>
            <a:r>
              <a:t>            "연령대": "50~59세",</a:t>
            </a:r>
          </a:p>
          <a:p>
            <a:r>
              <a:t>            "축제명": "안동탈춤축제",</a:t>
            </a:r>
          </a:p>
          <a:p>
            <a:r>
              <a:t>            "남성비율": "9.2",</a:t>
            </a:r>
          </a:p>
          <a:p>
            <a:r>
              <a:t>            "여성비율": "10.9"</a:t>
            </a:r>
          </a:p>
          <a:p>
            <a:r>
              <a:t>          },</a:t>
            </a:r>
          </a:p>
          <a:p>
            <a:r>
              <a:t>          {</a:t>
            </a:r>
          </a:p>
          <a:p>
            <a:r>
              <a:t>            "연령대": "40~49세",</a:t>
            </a:r>
          </a:p>
          <a:p>
            <a:r>
              <a:t>            "축제명": "안동탈춤축제",</a:t>
            </a:r>
          </a:p>
          <a:p>
            <a:r>
              <a:t>            "남성비율": "7.5",</a:t>
            </a:r>
          </a:p>
          <a:p>
            <a:r>
              <a:t>            "여성비율": "7.9"</a:t>
            </a:r>
          </a:p>
          <a:p>
            <a:r>
              <a:t>          },</a:t>
            </a:r>
          </a:p>
          <a:p>
            <a:r>
              <a:t>          {</a:t>
            </a:r>
          </a:p>
          <a:p>
            <a:r>
              <a:t>            "연령대": "30~39세",</a:t>
            </a:r>
          </a:p>
          <a:p>
            <a:r>
              <a:t>            "축제명": "안동탈춤축제",</a:t>
            </a:r>
          </a:p>
          <a:p>
            <a:r>
              <a:t>            "남성비율": "7.9",</a:t>
            </a:r>
          </a:p>
          <a:p>
            <a:r>
              <a:t>            "여성비율": "7.2"</a:t>
            </a:r>
          </a:p>
          <a:p>
            <a:r>
              <a:t>          },</a:t>
            </a:r>
          </a:p>
          <a:p>
            <a:r>
              <a:t>          {</a:t>
            </a:r>
          </a:p>
          <a:p>
            <a:r>
              <a:t>            "연령대": "20~29세",</a:t>
            </a:r>
          </a:p>
          <a:p>
            <a:r>
              <a:t>            "축제명": "안동탈춤축제",</a:t>
            </a:r>
          </a:p>
          <a:p>
            <a:r>
              <a:t>            "남성비율": "7.1",</a:t>
            </a:r>
          </a:p>
          <a:p>
            <a:r>
              <a:t>            "여성비율": "8.2"</a:t>
            </a:r>
          </a:p>
          <a:p>
            <a:r>
              <a:t>          },</a:t>
            </a:r>
          </a:p>
          <a:p>
            <a:r>
              <a:t>          {</a:t>
            </a:r>
          </a:p>
          <a:p>
            <a:r>
              <a:t>            "연령대": "10~19세",</a:t>
            </a:r>
          </a:p>
          <a:p>
            <a:r>
              <a:t>            "축제명": "안동탈춤축제",</a:t>
            </a:r>
          </a:p>
          <a:p>
            <a:r>
              <a:t>            "남성비율": "3.2",</a:t>
            </a:r>
          </a:p>
          <a:p>
            <a:r>
              <a:t>            "여성비율": "3.9"</a:t>
            </a:r>
          </a:p>
          <a:p>
            <a:r>
              <a:t>          },</a:t>
            </a:r>
          </a:p>
          <a:p>
            <a:r>
              <a:t>          {</a:t>
            </a:r>
          </a:p>
          <a:p>
            <a:r>
              <a:t>            "연령대": "0~9세",</a:t>
            </a:r>
          </a:p>
          <a:p>
            <a:r>
              <a:t>            "축제명": "안동탈춤축제",</a:t>
            </a:r>
          </a:p>
          <a:p>
            <a:r>
              <a:t>            "남성비율": "0.5",</a:t>
            </a:r>
          </a:p>
          <a:p>
            <a:r>
              <a:t>            "여성비율": "0.7"</a:t>
            </a:r>
          </a:p>
          <a:p>
            <a:r>
              <a:t>          }</a:t>
            </a:r>
          </a:p>
          <a:p>
            <a:r>
              <a:t>        ],</a:t>
            </a:r>
          </a:p>
          <a:p>
            <a:r>
              <a:t>        "comparison": {</a:t>
            </a:r>
          </a:p>
          <a:p>
            <a:r>
              <a:t>          "daily": {</a:t>
            </a:r>
          </a:p>
          <a:p>
            <a:r>
              <a:t>            "after": 55449.4,</a:t>
            </a:r>
          </a:p>
          <a:p>
            <a:r>
              <a:t>            "before": 50457.3,</a:t>
            </a:r>
          </a:p>
          <a:p>
            <a:r>
              <a:t>            "change_pct": 9.893712109050613,</a:t>
            </a:r>
          </a:p>
          <a:p>
            <a:r>
              <a:t>            "difference": 4992.0999999999985</a:t>
            </a:r>
          </a:p>
          <a:p>
            <a:r>
              <a:t>          },</a:t>
            </a:r>
          </a:p>
          <a:p>
            <a:r>
              <a:t>          "total": {</a:t>
            </a:r>
          </a:p>
          <a:p>
            <a:r>
              <a:t>            "after": 554494,</a:t>
            </a:r>
          </a:p>
          <a:p>
            <a:r>
              <a:t>            "before": 504573,</a:t>
            </a:r>
          </a:p>
          <a:p>
            <a:r>
              <a:t>            "change_pct": 9.893712109050613,</a:t>
            </a:r>
          </a:p>
          <a:p>
            <a:r>
              <a:t>            "difference": 49921</a:t>
            </a:r>
          </a:p>
          <a:p>
            <a:r>
              <a:t>          },</a:t>
            </a:r>
          </a:p>
          <a:p>
            <a:r>
              <a:t>          "outside": {</a:t>
            </a:r>
          </a:p>
          <a:p>
            <a:r>
              <a:t>            "after": 201523,</a:t>
            </a:r>
          </a:p>
          <a:p>
            <a:r>
              <a:t>            "before": 181964,</a:t>
            </a:r>
          </a:p>
          <a:p>
            <a:r>
              <a:t>            "change_pct": 10.748829438790096,</a:t>
            </a:r>
          </a:p>
          <a:p>
            <a:r>
              <a:t>            "difference": 19559</a:t>
            </a:r>
          </a:p>
          <a:p>
            <a:r>
              <a:t>          },</a:t>
            </a:r>
          </a:p>
          <a:p>
            <a:r>
              <a:t>          "after_days": 10,</a:t>
            </a:r>
          </a:p>
          <a:p>
            <a:r>
              <a:t>          "after_year": 2025,</a:t>
            </a:r>
          </a:p>
          <a:p>
            <a:r>
              <a:t>          "before_days": 10,</a:t>
            </a:r>
          </a:p>
          <a:p>
            <a:r>
              <a:t>          "before_year": 2024,</a:t>
            </a:r>
          </a:p>
          <a:p>
            <a:r>
              <a:t>          "outside_daily": {</a:t>
            </a:r>
          </a:p>
          <a:p>
            <a:r>
              <a:t>            "after": 20152.3,</a:t>
            </a:r>
          </a:p>
          <a:p>
            <a:r>
              <a:t>            "before": 18196.4,</a:t>
            </a:r>
          </a:p>
          <a:p>
            <a:r>
              <a:t>            "change_pct": 10.748829438790075,</a:t>
            </a:r>
          </a:p>
          <a:p>
            <a:r>
              <a:t>            "difference": 1955.8999999999976</a:t>
            </a:r>
          </a:p>
          <a:p>
            <a:r>
              <a:t>          }</a:t>
            </a:r>
          </a:p>
          <a:p>
            <a:r>
              <a:t>        },</a:t>
            </a:r>
          </a:p>
          <a:p>
            <a:r>
              <a:t>        "source_file":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"0.515",</a:t>
            </a:r>
          </a:p>
          <a:p>
            <a:r>
              <a:t>            "축제명": "안동탈춤축제",</a:t>
            </a:r>
          </a:p>
          <a:p>
            <a:r>
              <a:t>            "개최년도": "2025"</a:t>
            </a:r>
          </a:p>
          <a:p>
            <a:r>
              <a:t>          },</a:t>
            </a:r>
          </a:p>
          <a:p>
            <a:r>
              <a:t>          {</a:t>
            </a:r>
          </a:p>
          <a:p>
            <a:r>
              <a:t>            "구분명": "현지인방문자 유입",</a:t>
            </a:r>
          </a:p>
          <a:p>
            <a:r>
              <a:t>            "그룹명": "축제기간",</a:t>
            </a:r>
          </a:p>
          <a:p>
            <a:r>
              <a:t>            "지표값": "0.859",</a:t>
            </a:r>
          </a:p>
          <a:p>
            <a:r>
              <a:t>            "축제명": "안동탈춤축제",</a:t>
            </a:r>
          </a:p>
          <a:p>
            <a:r>
              <a:t>            "개최년도": "2025"</a:t>
            </a:r>
          </a:p>
          <a:p>
            <a:r>
              <a:t>          },</a:t>
            </a:r>
          </a:p>
          <a:p>
            <a:r>
              <a:t>          {</a:t>
            </a:r>
          </a:p>
          <a:p>
            <a:r>
              <a:t>            "구분명": "내비게이션 검색량",</a:t>
            </a:r>
          </a:p>
          <a:p>
            <a:r>
              <a:t>            "그룹명": "축제기간",</a:t>
            </a:r>
          </a:p>
          <a:p>
            <a:r>
              <a:t>            "지표값": "0.434",</a:t>
            </a:r>
          </a:p>
          <a:p>
            <a:r>
              <a:t>            "축제명": "안동탈춤축제",</a:t>
            </a:r>
          </a:p>
          <a:p>
            <a:r>
              <a:t>            "개최년도": "2025"</a:t>
            </a:r>
          </a:p>
          <a:p>
            <a:r>
              <a:t>          },</a:t>
            </a:r>
          </a:p>
          <a:p>
            <a:r>
              <a:t>          {</a:t>
            </a:r>
          </a:p>
          <a:p>
            <a:r>
              <a:t>            "구분명": "관광소비",</a:t>
            </a:r>
          </a:p>
          <a:p>
            <a:r>
              <a:t>            "그룹명": "축제기간",</a:t>
            </a:r>
          </a:p>
          <a:p>
            <a:r>
              <a:t>            "지표값": "0.544",</a:t>
            </a:r>
          </a:p>
          <a:p>
            <a:r>
              <a:t>            "축제명": "안동탈춤축제",</a:t>
            </a:r>
          </a:p>
          <a:p>
            <a:r>
              <a:t>            "개최년도": "2025"</a:t>
            </a:r>
          </a:p>
          <a:p>
            <a:r>
              <a:t>          },</a:t>
            </a:r>
          </a:p>
          <a:p>
            <a:r>
              <a:t>          {</a:t>
            </a:r>
          </a:p>
          <a:p>
            <a:r>
              <a:t>            "구분명": "축제지 집중률",</a:t>
            </a:r>
          </a:p>
          <a:p>
            <a:r>
              <a:t>            "그룹명": "축제기간",</a:t>
            </a:r>
          </a:p>
          <a:p>
            <a:r>
              <a:t>            "지표값": "0.879",</a:t>
            </a:r>
          </a:p>
          <a:p>
            <a:r>
              <a:t>            "축제명": "안동탈춤축제",</a:t>
            </a:r>
          </a:p>
          <a:p>
            <a:r>
              <a:t>            "개최년도": "2025"</a:t>
            </a:r>
          </a:p>
          <a:p>
            <a:r>
              <a:t>          },</a:t>
            </a:r>
          </a:p>
          <a:p>
            <a:r>
              <a:t>          {</a:t>
            </a:r>
          </a:p>
          <a:p>
            <a:r>
              <a:t>            "구분명": "외부방문자 유입",</a:t>
            </a:r>
          </a:p>
          <a:p>
            <a:r>
              <a:t>            "그룹명": "비축제기간",</a:t>
            </a:r>
          </a:p>
          <a:p>
            <a:r>
              <a:t>            "지표값": "0.258",</a:t>
            </a:r>
          </a:p>
          <a:p>
            <a:r>
              <a:t>            "축제명": "안동탈춤축제",</a:t>
            </a:r>
          </a:p>
          <a:p>
            <a:r>
              <a:t>            "개최년도": "2025"</a:t>
            </a:r>
          </a:p>
          <a:p>
            <a:r>
              <a:t>          },</a:t>
            </a:r>
          </a:p>
          <a:p>
            <a:r>
              <a:t>          {</a:t>
            </a:r>
          </a:p>
          <a:p>
            <a:r>
              <a:t>            "구분명": "현지인방문자 유입",</a:t>
            </a:r>
          </a:p>
          <a:p>
            <a:r>
              <a:t>            "그룹명": "비축제기간",</a:t>
            </a:r>
          </a:p>
          <a:p>
            <a:r>
              <a:t>            "지표값": "0.618",</a:t>
            </a:r>
          </a:p>
          <a:p>
            <a:r>
              <a:t>            "축제명": "안동탈춤축제",</a:t>
            </a:r>
          </a:p>
          <a:p>
            <a:r>
              <a:t>            "개최년도": "2025"</a:t>
            </a:r>
          </a:p>
          <a:p>
            <a:r>
              <a:t>          },</a:t>
            </a:r>
          </a:p>
          <a:p>
            <a:r>
              <a:t>          {</a:t>
            </a:r>
          </a:p>
          <a:p>
            <a:r>
              <a:t>            "구분명": "내비게이션 검색량",</a:t>
            </a:r>
          </a:p>
          <a:p>
            <a:r>
              <a:t>            "그룹명": "비축제기간",</a:t>
            </a:r>
          </a:p>
          <a:p>
            <a:r>
              <a:t>            "지표값": "0.252",</a:t>
            </a:r>
          </a:p>
          <a:p>
            <a:r>
              <a:t>            "축제명": "안동탈춤축제",</a:t>
            </a:r>
          </a:p>
          <a:p>
            <a:r>
              <a:t>            "개최년도": "2025"</a:t>
            </a:r>
          </a:p>
          <a:p>
            <a:r>
              <a:t>          },</a:t>
            </a:r>
          </a:p>
          <a:p>
            <a:r>
              <a:t>          {</a:t>
            </a:r>
          </a:p>
          <a:p>
            <a:r>
              <a:t>            "구분명": "관광소비",</a:t>
            </a:r>
          </a:p>
          <a:p>
            <a:r>
              <a:t>            "그룹명": "비축제기간",</a:t>
            </a:r>
          </a:p>
          <a:p>
            <a:r>
              <a:t>            "지표값": "0.375",</a:t>
            </a:r>
          </a:p>
          <a:p>
            <a:r>
              <a:t>            "축제명": "안동탈춤축제",</a:t>
            </a:r>
          </a:p>
          <a:p>
            <a:r>
              <a:t>            "개최년도": "2025"</a:t>
            </a:r>
          </a:p>
          <a:p>
            <a:r>
              <a:t>          },</a:t>
            </a:r>
          </a:p>
          <a:p>
            <a:r>
              <a:t>          {</a:t>
            </a:r>
          </a:p>
          <a:p>
            <a:r>
              <a:t>            "구분명": "축제지 집중률",</a:t>
            </a:r>
          </a:p>
          <a:p>
            <a:r>
              <a:t>            "그룹명": "비축제기간",</a:t>
            </a:r>
          </a:p>
          <a:p>
            <a:r>
              <a:t>            "지표값": "0.65",</a:t>
            </a:r>
          </a:p>
          <a:p>
            <a:r>
              <a:t>            "축제명": "안동탈춤축제",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"안동구시장",</a:t>
            </a:r>
          </a:p>
          <a:p>
            <a:r>
              <a:t>            "카테고리": "시장",</a:t>
            </a:r>
          </a:p>
          <a:p>
            <a:r>
              <a:t>            "도로명주소": "경북 안동시 번영1길 47-0"</a:t>
            </a:r>
          </a:p>
          <a:p>
            <a:r>
              <a:t>          },</a:t>
            </a:r>
          </a:p>
          <a:p>
            <a:r>
              <a:t>          {</a:t>
            </a:r>
          </a:p>
          <a:p>
            <a:r>
              <a:t>            "구분": "외지인",</a:t>
            </a:r>
          </a:p>
          <a:p>
            <a:r>
              <a:t>            "순위": "2",</a:t>
            </a:r>
          </a:p>
          <a:p>
            <a:r>
              <a:t>            "목적지명": "안동국제탈춤페스티벌",</a:t>
            </a:r>
          </a:p>
          <a:p>
            <a:r>
              <a:t>            "카테고리": "기타문화관광지",</a:t>
            </a:r>
          </a:p>
          <a:p>
            <a:r>
              <a:t>            "도로명주소": "경북 안동시 육사로 239-0"</a:t>
            </a:r>
          </a:p>
          <a:p>
            <a:r>
              <a:t>          },</a:t>
            </a:r>
          </a:p>
          <a:p>
            <a:r>
              <a:t>          {</a:t>
            </a:r>
          </a:p>
          <a:p>
            <a:r>
              <a:t>            "구분": "외지인",</a:t>
            </a:r>
          </a:p>
          <a:p>
            <a:r>
              <a:t>            "순위": "3",</a:t>
            </a:r>
          </a:p>
          <a:p>
            <a:r>
              <a:t>            "목적지명": "탈춤공원",</a:t>
            </a:r>
          </a:p>
          <a:p>
            <a:r>
              <a:t>            "카테고리": "도시공원",</a:t>
            </a:r>
          </a:p>
          <a:p>
            <a:r>
              <a:t>            "도로명주소": "경북 안동시 육사로 239-0"</a:t>
            </a:r>
          </a:p>
          <a:p>
            <a:r>
              <a:t>          }</a:t>
            </a:r>
          </a:p>
          <a:p>
            <a:r>
              <a:t>        ]</a:t>
            </a:r>
          </a:p>
          <a:p>
            <a:r>
              <a:t>      },</a:t>
            </a:r>
          </a:p>
          <a:p>
            <a:r>
              <a:t>      "transfer_conditions": [</a:t>
            </a:r>
          </a:p>
          <a:p>
            <a:r>
              <a:t>        "대전 서구의 기존 문화·상업시설과 맞는 주제를 새로 선정하고 프로그램·회차·정원을 별도로 설계해야 한다.",</a:t>
            </a:r>
          </a:p>
          <a:p>
            <a:r>
              <a:t>        "10일 연속 운영보다 고정 일정인 10~12월에 주말 반복형으로 분산하는 방안을 비교해야 한다.",</a:t>
            </a:r>
          </a:p>
          <a:p>
            <a:r>
              <a:t>        "외지인 관측 증가가 실제 상권 결제로 이어졌는지 확인할 수 있도록 예약·QR·카드 또는 영수증 기반 기록이 필요하다.",</a:t>
            </a:r>
          </a:p>
          <a:p>
            <a:r>
              <a:t>        "행사장 주변 교통·식음·야간 운영 가능 시설을 현장 확인한 뒤 참여처를 모집해야 한다."</a:t>
            </a:r>
          </a:p>
          <a:p>
            <a:r>
              <a:t>      ],</a:t>
            </a:r>
          </a:p>
          <a:p>
            <a:r>
              <a:t>      "operating_statistics": [</a:t>
            </a:r>
          </a:p>
          <a:p>
            <a:r>
              <a:t>        {</a:t>
            </a:r>
          </a:p>
          <a:p>
            <a:r>
              <a:t>          "unit": "day",</a:t>
            </a:r>
          </a:p>
          <a:p>
            <a:r>
              <a:t>          "quote": "2025년 10일 개최",</a:t>
            </a:r>
          </a:p>
          <a:p>
            <a:r>
              <a:t>          "scope": "안동탈춤축제 전체 개최일수",</a:t>
            </a:r>
          </a:p>
          <a:p>
            <a:r>
              <a:t>          "value": 10,</a:t>
            </a:r>
          </a:p>
          <a:p>
            <a:r>
              <a:t>          "metric": "operating_days",</a:t>
            </a:r>
          </a:p>
          <a:p>
            <a:r>
              <a:t>          "period": "2025년 축제 개최기간",</a:t>
            </a:r>
          </a:p>
          <a:p>
            <a:r>
              <a:t>          "program_name": "안동탈춤축제",</a:t>
            </a:r>
          </a:p>
          <a:p>
            <a:r>
              <a:t>          "capacity_count": null,</a:t>
            </a:r>
          </a:p>
          <a:p>
            <a:r>
              <a:t>          "participant_count": null</a:t>
            </a:r>
          </a:p>
          <a:p>
            <a:r>
              <a:t>        }</a:t>
            </a:r>
          </a:p>
          <a:p>
            <a:r>
              <a:t>      ],</a:t>
            </a:r>
          </a:p>
          <a:p>
            <a:r>
              <a:t>      "published_or_updated_at": "2026-08-20",</a:t>
            </a:r>
          </a:p>
          <a:p>
            <a:r>
              <a:t>      "quantitative_result_approved": true</a:t>
            </a:r>
          </a:p>
          <a:p>
            <a:r>
              <a:t>    },</a:t>
            </a:r>
          </a:p>
          <a:p>
            <a:r>
              <a:t>    {</a:t>
            </a:r>
          </a:p>
          <a:p>
            <a:r>
              <a:t>      "title": "한국관광 데이터랩 · 문경찻사발축제 방문자 추이",</a:t>
            </a:r>
          </a:p>
          <a:p>
            <a:r>
              <a:t>      "summary": "경상북도 문경시 · 문경찻사발축제 · 2024→2025년 전체 245,750→256,570명 (+4.40%). 개최 10→9일, 일평균 +16.00%, 외지인 +9.28%.",</a:t>
            </a:r>
          </a:p>
          <a:p>
            <a:r>
              <a:t>      "source_id": "case:festival:01474ef75569b1",</a:t>
            </a:r>
          </a:p>
          <a:p>
            <a:r>
              <a:t>      "source_url": "https://datalab.visitkorea.or.kr/",</a:t>
            </a:r>
          </a:p>
          <a:p>
            <a:r>
              <a:t>      "case_region": "경상북도 문경시",</a:t>
            </a:r>
          </a:p>
          <a:p>
            <a:r>
              <a:t>      "source_type": "benchmark_case",</a:t>
            </a:r>
          </a:p>
          <a:p>
            <a:r>
              <a:t>      "dataset_hash": "ad20e3daf70fd44fd481d672398c07bb9c96fce77acb450784065a568735e2e2",</a:t>
            </a:r>
          </a:p>
          <a:p>
            <a:r>
              <a:t>      "intervention": "문경찻사발축제",</a:t>
            </a:r>
          </a:p>
          <a:p>
            <a:r>
              <a:t>      "source_files": [</a:t>
            </a:r>
          </a:p>
          <a:p>
            <a:r>
              <a:t>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a:t>
            </a:r>
          </a:p>
          <a:p>
            <a:r>
              <a:t>          "sha256": "44238aecdfa68974febce93cd262e119492da76910929b96da438d8b6ee7a9b3",</a:t>
            </a:r>
          </a:p>
          <a:p>
            <a:r>
              <a:t>          "provider": "한국관광 데이터랩",</a:t>
            </a:r>
          </a:p>
          <a:p>
            <a:r>
              <a:t>          "file_name": "20260820160334_문경찻사발축제_성_연령별 내국인 방문자.csv",</a:t>
            </a:r>
          </a:p>
          <a:p>
            <a:r>
              <a:t>          "source_id": "festival-file:44238aecdfa68974febc",</a:t>
            </a:r>
          </a:p>
          <a:p>
            <a:r>
              <a:t>          "source_url": "https://datalab.visitkorea.or.kr/",</a:t>
            </a:r>
          </a:p>
          <a:p>
            <a:r>
              <a:t>          "downloaded_at": "2026-08-20",</a:t>
            </a:r>
          </a:p>
          <a:p>
            <a:r>
              <a:t>          "relative_path": "data/source_snapshots/festivals_20260820/25. 문경찻사발축제_2023-2025/20260820160334_문경찻사발축제_성_연령별 내국인 방문자.csv",</a:t>
            </a:r>
          </a:p>
          <a:p>
            <a:r>
              <a:t>          "provenance_status": "team_download_exact_query_url_unrecorded"</a:t>
            </a:r>
          </a:p>
          <a:p>
            <a:r>
              <a:t>        },</a:t>
            </a:r>
          </a:p>
          <a:p>
            <a:r>
              <a:t>        {</a:t>
            </a:r>
          </a:p>
          <a:p>
            <a:r>
              <a:t>          "sha256": "eadf4622620ddb1575df5f358ec588aeed8718c09e0998a19494cf0f3cfe0f16",</a:t>
            </a:r>
          </a:p>
          <a:p>
            <a:r>
              <a:t>          "provider": "한국관광 데이터랩",</a:t>
            </a:r>
          </a:p>
          <a:p>
            <a:r>
              <a:t>          "file_name": "20260820160334_문경찻사발축제_문화관광축제 주요 지표.csv",</a:t>
            </a:r>
          </a:p>
          <a:p>
            <a:r>
              <a:t>          "source_id": "festival-file:eadf4622620ddb1575df",</a:t>
            </a:r>
          </a:p>
          <a:p>
            <a:r>
              <a:t>          "source_url": "https://datalab.visitkorea.or.kr/",</a:t>
            </a:r>
          </a:p>
          <a:p>
            <a:r>
              <a:t>          "downloaded_at": "2026-08-20",</a:t>
            </a:r>
          </a:p>
          <a:p>
            <a:r>
              <a:t>          "relative_path": "data/source_snapshots/festivals_20260820/25. 문경찻사발축제_2023-2025/20260820160334_문경찻사발축제_문화관광축제 주요 지표.csv",</a:t>
            </a:r>
          </a:p>
          <a:p>
            <a:r>
              <a:t>          "provenance_status": "team_download_exact_query_url_unrecorded"</a:t>
            </a:r>
          </a:p>
          <a:p>
            <a:r>
              <a:t>        },</a:t>
            </a:r>
          </a:p>
          <a:p>
            <a:r>
              <a:t>        {</a:t>
            </a:r>
          </a:p>
          <a:p>
            <a:r>
              <a:t>          "sha256": "343671c431cfa7e76ba333ca2ea221803e111e0db5e9a51c6d387b0ba5d7eeaf",</a:t>
            </a:r>
          </a:p>
          <a:p>
            <a:r>
              <a:t>          "provider": "한국관광 데이터랩",</a:t>
            </a:r>
          </a:p>
          <a:p>
            <a:r>
              <a:t>          "file_name": "20260820160334_문경찻사발축제_목적지 검색순위.csv",</a:t>
            </a:r>
          </a:p>
          <a:p>
            <a:r>
              <a:t>          "source_id": "festival-file:343671c431cfa7e76ba3",</a:t>
            </a:r>
          </a:p>
          <a:p>
            <a:r>
              <a:t>          "source_url": "https://datalab.visitkorea.or.kr/",</a:t>
            </a:r>
          </a:p>
          <a:p>
            <a:r>
              <a:t>          "downloaded_at": "2026-08-20",</a:t>
            </a:r>
          </a:p>
          <a:p>
            <a:r>
              <a:t>          "relative_path": "data/source_snapshots/festivals_20260820/25. 문경찻사발축제_2023-2025/20260820160334_문경찻사발축제_목적지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245,750→256,570명 (+4.40%). 개최 10→9일, 일평균 +16.00%, 외지인 +9.28%.",</a:t>
            </a:r>
          </a:p>
          <a:p>
            <a:r>
              <a:t>      "operating_model": "문경찻사발축제를 2025년 9일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"역사·공예",</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"문경찻사발축제",</a:t>
            </a:r>
          </a:p>
          <a:p>
            <a:r>
              <a:t>        "scope": "축제 관측구역 방문 지표. 도시 전체·순증 관광객·입장권 실구매자 수가 아님.",</a:t>
            </a:r>
          </a:p>
          <a:p>
            <a:r>
              <a:t>        "annual": [</a:t>
            </a:r>
          </a:p>
          <a:p>
            <a:r>
              <a:t>          {</a:t>
            </a:r>
          </a:p>
          <a:p>
            <a:r>
              <a:t>            "days": 9,</a:t>
            </a:r>
          </a:p>
          <a:p>
            <a:r>
              <a:t>            "year": 2023,</a:t>
            </a:r>
          </a:p>
          <a:p>
            <a:r>
              <a:t>            "daily": 23055.333333333332,</a:t>
            </a:r>
          </a:p>
          <a:p>
            <a:r>
              <a:t>            "local": 59726,</a:t>
            </a:r>
          </a:p>
          <a:p>
            <a:r>
              <a:t>            "total": 207498,</a:t>
            </a:r>
          </a:p>
          <a:p>
            <a:r>
              <a:t>            "foreign": 1241,</a:t>
            </a:r>
          </a:p>
          <a:p>
            <a:r>
              <a:t>            "outside": 146531,</a:t>
            </a:r>
          </a:p>
          <a:p>
            <a:r>
              <a:t>            "outside_daily": 16281.222222222224,</a:t>
            </a:r>
          </a:p>
          <a:p>
            <a:r>
              <a:t>            "outside_share_pct": 70.61803005330172</a:t>
            </a:r>
          </a:p>
          <a:p>
            <a:r>
              <a:t>          },</a:t>
            </a:r>
          </a:p>
          <a:p>
            <a:r>
              <a:t>          {</a:t>
            </a:r>
          </a:p>
          <a:p>
            <a:r>
              <a:t>            "days": 10,</a:t>
            </a:r>
          </a:p>
          <a:p>
            <a:r>
              <a:t>            "year": 2024,</a:t>
            </a:r>
          </a:p>
          <a:p>
            <a:r>
              <a:t>            "daily": 24575,</a:t>
            </a:r>
          </a:p>
          <a:p>
            <a:r>
              <a:t>            "local": 64582,</a:t>
            </a:r>
          </a:p>
          <a:p>
            <a:r>
              <a:t>            "total": 245750,</a:t>
            </a:r>
          </a:p>
          <a:p>
            <a:r>
              <a:t>            "foreign": 1170,</a:t>
            </a:r>
          </a:p>
          <a:p>
            <a:r>
              <a:t>            "outside": 179998,</a:t>
            </a:r>
          </a:p>
          <a:p>
            <a:r>
              <a:t>            "outside_daily": 17999.8,</a:t>
            </a:r>
          </a:p>
          <a:p>
            <a:r>
              <a:t>            "outside_share_pct": 73.2443540183113</a:t>
            </a:r>
          </a:p>
          <a:p>
            <a:r>
              <a:t>          },</a:t>
            </a:r>
          </a:p>
          <a:p>
            <a:r>
              <a:t>          {</a:t>
            </a:r>
          </a:p>
          <a:p>
            <a:r>
              <a:t>            "days": 9,</a:t>
            </a:r>
          </a:p>
          <a:p>
            <a:r>
              <a:t>            "year": 2025,</a:t>
            </a:r>
          </a:p>
          <a:p>
            <a:r>
              <a:t>            "daily": 28507.777777777777,</a:t>
            </a:r>
          </a:p>
          <a:p>
            <a:r>
              <a:t>            "local": 58704,</a:t>
            </a:r>
          </a:p>
          <a:p>
            <a:r>
              <a:t>            "total": 256570,</a:t>
            </a:r>
          </a:p>
          <a:p>
            <a:r>
              <a:t>            "foreign": 1166,</a:t>
            </a:r>
          </a:p>
          <a:p>
            <a:r>
              <a:t>            "outside": 196700,</a:t>
            </a:r>
          </a:p>
          <a:p>
            <a:r>
              <a:t>            "outside_daily": 21855.555555555555,</a:t>
            </a:r>
          </a:p>
          <a:p>
            <a:r>
              <a:t>            "outside_share_pct": 76.66523755700199</a:t>
            </a:r>
          </a:p>
          <a:p>
            <a:r>
              <a:t>          }</a:t>
            </a:r>
          </a:p>
          <a:p>
            <a:r>
              <a:t>        ],</a:t>
            </a:r>
          </a:p>
          <a:p>
            <a:r>
              <a:t>        "audience": [</a:t>
            </a:r>
          </a:p>
          <a:p>
            <a:r>
              <a:t>          {</a:t>
            </a:r>
          </a:p>
          <a:p>
            <a:r>
              <a:t>            "연령대": "70세 이상",</a:t>
            </a:r>
          </a:p>
          <a:p>
            <a:r>
              <a:t>            "축제명": "문경찻사발축제",</a:t>
            </a:r>
          </a:p>
          <a:p>
            <a:r>
              <a:t>            "남성비율": "4.0",</a:t>
            </a:r>
          </a:p>
          <a:p>
            <a:r>
              <a:t>            "여성비율": "3.8"</a:t>
            </a:r>
          </a:p>
          <a:p>
            <a:r>
              <a:t>          },</a:t>
            </a:r>
          </a:p>
          <a:p>
            <a:r>
              <a:t>          {</a:t>
            </a:r>
          </a:p>
          <a:p>
            <a:r>
              <a:t>            "연령대": "60~69세",</a:t>
            </a:r>
          </a:p>
          <a:p>
            <a:r>
              <a:t>            "축제명": "문경찻사발축제",</a:t>
            </a:r>
          </a:p>
          <a:p>
            <a:r>
              <a:t>            "남성비율": "12.3",</a:t>
            </a:r>
          </a:p>
          <a:p>
            <a:r>
              <a:t>            "여성비율": "10.0"</a:t>
            </a:r>
          </a:p>
          <a:p>
            <a:r>
              <a:t>          },</a:t>
            </a:r>
          </a:p>
          <a:p>
            <a:r>
              <a:t>          {</a:t>
            </a:r>
          </a:p>
          <a:p>
            <a:r>
              <a:t>            "연령대": "50~59세",</a:t>
            </a:r>
          </a:p>
          <a:p>
            <a:r>
              <a:t>            "축제명": "문경찻사발축제",</a:t>
            </a:r>
          </a:p>
          <a:p>
            <a:r>
              <a:t>            "남성비율": "13.0",</a:t>
            </a:r>
          </a:p>
          <a:p>
            <a:r>
              <a:t>            "여성비율": "11.7"</a:t>
            </a:r>
          </a:p>
          <a:p>
            <a:r>
              <a:t>          },</a:t>
            </a:r>
          </a:p>
          <a:p>
            <a:r>
              <a:t>          {</a:t>
            </a:r>
          </a:p>
          <a:p>
            <a:r>
              <a:t>            "연령대": "40~49세",</a:t>
            </a:r>
          </a:p>
          <a:p>
            <a:r>
              <a:t>            "축제명": "문경찻사발축제",</a:t>
            </a:r>
          </a:p>
          <a:p>
            <a:r>
              <a:t>            "남성비율": "9.3",</a:t>
            </a:r>
          </a:p>
          <a:p>
            <a:r>
              <a:t>            "여성비율": "7.6"</a:t>
            </a:r>
          </a:p>
          <a:p>
            <a:r>
              <a:t>          },</a:t>
            </a:r>
          </a:p>
          <a:p>
            <a:r>
              <a:t>          {</a:t>
            </a:r>
          </a:p>
          <a:p>
            <a:r>
              <a:t>            "연령대": "30~39세",</a:t>
            </a:r>
          </a:p>
          <a:p>
            <a:r>
              <a:t>            "축제명": "문경찻사발축제",</a:t>
            </a:r>
          </a:p>
          <a:p>
            <a:r>
              <a:t>            "남성비율": "7.2",</a:t>
            </a:r>
          </a:p>
          <a:p>
            <a:r>
              <a:t>            "여성비율": "6.1"</a:t>
            </a:r>
          </a:p>
          <a:p>
            <a:r>
              <a:t>          },</a:t>
            </a:r>
          </a:p>
          <a:p>
            <a:r>
              <a:t>          {</a:t>
            </a:r>
          </a:p>
          <a:p>
            <a:r>
              <a:t>            "연령대": "20~29세",</a:t>
            </a:r>
          </a:p>
          <a:p>
            <a:r>
              <a:t>            "축제명": "문경찻사발축제",</a:t>
            </a:r>
          </a:p>
          <a:p>
            <a:r>
              <a:t>            "남성비율": "4.6",</a:t>
            </a:r>
          </a:p>
          <a:p>
            <a:r>
              <a:t>            "여성비율": "4.1"</a:t>
            </a:r>
          </a:p>
          <a:p>
            <a:r>
              <a:t>          },</a:t>
            </a:r>
          </a:p>
          <a:p>
            <a:r>
              <a:t>          {</a:t>
            </a:r>
          </a:p>
          <a:p>
            <a:r>
              <a:t>            "연령대": "10~19세",</a:t>
            </a:r>
          </a:p>
          <a:p>
            <a:r>
              <a:t>            "축제명": "문경찻사발축제",</a:t>
            </a:r>
          </a:p>
          <a:p>
            <a:r>
              <a:t>            "남성비율": "2.5",</a:t>
            </a:r>
          </a:p>
          <a:p>
            <a:r>
              <a:t>            "여성비율": "2.5"</a:t>
            </a:r>
          </a:p>
          <a:p>
            <a:r>
              <a:t>          },</a:t>
            </a:r>
          </a:p>
          <a:p>
            <a:r>
              <a:t>          {</a:t>
            </a:r>
          </a:p>
          <a:p>
            <a:r>
              <a:t>            "연령대": "0~9세",</a:t>
            </a:r>
          </a:p>
          <a:p>
            <a:r>
              <a:t>            "축제명": "문경찻사발축제",</a:t>
            </a:r>
          </a:p>
          <a:p>
            <a:r>
              <a:t>            "남성비율": "0.6",</a:t>
            </a:r>
          </a:p>
          <a:p>
            <a:r>
              <a:t>            "여성비율": "0.6"</a:t>
            </a:r>
          </a:p>
          <a:p>
            <a:r>
              <a:t>          }</a:t>
            </a:r>
          </a:p>
          <a:p>
            <a:r>
              <a:t>        ],</a:t>
            </a:r>
          </a:p>
          <a:p>
            <a:r>
              <a:t>        "comparison": {</a:t>
            </a:r>
          </a:p>
          <a:p>
            <a:r>
              <a:t>          "daily": {</a:t>
            </a:r>
          </a:p>
          <a:p>
            <a:r>
              <a:t>            "after": 28507.777777777777,</a:t>
            </a:r>
          </a:p>
          <a:p>
            <a:r>
              <a:t>            "before": 24575,</a:t>
            </a:r>
          </a:p>
          <a:p>
            <a:r>
              <a:t>            "change_pct": 16.00316491466034,</a:t>
            </a:r>
          </a:p>
          <a:p>
            <a:r>
              <a:t>            "difference": 3932.7777777777774</a:t>
            </a:r>
          </a:p>
          <a:p>
            <a:r>
              <a:t>          },</a:t>
            </a:r>
          </a:p>
          <a:p>
            <a:r>
              <a:t>          "total": {</a:t>
            </a:r>
          </a:p>
          <a:p>
            <a:r>
              <a:t>            "after": 256570,</a:t>
            </a:r>
          </a:p>
          <a:p>
            <a:r>
              <a:t>            "before": 245750,</a:t>
            </a:r>
          </a:p>
          <a:p>
            <a:r>
              <a:t>            "change_pct": 4.402848423194294,</a:t>
            </a:r>
          </a:p>
          <a:p>
            <a:r>
              <a:t>            "difference": 10820</a:t>
            </a:r>
          </a:p>
          <a:p>
            <a:r>
              <a:t>          },</a:t>
            </a:r>
          </a:p>
          <a:p>
            <a:r>
              <a:t>          "outside": {</a:t>
            </a:r>
          </a:p>
          <a:p>
            <a:r>
              <a:t>            "after": 196700,</a:t>
            </a:r>
          </a:p>
          <a:p>
            <a:r>
              <a:t>            "before": 179998,</a:t>
            </a:r>
          </a:p>
          <a:p>
            <a:r>
              <a:t>            "change_pct": 9.278991988799866,</a:t>
            </a:r>
          </a:p>
          <a:p>
            <a:r>
              <a:t>            "difference": 16702</a:t>
            </a:r>
          </a:p>
          <a:p>
            <a:r>
              <a:t>          },</a:t>
            </a:r>
          </a:p>
          <a:p>
            <a:r>
              <a:t>          "after_days": 9,</a:t>
            </a:r>
          </a:p>
          <a:p>
            <a:r>
              <a:t>          "after_year": 2025,</a:t>
            </a:r>
          </a:p>
          <a:p>
            <a:r>
              <a:t>          "before_days": 10,</a:t>
            </a:r>
          </a:p>
          <a:p>
            <a:r>
              <a:t>          "before_year": 2024,</a:t>
            </a:r>
          </a:p>
          <a:p>
            <a:r>
              <a:t>          "outside_daily": {</a:t>
            </a:r>
          </a:p>
          <a:p>
            <a:r>
              <a:t>            "after": 21855.555555555555,</a:t>
            </a:r>
          </a:p>
          <a:p>
            <a:r>
              <a:t>            "before": 17999.8,</a:t>
            </a:r>
          </a:p>
          <a:p>
            <a:r>
              <a:t>            "change_pct": 21.421102209777644,</a:t>
            </a:r>
          </a:p>
          <a:p>
            <a:r>
              <a:t>            "difference": 3855.755555555555</a:t>
            </a:r>
          </a:p>
          <a:p>
            <a:r>
              <a:t>          }</a:t>
            </a:r>
          </a:p>
          <a:p>
            <a:r>
              <a:t>        },</a:t>
            </a:r>
          </a:p>
          <a:p>
            <a:r>
              <a:t>        "source_file":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"0.414",</a:t>
            </a:r>
          </a:p>
          <a:p>
            <a:r>
              <a:t>            "축제명": "문경찻사발축제",</a:t>
            </a:r>
          </a:p>
          <a:p>
            <a:r>
              <a:t>            "개최년도": "2025"</a:t>
            </a:r>
          </a:p>
          <a:p>
            <a:r>
              <a:t>          },</a:t>
            </a:r>
          </a:p>
          <a:p>
            <a:r>
              <a:t>          {</a:t>
            </a:r>
          </a:p>
          <a:p>
            <a:r>
              <a:t>            "구분명": "현지인방문자 유입",</a:t>
            </a:r>
          </a:p>
          <a:p>
            <a:r>
              <a:t>            "그룹명": "축제기간",</a:t>
            </a:r>
          </a:p>
          <a:p>
            <a:r>
              <a:t>            "지표값": "0.86",</a:t>
            </a:r>
          </a:p>
          <a:p>
            <a:r>
              <a:t>            "축제명": "문경찻사발축제",</a:t>
            </a:r>
          </a:p>
          <a:p>
            <a:r>
              <a:t>            "개최년도": "2025"</a:t>
            </a:r>
          </a:p>
          <a:p>
            <a:r>
              <a:t>          },</a:t>
            </a:r>
          </a:p>
          <a:p>
            <a:r>
              <a:t>          {</a:t>
            </a:r>
          </a:p>
          <a:p>
            <a:r>
              <a:t>            "구분명": "내비게이션 검색량",</a:t>
            </a:r>
          </a:p>
          <a:p>
            <a:r>
              <a:t>            "그룹명": "축제기간",</a:t>
            </a:r>
          </a:p>
          <a:p>
            <a:r>
              <a:t>            "지표값": "0.273",</a:t>
            </a:r>
          </a:p>
          <a:p>
            <a:r>
              <a:t>            "축제명": "문경찻사발축제",</a:t>
            </a:r>
          </a:p>
          <a:p>
            <a:r>
              <a:t>            "개최년도": "2025"</a:t>
            </a:r>
          </a:p>
          <a:p>
            <a:r>
              <a:t>          },</a:t>
            </a:r>
          </a:p>
          <a:p>
            <a:r>
              <a:t>          {</a:t>
            </a:r>
          </a:p>
          <a:p>
            <a:r>
              <a:t>            "구분명": "관광소비",</a:t>
            </a:r>
          </a:p>
          <a:p>
            <a:r>
              <a:t>            "그룹명": "축제기간",</a:t>
            </a:r>
          </a:p>
          <a:p>
            <a:r>
              <a:t>            "지표값": "0.536",</a:t>
            </a:r>
          </a:p>
          <a:p>
            <a:r>
              <a:t>            "축제명": "문경찻사발축제",</a:t>
            </a:r>
          </a:p>
          <a:p>
            <a:r>
              <a:t>            "개최년도": "2025"</a:t>
            </a:r>
          </a:p>
          <a:p>
            <a:r>
              <a:t>          },</a:t>
            </a:r>
          </a:p>
          <a:p>
            <a:r>
              <a:t>          {</a:t>
            </a:r>
          </a:p>
          <a:p>
            <a:r>
              <a:t>            "구분명": "축제지 집중률",</a:t>
            </a:r>
          </a:p>
          <a:p>
            <a:r>
              <a:t>            "그룹명": "축제기간",</a:t>
            </a:r>
          </a:p>
          <a:p>
            <a:r>
              <a:t>            "지표값": "0.716",</a:t>
            </a:r>
          </a:p>
          <a:p>
            <a:r>
              <a:t>            "축제명": "문경찻사발축제",</a:t>
            </a:r>
          </a:p>
          <a:p>
            <a:r>
              <a:t>            "개최년도": "2025"</a:t>
            </a:r>
          </a:p>
          <a:p>
            <a:r>
              <a:t>          },</a:t>
            </a:r>
          </a:p>
          <a:p>
            <a:r>
              <a:t>          {</a:t>
            </a:r>
          </a:p>
          <a:p>
            <a:r>
              <a:t>            "구분명": "외부방문자 유입",</a:t>
            </a:r>
          </a:p>
          <a:p>
            <a:r>
              <a:t>            "그룹명": "비축제기간",</a:t>
            </a:r>
          </a:p>
          <a:p>
            <a:r>
              <a:t>            "지표값": "0.217",</a:t>
            </a:r>
          </a:p>
          <a:p>
            <a:r>
              <a:t>            "축제명": "문경찻사발축제",</a:t>
            </a:r>
          </a:p>
          <a:p>
            <a:r>
              <a:t>            "개최년도": "2025"</a:t>
            </a:r>
          </a:p>
          <a:p>
            <a:r>
              <a:t>          },</a:t>
            </a:r>
          </a:p>
          <a:p>
            <a:r>
              <a:t>          {</a:t>
            </a:r>
          </a:p>
          <a:p>
            <a:r>
              <a:t>            "구분명": "현지인방문자 유입",</a:t>
            </a:r>
          </a:p>
          <a:p>
            <a:r>
              <a:t>            "그룹명": "비축제기간",</a:t>
            </a:r>
          </a:p>
          <a:p>
            <a:r>
              <a:t>            "지표값": "0.725",</a:t>
            </a:r>
          </a:p>
          <a:p>
            <a:r>
              <a:t>            "축제명": "문경찻사발축제",</a:t>
            </a:r>
          </a:p>
          <a:p>
            <a:r>
              <a:t>            "개최년도": "2025"</a:t>
            </a:r>
          </a:p>
          <a:p>
            <a:r>
              <a:t>          },</a:t>
            </a:r>
          </a:p>
          <a:p>
            <a:r>
              <a:t>          {</a:t>
            </a:r>
          </a:p>
          <a:p>
            <a:r>
              <a:t>            "구분명": "내비게이션 검색량",</a:t>
            </a:r>
          </a:p>
          <a:p>
            <a:r>
              <a:t>            "그룹명": "비축제기간",</a:t>
            </a:r>
          </a:p>
          <a:p>
            <a:r>
              <a:t>            "지표값": "0.148",</a:t>
            </a:r>
          </a:p>
          <a:p>
            <a:r>
              <a:t>            "축제명": "문경찻사발축제",</a:t>
            </a:r>
          </a:p>
          <a:p>
            <a:r>
              <a:t>            "개최년도": "2025"</a:t>
            </a:r>
          </a:p>
          <a:p>
            <a:r>
              <a:t>          },</a:t>
            </a:r>
          </a:p>
          <a:p>
            <a:r>
              <a:t>          {</a:t>
            </a:r>
          </a:p>
          <a:p>
            <a:r>
              <a:t>            "구분명": "관광소비",</a:t>
            </a:r>
          </a:p>
          <a:p>
            <a:r>
              <a:t>            "그룹명": "비축제기간",</a:t>
            </a:r>
          </a:p>
          <a:p>
            <a:r>
              <a:t>            "지표값": "0.381",</a:t>
            </a:r>
          </a:p>
          <a:p>
            <a:r>
              <a:t>            "축제명": "문경찻사발축제",</a:t>
            </a:r>
          </a:p>
          <a:p>
            <a:r>
              <a:t>            "개최년도": "2025"</a:t>
            </a:r>
          </a:p>
          <a:p>
            <a:r>
              <a:t>          },</a:t>
            </a:r>
          </a:p>
          <a:p>
            <a:r>
              <a:t>          {</a:t>
            </a:r>
          </a:p>
          <a:p>
            <a:r>
              <a:t>            "구분명": "축제지 집중률",</a:t>
            </a:r>
          </a:p>
          <a:p>
            <a:r>
              <a:t>            "그룹명": "비축제기간",</a:t>
            </a:r>
          </a:p>
          <a:p>
            <a:r>
              <a:t>            "지표값": "0.607",</a:t>
            </a:r>
          </a:p>
          <a:p>
            <a:r>
              <a:t>            "축제명": "문경찻사발축제",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"문경새재",</a:t>
            </a:r>
          </a:p>
          <a:p>
            <a:r>
              <a:t>            "카테고리": "역사유적지",</a:t>
            </a:r>
          </a:p>
          <a:p>
            <a:r>
              <a:t>            "도로명주소": "경북 문경시 새재로 932-0"</a:t>
            </a:r>
          </a:p>
          <a:p>
            <a:r>
              <a:t>          },</a:t>
            </a:r>
          </a:p>
          <a:p>
            <a:r>
              <a:t>          {</a:t>
            </a:r>
          </a:p>
          <a:p>
            <a:r>
              <a:t>            "구분": "외지인",</a:t>
            </a:r>
          </a:p>
          <a:p>
            <a:r>
              <a:t>            "순위": "2",</a:t>
            </a:r>
          </a:p>
          <a:p>
            <a:r>
              <a:t>            "목적지명": "문경종합온천",</a:t>
            </a:r>
          </a:p>
          <a:p>
            <a:r>
              <a:t>            "카테고리": "웰니스관광",</a:t>
            </a:r>
          </a:p>
          <a:p>
            <a:r>
              <a:t>            "도로명주소": "경북 문경시 온천2길 24-0"</a:t>
            </a:r>
          </a:p>
          <a:p>
            <a:r>
              <a:t>          },</a:t>
            </a:r>
          </a:p>
          <a:p>
            <a:r>
              <a:t>          {</a:t>
            </a:r>
          </a:p>
          <a:p>
            <a:r>
              <a:t>            "구분": "외지인",</a:t>
            </a:r>
          </a:p>
          <a:p>
            <a:r>
              <a:t>            "순위": "3",</a:t>
            </a:r>
          </a:p>
          <a:p>
            <a:r>
              <a:t>            "목적지명": "문경찻사발축제",</a:t>
            </a:r>
          </a:p>
          <a:p>
            <a:r>
              <a:t>            "카테고리": "기타문화관광지",</a:t>
            </a:r>
          </a:p>
          <a:p>
            <a:r>
              <a:t>            "도로명주소": "경북 문경시 새재로 933-0"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"2025년 문화예술 축제 통합 지원사업 종합결과보고서",</a:t>
            </a:r>
          </a:p>
          <a:p>
            <a:r>
              <a:t>      "summary": "서울특별시 · 2025 문화예술 축제 통합 지원사업: 기존 공공·민간 축제의 재정지원·현장평가·관람객 조사 ·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"source_id": "case:28ff66d9b44637",</a:t>
            </a:r>
          </a:p>
          <a:p>
            <a:r>
              <a:t>      "source_url": "https://culture.seoul.go.kr/culture/cmmn/file/fileDown.do?atchFileId=bb34395b25504c66a77ef69999cacb1c&amp;bbsId=B0000006&amp;fileSn=1",</a:t>
            </a:r>
          </a:p>
          <a:p>
            <a:r>
              <a:t>      "case_region": "서울특별시",</a:t>
            </a:r>
          </a:p>
          <a:p>
            <a:r>
              <a:t>      "source_type": "benchmark_case",</a:t>
            </a:r>
          </a:p>
          <a:p>
            <a:r>
              <a:t>      "intervention": "2025 문화예술 축제 통합 지원사업: 기존 공공·민간 축제의 재정지원·현장평가·관람객 조사",</a:t>
            </a:r>
          </a:p>
          <a:p>
            <a:r>
              <a:t>      "document_type": null,</a:t>
            </a:r>
          </a:p>
          <a:p>
            <a:r>
              <a:t>      "observed_result":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"operating_model": "자치구 축제, 민간 축제, 지역대표공연예술제, 국악 민간행사를 묶어 지원하고 계획 실행도, 현장 운영, 접근성, 안전, 홍보, 만족도를 공통 체계로 평가했다. 2025년 평가 대상은 263개 축제였고 1,731개 프로그램을 4,993회 운영했다. ([culture.seoul.go.kr](https://culture.seoul.go.kr/culture/cmmn/file/fileDown.do?atchFileId=bb34395b25504c66a77ef69999cacb1c&amp;bbsId=B0000006&amp;fileSn=1))",</a:t>
            </a:r>
          </a:p>
          <a:p>
            <a:r>
              <a:t>      "retrieval_method": "official_web_search",</a:t>
            </a:r>
          </a:p>
          <a:p>
            <a:r>
              <a:t>      "evidence_strength": "medium",</a:t>
            </a:r>
          </a:p>
          <a:p>
            <a:r>
              <a:t>      "retrieval_context": {</a:t>
            </a:r>
          </a:p>
          <a:p>
            <a:r>
              <a:t>        "scope": "cross_province",</a:t>
            </a:r>
          </a:p>
          <a:p>
            <a:r>
              <a:t>        "peer_region_code": null</a:t>
            </a:r>
          </a:p>
          <a:p>
            <a:r>
              <a:t>      },</a:t>
            </a:r>
          </a:p>
          <a:p>
            <a:r>
              <a:t>      "measurement_period": "2025년 평가 대상 축제 개최기간과 종료 후 종합평가",</a:t>
            </a:r>
          </a:p>
          <a:p>
            <a:r>
              <a:t>      "transfer_conditions": [</a:t>
            </a:r>
          </a:p>
          <a:p>
            <a:r>
              <a:t>        "대전 서구에서는 신규 대형축제보다 기존 시설·민간행사·상권 프로그램을 묶고 공통 예약·결제 기록을 적용하는 요소만 축소 도입한다.",</a:t>
            </a:r>
          </a:p>
          <a:p>
            <a:r>
              <a:t>        "관광형, 지역상권형, 주민문화형의 목적과 지표를 분리해야 한다.",</a:t>
            </a:r>
          </a:p>
          <a:p>
            <a:r>
              <a:t>        "10~11월 행사 집중도를 확인하고 동일 날짜 경쟁을 피하는 회차·시간대 배치가 필요하다.",</a:t>
            </a:r>
          </a:p>
          <a:p>
            <a:r>
              <a:t>        "축제별 방문자 중 외지인, 사전예약자, 상권 결제자, 재방문자를 별도로 측정해야 한다."</a:t>
            </a:r>
          </a:p>
          <a:p>
            <a:r>
              <a:t>      ],</a:t>
            </a:r>
          </a:p>
          <a:p>
            <a:r>
              <a:t>      "operating_statistics": [</a:t>
            </a:r>
          </a:p>
          <a:p>
            <a:r>
              <a:t>        {</a:t>
            </a:r>
          </a:p>
          <a:p>
            <a:r>
              <a:t>          "unit": "festival",</a:t>
            </a:r>
          </a:p>
          <a:p>
            <a:r>
              <a:t>          "quote": "평가 대상 축제는 총 263개",</a:t>
            </a:r>
          </a:p>
          <a:p>
            <a:r>
              <a:t>          "scope": "서울시·서울문화재단 재정지원 축제 중 평가 대상",</a:t>
            </a:r>
          </a:p>
          <a:p>
            <a:r>
              <a:t>          "value": 263,</a:t>
            </a:r>
          </a:p>
          <a:p>
            <a:r>
              <a:t>          "metric": "sites",</a:t>
            </a:r>
          </a:p>
          <a:p>
            <a:r>
              <a:t>          "period": "2025-04 ~ 2025-12",</a:t>
            </a:r>
          </a:p>
          <a:p>
            <a:r>
              <a:t>          "program_name": "2025 문화예술 축제 통합 지원사업",</a:t>
            </a:r>
          </a:p>
          <a:p>
            <a:r>
              <a:t>          "capacity_count": null,</a:t>
            </a:r>
          </a:p>
          <a:p>
            <a:r>
              <a:t>          "participant_count": null</a:t>
            </a:r>
          </a:p>
          <a:p>
            <a:r>
              <a:t>        },</a:t>
            </a:r>
          </a:p>
          <a:p>
            <a:r>
              <a:t>        {</a:t>
            </a:r>
          </a:p>
          <a:p>
            <a:r>
              <a:t>          "unit": "person_visit",</a:t>
            </a:r>
          </a:p>
          <a:p>
            <a:r>
              <a:t>          "quote": "총 8,880,289명의 관람객이 방문",</a:t>
            </a:r>
          </a:p>
          <a:p>
            <a:r>
              <a:t>          "scope": "평가 대상 축제 실적집계표의 관람객 합계; 중복 방문 가능",</a:t>
            </a:r>
          </a:p>
          <a:p>
            <a:r>
              <a:t>          "value": 8880289,</a:t>
            </a:r>
          </a:p>
          <a:p>
            <a:r>
              <a:t>          "metric": "participants",</a:t>
            </a:r>
          </a:p>
          <a:p>
            <a:r>
              <a:t>          "period": "2025-04 ~ 2025-12",</a:t>
            </a:r>
          </a:p>
          <a:p>
            <a:r>
              <a:t>          "program_name": "2025 문화예술 축제 통합 지원사업",</a:t>
            </a:r>
          </a:p>
          <a:p>
            <a:r>
              <a:t>          "capacity_count": null,</a:t>
            </a:r>
          </a:p>
          <a:p>
            <a:r>
              <a:t>          "participant_count": 8880289</a:t>
            </a:r>
          </a:p>
          <a:p>
            <a:r>
              <a:t>        }</a:t>
            </a:r>
          </a:p>
          <a:p>
            <a:r>
              <a:t>      ],</a:t>
            </a:r>
          </a:p>
          <a:p>
            <a:r>
              <a:t>      "published_or_updated_at": "2026",</a:t>
            </a:r>
          </a:p>
          <a:p>
            <a:r>
              <a:t>      "quantitative_result_approved": null</a:t>
            </a:r>
          </a:p>
          <a:p>
            <a:r>
              <a:t>    },</a:t>
            </a:r>
          </a:p>
          <a:p>
            <a:r>
              <a:t>    {</a:t>
            </a:r>
          </a:p>
          <a:p>
            <a:r>
              <a:t>      "title": "귀촌 '원조 반값'은 다르다… 강진서 전국 확산 '체류 관광 도시'",</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반값여행: 여행 지출 증빙 후 모바일 지역상품권 환급",</a:t>
            </a:r>
          </a:p>
          <a:p>
            <a:r>
              <a:t>      "document_type": null,</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"retrieval_method": "official_web_search",</a:t>
            </a:r>
          </a:p>
          <a:p>
            <a:r>
              <a:t>      "evidence_strength": "medium",</a:t>
            </a:r>
          </a:p>
          <a:p>
            <a:r>
              <a:t>      "retrieval_context": {</a:t>
            </a:r>
          </a:p>
          <a:p>
            <a:r>
              <a:t>        "scope": "cross_province",</a:t>
            </a:r>
          </a:p>
          <a:p>
            <a:r>
              <a:t>        "peer_region_code": null</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"operating_statistics": [</a:t>
            </a:r>
          </a:p>
          <a:p>
            <a:r>
              <a:t>        {</a:t>
            </a:r>
          </a:p>
          <a:p>
            <a:r>
              <a:t>          "unit": "team",</a:t>
            </a:r>
          </a:p>
          <a:p>
            <a:r>
              <a:t>          "quote": "1만6292팀이 실제 강진을 찾았다.",</a:t>
            </a:r>
          </a:p>
          <a:p>
            <a:r>
              <a:t>          "scope": "사전신청자 중 실제 강진 방문 확인 팀",</a:t>
            </a:r>
          </a:p>
          <a:p>
            <a:r>
              <a:t>          "value": 16292,</a:t>
            </a:r>
          </a:p>
          <a:p>
            <a:r>
              <a:t>          "metric": "participants",</a:t>
            </a:r>
          </a:p>
          <a:p>
            <a:r>
              <a:t>          "period": "2026-05-19 누적",</a:t>
            </a:r>
          </a:p>
          <a:p>
            <a:r>
              <a:t>          "program_name": "강진 반값여행",</a:t>
            </a:r>
          </a:p>
          <a:p>
            <a:r>
              <a:t>          "capacity_count": null,</a:t>
            </a:r>
          </a:p>
          <a:p>
            <a:r>
              <a:t>          "participant_count": 16292</a:t>
            </a:r>
          </a:p>
          <a:p>
            <a:r>
              <a:t>        },</a:t>
            </a:r>
          </a:p>
          <a:p>
            <a:r>
              <a:t>        {</a:t>
            </a:r>
          </a:p>
          <a:p>
            <a:r>
              <a:t>          "unit": "KRW",</a:t>
            </a:r>
          </a:p>
          <a:p>
            <a:r>
              <a:t>          "quote": "지역 내 소비액은 총 49억7000만원",</a:t>
            </a:r>
          </a:p>
          <a:p>
            <a:r>
              <a:t>          "scope": "사업 등록 관광객의 강진 지역 내 소비액",</a:t>
            </a:r>
          </a:p>
          <a:p>
            <a:r>
              <a:t>          "value": 4970000000,</a:t>
            </a:r>
          </a:p>
          <a:p>
            <a:r>
              <a:t>          "metric": "participant_spending",</a:t>
            </a:r>
          </a:p>
          <a:p>
            <a:r>
              <a:t>          "period": "2026-05-19 누적",</a:t>
            </a:r>
          </a:p>
          <a:p>
            <a:r>
              <a:t>          "program_name": "강진 반값여행",</a:t>
            </a:r>
          </a:p>
          <a:p>
            <a:r>
              <a:t>          "capacity_count": null,</a:t>
            </a:r>
          </a:p>
          <a:p>
            <a:r>
              <a:t>          "participant_count": 16292</a:t>
            </a:r>
          </a:p>
          <a:p>
            <a:r>
              <a:t>        }</a:t>
            </a:r>
          </a:p>
          <a:p>
            <a:r>
              <a:t>      ],</a:t>
            </a:r>
          </a:p>
          <a:p>
            <a:r>
              <a:t>      "published_or_updated_at": "2026-05-29",</a:t>
            </a:r>
          </a:p>
          <a:p>
            <a:r>
              <a:t>      "quantitative_result_approved": null</a:t>
            </a:r>
          </a:p>
          <a:p>
            <a:r>
              <a:t>    },</a:t>
            </a:r>
          </a:p>
          <a:p>
            <a:r>
              <a:t>    {</a:t>
            </a:r>
          </a:p>
          <a:p>
            <a:r>
              <a:t>      "title": "요즘, 한국관광 2호 - 지방공항 연계 지역관광 활성화 방안",</a:t>
            </a:r>
          </a:p>
          <a:p>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"source_id": "case:4544b7bca8ebab",</a:t>
            </a:r>
          </a:p>
          <a:p>
            <a:r>
              <a:t>      "source_url": "https://datalab.visitkorea.or.kr/site/portal/ex/bbs/View.do?bcIdx=311068&amp;cbIdx=1135&amp;pageIndex=1",</a:t>
            </a:r>
          </a:p>
          <a:p>
            <a:r>
              <a:t>      "case_region": "청주공항과 충청권 주요 관광지 연계 권역",</a:t>
            </a:r>
          </a:p>
          <a:p>
            <a:r>
              <a:t>      "source_type": "benchmark_case",</a:t>
            </a:r>
          </a:p>
          <a:p>
            <a:r>
              <a:t>      "intervention": "청주공항·오송역·공주·부여 연계 광역 순환버스 및 수요응답형교통(DRT)",</a:t>
            </a:r>
          </a:p>
          <a:p>
            <a:r>
              <a:t>      "document_type": null,</a:t>
            </a:r>
          </a:p>
          <a:p>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a:r>
              <a:t>      "retrieval_method": "official_web_search",</a:t>
            </a:r>
          </a:p>
          <a:p>
            <a:r>
              <a:t>      "evidence_strength": "medium",</a:t>
            </a:r>
          </a:p>
          <a:p>
            <a:r>
              <a:t>      "retrieval_context": {</a:t>
            </a:r>
          </a:p>
          <a:p>
            <a:r>
              <a:t>        "scope": "national_or_unresolved",</a:t>
            </a:r>
          </a:p>
          <a:p>
            <a:r>
              <a:t>        "peer_region_code": null</a:t>
            </a:r>
          </a:p>
          <a:p>
            <a:r>
              <a:t>      },</a:t>
            </a:r>
          </a:p>
          <a:p>
            <a:r>
              <a:t>      "measurement_period": "2026-01 ~ 2026-06",</a:t>
            </a:r>
          </a:p>
          <a:p>
            <a:r>
              <a:t>      "transfer_conditions": [</a:t>
            </a:r>
          </a:p>
          <a:p>
            <a:r>
              <a:t>        "대전역·복합터미널·청주공항 등 실제 유입 거점과 서구 내 목적지 사이의 이동 수요를 먼저 확인해야 한다.",</a:t>
            </a:r>
          </a:p>
          <a:p>
            <a:r>
              <a:t>        "고정 노선은 일정 수요가 확인될 때 적용하고, 초기에는 예약형 셔틀·택시·기존 대중교통 이용권 방식도 비교해야 한다.",</a:t>
            </a:r>
          </a:p>
          <a:p>
            <a:r>
              <a:t>        "운송사업자, 시설 운영자, 예약 플랫폼 간 운행시간·취소·노쇼·안전 책임 협약이 필요하다.",</a:t>
            </a:r>
          </a:p>
          <a:p>
            <a:r>
              <a:t>        "대전 서구 단독보다 인접 자치구나 청주공항 연계 권역상품으로 운영할 경우 비용·성과의 행정구역별 배분 기준이 필요하다."</a:t>
            </a:r>
          </a:p>
          <a:p>
            <a:r>
              <a:t>      ],</a:t>
            </a:r>
          </a:p>
          <a:p>
            <a:r>
              <a:t>      "operating_statistics": [</a:t>
            </a:r>
          </a:p>
          <a:p>
            <a:r>
              <a:t>        {</a:t>
            </a:r>
          </a:p>
          <a:p>
            <a:r>
              <a:t>          "unit": "person",</a:t>
            </a:r>
          </a:p>
          <a:p>
            <a:r>
              <a:t>          "quote": "순환버스와 DRT 이용객은 총 7,470명",</a:t>
            </a:r>
          </a:p>
          <a:p>
            <a:r>
              <a:t>          "scope": "청주공항·충청권 광역 순환버스와 DRT 실제 이용객 합계",</a:t>
            </a:r>
          </a:p>
          <a:p>
            <a:r>
              <a:t>          "value": 7470,</a:t>
            </a:r>
          </a:p>
          <a:p>
            <a:r>
              <a:t>          "metric": "participants",</a:t>
            </a:r>
          </a:p>
          <a:p>
            <a:r>
              <a:t>          "period": "2026년 상반기",</a:t>
            </a:r>
          </a:p>
          <a:p>
            <a:r>
              <a:t>          "program_name": "청주공항 연계 광역 순환버스·DRT",</a:t>
            </a:r>
          </a:p>
          <a:p>
            <a:r>
              <a:t>          "capacity_count": null,</a:t>
            </a:r>
          </a:p>
          <a:p>
            <a:r>
              <a:t>          "participant_count": 7470</a:t>
            </a:r>
          </a:p>
          <a:p>
            <a:r>
              <a:t>        }</a:t>
            </a:r>
          </a:p>
          <a:p>
            <a:r>
              <a:t>      ],</a:t>
            </a:r>
          </a:p>
          <a:p>
            <a:r>
              <a:t>      "published_or_updated_at": "2026-08",</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"operating_statistics":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"operating_statistics": [],</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"operating_statistics": [],</a:t>
            </a:r>
          </a:p>
          <a:p>
            <a:r>
              <a:t>      "published_or_updated_at": "2025",</a:t>
            </a:r>
          </a:p>
          <a:p>
            <a:r>
              <a:t>      "quantitative_result_approved": null</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"202610",</a:t>
            </a:r>
          </a:p>
          <a:p>
            <a:r>
              <a:t>        "visitors": 4998578.0,</a:t>
            </a:r>
          </a:p>
          <a:p>
            <a:r>
              <a:t>        "is_forecast": true,</a:t>
            </a:r>
          </a:p>
          <a:p>
            <a:r>
              <a:t>        "spending_krw": 79359374710.0,</a:t>
            </a:r>
          </a:p>
          <a:p>
            <a:r>
              <a:t>        "stay_minutes": 1170.0,</a:t>
            </a:r>
          </a:p>
          <a:p>
            <a:r>
              <a:t>        "lodging_nights": 2.85,</a:t>
            </a:r>
          </a:p>
          <a:p>
            <a:r>
              <a:t>        "lodging_rate_pct": 8.9,</a:t>
            </a:r>
          </a:p>
          <a:p>
            <a:r>
              <a:t>        "lodging_searches": 19187,</a:t>
            </a:r>
          </a:p>
          <a:p>
            <a:r>
              <a:t>        "navigation_searches": 237779,</a:t>
            </a:r>
          </a:p>
          <a:p>
            <a:r>
              <a:t>        "visitor_yoy_percent": 0.99,</a:t>
            </a:r>
          </a:p>
          <a:p>
            <a:r>
              <a:t>        "spending_yoy_percent": 1.54,</a:t>
            </a:r>
          </a:p>
          <a:p>
            <a:r>
              <a:t>        "metric_changes_percent": {</a:t>
            </a:r>
          </a:p>
          <a:p>
            <a:r>
              <a:t>          "stay_minutes": 0.0,</a:t>
            </a:r>
          </a:p>
          <a:p>
            <a:r>
              <a:t>          "lodging_nights": 0.0,</a:t>
            </a:r>
          </a:p>
          <a:p>
            <a:r>
              <a:t>          "lodging_rate_pct": 0.0,</a:t>
            </a:r>
          </a:p>
          <a:p>
            <a:r>
              <a:t>          "lodging_searches": 0.0,</a:t>
            </a:r>
          </a:p>
          <a:p>
            <a:r>
              <a:t>          "navigation_searches": -26.82</a:t>
            </a:r>
          </a:p>
          <a:p>
            <a:r>
              <a:t>        },</a:t>
            </a:r>
          </a:p>
          <a:p>
            <a:r>
              <a:t>        "previous_year_visitors": 4949394,</a:t>
            </a:r>
          </a:p>
          <a:p>
            <a:r>
              <a:t>        "previous_year_spending_krw": 78158272000,</a:t>
            </a:r>
          </a:p>
          <a:p>
            <a:r>
              <a:t>        "previous_year_stay_minutes": 1170.0,</a:t>
            </a:r>
          </a:p>
          <a:p>
            <a:r>
              <a:t>        "previous_year_lodging_nights": 2.85,</a:t>
            </a:r>
          </a:p>
          <a:p>
            <a:r>
              <a:t>        "previous_year_lodging_rate_pct": 8.9,</a:t>
            </a:r>
          </a:p>
          <a:p>
            <a:r>
              <a:t>        "previous_year_lodging_searches": 19187,</a:t>
            </a:r>
          </a:p>
          <a:p>
            <a:r>
              <a:t>        "previous_year_navigation_searches": 324902</a:t>
            </a:r>
          </a:p>
          <a:p>
            <a:r>
              <a:t>      },</a:t>
            </a:r>
          </a:p>
          <a:p>
            <a:r>
              <a:t>      {</a:t>
            </a:r>
          </a:p>
          <a:p>
            <a:r>
              <a:t>        "month": "202611",</a:t>
            </a:r>
          </a:p>
          <a:p>
            <a:r>
              <a:t>        "visitors": 4940348.0,</a:t>
            </a:r>
          </a:p>
          <a:p>
            <a:r>
              <a:t>        "is_forecast": true,</a:t>
            </a:r>
          </a:p>
          <a:p>
            <a:r>
              <a:t>        "spending_krw": 85971975908.0,</a:t>
            </a:r>
          </a:p>
          <a:p>
            <a:r>
              <a:t>        "stay_minutes": 987.0,</a:t>
            </a:r>
          </a:p>
          <a:p>
            <a:r>
              <a:t>        "lodging_nights": 2.79,</a:t>
            </a:r>
          </a:p>
          <a:p>
            <a:r>
              <a:t>        "lodging_rate_pct": 6.5,</a:t>
            </a:r>
          </a:p>
          <a:p>
            <a:r>
              <a:t>        "lodging_searches": 14379,</a:t>
            </a:r>
          </a:p>
          <a:p>
            <a:r>
              <a:t>        "navigation_searches": 231894,</a:t>
            </a:r>
          </a:p>
          <a:p>
            <a:r>
              <a:t>        "visitor_yoy_percent": -4.4,</a:t>
            </a:r>
          </a:p>
          <a:p>
            <a:r>
              <a:t>        "spending_yoy_percent": 12.37,</a:t>
            </a:r>
          </a:p>
          <a:p>
            <a:r>
              <a:t>        "metric_changes_percent": {</a:t>
            </a:r>
          </a:p>
          <a:p>
            <a:r>
              <a:t>          "stay_minutes": 0.0,</a:t>
            </a:r>
          </a:p>
          <a:p>
            <a:r>
              <a:t>          "lodging_nights": 0.0,</a:t>
            </a:r>
          </a:p>
          <a:p>
            <a:r>
              <a:t>          "lodging_rate_pct": 0.0,</a:t>
            </a:r>
          </a:p>
          <a:p>
            <a:r>
              <a:t>          "lodging_searches": 0.0,</a:t>
            </a:r>
          </a:p>
          <a:p>
            <a:r>
              <a:t>          "navigation_searches": -2.86</a:t>
            </a:r>
          </a:p>
          <a:p>
            <a:r>
              <a:t>        },</a:t>
            </a:r>
          </a:p>
          <a:p>
            <a:r>
              <a:t>        "previous_year_visitors": 5167969,</a:t>
            </a:r>
          </a:p>
          <a:p>
            <a:r>
              <a:t>        "previous_year_spending_krw": 76509918000,</a:t>
            </a:r>
          </a:p>
          <a:p>
            <a:r>
              <a:t>        "previous_year_stay_minutes": 987.0,</a:t>
            </a:r>
          </a:p>
          <a:p>
            <a:r>
              <a:t>        "previous_year_lodging_nights": 2.79,</a:t>
            </a:r>
          </a:p>
          <a:p>
            <a:r>
              <a:t>        "previous_year_lodging_rate_pct": 6.5,</a:t>
            </a:r>
          </a:p>
          <a:p>
            <a:r>
              <a:t>        "previous_year_lodging_searches": 14379,</a:t>
            </a:r>
          </a:p>
          <a:p>
            <a:r>
              <a:t>        "previous_year_navigation_searches": 238728</a:t>
            </a:r>
          </a:p>
          <a:p>
            <a:r>
              <a:t>      },</a:t>
            </a:r>
          </a:p>
          <a:p>
            <a:r>
              <a:t>      {</a:t>
            </a:r>
          </a:p>
          <a:p>
            <a:r>
              <a:t>        "month": "202612",</a:t>
            </a:r>
          </a:p>
          <a:p>
            <a:r>
              <a:t>        "visitors": 4989633.0,</a:t>
            </a:r>
          </a:p>
          <a:p>
            <a:r>
              <a:t>        "is_forecast": true,</a:t>
            </a:r>
          </a:p>
          <a:p>
            <a:r>
              <a:t>        "spending_krw": 81033922052.0,</a:t>
            </a:r>
          </a:p>
          <a:p>
            <a:r>
              <a:t>        "stay_minutes": 1118.0,</a:t>
            </a:r>
          </a:p>
          <a:p>
            <a:r>
              <a:t>        "lodging_nights": 2.81,</a:t>
            </a:r>
          </a:p>
          <a:p>
            <a:r>
              <a:t>        "lodging_rate_pct": 7.3,</a:t>
            </a:r>
          </a:p>
          <a:p>
            <a:r>
              <a:t>        "lodging_searches": 12004,</a:t>
            </a:r>
          </a:p>
          <a:p>
            <a:r>
              <a:t>        "navigation_searches": 225518,</a:t>
            </a:r>
          </a:p>
          <a:p>
            <a:r>
              <a:t>        "visitor_yoy_percent": -1.77,</a:t>
            </a:r>
          </a:p>
          <a:p>
            <a:r>
              <a:t>        "spending_yoy_percent": -0.11,</a:t>
            </a:r>
          </a:p>
          <a:p>
            <a:r>
              <a:t>        "metric_changes_percent": {</a:t>
            </a:r>
          </a:p>
          <a:p>
            <a:r>
              <a:t>          "stay_minutes": 0.0,</a:t>
            </a:r>
          </a:p>
          <a:p>
            <a:r>
              <a:t>          "lodging_nights": 0.0,</a:t>
            </a:r>
          </a:p>
          <a:p>
            <a:r>
              <a:t>          "lodging_rate_pct": 0.0,</a:t>
            </a:r>
          </a:p>
          <a:p>
            <a:r>
              <a:t>          "lodging_searches": 0.0,</a:t>
            </a:r>
          </a:p>
          <a:p>
            <a:r>
              <a:t>          "navigation_searches": 2.41</a:t>
            </a:r>
          </a:p>
          <a:p>
            <a:r>
              <a:t>        },</a:t>
            </a:r>
          </a:p>
          <a:p>
            <a:r>
              <a:t>        "previous_year_visitors": 5079597,</a:t>
            </a:r>
          </a:p>
          <a:p>
            <a:r>
              <a:t>        "previous_year_spending_krw": 81119852000,</a:t>
            </a:r>
          </a:p>
          <a:p>
            <a:r>
              <a:t>        "previous_year_stay_minutes": 1118.0,</a:t>
            </a:r>
          </a:p>
          <a:p>
            <a:r>
              <a:t>        "previous_year_lodging_nights": 2.81,</a:t>
            </a:r>
          </a:p>
          <a:p>
            <a:r>
              <a:t>        "previous_year_lodging_rate_pct": 7.3,</a:t>
            </a:r>
          </a:p>
          <a:p>
            <a:r>
              <a:t>        "previous_year_lodging_searches": 12004,</a:t>
            </a:r>
          </a:p>
          <a:p>
            <a:r>
              <a:t>        "previous_year_navigation_searches": 220205</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4982887,</a:t>
            </a:r>
          </a:p>
          <a:p>
            <a:r>
              <a:t>      "is_forecast": true,</a:t>
            </a:r>
          </a:p>
          <a:p>
            <a:r>
              <a:t>      "spending_krw": 80283647550,</a:t>
            </a:r>
          </a:p>
          <a:p>
            <a:r>
              <a:t>      "stay_minutes": 1223.0,</a:t>
            </a:r>
          </a:p>
          <a:p>
            <a:r>
              <a:t>      "lodging_nights": 2.91,</a:t>
            </a:r>
          </a:p>
          <a:p>
            <a:r>
              <a:t>      "lodging_rate_pct": 7.3,</a:t>
            </a:r>
          </a:p>
          <a:p>
            <a:r>
              <a:t>      "lodging_searches": 12843,</a:t>
            </a:r>
          </a:p>
          <a:p>
            <a:r>
              <a:t>      "navigation_searches": 209722,</a:t>
            </a:r>
          </a:p>
          <a:p>
            <a:r>
              <a:t>      "visitor_yoy_percent": 0.64,</a:t>
            </a:r>
          </a:p>
          <a:p>
            <a:r>
              <a:t>      "spending_yoy_percent": 6.85,</a:t>
            </a:r>
          </a:p>
          <a:p>
            <a:r>
              <a:t>      "metric_changes_percent": {</a:t>
            </a:r>
          </a:p>
          <a:p>
            <a:r>
              <a:t>        "stay_minutes": 0.0,</a:t>
            </a:r>
          </a:p>
          <a:p>
            <a:r>
              <a:t>        "lodging_nights": 0.0,</a:t>
            </a:r>
          </a:p>
          <a:p>
            <a:r>
              <a:t>        "lodging_rate_pct": 0.0,</a:t>
            </a:r>
          </a:p>
          <a:p>
            <a:r>
              <a:t>        "lodging_searches": 0.0,</a:t>
            </a:r>
          </a:p>
          <a:p>
            <a:r>
              <a:t>        "navigation_searches": -0.44</a:t>
            </a:r>
          </a:p>
          <a:p>
            <a:r>
              <a:t>      },</a:t>
            </a:r>
          </a:p>
          <a:p>
            <a:r>
              <a:t>      "previous_year_visitors": 4951150,</a:t>
            </a:r>
          </a:p>
          <a:p>
            <a:r>
              <a:t>      "previous_year_spending_krw": 75135145000,</a:t>
            </a:r>
          </a:p>
          <a:p>
            <a:r>
              <a:t>      "previous_year_stay_minutes": 1223.0,</a:t>
            </a:r>
          </a:p>
          <a:p>
            <a:r>
              <a:t>      "previous_year_lodging_nights": 2.91,</a:t>
            </a:r>
          </a:p>
          <a:p>
            <a:r>
              <a:t>      "previous_year_lodging_rate_pct": 7.3,</a:t>
            </a:r>
          </a:p>
          <a:p>
            <a:r>
              <a:t>      "previous_year_lodging_searches": 12843,</a:t>
            </a:r>
          </a:p>
          <a:p>
            <a:r>
              <a:t>      "previous_year_navigation_searches": 210646</a:t>
            </a:r>
          </a:p>
          <a:p>
            <a:r>
              <a:t>    },</a:t>
            </a:r>
          </a:p>
          <a:p>
            <a:r>
              <a:t>    {</a:t>
            </a:r>
          </a:p>
          <a:p>
            <a:r>
              <a:t>      "month": "202608",</a:t>
            </a:r>
          </a:p>
          <a:p>
            <a:r>
              <a:t>      "visitors": 4852547,</a:t>
            </a:r>
          </a:p>
          <a:p>
            <a:r>
              <a:t>      "is_forecast": true,</a:t>
            </a:r>
          </a:p>
          <a:p>
            <a:r>
              <a:t>      "spending_krw": 76665340753,</a:t>
            </a:r>
          </a:p>
          <a:p>
            <a:r>
              <a:t>      "stay_minutes": 1218.0,</a:t>
            </a:r>
          </a:p>
          <a:p>
            <a:r>
              <a:t>      "lodging_nights": 2.84,</a:t>
            </a:r>
          </a:p>
          <a:p>
            <a:r>
              <a:t>      "lodging_rate_pct": 7.9,</a:t>
            </a:r>
          </a:p>
          <a:p>
            <a:r>
              <a:t>      "lodging_searches": 13272,</a:t>
            </a:r>
          </a:p>
          <a:p>
            <a:r>
              <a:t>      "navigation_searches": 225159,</a:t>
            </a:r>
          </a:p>
          <a:p>
            <a:r>
              <a:t>      "visitor_yoy_percent": -1.76,</a:t>
            </a:r>
          </a:p>
          <a:p>
            <a:r>
              <a:t>      "spending_yoy_percent": 0.49,</a:t>
            </a:r>
          </a:p>
          <a:p>
            <a:r>
              <a:t>      "metric_changes_percent": {</a:t>
            </a:r>
          </a:p>
          <a:p>
            <a:r>
              <a:t>        "stay_minutes": 0.0,</a:t>
            </a:r>
          </a:p>
          <a:p>
            <a:r>
              <a:t>        "lodging_nights": 0.0,</a:t>
            </a:r>
          </a:p>
          <a:p>
            <a:r>
              <a:t>        "lodging_rate_pct": 0.0,</a:t>
            </a:r>
          </a:p>
          <a:p>
            <a:r>
              <a:t>        "lodging_searches": 0.0,</a:t>
            </a:r>
          </a:p>
          <a:p>
            <a:r>
              <a:t>        "navigation_searches": 2.0</a:t>
            </a:r>
          </a:p>
          <a:p>
            <a:r>
              <a:t>      },</a:t>
            </a:r>
          </a:p>
          <a:p>
            <a:r>
              <a:t>      "previous_year_visitors": 4939438,</a:t>
            </a:r>
          </a:p>
          <a:p>
            <a:r>
              <a:t>      "previous_year_spending_krw": 76291079000,</a:t>
            </a:r>
          </a:p>
          <a:p>
            <a:r>
              <a:t>      "previous_year_stay_minutes": 1218.0,</a:t>
            </a:r>
          </a:p>
          <a:p>
            <a:r>
              <a:t>      "previous_year_lodging_nights": 2.84,</a:t>
            </a:r>
          </a:p>
          <a:p>
            <a:r>
              <a:t>      "previous_year_lodging_rate_pct": 7.9,</a:t>
            </a:r>
          </a:p>
          <a:p>
            <a:r>
              <a:t>      "previous_year_lodging_searches": 13272,</a:t>
            </a:r>
          </a:p>
          <a:p>
            <a:r>
              <a:t>      "previous_year_navigation_searches": 220742</a:t>
            </a:r>
          </a:p>
          <a:p>
            <a:r>
              <a:t>    },</a:t>
            </a:r>
          </a:p>
          <a:p>
            <a:r>
              <a:t>    {</a:t>
            </a:r>
          </a:p>
          <a:p>
            <a:r>
              <a:t>      "month": "202609",</a:t>
            </a:r>
          </a:p>
          <a:p>
            <a:r>
              <a:t>      "visitors": 4823300,</a:t>
            </a:r>
          </a:p>
          <a:p>
            <a:r>
              <a:t>      "is_forecast": true,</a:t>
            </a:r>
          </a:p>
          <a:p>
            <a:r>
              <a:t>      "spending_krw": 80194062490,</a:t>
            </a:r>
          </a:p>
          <a:p>
            <a:r>
              <a:t>      "stay_minutes": 1281.0,</a:t>
            </a:r>
          </a:p>
          <a:p>
            <a:r>
              <a:t>      "lodging_nights": 2.93,</a:t>
            </a:r>
          </a:p>
          <a:p>
            <a:r>
              <a:t>      "lodging_rate_pct": 6.7,</a:t>
            </a:r>
          </a:p>
          <a:p>
            <a:r>
              <a:t>      "lodging_searches": 11464,</a:t>
            </a:r>
          </a:p>
          <a:p>
            <a:r>
              <a:t>      "navigation_searches": 206180,</a:t>
            </a:r>
          </a:p>
          <a:p>
            <a:r>
              <a:t>      "visitor_yoy_percent": -0.39,</a:t>
            </a:r>
          </a:p>
          <a:p>
            <a:r>
              <a:t>      "spending_yoy_percent": 13.32,</a:t>
            </a:r>
          </a:p>
          <a:p>
            <a:r>
              <a:t>      "metric_changes_percent": {</a:t>
            </a:r>
          </a:p>
          <a:p>
            <a:r>
              <a:t>        "stay_minutes": 0.0,</a:t>
            </a:r>
          </a:p>
          <a:p>
            <a:r>
              <a:t>        "lodging_nights": 0.0,</a:t>
            </a:r>
          </a:p>
          <a:p>
            <a:r>
              <a:t>        "lodging_rate_pct": 0.0,</a:t>
            </a:r>
          </a:p>
          <a:p>
            <a:r>
              <a:t>        "lodging_searches": 0.0,</a:t>
            </a:r>
          </a:p>
          <a:p>
            <a:r>
              <a:t>        "navigation_searches": 7.4</a:t>
            </a:r>
          </a:p>
          <a:p>
            <a:r>
              <a:t>      },</a:t>
            </a:r>
          </a:p>
          <a:p>
            <a:r>
              <a:t>      "previous_year_visitors": 4842196,</a:t>
            </a:r>
          </a:p>
          <a:p>
            <a:r>
              <a:t>      "previous_year_spending_krw": 70764730000,</a:t>
            </a:r>
          </a:p>
          <a:p>
            <a:r>
              <a:t>      "previous_year_stay_minutes": 1281.0,</a:t>
            </a:r>
          </a:p>
          <a:p>
            <a:r>
              <a:t>      "previous_year_lodging_nights": 2.93,</a:t>
            </a:r>
          </a:p>
          <a:p>
            <a:r>
              <a:t>      "previous_year_lodging_rate_pct": 6.7,</a:t>
            </a:r>
          </a:p>
          <a:p>
            <a:r>
              <a:t>      "previous_year_lodging_searches": 11464,</a:t>
            </a:r>
          </a:p>
          <a:p>
            <a:r>
              <a:t>      "previous_year_navigation_searches": 191971</a:t>
            </a:r>
          </a:p>
          <a:p>
            <a:r>
              <a:t>    },</a:t>
            </a:r>
          </a:p>
          <a:p>
            <a:r>
              <a:t>    {</a:t>
            </a:r>
          </a:p>
          <a:p>
            <a:r>
              <a:t>      "month": "202610",</a:t>
            </a:r>
          </a:p>
          <a:p>
            <a:r>
              <a:t>      "visitors": 4998578,</a:t>
            </a:r>
          </a:p>
          <a:p>
            <a:r>
              <a:t>      "is_forecast": true,</a:t>
            </a:r>
          </a:p>
          <a:p>
            <a:r>
              <a:t>      "spending_krw": 79359374710,</a:t>
            </a:r>
          </a:p>
          <a:p>
            <a:r>
              <a:t>      "stay_minutes": 1170.0,</a:t>
            </a:r>
          </a:p>
          <a:p>
            <a:r>
              <a:t>      "lodging_nights": 2.85,</a:t>
            </a:r>
          </a:p>
          <a:p>
            <a:r>
              <a:t>      "lodging_rate_pct": 8.9,</a:t>
            </a:r>
          </a:p>
          <a:p>
            <a:r>
              <a:t>      "lodging_searches": 19187,</a:t>
            </a:r>
          </a:p>
          <a:p>
            <a:r>
              <a:t>      "navigation_searches": 237779,</a:t>
            </a:r>
          </a:p>
          <a:p>
            <a:r>
              <a:t>      "visitor_yoy_percent": 0.99,</a:t>
            </a:r>
          </a:p>
          <a:p>
            <a:r>
              <a:t>      "spending_yoy_percent": 1.54,</a:t>
            </a:r>
          </a:p>
          <a:p>
            <a:r>
              <a:t>      "metric_changes_percent": {</a:t>
            </a:r>
          </a:p>
          <a:p>
            <a:r>
              <a:t>        "stay_minutes": 0.0,</a:t>
            </a:r>
          </a:p>
          <a:p>
            <a:r>
              <a:t>        "lodging_nights": 0.0,</a:t>
            </a:r>
          </a:p>
          <a:p>
            <a:r>
              <a:t>        "lodging_rate_pct": 0.0,</a:t>
            </a:r>
          </a:p>
          <a:p>
            <a:r>
              <a:t>        "lodging_searches": 0.0,</a:t>
            </a:r>
          </a:p>
          <a:p>
            <a:r>
              <a:t>        "navigation_searches": -26.82</a:t>
            </a:r>
          </a:p>
          <a:p>
            <a:r>
              <a:t>      },</a:t>
            </a:r>
          </a:p>
          <a:p>
            <a:r>
              <a:t>      "previous_year_visitors": 4949394,</a:t>
            </a:r>
          </a:p>
          <a:p>
            <a:r>
              <a:t>      "previous_year_spending_krw": 78158272000,</a:t>
            </a:r>
          </a:p>
          <a:p>
            <a:r>
              <a:t>      "previous_year_stay_minutes": 1170.0,</a:t>
            </a:r>
          </a:p>
          <a:p>
            <a:r>
              <a:t>      "previous_year_lodging_nights": 2.85,</a:t>
            </a:r>
          </a:p>
          <a:p>
            <a:r>
              <a:t>      "previous_year_lodging_rate_pct": 8.9,</a:t>
            </a:r>
          </a:p>
          <a:p>
            <a:r>
              <a:t>      "previous_year_lodging_searches": 19187,</a:t>
            </a:r>
          </a:p>
          <a:p>
            <a:r>
              <a:t>      "previous_year_navigation_searches": 324902</a:t>
            </a:r>
          </a:p>
          <a:p>
            <a:r>
              <a:t>    },</a:t>
            </a:r>
          </a:p>
          <a:p>
            <a:r>
              <a:t>    {</a:t>
            </a:r>
          </a:p>
          <a:p>
            <a:r>
              <a:t>      "month": "202611",</a:t>
            </a:r>
          </a:p>
          <a:p>
            <a:r>
              <a:t>      "visitors": 4940348,</a:t>
            </a:r>
          </a:p>
          <a:p>
            <a:r>
              <a:t>      "is_forecast": true,</a:t>
            </a:r>
          </a:p>
          <a:p>
            <a:r>
              <a:t>      "spending_krw": 85971975908,</a:t>
            </a:r>
          </a:p>
          <a:p>
            <a:r>
              <a:t>      "stay_minutes": 987.0,</a:t>
            </a:r>
          </a:p>
          <a:p>
            <a:r>
              <a:t>      "lodging_nights": 2.79,</a:t>
            </a:r>
          </a:p>
          <a:p>
            <a:r>
              <a:t>      "lodging_rate_pct": 6.5,</a:t>
            </a:r>
          </a:p>
          <a:p>
            <a:r>
              <a:t>      "lodging_searches": 14379,</a:t>
            </a:r>
          </a:p>
          <a:p>
            <a:r>
              <a:t>      "navigation_searches": 231894,</a:t>
            </a:r>
          </a:p>
          <a:p>
            <a:r>
              <a:t>      "visitor_yoy_percent": -4.4,</a:t>
            </a:r>
          </a:p>
          <a:p>
            <a:r>
              <a:t>      "spending_yoy_percent": 12.37,</a:t>
            </a:r>
          </a:p>
          <a:p>
            <a:r>
              <a:t>      "metric_changes_percent": {</a:t>
            </a:r>
          </a:p>
          <a:p>
            <a:r>
              <a:t>        "stay_minutes": 0.0,</a:t>
            </a:r>
          </a:p>
          <a:p>
            <a:r>
              <a:t>        "lodging_nights": 0.0,</a:t>
            </a:r>
          </a:p>
          <a:p>
            <a:r>
              <a:t>        "lodging_rate_pct": 0.0,</a:t>
            </a:r>
          </a:p>
          <a:p>
            <a:r>
              <a:t>        "lodging_searches": 0.0,</a:t>
            </a:r>
          </a:p>
          <a:p>
            <a:r>
              <a:t>        "navigation_searches": -2.86</a:t>
            </a:r>
          </a:p>
          <a:p>
            <a:r>
              <a:t>      },</a:t>
            </a:r>
          </a:p>
          <a:p>
            <a:r>
              <a:t>      "previous_year_visitors": 5167969,</a:t>
            </a:r>
          </a:p>
          <a:p>
            <a:r>
              <a:t>      "previous_year_spending_krw": 76509918000,</a:t>
            </a:r>
          </a:p>
          <a:p>
            <a:r>
              <a:t>      "previous_year_stay_minutes": 987.0,</a:t>
            </a:r>
          </a:p>
          <a:p>
            <a:r>
              <a:t>      "previous_year_lodging_nights": 2.79,</a:t>
            </a:r>
          </a:p>
          <a:p>
            <a:r>
              <a:t>      "previous_year_lodging_rate_pct": 6.5,</a:t>
            </a:r>
          </a:p>
          <a:p>
            <a:r>
              <a:t>      "previous_year_lodging_searches": 14379,</a:t>
            </a:r>
          </a:p>
          <a:p>
            <a:r>
              <a:t>      "previous_year_navigation_searches": 238728</a:t>
            </a:r>
          </a:p>
          <a:p>
            <a:r>
              <a:t>    },</a:t>
            </a:r>
          </a:p>
          <a:p>
            <a:r>
              <a:t>    {</a:t>
            </a:r>
          </a:p>
          <a:p>
            <a:r>
              <a:t>      "month": "202612",</a:t>
            </a:r>
          </a:p>
          <a:p>
            <a:r>
              <a:t>      "visitors": 4989633,</a:t>
            </a:r>
          </a:p>
          <a:p>
            <a:r>
              <a:t>      "is_forecast": true,</a:t>
            </a:r>
          </a:p>
          <a:p>
            <a:r>
              <a:t>      "spending_krw": 81033922052,</a:t>
            </a:r>
          </a:p>
          <a:p>
            <a:r>
              <a:t>      "stay_minutes": 1118.0,</a:t>
            </a:r>
          </a:p>
          <a:p>
            <a:r>
              <a:t>      "lodging_nights": 2.81,</a:t>
            </a:r>
          </a:p>
          <a:p>
            <a:r>
              <a:t>      "lodging_rate_pct": 7.3,</a:t>
            </a:r>
          </a:p>
          <a:p>
            <a:r>
              <a:t>      "lodging_searches": 12004,</a:t>
            </a:r>
          </a:p>
          <a:p>
            <a:r>
              <a:t>      "navigation_searches": 225518,</a:t>
            </a:r>
          </a:p>
          <a:p>
            <a:r>
              <a:t>      "visitor_yoy_percent": -1.77,</a:t>
            </a:r>
          </a:p>
          <a:p>
            <a:r>
              <a:t>      "spending_yoy_percent": -0.11,</a:t>
            </a:r>
          </a:p>
          <a:p>
            <a:r>
              <a:t>      "metric_changes_percent": {</a:t>
            </a:r>
          </a:p>
          <a:p>
            <a:r>
              <a:t>        "stay_minutes": 0.0,</a:t>
            </a:r>
          </a:p>
          <a:p>
            <a:r>
              <a:t>        "lodging_nights": 0.0,</a:t>
            </a:r>
          </a:p>
          <a:p>
            <a:r>
              <a:t>        "lodging_rate_pct": 0.0,</a:t>
            </a:r>
          </a:p>
          <a:p>
            <a:r>
              <a:t>        "lodging_searches": 0.0,</a:t>
            </a:r>
          </a:p>
          <a:p>
            <a:r>
              <a:t>        "navigation_searches": 2.41</a:t>
            </a:r>
          </a:p>
          <a:p>
            <a:r>
              <a:t>      },</a:t>
            </a:r>
          </a:p>
          <a:p>
            <a:r>
              <a:t>      "previous_year_visitors": 5079597,</a:t>
            </a:r>
          </a:p>
          <a:p>
            <a:r>
              <a:t>      "previous_year_spending_krw": 81119852000,</a:t>
            </a:r>
          </a:p>
          <a:p>
            <a:r>
              <a:t>      "previous_year_stay_minutes": 1118.0,</a:t>
            </a:r>
          </a:p>
          <a:p>
            <a:r>
              <a:t>      "previous_year_lodging_nights": 2.81,</a:t>
            </a:r>
          </a:p>
          <a:p>
            <a:r>
              <a:t>      "previous_year_lodging_rate_pct": 7.3,</a:t>
            </a:r>
          </a:p>
          <a:p>
            <a:r>
              <a:t>      "previous_year_lodging_searches": 12004,</a:t>
            </a:r>
          </a:p>
          <a:p>
            <a:r>
              <a:t>      "previous_year_navigation_searches": 220205</a:t>
            </a:r>
          </a:p>
          <a:p>
            <a:r>
              <a:t>    }</a:t>
            </a:r>
          </a:p>
          <a:p>
            <a:r>
              <a:t>  ],</a:t>
            </a:r>
          </a:p>
          <a:p>
            <a:r>
              <a:t>  "evaluation": {</a:t>
            </a:r>
          </a:p>
          <a:p>
            <a:r>
              <a:t>    "metrics": {</a:t>
            </a:r>
          </a:p>
          <a:p>
            <a:r>
              <a:t>      "visitors": {</a:t>
            </a:r>
          </a:p>
          <a:p>
            <a:r>
              <a:t>        "test_mae": 237105.53,</a:t>
            </a:r>
          </a:p>
          <a:p>
            <a:r>
              <a:t>        "recursive_mae": {</a:t>
            </a:r>
          </a:p>
          <a:p>
            <a:r>
              <a:t>          "1": {</a:t>
            </a:r>
          </a:p>
          <a:p>
            <a:r>
              <a:t>            "baseline": 211072,</a:t>
            </a:r>
          </a:p>
          <a:p>
            <a:r>
              <a:t>            "selected": 332727,</a:t>
            </a:r>
          </a:p>
          <a:p>
            <a:r>
              <a:t>            "sample_count": 2</a:t>
            </a:r>
          </a:p>
          <a:p>
            <a:r>
              <a:t>          },</a:t>
            </a:r>
          </a:p>
          <a:p>
            <a:r>
              <a:t>          "2": {</a:t>
            </a:r>
          </a:p>
          <a:p>
            <a:r>
              <a:t>            "baseline": 97043,</a:t>
            </a:r>
          </a:p>
          <a:p>
            <a:r>
              <a:t>            "selected": 141143.5,</a:t>
            </a:r>
          </a:p>
          <a:p>
            <a:r>
              <a:t>            "sample_count": 2</a:t>
            </a:r>
          </a:p>
          <a:p>
            <a:r>
              <a:t>          },</a:t>
            </a:r>
          </a:p>
          <a:p>
            <a:r>
              <a:t>          "3": {</a:t>
            </a:r>
          </a:p>
          <a:p>
            <a:r>
              <a:t>            "baseline": 174799,</a:t>
            </a:r>
          </a:p>
          <a:p>
            <a:r>
              <a:t>            "selected": 168591.5,</a:t>
            </a:r>
          </a:p>
          <a:p>
            <a:r>
              <a:t>            "sample_count": 2</a:t>
            </a:r>
          </a:p>
          <a:p>
            <a:r>
              <a:t>          }</a:t>
            </a:r>
          </a:p>
          <a:p>
            <a:r>
              <a:t>        },</a:t>
            </a:r>
          </a:p>
          <a:p>
            <a:r>
              <a:t>        "selected_model": "RandomForestRegressor",</a:t>
            </a:r>
          </a:p>
          <a:p>
            <a:r>
              <a:t>        "baseline_test_mae": 192935.5,</a:t>
            </a:r>
          </a:p>
          <a:p>
            <a:r>
              <a:t>        "model_reliability": "below_baseline_on_test",</a:t>
            </a:r>
          </a:p>
          <a:p>
            <a:r>
              <a:t>        "beats_baseline_on_test": false,</a:t>
            </a:r>
          </a:p>
          <a:p>
            <a:r>
              <a:t>        "recursive_horizons_worse_than_baseline": [</a:t>
            </a:r>
          </a:p>
          <a:p>
            <a:r>
              <a:t>          "1",</a:t>
            </a:r>
          </a:p>
          <a:p>
            <a:r>
              <a:t>          "2"</a:t>
            </a:r>
          </a:p>
          <a:p>
            <a:r>
              <a:t>        ]</a:t>
            </a:r>
          </a:p>
          <a:p>
            <a:r>
              <a:t>      },</a:t>
            </a:r>
          </a:p>
          <a:p>
            <a:r>
              <a:t>      "spending_krw": {</a:t>
            </a:r>
          </a:p>
          <a:p>
            <a:r>
              <a:t>        "test_mae": 4927867951.9,</a:t>
            </a:r>
          </a:p>
          <a:p>
            <a:r>
              <a:t>        "recursive_mae": {</a:t>
            </a:r>
          </a:p>
          <a:p>
            <a:r>
              <a:t>          "1": {</a:t>
            </a:r>
          </a:p>
          <a:p>
            <a:r>
              <a:t>            "baseline": 1944140500,</a:t>
            </a:r>
          </a:p>
          <a:p>
            <a:r>
              <a:t>            "selected": 3237755191,</a:t>
            </a:r>
          </a:p>
          <a:p>
            <a:r>
              <a:t>            "sample_count": 2</a:t>
            </a:r>
          </a:p>
          <a:p>
            <a:r>
              <a:t>          },</a:t>
            </a:r>
          </a:p>
          <a:p>
            <a:r>
              <a:t>          "2": {</a:t>
            </a:r>
          </a:p>
          <a:p>
            <a:r>
              <a:t>            "baseline": 3984052500,</a:t>
            </a:r>
          </a:p>
          <a:p>
            <a:r>
              <a:t>            "selected": 1581504765.5,</a:t>
            </a:r>
          </a:p>
          <a:p>
            <a:r>
              <a:t>            "sample_count": 2</a:t>
            </a:r>
          </a:p>
          <a:p>
            <a:r>
              <a:t>          },</a:t>
            </a:r>
          </a:p>
          <a:p>
            <a:r>
              <a:t>          "3": {</a:t>
            </a:r>
          </a:p>
          <a:p>
            <a:r>
              <a:t>            "baseline": 2878173500,</a:t>
            </a:r>
          </a:p>
          <a:p>
            <a:r>
              <a:t>            "selected": 4493524184.5,</a:t>
            </a:r>
          </a:p>
          <a:p>
            <a:r>
              <a:t>            "sample_count": 2</a:t>
            </a:r>
          </a:p>
          <a:p>
            <a:r>
              <a:t>          }</a:t>
            </a:r>
          </a:p>
          <a:p>
            <a:r>
              <a:t>        },</a:t>
            </a:r>
          </a:p>
          <a:p>
            <a:r>
              <a:t>        "selected_model": "LinearRegression",</a:t>
            </a:r>
          </a:p>
          <a:p>
            <a:r>
              <a:t>        "baseline_test_mae": 2411157000,</a:t>
            </a:r>
          </a:p>
          <a:p>
            <a:r>
              <a:t>        "model_reliability": "below_baseline_on_test",</a:t>
            </a:r>
          </a:p>
          <a:p>
            <a:r>
              <a:t>        "beats_baseline_on_test": false,</a:t>
            </a:r>
          </a:p>
          <a:p>
            <a:r>
              <a:t>        "recursive_horizons_worse_than_baseline": [</a:t>
            </a:r>
          </a:p>
          <a:p>
            <a:r>
              <a:t>          "1",</a:t>
            </a:r>
          </a:p>
          <a:p>
            <a:r>
              <a:t>          "3"</a:t>
            </a:r>
          </a:p>
          <a:p>
            <a:r>
              <a:t>        ]</a:t>
            </a:r>
          </a:p>
          <a:p>
            <a:r>
              <a:t>      },</a:t>
            </a:r>
          </a:p>
          <a:p>
            <a:r>
              <a:t>      "stay_minutes": {</a:t>
            </a:r>
          </a:p>
          <a:p>
            <a:r>
              <a:t>        "test_mae": 113.5,</a:t>
            </a:r>
          </a:p>
          <a:p>
            <a:r>
              <a:t>        "recursive_mae": {</a:t>
            </a:r>
          </a:p>
          <a:p>
            <a:r>
              <a:t>          "1": {</a:t>
            </a:r>
          </a:p>
          <a:p>
            <a:r>
              <a:t>            "baseline": 52,</a:t>
            </a:r>
          </a:p>
          <a:p>
            <a:r>
              <a:t>            "selected": 52,</a:t>
            </a:r>
          </a:p>
          <a:p>
            <a:r>
              <a:t>            "sample_count": 2</a:t>
            </a:r>
          </a:p>
          <a:p>
            <a:r>
              <a:t>          },</a:t>
            </a:r>
          </a:p>
          <a:p>
            <a:r>
              <a:t>          "2": {</a:t>
            </a:r>
          </a:p>
          <a:p>
            <a:r>
              <a:t>            "baseline": 218.5,</a:t>
            </a:r>
          </a:p>
          <a:p>
            <a:r>
              <a:t>            "selected": 218.5,</a:t>
            </a:r>
          </a:p>
          <a:p>
            <a:r>
              <a:t>            "sample_count": 2</a:t>
            </a:r>
          </a:p>
          <a:p>
            <a:r>
              <a:t>          },</a:t>
            </a:r>
          </a:p>
          <a:p>
            <a:r>
              <a:t>          "3": {</a:t>
            </a:r>
          </a:p>
          <a:p>
            <a:r>
              <a:t>            "baseline": 175,</a:t>
            </a:r>
          </a:p>
          <a:p>
            <a:r>
              <a:t>            "selected": 175,</a:t>
            </a:r>
          </a:p>
          <a:p>
            <a:r>
              <a:t>            "sample_count": 2</a:t>
            </a:r>
          </a:p>
          <a:p>
            <a:r>
              <a:t>          }</a:t>
            </a:r>
          </a:p>
          <a:p>
            <a:r>
              <a:t>        },</a:t>
            </a:r>
          </a:p>
          <a:p>
            <a:r>
              <a:t>        "selected_model": "seasonal_naive_previous_year_same_month",</a:t>
            </a:r>
          </a:p>
          <a:p>
            <a:r>
              <a:t>        "baseline_test_mae": 113.5,</a:t>
            </a:r>
          </a:p>
          <a:p>
            <a:r>
              <a:t>        "model_reliability": "seasonal_baseline",</a:t>
            </a:r>
          </a:p>
          <a:p>
            <a:r>
              <a:t>        "beats_baseline_on_test": false,</a:t>
            </a:r>
          </a:p>
          <a:p>
            <a:r>
              <a:t>        "recursive_horizons_worse_than_baseline": []</a:t>
            </a:r>
          </a:p>
          <a:p>
            <a:r>
              <a:t>      },</a:t>
            </a:r>
          </a:p>
          <a:p>
            <a:r>
              <a:t>      "lodging_nights": {</a:t>
            </a:r>
          </a:p>
          <a:p>
            <a:r>
              <a:t>        "test_mae": 0.07,</a:t>
            </a:r>
          </a:p>
          <a:p>
            <a:r>
              <a:t>        "recursive_mae": {</a:t>
            </a:r>
          </a:p>
          <a:p>
            <a:r>
              <a:t>          "1": {</a:t>
            </a:r>
          </a:p>
          <a:p>
            <a:r>
              <a:t>            "baseline": 0.06,</a:t>
            </a:r>
          </a:p>
          <a:p>
            <a:r>
              <a:t>            "selected": 0.06,</a:t>
            </a:r>
          </a:p>
          <a:p>
            <a:r>
              <a:t>            "sample_count": 2</a:t>
            </a:r>
          </a:p>
          <a:p>
            <a:r>
              <a:t>          },</a:t>
            </a:r>
          </a:p>
          <a:p>
            <a:r>
              <a:t>          "2": {</a:t>
            </a:r>
          </a:p>
          <a:p>
            <a:r>
              <a:t>            "baseline": 0.11,</a:t>
            </a:r>
          </a:p>
          <a:p>
            <a:r>
              <a:t>            "selected": 0.11,</a:t>
            </a:r>
          </a:p>
          <a:p>
            <a:r>
              <a:t>            "sample_count": 2</a:t>
            </a:r>
          </a:p>
          <a:p>
            <a:r>
              <a:t>          },</a:t>
            </a:r>
          </a:p>
          <a:p>
            <a:r>
              <a:t>          "3": {</a:t>
            </a:r>
          </a:p>
          <a:p>
            <a:r>
              <a:t>            "baseline": 0.08,</a:t>
            </a:r>
          </a:p>
          <a:p>
            <a:r>
              <a:t>            "selected": 0.08,</a:t>
            </a:r>
          </a:p>
          <a:p>
            <a:r>
              <a:t>            "sample_count": 2</a:t>
            </a:r>
          </a:p>
          <a:p>
            <a:r>
              <a:t>          }</a:t>
            </a:r>
          </a:p>
          <a:p>
            <a:r>
              <a:t>        },</a:t>
            </a:r>
          </a:p>
          <a:p>
            <a:r>
              <a:t>        "selected_model": "seasonal_naive_previous_year_same_month",</a:t>
            </a:r>
          </a:p>
          <a:p>
            <a:r>
              <a:t>        "baseline_test_mae": 0.07,</a:t>
            </a:r>
          </a:p>
          <a:p>
            <a:r>
              <a:t>        "model_reliability": "seasonal_baseline",</a:t>
            </a:r>
          </a:p>
          <a:p>
            <a:r>
              <a:t>        "beats_baseline_on_test": false,</a:t>
            </a:r>
          </a:p>
          <a:p>
            <a:r>
              <a:t>        "recursive_horizons_worse_than_baseline": []</a:t>
            </a:r>
          </a:p>
          <a:p>
            <a:r>
              <a:t>      },</a:t>
            </a:r>
          </a:p>
          <a:p>
            <a:r>
              <a:t>      "lodging_rate_pct": {</a:t>
            </a:r>
          </a:p>
          <a:p>
            <a:r>
              <a:t>        "test_mae": 0.3,</a:t>
            </a:r>
          </a:p>
          <a:p>
            <a:r>
              <a:t>        "recursive_mae": {</a:t>
            </a:r>
          </a:p>
          <a:p>
            <a:r>
              <a:t>          "1": {</a:t>
            </a:r>
          </a:p>
          <a:p>
            <a:r>
              <a:t>            "baseline": 0.4,</a:t>
            </a:r>
          </a:p>
          <a:p>
            <a:r>
              <a:t>            "selected": 0.4,</a:t>
            </a:r>
          </a:p>
          <a:p>
            <a:r>
              <a:t>            "sample_count": 2</a:t>
            </a:r>
          </a:p>
          <a:p>
            <a:r>
              <a:t>          },</a:t>
            </a:r>
          </a:p>
          <a:p>
            <a:r>
              <a:t>          "2": {</a:t>
            </a:r>
          </a:p>
          <a:p>
            <a:r>
              <a:t>            "baseline": 0.2,</a:t>
            </a:r>
          </a:p>
          <a:p>
            <a:r>
              <a:t>            "selected": 0.2,</a:t>
            </a:r>
          </a:p>
          <a:p>
            <a:r>
              <a:t>            "sample_count": 2</a:t>
            </a:r>
          </a:p>
          <a:p>
            <a:r>
              <a:t>          },</a:t>
            </a:r>
          </a:p>
          <a:p>
            <a:r>
              <a:t>          "3": {</a:t>
            </a:r>
          </a:p>
          <a:p>
            <a:r>
              <a:t>            "baseline": 0.2,</a:t>
            </a:r>
          </a:p>
          <a:p>
            <a:r>
              <a:t>            "selected": 0.2,</a:t>
            </a:r>
          </a:p>
          <a:p>
            <a:r>
              <a:t>            "sample_count": 2</a:t>
            </a:r>
          </a:p>
          <a:p>
            <a:r>
              <a:t>          }</a:t>
            </a:r>
          </a:p>
          <a:p>
            <a:r>
              <a:t>        },</a:t>
            </a:r>
          </a:p>
          <a:p>
            <a:r>
              <a:t>        "selected_model": "seasonal_naive_previous_year_same_month",</a:t>
            </a:r>
          </a:p>
          <a:p>
            <a:r>
              <a:t>        "baseline_test_mae": 0.3,</a:t>
            </a:r>
          </a:p>
          <a:p>
            <a:r>
              <a:t>        "model_reliability": "seasonal_baseline",</a:t>
            </a:r>
          </a:p>
          <a:p>
            <a:r>
              <a:t>        "beats_baseline_on_test": false,</a:t>
            </a:r>
          </a:p>
          <a:p>
            <a:r>
              <a:t>        "recursive_horizons_worse_than_baseline": []</a:t>
            </a:r>
          </a:p>
          <a:p>
            <a:r>
              <a:t>      },</a:t>
            </a:r>
          </a:p>
          <a:p>
            <a:r>
              <a:t>      "lodging_searches": {</a:t>
            </a:r>
          </a:p>
          <a:p>
            <a:r>
              <a:t>        "test_mae": 526.5,</a:t>
            </a:r>
          </a:p>
          <a:p>
            <a:r>
              <a:t>        "recursive_mae": {</a:t>
            </a:r>
          </a:p>
          <a:p>
            <a:r>
              <a:t>          "1": {</a:t>
            </a:r>
          </a:p>
          <a:p>
            <a:r>
              <a:t>            "baseline": 779,</a:t>
            </a:r>
          </a:p>
          <a:p>
            <a:r>
              <a:t>            "selected": 779,</a:t>
            </a:r>
          </a:p>
          <a:p>
            <a:r>
              <a:t>            "sample_count": 2</a:t>
            </a:r>
          </a:p>
          <a:p>
            <a:r>
              <a:t>          },</a:t>
            </a:r>
          </a:p>
          <a:p>
            <a:r>
              <a:t>          "2": {</a:t>
            </a:r>
          </a:p>
          <a:p>
            <a:r>
              <a:t>            "baseline": 391.5,</a:t>
            </a:r>
          </a:p>
          <a:p>
            <a:r>
              <a:t>            "selected": 391.5,</a:t>
            </a:r>
          </a:p>
          <a:p>
            <a:r>
              <a:t>            "sample_count": 2</a:t>
            </a:r>
          </a:p>
          <a:p>
            <a:r>
              <a:t>          },</a:t>
            </a:r>
          </a:p>
          <a:p>
            <a:r>
              <a:t>          "3": {</a:t>
            </a:r>
          </a:p>
          <a:p>
            <a:r>
              <a:t>            "baseline": 274,</a:t>
            </a:r>
          </a:p>
          <a:p>
            <a:r>
              <a:t>            "selected": 274,</a:t>
            </a:r>
          </a:p>
          <a:p>
            <a:r>
              <a:t>            "sample_count": 2</a:t>
            </a:r>
          </a:p>
          <a:p>
            <a:r>
              <a:t>          }</a:t>
            </a:r>
          </a:p>
          <a:p>
            <a:r>
              <a:t>        },</a:t>
            </a:r>
          </a:p>
          <a:p>
            <a:r>
              <a:t>        "selected_model": "seasonal_naive_previous_year_same_month",</a:t>
            </a:r>
          </a:p>
          <a:p>
            <a:r>
              <a:t>        "baseline_test_mae": 526.5,</a:t>
            </a:r>
          </a:p>
          <a:p>
            <a:r>
              <a:t>        "model_reliability": "seasonal_baseline",</a:t>
            </a:r>
          </a:p>
          <a:p>
            <a:r>
              <a:t>        "beats_baseline_on_test": false,</a:t>
            </a:r>
          </a:p>
          <a:p>
            <a:r>
              <a:t>        "recursive_horizons_worse_than_baseline": []</a:t>
            </a:r>
          </a:p>
          <a:p>
            <a:r>
              <a:t>      },</a:t>
            </a:r>
          </a:p>
          <a:p>
            <a:r>
              <a:t>      "navigation_searches": {</a:t>
            </a:r>
          </a:p>
          <a:p>
            <a:r>
              <a:t>        "test_mae": 20482.57,</a:t>
            </a:r>
          </a:p>
          <a:p>
            <a:r>
              <a:t>        "recursive_mae": {</a:t>
            </a:r>
          </a:p>
          <a:p>
            <a:r>
              <a:t>          "1": {</a:t>
            </a:r>
          </a:p>
          <a:p>
            <a:r>
              <a:t>            "baseline": 9487,</a:t>
            </a:r>
          </a:p>
          <a:p>
            <a:r>
              <a:t>            "selected": 20785,</a:t>
            </a:r>
          </a:p>
          <a:p>
            <a:r>
              <a:t>            "sample_count": 2</a:t>
            </a:r>
          </a:p>
          <a:p>
            <a:r>
              <a:t>          },</a:t>
            </a:r>
          </a:p>
          <a:p>
            <a:r>
              <a:t>          "2": {</a:t>
            </a:r>
          </a:p>
          <a:p>
            <a:r>
              <a:t>            "baseline": 6758.5,</a:t>
            </a:r>
          </a:p>
          <a:p>
            <a:r>
              <a:t>            "selected": 14198,</a:t>
            </a:r>
          </a:p>
          <a:p>
            <a:r>
              <a:t>            "sample_count": 2</a:t>
            </a:r>
          </a:p>
          <a:p>
            <a:r>
              <a:t>          },</a:t>
            </a:r>
          </a:p>
          <a:p>
            <a:r>
              <a:t>          "3": {</a:t>
            </a:r>
          </a:p>
          <a:p>
            <a:r>
              <a:t>            "baseline": 14633,</a:t>
            </a:r>
          </a:p>
          <a:p>
            <a:r>
              <a:t>            "selected": 18839,</a:t>
            </a:r>
          </a:p>
          <a:p>
            <a:r>
              <a:t>            "sample_count": 2</a:t>
            </a:r>
          </a:p>
          <a:p>
            <a:r>
              <a:t>          }</a:t>
            </a:r>
          </a:p>
          <a:p>
            <a:r>
              <a:t>        },</a:t>
            </a:r>
          </a:p>
          <a:p>
            <a:r>
              <a:t>        "selected_model": "RandomForestRegressor",</a:t>
            </a:r>
          </a:p>
          <a:p>
            <a:r>
              <a:t>        "baseline_test_mae": 12060,</a:t>
            </a:r>
          </a:p>
          <a:p>
            <a:r>
              <a:t>        "model_reliability": "below_baseline_on_test",</a:t>
            </a:r>
          </a:p>
          <a:p>
            <a:r>
              <a:t>        "beats_baseline_on_test": false,</a:t>
            </a:r>
          </a:p>
          <a:p>
            <a:r>
              <a:t>        "recursive_horizons_worse_than_baseline": [</a:t>
            </a:r>
          </a:p>
          <a:p>
            <a:r>
              <a:t>          "1",</a:t>
            </a:r>
          </a:p>
          <a:p>
            <a:r>
              <a:t>          "2",</a:t>
            </a:r>
          </a:p>
          <a:p>
            <a:r>
              <a:t>          "3"</a:t>
            </a:r>
          </a:p>
          <a:p>
            <a:r>
              <a:t>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6,</a:t>
            </a:r>
          </a:p>
          <a:p>
            <a:r>
              <a:t>    "recursive_backtest_horizon_months": [</a:t>
            </a:r>
          </a:p>
          <a:p>
            <a:r>
              <a:t>      1,</a:t>
            </a:r>
          </a:p>
          <a:p>
            <a:r>
              <a:t>      2,</a:t>
            </a:r>
          </a:p>
          <a:p>
            <a:r>
              <a:t>      3</a:t>
            </a:r>
          </a:p>
          <a:p>
            <a:r>
              <a:t>    ]</a:t>
            </a:r>
          </a:p>
          <a:p>
            <a:r>
              <a:t>  },</a:t>
            </a:r>
          </a:p>
          <a:p>
            <a:r>
              <a:t>  "execution_scenario": {</a:t>
            </a:r>
          </a:p>
          <a:p>
            <a:r>
              <a:t>    "visitor_target_pct": 0.019303448467232462,</a:t>
            </a:r>
          </a:p>
          <a:p>
            <a:r>
              <a:t>    "spending_target_pct": 0.04151694433378397,</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"총 예산 = Σ min(적격 결제액 × 가정 환급률, 건별 상한액). (기획 가정/미확정 견적)",</a:t>
            </a:r>
          </a:p>
          <a:p>
            <a:r>
              <a:t>        "본문 기준"</a:t>
            </a:r>
          </a:p>
          <a:p>
            <a:r>
              <a:t>      ]</a:t>
            </a:r>
          </a:p>
          <a:p>
            <a:r>
              <a:t>    ],</a:t>
            </a:r>
          </a:p>
          <a:p>
            <a:r>
              <a:t>    "original_text": "총 예산 = Σ min(적격 결제액 × 가정 환급률, 건별 상한액). (기획 가정/미확정 견적)",</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"method": "operation-document-v2",</a:t>
            </a:r>
          </a:p>
          <a:p xmlns:a="http://schemas.openxmlformats.org/drawingml/2006/main">
            <a:r>
              <a:t>  "sources": [</a:t>
            </a:r>
          </a:p>
          <a:p xmlns:a="http://schemas.openxmlformats.org/drawingml/2006/main">
            <a:r>
              <a:t>    {</a:t>
            </a:r>
          </a:p>
          <a:p xmlns:a="http://schemas.openxmlformats.org/drawingml/2006/main">
            <a:r>
              <a:t>      "title": "귀촌 '원조 반값'은 다르다… 강진서 전국 확산 '체류 관광 도시'",</a:t>
            </a:r>
          </a:p>
          <a:p xmlns:a="http://schemas.openxmlformats.org/drawingml/2006/main">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xmlns:a="http://schemas.openxmlformats.org/drawingml/2006/main">
            <a:r>
              <a:t>      "source_id": "case:58c0694a3e85d8",</a:t>
            </a:r>
          </a:p>
          <a:p xmlns:a="http://schemas.openxmlformats.org/drawingml/2006/main">
            <a:r>
              <a:t>      "source_url": "https://jnfarm.jeonnam.go.kr/board/FARM_BOARD_008/boardView.do?bdId=BD_00000000000015383&amp;menuCd=farm004002",</a:t>
            </a:r>
          </a:p>
          <a:p xmlns:a="http://schemas.openxmlformats.org/drawingml/2006/main">
            <a:r>
              <a:t>      "case_region": "전라남도 강진군",</a:t>
            </a:r>
          </a:p>
          <a:p xmlns:a="http://schemas.openxmlformats.org/drawingml/2006/main">
            <a:r>
              <a:t>      "source_type": "benchmark_case",</a:t>
            </a:r>
          </a:p>
          <a:p xmlns:a="http://schemas.openxmlformats.org/drawingml/2006/main">
            <a:r>
              <a:t>      "intervention": "강진 반값여행: 여행 지출 증빙 후 모바일 지역상품권 환급",</a:t>
            </a:r>
          </a:p>
          <a:p xmlns:a="http://schemas.openxmlformats.org/drawingml/2006/main">
            <a:r>
              <a:t>      "document_type": null,</a:t>
            </a:r>
          </a:p>
          <a:p xmlns:a="http://schemas.openxmlformats.org/drawingml/2006/main">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xmlns:a="http://schemas.openxmlformats.org/drawingml/2006/main">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"2026년 사업 개시 후 2026-05-19까지 누적 집행·방문·결제 실적",</a:t>
            </a:r>
          </a:p>
          <a:p xmlns:a="http://schemas.openxmlformats.org/drawingml/2006/main">
            <a:r>
              <a:t>      "transfer_conditions": [</a:t>
            </a:r>
          </a:p>
          <a:p xmlns:a="http://schemas.openxmlformats.org/drawingml/2006/main">
            <a:r>
              <a:t>        "대전 서구 내 환급 대상 업종, 가맹점, 증빙 가능 결제수단을 사전에 확정해야 한다.",</a:t>
            </a:r>
          </a:p>
          <a:p xmlns:a="http://schemas.openxmlformats.org/drawingml/2006/main">
            <a:r>
              <a:t>        "모바일 지역화폐 발급·정산기관, 부정수급 점검, 중복수혜 방지 절차가 필요하다.",</a:t>
            </a:r>
          </a:p>
          <a:p xmlns:a="http://schemas.openxmlformats.org/drawingml/2006/main">
            <a:r>
              <a:t>        "예산 미정 상태에서는 전면 환급이 아니라 특정 기간·업종·인원에 한정한 실증으로 축소해야 한다.",</a:t>
            </a:r>
          </a:p>
          <a:p xmlns:a="http://schemas.openxmlformats.org/drawingml/2006/main">
            <a:r>
              <a:t>        "기존 방문객 보조와 추가 방문을 구분하려면 방문 동기, 미지원 비교군, 환급 전후 추가 결제를 조사해야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"team",</a:t>
            </a:r>
          </a:p>
          <a:p xmlns:a="http://schemas.openxmlformats.org/drawingml/2006/main">
            <a:r>
              <a:t>          "quote": "1만6292팀이 실제 강진을 찾았다.",</a:t>
            </a:r>
          </a:p>
          <a:p xmlns:a="http://schemas.openxmlformats.org/drawingml/2006/main">
            <a:r>
              <a:t>          "scope": "사전신청자 중 실제 강진 방문 확인 팀",</a:t>
            </a:r>
          </a:p>
          <a:p xmlns:a="http://schemas.openxmlformats.org/drawingml/2006/main">
            <a:r>
              <a:t>          "value": 16292,</a:t>
            </a:r>
          </a:p>
          <a:p xmlns:a="http://schemas.openxmlformats.org/drawingml/2006/main">
            <a:r>
              <a:t>          "metric": "participants",</a:t>
            </a:r>
          </a:p>
          <a:p xmlns:a="http://schemas.openxmlformats.org/drawingml/2006/main">
            <a:r>
              <a:t>          "period": "2026-05-19 누적",</a:t>
            </a:r>
          </a:p>
          <a:p xmlns:a="http://schemas.openxmlformats.org/drawingml/2006/main">
            <a:r>
              <a:t>          "program_name": "강진 반값여행",</a:t>
            </a:r>
          </a:p>
          <a:p xmlns:a="http://schemas.openxmlformats.org/drawingml/2006/main">
            <a:r>
              <a:t>          "capacity_count": null,</a:t>
            </a:r>
          </a:p>
          <a:p xmlns:a="http://schemas.openxmlformats.org/drawingml/2006/main">
            <a:r>
              <a:t>          "participant_count": 16292</a:t>
            </a:r>
          </a:p>
          <a:p xmlns:a="http://schemas.openxmlformats.org/drawingml/2006/main">
            <a:r>
              <a:t>        },</a:t>
            </a:r>
          </a:p>
          <a:p xmlns:a="http://schemas.openxmlformats.org/drawingml/2006/main">
            <a:r>
              <a:t>        {</a:t>
            </a:r>
          </a:p>
          <a:p xmlns:a="http://schemas.openxmlformats.org/drawingml/2006/main">
            <a:r>
              <a:t>          "unit": "KRW",</a:t>
            </a:r>
          </a:p>
          <a:p xmlns:a="http://schemas.openxmlformats.org/drawingml/2006/main">
            <a:r>
              <a:t>          "quote": "지역 내 소비액은 총 49억7000만원",</a:t>
            </a:r>
          </a:p>
          <a:p xmlns:a="http://schemas.openxmlformats.org/drawingml/2006/main">
            <a:r>
              <a:t>          "scope": "사업 등록 관광객의 강진 지역 내 소비액",</a:t>
            </a:r>
          </a:p>
          <a:p xmlns:a="http://schemas.openxmlformats.org/drawingml/2006/main">
            <a:r>
              <a:t>          "value": 4970000000,</a:t>
            </a:r>
          </a:p>
          <a:p xmlns:a="http://schemas.openxmlformats.org/drawingml/2006/main">
            <a:r>
              <a:t>          "metric": "participant_spending",</a:t>
            </a:r>
          </a:p>
          <a:p xmlns:a="http://schemas.openxmlformats.org/drawingml/2006/main">
            <a:r>
              <a:t>          "period": "2026-05-19 누적",</a:t>
            </a:r>
          </a:p>
          <a:p xmlns:a="http://schemas.openxmlformats.org/drawingml/2006/main">
            <a:r>
              <a:t>          "program_name": "강진 반값여행",</a:t>
            </a:r>
          </a:p>
          <a:p xmlns:a="http://schemas.openxmlformats.org/drawingml/2006/main">
            <a:r>
              <a:t>          "capacity_count": null,</a:t>
            </a:r>
          </a:p>
          <a:p xmlns:a="http://schemas.openxmlformats.org/drawingml/2006/main">
            <a:r>
              <a:t>          "participant_count": 16292</a:t>
            </a:r>
          </a:p>
          <a:p xmlns:a="http://schemas.openxmlformats.org/drawingml/2006/main">
            <a:r>
              <a:t>        }</a:t>
            </a:r>
          </a:p>
          <a:p xmlns:a="http://schemas.openxmlformats.org/drawingml/2006/main">
            <a:r>
              <a:t>      ],</a:t>
            </a:r>
          </a:p>
          <a:p xmlns:a="http://schemas.openxmlformats.org/drawingml/2006/main">
            <a:r>
              <a:t>      "published_or_updated_at": "2026-05-29",</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"한국관광 데이터랩 · 안동탈춤축제 연도별 방문자 추이",</a:t>
            </a:r>
          </a:p>
          <a:p xmlns:a="http://schemas.openxmlformats.org/drawingml/2006/main">
            <a:r>
              <a:t>      "summary": "경상북도 안동시 · 2025 안동탈춤축제: 10일간 집중 운영한 공연·문화형 축제 · 2024→2025년 전체 504,573→554,494명 (+9.89%). 개최 10→10일, 일평균 +9.89%, 외지인 +10.75%.",</a:t>
            </a:r>
          </a:p>
          <a:p xmlns:a="http://schemas.openxmlformats.org/drawingml/2006/main">
            <a:r>
              <a:t>      "source_id": "case:41508ca81cf29f",</a:t>
            </a:r>
          </a:p>
          <a:p xmlns:a="http://schemas.openxmlformats.org/drawingml/2006/main">
            <a:r>
              <a:t>      "source_url": "https://datalab.visitkorea.or.kr/",</a:t>
            </a:r>
          </a:p>
          <a:p xmlns:a="http://schemas.openxmlformats.org/drawingml/2006/main">
            <a:r>
              <a:t>      "case_region": "경상북도 안동시",</a:t>
            </a:r>
          </a:p>
          <a:p xmlns:a="http://schemas.openxmlformats.org/drawingml/2006/main">
            <a:r>
              <a:t>      "source_type": "benchmark_case",</a:t>
            </a:r>
          </a:p>
          <a:p xmlns:a="http://schemas.openxmlformats.org/drawingml/2006/main">
            <a:r>
              <a:t>      "dataset_hash": "ad20e3daf70fd44fd481d672398c07bb9c96fce77acb450784065a568735e2e2",</a:t>
            </a:r>
          </a:p>
          <a:p xmlns:a="http://schemas.openxmlformats.org/drawingml/2006/main">
            <a:r>
              <a:t>      "intervention": "2025 안동탈춤축제: 10일간 집중 운영한 공연·문화형 축제",</a:t>
            </a:r>
          </a:p>
          <a:p xmlns:a="http://schemas.openxmlformats.org/drawingml/2006/main">
            <a:r>
              <a:t>      "source_files": [</a:t>
            </a:r>
          </a:p>
          <a:p xmlns:a="http://schemas.openxmlformats.org/drawingml/2006/main">
            <a:r>
              <a:t>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"c0b34e003112bda1f5afa06dcb153cc870d61730036ef23f1b3e7aed39ca5458",</a:t>
            </a:r>
          </a:p>
          <a:p xmlns:a="http://schemas.openxmlformats.org/drawingml/2006/main">
            <a:r>
              <a:t>          "provider": "한국관광 데이터랩",</a:t>
            </a:r>
          </a:p>
          <a:p xmlns:a="http://schemas.openxmlformats.org/drawingml/2006/main">
            <a:r>
              <a:t>          "file_name": "20260820175023_안동탈춤축제_성_연령별 내국인 방문자.csv",</a:t>
            </a:r>
          </a:p>
          <a:p xmlns:a="http://schemas.openxmlformats.org/drawingml/2006/main">
            <a:r>
              <a:t>          "source_id": "festival-file:c0b34e003112bda1f5af",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"40ddabd2e46fcb12bc9cc2361174e1a5ebe80f169611896b6d4b5e60d9fda352",</a:t>
            </a:r>
          </a:p>
          <a:p xmlns:a="http://schemas.openxmlformats.org/drawingml/2006/main">
            <a:r>
              <a:t>          "provider": "한국관광 데이터랩",</a:t>
            </a:r>
          </a:p>
          <a:p xmlns:a="http://schemas.openxmlformats.org/drawingml/2006/main">
            <a:r>
              <a:t>          "file_name": "20260820175023_안동탈춤축제_문화관광축제 주요 지표.csv",</a:t>
            </a:r>
          </a:p>
          <a:p xmlns:a="http://schemas.openxmlformats.org/drawingml/2006/main">
            <a:r>
              <a:t>          "source_id": "festival-file:40ddabd2e46fcb12bc9c",</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"11de7e20288dde00f7f18e353a24b5a95c511a7dc354ec9cc2c7a3a2436712f6",</a:t>
            </a:r>
          </a:p>
          <a:p xmlns:a="http://schemas.openxmlformats.org/drawingml/2006/main">
            <a:r>
              <a:t>          "provider": "한국관광 데이터랩",</a:t>
            </a:r>
          </a:p>
          <a:p xmlns:a="http://schemas.openxmlformats.org/drawingml/2006/main">
            <a:r>
              <a:t>          "file_name": "20260820175023_안동탈춤축제_목적지 검색순위.csv",</a:t>
            </a:r>
          </a:p>
          <a:p xmlns:a="http://schemas.openxmlformats.org/drawingml/2006/main">
            <a:r>
              <a:t>          "source_id": "festival-file:11de7e20288dde00f7f1",</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"document_type": null,</a:t>
            </a:r>
          </a:p>
          <a:p xmlns:a="http://schemas.openxmlformats.org/drawingml/2006/main">
            <a:r>
              <a:t>      "evidence_kind": "festival_document_and_statistics",</a:t>
            </a:r>
          </a:p>
          <a:p xmlns:a="http://schemas.openxmlformats.org/drawingml/2006/main">
            <a:r>
              <a:t>      "observed_result": "2024→2025년 전체 504,573→554,494명 (+9.89%). 개최 10→10일, 일평균 +9.89%, 외지인 +10.75%.",</a:t>
            </a:r>
          </a:p>
          <a:p xmlns:a="http://schemas.openxmlformats.org/drawingml/2006/main">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xmlns:a="http://schemas.openxmlformats.org/drawingml/2006/main">
            <a:r>
              <a:t>      "retrieval_basis": {</a:t>
            </a:r>
          </a:p>
          <a:p xmlns:a="http://schemas.openxmlformats.org/drawingml/2006/main">
            <a:r>
              <a:t>        "kind": "external_benchmark",</a:t>
            </a:r>
          </a:p>
          <a:p xmlns:a="http://schemas.openxmlformats.org/drawingml/2006/main">
            <a:r>
              <a:t>        "rule": "함수 기반 조사 우선순위. 사업효과·인구/환경 유사도 점수가 아니며 소비·체류 개선은 조사 가설이다.",</a:t>
            </a:r>
          </a:p>
          <a:p xmlns:a="http://schemas.openxmlformats.org/drawingml/2006/main">
            <a:r>
              <a:t>        "score": 31,</a:t>
            </a:r>
          </a:p>
          <a:p xmlns:a="http://schemas.openxmlformats.org/drawingml/2006/main">
            <a:r>
              <a:t>        "theme": "공연·문화",</a:t>
            </a:r>
          </a:p>
          <a:p xmlns:a="http://schemas.openxmlformats.org/drawingml/2006/main">
            <a:r>
              <a:t>        "components": {</a:t>
            </a:r>
          </a:p>
          <a:p xmlns:a="http://schemas.openxmlformats.org/drawingml/2006/main">
            <a:r>
              <a:t>          "최근 개최연도": 6,</a:t>
            </a:r>
          </a:p>
          <a:p xmlns:a="http://schemas.openxmlformats.org/drawingml/2006/main">
            <a:r>
              <a:t>          "방문 실적 비교 가능": 10,</a:t>
            </a:r>
          </a:p>
          <a:p xmlns:a="http://schemas.openxmlformats.org/drawingml/2006/main">
            <a:r>
              <a:t>          "방문 전망 조사: 외지인·일평균 동반 증가": 15</a:t>
            </a:r>
          </a:p>
          <a:p xmlns:a="http://schemas.openxmlformats.org/drawingml/2006/main">
            <a:r>
              <a:t>        },</a:t>
            </a:r>
          </a:p>
          <a:p xmlns:a="http://schemas.openxmlformats.org/drawingml/2006/main">
            <a:r>
              <a:t>        "priority_signal": "visit"</a:t>
            </a:r>
          </a:p>
          <a:p xmlns:a="http://schemas.openxmlformats.org/drawingml/2006/main">
            <a:r>
              <a:t>      },</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"2024년과 2025년 각 축제 10일 개최기간 비교",</a:t>
            </a:r>
          </a:p>
          <a:p xmlns:a="http://schemas.openxmlformats.org/drawingml/2006/main">
            <a:r>
              <a:t>      "festival_statistics": {</a:t>
            </a:r>
          </a:p>
          <a:p xmlns:a="http://schemas.openxmlformats.org/drawingml/2006/main">
            <a:r>
              <a:t>        "name": "안동탈춤축제",</a:t>
            </a:r>
          </a:p>
          <a:p xmlns:a="http://schemas.openxmlformats.org/drawingml/2006/main">
            <a:r>
              <a:t>        "scope": "축제 관측구역 방문 지표. 도시 전체·순증 관광객·입장권 실구매자 수가 아님.",</a:t>
            </a:r>
          </a:p>
          <a:p xmlns:a="http://schemas.openxmlformats.org/drawingml/2006/main">
            <a:r>
              <a:t>        "annual": [</a:t>
            </a:r>
          </a:p>
          <a:p xmlns:a="http://schemas.openxmlformats.org/drawingml/2006/main">
            <a:r>
              <a:t>          {</a:t>
            </a:r>
          </a:p>
          <a:p xmlns:a="http://schemas.openxmlformats.org/drawingml/2006/main">
            <a:r>
              <a:t>            "days": 8,</a:t>
            </a:r>
          </a:p>
          <a:p xmlns:a="http://schemas.openxmlformats.org/drawingml/2006/main">
            <a:r>
              <a:t>            "year": 2023,</a:t>
            </a:r>
          </a:p>
          <a:p xmlns:a="http://schemas.openxmlformats.org/drawingml/2006/main">
            <a:r>
              <a:t>            "daily": 45517.125,</a:t>
            </a:r>
          </a:p>
          <a:p xmlns:a="http://schemas.openxmlformats.org/drawingml/2006/main">
            <a:r>
              <a:t>            "local": 233513,</a:t>
            </a:r>
          </a:p>
          <a:p xmlns:a="http://schemas.openxmlformats.org/drawingml/2006/main">
            <a:r>
              <a:t>            "total": 364137,</a:t>
            </a:r>
          </a:p>
          <a:p xmlns:a="http://schemas.openxmlformats.org/drawingml/2006/main">
            <a:r>
              <a:t>            "foreign": 3319,</a:t>
            </a:r>
          </a:p>
          <a:p xmlns:a="http://schemas.openxmlformats.org/drawingml/2006/main">
            <a:r>
              <a:t>            "outside": 127305,</a:t>
            </a:r>
          </a:p>
          <a:p xmlns:a="http://schemas.openxmlformats.org/drawingml/2006/main">
            <a:r>
              <a:t>            "outside_daily": 15913.125,</a:t>
            </a:r>
          </a:p>
          <a:p xmlns:a="http://schemas.openxmlformats.org/drawingml/2006/main">
            <a:r>
              <a:t>            "outside_share_pct": 34.960742797353745</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2024,</a:t>
            </a:r>
          </a:p>
          <a:p xmlns:a="http://schemas.openxmlformats.org/drawingml/2006/main">
            <a:r>
              <a:t>            "daily": 50457.3,</a:t>
            </a:r>
          </a:p>
          <a:p xmlns:a="http://schemas.openxmlformats.org/drawingml/2006/main">
            <a:r>
              <a:t>            "local": 317925,</a:t>
            </a:r>
          </a:p>
          <a:p xmlns:a="http://schemas.openxmlformats.org/drawingml/2006/main">
            <a:r>
              <a:t>            "total": 504573,</a:t>
            </a:r>
          </a:p>
          <a:p xmlns:a="http://schemas.openxmlformats.org/drawingml/2006/main">
            <a:r>
              <a:t>            "foreign": 4684,</a:t>
            </a:r>
          </a:p>
          <a:p xmlns:a="http://schemas.openxmlformats.org/drawingml/2006/main">
            <a:r>
              <a:t>            "outside": 181964,</a:t>
            </a:r>
          </a:p>
          <a:p xmlns:a="http://schemas.openxmlformats.org/drawingml/2006/main">
            <a:r>
              <a:t>            "outside_daily": 18196.4,</a:t>
            </a:r>
          </a:p>
          <a:p xmlns:a="http://schemas.openxmlformats.org/drawingml/2006/main">
            <a:r>
              <a:t>            "outside_share_pct": 36.06296809381398</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2025,</a:t>
            </a:r>
          </a:p>
          <a:p xmlns:a="http://schemas.openxmlformats.org/drawingml/2006/main">
            <a:r>
              <a:t>            "daily": 55449.4,</a:t>
            </a:r>
          </a:p>
          <a:p xmlns:a="http://schemas.openxmlformats.org/drawingml/2006/main">
            <a:r>
              <a:t>            "local": 347269,</a:t>
            </a:r>
          </a:p>
          <a:p xmlns:a="http://schemas.openxmlformats.org/drawingml/2006/main">
            <a:r>
              <a:t>            "total": 554494,</a:t>
            </a:r>
          </a:p>
          <a:p xmlns:a="http://schemas.openxmlformats.org/drawingml/2006/main">
            <a:r>
              <a:t>            "foreign": 5702,</a:t>
            </a:r>
          </a:p>
          <a:p xmlns:a="http://schemas.openxmlformats.org/drawingml/2006/main">
            <a:r>
              <a:t>            "outside": 201523,</a:t>
            </a:r>
          </a:p>
          <a:p xmlns:a="http://schemas.openxmlformats.org/drawingml/2006/main">
            <a:r>
              <a:t>            "outside_daily": 20152.3,</a:t>
            </a:r>
          </a:p>
          <a:p xmlns:a="http://schemas.openxmlformats.org/drawingml/2006/main">
            <a:r>
              <a:t>            "outside_share_pct": 36.34358532283487</a:t>
            </a:r>
          </a:p>
          <a:p xmlns:a="http://schemas.openxmlformats.org/drawingml/2006/main">
            <a:r>
              <a:t>          }</a:t>
            </a:r>
          </a:p>
          <a:p xmlns:a="http://schemas.openxmlformats.org/drawingml/2006/main">
            <a:r>
              <a:t>        ],</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"안동탈춤축제",</a:t>
            </a:r>
          </a:p>
          <a:p xmlns:a="http://schemas.openxmlformats.org/drawingml/2006/main">
            <a:r>
              <a:t>            "남성비율": "4.4",</a:t>
            </a:r>
          </a:p>
          <a:p xmlns:a="http://schemas.openxmlformats.org/drawingml/2006/main">
            <a:r>
              <a:t>            "여성비율": "5.0"</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"안동탈춤축제",</a:t>
            </a:r>
          </a:p>
          <a:p xmlns:a="http://schemas.openxmlformats.org/drawingml/2006/main">
            <a:r>
              <a:t>            "남성비율": "8.0",</a:t>
            </a:r>
          </a:p>
          <a:p xmlns:a="http://schemas.openxmlformats.org/drawingml/2006/main">
            <a:r>
              <a:t>            "여성비율": "8.5"</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"안동탈춤축제",</a:t>
            </a:r>
          </a:p>
          <a:p xmlns:a="http://schemas.openxmlformats.org/drawingml/2006/main">
            <a:r>
              <a:t>            "남성비율": "9.2",</a:t>
            </a:r>
          </a:p>
          <a:p xmlns:a="http://schemas.openxmlformats.org/drawingml/2006/main">
            <a:r>
              <a:t>            "여성비율": "10.9"</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"안동탈춤축제",</a:t>
            </a:r>
          </a:p>
          <a:p xmlns:a="http://schemas.openxmlformats.org/drawingml/2006/main">
            <a:r>
              <a:t>            "남성비율": "7.5",</a:t>
            </a:r>
          </a:p>
          <a:p xmlns:a="http://schemas.openxmlformats.org/drawingml/2006/main">
            <a:r>
              <a:t>            "여성비율": "7.9"</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"안동탈춤축제",</a:t>
            </a:r>
          </a:p>
          <a:p xmlns:a="http://schemas.openxmlformats.org/drawingml/2006/main">
            <a:r>
              <a:t>            "남성비율": "7.9",</a:t>
            </a:r>
          </a:p>
          <a:p xmlns:a="http://schemas.openxmlformats.org/drawingml/2006/main">
            <a:r>
              <a:t>            "여성비율": "7.2"</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"안동탈춤축제",</a:t>
            </a:r>
          </a:p>
          <a:p xmlns:a="http://schemas.openxmlformats.org/drawingml/2006/main">
            <a:r>
              <a:t>            "남성비율": "7.1",</a:t>
            </a:r>
          </a:p>
          <a:p xmlns:a="http://schemas.openxmlformats.org/drawingml/2006/main">
            <a:r>
              <a:t>            "여성비율": "8.2"</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"안동탈춤축제",</a:t>
            </a:r>
          </a:p>
          <a:p xmlns:a="http://schemas.openxmlformats.org/drawingml/2006/main">
            <a:r>
              <a:t>            "남성비율": "3.2",</a:t>
            </a:r>
          </a:p>
          <a:p xmlns:a="http://schemas.openxmlformats.org/drawingml/2006/main">
            <a:r>
              <a:t>            "여성비율": "3.9"</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"안동탈춤축제",</a:t>
            </a:r>
          </a:p>
          <a:p xmlns:a="http://schemas.openxmlformats.org/drawingml/2006/main">
            <a:r>
              <a:t>            "남성비율": "0.5",</a:t>
            </a:r>
          </a:p>
          <a:p xmlns:a="http://schemas.openxmlformats.org/drawingml/2006/main">
            <a:r>
              <a:t>            "여성비율": "0.7"</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4992.0999999999985</a:t>
            </a:r>
          </a:p>
          <a:p xmlns:a="http://schemas.openxmlformats.org/drawingml/2006/main">
            <a:r>
              <a:t>          },</a:t>
            </a:r>
          </a:p>
          <a:p xmlns:a="http://schemas.openxmlformats.org/drawingml/2006/main">
            <a:r>
              <a:t>          "total":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49921</a:t>
            </a:r>
          </a:p>
          <a:p xmlns:a="http://schemas.openxmlformats.org/drawingml/2006/main">
            <a:r>
              <a:t>          },</a:t>
            </a:r>
          </a:p>
          <a:p xmlns:a="http://schemas.openxmlformats.org/drawingml/2006/main">
            <a:r>
              <a:t>          "outside": {</a:t>
            </a:r>
          </a:p>
          <a:p xmlns:a="http://schemas.openxmlformats.org/drawingml/2006/main">
            <a:r>
              <a:t>            "after": 201523,</a:t>
            </a:r>
          </a:p>
          <a:p xmlns:a="http://schemas.openxmlformats.org/drawingml/2006/main">
            <a:r>
              <a:t>            "before": 181964,</a:t>
            </a:r>
          </a:p>
          <a:p xmlns:a="http://schemas.openxmlformats.org/drawingml/2006/main">
            <a:r>
              <a:t>            "change_pct": 10.748829438790096,</a:t>
            </a:r>
          </a:p>
          <a:p xmlns:a="http://schemas.openxmlformats.org/drawingml/2006/main">
            <a:r>
              <a:t>            "difference": 19559</a:t>
            </a:r>
          </a:p>
          <a:p xmlns:a="http://schemas.openxmlformats.org/drawingml/2006/main">
            <a:r>
              <a:t>          },</a:t>
            </a:r>
          </a:p>
          <a:p xmlns:a="http://schemas.openxmlformats.org/drawingml/2006/main">
            <a:r>
              <a:t>          "after_days": 10,</a:t>
            </a:r>
          </a:p>
          <a:p xmlns:a="http://schemas.openxmlformats.org/drawingml/2006/main">
            <a:r>
              <a:t>          "after_year": 2025,</a:t>
            </a:r>
          </a:p>
          <a:p xmlns:a="http://schemas.openxmlformats.org/drawingml/2006/main">
            <a:r>
              <a:t>          "before_days": 10,</a:t>
            </a:r>
          </a:p>
          <a:p xmlns:a="http://schemas.openxmlformats.org/drawingml/2006/main">
            <a:r>
              <a:t>          "before_year": 2024,</a:t>
            </a:r>
          </a:p>
          <a:p xmlns:a="http://schemas.openxmlformats.org/drawingml/2006/main">
            <a:r>
              <a:t>          "outside_daily": {</a:t>
            </a:r>
          </a:p>
          <a:p xmlns:a="http://schemas.openxmlformats.org/drawingml/2006/main">
            <a:r>
              <a:t>            "after": 20152.3,</a:t>
            </a:r>
          </a:p>
          <a:p xmlns:a="http://schemas.openxmlformats.org/drawingml/2006/main">
            <a:r>
              <a:t>            "before": 18196.4,</a:t>
            </a:r>
          </a:p>
          <a:p xmlns:a="http://schemas.openxmlformats.org/drawingml/2006/main">
            <a:r>
              <a:t>            "change_pct": 10.748829438790075,</a:t>
            </a:r>
          </a:p>
          <a:p xmlns:a="http://schemas.openxmlformats.org/drawingml/2006/main">
            <a:r>
              <a:t>            "difference": 1955.8999999999976</a:t>
            </a:r>
          </a:p>
          <a:p xmlns:a="http://schemas.openxmlformats.org/drawingml/2006/main">
            <a:r>
              <a:t>          }</a:t>
            </a:r>
          </a:p>
          <a:p xmlns:a="http://schemas.openxmlformats.org/drawingml/2006/main">
            <a:r>
              <a:t>        },</a:t>
            </a:r>
          </a:p>
          <a:p xmlns:a="http://schemas.openxmlformats.org/drawingml/2006/main">
            <a:r>
              <a:t>        "source_file":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"region_basis": "목적지 검색 CSV의 시도+시군구 최빈 주소; 행사장 행정경계 확정은 아님",</a:t>
            </a:r>
          </a:p>
          <a:p xmlns:a="http://schemas.openxmlformats.org/drawingml/2006/main">
            <a:r>
              <a:t>        "indicator_rule": "원본 지표값만 보존. 산식·단위 미확인으로 성장률/원화/정원/참여율 변환 금지.",</a:t>
            </a:r>
          </a:p>
          <a:p xmlns:a="http://schemas.openxmlformats.org/drawingml/2006/main">
            <a:r>
              <a:t>        "audience_period": "다운로드 CSV에 연도 열 없음; 최신 개최연도와 자동 결합하지 않음",</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"0.515",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"0.859",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"0.434",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"0.544",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"0.879",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"0.258",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"0.618",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"0.252",</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"0.375",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"0.65",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"안동구시장",</a:t>
            </a:r>
          </a:p>
          <a:p xmlns:a="http://schemas.openxmlformats.org/drawingml/2006/main">
            <a:r>
              <a:t>            "카테고리": "시장",</a:t>
            </a:r>
          </a:p>
          <a:p xmlns:a="http://schemas.openxmlformats.org/drawingml/2006/main">
            <a:r>
              <a:t>            "도로명주소": "경북 안동시 번영1길 47-0"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"안동국제탈춤페스티벌",</a:t>
            </a:r>
          </a:p>
          <a:p xmlns:a="http://schemas.openxmlformats.org/drawingml/2006/main">
            <a:r>
              <a:t>            "카테고리": "기타문화관광지",</a:t>
            </a:r>
          </a:p>
          <a:p xmlns:a="http://schemas.openxmlformats.org/drawingml/2006/main">
            <a:r>
              <a:t>            "도로명주소": "경북 안동시 육사로 239-0"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"탈춤공원",</a:t>
            </a:r>
          </a:p>
          <a:p xmlns:a="http://schemas.openxmlformats.org/drawingml/2006/main">
            <a:r>
              <a:t>            "카테고리": "도시공원",</a:t>
            </a:r>
          </a:p>
          <a:p xmlns:a="http://schemas.openxmlformats.org/drawingml/2006/main">
            <a:r>
              <a:t>            "도로명주소": "경북 안동시 육사로 239-0"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"transfer_conditions": [</a:t>
            </a:r>
          </a:p>
          <a:p xmlns:a="http://schemas.openxmlformats.org/drawingml/2006/main">
            <a:r>
              <a:t>        "대전 서구의 기존 문화·상업시설과 맞는 주제를 새로 선정하고 프로그램·회차·정원을 별도로 설계해야 한다.",</a:t>
            </a:r>
          </a:p>
          <a:p xmlns:a="http://schemas.openxmlformats.org/drawingml/2006/main">
            <a:r>
              <a:t>        "10일 연속 운영보다 고정 일정인 10~12월에 주말 반복형으로 분산하는 방안을 비교해야 한다.",</a:t>
            </a:r>
          </a:p>
          <a:p xmlns:a="http://schemas.openxmlformats.org/drawingml/2006/main">
            <a:r>
              <a:t>        "외지인 관측 증가가 실제 상권 결제로 이어졌는지 확인할 수 있도록 예약·QR·카드 또는 영수증 기반 기록이 필요하다.",</a:t>
            </a:r>
          </a:p>
          <a:p xmlns:a="http://schemas.openxmlformats.org/drawingml/2006/main">
            <a:r>
              <a:t>        "행사장 주변 교통·식음·야간 운영 가능 시설을 현장 확인한 뒤 참여처를 모집해야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"day",</a:t>
            </a:r>
          </a:p>
          <a:p xmlns:a="http://schemas.openxmlformats.org/drawingml/2006/main">
            <a:r>
              <a:t>          "quote": "2025년 10일 개최",</a:t>
            </a:r>
          </a:p>
          <a:p xmlns:a="http://schemas.openxmlformats.org/drawingml/2006/main">
            <a:r>
              <a:t>          "scope": "안동탈춤축제 전체 개최일수",</a:t>
            </a:r>
          </a:p>
          <a:p xmlns:a="http://schemas.openxmlformats.org/drawingml/2006/main">
            <a:r>
              <a:t>          "value": 10,</a:t>
            </a:r>
          </a:p>
          <a:p xmlns:a="http://schemas.openxmlformats.org/drawingml/2006/main">
            <a:r>
              <a:t>          "metric": "operating_days",</a:t>
            </a:r>
          </a:p>
          <a:p xmlns:a="http://schemas.openxmlformats.org/drawingml/2006/main">
            <a:r>
              <a:t>          "period": "2025년 축제 개최기간",</a:t>
            </a:r>
          </a:p>
          <a:p xmlns:a="http://schemas.openxmlformats.org/drawingml/2006/main">
            <a:r>
              <a:t>          "program_name": "안동탈춤축제",</a:t>
            </a:r>
          </a:p>
          <a:p xmlns:a="http://schemas.openxmlformats.org/drawingml/2006/main">
            <a:r>
              <a:t>          "capacity_count": null,</a:t>
            </a:r>
          </a:p>
          <a:p xmlns:a="http://schemas.openxmlformats.org/drawingml/2006/main">
            <a:r>
              <a:t>          "participant_count": null</a:t>
            </a:r>
          </a:p>
          <a:p xmlns:a="http://schemas.openxmlformats.org/drawingml/2006/main">
            <a:r>
              <a:t>        }</a:t>
            </a:r>
          </a:p>
          <a:p xmlns:a="http://schemas.openxmlformats.org/drawingml/2006/main">
            <a:r>
              <a:t>      ],</a:t>
            </a:r>
          </a:p>
          <a:p xmlns:a="http://schemas.openxmlformats.org/drawingml/2006/main">
            <a:r>
              <a:t>      "published_or_updated_at": "2026-08-20",</a:t>
            </a:r>
          </a:p>
          <a:p xmlns:a="http://schemas.openxmlformats.org/drawingml/2006/main">
            <a:r>
              <a:t>      "quantitative_result_approved": true</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xmlns:a="http://schemas.openxmlformats.org/drawingml/2006/main">
            <a:r>
              <a:t>      "source_id": "case:4544b7bca8ebab",</a:t>
            </a:r>
          </a:p>
          <a:p xmlns:a="http://schemas.openxmlformats.org/drawingml/2006/main">
            <a:r>
              <a:t>      "source_url": "https://datalab.visitkorea.or.kr/site/portal/ex/bbs/View.do?bcIdx=311068&amp;cbIdx=1135&amp;pageIndex=1",</a:t>
            </a:r>
          </a:p>
          <a:p xmlns:a="http://schemas.openxmlformats.org/drawingml/2006/main">
            <a:r>
              <a:t>      "case_region": "청주공항과 충청권 주요 관광지 연계 권역",</a:t>
            </a:r>
          </a:p>
          <a:p xmlns:a="http://schemas.openxmlformats.org/drawingml/2006/main">
            <a:r>
              <a:t>      "source_type": "benchmark_case",</a:t>
            </a:r>
          </a:p>
          <a:p xmlns:a="http://schemas.openxmlformats.org/drawingml/2006/main">
            <a:r>
              <a:t>      "intervention": "청주공항·오송역·공주·부여 연계 광역 순환버스 및 수요응답형교통(DRT)",</a:t>
            </a:r>
          </a:p>
          <a:p xmlns:a="http://schemas.openxmlformats.org/drawingml/2006/main">
            <a:r>
              <a:t>      "document_type": null,</a:t>
            </a:r>
          </a:p>
          <a:p xmlns:a="http://schemas.openxmlformats.org/drawingml/2006/main">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xmlns:a="http://schemas.openxmlformats.org/drawingml/2006/main">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"2026-01 ~ 2026-06",</a:t>
            </a:r>
          </a:p>
          <a:p xmlns:a="http://schemas.openxmlformats.org/drawingml/2006/main">
            <a:r>
              <a:t>      "transfer_conditions": [</a:t>
            </a:r>
          </a:p>
          <a:p xmlns:a="http://schemas.openxmlformats.org/drawingml/2006/main">
            <a:r>
              <a:t>        "대전역·복합터미널·청주공항 등 실제 유입 거점과 서구 내 목적지 사이의 이동 수요를 먼저 확인해야 한다.",</a:t>
            </a:r>
          </a:p>
          <a:p xmlns:a="http://schemas.openxmlformats.org/drawingml/2006/main">
            <a:r>
              <a:t>        "고정 노선은 일정 수요가 확인될 때 적용하고, 초기에는 예약형 셔틀·택시·기존 대중교통 이용권 방식도 비교해야 한다.",</a:t>
            </a:r>
          </a:p>
          <a:p xmlns:a="http://schemas.openxmlformats.org/drawingml/2006/main">
            <a:r>
              <a:t>        "운송사업자, 시설 운영자, 예약 플랫폼 간 운행시간·취소·노쇼·안전 책임 협약이 필요하다.",</a:t>
            </a:r>
          </a:p>
          <a:p xmlns:a="http://schemas.openxmlformats.org/drawingml/2006/main">
            <a:r>
              <a:t>        "대전 서구 단독보다 인접 자치구나 청주공항 연계 권역상품으로 운영할 경우 비용·성과의 행정구역별 배분 기준이 필요하다."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"person",</a:t>
            </a:r>
          </a:p>
          <a:p xmlns:a="http://schemas.openxmlformats.org/drawingml/2006/main">
            <a:r>
              <a:t>          "quote": "순환버스와 DRT 이용객은 총 7,470명",</a:t>
            </a:r>
          </a:p>
          <a:p xmlns:a="http://schemas.openxmlformats.org/drawingml/2006/main">
            <a:r>
              <a:t>          "scope": "청주공항·충청권 광역 순환버스와 DRT 실제 이용객 합계",</a:t>
            </a:r>
          </a:p>
          <a:p xmlns:a="http://schemas.openxmlformats.org/drawingml/2006/main">
            <a:r>
              <a:t>          "value": 7470,</a:t>
            </a:r>
          </a:p>
          <a:p xmlns:a="http://schemas.openxmlformats.org/drawingml/2006/main">
            <a:r>
              <a:t>          "metric": "participants",</a:t>
            </a:r>
          </a:p>
          <a:p xmlns:a="http://schemas.openxmlformats.org/drawingml/2006/main">
            <a:r>
              <a:t>          "period": "2026년 상반기",</a:t>
            </a:r>
          </a:p>
          <a:p xmlns:a="http://schemas.openxmlformats.org/drawingml/2006/main">
            <a:r>
              <a:t>          "program_name": "청주공항 연계 광역 순환버스·DRT",</a:t>
            </a:r>
          </a:p>
          <a:p xmlns:a="http://schemas.openxmlformats.org/drawingml/2006/main">
            <a:r>
              <a:t>          "capacity_count": null,</a:t>
            </a:r>
          </a:p>
          <a:p xmlns:a="http://schemas.openxmlformats.org/drawingml/2006/main">
            <a:r>
              <a:t>          "participant_count": 7470</a:t>
            </a:r>
          </a:p>
          <a:p xmlns:a="http://schemas.openxmlformats.org/drawingml/2006/main">
            <a:r>
              <a:t>        }</a:t>
            </a:r>
          </a:p>
          <a:p xmlns:a="http://schemas.openxmlformats.org/drawingml/2006/main">
            <a:r>
              <a:t>      ],</a:t>
            </a:r>
          </a:p>
          <a:p xmlns:a="http://schemas.openxmlformats.org/drawingml/2006/main">
            <a:r>
              <a:t>      "published_or_updated_at": "2026-08",</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"images": [</a:t>
            </a:r>
          </a:p>
          <a:p xmlns:a="http://schemas.openxmlformats.org/drawingml/2006/main">
            <a:r>
              <a:t>    {</a:t>
            </a:r>
          </a:p>
          <a:p xmlns:a="http://schemas.openxmlformats.org/drawingml/2006/main">
            <a:r>
              <a:t>      "filename": "gangjin_official.jpg",</a:t>
            </a:r>
          </a:p>
          <a:p xmlns:a="http://schemas.openxmlformats.org/drawingml/2006/main">
            <a:r>
              <a:t>      "caption": "다른 지역 참고 사진 · 강진군 · 반값여행 공식 홍보물",</a:t>
            </a:r>
          </a:p>
          <a:p xmlns:a="http://schemas.openxmlformats.org/drawingml/2006/main">
            <a:r>
              <a:t>      "credit": "강진 반값여행 공식 홈페이지",</a:t>
            </a:r>
          </a:p>
          <a:p xmlns:a="http://schemas.openxmlformats.org/drawingml/2006/main">
            <a:r>
              <a:t>      "page_url": "https://www.gangjintour.com/",</a:t>
            </a:r>
          </a:p>
          <a:p xmlns:a="http://schemas.openxmlformats.org/drawingml/2006/main">
            <a:r>
              <a:t>      "image_url": "https://gangjintour.com/skin_hub/SKIN006/assets/img/gjimg.jpg",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"jeongdong_2024.jpg",</a:t>
            </a:r>
          </a:p>
          <a:p xmlns:a="http://schemas.openxmlformats.org/drawingml/2006/main">
            <a:r>
              <a:t>      "caption": "다른 지역 참고 사진 · 서울 중구 정동야행 · 문화행사 참고 사진",</a:t>
            </a:r>
          </a:p>
          <a:p xmlns:a="http://schemas.openxmlformats.org/drawingml/2006/main">
            <a:r>
              <a:t>      "credit": "서울문화포털 · 2024 정동야행",</a:t>
            </a:r>
          </a:p>
          <a:p xmlns:a="http://schemas.openxmlformats.org/drawingml/2006/main">
            <a:r>
              <a:t>      "page_url": "https://culture.seoul.go.kr/culture/culture/cultureEvent/view.do?cultcode=146365&amp;menuNo=200009",</a:t>
            </a:r>
          </a:p>
          <a:p xmlns:a="http://schemas.openxmlformats.org/drawingml/2006/main">
            <a:r>
              <a:t>      "image_url": "https://culture.seoul.go.kr/resources/culture/img/editor/culture/editor_20240530140505_47975.jpg",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"digital_official.jpg",</a:t>
            </a:r>
          </a:p>
          <a:p xmlns:a="http://schemas.openxmlformats.org/drawingml/2006/main">
            <a:r>
              <a:t>      "caption": "다른 지역 참고 사진 · 전국 · 디지털 관광주민증 홍보물",</a:t>
            </a:r>
          </a:p>
          <a:p xmlns:a="http://schemas.openxmlformats.org/drawingml/2006/main">
            <a:r>
              <a:t>      "credit": "대한민국 정책브리핑 (2025)",</a:t>
            </a:r>
          </a:p>
          <a:p xmlns:a="http://schemas.openxmlformats.org/drawingml/2006/main">
            <a:r>
              <a:t>      "page_url": "https://www.korea.kr/news/policyNewsView.do?newsId=148947084",</a:t>
            </a:r>
          </a:p>
          <a:p xmlns:a="http://schemas.openxmlformats.org/drawingml/2006/main">
            <a:r>
              <a:t>      "image_url": "https://www.korea.kr/newsWeb/resources/attaches/2025.08/05/0805-1.jpg",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"image_policy": "Official web assets; exact case or clearly labelled similar operation / general tourism reference. No generated fallback."</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proposal_layout_v9.execution_groups / execution_copy → 4개 단계. 일정은 저장 implementation_steps, 업무 설명은 환급형/일반형 코드 템플릿.</a:t>
            </a:r>
          </a:p>
          <a:p xmlns:a="http://schemas.openxmlformats.org/drawingml/2006/main">
            <a:r>
              <a:t>[{"step": 1, "task": "관광기획팀이 환급 대상 업종(식음료, 쇼핑) 및 가맹점 리스트를 확정하고, 모바일 지역화폐 정산 체계와 부정수급 방지 지침을 수립함", "schedule": "2026-10", "deliverable": "참여 가맹점 명단 및 운영 지침서"}, {"step": 2, "task": "홍보팀이 외지인 관광객을 대상으로 사업 홍보물을 제작하고, 온라인 채널을 통해 참여 신청 접수 프로세스를 가동함", "schedule": "2026-10", "deliverable": "홍보물 및 신청자 명단"}, {"step": 3, "task": "운영팀이 시범 운영을 개시하고, 관광객의 결제 증빙을 확인하여 지역사랑상품권을 환급함", "schedule": "2026-11", "deliverable": "주간 결제 및 환급 현황 보고서"}, {"step": 4, "task": "정산 담당자가 월별 결제 데이터를 검수하고, 부정수급 여부를 모니터링하여 최종 정산을 실시함", "schedule": "2026-12", "deliverable": "월간 정산 원장"}, {"step": 5, "task": "기획팀이 사업 성과(인정 결제액, 참여자 1인당 결제액)를 분석하고 차기 운영 규모를 검토함", "schedule": "2026-12", "deliverable": "최종 결과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dataset:30170:1 | 한국관광 데이터랩 · 대전광역시 서구 순 방문자 수 및 숙박 비율 (이동통신 기반 외지인) | https://datalab.visitkorea.or.kr/</a:t>
            </a:r>
          </a:p>
          <a:p>
            <a:r>
              <a:t>dataset:30170:2 | 한국관광 데이터랩 · 대전광역시 서구 월간 순 방문자 수 (이동통신 기반 외지인) | https://datalab.visitkorea.or.kr/</a:t>
            </a:r>
          </a:p>
          <a:p>
            <a:r>
              <a:t>dataset:30170:3 | 한국관광 데이터랩 · 대전광역시 서구 관광소비 추이_외지인 | https://datalab.visitkorea.or.kr/</a:t>
            </a:r>
          </a:p>
          <a:p>
            <a:r>
              <a:t>dataset:30170:4 | 한국관광 데이터랩 · 대전광역시 서구 숙박방문자 비율 추이 (이동통신 기반 외지인) | https://datalab.visitkorea.or.kr/</a:t>
            </a:r>
          </a:p>
          <a:p>
            <a:r>
              <a:t>dataset:30170:5 | 한국관광 데이터랩 · 대전광역시 서구 평균 숙박일 (이동통신 기반 외지인) | https://datalab.visitkorea.or.kr/</a:t>
            </a:r>
          </a:p>
          <a:p>
            <a:r>
              <a:t>dataset:30170:6 | 한국관광 데이터랩 · 대전광역시 서구 내비게이션 목적지 유형별 검색량 | https://datalab.visitkorea.or.kr/</a:t>
            </a:r>
          </a:p>
          <a:p>
            <a:r>
              <a:t>dataset:30170:7 | 한국관광 데이터랩 · 대전광역시 서구 SNS 언급량 | https://datalab.visitkorea.or.kr/</a:t>
            </a:r>
          </a:p>
          <a:p>
            <a:r>
              <a:t>datalab:12c41f8a3e52:f92921dca662 | 한국관광 데이터랩 공식 다운로드 · 대전광역시_서구/방문자/2025_01_12.zip | https://datalab.visitkorea.or.kr/</a:t>
            </a:r>
          </a:p>
          <a:p>
            <a:r>
              <a:t>datalab:162285800b98:dbba3ac2e220 | 한국관광 데이터랩 공식 다운로드 · 대전광역시_서구/관광소비/2025_01_12.zip | https://datalab.visitkorea.or.kr/</a:t>
            </a:r>
          </a:p>
          <a:p>
            <a:r>
              <a:t>datalab:1bec5b4405e1:6c5494eef7c6 | 한국관광 데이터랩 공식 다운로드 · 대전광역시_서구/숙박_체류시간/2025_01_12.zip | https://datalab.visitkorea.or.kr/</a:t>
            </a:r>
          </a:p>
          <a:p>
            <a:r>
              <a:t>datalab:7a4db91d6ba9:d81294f3e5a0 | 한국관광 데이터랩 공식 다운로드 · 대전광역시_서구/관광소비/2026_01_06.zip | https://datalab.visitkorea.or.kr/</a:t>
            </a:r>
          </a:p>
          <a:p>
            <a:r>
              <a:t>datalab:cc1dc8fb5607:77f3b69cfb89 | 한국관광 데이터랩 공식 다운로드 · 대전광역시_서구/방문자/2026_01_06.zip | https://datalab.visitkorea.or.kr/</a:t>
            </a:r>
          </a:p>
          <a:p>
            <a:r>
              <a:t>datalab:e53d144382ee:fc025995a6df | 한국관광 데이터랩 공식 다운로드 · 대전광역시_서구/숙박_체류시간/2026_01_06.zip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regional-status:0c68fedc2071:0ad82310f803 | 한국관광 데이터랩 지역별 관광 현황 · 대전광역시 서구 · 지역집중률 | https://datalab.visitkorea.or.kr/</a:t>
            </a:r>
          </a:p>
          <a:p>
            <a:r>
              <a:t>regional-status:4cddd6aa75d4:be8b01ec64e2 | 한국관광 데이터랩 지역별 관광 현황 · 대전광역시 서구 · 유입유출 | https://datalab.visitkorea.or.kr/</a:t>
            </a:r>
          </a:p>
          <a:p>
            <a:r>
              <a:t>regional-status:8c9a813e95eb:5e0cc3f56b73 | 한국관광 데이터랩 지역별 관광 현황 · 대전광역시 서구 · 인기관광지 | https://datalab.visitkorea.or.kr/</a:t>
            </a:r>
          </a:p>
          <a:p>
            <a:r>
              <a:t>ml:30170:regional-demand-v3.1:202606 | 지역 관광수요 ML 전망 · 공식 관측값 아님 | URL 미기록</a:t>
            </a:r>
          </a:p>
          <a:p>
            <a:r>
              <a:t>tour-api:2899643 | 갈마짬뽕 | https://apis.data.go.kr/B551011/KorService2</a:t>
            </a:r>
          </a:p>
          <a:p>
            <a:r>
              <a:t>tour-api:2899637 | 관저당 | https://apis.data.go.kr/B551011/KorService2</a:t>
            </a:r>
          </a:p>
          <a:p>
            <a:r>
              <a:t>tour-api:1932079 | 굿모닝레지던스호텔휴 | https://apis.data.go.kr/B551011/KorService2</a:t>
            </a:r>
          </a:p>
          <a:p>
            <a:r>
              <a:t>tour-api:133881 | 귀빈돌솥밥 | https://apis.data.go.kr/B551011/KorService2</a:t>
            </a:r>
          </a:p>
          <a:p>
            <a:r>
              <a:t>tour-api:2758252 | 남선공원 | https://apis.data.go.kr/B551011/KorService2</a:t>
            </a:r>
          </a:p>
          <a:p>
            <a:r>
              <a:t>tour-api:298208 | 내원사(대전) | https://apis.data.go.kr/B551011/KorService2</a:t>
            </a:r>
          </a:p>
          <a:p>
            <a:r>
              <a:t>tour-api:3452550 | 노크노크 | https://apis.data.go.kr/B551011/KorService2</a:t>
            </a:r>
          </a:p>
          <a:p>
            <a:r>
              <a:t>tour-api:2899585 | 대성콩국수 | https://apis.data.go.kr/B551011/KorService2</a:t>
            </a:r>
          </a:p>
          <a:p>
            <a:r>
              <a:t>tour-api:130802 | 대전 가수원도서관 | https://apis.data.go.kr/B551011/KorService2</a:t>
            </a:r>
          </a:p>
          <a:p>
            <a:r>
              <a:t>tour-api:2743325 | 대전광역시청 시민잔디광장 | https://apis.data.go.kr/B551011/KorService2</a:t>
            </a:r>
          </a:p>
          <a:p>
            <a:r>
              <a:t>tour-api:130197 | 대전서구문화원 | https://apis.data.go.kr/B551011/KorService2</a:t>
            </a:r>
          </a:p>
          <a:p>
            <a:r>
              <a:t>tour-api:2865847 | 델빠네 | https://apis.data.go.kr/B551011/KorService2</a:t>
            </a:r>
          </a:p>
          <a:p>
            <a:r>
              <a:t>tour-api:2758334 | 도마큰시장 | https://apis.data.go.kr/B551011/KorService2</a:t>
            </a:r>
          </a:p>
          <a:p>
            <a:r>
              <a:t>tour-api:1955818 | 도산서원(대전) | https://apis.data.go.kr/B551011/KorService2</a:t>
            </a:r>
          </a:p>
          <a:p>
            <a:r>
              <a:t>tour-api:2758341 | 둔산꽃시장 | https://apis.data.go.kr/B551011/KorService2</a:t>
            </a:r>
          </a:p>
          <a:p>
            <a:r>
              <a:t>tour-api:1623725 | 둔산전자타운 | https://apis.data.go.kr/B551011/KorService2</a:t>
            </a:r>
          </a:p>
          <a:p>
            <a:r>
              <a:t>tour-api:132661 | 롯데백화점 (대전점) | https://apis.data.go.kr/B551011/KorService2</a:t>
            </a:r>
          </a:p>
          <a:p>
            <a:r>
              <a:t>tour-api:2758646 | 마치광장 | https://apis.data.go.kr/B551011/KorService2</a:t>
            </a:r>
          </a:p>
          <a:p>
            <a:r>
              <a:t>tour-api:2899544 | 몽뜨 | https://apis.data.go.kr/B551011/KorService2</a:t>
            </a:r>
          </a:p>
          <a:p>
            <a:r>
              <a:t>tour-api:2865914 | 미세노센세 | https://apis.data.go.kr/B551011/KorService2</a:t>
            </a:r>
          </a:p>
          <a:p>
            <a:r>
              <a:t>reference:kto:2026:local-airport | 요즘, 한국관광 2호 - 지방공항 연계 지역관광 활성화 방안 | PDF 44쪽, PDF 40쪽, PDF 41쪽, PDF 41쪽, PDF 43쪽 | https://datalab.visitkorea.or.kr/site/portal/ex/bbs/View.do?bcIdx=311068&amp;cbIdx=1135&amp;pageIndex=1</a:t>
            </a:r>
          </a:p>
          <a:p>
            <a:r>
              <a:t>web:30170:1 | 여행가는 달 지역 여행할인 모아보기 | https://korean.visitkorea.or.kr/travelmonth/benefit.do?modal=benefit-190</a:t>
            </a:r>
          </a:p>
          <a:p>
            <a:r>
              <a:t>web:30170:2 | 대전광역시_문화시설 | 공공데이터포털 | https://www.data.go.kr/data/15112114/openapi.do?recommendDataYn=Y</a:t>
            </a:r>
          </a:p>
          <a:p>
            <a:r>
              <a:t>web:30170:3 | 대전광역시 문화관광(숙박정보) 데이터 | 공공데이터포털 | https://www.data.go.kr/dataset/15001021/openapi.do</a:t>
            </a:r>
          </a:p>
          <a:p>
            <a:r>
              <a:t>web:30170:4 | 대전문화관광해설사 신규 양성 교육 | 한국관광공사 관광e배움터 | https://touredu.visitkorea.or.kr/home/pkgEdu/pkgEduDetail?crsCd=C202600107&amp;eduPlanYr=2026&amp;eduPlanYrStepCnt=1</a:t>
            </a:r>
          </a:p>
          <a:p>
            <a:r>
              <a:t>web:30170:5 | 대전광역시 서구_체육시설 현황 | 공공데이터포털 | https://www.data.go.kr/dataset/15037511/fileData.do</a:t>
            </a:r>
          </a:p>
          <a:p>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case:41508ca81cf29f | 한국관광 데이터랩 · 안동탈춤축제 연도별 방문자 추이 | https://datalab.visitkorea.or.kr/</a:t>
            </a:r>
          </a:p>
          <a:p>
            <a:r>
              <a:t>case:festival:01474ef75569b1 | 한국관광 데이터랩 · 문경찻사발축제 방문자 추이 | https://datalab.visitkorea.or.kr/</a:t>
            </a:r>
          </a:p>
          <a:p>
            <a:r>
              <a:t>case:28ff66d9b44637 | 2025년 문화예술 축제 통합 지원사업 종합결과보고서 | https://culture.seoul.go.kr/culture/cmmn/file/fileDown.do?atchFileId=bb34395b25504c66a77ef69999cacb1c&amp;bbsId=B0000006&amp;fileSn=1</a:t>
            </a:r>
          </a:p>
          <a:p>
            <a:r>
              <a:t>case:58c0694a3e85d8 | 귀촌 '원조 반값'은 다르다… 강진서 전국 확산 '체류 관광 도시' | https://jnfarm.jeonnam.go.kr/board/FARM_BOARD_008/boardView.do?bdId=BD_00000000000015383&amp;menuCd=farm004002</a:t>
            </a:r>
          </a:p>
          <a:p>
            <a:r>
              <a:t>case:4544b7bca8ebab | 요즘, 한국관광 2호 - 지방공항 연계 지역관광 활성화 방안 | https://datalab.visitkorea.or.kr/site/portal/ex/bbs/View.do?bcIdx=311068&amp;cbIdx=1135&amp;pageIndex=1</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대전광역시 서구 순 방문자 수 및 숙박 비율 (이동통신 기반 외지인)",</a:t>
            </a:r>
          </a:p>
          <a:p>
            <a:r>
              <a:t>      "summary": "월간 순 방문자 수: 4,619,168명 (관측 기준월: 2026-06)",</a:t>
            </a:r>
          </a:p>
          <a:p>
            <a:r>
              <a:t>      "source_id": "dataset:30170:1",</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월간 순 방문자 수 (이동통신 기반 외지인)",</a:t>
            </a:r>
          </a:p>
          <a:p>
            <a:r>
              <a:t>      "summary": "전년동월 외지인 방문자 증감률: -3.5% (관측 기준월: 2026-06)",</a:t>
            </a:r>
          </a:p>
          <a:p>
            <a:r>
              <a:t>      "source_id": "dataset:30170:2",</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관광소비 추이_외지인",</a:t>
            </a:r>
          </a:p>
          <a:p>
            <a:r>
              <a:t>      "summary": "월간 외지인 관광소비 총액: 76,758,413,000원 (관측 기준월: 2026-06)",</a:t>
            </a:r>
          </a:p>
          <a:p>
            <a:r>
              <a:t>      "source_id": "dataset:30170:3",</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숙박방문자 비율 추이 (이동통신 기반 외지인)",</a:t>
            </a:r>
          </a:p>
          <a:p>
            <a:r>
              <a:t>      "summary": "외지인 숙박 방문 비율: 6.7% (관측 기준월: 2026-06)",</a:t>
            </a:r>
          </a:p>
          <a:p>
            <a:r>
              <a:t>      "source_id": "dataset:30170:4",</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평균 숙박일 (이동통신 기반 외지인)",</a:t>
            </a:r>
          </a:p>
          <a:p>
            <a:r>
              <a:t>      "summary": "외지인 평균 숙박일수: 2.81일 (관측 기준월: 2026-06)",</a:t>
            </a:r>
          </a:p>
          <a:p>
            <a:r>
              <a:t>      "source_id": "dataset:30170:5",</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내비게이션 목적지 유형별 검색량",</a:t>
            </a:r>
          </a:p>
          <a:p>
            <a:r>
              <a:t>      "summary": "내비게이션 목적지 검색량: 191,346건 (관측 기준월: 2026-06)",</a:t>
            </a:r>
          </a:p>
          <a:p>
            <a:r>
              <a:t>      "source_id": "dataset:30170:6",</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SNS 언급량",</a:t>
            </a:r>
          </a:p>
          <a:p>
            <a:r>
              <a:t>      "summary": "SNS 언급량: 54,388건 (관측 기준월: 2026-06)",</a:t>
            </a:r>
          </a:p>
          <a:p>
            <a:r>
              <a:t>      "source_id": "dataset:30170:7",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대전광역시_서구/방문자/2025_01_12.zip",</a:t>
            </a:r>
          </a:p>
          <a:p>
            <a:r>
              <a:t>      "summary": "전국 비교 기준 기간: 2025-07 ~ 2026-06",</a:t>
            </a:r>
          </a:p>
          <a:p>
            <a:r>
              <a:t>      "source_id": "datalab:12c41f8a3e52:f92921dca662",</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대전광역시_서구/관광소비/2025_01_12.zip",</a:t>
            </a:r>
          </a:p>
          <a:p>
            <a:r>
              <a:t>      "summary": "전국 비교 기준 기간: 2025-07 ~ 2026-06",</a:t>
            </a:r>
          </a:p>
          <a:p>
            <a:r>
              <a:t>      "source_id": "datalab:162285800b98:dbba3ac2e220",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대전광역시_서구/숙박_체류시간/2025_01_12.zip",</a:t>
            </a:r>
          </a:p>
          <a:p>
            <a:r>
              <a:t>      "summary": "전국 비교 기준 기간: 2025-07 ~ 2026-06",</a:t>
            </a:r>
          </a:p>
          <a:p>
            <a:r>
              <a:t>      "source_id": "datalab:1bec5b4405e1:6c5494eef7c6",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대전광역시_서구/관광소비/2026_01_06.zip",</a:t>
            </a:r>
          </a:p>
          <a:p>
            <a:r>
              <a:t>      "summary": "전국 비교 기준 기간: 2025-07 ~ 2026-06",</a:t>
            </a:r>
          </a:p>
          <a:p>
            <a:r>
              <a:t>      "source_id": "datalab:7a4db91d6ba9:d81294f3e5a0",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대전광역시_서구/방문자/2026_01_06.zip",</a:t>
            </a:r>
          </a:p>
          <a:p>
            <a:r>
              <a:t>      "summary": "전국 비교 기준 기간: 2025-07 ~ 2026-06",</a:t>
            </a:r>
          </a:p>
          <a:p>
            <a:r>
              <a:t>      "source_id": "datalab:cc1dc8fb5607:77f3b69cfb89",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대전광역시_서구/숙박_체류시간/2026_01_06.zip",</a:t>
            </a:r>
          </a:p>
          <a:p>
            <a:r>
              <a:t>      "summary": "전국 비교 기준 기간: 2025-07 ~ 2026-06",</a:t>
            </a:r>
          </a:p>
          <a:p>
            <a:r>
              <a:t>      "source_id": "datalab:e53d144382ee:fc025995a6df",</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대전광역시 서구 · 지역집중률",</a:t>
            </a:r>
          </a:p>
          <a:p>
            <a:r>
              <a:t>      "summary": "관측 기간: 2025-07 ~ 2026-06. 유입·유출·인기장소 또는 30일 집중 운영 신호.",</a:t>
            </a:r>
          </a:p>
          <a:p>
            <a:r>
              <a:t>      "source_id": "regional-status:0c68fedc2071:0ad82310f803",</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유입유출",</a:t>
            </a:r>
          </a:p>
          <a:p>
            <a:r>
              <a:t>      "summary": "관측 기간: 2025-07 ~ 2026-06. 유입·유출·인기장소 또는 30일 집중 운영 신호.",</a:t>
            </a:r>
          </a:p>
          <a:p>
            <a:r>
              <a:t>      "source_id": "regional-status:4cddd6aa75d4:be8b01ec64e2",</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인기관광지",</a:t>
            </a:r>
          </a:p>
          <a:p>
            <a:r>
              <a:t>      "summary": "관측 기간: 2025-07 ~ 2026-06. 유입·유출·인기장소 또는 30일 집중 운영 신호.",</a:t>
            </a:r>
          </a:p>
          <a:p>
            <a:r>
              <a:t>      "source_id": "regional-status:8c9a813e95eb:5e0cc3f56b73",</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"ml:30170:regional-demand-v3.1:202606",</a:t>
            </a:r>
          </a:p>
          <a:p>
            <a:r>
              <a:t>      "source_url": "",</a:t>
            </a:r>
          </a:p>
          <a:p>
            <a:r>
              <a:t>      "source_type": "model_forecast",</a:t>
            </a:r>
          </a:p>
          <a:p>
            <a:r>
              <a:t>      "model_version": "regional-demand-v3.1",</a:t>
            </a:r>
          </a:p>
          <a:p>
            <a:r>
              <a:t>      "data_fingerprint": "edea7fa8270d3b72aee15e6816efec3fce699e1bab55ebd844a10870c2f0e0a0"</a:t>
            </a:r>
          </a:p>
          <a:p>
            <a:r>
              <a:t>    },</a:t>
            </a:r>
          </a:p>
          <a:p>
            <a:r>
              <a:t>    {</a:t>
            </a:r>
          </a:p>
          <a:p>
            <a:r>
              <a:t>      "title": "갈마짬뽕",</a:t>
            </a:r>
          </a:p>
          <a:p>
            <a:r>
              <a:t>      "address": "대전광역시 서구 월평동로 5-11 (갈마동)",</a:t>
            </a:r>
          </a:p>
          <a:p>
            <a:r>
              <a:t>      "summary": "한국관광공사 국문관광정보 API가 반환한 선택 지역 관광자원",</a:t>
            </a:r>
          </a:p>
          <a:p>
            <a:r>
              <a:t>      "image_url": "http://tong.visitkorea.or.kr/cms/resource/38/2899638_image2_1.jpg",</a:t>
            </a:r>
          </a:p>
          <a:p>
            <a:r>
              <a:t>      "source_id": "tour-api:2899643",</a:t>
            </a:r>
          </a:p>
          <a:p>
            <a:r>
              <a:t>      "content_id": "2899643",</a:t>
            </a:r>
          </a:p>
          <a:p>
            <a:r>
              <a:t>      "source_url": "https://apis.data.go.kr/B551011/KorService2",</a:t>
            </a:r>
          </a:p>
          <a:p>
            <a:r>
              <a:t>      "source_type": "open_api",</a:t>
            </a:r>
          </a:p>
          <a:p>
            <a:r>
              <a:t>      "content_type_id": "39"</a:t>
            </a:r>
          </a:p>
          <a:p>
            <a:r>
              <a:t>    },</a:t>
            </a:r>
          </a:p>
          <a:p>
            <a:r>
              <a:t>    {</a:t>
            </a:r>
          </a:p>
          <a:p>
            <a:r>
              <a:t>      "title": "관저당",</a:t>
            </a:r>
          </a:p>
          <a:p>
            <a:r>
              <a:t>      "address": "대전광역시 서구 구봉산북로21번길 11 (관저동)",</a:t>
            </a:r>
          </a:p>
          <a:p>
            <a:r>
              <a:t>      "summary": "한국관광공사 국문관광정보 API가 반환한 선택 지역 관광자원",</a:t>
            </a:r>
          </a:p>
          <a:p>
            <a:r>
              <a:t>      "image_url": "http://tong.visitkorea.or.kr/cms/resource/36/2899636_image2_1.jpg",</a:t>
            </a:r>
          </a:p>
          <a:p>
            <a:r>
              <a:t>      "source_id": "tour-api:2899637",</a:t>
            </a:r>
          </a:p>
          <a:p>
            <a:r>
              <a:t>      "content_id": "2899637",</a:t>
            </a:r>
          </a:p>
          <a:p>
            <a:r>
              <a:t>      "source_url": "https://apis.data.go.kr/B551011/KorService2",</a:t>
            </a:r>
          </a:p>
          <a:p>
            <a:r>
              <a:t>      "source_type": "open_api",</a:t>
            </a:r>
          </a:p>
          <a:p>
            <a:r>
              <a:t>      "content_type_id": "39"</a:t>
            </a:r>
          </a:p>
          <a:p>
            <a:r>
              <a:t>    },</a:t>
            </a:r>
          </a:p>
          <a:p>
            <a:r>
              <a:t>    {</a:t>
            </a:r>
          </a:p>
          <a:p>
            <a:r>
              <a:t>      "title": "굿모닝레지던스호텔휴",</a:t>
            </a:r>
          </a:p>
          <a:p>
            <a:r>
              <a:t>      "address": "대전광역시 서구 둔산로73번길 21 (둔산동)",</a:t>
            </a:r>
          </a:p>
          <a:p>
            <a:r>
              <a:t>      "summary": "한국관광공사 국문관광정보 API가 반환한 선택 지역 관광자원",</a:t>
            </a:r>
          </a:p>
          <a:p>
            <a:r>
              <a:t>      "image_url": "http://tong.visitkorea.or.kr/cms/resource/87/2584687_image2_1.jpg",</a:t>
            </a:r>
          </a:p>
          <a:p>
            <a:r>
              <a:t>      "source_id": "tour-api:1932079",</a:t>
            </a:r>
          </a:p>
          <a:p>
            <a:r>
              <a:t>      "content_id": "1932079",</a:t>
            </a:r>
          </a:p>
          <a:p>
            <a:r>
              <a:t>      "source_url": "https://apis.data.go.kr/B551011/KorService2",</a:t>
            </a:r>
          </a:p>
          <a:p>
            <a:r>
              <a:t>      "source_type": "open_api",</a:t>
            </a:r>
          </a:p>
          <a:p>
            <a:r>
              <a:t>      "content_type_id": "32"</a:t>
            </a:r>
          </a:p>
          <a:p>
            <a:r>
              <a:t>    },</a:t>
            </a:r>
          </a:p>
          <a:p>
            <a:r>
              <a:t>    {</a:t>
            </a:r>
          </a:p>
          <a:p>
            <a:r>
              <a:t>      "title": "귀빈돌솥밥",</a:t>
            </a:r>
          </a:p>
          <a:p>
            <a:r>
              <a:t>      "address": "대전광역시 서구 만년로68번길 21",</a:t>
            </a:r>
          </a:p>
          <a:p>
            <a:r>
              <a:t>      "summary": "한국관광공사 국문관광정보 API가 반환한 선택 지역 관광자원",</a:t>
            </a:r>
          </a:p>
          <a:p>
            <a:r>
              <a:t>      "image_url": "http://tong.visitkorea.or.kr/cms/resource/72/3060272_image2_1.JPG",</a:t>
            </a:r>
          </a:p>
          <a:p>
            <a:r>
              <a:t>      "source_id": "tour-api:133881",</a:t>
            </a:r>
          </a:p>
          <a:p>
            <a:r>
              <a:t>      "content_id": "133881",</a:t>
            </a:r>
          </a:p>
          <a:p>
            <a:r>
              <a:t>      "source_url": "https://apis.data.go.kr/B551011/KorService2",</a:t>
            </a:r>
          </a:p>
          <a:p>
            <a:r>
              <a:t>      "source_type": "open_api",</a:t>
            </a:r>
          </a:p>
          <a:p>
            <a:r>
              <a:t>      "content_type_id": "39"</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"title": "내원사(대전)",</a:t>
            </a:r>
          </a:p>
          <a:p>
            <a:r>
              <a:t>      "address": "대전광역시 서구 배재로197번길 200",</a:t>
            </a:r>
          </a:p>
          <a:p>
            <a:r>
              <a:t>      "summary": "한국관광공사 국문관광정보 API가 반환한 선택 지역 관광자원",</a:t>
            </a:r>
          </a:p>
          <a:p>
            <a:r>
              <a:t>      "image_url": "http://tong.visitkorea.or.kr/cms/resource/79/3034979_image2_1.JPG",</a:t>
            </a:r>
          </a:p>
          <a:p>
            <a:r>
              <a:t>      "source_id": "tour-api:298208",</a:t>
            </a:r>
          </a:p>
          <a:p>
            <a:r>
              <a:t>      "content_id": "298208",</a:t>
            </a:r>
          </a:p>
          <a:p>
            <a:r>
              <a:t>      "source_url": "https://apis.data.go.kr/B551011/KorService2",</a:t>
            </a:r>
          </a:p>
          <a:p>
            <a:r>
              <a:t>      "source_type": "open_api",</a:t>
            </a:r>
          </a:p>
          <a:p>
            <a:r>
              <a:t>      "content_type_id": "12"</a:t>
            </a:r>
          </a:p>
          <a:p>
            <a:r>
              <a:t>    },</a:t>
            </a:r>
          </a:p>
          <a:p>
            <a:r>
              <a:t>    {</a:t>
            </a:r>
          </a:p>
          <a:p>
            <a:r>
              <a:t>      "title": "노크노크",</a:t>
            </a:r>
          </a:p>
          <a:p>
            <a:r>
              <a:t>      "address": "대전광역시 서구 둔산로 68 (둔산동)",</a:t>
            </a:r>
          </a:p>
          <a:p>
            <a:r>
              <a:t>      "summary": "한국관광공사 국문관광정보 API가 반환한 선택 지역 관광자원",</a:t>
            </a:r>
          </a:p>
          <a:p>
            <a:r>
              <a:t>      "image_url": "http://tong.visitkorea.or.kr/cms/resource/59/3453059_image2_1.jpg",</a:t>
            </a:r>
          </a:p>
          <a:p>
            <a:r>
              <a:t>      "source_id": "tour-api:3452550",</a:t>
            </a:r>
          </a:p>
          <a:p>
            <a:r>
              <a:t>      "content_id": "3452550",</a:t>
            </a:r>
          </a:p>
          <a:p>
            <a:r>
              <a:t>      "source_url": "https://apis.data.go.kr/B551011/KorService2",</a:t>
            </a:r>
          </a:p>
          <a:p>
            <a:r>
              <a:t>      "source_type": "open_api",</a:t>
            </a:r>
          </a:p>
          <a:p>
            <a:r>
              <a:t>      "content_type_id": "39"</a:t>
            </a:r>
          </a:p>
          <a:p>
            <a:r>
              <a:t>    },</a:t>
            </a:r>
          </a:p>
          <a:p>
            <a:r>
              <a:t>    {</a:t>
            </a:r>
          </a:p>
          <a:p>
            <a:r>
              <a:t>      "title": "대성콩국수",</a:t>
            </a:r>
          </a:p>
          <a:p>
            <a:r>
              <a:t>      "address": "대전광역시 서구 도산로 141",</a:t>
            </a:r>
          </a:p>
          <a:p>
            <a:r>
              <a:t>      "summary": "한국관광공사 국문관광정보 API가 반환한 선택 지역 관광자원",</a:t>
            </a:r>
          </a:p>
          <a:p>
            <a:r>
              <a:t>      "image_url": "http://tong.visitkorea.or.kr/cms/resource/69/2899569_image2_1.jpg",</a:t>
            </a:r>
          </a:p>
          <a:p>
            <a:r>
              <a:t>      "source_id": "tour-api:2899585",</a:t>
            </a:r>
          </a:p>
          <a:p>
            <a:r>
              <a:t>      "content_id": "2899585",</a:t>
            </a:r>
          </a:p>
          <a:p>
            <a:r>
              <a:t>      "source_url": "https://apis.data.go.kr/B551011/KorService2",</a:t>
            </a:r>
          </a:p>
          <a:p>
            <a:r>
              <a:t>      "source_type": "open_api",</a:t>
            </a:r>
          </a:p>
          <a:p>
            <a:r>
              <a:t>      "content_type_id": "39"</a:t>
            </a:r>
          </a:p>
          <a:p>
            <a:r>
              <a:t>    },</a:t>
            </a:r>
          </a:p>
          <a:p>
            <a:r>
              <a:t>    {</a:t>
            </a:r>
          </a:p>
          <a:p>
            <a:r>
              <a:t>      "title": "대전 가수원도서관",</a:t>
            </a:r>
          </a:p>
          <a:p>
            <a:r>
              <a:t>      "address": "대전광역시 서구 가수원로 91-11 (가수원동)",</a:t>
            </a:r>
          </a:p>
          <a:p>
            <a:r>
              <a:t>      "summary": "한국관광공사 국문관광정보 API가 반환한 선택 지역 관광자원",</a:t>
            </a:r>
          </a:p>
          <a:p>
            <a:r>
              <a:t>      "image_url": "http://tong.visitkorea.or.kr/cms/resource/58/3033558_image2_1.JPG",</a:t>
            </a:r>
          </a:p>
          <a:p>
            <a:r>
              <a:t>      "source_id": "tour-api:130802",</a:t>
            </a:r>
          </a:p>
          <a:p>
            <a:r>
              <a:t>      "content_id": "130802",</a:t>
            </a:r>
          </a:p>
          <a:p>
            <a:r>
              <a:t>      "source_url": "https://apis.data.go.kr/B551011/KorService2",</a:t>
            </a:r>
          </a:p>
          <a:p>
            <a:r>
              <a:t>      "source_type": "open_api",</a:t>
            </a:r>
          </a:p>
          <a:p>
            <a:r>
              <a:t>      "content_type_id": "14"</a:t>
            </a:r>
          </a:p>
          <a:p>
            <a:r>
              <a:t>    },</a:t>
            </a:r>
          </a:p>
          <a:p>
            <a:r>
              <a:t>    {</a:t>
            </a:r>
          </a:p>
          <a:p>
            <a:r>
              <a:t>      "title": "대전광역시청 시민잔디광장",</a:t>
            </a:r>
          </a:p>
          <a:p>
            <a:r>
              <a:t>      "address": "대전광역시 서구 둔산로 100",</a:t>
            </a:r>
          </a:p>
          <a:p>
            <a:r>
              <a:t>      "summary": "한국관광공사 국문관광정보 API가 반환한 선택 지역 관광자원",</a:t>
            </a:r>
          </a:p>
          <a:p>
            <a:r>
              <a:t>      "image_url": "http://tong.visitkorea.or.kr/cms/resource/86/3565586_image2_1.jpg",</a:t>
            </a:r>
          </a:p>
          <a:p>
            <a:r>
              <a:t>      "source_id": "tour-api:2743325",</a:t>
            </a:r>
          </a:p>
          <a:p>
            <a:r>
              <a:t>      "content_id": "2743325",</a:t>
            </a:r>
          </a:p>
          <a:p>
            <a:r>
              <a:t>      "source_url": "https://apis.data.go.kr/B551011/KorService2",</a:t>
            </a:r>
          </a:p>
          <a:p>
            <a:r>
              <a:t>      "source_type": "open_api",</a:t>
            </a:r>
          </a:p>
          <a:p>
            <a:r>
              <a:t>      "content_type_id": "12"</a:t>
            </a:r>
          </a:p>
          <a:p>
            <a:r>
              <a:t>    },</a:t>
            </a:r>
          </a:p>
          <a:p>
            <a:r>
              <a:t>    {</a:t>
            </a:r>
          </a:p>
          <a:p>
            <a:r>
              <a:t>      "title": "대전서구문화원",</a:t>
            </a:r>
          </a:p>
          <a:p>
            <a:r>
              <a:t>      "address": "대전광역시 서구 계룡로553번길 38",</a:t>
            </a:r>
          </a:p>
          <a:p>
            <a:r>
              <a:t>      "summary": "한국관광공사 국문관광정보 API가 반환한 선택 지역 관광자원",</a:t>
            </a:r>
          </a:p>
          <a:p>
            <a:r>
              <a:t>      "image_url": "http://tong.visitkorea.or.kr/cms/resource/43/3585043_image2_1.jpg",</a:t>
            </a:r>
          </a:p>
          <a:p>
            <a:r>
              <a:t>      "source_id": "tour-api:130197",</a:t>
            </a:r>
          </a:p>
          <a:p>
            <a:r>
              <a:t>      "content_id": "130197",</a:t>
            </a:r>
          </a:p>
          <a:p>
            <a:r>
              <a:t>      "source_url": "https://apis.data.go.kr/B551011/KorService2",</a:t>
            </a:r>
          </a:p>
          <a:p>
            <a:r>
              <a:t>      "source_type": "open_api",</a:t>
            </a:r>
          </a:p>
          <a:p>
            <a:r>
              <a:t>      "content_type_id": "14"</a:t>
            </a:r>
          </a:p>
          <a:p>
            <a:r>
              <a:t>    },</a:t>
            </a:r>
          </a:p>
          <a:p>
            <a:r>
              <a:t>    {</a:t>
            </a:r>
          </a:p>
          <a:p>
            <a:r>
              <a:t>      "title": "델빠네",</a:t>
            </a:r>
          </a:p>
          <a:p>
            <a:r>
              <a:t>      "address": "대전광역시 서구 원도안로207번길 16-61 (도안동)",</a:t>
            </a:r>
          </a:p>
          <a:p>
            <a:r>
              <a:t>      "summary": "한국관광공사 국문관광정보 API가 반환한 선택 지역 관광자원",</a:t>
            </a:r>
          </a:p>
          <a:p>
            <a:r>
              <a:t>      "image_url": "http://tong.visitkorea.or.kr/cms/resource/36/2865836_image2_1.jpg",</a:t>
            </a:r>
          </a:p>
          <a:p>
            <a:r>
              <a:t>      "source_id": "tour-api:2865847",</a:t>
            </a:r>
          </a:p>
          <a:p>
            <a:r>
              <a:t>      "content_id": "2865847",</a:t>
            </a:r>
          </a:p>
          <a:p>
            <a:r>
              <a:t>      "source_url": "https://apis.data.go.kr/B551011/KorService2",</a:t>
            </a:r>
          </a:p>
          <a:p>
            <a:r>
              <a:t>      "source_type": "open_api",</a:t>
            </a:r>
          </a:p>
          <a:p>
            <a:r>
              <a:t>      "content_type_id": "39"</a:t>
            </a:r>
          </a:p>
          <a:p>
            <a:r>
              <a:t>    },</a:t>
            </a:r>
          </a:p>
          <a:p>
            <a:r>
              <a:t>    {</a:t>
            </a:r>
          </a:p>
          <a:p>
            <a:r>
              <a:t>      "title": "도마큰시장",</a:t>
            </a:r>
          </a:p>
          <a:p>
            <a:r>
              <a:t>      "address": "대전광역시 서구 도마4길 69 (도마동)",</a:t>
            </a:r>
          </a:p>
          <a:p>
            <a:r>
              <a:t>      "summary": "한국관광공사 국문관광정보 API가 반환한 선택 지역 관광자원",</a:t>
            </a:r>
          </a:p>
          <a:p>
            <a:r>
              <a:t>      "image_url": "http://tong.visitkorea.or.kr/cms/resource/34/3565534_image2_1.jpg",</a:t>
            </a:r>
          </a:p>
          <a:p>
            <a:r>
              <a:t>      "source_id": "tour-api:2758334",</a:t>
            </a:r>
          </a:p>
          <a:p>
            <a:r>
              <a:t>      "content_id": "2758334",</a:t>
            </a:r>
          </a:p>
          <a:p>
            <a:r>
              <a:t>      "source_url": "https://apis.data.go.kr/B551011/KorService2",</a:t>
            </a:r>
          </a:p>
          <a:p>
            <a:r>
              <a:t>      "source_type": "open_api",</a:t>
            </a:r>
          </a:p>
          <a:p>
            <a:r>
              <a:t>      "content_type_id": "38"</a:t>
            </a:r>
          </a:p>
          <a:p>
            <a:r>
              <a:t>    },</a:t>
            </a:r>
          </a:p>
          <a:p>
            <a:r>
              <a:t>    {</a:t>
            </a:r>
          </a:p>
          <a:p>
            <a:r>
              <a:t>      "title": "도산서원(대전)",</a:t>
            </a:r>
          </a:p>
          <a:p>
            <a:r>
              <a:t>      "address": "대전광역시 서구 남선로 8",</a:t>
            </a:r>
          </a:p>
          <a:p>
            <a:r>
              <a:t>      "summary": "한국관광공사 국문관광정보 API가 반환한 선택 지역 관광자원",</a:t>
            </a:r>
          </a:p>
          <a:p>
            <a:r>
              <a:t>      "image_url": "http://tong.visitkorea.or.kr/cms/resource/24/3035024_image2_1.JPG",</a:t>
            </a:r>
          </a:p>
          <a:p>
            <a:r>
              <a:t>      "source_id": "tour-api:1955818",</a:t>
            </a:r>
          </a:p>
          <a:p>
            <a:r>
              <a:t>      "content_id": "1955818",</a:t>
            </a:r>
          </a:p>
          <a:p>
            <a:r>
              <a:t>      "source_url": "https://apis.data.go.kr/B551011/KorService2",</a:t>
            </a:r>
          </a:p>
          <a:p>
            <a:r>
              <a:t>      "source_type": "open_api",</a:t>
            </a:r>
          </a:p>
          <a:p>
            <a:r>
              <a:t>      "content_type_id": "12"</a:t>
            </a:r>
          </a:p>
          <a:p>
            <a:r>
              <a:t>    },</a:t>
            </a:r>
          </a:p>
          <a:p>
            <a:r>
              <a:t>    {</a:t>
            </a:r>
          </a:p>
          <a:p>
            <a:r>
              <a:t>      "title": "둔산꽃시장",</a:t>
            </a:r>
          </a:p>
          <a:p>
            <a:r>
              <a:t>      "address": "대전광역시 서구 둔산북로 22 (둔산동)",</a:t>
            </a:r>
          </a:p>
          <a:p>
            <a:r>
              <a:t>      "summary": "한국관광공사 국문관광정보 API가 반환한 선택 지역 관광자원",</a:t>
            </a:r>
          </a:p>
          <a:p>
            <a:r>
              <a:t>      "image_url": "http://tong.visitkorea.or.kr/cms/resource/31/2758631_image2_1.jpg",</a:t>
            </a:r>
          </a:p>
          <a:p>
            <a:r>
              <a:t>      "source_id": "tour-api:2758341",</a:t>
            </a:r>
          </a:p>
          <a:p>
            <a:r>
              <a:t>      "content_id": "2758341",</a:t>
            </a:r>
          </a:p>
          <a:p>
            <a:r>
              <a:t>      "source_url": "https://apis.data.go.kr/B551011/KorService2",</a:t>
            </a:r>
          </a:p>
          <a:p>
            <a:r>
              <a:t>      "source_type": "open_api",</a:t>
            </a:r>
          </a:p>
          <a:p>
            <a:r>
              <a:t>      "content_type_id": "38"</a:t>
            </a:r>
          </a:p>
          <a:p>
            <a:r>
              <a:t>    },</a:t>
            </a:r>
          </a:p>
          <a:p>
            <a:r>
              <a:t>    {</a:t>
            </a:r>
          </a:p>
          <a:p>
            <a:r>
              <a:t>      "title": "둔산전자타운",</a:t>
            </a:r>
          </a:p>
          <a:p>
            <a:r>
              <a:t>      "address": "대전광역시 서구 도산로403번길 21",</a:t>
            </a:r>
          </a:p>
          <a:p>
            <a:r>
              <a:t>      "summary": "한국관광공사 국문관광정보 API가 반환한 선택 지역 관광자원",</a:t>
            </a:r>
          </a:p>
          <a:p>
            <a:r>
              <a:t>      "image_url": "http://tong.visitkorea.or.kr/cms/resource/60/3565560_image2_1.jpg",</a:t>
            </a:r>
          </a:p>
          <a:p>
            <a:r>
              <a:t>      "source_id": "tour-api:1623725",</a:t>
            </a:r>
          </a:p>
          <a:p>
            <a:r>
              <a:t>      "content_id": "1623725",</a:t>
            </a:r>
          </a:p>
          <a:p>
            <a:r>
              <a:t>      "source_url": "https://apis.data.go.kr/B551011/KorService2",</a:t>
            </a:r>
          </a:p>
          <a:p>
            <a:r>
              <a:t>      "source_type": "open_api",</a:t>
            </a:r>
          </a:p>
          <a:p>
            <a:r>
              <a:t>      "content_type_id": "38"</a:t>
            </a:r>
          </a:p>
          <a:p>
            <a:r>
              <a:t>    },</a:t>
            </a:r>
          </a:p>
          <a:p>
            <a:r>
              <a:t>    {</a:t>
            </a:r>
          </a:p>
          <a:p>
            <a:r>
              <a:t>      "title": "롯데백화점 (대전점)",</a:t>
            </a:r>
          </a:p>
          <a:p>
            <a:r>
              <a:t>      "address": "대전광역시 서구 계룡로 598 (괴정동)",</a:t>
            </a:r>
          </a:p>
          <a:p>
            <a:r>
              <a:t>      "summary": "한국관광공사 국문관광정보 API가 반환한 선택 지역 관광자원",</a:t>
            </a:r>
          </a:p>
          <a:p>
            <a:r>
              <a:t>      "image_url": "http://tong.visitkorea.or.kr/cms/resource/21/3443221_image2_1.jpg",</a:t>
            </a:r>
          </a:p>
          <a:p>
            <a:r>
              <a:t>      "source_id": "tour-api:132661",</a:t>
            </a:r>
          </a:p>
          <a:p>
            <a:r>
              <a:t>      "content_id": "132661",</a:t>
            </a:r>
          </a:p>
          <a:p>
            <a:r>
              <a:t>      "source_url": "https://apis.data.go.kr/B551011/KorService2",</a:t>
            </a:r>
          </a:p>
          <a:p>
            <a:r>
              <a:t>      "source_type": "open_api",</a:t>
            </a:r>
          </a:p>
          <a:p>
            <a:r>
              <a:t>      "content_type_id": "38"</a:t>
            </a:r>
          </a:p>
          <a:p>
            <a:r>
              <a:t>    },</a:t>
            </a:r>
          </a:p>
          <a:p>
            <a:r>
              <a:t>    {</a:t>
            </a:r>
          </a:p>
          <a:p>
            <a:r>
              <a:t>      "title": "마치광장",</a:t>
            </a:r>
          </a:p>
          <a:p>
            <a:r>
              <a:t>      "address": "대전광역시 서구 구봉로131번길 27",</a:t>
            </a:r>
          </a:p>
          <a:p>
            <a:r>
              <a:t>      "summary": "한국관광공사 국문관광정보 API가 반환한 선택 지역 관광자원",</a:t>
            </a:r>
          </a:p>
          <a:p>
            <a:r>
              <a:t>      "image_url": "http://tong.visitkorea.or.kr/cms/resource/16/3542516_image2_1.jpg",</a:t>
            </a:r>
          </a:p>
          <a:p>
            <a:r>
              <a:t>      "source_id": "tour-api:2758646",</a:t>
            </a:r>
          </a:p>
          <a:p>
            <a:r>
              <a:t>      "content_id": "2758646",</a:t>
            </a:r>
          </a:p>
          <a:p>
            <a:r>
              <a:t>      "source_url": "https://apis.data.go.kr/B551011/KorService2",</a:t>
            </a:r>
          </a:p>
          <a:p>
            <a:r>
              <a:t>      "source_type": "open_api",</a:t>
            </a:r>
          </a:p>
          <a:p>
            <a:r>
              <a:t>      "content_type_id": "12"</a:t>
            </a:r>
          </a:p>
          <a:p>
            <a:r>
              <a:t>    },</a:t>
            </a:r>
          </a:p>
          <a:p>
            <a:r>
              <a:t>    {</a:t>
            </a:r>
          </a:p>
          <a:p>
            <a:r>
              <a:t>      "title": "몽뜨",</a:t>
            </a:r>
          </a:p>
          <a:p>
            <a:r>
              <a:t>      "address": "대전광역시 서구 원도안로257번길 48 (도안동)",</a:t>
            </a:r>
          </a:p>
          <a:p>
            <a:r>
              <a:t>      "summary": "한국관광공사 국문관광정보 API가 반환한 선택 지역 관광자원",</a:t>
            </a:r>
          </a:p>
          <a:p>
            <a:r>
              <a:t>      "image_url": "http://tong.visitkorea.or.kr/cms/resource/35/2899535_image2_1.jpg",</a:t>
            </a:r>
          </a:p>
          <a:p>
            <a:r>
              <a:t>      "source_id": "tour-api:2899544",</a:t>
            </a:r>
          </a:p>
          <a:p>
            <a:r>
              <a:t>      "content_id": "2899544",</a:t>
            </a:r>
          </a:p>
          <a:p>
            <a:r>
              <a:t>      "source_url": "https://apis.data.go.kr/B551011/KorService2",</a:t>
            </a:r>
          </a:p>
          <a:p>
            <a:r>
              <a:t>      "source_type": "open_api",</a:t>
            </a:r>
          </a:p>
          <a:p>
            <a:r>
              <a:t>      "content_type_id": "39"</a:t>
            </a:r>
          </a:p>
          <a:p>
            <a:r>
              <a:t>    },</a:t>
            </a:r>
          </a:p>
          <a:p>
            <a:r>
              <a:t>    {</a:t>
            </a:r>
          </a:p>
          <a:p>
            <a:r>
              <a:t>      "title": "미세노센세",</a:t>
            </a:r>
          </a:p>
          <a:p>
            <a:r>
              <a:t>      "address": "대전광역시 서구 계룡로553번안길 65 (탄방동)",</a:t>
            </a:r>
          </a:p>
          <a:p>
            <a:r>
              <a:t>      "summary": "한국관광공사 국문관광정보 API가 반환한 선택 지역 관광자원",</a:t>
            </a:r>
          </a:p>
          <a:p>
            <a:r>
              <a:t>      "image_url": "http://tong.visitkorea.or.kr/cms/resource/05/2865905_image2_1.jpg",</a:t>
            </a:r>
          </a:p>
          <a:p>
            <a:r>
              <a:t>      "source_id": "tour-api:2865914",</a:t>
            </a:r>
          </a:p>
          <a:p>
            <a:r>
              <a:t>      "content_id": "2865914",</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"관광",</a:t>
            </a:r>
          </a:p>
          <a:p>
            <a:r>
              <a:t>        "상권",</a:t>
            </a:r>
          </a:p>
          <a:p>
            <a:r>
              <a:t>        "성과",</a:t>
            </a:r>
          </a:p>
          <a:p>
            <a:r>
              <a:t>        "소비",</a:t>
            </a:r>
          </a:p>
          <a:p>
            <a:r>
              <a:t>        "수와",</a:t>
            </a:r>
          </a:p>
          <a:p>
            <a:r>
              <a:t>        "숙박",</a:t>
            </a:r>
          </a:p>
          <a:p>
            <a:r>
              <a:t>        "실제",</a:t>
            </a:r>
          </a:p>
          <a:p>
            <a:r>
              <a:t>        "연결한",</a:t>
            </a:r>
          </a:p>
          <a:p>
            <a:r>
              <a:t>        "예산",</a:t>
            </a:r>
          </a:p>
          <a:p>
            <a:r>
              <a:t>        "운영",</a:t>
            </a:r>
          </a:p>
          <a:p>
            <a:r>
              <a:t>        "정책",</a:t>
            </a:r>
          </a:p>
          <a:p>
            <a:r>
              <a:t>        "중심으로",</a:t>
            </a:r>
          </a:p>
          <a:p>
            <a:r>
              <a:t>        "지역",</a:t>
            </a:r>
          </a:p>
          <a:p>
            <a:r>
              <a:t>        "체류",</a:t>
            </a:r>
          </a:p>
          <a:p>
            <a:r>
              <a:t>        "함께"</a:t>
            </a:r>
          </a:p>
          <a:p>
            <a:r>
              <a:t>      ],</a:t>
            </a:r>
          </a:p>
          <a:p>
            <a:r>
              <a:t>      "page_references": "PDF 44쪽, PDF 40쪽, PDF 41쪽, PDF 41쪽,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"reference:kto:2026:local-airport:page:044:chunk:01"</a:t>
            </a:r>
          </a:p>
          <a:p>
            <a:r>
              <a:t>      ],</a:t>
            </a:r>
          </a:p>
          <a:p>
            <a:r>
              <a:t>      "source_chunk_count": 5</a:t>
            </a:r>
          </a:p>
          <a:p>
            <a:r>
              <a:t>    },</a:t>
            </a:r>
          </a:p>
          <a:p>
            <a:r>
              <a:t>    {</a:t>
            </a:r>
          </a:p>
          <a:p>
            <a:r>
              <a:t>      "title": "여행가는 달 지역 여행할인 모아보기",</a:t>
            </a:r>
          </a:p>
          <a:p>
            <a:r>
              <a:t>      "summary": "한국관광공사 ‘여행가는 달’ 페이지에는 대전관광공사·대전광역시의 ‘대전관광상품 최대 1만원 할인’이 2026-09-21부터 2026-10-18까지 ‘진행예정’으로 게시되어 있다.",</a:t>
            </a:r>
          </a:p>
          <a:p>
            <a:r>
              <a:t>      "source_id": "web:30170:1",</a:t>
            </a:r>
          </a:p>
          <a:p>
            <a:r>
              <a:t>      "source_url": "https://korean.visitkorea.or.kr/travelmonth/benefit.do?modal=benefit-190",</a:t>
            </a:r>
          </a:p>
          <a:p>
            <a:r>
              <a:t>      "source_type": "official_web",</a:t>
            </a:r>
          </a:p>
          <a:p>
            <a:r>
              <a:t>      "why_relevant": "확정된 실행기간(2026-10-01~2026-12-31) 중 10월 초·중순과 겹치는 기존 관광할인 일정이다. 신규 할인 재원을 가정하기보다, 서구 소재 상품 또는 참여처가 이 할인에 포함될 수 있는지 먼저 대전관광공사·운영주체와 확인할 근거가 된다. 할인 적용 대상, 서구 참여 여부, 중복지원 가능 여부, 정산방식은 이 문서만으로 확인되지 않는다.",</a:t>
            </a:r>
          </a:p>
          <a:p>
            <a:r>
              <a:t>      "published_or_updated_at": "2026-09-17 기준 페이지 확인; 행사 예정 기간 2026-09-21~2026-10-18"</a:t>
            </a:r>
          </a:p>
          <a:p>
            <a:r>
              <a:t>    },</a:t>
            </a:r>
          </a:p>
          <a:p>
            <a:r>
              <a:t>    {</a:t>
            </a:r>
          </a:p>
          <a:p>
            <a:r>
              <a:t>      "title": "대전광역시_문화시설 | 공공데이터포털",</a:t>
            </a:r>
          </a:p>
          <a:p>
            <a:r>
              <a:t>      "summary": "공공데이터포털의 ‘대전광역시_문화시설’ OpenAPI는 공연장·전시관·박물관·도서관·체육관 등 문화시설의 위치, 명칭, 시설유형, 운영시간, 연락처 정보를 제공하며, 제공기관은 대전광역시이다.",</a:t>
            </a:r>
          </a:p>
          <a:p>
            <a:r>
              <a:t>      "source_id": "web:30170:2",</a:t>
            </a:r>
          </a:p>
          <a:p>
            <a:r>
              <a:t>      "source_url": "https://www.data.go.kr/data/15112114/openapi.do?recommendDataYn=Y",</a:t>
            </a:r>
          </a:p>
          <a:p>
            <a:r>
              <a:t>      "source_type": "official_web",</a:t>
            </a:r>
          </a:p>
          <a:p>
            <a:r>
              <a:t>      "why_relevant": "서구 체류 연장 파일럿의 참여 후보를 선정할 때 운영시간과 연락처를 공식 데이터로 대조할 수 있다. 특히 야간·주말 운영 가능 여부를 실제 데이터와 시설별 협의로 확인한 뒤, 10~12월 동선과 안내 페이지를 구성하는 데 활용할 수 있다. 이 데이터셋 설명만으로 특정 시설의 운영시간이나 행사 참여가 확정되는 것은 아니다.",</a:t>
            </a:r>
          </a:p>
          <a:p>
            <a:r>
              <a:t>      "published_or_updated_at": "수정일 2025-07-23"</a:t>
            </a:r>
          </a:p>
          <a:p>
            <a:r>
              <a:t>    },</a:t>
            </a:r>
          </a:p>
          <a:p>
            <a:r>
              <a:t>    {</a:t>
            </a:r>
          </a:p>
          <a:p>
            <a:r>
              <a:t>      "title": "대전광역시 문화관광(숙박정보) 데이터 | 공공데이터포털",</a:t>
            </a:r>
          </a:p>
          <a:p>
            <a:r>
              <a:t>      "summary": "공공데이터포털에는 대전광역시 문화관광 숙박정보 OpenAPI가 있으며, 호텔·모텔·게스트하우스·펜션 등 숙박시설을 행정구역별로 분류하고 위치·연락처·부대시설 등의 정보를 제공한다고 명시되어 있다.",</a:t>
            </a:r>
          </a:p>
          <a:p>
            <a:r>
              <a:t>      "source_id": "web:30170:3",</a:t>
            </a:r>
          </a:p>
          <a:p>
            <a:r>
              <a:t>      "source_url": "https://www.data.go.kr/dataset/15001021/openapi.do",</a:t>
            </a:r>
          </a:p>
          <a:p>
            <a:r>
              <a:t>      "source_type": "official_web",</a:t>
            </a:r>
          </a:p>
          <a:p>
            <a:r>
              <a:t>      "why_relevant": "숙박 연계는 숙박업소의 실제 참여의사와 판매 가능 객실을 확인하기 전에는 확정할 수 없지만, 공식 숙박정보를 이용해 서구 소재 후보 업소를 우선 목록화하고 연락·운영조건 확인 절차를 설계할 수 있다. 제공된 내부 관측의 숙박방문 비율과 평균 숙박일수 개선을 직접 보장하는 근거는 아니다.",</a:t>
            </a:r>
          </a:p>
          <a:p>
            <a:r>
              <a:t>      "published_or_updated_at": "페이지 확인일 2026-09-17"</a:t>
            </a:r>
          </a:p>
          <a:p>
            <a:r>
              <a:t>    },</a:t>
            </a:r>
          </a:p>
          <a:p>
            <a:r>
              <a:t>    {</a:t>
            </a:r>
          </a:p>
          <a:p>
            <a:r>
              <a:t>      "title": "대전문화관광해설사 신규 양성 교육 | 한국관광공사 관광e배움터",</a:t>
            </a:r>
          </a:p>
          <a:p>
            <a:r>
              <a:t>      "summary": "(사)대전광역시관광협회는 2026-07-01~2026-08-31에 ‘대전문화관광해설사 신규 양성 교육’을 운영했으며, 과정 목표는 대전 관광자원을 설명할 전문 해설 인력 양성이다. 과정은 60시간, 신청인원은 13명으로 게시되어 있다.",</a:t>
            </a:r>
          </a:p>
          <a:p>
            <a:r>
              <a:t>      "source_id": "web:30170:4",</a:t>
            </a:r>
          </a:p>
          <a:p>
            <a:r>
              <a:t>      "source_url": "https://touredu.visitkorea.or.kr/home/pkgEdu/pkgEduDetail?crsCd=C202600107&amp;eduPlanYr=2026&amp;eduPlanYrStepCnt=1",</a:t>
            </a:r>
          </a:p>
          <a:p>
            <a:r>
              <a:t>      "source_type": "official_web",</a:t>
            </a:r>
          </a:p>
          <a:p>
            <a:r>
              <a:t>      "why_relevant": "해설·현장안내를 포함하는 방식은 완전히 새로운 인력체계를 만드는 대신, 대전광역시관광협회에 10~12월 서구 권역 배치 가능 여부와 운영조건을 문의하는 조건부 선택지가 될 수 있다. 이 교육 이력은 해설사의 실제 배치, 유급 운영, 서구 코스 담당 또는 특정 언어 서비스 제공을 보장하지 않는다.",</a:t>
            </a:r>
          </a:p>
          <a:p>
            <a:r>
              <a:t>      "published_or_updated_at": "신청·학습기간 2026-07-01~2026-08-31"</a:t>
            </a:r>
          </a:p>
          <a:p>
            <a:r>
              <a:t>    },</a:t>
            </a:r>
          </a:p>
          <a:p>
            <a:r>
              <a:t>    {</a:t>
            </a:r>
          </a:p>
          <a:p>
            <a:r>
              <a:t>      "title": "대전광역시 서구_체육시설 현황 | 공공데이터포털",</a:t>
            </a:r>
          </a:p>
          <a:p>
            <a:r>
              <a:t>      "summary": "공공데이터포털의 ‘대전광역시 서구_체육시설 현황’ 파일은 서구 소재 체육시설의 명칭·주소·면적·운동시설 종류·최대 수용 가능 인원·연락처·관리기관·데이터 기준일자 항목을 포함한다고 명시한다.",</a:t>
            </a:r>
          </a:p>
          <a:p>
            <a:r>
              <a:t>      "source_id": "web:30170:5",</a:t>
            </a:r>
          </a:p>
          <a:p>
            <a:r>
              <a:t>      "source_url": "https://www.data.go.kr/dataset/15037511/fileData.do",</a:t>
            </a:r>
          </a:p>
          <a:p>
            <a:r>
              <a:t>      "source_type": "official_web",</a:t>
            </a:r>
          </a:p>
          <a:p>
            <a:r>
              <a:t>      "why_relevant": "10~12월 체육·공연·문화시설을 체류 콘텐츠 후보로 검토할 경우, 시설의 물리적 수용 조건과 관리기관을 공식 목록으로 확인할 수 있다. 다만 파일 설명만으로 해당 시설의 대관 가능일, 대관료, 행사 가능 시간 또는 관광객 대상 운영 의사가 확인되는 것은 아니다.",</a:t>
            </a:r>
          </a:p>
          <a:p>
            <a:r>
              <a:t>      "published_or_updated_at": "페이지 확인일 2026-09-17"</a:t>
            </a:r>
          </a:p>
          <a:p>
            <a:r>
              <a:t>    },</a:t>
            </a:r>
          </a:p>
          <a:p>
            <a:r>
              <a:t>    {</a:t>
            </a:r>
          </a:p>
          <a:p>
            <a:r>
              <a:t>      "title": "제4차 관광개발기본계획 발표 관련 문화체육관광부 보도자료",</a:t>
            </a:r>
          </a:p>
          <a:p>
            <a:r>
              <a:t>      "summary": "제4차 관광개발기본계획 관련 문화체육관광부 자료는 대전·세종·충청권을 관광 성장 지역 권역 중 하나로 제시하고, 부처·지역 간 연계협력과 지역 여건에 맞는 권역별 발전전략 수립 방향을 밝힌다.",</a:t>
            </a:r>
          </a:p>
          <a:p>
            <a:r>
              <a:t>      "source_id": "web:30170:6",</a:t>
            </a:r>
          </a:p>
          <a:p>
            <a:r>
              <a:t>      "source_url":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      "source_type": "official_web",</a:t>
            </a:r>
          </a:p>
          <a:p>
            <a:r>
              <a:t>      "why_relevant": "서구 단독의 대규모 시설 신설보다 인접 생활·관광권 및 기존 관광사업과의 연계를 검토하는 정책 참고 근거다. 이는 서구 사업의 국비지원 확정, 개별 사업 적격성 또는 성과를 뜻하지 않는다.",</a:t>
            </a:r>
          </a:p>
          <a:p>
            <a:r>
              <a:t>      "published_or_updated_at": "2021-12-30"</a:t>
            </a:r>
          </a:p>
          <a:p>
            <a:r>
              <a:t>    },</a:t>
            </a:r>
          </a:p>
          <a:p>
            <a:r>
              <a:t>    {</a:t>
            </a:r>
          </a:p>
          <a:p>
            <a:r>
              <a:t>      "title": "한국관광 데이터랩 · 안동탈춤축제 연도별 방문자 추이",</a:t>
            </a:r>
          </a:p>
          <a:p>
            <a:r>
              <a:t>      "summary": "경상북도 안동시 · 2025 안동탈춤축제: 10일간 집중 운영한 공연·문화형 축제 · 2024→2025년 전체 504,573→554,494명 (+9.89%). 개최 10→10일, 일평균 +9.89%, 외지인 +10.75%.",</a:t>
            </a:r>
          </a:p>
          <a:p>
            <a:r>
              <a:t>      "source_id": "case:41508ca81cf29f",</a:t>
            </a:r>
          </a:p>
          <a:p>
            <a:r>
              <a:t>      "source_url": "https://datalab.visitkorea.or.kr/",</a:t>
            </a:r>
          </a:p>
          <a:p>
            <a:r>
              <a:t>      "case_region": "경상북도 안동시",</a:t>
            </a:r>
          </a:p>
          <a:p>
            <a:r>
              <a:t>      "source_type": "benchmark_case",</a:t>
            </a:r>
          </a:p>
          <a:p>
            <a:r>
              <a:t>      "dataset_hash": "ad20e3daf70fd44fd481d672398c07bb9c96fce77acb450784065a568735e2e2",</a:t>
            </a:r>
          </a:p>
          <a:p>
            <a:r>
              <a:t>      "intervention": "2025 안동탈춤축제: 10일간 집중 운영한 공연·문화형 축제",</a:t>
            </a:r>
          </a:p>
          <a:p>
            <a:r>
              <a:t>      "source_files": [</a:t>
            </a:r>
          </a:p>
          <a:p>
            <a:r>
              <a:t>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a:t>
            </a:r>
          </a:p>
          <a:p>
            <a:r>
              <a:t>          "sha256": "c0b34e003112bda1f5afa06dcb153cc870d61730036ef23f1b3e7aed39ca5458",</a:t>
            </a:r>
          </a:p>
          <a:p>
            <a:r>
              <a:t>          "provider": "한국관광 데이터랩",</a:t>
            </a:r>
          </a:p>
          <a:p>
            <a:r>
              <a:t>          "file_name": "20260820175023_안동탈춤축제_성_연령별 내국인 방문자.csv",</a:t>
            </a:r>
          </a:p>
          <a:p>
            <a:r>
              <a:t>          "source_id": "festival-file:c0b34e003112bda1f5af",</a:t>
            </a:r>
          </a:p>
          <a:p>
            <a:r>
              <a:t>          "source_url": "https://datalab.visitkorea.or.kr/",</a:t>
            </a:r>
          </a:p>
          <a:p>
            <a:r>
              <a:t>          "downloaded_at": "2026-08-20",</a:t>
            </a:r>
          </a:p>
          <a:p>
            <a:r>
              <a:t>          "relative_path": "data/source_snapshots/festivals_20260820/43. 안동탈춤축제_2023-2025/20260820175023_안동탈춤축제_성_연령별 내국인 방문자.csv",</a:t>
            </a:r>
          </a:p>
          <a:p>
            <a:r>
              <a:t>          "provenance_status": "team_download_exact_query_url_unrecorded"</a:t>
            </a:r>
          </a:p>
          <a:p>
            <a:r>
              <a:t>        },</a:t>
            </a:r>
          </a:p>
          <a:p>
            <a:r>
              <a:t>        {</a:t>
            </a:r>
          </a:p>
          <a:p>
            <a:r>
              <a:t>          "sha256": "40ddabd2e46fcb12bc9cc2361174e1a5ebe80f169611896b6d4b5e60d9fda352",</a:t>
            </a:r>
          </a:p>
          <a:p>
            <a:r>
              <a:t>          "provider": "한국관광 데이터랩",</a:t>
            </a:r>
          </a:p>
          <a:p>
            <a:r>
              <a:t>          "file_name": "20260820175023_안동탈춤축제_문화관광축제 주요 지표.csv",</a:t>
            </a:r>
          </a:p>
          <a:p>
            <a:r>
              <a:t>          "source_id": "festival-file:40ddabd2e46fcb12bc9c",</a:t>
            </a:r>
          </a:p>
          <a:p>
            <a:r>
              <a:t>          "source_url": "https://datalab.visitkorea.or.kr/",</a:t>
            </a:r>
          </a:p>
          <a:p>
            <a:r>
              <a:t>          "downloaded_at": "2026-08-20",</a:t>
            </a:r>
          </a:p>
          <a:p>
            <a:r>
              <a:t>          "relative_path": "data/source_snapshots/festivals_20260820/43. 안동탈춤축제_2023-2025/20260820175023_안동탈춤축제_문화관광축제 주요 지표.csv",</a:t>
            </a:r>
          </a:p>
          <a:p>
            <a:r>
              <a:t>          "provenance_status": "team_download_exact_query_url_unrecorded"</a:t>
            </a:r>
          </a:p>
          <a:p>
            <a:r>
              <a:t>        },</a:t>
            </a:r>
          </a:p>
          <a:p>
            <a:r>
              <a:t>        {</a:t>
            </a:r>
          </a:p>
          <a:p>
            <a:r>
              <a:t>          "sha256": "11de7e20288dde00f7f18e353a24b5a95c511a7dc354ec9cc2c7a3a2436712f6",</a:t>
            </a:r>
          </a:p>
          <a:p>
            <a:r>
              <a:t>          "provider": "한국관광 데이터랩",</a:t>
            </a:r>
          </a:p>
          <a:p>
            <a:r>
              <a:t>          "file_name": "20260820175023_안동탈춤축제_목적지 검색순위.csv",</a:t>
            </a:r>
          </a:p>
          <a:p>
            <a:r>
              <a:t>          "source_id": "festival-file:11de7e20288dde00f7f1",</a:t>
            </a:r>
          </a:p>
          <a:p>
            <a:r>
              <a:t>          "source_url": "https://datalab.visitkorea.or.kr/",</a:t>
            </a:r>
          </a:p>
          <a:p>
            <a:r>
              <a:t>          "downloaded_at": "2026-08-20",</a:t>
            </a:r>
          </a:p>
          <a:p>
            <a:r>
              <a:t>          "relative_path": "data/source_snapshots/festivals_20260820/43. 안동탈춤축제_2023-2025/20260820175023_안동탈춤축제_목적지 검색순위.csv",</a:t>
            </a:r>
          </a:p>
          <a:p>
            <a:r>
              <a:t>          "provenance_status": "team_download_exact_query_url_unrecorded"</a:t>
            </a:r>
          </a:p>
          <a:p>
            <a:r>
              <a:t>        }</a:t>
            </a:r>
          </a:p>
          <a:p>
            <a:r>
              <a:t>      ],</a:t>
            </a:r>
          </a:p>
          <a:p>
            <a:r>
              <a:t>      "document_type": null,</a:t>
            </a:r>
          </a:p>
          <a:p>
            <a:r>
              <a:t>      "evidence_kind": "festival_document_and_statistics",</a:t>
            </a:r>
          </a:p>
          <a:p>
            <a:r>
              <a:t>      "observed_result": "2024→2025년 전체 504,573→554,494명 (+9.89%). 개최 10→10일, 일평균 +9.89%, 외지인 +10.75%.",</a:t>
            </a:r>
          </a:p>
          <a:p>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"공연·문화",</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"official_web_search",</a:t>
            </a:r>
          </a:p>
          <a:p>
            <a:r>
              <a:t>      "evidence_strength": "medium",</a:t>
            </a:r>
          </a:p>
          <a:p>
            <a:r>
              <a:t>      "retrieval_context": {</a:t>
            </a:r>
          </a:p>
          <a:p>
            <a:r>
              <a:t>        "scope": "cross_province",</a:t>
            </a:r>
          </a:p>
          <a:p>
            <a:r>
              <a:t>        "peer_region_code": null</a:t>
            </a:r>
          </a:p>
          <a:p>
            <a:r>
              <a:t>      },</a:t>
            </a:r>
          </a:p>
          <a:p>
            <a:r>
              <a:t>      "measurement_period": "2024년과 2025년 각 축제 10일 개최기간 비교",</a:t>
            </a:r>
          </a:p>
          <a:p>
            <a:r>
              <a:t>      "festival_statistics": {</a:t>
            </a:r>
          </a:p>
          <a:p>
            <a:r>
              <a:t>        "name": "안동탈춤축제",</a:t>
            </a:r>
          </a:p>
          <a:p>
            <a:r>
              <a:t>        "scope": "축제 관측구역 방문 지표. 도시 전체·순증 관광객·입장권 실구매자 수가 아님.",</a:t>
            </a:r>
          </a:p>
          <a:p>
            <a:r>
              <a:t>        "annual": [</a:t>
            </a:r>
          </a:p>
          <a:p>
            <a:r>
              <a:t>          {</a:t>
            </a:r>
          </a:p>
          <a:p>
            <a:r>
              <a:t>            "days": 8,</a:t>
            </a:r>
          </a:p>
          <a:p>
            <a:r>
              <a:t>            "year": 2023,</a:t>
            </a:r>
          </a:p>
          <a:p>
            <a:r>
              <a:t>            "daily": 45517.125,</a:t>
            </a:r>
          </a:p>
          <a:p>
            <a:r>
              <a:t>            "local": 233513,</a:t>
            </a:r>
          </a:p>
          <a:p>
            <a:r>
              <a:t>            "total": 364137,</a:t>
            </a:r>
          </a:p>
          <a:p>
            <a:r>
              <a:t>            "foreign": 3319,</a:t>
            </a:r>
          </a:p>
          <a:p>
            <a:r>
              <a:t>            "outside": 127305,</a:t>
            </a:r>
          </a:p>
          <a:p>
            <a:r>
              <a:t>            "outside_daily": 15913.125,</a:t>
            </a:r>
          </a:p>
          <a:p>
            <a:r>
              <a:t>            "outside_share_pct": 34.960742797353745</a:t>
            </a:r>
          </a:p>
          <a:p>
            <a:r>
              <a:t>          },</a:t>
            </a:r>
          </a:p>
          <a:p>
            <a:r>
              <a:t>          {</a:t>
            </a:r>
          </a:p>
          <a:p>
            <a:r>
              <a:t>            "days": 10,</a:t>
            </a:r>
          </a:p>
          <a:p>
            <a:r>
              <a:t>            "year": 2024,</a:t>
            </a:r>
          </a:p>
          <a:p>
            <a:r>
              <a:t>            "daily": 50457.3,</a:t>
            </a:r>
          </a:p>
          <a:p>
            <a:r>
              <a:t>            "local": 317925,</a:t>
            </a:r>
          </a:p>
          <a:p>
            <a:r>
              <a:t>            "total": 504573,</a:t>
            </a:r>
          </a:p>
          <a:p>
            <a:r>
              <a:t>            "foreign": 4684,</a:t>
            </a:r>
          </a:p>
          <a:p>
            <a:r>
              <a:t>            "outside": 181964,</a:t>
            </a:r>
          </a:p>
          <a:p>
            <a:r>
              <a:t>            "outside_daily": 18196.4,</a:t>
            </a:r>
          </a:p>
          <a:p>
            <a:r>
              <a:t>            "outside_share_pct": 36.06296809381398</a:t>
            </a:r>
          </a:p>
          <a:p>
            <a:r>
              <a:t>          },</a:t>
            </a:r>
          </a:p>
          <a:p>
            <a:r>
              <a:t>          {</a:t>
            </a:r>
          </a:p>
          <a:p>
            <a:r>
              <a:t>            "days": 10,</a:t>
            </a:r>
          </a:p>
          <a:p>
            <a:r>
              <a:t>            "year": 2025,</a:t>
            </a:r>
          </a:p>
          <a:p>
            <a:r>
              <a:t>            "daily": 55449.4,</a:t>
            </a:r>
          </a:p>
          <a:p>
            <a:r>
              <a:t>            "local": 347269,</a:t>
            </a:r>
          </a:p>
          <a:p>
            <a:r>
              <a:t>            "total": 554494,</a:t>
            </a:r>
          </a:p>
          <a:p>
            <a:r>
              <a:t>            "foreign": 5702,</a:t>
            </a:r>
          </a:p>
          <a:p>
            <a:r>
              <a:t>            "outside": 201523,</a:t>
            </a:r>
          </a:p>
          <a:p>
            <a:r>
              <a:t>            "outside_daily": 20152.3,</a:t>
            </a:r>
          </a:p>
          <a:p>
            <a:r>
              <a:t>            "outside_share_pct": 36.34358532283487</a:t>
            </a:r>
          </a:p>
          <a:p>
            <a:r>
              <a:t>          }</a:t>
            </a:r>
          </a:p>
          <a:p>
            <a:r>
              <a:t>        ],</a:t>
            </a:r>
          </a:p>
          <a:p>
            <a:r>
              <a:t>        "audience": [</a:t>
            </a:r>
          </a:p>
          <a:p>
            <a:r>
              <a:t>          {</a:t>
            </a:r>
          </a:p>
          <a:p>
            <a:r>
              <a:t>            "연령대": "70세 이상",</a:t>
            </a:r>
          </a:p>
          <a:p>
            <a:r>
              <a:t>            "축제명": "안동탈춤축제",</a:t>
            </a:r>
          </a:p>
          <a:p>
            <a:r>
              <a:t>            "남성비율": "4.4",</a:t>
            </a:r>
          </a:p>
          <a:p>
            <a:r>
              <a:t>            "여성비율": "5.0"</a:t>
            </a:r>
          </a:p>
          <a:p>
            <a:r>
              <a:t>          },</a:t>
            </a:r>
          </a:p>
          <a:p>
            <a:r>
              <a:t>          {</a:t>
            </a:r>
          </a:p>
          <a:p>
            <a:r>
              <a:t>            "연령대": "60~69세",</a:t>
            </a:r>
          </a:p>
          <a:p>
            <a:r>
              <a:t>            "축제명": "안동탈춤축제",</a:t>
            </a:r>
          </a:p>
          <a:p>
            <a:r>
              <a:t>            "남성비율": "8.0",</a:t>
            </a:r>
          </a:p>
          <a:p>
            <a:r>
              <a:t>            "여성비율": "8.5"</a:t>
            </a:r>
          </a:p>
          <a:p>
            <a:r>
              <a:t>          },</a:t>
            </a:r>
          </a:p>
          <a:p>
            <a:r>
              <a:t>          {</a:t>
            </a:r>
          </a:p>
          <a:p>
            <a:r>
              <a:t>            "연령대": "50~59세",</a:t>
            </a:r>
          </a:p>
          <a:p>
            <a:r>
              <a:t>            "축제명": "안동탈춤축제",</a:t>
            </a:r>
          </a:p>
          <a:p>
            <a:r>
              <a:t>            "남성비율": "9.2",</a:t>
            </a:r>
          </a:p>
          <a:p>
            <a:r>
              <a:t>            "여성비율": "10.9"</a:t>
            </a:r>
          </a:p>
          <a:p>
            <a:r>
              <a:t>          },</a:t>
            </a:r>
          </a:p>
          <a:p>
            <a:r>
              <a:t>          {</a:t>
            </a:r>
          </a:p>
          <a:p>
            <a:r>
              <a:t>            "연령대": "40~49세",</a:t>
            </a:r>
          </a:p>
          <a:p>
            <a:r>
              <a:t>            "축제명": "안동탈춤축제",</a:t>
            </a:r>
          </a:p>
          <a:p>
            <a:r>
              <a:t>            "남성비율": "7.5",</a:t>
            </a:r>
          </a:p>
          <a:p>
            <a:r>
              <a:t>            "여성비율": "7.9"</a:t>
            </a:r>
          </a:p>
          <a:p>
            <a:r>
              <a:t>          },</a:t>
            </a:r>
          </a:p>
          <a:p>
            <a:r>
              <a:t>          {</a:t>
            </a:r>
          </a:p>
          <a:p>
            <a:r>
              <a:t>            "연령대": "30~39세",</a:t>
            </a:r>
          </a:p>
          <a:p>
            <a:r>
              <a:t>            "축제명": "안동탈춤축제",</a:t>
            </a:r>
          </a:p>
          <a:p>
            <a:r>
              <a:t>            "남성비율": "7.9",</a:t>
            </a:r>
          </a:p>
          <a:p>
            <a:r>
              <a:t>            "여성비율": "7.2"</a:t>
            </a:r>
          </a:p>
          <a:p>
            <a:r>
              <a:t>          },</a:t>
            </a:r>
          </a:p>
          <a:p>
            <a:r>
              <a:t>          {</a:t>
            </a:r>
          </a:p>
          <a:p>
            <a:r>
              <a:t>            "연령대": "20~29세",</a:t>
            </a:r>
          </a:p>
          <a:p>
            <a:r>
              <a:t>            "축제명": "안동탈춤축제",</a:t>
            </a:r>
          </a:p>
          <a:p>
            <a:r>
              <a:t>            "남성비율": "7.1",</a:t>
            </a:r>
          </a:p>
          <a:p>
            <a:r>
              <a:t>            "여성비율": "8.2"</a:t>
            </a:r>
          </a:p>
          <a:p>
            <a:r>
              <a:t>          },</a:t>
            </a:r>
          </a:p>
          <a:p>
            <a:r>
              <a:t>          {</a:t>
            </a:r>
          </a:p>
          <a:p>
            <a:r>
              <a:t>            "연령대": "10~19세",</a:t>
            </a:r>
          </a:p>
          <a:p>
            <a:r>
              <a:t>            "축제명": "안동탈춤축제",</a:t>
            </a:r>
          </a:p>
          <a:p>
            <a:r>
              <a:t>            "남성비율": "3.2",</a:t>
            </a:r>
          </a:p>
          <a:p>
            <a:r>
              <a:t>            "여성비율": "3.9"</a:t>
            </a:r>
          </a:p>
          <a:p>
            <a:r>
              <a:t>          },</a:t>
            </a:r>
          </a:p>
          <a:p>
            <a:r>
              <a:t>          {</a:t>
            </a:r>
          </a:p>
          <a:p>
            <a:r>
              <a:t>            "연령대": "0~9세",</a:t>
            </a:r>
          </a:p>
          <a:p>
            <a:r>
              <a:t>            "축제명": "안동탈춤축제",</a:t>
            </a:r>
          </a:p>
          <a:p>
            <a:r>
              <a:t>            "남성비율": "0.5",</a:t>
            </a:r>
          </a:p>
          <a:p>
            <a:r>
              <a:t>            "여성비율": "0.7"</a:t>
            </a:r>
          </a:p>
          <a:p>
            <a:r>
              <a:t>          }</a:t>
            </a:r>
          </a:p>
          <a:p>
            <a:r>
              <a:t>        ],</a:t>
            </a:r>
          </a:p>
          <a:p>
            <a:r>
              <a:t>        "comparison": {</a:t>
            </a:r>
          </a:p>
          <a:p>
            <a:r>
              <a:t>          "daily": {</a:t>
            </a:r>
          </a:p>
          <a:p>
            <a:r>
              <a:t>            "after": 55449.4,</a:t>
            </a:r>
          </a:p>
          <a:p>
            <a:r>
              <a:t>            "before": 50457.3,</a:t>
            </a:r>
          </a:p>
          <a:p>
            <a:r>
              <a:t>            "change_pct": 9.893712109050613,</a:t>
            </a:r>
          </a:p>
          <a:p>
            <a:r>
              <a:t>            "difference": 4992.0999999999985</a:t>
            </a:r>
          </a:p>
          <a:p>
            <a:r>
              <a:t>          },</a:t>
            </a:r>
          </a:p>
          <a:p>
            <a:r>
              <a:t>          "total": {</a:t>
            </a:r>
          </a:p>
          <a:p>
            <a:r>
              <a:t>            "after": 554494,</a:t>
            </a:r>
          </a:p>
          <a:p>
            <a:r>
              <a:t>            "before": 504573,</a:t>
            </a:r>
          </a:p>
          <a:p>
            <a:r>
              <a:t>            "change_pct": 9.893712109050613,</a:t>
            </a:r>
          </a:p>
          <a:p>
            <a:r>
              <a:t>            "difference": 49921</a:t>
            </a:r>
          </a:p>
          <a:p>
            <a:r>
              <a:t>          },</a:t>
            </a:r>
          </a:p>
          <a:p>
            <a:r>
              <a:t>          "outside": {</a:t>
            </a:r>
          </a:p>
          <a:p>
            <a:r>
              <a:t>            "after": 201523,</a:t>
            </a:r>
          </a:p>
          <a:p>
            <a:r>
              <a:t>            "before": 181964,</a:t>
            </a:r>
          </a:p>
          <a:p>
            <a:r>
              <a:t>            "change_pct": 10.748829438790096,</a:t>
            </a:r>
          </a:p>
          <a:p>
            <a:r>
              <a:t>            "difference": 19559</a:t>
            </a:r>
          </a:p>
          <a:p>
            <a:r>
              <a:t>          },</a:t>
            </a:r>
          </a:p>
          <a:p>
            <a:r>
              <a:t>          "after_days": 10,</a:t>
            </a:r>
          </a:p>
          <a:p>
            <a:r>
              <a:t>          "after_year": 2025,</a:t>
            </a:r>
          </a:p>
          <a:p>
            <a:r>
              <a:t>          "before_days": 10,</a:t>
            </a:r>
          </a:p>
          <a:p>
            <a:r>
              <a:t>          "before_year": 2024,</a:t>
            </a:r>
          </a:p>
          <a:p>
            <a:r>
              <a:t>          "outside_daily": {</a:t>
            </a:r>
          </a:p>
          <a:p>
            <a:r>
              <a:t>            "after": 20152.3,</a:t>
            </a:r>
          </a:p>
          <a:p>
            <a:r>
              <a:t>            "before": 18196.4,</a:t>
            </a:r>
          </a:p>
          <a:p>
            <a:r>
              <a:t>            "change_pct": 10.748829438790075,</a:t>
            </a:r>
          </a:p>
          <a:p>
            <a:r>
              <a:t>            "difference": 1955.8999999999976</a:t>
            </a:r>
          </a:p>
          <a:p>
            <a:r>
              <a:t>          }</a:t>
            </a:r>
          </a:p>
          <a:p>
            <a:r>
              <a:t>        },</a:t>
            </a:r>
          </a:p>
          <a:p>
            <a:r>
              <a:t>        "source_file":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"0.515",</a:t>
            </a:r>
          </a:p>
          <a:p>
            <a:r>
              <a:t>            "축제명": "안동탈춤축제",</a:t>
            </a:r>
          </a:p>
          <a:p>
            <a:r>
              <a:t>            "개최년도": "2025"</a:t>
            </a:r>
          </a:p>
          <a:p>
            <a:r>
              <a:t>          },</a:t>
            </a:r>
          </a:p>
          <a:p>
            <a:r>
              <a:t>          {</a:t>
            </a:r>
          </a:p>
          <a:p>
            <a:r>
              <a:t>            "구분명": "현지인방문자 유입",</a:t>
            </a:r>
          </a:p>
          <a:p>
            <a:r>
              <a:t>            "그룹명": "축제기간",</a:t>
            </a:r>
          </a:p>
          <a:p>
            <a:r>
              <a:t>            "지표값": "0.859",</a:t>
            </a:r>
          </a:p>
          <a:p>
            <a:r>
              <a:t>            "축제명": "안동탈춤축제",</a:t>
            </a:r>
          </a:p>
          <a:p>
            <a:r>
              <a:t>            "개최년도": "2025"</a:t>
            </a:r>
          </a:p>
          <a:p>
            <a:r>
              <a:t>          },</a:t>
            </a:r>
          </a:p>
          <a:p>
            <a:r>
              <a:t>          {</a:t>
            </a:r>
          </a:p>
          <a:p>
            <a:r>
              <a:t>            "구분명": "내비게이션 검색량",</a:t>
            </a:r>
          </a:p>
          <a:p>
            <a:r>
              <a:t>            "그룹명": "축제기간",</a:t>
            </a:r>
          </a:p>
          <a:p>
            <a:r>
              <a:t>            "지표값": "0.434",</a:t>
            </a:r>
          </a:p>
          <a:p>
            <a:r>
              <a:t>            "축제명": "안동탈춤축제",</a:t>
            </a:r>
          </a:p>
          <a:p>
            <a:r>
              <a:t>            "개최년도": "2025"</a:t>
            </a:r>
          </a:p>
          <a:p>
            <a:r>
              <a:t>          },</a:t>
            </a:r>
          </a:p>
          <a:p>
            <a:r>
              <a:t>          {</a:t>
            </a:r>
          </a:p>
          <a:p>
            <a:r>
              <a:t>            "구분명": "관광소비",</a:t>
            </a:r>
          </a:p>
          <a:p>
            <a:r>
              <a:t>            "그룹명": "축제기간",</a:t>
            </a:r>
          </a:p>
          <a:p>
            <a:r>
              <a:t>            "지표값": "0.544",</a:t>
            </a:r>
          </a:p>
          <a:p>
            <a:r>
              <a:t>            "축제명": "안동탈춤축제",</a:t>
            </a:r>
          </a:p>
          <a:p>
            <a:r>
              <a:t>            "개최년도": "2025"</a:t>
            </a:r>
          </a:p>
          <a:p>
            <a:r>
              <a:t>          },</a:t>
            </a:r>
          </a:p>
          <a:p>
            <a:r>
              <a:t>          {</a:t>
            </a:r>
          </a:p>
          <a:p>
            <a:r>
              <a:t>            "구분명": "축제지 집중률",</a:t>
            </a:r>
          </a:p>
          <a:p>
            <a:r>
              <a:t>            "그룹명": "축제기간",</a:t>
            </a:r>
          </a:p>
          <a:p>
            <a:r>
              <a:t>            "지표값": "0.879",</a:t>
            </a:r>
          </a:p>
          <a:p>
            <a:r>
              <a:t>            "축제명": "안동탈춤축제",</a:t>
            </a:r>
          </a:p>
          <a:p>
            <a:r>
              <a:t>            "개최년도": "2025"</a:t>
            </a:r>
          </a:p>
          <a:p>
            <a:r>
              <a:t>          },</a:t>
            </a:r>
          </a:p>
          <a:p>
            <a:r>
              <a:t>          {</a:t>
            </a:r>
          </a:p>
          <a:p>
            <a:r>
              <a:t>            "구분명": "외부방문자 유입",</a:t>
            </a:r>
          </a:p>
          <a:p>
            <a:r>
              <a:t>            "그룹명": "비축제기간",</a:t>
            </a:r>
          </a:p>
          <a:p>
            <a:r>
              <a:t>            "지표값": "0.258",</a:t>
            </a:r>
          </a:p>
          <a:p>
            <a:r>
              <a:t>            "축제명": "안동탈춤축제",</a:t>
            </a:r>
          </a:p>
          <a:p>
            <a:r>
              <a:t>            "개최년도": "2025"</a:t>
            </a:r>
          </a:p>
          <a:p>
            <a:r>
              <a:t>          },</a:t>
            </a:r>
          </a:p>
          <a:p>
            <a:r>
              <a:t>          {</a:t>
            </a:r>
          </a:p>
          <a:p>
            <a:r>
              <a:t>            "구분명": "현지인방문자 유입",</a:t>
            </a:r>
          </a:p>
          <a:p>
            <a:r>
              <a:t>            "그룹명": "비축제기간",</a:t>
            </a:r>
          </a:p>
          <a:p>
            <a:r>
              <a:t>            "지표값": "0.618",</a:t>
            </a:r>
          </a:p>
          <a:p>
            <a:r>
              <a:t>            "축제명": "안동탈춤축제",</a:t>
            </a:r>
          </a:p>
          <a:p>
            <a:r>
              <a:t>            "개최년도": "2025"</a:t>
            </a:r>
          </a:p>
          <a:p>
            <a:r>
              <a:t>          },</a:t>
            </a:r>
          </a:p>
          <a:p>
            <a:r>
              <a:t>          {</a:t>
            </a:r>
          </a:p>
          <a:p>
            <a:r>
              <a:t>            "구분명": "내비게이션 검색량",</a:t>
            </a:r>
          </a:p>
          <a:p>
            <a:r>
              <a:t>            "그룹명": "비축제기간",</a:t>
            </a:r>
          </a:p>
          <a:p>
            <a:r>
              <a:t>            "지표값": "0.252",</a:t>
            </a:r>
          </a:p>
          <a:p>
            <a:r>
              <a:t>            "축제명": "안동탈춤축제",</a:t>
            </a:r>
          </a:p>
          <a:p>
            <a:r>
              <a:t>            "개최년도": "2025"</a:t>
            </a:r>
          </a:p>
          <a:p>
            <a:r>
              <a:t>          },</a:t>
            </a:r>
          </a:p>
          <a:p>
            <a:r>
              <a:t>          {</a:t>
            </a:r>
          </a:p>
          <a:p>
            <a:r>
              <a:t>            "구분명": "관광소비",</a:t>
            </a:r>
          </a:p>
          <a:p>
            <a:r>
              <a:t>            "그룹명": "비축제기간",</a:t>
            </a:r>
          </a:p>
          <a:p>
            <a:r>
              <a:t>            "지표값": "0.375",</a:t>
            </a:r>
          </a:p>
          <a:p>
            <a:r>
              <a:t>            "축제명": "안동탈춤축제",</a:t>
            </a:r>
          </a:p>
          <a:p>
            <a:r>
              <a:t>            "개최년도": "2025"</a:t>
            </a:r>
          </a:p>
          <a:p>
            <a:r>
              <a:t>          },</a:t>
            </a:r>
          </a:p>
          <a:p>
            <a:r>
              <a:t>          {</a:t>
            </a:r>
          </a:p>
          <a:p>
            <a:r>
              <a:t>            "구분명": "축제지 집중률",</a:t>
            </a:r>
          </a:p>
          <a:p>
            <a:r>
              <a:t>            "그룹명": "비축제기간",</a:t>
            </a:r>
          </a:p>
          <a:p>
            <a:r>
              <a:t>            "지표값": "0.65",</a:t>
            </a:r>
          </a:p>
          <a:p>
            <a:r>
              <a:t>            "축제명": "안동탈춤축제",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"안동구시장",</a:t>
            </a:r>
          </a:p>
          <a:p>
            <a:r>
              <a:t>            "카테고리": "시장",</a:t>
            </a:r>
          </a:p>
          <a:p>
            <a:r>
              <a:t>            "도로명주소": "경북 안동시 번영1길 47-0"</a:t>
            </a:r>
          </a:p>
          <a:p>
            <a:r>
              <a:t>          },</a:t>
            </a:r>
          </a:p>
          <a:p>
            <a:r>
              <a:t>          {</a:t>
            </a:r>
          </a:p>
          <a:p>
            <a:r>
              <a:t>            "구분": "외지인",</a:t>
            </a:r>
          </a:p>
          <a:p>
            <a:r>
              <a:t>            "순위": "2",</a:t>
            </a:r>
          </a:p>
          <a:p>
            <a:r>
              <a:t>            "목적지명": "안동국제탈춤페스티벌",</a:t>
            </a:r>
          </a:p>
          <a:p>
            <a:r>
              <a:t>            "카테고리": "기타문화관광지",</a:t>
            </a:r>
          </a:p>
          <a:p>
            <a:r>
              <a:t>            "도로명주소": "경북 안동시 육사로 239-0"</a:t>
            </a:r>
          </a:p>
          <a:p>
            <a:r>
              <a:t>          },</a:t>
            </a:r>
          </a:p>
          <a:p>
            <a:r>
              <a:t>          {</a:t>
            </a:r>
          </a:p>
          <a:p>
            <a:r>
              <a:t>            "구분": "외지인",</a:t>
            </a:r>
          </a:p>
          <a:p>
            <a:r>
              <a:t>            "순위": "3",</a:t>
            </a:r>
          </a:p>
          <a:p>
            <a:r>
              <a:t>            "목적지명": "탈춤공원",</a:t>
            </a:r>
          </a:p>
          <a:p>
            <a:r>
              <a:t>            "카테고리": "도시공원",</a:t>
            </a:r>
          </a:p>
          <a:p>
            <a:r>
              <a:t>            "도로명주소": "경북 안동시 육사로 239-0"</a:t>
            </a:r>
          </a:p>
          <a:p>
            <a:r>
              <a:t>          }</a:t>
            </a:r>
          </a:p>
          <a:p>
            <a:r>
              <a:t>        ]</a:t>
            </a:r>
          </a:p>
          <a:p>
            <a:r>
              <a:t>      },</a:t>
            </a:r>
          </a:p>
          <a:p>
            <a:r>
              <a:t>      "transfer_conditions": [</a:t>
            </a:r>
          </a:p>
          <a:p>
            <a:r>
              <a:t>        "대전 서구의 기존 문화·상업시설과 맞는 주제를 새로 선정하고 프로그램·회차·정원을 별도로 설계해야 한다.",</a:t>
            </a:r>
          </a:p>
          <a:p>
            <a:r>
              <a:t>        "10일 연속 운영보다 고정 일정인 10~12월에 주말 반복형으로 분산하는 방안을 비교해야 한다.",</a:t>
            </a:r>
          </a:p>
          <a:p>
            <a:r>
              <a:t>        "외지인 관측 증가가 실제 상권 결제로 이어졌는지 확인할 수 있도록 예약·QR·카드 또는 영수증 기반 기록이 필요하다.",</a:t>
            </a:r>
          </a:p>
          <a:p>
            <a:r>
              <a:t>        "행사장 주변 교통·식음·야간 운영 가능 시설을 현장 확인한 뒤 참여처를 모집해야 한다."</a:t>
            </a:r>
          </a:p>
          <a:p>
            <a:r>
              <a:t>      ],</a:t>
            </a:r>
          </a:p>
          <a:p>
            <a:r>
              <a:t>      "operating_statistics": [</a:t>
            </a:r>
          </a:p>
          <a:p>
            <a:r>
              <a:t>        {</a:t>
            </a:r>
          </a:p>
          <a:p>
            <a:r>
              <a:t>          "unit": "day",</a:t>
            </a:r>
          </a:p>
          <a:p>
            <a:r>
              <a:t>          "quote": "2025년 10일 개최",</a:t>
            </a:r>
          </a:p>
          <a:p>
            <a:r>
              <a:t>          "scope": "안동탈춤축제 전체 개최일수",</a:t>
            </a:r>
          </a:p>
          <a:p>
            <a:r>
              <a:t>          "value": 10,</a:t>
            </a:r>
          </a:p>
          <a:p>
            <a:r>
              <a:t>          "metric": "operating_days",</a:t>
            </a:r>
          </a:p>
          <a:p>
            <a:r>
              <a:t>          "period": "2025년 축제 개최기간",</a:t>
            </a:r>
          </a:p>
          <a:p>
            <a:r>
              <a:t>          "program_name": "안동탈춤축제",</a:t>
            </a:r>
          </a:p>
          <a:p>
            <a:r>
              <a:t>          "capacity_count": null,</a:t>
            </a:r>
          </a:p>
          <a:p>
            <a:r>
              <a:t>          "participant_count": null</a:t>
            </a:r>
          </a:p>
          <a:p>
            <a:r>
              <a:t>        }</a:t>
            </a:r>
          </a:p>
          <a:p>
            <a:r>
              <a:t>      ],</a:t>
            </a:r>
          </a:p>
          <a:p>
            <a:r>
              <a:t>      "published_or_updated_at": "2026-08-20",</a:t>
            </a:r>
          </a:p>
          <a:p>
            <a:r>
              <a:t>      "quantitative_result_approved": true</a:t>
            </a:r>
          </a:p>
          <a:p>
            <a:r>
              <a:t>    },</a:t>
            </a:r>
          </a:p>
          <a:p>
            <a:r>
              <a:t>    {</a:t>
            </a:r>
          </a:p>
          <a:p>
            <a:r>
              <a:t>      "title": "한국관광 데이터랩 · 문경찻사발축제 방문자 추이",</a:t>
            </a:r>
          </a:p>
          <a:p>
            <a:r>
              <a:t>      "summary": "경상북도 문경시 · 문경찻사발축제 · 2024→2025년 전체 245,750→256,570명 (+4.40%). 개최 10→9일, 일평균 +16.00%, 외지인 +9.28%.",</a:t>
            </a:r>
          </a:p>
          <a:p>
            <a:r>
              <a:t>      "source_id": "case:festival:01474ef75569b1",</a:t>
            </a:r>
          </a:p>
          <a:p>
            <a:r>
              <a:t>      "source_url": "https://datalab.visitkorea.or.kr/",</a:t>
            </a:r>
          </a:p>
          <a:p>
            <a:r>
              <a:t>      "case_region": "경상북도 문경시",</a:t>
            </a:r>
          </a:p>
          <a:p>
            <a:r>
              <a:t>      "source_type": "benchmark_case",</a:t>
            </a:r>
          </a:p>
          <a:p>
            <a:r>
              <a:t>      "dataset_hash": "ad20e3daf70fd44fd481d672398c07bb9c96fce77acb450784065a568735e2e2",</a:t>
            </a:r>
          </a:p>
          <a:p>
            <a:r>
              <a:t>      "intervention": "문경찻사발축제",</a:t>
            </a:r>
          </a:p>
          <a:p>
            <a:r>
              <a:t>      "source_files": [</a:t>
            </a:r>
          </a:p>
          <a:p>
            <a:r>
              <a:t>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a:t>
            </a:r>
          </a:p>
          <a:p>
            <a:r>
              <a:t>          "sha256": "44238aecdfa68974febce93cd262e119492da76910929b96da438d8b6ee7a9b3",</a:t>
            </a:r>
          </a:p>
          <a:p>
            <a:r>
              <a:t>          "provider": "한국관광 데이터랩",</a:t>
            </a:r>
          </a:p>
          <a:p>
            <a:r>
              <a:t>          "file_name": "20260820160334_문경찻사발축제_성_연령별 내국인 방문자.csv",</a:t>
            </a:r>
          </a:p>
          <a:p>
            <a:r>
              <a:t>          "source_id": "festival-file:44238aecdfa68974febc",</a:t>
            </a:r>
          </a:p>
          <a:p>
            <a:r>
              <a:t>          "source_url": "https://datalab.visitkorea.or.kr/",</a:t>
            </a:r>
          </a:p>
          <a:p>
            <a:r>
              <a:t>          "downloaded_at": "2026-08-20",</a:t>
            </a:r>
          </a:p>
          <a:p>
            <a:r>
              <a:t>          "relative_path": "data/source_snapshots/festivals_20260820/25. 문경찻사발축제_2023-2025/20260820160334_문경찻사발축제_성_연령별 내국인 방문자.csv",</a:t>
            </a:r>
          </a:p>
          <a:p>
            <a:r>
              <a:t>          "provenance_status": "team_download_exact_query_url_unrecorded"</a:t>
            </a:r>
          </a:p>
          <a:p>
            <a:r>
              <a:t>        },</a:t>
            </a:r>
          </a:p>
          <a:p>
            <a:r>
              <a:t>        {</a:t>
            </a:r>
          </a:p>
          <a:p>
            <a:r>
              <a:t>          "sha256": "eadf4622620ddb1575df5f358ec588aeed8718c09e0998a19494cf0f3cfe0f16",</a:t>
            </a:r>
          </a:p>
          <a:p>
            <a:r>
              <a:t>          "provider": "한국관광 데이터랩",</a:t>
            </a:r>
          </a:p>
          <a:p>
            <a:r>
              <a:t>          "file_name": "20260820160334_문경찻사발축제_문화관광축제 주요 지표.csv",</a:t>
            </a:r>
          </a:p>
          <a:p>
            <a:r>
              <a:t>          "source_id": "festival-file:eadf4622620ddb1575df",</a:t>
            </a:r>
          </a:p>
          <a:p>
            <a:r>
              <a:t>          "source_url": "https://datalab.visitkorea.or.kr/",</a:t>
            </a:r>
          </a:p>
          <a:p>
            <a:r>
              <a:t>          "downloaded_at": "2026-08-20",</a:t>
            </a:r>
          </a:p>
          <a:p>
            <a:r>
              <a:t>          "relative_path": "data/source_snapshots/festivals_20260820/25. 문경찻사발축제_2023-2025/20260820160334_문경찻사발축제_문화관광축제 주요 지표.csv",</a:t>
            </a:r>
          </a:p>
          <a:p>
            <a:r>
              <a:t>          "provenance_status": "team_download_exact_query_url_unrecorded"</a:t>
            </a:r>
          </a:p>
          <a:p>
            <a:r>
              <a:t>        },</a:t>
            </a:r>
          </a:p>
          <a:p>
            <a:r>
              <a:t>        {</a:t>
            </a:r>
          </a:p>
          <a:p>
            <a:r>
              <a:t>          "sha256": "343671c431cfa7e76ba333ca2ea221803e111e0db5e9a51c6d387b0ba5d7eeaf",</a:t>
            </a:r>
          </a:p>
          <a:p>
            <a:r>
              <a:t>          "provider": "한국관광 데이터랩",</a:t>
            </a:r>
          </a:p>
          <a:p>
            <a:r>
              <a:t>          "file_name": "20260820160334_문경찻사발축제_목적지 검색순위.csv",</a:t>
            </a:r>
          </a:p>
          <a:p>
            <a:r>
              <a:t>          "source_id": "festival-file:343671c431cfa7e76ba3",</a:t>
            </a:r>
          </a:p>
          <a:p>
            <a:r>
              <a:t>          "source_url": "https://datalab.visitkorea.or.kr/",</a:t>
            </a:r>
          </a:p>
          <a:p>
            <a:r>
              <a:t>          "downloaded_at": "2026-08-20",</a:t>
            </a:r>
          </a:p>
          <a:p>
            <a:r>
              <a:t>          "relative_path": "data/source_snapshots/festivals_20260820/25. 문경찻사발축제_2023-2025/20260820160334_문경찻사발축제_목적지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245,750→256,570명 (+4.40%). 개최 10→9일, 일평균 +16.00%, 외지인 +9.28%.",</a:t>
            </a:r>
          </a:p>
          <a:p>
            <a:r>
              <a:t>      "operating_model": "문경찻사발축제를 2025년 9일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"역사·공예",</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"문경찻사발축제",</a:t>
            </a:r>
          </a:p>
          <a:p>
            <a:r>
              <a:t>        "scope": "축제 관측구역 방문 지표. 도시 전체·순증 관광객·입장권 실구매자 수가 아님.",</a:t>
            </a:r>
          </a:p>
          <a:p>
            <a:r>
              <a:t>        "annual": [</a:t>
            </a:r>
          </a:p>
          <a:p>
            <a:r>
              <a:t>          {</a:t>
            </a:r>
          </a:p>
          <a:p>
            <a:r>
              <a:t>            "days": 9,</a:t>
            </a:r>
          </a:p>
          <a:p>
            <a:r>
              <a:t>            "year": 2023,</a:t>
            </a:r>
          </a:p>
          <a:p>
            <a:r>
              <a:t>            "daily": 23055.333333333332,</a:t>
            </a:r>
          </a:p>
          <a:p>
            <a:r>
              <a:t>            "local": 59726,</a:t>
            </a:r>
          </a:p>
          <a:p>
            <a:r>
              <a:t>            "total": 207498,</a:t>
            </a:r>
          </a:p>
          <a:p>
            <a:r>
              <a:t>            "foreign": 1241,</a:t>
            </a:r>
          </a:p>
          <a:p>
            <a:r>
              <a:t>            "outside": 146531,</a:t>
            </a:r>
          </a:p>
          <a:p>
            <a:r>
              <a:t>            "outside_daily": 16281.222222222224,</a:t>
            </a:r>
          </a:p>
          <a:p>
            <a:r>
              <a:t>            "outside_share_pct": 70.61803005330172</a:t>
            </a:r>
          </a:p>
          <a:p>
            <a:r>
              <a:t>          },</a:t>
            </a:r>
          </a:p>
          <a:p>
            <a:r>
              <a:t>          {</a:t>
            </a:r>
          </a:p>
          <a:p>
            <a:r>
              <a:t>            "days": 10,</a:t>
            </a:r>
          </a:p>
          <a:p>
            <a:r>
              <a:t>            "year": 2024,</a:t>
            </a:r>
          </a:p>
          <a:p>
            <a:r>
              <a:t>            "daily": 24575,</a:t>
            </a:r>
          </a:p>
          <a:p>
            <a:r>
              <a:t>            "local": 64582,</a:t>
            </a:r>
          </a:p>
          <a:p>
            <a:r>
              <a:t>            "total": 245750,</a:t>
            </a:r>
          </a:p>
          <a:p>
            <a:r>
              <a:t>            "foreign": 1170,</a:t>
            </a:r>
          </a:p>
          <a:p>
            <a:r>
              <a:t>            "outside": 179998,</a:t>
            </a:r>
          </a:p>
          <a:p>
            <a:r>
              <a:t>            "outside_daily": 17999.8,</a:t>
            </a:r>
          </a:p>
          <a:p>
            <a:r>
              <a:t>            "outside_share_pct": 73.2443540183113</a:t>
            </a:r>
          </a:p>
          <a:p>
            <a:r>
              <a:t>          },</a:t>
            </a:r>
          </a:p>
          <a:p>
            <a:r>
              <a:t>          {</a:t>
            </a:r>
          </a:p>
          <a:p>
            <a:r>
              <a:t>            "days": 9,</a:t>
            </a:r>
          </a:p>
          <a:p>
            <a:r>
              <a:t>            "year": 2025,</a:t>
            </a:r>
          </a:p>
          <a:p>
            <a:r>
              <a:t>            "daily": 28507.777777777777,</a:t>
            </a:r>
          </a:p>
          <a:p>
            <a:r>
              <a:t>            "local": 58704,</a:t>
            </a:r>
          </a:p>
          <a:p>
            <a:r>
              <a:t>            "total": 256570,</a:t>
            </a:r>
          </a:p>
          <a:p>
            <a:r>
              <a:t>            "foreign": 1166,</a:t>
            </a:r>
          </a:p>
          <a:p>
            <a:r>
              <a:t>            "outside": 196700,</a:t>
            </a:r>
          </a:p>
          <a:p>
            <a:r>
              <a:t>            "outside_daily": 21855.555555555555,</a:t>
            </a:r>
          </a:p>
          <a:p>
            <a:r>
              <a:t>            "outside_share_pct": 76.66523755700199</a:t>
            </a:r>
          </a:p>
          <a:p>
            <a:r>
              <a:t>          }</a:t>
            </a:r>
          </a:p>
          <a:p>
            <a:r>
              <a:t>        ],</a:t>
            </a:r>
          </a:p>
          <a:p>
            <a:r>
              <a:t>        "audience": [</a:t>
            </a:r>
          </a:p>
          <a:p>
            <a:r>
              <a:t>          {</a:t>
            </a:r>
          </a:p>
          <a:p>
            <a:r>
              <a:t>            "연령대": "70세 이상",</a:t>
            </a:r>
          </a:p>
          <a:p>
            <a:r>
              <a:t>            "축제명": "문경찻사발축제",</a:t>
            </a:r>
          </a:p>
          <a:p>
            <a:r>
              <a:t>            "남성비율": "4.0",</a:t>
            </a:r>
          </a:p>
          <a:p>
            <a:r>
              <a:t>            "여성비율": "3.8"</a:t>
            </a:r>
          </a:p>
          <a:p>
            <a:r>
              <a:t>          },</a:t>
            </a:r>
          </a:p>
          <a:p>
            <a:r>
              <a:t>          {</a:t>
            </a:r>
          </a:p>
          <a:p>
            <a:r>
              <a:t>            "연령대": "60~69세",</a:t>
            </a:r>
          </a:p>
          <a:p>
            <a:r>
              <a:t>            "축제명": "문경찻사발축제",</a:t>
            </a:r>
          </a:p>
          <a:p>
            <a:r>
              <a:t>            "남성비율": "12.3",</a:t>
            </a:r>
          </a:p>
          <a:p>
            <a:r>
              <a:t>            "여성비율": "10.0"</a:t>
            </a:r>
          </a:p>
          <a:p>
            <a:r>
              <a:t>          },</a:t>
            </a:r>
          </a:p>
          <a:p>
            <a:r>
              <a:t>          {</a:t>
            </a:r>
          </a:p>
          <a:p>
            <a:r>
              <a:t>            "연령대": "50~59세",</a:t>
            </a:r>
          </a:p>
          <a:p>
            <a:r>
              <a:t>            "축제명": "문경찻사발축제",</a:t>
            </a:r>
          </a:p>
          <a:p>
            <a:r>
              <a:t>            "남성비율": "13.0",</a:t>
            </a:r>
          </a:p>
          <a:p>
            <a:r>
              <a:t>            "여성비율": "11.7"</a:t>
            </a:r>
          </a:p>
          <a:p>
            <a:r>
              <a:t>          },</a:t>
            </a:r>
          </a:p>
          <a:p>
            <a:r>
              <a:t>          {</a:t>
            </a:r>
          </a:p>
          <a:p>
            <a:r>
              <a:t>            "연령대": "40~49세",</a:t>
            </a:r>
          </a:p>
          <a:p>
            <a:r>
              <a:t>            "축제명": "문경찻사발축제",</a:t>
            </a:r>
          </a:p>
          <a:p>
            <a:r>
              <a:t>            "남성비율": "9.3",</a:t>
            </a:r>
          </a:p>
          <a:p>
            <a:r>
              <a:t>            "여성비율": "7.6"</a:t>
            </a:r>
          </a:p>
          <a:p>
            <a:r>
              <a:t>          },</a:t>
            </a:r>
          </a:p>
          <a:p>
            <a:r>
              <a:t>          {</a:t>
            </a:r>
          </a:p>
          <a:p>
            <a:r>
              <a:t>            "연령대": "30~39세",</a:t>
            </a:r>
          </a:p>
          <a:p>
            <a:r>
              <a:t>            "축제명": "문경찻사발축제",</a:t>
            </a:r>
          </a:p>
          <a:p>
            <a:r>
              <a:t>            "남성비율": "7.2",</a:t>
            </a:r>
          </a:p>
          <a:p>
            <a:r>
              <a:t>            "여성비율": "6.1"</a:t>
            </a:r>
          </a:p>
          <a:p>
            <a:r>
              <a:t>          },</a:t>
            </a:r>
          </a:p>
          <a:p>
            <a:r>
              <a:t>          {</a:t>
            </a:r>
          </a:p>
          <a:p>
            <a:r>
              <a:t>            "연령대": "20~29세",</a:t>
            </a:r>
          </a:p>
          <a:p>
            <a:r>
              <a:t>            "축제명": "문경찻사발축제",</a:t>
            </a:r>
          </a:p>
          <a:p>
            <a:r>
              <a:t>            "남성비율": "4.6",</a:t>
            </a:r>
          </a:p>
          <a:p>
            <a:r>
              <a:t>            "여성비율": "4.1"</a:t>
            </a:r>
          </a:p>
          <a:p>
            <a:r>
              <a:t>          },</a:t>
            </a:r>
          </a:p>
          <a:p>
            <a:r>
              <a:t>          {</a:t>
            </a:r>
          </a:p>
          <a:p>
            <a:r>
              <a:t>            "연령대": "10~19세",</a:t>
            </a:r>
          </a:p>
          <a:p>
            <a:r>
              <a:t>            "축제명": "문경찻사발축제",</a:t>
            </a:r>
          </a:p>
          <a:p>
            <a:r>
              <a:t>            "남성비율": "2.5",</a:t>
            </a:r>
          </a:p>
          <a:p>
            <a:r>
              <a:t>            "여성비율": "2.5"</a:t>
            </a:r>
          </a:p>
          <a:p>
            <a:r>
              <a:t>          },</a:t>
            </a:r>
          </a:p>
          <a:p>
            <a:r>
              <a:t>          {</a:t>
            </a:r>
          </a:p>
          <a:p>
            <a:r>
              <a:t>            "연령대": "0~9세",</a:t>
            </a:r>
          </a:p>
          <a:p>
            <a:r>
              <a:t>            "축제명": "문경찻사발축제",</a:t>
            </a:r>
          </a:p>
          <a:p>
            <a:r>
              <a:t>            "남성비율": "0.6",</a:t>
            </a:r>
          </a:p>
          <a:p>
            <a:r>
              <a:t>            "여성비율": "0.6"</a:t>
            </a:r>
          </a:p>
          <a:p>
            <a:r>
              <a:t>          }</a:t>
            </a:r>
          </a:p>
          <a:p>
            <a:r>
              <a:t>        ],</a:t>
            </a:r>
          </a:p>
          <a:p>
            <a:r>
              <a:t>        "comparison": {</a:t>
            </a:r>
          </a:p>
          <a:p>
            <a:r>
              <a:t>          "daily": {</a:t>
            </a:r>
          </a:p>
          <a:p>
            <a:r>
              <a:t>            "after": 28507.777777777777,</a:t>
            </a:r>
          </a:p>
          <a:p>
            <a:r>
              <a:t>            "before": 24575,</a:t>
            </a:r>
          </a:p>
          <a:p>
            <a:r>
              <a:t>            "change_pct": 16.00316491466034,</a:t>
            </a:r>
          </a:p>
          <a:p>
            <a:r>
              <a:t>            "difference": 3932.7777777777774</a:t>
            </a:r>
          </a:p>
          <a:p>
            <a:r>
              <a:t>          },</a:t>
            </a:r>
          </a:p>
          <a:p>
            <a:r>
              <a:t>          "total": {</a:t>
            </a:r>
          </a:p>
          <a:p>
            <a:r>
              <a:t>            "after": 256570,</a:t>
            </a:r>
          </a:p>
          <a:p>
            <a:r>
              <a:t>            "before": 245750,</a:t>
            </a:r>
          </a:p>
          <a:p>
            <a:r>
              <a:t>            "change_pct": 4.402848423194294,</a:t>
            </a:r>
          </a:p>
          <a:p>
            <a:r>
              <a:t>            "difference": 10820</a:t>
            </a:r>
          </a:p>
          <a:p>
            <a:r>
              <a:t>          },</a:t>
            </a:r>
          </a:p>
          <a:p>
            <a:r>
              <a:t>          "outside": {</a:t>
            </a:r>
          </a:p>
          <a:p>
            <a:r>
              <a:t>            "after": 196700,</a:t>
            </a:r>
          </a:p>
          <a:p>
            <a:r>
              <a:t>            "before": 179998,</a:t>
            </a:r>
          </a:p>
          <a:p>
            <a:r>
              <a:t>            "change_pct": 9.278991988799866,</a:t>
            </a:r>
          </a:p>
          <a:p>
            <a:r>
              <a:t>            "difference": 16702</a:t>
            </a:r>
          </a:p>
          <a:p>
            <a:r>
              <a:t>          },</a:t>
            </a:r>
          </a:p>
          <a:p>
            <a:r>
              <a:t>          "after_days": 9,</a:t>
            </a:r>
          </a:p>
          <a:p>
            <a:r>
              <a:t>          "after_year": 2025,</a:t>
            </a:r>
          </a:p>
          <a:p>
            <a:r>
              <a:t>          "before_days": 10,</a:t>
            </a:r>
          </a:p>
          <a:p>
            <a:r>
              <a:t>          "before_year": 2024,</a:t>
            </a:r>
          </a:p>
          <a:p>
            <a:r>
              <a:t>          "outside_daily": {</a:t>
            </a:r>
          </a:p>
          <a:p>
            <a:r>
              <a:t>            "after": 21855.555555555555,</a:t>
            </a:r>
          </a:p>
          <a:p>
            <a:r>
              <a:t>            "before": 17999.8,</a:t>
            </a:r>
          </a:p>
          <a:p>
            <a:r>
              <a:t>            "change_pct": 21.421102209777644,</a:t>
            </a:r>
          </a:p>
          <a:p>
            <a:r>
              <a:t>            "difference": 3855.755555555555</a:t>
            </a:r>
          </a:p>
          <a:p>
            <a:r>
              <a:t>          }</a:t>
            </a:r>
          </a:p>
          <a:p>
            <a:r>
              <a:t>        },</a:t>
            </a:r>
          </a:p>
          <a:p>
            <a:r>
              <a:t>        "source_file":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"0.414",</a:t>
            </a:r>
          </a:p>
          <a:p>
            <a:r>
              <a:t>            "축제명": "문경찻사발축제",</a:t>
            </a:r>
          </a:p>
          <a:p>
            <a:r>
              <a:t>            "개최년도": "2025"</a:t>
            </a:r>
          </a:p>
          <a:p>
            <a:r>
              <a:t>          },</a:t>
            </a:r>
          </a:p>
          <a:p>
            <a:r>
              <a:t>          {</a:t>
            </a:r>
          </a:p>
          <a:p>
            <a:r>
              <a:t>            "구분명": "현지인방문자 유입",</a:t>
            </a:r>
          </a:p>
          <a:p>
            <a:r>
              <a:t>            "그룹명": "축제기간",</a:t>
            </a:r>
          </a:p>
          <a:p>
            <a:r>
              <a:t>            "지표값": "0.86",</a:t>
            </a:r>
          </a:p>
          <a:p>
            <a:r>
              <a:t>            "축제명": "문경찻사발축제",</a:t>
            </a:r>
          </a:p>
          <a:p>
            <a:r>
              <a:t>            "개최년도": "2025"</a:t>
            </a:r>
          </a:p>
          <a:p>
            <a:r>
              <a:t>          },</a:t>
            </a:r>
          </a:p>
          <a:p>
            <a:r>
              <a:t>          {</a:t>
            </a:r>
          </a:p>
          <a:p>
            <a:r>
              <a:t>            "구분명": "내비게이션 검색량",</a:t>
            </a:r>
          </a:p>
          <a:p>
            <a:r>
              <a:t>            "그룹명": "축제기간",</a:t>
            </a:r>
          </a:p>
          <a:p>
            <a:r>
              <a:t>            "지표값": "0.273",</a:t>
            </a:r>
          </a:p>
          <a:p>
            <a:r>
              <a:t>            "축제명": "문경찻사발축제",</a:t>
            </a:r>
          </a:p>
          <a:p>
            <a:r>
              <a:t>            "개최년도": "2025"</a:t>
            </a:r>
          </a:p>
          <a:p>
            <a:r>
              <a:t>          },</a:t>
            </a:r>
          </a:p>
          <a:p>
            <a:r>
              <a:t>          {</a:t>
            </a:r>
          </a:p>
          <a:p>
            <a:r>
              <a:t>            "구분명": "관광소비",</a:t>
            </a:r>
          </a:p>
          <a:p>
            <a:r>
              <a:t>            "그룹명": "축제기간",</a:t>
            </a:r>
          </a:p>
          <a:p>
            <a:r>
              <a:t>            "지표값": "0.536",</a:t>
            </a:r>
          </a:p>
          <a:p>
            <a:r>
              <a:t>            "축제명": "문경찻사발축제",</a:t>
            </a:r>
          </a:p>
          <a:p>
            <a:r>
              <a:t>            "개최년도": "2025"</a:t>
            </a:r>
          </a:p>
          <a:p>
            <a:r>
              <a:t>          },</a:t>
            </a:r>
          </a:p>
          <a:p>
            <a:r>
              <a:t>          {</a:t>
            </a:r>
          </a:p>
          <a:p>
            <a:r>
              <a:t>            "구분명": "축제지 집중률",</a:t>
            </a:r>
          </a:p>
          <a:p>
            <a:r>
              <a:t>            "그룹명": "축제기간",</a:t>
            </a:r>
          </a:p>
          <a:p>
            <a:r>
              <a:t>            "지표값": "0.716",</a:t>
            </a:r>
          </a:p>
          <a:p>
            <a:r>
              <a:t>            "축제명": "문경찻사발축제",</a:t>
            </a:r>
          </a:p>
          <a:p>
            <a:r>
              <a:t>            "개최년도": "2025"</a:t>
            </a:r>
          </a:p>
          <a:p>
            <a:r>
              <a:t>          },</a:t>
            </a:r>
          </a:p>
          <a:p>
            <a:r>
              <a:t>          {</a:t>
            </a:r>
          </a:p>
          <a:p>
            <a:r>
              <a:t>            "구분명": "외부방문자 유입",</a:t>
            </a:r>
          </a:p>
          <a:p>
            <a:r>
              <a:t>            "그룹명": "비축제기간",</a:t>
            </a:r>
          </a:p>
          <a:p>
            <a:r>
              <a:t>            "지표값": "0.217",</a:t>
            </a:r>
          </a:p>
          <a:p>
            <a:r>
              <a:t>            "축제명": "문경찻사발축제",</a:t>
            </a:r>
          </a:p>
          <a:p>
            <a:r>
              <a:t>            "개최년도": "2025"</a:t>
            </a:r>
          </a:p>
          <a:p>
            <a:r>
              <a:t>          },</a:t>
            </a:r>
          </a:p>
          <a:p>
            <a:r>
              <a:t>          {</a:t>
            </a:r>
          </a:p>
          <a:p>
            <a:r>
              <a:t>            "구분명": "현지인방문자 유입",</a:t>
            </a:r>
          </a:p>
          <a:p>
            <a:r>
              <a:t>            "그룹명": "비축제기간",</a:t>
            </a:r>
          </a:p>
          <a:p>
            <a:r>
              <a:t>            "지표값": "0.725",</a:t>
            </a:r>
          </a:p>
          <a:p>
            <a:r>
              <a:t>            "축제명": "문경찻사발축제",</a:t>
            </a:r>
          </a:p>
          <a:p>
            <a:r>
              <a:t>            "개최년도": "2025"</a:t>
            </a:r>
          </a:p>
          <a:p>
            <a:r>
              <a:t>          },</a:t>
            </a:r>
          </a:p>
          <a:p>
            <a:r>
              <a:t>          {</a:t>
            </a:r>
          </a:p>
          <a:p>
            <a:r>
              <a:t>            "구분명": "내비게이션 검색량",</a:t>
            </a:r>
          </a:p>
          <a:p>
            <a:r>
              <a:t>            "그룹명": "비축제기간",</a:t>
            </a:r>
          </a:p>
          <a:p>
            <a:r>
              <a:t>            "지표값": "0.148",</a:t>
            </a:r>
          </a:p>
          <a:p>
            <a:r>
              <a:t>            "축제명": "문경찻사발축제",</a:t>
            </a:r>
          </a:p>
          <a:p>
            <a:r>
              <a:t>            "개최년도": "2025"</a:t>
            </a:r>
          </a:p>
          <a:p>
            <a:r>
              <a:t>          },</a:t>
            </a:r>
          </a:p>
          <a:p>
            <a:r>
              <a:t>          {</a:t>
            </a:r>
          </a:p>
          <a:p>
            <a:r>
              <a:t>            "구분명": "관광소비",</a:t>
            </a:r>
          </a:p>
          <a:p>
            <a:r>
              <a:t>            "그룹명": "비축제기간",</a:t>
            </a:r>
          </a:p>
          <a:p>
            <a:r>
              <a:t>            "지표값": "0.381",</a:t>
            </a:r>
          </a:p>
          <a:p>
            <a:r>
              <a:t>            "축제명": "문경찻사발축제",</a:t>
            </a:r>
          </a:p>
          <a:p>
            <a:r>
              <a:t>            "개최년도": "2025"</a:t>
            </a:r>
          </a:p>
          <a:p>
            <a:r>
              <a:t>          },</a:t>
            </a:r>
          </a:p>
          <a:p>
            <a:r>
              <a:t>          {</a:t>
            </a:r>
          </a:p>
          <a:p>
            <a:r>
              <a:t>            "구분명": "축제지 집중률",</a:t>
            </a:r>
          </a:p>
          <a:p>
            <a:r>
              <a:t>            "그룹명": "비축제기간",</a:t>
            </a:r>
          </a:p>
          <a:p>
            <a:r>
              <a:t>            "지표값": "0.607",</a:t>
            </a:r>
          </a:p>
          <a:p>
            <a:r>
              <a:t>            "축제명": "문경찻사발축제",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"문경새재",</a:t>
            </a:r>
          </a:p>
          <a:p>
            <a:r>
              <a:t>            "카테고리": "역사유적지",</a:t>
            </a:r>
          </a:p>
          <a:p>
            <a:r>
              <a:t>            "도로명주소": "경북 문경시 새재로 932-0"</a:t>
            </a:r>
          </a:p>
          <a:p>
            <a:r>
              <a:t>          },</a:t>
            </a:r>
          </a:p>
          <a:p>
            <a:r>
              <a:t>          {</a:t>
            </a:r>
          </a:p>
          <a:p>
            <a:r>
              <a:t>            "구분": "외지인",</a:t>
            </a:r>
          </a:p>
          <a:p>
            <a:r>
              <a:t>            "순위": "2",</a:t>
            </a:r>
          </a:p>
          <a:p>
            <a:r>
              <a:t>            "목적지명": "문경종합온천",</a:t>
            </a:r>
          </a:p>
          <a:p>
            <a:r>
              <a:t>            "카테고리": "웰니스관광",</a:t>
            </a:r>
          </a:p>
          <a:p>
            <a:r>
              <a:t>            "도로명주소": "경북 문경시 온천2길 24-0"</a:t>
            </a:r>
          </a:p>
          <a:p>
            <a:r>
              <a:t>          },</a:t>
            </a:r>
          </a:p>
          <a:p>
            <a:r>
              <a:t>          {</a:t>
            </a:r>
          </a:p>
          <a:p>
            <a:r>
              <a:t>            "구분": "외지인",</a:t>
            </a:r>
          </a:p>
          <a:p>
            <a:r>
              <a:t>            "순위": "3",</a:t>
            </a:r>
          </a:p>
          <a:p>
            <a:r>
              <a:t>            "목적지명": "문경찻사발축제",</a:t>
            </a:r>
          </a:p>
          <a:p>
            <a:r>
              <a:t>            "카테고리": "기타문화관광지",</a:t>
            </a:r>
          </a:p>
          <a:p>
            <a:r>
              <a:t>            "도로명주소": "경북 문경시 새재로 933-0"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"2025년 문화예술 축제 통합 지원사업 종합결과보고서",</a:t>
            </a:r>
          </a:p>
          <a:p>
            <a:r>
              <a:t>      "summary": "서울특별시 · 2025 문화예술 축제 통합 지원사업: 기존 공공·민간 축제의 재정지원·현장평가·관람객 조사 ·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"source_id": "case:28ff66d9b44637",</a:t>
            </a:r>
          </a:p>
          <a:p>
            <a:r>
              <a:t>      "source_url": "https://culture.seoul.go.kr/culture/cmmn/file/fileDown.do?atchFileId=bb34395b25504c66a77ef69999cacb1c&amp;bbsId=B0000006&amp;fileSn=1",</a:t>
            </a:r>
          </a:p>
          <a:p>
            <a:r>
              <a:t>      "case_region": "서울특별시",</a:t>
            </a:r>
          </a:p>
          <a:p>
            <a:r>
              <a:t>      "source_type": "benchmark_case",</a:t>
            </a:r>
          </a:p>
          <a:p>
            <a:r>
              <a:t>      "intervention": "2025 문화예술 축제 통합 지원사업: 기존 공공·민간 축제의 재정지원·현장평가·관람객 조사",</a:t>
            </a:r>
          </a:p>
          <a:p>
            <a:r>
              <a:t>      "document_type": null,</a:t>
            </a:r>
          </a:p>
          <a:p>
            <a:r>
              <a:t>      "observed_result":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"operating_model": "자치구 축제, 민간 축제, 지역대표공연예술제, 국악 민간행사를 묶어 지원하고 계획 실행도, 현장 운영, 접근성, 안전, 홍보, 만족도를 공통 체계로 평가했다. 2025년 평가 대상은 263개 축제였고 1,731개 프로그램을 4,993회 운영했다. ([culture.seoul.go.kr](https://culture.seoul.go.kr/culture/cmmn/file/fileDown.do?atchFileId=bb34395b25504c66a77ef69999cacb1c&amp;bbsId=B0000006&amp;fileSn=1))",</a:t>
            </a:r>
          </a:p>
          <a:p>
            <a:r>
              <a:t>      "retrieval_method": "official_web_search",</a:t>
            </a:r>
          </a:p>
          <a:p>
            <a:r>
              <a:t>      "evidence_strength": "medium",</a:t>
            </a:r>
          </a:p>
          <a:p>
            <a:r>
              <a:t>      "retrieval_context": {</a:t>
            </a:r>
          </a:p>
          <a:p>
            <a:r>
              <a:t>        "scope": "cross_province",</a:t>
            </a:r>
          </a:p>
          <a:p>
            <a:r>
              <a:t>        "peer_region_code": null</a:t>
            </a:r>
          </a:p>
          <a:p>
            <a:r>
              <a:t>      },</a:t>
            </a:r>
          </a:p>
          <a:p>
            <a:r>
              <a:t>      "measurement_period": "2025년 평가 대상 축제 개최기간과 종료 후 종합평가",</a:t>
            </a:r>
          </a:p>
          <a:p>
            <a:r>
              <a:t>      "transfer_conditions": [</a:t>
            </a:r>
          </a:p>
          <a:p>
            <a:r>
              <a:t>        "대전 서구에서는 신규 대형축제보다 기존 시설·민간행사·상권 프로그램을 묶고 공통 예약·결제 기록을 적용하는 요소만 축소 도입한다.",</a:t>
            </a:r>
          </a:p>
          <a:p>
            <a:r>
              <a:t>        "관광형, 지역상권형, 주민문화형의 목적과 지표를 분리해야 한다.",</a:t>
            </a:r>
          </a:p>
          <a:p>
            <a:r>
              <a:t>        "10~11월 행사 집중도를 확인하고 동일 날짜 경쟁을 피하는 회차·시간대 배치가 필요하다.",</a:t>
            </a:r>
          </a:p>
          <a:p>
            <a:r>
              <a:t>        "축제별 방문자 중 외지인, 사전예약자, 상권 결제자, 재방문자를 별도로 측정해야 한다."</a:t>
            </a:r>
          </a:p>
          <a:p>
            <a:r>
              <a:t>      ],</a:t>
            </a:r>
          </a:p>
          <a:p>
            <a:r>
              <a:t>      "operating_statistics": [</a:t>
            </a:r>
          </a:p>
          <a:p>
            <a:r>
              <a:t>        {</a:t>
            </a:r>
          </a:p>
          <a:p>
            <a:r>
              <a:t>          "unit": "festival",</a:t>
            </a:r>
          </a:p>
          <a:p>
            <a:r>
              <a:t>          "quote": "평가 대상 축제는 총 263개",</a:t>
            </a:r>
          </a:p>
          <a:p>
            <a:r>
              <a:t>          "scope": "서울시·서울문화재단 재정지원 축제 중 평가 대상",</a:t>
            </a:r>
          </a:p>
          <a:p>
            <a:r>
              <a:t>          "value": 263,</a:t>
            </a:r>
          </a:p>
          <a:p>
            <a:r>
              <a:t>          "metric": "sites",</a:t>
            </a:r>
          </a:p>
          <a:p>
            <a:r>
              <a:t>          "period": "2025-04 ~ 2025-12",</a:t>
            </a:r>
          </a:p>
          <a:p>
            <a:r>
              <a:t>          "program_name": "2025 문화예술 축제 통합 지원사업",</a:t>
            </a:r>
          </a:p>
          <a:p>
            <a:r>
              <a:t>          "capacity_count": null,</a:t>
            </a:r>
          </a:p>
          <a:p>
            <a:r>
              <a:t>          "participant_count": null</a:t>
            </a:r>
          </a:p>
          <a:p>
            <a:r>
              <a:t>        },</a:t>
            </a:r>
          </a:p>
          <a:p>
            <a:r>
              <a:t>        {</a:t>
            </a:r>
          </a:p>
          <a:p>
            <a:r>
              <a:t>          "unit": "person_visit",</a:t>
            </a:r>
          </a:p>
          <a:p>
            <a:r>
              <a:t>          "quote": "총 8,880,289명의 관람객이 방문",</a:t>
            </a:r>
          </a:p>
          <a:p>
            <a:r>
              <a:t>          "scope": "평가 대상 축제 실적집계표의 관람객 합계; 중복 방문 가능",</a:t>
            </a:r>
          </a:p>
          <a:p>
            <a:r>
              <a:t>          "value": 8880289,</a:t>
            </a:r>
          </a:p>
          <a:p>
            <a:r>
              <a:t>          "metric": "participants",</a:t>
            </a:r>
          </a:p>
          <a:p>
            <a:r>
              <a:t>          "period": "2025-04 ~ 2025-12",</a:t>
            </a:r>
          </a:p>
          <a:p>
            <a:r>
              <a:t>          "program_name": "2025 문화예술 축제 통합 지원사업",</a:t>
            </a:r>
          </a:p>
          <a:p>
            <a:r>
              <a:t>          "capacity_count": null,</a:t>
            </a:r>
          </a:p>
          <a:p>
            <a:r>
              <a:t>          "participant_count": 8880289</a:t>
            </a:r>
          </a:p>
          <a:p>
            <a:r>
              <a:t>        }</a:t>
            </a:r>
          </a:p>
          <a:p>
            <a:r>
              <a:t>      ],</a:t>
            </a:r>
          </a:p>
          <a:p>
            <a:r>
              <a:t>      "published_or_updated_at": "2026",</a:t>
            </a:r>
          </a:p>
          <a:p>
            <a:r>
              <a:t>      "quantitative_result_approved": null</a:t>
            </a:r>
          </a:p>
          <a:p>
            <a:r>
              <a:t>    },</a:t>
            </a:r>
          </a:p>
          <a:p>
            <a:r>
              <a:t>    {</a:t>
            </a:r>
          </a:p>
          <a:p>
            <a:r>
              <a:t>      "title": "귀촌 '원조 반값'은 다르다… 강진서 전국 확산 '체류 관광 도시'",</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반값여행: 여행 지출 증빙 후 모바일 지역상품권 환급",</a:t>
            </a:r>
          </a:p>
          <a:p>
            <a:r>
              <a:t>      "document_type": null,</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"retrieval_method": "official_web_search",</a:t>
            </a:r>
          </a:p>
          <a:p>
            <a:r>
              <a:t>      "evidence_strength": "medium",</a:t>
            </a:r>
          </a:p>
          <a:p>
            <a:r>
              <a:t>      "retrieval_context": {</a:t>
            </a:r>
          </a:p>
          <a:p>
            <a:r>
              <a:t>        "scope": "cross_province",</a:t>
            </a:r>
          </a:p>
          <a:p>
            <a:r>
              <a:t>        "peer_region_code": null</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"operating_statistics": [</a:t>
            </a:r>
          </a:p>
          <a:p>
            <a:r>
              <a:t>        {</a:t>
            </a:r>
          </a:p>
          <a:p>
            <a:r>
              <a:t>          "unit": "team",</a:t>
            </a:r>
          </a:p>
          <a:p>
            <a:r>
              <a:t>          "quote": "1만6292팀이 실제 강진을 찾았다.",</a:t>
            </a:r>
          </a:p>
          <a:p>
            <a:r>
              <a:t>          "scope": "사전신청자 중 실제 강진 방문 확인 팀",</a:t>
            </a:r>
          </a:p>
          <a:p>
            <a:r>
              <a:t>          "value": 16292,</a:t>
            </a:r>
          </a:p>
          <a:p>
            <a:r>
              <a:t>          "metric": "participants",</a:t>
            </a:r>
          </a:p>
          <a:p>
            <a:r>
              <a:t>          "period": "2026-05-19 누적",</a:t>
            </a:r>
          </a:p>
          <a:p>
            <a:r>
              <a:t>          "program_name": "강진 반값여행",</a:t>
            </a:r>
          </a:p>
          <a:p>
            <a:r>
              <a:t>          "capacity_count": null,</a:t>
            </a:r>
          </a:p>
          <a:p>
            <a:r>
              <a:t>          "participant_count": 16292</a:t>
            </a:r>
          </a:p>
          <a:p>
            <a:r>
              <a:t>        },</a:t>
            </a:r>
          </a:p>
          <a:p>
            <a:r>
              <a:t>        {</a:t>
            </a:r>
          </a:p>
          <a:p>
            <a:r>
              <a:t>          "unit": "KRW",</a:t>
            </a:r>
          </a:p>
          <a:p>
            <a:r>
              <a:t>          "quote": "지역 내 소비액은 총 49억7000만원",</a:t>
            </a:r>
          </a:p>
          <a:p>
            <a:r>
              <a:t>          "scope": "사업 등록 관광객의 강진 지역 내 소비액",</a:t>
            </a:r>
          </a:p>
          <a:p>
            <a:r>
              <a:t>          "value": 4970000000,</a:t>
            </a:r>
          </a:p>
          <a:p>
            <a:r>
              <a:t>          "metric": "participant_spending",</a:t>
            </a:r>
          </a:p>
          <a:p>
            <a:r>
              <a:t>          "period": "2026-05-19 누적",</a:t>
            </a:r>
          </a:p>
          <a:p>
            <a:r>
              <a:t>          "program_name": "강진 반값여행",</a:t>
            </a:r>
          </a:p>
          <a:p>
            <a:r>
              <a:t>          "capacity_count": null,</a:t>
            </a:r>
          </a:p>
          <a:p>
            <a:r>
              <a:t>          "participant_count": 16292</a:t>
            </a:r>
          </a:p>
          <a:p>
            <a:r>
              <a:t>        }</a:t>
            </a:r>
          </a:p>
          <a:p>
            <a:r>
              <a:t>      ],</a:t>
            </a:r>
          </a:p>
          <a:p>
            <a:r>
              <a:t>      "published_or_updated_at": "2026-05-29",</a:t>
            </a:r>
          </a:p>
          <a:p>
            <a:r>
              <a:t>      "quantitative_result_approved": null</a:t>
            </a:r>
          </a:p>
          <a:p>
            <a:r>
              <a:t>    },</a:t>
            </a:r>
          </a:p>
          <a:p>
            <a:r>
              <a:t>    {</a:t>
            </a:r>
          </a:p>
          <a:p>
            <a:r>
              <a:t>      "title": "요즘, 한국관광 2호 - 지방공항 연계 지역관광 활성화 방안",</a:t>
            </a:r>
          </a:p>
          <a:p>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"source_id": "case:4544b7bca8ebab",</a:t>
            </a:r>
          </a:p>
          <a:p>
            <a:r>
              <a:t>      "source_url": "https://datalab.visitkorea.or.kr/site/portal/ex/bbs/View.do?bcIdx=311068&amp;cbIdx=1135&amp;pageIndex=1",</a:t>
            </a:r>
          </a:p>
          <a:p>
            <a:r>
              <a:t>      "case_region": "청주공항과 충청권 주요 관광지 연계 권역",</a:t>
            </a:r>
          </a:p>
          <a:p>
            <a:r>
              <a:t>      "source_type": "benchmark_case",</a:t>
            </a:r>
          </a:p>
          <a:p>
            <a:r>
              <a:t>      "intervention": "청주공항·오송역·공주·부여 연계 광역 순환버스 및 수요응답형교통(DRT)",</a:t>
            </a:r>
          </a:p>
          <a:p>
            <a:r>
              <a:t>      "document_type": null,</a:t>
            </a:r>
          </a:p>
          <a:p>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a:r>
              <a:t>      "retrieval_method": "official_web_search",</a:t>
            </a:r>
          </a:p>
          <a:p>
            <a:r>
              <a:t>      "evidence_strength": "medium",</a:t>
            </a:r>
          </a:p>
          <a:p>
            <a:r>
              <a:t>      "retrieval_context": {</a:t>
            </a:r>
          </a:p>
          <a:p>
            <a:r>
              <a:t>        "scope": "national_or_unresolved",</a:t>
            </a:r>
          </a:p>
          <a:p>
            <a:r>
              <a:t>        "peer_region_code": null</a:t>
            </a:r>
          </a:p>
          <a:p>
            <a:r>
              <a:t>      },</a:t>
            </a:r>
          </a:p>
          <a:p>
            <a:r>
              <a:t>      "measurement_period": "2026-01 ~ 2026-06",</a:t>
            </a:r>
          </a:p>
          <a:p>
            <a:r>
              <a:t>      "transfer_conditions": [</a:t>
            </a:r>
          </a:p>
          <a:p>
            <a:r>
              <a:t>        "대전역·복합터미널·청주공항 등 실제 유입 거점과 서구 내 목적지 사이의 이동 수요를 먼저 확인해야 한다.",</a:t>
            </a:r>
          </a:p>
          <a:p>
            <a:r>
              <a:t>        "고정 노선은 일정 수요가 확인될 때 적용하고, 초기에는 예약형 셔틀·택시·기존 대중교통 이용권 방식도 비교해야 한다.",</a:t>
            </a:r>
          </a:p>
          <a:p>
            <a:r>
              <a:t>        "운송사업자, 시설 운영자, 예약 플랫폼 간 운행시간·취소·노쇼·안전 책임 협약이 필요하다.",</a:t>
            </a:r>
          </a:p>
          <a:p>
            <a:r>
              <a:t>        "대전 서구 단독보다 인접 자치구나 청주공항 연계 권역상품으로 운영할 경우 비용·성과의 행정구역별 배분 기준이 필요하다."</a:t>
            </a:r>
          </a:p>
          <a:p>
            <a:r>
              <a:t>      ],</a:t>
            </a:r>
          </a:p>
          <a:p>
            <a:r>
              <a:t>      "operating_statistics": [</a:t>
            </a:r>
          </a:p>
          <a:p>
            <a:r>
              <a:t>        {</a:t>
            </a:r>
          </a:p>
          <a:p>
            <a:r>
              <a:t>          "unit": "person",</a:t>
            </a:r>
          </a:p>
          <a:p>
            <a:r>
              <a:t>          "quote": "순환버스와 DRT 이용객은 총 7,470명",</a:t>
            </a:r>
          </a:p>
          <a:p>
            <a:r>
              <a:t>          "scope": "청주공항·충청권 광역 순환버스와 DRT 실제 이용객 합계",</a:t>
            </a:r>
          </a:p>
          <a:p>
            <a:r>
              <a:t>          "value": 7470,</a:t>
            </a:r>
          </a:p>
          <a:p>
            <a:r>
              <a:t>          "metric": "participants",</a:t>
            </a:r>
          </a:p>
          <a:p>
            <a:r>
              <a:t>          "period": "2026년 상반기",</a:t>
            </a:r>
          </a:p>
          <a:p>
            <a:r>
              <a:t>          "program_name": "청주공항 연계 광역 순환버스·DRT",</a:t>
            </a:r>
          </a:p>
          <a:p>
            <a:r>
              <a:t>          "capacity_count": null,</a:t>
            </a:r>
          </a:p>
          <a:p>
            <a:r>
              <a:t>          "participant_count": 7470</a:t>
            </a:r>
          </a:p>
          <a:p>
            <a:r>
              <a:t>        }</a:t>
            </a:r>
          </a:p>
          <a:p>
            <a:r>
              <a:t>      ],</a:t>
            </a:r>
          </a:p>
          <a:p>
            <a:r>
              <a:t>      "published_or_updated_at": "2026-08",</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"operating_statistics":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"operating_statistics": [],</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"operating_statistics": [],</a:t>
            </a:r>
          </a:p>
          <a:p>
            <a:r>
              <a:t>      "published_or_updated_at": "2025",</a:t>
            </a:r>
          </a:p>
          <a:p>
            <a:r>
              <a:t>      "quantitative_result_approved": null</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"202610",</a:t>
            </a:r>
          </a:p>
          <a:p>
            <a:r>
              <a:t>        "visitors": 4998578.0,</a:t>
            </a:r>
          </a:p>
          <a:p>
            <a:r>
              <a:t>        "is_forecast": true,</a:t>
            </a:r>
          </a:p>
          <a:p>
            <a:r>
              <a:t>        "spending_krw": 79359374710.0,</a:t>
            </a:r>
          </a:p>
          <a:p>
            <a:r>
              <a:t>        "stay_minutes": 1170.0,</a:t>
            </a:r>
          </a:p>
          <a:p>
            <a:r>
              <a:t>        "lodging_nights": 2.85,</a:t>
            </a:r>
          </a:p>
          <a:p>
            <a:r>
              <a:t>        "lodging_rate_pct": 8.9,</a:t>
            </a:r>
          </a:p>
          <a:p>
            <a:r>
              <a:t>        "lodging_searches": 19187,</a:t>
            </a:r>
          </a:p>
          <a:p>
            <a:r>
              <a:t>        "navigation_searches": 237779,</a:t>
            </a:r>
          </a:p>
          <a:p>
            <a:r>
              <a:t>        "visitor_yoy_percent": 0.99,</a:t>
            </a:r>
          </a:p>
          <a:p>
            <a:r>
              <a:t>        "spending_yoy_percent": 1.54,</a:t>
            </a:r>
          </a:p>
          <a:p>
            <a:r>
              <a:t>        "metric_changes_percent": {</a:t>
            </a:r>
          </a:p>
          <a:p>
            <a:r>
              <a:t>          "stay_minutes": 0.0,</a:t>
            </a:r>
          </a:p>
          <a:p>
            <a:r>
              <a:t>          "lodging_nights": 0.0,</a:t>
            </a:r>
          </a:p>
          <a:p>
            <a:r>
              <a:t>          "lodging_rate_pct": 0.0,</a:t>
            </a:r>
          </a:p>
          <a:p>
            <a:r>
              <a:t>          "lodging_searches": 0.0,</a:t>
            </a:r>
          </a:p>
          <a:p>
            <a:r>
              <a:t>          "navigation_searches": -26.82</a:t>
            </a:r>
          </a:p>
          <a:p>
            <a:r>
              <a:t>        },</a:t>
            </a:r>
          </a:p>
          <a:p>
            <a:r>
              <a:t>        "previous_year_visitors": 4949394,</a:t>
            </a:r>
          </a:p>
          <a:p>
            <a:r>
              <a:t>        "previous_year_spending_krw": 78158272000,</a:t>
            </a:r>
          </a:p>
          <a:p>
            <a:r>
              <a:t>        "previous_year_stay_minutes": 1170.0,</a:t>
            </a:r>
          </a:p>
          <a:p>
            <a:r>
              <a:t>        "previous_year_lodging_nights": 2.85,</a:t>
            </a:r>
          </a:p>
          <a:p>
            <a:r>
              <a:t>        "previous_year_lodging_rate_pct": 8.9,</a:t>
            </a:r>
          </a:p>
          <a:p>
            <a:r>
              <a:t>        "previous_year_lodging_searches": 19187,</a:t>
            </a:r>
          </a:p>
          <a:p>
            <a:r>
              <a:t>        "previous_year_navigation_searches": 324902</a:t>
            </a:r>
          </a:p>
          <a:p>
            <a:r>
              <a:t>      },</a:t>
            </a:r>
          </a:p>
          <a:p>
            <a:r>
              <a:t>      {</a:t>
            </a:r>
          </a:p>
          <a:p>
            <a:r>
              <a:t>        "month": "202611",</a:t>
            </a:r>
          </a:p>
          <a:p>
            <a:r>
              <a:t>        "visitors": 4940348.0,</a:t>
            </a:r>
          </a:p>
          <a:p>
            <a:r>
              <a:t>        "is_forecast": true,</a:t>
            </a:r>
          </a:p>
          <a:p>
            <a:r>
              <a:t>        "spending_krw": 85971975908.0,</a:t>
            </a:r>
          </a:p>
          <a:p>
            <a:r>
              <a:t>        "stay_minutes": 987.0,</a:t>
            </a:r>
          </a:p>
          <a:p>
            <a:r>
              <a:t>        "lodging_nights": 2.79,</a:t>
            </a:r>
          </a:p>
          <a:p>
            <a:r>
              <a:t>        "lodging_rate_pct": 6.5,</a:t>
            </a:r>
          </a:p>
          <a:p>
            <a:r>
              <a:t>        "lodging_searches": 14379,</a:t>
            </a:r>
          </a:p>
          <a:p>
            <a:r>
              <a:t>        "navigation_searches": 231894,</a:t>
            </a:r>
          </a:p>
          <a:p>
            <a:r>
              <a:t>        "visitor_yoy_percent": -4.4,</a:t>
            </a:r>
          </a:p>
          <a:p>
            <a:r>
              <a:t>        "spending_yoy_percent": 12.37,</a:t>
            </a:r>
          </a:p>
          <a:p>
            <a:r>
              <a:t>        "metric_changes_percent": {</a:t>
            </a:r>
          </a:p>
          <a:p>
            <a:r>
              <a:t>          "stay_minutes": 0.0,</a:t>
            </a:r>
          </a:p>
          <a:p>
            <a:r>
              <a:t>          "lodging_nights": 0.0,</a:t>
            </a:r>
          </a:p>
          <a:p>
            <a:r>
              <a:t>          "lodging_rate_pct": 0.0,</a:t>
            </a:r>
          </a:p>
          <a:p>
            <a:r>
              <a:t>          "lodging_searches": 0.0,</a:t>
            </a:r>
          </a:p>
          <a:p>
            <a:r>
              <a:t>          "navigation_searches": -2.86</a:t>
            </a:r>
          </a:p>
          <a:p>
            <a:r>
              <a:t>        },</a:t>
            </a:r>
          </a:p>
          <a:p>
            <a:r>
              <a:t>        "previous_year_visitors": 5167969,</a:t>
            </a:r>
          </a:p>
          <a:p>
            <a:r>
              <a:t>        "previous_year_spending_krw": 76509918000,</a:t>
            </a:r>
          </a:p>
          <a:p>
            <a:r>
              <a:t>        "previous_year_stay_minutes": 987.0,</a:t>
            </a:r>
          </a:p>
          <a:p>
            <a:r>
              <a:t>        "previous_year_lodging_nights": 2.79,</a:t>
            </a:r>
          </a:p>
          <a:p>
            <a:r>
              <a:t>        "previous_year_lodging_rate_pct": 6.5,</a:t>
            </a:r>
          </a:p>
          <a:p>
            <a:r>
              <a:t>        "previous_year_lodging_searches": 14379,</a:t>
            </a:r>
          </a:p>
          <a:p>
            <a:r>
              <a:t>        "previous_year_navigation_searches": 238728</a:t>
            </a:r>
          </a:p>
          <a:p>
            <a:r>
              <a:t>      },</a:t>
            </a:r>
          </a:p>
          <a:p>
            <a:r>
              <a:t>      {</a:t>
            </a:r>
          </a:p>
          <a:p>
            <a:r>
              <a:t>        "month": "202612",</a:t>
            </a:r>
          </a:p>
          <a:p>
            <a:r>
              <a:t>        "visitors": 4989633.0,</a:t>
            </a:r>
          </a:p>
          <a:p>
            <a:r>
              <a:t>        "is_forecast": true,</a:t>
            </a:r>
          </a:p>
          <a:p>
            <a:r>
              <a:t>        "spending_krw": 81033922052.0,</a:t>
            </a:r>
          </a:p>
          <a:p>
            <a:r>
              <a:t>        "stay_minutes": 1118.0,</a:t>
            </a:r>
          </a:p>
          <a:p>
            <a:r>
              <a:t>        "lodging_nights": 2.81,</a:t>
            </a:r>
          </a:p>
          <a:p>
            <a:r>
              <a:t>        "lodging_rate_pct": 7.3,</a:t>
            </a:r>
          </a:p>
          <a:p>
            <a:r>
              <a:t>        "lodging_searches": 12004,</a:t>
            </a:r>
          </a:p>
          <a:p>
            <a:r>
              <a:t>        "navigation_searches": 225518,</a:t>
            </a:r>
          </a:p>
          <a:p>
            <a:r>
              <a:t>        "visitor_yoy_percent": -1.77,</a:t>
            </a:r>
          </a:p>
          <a:p>
            <a:r>
              <a:t>        "spending_yoy_percent": -0.11,</a:t>
            </a:r>
          </a:p>
          <a:p>
            <a:r>
              <a:t>        "metric_changes_percent": {</a:t>
            </a:r>
          </a:p>
          <a:p>
            <a:r>
              <a:t>          "stay_minutes": 0.0,</a:t>
            </a:r>
          </a:p>
          <a:p>
            <a:r>
              <a:t>          "lodging_nights": 0.0,</a:t>
            </a:r>
          </a:p>
          <a:p>
            <a:r>
              <a:t>          "lodging_rate_pct": 0.0,</a:t>
            </a:r>
          </a:p>
          <a:p>
            <a:r>
              <a:t>          "lodging_searches": 0.0,</a:t>
            </a:r>
          </a:p>
          <a:p>
            <a:r>
              <a:t>          "navigation_searches": 2.41</a:t>
            </a:r>
          </a:p>
          <a:p>
            <a:r>
              <a:t>        },</a:t>
            </a:r>
          </a:p>
          <a:p>
            <a:r>
              <a:t>        "previous_year_visitors": 5079597,</a:t>
            </a:r>
          </a:p>
          <a:p>
            <a:r>
              <a:t>        "previous_year_spending_krw": 81119852000,</a:t>
            </a:r>
          </a:p>
          <a:p>
            <a:r>
              <a:t>        "previous_year_stay_minutes": 1118.0,</a:t>
            </a:r>
          </a:p>
          <a:p>
            <a:r>
              <a:t>        "previous_year_lodging_nights": 2.81,</a:t>
            </a:r>
          </a:p>
          <a:p>
            <a:r>
              <a:t>        "previous_year_lodging_rate_pct": 7.3,</a:t>
            </a:r>
          </a:p>
          <a:p>
            <a:r>
              <a:t>        "previous_year_lodging_searches": 12004,</a:t>
            </a:r>
          </a:p>
          <a:p>
            <a:r>
              <a:t>        "previous_year_navigation_searches": 220205</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4982887,</a:t>
            </a:r>
          </a:p>
          <a:p>
            <a:r>
              <a:t>      "is_forecast": true,</a:t>
            </a:r>
          </a:p>
          <a:p>
            <a:r>
              <a:t>      "spending_krw": 80283647550,</a:t>
            </a:r>
          </a:p>
          <a:p>
            <a:r>
              <a:t>      "stay_minutes": 1223.0,</a:t>
            </a:r>
          </a:p>
          <a:p>
            <a:r>
              <a:t>      "lodging_nights": 2.91,</a:t>
            </a:r>
          </a:p>
          <a:p>
            <a:r>
              <a:t>      "lodging_rate_pct": 7.3,</a:t>
            </a:r>
          </a:p>
          <a:p>
            <a:r>
              <a:t>      "lodging_searches": 12843,</a:t>
            </a:r>
          </a:p>
          <a:p>
            <a:r>
              <a:t>      "navigation_searches": 209722,</a:t>
            </a:r>
          </a:p>
          <a:p>
            <a:r>
              <a:t>      "visitor_yoy_percent": 0.64,</a:t>
            </a:r>
          </a:p>
          <a:p>
            <a:r>
              <a:t>      "spending_yoy_percent": 6.85,</a:t>
            </a:r>
          </a:p>
          <a:p>
            <a:r>
              <a:t>      "metric_changes_percent": {</a:t>
            </a:r>
          </a:p>
          <a:p>
            <a:r>
              <a:t>        "stay_minutes": 0.0,</a:t>
            </a:r>
          </a:p>
          <a:p>
            <a:r>
              <a:t>        "lodging_nights": 0.0,</a:t>
            </a:r>
          </a:p>
          <a:p>
            <a:r>
              <a:t>        "lodging_rate_pct": 0.0,</a:t>
            </a:r>
          </a:p>
          <a:p>
            <a:r>
              <a:t>        "lodging_searches": 0.0,</a:t>
            </a:r>
          </a:p>
          <a:p>
            <a:r>
              <a:t>        "navigation_searches": -0.44</a:t>
            </a:r>
          </a:p>
          <a:p>
            <a:r>
              <a:t>      },</a:t>
            </a:r>
          </a:p>
          <a:p>
            <a:r>
              <a:t>      "previous_year_visitors": 4951150,</a:t>
            </a:r>
          </a:p>
          <a:p>
            <a:r>
              <a:t>      "previous_year_spending_krw": 75135145000,</a:t>
            </a:r>
          </a:p>
          <a:p>
            <a:r>
              <a:t>      "previous_year_stay_minutes": 1223.0,</a:t>
            </a:r>
          </a:p>
          <a:p>
            <a:r>
              <a:t>      "previous_year_lodging_nights": 2.91,</a:t>
            </a:r>
          </a:p>
          <a:p>
            <a:r>
              <a:t>      "previous_year_lodging_rate_pct": 7.3,</a:t>
            </a:r>
          </a:p>
          <a:p>
            <a:r>
              <a:t>      "previous_year_lodging_searches": 12843,</a:t>
            </a:r>
          </a:p>
          <a:p>
            <a:r>
              <a:t>      "previous_year_navigation_searches": 210646</a:t>
            </a:r>
          </a:p>
          <a:p>
            <a:r>
              <a:t>    },</a:t>
            </a:r>
          </a:p>
          <a:p>
            <a:r>
              <a:t>    {</a:t>
            </a:r>
          </a:p>
          <a:p>
            <a:r>
              <a:t>      "month": "202608",</a:t>
            </a:r>
          </a:p>
          <a:p>
            <a:r>
              <a:t>      "visitors": 4852547,</a:t>
            </a:r>
          </a:p>
          <a:p>
            <a:r>
              <a:t>      "is_forecast": true,</a:t>
            </a:r>
          </a:p>
          <a:p>
            <a:r>
              <a:t>      "spending_krw": 76665340753,</a:t>
            </a:r>
          </a:p>
          <a:p>
            <a:r>
              <a:t>      "stay_minutes": 1218.0,</a:t>
            </a:r>
          </a:p>
          <a:p>
            <a:r>
              <a:t>      "lodging_nights": 2.84,</a:t>
            </a:r>
          </a:p>
          <a:p>
            <a:r>
              <a:t>      "lodging_rate_pct": 7.9,</a:t>
            </a:r>
          </a:p>
          <a:p>
            <a:r>
              <a:t>      "lodging_searches": 13272,</a:t>
            </a:r>
          </a:p>
          <a:p>
            <a:r>
              <a:t>      "navigation_searches": 225159,</a:t>
            </a:r>
          </a:p>
          <a:p>
            <a:r>
              <a:t>      "visitor_yoy_percent": -1.76,</a:t>
            </a:r>
          </a:p>
          <a:p>
            <a:r>
              <a:t>      "spending_yoy_percent": 0.49,</a:t>
            </a:r>
          </a:p>
          <a:p>
            <a:r>
              <a:t>      "metric_changes_percent": {</a:t>
            </a:r>
          </a:p>
          <a:p>
            <a:r>
              <a:t>        "stay_minutes": 0.0,</a:t>
            </a:r>
          </a:p>
          <a:p>
            <a:r>
              <a:t>        "lodging_nights": 0.0,</a:t>
            </a:r>
          </a:p>
          <a:p>
            <a:r>
              <a:t>        "lodging_rate_pct": 0.0,</a:t>
            </a:r>
          </a:p>
          <a:p>
            <a:r>
              <a:t>        "lodging_searches": 0.0,</a:t>
            </a:r>
          </a:p>
          <a:p>
            <a:r>
              <a:t>        "navigation_searches": 2.0</a:t>
            </a:r>
          </a:p>
          <a:p>
            <a:r>
              <a:t>      },</a:t>
            </a:r>
          </a:p>
          <a:p>
            <a:r>
              <a:t>      "previous_year_visitors": 4939438,</a:t>
            </a:r>
          </a:p>
          <a:p>
            <a:r>
              <a:t>      "previous_year_spending_krw": 76291079000,</a:t>
            </a:r>
          </a:p>
          <a:p>
            <a:r>
              <a:t>      "previous_year_stay_minutes": 1218.0,</a:t>
            </a:r>
          </a:p>
          <a:p>
            <a:r>
              <a:t>      "previous_year_lodging_nights": 2.84,</a:t>
            </a:r>
          </a:p>
          <a:p>
            <a:r>
              <a:t>      "previous_year_lodging_rate_pct": 7.9,</a:t>
            </a:r>
          </a:p>
          <a:p>
            <a:r>
              <a:t>      "previous_year_lodging_searches": 13272,</a:t>
            </a:r>
          </a:p>
          <a:p>
            <a:r>
              <a:t>      "previous_year_navigation_searches": 220742</a:t>
            </a:r>
          </a:p>
          <a:p>
            <a:r>
              <a:t>    },</a:t>
            </a:r>
          </a:p>
          <a:p>
            <a:r>
              <a:t>    {</a:t>
            </a:r>
          </a:p>
          <a:p>
            <a:r>
              <a:t>      "month": "202609",</a:t>
            </a:r>
          </a:p>
          <a:p>
            <a:r>
              <a:t>      "visitors": 4823300,</a:t>
            </a:r>
          </a:p>
          <a:p>
            <a:r>
              <a:t>      "is_forecast": true,</a:t>
            </a:r>
          </a:p>
          <a:p>
            <a:r>
              <a:t>      "spending_krw": 80194062490,</a:t>
            </a:r>
          </a:p>
          <a:p>
            <a:r>
              <a:t>      "stay_minutes": 1281.0,</a:t>
            </a:r>
          </a:p>
          <a:p>
            <a:r>
              <a:t>      "lodging_nights": 2.93,</a:t>
            </a:r>
          </a:p>
          <a:p>
            <a:r>
              <a:t>      "lodging_rate_pct": 6.7,</a:t>
            </a:r>
          </a:p>
          <a:p>
            <a:r>
              <a:t>      "lodging_searches": 11464,</a:t>
            </a:r>
          </a:p>
          <a:p>
            <a:r>
              <a:t>      "navigation_searches": 206180,</a:t>
            </a:r>
          </a:p>
          <a:p>
            <a:r>
              <a:t>      "visitor_yoy_percent": -0.39,</a:t>
            </a:r>
          </a:p>
          <a:p>
            <a:r>
              <a:t>      "spending_yoy_percent": 13.32,</a:t>
            </a:r>
          </a:p>
          <a:p>
            <a:r>
              <a:t>      "metric_changes_percent": {</a:t>
            </a:r>
          </a:p>
          <a:p>
            <a:r>
              <a:t>        "stay_minutes": 0.0,</a:t>
            </a:r>
          </a:p>
          <a:p>
            <a:r>
              <a:t>        "lodging_nights": 0.0,</a:t>
            </a:r>
          </a:p>
          <a:p>
            <a:r>
              <a:t>        "lodging_rate_pct": 0.0,</a:t>
            </a:r>
          </a:p>
          <a:p>
            <a:r>
              <a:t>        "lodging_searches": 0.0,</a:t>
            </a:r>
          </a:p>
          <a:p>
            <a:r>
              <a:t>        "navigation_searches": 7.4</a:t>
            </a:r>
          </a:p>
          <a:p>
            <a:r>
              <a:t>      },</a:t>
            </a:r>
          </a:p>
          <a:p>
            <a:r>
              <a:t>      "previous_year_visitors": 4842196,</a:t>
            </a:r>
          </a:p>
          <a:p>
            <a:r>
              <a:t>      "previous_year_spending_krw": 70764730000,</a:t>
            </a:r>
          </a:p>
          <a:p>
            <a:r>
              <a:t>      "previous_year_stay_minutes": 1281.0,</a:t>
            </a:r>
          </a:p>
          <a:p>
            <a:r>
              <a:t>      "previous_year_lodging_nights": 2.93,</a:t>
            </a:r>
          </a:p>
          <a:p>
            <a:r>
              <a:t>      "previous_year_lodging_rate_pct": 6.7,</a:t>
            </a:r>
          </a:p>
          <a:p>
            <a:r>
              <a:t>      "previous_year_lodging_searches": 11464,</a:t>
            </a:r>
          </a:p>
          <a:p>
            <a:r>
              <a:t>      "previous_year_navigation_searches": 191971</a:t>
            </a:r>
          </a:p>
          <a:p>
            <a:r>
              <a:t>    },</a:t>
            </a:r>
          </a:p>
          <a:p>
            <a:r>
              <a:t>    {</a:t>
            </a:r>
          </a:p>
          <a:p>
            <a:r>
              <a:t>      "month": "202610",</a:t>
            </a:r>
          </a:p>
          <a:p>
            <a:r>
              <a:t>      "visitors": 4998578,</a:t>
            </a:r>
          </a:p>
          <a:p>
            <a:r>
              <a:t>      "is_forecast": true,</a:t>
            </a:r>
          </a:p>
          <a:p>
            <a:r>
              <a:t>      "spending_krw": 79359374710,</a:t>
            </a:r>
          </a:p>
          <a:p>
            <a:r>
              <a:t>      "stay_minutes": 1170.0,</a:t>
            </a:r>
          </a:p>
          <a:p>
            <a:r>
              <a:t>      "lodging_nights": 2.85,</a:t>
            </a:r>
          </a:p>
          <a:p>
            <a:r>
              <a:t>      "lodging_rate_pct": 8.9,</a:t>
            </a:r>
          </a:p>
          <a:p>
            <a:r>
              <a:t>      "lodging_searches": 19187,</a:t>
            </a:r>
          </a:p>
          <a:p>
            <a:r>
              <a:t>      "navigation_searches": 237779,</a:t>
            </a:r>
          </a:p>
          <a:p>
            <a:r>
              <a:t>      "visitor_yoy_percent": 0.99,</a:t>
            </a:r>
          </a:p>
          <a:p>
            <a:r>
              <a:t>      "spending_yoy_percent": 1.54,</a:t>
            </a:r>
          </a:p>
          <a:p>
            <a:r>
              <a:t>      "metric_changes_percent": {</a:t>
            </a:r>
          </a:p>
          <a:p>
            <a:r>
              <a:t>        "stay_minutes": 0.0,</a:t>
            </a:r>
          </a:p>
          <a:p>
            <a:r>
              <a:t>        "lodging_nights": 0.0,</a:t>
            </a:r>
          </a:p>
          <a:p>
            <a:r>
              <a:t>        "lodging_rate_pct": 0.0,</a:t>
            </a:r>
          </a:p>
          <a:p>
            <a:r>
              <a:t>        "lodging_searches": 0.0,</a:t>
            </a:r>
          </a:p>
          <a:p>
            <a:r>
              <a:t>        "navigation_searches": -26.82</a:t>
            </a:r>
          </a:p>
          <a:p>
            <a:r>
              <a:t>      },</a:t>
            </a:r>
          </a:p>
          <a:p>
            <a:r>
              <a:t>      "previous_year_visitors": 4949394,</a:t>
            </a:r>
          </a:p>
          <a:p>
            <a:r>
              <a:t>      "previous_year_spending_krw": 78158272000,</a:t>
            </a:r>
          </a:p>
          <a:p>
            <a:r>
              <a:t>      "previous_year_stay_minutes": 1170.0,</a:t>
            </a:r>
          </a:p>
          <a:p>
            <a:r>
              <a:t>      "previous_year_lodging_nights": 2.85,</a:t>
            </a:r>
          </a:p>
          <a:p>
            <a:r>
              <a:t>      "previous_year_lodging_rate_pct": 8.9,</a:t>
            </a:r>
          </a:p>
          <a:p>
            <a:r>
              <a:t>      "previous_year_lodging_searches": 19187,</a:t>
            </a:r>
          </a:p>
          <a:p>
            <a:r>
              <a:t>      "previous_year_navigation_searches": 324902</a:t>
            </a:r>
          </a:p>
          <a:p>
            <a:r>
              <a:t>    },</a:t>
            </a:r>
          </a:p>
          <a:p>
            <a:r>
              <a:t>    {</a:t>
            </a:r>
          </a:p>
          <a:p>
            <a:r>
              <a:t>      "month": "202611",</a:t>
            </a:r>
          </a:p>
          <a:p>
            <a:r>
              <a:t>      "visitors": 4940348,</a:t>
            </a:r>
          </a:p>
          <a:p>
            <a:r>
              <a:t>      "is_forecast": true,</a:t>
            </a:r>
          </a:p>
          <a:p>
            <a:r>
              <a:t>      "spending_krw": 85971975908,</a:t>
            </a:r>
          </a:p>
          <a:p>
            <a:r>
              <a:t>      "stay_minutes": 987.0,</a:t>
            </a:r>
          </a:p>
          <a:p>
            <a:r>
              <a:t>      "lodging_nights": 2.79,</a:t>
            </a:r>
          </a:p>
          <a:p>
            <a:r>
              <a:t>      "lodging_rate_pct": 6.5,</a:t>
            </a:r>
          </a:p>
          <a:p>
            <a:r>
              <a:t>      "lodging_searches": 14379,</a:t>
            </a:r>
          </a:p>
          <a:p>
            <a:r>
              <a:t>      "navigation_searches": 231894,</a:t>
            </a:r>
          </a:p>
          <a:p>
            <a:r>
              <a:t>      "visitor_yoy_percent": -4.4,</a:t>
            </a:r>
          </a:p>
          <a:p>
            <a:r>
              <a:t>      "spending_yoy_percent": 12.37,</a:t>
            </a:r>
          </a:p>
          <a:p>
            <a:r>
              <a:t>      "metric_changes_percent": {</a:t>
            </a:r>
          </a:p>
          <a:p>
            <a:r>
              <a:t>        "stay_minutes": 0.0,</a:t>
            </a:r>
          </a:p>
          <a:p>
            <a:r>
              <a:t>        "lodging_nights": 0.0,</a:t>
            </a:r>
          </a:p>
          <a:p>
            <a:r>
              <a:t>        "lodging_rate_pct": 0.0,</a:t>
            </a:r>
          </a:p>
          <a:p>
            <a:r>
              <a:t>        "lodging_searches": 0.0,</a:t>
            </a:r>
          </a:p>
          <a:p>
            <a:r>
              <a:t>        "navigation_searches": -2.86</a:t>
            </a:r>
          </a:p>
          <a:p>
            <a:r>
              <a:t>      },</a:t>
            </a:r>
          </a:p>
          <a:p>
            <a:r>
              <a:t>      "previous_year_visitors": 5167969,</a:t>
            </a:r>
          </a:p>
          <a:p>
            <a:r>
              <a:t>      "previous_year_spending_krw": 76509918000,</a:t>
            </a:r>
          </a:p>
          <a:p>
            <a:r>
              <a:t>      "previous_year_stay_minutes": 987.0,</a:t>
            </a:r>
          </a:p>
          <a:p>
            <a:r>
              <a:t>      "previous_year_lodging_nights": 2.79,</a:t>
            </a:r>
          </a:p>
          <a:p>
            <a:r>
              <a:t>      "previous_year_lodging_rate_pct": 6.5,</a:t>
            </a:r>
          </a:p>
          <a:p>
            <a:r>
              <a:t>      "previous_year_lodging_searches": 14379,</a:t>
            </a:r>
          </a:p>
          <a:p>
            <a:r>
              <a:t>      "previous_year_navigation_searches": 238728</a:t>
            </a:r>
          </a:p>
          <a:p>
            <a:r>
              <a:t>    },</a:t>
            </a:r>
          </a:p>
          <a:p>
            <a:r>
              <a:t>    {</a:t>
            </a:r>
          </a:p>
          <a:p>
            <a:r>
              <a:t>      "month": "202612",</a:t>
            </a:r>
          </a:p>
          <a:p>
            <a:r>
              <a:t>      "visitors": 4989633,</a:t>
            </a:r>
          </a:p>
          <a:p>
            <a:r>
              <a:t>      "is_forecast": true,</a:t>
            </a:r>
          </a:p>
          <a:p>
            <a:r>
              <a:t>      "spending_krw": 81033922052,</a:t>
            </a:r>
          </a:p>
          <a:p>
            <a:r>
              <a:t>      "stay_minutes": 1118.0,</a:t>
            </a:r>
          </a:p>
          <a:p>
            <a:r>
              <a:t>      "lodging_nights": 2.81,</a:t>
            </a:r>
          </a:p>
          <a:p>
            <a:r>
              <a:t>      "lodging_rate_pct": 7.3,</a:t>
            </a:r>
          </a:p>
          <a:p>
            <a:r>
              <a:t>      "lodging_searches": 12004,</a:t>
            </a:r>
          </a:p>
          <a:p>
            <a:r>
              <a:t>      "navigation_searches": 225518,</a:t>
            </a:r>
          </a:p>
          <a:p>
            <a:r>
              <a:t>      "visitor_yoy_percent": -1.77,</a:t>
            </a:r>
          </a:p>
          <a:p>
            <a:r>
              <a:t>      "spending_yoy_percent": -0.11,</a:t>
            </a:r>
          </a:p>
          <a:p>
            <a:r>
              <a:t>      "metric_changes_percent": {</a:t>
            </a:r>
          </a:p>
          <a:p>
            <a:r>
              <a:t>        "stay_minutes": 0.0,</a:t>
            </a:r>
          </a:p>
          <a:p>
            <a:r>
              <a:t>        "lodging_nights": 0.0,</a:t>
            </a:r>
          </a:p>
          <a:p>
            <a:r>
              <a:t>        "lodging_rate_pct": 0.0,</a:t>
            </a:r>
          </a:p>
          <a:p>
            <a:r>
              <a:t>        "lodging_searches": 0.0,</a:t>
            </a:r>
          </a:p>
          <a:p>
            <a:r>
              <a:t>        "navigation_searches": 2.41</a:t>
            </a:r>
          </a:p>
          <a:p>
            <a:r>
              <a:t>      },</a:t>
            </a:r>
          </a:p>
          <a:p>
            <a:r>
              <a:t>      "previous_year_visitors": 5079597,</a:t>
            </a:r>
          </a:p>
          <a:p>
            <a:r>
              <a:t>      "previous_year_spending_krw": 81119852000,</a:t>
            </a:r>
          </a:p>
          <a:p>
            <a:r>
              <a:t>      "previous_year_stay_minutes": 1118.0,</a:t>
            </a:r>
          </a:p>
          <a:p>
            <a:r>
              <a:t>      "previous_year_lodging_nights": 2.81,</a:t>
            </a:r>
          </a:p>
          <a:p>
            <a:r>
              <a:t>      "previous_year_lodging_rate_pct": 7.3,</a:t>
            </a:r>
          </a:p>
          <a:p>
            <a:r>
              <a:t>      "previous_year_lodging_searches": 12004,</a:t>
            </a:r>
          </a:p>
          <a:p>
            <a:r>
              <a:t>      "previous_year_navigation_searches": 220205</a:t>
            </a:r>
          </a:p>
          <a:p>
            <a:r>
              <a:t>    }</a:t>
            </a:r>
          </a:p>
          <a:p>
            <a:r>
              <a:t>  ],</a:t>
            </a:r>
          </a:p>
          <a:p>
            <a:r>
              <a:t>  "evaluation": {</a:t>
            </a:r>
          </a:p>
          <a:p>
            <a:r>
              <a:t>    "metrics": {</a:t>
            </a:r>
          </a:p>
          <a:p>
            <a:r>
              <a:t>      "visitors": {</a:t>
            </a:r>
          </a:p>
          <a:p>
            <a:r>
              <a:t>        "test_mae": 237105.53,</a:t>
            </a:r>
          </a:p>
          <a:p>
            <a:r>
              <a:t>        "recursive_mae": {</a:t>
            </a:r>
          </a:p>
          <a:p>
            <a:r>
              <a:t>          "1": {</a:t>
            </a:r>
          </a:p>
          <a:p>
            <a:r>
              <a:t>            "baseline": 211072,</a:t>
            </a:r>
          </a:p>
          <a:p>
            <a:r>
              <a:t>            "selected": 332727,</a:t>
            </a:r>
          </a:p>
          <a:p>
            <a:r>
              <a:t>            "sample_count": 2</a:t>
            </a:r>
          </a:p>
          <a:p>
            <a:r>
              <a:t>          },</a:t>
            </a:r>
          </a:p>
          <a:p>
            <a:r>
              <a:t>          "2": {</a:t>
            </a:r>
          </a:p>
          <a:p>
            <a:r>
              <a:t>            "baseline": 97043,</a:t>
            </a:r>
          </a:p>
          <a:p>
            <a:r>
              <a:t>            "selected": 141143.5,</a:t>
            </a:r>
          </a:p>
          <a:p>
            <a:r>
              <a:t>            "sample_count": 2</a:t>
            </a:r>
          </a:p>
          <a:p>
            <a:r>
              <a:t>          },</a:t>
            </a:r>
          </a:p>
          <a:p>
            <a:r>
              <a:t>          "3": {</a:t>
            </a:r>
          </a:p>
          <a:p>
            <a:r>
              <a:t>            "baseline": 174799,</a:t>
            </a:r>
          </a:p>
          <a:p>
            <a:r>
              <a:t>            "selected": 168591.5,</a:t>
            </a:r>
          </a:p>
          <a:p>
            <a:r>
              <a:t>            "sample_count": 2</a:t>
            </a:r>
          </a:p>
          <a:p>
            <a:r>
              <a:t>          }</a:t>
            </a:r>
          </a:p>
          <a:p>
            <a:r>
              <a:t>        },</a:t>
            </a:r>
          </a:p>
          <a:p>
            <a:r>
              <a:t>        "selected_model": "RandomForestRegressor",</a:t>
            </a:r>
          </a:p>
          <a:p>
            <a:r>
              <a:t>        "baseline_test_mae": 192935.5,</a:t>
            </a:r>
          </a:p>
          <a:p>
            <a:r>
              <a:t>        "model_reliability": "below_baseline_on_test",</a:t>
            </a:r>
          </a:p>
          <a:p>
            <a:r>
              <a:t>        "beats_baseline_on_test": false,</a:t>
            </a:r>
          </a:p>
          <a:p>
            <a:r>
              <a:t>        "recursive_horizons_worse_than_baseline": [</a:t>
            </a:r>
          </a:p>
          <a:p>
            <a:r>
              <a:t>          "1",</a:t>
            </a:r>
          </a:p>
          <a:p>
            <a:r>
              <a:t>          "2"</a:t>
            </a:r>
          </a:p>
          <a:p>
            <a:r>
              <a:t>        ]</a:t>
            </a:r>
          </a:p>
          <a:p>
            <a:r>
              <a:t>      },</a:t>
            </a:r>
          </a:p>
          <a:p>
            <a:r>
              <a:t>      "spending_krw": {</a:t>
            </a:r>
          </a:p>
          <a:p>
            <a:r>
              <a:t>        "test_mae": 4927867951.9,</a:t>
            </a:r>
          </a:p>
          <a:p>
            <a:r>
              <a:t>        "recursive_mae": {</a:t>
            </a:r>
          </a:p>
          <a:p>
            <a:r>
              <a:t>          "1": {</a:t>
            </a:r>
          </a:p>
          <a:p>
            <a:r>
              <a:t>            "baseline": 1944140500,</a:t>
            </a:r>
          </a:p>
          <a:p>
            <a:r>
              <a:t>            "selected": 3237755191,</a:t>
            </a:r>
          </a:p>
          <a:p>
            <a:r>
              <a:t>            "sample_count": 2</a:t>
            </a:r>
          </a:p>
          <a:p>
            <a:r>
              <a:t>          },</a:t>
            </a:r>
          </a:p>
          <a:p>
            <a:r>
              <a:t>          "2": {</a:t>
            </a:r>
          </a:p>
          <a:p>
            <a:r>
              <a:t>            "baseline": 3984052500,</a:t>
            </a:r>
          </a:p>
          <a:p>
            <a:r>
              <a:t>            "selected": 1581504765.5,</a:t>
            </a:r>
          </a:p>
          <a:p>
            <a:r>
              <a:t>            "sample_count": 2</a:t>
            </a:r>
          </a:p>
          <a:p>
            <a:r>
              <a:t>          },</a:t>
            </a:r>
          </a:p>
          <a:p>
            <a:r>
              <a:t>          "3": {</a:t>
            </a:r>
          </a:p>
          <a:p>
            <a:r>
              <a:t>            "baseline": 2878173500,</a:t>
            </a:r>
          </a:p>
          <a:p>
            <a:r>
              <a:t>            "selected": 4493524184.5,</a:t>
            </a:r>
          </a:p>
          <a:p>
            <a:r>
              <a:t>            "sample_count": 2</a:t>
            </a:r>
          </a:p>
          <a:p>
            <a:r>
              <a:t>          }</a:t>
            </a:r>
          </a:p>
          <a:p>
            <a:r>
              <a:t>        },</a:t>
            </a:r>
          </a:p>
          <a:p>
            <a:r>
              <a:t>        "selected_model": "LinearRegression",</a:t>
            </a:r>
          </a:p>
          <a:p>
            <a:r>
              <a:t>        "baseline_test_mae": 2411157000,</a:t>
            </a:r>
          </a:p>
          <a:p>
            <a:r>
              <a:t>        "model_reliability": "below_baseline_on_test",</a:t>
            </a:r>
          </a:p>
          <a:p>
            <a:r>
              <a:t>        "beats_baseline_on_test": false,</a:t>
            </a:r>
          </a:p>
          <a:p>
            <a:r>
              <a:t>        "recursive_horizons_worse_than_baseline": [</a:t>
            </a:r>
          </a:p>
          <a:p>
            <a:r>
              <a:t>          "1",</a:t>
            </a:r>
          </a:p>
          <a:p>
            <a:r>
              <a:t>          "3"</a:t>
            </a:r>
          </a:p>
          <a:p>
            <a:r>
              <a:t>        ]</a:t>
            </a:r>
          </a:p>
          <a:p>
            <a:r>
              <a:t>      },</a:t>
            </a:r>
          </a:p>
          <a:p>
            <a:r>
              <a:t>      "stay_minutes": {</a:t>
            </a:r>
          </a:p>
          <a:p>
            <a:r>
              <a:t>        "test_mae": 113.5,</a:t>
            </a:r>
          </a:p>
          <a:p>
            <a:r>
              <a:t>        "recursive_mae": {</a:t>
            </a:r>
          </a:p>
          <a:p>
            <a:r>
              <a:t>          "1": {</a:t>
            </a:r>
          </a:p>
          <a:p>
            <a:r>
              <a:t>            "baseline": 52,</a:t>
            </a:r>
          </a:p>
          <a:p>
            <a:r>
              <a:t>            "selected": 52,</a:t>
            </a:r>
          </a:p>
          <a:p>
            <a:r>
              <a:t>            "sample_count": 2</a:t>
            </a:r>
          </a:p>
          <a:p>
            <a:r>
              <a:t>          },</a:t>
            </a:r>
          </a:p>
          <a:p>
            <a:r>
              <a:t>          "2": {</a:t>
            </a:r>
          </a:p>
          <a:p>
            <a:r>
              <a:t>            "baseline": 218.5,</a:t>
            </a:r>
          </a:p>
          <a:p>
            <a:r>
              <a:t>            "selected": 218.5,</a:t>
            </a:r>
          </a:p>
          <a:p>
            <a:r>
              <a:t>            "sample_count": 2</a:t>
            </a:r>
          </a:p>
          <a:p>
            <a:r>
              <a:t>          },</a:t>
            </a:r>
          </a:p>
          <a:p>
            <a:r>
              <a:t>          "3": {</a:t>
            </a:r>
          </a:p>
          <a:p>
            <a:r>
              <a:t>            "baseline": 175,</a:t>
            </a:r>
          </a:p>
          <a:p>
            <a:r>
              <a:t>            "selected": 175,</a:t>
            </a:r>
          </a:p>
          <a:p>
            <a:r>
              <a:t>            "sample_count": 2</a:t>
            </a:r>
          </a:p>
          <a:p>
            <a:r>
              <a:t>          }</a:t>
            </a:r>
          </a:p>
          <a:p>
            <a:r>
              <a:t>        },</a:t>
            </a:r>
          </a:p>
          <a:p>
            <a:r>
              <a:t>        "selected_model": "seasonal_naive_previous_year_same_month",</a:t>
            </a:r>
          </a:p>
          <a:p>
            <a:r>
              <a:t>        "baseline_test_mae": 113.5,</a:t>
            </a:r>
          </a:p>
          <a:p>
            <a:r>
              <a:t>        "model_reliability": "seasonal_baseline",</a:t>
            </a:r>
          </a:p>
          <a:p>
            <a:r>
              <a:t>        "beats_baseline_on_test": false,</a:t>
            </a:r>
          </a:p>
          <a:p>
            <a:r>
              <a:t>        "recursive_horizons_worse_than_baseline": []</a:t>
            </a:r>
          </a:p>
          <a:p>
            <a:r>
              <a:t>      },</a:t>
            </a:r>
          </a:p>
          <a:p>
            <a:r>
              <a:t>      "lodging_nights": {</a:t>
            </a:r>
          </a:p>
          <a:p>
            <a:r>
              <a:t>        "test_mae": 0.07,</a:t>
            </a:r>
          </a:p>
          <a:p>
            <a:r>
              <a:t>        "recursive_mae": {</a:t>
            </a:r>
          </a:p>
          <a:p>
            <a:r>
              <a:t>          "1": {</a:t>
            </a:r>
          </a:p>
          <a:p>
            <a:r>
              <a:t>            "baseline": 0.06,</a:t>
            </a:r>
          </a:p>
          <a:p>
            <a:r>
              <a:t>            "selected": 0.06,</a:t>
            </a:r>
          </a:p>
          <a:p>
            <a:r>
              <a:t>            "sample_count": 2</a:t>
            </a:r>
          </a:p>
          <a:p>
            <a:r>
              <a:t>          },</a:t>
            </a:r>
          </a:p>
          <a:p>
            <a:r>
              <a:t>          "2": {</a:t>
            </a:r>
          </a:p>
          <a:p>
            <a:r>
              <a:t>            "baseline": 0.11,</a:t>
            </a:r>
          </a:p>
          <a:p>
            <a:r>
              <a:t>            "selected": 0.11,</a:t>
            </a:r>
          </a:p>
          <a:p>
            <a:r>
              <a:t>            "sample_count": 2</a:t>
            </a:r>
          </a:p>
          <a:p>
            <a:r>
              <a:t>          },</a:t>
            </a:r>
          </a:p>
          <a:p>
            <a:r>
              <a:t>          "3": {</a:t>
            </a:r>
          </a:p>
          <a:p>
            <a:r>
              <a:t>            "baseline": 0.08,</a:t>
            </a:r>
          </a:p>
          <a:p>
            <a:r>
              <a:t>            "selected": 0.08,</a:t>
            </a:r>
          </a:p>
          <a:p>
            <a:r>
              <a:t>            "sample_count": 2</a:t>
            </a:r>
          </a:p>
          <a:p>
            <a:r>
              <a:t>          }</a:t>
            </a:r>
          </a:p>
          <a:p>
            <a:r>
              <a:t>        },</a:t>
            </a:r>
          </a:p>
          <a:p>
            <a:r>
              <a:t>        "selected_model": "seasonal_naive_previous_year_same_month",</a:t>
            </a:r>
          </a:p>
          <a:p>
            <a:r>
              <a:t>        "baseline_test_mae": 0.07,</a:t>
            </a:r>
          </a:p>
          <a:p>
            <a:r>
              <a:t>        "model_reliability": "seasonal_baseline",</a:t>
            </a:r>
          </a:p>
          <a:p>
            <a:r>
              <a:t>        "beats_baseline_on_test": false,</a:t>
            </a:r>
          </a:p>
          <a:p>
            <a:r>
              <a:t>        "recursive_horizons_worse_than_baseline": []</a:t>
            </a:r>
          </a:p>
          <a:p>
            <a:r>
              <a:t>      },</a:t>
            </a:r>
          </a:p>
          <a:p>
            <a:r>
              <a:t>      "lodging_rate_pct": {</a:t>
            </a:r>
          </a:p>
          <a:p>
            <a:r>
              <a:t>        "test_mae": 0.3,</a:t>
            </a:r>
          </a:p>
          <a:p>
            <a:r>
              <a:t>        "recursive_mae": {</a:t>
            </a:r>
          </a:p>
          <a:p>
            <a:r>
              <a:t>          "1": {</a:t>
            </a:r>
          </a:p>
          <a:p>
            <a:r>
              <a:t>            "baseline": 0.4,</a:t>
            </a:r>
          </a:p>
          <a:p>
            <a:r>
              <a:t>            "selected": 0.4,</a:t>
            </a:r>
          </a:p>
          <a:p>
            <a:r>
              <a:t>            "sample_count": 2</a:t>
            </a:r>
          </a:p>
          <a:p>
            <a:r>
              <a:t>          },</a:t>
            </a:r>
          </a:p>
          <a:p>
            <a:r>
              <a:t>          "2": {</a:t>
            </a:r>
          </a:p>
          <a:p>
            <a:r>
              <a:t>            "baseline": 0.2,</a:t>
            </a:r>
          </a:p>
          <a:p>
            <a:r>
              <a:t>            "selected": 0.2,</a:t>
            </a:r>
          </a:p>
          <a:p>
            <a:r>
              <a:t>            "sample_count": 2</a:t>
            </a:r>
          </a:p>
          <a:p>
            <a:r>
              <a:t>          },</a:t>
            </a:r>
          </a:p>
          <a:p>
            <a:r>
              <a:t>          "3": {</a:t>
            </a:r>
          </a:p>
          <a:p>
            <a:r>
              <a:t>            "baseline": 0.2,</a:t>
            </a:r>
          </a:p>
          <a:p>
            <a:r>
              <a:t>            "selected": 0.2,</a:t>
            </a:r>
          </a:p>
          <a:p>
            <a:r>
              <a:t>            "sample_count": 2</a:t>
            </a:r>
          </a:p>
          <a:p>
            <a:r>
              <a:t>          }</a:t>
            </a:r>
          </a:p>
          <a:p>
            <a:r>
              <a:t>        },</a:t>
            </a:r>
          </a:p>
          <a:p>
            <a:r>
              <a:t>        "selected_model": "seasonal_naive_previous_year_same_month",</a:t>
            </a:r>
          </a:p>
          <a:p>
            <a:r>
              <a:t>        "baseline_test_mae": 0.3,</a:t>
            </a:r>
          </a:p>
          <a:p>
            <a:r>
              <a:t>        "model_reliability": "seasonal_baseline",</a:t>
            </a:r>
          </a:p>
          <a:p>
            <a:r>
              <a:t>        "beats_baseline_on_test": false,</a:t>
            </a:r>
          </a:p>
          <a:p>
            <a:r>
              <a:t>        "recursive_horizons_worse_than_baseline": []</a:t>
            </a:r>
          </a:p>
          <a:p>
            <a:r>
              <a:t>      },</a:t>
            </a:r>
          </a:p>
          <a:p>
            <a:r>
              <a:t>      "lodging_searches": {</a:t>
            </a:r>
          </a:p>
          <a:p>
            <a:r>
              <a:t>        "test_mae": 526.5,</a:t>
            </a:r>
          </a:p>
          <a:p>
            <a:r>
              <a:t>        "recursive_mae": {</a:t>
            </a:r>
          </a:p>
          <a:p>
            <a:r>
              <a:t>          "1": {</a:t>
            </a:r>
          </a:p>
          <a:p>
            <a:r>
              <a:t>            "baseline": 779,</a:t>
            </a:r>
          </a:p>
          <a:p>
            <a:r>
              <a:t>            "selected": 779,</a:t>
            </a:r>
          </a:p>
          <a:p>
            <a:r>
              <a:t>            "sample_count": 2</a:t>
            </a:r>
          </a:p>
          <a:p>
            <a:r>
              <a:t>          },</a:t>
            </a:r>
          </a:p>
          <a:p>
            <a:r>
              <a:t>          "2": {</a:t>
            </a:r>
          </a:p>
          <a:p>
            <a:r>
              <a:t>            "baseline": 391.5,</a:t>
            </a:r>
          </a:p>
          <a:p>
            <a:r>
              <a:t>            "selected": 391.5,</a:t>
            </a:r>
          </a:p>
          <a:p>
            <a:r>
              <a:t>            "sample_count": 2</a:t>
            </a:r>
          </a:p>
          <a:p>
            <a:r>
              <a:t>          },</a:t>
            </a:r>
          </a:p>
          <a:p>
            <a:r>
              <a:t>          "3": {</a:t>
            </a:r>
          </a:p>
          <a:p>
            <a:r>
              <a:t>            "baseline": 274,</a:t>
            </a:r>
          </a:p>
          <a:p>
            <a:r>
              <a:t>            "selected": 274,</a:t>
            </a:r>
          </a:p>
          <a:p>
            <a:r>
              <a:t>            "sample_count": 2</a:t>
            </a:r>
          </a:p>
          <a:p>
            <a:r>
              <a:t>          }</a:t>
            </a:r>
          </a:p>
          <a:p>
            <a:r>
              <a:t>        },</a:t>
            </a:r>
          </a:p>
          <a:p>
            <a:r>
              <a:t>        "selected_model": "seasonal_naive_previous_year_same_month",</a:t>
            </a:r>
          </a:p>
          <a:p>
            <a:r>
              <a:t>        "baseline_test_mae": 526.5,</a:t>
            </a:r>
          </a:p>
          <a:p>
            <a:r>
              <a:t>        "model_reliability": "seasonal_baseline",</a:t>
            </a:r>
          </a:p>
          <a:p>
            <a:r>
              <a:t>        "beats_baseline_on_test": false,</a:t>
            </a:r>
          </a:p>
          <a:p>
            <a:r>
              <a:t>        "recursive_horizons_worse_than_baseline": []</a:t>
            </a:r>
          </a:p>
          <a:p>
            <a:r>
              <a:t>      },</a:t>
            </a:r>
          </a:p>
          <a:p>
            <a:r>
              <a:t>      "navigation_searches": {</a:t>
            </a:r>
          </a:p>
          <a:p>
            <a:r>
              <a:t>        "test_mae": 20482.57,</a:t>
            </a:r>
          </a:p>
          <a:p>
            <a:r>
              <a:t>        "recursive_mae": {</a:t>
            </a:r>
          </a:p>
          <a:p>
            <a:r>
              <a:t>          "1": {</a:t>
            </a:r>
          </a:p>
          <a:p>
            <a:r>
              <a:t>            "baseline": 9487,</a:t>
            </a:r>
          </a:p>
          <a:p>
            <a:r>
              <a:t>            "selected": 20785,</a:t>
            </a:r>
          </a:p>
          <a:p>
            <a:r>
              <a:t>            "sample_count": 2</a:t>
            </a:r>
          </a:p>
          <a:p>
            <a:r>
              <a:t>          },</a:t>
            </a:r>
          </a:p>
          <a:p>
            <a:r>
              <a:t>          "2": {</a:t>
            </a:r>
          </a:p>
          <a:p>
            <a:r>
              <a:t>            "baseline": 6758.5,</a:t>
            </a:r>
          </a:p>
          <a:p>
            <a:r>
              <a:t>            "selected": 14198,</a:t>
            </a:r>
          </a:p>
          <a:p>
            <a:r>
              <a:t>            "sample_count": 2</a:t>
            </a:r>
          </a:p>
          <a:p>
            <a:r>
              <a:t>          },</a:t>
            </a:r>
          </a:p>
          <a:p>
            <a:r>
              <a:t>          "3": {</a:t>
            </a:r>
          </a:p>
          <a:p>
            <a:r>
              <a:t>            "baseline": 14633,</a:t>
            </a:r>
          </a:p>
          <a:p>
            <a:r>
              <a:t>            "selected": 18839,</a:t>
            </a:r>
          </a:p>
          <a:p>
            <a:r>
              <a:t>            "sample_count": 2</a:t>
            </a:r>
          </a:p>
          <a:p>
            <a:r>
              <a:t>          }</a:t>
            </a:r>
          </a:p>
          <a:p>
            <a:r>
              <a:t>        },</a:t>
            </a:r>
          </a:p>
          <a:p>
            <a:r>
              <a:t>        "selected_model": "RandomForestRegressor",</a:t>
            </a:r>
          </a:p>
          <a:p>
            <a:r>
              <a:t>        "baseline_test_mae": 12060,</a:t>
            </a:r>
          </a:p>
          <a:p>
            <a:r>
              <a:t>        "model_reliability": "below_baseline_on_test",</a:t>
            </a:r>
          </a:p>
          <a:p>
            <a:r>
              <a:t>        "beats_baseline_on_test": false,</a:t>
            </a:r>
          </a:p>
          <a:p>
            <a:r>
              <a:t>        "recursive_horizons_worse_than_baseline": [</a:t>
            </a:r>
          </a:p>
          <a:p>
            <a:r>
              <a:t>          "1",</a:t>
            </a:r>
          </a:p>
          <a:p>
            <a:r>
              <a:t>          "2",</a:t>
            </a:r>
          </a:p>
          <a:p>
            <a:r>
              <a:t>          "3"</a:t>
            </a:r>
          </a:p>
          <a:p>
            <a:r>
              <a:t>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6,</a:t>
            </a:r>
          </a:p>
          <a:p>
            <a:r>
              <a:t>    "recursive_backtest_horizon_months": [</a:t>
            </a:r>
          </a:p>
          <a:p>
            <a:r>
              <a:t>      1,</a:t>
            </a:r>
          </a:p>
          <a:p>
            <a:r>
              <a:t>      2,</a:t>
            </a:r>
          </a:p>
          <a:p>
            <a:r>
              <a:t>      3</a:t>
            </a:r>
          </a:p>
          <a:p>
            <a:r>
              <a:t>    ]</a:t>
            </a:r>
          </a:p>
          <a:p>
            <a:r>
              <a:t>  },</a:t>
            </a:r>
          </a:p>
          <a:p>
            <a:r>
              <a:t>  "execution_scenario": {</a:t>
            </a:r>
          </a:p>
          <a:p>
            <a:r>
              <a:t>    "visitor_target_pct": 0.019303448467232462,</a:t>
            </a:r>
          </a:p>
          <a:p>
            <a:r>
              <a:t>    "spending_target_pct": 0.04151694433378397,</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"총 예산 = Σ min(적격 결제액 × 가정 환급률, 건별 상한액). (기획 가정/미확정 견적)",</a:t>
            </a:r>
          </a:p>
          <a:p>
            <a:r>
              <a:t>        "본문 기준"</a:t>
            </a:r>
          </a:p>
          <a:p>
            <a:r>
              <a:t>      ]</a:t>
            </a:r>
          </a:p>
          <a:p>
            <a:r>
              <a:t>    ],</a:t>
            </a:r>
          </a:p>
          <a:p>
            <a:r>
              <a:t>    "original_text": "총 예산 = Σ min(적격 결제액 × 가정 환급률, 건별 상한액). (기획 가정/미확정 견적)",</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"selected_source": {</a:t>
            </a:r>
          </a:p>
          <a:p>
            <a:r>
              <a:t>    "title": "귀촌 '원조 반값'은 다르다… 강진서 전국 확산 '체류 관광 도시'",</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반값여행: 여행 지출 증빙 후 모바일 지역상품권 환급",</a:t>
            </a:r>
          </a:p>
          <a:p>
            <a:r>
              <a:t>    "document_type": null,</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"retrieval_method": "official_web_search",</a:t>
            </a:r>
          </a:p>
          <a:p>
            <a:r>
              <a:t>    "evidence_strength": "medium",</a:t>
            </a:r>
          </a:p>
          <a:p>
            <a:r>
              <a:t>    "retrieval_context": {</a:t>
            </a:r>
          </a:p>
          <a:p>
            <a:r>
              <a:t>      "scope": "cross_province",</a:t>
            </a:r>
          </a:p>
          <a:p>
            <a:r>
              <a:t>      "peer_region_code": null</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"operating_statistics": [</a:t>
            </a:r>
          </a:p>
          <a:p>
            <a:r>
              <a:t>      {</a:t>
            </a:r>
          </a:p>
          <a:p>
            <a:r>
              <a:t>        "unit": "team",</a:t>
            </a:r>
          </a:p>
          <a:p>
            <a:r>
              <a:t>        "quote": "1만6292팀이 실제 강진을 찾았다.",</a:t>
            </a:r>
          </a:p>
          <a:p>
            <a:r>
              <a:t>        "scope": "사전신청자 중 실제 강진 방문 확인 팀",</a:t>
            </a:r>
          </a:p>
          <a:p>
            <a:r>
              <a:t>        "value": 16292,</a:t>
            </a:r>
          </a:p>
          <a:p>
            <a:r>
              <a:t>        "metric": "participants",</a:t>
            </a:r>
          </a:p>
          <a:p>
            <a:r>
              <a:t>        "period": "2026-05-19 누적",</a:t>
            </a:r>
          </a:p>
          <a:p>
            <a:r>
              <a:t>        "program_name": "강진 반값여행",</a:t>
            </a:r>
          </a:p>
          <a:p>
            <a:r>
              <a:t>        "capacity_count": null,</a:t>
            </a:r>
          </a:p>
          <a:p>
            <a:r>
              <a:t>        "participant_count": 16292</a:t>
            </a:r>
          </a:p>
          <a:p>
            <a:r>
              <a:t>      },</a:t>
            </a:r>
          </a:p>
          <a:p>
            <a:r>
              <a:t>      {</a:t>
            </a:r>
          </a:p>
          <a:p>
            <a:r>
              <a:t>        "unit": "KRW",</a:t>
            </a:r>
          </a:p>
          <a:p>
            <a:r>
              <a:t>        "quote": "지역 내 소비액은 총 49억7000만원",</a:t>
            </a:r>
          </a:p>
          <a:p>
            <a:r>
              <a:t>        "scope": "사업 등록 관광객의 강진 지역 내 소비액",</a:t>
            </a:r>
          </a:p>
          <a:p>
            <a:r>
              <a:t>        "value": 4970000000,</a:t>
            </a:r>
          </a:p>
          <a:p>
            <a:r>
              <a:t>        "metric": "participant_spending",</a:t>
            </a:r>
          </a:p>
          <a:p>
            <a:r>
              <a:t>        "period": "2026-05-19 누적",</a:t>
            </a:r>
          </a:p>
          <a:p>
            <a:r>
              <a:t>        "program_name": "강진 반값여행",</a:t>
            </a:r>
          </a:p>
          <a:p>
            <a:r>
              <a:t>        "capacity_count": null,</a:t>
            </a:r>
          </a:p>
          <a:p>
            <a:r>
              <a:t>        "participant_count": 16292</a:t>
            </a:r>
          </a:p>
          <a:p>
            <a:r>
              <a:t>      }</a:t>
            </a:r>
          </a:p>
          <a:p>
            <a:r>
              <a:t>    ],</a:t>
            </a:r>
          </a:p>
          <a:p>
            <a:r>
              <a:t>    "published_or_updated_at": "2026-05-29",</a:t>
            </a:r>
          </a:p>
          <a:p>
            <a:r>
              <a:t>    "quantitative_result_approved": null</a:t>
            </a:r>
          </a:p>
          <a:p>
            <a:r>
              <a:t>  },</a:t>
            </a:r>
          </a:p>
          <a:p>
            <a:r>
              <a:t>  "export_evidence": null,</a:t>
            </a:r>
          </a:p>
          <a:p>
            <a:r>
              <a:t>  "rule": "Facts refer only to the named event / period. Saved regional targets are unchanged."</a:t>
            </a:r>
          </a:p>
          <a:p>
            <a:r>
              <a:t>}</a:t>
            </a:r>
          </a:p>
          <a:p>
            <a:r>
              <a:t>지역 적용 근거 원문: {"summary": [["우리 지역의 관광 신호", "관광소비액 전망 · +4.49%\n업종별 소비 비중 · 쇼핑 43.0%, 식음료업 39.7%\n숙박 특성 · 숙박 비율 7.57%, 숙박일수 2.82일"], ["이 사례를 선택한 이유", "2026년 10~12월 전망된 관광소비액 증가 추세(4.49%)를 실제 상권 매출로 연결하기 위해, 결제 증빙 기반의 환급을 통해 추가 소비를 유도함 (source_id: ml:30170:regional-demand-v3.1:202606)"], ["우리 지역에 적용할 내용", "서구 내 지정된 식음료·쇼핑 업종에서 일정 금액 이상 결제 시, 증빙을 통해 지역사랑상품권으로 일부를 환급해 주는 방식"]], "selection_reason": "강진의 '반값여행' 사례(case:58c0694a3e85d8)는 방문객 지출을 지역 내 재사용으로 연결하는 검증된 메커니즘을 가짐. 대전 서구는 2026년 4분기 관광소비액이 전년 대비 증가(+4.49%)할 것으로 전망되므로, 단순 방문객 유치보다 결제액을 상권으로 유도하는 환급형 모델이 경제적 파급효과 측면에서 더 적합함. 다만, 안동의 집중형 축제(case:41508ca81cf29f)는 방문자 수 감소 전망을 해결할 수 있으나, 소비 전환 효과를 측정하기 어렵다는 한계가 있어 '소비 환급'을 우선순위로 선정함."}</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방문·소비의 기준 전망은 저장 모델에서 나온 수치입니다. 운영 규모와 참여 가정에서 추가 방문·소비를 계산합니다. 지역 전체 사례 증가율이나 인구 비율을 신규 사업의 효과로 복사하지 않습니다. 운영량과 단가를 곱해 예상 견적을 산정합니다. 자동 제안과 사용자 수정 목표는 구분하며 계획 시나리오는 통계적 신뢰구간이 아닙니다.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14,928,559명 → 목표 14,929,999명 (추가 1,440명, +0.01%)\n관광소비액: 기준 246,365,272,670원 → 목표 246,416,761,947원 (추가 51,489,277원, +0.02%)\n준비월 추가 목표는 0명·0원. 운영월 추가 목표 = 월별 전망 × 최종월 목표율 × 경과 운영월/전체 운영월.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8건 → 설계 후보 2개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"지역 소비·환급: 8개 × 월 20일 × 2개월 × 하루 1회 × 회당 20명 = 6,400명분. 편성 한도 6,400명분에 이용률 75%를 적용해 4,800명 참여, 추가 방문 비중 30%로 1,440명 유치를 제안합니다. 기간 합계 ML 전망 대비 방문 +0.01%, 소비 +0.02%의 계획 시나리오입니다. 참여 목표 75%는 공통 최소 운영 목표입니다. 사례 참여율을 인용한 값이 아닙니다. 계획 결제 16,503원에 환급률 30%를 적용해 건당 4,951원을 지원합니다. 환급 혜택과 추가 방문 비중은 별도의 운영 목표이며, 혜택을 높였다고 방문 목표를 자동 상향하지 않습니다. 실제 운영 산정: 2026-11~2026-12, 2개월. 준비 기간에는 추가 방문·소비 목표를 배분하지 않습니다.\n8개 × 월 20일 × 2개월 × 하루 1회 × 회당 20명 = 6,400명분 → 참여 목표 4,800건의 예상 집행액.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14928559.0,</a:t>
            </a:r>
          </a:p>
          <a:p>
            <a:r>
              <a:t>        "target": 14929999.0,</a:t>
            </a:r>
          </a:p>
          <a:p>
            <a:r>
              <a:t>        "additional": 1440.0,</a:t>
            </a:r>
          </a:p>
          <a:p>
            <a:r>
              <a:t>        "pct": 0.009645941044955642</a:t>
            </a:r>
          </a:p>
          <a:p>
            <a:r>
              <a:t>      },</a:t>
            </a:r>
          </a:p>
          <a:p>
            <a:r>
              <a:t>      {</a:t>
            </a:r>
          </a:p>
          <a:p>
            <a:r>
              <a:t>        "key": "spending",</a:t>
            </a:r>
          </a:p>
          <a:p>
            <a:r>
              <a:t>        "label": "관광소비액",</a:t>
            </a:r>
          </a:p>
          <a:p>
            <a:r>
              <a:t>        "unit": "원",</a:t>
            </a:r>
          </a:p>
          <a:p>
            <a:r>
              <a:t>        "baseline": 246365272670.0,</a:t>
            </a:r>
          </a:p>
          <a:p>
            <a:r>
              <a:t>        "target": 246416761947.0,</a:t>
            </a:r>
          </a:p>
          <a:p>
            <a:r>
              <a:t>        "additional": 51489277.0,</a:t>
            </a:r>
          </a:p>
          <a:p>
            <a:r>
              <a:t>        "pct": 0.02089956771991197</a:t>
            </a:r>
          </a:p>
          <a:p>
            <a:r>
              <a:t>      }</a:t>
            </a:r>
          </a:p>
          <a:p>
            <a:r>
              <a:t>    ],</a:t>
            </a:r>
          </a:p>
          <a:p>
            <a:r>
              <a:t>    "demo": false,</a:t>
            </a:r>
          </a:p>
          <a:p>
            <a:r>
              <a:t>    "models": {</a:t>
            </a:r>
          </a:p>
          <a:p>
            <a:r>
              <a:t>      "visitors": "랜덤 포레스트",</a:t>
            </a:r>
          </a:p>
          <a:p>
            <a:r>
              <a:t>      "spending_krw": "선형 회귀",</a:t>
            </a:r>
          </a:p>
          <a:p>
            <a:r>
              <a:t>      "stay_minutes": "전년 동월 기준모델",</a:t>
            </a:r>
          </a:p>
          <a:p>
            <a:r>
              <a:t>      "lodging_nights": "전년 동월 기준모델",</a:t>
            </a:r>
          </a:p>
          <a:p>
            <a:r>
              <a:t>      "lodging_rate_pct": "전년 동월 기준모델",</a:t>
            </a:r>
          </a:p>
          <a:p>
            <a:r>
              <a:t>      "lodging_searches": "전년 동월 기준모델",</a:t>
            </a:r>
          </a:p>
          <a:p>
            <a:r>
              <a:t>      "navigation_searches": "랜덤 포레스트"</a:t>
            </a:r>
          </a:p>
          <a:p>
            <a:r>
              <a:t>    },</a:t>
            </a:r>
          </a:p>
          <a:p>
            <a:r>
              <a:t>    "source_period": "202401~202606",</a:t>
            </a:r>
          </a:p>
          <a:p>
            <a:r>
              <a:t>    "months": [</a:t>
            </a:r>
          </a:p>
          <a:p>
            <a:r>
              <a:t>      "26.10",</a:t>
            </a:r>
          </a:p>
          <a:p>
            <a:r>
              <a:t>      "26.11",</a:t>
            </a:r>
          </a:p>
          <a:p>
            <a:r>
              <a:t>      "26.12"</a:t>
            </a:r>
          </a:p>
          <a:p>
            <a:r>
              <a:t>    ],</a:t>
            </a:r>
          </a:p>
          <a:p>
            <a:r>
              <a:t>    "case_count": 8,</a:t>
            </a:r>
          </a:p>
          <a:p>
            <a:r>
              <a:t>    "case_region_count": 8,</a:t>
            </a:r>
          </a:p>
          <a:p>
            <a:r>
              <a:t>    "candidate_count": 2,</a:t>
            </a:r>
          </a:p>
          <a:p>
            <a:r>
              <a:t>    "displayed_count": 3,</a:t>
            </a:r>
          </a:p>
          <a:p>
            <a:r>
              <a:t>    "primary": {</a:t>
            </a:r>
          </a:p>
          <a:p>
            <a:r>
              <a:t>      "title": "귀촌 '원조 반값'은 다르다… 강진서 전국 확산 '체류 관광 도시'",</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반값여행: 여행 지출 증빙 후 모바일 지역상품권 환급",</a:t>
            </a:r>
          </a:p>
          <a:p>
            <a:r>
              <a:t>      "document_type": null,</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"retrieval_method": "official_web_search",</a:t>
            </a:r>
          </a:p>
          <a:p>
            <a:r>
              <a:t>      "evidence_strength": "medium",</a:t>
            </a:r>
          </a:p>
          <a:p>
            <a:r>
              <a:t>      "retrieval_context": {</a:t>
            </a:r>
          </a:p>
          <a:p>
            <a:r>
              <a:t>        "scope": "cross_province",</a:t>
            </a:r>
          </a:p>
          <a:p>
            <a:r>
              <a:t>        "peer_region_code": null</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"operating_statistics": [</a:t>
            </a:r>
          </a:p>
          <a:p>
            <a:r>
              <a:t>        {</a:t>
            </a:r>
          </a:p>
          <a:p>
            <a:r>
              <a:t>          "unit": "team",</a:t>
            </a:r>
          </a:p>
          <a:p>
            <a:r>
              <a:t>          "quote": "1만6292팀이 실제 강진을 찾았다.",</a:t>
            </a:r>
          </a:p>
          <a:p>
            <a:r>
              <a:t>          "scope": "사전신청자 중 실제 강진 방문 확인 팀",</a:t>
            </a:r>
          </a:p>
          <a:p>
            <a:r>
              <a:t>          "value": 16292,</a:t>
            </a:r>
          </a:p>
          <a:p>
            <a:r>
              <a:t>          "metric": "participants",</a:t>
            </a:r>
          </a:p>
          <a:p>
            <a:r>
              <a:t>          "period": "2026-05-19 누적",</a:t>
            </a:r>
          </a:p>
          <a:p>
            <a:r>
              <a:t>          "program_name": "강진 반값여행",</a:t>
            </a:r>
          </a:p>
          <a:p>
            <a:r>
              <a:t>          "capacity_count": null,</a:t>
            </a:r>
          </a:p>
          <a:p>
            <a:r>
              <a:t>          "participant_count": 16292</a:t>
            </a:r>
          </a:p>
          <a:p>
            <a:r>
              <a:t>        },</a:t>
            </a:r>
          </a:p>
          <a:p>
            <a:r>
              <a:t>        {</a:t>
            </a:r>
          </a:p>
          <a:p>
            <a:r>
              <a:t>          "unit": "KRW",</a:t>
            </a:r>
          </a:p>
          <a:p>
            <a:r>
              <a:t>          "quote": "지역 내 소비액은 총 49억7000만원",</a:t>
            </a:r>
          </a:p>
          <a:p>
            <a:r>
              <a:t>          "scope": "사업 등록 관광객의 강진 지역 내 소비액",</a:t>
            </a:r>
          </a:p>
          <a:p>
            <a:r>
              <a:t>          "value": 4970000000,</a:t>
            </a:r>
          </a:p>
          <a:p>
            <a:r>
              <a:t>          "metric": "participant_spending",</a:t>
            </a:r>
          </a:p>
          <a:p>
            <a:r>
              <a:t>          "period": "2026-05-19 누적",</a:t>
            </a:r>
          </a:p>
          <a:p>
            <a:r>
              <a:t>          "program_name": "강진 반값여행",</a:t>
            </a:r>
          </a:p>
          <a:p>
            <a:r>
              <a:t>          "capacity_count": null,</a:t>
            </a:r>
          </a:p>
          <a:p>
            <a:r>
              <a:t>          "participant_count": 16292</a:t>
            </a:r>
          </a:p>
          <a:p>
            <a:r>
              <a:t>        }</a:t>
            </a:r>
          </a:p>
          <a:p>
            <a:r>
              <a:t>      ],</a:t>
            </a:r>
          </a:p>
          <a:p>
            <a:r>
              <a:t>      "published_or_updated_at": "2026-05-29",</a:t>
            </a:r>
          </a:p>
          <a:p>
            <a:r>
              <a:t>      "quantitative_result_approved": null</a:t>
            </a:r>
          </a:p>
          <a:p>
            <a:r>
              <a:t>    },</a:t>
            </a:r>
          </a:p>
          <a:p>
            <a:r>
              <a:t>    "selection_reason": "강진의 '반값여행' 사례(case:58c0694a3e85d8)는 방문객 지출을 지역 내 재사용으로 연결하는 검증된 메커니즘을 가짐. 대전 서구는 2026년 4분기 관광소비액이 전년 대비 증가(+4.49%)할 것으로 전망되므로, 단순 방문객 유치보다 결제액을 상권으로 유도하는 환급형 모델이 경제적 파급효과 측면에서 더 적합함. 다만, 안동의 집중형 축제(case:41508ca81cf29f)는 방문자 수 감소 전망을 해결할 수 있으나, 소비 전환 효과를 측정하기 어렵다는 한계가 있어 '소비 환급'을 우선순위로 선정함.",</a:t>
            </a:r>
          </a:p>
          <a:p>
            <a:r>
              <a:t>    "target_explanation": "지역 소비·환급: 8개 × 월 20일 × 2개월 × 하루 1회 × 회당 20명 = 6,400명분. 편성 한도 6,400명분에 이용률 75%를 적용해 4,800명 참여, 추가 방문 비중 30%로 1,440명 유치를 제안합니다. 기간 합계 ML 전망 대비 방문 +0.01%, 소비 +0.02%의 계획 시나리오입니다. 참여 목표 75%는 공통 최소 운영 목표입니다. 사례 참여율을 인용한 값이 아닙니다. 계획 결제 16,503원에 환급률 30%를 적용해 건당 4,951원을 지원합니다. 환급 혜택과 추가 방문 비중은 별도의 운영 목표이며, 혜택을 높였다고 방문 목표를 자동 상향하지 않습니다. 실제 운영 산정: 2026-11~2026-12, 2개월. 준비 기간에는 추가 방문·소비 목표를 배분하지 않습니다.",</a:t>
            </a:r>
          </a:p>
          <a:p>
            <a:r>
              <a:t>    "estimate": {</a:t>
            </a:r>
          </a:p>
          <a:p>
            <a:r>
              <a:t>      "version": "operating-capacity-v5-refund-incentive",</a:t>
            </a:r>
          </a:p>
          <a:p>
            <a:r>
              <a:t>      "status": "planning_assumption_not_quote",</a:t>
            </a:r>
          </a:p>
          <a:p>
            <a:r>
              <a:t>      "scale_basis": "8개 × 월 20일 × 2개월 × 하루 1회 × 회당 20명 = 6,400명분 → 참여 목표 4,800건의 예상 집행액. 모든 단가는 기획 가정.",</a:t>
            </a:r>
          </a:p>
          <a:p>
            <a:r>
              <a:t>      "months": 2,</a:t>
            </a:r>
          </a:p>
          <a:p>
            <a:r>
              <a:t>      "refund": true,</a:t>
            </a:r>
          </a:p>
          <a:p>
            <a:r>
              <a:t>      "quantity": 4800,</a:t>
            </a:r>
          </a:p>
          <a:p>
            <a:r>
              <a:t>      "unit_krw": 4951,</a:t>
            </a:r>
          </a:p>
          <a:p>
            <a:r>
              <a:t>      "capacity_quantity": 6400,</a:t>
            </a:r>
          </a:p>
          <a:p>
            <a:r>
              <a:t>      "per_claim_cap_krw": 50000,</a:t>
            </a:r>
          </a:p>
          <a:p>
            <a:r>
              <a:t>      "refund_rate_pct": 30.0,</a:t>
            </a:r>
          </a:p>
          <a:p>
            <a:r>
              <a:t>      "redemption_target_pct": 75.0,</a:t>
            </a:r>
          </a:p>
          <a:p>
            <a:r>
              <a:t>      "redemption_count": 4800,</a:t>
            </a:r>
          </a:p>
          <a:p>
            <a:r>
              <a:t>      "purchase_per_participant_krw": 16503,</a:t>
            </a:r>
          </a:p>
          <a:p>
            <a:r>
              <a:t>      "qualifying_spend_krw": 79214400,</a:t>
            </a:r>
          </a:p>
          <a:p>
            <a:r>
              <a:t>      "subtotal_krw": 51764800,</a:t>
            </a:r>
          </a:p>
          <a:p>
            <a:r>
              <a:t>      "reserve_krw": 5176480,</a:t>
            </a:r>
          </a:p>
          <a:p>
            <a:r>
              <a:t>      "total_krw": 56941280,</a:t>
            </a:r>
          </a:p>
          <a:p>
            <a:r>
              <a:t>      "within_hard_budget": true,</a:t>
            </a:r>
          </a:p>
          <a:p>
            <a:r>
              <a:t>      "full_participation_budget_krw": 65655040,</a:t>
            </a:r>
          </a:p>
          <a:p>
            <a:r>
              <a:t>      "participant_purchases_krw": 79214400,</a:t>
            </a:r>
          </a:p>
          <a:p>
            <a:r>
              <a:t>      "additional_spending_krw": 51489277,</a:t>
            </a:r>
          </a:p>
          <a:p>
            <a:r>
              <a:t>      "scenario_note": "참여자 결제 79,214,400원 중 추가 소비 목표 51,489,277원. 견적은 같은 참여 목표의 사업비이며, 결제액 전체를 신규 소비나 사업 수익으로 계산하지 않습니다.",</a:t>
            </a:r>
          </a:p>
          <a:p>
            <a:r>
              <a:t>      "items": [</a:t>
            </a:r>
          </a:p>
          <a:p>
            <a:r>
              <a:t>        {</a:t>
            </a:r>
          </a:p>
          <a:p>
            <a:r>
              <a:t>          "name": "여행비 환급 지원",</a:t>
            </a:r>
          </a:p>
          <a:p>
            <a:r>
              <a:t>          "basis": "참여 목표 4,800건 × min(계획 결제 16,503원 × 30%, 건별 상한 50,000원) = 건당 4,951원",</a:t>
            </a:r>
          </a:p>
          <a:p>
            <a:r>
              <a:t>          "amount": 23764800</a:t>
            </a:r>
          </a:p>
          <a:p>
            <a:r>
              <a:t>        },</a:t>
            </a:r>
          </a:p>
          <a:p>
            <a:r>
              <a:t>        {</a:t>
            </a:r>
          </a:p>
          <a:p>
            <a:r>
              <a:t>          "name": "현장 운영·정산",</a:t>
            </a:r>
          </a:p>
          <a:p>
            <a:r>
              <a:t>          "basis": "2개 운영팀 × 월 20일 × 2개월 × 150,000원 (점포 묶음 8개, 최대 4개당 공동 정산팀 1개)",</a:t>
            </a:r>
          </a:p>
          <a:p>
            <a:r>
              <a:t>          "amount": 12000000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51,764,800원 × 10%",</a:t>
            </a:r>
          </a:p>
          <a:p>
            <a:r>
              <a:t>          "amount": 5176480</a:t>
            </a:r>
          </a:p>
          <a:p>
            <a:r>
              <a:t>        }</a:t>
            </a:r>
          </a:p>
          <a:p>
            <a:r>
              <a:t>      ],</a:t>
            </a:r>
          </a:p>
          <a:p>
            <a:r>
              <a:t>      "sources": [],</a:t>
            </a:r>
          </a:p>
          <a:p>
            <a:r>
              <a:t>      "assumptions": [</a:t>
            </a:r>
          </a:p>
          <a:p>
            <a:r>
              <a:t>        "기획용 예상 견적이며 실제 액수와 다를 수 있습니다.",</a:t>
            </a:r>
          </a:p>
          <a:p>
            <a:r>
              <a:t>        "환급률 미지정 시 30%를 제안합니다. 이는 참여 혜택을 위한 계획 설정이며 공식 사례 실적이나 추정 효과가 아닙니다.",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30%, 건별 상한 50,000원 및 점포 묶음 최대 4개당 정산팀 1개는 계획 설정입니다. 지급 총액은 편성 예산 내에서 운영합니다."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operating_target.build_operating_target; 사용자 재배분: idea_proposal.scale_estimate; 전망 없는 기존 견적: proposal_evidence.build_reference_estimate.</a:t>
            </a:r>
          </a:p>
          <a:p>
            <a:r>
              <a:t>{</a:t>
            </a:r>
          </a:p>
          <a:p>
            <a:r>
              <a:t>  "version": "operating-capacity-v5-refund-incentive",</a:t>
            </a:r>
          </a:p>
          <a:p>
            <a:r>
              <a:t>  "status": "planning_assumption_not_quote",</a:t>
            </a:r>
          </a:p>
          <a:p>
            <a:r>
              <a:t>  "scale_basis": "8개 × 월 20일 × 2개월 × 하루 1회 × 회당 20명 = 6,400명분 → 참여 목표 4,800건의 예상 집행액. 모든 단가는 기획 가정.",</a:t>
            </a:r>
          </a:p>
          <a:p>
            <a:r>
              <a:t>  "months": 2,</a:t>
            </a:r>
          </a:p>
          <a:p>
            <a:r>
              <a:t>  "refund": true,</a:t>
            </a:r>
          </a:p>
          <a:p>
            <a:r>
              <a:t>  "quantity": 4800,</a:t>
            </a:r>
          </a:p>
          <a:p>
            <a:r>
              <a:t>  "unit_krw": 4951,</a:t>
            </a:r>
          </a:p>
          <a:p>
            <a:r>
              <a:t>  "capacity_quantity": 6400,</a:t>
            </a:r>
          </a:p>
          <a:p>
            <a:r>
              <a:t>  "per_claim_cap_krw": 50000,</a:t>
            </a:r>
          </a:p>
          <a:p>
            <a:r>
              <a:t>  "refund_rate_pct": 30.0,</a:t>
            </a:r>
          </a:p>
          <a:p>
            <a:r>
              <a:t>  "redemption_target_pct": 75.0,</a:t>
            </a:r>
          </a:p>
          <a:p>
            <a:r>
              <a:t>  "redemption_count": 4800,</a:t>
            </a:r>
          </a:p>
          <a:p>
            <a:r>
              <a:t>  "purchase_per_participant_krw": 16503,</a:t>
            </a:r>
          </a:p>
          <a:p>
            <a:r>
              <a:t>  "qualifying_spend_krw": 79214400,</a:t>
            </a:r>
          </a:p>
          <a:p>
            <a:r>
              <a:t>  "subtotal_krw": 51764800,</a:t>
            </a:r>
          </a:p>
          <a:p>
            <a:r>
              <a:t>  "reserve_krw": 5176480,</a:t>
            </a:r>
          </a:p>
          <a:p>
            <a:r>
              <a:t>  "total_krw": 56941280,</a:t>
            </a:r>
          </a:p>
          <a:p>
            <a:r>
              <a:t>  "within_hard_budget": true,</a:t>
            </a:r>
          </a:p>
          <a:p>
            <a:r>
              <a:t>  "full_participation_budget_krw": 65655040,</a:t>
            </a:r>
          </a:p>
          <a:p>
            <a:r>
              <a:t>  "participant_purchases_krw": 79214400,</a:t>
            </a:r>
          </a:p>
          <a:p>
            <a:r>
              <a:t>  "additional_spending_krw": 51489277,</a:t>
            </a:r>
          </a:p>
          <a:p>
            <a:r>
              <a:t>  "scenario_note": "참여자 결제 79,214,400원 중 추가 소비 목표 51,489,277원. 견적은 같은 참여 목표의 사업비이며, 결제액 전체를 신규 소비나 사업 수익으로 계산하지 않습니다.",</a:t>
            </a:r>
          </a:p>
          <a:p>
            <a:r>
              <a:t>  "items": [</a:t>
            </a:r>
          </a:p>
          <a:p>
            <a:r>
              <a:t>    {</a:t>
            </a:r>
          </a:p>
          <a:p>
            <a:r>
              <a:t>      "name": "여행비 환급 지원",</a:t>
            </a:r>
          </a:p>
          <a:p>
            <a:r>
              <a:t>      "basis": "참여 목표 4,800건 × min(계획 결제 16,503원 × 30%, 건별 상한 50,000원) = 건당 4,951원",</a:t>
            </a:r>
          </a:p>
          <a:p>
            <a:r>
              <a:t>      "amount": 23764800</a:t>
            </a:r>
          </a:p>
          <a:p>
            <a:r>
              <a:t>    },</a:t>
            </a:r>
          </a:p>
          <a:p>
            <a:r>
              <a:t>    {</a:t>
            </a:r>
          </a:p>
          <a:p>
            <a:r>
              <a:t>      "name": "현장 운영·정산",</a:t>
            </a:r>
          </a:p>
          <a:p>
            <a:r>
              <a:t>      "basis": "2개 운영팀 × 월 20일 × 2개월 × 150,000원 (점포 묶음 8개, 최대 4개당 공동 정산팀 1개)",</a:t>
            </a:r>
          </a:p>
          <a:p>
            <a:r>
              <a:t>      "amount": 12000000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51,764,800원 × 10%",</a:t>
            </a:r>
          </a:p>
          <a:p>
            <a:r>
              <a:t>      "amount": 5176480</a:t>
            </a:r>
          </a:p>
          <a:p>
            <a:r>
              <a:t>    }</a:t>
            </a:r>
          </a:p>
          <a:p>
            <a:r>
              <a:t>  ],</a:t>
            </a:r>
          </a:p>
          <a:p>
            <a:r>
              <a:t>  "sources": [],</a:t>
            </a:r>
          </a:p>
          <a:p>
            <a:r>
              <a:t>  "assumptions": [</a:t>
            </a:r>
          </a:p>
          <a:p>
            <a:r>
              <a:t>    "기획용 예상 견적이며 실제 액수와 다를 수 있습니다.",</a:t>
            </a:r>
          </a:p>
          <a:p>
            <a:r>
              <a:t>    "환급률 미지정 시 30%를 제안합니다. 이는 참여 혜택을 위한 계획 설정이며 공식 사례 실적이나 추정 효과가 아닙니다.",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30%, 건별 상한 50,000원 및 점포 묶음 최대 4개당 정산팀 1개는 계획 설정입니다. 지급 총액은 편성 예산 내에서 운영합니다."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한국관광 데이터랩 공식 다운로드 · 대전광역시_서구/방문자/2025_01_12.zip | https://datalab.visitkorea.or.kr/</a:t>
            </a:r>
          </a:p>
          <a:p xmlns:a="http://schemas.openxmlformats.org/drawingml/2006/main">
            <a:r>
              <a:t>datalab:162285800b98:dbba3ac2e220 | 한국관광 데이터랩 공식 다운로드 · 대전광역시_서구/관광소비/2025_01_12.zip | https://datalab.visitkorea.or.kr/</a:t>
            </a:r>
          </a:p>
          <a:p xmlns:a="http://schemas.openxmlformats.org/drawingml/2006/main">
            <a:r>
              <a:t>datalab:1bec5b4405e1:6c5494eef7c6 | 한국관광 데이터랩 공식 다운로드 · 대전광역시_서구/숙박_체류시간/2025_01_12.zip | https://datalab.visitkorea.or.kr/</a:t>
            </a:r>
          </a:p>
          <a:p xmlns:a="http://schemas.openxmlformats.org/drawingml/2006/main">
            <a:r>
              <a:t>datalab:7a4db91d6ba9:d81294f3e5a0 | 한국관광 데이터랩 공식 다운로드 · 대전광역시_서구/관광소비/2026_01_06.zip | https://datalab.visitkorea.or.kr/</a:t>
            </a:r>
          </a:p>
          <a:p xmlns:a="http://schemas.openxmlformats.org/drawingml/2006/main">
            <a:r>
              <a:t>datalab:cc1dc8fb5607:77f3b69cfb89 | 한국관광 데이터랩 공식 다운로드 · 대전광역시_서구/방문자/2026_01_06.zip | https://datalab.visitkorea.or.kr/</a:t>
            </a:r>
          </a:p>
          <a:p xmlns:a="http://schemas.openxmlformats.org/drawingml/2006/main">
            <a:r>
              <a:t>datalab:e53d144382ee:fc025995a6df | 한국관광 데이터랩 공식 다운로드 · 대전광역시_서구/숙박_체류시간/2026_01_06.zip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 https://datalab.visitkorea.or.kr/site/portal/ex/bbs/View.do?bcIdx=311068&amp;cbIdx=1135&amp;pageIndex=1</a:t>
            </a:r>
          </a:p>
          <a:p xmlns:a="http://schemas.openxmlformats.org/drawingml/2006/main">
            <a:r>
              <a:t>web:30170:1 | 여행가는 달 지역 여행할인 모아보기 | https://korean.visitkorea.or.kr/travelmonth/benefit.do?modal=benefit-190</a:t>
            </a:r>
          </a:p>
          <a:p xmlns:a="http://schemas.openxmlformats.org/drawingml/2006/main">
            <a:r>
              <a:t>web:30170:2 | 대전광역시_문화시설 | 공공데이터포털 | https://www.data.go.kr/data/15112114/openapi.do?recommendDataYn=Y</a:t>
            </a:r>
          </a:p>
          <a:p xmlns:a="http://schemas.openxmlformats.org/drawingml/2006/main">
            <a:r>
              <a:t>web:30170:3 | 대전광역시 문화관광(숙박정보) 데이터 | 공공데이터포털 | https://www.data.go.kr/dataset/15001021/openapi.do</a:t>
            </a:r>
          </a:p>
          <a:p xmlns:a="http://schemas.openxmlformats.org/drawingml/2006/main">
            <a:r>
              <a:t>web:30170:4 | 대전문화관광해설사 신규 양성 교육 | 한국관광공사 관광e배움터 | https://touredu.visitkorea.or.kr/home/pkgEdu/pkgEduDetail?crsCd=C202600107&amp;eduPlanYr=2026&amp;eduPlanYrStepCnt=1</a:t>
            </a:r>
          </a:p>
          <a:p xmlns:a="http://schemas.openxmlformats.org/drawingml/2006/main">
            <a:r>
              <a:t>web:30170:5 | 대전광역시 서구_체육시설 현황 | 공공데이터포털 | https://www.data.go.kr/dataset/15037511/fileData.do</a:t>
            </a:r>
          </a:p>
          <a:p xmlns:a="http://schemas.openxmlformats.org/drawingml/2006/main">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case:41508ca81cf29f | 한국관광 데이터랩 · 안동탈춤축제 연도별 방문자 추이 | https://datalab.visitkorea.or.kr/</a:t>
            </a:r>
          </a:p>
          <a:p xmlns:a="http://schemas.openxmlformats.org/drawingml/2006/main">
            <a:r>
              <a:t>case:festival:01474ef75569b1 | 한국관광 데이터랩 · 문경찻사발축제 방문자 추이 | https://datalab.visitkorea.or.kr/</a:t>
            </a:r>
          </a:p>
          <a:p xmlns:a="http://schemas.openxmlformats.org/drawingml/2006/main">
            <a:r>
              <a:t>case:28ff66d9b44637 | 2025년 문화예술 축제 통합 지원사업 종합결과보고서 | https://culture.seoul.go.kr/culture/cmmn/file/fileDown.do?atchFileId=bb34395b25504c66a77ef69999cacb1c&amp;bbsId=B0000006&amp;fileSn=1</a:t>
            </a:r>
          </a:p>
          <a:p xmlns:a="http://schemas.openxmlformats.org/drawingml/2006/main">
            <a:r>
              <a:t>case:58c0694a3e85d8 | 귀촌 '원조 반값'은 다르다… 강진서 전국 확산 '체류 관광 도시' | https://jnfarm.jeonnam.go.kr/board/FARM_BOARD_008/boardView.do?bdId=BD_00000000000015383&amp;menuCd=farm004002</a:t>
            </a:r>
          </a:p>
          <a:p xmlns:a="http://schemas.openxmlformats.org/drawingml/2006/main">
            <a:r>
              <a:t>case:4544b7bca8ebab | 요즘, 한국관광 2호 - 지방공항 연계 지역관광 활성화 방안 | https://datalab.visitkorea.or.kr/site/portal/ex/bbs/View.do?bcIdx=311068&amp;cbIdx=1135&amp;pageIndex=1</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"title": "한국관광 데이터랩 · 대전광역시 서구 순 방문자 수 및 숙박 비율 (이동통신 기반 외지인)",</a:t>
            </a:r>
          </a:p>
          <a:p xmlns:a="http://schemas.openxmlformats.org/drawingml/2006/main">
            <a:r>
              <a:t>      "summary": "월간 순 방문자 수: 4,619,168명 (관측 기준월: 2026-06)",</a:t>
            </a:r>
          </a:p>
          <a:p xmlns:a="http://schemas.openxmlformats.org/drawingml/2006/main">
            <a:r>
              <a:t>      "source_id": "dataset:30170:1",</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월간 순 방문자 수 (이동통신 기반 외지인)",</a:t>
            </a:r>
          </a:p>
          <a:p xmlns:a="http://schemas.openxmlformats.org/drawingml/2006/main">
            <a:r>
              <a:t>      "summary": "전년동월 외지인 방문자 증감률: -3.5% (관측 기준월: 2026-06)",</a:t>
            </a:r>
          </a:p>
          <a:p xmlns:a="http://schemas.openxmlformats.org/drawingml/2006/main">
            <a:r>
              <a:t>      "source_id": "dataset:30170:2",</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관광소비 추이_외지인",</a:t>
            </a:r>
          </a:p>
          <a:p xmlns:a="http://schemas.openxmlformats.org/drawingml/2006/main">
            <a:r>
              <a:t>      "summary": "월간 외지인 관광소비 총액: 76,758,413,000원 (관측 기준월: 2026-06)",</a:t>
            </a:r>
          </a:p>
          <a:p xmlns:a="http://schemas.openxmlformats.org/drawingml/2006/main">
            <a:r>
              <a:t>      "source_id": "dataset:30170:3",</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숙박방문자 비율 추이 (이동통신 기반 외지인)",</a:t>
            </a:r>
          </a:p>
          <a:p xmlns:a="http://schemas.openxmlformats.org/drawingml/2006/main">
            <a:r>
              <a:t>      "summary": "외지인 숙박 방문 비율: 6.7% (관측 기준월: 2026-06)",</a:t>
            </a:r>
          </a:p>
          <a:p xmlns:a="http://schemas.openxmlformats.org/drawingml/2006/main">
            <a:r>
              <a:t>      "source_id": "dataset:30170:4",</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평균 숙박일 (이동통신 기반 외지인)",</a:t>
            </a:r>
          </a:p>
          <a:p xmlns:a="http://schemas.openxmlformats.org/drawingml/2006/main">
            <a:r>
              <a:t>      "summary": "외지인 평균 숙박일수: 2.81일 (관측 기준월: 2026-06)",</a:t>
            </a:r>
          </a:p>
          <a:p xmlns:a="http://schemas.openxmlformats.org/drawingml/2006/main">
            <a:r>
              <a:t>      "source_id": "dataset:30170:5",</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내비게이션 목적지 유형별 검색량",</a:t>
            </a:r>
          </a:p>
          <a:p xmlns:a="http://schemas.openxmlformats.org/drawingml/2006/main">
            <a:r>
              <a:t>      "summary": "내비게이션 목적지 검색량: 191,346건 (관측 기준월: 2026-06)",</a:t>
            </a:r>
          </a:p>
          <a:p xmlns:a="http://schemas.openxmlformats.org/drawingml/2006/main">
            <a:r>
              <a:t>      "source_id": "dataset:30170:6",</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SNS 언급량",</a:t>
            </a:r>
          </a:p>
          <a:p xmlns:a="http://schemas.openxmlformats.org/drawingml/2006/main">
            <a:r>
              <a:t>      "summary": "SNS 언급량: 54,388건 (관측 기준월: 2026-06)",</a:t>
            </a:r>
          </a:p>
          <a:p xmlns:a="http://schemas.openxmlformats.org/drawingml/2006/main">
            <a:r>
              <a:t>      "source_id": "dataset:30170:7",</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대전광역시_서구/방문자/2025_01_12.zip",</a:t>
            </a:r>
          </a:p>
          <a:p xmlns:a="http://schemas.openxmlformats.org/drawingml/2006/main">
            <a:r>
              <a:t>      "summary": "전국 비교 기준 기간: 2025-07 ~ 2026-06",</a:t>
            </a:r>
          </a:p>
          <a:p xmlns:a="http://schemas.openxmlformats.org/drawingml/2006/main">
            <a:r>
              <a:t>      "source_id": "datalab:12c41f8a3e52:f92921dca662",</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대전광역시_서구/관광소비/2025_01_12.zip",</a:t>
            </a:r>
          </a:p>
          <a:p xmlns:a="http://schemas.openxmlformats.org/drawingml/2006/main">
            <a:r>
              <a:t>      "summary": "전국 비교 기준 기간: 2025-07 ~ 2026-06",</a:t>
            </a:r>
          </a:p>
          <a:p xmlns:a="http://schemas.openxmlformats.org/drawingml/2006/main">
            <a:r>
              <a:t>      "source_id": "datalab:162285800b98:dbba3ac2e220",</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대전광역시_서구/숙박_체류시간/2025_01_12.zip",</a:t>
            </a:r>
          </a:p>
          <a:p xmlns:a="http://schemas.openxmlformats.org/drawingml/2006/main">
            <a:r>
              <a:t>      "summary": "전국 비교 기준 기간: 2025-07 ~ 2026-06",</a:t>
            </a:r>
          </a:p>
          <a:p xmlns:a="http://schemas.openxmlformats.org/drawingml/2006/main">
            <a:r>
              <a:t>      "source_id": "datalab:1bec5b4405e1:6c5494eef7c6",</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대전광역시_서구/관광소비/2026_01_06.zip",</a:t>
            </a:r>
          </a:p>
          <a:p xmlns:a="http://schemas.openxmlformats.org/drawingml/2006/main">
            <a:r>
              <a:t>      "summary": "전국 비교 기준 기간: 2025-07 ~ 2026-06",</a:t>
            </a:r>
          </a:p>
          <a:p xmlns:a="http://schemas.openxmlformats.org/drawingml/2006/main">
            <a:r>
              <a:t>      "source_id": "datalab:7a4db91d6ba9:d81294f3e5a0",</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대전광역시_서구/방문자/2026_01_06.zip",</a:t>
            </a:r>
          </a:p>
          <a:p xmlns:a="http://schemas.openxmlformats.org/drawingml/2006/main">
            <a:r>
              <a:t>      "summary": "전국 비교 기준 기간: 2025-07 ~ 2026-06",</a:t>
            </a:r>
          </a:p>
          <a:p xmlns:a="http://schemas.openxmlformats.org/drawingml/2006/main">
            <a:r>
              <a:t>      "source_id": "datalab:cc1dc8fb5607:77f3b69cfb89",</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대전광역시_서구/숙박_체류시간/2026_01_06.zip",</a:t>
            </a:r>
          </a:p>
          <a:p xmlns:a="http://schemas.openxmlformats.org/drawingml/2006/main">
            <a:r>
              <a:t>      "summary": "전국 비교 기준 기간: 2025-07 ~ 2026-06",</a:t>
            </a:r>
          </a:p>
          <a:p xmlns:a="http://schemas.openxmlformats.org/drawingml/2006/main">
            <a:r>
              <a:t>      "source_id": "datalab:e53d144382ee:fc025995a6df",</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"team-bigdata:23ea68053684:6bfbcf8aabf6",</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"team-bigdata:98d4ae590d9a:3be52dd54323",</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"team-bigdata:367cd0294ec4:873930d645e5",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"team-bigdata:553a0dad4bb4:5a31355dffe8",</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"team-bigdata:a53dbe1c21df:77a052de41d5",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"team-bigdata:823a38d1d61c:5385261d02e5",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"team-bigdata:2723bdb0d589:1666a34058ed",</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"team-bigdata:83177a234971:c02cb7972e0f",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"team-bigdata:58ded7732251:589c76395cbc",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"team-bigdata:e28c947cb52f:bb4cb344a6ba",</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"team-bigdata:8815bbb11a39:1a5988f5f8ec",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"team-bigdata:19fd67fbb73d:afa4f0f54a2f",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대전광역시 서구 · 지역집중률",</a:t>
            </a:r>
          </a:p>
          <a:p xmlns:a="http://schemas.openxmlformats.org/drawingml/2006/main">
            <a:r>
              <a:t>      "summary": "관측 기간: 2025-07 ~ 2026-06. 유입·유출·인기장소 또는 30일 집중 운영 신호.",</a:t>
            </a:r>
          </a:p>
          <a:p xmlns:a="http://schemas.openxmlformats.org/drawingml/2006/main">
            <a:r>
              <a:t>      "source_id": "regional-status:0c68fedc2071:0ad82310f803",</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대전광역시 서구 · 유입유출",</a:t>
            </a:r>
          </a:p>
          <a:p xmlns:a="http://schemas.openxmlformats.org/drawingml/2006/main">
            <a:r>
              <a:t>      "summary": "관측 기간: 2025-07 ~ 2026-06. 유입·유출·인기장소 또는 30일 집중 운영 신호.",</a:t>
            </a:r>
          </a:p>
          <a:p xmlns:a="http://schemas.openxmlformats.org/drawingml/2006/main">
            <a:r>
              <a:t>      "source_id": "regional-status:4cddd6aa75d4:be8b01ec64e2",</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대전광역시 서구 · 인기관광지",</a:t>
            </a:r>
          </a:p>
          <a:p xmlns:a="http://schemas.openxmlformats.org/drawingml/2006/main">
            <a:r>
              <a:t>      "summary": "관측 기간: 2025-07 ~ 2026-06. 유입·유출·인기장소 또는 30일 집중 운영 신호.",</a:t>
            </a:r>
          </a:p>
          <a:p xmlns:a="http://schemas.openxmlformats.org/drawingml/2006/main">
            <a:r>
              <a:t>      "source_id": "regional-status:8c9a813e95eb:5e0cc3f56b73",</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"지역 관광수요 ML 전망 · 공식 관측값 아님",</a:t>
            </a:r>
          </a:p>
          <a:p xmlns:a="http://schemas.openxmlformats.org/drawingml/2006/main">
            <a:r>
              <a:t>      "summary": "학습 202401~202606 · 모델 regional-demand-v3.1 · 자연 추세 예측",</a:t>
            </a:r>
          </a:p>
          <a:p xmlns:a="http://schemas.openxmlformats.org/drawingml/2006/main">
            <a:r>
              <a:t>      "source_id": "ml:30170:regional-demand-v3.1:202606",</a:t>
            </a:r>
          </a:p>
          <a:p xmlns:a="http://schemas.openxmlformats.org/drawingml/2006/main">
            <a:r>
              <a:t>      "source_url": "",</a:t>
            </a:r>
          </a:p>
          <a:p xmlns:a="http://schemas.openxmlformats.org/drawingml/2006/main">
            <a:r>
              <a:t>      "source_type": "model_forecast",</a:t>
            </a:r>
          </a:p>
          <a:p xmlns:a="http://schemas.openxmlformats.org/drawingml/2006/main">
            <a:r>
              <a:t>      "model_version": "regional-demand-v3.1",</a:t>
            </a:r>
          </a:p>
          <a:p xmlns:a="http://schemas.openxmlformats.org/drawingml/2006/main">
            <a:r>
              <a:t>      "data_fingerprint": "edea7fa8270d3b72aee15e6816efec3fce699e1bab55ebd844a10870c2f0e0a0"</a:t>
            </a:r>
          </a:p>
          <a:p xmlns:a="http://schemas.openxmlformats.org/drawingml/2006/main">
            <a:r>
              <a:t>    },</a:t>
            </a:r>
          </a:p>
          <a:p xmlns:a="http://schemas.openxmlformats.org/drawingml/2006/main">
            <a:r>
              <a:t>    {</a:t>
            </a:r>
          </a:p>
          <a:p xmlns:a="http://schemas.openxmlformats.org/drawingml/2006/main">
            <a:r>
              <a:t>      "title": "갈마짬뽕",</a:t>
            </a:r>
          </a:p>
          <a:p xmlns:a="http://schemas.openxmlformats.org/drawingml/2006/main">
            <a:r>
              <a:t>      "address": "대전광역시 서구 월평동로 5-11 (갈마동)",</a:t>
            </a:r>
          </a:p>
          <a:p xmlns:a="http://schemas.openxmlformats.org/drawingml/2006/main">
            <a:r>
              <a:t>      "summary": "한국관광공사 국문관광정보 API가 반환한 선택 지역 관광자원",</a:t>
            </a:r>
          </a:p>
          <a:p xmlns:a="http://schemas.openxmlformats.org/drawingml/2006/main">
            <a:r>
              <a:t>      "image_url": "http://tong.visitkorea.or.kr/cms/resource/38/2899638_image2_1.jpg",</a:t>
            </a:r>
          </a:p>
          <a:p xmlns:a="http://schemas.openxmlformats.org/drawingml/2006/main">
            <a:r>
              <a:t>      "source_id": "tour-api:2899643",</a:t>
            </a:r>
          </a:p>
          <a:p xmlns:a="http://schemas.openxmlformats.org/drawingml/2006/main">
            <a:r>
              <a:t>      "content_id": "2899643",</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"관저당",</a:t>
            </a:r>
          </a:p>
          <a:p xmlns:a="http://schemas.openxmlformats.org/drawingml/2006/main">
            <a:r>
              <a:t>      "address": "대전광역시 서구 구봉산북로21번길 11 (관저동)",</a:t>
            </a:r>
          </a:p>
          <a:p xmlns:a="http://schemas.openxmlformats.org/drawingml/2006/main">
            <a:r>
              <a:t>      "summary": "한국관광공사 국문관광정보 API가 반환한 선택 지역 관광자원",</a:t>
            </a:r>
          </a:p>
          <a:p xmlns:a="http://schemas.openxmlformats.org/drawingml/2006/main">
            <a:r>
              <a:t>      "image_url": "http://tong.visitkorea.or.kr/cms/resource/36/2899636_image2_1.jpg",</a:t>
            </a:r>
          </a:p>
          <a:p xmlns:a="http://schemas.openxmlformats.org/drawingml/2006/main">
            <a:r>
              <a:t>      "source_id": "tour-api:2899637",</a:t>
            </a:r>
          </a:p>
          <a:p xmlns:a="http://schemas.openxmlformats.org/drawingml/2006/main">
            <a:r>
              <a:t>      "content_id": "2899637",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"굿모닝레지던스호텔휴",</a:t>
            </a:r>
          </a:p>
          <a:p xmlns:a="http://schemas.openxmlformats.org/drawingml/2006/main">
            <a:r>
              <a:t>      "address": "대전광역시 서구 둔산로73번길 21 (둔산동)",</a:t>
            </a:r>
          </a:p>
          <a:p xmlns:a="http://schemas.openxmlformats.org/drawingml/2006/main">
            <a:r>
              <a:t>      "summary": "한국관광공사 국문관광정보 API가 반환한 선택 지역 관광자원",</a:t>
            </a:r>
          </a:p>
          <a:p xmlns:a="http://schemas.openxmlformats.org/drawingml/2006/main">
            <a:r>
              <a:t>      "image_url": "http://tong.visitkorea.or.kr/cms/resource/87/2584687_image2_1.jpg",</a:t>
            </a:r>
          </a:p>
          <a:p xmlns:a="http://schemas.openxmlformats.org/drawingml/2006/main">
            <a:r>
              <a:t>      "source_id": "tour-api:1932079",</a:t>
            </a:r>
          </a:p>
          <a:p xmlns:a="http://schemas.openxmlformats.org/drawingml/2006/main">
            <a:r>
              <a:t>      "content_id": "1932079",</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"32"</a:t>
            </a:r>
          </a:p>
          <a:p xmlns:a="http://schemas.openxmlformats.org/drawingml/2006/main">
            <a:r>
              <a:t>    },</a:t>
            </a:r>
          </a:p>
          <a:p xmlns:a="http://schemas.openxmlformats.org/drawingml/2006/main">
            <a:r>
              <a:t>    {</a:t>
            </a:r>
          </a:p>
          <a:p xmlns:a="http://schemas.openxmlformats.org/drawingml/2006/main">
            <a:r>
              <a:t>      "title": "귀빈돌솥밥",</a:t>
            </a:r>
          </a:p>
          <a:p xmlns:a="http://schemas.openxmlformats.org/drawingml/2006/main">
            <a:r>
              <a:t>      "address": "대전광역시 서구 만년로68번길 21",</a:t>
            </a:r>
          </a:p>
          <a:p xmlns:a="http://schemas.openxmlformats.org/drawingml/2006/main">
            <a:r>
              <a:t>      "summary": "한국관광공사 국문관광정보 API가 반환한 선택 지역 관광자원",</a:t>
            </a:r>
          </a:p>
          <a:p xmlns:a="http://schemas.openxmlformats.org/drawingml/2006/main">
            <a:r>
              <a:t>      "image_url": "http://tong.visitkorea.or.kr/cms/resource/72/3060272_image2_1.JPG",</a:t>
            </a:r>
          </a:p>
          <a:p xmlns:a="http://schemas.openxmlformats.org/drawingml/2006/main">
            <a:r>
              <a:t>      "source_id": "tour-api:133881",</a:t>
            </a:r>
          </a:p>
          <a:p xmlns:a="http://schemas.openxmlformats.org/drawingml/2006/main">
            <a:r>
              <a:t>      "content_id": "133881",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"남선공원",</a:t>
            </a:r>
          </a:p>
          <a:p xmlns:a="http://schemas.openxmlformats.org/drawingml/2006/main">
            <a:r>
              <a:t>      "address": "대전광역시 서구 남선로 66",</a:t>
            </a:r>
          </a:p>
          <a:p xmlns:a="http://schemas.openxmlformats.org/drawingml/2006/main">
            <a:r>
              <a:t>      "summary": "한국관광공사 국문관광정보 API가 반환한 선택 지역 관광자원",</a:t>
            </a:r>
          </a:p>
          <a:p xmlns:a="http://schemas.openxmlformats.org/drawingml/2006/main">
            <a:r>
              <a:t>      "image_url": "http://tong.visitkorea.or.kr/cms/resource/24/3565624_image2_1.jpg",</a:t>
            </a:r>
          </a:p>
          <a:p xmlns:a="http://schemas.openxmlformats.org/drawingml/2006/main">
            <a:r>
              <a:t>      "source_id": "tour-api:2758252",</a:t>
            </a:r>
          </a:p>
          <a:p xmlns:a="http://schemas.openxmlformats.org/drawingml/2006/main">
            <a:r>
              <a:t>      "content_id": "2758252",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"내원사(대전)",</a:t>
            </a:r>
          </a:p>
          <a:p xmlns:a="http://schemas.openxmlformats.org/drawingml/2006/main">
            <a:r>
              <a:t>      "address": "대전광역시 서구 배재로197번길 200",</a:t>
            </a:r>
          </a:p>
          <a:p xmlns:a="http://schemas.openxmlformats.org/drawingml/2006/main">
            <a:r>
              <a:t>      "summary": "한국관광공사 국문관광정보 API가 반환한 선택 지역 관광자원",</a:t>
            </a:r>
          </a:p>
          <a:p xmlns:a="http://schemas.openxmlformats.org/drawingml/2006/main">
            <a:r>
              <a:t>      "image_url": "http://tong.visitkorea.or.kr/cms/resource/79/3034979_image2_1.JPG",</a:t>
            </a:r>
          </a:p>
          <a:p xmlns:a="http://schemas.openxmlformats.org/drawingml/2006/main">
            <a:r>
              <a:t>      "source_id": "tour-api:298208",</a:t>
            </a:r>
          </a:p>
          <a:p xmlns:a="http://schemas.openxmlformats.org/drawingml/2006/main">
            <a:r>
              <a:t>      "content_id": "298208",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"노크노크",</a:t>
            </a:r>
          </a:p>
          <a:p xmlns:a="http://schemas.openxmlformats.org/drawingml/2006/main">
            <a:r>
              <a:t>      "address": "대전광역시 서구 둔산로 68 (둔산동)",</a:t>
            </a:r>
          </a:p>
          <a:p xmlns:a="http://schemas.openxmlformats.org/drawingml/2006/main">
            <a:r>
              <a:t>      "summary": "한국관광공사 국문관광정보 API가 반환한 선택 지역 관광자원",</a:t>
            </a:r>
          </a:p>
          <a:p xmlns:a="http://schemas.openxmlformats.org/drawingml/2006/main">
            <a:r>
              <a:t>      "image_url": "http://tong.visitkorea.or.kr/cms/resource/59/3453059_image2_1.jpg",</a:t>
            </a:r>
          </a:p>
          <a:p xmlns:a="http://schemas.openxmlformats.org/drawingml/2006/main">
            <a:r>
              <a:t>      "source_id": "tour-api:3452550",</a:t>
            </a:r>
          </a:p>
          <a:p xmlns:a="http://schemas.openxmlformats.org/drawingml/2006/main">
            <a:r>
              <a:t>      "content_id": "3452550",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"대성콩국수",</a:t>
            </a:r>
          </a:p>
          <a:p xmlns:a="http://schemas.openxmlformats.org/drawingml/2006/main">
            <a:r>
              <a:t>      "address": "대전광역시 서구 도산로 141",</a:t>
            </a:r>
          </a:p>
          <a:p xmlns:a="http://schemas.openxmlformats.org/drawingml/2006/main">
            <a:r>
              <a:t>      "summary": "한국관광공사 국문관광정보 API가 반환한 선택 지역 관광자원",</a:t>
            </a:r>
          </a:p>
          <a:p xmlns:a="http://schemas.openxmlformats.org/drawingml/2006/main">
            <a:r>
              <a:t>      "image_url": "http://tong.visitkorea.or.kr/cms/resource/69/2899569_image2_1.jpg",</a:t>
            </a:r>
          </a:p>
          <a:p xmlns:a="http://schemas.openxmlformats.org/drawingml/2006/main">
            <a:r>
              <a:t>      "source_id": "tour-api:2899585",</a:t>
            </a:r>
          </a:p>
          <a:p xmlns:a="http://schemas.openxmlformats.org/drawingml/2006/main">
            <a:r>
              <a:t>      "content_id": "2899585",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"대전 가수원도서관",</a:t>
            </a:r>
          </a:p>
          <a:p xmlns:a="http://schemas.openxmlformats.org/drawingml/2006/main">
            <a:r>
              <a:t>      "address": "대전광역시 서구 가수원로 91-11 (가수원동)",</a:t>
            </a:r>
          </a:p>
          <a:p xmlns:a="http://schemas.openxmlformats.org/drawingml/2006/main">
            <a:r>
              <a:t>      "summary": "한국관광공사 국문관광정보 API가 반환한 선택 지역 관광자원",</a:t>
            </a:r>
          </a:p>
          <a:p xmlns:a="http://schemas.openxmlformats.org/drawingml/2006/main">
            <a:r>
              <a:t>      "image_url": "http://tong.visitkorea.or.kr/cms/resource/58/3033558_image2_1.JPG",</a:t>
            </a:r>
          </a:p>
          <a:p xmlns:a="http://schemas.openxmlformats.org/drawingml/2006/main">
            <a:r>
              <a:t>      "source_id": "tour-api:130802",</a:t>
            </a:r>
          </a:p>
          <a:p xmlns:a="http://schemas.openxmlformats.org/drawingml/2006/main">
            <a:r>
              <a:t>      "content_id": "130802",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"14"</a:t>
            </a:r>
          </a:p>
          <a:p xmlns:a="http://schemas.openxmlformats.org/drawingml/2006/main">
            <a:r>
              <a:t>    },</a:t>
            </a:r>
          </a:p>
          <a:p xmlns:a="http://schemas.openxmlformats.org/drawingml/2006/main">
            <a:r>
              <a:t>    {</a:t>
            </a:r>
          </a:p>
          <a:p xmlns:a="http://schemas.openxmlformats.org/drawingml/2006/main">
            <a:r>
              <a:t>      "title": "대전광역시청 시민잔디광장",</a:t>
            </a:r>
          </a:p>
          <a:p xmlns:a="http://schemas.openxmlformats.org/drawingml/2006/main">
            <a:r>
              <a:t>      "address": "대전광역시 서구 둔산로 100",</a:t>
            </a:r>
          </a:p>
          <a:p xmlns:a="http://schemas.openxmlformats.org/drawingml/2006/main">
            <a:r>
              <a:t>      "summary": "한국관광공사 국문관광정보 API가 반환한 선택 지역 관광자원",</a:t>
            </a:r>
          </a:p>
          <a:p xmlns:a="http://schemas.openxmlformats.org/drawingml/2006/main">
            <a:r>
              <a:t>      "image_url": "http://tong.visitkorea.or.kr/cms/resource/86/3565586_image2_1.jpg",</a:t>
            </a:r>
          </a:p>
          <a:p xmlns:a="http://schemas.openxmlformats.org/drawingml/2006/main">
            <a:r>
              <a:t>      "source_id": "tour-api:2743325",</a:t>
            </a:r>
          </a:p>
          <a:p xmlns:a="http://schemas.openxmlformats.org/drawingml/2006/main">
            <a:r>
              <a:t>      "content_id": "2743325",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"대전서구문화원",</a:t>
            </a:r>
          </a:p>
          <a:p xmlns:a="http://schemas.openxmlformats.org/drawingml/2006/main">
            <a:r>
              <a:t>      "address": "대전광역시 서구 계룡로553번길 38",</a:t>
            </a:r>
          </a:p>
          <a:p xmlns:a="http://schemas.openxmlformats.org/drawingml/2006/main">
            <a:r>
              <a:t>      "summary": "한국관광공사 국문관광정보 API가 반환한 선택 지역 관광자원",</a:t>
            </a:r>
          </a:p>
          <a:p xmlns:a="http://schemas.openxmlformats.org/drawingml/2006/main">
            <a:r>
              <a:t>      "image_url": "http://tong.visitkorea.or.kr/cms/resource/43/3585043_image2_1.jpg",</a:t>
            </a:r>
          </a:p>
          <a:p xmlns:a="http://schemas.openxmlformats.org/drawingml/2006/main">
            <a:r>
              <a:t>      "source_id": "tour-api:130197",</a:t>
            </a:r>
          </a:p>
          <a:p xmlns:a="http://schemas.openxmlformats.org/drawingml/2006/main">
            <a:r>
              <a:t>      "content_id": "130197",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"14"</a:t>
            </a:r>
          </a:p>
          <a:p xmlns:a="http://schemas.openxmlformats.org/drawingml/2006/main">
            <a:r>
              <a:t>    },</a:t>
            </a:r>
          </a:p>
          <a:p xmlns:a="http://schemas.openxmlformats.org/drawingml/2006/main">
            <a:r>
              <a:t>    {</a:t>
            </a:r>
          </a:p>
          <a:p xmlns:a="http://schemas.openxmlformats.org/drawingml/2006/main">
            <a:r>
              <a:t>      "title": "델빠네",</a:t>
            </a:r>
          </a:p>
          <a:p xmlns:a="http://schemas.openxmlformats.org/drawingml/2006/main">
            <a:r>
              <a:t>      "address": "대전광역시 서구 원도안로207번길 16-61 (도안동)",</a:t>
            </a:r>
          </a:p>
          <a:p xmlns:a="http://schemas.openxmlformats.org/drawingml/2006/main">
            <a:r>
              <a:t>      "summary": "한국관광공사 국문관광정보 API가 반환한 선택 지역 관광자원",</a:t>
            </a:r>
          </a:p>
          <a:p xmlns:a="http://schemas.openxmlformats.org/drawingml/2006/main">
            <a:r>
              <a:t>      "image_url": "http://tong.visitkorea.or.kr/cms/resource/36/2865836_image2_1.jpg",</a:t>
            </a:r>
          </a:p>
          <a:p xmlns:a="http://schemas.openxmlformats.org/drawingml/2006/main">
            <a:r>
              <a:t>      "source_id": "tour-api:2865847",</a:t>
            </a:r>
          </a:p>
          <a:p xmlns:a="http://schemas.openxmlformats.org/drawingml/2006/main">
            <a:r>
              <a:t>      "content_id": "2865847",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"도마큰시장",</a:t>
            </a:r>
          </a:p>
          <a:p xmlns:a="http://schemas.openxmlformats.org/drawingml/2006/main">
            <a:r>
              <a:t>      "address": "대전광역시 서구 도마4길 69 (도마동)",</a:t>
            </a:r>
          </a:p>
          <a:p xmlns:a="http://schemas.openxmlformats.org/drawingml/2006/main">
            <a:r>
              <a:t>      "summary": "한국관광공사 국문관광정보 API가 반환한 선택 지역 관광자원",</a:t>
            </a:r>
          </a:p>
          <a:p xmlns:a="http://schemas.openxmlformats.org/drawingml/2006/main">
            <a:r>
              <a:t>      "image_url": "http://tong.visitkorea.or.kr/cms/resource/34/3565534_image2_1.jpg",</a:t>
            </a:r>
          </a:p>
          <a:p xmlns:a="http://schemas.openxmlformats.org/drawingml/2006/main">
            <a:r>
              <a:t>      "source_id": "tour-api:2758334",</a:t>
            </a:r>
          </a:p>
          <a:p xmlns:a="http://schemas.openxmlformats.org/drawingml/2006/main">
            <a:r>
              <a:t>      "content_id": "2758334",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"도산서원(대전)",</a:t>
            </a:r>
          </a:p>
          <a:p xmlns:a="http://schemas.openxmlformats.org/drawingml/2006/main">
            <a:r>
              <a:t>      "address": "대전광역시 서구 남선로 8",</a:t>
            </a:r>
          </a:p>
          <a:p xmlns:a="http://schemas.openxmlformats.org/drawingml/2006/main">
            <a:r>
              <a:t>      "summary": "한국관광공사 국문관광정보 API가 반환한 선택 지역 관광자원",</a:t>
            </a:r>
          </a:p>
          <a:p xmlns:a="http://schemas.openxmlformats.org/drawingml/2006/main">
            <a:r>
              <a:t>      "image_url": "http://tong.visitkorea.or.kr/cms/resource/24/3035024_image2_1.JPG",</a:t>
            </a:r>
          </a:p>
          <a:p xmlns:a="http://schemas.openxmlformats.org/drawingml/2006/main">
            <a:r>
              <a:t>      "source_id": "tour-api:1955818",</a:t>
            </a:r>
          </a:p>
          <a:p xmlns:a="http://schemas.openxmlformats.org/drawingml/2006/main">
            <a:r>
              <a:t>      "content_id": "1955818",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"둔산꽃시장",</a:t>
            </a:r>
          </a:p>
          <a:p xmlns:a="http://schemas.openxmlformats.org/drawingml/2006/main">
            <a:r>
              <a:t>      "address": "대전광역시 서구 둔산북로 22 (둔산동)",</a:t>
            </a:r>
          </a:p>
          <a:p xmlns:a="http://schemas.openxmlformats.org/drawingml/2006/main">
            <a:r>
              <a:t>      "summary": "한국관광공사 국문관광정보 API가 반환한 선택 지역 관광자원",</a:t>
            </a:r>
          </a:p>
          <a:p xmlns:a="http://schemas.openxmlformats.org/drawingml/2006/main">
            <a:r>
              <a:t>      "image_url": "http://tong.visitkorea.or.kr/cms/resource/31/2758631_image2_1.jpg",</a:t>
            </a:r>
          </a:p>
          <a:p xmlns:a="http://schemas.openxmlformats.org/drawingml/2006/main">
            <a:r>
              <a:t>      "source_id": "tour-api:2758341",</a:t>
            </a:r>
          </a:p>
          <a:p xmlns:a="http://schemas.openxmlformats.org/drawingml/2006/main">
            <a:r>
              <a:t>      "content_id": "2758341",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"둔산전자타운",</a:t>
            </a:r>
          </a:p>
          <a:p xmlns:a="http://schemas.openxmlformats.org/drawingml/2006/main">
            <a:r>
              <a:t>      "address": "대전광역시 서구 도산로403번길 21",</a:t>
            </a:r>
          </a:p>
          <a:p xmlns:a="http://schemas.openxmlformats.org/drawingml/2006/main">
            <a:r>
              <a:t>      "summary": "한국관광공사 국문관광정보 API가 반환한 선택 지역 관광자원",</a:t>
            </a:r>
          </a:p>
          <a:p xmlns:a="http://schemas.openxmlformats.org/drawingml/2006/main">
            <a:r>
              <a:t>      "image_url": "http://tong.visitkorea.or.kr/cms/resource/60/3565560_image2_1.jpg",</a:t>
            </a:r>
          </a:p>
          <a:p xmlns:a="http://schemas.openxmlformats.org/drawingml/2006/main">
            <a:r>
              <a:t>      "source_id": "tour-api:1623725",</a:t>
            </a:r>
          </a:p>
          <a:p xmlns:a="http://schemas.openxmlformats.org/drawingml/2006/main">
            <a:r>
              <a:t>      "content_id": "1623725",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"롯데백화점 (대전점)",</a:t>
            </a:r>
          </a:p>
          <a:p xmlns:a="http://schemas.openxmlformats.org/drawingml/2006/main">
            <a:r>
              <a:t>      "address": "대전광역시 서구 계룡로 598 (괴정동)",</a:t>
            </a:r>
          </a:p>
          <a:p xmlns:a="http://schemas.openxmlformats.org/drawingml/2006/main">
            <a:r>
              <a:t>      "summary": "한국관광공사 국문관광정보 API가 반환한 선택 지역 관광자원",</a:t>
            </a:r>
          </a:p>
          <a:p xmlns:a="http://schemas.openxmlformats.org/drawingml/2006/main">
            <a:r>
              <a:t>      "image_url": "http://tong.visitkorea.or.kr/cms/resource/21/3443221_image2_1.jpg",</a:t>
            </a:r>
          </a:p>
          <a:p xmlns:a="http://schemas.openxmlformats.org/drawingml/2006/main">
            <a:r>
              <a:t>      "source_id": "tour-api:132661",</a:t>
            </a:r>
          </a:p>
          <a:p xmlns:a="http://schemas.openxmlformats.org/drawingml/2006/main">
            <a:r>
              <a:t>      "content_id": "132661",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"마치광장",</a:t>
            </a:r>
          </a:p>
          <a:p xmlns:a="http://schemas.openxmlformats.org/drawingml/2006/main">
            <a:r>
              <a:t>      "address": "대전광역시 서구 구봉로131번길 27",</a:t>
            </a:r>
          </a:p>
          <a:p xmlns:a="http://schemas.openxmlformats.org/drawingml/2006/main">
            <a:r>
              <a:t>      "summary": "한국관광공사 국문관광정보 API가 반환한 선택 지역 관광자원",</a:t>
            </a:r>
          </a:p>
          <a:p xmlns:a="http://schemas.openxmlformats.org/drawingml/2006/main">
            <a:r>
              <a:t>      "image_url": "http://tong.visitkorea.or.kr/cms/resource/16/3542516_image2_1.jpg",</a:t>
            </a:r>
          </a:p>
          <a:p xmlns:a="http://schemas.openxmlformats.org/drawingml/2006/main">
            <a:r>
              <a:t>      "source_id": "tour-api:2758646",</a:t>
            </a:r>
          </a:p>
          <a:p xmlns:a="http://schemas.openxmlformats.org/drawingml/2006/main">
            <a:r>
              <a:t>      "content_id": "2758646",</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"몽뜨",</a:t>
            </a:r>
          </a:p>
          <a:p xmlns:a="http://schemas.openxmlformats.org/drawingml/2006/main">
            <a:r>
              <a:t>      "address": "대전광역시 서구 원도안로257번길 48 (도안동)",</a:t>
            </a:r>
          </a:p>
          <a:p xmlns:a="http://schemas.openxmlformats.org/drawingml/2006/main">
            <a:r>
              <a:t>      "summary": "한국관광공사 국문관광정보 API가 반환한 선택 지역 관광자원",</a:t>
            </a:r>
          </a:p>
          <a:p xmlns:a="http://schemas.openxmlformats.org/drawingml/2006/main">
            <a:r>
              <a:t>      "image_url": "http://tong.visitkorea.or.kr/cms/resource/35/2899535_image2_1.jpg",</a:t>
            </a:r>
          </a:p>
          <a:p xmlns:a="http://schemas.openxmlformats.org/drawingml/2006/main">
            <a:r>
              <a:t>      "source_id": "tour-api:2899544",</a:t>
            </a:r>
          </a:p>
          <a:p xmlns:a="http://schemas.openxmlformats.org/drawingml/2006/main">
            <a:r>
              <a:t>      "content_id": "2899544",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"미세노센세",</a:t>
            </a:r>
          </a:p>
          <a:p xmlns:a="http://schemas.openxmlformats.org/drawingml/2006/main">
            <a:r>
              <a:t>      "address": "대전광역시 서구 계룡로553번안길 65 (탄방동)",</a:t>
            </a:r>
          </a:p>
          <a:p xmlns:a="http://schemas.openxmlformats.org/drawingml/2006/main">
            <a:r>
              <a:t>      "summary": "한국관광공사 국문관광정보 API가 반환한 선택 지역 관광자원",</a:t>
            </a:r>
          </a:p>
          <a:p xmlns:a="http://schemas.openxmlformats.org/drawingml/2006/main">
            <a:r>
              <a:t>      "image_url": "http://tong.visitkorea.or.kr/cms/resource/05/2865905_image2_1.jpg",</a:t>
            </a:r>
          </a:p>
          <a:p xmlns:a="http://schemas.openxmlformats.org/drawingml/2006/main">
            <a:r>
              <a:t>      "source_id": "tour-api:2865914",</a:t>
            </a:r>
          </a:p>
          <a:p xmlns:a="http://schemas.openxmlformats.org/drawingml/2006/main">
            <a:r>
              <a:t>      "content_id": "2865914",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"chunk_id": "reference:kto:2026:local-airport:page:044:chunk:01",</a:t>
            </a:r>
          </a:p>
          <a:p xmlns:a="http://schemas.openxmlformats.org/drawingml/2006/main">
            <a:r>
              <a:t>      "source_id": "reference:kto:2026:local-airport",</a:t>
            </a:r>
          </a:p>
          <a:p xmlns:a="http://schemas.openxmlformats.org/drawingml/2006/main">
            <a:r>
              <a:t>      "source_url": "https://datalab.visitkorea.or.kr/site/portal/ex/bbs/View.do?bcIdx=311068&amp;cbIdx=1135&amp;pageIndex=1",</a:t>
            </a:r>
          </a:p>
          <a:p xmlns:a="http://schemas.openxmlformats.org/drawingml/2006/main">
            <a:r>
              <a:t>      "case_region": "",</a:t>
            </a:r>
          </a:p>
          <a:p xmlns:a="http://schemas.openxmlformats.org/drawingml/2006/main">
            <a:r>
              <a:t>      "region_code": "ALL",</a:t>
            </a:r>
          </a:p>
          <a:p xmlns:a="http://schemas.openxmlformats.org/drawingml/2006/main">
            <a:r>
              <a:t>      "region_name": "전국 공통",</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"source_type": "rag",</a:t>
            </a:r>
          </a:p>
          <a:p xmlns:a="http://schemas.openxmlformats.org/drawingml/2006/main">
            <a:r>
              <a:t>      "intervention": "",</a:t>
            </a:r>
          </a:p>
          <a:p xmlns:a="http://schemas.openxmlformats.org/drawingml/2006/main">
            <a:r>
              <a:t>      "document_type": "policy",</a:t>
            </a:r>
          </a:p>
          <a:p xmlns:a="http://schemas.openxmlformats.org/drawingml/2006/main">
            <a:r>
              <a:t>      "matched_terms": [</a:t>
            </a:r>
          </a:p>
          <a:p xmlns:a="http://schemas.openxmlformats.org/drawingml/2006/main">
            <a:r>
              <a:t>        "관광",</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"예산",</a:t>
            </a:r>
          </a:p>
          <a:p xmlns:a="http://schemas.openxmlformats.org/drawingml/2006/main">
            <a:r>
              <a:t>        "운영",</a:t>
            </a:r>
          </a:p>
          <a:p xmlns:a="http://schemas.openxmlformats.org/drawingml/2006/main">
            <a:r>
              <a:t>        "정책",</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a:t>
            </a:r>
          </a:p>
          <a:p xmlns:a="http://schemas.openxmlformats.org/drawingml/2006/main">
            <a:r>
              <a:t>      "page_references": "PDF 44쪽, PDF 40쪽, PDF 41쪽, PDF 41쪽, PDF 43쪽",</a:t>
            </a:r>
          </a:p>
          <a:p xmlns:a="http://schemas.openxmlformats.org/drawingml/2006/main">
            <a:r>
              <a:t>      "parent_source_id": "reference:kto:2026:local-airport",</a:t>
            </a:r>
          </a:p>
          <a:p xmlns:a="http://schemas.openxmlformats.org/drawingml/2006/main">
            <a:r>
              <a:t>      "retrieval_method": "local_curated_chunk",</a:t>
            </a:r>
          </a:p>
          <a:p xmlns:a="http://schemas.openxmlformats.org/drawingml/2006/main">
            <a:r>
              <a:t>      "evidence_strength": "medium",</a:t>
            </a:r>
          </a:p>
          <a:p xmlns:a="http://schemas.openxmlformats.org/drawingml/2006/main">
            <a:r>
              <a:t>      "published_or_updated_at": "2026-08",</a:t>
            </a:r>
          </a:p>
          <a:p xmlns:a="http://schemas.openxmlformats.org/drawingml/2006/main">
            <a:r>
              <a:t>      "chunk_ids": [</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"reference:kto:2026:local-airport:page:044:chunk:01"</a:t>
            </a:r>
          </a:p>
          <a:p xmlns:a="http://schemas.openxmlformats.org/drawingml/2006/main">
            <a:r>
              <a:t>      ],</a:t>
            </a:r>
          </a:p>
          <a:p xmlns:a="http://schemas.openxmlformats.org/drawingml/2006/main">
            <a:r>
              <a:t>      "source_chunk_count": 5</a:t>
            </a:r>
          </a:p>
          <a:p xmlns:a="http://schemas.openxmlformats.org/drawingml/2006/main">
            <a:r>
              <a:t>    },</a:t>
            </a:r>
          </a:p>
          <a:p xmlns:a="http://schemas.openxmlformats.org/drawingml/2006/main">
            <a:r>
              <a:t>    {</a:t>
            </a:r>
          </a:p>
          <a:p xmlns:a="http://schemas.openxmlformats.org/drawingml/2006/main">
            <a:r>
              <a:t>      "title": "여행가는 달 지역 여행할인 모아보기",</a:t>
            </a:r>
          </a:p>
          <a:p xmlns:a="http://schemas.openxmlformats.org/drawingml/2006/main">
            <a:r>
              <a:t>      "summary": "한국관광공사 ‘여행가는 달’ 페이지에는 대전관광공사·대전광역시의 ‘대전관광상품 최대 1만원 할인’이 2026-09-21부터 2026-10-18까지 ‘진행예정’으로 게시되어 있다.",</a:t>
            </a:r>
          </a:p>
          <a:p xmlns:a="http://schemas.openxmlformats.org/drawingml/2006/main">
            <a:r>
              <a:t>      "source_id": "web:30170:1",</a:t>
            </a:r>
          </a:p>
          <a:p xmlns:a="http://schemas.openxmlformats.org/drawingml/2006/main">
            <a:r>
              <a:t>      "source_url": "https://korean.visitkorea.or.kr/travelmonth/benefit.do?modal=benefit-190",</a:t>
            </a:r>
          </a:p>
          <a:p xmlns:a="http://schemas.openxmlformats.org/drawingml/2006/main">
            <a:r>
              <a:t>      "source_type": "official_web",</a:t>
            </a:r>
          </a:p>
          <a:p xmlns:a="http://schemas.openxmlformats.org/drawingml/2006/main">
            <a:r>
              <a:t>      "why_relevant": "확정된 실행기간(2026-10-01~2026-12-31) 중 10월 초·중순과 겹치는 기존 관광할인 일정이다. 신규 할인 재원을 가정하기보다, 서구 소재 상품 또는 참여처가 이 할인에 포함될 수 있는지 먼저 대전관광공사·운영주체와 확인할 근거가 된다. 할인 적용 대상, 서구 참여 여부, 중복지원 가능 여부, 정산방식은 이 문서만으로 확인되지 않는다.",</a:t>
            </a:r>
          </a:p>
          <a:p xmlns:a="http://schemas.openxmlformats.org/drawingml/2006/main">
            <a:r>
              <a:t>      "published_or_updated_at": "2026-09-17 기준 페이지 확인; 행사 예정 기간 2026-09-21~2026-10-18"</a:t>
            </a:r>
          </a:p>
          <a:p xmlns:a="http://schemas.openxmlformats.org/drawingml/2006/main">
            <a:r>
              <a:t>    },</a:t>
            </a:r>
          </a:p>
          <a:p xmlns:a="http://schemas.openxmlformats.org/drawingml/2006/main">
            <a:r>
              <a:t>    {</a:t>
            </a:r>
          </a:p>
          <a:p xmlns:a="http://schemas.openxmlformats.org/drawingml/2006/main">
            <a:r>
              <a:t>      "title": "대전광역시_문화시설 | 공공데이터포털",</a:t>
            </a:r>
          </a:p>
          <a:p xmlns:a="http://schemas.openxmlformats.org/drawingml/2006/main">
            <a:r>
              <a:t>      "summary": "공공데이터포털의 ‘대전광역시_문화시설’ OpenAPI는 공연장·전시관·박물관·도서관·체육관 등 문화시설의 위치, 명칭, 시설유형, 운영시간, 연락처 정보를 제공하며, 제공기관은 대전광역시이다.",</a:t>
            </a:r>
          </a:p>
          <a:p xmlns:a="http://schemas.openxmlformats.org/drawingml/2006/main">
            <a:r>
              <a:t>      "source_id": "web:30170:2",</a:t>
            </a:r>
          </a:p>
          <a:p xmlns:a="http://schemas.openxmlformats.org/drawingml/2006/main">
            <a:r>
              <a:t>      "source_url": "https://www.data.go.kr/data/15112114/openapi.do?recommendDataYn=Y",</a:t>
            </a:r>
          </a:p>
          <a:p xmlns:a="http://schemas.openxmlformats.org/drawingml/2006/main">
            <a:r>
              <a:t>      "source_type": "official_web",</a:t>
            </a:r>
          </a:p>
          <a:p xmlns:a="http://schemas.openxmlformats.org/drawingml/2006/main">
            <a:r>
              <a:t>      "why_relevant": "서구 체류 연장 파일럿의 참여 후보를 선정할 때 운영시간과 연락처를 공식 데이터로 대조할 수 있다. 특히 야간·주말 운영 가능 여부를 실제 데이터와 시설별 협의로 확인한 뒤, 10~12월 동선과 안내 페이지를 구성하는 데 활용할 수 있다. 이 데이터셋 설명만으로 특정 시설의 운영시간이나 행사 참여가 확정되는 것은 아니다.",</a:t>
            </a:r>
          </a:p>
          <a:p xmlns:a="http://schemas.openxmlformats.org/drawingml/2006/main">
            <a:r>
              <a:t>      "published_or_updated_at": "수정일 2025-07-23"</a:t>
            </a:r>
          </a:p>
          <a:p xmlns:a="http://schemas.openxmlformats.org/drawingml/2006/main">
            <a:r>
              <a:t>    },</a:t>
            </a:r>
          </a:p>
          <a:p xmlns:a="http://schemas.openxmlformats.org/drawingml/2006/main">
            <a:r>
              <a:t>    {</a:t>
            </a:r>
          </a:p>
          <a:p xmlns:a="http://schemas.openxmlformats.org/drawingml/2006/main">
            <a:r>
              <a:t>      "title": "대전광역시 문화관광(숙박정보) 데이터 | 공공데이터포털",</a:t>
            </a:r>
          </a:p>
          <a:p xmlns:a="http://schemas.openxmlformats.org/drawingml/2006/main">
            <a:r>
              <a:t>      "summary": "공공데이터포털에는 대전광역시 문화관광 숙박정보 OpenAPI가 있으며, 호텔·모텔·게스트하우스·펜션 등 숙박시설을 행정구역별로 분류하고 위치·연락처·부대시설 등의 정보를 제공한다고 명시되어 있다.",</a:t>
            </a:r>
          </a:p>
          <a:p xmlns:a="http://schemas.openxmlformats.org/drawingml/2006/main">
            <a:r>
              <a:t>      "source_id": "web:30170:3",</a:t>
            </a:r>
          </a:p>
          <a:p xmlns:a="http://schemas.openxmlformats.org/drawingml/2006/main">
            <a:r>
              <a:t>      "source_url": "https://www.data.go.kr/dataset/15001021/openapi.do",</a:t>
            </a:r>
          </a:p>
          <a:p xmlns:a="http://schemas.openxmlformats.org/drawingml/2006/main">
            <a:r>
              <a:t>      "source_type": "official_web",</a:t>
            </a:r>
          </a:p>
          <a:p xmlns:a="http://schemas.openxmlformats.org/drawingml/2006/main">
            <a:r>
              <a:t>      "why_relevant": "숙박 연계는 숙박업소의 실제 참여의사와 판매 가능 객실을 확인하기 전에는 확정할 수 없지만, 공식 숙박정보를 이용해 서구 소재 후보 업소를 우선 목록화하고 연락·운영조건 확인 절차를 설계할 수 있다. 제공된 내부 관측의 숙박방문 비율과 평균 숙박일수 개선을 직접 보장하는 근거는 아니다.",</a:t>
            </a:r>
          </a:p>
          <a:p xmlns:a="http://schemas.openxmlformats.org/drawingml/2006/main">
            <a:r>
              <a:t>      "published_or_updated_at": "페이지 확인일 2026-09-17"</a:t>
            </a:r>
          </a:p>
          <a:p xmlns:a="http://schemas.openxmlformats.org/drawingml/2006/main">
            <a:r>
              <a:t>    },</a:t>
            </a:r>
          </a:p>
          <a:p xmlns:a="http://schemas.openxmlformats.org/drawingml/2006/main">
            <a:r>
              <a:t>    {</a:t>
            </a:r>
          </a:p>
          <a:p xmlns:a="http://schemas.openxmlformats.org/drawingml/2006/main">
            <a:r>
              <a:t>      "title": "대전문화관광해설사 신규 양성 교육 | 한국관광공사 관광e배움터",</a:t>
            </a:r>
          </a:p>
          <a:p xmlns:a="http://schemas.openxmlformats.org/drawingml/2006/main">
            <a:r>
              <a:t>      "summary": "(사)대전광역시관광협회는 2026-07-01~2026-08-31에 ‘대전문화관광해설사 신규 양성 교육’을 운영했으며, 과정 목표는 대전 관광자원을 설명할 전문 해설 인력 양성이다. 과정은 60시간, 신청인원은 13명으로 게시되어 있다.",</a:t>
            </a:r>
          </a:p>
          <a:p xmlns:a="http://schemas.openxmlformats.org/drawingml/2006/main">
            <a:r>
              <a:t>      "source_id": "web:30170:4",</a:t>
            </a:r>
          </a:p>
          <a:p xmlns:a="http://schemas.openxmlformats.org/drawingml/2006/main">
            <a:r>
              <a:t>      "source_url": "https://touredu.visitkorea.or.kr/home/pkgEdu/pkgEduDetail?crsCd=C202600107&amp;eduPlanYr=2026&amp;eduPlanYrStepCnt=1",</a:t>
            </a:r>
          </a:p>
          <a:p xmlns:a="http://schemas.openxmlformats.org/drawingml/2006/main">
            <a:r>
              <a:t>      "source_type": "official_web",</a:t>
            </a:r>
          </a:p>
          <a:p xmlns:a="http://schemas.openxmlformats.org/drawingml/2006/main">
            <a:r>
              <a:t>      "why_relevant": "해설·현장안내를 포함하는 방식은 완전히 새로운 인력체계를 만드는 대신, 대전광역시관광협회에 10~12월 서구 권역 배치 가능 여부와 운영조건을 문의하는 조건부 선택지가 될 수 있다. 이 교육 이력은 해설사의 실제 배치, 유급 운영, 서구 코스 담당 또는 특정 언어 서비스 제공을 보장하지 않는다.",</a:t>
            </a:r>
          </a:p>
          <a:p xmlns:a="http://schemas.openxmlformats.org/drawingml/2006/main">
            <a:r>
              <a:t>      "published_or_updated_at": "신청·학습기간 2026-07-01~2026-08-31"</a:t>
            </a:r>
          </a:p>
          <a:p xmlns:a="http://schemas.openxmlformats.org/drawingml/2006/main">
            <a:r>
              <a:t>    },</a:t>
            </a:r>
          </a:p>
          <a:p xmlns:a="http://schemas.openxmlformats.org/drawingml/2006/main">
            <a:r>
              <a:t>    {</a:t>
            </a:r>
          </a:p>
          <a:p xmlns:a="http://schemas.openxmlformats.org/drawingml/2006/main">
            <a:r>
              <a:t>      "title": "대전광역시 서구_체육시설 현황 | 공공데이터포털",</a:t>
            </a:r>
          </a:p>
          <a:p xmlns:a="http://schemas.openxmlformats.org/drawingml/2006/main">
            <a:r>
              <a:t>      "summary": "공공데이터포털의 ‘대전광역시 서구_체육시설 현황’ 파일은 서구 소재 체육시설의 명칭·주소·면적·운동시설 종류·최대 수용 가능 인원·연락처·관리기관·데이터 기준일자 항목을 포함한다고 명시한다.",</a:t>
            </a:r>
          </a:p>
          <a:p xmlns:a="http://schemas.openxmlformats.org/drawingml/2006/main">
            <a:r>
              <a:t>      "source_id": "web:30170:5",</a:t>
            </a:r>
          </a:p>
          <a:p xmlns:a="http://schemas.openxmlformats.org/drawingml/2006/main">
            <a:r>
              <a:t>      "source_url": "https://www.data.go.kr/dataset/15037511/fileData.do",</a:t>
            </a:r>
          </a:p>
          <a:p xmlns:a="http://schemas.openxmlformats.org/drawingml/2006/main">
            <a:r>
              <a:t>      "source_type": "official_web",</a:t>
            </a:r>
          </a:p>
          <a:p xmlns:a="http://schemas.openxmlformats.org/drawingml/2006/main">
            <a:r>
              <a:t>      "why_relevant": "10~12월 체육·공연·문화시설을 체류 콘텐츠 후보로 검토할 경우, 시설의 물리적 수용 조건과 관리기관을 공식 목록으로 확인할 수 있다. 다만 파일 설명만으로 해당 시설의 대관 가능일, 대관료, 행사 가능 시간 또는 관광객 대상 운영 의사가 확인되는 것은 아니다.",</a:t>
            </a:r>
          </a:p>
          <a:p xmlns:a="http://schemas.openxmlformats.org/drawingml/2006/main">
            <a:r>
              <a:t>      "published_or_updated_at": "페이지 확인일 2026-09-17"</a:t>
            </a:r>
          </a:p>
          <a:p xmlns:a="http://schemas.openxmlformats.org/drawingml/2006/main">
            <a:r>
              <a:t>    },</a:t>
            </a:r>
          </a:p>
          <a:p xmlns:a="http://schemas.openxmlformats.org/drawingml/2006/main">
            <a:r>
              <a:t>    {</a:t>
            </a:r>
          </a:p>
          <a:p xmlns:a="http://schemas.openxmlformats.org/drawingml/2006/main">
            <a:r>
              <a:t>      "title": "제4차 관광개발기본계획 발표 관련 문화체육관광부 보도자료",</a:t>
            </a:r>
          </a:p>
          <a:p xmlns:a="http://schemas.openxmlformats.org/drawingml/2006/main">
            <a:r>
              <a:t>      "summary": "제4차 관광개발기본계획 관련 문화체육관광부 자료는 대전·세종·충청권을 관광 성장 지역 권역 중 하나로 제시하고, 부처·지역 간 연계협력과 지역 여건에 맞는 권역별 발전전략 수립 방향을 밝힌다.",</a:t>
            </a:r>
          </a:p>
          <a:p xmlns:a="http://schemas.openxmlformats.org/drawingml/2006/main">
            <a:r>
              <a:t>      "source_id": "web:30170:6",</a:t>
            </a:r>
          </a:p>
          <a:p xmlns:a="http://schemas.openxmlformats.org/drawingml/2006/main">
            <a:r>
              <a:t>      "source_url":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      "source_type": "official_web",</a:t>
            </a:r>
          </a:p>
          <a:p xmlns:a="http://schemas.openxmlformats.org/drawingml/2006/main">
            <a:r>
              <a:t>      "why_relevant": "서구 단독의 대규모 시설 신설보다 인접 생활·관광권 및 기존 관광사업과의 연계를 검토하는 정책 참고 근거다. 이는 서구 사업의 국비지원 확정, 개별 사업 적격성 또는 성과를 뜻하지 않는다.",</a:t>
            </a:r>
          </a:p>
          <a:p xmlns:a="http://schemas.openxmlformats.org/drawingml/2006/main">
            <a:r>
              <a:t>      "published_or_updated_at": "2021-12-30"</a:t>
            </a:r>
          </a:p>
          <a:p xmlns:a="http://schemas.openxmlformats.org/drawingml/2006/main">
            <a:r>
              <a:t>    },</a:t>
            </a:r>
          </a:p>
          <a:p xmlns:a="http://schemas.openxmlformats.org/drawingml/2006/main">
            <a:r>
              <a:t>    {</a:t>
            </a:r>
          </a:p>
          <a:p xmlns:a="http://schemas.openxmlformats.org/drawingml/2006/main">
            <a:r>
              <a:t>      "title": "한국관광 데이터랩 · 안동탈춤축제 연도별 방문자 추이",</a:t>
            </a:r>
          </a:p>
          <a:p xmlns:a="http://schemas.openxmlformats.org/drawingml/2006/main">
            <a:r>
              <a:t>      "summary": "경상북도 안동시 · 2025 안동탈춤축제: 10일간 집중 운영한 공연·문화형 축제 · 2024→2025년 전체 504,573→554,494명 (+9.89%). 개최 10→10일, 일평균 +9.89%, 외지인 +10.75%.",</a:t>
            </a:r>
          </a:p>
          <a:p xmlns:a="http://schemas.openxmlformats.org/drawingml/2006/main">
            <a:r>
              <a:t>      "source_id": "case:41508ca81cf29f",</a:t>
            </a:r>
          </a:p>
          <a:p xmlns:a="http://schemas.openxmlformats.org/drawingml/2006/main">
            <a:r>
              <a:t>      "source_url": "https://datalab.visitkorea.or.kr/",</a:t>
            </a:r>
          </a:p>
          <a:p xmlns:a="http://schemas.openxmlformats.org/drawingml/2006/main">
            <a:r>
              <a:t>      "case_region": "경상북도 안동시",</a:t>
            </a:r>
          </a:p>
          <a:p xmlns:a="http://schemas.openxmlformats.org/drawingml/2006/main">
            <a:r>
              <a:t>      "source_type": "benchmark_case",</a:t>
            </a:r>
          </a:p>
          <a:p xmlns:a="http://schemas.openxmlformats.org/drawingml/2006/main">
            <a:r>
              <a:t>      "dataset_hash": "ad20e3daf70fd44fd481d672398c07bb9c96fce77acb450784065a568735e2e2",</a:t>
            </a:r>
          </a:p>
          <a:p xmlns:a="http://schemas.openxmlformats.org/drawingml/2006/main">
            <a:r>
              <a:t>      "intervention": "2025 안동탈춤축제: 10일간 집중 운영한 공연·문화형 축제",</a:t>
            </a:r>
          </a:p>
          <a:p xmlns:a="http://schemas.openxmlformats.org/drawingml/2006/main">
            <a:r>
              <a:t>      "source_files": [</a:t>
            </a:r>
          </a:p>
          <a:p xmlns:a="http://schemas.openxmlformats.org/drawingml/2006/main">
            <a:r>
              <a:t>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"c0b34e003112bda1f5afa06dcb153cc870d61730036ef23f1b3e7aed39ca5458",</a:t>
            </a:r>
          </a:p>
          <a:p xmlns:a="http://schemas.openxmlformats.org/drawingml/2006/main">
            <a:r>
              <a:t>          "provider": "한국관광 데이터랩",</a:t>
            </a:r>
          </a:p>
          <a:p xmlns:a="http://schemas.openxmlformats.org/drawingml/2006/main">
            <a:r>
              <a:t>          "file_name": "20260820175023_안동탈춤축제_성_연령별 내국인 방문자.csv",</a:t>
            </a:r>
          </a:p>
          <a:p xmlns:a="http://schemas.openxmlformats.org/drawingml/2006/main">
            <a:r>
              <a:t>          "source_id": "festival-file:c0b34e003112bda1f5af",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"40ddabd2e46fcb12bc9cc2361174e1a5ebe80f169611896b6d4b5e60d9fda352",</a:t>
            </a:r>
          </a:p>
          <a:p xmlns:a="http://schemas.openxmlformats.org/drawingml/2006/main">
            <a:r>
              <a:t>          "provider": "한국관광 데이터랩",</a:t>
            </a:r>
          </a:p>
          <a:p xmlns:a="http://schemas.openxmlformats.org/drawingml/2006/main">
            <a:r>
              <a:t>          "file_name": "20260820175023_안동탈춤축제_문화관광축제 주요 지표.csv",</a:t>
            </a:r>
          </a:p>
          <a:p xmlns:a="http://schemas.openxmlformats.org/drawingml/2006/main">
            <a:r>
              <a:t>          "source_id": "festival-file:40ddabd2e46fcb12bc9c",</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"11de7e20288dde00f7f18e353a24b5a95c511a7dc354ec9cc2c7a3a2436712f6",</a:t>
            </a:r>
          </a:p>
          <a:p xmlns:a="http://schemas.openxmlformats.org/drawingml/2006/main">
            <a:r>
              <a:t>          "provider": "한국관광 데이터랩",</a:t>
            </a:r>
          </a:p>
          <a:p xmlns:a="http://schemas.openxmlformats.org/drawingml/2006/main">
            <a:r>
              <a:t>          "file_name": "20260820175023_안동탈춤축제_목적지 검색순위.csv",</a:t>
            </a:r>
          </a:p>
          <a:p xmlns:a="http://schemas.openxmlformats.org/drawingml/2006/main">
            <a:r>
              <a:t>          "source_id": "festival-file:11de7e20288dde00f7f1",</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"document_type": null,</a:t>
            </a:r>
          </a:p>
          <a:p xmlns:a="http://schemas.openxmlformats.org/drawingml/2006/main">
            <a:r>
              <a:t>      "evidence_kind": "festival_document_and_statistics",</a:t>
            </a:r>
          </a:p>
          <a:p xmlns:a="http://schemas.openxmlformats.org/drawingml/2006/main">
            <a:r>
              <a:t>      "observed_result": "2024→2025년 전체 504,573→554,494명 (+9.89%). 개최 10→10일, 일평균 +9.89%, 외지인 +10.75%.",</a:t>
            </a:r>
          </a:p>
          <a:p xmlns:a="http://schemas.openxmlformats.org/drawingml/2006/main">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xmlns:a="http://schemas.openxmlformats.org/drawingml/2006/main">
            <a:r>
              <a:t>      "retrieval_basis": {</a:t>
            </a:r>
          </a:p>
          <a:p xmlns:a="http://schemas.openxmlformats.org/drawingml/2006/main">
            <a:r>
              <a:t>        "kind": "external_benchmark",</a:t>
            </a:r>
          </a:p>
          <a:p xmlns:a="http://schemas.openxmlformats.org/drawingml/2006/main">
            <a:r>
              <a:t>        "rule": "함수 기반 조사 우선순위. 사업효과·인구/환경 유사도 점수가 아니며 소비·체류 개선은 조사 가설이다.",</a:t>
            </a:r>
          </a:p>
          <a:p xmlns:a="http://schemas.openxmlformats.org/drawingml/2006/main">
            <a:r>
              <a:t>        "score": 31,</a:t>
            </a:r>
          </a:p>
          <a:p xmlns:a="http://schemas.openxmlformats.org/drawingml/2006/main">
            <a:r>
              <a:t>        "theme": "공연·문화",</a:t>
            </a:r>
          </a:p>
          <a:p xmlns:a="http://schemas.openxmlformats.org/drawingml/2006/main">
            <a:r>
              <a:t>        "components": {</a:t>
            </a:r>
          </a:p>
          <a:p xmlns:a="http://schemas.openxmlformats.org/drawingml/2006/main">
            <a:r>
              <a:t>          "최근 개최연도": 6,</a:t>
            </a:r>
          </a:p>
          <a:p xmlns:a="http://schemas.openxmlformats.org/drawingml/2006/main">
            <a:r>
              <a:t>          "방문 실적 비교 가능": 10,</a:t>
            </a:r>
          </a:p>
          <a:p xmlns:a="http://schemas.openxmlformats.org/drawingml/2006/main">
            <a:r>
              <a:t>          "방문 전망 조사: 외지인·일평균 동반 증가": 15</a:t>
            </a:r>
          </a:p>
          <a:p xmlns:a="http://schemas.openxmlformats.org/drawingml/2006/main">
            <a:r>
              <a:t>        },</a:t>
            </a:r>
          </a:p>
          <a:p xmlns:a="http://schemas.openxmlformats.org/drawingml/2006/main">
            <a:r>
              <a:t>        "priority_signal": "visit"</a:t>
            </a:r>
          </a:p>
          <a:p xmlns:a="http://schemas.openxmlformats.org/drawingml/2006/main">
            <a:r>
              <a:t>      },</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"2024년과 2025년 각 축제 10일 개최기간 비교",</a:t>
            </a:r>
          </a:p>
          <a:p xmlns:a="http://schemas.openxmlformats.org/drawingml/2006/main">
            <a:r>
              <a:t>      "festival_statistics": {</a:t>
            </a:r>
          </a:p>
          <a:p xmlns:a="http://schemas.openxmlformats.org/drawingml/2006/main">
            <a:r>
              <a:t>        "name": "안동탈춤축제",</a:t>
            </a:r>
          </a:p>
          <a:p xmlns:a="http://schemas.openxmlformats.org/drawingml/2006/main">
            <a:r>
              <a:t>        "scope": "축제 관측구역 방문 지표. 도시 전체·순증 관광객·입장권 실구매자 수가 아님.",</a:t>
            </a:r>
          </a:p>
          <a:p xmlns:a="http://schemas.openxmlformats.org/drawingml/2006/main">
            <a:r>
              <a:t>        "annual": [</a:t>
            </a:r>
          </a:p>
          <a:p xmlns:a="http://schemas.openxmlformats.org/drawingml/2006/main">
            <a:r>
              <a:t>          {</a:t>
            </a:r>
          </a:p>
          <a:p xmlns:a="http://schemas.openxmlformats.org/drawingml/2006/main">
            <a:r>
              <a:t>            "days": 8,</a:t>
            </a:r>
          </a:p>
          <a:p xmlns:a="http://schemas.openxmlformats.org/drawingml/2006/main">
            <a:r>
              <a:t>            "year": 2023,</a:t>
            </a:r>
          </a:p>
          <a:p xmlns:a="http://schemas.openxmlformats.org/drawingml/2006/main">
            <a:r>
              <a:t>            "daily": 45517.125,</a:t>
            </a:r>
          </a:p>
          <a:p xmlns:a="http://schemas.openxmlformats.org/drawingml/2006/main">
            <a:r>
              <a:t>            "local": 233513,</a:t>
            </a:r>
          </a:p>
          <a:p xmlns:a="http://schemas.openxmlformats.org/drawingml/2006/main">
            <a:r>
              <a:t>            "total": 364137,</a:t>
            </a:r>
          </a:p>
          <a:p xmlns:a="http://schemas.openxmlformats.org/drawingml/2006/main">
            <a:r>
              <a:t>            "foreign": 3319,</a:t>
            </a:r>
          </a:p>
          <a:p xmlns:a="http://schemas.openxmlformats.org/drawingml/2006/main">
            <a:r>
              <a:t>            "outside": 127305,</a:t>
            </a:r>
          </a:p>
          <a:p xmlns:a="http://schemas.openxmlformats.org/drawingml/2006/main">
            <a:r>
              <a:t>            "outside_daily": 15913.125,</a:t>
            </a:r>
          </a:p>
          <a:p xmlns:a="http://schemas.openxmlformats.org/drawingml/2006/main">
            <a:r>
              <a:t>            "outside_share_pct": 34.960742797353745</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2024,</a:t>
            </a:r>
          </a:p>
          <a:p xmlns:a="http://schemas.openxmlformats.org/drawingml/2006/main">
            <a:r>
              <a:t>            "daily": 50457.3,</a:t>
            </a:r>
          </a:p>
          <a:p xmlns:a="http://schemas.openxmlformats.org/drawingml/2006/main">
            <a:r>
              <a:t>            "local": 317925,</a:t>
            </a:r>
          </a:p>
          <a:p xmlns:a="http://schemas.openxmlformats.org/drawingml/2006/main">
            <a:r>
              <a:t>            "total": 504573,</a:t>
            </a:r>
          </a:p>
          <a:p xmlns:a="http://schemas.openxmlformats.org/drawingml/2006/main">
            <a:r>
              <a:t>            "foreign": 4684,</a:t>
            </a:r>
          </a:p>
          <a:p xmlns:a="http://schemas.openxmlformats.org/drawingml/2006/main">
            <a:r>
              <a:t>            "outside": 181964,</a:t>
            </a:r>
          </a:p>
          <a:p xmlns:a="http://schemas.openxmlformats.org/drawingml/2006/main">
            <a:r>
              <a:t>            "outside_daily": 18196.4,</a:t>
            </a:r>
          </a:p>
          <a:p xmlns:a="http://schemas.openxmlformats.org/drawingml/2006/main">
            <a:r>
              <a:t>            "outside_share_pct": 36.06296809381398</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2025,</a:t>
            </a:r>
          </a:p>
          <a:p xmlns:a="http://schemas.openxmlformats.org/drawingml/2006/main">
            <a:r>
              <a:t>            "daily": 55449.4,</a:t>
            </a:r>
          </a:p>
          <a:p xmlns:a="http://schemas.openxmlformats.org/drawingml/2006/main">
            <a:r>
              <a:t>            "local": 347269,</a:t>
            </a:r>
          </a:p>
          <a:p xmlns:a="http://schemas.openxmlformats.org/drawingml/2006/main">
            <a:r>
              <a:t>            "total": 554494,</a:t>
            </a:r>
          </a:p>
          <a:p xmlns:a="http://schemas.openxmlformats.org/drawingml/2006/main">
            <a:r>
              <a:t>            "foreign": 5702,</a:t>
            </a:r>
          </a:p>
          <a:p xmlns:a="http://schemas.openxmlformats.org/drawingml/2006/main">
            <a:r>
              <a:t>            "outside": 201523,</a:t>
            </a:r>
          </a:p>
          <a:p xmlns:a="http://schemas.openxmlformats.org/drawingml/2006/main">
            <a:r>
              <a:t>            "outside_daily": 20152.3,</a:t>
            </a:r>
          </a:p>
          <a:p xmlns:a="http://schemas.openxmlformats.org/drawingml/2006/main">
            <a:r>
              <a:t>            "outside_share_pct": 36.34358532283487</a:t>
            </a:r>
          </a:p>
          <a:p xmlns:a="http://schemas.openxmlformats.org/drawingml/2006/main">
            <a:r>
              <a:t>          }</a:t>
            </a:r>
          </a:p>
          <a:p xmlns:a="http://schemas.openxmlformats.org/drawingml/2006/main">
            <a:r>
              <a:t>        ],</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"안동탈춤축제",</a:t>
            </a:r>
          </a:p>
          <a:p xmlns:a="http://schemas.openxmlformats.org/drawingml/2006/main">
            <a:r>
              <a:t>            "남성비율": "4.4",</a:t>
            </a:r>
          </a:p>
          <a:p xmlns:a="http://schemas.openxmlformats.org/drawingml/2006/main">
            <a:r>
              <a:t>            "여성비율": "5.0"</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"안동탈춤축제",</a:t>
            </a:r>
          </a:p>
          <a:p xmlns:a="http://schemas.openxmlformats.org/drawingml/2006/main">
            <a:r>
              <a:t>            "남성비율": "8.0",</a:t>
            </a:r>
          </a:p>
          <a:p xmlns:a="http://schemas.openxmlformats.org/drawingml/2006/main">
            <a:r>
              <a:t>            "여성비율": "8.5"</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"안동탈춤축제",</a:t>
            </a:r>
          </a:p>
          <a:p xmlns:a="http://schemas.openxmlformats.org/drawingml/2006/main">
            <a:r>
              <a:t>            "남성비율": "9.2",</a:t>
            </a:r>
          </a:p>
          <a:p xmlns:a="http://schemas.openxmlformats.org/drawingml/2006/main">
            <a:r>
              <a:t>            "여성비율": "10.9"</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"안동탈춤축제",</a:t>
            </a:r>
          </a:p>
          <a:p xmlns:a="http://schemas.openxmlformats.org/drawingml/2006/main">
            <a:r>
              <a:t>            "남성비율": "7.5",</a:t>
            </a:r>
          </a:p>
          <a:p xmlns:a="http://schemas.openxmlformats.org/drawingml/2006/main">
            <a:r>
              <a:t>            "여성비율": "7.9"</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"안동탈춤축제",</a:t>
            </a:r>
          </a:p>
          <a:p xmlns:a="http://schemas.openxmlformats.org/drawingml/2006/main">
            <a:r>
              <a:t>            "남성비율": "7.9",</a:t>
            </a:r>
          </a:p>
          <a:p xmlns:a="http://schemas.openxmlformats.org/drawingml/2006/main">
            <a:r>
              <a:t>            "여성비율": "7.2"</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"안동탈춤축제",</a:t>
            </a:r>
          </a:p>
          <a:p xmlns:a="http://schemas.openxmlformats.org/drawingml/2006/main">
            <a:r>
              <a:t>            "남성비율": "7.1",</a:t>
            </a:r>
          </a:p>
          <a:p xmlns:a="http://schemas.openxmlformats.org/drawingml/2006/main">
            <a:r>
              <a:t>            "여성비율": "8.2"</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"안동탈춤축제",</a:t>
            </a:r>
          </a:p>
          <a:p xmlns:a="http://schemas.openxmlformats.org/drawingml/2006/main">
            <a:r>
              <a:t>            "남성비율": "3.2",</a:t>
            </a:r>
          </a:p>
          <a:p xmlns:a="http://schemas.openxmlformats.org/drawingml/2006/main">
            <a:r>
              <a:t>            "여성비율": "3.9"</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"안동탈춤축제",</a:t>
            </a:r>
          </a:p>
          <a:p xmlns:a="http://schemas.openxmlformats.org/drawingml/2006/main">
            <a:r>
              <a:t>            "남성비율": "0.5",</a:t>
            </a:r>
          </a:p>
          <a:p xmlns:a="http://schemas.openxmlformats.org/drawingml/2006/main">
            <a:r>
              <a:t>            "여성비율": "0.7"</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4992.0999999999985</a:t>
            </a:r>
          </a:p>
          <a:p xmlns:a="http://schemas.openxmlformats.org/drawingml/2006/main">
            <a:r>
              <a:t>          },</a:t>
            </a:r>
          </a:p>
          <a:p xmlns:a="http://schemas.openxmlformats.org/drawingml/2006/main">
            <a:r>
              <a:t>          "total":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49921</a:t>
            </a:r>
          </a:p>
          <a:p xmlns:a="http://schemas.openxmlformats.org/drawingml/2006/main">
            <a:r>
              <a:t>          },</a:t>
            </a:r>
          </a:p>
          <a:p xmlns:a="http://schemas.openxmlformats.org/drawingml/2006/main">
            <a:r>
              <a:t>          "outside": {</a:t>
            </a:r>
          </a:p>
          <a:p xmlns:a="http://schemas.openxmlformats.org/drawingml/2006/main">
            <a:r>
              <a:t>            "after": 201523,</a:t>
            </a:r>
          </a:p>
          <a:p xmlns:a="http://schemas.openxmlformats.org/drawingml/2006/main">
            <a:r>
              <a:t>            "before": 181964,</a:t>
            </a:r>
          </a:p>
          <a:p xmlns:a="http://schemas.openxmlformats.org/drawingml/2006/main">
            <a:r>
              <a:t>            "change_pct": 10.748829438790096,</a:t>
            </a:r>
          </a:p>
          <a:p xmlns:a="http://schemas.openxmlformats.org/drawingml/2006/main">
            <a:r>
              <a:t>            "difference": 19559</a:t>
            </a:r>
          </a:p>
          <a:p xmlns:a="http://schemas.openxmlformats.org/drawingml/2006/main">
            <a:r>
              <a:t>          },</a:t>
            </a:r>
          </a:p>
          <a:p xmlns:a="http://schemas.openxmlformats.org/drawingml/2006/main">
            <a:r>
              <a:t>          "after_days": 10,</a:t>
            </a:r>
          </a:p>
          <a:p xmlns:a="http://schemas.openxmlformats.org/drawingml/2006/main">
            <a:r>
              <a:t>          "after_year": 2025,</a:t>
            </a:r>
          </a:p>
          <a:p xmlns:a="http://schemas.openxmlformats.org/drawingml/2006/main">
            <a:r>
              <a:t>          "before_days": 10,</a:t>
            </a:r>
          </a:p>
          <a:p xmlns:a="http://schemas.openxmlformats.org/drawingml/2006/main">
            <a:r>
              <a:t>          "before_year": 2024,</a:t>
            </a:r>
          </a:p>
          <a:p xmlns:a="http://schemas.openxmlformats.org/drawingml/2006/main">
            <a:r>
              <a:t>          "outside_daily": {</a:t>
            </a:r>
          </a:p>
          <a:p xmlns:a="http://schemas.openxmlformats.org/drawingml/2006/main">
            <a:r>
              <a:t>            "after": 20152.3,</a:t>
            </a:r>
          </a:p>
          <a:p xmlns:a="http://schemas.openxmlformats.org/drawingml/2006/main">
            <a:r>
              <a:t>            "before": 18196.4,</a:t>
            </a:r>
          </a:p>
          <a:p xmlns:a="http://schemas.openxmlformats.org/drawingml/2006/main">
            <a:r>
              <a:t>            "change_pct": 10.748829438790075,</a:t>
            </a:r>
          </a:p>
          <a:p xmlns:a="http://schemas.openxmlformats.org/drawingml/2006/main">
            <a:r>
              <a:t>            "difference": 1955.8999999999976</a:t>
            </a:r>
          </a:p>
          <a:p xmlns:a="http://schemas.openxmlformats.org/drawingml/2006/main">
            <a:r>
              <a:t>          }</a:t>
            </a:r>
          </a:p>
          <a:p xmlns:a="http://schemas.openxmlformats.org/drawingml/2006/main">
            <a:r>
              <a:t>        },</a:t>
            </a:r>
          </a:p>
          <a:p xmlns:a="http://schemas.openxmlformats.org/drawingml/2006/main">
            <a:r>
              <a:t>        "source_file":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"region_basis": "목적지 검색 CSV의 시도+시군구 최빈 주소; 행사장 행정경계 확정은 아님",</a:t>
            </a:r>
          </a:p>
          <a:p xmlns:a="http://schemas.openxmlformats.org/drawingml/2006/main">
            <a:r>
              <a:t>        "indicator_rule": "원본 지표값만 보존. 산식·단위 미확인으로 성장률/원화/정원/참여율 변환 금지.",</a:t>
            </a:r>
          </a:p>
          <a:p xmlns:a="http://schemas.openxmlformats.org/drawingml/2006/main">
            <a:r>
              <a:t>        "audience_period": "다운로드 CSV에 연도 열 없음; 최신 개최연도와 자동 결합하지 않음",</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"0.515",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"0.859",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"0.434",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"0.544",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"0.879",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"0.258",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"0.618",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"0.252",</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"0.375",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"0.65",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"안동구시장",</a:t>
            </a:r>
          </a:p>
          <a:p xmlns:a="http://schemas.openxmlformats.org/drawingml/2006/main">
            <a:r>
              <a:t>            "카테고리": "시장",</a:t>
            </a:r>
          </a:p>
          <a:p xmlns:a="http://schemas.openxmlformats.org/drawingml/2006/main">
            <a:r>
              <a:t>            "도로명주소": "경북 안동시 번영1길 47-0"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"안동국제탈춤페스티벌",</a:t>
            </a:r>
          </a:p>
          <a:p xmlns:a="http://schemas.openxmlformats.org/drawingml/2006/main">
            <a:r>
              <a:t>            "카테고리": "기타문화관광지",</a:t>
            </a:r>
          </a:p>
          <a:p xmlns:a="http://schemas.openxmlformats.org/drawingml/2006/main">
            <a:r>
              <a:t>            "도로명주소": "경북 안동시 육사로 239-0"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"탈춤공원",</a:t>
            </a:r>
          </a:p>
          <a:p xmlns:a="http://schemas.openxmlformats.org/drawingml/2006/main">
            <a:r>
              <a:t>            "카테고리": "도시공원",</a:t>
            </a:r>
          </a:p>
          <a:p xmlns:a="http://schemas.openxmlformats.org/drawingml/2006/main">
            <a:r>
              <a:t>            "도로명주소": "경북 안동시 육사로 239-0"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"transfer_conditions": [</a:t>
            </a:r>
          </a:p>
          <a:p xmlns:a="http://schemas.openxmlformats.org/drawingml/2006/main">
            <a:r>
              <a:t>        "대전 서구의 기존 문화·상업시설과 맞는 주제를 새로 선정하고 프로그램·회차·정원을 별도로 설계해야 한다.",</a:t>
            </a:r>
          </a:p>
          <a:p xmlns:a="http://schemas.openxmlformats.org/drawingml/2006/main">
            <a:r>
              <a:t>        "10일 연속 운영보다 고정 일정인 10~12월에 주말 반복형으로 분산하는 방안을 비교해야 한다.",</a:t>
            </a:r>
          </a:p>
          <a:p xmlns:a="http://schemas.openxmlformats.org/drawingml/2006/main">
            <a:r>
              <a:t>        "외지인 관측 증가가 실제 상권 결제로 이어졌는지 확인할 수 있도록 예약·QR·카드 또는 영수증 기반 기록이 필요하다.",</a:t>
            </a:r>
          </a:p>
          <a:p xmlns:a="http://schemas.openxmlformats.org/drawingml/2006/main">
            <a:r>
              <a:t>        "행사장 주변 교통·식음·야간 운영 가능 시설을 현장 확인한 뒤 참여처를 모집해야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"day",</a:t>
            </a:r>
          </a:p>
          <a:p xmlns:a="http://schemas.openxmlformats.org/drawingml/2006/main">
            <a:r>
              <a:t>          "quote": "2025년 10일 개최",</a:t>
            </a:r>
          </a:p>
          <a:p xmlns:a="http://schemas.openxmlformats.org/drawingml/2006/main">
            <a:r>
              <a:t>          "scope": "안동탈춤축제 전체 개최일수",</a:t>
            </a:r>
          </a:p>
          <a:p xmlns:a="http://schemas.openxmlformats.org/drawingml/2006/main">
            <a:r>
              <a:t>          "value": 10,</a:t>
            </a:r>
          </a:p>
          <a:p xmlns:a="http://schemas.openxmlformats.org/drawingml/2006/main">
            <a:r>
              <a:t>          "metric": "operating_days",</a:t>
            </a:r>
          </a:p>
          <a:p xmlns:a="http://schemas.openxmlformats.org/drawingml/2006/main">
            <a:r>
              <a:t>          "period": "2025년 축제 개최기간",</a:t>
            </a:r>
          </a:p>
          <a:p xmlns:a="http://schemas.openxmlformats.org/drawingml/2006/main">
            <a:r>
              <a:t>          "program_name": "안동탈춤축제",</a:t>
            </a:r>
          </a:p>
          <a:p xmlns:a="http://schemas.openxmlformats.org/drawingml/2006/main">
            <a:r>
              <a:t>          "capacity_count": null,</a:t>
            </a:r>
          </a:p>
          <a:p xmlns:a="http://schemas.openxmlformats.org/drawingml/2006/main">
            <a:r>
              <a:t>          "participant_count": null</a:t>
            </a:r>
          </a:p>
          <a:p xmlns:a="http://schemas.openxmlformats.org/drawingml/2006/main">
            <a:r>
              <a:t>        }</a:t>
            </a:r>
          </a:p>
          <a:p xmlns:a="http://schemas.openxmlformats.org/drawingml/2006/main">
            <a:r>
              <a:t>      ],</a:t>
            </a:r>
          </a:p>
          <a:p xmlns:a="http://schemas.openxmlformats.org/drawingml/2006/main">
            <a:r>
              <a:t>      "published_or_updated_at": "2026-08-20",</a:t>
            </a:r>
          </a:p>
          <a:p xmlns:a="http://schemas.openxmlformats.org/drawingml/2006/main">
            <a:r>
              <a:t>      "quantitative_result_approved": true</a:t>
            </a:r>
          </a:p>
          <a:p xmlns:a="http://schemas.openxmlformats.org/drawingml/2006/main">
            <a:r>
              <a:t>    },</a:t>
            </a:r>
          </a:p>
          <a:p xmlns:a="http://schemas.openxmlformats.org/drawingml/2006/main">
            <a:r>
              <a:t>    {</a:t>
            </a:r>
          </a:p>
          <a:p xmlns:a="http://schemas.openxmlformats.org/drawingml/2006/main">
            <a:r>
              <a:t>      "title": "한국관광 데이터랩 · 문경찻사발축제 방문자 추이",</a:t>
            </a:r>
          </a:p>
          <a:p xmlns:a="http://schemas.openxmlformats.org/drawingml/2006/main">
            <a:r>
              <a:t>      "summary": "경상북도 문경시 · 문경찻사발축제 · 2024→2025년 전체 245,750→256,570명 (+4.40%). 개최 10→9일, 일평균 +16.00%, 외지인 +9.28%.",</a:t>
            </a:r>
          </a:p>
          <a:p xmlns:a="http://schemas.openxmlformats.org/drawingml/2006/main">
            <a:r>
              <a:t>      "source_id": "case:festival:01474ef75569b1",</a:t>
            </a:r>
          </a:p>
          <a:p xmlns:a="http://schemas.openxmlformats.org/drawingml/2006/main">
            <a:r>
              <a:t>      "source_url": "https://datalab.visitkorea.or.kr/",</a:t>
            </a:r>
          </a:p>
          <a:p xmlns:a="http://schemas.openxmlformats.org/drawingml/2006/main">
            <a:r>
              <a:t>      "case_region": "경상북도 문경시",</a:t>
            </a:r>
          </a:p>
          <a:p xmlns:a="http://schemas.openxmlformats.org/drawingml/2006/main">
            <a:r>
              <a:t>      "source_type": "benchmark_case",</a:t>
            </a:r>
          </a:p>
          <a:p xmlns:a="http://schemas.openxmlformats.org/drawingml/2006/main">
            <a:r>
              <a:t>      "dataset_hash": "ad20e3daf70fd44fd481d672398c07bb9c96fce77acb450784065a568735e2e2",</a:t>
            </a:r>
          </a:p>
          <a:p xmlns:a="http://schemas.openxmlformats.org/drawingml/2006/main">
            <a:r>
              <a:t>      "intervention": "문경찻사발축제",</a:t>
            </a:r>
          </a:p>
          <a:p xmlns:a="http://schemas.openxmlformats.org/drawingml/2006/main">
            <a:r>
              <a:t>      "source_files": [</a:t>
            </a:r>
          </a:p>
          <a:p xmlns:a="http://schemas.openxmlformats.org/drawingml/2006/main">
            <a:r>
              <a:t>        {</a:t>
            </a:r>
          </a:p>
          <a:p xmlns:a="http://schemas.openxmlformats.org/drawingml/2006/main">
            <a:r>
              <a:t>          "sha256": "dfcb5b619f820d7ce4451f5e89294681bc37f49f8200ba859754d423602e51a1",</a:t>
            </a:r>
          </a:p>
          <a:p xmlns:a="http://schemas.openxmlformats.org/drawingml/2006/main">
            <a:r>
              <a:t>          "provider": "한국관광 데이터랩",</a:t>
            </a:r>
          </a:p>
          <a:p xmlns:a="http://schemas.openxmlformats.org/drawingml/2006/main">
            <a:r>
              <a:t>          "file_name": "20260820160334_문경찻사발축제_연도별 방문자 추이.csv",</a:t>
            </a:r>
          </a:p>
          <a:p xmlns:a="http://schemas.openxmlformats.org/drawingml/2006/main">
            <a:r>
              <a:t>          "source_id": "festival-file:dfcb5b619f820d7ce445",</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"44238aecdfa68974febce93cd262e119492da76910929b96da438d8b6ee7a9b3",</a:t>
            </a:r>
          </a:p>
          <a:p xmlns:a="http://schemas.openxmlformats.org/drawingml/2006/main">
            <a:r>
              <a:t>          "provider": "한국관광 데이터랩",</a:t>
            </a:r>
          </a:p>
          <a:p xmlns:a="http://schemas.openxmlformats.org/drawingml/2006/main">
            <a:r>
              <a:t>          "file_name": "20260820160334_문경찻사발축제_성_연령별 내국인 방문자.csv",</a:t>
            </a:r>
          </a:p>
          <a:p xmlns:a="http://schemas.openxmlformats.org/drawingml/2006/main">
            <a:r>
              <a:t>          "source_id": "festival-file:44238aecdfa68974febc",</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"eadf4622620ddb1575df5f358ec588aeed8718c09e0998a19494cf0f3cfe0f16",</a:t>
            </a:r>
          </a:p>
          <a:p xmlns:a="http://schemas.openxmlformats.org/drawingml/2006/main">
            <a:r>
              <a:t>          "provider": "한국관광 데이터랩",</a:t>
            </a:r>
          </a:p>
          <a:p xmlns:a="http://schemas.openxmlformats.org/drawingml/2006/main">
            <a:r>
              <a:t>          "file_name": "20260820160334_문경찻사발축제_문화관광축제 주요 지표.csv",</a:t>
            </a:r>
          </a:p>
          <a:p xmlns:a="http://schemas.openxmlformats.org/drawingml/2006/main">
            <a:r>
              <a:t>          "source_id": "festival-file:eadf4622620ddb1575df",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"343671c431cfa7e76ba333ca2ea221803e111e0db5e9a51c6d387b0ba5d7eeaf",</a:t>
            </a:r>
          </a:p>
          <a:p xmlns:a="http://schemas.openxmlformats.org/drawingml/2006/main">
            <a:r>
              <a:t>          "provider": "한국관광 데이터랩",</a:t>
            </a:r>
          </a:p>
          <a:p xmlns:a="http://schemas.openxmlformats.org/drawingml/2006/main">
            <a:r>
              <a:t>          "file_name": "20260820160334_문경찻사발축제_목적지 검색순위.csv",</a:t>
            </a:r>
          </a:p>
          <a:p xmlns:a="http://schemas.openxmlformats.org/drawingml/2006/main">
            <a:r>
              <a:t>          "source_id": "festival-file:343671c431cfa7e76ba3",</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"document_type": "case_study",</a:t>
            </a:r>
          </a:p>
          <a:p xmlns:a="http://schemas.openxmlformats.org/drawingml/2006/main">
            <a:r>
              <a:t>      "evidence_kind": "festival_statistics",</a:t>
            </a:r>
          </a:p>
          <a:p xmlns:a="http://schemas.openxmlformats.org/drawingml/2006/main">
            <a:r>
              <a:t>      "observed_result": "2024→2025년 전체 245,750→256,570명 (+4.40%). 개최 10→9일, 일평균 +16.00%, 외지인 +9.28%.",</a:t>
            </a:r>
          </a:p>
          <a:p xmlns:a="http://schemas.openxmlformats.org/drawingml/2006/main">
            <a:r>
              <a:t>      "operating_model": "문경찻사발축제를 2025년 9일 개최한 문화관광축제 운영 사례. 세부 프로그램·예약·혜택은 이 CSV에 기록되어 있지 않으며 새로운 운영안은 제안으로 구분한다.",</a:t>
            </a:r>
          </a:p>
          <a:p xmlns:a="http://schemas.openxmlformats.org/drawingml/2006/main">
            <a:r>
              <a:t>      "retrieval_basis": {</a:t>
            </a:r>
          </a:p>
          <a:p xmlns:a="http://schemas.openxmlformats.org/drawingml/2006/main">
            <a:r>
              <a:t>        "kind": "external_benchmark",</a:t>
            </a:r>
          </a:p>
          <a:p xmlns:a="http://schemas.openxmlformats.org/drawingml/2006/main">
            <a:r>
              <a:t>        "rule": "함수 기반 조사 우선순위. 사업효과·인구/환경 유사도 점수가 아니며 소비·체류 개선은 조사 가설이다.",</a:t>
            </a:r>
          </a:p>
          <a:p xmlns:a="http://schemas.openxmlformats.org/drawingml/2006/main">
            <a:r>
              <a:t>        "score": 31,</a:t>
            </a:r>
          </a:p>
          <a:p xmlns:a="http://schemas.openxmlformats.org/drawingml/2006/main">
            <a:r>
              <a:t>        "theme": "역사·공예",</a:t>
            </a:r>
          </a:p>
          <a:p xmlns:a="http://schemas.openxmlformats.org/drawingml/2006/main">
            <a:r>
              <a:t>        "components": {</a:t>
            </a:r>
          </a:p>
          <a:p xmlns:a="http://schemas.openxmlformats.org/drawingml/2006/main">
            <a:r>
              <a:t>          "최근 개최연도": 6,</a:t>
            </a:r>
          </a:p>
          <a:p xmlns:a="http://schemas.openxmlformats.org/drawingml/2006/main">
            <a:r>
              <a:t>          "방문 실적 비교 가능": 10,</a:t>
            </a:r>
          </a:p>
          <a:p xmlns:a="http://schemas.openxmlformats.org/drawingml/2006/main">
            <a:r>
              <a:t>          "방문 전망 조사: 외지인·일평균 동반 증가": 15</a:t>
            </a:r>
          </a:p>
          <a:p xmlns:a="http://schemas.openxmlformats.org/drawingml/2006/main">
            <a:r>
              <a:t>        },</a:t>
            </a:r>
          </a:p>
          <a:p xmlns:a="http://schemas.openxmlformats.org/drawingml/2006/main">
            <a:r>
              <a:t>        "priority_signal": "visit"</a:t>
            </a:r>
          </a:p>
          <a:p xmlns:a="http://schemas.openxmlformats.org/drawingml/2006/main">
            <a:r>
              <a:t>      },</a:t>
            </a:r>
          </a:p>
          <a:p xmlns:a="http://schemas.openxmlformats.org/drawingml/2006/main">
            <a:r>
              <a:t>      "retrieval_method": "datalab_festival_table",</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"2023~2025년 각 축제 개최기간",</a:t>
            </a:r>
          </a:p>
          <a:p xmlns:a="http://schemas.openxmlformats.org/drawingml/2006/main">
            <a:r>
              <a:t>      "festival_statistics": {</a:t>
            </a:r>
          </a:p>
          <a:p xmlns:a="http://schemas.openxmlformats.org/drawingml/2006/main">
            <a:r>
              <a:t>        "name": "문경찻사발축제",</a:t>
            </a:r>
          </a:p>
          <a:p xmlns:a="http://schemas.openxmlformats.org/drawingml/2006/main">
            <a:r>
              <a:t>        "scope": "축제 관측구역 방문 지표. 도시 전체·순증 관광객·입장권 실구매자 수가 아님.",</a:t>
            </a:r>
          </a:p>
          <a:p xmlns:a="http://schemas.openxmlformats.org/drawingml/2006/main">
            <a:r>
              <a:t>        "annual": [</a:t>
            </a:r>
          </a:p>
          <a:p xmlns:a="http://schemas.openxmlformats.org/drawingml/2006/main">
            <a:r>
              <a:t>          {</a:t>
            </a:r>
          </a:p>
          <a:p xmlns:a="http://schemas.openxmlformats.org/drawingml/2006/main">
            <a:r>
              <a:t>            "days": 9,</a:t>
            </a:r>
          </a:p>
          <a:p xmlns:a="http://schemas.openxmlformats.org/drawingml/2006/main">
            <a:r>
              <a:t>            "year": 2023,</a:t>
            </a:r>
          </a:p>
          <a:p xmlns:a="http://schemas.openxmlformats.org/drawingml/2006/main">
            <a:r>
              <a:t>            "daily": 23055.333333333332,</a:t>
            </a:r>
          </a:p>
          <a:p xmlns:a="http://schemas.openxmlformats.org/drawingml/2006/main">
            <a:r>
              <a:t>            "local": 59726,</a:t>
            </a:r>
          </a:p>
          <a:p xmlns:a="http://schemas.openxmlformats.org/drawingml/2006/main">
            <a:r>
              <a:t>            "total": 207498,</a:t>
            </a:r>
          </a:p>
          <a:p xmlns:a="http://schemas.openxmlformats.org/drawingml/2006/main">
            <a:r>
              <a:t>            "foreign": 1241,</a:t>
            </a:r>
          </a:p>
          <a:p xmlns:a="http://schemas.openxmlformats.org/drawingml/2006/main">
            <a:r>
              <a:t>            "outside": 146531,</a:t>
            </a:r>
          </a:p>
          <a:p xmlns:a="http://schemas.openxmlformats.org/drawingml/2006/main">
            <a:r>
              <a:t>            "outside_daily": 16281.222222222224,</a:t>
            </a:r>
          </a:p>
          <a:p xmlns:a="http://schemas.openxmlformats.org/drawingml/2006/main">
            <a:r>
              <a:t>            "outside_share_pct": 70.61803005330172</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2024,</a:t>
            </a:r>
          </a:p>
          <a:p xmlns:a="http://schemas.openxmlformats.org/drawingml/2006/main">
            <a:r>
              <a:t>            "daily": 24575,</a:t>
            </a:r>
          </a:p>
          <a:p xmlns:a="http://schemas.openxmlformats.org/drawingml/2006/main">
            <a:r>
              <a:t>            "local": 64582,</a:t>
            </a:r>
          </a:p>
          <a:p xmlns:a="http://schemas.openxmlformats.org/drawingml/2006/main">
            <a:r>
              <a:t>            "total": 245750,</a:t>
            </a:r>
          </a:p>
          <a:p xmlns:a="http://schemas.openxmlformats.org/drawingml/2006/main">
            <a:r>
              <a:t>            "foreign": 1170,</a:t>
            </a:r>
          </a:p>
          <a:p xmlns:a="http://schemas.openxmlformats.org/drawingml/2006/main">
            <a:r>
              <a:t>            "outside": 179998,</a:t>
            </a:r>
          </a:p>
          <a:p xmlns:a="http://schemas.openxmlformats.org/drawingml/2006/main">
            <a:r>
              <a:t>            "outside_daily": 17999.8,</a:t>
            </a:r>
          </a:p>
          <a:p xmlns:a="http://schemas.openxmlformats.org/drawingml/2006/main">
            <a:r>
              <a:t>            "outside_share_pct": 73.2443540183113</a:t>
            </a:r>
          </a:p>
          <a:p xmlns:a="http://schemas.openxmlformats.org/drawingml/2006/main">
            <a:r>
              <a:t>          },</a:t>
            </a:r>
          </a:p>
          <a:p xmlns:a="http://schemas.openxmlformats.org/drawingml/2006/main">
            <a:r>
              <a:t>          {</a:t>
            </a:r>
          </a:p>
          <a:p xmlns:a="http://schemas.openxmlformats.org/drawingml/2006/main">
            <a:r>
              <a:t>            "days": 9,</a:t>
            </a:r>
          </a:p>
          <a:p xmlns:a="http://schemas.openxmlformats.org/drawingml/2006/main">
            <a:r>
              <a:t>            "year": 2025,</a:t>
            </a:r>
          </a:p>
          <a:p xmlns:a="http://schemas.openxmlformats.org/drawingml/2006/main">
            <a:r>
              <a:t>            "daily": 28507.777777777777,</a:t>
            </a:r>
          </a:p>
          <a:p xmlns:a="http://schemas.openxmlformats.org/drawingml/2006/main">
            <a:r>
              <a:t>            "local": 58704,</a:t>
            </a:r>
          </a:p>
          <a:p xmlns:a="http://schemas.openxmlformats.org/drawingml/2006/main">
            <a:r>
              <a:t>            "total": 256570,</a:t>
            </a:r>
          </a:p>
          <a:p xmlns:a="http://schemas.openxmlformats.org/drawingml/2006/main">
            <a:r>
              <a:t>            "foreign": 1166,</a:t>
            </a:r>
          </a:p>
          <a:p xmlns:a="http://schemas.openxmlformats.org/drawingml/2006/main">
            <a:r>
              <a:t>            "outside": 196700,</a:t>
            </a:r>
          </a:p>
          <a:p xmlns:a="http://schemas.openxmlformats.org/drawingml/2006/main">
            <a:r>
              <a:t>            "outside_daily": 21855.555555555555,</a:t>
            </a:r>
          </a:p>
          <a:p xmlns:a="http://schemas.openxmlformats.org/drawingml/2006/main">
            <a:r>
              <a:t>            "outside_share_pct": 76.66523755700199</a:t>
            </a:r>
          </a:p>
          <a:p xmlns:a="http://schemas.openxmlformats.org/drawingml/2006/main">
            <a:r>
              <a:t>          }</a:t>
            </a:r>
          </a:p>
          <a:p xmlns:a="http://schemas.openxmlformats.org/drawingml/2006/main">
            <a:r>
              <a:t>        ],</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"문경찻사발축제",</a:t>
            </a:r>
          </a:p>
          <a:p xmlns:a="http://schemas.openxmlformats.org/drawingml/2006/main">
            <a:r>
              <a:t>            "남성비율": "4.0",</a:t>
            </a:r>
          </a:p>
          <a:p xmlns:a="http://schemas.openxmlformats.org/drawingml/2006/main">
            <a:r>
              <a:t>            "여성비율": "3.8"</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"문경찻사발축제",</a:t>
            </a:r>
          </a:p>
          <a:p xmlns:a="http://schemas.openxmlformats.org/drawingml/2006/main">
            <a:r>
              <a:t>            "남성비율": "12.3",</a:t>
            </a:r>
          </a:p>
          <a:p xmlns:a="http://schemas.openxmlformats.org/drawingml/2006/main">
            <a:r>
              <a:t>            "여성비율": "10.0"</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"문경찻사발축제",</a:t>
            </a:r>
          </a:p>
          <a:p xmlns:a="http://schemas.openxmlformats.org/drawingml/2006/main">
            <a:r>
              <a:t>            "남성비율": "13.0",</a:t>
            </a:r>
          </a:p>
          <a:p xmlns:a="http://schemas.openxmlformats.org/drawingml/2006/main">
            <a:r>
              <a:t>            "여성비율": "11.7"</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"문경찻사발축제",</a:t>
            </a:r>
          </a:p>
          <a:p xmlns:a="http://schemas.openxmlformats.org/drawingml/2006/main">
            <a:r>
              <a:t>            "남성비율": "9.3",</a:t>
            </a:r>
          </a:p>
          <a:p xmlns:a="http://schemas.openxmlformats.org/drawingml/2006/main">
            <a:r>
              <a:t>            "여성비율": "7.6"</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"문경찻사발축제",</a:t>
            </a:r>
          </a:p>
          <a:p xmlns:a="http://schemas.openxmlformats.org/drawingml/2006/main">
            <a:r>
              <a:t>            "남성비율": "7.2",</a:t>
            </a:r>
          </a:p>
          <a:p xmlns:a="http://schemas.openxmlformats.org/drawingml/2006/main">
            <a:r>
              <a:t>            "여성비율": "6.1"</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"문경찻사발축제",</a:t>
            </a:r>
          </a:p>
          <a:p xmlns:a="http://schemas.openxmlformats.org/drawingml/2006/main">
            <a:r>
              <a:t>            "남성비율": "4.6",</a:t>
            </a:r>
          </a:p>
          <a:p xmlns:a="http://schemas.openxmlformats.org/drawingml/2006/main">
            <a:r>
              <a:t>            "여성비율": "4.1"</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"문경찻사발축제",</a:t>
            </a:r>
          </a:p>
          <a:p xmlns:a="http://schemas.openxmlformats.org/drawingml/2006/main">
            <a:r>
              <a:t>            "남성비율": "2.5",</a:t>
            </a:r>
          </a:p>
          <a:p xmlns:a="http://schemas.openxmlformats.org/drawingml/2006/main">
            <a:r>
              <a:t>            "여성비율": "2.5"</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"문경찻사발축제",</a:t>
            </a:r>
          </a:p>
          <a:p xmlns:a="http://schemas.openxmlformats.org/drawingml/2006/main">
            <a:r>
              <a:t>            "남성비율": "0.6",</a:t>
            </a:r>
          </a:p>
          <a:p xmlns:a="http://schemas.openxmlformats.org/drawingml/2006/main">
            <a:r>
              <a:t>            "여성비율": "0.6"</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28507.777777777777,</a:t>
            </a:r>
          </a:p>
          <a:p xmlns:a="http://schemas.openxmlformats.org/drawingml/2006/main">
            <a:r>
              <a:t>            "before": 24575,</a:t>
            </a:r>
          </a:p>
          <a:p xmlns:a="http://schemas.openxmlformats.org/drawingml/2006/main">
            <a:r>
              <a:t>            "change_pct": 16.00316491466034,</a:t>
            </a:r>
          </a:p>
          <a:p xmlns:a="http://schemas.openxmlformats.org/drawingml/2006/main">
            <a:r>
              <a:t>            "difference": 3932.7777777777774</a:t>
            </a:r>
          </a:p>
          <a:p xmlns:a="http://schemas.openxmlformats.org/drawingml/2006/main">
            <a:r>
              <a:t>          },</a:t>
            </a:r>
          </a:p>
          <a:p xmlns:a="http://schemas.openxmlformats.org/drawingml/2006/main">
            <a:r>
              <a:t>          "total": {</a:t>
            </a:r>
          </a:p>
          <a:p xmlns:a="http://schemas.openxmlformats.org/drawingml/2006/main">
            <a:r>
              <a:t>            "after": 256570,</a:t>
            </a:r>
          </a:p>
          <a:p xmlns:a="http://schemas.openxmlformats.org/drawingml/2006/main">
            <a:r>
              <a:t>            "before": 245750,</a:t>
            </a:r>
          </a:p>
          <a:p xmlns:a="http://schemas.openxmlformats.org/drawingml/2006/main">
            <a:r>
              <a:t>            "change_pct": 4.402848423194294,</a:t>
            </a:r>
          </a:p>
          <a:p xmlns:a="http://schemas.openxmlformats.org/drawingml/2006/main">
            <a:r>
              <a:t>            "difference": 10820</a:t>
            </a:r>
          </a:p>
          <a:p xmlns:a="http://schemas.openxmlformats.org/drawingml/2006/main">
            <a:r>
              <a:t>          },</a:t>
            </a:r>
          </a:p>
          <a:p xmlns:a="http://schemas.openxmlformats.org/drawingml/2006/main">
            <a:r>
              <a:t>          "outside": {</a:t>
            </a:r>
          </a:p>
          <a:p xmlns:a="http://schemas.openxmlformats.org/drawingml/2006/main">
            <a:r>
              <a:t>            "after": 196700,</a:t>
            </a:r>
          </a:p>
          <a:p xmlns:a="http://schemas.openxmlformats.org/drawingml/2006/main">
            <a:r>
              <a:t>            "before": 179998,</a:t>
            </a:r>
          </a:p>
          <a:p xmlns:a="http://schemas.openxmlformats.org/drawingml/2006/main">
            <a:r>
              <a:t>            "change_pct": 9.278991988799866,</a:t>
            </a:r>
          </a:p>
          <a:p xmlns:a="http://schemas.openxmlformats.org/drawingml/2006/main">
            <a:r>
              <a:t>            "difference": 16702</a:t>
            </a:r>
          </a:p>
          <a:p xmlns:a="http://schemas.openxmlformats.org/drawingml/2006/main">
            <a:r>
              <a:t>          },</a:t>
            </a:r>
          </a:p>
          <a:p xmlns:a="http://schemas.openxmlformats.org/drawingml/2006/main">
            <a:r>
              <a:t>          "after_days": 9,</a:t>
            </a:r>
          </a:p>
          <a:p xmlns:a="http://schemas.openxmlformats.org/drawingml/2006/main">
            <a:r>
              <a:t>          "after_year": 2025,</a:t>
            </a:r>
          </a:p>
          <a:p xmlns:a="http://schemas.openxmlformats.org/drawingml/2006/main">
            <a:r>
              <a:t>          "before_days": 10,</a:t>
            </a:r>
          </a:p>
          <a:p xmlns:a="http://schemas.openxmlformats.org/drawingml/2006/main">
            <a:r>
              <a:t>          "before_year": 2024,</a:t>
            </a:r>
          </a:p>
          <a:p xmlns:a="http://schemas.openxmlformats.org/drawingml/2006/main">
            <a:r>
              <a:t>          "outside_daily": {</a:t>
            </a:r>
          </a:p>
          <a:p xmlns:a="http://schemas.openxmlformats.org/drawingml/2006/main">
            <a:r>
              <a:t>            "after": 21855.555555555555,</a:t>
            </a:r>
          </a:p>
          <a:p xmlns:a="http://schemas.openxmlformats.org/drawingml/2006/main">
            <a:r>
              <a:t>            "before": 17999.8,</a:t>
            </a:r>
          </a:p>
          <a:p xmlns:a="http://schemas.openxmlformats.org/drawingml/2006/main">
            <a:r>
              <a:t>            "change_pct": 21.421102209777644,</a:t>
            </a:r>
          </a:p>
          <a:p xmlns:a="http://schemas.openxmlformats.org/drawingml/2006/main">
            <a:r>
              <a:t>            "difference": 3855.755555555555</a:t>
            </a:r>
          </a:p>
          <a:p xmlns:a="http://schemas.openxmlformats.org/drawingml/2006/main">
            <a:r>
              <a:t>          }</a:t>
            </a:r>
          </a:p>
          <a:p xmlns:a="http://schemas.openxmlformats.org/drawingml/2006/main">
            <a:r>
              <a:t>        },</a:t>
            </a:r>
          </a:p>
          <a:p xmlns:a="http://schemas.openxmlformats.org/drawingml/2006/main">
            <a:r>
              <a:t>        "source_file": {</a:t>
            </a:r>
          </a:p>
          <a:p xmlns:a="http://schemas.openxmlformats.org/drawingml/2006/main">
            <a:r>
              <a:t>          "sha256": "dfcb5b619f820d7ce4451f5e89294681bc37f49f8200ba859754d423602e51a1",</a:t>
            </a:r>
          </a:p>
          <a:p xmlns:a="http://schemas.openxmlformats.org/drawingml/2006/main">
            <a:r>
              <a:t>          "provider": "한국관광 데이터랩",</a:t>
            </a:r>
          </a:p>
          <a:p xmlns:a="http://schemas.openxmlformats.org/drawingml/2006/main">
            <a:r>
              <a:t>          "file_name": "20260820160334_문경찻사발축제_연도별 방문자 추이.csv",</a:t>
            </a:r>
          </a:p>
          <a:p xmlns:a="http://schemas.openxmlformats.org/drawingml/2006/main">
            <a:r>
              <a:t>          "source_id": "festival-file:dfcb5b619f820d7ce445",</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"region_basis": "목적지 검색 CSV의 시도+시군구 최빈 주소; 행사장 행정경계 확정은 아님",</a:t>
            </a:r>
          </a:p>
          <a:p xmlns:a="http://schemas.openxmlformats.org/drawingml/2006/main">
            <a:r>
              <a:t>        "indicator_rule": "원본 지표값만 보존. 산식·단위 미확인으로 성장률/원화/정원/참여율 변환 금지.",</a:t>
            </a:r>
          </a:p>
          <a:p xmlns:a="http://schemas.openxmlformats.org/drawingml/2006/main">
            <a:r>
              <a:t>        "audience_period": "다운로드 CSV에 연도 열 없음; 최신 개최연도와 자동 결합하지 않음",</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"0.414",</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"0.273",</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"0.536",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"0.716",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"0.217",</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"0.725",</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"0.148",</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"0.381",</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"0.607",</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"문경새재",</a:t>
            </a:r>
          </a:p>
          <a:p xmlns:a="http://schemas.openxmlformats.org/drawingml/2006/main">
            <a:r>
              <a:t>            "카테고리": "역사유적지",</a:t>
            </a:r>
          </a:p>
          <a:p xmlns:a="http://schemas.openxmlformats.org/drawingml/2006/main">
            <a:r>
              <a:t>            "도로명주소": "경북 문경시 새재로 932-0"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"문경종합온천",</a:t>
            </a:r>
          </a:p>
          <a:p xmlns:a="http://schemas.openxmlformats.org/drawingml/2006/main">
            <a:r>
              <a:t>            "카테고리": "웰니스관광",</a:t>
            </a:r>
          </a:p>
          <a:p xmlns:a="http://schemas.openxmlformats.org/drawingml/2006/main">
            <a:r>
              <a:t>            "도로명주소": "경북 문경시 온천2길 24-0"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"문경찻사발축제",</a:t>
            </a:r>
          </a:p>
          <a:p xmlns:a="http://schemas.openxmlformats.org/drawingml/2006/main">
            <a:r>
              <a:t>            "카테고리": "기타문화관광지",</a:t>
            </a:r>
          </a:p>
          <a:p xmlns:a="http://schemas.openxmlformats.org/drawingml/2006/main">
            <a:r>
              <a:t>            "도로명주소": "경북 문경시 새재로 933-0"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"transfer_conditions": [</a:t>
            </a:r>
          </a:p>
          <a:p xmlns:a="http://schemas.openxmlformats.org/drawingml/2006/main">
            <a:r>
              <a:t>        "지역 지표와 자원에 맞춰 행사 콘텐츠·운영일·참여처를 새로 설계한다.",</a:t>
            </a:r>
          </a:p>
          <a:p xmlns:a="http://schemas.openxmlformats.org/drawingml/2006/main">
            <a:r>
              <a:t>        "개최 일수는 사례 실적이며 우리 지역의 월 운영일·회차·정원으로 복사하지 않는다."</a:t>
            </a:r>
          </a:p>
          <a:p xmlns:a="http://schemas.openxmlformats.org/drawingml/2006/main">
            <a:r>
              <a:t>      ],</a:t>
            </a:r>
          </a:p>
          <a:p xmlns:a="http://schemas.openxmlformats.org/drawingml/2006/main">
            <a:r>
              <a:t>      "operating_statistics": [],</a:t>
            </a:r>
          </a:p>
          <a:p xmlns:a="http://schemas.openxmlformats.org/drawingml/2006/main">
            <a:r>
              <a:t>      "published_or_updated_at": "2026-08-20",</a:t>
            </a:r>
          </a:p>
          <a:p xmlns:a="http://schemas.openxmlformats.org/drawingml/2006/main">
            <a:r>
              <a:t>      "quantitative_result_approved": true</a:t>
            </a:r>
          </a:p>
          <a:p xmlns:a="http://schemas.openxmlformats.org/drawingml/2006/main">
            <a:r>
              <a:t>    },</a:t>
            </a:r>
          </a:p>
          <a:p xmlns:a="http://schemas.openxmlformats.org/drawingml/2006/main">
            <a:r>
              <a:t>    {</a:t>
            </a:r>
          </a:p>
          <a:p xmlns:a="http://schemas.openxmlformats.org/drawingml/2006/main">
            <a:r>
              <a:t>      "title": "2025년 문화예술 축제 통합 지원사업 종합결과보고서",</a:t>
            </a:r>
          </a:p>
          <a:p xmlns:a="http://schemas.openxmlformats.org/drawingml/2006/main">
            <a:r>
              <a:t>      "summary": "서울특별시 · 2025 문화예술 축제 통합 지원사업: 기존 공공·민간 축제의 재정지원·현장평가·관람객 조사 ·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xmlns:a="http://schemas.openxmlformats.org/drawingml/2006/main">
            <a:r>
              <a:t>      "source_id": "case:28ff66d9b44637",</a:t>
            </a:r>
          </a:p>
          <a:p xmlns:a="http://schemas.openxmlformats.org/drawingml/2006/main">
            <a:r>
              <a:t>      "source_url": "https://culture.seoul.go.kr/culture/cmmn/file/fileDown.do?atchFileId=bb34395b25504c66a77ef69999cacb1c&amp;bbsId=B0000006&amp;fileSn=1",</a:t>
            </a:r>
          </a:p>
          <a:p xmlns:a="http://schemas.openxmlformats.org/drawingml/2006/main">
            <a:r>
              <a:t>      "case_region": "서울특별시",</a:t>
            </a:r>
          </a:p>
          <a:p xmlns:a="http://schemas.openxmlformats.org/drawingml/2006/main">
            <a:r>
              <a:t>      "source_type": "benchmark_case",</a:t>
            </a:r>
          </a:p>
          <a:p xmlns:a="http://schemas.openxmlformats.org/drawingml/2006/main">
            <a:r>
              <a:t>      "intervention": "2025 문화예술 축제 통합 지원사업: 기존 공공·민간 축제의 재정지원·현장평가·관람객 조사",</a:t>
            </a:r>
          </a:p>
          <a:p xmlns:a="http://schemas.openxmlformats.org/drawingml/2006/main">
            <a:r>
              <a:t>      "document_type": null,</a:t>
            </a:r>
          </a:p>
          <a:p xmlns:a="http://schemas.openxmlformats.org/drawingml/2006/main">
            <a:r>
              <a:t>      "observed_result":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xmlns:a="http://schemas.openxmlformats.org/drawingml/2006/main">
            <a:r>
              <a:t>      "operating_model": "자치구 축제, 민간 축제, 지역대표공연예술제, 국악 민간행사를 묶어 지원하고 계획 실행도, 현장 운영, 접근성, 안전, 홍보, 만족도를 공통 체계로 평가했다. 2025년 평가 대상은 263개 축제였고 1,731개 프로그램을 4,993회 운영했다. ([culture.seoul.go.kr](https://culture.seoul.go.kr/culture/cmmn/file/fileDown.do?atchFileId=bb34395b25504c66a77ef69999cacb1c&amp;bbsId=B0000006&amp;fileSn=1))",</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"2025년 평가 대상 축제 개최기간과 종료 후 종합평가",</a:t>
            </a:r>
          </a:p>
          <a:p xmlns:a="http://schemas.openxmlformats.org/drawingml/2006/main">
            <a:r>
              <a:t>      "transfer_conditions": [</a:t>
            </a:r>
          </a:p>
          <a:p xmlns:a="http://schemas.openxmlformats.org/drawingml/2006/main">
            <a:r>
              <a:t>        "대전 서구에서는 신규 대형축제보다 기존 시설·민간행사·상권 프로그램을 묶고 공통 예약·결제 기록을 적용하는 요소만 축소 도입한다.",</a:t>
            </a:r>
          </a:p>
          <a:p xmlns:a="http://schemas.openxmlformats.org/drawingml/2006/main">
            <a:r>
              <a:t>        "관광형, 지역상권형, 주민문화형의 목적과 지표를 분리해야 한다.",</a:t>
            </a:r>
          </a:p>
          <a:p xmlns:a="http://schemas.openxmlformats.org/drawingml/2006/main">
            <a:r>
              <a:t>        "10~11월 행사 집중도를 확인하고 동일 날짜 경쟁을 피하는 회차·시간대 배치가 필요하다.",</a:t>
            </a:r>
          </a:p>
          <a:p xmlns:a="http://schemas.openxmlformats.org/drawingml/2006/main">
            <a:r>
              <a:t>        "축제별 방문자 중 외지인, 사전예약자, 상권 결제자, 재방문자를 별도로 측정해야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"festival",</a:t>
            </a:r>
          </a:p>
          <a:p xmlns:a="http://schemas.openxmlformats.org/drawingml/2006/main">
            <a:r>
              <a:t>          "quote": "평가 대상 축제는 총 263개",</a:t>
            </a:r>
          </a:p>
          <a:p xmlns:a="http://schemas.openxmlformats.org/drawingml/2006/main">
            <a:r>
              <a:t>          "scope": "서울시·서울문화재단 재정지원 축제 중 평가 대상",</a:t>
            </a:r>
          </a:p>
          <a:p xmlns:a="http://schemas.openxmlformats.org/drawingml/2006/main">
            <a:r>
              <a:t>          "value": 263,</a:t>
            </a:r>
          </a:p>
          <a:p xmlns:a="http://schemas.openxmlformats.org/drawingml/2006/main">
            <a:r>
              <a:t>          "metric": "sites",</a:t>
            </a:r>
          </a:p>
          <a:p xmlns:a="http://schemas.openxmlformats.org/drawingml/2006/main">
            <a:r>
              <a:t>          "period": "2025-04 ~ 2025-12",</a:t>
            </a:r>
          </a:p>
          <a:p xmlns:a="http://schemas.openxmlformats.org/drawingml/2006/main">
            <a:r>
              <a:t>          "program_name": "2025 문화예술 축제 통합 지원사업",</a:t>
            </a:r>
          </a:p>
          <a:p xmlns:a="http://schemas.openxmlformats.org/drawingml/2006/main">
            <a:r>
              <a:t>          "capacity_count": null,</a:t>
            </a:r>
          </a:p>
          <a:p xmlns:a="http://schemas.openxmlformats.org/drawingml/2006/main">
            <a:r>
              <a:t>          "participant_count": null</a:t>
            </a:r>
          </a:p>
          <a:p xmlns:a="http://schemas.openxmlformats.org/drawingml/2006/main">
            <a:r>
              <a:t>        },</a:t>
            </a:r>
          </a:p>
          <a:p xmlns:a="http://schemas.openxmlformats.org/drawingml/2006/main">
            <a:r>
              <a:t>        {</a:t>
            </a:r>
          </a:p>
          <a:p xmlns:a="http://schemas.openxmlformats.org/drawingml/2006/main">
            <a:r>
              <a:t>          "unit": "person_visit",</a:t>
            </a:r>
          </a:p>
          <a:p xmlns:a="http://schemas.openxmlformats.org/drawingml/2006/main">
            <a:r>
              <a:t>          "quote": "총 8,880,289명의 관람객이 방문",</a:t>
            </a:r>
          </a:p>
          <a:p xmlns:a="http://schemas.openxmlformats.org/drawingml/2006/main">
            <a:r>
              <a:t>          "scope": "평가 대상 축제 실적집계표의 관람객 합계; 중복 방문 가능",</a:t>
            </a:r>
          </a:p>
          <a:p xmlns:a="http://schemas.openxmlformats.org/drawingml/2006/main">
            <a:r>
              <a:t>          "value": 8880289,</a:t>
            </a:r>
          </a:p>
          <a:p xmlns:a="http://schemas.openxmlformats.org/drawingml/2006/main">
            <a:r>
              <a:t>          "metric": "participants",</a:t>
            </a:r>
          </a:p>
          <a:p xmlns:a="http://schemas.openxmlformats.org/drawingml/2006/main">
            <a:r>
              <a:t>          "period": "2025-04 ~ 2025-12",</a:t>
            </a:r>
          </a:p>
          <a:p xmlns:a="http://schemas.openxmlformats.org/drawingml/2006/main">
            <a:r>
              <a:t>          "program_name": "2025 문화예술 축제 통합 지원사업",</a:t>
            </a:r>
          </a:p>
          <a:p xmlns:a="http://schemas.openxmlformats.org/drawingml/2006/main">
            <a:r>
              <a:t>          "capacity_count": null,</a:t>
            </a:r>
          </a:p>
          <a:p xmlns:a="http://schemas.openxmlformats.org/drawingml/2006/main">
            <a:r>
              <a:t>          "participant_count": 8880289</a:t>
            </a:r>
          </a:p>
          <a:p xmlns:a="http://schemas.openxmlformats.org/drawingml/2006/main">
            <a:r>
              <a:t>        }</a:t>
            </a:r>
          </a:p>
          <a:p xmlns:a="http://schemas.openxmlformats.org/drawingml/2006/main">
            <a:r>
              <a:t>      ],</a:t>
            </a:r>
          </a:p>
          <a:p xmlns:a="http://schemas.openxmlformats.org/drawingml/2006/main">
            <a:r>
              <a:t>      "published_or_updated_at": "2026",</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"귀촌 '원조 반값'은 다르다… 강진서 전국 확산 '체류 관광 도시'",</a:t>
            </a:r>
          </a:p>
          <a:p xmlns:a="http://schemas.openxmlformats.org/drawingml/2006/main">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xmlns:a="http://schemas.openxmlformats.org/drawingml/2006/main">
            <a:r>
              <a:t>      "source_id": "case:58c0694a3e85d8",</a:t>
            </a:r>
          </a:p>
          <a:p xmlns:a="http://schemas.openxmlformats.org/drawingml/2006/main">
            <a:r>
              <a:t>      "source_url": "https://jnfarm.jeonnam.go.kr/board/FARM_BOARD_008/boardView.do?bdId=BD_00000000000015383&amp;menuCd=farm004002",</a:t>
            </a:r>
          </a:p>
          <a:p xmlns:a="http://schemas.openxmlformats.org/drawingml/2006/main">
            <a:r>
              <a:t>      "case_region": "전라남도 강진군",</a:t>
            </a:r>
          </a:p>
          <a:p xmlns:a="http://schemas.openxmlformats.org/drawingml/2006/main">
            <a:r>
              <a:t>      "source_type": "benchmark_case",</a:t>
            </a:r>
          </a:p>
          <a:p xmlns:a="http://schemas.openxmlformats.org/drawingml/2006/main">
            <a:r>
              <a:t>      "intervention": "강진 반값여행: 여행 지출 증빙 후 모바일 지역상품권 환급",</a:t>
            </a:r>
          </a:p>
          <a:p xmlns:a="http://schemas.openxmlformats.org/drawingml/2006/main">
            <a:r>
              <a:t>      "document_type": null,</a:t>
            </a:r>
          </a:p>
          <a:p xmlns:a="http://schemas.openxmlformats.org/drawingml/2006/main">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xmlns:a="http://schemas.openxmlformats.org/drawingml/2006/main">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"2026년 사업 개시 후 2026-05-19까지 누적 집행·방문·결제 실적",</a:t>
            </a:r>
          </a:p>
          <a:p xmlns:a="http://schemas.openxmlformats.org/drawingml/2006/main">
            <a:r>
              <a:t>      "transfer_conditions": [</a:t>
            </a:r>
          </a:p>
          <a:p xmlns:a="http://schemas.openxmlformats.org/drawingml/2006/main">
            <a:r>
              <a:t>        "대전 서구 내 환급 대상 업종, 가맹점, 증빙 가능 결제수단을 사전에 확정해야 한다.",</a:t>
            </a:r>
          </a:p>
          <a:p xmlns:a="http://schemas.openxmlformats.org/drawingml/2006/main">
            <a:r>
              <a:t>        "모바일 지역화폐 발급·정산기관, 부정수급 점검, 중복수혜 방지 절차가 필요하다.",</a:t>
            </a:r>
          </a:p>
          <a:p xmlns:a="http://schemas.openxmlformats.org/drawingml/2006/main">
            <a:r>
              <a:t>        "예산 미정 상태에서는 전면 환급이 아니라 특정 기간·업종·인원에 한정한 실증으로 축소해야 한다.",</a:t>
            </a:r>
          </a:p>
          <a:p xmlns:a="http://schemas.openxmlformats.org/drawingml/2006/main">
            <a:r>
              <a:t>        "기존 방문객 보조와 추가 방문을 구분하려면 방문 동기, 미지원 비교군, 환급 전후 추가 결제를 조사해야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"team",</a:t>
            </a:r>
          </a:p>
          <a:p xmlns:a="http://schemas.openxmlformats.org/drawingml/2006/main">
            <a:r>
              <a:t>          "quote": "1만6292팀이 실제 강진을 찾았다.",</a:t>
            </a:r>
          </a:p>
          <a:p xmlns:a="http://schemas.openxmlformats.org/drawingml/2006/main">
            <a:r>
              <a:t>          "scope": "사전신청자 중 실제 강진 방문 확인 팀",</a:t>
            </a:r>
          </a:p>
          <a:p xmlns:a="http://schemas.openxmlformats.org/drawingml/2006/main">
            <a:r>
              <a:t>          "value": 16292,</a:t>
            </a:r>
          </a:p>
          <a:p xmlns:a="http://schemas.openxmlformats.org/drawingml/2006/main">
            <a:r>
              <a:t>          "metric": "participants",</a:t>
            </a:r>
          </a:p>
          <a:p xmlns:a="http://schemas.openxmlformats.org/drawingml/2006/main">
            <a:r>
              <a:t>          "period": "2026-05-19 누적",</a:t>
            </a:r>
          </a:p>
          <a:p xmlns:a="http://schemas.openxmlformats.org/drawingml/2006/main">
            <a:r>
              <a:t>          "program_name": "강진 반값여행",</a:t>
            </a:r>
          </a:p>
          <a:p xmlns:a="http://schemas.openxmlformats.org/drawingml/2006/main">
            <a:r>
              <a:t>          "capacity_count": null,</a:t>
            </a:r>
          </a:p>
          <a:p xmlns:a="http://schemas.openxmlformats.org/drawingml/2006/main">
            <a:r>
              <a:t>          "participant_count": 16292</a:t>
            </a:r>
          </a:p>
          <a:p xmlns:a="http://schemas.openxmlformats.org/drawingml/2006/main">
            <a:r>
              <a:t>        },</a:t>
            </a:r>
          </a:p>
          <a:p xmlns:a="http://schemas.openxmlformats.org/drawingml/2006/main">
            <a:r>
              <a:t>        {</a:t>
            </a:r>
          </a:p>
          <a:p xmlns:a="http://schemas.openxmlformats.org/drawingml/2006/main">
            <a:r>
              <a:t>          "unit": "KRW",</a:t>
            </a:r>
          </a:p>
          <a:p xmlns:a="http://schemas.openxmlformats.org/drawingml/2006/main">
            <a:r>
              <a:t>          "quote": "지역 내 소비액은 총 49억7000만원",</a:t>
            </a:r>
          </a:p>
          <a:p xmlns:a="http://schemas.openxmlformats.org/drawingml/2006/main">
            <a:r>
              <a:t>          "scope": "사업 등록 관광객의 강진 지역 내 소비액",</a:t>
            </a:r>
          </a:p>
          <a:p xmlns:a="http://schemas.openxmlformats.org/drawingml/2006/main">
            <a:r>
              <a:t>          "value": 4970000000,</a:t>
            </a:r>
          </a:p>
          <a:p xmlns:a="http://schemas.openxmlformats.org/drawingml/2006/main">
            <a:r>
              <a:t>          "metric": "participant_spending",</a:t>
            </a:r>
          </a:p>
          <a:p xmlns:a="http://schemas.openxmlformats.org/drawingml/2006/main">
            <a:r>
              <a:t>          "period": "2026-05-19 누적",</a:t>
            </a:r>
          </a:p>
          <a:p xmlns:a="http://schemas.openxmlformats.org/drawingml/2006/main">
            <a:r>
              <a:t>          "program_name": "강진 반값여행",</a:t>
            </a:r>
          </a:p>
          <a:p xmlns:a="http://schemas.openxmlformats.org/drawingml/2006/main">
            <a:r>
              <a:t>          "capacity_count": null,</a:t>
            </a:r>
          </a:p>
          <a:p xmlns:a="http://schemas.openxmlformats.org/drawingml/2006/main">
            <a:r>
              <a:t>          "participant_count": 16292</a:t>
            </a:r>
          </a:p>
          <a:p xmlns:a="http://schemas.openxmlformats.org/drawingml/2006/main">
            <a:r>
              <a:t>        }</a:t>
            </a:r>
          </a:p>
          <a:p xmlns:a="http://schemas.openxmlformats.org/drawingml/2006/main">
            <a:r>
              <a:t>      ],</a:t>
            </a:r>
          </a:p>
          <a:p xmlns:a="http://schemas.openxmlformats.org/drawingml/2006/main">
            <a:r>
              <a:t>      "published_or_updated_at": "2026-05-29",</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xmlns:a="http://schemas.openxmlformats.org/drawingml/2006/main">
            <a:r>
              <a:t>      "source_id": "case:4544b7bca8ebab",</a:t>
            </a:r>
          </a:p>
          <a:p xmlns:a="http://schemas.openxmlformats.org/drawingml/2006/main">
            <a:r>
              <a:t>      "source_url": "https://datalab.visitkorea.or.kr/site/portal/ex/bbs/View.do?bcIdx=311068&amp;cbIdx=1135&amp;pageIndex=1",</a:t>
            </a:r>
          </a:p>
          <a:p xmlns:a="http://schemas.openxmlformats.org/drawingml/2006/main">
            <a:r>
              <a:t>      "case_region": "청주공항과 충청권 주요 관광지 연계 권역",</a:t>
            </a:r>
          </a:p>
          <a:p xmlns:a="http://schemas.openxmlformats.org/drawingml/2006/main">
            <a:r>
              <a:t>      "source_type": "benchmark_case",</a:t>
            </a:r>
          </a:p>
          <a:p xmlns:a="http://schemas.openxmlformats.org/drawingml/2006/main">
            <a:r>
              <a:t>      "intervention": "청주공항·오송역·공주·부여 연계 광역 순환버스 및 수요응답형교통(DRT)",</a:t>
            </a:r>
          </a:p>
          <a:p xmlns:a="http://schemas.openxmlformats.org/drawingml/2006/main">
            <a:r>
              <a:t>      "document_type": null,</a:t>
            </a:r>
          </a:p>
          <a:p xmlns:a="http://schemas.openxmlformats.org/drawingml/2006/main">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xmlns:a="http://schemas.openxmlformats.org/drawingml/2006/main">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"2026-01 ~ 2026-06",</a:t>
            </a:r>
          </a:p>
          <a:p xmlns:a="http://schemas.openxmlformats.org/drawingml/2006/main">
            <a:r>
              <a:t>      "transfer_conditions": [</a:t>
            </a:r>
          </a:p>
          <a:p xmlns:a="http://schemas.openxmlformats.org/drawingml/2006/main">
            <a:r>
              <a:t>        "대전역·복합터미널·청주공항 등 실제 유입 거점과 서구 내 목적지 사이의 이동 수요를 먼저 확인해야 한다.",</a:t>
            </a:r>
          </a:p>
          <a:p xmlns:a="http://schemas.openxmlformats.org/drawingml/2006/main">
            <a:r>
              <a:t>        "고정 노선은 일정 수요가 확인될 때 적용하고, 초기에는 예약형 셔틀·택시·기존 대중교통 이용권 방식도 비교해야 한다.",</a:t>
            </a:r>
          </a:p>
          <a:p xmlns:a="http://schemas.openxmlformats.org/drawingml/2006/main">
            <a:r>
              <a:t>        "운송사업자, 시설 운영자, 예약 플랫폼 간 운행시간·취소·노쇼·안전 책임 협약이 필요하다.",</a:t>
            </a:r>
          </a:p>
          <a:p xmlns:a="http://schemas.openxmlformats.org/drawingml/2006/main">
            <a:r>
              <a:t>        "대전 서구 단독보다 인접 자치구나 청주공항 연계 권역상품으로 운영할 경우 비용·성과의 행정구역별 배분 기준이 필요하다."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"person",</a:t>
            </a:r>
          </a:p>
          <a:p xmlns:a="http://schemas.openxmlformats.org/drawingml/2006/main">
            <a:r>
              <a:t>          "quote": "순환버스와 DRT 이용객은 총 7,470명",</a:t>
            </a:r>
          </a:p>
          <a:p xmlns:a="http://schemas.openxmlformats.org/drawingml/2006/main">
            <a:r>
              <a:t>          "scope": "청주공항·충청권 광역 순환버스와 DRT 실제 이용객 합계",</a:t>
            </a:r>
          </a:p>
          <a:p xmlns:a="http://schemas.openxmlformats.org/drawingml/2006/main">
            <a:r>
              <a:t>          "value": 7470,</a:t>
            </a:r>
          </a:p>
          <a:p xmlns:a="http://schemas.openxmlformats.org/drawingml/2006/main">
            <a:r>
              <a:t>          "metric": "participants",</a:t>
            </a:r>
          </a:p>
          <a:p xmlns:a="http://schemas.openxmlformats.org/drawingml/2006/main">
            <a:r>
              <a:t>          "period": "2026년 상반기",</a:t>
            </a:r>
          </a:p>
          <a:p xmlns:a="http://schemas.openxmlformats.org/drawingml/2006/main">
            <a:r>
              <a:t>          "program_name": "청주공항 연계 광역 순환버스·DRT",</a:t>
            </a:r>
          </a:p>
          <a:p xmlns:a="http://schemas.openxmlformats.org/drawingml/2006/main">
            <a:r>
              <a:t>          "capacity_count": null,</a:t>
            </a:r>
          </a:p>
          <a:p xmlns:a="http://schemas.openxmlformats.org/drawingml/2006/main">
            <a:r>
              <a:t>          "participant_count": 7470</a:t>
            </a:r>
          </a:p>
          <a:p xmlns:a="http://schemas.openxmlformats.org/drawingml/2006/main">
            <a:r>
              <a:t>        }</a:t>
            </a:r>
          </a:p>
          <a:p xmlns:a="http://schemas.openxmlformats.org/drawingml/2006/main">
            <a:r>
              <a:t>      ],</a:t>
            </a:r>
          </a:p>
          <a:p xmlns:a="http://schemas.openxmlformats.org/drawingml/2006/main">
            <a:r>
              <a:t>      "published_or_updated_at": "2026-08",</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"2024년 6월 여행가는 달 추진 보도자료",</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"source_id": "case:digital_tourism_resident_2024",</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"case_region": "전국 인구감소지역 34곳",</a:t>
            </a:r>
          </a:p>
          <a:p xmlns:a="http://schemas.openxmlformats.org/drawingml/2006/main">
            <a:r>
              <a:t>      "source_type": "benchmark_case",</a:t>
            </a:r>
          </a:p>
          <a:p xmlns:a="http://schemas.openxmlformats.org/drawingml/2006/main">
            <a:r>
              <a:t>      "intervention": "디지털 관광주민증과 교통·숙박·상점 할인 결합",</a:t>
            </a:r>
          </a:p>
          <a:p xmlns:a="http://schemas.openxmlformats.org/drawingml/2006/main">
            <a:r>
              <a:t>      "document_type": "case_study",</a:t>
            </a:r>
          </a:p>
          <a:p xmlns:a="http://schemas.openxmlformats.org/drawingml/2006/main">
            <a:r>
              <a:t>      "observed_result": "2024년 34개 지역 약 800개 관광업체에 혜택 구조를 적용",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"operating_statistics": [],</a:t>
            </a:r>
          </a:p>
          <a:p xmlns:a="http://schemas.openxmlformats.org/drawingml/2006/main">
            <a:r>
              <a:t>      "published_or_updated_at": "2024-05-14",</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"2022 대한민국 숙박대전 경제파급효과 공개자료",</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"source_id": "case:kto_stay_discount_2022",</a:t>
            </a:r>
          </a:p>
          <a:p xmlns:a="http://schemas.openxmlformats.org/drawingml/2006/main">
            <a:r>
              <a:t>      "source_url": "https://kto.visitkorea.or.kr/upload/flexer/upload/ktobiz/20220928/b623b5f9-3ec0-11ed-9832-ddf31964842e.hwp.files/Sections1.html",</a:t>
            </a:r>
          </a:p>
          <a:p xmlns:a="http://schemas.openxmlformats.org/drawingml/2006/main">
            <a:r>
              <a:t>      "case_region": "전국 숙박할인쿠폰 지원사업",</a:t>
            </a:r>
          </a:p>
          <a:p xmlns:a="http://schemas.openxmlformats.org/drawingml/2006/main">
            <a:r>
              <a:t>      "source_type": "benchmark_case",</a:t>
            </a:r>
          </a:p>
          <a:p xmlns:a="http://schemas.openxmlformats.org/drawingml/2006/main">
            <a:r>
              <a:t>      "intervention": "온라인 예약 채널 숙박할인쿠폰",</a:t>
            </a:r>
          </a:p>
          <a:p xmlns:a="http://schemas.openxmlformats.org/drawingml/2006/main">
            <a:r>
              <a:t>      "document_type": "case_study",</a:t>
            </a:r>
          </a:p>
          <a:p xmlns:a="http://schemas.openxmlformats.org/drawingml/2006/main">
            <a:r>
              <a:t>      "observed_result": "한국관광공사 자료는 약 104만 명이 할인혜택을 이용했고 서울·제주를 제외한 지역 사용 비율이 76%였다고 소개함",</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"2022년 사업 종료 후 한국관광공사 공개 자료",</a:t>
            </a:r>
          </a:p>
          <a:p xmlns:a="http://schemas.openxmlformats.org/drawingml/2006/main">
            <a:r>
              <a:t>      "transfer_conditions": [</a:t>
            </a:r>
          </a:p>
          <a:p xmlns:a="http://schemas.openxmlformats.org/drawingml/2006/main">
            <a:r>
              <a:t>        "참여 숙소·예약 채널·쿠폰 조건을 사전에 확정",</a:t>
            </a:r>
          </a:p>
          <a:p xmlns:a="http://schemas.openxmlformats.org/drawingml/2006/main">
            <a:r>
              <a:t>        "주말과 성수기 쏠림을 막을 사용 가능일 설계",</a:t>
            </a:r>
          </a:p>
          <a:p xmlns:a="http://schemas.openxmlformats.org/drawingml/2006/main">
            <a:r>
              <a:t>        "쿠폰 발급량이 아니라 실제 숙박 완료·지역소비를 함께 측정"</a:t>
            </a:r>
          </a:p>
          <a:p xmlns:a="http://schemas.openxmlformats.org/drawingml/2006/main">
            <a:r>
              <a:t>      ],</a:t>
            </a:r>
          </a:p>
          <a:p xmlns:a="http://schemas.openxmlformats.org/drawingml/2006/main">
            <a:r>
              <a:t>      "operating_statistics": [],</a:t>
            </a:r>
          </a:p>
          <a:p xmlns:a="http://schemas.openxmlformats.org/drawingml/2006/main">
            <a:r>
              <a:t>      "published_or_updated_at": "2022-09-28",</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"2025 대한민국 밤밤페스타 개최 도시 및 일정",</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"source_id": "case:night_festival_2025",</a:t>
            </a:r>
          </a:p>
          <a:p xmlns:a="http://schemas.openxmlformats.org/drawingml/2006/main">
            <a:r>
              <a:t>      "source_url": "https://korean.visitkorea.or.kr/detail/rem_detail.do?cotid=f9c636b2-dd7c-4f09-af3d-6af43b33d371",</a:t>
            </a:r>
          </a:p>
          <a:p xmlns:a="http://schemas.openxmlformats.org/drawingml/2006/main">
            <a:r>
              <a:t>      "case_region": "야간관광 특화도시 10곳",</a:t>
            </a:r>
          </a:p>
          <a:p xmlns:a="http://schemas.openxmlformats.org/drawingml/2006/main">
            <a:r>
              <a:t>      "source_type": "benchmark_case",</a:t>
            </a:r>
          </a:p>
          <a:p xmlns:a="http://schemas.openxmlformats.org/drawingml/2006/main">
            <a:r>
              <a:t>      "intervention": "도시별 야간 콘텐츠를 순회형 축제로 묶는 운영",</a:t>
            </a:r>
          </a:p>
          <a:p xmlns:a="http://schemas.openxmlformats.org/drawingml/2006/main">
            <a:r>
              <a:t>      "document_type": "case_study",</a:t>
            </a:r>
          </a:p>
          <a:p xmlns:a="http://schemas.openxmlformats.org/drawingml/2006/main">
            <a:r>
              <a:t>      "observed_result": "공식 여행기사는 개최 도시·장소·운영 시간과 콘텐츠만 제시하며 방문·소비 성과 수치는 제시하지 않음",</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"2025년 행사 일정",</a:t>
            </a:r>
          </a:p>
          <a:p xmlns:a="http://schemas.openxmlformats.org/drawingml/2006/main">
            <a:r>
              <a:t>      "transfer_conditions": [</a:t>
            </a:r>
          </a:p>
          <a:p xmlns:a="http://schemas.openxmlformats.org/drawingml/2006/main">
            <a:r>
              <a:t>        "야간에도 이용 가능한 교통·안전·식음 운영을 함께 설계",</a:t>
            </a:r>
          </a:p>
          <a:p xmlns:a="http://schemas.openxmlformats.org/drawingml/2006/main">
            <a:r>
              <a:t>        "하나의 행사보다 지역별 대표 콘텐츠와 상점 참여를 연결",</a:t>
            </a:r>
          </a:p>
          <a:p xmlns:a="http://schemas.openxmlformats.org/drawingml/2006/main">
            <a:r>
              <a:t>        "행사일과 비행사일을 분리해 방문·결제·숙박 변화를 측정"</a:t>
            </a:r>
          </a:p>
          <a:p xmlns:a="http://schemas.openxmlformats.org/drawingml/2006/main">
            <a:r>
              <a:t>      ],</a:t>
            </a:r>
          </a:p>
          <a:p xmlns:a="http://schemas.openxmlformats.org/drawingml/2006/main">
            <a:r>
              <a:t>      "operating_statistics": [],</a:t>
            </a:r>
          </a:p>
          <a:p xmlns:a="http://schemas.openxmlformats.org/drawingml/2006/main">
            <a:r>
              <a:t>      "published_or_updated_at": "2025",</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"남선공원",</a:t>
            </a:r>
          </a:p>
          <a:p xmlns:a="http://schemas.openxmlformats.org/drawingml/2006/main">
            <a:r>
              <a:t>      "address": "대전광역시 서구 남선로 66",</a:t>
            </a:r>
          </a:p>
          <a:p xmlns:a="http://schemas.openxmlformats.org/drawingml/2006/main">
            <a:r>
              <a:t>      "summary": "한국관광공사 국문관광정보 API가 반환한 선택 지역 관광자원",</a:t>
            </a:r>
          </a:p>
          <a:p xmlns:a="http://schemas.openxmlformats.org/drawingml/2006/main">
            <a:r>
              <a:t>      "image_url": "http://tong.visitkorea.or.kr/cms/resource/24/3565624_image2_1.jpg",</a:t>
            </a:r>
          </a:p>
          <a:p xmlns:a="http://schemas.openxmlformats.org/drawingml/2006/main">
            <a:r>
              <a:t>      "source_id": "tour-api:2758252",</a:t>
            </a:r>
          </a:p>
          <a:p xmlns:a="http://schemas.openxmlformats.org/drawingml/2006/main">
            <a:r>
              <a:t>      "content_id": "2758252",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"202610",</a:t>
            </a:r>
          </a:p>
          <a:p xmlns:a="http://schemas.openxmlformats.org/drawingml/2006/main">
            <a:r>
              <a:t>        "visitors": 4998578.0,</a:t>
            </a:r>
          </a:p>
          <a:p xmlns:a="http://schemas.openxmlformats.org/drawingml/2006/main">
            <a:r>
              <a:t>        "is_forecast": true,</a:t>
            </a:r>
          </a:p>
          <a:p xmlns:a="http://schemas.openxmlformats.org/drawingml/2006/main">
            <a:r>
              <a:t>        "spending_krw": 79359374710.0,</a:t>
            </a:r>
          </a:p>
          <a:p xmlns:a="http://schemas.openxmlformats.org/drawingml/2006/main">
            <a:r>
              <a:t>        "stay_minutes": 1170.0,</a:t>
            </a:r>
          </a:p>
          <a:p xmlns:a="http://schemas.openxmlformats.org/drawingml/2006/main">
            <a:r>
              <a:t>        "lodging_nights": 2.85,</a:t>
            </a:r>
          </a:p>
          <a:p xmlns:a="http://schemas.openxmlformats.org/drawingml/2006/main">
            <a:r>
              <a:t>        "lodging_rate_pct": 8.9,</a:t>
            </a:r>
          </a:p>
          <a:p xmlns:a="http://schemas.openxmlformats.org/drawingml/2006/main">
            <a:r>
              <a:t>        "lodging_searches": 19187,</a:t>
            </a:r>
          </a:p>
          <a:p xmlns:a="http://schemas.openxmlformats.org/drawingml/2006/main">
            <a:r>
              <a:t>        "navigation_searches": 237779,</a:t>
            </a:r>
          </a:p>
          <a:p xmlns:a="http://schemas.openxmlformats.org/drawingml/2006/main">
            <a:r>
              <a:t>        "visitor_yoy_percent": 0.99,</a:t>
            </a:r>
          </a:p>
          <a:p xmlns:a="http://schemas.openxmlformats.org/drawingml/2006/main">
            <a:r>
              <a:t>        "spending_yoy_percent": 1.54,</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-26.82</a:t>
            </a:r>
          </a:p>
          <a:p xmlns:a="http://schemas.openxmlformats.org/drawingml/2006/main">
            <a:r>
              <a:t>        },</a:t>
            </a:r>
          </a:p>
          <a:p xmlns:a="http://schemas.openxmlformats.org/drawingml/2006/main">
            <a:r>
              <a:t>        "previous_year_visitors": 4949394,</a:t>
            </a:r>
          </a:p>
          <a:p xmlns:a="http://schemas.openxmlformats.org/drawingml/2006/main">
            <a:r>
              <a:t>        "previous_year_spending_krw": 78158272000,</a:t>
            </a:r>
          </a:p>
          <a:p xmlns:a="http://schemas.openxmlformats.org/drawingml/2006/main">
            <a:r>
              <a:t>        "previous_year_stay_minutes": 1170.0,</a:t>
            </a:r>
          </a:p>
          <a:p xmlns:a="http://schemas.openxmlformats.org/drawingml/2006/main">
            <a:r>
              <a:t>        "previous_year_lodging_nights": 2.85,</a:t>
            </a:r>
          </a:p>
          <a:p xmlns:a="http://schemas.openxmlformats.org/drawingml/2006/main">
            <a:r>
              <a:t>        "previous_year_lodging_rate_pct": 8.9,</a:t>
            </a:r>
          </a:p>
          <a:p xmlns:a="http://schemas.openxmlformats.org/drawingml/2006/main">
            <a:r>
              <a:t>        "previous_year_lodging_searches": 19187,</a:t>
            </a:r>
          </a:p>
          <a:p xmlns:a="http://schemas.openxmlformats.org/drawingml/2006/main">
            <a:r>
              <a:t>        "previous_year_navigation_searches": 324902</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4940348.0,</a:t>
            </a:r>
          </a:p>
          <a:p xmlns:a="http://schemas.openxmlformats.org/drawingml/2006/main">
            <a:r>
              <a:t>        "is_forecast": true,</a:t>
            </a:r>
          </a:p>
          <a:p xmlns:a="http://schemas.openxmlformats.org/drawingml/2006/main">
            <a:r>
              <a:t>        "spending_krw": 85971975908.0,</a:t>
            </a:r>
          </a:p>
          <a:p xmlns:a="http://schemas.openxmlformats.org/drawingml/2006/main">
            <a:r>
              <a:t>        "stay_minutes": 987.0,</a:t>
            </a:r>
          </a:p>
          <a:p xmlns:a="http://schemas.openxmlformats.org/drawingml/2006/main">
            <a:r>
              <a:t>        "lodging_nights": 2.79,</a:t>
            </a:r>
          </a:p>
          <a:p xmlns:a="http://schemas.openxmlformats.org/drawingml/2006/main">
            <a:r>
              <a:t>        "lodging_rate_pct": 6.5,</a:t>
            </a:r>
          </a:p>
          <a:p xmlns:a="http://schemas.openxmlformats.org/drawingml/2006/main">
            <a:r>
              <a:t>        "lodging_searches": 14379,</a:t>
            </a:r>
          </a:p>
          <a:p xmlns:a="http://schemas.openxmlformats.org/drawingml/2006/main">
            <a:r>
              <a:t>        "navigation_searches": 231894,</a:t>
            </a:r>
          </a:p>
          <a:p xmlns:a="http://schemas.openxmlformats.org/drawingml/2006/main">
            <a:r>
              <a:t>        "visitor_yoy_percent": -4.4,</a:t>
            </a:r>
          </a:p>
          <a:p xmlns:a="http://schemas.openxmlformats.org/drawingml/2006/main">
            <a:r>
              <a:t>        "spending_yoy_percent": 12.37,</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-2.86</a:t>
            </a:r>
          </a:p>
          <a:p xmlns:a="http://schemas.openxmlformats.org/drawingml/2006/main">
            <a:r>
              <a:t>        },</a:t>
            </a:r>
          </a:p>
          <a:p xmlns:a="http://schemas.openxmlformats.org/drawingml/2006/main">
            <a:r>
              <a:t>        "previous_year_visitors": 5167969,</a:t>
            </a:r>
          </a:p>
          <a:p xmlns:a="http://schemas.openxmlformats.org/drawingml/2006/main">
            <a:r>
              <a:t>        "previous_year_spending_krw": 76509918000,</a:t>
            </a:r>
          </a:p>
          <a:p xmlns:a="http://schemas.openxmlformats.org/drawingml/2006/main">
            <a:r>
              <a:t>        "previous_year_stay_minutes": 987.0,</a:t>
            </a:r>
          </a:p>
          <a:p xmlns:a="http://schemas.openxmlformats.org/drawingml/2006/main">
            <a:r>
              <a:t>        "previous_year_lodging_nights": 2.79,</a:t>
            </a:r>
          </a:p>
          <a:p xmlns:a="http://schemas.openxmlformats.org/drawingml/2006/main">
            <a:r>
              <a:t>        "previous_year_lodging_rate_pct": 6.5,</a:t>
            </a:r>
          </a:p>
          <a:p xmlns:a="http://schemas.openxmlformats.org/drawingml/2006/main">
            <a:r>
              <a:t>        "previous_year_lodging_searches": 14379,</a:t>
            </a:r>
          </a:p>
          <a:p xmlns:a="http://schemas.openxmlformats.org/drawingml/2006/main">
            <a:r>
              <a:t>        "previous_year_navigation_searches": 238728</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4989633.0,</a:t>
            </a:r>
          </a:p>
          <a:p xmlns:a="http://schemas.openxmlformats.org/drawingml/2006/main">
            <a:r>
              <a:t>        "is_forecast": true,</a:t>
            </a:r>
          </a:p>
          <a:p xmlns:a="http://schemas.openxmlformats.org/drawingml/2006/main">
            <a:r>
              <a:t>        "spending_krw": 81033922052.0,</a:t>
            </a:r>
          </a:p>
          <a:p xmlns:a="http://schemas.openxmlformats.org/drawingml/2006/main">
            <a:r>
              <a:t>        "stay_minutes": 1118.0,</a:t>
            </a:r>
          </a:p>
          <a:p xmlns:a="http://schemas.openxmlformats.org/drawingml/2006/main">
            <a:r>
              <a:t>        "lodging_nights": 2.81,</a:t>
            </a:r>
          </a:p>
          <a:p xmlns:a="http://schemas.openxmlformats.org/drawingml/2006/main">
            <a:r>
              <a:t>        "lodging_rate_pct": 7.3,</a:t>
            </a:r>
          </a:p>
          <a:p xmlns:a="http://schemas.openxmlformats.org/drawingml/2006/main">
            <a:r>
              <a:t>        "lodging_searches": 12004,</a:t>
            </a:r>
          </a:p>
          <a:p xmlns:a="http://schemas.openxmlformats.org/drawingml/2006/main">
            <a:r>
              <a:t>        "navigation_searches": 225518,</a:t>
            </a:r>
          </a:p>
          <a:p xmlns:a="http://schemas.openxmlformats.org/drawingml/2006/main">
            <a:r>
              <a:t>        "visitor_yoy_percent": -1.77,</a:t>
            </a:r>
          </a:p>
          <a:p xmlns:a="http://schemas.openxmlformats.org/drawingml/2006/main">
            <a:r>
              <a:t>        "spending_yoy_percent": -0.11,</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2.41</a:t>
            </a:r>
          </a:p>
          <a:p xmlns:a="http://schemas.openxmlformats.org/drawingml/2006/main">
            <a:r>
              <a:t>        },</a:t>
            </a:r>
          </a:p>
          <a:p xmlns:a="http://schemas.openxmlformats.org/drawingml/2006/main">
            <a:r>
              <a:t>        "previous_year_visitors": 5079597,</a:t>
            </a:r>
          </a:p>
          <a:p xmlns:a="http://schemas.openxmlformats.org/drawingml/2006/main">
            <a:r>
              <a:t>        "previous_year_spending_krw": 81119852000,</a:t>
            </a:r>
          </a:p>
          <a:p xmlns:a="http://schemas.openxmlformats.org/drawingml/2006/main">
            <a:r>
              <a:t>        "previous_year_stay_minutes": 1118.0,</a:t>
            </a:r>
          </a:p>
          <a:p xmlns:a="http://schemas.openxmlformats.org/drawingml/2006/main">
            <a:r>
              <a:t>        "previous_year_lodging_nights": 2.81,</a:t>
            </a:r>
          </a:p>
          <a:p xmlns:a="http://schemas.openxmlformats.org/drawingml/2006/main">
            <a:r>
              <a:t>        "previous_year_lodging_rate_pct": 7.3,</a:t>
            </a:r>
          </a:p>
          <a:p xmlns:a="http://schemas.openxmlformats.org/drawingml/2006/main">
            <a:r>
              <a:t>        "previous_year_lodging_searches": 12004,</a:t>
            </a:r>
          </a:p>
          <a:p xmlns:a="http://schemas.openxmlformats.org/drawingml/2006/main">
            <a:r>
              <a:t>        "previous_year_navigation_searches": 220205</a:t>
            </a:r>
          </a:p>
          <a:p xmlns:a="http://schemas.openxmlformats.org/drawingml/2006/main">
            <a:r>
              <a:t>      }</a:t>
            </a:r>
          </a:p>
          <a:p xmlns:a="http://schemas.openxmlformats.org/drawingml/2006/main">
            <a:r>
              <a:t>    ],</a:t>
            </a:r>
          </a:p>
          <a:p xmlns:a="http://schemas.openxmlformats.org/drawingml/2006/main">
            <a:r>
              <a:t>    "period": "202610~202612",</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"next_three_months_at_generation",</a:t>
            </a:r>
          </a:p>
          <a:p xmlns:a="http://schemas.openxmlformats.org/drawingml/2006/main">
            <a:r>
              <a:t>    "requested_period": "202610~202612"</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4982887,</a:t>
            </a:r>
          </a:p>
          <a:p xmlns:a="http://schemas.openxmlformats.org/drawingml/2006/main">
            <a:r>
              <a:t>      "is_forecast": true,</a:t>
            </a:r>
          </a:p>
          <a:p xmlns:a="http://schemas.openxmlformats.org/drawingml/2006/main">
            <a:r>
              <a:t>      "spending_krw": 80283647550,</a:t>
            </a:r>
          </a:p>
          <a:p xmlns:a="http://schemas.openxmlformats.org/drawingml/2006/main">
            <a:r>
              <a:t>      "stay_minutes": 1223.0,</a:t>
            </a:r>
          </a:p>
          <a:p xmlns:a="http://schemas.openxmlformats.org/drawingml/2006/main">
            <a:r>
              <a:t>      "lodging_nights": 2.91,</a:t>
            </a:r>
          </a:p>
          <a:p xmlns:a="http://schemas.openxmlformats.org/drawingml/2006/main">
            <a:r>
              <a:t>      "lodging_rate_pct": 7.3,</a:t>
            </a:r>
          </a:p>
          <a:p xmlns:a="http://schemas.openxmlformats.org/drawingml/2006/main">
            <a:r>
              <a:t>      "lodging_searches": 12843,</a:t>
            </a:r>
          </a:p>
          <a:p xmlns:a="http://schemas.openxmlformats.org/drawingml/2006/main">
            <a:r>
              <a:t>      "navigation_searches": 209722,</a:t>
            </a:r>
          </a:p>
          <a:p xmlns:a="http://schemas.openxmlformats.org/drawingml/2006/main">
            <a:r>
              <a:t>      "visitor_yoy_percent": 0.64,</a:t>
            </a:r>
          </a:p>
          <a:p xmlns:a="http://schemas.openxmlformats.org/drawingml/2006/main">
            <a:r>
              <a:t>      "spending_yoy_percent": 6.85,</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-0.44</a:t>
            </a:r>
          </a:p>
          <a:p xmlns:a="http://schemas.openxmlformats.org/drawingml/2006/main">
            <a:r>
              <a:t>      },</a:t>
            </a:r>
          </a:p>
          <a:p xmlns:a="http://schemas.openxmlformats.org/drawingml/2006/main">
            <a:r>
              <a:t>      "previous_year_visitors": 4951150,</a:t>
            </a:r>
          </a:p>
          <a:p xmlns:a="http://schemas.openxmlformats.org/drawingml/2006/main">
            <a:r>
              <a:t>      "previous_year_spending_krw": 75135145000,</a:t>
            </a:r>
          </a:p>
          <a:p xmlns:a="http://schemas.openxmlformats.org/drawingml/2006/main">
            <a:r>
              <a:t>      "previous_year_stay_minutes": 1223.0,</a:t>
            </a:r>
          </a:p>
          <a:p xmlns:a="http://schemas.openxmlformats.org/drawingml/2006/main">
            <a:r>
              <a:t>      "previous_year_lodging_nights": 2.91,</a:t>
            </a:r>
          </a:p>
          <a:p xmlns:a="http://schemas.openxmlformats.org/drawingml/2006/main">
            <a:r>
              <a:t>      "previous_year_lodging_rate_pct": 7.3,</a:t>
            </a:r>
          </a:p>
          <a:p xmlns:a="http://schemas.openxmlformats.org/drawingml/2006/main">
            <a:r>
              <a:t>      "previous_year_lodging_searches": 12843,</a:t>
            </a:r>
          </a:p>
          <a:p xmlns:a="http://schemas.openxmlformats.org/drawingml/2006/main">
            <a:r>
              <a:t>      "previous_year_navigation_searches": 210646</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4852547,</a:t>
            </a:r>
          </a:p>
          <a:p xmlns:a="http://schemas.openxmlformats.org/drawingml/2006/main">
            <a:r>
              <a:t>      "is_forecast": true,</a:t>
            </a:r>
          </a:p>
          <a:p xmlns:a="http://schemas.openxmlformats.org/drawingml/2006/main">
            <a:r>
              <a:t>      "spending_krw": 76665340753,</a:t>
            </a:r>
          </a:p>
          <a:p xmlns:a="http://schemas.openxmlformats.org/drawingml/2006/main">
            <a:r>
              <a:t>      "stay_minutes": 1218.0,</a:t>
            </a:r>
          </a:p>
          <a:p xmlns:a="http://schemas.openxmlformats.org/drawingml/2006/main">
            <a:r>
              <a:t>      "lodging_nights": 2.84,</a:t>
            </a:r>
          </a:p>
          <a:p xmlns:a="http://schemas.openxmlformats.org/drawingml/2006/main">
            <a:r>
              <a:t>      "lodging_rate_pct": 7.9,</a:t>
            </a:r>
          </a:p>
          <a:p xmlns:a="http://schemas.openxmlformats.org/drawingml/2006/main">
            <a:r>
              <a:t>      "lodging_searches": 13272,</a:t>
            </a:r>
          </a:p>
          <a:p xmlns:a="http://schemas.openxmlformats.org/drawingml/2006/main">
            <a:r>
              <a:t>      "navigation_searches": 225159,</a:t>
            </a:r>
          </a:p>
          <a:p xmlns:a="http://schemas.openxmlformats.org/drawingml/2006/main">
            <a:r>
              <a:t>      "visitor_yoy_percent": -1.76,</a:t>
            </a:r>
          </a:p>
          <a:p xmlns:a="http://schemas.openxmlformats.org/drawingml/2006/main">
            <a:r>
              <a:t>      "spending_yoy_percent": 0.49,</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2.0</a:t>
            </a:r>
          </a:p>
          <a:p xmlns:a="http://schemas.openxmlformats.org/drawingml/2006/main">
            <a:r>
              <a:t>      },</a:t>
            </a:r>
          </a:p>
          <a:p xmlns:a="http://schemas.openxmlformats.org/drawingml/2006/main">
            <a:r>
              <a:t>      "previous_year_visitors": 4939438,</a:t>
            </a:r>
          </a:p>
          <a:p xmlns:a="http://schemas.openxmlformats.org/drawingml/2006/main">
            <a:r>
              <a:t>      "previous_year_spending_krw": 76291079000,</a:t>
            </a:r>
          </a:p>
          <a:p xmlns:a="http://schemas.openxmlformats.org/drawingml/2006/main">
            <a:r>
              <a:t>      "previous_year_stay_minutes": 1218.0,</a:t>
            </a:r>
          </a:p>
          <a:p xmlns:a="http://schemas.openxmlformats.org/drawingml/2006/main">
            <a:r>
              <a:t>      "previous_year_lodging_nights": 2.84,</a:t>
            </a:r>
          </a:p>
          <a:p xmlns:a="http://schemas.openxmlformats.org/drawingml/2006/main">
            <a:r>
              <a:t>      "previous_year_lodging_rate_pct": 7.9,</a:t>
            </a:r>
          </a:p>
          <a:p xmlns:a="http://schemas.openxmlformats.org/drawingml/2006/main">
            <a:r>
              <a:t>      "previous_year_lodging_searches": 13272,</a:t>
            </a:r>
          </a:p>
          <a:p xmlns:a="http://schemas.openxmlformats.org/drawingml/2006/main">
            <a:r>
              <a:t>      "previous_year_navigation_searches": 220742</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4823300,</a:t>
            </a:r>
          </a:p>
          <a:p xmlns:a="http://schemas.openxmlformats.org/drawingml/2006/main">
            <a:r>
              <a:t>      "is_forecast": true,</a:t>
            </a:r>
          </a:p>
          <a:p xmlns:a="http://schemas.openxmlformats.org/drawingml/2006/main">
            <a:r>
              <a:t>      "spending_krw": 80194062490,</a:t>
            </a:r>
          </a:p>
          <a:p xmlns:a="http://schemas.openxmlformats.org/drawingml/2006/main">
            <a:r>
              <a:t>      "stay_minutes": 1281.0,</a:t>
            </a:r>
          </a:p>
          <a:p xmlns:a="http://schemas.openxmlformats.org/drawingml/2006/main">
            <a:r>
              <a:t>      "lodging_nights": 2.93,</a:t>
            </a:r>
          </a:p>
          <a:p xmlns:a="http://schemas.openxmlformats.org/drawingml/2006/main">
            <a:r>
              <a:t>      "lodging_rate_pct": 6.7,</a:t>
            </a:r>
          </a:p>
          <a:p xmlns:a="http://schemas.openxmlformats.org/drawingml/2006/main">
            <a:r>
              <a:t>      "lodging_searches": 11464,</a:t>
            </a:r>
          </a:p>
          <a:p xmlns:a="http://schemas.openxmlformats.org/drawingml/2006/main">
            <a:r>
              <a:t>      "navigation_searches": 206180,</a:t>
            </a:r>
          </a:p>
          <a:p xmlns:a="http://schemas.openxmlformats.org/drawingml/2006/main">
            <a:r>
              <a:t>      "visitor_yoy_percent": -0.39,</a:t>
            </a:r>
          </a:p>
          <a:p xmlns:a="http://schemas.openxmlformats.org/drawingml/2006/main">
            <a:r>
              <a:t>      "spending_yoy_percent": 13.32,</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7.4</a:t>
            </a:r>
          </a:p>
          <a:p xmlns:a="http://schemas.openxmlformats.org/drawingml/2006/main">
            <a:r>
              <a:t>      },</a:t>
            </a:r>
          </a:p>
          <a:p xmlns:a="http://schemas.openxmlformats.org/drawingml/2006/main">
            <a:r>
              <a:t>      "previous_year_visitors": 4842196,</a:t>
            </a:r>
          </a:p>
          <a:p xmlns:a="http://schemas.openxmlformats.org/drawingml/2006/main">
            <a:r>
              <a:t>      "previous_year_spending_krw": 70764730000,</a:t>
            </a:r>
          </a:p>
          <a:p xmlns:a="http://schemas.openxmlformats.org/drawingml/2006/main">
            <a:r>
              <a:t>      "previous_year_stay_minutes": 1281.0,</a:t>
            </a:r>
          </a:p>
          <a:p xmlns:a="http://schemas.openxmlformats.org/drawingml/2006/main">
            <a:r>
              <a:t>      "previous_year_lodging_nights": 2.93,</a:t>
            </a:r>
          </a:p>
          <a:p xmlns:a="http://schemas.openxmlformats.org/drawingml/2006/main">
            <a:r>
              <a:t>      "previous_year_lodging_rate_pct": 6.7,</a:t>
            </a:r>
          </a:p>
          <a:p xmlns:a="http://schemas.openxmlformats.org/drawingml/2006/main">
            <a:r>
              <a:t>      "previous_year_lodging_searches": 11464,</a:t>
            </a:r>
          </a:p>
          <a:p xmlns:a="http://schemas.openxmlformats.org/drawingml/2006/main">
            <a:r>
              <a:t>      "previous_year_navigation_searches": 191971</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4998578,</a:t>
            </a:r>
          </a:p>
          <a:p xmlns:a="http://schemas.openxmlformats.org/drawingml/2006/main">
            <a:r>
              <a:t>      "is_forecast": true,</a:t>
            </a:r>
          </a:p>
          <a:p xmlns:a="http://schemas.openxmlformats.org/drawingml/2006/main">
            <a:r>
              <a:t>      "spending_krw": 79359374710,</a:t>
            </a:r>
          </a:p>
          <a:p xmlns:a="http://schemas.openxmlformats.org/drawingml/2006/main">
            <a:r>
              <a:t>      "stay_minutes": 1170.0,</a:t>
            </a:r>
          </a:p>
          <a:p xmlns:a="http://schemas.openxmlformats.org/drawingml/2006/main">
            <a:r>
              <a:t>      "lodging_nights": 2.85,</a:t>
            </a:r>
          </a:p>
          <a:p xmlns:a="http://schemas.openxmlformats.org/drawingml/2006/main">
            <a:r>
              <a:t>      "lodging_rate_pct": 8.9,</a:t>
            </a:r>
          </a:p>
          <a:p xmlns:a="http://schemas.openxmlformats.org/drawingml/2006/main">
            <a:r>
              <a:t>      "lodging_searches": 19187,</a:t>
            </a:r>
          </a:p>
          <a:p xmlns:a="http://schemas.openxmlformats.org/drawingml/2006/main">
            <a:r>
              <a:t>      "navigation_searches": 237779,</a:t>
            </a:r>
          </a:p>
          <a:p xmlns:a="http://schemas.openxmlformats.org/drawingml/2006/main">
            <a:r>
              <a:t>      "visitor_yoy_percent": 0.99,</a:t>
            </a:r>
          </a:p>
          <a:p xmlns:a="http://schemas.openxmlformats.org/drawingml/2006/main">
            <a:r>
              <a:t>      "spending_yoy_percent": 1.54,</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-26.82</a:t>
            </a:r>
          </a:p>
          <a:p xmlns:a="http://schemas.openxmlformats.org/drawingml/2006/main">
            <a:r>
              <a:t>      },</a:t>
            </a:r>
          </a:p>
          <a:p xmlns:a="http://schemas.openxmlformats.org/drawingml/2006/main">
            <a:r>
              <a:t>      "previous_year_visitors": 4949394,</a:t>
            </a:r>
          </a:p>
          <a:p xmlns:a="http://schemas.openxmlformats.org/drawingml/2006/main">
            <a:r>
              <a:t>      "previous_year_spending_krw": 78158272000,</a:t>
            </a:r>
          </a:p>
          <a:p xmlns:a="http://schemas.openxmlformats.org/drawingml/2006/main">
            <a:r>
              <a:t>      "previous_year_stay_minutes": 1170.0,</a:t>
            </a:r>
          </a:p>
          <a:p xmlns:a="http://schemas.openxmlformats.org/drawingml/2006/main">
            <a:r>
              <a:t>      "previous_year_lodging_nights": 2.85,</a:t>
            </a:r>
          </a:p>
          <a:p xmlns:a="http://schemas.openxmlformats.org/drawingml/2006/main">
            <a:r>
              <a:t>      "previous_year_lodging_rate_pct": 8.9,</a:t>
            </a:r>
          </a:p>
          <a:p xmlns:a="http://schemas.openxmlformats.org/drawingml/2006/main">
            <a:r>
              <a:t>      "previous_year_lodging_searches": 19187,</a:t>
            </a:r>
          </a:p>
          <a:p xmlns:a="http://schemas.openxmlformats.org/drawingml/2006/main">
            <a:r>
              <a:t>      "previous_year_navigation_searches": 324902</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4940348,</a:t>
            </a:r>
          </a:p>
          <a:p xmlns:a="http://schemas.openxmlformats.org/drawingml/2006/main">
            <a:r>
              <a:t>      "is_forecast": true,</a:t>
            </a:r>
          </a:p>
          <a:p xmlns:a="http://schemas.openxmlformats.org/drawingml/2006/main">
            <a:r>
              <a:t>      "spending_krw": 85971975908,</a:t>
            </a:r>
          </a:p>
          <a:p xmlns:a="http://schemas.openxmlformats.org/drawingml/2006/main">
            <a:r>
              <a:t>      "stay_minutes": 987.0,</a:t>
            </a:r>
          </a:p>
          <a:p xmlns:a="http://schemas.openxmlformats.org/drawingml/2006/main">
            <a:r>
              <a:t>      "lodging_nights": 2.79,</a:t>
            </a:r>
          </a:p>
          <a:p xmlns:a="http://schemas.openxmlformats.org/drawingml/2006/main">
            <a:r>
              <a:t>      "lodging_rate_pct": 6.5,</a:t>
            </a:r>
          </a:p>
          <a:p xmlns:a="http://schemas.openxmlformats.org/drawingml/2006/main">
            <a:r>
              <a:t>      "lodging_searches": 14379,</a:t>
            </a:r>
          </a:p>
          <a:p xmlns:a="http://schemas.openxmlformats.org/drawingml/2006/main">
            <a:r>
              <a:t>      "navigation_searches": 231894,</a:t>
            </a:r>
          </a:p>
          <a:p xmlns:a="http://schemas.openxmlformats.org/drawingml/2006/main">
            <a:r>
              <a:t>      "visitor_yoy_percent": -4.4,</a:t>
            </a:r>
          </a:p>
          <a:p xmlns:a="http://schemas.openxmlformats.org/drawingml/2006/main">
            <a:r>
              <a:t>      "spending_yoy_percent": 12.37,</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-2.86</a:t>
            </a:r>
          </a:p>
          <a:p xmlns:a="http://schemas.openxmlformats.org/drawingml/2006/main">
            <a:r>
              <a:t>      },</a:t>
            </a:r>
          </a:p>
          <a:p xmlns:a="http://schemas.openxmlformats.org/drawingml/2006/main">
            <a:r>
              <a:t>      "previous_year_visitors": 5167969,</a:t>
            </a:r>
          </a:p>
          <a:p xmlns:a="http://schemas.openxmlformats.org/drawingml/2006/main">
            <a:r>
              <a:t>      "previous_year_spending_krw": 76509918000,</a:t>
            </a:r>
          </a:p>
          <a:p xmlns:a="http://schemas.openxmlformats.org/drawingml/2006/main">
            <a:r>
              <a:t>      "previous_year_stay_minutes": 987.0,</a:t>
            </a:r>
          </a:p>
          <a:p xmlns:a="http://schemas.openxmlformats.org/drawingml/2006/main">
            <a:r>
              <a:t>      "previous_year_lodging_nights": 2.79,</a:t>
            </a:r>
          </a:p>
          <a:p xmlns:a="http://schemas.openxmlformats.org/drawingml/2006/main">
            <a:r>
              <a:t>      "previous_year_lodging_rate_pct": 6.5,</a:t>
            </a:r>
          </a:p>
          <a:p xmlns:a="http://schemas.openxmlformats.org/drawingml/2006/main">
            <a:r>
              <a:t>      "previous_year_lodging_searches": 14379,</a:t>
            </a:r>
          </a:p>
          <a:p xmlns:a="http://schemas.openxmlformats.org/drawingml/2006/main">
            <a:r>
              <a:t>      "previous_year_navigation_searches": 238728</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4989633,</a:t>
            </a:r>
          </a:p>
          <a:p xmlns:a="http://schemas.openxmlformats.org/drawingml/2006/main">
            <a:r>
              <a:t>      "is_forecast": true,</a:t>
            </a:r>
          </a:p>
          <a:p xmlns:a="http://schemas.openxmlformats.org/drawingml/2006/main">
            <a:r>
              <a:t>      "spending_krw": 81033922052,</a:t>
            </a:r>
          </a:p>
          <a:p xmlns:a="http://schemas.openxmlformats.org/drawingml/2006/main">
            <a:r>
              <a:t>      "stay_minutes": 1118.0,</a:t>
            </a:r>
          </a:p>
          <a:p xmlns:a="http://schemas.openxmlformats.org/drawingml/2006/main">
            <a:r>
              <a:t>      "lodging_nights": 2.81,</a:t>
            </a:r>
          </a:p>
          <a:p xmlns:a="http://schemas.openxmlformats.org/drawingml/2006/main">
            <a:r>
              <a:t>      "lodging_rate_pct": 7.3,</a:t>
            </a:r>
          </a:p>
          <a:p xmlns:a="http://schemas.openxmlformats.org/drawingml/2006/main">
            <a:r>
              <a:t>      "lodging_searches": 12004,</a:t>
            </a:r>
          </a:p>
          <a:p xmlns:a="http://schemas.openxmlformats.org/drawingml/2006/main">
            <a:r>
              <a:t>      "navigation_searches": 225518,</a:t>
            </a:r>
          </a:p>
          <a:p xmlns:a="http://schemas.openxmlformats.org/drawingml/2006/main">
            <a:r>
              <a:t>      "visitor_yoy_percent": -1.77,</a:t>
            </a:r>
          </a:p>
          <a:p xmlns:a="http://schemas.openxmlformats.org/drawingml/2006/main">
            <a:r>
              <a:t>      "spending_yoy_percent": -0.11,</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2.41</a:t>
            </a:r>
          </a:p>
          <a:p xmlns:a="http://schemas.openxmlformats.org/drawingml/2006/main">
            <a:r>
              <a:t>      },</a:t>
            </a:r>
          </a:p>
          <a:p xmlns:a="http://schemas.openxmlformats.org/drawingml/2006/main">
            <a:r>
              <a:t>      "previous_year_visitors": 5079597,</a:t>
            </a:r>
          </a:p>
          <a:p xmlns:a="http://schemas.openxmlformats.org/drawingml/2006/main">
            <a:r>
              <a:t>      "previous_year_spending_krw": 81119852000,</a:t>
            </a:r>
          </a:p>
          <a:p xmlns:a="http://schemas.openxmlformats.org/drawingml/2006/main">
            <a:r>
              <a:t>      "previous_year_stay_minutes": 1118.0,</a:t>
            </a:r>
          </a:p>
          <a:p xmlns:a="http://schemas.openxmlformats.org/drawingml/2006/main">
            <a:r>
              <a:t>      "previous_year_lodging_nights": 2.81,</a:t>
            </a:r>
          </a:p>
          <a:p xmlns:a="http://schemas.openxmlformats.org/drawingml/2006/main">
            <a:r>
              <a:t>      "previous_year_lodging_rate_pct": 7.3,</a:t>
            </a:r>
          </a:p>
          <a:p xmlns:a="http://schemas.openxmlformats.org/drawingml/2006/main">
            <a:r>
              <a:t>      "previous_year_lodging_searches": 12004,</a:t>
            </a:r>
          </a:p>
          <a:p xmlns:a="http://schemas.openxmlformats.org/drawingml/2006/main">
            <a:r>
              <a:t>      "previous_year_navigation_searches": 220205</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"metrics": {</a:t>
            </a:r>
          </a:p>
          <a:p xmlns:a="http://schemas.openxmlformats.org/drawingml/2006/main">
            <a:r>
              <a:t>      "visitors": {</a:t>
            </a:r>
          </a:p>
          <a:p xmlns:a="http://schemas.openxmlformats.org/drawingml/2006/main">
            <a:r>
              <a:t>        "test_mae": 237105.53,</a:t>
            </a:r>
          </a:p>
          <a:p xmlns:a="http://schemas.openxmlformats.org/drawingml/2006/main">
            <a:r>
              <a:t>        "recursive_mae": {</a:t>
            </a:r>
          </a:p>
          <a:p xmlns:a="http://schemas.openxmlformats.org/drawingml/2006/main">
            <a:r>
              <a:t>          "1": {</a:t>
            </a:r>
          </a:p>
          <a:p xmlns:a="http://schemas.openxmlformats.org/drawingml/2006/main">
            <a:r>
              <a:t>            "baseline": 211072,</a:t>
            </a:r>
          </a:p>
          <a:p xmlns:a="http://schemas.openxmlformats.org/drawingml/2006/main">
            <a:r>
              <a:t>            "selected": 332727,</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97043,</a:t>
            </a:r>
          </a:p>
          <a:p xmlns:a="http://schemas.openxmlformats.org/drawingml/2006/main">
            <a:r>
              <a:t>            "selected": 141143.5,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174799,</a:t>
            </a:r>
          </a:p>
          <a:p xmlns:a="http://schemas.openxmlformats.org/drawingml/2006/main">
            <a:r>
              <a:t>            "selected": 168591.5,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"RandomForestRegressor",</a:t>
            </a:r>
          </a:p>
          <a:p xmlns:a="http://schemas.openxmlformats.org/drawingml/2006/main">
            <a:r>
              <a:t>        "baseline_test_mae": 192935.5,</a:t>
            </a:r>
          </a:p>
          <a:p xmlns:a="http://schemas.openxmlformats.org/drawingml/2006/main">
            <a:r>
              <a:t>        "model_reliability": "below_baseline_on_test",</a:t>
            </a:r>
          </a:p>
          <a:p xmlns:a="http://schemas.openxmlformats.org/drawingml/2006/main">
            <a:r>
              <a:t>        "beats_baseline_on_test": false,</a:t>
            </a:r>
          </a:p>
          <a:p xmlns:a="http://schemas.openxmlformats.org/drawingml/2006/main">
            <a:r>
              <a:t>        "recursive_horizons_worse_than_baseline":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"test_mae": 4927867951.9,</a:t>
            </a:r>
          </a:p>
          <a:p xmlns:a="http://schemas.openxmlformats.org/drawingml/2006/main">
            <a:r>
              <a:t>        "recursive_mae": {</a:t>
            </a:r>
          </a:p>
          <a:p xmlns:a="http://schemas.openxmlformats.org/drawingml/2006/main">
            <a:r>
              <a:t>          "1": {</a:t>
            </a:r>
          </a:p>
          <a:p xmlns:a="http://schemas.openxmlformats.org/drawingml/2006/main">
            <a:r>
              <a:t>            "baseline": 1944140500,</a:t>
            </a:r>
          </a:p>
          <a:p xmlns:a="http://schemas.openxmlformats.org/drawingml/2006/main">
            <a:r>
              <a:t>            "selected": 3237755191,</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3984052500,</a:t>
            </a:r>
          </a:p>
          <a:p xmlns:a="http://schemas.openxmlformats.org/drawingml/2006/main">
            <a:r>
              <a:t>            "selected": 1581504765.5,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2878173500,</a:t>
            </a:r>
          </a:p>
          <a:p xmlns:a="http://schemas.openxmlformats.org/drawingml/2006/main">
            <a:r>
              <a:t>            "selected": 4493524184.5,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"LinearRegression",</a:t>
            </a:r>
          </a:p>
          <a:p xmlns:a="http://schemas.openxmlformats.org/drawingml/2006/main">
            <a:r>
              <a:t>        "baseline_test_mae": 2411157000,</a:t>
            </a:r>
          </a:p>
          <a:p xmlns:a="http://schemas.openxmlformats.org/drawingml/2006/main">
            <a:r>
              <a:t>        "model_reliability": "below_baseline_on_test",</a:t>
            </a:r>
          </a:p>
          <a:p xmlns:a="http://schemas.openxmlformats.org/drawingml/2006/main">
            <a:r>
              <a:t>        "beats_baseline_on_test": false,</a:t>
            </a:r>
          </a:p>
          <a:p xmlns:a="http://schemas.openxmlformats.org/drawingml/2006/main">
            <a:r>
              <a:t>        "recursive_horizons_worse_than_baseline": [</a:t>
            </a:r>
          </a:p>
          <a:p xmlns:a="http://schemas.openxmlformats.org/drawingml/2006/main">
            <a:r>
              <a:t>          "1",</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"test_mae": 113.5,</a:t>
            </a:r>
          </a:p>
          <a:p xmlns:a="http://schemas.openxmlformats.org/drawingml/2006/main">
            <a:r>
              <a:t>        "recursive_mae": {</a:t>
            </a:r>
          </a:p>
          <a:p xmlns:a="http://schemas.openxmlformats.org/drawingml/2006/main">
            <a:r>
              <a:t>          "1": {</a:t>
            </a:r>
          </a:p>
          <a:p xmlns:a="http://schemas.openxmlformats.org/drawingml/2006/main">
            <a:r>
              <a:t>            "baseline": 52,</a:t>
            </a:r>
          </a:p>
          <a:p xmlns:a="http://schemas.openxmlformats.org/drawingml/2006/main">
            <a:r>
              <a:t>            "selected": 52,</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218.5,</a:t>
            </a:r>
          </a:p>
          <a:p xmlns:a="http://schemas.openxmlformats.org/drawingml/2006/main">
            <a:r>
              <a:t>            "selected": 218.5,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175,</a:t>
            </a:r>
          </a:p>
          <a:p xmlns:a="http://schemas.openxmlformats.org/drawingml/2006/main">
            <a:r>
              <a:t>            "selected": 175,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113.5,</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"lodging_nights": {</a:t>
            </a:r>
          </a:p>
          <a:p xmlns:a="http://schemas.openxmlformats.org/drawingml/2006/main">
            <a:r>
              <a:t>        "test_mae": 0.07,</a:t>
            </a:r>
          </a:p>
          <a:p xmlns:a="http://schemas.openxmlformats.org/drawingml/2006/main">
            <a:r>
              <a:t>        "recursive_mae": {</a:t>
            </a:r>
          </a:p>
          <a:p xmlns:a="http://schemas.openxmlformats.org/drawingml/2006/main">
            <a:r>
              <a:t>          "1": {</a:t>
            </a:r>
          </a:p>
          <a:p xmlns:a="http://schemas.openxmlformats.org/drawingml/2006/main">
            <a:r>
              <a:t>            "baseline": 0.06,</a:t>
            </a:r>
          </a:p>
          <a:p xmlns:a="http://schemas.openxmlformats.org/drawingml/2006/main">
            <a:r>
              <a:t>            "selected": 0.06,</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0.11,</a:t>
            </a:r>
          </a:p>
          <a:p xmlns:a="http://schemas.openxmlformats.org/drawingml/2006/main">
            <a:r>
              <a:t>            "selected": 0.11,</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0.08,</a:t>
            </a:r>
          </a:p>
          <a:p xmlns:a="http://schemas.openxmlformats.org/drawingml/2006/main">
            <a:r>
              <a:t>            "selected": 0.08,</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0.07,</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"lodging_rate_pct": {</a:t>
            </a:r>
          </a:p>
          <a:p xmlns:a="http://schemas.openxmlformats.org/drawingml/2006/main">
            <a:r>
              <a:t>        "test_mae": 0.3,</a:t>
            </a:r>
          </a:p>
          <a:p xmlns:a="http://schemas.openxmlformats.org/drawingml/2006/main">
            <a:r>
              <a:t>        "recursive_mae": {</a:t>
            </a:r>
          </a:p>
          <a:p xmlns:a="http://schemas.openxmlformats.org/drawingml/2006/main">
            <a:r>
              <a:t>          "1": {</a:t>
            </a:r>
          </a:p>
          <a:p xmlns:a="http://schemas.openxmlformats.org/drawingml/2006/main">
            <a:r>
              <a:t>            "baseline": 0.4,</a:t>
            </a:r>
          </a:p>
          <a:p xmlns:a="http://schemas.openxmlformats.org/drawingml/2006/main">
            <a:r>
              <a:t>            "selected": 0.4,</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0.2,</a:t>
            </a:r>
          </a:p>
          <a:p xmlns:a="http://schemas.openxmlformats.org/drawingml/2006/main">
            <a:r>
              <a:t>            "selected": 0.2,</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0.2,</a:t>
            </a:r>
          </a:p>
          <a:p xmlns:a="http://schemas.openxmlformats.org/drawingml/2006/main">
            <a:r>
              <a:t>            "selected": 0.2,</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0.3,</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"lodging_searches": {</a:t>
            </a:r>
          </a:p>
          <a:p xmlns:a="http://schemas.openxmlformats.org/drawingml/2006/main">
            <a:r>
              <a:t>        "test_mae": 526.5,</a:t>
            </a:r>
          </a:p>
          <a:p xmlns:a="http://schemas.openxmlformats.org/drawingml/2006/main">
            <a:r>
              <a:t>        "recursive_mae": {</a:t>
            </a:r>
          </a:p>
          <a:p xmlns:a="http://schemas.openxmlformats.org/drawingml/2006/main">
            <a:r>
              <a:t>          "1": {</a:t>
            </a:r>
          </a:p>
          <a:p xmlns:a="http://schemas.openxmlformats.org/drawingml/2006/main">
            <a:r>
              <a:t>            "baseline": 779,</a:t>
            </a:r>
          </a:p>
          <a:p xmlns:a="http://schemas.openxmlformats.org/drawingml/2006/main">
            <a:r>
              <a:t>            "selected": 779,</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391.5,</a:t>
            </a:r>
          </a:p>
          <a:p xmlns:a="http://schemas.openxmlformats.org/drawingml/2006/main">
            <a:r>
              <a:t>            "selected": 391.5,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274,</a:t>
            </a:r>
          </a:p>
          <a:p xmlns:a="http://schemas.openxmlformats.org/drawingml/2006/main">
            <a:r>
              <a:t>            "selected": 274,</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526.5,</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"navigation_searches": {</a:t>
            </a:r>
          </a:p>
          <a:p xmlns:a="http://schemas.openxmlformats.org/drawingml/2006/main">
            <a:r>
              <a:t>        "test_mae": 20482.57,</a:t>
            </a:r>
          </a:p>
          <a:p xmlns:a="http://schemas.openxmlformats.org/drawingml/2006/main">
            <a:r>
              <a:t>        "recursive_mae": {</a:t>
            </a:r>
          </a:p>
          <a:p xmlns:a="http://schemas.openxmlformats.org/drawingml/2006/main">
            <a:r>
              <a:t>          "1": {</a:t>
            </a:r>
          </a:p>
          <a:p xmlns:a="http://schemas.openxmlformats.org/drawingml/2006/main">
            <a:r>
              <a:t>            "baseline": 9487,</a:t>
            </a:r>
          </a:p>
          <a:p xmlns:a="http://schemas.openxmlformats.org/drawingml/2006/main">
            <a:r>
              <a:t>            "selected": 20785,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6758.5,</a:t>
            </a:r>
          </a:p>
          <a:p xmlns:a="http://schemas.openxmlformats.org/drawingml/2006/main">
            <a:r>
              <a:t>            "selected": 14198,</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14633,</a:t>
            </a:r>
          </a:p>
          <a:p xmlns:a="http://schemas.openxmlformats.org/drawingml/2006/main">
            <a:r>
              <a:t>            "selected": 18839,</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"RandomForestRegressor",</a:t>
            </a:r>
          </a:p>
          <a:p xmlns:a="http://schemas.openxmlformats.org/drawingml/2006/main">
            <a:r>
              <a:t>        "baseline_test_mae": 12060,</a:t>
            </a:r>
          </a:p>
          <a:p xmlns:a="http://schemas.openxmlformats.org/drawingml/2006/main">
            <a:r>
              <a:t>        "model_reliability": "below_baseline_on_test",</a:t>
            </a:r>
          </a:p>
          <a:p xmlns:a="http://schemas.openxmlformats.org/drawingml/2006/main">
            <a:r>
              <a:t>        "beats_baseline_on_test": false,</a:t>
            </a:r>
          </a:p>
          <a:p xmlns:a="http://schemas.openxmlformats.org/drawingml/2006/main">
            <a:r>
              <a:t>        "recursive_horizons_worse_than_baseline":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"test_period": "202603~202606",</a:t>
            </a:r>
          </a:p>
          <a:p xmlns:a="http://schemas.openxmlformats.org/drawingml/2006/main">
            <a:r>
              <a:t>    "selection_basis": "validation_mae_only",</a:t>
            </a:r>
          </a:p>
          <a:p xmlns:a="http://schemas.openxmlformats.org/drawingml/2006/main">
            <a:r>
              <a:t>    "validation_period": "202512~202602",</a:t>
            </a:r>
          </a:p>
          <a:p xmlns:a="http://schemas.openxmlformats.org/drawingml/2006/main">
            <a:r>
              <a:t>    "longer_horizon_status": "exploratory_not_recursively_backtested",</a:t>
            </a:r>
          </a:p>
          <a:p xmlns:a="http://schemas.openxmlformats.org/drawingml/2006/main">
            <a:r>
              <a:t>    "forecast_horizon_months": 6,</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0.019303448467232462,</a:t>
            </a:r>
          </a:p>
          <a:p xmlns:a="http://schemas.openxmlformats.org/drawingml/2006/main">
            <a:r>
              <a:t>    "spending_target_pct": 0.04151694433378397,</a:t>
            </a:r>
          </a:p>
          <a:p xmlns:a="http://schemas.openxmlformats.org/drawingml/2006/main">
            <a:r>
              <a:t>    "target_origin": "operating_capacity"</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"총 예산 = Σ min(적격 결제액 × 가정 환급률, 건별 상한액). (기획 가정/미확정 견적)",</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"총 예산 = Σ min(적격 결제액 × 가정 환급률, 건별 상한액). (기획 가정/미확정 견적)",</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a:p xmlns:a="http://schemas.openxmlformats.org/drawingml/2006/main">
            <a:r>
              <a:t>표지 사진 출처: {"title": "내원사(대전)", "address": "대전광역시 서구 배재로197번길 200", "summary": "한국관광공사 국문관광정보 API가 반환한 선택 지역 관광자원", "image_url": "http://tong.visitkorea.or.kr/cms/resource/79/3034979_image2_1.JPG", "source_id": "tour-api:298208", "content_id": "298208", "source_url": "https://apis.data.go.kr/B551011/KorService2", "source_type": "open_api", "content_type_id":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dataset:30170:1 | 한국관광 데이터랩 · 대전광역시 서구 순 방문자 수 및 숙박 비율 (이동통신 기반 외지인) | https://datalab.visitkorea.or.kr/</a:t>
            </a:r>
          </a:p>
          <a:p>
            <a:r>
              <a:t>dataset:30170:2 | 한국관광 데이터랩 · 대전광역시 서구 월간 순 방문자 수 (이동통신 기반 외지인) | https://datalab.visitkorea.or.kr/</a:t>
            </a:r>
          </a:p>
          <a:p>
            <a:r>
              <a:t>dataset:30170:3 | 한국관광 데이터랩 · 대전광역시 서구 관광소비 추이_외지인 | https://datalab.visitkorea.or.kr/</a:t>
            </a:r>
          </a:p>
          <a:p>
            <a:r>
              <a:t>dataset:30170:4 | 한국관광 데이터랩 · 대전광역시 서구 숙박방문자 비율 추이 (이동통신 기반 외지인) | https://datalab.visitkorea.or.kr/</a:t>
            </a:r>
          </a:p>
          <a:p>
            <a:r>
              <a:t>dataset:30170:5 | 한국관광 데이터랩 · 대전광역시 서구 평균 숙박일 (이동통신 기반 외지인) | https://datalab.visitkorea.or.kr/</a:t>
            </a:r>
          </a:p>
          <a:p>
            <a:r>
              <a:t>dataset:30170:6 | 한국관광 데이터랩 · 대전광역시 서구 내비게이션 목적지 유형별 검색량 | https://datalab.visitkorea.or.kr/</a:t>
            </a:r>
          </a:p>
          <a:p>
            <a:r>
              <a:t>dataset:30170:7 | 한국관광 데이터랩 · 대전광역시 서구 SNS 언급량 | https://datalab.visitkorea.or.kr/</a:t>
            </a:r>
          </a:p>
          <a:p>
            <a:r>
              <a:t>datalab:12c41f8a3e52:f92921dca662 | 한국관광 데이터랩 공식 다운로드 · 대전광역시_서구/방문자/2025_01_12.zip | https://datalab.visitkorea.or.kr/</a:t>
            </a:r>
          </a:p>
          <a:p>
            <a:r>
              <a:t>datalab:162285800b98:dbba3ac2e220 | 한국관광 데이터랩 공식 다운로드 · 대전광역시_서구/관광소비/2025_01_12.zip | https://datalab.visitkorea.or.kr/</a:t>
            </a:r>
          </a:p>
          <a:p>
            <a:r>
              <a:t>datalab:1bec5b4405e1:6c5494eef7c6 | 한국관광 데이터랩 공식 다운로드 · 대전광역시_서구/숙박_체류시간/2025_01_12.zip | https://datalab.visitkorea.or.kr/</a:t>
            </a:r>
          </a:p>
          <a:p>
            <a:r>
              <a:t>datalab:7a4db91d6ba9:d81294f3e5a0 | 한국관광 데이터랩 공식 다운로드 · 대전광역시_서구/관광소비/2026_01_06.zip | https://datalab.visitkorea.or.kr/</a:t>
            </a:r>
          </a:p>
          <a:p>
            <a:r>
              <a:t>datalab:cc1dc8fb5607:77f3b69cfb89 | 한국관광 데이터랩 공식 다운로드 · 대전광역시_서구/방문자/2026_01_06.zip | https://datalab.visitkorea.or.kr/</a:t>
            </a:r>
          </a:p>
          <a:p>
            <a:r>
              <a:t>datalab:e53d144382ee:fc025995a6df | 한국관광 데이터랩 공식 다운로드 · 대전광역시_서구/숙박_체류시간/2026_01_06.zip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regional-status:0c68fedc2071:0ad82310f803 | 한국관광 데이터랩 지역별 관광 현황 · 대전광역시 서구 · 지역집중률 | https://datalab.visitkorea.or.kr/</a:t>
            </a:r>
          </a:p>
          <a:p>
            <a:r>
              <a:t>regional-status:4cddd6aa75d4:be8b01ec64e2 | 한국관광 데이터랩 지역별 관광 현황 · 대전광역시 서구 · 유입유출 | https://datalab.visitkorea.or.kr/</a:t>
            </a:r>
          </a:p>
          <a:p>
            <a:r>
              <a:t>regional-status:8c9a813e95eb:5e0cc3f56b73 | 한국관광 데이터랩 지역별 관광 현황 · 대전광역시 서구 · 인기관광지 | https://datalab.visitkorea.or.kr/</a:t>
            </a:r>
          </a:p>
          <a:p>
            <a:r>
              <a:t>ml:30170:regional-demand-v3.1:202606 | 지역 관광수요 ML 전망 · 공식 관측값 아님 | URL 미기록</a:t>
            </a:r>
          </a:p>
          <a:p>
            <a:r>
              <a:t>tour-api:2899643 | 갈마짬뽕 | https://apis.data.go.kr/B551011/KorService2</a:t>
            </a:r>
          </a:p>
          <a:p>
            <a:r>
              <a:t>tour-api:2899637 | 관저당 | https://apis.data.go.kr/B551011/KorService2</a:t>
            </a:r>
          </a:p>
          <a:p>
            <a:r>
              <a:t>tour-api:1932079 | 굿모닝레지던스호텔휴 | https://apis.data.go.kr/B551011/KorService2</a:t>
            </a:r>
          </a:p>
          <a:p>
            <a:r>
              <a:t>tour-api:133881 | 귀빈돌솥밥 | https://apis.data.go.kr/B551011/KorService2</a:t>
            </a:r>
          </a:p>
          <a:p>
            <a:r>
              <a:t>tour-api:2758252 | 남선공원 | https://apis.data.go.kr/B551011/KorService2</a:t>
            </a:r>
          </a:p>
          <a:p>
            <a:r>
              <a:t>tour-api:298208 | 내원사(대전) | https://apis.data.go.kr/B551011/KorService2</a:t>
            </a:r>
          </a:p>
          <a:p>
            <a:r>
              <a:t>tour-api:3452550 | 노크노크 | https://apis.data.go.kr/B551011/KorService2</a:t>
            </a:r>
          </a:p>
          <a:p>
            <a:r>
              <a:t>tour-api:2899585 | 대성콩국수 | https://apis.data.go.kr/B551011/KorService2</a:t>
            </a:r>
          </a:p>
          <a:p>
            <a:r>
              <a:t>tour-api:130802 | 대전 가수원도서관 | https://apis.data.go.kr/B551011/KorService2</a:t>
            </a:r>
          </a:p>
          <a:p>
            <a:r>
              <a:t>tour-api:2743325 | 대전광역시청 시민잔디광장 | https://apis.data.go.kr/B551011/KorService2</a:t>
            </a:r>
          </a:p>
          <a:p>
            <a:r>
              <a:t>tour-api:130197 | 대전서구문화원 | https://apis.data.go.kr/B551011/KorService2</a:t>
            </a:r>
          </a:p>
          <a:p>
            <a:r>
              <a:t>tour-api:2865847 | 델빠네 | https://apis.data.go.kr/B551011/KorService2</a:t>
            </a:r>
          </a:p>
          <a:p>
            <a:r>
              <a:t>tour-api:2758334 | 도마큰시장 | https://apis.data.go.kr/B551011/KorService2</a:t>
            </a:r>
          </a:p>
          <a:p>
            <a:r>
              <a:t>tour-api:1955818 | 도산서원(대전) | https://apis.data.go.kr/B551011/KorService2</a:t>
            </a:r>
          </a:p>
          <a:p>
            <a:r>
              <a:t>tour-api:2758341 | 둔산꽃시장 | https://apis.data.go.kr/B551011/KorService2</a:t>
            </a:r>
          </a:p>
          <a:p>
            <a:r>
              <a:t>tour-api:1623725 | 둔산전자타운 | https://apis.data.go.kr/B551011/KorService2</a:t>
            </a:r>
          </a:p>
          <a:p>
            <a:r>
              <a:t>tour-api:132661 | 롯데백화점 (대전점) | https://apis.data.go.kr/B551011/KorService2</a:t>
            </a:r>
          </a:p>
          <a:p>
            <a:r>
              <a:t>tour-api:2758646 | 마치광장 | https://apis.data.go.kr/B551011/KorService2</a:t>
            </a:r>
          </a:p>
          <a:p>
            <a:r>
              <a:t>tour-api:2899544 | 몽뜨 | https://apis.data.go.kr/B551011/KorService2</a:t>
            </a:r>
          </a:p>
          <a:p>
            <a:r>
              <a:t>tour-api:2865914 | 미세노센세 | https://apis.data.go.kr/B551011/KorService2</a:t>
            </a:r>
          </a:p>
          <a:p>
            <a:r>
              <a:t>reference:kto:2026:local-airport | 요즘, 한국관광 2호 - 지방공항 연계 지역관광 활성화 방안 | PDF 44쪽, PDF 40쪽, PDF 41쪽, PDF 41쪽, PDF 43쪽 | https://datalab.visitkorea.or.kr/site/portal/ex/bbs/View.do?bcIdx=311068&amp;cbIdx=1135&amp;pageIndex=1</a:t>
            </a:r>
          </a:p>
          <a:p>
            <a:r>
              <a:t>web:30170:1 | 여행가는 달 지역 여행할인 모아보기 | https://korean.visitkorea.or.kr/travelmonth/benefit.do?modal=benefit-190</a:t>
            </a:r>
          </a:p>
          <a:p>
            <a:r>
              <a:t>web:30170:2 | 대전광역시_문화시설 | 공공데이터포털 | https://www.data.go.kr/data/15112114/openapi.do?recommendDataYn=Y</a:t>
            </a:r>
          </a:p>
          <a:p>
            <a:r>
              <a:t>web:30170:3 | 대전광역시 문화관광(숙박정보) 데이터 | 공공데이터포털 | https://www.data.go.kr/dataset/15001021/openapi.do</a:t>
            </a:r>
          </a:p>
          <a:p>
            <a:r>
              <a:t>web:30170:4 | 대전문화관광해설사 신규 양성 교육 | 한국관광공사 관광e배움터 | https://touredu.visitkorea.or.kr/home/pkgEdu/pkgEduDetail?crsCd=C202600107&amp;eduPlanYr=2026&amp;eduPlanYrStepCnt=1</a:t>
            </a:r>
          </a:p>
          <a:p>
            <a:r>
              <a:t>web:30170:5 | 대전광역시 서구_체육시설 현황 | 공공데이터포털 | https://www.data.go.kr/dataset/15037511/fileData.do</a:t>
            </a:r>
          </a:p>
          <a:p>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case:41508ca81cf29f | 한국관광 데이터랩 · 안동탈춤축제 연도별 방문자 추이 | https://datalab.visitkorea.or.kr/</a:t>
            </a:r>
          </a:p>
          <a:p>
            <a:r>
              <a:t>case:festival:01474ef75569b1 | 한국관광 데이터랩 · 문경찻사발축제 방문자 추이 | https://datalab.visitkorea.or.kr/</a:t>
            </a:r>
          </a:p>
          <a:p>
            <a:r>
              <a:t>case:28ff66d9b44637 | 2025년 문화예술 축제 통합 지원사업 종합결과보고서 | https://culture.seoul.go.kr/culture/cmmn/file/fileDown.do?atchFileId=bb34395b25504c66a77ef69999cacb1c&amp;bbsId=B0000006&amp;fileSn=1</a:t>
            </a:r>
          </a:p>
          <a:p>
            <a:r>
              <a:t>case:58c0694a3e85d8 | 귀촌 '원조 반값'은 다르다… 강진서 전국 확산 '체류 관광 도시' | https://jnfarm.jeonnam.go.kr/board/FARM_BOARD_008/boardView.do?bdId=BD_00000000000015383&amp;menuCd=farm004002</a:t>
            </a:r>
          </a:p>
          <a:p>
            <a:r>
              <a:t>case:4544b7bca8ebab | 요즘, 한국관광 2호 - 지방공항 연계 지역관광 활성화 방안 | https://datalab.visitkorea.or.kr/site/portal/ex/bbs/View.do?bcIdx=311068&amp;cbIdx=1135&amp;pageIndex=1</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대전광역시 서구 순 방문자 수 및 숙박 비율 (이동통신 기반 외지인)",</a:t>
            </a:r>
          </a:p>
          <a:p>
            <a:r>
              <a:t>      "summary": "월간 순 방문자 수: 4,619,168명 (관측 기준월: 2026-06)",</a:t>
            </a:r>
          </a:p>
          <a:p>
            <a:r>
              <a:t>      "source_id": "dataset:30170:1",</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월간 순 방문자 수 (이동통신 기반 외지인)",</a:t>
            </a:r>
          </a:p>
          <a:p>
            <a:r>
              <a:t>      "summary": "전년동월 외지인 방문자 증감률: -3.5% (관측 기준월: 2026-06)",</a:t>
            </a:r>
          </a:p>
          <a:p>
            <a:r>
              <a:t>      "source_id": "dataset:30170:2",</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관광소비 추이_외지인",</a:t>
            </a:r>
          </a:p>
          <a:p>
            <a:r>
              <a:t>      "summary": "월간 외지인 관광소비 총액: 76,758,413,000원 (관측 기준월: 2026-06)",</a:t>
            </a:r>
          </a:p>
          <a:p>
            <a:r>
              <a:t>      "source_id": "dataset:30170:3",</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숙박방문자 비율 추이 (이동통신 기반 외지인)",</a:t>
            </a:r>
          </a:p>
          <a:p>
            <a:r>
              <a:t>      "summary": "외지인 숙박 방문 비율: 6.7% (관측 기준월: 2026-06)",</a:t>
            </a:r>
          </a:p>
          <a:p>
            <a:r>
              <a:t>      "source_id": "dataset:30170:4",</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평균 숙박일 (이동통신 기반 외지인)",</a:t>
            </a:r>
          </a:p>
          <a:p>
            <a:r>
              <a:t>      "summary": "외지인 평균 숙박일수: 2.81일 (관측 기준월: 2026-06)",</a:t>
            </a:r>
          </a:p>
          <a:p>
            <a:r>
              <a:t>      "source_id": "dataset:30170:5",</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내비게이션 목적지 유형별 검색량",</a:t>
            </a:r>
          </a:p>
          <a:p>
            <a:r>
              <a:t>      "summary": "내비게이션 목적지 검색량: 191,346건 (관측 기준월: 2026-06)",</a:t>
            </a:r>
          </a:p>
          <a:p>
            <a:r>
              <a:t>      "source_id": "dataset:30170:6",</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SNS 언급량",</a:t>
            </a:r>
          </a:p>
          <a:p>
            <a:r>
              <a:t>      "summary": "SNS 언급량: 54,388건 (관측 기준월: 2026-06)",</a:t>
            </a:r>
          </a:p>
          <a:p>
            <a:r>
              <a:t>      "source_id": "dataset:30170:7",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대전광역시_서구/방문자/2025_01_12.zip",</a:t>
            </a:r>
          </a:p>
          <a:p>
            <a:r>
              <a:t>      "summary": "전국 비교 기준 기간: 2025-07 ~ 2026-06",</a:t>
            </a:r>
          </a:p>
          <a:p>
            <a:r>
              <a:t>      "source_id": "datalab:12c41f8a3e52:f92921dca662",</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대전광역시_서구/관광소비/2025_01_12.zip",</a:t>
            </a:r>
          </a:p>
          <a:p>
            <a:r>
              <a:t>      "summary": "전국 비교 기준 기간: 2025-07 ~ 2026-06",</a:t>
            </a:r>
          </a:p>
          <a:p>
            <a:r>
              <a:t>      "source_id": "datalab:162285800b98:dbba3ac2e220",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대전광역시_서구/숙박_체류시간/2025_01_12.zip",</a:t>
            </a:r>
          </a:p>
          <a:p>
            <a:r>
              <a:t>      "summary": "전국 비교 기준 기간: 2025-07 ~ 2026-06",</a:t>
            </a:r>
          </a:p>
          <a:p>
            <a:r>
              <a:t>      "source_id": "datalab:1bec5b4405e1:6c5494eef7c6",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대전광역시_서구/관광소비/2026_01_06.zip",</a:t>
            </a:r>
          </a:p>
          <a:p>
            <a:r>
              <a:t>      "summary": "전국 비교 기준 기간: 2025-07 ~ 2026-06",</a:t>
            </a:r>
          </a:p>
          <a:p>
            <a:r>
              <a:t>      "source_id": "datalab:7a4db91d6ba9:d81294f3e5a0",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대전광역시_서구/방문자/2026_01_06.zip",</a:t>
            </a:r>
          </a:p>
          <a:p>
            <a:r>
              <a:t>      "summary": "전국 비교 기준 기간: 2025-07 ~ 2026-06",</a:t>
            </a:r>
          </a:p>
          <a:p>
            <a:r>
              <a:t>      "source_id": "datalab:cc1dc8fb5607:77f3b69cfb89",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대전광역시_서구/숙박_체류시간/2026_01_06.zip",</a:t>
            </a:r>
          </a:p>
          <a:p>
            <a:r>
              <a:t>      "summary": "전국 비교 기준 기간: 2025-07 ~ 2026-06",</a:t>
            </a:r>
          </a:p>
          <a:p>
            <a:r>
              <a:t>      "source_id": "datalab:e53d144382ee:fc025995a6df",</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대전광역시 서구 · 지역집중률",</a:t>
            </a:r>
          </a:p>
          <a:p>
            <a:r>
              <a:t>      "summary": "관측 기간: 2025-07 ~ 2026-06. 유입·유출·인기장소 또는 30일 집중 운영 신호.",</a:t>
            </a:r>
          </a:p>
          <a:p>
            <a:r>
              <a:t>      "source_id": "regional-status:0c68fedc2071:0ad82310f803",</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유입유출",</a:t>
            </a:r>
          </a:p>
          <a:p>
            <a:r>
              <a:t>      "summary": "관측 기간: 2025-07 ~ 2026-06. 유입·유출·인기장소 또는 30일 집중 운영 신호.",</a:t>
            </a:r>
          </a:p>
          <a:p>
            <a:r>
              <a:t>      "source_id": "regional-status:4cddd6aa75d4:be8b01ec64e2",</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인기관광지",</a:t>
            </a:r>
          </a:p>
          <a:p>
            <a:r>
              <a:t>      "summary": "관측 기간: 2025-07 ~ 2026-06. 유입·유출·인기장소 또는 30일 집중 운영 신호.",</a:t>
            </a:r>
          </a:p>
          <a:p>
            <a:r>
              <a:t>      "source_id": "regional-status:8c9a813e95eb:5e0cc3f56b73",</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"ml:30170:regional-demand-v3.1:202606",</a:t>
            </a:r>
          </a:p>
          <a:p>
            <a:r>
              <a:t>      "source_url": "",</a:t>
            </a:r>
          </a:p>
          <a:p>
            <a:r>
              <a:t>      "source_type": "model_forecast",</a:t>
            </a:r>
          </a:p>
          <a:p>
            <a:r>
              <a:t>      "model_version": "regional-demand-v3.1",</a:t>
            </a:r>
          </a:p>
          <a:p>
            <a:r>
              <a:t>      "data_fingerprint": "edea7fa8270d3b72aee15e6816efec3fce699e1bab55ebd844a10870c2f0e0a0"</a:t>
            </a:r>
          </a:p>
          <a:p>
            <a:r>
              <a:t>    },</a:t>
            </a:r>
          </a:p>
          <a:p>
            <a:r>
              <a:t>    {</a:t>
            </a:r>
          </a:p>
          <a:p>
            <a:r>
              <a:t>      "title": "갈마짬뽕",</a:t>
            </a:r>
          </a:p>
          <a:p>
            <a:r>
              <a:t>      "address": "대전광역시 서구 월평동로 5-11 (갈마동)",</a:t>
            </a:r>
          </a:p>
          <a:p>
            <a:r>
              <a:t>      "summary": "한국관광공사 국문관광정보 API가 반환한 선택 지역 관광자원",</a:t>
            </a:r>
          </a:p>
          <a:p>
            <a:r>
              <a:t>      "image_url": "http://tong.visitkorea.or.kr/cms/resource/38/2899638_image2_1.jpg",</a:t>
            </a:r>
          </a:p>
          <a:p>
            <a:r>
              <a:t>      "source_id": "tour-api:2899643",</a:t>
            </a:r>
          </a:p>
          <a:p>
            <a:r>
              <a:t>      "content_id": "2899643",</a:t>
            </a:r>
          </a:p>
          <a:p>
            <a:r>
              <a:t>      "source_url": "https://apis.data.go.kr/B551011/KorService2",</a:t>
            </a:r>
          </a:p>
          <a:p>
            <a:r>
              <a:t>      "source_type": "open_api",</a:t>
            </a:r>
          </a:p>
          <a:p>
            <a:r>
              <a:t>      "content_type_id": "39"</a:t>
            </a:r>
          </a:p>
          <a:p>
            <a:r>
              <a:t>    },</a:t>
            </a:r>
          </a:p>
          <a:p>
            <a:r>
              <a:t>    {</a:t>
            </a:r>
          </a:p>
          <a:p>
            <a:r>
              <a:t>      "title": "관저당",</a:t>
            </a:r>
          </a:p>
          <a:p>
            <a:r>
              <a:t>      "address": "대전광역시 서구 구봉산북로21번길 11 (관저동)",</a:t>
            </a:r>
          </a:p>
          <a:p>
            <a:r>
              <a:t>      "summary": "한국관광공사 국문관광정보 API가 반환한 선택 지역 관광자원",</a:t>
            </a:r>
          </a:p>
          <a:p>
            <a:r>
              <a:t>      "image_url": "http://tong.visitkorea.or.kr/cms/resource/36/2899636_image2_1.jpg",</a:t>
            </a:r>
          </a:p>
          <a:p>
            <a:r>
              <a:t>      "source_id": "tour-api:2899637",</a:t>
            </a:r>
          </a:p>
          <a:p>
            <a:r>
              <a:t>      "content_id": "2899637",</a:t>
            </a:r>
          </a:p>
          <a:p>
            <a:r>
              <a:t>      "source_url": "https://apis.data.go.kr/B551011/KorService2",</a:t>
            </a:r>
          </a:p>
          <a:p>
            <a:r>
              <a:t>      "source_type": "open_api",</a:t>
            </a:r>
          </a:p>
          <a:p>
            <a:r>
              <a:t>      "content_type_id": "39"</a:t>
            </a:r>
          </a:p>
          <a:p>
            <a:r>
              <a:t>    },</a:t>
            </a:r>
          </a:p>
          <a:p>
            <a:r>
              <a:t>    {</a:t>
            </a:r>
          </a:p>
          <a:p>
            <a:r>
              <a:t>      "title": "굿모닝레지던스호텔휴",</a:t>
            </a:r>
          </a:p>
          <a:p>
            <a:r>
              <a:t>      "address": "대전광역시 서구 둔산로73번길 21 (둔산동)",</a:t>
            </a:r>
          </a:p>
          <a:p>
            <a:r>
              <a:t>      "summary": "한국관광공사 국문관광정보 API가 반환한 선택 지역 관광자원",</a:t>
            </a:r>
          </a:p>
          <a:p>
            <a:r>
              <a:t>      "image_url": "http://tong.visitkorea.or.kr/cms/resource/87/2584687_image2_1.jpg",</a:t>
            </a:r>
          </a:p>
          <a:p>
            <a:r>
              <a:t>      "source_id": "tour-api:1932079",</a:t>
            </a:r>
          </a:p>
          <a:p>
            <a:r>
              <a:t>      "content_id": "1932079",</a:t>
            </a:r>
          </a:p>
          <a:p>
            <a:r>
              <a:t>      "source_url": "https://apis.data.go.kr/B551011/KorService2",</a:t>
            </a:r>
          </a:p>
          <a:p>
            <a:r>
              <a:t>      "source_type": "open_api",</a:t>
            </a:r>
          </a:p>
          <a:p>
            <a:r>
              <a:t>      "content_type_id": "32"</a:t>
            </a:r>
          </a:p>
          <a:p>
            <a:r>
              <a:t>    },</a:t>
            </a:r>
          </a:p>
          <a:p>
            <a:r>
              <a:t>    {</a:t>
            </a:r>
          </a:p>
          <a:p>
            <a:r>
              <a:t>      "title": "귀빈돌솥밥",</a:t>
            </a:r>
          </a:p>
          <a:p>
            <a:r>
              <a:t>      "address": "대전광역시 서구 만년로68번길 21",</a:t>
            </a:r>
          </a:p>
          <a:p>
            <a:r>
              <a:t>      "summary": "한국관광공사 국문관광정보 API가 반환한 선택 지역 관광자원",</a:t>
            </a:r>
          </a:p>
          <a:p>
            <a:r>
              <a:t>      "image_url": "http://tong.visitkorea.or.kr/cms/resource/72/3060272_image2_1.JPG",</a:t>
            </a:r>
          </a:p>
          <a:p>
            <a:r>
              <a:t>      "source_id": "tour-api:133881",</a:t>
            </a:r>
          </a:p>
          <a:p>
            <a:r>
              <a:t>      "content_id": "133881",</a:t>
            </a:r>
          </a:p>
          <a:p>
            <a:r>
              <a:t>      "source_url": "https://apis.data.go.kr/B551011/KorService2",</a:t>
            </a:r>
          </a:p>
          <a:p>
            <a:r>
              <a:t>      "source_type": "open_api",</a:t>
            </a:r>
          </a:p>
          <a:p>
            <a:r>
              <a:t>      "content_type_id": "39"</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"title": "내원사(대전)",</a:t>
            </a:r>
          </a:p>
          <a:p>
            <a:r>
              <a:t>      "address": "대전광역시 서구 배재로197번길 200",</a:t>
            </a:r>
          </a:p>
          <a:p>
            <a:r>
              <a:t>      "summary": "한국관광공사 국문관광정보 API가 반환한 선택 지역 관광자원",</a:t>
            </a:r>
          </a:p>
          <a:p>
            <a:r>
              <a:t>      "image_url": "http://tong.visitkorea.or.kr/cms/resource/79/3034979_image2_1.JPG",</a:t>
            </a:r>
          </a:p>
          <a:p>
            <a:r>
              <a:t>      "source_id": "tour-api:298208",</a:t>
            </a:r>
          </a:p>
          <a:p>
            <a:r>
              <a:t>      "content_id": "298208",</a:t>
            </a:r>
          </a:p>
          <a:p>
            <a:r>
              <a:t>      "source_url": "https://apis.data.go.kr/B551011/KorService2",</a:t>
            </a:r>
          </a:p>
          <a:p>
            <a:r>
              <a:t>      "source_type": "open_api",</a:t>
            </a:r>
          </a:p>
          <a:p>
            <a:r>
              <a:t>      "content_type_id": "12"</a:t>
            </a:r>
          </a:p>
          <a:p>
            <a:r>
              <a:t>    },</a:t>
            </a:r>
          </a:p>
          <a:p>
            <a:r>
              <a:t>    {</a:t>
            </a:r>
          </a:p>
          <a:p>
            <a:r>
              <a:t>      "title": "노크노크",</a:t>
            </a:r>
          </a:p>
          <a:p>
            <a:r>
              <a:t>      "address": "대전광역시 서구 둔산로 68 (둔산동)",</a:t>
            </a:r>
          </a:p>
          <a:p>
            <a:r>
              <a:t>      "summary": "한국관광공사 국문관광정보 API가 반환한 선택 지역 관광자원",</a:t>
            </a:r>
          </a:p>
          <a:p>
            <a:r>
              <a:t>      "image_url": "http://tong.visitkorea.or.kr/cms/resource/59/3453059_image2_1.jpg",</a:t>
            </a:r>
          </a:p>
          <a:p>
            <a:r>
              <a:t>      "source_id": "tour-api:3452550",</a:t>
            </a:r>
          </a:p>
          <a:p>
            <a:r>
              <a:t>      "content_id": "3452550",</a:t>
            </a:r>
          </a:p>
          <a:p>
            <a:r>
              <a:t>      "source_url": "https://apis.data.go.kr/B551011/KorService2",</a:t>
            </a:r>
          </a:p>
          <a:p>
            <a:r>
              <a:t>      "source_type": "open_api",</a:t>
            </a:r>
          </a:p>
          <a:p>
            <a:r>
              <a:t>      "content_type_id": "39"</a:t>
            </a:r>
          </a:p>
          <a:p>
            <a:r>
              <a:t>    },</a:t>
            </a:r>
          </a:p>
          <a:p>
            <a:r>
              <a:t>    {</a:t>
            </a:r>
          </a:p>
          <a:p>
            <a:r>
              <a:t>      "title": "대성콩국수",</a:t>
            </a:r>
          </a:p>
          <a:p>
            <a:r>
              <a:t>      "address": "대전광역시 서구 도산로 141",</a:t>
            </a:r>
          </a:p>
          <a:p>
            <a:r>
              <a:t>      "summary": "한국관광공사 국문관광정보 API가 반환한 선택 지역 관광자원",</a:t>
            </a:r>
          </a:p>
          <a:p>
            <a:r>
              <a:t>      "image_url": "http://tong.visitkorea.or.kr/cms/resource/69/2899569_image2_1.jpg",</a:t>
            </a:r>
          </a:p>
          <a:p>
            <a:r>
              <a:t>      "source_id": "tour-api:2899585",</a:t>
            </a:r>
          </a:p>
          <a:p>
            <a:r>
              <a:t>      "content_id": "2899585",</a:t>
            </a:r>
          </a:p>
          <a:p>
            <a:r>
              <a:t>      "source_url": "https://apis.data.go.kr/B551011/KorService2",</a:t>
            </a:r>
          </a:p>
          <a:p>
            <a:r>
              <a:t>      "source_type": "open_api",</a:t>
            </a:r>
          </a:p>
          <a:p>
            <a:r>
              <a:t>      "content_type_id": "39"</a:t>
            </a:r>
          </a:p>
          <a:p>
            <a:r>
              <a:t>    },</a:t>
            </a:r>
          </a:p>
          <a:p>
            <a:r>
              <a:t>    {</a:t>
            </a:r>
          </a:p>
          <a:p>
            <a:r>
              <a:t>      "title": "대전 가수원도서관",</a:t>
            </a:r>
          </a:p>
          <a:p>
            <a:r>
              <a:t>      "address": "대전광역시 서구 가수원로 91-11 (가수원동)",</a:t>
            </a:r>
          </a:p>
          <a:p>
            <a:r>
              <a:t>      "summary": "한국관광공사 국문관광정보 API가 반환한 선택 지역 관광자원",</a:t>
            </a:r>
          </a:p>
          <a:p>
            <a:r>
              <a:t>      "image_url": "http://tong.visitkorea.or.kr/cms/resource/58/3033558_image2_1.JPG",</a:t>
            </a:r>
          </a:p>
          <a:p>
            <a:r>
              <a:t>      "source_id": "tour-api:130802",</a:t>
            </a:r>
          </a:p>
          <a:p>
            <a:r>
              <a:t>      "content_id": "130802",</a:t>
            </a:r>
          </a:p>
          <a:p>
            <a:r>
              <a:t>      "source_url": "https://apis.data.go.kr/B551011/KorService2",</a:t>
            </a:r>
          </a:p>
          <a:p>
            <a:r>
              <a:t>      "source_type": "open_api",</a:t>
            </a:r>
          </a:p>
          <a:p>
            <a:r>
              <a:t>      "content_type_id": "14"</a:t>
            </a:r>
          </a:p>
          <a:p>
            <a:r>
              <a:t>    },</a:t>
            </a:r>
          </a:p>
          <a:p>
            <a:r>
              <a:t>    {</a:t>
            </a:r>
          </a:p>
          <a:p>
            <a:r>
              <a:t>      "title": "대전광역시청 시민잔디광장",</a:t>
            </a:r>
          </a:p>
          <a:p>
            <a:r>
              <a:t>      "address": "대전광역시 서구 둔산로 100",</a:t>
            </a:r>
          </a:p>
          <a:p>
            <a:r>
              <a:t>      "summary": "한국관광공사 국문관광정보 API가 반환한 선택 지역 관광자원",</a:t>
            </a:r>
          </a:p>
          <a:p>
            <a:r>
              <a:t>      "image_url": "http://tong.visitkorea.or.kr/cms/resource/86/3565586_image2_1.jpg",</a:t>
            </a:r>
          </a:p>
          <a:p>
            <a:r>
              <a:t>      "source_id": "tour-api:2743325",</a:t>
            </a:r>
          </a:p>
          <a:p>
            <a:r>
              <a:t>      "content_id": "2743325",</a:t>
            </a:r>
          </a:p>
          <a:p>
            <a:r>
              <a:t>      "source_url": "https://apis.data.go.kr/B551011/KorService2",</a:t>
            </a:r>
          </a:p>
          <a:p>
            <a:r>
              <a:t>      "source_type": "open_api",</a:t>
            </a:r>
          </a:p>
          <a:p>
            <a:r>
              <a:t>      "content_type_id": "12"</a:t>
            </a:r>
          </a:p>
          <a:p>
            <a:r>
              <a:t>    },</a:t>
            </a:r>
          </a:p>
          <a:p>
            <a:r>
              <a:t>    {</a:t>
            </a:r>
          </a:p>
          <a:p>
            <a:r>
              <a:t>      "title": "대전서구문화원",</a:t>
            </a:r>
          </a:p>
          <a:p>
            <a:r>
              <a:t>      "address": "대전광역시 서구 계룡로553번길 38",</a:t>
            </a:r>
          </a:p>
          <a:p>
            <a:r>
              <a:t>      "summary": "한국관광공사 국문관광정보 API가 반환한 선택 지역 관광자원",</a:t>
            </a:r>
          </a:p>
          <a:p>
            <a:r>
              <a:t>      "image_url": "http://tong.visitkorea.or.kr/cms/resource/43/3585043_image2_1.jpg",</a:t>
            </a:r>
          </a:p>
          <a:p>
            <a:r>
              <a:t>      "source_id": "tour-api:130197",</a:t>
            </a:r>
          </a:p>
          <a:p>
            <a:r>
              <a:t>      "content_id": "130197",</a:t>
            </a:r>
          </a:p>
          <a:p>
            <a:r>
              <a:t>      "source_url": "https://apis.data.go.kr/B551011/KorService2",</a:t>
            </a:r>
          </a:p>
          <a:p>
            <a:r>
              <a:t>      "source_type": "open_api",</a:t>
            </a:r>
          </a:p>
          <a:p>
            <a:r>
              <a:t>      "content_type_id": "14"</a:t>
            </a:r>
          </a:p>
          <a:p>
            <a:r>
              <a:t>    },</a:t>
            </a:r>
          </a:p>
          <a:p>
            <a:r>
              <a:t>    {</a:t>
            </a:r>
          </a:p>
          <a:p>
            <a:r>
              <a:t>      "title": "델빠네",</a:t>
            </a:r>
          </a:p>
          <a:p>
            <a:r>
              <a:t>      "address": "대전광역시 서구 원도안로207번길 16-61 (도안동)",</a:t>
            </a:r>
          </a:p>
          <a:p>
            <a:r>
              <a:t>      "summary": "한국관광공사 국문관광정보 API가 반환한 선택 지역 관광자원",</a:t>
            </a:r>
          </a:p>
          <a:p>
            <a:r>
              <a:t>      "image_url": "http://tong.visitkorea.or.kr/cms/resource/36/2865836_image2_1.jpg",</a:t>
            </a:r>
          </a:p>
          <a:p>
            <a:r>
              <a:t>      "source_id": "tour-api:2865847",</a:t>
            </a:r>
          </a:p>
          <a:p>
            <a:r>
              <a:t>      "content_id": "2865847",</a:t>
            </a:r>
          </a:p>
          <a:p>
            <a:r>
              <a:t>      "source_url": "https://apis.data.go.kr/B551011/KorService2",</a:t>
            </a:r>
          </a:p>
          <a:p>
            <a:r>
              <a:t>      "source_type": "open_api",</a:t>
            </a:r>
          </a:p>
          <a:p>
            <a:r>
              <a:t>      "content_type_id": "39"</a:t>
            </a:r>
          </a:p>
          <a:p>
            <a:r>
              <a:t>    },</a:t>
            </a:r>
          </a:p>
          <a:p>
            <a:r>
              <a:t>    {</a:t>
            </a:r>
          </a:p>
          <a:p>
            <a:r>
              <a:t>      "title": "도마큰시장",</a:t>
            </a:r>
          </a:p>
          <a:p>
            <a:r>
              <a:t>      "address": "대전광역시 서구 도마4길 69 (도마동)",</a:t>
            </a:r>
          </a:p>
          <a:p>
            <a:r>
              <a:t>      "summary": "한국관광공사 국문관광정보 API가 반환한 선택 지역 관광자원",</a:t>
            </a:r>
          </a:p>
          <a:p>
            <a:r>
              <a:t>      "image_url": "http://tong.visitkorea.or.kr/cms/resource/34/3565534_image2_1.jpg",</a:t>
            </a:r>
          </a:p>
          <a:p>
            <a:r>
              <a:t>      "source_id": "tour-api:2758334",</a:t>
            </a:r>
          </a:p>
          <a:p>
            <a:r>
              <a:t>      "content_id": "2758334",</a:t>
            </a:r>
          </a:p>
          <a:p>
            <a:r>
              <a:t>      "source_url": "https://apis.data.go.kr/B551011/KorService2",</a:t>
            </a:r>
          </a:p>
          <a:p>
            <a:r>
              <a:t>      "source_type": "open_api",</a:t>
            </a:r>
          </a:p>
          <a:p>
            <a:r>
              <a:t>      "content_type_id": "38"</a:t>
            </a:r>
          </a:p>
          <a:p>
            <a:r>
              <a:t>    },</a:t>
            </a:r>
          </a:p>
          <a:p>
            <a:r>
              <a:t>    {</a:t>
            </a:r>
          </a:p>
          <a:p>
            <a:r>
              <a:t>      "title": "도산서원(대전)",</a:t>
            </a:r>
          </a:p>
          <a:p>
            <a:r>
              <a:t>      "address": "대전광역시 서구 남선로 8",</a:t>
            </a:r>
          </a:p>
          <a:p>
            <a:r>
              <a:t>      "summary": "한국관광공사 국문관광정보 API가 반환한 선택 지역 관광자원",</a:t>
            </a:r>
          </a:p>
          <a:p>
            <a:r>
              <a:t>      "image_url": "http://tong.visitkorea.or.kr/cms/resource/24/3035024_image2_1.JPG",</a:t>
            </a:r>
          </a:p>
          <a:p>
            <a:r>
              <a:t>      "source_id": "tour-api:1955818",</a:t>
            </a:r>
          </a:p>
          <a:p>
            <a:r>
              <a:t>      "content_id": "1955818",</a:t>
            </a:r>
          </a:p>
          <a:p>
            <a:r>
              <a:t>      "source_url": "https://apis.data.go.kr/B551011/KorService2",</a:t>
            </a:r>
          </a:p>
          <a:p>
            <a:r>
              <a:t>      "source_type": "open_api",</a:t>
            </a:r>
          </a:p>
          <a:p>
            <a:r>
              <a:t>      "content_type_id": "12"</a:t>
            </a:r>
          </a:p>
          <a:p>
            <a:r>
              <a:t>    },</a:t>
            </a:r>
          </a:p>
          <a:p>
            <a:r>
              <a:t>    {</a:t>
            </a:r>
          </a:p>
          <a:p>
            <a:r>
              <a:t>      "title": "둔산꽃시장",</a:t>
            </a:r>
          </a:p>
          <a:p>
            <a:r>
              <a:t>      "address": "대전광역시 서구 둔산북로 22 (둔산동)",</a:t>
            </a:r>
          </a:p>
          <a:p>
            <a:r>
              <a:t>      "summary": "한국관광공사 국문관광정보 API가 반환한 선택 지역 관광자원",</a:t>
            </a:r>
          </a:p>
          <a:p>
            <a:r>
              <a:t>      "image_url": "http://tong.visitkorea.or.kr/cms/resource/31/2758631_image2_1.jpg",</a:t>
            </a:r>
          </a:p>
          <a:p>
            <a:r>
              <a:t>      "source_id": "tour-api:2758341",</a:t>
            </a:r>
          </a:p>
          <a:p>
            <a:r>
              <a:t>      "content_id": "2758341",</a:t>
            </a:r>
          </a:p>
          <a:p>
            <a:r>
              <a:t>      "source_url": "https://apis.data.go.kr/B551011/KorService2",</a:t>
            </a:r>
          </a:p>
          <a:p>
            <a:r>
              <a:t>      "source_type": "open_api",</a:t>
            </a:r>
          </a:p>
          <a:p>
            <a:r>
              <a:t>      "content_type_id": "38"</a:t>
            </a:r>
          </a:p>
          <a:p>
            <a:r>
              <a:t>    },</a:t>
            </a:r>
          </a:p>
          <a:p>
            <a:r>
              <a:t>    {</a:t>
            </a:r>
          </a:p>
          <a:p>
            <a:r>
              <a:t>      "title": "둔산전자타운",</a:t>
            </a:r>
          </a:p>
          <a:p>
            <a:r>
              <a:t>      "address": "대전광역시 서구 도산로403번길 21",</a:t>
            </a:r>
          </a:p>
          <a:p>
            <a:r>
              <a:t>      "summary": "한국관광공사 국문관광정보 API가 반환한 선택 지역 관광자원",</a:t>
            </a:r>
          </a:p>
          <a:p>
            <a:r>
              <a:t>      "image_url": "http://tong.visitkorea.or.kr/cms/resource/60/3565560_image2_1.jpg",</a:t>
            </a:r>
          </a:p>
          <a:p>
            <a:r>
              <a:t>      "source_id": "tour-api:1623725",</a:t>
            </a:r>
          </a:p>
          <a:p>
            <a:r>
              <a:t>      "content_id": "1623725",</a:t>
            </a:r>
          </a:p>
          <a:p>
            <a:r>
              <a:t>      "source_url": "https://apis.data.go.kr/B551011/KorService2",</a:t>
            </a:r>
          </a:p>
          <a:p>
            <a:r>
              <a:t>      "source_type": "open_api",</a:t>
            </a:r>
          </a:p>
          <a:p>
            <a:r>
              <a:t>      "content_type_id": "38"</a:t>
            </a:r>
          </a:p>
          <a:p>
            <a:r>
              <a:t>    },</a:t>
            </a:r>
          </a:p>
          <a:p>
            <a:r>
              <a:t>    {</a:t>
            </a:r>
          </a:p>
          <a:p>
            <a:r>
              <a:t>      "title": "롯데백화점 (대전점)",</a:t>
            </a:r>
          </a:p>
          <a:p>
            <a:r>
              <a:t>      "address": "대전광역시 서구 계룡로 598 (괴정동)",</a:t>
            </a:r>
          </a:p>
          <a:p>
            <a:r>
              <a:t>      "summary": "한국관광공사 국문관광정보 API가 반환한 선택 지역 관광자원",</a:t>
            </a:r>
          </a:p>
          <a:p>
            <a:r>
              <a:t>      "image_url": "http://tong.visitkorea.or.kr/cms/resource/21/3443221_image2_1.jpg",</a:t>
            </a:r>
          </a:p>
          <a:p>
            <a:r>
              <a:t>      "source_id": "tour-api:132661",</a:t>
            </a:r>
          </a:p>
          <a:p>
            <a:r>
              <a:t>      "content_id": "132661",</a:t>
            </a:r>
          </a:p>
          <a:p>
            <a:r>
              <a:t>      "source_url": "https://apis.data.go.kr/B551011/KorService2",</a:t>
            </a:r>
          </a:p>
          <a:p>
            <a:r>
              <a:t>      "source_type": "open_api",</a:t>
            </a:r>
          </a:p>
          <a:p>
            <a:r>
              <a:t>      "content_type_id": "38"</a:t>
            </a:r>
          </a:p>
          <a:p>
            <a:r>
              <a:t>    },</a:t>
            </a:r>
          </a:p>
          <a:p>
            <a:r>
              <a:t>    {</a:t>
            </a:r>
          </a:p>
          <a:p>
            <a:r>
              <a:t>      "title": "마치광장",</a:t>
            </a:r>
          </a:p>
          <a:p>
            <a:r>
              <a:t>      "address": "대전광역시 서구 구봉로131번길 27",</a:t>
            </a:r>
          </a:p>
          <a:p>
            <a:r>
              <a:t>      "summary": "한국관광공사 국문관광정보 API가 반환한 선택 지역 관광자원",</a:t>
            </a:r>
          </a:p>
          <a:p>
            <a:r>
              <a:t>      "image_url": "http://tong.visitkorea.or.kr/cms/resource/16/3542516_image2_1.jpg",</a:t>
            </a:r>
          </a:p>
          <a:p>
            <a:r>
              <a:t>      "source_id": "tour-api:2758646",</a:t>
            </a:r>
          </a:p>
          <a:p>
            <a:r>
              <a:t>      "content_id": "2758646",</a:t>
            </a:r>
          </a:p>
          <a:p>
            <a:r>
              <a:t>      "source_url": "https://apis.data.go.kr/B551011/KorService2",</a:t>
            </a:r>
          </a:p>
          <a:p>
            <a:r>
              <a:t>      "source_type": "open_api",</a:t>
            </a:r>
          </a:p>
          <a:p>
            <a:r>
              <a:t>      "content_type_id": "12"</a:t>
            </a:r>
          </a:p>
          <a:p>
            <a:r>
              <a:t>    },</a:t>
            </a:r>
          </a:p>
          <a:p>
            <a:r>
              <a:t>    {</a:t>
            </a:r>
          </a:p>
          <a:p>
            <a:r>
              <a:t>      "title": "몽뜨",</a:t>
            </a:r>
          </a:p>
          <a:p>
            <a:r>
              <a:t>      "address": "대전광역시 서구 원도안로257번길 48 (도안동)",</a:t>
            </a:r>
          </a:p>
          <a:p>
            <a:r>
              <a:t>      "summary": "한국관광공사 국문관광정보 API가 반환한 선택 지역 관광자원",</a:t>
            </a:r>
          </a:p>
          <a:p>
            <a:r>
              <a:t>      "image_url": "http://tong.visitkorea.or.kr/cms/resource/35/2899535_image2_1.jpg",</a:t>
            </a:r>
          </a:p>
          <a:p>
            <a:r>
              <a:t>      "source_id": "tour-api:2899544",</a:t>
            </a:r>
          </a:p>
          <a:p>
            <a:r>
              <a:t>      "content_id": "2899544",</a:t>
            </a:r>
          </a:p>
          <a:p>
            <a:r>
              <a:t>      "source_url": "https://apis.data.go.kr/B551011/KorService2",</a:t>
            </a:r>
          </a:p>
          <a:p>
            <a:r>
              <a:t>      "source_type": "open_api",</a:t>
            </a:r>
          </a:p>
          <a:p>
            <a:r>
              <a:t>      "content_type_id": "39"</a:t>
            </a:r>
          </a:p>
          <a:p>
            <a:r>
              <a:t>    },</a:t>
            </a:r>
          </a:p>
          <a:p>
            <a:r>
              <a:t>    {</a:t>
            </a:r>
          </a:p>
          <a:p>
            <a:r>
              <a:t>      "title": "미세노센세",</a:t>
            </a:r>
          </a:p>
          <a:p>
            <a:r>
              <a:t>      "address": "대전광역시 서구 계룡로553번안길 65 (탄방동)",</a:t>
            </a:r>
          </a:p>
          <a:p>
            <a:r>
              <a:t>      "summary": "한국관광공사 국문관광정보 API가 반환한 선택 지역 관광자원",</a:t>
            </a:r>
          </a:p>
          <a:p>
            <a:r>
              <a:t>      "image_url": "http://tong.visitkorea.or.kr/cms/resource/05/2865905_image2_1.jpg",</a:t>
            </a:r>
          </a:p>
          <a:p>
            <a:r>
              <a:t>      "source_id": "tour-api:2865914",</a:t>
            </a:r>
          </a:p>
          <a:p>
            <a:r>
              <a:t>      "content_id": "2865914",</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"관광",</a:t>
            </a:r>
          </a:p>
          <a:p>
            <a:r>
              <a:t>        "상권",</a:t>
            </a:r>
          </a:p>
          <a:p>
            <a:r>
              <a:t>        "성과",</a:t>
            </a:r>
          </a:p>
          <a:p>
            <a:r>
              <a:t>        "소비",</a:t>
            </a:r>
          </a:p>
          <a:p>
            <a:r>
              <a:t>        "수와",</a:t>
            </a:r>
          </a:p>
          <a:p>
            <a:r>
              <a:t>        "숙박",</a:t>
            </a:r>
          </a:p>
          <a:p>
            <a:r>
              <a:t>        "실제",</a:t>
            </a:r>
          </a:p>
          <a:p>
            <a:r>
              <a:t>        "연결한",</a:t>
            </a:r>
          </a:p>
          <a:p>
            <a:r>
              <a:t>        "예산",</a:t>
            </a:r>
          </a:p>
          <a:p>
            <a:r>
              <a:t>        "운영",</a:t>
            </a:r>
          </a:p>
          <a:p>
            <a:r>
              <a:t>        "정책",</a:t>
            </a:r>
          </a:p>
          <a:p>
            <a:r>
              <a:t>        "중심으로",</a:t>
            </a:r>
          </a:p>
          <a:p>
            <a:r>
              <a:t>        "지역",</a:t>
            </a:r>
          </a:p>
          <a:p>
            <a:r>
              <a:t>        "체류",</a:t>
            </a:r>
          </a:p>
          <a:p>
            <a:r>
              <a:t>        "함께"</a:t>
            </a:r>
          </a:p>
          <a:p>
            <a:r>
              <a:t>      ],</a:t>
            </a:r>
          </a:p>
          <a:p>
            <a:r>
              <a:t>      "page_references": "PDF 44쪽, PDF 40쪽, PDF 41쪽, PDF 41쪽,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"reference:kto:2026:local-airport:page:044:chunk:01"</a:t>
            </a:r>
          </a:p>
          <a:p>
            <a:r>
              <a:t>      ],</a:t>
            </a:r>
          </a:p>
          <a:p>
            <a:r>
              <a:t>      "source_chunk_count": 5</a:t>
            </a:r>
          </a:p>
          <a:p>
            <a:r>
              <a:t>    },</a:t>
            </a:r>
          </a:p>
          <a:p>
            <a:r>
              <a:t>    {</a:t>
            </a:r>
          </a:p>
          <a:p>
            <a:r>
              <a:t>      "title": "여행가는 달 지역 여행할인 모아보기",</a:t>
            </a:r>
          </a:p>
          <a:p>
            <a:r>
              <a:t>      "summary": "한국관광공사 ‘여행가는 달’ 페이지에는 대전관광공사·대전광역시의 ‘대전관광상품 최대 1만원 할인’이 2026-09-21부터 2026-10-18까지 ‘진행예정’으로 게시되어 있다.",</a:t>
            </a:r>
          </a:p>
          <a:p>
            <a:r>
              <a:t>      "source_id": "web:30170:1",</a:t>
            </a:r>
          </a:p>
          <a:p>
            <a:r>
              <a:t>      "source_url": "https://korean.visitkorea.or.kr/travelmonth/benefit.do?modal=benefit-190",</a:t>
            </a:r>
          </a:p>
          <a:p>
            <a:r>
              <a:t>      "source_type": "official_web",</a:t>
            </a:r>
          </a:p>
          <a:p>
            <a:r>
              <a:t>      "why_relevant": "확정된 실행기간(2026-10-01~2026-12-31) 중 10월 초·중순과 겹치는 기존 관광할인 일정이다. 신규 할인 재원을 가정하기보다, 서구 소재 상품 또는 참여처가 이 할인에 포함될 수 있는지 먼저 대전관광공사·운영주체와 확인할 근거가 된다. 할인 적용 대상, 서구 참여 여부, 중복지원 가능 여부, 정산방식은 이 문서만으로 확인되지 않는다.",</a:t>
            </a:r>
          </a:p>
          <a:p>
            <a:r>
              <a:t>      "published_or_updated_at": "2026-09-17 기준 페이지 확인; 행사 예정 기간 2026-09-21~2026-10-18"</a:t>
            </a:r>
          </a:p>
          <a:p>
            <a:r>
              <a:t>    },</a:t>
            </a:r>
          </a:p>
          <a:p>
            <a:r>
              <a:t>    {</a:t>
            </a:r>
          </a:p>
          <a:p>
            <a:r>
              <a:t>      "title": "대전광역시_문화시설 | 공공데이터포털",</a:t>
            </a:r>
          </a:p>
          <a:p>
            <a:r>
              <a:t>      "summary": "공공데이터포털의 ‘대전광역시_문화시설’ OpenAPI는 공연장·전시관·박물관·도서관·체육관 등 문화시설의 위치, 명칭, 시설유형, 운영시간, 연락처 정보를 제공하며, 제공기관은 대전광역시이다.",</a:t>
            </a:r>
          </a:p>
          <a:p>
            <a:r>
              <a:t>      "source_id": "web:30170:2",</a:t>
            </a:r>
          </a:p>
          <a:p>
            <a:r>
              <a:t>      "source_url": "https://www.data.go.kr/data/15112114/openapi.do?recommendDataYn=Y",</a:t>
            </a:r>
          </a:p>
          <a:p>
            <a:r>
              <a:t>      "source_type": "official_web",</a:t>
            </a:r>
          </a:p>
          <a:p>
            <a:r>
              <a:t>      "why_relevant": "서구 체류 연장 파일럿의 참여 후보를 선정할 때 운영시간과 연락처를 공식 데이터로 대조할 수 있다. 특히 야간·주말 운영 가능 여부를 실제 데이터와 시설별 협의로 확인한 뒤, 10~12월 동선과 안내 페이지를 구성하는 데 활용할 수 있다. 이 데이터셋 설명만으로 특정 시설의 운영시간이나 행사 참여가 확정되는 것은 아니다.",</a:t>
            </a:r>
          </a:p>
          <a:p>
            <a:r>
              <a:t>      "published_or_updated_at": "수정일 2025-07-23"</a:t>
            </a:r>
          </a:p>
          <a:p>
            <a:r>
              <a:t>    },</a:t>
            </a:r>
          </a:p>
          <a:p>
            <a:r>
              <a:t>    {</a:t>
            </a:r>
          </a:p>
          <a:p>
            <a:r>
              <a:t>      "title": "대전광역시 문화관광(숙박정보) 데이터 | 공공데이터포털",</a:t>
            </a:r>
          </a:p>
          <a:p>
            <a:r>
              <a:t>      "summary": "공공데이터포털에는 대전광역시 문화관광 숙박정보 OpenAPI가 있으며, 호텔·모텔·게스트하우스·펜션 등 숙박시설을 행정구역별로 분류하고 위치·연락처·부대시설 등의 정보를 제공한다고 명시되어 있다.",</a:t>
            </a:r>
          </a:p>
          <a:p>
            <a:r>
              <a:t>      "source_id": "web:30170:3",</a:t>
            </a:r>
          </a:p>
          <a:p>
            <a:r>
              <a:t>      "source_url": "https://www.data.go.kr/dataset/15001021/openapi.do",</a:t>
            </a:r>
          </a:p>
          <a:p>
            <a:r>
              <a:t>      "source_type": "official_web",</a:t>
            </a:r>
          </a:p>
          <a:p>
            <a:r>
              <a:t>      "why_relevant": "숙박 연계는 숙박업소의 실제 참여의사와 판매 가능 객실을 확인하기 전에는 확정할 수 없지만, 공식 숙박정보를 이용해 서구 소재 후보 업소를 우선 목록화하고 연락·운영조건 확인 절차를 설계할 수 있다. 제공된 내부 관측의 숙박방문 비율과 평균 숙박일수 개선을 직접 보장하는 근거는 아니다.",</a:t>
            </a:r>
          </a:p>
          <a:p>
            <a:r>
              <a:t>      "published_or_updated_at": "페이지 확인일 2026-09-17"</a:t>
            </a:r>
          </a:p>
          <a:p>
            <a:r>
              <a:t>    },</a:t>
            </a:r>
          </a:p>
          <a:p>
            <a:r>
              <a:t>    {</a:t>
            </a:r>
          </a:p>
          <a:p>
            <a:r>
              <a:t>      "title": "대전문화관광해설사 신규 양성 교육 | 한국관광공사 관광e배움터",</a:t>
            </a:r>
          </a:p>
          <a:p>
            <a:r>
              <a:t>      "summary": "(사)대전광역시관광협회는 2026-07-01~2026-08-31에 ‘대전문화관광해설사 신규 양성 교육’을 운영했으며, 과정 목표는 대전 관광자원을 설명할 전문 해설 인력 양성이다. 과정은 60시간, 신청인원은 13명으로 게시되어 있다.",</a:t>
            </a:r>
          </a:p>
          <a:p>
            <a:r>
              <a:t>      "source_id": "web:30170:4",</a:t>
            </a:r>
          </a:p>
          <a:p>
            <a:r>
              <a:t>      "source_url": "https://touredu.visitkorea.or.kr/home/pkgEdu/pkgEduDetail?crsCd=C202600107&amp;eduPlanYr=2026&amp;eduPlanYrStepCnt=1",</a:t>
            </a:r>
          </a:p>
          <a:p>
            <a:r>
              <a:t>      "source_type": "official_web",</a:t>
            </a:r>
          </a:p>
          <a:p>
            <a:r>
              <a:t>      "why_relevant": "해설·현장안내를 포함하는 방식은 완전히 새로운 인력체계를 만드는 대신, 대전광역시관광협회에 10~12월 서구 권역 배치 가능 여부와 운영조건을 문의하는 조건부 선택지가 될 수 있다. 이 교육 이력은 해설사의 실제 배치, 유급 운영, 서구 코스 담당 또는 특정 언어 서비스 제공을 보장하지 않는다.",</a:t>
            </a:r>
          </a:p>
          <a:p>
            <a:r>
              <a:t>      "published_or_updated_at": "신청·학습기간 2026-07-01~2026-08-31"</a:t>
            </a:r>
          </a:p>
          <a:p>
            <a:r>
              <a:t>    },</a:t>
            </a:r>
          </a:p>
          <a:p>
            <a:r>
              <a:t>    {</a:t>
            </a:r>
          </a:p>
          <a:p>
            <a:r>
              <a:t>      "title": "대전광역시 서구_체육시설 현황 | 공공데이터포털",</a:t>
            </a:r>
          </a:p>
          <a:p>
            <a:r>
              <a:t>      "summary": "공공데이터포털의 ‘대전광역시 서구_체육시설 현황’ 파일은 서구 소재 체육시설의 명칭·주소·면적·운동시설 종류·최대 수용 가능 인원·연락처·관리기관·데이터 기준일자 항목을 포함한다고 명시한다.",</a:t>
            </a:r>
          </a:p>
          <a:p>
            <a:r>
              <a:t>      "source_id": "web:30170:5",</a:t>
            </a:r>
          </a:p>
          <a:p>
            <a:r>
              <a:t>      "source_url": "https://www.data.go.kr/dataset/15037511/fileData.do",</a:t>
            </a:r>
          </a:p>
          <a:p>
            <a:r>
              <a:t>      "source_type": "official_web",</a:t>
            </a:r>
          </a:p>
          <a:p>
            <a:r>
              <a:t>      "why_relevant": "10~12월 체육·공연·문화시설을 체류 콘텐츠 후보로 검토할 경우, 시설의 물리적 수용 조건과 관리기관을 공식 목록으로 확인할 수 있다. 다만 파일 설명만으로 해당 시설의 대관 가능일, 대관료, 행사 가능 시간 또는 관광객 대상 운영 의사가 확인되는 것은 아니다.",</a:t>
            </a:r>
          </a:p>
          <a:p>
            <a:r>
              <a:t>      "published_or_updated_at": "페이지 확인일 2026-09-17"</a:t>
            </a:r>
          </a:p>
          <a:p>
            <a:r>
              <a:t>    },</a:t>
            </a:r>
          </a:p>
          <a:p>
            <a:r>
              <a:t>    {</a:t>
            </a:r>
          </a:p>
          <a:p>
            <a:r>
              <a:t>      "title": "제4차 관광개발기본계획 발표 관련 문화체육관광부 보도자료",</a:t>
            </a:r>
          </a:p>
          <a:p>
            <a:r>
              <a:t>      "summary": "제4차 관광개발기본계획 관련 문화체육관광부 자료는 대전·세종·충청권을 관광 성장 지역 권역 중 하나로 제시하고, 부처·지역 간 연계협력과 지역 여건에 맞는 권역별 발전전략 수립 방향을 밝힌다.",</a:t>
            </a:r>
          </a:p>
          <a:p>
            <a:r>
              <a:t>      "source_id": "web:30170:6",</a:t>
            </a:r>
          </a:p>
          <a:p>
            <a:r>
              <a:t>      "source_url":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      "source_type": "official_web",</a:t>
            </a:r>
          </a:p>
          <a:p>
            <a:r>
              <a:t>      "why_relevant": "서구 단독의 대규모 시설 신설보다 인접 생활·관광권 및 기존 관광사업과의 연계를 검토하는 정책 참고 근거다. 이는 서구 사업의 국비지원 확정, 개별 사업 적격성 또는 성과를 뜻하지 않는다.",</a:t>
            </a:r>
          </a:p>
          <a:p>
            <a:r>
              <a:t>      "published_or_updated_at": "2021-12-30"</a:t>
            </a:r>
          </a:p>
          <a:p>
            <a:r>
              <a:t>    },</a:t>
            </a:r>
          </a:p>
          <a:p>
            <a:r>
              <a:t>    {</a:t>
            </a:r>
          </a:p>
          <a:p>
            <a:r>
              <a:t>      "title": "한국관광 데이터랩 · 안동탈춤축제 연도별 방문자 추이",</a:t>
            </a:r>
          </a:p>
          <a:p>
            <a:r>
              <a:t>      "summary": "경상북도 안동시 · 2025 안동탈춤축제: 10일간 집중 운영한 공연·문화형 축제 · 2024→2025년 전체 504,573→554,494명 (+9.89%). 개최 10→10일, 일평균 +9.89%, 외지인 +10.75%.",</a:t>
            </a:r>
          </a:p>
          <a:p>
            <a:r>
              <a:t>      "source_id": "case:41508ca81cf29f",</a:t>
            </a:r>
          </a:p>
          <a:p>
            <a:r>
              <a:t>      "source_url": "https://datalab.visitkorea.or.kr/",</a:t>
            </a:r>
          </a:p>
          <a:p>
            <a:r>
              <a:t>      "case_region": "경상북도 안동시",</a:t>
            </a:r>
          </a:p>
          <a:p>
            <a:r>
              <a:t>      "source_type": "benchmark_case",</a:t>
            </a:r>
          </a:p>
          <a:p>
            <a:r>
              <a:t>      "dataset_hash": "ad20e3daf70fd44fd481d672398c07bb9c96fce77acb450784065a568735e2e2",</a:t>
            </a:r>
          </a:p>
          <a:p>
            <a:r>
              <a:t>      "intervention": "2025 안동탈춤축제: 10일간 집중 운영한 공연·문화형 축제",</a:t>
            </a:r>
          </a:p>
          <a:p>
            <a:r>
              <a:t>      "source_files": [</a:t>
            </a:r>
          </a:p>
          <a:p>
            <a:r>
              <a:t>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a:t>
            </a:r>
          </a:p>
          <a:p>
            <a:r>
              <a:t>          "sha256": "c0b34e003112bda1f5afa06dcb153cc870d61730036ef23f1b3e7aed39ca5458",</a:t>
            </a:r>
          </a:p>
          <a:p>
            <a:r>
              <a:t>          "provider": "한국관광 데이터랩",</a:t>
            </a:r>
          </a:p>
          <a:p>
            <a:r>
              <a:t>          "file_name": "20260820175023_안동탈춤축제_성_연령별 내국인 방문자.csv",</a:t>
            </a:r>
          </a:p>
          <a:p>
            <a:r>
              <a:t>          "source_id": "festival-file:c0b34e003112bda1f5af",</a:t>
            </a:r>
          </a:p>
          <a:p>
            <a:r>
              <a:t>          "source_url": "https://datalab.visitkorea.or.kr/",</a:t>
            </a:r>
          </a:p>
          <a:p>
            <a:r>
              <a:t>          "downloaded_at": "2026-08-20",</a:t>
            </a:r>
          </a:p>
          <a:p>
            <a:r>
              <a:t>          "relative_path": "data/source_snapshots/festivals_20260820/43. 안동탈춤축제_2023-2025/20260820175023_안동탈춤축제_성_연령별 내국인 방문자.csv",</a:t>
            </a:r>
          </a:p>
          <a:p>
            <a:r>
              <a:t>          "provenance_status": "team_download_exact_query_url_unrecorded"</a:t>
            </a:r>
          </a:p>
          <a:p>
            <a:r>
              <a:t>        },</a:t>
            </a:r>
          </a:p>
          <a:p>
            <a:r>
              <a:t>        {</a:t>
            </a:r>
          </a:p>
          <a:p>
            <a:r>
              <a:t>          "sha256": "40ddabd2e46fcb12bc9cc2361174e1a5ebe80f169611896b6d4b5e60d9fda352",</a:t>
            </a:r>
          </a:p>
          <a:p>
            <a:r>
              <a:t>          "provider": "한국관광 데이터랩",</a:t>
            </a:r>
          </a:p>
          <a:p>
            <a:r>
              <a:t>          "file_name": "20260820175023_안동탈춤축제_문화관광축제 주요 지표.csv",</a:t>
            </a:r>
          </a:p>
          <a:p>
            <a:r>
              <a:t>          "source_id": "festival-file:40ddabd2e46fcb12bc9c",</a:t>
            </a:r>
          </a:p>
          <a:p>
            <a:r>
              <a:t>          "source_url": "https://datalab.visitkorea.or.kr/",</a:t>
            </a:r>
          </a:p>
          <a:p>
            <a:r>
              <a:t>          "downloaded_at": "2026-08-20",</a:t>
            </a:r>
          </a:p>
          <a:p>
            <a:r>
              <a:t>          "relative_path": "data/source_snapshots/festivals_20260820/43. 안동탈춤축제_2023-2025/20260820175023_안동탈춤축제_문화관광축제 주요 지표.csv",</a:t>
            </a:r>
          </a:p>
          <a:p>
            <a:r>
              <a:t>          "provenance_status": "team_download_exact_query_url_unrecorded"</a:t>
            </a:r>
          </a:p>
          <a:p>
            <a:r>
              <a:t>        },</a:t>
            </a:r>
          </a:p>
          <a:p>
            <a:r>
              <a:t>        {</a:t>
            </a:r>
          </a:p>
          <a:p>
            <a:r>
              <a:t>          "sha256": "11de7e20288dde00f7f18e353a24b5a95c511a7dc354ec9cc2c7a3a2436712f6",</a:t>
            </a:r>
          </a:p>
          <a:p>
            <a:r>
              <a:t>          "provider": "한국관광 데이터랩",</a:t>
            </a:r>
          </a:p>
          <a:p>
            <a:r>
              <a:t>          "file_name": "20260820175023_안동탈춤축제_목적지 검색순위.csv",</a:t>
            </a:r>
          </a:p>
          <a:p>
            <a:r>
              <a:t>          "source_id": "festival-file:11de7e20288dde00f7f1",</a:t>
            </a:r>
          </a:p>
          <a:p>
            <a:r>
              <a:t>          "source_url": "https://datalab.visitkorea.or.kr/",</a:t>
            </a:r>
          </a:p>
          <a:p>
            <a:r>
              <a:t>          "downloaded_at": "2026-08-20",</a:t>
            </a:r>
          </a:p>
          <a:p>
            <a:r>
              <a:t>          "relative_path": "data/source_snapshots/festivals_20260820/43. 안동탈춤축제_2023-2025/20260820175023_안동탈춤축제_목적지 검색순위.csv",</a:t>
            </a:r>
          </a:p>
          <a:p>
            <a:r>
              <a:t>          "provenance_status": "team_download_exact_query_url_unrecorded"</a:t>
            </a:r>
          </a:p>
          <a:p>
            <a:r>
              <a:t>        }</a:t>
            </a:r>
          </a:p>
          <a:p>
            <a:r>
              <a:t>      ],</a:t>
            </a:r>
          </a:p>
          <a:p>
            <a:r>
              <a:t>      "document_type": null,</a:t>
            </a:r>
          </a:p>
          <a:p>
            <a:r>
              <a:t>      "evidence_kind": "festival_document_and_statistics",</a:t>
            </a:r>
          </a:p>
          <a:p>
            <a:r>
              <a:t>      "observed_result": "2024→2025년 전체 504,573→554,494명 (+9.89%). 개최 10→10일, 일평균 +9.89%, 외지인 +10.75%.",</a:t>
            </a:r>
          </a:p>
          <a:p>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"공연·문화",</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"official_web_search",</a:t>
            </a:r>
          </a:p>
          <a:p>
            <a:r>
              <a:t>      "evidence_strength": "medium",</a:t>
            </a:r>
          </a:p>
          <a:p>
            <a:r>
              <a:t>      "retrieval_context": {</a:t>
            </a:r>
          </a:p>
          <a:p>
            <a:r>
              <a:t>        "scope": "cross_province",</a:t>
            </a:r>
          </a:p>
          <a:p>
            <a:r>
              <a:t>        "peer_region_code": null</a:t>
            </a:r>
          </a:p>
          <a:p>
            <a:r>
              <a:t>      },</a:t>
            </a:r>
          </a:p>
          <a:p>
            <a:r>
              <a:t>      "measurement_period": "2024년과 2025년 각 축제 10일 개최기간 비교",</a:t>
            </a:r>
          </a:p>
          <a:p>
            <a:r>
              <a:t>      "festival_statistics": {</a:t>
            </a:r>
          </a:p>
          <a:p>
            <a:r>
              <a:t>        "name": "안동탈춤축제",</a:t>
            </a:r>
          </a:p>
          <a:p>
            <a:r>
              <a:t>        "scope": "축제 관측구역 방문 지표. 도시 전체·순증 관광객·입장권 실구매자 수가 아님.",</a:t>
            </a:r>
          </a:p>
          <a:p>
            <a:r>
              <a:t>        "annual": [</a:t>
            </a:r>
          </a:p>
          <a:p>
            <a:r>
              <a:t>          {</a:t>
            </a:r>
          </a:p>
          <a:p>
            <a:r>
              <a:t>            "days": 8,</a:t>
            </a:r>
          </a:p>
          <a:p>
            <a:r>
              <a:t>            "year": 2023,</a:t>
            </a:r>
          </a:p>
          <a:p>
            <a:r>
              <a:t>            "daily": 45517.125,</a:t>
            </a:r>
          </a:p>
          <a:p>
            <a:r>
              <a:t>            "local": 233513,</a:t>
            </a:r>
          </a:p>
          <a:p>
            <a:r>
              <a:t>            "total": 364137,</a:t>
            </a:r>
          </a:p>
          <a:p>
            <a:r>
              <a:t>            "foreign": 3319,</a:t>
            </a:r>
          </a:p>
          <a:p>
            <a:r>
              <a:t>            "outside": 127305,</a:t>
            </a:r>
          </a:p>
          <a:p>
            <a:r>
              <a:t>            "outside_daily": 15913.125,</a:t>
            </a:r>
          </a:p>
          <a:p>
            <a:r>
              <a:t>            "outside_share_pct": 34.960742797353745</a:t>
            </a:r>
          </a:p>
          <a:p>
            <a:r>
              <a:t>          },</a:t>
            </a:r>
          </a:p>
          <a:p>
            <a:r>
              <a:t>          {</a:t>
            </a:r>
          </a:p>
          <a:p>
            <a:r>
              <a:t>            "days": 10,</a:t>
            </a:r>
          </a:p>
          <a:p>
            <a:r>
              <a:t>            "year": 2024,</a:t>
            </a:r>
          </a:p>
          <a:p>
            <a:r>
              <a:t>            "daily": 50457.3,</a:t>
            </a:r>
          </a:p>
          <a:p>
            <a:r>
              <a:t>            "local": 317925,</a:t>
            </a:r>
          </a:p>
          <a:p>
            <a:r>
              <a:t>            "total": 504573,</a:t>
            </a:r>
          </a:p>
          <a:p>
            <a:r>
              <a:t>            "foreign": 4684,</a:t>
            </a:r>
          </a:p>
          <a:p>
            <a:r>
              <a:t>            "outside": 181964,</a:t>
            </a:r>
          </a:p>
          <a:p>
            <a:r>
              <a:t>            "outside_daily": 18196.4,</a:t>
            </a:r>
          </a:p>
          <a:p>
            <a:r>
              <a:t>            "outside_share_pct": 36.06296809381398</a:t>
            </a:r>
          </a:p>
          <a:p>
            <a:r>
              <a:t>          },</a:t>
            </a:r>
          </a:p>
          <a:p>
            <a:r>
              <a:t>          {</a:t>
            </a:r>
          </a:p>
          <a:p>
            <a:r>
              <a:t>            "days": 10,</a:t>
            </a:r>
          </a:p>
          <a:p>
            <a:r>
              <a:t>            "year": 2025,</a:t>
            </a:r>
          </a:p>
          <a:p>
            <a:r>
              <a:t>            "daily": 55449.4,</a:t>
            </a:r>
          </a:p>
          <a:p>
            <a:r>
              <a:t>            "local": 347269,</a:t>
            </a:r>
          </a:p>
          <a:p>
            <a:r>
              <a:t>            "total": 554494,</a:t>
            </a:r>
          </a:p>
          <a:p>
            <a:r>
              <a:t>            "foreign": 5702,</a:t>
            </a:r>
          </a:p>
          <a:p>
            <a:r>
              <a:t>            "outside": 201523,</a:t>
            </a:r>
          </a:p>
          <a:p>
            <a:r>
              <a:t>            "outside_daily": 20152.3,</a:t>
            </a:r>
          </a:p>
          <a:p>
            <a:r>
              <a:t>            "outside_share_pct": 36.34358532283487</a:t>
            </a:r>
          </a:p>
          <a:p>
            <a:r>
              <a:t>          }</a:t>
            </a:r>
          </a:p>
          <a:p>
            <a:r>
              <a:t>        ],</a:t>
            </a:r>
          </a:p>
          <a:p>
            <a:r>
              <a:t>        "audience": [</a:t>
            </a:r>
          </a:p>
          <a:p>
            <a:r>
              <a:t>          {</a:t>
            </a:r>
          </a:p>
          <a:p>
            <a:r>
              <a:t>            "연령대": "70세 이상",</a:t>
            </a:r>
          </a:p>
          <a:p>
            <a:r>
              <a:t>            "축제명": "안동탈춤축제",</a:t>
            </a:r>
          </a:p>
          <a:p>
            <a:r>
              <a:t>            "남성비율": "4.4",</a:t>
            </a:r>
          </a:p>
          <a:p>
            <a:r>
              <a:t>            "여성비율": "5.0"</a:t>
            </a:r>
          </a:p>
          <a:p>
            <a:r>
              <a:t>          },</a:t>
            </a:r>
          </a:p>
          <a:p>
            <a:r>
              <a:t>          {</a:t>
            </a:r>
          </a:p>
          <a:p>
            <a:r>
              <a:t>            "연령대": "60~69세",</a:t>
            </a:r>
          </a:p>
          <a:p>
            <a:r>
              <a:t>            "축제명": "안동탈춤축제",</a:t>
            </a:r>
          </a:p>
          <a:p>
            <a:r>
              <a:t>            "남성비율": "8.0",</a:t>
            </a:r>
          </a:p>
          <a:p>
            <a:r>
              <a:t>            "여성비율": "8.5"</a:t>
            </a:r>
          </a:p>
          <a:p>
            <a:r>
              <a:t>          },</a:t>
            </a:r>
          </a:p>
          <a:p>
            <a:r>
              <a:t>          {</a:t>
            </a:r>
          </a:p>
          <a:p>
            <a:r>
              <a:t>            "연령대": "50~59세",</a:t>
            </a:r>
          </a:p>
          <a:p>
            <a:r>
              <a:t>            "축제명": "안동탈춤축제",</a:t>
            </a:r>
          </a:p>
          <a:p>
            <a:r>
              <a:t>            "남성비율": "9.2",</a:t>
            </a:r>
          </a:p>
          <a:p>
            <a:r>
              <a:t>            "여성비율": "10.9"</a:t>
            </a:r>
          </a:p>
          <a:p>
            <a:r>
              <a:t>          },</a:t>
            </a:r>
          </a:p>
          <a:p>
            <a:r>
              <a:t>          {</a:t>
            </a:r>
          </a:p>
          <a:p>
            <a:r>
              <a:t>            "연령대": "40~49세",</a:t>
            </a:r>
          </a:p>
          <a:p>
            <a:r>
              <a:t>            "축제명": "안동탈춤축제",</a:t>
            </a:r>
          </a:p>
          <a:p>
            <a:r>
              <a:t>            "남성비율": "7.5",</a:t>
            </a:r>
          </a:p>
          <a:p>
            <a:r>
              <a:t>            "여성비율": "7.9"</a:t>
            </a:r>
          </a:p>
          <a:p>
            <a:r>
              <a:t>          },</a:t>
            </a:r>
          </a:p>
          <a:p>
            <a:r>
              <a:t>          {</a:t>
            </a:r>
          </a:p>
          <a:p>
            <a:r>
              <a:t>            "연령대": "30~39세",</a:t>
            </a:r>
          </a:p>
          <a:p>
            <a:r>
              <a:t>            "축제명": "안동탈춤축제",</a:t>
            </a:r>
          </a:p>
          <a:p>
            <a:r>
              <a:t>            "남성비율": "7.9",</a:t>
            </a:r>
          </a:p>
          <a:p>
            <a:r>
              <a:t>            "여성비율": "7.2"</a:t>
            </a:r>
          </a:p>
          <a:p>
            <a:r>
              <a:t>          },</a:t>
            </a:r>
          </a:p>
          <a:p>
            <a:r>
              <a:t>          {</a:t>
            </a:r>
          </a:p>
          <a:p>
            <a:r>
              <a:t>            "연령대": "20~29세",</a:t>
            </a:r>
          </a:p>
          <a:p>
            <a:r>
              <a:t>            "축제명": "안동탈춤축제",</a:t>
            </a:r>
          </a:p>
          <a:p>
            <a:r>
              <a:t>            "남성비율": "7.1",</a:t>
            </a:r>
          </a:p>
          <a:p>
            <a:r>
              <a:t>            "여성비율": "8.2"</a:t>
            </a:r>
          </a:p>
          <a:p>
            <a:r>
              <a:t>          },</a:t>
            </a:r>
          </a:p>
          <a:p>
            <a:r>
              <a:t>          {</a:t>
            </a:r>
          </a:p>
          <a:p>
            <a:r>
              <a:t>            "연령대": "10~19세",</a:t>
            </a:r>
          </a:p>
          <a:p>
            <a:r>
              <a:t>            "축제명": "안동탈춤축제",</a:t>
            </a:r>
          </a:p>
          <a:p>
            <a:r>
              <a:t>            "남성비율": "3.2",</a:t>
            </a:r>
          </a:p>
          <a:p>
            <a:r>
              <a:t>            "여성비율": "3.9"</a:t>
            </a:r>
          </a:p>
          <a:p>
            <a:r>
              <a:t>          },</a:t>
            </a:r>
          </a:p>
          <a:p>
            <a:r>
              <a:t>          {</a:t>
            </a:r>
          </a:p>
          <a:p>
            <a:r>
              <a:t>            "연령대": "0~9세",</a:t>
            </a:r>
          </a:p>
          <a:p>
            <a:r>
              <a:t>            "축제명": "안동탈춤축제",</a:t>
            </a:r>
          </a:p>
          <a:p>
            <a:r>
              <a:t>            "남성비율": "0.5",</a:t>
            </a:r>
          </a:p>
          <a:p>
            <a:r>
              <a:t>            "여성비율": "0.7"</a:t>
            </a:r>
          </a:p>
          <a:p>
            <a:r>
              <a:t>          }</a:t>
            </a:r>
          </a:p>
          <a:p>
            <a:r>
              <a:t>        ],</a:t>
            </a:r>
          </a:p>
          <a:p>
            <a:r>
              <a:t>        "comparison": {</a:t>
            </a:r>
          </a:p>
          <a:p>
            <a:r>
              <a:t>          "daily": {</a:t>
            </a:r>
          </a:p>
          <a:p>
            <a:r>
              <a:t>            "after": 55449.4,</a:t>
            </a:r>
          </a:p>
          <a:p>
            <a:r>
              <a:t>            "before": 50457.3,</a:t>
            </a:r>
          </a:p>
          <a:p>
            <a:r>
              <a:t>            "change_pct": 9.893712109050613,</a:t>
            </a:r>
          </a:p>
          <a:p>
            <a:r>
              <a:t>            "difference": 4992.0999999999985</a:t>
            </a:r>
          </a:p>
          <a:p>
            <a:r>
              <a:t>          },</a:t>
            </a:r>
          </a:p>
          <a:p>
            <a:r>
              <a:t>          "total": {</a:t>
            </a:r>
          </a:p>
          <a:p>
            <a:r>
              <a:t>            "after": 554494,</a:t>
            </a:r>
          </a:p>
          <a:p>
            <a:r>
              <a:t>            "before": 504573,</a:t>
            </a:r>
          </a:p>
          <a:p>
            <a:r>
              <a:t>            "change_pct": 9.893712109050613,</a:t>
            </a:r>
          </a:p>
          <a:p>
            <a:r>
              <a:t>            "difference": 49921</a:t>
            </a:r>
          </a:p>
          <a:p>
            <a:r>
              <a:t>          },</a:t>
            </a:r>
          </a:p>
          <a:p>
            <a:r>
              <a:t>          "outside": {</a:t>
            </a:r>
          </a:p>
          <a:p>
            <a:r>
              <a:t>            "after": 201523,</a:t>
            </a:r>
          </a:p>
          <a:p>
            <a:r>
              <a:t>            "before": 181964,</a:t>
            </a:r>
          </a:p>
          <a:p>
            <a:r>
              <a:t>            "change_pct": 10.748829438790096,</a:t>
            </a:r>
          </a:p>
          <a:p>
            <a:r>
              <a:t>            "difference": 19559</a:t>
            </a:r>
          </a:p>
          <a:p>
            <a:r>
              <a:t>          },</a:t>
            </a:r>
          </a:p>
          <a:p>
            <a:r>
              <a:t>          "after_days": 10,</a:t>
            </a:r>
          </a:p>
          <a:p>
            <a:r>
              <a:t>          "after_year": 2025,</a:t>
            </a:r>
          </a:p>
          <a:p>
            <a:r>
              <a:t>          "before_days": 10,</a:t>
            </a:r>
          </a:p>
          <a:p>
            <a:r>
              <a:t>          "before_year": 2024,</a:t>
            </a:r>
          </a:p>
          <a:p>
            <a:r>
              <a:t>          "outside_daily": {</a:t>
            </a:r>
          </a:p>
          <a:p>
            <a:r>
              <a:t>            "after": 20152.3,</a:t>
            </a:r>
          </a:p>
          <a:p>
            <a:r>
              <a:t>            "before": 18196.4,</a:t>
            </a:r>
          </a:p>
          <a:p>
            <a:r>
              <a:t>            "change_pct": 10.748829438790075,</a:t>
            </a:r>
          </a:p>
          <a:p>
            <a:r>
              <a:t>            "difference": 1955.8999999999976</a:t>
            </a:r>
          </a:p>
          <a:p>
            <a:r>
              <a:t>          }</a:t>
            </a:r>
          </a:p>
          <a:p>
            <a:r>
              <a:t>        },</a:t>
            </a:r>
          </a:p>
          <a:p>
            <a:r>
              <a:t>        "source_file":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"0.515",</a:t>
            </a:r>
          </a:p>
          <a:p>
            <a:r>
              <a:t>            "축제명": "안동탈춤축제",</a:t>
            </a:r>
          </a:p>
          <a:p>
            <a:r>
              <a:t>            "개최년도": "2025"</a:t>
            </a:r>
          </a:p>
          <a:p>
            <a:r>
              <a:t>          },</a:t>
            </a:r>
          </a:p>
          <a:p>
            <a:r>
              <a:t>          {</a:t>
            </a:r>
          </a:p>
          <a:p>
            <a:r>
              <a:t>            "구분명": "현지인방문자 유입",</a:t>
            </a:r>
          </a:p>
          <a:p>
            <a:r>
              <a:t>            "그룹명": "축제기간",</a:t>
            </a:r>
          </a:p>
          <a:p>
            <a:r>
              <a:t>            "지표값": "0.859",</a:t>
            </a:r>
          </a:p>
          <a:p>
            <a:r>
              <a:t>            "축제명": "안동탈춤축제",</a:t>
            </a:r>
          </a:p>
          <a:p>
            <a:r>
              <a:t>            "개최년도": "2025"</a:t>
            </a:r>
          </a:p>
          <a:p>
            <a:r>
              <a:t>          },</a:t>
            </a:r>
          </a:p>
          <a:p>
            <a:r>
              <a:t>          {</a:t>
            </a:r>
          </a:p>
          <a:p>
            <a:r>
              <a:t>            "구분명": "내비게이션 검색량",</a:t>
            </a:r>
          </a:p>
          <a:p>
            <a:r>
              <a:t>            "그룹명": "축제기간",</a:t>
            </a:r>
          </a:p>
          <a:p>
            <a:r>
              <a:t>            "지표값": "0.434",</a:t>
            </a:r>
          </a:p>
          <a:p>
            <a:r>
              <a:t>            "축제명": "안동탈춤축제",</a:t>
            </a:r>
          </a:p>
          <a:p>
            <a:r>
              <a:t>            "개최년도": "2025"</a:t>
            </a:r>
          </a:p>
          <a:p>
            <a:r>
              <a:t>          },</a:t>
            </a:r>
          </a:p>
          <a:p>
            <a:r>
              <a:t>          {</a:t>
            </a:r>
          </a:p>
          <a:p>
            <a:r>
              <a:t>            "구분명": "관광소비",</a:t>
            </a:r>
          </a:p>
          <a:p>
            <a:r>
              <a:t>            "그룹명": "축제기간",</a:t>
            </a:r>
          </a:p>
          <a:p>
            <a:r>
              <a:t>            "지표값": "0.544",</a:t>
            </a:r>
          </a:p>
          <a:p>
            <a:r>
              <a:t>            "축제명": "안동탈춤축제",</a:t>
            </a:r>
          </a:p>
          <a:p>
            <a:r>
              <a:t>            "개최년도": "2025"</a:t>
            </a:r>
          </a:p>
          <a:p>
            <a:r>
              <a:t>          },</a:t>
            </a:r>
          </a:p>
          <a:p>
            <a:r>
              <a:t>          {</a:t>
            </a:r>
          </a:p>
          <a:p>
            <a:r>
              <a:t>            "구분명": "축제지 집중률",</a:t>
            </a:r>
          </a:p>
          <a:p>
            <a:r>
              <a:t>            "그룹명": "축제기간",</a:t>
            </a:r>
          </a:p>
          <a:p>
            <a:r>
              <a:t>            "지표값": "0.879",</a:t>
            </a:r>
          </a:p>
          <a:p>
            <a:r>
              <a:t>            "축제명": "안동탈춤축제",</a:t>
            </a:r>
          </a:p>
          <a:p>
            <a:r>
              <a:t>            "개최년도": "2025"</a:t>
            </a:r>
          </a:p>
          <a:p>
            <a:r>
              <a:t>          },</a:t>
            </a:r>
          </a:p>
          <a:p>
            <a:r>
              <a:t>          {</a:t>
            </a:r>
          </a:p>
          <a:p>
            <a:r>
              <a:t>            "구분명": "외부방문자 유입",</a:t>
            </a:r>
          </a:p>
          <a:p>
            <a:r>
              <a:t>            "그룹명": "비축제기간",</a:t>
            </a:r>
          </a:p>
          <a:p>
            <a:r>
              <a:t>            "지표값": "0.258",</a:t>
            </a:r>
          </a:p>
          <a:p>
            <a:r>
              <a:t>            "축제명": "안동탈춤축제",</a:t>
            </a:r>
          </a:p>
          <a:p>
            <a:r>
              <a:t>            "개최년도": "2025"</a:t>
            </a:r>
          </a:p>
          <a:p>
            <a:r>
              <a:t>          },</a:t>
            </a:r>
          </a:p>
          <a:p>
            <a:r>
              <a:t>          {</a:t>
            </a:r>
          </a:p>
          <a:p>
            <a:r>
              <a:t>            "구분명": "현지인방문자 유입",</a:t>
            </a:r>
          </a:p>
          <a:p>
            <a:r>
              <a:t>            "그룹명": "비축제기간",</a:t>
            </a:r>
          </a:p>
          <a:p>
            <a:r>
              <a:t>            "지표값": "0.618",</a:t>
            </a:r>
          </a:p>
          <a:p>
            <a:r>
              <a:t>            "축제명": "안동탈춤축제",</a:t>
            </a:r>
          </a:p>
          <a:p>
            <a:r>
              <a:t>            "개최년도": "2025"</a:t>
            </a:r>
          </a:p>
          <a:p>
            <a:r>
              <a:t>          },</a:t>
            </a:r>
          </a:p>
          <a:p>
            <a:r>
              <a:t>          {</a:t>
            </a:r>
          </a:p>
          <a:p>
            <a:r>
              <a:t>            "구분명": "내비게이션 검색량",</a:t>
            </a:r>
          </a:p>
          <a:p>
            <a:r>
              <a:t>            "그룹명": "비축제기간",</a:t>
            </a:r>
          </a:p>
          <a:p>
            <a:r>
              <a:t>            "지표값": "0.252",</a:t>
            </a:r>
          </a:p>
          <a:p>
            <a:r>
              <a:t>            "축제명": "안동탈춤축제",</a:t>
            </a:r>
          </a:p>
          <a:p>
            <a:r>
              <a:t>            "개최년도": "2025"</a:t>
            </a:r>
          </a:p>
          <a:p>
            <a:r>
              <a:t>          },</a:t>
            </a:r>
          </a:p>
          <a:p>
            <a:r>
              <a:t>          {</a:t>
            </a:r>
          </a:p>
          <a:p>
            <a:r>
              <a:t>            "구분명": "관광소비",</a:t>
            </a:r>
          </a:p>
          <a:p>
            <a:r>
              <a:t>            "그룹명": "비축제기간",</a:t>
            </a:r>
          </a:p>
          <a:p>
            <a:r>
              <a:t>            "지표값": "0.375",</a:t>
            </a:r>
          </a:p>
          <a:p>
            <a:r>
              <a:t>            "축제명": "안동탈춤축제",</a:t>
            </a:r>
          </a:p>
          <a:p>
            <a:r>
              <a:t>            "개최년도": "2025"</a:t>
            </a:r>
          </a:p>
          <a:p>
            <a:r>
              <a:t>          },</a:t>
            </a:r>
          </a:p>
          <a:p>
            <a:r>
              <a:t>          {</a:t>
            </a:r>
          </a:p>
          <a:p>
            <a:r>
              <a:t>            "구분명": "축제지 집중률",</a:t>
            </a:r>
          </a:p>
          <a:p>
            <a:r>
              <a:t>            "그룹명": "비축제기간",</a:t>
            </a:r>
          </a:p>
          <a:p>
            <a:r>
              <a:t>            "지표값": "0.65",</a:t>
            </a:r>
          </a:p>
          <a:p>
            <a:r>
              <a:t>            "축제명": "안동탈춤축제",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"안동구시장",</a:t>
            </a:r>
          </a:p>
          <a:p>
            <a:r>
              <a:t>            "카테고리": "시장",</a:t>
            </a:r>
          </a:p>
          <a:p>
            <a:r>
              <a:t>            "도로명주소": "경북 안동시 번영1길 47-0"</a:t>
            </a:r>
          </a:p>
          <a:p>
            <a:r>
              <a:t>          },</a:t>
            </a:r>
          </a:p>
          <a:p>
            <a:r>
              <a:t>          {</a:t>
            </a:r>
          </a:p>
          <a:p>
            <a:r>
              <a:t>            "구분": "외지인",</a:t>
            </a:r>
          </a:p>
          <a:p>
            <a:r>
              <a:t>            "순위": "2",</a:t>
            </a:r>
          </a:p>
          <a:p>
            <a:r>
              <a:t>            "목적지명": "안동국제탈춤페스티벌",</a:t>
            </a:r>
          </a:p>
          <a:p>
            <a:r>
              <a:t>            "카테고리": "기타문화관광지",</a:t>
            </a:r>
          </a:p>
          <a:p>
            <a:r>
              <a:t>            "도로명주소": "경북 안동시 육사로 239-0"</a:t>
            </a:r>
          </a:p>
          <a:p>
            <a:r>
              <a:t>          },</a:t>
            </a:r>
          </a:p>
          <a:p>
            <a:r>
              <a:t>          {</a:t>
            </a:r>
          </a:p>
          <a:p>
            <a:r>
              <a:t>            "구분": "외지인",</a:t>
            </a:r>
          </a:p>
          <a:p>
            <a:r>
              <a:t>            "순위": "3",</a:t>
            </a:r>
          </a:p>
          <a:p>
            <a:r>
              <a:t>            "목적지명": "탈춤공원",</a:t>
            </a:r>
          </a:p>
          <a:p>
            <a:r>
              <a:t>            "카테고리": "도시공원",</a:t>
            </a:r>
          </a:p>
          <a:p>
            <a:r>
              <a:t>            "도로명주소": "경북 안동시 육사로 239-0"</a:t>
            </a:r>
          </a:p>
          <a:p>
            <a:r>
              <a:t>          }</a:t>
            </a:r>
          </a:p>
          <a:p>
            <a:r>
              <a:t>        ]</a:t>
            </a:r>
          </a:p>
          <a:p>
            <a:r>
              <a:t>      },</a:t>
            </a:r>
          </a:p>
          <a:p>
            <a:r>
              <a:t>      "transfer_conditions": [</a:t>
            </a:r>
          </a:p>
          <a:p>
            <a:r>
              <a:t>        "대전 서구의 기존 문화·상업시설과 맞는 주제를 새로 선정하고 프로그램·회차·정원을 별도로 설계해야 한다.",</a:t>
            </a:r>
          </a:p>
          <a:p>
            <a:r>
              <a:t>        "10일 연속 운영보다 고정 일정인 10~12월에 주말 반복형으로 분산하는 방안을 비교해야 한다.",</a:t>
            </a:r>
          </a:p>
          <a:p>
            <a:r>
              <a:t>        "외지인 관측 증가가 실제 상권 결제로 이어졌는지 확인할 수 있도록 예약·QR·카드 또는 영수증 기반 기록이 필요하다.",</a:t>
            </a:r>
          </a:p>
          <a:p>
            <a:r>
              <a:t>        "행사장 주변 교통·식음·야간 운영 가능 시설을 현장 확인한 뒤 참여처를 모집해야 한다."</a:t>
            </a:r>
          </a:p>
          <a:p>
            <a:r>
              <a:t>      ],</a:t>
            </a:r>
          </a:p>
          <a:p>
            <a:r>
              <a:t>      "operating_statistics": [</a:t>
            </a:r>
          </a:p>
          <a:p>
            <a:r>
              <a:t>        {</a:t>
            </a:r>
          </a:p>
          <a:p>
            <a:r>
              <a:t>          "unit": "day",</a:t>
            </a:r>
          </a:p>
          <a:p>
            <a:r>
              <a:t>          "quote": "2025년 10일 개최",</a:t>
            </a:r>
          </a:p>
          <a:p>
            <a:r>
              <a:t>          "scope": "안동탈춤축제 전체 개최일수",</a:t>
            </a:r>
          </a:p>
          <a:p>
            <a:r>
              <a:t>          "value": 10,</a:t>
            </a:r>
          </a:p>
          <a:p>
            <a:r>
              <a:t>          "metric": "operating_days",</a:t>
            </a:r>
          </a:p>
          <a:p>
            <a:r>
              <a:t>          "period": "2025년 축제 개최기간",</a:t>
            </a:r>
          </a:p>
          <a:p>
            <a:r>
              <a:t>          "program_name": "안동탈춤축제",</a:t>
            </a:r>
          </a:p>
          <a:p>
            <a:r>
              <a:t>          "capacity_count": null,</a:t>
            </a:r>
          </a:p>
          <a:p>
            <a:r>
              <a:t>          "participant_count": null</a:t>
            </a:r>
          </a:p>
          <a:p>
            <a:r>
              <a:t>        }</a:t>
            </a:r>
          </a:p>
          <a:p>
            <a:r>
              <a:t>      ],</a:t>
            </a:r>
          </a:p>
          <a:p>
            <a:r>
              <a:t>      "published_or_updated_at": "2026-08-20",</a:t>
            </a:r>
          </a:p>
          <a:p>
            <a:r>
              <a:t>      "quantitative_result_approved": true</a:t>
            </a:r>
          </a:p>
          <a:p>
            <a:r>
              <a:t>    },</a:t>
            </a:r>
          </a:p>
          <a:p>
            <a:r>
              <a:t>    {</a:t>
            </a:r>
          </a:p>
          <a:p>
            <a:r>
              <a:t>      "title": "한국관광 데이터랩 · 문경찻사발축제 방문자 추이",</a:t>
            </a:r>
          </a:p>
          <a:p>
            <a:r>
              <a:t>      "summary": "경상북도 문경시 · 문경찻사발축제 · 2024→2025년 전체 245,750→256,570명 (+4.40%). 개최 10→9일, 일평균 +16.00%, 외지인 +9.28%.",</a:t>
            </a:r>
          </a:p>
          <a:p>
            <a:r>
              <a:t>      "source_id": "case:festival:01474ef75569b1",</a:t>
            </a:r>
          </a:p>
          <a:p>
            <a:r>
              <a:t>      "source_url": "https://datalab.visitkorea.or.kr/",</a:t>
            </a:r>
          </a:p>
          <a:p>
            <a:r>
              <a:t>      "case_region": "경상북도 문경시",</a:t>
            </a:r>
          </a:p>
          <a:p>
            <a:r>
              <a:t>      "source_type": "benchmark_case",</a:t>
            </a:r>
          </a:p>
          <a:p>
            <a:r>
              <a:t>      "dataset_hash": "ad20e3daf70fd44fd481d672398c07bb9c96fce77acb450784065a568735e2e2",</a:t>
            </a:r>
          </a:p>
          <a:p>
            <a:r>
              <a:t>      "intervention": "문경찻사발축제",</a:t>
            </a:r>
          </a:p>
          <a:p>
            <a:r>
              <a:t>      "source_files": [</a:t>
            </a:r>
          </a:p>
          <a:p>
            <a:r>
              <a:t>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a:t>
            </a:r>
          </a:p>
          <a:p>
            <a:r>
              <a:t>          "sha256": "44238aecdfa68974febce93cd262e119492da76910929b96da438d8b6ee7a9b3",</a:t>
            </a:r>
          </a:p>
          <a:p>
            <a:r>
              <a:t>          "provider": "한국관광 데이터랩",</a:t>
            </a:r>
          </a:p>
          <a:p>
            <a:r>
              <a:t>          "file_name": "20260820160334_문경찻사발축제_성_연령별 내국인 방문자.csv",</a:t>
            </a:r>
          </a:p>
          <a:p>
            <a:r>
              <a:t>          "source_id": "festival-file:44238aecdfa68974febc",</a:t>
            </a:r>
          </a:p>
          <a:p>
            <a:r>
              <a:t>          "source_url": "https://datalab.visitkorea.or.kr/",</a:t>
            </a:r>
          </a:p>
          <a:p>
            <a:r>
              <a:t>          "downloaded_at": "2026-08-20",</a:t>
            </a:r>
          </a:p>
          <a:p>
            <a:r>
              <a:t>          "relative_path": "data/source_snapshots/festivals_20260820/25. 문경찻사발축제_2023-2025/20260820160334_문경찻사발축제_성_연령별 내국인 방문자.csv",</a:t>
            </a:r>
          </a:p>
          <a:p>
            <a:r>
              <a:t>          "provenance_status": "team_download_exact_query_url_unrecorded"</a:t>
            </a:r>
          </a:p>
          <a:p>
            <a:r>
              <a:t>        },</a:t>
            </a:r>
          </a:p>
          <a:p>
            <a:r>
              <a:t>        {</a:t>
            </a:r>
          </a:p>
          <a:p>
            <a:r>
              <a:t>          "sha256": "eadf4622620ddb1575df5f358ec588aeed8718c09e0998a19494cf0f3cfe0f16",</a:t>
            </a:r>
          </a:p>
          <a:p>
            <a:r>
              <a:t>          "provider": "한국관광 데이터랩",</a:t>
            </a:r>
          </a:p>
          <a:p>
            <a:r>
              <a:t>          "file_name": "20260820160334_문경찻사발축제_문화관광축제 주요 지표.csv",</a:t>
            </a:r>
          </a:p>
          <a:p>
            <a:r>
              <a:t>          "source_id": "festival-file:eadf4622620ddb1575df",</a:t>
            </a:r>
          </a:p>
          <a:p>
            <a:r>
              <a:t>          "source_url": "https://datalab.visitkorea.or.kr/",</a:t>
            </a:r>
          </a:p>
          <a:p>
            <a:r>
              <a:t>          "downloaded_at": "2026-08-20",</a:t>
            </a:r>
          </a:p>
          <a:p>
            <a:r>
              <a:t>          "relative_path": "data/source_snapshots/festivals_20260820/25. 문경찻사발축제_2023-2025/20260820160334_문경찻사발축제_문화관광축제 주요 지표.csv",</a:t>
            </a:r>
          </a:p>
          <a:p>
            <a:r>
              <a:t>          "provenance_status": "team_download_exact_query_url_unrecorded"</a:t>
            </a:r>
          </a:p>
          <a:p>
            <a:r>
              <a:t>        },</a:t>
            </a:r>
          </a:p>
          <a:p>
            <a:r>
              <a:t>        {</a:t>
            </a:r>
          </a:p>
          <a:p>
            <a:r>
              <a:t>          "sha256": "343671c431cfa7e76ba333ca2ea221803e111e0db5e9a51c6d387b0ba5d7eeaf",</a:t>
            </a:r>
          </a:p>
          <a:p>
            <a:r>
              <a:t>          "provider": "한국관광 데이터랩",</a:t>
            </a:r>
          </a:p>
          <a:p>
            <a:r>
              <a:t>          "file_name": "20260820160334_문경찻사발축제_목적지 검색순위.csv",</a:t>
            </a:r>
          </a:p>
          <a:p>
            <a:r>
              <a:t>          "source_id": "festival-file:343671c431cfa7e76ba3",</a:t>
            </a:r>
          </a:p>
          <a:p>
            <a:r>
              <a:t>          "source_url": "https://datalab.visitkorea.or.kr/",</a:t>
            </a:r>
          </a:p>
          <a:p>
            <a:r>
              <a:t>          "downloaded_at": "2026-08-20",</a:t>
            </a:r>
          </a:p>
          <a:p>
            <a:r>
              <a:t>          "relative_path": "data/source_snapshots/festivals_20260820/25. 문경찻사발축제_2023-2025/20260820160334_문경찻사발축제_목적지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245,750→256,570명 (+4.40%). 개최 10→9일, 일평균 +16.00%, 외지인 +9.28%.",</a:t>
            </a:r>
          </a:p>
          <a:p>
            <a:r>
              <a:t>      "operating_model": "문경찻사발축제를 2025년 9일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"역사·공예",</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"문경찻사발축제",</a:t>
            </a:r>
          </a:p>
          <a:p>
            <a:r>
              <a:t>        "scope": "축제 관측구역 방문 지표. 도시 전체·순증 관광객·입장권 실구매자 수가 아님.",</a:t>
            </a:r>
          </a:p>
          <a:p>
            <a:r>
              <a:t>        "annual": [</a:t>
            </a:r>
          </a:p>
          <a:p>
            <a:r>
              <a:t>          {</a:t>
            </a:r>
          </a:p>
          <a:p>
            <a:r>
              <a:t>            "days": 9,</a:t>
            </a:r>
          </a:p>
          <a:p>
            <a:r>
              <a:t>            "year": 2023,</a:t>
            </a:r>
          </a:p>
          <a:p>
            <a:r>
              <a:t>            "daily": 23055.333333333332,</a:t>
            </a:r>
          </a:p>
          <a:p>
            <a:r>
              <a:t>            "local": 59726,</a:t>
            </a:r>
          </a:p>
          <a:p>
            <a:r>
              <a:t>            "total": 207498,</a:t>
            </a:r>
          </a:p>
          <a:p>
            <a:r>
              <a:t>            "foreign": 1241,</a:t>
            </a:r>
          </a:p>
          <a:p>
            <a:r>
              <a:t>            "outside": 146531,</a:t>
            </a:r>
          </a:p>
          <a:p>
            <a:r>
              <a:t>            "outside_daily": 16281.222222222224,</a:t>
            </a:r>
          </a:p>
          <a:p>
            <a:r>
              <a:t>            "outside_share_pct": 70.61803005330172</a:t>
            </a:r>
          </a:p>
          <a:p>
            <a:r>
              <a:t>          },</a:t>
            </a:r>
          </a:p>
          <a:p>
            <a:r>
              <a:t>          {</a:t>
            </a:r>
          </a:p>
          <a:p>
            <a:r>
              <a:t>            "days": 10,</a:t>
            </a:r>
          </a:p>
          <a:p>
            <a:r>
              <a:t>            "year": 2024,</a:t>
            </a:r>
          </a:p>
          <a:p>
            <a:r>
              <a:t>            "daily": 24575,</a:t>
            </a:r>
          </a:p>
          <a:p>
            <a:r>
              <a:t>            "local": 64582,</a:t>
            </a:r>
          </a:p>
          <a:p>
            <a:r>
              <a:t>            "total": 245750,</a:t>
            </a:r>
          </a:p>
          <a:p>
            <a:r>
              <a:t>            "foreign": 1170,</a:t>
            </a:r>
          </a:p>
          <a:p>
            <a:r>
              <a:t>            "outside": 179998,</a:t>
            </a:r>
          </a:p>
          <a:p>
            <a:r>
              <a:t>            "outside_daily": 17999.8,</a:t>
            </a:r>
          </a:p>
          <a:p>
            <a:r>
              <a:t>            "outside_share_pct": 73.2443540183113</a:t>
            </a:r>
          </a:p>
          <a:p>
            <a:r>
              <a:t>          },</a:t>
            </a:r>
          </a:p>
          <a:p>
            <a:r>
              <a:t>          {</a:t>
            </a:r>
          </a:p>
          <a:p>
            <a:r>
              <a:t>            "days": 9,</a:t>
            </a:r>
          </a:p>
          <a:p>
            <a:r>
              <a:t>            "year": 2025,</a:t>
            </a:r>
          </a:p>
          <a:p>
            <a:r>
              <a:t>            "daily": 28507.777777777777,</a:t>
            </a:r>
          </a:p>
          <a:p>
            <a:r>
              <a:t>            "local": 58704,</a:t>
            </a:r>
          </a:p>
          <a:p>
            <a:r>
              <a:t>            "total": 256570,</a:t>
            </a:r>
          </a:p>
          <a:p>
            <a:r>
              <a:t>            "foreign": 1166,</a:t>
            </a:r>
          </a:p>
          <a:p>
            <a:r>
              <a:t>            "outside": 196700,</a:t>
            </a:r>
          </a:p>
          <a:p>
            <a:r>
              <a:t>            "outside_daily": 21855.555555555555,</a:t>
            </a:r>
          </a:p>
          <a:p>
            <a:r>
              <a:t>            "outside_share_pct": 76.66523755700199</a:t>
            </a:r>
          </a:p>
          <a:p>
            <a:r>
              <a:t>          }</a:t>
            </a:r>
          </a:p>
          <a:p>
            <a:r>
              <a:t>        ],</a:t>
            </a:r>
          </a:p>
          <a:p>
            <a:r>
              <a:t>        "audience": [</a:t>
            </a:r>
          </a:p>
          <a:p>
            <a:r>
              <a:t>          {</a:t>
            </a:r>
          </a:p>
          <a:p>
            <a:r>
              <a:t>            "연령대": "70세 이상",</a:t>
            </a:r>
          </a:p>
          <a:p>
            <a:r>
              <a:t>            "축제명": "문경찻사발축제",</a:t>
            </a:r>
          </a:p>
          <a:p>
            <a:r>
              <a:t>            "남성비율": "4.0",</a:t>
            </a:r>
          </a:p>
          <a:p>
            <a:r>
              <a:t>            "여성비율": "3.8"</a:t>
            </a:r>
          </a:p>
          <a:p>
            <a:r>
              <a:t>          },</a:t>
            </a:r>
          </a:p>
          <a:p>
            <a:r>
              <a:t>          {</a:t>
            </a:r>
          </a:p>
          <a:p>
            <a:r>
              <a:t>            "연령대": "60~69세",</a:t>
            </a:r>
          </a:p>
          <a:p>
            <a:r>
              <a:t>            "축제명": "문경찻사발축제",</a:t>
            </a:r>
          </a:p>
          <a:p>
            <a:r>
              <a:t>            "남성비율": "12.3",</a:t>
            </a:r>
          </a:p>
          <a:p>
            <a:r>
              <a:t>            "여성비율": "10.0"</a:t>
            </a:r>
          </a:p>
          <a:p>
            <a:r>
              <a:t>          },</a:t>
            </a:r>
          </a:p>
          <a:p>
            <a:r>
              <a:t>          {</a:t>
            </a:r>
          </a:p>
          <a:p>
            <a:r>
              <a:t>            "연령대": "50~59세",</a:t>
            </a:r>
          </a:p>
          <a:p>
            <a:r>
              <a:t>            "축제명": "문경찻사발축제",</a:t>
            </a:r>
          </a:p>
          <a:p>
            <a:r>
              <a:t>            "남성비율": "13.0",</a:t>
            </a:r>
          </a:p>
          <a:p>
            <a:r>
              <a:t>            "여성비율": "11.7"</a:t>
            </a:r>
          </a:p>
          <a:p>
            <a:r>
              <a:t>          },</a:t>
            </a:r>
          </a:p>
          <a:p>
            <a:r>
              <a:t>          {</a:t>
            </a:r>
          </a:p>
          <a:p>
            <a:r>
              <a:t>            "연령대": "40~49세",</a:t>
            </a:r>
          </a:p>
          <a:p>
            <a:r>
              <a:t>            "축제명": "문경찻사발축제",</a:t>
            </a:r>
          </a:p>
          <a:p>
            <a:r>
              <a:t>            "남성비율": "9.3",</a:t>
            </a:r>
          </a:p>
          <a:p>
            <a:r>
              <a:t>            "여성비율": "7.6"</a:t>
            </a:r>
          </a:p>
          <a:p>
            <a:r>
              <a:t>          },</a:t>
            </a:r>
          </a:p>
          <a:p>
            <a:r>
              <a:t>          {</a:t>
            </a:r>
          </a:p>
          <a:p>
            <a:r>
              <a:t>            "연령대": "30~39세",</a:t>
            </a:r>
          </a:p>
          <a:p>
            <a:r>
              <a:t>            "축제명": "문경찻사발축제",</a:t>
            </a:r>
          </a:p>
          <a:p>
            <a:r>
              <a:t>            "남성비율": "7.2",</a:t>
            </a:r>
          </a:p>
          <a:p>
            <a:r>
              <a:t>            "여성비율": "6.1"</a:t>
            </a:r>
          </a:p>
          <a:p>
            <a:r>
              <a:t>          },</a:t>
            </a:r>
          </a:p>
          <a:p>
            <a:r>
              <a:t>          {</a:t>
            </a:r>
          </a:p>
          <a:p>
            <a:r>
              <a:t>            "연령대": "20~29세",</a:t>
            </a:r>
          </a:p>
          <a:p>
            <a:r>
              <a:t>            "축제명": "문경찻사발축제",</a:t>
            </a:r>
          </a:p>
          <a:p>
            <a:r>
              <a:t>            "남성비율": "4.6",</a:t>
            </a:r>
          </a:p>
          <a:p>
            <a:r>
              <a:t>            "여성비율": "4.1"</a:t>
            </a:r>
          </a:p>
          <a:p>
            <a:r>
              <a:t>          },</a:t>
            </a:r>
          </a:p>
          <a:p>
            <a:r>
              <a:t>          {</a:t>
            </a:r>
          </a:p>
          <a:p>
            <a:r>
              <a:t>            "연령대": "10~19세",</a:t>
            </a:r>
          </a:p>
          <a:p>
            <a:r>
              <a:t>            "축제명": "문경찻사발축제",</a:t>
            </a:r>
          </a:p>
          <a:p>
            <a:r>
              <a:t>            "남성비율": "2.5",</a:t>
            </a:r>
          </a:p>
          <a:p>
            <a:r>
              <a:t>            "여성비율": "2.5"</a:t>
            </a:r>
          </a:p>
          <a:p>
            <a:r>
              <a:t>          },</a:t>
            </a:r>
          </a:p>
          <a:p>
            <a:r>
              <a:t>          {</a:t>
            </a:r>
          </a:p>
          <a:p>
            <a:r>
              <a:t>            "연령대": "0~9세",</a:t>
            </a:r>
          </a:p>
          <a:p>
            <a:r>
              <a:t>            "축제명": "문경찻사발축제",</a:t>
            </a:r>
          </a:p>
          <a:p>
            <a:r>
              <a:t>            "남성비율": "0.6",</a:t>
            </a:r>
          </a:p>
          <a:p>
            <a:r>
              <a:t>            "여성비율": "0.6"</a:t>
            </a:r>
          </a:p>
          <a:p>
            <a:r>
              <a:t>          }</a:t>
            </a:r>
          </a:p>
          <a:p>
            <a:r>
              <a:t>        ],</a:t>
            </a:r>
          </a:p>
          <a:p>
            <a:r>
              <a:t>        "comparison": {</a:t>
            </a:r>
          </a:p>
          <a:p>
            <a:r>
              <a:t>          "daily": {</a:t>
            </a:r>
          </a:p>
          <a:p>
            <a:r>
              <a:t>            "after": 28507.777777777777,</a:t>
            </a:r>
          </a:p>
          <a:p>
            <a:r>
              <a:t>            "before": 24575,</a:t>
            </a:r>
          </a:p>
          <a:p>
            <a:r>
              <a:t>            "change_pct": 16.00316491466034,</a:t>
            </a:r>
          </a:p>
          <a:p>
            <a:r>
              <a:t>            "difference": 3932.7777777777774</a:t>
            </a:r>
          </a:p>
          <a:p>
            <a:r>
              <a:t>          },</a:t>
            </a:r>
          </a:p>
          <a:p>
            <a:r>
              <a:t>          "total": {</a:t>
            </a:r>
          </a:p>
          <a:p>
            <a:r>
              <a:t>            "after": 256570,</a:t>
            </a:r>
          </a:p>
          <a:p>
            <a:r>
              <a:t>            "before": 245750,</a:t>
            </a:r>
          </a:p>
          <a:p>
            <a:r>
              <a:t>            "change_pct": 4.402848423194294,</a:t>
            </a:r>
          </a:p>
          <a:p>
            <a:r>
              <a:t>            "difference": 10820</a:t>
            </a:r>
          </a:p>
          <a:p>
            <a:r>
              <a:t>          },</a:t>
            </a:r>
          </a:p>
          <a:p>
            <a:r>
              <a:t>          "outside": {</a:t>
            </a:r>
          </a:p>
          <a:p>
            <a:r>
              <a:t>            "after": 196700,</a:t>
            </a:r>
          </a:p>
          <a:p>
            <a:r>
              <a:t>            "before": 179998,</a:t>
            </a:r>
          </a:p>
          <a:p>
            <a:r>
              <a:t>            "change_pct": 9.278991988799866,</a:t>
            </a:r>
          </a:p>
          <a:p>
            <a:r>
              <a:t>            "difference": 16702</a:t>
            </a:r>
          </a:p>
          <a:p>
            <a:r>
              <a:t>          },</a:t>
            </a:r>
          </a:p>
          <a:p>
            <a:r>
              <a:t>          "after_days": 9,</a:t>
            </a:r>
          </a:p>
          <a:p>
            <a:r>
              <a:t>          "after_year": 2025,</a:t>
            </a:r>
          </a:p>
          <a:p>
            <a:r>
              <a:t>          "before_days": 10,</a:t>
            </a:r>
          </a:p>
          <a:p>
            <a:r>
              <a:t>          "before_year": 2024,</a:t>
            </a:r>
          </a:p>
          <a:p>
            <a:r>
              <a:t>          "outside_daily": {</a:t>
            </a:r>
          </a:p>
          <a:p>
            <a:r>
              <a:t>            "after": 21855.555555555555,</a:t>
            </a:r>
          </a:p>
          <a:p>
            <a:r>
              <a:t>            "before": 17999.8,</a:t>
            </a:r>
          </a:p>
          <a:p>
            <a:r>
              <a:t>            "change_pct": 21.421102209777644,</a:t>
            </a:r>
          </a:p>
          <a:p>
            <a:r>
              <a:t>            "difference": 3855.755555555555</a:t>
            </a:r>
          </a:p>
          <a:p>
            <a:r>
              <a:t>          }</a:t>
            </a:r>
          </a:p>
          <a:p>
            <a:r>
              <a:t>        },</a:t>
            </a:r>
          </a:p>
          <a:p>
            <a:r>
              <a:t>        "source_file":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"0.414",</a:t>
            </a:r>
          </a:p>
          <a:p>
            <a:r>
              <a:t>            "축제명": "문경찻사발축제",</a:t>
            </a:r>
          </a:p>
          <a:p>
            <a:r>
              <a:t>            "개최년도": "2025"</a:t>
            </a:r>
          </a:p>
          <a:p>
            <a:r>
              <a:t>          },</a:t>
            </a:r>
          </a:p>
          <a:p>
            <a:r>
              <a:t>          {</a:t>
            </a:r>
          </a:p>
          <a:p>
            <a:r>
              <a:t>            "구분명": "현지인방문자 유입",</a:t>
            </a:r>
          </a:p>
          <a:p>
            <a:r>
              <a:t>            "그룹명": "축제기간",</a:t>
            </a:r>
          </a:p>
          <a:p>
            <a:r>
              <a:t>            "지표값": "0.86",</a:t>
            </a:r>
          </a:p>
          <a:p>
            <a:r>
              <a:t>            "축제명": "문경찻사발축제",</a:t>
            </a:r>
          </a:p>
          <a:p>
            <a:r>
              <a:t>            "개최년도": "2025"</a:t>
            </a:r>
          </a:p>
          <a:p>
            <a:r>
              <a:t>          },</a:t>
            </a:r>
          </a:p>
          <a:p>
            <a:r>
              <a:t>          {</a:t>
            </a:r>
          </a:p>
          <a:p>
            <a:r>
              <a:t>            "구분명": "내비게이션 검색량",</a:t>
            </a:r>
          </a:p>
          <a:p>
            <a:r>
              <a:t>            "그룹명": "축제기간",</a:t>
            </a:r>
          </a:p>
          <a:p>
            <a:r>
              <a:t>            "지표값": "0.273",</a:t>
            </a:r>
          </a:p>
          <a:p>
            <a:r>
              <a:t>            "축제명": "문경찻사발축제",</a:t>
            </a:r>
          </a:p>
          <a:p>
            <a:r>
              <a:t>            "개최년도": "2025"</a:t>
            </a:r>
          </a:p>
          <a:p>
            <a:r>
              <a:t>          },</a:t>
            </a:r>
          </a:p>
          <a:p>
            <a:r>
              <a:t>          {</a:t>
            </a:r>
          </a:p>
          <a:p>
            <a:r>
              <a:t>            "구분명": "관광소비",</a:t>
            </a:r>
          </a:p>
          <a:p>
            <a:r>
              <a:t>            "그룹명": "축제기간",</a:t>
            </a:r>
          </a:p>
          <a:p>
            <a:r>
              <a:t>            "지표값": "0.536",</a:t>
            </a:r>
          </a:p>
          <a:p>
            <a:r>
              <a:t>            "축제명": "문경찻사발축제",</a:t>
            </a:r>
          </a:p>
          <a:p>
            <a:r>
              <a:t>            "개최년도": "2025"</a:t>
            </a:r>
          </a:p>
          <a:p>
            <a:r>
              <a:t>          },</a:t>
            </a:r>
          </a:p>
          <a:p>
            <a:r>
              <a:t>          {</a:t>
            </a:r>
          </a:p>
          <a:p>
            <a:r>
              <a:t>            "구분명": "축제지 집중률",</a:t>
            </a:r>
          </a:p>
          <a:p>
            <a:r>
              <a:t>            "그룹명": "축제기간",</a:t>
            </a:r>
          </a:p>
          <a:p>
            <a:r>
              <a:t>            "지표값": "0.716",</a:t>
            </a:r>
          </a:p>
          <a:p>
            <a:r>
              <a:t>            "축제명": "문경찻사발축제",</a:t>
            </a:r>
          </a:p>
          <a:p>
            <a:r>
              <a:t>            "개최년도": "2025"</a:t>
            </a:r>
          </a:p>
          <a:p>
            <a:r>
              <a:t>          },</a:t>
            </a:r>
          </a:p>
          <a:p>
            <a:r>
              <a:t>          {</a:t>
            </a:r>
          </a:p>
          <a:p>
            <a:r>
              <a:t>            "구분명": "외부방문자 유입",</a:t>
            </a:r>
          </a:p>
          <a:p>
            <a:r>
              <a:t>            "그룹명": "비축제기간",</a:t>
            </a:r>
          </a:p>
          <a:p>
            <a:r>
              <a:t>            "지표값": "0.217",</a:t>
            </a:r>
          </a:p>
          <a:p>
            <a:r>
              <a:t>            "축제명": "문경찻사발축제",</a:t>
            </a:r>
          </a:p>
          <a:p>
            <a:r>
              <a:t>            "개최년도": "2025"</a:t>
            </a:r>
          </a:p>
          <a:p>
            <a:r>
              <a:t>          },</a:t>
            </a:r>
          </a:p>
          <a:p>
            <a:r>
              <a:t>          {</a:t>
            </a:r>
          </a:p>
          <a:p>
            <a:r>
              <a:t>            "구분명": "현지인방문자 유입",</a:t>
            </a:r>
          </a:p>
          <a:p>
            <a:r>
              <a:t>            "그룹명": "비축제기간",</a:t>
            </a:r>
          </a:p>
          <a:p>
            <a:r>
              <a:t>            "지표값": "0.725",</a:t>
            </a:r>
          </a:p>
          <a:p>
            <a:r>
              <a:t>            "축제명": "문경찻사발축제",</a:t>
            </a:r>
          </a:p>
          <a:p>
            <a:r>
              <a:t>            "개최년도": "2025"</a:t>
            </a:r>
          </a:p>
          <a:p>
            <a:r>
              <a:t>          },</a:t>
            </a:r>
          </a:p>
          <a:p>
            <a:r>
              <a:t>          {</a:t>
            </a:r>
          </a:p>
          <a:p>
            <a:r>
              <a:t>            "구분명": "내비게이션 검색량",</a:t>
            </a:r>
          </a:p>
          <a:p>
            <a:r>
              <a:t>            "그룹명": "비축제기간",</a:t>
            </a:r>
          </a:p>
          <a:p>
            <a:r>
              <a:t>            "지표값": "0.148",</a:t>
            </a:r>
          </a:p>
          <a:p>
            <a:r>
              <a:t>            "축제명": "문경찻사발축제",</a:t>
            </a:r>
          </a:p>
          <a:p>
            <a:r>
              <a:t>            "개최년도": "2025"</a:t>
            </a:r>
          </a:p>
          <a:p>
            <a:r>
              <a:t>          },</a:t>
            </a:r>
          </a:p>
          <a:p>
            <a:r>
              <a:t>          {</a:t>
            </a:r>
          </a:p>
          <a:p>
            <a:r>
              <a:t>            "구분명": "관광소비",</a:t>
            </a:r>
          </a:p>
          <a:p>
            <a:r>
              <a:t>            "그룹명": "비축제기간",</a:t>
            </a:r>
          </a:p>
          <a:p>
            <a:r>
              <a:t>            "지표값": "0.381",</a:t>
            </a:r>
          </a:p>
          <a:p>
            <a:r>
              <a:t>            "축제명": "문경찻사발축제",</a:t>
            </a:r>
          </a:p>
          <a:p>
            <a:r>
              <a:t>            "개최년도": "2025"</a:t>
            </a:r>
          </a:p>
          <a:p>
            <a:r>
              <a:t>          },</a:t>
            </a:r>
          </a:p>
          <a:p>
            <a:r>
              <a:t>          {</a:t>
            </a:r>
          </a:p>
          <a:p>
            <a:r>
              <a:t>            "구분명": "축제지 집중률",</a:t>
            </a:r>
          </a:p>
          <a:p>
            <a:r>
              <a:t>            "그룹명": "비축제기간",</a:t>
            </a:r>
          </a:p>
          <a:p>
            <a:r>
              <a:t>            "지표값": "0.607",</a:t>
            </a:r>
          </a:p>
          <a:p>
            <a:r>
              <a:t>            "축제명": "문경찻사발축제",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"문경새재",</a:t>
            </a:r>
          </a:p>
          <a:p>
            <a:r>
              <a:t>            "카테고리": "역사유적지",</a:t>
            </a:r>
          </a:p>
          <a:p>
            <a:r>
              <a:t>            "도로명주소": "경북 문경시 새재로 932-0"</a:t>
            </a:r>
          </a:p>
          <a:p>
            <a:r>
              <a:t>          },</a:t>
            </a:r>
          </a:p>
          <a:p>
            <a:r>
              <a:t>          {</a:t>
            </a:r>
          </a:p>
          <a:p>
            <a:r>
              <a:t>            "구분": "외지인",</a:t>
            </a:r>
          </a:p>
          <a:p>
            <a:r>
              <a:t>            "순위": "2",</a:t>
            </a:r>
          </a:p>
          <a:p>
            <a:r>
              <a:t>            "목적지명": "문경종합온천",</a:t>
            </a:r>
          </a:p>
          <a:p>
            <a:r>
              <a:t>            "카테고리": "웰니스관광",</a:t>
            </a:r>
          </a:p>
          <a:p>
            <a:r>
              <a:t>            "도로명주소": "경북 문경시 온천2길 24-0"</a:t>
            </a:r>
          </a:p>
          <a:p>
            <a:r>
              <a:t>          },</a:t>
            </a:r>
          </a:p>
          <a:p>
            <a:r>
              <a:t>          {</a:t>
            </a:r>
          </a:p>
          <a:p>
            <a:r>
              <a:t>            "구분": "외지인",</a:t>
            </a:r>
          </a:p>
          <a:p>
            <a:r>
              <a:t>            "순위": "3",</a:t>
            </a:r>
          </a:p>
          <a:p>
            <a:r>
              <a:t>            "목적지명": "문경찻사발축제",</a:t>
            </a:r>
          </a:p>
          <a:p>
            <a:r>
              <a:t>            "카테고리": "기타문화관광지",</a:t>
            </a:r>
          </a:p>
          <a:p>
            <a:r>
              <a:t>            "도로명주소": "경북 문경시 새재로 933-0"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"2025년 문화예술 축제 통합 지원사업 종합결과보고서",</a:t>
            </a:r>
          </a:p>
          <a:p>
            <a:r>
              <a:t>      "summary": "서울특별시 · 2025 문화예술 축제 통합 지원사업: 기존 공공·민간 축제의 재정지원·현장평가·관람객 조사 ·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"source_id": "case:28ff66d9b44637",</a:t>
            </a:r>
          </a:p>
          <a:p>
            <a:r>
              <a:t>      "source_url": "https://culture.seoul.go.kr/culture/cmmn/file/fileDown.do?atchFileId=bb34395b25504c66a77ef69999cacb1c&amp;bbsId=B0000006&amp;fileSn=1",</a:t>
            </a:r>
          </a:p>
          <a:p>
            <a:r>
              <a:t>      "case_region": "서울특별시",</a:t>
            </a:r>
          </a:p>
          <a:p>
            <a:r>
              <a:t>      "source_type": "benchmark_case",</a:t>
            </a:r>
          </a:p>
          <a:p>
            <a:r>
              <a:t>      "intervention": "2025 문화예술 축제 통합 지원사업: 기존 공공·민간 축제의 재정지원·현장평가·관람객 조사",</a:t>
            </a:r>
          </a:p>
          <a:p>
            <a:r>
              <a:t>      "document_type": null,</a:t>
            </a:r>
          </a:p>
          <a:p>
            <a:r>
              <a:t>      "observed_result":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"operating_model": "자치구 축제, 민간 축제, 지역대표공연예술제, 국악 민간행사를 묶어 지원하고 계획 실행도, 현장 운영, 접근성, 안전, 홍보, 만족도를 공통 체계로 평가했다. 2025년 평가 대상은 263개 축제였고 1,731개 프로그램을 4,993회 운영했다. ([culture.seoul.go.kr](https://culture.seoul.go.kr/culture/cmmn/file/fileDown.do?atchFileId=bb34395b25504c66a77ef69999cacb1c&amp;bbsId=B0000006&amp;fileSn=1))",</a:t>
            </a:r>
          </a:p>
          <a:p>
            <a:r>
              <a:t>      "retrieval_method": "official_web_search",</a:t>
            </a:r>
          </a:p>
          <a:p>
            <a:r>
              <a:t>      "evidence_strength": "medium",</a:t>
            </a:r>
          </a:p>
          <a:p>
            <a:r>
              <a:t>      "retrieval_context": {</a:t>
            </a:r>
          </a:p>
          <a:p>
            <a:r>
              <a:t>        "scope": "cross_province",</a:t>
            </a:r>
          </a:p>
          <a:p>
            <a:r>
              <a:t>        "peer_region_code": null</a:t>
            </a:r>
          </a:p>
          <a:p>
            <a:r>
              <a:t>      },</a:t>
            </a:r>
          </a:p>
          <a:p>
            <a:r>
              <a:t>      "measurement_period": "2025년 평가 대상 축제 개최기간과 종료 후 종합평가",</a:t>
            </a:r>
          </a:p>
          <a:p>
            <a:r>
              <a:t>      "transfer_conditions": [</a:t>
            </a:r>
          </a:p>
          <a:p>
            <a:r>
              <a:t>        "대전 서구에서는 신규 대형축제보다 기존 시설·민간행사·상권 프로그램을 묶고 공통 예약·결제 기록을 적용하는 요소만 축소 도입한다.",</a:t>
            </a:r>
          </a:p>
          <a:p>
            <a:r>
              <a:t>        "관광형, 지역상권형, 주민문화형의 목적과 지표를 분리해야 한다.",</a:t>
            </a:r>
          </a:p>
          <a:p>
            <a:r>
              <a:t>        "10~11월 행사 집중도를 확인하고 동일 날짜 경쟁을 피하는 회차·시간대 배치가 필요하다.",</a:t>
            </a:r>
          </a:p>
          <a:p>
            <a:r>
              <a:t>        "축제별 방문자 중 외지인, 사전예약자, 상권 결제자, 재방문자를 별도로 측정해야 한다."</a:t>
            </a:r>
          </a:p>
          <a:p>
            <a:r>
              <a:t>      ],</a:t>
            </a:r>
          </a:p>
          <a:p>
            <a:r>
              <a:t>      "operating_statistics": [</a:t>
            </a:r>
          </a:p>
          <a:p>
            <a:r>
              <a:t>        {</a:t>
            </a:r>
          </a:p>
          <a:p>
            <a:r>
              <a:t>          "unit": "festival",</a:t>
            </a:r>
          </a:p>
          <a:p>
            <a:r>
              <a:t>          "quote": "평가 대상 축제는 총 263개",</a:t>
            </a:r>
          </a:p>
          <a:p>
            <a:r>
              <a:t>          "scope": "서울시·서울문화재단 재정지원 축제 중 평가 대상",</a:t>
            </a:r>
          </a:p>
          <a:p>
            <a:r>
              <a:t>          "value": 263,</a:t>
            </a:r>
          </a:p>
          <a:p>
            <a:r>
              <a:t>          "metric": "sites",</a:t>
            </a:r>
          </a:p>
          <a:p>
            <a:r>
              <a:t>          "period": "2025-04 ~ 2025-12",</a:t>
            </a:r>
          </a:p>
          <a:p>
            <a:r>
              <a:t>          "program_name": "2025 문화예술 축제 통합 지원사업",</a:t>
            </a:r>
          </a:p>
          <a:p>
            <a:r>
              <a:t>          "capacity_count": null,</a:t>
            </a:r>
          </a:p>
          <a:p>
            <a:r>
              <a:t>          "participant_count": null</a:t>
            </a:r>
          </a:p>
          <a:p>
            <a:r>
              <a:t>        },</a:t>
            </a:r>
          </a:p>
          <a:p>
            <a:r>
              <a:t>        {</a:t>
            </a:r>
          </a:p>
          <a:p>
            <a:r>
              <a:t>          "unit": "person_visit",</a:t>
            </a:r>
          </a:p>
          <a:p>
            <a:r>
              <a:t>          "quote": "총 8,880,289명의 관람객이 방문",</a:t>
            </a:r>
          </a:p>
          <a:p>
            <a:r>
              <a:t>          "scope": "평가 대상 축제 실적집계표의 관람객 합계; 중복 방문 가능",</a:t>
            </a:r>
          </a:p>
          <a:p>
            <a:r>
              <a:t>          "value": 8880289,</a:t>
            </a:r>
          </a:p>
          <a:p>
            <a:r>
              <a:t>          "metric": "participants",</a:t>
            </a:r>
          </a:p>
          <a:p>
            <a:r>
              <a:t>          "period": "2025-04 ~ 2025-12",</a:t>
            </a:r>
          </a:p>
          <a:p>
            <a:r>
              <a:t>          "program_name": "2025 문화예술 축제 통합 지원사업",</a:t>
            </a:r>
          </a:p>
          <a:p>
            <a:r>
              <a:t>          "capacity_count": null,</a:t>
            </a:r>
          </a:p>
          <a:p>
            <a:r>
              <a:t>          "participant_count": 8880289</a:t>
            </a:r>
          </a:p>
          <a:p>
            <a:r>
              <a:t>        }</a:t>
            </a:r>
          </a:p>
          <a:p>
            <a:r>
              <a:t>      ],</a:t>
            </a:r>
          </a:p>
          <a:p>
            <a:r>
              <a:t>      "published_or_updated_at": "2026",</a:t>
            </a:r>
          </a:p>
          <a:p>
            <a:r>
              <a:t>      "quantitative_result_approved": null</a:t>
            </a:r>
          </a:p>
          <a:p>
            <a:r>
              <a:t>    },</a:t>
            </a:r>
          </a:p>
          <a:p>
            <a:r>
              <a:t>    {</a:t>
            </a:r>
          </a:p>
          <a:p>
            <a:r>
              <a:t>      "title": "귀촌 '원조 반값'은 다르다… 강진서 전국 확산 '체류 관광 도시'",</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반값여행: 여행 지출 증빙 후 모바일 지역상품권 환급",</a:t>
            </a:r>
          </a:p>
          <a:p>
            <a:r>
              <a:t>      "document_type": null,</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"retrieval_method": "official_web_search",</a:t>
            </a:r>
          </a:p>
          <a:p>
            <a:r>
              <a:t>      "evidence_strength": "medium",</a:t>
            </a:r>
          </a:p>
          <a:p>
            <a:r>
              <a:t>      "retrieval_context": {</a:t>
            </a:r>
          </a:p>
          <a:p>
            <a:r>
              <a:t>        "scope": "cross_province",</a:t>
            </a:r>
          </a:p>
          <a:p>
            <a:r>
              <a:t>        "peer_region_code": null</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"operating_statistics": [</a:t>
            </a:r>
          </a:p>
          <a:p>
            <a:r>
              <a:t>        {</a:t>
            </a:r>
          </a:p>
          <a:p>
            <a:r>
              <a:t>          "unit": "team",</a:t>
            </a:r>
          </a:p>
          <a:p>
            <a:r>
              <a:t>          "quote": "1만6292팀이 실제 강진을 찾았다.",</a:t>
            </a:r>
          </a:p>
          <a:p>
            <a:r>
              <a:t>          "scope": "사전신청자 중 실제 강진 방문 확인 팀",</a:t>
            </a:r>
          </a:p>
          <a:p>
            <a:r>
              <a:t>          "value": 16292,</a:t>
            </a:r>
          </a:p>
          <a:p>
            <a:r>
              <a:t>          "metric": "participants",</a:t>
            </a:r>
          </a:p>
          <a:p>
            <a:r>
              <a:t>          "period": "2026-05-19 누적",</a:t>
            </a:r>
          </a:p>
          <a:p>
            <a:r>
              <a:t>          "program_name": "강진 반값여행",</a:t>
            </a:r>
          </a:p>
          <a:p>
            <a:r>
              <a:t>          "capacity_count": null,</a:t>
            </a:r>
          </a:p>
          <a:p>
            <a:r>
              <a:t>          "participant_count": 16292</a:t>
            </a:r>
          </a:p>
          <a:p>
            <a:r>
              <a:t>        },</a:t>
            </a:r>
          </a:p>
          <a:p>
            <a:r>
              <a:t>        {</a:t>
            </a:r>
          </a:p>
          <a:p>
            <a:r>
              <a:t>          "unit": "KRW",</a:t>
            </a:r>
          </a:p>
          <a:p>
            <a:r>
              <a:t>          "quote": "지역 내 소비액은 총 49억7000만원",</a:t>
            </a:r>
          </a:p>
          <a:p>
            <a:r>
              <a:t>          "scope": "사업 등록 관광객의 강진 지역 내 소비액",</a:t>
            </a:r>
          </a:p>
          <a:p>
            <a:r>
              <a:t>          "value": 4970000000,</a:t>
            </a:r>
          </a:p>
          <a:p>
            <a:r>
              <a:t>          "metric": "participant_spending",</a:t>
            </a:r>
          </a:p>
          <a:p>
            <a:r>
              <a:t>          "period": "2026-05-19 누적",</a:t>
            </a:r>
          </a:p>
          <a:p>
            <a:r>
              <a:t>          "program_name": "강진 반값여행",</a:t>
            </a:r>
          </a:p>
          <a:p>
            <a:r>
              <a:t>          "capacity_count": null,</a:t>
            </a:r>
          </a:p>
          <a:p>
            <a:r>
              <a:t>          "participant_count": 16292</a:t>
            </a:r>
          </a:p>
          <a:p>
            <a:r>
              <a:t>        }</a:t>
            </a:r>
          </a:p>
          <a:p>
            <a:r>
              <a:t>      ],</a:t>
            </a:r>
          </a:p>
          <a:p>
            <a:r>
              <a:t>      "published_or_updated_at": "2026-05-29",</a:t>
            </a:r>
          </a:p>
          <a:p>
            <a:r>
              <a:t>      "quantitative_result_approved": null</a:t>
            </a:r>
          </a:p>
          <a:p>
            <a:r>
              <a:t>    },</a:t>
            </a:r>
          </a:p>
          <a:p>
            <a:r>
              <a:t>    {</a:t>
            </a:r>
          </a:p>
          <a:p>
            <a:r>
              <a:t>      "title": "요즘, 한국관광 2호 - 지방공항 연계 지역관광 활성화 방안",</a:t>
            </a:r>
          </a:p>
          <a:p>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"source_id": "case:4544b7bca8ebab",</a:t>
            </a:r>
          </a:p>
          <a:p>
            <a:r>
              <a:t>      "source_url": "https://datalab.visitkorea.or.kr/site/portal/ex/bbs/View.do?bcIdx=311068&amp;cbIdx=1135&amp;pageIndex=1",</a:t>
            </a:r>
          </a:p>
          <a:p>
            <a:r>
              <a:t>      "case_region": "청주공항과 충청권 주요 관광지 연계 권역",</a:t>
            </a:r>
          </a:p>
          <a:p>
            <a:r>
              <a:t>      "source_type": "benchmark_case",</a:t>
            </a:r>
          </a:p>
          <a:p>
            <a:r>
              <a:t>      "intervention": "청주공항·오송역·공주·부여 연계 광역 순환버스 및 수요응답형교통(DRT)",</a:t>
            </a:r>
          </a:p>
          <a:p>
            <a:r>
              <a:t>      "document_type": null,</a:t>
            </a:r>
          </a:p>
          <a:p>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a:r>
              <a:t>      "retrieval_method": "official_web_search",</a:t>
            </a:r>
          </a:p>
          <a:p>
            <a:r>
              <a:t>      "evidence_strength": "medium",</a:t>
            </a:r>
          </a:p>
          <a:p>
            <a:r>
              <a:t>      "retrieval_context": {</a:t>
            </a:r>
          </a:p>
          <a:p>
            <a:r>
              <a:t>        "scope": "national_or_unresolved",</a:t>
            </a:r>
          </a:p>
          <a:p>
            <a:r>
              <a:t>        "peer_region_code": null</a:t>
            </a:r>
          </a:p>
          <a:p>
            <a:r>
              <a:t>      },</a:t>
            </a:r>
          </a:p>
          <a:p>
            <a:r>
              <a:t>      "measurement_period": "2026-01 ~ 2026-06",</a:t>
            </a:r>
          </a:p>
          <a:p>
            <a:r>
              <a:t>      "transfer_conditions": [</a:t>
            </a:r>
          </a:p>
          <a:p>
            <a:r>
              <a:t>        "대전역·복합터미널·청주공항 등 실제 유입 거점과 서구 내 목적지 사이의 이동 수요를 먼저 확인해야 한다.",</a:t>
            </a:r>
          </a:p>
          <a:p>
            <a:r>
              <a:t>        "고정 노선은 일정 수요가 확인될 때 적용하고, 초기에는 예약형 셔틀·택시·기존 대중교통 이용권 방식도 비교해야 한다.",</a:t>
            </a:r>
          </a:p>
          <a:p>
            <a:r>
              <a:t>        "운송사업자, 시설 운영자, 예약 플랫폼 간 운행시간·취소·노쇼·안전 책임 협약이 필요하다.",</a:t>
            </a:r>
          </a:p>
          <a:p>
            <a:r>
              <a:t>        "대전 서구 단독보다 인접 자치구나 청주공항 연계 권역상품으로 운영할 경우 비용·성과의 행정구역별 배분 기준이 필요하다."</a:t>
            </a:r>
          </a:p>
          <a:p>
            <a:r>
              <a:t>      ],</a:t>
            </a:r>
          </a:p>
          <a:p>
            <a:r>
              <a:t>      "operating_statistics": [</a:t>
            </a:r>
          </a:p>
          <a:p>
            <a:r>
              <a:t>        {</a:t>
            </a:r>
          </a:p>
          <a:p>
            <a:r>
              <a:t>          "unit": "person",</a:t>
            </a:r>
          </a:p>
          <a:p>
            <a:r>
              <a:t>          "quote": "순환버스와 DRT 이용객은 총 7,470명",</a:t>
            </a:r>
          </a:p>
          <a:p>
            <a:r>
              <a:t>          "scope": "청주공항·충청권 광역 순환버스와 DRT 실제 이용객 합계",</a:t>
            </a:r>
          </a:p>
          <a:p>
            <a:r>
              <a:t>          "value": 7470,</a:t>
            </a:r>
          </a:p>
          <a:p>
            <a:r>
              <a:t>          "metric": "participants",</a:t>
            </a:r>
          </a:p>
          <a:p>
            <a:r>
              <a:t>          "period": "2026년 상반기",</a:t>
            </a:r>
          </a:p>
          <a:p>
            <a:r>
              <a:t>          "program_name": "청주공항 연계 광역 순환버스·DRT",</a:t>
            </a:r>
          </a:p>
          <a:p>
            <a:r>
              <a:t>          "capacity_count": null,</a:t>
            </a:r>
          </a:p>
          <a:p>
            <a:r>
              <a:t>          "participant_count": 7470</a:t>
            </a:r>
          </a:p>
          <a:p>
            <a:r>
              <a:t>        }</a:t>
            </a:r>
          </a:p>
          <a:p>
            <a:r>
              <a:t>      ],</a:t>
            </a:r>
          </a:p>
          <a:p>
            <a:r>
              <a:t>      "published_or_updated_at": "2026-08",</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"operating_statistics":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"operating_statistics": [],</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"operating_statistics": [],</a:t>
            </a:r>
          </a:p>
          <a:p>
            <a:r>
              <a:t>      "published_or_updated_at": "2025",</a:t>
            </a:r>
          </a:p>
          <a:p>
            <a:r>
              <a:t>      "quantitative_result_approved": null</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"202610",</a:t>
            </a:r>
          </a:p>
          <a:p>
            <a:r>
              <a:t>        "visitors": 4998578.0,</a:t>
            </a:r>
          </a:p>
          <a:p>
            <a:r>
              <a:t>        "is_forecast": true,</a:t>
            </a:r>
          </a:p>
          <a:p>
            <a:r>
              <a:t>        "spending_krw": 79359374710.0,</a:t>
            </a:r>
          </a:p>
          <a:p>
            <a:r>
              <a:t>        "stay_minutes": 1170.0,</a:t>
            </a:r>
          </a:p>
          <a:p>
            <a:r>
              <a:t>        "lodging_nights": 2.85,</a:t>
            </a:r>
          </a:p>
          <a:p>
            <a:r>
              <a:t>        "lodging_rate_pct": 8.9,</a:t>
            </a:r>
          </a:p>
          <a:p>
            <a:r>
              <a:t>        "lodging_searches": 19187,</a:t>
            </a:r>
          </a:p>
          <a:p>
            <a:r>
              <a:t>        "navigation_searches": 237779,</a:t>
            </a:r>
          </a:p>
          <a:p>
            <a:r>
              <a:t>        "visitor_yoy_percent": 0.99,</a:t>
            </a:r>
          </a:p>
          <a:p>
            <a:r>
              <a:t>        "spending_yoy_percent": 1.54,</a:t>
            </a:r>
          </a:p>
          <a:p>
            <a:r>
              <a:t>        "metric_changes_percent": {</a:t>
            </a:r>
          </a:p>
          <a:p>
            <a:r>
              <a:t>          "stay_minutes": 0.0,</a:t>
            </a:r>
          </a:p>
          <a:p>
            <a:r>
              <a:t>          "lodging_nights": 0.0,</a:t>
            </a:r>
          </a:p>
          <a:p>
            <a:r>
              <a:t>          "lodging_rate_pct": 0.0,</a:t>
            </a:r>
          </a:p>
          <a:p>
            <a:r>
              <a:t>          "lodging_searches": 0.0,</a:t>
            </a:r>
          </a:p>
          <a:p>
            <a:r>
              <a:t>          "navigation_searches": -26.82</a:t>
            </a:r>
          </a:p>
          <a:p>
            <a:r>
              <a:t>        },</a:t>
            </a:r>
          </a:p>
          <a:p>
            <a:r>
              <a:t>        "previous_year_visitors": 4949394,</a:t>
            </a:r>
          </a:p>
          <a:p>
            <a:r>
              <a:t>        "previous_year_spending_krw": 78158272000,</a:t>
            </a:r>
          </a:p>
          <a:p>
            <a:r>
              <a:t>        "previous_year_stay_minutes": 1170.0,</a:t>
            </a:r>
          </a:p>
          <a:p>
            <a:r>
              <a:t>        "previous_year_lodging_nights": 2.85,</a:t>
            </a:r>
          </a:p>
          <a:p>
            <a:r>
              <a:t>        "previous_year_lodging_rate_pct": 8.9,</a:t>
            </a:r>
          </a:p>
          <a:p>
            <a:r>
              <a:t>        "previous_year_lodging_searches": 19187,</a:t>
            </a:r>
          </a:p>
          <a:p>
            <a:r>
              <a:t>        "previous_year_navigation_searches": 324902</a:t>
            </a:r>
          </a:p>
          <a:p>
            <a:r>
              <a:t>      },</a:t>
            </a:r>
          </a:p>
          <a:p>
            <a:r>
              <a:t>      {</a:t>
            </a:r>
          </a:p>
          <a:p>
            <a:r>
              <a:t>        "month": "202611",</a:t>
            </a:r>
          </a:p>
          <a:p>
            <a:r>
              <a:t>        "visitors": 4940348.0,</a:t>
            </a:r>
          </a:p>
          <a:p>
            <a:r>
              <a:t>        "is_forecast": true,</a:t>
            </a:r>
          </a:p>
          <a:p>
            <a:r>
              <a:t>        "spending_krw": 85971975908.0,</a:t>
            </a:r>
          </a:p>
          <a:p>
            <a:r>
              <a:t>        "stay_minutes": 987.0,</a:t>
            </a:r>
          </a:p>
          <a:p>
            <a:r>
              <a:t>        "lodging_nights": 2.79,</a:t>
            </a:r>
          </a:p>
          <a:p>
            <a:r>
              <a:t>        "lodging_rate_pct": 6.5,</a:t>
            </a:r>
          </a:p>
          <a:p>
            <a:r>
              <a:t>        "lodging_searches": 14379,</a:t>
            </a:r>
          </a:p>
          <a:p>
            <a:r>
              <a:t>        "navigation_searches": 231894,</a:t>
            </a:r>
          </a:p>
          <a:p>
            <a:r>
              <a:t>        "visitor_yoy_percent": -4.4,</a:t>
            </a:r>
          </a:p>
          <a:p>
            <a:r>
              <a:t>        "spending_yoy_percent": 12.37,</a:t>
            </a:r>
          </a:p>
          <a:p>
            <a:r>
              <a:t>        "metric_changes_percent": {</a:t>
            </a:r>
          </a:p>
          <a:p>
            <a:r>
              <a:t>          "stay_minutes": 0.0,</a:t>
            </a:r>
          </a:p>
          <a:p>
            <a:r>
              <a:t>          "lodging_nights": 0.0,</a:t>
            </a:r>
          </a:p>
          <a:p>
            <a:r>
              <a:t>          "lodging_rate_pct": 0.0,</a:t>
            </a:r>
          </a:p>
          <a:p>
            <a:r>
              <a:t>          "lodging_searches": 0.0,</a:t>
            </a:r>
          </a:p>
          <a:p>
            <a:r>
              <a:t>          "navigation_searches": -2.86</a:t>
            </a:r>
          </a:p>
          <a:p>
            <a:r>
              <a:t>        },</a:t>
            </a:r>
          </a:p>
          <a:p>
            <a:r>
              <a:t>        "previous_year_visitors": 5167969,</a:t>
            </a:r>
          </a:p>
          <a:p>
            <a:r>
              <a:t>        "previous_year_spending_krw": 76509918000,</a:t>
            </a:r>
          </a:p>
          <a:p>
            <a:r>
              <a:t>        "previous_year_stay_minutes": 987.0,</a:t>
            </a:r>
          </a:p>
          <a:p>
            <a:r>
              <a:t>        "previous_year_lodging_nights": 2.79,</a:t>
            </a:r>
          </a:p>
          <a:p>
            <a:r>
              <a:t>        "previous_year_lodging_rate_pct": 6.5,</a:t>
            </a:r>
          </a:p>
          <a:p>
            <a:r>
              <a:t>        "previous_year_lodging_searches": 14379,</a:t>
            </a:r>
          </a:p>
          <a:p>
            <a:r>
              <a:t>        "previous_year_navigation_searches": 238728</a:t>
            </a:r>
          </a:p>
          <a:p>
            <a:r>
              <a:t>      },</a:t>
            </a:r>
          </a:p>
          <a:p>
            <a:r>
              <a:t>      {</a:t>
            </a:r>
          </a:p>
          <a:p>
            <a:r>
              <a:t>        "month": "202612",</a:t>
            </a:r>
          </a:p>
          <a:p>
            <a:r>
              <a:t>        "visitors": 4989633.0,</a:t>
            </a:r>
          </a:p>
          <a:p>
            <a:r>
              <a:t>        "is_forecast": true,</a:t>
            </a:r>
          </a:p>
          <a:p>
            <a:r>
              <a:t>        "spending_krw": 81033922052.0,</a:t>
            </a:r>
          </a:p>
          <a:p>
            <a:r>
              <a:t>        "stay_minutes": 1118.0,</a:t>
            </a:r>
          </a:p>
          <a:p>
            <a:r>
              <a:t>        "lodging_nights": 2.81,</a:t>
            </a:r>
          </a:p>
          <a:p>
            <a:r>
              <a:t>        "lodging_rate_pct": 7.3,</a:t>
            </a:r>
          </a:p>
          <a:p>
            <a:r>
              <a:t>        "lodging_searches": 12004,</a:t>
            </a:r>
          </a:p>
          <a:p>
            <a:r>
              <a:t>        "navigation_searches": 225518,</a:t>
            </a:r>
          </a:p>
          <a:p>
            <a:r>
              <a:t>        "visitor_yoy_percent": -1.77,</a:t>
            </a:r>
          </a:p>
          <a:p>
            <a:r>
              <a:t>        "spending_yoy_percent": -0.11,</a:t>
            </a:r>
          </a:p>
          <a:p>
            <a:r>
              <a:t>        "metric_changes_percent": {</a:t>
            </a:r>
          </a:p>
          <a:p>
            <a:r>
              <a:t>          "stay_minutes": 0.0,</a:t>
            </a:r>
          </a:p>
          <a:p>
            <a:r>
              <a:t>          "lodging_nights": 0.0,</a:t>
            </a:r>
          </a:p>
          <a:p>
            <a:r>
              <a:t>          "lodging_rate_pct": 0.0,</a:t>
            </a:r>
          </a:p>
          <a:p>
            <a:r>
              <a:t>          "lodging_searches": 0.0,</a:t>
            </a:r>
          </a:p>
          <a:p>
            <a:r>
              <a:t>          "navigation_searches": 2.41</a:t>
            </a:r>
          </a:p>
          <a:p>
            <a:r>
              <a:t>        },</a:t>
            </a:r>
          </a:p>
          <a:p>
            <a:r>
              <a:t>        "previous_year_visitors": 5079597,</a:t>
            </a:r>
          </a:p>
          <a:p>
            <a:r>
              <a:t>        "previous_year_spending_krw": 81119852000,</a:t>
            </a:r>
          </a:p>
          <a:p>
            <a:r>
              <a:t>        "previous_year_stay_minutes": 1118.0,</a:t>
            </a:r>
          </a:p>
          <a:p>
            <a:r>
              <a:t>        "previous_year_lodging_nights": 2.81,</a:t>
            </a:r>
          </a:p>
          <a:p>
            <a:r>
              <a:t>        "previous_year_lodging_rate_pct": 7.3,</a:t>
            </a:r>
          </a:p>
          <a:p>
            <a:r>
              <a:t>        "previous_year_lodging_searches": 12004,</a:t>
            </a:r>
          </a:p>
          <a:p>
            <a:r>
              <a:t>        "previous_year_navigation_searches": 220205</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4982887,</a:t>
            </a:r>
          </a:p>
          <a:p>
            <a:r>
              <a:t>      "is_forecast": true,</a:t>
            </a:r>
          </a:p>
          <a:p>
            <a:r>
              <a:t>      "spending_krw": 80283647550,</a:t>
            </a:r>
          </a:p>
          <a:p>
            <a:r>
              <a:t>      "stay_minutes": 1223.0,</a:t>
            </a:r>
          </a:p>
          <a:p>
            <a:r>
              <a:t>      "lodging_nights": 2.91,</a:t>
            </a:r>
          </a:p>
          <a:p>
            <a:r>
              <a:t>      "lodging_rate_pct": 7.3,</a:t>
            </a:r>
          </a:p>
          <a:p>
            <a:r>
              <a:t>      "lodging_searches": 12843,</a:t>
            </a:r>
          </a:p>
          <a:p>
            <a:r>
              <a:t>      "navigation_searches": 209722,</a:t>
            </a:r>
          </a:p>
          <a:p>
            <a:r>
              <a:t>      "visitor_yoy_percent": 0.64,</a:t>
            </a:r>
          </a:p>
          <a:p>
            <a:r>
              <a:t>      "spending_yoy_percent": 6.85,</a:t>
            </a:r>
          </a:p>
          <a:p>
            <a:r>
              <a:t>      "metric_changes_percent": {</a:t>
            </a:r>
          </a:p>
          <a:p>
            <a:r>
              <a:t>        "stay_minutes": 0.0,</a:t>
            </a:r>
          </a:p>
          <a:p>
            <a:r>
              <a:t>        "lodging_nights": 0.0,</a:t>
            </a:r>
          </a:p>
          <a:p>
            <a:r>
              <a:t>        "lodging_rate_pct": 0.0,</a:t>
            </a:r>
          </a:p>
          <a:p>
            <a:r>
              <a:t>        "lodging_searches": 0.0,</a:t>
            </a:r>
          </a:p>
          <a:p>
            <a:r>
              <a:t>        "navigation_searches": -0.44</a:t>
            </a:r>
          </a:p>
          <a:p>
            <a:r>
              <a:t>      },</a:t>
            </a:r>
          </a:p>
          <a:p>
            <a:r>
              <a:t>      "previous_year_visitors": 4951150,</a:t>
            </a:r>
          </a:p>
          <a:p>
            <a:r>
              <a:t>      "previous_year_spending_krw": 75135145000,</a:t>
            </a:r>
          </a:p>
          <a:p>
            <a:r>
              <a:t>      "previous_year_stay_minutes": 1223.0,</a:t>
            </a:r>
          </a:p>
          <a:p>
            <a:r>
              <a:t>      "previous_year_lodging_nights": 2.91,</a:t>
            </a:r>
          </a:p>
          <a:p>
            <a:r>
              <a:t>      "previous_year_lodging_rate_pct": 7.3,</a:t>
            </a:r>
          </a:p>
          <a:p>
            <a:r>
              <a:t>      "previous_year_lodging_searches": 12843,</a:t>
            </a:r>
          </a:p>
          <a:p>
            <a:r>
              <a:t>      "previous_year_navigation_searches": 210646</a:t>
            </a:r>
          </a:p>
          <a:p>
            <a:r>
              <a:t>    },</a:t>
            </a:r>
          </a:p>
          <a:p>
            <a:r>
              <a:t>    {</a:t>
            </a:r>
          </a:p>
          <a:p>
            <a:r>
              <a:t>      "month": "202608",</a:t>
            </a:r>
          </a:p>
          <a:p>
            <a:r>
              <a:t>      "visitors": 4852547,</a:t>
            </a:r>
          </a:p>
          <a:p>
            <a:r>
              <a:t>      "is_forecast": true,</a:t>
            </a:r>
          </a:p>
          <a:p>
            <a:r>
              <a:t>      "spending_krw": 76665340753,</a:t>
            </a:r>
          </a:p>
          <a:p>
            <a:r>
              <a:t>      "stay_minutes": 1218.0,</a:t>
            </a:r>
          </a:p>
          <a:p>
            <a:r>
              <a:t>      "lodging_nights": 2.84,</a:t>
            </a:r>
          </a:p>
          <a:p>
            <a:r>
              <a:t>      "lodging_rate_pct": 7.9,</a:t>
            </a:r>
          </a:p>
          <a:p>
            <a:r>
              <a:t>      "lodging_searches": 13272,</a:t>
            </a:r>
          </a:p>
          <a:p>
            <a:r>
              <a:t>      "navigation_searches": 225159,</a:t>
            </a:r>
          </a:p>
          <a:p>
            <a:r>
              <a:t>      "visitor_yoy_percent": -1.76,</a:t>
            </a:r>
          </a:p>
          <a:p>
            <a:r>
              <a:t>      "spending_yoy_percent": 0.49,</a:t>
            </a:r>
          </a:p>
          <a:p>
            <a:r>
              <a:t>      "metric_changes_percent": {</a:t>
            </a:r>
          </a:p>
          <a:p>
            <a:r>
              <a:t>        "stay_minutes": 0.0,</a:t>
            </a:r>
          </a:p>
          <a:p>
            <a:r>
              <a:t>        "lodging_nights": 0.0,</a:t>
            </a:r>
          </a:p>
          <a:p>
            <a:r>
              <a:t>        "lodging_rate_pct": 0.0,</a:t>
            </a:r>
          </a:p>
          <a:p>
            <a:r>
              <a:t>        "lodging_searches": 0.0,</a:t>
            </a:r>
          </a:p>
          <a:p>
            <a:r>
              <a:t>        "navigation_searches": 2.0</a:t>
            </a:r>
          </a:p>
          <a:p>
            <a:r>
              <a:t>      },</a:t>
            </a:r>
          </a:p>
          <a:p>
            <a:r>
              <a:t>      "previous_year_visitors": 4939438,</a:t>
            </a:r>
          </a:p>
          <a:p>
            <a:r>
              <a:t>      "previous_year_spending_krw": 76291079000,</a:t>
            </a:r>
          </a:p>
          <a:p>
            <a:r>
              <a:t>      "previous_year_stay_minutes": 1218.0,</a:t>
            </a:r>
          </a:p>
          <a:p>
            <a:r>
              <a:t>      "previous_year_lodging_nights": 2.84,</a:t>
            </a:r>
          </a:p>
          <a:p>
            <a:r>
              <a:t>      "previous_year_lodging_rate_pct": 7.9,</a:t>
            </a:r>
          </a:p>
          <a:p>
            <a:r>
              <a:t>      "previous_year_lodging_searches": 13272,</a:t>
            </a:r>
          </a:p>
          <a:p>
            <a:r>
              <a:t>      "previous_year_navigation_searches": 220742</a:t>
            </a:r>
          </a:p>
          <a:p>
            <a:r>
              <a:t>    },</a:t>
            </a:r>
          </a:p>
          <a:p>
            <a:r>
              <a:t>    {</a:t>
            </a:r>
          </a:p>
          <a:p>
            <a:r>
              <a:t>      "month": "202609",</a:t>
            </a:r>
          </a:p>
          <a:p>
            <a:r>
              <a:t>      "visitors": 4823300,</a:t>
            </a:r>
          </a:p>
          <a:p>
            <a:r>
              <a:t>      "is_forecast": true,</a:t>
            </a:r>
          </a:p>
          <a:p>
            <a:r>
              <a:t>      "spending_krw": 80194062490,</a:t>
            </a:r>
          </a:p>
          <a:p>
            <a:r>
              <a:t>      "stay_minutes": 1281.0,</a:t>
            </a:r>
          </a:p>
          <a:p>
            <a:r>
              <a:t>      "lodging_nights": 2.93,</a:t>
            </a:r>
          </a:p>
          <a:p>
            <a:r>
              <a:t>      "lodging_rate_pct": 6.7,</a:t>
            </a:r>
          </a:p>
          <a:p>
            <a:r>
              <a:t>      "lodging_searches": 11464,</a:t>
            </a:r>
          </a:p>
          <a:p>
            <a:r>
              <a:t>      "navigation_searches": 206180,</a:t>
            </a:r>
          </a:p>
          <a:p>
            <a:r>
              <a:t>      "visitor_yoy_percent": -0.39,</a:t>
            </a:r>
          </a:p>
          <a:p>
            <a:r>
              <a:t>      "spending_yoy_percent": 13.32,</a:t>
            </a:r>
          </a:p>
          <a:p>
            <a:r>
              <a:t>      "metric_changes_percent": {</a:t>
            </a:r>
          </a:p>
          <a:p>
            <a:r>
              <a:t>        "stay_minutes": 0.0,</a:t>
            </a:r>
          </a:p>
          <a:p>
            <a:r>
              <a:t>        "lodging_nights": 0.0,</a:t>
            </a:r>
          </a:p>
          <a:p>
            <a:r>
              <a:t>        "lodging_rate_pct": 0.0,</a:t>
            </a:r>
          </a:p>
          <a:p>
            <a:r>
              <a:t>        "lodging_searches": 0.0,</a:t>
            </a:r>
          </a:p>
          <a:p>
            <a:r>
              <a:t>        "navigation_searches": 7.4</a:t>
            </a:r>
          </a:p>
          <a:p>
            <a:r>
              <a:t>      },</a:t>
            </a:r>
          </a:p>
          <a:p>
            <a:r>
              <a:t>      "previous_year_visitors": 4842196,</a:t>
            </a:r>
          </a:p>
          <a:p>
            <a:r>
              <a:t>      "previous_year_spending_krw": 70764730000,</a:t>
            </a:r>
          </a:p>
          <a:p>
            <a:r>
              <a:t>      "previous_year_stay_minutes": 1281.0,</a:t>
            </a:r>
          </a:p>
          <a:p>
            <a:r>
              <a:t>      "previous_year_lodging_nights": 2.93,</a:t>
            </a:r>
          </a:p>
          <a:p>
            <a:r>
              <a:t>      "previous_year_lodging_rate_pct": 6.7,</a:t>
            </a:r>
          </a:p>
          <a:p>
            <a:r>
              <a:t>      "previous_year_lodging_searches": 11464,</a:t>
            </a:r>
          </a:p>
          <a:p>
            <a:r>
              <a:t>      "previous_year_navigation_searches": 191971</a:t>
            </a:r>
          </a:p>
          <a:p>
            <a:r>
              <a:t>    },</a:t>
            </a:r>
          </a:p>
          <a:p>
            <a:r>
              <a:t>    {</a:t>
            </a:r>
          </a:p>
          <a:p>
            <a:r>
              <a:t>      "month": "202610",</a:t>
            </a:r>
          </a:p>
          <a:p>
            <a:r>
              <a:t>      "visitors": 4998578,</a:t>
            </a:r>
          </a:p>
          <a:p>
            <a:r>
              <a:t>      "is_forecast": true,</a:t>
            </a:r>
          </a:p>
          <a:p>
            <a:r>
              <a:t>      "spending_krw": 79359374710,</a:t>
            </a:r>
          </a:p>
          <a:p>
            <a:r>
              <a:t>      "stay_minutes": 1170.0,</a:t>
            </a:r>
          </a:p>
          <a:p>
            <a:r>
              <a:t>      "lodging_nights": 2.85,</a:t>
            </a:r>
          </a:p>
          <a:p>
            <a:r>
              <a:t>      "lodging_rate_pct": 8.9,</a:t>
            </a:r>
          </a:p>
          <a:p>
            <a:r>
              <a:t>      "lodging_searches": 19187,</a:t>
            </a:r>
          </a:p>
          <a:p>
            <a:r>
              <a:t>      "navigation_searches": 237779,</a:t>
            </a:r>
          </a:p>
          <a:p>
            <a:r>
              <a:t>      "visitor_yoy_percent": 0.99,</a:t>
            </a:r>
          </a:p>
          <a:p>
            <a:r>
              <a:t>      "spending_yoy_percent": 1.54,</a:t>
            </a:r>
          </a:p>
          <a:p>
            <a:r>
              <a:t>      "metric_changes_percent": {</a:t>
            </a:r>
          </a:p>
          <a:p>
            <a:r>
              <a:t>        "stay_minutes": 0.0,</a:t>
            </a:r>
          </a:p>
          <a:p>
            <a:r>
              <a:t>        "lodging_nights": 0.0,</a:t>
            </a:r>
          </a:p>
          <a:p>
            <a:r>
              <a:t>        "lodging_rate_pct": 0.0,</a:t>
            </a:r>
          </a:p>
          <a:p>
            <a:r>
              <a:t>        "lodging_searches": 0.0,</a:t>
            </a:r>
          </a:p>
          <a:p>
            <a:r>
              <a:t>        "navigation_searches": -26.82</a:t>
            </a:r>
          </a:p>
          <a:p>
            <a:r>
              <a:t>      },</a:t>
            </a:r>
          </a:p>
          <a:p>
            <a:r>
              <a:t>      "previous_year_visitors": 4949394,</a:t>
            </a:r>
          </a:p>
          <a:p>
            <a:r>
              <a:t>      "previous_year_spending_krw": 78158272000,</a:t>
            </a:r>
          </a:p>
          <a:p>
            <a:r>
              <a:t>      "previous_year_stay_minutes": 1170.0,</a:t>
            </a:r>
          </a:p>
          <a:p>
            <a:r>
              <a:t>      "previous_year_lodging_nights": 2.85,</a:t>
            </a:r>
          </a:p>
          <a:p>
            <a:r>
              <a:t>      "previous_year_lodging_rate_pct": 8.9,</a:t>
            </a:r>
          </a:p>
          <a:p>
            <a:r>
              <a:t>      "previous_year_lodging_searches": 19187,</a:t>
            </a:r>
          </a:p>
          <a:p>
            <a:r>
              <a:t>      "previous_year_navigation_searches": 324902</a:t>
            </a:r>
          </a:p>
          <a:p>
            <a:r>
              <a:t>    },</a:t>
            </a:r>
          </a:p>
          <a:p>
            <a:r>
              <a:t>    {</a:t>
            </a:r>
          </a:p>
          <a:p>
            <a:r>
              <a:t>      "month": "202611",</a:t>
            </a:r>
          </a:p>
          <a:p>
            <a:r>
              <a:t>      "visitors": 4940348,</a:t>
            </a:r>
          </a:p>
          <a:p>
            <a:r>
              <a:t>      "is_forecast": true,</a:t>
            </a:r>
          </a:p>
          <a:p>
            <a:r>
              <a:t>      "spending_krw": 85971975908,</a:t>
            </a:r>
          </a:p>
          <a:p>
            <a:r>
              <a:t>      "stay_minutes": 987.0,</a:t>
            </a:r>
          </a:p>
          <a:p>
            <a:r>
              <a:t>      "lodging_nights": 2.79,</a:t>
            </a:r>
          </a:p>
          <a:p>
            <a:r>
              <a:t>      "lodging_rate_pct": 6.5,</a:t>
            </a:r>
          </a:p>
          <a:p>
            <a:r>
              <a:t>      "lodging_searches": 14379,</a:t>
            </a:r>
          </a:p>
          <a:p>
            <a:r>
              <a:t>      "navigation_searches": 231894,</a:t>
            </a:r>
          </a:p>
          <a:p>
            <a:r>
              <a:t>      "visitor_yoy_percent": -4.4,</a:t>
            </a:r>
          </a:p>
          <a:p>
            <a:r>
              <a:t>      "spending_yoy_percent": 12.37,</a:t>
            </a:r>
          </a:p>
          <a:p>
            <a:r>
              <a:t>      "metric_changes_percent": {</a:t>
            </a:r>
          </a:p>
          <a:p>
            <a:r>
              <a:t>        "stay_minutes": 0.0,</a:t>
            </a:r>
          </a:p>
          <a:p>
            <a:r>
              <a:t>        "lodging_nights": 0.0,</a:t>
            </a:r>
          </a:p>
          <a:p>
            <a:r>
              <a:t>        "lodging_rate_pct": 0.0,</a:t>
            </a:r>
          </a:p>
          <a:p>
            <a:r>
              <a:t>        "lodging_searches": 0.0,</a:t>
            </a:r>
          </a:p>
          <a:p>
            <a:r>
              <a:t>        "navigation_searches": -2.86</a:t>
            </a:r>
          </a:p>
          <a:p>
            <a:r>
              <a:t>      },</a:t>
            </a:r>
          </a:p>
          <a:p>
            <a:r>
              <a:t>      "previous_year_visitors": 5167969,</a:t>
            </a:r>
          </a:p>
          <a:p>
            <a:r>
              <a:t>      "previous_year_spending_krw": 76509918000,</a:t>
            </a:r>
          </a:p>
          <a:p>
            <a:r>
              <a:t>      "previous_year_stay_minutes": 987.0,</a:t>
            </a:r>
          </a:p>
          <a:p>
            <a:r>
              <a:t>      "previous_year_lodging_nights": 2.79,</a:t>
            </a:r>
          </a:p>
          <a:p>
            <a:r>
              <a:t>      "previous_year_lodging_rate_pct": 6.5,</a:t>
            </a:r>
          </a:p>
          <a:p>
            <a:r>
              <a:t>      "previous_year_lodging_searches": 14379,</a:t>
            </a:r>
          </a:p>
          <a:p>
            <a:r>
              <a:t>      "previous_year_navigation_searches": 238728</a:t>
            </a:r>
          </a:p>
          <a:p>
            <a:r>
              <a:t>    },</a:t>
            </a:r>
          </a:p>
          <a:p>
            <a:r>
              <a:t>    {</a:t>
            </a:r>
          </a:p>
          <a:p>
            <a:r>
              <a:t>      "month": "202612",</a:t>
            </a:r>
          </a:p>
          <a:p>
            <a:r>
              <a:t>      "visitors": 4989633,</a:t>
            </a:r>
          </a:p>
          <a:p>
            <a:r>
              <a:t>      "is_forecast": true,</a:t>
            </a:r>
          </a:p>
          <a:p>
            <a:r>
              <a:t>      "spending_krw": 81033922052,</a:t>
            </a:r>
          </a:p>
          <a:p>
            <a:r>
              <a:t>      "stay_minutes": 1118.0,</a:t>
            </a:r>
          </a:p>
          <a:p>
            <a:r>
              <a:t>      "lodging_nights": 2.81,</a:t>
            </a:r>
          </a:p>
          <a:p>
            <a:r>
              <a:t>      "lodging_rate_pct": 7.3,</a:t>
            </a:r>
          </a:p>
          <a:p>
            <a:r>
              <a:t>      "lodging_searches": 12004,</a:t>
            </a:r>
          </a:p>
          <a:p>
            <a:r>
              <a:t>      "navigation_searches": 225518,</a:t>
            </a:r>
          </a:p>
          <a:p>
            <a:r>
              <a:t>      "visitor_yoy_percent": -1.77,</a:t>
            </a:r>
          </a:p>
          <a:p>
            <a:r>
              <a:t>      "spending_yoy_percent": -0.11,</a:t>
            </a:r>
          </a:p>
          <a:p>
            <a:r>
              <a:t>      "metric_changes_percent": {</a:t>
            </a:r>
          </a:p>
          <a:p>
            <a:r>
              <a:t>        "stay_minutes": 0.0,</a:t>
            </a:r>
          </a:p>
          <a:p>
            <a:r>
              <a:t>        "lodging_nights": 0.0,</a:t>
            </a:r>
          </a:p>
          <a:p>
            <a:r>
              <a:t>        "lodging_rate_pct": 0.0,</a:t>
            </a:r>
          </a:p>
          <a:p>
            <a:r>
              <a:t>        "lodging_searches": 0.0,</a:t>
            </a:r>
          </a:p>
          <a:p>
            <a:r>
              <a:t>        "navigation_searches": 2.41</a:t>
            </a:r>
          </a:p>
          <a:p>
            <a:r>
              <a:t>      },</a:t>
            </a:r>
          </a:p>
          <a:p>
            <a:r>
              <a:t>      "previous_year_visitors": 5079597,</a:t>
            </a:r>
          </a:p>
          <a:p>
            <a:r>
              <a:t>      "previous_year_spending_krw": 81119852000,</a:t>
            </a:r>
          </a:p>
          <a:p>
            <a:r>
              <a:t>      "previous_year_stay_minutes": 1118.0,</a:t>
            </a:r>
          </a:p>
          <a:p>
            <a:r>
              <a:t>      "previous_year_lodging_nights": 2.81,</a:t>
            </a:r>
          </a:p>
          <a:p>
            <a:r>
              <a:t>      "previous_year_lodging_rate_pct": 7.3,</a:t>
            </a:r>
          </a:p>
          <a:p>
            <a:r>
              <a:t>      "previous_year_lodging_searches": 12004,</a:t>
            </a:r>
          </a:p>
          <a:p>
            <a:r>
              <a:t>      "previous_year_navigation_searches": 220205</a:t>
            </a:r>
          </a:p>
          <a:p>
            <a:r>
              <a:t>    }</a:t>
            </a:r>
          </a:p>
          <a:p>
            <a:r>
              <a:t>  ],</a:t>
            </a:r>
          </a:p>
          <a:p>
            <a:r>
              <a:t>  "evaluation": {</a:t>
            </a:r>
          </a:p>
          <a:p>
            <a:r>
              <a:t>    "metrics": {</a:t>
            </a:r>
          </a:p>
          <a:p>
            <a:r>
              <a:t>      "visitors": {</a:t>
            </a:r>
          </a:p>
          <a:p>
            <a:r>
              <a:t>        "test_mae": 237105.53,</a:t>
            </a:r>
          </a:p>
          <a:p>
            <a:r>
              <a:t>        "recursive_mae": {</a:t>
            </a:r>
          </a:p>
          <a:p>
            <a:r>
              <a:t>          "1": {</a:t>
            </a:r>
          </a:p>
          <a:p>
            <a:r>
              <a:t>            "baseline": 211072,</a:t>
            </a:r>
          </a:p>
          <a:p>
            <a:r>
              <a:t>            "selected": 332727,</a:t>
            </a:r>
          </a:p>
          <a:p>
            <a:r>
              <a:t>            "sample_count": 2</a:t>
            </a:r>
          </a:p>
          <a:p>
            <a:r>
              <a:t>          },</a:t>
            </a:r>
          </a:p>
          <a:p>
            <a:r>
              <a:t>          "2": {</a:t>
            </a:r>
          </a:p>
          <a:p>
            <a:r>
              <a:t>            "baseline": 97043,</a:t>
            </a:r>
          </a:p>
          <a:p>
            <a:r>
              <a:t>            "selected": 141143.5,</a:t>
            </a:r>
          </a:p>
          <a:p>
            <a:r>
              <a:t>            "sample_count": 2</a:t>
            </a:r>
          </a:p>
          <a:p>
            <a:r>
              <a:t>          },</a:t>
            </a:r>
          </a:p>
          <a:p>
            <a:r>
              <a:t>          "3": {</a:t>
            </a:r>
          </a:p>
          <a:p>
            <a:r>
              <a:t>            "baseline": 174799,</a:t>
            </a:r>
          </a:p>
          <a:p>
            <a:r>
              <a:t>            "selected": 168591.5,</a:t>
            </a:r>
          </a:p>
          <a:p>
            <a:r>
              <a:t>            "sample_count": 2</a:t>
            </a:r>
          </a:p>
          <a:p>
            <a:r>
              <a:t>          }</a:t>
            </a:r>
          </a:p>
          <a:p>
            <a:r>
              <a:t>        },</a:t>
            </a:r>
          </a:p>
          <a:p>
            <a:r>
              <a:t>        "selected_model": "RandomForestRegressor",</a:t>
            </a:r>
          </a:p>
          <a:p>
            <a:r>
              <a:t>        "baseline_test_mae": 192935.5,</a:t>
            </a:r>
          </a:p>
          <a:p>
            <a:r>
              <a:t>        "model_reliability": "below_baseline_on_test",</a:t>
            </a:r>
          </a:p>
          <a:p>
            <a:r>
              <a:t>        "beats_baseline_on_test": false,</a:t>
            </a:r>
          </a:p>
          <a:p>
            <a:r>
              <a:t>        "recursive_horizons_worse_than_baseline": [</a:t>
            </a:r>
          </a:p>
          <a:p>
            <a:r>
              <a:t>          "1",</a:t>
            </a:r>
          </a:p>
          <a:p>
            <a:r>
              <a:t>          "2"</a:t>
            </a:r>
          </a:p>
          <a:p>
            <a:r>
              <a:t>        ]</a:t>
            </a:r>
          </a:p>
          <a:p>
            <a:r>
              <a:t>      },</a:t>
            </a:r>
          </a:p>
          <a:p>
            <a:r>
              <a:t>      "spending_krw": {</a:t>
            </a:r>
          </a:p>
          <a:p>
            <a:r>
              <a:t>        "test_mae": 4927867951.9,</a:t>
            </a:r>
          </a:p>
          <a:p>
            <a:r>
              <a:t>        "recursive_mae": {</a:t>
            </a:r>
          </a:p>
          <a:p>
            <a:r>
              <a:t>          "1": {</a:t>
            </a:r>
          </a:p>
          <a:p>
            <a:r>
              <a:t>            "baseline": 1944140500,</a:t>
            </a:r>
          </a:p>
          <a:p>
            <a:r>
              <a:t>            "selected": 3237755191,</a:t>
            </a:r>
          </a:p>
          <a:p>
            <a:r>
              <a:t>            "sample_count": 2</a:t>
            </a:r>
          </a:p>
          <a:p>
            <a:r>
              <a:t>          },</a:t>
            </a:r>
          </a:p>
          <a:p>
            <a:r>
              <a:t>          "2": {</a:t>
            </a:r>
          </a:p>
          <a:p>
            <a:r>
              <a:t>            "baseline": 3984052500,</a:t>
            </a:r>
          </a:p>
          <a:p>
            <a:r>
              <a:t>            "selected": 1581504765.5,</a:t>
            </a:r>
          </a:p>
          <a:p>
            <a:r>
              <a:t>            "sample_count": 2</a:t>
            </a:r>
          </a:p>
          <a:p>
            <a:r>
              <a:t>          },</a:t>
            </a:r>
          </a:p>
          <a:p>
            <a:r>
              <a:t>          "3": {</a:t>
            </a:r>
          </a:p>
          <a:p>
            <a:r>
              <a:t>            "baseline": 2878173500,</a:t>
            </a:r>
          </a:p>
          <a:p>
            <a:r>
              <a:t>            "selected": 4493524184.5,</a:t>
            </a:r>
          </a:p>
          <a:p>
            <a:r>
              <a:t>            "sample_count": 2</a:t>
            </a:r>
          </a:p>
          <a:p>
            <a:r>
              <a:t>          }</a:t>
            </a:r>
          </a:p>
          <a:p>
            <a:r>
              <a:t>        },</a:t>
            </a:r>
          </a:p>
          <a:p>
            <a:r>
              <a:t>        "selected_model": "LinearRegression",</a:t>
            </a:r>
          </a:p>
          <a:p>
            <a:r>
              <a:t>        "baseline_test_mae": 2411157000,</a:t>
            </a:r>
          </a:p>
          <a:p>
            <a:r>
              <a:t>        "model_reliability": "below_baseline_on_test",</a:t>
            </a:r>
          </a:p>
          <a:p>
            <a:r>
              <a:t>        "beats_baseline_on_test": false,</a:t>
            </a:r>
          </a:p>
          <a:p>
            <a:r>
              <a:t>        "recursive_horizons_worse_than_baseline": [</a:t>
            </a:r>
          </a:p>
          <a:p>
            <a:r>
              <a:t>          "1",</a:t>
            </a:r>
          </a:p>
          <a:p>
            <a:r>
              <a:t>          "3"</a:t>
            </a:r>
          </a:p>
          <a:p>
            <a:r>
              <a:t>        ]</a:t>
            </a:r>
          </a:p>
          <a:p>
            <a:r>
              <a:t>      },</a:t>
            </a:r>
          </a:p>
          <a:p>
            <a:r>
              <a:t>      "stay_minutes": {</a:t>
            </a:r>
          </a:p>
          <a:p>
            <a:r>
              <a:t>        "test_mae": 113.5,</a:t>
            </a:r>
          </a:p>
          <a:p>
            <a:r>
              <a:t>        "recursive_mae": {</a:t>
            </a:r>
          </a:p>
          <a:p>
            <a:r>
              <a:t>          "1": {</a:t>
            </a:r>
          </a:p>
          <a:p>
            <a:r>
              <a:t>            "baseline": 52,</a:t>
            </a:r>
          </a:p>
          <a:p>
            <a:r>
              <a:t>            "selected": 52,</a:t>
            </a:r>
          </a:p>
          <a:p>
            <a:r>
              <a:t>            "sample_count": 2</a:t>
            </a:r>
          </a:p>
          <a:p>
            <a:r>
              <a:t>          },</a:t>
            </a:r>
          </a:p>
          <a:p>
            <a:r>
              <a:t>          "2": {</a:t>
            </a:r>
          </a:p>
          <a:p>
            <a:r>
              <a:t>            "baseline": 218.5,</a:t>
            </a:r>
          </a:p>
          <a:p>
            <a:r>
              <a:t>            "selected": 218.5,</a:t>
            </a:r>
          </a:p>
          <a:p>
            <a:r>
              <a:t>            "sample_count": 2</a:t>
            </a:r>
          </a:p>
          <a:p>
            <a:r>
              <a:t>          },</a:t>
            </a:r>
          </a:p>
          <a:p>
            <a:r>
              <a:t>          "3": {</a:t>
            </a:r>
          </a:p>
          <a:p>
            <a:r>
              <a:t>            "baseline": 175,</a:t>
            </a:r>
          </a:p>
          <a:p>
            <a:r>
              <a:t>            "selected": 175,</a:t>
            </a:r>
          </a:p>
          <a:p>
            <a:r>
              <a:t>            "sample_count": 2</a:t>
            </a:r>
          </a:p>
          <a:p>
            <a:r>
              <a:t>          }</a:t>
            </a:r>
          </a:p>
          <a:p>
            <a:r>
              <a:t>        },</a:t>
            </a:r>
          </a:p>
          <a:p>
            <a:r>
              <a:t>        "selected_model": "seasonal_naive_previous_year_same_month",</a:t>
            </a:r>
          </a:p>
          <a:p>
            <a:r>
              <a:t>        "baseline_test_mae": 113.5,</a:t>
            </a:r>
          </a:p>
          <a:p>
            <a:r>
              <a:t>        "model_reliability": "seasonal_baseline",</a:t>
            </a:r>
          </a:p>
          <a:p>
            <a:r>
              <a:t>        "beats_baseline_on_test": false,</a:t>
            </a:r>
          </a:p>
          <a:p>
            <a:r>
              <a:t>        "recursive_horizons_worse_than_baseline": []</a:t>
            </a:r>
          </a:p>
          <a:p>
            <a:r>
              <a:t>      },</a:t>
            </a:r>
          </a:p>
          <a:p>
            <a:r>
              <a:t>      "lodging_nights": {</a:t>
            </a:r>
          </a:p>
          <a:p>
            <a:r>
              <a:t>        "test_mae": 0.07,</a:t>
            </a:r>
          </a:p>
          <a:p>
            <a:r>
              <a:t>        "recursive_mae": {</a:t>
            </a:r>
          </a:p>
          <a:p>
            <a:r>
              <a:t>          "1": {</a:t>
            </a:r>
          </a:p>
          <a:p>
            <a:r>
              <a:t>            "baseline": 0.06,</a:t>
            </a:r>
          </a:p>
          <a:p>
            <a:r>
              <a:t>            "selected": 0.06,</a:t>
            </a:r>
          </a:p>
          <a:p>
            <a:r>
              <a:t>            "sample_count": 2</a:t>
            </a:r>
          </a:p>
          <a:p>
            <a:r>
              <a:t>          },</a:t>
            </a:r>
          </a:p>
          <a:p>
            <a:r>
              <a:t>          "2": {</a:t>
            </a:r>
          </a:p>
          <a:p>
            <a:r>
              <a:t>            "baseline": 0.11,</a:t>
            </a:r>
          </a:p>
          <a:p>
            <a:r>
              <a:t>            "selected": 0.11,</a:t>
            </a:r>
          </a:p>
          <a:p>
            <a:r>
              <a:t>            "sample_count": 2</a:t>
            </a:r>
          </a:p>
          <a:p>
            <a:r>
              <a:t>          },</a:t>
            </a:r>
          </a:p>
          <a:p>
            <a:r>
              <a:t>          "3": {</a:t>
            </a:r>
          </a:p>
          <a:p>
            <a:r>
              <a:t>            "baseline": 0.08,</a:t>
            </a:r>
          </a:p>
          <a:p>
            <a:r>
              <a:t>            "selected": 0.08,</a:t>
            </a:r>
          </a:p>
          <a:p>
            <a:r>
              <a:t>            "sample_count": 2</a:t>
            </a:r>
          </a:p>
          <a:p>
            <a:r>
              <a:t>          }</a:t>
            </a:r>
          </a:p>
          <a:p>
            <a:r>
              <a:t>        },</a:t>
            </a:r>
          </a:p>
          <a:p>
            <a:r>
              <a:t>        "selected_model": "seasonal_naive_previous_year_same_month",</a:t>
            </a:r>
          </a:p>
          <a:p>
            <a:r>
              <a:t>        "baseline_test_mae": 0.07,</a:t>
            </a:r>
          </a:p>
          <a:p>
            <a:r>
              <a:t>        "model_reliability": "seasonal_baseline",</a:t>
            </a:r>
          </a:p>
          <a:p>
            <a:r>
              <a:t>        "beats_baseline_on_test": false,</a:t>
            </a:r>
          </a:p>
          <a:p>
            <a:r>
              <a:t>        "recursive_horizons_worse_than_baseline": []</a:t>
            </a:r>
          </a:p>
          <a:p>
            <a:r>
              <a:t>      },</a:t>
            </a:r>
          </a:p>
          <a:p>
            <a:r>
              <a:t>      "lodging_rate_pct": {</a:t>
            </a:r>
          </a:p>
          <a:p>
            <a:r>
              <a:t>        "test_mae": 0.3,</a:t>
            </a:r>
          </a:p>
          <a:p>
            <a:r>
              <a:t>        "recursive_mae": {</a:t>
            </a:r>
          </a:p>
          <a:p>
            <a:r>
              <a:t>          "1": {</a:t>
            </a:r>
          </a:p>
          <a:p>
            <a:r>
              <a:t>            "baseline": 0.4,</a:t>
            </a:r>
          </a:p>
          <a:p>
            <a:r>
              <a:t>            "selected": 0.4,</a:t>
            </a:r>
          </a:p>
          <a:p>
            <a:r>
              <a:t>            "sample_count": 2</a:t>
            </a:r>
          </a:p>
          <a:p>
            <a:r>
              <a:t>          },</a:t>
            </a:r>
          </a:p>
          <a:p>
            <a:r>
              <a:t>          "2": {</a:t>
            </a:r>
          </a:p>
          <a:p>
            <a:r>
              <a:t>            "baseline": 0.2,</a:t>
            </a:r>
          </a:p>
          <a:p>
            <a:r>
              <a:t>            "selected": 0.2,</a:t>
            </a:r>
          </a:p>
          <a:p>
            <a:r>
              <a:t>            "sample_count": 2</a:t>
            </a:r>
          </a:p>
          <a:p>
            <a:r>
              <a:t>          },</a:t>
            </a:r>
          </a:p>
          <a:p>
            <a:r>
              <a:t>          "3": {</a:t>
            </a:r>
          </a:p>
          <a:p>
            <a:r>
              <a:t>            "baseline": 0.2,</a:t>
            </a:r>
          </a:p>
          <a:p>
            <a:r>
              <a:t>            "selected": 0.2,</a:t>
            </a:r>
          </a:p>
          <a:p>
            <a:r>
              <a:t>            "sample_count": 2</a:t>
            </a:r>
          </a:p>
          <a:p>
            <a:r>
              <a:t>          }</a:t>
            </a:r>
          </a:p>
          <a:p>
            <a:r>
              <a:t>        },</a:t>
            </a:r>
          </a:p>
          <a:p>
            <a:r>
              <a:t>        "selected_model": "seasonal_naive_previous_year_same_month",</a:t>
            </a:r>
          </a:p>
          <a:p>
            <a:r>
              <a:t>        "baseline_test_mae": 0.3,</a:t>
            </a:r>
          </a:p>
          <a:p>
            <a:r>
              <a:t>        "model_reliability": "seasonal_baseline",</a:t>
            </a:r>
          </a:p>
          <a:p>
            <a:r>
              <a:t>        "beats_baseline_on_test": false,</a:t>
            </a:r>
          </a:p>
          <a:p>
            <a:r>
              <a:t>        "recursive_horizons_worse_than_baseline": []</a:t>
            </a:r>
          </a:p>
          <a:p>
            <a:r>
              <a:t>      },</a:t>
            </a:r>
          </a:p>
          <a:p>
            <a:r>
              <a:t>      "lodging_searches": {</a:t>
            </a:r>
          </a:p>
          <a:p>
            <a:r>
              <a:t>        "test_mae": 526.5,</a:t>
            </a:r>
          </a:p>
          <a:p>
            <a:r>
              <a:t>        "recursive_mae": {</a:t>
            </a:r>
          </a:p>
          <a:p>
            <a:r>
              <a:t>          "1": {</a:t>
            </a:r>
          </a:p>
          <a:p>
            <a:r>
              <a:t>            "baseline": 779,</a:t>
            </a:r>
          </a:p>
          <a:p>
            <a:r>
              <a:t>            "selected": 779,</a:t>
            </a:r>
          </a:p>
          <a:p>
            <a:r>
              <a:t>            "sample_count": 2</a:t>
            </a:r>
          </a:p>
          <a:p>
            <a:r>
              <a:t>          },</a:t>
            </a:r>
          </a:p>
          <a:p>
            <a:r>
              <a:t>          "2": {</a:t>
            </a:r>
          </a:p>
          <a:p>
            <a:r>
              <a:t>            "baseline": 391.5,</a:t>
            </a:r>
          </a:p>
          <a:p>
            <a:r>
              <a:t>            "selected": 391.5,</a:t>
            </a:r>
          </a:p>
          <a:p>
            <a:r>
              <a:t>            "sample_count": 2</a:t>
            </a:r>
          </a:p>
          <a:p>
            <a:r>
              <a:t>          },</a:t>
            </a:r>
          </a:p>
          <a:p>
            <a:r>
              <a:t>          "3": {</a:t>
            </a:r>
          </a:p>
          <a:p>
            <a:r>
              <a:t>            "baseline": 274,</a:t>
            </a:r>
          </a:p>
          <a:p>
            <a:r>
              <a:t>            "selected": 274,</a:t>
            </a:r>
          </a:p>
          <a:p>
            <a:r>
              <a:t>            "sample_count": 2</a:t>
            </a:r>
          </a:p>
          <a:p>
            <a:r>
              <a:t>          }</a:t>
            </a:r>
          </a:p>
          <a:p>
            <a:r>
              <a:t>        },</a:t>
            </a:r>
          </a:p>
          <a:p>
            <a:r>
              <a:t>        "selected_model": "seasonal_naive_previous_year_same_month",</a:t>
            </a:r>
          </a:p>
          <a:p>
            <a:r>
              <a:t>        "baseline_test_mae": 526.5,</a:t>
            </a:r>
          </a:p>
          <a:p>
            <a:r>
              <a:t>        "model_reliability": "seasonal_baseline",</a:t>
            </a:r>
          </a:p>
          <a:p>
            <a:r>
              <a:t>        "beats_baseline_on_test": false,</a:t>
            </a:r>
          </a:p>
          <a:p>
            <a:r>
              <a:t>        "recursive_horizons_worse_than_baseline": []</a:t>
            </a:r>
          </a:p>
          <a:p>
            <a:r>
              <a:t>      },</a:t>
            </a:r>
          </a:p>
          <a:p>
            <a:r>
              <a:t>      "navigation_searches": {</a:t>
            </a:r>
          </a:p>
          <a:p>
            <a:r>
              <a:t>        "test_mae": 20482.57,</a:t>
            </a:r>
          </a:p>
          <a:p>
            <a:r>
              <a:t>        "recursive_mae": {</a:t>
            </a:r>
          </a:p>
          <a:p>
            <a:r>
              <a:t>          "1": {</a:t>
            </a:r>
          </a:p>
          <a:p>
            <a:r>
              <a:t>            "baseline": 9487,</a:t>
            </a:r>
          </a:p>
          <a:p>
            <a:r>
              <a:t>            "selected": 20785,</a:t>
            </a:r>
          </a:p>
          <a:p>
            <a:r>
              <a:t>            "sample_count": 2</a:t>
            </a:r>
          </a:p>
          <a:p>
            <a:r>
              <a:t>          },</a:t>
            </a:r>
          </a:p>
          <a:p>
            <a:r>
              <a:t>          "2": {</a:t>
            </a:r>
          </a:p>
          <a:p>
            <a:r>
              <a:t>            "baseline": 6758.5,</a:t>
            </a:r>
          </a:p>
          <a:p>
            <a:r>
              <a:t>            "selected": 14198,</a:t>
            </a:r>
          </a:p>
          <a:p>
            <a:r>
              <a:t>            "sample_count": 2</a:t>
            </a:r>
          </a:p>
          <a:p>
            <a:r>
              <a:t>          },</a:t>
            </a:r>
          </a:p>
          <a:p>
            <a:r>
              <a:t>          "3": {</a:t>
            </a:r>
          </a:p>
          <a:p>
            <a:r>
              <a:t>            "baseline": 14633,</a:t>
            </a:r>
          </a:p>
          <a:p>
            <a:r>
              <a:t>            "selected": 18839,</a:t>
            </a:r>
          </a:p>
          <a:p>
            <a:r>
              <a:t>            "sample_count": 2</a:t>
            </a:r>
          </a:p>
          <a:p>
            <a:r>
              <a:t>          }</a:t>
            </a:r>
          </a:p>
          <a:p>
            <a:r>
              <a:t>        },</a:t>
            </a:r>
          </a:p>
          <a:p>
            <a:r>
              <a:t>        "selected_model": "RandomForestRegressor",</a:t>
            </a:r>
          </a:p>
          <a:p>
            <a:r>
              <a:t>        "baseline_test_mae": 12060,</a:t>
            </a:r>
          </a:p>
          <a:p>
            <a:r>
              <a:t>        "model_reliability": "below_baseline_on_test",</a:t>
            </a:r>
          </a:p>
          <a:p>
            <a:r>
              <a:t>        "beats_baseline_on_test": false,</a:t>
            </a:r>
          </a:p>
          <a:p>
            <a:r>
              <a:t>        "recursive_horizons_worse_than_baseline": [</a:t>
            </a:r>
          </a:p>
          <a:p>
            <a:r>
              <a:t>          "1",</a:t>
            </a:r>
          </a:p>
          <a:p>
            <a:r>
              <a:t>          "2",</a:t>
            </a:r>
          </a:p>
          <a:p>
            <a:r>
              <a:t>          "3"</a:t>
            </a:r>
          </a:p>
          <a:p>
            <a:r>
              <a:t>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6,</a:t>
            </a:r>
          </a:p>
          <a:p>
            <a:r>
              <a:t>    "recursive_backtest_horizon_months": [</a:t>
            </a:r>
          </a:p>
          <a:p>
            <a:r>
              <a:t>      1,</a:t>
            </a:r>
          </a:p>
          <a:p>
            <a:r>
              <a:t>      2,</a:t>
            </a:r>
          </a:p>
          <a:p>
            <a:r>
              <a:t>      3</a:t>
            </a:r>
          </a:p>
          <a:p>
            <a:r>
              <a:t>    ]</a:t>
            </a:r>
          </a:p>
          <a:p>
            <a:r>
              <a:t>  },</a:t>
            </a:r>
          </a:p>
          <a:p>
            <a:r>
              <a:t>  "execution_scenario": {</a:t>
            </a:r>
          </a:p>
          <a:p>
            <a:r>
              <a:t>    "visitor_target_pct": 0.019303448467232462,</a:t>
            </a:r>
          </a:p>
          <a:p>
            <a:r>
              <a:t>    "spending_target_pct": 0.04151694433378397,</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"총 예산 = Σ min(적격 결제액 × 가정 환급률, 건별 상한액). (기획 가정/미확정 견적)",</a:t>
            </a:r>
          </a:p>
          <a:p>
            <a:r>
              <a:t>        "본문 기준"</a:t>
            </a:r>
          </a:p>
          <a:p>
            <a:r>
              <a:t>      ]</a:t>
            </a:r>
          </a:p>
          <a:p>
            <a:r>
              <a:t>    ],</a:t>
            </a:r>
          </a:p>
          <a:p>
            <a:r>
              <a:t>    "original_text": "총 예산 = Σ min(적격 결제액 × 가정 환급률, 건별 상한액). (기획 가정/미확정 견적)",</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사업명·사업개요는 저장된 제안에서 읽고, 추가 방문은 목표 합계−ML 합계, 월평균 추가 소비는 같은 차이를 전체 사업 개월 수로 나눈다. 사진은 사업 테마별 AI 생성 예시이며 실제 지역의 시행 현장 증거가 아니다.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우리 ML은 7개 관광지표의 전망을 계산합니다. 방문자와 소비액은 그래프·목표 규모를 계산하는 기준선입니다. 체류·숙박·검색 관련 5개 전망은 지역의 관광 흐름을 검토할 입력입니다. 서버가 이 수치와 모델 평가를 공식 사례와 함께 Qwen에 제공합니다. Qwen은 지역 조건과 사례의 운영 방식을 비교하고 Gemma는 선택안을 본문으로 구성합니다. 따라서 ML은 수치 전망을 담당하고 사업 선택은 근거 문서와 LLM 판단을 결합합니다. 지표별로 전년 동월 기준모델이 선택될 수 있으며, 이를 고도화 모델의 성능 개선이라고 설명하지 않습니다.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14,928,559명 → 목표 14,929,999명 (추가 1,440명, +0.01%)\n관광소비액: 기준 246,365,272,670원 → 목표 246,416,761,947원 (추가 51,489,277원, +0.02%)\n준비월 추가 목표는 0명·0원. 운영월 추가 목표 = 월별 전망 × 최종월 목표율 × 경과 운영월/전체 운영월.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8건 → 설계 후보 2개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"지역 소비·환급: 8개 × 월 20일 × 2개월 × 하루 1회 × 회당 20명 = 6,400명분. 편성 한도 6,400명분에 이용률 75%를 적용해 4,800명 참여, 추가 방문 비중 30%로 1,440명 유치를 제안합니다. 기간 합계 ML 전망 대비 방문 +0.01%, 소비 +0.02%의 계획 시나리오입니다. 참여 목표 75%는 공통 최소 운영 목표입니다. 사례 참여율을 인용한 값이 아닙니다. 계획 결제 16,503원에 환급률 30%를 적용해 건당 4,951원을 지원합니다. 환급 혜택과 추가 방문 비중은 별도의 운영 목표이며, 혜택을 높였다고 방문 목표를 자동 상향하지 않습니다. 실제 운영 산정: 2026-11~2026-12, 2개월. 준비 기간에는 추가 방문·소비 목표를 배분하지 않습니다.\n8개 × 월 20일 × 2개월 × 하루 1회 × 회당 20명 = 6,400명분 → 참여 목표 4,800건의 예상 집행액.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14928559.0,</a:t>
            </a:r>
          </a:p>
          <a:p>
            <a:r>
              <a:t>        "target": 14929999.0,</a:t>
            </a:r>
          </a:p>
          <a:p>
            <a:r>
              <a:t>        "additional": 1440.0,</a:t>
            </a:r>
          </a:p>
          <a:p>
            <a:r>
              <a:t>        "pct": 0.009645941044955642</a:t>
            </a:r>
          </a:p>
          <a:p>
            <a:r>
              <a:t>      },</a:t>
            </a:r>
          </a:p>
          <a:p>
            <a:r>
              <a:t>      {</a:t>
            </a:r>
          </a:p>
          <a:p>
            <a:r>
              <a:t>        "key": "spending",</a:t>
            </a:r>
          </a:p>
          <a:p>
            <a:r>
              <a:t>        "label": "관광소비액",</a:t>
            </a:r>
          </a:p>
          <a:p>
            <a:r>
              <a:t>        "unit": "원",</a:t>
            </a:r>
          </a:p>
          <a:p>
            <a:r>
              <a:t>        "baseline": 246365272670.0,</a:t>
            </a:r>
          </a:p>
          <a:p>
            <a:r>
              <a:t>        "target": 246416761947.0,</a:t>
            </a:r>
          </a:p>
          <a:p>
            <a:r>
              <a:t>        "additional": 51489277.0,</a:t>
            </a:r>
          </a:p>
          <a:p>
            <a:r>
              <a:t>        "pct": 0.02089956771991197</a:t>
            </a:r>
          </a:p>
          <a:p>
            <a:r>
              <a:t>      }</a:t>
            </a:r>
          </a:p>
          <a:p>
            <a:r>
              <a:t>    ],</a:t>
            </a:r>
          </a:p>
          <a:p>
            <a:r>
              <a:t>    "demo": false,</a:t>
            </a:r>
          </a:p>
          <a:p>
            <a:r>
              <a:t>    "models": {</a:t>
            </a:r>
          </a:p>
          <a:p>
            <a:r>
              <a:t>      "visitors": "랜덤 포레스트",</a:t>
            </a:r>
          </a:p>
          <a:p>
            <a:r>
              <a:t>      "spending_krw": "선형 회귀",</a:t>
            </a:r>
          </a:p>
          <a:p>
            <a:r>
              <a:t>      "stay_minutes": "전년 동월 기준모델",</a:t>
            </a:r>
          </a:p>
          <a:p>
            <a:r>
              <a:t>      "lodging_nights": "전년 동월 기준모델",</a:t>
            </a:r>
          </a:p>
          <a:p>
            <a:r>
              <a:t>      "lodging_rate_pct": "전년 동월 기준모델",</a:t>
            </a:r>
          </a:p>
          <a:p>
            <a:r>
              <a:t>      "lodging_searches": "전년 동월 기준모델",</a:t>
            </a:r>
          </a:p>
          <a:p>
            <a:r>
              <a:t>      "navigation_searches": "랜덤 포레스트"</a:t>
            </a:r>
          </a:p>
          <a:p>
            <a:r>
              <a:t>    },</a:t>
            </a:r>
          </a:p>
          <a:p>
            <a:r>
              <a:t>    "source_period": "202401~202606",</a:t>
            </a:r>
          </a:p>
          <a:p>
            <a:r>
              <a:t>    "months": [</a:t>
            </a:r>
          </a:p>
          <a:p>
            <a:r>
              <a:t>      "26.10",</a:t>
            </a:r>
          </a:p>
          <a:p>
            <a:r>
              <a:t>      "26.11",</a:t>
            </a:r>
          </a:p>
          <a:p>
            <a:r>
              <a:t>      "26.12"</a:t>
            </a:r>
          </a:p>
          <a:p>
            <a:r>
              <a:t>    ],</a:t>
            </a:r>
          </a:p>
          <a:p>
            <a:r>
              <a:t>    "case_count": 8,</a:t>
            </a:r>
          </a:p>
          <a:p>
            <a:r>
              <a:t>    "case_region_count": 8,</a:t>
            </a:r>
          </a:p>
          <a:p>
            <a:r>
              <a:t>    "candidate_count": 2,</a:t>
            </a:r>
          </a:p>
          <a:p>
            <a:r>
              <a:t>    "displayed_count": 3,</a:t>
            </a:r>
          </a:p>
          <a:p>
            <a:r>
              <a:t>    "primary": {</a:t>
            </a:r>
          </a:p>
          <a:p>
            <a:r>
              <a:t>      "title": "귀촌 '원조 반값'은 다르다… 강진서 전국 확산 '체류 관광 도시'",</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반값여행: 여행 지출 증빙 후 모바일 지역상품권 환급",</a:t>
            </a:r>
          </a:p>
          <a:p>
            <a:r>
              <a:t>      "document_type": null,</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"retrieval_method": "official_web_search",</a:t>
            </a:r>
          </a:p>
          <a:p>
            <a:r>
              <a:t>      "evidence_strength": "medium",</a:t>
            </a:r>
          </a:p>
          <a:p>
            <a:r>
              <a:t>      "retrieval_context": {</a:t>
            </a:r>
          </a:p>
          <a:p>
            <a:r>
              <a:t>        "scope": "cross_province",</a:t>
            </a:r>
          </a:p>
          <a:p>
            <a:r>
              <a:t>        "peer_region_code": null</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"operating_statistics": [</a:t>
            </a:r>
          </a:p>
          <a:p>
            <a:r>
              <a:t>        {</a:t>
            </a:r>
          </a:p>
          <a:p>
            <a:r>
              <a:t>          "unit": "team",</a:t>
            </a:r>
          </a:p>
          <a:p>
            <a:r>
              <a:t>          "quote": "1만6292팀이 실제 강진을 찾았다.",</a:t>
            </a:r>
          </a:p>
          <a:p>
            <a:r>
              <a:t>          "scope": "사전신청자 중 실제 강진 방문 확인 팀",</a:t>
            </a:r>
          </a:p>
          <a:p>
            <a:r>
              <a:t>          "value": 16292,</a:t>
            </a:r>
          </a:p>
          <a:p>
            <a:r>
              <a:t>          "metric": "participants",</a:t>
            </a:r>
          </a:p>
          <a:p>
            <a:r>
              <a:t>          "period": "2026-05-19 누적",</a:t>
            </a:r>
          </a:p>
          <a:p>
            <a:r>
              <a:t>          "program_name": "강진 반값여행",</a:t>
            </a:r>
          </a:p>
          <a:p>
            <a:r>
              <a:t>          "capacity_count": null,</a:t>
            </a:r>
          </a:p>
          <a:p>
            <a:r>
              <a:t>          "participant_count": 16292</a:t>
            </a:r>
          </a:p>
          <a:p>
            <a:r>
              <a:t>        },</a:t>
            </a:r>
          </a:p>
          <a:p>
            <a:r>
              <a:t>        {</a:t>
            </a:r>
          </a:p>
          <a:p>
            <a:r>
              <a:t>          "unit": "KRW",</a:t>
            </a:r>
          </a:p>
          <a:p>
            <a:r>
              <a:t>          "quote": "지역 내 소비액은 총 49억7000만원",</a:t>
            </a:r>
          </a:p>
          <a:p>
            <a:r>
              <a:t>          "scope": "사업 등록 관광객의 강진 지역 내 소비액",</a:t>
            </a:r>
          </a:p>
          <a:p>
            <a:r>
              <a:t>          "value": 4970000000,</a:t>
            </a:r>
          </a:p>
          <a:p>
            <a:r>
              <a:t>          "metric": "participant_spending",</a:t>
            </a:r>
          </a:p>
          <a:p>
            <a:r>
              <a:t>          "period": "2026-05-19 누적",</a:t>
            </a:r>
          </a:p>
          <a:p>
            <a:r>
              <a:t>          "program_name": "강진 반값여행",</a:t>
            </a:r>
          </a:p>
          <a:p>
            <a:r>
              <a:t>          "capacity_count": null,</a:t>
            </a:r>
          </a:p>
          <a:p>
            <a:r>
              <a:t>          "participant_count": 16292</a:t>
            </a:r>
          </a:p>
          <a:p>
            <a:r>
              <a:t>        }</a:t>
            </a:r>
          </a:p>
          <a:p>
            <a:r>
              <a:t>      ],</a:t>
            </a:r>
          </a:p>
          <a:p>
            <a:r>
              <a:t>      "published_or_updated_at": "2026-05-29",</a:t>
            </a:r>
          </a:p>
          <a:p>
            <a:r>
              <a:t>      "quantitative_result_approved": null</a:t>
            </a:r>
          </a:p>
          <a:p>
            <a:r>
              <a:t>    },</a:t>
            </a:r>
          </a:p>
          <a:p>
            <a:r>
              <a:t>    "selection_reason": "강진의 '반값여행' 사례(case:58c0694a3e85d8)는 방문객 지출을 지역 내 재사용으로 연결하는 검증된 메커니즘을 가짐. 대전 서구는 2026년 4분기 관광소비액이 전년 대비 증가(+4.49%)할 것으로 전망되므로, 단순 방문객 유치보다 결제액을 상권으로 유도하는 환급형 모델이 경제적 파급효과 측면에서 더 적합함. 다만, 안동의 집중형 축제(case:41508ca81cf29f)는 방문자 수 감소 전망을 해결할 수 있으나, 소비 전환 효과를 측정하기 어렵다는 한계가 있어 '소비 환급'을 우선순위로 선정함.",</a:t>
            </a:r>
          </a:p>
          <a:p>
            <a:r>
              <a:t>    "target_explanation": "지역 소비·환급: 8개 × 월 20일 × 2개월 × 하루 1회 × 회당 20명 = 6,400명분. 편성 한도 6,400명분에 이용률 75%를 적용해 4,800명 참여, 추가 방문 비중 30%로 1,440명 유치를 제안합니다. 기간 합계 ML 전망 대비 방문 +0.01%, 소비 +0.02%의 계획 시나리오입니다. 참여 목표 75%는 공통 최소 운영 목표입니다. 사례 참여율을 인용한 값이 아닙니다. 계획 결제 16,503원에 환급률 30%를 적용해 건당 4,951원을 지원합니다. 환급 혜택과 추가 방문 비중은 별도의 운영 목표이며, 혜택을 높였다고 방문 목표를 자동 상향하지 않습니다. 실제 운영 산정: 2026-11~2026-12, 2개월. 준비 기간에는 추가 방문·소비 목표를 배분하지 않습니다.",</a:t>
            </a:r>
          </a:p>
          <a:p>
            <a:r>
              <a:t>    "estimate": {</a:t>
            </a:r>
          </a:p>
          <a:p>
            <a:r>
              <a:t>      "version": "operating-capacity-v5-refund-incentive",</a:t>
            </a:r>
          </a:p>
          <a:p>
            <a:r>
              <a:t>      "status": "planning_assumption_not_quote",</a:t>
            </a:r>
          </a:p>
          <a:p>
            <a:r>
              <a:t>      "scale_basis": "8개 × 월 20일 × 2개월 × 하루 1회 × 회당 20명 = 6,400명분 → 참여 목표 4,800건의 예상 집행액. 모든 단가는 기획 가정.",</a:t>
            </a:r>
          </a:p>
          <a:p>
            <a:r>
              <a:t>      "months": 2,</a:t>
            </a:r>
          </a:p>
          <a:p>
            <a:r>
              <a:t>      "refund": true,</a:t>
            </a:r>
          </a:p>
          <a:p>
            <a:r>
              <a:t>      "quantity": 4800,</a:t>
            </a:r>
          </a:p>
          <a:p>
            <a:r>
              <a:t>      "unit_krw": 4951,</a:t>
            </a:r>
          </a:p>
          <a:p>
            <a:r>
              <a:t>      "capacity_quantity": 6400,</a:t>
            </a:r>
          </a:p>
          <a:p>
            <a:r>
              <a:t>      "per_claim_cap_krw": 50000,</a:t>
            </a:r>
          </a:p>
          <a:p>
            <a:r>
              <a:t>      "refund_rate_pct": 30.0,</a:t>
            </a:r>
          </a:p>
          <a:p>
            <a:r>
              <a:t>      "redemption_target_pct": 75.0,</a:t>
            </a:r>
          </a:p>
          <a:p>
            <a:r>
              <a:t>      "redemption_count": 4800,</a:t>
            </a:r>
          </a:p>
          <a:p>
            <a:r>
              <a:t>      "purchase_per_participant_krw": 16503,</a:t>
            </a:r>
          </a:p>
          <a:p>
            <a:r>
              <a:t>      "qualifying_spend_krw": 79214400,</a:t>
            </a:r>
          </a:p>
          <a:p>
            <a:r>
              <a:t>      "subtotal_krw": 51764800,</a:t>
            </a:r>
          </a:p>
          <a:p>
            <a:r>
              <a:t>      "reserve_krw": 5176480,</a:t>
            </a:r>
          </a:p>
          <a:p>
            <a:r>
              <a:t>      "total_krw": 56941280,</a:t>
            </a:r>
          </a:p>
          <a:p>
            <a:r>
              <a:t>      "within_hard_budget": true,</a:t>
            </a:r>
          </a:p>
          <a:p>
            <a:r>
              <a:t>      "full_participation_budget_krw": 65655040,</a:t>
            </a:r>
          </a:p>
          <a:p>
            <a:r>
              <a:t>      "participant_purchases_krw": 79214400,</a:t>
            </a:r>
          </a:p>
          <a:p>
            <a:r>
              <a:t>      "additional_spending_krw": 51489277,</a:t>
            </a:r>
          </a:p>
          <a:p>
            <a:r>
              <a:t>      "scenario_note": "참여자 결제 79,214,400원 중 추가 소비 목표 51,489,277원. 견적은 같은 참여 목표의 사업비이며, 결제액 전체를 신규 소비나 사업 수익으로 계산하지 않습니다.",</a:t>
            </a:r>
          </a:p>
          <a:p>
            <a:r>
              <a:t>      "items": [</a:t>
            </a:r>
          </a:p>
          <a:p>
            <a:r>
              <a:t>        {</a:t>
            </a:r>
          </a:p>
          <a:p>
            <a:r>
              <a:t>          "name": "여행비 환급 지원",</a:t>
            </a:r>
          </a:p>
          <a:p>
            <a:r>
              <a:t>          "basis": "참여 목표 4,800건 × min(계획 결제 16,503원 × 30%, 건별 상한 50,000원) = 건당 4,951원",</a:t>
            </a:r>
          </a:p>
          <a:p>
            <a:r>
              <a:t>          "amount": 23764800</a:t>
            </a:r>
          </a:p>
          <a:p>
            <a:r>
              <a:t>        },</a:t>
            </a:r>
          </a:p>
          <a:p>
            <a:r>
              <a:t>        {</a:t>
            </a:r>
          </a:p>
          <a:p>
            <a:r>
              <a:t>          "name": "현장 운영·정산",</a:t>
            </a:r>
          </a:p>
          <a:p>
            <a:r>
              <a:t>          "basis": "2개 운영팀 × 월 20일 × 2개월 × 150,000원 (점포 묶음 8개, 최대 4개당 공동 정산팀 1개)",</a:t>
            </a:r>
          </a:p>
          <a:p>
            <a:r>
              <a:t>          "amount": 12000000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51,764,800원 × 10%",</a:t>
            </a:r>
          </a:p>
          <a:p>
            <a:r>
              <a:t>          "amount": 5176480</a:t>
            </a:r>
          </a:p>
          <a:p>
            <a:r>
              <a:t>        }</a:t>
            </a:r>
          </a:p>
          <a:p>
            <a:r>
              <a:t>      ],</a:t>
            </a:r>
          </a:p>
          <a:p>
            <a:r>
              <a:t>      "sources": [],</a:t>
            </a:r>
          </a:p>
          <a:p>
            <a:r>
              <a:t>      "assumptions": [</a:t>
            </a:r>
          </a:p>
          <a:p>
            <a:r>
              <a:t>        "기획용 예상 견적이며 실제 액수와 다를 수 있습니다.",</a:t>
            </a:r>
          </a:p>
          <a:p>
            <a:r>
              <a:t>        "환급률 미지정 시 30%를 제안합니다. 이는 참여 혜택을 위한 계획 설정이며 공식 사례 실적이나 추정 효과가 아닙니다.",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30%, 건별 상한 50,000원 및 점포 묶음 최대 4개당 정산팀 1개는 계획 설정입니다. 지급 총액은 편성 예산 내에서 운영합니다."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"operating-capacity-v5-refund-incentive",</a:t>
            </a:r>
          </a:p>
          <a:p>
            <a:r>
              <a:t>  "status": "proposed",</a:t>
            </a:r>
          </a:p>
          <a:p>
            <a:r>
              <a:t>  "minimum_operating_budget_krw": 30800000,</a:t>
            </a:r>
          </a:p>
          <a:p>
            <a:r>
              <a:t>  "family": "spend_conversion",</a:t>
            </a:r>
          </a:p>
          <a:p>
            <a:r>
              <a:t>  "program_label": "지역 소비·환급",</a:t>
            </a:r>
          </a:p>
          <a:p>
            <a:r>
              <a:t>  "site_label": "참여 점포 묶음",</a:t>
            </a:r>
          </a:p>
          <a:p>
            <a:r>
              <a:t>  "months": 2,</a:t>
            </a:r>
          </a:p>
          <a:p>
            <a:r>
              <a:t>  "active_months": [</a:t>
            </a:r>
          </a:p>
          <a:p>
            <a:r>
              <a:t>    "202611",</a:t>
            </a:r>
          </a:p>
          <a:p>
            <a:r>
              <a:t>    "202612"</a:t>
            </a:r>
          </a:p>
          <a:p>
            <a:r>
              <a:t>  ],</a:t>
            </a:r>
          </a:p>
          <a:p>
            <a:r>
              <a:t>  "monthly_weights": [</a:t>
            </a:r>
          </a:p>
          <a:p>
            <a:r>
              <a:t>    0,</a:t>
            </a:r>
          </a:p>
          <a:p>
            <a:r>
              <a:t>    0.5,</a:t>
            </a:r>
          </a:p>
          <a:p>
            <a:r>
              <a:t>    1.0</a:t>
            </a:r>
          </a:p>
          <a:p>
            <a:r>
              <a:t>  ],</a:t>
            </a:r>
          </a:p>
          <a:p>
            <a:r>
              <a:t>  "schedule_basis": "dated_launch_step",</a:t>
            </a:r>
          </a:p>
          <a:p>
            <a:r>
              <a:t>  "forecast_period": "202610~202612",</a:t>
            </a:r>
          </a:p>
          <a:p>
            <a:r>
              <a:t>  "baseline_visitors": 14928559.0,</a:t>
            </a:r>
          </a:p>
          <a:p>
            <a:r>
              <a:t>  "baseline_spending_krw": 246365272670.0,</a:t>
            </a:r>
          </a:p>
          <a:p>
            <a:r>
              <a:t>  "mean_monthly_visitors": 4976186.333333333,</a:t>
            </a:r>
          </a:p>
          <a:p>
            <a:r>
              <a:t>  "sites": 8,</a:t>
            </a:r>
          </a:p>
          <a:p>
            <a:r>
              <a:t>  "days_per_month": 20,</a:t>
            </a:r>
          </a:p>
          <a:p>
            <a:r>
              <a:t>  "sessions_per_day": 1,</a:t>
            </a:r>
          </a:p>
          <a:p>
            <a:r>
              <a:t>  "capacity_per_session": 20,</a:t>
            </a:r>
          </a:p>
          <a:p>
            <a:r>
              <a:t>  "capacity": 6400,</a:t>
            </a:r>
          </a:p>
          <a:p>
            <a:r>
              <a:t>  "funded_capacity": 6400,</a:t>
            </a:r>
          </a:p>
          <a:p>
            <a:r>
              <a:t>  "scale_rule": "운영 거점 = ceil(√(월평균 ML 방문 전망 ÷ 100,000)), 최소 1·최대 12개",</a:t>
            </a:r>
          </a:p>
          <a:p>
            <a:r>
              <a:t>  "capacity_formula": "8개 × 월 20일 × 2개월 × 하루 1회 × 회당 20명 = 6,400명분",</a:t>
            </a:r>
          </a:p>
          <a:p>
            <a:r>
              <a:t>  "scale_kind": "planning_rule_not_population_model",</a:t>
            </a:r>
          </a:p>
          <a:p>
            <a:r>
              <a:t>  "spending_per_visit_proxy_krw": 16502.9506645618,</a:t>
            </a:r>
          </a:p>
          <a:p>
            <a:r>
              <a:t>  "program_purchase_krw": 16503,</a:t>
            </a:r>
          </a:p>
          <a:p>
            <a:r>
              <a:t>  "existing_participant_extra_spend_krw": 8251.4753322809,</a:t>
            </a:r>
          </a:p>
          <a:p>
            <a:r>
              <a:t>  "spending_formula": "추가 방문 × 계획 결제 16,503원 + 기존 방문 참여 × 추가 구매 8,251원",</a:t>
            </a:r>
          </a:p>
          <a:p>
            <a:r>
              <a:t>  "purchase_basis": "계획 결제액은 3개월 ML 소비 합계 ÷ ML 방문 합계를 참고한 기획값입니다. 실제 객단가가 아닙니다.",</a:t>
            </a:r>
          </a:p>
          <a:p>
            <a:r>
              <a:t>  "rate_basis": [</a:t>
            </a:r>
          </a:p>
          <a:p>
            <a:r>
              <a:t>    {</a:t>
            </a:r>
          </a:p>
          <a:p>
            <a:r>
              <a:t>      "kind": "planning_policy",</a:t>
            </a:r>
          </a:p>
          <a:p>
            <a:r>
              <a:t>      "metric": "utilization_rate",</a:t>
            </a:r>
          </a:p>
          <a:p>
            <a:r>
              <a:t>      "value": 75.0,</a:t>
            </a:r>
          </a:p>
          <a:p>
            <a:r>
              <a:t>      "target_value": 75.0,</a:t>
            </a:r>
          </a:p>
          <a:p>
            <a:r>
              <a:t>      "unit": "percent",</a:t>
            </a:r>
          </a:p>
          <a:p>
            <a:r>
              <a:t>      "floor_applied": true,</a:t>
            </a:r>
          </a:p>
          <a:p>
            <a:r>
              <a:t>      "reason": "참여 목표 75%는 공통 최소 운영 목표입니다. 사례 참여율을 인용한 값이 아닙니다."</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75.0,</a:t>
            </a:r>
          </a:p>
          <a:p>
            <a:r>
              <a:t>      "additional_visitor_share_pct": 15.0,</a:t>
            </a:r>
          </a:p>
          <a:p>
            <a:r>
              <a:t>      "participants": 4800,</a:t>
            </a:r>
          </a:p>
          <a:p>
            <a:r>
              <a:t>      "additional_visitors": 720,</a:t>
            </a:r>
          </a:p>
          <a:p>
            <a:r>
              <a:t>      "additional_spending_krw": 45548179,</a:t>
            </a:r>
          </a:p>
          <a:p>
            <a:r>
              <a:t>      "participant_purchases_krw": 79214400,</a:t>
            </a:r>
          </a:p>
          <a:p>
            <a:r>
              <a:t>      "expected_support_krw": 23764800,</a:t>
            </a:r>
          </a:p>
          <a:p>
            <a:r>
              <a:t>      "expected_budget_krw": 56941280,</a:t>
            </a:r>
          </a:p>
          <a:p>
            <a:r>
              <a:t>      "visitor_growth_pct": 0.004822970522473067,</a:t>
            </a:r>
          </a:p>
          <a:p>
            <a:r>
              <a:t>      "spending_growth_pct": 0.018488067943330074,</a:t>
            </a:r>
          </a:p>
          <a:p>
            <a:r>
              <a:t>      "visitor_target_pct": 0.009651724233616231,</a:t>
            </a:r>
          </a:p>
          <a:p>
            <a:r>
              <a:t>      "spending_target_pct": 0.03672650544400202</a:t>
            </a:r>
          </a:p>
          <a:p>
            <a:r>
              <a:t>    },</a:t>
            </a:r>
          </a:p>
          <a:p>
            <a:r>
              <a:t>    {</a:t>
            </a:r>
          </a:p>
          <a:p>
            <a:r>
              <a:t>      "label": "기준",</a:t>
            </a:r>
          </a:p>
          <a:p>
            <a:r>
              <a:t>      "utilization_pct": 75.0,</a:t>
            </a:r>
          </a:p>
          <a:p>
            <a:r>
              <a:t>      "additional_visitor_share_pct": 30.0,</a:t>
            </a:r>
          </a:p>
          <a:p>
            <a:r>
              <a:t>      "participants": 4800,</a:t>
            </a:r>
          </a:p>
          <a:p>
            <a:r>
              <a:t>      "additional_visitors": 1440,</a:t>
            </a:r>
          </a:p>
          <a:p>
            <a:r>
              <a:t>      "additional_spending_krw": 51489277,</a:t>
            </a:r>
          </a:p>
          <a:p>
            <a:r>
              <a:t>      "participant_purchases_krw": 79214400,</a:t>
            </a:r>
          </a:p>
          <a:p>
            <a:r>
              <a:t>      "expected_support_krw": 23764800,</a:t>
            </a:r>
          </a:p>
          <a:p>
            <a:r>
              <a:t>      "expected_budget_krw": 56941280,</a:t>
            </a:r>
          </a:p>
          <a:p>
            <a:r>
              <a:t>      "visitor_growth_pct": 0.009645941044946134,</a:t>
            </a:r>
          </a:p>
          <a:p>
            <a:r>
              <a:t>      "spending_growth_pct": 0.020899567719906927,</a:t>
            </a:r>
          </a:p>
          <a:p>
            <a:r>
              <a:t>      "visitor_target_pct": 0.019303448467232462,</a:t>
            </a:r>
          </a:p>
          <a:p>
            <a:r>
              <a:t>      "spending_target_pct": 0.04151694433378397</a:t>
            </a:r>
          </a:p>
          <a:p>
            <a:r>
              <a:t>    },</a:t>
            </a:r>
          </a:p>
          <a:p>
            <a:r>
              <a:t>    {</a:t>
            </a:r>
          </a:p>
          <a:p>
            <a:r>
              <a:t>      "label": "확대",</a:t>
            </a:r>
          </a:p>
          <a:p>
            <a:r>
              <a:t>      "utilization_pct": 90.0,</a:t>
            </a:r>
          </a:p>
          <a:p>
            <a:r>
              <a:t>      "additional_visitor_share_pct": 44.99999999999999,</a:t>
            </a:r>
          </a:p>
          <a:p>
            <a:r>
              <a:t>      "participants": 5760,</a:t>
            </a:r>
          </a:p>
          <a:p>
            <a:r>
              <a:t>      "additional_visitors": 2591,</a:t>
            </a:r>
          </a:p>
          <a:p>
            <a:r>
              <a:t>      "additional_spending_krw": 68908198,</a:t>
            </a:r>
          </a:p>
          <a:p>
            <a:r>
              <a:t>      "participant_purchases_krw": 95057280,</a:t>
            </a:r>
          </a:p>
          <a:p>
            <a:r>
              <a:t>      "expected_support_krw": 28517760,</a:t>
            </a:r>
          </a:p>
          <a:p>
            <a:r>
              <a:t>      "expected_budget_krw": 62169536,</a:t>
            </a:r>
          </a:p>
          <a:p>
            <a:r>
              <a:t>      "visitor_growth_pct": 0.01735599531073294,</a:t>
            </a:r>
          </a:p>
          <a:p>
            <a:r>
              <a:t>      "spending_growth_pct": 0.02796993149773214,</a:t>
            </a:r>
          </a:p>
          <a:p>
            <a:r>
              <a:t>      "visitor_target_pct": 0.03473280206847174,</a:t>
            </a:r>
          </a:p>
          <a:p>
            <a:r>
              <a:t>      "spending_target_pct": 0.05556220609792917</a:t>
            </a:r>
          </a:p>
          <a:p>
            <a:r>
              <a:t>    }</a:t>
            </a:r>
          </a:p>
          <a:p>
            <a:r>
              <a:t>  ],</a:t>
            </a:r>
          </a:p>
          <a:p>
            <a:r>
              <a:t>  "central": {</a:t>
            </a:r>
          </a:p>
          <a:p>
            <a:r>
              <a:t>    "label": "기준",</a:t>
            </a:r>
          </a:p>
          <a:p>
            <a:r>
              <a:t>    "utilization_pct": 75.0,</a:t>
            </a:r>
          </a:p>
          <a:p>
            <a:r>
              <a:t>    "additional_visitor_share_pct": 30.0,</a:t>
            </a:r>
          </a:p>
          <a:p>
            <a:r>
              <a:t>    "participants": 4800,</a:t>
            </a:r>
          </a:p>
          <a:p>
            <a:r>
              <a:t>    "additional_visitors": 1440,</a:t>
            </a:r>
          </a:p>
          <a:p>
            <a:r>
              <a:t>    "additional_spending_krw": 51489277,</a:t>
            </a:r>
          </a:p>
          <a:p>
            <a:r>
              <a:t>    "participant_purchases_krw": 79214400,</a:t>
            </a:r>
          </a:p>
          <a:p>
            <a:r>
              <a:t>    "expected_support_krw": 23764800,</a:t>
            </a:r>
          </a:p>
          <a:p>
            <a:r>
              <a:t>    "expected_budget_krw": 56941280,</a:t>
            </a:r>
          </a:p>
          <a:p>
            <a:r>
              <a:t>    "visitor_growth_pct": 0.009645941044946134,</a:t>
            </a:r>
          </a:p>
          <a:p>
            <a:r>
              <a:t>    "spending_growth_pct": 0.020899567719906927,</a:t>
            </a:r>
          </a:p>
          <a:p>
            <a:r>
              <a:t>    "visitor_target_pct": 0.019303448467232462,</a:t>
            </a:r>
          </a:p>
          <a:p>
            <a:r>
              <a:t>    "spending_target_pct": 0.04151694433378397</a:t>
            </a:r>
          </a:p>
          <a:p>
            <a:r>
              <a:t>  },</a:t>
            </a:r>
          </a:p>
          <a:p>
            <a:r>
              <a:t>  "participation_basis": "참여 목표 75%는 공통 최소 운영 목표입니다. 사례 참여율을 인용한 값이 아닙니다.",</a:t>
            </a:r>
          </a:p>
          <a:p>
            <a:r>
              <a:t>  "minimum_participation_pct": 75.0,</a:t>
            </a:r>
          </a:p>
          <a:p>
            <a:r>
              <a:t>  "case_sources": [</a:t>
            </a:r>
          </a:p>
          <a:p>
            <a:r>
              <a:t>    {</a:t>
            </a:r>
          </a:p>
          <a:p>
            <a:r>
              <a:t>      "source_id": "case:58c0694a3e85d8",</a:t>
            </a:r>
          </a:p>
          <a:p>
            <a:r>
              <a:t>      "title": "귀촌 '원조 반값'은 다르다… 강진서 전국 확산 '체류 관광 도시'",</a:t>
            </a:r>
          </a:p>
          <a:p>
            <a:r>
              <a:t>      "source_url": "https://jnfarm.jeonnam.go.kr/board/FARM_BOARD_008/boardView.do?bdId=BD_00000000000015383&amp;menuCd=farm004002",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a:t>
            </a:r>
          </a:p>
          <a:p>
            <a:r>
              <a:t>  ],</a:t>
            </a:r>
          </a:p>
          <a:p>
            <a:r>
              <a:t>  "explanation": "지역 소비·환급: 8개 × 월 20일 × 2개월 × 하루 1회 × 회당 20명 = 6,400명분. 편성 한도 6,400명분에 이용률 75%를 적용해 4,800명 참여, 추가 방문 비중 30%로 1,440명 유치를 제안합니다. 기간 합계 ML 전망 대비 방문 +0.01%, 소비 +0.02%의 계획 시나리오입니다. 참여 목표 75%는 공통 최소 운영 목표입니다. 사례 참여율을 인용한 값이 아닙니다. 계획 결제 16,503원에 환급률 30%를 적용해 건당 4,951원을 지원합니다. 환급 혜택과 추가 방문 비중은 별도의 운영 목표이며, 혜택을 높였다고 방문 목표를 자동 상향하지 않습니다. 실제 운영 산정: 2026-11~2026-12, 2개월. 준비 기간에는 추가 방문·소비 목표를 배분하지 않습니다.",</a:t>
            </a:r>
          </a:p>
          <a:p>
            <a:r>
              <a:t>  "disclosure": "보수·기준·확대는 이용률과 추가 방문 비중을 ±15%p 바꾼 계획 범위이며 통계적 오차범위가 아닙니다. 참여 목표는 75~100% 안에서 적용합니다. 거점 수는 운영 제안이며 소비/방문 비율은 실측 객단가가 아닙니다.",</a:t>
            </a:r>
          </a:p>
          <a:p>
            <a:r>
              <a:t>  "budget_cap_krw": null,</a:t>
            </a:r>
          </a:p>
          <a:p>
            <a:r>
              <a:t>  "capacity_reduced": false,</a:t>
            </a:r>
          </a:p>
          <a:p>
            <a:r>
              <a:t>  "operating_period": "2026-11~2026-12",</a:t>
            </a:r>
          </a:p>
          <a:p>
            <a:r>
              <a:t>  "schedule_note": "실제 운영 산정: 2026-11~2026-12, 2개월. 준비 기간에는 추가 방문·소비 목표를 배분하지 않습니다.",</a:t>
            </a:r>
          </a:p>
          <a:p>
            <a:r>
              <a:t>  "estimate": {</a:t>
            </a:r>
          </a:p>
          <a:p>
            <a:r>
              <a:t>    "version": "operating-capacity-v5-refund-incentive",</a:t>
            </a:r>
          </a:p>
          <a:p>
            <a:r>
              <a:t>    "status": "planning_assumption_not_quote",</a:t>
            </a:r>
          </a:p>
          <a:p>
            <a:r>
              <a:t>    "scale_basis": "8개 × 월 20일 × 2개월 × 하루 1회 × 회당 20명 = 6,400명분 → 참여 목표 4,800건의 예상 집행액. 모든 단가는 기획 가정.",</a:t>
            </a:r>
          </a:p>
          <a:p>
            <a:r>
              <a:t>    "months": 2,</a:t>
            </a:r>
          </a:p>
          <a:p>
            <a:r>
              <a:t>    "refund": true,</a:t>
            </a:r>
          </a:p>
          <a:p>
            <a:r>
              <a:t>    "quantity": 4800,</a:t>
            </a:r>
          </a:p>
          <a:p>
            <a:r>
              <a:t>    "unit_krw": 4951,</a:t>
            </a:r>
          </a:p>
          <a:p>
            <a:r>
              <a:t>    "capacity_quantity": 6400,</a:t>
            </a:r>
          </a:p>
          <a:p>
            <a:r>
              <a:t>    "per_claim_cap_krw": 50000,</a:t>
            </a:r>
          </a:p>
          <a:p>
            <a:r>
              <a:t>    "refund_rate_pct": 30.0,</a:t>
            </a:r>
          </a:p>
          <a:p>
            <a:r>
              <a:t>    "redemption_target_pct": 75.0,</a:t>
            </a:r>
          </a:p>
          <a:p>
            <a:r>
              <a:t>    "redemption_count": 4800,</a:t>
            </a:r>
          </a:p>
          <a:p>
            <a:r>
              <a:t>    "purchase_per_participant_krw": 16503,</a:t>
            </a:r>
          </a:p>
          <a:p>
            <a:r>
              <a:t>    "qualifying_spend_krw": 79214400,</a:t>
            </a:r>
          </a:p>
          <a:p>
            <a:r>
              <a:t>    "subtotal_krw": 51764800,</a:t>
            </a:r>
          </a:p>
          <a:p>
            <a:r>
              <a:t>    "reserve_krw": 5176480,</a:t>
            </a:r>
          </a:p>
          <a:p>
            <a:r>
              <a:t>    "total_krw": 56941280,</a:t>
            </a:r>
          </a:p>
          <a:p>
            <a:r>
              <a:t>    "within_hard_budget": true,</a:t>
            </a:r>
          </a:p>
          <a:p>
            <a:r>
              <a:t>    "full_participation_budget_krw": 65655040,</a:t>
            </a:r>
          </a:p>
          <a:p>
            <a:r>
              <a:t>    "participant_purchases_krw": 79214400,</a:t>
            </a:r>
          </a:p>
          <a:p>
            <a:r>
              <a:t>    "additional_spending_krw": 51489277,</a:t>
            </a:r>
          </a:p>
          <a:p>
            <a:r>
              <a:t>    "scenario_note": "참여자 결제 79,214,400원 중 추가 소비 목표 51,489,277원. 견적은 같은 참여 목표의 사업비이며, 결제액 전체를 신규 소비나 사업 수익으로 계산하지 않습니다.",</a:t>
            </a:r>
          </a:p>
          <a:p>
            <a:r>
              <a:t>    "items": [</a:t>
            </a:r>
          </a:p>
          <a:p>
            <a:r>
              <a:t>      {</a:t>
            </a:r>
          </a:p>
          <a:p>
            <a:r>
              <a:t>        "name": "여행비 환급 지원",</a:t>
            </a:r>
          </a:p>
          <a:p>
            <a:r>
              <a:t>        "basis": "참여 목표 4,800건 × min(계획 결제 16,503원 × 30%, 건별 상한 50,000원) = 건당 4,951원",</a:t>
            </a:r>
          </a:p>
          <a:p>
            <a:r>
              <a:t>        "amount": 23764800</a:t>
            </a:r>
          </a:p>
          <a:p>
            <a:r>
              <a:t>      },</a:t>
            </a:r>
          </a:p>
          <a:p>
            <a:r>
              <a:t>      {</a:t>
            </a:r>
          </a:p>
          <a:p>
            <a:r>
              <a:t>        "name": "현장 운영·정산",</a:t>
            </a:r>
          </a:p>
          <a:p>
            <a:r>
              <a:t>        "basis": "2개 운영팀 × 월 20일 × 2개월 × 150,000원 (점포 묶음 8개, 최대 4개당 공동 정산팀 1개)",</a:t>
            </a:r>
          </a:p>
          <a:p>
            <a:r>
              <a:t>        "amount": 12000000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51,764,800원 × 10%",</a:t>
            </a:r>
          </a:p>
          <a:p>
            <a:r>
              <a:t>        "amount": 5176480</a:t>
            </a:r>
          </a:p>
          <a:p>
            <a:r>
              <a:t>      }</a:t>
            </a:r>
          </a:p>
          <a:p>
            <a:r>
              <a:t>    ],</a:t>
            </a:r>
          </a:p>
          <a:p>
            <a:r>
              <a:t>    "sources": [],</a:t>
            </a:r>
          </a:p>
          <a:p>
            <a:r>
              <a:t>    "assumptions": [</a:t>
            </a:r>
          </a:p>
          <a:p>
            <a:r>
              <a:t>      "기획용 예상 견적이며 실제 액수와 다를 수 있습니다.",</a:t>
            </a:r>
          </a:p>
          <a:p>
            <a:r>
              <a:t>      "환급률 미지정 시 30%를 제안합니다. 이는 참여 혜택을 위한 계획 설정이며 공식 사례 실적이나 추정 효과가 아닙니다.",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30%, 건별 상한 50,000원 및 점포 묶음 최대 4개당 정산팀 1개는 계획 설정입니다. 지급 총액은 편성 예산 내에서 운영합니다."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"operating-capacity-v5-refund-incentive",</a:t>
            </a:r>
          </a:p>
          <a:p>
            <a:r>
              <a:t>  "status": "proposed",</a:t>
            </a:r>
          </a:p>
          <a:p>
            <a:r>
              <a:t>  "minimum_operating_budget_krw": 30800000,</a:t>
            </a:r>
          </a:p>
          <a:p>
            <a:r>
              <a:t>  "family": "spend_conversion",</a:t>
            </a:r>
          </a:p>
          <a:p>
            <a:r>
              <a:t>  "program_label": "지역 소비·환급",</a:t>
            </a:r>
          </a:p>
          <a:p>
            <a:r>
              <a:t>  "site_label": "참여 점포 묶음",</a:t>
            </a:r>
          </a:p>
          <a:p>
            <a:r>
              <a:t>  "months": 2,</a:t>
            </a:r>
          </a:p>
          <a:p>
            <a:r>
              <a:t>  "active_months": [</a:t>
            </a:r>
          </a:p>
          <a:p>
            <a:r>
              <a:t>    "202611",</a:t>
            </a:r>
          </a:p>
          <a:p>
            <a:r>
              <a:t>    "202612"</a:t>
            </a:r>
          </a:p>
          <a:p>
            <a:r>
              <a:t>  ],</a:t>
            </a:r>
          </a:p>
          <a:p>
            <a:r>
              <a:t>  "monthly_weights": [</a:t>
            </a:r>
          </a:p>
          <a:p>
            <a:r>
              <a:t>    0,</a:t>
            </a:r>
          </a:p>
          <a:p>
            <a:r>
              <a:t>    0.5,</a:t>
            </a:r>
          </a:p>
          <a:p>
            <a:r>
              <a:t>    1.0</a:t>
            </a:r>
          </a:p>
          <a:p>
            <a:r>
              <a:t>  ],</a:t>
            </a:r>
          </a:p>
          <a:p>
            <a:r>
              <a:t>  "schedule_basis": "dated_launch_step",</a:t>
            </a:r>
          </a:p>
          <a:p>
            <a:r>
              <a:t>  "forecast_period": "202610~202612",</a:t>
            </a:r>
          </a:p>
          <a:p>
            <a:r>
              <a:t>  "baseline_visitors": 14928559.0,</a:t>
            </a:r>
          </a:p>
          <a:p>
            <a:r>
              <a:t>  "baseline_spending_krw": 246365272670.0,</a:t>
            </a:r>
          </a:p>
          <a:p>
            <a:r>
              <a:t>  "mean_monthly_visitors": 4976186.333333333,</a:t>
            </a:r>
          </a:p>
          <a:p>
            <a:r>
              <a:t>  "sites": 8,</a:t>
            </a:r>
          </a:p>
          <a:p>
            <a:r>
              <a:t>  "days_per_month": 20,</a:t>
            </a:r>
          </a:p>
          <a:p>
            <a:r>
              <a:t>  "sessions_per_day": 1,</a:t>
            </a:r>
          </a:p>
          <a:p>
            <a:r>
              <a:t>  "capacity_per_session": 20,</a:t>
            </a:r>
          </a:p>
          <a:p>
            <a:r>
              <a:t>  "capacity": 6400,</a:t>
            </a:r>
          </a:p>
          <a:p>
            <a:r>
              <a:t>  "funded_capacity": 6400,</a:t>
            </a:r>
          </a:p>
          <a:p>
            <a:r>
              <a:t>  "scale_rule": "운영 거점 = ceil(√(월평균 ML 방문 전망 ÷ 100,000)), 최소 1·최대 12개",</a:t>
            </a:r>
          </a:p>
          <a:p>
            <a:r>
              <a:t>  "capacity_formula": "8개 × 월 20일 × 2개월 × 하루 1회 × 회당 20명 = 6,400명분",</a:t>
            </a:r>
          </a:p>
          <a:p>
            <a:r>
              <a:t>  "scale_kind": "planning_rule_not_population_model",</a:t>
            </a:r>
          </a:p>
          <a:p>
            <a:r>
              <a:t>  "spending_per_visit_proxy_krw": 16502.9506645618,</a:t>
            </a:r>
          </a:p>
          <a:p>
            <a:r>
              <a:t>  "program_purchase_krw": 16503,</a:t>
            </a:r>
          </a:p>
          <a:p>
            <a:r>
              <a:t>  "existing_participant_extra_spend_krw": 8251.4753322809,</a:t>
            </a:r>
          </a:p>
          <a:p>
            <a:r>
              <a:t>  "spending_formula": "추가 방문 × 계획 결제 16,503원 + 기존 방문 참여 × 추가 구매 8,251원",</a:t>
            </a:r>
          </a:p>
          <a:p>
            <a:r>
              <a:t>  "purchase_basis": "계획 결제액은 3개월 ML 소비 합계 ÷ ML 방문 합계를 참고한 기획값입니다. 실제 객단가가 아닙니다.",</a:t>
            </a:r>
          </a:p>
          <a:p>
            <a:r>
              <a:t>  "rate_basis": [</a:t>
            </a:r>
          </a:p>
          <a:p>
            <a:r>
              <a:t>    {</a:t>
            </a:r>
          </a:p>
          <a:p>
            <a:r>
              <a:t>      "kind": "planning_policy",</a:t>
            </a:r>
          </a:p>
          <a:p>
            <a:r>
              <a:t>      "metric": "utilization_rate",</a:t>
            </a:r>
          </a:p>
          <a:p>
            <a:r>
              <a:t>      "value": 75.0,</a:t>
            </a:r>
          </a:p>
          <a:p>
            <a:r>
              <a:t>      "target_value": 75.0,</a:t>
            </a:r>
          </a:p>
          <a:p>
            <a:r>
              <a:t>      "unit": "percent",</a:t>
            </a:r>
          </a:p>
          <a:p>
            <a:r>
              <a:t>      "floor_applied": true,</a:t>
            </a:r>
          </a:p>
          <a:p>
            <a:r>
              <a:t>      "reason": "참여 목표 75%는 공통 최소 운영 목표입니다. 사례 참여율을 인용한 값이 아닙니다."</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75.0,</a:t>
            </a:r>
          </a:p>
          <a:p>
            <a:r>
              <a:t>      "additional_visitor_share_pct": 15.0,</a:t>
            </a:r>
          </a:p>
          <a:p>
            <a:r>
              <a:t>      "participants": 4800,</a:t>
            </a:r>
          </a:p>
          <a:p>
            <a:r>
              <a:t>      "additional_visitors": 720,</a:t>
            </a:r>
          </a:p>
          <a:p>
            <a:r>
              <a:t>      "additional_spending_krw": 45548179,</a:t>
            </a:r>
          </a:p>
          <a:p>
            <a:r>
              <a:t>      "participant_purchases_krw": 79214400,</a:t>
            </a:r>
          </a:p>
          <a:p>
            <a:r>
              <a:t>      "expected_support_krw": 23764800,</a:t>
            </a:r>
          </a:p>
          <a:p>
            <a:r>
              <a:t>      "expected_budget_krw": 56941280,</a:t>
            </a:r>
          </a:p>
          <a:p>
            <a:r>
              <a:t>      "visitor_growth_pct": 0.004822970522473067,</a:t>
            </a:r>
          </a:p>
          <a:p>
            <a:r>
              <a:t>      "spending_growth_pct": 0.018488067943330074,</a:t>
            </a:r>
          </a:p>
          <a:p>
            <a:r>
              <a:t>      "visitor_target_pct": 0.009651724233616231,</a:t>
            </a:r>
          </a:p>
          <a:p>
            <a:r>
              <a:t>      "spending_target_pct": 0.03672650544400202</a:t>
            </a:r>
          </a:p>
          <a:p>
            <a:r>
              <a:t>    },</a:t>
            </a:r>
          </a:p>
          <a:p>
            <a:r>
              <a:t>    {</a:t>
            </a:r>
          </a:p>
          <a:p>
            <a:r>
              <a:t>      "label": "기준",</a:t>
            </a:r>
          </a:p>
          <a:p>
            <a:r>
              <a:t>      "utilization_pct": 75.0,</a:t>
            </a:r>
          </a:p>
          <a:p>
            <a:r>
              <a:t>      "additional_visitor_share_pct": 30.0,</a:t>
            </a:r>
          </a:p>
          <a:p>
            <a:r>
              <a:t>      "participants": 4800,</a:t>
            </a:r>
          </a:p>
          <a:p>
            <a:r>
              <a:t>      "additional_visitors": 1440,</a:t>
            </a:r>
          </a:p>
          <a:p>
            <a:r>
              <a:t>      "additional_spending_krw": 51489277,</a:t>
            </a:r>
          </a:p>
          <a:p>
            <a:r>
              <a:t>      "participant_purchases_krw": 79214400,</a:t>
            </a:r>
          </a:p>
          <a:p>
            <a:r>
              <a:t>      "expected_support_krw": 23764800,</a:t>
            </a:r>
          </a:p>
          <a:p>
            <a:r>
              <a:t>      "expected_budget_krw": 56941280,</a:t>
            </a:r>
          </a:p>
          <a:p>
            <a:r>
              <a:t>      "visitor_growth_pct": 0.009645941044946134,</a:t>
            </a:r>
          </a:p>
          <a:p>
            <a:r>
              <a:t>      "spending_growth_pct": 0.020899567719906927,</a:t>
            </a:r>
          </a:p>
          <a:p>
            <a:r>
              <a:t>      "visitor_target_pct": 0.019303448467232462,</a:t>
            </a:r>
          </a:p>
          <a:p>
            <a:r>
              <a:t>      "spending_target_pct": 0.04151694433378397</a:t>
            </a:r>
          </a:p>
          <a:p>
            <a:r>
              <a:t>    },</a:t>
            </a:r>
          </a:p>
          <a:p>
            <a:r>
              <a:t>    {</a:t>
            </a:r>
          </a:p>
          <a:p>
            <a:r>
              <a:t>      "label": "확대",</a:t>
            </a:r>
          </a:p>
          <a:p>
            <a:r>
              <a:t>      "utilization_pct": 90.0,</a:t>
            </a:r>
          </a:p>
          <a:p>
            <a:r>
              <a:t>      "additional_visitor_share_pct": 44.99999999999999,</a:t>
            </a:r>
          </a:p>
          <a:p>
            <a:r>
              <a:t>      "participants": 5760,</a:t>
            </a:r>
          </a:p>
          <a:p>
            <a:r>
              <a:t>      "additional_visitors": 2591,</a:t>
            </a:r>
          </a:p>
          <a:p>
            <a:r>
              <a:t>      "additional_spending_krw": 68908198,</a:t>
            </a:r>
          </a:p>
          <a:p>
            <a:r>
              <a:t>      "participant_purchases_krw": 95057280,</a:t>
            </a:r>
          </a:p>
          <a:p>
            <a:r>
              <a:t>      "expected_support_krw": 28517760,</a:t>
            </a:r>
          </a:p>
          <a:p>
            <a:r>
              <a:t>      "expected_budget_krw": 62169536,</a:t>
            </a:r>
          </a:p>
          <a:p>
            <a:r>
              <a:t>      "visitor_growth_pct": 0.01735599531073294,</a:t>
            </a:r>
          </a:p>
          <a:p>
            <a:r>
              <a:t>      "spending_growth_pct": 0.02796993149773214,</a:t>
            </a:r>
          </a:p>
          <a:p>
            <a:r>
              <a:t>      "visitor_target_pct": 0.03473280206847174,</a:t>
            </a:r>
          </a:p>
          <a:p>
            <a:r>
              <a:t>      "spending_target_pct": 0.05556220609792917</a:t>
            </a:r>
          </a:p>
          <a:p>
            <a:r>
              <a:t>    }</a:t>
            </a:r>
          </a:p>
          <a:p>
            <a:r>
              <a:t>  ],</a:t>
            </a:r>
          </a:p>
          <a:p>
            <a:r>
              <a:t>  "central": {</a:t>
            </a:r>
          </a:p>
          <a:p>
            <a:r>
              <a:t>    "label": "기준",</a:t>
            </a:r>
          </a:p>
          <a:p>
            <a:r>
              <a:t>    "utilization_pct": 75.0,</a:t>
            </a:r>
          </a:p>
          <a:p>
            <a:r>
              <a:t>    "additional_visitor_share_pct": 30.0,</a:t>
            </a:r>
          </a:p>
          <a:p>
            <a:r>
              <a:t>    "participants": 4800,</a:t>
            </a:r>
          </a:p>
          <a:p>
            <a:r>
              <a:t>    "additional_visitors": 1440,</a:t>
            </a:r>
          </a:p>
          <a:p>
            <a:r>
              <a:t>    "additional_spending_krw": 51489277,</a:t>
            </a:r>
          </a:p>
          <a:p>
            <a:r>
              <a:t>    "participant_purchases_krw": 79214400,</a:t>
            </a:r>
          </a:p>
          <a:p>
            <a:r>
              <a:t>    "expected_support_krw": 23764800,</a:t>
            </a:r>
          </a:p>
          <a:p>
            <a:r>
              <a:t>    "expected_budget_krw": 56941280,</a:t>
            </a:r>
          </a:p>
          <a:p>
            <a:r>
              <a:t>    "visitor_growth_pct": 0.009645941044946134,</a:t>
            </a:r>
          </a:p>
          <a:p>
            <a:r>
              <a:t>    "spending_growth_pct": 0.020899567719906927,</a:t>
            </a:r>
          </a:p>
          <a:p>
            <a:r>
              <a:t>    "visitor_target_pct": 0.019303448467232462,</a:t>
            </a:r>
          </a:p>
          <a:p>
            <a:r>
              <a:t>    "spending_target_pct": 0.04151694433378397</a:t>
            </a:r>
          </a:p>
          <a:p>
            <a:r>
              <a:t>  },</a:t>
            </a:r>
          </a:p>
          <a:p>
            <a:r>
              <a:t>  "participation_basis": "참여 목표 75%는 공통 최소 운영 목표입니다. 사례 참여율을 인용한 값이 아닙니다.",</a:t>
            </a:r>
          </a:p>
          <a:p>
            <a:r>
              <a:t>  "minimum_participation_pct": 75.0,</a:t>
            </a:r>
          </a:p>
          <a:p>
            <a:r>
              <a:t>  "case_sources": [</a:t>
            </a:r>
          </a:p>
          <a:p>
            <a:r>
              <a:t>    {</a:t>
            </a:r>
          </a:p>
          <a:p>
            <a:r>
              <a:t>      "source_id": "case:58c0694a3e85d8",</a:t>
            </a:r>
          </a:p>
          <a:p>
            <a:r>
              <a:t>      "title": "귀촌 '원조 반값'은 다르다… 강진서 전국 확산 '체류 관광 도시'",</a:t>
            </a:r>
          </a:p>
          <a:p>
            <a:r>
              <a:t>      "source_url": "https://jnfarm.jeonnam.go.kr/board/FARM_BOARD_008/boardView.do?bdId=BD_00000000000015383&amp;menuCd=farm004002",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a:t>
            </a:r>
          </a:p>
          <a:p>
            <a:r>
              <a:t>  ],</a:t>
            </a:r>
          </a:p>
          <a:p>
            <a:r>
              <a:t>  "explanation": "지역 소비·환급: 8개 × 월 20일 × 2개월 × 하루 1회 × 회당 20명 = 6,400명분. 편성 한도 6,400명분에 이용률 75%를 적용해 4,800명 참여, 추가 방문 비중 30%로 1,440명 유치를 제안합니다. 기간 합계 ML 전망 대비 방문 +0.01%, 소비 +0.02%의 계획 시나리오입니다. 참여 목표 75%는 공통 최소 운영 목표입니다. 사례 참여율을 인용한 값이 아닙니다. 계획 결제 16,503원에 환급률 30%를 적용해 건당 4,951원을 지원합니다. 환급 혜택과 추가 방문 비중은 별도의 운영 목표이며, 혜택을 높였다고 방문 목표를 자동 상향하지 않습니다. 실제 운영 산정: 2026-11~2026-12, 2개월. 준비 기간에는 추가 방문·소비 목표를 배분하지 않습니다.",</a:t>
            </a:r>
          </a:p>
          <a:p>
            <a:r>
              <a:t>  "disclosure": "보수·기준·확대는 이용률과 추가 방문 비중을 ±15%p 바꾼 계획 범위이며 통계적 오차범위가 아닙니다. 참여 목표는 75~100% 안에서 적용합니다. 거점 수는 운영 제안이며 소비/방문 비율은 실측 객단가가 아닙니다.",</a:t>
            </a:r>
          </a:p>
          <a:p>
            <a:r>
              <a:t>  "budget_cap_krw": null,</a:t>
            </a:r>
          </a:p>
          <a:p>
            <a:r>
              <a:t>  "capacity_reduced": false,</a:t>
            </a:r>
          </a:p>
          <a:p>
            <a:r>
              <a:t>  "operating_period": "2026-11~2026-12",</a:t>
            </a:r>
          </a:p>
          <a:p>
            <a:r>
              <a:t>  "schedule_note": "실제 운영 산정: 2026-11~2026-12, 2개월. 준비 기간에는 추가 방문·소비 목표를 배분하지 않습니다.",</a:t>
            </a:r>
          </a:p>
          <a:p>
            <a:r>
              <a:t>  "estimate": {</a:t>
            </a:r>
          </a:p>
          <a:p>
            <a:r>
              <a:t>    "version": "operating-capacity-v5-refund-incentive",</a:t>
            </a:r>
          </a:p>
          <a:p>
            <a:r>
              <a:t>    "status": "planning_assumption_not_quote",</a:t>
            </a:r>
          </a:p>
          <a:p>
            <a:r>
              <a:t>    "scale_basis": "8개 × 월 20일 × 2개월 × 하루 1회 × 회당 20명 = 6,400명분 → 참여 목표 4,800건의 예상 집행액. 모든 단가는 기획 가정.",</a:t>
            </a:r>
          </a:p>
          <a:p>
            <a:r>
              <a:t>    "months": 2,</a:t>
            </a:r>
          </a:p>
          <a:p>
            <a:r>
              <a:t>    "refund": true,</a:t>
            </a:r>
          </a:p>
          <a:p>
            <a:r>
              <a:t>    "quantity": 4800,</a:t>
            </a:r>
          </a:p>
          <a:p>
            <a:r>
              <a:t>    "unit_krw": 4951,</a:t>
            </a:r>
          </a:p>
          <a:p>
            <a:r>
              <a:t>    "capacity_quantity": 6400,</a:t>
            </a:r>
          </a:p>
          <a:p>
            <a:r>
              <a:t>    "per_claim_cap_krw": 50000,</a:t>
            </a:r>
          </a:p>
          <a:p>
            <a:r>
              <a:t>    "refund_rate_pct": 30.0,</a:t>
            </a:r>
          </a:p>
          <a:p>
            <a:r>
              <a:t>    "redemption_target_pct": 75.0,</a:t>
            </a:r>
          </a:p>
          <a:p>
            <a:r>
              <a:t>    "redemption_count": 4800,</a:t>
            </a:r>
          </a:p>
          <a:p>
            <a:r>
              <a:t>    "purchase_per_participant_krw": 16503,</a:t>
            </a:r>
          </a:p>
          <a:p>
            <a:r>
              <a:t>    "qualifying_spend_krw": 79214400,</a:t>
            </a:r>
          </a:p>
          <a:p>
            <a:r>
              <a:t>    "subtotal_krw": 51764800,</a:t>
            </a:r>
          </a:p>
          <a:p>
            <a:r>
              <a:t>    "reserve_krw": 5176480,</a:t>
            </a:r>
          </a:p>
          <a:p>
            <a:r>
              <a:t>    "total_krw": 56941280,</a:t>
            </a:r>
          </a:p>
          <a:p>
            <a:r>
              <a:t>    "within_hard_budget": true,</a:t>
            </a:r>
          </a:p>
          <a:p>
            <a:r>
              <a:t>    "full_participation_budget_krw": 65655040,</a:t>
            </a:r>
          </a:p>
          <a:p>
            <a:r>
              <a:t>    "participant_purchases_krw": 79214400,</a:t>
            </a:r>
          </a:p>
          <a:p>
            <a:r>
              <a:t>    "additional_spending_krw": 51489277,</a:t>
            </a:r>
          </a:p>
          <a:p>
            <a:r>
              <a:t>    "scenario_note": "참여자 결제 79,214,400원 중 추가 소비 목표 51,489,277원. 견적은 같은 참여 목표의 사업비이며, 결제액 전체를 신규 소비나 사업 수익으로 계산하지 않습니다.",</a:t>
            </a:r>
          </a:p>
          <a:p>
            <a:r>
              <a:t>    "items": [</a:t>
            </a:r>
          </a:p>
          <a:p>
            <a:r>
              <a:t>      {</a:t>
            </a:r>
          </a:p>
          <a:p>
            <a:r>
              <a:t>        "name": "여행비 환급 지원",</a:t>
            </a:r>
          </a:p>
          <a:p>
            <a:r>
              <a:t>        "basis": "참여 목표 4,800건 × min(계획 결제 16,503원 × 30%, 건별 상한 50,000원) = 건당 4,951원",</a:t>
            </a:r>
          </a:p>
          <a:p>
            <a:r>
              <a:t>        "amount": 23764800</a:t>
            </a:r>
          </a:p>
          <a:p>
            <a:r>
              <a:t>      },</a:t>
            </a:r>
          </a:p>
          <a:p>
            <a:r>
              <a:t>      {</a:t>
            </a:r>
          </a:p>
          <a:p>
            <a:r>
              <a:t>        "name": "현장 운영·정산",</a:t>
            </a:r>
          </a:p>
          <a:p>
            <a:r>
              <a:t>        "basis": "2개 운영팀 × 월 20일 × 2개월 × 150,000원 (점포 묶음 8개, 최대 4개당 공동 정산팀 1개)",</a:t>
            </a:r>
          </a:p>
          <a:p>
            <a:r>
              <a:t>        "amount": 12000000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51,764,800원 × 10%",</a:t>
            </a:r>
          </a:p>
          <a:p>
            <a:r>
              <a:t>        "amount": 5176480</a:t>
            </a:r>
          </a:p>
          <a:p>
            <a:r>
              <a:t>      }</a:t>
            </a:r>
          </a:p>
          <a:p>
            <a:r>
              <a:t>    ],</a:t>
            </a:r>
          </a:p>
          <a:p>
            <a:r>
              <a:t>    "sources": [],</a:t>
            </a:r>
          </a:p>
          <a:p>
            <a:r>
              <a:t>    "assumptions": [</a:t>
            </a:r>
          </a:p>
          <a:p>
            <a:r>
              <a:t>      "기획용 예상 견적이며 실제 액수와 다를 수 있습니다.",</a:t>
            </a:r>
          </a:p>
          <a:p>
            <a:r>
              <a:t>      "환급률 미지정 시 30%를 제안합니다. 이는 참여 혜택을 위한 계획 설정이며 공식 사례 실적이나 추정 효과가 아닙니다.",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30%, 건별 상한 50,000원 및 점포 묶음 최대 4개당 정산팀 1개는 계획 설정입니다. 지급 총액은 편성 예산 내에서 운영합니다."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 Id="rId3" Type="http://schemas.openxmlformats.org/officeDocument/2006/relationships/image" Target="../media/image36.jpg"/><Relationship Id="rId4" Type="http://schemas.openxmlformats.org/officeDocument/2006/relationships/hyperlink" Target="https://apis.data.go.kr/B551011/KorService2" TargetMode="Externa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 Id="rId4" Type="http://schemas.openxmlformats.org/officeDocument/2006/relationships/chart" Target="../charts/chart3.xml"/><Relationship Id="rId5" Type="http://schemas.openxmlformats.org/officeDocument/2006/relationships/chart" Target="../charts/chart4.xml"/></Relationships>
</file>

<file path=ppt/slides/_rels/slide4.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 Id="rId4" Type="http://schemas.openxmlformats.org/officeDocument/2006/relationships/image" Target="../media/image1.jpg"/><Relationship Id="rId5" Type="http://schemas.openxmlformats.org/officeDocument/2006/relationships/hyperlink" Target="https://www.gangjintour.com/" TargetMode="External"/><Relationship Id="rId6" Type="http://schemas.openxmlformats.org/officeDocument/2006/relationships/hyperlink" Target="https://jnfarm.jeonnam.go.kr/board/FARM_BOARD_008/boardView.do?bdId=BD_00000000000015383&amp;menuCd=farm004002" TargetMode="External"/><Relationship Id="rId7" Type="http://schemas.openxmlformats.org/officeDocument/2006/relationships/image" Target="../media/image2.jpg"/><Relationship Id="rId8" Type="http://schemas.openxmlformats.org/officeDocument/2006/relationships/hyperlink" Target="https://culture.seoul.go.kr/culture/culture/cultureEvent/view.do?cultcode=146365&amp;menuNo=200009" TargetMode="External"/><Relationship Id="rId9" Type="http://schemas.openxmlformats.org/officeDocument/2006/relationships/hyperlink" Target="https://datalab.visitkorea.or.kr/" TargetMode="External"/><Relationship Id="rId10" Type="http://schemas.openxmlformats.org/officeDocument/2006/relationships/image" Target="../media/image3.jpg"/><Relationship Id="rId11" Type="http://schemas.openxmlformats.org/officeDocument/2006/relationships/hyperlink" Target="https://www.korea.kr/news/policyNewsView.do?newsId=148947084" TargetMode="External"/><Relationship Id="rId12" Type="http://schemas.openxmlformats.org/officeDocument/2006/relationships/hyperlink" Target="https://datalab.visitkorea.or.kr/site/portal/ex/bbs/View.do?bcIdx=311068&amp;cbIdx=1135&amp;pageIndex=1"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hyperlink" Target="https://www.gangjintour.com/" TargetMode="External"/><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hyperlink" Target="https://jnfarm.jeonnam.go.kr/board/FARM_BOARD_008/boardView.do?bdId=BD_00000000000015383&amp;menuCd=farm004002" TargetMode="External"/><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notesSlide" Target="../notesSlides/notesSlide10.xml"/><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 Id="rId10"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7.png"/><Relationship Id="rId6" Type="http://schemas.openxmlformats.org/officeDocument/2006/relationships/hyperlink" Target="https://jnfarm.jeonnam.go.kr/board/FARM_BOARD_008/boardView.do?bdId=BD_00000000000015383&amp;menuCd=farm004002" TargetMode="External"/><Relationship Id="rId7" Type="http://schemas.openxmlformats.org/officeDocument/2006/relationships/notesSlide" Target="../notesSlides/notesSlide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notesSlide" Target="../notesSlides/notesSlide17.xml"/></Relationships>
</file>

<file path=ppt/slides/_rels/slide10.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5.png"/><Relationship Id="rId9" Type="http://schemas.openxmlformats.org/officeDocument/2006/relationships/image" Target="../media/image16.png"/><Relationship Id="rId10" Type="http://schemas.openxmlformats.org/officeDocument/2006/relationships/notesSlide" Target="../notesSlides/notesSlide15.xml"/><Relationship Id="rId11" Type="http://schemas.openxmlformats.org/officeDocument/2006/relationships/image" Target="../media/image22.png"/><Relationship Id="rId12" Type="http://schemas.openxmlformats.org/officeDocument/2006/relationships/image" Target="../media/image23.png"/><Relationship Id="rId13" Type="http://schemas.openxmlformats.org/officeDocument/2006/relationships/image" Target="../media/image24.png"/><Relationship Id="rId14" Type="http://schemas.openxmlformats.org/officeDocument/2006/relationships/image" Target="../media/image25.png"/><Relationship Id="rId15" Type="http://schemas.openxmlformats.org/officeDocument/2006/relationships/image" Target="../media/image26.png"/><Relationship Id="rId16" Type="http://schemas.openxmlformats.org/officeDocument/2006/relationships/image" Target="../media/image27.png"/><Relationship Id="rId17" Type="http://schemas.openxmlformats.org/officeDocument/2006/relationships/image" Target="../media/image17.png"/><Relationship Id="rId18" Type="http://schemas.openxmlformats.org/officeDocument/2006/relationships/image" Target="../media/image28.png"/><Relationship Id="rId19" Type="http://schemas.openxmlformats.org/officeDocument/2006/relationships/image" Target="../media/image6.png"/><Relationship Id="rId20" Type="http://schemas.openxmlformats.org/officeDocument/2006/relationships/image" Target="../media/image29.png"/><Relationship Id="rId21" Type="http://schemas.openxmlformats.org/officeDocument/2006/relationships/image" Target="../media/image30.png"/><Relationship Id="rId22" Type="http://schemas.openxmlformats.org/officeDocument/2006/relationships/image" Target="../media/image31.png"/><Relationship Id="rId23" Type="http://schemas.openxmlformats.org/officeDocument/2006/relationships/image" Target="../media/image32.png"/><Relationship Id="rId24" Type="http://schemas.openxmlformats.org/officeDocument/2006/relationships/image" Target="../media/image33.png"/><Relationship Id="rId25" Type="http://schemas.openxmlformats.org/officeDocument/2006/relationships/image" Target="../media/image34.png"/><Relationship Id="rId26" Type="http://schemas.openxmlformats.org/officeDocument/2006/relationships/image" Target="../media/image35.png"/></Relationships>
</file>

<file path=ppt/slides/_rels/slide14.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site/portal/ex/bbs/View.do?bcIdx=311068&amp;cbIdx=1135&amp;pageIndex=1" TargetMode="External"/><Relationship Id="rId3" Type="http://schemas.openxmlformats.org/officeDocument/2006/relationships/hyperlink" Target="https://korean.visitkorea.or.kr/travelmonth/benefit.do?modal=benefit-190" TargetMode="External"/><Relationship Id="rId4" Type="http://schemas.openxmlformats.org/officeDocument/2006/relationships/hyperlink" Target="https://www.data.go.kr/data/15112114/openapi.do?recommendDataYn=Y" TargetMode="External"/><Relationship Id="rId5" Type="http://schemas.openxmlformats.org/officeDocument/2006/relationships/hyperlink" Target="https://www.data.go.kr/dataset/15001021/openapi.do" TargetMode="External"/><Relationship Id="rId6" Type="http://schemas.openxmlformats.org/officeDocument/2006/relationships/hyperlink" Target="https://touredu.visitkorea.or.kr/home/pkgEdu/pkgEduDetail?crsCd=C202600107&amp;eduPlanYr=2026&amp;eduPlanYrStepCnt=1" TargetMode="External"/><Relationship Id="rId7" Type="http://schemas.openxmlformats.org/officeDocument/2006/relationships/hyperlink" Target="https://www.data.go.kr/dataset/15037511/fileData.do" TargetMode="External"/><Relationship Id="rId8" Type="http://schemas.openxmlformats.org/officeDocument/2006/relationships/hyperlink" Target="https://www.mcst.go.kr/servlets/eduport/front/upload/UplDownloadFile?pFileName=%5B1230%5D%EB%AC%B8%EC%B2%B4%EB%B6%80%EB%B3%B4%EB%8F%84%EC%9E%90%EB%A3%8C-%EC%A0%9C4%EC%B0%A8+%EA%B4%80%EA%B4%91%EA%B0%9C%EB%B0%9C%EA%B8%B0%EB%B3%B8%EA%B3%84%ED%9A%8D+%EB%B0%9C%ED%91%9C.pdf&amp;pPath=0302000000&amp;pRealName=20211230083238607242235788_PRESS20211230083238374598.pdf" TargetMode="External"/><Relationship Id="rId9" Type="http://schemas.openxmlformats.org/officeDocument/2006/relationships/hyperlink" Target="https://datalab.visitkorea.or.kr/" TargetMode="External"/><Relationship Id="rId10" Type="http://schemas.openxmlformats.org/officeDocument/2006/relationships/hyperlink" Target="https://culture.seoul.go.kr/culture/cmmn/file/fileDown.do?atchFileId=bb34395b25504c66a77ef69999cacb1c&amp;bbsId=B0000006&amp;fileSn=1" TargetMode="External"/><Relationship Id="rId11" Type="http://schemas.openxmlformats.org/officeDocument/2006/relationships/hyperlink" Target="https://jnfarm.jeonnam.go.kr/board/FARM_BOARD_008/boardView.do?bdId=BD_00000000000015383&amp;menuCd=farm004002" TargetMode="External"/><Relationship Id="rId12"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13" Type="http://schemas.openxmlformats.org/officeDocument/2006/relationships/hyperlink" Target="https://kto.visitkorea.or.kr/upload/flexer/upload/ktobiz/20220928/b623b5f9-3ec0-11ed-9832-ddf31964842e.hwp.files/Sections1.html" TargetMode="External"/><Relationship Id="rId14" Type="http://schemas.openxmlformats.org/officeDocument/2006/relationships/hyperlink" Target="https://korean.visitkorea.or.kr/detail/rem_detail.do?cotid=f9c636b2-dd7c-4f09-af3d-6af43b33d371" TargetMode="External"/><Relationship Id="rId15" Type="http://schemas.openxmlformats.org/officeDocument/2006/relationships/hyperlink" Target="https://apis.data.go.kr/B551011/KorService2" TargetMode="External"/><Relationship Id="rId16"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 Id="rId3" Type="http://schemas.openxmlformats.org/officeDocument/2006/relationships/image" Target="../media/image37.jpg"/><Relationship Id="rId4" Type="http://schemas.openxmlformats.org/officeDocument/2006/relationships/hyperlink" Target="https://apis.data.go.kr/B551011/KorService2"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8.png"/><Relationship Id="rId3" Type="http://schemas.openxmlformats.org/officeDocument/2006/relationships/image" Target="../media/image10.png"/><Relationship Id="rId4" Type="http://schemas.openxmlformats.org/officeDocument/2006/relationships/image" Target="../media/image4.png"/><Relationship Id="rId5" Type="http://schemas.openxmlformats.org/officeDocument/2006/relationships/notesSlide" Target="../notesSlides/notesSlide14.xml"/></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203B4B"/>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t="7835" b="7835"/>
          <a:stretch>
            <a:fillRect/>
          </a:stretch>
        </p:blipFill>
        <p:spPr>
          <a:xfrm>
            <a:off x="0" y="0"/>
            <a:ext cx="15240000" cy="8572500"/>
          </a:xfrm>
          <a:prstGeom prst="rect">
            <a:avLst/>
          </a:prstGeom>
        </p:spPr>
      </p:pic>
      <p:sp xmlns:a="http://schemas.openxmlformats.org/drawingml/2006/main">
        <p:nvSpPr>
          <p:cNvPr id="14" name="cover-photo-blend"/>
          <p:cNvSpPr/>
          <p:nvPr/>
        </p:nvSpPr>
        <p:spPr>
          <a:xfrm>
            <a:off x="0" y="0"/>
            <a:ext cx="15240000" cy="8572500"/>
          </a:xfrm>
          <a:prstGeom prst="rect">
            <a:avLst/>
          </a:prstGeom>
          <a:gradFill rotWithShape="1">
            <a:gsLst>
              <a:gs pos="0">
                <a:srgbClr val="203B4B">
                  <a:alpha val="100000"/>
                </a:srgbClr>
              </a:gs>
              <a:gs pos="40000">
                <a:srgbClr val="203B4B">
                  <a:alpha val="98000"/>
                </a:srgbClr>
              </a:gs>
              <a:gs pos="64000">
                <a:srgbClr val="203B4B">
                  <a:alpha val="75000"/>
                </a:srgbClr>
              </a:gs>
              <a:gs pos="82000">
                <a:srgbClr val="203B4B">
                  <a:alpha val="24000"/>
                </a:srgbClr>
              </a:gs>
              <a:gs pos="100000">
                <a:srgbClr val="203B4B">
                  <a:alpha val="0"/>
                </a:srgbClr>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ver-top-rule"/>
          <p:cNvSpPr/>
          <p:nvPr/>
        </p:nvSpPr>
        <p:spPr>
          <a:xfrm>
            <a:off x="762000" y="781050"/>
            <a:ext cx="1619250" cy="38100"/>
          </a:xfrm>
          <a:prstGeom prst="rect">
            <a:avLst/>
          </a:prstGeom>
          <a:solidFill>
            <a:srgbClr val="A9D7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04850" y="2981325"/>
            <a:ext cx="7524750" cy="2047875"/>
          </a:xfrm>
          <a:prstGeom prst="rect">
            <a:avLst/>
          </a:prstGeom>
          <a:noFill/>
        </p:spPr>
        <p:txBody>
          <a:bodyPr wrap="none" lIns="57150" rIns="57150" tIns="38100" bIns="38100" anchor="t">
            <a:noAutofit/>
          </a:bodyPr>
          <a:lstStyle/>
          <a:p>
            <a:pPr eaLnBrk="0">
              <a:lnSpc>
                <a:spcPts val="4031"/>
              </a:lnSpc>
              <a:spcBef>
                <a:spcPts val="0"/>
              </a:spcBef>
              <a:spcAft>
                <a:spcPts val="0"/>
              </a:spcAft>
            </a:pPr>
            <a:r>
              <a:rPr sz="3225" b="1">
                <a:solidFill>
                  <a:srgbClr val="FFFFFF"/>
                </a:solidFill>
                <a:latin typeface="Noto Sans KR"/>
              </a:rPr>
              <a:t>서구 여행비 환급 사업 실행 기획안</a:t>
            </a:r>
          </a:p>
        </p:txBody>
      </p:sp>
      <p:sp xmlns:a="http://schemas.openxmlformats.org/drawingml/2006/main">
        <p:nvSpPr>
          <p:cNvPr id="7" name="cover-date"/>
          <p:cNvSpPr txBox="1"/>
          <p:nvPr/>
        </p:nvSpPr>
        <p:spPr>
          <a:xfrm>
            <a:off x="762000" y="7038975"/>
            <a:ext cx="7524750" cy="4953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0">
                <a:solidFill>
                  <a:srgbClr val="FFFFFF"/>
                </a:solidFill>
                <a:latin typeface="Noto Sans KR"/>
              </a:rPr>
              <a:t>사업기간 2026.10 ~ 2026.12</a:t>
            </a:r>
          </a:p>
        </p:txBody>
      </p:sp>
      <p:sp xmlns:a="http://schemas.openxmlformats.org/drawingml/2006/main">
        <p:nvSpPr>
          <p:cNvPr id="9" name="cover-issued-date"/>
          <p:cNvSpPr txBox="1"/>
          <p:nvPr/>
        </p:nvSpPr>
        <p:spPr>
          <a:xfrm>
            <a:off x="800100" y="1304925"/>
            <a:ext cx="7143750" cy="4381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2026.09.17</a:t>
            </a:r>
          </a:p>
        </p:txBody>
      </p:sp>
      <p:sp xmlns:a="http://schemas.openxmlformats.org/drawingml/2006/main">
        <p:nvSpPr>
          <p:cNvPr id="10" name="cover-province-ribbon"/>
          <p:cNvSpPr/>
          <p:nvPr/>
        </p:nvSpPr>
        <p:spPr>
          <a:xfrm>
            <a:off x="0" y="1866900"/>
            <a:ext cx="8953500" cy="685800"/>
          </a:xfrm>
          <a:prstGeom prst="rect">
            <a:avLst/>
          </a:prstGeom>
          <a:gradFill rotWithShape="1">
            <a:gsLst>
              <a:gs pos="0">
                <a:srgbClr val="DBE8EC">
                  <a:alpha val="13000"/>
                </a:srgbClr>
              </a:gs>
              <a:gs pos="60000">
                <a:srgbClr val="DBE8EC">
                  <a:alpha val="8000"/>
                </a:srgbClr>
              </a:gs>
              <a:gs pos="100000">
                <a:srgbClr val="DBE8EC">
                  <a:alpha val="0"/>
                </a:srgbClr>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org-title"/>
          <p:cNvSpPr txBox="1"/>
          <p:nvPr/>
        </p:nvSpPr>
        <p:spPr>
          <a:xfrm>
            <a:off x="609600" y="1914525"/>
            <a:ext cx="4857750" cy="571500"/>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FFFFFF"/>
                </a:solidFill>
                <a:latin typeface="Noto Sans KR"/>
              </a:rPr>
              <a:t>대전광역시</a:t>
            </a:r>
          </a:p>
        </p:txBody>
      </p:sp>
      <p:sp xmlns:a="http://schemas.openxmlformats.org/drawingml/2006/main">
        <p:nvSpPr>
          <p:cNvPr id="11" name="cover-title-rule"/>
          <p:cNvSpPr/>
          <p:nvPr/>
        </p:nvSpPr>
        <p:spPr>
          <a:xfrm>
            <a:off x="762000" y="4286250"/>
            <a:ext cx="1619250" cy="38100"/>
          </a:xfrm>
          <a:prstGeom prst="rect">
            <a:avLst/>
          </a:prstGeom>
          <a:solidFill>
            <a:srgbClr val="A9D7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cover-source-label">
            <a:hlinkClick xmlns:ns0="http://schemas.openxmlformats.org/officeDocument/2006/relationships" ns0: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대전광역시 서구 · 도산서원(대전)</a:t>
            </a: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contents-rail"/>
          <p:cNvSpPr/>
          <p:nvPr/>
        </p:nvSpPr>
        <p:spPr>
          <a:xfrm>
            <a:off x="0" y="0"/>
            <a:ext cx="15240000" cy="8572500"/>
          </a:xfrm>
          <a:prstGeom prst="rect">
            <a:avLst/>
          </a:prstGeom>
          <a:gradFill rotWithShape="1">
            <a:gsLst>
              <a:gs pos="0">
                <a:srgbClr val="E7E9ED"/>
              </a:gs>
              <a:gs pos="100000">
                <a:srgbClr val="FAFAFB"/>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ntents-en"/>
          <p:cNvSpPr txBox="1"/>
          <p:nvPr/>
        </p:nvSpPr>
        <p:spPr>
          <a:xfrm>
            <a:off x="1009650" y="971550"/>
            <a:ext cx="3333750" cy="3238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495565"/>
                </a:solidFill>
                <a:latin typeface="Noto Sans KR"/>
              </a:rPr>
              <a:t>CONTENTS</a:t>
            </a:r>
          </a:p>
        </p:txBody>
      </p:sp>
      <p:sp xmlns:a="http://schemas.openxmlformats.org/drawingml/2006/main">
        <p:nvSpPr>
          <p:cNvPr id="4" name="contents-ko"/>
          <p:cNvSpPr txBox="1"/>
          <p:nvPr/>
        </p:nvSpPr>
        <p:spPr>
          <a:xfrm>
            <a:off x="1009650" y="1409700"/>
            <a:ext cx="8572500" cy="71437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202124"/>
                </a:solidFill>
                <a:latin typeface="Noto Sans KR"/>
              </a:rPr>
              <a:t>목차</a:t>
            </a:r>
          </a:p>
        </p:txBody>
      </p:sp>
      <p:sp xmlns:a="http://schemas.openxmlformats.org/drawingml/2006/main">
        <p:nvSpPr>
          <p:cNvPr id="5" name="contents-short-rule"/>
          <p:cNvSpPr/>
          <p:nvPr/>
        </p:nvSpPr>
        <p:spPr>
          <a:xfrm>
            <a:off x="1066800" y="2324100"/>
            <a:ext cx="552450"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top-brand"/>
          <p:cNvSpPr txBox="1"/>
          <p:nvPr/>
        </p:nvSpPr>
        <p:spPr>
          <a:xfrm>
            <a:off x="1009650" y="7610475"/>
            <a:ext cx="11430000" cy="400050"/>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495565"/>
                </a:solidFill>
                <a:latin typeface="Noto Sans KR"/>
              </a:rPr>
              <a:t>대전광역시 서구 관광 전략기획안</a:t>
            </a:r>
          </a:p>
        </p:txBody>
      </p:sp>
      <p:sp xmlns:a="http://schemas.openxmlformats.org/drawingml/2006/main">
        <p:nvSpPr>
          <p:cNvPr id="7" name="toc-0-number"/>
          <p:cNvSpPr txBox="1"/>
          <p:nvPr/>
        </p:nvSpPr>
        <p:spPr>
          <a:xfrm>
            <a:off x="1009650"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1</a:t>
            </a:r>
          </a:p>
        </p:txBody>
      </p:sp>
      <p:sp xmlns:a="http://schemas.openxmlformats.org/drawingml/2006/main">
        <p:nvSpPr>
          <p:cNvPr id="8" name="toc-0-label"/>
          <p:cNvSpPr txBox="1"/>
          <p:nvPr/>
        </p:nvSpPr>
        <p:spPr>
          <a:xfrm>
            <a:off x="1657350"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개요</a:t>
            </a:r>
          </a:p>
        </p:txBody>
      </p:sp>
      <p:sp xmlns:a="http://schemas.openxmlformats.org/drawingml/2006/main">
        <p:nvSpPr>
          <p:cNvPr id="9" name="contents-rule-0"/>
          <p:cNvSpPr/>
          <p:nvPr/>
        </p:nvSpPr>
        <p:spPr>
          <a:xfrm>
            <a:off x="1066800"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toc-1-number"/>
          <p:cNvSpPr txBox="1"/>
          <p:nvPr/>
        </p:nvSpPr>
        <p:spPr>
          <a:xfrm>
            <a:off x="1009650"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2</a:t>
            </a:r>
          </a:p>
        </p:txBody>
      </p:sp>
      <p:sp xmlns:a="http://schemas.openxmlformats.org/drawingml/2006/main">
        <p:nvSpPr>
          <p:cNvPr id="11" name="toc-1-label"/>
          <p:cNvSpPr txBox="1"/>
          <p:nvPr/>
        </p:nvSpPr>
        <p:spPr>
          <a:xfrm>
            <a:off x="1657350"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지역별 사례와 실적</a:t>
            </a:r>
          </a:p>
        </p:txBody>
      </p:sp>
      <p:sp xmlns:a="http://schemas.openxmlformats.org/drawingml/2006/main">
        <p:nvSpPr>
          <p:cNvPr id="12" name="contents-rule-1"/>
          <p:cNvSpPr/>
          <p:nvPr/>
        </p:nvSpPr>
        <p:spPr>
          <a:xfrm>
            <a:off x="1066800"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oc-2-number"/>
          <p:cNvSpPr txBox="1"/>
          <p:nvPr/>
        </p:nvSpPr>
        <p:spPr>
          <a:xfrm>
            <a:off x="1009650"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3</a:t>
            </a:r>
          </a:p>
        </p:txBody>
      </p:sp>
      <p:sp xmlns:a="http://schemas.openxmlformats.org/drawingml/2006/main">
        <p:nvSpPr>
          <p:cNvPr id="14" name="toc-2-label"/>
          <p:cNvSpPr txBox="1"/>
          <p:nvPr/>
        </p:nvSpPr>
        <p:spPr>
          <a:xfrm>
            <a:off x="1657350"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사업 목표와 KPI 산출근거</a:t>
            </a:r>
          </a:p>
        </p:txBody>
      </p:sp>
      <p:sp xmlns:a="http://schemas.openxmlformats.org/drawingml/2006/main">
        <p:nvSpPr>
          <p:cNvPr id="15" name="contents-rule-2"/>
          <p:cNvSpPr/>
          <p:nvPr/>
        </p:nvSpPr>
        <p:spPr>
          <a:xfrm>
            <a:off x="1066800"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toc-3-number"/>
          <p:cNvSpPr txBox="1"/>
          <p:nvPr/>
        </p:nvSpPr>
        <p:spPr>
          <a:xfrm>
            <a:off x="1009650" y="588645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4</a:t>
            </a:r>
          </a:p>
        </p:txBody>
      </p:sp>
      <p:sp xmlns:a="http://schemas.openxmlformats.org/drawingml/2006/main">
        <p:nvSpPr>
          <p:cNvPr id="17" name="toc-3-label"/>
          <p:cNvSpPr txBox="1"/>
          <p:nvPr/>
        </p:nvSpPr>
        <p:spPr>
          <a:xfrm>
            <a:off x="1657350" y="589597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 적용과 실행</a:t>
            </a:r>
          </a:p>
        </p:txBody>
      </p:sp>
      <p:sp xmlns:a="http://schemas.openxmlformats.org/drawingml/2006/main">
        <p:nvSpPr>
          <p:cNvPr id="18" name="contents-rule-3"/>
          <p:cNvSpPr/>
          <p:nvPr/>
        </p:nvSpPr>
        <p:spPr>
          <a:xfrm>
            <a:off x="1066800" y="654367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toc-4-number"/>
          <p:cNvSpPr txBox="1"/>
          <p:nvPr/>
        </p:nvSpPr>
        <p:spPr>
          <a:xfrm>
            <a:off x="8239125"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5</a:t>
            </a:r>
          </a:p>
        </p:txBody>
      </p:sp>
      <p:sp xmlns:a="http://schemas.openxmlformats.org/drawingml/2006/main">
        <p:nvSpPr>
          <p:cNvPr id="20" name="toc-4-label"/>
          <p:cNvSpPr txBox="1"/>
          <p:nvPr/>
        </p:nvSpPr>
        <p:spPr>
          <a:xfrm>
            <a:off x="8886825"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견적 예시안</a:t>
            </a:r>
          </a:p>
        </p:txBody>
      </p:sp>
      <p:sp xmlns:a="http://schemas.openxmlformats.org/drawingml/2006/main">
        <p:nvSpPr>
          <p:cNvPr id="21" name="contents-rule-4"/>
          <p:cNvSpPr/>
          <p:nvPr/>
        </p:nvSpPr>
        <p:spPr>
          <a:xfrm>
            <a:off x="8296275"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toc-5-number"/>
          <p:cNvSpPr txBox="1"/>
          <p:nvPr/>
        </p:nvSpPr>
        <p:spPr>
          <a:xfrm>
            <a:off x="8239125"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6</a:t>
            </a:r>
          </a:p>
        </p:txBody>
      </p:sp>
      <p:sp xmlns:a="http://schemas.openxmlformats.org/drawingml/2006/main">
        <p:nvSpPr>
          <p:cNvPr id="23" name="toc-5-label"/>
          <p:cNvSpPr txBox="1"/>
          <p:nvPr/>
        </p:nvSpPr>
        <p:spPr>
          <a:xfrm>
            <a:off x="8886825"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기획서 생성 과정</a:t>
            </a:r>
          </a:p>
        </p:txBody>
      </p:sp>
      <p:sp xmlns:a="http://schemas.openxmlformats.org/drawingml/2006/main">
        <p:nvSpPr>
          <p:cNvPr id="24" name="contents-rule-5"/>
          <p:cNvSpPr/>
          <p:nvPr/>
        </p:nvSpPr>
        <p:spPr>
          <a:xfrm>
            <a:off x="8296275"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toc-6-number"/>
          <p:cNvSpPr txBox="1"/>
          <p:nvPr/>
        </p:nvSpPr>
        <p:spPr>
          <a:xfrm>
            <a:off x="8239125"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7</a:t>
            </a:r>
          </a:p>
        </p:txBody>
      </p:sp>
      <p:sp xmlns:a="http://schemas.openxmlformats.org/drawingml/2006/main">
        <p:nvSpPr>
          <p:cNvPr id="26" name="toc-6-label"/>
          <p:cNvSpPr txBox="1"/>
          <p:nvPr/>
        </p:nvSpPr>
        <p:spPr>
          <a:xfrm>
            <a:off x="8886825"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근거·데이터·출처</a:t>
            </a:r>
          </a:p>
        </p:txBody>
      </p:sp>
      <p:sp xmlns:a="http://schemas.openxmlformats.org/drawingml/2006/main">
        <p:nvSpPr>
          <p:cNvPr id="27" name="contents-rule-6"/>
          <p:cNvSpPr/>
          <p:nvPr/>
        </p:nvSpPr>
        <p:spPr>
          <a:xfrm>
            <a:off x="8296275"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51" name="growth-card-1"/>
          <p:cNvSpPr/>
          <p:nvPr/>
        </p:nvSpPr>
        <p:spPr>
          <a:xfrm>
            <a:off x="5248275" y="531495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growth-card-0"/>
          <p:cNvSpPr/>
          <p:nvPr/>
        </p:nvSpPr>
        <p:spPr>
          <a:xfrm>
            <a:off x="5248275" y="297180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1390" r="3139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323850" y="8103394"/>
            <a:ext cx="4143375" cy="392906"/>
          </a:xfrm>
          <a:prstGeom xmlns:a="http://schemas.openxmlformats.org/drawingml/2006/main" prst="roundRect">
            <a:avLst>
              <a:gd name="adj" fmla="val 5000"/>
            </a:avLst>
          </a:prstGeom>
          <a:solidFill xmlns:a="http://schemas.openxmlformats.org/drawingml/2006/main">
            <a:srgbClr val="0F315B"/>
          </a:solidFill>
          <a:ln xmlns:a="http://schemas.openxmlformats.org/drawingml/2006/main" w="9525">
            <a:no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8160544"/>
            <a:ext cx="4143375" cy="2786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wrap="none" lIns="57150" rIns="57150" tIns="38100" bIns="38100">
            <a:noAutofit/>
          </a:bodyPr>
          <a:lstStyle xmlns:a="http://schemas.openxmlformats.org/drawingml/2006/main"/>
          <a:p xmlns:a="http://schemas.openxmlformats.org/drawingml/2006/main">
            <a:pPr algn="ctr" eaLnBrk="0">
              <a:lnSpc>
                <a:spcPts val="1546"/>
              </a:lnSpc>
              <a:spcBef>
                <a:spcPts val="0"/>
              </a:spcBef>
              <a:spcAft>
                <a:spcPts val="0"/>
              </a:spcAft>
              <a:buNone/>
              <a:defRPr sz="825" b="0" i="0">
                <a:solidFill>
                  <a:srgbClr val="FFFFFF"/>
                </a:solidFill>
                <a:latin typeface="Noto Sans KR"/>
                <a:ea typeface="Noto Sans KR"/>
                <a:cs typeface="Noto Sans KR"/>
              </a:defRPr>
            </a:pPr>
            <a:r>
              <a:rPr sz="1237" b="0">
                <a:solidFill>
                  <a:srgbClr val="FFFFFF"/>
                </a:solidFill>
                <a:latin typeface="Noto Sans KR"/>
              </a:rPr>
              <a:t>대전광역시 서구 남선로 66 · 남선공원</a:t>
            </a:r>
          </a:p>
        </p:txBody>
      </p:sp>
      <p:sp xmlns:a="http://schemas.openxmlformats.org/drawingml/2006/main">
        <p:nvSpPr>
          <p:cNvPr id="34" name="title"/>
          <p:cNvSpPr txBox="1"/>
          <p:nvPr/>
        </p:nvSpPr>
        <p:spPr>
          <a:xfrm>
            <a:off x="5257800" y="828675"/>
            <a:ext cx="8972550" cy="762000"/>
          </a:xfrm>
          <a:prstGeom prst="rect">
            <a:avLst/>
          </a:prstGeom>
          <a:noFill/>
        </p:spPr>
        <p:txBody>
          <a:bodyPr wrap="none" lIns="57150" rIns="57150" tIns="38100" bIns="38100" anchor="t">
            <a:noAutofit/>
          </a:bodyPr>
          <a:lstStyle/>
          <a:p>
            <a:pPr eaLnBrk="0" algn="l">
              <a:lnSpc>
                <a:spcPts val="3937"/>
              </a:lnSpc>
              <a:spcBef>
                <a:spcPts val="0"/>
              </a:spcBef>
              <a:spcAft>
                <a:spcPts val="0"/>
              </a:spcAft>
            </a:pPr>
            <a:r>
              <a:rPr sz="3150" b="1">
                <a:solidFill>
                  <a:srgbClr val="202124"/>
                </a:solidFill>
                <a:latin typeface="Noto Sans KR"/>
              </a:rPr>
              <a:t>1.2 지역 관광 전망</a:t>
            </a:r>
          </a:p>
        </p:txBody>
      </p:sp>
      <p:sp xmlns:a="http://schemas.openxmlformats.org/drawingml/2006/main">
        <p:nvSpPr>
          <p:cNvPr id="36" name="purpose-period"/>
          <p:cNvSpPr txBox="1"/>
          <p:nvPr/>
        </p:nvSpPr>
        <p:spPr>
          <a:xfrm>
            <a:off x="5391150" y="1952625"/>
            <a:ext cx="8763000" cy="42862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0">
                <a:solidFill>
                  <a:srgbClr val="62666C"/>
                </a:solidFill>
                <a:latin typeface="Noto Sans KR"/>
              </a:rPr>
              <a:t>향후 3개월 전망 · 2026년 10–12월</a:t>
            </a:r>
          </a:p>
        </p:txBody>
      </p:sp>
      <p:sp xmlns:a="http://schemas.openxmlformats.org/drawingml/2006/main">
        <p:nvSpPr>
          <p:cNvPr id="37" name="purpose-comparison"/>
          <p:cNvSpPr txBox="1"/>
          <p:nvPr/>
        </p:nvSpPr>
        <p:spPr>
          <a:xfrm>
            <a:off x="5391150" y="2409825"/>
            <a:ext cx="8763000" cy="381000"/>
          </a:xfrm>
          <a:prstGeom prst="rect">
            <a:avLst/>
          </a:prstGeom>
          <a:noFill/>
        </p:spPr>
        <p:txBody>
          <a:bodyPr wrap="none" lIns="57150" rIns="57150" tIns="38100" bIns="38100" anchor="ctr">
            <a:noAutofit/>
          </a:bodyPr>
          <a:lstStyle/>
          <a:p>
            <a:pPr eaLnBrk="0" algn="ctr">
              <a:lnSpc>
                <a:spcPts val="2062"/>
              </a:lnSpc>
              <a:spcBef>
                <a:spcPts val="0"/>
              </a:spcBef>
              <a:spcAft>
                <a:spcPts val="0"/>
              </a:spcAft>
            </a:pPr>
            <a:r>
              <a:rPr sz="1650" b="0">
                <a:solidFill>
                  <a:srgbClr val="62666C"/>
                </a:solidFill>
                <a:latin typeface="Noto Sans KR"/>
              </a:rPr>
              <a:t>전년 같은 기간 대비 증가율을 전국 비교 평균과 비교합니다.</a:t>
            </a:r>
          </a:p>
        </p:txBody>
      </p:sp>
      <p:sp xmlns:a="http://schemas.openxmlformats.org/drawingml/2006/main">
        <p:nvSpPr>
          <p:cNvPr id="38" name="growth-label-0"/>
          <p:cNvSpPr txBox="1"/>
          <p:nvPr/>
        </p:nvSpPr>
        <p:spPr>
          <a:xfrm>
            <a:off x="5505450" y="309562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관광객 방문자 수</a:t>
            </a:r>
          </a:p>
        </p:txBody>
      </p:sp>
      <p:sp xmlns:a="http://schemas.openxmlformats.org/drawingml/2006/main">
        <p:nvSpPr>
          <p:cNvPr id="39" name="growth-total-0"/>
          <p:cNvSpPr txBox="1"/>
          <p:nvPr/>
        </p:nvSpPr>
        <p:spPr>
          <a:xfrm>
            <a:off x="9525000" y="313372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1,492.9만 명</a:t>
            </a:r>
          </a:p>
        </p:txBody>
      </p:sp>
      <p:graphicFrame xmlns:a="http://schemas.openxmlformats.org/drawingml/2006/main">
        <p:nvGraphicFramePr>
          <p:cNvPr id="40" name="growth-chart-0"/>
          <p:cNvGraphicFramePr>
            <a:graphicFrameLocks noGrp="1"/>
          </p:cNvGraphicFramePr>
          <p:nvPr/>
        </p:nvGraphicFramePr>
        <p:xfrm>
          <a:off x="5505450" y="3543300"/>
          <a:ext cx="8534400" cy="1066800"/>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41" name="growth-gap-0"/>
          <p:cNvSpPr txBox="1"/>
          <p:nvPr/>
        </p:nvSpPr>
        <p:spPr>
          <a:xfrm>
            <a:off x="5505450" y="466725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서구의 예상 증가율은 전국 비교 평균보다 1.37%p 낮습니다.</a:t>
            </a:r>
          </a:p>
        </p:txBody>
      </p:sp>
      <p:sp xmlns:a="http://schemas.openxmlformats.org/drawingml/2006/main">
        <p:nvSpPr>
          <p:cNvPr id="42" name="growth-label-1"/>
          <p:cNvSpPr txBox="1"/>
          <p:nvPr/>
        </p:nvSpPr>
        <p:spPr>
          <a:xfrm>
            <a:off x="5505450" y="543877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관광소비액</a:t>
            </a:r>
          </a:p>
        </p:txBody>
      </p:sp>
      <p:sp xmlns:a="http://schemas.openxmlformats.org/drawingml/2006/main">
        <p:nvSpPr>
          <p:cNvPr id="43" name="growth-total-1"/>
          <p:cNvSpPr txBox="1"/>
          <p:nvPr/>
        </p:nvSpPr>
        <p:spPr>
          <a:xfrm>
            <a:off x="9525000" y="547687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2,463.7억 원</a:t>
            </a:r>
          </a:p>
        </p:txBody>
      </p:sp>
      <p:graphicFrame xmlns:a="http://schemas.openxmlformats.org/drawingml/2006/main">
        <p:nvGraphicFramePr>
          <p:cNvPr id="44" name="growth-chart-1"/>
          <p:cNvGraphicFramePr>
            <a:graphicFrameLocks noGrp="1"/>
          </p:cNvGraphicFramePr>
          <p:nvPr/>
        </p:nvGraphicFramePr>
        <p:xfrm>
          <a:off x="5505450" y="5886450"/>
          <a:ext cx="8534400" cy="1066800"/>
        </p:xfrm>
        <a:graphic>
          <a:graphicData uri="http://schemas.openxmlformats.org/drawingml/2006/chart">
            <c:chart xmlns:c="http://schemas.openxmlformats.org/drawingml/2006/chart" xmlns:r="http://schemas.openxmlformats.org/officeDocument/2006/relationships" r:id="rId5"/>
          </a:graphicData>
        </a:graphic>
      </p:graphicFrame>
      <p:sp xmlns:a="http://schemas.openxmlformats.org/drawingml/2006/main">
        <p:nvSpPr>
          <p:cNvPr id="45" name="growth-gap-1"/>
          <p:cNvSpPr txBox="1"/>
          <p:nvPr/>
        </p:nvSpPr>
        <p:spPr>
          <a:xfrm>
            <a:off x="5505450" y="701040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서구의 예상 증가율은 전국 비교 평균보다 2.16%p 낮습니다.</a:t>
            </a:r>
          </a:p>
        </p:txBody>
      </p:sp>
      <p:sp xmlns:a="http://schemas.openxmlformats.org/drawingml/2006/main">
        <p:nvSpPr>
          <p:cNvPr id="46" name="purpose-note"/>
          <p:cNvSpPr txBox="1"/>
          <p:nvPr/>
        </p:nvSpPr>
        <p:spPr>
          <a:xfrm>
            <a:off x="5391150" y="7886700"/>
            <a:ext cx="8772525" cy="647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비교 대상 249개 지역 · 한국관광 데이터랩 2026.06까지의 관측값과 저장 ML 모델</a:t>
            </a:r>
          </a:p>
          <a:p>
            <a:pPr eaLnBrk="0">
              <a:lnSpc>
                <a:spcPts val="1500"/>
              </a:lnSpc>
              <a:spcBef>
                <a:spcPts val="0"/>
              </a:spcBef>
              <a:spcAft>
                <a:spcPts val="0"/>
              </a:spcAft>
            </a:pPr>
            <a:r>
              <a:rPr sz="1200" b="0">
                <a:solidFill>
                  <a:srgbClr val="62666C"/>
                </a:solidFill>
                <a:latin typeface="Noto Sans KR"/>
              </a:rPr>
              <a:t>비교 평균 = 지역별 전년 동기 대비 증가율의 단순평균. 인구 보정 전 탐색 전망입니다.</a:t>
            </a:r>
          </a:p>
        </p:txBody>
      </p:sp>
      <p:sp xmlns:a="http://schemas.openxmlformats.org/drawingml/2006/main">
        <p:nvSpPr>
          <p:cNvPr id="48" name="editorial-kicker"/>
          <p:cNvSpPr txBox="1"/>
          <p:nvPr/>
        </p:nvSpPr>
        <p:spPr>
          <a:xfrm>
            <a:off x="5343525"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1. 개요</a:t>
            </a:r>
          </a:p>
        </p:txBody>
      </p:sp>
      <p:sp xmlns:a="http://schemas.openxmlformats.org/drawingml/2006/main">
        <p:nvSpPr>
          <p:cNvPr id="49"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04 / 17</a:t>
            </a:r>
          </a:p>
        </p:txBody>
      </p:sp>
    </p:spTree>
    <p:extLst>
      <p:ext uri="{BB962C8B-B14F-4D97-AF65-F5344CB8AC3E}">
        <p14:creationId xmlns:p14="http://schemas.microsoft.com/office/powerpoint/2010/main" val="1308887362"/>
      </p:ext>
    </p:extLst>
  </p:cSld>
</p:sld>
</file>

<file path=ppt/slides/slide4.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2600" b="1">
                <a:solidFill>
                  <a:srgbClr val="202124"/>
                </a:solidFill>
                <a:latin typeface="Century Gothic"/>
                <a:ea typeface="맑은 고딕"/>
              </a:rPr>
              <a:t>2.1 지역별 참고 사례</a:t>
            </a:r>
          </a:p>
        </p:txBody>
      </p:sp>
      <p:sp xmlns:a="http://schemas.openxmlformats.org/drawingml/2006/main">
        <p:nvSpPr>
          <p:cNvPr id="5" name="case-panel-0"/>
          <p:cNvSpPr/>
          <p:nvPr/>
        </p:nvSpPr>
        <p:spPr>
          <a:xfrm>
            <a:off x="10096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ase-number-0"/>
          <p:cNvSpPr txBox="1"/>
          <p:nvPr/>
        </p:nvSpPr>
        <p:spPr>
          <a:xfrm>
            <a:off x="12382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01</a:t>
            </a:r>
          </a:p>
        </p:txBody>
      </p:sp>
      <p:sp xmlns:a="http://schemas.openxmlformats.org/drawingml/2006/main">
        <p:nvSpPr>
          <p:cNvPr id="7" name="case-badge-0"/>
          <p:cNvSpPr txBox="1"/>
          <p:nvPr/>
        </p:nvSpPr>
        <p:spPr>
          <a:xfrm>
            <a:off x="1952625" y="2247900"/>
            <a:ext cx="2362200" cy="419100"/>
          </a:xfrm>
          <a:prstGeom prst="roundRect">
            <a:avLst>
              <a:gd name="adj" fmla="val 40000"/>
            </a:avLst>
          </a:prstGeom>
          <a:solidFill>
            <a:srgbClr val="F50045"/>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FFFFF"/>
                </a:solidFill>
                <a:latin typeface="Century Gothic"/>
                <a:ea typeface="맑은 고딕"/>
              </a:rPr>
              <a:t>적용 사례</a:t>
            </a:r>
          </a:p>
        </p:txBody>
      </p:sp>
      <p:sp xmlns:a="http://schemas.openxmlformats.org/drawingml/2006/main">
        <p:nvSpPr>
          <p:cNvPr id="8" name="case-selected-tick-0"/>
          <p:cNvSpPr/>
          <p:nvPr/>
        </p:nvSpPr>
        <p:spPr>
          <a:xfrm>
            <a:off x="4486275" y="2286000"/>
            <a:ext cx="409575" cy="409575"/>
          </a:xfrm>
          <a:prstGeom prst="ellipse">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case-selected-mark-0"/>
          <p:cNvSpPr txBox="1"/>
          <p:nvPr/>
        </p:nvSpPr>
        <p:spPr>
          <a:xfrm>
            <a:off x="4486275" y="2276475"/>
            <a:ext cx="409575" cy="40957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1">
                <a:solidFill>
                  <a:srgbClr val="FFFFFF"/>
                </a:solidFill>
                <a:latin typeface="Noto Sans KR"/>
              </a:rPr>
              <a:t>✓</a:t>
            </a:r>
          </a:p>
        </p:txBody>
      </p:sp>
      <p:sp xmlns:a="http://schemas.openxmlformats.org/drawingml/2006/main">
        <p:nvSpPr>
          <p:cNvPr id="10" name="case-title-0"/>
          <p:cNvSpPr txBox="1"/>
          <p:nvPr/>
        </p:nvSpPr>
        <p:spPr>
          <a:xfrm>
            <a:off x="12382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전라남도 강진군 · 강진 반값여행:</a:t>
            </a:r>
          </a:p>
          <a:p>
            <a:pPr eaLnBrk="0">
              <a:lnSpc>
                <a:spcPts val="2125"/>
              </a:lnSpc>
              <a:spcBef>
                <a:spcPts val="0"/>
              </a:spcBef>
              <a:spcAft>
                <a:spcPts val="0"/>
              </a:spcAft>
            </a:pPr>
            <a:r>
              <a:rPr sz="1700" b="1">
                <a:solidFill>
                  <a:srgbClr val="202124"/>
                </a:solidFill>
                <a:latin typeface="Century Gothic"/>
                <a:ea typeface="맑은 고딕"/>
              </a:rPr>
              <a:t>여행 지출 증빙 후 모바일</a:t>
            </a:r>
          </a:p>
          <a:p>
            <a:pPr eaLnBrk="0">
              <a:lnSpc>
                <a:spcPts val="2125"/>
              </a:lnSpc>
              <a:spcBef>
                <a:spcPts val="0"/>
              </a:spcBef>
              <a:spcAft>
                <a:spcPts val="0"/>
              </a:spcAft>
            </a:pPr>
            <a:r>
              <a:rPr sz="1700" b="1">
                <a:solidFill>
                  <a:srgbClr val="202124"/>
                </a:solidFill>
                <a:latin typeface="Century Gothic"/>
                <a:ea typeface="맑은 고딕"/>
              </a:rPr>
              <a:t>지역상품권 환급</a:t>
            </a:r>
          </a:p>
        </p:txBody>
      </p:sp>
      <p:sp xmlns:a="http://schemas.openxmlformats.org/drawingml/2006/main">
        <p:nvSpPr>
          <p:cNvPr id="11" name="case-body-0"/>
          <p:cNvSpPr txBox="1"/>
          <p:nvPr/>
        </p:nvSpPr>
        <p:spPr>
          <a:xfrm>
            <a:off x="1238250" y="4076700"/>
            <a:ext cx="3771900" cy="136207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Century Gothic"/>
                <a:ea typeface="맑은 고딕"/>
              </a:rPr>
              <a:t>관광객이 강진에서 사용한 숙박·식음·체험비</a:t>
            </a:r>
          </a:p>
          <a:p>
            <a:pPr eaLnBrk="0">
              <a:lnSpc>
                <a:spcPts val="1687"/>
              </a:lnSpc>
              <a:spcBef>
                <a:spcPts val="0"/>
              </a:spcBef>
              <a:spcAft>
                <a:spcPts val="0"/>
              </a:spcAft>
            </a:pPr>
            <a:r>
              <a:rPr sz="1350" b="0">
                <a:solidFill>
                  <a:srgbClr val="62666C"/>
                </a:solidFill>
                <a:latin typeface="Century Gothic"/>
                <a:ea typeface="맑은 고딕"/>
              </a:rPr>
              <a:t>등의 최대 50%를 모바일 강진사랑상품권으로</a:t>
            </a:r>
          </a:p>
          <a:p>
            <a:pPr eaLnBrk="0">
              <a:lnSpc>
                <a:spcPts val="1687"/>
              </a:lnSpc>
              <a:spcBef>
                <a:spcPts val="0"/>
              </a:spcBef>
              <a:spcAft>
                <a:spcPts val="0"/>
              </a:spcAft>
            </a:pPr>
            <a:r>
              <a:rPr sz="1350" b="0">
                <a:solidFill>
                  <a:srgbClr val="62666C"/>
                </a:solidFill>
                <a:latin typeface="Century Gothic"/>
                <a:ea typeface="맑은 고딕"/>
              </a:rPr>
              <a:t>돌려받고, 지급 상품권을 다시 지역 가맹점에서</a:t>
            </a:r>
          </a:p>
          <a:p>
            <a:pPr eaLnBrk="0">
              <a:lnSpc>
                <a:spcPts val="1687"/>
              </a:lnSpc>
              <a:spcBef>
                <a:spcPts val="0"/>
              </a:spcBef>
              <a:spcAft>
                <a:spcPts val="0"/>
              </a:spcAft>
            </a:pPr>
            <a:r>
              <a:rPr sz="1350" b="0">
                <a:solidFill>
                  <a:srgbClr val="62666C"/>
                </a:solidFill>
                <a:latin typeface="Century Gothic"/>
                <a:ea typeface="맑은 고딕"/>
              </a:rPr>
              <a:t>쓰도록 설계했다. 2026년에는 군비,</a:t>
            </a:r>
          </a:p>
          <a:p>
            <a:pPr eaLnBrk="0">
              <a:lnSpc>
                <a:spcPts val="1687"/>
              </a:lnSpc>
              <a:spcBef>
                <a:spcPts val="0"/>
              </a:spcBef>
              <a:spcAft>
                <a:spcPts val="0"/>
              </a:spcAft>
            </a:pPr>
            <a:r>
              <a:rPr sz="1350" b="0">
                <a:solidFill>
                  <a:srgbClr val="62666C"/>
                </a:solidFill>
                <a:latin typeface="Century Gothic"/>
                <a:ea typeface="맑은 고딕"/>
              </a:rPr>
              <a:t>지역사랑휴가지원사업, 지방소멸대응기금을</a:t>
            </a:r>
          </a:p>
          <a:p>
            <a:pPr eaLnBrk="0">
              <a:lnSpc>
                <a:spcPts val="1687"/>
              </a:lnSpc>
              <a:spcBef>
                <a:spcPts val="0"/>
              </a:spcBef>
              <a:spcAft>
                <a:spcPts val="0"/>
              </a:spcAft>
            </a:pPr>
            <a:r>
              <a:rPr sz="1350" b="0">
                <a:solidFill>
                  <a:srgbClr val="62666C"/>
                </a:solidFill>
                <a:latin typeface="Century Gothic"/>
                <a:ea typeface="맑은 고딕"/>
              </a:rPr>
              <a:t>결합해 연중 운영체계를 마련했다.</a:t>
            </a:r>
          </a:p>
        </p:txBody>
      </p:sp>
      <p:pic xmlns:a="http://schemas.openxmlformats.org/drawingml/2006/main" xmlns:r="http://schemas.openxmlformats.org/officeDocument/2006/relationships">
        <p:nvPicPr>
          <p:cNvPr id="12" name="case-photo-0" descr="gangjin_official.jpg"/>
          <p:cNvPicPr>
            <a:picLocks noChangeAspect="1"/>
          </p:cNvPicPr>
          <p:nvPr/>
        </p:nvPicPr>
        <p:blipFill>
          <a:blip r:embed="rId4"/>
          <a:stretch>
            <a:fillRect/>
          </a:stretch>
        </p:blipFill>
        <p:spPr>
          <a:xfrm>
            <a:off x="1518636" y="5457825"/>
            <a:ext cx="3211126" cy="1714500"/>
          </a:xfrm>
          <a:prstGeom prst="rect">
            <a:avLst/>
          </a:prstGeom>
        </p:spPr>
      </p:pic>
      <p:sp xmlns:a="http://schemas.openxmlformats.org/drawingml/2006/main">
        <p:nvSpPr>
          <p:cNvPr id="13" name="case-image-caption-0"/>
          <p:cNvSpPr txBox="1"/>
          <p:nvPr/>
        </p:nvSpPr>
        <p:spPr>
          <a:xfrm>
            <a:off x="12382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ns0="http://schemas.openxmlformats.org/officeDocument/2006/relationships" ns0:id="rId5"/>
                <a:ea typeface="맑은 고딕"/>
              </a:rPr>
              <a:t>다른 지역 참고 사진 · 강진군 · 반값여행 공식 홍보물</a:t>
            </a:r>
          </a:p>
          <a:p>
            <a:pPr eaLnBrk="0">
              <a:lnSpc>
                <a:spcPts val="1500"/>
              </a:lnSpc>
              <a:spcBef>
                <a:spcPts val="0"/>
              </a:spcBef>
              <a:spcAft>
                <a:spcPts val="0"/>
              </a:spcAft>
            </a:pPr>
            <a:r>
              <a:rPr sz="1050" b="0" u="none">
                <a:solidFill>
                  <a:srgbClr val="62666C"/>
                </a:solidFill>
                <a:latin typeface="Century Gothic"/>
                <a:hlinkClick xmlns:ns1="http://schemas.openxmlformats.org/officeDocument/2006/relationships" ns1:id="rId5"/>
                <a:ea typeface="맑은 고딕"/>
              </a:rPr>
              <a:t>출처: 강진 반값여행 공식 홈페이지</a:t>
            </a:r>
          </a:p>
        </p:txBody>
      </p:sp>
      <p:sp xmlns:a="http://schemas.openxmlformats.org/drawingml/2006/main">
        <p:nvSpPr>
          <p:cNvPr id="14" name="case-source-0"/>
          <p:cNvSpPr txBox="1"/>
          <p:nvPr/>
        </p:nvSpPr>
        <p:spPr>
          <a:xfrm>
            <a:off x="12382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2="http://schemas.openxmlformats.org/officeDocument/2006/relationships" ns2:id="rId6"/>
                <a:ea typeface="맑은 고딕"/>
              </a:rPr>
              <a:t>사업 원문 보기 ↗</a:t>
            </a:r>
          </a:p>
        </p:txBody>
      </p:sp>
      <p:sp xmlns:a="http://schemas.openxmlformats.org/drawingml/2006/main">
        <p:nvSpPr>
          <p:cNvPr id="15" name="case-panel-1"/>
          <p:cNvSpPr/>
          <p:nvPr/>
        </p:nvSpPr>
        <p:spPr>
          <a:xfrm>
            <a:off x="55054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case-number-1"/>
          <p:cNvSpPr txBox="1"/>
          <p:nvPr/>
        </p:nvSpPr>
        <p:spPr>
          <a:xfrm>
            <a:off x="57340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02</a:t>
            </a:r>
          </a:p>
        </p:txBody>
      </p:sp>
      <p:sp xmlns:a="http://schemas.openxmlformats.org/drawingml/2006/main">
        <p:nvSpPr>
          <p:cNvPr id="17" name="case-badge-1"/>
          <p:cNvSpPr txBox="1"/>
          <p:nvPr/>
        </p:nvSpPr>
        <p:spPr>
          <a:xfrm>
            <a:off x="64484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18" name="case-title-1"/>
          <p:cNvSpPr txBox="1"/>
          <p:nvPr/>
        </p:nvSpPr>
        <p:spPr>
          <a:xfrm>
            <a:off x="57340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경상북도 안동시 · 2025</a:t>
            </a:r>
          </a:p>
          <a:p>
            <a:pPr eaLnBrk="0">
              <a:lnSpc>
                <a:spcPts val="2125"/>
              </a:lnSpc>
              <a:spcBef>
                <a:spcPts val="0"/>
              </a:spcBef>
              <a:spcAft>
                <a:spcPts val="0"/>
              </a:spcAft>
            </a:pPr>
            <a:r>
              <a:rPr sz="1700" b="1">
                <a:solidFill>
                  <a:srgbClr val="202124"/>
                </a:solidFill>
                <a:latin typeface="Century Gothic"/>
                <a:ea typeface="맑은 고딕"/>
              </a:rPr>
              <a:t>안동탈춤축제: 10일간 집중 운영한</a:t>
            </a:r>
          </a:p>
          <a:p>
            <a:pPr eaLnBrk="0">
              <a:lnSpc>
                <a:spcPts val="2125"/>
              </a:lnSpc>
              <a:spcBef>
                <a:spcPts val="0"/>
              </a:spcBef>
              <a:spcAft>
                <a:spcPts val="0"/>
              </a:spcAft>
            </a:pPr>
            <a:r>
              <a:rPr sz="1700" b="1">
                <a:solidFill>
                  <a:srgbClr val="202124"/>
                </a:solidFill>
                <a:latin typeface="Century Gothic"/>
                <a:ea typeface="맑은 고딕"/>
              </a:rPr>
              <a:t>공연·문화형 축제</a:t>
            </a:r>
          </a:p>
        </p:txBody>
      </p:sp>
      <p:sp xmlns:a="http://schemas.openxmlformats.org/drawingml/2006/main">
        <p:nvSpPr>
          <p:cNvPr id="19" name="case-body-1"/>
          <p:cNvSpPr txBox="1"/>
          <p:nvPr/>
        </p:nvSpPr>
        <p:spPr>
          <a:xfrm>
            <a:off x="57340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2024→2025년 전체 504,573→554,494명</a:t>
            </a:r>
          </a:p>
          <a:p>
            <a:pPr eaLnBrk="0">
              <a:lnSpc>
                <a:spcPts val="1875"/>
              </a:lnSpc>
              <a:spcBef>
                <a:spcPts val="0"/>
              </a:spcBef>
              <a:spcAft>
                <a:spcPts val="0"/>
              </a:spcAft>
            </a:pPr>
            <a:r>
              <a:rPr sz="1500" b="0">
                <a:solidFill>
                  <a:srgbClr val="62666C"/>
                </a:solidFill>
                <a:latin typeface="Century Gothic"/>
                <a:ea typeface="맑은 고딕"/>
              </a:rPr>
              <a:t>(+9.89%). 개최 10→10일, 일평균 +9.89%,</a:t>
            </a:r>
          </a:p>
          <a:p>
            <a:pPr eaLnBrk="0">
              <a:lnSpc>
                <a:spcPts val="1875"/>
              </a:lnSpc>
              <a:spcBef>
                <a:spcPts val="0"/>
              </a:spcBef>
              <a:spcAft>
                <a:spcPts val="0"/>
              </a:spcAft>
            </a:pPr>
            <a:r>
              <a:rPr sz="1500" b="0">
                <a:solidFill>
                  <a:srgbClr val="62666C"/>
                </a:solidFill>
                <a:latin typeface="Century Gothic"/>
                <a:ea typeface="맑은 고딕"/>
              </a:rPr>
              <a:t>외지인 +10.75%. 축제 개최기간의 방문</a:t>
            </a:r>
          </a:p>
          <a:p>
            <a:pPr eaLnBrk="0">
              <a:lnSpc>
                <a:spcPts val="1875"/>
              </a:lnSpc>
              <a:spcBef>
                <a:spcPts val="0"/>
              </a:spcBef>
              <a:spcAft>
                <a:spcPts val="0"/>
              </a:spcAft>
            </a:pPr>
            <a:r>
              <a:rPr sz="1500" b="0">
                <a:solidFill>
                  <a:srgbClr val="62666C"/>
                </a:solidFill>
                <a:latin typeface="Century Gothic"/>
                <a:ea typeface="맑은 고딕"/>
              </a:rPr>
              <a:t>실적을 참고합니다.</a:t>
            </a:r>
          </a:p>
        </p:txBody>
      </p:sp>
      <p:pic xmlns:a="http://schemas.openxmlformats.org/drawingml/2006/main" xmlns:r="http://schemas.openxmlformats.org/officeDocument/2006/relationships">
        <p:nvPicPr>
          <p:cNvPr id="20" name="case-photo-1" descr="jeongdong_2024.jpg"/>
          <p:cNvPicPr>
            <a:picLocks noChangeAspect="1"/>
          </p:cNvPicPr>
          <p:nvPr/>
        </p:nvPicPr>
        <p:blipFill>
          <a:blip r:embed="rId7"/>
          <a:stretch>
            <a:fillRect/>
          </a:stretch>
        </p:blipFill>
        <p:spPr>
          <a:xfrm>
            <a:off x="6330902" y="5457825"/>
            <a:ext cx="2578195" cy="1714500"/>
          </a:xfrm>
          <a:prstGeom prst="rect">
            <a:avLst/>
          </a:prstGeom>
        </p:spPr>
      </p:pic>
      <p:sp xmlns:a="http://schemas.openxmlformats.org/drawingml/2006/main">
        <p:nvSpPr>
          <p:cNvPr id="21" name="case-image-caption-1"/>
          <p:cNvSpPr txBox="1"/>
          <p:nvPr/>
        </p:nvSpPr>
        <p:spPr>
          <a:xfrm>
            <a:off x="5734050" y="7353300"/>
            <a:ext cx="3771900" cy="552450"/>
          </a:xfrm>
          <a:prstGeom prst="rect">
            <a:avLst/>
          </a:prstGeom>
          <a:noFill/>
        </p:spPr>
        <p:txBody>
          <a:bodyPr wrap="none" lIns="57150" rIns="57150" tIns="38100" bIns="38100" anchor="t">
            <a:noAutofit/>
          </a:bodyPr>
          <a:lstStyle/>
          <a:p>
            <a:pPr eaLnBrk="0">
              <a:lnSpc>
                <a:spcPts val="1218"/>
              </a:lnSpc>
              <a:spcBef>
                <a:spcPts val="0"/>
              </a:spcBef>
              <a:spcAft>
                <a:spcPts val="0"/>
              </a:spcAft>
            </a:pPr>
            <a:r>
              <a:rPr sz="1050" b="0" u="none">
                <a:solidFill>
                  <a:srgbClr val="62666C"/>
                </a:solidFill>
                <a:latin typeface="Century Gothic"/>
                <a:hlinkClick xmlns:ns3="http://schemas.openxmlformats.org/officeDocument/2006/relationships" ns3:id="rId8"/>
                <a:ea typeface="맑은 고딕"/>
              </a:rPr>
              <a:t>다른 지역 참고 사진 · 서울 중구 정동야행 · 문화행사 참고 사진</a:t>
            </a:r>
          </a:p>
          <a:p>
            <a:pPr eaLnBrk="0">
              <a:lnSpc>
                <a:spcPts val="1218"/>
              </a:lnSpc>
              <a:spcBef>
                <a:spcPts val="0"/>
              </a:spcBef>
              <a:spcAft>
                <a:spcPts val="0"/>
              </a:spcAft>
            </a:pPr>
            <a:r>
              <a:rPr sz="1050" b="0" u="none">
                <a:solidFill>
                  <a:srgbClr val="62666C"/>
                </a:solidFill>
                <a:latin typeface="Century Gothic"/>
                <a:hlinkClick xmlns:ns4="http://schemas.openxmlformats.org/officeDocument/2006/relationships" ns4:id="rId8"/>
                <a:ea typeface="맑은 고딕"/>
              </a:rPr>
              <a:t>출처: 서울문화포털 · 2024 정동야행</a:t>
            </a:r>
          </a:p>
        </p:txBody>
      </p:sp>
      <p:sp xmlns:a="http://schemas.openxmlformats.org/drawingml/2006/main">
        <p:nvSpPr>
          <p:cNvPr id="22" name="case-source-1"/>
          <p:cNvSpPr txBox="1"/>
          <p:nvPr/>
        </p:nvSpPr>
        <p:spPr>
          <a:xfrm>
            <a:off x="57340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5="http://schemas.openxmlformats.org/officeDocument/2006/relationships" ns5:id="rId9"/>
                <a:ea typeface="맑은 고딕"/>
              </a:rPr>
              <a:t>사업 원문 보기 ↗</a:t>
            </a:r>
          </a:p>
        </p:txBody>
      </p:sp>
      <p:sp xmlns:a="http://schemas.openxmlformats.org/drawingml/2006/main">
        <p:nvSpPr>
          <p:cNvPr id="23" name="case-panel-2"/>
          <p:cNvSpPr/>
          <p:nvPr/>
        </p:nvSpPr>
        <p:spPr>
          <a:xfrm>
            <a:off x="100012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ase-number-2"/>
          <p:cNvSpPr txBox="1"/>
          <p:nvPr/>
        </p:nvSpPr>
        <p:spPr>
          <a:xfrm>
            <a:off x="102298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03</a:t>
            </a:r>
          </a:p>
        </p:txBody>
      </p:sp>
      <p:sp xmlns:a="http://schemas.openxmlformats.org/drawingml/2006/main">
        <p:nvSpPr>
          <p:cNvPr id="25" name="case-badge-2"/>
          <p:cNvSpPr txBox="1"/>
          <p:nvPr/>
        </p:nvSpPr>
        <p:spPr>
          <a:xfrm>
            <a:off x="109442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26" name="case-title-2"/>
          <p:cNvSpPr txBox="1"/>
          <p:nvPr/>
        </p:nvSpPr>
        <p:spPr>
          <a:xfrm>
            <a:off x="10229850" y="2886075"/>
            <a:ext cx="3771900" cy="1028700"/>
          </a:xfrm>
          <a:prstGeom prst="rect">
            <a:avLst/>
          </a:prstGeom>
          <a:noFill/>
        </p:spPr>
        <p:txBody>
          <a:bodyPr wrap="none" lIns="57150" rIns="57150" tIns="38100" bIns="38100" anchor="t">
            <a:noAutofit/>
          </a:bodyPr>
          <a:lstStyle/>
          <a:p>
            <a:pPr eaLnBrk="0">
              <a:lnSpc>
                <a:spcPts val="1984"/>
              </a:lnSpc>
              <a:spcBef>
                <a:spcPts val="0"/>
              </a:spcBef>
              <a:spcAft>
                <a:spcPts val="0"/>
              </a:spcAft>
            </a:pPr>
            <a:r>
              <a:rPr sz="1587" b="1">
                <a:solidFill>
                  <a:srgbClr val="202124"/>
                </a:solidFill>
                <a:latin typeface="Century Gothic"/>
                <a:ea typeface="맑은 고딕"/>
              </a:rPr>
              <a:t>청주공항과 충청권 주요 관광지 연계 권역</a:t>
            </a:r>
          </a:p>
          <a:p>
            <a:pPr eaLnBrk="0">
              <a:lnSpc>
                <a:spcPts val="1984"/>
              </a:lnSpc>
              <a:spcBef>
                <a:spcPts val="0"/>
              </a:spcBef>
              <a:spcAft>
                <a:spcPts val="0"/>
              </a:spcAft>
            </a:pPr>
            <a:r>
              <a:rPr sz="1587" b="1">
                <a:solidFill>
                  <a:srgbClr val="202124"/>
                </a:solidFill>
                <a:latin typeface="Century Gothic"/>
                <a:ea typeface="맑은 고딕"/>
              </a:rPr>
              <a:t>· 청주공항·오송역·공주·부여 연계 광역</a:t>
            </a:r>
          </a:p>
          <a:p>
            <a:pPr eaLnBrk="0">
              <a:lnSpc>
                <a:spcPts val="1984"/>
              </a:lnSpc>
              <a:spcBef>
                <a:spcPts val="0"/>
              </a:spcBef>
              <a:spcAft>
                <a:spcPts val="0"/>
              </a:spcAft>
            </a:pPr>
            <a:r>
              <a:rPr sz="1587" b="1">
                <a:solidFill>
                  <a:srgbClr val="202124"/>
                </a:solidFill>
                <a:latin typeface="Century Gothic"/>
                <a:ea typeface="맑은 고딕"/>
              </a:rPr>
              <a:t>순환버스 및 수요응답형교통(DRT)</a:t>
            </a:r>
          </a:p>
        </p:txBody>
      </p:sp>
      <p:sp xmlns:a="http://schemas.openxmlformats.org/drawingml/2006/main">
        <p:nvSpPr>
          <p:cNvPr id="27" name="case-body-2"/>
          <p:cNvSpPr txBox="1"/>
          <p:nvPr/>
        </p:nvSpPr>
        <p:spPr>
          <a:xfrm>
            <a:off x="10229850" y="4076700"/>
            <a:ext cx="3771900" cy="1362075"/>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62666C"/>
                </a:solidFill>
                <a:latin typeface="Century Gothic"/>
                <a:ea typeface="맑은 고딕"/>
              </a:rPr>
              <a:t>한국관광공사, 충청남도·충청북도, 지역</a:t>
            </a:r>
          </a:p>
          <a:p>
            <a:pPr eaLnBrk="0">
              <a:lnSpc>
                <a:spcPts val="1593"/>
              </a:lnSpc>
              <a:spcBef>
                <a:spcPts val="0"/>
              </a:spcBef>
              <a:spcAft>
                <a:spcPts val="0"/>
              </a:spcAft>
            </a:pPr>
            <a:r>
              <a:rPr sz="1275" b="0">
                <a:solidFill>
                  <a:srgbClr val="62666C"/>
                </a:solidFill>
                <a:latin typeface="Century Gothic"/>
                <a:ea typeface="맑은 고딕"/>
              </a:rPr>
              <a:t>관광조직이 협업해 청주공항, 오송역, 공주터미널,</a:t>
            </a:r>
          </a:p>
          <a:p>
            <a:pPr eaLnBrk="0">
              <a:lnSpc>
                <a:spcPts val="1593"/>
              </a:lnSpc>
              <a:spcBef>
                <a:spcPts val="0"/>
              </a:spcBef>
              <a:spcAft>
                <a:spcPts val="0"/>
              </a:spcAft>
            </a:pPr>
            <a:r>
              <a:rPr sz="1275" b="0">
                <a:solidFill>
                  <a:srgbClr val="62666C"/>
                </a:solidFill>
                <a:latin typeface="Century Gothic"/>
                <a:ea typeface="맑은 고딕"/>
              </a:rPr>
              <a:t>부여터미널 등 주요 거점을 연결하는 순환버스와</a:t>
            </a:r>
          </a:p>
          <a:p>
            <a:pPr eaLnBrk="0">
              <a:lnSpc>
                <a:spcPts val="1593"/>
              </a:lnSpc>
              <a:spcBef>
                <a:spcPts val="0"/>
              </a:spcBef>
              <a:spcAft>
                <a:spcPts val="0"/>
              </a:spcAft>
            </a:pPr>
            <a:r>
              <a:rPr sz="1275" b="0">
                <a:solidFill>
                  <a:srgbClr val="62666C"/>
                </a:solidFill>
                <a:latin typeface="Century Gothic"/>
                <a:ea typeface="맑은 고딕"/>
              </a:rPr>
              <a:t>수요응답형 버스를 운영했다. 공항 유입을 개별</a:t>
            </a:r>
          </a:p>
          <a:p>
            <a:pPr eaLnBrk="0">
              <a:lnSpc>
                <a:spcPts val="1593"/>
              </a:lnSpc>
              <a:spcBef>
                <a:spcPts val="0"/>
              </a:spcBef>
              <a:spcAft>
                <a:spcPts val="0"/>
              </a:spcAft>
            </a:pPr>
            <a:r>
              <a:rPr sz="1275" b="0">
                <a:solidFill>
                  <a:srgbClr val="62666C"/>
                </a:solidFill>
                <a:latin typeface="Century Gothic"/>
                <a:ea typeface="맑은 고딕"/>
              </a:rPr>
              <a:t>도시 홍보에 그치지 않고 교통·숙박·쇼핑·식당을</a:t>
            </a:r>
          </a:p>
          <a:p>
            <a:pPr eaLnBrk="0">
              <a:lnSpc>
                <a:spcPts val="1593"/>
              </a:lnSpc>
              <a:spcBef>
                <a:spcPts val="0"/>
              </a:spcBef>
              <a:spcAft>
                <a:spcPts val="0"/>
              </a:spcAft>
            </a:pPr>
            <a:r>
              <a:rPr sz="1275" b="0">
                <a:solidFill>
                  <a:srgbClr val="62666C"/>
                </a:solidFill>
                <a:latin typeface="Century Gothic"/>
                <a:ea typeface="맑은 고딕"/>
              </a:rPr>
              <a:t>포함한 권역 상품으로 연결하는 구조다.</a:t>
            </a:r>
          </a:p>
        </p:txBody>
      </p:sp>
      <p:pic xmlns:a="http://schemas.openxmlformats.org/drawingml/2006/main" xmlns:r="http://schemas.openxmlformats.org/officeDocument/2006/relationships">
        <p:nvPicPr>
          <p:cNvPr id="28" name="case-photo-2" descr="digital_official.jpg"/>
          <p:cNvPicPr>
            <a:picLocks noChangeAspect="1"/>
          </p:cNvPicPr>
          <p:nvPr/>
        </p:nvPicPr>
        <p:blipFill>
          <a:blip r:embed="rId10"/>
          <a:stretch>
            <a:fillRect/>
          </a:stretch>
        </p:blipFill>
        <p:spPr>
          <a:xfrm>
            <a:off x="11430000" y="5457825"/>
            <a:ext cx="1371600" cy="1714500"/>
          </a:xfrm>
          <a:prstGeom prst="rect">
            <a:avLst/>
          </a:prstGeom>
        </p:spPr>
      </p:pic>
      <p:sp xmlns:a="http://schemas.openxmlformats.org/drawingml/2006/main">
        <p:nvSpPr>
          <p:cNvPr id="29" name="case-image-caption-2"/>
          <p:cNvSpPr txBox="1"/>
          <p:nvPr/>
        </p:nvSpPr>
        <p:spPr>
          <a:xfrm>
            <a:off x="10229850" y="7353300"/>
            <a:ext cx="3771900" cy="552450"/>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050" b="0" u="none">
                <a:solidFill>
                  <a:srgbClr val="62666C"/>
                </a:solidFill>
                <a:latin typeface="Century Gothic"/>
                <a:hlinkClick xmlns:ns6="http://schemas.openxmlformats.org/officeDocument/2006/relationships" ns6:id="rId11"/>
                <a:ea typeface="맑은 고딕"/>
              </a:rPr>
              <a:t>다른 지역 참고 사진 · 전국 · 디지털 관광주민증 홍보물</a:t>
            </a:r>
          </a:p>
          <a:p>
            <a:pPr eaLnBrk="0">
              <a:lnSpc>
                <a:spcPts val="1406"/>
              </a:lnSpc>
              <a:spcBef>
                <a:spcPts val="0"/>
              </a:spcBef>
              <a:spcAft>
                <a:spcPts val="0"/>
              </a:spcAft>
            </a:pPr>
            <a:r>
              <a:rPr sz="1050" b="0" u="none">
                <a:solidFill>
                  <a:srgbClr val="62666C"/>
                </a:solidFill>
                <a:latin typeface="Century Gothic"/>
                <a:hlinkClick xmlns:ns7="http://schemas.openxmlformats.org/officeDocument/2006/relationships" ns7:id="rId11"/>
                <a:ea typeface="맑은 고딕"/>
              </a:rPr>
              <a:t>출처: 대한민국 정책브리핑 (2025)</a:t>
            </a:r>
          </a:p>
        </p:txBody>
      </p:sp>
      <p:sp xmlns:a="http://schemas.openxmlformats.org/drawingml/2006/main">
        <p:nvSpPr>
          <p:cNvPr id="30" name="case-source-2"/>
          <p:cNvSpPr txBox="1"/>
          <p:nvPr/>
        </p:nvSpPr>
        <p:spPr>
          <a:xfrm>
            <a:off x="102298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8="http://schemas.openxmlformats.org/officeDocument/2006/relationships" ns8:id="rId12"/>
                <a:ea typeface="맑은 고딕"/>
              </a:rPr>
              <a:t>사업 원문 보기 ↗</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000" b="1">
                <a:solidFill>
                  <a:srgbClr val="F50045"/>
                </a:solidFill>
                <a:latin typeface="Century Gothic"/>
                <a:ea typeface="맑은 고딕"/>
              </a:rPr>
              <a:t>2. 지역별 사례</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05 / 17</a:t>
            </a:r>
          </a:p>
        </p:txBody>
      </p:sp>
    </p:spTree>
    <p:extLst>
      <p:ext uri="{BB962C8B-B14F-4D97-AF65-F5344CB8AC3E}">
        <p14:creationId xmlns:p14="http://schemas.microsoft.com/office/powerpoint/2010/main" val="930694367"/>
      </p:ext>
    </p:extLst>
  </p:cSld>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2.2 참고 사례 운영 방식</a:t>
            </a:r>
          </a:p>
        </p:txBody>
      </p:sp>
      <p:sp>
        <p:nvSpPr>
          <p:cNvPr id="4" name="result-title"/>
          <p:cNvSpPr txBox="1"/>
          <p:nvPr/>
        </p:nvSpPr>
        <p:spPr>
          <a:xfrm>
            <a:off x="1009650" y="1543050"/>
            <a:ext cx="13220700" cy="552450"/>
          </a:xfrm>
          <a:prstGeom prst="rect">
            <a:avLst/>
          </a:prstGeom>
          <a:noFill/>
        </p:spPr>
        <p:txBody>
          <a:bodyPr wrap="none" lIns="57150" rIns="57150" tIns="38100" bIns="38100" anchor="ctr">
            <a:noAutofit/>
          </a:bodyPr>
          <a:lstStyle/>
          <a:p>
            <a:pPr eaLnBrk="0" algn="ctr">
              <a:lnSpc>
                <a:spcPts val="2812"/>
              </a:lnSpc>
              <a:spcBef>
                <a:spcPts val="0"/>
              </a:spcBef>
              <a:spcAft>
                <a:spcPts val="0"/>
              </a:spcAft>
            </a:pPr>
            <a:r>
              <a:rPr sz="2250" b="1">
                <a:solidFill>
                  <a:srgbClr val="F50045"/>
                </a:solidFill>
                <a:latin typeface="Noto Sans KR"/>
              </a:rPr>
              <a:t>전라남도 강진군 · 강진 반값여행: 여행 지출 증빙 후 모바일 지역상품권 환급</a:t>
            </a:r>
          </a:p>
        </p:txBody>
      </p:sp>
      <p:sp>
        <p:nvSpPr>
          <p:cNvPr id="5" name="result-scope"/>
          <p:cNvSpPr txBox="1"/>
          <p:nvPr/>
        </p:nvSpPr>
        <p:spPr>
          <a:xfrm>
            <a:off x="1009650" y="215265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공식 자료에서 확인한 운영 사례</a:t>
            </a:r>
          </a:p>
        </p:txBody>
      </p:sp>
      <p:sp>
        <p:nvSpPr>
          <p:cNvPr id="6" name="result-photo-panel"/>
          <p:cNvSpPr/>
          <p:nvPr/>
        </p:nvSpPr>
        <p:spPr>
          <a:xfrm>
            <a:off x="1009650" y="3003232"/>
            <a:ext cx="5581650" cy="28660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result-photo" descr="gangjin_official.jpg"/>
          <p:cNvPicPr>
            <a:picLocks noChangeAspect="1"/>
          </p:cNvPicPr>
          <p:nvPr/>
        </p:nvPicPr>
        <p:blipFill>
          <a:blip r:embed="rId3"/>
          <a:stretch>
            <a:fillRect/>
          </a:stretch>
        </p:blipFill>
        <p:spPr>
          <a:xfrm>
            <a:off x="1428274" y="3169691"/>
            <a:ext cx="4744402" cy="2533154"/>
          </a:xfrm>
          <a:prstGeom prst="rect">
            <a:avLst/>
          </a:prstGeom>
        </p:spPr>
      </p:pic>
      <p:sp>
        <p:nvSpPr>
          <p:cNvPr id="9" name="result-operation-label"/>
          <p:cNvSpPr txBox="1"/>
          <p:nvPr/>
        </p:nvSpPr>
        <p:spPr>
          <a:xfrm>
            <a:off x="7172325" y="2962751"/>
            <a:ext cx="7058025" cy="396716"/>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26323C"/>
                </a:solidFill>
                <a:latin typeface="Noto Sans KR"/>
              </a:rPr>
              <a:t>사례에서 참고한 이용 흐름</a:t>
            </a:r>
          </a:p>
        </p:txBody>
      </p:sp>
      <p:sp>
        <p:nvSpPr>
          <p:cNvPr id="10" name="result-flow-panel-0"/>
          <p:cNvSpPr/>
          <p:nvPr/>
        </p:nvSpPr>
        <p:spPr>
          <a:xfrm>
            <a:off x="7172325" y="3489008"/>
            <a:ext cx="7058025" cy="663892"/>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result-flow-icon-0" descr="coins-jade.png"/>
          <p:cNvPicPr>
            <a:picLocks noChangeAspect="1"/>
          </p:cNvPicPr>
          <p:nvPr/>
        </p:nvPicPr>
        <p:blipFill>
          <a:blip r:embed="rId5"/>
          <a:stretch>
            <a:fillRect/>
          </a:stretch>
        </p:blipFill>
        <p:spPr>
          <a:xfrm>
            <a:off x="7397115" y="3610451"/>
            <a:ext cx="388620" cy="388620"/>
          </a:xfrm>
          <a:prstGeom prst="rect">
            <a:avLst/>
          </a:prstGeom>
        </p:spPr>
      </p:pic>
      <p:sp>
        <p:nvSpPr>
          <p:cNvPr id="12" name="result-flow-title-0"/>
          <p:cNvSpPr txBox="1"/>
          <p:nvPr/>
        </p:nvSpPr>
        <p:spPr>
          <a:xfrm>
            <a:off x="7981950" y="3569970"/>
            <a:ext cx="5981700" cy="242888"/>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26323C"/>
                </a:solidFill>
                <a:latin typeface="Noto Sans KR"/>
              </a:rPr>
              <a:t>지역에서 소비</a:t>
            </a:r>
          </a:p>
        </p:txBody>
      </p:sp>
      <p:sp>
        <p:nvSpPr>
          <p:cNvPr id="13" name="result-flow-detail-0"/>
          <p:cNvSpPr txBox="1"/>
          <p:nvPr/>
        </p:nvSpPr>
        <p:spPr>
          <a:xfrm>
            <a:off x="7981950" y="3853339"/>
            <a:ext cx="5981700" cy="22669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여행자가 지역 내에서 지출</a:t>
            </a:r>
          </a:p>
        </p:txBody>
      </p:sp>
      <p:cxnSp>
        <p:nvCxnSpPr>
          <p:cNvPr id="14" name="result-flow-arrow-0-0"/>
          <p:cNvCxnSpPr/>
          <p:nvPr/>
        </p:nvCxnSpPr>
        <p:spPr>
          <a:xfrm>
            <a:off x="7591425" y="4160996"/>
            <a:ext cx="0" cy="113348"/>
          </a:xfrm>
          <a:prstGeom prst="line">
            <a:avLst/>
          </a:prstGeom>
          <a:ln w="21590">
            <a:solidFill>
              <a:srgbClr val="839BA7"/>
            </a:solidFill>
            <a:tailEnd type="triangle"/>
          </a:ln>
        </p:spPr>
        <p:style>
          <a:lnRef idx="2">
            <a:schemeClr val="accent1"/>
          </a:lnRef>
          <a:fillRef idx="0">
            <a:schemeClr val="accent1"/>
          </a:fillRef>
          <a:effectRef idx="1">
            <a:schemeClr val="accent1"/>
          </a:effectRef>
          <a:fontRef idx="minor">
            <a:schemeClr val="tx1"/>
          </a:fontRef>
        </p:style>
      </p:cxnSp>
      <p:sp>
        <p:nvSpPr>
          <p:cNvPr id="15" name="result-flow-panel-1"/>
          <p:cNvSpPr/>
          <p:nvPr/>
        </p:nvSpPr>
        <p:spPr>
          <a:xfrm>
            <a:off x="7172325" y="4282440"/>
            <a:ext cx="7058025" cy="663892"/>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result-flow-icon-1" descr="files-red.png"/>
          <p:cNvPicPr>
            <a:picLocks noChangeAspect="1"/>
          </p:cNvPicPr>
          <p:nvPr/>
        </p:nvPicPr>
        <p:blipFill>
          <a:blip r:embed="rId9"/>
          <a:stretch>
            <a:fillRect/>
          </a:stretch>
        </p:blipFill>
        <p:spPr>
          <a:xfrm>
            <a:off x="7397115" y="4403884"/>
            <a:ext cx="388620" cy="388620"/>
          </a:xfrm>
          <a:prstGeom prst="rect">
            <a:avLst/>
          </a:prstGeom>
        </p:spPr>
      </p:pic>
      <p:sp>
        <p:nvSpPr>
          <p:cNvPr id="17" name="result-flow-title-1"/>
          <p:cNvSpPr txBox="1"/>
          <p:nvPr/>
        </p:nvSpPr>
        <p:spPr>
          <a:xfrm>
            <a:off x="7981950" y="4363402"/>
            <a:ext cx="5981700" cy="242888"/>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26323C"/>
                </a:solidFill>
                <a:latin typeface="Noto Sans KR"/>
              </a:rPr>
              <a:t>혜택을 환급</a:t>
            </a:r>
          </a:p>
        </p:txBody>
      </p:sp>
      <p:sp>
        <p:nvSpPr>
          <p:cNvPr id="18" name="result-flow-detail-1"/>
          <p:cNvSpPr txBox="1"/>
          <p:nvPr/>
        </p:nvSpPr>
        <p:spPr>
          <a:xfrm>
            <a:off x="7981950" y="4646771"/>
            <a:ext cx="5981700" cy="22669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지출 일부를 상품권으로 지급</a:t>
            </a:r>
          </a:p>
        </p:txBody>
      </p:sp>
      <p:cxnSp>
        <p:nvCxnSpPr>
          <p:cNvPr id="19" name="result-flow-arrow-1-0"/>
          <p:cNvCxnSpPr/>
          <p:nvPr/>
        </p:nvCxnSpPr>
        <p:spPr>
          <a:xfrm>
            <a:off x="7591425" y="4954429"/>
            <a:ext cx="0" cy="113348"/>
          </a:xfrm>
          <a:prstGeom prst="line">
            <a:avLst/>
          </a:prstGeom>
          <a:ln w="21590">
            <a:solidFill>
              <a:srgbClr val="839BA7"/>
            </a:solidFill>
            <a:tailEnd type="triangle"/>
          </a:ln>
        </p:spPr>
        <p:style>
          <a:lnRef idx="2">
            <a:schemeClr val="accent1"/>
          </a:lnRef>
          <a:fillRef idx="0">
            <a:schemeClr val="accent1"/>
          </a:fillRef>
          <a:effectRef idx="1">
            <a:schemeClr val="accent1"/>
          </a:effectRef>
          <a:fontRef idx="minor">
            <a:schemeClr val="tx1"/>
          </a:fontRef>
        </p:style>
      </p:cxnSp>
      <p:sp>
        <p:nvSpPr>
          <p:cNvPr id="20" name="result-flow-panel-2"/>
          <p:cNvSpPr/>
          <p:nvPr/>
        </p:nvSpPr>
        <p:spPr>
          <a:xfrm>
            <a:off x="7172325" y="5075872"/>
            <a:ext cx="7058025" cy="663892"/>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result-flow-icon-2" descr="map-pinned-ocean.png"/>
          <p:cNvPicPr>
            <a:picLocks noChangeAspect="1"/>
          </p:cNvPicPr>
          <p:nvPr/>
        </p:nvPicPr>
        <p:blipFill>
          <a:blip r:embed="rId7"/>
          <a:stretch>
            <a:fillRect/>
          </a:stretch>
        </p:blipFill>
        <p:spPr>
          <a:xfrm>
            <a:off x="7397115" y="5197316"/>
            <a:ext cx="388620" cy="388620"/>
          </a:xfrm>
          <a:prstGeom prst="rect">
            <a:avLst/>
          </a:prstGeom>
        </p:spPr>
      </p:pic>
      <p:sp>
        <p:nvSpPr>
          <p:cNvPr id="22" name="result-flow-title-2"/>
          <p:cNvSpPr txBox="1"/>
          <p:nvPr/>
        </p:nvSpPr>
        <p:spPr>
          <a:xfrm>
            <a:off x="7981950" y="5156835"/>
            <a:ext cx="5981700" cy="242888"/>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26323C"/>
                </a:solidFill>
                <a:latin typeface="Noto Sans KR"/>
              </a:rPr>
              <a:t>지역 상점 재이용</a:t>
            </a:r>
          </a:p>
        </p:txBody>
      </p:sp>
      <p:sp>
        <p:nvSpPr>
          <p:cNvPr id="23" name="result-flow-detail-2"/>
          <p:cNvSpPr txBox="1"/>
          <p:nvPr/>
        </p:nvSpPr>
        <p:spPr>
          <a:xfrm>
            <a:off x="7981950" y="5440204"/>
            <a:ext cx="5981700" cy="22669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받은 혜택을 지역에서 다시 사용</a:t>
            </a:r>
          </a:p>
        </p:txBody>
      </p:sp>
      <p:sp>
        <p:nvSpPr>
          <p:cNvPr id="28"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지역별 사례</a:t>
            </a:r>
          </a:p>
        </p:txBody>
      </p:sp>
      <p:sp>
        <p:nvSpPr>
          <p:cNvPr id="29"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06 / 17</a:t>
            </a:r>
          </a:p>
        </p:txBody>
      </p:sp>
      <p:sp>
        <p:nvSpPr>
          <p:cNvPr id="32" name="result-photo-source-bg"/>
          <p:cNvSpPr/>
          <p:nvPr/>
        </p:nvSpPr>
        <p:spPr>
          <a:xfrm>
            <a:off x="1123950" y="5119915"/>
            <a:ext cx="5353050" cy="485775"/>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sult-photo-source">
            <a:hlinkClick r:id="rId4"/>
          </p:cNvPr>
          <p:cNvSpPr txBox="1"/>
          <p:nvPr/>
        </p:nvSpPr>
        <p:spPr>
          <a:xfrm>
            <a:off x="1238250" y="5152300"/>
            <a:ext cx="5124450" cy="421005"/>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다른 지역 참고 사진 · 강진군 · 반값여행 공식 홍보물</a:t>
            </a:r>
          </a:p>
          <a:p>
            <a:pPr eaLnBrk="0" algn="ctr">
              <a:lnSpc>
                <a:spcPts val="1593"/>
              </a:lnSpc>
              <a:spcBef>
                <a:spcPts val="0"/>
              </a:spcBef>
              <a:spcAft>
                <a:spcPts val="0"/>
              </a:spcAft>
            </a:pPr>
            <a:r>
              <a:rPr sz="1275" b="0">
                <a:solidFill>
                  <a:srgbClr val="FFFFFF"/>
                </a:solidFill>
                <a:latin typeface="Noto Sans KR"/>
              </a:rPr>
              <a:t>출처: 강진 반값여행 공식 홈페이지</a:t>
            </a:r>
          </a:p>
        </p:txBody>
      </p:sp>
      <p:sp>
        <p:nvSpPr>
          <p:cNvPr id="34" name="case-adaptation-card-0"/>
          <p:cNvSpPr/>
          <p:nvPr/>
        </p:nvSpPr>
        <p:spPr>
          <a:xfrm>
            <a:off x="1009650" y="6257925"/>
            <a:ext cx="4229100" cy="184785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ase-adaptation-label-0"/>
          <p:cNvSpPr txBox="1"/>
          <p:nvPr/>
        </p:nvSpPr>
        <p:spPr>
          <a:xfrm>
            <a:off x="1190625" y="6419850"/>
            <a:ext cx="3867150" cy="323850"/>
          </a:xfrm>
          <a:prstGeom prst="rect">
            <a:avLst/>
          </a:prstGeom>
          <a:noFill/>
        </p:spPr>
        <p:txBody>
          <a:bodyPr wrap="none" lIns="57150" rIns="57150" tIns="38100" bIns="38100" anchor="t">
            <a:noAutofit/>
          </a:bodyPr>
          <a:lstStyle/>
          <a:p>
            <a:pPr eaLnBrk="0">
              <a:lnSpc>
                <a:spcPts val="1921"/>
              </a:lnSpc>
              <a:spcBef>
                <a:spcPts val="0"/>
              </a:spcBef>
              <a:spcAft>
                <a:spcPts val="0"/>
              </a:spcAft>
            </a:pPr>
            <a:r>
              <a:rPr sz="1537" b="1">
                <a:solidFill>
                  <a:srgbClr val="137E7A"/>
                </a:solidFill>
                <a:latin typeface="Noto Sans KR"/>
              </a:rPr>
              <a:t>우리 지역의 관광 신호</a:t>
            </a:r>
          </a:p>
        </p:txBody>
      </p:sp>
      <p:sp>
        <p:nvSpPr>
          <p:cNvPr id="36" name="case-adaptation-body-0"/>
          <p:cNvSpPr txBox="1"/>
          <p:nvPr/>
        </p:nvSpPr>
        <p:spPr>
          <a:xfrm>
            <a:off x="1190625" y="6877050"/>
            <a:ext cx="3867150" cy="10382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46515C"/>
                </a:solidFill>
                <a:latin typeface="Noto Sans KR"/>
              </a:rPr>
              <a:t>관광소비액 전망 · +4.49%</a:t>
            </a:r>
          </a:p>
          <a:p>
            <a:pPr eaLnBrk="0">
              <a:lnSpc>
                <a:spcPts val="1875"/>
              </a:lnSpc>
              <a:spcBef>
                <a:spcPts val="0"/>
              </a:spcBef>
              <a:spcAft>
                <a:spcPts val="0"/>
              </a:spcAft>
            </a:pPr>
            <a:r>
              <a:rPr sz="1500" b="0">
                <a:solidFill>
                  <a:srgbClr val="46515C"/>
                </a:solidFill>
                <a:latin typeface="Noto Sans KR"/>
              </a:rPr>
              <a:t>업종별 소비 비중 · 쇼핑 43.0%,</a:t>
            </a:r>
          </a:p>
          <a:p>
            <a:pPr eaLnBrk="0">
              <a:lnSpc>
                <a:spcPts val="1875"/>
              </a:lnSpc>
              <a:spcBef>
                <a:spcPts val="0"/>
              </a:spcBef>
              <a:spcAft>
                <a:spcPts val="0"/>
              </a:spcAft>
            </a:pPr>
            <a:r>
              <a:rPr sz="1500" b="0">
                <a:solidFill>
                  <a:srgbClr val="46515C"/>
                </a:solidFill>
                <a:latin typeface="Noto Sans KR"/>
              </a:rPr>
              <a:t>식음료업 39.7%</a:t>
            </a:r>
          </a:p>
          <a:p>
            <a:pPr eaLnBrk="0">
              <a:lnSpc>
                <a:spcPts val="1875"/>
              </a:lnSpc>
              <a:spcBef>
                <a:spcPts val="0"/>
              </a:spcBef>
              <a:spcAft>
                <a:spcPts val="0"/>
              </a:spcAft>
            </a:pPr>
            <a:r>
              <a:rPr sz="1500" b="0">
                <a:solidFill>
                  <a:srgbClr val="46515C"/>
                </a:solidFill>
                <a:latin typeface="Noto Sans KR"/>
              </a:rPr>
              <a:t>숙박 특성 · 숙박 비율 7.57%, 숙박일수 2.82일</a:t>
            </a:r>
          </a:p>
        </p:txBody>
      </p:sp>
      <p:sp>
        <p:nvSpPr>
          <p:cNvPr id="37" name="case-adaptation-card-1"/>
          <p:cNvSpPr/>
          <p:nvPr/>
        </p:nvSpPr>
        <p:spPr>
          <a:xfrm>
            <a:off x="5505450" y="6257925"/>
            <a:ext cx="4229100" cy="184785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ase-adaptation-label-1"/>
          <p:cNvSpPr txBox="1"/>
          <p:nvPr/>
        </p:nvSpPr>
        <p:spPr>
          <a:xfrm>
            <a:off x="5686425" y="6419850"/>
            <a:ext cx="3867150" cy="323850"/>
          </a:xfrm>
          <a:prstGeom prst="rect">
            <a:avLst/>
          </a:prstGeom>
          <a:noFill/>
        </p:spPr>
        <p:txBody>
          <a:bodyPr wrap="none" lIns="57150" rIns="57150" tIns="38100" bIns="38100" anchor="t">
            <a:noAutofit/>
          </a:bodyPr>
          <a:lstStyle/>
          <a:p>
            <a:pPr eaLnBrk="0">
              <a:lnSpc>
                <a:spcPts val="1921"/>
              </a:lnSpc>
              <a:spcBef>
                <a:spcPts val="0"/>
              </a:spcBef>
              <a:spcAft>
                <a:spcPts val="0"/>
              </a:spcAft>
            </a:pPr>
            <a:r>
              <a:rPr sz="1537" b="1">
                <a:solidFill>
                  <a:srgbClr val="137E7A"/>
                </a:solidFill>
                <a:latin typeface="Noto Sans KR"/>
              </a:rPr>
              <a:t>이 사례를 선택한 이유</a:t>
            </a:r>
          </a:p>
        </p:txBody>
      </p:sp>
      <p:sp>
        <p:nvSpPr>
          <p:cNvPr id="39" name="case-adaptation-body-1"/>
          <p:cNvSpPr txBox="1"/>
          <p:nvPr/>
        </p:nvSpPr>
        <p:spPr>
          <a:xfrm>
            <a:off x="5686425" y="6877050"/>
            <a:ext cx="3867150" cy="10382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46515C"/>
                </a:solidFill>
                <a:latin typeface="Noto Sans KR"/>
              </a:rPr>
              <a:t>2026년 10~12월 전망된 관광소비액 증가</a:t>
            </a:r>
          </a:p>
          <a:p>
            <a:pPr eaLnBrk="0">
              <a:lnSpc>
                <a:spcPts val="1875"/>
              </a:lnSpc>
              <a:spcBef>
                <a:spcPts val="0"/>
              </a:spcBef>
              <a:spcAft>
                <a:spcPts val="0"/>
              </a:spcAft>
            </a:pPr>
            <a:r>
              <a:rPr sz="1500" b="0">
                <a:solidFill>
                  <a:srgbClr val="46515C"/>
                </a:solidFill>
                <a:latin typeface="Noto Sans KR"/>
              </a:rPr>
              <a:t>추세(4.49%)를 실제 상권 매출로 연결하기</a:t>
            </a:r>
          </a:p>
          <a:p>
            <a:pPr eaLnBrk="0">
              <a:lnSpc>
                <a:spcPts val="1875"/>
              </a:lnSpc>
              <a:spcBef>
                <a:spcPts val="0"/>
              </a:spcBef>
              <a:spcAft>
                <a:spcPts val="0"/>
              </a:spcAft>
            </a:pPr>
            <a:r>
              <a:rPr sz="1500" b="0">
                <a:solidFill>
                  <a:srgbClr val="46515C"/>
                </a:solidFill>
                <a:latin typeface="Noto Sans KR"/>
              </a:rPr>
              <a:t>위해, 결제 증빙 기반의 환급을 통해 추가</a:t>
            </a:r>
          </a:p>
          <a:p>
            <a:pPr eaLnBrk="0">
              <a:lnSpc>
                <a:spcPts val="1875"/>
              </a:lnSpc>
              <a:spcBef>
                <a:spcPts val="0"/>
              </a:spcBef>
              <a:spcAft>
                <a:spcPts val="0"/>
              </a:spcAft>
            </a:pPr>
            <a:r>
              <a:rPr sz="1500" b="0">
                <a:solidFill>
                  <a:srgbClr val="46515C"/>
                </a:solidFill>
                <a:latin typeface="Noto Sans KR"/>
              </a:rPr>
              <a:t>소비를 유도함</a:t>
            </a:r>
          </a:p>
        </p:txBody>
      </p:sp>
      <p:sp>
        <p:nvSpPr>
          <p:cNvPr id="40" name="case-adaptation-card-2"/>
          <p:cNvSpPr/>
          <p:nvPr/>
        </p:nvSpPr>
        <p:spPr>
          <a:xfrm>
            <a:off x="10001250" y="6257925"/>
            <a:ext cx="4229100" cy="184785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ase-adaptation-label-2"/>
          <p:cNvSpPr txBox="1"/>
          <p:nvPr/>
        </p:nvSpPr>
        <p:spPr>
          <a:xfrm>
            <a:off x="10182225" y="6419850"/>
            <a:ext cx="3867150" cy="323850"/>
          </a:xfrm>
          <a:prstGeom prst="rect">
            <a:avLst/>
          </a:prstGeom>
          <a:noFill/>
        </p:spPr>
        <p:txBody>
          <a:bodyPr wrap="none" lIns="57150" rIns="57150" tIns="38100" bIns="38100" anchor="t">
            <a:noAutofit/>
          </a:bodyPr>
          <a:lstStyle/>
          <a:p>
            <a:pPr eaLnBrk="0">
              <a:lnSpc>
                <a:spcPts val="1921"/>
              </a:lnSpc>
              <a:spcBef>
                <a:spcPts val="0"/>
              </a:spcBef>
              <a:spcAft>
                <a:spcPts val="0"/>
              </a:spcAft>
            </a:pPr>
            <a:r>
              <a:rPr sz="1537" b="1">
                <a:solidFill>
                  <a:srgbClr val="137E7A"/>
                </a:solidFill>
                <a:latin typeface="Noto Sans KR"/>
              </a:rPr>
              <a:t>우리 지역에 적용할 내용</a:t>
            </a:r>
          </a:p>
        </p:txBody>
      </p:sp>
      <p:sp>
        <p:nvSpPr>
          <p:cNvPr id="42" name="case-adaptation-body-2"/>
          <p:cNvSpPr txBox="1"/>
          <p:nvPr/>
        </p:nvSpPr>
        <p:spPr>
          <a:xfrm>
            <a:off x="10182225" y="6877050"/>
            <a:ext cx="3867150" cy="10382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46515C"/>
                </a:solidFill>
                <a:latin typeface="Noto Sans KR"/>
              </a:rPr>
              <a:t>서구 내 지정된 식음료·쇼핑 업종에서 일정</a:t>
            </a:r>
          </a:p>
          <a:p>
            <a:pPr eaLnBrk="0">
              <a:lnSpc>
                <a:spcPts val="1875"/>
              </a:lnSpc>
              <a:spcBef>
                <a:spcPts val="0"/>
              </a:spcBef>
              <a:spcAft>
                <a:spcPts val="0"/>
              </a:spcAft>
            </a:pPr>
            <a:r>
              <a:rPr sz="1500" b="0">
                <a:solidFill>
                  <a:srgbClr val="46515C"/>
                </a:solidFill>
                <a:latin typeface="Noto Sans KR"/>
              </a:rPr>
              <a:t>금액 이상 결제 시, 증빙을 통해</a:t>
            </a:r>
          </a:p>
          <a:p>
            <a:pPr eaLnBrk="0">
              <a:lnSpc>
                <a:spcPts val="1875"/>
              </a:lnSpc>
              <a:spcBef>
                <a:spcPts val="0"/>
              </a:spcBef>
              <a:spcAft>
                <a:spcPts val="0"/>
              </a:spcAft>
            </a:pPr>
            <a:r>
              <a:rPr sz="1500" b="0">
                <a:solidFill>
                  <a:srgbClr val="46515C"/>
                </a:solidFill>
                <a:latin typeface="Noto Sans KR"/>
              </a:rPr>
              <a:t>지역사랑상품권으로 일부를 환급해 주는 방식</a:t>
            </a:r>
          </a:p>
        </p:txBody>
      </p:sp>
    </p:spTree>
  </p:cSld>
  <p:clrMapOvr>
    <a:masterClrMapping/>
  </p:clrMapOvr>
</p:sld>
</file>

<file path=ppt/slides/slide6.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3.1 사업 목표</a:t>
            </a:r>
          </a:p>
        </p:txBody>
      </p:sp>
      <p:sp xmlns:a="http://schemas.openxmlformats.org/drawingml/2006/main">
        <p:nvSpPr>
          <p:cNvPr id="4" name="block-0"/>
          <p:cNvSpPr/>
          <p:nvPr/>
        </p:nvSpPr>
        <p:spPr>
          <a:xfrm>
            <a:off x="10096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사업내용</a:t>
            </a:r>
          </a:p>
        </p:txBody>
      </p:sp>
      <p:sp xmlns:a="http://schemas.openxmlformats.org/drawingml/2006/main">
        <p:nvSpPr>
          <p:cNvPr id="7" name="block-body-0"/>
          <p:cNvSpPr txBox="1"/>
          <p:nvPr/>
        </p:nvSpPr>
        <p:spPr>
          <a:xfrm>
            <a:off x="1181100" y="3009900"/>
            <a:ext cx="3943350" cy="9906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202124"/>
                </a:solidFill>
                <a:latin typeface="Noto Sans KR"/>
              </a:rPr>
              <a:t>서구 내 지정된 식음료·쇼핑 업종에서</a:t>
            </a:r>
          </a:p>
          <a:p>
            <a:pPr eaLnBrk="0">
              <a:lnSpc>
                <a:spcPts val="1781"/>
              </a:lnSpc>
              <a:spcBef>
                <a:spcPts val="0"/>
              </a:spcBef>
              <a:spcAft>
                <a:spcPts val="0"/>
              </a:spcAft>
            </a:pPr>
            <a:r>
              <a:rPr sz="1425" b="0">
                <a:solidFill>
                  <a:srgbClr val="202124"/>
                </a:solidFill>
                <a:latin typeface="Noto Sans KR"/>
              </a:rPr>
              <a:t>일정 금액 이상 결제 시, 증빙을 통해</a:t>
            </a:r>
          </a:p>
          <a:p>
            <a:pPr eaLnBrk="0">
              <a:lnSpc>
                <a:spcPts val="1781"/>
              </a:lnSpc>
              <a:spcBef>
                <a:spcPts val="0"/>
              </a:spcBef>
              <a:spcAft>
                <a:spcPts val="0"/>
              </a:spcAft>
            </a:pPr>
            <a:r>
              <a:rPr sz="1425" b="0">
                <a:solidFill>
                  <a:srgbClr val="202124"/>
                </a:solidFill>
                <a:latin typeface="Noto Sans KR"/>
              </a:rPr>
              <a:t>지역사랑상품권으로 일부를</a:t>
            </a:r>
          </a:p>
          <a:p>
            <a:pPr eaLnBrk="0">
              <a:lnSpc>
                <a:spcPts val="1781"/>
              </a:lnSpc>
              <a:spcBef>
                <a:spcPts val="0"/>
              </a:spcBef>
              <a:spcAft>
                <a:spcPts val="0"/>
              </a:spcAft>
            </a:pPr>
            <a:r>
              <a:rPr sz="1425" b="0">
                <a:solidFill>
                  <a:srgbClr val="202124"/>
                </a:solidFill>
                <a:latin typeface="Noto Sans KR"/>
              </a:rPr>
              <a:t>환급해 주는 방식</a:t>
            </a:r>
          </a:p>
        </p:txBody>
      </p:sp>
      <p:sp xmlns:a="http://schemas.openxmlformats.org/drawingml/2006/main">
        <p:nvSpPr>
          <p:cNvPr id="8" name="block-1"/>
          <p:cNvSpPr/>
          <p:nvPr/>
        </p:nvSpPr>
        <p:spPr>
          <a:xfrm>
            <a:off x="548640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사업기간</a:t>
            </a:r>
          </a:p>
        </p:txBody>
      </p:sp>
      <p:sp xmlns:a="http://schemas.openxmlformats.org/drawingml/2006/main">
        <p:nvSpPr>
          <p:cNvPr id="11" name="block-body-1"/>
          <p:cNvSpPr txBox="1"/>
          <p:nvPr/>
        </p:nvSpPr>
        <p:spPr>
          <a:xfrm>
            <a:off x="565785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2026-10 ~ 2026-12, 3개월</a:t>
            </a:r>
          </a:p>
          <a:p>
            <a:pPr eaLnBrk="0">
              <a:lnSpc>
                <a:spcPts val="2156"/>
              </a:lnSpc>
              <a:spcBef>
                <a:spcPts val="0"/>
              </a:spcBef>
              <a:spcAft>
                <a:spcPts val="0"/>
              </a:spcAft>
            </a:pPr>
            <a:r>
              <a:rPr sz="1725" b="0">
                <a:solidFill>
                  <a:srgbClr val="202124"/>
                </a:solidFill>
                <a:latin typeface="Noto Sans KR"/>
              </a:rPr>
              <a:t>준비·협의 → 시범 운영 → 성과 확인</a:t>
            </a:r>
          </a:p>
        </p:txBody>
      </p:sp>
      <p:sp xmlns:a="http://schemas.openxmlformats.org/drawingml/2006/main">
        <p:nvSpPr>
          <p:cNvPr id="12" name="block-2"/>
          <p:cNvSpPr/>
          <p:nvPr/>
        </p:nvSpPr>
        <p:spPr>
          <a:xfrm>
            <a:off x="99631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목표 KPI</a:t>
            </a:r>
          </a:p>
        </p:txBody>
      </p:sp>
      <p:sp xmlns:a="http://schemas.openxmlformats.org/drawingml/2006/main">
        <p:nvSpPr>
          <p:cNvPr id="15" name="block-body-2"/>
          <p:cNvSpPr txBox="1"/>
          <p:nvPr/>
        </p:nvSpPr>
        <p:spPr>
          <a:xfrm>
            <a:off x="1013460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3개월 월별 합계</a:t>
            </a:r>
          </a:p>
          <a:p>
            <a:pPr eaLnBrk="0">
              <a:lnSpc>
                <a:spcPts val="2156"/>
              </a:lnSpc>
              <a:spcBef>
                <a:spcPts val="0"/>
              </a:spcBef>
              <a:spcAft>
                <a:spcPts val="0"/>
              </a:spcAft>
            </a:pPr>
            <a:r>
              <a:rPr sz="1725" b="0">
                <a:solidFill>
                  <a:srgbClr val="202124"/>
                </a:solidFill>
                <a:latin typeface="Noto Sans KR"/>
              </a:rPr>
              <a:t>방문자 1,493만 명</a:t>
            </a:r>
          </a:p>
          <a:p>
            <a:pPr eaLnBrk="0">
              <a:lnSpc>
                <a:spcPts val="2156"/>
              </a:lnSpc>
              <a:spcBef>
                <a:spcPts val="0"/>
              </a:spcBef>
              <a:spcAft>
                <a:spcPts val="0"/>
              </a:spcAft>
            </a:pPr>
            <a:r>
              <a:rPr sz="1725" b="0">
                <a:solidFill>
                  <a:srgbClr val="202124"/>
                </a:solidFill>
                <a:latin typeface="Noto Sans KR"/>
              </a:rPr>
              <a:t>관광소비액 2,464억 원</a:t>
            </a:r>
          </a:p>
        </p:txBody>
      </p:sp>
      <p:sp xmlns:a="http://schemas.openxmlformats.org/drawingml/2006/main">
        <p:nvSpPr>
          <p:cNvPr id="16" name="chart-panel-0"/>
          <p:cNvSpPr/>
          <p:nvPr/>
        </p:nvSpPr>
        <p:spPr>
          <a:xfrm>
            <a:off x="100965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23" name="chart-panel-1"/>
          <p:cNvSpPr/>
          <p:nvPr/>
        </p:nvSpPr>
        <p:spPr>
          <a:xfrm>
            <a:off x="781050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30" name="comparison-note"/>
          <p:cNvSpPr txBox="1"/>
          <p:nvPr/>
        </p:nvSpPr>
        <p:spPr>
          <a:xfrm>
            <a:off x="1009650" y="7724775"/>
            <a:ext cx="13220700" cy="6572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청록선: 한국관광 데이터랩의 과거 월별 방문·소비 기록과 계절 흐름을 바탕으로 계산한 전망입니다.</a:t>
            </a:r>
          </a:p>
          <a:p>
            <a:pPr eaLnBrk="0">
              <a:lnSpc>
                <a:spcPts val="1781"/>
              </a:lnSpc>
              <a:spcBef>
                <a:spcPts val="0"/>
              </a:spcBef>
              <a:spcAft>
                <a:spcPts val="0"/>
              </a:spcAft>
            </a:pPr>
            <a:r>
              <a:rPr sz="1425" b="0">
                <a:solidFill>
                  <a:srgbClr val="62666C"/>
                </a:solidFill>
                <a:latin typeface="Noto Sans KR"/>
              </a:rPr>
              <a:t>빨간선: 공식 사례를 참고해 정한 사업 목표입니다. 목표율은 조정할 수 있으며, 산출 근거 페이지에서 설명합니다.</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사업 목표</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07 / 17</a:t>
            </a:r>
          </a:p>
        </p:txBody>
      </p:sp>
      <p:sp xmlns:a="http://schemas.openxmlformats.org/drawingml/2006/main">
        <p:nvSpPr>
          <p:cNvPr id="34" name="business-goal-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3개월 목표: ML 전망 대비 방문자 +1,440명, 관광소비액 약 +5,149만 원</a:t>
            </a:r>
          </a:p>
        </p:txBody>
      </p:sp>
    </p:spTree>
    <p:extLst>
      <p:ext uri="{BB962C8B-B14F-4D97-AF65-F5344CB8AC3E}">
        <p14:creationId xmlns:p14="http://schemas.microsoft.com/office/powerpoint/2010/main" val="380383987"/>
      </p:ext>
    </p:extLst>
  </p:cSld>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33" name="kpi-reason-card"/>
          <p:cNvSpPr/>
          <p:nvPr/>
        </p:nvSpPr>
        <p:spPr>
          <a:xfrm>
            <a:off x="1009650" y="2543175"/>
            <a:ext cx="6762750" cy="4981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3.2 목표 KPI 산출근거</a:t>
            </a:r>
          </a:p>
        </p:txBody>
      </p:sp>
      <p:sp>
        <p:nvSpPr>
          <p:cNvPr id="4" name="kpi-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목표율을 정한 이유와 3개월 동안 추가로 달성할 규모</a:t>
            </a:r>
          </a:p>
        </p:txBody>
      </p:sp>
      <p:pic>
        <p:nvPicPr>
          <p:cNvPr id="30" name="kpi-reason-icon" descr="target-red.png"/>
          <p:cNvPicPr>
            <a:picLocks noChangeAspect="1"/>
          </p:cNvPicPr>
          <p:nvPr/>
        </p:nvPicPr>
        <p:blipFill>
          <a:blip r:embed="rId6"/>
          <a:stretch>
            <a:fillRect/>
          </a:stretch>
        </p:blipFill>
        <p:spPr>
          <a:xfrm>
            <a:off x="1200150" y="2724150"/>
            <a:ext cx="809625" cy="809625"/>
          </a:xfrm>
          <a:prstGeom prst="rect">
            <a:avLst/>
          </a:prstGeom>
        </p:spPr>
      </p:pic>
      <p:sp>
        <p:nvSpPr>
          <p:cNvPr id="6" name="kpi-reason-title"/>
          <p:cNvSpPr txBox="1"/>
          <p:nvPr/>
        </p:nvSpPr>
        <p:spPr>
          <a:xfrm>
            <a:off x="2247900" y="2781300"/>
            <a:ext cx="54102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02124"/>
                </a:solidFill>
                <a:latin typeface="Noto Sans KR"/>
              </a:rPr>
              <a:t>목표를 정한 이유</a:t>
            </a:r>
          </a:p>
        </p:txBody>
      </p:sp>
      <p:sp>
        <p:nvSpPr>
          <p:cNvPr id="7" name="kpi-reason"/>
          <p:cNvSpPr txBox="1"/>
          <p:nvPr/>
        </p:nvSpPr>
        <p:spPr>
          <a:xfrm>
            <a:off x="1200150" y="3619500"/>
            <a:ext cx="6648450" cy="131445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0">
                <a:solidFill>
                  <a:srgbClr val="62666C"/>
                </a:solidFill>
                <a:latin typeface="Noto Sans KR"/>
              </a:rPr>
              <a:t>대전광역시 서구의 2개월 운영안</a:t>
            </a:r>
          </a:p>
          <a:p>
            <a:pPr eaLnBrk="0">
              <a:lnSpc>
                <a:spcPts val="2437"/>
              </a:lnSpc>
              <a:spcBef>
                <a:spcPts val="0"/>
              </a:spcBef>
              <a:spcAft>
                <a:spcPts val="0"/>
              </a:spcAft>
            </a:pPr>
            <a:r>
              <a:rPr sz="1950" b="0">
                <a:solidFill>
                  <a:srgbClr val="62666C"/>
                </a:solidFill>
                <a:latin typeface="Noto Sans KR"/>
              </a:rPr>
              <a:t>운영 산정 기간 2026-11 ~ 2026-12</a:t>
            </a:r>
          </a:p>
          <a:p>
            <a:pPr eaLnBrk="0">
              <a:lnSpc>
                <a:spcPts val="2437"/>
              </a:lnSpc>
              <a:spcBef>
                <a:spcPts val="0"/>
              </a:spcBef>
              <a:spcAft>
                <a:spcPts val="0"/>
              </a:spcAft>
            </a:pPr>
            <a:r>
              <a:rPr sz="1950" b="0">
                <a:solidFill>
                  <a:srgbClr val="62666C"/>
                </a:solidFill>
                <a:latin typeface="Noto Sans KR"/>
              </a:rPr>
              <a:t>편성 정원 6,400명분 × 이용률 75%</a:t>
            </a:r>
          </a:p>
          <a:p>
            <a:pPr eaLnBrk="0">
              <a:lnSpc>
                <a:spcPts val="2437"/>
              </a:lnSpc>
              <a:spcBef>
                <a:spcPts val="0"/>
              </a:spcBef>
              <a:spcAft>
                <a:spcPts val="0"/>
              </a:spcAft>
            </a:pPr>
            <a:r>
              <a:rPr sz="1950" b="0">
                <a:solidFill>
                  <a:srgbClr val="62666C"/>
                </a:solidFill>
                <a:latin typeface="Noto Sans KR"/>
              </a:rPr>
              <a:t>예상 참여 4,800명 중 추가 방문 30% 가정</a:t>
            </a:r>
          </a:p>
        </p:txBody>
      </p:sp>
      <p:sp>
        <p:nvSpPr>
          <p:cNvPr id="8" name="kpi-decision-band"/>
          <p:cNvSpPr/>
          <p:nvPr/>
        </p:nvSpPr>
        <p:spPr>
          <a:xfrm>
            <a:off x="1200150" y="5067300"/>
            <a:ext cx="6391275" cy="1047750"/>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pi-decision"/>
          <p:cNvSpPr txBox="1"/>
          <p:nvPr/>
        </p:nvSpPr>
        <p:spPr>
          <a:xfrm>
            <a:off x="1409700" y="5286375"/>
            <a:ext cx="5972175" cy="600075"/>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AE2349"/>
                </a:solidFill>
                <a:latin typeface="Noto Sans KR"/>
              </a:rPr>
              <a:t>추가 방문 목표 1,440명</a:t>
            </a:r>
          </a:p>
        </p:txBody>
      </p:sp>
      <p:sp>
        <p:nvSpPr>
          <p:cNvPr id="10" name="kpi-step-explanation"/>
          <p:cNvSpPr txBox="1"/>
          <p:nvPr/>
        </p:nvSpPr>
        <p:spPr>
          <a:xfrm>
            <a:off x="1200150" y="6448425"/>
            <a:ext cx="6391275" cy="9810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62666C"/>
                </a:solidFill>
                <a:latin typeface="Noto Sans KR"/>
              </a:rPr>
              <a:t>운영 정원 = 8개 거점 × 월 20일 × 2개월</a:t>
            </a:r>
          </a:p>
          <a:p>
            <a:pPr eaLnBrk="0">
              <a:lnSpc>
                <a:spcPts val="2062"/>
              </a:lnSpc>
              <a:spcBef>
                <a:spcPts val="0"/>
              </a:spcBef>
              <a:spcAft>
                <a:spcPts val="0"/>
              </a:spcAft>
            </a:pPr>
            <a:r>
              <a:rPr sz="1650" b="0">
                <a:solidFill>
                  <a:srgbClr val="62666C"/>
                </a:solidFill>
                <a:latin typeface="Noto Sans KR"/>
              </a:rPr>
              <a:t>× 하루 1회 × 회당 20명 = 6,400명분</a:t>
            </a:r>
          </a:p>
          <a:p>
            <a:pPr eaLnBrk="0">
              <a:lnSpc>
                <a:spcPts val="2062"/>
              </a:lnSpc>
              <a:spcBef>
                <a:spcPts val="0"/>
              </a:spcBef>
              <a:spcAft>
                <a:spcPts val="0"/>
              </a:spcAft>
            </a:pPr>
            <a:r>
              <a:rPr sz="1650" b="0">
                <a:solidFill>
                  <a:srgbClr val="62666C"/>
                </a:solidFill>
                <a:latin typeface="Noto Sans KR"/>
              </a:rPr>
              <a:t>운영량은 기획 가정이며 참여 비율의 근거는 다음 장에 표시합니다.</a:t>
            </a:r>
          </a:p>
        </p:txBody>
      </p:sp>
      <p:cxnSp>
        <p:nvCxnSpPr>
          <p:cNvPr id="11" name="kpi-to-visitors-0"/>
          <p:cNvCxnSpPr/>
          <p:nvPr/>
        </p:nvCxnSpPr>
        <p:spPr>
          <a:xfrm>
            <a:off x="7762875" y="5162550"/>
            <a:ext cx="4667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kpi-to-visitors-1"/>
          <p:cNvCxnSpPr/>
          <p:nvPr/>
        </p:nvCxnSpPr>
        <p:spPr>
          <a:xfrm flipV="1">
            <a:off x="8229600" y="3724275"/>
            <a:ext cx="0" cy="1438275"/>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kpi-to-visitors-2"/>
          <p:cNvCxnSpPr/>
          <p:nvPr/>
        </p:nvCxnSpPr>
        <p:spPr>
          <a:xfrm>
            <a:off x="8229600" y="3724275"/>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4" name="kpi-to-spending-0"/>
          <p:cNvCxnSpPr/>
          <p:nvPr/>
        </p:nvCxnSpPr>
        <p:spPr>
          <a:xfrm>
            <a:off x="8229600" y="5162550"/>
            <a:ext cx="0" cy="104775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5" name="kpi-to-spending-1"/>
          <p:cNvCxnSpPr/>
          <p:nvPr/>
        </p:nvCxnSpPr>
        <p:spPr>
          <a:xfrm>
            <a:off x="8229600" y="6210300"/>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6" name="kpi-impact-panel-0"/>
          <p:cNvSpPr/>
          <p:nvPr/>
        </p:nvSpPr>
        <p:spPr>
          <a:xfrm>
            <a:off x="8696325" y="2609850"/>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kpi-impact-icon-0" descr="users-ocean.png"/>
          <p:cNvPicPr>
            <a:picLocks noChangeAspect="1"/>
          </p:cNvPicPr>
          <p:nvPr/>
        </p:nvPicPr>
        <p:blipFill>
          <a:blip r:embed="rId9"/>
          <a:stretch>
            <a:fillRect/>
          </a:stretch>
        </p:blipFill>
        <p:spPr>
          <a:xfrm>
            <a:off x="8943975" y="2838450"/>
            <a:ext cx="523875" cy="523875"/>
          </a:xfrm>
          <a:prstGeom prst="rect">
            <a:avLst/>
          </a:prstGeom>
        </p:spPr>
      </p:pic>
      <p:sp>
        <p:nvSpPr>
          <p:cNvPr id="18" name="kpi-impact-title-0"/>
          <p:cNvSpPr txBox="1"/>
          <p:nvPr/>
        </p:nvSpPr>
        <p:spPr>
          <a:xfrm>
            <a:off x="9629775" y="2847975"/>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방문 목표</a:t>
            </a:r>
          </a:p>
        </p:txBody>
      </p:sp>
      <p:sp>
        <p:nvSpPr>
          <p:cNvPr id="19" name="kpi-impact-value-0"/>
          <p:cNvSpPr txBox="1"/>
          <p:nvPr/>
        </p:nvSpPr>
        <p:spPr>
          <a:xfrm>
            <a:off x="8934450" y="3514725"/>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27649B"/>
                </a:solidFill>
                <a:latin typeface="Noto Sans KR"/>
              </a:rPr>
              <a:t>↑ 1,440명</a:t>
            </a:r>
          </a:p>
        </p:txBody>
      </p:sp>
      <p:sp>
        <p:nvSpPr>
          <p:cNvPr id="20" name="kpi-impact-period-0"/>
          <p:cNvSpPr txBox="1"/>
          <p:nvPr/>
        </p:nvSpPr>
        <p:spPr>
          <a:xfrm>
            <a:off x="8953500" y="4333875"/>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+0.01%</a:t>
            </a:r>
          </a:p>
        </p:txBody>
      </p:sp>
      <p:sp>
        <p:nvSpPr>
          <p:cNvPr id="21" name="kpi-impact-panel-1"/>
          <p:cNvSpPr/>
          <p:nvPr/>
        </p:nvSpPr>
        <p:spPr>
          <a:xfrm>
            <a:off x="8696325" y="5095875"/>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kpi-impact-icon-1" descr="coins-jade.png"/>
          <p:cNvPicPr>
            <a:picLocks noChangeAspect="1"/>
          </p:cNvPicPr>
          <p:nvPr/>
        </p:nvPicPr>
        <p:blipFill>
          <a:blip r:embed="rId10"/>
          <a:stretch>
            <a:fillRect/>
          </a:stretch>
        </p:blipFill>
        <p:spPr>
          <a:xfrm>
            <a:off x="8943975" y="5324475"/>
            <a:ext cx="523875" cy="523875"/>
          </a:xfrm>
          <a:prstGeom prst="rect">
            <a:avLst/>
          </a:prstGeom>
        </p:spPr>
      </p:pic>
      <p:sp>
        <p:nvSpPr>
          <p:cNvPr id="23" name="kpi-impact-title-1"/>
          <p:cNvSpPr txBox="1"/>
          <p:nvPr/>
        </p:nvSpPr>
        <p:spPr>
          <a:xfrm>
            <a:off x="9629775" y="5334000"/>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소비 목표</a:t>
            </a:r>
          </a:p>
        </p:txBody>
      </p:sp>
      <p:sp>
        <p:nvSpPr>
          <p:cNvPr id="24" name="kpi-impact-value-1"/>
          <p:cNvSpPr txBox="1"/>
          <p:nvPr/>
        </p:nvSpPr>
        <p:spPr>
          <a:xfrm>
            <a:off x="8934450" y="6000750"/>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187C70"/>
                </a:solidFill>
                <a:latin typeface="Noto Sans KR"/>
              </a:rPr>
              <a:t>↑ 0.51억 원</a:t>
            </a:r>
          </a:p>
        </p:txBody>
      </p:sp>
      <p:sp>
        <p:nvSpPr>
          <p:cNvPr id="25" name="kpi-impact-period-1"/>
          <p:cNvSpPr txBox="1"/>
          <p:nvPr/>
        </p:nvSpPr>
        <p:spPr>
          <a:xfrm>
            <a:off x="8953500" y="6819900"/>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+0.02%</a:t>
            </a:r>
          </a:p>
        </p:txBody>
      </p:sp>
      <p:sp>
        <p:nvSpPr>
          <p:cNvPr id="26" name="kpi-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목표는 계획 가정입니다. 사례의 사업 효과를 예측한 값이 아니며, 방문 합계에는 월간 중복이 포함됩니다.</a:t>
            </a:r>
          </a:p>
        </p:txBody>
      </p:sp>
      <p:sp>
        <p:nvSpPr>
          <p:cNvPr id="28"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사업 목표</a:t>
            </a:r>
          </a:p>
        </p:txBody>
      </p:sp>
      <p:sp>
        <p:nvSpPr>
          <p:cNvPr id="29"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08 / 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3.3 운영 규모와 산출 근거</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운영량을 먼저 제안하고, 참여와 추가 방문을 차례로 계산합니다</a:t>
            </a:r>
          </a:p>
        </p:txBody>
      </p:sp>
      <p:sp>
        <p:nvSpPr>
          <p:cNvPr id="5" name="capacity-stage-0"/>
          <p:cNvSpPr/>
          <p:nvPr/>
        </p:nvSpPr>
        <p:spPr>
          <a:xfrm>
            <a:off x="100965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capacity-icon-0" descr="database-blue.png"/>
          <p:cNvPicPr>
            <a:picLocks noChangeAspect="1"/>
          </p:cNvPicPr>
          <p:nvPr/>
        </p:nvPicPr>
        <p:blipFill>
          <a:blip r:embed="rId2"/>
          <a:stretch>
            <a:fillRect/>
          </a:stretch>
        </p:blipFill>
        <p:spPr>
          <a:xfrm>
            <a:off x="1219200" y="2809875"/>
            <a:ext cx="438150" cy="438150"/>
          </a:xfrm>
          <a:prstGeom prst="rect">
            <a:avLst/>
          </a:prstGeom>
        </p:spPr>
      </p:pic>
      <p:sp>
        <p:nvSpPr>
          <p:cNvPr id="7" name="capacity-label-0"/>
          <p:cNvSpPr txBox="1"/>
          <p:nvPr/>
        </p:nvSpPr>
        <p:spPr>
          <a:xfrm>
            <a:off x="1781175"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지역 관광 규모</a:t>
            </a:r>
          </a:p>
        </p:txBody>
      </p:sp>
      <p:sp>
        <p:nvSpPr>
          <p:cNvPr id="8" name="capacity-value-0"/>
          <p:cNvSpPr txBox="1"/>
          <p:nvPr/>
        </p:nvSpPr>
        <p:spPr>
          <a:xfrm>
            <a:off x="1200150"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27649B"/>
                </a:solidFill>
                <a:latin typeface="Noto Sans KR"/>
              </a:rPr>
              <a:t>월평균 497.6만 명</a:t>
            </a:r>
          </a:p>
        </p:txBody>
      </p:sp>
      <p:sp>
        <p:nvSpPr>
          <p:cNvPr id="9" name="capacity-detail-0"/>
          <p:cNvSpPr txBox="1"/>
          <p:nvPr/>
        </p:nvSpPr>
        <p:spPr>
          <a:xfrm>
            <a:off x="1200150"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저장 ML 방문 전망</a:t>
            </a:r>
          </a:p>
        </p:txBody>
      </p:sp>
      <p:cxnSp>
        <p:nvCxnSpPr>
          <p:cNvPr id="10" name="capacity-arrow-0-0"/>
          <p:cNvCxnSpPr/>
          <p:nvPr/>
        </p:nvCxnSpPr>
        <p:spPr>
          <a:xfrm>
            <a:off x="414337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1" name="capacity-stage-1"/>
          <p:cNvSpPr/>
          <p:nvPr/>
        </p:nvSpPr>
        <p:spPr>
          <a:xfrm>
            <a:off x="439102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capacity-icon-1" descr="map-pinned-blue.png"/>
          <p:cNvPicPr>
            <a:picLocks noChangeAspect="1"/>
          </p:cNvPicPr>
          <p:nvPr/>
        </p:nvPicPr>
        <p:blipFill>
          <a:blip r:embed="rId3"/>
          <a:stretch>
            <a:fillRect/>
          </a:stretch>
        </p:blipFill>
        <p:spPr>
          <a:xfrm>
            <a:off x="4600575" y="2809875"/>
            <a:ext cx="438150" cy="438150"/>
          </a:xfrm>
          <a:prstGeom prst="rect">
            <a:avLst/>
          </a:prstGeom>
        </p:spPr>
      </p:pic>
      <p:sp>
        <p:nvSpPr>
          <p:cNvPr id="13" name="capacity-label-1"/>
          <p:cNvSpPr txBox="1"/>
          <p:nvPr/>
        </p:nvSpPr>
        <p:spPr>
          <a:xfrm>
            <a:off x="5162550"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제안 운영 규모</a:t>
            </a:r>
          </a:p>
        </p:txBody>
      </p:sp>
      <p:sp>
        <p:nvSpPr>
          <p:cNvPr id="14" name="capacity-value-1"/>
          <p:cNvSpPr txBox="1"/>
          <p:nvPr/>
        </p:nvSpPr>
        <p:spPr>
          <a:xfrm>
            <a:off x="4581525"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F50045"/>
                </a:solidFill>
                <a:latin typeface="Noto Sans KR"/>
              </a:rPr>
              <a:t>8개 참여 점포 묶음</a:t>
            </a:r>
          </a:p>
        </p:txBody>
      </p:sp>
      <p:sp>
        <p:nvSpPr>
          <p:cNvPr id="15" name="capacity-detail-1"/>
          <p:cNvSpPr txBox="1"/>
          <p:nvPr/>
        </p:nvSpPr>
        <p:spPr>
          <a:xfrm>
            <a:off x="4581525"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월 20일 · 하루 1회</a:t>
            </a:r>
          </a:p>
        </p:txBody>
      </p:sp>
      <p:cxnSp>
        <p:nvCxnSpPr>
          <p:cNvPr id="16" name="capacity-arrow-1-0"/>
          <p:cNvCxnSpPr/>
          <p:nvPr/>
        </p:nvCxnSpPr>
        <p:spPr>
          <a:xfrm>
            <a:off x="7524750"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7" name="capacity-stage-2"/>
          <p:cNvSpPr/>
          <p:nvPr/>
        </p:nvSpPr>
        <p:spPr>
          <a:xfrm>
            <a:off x="777240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capacity-icon-2" descr="users-blue.png"/>
          <p:cNvPicPr>
            <a:picLocks noChangeAspect="1"/>
          </p:cNvPicPr>
          <p:nvPr/>
        </p:nvPicPr>
        <p:blipFill>
          <a:blip r:embed="rId4"/>
          <a:stretch>
            <a:fillRect/>
          </a:stretch>
        </p:blipFill>
        <p:spPr>
          <a:xfrm>
            <a:off x="7981950" y="2809875"/>
            <a:ext cx="438150" cy="438150"/>
          </a:xfrm>
          <a:prstGeom prst="rect">
            <a:avLst/>
          </a:prstGeom>
        </p:spPr>
      </p:pic>
      <p:sp>
        <p:nvSpPr>
          <p:cNvPr id="19" name="capacity-label-2"/>
          <p:cNvSpPr txBox="1"/>
          <p:nvPr/>
        </p:nvSpPr>
        <p:spPr>
          <a:xfrm>
            <a:off x="8543925"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참여 목표</a:t>
            </a:r>
          </a:p>
        </p:txBody>
      </p:sp>
      <p:sp>
        <p:nvSpPr>
          <p:cNvPr id="20" name="capacity-value-2"/>
          <p:cNvSpPr txBox="1"/>
          <p:nvPr/>
        </p:nvSpPr>
        <p:spPr>
          <a:xfrm>
            <a:off x="7962900"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187C70"/>
                </a:solidFill>
                <a:latin typeface="Noto Sans KR"/>
              </a:rPr>
              <a:t>4,800명</a:t>
            </a:r>
          </a:p>
        </p:txBody>
      </p:sp>
      <p:sp>
        <p:nvSpPr>
          <p:cNvPr id="21" name="capacity-detail-2"/>
          <p:cNvSpPr txBox="1"/>
          <p:nvPr/>
        </p:nvSpPr>
        <p:spPr>
          <a:xfrm>
            <a:off x="7962900"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편성 한도 6,400 × 이용률 75%</a:t>
            </a:r>
          </a:p>
        </p:txBody>
      </p:sp>
      <p:cxnSp>
        <p:nvCxnSpPr>
          <p:cNvPr id="22" name="capacity-arrow-2-0"/>
          <p:cNvCxnSpPr/>
          <p:nvPr/>
        </p:nvCxnSpPr>
        <p:spPr>
          <a:xfrm>
            <a:off x="1090612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23" name="capacity-stage-3"/>
          <p:cNvSpPr/>
          <p:nvPr/>
        </p:nvSpPr>
        <p:spPr>
          <a:xfrm>
            <a:off x="1115377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capacity-icon-3" descr="target-blue.png"/>
          <p:cNvPicPr>
            <a:picLocks noChangeAspect="1"/>
          </p:cNvPicPr>
          <p:nvPr/>
        </p:nvPicPr>
        <p:blipFill>
          <a:blip r:embed="rId5"/>
          <a:stretch>
            <a:fillRect/>
          </a:stretch>
        </p:blipFill>
        <p:spPr>
          <a:xfrm>
            <a:off x="11363325" y="2809875"/>
            <a:ext cx="438150" cy="438150"/>
          </a:xfrm>
          <a:prstGeom prst="rect">
            <a:avLst/>
          </a:prstGeom>
        </p:spPr>
      </p:pic>
      <p:sp>
        <p:nvSpPr>
          <p:cNvPr id="25" name="capacity-label-3"/>
          <p:cNvSpPr txBox="1"/>
          <p:nvPr/>
        </p:nvSpPr>
        <p:spPr>
          <a:xfrm>
            <a:off x="11925300"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추가 방문 목표</a:t>
            </a:r>
          </a:p>
        </p:txBody>
      </p:sp>
      <p:sp>
        <p:nvSpPr>
          <p:cNvPr id="26" name="capacity-value-3"/>
          <p:cNvSpPr txBox="1"/>
          <p:nvPr/>
        </p:nvSpPr>
        <p:spPr>
          <a:xfrm>
            <a:off x="11344275"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27649B"/>
                </a:solidFill>
                <a:latin typeface="Noto Sans KR"/>
              </a:rPr>
              <a:t>1,440명</a:t>
            </a:r>
          </a:p>
        </p:txBody>
      </p:sp>
      <p:sp>
        <p:nvSpPr>
          <p:cNvPr id="27" name="capacity-detail-3"/>
          <p:cNvSpPr txBox="1"/>
          <p:nvPr/>
        </p:nvSpPr>
        <p:spPr>
          <a:xfrm>
            <a:off x="11344275"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 목표 × 추가 방문</a:t>
            </a:r>
          </a:p>
          <a:p>
            <a:pPr eaLnBrk="0">
              <a:lnSpc>
                <a:spcPts val="1875"/>
              </a:lnSpc>
              <a:spcBef>
                <a:spcPts val="0"/>
              </a:spcBef>
              <a:spcAft>
                <a:spcPts val="0"/>
              </a:spcAft>
            </a:pPr>
            <a:r>
              <a:rPr sz="1500" b="0">
                <a:solidFill>
                  <a:srgbClr val="62666C"/>
                </a:solidFill>
                <a:latin typeface="Noto Sans KR"/>
              </a:rPr>
              <a:t>비중 30%</a:t>
            </a:r>
          </a:p>
        </p:txBody>
      </p:sp>
      <p:sp>
        <p:nvSpPr>
          <p:cNvPr id="28" name="capacity-formula-panel"/>
          <p:cNvSpPr/>
          <p:nvPr/>
        </p:nvSpPr>
        <p:spPr>
          <a:xfrm>
            <a:off x="1009650" y="5238750"/>
            <a:ext cx="13220700" cy="1219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apacity-formula-label"/>
          <p:cNvSpPr txBox="1"/>
          <p:nvPr/>
        </p:nvSpPr>
        <p:spPr>
          <a:xfrm>
            <a:off x="1209675" y="5410200"/>
            <a:ext cx="23812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87C70"/>
                </a:solidFill>
                <a:latin typeface="Noto Sans KR"/>
              </a:rPr>
              <a:t>운영량 계산</a:t>
            </a:r>
          </a:p>
        </p:txBody>
      </p:sp>
      <p:sp>
        <p:nvSpPr>
          <p:cNvPr id="30" name="capacity-formula"/>
          <p:cNvSpPr txBox="1"/>
          <p:nvPr/>
        </p:nvSpPr>
        <p:spPr>
          <a:xfrm>
            <a:off x="3667125" y="5400675"/>
            <a:ext cx="10287000" cy="4572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202124"/>
                </a:solidFill>
                <a:latin typeface="Noto Sans KR"/>
              </a:rPr>
              <a:t>8개 × 월 20일 × 2개월 × 하루 1회 × 회당 20명 = 6,400명분</a:t>
            </a:r>
          </a:p>
        </p:txBody>
      </p:sp>
      <p:sp>
        <p:nvSpPr>
          <p:cNvPr id="31" name="capacity-limit"/>
          <p:cNvSpPr txBox="1"/>
          <p:nvPr/>
        </p:nvSpPr>
        <p:spPr>
          <a:xfrm>
            <a:off x="3667125" y="5905500"/>
            <a:ext cx="10287000" cy="36195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2026-11~2026-12 운영 · 예상 견적 5,694만 원</a:t>
            </a:r>
          </a:p>
        </p:txBody>
      </p:sp>
      <p:sp>
        <p:nvSpPr>
          <p:cNvPr id="32" name="capacity-case"/>
          <p:cNvSpPr txBox="1"/>
          <p:nvPr/>
        </p:nvSpPr>
        <p:spPr>
          <a:xfrm>
            <a:off x="1009650" y="6667500"/>
            <a:ext cx="2190750" cy="3429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187C70"/>
                </a:solidFill>
                <a:latin typeface="Noto Sans KR"/>
              </a:rPr>
              <a:t>사례와의 차이</a:t>
            </a:r>
          </a:p>
        </p:txBody>
      </p:sp>
      <p:sp>
        <p:nvSpPr>
          <p:cNvPr id="33" name="capacity-case-name">
            <a:hlinkClick r:id="rId6"/>
          </p:cNvPr>
          <p:cNvSpPr txBox="1"/>
          <p:nvPr/>
        </p:nvSpPr>
        <p:spPr>
          <a:xfrm>
            <a:off x="3333750" y="6667500"/>
            <a:ext cx="10896600" cy="5905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202124"/>
                </a:solidFill>
                <a:latin typeface="Noto Sans KR"/>
              </a:rPr>
              <a:t>공식 사례의 운영 방식을 참고하며, 발표 실적을 우리 지역 정원으로 환산하지 않습니다.</a:t>
            </a:r>
          </a:p>
        </p:txBody>
      </p:sp>
      <p:sp>
        <p:nvSpPr>
          <p:cNvPr id="34" name="capacity-scale-rule"/>
          <p:cNvSpPr txBox="1"/>
          <p:nvPr/>
        </p:nvSpPr>
        <p:spPr>
          <a:xfrm>
            <a:off x="1009650" y="7305675"/>
            <a:ext cx="13220700" cy="5715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대전광역시 서구: 월평균 ML 방문 497.6만 명을 규모 입력으로 사용.</a:t>
            </a:r>
          </a:p>
          <a:p>
            <a:pPr eaLnBrk="0">
              <a:lnSpc>
                <a:spcPts val="1875"/>
              </a:lnSpc>
              <a:spcBef>
                <a:spcPts val="0"/>
              </a:spcBef>
              <a:spcAft>
                <a:spcPts val="0"/>
              </a:spcAft>
            </a:pPr>
            <a:r>
              <a:rPr sz="1500" b="0">
                <a:solidFill>
                  <a:srgbClr val="62666C"/>
                </a:solidFill>
                <a:latin typeface="Noto Sans KR"/>
              </a:rPr>
              <a:t>거점은 √(월평균 방문 ÷ 10만)을 올려 1~12개로 제안한 뒤 예산을 반영합니다. 인구 보정·학습 모델의 결과는 아닙니다.</a:t>
            </a:r>
          </a:p>
        </p:txBody>
      </p:sp>
      <p:sp>
        <p:nvSpPr>
          <p:cNvPr id="35" name="capacity-disclosure"/>
          <p:cNvSpPr txBox="1"/>
          <p:nvPr/>
        </p:nvSpPr>
        <p:spPr>
          <a:xfrm>
            <a:off x="1009650" y="7924800"/>
            <a:ext cx="13220700" cy="5429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참여 목표 75%는 공통 최소 운영 목표입니다. 사례 참여율을 인용한 값이 아닙니다.</a:t>
            </a:r>
          </a:p>
        </p:txBody>
      </p:sp>
      <p:sp>
        <p:nvSpPr>
          <p:cNvPr id="36"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09 / 17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3.4 월별 방문·소비 증가 목표</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‘서구 관광 소비 환급’으로 인한 방문자 및 소비액 증가 목표</a:t>
            </a:r>
          </a:p>
        </p:txBody>
      </p:sp>
      <p:sp>
        <p:nvSpPr>
          <p:cNvPr id="5" name="scenario-panel-0"/>
          <p:cNvSpPr/>
          <p:nvPr/>
        </p:nvSpPr>
        <p:spPr>
          <a:xfrm>
            <a:off x="1009650" y="27622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cenario-label-0"/>
          <p:cNvSpPr txBox="1"/>
          <p:nvPr/>
        </p:nvSpPr>
        <p:spPr>
          <a:xfrm>
            <a:off x="1238250" y="2876550"/>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7649B"/>
                </a:solidFill>
                <a:latin typeface="Noto Sans KR"/>
              </a:rPr>
              <a:t>추가 방문 목표 · 명</a:t>
            </a:r>
          </a:p>
        </p:txBody>
      </p:sp>
      <p:graphicFrame>
        <p:nvGraphicFramePr>
          <p:cNvPr id="7" name="operating-scenario-chart-0"/>
          <p:cNvGraphicFramePr>
            <a:graphicFrameLocks noGrp="1"/>
          </p:cNvGraphicFramePr>
          <p:nvPr/>
        </p:nvGraphicFramePr>
        <p:xfrm>
          <a:off x="1104900" y="3343275"/>
          <a:ext cx="6210300" cy="2857500"/>
        </p:xfrm>
        <a:graphic>
          <a:graphicData uri="http://schemas.openxmlformats.org/drawingml/2006/chart">
            <c:chart xmlns:c="http://schemas.openxmlformats.org/drawingml/2006/chart" r:id="rId2"/>
          </a:graphicData>
        </a:graphic>
      </p:graphicFrame>
      <p:sp>
        <p:nvSpPr>
          <p:cNvPr id="8" name="scenario-growth-0"/>
          <p:cNvSpPr txBox="1"/>
          <p:nvPr/>
        </p:nvSpPr>
        <p:spPr>
          <a:xfrm>
            <a:off x="1238250" y="6419850"/>
            <a:ext cx="5962650" cy="3810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7649B"/>
                </a:solidFill>
                <a:latin typeface="Noto Sans KR"/>
              </a:rPr>
              <a:t>3개월 추가 목표 합계 · 1,440명</a:t>
            </a:r>
          </a:p>
        </p:txBody>
      </p:sp>
      <p:sp>
        <p:nvSpPr>
          <p:cNvPr id="9" name="scenario-panel-1"/>
          <p:cNvSpPr/>
          <p:nvPr/>
        </p:nvSpPr>
        <p:spPr>
          <a:xfrm>
            <a:off x="7810500" y="27622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cenario-label-1"/>
          <p:cNvSpPr txBox="1"/>
          <p:nvPr/>
        </p:nvSpPr>
        <p:spPr>
          <a:xfrm>
            <a:off x="8039100" y="2876550"/>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187C70"/>
                </a:solidFill>
                <a:latin typeface="Noto Sans KR"/>
              </a:rPr>
              <a:t>추가 소비 목표 · 만 원</a:t>
            </a:r>
          </a:p>
        </p:txBody>
      </p:sp>
      <p:graphicFrame>
        <p:nvGraphicFramePr>
          <p:cNvPr id="11" name="operating-scenario-chart-1"/>
          <p:cNvGraphicFramePr>
            <a:graphicFrameLocks noGrp="1"/>
          </p:cNvGraphicFramePr>
          <p:nvPr/>
        </p:nvGraphicFramePr>
        <p:xfrm>
          <a:off x="7905750" y="3343275"/>
          <a:ext cx="6210300" cy="2857500"/>
        </p:xfrm>
        <a:graphic>
          <a:graphicData uri="http://schemas.openxmlformats.org/drawingml/2006/chart">
            <c:chart xmlns:c="http://schemas.openxmlformats.org/drawingml/2006/chart" r:id="rId3"/>
          </a:graphicData>
        </a:graphic>
      </p:graphicFrame>
      <p:sp>
        <p:nvSpPr>
          <p:cNvPr id="12" name="scenario-growth-1"/>
          <p:cNvSpPr txBox="1"/>
          <p:nvPr/>
        </p:nvSpPr>
        <p:spPr>
          <a:xfrm>
            <a:off x="8039100" y="6419850"/>
            <a:ext cx="5962650" cy="3810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87C70"/>
                </a:solidFill>
                <a:latin typeface="Noto Sans KR"/>
              </a:rPr>
              <a:t>3개월 추가 목표 합계 · 5,149만 원</a:t>
            </a:r>
          </a:p>
        </p:txBody>
      </p:sp>
      <p:sp>
        <p:nvSpPr>
          <p:cNvPr id="13" name="scenario-disclaimer"/>
          <p:cNvSpPr txBox="1"/>
          <p:nvPr/>
        </p:nvSpPr>
        <p:spPr>
          <a:xfrm>
            <a:off x="1009650" y="7620000"/>
            <a:ext cx="13220700" cy="61912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기준 전망에 더하는 월별 계획 목표입니다. 준비월은 추가 목표를 배분하지 않으며, 실제 효과는 사업 후 확인합니다.</a:t>
            </a:r>
          </a:p>
        </p:txBody>
      </p:sp>
      <p:sp>
        <p:nvSpPr>
          <p:cNvPr id="14"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10 / 17</a:t>
            </a:r>
          </a:p>
        </p:txBody>
      </p:sp>
    </p:spTree>
  </p:cSld>
  <p:clrMapOvr>
    <a:masterClrMapping/>
  </p:clrMapOvr>
</p:sld>
</file>

<file path=ppt/slides/slide10.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2262A"/>
                </a:solidFill>
                <a:latin typeface="Noto Sans KR"/>
              </a:rPr>
              <a:t>4.1 4단계 실행 가이드 예시안</a:t>
            </a:r>
          </a:p>
        </p:txBody>
      </p:sp>
      <p:sp xmlns:a="http://schemas.openxmlformats.org/drawingml/2006/main">
        <p:nvSpPr>
          <p:cNvPr id="4" name="execution-panel-0"/>
          <p:cNvSpPr/>
          <p:nvPr/>
        </p:nvSpPr>
        <p:spPr>
          <a:xfrm>
            <a:off x="1009650" y="209550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txBox="1"/>
          <p:nvPr/>
        </p:nvSpPr>
        <p:spPr>
          <a:xfrm>
            <a:off x="1219200" y="2305050"/>
            <a:ext cx="714375" cy="485775"/>
          </a:xfrm>
          <a:prstGeom prst="roundRect">
            <a:avLst>
              <a:gd name="adj" fmla="val 50000"/>
            </a:avLst>
          </a:prstGeom>
          <a:solidFill>
            <a:srgbClr val="27649B"/>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01</a:t>
            </a:r>
          </a:p>
        </p:txBody>
      </p:sp>
      <p:sp xmlns:a="http://schemas.openxmlformats.org/drawingml/2006/main">
        <p:nvSpPr>
          <p:cNvPr id="6" name="execution-stage-0"/>
          <p:cNvSpPr txBox="1"/>
          <p:nvPr/>
        </p:nvSpPr>
        <p:spPr>
          <a:xfrm>
            <a:off x="2209800" y="221932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준비와 협의</a:t>
            </a:r>
          </a:p>
        </p:txBody>
      </p:sp>
      <p:sp xmlns:a="http://schemas.openxmlformats.org/drawingml/2006/main">
        <p:nvSpPr>
          <p:cNvPr id="7" name="execution-period-0"/>
          <p:cNvSpPr txBox="1"/>
          <p:nvPr/>
        </p:nvSpPr>
        <p:spPr>
          <a:xfrm>
            <a:off x="2209800" y="268605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사업 총괄</a:t>
            </a:r>
          </a:p>
        </p:txBody>
      </p:sp>
      <p:sp xmlns:a="http://schemas.openxmlformats.org/drawingml/2006/main">
        <p:nvSpPr>
          <p:cNvPr id="8" name="execution-lead-0"/>
          <p:cNvSpPr txBox="1"/>
          <p:nvPr/>
        </p:nvSpPr>
        <p:spPr>
          <a:xfrm>
            <a:off x="5314950" y="219075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참여 가게와 지원 기준을 먼저 정합니다.</a:t>
            </a:r>
          </a:p>
        </p:txBody>
      </p:sp>
      <p:sp xmlns:a="http://schemas.openxmlformats.org/drawingml/2006/main">
        <p:nvSpPr>
          <p:cNvPr id="9" name="execution-body-0"/>
          <p:cNvSpPr txBox="1"/>
          <p:nvPr/>
        </p:nvSpPr>
        <p:spPr>
          <a:xfrm>
            <a:off x="5314950" y="260985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참여를 희망하는 가게에 사용 가능한 상품권과 정산 방법을 확인합니다. 지원 대상, 인정할 지출, 신청</a:t>
            </a:r>
          </a:p>
          <a:p>
            <a:pPr eaLnBrk="0">
              <a:lnSpc>
                <a:spcPts val="1875"/>
              </a:lnSpc>
              <a:spcBef>
                <a:spcPts val="0"/>
              </a:spcBef>
              <a:spcAft>
                <a:spcPts val="0"/>
              </a:spcAft>
            </a:pPr>
            <a:r>
              <a:rPr sz="1500" b="0">
                <a:solidFill>
                  <a:srgbClr val="62666C"/>
                </a:solidFill>
                <a:latin typeface="Noto Sans KR"/>
              </a:rPr>
              <a:t>마감일과 1인당 한도를 정해 같은 안내문을 배포합니다.</a:t>
            </a:r>
          </a:p>
        </p:txBody>
      </p:sp>
      <p:sp xmlns:a="http://schemas.openxmlformats.org/drawingml/2006/main">
        <p:nvSpPr>
          <p:cNvPr id="10" name="execution-panel-1"/>
          <p:cNvSpPr/>
          <p:nvPr/>
        </p:nvSpPr>
        <p:spPr>
          <a:xfrm>
            <a:off x="1009650" y="345757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flow-node-1"/>
          <p:cNvSpPr txBox="1"/>
          <p:nvPr/>
        </p:nvSpPr>
        <p:spPr>
          <a:xfrm>
            <a:off x="1219200" y="3667125"/>
            <a:ext cx="714375" cy="485775"/>
          </a:xfrm>
          <a:prstGeom prst="roundRect">
            <a:avLst>
              <a:gd name="adj" fmla="val 50000"/>
            </a:avLst>
          </a:prstGeom>
          <a:solidFill>
            <a:srgbClr val="187C70"/>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02</a:t>
            </a:r>
          </a:p>
        </p:txBody>
      </p:sp>
      <p:sp xmlns:a="http://schemas.openxmlformats.org/drawingml/2006/main">
        <p:nvSpPr>
          <p:cNvPr id="12" name="execution-stage-1"/>
          <p:cNvSpPr txBox="1"/>
          <p:nvPr/>
        </p:nvSpPr>
        <p:spPr>
          <a:xfrm>
            <a:off x="2209800" y="358140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운영 절차 점검</a:t>
            </a:r>
          </a:p>
        </p:txBody>
      </p:sp>
      <p:sp xmlns:a="http://schemas.openxmlformats.org/drawingml/2006/main">
        <p:nvSpPr>
          <p:cNvPr id="13" name="execution-period-1"/>
          <p:cNvSpPr txBox="1"/>
          <p:nvPr/>
        </p:nvSpPr>
        <p:spPr>
          <a:xfrm>
            <a:off x="2209800" y="404812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운영·정산 담당</a:t>
            </a:r>
          </a:p>
        </p:txBody>
      </p:sp>
      <p:sp xmlns:a="http://schemas.openxmlformats.org/drawingml/2006/main">
        <p:nvSpPr>
          <p:cNvPr id="14" name="execution-lead-1"/>
          <p:cNvSpPr txBox="1"/>
          <p:nvPr/>
        </p:nvSpPr>
        <p:spPr>
          <a:xfrm>
            <a:off x="5314950" y="355282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신청부터 지급까지 직접 시험합니다.</a:t>
            </a:r>
          </a:p>
        </p:txBody>
      </p:sp>
      <p:sp xmlns:a="http://schemas.openxmlformats.org/drawingml/2006/main">
        <p:nvSpPr>
          <p:cNvPr id="15" name="execution-body-1"/>
          <p:cNvSpPr txBox="1"/>
          <p:nvPr/>
        </p:nvSpPr>
        <p:spPr>
          <a:xfrm>
            <a:off x="5314950" y="397192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시험 신청서를 넣고 영수증의 날짜·가게·금액을 확인합니다. 취소 결제와 중복 신청을 걸러내고, 서류가</a:t>
            </a:r>
          </a:p>
          <a:p>
            <a:pPr eaLnBrk="0">
              <a:lnSpc>
                <a:spcPts val="1875"/>
              </a:lnSpc>
              <a:spcBef>
                <a:spcPts val="0"/>
              </a:spcBef>
              <a:spcAft>
                <a:spcPts val="0"/>
              </a:spcAft>
            </a:pPr>
            <a:r>
              <a:rPr sz="1500" b="0">
                <a:solidFill>
                  <a:srgbClr val="62666C"/>
                </a:solidFill>
                <a:latin typeface="Noto Sans KR"/>
              </a:rPr>
              <a:t>부족할 때 누구에게 보완을 요청할지도 정합니다.</a:t>
            </a:r>
          </a:p>
        </p:txBody>
      </p:sp>
      <p:sp xmlns:a="http://schemas.openxmlformats.org/drawingml/2006/main">
        <p:nvSpPr>
          <p:cNvPr id="16" name="execution-panel-2"/>
          <p:cNvSpPr/>
          <p:nvPr/>
        </p:nvSpPr>
        <p:spPr>
          <a:xfrm>
            <a:off x="1009650" y="481965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flow-node-2"/>
          <p:cNvSpPr txBox="1"/>
          <p:nvPr/>
        </p:nvSpPr>
        <p:spPr>
          <a:xfrm>
            <a:off x="1219200" y="5029200"/>
            <a:ext cx="714375" cy="485775"/>
          </a:xfrm>
          <a:prstGeom prst="roundRect">
            <a:avLst>
              <a:gd name="adj" fmla="val 50000"/>
            </a:avLst>
          </a:prstGeom>
          <a:solidFill>
            <a:srgbClr val="7556A5"/>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03</a:t>
            </a:r>
          </a:p>
        </p:txBody>
      </p:sp>
      <p:sp xmlns:a="http://schemas.openxmlformats.org/drawingml/2006/main">
        <p:nvSpPr>
          <p:cNvPr id="18" name="execution-stage-2"/>
          <p:cNvSpPr txBox="1"/>
          <p:nvPr/>
        </p:nvSpPr>
        <p:spPr>
          <a:xfrm>
            <a:off x="2209800" y="494347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시범 운영</a:t>
            </a:r>
          </a:p>
        </p:txBody>
      </p:sp>
      <p:sp xmlns:a="http://schemas.openxmlformats.org/drawingml/2006/main">
        <p:nvSpPr>
          <p:cNvPr id="19" name="execution-period-2"/>
          <p:cNvSpPr txBox="1"/>
          <p:nvPr/>
        </p:nvSpPr>
        <p:spPr>
          <a:xfrm>
            <a:off x="2209800" y="541020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2026-11 · 현장 운영 담당</a:t>
            </a:r>
          </a:p>
        </p:txBody>
      </p:sp>
      <p:sp xmlns:a="http://schemas.openxmlformats.org/drawingml/2006/main">
        <p:nvSpPr>
          <p:cNvPr id="20" name="execution-lead-2"/>
          <p:cNvSpPr txBox="1"/>
          <p:nvPr/>
        </p:nvSpPr>
        <p:spPr>
          <a:xfrm>
            <a:off x="5314950" y="491490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작게 시작하고 확인된 신청부터 지급합니다.</a:t>
            </a:r>
          </a:p>
        </p:txBody>
      </p:sp>
      <p:sp xmlns:a="http://schemas.openxmlformats.org/drawingml/2006/main">
        <p:nvSpPr>
          <p:cNvPr id="21" name="execution-body-2"/>
          <p:cNvSpPr txBox="1"/>
          <p:nvPr/>
        </p:nvSpPr>
        <p:spPr>
          <a:xfrm>
            <a:off x="5314950" y="533400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 가게를 한정해 먼저 운영합니다. 담당자가 지출 증빙을 확인한 뒤 정해진 기준에 따라 환급하고,</a:t>
            </a:r>
          </a:p>
          <a:p>
            <a:pPr eaLnBrk="0">
              <a:lnSpc>
                <a:spcPts val="1875"/>
              </a:lnSpc>
              <a:spcBef>
                <a:spcPts val="0"/>
              </a:spcBef>
              <a:spcAft>
                <a:spcPts val="0"/>
              </a:spcAft>
            </a:pPr>
            <a:r>
              <a:rPr sz="1500" b="0">
                <a:solidFill>
                  <a:srgbClr val="62666C"/>
                </a:solidFill>
                <a:latin typeface="Noto Sans KR"/>
              </a:rPr>
              <a:t>신청자에게 지급일과 상품권 사용 방법을 알려줍니다.</a:t>
            </a:r>
          </a:p>
        </p:txBody>
      </p:sp>
      <p:sp xmlns:a="http://schemas.openxmlformats.org/drawingml/2006/main">
        <p:nvSpPr>
          <p:cNvPr id="22" name="execution-panel-3"/>
          <p:cNvSpPr/>
          <p:nvPr/>
        </p:nvSpPr>
        <p:spPr>
          <a:xfrm>
            <a:off x="1009650" y="618172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flow-node-3"/>
          <p:cNvSpPr txBox="1"/>
          <p:nvPr/>
        </p:nvSpPr>
        <p:spPr>
          <a:xfrm>
            <a:off x="1219200" y="6391275"/>
            <a:ext cx="714375" cy="485775"/>
          </a:xfrm>
          <a:prstGeom prst="roundRect">
            <a:avLst>
              <a:gd name="adj" fmla="val 50000"/>
            </a:avLst>
          </a:prstGeom>
          <a:solidFill>
            <a:srgbClr val="AE2349"/>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04</a:t>
            </a:r>
          </a:p>
        </p:txBody>
      </p:sp>
      <p:sp xmlns:a="http://schemas.openxmlformats.org/drawingml/2006/main">
        <p:nvSpPr>
          <p:cNvPr id="24" name="execution-stage-3"/>
          <p:cNvSpPr txBox="1"/>
          <p:nvPr/>
        </p:nvSpPr>
        <p:spPr>
          <a:xfrm>
            <a:off x="2209800" y="630555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실적 확인과 평가</a:t>
            </a:r>
          </a:p>
        </p:txBody>
      </p:sp>
      <p:sp xmlns:a="http://schemas.openxmlformats.org/drawingml/2006/main">
        <p:nvSpPr>
          <p:cNvPr id="25" name="execution-period-3"/>
          <p:cNvSpPr txBox="1"/>
          <p:nvPr/>
        </p:nvSpPr>
        <p:spPr>
          <a:xfrm>
            <a:off x="2209800" y="677227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2026-12 · 사업·평가 담당</a:t>
            </a:r>
          </a:p>
        </p:txBody>
      </p:sp>
      <p:sp xmlns:a="http://schemas.openxmlformats.org/drawingml/2006/main">
        <p:nvSpPr>
          <p:cNvPr id="26" name="execution-lead-3"/>
          <p:cNvSpPr txBox="1"/>
          <p:nvPr/>
        </p:nvSpPr>
        <p:spPr>
          <a:xfrm>
            <a:off x="5314950" y="627697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지급 기록과 실제 사용 결과를 확인합니다.</a:t>
            </a:r>
          </a:p>
        </p:txBody>
      </p:sp>
      <p:sp xmlns:a="http://schemas.openxmlformats.org/drawingml/2006/main">
        <p:nvSpPr>
          <p:cNvPr id="27" name="execution-body-3"/>
          <p:cNvSpPr txBox="1"/>
          <p:nvPr/>
        </p:nvSpPr>
        <p:spPr>
          <a:xfrm>
            <a:off x="5314950" y="669607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매주 신청·승인·지급 건수와 비용을 맞춰 봅니다. 상품권 사용 집계가 가능한지 운영사에 확인하고, 종료 후</a:t>
            </a:r>
          </a:p>
          <a:p>
            <a:pPr eaLnBrk="0">
              <a:lnSpc>
                <a:spcPts val="1875"/>
              </a:lnSpc>
              <a:spcBef>
                <a:spcPts val="0"/>
              </a:spcBef>
              <a:spcAft>
                <a:spcPts val="0"/>
              </a:spcAft>
            </a:pPr>
            <a:r>
              <a:rPr sz="1500" b="0">
                <a:solidFill>
                  <a:srgbClr val="62666C"/>
                </a:solidFill>
                <a:latin typeface="Noto Sans KR"/>
              </a:rPr>
              <a:t>취소를 뺀 실적을 정리합니다. 전체 관광소비 증가를 전부 사업 성과로 보지는 않습니다.</a:t>
            </a:r>
          </a:p>
        </p:txBody>
      </p:sp>
      <p:sp xmlns:a="http://schemas.openxmlformats.org/drawingml/2006/main">
        <p:nvSpPr>
          <p:cNvPr id="28" name="execution-origin"/>
          <p:cNvSpPr txBox="1"/>
          <p:nvPr/>
        </p:nvSpPr>
        <p:spPr>
          <a:xfrm>
            <a:off x="1009650" y="7829550"/>
            <a:ext cx="13220700" cy="5715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작성 기준: 저장된 일정 + 사업 유형별 운영 안내 함수. 공식 협약·법정 절차를 인용한 내용이 아니라 조정 가능한 실행 예시입니다.</a:t>
            </a:r>
          </a:p>
        </p:txBody>
      </p:sp>
      <p:sp xmlns:a="http://schemas.openxmlformats.org/drawingml/2006/main">
        <p:nvSpPr>
          <p:cNvPr id="3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4. 지역 적용과 실행</a:t>
            </a:r>
          </a:p>
        </p:txBody>
      </p:sp>
      <p:sp xmlns:a="http://schemas.openxmlformats.org/drawingml/2006/main">
        <p:nvSpPr>
          <p:cNvPr id="31"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11 / 17</a:t>
            </a:r>
          </a:p>
        </p:txBody>
      </p:sp>
    </p:spTree>
    <p:extLst>
      <p:ext uri="{BB962C8B-B14F-4D97-AF65-F5344CB8AC3E}">
        <p14:creationId xmlns:p14="http://schemas.microsoft.com/office/powerpoint/2010/main" val="380383987"/>
      </p:ext>
    </p:extLst>
  </p:cSld>
</p:sld>
</file>

<file path=ppt/slides/slide11.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2262A"/>
                </a:solidFill>
                <a:latin typeface="Noto Sans KR"/>
              </a:rPr>
              <a:t>4.2 머신러닝 예측값과 목표 KPI</a:t>
            </a: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27649B"/>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4,998,578명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4,998,578명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0명 · 0.00%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4,940,348명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4,940,825명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477명 · 0.01%</a:t>
                      </a:r>
                    </a:p>
                  </a:txBody>
                  <a:tcPr marL="95250" marR="95250" marT="66675" marB="66675" anchor="ctr">
                    <a:solidFill>
                      <a:srgbClr val="EDF3F8"/>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4,989,633명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4,990,596명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963명 · 0.02%</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14,928,559명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14,929,999명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1,440명 · 0.01%</a:t>
                      </a:r>
                    </a:p>
                  </a:txBody>
                  <a:tcPr marL="95250" marR="95250" marT="66675" marB="66675" anchor="ctr">
                    <a:solidFill>
                      <a:srgbClr val="EDF3F8"/>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27649B"/>
                </a:solidFill>
                <a:latin typeface="Noto Sans KR"/>
              </a:rPr>
              <a:t>3개월 목표 추가 규모 ↑ 1,440명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187C70"/>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793.59억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793.59억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0만 원 · 0.00%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859.72억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859.90억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1,785만 원 · 0.02%</a:t>
                      </a:r>
                    </a:p>
                  </a:txBody>
                  <a:tcPr marL="95250" marR="95250" marT="66675" marB="66675" anchor="ctr">
                    <a:solidFill>
                      <a:srgbClr val="EDF5F3"/>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810.34억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810.68억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3,364만 원 · 0.04%</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2,463.65억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2,464.17억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5,149만 원 · 0.02%</a:t>
                      </a:r>
                    </a:p>
                  </a:txBody>
                  <a:tcPr marL="95250" marR="95250" marT="66675" marB="66675" anchor="ctr">
                    <a:solidFill>
                      <a:srgbClr val="EDF5F3"/>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187C70"/>
                </a:solidFill>
                <a:latin typeface="Noto Sans KR"/>
              </a:rPr>
              <a:t>3개월 목표 추가 규모 ↑ 5,149만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준비월의 추가 목표는 0명·0원입니다. 운영월에는 ML 전망 × 최종월 목표율 × (경과 운영월 ÷ 전체 운영월)을 더합니다.</a:t>
            </a:r>
          </a:p>
          <a:p>
            <a:pPr eaLnBrk="0">
              <a:lnSpc>
                <a:spcPts val="1687"/>
              </a:lnSpc>
              <a:spcBef>
                <a:spcPts val="0"/>
              </a:spcBef>
              <a:spcAft>
                <a:spcPts val="0"/>
              </a:spcAft>
            </a:pPr>
            <a:r>
              <a:rPr sz="1350" b="0">
                <a:solidFill>
                  <a:srgbClr val="62666C"/>
                </a:solidFill>
                <a:latin typeface="Noto Sans KR"/>
              </a:rPr>
              <a:t>합계 증가율 = (목표 합계 ÷ ML 합계 − 1) × 100. 방문 합계는 월 간 중복을 포함하며, 보장된 사업 효과가 아닙니다.</a:t>
            </a:r>
          </a:p>
        </p:txBody>
      </p:sp>
      <p:sp xmlns:a="http://schemas.openxmlformats.org/drawingml/2006/main">
        <p:nvSpPr>
          <p:cNvPr id="1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4. 지역 적용과 실행</a:t>
            </a:r>
          </a:p>
        </p:txBody>
      </p:sp>
      <p:sp xmlns:a="http://schemas.openxmlformats.org/drawingml/2006/main">
        <p:nvSpPr>
          <p:cNvPr id="1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12 / 17</a:t>
            </a:r>
          </a:p>
        </p:txBody>
      </p:sp>
    </p:spTree>
    <p:extLst>
      <p:ext uri="{BB962C8B-B14F-4D97-AF65-F5344CB8AC3E}">
        <p14:creationId xmlns:p14="http://schemas.microsoft.com/office/powerpoint/2010/main" val="553742078"/>
      </p:ext>
    </p:extLst>
  </p:cSld>
</p:sld>
</file>

<file path=ppt/slides/slide12.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5.1 견적 예시안</a:t>
            </a:r>
          </a:p>
        </p:txBody>
      </p:sp>
      <p:sp xmlns:a="http://schemas.openxmlformats.org/drawingml/2006/main">
        <p:nvSpPr>
          <p:cNvPr id="4" name="estimate-label"/>
          <p:cNvSpPr txBox="1"/>
          <p:nvPr/>
        </p:nvSpPr>
        <p:spPr>
          <a:xfrm>
            <a:off x="1009650" y="1933575"/>
            <a:ext cx="8477250" cy="47625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62666C"/>
                </a:solidFill>
                <a:latin typeface="Noto Sans KR"/>
              </a:rPr>
              <a:t>참여 목표에 따른 예상 사업비</a:t>
            </a:r>
          </a:p>
        </p:txBody>
      </p:sp>
      <p:sp xmlns:a="http://schemas.openxmlformats.org/drawingml/2006/main">
        <p:nvSpPr>
          <p:cNvPr id="5" name="estimate-total"/>
          <p:cNvSpPr txBox="1"/>
          <p:nvPr/>
        </p:nvSpPr>
        <p:spPr>
          <a:xfrm>
            <a:off x="9620250" y="1876425"/>
            <a:ext cx="4610100" cy="590550"/>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F50045"/>
                </a:solidFill>
                <a:latin typeface="Noto Sans KR"/>
              </a:rPr>
              <a:t>총 5,694만 원</a:t>
            </a:r>
          </a:p>
        </p:txBody>
      </p:sp>
      <p:graphicFrame xmlns:a="http://schemas.openxmlformats.org/drawingml/2006/main">
        <p:nvGraphicFramePr>
          <p:cNvPr id="6" name="estimate-table"/>
          <p:cNvGraphicFramePr>
            <a:graphicFrameLocks noGrp="1"/>
          </p:cNvGraphicFramePr>
          <p:nvPr/>
        </p:nvGraphicFramePr>
        <p:xfrm>
          <a:off x="1009650" y="2771775"/>
          <a:ext cx="13220700" cy="3829050"/>
        </p:xfrm>
        <a:graphic>
          <a:graphicData uri="http://schemas.openxmlformats.org/drawingml/2006/table">
            <a:tbl>
              <a:tblPr firstRow="1" bandRow="1">
                <a:tableStyleId>{5C22544A-7EE6-4342-B048-85BDC9FD1C3A}</a:tableStyleId>
              </a:tblPr>
              <a:tblGrid>
                <a:gridCol w="2762250"/>
                <a:gridCol w="2667000"/>
                <a:gridCol w="7791450"/>
              </a:tblGrid>
              <a:tr h="495300">
                <a:tc>
                  <a:txBody>
                    <a:bodyPr wrap="none"/>
                    <a:lstStyle/>
                    <a:p>
                      <a:pPr eaLnBrk="0">
                        <a:lnSpc>
                          <a:spcPct val="112000"/>
                        </a:lnSpc>
                        <a:spcBef>
                          <a:spcPts val="0"/>
                        </a:spcBef>
                        <a:spcAft>
                          <a:spcPts val="0"/>
                        </a:spcAft>
                      </a:pPr>
                      <a:r>
                        <a:rPr sz="1575" b="1">
                          <a:solidFill>
                            <a:srgbClr val="FFFFFF"/>
                          </a:solidFill>
                          <a:latin typeface="Noto Sans KR"/>
                        </a:rPr>
                        <a:t>항목</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금액</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산출근거</a:t>
                      </a:r>
                    </a:p>
                  </a:txBody>
                  <a:tcPr marL="95250" marR="95250" marT="66675" marB="66675" anchor="ctr">
                    <a:solidFill>
                      <a:srgbClr val="36A69C"/>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여행비 환급 지원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23,764,800원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참여 목표 4,800건 × min(계획 결제 16,503원 × 30%, 건별 상한 50,000원) = 건당 4,951원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현장 운영·정산</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12,000,000원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0">
                          <a:solidFill>
                            <a:srgbClr val="202124"/>
                          </a:solidFill>
                          <a:latin typeface="Noto Sans KR"/>
                        </a:rPr>
                        <a:t>2개 운영팀 × 월 20일 × 2개월 × 150,000원 (점포 묶음 8개, 최대 4개당 공동 정산팀 1개)</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신청·운영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8,000,000원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기존 수단 설정 1식 × 가정 단가 8,000,000원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홍보·참여처 안내</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5,000,000원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안내 콘텐츠 1식 × 가정 단가 5,000,000원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실적 정리 1식 × 가정 단가 3,000,000원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예비비</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5,176,480원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직접비 51,764,800원 × 10%</a:t>
                      </a:r>
                    </a:p>
                  </a:txBody>
                  <a:tcPr marL="95250" marR="95250" marT="66675" marB="66675" anchor="ctr">
                    <a:solidFill>
                      <a:srgbClr val="FBEFF2"/>
                    </a:solidFill>
                  </a:tcPr>
                </a:tc>
              </a:tr>
            </a:tbl>
          </a:graphicData>
        </a:graphic>
      </p:graphicFrame>
      <p:sp xmlns:a="http://schemas.openxmlformats.org/drawingml/2006/main">
        <p:nvSpPr>
          <p:cNvPr id="7" name="estimate-method"/>
          <p:cNvSpPr txBox="1"/>
          <p:nvPr/>
        </p:nvSpPr>
        <p:spPr>
          <a:xfrm>
            <a:off x="1009650" y="6858000"/>
            <a:ext cx="13220700" cy="10096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참여자 결제 79,214,400원 중 추가 소비 목표 51,489,277원. 견적은 같은 참여 목표의 사업비이며, 결제액 전체를 신규 소비나 사업 수익으로 계산하지 않습니다.</a:t>
            </a:r>
          </a:p>
          <a:p>
            <a:pPr eaLnBrk="0">
              <a:lnSpc>
                <a:spcPts val="1781"/>
              </a:lnSpc>
              <a:spcBef>
                <a:spcPts val="0"/>
              </a:spcBef>
              <a:spcAft>
                <a:spcPts val="0"/>
              </a:spcAft>
            </a:pPr>
            <a:r>
              <a:rPr sz="1425" b="0">
                <a:solidFill>
                  <a:srgbClr val="62666C"/>
                </a:solidFill>
                <a:latin typeface="Noto Sans KR"/>
              </a:rPr>
              <a:t>100% 참여 시 참고예산 65,655,040원 · 같은 계획 결제·단가 기준, 지급 상한 총액은 아님. 예비비는 직접비의 10%.</a:t>
            </a:r>
          </a:p>
        </p:txBody>
      </p:sp>
      <p:sp xmlns:a="http://schemas.openxmlformats.org/drawingml/2006/main">
        <p:nvSpPr>
          <p:cNvPr id="8" name="estimate-not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F50045"/>
                </a:solidFill>
                <a:latin typeface="Noto Sans KR"/>
              </a:rPr>
              <a:t>예상 견적이며 실제 액수와 다를 수 있습니다. 세금 포함 여부·업무 범위·수량·단가는 계약 전에 조정합니다.</a:t>
            </a:r>
          </a:p>
        </p:txBody>
      </p:sp>
      <p:sp xmlns:a="http://schemas.openxmlformats.org/drawingml/2006/main">
        <p:nvSpPr>
          <p:cNvPr id="1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5. 예상 견적</a:t>
            </a:r>
          </a:p>
        </p:txBody>
      </p:sp>
      <p:sp xmlns:a="http://schemas.openxmlformats.org/drawingml/2006/main">
        <p:nvSpPr>
          <p:cNvPr id="11"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13 / 17</a:t>
            </a:r>
          </a:p>
        </p:txBody>
      </p:sp>
    </p:spTree>
    <p:extLst>
      <p:ext uri="{BB962C8B-B14F-4D97-AF65-F5344CB8AC3E}">
        <p14:creationId xmlns:p14="http://schemas.microsoft.com/office/powerpoint/2010/main" val="1823133345"/>
      </p:ext>
    </p:extLst>
  </p:cSld>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66" name="pipeline-agent-card-1096"/>
          <p:cNvSpPr/>
          <p:nvPr/>
        </p:nvSpPr>
        <p:spPr>
          <a:xfrm>
            <a:off x="10439400" y="2686050"/>
            <a:ext cx="17145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ipeline-agent-card-874"/>
          <p:cNvSpPr/>
          <p:nvPr/>
        </p:nvSpPr>
        <p:spPr>
          <a:xfrm>
            <a:off x="8324850" y="2686050"/>
            <a:ext cx="17145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ipeline-agent-card-652"/>
          <p:cNvSpPr/>
          <p:nvPr/>
        </p:nvSpPr>
        <p:spPr>
          <a:xfrm>
            <a:off x="6210300" y="2686050"/>
            <a:ext cx="17145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6.1 기획서 생성 파이프라인</a:t>
            </a:r>
          </a:p>
        </p:txBody>
      </p:sp>
      <p:sp>
        <p:nvSpPr>
          <p:cNvPr id="4" name="pipeline-intro"/>
          <p:cNvSpPr txBox="1"/>
          <p:nvPr/>
        </p:nvSpPr>
        <p:spPr>
          <a:xfrm>
            <a:off x="1009650" y="180975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5개 전문 에이전트가 조사·비교·작성·검수를 나누어 수행합니다</a:t>
            </a:r>
          </a:p>
        </p:txBody>
      </p:sp>
      <p:cxnSp>
        <p:nvCxnSpPr>
          <p:cNvPr id="5" name="start-to-fork-0"/>
          <p:cNvCxnSpPr/>
          <p:nvPr/>
        </p:nvCxnSpPr>
        <p:spPr>
          <a:xfrm>
            <a:off x="2457450" y="4324350"/>
            <a:ext cx="2381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6" name="fork-evidence-0"/>
          <p:cNvCxnSpPr/>
          <p:nvPr/>
        </p:nvCxnSpPr>
        <p:spPr>
          <a:xfrm flipV="1">
            <a:off x="2695575"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7" name="fork-evidence-1"/>
          <p:cNvCxnSpPr/>
          <p:nvPr/>
        </p:nvCxnSpPr>
        <p:spPr>
          <a:xfrm>
            <a:off x="2695575" y="3371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8" name="fork-case-0"/>
          <p:cNvCxnSpPr/>
          <p:nvPr/>
        </p:nvCxnSpPr>
        <p:spPr>
          <a:xfrm>
            <a:off x="2695575"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9" name="fork-case-1"/>
          <p:cNvCxnSpPr/>
          <p:nvPr/>
        </p:nvCxnSpPr>
        <p:spPr>
          <a:xfrm>
            <a:off x="2695575" y="5276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0" name="join-evidence-0"/>
          <p:cNvCxnSpPr/>
          <p:nvPr/>
        </p:nvCxnSpPr>
        <p:spPr>
          <a:xfrm>
            <a:off x="5715000" y="3371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1" name="join-evidence-1"/>
          <p:cNvCxnSpPr/>
          <p:nvPr/>
        </p:nvCxnSpPr>
        <p:spPr>
          <a:xfrm>
            <a:off x="5924550"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join-case-0"/>
          <p:cNvCxnSpPr/>
          <p:nvPr/>
        </p:nvCxnSpPr>
        <p:spPr>
          <a:xfrm>
            <a:off x="5715000" y="5276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join-case-1"/>
          <p:cNvCxnSpPr/>
          <p:nvPr/>
        </p:nvCxnSpPr>
        <p:spPr>
          <a:xfrm flipV="1">
            <a:off x="5924550"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4" name="join-compare-0"/>
          <p:cNvCxnSpPr/>
          <p:nvPr/>
        </p:nvCxnSpPr>
        <p:spPr>
          <a:xfrm>
            <a:off x="5924550" y="4324350"/>
            <a:ext cx="2762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5" name="pipeline-next-0-0"/>
          <p:cNvCxnSpPr/>
          <p:nvPr/>
        </p:nvCxnSpPr>
        <p:spPr>
          <a:xfrm>
            <a:off x="7924800" y="4324350"/>
            <a:ext cx="40005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6" name="pipeline-next-1-0"/>
          <p:cNvCxnSpPr/>
          <p:nvPr/>
        </p:nvCxnSpPr>
        <p:spPr>
          <a:xfrm>
            <a:off x="10039350" y="4324350"/>
            <a:ext cx="40005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7" name="pipeline-next-2-0"/>
          <p:cNvCxnSpPr/>
          <p:nvPr/>
        </p:nvCxnSpPr>
        <p:spPr>
          <a:xfrm>
            <a:off x="12153900" y="4324350"/>
            <a:ext cx="6096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8" name="research-background"/>
          <p:cNvSpPr/>
          <p:nvPr/>
        </p:nvSpPr>
        <p:spPr>
          <a:xfrm>
            <a:off x="2952750" y="2647950"/>
            <a:ext cx="2762250" cy="3457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peline-evidence-icon" descr="map-pinned-ocean.png"/>
          <p:cNvPicPr>
            <a:picLocks noChangeAspect="1"/>
          </p:cNvPicPr>
          <p:nvPr/>
        </p:nvPicPr>
        <p:blipFill>
          <a:blip r:embed="rId19"/>
          <a:stretch>
            <a:fillRect/>
          </a:stretch>
        </p:blipFill>
        <p:spPr>
          <a:xfrm>
            <a:off x="3143250" y="2981325"/>
            <a:ext cx="542925" cy="542925"/>
          </a:xfrm>
          <a:prstGeom prst="rect">
            <a:avLst/>
          </a:prstGeom>
        </p:spPr>
      </p:pic>
      <p:sp>
        <p:nvSpPr>
          <p:cNvPr id="20" name="pipeline-evidence-title"/>
          <p:cNvSpPr txBox="1"/>
          <p:nvPr/>
        </p:nvSpPr>
        <p:spPr>
          <a:xfrm>
            <a:off x="3800475" y="290512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① 지역</a:t>
            </a:r>
          </a:p>
          <a:p>
            <a:pPr eaLnBrk="0">
              <a:lnSpc>
                <a:spcPts val="2203"/>
              </a:lnSpc>
              <a:spcBef>
                <a:spcPts val="0"/>
              </a:spcBef>
              <a:spcAft>
                <a:spcPts val="0"/>
              </a:spcAft>
            </a:pPr>
            <a:r>
              <a:rPr sz="1762" b="1">
                <a:solidFill>
                  <a:srgbClr val="202124"/>
                </a:solidFill>
                <a:latin typeface="Noto Sans KR"/>
              </a:rPr>
              <a:t>근거 정리</a:t>
            </a:r>
          </a:p>
        </p:txBody>
      </p:sp>
      <p:sp>
        <p:nvSpPr>
          <p:cNvPr id="21" name="pipeline-evidence-subtitle"/>
          <p:cNvSpPr txBox="1"/>
          <p:nvPr/>
        </p:nvSpPr>
        <p:spPr>
          <a:xfrm>
            <a:off x="3086100" y="368617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SQL · 공식 관광자료</a:t>
            </a:r>
          </a:p>
        </p:txBody>
      </p:sp>
      <p:pic>
        <p:nvPicPr>
          <p:cNvPr id="68" name="pipeline-case-icon" descr="search-check-violet.png"/>
          <p:cNvPicPr>
            <a:picLocks noChangeAspect="1"/>
          </p:cNvPicPr>
          <p:nvPr/>
        </p:nvPicPr>
        <p:blipFill>
          <a:blip r:embed="rId20"/>
          <a:stretch>
            <a:fillRect/>
          </a:stretch>
        </p:blipFill>
        <p:spPr>
          <a:xfrm>
            <a:off x="3143250" y="4867275"/>
            <a:ext cx="542925" cy="542925"/>
          </a:xfrm>
          <a:prstGeom prst="rect">
            <a:avLst/>
          </a:prstGeom>
        </p:spPr>
      </p:pic>
      <p:sp>
        <p:nvSpPr>
          <p:cNvPr id="23" name="pipeline-case-title"/>
          <p:cNvSpPr txBox="1"/>
          <p:nvPr/>
        </p:nvSpPr>
        <p:spPr>
          <a:xfrm>
            <a:off x="3800475" y="479107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② 타지역</a:t>
            </a:r>
          </a:p>
          <a:p>
            <a:pPr eaLnBrk="0">
              <a:lnSpc>
                <a:spcPts val="2203"/>
              </a:lnSpc>
              <a:spcBef>
                <a:spcPts val="0"/>
              </a:spcBef>
              <a:spcAft>
                <a:spcPts val="0"/>
              </a:spcAft>
            </a:pPr>
            <a:r>
              <a:rPr sz="1762" b="1">
                <a:solidFill>
                  <a:srgbClr val="202124"/>
                </a:solidFill>
                <a:latin typeface="Noto Sans KR"/>
              </a:rPr>
              <a:t>사례 조사</a:t>
            </a:r>
          </a:p>
        </p:txBody>
      </p:sp>
      <p:sp>
        <p:nvSpPr>
          <p:cNvPr id="24" name="pipeline-case-subtitle"/>
          <p:cNvSpPr txBox="1"/>
          <p:nvPr/>
        </p:nvSpPr>
        <p:spPr>
          <a:xfrm>
            <a:off x="3086100" y="557212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OpenAI · 공식 사업·성과</a:t>
            </a:r>
          </a:p>
        </p:txBody>
      </p:sp>
      <p:pic>
        <p:nvPicPr>
          <p:cNvPr id="69" name="pipeline-click-icon" descr="mouse-pointer-click-slate.png"/>
          <p:cNvPicPr>
            <a:picLocks noChangeAspect="1"/>
          </p:cNvPicPr>
          <p:nvPr/>
        </p:nvPicPr>
        <p:blipFill>
          <a:blip r:embed="rId21"/>
          <a:stretch>
            <a:fillRect/>
          </a:stretch>
        </p:blipFill>
        <p:spPr>
          <a:xfrm>
            <a:off x="1352550" y="3476625"/>
            <a:ext cx="819150" cy="819150"/>
          </a:xfrm>
          <a:prstGeom prst="rect">
            <a:avLst/>
          </a:prstGeom>
        </p:spPr>
      </p:pic>
      <p:sp>
        <p:nvSpPr>
          <p:cNvPr id="26" name="pipeline-click"/>
          <p:cNvSpPr txBox="1"/>
          <p:nvPr/>
        </p:nvSpPr>
        <p:spPr>
          <a:xfrm>
            <a:off x="1009650" y="4600575"/>
            <a:ext cx="1428750" cy="866775"/>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02124"/>
                </a:solidFill>
                <a:latin typeface="Noto Sans KR"/>
              </a:rPr>
              <a:t>기획서 생성</a:t>
            </a:r>
          </a:p>
          <a:p>
            <a:pPr eaLnBrk="0" algn="ctr">
              <a:lnSpc>
                <a:spcPts val="2531"/>
              </a:lnSpc>
              <a:spcBef>
                <a:spcPts val="0"/>
              </a:spcBef>
              <a:spcAft>
                <a:spcPts val="0"/>
              </a:spcAft>
            </a:pPr>
            <a:r>
              <a:rPr sz="2025" b="1">
                <a:solidFill>
                  <a:srgbClr val="202124"/>
                </a:solidFill>
                <a:latin typeface="Noto Sans KR"/>
              </a:rPr>
              <a:t>클릭</a:t>
            </a:r>
          </a:p>
        </p:txBody>
      </p:sp>
      <p:sp>
        <p:nvSpPr>
          <p:cNvPr id="27" name="pipeline-model-652"/>
          <p:cNvSpPr txBox="1"/>
          <p:nvPr/>
        </p:nvSpPr>
        <p:spPr>
          <a:xfrm>
            <a:off x="6305550" y="2933700"/>
            <a:ext cx="15049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7649B"/>
                </a:solidFill>
                <a:latin typeface="Noto Sans KR"/>
              </a:rPr>
              <a:t>AI</a:t>
            </a:r>
          </a:p>
        </p:txBody>
      </p:sp>
      <p:pic>
        <p:nvPicPr>
          <p:cNvPr id="70" name="pipeline-icon-652" descr="git-compare-arrows-ocean.png"/>
          <p:cNvPicPr>
            <a:picLocks noChangeAspect="1"/>
          </p:cNvPicPr>
          <p:nvPr/>
        </p:nvPicPr>
        <p:blipFill>
          <a:blip r:embed="rId22"/>
          <a:stretch>
            <a:fillRect/>
          </a:stretch>
        </p:blipFill>
        <p:spPr>
          <a:xfrm>
            <a:off x="6677025" y="3705225"/>
            <a:ext cx="762000" cy="762000"/>
          </a:xfrm>
          <a:prstGeom prst="rect">
            <a:avLst/>
          </a:prstGeom>
        </p:spPr>
      </p:pic>
      <p:sp>
        <p:nvSpPr>
          <p:cNvPr id="29" name="pipeline-title-652"/>
          <p:cNvSpPr txBox="1"/>
          <p:nvPr/>
        </p:nvSpPr>
        <p:spPr>
          <a:xfrm>
            <a:off x="6296025" y="4724400"/>
            <a:ext cx="15240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③ 후보 비교</a:t>
            </a:r>
          </a:p>
        </p:txBody>
      </p:sp>
      <p:sp>
        <p:nvSpPr>
          <p:cNvPr id="30" name="pipeline-body-652"/>
          <p:cNvSpPr txBox="1"/>
          <p:nvPr/>
        </p:nvSpPr>
        <p:spPr>
          <a:xfrm>
            <a:off x="6296025" y="5276850"/>
            <a:ext cx="15240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지역에 맞는</a:t>
            </a:r>
          </a:p>
          <a:p>
            <a:pPr eaLnBrk="0" algn="ctr">
              <a:lnSpc>
                <a:spcPts val="2062"/>
              </a:lnSpc>
              <a:spcBef>
                <a:spcPts val="0"/>
              </a:spcBef>
              <a:spcAft>
                <a:spcPts val="0"/>
              </a:spcAft>
            </a:pPr>
            <a:r>
              <a:rPr sz="1650" b="0">
                <a:solidFill>
                  <a:srgbClr val="62666C"/>
                </a:solidFill>
                <a:latin typeface="Noto Sans KR"/>
              </a:rPr>
              <a:t>사업 선택</a:t>
            </a:r>
          </a:p>
        </p:txBody>
      </p:sp>
      <p:sp>
        <p:nvSpPr>
          <p:cNvPr id="31" name="pipeline-model-874"/>
          <p:cNvSpPr txBox="1"/>
          <p:nvPr/>
        </p:nvSpPr>
        <p:spPr>
          <a:xfrm>
            <a:off x="8420100" y="2933700"/>
            <a:ext cx="15049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A96924"/>
                </a:solidFill>
                <a:latin typeface="Noto Sans KR"/>
              </a:rPr>
              <a:t>AI</a:t>
            </a:r>
          </a:p>
        </p:txBody>
      </p:sp>
      <p:pic>
        <p:nvPicPr>
          <p:cNvPr id="71" name="pipeline-icon-874" descr="notebook-pen-ochre.png"/>
          <p:cNvPicPr>
            <a:picLocks noChangeAspect="1"/>
          </p:cNvPicPr>
          <p:nvPr/>
        </p:nvPicPr>
        <p:blipFill>
          <a:blip r:embed="rId23"/>
          <a:stretch>
            <a:fillRect/>
          </a:stretch>
        </p:blipFill>
        <p:spPr>
          <a:xfrm>
            <a:off x="8791575" y="3705225"/>
            <a:ext cx="762000" cy="762000"/>
          </a:xfrm>
          <a:prstGeom prst="rect">
            <a:avLst/>
          </a:prstGeom>
        </p:spPr>
      </p:pic>
      <p:sp>
        <p:nvSpPr>
          <p:cNvPr id="33" name="pipeline-title-874"/>
          <p:cNvSpPr txBox="1"/>
          <p:nvPr/>
        </p:nvSpPr>
        <p:spPr>
          <a:xfrm>
            <a:off x="8410575" y="4724400"/>
            <a:ext cx="15240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④ 본문 작성</a:t>
            </a:r>
          </a:p>
        </p:txBody>
      </p:sp>
      <p:sp>
        <p:nvSpPr>
          <p:cNvPr id="34" name="pipeline-body-874"/>
          <p:cNvSpPr txBox="1"/>
          <p:nvPr/>
        </p:nvSpPr>
        <p:spPr>
          <a:xfrm>
            <a:off x="8410575" y="5276850"/>
            <a:ext cx="15240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선정 근거로</a:t>
            </a:r>
          </a:p>
          <a:p>
            <a:pPr eaLnBrk="0" algn="ctr">
              <a:lnSpc>
                <a:spcPts val="2062"/>
              </a:lnSpc>
              <a:spcBef>
                <a:spcPts val="0"/>
              </a:spcBef>
              <a:spcAft>
                <a:spcPts val="0"/>
              </a:spcAft>
            </a:pPr>
            <a:r>
              <a:rPr sz="1650" b="0">
                <a:solidFill>
                  <a:srgbClr val="62666C"/>
                </a:solidFill>
                <a:latin typeface="Noto Sans KR"/>
              </a:rPr>
              <a:t>실행 계획 작성</a:t>
            </a:r>
          </a:p>
        </p:txBody>
      </p:sp>
      <p:sp>
        <p:nvSpPr>
          <p:cNvPr id="35" name="pipeline-model-1096"/>
          <p:cNvSpPr txBox="1"/>
          <p:nvPr/>
        </p:nvSpPr>
        <p:spPr>
          <a:xfrm>
            <a:off x="10534650" y="2933700"/>
            <a:ext cx="15049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187C70"/>
                </a:solidFill>
                <a:latin typeface="Noto Sans KR"/>
              </a:rPr>
              <a:t>AI</a:t>
            </a:r>
          </a:p>
        </p:txBody>
      </p:sp>
      <p:pic>
        <p:nvPicPr>
          <p:cNvPr id="72" name="pipeline-icon-1096" descr="shield-check-jade.png"/>
          <p:cNvPicPr>
            <a:picLocks noChangeAspect="1"/>
          </p:cNvPicPr>
          <p:nvPr/>
        </p:nvPicPr>
        <p:blipFill>
          <a:blip r:embed="rId24"/>
          <a:stretch>
            <a:fillRect/>
          </a:stretch>
        </p:blipFill>
        <p:spPr>
          <a:xfrm>
            <a:off x="10906125" y="3705225"/>
            <a:ext cx="762000" cy="762000"/>
          </a:xfrm>
          <a:prstGeom prst="rect">
            <a:avLst/>
          </a:prstGeom>
        </p:spPr>
      </p:pic>
      <p:sp>
        <p:nvSpPr>
          <p:cNvPr id="37" name="pipeline-title-1096"/>
          <p:cNvSpPr txBox="1"/>
          <p:nvPr/>
        </p:nvSpPr>
        <p:spPr>
          <a:xfrm>
            <a:off x="10525125" y="4724400"/>
            <a:ext cx="15240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⑤ 품질 검수</a:t>
            </a:r>
          </a:p>
        </p:txBody>
      </p:sp>
      <p:sp>
        <p:nvSpPr>
          <p:cNvPr id="38" name="pipeline-body-1096"/>
          <p:cNvSpPr txBox="1"/>
          <p:nvPr/>
        </p:nvSpPr>
        <p:spPr>
          <a:xfrm>
            <a:off x="10525125" y="5276850"/>
            <a:ext cx="15240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수치·출처와</a:t>
            </a:r>
          </a:p>
          <a:p>
            <a:pPr eaLnBrk="0" algn="ctr">
              <a:lnSpc>
                <a:spcPts val="2062"/>
              </a:lnSpc>
              <a:spcBef>
                <a:spcPts val="0"/>
              </a:spcBef>
              <a:spcAft>
                <a:spcPts val="0"/>
              </a:spcAft>
            </a:pPr>
            <a:r>
              <a:rPr sz="1650" b="0">
                <a:solidFill>
                  <a:srgbClr val="62666C"/>
                </a:solidFill>
                <a:latin typeface="Noto Sans KR"/>
              </a:rPr>
              <a:t>본문 연결 확인</a:t>
            </a:r>
          </a:p>
        </p:txBody>
      </p:sp>
      <p:pic>
        <p:nvPicPr>
          <p:cNvPr id="73" name="pipeline-output-icon" descr="files-slate.png"/>
          <p:cNvPicPr>
            <a:picLocks noChangeAspect="1"/>
          </p:cNvPicPr>
          <p:nvPr/>
        </p:nvPicPr>
        <p:blipFill>
          <a:blip r:embed="rId25"/>
          <a:stretch>
            <a:fillRect/>
          </a:stretch>
        </p:blipFill>
        <p:spPr>
          <a:xfrm>
            <a:off x="13068300" y="3705225"/>
            <a:ext cx="723900" cy="723900"/>
          </a:xfrm>
          <a:prstGeom prst="rect">
            <a:avLst/>
          </a:prstGeom>
        </p:spPr>
      </p:pic>
      <p:sp>
        <p:nvSpPr>
          <p:cNvPr id="40" name="pipeline-output-title"/>
          <p:cNvSpPr txBox="1"/>
          <p:nvPr/>
        </p:nvSpPr>
        <p:spPr>
          <a:xfrm>
            <a:off x="12763500" y="4724400"/>
            <a:ext cx="146685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저장·출력</a:t>
            </a:r>
          </a:p>
        </p:txBody>
      </p:sp>
      <p:sp>
        <p:nvSpPr>
          <p:cNvPr id="41" name="pipeline-output-body"/>
          <p:cNvSpPr txBox="1"/>
          <p:nvPr/>
        </p:nvSpPr>
        <p:spPr>
          <a:xfrm>
            <a:off x="12763500" y="5276850"/>
            <a:ext cx="146685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웹</a:t>
            </a:r>
          </a:p>
          <a:p>
            <a:pPr eaLnBrk="0" algn="ctr">
              <a:lnSpc>
                <a:spcPts val="2062"/>
              </a:lnSpc>
              <a:spcBef>
                <a:spcPts val="0"/>
              </a:spcBef>
              <a:spcAft>
                <a:spcPts val="0"/>
              </a:spcAft>
            </a:pPr>
            <a:r>
              <a:rPr sz="1650" b="0">
                <a:solidFill>
                  <a:srgbClr val="62666C"/>
                </a:solidFill>
                <a:latin typeface="Noto Sans KR"/>
              </a:rPr>
              <a:t>PPT · Word</a:t>
            </a:r>
          </a:p>
        </p:txBody>
      </p:sp>
      <p:sp>
        <p:nvSpPr>
          <p:cNvPr id="42" name="pipeline-data-band"/>
          <p:cNvSpPr/>
          <p:nvPr/>
        </p:nvSpPr>
        <p:spPr>
          <a:xfrm>
            <a:off x="1009650" y="6762750"/>
            <a:ext cx="6610350" cy="9620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4" name="pipeline-data-icon" descr="database-ocean.png"/>
          <p:cNvPicPr>
            <a:picLocks noChangeAspect="1"/>
          </p:cNvPicPr>
          <p:nvPr/>
        </p:nvPicPr>
        <p:blipFill>
          <a:blip r:embed="rId26"/>
          <a:stretch>
            <a:fillRect/>
          </a:stretch>
        </p:blipFill>
        <p:spPr>
          <a:xfrm>
            <a:off x="1219200" y="6962775"/>
            <a:ext cx="552450" cy="552450"/>
          </a:xfrm>
          <a:prstGeom prst="rect">
            <a:avLst/>
          </a:prstGeom>
        </p:spPr>
      </p:pic>
      <p:sp>
        <p:nvSpPr>
          <p:cNvPr id="44" name="pipeline-data-label"/>
          <p:cNvSpPr txBox="1"/>
          <p:nvPr/>
        </p:nvSpPr>
        <p:spPr>
          <a:xfrm>
            <a:off x="1971675" y="6886575"/>
            <a:ext cx="5391150"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202124"/>
                </a:solidFill>
                <a:latin typeface="Noto Sans KR"/>
              </a:rPr>
              <a:t>지역 관측값 + 7개 ML 전망</a:t>
            </a:r>
          </a:p>
        </p:txBody>
      </p:sp>
      <p:sp>
        <p:nvSpPr>
          <p:cNvPr id="45" name="pipeline-data-use"/>
          <p:cNvSpPr txBox="1"/>
          <p:nvPr/>
        </p:nvSpPr>
        <p:spPr>
          <a:xfrm>
            <a:off x="1971675" y="7286625"/>
            <a:ext cx="5391150" cy="3143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조사 방향과 후보 비교에 함께 전달</a:t>
            </a:r>
          </a:p>
        </p:txBody>
      </p:sp>
      <p:cxnSp>
        <p:nvCxnSpPr>
          <p:cNvPr id="46" name="data-to-research-0"/>
          <p:cNvCxnSpPr/>
          <p:nvPr/>
        </p:nvCxnSpPr>
        <p:spPr>
          <a:xfrm flipV="1">
            <a:off x="4333875" y="6267450"/>
            <a:ext cx="0" cy="485775"/>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47" name="data-to-compare-0"/>
          <p:cNvCxnSpPr/>
          <p:nvPr/>
        </p:nvCxnSpPr>
        <p:spPr>
          <a:xfrm flipV="1">
            <a:off x="7058025" y="6162675"/>
            <a:ext cx="0" cy="59055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48" name="pipeline-revision"/>
          <p:cNvSpPr txBox="1"/>
          <p:nvPr/>
        </p:nvSpPr>
        <p:spPr>
          <a:xfrm>
            <a:off x="8162925" y="6924675"/>
            <a:ext cx="6067425" cy="3714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필요한 부분은 보완 작성 후 다시 검수</a:t>
            </a:r>
          </a:p>
        </p:txBody>
      </p:sp>
      <p:cxnSp>
        <p:nvCxnSpPr>
          <p:cNvPr id="49" name="review-return-0"/>
          <p:cNvCxnSpPr/>
          <p:nvPr/>
        </p:nvCxnSpPr>
        <p:spPr>
          <a:xfrm>
            <a:off x="11287125" y="6115050"/>
            <a:ext cx="0" cy="43815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0" name="review-return-1"/>
          <p:cNvCxnSpPr/>
          <p:nvPr/>
        </p:nvCxnSpPr>
        <p:spPr>
          <a:xfrm flipH="1">
            <a:off x="9172575" y="6553200"/>
            <a:ext cx="2114550" cy="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1" name="review-return-2"/>
          <p:cNvCxnSpPr/>
          <p:nvPr/>
        </p:nvCxnSpPr>
        <p:spPr>
          <a:xfrm flipV="1">
            <a:off x="9172575" y="6115050"/>
            <a:ext cx="0" cy="438150"/>
          </a:xfrm>
          <a:prstGeom prst="line">
            <a:avLst/>
          </a:prstGeom>
          <a:ln w="21590">
            <a:solidFill>
              <a:srgbClr val="8CA4BF"/>
            </a:solidFill>
            <a:tailEnd type="triangle"/>
          </a:ln>
        </p:spPr>
        <p:style>
          <a:lnRef idx="2">
            <a:schemeClr val="accent1"/>
          </a:lnRef>
          <a:fillRef idx="0">
            <a:schemeClr val="accent1"/>
          </a:fillRef>
          <a:effectRef idx="1">
            <a:schemeClr val="accent1"/>
          </a:effectRef>
          <a:fontRef idx="minor">
            <a:schemeClr val="tx1"/>
          </a:fontRef>
        </p:style>
      </p:cxnSp>
      <p:sp>
        <p:nvSpPr>
          <p:cNvPr id="52" name="pipeline-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OpenAI는 공식 웹에서 사업 사례와 출처를 조사합니다. 이미 확보한 공식 근거는 재사용합니다.</a:t>
            </a:r>
          </a:p>
        </p:txBody>
      </p:sp>
      <p:sp>
        <p:nvSpPr>
          <p:cNvPr id="5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생성 과정</a:t>
            </a:r>
          </a:p>
        </p:txBody>
      </p:sp>
      <p:sp>
        <p:nvSpPr>
          <p:cNvPr id="55"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14 / 17</a:t>
            </a:r>
          </a:p>
        </p:txBody>
      </p:sp>
    </p:spTree>
  </p:cSld>
  <p:clrMapOvr>
    <a:masterClrMapping/>
  </p:clrMapOvr>
</p:sld>
</file>

<file path=ppt/slides/slide14.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7.1 근거·데이터·출처</a:t>
            </a: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1/2 · 파란 자료명을 누르면 원문으로 이동합니다.</a:t>
            </a:r>
          </a:p>
          <a:p>
            <a:pPr eaLnBrk="0">
              <a:lnSpc>
                <a:spcPts val="1781"/>
              </a:lnSpc>
              <a:spcBef>
                <a:spcPts val="0"/>
              </a:spcBef>
              <a:spcAft>
                <a:spcPts val="0"/>
              </a:spcAft>
            </a:pPr>
            <a:r>
              <a:rPr sz="1425" b="0">
                <a:solidFill>
                  <a:srgbClr val="62666C"/>
                </a:solidFill>
                <a:latin typeface="Noto Sans KR"/>
              </a:rPr>
              <a:t>참고 전망: 방문자·소비액 모델의 검증 오차가 전년동월 기준선보다 큽니다. 예측거리·누락 범위의 해석 주의가 필요합니다.</a:t>
            </a:r>
          </a:p>
        </p:txBody>
      </p:sp>
      <p:sp xmlns:a="http://schemas.openxmlformats.org/drawingml/2006/main">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0="http://schemas.openxmlformats.org/officeDocument/2006/relationships" ns0:id="rId2"/>
              </a:rPr>
              <a:t>관측 데이터 D01 순 방문자 수 및 숙박 비율 (이동통신</a:t>
            </a:r>
          </a:p>
          <a:p>
            <a:pPr eaLnBrk="0">
              <a:lnSpc>
                <a:spcPts val="1265"/>
              </a:lnSpc>
              <a:spcBef>
                <a:spcPts val="0"/>
              </a:spcBef>
              <a:spcAft>
                <a:spcPts val="0"/>
              </a:spcAft>
            </a:pPr>
            <a:r>
              <a:rPr sz="1012" b="0" u="none">
                <a:solidFill>
                  <a:srgbClr val="62666C"/>
                </a:solidFill>
                <a:latin typeface="Noto Sans KR"/>
                <a:hlinkClick xmlns:ns1="http://schemas.openxmlformats.org/officeDocument/2006/relationships" ns1:id="rId2"/>
              </a:rPr>
              <a:t>기반 외지인) 2026-06</a:t>
            </a:r>
          </a:p>
        </p:txBody>
      </p:sp>
      <p:sp xmlns:a="http://schemas.openxmlformats.org/drawingml/2006/main">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2="http://schemas.openxmlformats.org/officeDocument/2006/relationships" ns2:id="rId2"/>
              </a:rPr>
              <a:t>관측 데이터 D02 월간 순 방문자 수 (이동통신 기반 외지인) 2026-06</a:t>
            </a:r>
          </a:p>
        </p:txBody>
      </p:sp>
      <p:sp xmlns:a="http://schemas.openxmlformats.org/drawingml/2006/main">
        <p:nvSpPr>
          <p:cNvPr id="7" name="reference-2"/>
          <p:cNvSpPr txBox="1"/>
          <p:nvPr/>
        </p:nvSpPr>
        <p:spPr>
          <a:xfrm>
            <a:off x="1009650" y="33432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3="http://schemas.openxmlformats.org/officeDocument/2006/relationships" ns3:id="rId2"/>
              </a:rPr>
              <a:t>관측 데이터 D03 관광소비 추이_외지인 2026-06</a:t>
            </a:r>
          </a:p>
        </p:txBody>
      </p:sp>
      <p:sp xmlns:a="http://schemas.openxmlformats.org/drawingml/2006/main">
        <p:nvSpPr>
          <p:cNvPr id="8" name="reference-3"/>
          <p:cNvSpPr txBox="1"/>
          <p:nvPr/>
        </p:nvSpPr>
        <p:spPr>
          <a:xfrm>
            <a:off x="1009650" y="36480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4="http://schemas.openxmlformats.org/officeDocument/2006/relationships" ns4:id="rId2"/>
              </a:rPr>
              <a:t>관측 데이터 D04 숙박방문자 비율 추이 (이동통신</a:t>
            </a:r>
          </a:p>
          <a:p>
            <a:pPr eaLnBrk="0">
              <a:lnSpc>
                <a:spcPts val="1265"/>
              </a:lnSpc>
              <a:spcBef>
                <a:spcPts val="0"/>
              </a:spcBef>
              <a:spcAft>
                <a:spcPts val="0"/>
              </a:spcAft>
            </a:pPr>
            <a:r>
              <a:rPr sz="1012" b="0" u="none">
                <a:solidFill>
                  <a:srgbClr val="62666C"/>
                </a:solidFill>
                <a:latin typeface="Noto Sans KR"/>
                <a:hlinkClick xmlns:ns5="http://schemas.openxmlformats.org/officeDocument/2006/relationships" ns5:id="rId2"/>
              </a:rPr>
              <a:t>기반 외지인) 2026-06</a:t>
            </a:r>
          </a:p>
        </p:txBody>
      </p:sp>
      <p:sp xmlns:a="http://schemas.openxmlformats.org/drawingml/2006/main">
        <p:nvSpPr>
          <p:cNvPr id="9" name="reference-4"/>
          <p:cNvSpPr txBox="1"/>
          <p:nvPr/>
        </p:nvSpPr>
        <p:spPr>
          <a:xfrm>
            <a:off x="100965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6="http://schemas.openxmlformats.org/officeDocument/2006/relationships" ns6:id="rId2"/>
              </a:rPr>
              <a:t>관측 데이터 D05 평균 숙박일 (이동통신 기반 외지인) 2026-06</a:t>
            </a:r>
          </a:p>
        </p:txBody>
      </p:sp>
      <p:sp xmlns:a="http://schemas.openxmlformats.org/drawingml/2006/main">
        <p:nvSpPr>
          <p:cNvPr id="10" name="reference-5"/>
          <p:cNvSpPr txBox="1"/>
          <p:nvPr/>
        </p:nvSpPr>
        <p:spPr>
          <a:xfrm>
            <a:off x="100965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7="http://schemas.openxmlformats.org/officeDocument/2006/relationships" ns7:id="rId2"/>
              </a:rPr>
              <a:t>관측 데이터 D06 내비게이션 목적지 유형별 검색량 2026-06</a:t>
            </a:r>
          </a:p>
        </p:txBody>
      </p:sp>
      <p:sp xmlns:a="http://schemas.openxmlformats.org/drawingml/2006/main">
        <p:nvSpPr>
          <p:cNvPr id="11" name="reference-6"/>
          <p:cNvSpPr txBox="1"/>
          <p:nvPr/>
        </p:nvSpPr>
        <p:spPr>
          <a:xfrm>
            <a:off x="100965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8="http://schemas.openxmlformats.org/officeDocument/2006/relationships" ns8:id="rId2"/>
              </a:rPr>
              <a:t>관측 데이터 D07 SNS 언급량 2026-06</a:t>
            </a:r>
          </a:p>
        </p:txBody>
      </p:sp>
      <p:sp xmlns:a="http://schemas.openxmlformats.org/drawingml/2006/main">
        <p:nvSpPr>
          <p:cNvPr id="12" name="reference-7"/>
          <p:cNvSpPr txBox="1"/>
          <p:nvPr/>
        </p:nvSpPr>
        <p:spPr>
          <a:xfrm>
            <a:off x="1009650" y="49958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9="http://schemas.openxmlformats.org/officeDocument/2006/relationships" ns9:id="rId2"/>
              </a:rPr>
              <a:t>관측 데이터 D08 한국관광 데이터랩 공식 다운로드 ·</a:t>
            </a:r>
          </a:p>
          <a:p>
            <a:pPr eaLnBrk="0">
              <a:lnSpc>
                <a:spcPts val="1265"/>
              </a:lnSpc>
              <a:spcBef>
                <a:spcPts val="0"/>
              </a:spcBef>
              <a:spcAft>
                <a:spcPts val="0"/>
              </a:spcAft>
            </a:pPr>
            <a:r>
              <a:rPr sz="1012" b="0" u="none">
                <a:solidFill>
                  <a:srgbClr val="62666C"/>
                </a:solidFill>
                <a:latin typeface="Noto Sans KR"/>
                <a:hlinkClick xmlns:ns10="http://schemas.openxmlformats.org/officeDocument/2006/relationships" ns10:id="rId2"/>
              </a:rPr>
              <a:t>대전광역시_서구/방문자/2025_01_12.zip 2025-07 ~ 2026-06</a:t>
            </a:r>
          </a:p>
        </p:txBody>
      </p:sp>
      <p:sp xmlns:a="http://schemas.openxmlformats.org/drawingml/2006/main">
        <p:nvSpPr>
          <p:cNvPr id="13" name="reference-8"/>
          <p:cNvSpPr txBox="1"/>
          <p:nvPr/>
        </p:nvSpPr>
        <p:spPr>
          <a:xfrm>
            <a:off x="1009650" y="54292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11="http://schemas.openxmlformats.org/officeDocument/2006/relationships" ns11:id="rId2"/>
              </a:rPr>
              <a:t>관측 데이터 D09 한국관광 데이터랩 공식 다운로드 ·</a:t>
            </a:r>
          </a:p>
          <a:p>
            <a:pPr eaLnBrk="0">
              <a:lnSpc>
                <a:spcPts val="1265"/>
              </a:lnSpc>
              <a:spcBef>
                <a:spcPts val="0"/>
              </a:spcBef>
              <a:spcAft>
                <a:spcPts val="0"/>
              </a:spcAft>
            </a:pPr>
            <a:r>
              <a:rPr sz="1012" b="0" u="none">
                <a:solidFill>
                  <a:srgbClr val="62666C"/>
                </a:solidFill>
                <a:latin typeface="Noto Sans KR"/>
                <a:hlinkClick xmlns:ns12="http://schemas.openxmlformats.org/officeDocument/2006/relationships" ns12:id="rId2"/>
              </a:rPr>
              <a:t>대전광역시_서구/관광소비/2025_01_12.zip 2025-07 ~ 2026-06</a:t>
            </a:r>
          </a:p>
        </p:txBody>
      </p:sp>
      <p:sp xmlns:a="http://schemas.openxmlformats.org/drawingml/2006/main">
        <p:nvSpPr>
          <p:cNvPr id="14" name="reference-9"/>
          <p:cNvSpPr txBox="1"/>
          <p:nvPr/>
        </p:nvSpPr>
        <p:spPr>
          <a:xfrm>
            <a:off x="1009650" y="5862638"/>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13="http://schemas.openxmlformats.org/officeDocument/2006/relationships" ns13:id="rId2"/>
              </a:rPr>
              <a:t>관측 데이터 D10 한국관광 데이터랩 공식 다운로드 ·</a:t>
            </a:r>
          </a:p>
          <a:p>
            <a:pPr eaLnBrk="0">
              <a:lnSpc>
                <a:spcPts val="1359"/>
              </a:lnSpc>
              <a:spcBef>
                <a:spcPts val="0"/>
              </a:spcBef>
              <a:spcAft>
                <a:spcPts val="0"/>
              </a:spcAft>
            </a:pPr>
            <a:r>
              <a:rPr sz="1087" b="0" u="none">
                <a:solidFill>
                  <a:srgbClr val="62666C"/>
                </a:solidFill>
                <a:latin typeface="Noto Sans KR"/>
                <a:hlinkClick xmlns:ns14="http://schemas.openxmlformats.org/officeDocument/2006/relationships" ns14:id="rId2"/>
              </a:rPr>
              <a:t>대전광역시_서구/숙박_체류시간/2025_01_12.zip 2025-07 ~ 2026-06</a:t>
            </a:r>
          </a:p>
        </p:txBody>
      </p:sp>
      <p:sp xmlns:a="http://schemas.openxmlformats.org/drawingml/2006/main">
        <p:nvSpPr>
          <p:cNvPr id="15" name="reference-10"/>
          <p:cNvSpPr txBox="1"/>
          <p:nvPr/>
        </p:nvSpPr>
        <p:spPr>
          <a:xfrm>
            <a:off x="1009650" y="6474619"/>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15="http://schemas.openxmlformats.org/officeDocument/2006/relationships" ns15:id="rId2"/>
              </a:rPr>
              <a:t>관측 데이터 D11 한국관광 데이터랩 공식 다운로드 ·</a:t>
            </a:r>
          </a:p>
          <a:p>
            <a:pPr eaLnBrk="0">
              <a:lnSpc>
                <a:spcPts val="1265"/>
              </a:lnSpc>
              <a:spcBef>
                <a:spcPts val="0"/>
              </a:spcBef>
              <a:spcAft>
                <a:spcPts val="0"/>
              </a:spcAft>
            </a:pPr>
            <a:r>
              <a:rPr sz="1012" b="0" u="none">
                <a:solidFill>
                  <a:srgbClr val="62666C"/>
                </a:solidFill>
                <a:latin typeface="Noto Sans KR"/>
                <a:hlinkClick xmlns:ns16="http://schemas.openxmlformats.org/officeDocument/2006/relationships" ns16:id="rId2"/>
              </a:rPr>
              <a:t>대전광역시_서구/관광소비/2026_01_06.zip 2025-07 ~ 2026-06</a:t>
            </a:r>
          </a:p>
        </p:txBody>
      </p:sp>
      <p:sp xmlns:a="http://schemas.openxmlformats.org/drawingml/2006/main">
        <p:nvSpPr>
          <p:cNvPr id="16" name="reference-11"/>
          <p:cNvSpPr txBox="1"/>
          <p:nvPr/>
        </p:nvSpPr>
        <p:spPr>
          <a:xfrm>
            <a:off x="1009650" y="6908006"/>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17="http://schemas.openxmlformats.org/officeDocument/2006/relationships" ns17:id="rId2"/>
              </a:rPr>
              <a:t>관측 데이터 D12 한국관광 데이터랩 공식 다운로드 ·</a:t>
            </a:r>
          </a:p>
          <a:p>
            <a:pPr eaLnBrk="0">
              <a:lnSpc>
                <a:spcPts val="1265"/>
              </a:lnSpc>
              <a:spcBef>
                <a:spcPts val="0"/>
              </a:spcBef>
              <a:spcAft>
                <a:spcPts val="0"/>
              </a:spcAft>
            </a:pPr>
            <a:r>
              <a:rPr sz="1012" b="0" u="none">
                <a:solidFill>
                  <a:srgbClr val="62666C"/>
                </a:solidFill>
                <a:latin typeface="Noto Sans KR"/>
                <a:hlinkClick xmlns:ns18="http://schemas.openxmlformats.org/officeDocument/2006/relationships" ns18:id="rId2"/>
              </a:rPr>
              <a:t>대전광역시_서구/방문자/2026_01_06.zip 2025-07 ~ 2026-06</a:t>
            </a:r>
          </a:p>
        </p:txBody>
      </p:sp>
      <p:sp xmlns:a="http://schemas.openxmlformats.org/drawingml/2006/main">
        <p:nvSpPr>
          <p:cNvPr id="17" name="reference-12"/>
          <p:cNvSpPr txBox="1"/>
          <p:nvPr/>
        </p:nvSpPr>
        <p:spPr>
          <a:xfrm>
            <a:off x="1009650" y="7341394"/>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19="http://schemas.openxmlformats.org/officeDocument/2006/relationships" ns19:id="rId2"/>
              </a:rPr>
              <a:t>관측 데이터 D13 한국관광 데이터랩 공식 다운로드 ·</a:t>
            </a:r>
          </a:p>
          <a:p>
            <a:pPr eaLnBrk="0">
              <a:lnSpc>
                <a:spcPts val="1359"/>
              </a:lnSpc>
              <a:spcBef>
                <a:spcPts val="0"/>
              </a:spcBef>
              <a:spcAft>
                <a:spcPts val="0"/>
              </a:spcAft>
            </a:pPr>
            <a:r>
              <a:rPr sz="1087" b="0" u="none">
                <a:solidFill>
                  <a:srgbClr val="62666C"/>
                </a:solidFill>
                <a:latin typeface="Noto Sans KR"/>
                <a:hlinkClick xmlns:ns20="http://schemas.openxmlformats.org/officeDocument/2006/relationships" ns20:id="rId2"/>
              </a:rPr>
              <a:t>대전광역시_서구/숙박_체류시간/2026_01_06.zip 2025-07 ~ 2026-06</a:t>
            </a:r>
          </a:p>
        </p:txBody>
      </p:sp>
      <p:sp xmlns:a="http://schemas.openxmlformats.org/drawingml/2006/main">
        <p:nvSpPr>
          <p:cNvPr id="18" name="reference-13"/>
          <p:cNvSpPr txBox="1"/>
          <p:nvPr/>
        </p:nvSpPr>
        <p:spPr>
          <a:xfrm>
            <a:off x="5486400" y="2476500"/>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1="http://schemas.openxmlformats.org/officeDocument/2006/relationships" ns21:id="rId2"/>
              </a:rPr>
              <a:t>관측 데이터 D14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22="http://schemas.openxmlformats.org/officeDocument/2006/relationships" ns22:id="rId2"/>
              </a:rPr>
              <a:t>이동통신/내국인/지역별</a:t>
            </a:r>
          </a:p>
          <a:p>
            <a:pPr eaLnBrk="0">
              <a:lnSpc>
                <a:spcPts val="1312"/>
              </a:lnSpc>
              <a:spcBef>
                <a:spcPts val="0"/>
              </a:spcBef>
              <a:spcAft>
                <a:spcPts val="0"/>
              </a:spcAft>
            </a:pPr>
            <a:r>
              <a:rPr sz="1050" b="0" u="none">
                <a:solidFill>
                  <a:srgbClr val="62666C"/>
                </a:solidFill>
                <a:latin typeface="Noto Sans KR"/>
                <a:hlinkClick xmlns:ns23="http://schemas.openxmlformats.org/officeDocument/2006/relationships" ns23:id="rId2"/>
              </a:rPr>
              <a:t>방문자수/20260820140607__202601-202606_데이터랩_다운로드.zi</a:t>
            </a:r>
          </a:p>
          <a:p>
            <a:pPr eaLnBrk="0">
              <a:lnSpc>
                <a:spcPts val="1312"/>
              </a:lnSpc>
              <a:spcBef>
                <a:spcPts val="0"/>
              </a:spcBef>
              <a:spcAft>
                <a:spcPts val="0"/>
              </a:spcAft>
            </a:pPr>
            <a:r>
              <a:rPr sz="1050" b="0" u="none">
                <a:solidFill>
                  <a:srgbClr val="62666C"/>
                </a:solidFill>
                <a:latin typeface="Noto Sans KR"/>
                <a:hlinkClick xmlns:ns24="http://schemas.openxmlformats.org/officeDocument/2006/relationships" ns24:id="rId2"/>
              </a:rPr>
              <a:t>p 2026-01 ~ 2026-06</a:t>
            </a:r>
          </a:p>
        </p:txBody>
      </p:sp>
      <p:sp xmlns:a="http://schemas.openxmlformats.org/drawingml/2006/main">
        <p:nvSpPr>
          <p:cNvPr id="19" name="reference-14"/>
          <p:cNvSpPr txBox="1"/>
          <p:nvPr/>
        </p:nvSpPr>
        <p:spPr>
          <a:xfrm>
            <a:off x="5486400" y="3267075"/>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5="http://schemas.openxmlformats.org/officeDocument/2006/relationships" ns25:id="rId2"/>
              </a:rPr>
              <a:t>관측 데이터 D15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26="http://schemas.openxmlformats.org/officeDocument/2006/relationships" ns26:id="rId2"/>
              </a:rPr>
              <a:t>이동통신/외국인/20260820141710_전국_202601-202606_데이터랩_</a:t>
            </a:r>
          </a:p>
          <a:p>
            <a:pPr eaLnBrk="0">
              <a:lnSpc>
                <a:spcPts val="1312"/>
              </a:lnSpc>
              <a:spcBef>
                <a:spcPts val="0"/>
              </a:spcBef>
              <a:spcAft>
                <a:spcPts val="0"/>
              </a:spcAft>
            </a:pPr>
            <a:r>
              <a:rPr sz="1050" b="0" u="none">
                <a:solidFill>
                  <a:srgbClr val="62666C"/>
                </a:solidFill>
                <a:latin typeface="Noto Sans KR"/>
                <a:hlinkClick xmlns:ns27="http://schemas.openxmlformats.org/officeDocument/2006/relationships" ns27:id="rId2"/>
              </a:rPr>
              <a:t>다운로드.zip 2026-01 ~ 2026-06</a:t>
            </a:r>
          </a:p>
        </p:txBody>
      </p:sp>
      <p:sp xmlns:a="http://schemas.openxmlformats.org/drawingml/2006/main">
        <p:nvSpPr>
          <p:cNvPr id="20" name="reference-15"/>
          <p:cNvSpPr txBox="1"/>
          <p:nvPr/>
        </p:nvSpPr>
        <p:spPr>
          <a:xfrm>
            <a:off x="5486400" y="387905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8="http://schemas.openxmlformats.org/officeDocument/2006/relationships" ns28:id="rId2"/>
              </a:rPr>
              <a:t>관측 데이터 D16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29="http://schemas.openxmlformats.org/officeDocument/2006/relationships" ns29:id="rId2"/>
              </a:rPr>
              <a:t>신용카드/내국인/지역별</a:t>
            </a:r>
          </a:p>
          <a:p>
            <a:pPr eaLnBrk="0">
              <a:lnSpc>
                <a:spcPts val="1312"/>
              </a:lnSpc>
              <a:spcBef>
                <a:spcPts val="0"/>
              </a:spcBef>
              <a:spcAft>
                <a:spcPts val="0"/>
              </a:spcAft>
            </a:pPr>
            <a:r>
              <a:rPr sz="1050" b="0" u="none">
                <a:solidFill>
                  <a:srgbClr val="62666C"/>
                </a:solidFill>
                <a:latin typeface="Noto Sans KR"/>
                <a:hlinkClick xmlns:ns30="http://schemas.openxmlformats.org/officeDocument/2006/relationships" ns30:id="rId2"/>
              </a:rPr>
              <a:t>관광지출액/20260820140046__202601-202606_데이터랩_다운로드.</a:t>
            </a:r>
          </a:p>
          <a:p>
            <a:pPr eaLnBrk="0">
              <a:lnSpc>
                <a:spcPts val="1312"/>
              </a:lnSpc>
              <a:spcBef>
                <a:spcPts val="0"/>
              </a:spcBef>
              <a:spcAft>
                <a:spcPts val="0"/>
              </a:spcAft>
            </a:pPr>
            <a:r>
              <a:rPr sz="1050" b="0" u="none">
                <a:solidFill>
                  <a:srgbClr val="62666C"/>
                </a:solidFill>
                <a:latin typeface="Noto Sans KR"/>
                <a:hlinkClick xmlns:ns31="http://schemas.openxmlformats.org/officeDocument/2006/relationships" ns31:id="rId2"/>
              </a:rPr>
              <a:t>zip 2026-01 ~ 2026-06</a:t>
            </a:r>
          </a:p>
        </p:txBody>
      </p:sp>
      <p:sp xmlns:a="http://schemas.openxmlformats.org/drawingml/2006/main">
        <p:nvSpPr>
          <p:cNvPr id="21" name="reference-16"/>
          <p:cNvSpPr txBox="1"/>
          <p:nvPr/>
        </p:nvSpPr>
        <p:spPr>
          <a:xfrm>
            <a:off x="5486400" y="466963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2="http://schemas.openxmlformats.org/officeDocument/2006/relationships" ns32:id="rId2"/>
              </a:rPr>
              <a:t>관측 데이터 D17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3="http://schemas.openxmlformats.org/officeDocument/2006/relationships" ns33:id="rId2"/>
              </a:rPr>
              <a:t>신용카드/외국인/지역별</a:t>
            </a:r>
          </a:p>
          <a:p>
            <a:pPr eaLnBrk="0">
              <a:lnSpc>
                <a:spcPts val="1312"/>
              </a:lnSpc>
              <a:spcBef>
                <a:spcPts val="0"/>
              </a:spcBef>
              <a:spcAft>
                <a:spcPts val="0"/>
              </a:spcAft>
            </a:pPr>
            <a:r>
              <a:rPr sz="1050" b="0" u="none">
                <a:solidFill>
                  <a:srgbClr val="62666C"/>
                </a:solidFill>
                <a:latin typeface="Noto Sans KR"/>
                <a:hlinkClick xmlns:ns34="http://schemas.openxmlformats.org/officeDocument/2006/relationships" ns34:id="rId2"/>
              </a:rPr>
              <a:t>관광지출액/20260820140355__202601-202606_데이터랩_다운로드.</a:t>
            </a:r>
          </a:p>
          <a:p>
            <a:pPr eaLnBrk="0">
              <a:lnSpc>
                <a:spcPts val="1312"/>
              </a:lnSpc>
              <a:spcBef>
                <a:spcPts val="0"/>
              </a:spcBef>
              <a:spcAft>
                <a:spcPts val="0"/>
              </a:spcAft>
            </a:pPr>
            <a:r>
              <a:rPr sz="1050" b="0" u="none">
                <a:solidFill>
                  <a:srgbClr val="62666C"/>
                </a:solidFill>
                <a:latin typeface="Noto Sans KR"/>
                <a:hlinkClick xmlns:ns35="http://schemas.openxmlformats.org/officeDocument/2006/relationships" ns35:id="rId2"/>
              </a:rPr>
              <a:t>zip 2026-01 ~ 2026-06</a:t>
            </a:r>
          </a:p>
        </p:txBody>
      </p:sp>
      <p:sp xmlns:a="http://schemas.openxmlformats.org/drawingml/2006/main">
        <p:nvSpPr>
          <p:cNvPr id="22" name="reference-17"/>
          <p:cNvSpPr txBox="1"/>
          <p:nvPr/>
        </p:nvSpPr>
        <p:spPr>
          <a:xfrm>
            <a:off x="5486400" y="546020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6="http://schemas.openxmlformats.org/officeDocument/2006/relationships" ns36:id="rId2"/>
              </a:rPr>
              <a:t>관측 데이터 D18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7="http://schemas.openxmlformats.org/officeDocument/2006/relationships" ns37:id="rId2"/>
              </a:rPr>
              <a:t>네비게이션/지역별</a:t>
            </a:r>
          </a:p>
          <a:p>
            <a:pPr eaLnBrk="0">
              <a:lnSpc>
                <a:spcPts val="1312"/>
              </a:lnSpc>
              <a:spcBef>
                <a:spcPts val="0"/>
              </a:spcBef>
              <a:spcAft>
                <a:spcPts val="0"/>
              </a:spcAft>
            </a:pPr>
            <a:r>
              <a:rPr sz="1050" b="0" u="none">
                <a:solidFill>
                  <a:srgbClr val="62666C"/>
                </a:solidFill>
                <a:latin typeface="Noto Sans KR"/>
                <a:hlinkClick xmlns:ns38="http://schemas.openxmlformats.org/officeDocument/2006/relationships" ns38:id="rId2"/>
              </a:rPr>
              <a:t>검색건수/20260820195507__202601-202606_데이터랩_다운로드.zi</a:t>
            </a:r>
          </a:p>
          <a:p>
            <a:pPr eaLnBrk="0">
              <a:lnSpc>
                <a:spcPts val="1312"/>
              </a:lnSpc>
              <a:spcBef>
                <a:spcPts val="0"/>
              </a:spcBef>
              <a:spcAft>
                <a:spcPts val="0"/>
              </a:spcAft>
            </a:pPr>
            <a:r>
              <a:rPr sz="1050" b="0" u="none">
                <a:solidFill>
                  <a:srgbClr val="62666C"/>
                </a:solidFill>
                <a:latin typeface="Noto Sans KR"/>
                <a:hlinkClick xmlns:ns39="http://schemas.openxmlformats.org/officeDocument/2006/relationships" ns39:id="rId2"/>
              </a:rPr>
              <a:t>p 2026-01 ~ 2026-06</a:t>
            </a:r>
          </a:p>
        </p:txBody>
      </p:sp>
      <p:sp xmlns:a="http://schemas.openxmlformats.org/drawingml/2006/main">
        <p:nvSpPr>
          <p:cNvPr id="23" name="reference-18"/>
          <p:cNvSpPr txBox="1"/>
          <p:nvPr/>
        </p:nvSpPr>
        <p:spPr>
          <a:xfrm>
            <a:off x="5486400" y="62507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0="http://schemas.openxmlformats.org/officeDocument/2006/relationships" ns40:id="rId2"/>
              </a:rPr>
              <a:t>관측 데이터 D19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1="http://schemas.openxmlformats.org/officeDocument/2006/relationships" ns41:id="rId2"/>
              </a:rPr>
              <a:t>이동통신/내국인/지역별</a:t>
            </a:r>
          </a:p>
          <a:p>
            <a:pPr eaLnBrk="0">
              <a:lnSpc>
                <a:spcPts val="1312"/>
              </a:lnSpc>
              <a:spcBef>
                <a:spcPts val="0"/>
              </a:spcBef>
              <a:spcAft>
                <a:spcPts val="0"/>
              </a:spcAft>
            </a:pPr>
            <a:r>
              <a:rPr sz="1050" b="0" u="none">
                <a:solidFill>
                  <a:srgbClr val="62666C"/>
                </a:solidFill>
                <a:latin typeface="Noto Sans KR"/>
                <a:hlinkClick xmlns:ns42="http://schemas.openxmlformats.org/officeDocument/2006/relationships" ns42:id="rId2"/>
              </a:rPr>
              <a:t>방문자수/20260820140614__202501-202512_데이터랩_다운로드.zi</a:t>
            </a:r>
          </a:p>
          <a:p>
            <a:pPr eaLnBrk="0">
              <a:lnSpc>
                <a:spcPts val="1312"/>
              </a:lnSpc>
              <a:spcBef>
                <a:spcPts val="0"/>
              </a:spcBef>
              <a:spcAft>
                <a:spcPts val="0"/>
              </a:spcAft>
            </a:pPr>
            <a:r>
              <a:rPr sz="1050" b="0" u="none">
                <a:solidFill>
                  <a:srgbClr val="62666C"/>
                </a:solidFill>
                <a:latin typeface="Noto Sans KR"/>
                <a:hlinkClick xmlns:ns43="http://schemas.openxmlformats.org/officeDocument/2006/relationships" ns43:id="rId2"/>
              </a:rPr>
              <a:t>p 2026-01 ~ 2026-06</a:t>
            </a:r>
          </a:p>
        </p:txBody>
      </p:sp>
      <p:sp xmlns:a="http://schemas.openxmlformats.org/drawingml/2006/main">
        <p:nvSpPr>
          <p:cNvPr id="24" name="reference-19"/>
          <p:cNvSpPr txBox="1"/>
          <p:nvPr/>
        </p:nvSpPr>
        <p:spPr>
          <a:xfrm>
            <a:off x="5486400" y="704135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4="http://schemas.openxmlformats.org/officeDocument/2006/relationships" ns44:id="rId2"/>
              </a:rPr>
              <a:t>관측 데이터 D20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5="http://schemas.openxmlformats.org/officeDocument/2006/relationships" ns45:id="rId2"/>
              </a:rPr>
              <a:t>이동통신/외국인/20260820141649_전국_202501-202512_데이터랩_</a:t>
            </a:r>
          </a:p>
          <a:p>
            <a:pPr eaLnBrk="0">
              <a:lnSpc>
                <a:spcPts val="1312"/>
              </a:lnSpc>
              <a:spcBef>
                <a:spcPts val="0"/>
              </a:spcBef>
              <a:spcAft>
                <a:spcPts val="0"/>
              </a:spcAft>
            </a:pPr>
            <a:r>
              <a:rPr sz="1050" b="0" u="none">
                <a:solidFill>
                  <a:srgbClr val="62666C"/>
                </a:solidFill>
                <a:latin typeface="Noto Sans KR"/>
                <a:hlinkClick xmlns:ns46="http://schemas.openxmlformats.org/officeDocument/2006/relationships" ns46:id="rId2"/>
              </a:rPr>
              <a:t>다운로드.zip 2026-01 ~ 2026-06</a:t>
            </a:r>
          </a:p>
        </p:txBody>
      </p:sp>
      <p:sp xmlns:a="http://schemas.openxmlformats.org/drawingml/2006/main">
        <p:nvSpPr>
          <p:cNvPr id="25" name="reference-20"/>
          <p:cNvSpPr txBox="1"/>
          <p:nvPr/>
        </p:nvSpPr>
        <p:spPr>
          <a:xfrm>
            <a:off x="9963150" y="2476500"/>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7="http://schemas.openxmlformats.org/officeDocument/2006/relationships" ns47:id="rId2"/>
              </a:rPr>
              <a:t>관측 데이터 D21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8="http://schemas.openxmlformats.org/officeDocument/2006/relationships" ns48:id="rId2"/>
              </a:rPr>
              <a:t>신용카드/내국인/지역별</a:t>
            </a:r>
          </a:p>
          <a:p>
            <a:pPr eaLnBrk="0">
              <a:lnSpc>
                <a:spcPts val="1312"/>
              </a:lnSpc>
              <a:spcBef>
                <a:spcPts val="0"/>
              </a:spcBef>
              <a:spcAft>
                <a:spcPts val="0"/>
              </a:spcAft>
            </a:pPr>
            <a:r>
              <a:rPr sz="1050" b="0" u="none">
                <a:solidFill>
                  <a:srgbClr val="62666C"/>
                </a:solidFill>
                <a:latin typeface="Noto Sans KR"/>
                <a:hlinkClick xmlns:ns49="http://schemas.openxmlformats.org/officeDocument/2006/relationships" ns49:id="rId2"/>
              </a:rPr>
              <a:t>관광지출액/20260820135957__202501-202512_데이터랩_다운로드.</a:t>
            </a:r>
          </a:p>
          <a:p>
            <a:pPr eaLnBrk="0">
              <a:lnSpc>
                <a:spcPts val="1312"/>
              </a:lnSpc>
              <a:spcBef>
                <a:spcPts val="0"/>
              </a:spcBef>
              <a:spcAft>
                <a:spcPts val="0"/>
              </a:spcAft>
            </a:pPr>
            <a:r>
              <a:rPr sz="1050" b="0" u="none">
                <a:solidFill>
                  <a:srgbClr val="62666C"/>
                </a:solidFill>
                <a:latin typeface="Noto Sans KR"/>
                <a:hlinkClick xmlns:ns50="http://schemas.openxmlformats.org/officeDocument/2006/relationships" ns50:id="rId2"/>
              </a:rPr>
              <a:t>zip 2026-01 ~ 2026-06</a:t>
            </a:r>
          </a:p>
        </p:txBody>
      </p:sp>
      <p:sp xmlns:a="http://schemas.openxmlformats.org/drawingml/2006/main">
        <p:nvSpPr>
          <p:cNvPr id="26" name="reference-21"/>
          <p:cNvSpPr txBox="1"/>
          <p:nvPr/>
        </p:nvSpPr>
        <p:spPr>
          <a:xfrm>
            <a:off x="9963150" y="3267075"/>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1="http://schemas.openxmlformats.org/officeDocument/2006/relationships" ns51:id="rId2"/>
              </a:rPr>
              <a:t>관측 데이터 D22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2="http://schemas.openxmlformats.org/officeDocument/2006/relationships" ns52:id="rId2"/>
              </a:rPr>
              <a:t>신용카드/외국인/지역별</a:t>
            </a:r>
          </a:p>
          <a:p>
            <a:pPr eaLnBrk="0">
              <a:lnSpc>
                <a:spcPts val="1312"/>
              </a:lnSpc>
              <a:spcBef>
                <a:spcPts val="0"/>
              </a:spcBef>
              <a:spcAft>
                <a:spcPts val="0"/>
              </a:spcAft>
            </a:pPr>
            <a:r>
              <a:rPr sz="1050" b="0" u="none">
                <a:solidFill>
                  <a:srgbClr val="62666C"/>
                </a:solidFill>
                <a:latin typeface="Noto Sans KR"/>
                <a:hlinkClick xmlns:ns53="http://schemas.openxmlformats.org/officeDocument/2006/relationships" ns53:id="rId2"/>
              </a:rPr>
              <a:t>관광지출액/20260820140409__202501-202512_데이터랩_다운로드.</a:t>
            </a:r>
          </a:p>
          <a:p>
            <a:pPr eaLnBrk="0">
              <a:lnSpc>
                <a:spcPts val="1312"/>
              </a:lnSpc>
              <a:spcBef>
                <a:spcPts val="0"/>
              </a:spcBef>
              <a:spcAft>
                <a:spcPts val="0"/>
              </a:spcAft>
            </a:pPr>
            <a:r>
              <a:rPr sz="1050" b="0" u="none">
                <a:solidFill>
                  <a:srgbClr val="62666C"/>
                </a:solidFill>
                <a:latin typeface="Noto Sans KR"/>
                <a:hlinkClick xmlns:ns54="http://schemas.openxmlformats.org/officeDocument/2006/relationships" ns54:id="rId2"/>
              </a:rPr>
              <a:t>zip 2026-01 ~ 2026-06</a:t>
            </a:r>
          </a:p>
        </p:txBody>
      </p:sp>
      <p:sp xmlns:a="http://schemas.openxmlformats.org/drawingml/2006/main">
        <p:nvSpPr>
          <p:cNvPr id="27" name="reference-22"/>
          <p:cNvSpPr txBox="1"/>
          <p:nvPr/>
        </p:nvSpPr>
        <p:spPr>
          <a:xfrm>
            <a:off x="9963150" y="4057650"/>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5="http://schemas.openxmlformats.org/officeDocument/2006/relationships" ns55:id="rId2"/>
              </a:rPr>
              <a:t>관측 데이터 D23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6="http://schemas.openxmlformats.org/officeDocument/2006/relationships" ns56:id="rId2"/>
              </a:rPr>
              <a:t>네비게이션/지역별</a:t>
            </a:r>
          </a:p>
          <a:p>
            <a:pPr eaLnBrk="0">
              <a:lnSpc>
                <a:spcPts val="1312"/>
              </a:lnSpc>
              <a:spcBef>
                <a:spcPts val="0"/>
              </a:spcBef>
              <a:spcAft>
                <a:spcPts val="0"/>
              </a:spcAft>
            </a:pPr>
            <a:r>
              <a:rPr sz="1050" b="0" u="none">
                <a:solidFill>
                  <a:srgbClr val="62666C"/>
                </a:solidFill>
                <a:latin typeface="Noto Sans KR"/>
                <a:hlinkClick xmlns:ns57="http://schemas.openxmlformats.org/officeDocument/2006/relationships" ns57:id="rId2"/>
              </a:rPr>
              <a:t>검색건수/20260820132007__202501-202512_데이터랩_다운로드.zi</a:t>
            </a:r>
          </a:p>
          <a:p>
            <a:pPr eaLnBrk="0">
              <a:lnSpc>
                <a:spcPts val="1312"/>
              </a:lnSpc>
              <a:spcBef>
                <a:spcPts val="0"/>
              </a:spcBef>
              <a:spcAft>
                <a:spcPts val="0"/>
              </a:spcAft>
            </a:pPr>
            <a:r>
              <a:rPr sz="1050" b="0" u="none">
                <a:solidFill>
                  <a:srgbClr val="62666C"/>
                </a:solidFill>
                <a:latin typeface="Noto Sans KR"/>
                <a:hlinkClick xmlns:ns58="http://schemas.openxmlformats.org/officeDocument/2006/relationships" ns58:id="rId2"/>
              </a:rPr>
              <a:t>p 2026-01 ~ 2026-06</a:t>
            </a:r>
          </a:p>
        </p:txBody>
      </p:sp>
      <p:sp xmlns:a="http://schemas.openxmlformats.org/drawingml/2006/main">
        <p:nvSpPr>
          <p:cNvPr id="28" name="reference-23"/>
          <p:cNvSpPr txBox="1"/>
          <p:nvPr/>
        </p:nvSpPr>
        <p:spPr>
          <a:xfrm>
            <a:off x="9963150" y="4848225"/>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9="http://schemas.openxmlformats.org/officeDocument/2006/relationships" ns59:id="rId2"/>
              </a:rPr>
              <a:t>관측 데이터 D24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0="http://schemas.openxmlformats.org/officeDocument/2006/relationships" ns60:id="rId2"/>
              </a:rPr>
              <a:t>이동통신/내국인/지역별</a:t>
            </a:r>
          </a:p>
          <a:p>
            <a:pPr eaLnBrk="0">
              <a:lnSpc>
                <a:spcPts val="1312"/>
              </a:lnSpc>
              <a:spcBef>
                <a:spcPts val="0"/>
              </a:spcBef>
              <a:spcAft>
                <a:spcPts val="0"/>
              </a:spcAft>
            </a:pPr>
            <a:r>
              <a:rPr sz="1050" b="0" u="none">
                <a:solidFill>
                  <a:srgbClr val="62666C"/>
                </a:solidFill>
                <a:latin typeface="Noto Sans KR"/>
                <a:hlinkClick xmlns:ns61="http://schemas.openxmlformats.org/officeDocument/2006/relationships" ns61:id="rId2"/>
              </a:rPr>
              <a:t>방문자수/20260820140624__202401-202412_데이터랩_다운로드.zi</a:t>
            </a:r>
          </a:p>
          <a:p>
            <a:pPr eaLnBrk="0">
              <a:lnSpc>
                <a:spcPts val="1312"/>
              </a:lnSpc>
              <a:spcBef>
                <a:spcPts val="0"/>
              </a:spcBef>
              <a:spcAft>
                <a:spcPts val="0"/>
              </a:spcAft>
            </a:pPr>
            <a:r>
              <a:rPr sz="1050" b="0" u="none">
                <a:solidFill>
                  <a:srgbClr val="62666C"/>
                </a:solidFill>
                <a:latin typeface="Noto Sans KR"/>
                <a:hlinkClick xmlns:ns62="http://schemas.openxmlformats.org/officeDocument/2006/relationships" ns62:id="rId2"/>
              </a:rPr>
              <a:t>p 2026-01 ~ 2026-06</a:t>
            </a:r>
          </a:p>
        </p:txBody>
      </p:sp>
      <p:sp xmlns:a="http://schemas.openxmlformats.org/drawingml/2006/main">
        <p:nvSpPr>
          <p:cNvPr id="29" name="reference-24"/>
          <p:cNvSpPr txBox="1"/>
          <p:nvPr/>
        </p:nvSpPr>
        <p:spPr>
          <a:xfrm>
            <a:off x="9963150" y="56388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63="http://schemas.openxmlformats.org/officeDocument/2006/relationships" ns63:id="rId2"/>
              </a:rPr>
              <a:t>관측 데이터 D25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4="http://schemas.openxmlformats.org/officeDocument/2006/relationships" ns64:id="rId2"/>
              </a:rPr>
              <a:t>이동통신/외국인/20260820141639_전국_202401-202412_데이터랩_</a:t>
            </a:r>
          </a:p>
          <a:p>
            <a:pPr eaLnBrk="0">
              <a:lnSpc>
                <a:spcPts val="1312"/>
              </a:lnSpc>
              <a:spcBef>
                <a:spcPts val="0"/>
              </a:spcBef>
              <a:spcAft>
                <a:spcPts val="0"/>
              </a:spcAft>
            </a:pPr>
            <a:r>
              <a:rPr sz="1050" b="0" u="none">
                <a:solidFill>
                  <a:srgbClr val="62666C"/>
                </a:solidFill>
                <a:latin typeface="Noto Sans KR"/>
                <a:hlinkClick xmlns:ns65="http://schemas.openxmlformats.org/officeDocument/2006/relationships" ns65:id="rId2"/>
              </a:rPr>
              <a:t>다운로드.zip 2026-01 ~ 2026-06</a:t>
            </a:r>
          </a:p>
        </p:txBody>
      </p:sp>
      <p:sp xmlns:a="http://schemas.openxmlformats.org/drawingml/2006/main">
        <p:nvSpPr>
          <p:cNvPr id="30" name="reference-25"/>
          <p:cNvSpPr txBox="1"/>
          <p:nvPr/>
        </p:nvSpPr>
        <p:spPr>
          <a:xfrm>
            <a:off x="9963150" y="6250781"/>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66="http://schemas.openxmlformats.org/officeDocument/2006/relationships" ns66:id="rId2"/>
              </a:rPr>
              <a:t>관측 데이터 D26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67="http://schemas.openxmlformats.org/officeDocument/2006/relationships" ns67:id="rId2"/>
              </a:rPr>
              <a:t>지역집중률 2025-07 ~ 2026-06</a:t>
            </a:r>
          </a:p>
        </p:txBody>
      </p:sp>
      <p:sp xmlns:a="http://schemas.openxmlformats.org/drawingml/2006/main">
        <p:nvSpPr>
          <p:cNvPr id="31" name="reference-26"/>
          <p:cNvSpPr txBox="1"/>
          <p:nvPr/>
        </p:nvSpPr>
        <p:spPr>
          <a:xfrm>
            <a:off x="9963150" y="6684169"/>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68="http://schemas.openxmlformats.org/officeDocument/2006/relationships" ns68:id="rId2"/>
              </a:rPr>
              <a:t>관측 데이터 D27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69="http://schemas.openxmlformats.org/officeDocument/2006/relationships" ns69:id="rId2"/>
              </a:rPr>
              <a:t>유입유출 2025-07 ~ 2026-06</a:t>
            </a:r>
          </a:p>
        </p:txBody>
      </p:sp>
      <p:sp xmlns:a="http://schemas.openxmlformats.org/drawingml/2006/main">
        <p:nvSpPr>
          <p:cNvPr id="32" name="reference-27"/>
          <p:cNvSpPr txBox="1"/>
          <p:nvPr/>
        </p:nvSpPr>
        <p:spPr>
          <a:xfrm>
            <a:off x="9963150" y="7117556"/>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70="http://schemas.openxmlformats.org/officeDocument/2006/relationships" ns70:id="rId2"/>
              </a:rPr>
              <a:t>관측 데이터 D28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71="http://schemas.openxmlformats.org/officeDocument/2006/relationships" ns71:id="rId2"/>
              </a:rPr>
              <a:t>인기관광지 2025-07 ~ 2026-06</a:t>
            </a:r>
          </a:p>
        </p:txBody>
      </p:sp>
      <p:sp xmlns:a="http://schemas.openxmlformats.org/drawingml/2006/main">
        <p:nvSpPr>
          <p:cNvPr id="33" name="reference-28"/>
          <p:cNvSpPr txBox="1"/>
          <p:nvPr/>
        </p:nvSpPr>
        <p:spPr>
          <a:xfrm>
            <a:off x="9963150" y="7550944"/>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방문자 수 RandomForestRegressor</a:t>
            </a:r>
          </a:p>
          <a:p>
            <a:pPr eaLnBrk="0">
              <a:lnSpc>
                <a:spcPts val="1265"/>
              </a:lnSpc>
              <a:spcBef>
                <a:spcPts val="0"/>
              </a:spcBef>
              <a:spcAft>
                <a:spcPts val="0"/>
              </a:spcAft>
            </a:pPr>
            <a:r>
              <a:rPr sz="1012" b="0">
                <a:solidFill>
                  <a:srgbClr val="F50045"/>
                </a:solidFill>
                <a:latin typeface="Noto Sans KR"/>
              </a:rPr>
              <a:t>최종 월 4,989,633명</a:t>
            </a:r>
          </a:p>
        </p:txBody>
      </p:sp>
      <p:sp xmlns:a="http://schemas.openxmlformats.org/drawingml/2006/main">
        <p:nvSpPr>
          <p:cNvPr id="35"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7. 근거와 출처</a:t>
            </a:r>
          </a:p>
        </p:txBody>
      </p:sp>
      <p:sp xmlns:a="http://schemas.openxmlformats.org/drawingml/2006/main">
        <p:nvSpPr>
          <p:cNvPr id="36"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15 / 17</a:t>
            </a:r>
          </a:p>
        </p:txBody>
      </p:sp>
    </p:spTree>
    <p:extLst>
      <p:ext uri="{BB962C8B-B14F-4D97-AF65-F5344CB8AC3E}">
        <p14:creationId xmlns:p14="http://schemas.microsoft.com/office/powerpoint/2010/main" val="930694367"/>
      </p:ext>
    </p:extLst>
  </p:cSld>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7.2 근거·데이터·출처 계속</a:t>
            </a: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2/2 · 파란 자료명을 누르면 원문으로 이동합니다.</a:t>
            </a:r>
          </a:p>
          <a:p>
            <a:pPr eaLnBrk="0">
              <a:lnSpc>
                <a:spcPts val="1781"/>
              </a:lnSpc>
              <a:spcBef>
                <a:spcPts val="0"/>
              </a:spcBef>
              <a:spcAft>
                <a:spcPts val="0"/>
              </a:spcAft>
            </a:pPr>
            <a:r>
              <a:rPr sz="1425" b="0">
                <a:solidFill>
                  <a:srgbClr val="62666C"/>
                </a:solidFill>
                <a:latin typeface="Noto Sans KR"/>
              </a:rPr>
              <a:t>참고 전망: 방문자·소비액 모델의 검증 오차가 전년동월 기준선보다 큽니다. 예측거리·누락 범위의 해석 주의가 필요합니다.</a:t>
            </a:r>
          </a:p>
        </p:txBody>
      </p:sp>
      <p:sp>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관광소비액 LinearRegression 최종 월 810.34억 원</a:t>
            </a:r>
          </a:p>
        </p:txBody>
      </p:sp>
      <p:sp>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체류시간 전년동월 계절 기준선 최종 월 1,118분</a:t>
            </a:r>
          </a:p>
        </p:txBody>
      </p:sp>
      <p:sp>
        <p:nvSpPr>
          <p:cNvPr id="7" name="reference-2"/>
          <p:cNvSpPr txBox="1"/>
          <p:nvPr/>
        </p:nvSpPr>
        <p:spPr>
          <a:xfrm>
            <a:off x="1009650" y="3343275"/>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숙박일수 전년동월 계절 기준선 최종 월 2.81일</a:t>
            </a:r>
          </a:p>
        </p:txBody>
      </p:sp>
      <p:sp>
        <p:nvSpPr>
          <p:cNvPr id="8" name="reference-3"/>
          <p:cNvSpPr txBox="1"/>
          <p:nvPr/>
        </p:nvSpPr>
        <p:spPr>
          <a:xfrm>
            <a:off x="1009650" y="3776662"/>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숙박방문자 비율 전년동월 계절 기준선 최종 월 7%</a:t>
            </a:r>
          </a:p>
        </p:txBody>
      </p:sp>
      <p:sp>
        <p:nvSpPr>
          <p:cNvPr id="9" name="reference-4"/>
          <p:cNvSpPr txBox="1"/>
          <p:nvPr/>
        </p:nvSpPr>
        <p:spPr>
          <a:xfrm>
            <a:off x="1009650" y="42100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숙박 목적지 검색량 전년동월 계절</a:t>
            </a:r>
          </a:p>
          <a:p>
            <a:pPr eaLnBrk="0">
              <a:lnSpc>
                <a:spcPts val="1265"/>
              </a:lnSpc>
              <a:spcBef>
                <a:spcPts val="0"/>
              </a:spcBef>
              <a:spcAft>
                <a:spcPts val="0"/>
              </a:spcAft>
            </a:pPr>
            <a:r>
              <a:rPr sz="1012" b="0">
                <a:solidFill>
                  <a:srgbClr val="F50045"/>
                </a:solidFill>
                <a:latin typeface="Noto Sans KR"/>
              </a:rPr>
              <a:t>기준선 최종 월 12,004건</a:t>
            </a:r>
          </a:p>
        </p:txBody>
      </p:sp>
      <p:sp>
        <p:nvSpPr>
          <p:cNvPr id="10" name="reference-5"/>
          <p:cNvSpPr txBox="1"/>
          <p:nvPr/>
        </p:nvSpPr>
        <p:spPr>
          <a:xfrm>
            <a:off x="1009650" y="464343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내비게이션 검색량 RandomForestRegressor</a:t>
            </a:r>
          </a:p>
          <a:p>
            <a:pPr eaLnBrk="0">
              <a:lnSpc>
                <a:spcPts val="1265"/>
              </a:lnSpc>
              <a:spcBef>
                <a:spcPts val="0"/>
              </a:spcBef>
              <a:spcAft>
                <a:spcPts val="0"/>
              </a:spcAft>
            </a:pPr>
            <a:r>
              <a:rPr sz="1012" b="0">
                <a:solidFill>
                  <a:srgbClr val="F50045"/>
                </a:solidFill>
                <a:latin typeface="Noto Sans KR"/>
              </a:rPr>
              <a:t>최종 월 225,518건</a:t>
            </a:r>
          </a:p>
        </p:txBody>
      </p:sp>
      <p:sp>
        <p:nvSpPr>
          <p:cNvPr id="11" name="reference-6"/>
          <p:cNvSpPr txBox="1"/>
          <p:nvPr/>
        </p:nvSpPr>
        <p:spPr>
          <a:xfrm>
            <a:off x="1009650" y="507682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공식 사례·문서 D50 요즘, 한국관광 2호 - 지방공항 연계 지역관광</a:t>
            </a:r>
          </a:p>
          <a:p>
            <a:pPr eaLnBrk="0">
              <a:lnSpc>
                <a:spcPts val="1265"/>
              </a:lnSpc>
              <a:spcBef>
                <a:spcPts val="0"/>
              </a:spcBef>
              <a:spcAft>
                <a:spcPts val="0"/>
              </a:spcAft>
            </a:pPr>
            <a:r>
              <a:rPr sz="1012" b="0" u="none">
                <a:solidFill>
                  <a:srgbClr val="62666C"/>
                </a:solidFill>
                <a:latin typeface="Noto Sans KR"/>
                <a:hlinkClick r:id="rId2"/>
              </a:rPr>
              <a:t>활성화 방안 · PDF 44쪽 외 4쪽 (5개 청크) datalab.visitkorea.or.kr</a:t>
            </a:r>
          </a:p>
        </p:txBody>
      </p:sp>
      <p:sp>
        <p:nvSpPr>
          <p:cNvPr id="12" name="reference-7"/>
          <p:cNvSpPr txBox="1"/>
          <p:nvPr/>
        </p:nvSpPr>
        <p:spPr>
          <a:xfrm>
            <a:off x="1009650" y="551021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3"/>
              </a:rPr>
              <a:t>공식 사례·문서 D51 여행가는 달 지역 여행할인</a:t>
            </a:r>
          </a:p>
          <a:p>
            <a:pPr eaLnBrk="0">
              <a:lnSpc>
                <a:spcPts val="1265"/>
              </a:lnSpc>
              <a:spcBef>
                <a:spcPts val="0"/>
              </a:spcBef>
              <a:spcAft>
                <a:spcPts val="0"/>
              </a:spcAft>
            </a:pPr>
            <a:r>
              <a:rPr sz="1012" b="0" u="none">
                <a:solidFill>
                  <a:srgbClr val="62666C"/>
                </a:solidFill>
                <a:latin typeface="Noto Sans KR"/>
                <a:hlinkClick r:id="rId3"/>
              </a:rPr>
              <a:t>모아보기 korean.visitkorea.or.kr</a:t>
            </a:r>
          </a:p>
        </p:txBody>
      </p:sp>
      <p:sp>
        <p:nvSpPr>
          <p:cNvPr id="13" name="reference-8"/>
          <p:cNvSpPr txBox="1"/>
          <p:nvPr/>
        </p:nvSpPr>
        <p:spPr>
          <a:xfrm>
            <a:off x="1009650" y="59436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4"/>
              </a:rPr>
              <a:t>공식 사례·문서 D52 대전광역시_문화시설 |</a:t>
            </a:r>
          </a:p>
          <a:p>
            <a:pPr eaLnBrk="0">
              <a:lnSpc>
                <a:spcPts val="1265"/>
              </a:lnSpc>
              <a:spcBef>
                <a:spcPts val="0"/>
              </a:spcBef>
              <a:spcAft>
                <a:spcPts val="0"/>
              </a:spcAft>
            </a:pPr>
            <a:r>
              <a:rPr sz="1012" b="0" u="none">
                <a:solidFill>
                  <a:srgbClr val="62666C"/>
                </a:solidFill>
                <a:latin typeface="Noto Sans KR"/>
                <a:hlinkClick r:id="rId4"/>
              </a:rPr>
              <a:t>공공데이터포털 www.data.go.kr</a:t>
            </a:r>
          </a:p>
        </p:txBody>
      </p:sp>
      <p:sp>
        <p:nvSpPr>
          <p:cNvPr id="14" name="reference-9"/>
          <p:cNvSpPr txBox="1"/>
          <p:nvPr/>
        </p:nvSpPr>
        <p:spPr>
          <a:xfrm>
            <a:off x="1009650" y="63769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5"/>
              </a:rPr>
              <a:t>공식 사례·문서 D53 대전광역시 문화관광(숙박정보) 데이터 |</a:t>
            </a:r>
          </a:p>
          <a:p>
            <a:pPr eaLnBrk="0">
              <a:lnSpc>
                <a:spcPts val="1265"/>
              </a:lnSpc>
              <a:spcBef>
                <a:spcPts val="0"/>
              </a:spcBef>
              <a:spcAft>
                <a:spcPts val="0"/>
              </a:spcAft>
            </a:pPr>
            <a:r>
              <a:rPr sz="1012" b="0" u="none">
                <a:solidFill>
                  <a:srgbClr val="62666C"/>
                </a:solidFill>
                <a:latin typeface="Noto Sans KR"/>
                <a:hlinkClick r:id="rId5"/>
              </a:rPr>
              <a:t>공공데이터포털 www.data.go.kr</a:t>
            </a:r>
          </a:p>
        </p:txBody>
      </p:sp>
      <p:sp>
        <p:nvSpPr>
          <p:cNvPr id="15" name="reference-10"/>
          <p:cNvSpPr txBox="1"/>
          <p:nvPr/>
        </p:nvSpPr>
        <p:spPr>
          <a:xfrm>
            <a:off x="1009650" y="68103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6"/>
              </a:rPr>
              <a:t>공식 사례·문서 D54 대전문화관광해설사 신규 양성 교육 |</a:t>
            </a:r>
          </a:p>
          <a:p>
            <a:pPr eaLnBrk="0">
              <a:lnSpc>
                <a:spcPts val="1265"/>
              </a:lnSpc>
              <a:spcBef>
                <a:spcPts val="0"/>
              </a:spcBef>
              <a:spcAft>
                <a:spcPts val="0"/>
              </a:spcAft>
            </a:pPr>
            <a:r>
              <a:rPr sz="1012" b="0" u="none">
                <a:solidFill>
                  <a:srgbClr val="62666C"/>
                </a:solidFill>
                <a:latin typeface="Noto Sans KR"/>
                <a:hlinkClick r:id="rId6"/>
              </a:rPr>
              <a:t>한국관광공사 관광e배움터 touredu.visitkorea.or.kr</a:t>
            </a:r>
          </a:p>
        </p:txBody>
      </p:sp>
      <p:sp>
        <p:nvSpPr>
          <p:cNvPr id="16" name="reference-11"/>
          <p:cNvSpPr txBox="1"/>
          <p:nvPr/>
        </p:nvSpPr>
        <p:spPr>
          <a:xfrm>
            <a:off x="1009650" y="7243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7"/>
              </a:rPr>
              <a:t>공식 사례·문서 D55 대전광역시 서구_체육시설 현황 |</a:t>
            </a:r>
          </a:p>
          <a:p>
            <a:pPr eaLnBrk="0">
              <a:lnSpc>
                <a:spcPts val="1265"/>
              </a:lnSpc>
              <a:spcBef>
                <a:spcPts val="0"/>
              </a:spcBef>
              <a:spcAft>
                <a:spcPts val="0"/>
              </a:spcAft>
            </a:pPr>
            <a:r>
              <a:rPr sz="1012" b="0" u="none">
                <a:solidFill>
                  <a:srgbClr val="62666C"/>
                </a:solidFill>
                <a:latin typeface="Noto Sans KR"/>
                <a:hlinkClick r:id="rId7"/>
              </a:rPr>
              <a:t>공공데이터포털 www.data.go.kr</a:t>
            </a:r>
          </a:p>
        </p:txBody>
      </p:sp>
      <p:sp>
        <p:nvSpPr>
          <p:cNvPr id="17" name="reference-12"/>
          <p:cNvSpPr txBox="1"/>
          <p:nvPr/>
        </p:nvSpPr>
        <p:spPr>
          <a:xfrm>
            <a:off x="548640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8"/>
              </a:rPr>
              <a:t>공식 사례·문서 D56 제4차 관광개발기본계획 발표 관련</a:t>
            </a:r>
          </a:p>
          <a:p>
            <a:pPr eaLnBrk="0">
              <a:lnSpc>
                <a:spcPts val="1265"/>
              </a:lnSpc>
              <a:spcBef>
                <a:spcPts val="0"/>
              </a:spcBef>
              <a:spcAft>
                <a:spcPts val="0"/>
              </a:spcAft>
            </a:pPr>
            <a:r>
              <a:rPr sz="1012" b="0" u="none">
                <a:solidFill>
                  <a:srgbClr val="62666C"/>
                </a:solidFill>
                <a:latin typeface="Noto Sans KR"/>
                <a:hlinkClick r:id="rId8"/>
              </a:rPr>
              <a:t>문화체육관광부 보도자료 www.mcst.go.kr</a:t>
            </a:r>
          </a:p>
        </p:txBody>
      </p:sp>
      <p:sp>
        <p:nvSpPr>
          <p:cNvPr id="18" name="reference-13"/>
          <p:cNvSpPr txBox="1"/>
          <p:nvPr/>
        </p:nvSpPr>
        <p:spPr>
          <a:xfrm>
            <a:off x="548640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9"/>
              </a:rPr>
              <a:t>공식 사례·문서 D57 한국관광 데이터랩 · 안동탈춤축제 연도별 방문자</a:t>
            </a:r>
          </a:p>
          <a:p>
            <a:pPr eaLnBrk="0">
              <a:lnSpc>
                <a:spcPts val="1265"/>
              </a:lnSpc>
              <a:spcBef>
                <a:spcPts val="0"/>
              </a:spcBef>
              <a:spcAft>
                <a:spcPts val="0"/>
              </a:spcAft>
            </a:pPr>
            <a:r>
              <a:rPr sz="1012" b="0" u="none">
                <a:solidFill>
                  <a:srgbClr val="62666C"/>
                </a:solidFill>
                <a:latin typeface="Noto Sans KR"/>
                <a:hlinkClick r:id="rId9"/>
              </a:rPr>
              <a:t>추이 datalab.visitkorea.or.kr</a:t>
            </a:r>
          </a:p>
        </p:txBody>
      </p:sp>
      <p:sp>
        <p:nvSpPr>
          <p:cNvPr id="19" name="reference-14"/>
          <p:cNvSpPr txBox="1"/>
          <p:nvPr/>
        </p:nvSpPr>
        <p:spPr>
          <a:xfrm>
            <a:off x="5486400" y="33432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9"/>
              </a:rPr>
              <a:t>공식 사례·문서 D58 한국관광 데이터랩 · 문경찻사발축제 방문자</a:t>
            </a:r>
          </a:p>
          <a:p>
            <a:pPr eaLnBrk="0">
              <a:lnSpc>
                <a:spcPts val="1265"/>
              </a:lnSpc>
              <a:spcBef>
                <a:spcPts val="0"/>
              </a:spcBef>
              <a:spcAft>
                <a:spcPts val="0"/>
              </a:spcAft>
            </a:pPr>
            <a:r>
              <a:rPr sz="1012" b="0" u="none">
                <a:solidFill>
                  <a:srgbClr val="62666C"/>
                </a:solidFill>
                <a:latin typeface="Noto Sans KR"/>
                <a:hlinkClick r:id="rId9"/>
              </a:rPr>
              <a:t>추이 datalab.visitkorea.or.kr</a:t>
            </a:r>
          </a:p>
        </p:txBody>
      </p:sp>
      <p:sp>
        <p:nvSpPr>
          <p:cNvPr id="20" name="reference-15"/>
          <p:cNvSpPr txBox="1"/>
          <p:nvPr/>
        </p:nvSpPr>
        <p:spPr>
          <a:xfrm>
            <a:off x="5486400" y="37766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0"/>
              </a:rPr>
              <a:t>공식 사례·문서 D59 2025년 문화예술 축제 통합 지원사업</a:t>
            </a:r>
          </a:p>
          <a:p>
            <a:pPr eaLnBrk="0">
              <a:lnSpc>
                <a:spcPts val="1265"/>
              </a:lnSpc>
              <a:spcBef>
                <a:spcPts val="0"/>
              </a:spcBef>
              <a:spcAft>
                <a:spcPts val="0"/>
              </a:spcAft>
            </a:pPr>
            <a:r>
              <a:rPr sz="1012" b="0" u="none">
                <a:solidFill>
                  <a:srgbClr val="62666C"/>
                </a:solidFill>
                <a:latin typeface="Noto Sans KR"/>
                <a:hlinkClick r:id="rId10"/>
              </a:rPr>
              <a:t>종합결과보고서 culture.seoul.go.kr</a:t>
            </a:r>
          </a:p>
        </p:txBody>
      </p:sp>
      <p:sp>
        <p:nvSpPr>
          <p:cNvPr id="21" name="reference-16"/>
          <p:cNvSpPr txBox="1"/>
          <p:nvPr/>
        </p:nvSpPr>
        <p:spPr>
          <a:xfrm>
            <a:off x="5486400" y="42100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1"/>
              </a:rPr>
              <a:t>공식 사례·문서 D60 귀촌 '원조 반값'은 다르다 강진서 전국 확산 '체류</a:t>
            </a:r>
          </a:p>
          <a:p>
            <a:pPr eaLnBrk="0">
              <a:lnSpc>
                <a:spcPts val="1265"/>
              </a:lnSpc>
              <a:spcBef>
                <a:spcPts val="0"/>
              </a:spcBef>
              <a:spcAft>
                <a:spcPts val="0"/>
              </a:spcAft>
            </a:pPr>
            <a:r>
              <a:rPr sz="1012" b="0" u="none">
                <a:solidFill>
                  <a:srgbClr val="62666C"/>
                </a:solidFill>
                <a:latin typeface="Noto Sans KR"/>
                <a:hlinkClick r:id="rId11"/>
              </a:rPr>
              <a:t>관광 도시' jnfarm.jeonnam.go.kr</a:t>
            </a:r>
          </a:p>
        </p:txBody>
      </p:sp>
      <p:sp>
        <p:nvSpPr>
          <p:cNvPr id="22" name="reference-17"/>
          <p:cNvSpPr txBox="1"/>
          <p:nvPr/>
        </p:nvSpPr>
        <p:spPr>
          <a:xfrm>
            <a:off x="5486400" y="464343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공식 사례·문서 D61 요즘, 한국관광 2호 - 지방공항 연계 지역관광</a:t>
            </a:r>
          </a:p>
          <a:p>
            <a:pPr eaLnBrk="0">
              <a:lnSpc>
                <a:spcPts val="1265"/>
              </a:lnSpc>
              <a:spcBef>
                <a:spcPts val="0"/>
              </a:spcBef>
              <a:spcAft>
                <a:spcPts val="0"/>
              </a:spcAft>
            </a:pPr>
            <a:r>
              <a:rPr sz="1012" b="0" u="none">
                <a:solidFill>
                  <a:srgbClr val="62666C"/>
                </a:solidFill>
                <a:latin typeface="Noto Sans KR"/>
                <a:hlinkClick r:id="rId2"/>
              </a:rPr>
              <a:t>활성화 방안 datalab.visitkorea.or.kr</a:t>
            </a:r>
          </a:p>
        </p:txBody>
      </p:sp>
      <p:sp>
        <p:nvSpPr>
          <p:cNvPr id="23" name="reference-18"/>
          <p:cNvSpPr txBox="1"/>
          <p:nvPr/>
        </p:nvSpPr>
        <p:spPr>
          <a:xfrm>
            <a:off x="5486400" y="507682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2"/>
              </a:rPr>
              <a:t>공식 사례·문서 D62 2024년 6월 여행가는 달 추진</a:t>
            </a:r>
          </a:p>
          <a:p>
            <a:pPr eaLnBrk="0">
              <a:lnSpc>
                <a:spcPts val="1265"/>
              </a:lnSpc>
              <a:spcBef>
                <a:spcPts val="0"/>
              </a:spcBef>
              <a:spcAft>
                <a:spcPts val="0"/>
              </a:spcAft>
            </a:pPr>
            <a:r>
              <a:rPr sz="1012" b="0" u="none">
                <a:solidFill>
                  <a:srgbClr val="62666C"/>
                </a:solidFill>
                <a:latin typeface="Noto Sans KR"/>
                <a:hlinkClick r:id="rId12"/>
              </a:rPr>
              <a:t>보도자료 mcst.go.kr</a:t>
            </a:r>
          </a:p>
        </p:txBody>
      </p:sp>
      <p:sp>
        <p:nvSpPr>
          <p:cNvPr id="24" name="reference-19"/>
          <p:cNvSpPr txBox="1"/>
          <p:nvPr/>
        </p:nvSpPr>
        <p:spPr>
          <a:xfrm>
            <a:off x="5486400" y="551021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3"/>
              </a:rPr>
              <a:t>공식 사례·문서 D63 2022 대한민국 숙박대전 경제파급효과</a:t>
            </a:r>
          </a:p>
          <a:p>
            <a:pPr eaLnBrk="0">
              <a:lnSpc>
                <a:spcPts val="1265"/>
              </a:lnSpc>
              <a:spcBef>
                <a:spcPts val="0"/>
              </a:spcBef>
              <a:spcAft>
                <a:spcPts val="0"/>
              </a:spcAft>
            </a:pPr>
            <a:r>
              <a:rPr sz="1012" b="0" u="none">
                <a:solidFill>
                  <a:srgbClr val="62666C"/>
                </a:solidFill>
                <a:latin typeface="Noto Sans KR"/>
                <a:hlinkClick r:id="rId13"/>
              </a:rPr>
              <a:t>공개자료 kto.visitkorea.or.kr</a:t>
            </a:r>
          </a:p>
        </p:txBody>
      </p:sp>
      <p:sp>
        <p:nvSpPr>
          <p:cNvPr id="25" name="reference-20"/>
          <p:cNvSpPr txBox="1"/>
          <p:nvPr/>
        </p:nvSpPr>
        <p:spPr>
          <a:xfrm>
            <a:off x="5486400" y="59436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4"/>
              </a:rPr>
              <a:t>공식 사례·문서 D64 2025 대한민국 밤밤페스타 개최 도시 및</a:t>
            </a:r>
          </a:p>
          <a:p>
            <a:pPr eaLnBrk="0">
              <a:lnSpc>
                <a:spcPts val="1265"/>
              </a:lnSpc>
              <a:spcBef>
                <a:spcPts val="0"/>
              </a:spcBef>
              <a:spcAft>
                <a:spcPts val="0"/>
              </a:spcAft>
            </a:pPr>
            <a:r>
              <a:rPr sz="1012" b="0" u="none">
                <a:solidFill>
                  <a:srgbClr val="62666C"/>
                </a:solidFill>
                <a:latin typeface="Noto Sans KR"/>
                <a:hlinkClick r:id="rId14"/>
              </a:rPr>
              <a:t>일정 korean.visitkorea.or.kr</a:t>
            </a:r>
          </a:p>
        </p:txBody>
      </p:sp>
      <p:sp>
        <p:nvSpPr>
          <p:cNvPr id="26" name="reference-21"/>
          <p:cNvSpPr txBox="1"/>
          <p:nvPr/>
        </p:nvSpPr>
        <p:spPr>
          <a:xfrm>
            <a:off x="5486400" y="63769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D30 갈마짬뽕</a:t>
            </a:r>
          </a:p>
        </p:txBody>
      </p:sp>
      <p:sp>
        <p:nvSpPr>
          <p:cNvPr id="27" name="reference-22"/>
          <p:cNvSpPr txBox="1"/>
          <p:nvPr/>
        </p:nvSpPr>
        <p:spPr>
          <a:xfrm>
            <a:off x="5486400" y="66817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D31 관저당</a:t>
            </a:r>
          </a:p>
        </p:txBody>
      </p:sp>
      <p:sp>
        <p:nvSpPr>
          <p:cNvPr id="28" name="reference-23"/>
          <p:cNvSpPr txBox="1"/>
          <p:nvPr/>
        </p:nvSpPr>
        <p:spPr>
          <a:xfrm>
            <a:off x="5486400" y="69865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D32 굿모닝레지던스호텔휴</a:t>
            </a:r>
          </a:p>
        </p:txBody>
      </p:sp>
      <p:sp>
        <p:nvSpPr>
          <p:cNvPr id="29" name="reference-24"/>
          <p:cNvSpPr txBox="1"/>
          <p:nvPr/>
        </p:nvSpPr>
        <p:spPr>
          <a:xfrm>
            <a:off x="5486400" y="72913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D33 귀빈돌솥밥</a:t>
            </a:r>
          </a:p>
        </p:txBody>
      </p:sp>
      <p:sp>
        <p:nvSpPr>
          <p:cNvPr id="30" name="reference-25"/>
          <p:cNvSpPr txBox="1"/>
          <p:nvPr/>
        </p:nvSpPr>
        <p:spPr>
          <a:xfrm>
            <a:off x="5486400" y="75961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D34 남선공원</a:t>
            </a:r>
          </a:p>
        </p:txBody>
      </p:sp>
      <p:sp>
        <p:nvSpPr>
          <p:cNvPr id="31" name="reference-26"/>
          <p:cNvSpPr txBox="1"/>
          <p:nvPr/>
        </p:nvSpPr>
        <p:spPr>
          <a:xfrm>
            <a:off x="9963150" y="2476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D35 내원사(대전)</a:t>
            </a:r>
          </a:p>
        </p:txBody>
      </p:sp>
      <p:sp>
        <p:nvSpPr>
          <p:cNvPr id="32" name="reference-27"/>
          <p:cNvSpPr txBox="1"/>
          <p:nvPr/>
        </p:nvSpPr>
        <p:spPr>
          <a:xfrm>
            <a:off x="9963150" y="2781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D36 노크노크</a:t>
            </a:r>
          </a:p>
        </p:txBody>
      </p:sp>
      <p:sp>
        <p:nvSpPr>
          <p:cNvPr id="33" name="reference-28"/>
          <p:cNvSpPr txBox="1"/>
          <p:nvPr/>
        </p:nvSpPr>
        <p:spPr>
          <a:xfrm>
            <a:off x="9963150" y="3086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D37 대성콩국수</a:t>
            </a:r>
          </a:p>
        </p:txBody>
      </p:sp>
      <p:sp>
        <p:nvSpPr>
          <p:cNvPr id="34" name="reference-29"/>
          <p:cNvSpPr txBox="1"/>
          <p:nvPr/>
        </p:nvSpPr>
        <p:spPr>
          <a:xfrm>
            <a:off x="9963150" y="3390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D38 대전 가수원도서관</a:t>
            </a:r>
          </a:p>
        </p:txBody>
      </p:sp>
      <p:sp>
        <p:nvSpPr>
          <p:cNvPr id="35" name="reference-30"/>
          <p:cNvSpPr txBox="1"/>
          <p:nvPr/>
        </p:nvSpPr>
        <p:spPr>
          <a:xfrm>
            <a:off x="9963150" y="3695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D39 대전광역시청 시민잔디광장</a:t>
            </a:r>
          </a:p>
        </p:txBody>
      </p:sp>
      <p:sp>
        <p:nvSpPr>
          <p:cNvPr id="36" name="reference-31"/>
          <p:cNvSpPr txBox="1"/>
          <p:nvPr/>
        </p:nvSpPr>
        <p:spPr>
          <a:xfrm>
            <a:off x="9963150" y="4000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D40 대전서구문화원</a:t>
            </a:r>
          </a:p>
        </p:txBody>
      </p:sp>
      <p:sp>
        <p:nvSpPr>
          <p:cNvPr id="37" name="reference-32"/>
          <p:cNvSpPr txBox="1"/>
          <p:nvPr/>
        </p:nvSpPr>
        <p:spPr>
          <a:xfrm>
            <a:off x="9963150" y="4305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D41 델빠네</a:t>
            </a:r>
          </a:p>
        </p:txBody>
      </p:sp>
      <p:sp>
        <p:nvSpPr>
          <p:cNvPr id="38" name="reference-33"/>
          <p:cNvSpPr txBox="1"/>
          <p:nvPr/>
        </p:nvSpPr>
        <p:spPr>
          <a:xfrm>
            <a:off x="9963150" y="4610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D42 도마큰시장</a:t>
            </a:r>
          </a:p>
        </p:txBody>
      </p:sp>
      <p:sp>
        <p:nvSpPr>
          <p:cNvPr id="39" name="reference-34"/>
          <p:cNvSpPr txBox="1"/>
          <p:nvPr/>
        </p:nvSpPr>
        <p:spPr>
          <a:xfrm>
            <a:off x="9963150" y="4914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D43 도산서원(대전)</a:t>
            </a:r>
          </a:p>
        </p:txBody>
      </p:sp>
      <p:sp>
        <p:nvSpPr>
          <p:cNvPr id="40" name="reference-35"/>
          <p:cNvSpPr txBox="1"/>
          <p:nvPr/>
        </p:nvSpPr>
        <p:spPr>
          <a:xfrm>
            <a:off x="9963150" y="5219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D44 둔산꽃시장</a:t>
            </a:r>
          </a:p>
        </p:txBody>
      </p:sp>
      <p:sp>
        <p:nvSpPr>
          <p:cNvPr id="41" name="reference-36"/>
          <p:cNvSpPr txBox="1"/>
          <p:nvPr/>
        </p:nvSpPr>
        <p:spPr>
          <a:xfrm>
            <a:off x="9963150" y="5524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D45 둔산전자타운</a:t>
            </a:r>
          </a:p>
        </p:txBody>
      </p:sp>
      <p:sp>
        <p:nvSpPr>
          <p:cNvPr id="42" name="reference-37"/>
          <p:cNvSpPr txBox="1"/>
          <p:nvPr/>
        </p:nvSpPr>
        <p:spPr>
          <a:xfrm>
            <a:off x="9963150" y="5829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D46 롯데백화점 (대전점)</a:t>
            </a:r>
          </a:p>
        </p:txBody>
      </p:sp>
      <p:sp>
        <p:nvSpPr>
          <p:cNvPr id="43" name="reference-38"/>
          <p:cNvSpPr txBox="1"/>
          <p:nvPr/>
        </p:nvSpPr>
        <p:spPr>
          <a:xfrm>
            <a:off x="9963150" y="6134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D47 마치광장</a:t>
            </a:r>
          </a:p>
        </p:txBody>
      </p:sp>
      <p:sp>
        <p:nvSpPr>
          <p:cNvPr id="44" name="reference-39"/>
          <p:cNvSpPr txBox="1"/>
          <p:nvPr/>
        </p:nvSpPr>
        <p:spPr>
          <a:xfrm>
            <a:off x="9963150" y="6438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D48 몽뜨</a:t>
            </a:r>
          </a:p>
        </p:txBody>
      </p:sp>
      <p:sp>
        <p:nvSpPr>
          <p:cNvPr id="45" name="reference-40"/>
          <p:cNvSpPr txBox="1"/>
          <p:nvPr/>
        </p:nvSpPr>
        <p:spPr>
          <a:xfrm>
            <a:off x="9963150" y="6743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D49 미세노센세</a:t>
            </a:r>
          </a:p>
        </p:txBody>
      </p:sp>
      <p:sp>
        <p:nvSpPr>
          <p:cNvPr id="47"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7. 근거와 출처</a:t>
            </a:r>
          </a:p>
        </p:txBody>
      </p:sp>
      <p:sp>
        <p:nvSpPr>
          <p:cNvPr id="48"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16 / 17</a:t>
            </a:r>
          </a:p>
        </p:txBody>
      </p:sp>
    </p:spTree>
  </p:cSld>
  <p:clrMapOvr>
    <a:masterClrMapping/>
  </p:clrMapOvr>
</p:sld>
</file>

<file path=ppt/slides/slide16.xml><?xml version="1.0" encoding="utf-8"?>
<p:sld xmlns:p="http://schemas.openxmlformats.org/presentationml/2006/main">
  <p:cSld>
    <p:bg>
      <p:bgPr>
        <a:solidFill xmlns:a="http://schemas.openxmlformats.org/drawingml/2006/main">
          <a:srgbClr val="202124"/>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l="25543" r="25543"/>
          <a:stretch>
            <a:fillRect/>
          </a:stretch>
        </p:blipFill>
        <p:spPr>
          <a:xfrm>
            <a:off x="8953500" y="0"/>
            <a:ext cx="6286500" cy="8572500"/>
          </a:xfrm>
          <a:prstGeom prst="rect">
            <a:avLst/>
          </a:prstGeom>
        </p:spPr>
      </p:pic>
      <p:sp xmlns:a="http://schemas.openxmlformats.org/drawingml/2006/main">
        <p:nvSpPr>
          <p:cNvPr id="3" name="cover-top-rule"/>
          <p:cNvSpPr/>
          <p:nvPr/>
        </p:nvSpPr>
        <p:spPr>
          <a:xfrm>
            <a:off x="762000" y="904875"/>
            <a:ext cx="666750" cy="476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62000" y="2619375"/>
            <a:ext cx="7715250" cy="1190625"/>
          </a:xfrm>
          <a:prstGeom prst="rect">
            <a:avLst/>
          </a:prstGeom>
          <a:noFill/>
        </p:spPr>
        <p:txBody>
          <a:bodyPr wrap="none" lIns="57150" rIns="57150" tIns="38100" bIns="38100" anchor="t">
            <a:noAutofit/>
          </a:bodyPr>
          <a:lstStyle/>
          <a:p>
            <a:pPr eaLnBrk="0">
              <a:lnSpc>
                <a:spcPts val="5437"/>
              </a:lnSpc>
              <a:spcBef>
                <a:spcPts val="0"/>
              </a:spcBef>
              <a:spcAft>
                <a:spcPts val="0"/>
              </a:spcAft>
            </a:pPr>
            <a:r>
              <a:rPr sz="4350" b="1">
                <a:solidFill>
                  <a:srgbClr val="FFFFFF"/>
                </a:solidFill>
                <a:latin typeface="Noto Sans KR"/>
              </a:rPr>
              <a:t>감사합니다</a:t>
            </a:r>
          </a:p>
        </p:txBody>
      </p:sp>
      <p:sp xmlns:a="http://schemas.openxmlformats.org/drawingml/2006/main">
        <p:nvSpPr>
          <p:cNvPr id="6" name="cover-title-line2"/>
          <p:cNvSpPr txBox="1"/>
          <p:nvPr/>
        </p:nvSpPr>
        <p:spPr>
          <a:xfrm>
            <a:off x="762000" y="3943350"/>
            <a:ext cx="7715250" cy="1352550"/>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FFFFFF"/>
                </a:solidFill>
                <a:latin typeface="Noto Sans KR"/>
              </a:rPr>
              <a:t>데이터로 확인하고,</a:t>
            </a:r>
          </a:p>
          <a:p>
            <a:pPr eaLnBrk="0">
              <a:lnSpc>
                <a:spcPts val="4500"/>
              </a:lnSpc>
              <a:spcBef>
                <a:spcPts val="0"/>
              </a:spcBef>
              <a:spcAft>
                <a:spcPts val="0"/>
              </a:spcAft>
            </a:pPr>
            <a:r>
              <a:rPr sz="3600" b="1">
                <a:solidFill>
                  <a:srgbClr val="FFFFFF"/>
                </a:solidFill>
                <a:latin typeface="Noto Sans KR"/>
              </a:rPr>
              <a:t>현장에서 완성합니다</a:t>
            </a:r>
          </a:p>
        </p:txBody>
      </p:sp>
      <p:sp xmlns:a="http://schemas.openxmlformats.org/drawingml/2006/main">
        <p:nvSpPr>
          <p:cNvPr id="8" name="org-title"/>
          <p:cNvSpPr txBox="1"/>
          <p:nvPr/>
        </p:nvSpPr>
        <p:spPr>
          <a:xfrm>
            <a:off x="762000" y="7239000"/>
            <a:ext cx="7429500" cy="45720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대전광역시 서구</a:t>
            </a:r>
          </a:p>
        </p:txBody>
      </p:sp>
      <p:sp xmlns:a="http://schemas.openxmlformats.org/drawingml/2006/main">
        <p:nvSpPr>
          <p:cNvPr id="9" name="cover-meta"/>
          <p:cNvSpPr txBox="1"/>
          <p:nvPr/>
        </p:nvSpPr>
        <p:spPr>
          <a:xfrm>
            <a:off x="762000" y="7753350"/>
            <a:ext cx="7524750" cy="5715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FFFFFF"/>
                </a:solidFill>
                <a:latin typeface="Noto Sans KR"/>
              </a:rPr>
              <a:t>서구 여행비 환급 사업</a:t>
            </a:r>
          </a:p>
        </p:txBody>
      </p:sp>
      <p:sp xmlns:a="http://schemas.openxmlformats.org/drawingml/2006/main">
        <p:nvSpPr>
          <p:cNvPr id="10"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cover-source-label">
            <a:hlinkClick xmlns:ns0="http://schemas.openxmlformats.org/officeDocument/2006/relationships" ns0: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대전광역시 서구 · 내원사(대전)</a:t>
            </a:r>
          </a:p>
        </p:txBody>
      </p:sp>
    </p:spTree>
    <p:extLst>
      <p:ext uri="{BB962C8B-B14F-4D97-AF65-F5344CB8AC3E}">
        <p14:creationId xmlns:p14="http://schemas.microsoft.com/office/powerpoint/2010/main" val="655411831"/>
      </p:ext>
    </p:extLst>
  </p:cSld>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erview-bg"/>
          <p:cNvSpPr/>
          <p:nvPr/>
        </p:nvSpPr>
        <p:spPr>
          <a:xfrm>
            <a:off x="0" y="0"/>
            <a:ext cx="15240000" cy="8572500"/>
          </a:xfrm>
          <a:prstGeom prst="rect">
            <a:avLst/>
          </a:prstGeom>
          <a:solidFill>
            <a:srgbClr val="F3F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editorial-kicker"/>
          <p:cNvSpPr txBox="1"/>
          <p:nvPr/>
        </p:nvSpPr>
        <p:spPr>
          <a:xfrm>
            <a:off x="1009650" y="361950"/>
            <a:ext cx="11430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EC164B"/>
                </a:solidFill>
                <a:latin typeface="Noto Sans KR"/>
              </a:rPr>
              <a:t>1. 개요</a:t>
            </a:r>
          </a:p>
        </p:txBody>
      </p:sp>
      <p:sp>
        <p:nvSpPr>
          <p:cNvPr id="4" name="title"/>
          <p:cNvSpPr txBox="1"/>
          <p:nvPr/>
        </p:nvSpPr>
        <p:spPr>
          <a:xfrm>
            <a:off x="1009650" y="876300"/>
            <a:ext cx="13220700" cy="6191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22262A"/>
                </a:solidFill>
                <a:latin typeface="Noto Sans KR"/>
              </a:rPr>
              <a:t>1.1 제안 사업 소개</a:t>
            </a:r>
          </a:p>
        </p:txBody>
      </p:sp>
      <p:sp>
        <p:nvSpPr>
          <p:cNvPr id="5" name="overview-name"/>
          <p:cNvSpPr txBox="1"/>
          <p:nvPr/>
        </p:nvSpPr>
        <p:spPr>
          <a:xfrm>
            <a:off x="1009650" y="1638300"/>
            <a:ext cx="13220700" cy="619125"/>
          </a:xfrm>
          <a:prstGeom prst="rect">
            <a:avLst/>
          </a:prstGeom>
          <a:noFill/>
        </p:spPr>
        <p:txBody>
          <a:bodyPr wrap="none" lIns="57150" rIns="57150" tIns="38100" bIns="38100" anchor="t">
            <a:noAutofit/>
          </a:bodyPr>
          <a:lstStyle/>
          <a:p>
            <a:pPr eaLnBrk="0" algn="ctr">
              <a:lnSpc>
                <a:spcPts val="3000"/>
              </a:lnSpc>
              <a:spcBef>
                <a:spcPts val="0"/>
              </a:spcBef>
              <a:spcAft>
                <a:spcPts val="0"/>
              </a:spcAft>
            </a:pPr>
            <a:r>
              <a:rPr sz="2400" b="1">
                <a:solidFill>
                  <a:srgbClr val="22262A"/>
                </a:solidFill>
                <a:latin typeface="Noto Sans KR"/>
              </a:rPr>
              <a:t>서구 상권 활력 제고를 위한 '서구 관광 소비 환급' 시범 사업</a:t>
            </a:r>
          </a:p>
        </p:txBody>
      </p:sp>
      <p:sp>
        <p:nvSpPr>
          <p:cNvPr id="6" name="overview-photo-panel"/>
          <p:cNvSpPr/>
          <p:nvPr/>
        </p:nvSpPr>
        <p:spPr>
          <a:xfrm>
            <a:off x="1009650" y="2667000"/>
            <a:ext cx="6419850" cy="3209925"/>
          </a:xfrm>
          <a:prstGeom prst="rect">
            <a:avLst/>
          </a:prstGeom>
          <a:solidFill>
            <a:srgbClr val="E4EC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overview-business-photo" descr="refund.png"/>
          <p:cNvPicPr>
            <a:picLocks noChangeAspect="1"/>
          </p:cNvPicPr>
          <p:nvPr/>
        </p:nvPicPr>
        <p:blipFill>
          <a:blip r:embed="rId2"/>
          <a:stretch>
            <a:fillRect/>
          </a:stretch>
        </p:blipFill>
        <p:spPr>
          <a:xfrm>
            <a:off x="1009650" y="2667000"/>
            <a:ext cx="6419850" cy="3209925"/>
          </a:xfrm>
          <a:prstGeom prst="rect">
            <a:avLst/>
          </a:prstGeom>
        </p:spPr>
      </p:pic>
      <p:sp>
        <p:nvSpPr>
          <p:cNvPr id="8" name="overview-caption-bg"/>
          <p:cNvSpPr/>
          <p:nvPr/>
        </p:nvSpPr>
        <p:spPr>
          <a:xfrm>
            <a:off x="3071812" y="5419725"/>
            <a:ext cx="2295525" cy="342900"/>
          </a:xfrm>
          <a:prstGeom prst="rect">
            <a:avLst/>
          </a:prstGeom>
          <a:solidFill>
            <a:srgbClr val="133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erview-caption"/>
          <p:cNvSpPr txBox="1"/>
          <p:nvPr/>
        </p:nvSpPr>
        <p:spPr>
          <a:xfrm>
            <a:off x="3224212" y="5476875"/>
            <a:ext cx="1990725" cy="228600"/>
          </a:xfrm>
          <a:prstGeom prst="rect">
            <a:avLst/>
          </a:prstGeom>
          <a:noFill/>
        </p:spPr>
        <p:txBody>
          <a:bodyPr wrap="none" lIns="57150" rIns="57150" tIns="38100" bIns="38100" anchor="ctr">
            <a:noAutofit/>
          </a:bodyPr>
          <a:lstStyle/>
          <a:p>
            <a:pPr eaLnBrk="0" algn="ctr">
              <a:lnSpc>
                <a:spcPts val="1171"/>
              </a:lnSpc>
              <a:spcBef>
                <a:spcPts val="0"/>
              </a:spcBef>
              <a:spcAft>
                <a:spcPts val="0"/>
              </a:spcAft>
            </a:pPr>
            <a:r>
              <a:rPr sz="937" b="0">
                <a:solidFill>
                  <a:srgbClr val="FFFFFF"/>
                </a:solidFill>
                <a:latin typeface="Noto Sans KR"/>
              </a:rPr>
              <a:t>관광객 쿠폰·환급 이용 예시안</a:t>
            </a:r>
          </a:p>
        </p:txBody>
      </p:sp>
      <p:sp>
        <p:nvSpPr>
          <p:cNvPr id="10" name="overview-description-panel"/>
          <p:cNvSpPr/>
          <p:nvPr/>
        </p:nvSpPr>
        <p:spPr>
          <a:xfrm>
            <a:off x="7810500" y="2667000"/>
            <a:ext cx="6419850" cy="3209925"/>
          </a:xfrm>
          <a:prstGeom prst="roundRect">
            <a:avLst>
              <a:gd name="adj" fmla="val 1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erview-description-accent"/>
          <p:cNvSpPr/>
          <p:nvPr/>
        </p:nvSpPr>
        <p:spPr>
          <a:xfrm>
            <a:off x="8115300" y="2943225"/>
            <a:ext cx="47625" cy="323850"/>
          </a:xfrm>
          <a:prstGeom prst="rect">
            <a:avLst/>
          </a:prstGeom>
          <a:solidFill>
            <a:srgbClr val="D5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erview-description-label"/>
          <p:cNvSpPr txBox="1"/>
          <p:nvPr/>
        </p:nvSpPr>
        <p:spPr>
          <a:xfrm>
            <a:off x="8315325" y="2943225"/>
            <a:ext cx="5381625"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22262A"/>
                </a:solidFill>
                <a:latin typeface="Noto Sans KR"/>
              </a:rPr>
              <a:t>사업개요</a:t>
            </a:r>
          </a:p>
        </p:txBody>
      </p:sp>
      <p:sp>
        <p:nvSpPr>
          <p:cNvPr id="13" name="overview-description-divider"/>
          <p:cNvSpPr/>
          <p:nvPr/>
        </p:nvSpPr>
        <p:spPr>
          <a:xfrm>
            <a:off x="8115300" y="3476625"/>
            <a:ext cx="5810250" cy="9525"/>
          </a:xfrm>
          <a:prstGeom prst="rect">
            <a:avLst/>
          </a:prstGeom>
          <a:solidFill>
            <a:srgbClr val="E2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erview-description"/>
          <p:cNvSpPr txBox="1"/>
          <p:nvPr/>
        </p:nvSpPr>
        <p:spPr>
          <a:xfrm>
            <a:off x="8115300" y="3705225"/>
            <a:ext cx="5810250" cy="19431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44505C"/>
                </a:solidFill>
                <a:latin typeface="Noto Sans KR"/>
              </a:rPr>
              <a:t>서구 내 지정된 식음료·쇼핑 업종에서 일정 금액 이상 결제</a:t>
            </a:r>
          </a:p>
          <a:p>
            <a:pPr eaLnBrk="0">
              <a:lnSpc>
                <a:spcPts val="2156"/>
              </a:lnSpc>
              <a:spcBef>
                <a:spcPts val="0"/>
              </a:spcBef>
              <a:spcAft>
                <a:spcPts val="0"/>
              </a:spcAft>
            </a:pPr>
            <a:r>
              <a:rPr sz="1725" b="0">
                <a:solidFill>
                  <a:srgbClr val="44505C"/>
                </a:solidFill>
                <a:latin typeface="Noto Sans KR"/>
              </a:rPr>
              <a:t>시, 증빙을 통해 지역사랑상품권으로 일부를</a:t>
            </a:r>
          </a:p>
          <a:p>
            <a:pPr eaLnBrk="0">
              <a:lnSpc>
                <a:spcPts val="2156"/>
              </a:lnSpc>
              <a:spcBef>
                <a:spcPts val="0"/>
              </a:spcBef>
              <a:spcAft>
                <a:spcPts val="0"/>
              </a:spcAft>
            </a:pPr>
            <a:r>
              <a:rPr sz="1725" b="0">
                <a:solidFill>
                  <a:srgbClr val="44505C"/>
                </a:solidFill>
                <a:latin typeface="Noto Sans KR"/>
              </a:rPr>
              <a:t>환급해 주는 방식</a:t>
            </a:r>
          </a:p>
          <a:p>
            <a:pPr eaLnBrk="0">
              <a:lnSpc>
                <a:spcPts val="2156"/>
              </a:lnSpc>
              <a:spcBef>
                <a:spcPts val="0"/>
              </a:spcBef>
              <a:spcAft>
                <a:spcPts val="0"/>
              </a:spcAft>
            </a:pPr>
            <a:r>
              <a:rPr sz="1725" b="0">
                <a:solidFill>
                  <a:srgbClr val="44505C"/>
                </a:solidFill>
                <a:latin typeface="Noto Sans KR"/>
              </a:rPr>
              <a:t>관광기획팀이 환급 대상 업종(식음료, 쇼핑) 및 가맹점</a:t>
            </a:r>
          </a:p>
          <a:p>
            <a:pPr eaLnBrk="0">
              <a:lnSpc>
                <a:spcPts val="2156"/>
              </a:lnSpc>
              <a:spcBef>
                <a:spcPts val="0"/>
              </a:spcBef>
              <a:spcAft>
                <a:spcPts val="0"/>
              </a:spcAft>
            </a:pPr>
            <a:r>
              <a:rPr sz="1725" b="0">
                <a:solidFill>
                  <a:srgbClr val="44505C"/>
                </a:solidFill>
                <a:latin typeface="Noto Sans KR"/>
              </a:rPr>
              <a:t>리스트를 확정하고, 모바일 지역화폐 정산 체계와 부정수급</a:t>
            </a:r>
          </a:p>
          <a:p>
            <a:pPr eaLnBrk="0">
              <a:lnSpc>
                <a:spcPts val="2156"/>
              </a:lnSpc>
              <a:spcBef>
                <a:spcPts val="0"/>
              </a:spcBef>
              <a:spcAft>
                <a:spcPts val="0"/>
              </a:spcAft>
            </a:pPr>
            <a:r>
              <a:rPr sz="1725" b="0">
                <a:solidFill>
                  <a:srgbClr val="44505C"/>
                </a:solidFill>
                <a:latin typeface="Noto Sans KR"/>
              </a:rPr>
              <a:t>방지 지침을 수립함</a:t>
            </a:r>
          </a:p>
        </p:txBody>
      </p:sp>
      <p:sp>
        <p:nvSpPr>
          <p:cNvPr id="15" name="overview-goal-0"/>
          <p:cNvSpPr/>
          <p:nvPr/>
        </p:nvSpPr>
        <p:spPr>
          <a:xfrm>
            <a:off x="1009650" y="6400800"/>
            <a:ext cx="6419850" cy="1362075"/>
          </a:xfrm>
          <a:prstGeom prst="rect">
            <a:avLst/>
          </a:prstGeom>
          <a:solidFill>
            <a:srgbClr val="EA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overview-goal-icon-0" descr="map-pinned-blue.png"/>
          <p:cNvPicPr>
            <a:picLocks noChangeAspect="1"/>
          </p:cNvPicPr>
          <p:nvPr/>
        </p:nvPicPr>
        <p:blipFill>
          <a:blip r:embed="rId3"/>
          <a:stretch>
            <a:fillRect/>
          </a:stretch>
        </p:blipFill>
        <p:spPr>
          <a:xfrm>
            <a:off x="1238250" y="6629400"/>
            <a:ext cx="571500" cy="571500"/>
          </a:xfrm>
          <a:prstGeom prst="rect">
            <a:avLst/>
          </a:prstGeom>
        </p:spPr>
      </p:pic>
      <p:sp>
        <p:nvSpPr>
          <p:cNvPr id="17" name="overview-goal-label-0"/>
          <p:cNvSpPr txBox="1"/>
          <p:nvPr/>
        </p:nvSpPr>
        <p:spPr>
          <a:xfrm>
            <a:off x="2038350" y="6591300"/>
            <a:ext cx="5076825" cy="3333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3개월 추가 방문 목표</a:t>
            </a:r>
          </a:p>
        </p:txBody>
      </p:sp>
      <p:sp>
        <p:nvSpPr>
          <p:cNvPr id="18" name="overview-goal-value-0"/>
          <p:cNvSpPr txBox="1"/>
          <p:nvPr/>
        </p:nvSpPr>
        <p:spPr>
          <a:xfrm>
            <a:off x="2038350" y="7019925"/>
            <a:ext cx="5076825" cy="552450"/>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276AA5"/>
                </a:solidFill>
                <a:latin typeface="Noto Sans KR"/>
              </a:rPr>
              <a:t>+1,440명</a:t>
            </a:r>
          </a:p>
        </p:txBody>
      </p:sp>
      <p:sp>
        <p:nvSpPr>
          <p:cNvPr id="19" name="overview-goal-1"/>
          <p:cNvSpPr/>
          <p:nvPr/>
        </p:nvSpPr>
        <p:spPr>
          <a:xfrm>
            <a:off x="7810500" y="6400800"/>
            <a:ext cx="6419850" cy="1362075"/>
          </a:xfrm>
          <a:prstGeom prst="rect">
            <a:avLst/>
          </a:prstGeom>
          <a:solidFill>
            <a:srgbClr val="E7F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overview-goal-icon-1" descr="coins-jade.png"/>
          <p:cNvPicPr>
            <a:picLocks noChangeAspect="1"/>
          </p:cNvPicPr>
          <p:nvPr/>
        </p:nvPicPr>
        <p:blipFill>
          <a:blip r:embed="rId4"/>
          <a:stretch>
            <a:fillRect/>
          </a:stretch>
        </p:blipFill>
        <p:spPr>
          <a:xfrm>
            <a:off x="8039100" y="6629400"/>
            <a:ext cx="571500" cy="571500"/>
          </a:xfrm>
          <a:prstGeom prst="rect">
            <a:avLst/>
          </a:prstGeom>
        </p:spPr>
      </p:pic>
      <p:sp>
        <p:nvSpPr>
          <p:cNvPr id="21" name="overview-goal-label-1"/>
          <p:cNvSpPr txBox="1"/>
          <p:nvPr/>
        </p:nvSpPr>
        <p:spPr>
          <a:xfrm>
            <a:off x="8839200" y="6591300"/>
            <a:ext cx="5076825" cy="3333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3개월간 월평균 추가 소비 목표</a:t>
            </a:r>
          </a:p>
        </p:txBody>
      </p:sp>
      <p:sp>
        <p:nvSpPr>
          <p:cNvPr id="22" name="overview-goal-value-1"/>
          <p:cNvSpPr txBox="1"/>
          <p:nvPr/>
        </p:nvSpPr>
        <p:spPr>
          <a:xfrm>
            <a:off x="8839200" y="7019925"/>
            <a:ext cx="5076825" cy="552450"/>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12867F"/>
                </a:solidFill>
                <a:latin typeface="Noto Sans KR"/>
              </a:rPr>
              <a:t>약 +1,716만 원</a:t>
            </a:r>
          </a:p>
        </p:txBody>
      </p:sp>
      <p:sp>
        <p:nvSpPr>
          <p:cNvPr id="23" name="overview-note"/>
          <p:cNvSpPr txBox="1"/>
          <p:nvPr/>
        </p:nvSpPr>
        <p:spPr>
          <a:xfrm>
            <a:off x="1009650" y="8077200"/>
            <a:ext cx="13220700" cy="295275"/>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66717A"/>
                </a:solidFill>
                <a:latin typeface="Noto Sans KR"/>
              </a:rPr>
              <a:t>운영 규모를 바탕으로 제안한 계획 목표입니다. 월평균 소비 증가는 준비 기간을 포함한 사업기간 합계 ÷ 개월 수입니다.</a:t>
            </a:r>
          </a:p>
        </p:txBody>
      </p:sp>
      <p:sp>
        <p:nvSpPr>
          <p:cNvPr id="24"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6717A"/>
                </a:solidFill>
                <a:latin typeface="Noto Sans KR"/>
              </a:rPr>
              <a:t>03 / 17</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