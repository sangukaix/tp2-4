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361.54501911</c:v>
                </c:pt>
                <c:pt idx="1">
                  <c:v>359.50819255</c:v>
                </c:pt>
                <c:pt idx="2">
                  <c:v>337.18788834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1504.93713412</c:v>
                </c:pt>
                <c:pt idx="1">
                  <c:v>1451.3651535</c:v>
                </c:pt>
                <c:pt idx="2">
                  <c:v>1494.45976723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864.0</c:v>
                </c:pt>
                <c:pt idx="1">
                  <c:v>2246.0</c:v>
                </c:pt>
                <c:pt idx="2">
                  <c:v>4147.0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9508.51</c:v>
                </c:pt>
                <c:pt idx="1">
                  <c:v>15735.32</c:v>
                </c:pt>
                <c:pt idx="2">
                  <c:v>23521.83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-2.976441023986953,</a:t>
            </a:r>
          </a:p>
          <a:p xmlns:a="http://schemas.openxmlformats.org/drawingml/2006/main">
            <a:r>
              <a:t>        "target_rank": 208,</a:t>
            </a:r>
          </a:p>
          <a:p xmlns:a="http://schemas.openxmlformats.org/drawingml/2006/main">
            <a:r>
              <a:t>        "target": [</a:t>
            </a:r>
          </a:p>
          <a:p xmlns:a="http://schemas.openxmlformats.org/drawingml/2006/main">
            <a:r>
              <a:t>          3615450.191125088,</a:t>
            </a:r>
          </a:p>
          <a:p xmlns:a="http://schemas.openxmlformats.org/drawingml/2006/main">
            <a:r>
              <a:t>          3595081.9254844403,</a:t>
            </a:r>
          </a:p>
          <a:p xmlns:a="http://schemas.openxmlformats.org/drawingml/2006/main">
            <a:r>
              <a:t>          3371878.8833904723</a:t>
            </a:r>
          </a:p>
          <a:p xmlns:a="http://schemas.openxmlformats.org/drawingml/2006/main">
            <a:r>
              <a:t>        ],</a:t>
            </a:r>
          </a:p>
          <a:p xmlns:a="http://schemas.openxmlformats.org/drawingml/2006/main">
            <a:r>
              <a:t>        "additional": 2246.0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-0.3089710244080113,</a:t>
            </a:r>
          </a:p>
          <a:p xmlns:a="http://schemas.openxmlformats.org/drawingml/2006/main">
            <a:r>
              <a:t>        "target_rank": 228,</a:t>
            </a:r>
          </a:p>
          <a:p xmlns:a="http://schemas.openxmlformats.org/drawingml/2006/main">
            <a:r>
              <a:t>        "target": [</a:t>
            </a:r>
          </a:p>
          <a:p xmlns:a="http://schemas.openxmlformats.org/drawingml/2006/main">
            <a:r>
              <a:t>          150493713411.81418,</a:t>
            </a:r>
          </a:p>
          <a:p xmlns:a="http://schemas.openxmlformats.org/drawingml/2006/main">
            <a:r>
              <a:t>          145136515350.191,</a:t>
            </a:r>
          </a:p>
          <a:p xmlns:a="http://schemas.openxmlformats.org/drawingml/2006/main">
            <a:r>
              <a:t>          149445976722.9948</a:t>
            </a:r>
          </a:p>
          <a:p xmlns:a="http://schemas.openxmlformats.org/drawingml/2006/main">
            <a:r>
              <a:t>        ],</a:t>
            </a:r>
          </a:p>
          <a:p xmlns:a="http://schemas.openxmlformats.org/drawingml/2006/main">
            <a:r>
              <a:t>        "additional": 157353164.0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+0.03%, 소비 +0.05%.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0.03221447862482329,</a:t>
            </a:r>
          </a:p>
          <a:p xmlns:a="http://schemas.openxmlformats.org/drawingml/2006/main">
            <a:r>
              <a:t>    "spending_target_pct": 0.05311575279200933,</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0.03221447862482329,</a:t>
            </a:r>
          </a:p>
          <a:p>
            <a:r>
              <a:t>    "spending_target_pct": 0.05311575279200933,</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10,582,411명 (추가 2,246명, +0.02%)\n관광소비액: 기준 444,918,852,321원 → 목표 445,076,205,485원 (추가 157,353,164원, +0.04%)\n월별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아닙니다.\n6개 × 월 8일 × 3개월 × 하루 2회 × 회당 40명 = 11,520명분 → 편성 참여 한도 11,520건.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10582411.0,</a:t>
            </a:r>
          </a:p>
          <a:p>
            <a:r>
              <a:t>        "additional": 2246.0,</a:t>
            </a:r>
          </a:p>
          <a:p>
            <a:r>
              <a:t>        "pct": 0.02122840239258128</a:t>
            </a:r>
          </a:p>
          <a:p>
            <a:r>
              <a:t>      },</a:t>
            </a:r>
          </a:p>
          <a:p>
            <a:r>
              <a:t>      {</a:t>
            </a:r>
          </a:p>
          <a:p>
            <a:r>
              <a:t>        "key": "spending",</a:t>
            </a:r>
          </a:p>
          <a:p>
            <a:r>
              <a:t>        "label": "관광소비액",</a:t>
            </a:r>
          </a:p>
          <a:p>
            <a:r>
              <a:t>        "unit": "원",</a:t>
            </a:r>
          </a:p>
          <a:p>
            <a:r>
              <a:t>        "baseline": 444918852321.0,</a:t>
            </a:r>
          </a:p>
          <a:p>
            <a:r>
              <a:t>        "target": 445076205485.0,</a:t>
            </a:r>
          </a:p>
          <a:p>
            <a:r>
              <a:t>        "additional": 157353164.0,</a:t>
            </a:r>
          </a:p>
          <a:p>
            <a:r>
              <a:t>        "pct": 0.035366710846074234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"operating-capacity-v1",</a:t>
            </a:r>
          </a:p>
          <a:p>
            <a:r>
              <a:t>  "status": "proposed",</a:t>
            </a:r>
          </a:p>
          <a:p>
            <a:r>
              <a:t>  "minimum_operating_budget_krw": 41360000,</a:t>
            </a:r>
          </a:p>
          <a:p>
            <a:r>
              <a:t>  "family": "night_time_experience",</a:t>
            </a:r>
          </a:p>
          <a:p>
            <a:r>
              <a:t>  "program_label": "야간 문화·체험",</a:t>
            </a:r>
          </a:p>
          <a:p>
            <a:r>
              <a:t>  "site_label": "운영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40,</a:t>
            </a:r>
          </a:p>
          <a:p>
            <a:r>
              <a:t>  "capacity": 11520,</a:t>
            </a:r>
          </a:p>
          <a:p>
            <a:r>
              <a:t>  "funded_capacity": 11520,</a:t>
            </a:r>
          </a:p>
          <a:p>
            <a:r>
              <a:t>  "scale_rule": "운영 거점 = ceil(√(월평균 ML 방문 전망 ÷ 100,000)), 최소 1·최대 12개",</a:t>
            </a:r>
          </a:p>
          <a:p>
            <a:r>
              <a:t>  "capacity_formula": "6개 × 월 8일 × 3개월 × 하루 2회 × 회당 40명 = 11,520명분",</a:t>
            </a:r>
          </a:p>
          <a:p>
            <a:r>
              <a:t>  "scale_kind": "planning_rule_not_population_model",</a:t>
            </a:r>
          </a:p>
          <a:p>
            <a:r>
              <a:t>  "spending_per_visit_proxy_krw": 42052.16575743384,</a:t>
            </a:r>
          </a:p>
          <a:p>
            <a:r>
              <a:t>  "existing_participant_extra_spend_krw": 12000,</a:t>
            </a:r>
          </a:p>
          <a:p>
            <a:r>
              <a:t>  "spending_formula": "추가 방문 × (ML 소비 합계 ÷ ML 방문 합계) + 기존 방문 참여 × 추가 구매 가정액",</a:t>
            </a:r>
          </a:p>
          <a:p>
            <a:r>
              <a:t>  "rate_basis": [</a:t>
            </a:r>
          </a:p>
          <a:p>
            <a:r>
              <a:t>    {</a:t>
            </a:r>
          </a:p>
          <a:p>
            <a:r>
              <a:t>      "kind": "planning_assumption",</a:t>
            </a:r>
          </a:p>
          <a:p>
            <a:r>
              <a:t>      "metric": "utilization_rate",</a:t>
            </a:r>
          </a:p>
          <a:p>
            <a:r>
              <a:t>      "value": 65.0,</a:t>
            </a:r>
          </a:p>
          <a:p>
            <a:r>
              <a:t>      "unit": "percent",</a:t>
            </a:r>
          </a:p>
          <a:p>
            <a:r>
              <a:t>      "reason": "사업 규모를 검토하기 위한 공통 계획 가정"</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50.0,</a:t>
            </a:r>
          </a:p>
          <a:p>
            <a:r>
              <a:t>      "additional_visitor_share_pct": 15.0,</a:t>
            </a:r>
          </a:p>
          <a:p>
            <a:r>
              <a:t>      "participants": 5760,</a:t>
            </a:r>
          </a:p>
          <a:p>
            <a:r>
              <a:t>      "additional_visitors": 864,</a:t>
            </a:r>
          </a:p>
          <a:p>
            <a:r>
              <a:t>      "additional_spending_krw": 95085071,</a:t>
            </a:r>
          </a:p>
          <a:p>
            <a:r>
              <a:t>      "visitor_growth_pct": 0.008166224250756015,</a:t>
            </a:r>
          </a:p>
          <a:p>
            <a:r>
              <a:t>      "spending_growth_pct": 0.021371328839848314,</a:t>
            </a:r>
          </a:p>
          <a:p>
            <a:r>
              <a:t>      "visitor_target_pct": 0.012392390708747696,</a:t>
            </a:r>
          </a:p>
          <a:p>
            <a:r>
              <a:t>      "spending_target_pct": 0.03209668618704518</a:t>
            </a:r>
          </a:p>
          <a:p>
            <a:r>
              <a:t>    },</a:t>
            </a:r>
          </a:p>
          <a:p>
            <a:r>
              <a:t>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a:t>
            </a:r>
          </a:p>
          <a:p>
            <a:r>
              <a:t>      "label": "확대",</a:t>
            </a:r>
          </a:p>
          <a:p>
            <a:r>
              <a:t>      "utilization_pct": 80.0,</a:t>
            </a:r>
          </a:p>
          <a:p>
            <a:r>
              <a:t>      "additional_visitor_share_pct": 44.99999999999999,</a:t>
            </a:r>
          </a:p>
          <a:p>
            <a:r>
              <a:t>      "participants": 9216,</a:t>
            </a:r>
          </a:p>
          <a:p>
            <a:r>
              <a:t>      "additional_visitors": 4147,</a:t>
            </a:r>
          </a:p>
          <a:p>
            <a:r>
              <a:t>      "additional_spending_krw": 235218331,</a:t>
            </a:r>
          </a:p>
          <a:p>
            <a:r>
              <a:t>      "visitor_growth_pct": 0.03919598607394119,</a:t>
            </a:r>
          </a:p>
          <a:p>
            <a:r>
              <a:t>      "spending_growth_pct": 0.05286769256302377,</a:t>
            </a:r>
          </a:p>
          <a:p>
            <a:r>
              <a:t>      "visitor_target_pct": 0.05948060679302858,</a:t>
            </a:r>
          </a:p>
          <a:p>
            <a:r>
              <a:t>      "spending_target_pct": 0.07939972990657515</a:t>
            </a:r>
          </a:p>
          <a:p>
            <a:r>
              <a:t>    }</a:t>
            </a:r>
          </a:p>
          <a:p>
            <a:r>
              <a:t>  ],</a:t>
            </a:r>
          </a:p>
          <a:p>
            <a:r>
              <a:t>  "central": {</a:t>
            </a:r>
          </a:p>
          <a:p>
            <a:r>
              <a:t>    "label": "기준",</a:t>
            </a:r>
          </a:p>
          <a:p>
            <a:r>
              <a:t>    "utilization_pct": 65.0,</a:t>
            </a:r>
          </a:p>
          <a:p>
            <a:r>
              <a:t>    "additional_visitor_share_pct": 30.0,</a:t>
            </a:r>
          </a:p>
          <a:p>
            <a:r>
              <a:t>    "participants": 7488,</a:t>
            </a:r>
          </a:p>
          <a:p>
            <a:r>
              <a:t>    "additional_visitors": 2246,</a:t>
            </a:r>
          </a:p>
          <a:p>
            <a:r>
              <a:t>    "additional_spending_krw": 157353164,</a:t>
            </a:r>
          </a:p>
          <a:p>
            <a:r>
              <a:t>    "visitor_growth_pct": 0.021228402392590284,</a:t>
            </a:r>
          </a:p>
          <a:p>
            <a:r>
              <a:t>    "spending_growth_pct": 0.03536671084606522,</a:t>
            </a:r>
          </a:p>
          <a:p>
            <a:r>
              <a:t>    "visitor_target_pct": 0.03221447862482329,</a:t>
            </a:r>
          </a:p>
          <a:p>
            <a:r>
              <a:t>    "spending_target_pct": 0.05311575279200933</a:t>
            </a:r>
          </a:p>
          <a:p>
            <a:r>
              <a:t>  },</a:t>
            </a:r>
          </a:p>
          <a:p>
            <a:r>
              <a:t>  "case_sources": [</a:t>
            </a:r>
          </a:p>
          <a:p>
            <a:r>
              <a:t>    {</a:t>
            </a:r>
          </a:p>
          <a:p>
            <a:r>
              <a:t>      "source_id": "case:4bac3530eca721",</a:t>
            </a:r>
          </a:p>
          <a:p>
            <a:r>
              <a:t>      "title": "2024년 문화재야행 사업 예산 확정자료",</a:t>
            </a:r>
          </a:p>
          <a:p>
            <a:r>
              <a:t>      "source_url": "https://culture.seoul.go.kr/culture/cmmn/file/fileDown.do?atchFileId=c4638ecc9ce84bba9e51ecc2e11293e2&amp;bbsId=&amp;fileSn=2&amp;menuNo=200050",</a:t>
            </a:r>
          </a:p>
          <a:p>
            <a:r>
              <a:t>      "operating_model": "문화유산이 모인 거점을 중심으로 야간 개방, 해설, 공연과 체험프로그램을 구성하고 국비와 지방비를 결합해 운영했다.",</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a:t>
            </a:r>
          </a:p>
          <a:p>
            <a:r>
              <a:t>  ],</a:t>
            </a:r>
          </a:p>
          <a:p>
            <a:r>
              <a:t>  "explanation": "야간 문화·체험: 6개 × 월 8일 × 3개월 × 하루 2회 × 회당 40명 = 11,520명분. 편성 한도 11,520명분에 이용률 65%를 적용해 7,488명 참여, 추가 방문 비중 30%로 2,246명 유치를 제안합니다. 기간 합계 ML 전망 대비 방문 +0.02%, 소비 +0.04%의 계획 시나리오입니다. 거점 수·운영량·전환 가정은 협약이나 효과 예측이 아닙니다.",</a:t>
            </a:r>
          </a:p>
          <a:p>
            <a:r>
              <a:t>  "disclosure": "보수·기준·확대는 이용률과 추가 방문 비중을 ±15%p 바꾼 계획 범위이며 통계적 오차범위가 아닙니다. 거점 수는 확보 시설 수가 아닙니다. 소비/방문 비율은 실측 객단가가 아닙니다. 기존 참여자의 추가 소비도 가정이며 대체 소비는 사후 점검합니다.",</a:t>
            </a:r>
          </a:p>
          <a:p>
            <a:r>
              <a:t>  "budget_cap_krw": null,</a:t>
            </a:r>
          </a:p>
          <a:p>
            <a:r>
              <a:t>  "capacity_reduced": false,</a:t>
            </a:r>
          </a:p>
          <a:p>
            <a:r>
              <a:t>  "estimate": {</a:t>
            </a:r>
          </a:p>
          <a:p>
            <a:r>
              <a:t>    "version": "operating-capacity-v1",</a:t>
            </a:r>
          </a:p>
          <a:p>
            <a:r>
              <a:t>    "status": "planning_assumption_not_quote",</a:t>
            </a:r>
          </a:p>
          <a:p>
            <a:r>
              <a:t>    "scale_basis": "6개 × 월 8일 × 3개월 × 하루 2회 × 회당 40명 = 11,520명분 → 편성 참여 한도 11,520건. 모든 단가는 기획 가정.",</a:t>
            </a:r>
          </a:p>
          <a:p>
            <a:r>
              <a:t>    "months": 3,</a:t>
            </a:r>
          </a:p>
          <a:p>
            <a:r>
              <a:t>    "refund": false,</a:t>
            </a:r>
          </a:p>
          <a:p>
            <a:r>
              <a:t>    "quantity": 11520,</a:t>
            </a:r>
          </a:p>
          <a:p>
            <a:r>
              <a:t>    "unit_krw": 10000,</a:t>
            </a:r>
          </a:p>
          <a:p>
            <a:r>
              <a:t>    "redemption_target_pct": 65.0,</a:t>
            </a:r>
          </a:p>
          <a:p>
            <a:r>
              <a:t>    "redemption_count": 7488,</a:t>
            </a:r>
          </a:p>
          <a:p>
            <a:r>
              <a:t>    "qualifying_spend_krw": null,</a:t>
            </a:r>
          </a:p>
          <a:p>
            <a:r>
              <a:t>    "subtotal_krw": 152800000,</a:t>
            </a:r>
          </a:p>
          <a:p>
            <a:r>
              <a:t>    "reserve_krw": 15280000,</a:t>
            </a:r>
          </a:p>
          <a:p>
            <a:r>
              <a:t>    "total_krw": 168080000,</a:t>
            </a:r>
          </a:p>
          <a:p>
            <a:r>
              <a:t>    "within_hard_budget": true,</a:t>
            </a:r>
          </a:p>
          <a:p>
            <a:r>
              <a:t>    "items": [</a:t>
            </a:r>
          </a:p>
          <a:p>
            <a:r>
              <a:t>      {</a:t>
            </a:r>
          </a:p>
          <a:p>
            <a:r>
              <a:t>        "name": "프로그램 운영·참여 지원",</a:t>
            </a:r>
          </a:p>
          <a:p>
            <a:r>
              <a:t>        "basis": "편성 참여 한도 11,520건 × 가정 단가 10,000원",</a:t>
            </a:r>
          </a:p>
          <a:p>
            <a:r>
              <a:t>        "amount": 115200000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152,800,000원 × 10%",</a:t>
            </a:r>
          </a:p>
          <a:p>
            <a:r>
              <a:t>        "amount": 15280000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hyperlink" Target="https://www.junggu.seoul.kr/content.do?cid=1280957763&amp;cmsid=14390&amp;mode=view"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+2,246명, 관광소비액 약 +1억 5,735만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제주특별자치도 제주시의 3개월 운영안</a:t>
            </a:r>
          </a:p>
          <a:p>
            <a:pPr eaLnBrk="0">
              <a:lnSpc>
                <a:spcPts val="2437"/>
              </a:lnSpc>
              <a:spcBef>
                <a:spcPts val="0"/>
              </a:spcBef>
              <a:spcAft>
                <a:spcPts val="0"/>
              </a:spcAft>
            </a:pPr>
            <a:r>
              <a:rPr sz="1950" b="0">
                <a:solidFill>
                  <a:srgbClr val="62666C"/>
                </a:solidFill>
                <a:latin typeface="Noto Sans KR"/>
              </a:rPr>
              <a:t>사업기간 2026.10 ~ 2026.12</a:t>
            </a:r>
          </a:p>
          <a:p>
            <a:pPr eaLnBrk="0">
              <a:lnSpc>
                <a:spcPts val="2437"/>
              </a:lnSpc>
              <a:spcBef>
                <a:spcPts val="0"/>
              </a:spcBef>
              <a:spcAft>
                <a:spcPts val="0"/>
              </a:spcAft>
            </a:pPr>
            <a:r>
              <a:rPr sz="1950" b="0">
                <a:solidFill>
                  <a:srgbClr val="62666C"/>
                </a:solidFill>
                <a:latin typeface="Noto Sans KR"/>
              </a:rPr>
              <a:t>편성 정원 11,520명분 × 이용률 65%</a:t>
            </a:r>
          </a:p>
          <a:p>
            <a:pPr eaLnBrk="0">
              <a:lnSpc>
                <a:spcPts val="2437"/>
              </a:lnSpc>
              <a:spcBef>
                <a:spcPts val="0"/>
              </a:spcBef>
              <a:spcAft>
                <a:spcPts val="0"/>
              </a:spcAft>
            </a:pPr>
            <a:r>
              <a:rPr sz="1950" b="0">
                <a:solidFill>
                  <a:srgbClr val="62666C"/>
                </a:solidFill>
                <a:latin typeface="Noto Sans KR"/>
              </a:rPr>
              <a:t>예상 참여 7,488명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2,246명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6개 거점 × 월 8일 × 3개월</a:t>
            </a:r>
          </a:p>
          <a:p>
            <a:pPr eaLnBrk="0">
              <a:lnSpc>
                <a:spcPts val="2062"/>
              </a:lnSpc>
              <a:spcBef>
                <a:spcPts val="0"/>
              </a:spcBef>
              <a:spcAft>
                <a:spcPts val="0"/>
              </a:spcAft>
            </a:pPr>
            <a:r>
              <a:rPr sz="1650" b="0">
                <a:solidFill>
                  <a:srgbClr val="62666C"/>
                </a:solidFill>
                <a:latin typeface="Noto Sans KR"/>
              </a:rPr>
              <a:t>× 하루 2회 × 회당 40명 = 11,520명분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2,246명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1.57억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+0.04%</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3,615,450명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388명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3,595,082명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772명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3,371,879명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1,086명 · 0.03%</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10,582,411명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2,246명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2,246명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2,664만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1,451.37억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5,138만 원 · 0.04%</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1,494.46억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7,934만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4,450.76억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1.57억 원 · 0.04%</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1.57억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16,808만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115,200,000원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11,520건 × 가정 단가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15,280,000원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152,800,000원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40명 = 11,520명분 → 편성 참여 한도 11,520건.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운영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가정</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7,488명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11,520 × 이용률 65%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2,246명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가정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40명 = 11,520명분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11,520명분 · 예상 견적 1.68억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서울 중구 · 정동야행: 행사 방문객 100,000 → 130,000명, 차이 +30,000명. 우리 지역 운영 정원과 집계 기준이 다릅니다.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제주특별자치도 제주시: 월평균 ML 방문 352.7만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월 8일·하루 2회·회당 40명도 운영 가정입니다. 명분은 수용 정원이며 예상 방문객 수가 아닙니다.</a:t>
            </a:r>
          </a:p>
          <a:p>
            <a:pPr eaLnBrk="0">
              <a:lnSpc>
                <a:spcPts val="1781"/>
              </a:lnSpc>
              <a:spcBef>
                <a:spcPts val="0"/>
              </a:spcBef>
              <a:spcAft>
                <a:spcPts val="0"/>
              </a:spcAft>
            </a:pPr>
            <a:r>
              <a:rPr sz="1425" b="0">
                <a:solidFill>
                  <a:srgbClr val="62666C"/>
                </a:solidFill>
                <a:latin typeface="Noto Sans KR"/>
              </a:rPr>
              <a:t>사례는 운영 방식을 참고했습니다. 이용률 65%·추가 방문 비중 30%는 이번 기획의 가정입니다.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+0.04%</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50%·15% / 기준 65%·30% / 확대 80%·45%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12,000원(추가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