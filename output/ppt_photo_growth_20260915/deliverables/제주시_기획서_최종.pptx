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004EA2"/>
              </a:solidFill>
              <a:ln>
                <a:noFill/>
              </a:ln>
            </c:spPr>
          </c:dPt>
          <c:dPt>
            <c:idx val="1"/>
            <c:invertIfNegative val="0"/>
            <c:spPr>
              <a:solidFill>
                <a:srgbClr val="00B7C9"/>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004EA2"/>
                  </a:solidFill>
                  <a:latin typeface="Noto Sans KR"/>
                </a:defRPr>
              </a:pPr>
            </a:p>
          </c:txPr>
          <c:dLblPos val="outEnd"/>
          <c:showLegendKey val="0"/>
          <c:showVal val="1"/>
          <c:showCatName val="0"/>
          <c:showSerName val="0"/>
          <c:showPercent val="0"/>
          <c:showBubbleSize val="0"/>
          <c:showLeaderLines val="1"/>
        </c:dLbls>
        <c:gapWidth val="7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004EA2"/>
              </a:solidFill>
              <a:ln>
                <a:noFill/>
              </a:ln>
            </c:spPr>
          </c:dPt>
          <c:dPt>
            <c:idx val="1"/>
            <c:invertIfNegative val="0"/>
            <c:spPr>
              <a:solidFill>
                <a:srgbClr val="00B7C9"/>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004EA2"/>
                  </a:solidFill>
                  <a:latin typeface="Noto Sans KR"/>
                </a:defRPr>
              </a:pPr>
            </a:p>
          </c:txPr>
          <c:dLblPos val="outEnd"/>
          <c:showLegendKey val="0"/>
          <c:showVal val="1"/>
          <c:showCatName val="0"/>
          <c:showSerName val="0"/>
          <c:showPercent val="0"/>
          <c:showBubbleSize val="0"/>
          <c:showLeaderLines val="1"/>
        </c:dLbls>
        <c:gapWidth val="7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0.19907317463907503,</a:t>
            </a:r>
          </a:p>
          <a:p xmlns:a="http://schemas.openxmlformats.org/drawingml/2006/main">
            <a:r>
              <a:t>        "target_rank": 87,</a:t>
            </a:r>
          </a:p>
          <a:p xmlns:a="http://schemas.openxmlformats.org/drawingml/2006/main">
            <a:r>
              <a:t>        "target": [</a:t>
            </a:r>
          </a:p>
          <a:p xmlns:a="http://schemas.openxmlformats.org/drawingml/2006/main">
            <a:r>
              <a:t>          3675313.033333333,</a:t>
            </a:r>
          </a:p>
          <a:p xmlns:a="http://schemas.openxmlformats.org/drawingml/2006/main">
            <a:r>
              <a:t>          3714120.3333333335,</a:t>
            </a:r>
          </a:p>
          <a:p xmlns:a="http://schemas.openxmlformats.org/drawingml/2006/main">
            <a:r>
              <a:t>          3539332.6500000004</a:t>
            </a:r>
          </a:p>
          <a:p xmlns:a="http://schemas.openxmlformats.org/drawingml/2006/main">
            <a:r>
              <a:t>        ],</a:t>
            </a:r>
          </a:p>
          <a:p xmlns:a="http://schemas.openxmlformats.org/drawingml/2006/main">
            <a:r>
              <a:t>        "additional": 348601.01666666754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2.9735354338785047,</a:t>
            </a:r>
          </a:p>
          <a:p xmlns:a="http://schemas.openxmlformats.org/drawingml/2006/main">
            <a:r>
              <a:t>        "target_rank": 68,</a:t>
            </a:r>
          </a:p>
          <a:p xmlns:a="http://schemas.openxmlformats.org/drawingml/2006/main">
            <a:r>
              <a:t>        "target": [</a:t>
            </a:r>
          </a:p>
          <a:p xmlns:a="http://schemas.openxmlformats.org/drawingml/2006/main">
            <a:r>
              <a:t>          152974857386.31665,</a:t>
            </a:r>
          </a:p>
          <a:p xmlns:a="http://schemas.openxmlformats.org/drawingml/2006/main">
            <a:r>
              <a:t>          149921311306.46667,</a:t>
            </a:r>
          </a:p>
          <a:p xmlns:a="http://schemas.openxmlformats.org/drawingml/2006/main">
            <a:r>
              <a:t>          156834971483.40002</a:t>
            </a:r>
          </a:p>
          <a:p xmlns:a="http://schemas.openxmlformats.org/drawingml/2006/main">
            <a:r>
              <a:t>        ],</a:t>
            </a:r>
          </a:p>
          <a:p xmlns:a="http://schemas.openxmlformats.org/drawingml/2006/main">
            <a:r>
              <a:t>        "additional": 14812287855.18335</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제주시 야간 문화유산 및 시설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개방 프로그램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2026.10 ~ 2026.12</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2026-09-15</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제주특별자치도 제주시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2026. 09. 15</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도입</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기획 의도 · 지역 성장 비교</a:t>
            </a:r>
          </a:p>
        </p:txBody>
      </p:sp>
      <p:sp xmlns:a="http://schemas.openxmlformats.org/drawingml/2006/main">
        <p:nvSpPr>
          <p:cNvPr id="42" name="toc-1-number"/>
          <p:cNvSpPr txBox="1"/>
          <p:nvPr/>
        </p:nvSpPr>
        <p:spPr>
          <a:xfrm>
            <a:off x="5353050" y="3848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a:t>
            </a:r>
          </a:p>
        </p:txBody>
      </p:sp>
      <p:sp xmlns:a="http://schemas.openxmlformats.org/drawingml/2006/main">
        <p:nvSpPr>
          <p:cNvPr id="43" name="toc-1-label"/>
          <p:cNvSpPr txBox="1"/>
          <p:nvPr/>
        </p:nvSpPr>
        <p:spPr>
          <a:xfrm>
            <a:off x="5972175" y="3895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사례와 실적</a:t>
            </a:r>
          </a:p>
        </p:txBody>
      </p:sp>
      <p:sp xmlns:a="http://schemas.openxmlformats.org/drawingml/2006/main">
        <p:nvSpPr>
          <p:cNvPr id="44" name="toc-2-number"/>
          <p:cNvSpPr txBox="1"/>
          <p:nvPr/>
        </p:nvSpPr>
        <p:spPr>
          <a:xfrm>
            <a:off x="5353050" y="4876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2</a:t>
            </a:r>
          </a:p>
        </p:txBody>
      </p:sp>
      <p:sp xmlns:a="http://schemas.openxmlformats.org/drawingml/2006/main">
        <p:nvSpPr>
          <p:cNvPr id="45" name="toc-2-label"/>
          <p:cNvSpPr txBox="1"/>
          <p:nvPr/>
        </p:nvSpPr>
        <p:spPr>
          <a:xfrm>
            <a:off x="5972175" y="4924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목표와 KPI 산출근거</a:t>
            </a:r>
          </a:p>
        </p:txBody>
      </p:sp>
      <p:sp xmlns:a="http://schemas.openxmlformats.org/drawingml/2006/main">
        <p:nvSpPr>
          <p:cNvPr id="46" name="toc-3-number"/>
          <p:cNvSpPr txBox="1"/>
          <p:nvPr/>
        </p:nvSpPr>
        <p:spPr>
          <a:xfrm>
            <a:off x="5353050" y="59055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3</a:t>
            </a:r>
          </a:p>
        </p:txBody>
      </p:sp>
      <p:sp xmlns:a="http://schemas.openxmlformats.org/drawingml/2006/main">
        <p:nvSpPr>
          <p:cNvPr id="47" name="toc-3-label"/>
          <p:cNvSpPr txBox="1"/>
          <p:nvPr/>
        </p:nvSpPr>
        <p:spPr>
          <a:xfrm>
            <a:off x="5972175" y="59531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 적용과 실행</a:t>
            </a:r>
          </a:p>
        </p:txBody>
      </p:sp>
      <p:sp xmlns:a="http://schemas.openxmlformats.org/drawingml/2006/main">
        <p:nvSpPr>
          <p:cNvPr id="48" name="toc-4-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4</a:t>
            </a:r>
          </a:p>
        </p:txBody>
      </p:sp>
      <p:sp xmlns:a="http://schemas.openxmlformats.org/drawingml/2006/main">
        <p:nvSpPr>
          <p:cNvPr id="49" name="toc-4-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0" name="toc-5-number"/>
          <p:cNvSpPr txBox="1"/>
          <p:nvPr/>
        </p:nvSpPr>
        <p:spPr>
          <a:xfrm>
            <a:off x="10496550" y="3848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5</a:t>
            </a:r>
          </a:p>
        </p:txBody>
      </p:sp>
      <p:sp xmlns:a="http://schemas.openxmlformats.org/drawingml/2006/main">
        <p:nvSpPr>
          <p:cNvPr id="51" name="toc-5-label"/>
          <p:cNvSpPr txBox="1"/>
          <p:nvPr/>
        </p:nvSpPr>
        <p:spPr>
          <a:xfrm>
            <a:off x="11115675" y="3895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기획서 생성 과정</a:t>
            </a:r>
          </a:p>
        </p:txBody>
      </p:sp>
      <p:sp xmlns:a="http://schemas.openxmlformats.org/drawingml/2006/main">
        <p:nvSpPr>
          <p:cNvPr id="52" name="toc-6-number"/>
          <p:cNvSpPr txBox="1"/>
          <p:nvPr/>
        </p:nvSpPr>
        <p:spPr>
          <a:xfrm>
            <a:off x="10496550" y="4876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6</a:t>
            </a:r>
          </a:p>
        </p:txBody>
      </p:sp>
      <p:sp xmlns:a="http://schemas.openxmlformats.org/drawingml/2006/main">
        <p:nvSpPr>
          <p:cNvPr id="53" name="toc-6-label"/>
          <p:cNvSpPr txBox="1"/>
          <p:nvPr/>
        </p:nvSpPr>
        <p:spPr>
          <a:xfrm>
            <a:off x="11115675" y="4924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343525" y="819150"/>
            <a:ext cx="904875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제주시 관광 성장 기회</a:t>
            </a:r>
          </a:p>
        </p:txBody>
      </p:sp>
      <p:sp xmlns:a="http://schemas.openxmlformats.org/drawingml/2006/main">
        <p:nvSpPr>
          <p:cNvPr id="35" name="title-rule"/>
          <p:cNvSpPr/>
          <p:nvPr/>
        </p:nvSpPr>
        <p:spPr>
          <a:xfrm>
            <a:off x="5343525" y="1724025"/>
            <a:ext cx="8886825"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purpose-period"/>
          <p:cNvSpPr txBox="1"/>
          <p:nvPr/>
        </p:nvSpPr>
        <p:spPr>
          <a:xfrm>
            <a:off x="5343525" y="2009775"/>
            <a:ext cx="8886825" cy="4000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향후 3개월 전망 · 2026년 10–12월</a:t>
            </a:r>
          </a:p>
        </p:txBody>
      </p:sp>
      <p:sp xmlns:a="http://schemas.openxmlformats.org/drawingml/2006/main">
        <p:nvSpPr>
          <p:cNvPr id="37" name="purpose-comparison"/>
          <p:cNvSpPr txBox="1"/>
          <p:nvPr/>
        </p:nvSpPr>
        <p:spPr>
          <a:xfrm>
            <a:off x="5343525" y="2409825"/>
            <a:ext cx="8886825"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343525" y="3000375"/>
            <a:ext cx="381000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관광객 방문자 수</a:t>
            </a:r>
          </a:p>
        </p:txBody>
      </p:sp>
      <p:sp xmlns:a="http://schemas.openxmlformats.org/drawingml/2006/main">
        <p:nvSpPr>
          <p:cNvPr id="39" name="growth-total-0"/>
          <p:cNvSpPr txBox="1"/>
          <p:nvPr/>
        </p:nvSpPr>
        <p:spPr>
          <a:xfrm>
            <a:off x="9525000" y="3038475"/>
            <a:ext cx="4705350" cy="3524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343525" y="3390900"/>
          <a:ext cx="8667750" cy="142875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343525" y="4800600"/>
            <a:ext cx="8886825" cy="4191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343525" y="5334000"/>
            <a:ext cx="381000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관광소비액</a:t>
            </a:r>
          </a:p>
        </p:txBody>
      </p:sp>
      <p:sp xmlns:a="http://schemas.openxmlformats.org/drawingml/2006/main">
        <p:nvSpPr>
          <p:cNvPr id="43" name="growth-total-1"/>
          <p:cNvSpPr txBox="1"/>
          <p:nvPr/>
        </p:nvSpPr>
        <p:spPr>
          <a:xfrm>
            <a:off x="9525000" y="5372100"/>
            <a:ext cx="4705350" cy="3524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343525" y="5724525"/>
          <a:ext cx="8667750" cy="142875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343525" y="7134225"/>
            <a:ext cx="8886825" cy="4191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43525" y="7934325"/>
            <a:ext cx="8886825" cy="5905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59636E"/>
                </a:solidFill>
                <a:latin typeface="Noto Sans KR"/>
              </a:rPr>
              <a:t>비교 평균 = 지역별 전년 동기 대비 증가율의 단순평균. 인구 보정 전 탐색 전망입니다.</a:t>
            </a:r>
          </a:p>
        </p:txBody>
      </p:sp>
      <p:sp xmlns:a="http://schemas.openxmlformats.org/drawingml/2006/main">
        <p:nvSpPr>
          <p:cNvPr id="47" name="editorial-accent"/>
          <p:cNvSpPr/>
          <p:nvPr/>
        </p:nvSpPr>
        <p:spPr>
          <a:xfrm>
            <a:off x="5343525"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editorial-kicker"/>
          <p:cNvSpPr txBox="1"/>
          <p:nvPr/>
        </p:nvSpPr>
        <p:spPr>
          <a:xfrm>
            <a:off x="5343525" y="428625"/>
            <a:ext cx="76200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기획 의도</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03 / 15</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2.1 사업 목표</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제주시 내 박물관, 공연장, 문화유산 등</a:t>
            </a:r>
          </a:p>
          <a:p>
            <a:pPr eaLnBrk="0">
              <a:lnSpc>
                <a:spcPts val="2156"/>
              </a:lnSpc>
              <a:spcBef>
                <a:spcPts val="0"/>
              </a:spcBef>
              <a:spcAft>
                <a:spcPts val="0"/>
              </a:spcAft>
            </a:pPr>
            <a:r>
              <a:rPr sz="1725" b="0">
                <a:solidFill>
                  <a:srgbClr val="59636E"/>
                </a:solidFill>
                <a:latin typeface="Noto Sans KR"/>
              </a:rPr>
              <a:t>기존 시설을 활용하여 야간 개방 및 체험</a:t>
            </a:r>
          </a:p>
          <a:p>
            <a:pPr eaLnBrk="0">
              <a:lnSpc>
                <a:spcPts val="2156"/>
              </a:lnSpc>
              <a:spcBef>
                <a:spcPts val="0"/>
              </a:spcBef>
              <a:spcAft>
                <a:spcPts val="0"/>
              </a:spcAft>
            </a:pPr>
            <a:r>
              <a:rPr sz="1725" b="0">
                <a:solidFill>
                  <a:srgbClr val="59636E"/>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2026-10 ~ 2026-12, 3개월</a:t>
            </a:r>
          </a:p>
          <a:p>
            <a:pPr eaLnBrk="0">
              <a:lnSpc>
                <a:spcPts val="2156"/>
              </a:lnSpc>
              <a:spcBef>
                <a:spcPts val="0"/>
              </a:spcBef>
              <a:spcAft>
                <a:spcPts val="0"/>
              </a:spcAft>
            </a:pPr>
            <a:r>
              <a:rPr sz="172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3개월 월별 합계</a:t>
            </a:r>
          </a:p>
          <a:p>
            <a:pPr eaLnBrk="0">
              <a:lnSpc>
                <a:spcPts val="2156"/>
              </a:lnSpc>
              <a:spcBef>
                <a:spcPts val="0"/>
              </a:spcBef>
              <a:spcAft>
                <a:spcPts val="0"/>
              </a:spcAft>
            </a:pPr>
            <a:r>
              <a:rPr sz="1725" b="0">
                <a:solidFill>
                  <a:srgbClr val="59636E"/>
                </a:solidFill>
                <a:latin typeface="Noto Sans KR"/>
              </a:rPr>
              <a:t>방문자 1,093만 명</a:t>
            </a:r>
          </a:p>
          <a:p>
            <a:pPr eaLnBrk="0">
              <a:lnSpc>
                <a:spcPts val="2156"/>
              </a:lnSpc>
              <a:spcBef>
                <a:spcPts val="0"/>
              </a:spcBef>
              <a:spcAft>
                <a:spcPts val="0"/>
              </a:spcAft>
            </a:pPr>
            <a:r>
              <a:rPr sz="1725" b="0">
                <a:solidFill>
                  <a:srgbClr val="59636E"/>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파란선: 한국관광 데이터랩의 과거 월별 방문·소비 기록과 계절 흐름을 바탕으로 계산한 전망입니다.</a:t>
            </a:r>
          </a:p>
          <a:p>
            <a:pPr eaLnBrk="0">
              <a:lnSpc>
                <a:spcPts val="1968"/>
              </a:lnSpc>
              <a:spcBef>
                <a:spcPts val="0"/>
              </a:spcBef>
              <a:spcAft>
                <a:spcPts val="0"/>
              </a:spcAft>
            </a:pPr>
            <a:r>
              <a:rPr sz="1575" b="0">
                <a:solidFill>
                  <a:srgbClr val="59636E"/>
                </a:solidFill>
                <a:latin typeface="Noto Sans KR"/>
              </a:rPr>
              <a:t>주황선: 공식 사례를 참고해 정한 사업 목표입니다. 목표율은 조정할 수 있으며, 산출 근거 페이지에서 설명합니다.</a:t>
            </a:r>
          </a:p>
        </p:txBody>
      </p:sp>
      <p:sp xmlns:a="http://schemas.openxmlformats.org/drawingml/2006/main">
        <p:nvSpPr>
          <p:cNvPr id="31"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06 / 15</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1.1 지역별 참고 사례</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647950"/>
            <a:ext cx="2362200" cy="4191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적용 사례</a:t>
            </a:r>
          </a:p>
        </p:txBody>
      </p:sp>
      <p:sp xmlns:a="http://schemas.openxmlformats.org/drawingml/2006/main">
        <p:nvSpPr>
          <p:cNvPr id="8" name="case-selected-tick-0"/>
          <p:cNvSpPr/>
          <p:nvPr/>
        </p:nvSpPr>
        <p:spPr>
          <a:xfrm>
            <a:off x="4486275" y="2686050"/>
            <a:ext cx="409575" cy="409575"/>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67652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서울특별시 문화유산 집적지역 ·</a:t>
            </a:r>
          </a:p>
          <a:p>
            <a:pPr eaLnBrk="0">
              <a:lnSpc>
                <a:spcPts val="2250"/>
              </a:lnSpc>
              <a:spcBef>
                <a:spcPts val="0"/>
              </a:spcBef>
              <a:spcAft>
                <a:spcPts val="0"/>
              </a:spcAft>
            </a:pPr>
            <a:r>
              <a:rPr sz="1800" b="1">
                <a:solidFill>
                  <a:srgbClr val="1D2227"/>
                </a:solidFill>
                <a:latin typeface="Noto Sans KR"/>
              </a:rPr>
              <a:t>기존 문화유산을 활용한 야간</a:t>
            </a:r>
          </a:p>
          <a:p>
            <a:pPr eaLnBrk="0">
              <a:lnSpc>
                <a:spcPts val="2250"/>
              </a:lnSpc>
              <a:spcBef>
                <a:spcPts val="0"/>
              </a:spcBef>
              <a:spcAft>
                <a:spcPts val="0"/>
              </a:spcAft>
            </a:pPr>
            <a:r>
              <a:rPr sz="1800" b="1">
                <a:solidFill>
                  <a:srgbClr val="1D2227"/>
                </a:solidFill>
                <a:latin typeface="Noto Sans KR"/>
              </a:rPr>
              <a:t>개방·체험 프로그램</a:t>
            </a:r>
          </a:p>
        </p:txBody>
      </p:sp>
      <p:sp xmlns:a="http://schemas.openxmlformats.org/drawingml/2006/main">
        <p:nvSpPr>
          <p:cNvPr id="11"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문화유산이 모인 거점을 중심으로</a:t>
            </a:r>
          </a:p>
          <a:p>
            <a:pPr eaLnBrk="0">
              <a:lnSpc>
                <a:spcPts val="1968"/>
              </a:lnSpc>
              <a:spcBef>
                <a:spcPts val="0"/>
              </a:spcBef>
              <a:spcAft>
                <a:spcPts val="0"/>
              </a:spcAft>
            </a:pPr>
            <a:r>
              <a:rPr sz="1575" b="0">
                <a:solidFill>
                  <a:srgbClr val="59636E"/>
                </a:solidFill>
                <a:latin typeface="Noto Sans KR"/>
              </a:rPr>
              <a:t>야간 개방, 해설, 공연과</a:t>
            </a:r>
          </a:p>
          <a:p>
            <a:pPr eaLnBrk="0">
              <a:lnSpc>
                <a:spcPts val="1968"/>
              </a:lnSpc>
              <a:spcBef>
                <a:spcPts val="0"/>
              </a:spcBef>
              <a:spcAft>
                <a:spcPts val="0"/>
              </a:spcAft>
            </a:pPr>
            <a:r>
              <a:rPr sz="1575" b="0">
                <a:solidFill>
                  <a:srgbClr val="59636E"/>
                </a:solidFill>
                <a:latin typeface="Noto Sans KR"/>
              </a:rPr>
              <a:t>체험프로그램을 구성하고 국비와</a:t>
            </a:r>
          </a:p>
          <a:p>
            <a:pPr eaLnBrk="0">
              <a:lnSpc>
                <a:spcPts val="1968"/>
              </a:lnSpc>
              <a:spcBef>
                <a:spcPts val="0"/>
              </a:spcBef>
              <a:spcAft>
                <a:spcPts val="0"/>
              </a:spcAft>
            </a:pPr>
            <a:r>
              <a:rPr sz="1575" b="0">
                <a:solidFill>
                  <a:srgbClr val="59636E"/>
                </a:solidFill>
                <a:latin typeface="Noto Sans KR"/>
              </a:rPr>
              <a:t>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857875"/>
            <a:ext cx="2578195" cy="1714500"/>
          </a:xfrm>
          <a:prstGeom prst="rect">
            <a:avLst/>
          </a:prstGeom>
        </p:spPr>
      </p:pic>
      <p:sp xmlns:a="http://schemas.openxmlformats.org/drawingml/2006/main">
        <p:nvSpPr>
          <p:cNvPr id="13"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39718B"/>
                </a:solidFill>
                <a:latin typeface="Noto Sans KR"/>
                <a:hlinkClick xmlns:ns0="http://schemas.openxmlformats.org/officeDocument/2006/relationships" ns0:id="rId5"/>
              </a:rPr>
              <a:t>서울 중구 정동 · 정동야행 행사 사진</a:t>
            </a:r>
          </a:p>
          <a:p>
            <a:pPr eaLnBrk="0">
              <a:lnSpc>
                <a:spcPts val="1500"/>
              </a:lnSpc>
              <a:spcBef>
                <a:spcPts val="0"/>
              </a:spcBef>
              <a:spcAft>
                <a:spcPts val="0"/>
              </a:spcAft>
            </a:pPr>
            <a:r>
              <a:rPr sz="1200" b="0" u="none">
                <a:solidFill>
                  <a:srgbClr val="39718B"/>
                </a:solidFill>
                <a:latin typeface="Noto Sans KR"/>
                <a:hlinkClick xmlns:ns1="http://schemas.openxmlformats.org/officeDocument/2006/relationships" ns1:id="rId5"/>
              </a:rPr>
              <a:t>출처: 서울문화포털 · 2024 정동야행</a:t>
            </a:r>
          </a:p>
        </p:txBody>
      </p:sp>
      <p:sp xmlns:a="http://schemas.openxmlformats.org/drawingml/2006/main">
        <p:nvSpPr>
          <p:cNvPr id="14"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39718B"/>
                </a:solidFill>
                <a:latin typeface="Noto Sans KR"/>
                <a:hlinkClick xmlns:ns2="http://schemas.openxmlformats.org/officeDocument/2006/relationships" ns2:id="rId6"/>
              </a:rPr>
              <a:t>사업 원문 보기 ↗</a:t>
            </a:r>
          </a:p>
        </p:txBody>
      </p:sp>
      <p:sp xmlns:a="http://schemas.openxmlformats.org/drawingml/2006/main">
        <p:nvSpPr>
          <p:cNvPr id="15"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7" name="case-badge-1"/>
          <p:cNvSpPr txBox="1"/>
          <p:nvPr/>
        </p:nvSpPr>
        <p:spPr>
          <a:xfrm>
            <a:off x="6448425" y="2647950"/>
            <a:ext cx="2362200" cy="4191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후보 사례</a:t>
            </a:r>
          </a:p>
        </p:txBody>
      </p:sp>
      <p:sp xmlns:a="http://schemas.openxmlformats.org/drawingml/2006/main">
        <p:nvSpPr>
          <p:cNvPr id="18"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전라남도 강진군 ·</a:t>
            </a:r>
          </a:p>
          <a:p>
            <a:pPr eaLnBrk="0">
              <a:lnSpc>
                <a:spcPts val="2250"/>
              </a:lnSpc>
              <a:spcBef>
                <a:spcPts val="0"/>
              </a:spcBef>
              <a:spcAft>
                <a:spcPts val="0"/>
              </a:spcAft>
            </a:pPr>
            <a:r>
              <a:rPr sz="1800" b="1">
                <a:solidFill>
                  <a:srgbClr val="1D2227"/>
                </a:solidFill>
                <a:latin typeface="Noto Sans KR"/>
              </a:rPr>
              <a:t>반값여행 지역환급</a:t>
            </a:r>
          </a:p>
        </p:txBody>
      </p:sp>
      <p:sp xmlns:a="http://schemas.openxmlformats.org/drawingml/2006/main">
        <p:nvSpPr>
          <p:cNvPr id="19"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a:t>
            </a:r>
          </a:p>
          <a:p>
            <a:pPr eaLnBrk="0">
              <a:lnSpc>
                <a:spcPts val="1968"/>
              </a:lnSpc>
              <a:spcBef>
                <a:spcPts val="0"/>
              </a:spcBef>
              <a:spcAft>
                <a:spcPts val="0"/>
              </a:spcAft>
            </a:pPr>
            <a:r>
              <a:rPr sz="1575" b="0">
                <a:solidFill>
                  <a:srgbClr val="59636E"/>
                </a:solidFill>
                <a:latin typeface="Noto Sans KR"/>
              </a:rPr>
              <a:t>일부를 지역상품권으로 돌려받게 하여</a:t>
            </a:r>
          </a:p>
          <a:p>
            <a:pPr eaLnBrk="0">
              <a:lnSpc>
                <a:spcPts val="1968"/>
              </a:lnSpc>
              <a:spcBef>
                <a:spcPts val="0"/>
              </a:spcBef>
              <a:spcAft>
                <a:spcPts val="0"/>
              </a:spcAft>
            </a:pPr>
            <a:r>
              <a:rPr sz="1575" b="0">
                <a:solidFill>
                  <a:srgbClr val="59636E"/>
                </a:solidFill>
                <a:latin typeface="Noto Sans KR"/>
              </a:rPr>
              <a:t>혜택이 다시 지역 상점에서</a:t>
            </a:r>
          </a:p>
          <a:p>
            <a:pPr eaLnBrk="0">
              <a:lnSpc>
                <a:spcPts val="1968"/>
              </a:lnSpc>
              <a:spcBef>
                <a:spcPts val="0"/>
              </a:spcBef>
              <a:spcAft>
                <a:spcPts val="0"/>
              </a:spcAft>
            </a:pPr>
            <a:r>
              <a:rPr sz="1575" b="0">
                <a:solidFill>
                  <a:srgbClr val="59636E"/>
                </a:solidFill>
                <a:latin typeface="Noto Sans KR"/>
              </a:rPr>
              <a:t>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21"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39718B"/>
                </a:solidFill>
                <a:latin typeface="Noto Sans KR"/>
                <a:hlinkClick xmlns:ns3="http://schemas.openxmlformats.org/officeDocument/2006/relationships" ns3:id="rId8"/>
              </a:rPr>
              <a:t>강진군 · 반값여행 공식 홍보물</a:t>
            </a:r>
          </a:p>
          <a:p>
            <a:pPr eaLnBrk="0">
              <a:lnSpc>
                <a:spcPts val="1500"/>
              </a:lnSpc>
              <a:spcBef>
                <a:spcPts val="0"/>
              </a:spcBef>
              <a:spcAft>
                <a:spcPts val="0"/>
              </a:spcAft>
            </a:pPr>
            <a:r>
              <a:rPr sz="1200" b="0" u="none">
                <a:solidFill>
                  <a:srgbClr val="39718B"/>
                </a:solidFill>
                <a:latin typeface="Noto Sans KR"/>
                <a:hlinkClick xmlns:ns4="http://schemas.openxmlformats.org/officeDocument/2006/relationships" ns4:id="rId8"/>
              </a:rPr>
              <a:t>출처: 강진 반값여행 공식 홈페이지</a:t>
            </a:r>
          </a:p>
        </p:txBody>
      </p:sp>
      <p:sp xmlns:a="http://schemas.openxmlformats.org/drawingml/2006/main">
        <p:nvSpPr>
          <p:cNvPr id="22"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39718B"/>
                </a:solidFill>
                <a:latin typeface="Noto Sans KR"/>
                <a:hlinkClick xmlns:ns5="http://schemas.openxmlformats.org/officeDocument/2006/relationships" ns5:id="rId9"/>
              </a:rPr>
              <a:t>사업 원문 보기 ↗</a:t>
            </a:r>
          </a:p>
        </p:txBody>
      </p:sp>
      <p:sp xmlns:a="http://schemas.openxmlformats.org/drawingml/2006/main">
        <p:nvSpPr>
          <p:cNvPr id="23"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5" name="case-badge-2"/>
          <p:cNvSpPr txBox="1"/>
          <p:nvPr/>
        </p:nvSpPr>
        <p:spPr>
          <a:xfrm>
            <a:off x="10944225" y="2647950"/>
            <a:ext cx="2362200" cy="4191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후보 사례</a:t>
            </a:r>
          </a:p>
        </p:txBody>
      </p:sp>
      <p:sp xmlns:a="http://schemas.openxmlformats.org/drawingml/2006/main">
        <p:nvSpPr>
          <p:cNvPr id="26"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a:t>
            </a:r>
          </a:p>
          <a:p>
            <a:pPr eaLnBrk="0">
              <a:lnSpc>
                <a:spcPts val="2250"/>
              </a:lnSpc>
              <a:spcBef>
                <a:spcPts val="0"/>
              </a:spcBef>
              <a:spcAft>
                <a:spcPts val="0"/>
              </a:spcAft>
            </a:pPr>
            <a:r>
              <a:rPr sz="1800" b="1">
                <a:solidFill>
                  <a:srgbClr val="1D2227"/>
                </a:solidFill>
                <a:latin typeface="Noto Sans KR"/>
              </a:rPr>
              <a:t>디지털 관광주민증과</a:t>
            </a:r>
          </a:p>
          <a:p>
            <a:pPr eaLnBrk="0">
              <a:lnSpc>
                <a:spcPts val="2250"/>
              </a:lnSpc>
              <a:spcBef>
                <a:spcPts val="0"/>
              </a:spcBef>
              <a:spcAft>
                <a:spcPts val="0"/>
              </a:spcAft>
            </a:pPr>
            <a:r>
              <a:rPr sz="1800" b="1">
                <a:solidFill>
                  <a:srgbClr val="1D2227"/>
                </a:solidFill>
                <a:latin typeface="Noto Sans KR"/>
              </a:rPr>
              <a:t>교통·숙박·상점 할인 결합</a:t>
            </a:r>
          </a:p>
        </p:txBody>
      </p:sp>
      <p:sp xmlns:a="http://schemas.openxmlformats.org/drawingml/2006/main">
        <p:nvSpPr>
          <p:cNvPr id="27"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a:t>
            </a:r>
          </a:p>
          <a:p>
            <a:pPr eaLnBrk="0">
              <a:lnSpc>
                <a:spcPts val="1968"/>
              </a:lnSpc>
              <a:spcBef>
                <a:spcPts val="0"/>
              </a:spcBef>
              <a:spcAft>
                <a:spcPts val="0"/>
              </a:spcAft>
            </a:pPr>
            <a:r>
              <a:rPr sz="1575" b="0">
                <a:solidFill>
                  <a:srgbClr val="59636E"/>
                </a:solidFill>
                <a:latin typeface="Noto Sans KR"/>
              </a:rPr>
              <a:t>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a:t>
            </a:r>
          </a:p>
          <a:p>
            <a:pPr eaLnBrk="0">
              <a:lnSpc>
                <a:spcPts val="1968"/>
              </a:lnSpc>
              <a:spcBef>
                <a:spcPts val="0"/>
              </a:spcBef>
              <a:spcAft>
                <a:spcPts val="0"/>
              </a:spcAft>
            </a:pPr>
            <a:r>
              <a:rPr sz="1575" b="0">
                <a:solidFill>
                  <a:srgbClr val="59636E"/>
                </a:solidFill>
                <a:latin typeface="Noto Sans KR"/>
              </a:rPr>
              <a:t>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9"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39718B"/>
                </a:solidFill>
                <a:latin typeface="Noto Sans KR"/>
                <a:hlinkClick xmlns:ns6="http://schemas.openxmlformats.org/officeDocument/2006/relationships" ns6:id="rId11"/>
              </a:rPr>
              <a:t>전국 · 디지털 관광주민증 홍보물</a:t>
            </a:r>
          </a:p>
          <a:p>
            <a:pPr eaLnBrk="0">
              <a:lnSpc>
                <a:spcPts val="1500"/>
              </a:lnSpc>
              <a:spcBef>
                <a:spcPts val="0"/>
              </a:spcBef>
              <a:spcAft>
                <a:spcPts val="0"/>
              </a:spcAft>
            </a:pPr>
            <a:r>
              <a:rPr sz="1200" b="0" u="none">
                <a:solidFill>
                  <a:srgbClr val="39718B"/>
                </a:solidFill>
                <a:latin typeface="Noto Sans KR"/>
                <a:hlinkClick xmlns:ns7="http://schemas.openxmlformats.org/officeDocument/2006/relationships" ns7:id="rId11"/>
              </a:rPr>
              <a:t>출처: 대한민국 정책브리핑 (2025)</a:t>
            </a:r>
          </a:p>
        </p:txBody>
      </p:sp>
      <p:sp xmlns:a="http://schemas.openxmlformats.org/drawingml/2006/main">
        <p:nvSpPr>
          <p:cNvPr id="30"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39718B"/>
                </a:solidFill>
                <a:latin typeface="Noto Sans KR"/>
                <a:hlinkClick xmlns:ns8="http://schemas.openxmlformats.org/officeDocument/2006/relationships" ns8:id="rId12"/>
              </a:rPr>
              <a:t>사업 원문 보기 ↗</a:t>
            </a:r>
          </a:p>
        </p:txBody>
      </p:sp>
      <p:sp xmlns:a="http://schemas.openxmlformats.org/drawingml/2006/main">
        <p:nvSpPr>
          <p:cNvPr id="31"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04 / 15</a:t>
            </a:r>
          </a:p>
        </p:txBody>
      </p:sp>
      <p:sp xmlns:a="http://schemas.openxmlformats.org/drawingml/2006/main">
        <p:nvSpPr>
          <p:cNvPr id="34" name="case-panel-0-accent"/>
          <p:cNvSpPr/>
          <p:nvPr/>
        </p:nvSpPr>
        <p:spPr>
          <a:xfrm>
            <a:off x="1009650" y="2457450"/>
            <a:ext cx="28575" cy="51625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case-panel-1-accent"/>
          <p:cNvSpPr/>
          <p:nvPr/>
        </p:nvSpPr>
        <p:spPr>
          <a:xfrm>
            <a:off x="5505450" y="2457450"/>
            <a:ext cx="28575" cy="51625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case-panel-2-accent"/>
          <p:cNvSpPr/>
          <p:nvPr/>
        </p:nvSpPr>
        <p:spPr>
          <a:xfrm>
            <a:off x="10001250" y="2457450"/>
            <a:ext cx="28575" cy="51625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3.1 사례 선정과 지역 적용</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1D2227"/>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1D2227"/>
                          </a:solidFill>
                          <a:latin typeface="Noto Sans KR"/>
                        </a:rPr>
                        <a:t>580,380건 / 외지인 숙박 방문 비율: 21.0%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348,601명 × 1%</a:t>
                      </a:r>
                    </a:p>
                    <a:p>
                      <a:pPr eaLnBrk="0">
                        <a:lnSpc>
                          <a:spcPct val="112000"/>
                        </a:lnSpc>
                        <a:spcBef>
                          <a:spcPts val="0"/>
                        </a:spcBef>
                        <a:spcAft>
                          <a:spcPts val="0"/>
                        </a:spcAft>
                      </a:pPr>
                      <a:r>
                        <a:rPr sz="1575" b="0">
                          <a:solidFill>
                            <a:srgbClr val="1D2227"/>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39718B"/>
                </a:solidFill>
                <a:latin typeface="Noto Sans KR"/>
                <a:hlinkClick r:id="rId2"/>
              </a:rPr>
              <a:t>문서 기반 함수 연결 · 2024년 문화재야행 사업 예산 확정자료</a:t>
            </a:r>
          </a:p>
        </p:txBody>
      </p:sp>
      <p:sp>
        <p:nvSpPr>
          <p:cNvPr id="10"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08 / 15</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3.2 4단계 실행 가이드 예시안</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59636E"/>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59636E"/>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59636E"/>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59636E"/>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29"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09 / 15</a:t>
            </a:r>
          </a:p>
        </p:txBody>
      </p:sp>
      <p:sp xmlns:a="http://schemas.openxmlformats.org/drawingml/2006/main">
        <p:nvSpPr>
          <p:cNvPr id="32" name="execution-panel-0-accent"/>
          <p:cNvSpPr/>
          <p:nvPr/>
        </p:nvSpPr>
        <p:spPr>
          <a:xfrm>
            <a:off x="1009650" y="2095500"/>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execution-panel-1-accent"/>
          <p:cNvSpPr/>
          <p:nvPr/>
        </p:nvSpPr>
        <p:spPr>
          <a:xfrm>
            <a:off x="1009650" y="3457575"/>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execution-panel-2-accent"/>
          <p:cNvSpPr/>
          <p:nvPr/>
        </p:nvSpPr>
        <p:spPr>
          <a:xfrm>
            <a:off x="1009650" y="4819650"/>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execution-panel-3-accent"/>
          <p:cNvSpPr/>
          <p:nvPr/>
        </p:nvSpPr>
        <p:spPr>
          <a:xfrm>
            <a:off x="1009650" y="6181725"/>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3.3 머신러닝 예측값과 목표 KPI</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3,594,310명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3,714,120명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119,810명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10,580,165명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10,928,766명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348,601명 · 3.29%</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1,450.85억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1,499.21억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48.36억 원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4,449.19억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4,597.31억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148.12억 원 · 3.33%</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 xmlns:a="http://schemas.openxmlformats.org/drawingml/2006/main">
        <p:nvSpPr>
          <p:cNvPr id="11"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1.2 사례 실적</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sult-title"/>
          <p:cNvSpPr txBox="1"/>
          <p:nvPr/>
        </p:nvSpPr>
        <p:spPr>
          <a:xfrm>
            <a:off x="1009650" y="2009775"/>
            <a:ext cx="13220700" cy="5524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서울 중구 · 정동야행</a:t>
            </a:r>
          </a:p>
        </p:txBody>
      </p:sp>
      <p:sp>
        <p:nvSpPr>
          <p:cNvPr id="5" name="result-scope"/>
          <p:cNvSpPr txBox="1"/>
          <p:nvPr/>
        </p:nvSpPr>
        <p:spPr>
          <a:xfrm>
            <a:off x="1009650" y="2638425"/>
            <a:ext cx="13220700" cy="4000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선정한 서울 문화재야행 사업에 포함된 정동야행</a:t>
            </a:r>
          </a:p>
        </p:txBody>
      </p:sp>
      <p:sp>
        <p:nvSpPr>
          <p:cNvPr id="6" name="result-photo-panel"/>
          <p:cNvSpPr/>
          <p:nvPr/>
        </p:nvSpPr>
        <p:spPr>
          <a:xfrm>
            <a:off x="1009650" y="33337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333750"/>
            <a:ext cx="5070451" cy="3371850"/>
          </a:xfrm>
          <a:prstGeom prst="rect">
            <a:avLst/>
          </a:prstGeom>
        </p:spPr>
      </p:pic>
      <p:sp>
        <p:nvSpPr>
          <p:cNvPr id="8" name="result-photo-source"/>
          <p:cNvSpPr txBox="1"/>
          <p:nvPr/>
        </p:nvSpPr>
        <p:spPr>
          <a:xfrm>
            <a:off x="1009650" y="68103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u="none">
                <a:solidFill>
                  <a:srgbClr val="39718B"/>
                </a:solidFill>
                <a:latin typeface="Noto Sans KR"/>
                <a:hlinkClick r:id="rId4"/>
              </a:rPr>
              <a:t>서울 중구 정동 · 정동야행 행사 사진</a:t>
            </a:r>
          </a:p>
          <a:p>
            <a:pPr eaLnBrk="0">
              <a:lnSpc>
                <a:spcPts val="1781"/>
              </a:lnSpc>
              <a:spcBef>
                <a:spcPts val="0"/>
              </a:spcBef>
              <a:spcAft>
                <a:spcPts val="0"/>
              </a:spcAft>
            </a:pPr>
            <a:r>
              <a:rPr sz="1425" b="0" u="none">
                <a:solidFill>
                  <a:srgbClr val="39718B"/>
                </a:solidFill>
                <a:latin typeface="Noto Sans KR"/>
                <a:hlinkClick r:id="rId4"/>
              </a:rPr>
              <a:t>출처: 서울문화포털 · 2024 정동야행</a:t>
            </a:r>
          </a:p>
        </p:txBody>
      </p:sp>
      <p:sp>
        <p:nvSpPr>
          <p:cNvPr id="9" name="result-metric"/>
          <p:cNvSpPr txBox="1"/>
          <p:nvPr/>
        </p:nvSpPr>
        <p:spPr>
          <a:xfrm>
            <a:off x="7172325" y="32385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행사 방문객</a:t>
            </a:r>
          </a:p>
        </p:txBody>
      </p:sp>
      <p:sp>
        <p:nvSpPr>
          <p:cNvPr id="10" name="result-year-0"/>
          <p:cNvSpPr txBox="1"/>
          <p:nvPr/>
        </p:nvSpPr>
        <p:spPr>
          <a:xfrm>
            <a:off x="7172325" y="37338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2023년 · 10월 13–14일</a:t>
            </a:r>
          </a:p>
        </p:txBody>
      </p:sp>
      <p:sp>
        <p:nvSpPr>
          <p:cNvPr id="11" name="result-bar-0"/>
          <p:cNvSpPr/>
          <p:nvPr/>
        </p:nvSpPr>
        <p:spPr>
          <a:xfrm>
            <a:off x="7172325" y="41910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40386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약 10.0만 명</a:t>
            </a:r>
          </a:p>
        </p:txBody>
      </p:sp>
      <p:sp>
        <p:nvSpPr>
          <p:cNvPr id="13" name="result-year-1"/>
          <p:cNvSpPr txBox="1"/>
          <p:nvPr/>
        </p:nvSpPr>
        <p:spPr>
          <a:xfrm>
            <a:off x="7172325" y="46767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2024년 · 5월 24–25일</a:t>
            </a:r>
          </a:p>
        </p:txBody>
      </p:sp>
      <p:sp>
        <p:nvSpPr>
          <p:cNvPr id="14" name="result-bar-1"/>
          <p:cNvSpPr/>
          <p:nvPr/>
        </p:nvSpPr>
        <p:spPr>
          <a:xfrm>
            <a:off x="7172325" y="5133975"/>
            <a:ext cx="4572000" cy="228600"/>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9815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약 13.0만 명</a:t>
            </a:r>
          </a:p>
        </p:txBody>
      </p:sp>
      <p:sp>
        <p:nvSpPr>
          <p:cNvPr id="16" name="result-change-band"/>
          <p:cNvSpPr/>
          <p:nvPr/>
        </p:nvSpPr>
        <p:spPr>
          <a:xfrm>
            <a:off x="7172325" y="5857875"/>
            <a:ext cx="7058025" cy="10572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60007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 약 3.0만 명 | +30%</a:t>
            </a:r>
          </a:p>
        </p:txBody>
      </p:sp>
      <p:sp>
        <p:nvSpPr>
          <p:cNvPr id="18" name="result-change-formula"/>
          <p:cNvSpPr txBox="1"/>
          <p:nvPr/>
        </p:nvSpPr>
        <p:spPr>
          <a:xfrm>
            <a:off x="7381875" y="65436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(13만 − 10만) ÷ 10만 × 100</a:t>
            </a:r>
          </a:p>
        </p:txBody>
      </p:sp>
      <p:sp>
        <p:nvSpPr>
          <p:cNvPr id="19" name="result-data-labels"/>
          <p:cNvSpPr txBox="1"/>
          <p:nvPr/>
        </p:nvSpPr>
        <p:spPr>
          <a:xfrm>
            <a:off x="7172325" y="70389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중구청 발표 · 약 10만 명 / 중구청 발표 · 13만 명</a:t>
            </a:r>
          </a:p>
        </p:txBody>
      </p:sp>
      <p:sp>
        <p:nvSpPr>
          <p:cNvPr id="20" name="result-action"/>
          <p:cNvSpPr txBox="1"/>
          <p:nvPr/>
        </p:nvSpPr>
        <p:spPr>
          <a:xfrm>
            <a:off x="1009650" y="76104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역사·문화시설을 밤에도 개방하고, 공연과 체험을 함께 운영</a:t>
            </a:r>
          </a:p>
        </p:txBody>
      </p:sp>
      <p:sp>
        <p:nvSpPr>
          <p:cNvPr id="21" name="result-interpretation"/>
          <p:cNvSpPr txBox="1"/>
          <p:nvPr/>
        </p:nvSpPr>
        <p:spPr>
          <a:xfrm>
            <a:off x="1009650" y="81057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두 해의 행사 방문객 비교입니다. 개최 계절이 달라 사업 단독 효과로 해석하지 않습니다.</a:t>
            </a:r>
          </a:p>
        </p:txBody>
      </p:sp>
      <p:sp>
        <p:nvSpPr>
          <p:cNvPr id="22"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05 / 15</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4.1 견적 예시안</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4EA2"/>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21,000,000원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3,487건 ÷ 25건/인일 올림) = 140인일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7,187,000원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7,187만원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9"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6.1 근거·데이터·출처</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39718B"/>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39718B"/>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39718B"/>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39718B"/>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39718B"/>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39718B"/>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39718B"/>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39718B"/>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39718B"/>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39718B"/>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39718B"/>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39718B"/>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39718B"/>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39718B"/>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39718B"/>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39718B"/>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39718B"/>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39718B"/>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39718B"/>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39718B"/>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39718B"/>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39718B"/>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39718B"/>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39718B"/>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39718B"/>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39718B"/>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39718B"/>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39718B"/>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39718B"/>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39718B"/>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39718B"/>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39718B"/>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39718B"/>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39718B"/>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39718B"/>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39718B"/>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39718B"/>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39718B"/>
                </a:solidFill>
                <a:latin typeface="Noto Sans KR"/>
                <a:hlinkClick xmlns:ns73="http://schemas.openxmlformats.org/officeDocument/2006/relationships" ns73:id="rId2"/>
              </a:rPr>
              <a:t>인기관광지 2025-07 ~ 2026-06</a:t>
            </a:r>
          </a:p>
        </p:txBody>
      </p:sp>
      <p:sp xmlns:a="http://schemas.openxmlformats.org/drawingml/2006/main">
        <p:nvSpPr>
          <p:cNvPr id="32"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6.2 근거·데이터·출처 계속</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39718B"/>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방문자 수 RandomForestRegressor</a:t>
            </a:r>
          </a:p>
          <a:p>
            <a:pPr eaLnBrk="0">
              <a:lnSpc>
                <a:spcPts val="1265"/>
              </a:lnSpc>
              <a:spcBef>
                <a:spcPts val="0"/>
              </a:spcBef>
              <a:spcAft>
                <a:spcPts val="0"/>
              </a:spcAft>
            </a:pPr>
            <a:r>
              <a:rPr sz="1012" b="0">
                <a:solidFill>
                  <a:srgbClr val="004EA2"/>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내비게이션 검색량 전년동월 계절</a:t>
            </a:r>
          </a:p>
          <a:p>
            <a:pPr eaLnBrk="0">
              <a:lnSpc>
                <a:spcPts val="1265"/>
              </a:lnSpc>
              <a:spcBef>
                <a:spcPts val="0"/>
              </a:spcBef>
              <a:spcAft>
                <a:spcPts val="0"/>
              </a:spcAft>
            </a:pPr>
            <a:r>
              <a:rPr sz="1012" b="0">
                <a:solidFill>
                  <a:srgbClr val="004EA2"/>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숙박 목적지 검색량 전년동월 계절</a:t>
            </a:r>
          </a:p>
          <a:p>
            <a:pPr eaLnBrk="0">
              <a:lnSpc>
                <a:spcPts val="1265"/>
              </a:lnSpc>
              <a:spcBef>
                <a:spcPts val="0"/>
              </a:spcBef>
              <a:spcAft>
                <a:spcPts val="0"/>
              </a:spcAft>
            </a:pPr>
            <a:r>
              <a:rPr sz="1012" b="0">
                <a:solidFill>
                  <a:srgbClr val="004EA2"/>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39718B"/>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39718B"/>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39718B"/>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39718B"/>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39718B"/>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39718B"/>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39718B"/>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3"/>
              </a:rPr>
              <a:t>사례 실적 서울문화포털 · 2024 정동야행 행사 내용과 사진</a:t>
            </a:r>
          </a:p>
        </p:txBody>
      </p:sp>
      <p:sp>
        <p:nvSpPr>
          <p:cNvPr id="43"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야간 문화유산 및</a:t>
            </a:r>
          </a:p>
          <a:p xmlns:a="http://schemas.openxmlformats.org/drawingml/2006/main">
            <a:pPr eaLnBrk="0">
              <a:lnSpc>
                <a:spcPts val="2625"/>
              </a:lnSpc>
              <a:spcBef>
                <a:spcPts val="0"/>
              </a:spcBef>
              <a:spcAft>
                <a:spcPts val="0"/>
              </a:spcAft>
            </a:pPr>
            <a:r>
              <a:rPr sz="2100" b="1">
                <a:solidFill>
                  <a:srgbClr val="004EA2"/>
                </a:solidFill>
                <a:latin typeface="Noto Sans KR"/>
              </a:rPr>
              <a:t>시설 개방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2.2 목표 KPI 산출근거</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pi-intro"/>
          <p:cNvSpPr txBox="1"/>
          <p:nvPr/>
        </p:nvSpPr>
        <p:spPr>
          <a:xfrm>
            <a:off x="1009650" y="2009775"/>
            <a:ext cx="13220700" cy="4476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목표율을 정한 이유와 3개월 동안 추가로 달성할 규모</a:t>
            </a:r>
          </a:p>
        </p:txBody>
      </p:sp>
      <p:pic>
        <p:nvPicPr>
          <p:cNvPr id="5" name="kpi-reason-icon" descr="target-blue.png"/>
          <p:cNvPicPr>
            <a:picLocks noChangeAspect="1"/>
          </p:cNvPicPr>
          <p:nvPr/>
        </p:nvPicPr>
        <p:blipFill>
          <a:blip r:embed="rId2"/>
          <a:stretch>
            <a:fillRect/>
          </a:stretch>
        </p:blipFill>
        <p:spPr>
          <a:xfrm>
            <a:off x="1200150" y="2895600"/>
            <a:ext cx="809625" cy="809625"/>
          </a:xfrm>
          <a:prstGeom prst="rect">
            <a:avLst/>
          </a:prstGeom>
        </p:spPr>
      </p:pic>
      <p:sp>
        <p:nvSpPr>
          <p:cNvPr id="6" name="kpi-reason-title"/>
          <p:cNvSpPr txBox="1"/>
          <p:nvPr/>
        </p:nvSpPr>
        <p:spPr>
          <a:xfrm>
            <a:off x="2247900" y="295275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목표를 정한 이유</a:t>
            </a:r>
          </a:p>
        </p:txBody>
      </p:sp>
      <p:sp>
        <p:nvSpPr>
          <p:cNvPr id="7" name="kpi-reason"/>
          <p:cNvSpPr txBox="1"/>
          <p:nvPr/>
        </p:nvSpPr>
        <p:spPr>
          <a:xfrm>
            <a:off x="1200150" y="388620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사례의 운영 방식은 참고하되, 성장률을</a:t>
            </a:r>
          </a:p>
          <a:p>
            <a:pPr eaLnBrk="0">
              <a:lnSpc>
                <a:spcPts val="2437"/>
              </a:lnSpc>
              <a:spcBef>
                <a:spcPts val="0"/>
              </a:spcBef>
              <a:spcAft>
                <a:spcPts val="0"/>
              </a:spcAft>
            </a:pPr>
            <a:r>
              <a:rPr sz="1950" b="0">
                <a:solidFill>
                  <a:srgbClr val="59636E"/>
                </a:solidFill>
                <a:latin typeface="Noto Sans KR"/>
              </a:rPr>
              <a:t>그대로 옮기지 않고 초기 목표 5%를 채택했습니다.</a:t>
            </a:r>
          </a:p>
        </p:txBody>
      </p:sp>
      <p:sp>
        <p:nvSpPr>
          <p:cNvPr id="8" name="kpi-decision-band"/>
          <p:cNvSpPr/>
          <p:nvPr/>
        </p:nvSpPr>
        <p:spPr>
          <a:xfrm>
            <a:off x="1200150" y="5238750"/>
            <a:ext cx="6391275" cy="10477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45782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조정 가능한 최종월 목표 +5%</a:t>
            </a:r>
          </a:p>
        </p:txBody>
      </p:sp>
      <p:sp>
        <p:nvSpPr>
          <p:cNvPr id="10" name="kpi-step-explanation"/>
          <p:cNvSpPr txBox="1"/>
          <p:nvPr/>
        </p:nvSpPr>
        <p:spPr>
          <a:xfrm>
            <a:off x="1200150" y="672465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첫 달부터 마지막 달까지 목표율을</a:t>
            </a:r>
          </a:p>
          <a:p>
            <a:pPr eaLnBrk="0">
              <a:lnSpc>
                <a:spcPts val="2062"/>
              </a:lnSpc>
              <a:spcBef>
                <a:spcPts val="0"/>
              </a:spcBef>
              <a:spcAft>
                <a:spcPts val="0"/>
              </a:spcAft>
            </a:pPr>
            <a:r>
              <a:rPr sz="1650" b="0">
                <a:solidFill>
                  <a:srgbClr val="59636E"/>
                </a:solidFill>
                <a:latin typeface="Noto Sans KR"/>
              </a:rPr>
              <a:t>단계적으로 높여 3개월 추가 목표를 합산합니다.</a:t>
            </a:r>
          </a:p>
        </p:txBody>
      </p:sp>
      <p:cxnSp>
        <p:nvCxnSpPr>
          <p:cNvPr id="11" name="kpi-to-visitors-0"/>
          <p:cNvCxnSpPr/>
          <p:nvPr/>
        </p:nvCxnSpPr>
        <p:spPr>
          <a:xfrm>
            <a:off x="7762875" y="5334000"/>
            <a:ext cx="466725"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895725"/>
            <a:ext cx="0" cy="1438275"/>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895725"/>
            <a:ext cx="4667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334000"/>
            <a:ext cx="0" cy="104775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381750"/>
            <a:ext cx="4667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781300"/>
            <a:ext cx="5534025" cy="22193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kpi-impact-icon-0" descr="users-blue.png"/>
          <p:cNvPicPr>
            <a:picLocks noChangeAspect="1"/>
          </p:cNvPicPr>
          <p:nvPr/>
        </p:nvPicPr>
        <p:blipFill>
          <a:blip r:embed="rId3"/>
          <a:stretch>
            <a:fillRect/>
          </a:stretch>
        </p:blipFill>
        <p:spPr>
          <a:xfrm>
            <a:off x="8943975" y="3009900"/>
            <a:ext cx="523875" cy="523875"/>
          </a:xfrm>
          <a:prstGeom prst="rect">
            <a:avLst/>
          </a:prstGeom>
        </p:spPr>
      </p:pic>
      <p:sp>
        <p:nvSpPr>
          <p:cNvPr id="18" name="kpi-impact-title-0"/>
          <p:cNvSpPr txBox="1"/>
          <p:nvPr/>
        </p:nvSpPr>
        <p:spPr>
          <a:xfrm>
            <a:off x="9629775" y="301942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추가 방문 목표</a:t>
            </a:r>
          </a:p>
        </p:txBody>
      </p:sp>
      <p:sp>
        <p:nvSpPr>
          <p:cNvPr id="19" name="kpi-impact-value-0"/>
          <p:cNvSpPr txBox="1"/>
          <p:nvPr/>
        </p:nvSpPr>
        <p:spPr>
          <a:xfrm>
            <a:off x="8934450" y="368617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F6B00"/>
                </a:solidFill>
                <a:latin typeface="Noto Sans KR"/>
              </a:rPr>
              <a:t>↑ 348,601명</a:t>
            </a:r>
          </a:p>
        </p:txBody>
      </p:sp>
      <p:sp>
        <p:nvSpPr>
          <p:cNvPr id="20" name="kpi-impact-period-0"/>
          <p:cNvSpPr txBox="1"/>
          <p:nvPr/>
        </p:nvSpPr>
        <p:spPr>
          <a:xfrm>
            <a:off x="8953500" y="450532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3개월 월별 합계 · +3.29%</a:t>
            </a:r>
          </a:p>
        </p:txBody>
      </p:sp>
      <p:sp>
        <p:nvSpPr>
          <p:cNvPr id="21" name="kpi-impact-panel-1"/>
          <p:cNvSpPr/>
          <p:nvPr/>
        </p:nvSpPr>
        <p:spPr>
          <a:xfrm>
            <a:off x="8696325" y="5267325"/>
            <a:ext cx="5534025" cy="22193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kpi-impact-icon-1" descr="coins-blue.png"/>
          <p:cNvPicPr>
            <a:picLocks noChangeAspect="1"/>
          </p:cNvPicPr>
          <p:nvPr/>
        </p:nvPicPr>
        <p:blipFill>
          <a:blip r:embed="rId4"/>
          <a:stretch>
            <a:fillRect/>
          </a:stretch>
        </p:blipFill>
        <p:spPr>
          <a:xfrm>
            <a:off x="8943975" y="5495925"/>
            <a:ext cx="523875" cy="523875"/>
          </a:xfrm>
          <a:prstGeom prst="rect">
            <a:avLst/>
          </a:prstGeom>
        </p:spPr>
      </p:pic>
      <p:sp>
        <p:nvSpPr>
          <p:cNvPr id="23" name="kpi-impact-title-1"/>
          <p:cNvSpPr txBox="1"/>
          <p:nvPr/>
        </p:nvSpPr>
        <p:spPr>
          <a:xfrm>
            <a:off x="9629775" y="550545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추가 소비 목표</a:t>
            </a:r>
          </a:p>
        </p:txBody>
      </p:sp>
      <p:sp>
        <p:nvSpPr>
          <p:cNvPr id="24" name="kpi-impact-value-1"/>
          <p:cNvSpPr txBox="1"/>
          <p:nvPr/>
        </p:nvSpPr>
        <p:spPr>
          <a:xfrm>
            <a:off x="8934450" y="617220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F6B00"/>
                </a:solidFill>
                <a:latin typeface="Noto Sans KR"/>
              </a:rPr>
              <a:t>↑ 148.12억 원</a:t>
            </a:r>
          </a:p>
        </p:txBody>
      </p:sp>
      <p:sp>
        <p:nvSpPr>
          <p:cNvPr id="25" name="kpi-impact-period-1"/>
          <p:cNvSpPr txBox="1"/>
          <p:nvPr/>
        </p:nvSpPr>
        <p:spPr>
          <a:xfrm>
            <a:off x="8953500" y="699135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목표는 계획 가정입니다. 사례의 사업 효과를 예측한 값이 아니며, 방문 합계에는 월간 중복이 포함됩니다.</a:t>
            </a:r>
          </a:p>
        </p:txBody>
      </p:sp>
      <p:sp>
        <p:nvSpPr>
          <p:cNvPr id="27"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07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5.1 기획서 생성 파이프라인</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ipeline-intro"/>
          <p:cNvSpPr txBox="1"/>
          <p:nvPr/>
        </p:nvSpPr>
        <p:spPr>
          <a:xfrm>
            <a:off x="1009650" y="2009775"/>
            <a:ext cx="13220700" cy="4476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peline-evidence-icon" descr="map-pinned-blue.png"/>
          <p:cNvPicPr>
            <a:picLocks noChangeAspect="1"/>
          </p:cNvPicPr>
          <p:nvPr/>
        </p:nvPicPr>
        <p:blipFill>
          <a:blip r:embed="rId2"/>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004EA2"/>
                </a:solidFill>
                <a:latin typeface="Noto Sans KR"/>
              </a:rPr>
              <a:t>① 지역</a:t>
            </a:r>
          </a:p>
          <a:p>
            <a:pPr eaLnBrk="0">
              <a:lnSpc>
                <a:spcPts val="2203"/>
              </a:lnSpc>
              <a:spcBef>
                <a:spcPts val="0"/>
              </a:spcBef>
              <a:spcAft>
                <a:spcPts val="0"/>
              </a:spcAft>
            </a:pPr>
            <a:r>
              <a:rPr sz="1762" b="1">
                <a:solidFill>
                  <a:srgbClr val="004EA2"/>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SQL · 공식 관광자료</a:t>
            </a:r>
          </a:p>
        </p:txBody>
      </p:sp>
      <p:pic>
        <p:nvPicPr>
          <p:cNvPr id="22" name="pipeline-case-icon" descr="search-check-blue.png"/>
          <p:cNvPicPr>
            <a:picLocks noChangeAspect="1"/>
          </p:cNvPicPr>
          <p:nvPr/>
        </p:nvPicPr>
        <p:blipFill>
          <a:blip r:embed="rId3"/>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004EA2"/>
                </a:solidFill>
                <a:latin typeface="Noto Sans KR"/>
              </a:rPr>
              <a:t>② 타지역</a:t>
            </a:r>
          </a:p>
          <a:p>
            <a:pPr eaLnBrk="0">
              <a:lnSpc>
                <a:spcPts val="2203"/>
              </a:lnSpc>
              <a:spcBef>
                <a:spcPts val="0"/>
              </a:spcBef>
              <a:spcAft>
                <a:spcPts val="0"/>
              </a:spcAft>
            </a:pPr>
            <a:r>
              <a:rPr sz="1762" b="1">
                <a:solidFill>
                  <a:srgbClr val="004EA2"/>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OpenAI · 공식 사업·성과</a:t>
            </a:r>
          </a:p>
        </p:txBody>
      </p:sp>
      <p:pic>
        <p:nvPicPr>
          <p:cNvPr id="25" name="pipeline-click-icon" descr="mouse-pointer-click-blue.png"/>
          <p:cNvPicPr>
            <a:picLocks noChangeAspect="1"/>
          </p:cNvPicPr>
          <p:nvPr/>
        </p:nvPicPr>
        <p:blipFill>
          <a:blip r:embed="rId4"/>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기획서 생성</a:t>
            </a:r>
          </a:p>
          <a:p>
            <a:pPr eaLnBrk="0" algn="ctr">
              <a:lnSpc>
                <a:spcPts val="2531"/>
              </a:lnSpc>
              <a:spcBef>
                <a:spcPts val="0"/>
              </a:spcBef>
              <a:spcAft>
                <a:spcPts val="0"/>
              </a:spcAft>
            </a:pPr>
            <a:r>
              <a:rPr sz="2025" b="1">
                <a:solidFill>
                  <a:srgbClr val="004EA2"/>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Qwen</a:t>
            </a:r>
          </a:p>
        </p:txBody>
      </p:sp>
      <p:pic>
        <p:nvPicPr>
          <p:cNvPr id="28" name="pipeline-icon-652" descr="git-compare-arrows-blue.png"/>
          <p:cNvPicPr>
            <a:picLocks noChangeAspect="1"/>
          </p:cNvPicPr>
          <p:nvPr/>
        </p:nvPicPr>
        <p:blipFill>
          <a:blip r:embed="rId5"/>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지역에 맞는</a:t>
            </a:r>
          </a:p>
          <a:p>
            <a:pPr eaLnBrk="0" algn="ctr">
              <a:lnSpc>
                <a:spcPts val="2062"/>
              </a:lnSpc>
              <a:spcBef>
                <a:spcPts val="0"/>
              </a:spcBef>
              <a:spcAft>
                <a:spcPts val="0"/>
              </a:spcAft>
            </a:pPr>
            <a:r>
              <a:rPr sz="1650" b="0">
                <a:solidFill>
                  <a:srgbClr val="59636E"/>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Gemma</a:t>
            </a:r>
          </a:p>
        </p:txBody>
      </p:sp>
      <p:pic>
        <p:nvPicPr>
          <p:cNvPr id="32" name="pipeline-icon-874" descr="notebook-pen-blue.png"/>
          <p:cNvPicPr>
            <a:picLocks noChangeAspect="1"/>
          </p:cNvPicPr>
          <p:nvPr/>
        </p:nvPicPr>
        <p:blipFill>
          <a:blip r:embed="rId6"/>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선정 근거로</a:t>
            </a:r>
          </a:p>
          <a:p>
            <a:pPr eaLnBrk="0" algn="ctr">
              <a:lnSpc>
                <a:spcPts val="2062"/>
              </a:lnSpc>
              <a:spcBef>
                <a:spcPts val="0"/>
              </a:spcBef>
              <a:spcAft>
                <a:spcPts val="0"/>
              </a:spcAft>
            </a:pPr>
            <a:r>
              <a:rPr sz="1650" b="0">
                <a:solidFill>
                  <a:srgbClr val="59636E"/>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Qwen</a:t>
            </a:r>
          </a:p>
        </p:txBody>
      </p:sp>
      <p:pic>
        <p:nvPicPr>
          <p:cNvPr id="36" name="pipeline-icon-1096" descr="shield-check-blue.png"/>
          <p:cNvPicPr>
            <a:picLocks noChangeAspect="1"/>
          </p:cNvPicPr>
          <p:nvPr/>
        </p:nvPicPr>
        <p:blipFill>
          <a:blip r:embed="rId7"/>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수치·출처와</a:t>
            </a:r>
          </a:p>
          <a:p>
            <a:pPr eaLnBrk="0" algn="ctr">
              <a:lnSpc>
                <a:spcPts val="2062"/>
              </a:lnSpc>
              <a:spcBef>
                <a:spcPts val="0"/>
              </a:spcBef>
              <a:spcAft>
                <a:spcPts val="0"/>
              </a:spcAft>
            </a:pPr>
            <a:r>
              <a:rPr sz="1650" b="0">
                <a:solidFill>
                  <a:srgbClr val="59636E"/>
                </a:solidFill>
                <a:latin typeface="Noto Sans KR"/>
              </a:rPr>
              <a:t>본문 연결 확인</a:t>
            </a:r>
          </a:p>
        </p:txBody>
      </p:sp>
      <p:pic>
        <p:nvPicPr>
          <p:cNvPr id="39" name="pipeline-output-icon" descr="files-blue.png"/>
          <p:cNvPicPr>
            <a:picLocks noChangeAspect="1"/>
          </p:cNvPicPr>
          <p:nvPr/>
        </p:nvPicPr>
        <p:blipFill>
          <a:blip r:embed="rId8"/>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웹</a:t>
            </a:r>
          </a:p>
          <a:p>
            <a:pPr eaLnBrk="0" algn="ctr">
              <a:lnSpc>
                <a:spcPts val="2062"/>
              </a:lnSpc>
              <a:spcBef>
                <a:spcPts val="0"/>
              </a:spcBef>
              <a:spcAft>
                <a:spcPts val="0"/>
              </a:spcAft>
            </a:pPr>
            <a:r>
              <a:rPr sz="1650" b="0">
                <a:solidFill>
                  <a:srgbClr val="59636E"/>
                </a:solidFill>
                <a:latin typeface="Noto Sans KR"/>
              </a:rPr>
              <a:t>PPT · Word</a:t>
            </a:r>
          </a:p>
        </p:txBody>
      </p:sp>
      <p:sp>
        <p:nvSpPr>
          <p:cNvPr id="42" name="pipeline-data-band"/>
          <p:cNvSpPr/>
          <p:nvPr/>
        </p:nvSpPr>
        <p:spPr>
          <a:xfrm>
            <a:off x="1009650" y="6762750"/>
            <a:ext cx="6610350" cy="9620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peline-data-icon" descr="database-blue.png"/>
          <p:cNvPicPr>
            <a:picLocks noChangeAspect="1"/>
          </p:cNvPicPr>
          <p:nvPr/>
        </p:nvPicPr>
        <p:blipFill>
          <a:blip r:embed="rId9"/>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OpenAI는 공식 웹에서 사업 사례와 출처를 조사합니다. 이미 확보한 공식 근거는 재사용합니다.</a:t>
            </a:r>
          </a:p>
        </p:txBody>
      </p:sp>
      <p:sp>
        <p:nvSpPr>
          <p:cNvPr id="53"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