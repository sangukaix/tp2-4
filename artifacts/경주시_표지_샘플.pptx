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886a7c7854c24ea4" Type="http://schemas.openxmlformats.org/officeDocument/2006/relationships/slide" Target="slides/slide1.xml"/><Relationship Id="Rdef75127518841e9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dataset:47130:1 | 한국관광 데이터랩 · 경상북도 경주시 순 방문자 수 및 숙박 비율 (이동통신 기반 외지인) | https://datalab.visitkorea.or.kr/</a:t>
            </a:r>
          </a:p>
          <a:p xmlns:a="http://schemas.openxmlformats.org/drawingml/2006/main">
            <a:r>
              <a:t>dataset:47130:2 | 한국관광 데이터랩 · 경상북도 경주시 월간 순 방문자 수 (이동통신 기반 외지인) | https://datalab.visitkorea.or.kr/</a:t>
            </a:r>
          </a:p>
          <a:p xmlns:a="http://schemas.openxmlformats.org/drawingml/2006/main">
            <a:r>
              <a:t>dataset:47130:3 | 한국관광 데이터랩 · 경상북도 경주시 관광소비 추이_외지인 | https://datalab.visitkorea.or.kr/</a:t>
            </a:r>
          </a:p>
          <a:p xmlns:a="http://schemas.openxmlformats.org/drawingml/2006/main">
            <a:r>
              <a:t>dataset:47130:4 | 한국관광 데이터랩 · 경상북도 경주시 숙박방문자 비율 추이 (이동통신 기반 외지인) | https://datalab.visitkorea.or.kr/</a:t>
            </a:r>
          </a:p>
          <a:p xmlns:a="http://schemas.openxmlformats.org/drawingml/2006/main">
            <a:r>
              <a:t>dataset:47130:5 | 한국관광 데이터랩 · 경상북도 경주시 평균 숙박일 (이동통신 기반 외지인) | https://datalab.visitkorea.or.kr/</a:t>
            </a:r>
          </a:p>
          <a:p xmlns:a="http://schemas.openxmlformats.org/drawingml/2006/main">
            <a:r>
              <a:t>dataset:47130:6 | 한국관광 데이터랩 · 경상북도 경주시 내비게이션 목적지 유형별 검색량 | https://datalab.visitkorea.or.kr/</a:t>
            </a:r>
          </a:p>
          <a:p xmlns:a="http://schemas.openxmlformats.org/drawingml/2006/main">
            <a:r>
              <a:t>dataset:47130:7 | 한국관광 데이터랩 · 경상북도 경주시 SNS 언급량 | https://datalab.visitkorea.or.kr/</a:t>
            </a:r>
          </a:p>
          <a:p xmlns:a="http://schemas.openxmlformats.org/drawingml/2006/main">
            <a:r>
              <a:t>datalab:019230d76ab7:301988813dcd | 관광소비/2026_01_06.zip | https://datalab.visitkorea.or.kr/</a:t>
            </a:r>
          </a:p>
          <a:p xmlns:a="http://schemas.openxmlformats.org/drawingml/2006/main">
            <a:r>
              <a:t>datalab:1fd87ef3fe1e:e784007e328a | 숙박_체류시간/2026_01_06.zip | https://datalab.visitkorea.or.kr/</a:t>
            </a:r>
          </a:p>
          <a:p xmlns:a="http://schemas.openxmlformats.org/drawingml/2006/main">
            <a:r>
              <a:t>datalab:4a84d793605c:6978cbd0ce5d | 방문자/2025_01_12.zip | https://datalab.visitkorea.or.kr/</a:t>
            </a:r>
          </a:p>
          <a:p xmlns:a="http://schemas.openxmlformats.org/drawingml/2006/main">
            <a:r>
              <a:t>datalab:aec5639b9c8d:382059cd52e8 | 관광소비/2025_01_12.zip | https://datalab.visitkorea.or.kr/</a:t>
            </a:r>
          </a:p>
          <a:p xmlns:a="http://schemas.openxmlformats.org/drawingml/2006/main">
            <a:r>
              <a:t>datalab:b121660a226c:89577c37c9f2 | 숙박_체류시간/2025_01_12.zip | https://datalab.visitkorea.or.kr/</a:t>
            </a:r>
          </a:p>
          <a:p xmlns:a="http://schemas.openxmlformats.org/drawingml/2006/main">
            <a:r>
              <a:t>datalab:f4356da9a853:8a618f6e8167 | 방문자/2026_01_06.zip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regional-status:493986ab98e7:cb09bf51acde | 한국관광 데이터랩 지역별 관광 현황 · 경상북도 경주시 · 인기관광지 | https://datalab.visitkorea.or.kr/</a:t>
            </a:r>
          </a:p>
          <a:p xmlns:a="http://schemas.openxmlformats.org/drawingml/2006/main">
            <a:r>
              <a:t>regional-status:56f478a784f2:feb13f7157d6 | 한국관광 데이터랩 지역별 관광 현황 · 경상북도 경주시 · 유입유출 | https://datalab.visitkorea.or.kr/</a:t>
            </a:r>
          </a:p>
          <a:p xmlns:a="http://schemas.openxmlformats.org/drawingml/2006/main">
            <a:r>
              <a:t>regional-status:7c1d055e1494:b153cbd2c69a | 한국관광 데이터랩 지역별 관광 현황 · 경상북도 경주시 · 지역집중률 | https://datalab.visitkorea.or.kr/</a:t>
            </a:r>
          </a:p>
          <a:p xmlns:a="http://schemas.openxmlformats.org/drawingml/2006/main">
            <a:r>
              <a:t>ml:47130:regional-demand-v3.3-learned-all:202606 | 지역 관광수요 ML 전망 · 공식 관측값 아님 | URL 미기록</a:t>
            </a:r>
          </a:p>
          <a:p xmlns:a="http://schemas.openxmlformats.org/drawingml/2006/main">
            <a:r>
              <a:t>tour-api:2905359 | 가마솥 양푼이 밥상 | https://apis.data.go.kr/B551011/KorService2</a:t>
            </a:r>
          </a:p>
          <a:p xmlns:a="http://schemas.openxmlformats.org/drawingml/2006/main">
            <a:r>
              <a:t>tour-api:2838704 | 가봉반과 | https://apis.data.go.kr/B551011/KorService2</a:t>
            </a:r>
          </a:p>
          <a:p xmlns:a="http://schemas.openxmlformats.org/drawingml/2006/main">
            <a:r>
              <a:t>tour-api:2726663 | 가온누리캠핑체험장 | https://apis.data.go.kr/B551011/KorService2</a:t>
            </a:r>
          </a:p>
          <a:p xmlns:a="http://schemas.openxmlformats.org/drawingml/2006/main">
            <a:r>
              <a:t>tour-api:2838717 | 갈치조림 토박이식당 | https://apis.data.go.kr/B551011/KorService2</a:t>
            </a:r>
          </a:p>
          <a:p xmlns:a="http://schemas.openxmlformats.org/drawingml/2006/main">
            <a:r>
              <a:t>tour-api:2756602 | 감포공설시장 | https://apis.data.go.kr/B551011/KorService2</a:t>
            </a:r>
          </a:p>
          <a:p xmlns:a="http://schemas.openxmlformats.org/drawingml/2006/main">
            <a:r>
              <a:t>tour-api:128677 | 감포항 | https://apis.data.go.kr/B551011/KorService2</a:t>
            </a:r>
          </a:p>
          <a:p xmlns:a="http://schemas.openxmlformats.org/drawingml/2006/main">
            <a:r>
              <a:t>tour-api:2044527 | 강동 워터파크 | https://apis.data.go.kr/B551011/KorService2</a:t>
            </a:r>
          </a:p>
          <a:p xmlns:a="http://schemas.openxmlformats.org/drawingml/2006/main">
            <a:r>
              <a:t>tour-api:2756802 | 강동리조트 프라이빗콘도 | https://apis.data.go.kr/B551011/KorService2</a:t>
            </a:r>
          </a:p>
          <a:p xmlns:a="http://schemas.openxmlformats.org/drawingml/2006/main">
            <a:r>
              <a:t>tour-api:3453929 | 경상북도교육청 발명체험교육관 | https://apis.data.go.kr/B551011/KorService2</a:t>
            </a:r>
          </a:p>
          <a:p xmlns:a="http://schemas.openxmlformats.org/drawingml/2006/main">
            <a:r>
              <a:t>tour-api:319571 | 경주 경애왕릉 | https://apis.data.go.kr/B551011/KorService2</a:t>
            </a:r>
          </a:p>
          <a:p xmlns:a="http://schemas.openxmlformats.org/drawingml/2006/main">
            <a:r>
              <a:t>tour-api:250268 | 경주 골굴암 마애여래좌상 | https://apis.data.go.kr/B551011/KorService2</a:t>
            </a:r>
          </a:p>
          <a:p xmlns:a="http://schemas.openxmlformats.org/drawingml/2006/main">
            <a:r>
              <a:t>tour-api:128639 | 경주 구정동 방형분 | https://apis.data.go.kr/B551011/KorService2</a:t>
            </a:r>
          </a:p>
          <a:p xmlns:a="http://schemas.openxmlformats.org/drawingml/2006/main">
            <a:r>
              <a:t>tour-api:250270 | 경주 굴불사지 석조사면불상 | https://apis.data.go.kr/B551011/KorService2</a:t>
            </a:r>
          </a:p>
          <a:p xmlns:a="http://schemas.openxmlformats.org/drawingml/2006/main">
            <a:r>
              <a:t>tour-api:2992067 | 경주 금리단길 | https://apis.data.go.kr/B551011/KorService2</a:t>
            </a:r>
          </a:p>
          <a:p xmlns:a="http://schemas.openxmlformats.org/drawingml/2006/main">
            <a:r>
              <a:t>tour-api:250274 | 경주 금척리 고분군 | https://apis.data.go.kr/B551011/KorService2</a:t>
            </a:r>
          </a:p>
          <a:p xmlns:a="http://schemas.openxmlformats.org/drawingml/2006/main">
            <a:r>
              <a:t>tour-api:126203 | 경주 김유신묘 | https://apis.data.go.kr/B551011/KorService2</a:t>
            </a:r>
          </a:p>
          <a:p xmlns:a="http://schemas.openxmlformats.org/drawingml/2006/main">
            <a:r>
              <a:t>tour-api:128635 | 경주 나정 | https://apis.data.go.kr/B551011/KorService2</a:t>
            </a:r>
          </a:p>
          <a:p xmlns:a="http://schemas.openxmlformats.org/drawingml/2006/main">
            <a:r>
              <a:t>tour-api:250263 | 경주 남산 미륵곡 석조여래좌상 | https://apis.data.go.kr/B551011/KorService2</a:t>
            </a:r>
          </a:p>
          <a:p xmlns:a="http://schemas.openxmlformats.org/drawingml/2006/main">
            <a:r>
              <a:t>tour-api:250262 | 경주 남산 탑곡 마애불상군 | https://apis.data.go.kr/B551011/KorService2</a:t>
            </a:r>
          </a:p>
          <a:p xmlns:a="http://schemas.openxmlformats.org/drawingml/2006/main">
            <a:r>
              <a:t>tour-api:129522 | 경주 남산동 동·서 삼층석탑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44쪽, PDF 40쪽, PDF 41쪽, PDF 41쪽, PDF 43쪽, PDF 36쪽, PDF 43쪽, PDF 43쪽 | https://datalab.visitkorea.or.kr/site/portal/ex/bbs/View.do?bcIdx=311068&amp;cbIdx=1135&amp;pageIndex=1</a:t>
            </a:r>
          </a:p>
          <a:p xmlns:a="http://schemas.openxmlformats.org/drawingml/2006/main">
            <a:r>
              <a:t>case:festival:28b027789c25cb | 한국관광 데이터랩 · 춘천마임축제 방문자 추이 | https://datalab.visitkorea.or.kr/</a:t>
            </a:r>
          </a:p>
          <a:p xmlns:a="http://schemas.openxmlformats.org/drawingml/2006/main">
            <a:r>
              <a:t>case:41508ca81cf29f | 한국관광 데이터랩·문경찻사발축제 연도별 방문자 추이 | https://datalab.visitkorea.or.kr/</a:t>
            </a:r>
          </a:p>
          <a:p xmlns:a="http://schemas.openxmlformats.org/drawingml/2006/main">
            <a:r>
              <a:t>case:590bd7f993c025 | 2026 한강 드론 라이트 쇼 하반기 1회차 | https://hangang.seoul.go.kr/www/eventMng/detail.do?evntSn=455&amp;mid=538&amp;srchType=list</a:t>
            </a:r>
          </a:p>
          <a:p xmlns:a="http://schemas.openxmlformats.org/drawingml/2006/main">
            <a:r>
              <a:t>case:c06e0618d014cc | 인천시, 인천 i 바다패스 타시도민 여객선 운임지원 7월 25일부터 종료 | https://www.incheon.go.kr/mayor_8/MA040101/view?curPage=13&amp;repSeq=DOM_0000000015178277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case:festival:a13d75b98b82dd | 한국관광 데이터랩 · 영주풍기인삼축제 방문자 추이 | https://datalab.visitkorea.or.kr/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표지 사진 출처: {"source_id": "tour-api:250263", "source_type": "open_api", "title": "경주 남산 미륵곡 석조여래좌상", "source_url": "https://apis.data.go.kr/B551011/KorService2", "content_id": "250263", "content_type_id": "12", "address": "경상북도 경주시 배반동", "image_url": "http://tong.visitkorea.or.kr/cms/resource/23/3570523_image2_1.jpg", "summary": "한국관광공사 국문관광정보 API가 반환한 선택 지역 관광자원"}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Relationship Id="rId3" Type="http://schemas.openxmlformats.org/officeDocument/2006/relationships/image" Target="../media/image36.jpg"/><Relationship Id="rId4" Type="http://schemas.openxmlformats.org/officeDocument/2006/relationships/hyperlink" Target="https://apis.data.go.kr/B551011/KorService2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cover-regional-photo" descr="image.jpg"/>
          <p:cNvPicPr>
            <a:picLocks noChangeAspect="1"/>
          </p:cNvPicPr>
          <p:nvPr/>
        </p:nvPicPr>
        <p:blipFill>
          <a:blip r:embed="rId3"/>
          <a:srcRect l="25582" r="25582"/>
          <a:stretch>
            <a:fillRect/>
          </a:stretch>
        </p:blipFill>
        <p:spPr>
          <a:xfrm>
            <a:off x="8953500" y="0"/>
            <a:ext cx="6286500" cy="8572500"/>
          </a:xfrm>
          <a:prstGeom prst="rect">
            <a:avLst/>
          </a:prstGeom>
        </p:spPr>
      </p:pic>
      <p:sp xmlns:a="http://schemas.openxmlformats.org/drawingml/2006/main">
        <p:nvSpPr>
          <p:cNvPr id="3" name="cover-top-rule"/>
          <p:cNvSpPr/>
          <p:nvPr/>
        </p:nvSpPr>
        <p:spPr>
          <a:xfrm>
            <a:off x="762000" y="781050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cover-title-line1"/>
          <p:cNvSpPr txBox="1"/>
          <p:nvPr/>
        </p:nvSpPr>
        <p:spPr>
          <a:xfrm>
            <a:off x="704850" y="2981325"/>
            <a:ext cx="7524750" cy="2047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FFFFFF"/>
                </a:solidFill>
                <a:latin typeface="Noto Sans KR"/>
              </a:rPr>
              <a:t>경주 야간 빛의 향연: 드론쇼 &amp; 상권 연계</a:t>
            </a:r>
          </a:p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FFFFFF"/>
                </a:solidFill>
                <a:latin typeface="Noto Sans KR"/>
              </a:rPr>
              <a:t>할인 실행 기획안</a:t>
            </a:r>
          </a:p>
        </p:txBody>
      </p:sp>
      <p:sp xmlns:a="http://schemas.openxmlformats.org/drawingml/2006/main">
        <p:nvSpPr>
          <p:cNvPr id="7" name="cover-date"/>
          <p:cNvSpPr txBox="1"/>
          <p:nvPr/>
        </p:nvSpPr>
        <p:spPr>
          <a:xfrm>
            <a:off x="762000" y="7038975"/>
            <a:ext cx="752475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Noto Sans KR"/>
              </a:rPr>
              <a:t>사업기간 2026.11 ~ 2027.01</a:t>
            </a:r>
          </a:p>
        </p:txBody>
      </p:sp>
      <p:sp xmlns:a="http://schemas.openxmlformats.org/drawingml/2006/main">
        <p:nvSpPr>
          <p:cNvPr id="9" name="cover-issued-date"/>
          <p:cNvSpPr txBox="1"/>
          <p:nvPr/>
        </p:nvSpPr>
        <p:spPr>
          <a:xfrm>
            <a:off x="800100" y="1304925"/>
            <a:ext cx="714375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KR"/>
              </a:rPr>
              <a:t>2026.09.19</a:t>
            </a:r>
          </a:p>
        </p:txBody>
      </p:sp>
      <p:sp xmlns:a="http://schemas.openxmlformats.org/drawingml/2006/main">
        <p:nvSpPr>
          <p:cNvPr id="10" name="cover-province-ribbon"/>
          <p:cNvSpPr/>
          <p:nvPr/>
        </p:nvSpPr>
        <p:spPr>
          <a:xfrm>
            <a:off x="0" y="1866900"/>
            <a:ext cx="8953500" cy="685800"/>
          </a:xfrm>
          <a:prstGeom prst="rect">
            <a:avLst/>
          </a:prstGeom>
          <a:gradFill rotWithShape="1">
            <a:gsLst>
              <a:gs pos="0">
                <a:srgbClr val="DBE8EC">
                  <a:alpha val="13000"/>
                </a:srgbClr>
              </a:gs>
              <a:gs pos="60000">
                <a:srgbClr val="DBE8EC">
                  <a:alpha val="8000"/>
                </a:srgbClr>
              </a:gs>
              <a:gs pos="100000">
                <a:srgbClr val="DBE8EC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org-title"/>
          <p:cNvSpPr txBox="1"/>
          <p:nvPr/>
        </p:nvSpPr>
        <p:spPr>
          <a:xfrm>
            <a:off x="609600" y="1914525"/>
            <a:ext cx="4857750" cy="5715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KR"/>
              </a:rPr>
              <a:t>경상북도</a:t>
            </a:r>
          </a:p>
        </p:txBody>
      </p:sp>
      <p:sp xmlns:a="http://schemas.openxmlformats.org/drawingml/2006/main">
        <p:nvSpPr>
          <p:cNvPr id="11" name="cover-title-rule"/>
          <p:cNvSpPr/>
          <p:nvPr/>
        </p:nvSpPr>
        <p:spPr>
          <a:xfrm>
            <a:off x="762000" y="4371975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cover-source-bg"/>
          <p:cNvSpPr/>
          <p:nvPr/>
        </p:nvSpPr>
        <p:spPr>
          <a:xfrm>
            <a:off x="9258300" y="8001000"/>
            <a:ext cx="5676900" cy="400050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cover-source-label">
            <a:hlinkClick xmlns:r="http://schemas.openxmlformats.org/officeDocument/2006/relationships" r:id="rId4"/>
          </p:cNvPr>
          <p:cNvSpPr txBox="1"/>
          <p:nvPr/>
        </p:nvSpPr>
        <p:spPr>
          <a:xfrm>
            <a:off x="9363075" y="8039100"/>
            <a:ext cx="5467350" cy="32385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KR"/>
              </a:rPr>
              <a:t>경상북도 경주시 · 경주 남산 미륵곡 석조여래좌상</a:t>
            </a:r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