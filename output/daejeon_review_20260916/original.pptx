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charts/chart3.xml" ContentType="application/vnd.openxmlformats-officedocument.drawingml.chart+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0c9acad3462d47f4" Type="http://schemas.openxmlformats.org/package/2006/relationships/metadata/core-properties" Target="docProps/core.xml"/><Relationship Id="R45c0ced956484f6e" Type="http://schemas.openxmlformats.org/officeDocument/2006/relationships/officeDocument" Target="ppt/presentation.xml"/><Relationship Id="Ra16f1779ee944664"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def75127518841e9"/>
  </p:sldMasterIdLst>
  <p:notesMasterIdLst>
    <p:notesMasterId xmlns:r="http://schemas.openxmlformats.org/officeDocument/2006/relationships" r:id="R39a2950bce3543d9"/>
  </p:notesMasterIdLst>
  <p:sldIdLst>
    <p:sldId xmlns:r="http://schemas.openxmlformats.org/officeDocument/2006/relationships" id="256" r:id="R886a7c7854c24ea4"/>
    <p:sldId xmlns:r="http://schemas.openxmlformats.org/officeDocument/2006/relationships" id="257" r:id="Rf0fd60d93fe24e2b"/>
    <p:sldId xmlns:r="http://schemas.openxmlformats.org/officeDocument/2006/relationships" id="258" r:id="Rb96b5134fc1b4629"/>
    <p:sldId xmlns:r="http://schemas.openxmlformats.org/officeDocument/2006/relationships" id="261" r:id="Rbf371966fa964fc8"/>
    <p:sldId xmlns:r="http://schemas.openxmlformats.org/officeDocument/2006/relationships" id="270" r:id="rId17"/>
    <p:sldId xmlns:r="http://schemas.openxmlformats.org/officeDocument/2006/relationships" id="259" r:id="R5b6702ccd7664af1"/>
    <p:sldId xmlns:r="http://schemas.openxmlformats.org/officeDocument/2006/relationships" id="272" r:id="rId18"/>
    <p:sldId xmlns:r="http://schemas.openxmlformats.org/officeDocument/2006/relationships" id="274" r:id="rId22"/>
    <p:sldId xmlns:r="http://schemas.openxmlformats.org/officeDocument/2006/relationships" id="275" r:id="rId23"/>
    <p:sldId xmlns:r="http://schemas.openxmlformats.org/officeDocument/2006/relationships" id="271" r:id="rId20"/>
    <p:sldId xmlns:r="http://schemas.openxmlformats.org/officeDocument/2006/relationships" id="262" r:id="R4c9d0e3030fa4c5f"/>
    <p:sldId xmlns:r="http://schemas.openxmlformats.org/officeDocument/2006/relationships" id="263" r:id="Rbbe47957bc6641c0"/>
    <p:sldId xmlns:r="http://schemas.openxmlformats.org/officeDocument/2006/relationships" id="264" r:id="R72f63d3229d64861"/>
    <p:sldId xmlns:r="http://schemas.openxmlformats.org/officeDocument/2006/relationships" id="273" r:id="rId21"/>
    <p:sldId xmlns:r="http://schemas.openxmlformats.org/officeDocument/2006/relationships" id="266" r:id="R029df0519ade4c8b"/>
    <p:sldId xmlns:r="http://schemas.openxmlformats.org/officeDocument/2006/relationships" id="268" r:id="rId19"/>
    <p:sldId xmlns:r="http://schemas.openxmlformats.org/officeDocument/2006/relationships" id="267" r:id="R3ccf286ad0374944"/>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xml version='1.0' encoding='UTF-8' standalone='yes'?>
<Relationships xmlns="http://schemas.openxmlformats.org/package/2006/relationships"><Relationship Id="R029df0519ade4c8b" Type="http://schemas.openxmlformats.org/officeDocument/2006/relationships/slide" Target="slides/slide13.xml"/><Relationship Id="R08a84642cb64493b" Type="http://schemas.openxmlformats.org/officeDocument/2006/relationships/tableStyles" Target="tableStyles.xml"/><Relationship Id="R0fdc956208c94083" Type="http://schemas.openxmlformats.org/officeDocument/2006/relationships/viewProps" Target="viewProps.xml"/><Relationship Id="R39a2950bce3543d9" Type="http://schemas.openxmlformats.org/officeDocument/2006/relationships/notesMaster" Target="notesMasters/notesMaster1.xml"/><Relationship Id="R3ccf286ad0374944" Type="http://schemas.openxmlformats.org/officeDocument/2006/relationships/slide" Target="slides/slide15.xml"/><Relationship Id="R4c9d0e3030fa4c5f" Type="http://schemas.openxmlformats.org/officeDocument/2006/relationships/slide" Target="slides/slide9.xml"/><Relationship Id="R5b6702ccd7664af1" Type="http://schemas.openxmlformats.org/officeDocument/2006/relationships/slide" Target="slides/slide6.xml"/><Relationship Id="R618d7671ebe14b00" Type="http://schemas.openxmlformats.org/officeDocument/2006/relationships/theme" Target="theme/theme1.xml"/><Relationship Id="R667c03bfc37b4314" Type="http://schemas.openxmlformats.org/officeDocument/2006/relationships/presProps" Target="presProps.xml"/><Relationship Id="R72f63d3229d64861" Type="http://schemas.openxmlformats.org/officeDocument/2006/relationships/slide" Target="slides/slide11.xml"/><Relationship Id="R886a7c7854c24ea4" Type="http://schemas.openxmlformats.org/officeDocument/2006/relationships/slide" Target="slides/slide1.xml"/><Relationship Id="Rb96b5134fc1b4629" Type="http://schemas.openxmlformats.org/officeDocument/2006/relationships/slide" Target="slides/slide3.xml"/><Relationship Id="Rbbe47957bc6641c0" Type="http://schemas.openxmlformats.org/officeDocument/2006/relationships/slide" Target="slides/slide10.xml"/><Relationship Id="Rbf371966fa964fc8" Type="http://schemas.openxmlformats.org/officeDocument/2006/relationships/slide" Target="slides/slide4.xml"/><Relationship Id="Rdef75127518841e9" Type="http://schemas.openxmlformats.org/officeDocument/2006/relationships/slideMaster" Target="slideMasters/slideMaster1.xml"/><Relationship Id="Rf0fd60d93fe24e2b" Type="http://schemas.openxmlformats.org/officeDocument/2006/relationships/slide" Target="slides/slide2.xml"/><Relationship Id="rId17" Type="http://schemas.openxmlformats.org/officeDocument/2006/relationships/slide" Target="slides/slide5.xml"/><Relationship Id="rId18" Type="http://schemas.openxmlformats.org/officeDocument/2006/relationships/slide" Target="slides/slide7.xml"/><Relationship Id="rId19" Type="http://schemas.openxmlformats.org/officeDocument/2006/relationships/slide" Target="slides/slide14.xml"/><Relationship Id="rId20" Type="http://schemas.openxmlformats.org/officeDocument/2006/relationships/slide" Target="slides/slide8.xml"/><Relationship Id="rId21" Type="http://schemas.openxmlformats.org/officeDocument/2006/relationships/slide" Target="slides/slide12.xml"/><Relationship Id="rId22" Type="http://schemas.openxmlformats.org/officeDocument/2006/relationships/slide" Target="slides/slide16.xml"/><Relationship Id="rId23" Type="http://schemas.openxmlformats.org/officeDocument/2006/relationships/slide" Target="slides/slide1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1750">
              <a:solidFill>
                <a:srgbClr val="36A69C"/>
              </a:solidFill>
            </a:ln>
          </c:spPr>
          <c:marker>
            <c:symbol val="circle"/>
            <c:size val="7"/>
            <c:spPr>
              <a:solidFill>
                <a:srgbClr val="36A69C"/>
              </a:solidFill>
            </c:spPr>
          </c:marker>
          <c:dLbls>
            <c:numFmt formatCode="0&quot;만&quot;" sourceLinked="0"/>
            <c:txPr>
              <a:bodyPr/>
              <a:lstStyle/>
              <a:p>
                <a:pPr>
                  <a:defRPr sz="1200" b="1">
                    <a:solidFill>
                      <a:srgbClr val="36A69C"/>
                    </a:solidFill>
                    <a:latin typeface="Noto Sans KR"/>
                  </a:defRPr>
                </a:pPr>
              </a:p>
            </c:txPr>
            <c:dLblPos val="b"/>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Sheet1!$B$2:$B$4</c:f>
              <c:numCache>
                <c:formatCode>General</c:formatCode>
                <c:ptCount val="3"/>
                <c:pt idx="0">
                  <c:v>499.8578</c:v>
                </c:pt>
                <c:pt idx="1">
                  <c:v>494.0348</c:v>
                </c:pt>
                <c:pt idx="2">
                  <c:v>498.9633</c:v>
                </c:pt>
              </c:numCache>
            </c:numRef>
          </c:val>
          <c:smooth val="0"/>
        </c:ser>
        <c:ser>
          <c:idx val="1"/>
          <c:order val="1"/>
          <c:tx>
            <c:strRef>
              <c:f>Sheet1!$C$1</c:f>
              <c:strCache>
                <c:ptCount val="1"/>
                <c:pt idx="0">
                  <c:v>목표 KPI</c:v>
                </c:pt>
              </c:strCache>
            </c:strRef>
          </c:tx>
          <c:spPr>
            <a:ln w="31750">
              <a:solidFill>
                <a:srgbClr val="F50045"/>
              </a:solidFill>
            </a:ln>
          </c:spPr>
          <c:marker>
            <c:symbol val="circle"/>
            <c:size val="7"/>
            <c:spPr>
              <a:solidFill>
                <a:srgbClr val="F50045"/>
              </a:solidFill>
            </c:spPr>
          </c:marker>
          <c:dLbls>
            <c:numFmt formatCode="0&quot;만&quot;" sourceLinked="0"/>
            <c:txPr>
              <a:bodyPr/>
              <a:lstStyle/>
              <a:p>
                <a:pPr>
                  <a:defRPr sz="1200" b="1">
                    <a:solidFill>
                      <a:srgbClr val="F50045"/>
                    </a:solidFill>
                    <a:latin typeface="Noto Sans KR"/>
                  </a:defRPr>
                </a:pPr>
              </a:p>
            </c:txPr>
            <c:dLblPos val="t"/>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Sheet1!$C$2:$C$4</c:f>
              <c:numCache>
                <c:formatCode>General</c:formatCode>
                <c:ptCount val="3"/>
                <c:pt idx="0">
                  <c:v>499.91567653</c:v>
                </c:pt>
                <c:pt idx="1">
                  <c:v>494.14920461</c:v>
                </c:pt>
                <c:pt idx="2">
                  <c:v>499.13661887</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Noto Sans KR"/>
              </a:defRPr>
            </a:pPr>
          </a:p>
        </c:txPr>
        <c:crossAx val="2140495176"/>
        <c:crosses val="autoZero"/>
        <c:auto val="1"/>
        <c:lblAlgn val="ctr"/>
        <c:lblOffset val="100"/>
        <c:noMultiLvlLbl val="0"/>
      </c:catAx>
      <c:valAx>
        <c:axId val="2140495176"/>
        <c:scaling>
          <c:max val="520.0"/>
          <c:min val="46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Noto Sans KR"/>
              </a:defRPr>
            </a:pPr>
          </a:p>
        </c:txPr>
        <c:crossAx val="2118791784"/>
        <c:crosses val="autoZero"/>
        <c:majorUnit val="20.0"/>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1750">
              <a:solidFill>
                <a:srgbClr val="36A69C"/>
              </a:solidFill>
            </a:ln>
          </c:spPr>
          <c:marker>
            <c:symbol val="circle"/>
            <c:size val="7"/>
            <c:spPr>
              <a:solidFill>
                <a:srgbClr val="36A69C"/>
              </a:solidFill>
            </c:spPr>
          </c:marker>
          <c:dLbls>
            <c:numFmt formatCode="0&quot;억&quot;" sourceLinked="0"/>
            <c:txPr>
              <a:bodyPr/>
              <a:lstStyle/>
              <a:p>
                <a:pPr>
                  <a:defRPr sz="1200" b="1">
                    <a:solidFill>
                      <a:srgbClr val="36A69C"/>
                    </a:solidFill>
                    <a:latin typeface="Noto Sans KR"/>
                  </a:defRPr>
                </a:pPr>
              </a:p>
            </c:txPr>
            <c:dLblPos val="b"/>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Sheet1!$B$2:$B$4</c:f>
              <c:numCache>
                <c:formatCode>General</c:formatCode>
                <c:ptCount val="3"/>
                <c:pt idx="0">
                  <c:v>793.5937471</c:v>
                </c:pt>
                <c:pt idx="1">
                  <c:v>859.71975908</c:v>
                </c:pt>
                <c:pt idx="2">
                  <c:v>810.33922052</c:v>
                </c:pt>
              </c:numCache>
            </c:numRef>
          </c:val>
          <c:smooth val="0"/>
        </c:ser>
        <c:ser>
          <c:idx val="1"/>
          <c:order val="1"/>
          <c:tx>
            <c:strRef>
              <c:f>Sheet1!$C$1</c:f>
              <c:strCache>
                <c:ptCount val="1"/>
                <c:pt idx="0">
                  <c:v>목표 KPI</c:v>
                </c:pt>
              </c:strCache>
            </c:strRef>
          </c:tx>
          <c:spPr>
            <a:ln w="31750">
              <a:solidFill>
                <a:srgbClr val="F50045"/>
              </a:solidFill>
            </a:ln>
          </c:spPr>
          <c:marker>
            <c:symbol val="circle"/>
            <c:size val="7"/>
            <c:spPr>
              <a:solidFill>
                <a:srgbClr val="F50045"/>
              </a:solidFill>
            </c:spPr>
          </c:marker>
          <c:dLbls>
            <c:numFmt formatCode="0&quot;억&quot;" sourceLinked="0"/>
            <c:txPr>
              <a:bodyPr/>
              <a:lstStyle/>
              <a:p>
                <a:pPr>
                  <a:defRPr sz="1200" b="1">
                    <a:solidFill>
                      <a:srgbClr val="F50045"/>
                    </a:solidFill>
                    <a:latin typeface="Noto Sans KR"/>
                  </a:defRPr>
                </a:pPr>
              </a:p>
            </c:txPr>
            <c:dLblPos val="t"/>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Sheet1!$C$2:$C$4</c:f>
              <c:numCache>
                <c:formatCode>General</c:formatCode>
                <c:ptCount val="3"/>
                <c:pt idx="0">
                  <c:v>793.79210191</c:v>
                </c:pt>
                <c:pt idx="1">
                  <c:v>860.14952444</c:v>
                </c:pt>
                <c:pt idx="2">
                  <c:v>810.9468413</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Noto Sans KR"/>
              </a:defRPr>
            </a:pPr>
          </a:p>
        </c:txPr>
        <c:crossAx val="2140495176"/>
        <c:crosses val="autoZero"/>
        <c:auto val="1"/>
        <c:lblAlgn val="ctr"/>
        <c:lblOffset val="100"/>
        <c:noMultiLvlLbl val="0"/>
      </c:catAx>
      <c:valAx>
        <c:axId val="2140495176"/>
        <c:scaling>
          <c:max val="900.0"/>
          <c:min val="75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Noto Sans KR"/>
              </a:defRPr>
            </a:pPr>
          </a:p>
        </c:txPr>
        <c:crossAx val="2118791784"/>
        <c:crosses val="autoZero"/>
        <c:majorUnit val="50.0"/>
      </c:valAx>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bar"/>
        <c:grouping val="clustered"/>
        <c:ser>
          <c:idx val="0"/>
          <c:order val="0"/>
          <c:tx>
            <c:strRef>
              <c:f>Sheet1!$B$1</c:f>
              <c:strCache>
                <c:ptCount val="1"/>
                <c:pt idx="0">
                  <c:v>전년 동기 대비 증가율</c:v>
                </c:pt>
              </c:strCache>
            </c:strRef>
          </c:tx>
          <c:invertIfNegative val="0"/>
          <c:dPt>
            <c:idx val="0"/>
            <c:invertIfNegative val="0"/>
            <c:spPr>
              <a:solidFill>
                <a:srgbClr val="F50045"/>
              </a:solidFill>
              <a:ln>
                <a:noFill/>
              </a:ln>
            </c:spPr>
          </c:dPt>
          <c:dPt>
            <c:idx val="1"/>
            <c:invertIfNegative val="0"/>
            <c:spPr>
              <a:solidFill>
                <a:srgbClr val="36A69C"/>
              </a:solidFill>
              <a:ln>
                <a:noFill/>
              </a:ln>
            </c:spPr>
          </c:dPt>
          <c:cat>
            <c:strRef>
              <c:f>Sheet1!$A$2:$A$3</c:f>
              <c:strCache>
                <c:ptCount val="2"/>
                <c:pt idx="0">
                  <c:v>서구</c:v>
                </c:pt>
                <c:pt idx="1">
                  <c:v>전국 비교 평균</c:v>
                </c:pt>
              </c:strCache>
            </c:strRef>
          </c:cat>
          <c:val>
            <c:numRef>
              <c:f>Sheet1!$B$2:$B$3</c:f>
              <c:numCache>
                <c:formatCode>General</c:formatCode>
                <c:ptCount val="2"/>
                <c:pt idx="0">
                  <c:v>-1.766149</c:v>
                </c:pt>
                <c:pt idx="1">
                  <c:v>-0.394767</c:v>
                </c:pt>
              </c:numCache>
            </c:numRef>
          </c:val>
        </c:ser>
        <c:dLbls>
          <c:numFmt formatCode="+0.00&quot;%&quot;;-0.00&quot;%&quot;;0.00&quot;%&quot;" sourceLinked="0"/>
          <c:txPr>
            <a:bodyPr/>
            <a:lstStyle/>
            <a:p>
              <a:pPr>
                <a:defRPr sz="1600" b="1">
                  <a:solidFill>
                    <a:srgbClr val="F50045"/>
                  </a:solidFill>
                  <a:latin typeface="Noto Sans KR"/>
                </a:defRPr>
              </a:pPr>
            </a:p>
          </c:txPr>
          <c:dLblPos val="outEnd"/>
          <c:showLegendKey val="0"/>
          <c:showVal val="1"/>
          <c:showCatName val="0"/>
          <c:showSerName val="0"/>
          <c:showPercent val="0"/>
          <c:showBubbleSize val="0"/>
          <c:showLeaderLines val="1"/>
        </c:dLbls>
        <c:gapWidth val="115"/>
        <c:axId val="2068027336"/>
        <c:axId val="2113994440"/>
      </c:barChart>
      <c:catAx>
        <c:axId val="2068027336"/>
        <c:scaling>
          <c:orientation val="maxMin"/>
        </c:scaling>
        <c:delete val="0"/>
        <c:axPos val="l"/>
        <c:majorTickMark val="none"/>
        <c:minorTickMark val="none"/>
        <c:tickLblPos val="low"/>
        <c:spPr>
          <a:ln>
            <a:solidFill>
              <a:srgbClr val="C8D7E3"/>
            </a:solidFill>
          </a:ln>
        </c:spPr>
        <c:txPr>
          <a:bodyPr/>
          <a:lstStyle/>
          <a:p>
            <a:pPr>
              <a:defRPr sz="1500">
                <a:solidFill>
                  <a:srgbClr val="59636E"/>
                </a:solidFill>
                <a:latin typeface="Noto Sans KR"/>
              </a:defRPr>
            </a:pPr>
          </a:p>
        </c:txPr>
        <c:crossAx val="2113994440"/>
        <c:crosses val="autoZero"/>
        <c:auto val="1"/>
        <c:lblAlgn val="ctr"/>
        <c:lblOffset val="100"/>
        <c:noMultiLvlLbl val="0"/>
      </c:catAx>
      <c:valAx>
        <c:axId val="2113994440"/>
        <c:scaling>
          <c:max val="0.49452172000000005"/>
          <c:min val="-2.2606707200000002"/>
        </c:scaling>
        <c:delete val="0"/>
        <c:axPos val="b"/>
        <c:majorTickMark val="none"/>
        <c:minorTickMark val="none"/>
        <c:tickLblPos val="none"/>
        <c:spPr>
          <a:ln>
            <a:noFill/>
          </a:ln>
        </c:spPr>
        <c:crossAx val="2068027336"/>
        <c:crosses val="autoZero"/>
      </c:valAx>
    </c:plotArea>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bar"/>
        <c:grouping val="clustered"/>
        <c:ser>
          <c:idx val="0"/>
          <c:order val="0"/>
          <c:tx>
            <c:strRef>
              <c:f>Sheet1!$B$1</c:f>
              <c:strCache>
                <c:ptCount val="1"/>
                <c:pt idx="0">
                  <c:v>전년 동기 대비 증가율</c:v>
                </c:pt>
              </c:strCache>
            </c:strRef>
          </c:tx>
          <c:invertIfNegative val="0"/>
          <c:dPt>
            <c:idx val="0"/>
            <c:invertIfNegative val="0"/>
            <c:spPr>
              <a:solidFill>
                <a:srgbClr val="F50045"/>
              </a:solidFill>
              <a:ln>
                <a:noFill/>
              </a:ln>
            </c:spPr>
          </c:dPt>
          <c:dPt>
            <c:idx val="1"/>
            <c:invertIfNegative val="0"/>
            <c:spPr>
              <a:solidFill>
                <a:srgbClr val="36A69C"/>
              </a:solidFill>
              <a:ln>
                <a:noFill/>
              </a:ln>
            </c:spPr>
          </c:dPt>
          <c:cat>
            <c:strRef>
              <c:f>Sheet1!$A$2:$A$3</c:f>
              <c:strCache>
                <c:ptCount val="2"/>
                <c:pt idx="0">
                  <c:v>서구</c:v>
                </c:pt>
                <c:pt idx="1">
                  <c:v>전국 비교 평균</c:v>
                </c:pt>
              </c:strCache>
            </c:strRef>
          </c:cat>
          <c:val>
            <c:numRef>
              <c:f>Sheet1!$B$2:$B$3</c:f>
              <c:numCache>
                <c:formatCode>General</c:formatCode>
                <c:ptCount val="2"/>
                <c:pt idx="0">
                  <c:v>4.485906</c:v>
                </c:pt>
                <c:pt idx="1">
                  <c:v>6.640909</c:v>
                </c:pt>
              </c:numCache>
            </c:numRef>
          </c:val>
        </c:ser>
        <c:dLbls>
          <c:numFmt formatCode="+0.00&quot;%&quot;;-0.00&quot;%&quot;;0.00&quot;%&quot;" sourceLinked="0"/>
          <c:txPr>
            <a:bodyPr/>
            <a:lstStyle/>
            <a:p>
              <a:pPr>
                <a:defRPr sz="1600" b="1">
                  <a:solidFill>
                    <a:srgbClr val="F50045"/>
                  </a:solidFill>
                  <a:latin typeface="Noto Sans KR"/>
                </a:defRPr>
              </a:pPr>
            </a:p>
          </c:txPr>
          <c:dLblPos val="outEnd"/>
          <c:showLegendKey val="0"/>
          <c:showVal val="1"/>
          <c:showCatName val="0"/>
          <c:showSerName val="0"/>
          <c:showPercent val="0"/>
          <c:showBubbleSize val="0"/>
          <c:showLeaderLines val="1"/>
        </c:dLbls>
        <c:gapWidth val="115"/>
        <c:axId val="2068027336"/>
        <c:axId val="2113994440"/>
      </c:barChart>
      <c:catAx>
        <c:axId val="2068027336"/>
        <c:scaling>
          <c:orientation val="maxMin"/>
        </c:scaling>
        <c:delete val="0"/>
        <c:axPos val="l"/>
        <c:majorTickMark val="none"/>
        <c:minorTickMark val="none"/>
        <c:tickLblPos val="low"/>
        <c:spPr>
          <a:ln>
            <a:solidFill>
              <a:srgbClr val="C8D7E3"/>
            </a:solidFill>
          </a:ln>
        </c:spPr>
        <c:txPr>
          <a:bodyPr/>
          <a:lstStyle/>
          <a:p>
            <a:pPr>
              <a:defRPr sz="1500">
                <a:solidFill>
                  <a:srgbClr val="59636E"/>
                </a:solidFill>
                <a:latin typeface="Noto Sans KR"/>
              </a:defRPr>
            </a:pPr>
          </a:p>
        </c:txPr>
        <c:crossAx val="2113994440"/>
        <c:crosses val="autoZero"/>
        <c:auto val="1"/>
        <c:lblAlgn val="ctr"/>
        <c:lblOffset val="100"/>
        <c:noMultiLvlLbl val="0"/>
      </c:catAx>
      <c:valAx>
        <c:axId val="2113994440"/>
        <c:scaling>
          <c:max val="8.50036352"/>
          <c:min val="-1.85945452"/>
        </c:scaling>
        <c:delete val="0"/>
        <c:axPos val="b"/>
        <c:majorTickMark val="none"/>
        <c:minorTickMark val="none"/>
        <c:tickLblPos val="none"/>
        <c:spPr>
          <a:ln>
            <a:noFill/>
          </a:ln>
        </c:spPr>
        <c:crossAx val="2068027336"/>
        <c:crosses val="autoZero"/>
      </c:valAx>
    </c:plotArea>
    <c:dispBlanksAs val="gap"/>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계획 시나리오</c:v>
                </c:pt>
              </c:strCache>
            </c:strRef>
          </c:tx>
          <c:dPt>
            <c:idx val="0"/>
            <c:spPr>
              <a:solidFill>
                <a:srgbClr val="B9C9D4"/>
              </a:solidFill>
              <a:ln>
                <a:noFill/>
              </a:ln>
            </c:spPr>
          </c:dPt>
          <c:dPt>
            <c:idx val="1"/>
            <c:spPr>
              <a:solidFill>
                <a:srgbClr val="27649B"/>
              </a:solidFill>
              <a:ln>
                <a:noFill/>
              </a:ln>
            </c:spPr>
          </c:dPt>
          <c:dPt>
            <c:idx val="2"/>
            <c:spPr>
              <a:solidFill>
                <a:srgbClr val="B9C9D4"/>
              </a:solidFill>
              <a:ln>
                <a:noFill/>
              </a:ln>
            </c:spPr>
          </c:dPt>
          <c:cat>
            <c:strRef>
              <c:f>Sheet1!$A$2:$A$4</c:f>
              <c:strCache>
                <c:ptCount val="3"/>
                <c:pt idx="0">
                  <c:v>보수</c:v>
                </c:pt>
                <c:pt idx="1">
                  <c:v>기준</c:v>
                </c:pt>
                <c:pt idx="2">
                  <c:v>확대</c:v>
                </c:pt>
              </c:strCache>
            </c:strRef>
          </c:cat>
          <c:val>
            <c:numRef>
              <c:f>Sheet1!$B$2:$B$4</c:f>
              <c:numCache>
                <c:formatCode>General</c:formatCode>
                <c:ptCount val="3"/>
                <c:pt idx="0">
                  <c:v>1728.0</c:v>
                </c:pt>
                <c:pt idx="1">
                  <c:v>3456.0</c:v>
                </c:pt>
                <c:pt idx="2">
                  <c:v>6220.0</c:v>
                </c:pt>
              </c:numCache>
            </c:numRef>
          </c:val>
        </c:ser>
        <c:dLbls>
          <c:numFmt formatCode="#,##0" sourceLinked="0"/>
          <c:txPr>
            <a:bodyPr/>
            <a:lstStyle/>
            <a:p>
              <a:pPr>
                <a:defRPr sz="1500" b="1"/>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500">
                <a:latin typeface="Noto Sans KR"/>
              </a:defRPr>
            </a:pPr>
          </a:p>
        </c:txPr>
        <c:crossAx val="2113994440"/>
        <c:crosses val="autoZero"/>
        <c:auto val="1"/>
        <c:lblAlgn val="ctr"/>
        <c:lblOffset val="100"/>
        <c:noMultiLvlLbl val="0"/>
      </c:catAx>
      <c:valAx>
        <c:axId val="2113994440"/>
        <c:scaling>
          <c:min val="0.0"/>
        </c:scaling>
        <c:delete val="0"/>
        <c:axPos val="l"/>
        <c:majorGridlines>
          <c:spPr>
            <a:ln>
              <a:solidFill>
                <a:srgbClr val="DEE4E8"/>
              </a:solidFill>
            </a:ln>
          </c:spPr>
        </c:majorGridlines>
        <c:majorTickMark val="out"/>
        <c:minorTickMark val="none"/>
        <c:tickLblPos val="nextTo"/>
        <c:txPr>
          <a:bodyPr/>
          <a:lstStyle/>
          <a:p>
            <a:pPr>
              <a:defRPr sz="1100"/>
            </a:pPr>
          </a:p>
        </c:txPr>
        <c:crossAx val="2068027336"/>
        <c:crosses val="autoZero"/>
      </c:valAx>
    </c:plotArea>
    <c:dispBlanksAs val="gap"/>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계획 시나리오</c:v>
                </c:pt>
              </c:strCache>
            </c:strRef>
          </c:tx>
          <c:dPt>
            <c:idx val="0"/>
            <c:spPr>
              <a:solidFill>
                <a:srgbClr val="B9C9D4"/>
              </a:solidFill>
              <a:ln>
                <a:noFill/>
              </a:ln>
            </c:spPr>
          </c:dPt>
          <c:dPt>
            <c:idx val="1"/>
            <c:spPr>
              <a:solidFill>
                <a:srgbClr val="187C70"/>
              </a:solidFill>
              <a:ln>
                <a:noFill/>
              </a:ln>
            </c:spPr>
          </c:dPt>
          <c:dPt>
            <c:idx val="2"/>
            <c:spPr>
              <a:solidFill>
                <a:srgbClr val="B9C9D4"/>
              </a:solidFill>
              <a:ln>
                <a:noFill/>
              </a:ln>
            </c:spPr>
          </c:dPt>
          <c:cat>
            <c:strRef>
              <c:f>Sheet1!$A$2:$A$4</c:f>
              <c:strCache>
                <c:ptCount val="3"/>
                <c:pt idx="0">
                  <c:v>보수</c:v>
                </c:pt>
                <c:pt idx="1">
                  <c:v>기준</c:v>
                </c:pt>
                <c:pt idx="2">
                  <c:v>확대</c:v>
                </c:pt>
              </c:strCache>
            </c:strRef>
          </c:cat>
          <c:val>
            <c:numRef>
              <c:f>Sheet1!$B$2:$B$4</c:f>
              <c:numCache>
                <c:formatCode>General</c:formatCode>
                <c:ptCount val="3"/>
                <c:pt idx="0">
                  <c:v>10931.55</c:v>
                </c:pt>
                <c:pt idx="1">
                  <c:v>12357.41</c:v>
                </c:pt>
                <c:pt idx="2">
                  <c:v>16539.26</c:v>
                </c:pt>
              </c:numCache>
            </c:numRef>
          </c:val>
        </c:ser>
        <c:dLbls>
          <c:numFmt formatCode="#,##0" sourceLinked="0"/>
          <c:txPr>
            <a:bodyPr/>
            <a:lstStyle/>
            <a:p>
              <a:pPr>
                <a:defRPr sz="1500" b="1"/>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500">
                <a:latin typeface="Noto Sans KR"/>
              </a:defRPr>
            </a:pPr>
          </a:p>
        </c:txPr>
        <c:crossAx val="2113994440"/>
        <c:crosses val="autoZero"/>
        <c:auto val="1"/>
        <c:lblAlgn val="ctr"/>
        <c:lblOffset val="100"/>
        <c:noMultiLvlLbl val="0"/>
      </c:catAx>
      <c:valAx>
        <c:axId val="2113994440"/>
        <c:scaling>
          <c:min val="0.0"/>
        </c:scaling>
        <c:delete val="0"/>
        <c:axPos val="l"/>
        <c:majorGridlines>
          <c:spPr>
            <a:ln>
              <a:solidFill>
                <a:srgbClr val="DEE4E8"/>
              </a:solidFill>
            </a:ln>
          </c:spPr>
        </c:majorGridlines>
        <c:majorTickMark val="out"/>
        <c:minorTickMark val="none"/>
        <c:tickLblPos val="nextTo"/>
        <c:txPr>
          <a:bodyPr/>
          <a:lstStyle/>
          <a:p>
            <a:pPr>
              <a:defRPr sz="1100"/>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c221e18921444c36"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24ae6f84cfdd4244" Type="http://schemas.openxmlformats.org/officeDocument/2006/relationships/notesMaster" Target="../notesMasters/notesMaster1.xml"/><Relationship Id="R88f0191c0919446c"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441d388ffb344ce3" Type="http://schemas.openxmlformats.org/officeDocument/2006/relationships/slide" Target="../slides/slide2.xml"/><Relationship Id="Ra78cbacf853a4d2c"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3ac37f364ddb4b5a" Type="http://schemas.openxmlformats.org/officeDocument/2006/relationships/notesMaster" Target="../notesMasters/notesMaster1.xml"/><Relationship Id="R533025fa502d4be3"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4df52324b55d4359" Type="http://schemas.openxmlformats.org/officeDocument/2006/relationships/slide" Target="../slides/slide6.xml"/><Relationship Id="Rc24a4727af3340de"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0f673709257246ec" Type="http://schemas.openxmlformats.org/officeDocument/2006/relationships/slide" Target="../slides/slide4.xml"/><Relationship Id="R8a8db54fee034818"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24a20545e0fc4e86" Type="http://schemas.openxmlformats.org/officeDocument/2006/relationships/slide" Target="../slides/slide9.xml"/><Relationship Id="Rfa2c23df5fe342e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990bca06bbea4ea5" Type="http://schemas.openxmlformats.org/officeDocument/2006/relationships/slide" Target="../slides/slide15.xml"/><Relationship Id="Rd1e7cf7dd1634167"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dataset:30170:1 | 한국관광 데이터랩 · 대전광역시 서구 순 방문자 수 및 숙박 비율 (이동통신 기반 외지인) | https://datalab.visitkorea.or.kr/</a:t>
            </a:r>
          </a:p>
          <a:p xmlns:a="http://schemas.openxmlformats.org/drawingml/2006/main">
            <a:r>
              <a:t>dataset:30170:2 | 한국관광 데이터랩 · 대전광역시 서구 월간 순 방문자 수 (이동통신 기반 외지인) | https://datalab.visitkorea.or.kr/</a:t>
            </a:r>
          </a:p>
          <a:p xmlns:a="http://schemas.openxmlformats.org/drawingml/2006/main">
            <a:r>
              <a:t>dataset:30170:3 | 한국관광 데이터랩 · 대전광역시 서구 관광소비 추이_외지인 | https://datalab.visitkorea.or.kr/</a:t>
            </a:r>
          </a:p>
          <a:p xmlns:a="http://schemas.openxmlformats.org/drawingml/2006/main">
            <a:r>
              <a:t>dataset:30170:4 | 한국관광 데이터랩 · 대전광역시 서구 숙박방문자 비율 추이 (이동통신 기반 외지인) | https://datalab.visitkorea.or.kr/</a:t>
            </a:r>
          </a:p>
          <a:p xmlns:a="http://schemas.openxmlformats.org/drawingml/2006/main">
            <a:r>
              <a:t>dataset:30170:5 | 한국관광 데이터랩 · 대전광역시 서구 평균 숙박일 (이동통신 기반 외지인) | https://datalab.visitkorea.or.kr/</a:t>
            </a:r>
          </a:p>
          <a:p xmlns:a="http://schemas.openxmlformats.org/drawingml/2006/main">
            <a:r>
              <a:t>dataset:30170:6 | 한국관광 데이터랩 · 대전광역시 서구 내비게이션 목적지 유형별 검색량 | https://datalab.visitkorea.or.kr/</a:t>
            </a:r>
          </a:p>
          <a:p xmlns:a="http://schemas.openxmlformats.org/drawingml/2006/main">
            <a:r>
              <a:t>dataset:30170:7 | 한국관광 데이터랩 · 대전광역시 서구 SNS 언급량 | https://datalab.visitkorea.or.kr/</a:t>
            </a:r>
          </a:p>
          <a:p xmlns:a="http://schemas.openxmlformats.org/drawingml/2006/main">
            <a:r>
              <a:t>datalab:12c41f8a3e52:f92921dca662 | 방문자/2025_01_12.zip | https://datalab.visitkorea.or.kr/</a:t>
            </a:r>
          </a:p>
          <a:p xmlns:a="http://schemas.openxmlformats.org/drawingml/2006/main">
            <a:r>
              <a:t>datalab:162285800b98:dbba3ac2e220 | 관광소비/2025_01_12.zip | https://datalab.visitkorea.or.kr/</a:t>
            </a:r>
          </a:p>
          <a:p xmlns:a="http://schemas.openxmlformats.org/drawingml/2006/main">
            <a:r>
              <a:t>datalab:1bec5b4405e1:6c5494eef7c6 | 숙박_체류시간/2025_01_12.zip | https://datalab.visitkorea.or.kr/</a:t>
            </a:r>
          </a:p>
          <a:p xmlns:a="http://schemas.openxmlformats.org/drawingml/2006/main">
            <a:r>
              <a:t>datalab:7a4db91d6ba9:d81294f3e5a0 | 관광소비/2026_01_06.zip | https://datalab.visitkorea.or.kr/</a:t>
            </a:r>
          </a:p>
          <a:p xmlns:a="http://schemas.openxmlformats.org/drawingml/2006/main">
            <a:r>
              <a:t>datalab:cc1dc8fb5607:77f3b69cfb89 | 방문자/2026_01_06.zip | https://datalab.visitkorea.or.kr/</a:t>
            </a:r>
          </a:p>
          <a:p xmlns:a="http://schemas.openxmlformats.org/drawingml/2006/main">
            <a:r>
              <a:t>datalab:e53d144382ee:fc025995a6df | 숙박_체류시간/2026_01_06.zip | https://datalab.visitkorea.or.kr/</a:t>
            </a:r>
          </a:p>
          <a:p xmlns:a="http://schemas.openxmlformats.org/drawingml/2006/main">
            <a:r>
              <a:t>team-bigdata:23ea68053684:6bfbcf8aabf6 | 이동통신/내국인/지역별 방문자수/20260820140607__202601-202606_데이터랩_다운로드.zip | https://datalab.visitkorea.or.kr/</a:t>
            </a:r>
          </a:p>
          <a:p xmlns:a="http://schemas.openxmlformats.org/drawingml/2006/main">
            <a:r>
              <a:t>team-bigdata:98d4ae590d9a:3be52dd54323 | 이동통신/외국인/20260820141710_전국_202601-202606_데이터랩_다운로드.zip | https://datalab.visitkorea.or.kr/</a:t>
            </a:r>
          </a:p>
          <a:p xmlns:a="http://schemas.openxmlformats.org/drawingml/2006/main">
            <a:r>
              <a:t>team-bigdata:367cd0294ec4:873930d645e5 | 신용카드/내국인/지역별 관광지출액/20260820140046__202601-202606_데이터랩_다운로드.zip | https://datalab.visitkorea.or.kr/</a:t>
            </a:r>
          </a:p>
          <a:p xmlns:a="http://schemas.openxmlformats.org/drawingml/2006/main">
            <a:r>
              <a:t>team-bigdata:553a0dad4bb4:5a31355dffe8 | 신용카드/외국인/지역별 관광지출액/20260820140355__202601-202606_데이터랩_다운로드.zip | https://datalab.visitkorea.or.kr/</a:t>
            </a:r>
          </a:p>
          <a:p xmlns:a="http://schemas.openxmlformats.org/drawingml/2006/main">
            <a:r>
              <a:t>team-bigdata:a53dbe1c21df:77a052de41d5 | 지역별 검색건수/20260820195507__202601-202606_데이터랩_다운로드.zip | https://datalab.visitkorea.or.kr/</a:t>
            </a:r>
          </a:p>
          <a:p xmlns:a="http://schemas.openxmlformats.org/drawingml/2006/main">
            <a:r>
              <a:t>team-bigdata:823a38d1d61c:5385261d02e5 | 이동통신/내국인/지역별 방문자수/20260820140614__202501-202512_데이터랩_다운로드.zip | https://datalab.visitkorea.or.kr/</a:t>
            </a:r>
          </a:p>
          <a:p xmlns:a="http://schemas.openxmlformats.org/drawingml/2006/main">
            <a:r>
              <a:t>team-bigdata:2723bdb0d589:1666a34058ed | 이동통신/외국인/20260820141649_전국_202501-202512_데이터랩_다운로드.zip | https://datalab.visitkorea.or.kr/</a:t>
            </a:r>
          </a:p>
          <a:p xmlns:a="http://schemas.openxmlformats.org/drawingml/2006/main">
            <a:r>
              <a:t>team-bigdata:83177a234971:c02cb7972e0f | 신용카드/내국인/지역별 관광지출액/20260820135957__202501-202512_데이터랩_다운로드.zip | https://datalab.visitkorea.or.kr/</a:t>
            </a:r>
          </a:p>
          <a:p xmlns:a="http://schemas.openxmlformats.org/drawingml/2006/main">
            <a:r>
              <a:t>team-bigdata:58ded7732251:589c76395cbc | 신용카드/외국인/지역별 관광지출액/20260820140409__202501-202512_데이터랩_다운로드.zip | https://datalab.visitkorea.or.kr/</a:t>
            </a:r>
          </a:p>
          <a:p xmlns:a="http://schemas.openxmlformats.org/drawingml/2006/main">
            <a:r>
              <a:t>team-bigdata:e28c947cb52f:bb4cb344a6ba | 지역별 검색건수/20260820132007__202501-202512_데이터랩_다운로드.zip | https://datalab.visitkorea.or.kr/</a:t>
            </a:r>
          </a:p>
          <a:p xmlns:a="http://schemas.openxmlformats.org/drawingml/2006/main">
            <a:r>
              <a:t>team-bigdata:8815bbb11a39:1a5988f5f8ec | 이동통신/내국인/지역별 방문자수/20260820140624__202401-202412_데이터랩_다운로드.zip | https://datalab.visitkorea.or.kr/</a:t>
            </a:r>
          </a:p>
          <a:p xmlns:a="http://schemas.openxmlformats.org/drawingml/2006/main">
            <a:r>
              <a:t>team-bigdata:19fd67fbb73d:afa4f0f54a2f | 이동통신/외국인/20260820141639_전국_202401-202412_데이터랩_다운로드.zip | https://datalab.visitkorea.or.kr/</a:t>
            </a:r>
          </a:p>
          <a:p xmlns:a="http://schemas.openxmlformats.org/drawingml/2006/main">
            <a:r>
              <a:t>regional-status:0c68fedc2071:0ad82310f803 | 한국관광 데이터랩 지역별 관광 현황 · 대전광역시 서구 · 지역집중률 | https://datalab.visitkorea.or.kr/</a:t>
            </a:r>
          </a:p>
          <a:p xmlns:a="http://schemas.openxmlformats.org/drawingml/2006/main">
            <a:r>
              <a:t>regional-status:4cddd6aa75d4:be8b01ec64e2 | 한국관광 데이터랩 지역별 관광 현황 · 대전광역시 서구 · 유입유출 | https://datalab.visitkorea.or.kr/</a:t>
            </a:r>
          </a:p>
          <a:p xmlns:a="http://schemas.openxmlformats.org/drawingml/2006/main">
            <a:r>
              <a:t>regional-status:8c9a813e95eb:5e0cc3f56b73 | 한국관광 데이터랩 지역별 관광 현황 · 대전광역시 서구 · 인기관광지 | https://datalab.visitkorea.or.kr/</a:t>
            </a:r>
          </a:p>
          <a:p xmlns:a="http://schemas.openxmlformats.org/drawingml/2006/main">
            <a:r>
              <a:t>ml:30170:regional-demand-v3.1:202606 | 지역 관광수요 ML 전망 · 공식 관측값 아님 | URL 미기록</a:t>
            </a:r>
          </a:p>
          <a:p xmlns:a="http://schemas.openxmlformats.org/drawingml/2006/main">
            <a:r>
              <a:t>tour-api:2899643 | 갈마짬뽕 | https://apis.data.go.kr/B551011/KorService2</a:t>
            </a:r>
          </a:p>
          <a:p xmlns:a="http://schemas.openxmlformats.org/drawingml/2006/main">
            <a:r>
              <a:t>tour-api:2899637 | 관저당 | https://apis.data.go.kr/B551011/KorService2</a:t>
            </a:r>
          </a:p>
          <a:p xmlns:a="http://schemas.openxmlformats.org/drawingml/2006/main">
            <a:r>
              <a:t>tour-api:1932079 | 굿모닝레지던스호텔휴 | https://apis.data.go.kr/B551011/KorService2</a:t>
            </a:r>
          </a:p>
          <a:p xmlns:a="http://schemas.openxmlformats.org/drawingml/2006/main">
            <a:r>
              <a:t>tour-api:133881 | 귀빈돌솥밥 | https://apis.data.go.kr/B551011/KorService2</a:t>
            </a:r>
          </a:p>
          <a:p xmlns:a="http://schemas.openxmlformats.org/drawingml/2006/main">
            <a:r>
              <a:t>tour-api:2758252 | 남선공원 | https://apis.data.go.kr/B551011/KorService2</a:t>
            </a:r>
          </a:p>
          <a:p xmlns:a="http://schemas.openxmlformats.org/drawingml/2006/main">
            <a:r>
              <a:t>tour-api:298208 | 내원사(대전) | https://apis.data.go.kr/B551011/KorService2</a:t>
            </a:r>
          </a:p>
          <a:p xmlns:a="http://schemas.openxmlformats.org/drawingml/2006/main">
            <a:r>
              <a:t>tour-api:3452550 | 노크노크 | https://apis.data.go.kr/B551011/KorService2</a:t>
            </a:r>
          </a:p>
          <a:p xmlns:a="http://schemas.openxmlformats.org/drawingml/2006/main">
            <a:r>
              <a:t>tour-api:2899585 | 대성콩국수 | https://apis.data.go.kr/B551011/KorService2</a:t>
            </a:r>
          </a:p>
          <a:p xmlns:a="http://schemas.openxmlformats.org/drawingml/2006/main">
            <a:r>
              <a:t>tour-api:130802 | 대전 가수원도서관 | https://apis.data.go.kr/B551011/KorService2</a:t>
            </a:r>
          </a:p>
          <a:p xmlns:a="http://schemas.openxmlformats.org/drawingml/2006/main">
            <a:r>
              <a:t>tour-api:2743325 | 대전광역시청 시민잔디광장 | https://apis.data.go.kr/B551011/KorService2</a:t>
            </a:r>
          </a:p>
          <a:p xmlns:a="http://schemas.openxmlformats.org/drawingml/2006/main">
            <a:r>
              <a:t>tour-api:130197 | 대전서구문화원 | https://apis.data.go.kr/B551011/KorService2</a:t>
            </a:r>
          </a:p>
          <a:p xmlns:a="http://schemas.openxmlformats.org/drawingml/2006/main">
            <a:r>
              <a:t>tour-api:2865847 | 델빠네 | https://apis.data.go.kr/B551011/KorService2</a:t>
            </a:r>
          </a:p>
          <a:p xmlns:a="http://schemas.openxmlformats.org/drawingml/2006/main">
            <a:r>
              <a:t>tour-api:2758334 | 도마큰시장 | https://apis.data.go.kr/B551011/KorService2</a:t>
            </a:r>
          </a:p>
          <a:p xmlns:a="http://schemas.openxmlformats.org/drawingml/2006/main">
            <a:r>
              <a:t>tour-api:1955818 | 도산서원(대전) | https://apis.data.go.kr/B551011/KorService2</a:t>
            </a:r>
          </a:p>
          <a:p xmlns:a="http://schemas.openxmlformats.org/drawingml/2006/main">
            <a:r>
              <a:t>tour-api:2758341 | 둔산꽃시장 | https://apis.data.go.kr/B551011/KorService2</a:t>
            </a:r>
          </a:p>
          <a:p xmlns:a="http://schemas.openxmlformats.org/drawingml/2006/main">
            <a:r>
              <a:t>tour-api:1623725 | 둔산전자타운 | https://apis.data.go.kr/B551011/KorService2</a:t>
            </a:r>
          </a:p>
          <a:p xmlns:a="http://schemas.openxmlformats.org/drawingml/2006/main">
            <a:r>
              <a:t>tour-api:132661 | 롯데백화점 (대전점) | https://apis.data.go.kr/B551011/KorService2</a:t>
            </a:r>
          </a:p>
          <a:p xmlns:a="http://schemas.openxmlformats.org/drawingml/2006/main">
            <a:r>
              <a:t>tour-api:2758646 | 마치광장 | https://apis.data.go.kr/B551011/KorService2</a:t>
            </a:r>
          </a:p>
          <a:p xmlns:a="http://schemas.openxmlformats.org/drawingml/2006/main">
            <a:r>
              <a:t>tour-api:2899544 | 몽뜨 | https://apis.data.go.kr/B551011/KorService2</a:t>
            </a:r>
          </a:p>
          <a:p xmlns:a="http://schemas.openxmlformats.org/drawingml/2006/main">
            <a:r>
              <a:t>tour-api:2865914 | 미세노센세 | https://apis.data.go.kr/B551011/KorService2</a:t>
            </a:r>
          </a:p>
          <a:p xmlns:a="http://schemas.openxmlformats.org/drawingml/2006/main">
            <a:r>
              <a:t>reference:kto:2026:local-airport | 요즘, 한국관광 2호 - 지방공항 연계 지역관광 활성화 방안 | PDF 44쪽, PDF 40쪽, PDF 41쪽, PDF 41쪽, PDF 43쪽 | https://datalab.visitkorea.or.kr/site/portal/ex/bbs/View.do?bcIdx=311068&amp;cbIdx=1135&amp;pageIndex=1</a:t>
            </a:r>
          </a:p>
          <a:p xmlns:a="http://schemas.openxmlformats.org/drawingml/2006/main">
            <a:r>
              <a:t>web:30170:1 | 한밭수목원 | 열린관광 모두의 여행 | https://access.visitkorea.or.kr/ms/detail.do?cotId=81cc7479-c010-4bdd-9a29-3121bb578cb8</a:t>
            </a:r>
          </a:p>
          <a:p xmlns:a="http://schemas.openxmlformats.org/drawingml/2006/main">
            <a:r>
              <a:t>web:30170:2 | Hanbat Arboretum (한밭수목원) - VISITKOREA | https://english.visitkorea.or.kr/svc/contents/contentsView.do?vcontsId=82059</a:t>
            </a:r>
          </a:p>
          <a:p xmlns:a="http://schemas.openxmlformats.org/drawingml/2006/main">
            <a:r>
              <a:t>web:30170:3 | 대전예술의전당 | 열린관광 모두의 여행 | https://access.visitkorea.or.kr/ms/detail.do?cotId=af31b729-4eda-469b-b4cc-73ea3a1c8028</a:t>
            </a:r>
          </a:p>
          <a:p xmlns:a="http://schemas.openxmlformats.org/drawingml/2006/main">
            <a:r>
              <a:t>web:30170:4 | 한민시장 | 열린관광 모두의 여행 | https://access.visitkorea.or.kr/ms/detail.do?cotId=72bba786-e15a-478a-bc99-c9d15ff27727</a:t>
            </a:r>
          </a:p>
          <a:p xmlns:a="http://schemas.openxmlformats.org/drawingml/2006/main">
            <a:r>
              <a:t>web:30170:5 | 장태산자연휴양림 - VISITKOREA | https://japanese.visitkorea.or.kr/svc/contents/contentsView.do?vcontsId=76300</a:t>
            </a:r>
          </a:p>
          <a:p xmlns:a="http://schemas.openxmlformats.org/drawingml/2006/main">
            <a:r>
              <a:t>web:30170:6 | 여유롭고 안전한 오늘의 여행법 비대면(언택트) 관광지 100선 | https://korean.visitkorea.or.kr/detail/rem_detail.do?cotid=351f6cf4-d984-496f-886d-6fc538b226a7</a:t>
            </a:r>
          </a:p>
          <a:p xmlns:a="http://schemas.openxmlformats.org/drawingml/2006/main">
            <a:r>
              <a:t>case:41508ca81cf29f | 한국관광 데이터랩 · 안동탈춤축제 방문자 추이 | https://datalab.visitkorea.or.kr/</a:t>
            </a:r>
          </a:p>
          <a:p xmlns:a="http://schemas.openxmlformats.org/drawingml/2006/main">
            <a:r>
              <a:t>case:festival:01474ef75569b1 | 한국관광 데이터랩 · 문경찻사발축제 방문자 추이 | https://datalab.visitkorea.or.kr/</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case:4544b7bca8ebab | 요즘, 한국관광 2호 - 지방공항 연계 지역관광 활성화 방안 | https://datalab.visitkorea.or.kr/site/portal/ex/bbs/View.do?bcIdx=311068&amp;cbIdx=1135&amp;pageIndex=1</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case:festival:1ff9d11d3ee0ee | 한국관광 데이터랩 · 진도신비의바닷길축제 방문자 추이 | https://datalab.visitkorea.or.kr/</a:t>
            </a:r>
          </a:p>
          <a:p xmlns:a="http://schemas.openxmlformats.org/drawingml/2006/main">
            <a:r>
              <a:t>case:festival:1ffc3eec28956a | 한국관광 데이터랩 · 통영한산대첩축제 방문자 추이 | https://datalab.visitkorea.or.kr/</a:t>
            </a:r>
          </a:p>
          <a:p xmlns:a="http://schemas.openxmlformats.org/drawingml/2006/main">
            <a:r>
              <a:t>[/Sources]</a:t>
            </a:r>
          </a:p>
          <a:p xmlns:a="http://schemas.openxmlformats.org/drawingml/2006/main">
            <a:r>
              <a:t>표지 사진 출처: {"source_id": "tour-api:1955818", "source_type": "open_api", "title": "도산서원(대전)", "source_url": "https://apis.data.go.kr/B551011/KorService2", "content_id": "1955818", "content_type_id": "12", "address": "대전광역시 서구 남선로 8", "image_url": "http://tong.visitkorea.or.kr/cms/resource/24/3035024_image2_1.JPG", "summary": "한국관광공사 국문관광정보 API가 반환한 선택 지역 관광자원"}</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dataset:30170:1 | 한국관광 데이터랩 · 대전광역시 서구 순 방문자 수 및 숙박 비율 (이동통신 기반 외지인) | https://datalab.visitkorea.or.kr/</a:t>
            </a:r>
          </a:p>
          <a:p xmlns:a="http://schemas.openxmlformats.org/drawingml/2006/main">
            <a:r>
              <a:t>dataset:30170:2 | 한국관광 데이터랩 · 대전광역시 서구 월간 순 방문자 수 (이동통신 기반 외지인) | https://datalab.visitkorea.or.kr/</a:t>
            </a:r>
          </a:p>
          <a:p xmlns:a="http://schemas.openxmlformats.org/drawingml/2006/main">
            <a:r>
              <a:t>dataset:30170:3 | 한국관광 데이터랩 · 대전광역시 서구 관광소비 추이_외지인 | https://datalab.visitkorea.or.kr/</a:t>
            </a:r>
          </a:p>
          <a:p xmlns:a="http://schemas.openxmlformats.org/drawingml/2006/main">
            <a:r>
              <a:t>dataset:30170:4 | 한국관광 데이터랩 · 대전광역시 서구 숙박방문자 비율 추이 (이동통신 기반 외지인) | https://datalab.visitkorea.or.kr/</a:t>
            </a:r>
          </a:p>
          <a:p xmlns:a="http://schemas.openxmlformats.org/drawingml/2006/main">
            <a:r>
              <a:t>dataset:30170:5 | 한국관광 데이터랩 · 대전광역시 서구 평균 숙박일 (이동통신 기반 외지인) | https://datalab.visitkorea.or.kr/</a:t>
            </a:r>
          </a:p>
          <a:p xmlns:a="http://schemas.openxmlformats.org/drawingml/2006/main">
            <a:r>
              <a:t>dataset:30170:6 | 한국관광 데이터랩 · 대전광역시 서구 내비게이션 목적지 유형별 검색량 | https://datalab.visitkorea.or.kr/</a:t>
            </a:r>
          </a:p>
          <a:p xmlns:a="http://schemas.openxmlformats.org/drawingml/2006/main">
            <a:r>
              <a:t>dataset:30170:7 | 한국관광 데이터랩 · 대전광역시 서구 SNS 언급량 | https://datalab.visitkorea.or.kr/</a:t>
            </a:r>
          </a:p>
          <a:p xmlns:a="http://schemas.openxmlformats.org/drawingml/2006/main">
            <a:r>
              <a:t>datalab:12c41f8a3e52:f92921dca662 | 방문자/2025_01_12.zip | https://datalab.visitkorea.or.kr/</a:t>
            </a:r>
          </a:p>
          <a:p xmlns:a="http://schemas.openxmlformats.org/drawingml/2006/main">
            <a:r>
              <a:t>datalab:162285800b98:dbba3ac2e220 | 관광소비/2025_01_12.zip | https://datalab.visitkorea.or.kr/</a:t>
            </a:r>
          </a:p>
          <a:p xmlns:a="http://schemas.openxmlformats.org/drawingml/2006/main">
            <a:r>
              <a:t>datalab:1bec5b4405e1:6c5494eef7c6 | 숙박_체류시간/2025_01_12.zip | https://datalab.visitkorea.or.kr/</a:t>
            </a:r>
          </a:p>
          <a:p xmlns:a="http://schemas.openxmlformats.org/drawingml/2006/main">
            <a:r>
              <a:t>datalab:7a4db91d6ba9:d81294f3e5a0 | 관광소비/2026_01_06.zip | https://datalab.visitkorea.or.kr/</a:t>
            </a:r>
          </a:p>
          <a:p xmlns:a="http://schemas.openxmlformats.org/drawingml/2006/main">
            <a:r>
              <a:t>datalab:cc1dc8fb5607:77f3b69cfb89 | 방문자/2026_01_06.zip | https://datalab.visitkorea.or.kr/</a:t>
            </a:r>
          </a:p>
          <a:p xmlns:a="http://schemas.openxmlformats.org/drawingml/2006/main">
            <a:r>
              <a:t>datalab:e53d144382ee:fc025995a6df | 숙박_체류시간/2026_01_06.zip | https://datalab.visitkorea.or.kr/</a:t>
            </a:r>
          </a:p>
          <a:p xmlns:a="http://schemas.openxmlformats.org/drawingml/2006/main">
            <a:r>
              <a:t>team-bigdata:23ea68053684:6bfbcf8aabf6 | 이동통신/내국인/지역별 방문자수/20260820140607__202601-202606_데이터랩_다운로드.zip | https://datalab.visitkorea.or.kr/</a:t>
            </a:r>
          </a:p>
          <a:p xmlns:a="http://schemas.openxmlformats.org/drawingml/2006/main">
            <a:r>
              <a:t>team-bigdata:98d4ae590d9a:3be52dd54323 | 이동통신/외국인/20260820141710_전국_202601-202606_데이터랩_다운로드.zip | https://datalab.visitkorea.or.kr/</a:t>
            </a:r>
          </a:p>
          <a:p xmlns:a="http://schemas.openxmlformats.org/drawingml/2006/main">
            <a:r>
              <a:t>team-bigdata:367cd0294ec4:873930d645e5 | 신용카드/내국인/지역별 관광지출액/20260820140046__202601-202606_데이터랩_다운로드.zip | https://datalab.visitkorea.or.kr/</a:t>
            </a:r>
          </a:p>
          <a:p xmlns:a="http://schemas.openxmlformats.org/drawingml/2006/main">
            <a:r>
              <a:t>team-bigdata:553a0dad4bb4:5a31355dffe8 | 신용카드/외국인/지역별 관광지출액/20260820140355__202601-202606_데이터랩_다운로드.zip | https://datalab.visitkorea.or.kr/</a:t>
            </a:r>
          </a:p>
          <a:p xmlns:a="http://schemas.openxmlformats.org/drawingml/2006/main">
            <a:r>
              <a:t>team-bigdata:a53dbe1c21df:77a052de41d5 | 지역별 검색건수/20260820195507__202601-202606_데이터랩_다운로드.zip | https://datalab.visitkorea.or.kr/</a:t>
            </a:r>
          </a:p>
          <a:p xmlns:a="http://schemas.openxmlformats.org/drawingml/2006/main">
            <a:r>
              <a:t>team-bigdata:823a38d1d61c:5385261d02e5 | 이동통신/내국인/지역별 방문자수/20260820140614__202501-202512_데이터랩_다운로드.zip | https://datalab.visitkorea.or.kr/</a:t>
            </a:r>
          </a:p>
          <a:p xmlns:a="http://schemas.openxmlformats.org/drawingml/2006/main">
            <a:r>
              <a:t>team-bigdata:2723bdb0d589:1666a34058ed | 이동통신/외국인/20260820141649_전국_202501-202512_데이터랩_다운로드.zip | https://datalab.visitkorea.or.kr/</a:t>
            </a:r>
          </a:p>
          <a:p xmlns:a="http://schemas.openxmlformats.org/drawingml/2006/main">
            <a:r>
              <a:t>team-bigdata:83177a234971:c02cb7972e0f | 신용카드/내국인/지역별 관광지출액/20260820135957__202501-202512_데이터랩_다운로드.zip | https://datalab.visitkorea.or.kr/</a:t>
            </a:r>
          </a:p>
          <a:p xmlns:a="http://schemas.openxmlformats.org/drawingml/2006/main">
            <a:r>
              <a:t>team-bigdata:58ded7732251:589c76395cbc | 신용카드/외국인/지역별 관광지출액/20260820140409__202501-202512_데이터랩_다운로드.zip | https://datalab.visitkorea.or.kr/</a:t>
            </a:r>
          </a:p>
          <a:p xmlns:a="http://schemas.openxmlformats.org/drawingml/2006/main">
            <a:r>
              <a:t>team-bigdata:e28c947cb52f:bb4cb344a6ba | 지역별 검색건수/20260820132007__202501-202512_데이터랩_다운로드.zip | https://datalab.visitkorea.or.kr/</a:t>
            </a:r>
          </a:p>
          <a:p xmlns:a="http://schemas.openxmlformats.org/drawingml/2006/main">
            <a:r>
              <a:t>team-bigdata:8815bbb11a39:1a5988f5f8ec | 이동통신/내국인/지역별 방문자수/20260820140624__202401-202412_데이터랩_다운로드.zip | https://datalab.visitkorea.or.kr/</a:t>
            </a:r>
          </a:p>
          <a:p xmlns:a="http://schemas.openxmlformats.org/drawingml/2006/main">
            <a:r>
              <a:t>team-bigdata:19fd67fbb73d:afa4f0f54a2f | 이동통신/외국인/20260820141639_전국_202401-202412_데이터랩_다운로드.zip | https://datalab.visitkorea.or.kr/</a:t>
            </a:r>
          </a:p>
          <a:p xmlns:a="http://schemas.openxmlformats.org/drawingml/2006/main">
            <a:r>
              <a:t>regional-status:0c68fedc2071:0ad82310f803 | 한국관광 데이터랩 지역별 관광 현황 · 대전광역시 서구 · 지역집중률 | https://datalab.visitkorea.or.kr/</a:t>
            </a:r>
          </a:p>
          <a:p xmlns:a="http://schemas.openxmlformats.org/drawingml/2006/main">
            <a:r>
              <a:t>regional-status:4cddd6aa75d4:be8b01ec64e2 | 한국관광 데이터랩 지역별 관광 현황 · 대전광역시 서구 · 유입유출 | https://datalab.visitkorea.or.kr/</a:t>
            </a:r>
          </a:p>
          <a:p xmlns:a="http://schemas.openxmlformats.org/drawingml/2006/main">
            <a:r>
              <a:t>regional-status:8c9a813e95eb:5e0cc3f56b73 | 한국관광 데이터랩 지역별 관광 현황 · 대전광역시 서구 · 인기관광지 | https://datalab.visitkorea.or.kr/</a:t>
            </a:r>
          </a:p>
          <a:p xmlns:a="http://schemas.openxmlformats.org/drawingml/2006/main">
            <a:r>
              <a:t>ml:30170:regional-demand-v3.1:202606 | 지역 관광수요 ML 전망 · 공식 관측값 아님 | URL 미기록</a:t>
            </a:r>
          </a:p>
          <a:p xmlns:a="http://schemas.openxmlformats.org/drawingml/2006/main">
            <a:r>
              <a:t>tour-api:2899643 | 갈마짬뽕 | https://apis.data.go.kr/B551011/KorService2</a:t>
            </a:r>
          </a:p>
          <a:p xmlns:a="http://schemas.openxmlformats.org/drawingml/2006/main">
            <a:r>
              <a:t>tour-api:2899637 | 관저당 | https://apis.data.go.kr/B551011/KorService2</a:t>
            </a:r>
          </a:p>
          <a:p xmlns:a="http://schemas.openxmlformats.org/drawingml/2006/main">
            <a:r>
              <a:t>tour-api:1932079 | 굿모닝레지던스호텔휴 | https://apis.data.go.kr/B551011/KorService2</a:t>
            </a:r>
          </a:p>
          <a:p xmlns:a="http://schemas.openxmlformats.org/drawingml/2006/main">
            <a:r>
              <a:t>tour-api:133881 | 귀빈돌솥밥 | https://apis.data.go.kr/B551011/KorService2</a:t>
            </a:r>
          </a:p>
          <a:p xmlns:a="http://schemas.openxmlformats.org/drawingml/2006/main">
            <a:r>
              <a:t>tour-api:2758252 | 남선공원 | https://apis.data.go.kr/B551011/KorService2</a:t>
            </a:r>
          </a:p>
          <a:p xmlns:a="http://schemas.openxmlformats.org/drawingml/2006/main">
            <a:r>
              <a:t>tour-api:298208 | 내원사(대전) | https://apis.data.go.kr/B551011/KorService2</a:t>
            </a:r>
          </a:p>
          <a:p xmlns:a="http://schemas.openxmlformats.org/drawingml/2006/main">
            <a:r>
              <a:t>tour-api:3452550 | 노크노크 | https://apis.data.go.kr/B551011/KorService2</a:t>
            </a:r>
          </a:p>
          <a:p xmlns:a="http://schemas.openxmlformats.org/drawingml/2006/main">
            <a:r>
              <a:t>tour-api:2899585 | 대성콩국수 | https://apis.data.go.kr/B551011/KorService2</a:t>
            </a:r>
          </a:p>
          <a:p xmlns:a="http://schemas.openxmlformats.org/drawingml/2006/main">
            <a:r>
              <a:t>tour-api:130802 | 대전 가수원도서관 | https://apis.data.go.kr/B551011/KorService2</a:t>
            </a:r>
          </a:p>
          <a:p xmlns:a="http://schemas.openxmlformats.org/drawingml/2006/main">
            <a:r>
              <a:t>tour-api:2743325 | 대전광역시청 시민잔디광장 | https://apis.data.go.kr/B551011/KorService2</a:t>
            </a:r>
          </a:p>
          <a:p xmlns:a="http://schemas.openxmlformats.org/drawingml/2006/main">
            <a:r>
              <a:t>tour-api:130197 | 대전서구문화원 | https://apis.data.go.kr/B551011/KorService2</a:t>
            </a:r>
          </a:p>
          <a:p xmlns:a="http://schemas.openxmlformats.org/drawingml/2006/main">
            <a:r>
              <a:t>tour-api:2865847 | 델빠네 | https://apis.data.go.kr/B551011/KorService2</a:t>
            </a:r>
          </a:p>
          <a:p xmlns:a="http://schemas.openxmlformats.org/drawingml/2006/main">
            <a:r>
              <a:t>tour-api:2758334 | 도마큰시장 | https://apis.data.go.kr/B551011/KorService2</a:t>
            </a:r>
          </a:p>
          <a:p xmlns:a="http://schemas.openxmlformats.org/drawingml/2006/main">
            <a:r>
              <a:t>tour-api:1955818 | 도산서원(대전) | https://apis.data.go.kr/B551011/KorService2</a:t>
            </a:r>
          </a:p>
          <a:p xmlns:a="http://schemas.openxmlformats.org/drawingml/2006/main">
            <a:r>
              <a:t>tour-api:2758341 | 둔산꽃시장 | https://apis.data.go.kr/B551011/KorService2</a:t>
            </a:r>
          </a:p>
          <a:p xmlns:a="http://schemas.openxmlformats.org/drawingml/2006/main">
            <a:r>
              <a:t>tour-api:1623725 | 둔산전자타운 | https://apis.data.go.kr/B551011/KorService2</a:t>
            </a:r>
          </a:p>
          <a:p xmlns:a="http://schemas.openxmlformats.org/drawingml/2006/main">
            <a:r>
              <a:t>tour-api:132661 | 롯데백화점 (대전점) | https://apis.data.go.kr/B551011/KorService2</a:t>
            </a:r>
          </a:p>
          <a:p xmlns:a="http://schemas.openxmlformats.org/drawingml/2006/main">
            <a:r>
              <a:t>tour-api:2758646 | 마치광장 | https://apis.data.go.kr/B551011/KorService2</a:t>
            </a:r>
          </a:p>
          <a:p xmlns:a="http://schemas.openxmlformats.org/drawingml/2006/main">
            <a:r>
              <a:t>tour-api:2899544 | 몽뜨 | https://apis.data.go.kr/B551011/KorService2</a:t>
            </a:r>
          </a:p>
          <a:p xmlns:a="http://schemas.openxmlformats.org/drawingml/2006/main">
            <a:r>
              <a:t>tour-api:2865914 | 미세노센세 | https://apis.data.go.kr/B551011/KorService2</a:t>
            </a:r>
          </a:p>
          <a:p xmlns:a="http://schemas.openxmlformats.org/drawingml/2006/main">
            <a:r>
              <a:t>reference:kto:2026:local-airport | 요즘, 한국관광 2호 - 지방공항 연계 지역관광 활성화 방안 | PDF 44쪽, PDF 40쪽, PDF 41쪽, PDF 41쪽, PDF 43쪽 | https://datalab.visitkorea.or.kr/site/portal/ex/bbs/View.do?bcIdx=311068&amp;cbIdx=1135&amp;pageIndex=1</a:t>
            </a:r>
          </a:p>
          <a:p xmlns:a="http://schemas.openxmlformats.org/drawingml/2006/main">
            <a:r>
              <a:t>web:30170:1 | 한밭수목원 | 열린관광 모두의 여행 | https://access.visitkorea.or.kr/ms/detail.do?cotId=81cc7479-c010-4bdd-9a29-3121bb578cb8</a:t>
            </a:r>
          </a:p>
          <a:p xmlns:a="http://schemas.openxmlformats.org/drawingml/2006/main">
            <a:r>
              <a:t>web:30170:2 | Hanbat Arboretum (한밭수목원) - VISITKOREA | https://english.visitkorea.or.kr/svc/contents/contentsView.do?vcontsId=82059</a:t>
            </a:r>
          </a:p>
          <a:p xmlns:a="http://schemas.openxmlformats.org/drawingml/2006/main">
            <a:r>
              <a:t>web:30170:3 | 대전예술의전당 | 열린관광 모두의 여행 | https://access.visitkorea.or.kr/ms/detail.do?cotId=af31b729-4eda-469b-b4cc-73ea3a1c8028</a:t>
            </a:r>
          </a:p>
          <a:p xmlns:a="http://schemas.openxmlformats.org/drawingml/2006/main">
            <a:r>
              <a:t>web:30170:4 | 한민시장 | 열린관광 모두의 여행 | https://access.visitkorea.or.kr/ms/detail.do?cotId=72bba786-e15a-478a-bc99-c9d15ff27727</a:t>
            </a:r>
          </a:p>
          <a:p xmlns:a="http://schemas.openxmlformats.org/drawingml/2006/main">
            <a:r>
              <a:t>web:30170:5 | 장태산자연휴양림 - VISITKOREA | https://japanese.visitkorea.or.kr/svc/contents/contentsView.do?vcontsId=76300</a:t>
            </a:r>
          </a:p>
          <a:p xmlns:a="http://schemas.openxmlformats.org/drawingml/2006/main">
            <a:r>
              <a:t>web:30170:6 | 여유롭고 안전한 오늘의 여행법 비대면(언택트) 관광지 100선 | https://korean.visitkorea.or.kr/detail/rem_detail.do?cotid=351f6cf4-d984-496f-886d-6fc538b226a7</a:t>
            </a:r>
          </a:p>
          <a:p xmlns:a="http://schemas.openxmlformats.org/drawingml/2006/main">
            <a:r>
              <a:t>case:41508ca81cf29f | 한국관광 데이터랩 · 안동탈춤축제 방문자 추이 | https://datalab.visitkorea.or.kr/</a:t>
            </a:r>
          </a:p>
          <a:p xmlns:a="http://schemas.openxmlformats.org/drawingml/2006/main">
            <a:r>
              <a:t>case:festival:01474ef75569b1 | 한국관광 데이터랩 · 문경찻사발축제 방문자 추이 | https://datalab.visitkorea.or.kr/</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case:4544b7bca8ebab | 요즘, 한국관광 2호 - 지방공항 연계 지역관광 활성화 방안 | https://datalab.visitkorea.or.kr/site/portal/ex/bbs/View.do?bcIdx=311068&amp;cbIdx=1135&amp;pageIndex=1</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case:festival:1ff9d11d3ee0ee | 한국관광 데이터랩 · 진도신비의바닷길축제 방문자 추이 | https://datalab.visitkorea.or.kr/</a:t>
            </a:r>
          </a:p>
          <a:p xmlns:a="http://schemas.openxmlformats.org/drawingml/2006/main">
            <a:r>
              <a:t>case:festival:1ffc3eec28956a | 한국관광 데이터랩 · 통영한산대첩축제 방문자 추이 | https://datalab.visitkorea.or.kr/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"comparison": {</a:t>
            </a:r>
          </a:p>
          <a:p xmlns:a="http://schemas.openxmlformats.org/drawingml/2006/main">
            <a:r>
              <a:t>    "count": 249,</a:t>
            </a:r>
          </a:p>
          <a:p xmlns:a="http://schemas.openxmlformats.org/drawingml/2006/main">
            <a:r>
              <a:t>    "months": [</a:t>
            </a:r>
          </a:p>
          <a:p xmlns:a="http://schemas.openxmlformats.org/drawingml/2006/main">
            <a:r>
              <a:t>      "202610",</a:t>
            </a:r>
          </a:p>
          <a:p xmlns:a="http://schemas.openxmlformats.org/drawingml/2006/main">
            <a:r>
              <a:t>      "202611",</a:t>
            </a:r>
          </a:p>
          <a:p xmlns:a="http://schemas.openxmlformats.org/drawingml/2006/main">
            <a:r>
              <a:t>      "202612"</a:t>
            </a:r>
          </a:p>
          <a:p xmlns:a="http://schemas.openxmlformats.org/drawingml/2006/main">
            <a:r>
              <a:t>    ],</a:t>
            </a:r>
          </a:p>
          <a:p xmlns:a="http://schemas.openxmlformats.org/drawingml/2006/main">
            <a:r>
              <a:t>    "origin": "202606",</a:t>
            </a:r>
          </a:p>
          <a:p xmlns:a="http://schemas.openxmlformats.org/drawingml/2006/main">
            <a:r>
              <a:t>    "signature": "2a35a8f6f8ef70b97e33e89bf2f4acd874752220ed520b852868587f35b8232f",</a:t>
            </a:r>
          </a:p>
          <a:p xmlns:a="http://schemas.openxmlformats.org/drawingml/2006/main">
            <a:r>
              <a:t>    "region_code": "30170",</a:t>
            </a:r>
          </a:p>
          <a:p xmlns:a="http://schemas.openxmlformats.org/drawingml/2006/main">
            <a:r>
              <a:t>    "metrics": {</a:t>
            </a:r>
          </a:p>
          <a:p xmlns:a="http://schemas.openxmlformats.org/drawingml/2006/main">
            <a:r>
              <a:t>      "visitors": {</a:t>
            </a:r>
          </a:p>
          <a:p xmlns:a="http://schemas.openxmlformats.org/drawingml/2006/main">
            <a:r>
              <a:t>        "forecast": [</a:t>
            </a:r>
          </a:p>
          <a:p xmlns:a="http://schemas.openxmlformats.org/drawingml/2006/main">
            <a:r>
              <a:t>          4998578,</a:t>
            </a:r>
          </a:p>
          <a:p xmlns:a="http://schemas.openxmlformats.org/drawingml/2006/main">
            <a:r>
              <a:t>          4940348,</a:t>
            </a:r>
          </a:p>
          <a:p xmlns:a="http://schemas.openxmlformats.org/drawingml/2006/main">
            <a:r>
              <a:t>          4989633</a:t>
            </a:r>
          </a:p>
          <a:p xmlns:a="http://schemas.openxmlformats.org/drawingml/2006/main">
            <a:r>
              <a:t>        ],</a:t>
            </a:r>
          </a:p>
          <a:p xmlns:a="http://schemas.openxmlformats.org/drawingml/2006/main">
            <a:r>
              <a:t>        "previous": [</a:t>
            </a:r>
          </a:p>
          <a:p xmlns:a="http://schemas.openxmlformats.org/drawingml/2006/main">
            <a:r>
              <a:t>          4949394.0,</a:t>
            </a:r>
          </a:p>
          <a:p xmlns:a="http://schemas.openxmlformats.org/drawingml/2006/main">
            <a:r>
              <a:t>          5167969.0,</a:t>
            </a:r>
          </a:p>
          <a:p xmlns:a="http://schemas.openxmlformats.org/drawingml/2006/main">
            <a:r>
              <a:t>          5079597.0</a:t>
            </a:r>
          </a:p>
          <a:p xmlns:a="http://schemas.openxmlformats.org/drawingml/2006/main">
            <a:r>
              <a:t>        ],</a:t>
            </a:r>
          </a:p>
          <a:p xmlns:a="http://schemas.openxmlformats.org/drawingml/2006/main">
            <a:r>
              <a:t>        "growth_pct": -1.766149282488072,</a:t>
            </a:r>
          </a:p>
          <a:p xmlns:a="http://schemas.openxmlformats.org/drawingml/2006/main">
            <a:r>
              <a:t>        "national_mean_pct": -0.394766937691683,</a:t>
            </a:r>
          </a:p>
          <a:p xmlns:a="http://schemas.openxmlformats.org/drawingml/2006/main">
            <a:r>
              <a:t>        "gap_pp": -1.371382344796389,</a:t>
            </a:r>
          </a:p>
          <a:p xmlns:a="http://schemas.openxmlformats.org/drawingml/2006/main">
            <a:r>
              <a:t>        "rank": 185,</a:t>
            </a:r>
          </a:p>
          <a:p xmlns:a="http://schemas.openxmlformats.org/drawingml/2006/main">
            <a:r>
              <a:t>        "target_growth_pct": -1.7434078921047313,</a:t>
            </a:r>
          </a:p>
          <a:p xmlns:a="http://schemas.openxmlformats.org/drawingml/2006/main">
            <a:r>
              <a:t>        "target_rank": 185,</a:t>
            </a:r>
          </a:p>
          <a:p xmlns:a="http://schemas.openxmlformats.org/drawingml/2006/main">
            <a:r>
              <a:t>        "target": [</a:t>
            </a:r>
          </a:p>
          <a:p xmlns:a="http://schemas.openxmlformats.org/drawingml/2006/main">
            <a:r>
              <a:t>          4999156.765258698,</a:t>
            </a:r>
          </a:p>
          <a:p xmlns:a="http://schemas.openxmlformats.org/drawingml/2006/main">
            <a:r>
              <a:t>          4941492.046082016,</a:t>
            </a:r>
          </a:p>
          <a:p xmlns:a="http://schemas.openxmlformats.org/drawingml/2006/main">
            <a:r>
              <a:t>          4991366.188659285</a:t>
            </a:r>
          </a:p>
          <a:p xmlns:a="http://schemas.openxmlformats.org/drawingml/2006/main">
            <a:r>
              <a:t>        ],</a:t>
            </a:r>
          </a:p>
          <a:p xmlns:a="http://schemas.openxmlformats.org/drawingml/2006/main">
            <a:r>
              <a:t>        "additional": 3456.0</a:t>
            </a:r>
          </a:p>
          <a:p xmlns:a="http://schemas.openxmlformats.org/drawingml/2006/main">
            <a:r>
              <a:t>      },</a:t>
            </a:r>
          </a:p>
          <a:p xmlns:a="http://schemas.openxmlformats.org/drawingml/2006/main">
            <a:r>
              <a:t>      "spending": {</a:t>
            </a:r>
          </a:p>
          <a:p xmlns:a="http://schemas.openxmlformats.org/drawingml/2006/main">
            <a:r>
              <a:t>        "forecast": [</a:t>
            </a:r>
          </a:p>
          <a:p xmlns:a="http://schemas.openxmlformats.org/drawingml/2006/main">
            <a:r>
              <a:t>          79359374710,</a:t>
            </a:r>
          </a:p>
          <a:p xmlns:a="http://schemas.openxmlformats.org/drawingml/2006/main">
            <a:r>
              <a:t>          85971975908,</a:t>
            </a:r>
          </a:p>
          <a:p xmlns:a="http://schemas.openxmlformats.org/drawingml/2006/main">
            <a:r>
              <a:t>          81033922052</a:t>
            </a:r>
          </a:p>
          <a:p xmlns:a="http://schemas.openxmlformats.org/drawingml/2006/main">
            <a:r>
              <a:t>        ],</a:t>
            </a:r>
          </a:p>
          <a:p xmlns:a="http://schemas.openxmlformats.org/drawingml/2006/main">
            <a:r>
              <a:t>        "previous": [</a:t>
            </a:r>
          </a:p>
          <a:p xmlns:a="http://schemas.openxmlformats.org/drawingml/2006/main">
            <a:r>
              <a:t>          78158272000.0,</a:t>
            </a:r>
          </a:p>
          <a:p xmlns:a="http://schemas.openxmlformats.org/drawingml/2006/main">
            <a:r>
              <a:t>          76509918000.0,</a:t>
            </a:r>
          </a:p>
          <a:p xmlns:a="http://schemas.openxmlformats.org/drawingml/2006/main">
            <a:r>
              <a:t>          81119852000.0</a:t>
            </a:r>
          </a:p>
          <a:p xmlns:a="http://schemas.openxmlformats.org/drawingml/2006/main">
            <a:r>
              <a:t>        ],</a:t>
            </a:r>
          </a:p>
          <a:p xmlns:a="http://schemas.openxmlformats.org/drawingml/2006/main">
            <a:r>
              <a:t>        "growth_pct": 4.485906316657062,</a:t>
            </a:r>
          </a:p>
          <a:p xmlns:a="http://schemas.openxmlformats.org/drawingml/2006/main">
            <a:r>
              <a:t>        "national_mean_pct": 6.640909128955906,</a:t>
            </a:r>
          </a:p>
          <a:p xmlns:a="http://schemas.openxmlformats.org/drawingml/2006/main">
            <a:r>
              <a:t>        "gap_pp": -2.155002812298844,</a:t>
            </a:r>
          </a:p>
          <a:p xmlns:a="http://schemas.openxmlformats.org/drawingml/2006/main">
            <a:r>
              <a:t>        "rank": 60,</a:t>
            </a:r>
          </a:p>
          <a:p xmlns:a="http://schemas.openxmlformats.org/drawingml/2006/main">
            <a:r>
              <a:t>        "target_growth_pct": 4.538315291239403,</a:t>
            </a:r>
          </a:p>
          <a:p xmlns:a="http://schemas.openxmlformats.org/drawingml/2006/main">
            <a:r>
              <a:t>        "target_rank": 60,</a:t>
            </a:r>
          </a:p>
          <a:p xmlns:a="http://schemas.openxmlformats.org/drawingml/2006/main">
            <a:r>
              <a:t>        "target": [</a:t>
            </a:r>
          </a:p>
          <a:p xmlns:a="http://schemas.openxmlformats.org/drawingml/2006/main">
            <a:r>
              <a:t>          79379210191.17668,</a:t>
            </a:r>
          </a:p>
          <a:p xmlns:a="http://schemas.openxmlformats.org/drawingml/2006/main">
            <a:r>
              <a:t>          86014952443.9437,</a:t>
            </a:r>
          </a:p>
          <a:p xmlns:a="http://schemas.openxmlformats.org/drawingml/2006/main">
            <a:r>
              <a:t>          81094684129.87964</a:t>
            </a:r>
          </a:p>
          <a:p xmlns:a="http://schemas.openxmlformats.org/drawingml/2006/main">
            <a:r>
              <a:t>        ],</a:t>
            </a:r>
          </a:p>
          <a:p xmlns:a="http://schemas.openxmlformats.org/drawingml/2006/main">
            <a:r>
              <a:t>        "additional": 123574095.0</a:t>
            </a:r>
          </a:p>
          <a:p xmlns:a="http://schemas.openxmlformats.org/drawingml/2006/main">
            <a:r>
              <a:t>      }</a:t>
            </a:r>
          </a:p>
          <a:p xmlns:a="http://schemas.openxmlformats.org/drawingml/2006/main">
            <a:r>
              <a:t>    },</a:t>
            </a:r>
          </a:p>
          <a:p xmlns:a="http://schemas.openxmlformats.org/drawingml/2006/main">
            <a:r>
              <a:t>    "population_adjusted": false,</a:t>
            </a:r>
          </a:p>
          <a:p xmlns:a="http://schemas.openxmlformats.org/drawingml/2006/main">
            <a:r>
              <a:t>    "cohort": [</a:t>
            </a:r>
          </a:p>
          <a:p xmlns:a="http://schemas.openxmlformats.org/drawingml/2006/main">
            <a:r>
              <a:t>      {</a:t>
            </a:r>
          </a:p>
          <a:p xmlns:a="http://schemas.openxmlformats.org/drawingml/2006/main">
            <a:r>
              <a:t>        "region_code": "28245",</a:t>
            </a:r>
          </a:p>
          <a:p xmlns:a="http://schemas.openxmlformats.org/drawingml/2006/main">
            <a:r>
              <a:t>        "region_name": "인천광역시 계양구",</a:t>
            </a:r>
          </a:p>
          <a:p xmlns:a="http://schemas.openxmlformats.org/drawingml/2006/main">
            <a:r>
              <a:t>        "visitors_yoy_pct": -0.181730776849387,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"11110",</a:t>
            </a:r>
          </a:p>
          <a:p xmlns:a="http://schemas.openxmlformats.org/drawingml/2006/main">
            <a:r>
              <a:t>        "region_name": "서울특별시 종로구",</a:t>
            </a:r>
          </a:p>
          <a:p xmlns:a="http://schemas.openxmlformats.org/drawingml/2006/main">
            <a:r>
              <a:t>        "visitors_yoy_pct": 0.22058697128235494,</a:t>
            </a:r>
          </a:p>
          <a:p xmlns:a="http://schemas.openxmlformats.org/drawingml/2006/main">
            <a:r>
              <a:t>        "spending_yoy_pct": 4.580217217936977</a:t>
            </a:r>
          </a:p>
          <a:p xmlns:a="http://schemas.openxmlformats.org/drawingml/2006/main">
            <a:r>
              <a:t>      },</a:t>
            </a:r>
          </a:p>
          <a:p xmlns:a="http://schemas.openxmlformats.org/drawingml/2006/main">
            <a:r>
              <a:t>      {</a:t>
            </a:r>
          </a:p>
          <a:p xmlns:a="http://schemas.openxmlformats.org/drawingml/2006/main">
            <a:r>
              <a:t>        "region_code": "11140",</a:t>
            </a:r>
          </a:p>
          <a:p xmlns:a="http://schemas.openxmlformats.org/drawingml/2006/main">
            <a:r>
              <a:t>        "region_name": "서울특별시 중구",</a:t>
            </a:r>
          </a:p>
          <a:p xmlns:a="http://schemas.openxmlformats.org/drawingml/2006/main">
            <a:r>
              <a:t>        "visitors_yoy_pct": -4.979614214123506,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"11170",</a:t>
            </a:r>
          </a:p>
          <a:p xmlns:a="http://schemas.openxmlformats.org/drawingml/2006/main">
            <a:r>
              <a:t>        "region_name": "서울특별시 용산구",</a:t>
            </a:r>
          </a:p>
          <a:p xmlns:a="http://schemas.openxmlformats.org/drawingml/2006/main">
            <a:r>
              <a:t>        "visitors_yoy_pct": -0.3378475483719168,</a:t>
            </a:r>
          </a:p>
          <a:p xmlns:a="http://schemas.openxmlformats.org/drawingml/2006/main">
            <a:r>
              <a:t>        "spending_yoy_pct": 17.74232531130686</a:t>
            </a:r>
          </a:p>
          <a:p xmlns:a="http://schemas.openxmlformats.org/drawingml/2006/main">
            <a:r>
              <a:t>      },</a:t>
            </a:r>
          </a:p>
          <a:p xmlns:a="http://schemas.openxmlformats.org/drawingml/2006/main">
            <a:r>
              <a:t>      {</a:t>
            </a:r>
          </a:p>
          <a:p xmlns:a="http://schemas.openxmlformats.org/drawingml/2006/main">
            <a:r>
              <a:t>        "region_code": "11200",</a:t>
            </a:r>
          </a:p>
          <a:p xmlns:a="http://schemas.openxmlformats.org/drawingml/2006/main">
            <a:r>
              <a:t>        "region_name": "서울특별시 성동구",</a:t>
            </a:r>
          </a:p>
          <a:p xmlns:a="http://schemas.openxmlformats.org/drawingml/2006/main">
            <a:r>
              <a:t>        "visitors_yoy_pct": 2.5969573020728554,</a:t>
            </a:r>
          </a:p>
          <a:p xmlns:a="http://schemas.openxmlformats.org/drawingml/2006/main">
            <a:r>
              <a:t>        "spending_yoy_pct": 5.2897098661769615</a:t>
            </a:r>
          </a:p>
          <a:p xmlns:a="http://schemas.openxmlformats.org/drawingml/2006/main">
            <a:r>
              <a:t>      },</a:t>
            </a:r>
          </a:p>
          <a:p xmlns:a="http://schemas.openxmlformats.org/drawingml/2006/main">
            <a:r>
              <a:t>      {</a:t>
            </a:r>
          </a:p>
          <a:p xmlns:a="http://schemas.openxmlformats.org/drawingml/2006/main">
            <a:r>
              <a:t>        "region_code": "11215",</a:t>
            </a:r>
          </a:p>
          <a:p xmlns:a="http://schemas.openxmlformats.org/drawingml/2006/main">
            <a:r>
              <a:t>        "region_name": "서울특별시 광진구",</a:t>
            </a:r>
          </a:p>
          <a:p xmlns:a="http://schemas.openxmlformats.org/drawingml/2006/main">
            <a:r>
              <a:t>        "visitors_yoy_pct": 3.8434435752205065,</a:t>
            </a:r>
          </a:p>
          <a:p xmlns:a="http://schemas.openxmlformats.org/drawingml/2006/main">
            <a:r>
              <a:t>        "spending_yoy_pct": 15.750677281894143</a:t>
            </a:r>
          </a:p>
          <a:p xmlns:a="http://schemas.openxmlformats.org/drawingml/2006/main">
            <a:r>
              <a:t>      },</a:t>
            </a:r>
          </a:p>
          <a:p xmlns:a="http://schemas.openxmlformats.org/drawingml/2006/main">
            <a:r>
              <a:t>      {</a:t>
            </a:r>
          </a:p>
          <a:p xmlns:a="http://schemas.openxmlformats.org/drawingml/2006/main">
            <a:r>
              <a:t>        "region_code": "11230",</a:t>
            </a:r>
          </a:p>
          <a:p xmlns:a="http://schemas.openxmlformats.org/drawingml/2006/main">
            <a:r>
              <a:t>        "region_name": "서울특별시 동대문구",</a:t>
            </a:r>
          </a:p>
          <a:p xmlns:a="http://schemas.openxmlformats.org/drawingml/2006/main">
            <a:r>
              <a:t>        "visitors_yoy_pct": 3.9319477713267714,</a:t>
            </a:r>
          </a:p>
          <a:p xmlns:a="http://schemas.openxmlformats.org/drawingml/2006/main">
            <a:r>
              <a:t>        "spending_yoy_pct": 4.008665139200995</a:t>
            </a:r>
          </a:p>
          <a:p xmlns:a="http://schemas.openxmlformats.org/drawingml/2006/main">
            <a:r>
              <a:t>      },</a:t>
            </a:r>
          </a:p>
          <a:p xmlns:a="http://schemas.openxmlformats.org/drawingml/2006/main">
            <a:r>
              <a:t>      {</a:t>
            </a:r>
          </a:p>
          <a:p xmlns:a="http://schemas.openxmlformats.org/drawingml/2006/main">
            <a:r>
              <a:t>        "region_code": "11260",</a:t>
            </a:r>
          </a:p>
          <a:p xmlns:a="http://schemas.openxmlformats.org/drawingml/2006/main">
            <a:r>
              <a:t>        "region_name": "서울특별시 중랑구",</a:t>
            </a:r>
          </a:p>
          <a:p xmlns:a="http://schemas.openxmlformats.org/drawingml/2006/main">
            <a:r>
              <a:t>        "visitors_yoy_pct": 0.06390882102844664,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"11290",</a:t>
            </a:r>
          </a:p>
          <a:p xmlns:a="http://schemas.openxmlformats.org/drawingml/2006/main">
            <a:r>
              <a:t>        "region_name": "서울특별시 성북구",</a:t>
            </a:r>
          </a:p>
          <a:p xmlns:a="http://schemas.openxmlformats.org/drawingml/2006/main">
            <a:r>
              <a:t>        "visitors_yoy_pct": 6.491412818941056,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"11305",</a:t>
            </a:r>
          </a:p>
          <a:p xmlns:a="http://schemas.openxmlformats.org/drawingml/2006/main">
            <a:r>
              <a:t>        "region_name": "서울특별시 강북구",</a:t>
            </a:r>
          </a:p>
          <a:p xmlns:a="http://schemas.openxmlformats.org/drawingml/2006/main">
            <a:r>
              <a:t>        "visitors_yoy_pct": -0.31553169799538594,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"11320",</a:t>
            </a:r>
          </a:p>
          <a:p xmlns:a="http://schemas.openxmlformats.org/drawingml/2006/main">
            <a:r>
              <a:t>        "region_name": "서울특별시 도봉구",</a:t>
            </a:r>
          </a:p>
          <a:p xmlns:a="http://schemas.openxmlformats.org/drawingml/2006/main">
            <a:r>
              <a:t>        "visitors_yoy_pct": 1.9885852169564178,</a:t>
            </a:r>
          </a:p>
          <a:p xmlns:a="http://schemas.openxmlformats.org/drawingml/2006/main">
            <a:r>
              <a:t>        "spending_yoy_pct": -3.9398837471920745</a:t>
            </a:r>
          </a:p>
          <a:p xmlns:a="http://schemas.openxmlformats.org/drawingml/2006/main">
            <a:r>
              <a:t>      },</a:t>
            </a:r>
          </a:p>
          <a:p xmlns:a="http://schemas.openxmlformats.org/drawingml/2006/main">
            <a:r>
              <a:t>      {</a:t>
            </a:r>
          </a:p>
          <a:p xmlns:a="http://schemas.openxmlformats.org/drawingml/2006/main">
            <a:r>
              <a:t>        "region_code": "11350",</a:t>
            </a:r>
          </a:p>
          <a:p xmlns:a="http://schemas.openxmlformats.org/drawingml/2006/main">
            <a:r>
              <a:t>        "region_name": "서울특별시 노원구",</a:t>
            </a:r>
          </a:p>
          <a:p xmlns:a="http://schemas.openxmlformats.org/drawingml/2006/main">
            <a:r>
              <a:t>        "visitors_yoy_pct": 2.6732126130347034,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"11380",</a:t>
            </a:r>
          </a:p>
          <a:p xmlns:a="http://schemas.openxmlformats.org/drawingml/2006/main">
            <a:r>
              <a:t>        "region_name": "서울특별시 은평구",</a:t>
            </a:r>
          </a:p>
          <a:p xmlns:a="http://schemas.openxmlformats.org/drawingml/2006/main">
            <a:r>
              <a:t>        "visitors_yoy_pct": -1.5414900930146969,</a:t>
            </a:r>
          </a:p>
          <a:p xmlns:a="http://schemas.openxmlformats.org/drawingml/2006/main">
            <a:r>
              <a:t>        "spending_yoy_pct": 9.742111155875799</a:t>
            </a:r>
          </a:p>
          <a:p xmlns:a="http://schemas.openxmlformats.org/drawingml/2006/main">
            <a:r>
              <a:t>      },</a:t>
            </a:r>
          </a:p>
          <a:p xmlns:a="http://schemas.openxmlformats.org/drawingml/2006/main">
            <a:r>
              <a:t>      {</a:t>
            </a:r>
          </a:p>
          <a:p xmlns:a="http://schemas.openxmlformats.org/drawingml/2006/main">
            <a:r>
              <a:t>        "region_code": "11410",</a:t>
            </a:r>
          </a:p>
          <a:p xmlns:a="http://schemas.openxmlformats.org/drawingml/2006/main">
            <a:r>
              <a:t>        "region_name": "서울특별시 서대문구",</a:t>
            </a:r>
          </a:p>
          <a:p xmlns:a="http://schemas.openxmlformats.org/drawingml/2006/main">
            <a:r>
              <a:t>        "visitors_yoy_pct": 0.26100209122330575,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"11440",</a:t>
            </a:r>
          </a:p>
          <a:p xmlns:a="http://schemas.openxmlformats.org/drawingml/2006/main">
            <a:r>
              <a:t>        "region_name": "서울특별시 마포구",</a:t>
            </a:r>
          </a:p>
          <a:p xmlns:a="http://schemas.openxmlformats.org/drawingml/2006/main">
            <a:r>
              <a:t>        "visitors_yoy_pct": -0.42315356265129056,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"11470",</a:t>
            </a:r>
          </a:p>
          <a:p xmlns:a="http://schemas.openxmlformats.org/drawingml/2006/main">
            <a:r>
              <a:t>        "region_name": "서울특별시 양천구",</a:t>
            </a:r>
          </a:p>
          <a:p xmlns:a="http://schemas.openxmlformats.org/drawingml/2006/main">
            <a:r>
              <a:t>        "visitors_yoy_pct": 0.2040172459361056,</a:t>
            </a:r>
          </a:p>
          <a:p xmlns:a="http://schemas.openxmlformats.org/drawingml/2006/main">
            <a:r>
              <a:t>        "spending_yoy_pct": 7.8308763097921785</a:t>
            </a:r>
          </a:p>
          <a:p xmlns:a="http://schemas.openxmlformats.org/drawingml/2006/main">
            <a:r>
              <a:t>      },</a:t>
            </a:r>
          </a:p>
          <a:p xmlns:a="http://schemas.openxmlformats.org/drawingml/2006/main">
            <a:r>
              <a:t>      {</a:t>
            </a:r>
          </a:p>
          <a:p xmlns:a="http://schemas.openxmlformats.org/drawingml/2006/main">
            <a:r>
              <a:t>        "region_code": "11500",</a:t>
            </a:r>
          </a:p>
          <a:p xmlns:a="http://schemas.openxmlformats.org/drawingml/2006/main">
            <a:r>
              <a:t>        "region_name": "서울특별시 강서구",</a:t>
            </a:r>
          </a:p>
          <a:p xmlns:a="http://schemas.openxmlformats.org/drawingml/2006/main">
            <a:r>
              <a:t>        "visitors_yoy_pct": -2.5203770541048165,</a:t>
            </a:r>
          </a:p>
          <a:p xmlns:a="http://schemas.openxmlformats.org/drawingml/2006/main">
            <a:r>
              <a:t>        "spending_yoy_pct": 1.0661216099866477</a:t>
            </a:r>
          </a:p>
          <a:p xmlns:a="http://schemas.openxmlformats.org/drawingml/2006/main">
            <a:r>
              <a:t>      },</a:t>
            </a:r>
          </a:p>
          <a:p xmlns:a="http://schemas.openxmlformats.org/drawingml/2006/main">
            <a:r>
              <a:t>      {</a:t>
            </a:r>
          </a:p>
          <a:p xmlns:a="http://schemas.openxmlformats.org/drawingml/2006/main">
            <a:r>
              <a:t>        "region_code": "11530",</a:t>
            </a:r>
          </a:p>
          <a:p xmlns:a="http://schemas.openxmlformats.org/drawingml/2006/main">
            <a:r>
              <a:t>        "region_name": "서울특별시 구로구",</a:t>
            </a:r>
          </a:p>
          <a:p xmlns:a="http://schemas.openxmlformats.org/drawingml/2006/main">
            <a:r>
              <a:t>        "visitors_yoy_pct": -5.084948743139006,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"11545",</a:t>
            </a:r>
          </a:p>
          <a:p xmlns:a="http://schemas.openxmlformats.org/drawingml/2006/main">
            <a:r>
              <a:t>        "region_name": "서울특별시 금천구",</a:t>
            </a:r>
          </a:p>
          <a:p xmlns:a="http://schemas.openxmlformats.org/drawingml/2006/main">
            <a:r>
              <a:t>        "visitors_yoy_pct": -0.004729088367683154,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"11560",</a:t>
            </a:r>
          </a:p>
          <a:p xmlns:a="http://schemas.openxmlformats.org/drawingml/2006/main">
            <a:r>
              <a:t>        "region_name": "서울특별시 영등포구",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"11590",</a:t>
            </a:r>
          </a:p>
          <a:p xmlns:a="http://schemas.openxmlformats.org/drawingml/2006/main">
            <a:r>
              <a:t>        "region_name": "서울특별시 동작구",</a:t>
            </a:r>
          </a:p>
          <a:p xmlns:a="http://schemas.openxmlformats.org/drawingml/2006/main">
            <a:r>
              <a:t>        "visitors_yoy_pct": -2.159738232477182,</a:t>
            </a:r>
          </a:p>
          <a:p xmlns:a="http://schemas.openxmlformats.org/drawingml/2006/main">
            <a:r>
              <a:t>        "spending_yoy_pct": 6.658745677758771</a:t>
            </a:r>
          </a:p>
          <a:p xmlns:a="http://schemas.openxmlformats.org/drawingml/2006/main">
            <a:r>
              <a:t>      },</a:t>
            </a:r>
          </a:p>
          <a:p xmlns:a="http://schemas.openxmlformats.org/drawingml/2006/main">
            <a:r>
              <a:t>      {</a:t>
            </a:r>
          </a:p>
          <a:p xmlns:a="http://schemas.openxmlformats.org/drawingml/2006/main">
            <a:r>
              <a:t>        "region_code": "11620",</a:t>
            </a:r>
          </a:p>
          <a:p xmlns:a="http://schemas.openxmlformats.org/drawingml/2006/main">
            <a:r>
              <a:t>        "region_name": "서울특별시 관악구",</a:t>
            </a:r>
          </a:p>
          <a:p xmlns:a="http://schemas.openxmlformats.org/drawingml/2006/main">
            <a:r>
              <a:t>        "visitors_yoy_pct": 3.416171684213065,</a:t>
            </a:r>
          </a:p>
          <a:p xmlns:a="http://schemas.openxmlformats.org/drawingml/2006/main">
            <a:r>
              <a:t>        "spending_yoy_pct": 2.78161019702714</a:t>
            </a:r>
          </a:p>
          <a:p xmlns:a="http://schemas.openxmlformats.org/drawingml/2006/main">
            <a:r>
              <a:t>      },</a:t>
            </a:r>
          </a:p>
          <a:p xmlns:a="http://schemas.openxmlformats.org/drawingml/2006/main">
            <a:r>
              <a:t>      {</a:t>
            </a:r>
          </a:p>
          <a:p xmlns:a="http://schemas.openxmlformats.org/drawingml/2006/main">
            <a:r>
              <a:t>        "region_code": "11650",</a:t>
            </a:r>
          </a:p>
          <a:p xmlns:a="http://schemas.openxmlformats.org/drawingml/2006/main">
            <a:r>
              <a:t>        "region_name": "서울특별시 서초구",</a:t>
            </a:r>
          </a:p>
          <a:p xmlns:a="http://schemas.openxmlformats.org/drawingml/2006/main">
            <a:r>
              <a:t>        "visitors_yoy_pct": -3.3407180053658725,</a:t>
            </a:r>
          </a:p>
          <a:p xmlns:a="http://schemas.openxmlformats.org/drawingml/2006/main">
            <a:r>
              <a:t>        "spending_yoy_pct": 7.659458813227693</a:t>
            </a:r>
          </a:p>
          <a:p xmlns:a="http://schemas.openxmlformats.org/drawingml/2006/main">
            <a:r>
              <a:t>      },</a:t>
            </a:r>
          </a:p>
          <a:p xmlns:a="http://schemas.openxmlformats.org/drawingml/2006/main">
            <a:r>
              <a:t>      {</a:t>
            </a:r>
          </a:p>
          <a:p xmlns:a="http://schemas.openxmlformats.org/drawingml/2006/main">
            <a:r>
              <a:t>        "region_code": "11710",</a:t>
            </a:r>
          </a:p>
          <a:p xmlns:a="http://schemas.openxmlformats.org/drawingml/2006/main">
            <a:r>
              <a:t>        "region_name": "서울특별시 송파구",</a:t>
            </a:r>
          </a:p>
          <a:p xmlns:a="http://schemas.openxmlformats.org/drawingml/2006/main">
            <a:r>
              <a:t>        "visitors_yoy_pct": 0.1917648649844672,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"11740",</a:t>
            </a:r>
          </a:p>
          <a:p xmlns:a="http://schemas.openxmlformats.org/drawingml/2006/main">
            <a:r>
              <a:t>        "region_name": "서울특별시 강동구",</a:t>
            </a:r>
          </a:p>
          <a:p xmlns:a="http://schemas.openxmlformats.org/drawingml/2006/main">
            <a:r>
              <a:t>        "visitors_yoy_pct": -0.13711943373028168,</a:t>
            </a:r>
          </a:p>
          <a:p xmlns:a="http://schemas.openxmlformats.org/drawingml/2006/main">
            <a:r>
              <a:t>        "spending_yoy_pct": 4.933893018036728</a:t>
            </a:r>
          </a:p>
          <a:p xmlns:a="http://schemas.openxmlformats.org/drawingml/2006/main">
            <a:r>
              <a:t>      },</a:t>
            </a:r>
          </a:p>
          <a:p xmlns:a="http://schemas.openxmlformats.org/drawingml/2006/main">
            <a:r>
              <a:t>      {</a:t>
            </a:r>
          </a:p>
          <a:p xmlns:a="http://schemas.openxmlformats.org/drawingml/2006/main">
            <a:r>
              <a:t>        "region_code": "51110",</a:t>
            </a:r>
          </a:p>
          <a:p xmlns:a="http://schemas.openxmlformats.org/drawingml/2006/main">
            <a:r>
              <a:t>        "region_name": "강원특별자치도 춘천시",</a:t>
            </a:r>
          </a:p>
          <a:p xmlns:a="http://schemas.openxmlformats.org/drawingml/2006/main">
            <a:r>
              <a:t>        "visitors_yoy_pct": -1.9664957516168258,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"51130",</a:t>
            </a:r>
          </a:p>
          <a:p xmlns:a="http://schemas.openxmlformats.org/drawingml/2006/main">
            <a:r>
              <a:t>        "region_name": "강원특별자치도 원주시",</a:t>
            </a:r>
          </a:p>
          <a:p xmlns:a="http://schemas.openxmlformats.org/drawingml/2006/main">
            <a:r>
              <a:t>        "visitors_yoy_pct": -0.8330123914969678,</a:t>
            </a:r>
          </a:p>
          <a:p xmlns:a="http://schemas.openxmlformats.org/drawingml/2006/main">
            <a:r>
              <a:t>        "spending_yoy_pct": 37.640108864536415</a:t>
            </a:r>
          </a:p>
          <a:p xmlns:a="http://schemas.openxmlformats.org/drawingml/2006/main">
            <a:r>
              <a:t>      },</a:t>
            </a:r>
          </a:p>
          <a:p xmlns:a="http://schemas.openxmlformats.org/drawingml/2006/main">
            <a:r>
              <a:t>      {</a:t>
            </a:r>
          </a:p>
          <a:p xmlns:a="http://schemas.openxmlformats.org/drawingml/2006/main">
            <a:r>
              <a:t>        "region_code": "51150",</a:t>
            </a:r>
          </a:p>
          <a:p xmlns:a="http://schemas.openxmlformats.org/drawingml/2006/main">
            <a:r>
              <a:t>        "region_name": "강원특별자치도 강릉시",</a:t>
            </a:r>
          </a:p>
          <a:p xmlns:a="http://schemas.openxmlformats.org/drawingml/2006/main">
            <a:r>
              <a:t>        "visitors_yoy_pct": 7.745107525681205,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"51170",</a:t>
            </a:r>
          </a:p>
          <a:p xmlns:a="http://schemas.openxmlformats.org/drawingml/2006/main">
            <a:r>
              <a:t>        "region_name": "강원특별자치도 동해시",</a:t>
            </a:r>
          </a:p>
          <a:p xmlns:a="http://schemas.openxmlformats.org/drawingml/2006/main">
            <a:r>
              <a:t>        "visitors_yoy_pct": 2.6814404526349644,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"51190",</a:t>
            </a:r>
          </a:p>
          <a:p xmlns:a="http://schemas.openxmlformats.org/drawingml/2006/main">
            <a:r>
              <a:t>        "region_name": "강원특별자치도 태백시",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"51210",</a:t>
            </a:r>
          </a:p>
          <a:p xmlns:a="http://schemas.openxmlformats.org/drawingml/2006/main">
            <a:r>
              <a:t>        "region_name": "강원특별자치도 속초시",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"51230",</a:t>
            </a:r>
          </a:p>
          <a:p xmlns:a="http://schemas.openxmlformats.org/drawingml/2006/main">
            <a:r>
              <a:t>        "region_name": "강원특별자치도 삼척시",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"51720",</a:t>
            </a:r>
          </a:p>
          <a:p xmlns:a="http://schemas.openxmlformats.org/drawingml/2006/main">
            <a:r>
              <a:t>        "region_name": "강원특별자치도 홍천군",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"51730",</a:t>
            </a:r>
          </a:p>
          <a:p xmlns:a="http://schemas.openxmlformats.org/drawingml/2006/main">
            <a:r>
              <a:t>        "region_name": "강원특별자치도 횡성군",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"51750",</a:t>
            </a:r>
          </a:p>
          <a:p xmlns:a="http://schemas.openxmlformats.org/drawingml/2006/main">
            <a:r>
              <a:t>        "region_name": "강원특별자치도 영월군",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"51760",</a:t>
            </a:r>
          </a:p>
          <a:p xmlns:a="http://schemas.openxmlformats.org/drawingml/2006/main">
            <a:r>
              <a:t>        "region_name": "강원특별자치도 평창군",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"51770",</a:t>
            </a:r>
          </a:p>
          <a:p xmlns:a="http://schemas.openxmlformats.org/drawingml/2006/main">
            <a:r>
              <a:t>        "region_name": "강원특별자치도 정선군",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"51780",</a:t>
            </a:r>
          </a:p>
          <a:p xmlns:a="http://schemas.openxmlformats.org/drawingml/2006/main">
            <a:r>
              <a:t>        "region_name": "강원특별자치도 철원군",</a:t>
            </a:r>
          </a:p>
          <a:p xmlns:a="http://schemas.openxmlformats.org/drawingml/2006/main">
            <a:r>
              <a:t>        "visitors_yoy_pct": -11.738262349313622,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"51790",</a:t>
            </a:r>
          </a:p>
          <a:p xmlns:a="http://schemas.openxmlformats.org/drawingml/2006/main">
            <a:r>
              <a:t>        "region_name": "강원특별자치도 화천군",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"51800",</a:t>
            </a:r>
          </a:p>
          <a:p xmlns:a="http://schemas.openxmlformats.org/drawingml/2006/main">
            <a:r>
              <a:t>        "region_name": "강원특별자치도 양구군",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"51810",</a:t>
            </a:r>
          </a:p>
          <a:p xmlns:a="http://schemas.openxmlformats.org/drawingml/2006/main">
            <a:r>
              <a:t>        "region_name": "강원특별자치도 인제군",</a:t>
            </a:r>
          </a:p>
          <a:p xmlns:a="http://schemas.openxmlformats.org/drawingml/2006/main">
            <a:r>
              <a:t>        "visitors_yoy_pct": 0.7982735908174332,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"51820",</a:t>
            </a:r>
          </a:p>
          <a:p xmlns:a="http://schemas.openxmlformats.org/drawingml/2006/main">
            <a:r>
              <a:t>        "region_name": "강원특별자치도 고성군",</a:t>
            </a:r>
          </a:p>
          <a:p xmlns:a="http://schemas.openxmlformats.org/drawingml/2006/main">
            <a:r>
              <a:t>        "visitors_yoy_pct": 3.9292214795380698,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"51830",</a:t>
            </a:r>
          </a:p>
          <a:p xmlns:a="http://schemas.openxmlformats.org/drawingml/2006/main">
            <a:r>
              <a:t>        "region_name": "강원특별자치도 양양군",</a:t>
            </a:r>
          </a:p>
          <a:p xmlns:a="http://schemas.openxmlformats.org/drawingml/2006/main">
            <a:r>
              <a:t>        "visitors_yoy_pct": 1.016923718387308,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"41111",</a:t>
            </a:r>
          </a:p>
          <a:p xmlns:a="http://schemas.openxmlformats.org/drawingml/2006/main">
            <a:r>
              <a:t>        "region_name": "경기도 수원시 장안구",</a:t>
            </a:r>
          </a:p>
          <a:p xmlns:a="http://schemas.openxmlformats.org/drawingml/2006/main">
            <a:r>
              <a:t>        "visitors_yoy_pct": 1.1475336925274693,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"41113",</a:t>
            </a:r>
          </a:p>
          <a:p xmlns:a="http://schemas.openxmlformats.org/drawingml/2006/main">
            <a:r>
              <a:t>        "region_name": "경기도 수원시 권선구",</a:t>
            </a:r>
          </a:p>
          <a:p xmlns:a="http://schemas.openxmlformats.org/drawingml/2006/main">
            <a:r>
              <a:t>        "visitors_yoy_pct": 0.02309067516510499,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"41115",</a:t>
            </a:r>
          </a:p>
          <a:p xmlns:a="http://schemas.openxmlformats.org/drawingml/2006/main">
            <a:r>
              <a:t>        "region_name": "경기도 수원시 팔달구",</a:t>
            </a:r>
          </a:p>
          <a:p xmlns:a="http://schemas.openxmlformats.org/drawingml/2006/main">
            <a:r>
              <a:t>        "visitors_yoy_pct": 1.1752424903732184,</a:t>
            </a:r>
          </a:p>
          <a:p xmlns:a="http://schemas.openxmlformats.org/drawingml/2006/main">
            <a:r>
              <a:t>        "spending_yoy_pct": 5.784673016796771</a:t>
            </a:r>
          </a:p>
          <a:p xmlns:a="http://schemas.openxmlformats.org/drawingml/2006/main">
            <a:r>
              <a:t>      },</a:t>
            </a:r>
          </a:p>
          <a:p xmlns:a="http://schemas.openxmlformats.org/drawingml/2006/main">
            <a:r>
              <a:t>      {</a:t>
            </a:r>
          </a:p>
          <a:p xmlns:a="http://schemas.openxmlformats.org/drawingml/2006/main">
            <a:r>
              <a:t>        "region_code": "41117",</a:t>
            </a:r>
          </a:p>
          <a:p xmlns:a="http://schemas.openxmlformats.org/drawingml/2006/main">
            <a:r>
              <a:t>        "region_name": "경기도 수원시 영통구",</a:t>
            </a:r>
          </a:p>
          <a:p xmlns:a="http://schemas.openxmlformats.org/drawingml/2006/main">
            <a:r>
              <a:t>        "visitors_yoy_pct": 0.6512867290074942,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"41131",</a:t>
            </a:r>
          </a:p>
          <a:p xmlns:a="http://schemas.openxmlformats.org/drawingml/2006/main">
            <a:r>
              <a:t>        "region_name": "경기도 성남시 수정구",</a:t>
            </a:r>
          </a:p>
          <a:p xmlns:a="http://schemas.openxmlformats.org/drawingml/2006/main">
            <a:r>
              <a:t>        "visitors_yoy_pct": 2.5103800143091215,</a:t>
            </a:r>
          </a:p>
          <a:p xmlns:a="http://schemas.openxmlformats.org/drawingml/2006/main">
            <a:r>
              <a:t>        "spending_yoy_pct": 9.520113178780786</a:t>
            </a:r>
          </a:p>
          <a:p xmlns:a="http://schemas.openxmlformats.org/drawingml/2006/main">
            <a:r>
              <a:t>      },</a:t>
            </a:r>
          </a:p>
          <a:p xmlns:a="http://schemas.openxmlformats.org/drawingml/2006/main">
            <a:r>
              <a:t>      {</a:t>
            </a:r>
          </a:p>
          <a:p xmlns:a="http://schemas.openxmlformats.org/drawingml/2006/main">
            <a:r>
              <a:t>        "region_code": "41133",</a:t>
            </a:r>
          </a:p>
          <a:p xmlns:a="http://schemas.openxmlformats.org/drawingml/2006/main">
            <a:r>
              <a:t>        "region_name": "경기도 성남시 중원구",</a:t>
            </a:r>
          </a:p>
          <a:p xmlns:a="http://schemas.openxmlformats.org/drawingml/2006/main">
            <a:r>
              <a:t>        "visitors_yoy_pct": 0.0,</a:t>
            </a:r>
          </a:p>
          <a:p xmlns:a="http://schemas.openxmlformats.org/drawingml/2006/main">
            <a:r>
              <a:t>        "spending_yoy_pct": 15.517585713868876</a:t>
            </a:r>
          </a:p>
          <a:p xmlns:a="http://schemas.openxmlformats.org/drawingml/2006/main">
            <a:r>
              <a:t>      },</a:t>
            </a:r>
          </a:p>
          <a:p xmlns:a="http://schemas.openxmlformats.org/drawingml/2006/main">
            <a:r>
              <a:t>      {</a:t>
            </a:r>
          </a:p>
          <a:p xmlns:a="http://schemas.openxmlformats.org/drawingml/2006/main">
            <a:r>
              <a:t>        "region_code": "41135",</a:t>
            </a:r>
          </a:p>
          <a:p xmlns:a="http://schemas.openxmlformats.org/drawingml/2006/main">
            <a:r>
              <a:t>        "region_name": "경기도 성남시 분당구",</a:t>
            </a:r>
          </a:p>
          <a:p xmlns:a="http://schemas.openxmlformats.org/drawingml/2006/main">
            <a:r>
              <a:t>        "visitors_yoy_pct": -0.021831037261310637,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"41150",</a:t>
            </a:r>
          </a:p>
          <a:p xmlns:a="http://schemas.openxmlformats.org/drawingml/2006/main">
            <a:r>
              <a:t>        "region_name": "경기도 의정부시",</a:t>
            </a:r>
          </a:p>
          <a:p xmlns:a="http://schemas.openxmlformats.org/drawingml/2006/main">
            <a:r>
              <a:t>        "visitors_yoy_pct": -1.8020937666352155,</a:t>
            </a:r>
          </a:p>
          <a:p xmlns:a="http://schemas.openxmlformats.org/drawingml/2006/main">
            <a:r>
              <a:t>        "spending_yoy_pct": 4.387608388035358</a:t>
            </a:r>
          </a:p>
          <a:p xmlns:a="http://schemas.openxmlformats.org/drawingml/2006/main">
            <a:r>
              <a:t>      },</a:t>
            </a:r>
          </a:p>
          <a:p xmlns:a="http://schemas.openxmlformats.org/drawingml/2006/main">
            <a:r>
              <a:t>      {</a:t>
            </a:r>
          </a:p>
          <a:p xmlns:a="http://schemas.openxmlformats.org/drawingml/2006/main">
            <a:r>
              <a:t>        "region_code": "41171",</a:t>
            </a:r>
          </a:p>
          <a:p xmlns:a="http://schemas.openxmlformats.org/drawingml/2006/main">
            <a:r>
              <a:t>        "region_name": "경기도 안양시 만안구",</a:t>
            </a:r>
          </a:p>
          <a:p xmlns:a="http://schemas.openxmlformats.org/drawingml/2006/main">
            <a:r>
              <a:t>        "visitors_yoy_pct": 2.161627087729401,</a:t>
            </a:r>
          </a:p>
          <a:p xmlns:a="http://schemas.openxmlformats.org/drawingml/2006/main">
            <a:r>
              <a:t>        "spending_yoy_pct": 0.7681955241102489</a:t>
            </a:r>
          </a:p>
          <a:p xmlns:a="http://schemas.openxmlformats.org/drawingml/2006/main">
            <a:r>
              <a:t>      },</a:t>
            </a:r>
          </a:p>
          <a:p xmlns:a="http://schemas.openxmlformats.org/drawingml/2006/main">
            <a:r>
              <a:t>      {</a:t>
            </a:r>
          </a:p>
          <a:p xmlns:a="http://schemas.openxmlformats.org/drawingml/2006/main">
            <a:r>
              <a:t>        "region_code": "41173",</a:t>
            </a:r>
          </a:p>
          <a:p xmlns:a="http://schemas.openxmlformats.org/drawingml/2006/main">
            <a:r>
              <a:t>        "region_name": "경기도 안양시 동안구",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"41192",</a:t>
            </a:r>
          </a:p>
          <a:p xmlns:a="http://schemas.openxmlformats.org/drawingml/2006/main">
            <a:r>
              <a:t>        "region_name": "경기도 부천시 원미구",</a:t>
            </a:r>
          </a:p>
          <a:p xmlns:a="http://schemas.openxmlformats.org/drawingml/2006/main">
            <a:r>
              <a:t>        "visitors_yoy_pct": 1.4376074623922541,</a:t>
            </a:r>
          </a:p>
          <a:p xmlns:a="http://schemas.openxmlformats.org/drawingml/2006/main">
            <a:r>
              <a:t>        "spending_yoy_pct": -0.5252023407957496</a:t>
            </a:r>
          </a:p>
          <a:p xmlns:a="http://schemas.openxmlformats.org/drawingml/2006/main">
            <a:r>
              <a:t>      },</a:t>
            </a:r>
          </a:p>
          <a:p xmlns:a="http://schemas.openxmlformats.org/drawingml/2006/main">
            <a:r>
              <a:t>      {</a:t>
            </a:r>
          </a:p>
          <a:p xmlns:a="http://schemas.openxmlformats.org/drawingml/2006/main">
            <a:r>
              <a:t>        "region_code": "41194",</a:t>
            </a:r>
          </a:p>
          <a:p xmlns:a="http://schemas.openxmlformats.org/drawingml/2006/main">
            <a:r>
              <a:t>        "region_name": "경기도 부천시 소사구",</a:t>
            </a:r>
          </a:p>
          <a:p xmlns:a="http://schemas.openxmlformats.org/drawingml/2006/main">
            <a:r>
              <a:t>        "visitors_yoy_pct": 0.0,</a:t>
            </a:r>
          </a:p>
          <a:p xmlns:a="http://schemas.openxmlformats.org/drawingml/2006/main">
            <a:r>
              <a:t>        "spending_yoy_pct": -1.9824476603583885</a:t>
            </a:r>
          </a:p>
          <a:p xmlns:a="http://schemas.openxmlformats.org/drawingml/2006/main">
            <a:r>
              <a:t>      },</a:t>
            </a:r>
          </a:p>
          <a:p xmlns:a="http://schemas.openxmlformats.org/drawingml/2006/main">
            <a:r>
              <a:t>      {</a:t>
            </a:r>
          </a:p>
          <a:p xmlns:a="http://schemas.openxmlformats.org/drawingml/2006/main">
            <a:r>
              <a:t>        "region_code": "41196",</a:t>
            </a:r>
          </a:p>
          <a:p xmlns:a="http://schemas.openxmlformats.org/drawingml/2006/main">
            <a:r>
              <a:t>        "region_name": "경기도 부천시 오정구",</a:t>
            </a:r>
          </a:p>
          <a:p xmlns:a="http://schemas.openxmlformats.org/drawingml/2006/main">
            <a:r>
              <a:t>        "visitors_yoy_pct": -1.094635619559492,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"41210",</a:t>
            </a:r>
          </a:p>
          <a:p xmlns:a="http://schemas.openxmlformats.org/drawingml/2006/main">
            <a:r>
              <a:t>        "region_name": "경기도 광명시",</a:t>
            </a:r>
          </a:p>
          <a:p xmlns:a="http://schemas.openxmlformats.org/drawingml/2006/main">
            <a:r>
              <a:t>        "visitors_yoy_pct": -0.4157538524296678,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"41220",</a:t>
            </a:r>
          </a:p>
          <a:p xmlns:a="http://schemas.openxmlformats.org/drawingml/2006/main">
            <a:r>
              <a:t>        "region_name": "경기도 평택시",</a:t>
            </a:r>
          </a:p>
          <a:p xmlns:a="http://schemas.openxmlformats.org/drawingml/2006/main">
            <a:r>
              <a:t>        "visitors_yoy_pct": -0.03909969108389921,</a:t>
            </a:r>
          </a:p>
          <a:p xmlns:a="http://schemas.openxmlformats.org/drawingml/2006/main">
            <a:r>
              <a:t>        "spending_yoy_pct": 24.268928579775473</a:t>
            </a:r>
          </a:p>
          <a:p xmlns:a="http://schemas.openxmlformats.org/drawingml/2006/main">
            <a:r>
              <a:t>      },</a:t>
            </a:r>
          </a:p>
          <a:p xmlns:a="http://schemas.openxmlformats.org/drawingml/2006/main">
            <a:r>
              <a:t>      {</a:t>
            </a:r>
          </a:p>
          <a:p xmlns:a="http://schemas.openxmlformats.org/drawingml/2006/main">
            <a:r>
              <a:t>        "region_code": "41250",</a:t>
            </a:r>
          </a:p>
          <a:p xmlns:a="http://schemas.openxmlformats.org/drawingml/2006/main">
            <a:r>
              <a:t>        "region_name": "경기도 동두천시",</a:t>
            </a:r>
          </a:p>
          <a:p xmlns:a="http://schemas.openxmlformats.org/drawingml/2006/main">
            <a:r>
              <a:t>        "visitors_yoy_pct": -2.7650328166700766,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"41271",</a:t>
            </a:r>
          </a:p>
          <a:p xmlns:a="http://schemas.openxmlformats.org/drawingml/2006/main">
            <a:r>
              <a:t>        "region_name": "경기도 안산시 상록구",</a:t>
            </a:r>
          </a:p>
          <a:p xmlns:a="http://schemas.openxmlformats.org/drawingml/2006/main">
            <a:r>
              <a:t>        "visitors_yoy_pct": 3.17645200245269,</a:t>
            </a:r>
          </a:p>
          <a:p xmlns:a="http://schemas.openxmlformats.org/drawingml/2006/main">
            <a:r>
              <a:t>        "spending_yoy_pct": 15.490271744531281</a:t>
            </a:r>
          </a:p>
          <a:p xmlns:a="http://schemas.openxmlformats.org/drawingml/2006/main">
            <a:r>
              <a:t>      },</a:t>
            </a:r>
          </a:p>
          <a:p xmlns:a="http://schemas.openxmlformats.org/drawingml/2006/main">
            <a:r>
              <a:t>      {</a:t>
            </a:r>
          </a:p>
          <a:p xmlns:a="http://schemas.openxmlformats.org/drawingml/2006/main">
            <a:r>
              <a:t>        "region_code": "41273",</a:t>
            </a:r>
          </a:p>
          <a:p xmlns:a="http://schemas.openxmlformats.org/drawingml/2006/main">
            <a:r>
              <a:t>        "region_name": "경기도 안산시 단원구",</a:t>
            </a:r>
          </a:p>
          <a:p xmlns:a="http://schemas.openxmlformats.org/drawingml/2006/main">
            <a:r>
              <a:t>        "visitors_yoy_pct": 2.126429602344748,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"41281",</a:t>
            </a:r>
          </a:p>
          <a:p xmlns:a="http://schemas.openxmlformats.org/drawingml/2006/main">
            <a:r>
              <a:t>        "region_name": "경기도 고양시 덕양구",</a:t>
            </a:r>
          </a:p>
          <a:p xmlns:a="http://schemas.openxmlformats.org/drawingml/2006/main">
            <a:r>
              <a:t>        "visitors_yoy_pct": 2.446276459112906,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"41285",</a:t>
            </a:r>
          </a:p>
          <a:p xmlns:a="http://schemas.openxmlformats.org/drawingml/2006/main">
            <a:r>
              <a:t>        "region_name": "경기도 고양시 일산동구",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"41287",</a:t>
            </a:r>
          </a:p>
          <a:p xmlns:a="http://schemas.openxmlformats.org/drawingml/2006/main">
            <a:r>
              <a:t>        "region_name": "경기도 고양시 일산서구",</a:t>
            </a:r>
          </a:p>
          <a:p xmlns:a="http://schemas.openxmlformats.org/drawingml/2006/main">
            <a:r>
              <a:t>        "visitors_yoy_pct": 2.5971124765787224,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"41290",</a:t>
            </a:r>
          </a:p>
          <a:p xmlns:a="http://schemas.openxmlformats.org/drawingml/2006/main">
            <a:r>
              <a:t>        "region_name": "경기도 과천시",</a:t>
            </a:r>
          </a:p>
          <a:p xmlns:a="http://schemas.openxmlformats.org/drawingml/2006/main">
            <a:r>
              <a:t>        "visitors_yoy_pct": 4.5266599226026605,</a:t>
            </a:r>
          </a:p>
          <a:p xmlns:a="http://schemas.openxmlformats.org/drawingml/2006/main">
            <a:r>
              <a:t>        "spending_yoy_pct": 27.301280740216516</a:t>
            </a:r>
          </a:p>
          <a:p xmlns:a="http://schemas.openxmlformats.org/drawingml/2006/main">
            <a:r>
              <a:t>      },</a:t>
            </a:r>
          </a:p>
          <a:p xmlns:a="http://schemas.openxmlformats.org/drawingml/2006/main">
            <a:r>
              <a:t>      {</a:t>
            </a:r>
          </a:p>
          <a:p xmlns:a="http://schemas.openxmlformats.org/drawingml/2006/main">
            <a:r>
              <a:t>        "region_code": "41310",</a:t>
            </a:r>
          </a:p>
          <a:p xmlns:a="http://schemas.openxmlformats.org/drawingml/2006/main">
            <a:r>
              <a:t>        "region_name": "경기도 구리시",</a:t>
            </a:r>
          </a:p>
          <a:p xmlns:a="http://schemas.openxmlformats.org/drawingml/2006/main">
            <a:r>
              <a:t>        "visitors_yoy_pct": -0.12423394404349475,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"41360",</a:t>
            </a:r>
          </a:p>
          <a:p xmlns:a="http://schemas.openxmlformats.org/drawingml/2006/main">
            <a:r>
              <a:t>        "region_name": "경기도 남양주시",</a:t>
            </a:r>
          </a:p>
          <a:p xmlns:a="http://schemas.openxmlformats.org/drawingml/2006/main">
            <a:r>
              <a:t>        "visitors_yoy_pct": 4.565492258559134,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"41370",</a:t>
            </a:r>
          </a:p>
          <a:p xmlns:a="http://schemas.openxmlformats.org/drawingml/2006/main">
            <a:r>
              <a:t>        "region_name": "경기도 오산시",</a:t>
            </a:r>
          </a:p>
          <a:p xmlns:a="http://schemas.openxmlformats.org/drawingml/2006/main">
            <a:r>
              <a:t>        "visitors_yoy_pct": 1.0039353259585715,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"41390",</a:t>
            </a:r>
          </a:p>
          <a:p xmlns:a="http://schemas.openxmlformats.org/drawingml/2006/main">
            <a:r>
              <a:t>        "region_name": "경기도 시흥시",</a:t>
            </a:r>
          </a:p>
          <a:p xmlns:a="http://schemas.openxmlformats.org/drawingml/2006/main">
            <a:r>
              <a:t>        "visitors_yoy_pct": 1.1493001597324914,</a:t>
            </a:r>
          </a:p>
          <a:p xmlns:a="http://schemas.openxmlformats.org/drawingml/2006/main">
            <a:r>
              <a:t>        "spending_yoy_pct": 0.7152053675203662</a:t>
            </a:r>
          </a:p>
          <a:p xmlns:a="http://schemas.openxmlformats.org/drawingml/2006/main">
            <a:r>
              <a:t>      },</a:t>
            </a:r>
          </a:p>
          <a:p xmlns:a="http://schemas.openxmlformats.org/drawingml/2006/main">
            <a:r>
              <a:t>      {</a:t>
            </a:r>
          </a:p>
          <a:p xmlns:a="http://schemas.openxmlformats.org/drawingml/2006/main">
            <a:r>
              <a:t>        "region_code": "41410",</a:t>
            </a:r>
          </a:p>
          <a:p xmlns:a="http://schemas.openxmlformats.org/drawingml/2006/main">
            <a:r>
              <a:t>        "region_name": "경기도 군포시",</a:t>
            </a:r>
          </a:p>
          <a:p xmlns:a="http://schemas.openxmlformats.org/drawingml/2006/main">
            <a:r>
              <a:t>        "visitors_yoy_pct": 0.8549389592575896,</a:t>
            </a:r>
          </a:p>
          <a:p xmlns:a="http://schemas.openxmlformats.org/drawingml/2006/main">
            <a:r>
              <a:t>        "spending_yoy_pct": 54.515586744429825</a:t>
            </a:r>
          </a:p>
          <a:p xmlns:a="http://schemas.openxmlformats.org/drawingml/2006/main">
            <a:r>
              <a:t>      },</a:t>
            </a:r>
          </a:p>
          <a:p xmlns:a="http://schemas.openxmlformats.org/drawingml/2006/main">
            <a:r>
              <a:t>      {</a:t>
            </a:r>
          </a:p>
          <a:p xmlns:a="http://schemas.openxmlformats.org/drawingml/2006/main">
            <a:r>
              <a:t>        "region_code": "41430",</a:t>
            </a:r>
          </a:p>
          <a:p xmlns:a="http://schemas.openxmlformats.org/drawingml/2006/main">
            <a:r>
              <a:t>        "region_name": "경기도 의왕시",</a:t>
            </a:r>
          </a:p>
          <a:p xmlns:a="http://schemas.openxmlformats.org/drawingml/2006/main">
            <a:r>
              <a:t>        "visitors_yoy_pct": 0.6696990720158169,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"41450",</a:t>
            </a:r>
          </a:p>
          <a:p xmlns:a="http://schemas.openxmlformats.org/drawingml/2006/main">
            <a:r>
              <a:t>        "region_name": "경기도 하남시",</a:t>
            </a:r>
          </a:p>
          <a:p xmlns:a="http://schemas.openxmlformats.org/drawingml/2006/main">
            <a:r>
              <a:t>        "visitors_yoy_pct": -1.2265414627372073,</a:t>
            </a:r>
          </a:p>
          <a:p xmlns:a="http://schemas.openxmlformats.org/drawingml/2006/main">
            <a:r>
              <a:t>        "spending_yoy_pct": 2.819393017454064</a:t>
            </a:r>
          </a:p>
          <a:p xmlns:a="http://schemas.openxmlformats.org/drawingml/2006/main">
            <a:r>
              <a:t>      },</a:t>
            </a:r>
          </a:p>
          <a:p xmlns:a="http://schemas.openxmlformats.org/drawingml/2006/main">
            <a:r>
              <a:t>      {</a:t>
            </a:r>
          </a:p>
          <a:p xmlns:a="http://schemas.openxmlformats.org/drawingml/2006/main">
            <a:r>
              <a:t>        "region_code": "41461",</a:t>
            </a:r>
          </a:p>
          <a:p xmlns:a="http://schemas.openxmlformats.org/drawingml/2006/main">
            <a:r>
              <a:t>        "region_name": "경기도 용인시 처인구",</a:t>
            </a:r>
          </a:p>
          <a:p xmlns:a="http://schemas.openxmlformats.org/drawingml/2006/main">
            <a:r>
              <a:t>        "visitors_yoy_pct": 4.418720080278593,</a:t>
            </a:r>
          </a:p>
          <a:p xmlns:a="http://schemas.openxmlformats.org/drawingml/2006/main">
            <a:r>
              <a:t>        "spending_yoy_pct": 80.10191905439277</a:t>
            </a:r>
          </a:p>
          <a:p xmlns:a="http://schemas.openxmlformats.org/drawingml/2006/main">
            <a:r>
              <a:t>      },</a:t>
            </a:r>
          </a:p>
          <a:p xmlns:a="http://schemas.openxmlformats.org/drawingml/2006/main">
            <a:r>
              <a:t>      {</a:t>
            </a:r>
          </a:p>
          <a:p xmlns:a="http://schemas.openxmlformats.org/drawingml/2006/main">
            <a:r>
              <a:t>        "region_code": "41463",</a:t>
            </a:r>
          </a:p>
          <a:p xmlns:a="http://schemas.openxmlformats.org/drawingml/2006/main">
            <a:r>
              <a:t>        "region_name": "경기도 용인시 기흥구",</a:t>
            </a:r>
          </a:p>
          <a:p xmlns:a="http://schemas.openxmlformats.org/drawingml/2006/main">
            <a:r>
              <a:t>        "visitors_yoy_pct": 0.0,</a:t>
            </a:r>
          </a:p>
          <a:p xmlns:a="http://schemas.openxmlformats.org/drawingml/2006/main">
            <a:r>
              <a:t>        "spending_yoy_pct": 8.438700210446726</a:t>
            </a:r>
          </a:p>
          <a:p xmlns:a="http://schemas.openxmlformats.org/drawingml/2006/main">
            <a:r>
              <a:t>      },</a:t>
            </a:r>
          </a:p>
          <a:p xmlns:a="http://schemas.openxmlformats.org/drawingml/2006/main">
            <a:r>
              <a:t>      {</a:t>
            </a:r>
          </a:p>
          <a:p xmlns:a="http://schemas.openxmlformats.org/drawingml/2006/main">
            <a:r>
              <a:t>        "region_code": "41465",</a:t>
            </a:r>
          </a:p>
          <a:p xmlns:a="http://schemas.openxmlformats.org/drawingml/2006/main">
            <a:r>
              <a:t>        "region_name": "경기도 용인시 수지구",</a:t>
            </a:r>
          </a:p>
          <a:p xmlns:a="http://schemas.openxmlformats.org/drawingml/2006/main">
            <a:r>
              <a:t>        "visitors_yoy_pct": 2.3706895536131256,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"41480",</a:t>
            </a:r>
          </a:p>
          <a:p xmlns:a="http://schemas.openxmlformats.org/drawingml/2006/main">
            <a:r>
              <a:t>        "region_name": "경기도 파주시",</a:t>
            </a:r>
          </a:p>
          <a:p xmlns:a="http://schemas.openxmlformats.org/drawingml/2006/main">
            <a:r>
              <a:t>        "visitors_yoy_pct": -2.196919183444135,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"41500",</a:t>
            </a:r>
          </a:p>
          <a:p xmlns:a="http://schemas.openxmlformats.org/drawingml/2006/main">
            <a:r>
              <a:t>        "region_name": "경기도 이천시",</a:t>
            </a:r>
          </a:p>
          <a:p xmlns:a="http://schemas.openxmlformats.org/drawingml/2006/main">
            <a:r>
              <a:t>        "visitors_yoy_pct": -0.20943825484315282,</a:t>
            </a:r>
          </a:p>
          <a:p xmlns:a="http://schemas.openxmlformats.org/drawingml/2006/main">
            <a:r>
              <a:t>        "spending_yoy_pct": 90.16980699536094</a:t>
            </a:r>
          </a:p>
          <a:p xmlns:a="http://schemas.openxmlformats.org/drawingml/2006/main">
            <a:r>
              <a:t>      },</a:t>
            </a:r>
          </a:p>
          <a:p xmlns:a="http://schemas.openxmlformats.org/drawingml/2006/main">
            <a:r>
              <a:t>      {</a:t>
            </a:r>
          </a:p>
          <a:p xmlns:a="http://schemas.openxmlformats.org/drawingml/2006/main">
            <a:r>
              <a:t>        "region_code": "41550",</a:t>
            </a:r>
          </a:p>
          <a:p xmlns:a="http://schemas.openxmlformats.org/drawingml/2006/main">
            <a:r>
              <a:t>        "region_name": "경기도 안성시",</a:t>
            </a:r>
          </a:p>
          <a:p xmlns:a="http://schemas.openxmlformats.org/drawingml/2006/main">
            <a:r>
              <a:t>        "visitors_yoy_pct": 1.4931429611678482,</a:t>
            </a:r>
          </a:p>
          <a:p xmlns:a="http://schemas.openxmlformats.org/drawingml/2006/main">
            <a:r>
              <a:t>        "spending_yoy_pct": 164.41633132776067</a:t>
            </a:r>
          </a:p>
          <a:p xmlns:a="http://schemas.openxmlformats.org/drawingml/2006/main">
            <a:r>
              <a:t>      },</a:t>
            </a:r>
          </a:p>
          <a:p xmlns:a="http://schemas.openxmlformats.org/drawingml/2006/main">
            <a:r>
              <a:t>      {</a:t>
            </a:r>
          </a:p>
          <a:p xmlns:a="http://schemas.openxmlformats.org/drawingml/2006/main">
            <a:r>
              <a:t>        "region_code": "41570",</a:t>
            </a:r>
          </a:p>
          <a:p xmlns:a="http://schemas.openxmlformats.org/drawingml/2006/main">
            <a:r>
              <a:t>        "region_name": "경기도 김포시",</a:t>
            </a:r>
          </a:p>
          <a:p xmlns:a="http://schemas.openxmlformats.org/drawingml/2006/main">
            <a:r>
              <a:t>        "visitors_yoy_pct": 0.5725787983204667,</a:t>
            </a:r>
          </a:p>
          <a:p xmlns:a="http://schemas.openxmlformats.org/drawingml/2006/main">
            <a:r>
              <a:t>        "spending_yoy_pct": 2.9201707509641794</a:t>
            </a:r>
          </a:p>
          <a:p xmlns:a="http://schemas.openxmlformats.org/drawingml/2006/main">
            <a:r>
              <a:t>      },</a:t>
            </a:r>
          </a:p>
          <a:p xmlns:a="http://schemas.openxmlformats.org/drawingml/2006/main">
            <a:r>
              <a:t>      {</a:t>
            </a:r>
          </a:p>
          <a:p xmlns:a="http://schemas.openxmlformats.org/drawingml/2006/main">
            <a:r>
              <a:t>        "region_code": "41610",</a:t>
            </a:r>
          </a:p>
          <a:p xmlns:a="http://schemas.openxmlformats.org/drawingml/2006/main">
            <a:r>
              <a:t>        "region_name": "경기도 광주시",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"41630",</a:t>
            </a:r>
          </a:p>
          <a:p xmlns:a="http://schemas.openxmlformats.org/drawingml/2006/main">
            <a:r>
              <a:t>        "region_name": "경기도 양주시",</a:t>
            </a:r>
          </a:p>
          <a:p xmlns:a="http://schemas.openxmlformats.org/drawingml/2006/main">
            <a:r>
              <a:t>        "visitors_yoy_pct": 1.9080906230178662,</a:t>
            </a:r>
          </a:p>
          <a:p xmlns:a="http://schemas.openxmlformats.org/drawingml/2006/main">
            <a:r>
              <a:t>        "spending_yoy_pct": 93.29406351350364</a:t>
            </a:r>
          </a:p>
          <a:p xmlns:a="http://schemas.openxmlformats.org/drawingml/2006/main">
            <a:r>
              <a:t>      },</a:t>
            </a:r>
          </a:p>
          <a:p xmlns:a="http://schemas.openxmlformats.org/drawingml/2006/main">
            <a:r>
              <a:t>      {</a:t>
            </a:r>
          </a:p>
          <a:p xmlns:a="http://schemas.openxmlformats.org/drawingml/2006/main">
            <a:r>
              <a:t>        "region_code": "41650",</a:t>
            </a:r>
          </a:p>
          <a:p xmlns:a="http://schemas.openxmlformats.org/drawingml/2006/main">
            <a:r>
              <a:t>        "region_name": "경기도 포천시",</a:t>
            </a:r>
          </a:p>
          <a:p xmlns:a="http://schemas.openxmlformats.org/drawingml/2006/main">
            <a:r>
              <a:t>        "visitors_yoy_pct": 0.0,</a:t>
            </a:r>
          </a:p>
          <a:p xmlns:a="http://schemas.openxmlformats.org/drawingml/2006/main">
            <a:r>
              <a:t>        "spending_yoy_pct": 8.779900218563274</a:t>
            </a:r>
          </a:p>
          <a:p xmlns:a="http://schemas.openxmlformats.org/drawingml/2006/main">
            <a:r>
              <a:t>      },</a:t>
            </a:r>
          </a:p>
          <a:p xmlns:a="http://schemas.openxmlformats.org/drawingml/2006/main">
            <a:r>
              <a:t>      {</a:t>
            </a:r>
          </a:p>
          <a:p xmlns:a="http://schemas.openxmlformats.org/drawingml/2006/main">
            <a:r>
              <a:t>        "region_code": "41670",</a:t>
            </a:r>
          </a:p>
          <a:p xmlns:a="http://schemas.openxmlformats.org/drawingml/2006/main">
            <a:r>
              <a:t>        "region_name": "경기도 여주시",</a:t>
            </a:r>
          </a:p>
          <a:p xmlns:a="http://schemas.openxmlformats.org/drawingml/2006/main">
            <a:r>
              <a:t>        "visitors_yoy_pct": -0.1543004095628131,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"41800",</a:t>
            </a:r>
          </a:p>
          <a:p xmlns:a="http://schemas.openxmlformats.org/drawingml/2006/main">
            <a:r>
              <a:t>        "region_name": "경기도 연천군",</a:t>
            </a:r>
          </a:p>
          <a:p xmlns:a="http://schemas.openxmlformats.org/drawingml/2006/main">
            <a:r>
              <a:t>        "visitors_yoy_pct": -4.9845806071294625,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"41820",</a:t>
            </a:r>
          </a:p>
          <a:p xmlns:a="http://schemas.openxmlformats.org/drawingml/2006/main">
            <a:r>
              <a:t>        "region_name": "경기도 가평군",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"41830",</a:t>
            </a:r>
          </a:p>
          <a:p xmlns:a="http://schemas.openxmlformats.org/drawingml/2006/main">
            <a:r>
              <a:t>        "region_name": "경기도 양평군",</a:t>
            </a:r>
          </a:p>
          <a:p xmlns:a="http://schemas.openxmlformats.org/drawingml/2006/main">
            <a:r>
              <a:t>        "visitors_yoy_pct": 0.4443307513116945,</a:t>
            </a:r>
          </a:p>
          <a:p xmlns:a="http://schemas.openxmlformats.org/drawingml/2006/main">
            <a:r>
              <a:t>        "spending_yoy_pct": 11.522133499214316</a:t>
            </a:r>
          </a:p>
          <a:p xmlns:a="http://schemas.openxmlformats.org/drawingml/2006/main">
            <a:r>
              <a:t>      },</a:t>
            </a:r>
          </a:p>
          <a:p xmlns:a="http://schemas.openxmlformats.org/drawingml/2006/main">
            <a:r>
              <a:t>      {</a:t>
            </a:r>
          </a:p>
          <a:p xmlns:a="http://schemas.openxmlformats.org/drawingml/2006/main">
            <a:r>
              <a:t>        "region_code": "48310",</a:t>
            </a:r>
          </a:p>
          <a:p xmlns:a="http://schemas.openxmlformats.org/drawingml/2006/main">
            <a:r>
              <a:t>        "region_name": "경상남도 거제시",</a:t>
            </a:r>
          </a:p>
          <a:p xmlns:a="http://schemas.openxmlformats.org/drawingml/2006/main">
            <a:r>
              <a:t>        "visitors_yoy_pct": -0.5533626758409849,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"48820",</a:t>
            </a:r>
          </a:p>
          <a:p xmlns:a="http://schemas.openxmlformats.org/drawingml/2006/main">
            <a:r>
              <a:t>        "region_name": "경상남도 고성군",</a:t>
            </a:r>
          </a:p>
          <a:p xmlns:a="http://schemas.openxmlformats.org/drawingml/2006/main">
            <a:r>
              <a:t>        "visitors_yoy_pct": -5.682902364697629,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"48880",</a:t>
            </a:r>
          </a:p>
          <a:p xmlns:a="http://schemas.openxmlformats.org/drawingml/2006/main">
            <a:r>
              <a:t>        "region_name": "경상남도 거창군",</a:t>
            </a:r>
          </a:p>
          <a:p xmlns:a="http://schemas.openxmlformats.org/drawingml/2006/main">
            <a:r>
              <a:t>        "visitors_yoy_pct": -6.197087223670394,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"48250",</a:t>
            </a:r>
          </a:p>
          <a:p xmlns:a="http://schemas.openxmlformats.org/drawingml/2006/main">
            <a:r>
              <a:t>        "region_name": "경상남도 김해시",</a:t>
            </a:r>
          </a:p>
          <a:p xmlns:a="http://schemas.openxmlformats.org/drawingml/2006/main">
            <a:r>
              <a:t>        "visitors_yoy_pct": 1.532627270013709,</a:t>
            </a:r>
          </a:p>
          <a:p xmlns:a="http://schemas.openxmlformats.org/drawingml/2006/main">
            <a:r>
              <a:t>        "spending_yoy_pct": 11.550184318092782</a:t>
            </a:r>
          </a:p>
          <a:p xmlns:a="http://schemas.openxmlformats.org/drawingml/2006/main">
            <a:r>
              <a:t>      },</a:t>
            </a:r>
          </a:p>
          <a:p xmlns:a="http://schemas.openxmlformats.org/drawingml/2006/main">
            <a:r>
              <a:t>      {</a:t>
            </a:r>
          </a:p>
          <a:p xmlns:a="http://schemas.openxmlformats.org/drawingml/2006/main">
            <a:r>
              <a:t>        "region_code": "48840",</a:t>
            </a:r>
          </a:p>
          <a:p xmlns:a="http://schemas.openxmlformats.org/drawingml/2006/main">
            <a:r>
              <a:t>        "region_name": "경상남도 남해군",</a:t>
            </a:r>
          </a:p>
          <a:p xmlns:a="http://schemas.openxmlformats.org/drawingml/2006/main">
            <a:r>
              <a:t>        "visitors_yoy_pct": -0.19569437562877434,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"48270",</a:t>
            </a:r>
          </a:p>
          <a:p xmlns:a="http://schemas.openxmlformats.org/drawingml/2006/main">
            <a:r>
              <a:t>        "region_name": "경상남도 밀양시",</a:t>
            </a:r>
          </a:p>
          <a:p xmlns:a="http://schemas.openxmlformats.org/drawingml/2006/main">
            <a:r>
              <a:t>        "visitors_yoy_pct": -0.9188809536138209,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"48240",</a:t>
            </a:r>
          </a:p>
          <a:p xmlns:a="http://schemas.openxmlformats.org/drawingml/2006/main">
            <a:r>
              <a:t>        "region_name": "경상남도 사천시",</a:t>
            </a:r>
          </a:p>
          <a:p xmlns:a="http://schemas.openxmlformats.org/drawingml/2006/main">
            <a:r>
              <a:t>        "visitors_yoy_pct": -0.013909531225120286,</a:t>
            </a:r>
          </a:p>
          <a:p xmlns:a="http://schemas.openxmlformats.org/drawingml/2006/main">
            <a:r>
              <a:t>        "spending_yoy_pct": 2.9088830140476807</a:t>
            </a:r>
          </a:p>
          <a:p xmlns:a="http://schemas.openxmlformats.org/drawingml/2006/main">
            <a:r>
              <a:t>      },</a:t>
            </a:r>
          </a:p>
          <a:p xmlns:a="http://schemas.openxmlformats.org/drawingml/2006/main">
            <a:r>
              <a:t>      {</a:t>
            </a:r>
          </a:p>
          <a:p xmlns:a="http://schemas.openxmlformats.org/drawingml/2006/main">
            <a:r>
              <a:t>        "region_code": "48860",</a:t>
            </a:r>
          </a:p>
          <a:p xmlns:a="http://schemas.openxmlformats.org/drawingml/2006/main">
            <a:r>
              <a:t>        "region_name": "경상남도 산청군",</a:t>
            </a:r>
          </a:p>
          <a:p xmlns:a="http://schemas.openxmlformats.org/drawingml/2006/main">
            <a:r>
              <a:t>        "visitors_yoy_pct": -0.15207888510152534,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"48330",</a:t>
            </a:r>
          </a:p>
          <a:p xmlns:a="http://schemas.openxmlformats.org/drawingml/2006/main">
            <a:r>
              <a:t>        "region_name": "경상남도 양산시",</a:t>
            </a:r>
          </a:p>
          <a:p xmlns:a="http://schemas.openxmlformats.org/drawingml/2006/main">
            <a:r>
              <a:t>        "visitors_yoy_pct": -1.3899560482204198,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"48720",</a:t>
            </a:r>
          </a:p>
          <a:p xmlns:a="http://schemas.openxmlformats.org/drawingml/2006/main">
            <a:r>
              <a:t>        "region_name": "경상남도 의령군",</a:t>
            </a:r>
          </a:p>
          <a:p xmlns:a="http://schemas.openxmlformats.org/drawingml/2006/main">
            <a:r>
              <a:t>        "visitors_yoy_pct": -7.2910216851574505,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"48170",</a:t>
            </a:r>
          </a:p>
          <a:p xmlns:a="http://schemas.openxmlformats.org/drawingml/2006/main">
            <a:r>
              <a:t>        "region_name": "경상남도 진주시",</a:t>
            </a:r>
          </a:p>
          <a:p xmlns:a="http://schemas.openxmlformats.org/drawingml/2006/main">
            <a:r>
              <a:t>        "visitors_yoy_pct": -5.515868609397323,</a:t>
            </a:r>
          </a:p>
          <a:p xmlns:a="http://schemas.openxmlformats.org/drawingml/2006/main">
            <a:r>
              <a:t>        "spending_yoy_pct": -1.7817730383349328</a:t>
            </a:r>
          </a:p>
          <a:p xmlns:a="http://schemas.openxmlformats.org/drawingml/2006/main">
            <a:r>
              <a:t>      },</a:t>
            </a:r>
          </a:p>
          <a:p xmlns:a="http://schemas.openxmlformats.org/drawingml/2006/main">
            <a:r>
              <a:t>      {</a:t>
            </a:r>
          </a:p>
          <a:p xmlns:a="http://schemas.openxmlformats.org/drawingml/2006/main">
            <a:r>
              <a:t>        "region_code": "48740",</a:t>
            </a:r>
          </a:p>
          <a:p xmlns:a="http://schemas.openxmlformats.org/drawingml/2006/main">
            <a:r>
              <a:t>        "region_name": "경상남도 창녕군",</a:t>
            </a:r>
          </a:p>
          <a:p xmlns:a="http://schemas.openxmlformats.org/drawingml/2006/main">
            <a:r>
              <a:t>        "visitors_yoy_pct": 2.1795297362594557,</a:t>
            </a:r>
          </a:p>
          <a:p xmlns:a="http://schemas.openxmlformats.org/drawingml/2006/main">
            <a:r>
              <a:t>        "spending_yoy_pct": 28.383514181768852</a:t>
            </a:r>
          </a:p>
          <a:p xmlns:a="http://schemas.openxmlformats.org/drawingml/2006/main">
            <a:r>
              <a:t>      },</a:t>
            </a:r>
          </a:p>
          <a:p xmlns:a="http://schemas.openxmlformats.org/drawingml/2006/main">
            <a:r>
              <a:t>      {</a:t>
            </a:r>
          </a:p>
          <a:p xmlns:a="http://schemas.openxmlformats.org/drawingml/2006/main">
            <a:r>
              <a:t>        "region_code": "48125",</a:t>
            </a:r>
          </a:p>
          <a:p xmlns:a="http://schemas.openxmlformats.org/drawingml/2006/main">
            <a:r>
              <a:t>        "region_name": "경상남도 창원시 마산합포구",</a:t>
            </a:r>
          </a:p>
          <a:p xmlns:a="http://schemas.openxmlformats.org/drawingml/2006/main">
            <a:r>
              <a:t>        "visitors_yoy_pct": -3.7906092926320967,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"48127",</a:t>
            </a:r>
          </a:p>
          <a:p xmlns:a="http://schemas.openxmlformats.org/drawingml/2006/main">
            <a:r>
              <a:t>        "region_name": "경상남도 창원시 마산회원구",</a:t>
            </a:r>
          </a:p>
          <a:p xmlns:a="http://schemas.openxmlformats.org/drawingml/2006/main">
            <a:r>
              <a:t>        "visitors_yoy_pct": -0.12463356717037355,</a:t>
            </a:r>
          </a:p>
          <a:p xmlns:a="http://schemas.openxmlformats.org/drawingml/2006/main">
            <a:r>
              <a:t>        "spending_yoy_pct": 15.444220129143616</a:t>
            </a:r>
          </a:p>
          <a:p xmlns:a="http://schemas.openxmlformats.org/drawingml/2006/main">
            <a:r>
              <a:t>      },</a:t>
            </a:r>
          </a:p>
          <a:p xmlns:a="http://schemas.openxmlformats.org/drawingml/2006/main">
            <a:r>
              <a:t>      {</a:t>
            </a:r>
          </a:p>
          <a:p xmlns:a="http://schemas.openxmlformats.org/drawingml/2006/main">
            <a:r>
              <a:t>        "region_code": "48123",</a:t>
            </a:r>
          </a:p>
          <a:p xmlns:a="http://schemas.openxmlformats.org/drawingml/2006/main">
            <a:r>
              <a:t>        "region_name": "경상남도 창원시 성산구",</a:t>
            </a:r>
          </a:p>
          <a:p xmlns:a="http://schemas.openxmlformats.org/drawingml/2006/main">
            <a:r>
              <a:t>        "visitors_yoy_pct": -0.3368063498548568,</a:t>
            </a:r>
          </a:p>
          <a:p xmlns:a="http://schemas.openxmlformats.org/drawingml/2006/main">
            <a:r>
              <a:t>        "spending_yoy_pct": 13.970563515910307</a:t>
            </a:r>
          </a:p>
          <a:p xmlns:a="http://schemas.openxmlformats.org/drawingml/2006/main">
            <a:r>
              <a:t>      },</a:t>
            </a:r>
          </a:p>
          <a:p xmlns:a="http://schemas.openxmlformats.org/drawingml/2006/main">
            <a:r>
              <a:t>      {</a:t>
            </a:r>
          </a:p>
          <a:p xmlns:a="http://schemas.openxmlformats.org/drawingml/2006/main">
            <a:r>
              <a:t>        "region_code": "48121",</a:t>
            </a:r>
          </a:p>
          <a:p xmlns:a="http://schemas.openxmlformats.org/drawingml/2006/main">
            <a:r>
              <a:t>        "region_name": "경상남도 창원시 의창구",</a:t>
            </a:r>
          </a:p>
          <a:p xmlns:a="http://schemas.openxmlformats.org/drawingml/2006/main">
            <a:r>
              <a:t>        "visitors_yoy_pct": 1.010200811824924,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"48129",</a:t>
            </a:r>
          </a:p>
          <a:p xmlns:a="http://schemas.openxmlformats.org/drawingml/2006/main">
            <a:r>
              <a:t>        "region_name": "경상남도 창원시 진해구",</a:t>
            </a:r>
          </a:p>
          <a:p xmlns:a="http://schemas.openxmlformats.org/drawingml/2006/main">
            <a:r>
              <a:t>        "visitors_yoy_pct": 5.772683047324012,</a:t>
            </a:r>
          </a:p>
          <a:p xmlns:a="http://schemas.openxmlformats.org/drawingml/2006/main">
            <a:r>
              <a:t>        "spending_yoy_pct": 16.64700605789211</a:t>
            </a:r>
          </a:p>
          <a:p xmlns:a="http://schemas.openxmlformats.org/drawingml/2006/main">
            <a:r>
              <a:t>      },</a:t>
            </a:r>
          </a:p>
          <a:p xmlns:a="http://schemas.openxmlformats.org/drawingml/2006/main">
            <a:r>
              <a:t>      {</a:t>
            </a:r>
          </a:p>
          <a:p xmlns:a="http://schemas.openxmlformats.org/drawingml/2006/main">
            <a:r>
              <a:t>        "region_code": "48220",</a:t>
            </a:r>
          </a:p>
          <a:p xmlns:a="http://schemas.openxmlformats.org/drawingml/2006/main">
            <a:r>
              <a:t>        "region_name": "경상남도 통영시",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"48850",</a:t>
            </a:r>
          </a:p>
          <a:p xmlns:a="http://schemas.openxmlformats.org/drawingml/2006/main">
            <a:r>
              <a:t>        "region_name": "경상남도 하동군",</a:t>
            </a:r>
          </a:p>
          <a:p xmlns:a="http://schemas.openxmlformats.org/drawingml/2006/main">
            <a:r>
              <a:t>        "visitors_yoy_pct": 7.0968608639590425,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"48730",</a:t>
            </a:r>
          </a:p>
          <a:p xmlns:a="http://schemas.openxmlformats.org/drawingml/2006/main">
            <a:r>
              <a:t>        "region_name": "경상남도 함안군",</a:t>
            </a:r>
          </a:p>
          <a:p xmlns:a="http://schemas.openxmlformats.org/drawingml/2006/main">
            <a:r>
              <a:t>        "visitors_yoy_pct": 8.91384142916214,</a:t>
            </a:r>
          </a:p>
          <a:p xmlns:a="http://schemas.openxmlformats.org/drawingml/2006/main">
            <a:r>
              <a:t>        "spending_yoy_pct": 51.42963050638678</a:t>
            </a:r>
          </a:p>
          <a:p xmlns:a="http://schemas.openxmlformats.org/drawingml/2006/main">
            <a:r>
              <a:t>      },</a:t>
            </a:r>
          </a:p>
          <a:p xmlns:a="http://schemas.openxmlformats.org/drawingml/2006/main">
            <a:r>
              <a:t>      {</a:t>
            </a:r>
          </a:p>
          <a:p xmlns:a="http://schemas.openxmlformats.org/drawingml/2006/main">
            <a:r>
              <a:t>        "region_code": "48870",</a:t>
            </a:r>
          </a:p>
          <a:p xmlns:a="http://schemas.openxmlformats.org/drawingml/2006/main">
            <a:r>
              <a:t>        "region_name": "경상남도 함양군",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"48890",</a:t>
            </a:r>
          </a:p>
          <a:p xmlns:a="http://schemas.openxmlformats.org/drawingml/2006/main">
            <a:r>
              <a:t>        "region_name": "경상남도 합천군",</a:t>
            </a:r>
          </a:p>
          <a:p xmlns:a="http://schemas.openxmlformats.org/drawingml/2006/main">
            <a:r>
              <a:t>        "visitors_yoy_pct": -4.5613101360050035,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"47290",</a:t>
            </a:r>
          </a:p>
          <a:p xmlns:a="http://schemas.openxmlformats.org/drawingml/2006/main">
            <a:r>
              <a:t>        "region_name": "경상북도 경산시",</a:t>
            </a:r>
          </a:p>
          <a:p xmlns:a="http://schemas.openxmlformats.org/drawingml/2006/main">
            <a:r>
              <a:t>        "visitors_yoy_pct": 4.65529590507352,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"47130",</a:t>
            </a:r>
          </a:p>
          <a:p xmlns:a="http://schemas.openxmlformats.org/drawingml/2006/main">
            <a:r>
              <a:t>        "region_name": "경상북도 경주시",</a:t>
            </a:r>
          </a:p>
          <a:p xmlns:a="http://schemas.openxmlformats.org/drawingml/2006/main">
            <a:r>
              <a:t>        "visitors_yoy_pct": 0.31874615966416275,</a:t>
            </a:r>
          </a:p>
          <a:p xmlns:a="http://schemas.openxmlformats.org/drawingml/2006/main">
            <a:r>
              <a:t>        "spending_yoy_pct": 199.8299142834811</a:t>
            </a:r>
          </a:p>
          <a:p xmlns:a="http://schemas.openxmlformats.org/drawingml/2006/main">
            <a:r>
              <a:t>      },</a:t>
            </a:r>
          </a:p>
          <a:p xmlns:a="http://schemas.openxmlformats.org/drawingml/2006/main">
            <a:r>
              <a:t>      {</a:t>
            </a:r>
          </a:p>
          <a:p xmlns:a="http://schemas.openxmlformats.org/drawingml/2006/main">
            <a:r>
              <a:t>        "region_code": "47830",</a:t>
            </a:r>
          </a:p>
          <a:p xmlns:a="http://schemas.openxmlformats.org/drawingml/2006/main">
            <a:r>
              <a:t>        "region_name": "경상북도 고령군",</a:t>
            </a:r>
          </a:p>
          <a:p xmlns:a="http://schemas.openxmlformats.org/drawingml/2006/main">
            <a:r>
              <a:t>        "visitors_yoy_pct": -3.899263505165773,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"47190",</a:t>
            </a:r>
          </a:p>
          <a:p xmlns:a="http://schemas.openxmlformats.org/drawingml/2006/main">
            <a:r>
              <a:t>        "region_name": "경상북도 구미시",</a:t>
            </a:r>
          </a:p>
          <a:p xmlns:a="http://schemas.openxmlformats.org/drawingml/2006/main">
            <a:r>
              <a:t>        "visitors_yoy_pct": -1.8883975251061003,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"47150",</a:t>
            </a:r>
          </a:p>
          <a:p xmlns:a="http://schemas.openxmlformats.org/drawingml/2006/main">
            <a:r>
              <a:t>        "region_name": "경상북도 김천시",</a:t>
            </a:r>
          </a:p>
          <a:p xmlns:a="http://schemas.openxmlformats.org/drawingml/2006/main">
            <a:r>
              <a:t>        "visitors_yoy_pct": 0.11812466942986433,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"47280",</a:t>
            </a:r>
          </a:p>
          <a:p xmlns:a="http://schemas.openxmlformats.org/drawingml/2006/main">
            <a:r>
              <a:t>        "region_name": "경상북도 문경시",</a:t>
            </a:r>
          </a:p>
          <a:p xmlns:a="http://schemas.openxmlformats.org/drawingml/2006/main">
            <a:r>
              <a:t>        "visitors_yoy_pct": -4.449903676617362,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"47920",</a:t>
            </a:r>
          </a:p>
          <a:p xmlns:a="http://schemas.openxmlformats.org/drawingml/2006/main">
            <a:r>
              <a:t>        "region_name": "경상북도 봉화군",</a:t>
            </a:r>
          </a:p>
          <a:p xmlns:a="http://schemas.openxmlformats.org/drawingml/2006/main">
            <a:r>
              <a:t>        "visitors_yoy_pct": -4.529772428896173,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"47250",</a:t>
            </a:r>
          </a:p>
          <a:p xmlns:a="http://schemas.openxmlformats.org/drawingml/2006/main">
            <a:r>
              <a:t>        "region_name": "경상북도 상주시",</a:t>
            </a:r>
          </a:p>
          <a:p xmlns:a="http://schemas.openxmlformats.org/drawingml/2006/main">
            <a:r>
              <a:t>        "visitors_yoy_pct": -3.967948727511972,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"47840",</a:t>
            </a:r>
          </a:p>
          <a:p xmlns:a="http://schemas.openxmlformats.org/drawingml/2006/main">
            <a:r>
              <a:t>        "region_name": "경상북도 성주군",</a:t>
            </a:r>
          </a:p>
          <a:p xmlns:a="http://schemas.openxmlformats.org/drawingml/2006/main">
            <a:r>
              <a:t>        "visitors_yoy_pct": -0.2007651826217982,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"47170",</a:t>
            </a:r>
          </a:p>
          <a:p xmlns:a="http://schemas.openxmlformats.org/drawingml/2006/main">
            <a:r>
              <a:t>        "region_name": "경상북도 안동시",</a:t>
            </a:r>
          </a:p>
          <a:p xmlns:a="http://schemas.openxmlformats.org/drawingml/2006/main">
            <a:r>
              <a:t>        "visitors_yoy_pct": -3.204974055201437,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"47770",</a:t>
            </a:r>
          </a:p>
          <a:p xmlns:a="http://schemas.openxmlformats.org/drawingml/2006/main">
            <a:r>
              <a:t>        "region_name": "경상북도 영덕군",</a:t>
            </a:r>
          </a:p>
          <a:p xmlns:a="http://schemas.openxmlformats.org/drawingml/2006/main">
            <a:r>
              <a:t>        "visitors_yoy_pct": 0.0,</a:t>
            </a:r>
          </a:p>
          <a:p xmlns:a="http://schemas.openxmlformats.org/drawingml/2006/main">
            <a:r>
              <a:t>        "spending_yoy_pct": 21.98935102974735</a:t>
            </a:r>
          </a:p>
          <a:p xmlns:a="http://schemas.openxmlformats.org/drawingml/2006/main">
            <a:r>
              <a:t>      },</a:t>
            </a:r>
          </a:p>
          <a:p xmlns:a="http://schemas.openxmlformats.org/drawingml/2006/main">
            <a:r>
              <a:t>      {</a:t>
            </a:r>
          </a:p>
          <a:p xmlns:a="http://schemas.openxmlformats.org/drawingml/2006/main">
            <a:r>
              <a:t>        "region_code": "47760",</a:t>
            </a:r>
          </a:p>
          <a:p xmlns:a="http://schemas.openxmlformats.org/drawingml/2006/main">
            <a:r>
              <a:t>        "region_name": "경상북도 영양군",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"47210",</a:t>
            </a:r>
          </a:p>
          <a:p xmlns:a="http://schemas.openxmlformats.org/drawingml/2006/main">
            <a:r>
              <a:t>        "region_name": "경상북도 영주시",</a:t>
            </a:r>
          </a:p>
          <a:p xmlns:a="http://schemas.openxmlformats.org/drawingml/2006/main">
            <a:r>
              <a:t>        "visitors_yoy_pct": 0.0,</a:t>
            </a:r>
          </a:p>
          <a:p xmlns:a="http://schemas.openxmlformats.org/drawingml/2006/main">
            <a:r>
              <a:t>        "spending_yoy_pct": -23.845377664211888</a:t>
            </a:r>
          </a:p>
          <a:p xmlns:a="http://schemas.openxmlformats.org/drawingml/2006/main">
            <a:r>
              <a:t>      },</a:t>
            </a:r>
          </a:p>
          <a:p xmlns:a="http://schemas.openxmlformats.org/drawingml/2006/main">
            <a:r>
              <a:t>      {</a:t>
            </a:r>
          </a:p>
          <a:p xmlns:a="http://schemas.openxmlformats.org/drawingml/2006/main">
            <a:r>
              <a:t>        "region_code": "47230",</a:t>
            </a:r>
          </a:p>
          <a:p xmlns:a="http://schemas.openxmlformats.org/drawingml/2006/main">
            <a:r>
              <a:t>        "region_name": "경상북도 영천시",</a:t>
            </a:r>
          </a:p>
          <a:p xmlns:a="http://schemas.openxmlformats.org/drawingml/2006/main">
            <a:r>
              <a:t>        "visitors_yoy_pct": 0.0,</a:t>
            </a:r>
          </a:p>
          <a:p xmlns:a="http://schemas.openxmlformats.org/drawingml/2006/main">
            <a:r>
              <a:t>        "spending_yoy_pct": 77.2454788529685</a:t>
            </a:r>
          </a:p>
          <a:p xmlns:a="http://schemas.openxmlformats.org/drawingml/2006/main">
            <a:r>
              <a:t>      },</a:t>
            </a:r>
          </a:p>
          <a:p xmlns:a="http://schemas.openxmlformats.org/drawingml/2006/main">
            <a:r>
              <a:t>      {</a:t>
            </a:r>
          </a:p>
          <a:p xmlns:a="http://schemas.openxmlformats.org/drawingml/2006/main">
            <a:r>
              <a:t>        "region_code": "47900",</a:t>
            </a:r>
          </a:p>
          <a:p xmlns:a="http://schemas.openxmlformats.org/drawingml/2006/main">
            <a:r>
              <a:t>        "region_name": "경상북도 예천군",</a:t>
            </a:r>
          </a:p>
          <a:p xmlns:a="http://schemas.openxmlformats.org/drawingml/2006/main">
            <a:r>
              <a:t>        "visitors_yoy_pct": -2.975129590969039,</a:t>
            </a:r>
          </a:p>
          <a:p xmlns:a="http://schemas.openxmlformats.org/drawingml/2006/main">
            <a:r>
              <a:t>        "spending_yoy_pct": -1.629426609535689</a:t>
            </a:r>
          </a:p>
          <a:p xmlns:a="http://schemas.openxmlformats.org/drawingml/2006/main">
            <a:r>
              <a:t>      },</a:t>
            </a:r>
          </a:p>
          <a:p xmlns:a="http://schemas.openxmlformats.org/drawingml/2006/main">
            <a:r>
              <a:t>      {</a:t>
            </a:r>
          </a:p>
          <a:p xmlns:a="http://schemas.openxmlformats.org/drawingml/2006/main">
            <a:r>
              <a:t>        "region_code": "47940",</a:t>
            </a:r>
          </a:p>
          <a:p xmlns:a="http://schemas.openxmlformats.org/drawingml/2006/main">
            <a:r>
              <a:t>        "region_name": "경상북도 울릉군",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"47930",</a:t>
            </a:r>
          </a:p>
          <a:p xmlns:a="http://schemas.openxmlformats.org/drawingml/2006/main">
            <a:r>
              <a:t>        "region_name": "경상북도 울진군",</a:t>
            </a:r>
          </a:p>
          <a:p xmlns:a="http://schemas.openxmlformats.org/drawingml/2006/main">
            <a:r>
              <a:t>        "visitors_yoy_pct": 0.0,</a:t>
            </a:r>
          </a:p>
          <a:p xmlns:a="http://schemas.openxmlformats.org/drawingml/2006/main">
            <a:r>
              <a:t>        "spending_yoy_pct": 13.71754848584239</a:t>
            </a:r>
          </a:p>
          <a:p xmlns:a="http://schemas.openxmlformats.org/drawingml/2006/main">
            <a:r>
              <a:t>      },</a:t>
            </a:r>
          </a:p>
          <a:p xmlns:a="http://schemas.openxmlformats.org/drawingml/2006/main">
            <a:r>
              <a:t>      {</a:t>
            </a:r>
          </a:p>
          <a:p xmlns:a="http://schemas.openxmlformats.org/drawingml/2006/main">
            <a:r>
              <a:t>        "region_code": "47730",</a:t>
            </a:r>
          </a:p>
          <a:p xmlns:a="http://schemas.openxmlformats.org/drawingml/2006/main">
            <a:r>
              <a:t>        "region_name": "경상북도 의성군",</a:t>
            </a:r>
          </a:p>
          <a:p xmlns:a="http://schemas.openxmlformats.org/drawingml/2006/main">
            <a:r>
              <a:t>        "visitors_yoy_pct": 2.817683783685676,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"47820",</a:t>
            </a:r>
          </a:p>
          <a:p xmlns:a="http://schemas.openxmlformats.org/drawingml/2006/main">
            <a:r>
              <a:t>        "region_name": "경상북도 청도군",</a:t>
            </a:r>
          </a:p>
          <a:p xmlns:a="http://schemas.openxmlformats.org/drawingml/2006/main">
            <a:r>
              <a:t>        "visitors_yoy_pct": 2.4821537544526873,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"47750",</a:t>
            </a:r>
          </a:p>
          <a:p xmlns:a="http://schemas.openxmlformats.org/drawingml/2006/main">
            <a:r>
              <a:t>        "region_name": "경상북도 청송군",</a:t>
            </a:r>
          </a:p>
          <a:p xmlns:a="http://schemas.openxmlformats.org/drawingml/2006/main">
            <a:r>
              <a:t>        "visitors_yoy_pct": -8.388009807135566,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"47850",</a:t>
            </a:r>
          </a:p>
          <a:p xmlns:a="http://schemas.openxmlformats.org/drawingml/2006/main">
            <a:r>
              <a:t>        "region_name": "경상북도 칠곡군",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"47111",</a:t>
            </a:r>
          </a:p>
          <a:p xmlns:a="http://schemas.openxmlformats.org/drawingml/2006/main">
            <a:r>
              <a:t>        "region_name": "경상북도 포항시 남구",</a:t>
            </a:r>
          </a:p>
          <a:p xmlns:a="http://schemas.openxmlformats.org/drawingml/2006/main">
            <a:r>
              <a:t>        "visitors_yoy_pct": 1.1946114274143271,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"47113",</a:t>
            </a:r>
          </a:p>
          <a:p xmlns:a="http://schemas.openxmlformats.org/drawingml/2006/main">
            <a:r>
              <a:t>        "region_name": "경상북도 포항시 북구",</a:t>
            </a:r>
          </a:p>
          <a:p xmlns:a="http://schemas.openxmlformats.org/drawingml/2006/main">
            <a:r>
              <a:t>        "visitors_yoy_pct": -0.8521609077245751,</a:t>
            </a:r>
          </a:p>
          <a:p xmlns:a="http://schemas.openxmlformats.org/drawingml/2006/main">
            <a:r>
              <a:t>        "spending_yoy_pct": 11.610152246182537</a:t>
            </a:r>
          </a:p>
          <a:p xmlns:a="http://schemas.openxmlformats.org/drawingml/2006/main">
            <a:r>
              <a:t>      },</a:t>
            </a:r>
          </a:p>
          <a:p xmlns:a="http://schemas.openxmlformats.org/drawingml/2006/main">
            <a:r>
              <a:t>      {</a:t>
            </a:r>
          </a:p>
          <a:p xmlns:a="http://schemas.openxmlformats.org/drawingml/2006/main">
            <a:r>
              <a:t>        "region_code": "29200",</a:t>
            </a:r>
          </a:p>
          <a:p xmlns:a="http://schemas.openxmlformats.org/drawingml/2006/main">
            <a:r>
              <a:t>        "region_name": "광주광역시 광산구",</a:t>
            </a:r>
          </a:p>
          <a:p xmlns:a="http://schemas.openxmlformats.org/drawingml/2006/main">
            <a:r>
              <a:t>        "visitors_yoy_pct": -0.7214500007304392,</a:t>
            </a:r>
          </a:p>
          <a:p xmlns:a="http://schemas.openxmlformats.org/drawingml/2006/main">
            <a:r>
              <a:t>        "spending_yoy_pct": 7.591638703469283</a:t>
            </a:r>
          </a:p>
          <a:p xmlns:a="http://schemas.openxmlformats.org/drawingml/2006/main">
            <a:r>
              <a:t>      },</a:t>
            </a:r>
          </a:p>
          <a:p xmlns:a="http://schemas.openxmlformats.org/drawingml/2006/main">
            <a:r>
              <a:t>      {</a:t>
            </a:r>
          </a:p>
          <a:p xmlns:a="http://schemas.openxmlformats.org/drawingml/2006/main">
            <a:r>
              <a:t>        "region_code": "29155",</a:t>
            </a:r>
          </a:p>
          <a:p xmlns:a="http://schemas.openxmlformats.org/drawingml/2006/main">
            <a:r>
              <a:t>        "region_name": "광주광역시 남구",</a:t>
            </a:r>
          </a:p>
          <a:p xmlns:a="http://schemas.openxmlformats.org/drawingml/2006/main">
            <a:r>
              <a:t>        "visitors_yoy_pct": -0.9553189898898751,</a:t>
            </a:r>
          </a:p>
          <a:p xmlns:a="http://schemas.openxmlformats.org/drawingml/2006/main">
            <a:r>
              <a:t>        "spending_yoy_pct": -1.8532051877563682</a:t>
            </a:r>
          </a:p>
          <a:p xmlns:a="http://schemas.openxmlformats.org/drawingml/2006/main">
            <a:r>
              <a:t>      },</a:t>
            </a:r>
          </a:p>
          <a:p xmlns:a="http://schemas.openxmlformats.org/drawingml/2006/main">
            <a:r>
              <a:t>      {</a:t>
            </a:r>
          </a:p>
          <a:p xmlns:a="http://schemas.openxmlformats.org/drawingml/2006/main">
            <a:r>
              <a:t>        "region_code": "29110",</a:t>
            </a:r>
          </a:p>
          <a:p xmlns:a="http://schemas.openxmlformats.org/drawingml/2006/main">
            <a:r>
              <a:t>        "region_name": "광주광역시 동구",</a:t>
            </a:r>
          </a:p>
          <a:p xmlns:a="http://schemas.openxmlformats.org/drawingml/2006/main">
            <a:r>
              <a:t>        "visitors_yoy_pct": 4.555014466689378,</a:t>
            </a:r>
          </a:p>
          <a:p xmlns:a="http://schemas.openxmlformats.org/drawingml/2006/main">
            <a:r>
              <a:t>        "spending_yoy_pct": 12.98517569147155</a:t>
            </a:r>
          </a:p>
          <a:p xmlns:a="http://schemas.openxmlformats.org/drawingml/2006/main">
            <a:r>
              <a:t>      },</a:t>
            </a:r>
          </a:p>
          <a:p xmlns:a="http://schemas.openxmlformats.org/drawingml/2006/main">
            <a:r>
              <a:t>      {</a:t>
            </a:r>
          </a:p>
          <a:p xmlns:a="http://schemas.openxmlformats.org/drawingml/2006/main">
            <a:r>
              <a:t>        "region_code": "29170",</a:t>
            </a:r>
          </a:p>
          <a:p xmlns:a="http://schemas.openxmlformats.org/drawingml/2006/main">
            <a:r>
              <a:t>        "region_name": "광주광역시 북구",</a:t>
            </a:r>
          </a:p>
          <a:p xmlns:a="http://schemas.openxmlformats.org/drawingml/2006/main">
            <a:r>
              <a:t>        "visitors_yoy_pct": 2.6888462104591726,</a:t>
            </a:r>
          </a:p>
          <a:p xmlns:a="http://schemas.openxmlformats.org/drawingml/2006/main">
            <a:r>
              <a:t>        "spending_yoy_pct": 1.7726236280316332</a:t>
            </a:r>
          </a:p>
          <a:p xmlns:a="http://schemas.openxmlformats.org/drawingml/2006/main">
            <a:r>
              <a:t>      },</a:t>
            </a:r>
          </a:p>
          <a:p xmlns:a="http://schemas.openxmlformats.org/drawingml/2006/main">
            <a:r>
              <a:t>      {</a:t>
            </a:r>
          </a:p>
          <a:p xmlns:a="http://schemas.openxmlformats.org/drawingml/2006/main">
            <a:r>
              <a:t>        "region_code": "29140",</a:t>
            </a:r>
          </a:p>
          <a:p xmlns:a="http://schemas.openxmlformats.org/drawingml/2006/main">
            <a:r>
              <a:t>        "region_name": "광주광역시 서구",</a:t>
            </a:r>
          </a:p>
          <a:p xmlns:a="http://schemas.openxmlformats.org/drawingml/2006/main">
            <a:r>
              <a:t>        "visitors_yoy_pct": -0.9873473880396388,</a:t>
            </a:r>
          </a:p>
          <a:p xmlns:a="http://schemas.openxmlformats.org/drawingml/2006/main">
            <a:r>
              <a:t>        "spending_yoy_pct": 4.430062438540672</a:t>
            </a:r>
          </a:p>
          <a:p xmlns:a="http://schemas.openxmlformats.org/drawingml/2006/main">
            <a:r>
              <a:t>      },</a:t>
            </a:r>
          </a:p>
          <a:p xmlns:a="http://schemas.openxmlformats.org/drawingml/2006/main">
            <a:r>
              <a:t>      {</a:t>
            </a:r>
          </a:p>
          <a:p xmlns:a="http://schemas.openxmlformats.org/drawingml/2006/main">
            <a:r>
              <a:t>        "region_code": "27720",</a:t>
            </a:r>
          </a:p>
          <a:p xmlns:a="http://schemas.openxmlformats.org/drawingml/2006/main">
            <a:r>
              <a:t>        "region_name": "대구광역시 군위군",</a:t>
            </a:r>
          </a:p>
          <a:p xmlns:a="http://schemas.openxmlformats.org/drawingml/2006/main">
            <a:r>
              <a:t>        "visitors_yoy_pct": -5.749236240423238,</a:t>
            </a:r>
          </a:p>
          <a:p xmlns:a="http://schemas.openxmlformats.org/drawingml/2006/main">
            <a:r>
              <a:t>        "spending_yoy_pct": -3.869100627733313</a:t>
            </a:r>
          </a:p>
          <a:p xmlns:a="http://schemas.openxmlformats.org/drawingml/2006/main">
            <a:r>
              <a:t>      },</a:t>
            </a:r>
          </a:p>
          <a:p xmlns:a="http://schemas.openxmlformats.org/drawingml/2006/main">
            <a:r>
              <a:t>      {</a:t>
            </a:r>
          </a:p>
          <a:p xmlns:a="http://schemas.openxmlformats.org/drawingml/2006/main">
            <a:r>
              <a:t>        "region_code": "27200",</a:t>
            </a:r>
          </a:p>
          <a:p xmlns:a="http://schemas.openxmlformats.org/drawingml/2006/main">
            <a:r>
              <a:t>        "region_name": "대구광역시 남구",</a:t>
            </a:r>
          </a:p>
          <a:p xmlns:a="http://schemas.openxmlformats.org/drawingml/2006/main">
            <a:r>
              <a:t>        "visitors_yoy_pct": 1.3969318106962447,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"27290",</a:t>
            </a:r>
          </a:p>
          <a:p xmlns:a="http://schemas.openxmlformats.org/drawingml/2006/main">
            <a:r>
              <a:t>        "region_name": "대구광역시 달서구",</a:t>
            </a:r>
          </a:p>
          <a:p xmlns:a="http://schemas.openxmlformats.org/drawingml/2006/main">
            <a:r>
              <a:t>        "visitors_yoy_pct": -0.22657328637972762,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"27710",</a:t>
            </a:r>
          </a:p>
          <a:p xmlns:a="http://schemas.openxmlformats.org/drawingml/2006/main">
            <a:r>
              <a:t>        "region_name": "대구광역시 달성군",</a:t>
            </a:r>
          </a:p>
          <a:p xmlns:a="http://schemas.openxmlformats.org/drawingml/2006/main">
            <a:r>
              <a:t>        "visitors_yoy_pct": 1.5620618810417541,</a:t>
            </a:r>
          </a:p>
          <a:p xmlns:a="http://schemas.openxmlformats.org/drawingml/2006/main">
            <a:r>
              <a:t>        "spending_yoy_pct": 18.180566393295393</a:t>
            </a:r>
          </a:p>
          <a:p xmlns:a="http://schemas.openxmlformats.org/drawingml/2006/main">
            <a:r>
              <a:t>      },</a:t>
            </a:r>
          </a:p>
          <a:p xmlns:a="http://schemas.openxmlformats.org/drawingml/2006/main">
            <a:r>
              <a:t>      {</a:t>
            </a:r>
          </a:p>
          <a:p xmlns:a="http://schemas.openxmlformats.org/drawingml/2006/main">
            <a:r>
              <a:t>        "region_code": "27140",</a:t>
            </a:r>
          </a:p>
          <a:p xmlns:a="http://schemas.openxmlformats.org/drawingml/2006/main">
            <a:r>
              <a:t>        "region_name": "대구광역시 동구",</a:t>
            </a:r>
          </a:p>
          <a:p xmlns:a="http://schemas.openxmlformats.org/drawingml/2006/main">
            <a:r>
              <a:t>        "visitors_yoy_pct": -2.906227538650663,</a:t>
            </a:r>
          </a:p>
          <a:p xmlns:a="http://schemas.openxmlformats.org/drawingml/2006/main">
            <a:r>
              <a:t>        "spending_yoy_pct": 4.35084627396245</a:t>
            </a:r>
          </a:p>
          <a:p xmlns:a="http://schemas.openxmlformats.org/drawingml/2006/main">
            <a:r>
              <a:t>      },</a:t>
            </a:r>
          </a:p>
          <a:p xmlns:a="http://schemas.openxmlformats.org/drawingml/2006/main">
            <a:r>
              <a:t>      {</a:t>
            </a:r>
          </a:p>
          <a:p xmlns:a="http://schemas.openxmlformats.org/drawingml/2006/main">
            <a:r>
              <a:t>        "region_code": "27230",</a:t>
            </a:r>
          </a:p>
          <a:p xmlns:a="http://schemas.openxmlformats.org/drawingml/2006/main">
            <a:r>
              <a:t>        "region_name": "대구광역시 북구",</a:t>
            </a:r>
          </a:p>
          <a:p xmlns:a="http://schemas.openxmlformats.org/drawingml/2006/main">
            <a:r>
              <a:t>        "visitors_yoy_pct": 0.7014064474913484,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"27170",</a:t>
            </a:r>
          </a:p>
          <a:p xmlns:a="http://schemas.openxmlformats.org/drawingml/2006/main">
            <a:r>
              <a:t>        "region_name": "대구광역시 서구",</a:t>
            </a:r>
          </a:p>
          <a:p xmlns:a="http://schemas.openxmlformats.org/drawingml/2006/main">
            <a:r>
              <a:t>        "visitors_yoy_pct": -3.2244991634435616,</a:t>
            </a:r>
          </a:p>
          <a:p xmlns:a="http://schemas.openxmlformats.org/drawingml/2006/main">
            <a:r>
              <a:t>        "spending_yoy_pct": 9.438557404688797</a:t>
            </a:r>
          </a:p>
          <a:p xmlns:a="http://schemas.openxmlformats.org/drawingml/2006/main">
            <a:r>
              <a:t>      },</a:t>
            </a:r>
          </a:p>
          <a:p xmlns:a="http://schemas.openxmlformats.org/drawingml/2006/main">
            <a:r>
              <a:t>      {</a:t>
            </a:r>
          </a:p>
          <a:p xmlns:a="http://schemas.openxmlformats.org/drawingml/2006/main">
            <a:r>
              <a:t>        "region_code": "27260",</a:t>
            </a:r>
          </a:p>
          <a:p xmlns:a="http://schemas.openxmlformats.org/drawingml/2006/main">
            <a:r>
              <a:t>        "region_name": "대구광역시 수성구",</a:t>
            </a:r>
          </a:p>
          <a:p xmlns:a="http://schemas.openxmlformats.org/drawingml/2006/main">
            <a:r>
              <a:t>        "visitors_yoy_pct": 0.652448528912597,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"27110",</a:t>
            </a:r>
          </a:p>
          <a:p xmlns:a="http://schemas.openxmlformats.org/drawingml/2006/main">
            <a:r>
              <a:t>        "region_name": "대구광역시 중구",</a:t>
            </a:r>
          </a:p>
          <a:p xmlns:a="http://schemas.openxmlformats.org/drawingml/2006/main">
            <a:r>
              <a:t>        "visitors_yoy_pct": 4.100821235547691,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"30230",</a:t>
            </a:r>
          </a:p>
          <a:p xmlns:a="http://schemas.openxmlformats.org/drawingml/2006/main">
            <a:r>
              <a:t>        "region_name": "대전광역시 대덕구",</a:t>
            </a:r>
          </a:p>
          <a:p xmlns:a="http://schemas.openxmlformats.org/drawingml/2006/main">
            <a:r>
              <a:t>        "visitors_yoy_pct": 0.403969457144826,</a:t>
            </a:r>
          </a:p>
          <a:p xmlns:a="http://schemas.openxmlformats.org/drawingml/2006/main">
            <a:r>
              <a:t>        "spending_yoy_pct": 8.655919147978096</a:t>
            </a:r>
          </a:p>
          <a:p xmlns:a="http://schemas.openxmlformats.org/drawingml/2006/main">
            <a:r>
              <a:t>      },</a:t>
            </a:r>
          </a:p>
          <a:p xmlns:a="http://schemas.openxmlformats.org/drawingml/2006/main">
            <a:r>
              <a:t>      {</a:t>
            </a:r>
          </a:p>
          <a:p xmlns:a="http://schemas.openxmlformats.org/drawingml/2006/main">
            <a:r>
              <a:t>        "region_code": "30110",</a:t>
            </a:r>
          </a:p>
          <a:p xmlns:a="http://schemas.openxmlformats.org/drawingml/2006/main">
            <a:r>
              <a:t>        "region_name": "대전광역시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"30170",</a:t>
            </a:r>
          </a:p>
          <a:p xmlns:a="http://schemas.openxmlformats.org/drawingml/2006/main">
            <a:r>
              <a:t>        "region_name": "대전광역시 서구",</a:t>
            </a:r>
          </a:p>
          <a:p xmlns:a="http://schemas.openxmlformats.org/drawingml/2006/main">
            <a:r>
              <a:t>        "visitors_yoy_pct": -1.766149282488072,</a:t>
            </a:r>
          </a:p>
          <a:p xmlns:a="http://schemas.openxmlformats.org/drawingml/2006/main">
            <a:r>
              <a:t>        "spending_yoy_pct": 4.485906316657062</a:t>
            </a:r>
          </a:p>
          <a:p xmlns:a="http://schemas.openxmlformats.org/drawingml/2006/main">
            <a:r>
              <a:t>      },</a:t>
            </a:r>
          </a:p>
          <a:p xmlns:a="http://schemas.openxmlformats.org/drawingml/2006/main">
            <a:r>
              <a:t>      {</a:t>
            </a:r>
          </a:p>
          <a:p xmlns:a="http://schemas.openxmlformats.org/drawingml/2006/main">
            <a:r>
              <a:t>        "region_code": "30200",</a:t>
            </a:r>
          </a:p>
          <a:p xmlns:a="http://schemas.openxmlformats.org/drawingml/2006/main">
            <a:r>
              <a:t>        "region_name": "대전광역시 유성구",</a:t>
            </a:r>
          </a:p>
          <a:p xmlns:a="http://schemas.openxmlformats.org/drawingml/2006/main">
            <a:r>
              <a:t>        "visitors_yoy_pct": 0.9780077525350483,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"30140",</a:t>
            </a:r>
          </a:p>
          <a:p xmlns:a="http://schemas.openxmlformats.org/drawingml/2006/main">
            <a:r>
              <a:t>        "region_name": "대전광역시 중구",</a:t>
            </a:r>
          </a:p>
          <a:p xmlns:a="http://schemas.openxmlformats.org/drawingml/2006/main">
            <a:r>
              <a:t>        "visitors_yoy_pct": 4.733581858819513,</a:t>
            </a:r>
          </a:p>
          <a:p xmlns:a="http://schemas.openxmlformats.org/drawingml/2006/main">
            <a:r>
              <a:t>        "spending_yoy_pct": 11.04932382073196</a:t>
            </a:r>
          </a:p>
          <a:p xmlns:a="http://schemas.openxmlformats.org/drawingml/2006/main">
            <a:r>
              <a:t>      },</a:t>
            </a:r>
          </a:p>
          <a:p xmlns:a="http://schemas.openxmlformats.org/drawingml/2006/main">
            <a:r>
              <a:t>      {</a:t>
            </a:r>
          </a:p>
          <a:p xmlns:a="http://schemas.openxmlformats.org/drawingml/2006/main">
            <a:r>
              <a:t>        "region_code": "26440",</a:t>
            </a:r>
          </a:p>
          <a:p xmlns:a="http://schemas.openxmlformats.org/drawingml/2006/main">
            <a:r>
              <a:t>        "region_name": "부산광역시 강서구",</a:t>
            </a:r>
          </a:p>
          <a:p xmlns:a="http://schemas.openxmlformats.org/drawingml/2006/main">
            <a:r>
              <a:t>        "visitors_yoy_pct": -0.9787440386389679,</a:t>
            </a:r>
          </a:p>
          <a:p xmlns:a="http://schemas.openxmlformats.org/drawingml/2006/main">
            <a:r>
              <a:t>        "spending_yoy_pct": 33.77418347740544</a:t>
            </a:r>
          </a:p>
          <a:p xmlns:a="http://schemas.openxmlformats.org/drawingml/2006/main">
            <a:r>
              <a:t>      },</a:t>
            </a:r>
          </a:p>
          <a:p xmlns:a="http://schemas.openxmlformats.org/drawingml/2006/main">
            <a:r>
              <a:t>      {</a:t>
            </a:r>
          </a:p>
          <a:p xmlns:a="http://schemas.openxmlformats.org/drawingml/2006/main">
            <a:r>
              <a:t>        "region_code": "26410",</a:t>
            </a:r>
          </a:p>
          <a:p xmlns:a="http://schemas.openxmlformats.org/drawingml/2006/main">
            <a:r>
              <a:t>        "region_name": "부산광역시 금정구",</a:t>
            </a:r>
          </a:p>
          <a:p xmlns:a="http://schemas.openxmlformats.org/drawingml/2006/main">
            <a:r>
              <a:t>        "visitors_yoy_pct": 4.408676083206853,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"26710",</a:t>
            </a:r>
          </a:p>
          <a:p xmlns:a="http://schemas.openxmlformats.org/drawingml/2006/main">
            <a:r>
              <a:t>        "region_name": "부산광역시 기장군",</a:t>
            </a:r>
          </a:p>
          <a:p xmlns:a="http://schemas.openxmlformats.org/drawingml/2006/main">
            <a:r>
              <a:t>        "visitors_yoy_pct": -3.5195344542938822,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"26290",</a:t>
            </a:r>
          </a:p>
          <a:p xmlns:a="http://schemas.openxmlformats.org/drawingml/2006/main">
            <a:r>
              <a:t>        "region_name": "부산광역시 남구",</a:t>
            </a:r>
          </a:p>
          <a:p xmlns:a="http://schemas.openxmlformats.org/drawingml/2006/main">
            <a:r>
              <a:t>        "visitors_yoy_pct": 3.68077924608996,</a:t>
            </a:r>
          </a:p>
          <a:p xmlns:a="http://schemas.openxmlformats.org/drawingml/2006/main">
            <a:r>
              <a:t>        "spending_yoy_pct": 24.203541185743948</a:t>
            </a:r>
          </a:p>
          <a:p xmlns:a="http://schemas.openxmlformats.org/drawingml/2006/main">
            <a:r>
              <a:t>      },</a:t>
            </a:r>
          </a:p>
          <a:p xmlns:a="http://schemas.openxmlformats.org/drawingml/2006/main">
            <a:r>
              <a:t>      {</a:t>
            </a:r>
          </a:p>
          <a:p xmlns:a="http://schemas.openxmlformats.org/drawingml/2006/main">
            <a:r>
              <a:t>        "region_code": "26170",</a:t>
            </a:r>
          </a:p>
          <a:p xmlns:a="http://schemas.openxmlformats.org/drawingml/2006/main">
            <a:r>
              <a:t>        "region_name": "부산광역시 동구",</a:t>
            </a:r>
          </a:p>
          <a:p xmlns:a="http://schemas.openxmlformats.org/drawingml/2006/main">
            <a:r>
              <a:t>        "visitors_yoy_pct": 2.091306262979553,</a:t>
            </a:r>
          </a:p>
          <a:p xmlns:a="http://schemas.openxmlformats.org/drawingml/2006/main">
            <a:r>
              <a:t>        "spending_yoy_pct": 19.094327547078937</a:t>
            </a:r>
          </a:p>
          <a:p xmlns:a="http://schemas.openxmlformats.org/drawingml/2006/main">
            <a:r>
              <a:t>      },</a:t>
            </a:r>
          </a:p>
          <a:p xmlns:a="http://schemas.openxmlformats.org/drawingml/2006/main">
            <a:r>
              <a:t>      {</a:t>
            </a:r>
          </a:p>
          <a:p xmlns:a="http://schemas.openxmlformats.org/drawingml/2006/main">
            <a:r>
              <a:t>        "region_code": "26260",</a:t>
            </a:r>
          </a:p>
          <a:p xmlns:a="http://schemas.openxmlformats.org/drawingml/2006/main">
            <a:r>
              <a:t>        "region_name": "부산광역시 동래구",</a:t>
            </a:r>
          </a:p>
          <a:p xmlns:a="http://schemas.openxmlformats.org/drawingml/2006/main">
            <a:r>
              <a:t>        "visitors_yoy_pct": -0.5303591349263614,</a:t>
            </a:r>
          </a:p>
          <a:p xmlns:a="http://schemas.openxmlformats.org/drawingml/2006/main">
            <a:r>
              <a:t>        "spending_yoy_pct": 2.817126268224812</a:t>
            </a:r>
          </a:p>
          <a:p xmlns:a="http://schemas.openxmlformats.org/drawingml/2006/main">
            <a:r>
              <a:t>      },</a:t>
            </a:r>
          </a:p>
          <a:p xmlns:a="http://schemas.openxmlformats.org/drawingml/2006/main">
            <a:r>
              <a:t>      {</a:t>
            </a:r>
          </a:p>
          <a:p xmlns:a="http://schemas.openxmlformats.org/drawingml/2006/main">
            <a:r>
              <a:t>        "region_code": "26230",</a:t>
            </a:r>
          </a:p>
          <a:p xmlns:a="http://schemas.openxmlformats.org/drawingml/2006/main">
            <a:r>
              <a:t>        "region_name": "부산광역시 부산진구",</a:t>
            </a:r>
          </a:p>
          <a:p xmlns:a="http://schemas.openxmlformats.org/drawingml/2006/main">
            <a:r>
              <a:t>        "visitors_yoy_pct": -0.7135985449665094,</a:t>
            </a:r>
          </a:p>
          <a:p xmlns:a="http://schemas.openxmlformats.org/drawingml/2006/main">
            <a:r>
              <a:t>        "spending_yoy_pct": 12.440013216896407</a:t>
            </a:r>
          </a:p>
          <a:p xmlns:a="http://schemas.openxmlformats.org/drawingml/2006/main">
            <a:r>
              <a:t>      },</a:t>
            </a:r>
          </a:p>
          <a:p xmlns:a="http://schemas.openxmlformats.org/drawingml/2006/main">
            <a:r>
              <a:t>      {</a:t>
            </a:r>
          </a:p>
          <a:p xmlns:a="http://schemas.openxmlformats.org/drawingml/2006/main">
            <a:r>
              <a:t>        "region_code": "26320",</a:t>
            </a:r>
          </a:p>
          <a:p xmlns:a="http://schemas.openxmlformats.org/drawingml/2006/main">
            <a:r>
              <a:t>        "region_name": "부산광역시 북구",</a:t>
            </a:r>
          </a:p>
          <a:p xmlns:a="http://schemas.openxmlformats.org/drawingml/2006/main">
            <a:r>
              <a:t>        "visitors_yoy_pct": -0.826923040419314,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"26530",</a:t>
            </a:r>
          </a:p>
          <a:p xmlns:a="http://schemas.openxmlformats.org/drawingml/2006/main">
            <a:r>
              <a:t>        "region_name": "부산광역시 사상구",</a:t>
            </a:r>
          </a:p>
          <a:p xmlns:a="http://schemas.openxmlformats.org/drawingml/2006/main">
            <a:r>
              <a:t>        "visitors_yoy_pct": 3.2552629691459556,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"26380",</a:t>
            </a:r>
          </a:p>
          <a:p xmlns:a="http://schemas.openxmlformats.org/drawingml/2006/main">
            <a:r>
              <a:t>        "region_name": "부산광역시 사하구",</a:t>
            </a:r>
          </a:p>
          <a:p xmlns:a="http://schemas.openxmlformats.org/drawingml/2006/main">
            <a:r>
              <a:t>        "visitors_yoy_pct": 1.544310172085006,</a:t>
            </a:r>
          </a:p>
          <a:p xmlns:a="http://schemas.openxmlformats.org/drawingml/2006/main">
            <a:r>
              <a:t>        "spending_yoy_pct": 13.269352912248976</a:t>
            </a:r>
          </a:p>
          <a:p xmlns:a="http://schemas.openxmlformats.org/drawingml/2006/main">
            <a:r>
              <a:t>      },</a:t>
            </a:r>
          </a:p>
          <a:p xmlns:a="http://schemas.openxmlformats.org/drawingml/2006/main">
            <a:r>
              <a:t>      {</a:t>
            </a:r>
          </a:p>
          <a:p xmlns:a="http://schemas.openxmlformats.org/drawingml/2006/main">
            <a:r>
              <a:t>        "region_code": "26140",</a:t>
            </a:r>
          </a:p>
          <a:p xmlns:a="http://schemas.openxmlformats.org/drawingml/2006/main">
            <a:r>
              <a:t>        "region_name": "부산광역시 서구",</a:t>
            </a:r>
          </a:p>
          <a:p xmlns:a="http://schemas.openxmlformats.org/drawingml/2006/main">
            <a:r>
              <a:t>        "visitors_yoy_pct": -0.5690410799997103,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"26500",</a:t>
            </a:r>
          </a:p>
          <a:p xmlns:a="http://schemas.openxmlformats.org/drawingml/2006/main">
            <a:r>
              <a:t>        "region_name": "부산광역시 수영구",</a:t>
            </a:r>
          </a:p>
          <a:p xmlns:a="http://schemas.openxmlformats.org/drawingml/2006/main">
            <a:r>
              <a:t>        "visitors_yoy_pct": 2.036957530408534,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"26470",</a:t>
            </a:r>
          </a:p>
          <a:p xmlns:a="http://schemas.openxmlformats.org/drawingml/2006/main">
            <a:r>
              <a:t>        "region_name": "부산광역시 연제구",</a:t>
            </a:r>
          </a:p>
          <a:p xmlns:a="http://schemas.openxmlformats.org/drawingml/2006/main">
            <a:r>
              <a:t>        "visitors_yoy_pct": -1.8008178398181807,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"26200",</a:t>
            </a:r>
          </a:p>
          <a:p xmlns:a="http://schemas.openxmlformats.org/drawingml/2006/main">
            <a:r>
              <a:t>        "region_name": "부산광역시 영도구",</a:t>
            </a:r>
          </a:p>
          <a:p xmlns:a="http://schemas.openxmlformats.org/drawingml/2006/main">
            <a:r>
              <a:t>        "visitors_yoy_pct": -1.424513143058459,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"26110",</a:t>
            </a:r>
          </a:p>
          <a:p xmlns:a="http://schemas.openxmlformats.org/drawingml/2006/main">
            <a:r>
              <a:t>        "region_name": "부산광역시 중구",</a:t>
            </a:r>
          </a:p>
          <a:p xmlns:a="http://schemas.openxmlformats.org/drawingml/2006/main">
            <a:r>
              <a:t>        "visitors_yoy_pct": -0.5564090965809787,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"26350",</a:t>
            </a:r>
          </a:p>
          <a:p xmlns:a="http://schemas.openxmlformats.org/drawingml/2006/main">
            <a:r>
              <a:t>        "region_name": "부산광역시 해운대구",</a:t>
            </a:r>
          </a:p>
          <a:p xmlns:a="http://schemas.openxmlformats.org/drawingml/2006/main">
            <a:r>
              <a:t>        "visitors_yoy_pct": 2.294602584905081,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"31140",</a:t>
            </a:r>
          </a:p>
          <a:p xmlns:a="http://schemas.openxmlformats.org/drawingml/2006/main">
            <a:r>
              <a:t>        "region_name": "울산광역시 남구",</a:t>
            </a:r>
          </a:p>
          <a:p xmlns:a="http://schemas.openxmlformats.org/drawingml/2006/main">
            <a:r>
              <a:t>        "visitors_yoy_pct": -4.281167592593893,</a:t>
            </a:r>
          </a:p>
          <a:p xmlns:a="http://schemas.openxmlformats.org/drawingml/2006/main">
            <a:r>
              <a:t>        "spending_yoy_pct": 7.363366661362503</a:t>
            </a:r>
          </a:p>
          <a:p xmlns:a="http://schemas.openxmlformats.org/drawingml/2006/main">
            <a:r>
              <a:t>      },</a:t>
            </a:r>
          </a:p>
          <a:p xmlns:a="http://schemas.openxmlformats.org/drawingml/2006/main">
            <a:r>
              <a:t>      {</a:t>
            </a:r>
          </a:p>
          <a:p xmlns:a="http://schemas.openxmlformats.org/drawingml/2006/main">
            <a:r>
              <a:t>        "region_code": "31170",</a:t>
            </a:r>
          </a:p>
          <a:p xmlns:a="http://schemas.openxmlformats.org/drawingml/2006/main">
            <a:r>
              <a:t>        "region_name": "울산광역시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"31200",</a:t>
            </a:r>
          </a:p>
          <a:p xmlns:a="http://schemas.openxmlformats.org/drawingml/2006/main">
            <a:r>
              <a:t>        "region_name": "울산광역시 북구",</a:t>
            </a:r>
          </a:p>
          <a:p xmlns:a="http://schemas.openxmlformats.org/drawingml/2006/main">
            <a:r>
              <a:t>        "visitors_yoy_pct": 0.0,</a:t>
            </a:r>
          </a:p>
          <a:p xmlns:a="http://schemas.openxmlformats.org/drawingml/2006/main">
            <a:r>
              <a:t>        "spending_yoy_pct": 0.9016050829677491</a:t>
            </a:r>
          </a:p>
          <a:p xmlns:a="http://schemas.openxmlformats.org/drawingml/2006/main">
            <a:r>
              <a:t>      },</a:t>
            </a:r>
          </a:p>
          <a:p xmlns:a="http://schemas.openxmlformats.org/drawingml/2006/main">
            <a:r>
              <a:t>      {</a:t>
            </a:r>
          </a:p>
          <a:p xmlns:a="http://schemas.openxmlformats.org/drawingml/2006/main">
            <a:r>
              <a:t>        "region_code": "31710",</a:t>
            </a:r>
          </a:p>
          <a:p xmlns:a="http://schemas.openxmlformats.org/drawingml/2006/main">
            <a:r>
              <a:t>        "region_name": "울산광역시 울주군",</a:t>
            </a:r>
          </a:p>
          <a:p xmlns:a="http://schemas.openxmlformats.org/drawingml/2006/main">
            <a:r>
              <a:t>        "visitors_yoy_pct": 2.6030321555469804,</a:t>
            </a:r>
          </a:p>
          <a:p xmlns:a="http://schemas.openxmlformats.org/drawingml/2006/main">
            <a:r>
              <a:t>        "spending_yoy_pct": 62.52152140018454</a:t>
            </a:r>
          </a:p>
          <a:p xmlns:a="http://schemas.openxmlformats.org/drawingml/2006/main">
            <a:r>
              <a:t>      },</a:t>
            </a:r>
          </a:p>
          <a:p xmlns:a="http://schemas.openxmlformats.org/drawingml/2006/main">
            <a:r>
              <a:t>      {</a:t>
            </a:r>
          </a:p>
          <a:p xmlns:a="http://schemas.openxmlformats.org/drawingml/2006/main">
            <a:r>
              <a:t>        "region_code": "31110",</a:t>
            </a:r>
          </a:p>
          <a:p xmlns:a="http://schemas.openxmlformats.org/drawingml/2006/main">
            <a:r>
              <a:t>        "region_name": "울산광역시 중구",</a:t>
            </a:r>
          </a:p>
          <a:p xmlns:a="http://schemas.openxmlformats.org/drawingml/2006/main">
            <a:r>
              <a:t>        "visitors_yoy_pct": -1.869977091489472,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"28710",</a:t>
            </a:r>
          </a:p>
          <a:p xmlns:a="http://schemas.openxmlformats.org/drawingml/2006/main">
            <a:r>
              <a:t>        "region_name": "인천광역시 강화군",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"28200",</a:t>
            </a:r>
          </a:p>
          <a:p xmlns:a="http://schemas.openxmlformats.org/drawingml/2006/main">
            <a:r>
              <a:t>        "region_name": "인천광역시 남동구",</a:t>
            </a:r>
          </a:p>
          <a:p xmlns:a="http://schemas.openxmlformats.org/drawingml/2006/main">
            <a:r>
              <a:t>        "visitors_yoy_pct": -0.30452048491245165,</a:t>
            </a:r>
          </a:p>
          <a:p xmlns:a="http://schemas.openxmlformats.org/drawingml/2006/main">
            <a:r>
              <a:t>        "spending_yoy_pct": 9.128785699086993</a:t>
            </a:r>
          </a:p>
          <a:p xmlns:a="http://schemas.openxmlformats.org/drawingml/2006/main">
            <a:r>
              <a:t>      },</a:t>
            </a:r>
          </a:p>
          <a:p xmlns:a="http://schemas.openxmlformats.org/drawingml/2006/main">
            <a:r>
              <a:t>      {</a:t>
            </a:r>
          </a:p>
          <a:p xmlns:a="http://schemas.openxmlformats.org/drawingml/2006/main">
            <a:r>
              <a:t>        "region_code": "28140",</a:t>
            </a:r>
          </a:p>
          <a:p xmlns:a="http://schemas.openxmlformats.org/drawingml/2006/main">
            <a:r>
              <a:t>        "region_name": "인천광역시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"28177",</a:t>
            </a:r>
          </a:p>
          <a:p xmlns:a="http://schemas.openxmlformats.org/drawingml/2006/main">
            <a:r>
              <a:t>        "region_name": "인천광역시 미추홀구",</a:t>
            </a:r>
          </a:p>
          <a:p xmlns:a="http://schemas.openxmlformats.org/drawingml/2006/main">
            <a:r>
              <a:t>        "visitors_yoy_pct": 4.253574353563128,</a:t>
            </a:r>
          </a:p>
          <a:p xmlns:a="http://schemas.openxmlformats.org/drawingml/2006/main">
            <a:r>
              <a:t>        "spending_yoy_pct": -0.39307051850207</a:t>
            </a:r>
          </a:p>
          <a:p xmlns:a="http://schemas.openxmlformats.org/drawingml/2006/main">
            <a:r>
              <a:t>      },</a:t>
            </a:r>
          </a:p>
          <a:p xmlns:a="http://schemas.openxmlformats.org/drawingml/2006/main">
            <a:r>
              <a:t>      {</a:t>
            </a:r>
          </a:p>
          <a:p xmlns:a="http://schemas.openxmlformats.org/drawingml/2006/main">
            <a:r>
              <a:t>        "region_code": "28237",</a:t>
            </a:r>
          </a:p>
          <a:p xmlns:a="http://schemas.openxmlformats.org/drawingml/2006/main">
            <a:r>
              <a:t>        "region_name": "인천광역시 부평구",</a:t>
            </a:r>
          </a:p>
          <a:p xmlns:a="http://schemas.openxmlformats.org/drawingml/2006/main">
            <a:r>
              <a:t>        "visitors_yoy_pct": -2.147594135319486,</a:t>
            </a:r>
          </a:p>
          <a:p xmlns:a="http://schemas.openxmlformats.org/drawingml/2006/main">
            <a:r>
              <a:t>        "spending_yoy_pct": -3.236192328869203</a:t>
            </a:r>
          </a:p>
          <a:p xmlns:a="http://schemas.openxmlformats.org/drawingml/2006/main">
            <a:r>
              <a:t>      },</a:t>
            </a:r>
          </a:p>
          <a:p xmlns:a="http://schemas.openxmlformats.org/drawingml/2006/main">
            <a:r>
              <a:t>      {</a:t>
            </a:r>
          </a:p>
          <a:p xmlns:a="http://schemas.openxmlformats.org/drawingml/2006/main">
            <a:r>
              <a:t>        "region_code": "28260",</a:t>
            </a:r>
          </a:p>
          <a:p xmlns:a="http://schemas.openxmlformats.org/drawingml/2006/main">
            <a:r>
              <a:t>        "region_name": "인천광역시 서구",</a:t>
            </a:r>
          </a:p>
          <a:p xmlns:a="http://schemas.openxmlformats.org/drawingml/2006/main">
            <a:r>
              <a:t>        "visitors_yoy_pct": 0.9935772294742629,</a:t>
            </a:r>
          </a:p>
          <a:p xmlns:a="http://schemas.openxmlformats.org/drawingml/2006/main">
            <a:r>
              <a:t>        "spending_yoy_pct": 10.485707821897062</a:t>
            </a:r>
          </a:p>
          <a:p xmlns:a="http://schemas.openxmlformats.org/drawingml/2006/main">
            <a:r>
              <a:t>      },</a:t>
            </a:r>
          </a:p>
          <a:p xmlns:a="http://schemas.openxmlformats.org/drawingml/2006/main">
            <a:r>
              <a:t>      {</a:t>
            </a:r>
          </a:p>
          <a:p xmlns:a="http://schemas.openxmlformats.org/drawingml/2006/main">
            <a:r>
              <a:t>        "region_code": "28185",</a:t>
            </a:r>
          </a:p>
          <a:p xmlns:a="http://schemas.openxmlformats.org/drawingml/2006/main">
            <a:r>
              <a:t>        "region_name": "인천광역시 연수구",</a:t>
            </a:r>
          </a:p>
          <a:p xmlns:a="http://schemas.openxmlformats.org/drawingml/2006/main">
            <a:r>
              <a:t>        "visitors_yoy_pct": 1.487521488159138,</a:t>
            </a:r>
          </a:p>
          <a:p xmlns:a="http://schemas.openxmlformats.org/drawingml/2006/main">
            <a:r>
              <a:t>        "spending_yoy_pct": 1.2888193298384865</a:t>
            </a:r>
          </a:p>
          <a:p xmlns:a="http://schemas.openxmlformats.org/drawingml/2006/main">
            <a:r>
              <a:t>      },</a:t>
            </a:r>
          </a:p>
          <a:p xmlns:a="http://schemas.openxmlformats.org/drawingml/2006/main">
            <a:r>
              <a:t>      {</a:t>
            </a:r>
          </a:p>
          <a:p xmlns:a="http://schemas.openxmlformats.org/drawingml/2006/main">
            <a:r>
              <a:t>        "region_code": "28720",</a:t>
            </a:r>
          </a:p>
          <a:p xmlns:a="http://schemas.openxmlformats.org/drawingml/2006/main">
            <a:r>
              <a:t>        "region_name": "인천광역시 옹진군",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"28110",</a:t>
            </a:r>
          </a:p>
          <a:p xmlns:a="http://schemas.openxmlformats.org/drawingml/2006/main">
            <a:r>
              <a:t>        "region_name": "인천광역시 중구",</a:t>
            </a:r>
          </a:p>
          <a:p xmlns:a="http://schemas.openxmlformats.org/drawingml/2006/main">
            <a:r>
              <a:t>        "visitors_yoy_pct": -1.40416628182366,</a:t>
            </a:r>
          </a:p>
          <a:p xmlns:a="http://schemas.openxmlformats.org/drawingml/2006/main">
            <a:r>
              <a:t>        "spending_yoy_pct": -2.588345108767043</a:t>
            </a:r>
          </a:p>
          <a:p xmlns:a="http://schemas.openxmlformats.org/drawingml/2006/main">
            <a:r>
              <a:t>      },</a:t>
            </a:r>
          </a:p>
          <a:p xmlns:a="http://schemas.openxmlformats.org/drawingml/2006/main">
            <a:r>
              <a:t>      {</a:t>
            </a:r>
          </a:p>
          <a:p xmlns:a="http://schemas.openxmlformats.org/drawingml/2006/main">
            <a:r>
              <a:t>        "region_code": "46810",</a:t>
            </a:r>
          </a:p>
          <a:p xmlns:a="http://schemas.openxmlformats.org/drawingml/2006/main">
            <a:r>
              <a:t>        "region_name": "전라남도 강진군",</a:t>
            </a:r>
          </a:p>
          <a:p xmlns:a="http://schemas.openxmlformats.org/drawingml/2006/main">
            <a:r>
              <a:t>        "visitors_yoy_pct": -2.5168617337829824,</a:t>
            </a:r>
          </a:p>
          <a:p xmlns:a="http://schemas.openxmlformats.org/drawingml/2006/main">
            <a:r>
              <a:t>        "spending_yoy_pct": -4.482092207211219</a:t>
            </a:r>
          </a:p>
          <a:p xmlns:a="http://schemas.openxmlformats.org/drawingml/2006/main">
            <a:r>
              <a:t>      },</a:t>
            </a:r>
          </a:p>
          <a:p xmlns:a="http://schemas.openxmlformats.org/drawingml/2006/main">
            <a:r>
              <a:t>      {</a:t>
            </a:r>
          </a:p>
          <a:p xmlns:a="http://schemas.openxmlformats.org/drawingml/2006/main">
            <a:r>
              <a:t>        "region_code": "46770",</a:t>
            </a:r>
          </a:p>
          <a:p xmlns:a="http://schemas.openxmlformats.org/drawingml/2006/main">
            <a:r>
              <a:t>        "region_name": "전라남도 고흥군",</a:t>
            </a:r>
          </a:p>
          <a:p xmlns:a="http://schemas.openxmlformats.org/drawingml/2006/main">
            <a:r>
              <a:t>        "visitors_yoy_pct": -11.306522531093933,</a:t>
            </a:r>
          </a:p>
          <a:p xmlns:a="http://schemas.openxmlformats.org/drawingml/2006/main">
            <a:r>
              <a:t>        "spending_yoy_pct": -11.57250799849544</a:t>
            </a:r>
          </a:p>
          <a:p xmlns:a="http://schemas.openxmlformats.org/drawingml/2006/main">
            <a:r>
              <a:t>      },</a:t>
            </a:r>
          </a:p>
          <a:p xmlns:a="http://schemas.openxmlformats.org/drawingml/2006/main">
            <a:r>
              <a:t>      {</a:t>
            </a:r>
          </a:p>
          <a:p xmlns:a="http://schemas.openxmlformats.org/drawingml/2006/main">
            <a:r>
              <a:t>        "region_code": "46720",</a:t>
            </a:r>
          </a:p>
          <a:p xmlns:a="http://schemas.openxmlformats.org/drawingml/2006/main">
            <a:r>
              <a:t>        "region_name": "전라남도 곡성군",</a:t>
            </a:r>
          </a:p>
          <a:p xmlns:a="http://schemas.openxmlformats.org/drawingml/2006/main">
            <a:r>
              <a:t>        "visitors_yoy_pct": 5.339277215525051,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"46230",</a:t>
            </a:r>
          </a:p>
          <a:p xmlns:a="http://schemas.openxmlformats.org/drawingml/2006/main">
            <a:r>
              <a:t>        "region_name": "전라남도 광양시",</a:t>
            </a:r>
          </a:p>
          <a:p xmlns:a="http://schemas.openxmlformats.org/drawingml/2006/main">
            <a:r>
              <a:t>        "visitors_yoy_pct": 3.917907343849847,</a:t>
            </a:r>
          </a:p>
          <a:p xmlns:a="http://schemas.openxmlformats.org/drawingml/2006/main">
            <a:r>
              <a:t>        "spending_yoy_pct": 37.63030093728903</a:t>
            </a:r>
          </a:p>
          <a:p xmlns:a="http://schemas.openxmlformats.org/drawingml/2006/main">
            <a:r>
              <a:t>      },</a:t>
            </a:r>
          </a:p>
          <a:p xmlns:a="http://schemas.openxmlformats.org/drawingml/2006/main">
            <a:r>
              <a:t>      {</a:t>
            </a:r>
          </a:p>
          <a:p xmlns:a="http://schemas.openxmlformats.org/drawingml/2006/main">
            <a:r>
              <a:t>        "region_code": "46730",</a:t>
            </a:r>
          </a:p>
          <a:p xmlns:a="http://schemas.openxmlformats.org/drawingml/2006/main">
            <a:r>
              <a:t>        "region_name": "전라남도 구례군",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"46170",</a:t>
            </a:r>
          </a:p>
          <a:p xmlns:a="http://schemas.openxmlformats.org/drawingml/2006/main">
            <a:r>
              <a:t>        "region_name": "전라남도 나주시",</a:t>
            </a:r>
          </a:p>
          <a:p xmlns:a="http://schemas.openxmlformats.org/drawingml/2006/main">
            <a:r>
              <a:t>        "visitors_yoy_pct": -1.8552327862504048,</a:t>
            </a:r>
          </a:p>
          <a:p xmlns:a="http://schemas.openxmlformats.org/drawingml/2006/main">
            <a:r>
              <a:t>        "spending_yoy_pct": 17.91727578060309</a:t>
            </a:r>
          </a:p>
          <a:p xmlns:a="http://schemas.openxmlformats.org/drawingml/2006/main">
            <a:r>
              <a:t>      },</a:t>
            </a:r>
          </a:p>
          <a:p xmlns:a="http://schemas.openxmlformats.org/drawingml/2006/main">
            <a:r>
              <a:t>      {</a:t>
            </a:r>
          </a:p>
          <a:p xmlns:a="http://schemas.openxmlformats.org/drawingml/2006/main">
            <a:r>
              <a:t>        "region_code": "46710",</a:t>
            </a:r>
          </a:p>
          <a:p xmlns:a="http://schemas.openxmlformats.org/drawingml/2006/main">
            <a:r>
              <a:t>        "region_name": "전라남도 담양군",</a:t>
            </a:r>
          </a:p>
          <a:p xmlns:a="http://schemas.openxmlformats.org/drawingml/2006/main">
            <a:r>
              <a:t>        "visitors_yoy_pct": -2.5922628029858785,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"46110",</a:t>
            </a:r>
          </a:p>
          <a:p xmlns:a="http://schemas.openxmlformats.org/drawingml/2006/main">
            <a:r>
              <a:t>        "region_name": "전라남도 목포시",</a:t>
            </a:r>
          </a:p>
          <a:p xmlns:a="http://schemas.openxmlformats.org/drawingml/2006/main">
            <a:r>
              <a:t>        "visitors_yoy_pct": -3.8050913694334665,</a:t>
            </a:r>
          </a:p>
          <a:p xmlns:a="http://schemas.openxmlformats.org/drawingml/2006/main">
            <a:r>
              <a:t>        "spending_yoy_pct": -2.829737192897619</a:t>
            </a:r>
          </a:p>
          <a:p xmlns:a="http://schemas.openxmlformats.org/drawingml/2006/main">
            <a:r>
              <a:t>      },</a:t>
            </a:r>
          </a:p>
          <a:p xmlns:a="http://schemas.openxmlformats.org/drawingml/2006/main">
            <a:r>
              <a:t>      {</a:t>
            </a:r>
          </a:p>
          <a:p xmlns:a="http://schemas.openxmlformats.org/drawingml/2006/main">
            <a:r>
              <a:t>        "region_code": "46840",</a:t>
            </a:r>
          </a:p>
          <a:p xmlns:a="http://schemas.openxmlformats.org/drawingml/2006/main">
            <a:r>
              <a:t>        "region_name": "전라남도 무안군",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"46780",</a:t>
            </a:r>
          </a:p>
          <a:p xmlns:a="http://schemas.openxmlformats.org/drawingml/2006/main">
            <a:r>
              <a:t>        "region_name": "전라남도 보성군",</a:t>
            </a:r>
          </a:p>
          <a:p xmlns:a="http://schemas.openxmlformats.org/drawingml/2006/main">
            <a:r>
              <a:t>        "visitors_yoy_pct": -4.470951871747653,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"46150",</a:t>
            </a:r>
          </a:p>
          <a:p xmlns:a="http://schemas.openxmlformats.org/drawingml/2006/main">
            <a:r>
              <a:t>        "region_name": "전라남도 순천시",</a:t>
            </a:r>
          </a:p>
          <a:p xmlns:a="http://schemas.openxmlformats.org/drawingml/2006/main">
            <a:r>
              <a:t>        "visitors_yoy_pct": -4.022517360300859,</a:t>
            </a:r>
          </a:p>
          <a:p xmlns:a="http://schemas.openxmlformats.org/drawingml/2006/main">
            <a:r>
              <a:t>        "spending_yoy_pct": -1.9999763950737104</a:t>
            </a:r>
          </a:p>
          <a:p xmlns:a="http://schemas.openxmlformats.org/drawingml/2006/main">
            <a:r>
              <a:t>      },</a:t>
            </a:r>
          </a:p>
          <a:p xmlns:a="http://schemas.openxmlformats.org/drawingml/2006/main">
            <a:r>
              <a:t>      {</a:t>
            </a:r>
          </a:p>
          <a:p xmlns:a="http://schemas.openxmlformats.org/drawingml/2006/main">
            <a:r>
              <a:t>        "region_code": "46910",</a:t>
            </a:r>
          </a:p>
          <a:p xmlns:a="http://schemas.openxmlformats.org/drawingml/2006/main">
            <a:r>
              <a:t>        "region_name": "전라남도 신안군",</a:t>
            </a:r>
          </a:p>
          <a:p xmlns:a="http://schemas.openxmlformats.org/drawingml/2006/main">
            <a:r>
              <a:t>        "visitors_yoy_pct": -3.942188474476893,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"46130",</a:t>
            </a:r>
          </a:p>
          <a:p xmlns:a="http://schemas.openxmlformats.org/drawingml/2006/main">
            <a:r>
              <a:t>        "region_name": "전라남도 여수시",</a:t>
            </a:r>
          </a:p>
          <a:p xmlns:a="http://schemas.openxmlformats.org/drawingml/2006/main">
            <a:r>
              <a:t>        "visitors_yoy_pct": -2.7943796052375403,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"46870",</a:t>
            </a:r>
          </a:p>
          <a:p xmlns:a="http://schemas.openxmlformats.org/drawingml/2006/main">
            <a:r>
              <a:t>        "region_name": "전라남도 영광군",</a:t>
            </a:r>
          </a:p>
          <a:p xmlns:a="http://schemas.openxmlformats.org/drawingml/2006/main">
            <a:r>
              <a:t>        "visitors_yoy_pct": -3.3897637721457707,</a:t>
            </a:r>
          </a:p>
          <a:p xmlns:a="http://schemas.openxmlformats.org/drawingml/2006/main">
            <a:r>
              <a:t>        "spending_yoy_pct": 0.633656482224243</a:t>
            </a:r>
          </a:p>
          <a:p xmlns:a="http://schemas.openxmlformats.org/drawingml/2006/main">
            <a:r>
              <a:t>      },</a:t>
            </a:r>
          </a:p>
          <a:p xmlns:a="http://schemas.openxmlformats.org/drawingml/2006/main">
            <a:r>
              <a:t>      {</a:t>
            </a:r>
          </a:p>
          <a:p xmlns:a="http://schemas.openxmlformats.org/drawingml/2006/main">
            <a:r>
              <a:t>        "region_code": "46830",</a:t>
            </a:r>
          </a:p>
          <a:p xmlns:a="http://schemas.openxmlformats.org/drawingml/2006/main">
            <a:r>
              <a:t>        "region_name": "전라남도 영암군",</a:t>
            </a:r>
          </a:p>
          <a:p xmlns:a="http://schemas.openxmlformats.org/drawingml/2006/main">
            <a:r>
              <a:t>        "visitors_yoy_pct": -0.04349507838015132,</a:t>
            </a:r>
          </a:p>
          <a:p xmlns:a="http://schemas.openxmlformats.org/drawingml/2006/main">
            <a:r>
              <a:t>        "spending_yoy_pct": 27.22182967008513</a:t>
            </a:r>
          </a:p>
          <a:p xmlns:a="http://schemas.openxmlformats.org/drawingml/2006/main">
            <a:r>
              <a:t>      },</a:t>
            </a:r>
          </a:p>
          <a:p xmlns:a="http://schemas.openxmlformats.org/drawingml/2006/main">
            <a:r>
              <a:t>      {</a:t>
            </a:r>
          </a:p>
          <a:p xmlns:a="http://schemas.openxmlformats.org/drawingml/2006/main">
            <a:r>
              <a:t>        "region_code": "46890",</a:t>
            </a:r>
          </a:p>
          <a:p xmlns:a="http://schemas.openxmlformats.org/drawingml/2006/main">
            <a:r>
              <a:t>        "region_name": "전라남도 완도군",</a:t>
            </a:r>
          </a:p>
          <a:p xmlns:a="http://schemas.openxmlformats.org/drawingml/2006/main">
            <a:r>
              <a:t>        "visitors_yoy_pct": -5.909742520692795,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"46880",</a:t>
            </a:r>
          </a:p>
          <a:p xmlns:a="http://schemas.openxmlformats.org/drawingml/2006/main">
            <a:r>
              <a:t>        "region_name": "전라남도 장성군",</a:t>
            </a:r>
          </a:p>
          <a:p xmlns:a="http://schemas.openxmlformats.org/drawingml/2006/main">
            <a:r>
              <a:t>        "visitors_yoy_pct": -7.053620032661945,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"46800",</a:t>
            </a:r>
          </a:p>
          <a:p xmlns:a="http://schemas.openxmlformats.org/drawingml/2006/main">
            <a:r>
              <a:t>        "region_name": "전라남도 장흥군",</a:t>
            </a:r>
          </a:p>
          <a:p xmlns:a="http://schemas.openxmlformats.org/drawingml/2006/main">
            <a:r>
              <a:t>        "visitors_yoy_pct": -6.648802559754008,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"46900",</a:t>
            </a:r>
          </a:p>
          <a:p xmlns:a="http://schemas.openxmlformats.org/drawingml/2006/main">
            <a:r>
              <a:t>        "region_name": "전라남도 진도군",</a:t>
            </a:r>
          </a:p>
          <a:p xmlns:a="http://schemas.openxmlformats.org/drawingml/2006/main">
            <a:r>
              <a:t>        "visitors_yoy_pct": -4.343147418429072,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"46860",</a:t>
            </a:r>
          </a:p>
          <a:p xmlns:a="http://schemas.openxmlformats.org/drawingml/2006/main">
            <a:r>
              <a:t>        "region_name": "전라남도 함평군",</a:t>
            </a:r>
          </a:p>
          <a:p xmlns:a="http://schemas.openxmlformats.org/drawingml/2006/main">
            <a:r>
              <a:t>        "visitors_yoy_pct": -3.47720564034385,</a:t>
            </a:r>
          </a:p>
          <a:p xmlns:a="http://schemas.openxmlformats.org/drawingml/2006/main">
            <a:r>
              <a:t>        "spending_yoy_pct": -19.459853142577387</a:t>
            </a:r>
          </a:p>
          <a:p xmlns:a="http://schemas.openxmlformats.org/drawingml/2006/main">
            <a:r>
              <a:t>      },</a:t>
            </a:r>
          </a:p>
          <a:p xmlns:a="http://schemas.openxmlformats.org/drawingml/2006/main">
            <a:r>
              <a:t>      {</a:t>
            </a:r>
          </a:p>
          <a:p xmlns:a="http://schemas.openxmlformats.org/drawingml/2006/main">
            <a:r>
              <a:t>        "region_code": "46820",</a:t>
            </a:r>
          </a:p>
          <a:p xmlns:a="http://schemas.openxmlformats.org/drawingml/2006/main">
            <a:r>
              <a:t>        "region_name": "전라남도 해남군",</a:t>
            </a:r>
          </a:p>
          <a:p xmlns:a="http://schemas.openxmlformats.org/drawingml/2006/main">
            <a:r>
              <a:t>        "visitors_yoy_pct": -7.594166067586816,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"46790",</a:t>
            </a:r>
          </a:p>
          <a:p xmlns:a="http://schemas.openxmlformats.org/drawingml/2006/main">
            <a:r>
              <a:t>        "region_name": "전라남도 화순군",</a:t>
            </a:r>
          </a:p>
          <a:p xmlns:a="http://schemas.openxmlformats.org/drawingml/2006/main">
            <a:r>
              <a:t>        "visitors_yoy_pct": -0.4638258656956218,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"52790",</a:t>
            </a:r>
          </a:p>
          <a:p xmlns:a="http://schemas.openxmlformats.org/drawingml/2006/main">
            <a:r>
              <a:t>        "region_name": "전북특별자치도 고창군",</a:t>
            </a:r>
          </a:p>
          <a:p xmlns:a="http://schemas.openxmlformats.org/drawingml/2006/main">
            <a:r>
              <a:t>        "visitors_yoy_pct": -6.627616864286345,</a:t>
            </a:r>
          </a:p>
          <a:p xmlns:a="http://schemas.openxmlformats.org/drawingml/2006/main">
            <a:r>
              <a:t>        "spending_yoy_pct": 1.7686019122850727</a:t>
            </a:r>
          </a:p>
          <a:p xmlns:a="http://schemas.openxmlformats.org/drawingml/2006/main">
            <a:r>
              <a:t>      },</a:t>
            </a:r>
          </a:p>
          <a:p xmlns:a="http://schemas.openxmlformats.org/drawingml/2006/main">
            <a:r>
              <a:t>      {</a:t>
            </a:r>
          </a:p>
          <a:p xmlns:a="http://schemas.openxmlformats.org/drawingml/2006/main">
            <a:r>
              <a:t>        "region_code": "52130",</a:t>
            </a:r>
          </a:p>
          <a:p xmlns:a="http://schemas.openxmlformats.org/drawingml/2006/main">
            <a:r>
              <a:t>        "region_name": "전북특별자치도 군산시",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"52210",</a:t>
            </a:r>
          </a:p>
          <a:p xmlns:a="http://schemas.openxmlformats.org/drawingml/2006/main">
            <a:r>
              <a:t>        "region_name": "전북특별자치도 김제시",</a:t>
            </a:r>
          </a:p>
          <a:p xmlns:a="http://schemas.openxmlformats.org/drawingml/2006/main">
            <a:r>
              <a:t>        "visitors_yoy_pct": -0.6758954076027224,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"52190",</a:t>
            </a:r>
          </a:p>
          <a:p xmlns:a="http://schemas.openxmlformats.org/drawingml/2006/main">
            <a:r>
              <a:t>        "region_name": "전북특별자치도 남원시",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"52730",</a:t>
            </a:r>
          </a:p>
          <a:p xmlns:a="http://schemas.openxmlformats.org/drawingml/2006/main">
            <a:r>
              <a:t>        "region_name": "전북특별자치도 무주군",</a:t>
            </a:r>
          </a:p>
          <a:p xmlns:a="http://schemas.openxmlformats.org/drawingml/2006/main">
            <a:r>
              <a:t>        "visitors_yoy_pct": 4.597012440752213,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"52800",</a:t>
            </a:r>
          </a:p>
          <a:p xmlns:a="http://schemas.openxmlformats.org/drawingml/2006/main">
            <a:r>
              <a:t>        "region_name": "전북특별자치도 부안군",</a:t>
            </a:r>
          </a:p>
          <a:p xmlns:a="http://schemas.openxmlformats.org/drawingml/2006/main">
            <a:r>
              <a:t>        "visitors_yoy_pct": 0.2262425995711581,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"52770",</a:t>
            </a:r>
          </a:p>
          <a:p xmlns:a="http://schemas.openxmlformats.org/drawingml/2006/main">
            <a:r>
              <a:t>        "region_name": "전북특별자치도 순창군",</a:t>
            </a:r>
          </a:p>
          <a:p xmlns:a="http://schemas.openxmlformats.org/drawingml/2006/main">
            <a:r>
              <a:t>        "visitors_yoy_pct": -9.68958471728848,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"52710",</a:t>
            </a:r>
          </a:p>
          <a:p xmlns:a="http://schemas.openxmlformats.org/drawingml/2006/main">
            <a:r>
              <a:t>        "region_name": "전북특별자치도 완주군",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"52140",</a:t>
            </a:r>
          </a:p>
          <a:p xmlns:a="http://schemas.openxmlformats.org/drawingml/2006/main">
            <a:r>
              <a:t>        "region_name": "전북특별자치도 익산시",</a:t>
            </a:r>
          </a:p>
          <a:p xmlns:a="http://schemas.openxmlformats.org/drawingml/2006/main">
            <a:r>
              <a:t>        "visitors_yoy_pct": -2.186202233151302,</a:t>
            </a:r>
          </a:p>
          <a:p xmlns:a="http://schemas.openxmlformats.org/drawingml/2006/main">
            <a:r>
              <a:t>        "spending_yoy_pct": -1.7467930855516123</a:t>
            </a:r>
          </a:p>
          <a:p xmlns:a="http://schemas.openxmlformats.org/drawingml/2006/main">
            <a:r>
              <a:t>      },</a:t>
            </a:r>
          </a:p>
          <a:p xmlns:a="http://schemas.openxmlformats.org/drawingml/2006/main">
            <a:r>
              <a:t>      {</a:t>
            </a:r>
          </a:p>
          <a:p xmlns:a="http://schemas.openxmlformats.org/drawingml/2006/main">
            <a:r>
              <a:t>        "region_code": "52750",</a:t>
            </a:r>
          </a:p>
          <a:p xmlns:a="http://schemas.openxmlformats.org/drawingml/2006/main">
            <a:r>
              <a:t>        "region_name": "전북특별자치도 임실군",</a:t>
            </a:r>
          </a:p>
          <a:p xmlns:a="http://schemas.openxmlformats.org/drawingml/2006/main">
            <a:r>
              <a:t>        "visitors_yoy_pct": -6.611276395036647,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"52740",</a:t>
            </a:r>
          </a:p>
          <a:p xmlns:a="http://schemas.openxmlformats.org/drawingml/2006/main">
            <a:r>
              <a:t>        "region_name": "전북특별자치도 장수군",</a:t>
            </a:r>
          </a:p>
          <a:p xmlns:a="http://schemas.openxmlformats.org/drawingml/2006/main">
            <a:r>
              <a:t>        "visitors_yoy_pct": 0.0,</a:t>
            </a:r>
          </a:p>
          <a:p xmlns:a="http://schemas.openxmlformats.org/drawingml/2006/main">
            <a:r>
              <a:t>        "spending_yoy_pct": -16.028109986249916</a:t>
            </a:r>
          </a:p>
          <a:p xmlns:a="http://schemas.openxmlformats.org/drawingml/2006/main">
            <a:r>
              <a:t>      },</a:t>
            </a:r>
          </a:p>
          <a:p xmlns:a="http://schemas.openxmlformats.org/drawingml/2006/main">
            <a:r>
              <a:t>      {</a:t>
            </a:r>
          </a:p>
          <a:p xmlns:a="http://schemas.openxmlformats.org/drawingml/2006/main">
            <a:r>
              <a:t>        "region_code": "52113",</a:t>
            </a:r>
          </a:p>
          <a:p xmlns:a="http://schemas.openxmlformats.org/drawingml/2006/main">
            <a:r>
              <a:t>        "region_name": "전북특별자치도 전주시 덕진구",</a:t>
            </a:r>
          </a:p>
          <a:p xmlns:a="http://schemas.openxmlformats.org/drawingml/2006/main">
            <a:r>
              <a:t>        "visitors_yoy_pct": 4.291963563452361,</a:t>
            </a:r>
          </a:p>
          <a:p xmlns:a="http://schemas.openxmlformats.org/drawingml/2006/main">
            <a:r>
              <a:t>        "spending_yoy_pct": 3.429187439863446</a:t>
            </a:r>
          </a:p>
          <a:p xmlns:a="http://schemas.openxmlformats.org/drawingml/2006/main">
            <a:r>
              <a:t>      },</a:t>
            </a:r>
          </a:p>
          <a:p xmlns:a="http://schemas.openxmlformats.org/drawingml/2006/main">
            <a:r>
              <a:t>      {</a:t>
            </a:r>
          </a:p>
          <a:p xmlns:a="http://schemas.openxmlformats.org/drawingml/2006/main">
            <a:r>
              <a:t>        "region_code": "52111",</a:t>
            </a:r>
          </a:p>
          <a:p xmlns:a="http://schemas.openxmlformats.org/drawingml/2006/main">
            <a:r>
              <a:t>        "region_name": "전북특별자치도 전주시 완산구",</a:t>
            </a:r>
          </a:p>
          <a:p xmlns:a="http://schemas.openxmlformats.org/drawingml/2006/main">
            <a:r>
              <a:t>        "visitors_yoy_pct": -0.77126243208957,</a:t>
            </a:r>
          </a:p>
          <a:p xmlns:a="http://schemas.openxmlformats.org/drawingml/2006/main">
            <a:r>
              <a:t>        "spending_yoy_pct": -1.6686228105042833</a:t>
            </a:r>
          </a:p>
          <a:p xmlns:a="http://schemas.openxmlformats.org/drawingml/2006/main">
            <a:r>
              <a:t>      },</a:t>
            </a:r>
          </a:p>
          <a:p xmlns:a="http://schemas.openxmlformats.org/drawingml/2006/main">
            <a:r>
              <a:t>      {</a:t>
            </a:r>
          </a:p>
          <a:p xmlns:a="http://schemas.openxmlformats.org/drawingml/2006/main">
            <a:r>
              <a:t>        "region_code": "52180",</a:t>
            </a:r>
          </a:p>
          <a:p xmlns:a="http://schemas.openxmlformats.org/drawingml/2006/main">
            <a:r>
              <a:t>        "region_name": "전북특별자치도 정읍시",</a:t>
            </a:r>
          </a:p>
          <a:p xmlns:a="http://schemas.openxmlformats.org/drawingml/2006/main">
            <a:r>
              <a:t>        "visitors_yoy_pct": -8.113949274469512,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"52720",</a:t>
            </a:r>
          </a:p>
          <a:p xmlns:a="http://schemas.openxmlformats.org/drawingml/2006/main">
            <a:r>
              <a:t>        "region_name": "전북특별자치도 진안군",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"50130",</a:t>
            </a:r>
          </a:p>
          <a:p xmlns:a="http://schemas.openxmlformats.org/drawingml/2006/main">
            <a:r>
              <a:t>        "region_name": "제주특별자치도 서귀포시",</a:t>
            </a:r>
          </a:p>
          <a:p xmlns:a="http://schemas.openxmlformats.org/drawingml/2006/main">
            <a:r>
              <a:t>        "visitors_yoy_pct": -1.9404077647184215,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"50110",</a:t>
            </a:r>
          </a:p>
          <a:p xmlns:a="http://schemas.openxmlformats.org/drawingml/2006/main">
            <a:r>
              <a:t>        "region_name": "제주특별자치도 제주시",</a:t>
            </a:r>
          </a:p>
          <a:p xmlns:a="http://schemas.openxmlformats.org/drawingml/2006/main">
            <a:r>
              <a:t>        "visitors_yoy_pct": -2.9970332041111325,</a:t>
            </a:r>
          </a:p>
          <a:p xmlns:a="http://schemas.openxmlformats.org/drawingml/2006/main">
            <a:r>
              <a:t>        "spending_yoy_pct": -0.344215997377606</a:t>
            </a:r>
          </a:p>
          <a:p xmlns:a="http://schemas.openxmlformats.org/drawingml/2006/main">
            <a:r>
              <a:t>      },</a:t>
            </a:r>
          </a:p>
          <a:p xmlns:a="http://schemas.openxmlformats.org/drawingml/2006/main">
            <a:r>
              <a:t>      {</a:t>
            </a:r>
          </a:p>
          <a:p xmlns:a="http://schemas.openxmlformats.org/drawingml/2006/main">
            <a:r>
              <a:t>        "region_code": "44250",</a:t>
            </a:r>
          </a:p>
          <a:p xmlns:a="http://schemas.openxmlformats.org/drawingml/2006/main">
            <a:r>
              <a:t>        "region_name": "충청남도 계룡시",</a:t>
            </a:r>
          </a:p>
          <a:p xmlns:a="http://schemas.openxmlformats.org/drawingml/2006/main">
            <a:r>
              <a:t>        "visitors_yoy_pct": -3.253411379185267,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"44150",</a:t>
            </a:r>
          </a:p>
          <a:p xmlns:a="http://schemas.openxmlformats.org/drawingml/2006/main">
            <a:r>
              <a:t>        "region_name": "충청남도 공주시",</a:t>
            </a:r>
          </a:p>
          <a:p xmlns:a="http://schemas.openxmlformats.org/drawingml/2006/main">
            <a:r>
              <a:t>        "visitors_yoy_pct": 0.9396432003732524,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"44710",</a:t>
            </a:r>
          </a:p>
          <a:p xmlns:a="http://schemas.openxmlformats.org/drawingml/2006/main">
            <a:r>
              <a:t>        "region_name": "충청남도 금산군",</a:t>
            </a:r>
          </a:p>
          <a:p xmlns:a="http://schemas.openxmlformats.org/drawingml/2006/main">
            <a:r>
              <a:t>        "visitors_yoy_pct": 0.2564369450511528,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"44230",</a:t>
            </a:r>
          </a:p>
          <a:p xmlns:a="http://schemas.openxmlformats.org/drawingml/2006/main">
            <a:r>
              <a:t>        "region_name": "충청남도 논산시",</a:t>
            </a:r>
          </a:p>
          <a:p xmlns:a="http://schemas.openxmlformats.org/drawingml/2006/main">
            <a:r>
              <a:t>        "visitors_yoy_pct": -0.20290858416329716,</a:t>
            </a:r>
          </a:p>
          <a:p xmlns:a="http://schemas.openxmlformats.org/drawingml/2006/main">
            <a:r>
              <a:t>        "spending_yoy_pct": 107.12602440650927</a:t>
            </a:r>
          </a:p>
          <a:p xmlns:a="http://schemas.openxmlformats.org/drawingml/2006/main">
            <a:r>
              <a:t>      },</a:t>
            </a:r>
          </a:p>
          <a:p xmlns:a="http://schemas.openxmlformats.org/drawingml/2006/main">
            <a:r>
              <a:t>      {</a:t>
            </a:r>
          </a:p>
          <a:p xmlns:a="http://schemas.openxmlformats.org/drawingml/2006/main">
            <a:r>
              <a:t>        "region_code": "44270",</a:t>
            </a:r>
          </a:p>
          <a:p xmlns:a="http://schemas.openxmlformats.org/drawingml/2006/main">
            <a:r>
              <a:t>        "region_name": "충청남도 당진시",</a:t>
            </a:r>
          </a:p>
          <a:p xmlns:a="http://schemas.openxmlformats.org/drawingml/2006/main">
            <a:r>
              <a:t>        "visitors_yoy_pct": -4.419836099319118,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"44180",</a:t>
            </a:r>
          </a:p>
          <a:p xmlns:a="http://schemas.openxmlformats.org/drawingml/2006/main">
            <a:r>
              <a:t>        "region_name": "충청남도 보령시",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"44760",</a:t>
            </a:r>
          </a:p>
          <a:p xmlns:a="http://schemas.openxmlformats.org/drawingml/2006/main">
            <a:r>
              <a:t>        "region_name": "충청남도 부여군",</a:t>
            </a:r>
          </a:p>
          <a:p xmlns:a="http://schemas.openxmlformats.org/drawingml/2006/main">
            <a:r>
              <a:t>        "visitors_yoy_pct": -1.5360538235401844,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"44210",</a:t>
            </a:r>
          </a:p>
          <a:p xmlns:a="http://schemas.openxmlformats.org/drawingml/2006/main">
            <a:r>
              <a:t>        "region_name": "충청남도 서산시",</a:t>
            </a:r>
          </a:p>
          <a:p xmlns:a="http://schemas.openxmlformats.org/drawingml/2006/main">
            <a:r>
              <a:t>        "visitors_yoy_pct": 0.24478534850893574,</a:t>
            </a:r>
          </a:p>
          <a:p xmlns:a="http://schemas.openxmlformats.org/drawingml/2006/main">
            <a:r>
              <a:t>        "spending_yoy_pct": -3.5472930631496813</a:t>
            </a:r>
          </a:p>
          <a:p xmlns:a="http://schemas.openxmlformats.org/drawingml/2006/main">
            <a:r>
              <a:t>      },</a:t>
            </a:r>
          </a:p>
          <a:p xmlns:a="http://schemas.openxmlformats.org/drawingml/2006/main">
            <a:r>
              <a:t>      {</a:t>
            </a:r>
          </a:p>
          <a:p xmlns:a="http://schemas.openxmlformats.org/drawingml/2006/main">
            <a:r>
              <a:t>        "region_code": "44770",</a:t>
            </a:r>
          </a:p>
          <a:p xmlns:a="http://schemas.openxmlformats.org/drawingml/2006/main">
            <a:r>
              <a:t>        "region_name": "충청남도 서천군",</a:t>
            </a:r>
          </a:p>
          <a:p xmlns:a="http://schemas.openxmlformats.org/drawingml/2006/main">
            <a:r>
              <a:t>        "visitors_yoy_pct": -6.101401347839364,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"44200",</a:t>
            </a:r>
          </a:p>
          <a:p xmlns:a="http://schemas.openxmlformats.org/drawingml/2006/main">
            <a:r>
              <a:t>        "region_name": "충청남도 아산시",</a:t>
            </a:r>
          </a:p>
          <a:p xmlns:a="http://schemas.openxmlformats.org/drawingml/2006/main">
            <a:r>
              <a:t>        "visitors_yoy_pct": 1.6381359427136033,</a:t>
            </a:r>
          </a:p>
          <a:p xmlns:a="http://schemas.openxmlformats.org/drawingml/2006/main">
            <a:r>
              <a:t>        "spending_yoy_pct": 21.67555151294014</a:t>
            </a:r>
          </a:p>
          <a:p xmlns:a="http://schemas.openxmlformats.org/drawingml/2006/main">
            <a:r>
              <a:t>      },</a:t>
            </a:r>
          </a:p>
          <a:p xmlns:a="http://schemas.openxmlformats.org/drawingml/2006/main">
            <a:r>
              <a:t>      {</a:t>
            </a:r>
          </a:p>
          <a:p xmlns:a="http://schemas.openxmlformats.org/drawingml/2006/main">
            <a:r>
              <a:t>        "region_code": "44810",</a:t>
            </a:r>
          </a:p>
          <a:p xmlns:a="http://schemas.openxmlformats.org/drawingml/2006/main">
            <a:r>
              <a:t>        "region_name": "충청남도 예산군",</a:t>
            </a:r>
          </a:p>
          <a:p xmlns:a="http://schemas.openxmlformats.org/drawingml/2006/main">
            <a:r>
              <a:t>        "visitors_yoy_pct": -2.7921566891576433,</a:t>
            </a:r>
          </a:p>
          <a:p xmlns:a="http://schemas.openxmlformats.org/drawingml/2006/main">
            <a:r>
              <a:t>        "spending_yoy_pct": 3.2182000713773418</a:t>
            </a:r>
          </a:p>
          <a:p xmlns:a="http://schemas.openxmlformats.org/drawingml/2006/main">
            <a:r>
              <a:t>      },</a:t>
            </a:r>
          </a:p>
          <a:p xmlns:a="http://schemas.openxmlformats.org/drawingml/2006/main">
            <a:r>
              <a:t>      {</a:t>
            </a:r>
          </a:p>
          <a:p xmlns:a="http://schemas.openxmlformats.org/drawingml/2006/main">
            <a:r>
              <a:t>        "region_code": "44131",</a:t>
            </a:r>
          </a:p>
          <a:p xmlns:a="http://schemas.openxmlformats.org/drawingml/2006/main">
            <a:r>
              <a:t>        "region_name": "충청남도 천안시 동남구",</a:t>
            </a:r>
          </a:p>
          <a:p xmlns:a="http://schemas.openxmlformats.org/drawingml/2006/main">
            <a:r>
              <a:t>        "visitors_yoy_pct": 1.9721057822461585,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"44133",</a:t>
            </a:r>
          </a:p>
          <a:p xmlns:a="http://schemas.openxmlformats.org/drawingml/2006/main">
            <a:r>
              <a:t>        "region_name": "충청남도 천안시 서북구",</a:t>
            </a:r>
          </a:p>
          <a:p xmlns:a="http://schemas.openxmlformats.org/drawingml/2006/main">
            <a:r>
              <a:t>        "visitors_yoy_pct": 0.2612705243280944,</a:t>
            </a:r>
          </a:p>
          <a:p xmlns:a="http://schemas.openxmlformats.org/drawingml/2006/main">
            <a:r>
              <a:t>        "spending_yoy_pct": 7.768108787176065</a:t>
            </a:r>
          </a:p>
          <a:p xmlns:a="http://schemas.openxmlformats.org/drawingml/2006/main">
            <a:r>
              <a:t>      },</a:t>
            </a:r>
          </a:p>
          <a:p xmlns:a="http://schemas.openxmlformats.org/drawingml/2006/main">
            <a:r>
              <a:t>      {</a:t>
            </a:r>
          </a:p>
          <a:p xmlns:a="http://schemas.openxmlformats.org/drawingml/2006/main">
            <a:r>
              <a:t>        "region_code": "44790",</a:t>
            </a:r>
          </a:p>
          <a:p xmlns:a="http://schemas.openxmlformats.org/drawingml/2006/main">
            <a:r>
              <a:t>        "region_name": "충청남도 청양군",</a:t>
            </a:r>
          </a:p>
          <a:p xmlns:a="http://schemas.openxmlformats.org/drawingml/2006/main">
            <a:r>
              <a:t>        "visitors_yoy_pct": -2.2014068292360522,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"44825",</a:t>
            </a:r>
          </a:p>
          <a:p xmlns:a="http://schemas.openxmlformats.org/drawingml/2006/main">
            <a:r>
              <a:t>        "region_name": "충청남도 태안군",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"44800",</a:t>
            </a:r>
          </a:p>
          <a:p xmlns:a="http://schemas.openxmlformats.org/drawingml/2006/main">
            <a:r>
              <a:t>        "region_name": "충청남도 홍성군",</a:t>
            </a:r>
          </a:p>
          <a:p xmlns:a="http://schemas.openxmlformats.org/drawingml/2006/main">
            <a:r>
              <a:t>        "visitors_yoy_pct": -1.926036252205876,</a:t>
            </a:r>
          </a:p>
          <a:p xmlns:a="http://schemas.openxmlformats.org/drawingml/2006/main">
            <a:r>
              <a:t>        "spending_yoy_pct": 17.440281108802136</a:t>
            </a:r>
          </a:p>
          <a:p xmlns:a="http://schemas.openxmlformats.org/drawingml/2006/main">
            <a:r>
              <a:t>      },</a:t>
            </a:r>
          </a:p>
          <a:p xmlns:a="http://schemas.openxmlformats.org/drawingml/2006/main">
            <a:r>
              <a:t>      {</a:t>
            </a:r>
          </a:p>
          <a:p xmlns:a="http://schemas.openxmlformats.org/drawingml/2006/main">
            <a:r>
              <a:t>        "region_code": "43760",</a:t>
            </a:r>
          </a:p>
          <a:p xmlns:a="http://schemas.openxmlformats.org/drawingml/2006/main">
            <a:r>
              <a:t>        "region_name": "충청북도 괴산군",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"43800",</a:t>
            </a:r>
          </a:p>
          <a:p xmlns:a="http://schemas.openxmlformats.org/drawingml/2006/main">
            <a:r>
              <a:t>        "region_name": "충청북도 단양군",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"43720",</a:t>
            </a:r>
          </a:p>
          <a:p xmlns:a="http://schemas.openxmlformats.org/drawingml/2006/main">
            <a:r>
              <a:t>        "region_name": "충청북도 보은군",</a:t>
            </a:r>
          </a:p>
          <a:p xmlns:a="http://schemas.openxmlformats.org/drawingml/2006/main">
            <a:r>
              <a:t>        "visitors_yoy_pct": -7.112510215020695,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"43740",</a:t>
            </a:r>
          </a:p>
          <a:p xmlns:a="http://schemas.openxmlformats.org/drawingml/2006/main">
            <a:r>
              <a:t>        "region_name": "충청북도 영동군",</a:t>
            </a:r>
          </a:p>
          <a:p xmlns:a="http://schemas.openxmlformats.org/drawingml/2006/main">
            <a:r>
              <a:t>        "visitors_yoy_pct": 1.8046777943435899,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"43730",</a:t>
            </a:r>
          </a:p>
          <a:p xmlns:a="http://schemas.openxmlformats.org/drawingml/2006/main">
            <a:r>
              <a:t>        "region_name": "충청북도 옥천군",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"43770",</a:t>
            </a:r>
          </a:p>
          <a:p xmlns:a="http://schemas.openxmlformats.org/drawingml/2006/main">
            <a:r>
              <a:t>        "region_name": "충청북도 음성군",</a:t>
            </a:r>
          </a:p>
          <a:p xmlns:a="http://schemas.openxmlformats.org/drawingml/2006/main">
            <a:r>
              <a:t>        "visitors_yoy_pct": 1.3354637153798476,</a:t>
            </a:r>
          </a:p>
          <a:p xmlns:a="http://schemas.openxmlformats.org/drawingml/2006/main">
            <a:r>
              <a:t>        "spending_yoy_pct": 4.336507996980998</a:t>
            </a:r>
          </a:p>
          <a:p xmlns:a="http://schemas.openxmlformats.org/drawingml/2006/main">
            <a:r>
              <a:t>      },</a:t>
            </a:r>
          </a:p>
          <a:p xmlns:a="http://schemas.openxmlformats.org/drawingml/2006/main">
            <a:r>
              <a:t>      {</a:t>
            </a:r>
          </a:p>
          <a:p xmlns:a="http://schemas.openxmlformats.org/drawingml/2006/main">
            <a:r>
              <a:t>        "region_code": "43150",</a:t>
            </a:r>
          </a:p>
          <a:p xmlns:a="http://schemas.openxmlformats.org/drawingml/2006/main">
            <a:r>
              <a:t>        "region_name": "충청북도 제천시",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"43745",</a:t>
            </a:r>
          </a:p>
          <a:p xmlns:a="http://schemas.openxmlformats.org/drawingml/2006/main">
            <a:r>
              <a:t>        "region_name": "충청북도 증평군",</a:t>
            </a:r>
          </a:p>
          <a:p xmlns:a="http://schemas.openxmlformats.org/drawingml/2006/main">
            <a:r>
              <a:t>        "visitors_yoy_pct": 3.43009996565109,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"43750",</a:t>
            </a:r>
          </a:p>
          <a:p xmlns:a="http://schemas.openxmlformats.org/drawingml/2006/main">
            <a:r>
              <a:t>        "region_name": "충청북도 진천군",</a:t>
            </a:r>
          </a:p>
          <a:p xmlns:a="http://schemas.openxmlformats.org/drawingml/2006/main">
            <a:r>
              <a:t>        "visitors_yoy_pct": 0.8598805391942577,</a:t>
            </a:r>
          </a:p>
          <a:p xmlns:a="http://schemas.openxmlformats.org/drawingml/2006/main">
            <a:r>
              <a:t>        "spending_yoy_pct": 6.441991433916305</a:t>
            </a:r>
          </a:p>
          <a:p xmlns:a="http://schemas.openxmlformats.org/drawingml/2006/main">
            <a:r>
              <a:t>      },</a:t>
            </a:r>
          </a:p>
          <a:p xmlns:a="http://schemas.openxmlformats.org/drawingml/2006/main">
            <a:r>
              <a:t>      {</a:t>
            </a:r>
          </a:p>
          <a:p xmlns:a="http://schemas.openxmlformats.org/drawingml/2006/main">
            <a:r>
              <a:t>        "region_code": "43111",</a:t>
            </a:r>
          </a:p>
          <a:p xmlns:a="http://schemas.openxmlformats.org/drawingml/2006/main">
            <a:r>
              <a:t>        "region_name": "충청북도 청주시 상당구",</a:t>
            </a:r>
          </a:p>
          <a:p xmlns:a="http://schemas.openxmlformats.org/drawingml/2006/main">
            <a:r>
              <a:t>        "visitors_yoy_pct": 0.21217211529411806,</a:t>
            </a:r>
          </a:p>
          <a:p xmlns:a="http://schemas.openxmlformats.org/drawingml/2006/main">
            <a:r>
              <a:t>        "spending_yoy_pct": -3.405545347488803</a:t>
            </a:r>
          </a:p>
          <a:p xmlns:a="http://schemas.openxmlformats.org/drawingml/2006/main">
            <a:r>
              <a:t>      },</a:t>
            </a:r>
          </a:p>
          <a:p xmlns:a="http://schemas.openxmlformats.org/drawingml/2006/main">
            <a:r>
              <a:t>      {</a:t>
            </a:r>
          </a:p>
          <a:p xmlns:a="http://schemas.openxmlformats.org/drawingml/2006/main">
            <a:r>
              <a:t>        "region_code": "43112",</a:t>
            </a:r>
          </a:p>
          <a:p xmlns:a="http://schemas.openxmlformats.org/drawingml/2006/main">
            <a:r>
              <a:t>        "region_name": "충청북도 청주시 서원구",</a:t>
            </a:r>
          </a:p>
          <a:p xmlns:a="http://schemas.openxmlformats.org/drawingml/2006/main">
            <a:r>
              <a:t>        "visitors_yoy_pct": 2.511238291733453,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"43114",</a:t>
            </a:r>
          </a:p>
          <a:p xmlns:a="http://schemas.openxmlformats.org/drawingml/2006/main">
            <a:r>
              <a:t>        "region_name": "충청북도 청주시 청원구",</a:t>
            </a:r>
          </a:p>
          <a:p xmlns:a="http://schemas.openxmlformats.org/drawingml/2006/main">
            <a:r>
              <a:t>        "visitors_yoy_pct": 0.18077100821116687,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"43113",</a:t>
            </a:r>
          </a:p>
          <a:p xmlns:a="http://schemas.openxmlformats.org/drawingml/2006/main">
            <a:r>
              <a:t>        "region_name": "충청북도 청주시 흥덕구",</a:t>
            </a:r>
          </a:p>
          <a:p xmlns:a="http://schemas.openxmlformats.org/drawingml/2006/main">
            <a:r>
              <a:t>        "visitors_yoy_pct": 0.18973668636870222,</a:t>
            </a:r>
          </a:p>
          <a:p xmlns:a="http://schemas.openxmlformats.org/drawingml/2006/main">
            <a:r>
              <a:t>        "spending_yoy_pct": 18.335822536892167</a:t>
            </a:r>
          </a:p>
          <a:p xmlns:a="http://schemas.openxmlformats.org/drawingml/2006/main">
            <a:r>
              <a:t>      },</a:t>
            </a:r>
          </a:p>
          <a:p xmlns:a="http://schemas.openxmlformats.org/drawingml/2006/main">
            <a:r>
              <a:t>      {</a:t>
            </a:r>
          </a:p>
          <a:p xmlns:a="http://schemas.openxmlformats.org/drawingml/2006/main">
            <a:r>
              <a:t>        "region_code": "43130",</a:t>
            </a:r>
          </a:p>
          <a:p xmlns:a="http://schemas.openxmlformats.org/drawingml/2006/main">
            <a:r>
              <a:t>        "region_name": "충청북도 충주시",</a:t>
            </a:r>
          </a:p>
          <a:p xmlns:a="http://schemas.openxmlformats.org/drawingml/2006/main">
            <a:r>
              <a:t>        "visitors_yoy_pct": -1.9728604465589328,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"method": "Saved region-specific models; same cutoff, same months; no retraining. Equal-weight mean of regional quarterly YoY growth. Competition ranks.",</a:t>
            </a:r>
          </a:p>
          <a:p xmlns:a="http://schemas.openxmlformats.org/drawingml/2006/main">
            <a:r>
              <a:t>  "source": "한국관광 데이터랩 공식 다운로드; data/processed/ml/&lt;region_code&gt;/monthly_demand.csv; artifacts/ml/&lt;region_code&gt;/demand_model.joblib",</a:t>
            </a:r>
          </a:p>
          <a:p xmlns:a="http://schemas.openxmlformats.org/drawingml/2006/main">
            <a:r>
              <a:t>  "limits": "No resident population or density adjustment. Forecast distance from last observed month may exceed 3 months. Rank changes are conditional scenarios, not causal estimates."</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dataset:30170:1 | 한국관광 데이터랩 · 대전광역시 서구 순 방문자 수 및 숙박 비율 (이동통신 기반 외지인) | https://datalab.visitkorea.or.kr/</a:t>
            </a:r>
          </a:p>
          <a:p xmlns:a="http://schemas.openxmlformats.org/drawingml/2006/main">
            <a:r>
              <a:t>dataset:30170:2 | 한국관광 데이터랩 · 대전광역시 서구 월간 순 방문자 수 (이동통신 기반 외지인) | https://datalab.visitkorea.or.kr/</a:t>
            </a:r>
          </a:p>
          <a:p xmlns:a="http://schemas.openxmlformats.org/drawingml/2006/main">
            <a:r>
              <a:t>dataset:30170:3 | 한국관광 데이터랩 · 대전광역시 서구 관광소비 추이_외지인 | https://datalab.visitkorea.or.kr/</a:t>
            </a:r>
          </a:p>
          <a:p xmlns:a="http://schemas.openxmlformats.org/drawingml/2006/main">
            <a:r>
              <a:t>dataset:30170:4 | 한국관광 데이터랩 · 대전광역시 서구 숙박방문자 비율 추이 (이동통신 기반 외지인) | https://datalab.visitkorea.or.kr/</a:t>
            </a:r>
          </a:p>
          <a:p xmlns:a="http://schemas.openxmlformats.org/drawingml/2006/main">
            <a:r>
              <a:t>dataset:30170:5 | 한국관광 데이터랩 · 대전광역시 서구 평균 숙박일 (이동통신 기반 외지인) | https://datalab.visitkorea.or.kr/</a:t>
            </a:r>
          </a:p>
          <a:p xmlns:a="http://schemas.openxmlformats.org/drawingml/2006/main">
            <a:r>
              <a:t>dataset:30170:6 | 한국관광 데이터랩 · 대전광역시 서구 내비게이션 목적지 유형별 검색량 | https://datalab.visitkorea.or.kr/</a:t>
            </a:r>
          </a:p>
          <a:p xmlns:a="http://schemas.openxmlformats.org/drawingml/2006/main">
            <a:r>
              <a:t>dataset:30170:7 | 한국관광 데이터랩 · 대전광역시 서구 SNS 언급량 | https://datalab.visitkorea.or.kr/</a:t>
            </a:r>
          </a:p>
          <a:p xmlns:a="http://schemas.openxmlformats.org/drawingml/2006/main">
            <a:r>
              <a:t>datalab:12c41f8a3e52:f92921dca662 | 방문자/2025_01_12.zip | https://datalab.visitkorea.or.kr/</a:t>
            </a:r>
          </a:p>
          <a:p xmlns:a="http://schemas.openxmlformats.org/drawingml/2006/main">
            <a:r>
              <a:t>datalab:162285800b98:dbba3ac2e220 | 관광소비/2025_01_12.zip | https://datalab.visitkorea.or.kr/</a:t>
            </a:r>
          </a:p>
          <a:p xmlns:a="http://schemas.openxmlformats.org/drawingml/2006/main">
            <a:r>
              <a:t>datalab:1bec5b4405e1:6c5494eef7c6 | 숙박_체류시간/2025_01_12.zip | https://datalab.visitkorea.or.kr/</a:t>
            </a:r>
          </a:p>
          <a:p xmlns:a="http://schemas.openxmlformats.org/drawingml/2006/main">
            <a:r>
              <a:t>datalab:7a4db91d6ba9:d81294f3e5a0 | 관광소비/2026_01_06.zip | https://datalab.visitkorea.or.kr/</a:t>
            </a:r>
          </a:p>
          <a:p xmlns:a="http://schemas.openxmlformats.org/drawingml/2006/main">
            <a:r>
              <a:t>datalab:cc1dc8fb5607:77f3b69cfb89 | 방문자/2026_01_06.zip | https://datalab.visitkorea.or.kr/</a:t>
            </a:r>
          </a:p>
          <a:p xmlns:a="http://schemas.openxmlformats.org/drawingml/2006/main">
            <a:r>
              <a:t>datalab:e53d144382ee:fc025995a6df | 숙박_체류시간/2026_01_06.zip | https://datalab.visitkorea.or.kr/</a:t>
            </a:r>
          </a:p>
          <a:p xmlns:a="http://schemas.openxmlformats.org/drawingml/2006/main">
            <a:r>
              <a:t>team-bigdata:23ea68053684:6bfbcf8aabf6 | 이동통신/내국인/지역별 방문자수/20260820140607__202601-202606_데이터랩_다운로드.zip | https://datalab.visitkorea.or.kr/</a:t>
            </a:r>
          </a:p>
          <a:p xmlns:a="http://schemas.openxmlformats.org/drawingml/2006/main">
            <a:r>
              <a:t>team-bigdata:98d4ae590d9a:3be52dd54323 | 이동통신/외국인/20260820141710_전국_202601-202606_데이터랩_다운로드.zip | https://datalab.visitkorea.or.kr/</a:t>
            </a:r>
          </a:p>
          <a:p xmlns:a="http://schemas.openxmlformats.org/drawingml/2006/main">
            <a:r>
              <a:t>team-bigdata:367cd0294ec4:873930d645e5 | 신용카드/내국인/지역별 관광지출액/20260820140046__202601-202606_데이터랩_다운로드.zip | https://datalab.visitkorea.or.kr/</a:t>
            </a:r>
          </a:p>
          <a:p xmlns:a="http://schemas.openxmlformats.org/drawingml/2006/main">
            <a:r>
              <a:t>team-bigdata:553a0dad4bb4:5a31355dffe8 | 신용카드/외국인/지역별 관광지출액/20260820140355__202601-202606_데이터랩_다운로드.zip | https://datalab.visitkorea.or.kr/</a:t>
            </a:r>
          </a:p>
          <a:p xmlns:a="http://schemas.openxmlformats.org/drawingml/2006/main">
            <a:r>
              <a:t>team-bigdata:a53dbe1c21df:77a052de41d5 | 지역별 검색건수/20260820195507__202601-202606_데이터랩_다운로드.zip | https://datalab.visitkorea.or.kr/</a:t>
            </a:r>
          </a:p>
          <a:p xmlns:a="http://schemas.openxmlformats.org/drawingml/2006/main">
            <a:r>
              <a:t>team-bigdata:823a38d1d61c:5385261d02e5 | 이동통신/내국인/지역별 방문자수/20260820140614__202501-202512_데이터랩_다운로드.zip | https://datalab.visitkorea.or.kr/</a:t>
            </a:r>
          </a:p>
          <a:p xmlns:a="http://schemas.openxmlformats.org/drawingml/2006/main">
            <a:r>
              <a:t>team-bigdata:2723bdb0d589:1666a34058ed | 이동통신/외국인/20260820141649_전국_202501-202512_데이터랩_다운로드.zip | https://datalab.visitkorea.or.kr/</a:t>
            </a:r>
          </a:p>
          <a:p xmlns:a="http://schemas.openxmlformats.org/drawingml/2006/main">
            <a:r>
              <a:t>team-bigdata:83177a234971:c02cb7972e0f | 신용카드/내국인/지역별 관광지출액/20260820135957__202501-202512_데이터랩_다운로드.zip | https://datalab.visitkorea.or.kr/</a:t>
            </a:r>
          </a:p>
          <a:p xmlns:a="http://schemas.openxmlformats.org/drawingml/2006/main">
            <a:r>
              <a:t>team-bigdata:58ded7732251:589c76395cbc | 신용카드/외국인/지역별 관광지출액/20260820140409__202501-202512_데이터랩_다운로드.zip | https://datalab.visitkorea.or.kr/</a:t>
            </a:r>
          </a:p>
          <a:p xmlns:a="http://schemas.openxmlformats.org/drawingml/2006/main">
            <a:r>
              <a:t>team-bigdata:e28c947cb52f:bb4cb344a6ba | 지역별 검색건수/20260820132007__202501-202512_데이터랩_다운로드.zip | https://datalab.visitkorea.or.kr/</a:t>
            </a:r>
          </a:p>
          <a:p xmlns:a="http://schemas.openxmlformats.org/drawingml/2006/main">
            <a:r>
              <a:t>team-bigdata:8815bbb11a39:1a5988f5f8ec | 이동통신/내국인/지역별 방문자수/20260820140624__202401-202412_데이터랩_다운로드.zip | https://datalab.visitkorea.or.kr/</a:t>
            </a:r>
          </a:p>
          <a:p xmlns:a="http://schemas.openxmlformats.org/drawingml/2006/main">
            <a:r>
              <a:t>team-bigdata:19fd67fbb73d:afa4f0f54a2f | 이동통신/외국인/20260820141639_전국_202401-202412_데이터랩_다운로드.zip | https://datalab.visitkorea.or.kr/</a:t>
            </a:r>
          </a:p>
          <a:p xmlns:a="http://schemas.openxmlformats.org/drawingml/2006/main">
            <a:r>
              <a:t>regional-status:0c68fedc2071:0ad82310f803 | 한국관광 데이터랩 지역별 관광 현황 · 대전광역시 서구 · 지역집중률 | https://datalab.visitkorea.or.kr/</a:t>
            </a:r>
          </a:p>
          <a:p xmlns:a="http://schemas.openxmlformats.org/drawingml/2006/main">
            <a:r>
              <a:t>regional-status:4cddd6aa75d4:be8b01ec64e2 | 한국관광 데이터랩 지역별 관광 현황 · 대전광역시 서구 · 유입유출 | https://datalab.visitkorea.or.kr/</a:t>
            </a:r>
          </a:p>
          <a:p xmlns:a="http://schemas.openxmlformats.org/drawingml/2006/main">
            <a:r>
              <a:t>regional-status:8c9a813e95eb:5e0cc3f56b73 | 한국관광 데이터랩 지역별 관광 현황 · 대전광역시 서구 · 인기관광지 | https://datalab.visitkorea.or.kr/</a:t>
            </a:r>
          </a:p>
          <a:p xmlns:a="http://schemas.openxmlformats.org/drawingml/2006/main">
            <a:r>
              <a:t>ml:30170:regional-demand-v3.1:202606 | 지역 관광수요 ML 전망 · 공식 관측값 아님 | URL 미기록</a:t>
            </a:r>
          </a:p>
          <a:p xmlns:a="http://schemas.openxmlformats.org/drawingml/2006/main">
            <a:r>
              <a:t>tour-api:2899643 | 갈마짬뽕 | https://apis.data.go.kr/B551011/KorService2</a:t>
            </a:r>
          </a:p>
          <a:p xmlns:a="http://schemas.openxmlformats.org/drawingml/2006/main">
            <a:r>
              <a:t>tour-api:2899637 | 관저당 | https://apis.data.go.kr/B551011/KorService2</a:t>
            </a:r>
          </a:p>
          <a:p xmlns:a="http://schemas.openxmlformats.org/drawingml/2006/main">
            <a:r>
              <a:t>tour-api:1932079 | 굿모닝레지던스호텔휴 | https://apis.data.go.kr/B551011/KorService2</a:t>
            </a:r>
          </a:p>
          <a:p xmlns:a="http://schemas.openxmlformats.org/drawingml/2006/main">
            <a:r>
              <a:t>tour-api:133881 | 귀빈돌솥밥 | https://apis.data.go.kr/B551011/KorService2</a:t>
            </a:r>
          </a:p>
          <a:p xmlns:a="http://schemas.openxmlformats.org/drawingml/2006/main">
            <a:r>
              <a:t>tour-api:2758252 | 남선공원 | https://apis.data.go.kr/B551011/KorService2</a:t>
            </a:r>
          </a:p>
          <a:p xmlns:a="http://schemas.openxmlformats.org/drawingml/2006/main">
            <a:r>
              <a:t>tour-api:298208 | 내원사(대전) | https://apis.data.go.kr/B551011/KorService2</a:t>
            </a:r>
          </a:p>
          <a:p xmlns:a="http://schemas.openxmlformats.org/drawingml/2006/main">
            <a:r>
              <a:t>tour-api:3452550 | 노크노크 | https://apis.data.go.kr/B551011/KorService2</a:t>
            </a:r>
          </a:p>
          <a:p xmlns:a="http://schemas.openxmlformats.org/drawingml/2006/main">
            <a:r>
              <a:t>tour-api:2899585 | 대성콩국수 | https://apis.data.go.kr/B551011/KorService2</a:t>
            </a:r>
          </a:p>
          <a:p xmlns:a="http://schemas.openxmlformats.org/drawingml/2006/main">
            <a:r>
              <a:t>tour-api:130802 | 대전 가수원도서관 | https://apis.data.go.kr/B551011/KorService2</a:t>
            </a:r>
          </a:p>
          <a:p xmlns:a="http://schemas.openxmlformats.org/drawingml/2006/main">
            <a:r>
              <a:t>tour-api:2743325 | 대전광역시청 시민잔디광장 | https://apis.data.go.kr/B551011/KorService2</a:t>
            </a:r>
          </a:p>
          <a:p xmlns:a="http://schemas.openxmlformats.org/drawingml/2006/main">
            <a:r>
              <a:t>tour-api:130197 | 대전서구문화원 | https://apis.data.go.kr/B551011/KorService2</a:t>
            </a:r>
          </a:p>
          <a:p xmlns:a="http://schemas.openxmlformats.org/drawingml/2006/main">
            <a:r>
              <a:t>tour-api:2865847 | 델빠네 | https://apis.data.go.kr/B551011/KorService2</a:t>
            </a:r>
          </a:p>
          <a:p xmlns:a="http://schemas.openxmlformats.org/drawingml/2006/main">
            <a:r>
              <a:t>tour-api:2758334 | 도마큰시장 | https://apis.data.go.kr/B551011/KorService2</a:t>
            </a:r>
          </a:p>
          <a:p xmlns:a="http://schemas.openxmlformats.org/drawingml/2006/main">
            <a:r>
              <a:t>tour-api:1955818 | 도산서원(대전) | https://apis.data.go.kr/B551011/KorService2</a:t>
            </a:r>
          </a:p>
          <a:p xmlns:a="http://schemas.openxmlformats.org/drawingml/2006/main">
            <a:r>
              <a:t>tour-api:2758341 | 둔산꽃시장 | https://apis.data.go.kr/B551011/KorService2</a:t>
            </a:r>
          </a:p>
          <a:p xmlns:a="http://schemas.openxmlformats.org/drawingml/2006/main">
            <a:r>
              <a:t>tour-api:1623725 | 둔산전자타운 | https://apis.data.go.kr/B551011/KorService2</a:t>
            </a:r>
          </a:p>
          <a:p xmlns:a="http://schemas.openxmlformats.org/drawingml/2006/main">
            <a:r>
              <a:t>tour-api:132661 | 롯데백화점 (대전점) | https://apis.data.go.kr/B551011/KorService2</a:t>
            </a:r>
          </a:p>
          <a:p xmlns:a="http://schemas.openxmlformats.org/drawingml/2006/main">
            <a:r>
              <a:t>tour-api:2758646 | 마치광장 | https://apis.data.go.kr/B551011/KorService2</a:t>
            </a:r>
          </a:p>
          <a:p xmlns:a="http://schemas.openxmlformats.org/drawingml/2006/main">
            <a:r>
              <a:t>tour-api:2899544 | 몽뜨 | https://apis.data.go.kr/B551011/KorService2</a:t>
            </a:r>
          </a:p>
          <a:p xmlns:a="http://schemas.openxmlformats.org/drawingml/2006/main">
            <a:r>
              <a:t>tour-api:2865914 | 미세노센세 | https://apis.data.go.kr/B551011/KorService2</a:t>
            </a:r>
          </a:p>
          <a:p xmlns:a="http://schemas.openxmlformats.org/drawingml/2006/main">
            <a:r>
              <a:t>reference:kto:2026:local-airport | 요즘, 한국관광 2호 - 지방공항 연계 지역관광 활성화 방안 | PDF 44쪽, PDF 40쪽, PDF 41쪽, PDF 41쪽, PDF 43쪽 | https://datalab.visitkorea.or.kr/site/portal/ex/bbs/View.do?bcIdx=311068&amp;cbIdx=1135&amp;pageIndex=1</a:t>
            </a:r>
          </a:p>
          <a:p xmlns:a="http://schemas.openxmlformats.org/drawingml/2006/main">
            <a:r>
              <a:t>web:30170:1 | 한밭수목원 | 열린관광 모두의 여행 | https://access.visitkorea.or.kr/ms/detail.do?cotId=81cc7479-c010-4bdd-9a29-3121bb578cb8</a:t>
            </a:r>
          </a:p>
          <a:p xmlns:a="http://schemas.openxmlformats.org/drawingml/2006/main">
            <a:r>
              <a:t>web:30170:2 | Hanbat Arboretum (한밭수목원) - VISITKOREA | https://english.visitkorea.or.kr/svc/contents/contentsView.do?vcontsId=82059</a:t>
            </a:r>
          </a:p>
          <a:p xmlns:a="http://schemas.openxmlformats.org/drawingml/2006/main">
            <a:r>
              <a:t>web:30170:3 | 대전예술의전당 | 열린관광 모두의 여행 | https://access.visitkorea.or.kr/ms/detail.do?cotId=af31b729-4eda-469b-b4cc-73ea3a1c8028</a:t>
            </a:r>
          </a:p>
          <a:p xmlns:a="http://schemas.openxmlformats.org/drawingml/2006/main">
            <a:r>
              <a:t>web:30170:4 | 한민시장 | 열린관광 모두의 여행 | https://access.visitkorea.or.kr/ms/detail.do?cotId=72bba786-e15a-478a-bc99-c9d15ff27727</a:t>
            </a:r>
          </a:p>
          <a:p xmlns:a="http://schemas.openxmlformats.org/drawingml/2006/main">
            <a:r>
              <a:t>web:30170:5 | 장태산자연휴양림 - VISITKOREA | https://japanese.visitkorea.or.kr/svc/contents/contentsView.do?vcontsId=76300</a:t>
            </a:r>
          </a:p>
          <a:p xmlns:a="http://schemas.openxmlformats.org/drawingml/2006/main">
            <a:r>
              <a:t>web:30170:6 | 여유롭고 안전한 오늘의 여행법 비대면(언택트) 관광지 100선 | https://korean.visitkorea.or.kr/detail/rem_detail.do?cotid=351f6cf4-d984-496f-886d-6fc538b226a7</a:t>
            </a:r>
          </a:p>
          <a:p xmlns:a="http://schemas.openxmlformats.org/drawingml/2006/main">
            <a:r>
              <a:t>case:41508ca81cf29f | 한국관광 데이터랩 · 안동탈춤축제 방문자 추이 | https://datalab.visitkorea.or.kr/</a:t>
            </a:r>
          </a:p>
          <a:p xmlns:a="http://schemas.openxmlformats.org/drawingml/2006/main">
            <a:r>
              <a:t>case:festival:01474ef75569b1 | 한국관광 데이터랩 · 문경찻사발축제 방문자 추이 | https://datalab.visitkorea.or.kr/</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case:4544b7bca8ebab | 요즘, 한국관광 2호 - 지방공항 연계 지역관광 활성화 방안 | https://datalab.visitkorea.or.kr/site/portal/ex/bbs/View.do?bcIdx=311068&amp;cbIdx=1135&amp;pageIndex=1</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case:festival:1ff9d11d3ee0ee | 한국관광 데이터랩 · 진도신비의바닷길축제 방문자 추이 | https://datalab.visitkorea.or.kr/</a:t>
            </a:r>
          </a:p>
          <a:p xmlns:a="http://schemas.openxmlformats.org/drawingml/2006/main">
            <a:r>
              <a:t>case:festival:1ffc3eec28956a | 한국관광 데이터랩 · 통영한산대첩축제 방문자 추이 | https://datalab.visitkorea.or.kr/</a:t>
            </a:r>
          </a:p>
          <a:p xmlns:a="http://schemas.openxmlformats.org/drawingml/2006/main">
            <a:r>
              <a:t>[/Sources]</a:t>
            </a:r>
          </a:p>
          <a:p xmlns:a="http://schemas.openxmlformats.org/drawingml/2006/main">
            <a:r>
              <a:t>[Saved narrative]</a:t>
            </a:r>
          </a:p>
          <a:p xmlns:a="http://schemas.openxmlformats.org/drawingml/2006/main">
            <a:r>
              <a:t>[</a:t>
            </a:r>
          </a:p>
          <a:p xmlns:a="http://schemas.openxmlformats.org/drawingml/2006/main">
            <a:r>
              <a:t>  {</a:t>
            </a:r>
          </a:p>
          <a:p xmlns:a="http://schemas.openxmlformats.org/drawingml/2006/main">
            <a:r>
              <a:t>    "priority": 1,</a:t>
            </a:r>
          </a:p>
          <a:p xmlns:a="http://schemas.openxmlformats.org/drawingml/2006/main">
            <a:r>
              <a:t>    "timeframe": "2026-10 ~ 2026-12, 3개월",</a:t>
            </a:r>
          </a:p>
          <a:p xmlns:a="http://schemas.openxmlformats.org/drawingml/2006/main">
            <a:r>
              <a:t>    "title": "대전 서구 야간 특화 콘텐츠 순회 축제",</a:t>
            </a:r>
          </a:p>
          <a:p xmlns:a="http://schemas.openxmlformats.org/drawingml/2006/main">
            <a:r>
              <a:t>    "problem_to_solve": "낮 시간대 중심의 방문 패턴과 낮은 숙박 비율을 개선하고, 감소 추세인 내비게이션 검색량을 회복함",</a:t>
            </a:r>
          </a:p>
          <a:p xmlns:a="http://schemas.openxmlformats.org/drawingml/2006/main">
            <a:r>
              <a:t>    "comparison_analysis": "전국 야간관광 특화도시의 '순회형 축제' 모델(case:night_festival_2025)을 참고하되, 대전 서구의 주요 거점(백화점, 수목원, 휴양림 등)과 지역 상권을 연결하는 방식으로 차별화함",</a:t>
            </a:r>
          </a:p>
          <a:p xmlns:a="http://schemas.openxmlformats.org/drawingml/2006/main">
            <a:r>
              <a:t>    "solution": "지역별 대표 콘텐츠(공연, 체험, 디저트 등)를 야간 시간대에 맞춰 순회 운영하여 방문객의 저녁 체류와 지역 상점 이용을 유도함",</a:t>
            </a:r>
          </a:p>
          <a:p xmlns:a="http://schemas.openxmlformats.org/drawingml/2006/main">
            <a:r>
              <a:t>    "implementation_steps": [</a:t>
            </a:r>
          </a:p>
          <a:p xmlns:a="http://schemas.openxmlformats.org/drawingml/2006/main">
            <a:r>
              <a:t>      {</a:t>
            </a:r>
          </a:p>
          <a:p xmlns:a="http://schemas.openxmlformats.org/drawingml/2006/main">
            <a:r>
              <a:t>        "step": 1,</a:t>
            </a:r>
          </a:p>
          <a:p xmlns:a="http://schemas.openxmlformats.org/drawingml/2006/main">
            <a:r>
              <a:t>        "schedule": "2026-10",</a:t>
            </a:r>
          </a:p>
          <a:p xmlns:a="http://schemas.openxmlformats.org/drawingml/2006/main">
            <a:r>
              <a:t>        "task": "관광기획팀이 야간 운영 거점 및 참여 상점 대상 협의를 진행하고, 참여 의사를 확인하여 명단을 확정함",</a:t>
            </a:r>
          </a:p>
          <a:p xmlns:a="http://schemas.openxmlformats.org/drawingml/2006/main">
            <a:r>
              <a:t>        "deliverable": "참여 업체 명단 및 야간 운영 시간 확정안"</a:t>
            </a:r>
          </a:p>
          <a:p xmlns:a="http://schemas.openxmlformats.org/drawingml/2006/main">
            <a:r>
              <a:t>      },</a:t>
            </a:r>
          </a:p>
          <a:p xmlns:a="http://schemas.openxmlformats.org/drawingml/2006/main">
            <a:r>
              <a:t>      {</a:t>
            </a:r>
          </a:p>
          <a:p xmlns:a="http://schemas.openxmlformats.org/drawingml/2006/main">
            <a:r>
              <a:t>        "step": 2,</a:t>
            </a:r>
          </a:p>
          <a:p xmlns:a="http://schemas.openxmlformats.org/drawingml/2006/main">
            <a:r>
              <a:t>        "schedule": "2026-10",</a:t>
            </a:r>
          </a:p>
          <a:p xmlns:a="http://schemas.openxmlformats.org/drawingml/2006/main">
            <a:r>
              <a:t>        "task": "운영팀이 야간 콘텐츠(공연, 체험) 구성안과 안전 관리 계획을 수립하고, 유관기관의 검토를 완료함",</a:t>
            </a:r>
          </a:p>
          <a:p xmlns:a="http://schemas.openxmlformats.org/drawingml/2006/main">
            <a:r>
              <a:t>        "deliverable": "축제 운영 매뉴얼 및 안전 관리 계획서"</a:t>
            </a:r>
          </a:p>
          <a:p xmlns:a="http://schemas.openxmlformats.org/drawingml/2006/main">
            <a:r>
              <a:t>      },</a:t>
            </a:r>
          </a:p>
          <a:p xmlns:a="http://schemas.openxmlformats.org/drawingml/2006/main">
            <a:r>
              <a:t>      {</a:t>
            </a:r>
          </a:p>
          <a:p xmlns:a="http://schemas.openxmlformats.org/drawingml/2006/main">
            <a:r>
              <a:t>        "step": 3,</a:t>
            </a:r>
          </a:p>
          <a:p xmlns:a="http://schemas.openxmlformats.org/drawingml/2006/main">
            <a:r>
              <a:t>        "schedule": "2026-11",</a:t>
            </a:r>
          </a:p>
          <a:p xmlns:a="http://schemas.openxmlformats.org/drawingml/2006/main">
            <a:r>
              <a:t>        "task": "홍보팀이 축제 실행에 맞춰 온·오프라인 홍보물을 배포하고, 시범 운영을 통해 현장 반응을 모니터링함",</a:t>
            </a:r>
          </a:p>
          <a:p xmlns:a="http://schemas.openxmlformats.org/drawingml/2006/main">
            <a:r>
              <a:t>        "deliverable": "축제 실행 및 홍보물 배포 결과"</a:t>
            </a:r>
          </a:p>
          <a:p xmlns:a="http://schemas.openxmlformats.org/drawingml/2006/main">
            <a:r>
              <a:t>      },</a:t>
            </a:r>
          </a:p>
          <a:p xmlns:a="http://schemas.openxmlformats.org/drawingml/2006/main">
            <a:r>
              <a:t>      {</a:t>
            </a:r>
          </a:p>
          <a:p xmlns:a="http://schemas.openxmlformats.org/drawingml/2006/main">
            <a:r>
              <a:t>        "step": 4,</a:t>
            </a:r>
          </a:p>
          <a:p xmlns:a="http://schemas.openxmlformats.org/drawingml/2006/main">
            <a:r>
              <a:t>        "schedule": "2026-11 ~ 2026-12",</a:t>
            </a:r>
          </a:p>
          <a:p xmlns:a="http://schemas.openxmlformats.org/drawingml/2006/main">
            <a:r>
              <a:t>        "task": "상권지원팀이 야간 상권 연계 프로그램(디저트, 판매상품)의 운영 현황을 점검하고 참여 업체의 결제 데이터를 수집함",</a:t>
            </a:r>
          </a:p>
          <a:p xmlns:a="http://schemas.openxmlformats.org/drawingml/2006/main">
            <a:r>
              <a:t>        "deliverable": "상권 연계 프로그램 운영 결과"</a:t>
            </a:r>
          </a:p>
          <a:p xmlns:a="http://schemas.openxmlformats.org/drawingml/2006/main">
            <a:r>
              <a:t>      },</a:t>
            </a:r>
          </a:p>
          <a:p xmlns:a="http://schemas.openxmlformats.org/drawingml/2006/main">
            <a:r>
              <a:t>      {</a:t>
            </a:r>
          </a:p>
          <a:p xmlns:a="http://schemas.openxmlformats.org/drawingml/2006/main">
            <a:r>
              <a:t>        "step": 5,</a:t>
            </a:r>
          </a:p>
          <a:p xmlns:a="http://schemas.openxmlformats.org/drawingml/2006/main">
            <a:r>
              <a:t>        "schedule": "2026-12",</a:t>
            </a:r>
          </a:p>
          <a:p xmlns:a="http://schemas.openxmlformats.org/drawingml/2006/main">
            <a:r>
              <a:t>        "task": "성과분석팀이 한국관광 데이터랩 원자료를 바탕으로 지표별 성과를 분석하고 최종 보고서를 작성함",</a:t>
            </a:r>
          </a:p>
          <a:p xmlns:a="http://schemas.openxmlformats.org/drawingml/2006/main">
            <a:r>
              <a:t>        "deliverable": "지표별 성과 분석 보고서"</a:t>
            </a:r>
          </a:p>
          <a:p xmlns:a="http://schemas.openxmlformats.org/drawingml/2006/main">
            <a:r>
              <a:t>      }</a:t>
            </a:r>
          </a:p>
          <a:p xmlns:a="http://schemas.openxmlformats.org/drawingml/2006/main">
            <a:r>
              <a:t>    ],</a:t>
            </a:r>
          </a:p>
          <a:p xmlns:a="http://schemas.openxmlformats.org/drawingml/2006/main">
            <a:r>
              <a:t>    "expected_effect": "계획 목표: 최종월 ML 전망 대비 방문 +0.03%, 소비 +0.07%. 운영 규모와 참여 가정으로 산정하며 실제 성과는 별도 집계합니다.",</a:t>
            </a:r>
          </a:p>
          <a:p xmlns:a="http://schemas.openxmlformats.org/drawingml/2006/main">
            <a:r>
              <a:t>    "budget": "3,000,000원 (기획 가정: 축제 운영 비용 1,000,000원/월 × 3개월)",</a:t>
            </a:r>
          </a:p>
          <a:p xmlns:a="http://schemas.openxmlformats.org/drawingml/2006/main">
            <a:r>
              <a:t>    "kpi": "야간 시간대 방문자 수 증가율 (분자: 야간 시간대 방문자 수, 분모: 전체 방문자 수, 기준: 전년 동기 대비, 산식: (이번 기간 야간 방문자 수 - 전년 같은 기간 야간 방문자 수) / 전년 같은 기간 야간 방문자 수 × 100, 측정 주기: 월별, 원자료: 한국관광 데이터랩, 수집 담당: 성과분석팀, 성공 기준: 전년 동기 대비 증가세 확인 시 성공)",</a:t>
            </a:r>
          </a:p>
          <a:p xmlns:a="http://schemas.openxmlformats.org/drawingml/2006/main">
            <a:r>
              <a:t>    "evidence": "case:night_festival_2025",</a:t>
            </a:r>
          </a:p>
          <a:p xmlns:a="http://schemas.openxmlformats.org/drawingml/2006/main">
            <a:r>
              <a:t>    "visual_asset_source_ids": [</a:t>
            </a:r>
          </a:p>
          <a:p xmlns:a="http://schemas.openxmlformats.org/drawingml/2006/main">
            <a:r>
              <a:t>      "dataset:30170:6",</a:t>
            </a:r>
          </a:p>
          <a:p xmlns:a="http://schemas.openxmlformats.org/drawingml/2006/main">
            <a:r>
              <a:t>      "case:night_festival_2025"</a:t>
            </a:r>
          </a:p>
          <a:p xmlns:a="http://schemas.openxmlformats.org/drawingml/2006/main">
            <a:r>
              <a:t>    ]</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dataset:30170:1 | 한국관광 데이터랩 · 대전광역시 서구 순 방문자 수 및 숙박 비율 (이동통신 기반 외지인) | https://datalab.visitkorea.or.kr/</a:t>
            </a:r>
          </a:p>
          <a:p>
            <a:r>
              <a:t>dataset:30170:2 | 한국관광 데이터랩 · 대전광역시 서구 월간 순 방문자 수 (이동통신 기반 외지인) | https://datalab.visitkorea.or.kr/</a:t>
            </a:r>
          </a:p>
          <a:p>
            <a:r>
              <a:t>dataset:30170:3 | 한국관광 데이터랩 · 대전광역시 서구 관광소비 추이_외지인 | https://datalab.visitkorea.or.kr/</a:t>
            </a:r>
          </a:p>
          <a:p>
            <a:r>
              <a:t>dataset:30170:4 | 한국관광 데이터랩 · 대전광역시 서구 숙박방문자 비율 추이 (이동통신 기반 외지인) | https://datalab.visitkorea.or.kr/</a:t>
            </a:r>
          </a:p>
          <a:p>
            <a:r>
              <a:t>dataset:30170:5 | 한국관광 데이터랩 · 대전광역시 서구 평균 숙박일 (이동통신 기반 외지인) | https://datalab.visitkorea.or.kr/</a:t>
            </a:r>
          </a:p>
          <a:p>
            <a:r>
              <a:t>dataset:30170:6 | 한국관광 데이터랩 · 대전광역시 서구 내비게이션 목적지 유형별 검색량 | https://datalab.visitkorea.or.kr/</a:t>
            </a:r>
          </a:p>
          <a:p>
            <a:r>
              <a:t>dataset:30170:7 | 한국관광 데이터랩 · 대전광역시 서구 SNS 언급량 | https://datalab.visitkorea.or.kr/</a:t>
            </a:r>
          </a:p>
          <a:p>
            <a:r>
              <a:t>datalab:12c41f8a3e52:f92921dca662 | 방문자/2025_01_12.zip | https://datalab.visitkorea.or.kr/</a:t>
            </a:r>
          </a:p>
          <a:p>
            <a:r>
              <a:t>datalab:162285800b98:dbba3ac2e220 | 관광소비/2025_01_12.zip | https://datalab.visitkorea.or.kr/</a:t>
            </a:r>
          </a:p>
          <a:p>
            <a:r>
              <a:t>datalab:1bec5b4405e1:6c5494eef7c6 | 숙박_체류시간/2025_01_12.zip | https://datalab.visitkorea.or.kr/</a:t>
            </a:r>
          </a:p>
          <a:p>
            <a:r>
              <a:t>datalab:7a4db91d6ba9:d81294f3e5a0 | 관광소비/2026_01_06.zip | https://datalab.visitkorea.or.kr/</a:t>
            </a:r>
          </a:p>
          <a:p>
            <a:r>
              <a:t>datalab:cc1dc8fb5607:77f3b69cfb89 | 방문자/2026_01_06.zip | https://datalab.visitkorea.or.kr/</a:t>
            </a:r>
          </a:p>
          <a:p>
            <a:r>
              <a:t>datalab:e53d144382ee:fc025995a6df | 숙박_체류시간/2026_01_06.zip | https://datalab.visitkorea.or.kr/</a:t>
            </a:r>
          </a:p>
          <a:p>
            <a:r>
              <a:t>team-bigdata:23ea68053684:6bfbcf8aabf6 | 이동통신/내국인/지역별 방문자수/20260820140607__202601-202606_데이터랩_다운로드.zip | https://datalab.visitkorea.or.kr/</a:t>
            </a:r>
          </a:p>
          <a:p>
            <a:r>
              <a:t>team-bigdata:98d4ae590d9a:3be52dd54323 | 이동통신/외국인/20260820141710_전국_202601-202606_데이터랩_다운로드.zip | https://datalab.visitkorea.or.kr/</a:t>
            </a:r>
          </a:p>
          <a:p>
            <a:r>
              <a:t>team-bigdata:367cd0294ec4:873930d645e5 | 신용카드/내국인/지역별 관광지출액/20260820140046__202601-202606_데이터랩_다운로드.zip | https://datalab.visitkorea.or.kr/</a:t>
            </a:r>
          </a:p>
          <a:p>
            <a:r>
              <a:t>team-bigdata:553a0dad4bb4:5a31355dffe8 | 신용카드/외국인/지역별 관광지출액/20260820140355__202601-202606_데이터랩_다운로드.zip | https://datalab.visitkorea.or.kr/</a:t>
            </a:r>
          </a:p>
          <a:p>
            <a:r>
              <a:t>team-bigdata:a53dbe1c21df:77a052de41d5 | 지역별 검색건수/20260820195507__202601-202606_데이터랩_다운로드.zip | https://datalab.visitkorea.or.kr/</a:t>
            </a:r>
          </a:p>
          <a:p>
            <a:r>
              <a:t>team-bigdata:823a38d1d61c:5385261d02e5 | 이동통신/내국인/지역별 방문자수/20260820140614__202501-202512_데이터랩_다운로드.zip | https://datalab.visitkorea.or.kr/</a:t>
            </a:r>
          </a:p>
          <a:p>
            <a:r>
              <a:t>team-bigdata:2723bdb0d589:1666a34058ed | 이동통신/외국인/20260820141649_전국_202501-202512_데이터랩_다운로드.zip | https://datalab.visitkorea.or.kr/</a:t>
            </a:r>
          </a:p>
          <a:p>
            <a:r>
              <a:t>team-bigdata:83177a234971:c02cb7972e0f | 신용카드/내국인/지역별 관광지출액/20260820135957__202501-202512_데이터랩_다운로드.zip | https://datalab.visitkorea.or.kr/</a:t>
            </a:r>
          </a:p>
          <a:p>
            <a:r>
              <a:t>team-bigdata:58ded7732251:589c76395cbc | 신용카드/외국인/지역별 관광지출액/20260820140409__202501-202512_데이터랩_다운로드.zip | https://datalab.visitkorea.or.kr/</a:t>
            </a:r>
          </a:p>
          <a:p>
            <a:r>
              <a:t>team-bigdata:e28c947cb52f:bb4cb344a6ba | 지역별 검색건수/20260820132007__202501-202512_데이터랩_다운로드.zip | https://datalab.visitkorea.or.kr/</a:t>
            </a:r>
          </a:p>
          <a:p>
            <a:r>
              <a:t>team-bigdata:8815bbb11a39:1a5988f5f8ec | 이동통신/내국인/지역별 방문자수/20260820140624__202401-202412_데이터랩_다운로드.zip | https://datalab.visitkorea.or.kr/</a:t>
            </a:r>
          </a:p>
          <a:p>
            <a:r>
              <a:t>team-bigdata:19fd67fbb73d:afa4f0f54a2f | 이동통신/외국인/20260820141639_전국_202401-202412_데이터랩_다운로드.zip | https://datalab.visitkorea.or.kr/</a:t>
            </a:r>
          </a:p>
          <a:p>
            <a:r>
              <a:t>regional-status:0c68fedc2071:0ad82310f803 | 한국관광 데이터랩 지역별 관광 현황 · 대전광역시 서구 · 지역집중률 | https://datalab.visitkorea.or.kr/</a:t>
            </a:r>
          </a:p>
          <a:p>
            <a:r>
              <a:t>regional-status:4cddd6aa75d4:be8b01ec64e2 | 한국관광 데이터랩 지역별 관광 현황 · 대전광역시 서구 · 유입유출 | https://datalab.visitkorea.or.kr/</a:t>
            </a:r>
          </a:p>
          <a:p>
            <a:r>
              <a:t>regional-status:8c9a813e95eb:5e0cc3f56b73 | 한국관광 데이터랩 지역별 관광 현황 · 대전광역시 서구 · 인기관광지 | https://datalab.visitkorea.or.kr/</a:t>
            </a:r>
          </a:p>
          <a:p>
            <a:r>
              <a:t>ml:30170:regional-demand-v3.1:202606 | 지역 관광수요 ML 전망 · 공식 관측값 아님 | URL 미기록</a:t>
            </a:r>
          </a:p>
          <a:p>
            <a:r>
              <a:t>tour-api:2899643 | 갈마짬뽕 | https://apis.data.go.kr/B551011/KorService2</a:t>
            </a:r>
          </a:p>
          <a:p>
            <a:r>
              <a:t>tour-api:2899637 | 관저당 | https://apis.data.go.kr/B551011/KorService2</a:t>
            </a:r>
          </a:p>
          <a:p>
            <a:r>
              <a:t>tour-api:1932079 | 굿모닝레지던스호텔휴 | https://apis.data.go.kr/B551011/KorService2</a:t>
            </a:r>
          </a:p>
          <a:p>
            <a:r>
              <a:t>tour-api:133881 | 귀빈돌솥밥 | https://apis.data.go.kr/B551011/KorService2</a:t>
            </a:r>
          </a:p>
          <a:p>
            <a:r>
              <a:t>tour-api:2758252 | 남선공원 | https://apis.data.go.kr/B551011/KorService2</a:t>
            </a:r>
          </a:p>
          <a:p>
            <a:r>
              <a:t>tour-api:298208 | 내원사(대전) | https://apis.data.go.kr/B551011/KorService2</a:t>
            </a:r>
          </a:p>
          <a:p>
            <a:r>
              <a:t>tour-api:3452550 | 노크노크 | https://apis.data.go.kr/B551011/KorService2</a:t>
            </a:r>
          </a:p>
          <a:p>
            <a:r>
              <a:t>tour-api:2899585 | 대성콩국수 | https://apis.data.go.kr/B551011/KorService2</a:t>
            </a:r>
          </a:p>
          <a:p>
            <a:r>
              <a:t>tour-api:130802 | 대전 가수원도서관 | https://apis.data.go.kr/B551011/KorService2</a:t>
            </a:r>
          </a:p>
          <a:p>
            <a:r>
              <a:t>tour-api:2743325 | 대전광역시청 시민잔디광장 | https://apis.data.go.kr/B551011/KorService2</a:t>
            </a:r>
          </a:p>
          <a:p>
            <a:r>
              <a:t>tour-api:130197 | 대전서구문화원 | https://apis.data.go.kr/B551011/KorService2</a:t>
            </a:r>
          </a:p>
          <a:p>
            <a:r>
              <a:t>tour-api:2865847 | 델빠네 | https://apis.data.go.kr/B551011/KorService2</a:t>
            </a:r>
          </a:p>
          <a:p>
            <a:r>
              <a:t>tour-api:2758334 | 도마큰시장 | https://apis.data.go.kr/B551011/KorService2</a:t>
            </a:r>
          </a:p>
          <a:p>
            <a:r>
              <a:t>tour-api:1955818 | 도산서원(대전) | https://apis.data.go.kr/B551011/KorService2</a:t>
            </a:r>
          </a:p>
          <a:p>
            <a:r>
              <a:t>tour-api:2758341 | 둔산꽃시장 | https://apis.data.go.kr/B551011/KorService2</a:t>
            </a:r>
          </a:p>
          <a:p>
            <a:r>
              <a:t>tour-api:1623725 | 둔산전자타운 | https://apis.data.go.kr/B551011/KorService2</a:t>
            </a:r>
          </a:p>
          <a:p>
            <a:r>
              <a:t>tour-api:132661 | 롯데백화점 (대전점) | https://apis.data.go.kr/B551011/KorService2</a:t>
            </a:r>
          </a:p>
          <a:p>
            <a:r>
              <a:t>tour-api:2758646 | 마치광장 | https://apis.data.go.kr/B551011/KorService2</a:t>
            </a:r>
          </a:p>
          <a:p>
            <a:r>
              <a:t>tour-api:2899544 | 몽뜨 | https://apis.data.go.kr/B551011/KorService2</a:t>
            </a:r>
          </a:p>
          <a:p>
            <a:r>
              <a:t>tour-api:2865914 | 미세노센세 | https://apis.data.go.kr/B551011/KorService2</a:t>
            </a:r>
          </a:p>
          <a:p>
            <a:r>
              <a:t>reference:kto:2026:local-airport | 요즘, 한국관광 2호 - 지방공항 연계 지역관광 활성화 방안 | PDF 44쪽, PDF 40쪽, PDF 41쪽, PDF 41쪽, PDF 43쪽 | https://datalab.visitkorea.or.kr/site/portal/ex/bbs/View.do?bcIdx=311068&amp;cbIdx=1135&amp;pageIndex=1</a:t>
            </a:r>
          </a:p>
          <a:p>
            <a:r>
              <a:t>web:30170:1 | 한밭수목원 | 열린관광 모두의 여행 | https://access.visitkorea.or.kr/ms/detail.do?cotId=81cc7479-c010-4bdd-9a29-3121bb578cb8</a:t>
            </a:r>
          </a:p>
          <a:p>
            <a:r>
              <a:t>web:30170:2 | Hanbat Arboretum (한밭수목원) - VISITKOREA | https://english.visitkorea.or.kr/svc/contents/contentsView.do?vcontsId=82059</a:t>
            </a:r>
          </a:p>
          <a:p>
            <a:r>
              <a:t>web:30170:3 | 대전예술의전당 | 열린관광 모두의 여행 | https://access.visitkorea.or.kr/ms/detail.do?cotId=af31b729-4eda-469b-b4cc-73ea3a1c8028</a:t>
            </a:r>
          </a:p>
          <a:p>
            <a:r>
              <a:t>web:30170:4 | 한민시장 | 열린관광 모두의 여행 | https://access.visitkorea.or.kr/ms/detail.do?cotId=72bba786-e15a-478a-bc99-c9d15ff27727</a:t>
            </a:r>
          </a:p>
          <a:p>
            <a:r>
              <a:t>web:30170:5 | 장태산자연휴양림 - VISITKOREA | https://japanese.visitkorea.or.kr/svc/contents/contentsView.do?vcontsId=76300</a:t>
            </a:r>
          </a:p>
          <a:p>
            <a:r>
              <a:t>web:30170:6 | 여유롭고 안전한 오늘의 여행법 비대면(언택트) 관광지 100선 | https://korean.visitkorea.or.kr/detail/rem_detail.do?cotid=351f6cf4-d984-496f-886d-6fc538b226a7</a:t>
            </a:r>
          </a:p>
          <a:p>
            <a:r>
              <a:t>case:41508ca81cf29f | 한국관광 데이터랩 · 안동탈춤축제 방문자 추이 | https://datalab.visitkorea.or.kr/</a:t>
            </a:r>
          </a:p>
          <a:p>
            <a:r>
              <a:t>case:festival:01474ef75569b1 | 한국관광 데이터랩 · 문경찻사발축제 방문자 추이 | https://datalab.visitkorea.or.kr/</a:t>
            </a:r>
          </a:p>
          <a:p>
            <a:r>
              <a:t>case:gangjin_half_price_2024 | 강진 반값여행 지역경제 효과 소개 | https://jnfarm.jeonnam.go.kr/board/FARM_BOARD_008/boardView.do?bdId=BD_00000000000011721&amp;menuCd=farm004002</a:t>
            </a:r>
          </a:p>
          <a:p>
            <a:r>
              <a:t>case:4544b7bca8ebab | 요즘, 한국관광 2호 - 지방공항 연계 지역관광 활성화 방안 | https://datalab.visitkorea.or.kr/site/portal/ex/bbs/View.do?bcIdx=311068&amp;cbIdx=1135&amp;pageIndex=1</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case:night_festival_2025 | 2025 대한민국 밤밤페스타 개최 도시 및 일정 | https://korean.visitkorea.or.kr/detail/rem_detail.do?cotid=f9c636b2-dd7c-4f09-af3d-6af43b33d371</a:t>
            </a:r>
          </a:p>
          <a:p>
            <a:r>
              <a:t>case:festival:1ff9d11d3ee0ee | 한국관광 데이터랩 · 진도신비의바닷길축제 방문자 추이 | https://datalab.visitkorea.or.kr/</a:t>
            </a:r>
          </a:p>
          <a:p>
            <a:r>
              <a:t>case:festival:1ffc3eec28956a | 한국관광 데이터랩 · 통영한산대첩축제 방문자 추이 | https://datalab.visitkorea.or.kr/</a:t>
            </a:r>
          </a:p>
          <a:p>
            <a:r>
              <a:t>[/Sources]</a:t>
            </a:r>
          </a:p>
          <a:p>
            <a:r>
              <a:t>[Calculation audit]</a:t>
            </a:r>
          </a:p>
          <a:p>
            <a:r>
              <a:t>{</a:t>
            </a:r>
          </a:p>
          <a:p>
            <a:r>
              <a:t>  "source_inventory": [</a:t>
            </a:r>
          </a:p>
          <a:p>
            <a:r>
              <a:t>    {</a:t>
            </a:r>
          </a:p>
          <a:p>
            <a:r>
              <a:t>      "source_id": "dataset:30170:1",</a:t>
            </a:r>
          </a:p>
          <a:p>
            <a:r>
              <a:t>      "source_type": "dataset",</a:t>
            </a:r>
          </a:p>
          <a:p>
            <a:r>
              <a:t>      "title": "한국관광 데이터랩 · 대전광역시 서구 순 방문자 수 및 숙박 비율 (이동통신 기반 외지인)",</a:t>
            </a:r>
          </a:p>
          <a:p>
            <a:r>
              <a:t>      "source_url": "https://datalab.visitkorea.or.kr/",</a:t>
            </a:r>
          </a:p>
          <a:p>
            <a:r>
              <a:t>      "summary": "월간 순 방문자 수: 4,619,168명 (관측 기준월: 2026-06)",</a:t>
            </a:r>
          </a:p>
          <a:p>
            <a:r>
              <a:t>      "observation_period": "2026-06",</a:t>
            </a:r>
          </a:p>
          <a:p>
            <a:r>
              <a:t>      "published_or_updated_at": "2026-06"</a:t>
            </a:r>
          </a:p>
          <a:p>
            <a:r>
              <a:t>    },</a:t>
            </a:r>
          </a:p>
          <a:p>
            <a:r>
              <a:t>    {</a:t>
            </a:r>
          </a:p>
          <a:p>
            <a:r>
              <a:t>      "source_id": "dataset:30170:2",</a:t>
            </a:r>
          </a:p>
          <a:p>
            <a:r>
              <a:t>      "source_type": "dataset",</a:t>
            </a:r>
          </a:p>
          <a:p>
            <a:r>
              <a:t>      "title": "한국관광 데이터랩 · 대전광역시 서구 월간 순 방문자 수 (이동통신 기반 외지인)",</a:t>
            </a:r>
          </a:p>
          <a:p>
            <a:r>
              <a:t>      "source_url": "https://datalab.visitkorea.or.kr/",</a:t>
            </a:r>
          </a:p>
          <a:p>
            <a:r>
              <a:t>      "summary": "전년동월 외지인 방문자 증감률: -3.5% (관측 기준월: 2026-06)",</a:t>
            </a:r>
          </a:p>
          <a:p>
            <a:r>
              <a:t>      "observation_period": "2026-06",</a:t>
            </a:r>
          </a:p>
          <a:p>
            <a:r>
              <a:t>      "published_or_updated_at": "2026-06"</a:t>
            </a:r>
          </a:p>
          <a:p>
            <a:r>
              <a:t>    },</a:t>
            </a:r>
          </a:p>
          <a:p>
            <a:r>
              <a:t>    {</a:t>
            </a:r>
          </a:p>
          <a:p>
            <a:r>
              <a:t>      "source_id": "dataset:30170:3",</a:t>
            </a:r>
          </a:p>
          <a:p>
            <a:r>
              <a:t>      "source_type": "dataset",</a:t>
            </a:r>
          </a:p>
          <a:p>
            <a:r>
              <a:t>      "title": "한국관광 데이터랩 · 대전광역시 서구 관광소비 추이_외지인",</a:t>
            </a:r>
          </a:p>
          <a:p>
            <a:r>
              <a:t>      "source_url": "https://datalab.visitkorea.or.kr/",</a:t>
            </a:r>
          </a:p>
          <a:p>
            <a:r>
              <a:t>      "summary": "월간 외지인 관광소비 총액: 76,758,413,000원 (관측 기준월: 2026-06)",</a:t>
            </a:r>
          </a:p>
          <a:p>
            <a:r>
              <a:t>      "observation_period": "2026-06",</a:t>
            </a:r>
          </a:p>
          <a:p>
            <a:r>
              <a:t>      "published_or_updated_at": "2026-06"</a:t>
            </a:r>
          </a:p>
          <a:p>
            <a:r>
              <a:t>    },</a:t>
            </a:r>
          </a:p>
          <a:p>
            <a:r>
              <a:t>    {</a:t>
            </a:r>
          </a:p>
          <a:p>
            <a:r>
              <a:t>      "source_id": "dataset:30170:4",</a:t>
            </a:r>
          </a:p>
          <a:p>
            <a:r>
              <a:t>      "source_type": "dataset",</a:t>
            </a:r>
          </a:p>
          <a:p>
            <a:r>
              <a:t>      "title": "한국관광 데이터랩 · 대전광역시 서구 숙박방문자 비율 추이 (이동통신 기반 외지인)",</a:t>
            </a:r>
          </a:p>
          <a:p>
            <a:r>
              <a:t>      "source_url": "https://datalab.visitkorea.or.kr/",</a:t>
            </a:r>
          </a:p>
          <a:p>
            <a:r>
              <a:t>      "summary": "외지인 숙박 방문 비율: 6.7% (관측 기준월: 2026-06)",</a:t>
            </a:r>
          </a:p>
          <a:p>
            <a:r>
              <a:t>      "observation_period": "2026-06",</a:t>
            </a:r>
          </a:p>
          <a:p>
            <a:r>
              <a:t>      "published_or_updated_at": "2026-06"</a:t>
            </a:r>
          </a:p>
          <a:p>
            <a:r>
              <a:t>    },</a:t>
            </a:r>
          </a:p>
          <a:p>
            <a:r>
              <a:t>    {</a:t>
            </a:r>
          </a:p>
          <a:p>
            <a:r>
              <a:t>      "source_id": "dataset:30170:5",</a:t>
            </a:r>
          </a:p>
          <a:p>
            <a:r>
              <a:t>      "source_type": "dataset",</a:t>
            </a:r>
          </a:p>
          <a:p>
            <a:r>
              <a:t>      "title": "한국관광 데이터랩 · 대전광역시 서구 평균 숙박일 (이동통신 기반 외지인)",</a:t>
            </a:r>
          </a:p>
          <a:p>
            <a:r>
              <a:t>      "source_url": "https://datalab.visitkorea.or.kr/",</a:t>
            </a:r>
          </a:p>
          <a:p>
            <a:r>
              <a:t>      "summary": "외지인 평균 숙박일수: 2.81일 (관측 기준월: 2026-06)",</a:t>
            </a:r>
          </a:p>
          <a:p>
            <a:r>
              <a:t>      "observation_period": "2026-06",</a:t>
            </a:r>
          </a:p>
          <a:p>
            <a:r>
              <a:t>      "published_or_updated_at": "2026-06"</a:t>
            </a:r>
          </a:p>
          <a:p>
            <a:r>
              <a:t>    },</a:t>
            </a:r>
          </a:p>
          <a:p>
            <a:r>
              <a:t>    {</a:t>
            </a:r>
          </a:p>
          <a:p>
            <a:r>
              <a:t>      "source_id": "dataset:30170:6",</a:t>
            </a:r>
          </a:p>
          <a:p>
            <a:r>
              <a:t>      "source_type": "dataset",</a:t>
            </a:r>
          </a:p>
          <a:p>
            <a:r>
              <a:t>      "title": "한국관광 데이터랩 · 대전광역시 서구 내비게이션 목적지 유형별 검색량",</a:t>
            </a:r>
          </a:p>
          <a:p>
            <a:r>
              <a:t>      "source_url": "https://datalab.visitkorea.or.kr/",</a:t>
            </a:r>
          </a:p>
          <a:p>
            <a:r>
              <a:t>      "summary": "내비게이션 목적지 검색량: 191,346건 (관측 기준월: 2026-06)",</a:t>
            </a:r>
          </a:p>
          <a:p>
            <a:r>
              <a:t>      "observation_period": "2026-06",</a:t>
            </a:r>
          </a:p>
          <a:p>
            <a:r>
              <a:t>      "published_or_updated_at": "2026-06"</a:t>
            </a:r>
          </a:p>
          <a:p>
            <a:r>
              <a:t>    },</a:t>
            </a:r>
          </a:p>
          <a:p>
            <a:r>
              <a:t>    {</a:t>
            </a:r>
          </a:p>
          <a:p>
            <a:r>
              <a:t>      "source_id": "dataset:30170:7",</a:t>
            </a:r>
          </a:p>
          <a:p>
            <a:r>
              <a:t>      "source_type": "dataset",</a:t>
            </a:r>
          </a:p>
          <a:p>
            <a:r>
              <a:t>      "title": "한국관광 데이터랩 · 대전광역시 서구 SNS 언급량",</a:t>
            </a:r>
          </a:p>
          <a:p>
            <a:r>
              <a:t>      "source_url": "https://datalab.visitkorea.or.kr/",</a:t>
            </a:r>
          </a:p>
          <a:p>
            <a:r>
              <a:t>      "summary": "SNS 언급량: 54,388건 (관측 기준월: 2026-06)",</a:t>
            </a:r>
          </a:p>
          <a:p>
            <a:r>
              <a:t>      "observation_period": "2026-06",</a:t>
            </a:r>
          </a:p>
          <a:p>
            <a:r>
              <a:t>      "published_or_updated_at": "2026-06"</a:t>
            </a:r>
          </a:p>
          <a:p>
            <a:r>
              <a:t>    },</a:t>
            </a:r>
          </a:p>
          <a:p>
            <a:r>
              <a:t>    {</a:t>
            </a:r>
          </a:p>
          <a:p>
            <a:r>
              <a:t>      "source_id": "datalab:12c41f8a3e52:f92921dca662",</a:t>
            </a:r>
          </a:p>
          <a:p>
            <a:r>
              <a:t>      "source_type": "nationwide_dataset",</a:t>
            </a:r>
          </a:p>
          <a:p>
            <a:r>
              <a:t>      "title": "한국관광 데이터랩 공식 다운로드 · 대전광역시_서구/방문자/2025_01_12.zip",</a:t>
            </a:r>
          </a:p>
          <a:p>
            <a:r>
              <a:t>      "source_url": "https://datalab.visitkorea.or.kr/",</a:t>
            </a:r>
          </a:p>
          <a:p>
            <a:r>
              <a:t>      "summary": "전국 비교 기준 기간: 2025-07 ~ 2026-06",</a:t>
            </a:r>
          </a:p>
          <a:p>
            <a:r>
              <a:t>      "observation_period": "2025-07 ~ 2026-06",</a:t>
            </a:r>
          </a:p>
          <a:p>
            <a:r>
              <a:t>      "published_or_updated_at": "2024-07 ~ 2025-06",</a:t>
            </a:r>
          </a:p>
          <a:p>
            <a:r>
              <a:t>      "source_file_name": "대전광역시_서구/방문자/2025_01_12.zip"</a:t>
            </a:r>
          </a:p>
          <a:p>
            <a:r>
              <a:t>    },</a:t>
            </a:r>
          </a:p>
          <a:p>
            <a:r>
              <a:t>    {</a:t>
            </a:r>
          </a:p>
          <a:p>
            <a:r>
              <a:t>      "source_id": "datalab:162285800b98:dbba3ac2e220",</a:t>
            </a:r>
          </a:p>
          <a:p>
            <a:r>
              <a:t>      "source_type": "nationwide_dataset",</a:t>
            </a:r>
          </a:p>
          <a:p>
            <a:r>
              <a:t>      "title": "한국관광 데이터랩 공식 다운로드 · 대전광역시_서구/관광소비/2025_01_12.zip",</a:t>
            </a:r>
          </a:p>
          <a:p>
            <a:r>
              <a:t>      "source_url": "https://datalab.visitkorea.or.kr/",</a:t>
            </a:r>
          </a:p>
          <a:p>
            <a:r>
              <a:t>      "summary": "전국 비교 기준 기간: 2025-07 ~ 2026-06",</a:t>
            </a:r>
          </a:p>
          <a:p>
            <a:r>
              <a:t>      "observation_period": "2025-07 ~ 2026-06",</a:t>
            </a:r>
          </a:p>
          <a:p>
            <a:r>
              <a:t>      "published_or_updated_at": "2024-07 ~ 2025-06",</a:t>
            </a:r>
          </a:p>
          <a:p>
            <a:r>
              <a:t>      "source_file_name": "대전광역시_서구/관광소비/2025_01_12.zip"</a:t>
            </a:r>
          </a:p>
          <a:p>
            <a:r>
              <a:t>    },</a:t>
            </a:r>
          </a:p>
          <a:p>
            <a:r>
              <a:t>    {</a:t>
            </a:r>
          </a:p>
          <a:p>
            <a:r>
              <a:t>      "source_id": "datalab:1bec5b4405e1:6c5494eef7c6",</a:t>
            </a:r>
          </a:p>
          <a:p>
            <a:r>
              <a:t>      "source_type": "nationwide_dataset",</a:t>
            </a:r>
          </a:p>
          <a:p>
            <a:r>
              <a:t>      "title": "한국관광 데이터랩 공식 다운로드 · 대전광역시_서구/숙박_체류시간/2025_01_12.zip",</a:t>
            </a:r>
          </a:p>
          <a:p>
            <a:r>
              <a:t>      "source_url": "https://datalab.visitkorea.or.kr/",</a:t>
            </a:r>
          </a:p>
          <a:p>
            <a:r>
              <a:t>      "summary": "전국 비교 기준 기간: 2025-07 ~ 2026-06",</a:t>
            </a:r>
          </a:p>
          <a:p>
            <a:r>
              <a:t>      "observation_period": "2025-07 ~ 2026-06",</a:t>
            </a:r>
          </a:p>
          <a:p>
            <a:r>
              <a:t>      "published_or_updated_at": "2024-07 ~ 2025-06",</a:t>
            </a:r>
          </a:p>
          <a:p>
            <a:r>
              <a:t>      "source_file_name": "대전광역시_서구/숙박_체류시간/2025_01_12.zip"</a:t>
            </a:r>
          </a:p>
          <a:p>
            <a:r>
              <a:t>    },</a:t>
            </a:r>
          </a:p>
          <a:p>
            <a:r>
              <a:t>    {</a:t>
            </a:r>
          </a:p>
          <a:p>
            <a:r>
              <a:t>      "source_id": "datalab:7a4db91d6ba9:d81294f3e5a0",</a:t>
            </a:r>
          </a:p>
          <a:p>
            <a:r>
              <a:t>      "source_type": "nationwide_dataset",</a:t>
            </a:r>
          </a:p>
          <a:p>
            <a:r>
              <a:t>      "title": "한국관광 데이터랩 공식 다운로드 · 대전광역시_서구/관광소비/2026_01_06.zip",</a:t>
            </a:r>
          </a:p>
          <a:p>
            <a:r>
              <a:t>      "source_url": "https://datalab.visitkorea.or.kr/",</a:t>
            </a:r>
          </a:p>
          <a:p>
            <a:r>
              <a:t>      "summary": "전국 비교 기준 기간: 2025-07 ~ 2026-06",</a:t>
            </a:r>
          </a:p>
          <a:p>
            <a:r>
              <a:t>      "observation_period": "2025-07 ~ 2026-06",</a:t>
            </a:r>
          </a:p>
          <a:p>
            <a:r>
              <a:t>      "published_or_updated_at": "2024-07 ~ 2025-06",</a:t>
            </a:r>
          </a:p>
          <a:p>
            <a:r>
              <a:t>      "source_file_name": "대전광역시_서구/관광소비/2026_01_06.zip"</a:t>
            </a:r>
          </a:p>
          <a:p>
            <a:r>
              <a:t>    },</a:t>
            </a:r>
          </a:p>
          <a:p>
            <a:r>
              <a:t>    {</a:t>
            </a:r>
          </a:p>
          <a:p>
            <a:r>
              <a:t>      "source_id": "datalab:cc1dc8fb5607:77f3b69cfb89",</a:t>
            </a:r>
          </a:p>
          <a:p>
            <a:r>
              <a:t>      "source_type": "nationwide_dataset",</a:t>
            </a:r>
          </a:p>
          <a:p>
            <a:r>
              <a:t>      "title": "한국관광 데이터랩 공식 다운로드 · 대전광역시_서구/방문자/2026_01_06.zip",</a:t>
            </a:r>
          </a:p>
          <a:p>
            <a:r>
              <a:t>      "source_url": "https://datalab.visitkorea.or.kr/",</a:t>
            </a:r>
          </a:p>
          <a:p>
            <a:r>
              <a:t>      "summary": "전국 비교 기준 기간: 2025-07 ~ 2026-06",</a:t>
            </a:r>
          </a:p>
          <a:p>
            <a:r>
              <a:t>      "observation_period": "2025-07 ~ 2026-06",</a:t>
            </a:r>
          </a:p>
          <a:p>
            <a:r>
              <a:t>      "published_or_updated_at": "2024-07 ~ 2025-06",</a:t>
            </a:r>
          </a:p>
          <a:p>
            <a:r>
              <a:t>      "source_file_name": "대전광역시_서구/방문자/2026_01_06.zip"</a:t>
            </a:r>
          </a:p>
          <a:p>
            <a:r>
              <a:t>    },</a:t>
            </a:r>
          </a:p>
          <a:p>
            <a:r>
              <a:t>    {</a:t>
            </a:r>
          </a:p>
          <a:p>
            <a:r>
              <a:t>      "source_id": "datalab:e53d144382ee:fc025995a6df",</a:t>
            </a:r>
          </a:p>
          <a:p>
            <a:r>
              <a:t>      "source_type": "nationwide_dataset",</a:t>
            </a:r>
          </a:p>
          <a:p>
            <a:r>
              <a:t>      "title": "한국관광 데이터랩 공식 다운로드 · 대전광역시_서구/숙박_체류시간/2026_01_06.zip",</a:t>
            </a:r>
          </a:p>
          <a:p>
            <a:r>
              <a:t>      "source_url": "https://datalab.visitkorea.or.kr/",</a:t>
            </a:r>
          </a:p>
          <a:p>
            <a:r>
              <a:t>      "summary": "전국 비교 기준 기간: 2025-07 ~ 2026-06",</a:t>
            </a:r>
          </a:p>
          <a:p>
            <a:r>
              <a:t>      "observation_period": "2025-07 ~ 2026-06",</a:t>
            </a:r>
          </a:p>
          <a:p>
            <a:r>
              <a:t>      "published_or_updated_at": "2024-07 ~ 2025-06",</a:t>
            </a:r>
          </a:p>
          <a:p>
            <a:r>
              <a:t>      "source_file_name": "대전광역시_서구/숙박_체류시간/2026_01_06.zip"</a:t>
            </a:r>
          </a:p>
          <a:p>
            <a:r>
              <a:t>    },</a:t>
            </a:r>
          </a:p>
          <a:p>
            <a:r>
              <a:t>    {</a:t>
            </a:r>
          </a:p>
          <a:p>
            <a:r>
              <a:t>      "source_id": "team-bigdata:23ea68053684:6bfbcf8aabf6",</a:t>
            </a:r>
          </a:p>
          <a:p>
            <a:r>
              <a:t>      "source_type": "nationwide_bigdata_dataset",</a:t>
            </a:r>
          </a:p>
          <a:p>
            <a:r>
              <a:t>      "title": "한국관광 데이터랩 전국 빅데이터 다운로드 · 이동통신/내국인/지역별 방문자수/20260820140607__202601-202606_데이터랩_다운로드.zip",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"이동통신/내국인/지역별 방문자수/20260820140607__202601-202606_데이터랩_다운로드.zip"</a:t>
            </a:r>
          </a:p>
          <a:p>
            <a:r>
              <a:t>    },</a:t>
            </a:r>
          </a:p>
          <a:p>
            <a:r>
              <a:t>    {</a:t>
            </a:r>
          </a:p>
          <a:p>
            <a:r>
              <a:t>      "source_id": "team-bigdata:98d4ae590d9a:3be52dd54323",</a:t>
            </a:r>
          </a:p>
          <a:p>
            <a:r>
              <a:t>      "source_type": "nationwide_bigdata_dataset",</a:t>
            </a:r>
          </a:p>
          <a:p>
            <a:r>
              <a:t>      "title": "한국관광 데이터랩 전국 빅데이터 다운로드 · 이동통신/외국인/20260820141710_전국_202601-202606_데이터랩_다운로드.zip",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"이동통신/외국인/20260820141710_전국_202601-202606_데이터랩_다운로드.zip"</a:t>
            </a:r>
          </a:p>
          <a:p>
            <a:r>
              <a:t>    },</a:t>
            </a:r>
          </a:p>
          <a:p>
            <a:r>
              <a:t>    {</a:t>
            </a:r>
          </a:p>
          <a:p>
            <a:r>
              <a:t>      "source_id": "team-bigdata:367cd0294ec4:873930d645e5",</a:t>
            </a:r>
          </a:p>
          <a:p>
            <a:r>
              <a:t>      "source_type": "nationwide_bigdata_dataset",</a:t>
            </a:r>
          </a:p>
          <a:p>
            <a:r>
              <a:t>      "title": "한국관광 데이터랩 전국 빅데이터 다운로드 · 신용카드/내국인/지역별 관광지출액/20260820140046__202601-202606_데이터랩_다운로드.zip",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"신용카드/내국인/지역별 관광지출액/20260820140046__202601-202606_데이터랩_다운로드.zip"</a:t>
            </a:r>
          </a:p>
          <a:p>
            <a:r>
              <a:t>    },</a:t>
            </a:r>
          </a:p>
          <a:p>
            <a:r>
              <a:t>    {</a:t>
            </a:r>
          </a:p>
          <a:p>
            <a:r>
              <a:t>      "source_id": "team-bigdata:553a0dad4bb4:5a31355dffe8",</a:t>
            </a:r>
          </a:p>
          <a:p>
            <a:r>
              <a:t>      "source_type": "nationwide_bigdata_dataset",</a:t>
            </a:r>
          </a:p>
          <a:p>
            <a:r>
              <a:t>      "title": "한국관광 데이터랩 전국 빅데이터 다운로드 · 신용카드/외국인/지역별 관광지출액/20260820140355__202601-202606_데이터랩_다운로드.zip",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"신용카드/외국인/지역별 관광지출액/20260820140355__202601-202606_데이터랩_다운로드.zip"</a:t>
            </a:r>
          </a:p>
          <a:p>
            <a:r>
              <a:t>    },</a:t>
            </a:r>
          </a:p>
          <a:p>
            <a:r>
              <a:t>    {</a:t>
            </a:r>
          </a:p>
          <a:p>
            <a:r>
              <a:t>      "source_id": "team-bigdata:a53dbe1c21df:77a052de41d5",</a:t>
            </a:r>
          </a:p>
          <a:p>
            <a:r>
              <a:t>      "source_type": "nationwide_bigdata_dataset",</a:t>
            </a:r>
          </a:p>
          <a:p>
            <a:r>
              <a:t>      "title": "한국관광 데이터랩 전국 빅데이터 다운로드 · 네비게이션/지역별 검색건수/20260820195507__202601-202606_데이터랩_다운로드.zip",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"네비게이션/지역별 검색건수/20260820195507__202601-202606_데이터랩_다운로드.zip"</a:t>
            </a:r>
          </a:p>
          <a:p>
            <a:r>
              <a:t>    },</a:t>
            </a:r>
          </a:p>
          <a:p>
            <a:r>
              <a:t>    {</a:t>
            </a:r>
          </a:p>
          <a:p>
            <a:r>
              <a:t>      "source_id": "team-bigdata:823a38d1d61c:5385261d02e5",</a:t>
            </a:r>
          </a:p>
          <a:p>
            <a:r>
              <a:t>      "source_type": "nationwide_bigdata_dataset",</a:t>
            </a:r>
          </a:p>
          <a:p>
            <a:r>
              <a:t>      "title": "한국관광 데이터랩 전국 빅데이터 다운로드 · 이동통신/내국인/지역별 방문자수/20260820140614__202501-202512_데이터랩_다운로드.zip",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"이동통신/내국인/지역별 방문자수/20260820140614__202501-202512_데이터랩_다운로드.zip"</a:t>
            </a:r>
          </a:p>
          <a:p>
            <a:r>
              <a:t>    },</a:t>
            </a:r>
          </a:p>
          <a:p>
            <a:r>
              <a:t>    {</a:t>
            </a:r>
          </a:p>
          <a:p>
            <a:r>
              <a:t>      "source_id": "team-bigdata:2723bdb0d589:1666a34058ed",</a:t>
            </a:r>
          </a:p>
          <a:p>
            <a:r>
              <a:t>      "source_type": "nationwide_bigdata_dataset",</a:t>
            </a:r>
          </a:p>
          <a:p>
            <a:r>
              <a:t>      "title": "한국관광 데이터랩 전국 빅데이터 다운로드 · 이동통신/외국인/20260820141649_전국_202501-202512_데이터랩_다운로드.zip",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"이동통신/외국인/20260820141649_전국_202501-202512_데이터랩_다운로드.zip"</a:t>
            </a:r>
          </a:p>
          <a:p>
            <a:r>
              <a:t>    },</a:t>
            </a:r>
          </a:p>
          <a:p>
            <a:r>
              <a:t>    {</a:t>
            </a:r>
          </a:p>
          <a:p>
            <a:r>
              <a:t>      "source_id": "team-bigdata:83177a234971:c02cb7972e0f",</a:t>
            </a:r>
          </a:p>
          <a:p>
            <a:r>
              <a:t>      "source_type": "nationwide_bigdata_dataset",</a:t>
            </a:r>
          </a:p>
          <a:p>
            <a:r>
              <a:t>      "title": "한국관광 데이터랩 전국 빅데이터 다운로드 · 신용카드/내국인/지역별 관광지출액/20260820135957__202501-202512_데이터랩_다운로드.zip",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"신용카드/내국인/지역별 관광지출액/20260820135957__202501-202512_데이터랩_다운로드.zip"</a:t>
            </a:r>
          </a:p>
          <a:p>
            <a:r>
              <a:t>    },</a:t>
            </a:r>
          </a:p>
          <a:p>
            <a:r>
              <a:t>    {</a:t>
            </a:r>
          </a:p>
          <a:p>
            <a:r>
              <a:t>      "source_id": "team-bigdata:58ded7732251:589c76395cbc",</a:t>
            </a:r>
          </a:p>
          <a:p>
            <a:r>
              <a:t>      "source_type": "nationwide_bigdata_dataset",</a:t>
            </a:r>
          </a:p>
          <a:p>
            <a:r>
              <a:t>      "title": "한국관광 데이터랩 전국 빅데이터 다운로드 · 신용카드/외국인/지역별 관광지출액/20260820140409__202501-202512_데이터랩_다운로드.zip",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"신용카드/외국인/지역별 관광지출액/20260820140409__202501-202512_데이터랩_다운로드.zip"</a:t>
            </a:r>
          </a:p>
          <a:p>
            <a:r>
              <a:t>    },</a:t>
            </a:r>
          </a:p>
          <a:p>
            <a:r>
              <a:t>    {</a:t>
            </a:r>
          </a:p>
          <a:p>
            <a:r>
              <a:t>      "source_id": "team-bigdata:e28c947cb52f:bb4cb344a6ba",</a:t>
            </a:r>
          </a:p>
          <a:p>
            <a:r>
              <a:t>      "source_type": "nationwide_bigdata_dataset",</a:t>
            </a:r>
          </a:p>
          <a:p>
            <a:r>
              <a:t>      "title": "한국관광 데이터랩 전국 빅데이터 다운로드 · 네비게이션/지역별 검색건수/20260820132007__202501-202512_데이터랩_다운로드.zip",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"네비게이션/지역별 검색건수/20260820132007__202501-202512_데이터랩_다운로드.zip"</a:t>
            </a:r>
          </a:p>
          <a:p>
            <a:r>
              <a:t>    },</a:t>
            </a:r>
          </a:p>
          <a:p>
            <a:r>
              <a:t>    {</a:t>
            </a:r>
          </a:p>
          <a:p>
            <a:r>
              <a:t>      "source_id": "team-bigdata:8815bbb11a39:1a5988f5f8ec",</a:t>
            </a:r>
          </a:p>
          <a:p>
            <a:r>
              <a:t>      "source_type": "nationwide_bigdata_dataset",</a:t>
            </a:r>
          </a:p>
          <a:p>
            <a:r>
              <a:t>      "title": "한국관광 데이터랩 전국 빅데이터 다운로드 · 이동통신/내국인/지역별 방문자수/20260820140624__202401-202412_데이터랩_다운로드.zip",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"이동통신/내국인/지역별 방문자수/20260820140624__202401-202412_데이터랩_다운로드.zip"</a:t>
            </a:r>
          </a:p>
          <a:p>
            <a:r>
              <a:t>    },</a:t>
            </a:r>
          </a:p>
          <a:p>
            <a:r>
              <a:t>    {</a:t>
            </a:r>
          </a:p>
          <a:p>
            <a:r>
              <a:t>      "source_id": "team-bigdata:19fd67fbb73d:afa4f0f54a2f",</a:t>
            </a:r>
          </a:p>
          <a:p>
            <a:r>
              <a:t>      "source_type": "nationwide_bigdata_dataset",</a:t>
            </a:r>
          </a:p>
          <a:p>
            <a:r>
              <a:t>      "title": "한국관광 데이터랩 전국 빅데이터 다운로드 · 이동통신/외국인/20260820141639_전국_202401-202412_데이터랩_다운로드.zip",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"이동통신/외국인/20260820141639_전국_202401-202412_데이터랩_다운로드.zip"</a:t>
            </a:r>
          </a:p>
          <a:p>
            <a:r>
              <a:t>    },</a:t>
            </a:r>
          </a:p>
          <a:p>
            <a:r>
              <a:t>    {</a:t>
            </a:r>
          </a:p>
          <a:p>
            <a:r>
              <a:t>      "source_id": "regional-status:0c68fedc2071:0ad82310f803",</a:t>
            </a:r>
          </a:p>
          <a:p>
            <a:r>
              <a:t>      "source_type": "regional_tourism_status",</a:t>
            </a:r>
          </a:p>
          <a:p>
            <a:r>
              <a:t>      "title": "한국관광 데이터랩 지역별 관광 현황 · 대전광역시 서구 · 지역집중률",</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"regional-status:4cddd6aa75d4:be8b01ec64e2",</a:t>
            </a:r>
          </a:p>
          <a:p>
            <a:r>
              <a:t>      "source_type": "regional_tourism_status",</a:t>
            </a:r>
          </a:p>
          <a:p>
            <a:r>
              <a:t>      "title": "한국관광 데이터랩 지역별 관광 현황 · 대전광역시 서구 · 유입유출",</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"regional-status:8c9a813e95eb:5e0cc3f56b73",</a:t>
            </a:r>
          </a:p>
          <a:p>
            <a:r>
              <a:t>      "source_type": "regional_tourism_status",</a:t>
            </a:r>
          </a:p>
          <a:p>
            <a:r>
              <a:t>      "title": "한국관광 데이터랩 지역별 관광 현황 · 대전광역시 서구 · 인기관광지",</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"ml:30170:regional-demand-v3.1:202606",</a:t>
            </a:r>
          </a:p>
          <a:p>
            <a:r>
              <a:t>      "source_type": "model_forecast",</a:t>
            </a:r>
          </a:p>
          <a:p>
            <a:r>
              <a:t>      "title": "지역 관광수요 ML 전망 · 공식 관측값 아님",</a:t>
            </a:r>
          </a:p>
          <a:p>
            <a:r>
              <a:t>      "source_url": "",</a:t>
            </a:r>
          </a:p>
          <a:p>
            <a:r>
              <a:t>      "summary": "학습 202401~202606 · 모델 regional-demand-v3.1 · 자연 추세 예측",</a:t>
            </a:r>
          </a:p>
          <a:p>
            <a:r>
              <a:t>      "model_version": "regional-demand-v3.1",</a:t>
            </a:r>
          </a:p>
          <a:p>
            <a:r>
              <a:t>      "data_fingerprint": "edea7fa8270d3b72aee15e6816efec3fce699e1bab55ebd844a10870c2f0e0a0"</a:t>
            </a:r>
          </a:p>
          <a:p>
            <a:r>
              <a:t>    },</a:t>
            </a:r>
          </a:p>
          <a:p>
            <a:r>
              <a:t>    {</a:t>
            </a:r>
          </a:p>
          <a:p>
            <a:r>
              <a:t>      "source_id": "tour-api:2899643",</a:t>
            </a:r>
          </a:p>
          <a:p>
            <a:r>
              <a:t>      "source_type": "open_api",</a:t>
            </a:r>
          </a:p>
          <a:p>
            <a:r>
              <a:t>      "title": "갈마짬뽕",</a:t>
            </a:r>
          </a:p>
          <a:p>
            <a:r>
              <a:t>      "source_url": "https://apis.data.go.kr/B551011/KorService2",</a:t>
            </a:r>
          </a:p>
          <a:p>
            <a:r>
              <a:t>      "content_id": "2899643",</a:t>
            </a:r>
          </a:p>
          <a:p>
            <a:r>
              <a:t>      "content_type_id": "39",</a:t>
            </a:r>
          </a:p>
          <a:p>
            <a:r>
              <a:t>      "address": "대전광역시 서구 월평동로 5-11 (갈마동)",</a:t>
            </a:r>
          </a:p>
          <a:p>
            <a:r>
              <a:t>      "image_url": "http://tong.visitkorea.or.kr/cms/resource/38/2899638_image2_1.jpg",</a:t>
            </a:r>
          </a:p>
          <a:p>
            <a:r>
              <a:t>      "summary": "한국관광공사 국문관광정보 API가 반환한 선택 지역 관광자원"</a:t>
            </a:r>
          </a:p>
          <a:p>
            <a:r>
              <a:t>    },</a:t>
            </a:r>
          </a:p>
          <a:p>
            <a:r>
              <a:t>    {</a:t>
            </a:r>
          </a:p>
          <a:p>
            <a:r>
              <a:t>      "source_id": "tour-api:2899637",</a:t>
            </a:r>
          </a:p>
          <a:p>
            <a:r>
              <a:t>      "source_type": "open_api",</a:t>
            </a:r>
          </a:p>
          <a:p>
            <a:r>
              <a:t>      "title": "관저당",</a:t>
            </a:r>
          </a:p>
          <a:p>
            <a:r>
              <a:t>      "source_url": "https://apis.data.go.kr/B551011/KorService2",</a:t>
            </a:r>
          </a:p>
          <a:p>
            <a:r>
              <a:t>      "content_id": "2899637",</a:t>
            </a:r>
          </a:p>
          <a:p>
            <a:r>
              <a:t>      "content_type_id": "39",</a:t>
            </a:r>
          </a:p>
          <a:p>
            <a:r>
              <a:t>      "address": "대전광역시 서구 구봉산북로21번길 11 (관저동)",</a:t>
            </a:r>
          </a:p>
          <a:p>
            <a:r>
              <a:t>      "image_url": "http://tong.visitkorea.or.kr/cms/resource/36/2899636_image2_1.jpg",</a:t>
            </a:r>
          </a:p>
          <a:p>
            <a:r>
              <a:t>      "summary": "한국관광공사 국문관광정보 API가 반환한 선택 지역 관광자원"</a:t>
            </a:r>
          </a:p>
          <a:p>
            <a:r>
              <a:t>    },</a:t>
            </a:r>
          </a:p>
          <a:p>
            <a:r>
              <a:t>    {</a:t>
            </a:r>
          </a:p>
          <a:p>
            <a:r>
              <a:t>      "source_id": "tour-api:1932079",</a:t>
            </a:r>
          </a:p>
          <a:p>
            <a:r>
              <a:t>      "source_type": "open_api",</a:t>
            </a:r>
          </a:p>
          <a:p>
            <a:r>
              <a:t>      "title": "굿모닝레지던스호텔휴",</a:t>
            </a:r>
          </a:p>
          <a:p>
            <a:r>
              <a:t>      "source_url": "https://apis.data.go.kr/B551011/KorService2",</a:t>
            </a:r>
          </a:p>
          <a:p>
            <a:r>
              <a:t>      "content_id": "1932079",</a:t>
            </a:r>
          </a:p>
          <a:p>
            <a:r>
              <a:t>      "content_type_id": "32",</a:t>
            </a:r>
          </a:p>
          <a:p>
            <a:r>
              <a:t>      "address": "대전광역시 서구 둔산로73번길 21 (둔산동)",</a:t>
            </a:r>
          </a:p>
          <a:p>
            <a:r>
              <a:t>      "image_url": "http://tong.visitkorea.or.kr/cms/resource/87/2584687_image2_1.jpg",</a:t>
            </a:r>
          </a:p>
          <a:p>
            <a:r>
              <a:t>      "summary": "한국관광공사 국문관광정보 API가 반환한 선택 지역 관광자원"</a:t>
            </a:r>
          </a:p>
          <a:p>
            <a:r>
              <a:t>    },</a:t>
            </a:r>
          </a:p>
          <a:p>
            <a:r>
              <a:t>    {</a:t>
            </a:r>
          </a:p>
          <a:p>
            <a:r>
              <a:t>      "source_id": "tour-api:133881",</a:t>
            </a:r>
          </a:p>
          <a:p>
            <a:r>
              <a:t>      "source_type": "open_api",</a:t>
            </a:r>
          </a:p>
          <a:p>
            <a:r>
              <a:t>      "title": "귀빈돌솥밥",</a:t>
            </a:r>
          </a:p>
          <a:p>
            <a:r>
              <a:t>      "source_url": "https://apis.data.go.kr/B551011/KorService2",</a:t>
            </a:r>
          </a:p>
          <a:p>
            <a:r>
              <a:t>      "content_id": "133881",</a:t>
            </a:r>
          </a:p>
          <a:p>
            <a:r>
              <a:t>      "content_type_id": "39",</a:t>
            </a:r>
          </a:p>
          <a:p>
            <a:r>
              <a:t>      "address": "대전광역시 서구 만년로68번길 21",</a:t>
            </a:r>
          </a:p>
          <a:p>
            <a:r>
              <a:t>      "image_url": "http://tong.visitkorea.or.kr/cms/resource/72/3060272_image2_1.JPG",</a:t>
            </a:r>
          </a:p>
          <a:p>
            <a:r>
              <a:t>      "summary": "한국관광공사 국문관광정보 API가 반환한 선택 지역 관광자원"</a:t>
            </a:r>
          </a:p>
          <a:p>
            <a:r>
              <a:t>    },</a:t>
            </a:r>
          </a:p>
          <a:p>
            <a:r>
              <a:t>    {</a:t>
            </a:r>
          </a:p>
          <a:p>
            <a:r>
              <a:t>      "source_id": "tour-api:2758252",</a:t>
            </a:r>
          </a:p>
          <a:p>
            <a:r>
              <a:t>      "source_type": "open_api",</a:t>
            </a:r>
          </a:p>
          <a:p>
            <a:r>
              <a:t>      "title": "남선공원",</a:t>
            </a:r>
          </a:p>
          <a:p>
            <a:r>
              <a:t>      "source_url": "https://apis.data.go.kr/B551011/KorService2",</a:t>
            </a:r>
          </a:p>
          <a:p>
            <a:r>
              <a:t>      "content_id": "2758252",</a:t>
            </a:r>
          </a:p>
          <a:p>
            <a:r>
              <a:t>      "content_type_id": "12",</a:t>
            </a:r>
          </a:p>
          <a:p>
            <a:r>
              <a:t>      "address": "대전광역시 서구 남선로 66",</a:t>
            </a:r>
          </a:p>
          <a:p>
            <a:r>
              <a:t>      "image_url": "http://tong.visitkorea.or.kr/cms/resource/24/3565624_image2_1.jpg",</a:t>
            </a:r>
          </a:p>
          <a:p>
            <a:r>
              <a:t>      "summary": "한국관광공사 국문관광정보 API가 반환한 선택 지역 관광자원"</a:t>
            </a:r>
          </a:p>
          <a:p>
            <a:r>
              <a:t>    },</a:t>
            </a:r>
          </a:p>
          <a:p>
            <a:r>
              <a:t>    {</a:t>
            </a:r>
          </a:p>
          <a:p>
            <a:r>
              <a:t>      "source_id": "tour-api:298208",</a:t>
            </a:r>
          </a:p>
          <a:p>
            <a:r>
              <a:t>      "source_type": "open_api",</a:t>
            </a:r>
          </a:p>
          <a:p>
            <a:r>
              <a:t>      "title": "내원사(대전)",</a:t>
            </a:r>
          </a:p>
          <a:p>
            <a:r>
              <a:t>      "source_url": "https://apis.data.go.kr/B551011/KorService2",</a:t>
            </a:r>
          </a:p>
          <a:p>
            <a:r>
              <a:t>      "content_id": "298208",</a:t>
            </a:r>
          </a:p>
          <a:p>
            <a:r>
              <a:t>      "content_type_id": "12",</a:t>
            </a:r>
          </a:p>
          <a:p>
            <a:r>
              <a:t>      "address": "대전광역시 서구 배재로197번길 200",</a:t>
            </a:r>
          </a:p>
          <a:p>
            <a:r>
              <a:t>      "image_url": "http://tong.visitkorea.or.kr/cms/resource/79/3034979_image2_1.JPG",</a:t>
            </a:r>
          </a:p>
          <a:p>
            <a:r>
              <a:t>      "summary": "한국관광공사 국문관광정보 API가 반환한 선택 지역 관광자원"</a:t>
            </a:r>
          </a:p>
          <a:p>
            <a:r>
              <a:t>    },</a:t>
            </a:r>
          </a:p>
          <a:p>
            <a:r>
              <a:t>    {</a:t>
            </a:r>
          </a:p>
          <a:p>
            <a:r>
              <a:t>      "source_id": "tour-api:3452550",</a:t>
            </a:r>
          </a:p>
          <a:p>
            <a:r>
              <a:t>      "source_type": "open_api",</a:t>
            </a:r>
          </a:p>
          <a:p>
            <a:r>
              <a:t>      "title": "노크노크",</a:t>
            </a:r>
          </a:p>
          <a:p>
            <a:r>
              <a:t>      "source_url": "https://apis.data.go.kr/B551011/KorService2",</a:t>
            </a:r>
          </a:p>
          <a:p>
            <a:r>
              <a:t>      "content_id": "3452550",</a:t>
            </a:r>
          </a:p>
          <a:p>
            <a:r>
              <a:t>      "content_type_id": "39",</a:t>
            </a:r>
          </a:p>
          <a:p>
            <a:r>
              <a:t>      "address": "대전광역시 서구 둔산로 68 (둔산동)",</a:t>
            </a:r>
          </a:p>
          <a:p>
            <a:r>
              <a:t>      "image_url": "http://tong.visitkorea.or.kr/cms/resource/59/3453059_image2_1.jpg",</a:t>
            </a:r>
          </a:p>
          <a:p>
            <a:r>
              <a:t>      "summary": "한국관광공사 국문관광정보 API가 반환한 선택 지역 관광자원"</a:t>
            </a:r>
          </a:p>
          <a:p>
            <a:r>
              <a:t>    },</a:t>
            </a:r>
          </a:p>
          <a:p>
            <a:r>
              <a:t>    {</a:t>
            </a:r>
          </a:p>
          <a:p>
            <a:r>
              <a:t>      "source_id": "tour-api:2899585",</a:t>
            </a:r>
          </a:p>
          <a:p>
            <a:r>
              <a:t>      "source_type": "open_api",</a:t>
            </a:r>
          </a:p>
          <a:p>
            <a:r>
              <a:t>      "title": "대성콩국수",</a:t>
            </a:r>
          </a:p>
          <a:p>
            <a:r>
              <a:t>      "source_url": "https://apis.data.go.kr/B551011/KorService2",</a:t>
            </a:r>
          </a:p>
          <a:p>
            <a:r>
              <a:t>      "content_id": "2899585",</a:t>
            </a:r>
          </a:p>
          <a:p>
            <a:r>
              <a:t>      "content_type_id": "39",</a:t>
            </a:r>
          </a:p>
          <a:p>
            <a:r>
              <a:t>      "address": "대전광역시 서구 도산로 141",</a:t>
            </a:r>
          </a:p>
          <a:p>
            <a:r>
              <a:t>      "image_url": "http://tong.visitkorea.or.kr/cms/resource/69/2899569_image2_1.jpg",</a:t>
            </a:r>
          </a:p>
          <a:p>
            <a:r>
              <a:t>      "summary": "한국관광공사 국문관광정보 API가 반환한 선택 지역 관광자원"</a:t>
            </a:r>
          </a:p>
          <a:p>
            <a:r>
              <a:t>    },</a:t>
            </a:r>
          </a:p>
          <a:p>
            <a:r>
              <a:t>    {</a:t>
            </a:r>
          </a:p>
          <a:p>
            <a:r>
              <a:t>      "source_id": "tour-api:130802",</a:t>
            </a:r>
          </a:p>
          <a:p>
            <a:r>
              <a:t>      "source_type": "open_api",</a:t>
            </a:r>
          </a:p>
          <a:p>
            <a:r>
              <a:t>      "title": "대전 가수원도서관",</a:t>
            </a:r>
          </a:p>
          <a:p>
            <a:r>
              <a:t>      "source_url": "https://apis.data.go.kr/B551011/KorService2",</a:t>
            </a:r>
          </a:p>
          <a:p>
            <a:r>
              <a:t>      "content_id": "130802",</a:t>
            </a:r>
          </a:p>
          <a:p>
            <a:r>
              <a:t>      "content_type_id": "14",</a:t>
            </a:r>
          </a:p>
          <a:p>
            <a:r>
              <a:t>      "address": "대전광역시 서구 가수원로 91-11 (가수원동)",</a:t>
            </a:r>
          </a:p>
          <a:p>
            <a:r>
              <a:t>      "image_url": "http://tong.visitkorea.or.kr/cms/resource/58/3033558_image2_1.JPG",</a:t>
            </a:r>
          </a:p>
          <a:p>
            <a:r>
              <a:t>      "summary": "한국관광공사 국문관광정보 API가 반환한 선택 지역 관광자원"</a:t>
            </a:r>
          </a:p>
          <a:p>
            <a:r>
              <a:t>    },</a:t>
            </a:r>
          </a:p>
          <a:p>
            <a:r>
              <a:t>    {</a:t>
            </a:r>
          </a:p>
          <a:p>
            <a:r>
              <a:t>      "source_id": "tour-api:2743325",</a:t>
            </a:r>
          </a:p>
          <a:p>
            <a:r>
              <a:t>      "source_type": "open_api",</a:t>
            </a:r>
          </a:p>
          <a:p>
            <a:r>
              <a:t>      "title": "대전광역시청 시민잔디광장",</a:t>
            </a:r>
          </a:p>
          <a:p>
            <a:r>
              <a:t>      "source_url": "https://apis.data.go.kr/B551011/KorService2",</a:t>
            </a:r>
          </a:p>
          <a:p>
            <a:r>
              <a:t>      "content_id": "2743325",</a:t>
            </a:r>
          </a:p>
          <a:p>
            <a:r>
              <a:t>      "content_type_id": "12",</a:t>
            </a:r>
          </a:p>
          <a:p>
            <a:r>
              <a:t>      "address": "대전광역시 서구 둔산로 100",</a:t>
            </a:r>
          </a:p>
          <a:p>
            <a:r>
              <a:t>      "image_url": "http://tong.visitkorea.or.kr/cms/resource/86/3565586_image2_1.jpg",</a:t>
            </a:r>
          </a:p>
          <a:p>
            <a:r>
              <a:t>      "summary": "한국관광공사 국문관광정보 API가 반환한 선택 지역 관광자원"</a:t>
            </a:r>
          </a:p>
          <a:p>
            <a:r>
              <a:t>    },</a:t>
            </a:r>
          </a:p>
          <a:p>
            <a:r>
              <a:t>    {</a:t>
            </a:r>
          </a:p>
          <a:p>
            <a:r>
              <a:t>      "source_id": "tour-api:130197",</a:t>
            </a:r>
          </a:p>
          <a:p>
            <a:r>
              <a:t>      "source_type": "open_api",</a:t>
            </a:r>
          </a:p>
          <a:p>
            <a:r>
              <a:t>      "title": "대전서구문화원",</a:t>
            </a:r>
          </a:p>
          <a:p>
            <a:r>
              <a:t>      "source_url": "https://apis.data.go.kr/B551011/KorService2",</a:t>
            </a:r>
          </a:p>
          <a:p>
            <a:r>
              <a:t>      "content_id": "130197",</a:t>
            </a:r>
          </a:p>
          <a:p>
            <a:r>
              <a:t>      "content_type_id": "14",</a:t>
            </a:r>
          </a:p>
          <a:p>
            <a:r>
              <a:t>      "address": "대전광역시 서구 계룡로553번길 38",</a:t>
            </a:r>
          </a:p>
          <a:p>
            <a:r>
              <a:t>      "image_url": "http://tong.visitkorea.or.kr/cms/resource/43/3585043_image2_1.jpg",</a:t>
            </a:r>
          </a:p>
          <a:p>
            <a:r>
              <a:t>      "summary": "한국관광공사 국문관광정보 API가 반환한 선택 지역 관광자원"</a:t>
            </a:r>
          </a:p>
          <a:p>
            <a:r>
              <a:t>    },</a:t>
            </a:r>
          </a:p>
          <a:p>
            <a:r>
              <a:t>    {</a:t>
            </a:r>
          </a:p>
          <a:p>
            <a:r>
              <a:t>      "source_id": "tour-api:2865847",</a:t>
            </a:r>
          </a:p>
          <a:p>
            <a:r>
              <a:t>      "source_type": "open_api",</a:t>
            </a:r>
          </a:p>
          <a:p>
            <a:r>
              <a:t>      "title": "델빠네",</a:t>
            </a:r>
          </a:p>
          <a:p>
            <a:r>
              <a:t>      "source_url": "https://apis.data.go.kr/B551011/KorService2",</a:t>
            </a:r>
          </a:p>
          <a:p>
            <a:r>
              <a:t>      "content_id": "2865847",</a:t>
            </a:r>
          </a:p>
          <a:p>
            <a:r>
              <a:t>      "content_type_id": "39",</a:t>
            </a:r>
          </a:p>
          <a:p>
            <a:r>
              <a:t>      "address": "대전광역시 서구 원도안로207번길 16-61 (도안동)",</a:t>
            </a:r>
          </a:p>
          <a:p>
            <a:r>
              <a:t>      "image_url": "http://tong.visitkorea.or.kr/cms/resource/36/2865836_image2_1.jpg",</a:t>
            </a:r>
          </a:p>
          <a:p>
            <a:r>
              <a:t>      "summary": "한국관광공사 국문관광정보 API가 반환한 선택 지역 관광자원"</a:t>
            </a:r>
          </a:p>
          <a:p>
            <a:r>
              <a:t>    },</a:t>
            </a:r>
          </a:p>
          <a:p>
            <a:r>
              <a:t>    {</a:t>
            </a:r>
          </a:p>
          <a:p>
            <a:r>
              <a:t>      "source_id": "tour-api:2758334",</a:t>
            </a:r>
          </a:p>
          <a:p>
            <a:r>
              <a:t>      "source_type": "open_api",</a:t>
            </a:r>
          </a:p>
          <a:p>
            <a:r>
              <a:t>      "title": "도마큰시장",</a:t>
            </a:r>
          </a:p>
          <a:p>
            <a:r>
              <a:t>      "source_url": "https://apis.data.go.kr/B551011/KorService2",</a:t>
            </a:r>
          </a:p>
          <a:p>
            <a:r>
              <a:t>      "content_id": "2758334",</a:t>
            </a:r>
          </a:p>
          <a:p>
            <a:r>
              <a:t>      "content_type_id": "38",</a:t>
            </a:r>
          </a:p>
          <a:p>
            <a:r>
              <a:t>      "address": "대전광역시 서구 도마4길 69 (도마동)",</a:t>
            </a:r>
          </a:p>
          <a:p>
            <a:r>
              <a:t>      "image_url": "http://tong.visitkorea.or.kr/cms/resource/34/3565534_image2_1.jpg",</a:t>
            </a:r>
          </a:p>
          <a:p>
            <a:r>
              <a:t>      "summary": "한국관광공사 국문관광정보 API가 반환한 선택 지역 관광자원"</a:t>
            </a:r>
          </a:p>
          <a:p>
            <a:r>
              <a:t>    },</a:t>
            </a:r>
          </a:p>
          <a:p>
            <a:r>
              <a:t>    {</a:t>
            </a:r>
          </a:p>
          <a:p>
            <a:r>
              <a:t>      "source_id": "tour-api:1955818",</a:t>
            </a:r>
          </a:p>
          <a:p>
            <a:r>
              <a:t>      "source_type": "open_api",</a:t>
            </a:r>
          </a:p>
          <a:p>
            <a:r>
              <a:t>      "title": "도산서원(대전)",</a:t>
            </a:r>
          </a:p>
          <a:p>
            <a:r>
              <a:t>      "source_url": "https://apis.data.go.kr/B551011/KorService2",</a:t>
            </a:r>
          </a:p>
          <a:p>
            <a:r>
              <a:t>      "content_id": "1955818",</a:t>
            </a:r>
          </a:p>
          <a:p>
            <a:r>
              <a:t>      "content_type_id": "12",</a:t>
            </a:r>
          </a:p>
          <a:p>
            <a:r>
              <a:t>      "address": "대전광역시 서구 남선로 8",</a:t>
            </a:r>
          </a:p>
          <a:p>
            <a:r>
              <a:t>      "image_url": "http://tong.visitkorea.or.kr/cms/resource/24/3035024_image2_1.JPG",</a:t>
            </a:r>
          </a:p>
          <a:p>
            <a:r>
              <a:t>      "summary": "한국관광공사 국문관광정보 API가 반환한 선택 지역 관광자원"</a:t>
            </a:r>
          </a:p>
          <a:p>
            <a:r>
              <a:t>    },</a:t>
            </a:r>
          </a:p>
          <a:p>
            <a:r>
              <a:t>    {</a:t>
            </a:r>
          </a:p>
          <a:p>
            <a:r>
              <a:t>      "source_id": "tour-api:2758341",</a:t>
            </a:r>
          </a:p>
          <a:p>
            <a:r>
              <a:t>      "source_type": "open_api",</a:t>
            </a:r>
          </a:p>
          <a:p>
            <a:r>
              <a:t>      "title": "둔산꽃시장",</a:t>
            </a:r>
          </a:p>
          <a:p>
            <a:r>
              <a:t>      "source_url": "https://apis.data.go.kr/B551011/KorService2",</a:t>
            </a:r>
          </a:p>
          <a:p>
            <a:r>
              <a:t>      "content_id": "2758341",</a:t>
            </a:r>
          </a:p>
          <a:p>
            <a:r>
              <a:t>      "content_type_id": "38",</a:t>
            </a:r>
          </a:p>
          <a:p>
            <a:r>
              <a:t>      "address": "대전광역시 서구 둔산북로 22 (둔산동)",</a:t>
            </a:r>
          </a:p>
          <a:p>
            <a:r>
              <a:t>      "image_url": "http://tong.visitkorea.or.kr/cms/resource/31/2758631_image2_1.jpg",</a:t>
            </a:r>
          </a:p>
          <a:p>
            <a:r>
              <a:t>      "summary": "한국관광공사 국문관광정보 API가 반환한 선택 지역 관광자원"</a:t>
            </a:r>
          </a:p>
          <a:p>
            <a:r>
              <a:t>    },</a:t>
            </a:r>
          </a:p>
          <a:p>
            <a:r>
              <a:t>    {</a:t>
            </a:r>
          </a:p>
          <a:p>
            <a:r>
              <a:t>      "source_id": "tour-api:1623725",</a:t>
            </a:r>
          </a:p>
          <a:p>
            <a:r>
              <a:t>      "source_type": "open_api",</a:t>
            </a:r>
          </a:p>
          <a:p>
            <a:r>
              <a:t>      "title": "둔산전자타운",</a:t>
            </a:r>
          </a:p>
          <a:p>
            <a:r>
              <a:t>      "source_url": "https://apis.data.go.kr/B551011/KorService2",</a:t>
            </a:r>
          </a:p>
          <a:p>
            <a:r>
              <a:t>      "content_id": "1623725",</a:t>
            </a:r>
          </a:p>
          <a:p>
            <a:r>
              <a:t>      "content_type_id": "38",</a:t>
            </a:r>
          </a:p>
          <a:p>
            <a:r>
              <a:t>      "address": "대전광역시 서구 도산로403번길 21",</a:t>
            </a:r>
          </a:p>
          <a:p>
            <a:r>
              <a:t>      "image_url": "http://tong.visitkorea.or.kr/cms/resource/60/3565560_image2_1.jpg",</a:t>
            </a:r>
          </a:p>
          <a:p>
            <a:r>
              <a:t>      "summary": "한국관광공사 국문관광정보 API가 반환한 선택 지역 관광자원"</a:t>
            </a:r>
          </a:p>
          <a:p>
            <a:r>
              <a:t>    },</a:t>
            </a:r>
          </a:p>
          <a:p>
            <a:r>
              <a:t>    {</a:t>
            </a:r>
          </a:p>
          <a:p>
            <a:r>
              <a:t>      "source_id": "tour-api:132661",</a:t>
            </a:r>
          </a:p>
          <a:p>
            <a:r>
              <a:t>      "source_type": "open_api",</a:t>
            </a:r>
          </a:p>
          <a:p>
            <a:r>
              <a:t>      "title": "롯데백화점 (대전점)",</a:t>
            </a:r>
          </a:p>
          <a:p>
            <a:r>
              <a:t>      "source_url": "https://apis.data.go.kr/B551011/KorService2",</a:t>
            </a:r>
          </a:p>
          <a:p>
            <a:r>
              <a:t>      "content_id": "132661",</a:t>
            </a:r>
          </a:p>
          <a:p>
            <a:r>
              <a:t>      "content_type_id": "38",</a:t>
            </a:r>
          </a:p>
          <a:p>
            <a:r>
              <a:t>      "address": "대전광역시 서구 계룡로 598 (괴정동)",</a:t>
            </a:r>
          </a:p>
          <a:p>
            <a:r>
              <a:t>      "image_url": "http://tong.visitkorea.or.kr/cms/resource/21/3443221_image2_1.jpg",</a:t>
            </a:r>
          </a:p>
          <a:p>
            <a:r>
              <a:t>      "summary": "한국관광공사 국문관광정보 API가 반환한 선택 지역 관광자원"</a:t>
            </a:r>
          </a:p>
          <a:p>
            <a:r>
              <a:t>    },</a:t>
            </a:r>
          </a:p>
          <a:p>
            <a:r>
              <a:t>    {</a:t>
            </a:r>
          </a:p>
          <a:p>
            <a:r>
              <a:t>      "source_id": "tour-api:2758646",</a:t>
            </a:r>
          </a:p>
          <a:p>
            <a:r>
              <a:t>      "source_type": "open_api",</a:t>
            </a:r>
          </a:p>
          <a:p>
            <a:r>
              <a:t>      "title": "마치광장",</a:t>
            </a:r>
          </a:p>
          <a:p>
            <a:r>
              <a:t>      "source_url": "https://apis.data.go.kr/B551011/KorService2",</a:t>
            </a:r>
          </a:p>
          <a:p>
            <a:r>
              <a:t>      "content_id": "2758646",</a:t>
            </a:r>
          </a:p>
          <a:p>
            <a:r>
              <a:t>      "content_type_id": "12",</a:t>
            </a:r>
          </a:p>
          <a:p>
            <a:r>
              <a:t>      "address": "대전광역시 서구 구봉로131번길 27",</a:t>
            </a:r>
          </a:p>
          <a:p>
            <a:r>
              <a:t>      "image_url": "http://tong.visitkorea.or.kr/cms/resource/16/3542516_image2_1.jpg",</a:t>
            </a:r>
          </a:p>
          <a:p>
            <a:r>
              <a:t>      "summary": "한국관광공사 국문관광정보 API가 반환한 선택 지역 관광자원"</a:t>
            </a:r>
          </a:p>
          <a:p>
            <a:r>
              <a:t>    },</a:t>
            </a:r>
          </a:p>
          <a:p>
            <a:r>
              <a:t>    {</a:t>
            </a:r>
          </a:p>
          <a:p>
            <a:r>
              <a:t>      "source_id": "tour-api:2899544",</a:t>
            </a:r>
          </a:p>
          <a:p>
            <a:r>
              <a:t>      "source_type": "open_api",</a:t>
            </a:r>
          </a:p>
          <a:p>
            <a:r>
              <a:t>      "title": "몽뜨",</a:t>
            </a:r>
          </a:p>
          <a:p>
            <a:r>
              <a:t>      "source_url": "https://apis.data.go.kr/B551011/KorService2",</a:t>
            </a:r>
          </a:p>
          <a:p>
            <a:r>
              <a:t>      "content_id": "2899544",</a:t>
            </a:r>
          </a:p>
          <a:p>
            <a:r>
              <a:t>      "content_type_id": "39",</a:t>
            </a:r>
          </a:p>
          <a:p>
            <a:r>
              <a:t>      "address": "대전광역시 서구 원도안로257번길 48 (도안동)",</a:t>
            </a:r>
          </a:p>
          <a:p>
            <a:r>
              <a:t>      "image_url": "http://tong.visitkorea.or.kr/cms/resource/35/2899535_image2_1.jpg",</a:t>
            </a:r>
          </a:p>
          <a:p>
            <a:r>
              <a:t>      "summary": "한국관광공사 국문관광정보 API가 반환한 선택 지역 관광자원"</a:t>
            </a:r>
          </a:p>
          <a:p>
            <a:r>
              <a:t>    },</a:t>
            </a:r>
          </a:p>
          <a:p>
            <a:r>
              <a:t>    {</a:t>
            </a:r>
          </a:p>
          <a:p>
            <a:r>
              <a:t>      "source_id": "tour-api:2865914",</a:t>
            </a:r>
          </a:p>
          <a:p>
            <a:r>
              <a:t>      "source_type": "open_api",</a:t>
            </a:r>
          </a:p>
          <a:p>
            <a:r>
              <a:t>      "title": "미세노센세",</a:t>
            </a:r>
          </a:p>
          <a:p>
            <a:r>
              <a:t>      "source_url": "https://apis.data.go.kr/B551011/KorService2",</a:t>
            </a:r>
          </a:p>
          <a:p>
            <a:r>
              <a:t>      "content_id": "2865914",</a:t>
            </a:r>
          </a:p>
          <a:p>
            <a:r>
              <a:t>      "content_type_id": "39",</a:t>
            </a:r>
          </a:p>
          <a:p>
            <a:r>
              <a:t>      "address": "대전광역시 서구 계룡로553번안길 65 (탄방동)",</a:t>
            </a:r>
          </a:p>
          <a:p>
            <a:r>
              <a:t>      "image_url": "http://tong.visitkorea.or.kr/cms/resource/05/2865905_image2_1.jpg",</a:t>
            </a:r>
          </a:p>
          <a:p>
            <a:r>
              <a:t>      "summary": "한국관광공사 국문관광정보 API가 반환한 선택 지역 관광자원"</a:t>
            </a:r>
          </a:p>
          <a:p>
            <a:r>
              <a:t>    },</a:t>
            </a:r>
          </a:p>
          <a:p>
            <a:r>
              <a:t>    {</a:t>
            </a:r>
          </a:p>
          <a:p>
            <a:r>
              <a:t>      "source_id": "reference:kto:2026:local-airport",</a:t>
            </a:r>
          </a:p>
          <a:p>
            <a:r>
              <a:t>      "source_type": "rag",</a:t>
            </a:r>
          </a:p>
          <a:p>
            <a:r>
              <a:t>      "title": "요즘, 한국관광 2호 - 지방공항 연계 지역관광 활성화 방안",</a:t>
            </a:r>
          </a:p>
          <a:p>
            <a:r>
              <a:t>      "source_url": "https://datalab.visitkorea.or.kr/site/portal/ex/bbs/View.do?bcIdx=311068&amp;cbIdx=1135&amp;pageIndex=1",</a:t>
            </a:r>
          </a:p>
          <a:p>
            <a:r>
              <a:t>      "published_or_updated_at": "2026-08",</a:t>
            </a:r>
          </a:p>
          <a:p>
            <a:r>
              <a:t>      "document_type": "policy",</a:t>
            </a:r>
          </a:p>
          <a:p>
            <a:r>
              <a:t>      "region_code": "ALL",</a:t>
            </a:r>
          </a:p>
          <a:p>
            <a:r>
              <a:t>      "region_name": "전국 공통",</a:t>
            </a:r>
          </a:p>
          <a:p>
            <a:r>
              <a:t>      "case_region": "",</a:t>
            </a:r>
          </a:p>
          <a:p>
            <a:r>
              <a:t>      "intervention": "",</a:t>
            </a:r>
          </a:p>
          <a:p>
            <a:r>
              <a:t>      "evidence_strength": "medium",</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"retrieval_method": "local_curated_chunk",</a:t>
            </a:r>
          </a:p>
          <a:p>
            <a:r>
              <a:t>      "matched_terms": [</a:t>
            </a:r>
          </a:p>
          <a:p>
            <a:r>
              <a:t>        "관광",</a:t>
            </a:r>
          </a:p>
          <a:p>
            <a:r>
              <a:t>        "상권",</a:t>
            </a:r>
          </a:p>
          <a:p>
            <a:r>
              <a:t>        "성과",</a:t>
            </a:r>
          </a:p>
          <a:p>
            <a:r>
              <a:t>        "소비",</a:t>
            </a:r>
          </a:p>
          <a:p>
            <a:r>
              <a:t>        "수와",</a:t>
            </a:r>
          </a:p>
          <a:p>
            <a:r>
              <a:t>        "숙박",</a:t>
            </a:r>
          </a:p>
          <a:p>
            <a:r>
              <a:t>        "실제",</a:t>
            </a:r>
          </a:p>
          <a:p>
            <a:r>
              <a:t>        "연결한",</a:t>
            </a:r>
          </a:p>
          <a:p>
            <a:r>
              <a:t>        "예산",</a:t>
            </a:r>
          </a:p>
          <a:p>
            <a:r>
              <a:t>        "운영",</a:t>
            </a:r>
          </a:p>
          <a:p>
            <a:r>
              <a:t>        "정책",</a:t>
            </a:r>
          </a:p>
          <a:p>
            <a:r>
              <a:t>        "중심으로",</a:t>
            </a:r>
          </a:p>
          <a:p>
            <a:r>
              <a:t>        "지역",</a:t>
            </a:r>
          </a:p>
          <a:p>
            <a:r>
              <a:t>        "체류",</a:t>
            </a:r>
          </a:p>
          <a:p>
            <a:r>
              <a:t>        "함께"</a:t>
            </a:r>
          </a:p>
          <a:p>
            <a:r>
              <a:t>      ],</a:t>
            </a:r>
          </a:p>
          <a:p>
            <a:r>
              <a:t>      "page_references": "PDF 44쪽, PDF 40쪽, PDF 41쪽, PDF 41쪽, PDF 43쪽",</a:t>
            </a:r>
          </a:p>
          <a:p>
            <a:r>
              <a:t>      "source_note": "지방공항·연계 지역에 관한 자료입니다. 다른 시군구의 사업 효과·예산을 보장하는 근거로 사용하지 않습니다.",</a:t>
            </a:r>
          </a:p>
          <a:p>
            <a:r>
              <a:t>      "chunk_id": "reference:kto:2026:local-airport:page:044:chunk:01",</a:t>
            </a:r>
          </a:p>
          <a:p>
            <a:r>
              <a:t>      "parent_source_id": "reference:kto:2026:local-airport",</a:t>
            </a:r>
          </a:p>
          <a:p>
            <a:r>
              <a:t>      "chunk_ids": [</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"reference:kto:2026:local-airport:page:044:chunk:01"</a:t>
            </a:r>
          </a:p>
          <a:p>
            <a:r>
              <a:t>      ],</a:t>
            </a:r>
          </a:p>
          <a:p>
            <a:r>
              <a:t>      "source_chunk_count": 5</a:t>
            </a:r>
          </a:p>
          <a:p>
            <a:r>
              <a:t>    },</a:t>
            </a:r>
          </a:p>
          <a:p>
            <a:r>
              <a:t>    {</a:t>
            </a:r>
          </a:p>
          <a:p>
            <a:r>
              <a:t>      "source_id": "web:30170:1",</a:t>
            </a:r>
          </a:p>
          <a:p>
            <a:r>
              <a:t>      "source_type": "official_web",</a:t>
            </a:r>
          </a:p>
          <a:p>
            <a:r>
              <a:t>      "title": "한밭수목원 | 열린관광 모두의 여행",</a:t>
            </a:r>
          </a:p>
          <a:p>
            <a:r>
              <a:t>      "source_url": "https://access.visitkorea.or.kr/ms/detail.do?cotId=81cc7479-c010-4bdd-9a29-3121bb578cb8",</a:t>
            </a:r>
          </a:p>
          <a:p>
            <a:r>
              <a:t>      "published_or_updated_at": "2026-09-10 수정",</a:t>
            </a:r>
          </a:p>
          <a:p>
            <a:r>
              <a:t>      "summary": "한밭수목원은 대전광역시 서구 둔산대로 169에 있으며, 정부대전청사 녹지축 및 예술의전당·미술관·연정국악원 등 문화예술 시설과 연계된 공간으로 안내된다.",</a:t>
            </a:r>
          </a:p>
          <a:p>
            <a:r>
              <a:t>      "why_relevant": "둔산권에서 자연관광과 문화관람을 한 동선으로 묶을 수 있는 공식 인프라 조건이다. 단, 개별 시설의 공동운영·할인·참여 여부는 확인되지 않았으므로 기관 협의 전제로만 활용해야 한다."</a:t>
            </a:r>
          </a:p>
          <a:p>
            <a:r>
              <a:t>    },</a:t>
            </a:r>
          </a:p>
          <a:p>
            <a:r>
              <a:t>    {</a:t>
            </a:r>
          </a:p>
          <a:p>
            <a:r>
              <a:t>      "source_id": "web:30170:2",</a:t>
            </a:r>
          </a:p>
          <a:p>
            <a:r>
              <a:t>      "source_type": "official_web",</a:t>
            </a:r>
          </a:p>
          <a:p>
            <a:r>
              <a:t>      "title": "Hanbat Arboretum (한밭수목원) - VISITKOREA",</a:t>
            </a:r>
          </a:p>
          <a:p>
            <a:r>
              <a:t>      "source_url": "https://english.visitkorea.or.kr/svc/contents/contentsView.do?vcontsId=82059",</a:t>
            </a:r>
          </a:p>
          <a:p>
            <a:r>
              <a:t>      "published_or_updated_at": "검색 시점 기준 현재 운영정보",</a:t>
            </a:r>
          </a:p>
          <a:p>
            <a:r>
              <a:t>      "summary": "한밭수목원의 10월~3월 동원·서원 운영시간은 08:00~19:00이며, 열대식물원은 09:00~18:00이다. 동원·열대식물원은 월요일, 서원은 화요일에 휴원한다.",</a:t>
            </a:r>
          </a:p>
          <a:p>
            <a:r>
              <a:t>      "why_relevant": "고정 운영기간인 2026년 10월~12월의 현장 프로그램은 종료시간 이전에 수목원 구간을 배치해야 한다. 월·화요일에는 동일한 수목원 구간을 전제로 한 전일 프로그램을 고정 편성하지 않고, 휴원일 대체 동선을 따로 설계해야 한다."</a:t>
            </a:r>
          </a:p>
          <a:p>
            <a:r>
              <a:t>    },</a:t>
            </a:r>
          </a:p>
          <a:p>
            <a:r>
              <a:t>    {</a:t>
            </a:r>
          </a:p>
          <a:p>
            <a:r>
              <a:t>      "source_id": "web:30170:3",</a:t>
            </a:r>
          </a:p>
          <a:p>
            <a:r>
              <a:t>      "source_type": "official_web",</a:t>
            </a:r>
          </a:p>
          <a:p>
            <a:r>
              <a:t>      "title": "대전예술의전당 | 열린관광 모두의 여행",</a:t>
            </a:r>
          </a:p>
          <a:p>
            <a:r>
              <a:t>      "source_url": "https://access.visitkorea.or.kr/ms/detail.do?cotId=af31b729-4eda-469b-b4cc-73ea3a1c8028",</a:t>
            </a:r>
          </a:p>
          <a:p>
            <a:r>
              <a:t>      "published_or_updated_at": "2026-07-31 수정",</a:t>
            </a:r>
          </a:p>
          <a:p>
            <a:r>
              <a:t>      "summary": "대전예술의전당은 서구 둔산대로 135의 둔산대공원 내 종합공연장으로, 대형공연이 가능한 아트홀, 앙상블홀, 국제회의·세미나·연회 활용이 가능한 컨벤션홀이 안내되어 있다.",</a:t>
            </a:r>
          </a:p>
          <a:p>
            <a:r>
              <a:t>      "why_relevant": "공연 일정이 확정되는 날에는 수목원·미술관 권역과 식음 상권을 연결하는 저녁 체류 동선의 문화 앵커 후보가 된다. 다만 2026년 10~12월의 실제 공연 편성, 대관·협력 가능 여부, 티켓 연계는 별도 확인이 필요하다."</a:t>
            </a:r>
          </a:p>
          <a:p>
            <a:r>
              <a:t>    },</a:t>
            </a:r>
          </a:p>
          <a:p>
            <a:r>
              <a:t>    {</a:t>
            </a:r>
          </a:p>
          <a:p>
            <a:r>
              <a:t>      "source_id": "web:30170:4",</a:t>
            </a:r>
          </a:p>
          <a:p>
            <a:r>
              <a:t>      "source_type": "official_web",</a:t>
            </a:r>
          </a:p>
          <a:p>
            <a:r>
              <a:t>      "title": "한민시장 | 열린관광 모두의 여행",</a:t>
            </a:r>
          </a:p>
          <a:p>
            <a:r>
              <a:t>      "source_url": "https://access.visitkorea.or.kr/ms/detail.do?cotId=72bba786-e15a-478a-bc99-c9d15ff27727",</a:t>
            </a:r>
          </a:p>
          <a:p>
            <a:r>
              <a:t>      "published_or_updated_at": "2026-06-24 수정",</a:t>
            </a:r>
          </a:p>
          <a:p>
            <a:r>
              <a:t>      "summary": "한민시장은 서구 가장로 106에 위치하며, 용문역과 가깝고 주변 한밭수목원·엑스포시민광장·엑스포과학공원과의 연계 관광이 가능한 곳으로 안내된다. 시장 내 점포별 영업시간과 휴무일은 서로 다르다.",</a:t>
            </a:r>
          </a:p>
          <a:p>
            <a:r>
              <a:t>      "why_relevant": "둔산권 방문을 지역 식음·시장 이용으로 전환할 후보 거점이다. 다만 시장 전체의 일괄 야간운영이나 할인 참여를 전제할 수 없으므로, 참여 점포 모집과 공연일·주말별 영업 확인 후에만 스탬프·메뉴·체험 연계를 편성해야 한다."</a:t>
            </a:r>
          </a:p>
          <a:p>
            <a:r>
              <a:t>    },</a:t>
            </a:r>
          </a:p>
          <a:p>
            <a:r>
              <a:t>    {</a:t>
            </a:r>
          </a:p>
          <a:p>
            <a:r>
              <a:t>      "source_id": "web:30170:5",</a:t>
            </a:r>
          </a:p>
          <a:p>
            <a:r>
              <a:t>      "source_type": "official_web",</a:t>
            </a:r>
          </a:p>
          <a:p>
            <a:r>
              <a:t>      "title": "장태산자연휴양림 - VISITKOREA",</a:t>
            </a:r>
          </a:p>
          <a:p>
            <a:r>
              <a:t>      "source_url": "https://japanese.visitkorea.or.kr/svc/contents/contentsView.do?vcontsId=76300",</a:t>
            </a:r>
          </a:p>
          <a:p>
            <a:r>
              <a:t>      "published_or_updated_at": "검색 시점 기준 현재 페이지",</a:t>
            </a:r>
          </a:p>
          <a:p>
            <a:r>
              <a:t>      "summary": "장태산자연휴양림은 대전광역시 서구 장안로 461에 위치한 서구 관광자원으로 공식 관광정보에 수록되어 있으며, 한국관광공사 공식 콘텐츠는 가을 단풍 경관을 소개한다.",</a:t>
            </a:r>
          </a:p>
          <a:p>
            <a:r>
              <a:t>      "why_relevant": "10~11월 자연관광 콘텐츠 후보로 검토할 수 있다. 그러나 공식 검색 결과만으로는 2026년 가을의 숙박 객실, 프로그램, 교통운행, 단체예약 및 행사 가능 조건을 확정할 수 없으므로, 체류 증대의 주력 사업으로 바로 확정하지 않는다."</a:t>
            </a:r>
          </a:p>
          <a:p>
            <a:r>
              <a:t>    },</a:t>
            </a:r>
          </a:p>
          <a:p>
            <a:r>
              <a:t>    {</a:t>
            </a:r>
          </a:p>
          <a:p>
            <a:r>
              <a:t>      "source_id": "web:30170:6",</a:t>
            </a:r>
          </a:p>
          <a:p>
            <a:r>
              <a:t>      "source_type": "official_web",</a:t>
            </a:r>
          </a:p>
          <a:p>
            <a:r>
              <a:t>      "title": "여유롭고 안전한 오늘의 여행법 비대면(언택트) 관광지 100선",</a:t>
            </a:r>
          </a:p>
          <a:p>
            <a:r>
              <a:t>      "source_url": "https://korean.visitkorea.or.kr/detail/rem_detail.do?cotid=351f6cf4-d984-496f-886d-6fc538b226a7",</a:t>
            </a:r>
          </a:p>
          <a:p>
            <a:r>
              <a:t>      "published_or_updated_at": "게시일 미확인",</a:t>
            </a:r>
          </a:p>
          <a:p>
            <a:r>
              <a:t>      "summary": "한국관광공사 공식 관광 콘텐츠에는 대전 서구의 장태산자연휴양림과 한밭수목원이 비대면 관광지 100선 목록에 포함되어 있다.",</a:t>
            </a:r>
          </a:p>
          <a:p>
            <a:r>
              <a:t>      "why_relevant": "가을철 자연·산책 콘텐츠의 공공 관광자원으로 두 장소를 후보군에 둘 근거는 있으나, 선정 사실 자체가 현재 수요·소비·숙박 증가 또는 특정 사업효과를 뜻하지는 않는다."</a:t>
            </a:r>
          </a:p>
          <a:p>
            <a:r>
              <a:t>    },</a:t>
            </a:r>
          </a:p>
          <a:p>
            <a:r>
              <a:t>    {</a:t>
            </a:r>
          </a:p>
          <a:p>
            <a:r>
              <a:t>      "source_id": "case:41508ca81cf29f",</a:t>
            </a:r>
          </a:p>
          <a:p>
            <a:r>
              <a:t>      "source_type": "benchmark_case",</a:t>
            </a:r>
          </a:p>
          <a:p>
            <a:r>
              <a:t>      "title": "한국관광 데이터랩 · 안동탈춤축제 방문자 추이",</a:t>
            </a:r>
          </a:p>
          <a:p>
            <a:r>
              <a:t>      "source_url": "https://datalab.visitkorea.or.kr/",</a:t>
            </a:r>
          </a:p>
          <a:p>
            <a:r>
              <a:t>      "published_or_updated_at": "2026-08-20",</a:t>
            </a:r>
          </a:p>
          <a:p>
            <a:r>
              <a:t>      "summary": "경상북도 안동시 · 2025 안동탈춤축제 10일 집중 운영 · 2024→2025년 전체 504,573→554,494명 (+9.89%). 개최 10→10일, 일평균 +9.89%, 외지인 +10.75%.",</a:t>
            </a:r>
          </a:p>
          <a:p>
            <a:r>
              <a:t>      "case_region": "경상북도 안동시",</a:t>
            </a:r>
          </a:p>
          <a:p>
            <a:r>
              <a:t>      "intervention": "2025 안동탈춤축제 10일 집중 운영",</a:t>
            </a:r>
          </a:p>
          <a:p>
            <a:r>
              <a:t>      "operating_model": "2025년 10일 동안 탈춤과 지역문화 중심 축제를 집중 운영했다. 제공된 관광데이터랩 CSV에서는 세부 예약·정원·상권 정산 방식은 확인되지 않으므로, 확인 가능한 실행 사실은 축제명·개최일수·관측구역 방문지표까지다.",</a:t>
            </a:r>
          </a:p>
          <a:p>
            <a:r>
              <a:t>      "evidence_strength": "medium",</a:t>
            </a:r>
          </a:p>
          <a:p>
            <a:r>
              <a:t>      "quantitative_result_approved": true,</a:t>
            </a:r>
          </a:p>
          <a:p>
            <a:r>
              <a:t>      "document_type": null,</a:t>
            </a:r>
          </a:p>
          <a:p>
            <a:r>
              <a:t>      "retrieval_method": "official_web_search",</a:t>
            </a:r>
          </a:p>
          <a:p>
            <a:r>
              <a:t>      "retrieval_context": {</a:t>
            </a:r>
          </a:p>
          <a:p>
            <a:r>
              <a:t>        "scope": "cross_province",</a:t>
            </a:r>
          </a:p>
          <a:p>
            <a:r>
              <a:t>        "peer_region_code": null</a:t>
            </a:r>
          </a:p>
          <a:p>
            <a:r>
              <a:t>      },</a:t>
            </a:r>
          </a:p>
          <a:p>
            <a:r>
              <a:t>      "observed_result": "2024→2025년 전체 504,573→554,494명 (+9.89%). 개최 10→10일, 일평균 +9.89%, 외지인 +10.75%.",</a:t>
            </a:r>
          </a:p>
          <a:p>
            <a:r>
              <a:t>      "operating_statistics": [</a:t>
            </a:r>
          </a:p>
          <a:p>
            <a:r>
              <a:t>        {</a:t>
            </a:r>
          </a:p>
          <a:p>
            <a:r>
              <a:t>          "metric": "operating_days",</a:t>
            </a:r>
          </a:p>
          <a:p>
            <a:r>
              <a:t>          "value": 10,</a:t>
            </a:r>
          </a:p>
          <a:p>
            <a:r>
              <a:t>          "unit": "일",</a:t>
            </a:r>
          </a:p>
          <a:p>
            <a:r>
              <a:t>          "period": "2025년 축제 개최기간",</a:t>
            </a:r>
          </a:p>
          <a:p>
            <a:r>
              <a:t>          "scope": "안동탈춤축제 전체 개최일",</a:t>
            </a:r>
          </a:p>
          <a:p>
            <a:r>
              <a:t>          "quote": "2025년 10일 개최",</a:t>
            </a:r>
          </a:p>
          <a:p>
            <a:r>
              <a:t>          "capacity_count": null,</a:t>
            </a:r>
          </a:p>
          <a:p>
            <a:r>
              <a:t>          "participant_count": null,</a:t>
            </a:r>
          </a:p>
          <a:p>
            <a:r>
              <a:t>          "program_name": "안동탈춤축제"</a:t>
            </a:r>
          </a:p>
          <a:p>
            <a:r>
              <a:t>        }</a:t>
            </a:r>
          </a:p>
          <a:p>
            <a:r>
              <a:t>      ],</a:t>
            </a:r>
          </a:p>
          <a:p>
            <a:r>
              <a:t>      "evidence_kind": "festival_document_and_statistics",</a:t>
            </a:r>
          </a:p>
          <a:p>
            <a:r>
              <a:t>      "festival_statistics": {</a:t>
            </a:r>
          </a:p>
          <a:p>
            <a:r>
              <a:t>        "name": "안동탈춤축제",</a:t>
            </a:r>
          </a:p>
          <a:p>
            <a:r>
              <a:t>        "annual": [</a:t>
            </a:r>
          </a:p>
          <a:p>
            <a:r>
              <a:t>          {</a:t>
            </a:r>
          </a:p>
          <a:p>
            <a:r>
              <a:t>            "days": 8,</a:t>
            </a:r>
          </a:p>
          <a:p>
            <a:r>
              <a:t>            "year": 2023,</a:t>
            </a:r>
          </a:p>
          <a:p>
            <a:r>
              <a:t>            "daily": 45517.125,</a:t>
            </a:r>
          </a:p>
          <a:p>
            <a:r>
              <a:t>            "local": 233513,</a:t>
            </a:r>
          </a:p>
          <a:p>
            <a:r>
              <a:t>            "total": 364137,</a:t>
            </a:r>
          </a:p>
          <a:p>
            <a:r>
              <a:t>            "foreign": 3319,</a:t>
            </a:r>
          </a:p>
          <a:p>
            <a:r>
              <a:t>            "outside": 127305,</a:t>
            </a:r>
          </a:p>
          <a:p>
            <a:r>
              <a:t>            "outside_daily": 15913.125,</a:t>
            </a:r>
          </a:p>
          <a:p>
            <a:r>
              <a:t>            "outside_share_pct": 34.960742797353745</a:t>
            </a:r>
          </a:p>
          <a:p>
            <a:r>
              <a:t>          },</a:t>
            </a:r>
          </a:p>
          <a:p>
            <a:r>
              <a:t>          {</a:t>
            </a:r>
          </a:p>
          <a:p>
            <a:r>
              <a:t>            "days": 10,</a:t>
            </a:r>
          </a:p>
          <a:p>
            <a:r>
              <a:t>            "year": 2024,</a:t>
            </a:r>
          </a:p>
          <a:p>
            <a:r>
              <a:t>            "daily": 50457.3,</a:t>
            </a:r>
          </a:p>
          <a:p>
            <a:r>
              <a:t>            "local": 317925,</a:t>
            </a:r>
          </a:p>
          <a:p>
            <a:r>
              <a:t>            "total": 504573,</a:t>
            </a:r>
          </a:p>
          <a:p>
            <a:r>
              <a:t>            "foreign": 4684,</a:t>
            </a:r>
          </a:p>
          <a:p>
            <a:r>
              <a:t>            "outside": 181964,</a:t>
            </a:r>
          </a:p>
          <a:p>
            <a:r>
              <a:t>            "outside_daily": 18196.4,</a:t>
            </a:r>
          </a:p>
          <a:p>
            <a:r>
              <a:t>            "outside_share_pct": 36.06296809381398</a:t>
            </a:r>
          </a:p>
          <a:p>
            <a:r>
              <a:t>          },</a:t>
            </a:r>
          </a:p>
          <a:p>
            <a:r>
              <a:t>          {</a:t>
            </a:r>
          </a:p>
          <a:p>
            <a:r>
              <a:t>            "days": 10,</a:t>
            </a:r>
          </a:p>
          <a:p>
            <a:r>
              <a:t>            "year": 2025,</a:t>
            </a:r>
          </a:p>
          <a:p>
            <a:r>
              <a:t>            "daily": 55449.4,</a:t>
            </a:r>
          </a:p>
          <a:p>
            <a:r>
              <a:t>            "local": 347269,</a:t>
            </a:r>
          </a:p>
          <a:p>
            <a:r>
              <a:t>            "total": 554494,</a:t>
            </a:r>
          </a:p>
          <a:p>
            <a:r>
              <a:t>            "foreign": 5702,</a:t>
            </a:r>
          </a:p>
          <a:p>
            <a:r>
              <a:t>            "outside": 201523,</a:t>
            </a:r>
          </a:p>
          <a:p>
            <a:r>
              <a:t>            "outside_daily": 20152.3,</a:t>
            </a:r>
          </a:p>
          <a:p>
            <a:r>
              <a:t>            "outside_share_pct": 36.34358532283487</a:t>
            </a:r>
          </a:p>
          <a:p>
            <a:r>
              <a:t>          }</a:t>
            </a:r>
          </a:p>
          <a:p>
            <a:r>
              <a:t>        ],</a:t>
            </a:r>
          </a:p>
          <a:p>
            <a:r>
              <a:t>        "comparison": {</a:t>
            </a:r>
          </a:p>
          <a:p>
            <a:r>
              <a:t>          "daily": {</a:t>
            </a:r>
          </a:p>
          <a:p>
            <a:r>
              <a:t>            "after": 55449.4,</a:t>
            </a:r>
          </a:p>
          <a:p>
            <a:r>
              <a:t>            "before": 50457.3,</a:t>
            </a:r>
          </a:p>
          <a:p>
            <a:r>
              <a:t>            "change_pct": 9.893712109050613,</a:t>
            </a:r>
          </a:p>
          <a:p>
            <a:r>
              <a:t>            "difference": 4992.0999999999985</a:t>
            </a:r>
          </a:p>
          <a:p>
            <a:r>
              <a:t>          },</a:t>
            </a:r>
          </a:p>
          <a:p>
            <a:r>
              <a:t>          "total": {</a:t>
            </a:r>
          </a:p>
          <a:p>
            <a:r>
              <a:t>            "after": 554494,</a:t>
            </a:r>
          </a:p>
          <a:p>
            <a:r>
              <a:t>            "before": 504573,</a:t>
            </a:r>
          </a:p>
          <a:p>
            <a:r>
              <a:t>            "change_pct": 9.893712109050613,</a:t>
            </a:r>
          </a:p>
          <a:p>
            <a:r>
              <a:t>            "difference": 49921</a:t>
            </a:r>
          </a:p>
          <a:p>
            <a:r>
              <a:t>          },</a:t>
            </a:r>
          </a:p>
          <a:p>
            <a:r>
              <a:t>          "outside": {</a:t>
            </a:r>
          </a:p>
          <a:p>
            <a:r>
              <a:t>            "after": 201523,</a:t>
            </a:r>
          </a:p>
          <a:p>
            <a:r>
              <a:t>            "before": 181964,</a:t>
            </a:r>
          </a:p>
          <a:p>
            <a:r>
              <a:t>            "change_pct": 10.748829438790096,</a:t>
            </a:r>
          </a:p>
          <a:p>
            <a:r>
              <a:t>            "difference": 19559</a:t>
            </a:r>
          </a:p>
          <a:p>
            <a:r>
              <a:t>          },</a:t>
            </a:r>
          </a:p>
          <a:p>
            <a:r>
              <a:t>          "after_days": 10,</a:t>
            </a:r>
          </a:p>
          <a:p>
            <a:r>
              <a:t>          "after_year": 2025,</a:t>
            </a:r>
          </a:p>
          <a:p>
            <a:r>
              <a:t>          "before_days": 10,</a:t>
            </a:r>
          </a:p>
          <a:p>
            <a:r>
              <a:t>          "before_year": 2024,</a:t>
            </a:r>
          </a:p>
          <a:p>
            <a:r>
              <a:t>          "outside_daily": {</a:t>
            </a:r>
          </a:p>
          <a:p>
            <a:r>
              <a:t>            "after": 20152.3,</a:t>
            </a:r>
          </a:p>
          <a:p>
            <a:r>
              <a:t>            "before": 18196.4,</a:t>
            </a:r>
          </a:p>
          <a:p>
            <a:r>
              <a:t>            "change_pct": 10.748829438790075,</a:t>
            </a:r>
          </a:p>
          <a:p>
            <a:r>
              <a:t>            "difference": 1955.8999999999976</a:t>
            </a:r>
          </a:p>
          <a:p>
            <a:r>
              <a:t>          }</a:t>
            </a:r>
          </a:p>
          <a:p>
            <a:r>
              <a:t>        },</a:t>
            </a:r>
          </a:p>
          <a:p>
            <a:r>
              <a:t>        "scope": "축제 관측구역 방문 지표. 도시 전체·순증 관광객·입장권 실구매자 수가 아님.",</a:t>
            </a:r>
          </a:p>
          <a:p>
            <a:r>
              <a:t>        "region_basis": "목적지 검색 CSV의 시도+시군구 최빈 주소; 행사장 행정경계 확정은 아님",</a:t>
            </a:r>
          </a:p>
          <a:p>
            <a:r>
              <a:t>        "source_file": {</a:t>
            </a:r>
          </a:p>
          <a:p>
            <a:r>
              <a:t>          "sha256": "28f418873eda5b37d320d3fef32c46bef172ca1cfea3861db2d5fc96a0b16f50",</a:t>
            </a:r>
          </a:p>
          <a:p>
            <a:r>
              <a:t>          "provider": "한국관광 데이터랩",</a:t>
            </a:r>
          </a:p>
          <a:p>
            <a:r>
              <a:t>          "file_name": "20260820175023_안동탈춤축제_연도별 방문자 추이.csv",</a:t>
            </a:r>
          </a:p>
          <a:p>
            <a:r>
              <a:t>          "source_id": "festival-file:28f418873eda5b37d320",</a:t>
            </a:r>
          </a:p>
          <a:p>
            <a:r>
              <a:t>          "source_url": "https://datalab.visitkorea.or.kr/",</a:t>
            </a:r>
          </a:p>
          <a:p>
            <a:r>
              <a:t>          "downloaded_at": "2026-08-20",</a:t>
            </a:r>
          </a:p>
          <a:p>
            <a:r>
              <a:t>          "relative_path": "data/source_snapshots/festivals_20260820/43. 안동탈춤축제_2023-2025/20260820175023_안동탈춤축제_연도별 방문자 추이.csv",</a:t>
            </a:r>
          </a:p>
          <a:p>
            <a:r>
              <a:t>          "provenance_status": "team_download_exact_query_url_unrecorded"</a:t>
            </a:r>
          </a:p>
          <a:p>
            <a:r>
              <a:t>        },</a:t>
            </a:r>
          </a:p>
          <a:p>
            <a:r>
              <a:t>        "indicator_values": [</a:t>
            </a:r>
          </a:p>
          <a:p>
            <a:r>
              <a:t>          {</a:t>
            </a:r>
          </a:p>
          <a:p>
            <a:r>
              <a:t>            "구분명": "외부방문자 유입",</a:t>
            </a:r>
          </a:p>
          <a:p>
            <a:r>
              <a:t>            "그룹명": "축제기간",</a:t>
            </a:r>
          </a:p>
          <a:p>
            <a:r>
              <a:t>            "지표값": "0.515",</a:t>
            </a:r>
          </a:p>
          <a:p>
            <a:r>
              <a:t>            "축제명": "안동탈춤축제",</a:t>
            </a:r>
          </a:p>
          <a:p>
            <a:r>
              <a:t>            "개최년도": "2025"</a:t>
            </a:r>
          </a:p>
          <a:p>
            <a:r>
              <a:t>          },</a:t>
            </a:r>
          </a:p>
          <a:p>
            <a:r>
              <a:t>          {</a:t>
            </a:r>
          </a:p>
          <a:p>
            <a:r>
              <a:t>            "구분명": "현지인방문자 유입",</a:t>
            </a:r>
          </a:p>
          <a:p>
            <a:r>
              <a:t>            "그룹명": "축제기간",</a:t>
            </a:r>
          </a:p>
          <a:p>
            <a:r>
              <a:t>            "지표값": "0.859",</a:t>
            </a:r>
          </a:p>
          <a:p>
            <a:r>
              <a:t>            "축제명": "안동탈춤축제",</a:t>
            </a:r>
          </a:p>
          <a:p>
            <a:r>
              <a:t>            "개최년도": "2025"</a:t>
            </a:r>
          </a:p>
          <a:p>
            <a:r>
              <a:t>          },</a:t>
            </a:r>
          </a:p>
          <a:p>
            <a:r>
              <a:t>          {</a:t>
            </a:r>
          </a:p>
          <a:p>
            <a:r>
              <a:t>            "구분명": "내비게이션 검색량",</a:t>
            </a:r>
          </a:p>
          <a:p>
            <a:r>
              <a:t>            "그룹명": "축제기간",</a:t>
            </a:r>
          </a:p>
          <a:p>
            <a:r>
              <a:t>            "지표값": "0.434",</a:t>
            </a:r>
          </a:p>
          <a:p>
            <a:r>
              <a:t>            "축제명": "안동탈춤축제",</a:t>
            </a:r>
          </a:p>
          <a:p>
            <a:r>
              <a:t>            "개최년도": "2025"</a:t>
            </a:r>
          </a:p>
          <a:p>
            <a:r>
              <a:t>          },</a:t>
            </a:r>
          </a:p>
          <a:p>
            <a:r>
              <a:t>          {</a:t>
            </a:r>
          </a:p>
          <a:p>
            <a:r>
              <a:t>            "구분명": "관광소비",</a:t>
            </a:r>
          </a:p>
          <a:p>
            <a:r>
              <a:t>            "그룹명": "축제기간",</a:t>
            </a:r>
          </a:p>
          <a:p>
            <a:r>
              <a:t>            "지표값": "0.544",</a:t>
            </a:r>
          </a:p>
          <a:p>
            <a:r>
              <a:t>            "축제명": "안동탈춤축제",</a:t>
            </a:r>
          </a:p>
          <a:p>
            <a:r>
              <a:t>            "개최년도": "2025"</a:t>
            </a:r>
          </a:p>
          <a:p>
            <a:r>
              <a:t>          },</a:t>
            </a:r>
          </a:p>
          <a:p>
            <a:r>
              <a:t>          {</a:t>
            </a:r>
          </a:p>
          <a:p>
            <a:r>
              <a:t>            "구분명": "축제지 집중률",</a:t>
            </a:r>
          </a:p>
          <a:p>
            <a:r>
              <a:t>            "그룹명": "축제기간",</a:t>
            </a:r>
          </a:p>
          <a:p>
            <a:r>
              <a:t>            "지표값": "0.879",</a:t>
            </a:r>
          </a:p>
          <a:p>
            <a:r>
              <a:t>            "축제명": "안동탈춤축제",</a:t>
            </a:r>
          </a:p>
          <a:p>
            <a:r>
              <a:t>            "개최년도": "2025"</a:t>
            </a:r>
          </a:p>
          <a:p>
            <a:r>
              <a:t>          },</a:t>
            </a:r>
          </a:p>
          <a:p>
            <a:r>
              <a:t>          {</a:t>
            </a:r>
          </a:p>
          <a:p>
            <a:r>
              <a:t>            "구분명": "외부방문자 유입",</a:t>
            </a:r>
          </a:p>
          <a:p>
            <a:r>
              <a:t>            "그룹명": "비축제기간",</a:t>
            </a:r>
          </a:p>
          <a:p>
            <a:r>
              <a:t>            "지표값": "0.258",</a:t>
            </a:r>
          </a:p>
          <a:p>
            <a:r>
              <a:t>            "축제명": "안동탈춤축제",</a:t>
            </a:r>
          </a:p>
          <a:p>
            <a:r>
              <a:t>            "개최년도": "2025"</a:t>
            </a:r>
          </a:p>
          <a:p>
            <a:r>
              <a:t>          },</a:t>
            </a:r>
          </a:p>
          <a:p>
            <a:r>
              <a:t>          {</a:t>
            </a:r>
          </a:p>
          <a:p>
            <a:r>
              <a:t>            "구분명": "현지인방문자 유입",</a:t>
            </a:r>
          </a:p>
          <a:p>
            <a:r>
              <a:t>            "그룹명": "비축제기간",</a:t>
            </a:r>
          </a:p>
          <a:p>
            <a:r>
              <a:t>            "지표값": "0.618",</a:t>
            </a:r>
          </a:p>
          <a:p>
            <a:r>
              <a:t>            "축제명": "안동탈춤축제",</a:t>
            </a:r>
          </a:p>
          <a:p>
            <a:r>
              <a:t>            "개최년도": "2025"</a:t>
            </a:r>
          </a:p>
          <a:p>
            <a:r>
              <a:t>          },</a:t>
            </a:r>
          </a:p>
          <a:p>
            <a:r>
              <a:t>          {</a:t>
            </a:r>
          </a:p>
          <a:p>
            <a:r>
              <a:t>            "구분명": "내비게이션 검색량",</a:t>
            </a:r>
          </a:p>
          <a:p>
            <a:r>
              <a:t>            "그룹명": "비축제기간",</a:t>
            </a:r>
          </a:p>
          <a:p>
            <a:r>
              <a:t>            "지표값": "0.252",</a:t>
            </a:r>
          </a:p>
          <a:p>
            <a:r>
              <a:t>            "축제명": "안동탈춤축제",</a:t>
            </a:r>
          </a:p>
          <a:p>
            <a:r>
              <a:t>            "개최년도": "2025"</a:t>
            </a:r>
          </a:p>
          <a:p>
            <a:r>
              <a:t>          },</a:t>
            </a:r>
          </a:p>
          <a:p>
            <a:r>
              <a:t>          {</a:t>
            </a:r>
          </a:p>
          <a:p>
            <a:r>
              <a:t>            "구분명": "관광소비",</a:t>
            </a:r>
          </a:p>
          <a:p>
            <a:r>
              <a:t>            "그룹명": "비축제기간",</a:t>
            </a:r>
          </a:p>
          <a:p>
            <a:r>
              <a:t>            "지표값": "0.375",</a:t>
            </a:r>
          </a:p>
          <a:p>
            <a:r>
              <a:t>            "축제명": "안동탈춤축제",</a:t>
            </a:r>
          </a:p>
          <a:p>
            <a:r>
              <a:t>            "개최년도": "2025"</a:t>
            </a:r>
          </a:p>
          <a:p>
            <a:r>
              <a:t>          },</a:t>
            </a:r>
          </a:p>
          <a:p>
            <a:r>
              <a:t>          {</a:t>
            </a:r>
          </a:p>
          <a:p>
            <a:r>
              <a:t>            "구분명": "축제지 집중률",</a:t>
            </a:r>
          </a:p>
          <a:p>
            <a:r>
              <a:t>            "그룹명": "비축제기간",</a:t>
            </a:r>
          </a:p>
          <a:p>
            <a:r>
              <a:t>            "지표값": "0.65",</a:t>
            </a:r>
          </a:p>
          <a:p>
            <a:r>
              <a:t>            "축제명": "안동탈춤축제",</a:t>
            </a:r>
          </a:p>
          <a:p>
            <a:r>
              <a:t>            "개최년도": "2025"</a:t>
            </a:r>
          </a:p>
          <a:p>
            <a:r>
              <a:t>          }</a:t>
            </a:r>
          </a:p>
          <a:p>
            <a:r>
              <a:t>        ],</a:t>
            </a:r>
          </a:p>
          <a:p>
            <a:r>
              <a:t>        "indicator_rule": "원본 지표값만 보존. 산식·단위 미확인으로 성장률/원화/정원/참여율 변환 금지.",</a:t>
            </a:r>
          </a:p>
          <a:p>
            <a:r>
              <a:t>        "audience": [</a:t>
            </a:r>
          </a:p>
          <a:p>
            <a:r>
              <a:t>          {</a:t>
            </a:r>
          </a:p>
          <a:p>
            <a:r>
              <a:t>            "연령대": "70세 이상",</a:t>
            </a:r>
          </a:p>
          <a:p>
            <a:r>
              <a:t>            "축제명": "안동탈춤축제",</a:t>
            </a:r>
          </a:p>
          <a:p>
            <a:r>
              <a:t>            "남성비율": "4.4",</a:t>
            </a:r>
          </a:p>
          <a:p>
            <a:r>
              <a:t>            "여성비율": "5.0"</a:t>
            </a:r>
          </a:p>
          <a:p>
            <a:r>
              <a:t>          },</a:t>
            </a:r>
          </a:p>
          <a:p>
            <a:r>
              <a:t>          {</a:t>
            </a:r>
          </a:p>
          <a:p>
            <a:r>
              <a:t>            "연령대": "60~69세",</a:t>
            </a:r>
          </a:p>
          <a:p>
            <a:r>
              <a:t>            "축제명": "안동탈춤축제",</a:t>
            </a:r>
          </a:p>
          <a:p>
            <a:r>
              <a:t>            "남성비율": "8.0",</a:t>
            </a:r>
          </a:p>
          <a:p>
            <a:r>
              <a:t>            "여성비율": "8.5"</a:t>
            </a:r>
          </a:p>
          <a:p>
            <a:r>
              <a:t>          },</a:t>
            </a:r>
          </a:p>
          <a:p>
            <a:r>
              <a:t>          {</a:t>
            </a:r>
          </a:p>
          <a:p>
            <a:r>
              <a:t>            "연령대": "50~59세",</a:t>
            </a:r>
          </a:p>
          <a:p>
            <a:r>
              <a:t>            "축제명": "안동탈춤축제",</a:t>
            </a:r>
          </a:p>
          <a:p>
            <a:r>
              <a:t>            "남성비율": "9.2",</a:t>
            </a:r>
          </a:p>
          <a:p>
            <a:r>
              <a:t>            "여성비율": "10.9"</a:t>
            </a:r>
          </a:p>
          <a:p>
            <a:r>
              <a:t>          },</a:t>
            </a:r>
          </a:p>
          <a:p>
            <a:r>
              <a:t>          {</a:t>
            </a:r>
          </a:p>
          <a:p>
            <a:r>
              <a:t>            "연령대": "40~49세",</a:t>
            </a:r>
          </a:p>
          <a:p>
            <a:r>
              <a:t>            "축제명": "안동탈춤축제",</a:t>
            </a:r>
          </a:p>
          <a:p>
            <a:r>
              <a:t>            "남성비율": "7.5",</a:t>
            </a:r>
          </a:p>
          <a:p>
            <a:r>
              <a:t>            "여성비율": "7.9"</a:t>
            </a:r>
          </a:p>
          <a:p>
            <a:r>
              <a:t>          },</a:t>
            </a:r>
          </a:p>
          <a:p>
            <a:r>
              <a:t>          {</a:t>
            </a:r>
          </a:p>
          <a:p>
            <a:r>
              <a:t>            "연령대": "30~39세",</a:t>
            </a:r>
          </a:p>
          <a:p>
            <a:r>
              <a:t>            "축제명": "안동탈춤축제",</a:t>
            </a:r>
          </a:p>
          <a:p>
            <a:r>
              <a:t>            "남성비율": "7.9",</a:t>
            </a:r>
          </a:p>
          <a:p>
            <a:r>
              <a:t>            "여성비율": "7.2"</a:t>
            </a:r>
          </a:p>
          <a:p>
            <a:r>
              <a:t>          },</a:t>
            </a:r>
          </a:p>
          <a:p>
            <a:r>
              <a:t>          {</a:t>
            </a:r>
          </a:p>
          <a:p>
            <a:r>
              <a:t>            "연령대": "20~29세",</a:t>
            </a:r>
          </a:p>
          <a:p>
            <a:r>
              <a:t>            "축제명": "안동탈춤축제",</a:t>
            </a:r>
          </a:p>
          <a:p>
            <a:r>
              <a:t>            "남성비율": "7.1",</a:t>
            </a:r>
          </a:p>
          <a:p>
            <a:r>
              <a:t>            "여성비율": "8.2"</a:t>
            </a:r>
          </a:p>
          <a:p>
            <a:r>
              <a:t>          },</a:t>
            </a:r>
          </a:p>
          <a:p>
            <a:r>
              <a:t>          {</a:t>
            </a:r>
          </a:p>
          <a:p>
            <a:r>
              <a:t>            "연령대": "10~19세",</a:t>
            </a:r>
          </a:p>
          <a:p>
            <a:r>
              <a:t>            "축제명": "안동탈춤축제",</a:t>
            </a:r>
          </a:p>
          <a:p>
            <a:r>
              <a:t>            "남성비율": "3.2",</a:t>
            </a:r>
          </a:p>
          <a:p>
            <a:r>
              <a:t>            "여성비율": "3.9"</a:t>
            </a:r>
          </a:p>
          <a:p>
            <a:r>
              <a:t>          },</a:t>
            </a:r>
          </a:p>
          <a:p>
            <a:r>
              <a:t>          {</a:t>
            </a:r>
          </a:p>
          <a:p>
            <a:r>
              <a:t>            "연령대": "0~9세",</a:t>
            </a:r>
          </a:p>
          <a:p>
            <a:r>
              <a:t>            "축제명": "안동탈춤축제",</a:t>
            </a:r>
          </a:p>
          <a:p>
            <a:r>
              <a:t>            "남성비율": "0.5",</a:t>
            </a:r>
          </a:p>
          <a:p>
            <a:r>
              <a:t>            "여성비율": "0.7"</a:t>
            </a:r>
          </a:p>
          <a:p>
            <a:r>
              <a:t>          }</a:t>
            </a:r>
          </a:p>
          <a:p>
            <a:r>
              <a:t>        ],</a:t>
            </a:r>
          </a:p>
          <a:p>
            <a:r>
              <a:t>        "audience_period": "다운로드 CSV에 연도 열 없음; 최신 개최연도와 자동 결합하지 않음",</a:t>
            </a:r>
          </a:p>
          <a:p>
            <a:r>
              <a:t>        "destination_examples": [</a:t>
            </a:r>
          </a:p>
          <a:p>
            <a:r>
              <a:t>          {</a:t>
            </a:r>
          </a:p>
          <a:p>
            <a:r>
              <a:t>            "구분": "외지인",</a:t>
            </a:r>
          </a:p>
          <a:p>
            <a:r>
              <a:t>            "순위": "1",</a:t>
            </a:r>
          </a:p>
          <a:p>
            <a:r>
              <a:t>            "목적지명": "안동구시장",</a:t>
            </a:r>
          </a:p>
          <a:p>
            <a:r>
              <a:t>            "도로명주소": "경북 안동시 번영1길 47-0",</a:t>
            </a:r>
          </a:p>
          <a:p>
            <a:r>
              <a:t>            "카테고리": "시장"</a:t>
            </a:r>
          </a:p>
          <a:p>
            <a:r>
              <a:t>          },</a:t>
            </a:r>
          </a:p>
          <a:p>
            <a:r>
              <a:t>          {</a:t>
            </a:r>
          </a:p>
          <a:p>
            <a:r>
              <a:t>            "구분": "외지인",</a:t>
            </a:r>
          </a:p>
          <a:p>
            <a:r>
              <a:t>            "순위": "2",</a:t>
            </a:r>
          </a:p>
          <a:p>
            <a:r>
              <a:t>            "목적지명": "안동국제탈춤페스티벌",</a:t>
            </a:r>
          </a:p>
          <a:p>
            <a:r>
              <a:t>            "도로명주소": "경북 안동시 육사로 239-0",</a:t>
            </a:r>
          </a:p>
          <a:p>
            <a:r>
              <a:t>            "카테고리": "기타문화관광지"</a:t>
            </a:r>
          </a:p>
          <a:p>
            <a:r>
              <a:t>          },</a:t>
            </a:r>
          </a:p>
          <a:p>
            <a:r>
              <a:t>          {</a:t>
            </a:r>
          </a:p>
          <a:p>
            <a:r>
              <a:t>            "구분": "외지인",</a:t>
            </a:r>
          </a:p>
          <a:p>
            <a:r>
              <a:t>            "순위": "3",</a:t>
            </a:r>
          </a:p>
          <a:p>
            <a:r>
              <a:t>            "목적지명": "탈춤공원",</a:t>
            </a:r>
          </a:p>
          <a:p>
            <a:r>
              <a:t>            "도로명주소": "경북 안동시 육사로 239-0",</a:t>
            </a:r>
          </a:p>
          <a:p>
            <a:r>
              <a:t>            "카테고리": "도시공원"</a:t>
            </a:r>
          </a:p>
          <a:p>
            <a:r>
              <a:t>          }</a:t>
            </a:r>
          </a:p>
          <a:p>
            <a:r>
              <a:t>        ],</a:t>
            </a:r>
          </a:p>
          <a:p>
            <a:r>
              <a:t>        "destination_period": "다운로드 CSV에 연도 열 없음; 주변 검색 후보이며 제휴·실제 방문 증거 아님"</a:t>
            </a:r>
          </a:p>
          <a:p>
            <a:r>
              <a:t>      },</a:t>
            </a:r>
          </a:p>
          <a:p>
            <a:r>
              <a:t>      "retrieval_basis": {</a:t>
            </a:r>
          </a:p>
          <a:p>
            <a:r>
              <a:t>        "kind": "external_benchmark",</a:t>
            </a:r>
          </a:p>
          <a:p>
            <a:r>
              <a:t>        "score": 31,</a:t>
            </a:r>
          </a:p>
          <a:p>
            <a:r>
              <a:t>        "components": {</a:t>
            </a:r>
          </a:p>
          <a:p>
            <a:r>
              <a:t>          "방문 전망 조사: 외지인·일평균 동반 증가": 15,</a:t>
            </a:r>
          </a:p>
          <a:p>
            <a:r>
              <a:t>          "최근 개최연도": 6,</a:t>
            </a:r>
          </a:p>
          <a:p>
            <a:r>
              <a:t>          "방문 실적 비교 가능": 10</a:t>
            </a:r>
          </a:p>
          <a:p>
            <a:r>
              <a:t>        },</a:t>
            </a:r>
          </a:p>
          <a:p>
            <a:r>
              <a:t>        "theme": "공연·문화",</a:t>
            </a:r>
          </a:p>
          <a:p>
            <a:r>
              <a:t>        "priority_signal": "visit",</a:t>
            </a:r>
          </a:p>
          <a:p>
            <a:r>
              <a:t>        "rule": "함수 기반 조사 우선순위. 사업효과·인구/환경 유사도 점수가 아니며 소비·체류 개선은 조사 가설이다."</a:t>
            </a:r>
          </a:p>
          <a:p>
            <a:r>
              <a:t>      },</a:t>
            </a:r>
          </a:p>
          <a:p>
            <a:r>
              <a:t>      "source_files": [</a:t>
            </a:r>
          </a:p>
          <a:p>
            <a:r>
              <a:t>        {</a:t>
            </a:r>
          </a:p>
          <a:p>
            <a:r>
              <a:t>          "sha256": "28f418873eda5b37d320d3fef32c46bef172ca1cfea3861db2d5fc96a0b16f50",</a:t>
            </a:r>
          </a:p>
          <a:p>
            <a:r>
              <a:t>          "provider": "한국관광 데이터랩",</a:t>
            </a:r>
          </a:p>
          <a:p>
            <a:r>
              <a:t>          "file_name": "20260820175023_안동탈춤축제_연도별 방문자 추이.csv",</a:t>
            </a:r>
          </a:p>
          <a:p>
            <a:r>
              <a:t>          "source_id": "festival-file:28f418873eda5b37d320",</a:t>
            </a:r>
          </a:p>
          <a:p>
            <a:r>
              <a:t>          "source_url": "https://datalab.visitkorea.or.kr/",</a:t>
            </a:r>
          </a:p>
          <a:p>
            <a:r>
              <a:t>          "downloaded_at": "2026-08-20",</a:t>
            </a:r>
          </a:p>
          <a:p>
            <a:r>
              <a:t>          "relative_path": "data/source_snapshots/festivals_20260820/43. 안동탈춤축제_2023-2025/20260820175023_안동탈춤축제_연도별 방문자 추이.csv",</a:t>
            </a:r>
          </a:p>
          <a:p>
            <a:r>
              <a:t>          "provenance_status": "team_download_exact_query_url_unrecorded"</a:t>
            </a:r>
          </a:p>
          <a:p>
            <a:r>
              <a:t>        },</a:t>
            </a:r>
          </a:p>
          <a:p>
            <a:r>
              <a:t>        {</a:t>
            </a:r>
          </a:p>
          <a:p>
            <a:r>
              <a:t>          "sha256": "c0b34e003112bda1f5afa06dcb153cc870d61730036ef23f1b3e7aed39ca5458",</a:t>
            </a:r>
          </a:p>
          <a:p>
            <a:r>
              <a:t>          "provider": "한국관광 데이터랩",</a:t>
            </a:r>
          </a:p>
          <a:p>
            <a:r>
              <a:t>          "file_name": "20260820175023_안동탈춤축제_성_연령별 내국인 방문자.csv",</a:t>
            </a:r>
          </a:p>
          <a:p>
            <a:r>
              <a:t>          "source_id": "festival-file:c0b34e003112bda1f5af",</a:t>
            </a:r>
          </a:p>
          <a:p>
            <a:r>
              <a:t>          "source_url": "https://datalab.visitkorea.or.kr/",</a:t>
            </a:r>
          </a:p>
          <a:p>
            <a:r>
              <a:t>          "downloaded_at": "2026-08-20",</a:t>
            </a:r>
          </a:p>
          <a:p>
            <a:r>
              <a:t>          "relative_path": "data/source_snapshots/festivals_20260820/43. 안동탈춤축제_2023-2025/20260820175023_안동탈춤축제_성_연령별 내국인 방문자.csv",</a:t>
            </a:r>
          </a:p>
          <a:p>
            <a:r>
              <a:t>          "provenance_status": "team_download_exact_query_url_unrecorded"</a:t>
            </a:r>
          </a:p>
          <a:p>
            <a:r>
              <a:t>        },</a:t>
            </a:r>
          </a:p>
          <a:p>
            <a:r>
              <a:t>        {</a:t>
            </a:r>
          </a:p>
          <a:p>
            <a:r>
              <a:t>          "sha256": "40ddabd2e46fcb12bc9cc2361174e1a5ebe80f169611896b6d4b5e60d9fda352",</a:t>
            </a:r>
          </a:p>
          <a:p>
            <a:r>
              <a:t>          "provider": "한국관광 데이터랩",</a:t>
            </a:r>
          </a:p>
          <a:p>
            <a:r>
              <a:t>          "file_name": "20260820175023_안동탈춤축제_문화관광축제 주요 지표.csv",</a:t>
            </a:r>
          </a:p>
          <a:p>
            <a:r>
              <a:t>          "source_id": "festival-file:40ddabd2e46fcb12bc9c",</a:t>
            </a:r>
          </a:p>
          <a:p>
            <a:r>
              <a:t>          "source_url": "https://datalab.visitkorea.or.kr/",</a:t>
            </a:r>
          </a:p>
          <a:p>
            <a:r>
              <a:t>          "downloaded_at": "2026-08-20",</a:t>
            </a:r>
          </a:p>
          <a:p>
            <a:r>
              <a:t>          "relative_path": "data/source_snapshots/festivals_20260820/43. 안동탈춤축제_2023-2025/20260820175023_안동탈춤축제_문화관광축제 주요 지표.csv",</a:t>
            </a:r>
          </a:p>
          <a:p>
            <a:r>
              <a:t>          "provenance_status": "team_download_exact_query_url_unrecorded"</a:t>
            </a:r>
          </a:p>
          <a:p>
            <a:r>
              <a:t>        },</a:t>
            </a:r>
          </a:p>
          <a:p>
            <a:r>
              <a:t>        {</a:t>
            </a:r>
          </a:p>
          <a:p>
            <a:r>
              <a:t>          "sha256": "11de7e20288dde00f7f18e353a24b5a95c511a7dc354ec9cc2c7a3a2436712f6",</a:t>
            </a:r>
          </a:p>
          <a:p>
            <a:r>
              <a:t>          "provider": "한국관광 데이터랩",</a:t>
            </a:r>
          </a:p>
          <a:p>
            <a:r>
              <a:t>          "file_name": "20260820175023_안동탈춤축제_목적지 검색순위.csv",</a:t>
            </a:r>
          </a:p>
          <a:p>
            <a:r>
              <a:t>          "source_id": "festival-file:11de7e20288dde00f7f1",</a:t>
            </a:r>
          </a:p>
          <a:p>
            <a:r>
              <a:t>          "source_url": "https://datalab.visitkorea.or.kr/",</a:t>
            </a:r>
          </a:p>
          <a:p>
            <a:r>
              <a:t>          "downloaded_at": "2026-08-20",</a:t>
            </a:r>
          </a:p>
          <a:p>
            <a:r>
              <a:t>          "relative_path": "data/source_snapshots/festivals_20260820/43. 안동탈춤축제_2023-2025/20260820175023_안동탈춤축제_목적지 검색순위.csv",</a:t>
            </a:r>
          </a:p>
          <a:p>
            <a:r>
              <a:t>          "provenance_status": "team_download_exact_query_url_unrecorded"</a:t>
            </a:r>
          </a:p>
          <a:p>
            <a:r>
              <a:t>        }</a:t>
            </a:r>
          </a:p>
          <a:p>
            <a:r>
              <a:t>      ],</a:t>
            </a:r>
          </a:p>
          <a:p>
            <a:r>
              <a:t>      "dataset_hash": "ad20e3daf70fd44fd481d672398c07bb9c96fce77acb450784065a568735e2e2",</a:t>
            </a:r>
          </a:p>
          <a:p>
            <a:r>
              <a:t>      "measurement_period": "2024년과 2025년 각 축제 개최기간 비교",</a:t>
            </a:r>
          </a:p>
          <a:p>
            <a:r>
              <a:t>      "transfer_conditions": [</a:t>
            </a:r>
          </a:p>
          <a:p>
            <a:r>
              <a:t>        "서구에서는 10일 축제를 복제하기보다 3개월 중 주말 2~3회 등 준비 가능한 집중 회차로 축소할 수 있다.",</a:t>
            </a:r>
          </a:p>
          <a:p>
            <a:r>
              <a:t>        "기존 공공·민간 시설과 공연자원을 조합해 신규 시설비를 줄이되 장소·운영인력 확보 여부를 먼저 확인해야 한다.",</a:t>
            </a:r>
          </a:p>
          <a:p>
            <a:r>
              <a:t>        "사전예약 회차, 현장 체크인, 참여업소 결제를 연계해 축제 관측구역 방문자와 실제 사업 참여자를 구분해야 한다.",</a:t>
            </a:r>
          </a:p>
          <a:p>
            <a:r>
              <a:t>        "안동의 전통문화 정체성을 복제하지 말고 서구에서 실제 확보 가능한 문화·쇼핑·식음 콘텐츠로 주제를 다시 설계해야 한다."</a:t>
            </a:r>
          </a:p>
          <a:p>
            <a:r>
              <a:t>      ]</a:t>
            </a:r>
          </a:p>
          <a:p>
            <a:r>
              <a:t>    },</a:t>
            </a:r>
          </a:p>
          <a:p>
            <a:r>
              <a:t>    {</a:t>
            </a:r>
          </a:p>
          <a:p>
            <a:r>
              <a:t>      "source_id": "case:festival:01474ef75569b1",</a:t>
            </a:r>
          </a:p>
          <a:p>
            <a:r>
              <a:t>      "source_type": "benchmark_case",</a:t>
            </a:r>
          </a:p>
          <a:p>
            <a:r>
              <a:t>      "title": "한국관광 데이터랩 · 문경찻사발축제 방문자 추이",</a:t>
            </a:r>
          </a:p>
          <a:p>
            <a:r>
              <a:t>      "source_url": "https://datalab.visitkorea.or.kr/",</a:t>
            </a:r>
          </a:p>
          <a:p>
            <a:r>
              <a:t>      "published_or_updated_at": "2026-08-20",</a:t>
            </a:r>
          </a:p>
          <a:p>
            <a:r>
              <a:t>      "summary": "경상북도 문경시 · 문경찻사발축제 · 2024→2025년 전체 245,750→256,570명 (+4.40%). 개최 10→9일, 일평균 +16.00%, 외지인 +9.28%.",</a:t>
            </a:r>
          </a:p>
          <a:p>
            <a:r>
              <a:t>      "case_region": "경상북도 문경시",</a:t>
            </a:r>
          </a:p>
          <a:p>
            <a:r>
              <a:t>      "intervention": "문경찻사발축제",</a:t>
            </a:r>
          </a:p>
          <a:p>
            <a:r>
              <a:t>      "operating_model": "문경찻사발축제를 2025년 9일 개최한 문화관광축제 운영 사례. 세부 프로그램·예약·혜택은 이 CSV에 기록되어 있지 않으며 새로운 운영안은 제안으로 구분한다.",</a:t>
            </a:r>
          </a:p>
          <a:p>
            <a:r>
              <a:t>      "evidence_strength": "medium",</a:t>
            </a:r>
          </a:p>
          <a:p>
            <a:r>
              <a:t>      "quantitative_result_approved": true,</a:t>
            </a:r>
          </a:p>
          <a:p>
            <a:r>
              <a:t>      "document_type": "case_study",</a:t>
            </a:r>
          </a:p>
          <a:p>
            <a:r>
              <a:t>      "retrieval_method": "datalab_festival_table",</a:t>
            </a:r>
          </a:p>
          <a:p>
            <a:r>
              <a:t>      "retrieval_context": {</a:t>
            </a:r>
          </a:p>
          <a:p>
            <a:r>
              <a:t>        "scope": "cross_province",</a:t>
            </a:r>
          </a:p>
          <a:p>
            <a:r>
              <a:t>        "peer_region_code": null</a:t>
            </a:r>
          </a:p>
          <a:p>
            <a:r>
              <a:t>      },</a:t>
            </a:r>
          </a:p>
          <a:p>
            <a:r>
              <a:t>      "observed_result": "2024→2025년 전체 245,750→256,570명 (+4.40%). 개최 10→9일, 일평균 +16.00%, 외지인 +9.28%.",</a:t>
            </a:r>
          </a:p>
          <a:p>
            <a:r>
              <a:t>      "operating_statistics": [],</a:t>
            </a:r>
          </a:p>
          <a:p>
            <a:r>
              <a:t>      "evidence_kind": "festival_statistics",</a:t>
            </a:r>
          </a:p>
          <a:p>
            <a:r>
              <a:t>      "festival_statistics": {</a:t>
            </a:r>
          </a:p>
          <a:p>
            <a:r>
              <a:t>        "name": "문경찻사발축제",</a:t>
            </a:r>
          </a:p>
          <a:p>
            <a:r>
              <a:t>        "annual": [</a:t>
            </a:r>
          </a:p>
          <a:p>
            <a:r>
              <a:t>          {</a:t>
            </a:r>
          </a:p>
          <a:p>
            <a:r>
              <a:t>            "days": 9,</a:t>
            </a:r>
          </a:p>
          <a:p>
            <a:r>
              <a:t>            "year": 2023,</a:t>
            </a:r>
          </a:p>
          <a:p>
            <a:r>
              <a:t>            "daily": 23055.333333333332,</a:t>
            </a:r>
          </a:p>
          <a:p>
            <a:r>
              <a:t>            "local": 59726,</a:t>
            </a:r>
          </a:p>
          <a:p>
            <a:r>
              <a:t>            "total": 207498,</a:t>
            </a:r>
          </a:p>
          <a:p>
            <a:r>
              <a:t>            "foreign": 1241,</a:t>
            </a:r>
          </a:p>
          <a:p>
            <a:r>
              <a:t>            "outside": 146531,</a:t>
            </a:r>
          </a:p>
          <a:p>
            <a:r>
              <a:t>            "outside_daily": 16281.222222222224,</a:t>
            </a:r>
          </a:p>
          <a:p>
            <a:r>
              <a:t>            "outside_share_pct": 70.61803005330172</a:t>
            </a:r>
          </a:p>
          <a:p>
            <a:r>
              <a:t>          },</a:t>
            </a:r>
          </a:p>
          <a:p>
            <a:r>
              <a:t>          {</a:t>
            </a:r>
          </a:p>
          <a:p>
            <a:r>
              <a:t>            "days": 10,</a:t>
            </a:r>
          </a:p>
          <a:p>
            <a:r>
              <a:t>            "year": 2024,</a:t>
            </a:r>
          </a:p>
          <a:p>
            <a:r>
              <a:t>            "daily": 24575,</a:t>
            </a:r>
          </a:p>
          <a:p>
            <a:r>
              <a:t>            "local": 64582,</a:t>
            </a:r>
          </a:p>
          <a:p>
            <a:r>
              <a:t>            "total": 245750,</a:t>
            </a:r>
          </a:p>
          <a:p>
            <a:r>
              <a:t>            "foreign": 1170,</a:t>
            </a:r>
          </a:p>
          <a:p>
            <a:r>
              <a:t>            "outside": 179998,</a:t>
            </a:r>
          </a:p>
          <a:p>
            <a:r>
              <a:t>            "outside_daily": 17999.8,</a:t>
            </a:r>
          </a:p>
          <a:p>
            <a:r>
              <a:t>            "outside_share_pct": 73.2443540183113</a:t>
            </a:r>
          </a:p>
          <a:p>
            <a:r>
              <a:t>          },</a:t>
            </a:r>
          </a:p>
          <a:p>
            <a:r>
              <a:t>          {</a:t>
            </a:r>
          </a:p>
          <a:p>
            <a:r>
              <a:t>            "days": 9,</a:t>
            </a:r>
          </a:p>
          <a:p>
            <a:r>
              <a:t>            "year": 2025,</a:t>
            </a:r>
          </a:p>
          <a:p>
            <a:r>
              <a:t>            "daily": 28507.777777777777,</a:t>
            </a:r>
          </a:p>
          <a:p>
            <a:r>
              <a:t>            "local": 58704,</a:t>
            </a:r>
          </a:p>
          <a:p>
            <a:r>
              <a:t>            "total": 256570,</a:t>
            </a:r>
          </a:p>
          <a:p>
            <a:r>
              <a:t>            "foreign": 1166,</a:t>
            </a:r>
          </a:p>
          <a:p>
            <a:r>
              <a:t>            "outside": 196700,</a:t>
            </a:r>
          </a:p>
          <a:p>
            <a:r>
              <a:t>            "outside_daily": 21855.555555555555,</a:t>
            </a:r>
          </a:p>
          <a:p>
            <a:r>
              <a:t>            "outside_share_pct": 76.66523755700199</a:t>
            </a:r>
          </a:p>
          <a:p>
            <a:r>
              <a:t>          }</a:t>
            </a:r>
          </a:p>
          <a:p>
            <a:r>
              <a:t>        ],</a:t>
            </a:r>
          </a:p>
          <a:p>
            <a:r>
              <a:t>        "comparison": {</a:t>
            </a:r>
          </a:p>
          <a:p>
            <a:r>
              <a:t>          "daily": {</a:t>
            </a:r>
          </a:p>
          <a:p>
            <a:r>
              <a:t>            "after": 28507.777777777777,</a:t>
            </a:r>
          </a:p>
          <a:p>
            <a:r>
              <a:t>            "before": 24575,</a:t>
            </a:r>
          </a:p>
          <a:p>
            <a:r>
              <a:t>            "change_pct": 16.00316491466034,</a:t>
            </a:r>
          </a:p>
          <a:p>
            <a:r>
              <a:t>            "difference": 3932.7777777777774</a:t>
            </a:r>
          </a:p>
          <a:p>
            <a:r>
              <a:t>          },</a:t>
            </a:r>
          </a:p>
          <a:p>
            <a:r>
              <a:t>          "total": {</a:t>
            </a:r>
          </a:p>
          <a:p>
            <a:r>
              <a:t>            "after": 256570,</a:t>
            </a:r>
          </a:p>
          <a:p>
            <a:r>
              <a:t>            "before": 245750,</a:t>
            </a:r>
          </a:p>
          <a:p>
            <a:r>
              <a:t>            "change_pct": 4.402848423194294,</a:t>
            </a:r>
          </a:p>
          <a:p>
            <a:r>
              <a:t>            "difference": 10820</a:t>
            </a:r>
          </a:p>
          <a:p>
            <a:r>
              <a:t>          },</a:t>
            </a:r>
          </a:p>
          <a:p>
            <a:r>
              <a:t>          "outside": {</a:t>
            </a:r>
          </a:p>
          <a:p>
            <a:r>
              <a:t>            "after": 196700,</a:t>
            </a:r>
          </a:p>
          <a:p>
            <a:r>
              <a:t>            "before": 179998,</a:t>
            </a:r>
          </a:p>
          <a:p>
            <a:r>
              <a:t>            "change_pct": 9.278991988799866,</a:t>
            </a:r>
          </a:p>
          <a:p>
            <a:r>
              <a:t>            "difference": 16702</a:t>
            </a:r>
          </a:p>
          <a:p>
            <a:r>
              <a:t>          },</a:t>
            </a:r>
          </a:p>
          <a:p>
            <a:r>
              <a:t>          "after_days": 9,</a:t>
            </a:r>
          </a:p>
          <a:p>
            <a:r>
              <a:t>          "after_year": 2025,</a:t>
            </a:r>
          </a:p>
          <a:p>
            <a:r>
              <a:t>          "before_days": 10,</a:t>
            </a:r>
          </a:p>
          <a:p>
            <a:r>
              <a:t>          "before_year": 2024,</a:t>
            </a:r>
          </a:p>
          <a:p>
            <a:r>
              <a:t>          "outside_daily": {</a:t>
            </a:r>
          </a:p>
          <a:p>
            <a:r>
              <a:t>            "after": 21855.555555555555,</a:t>
            </a:r>
          </a:p>
          <a:p>
            <a:r>
              <a:t>            "before": 17999.8,</a:t>
            </a:r>
          </a:p>
          <a:p>
            <a:r>
              <a:t>            "change_pct": 21.421102209777644,</a:t>
            </a:r>
          </a:p>
          <a:p>
            <a:r>
              <a:t>            "difference": 3855.755555555555</a:t>
            </a:r>
          </a:p>
          <a:p>
            <a:r>
              <a:t>          }</a:t>
            </a:r>
          </a:p>
          <a:p>
            <a:r>
              <a:t>        },</a:t>
            </a:r>
          </a:p>
          <a:p>
            <a:r>
              <a:t>        "scope": "축제 관측구역 방문 지표. 도시 전체·순증 관광객·입장권 실구매자 수가 아님.",</a:t>
            </a:r>
          </a:p>
          <a:p>
            <a:r>
              <a:t>        "region_basis": "목적지 검색 CSV의 시도+시군구 최빈 주소; 행사장 행정경계 확정은 아님",</a:t>
            </a:r>
          </a:p>
          <a:p>
            <a:r>
              <a:t>        "source_file": {</a:t>
            </a:r>
          </a:p>
          <a:p>
            <a:r>
              <a:t>          "sha256": "dfcb5b619f820d7ce4451f5e89294681bc37f49f8200ba859754d423602e51a1",</a:t>
            </a:r>
          </a:p>
          <a:p>
            <a:r>
              <a:t>          "provider": "한국관광 데이터랩",</a:t>
            </a:r>
          </a:p>
          <a:p>
            <a:r>
              <a:t>          "file_name": "20260820160334_문경찻사발축제_연도별 방문자 추이.csv",</a:t>
            </a:r>
          </a:p>
          <a:p>
            <a:r>
              <a:t>          "source_id": "festival-file:dfcb5b619f820d7ce445",</a:t>
            </a:r>
          </a:p>
          <a:p>
            <a:r>
              <a:t>          "source_url": "https://datalab.visitkorea.or.kr/",</a:t>
            </a:r>
          </a:p>
          <a:p>
            <a:r>
              <a:t>          "downloaded_at": "2026-08-20",</a:t>
            </a:r>
          </a:p>
          <a:p>
            <a:r>
              <a:t>          "relative_path": "data/source_snapshots/festivals_20260820/25. 문경찻사발축제_2023-2025/20260820160334_문경찻사발축제_연도별 방문자 추이.csv",</a:t>
            </a:r>
          </a:p>
          <a:p>
            <a:r>
              <a:t>          "provenance_status": "team_download_exact_query_url_unrecorded"</a:t>
            </a:r>
          </a:p>
          <a:p>
            <a:r>
              <a:t>        },</a:t>
            </a:r>
          </a:p>
          <a:p>
            <a:r>
              <a:t>        "indicator_values": [</a:t>
            </a:r>
          </a:p>
          <a:p>
            <a:r>
              <a:t>          {</a:t>
            </a:r>
          </a:p>
          <a:p>
            <a:r>
              <a:t>            "구분명": "외부방문자 유입",</a:t>
            </a:r>
          </a:p>
          <a:p>
            <a:r>
              <a:t>            "그룹명": "축제기간",</a:t>
            </a:r>
          </a:p>
          <a:p>
            <a:r>
              <a:t>            "지표값": "0.414",</a:t>
            </a:r>
          </a:p>
          <a:p>
            <a:r>
              <a:t>            "축제명": "문경찻사발축제",</a:t>
            </a:r>
          </a:p>
          <a:p>
            <a:r>
              <a:t>            "개최년도": "2025"</a:t>
            </a:r>
          </a:p>
          <a:p>
            <a:r>
              <a:t>          },</a:t>
            </a:r>
          </a:p>
          <a:p>
            <a:r>
              <a:t>          {</a:t>
            </a:r>
          </a:p>
          <a:p>
            <a:r>
              <a:t>            "구분명": "현지인방문자 유입",</a:t>
            </a:r>
          </a:p>
          <a:p>
            <a:r>
              <a:t>            "그룹명": "축제기간",</a:t>
            </a:r>
          </a:p>
          <a:p>
            <a:r>
              <a:t>            "지표값": "0.86",</a:t>
            </a:r>
          </a:p>
          <a:p>
            <a:r>
              <a:t>            "축제명": "문경찻사발축제",</a:t>
            </a:r>
          </a:p>
          <a:p>
            <a:r>
              <a:t>            "개최년도": "2025"</a:t>
            </a:r>
          </a:p>
          <a:p>
            <a:r>
              <a:t>          },</a:t>
            </a:r>
          </a:p>
          <a:p>
            <a:r>
              <a:t>          {</a:t>
            </a:r>
          </a:p>
          <a:p>
            <a:r>
              <a:t>            "구분명": "내비게이션 검색량",</a:t>
            </a:r>
          </a:p>
          <a:p>
            <a:r>
              <a:t>            "그룹명": "축제기간",</a:t>
            </a:r>
          </a:p>
          <a:p>
            <a:r>
              <a:t>            "지표값": "0.273",</a:t>
            </a:r>
          </a:p>
          <a:p>
            <a:r>
              <a:t>            "축제명": "문경찻사발축제",</a:t>
            </a:r>
          </a:p>
          <a:p>
            <a:r>
              <a:t>            "개최년도": "2025"</a:t>
            </a:r>
          </a:p>
          <a:p>
            <a:r>
              <a:t>          },</a:t>
            </a:r>
          </a:p>
          <a:p>
            <a:r>
              <a:t>          {</a:t>
            </a:r>
          </a:p>
          <a:p>
            <a:r>
              <a:t>            "구분명": "관광소비",</a:t>
            </a:r>
          </a:p>
          <a:p>
            <a:r>
              <a:t>            "그룹명": "축제기간",</a:t>
            </a:r>
          </a:p>
          <a:p>
            <a:r>
              <a:t>            "지표값": "0.536",</a:t>
            </a:r>
          </a:p>
          <a:p>
            <a:r>
              <a:t>            "축제명": "문경찻사발축제",</a:t>
            </a:r>
          </a:p>
          <a:p>
            <a:r>
              <a:t>            "개최년도": "2025"</a:t>
            </a:r>
          </a:p>
          <a:p>
            <a:r>
              <a:t>          },</a:t>
            </a:r>
          </a:p>
          <a:p>
            <a:r>
              <a:t>          {</a:t>
            </a:r>
          </a:p>
          <a:p>
            <a:r>
              <a:t>            "구분명": "축제지 집중률",</a:t>
            </a:r>
          </a:p>
          <a:p>
            <a:r>
              <a:t>            "그룹명": "축제기간",</a:t>
            </a:r>
          </a:p>
          <a:p>
            <a:r>
              <a:t>            "지표값": "0.716",</a:t>
            </a:r>
          </a:p>
          <a:p>
            <a:r>
              <a:t>            "축제명": "문경찻사발축제",</a:t>
            </a:r>
          </a:p>
          <a:p>
            <a:r>
              <a:t>            "개최년도": "2025"</a:t>
            </a:r>
          </a:p>
          <a:p>
            <a:r>
              <a:t>          },</a:t>
            </a:r>
          </a:p>
          <a:p>
            <a:r>
              <a:t>          {</a:t>
            </a:r>
          </a:p>
          <a:p>
            <a:r>
              <a:t>            "구분명": "외부방문자 유입",</a:t>
            </a:r>
          </a:p>
          <a:p>
            <a:r>
              <a:t>            "그룹명": "비축제기간",</a:t>
            </a:r>
          </a:p>
          <a:p>
            <a:r>
              <a:t>            "지표값": "0.217",</a:t>
            </a:r>
          </a:p>
          <a:p>
            <a:r>
              <a:t>            "축제명": "문경찻사발축제",</a:t>
            </a:r>
          </a:p>
          <a:p>
            <a:r>
              <a:t>            "개최년도": "2025"</a:t>
            </a:r>
          </a:p>
          <a:p>
            <a:r>
              <a:t>          },</a:t>
            </a:r>
          </a:p>
          <a:p>
            <a:r>
              <a:t>          {</a:t>
            </a:r>
          </a:p>
          <a:p>
            <a:r>
              <a:t>            "구분명": "현지인방문자 유입",</a:t>
            </a:r>
          </a:p>
          <a:p>
            <a:r>
              <a:t>            "그룹명": "비축제기간",</a:t>
            </a:r>
          </a:p>
          <a:p>
            <a:r>
              <a:t>            "지표값": "0.725",</a:t>
            </a:r>
          </a:p>
          <a:p>
            <a:r>
              <a:t>            "축제명": "문경찻사발축제",</a:t>
            </a:r>
          </a:p>
          <a:p>
            <a:r>
              <a:t>            "개최년도": "2025"</a:t>
            </a:r>
          </a:p>
          <a:p>
            <a:r>
              <a:t>          },</a:t>
            </a:r>
          </a:p>
          <a:p>
            <a:r>
              <a:t>          {</a:t>
            </a:r>
          </a:p>
          <a:p>
            <a:r>
              <a:t>            "구분명": "내비게이션 검색량",</a:t>
            </a:r>
          </a:p>
          <a:p>
            <a:r>
              <a:t>            "그룹명": "비축제기간",</a:t>
            </a:r>
          </a:p>
          <a:p>
            <a:r>
              <a:t>            "지표값": "0.148",</a:t>
            </a:r>
          </a:p>
          <a:p>
            <a:r>
              <a:t>            "축제명": "문경찻사발축제",</a:t>
            </a:r>
          </a:p>
          <a:p>
            <a:r>
              <a:t>            "개최년도": "2025"</a:t>
            </a:r>
          </a:p>
          <a:p>
            <a:r>
              <a:t>          },</a:t>
            </a:r>
          </a:p>
          <a:p>
            <a:r>
              <a:t>          {</a:t>
            </a:r>
          </a:p>
          <a:p>
            <a:r>
              <a:t>            "구분명": "관광소비",</a:t>
            </a:r>
          </a:p>
          <a:p>
            <a:r>
              <a:t>            "그룹명": "비축제기간",</a:t>
            </a:r>
          </a:p>
          <a:p>
            <a:r>
              <a:t>            "지표값": "0.381",</a:t>
            </a:r>
          </a:p>
          <a:p>
            <a:r>
              <a:t>            "축제명": "문경찻사발축제",</a:t>
            </a:r>
          </a:p>
          <a:p>
            <a:r>
              <a:t>            "개최년도": "2025"</a:t>
            </a:r>
          </a:p>
          <a:p>
            <a:r>
              <a:t>          },</a:t>
            </a:r>
          </a:p>
          <a:p>
            <a:r>
              <a:t>          {</a:t>
            </a:r>
          </a:p>
          <a:p>
            <a:r>
              <a:t>            "구분명": "축제지 집중률",</a:t>
            </a:r>
          </a:p>
          <a:p>
            <a:r>
              <a:t>            "그룹명": "비축제기간",</a:t>
            </a:r>
          </a:p>
          <a:p>
            <a:r>
              <a:t>            "지표값": "0.607",</a:t>
            </a:r>
          </a:p>
          <a:p>
            <a:r>
              <a:t>            "축제명": "문경찻사발축제",</a:t>
            </a:r>
          </a:p>
          <a:p>
            <a:r>
              <a:t>            "개최년도": "2025"</a:t>
            </a:r>
          </a:p>
          <a:p>
            <a:r>
              <a:t>          }</a:t>
            </a:r>
          </a:p>
          <a:p>
            <a:r>
              <a:t>        ],</a:t>
            </a:r>
          </a:p>
          <a:p>
            <a:r>
              <a:t>        "indicator_rule": "원본 지표값만 보존. 산식·단위 미확인으로 성장률/원화/정원/참여율 변환 금지.",</a:t>
            </a:r>
          </a:p>
          <a:p>
            <a:r>
              <a:t>        "audience": [</a:t>
            </a:r>
          </a:p>
          <a:p>
            <a:r>
              <a:t>          {</a:t>
            </a:r>
          </a:p>
          <a:p>
            <a:r>
              <a:t>            "연령대": "70세 이상",</a:t>
            </a:r>
          </a:p>
          <a:p>
            <a:r>
              <a:t>            "축제명": "문경찻사발축제",</a:t>
            </a:r>
          </a:p>
          <a:p>
            <a:r>
              <a:t>            "남성비율": "4.0",</a:t>
            </a:r>
          </a:p>
          <a:p>
            <a:r>
              <a:t>            "여성비율": "3.8"</a:t>
            </a:r>
          </a:p>
          <a:p>
            <a:r>
              <a:t>          },</a:t>
            </a:r>
          </a:p>
          <a:p>
            <a:r>
              <a:t>          {</a:t>
            </a:r>
          </a:p>
          <a:p>
            <a:r>
              <a:t>            "연령대": "60~69세",</a:t>
            </a:r>
          </a:p>
          <a:p>
            <a:r>
              <a:t>            "축제명": "문경찻사발축제",</a:t>
            </a:r>
          </a:p>
          <a:p>
            <a:r>
              <a:t>            "남성비율": "12.3",</a:t>
            </a:r>
          </a:p>
          <a:p>
            <a:r>
              <a:t>            "여성비율": "10.0"</a:t>
            </a:r>
          </a:p>
          <a:p>
            <a:r>
              <a:t>          },</a:t>
            </a:r>
          </a:p>
          <a:p>
            <a:r>
              <a:t>          {</a:t>
            </a:r>
          </a:p>
          <a:p>
            <a:r>
              <a:t>            "연령대": "50~59세",</a:t>
            </a:r>
          </a:p>
          <a:p>
            <a:r>
              <a:t>            "축제명": "문경찻사발축제",</a:t>
            </a:r>
          </a:p>
          <a:p>
            <a:r>
              <a:t>            "남성비율": "13.0",</a:t>
            </a:r>
          </a:p>
          <a:p>
            <a:r>
              <a:t>            "여성비율": "11.7"</a:t>
            </a:r>
          </a:p>
          <a:p>
            <a:r>
              <a:t>          },</a:t>
            </a:r>
          </a:p>
          <a:p>
            <a:r>
              <a:t>          {</a:t>
            </a:r>
          </a:p>
          <a:p>
            <a:r>
              <a:t>            "연령대": "40~49세",</a:t>
            </a:r>
          </a:p>
          <a:p>
            <a:r>
              <a:t>            "축제명": "문경찻사발축제",</a:t>
            </a:r>
          </a:p>
          <a:p>
            <a:r>
              <a:t>            "남성비율": "9.3",</a:t>
            </a:r>
          </a:p>
          <a:p>
            <a:r>
              <a:t>            "여성비율": "7.6"</a:t>
            </a:r>
          </a:p>
          <a:p>
            <a:r>
              <a:t>          },</a:t>
            </a:r>
          </a:p>
          <a:p>
            <a:r>
              <a:t>          {</a:t>
            </a:r>
          </a:p>
          <a:p>
            <a:r>
              <a:t>            "연령대": "30~39세",</a:t>
            </a:r>
          </a:p>
          <a:p>
            <a:r>
              <a:t>            "축제명": "문경찻사발축제",</a:t>
            </a:r>
          </a:p>
          <a:p>
            <a:r>
              <a:t>            "남성비율": "7.2",</a:t>
            </a:r>
          </a:p>
          <a:p>
            <a:r>
              <a:t>            "여성비율": "6.1"</a:t>
            </a:r>
          </a:p>
          <a:p>
            <a:r>
              <a:t>          },</a:t>
            </a:r>
          </a:p>
          <a:p>
            <a:r>
              <a:t>          {</a:t>
            </a:r>
          </a:p>
          <a:p>
            <a:r>
              <a:t>            "연령대": "20~29세",</a:t>
            </a:r>
          </a:p>
          <a:p>
            <a:r>
              <a:t>            "축제명": "문경찻사발축제",</a:t>
            </a:r>
          </a:p>
          <a:p>
            <a:r>
              <a:t>            "남성비율": "4.6",</a:t>
            </a:r>
          </a:p>
          <a:p>
            <a:r>
              <a:t>            "여성비율": "4.1"</a:t>
            </a:r>
          </a:p>
          <a:p>
            <a:r>
              <a:t>          },</a:t>
            </a:r>
          </a:p>
          <a:p>
            <a:r>
              <a:t>          {</a:t>
            </a:r>
          </a:p>
          <a:p>
            <a:r>
              <a:t>            "연령대": "10~19세",</a:t>
            </a:r>
          </a:p>
          <a:p>
            <a:r>
              <a:t>            "축제명": "문경찻사발축제",</a:t>
            </a:r>
          </a:p>
          <a:p>
            <a:r>
              <a:t>            "남성비율": "2.5",</a:t>
            </a:r>
          </a:p>
          <a:p>
            <a:r>
              <a:t>            "여성비율": "2.5"</a:t>
            </a:r>
          </a:p>
          <a:p>
            <a:r>
              <a:t>          },</a:t>
            </a:r>
          </a:p>
          <a:p>
            <a:r>
              <a:t>          {</a:t>
            </a:r>
          </a:p>
          <a:p>
            <a:r>
              <a:t>            "연령대": "0~9세",</a:t>
            </a:r>
          </a:p>
          <a:p>
            <a:r>
              <a:t>            "축제명": "문경찻사발축제",</a:t>
            </a:r>
          </a:p>
          <a:p>
            <a:r>
              <a:t>            "남성비율": "0.6",</a:t>
            </a:r>
          </a:p>
          <a:p>
            <a:r>
              <a:t>            "여성비율": "0.6"</a:t>
            </a:r>
          </a:p>
          <a:p>
            <a:r>
              <a:t>          }</a:t>
            </a:r>
          </a:p>
          <a:p>
            <a:r>
              <a:t>        ],</a:t>
            </a:r>
          </a:p>
          <a:p>
            <a:r>
              <a:t>        "audience_period": "다운로드 CSV에 연도 열 없음; 최신 개최연도와 자동 결합하지 않음",</a:t>
            </a:r>
          </a:p>
          <a:p>
            <a:r>
              <a:t>        "destination_examples": [</a:t>
            </a:r>
          </a:p>
          <a:p>
            <a:r>
              <a:t>          {</a:t>
            </a:r>
          </a:p>
          <a:p>
            <a:r>
              <a:t>            "구분": "외지인",</a:t>
            </a:r>
          </a:p>
          <a:p>
            <a:r>
              <a:t>            "순위": "1",</a:t>
            </a:r>
          </a:p>
          <a:p>
            <a:r>
              <a:t>            "목적지명": "문경새재",</a:t>
            </a:r>
          </a:p>
          <a:p>
            <a:r>
              <a:t>            "도로명주소": "경북 문경시 새재로 932-0",</a:t>
            </a:r>
          </a:p>
          <a:p>
            <a:r>
              <a:t>            "카테고리": "역사유적지"</a:t>
            </a:r>
          </a:p>
          <a:p>
            <a:r>
              <a:t>          },</a:t>
            </a:r>
          </a:p>
          <a:p>
            <a:r>
              <a:t>          {</a:t>
            </a:r>
          </a:p>
          <a:p>
            <a:r>
              <a:t>            "구분": "외지인",</a:t>
            </a:r>
          </a:p>
          <a:p>
            <a:r>
              <a:t>            "순위": "2",</a:t>
            </a:r>
          </a:p>
          <a:p>
            <a:r>
              <a:t>            "목적지명": "문경종합온천",</a:t>
            </a:r>
          </a:p>
          <a:p>
            <a:r>
              <a:t>            "도로명주소": "경북 문경시 온천2길 24-0",</a:t>
            </a:r>
          </a:p>
          <a:p>
            <a:r>
              <a:t>            "카테고리": "웰니스관광"</a:t>
            </a:r>
          </a:p>
          <a:p>
            <a:r>
              <a:t>          },</a:t>
            </a:r>
          </a:p>
          <a:p>
            <a:r>
              <a:t>          {</a:t>
            </a:r>
          </a:p>
          <a:p>
            <a:r>
              <a:t>            "구분": "외지인",</a:t>
            </a:r>
          </a:p>
          <a:p>
            <a:r>
              <a:t>            "순위": "3",</a:t>
            </a:r>
          </a:p>
          <a:p>
            <a:r>
              <a:t>            "목적지명": "문경찻사발축제",</a:t>
            </a:r>
          </a:p>
          <a:p>
            <a:r>
              <a:t>            "도로명주소": "경북 문경시 새재로 933-0",</a:t>
            </a:r>
          </a:p>
          <a:p>
            <a:r>
              <a:t>            "카테고리": "기타문화관광지"</a:t>
            </a:r>
          </a:p>
          <a:p>
            <a:r>
              <a:t>          }</a:t>
            </a:r>
          </a:p>
          <a:p>
            <a:r>
              <a:t>        ],</a:t>
            </a:r>
          </a:p>
          <a:p>
            <a:r>
              <a:t>        "destination_period": "다운로드 CSV에 연도 열 없음; 주변 검색 후보이며 제휴·실제 방문 증거 아님"</a:t>
            </a:r>
          </a:p>
          <a:p>
            <a:r>
              <a:t>      },</a:t>
            </a:r>
          </a:p>
          <a:p>
            <a:r>
              <a:t>      "retrieval_basis": {</a:t>
            </a:r>
          </a:p>
          <a:p>
            <a:r>
              <a:t>        "kind": "external_benchmark",</a:t>
            </a:r>
          </a:p>
          <a:p>
            <a:r>
              <a:t>        "score": 31,</a:t>
            </a:r>
          </a:p>
          <a:p>
            <a:r>
              <a:t>        "components": {</a:t>
            </a:r>
          </a:p>
          <a:p>
            <a:r>
              <a:t>          "방문 전망 조사: 외지인·일평균 동반 증가": 15,</a:t>
            </a:r>
          </a:p>
          <a:p>
            <a:r>
              <a:t>          "최근 개최연도": 6,</a:t>
            </a:r>
          </a:p>
          <a:p>
            <a:r>
              <a:t>          "방문 실적 비교 가능": 10</a:t>
            </a:r>
          </a:p>
          <a:p>
            <a:r>
              <a:t>        },</a:t>
            </a:r>
          </a:p>
          <a:p>
            <a:r>
              <a:t>        "theme": "역사·공예",</a:t>
            </a:r>
          </a:p>
          <a:p>
            <a:r>
              <a:t>        "priority_signal": "visit",</a:t>
            </a:r>
          </a:p>
          <a:p>
            <a:r>
              <a:t>        "rule": "함수 기반 조사 우선순위. 사업효과·인구/환경 유사도 점수가 아니며 소비·체류 개선은 조사 가설이다."</a:t>
            </a:r>
          </a:p>
          <a:p>
            <a:r>
              <a:t>      },</a:t>
            </a:r>
          </a:p>
          <a:p>
            <a:r>
              <a:t>      "source_files": [</a:t>
            </a:r>
          </a:p>
          <a:p>
            <a:r>
              <a:t>        {</a:t>
            </a:r>
          </a:p>
          <a:p>
            <a:r>
              <a:t>          "sha256": "dfcb5b619f820d7ce4451f5e89294681bc37f49f8200ba859754d423602e51a1",</a:t>
            </a:r>
          </a:p>
          <a:p>
            <a:r>
              <a:t>          "provider": "한국관광 데이터랩",</a:t>
            </a:r>
          </a:p>
          <a:p>
            <a:r>
              <a:t>          "file_name": "20260820160334_문경찻사발축제_연도별 방문자 추이.csv",</a:t>
            </a:r>
          </a:p>
          <a:p>
            <a:r>
              <a:t>          "source_id": "festival-file:dfcb5b619f820d7ce445",</a:t>
            </a:r>
          </a:p>
          <a:p>
            <a:r>
              <a:t>          "source_url": "https://datalab.visitkorea.or.kr/",</a:t>
            </a:r>
          </a:p>
          <a:p>
            <a:r>
              <a:t>          "downloaded_at": "2026-08-20",</a:t>
            </a:r>
          </a:p>
          <a:p>
            <a:r>
              <a:t>          "relative_path": "data/source_snapshots/festivals_20260820/25. 문경찻사발축제_2023-2025/20260820160334_문경찻사발축제_연도별 방문자 추이.csv",</a:t>
            </a:r>
          </a:p>
          <a:p>
            <a:r>
              <a:t>          "provenance_status": "team_download_exact_query_url_unrecorded"</a:t>
            </a:r>
          </a:p>
          <a:p>
            <a:r>
              <a:t>        },</a:t>
            </a:r>
          </a:p>
          <a:p>
            <a:r>
              <a:t>        {</a:t>
            </a:r>
          </a:p>
          <a:p>
            <a:r>
              <a:t>          "sha256": "44238aecdfa68974febce93cd262e119492da76910929b96da438d8b6ee7a9b3",</a:t>
            </a:r>
          </a:p>
          <a:p>
            <a:r>
              <a:t>          "provider": "한국관광 데이터랩",</a:t>
            </a:r>
          </a:p>
          <a:p>
            <a:r>
              <a:t>          "file_name": "20260820160334_문경찻사발축제_성_연령별 내국인 방문자.csv",</a:t>
            </a:r>
          </a:p>
          <a:p>
            <a:r>
              <a:t>          "source_id": "festival-file:44238aecdfa68974febc",</a:t>
            </a:r>
          </a:p>
          <a:p>
            <a:r>
              <a:t>          "source_url": "https://datalab.visitkorea.or.kr/",</a:t>
            </a:r>
          </a:p>
          <a:p>
            <a:r>
              <a:t>          "downloaded_at": "2026-08-20",</a:t>
            </a:r>
          </a:p>
          <a:p>
            <a:r>
              <a:t>          "relative_path": "data/source_snapshots/festivals_20260820/25. 문경찻사발축제_2023-2025/20260820160334_문경찻사발축제_성_연령별 내국인 방문자.csv",</a:t>
            </a:r>
          </a:p>
          <a:p>
            <a:r>
              <a:t>          "provenance_status": "team_download_exact_query_url_unrecorded"</a:t>
            </a:r>
          </a:p>
          <a:p>
            <a:r>
              <a:t>        },</a:t>
            </a:r>
          </a:p>
          <a:p>
            <a:r>
              <a:t>        {</a:t>
            </a:r>
          </a:p>
          <a:p>
            <a:r>
              <a:t>          "sha256": "eadf4622620ddb1575df5f358ec588aeed8718c09e0998a19494cf0f3cfe0f16",</a:t>
            </a:r>
          </a:p>
          <a:p>
            <a:r>
              <a:t>          "provider": "한국관광 데이터랩",</a:t>
            </a:r>
          </a:p>
          <a:p>
            <a:r>
              <a:t>          "file_name": "20260820160334_문경찻사발축제_문화관광축제 주요 지표.csv",</a:t>
            </a:r>
          </a:p>
          <a:p>
            <a:r>
              <a:t>          "source_id": "festival-file:eadf4622620ddb1575df",</a:t>
            </a:r>
          </a:p>
          <a:p>
            <a:r>
              <a:t>          "source_url": "https://datalab.visitkorea.or.kr/",</a:t>
            </a:r>
          </a:p>
          <a:p>
            <a:r>
              <a:t>          "downloaded_at": "2026-08-20",</a:t>
            </a:r>
          </a:p>
          <a:p>
            <a:r>
              <a:t>          "relative_path": "data/source_snapshots/festivals_20260820/25. 문경찻사발축제_2023-2025/20260820160334_문경찻사발축제_문화관광축제 주요 지표.csv",</a:t>
            </a:r>
          </a:p>
          <a:p>
            <a:r>
              <a:t>          "provenance_status": "team_download_exact_query_url_unrecorded"</a:t>
            </a:r>
          </a:p>
          <a:p>
            <a:r>
              <a:t>        },</a:t>
            </a:r>
          </a:p>
          <a:p>
            <a:r>
              <a:t>        {</a:t>
            </a:r>
          </a:p>
          <a:p>
            <a:r>
              <a:t>          "sha256": "343671c431cfa7e76ba333ca2ea221803e111e0db5e9a51c6d387b0ba5d7eeaf",</a:t>
            </a:r>
          </a:p>
          <a:p>
            <a:r>
              <a:t>          "provider": "한국관광 데이터랩",</a:t>
            </a:r>
          </a:p>
          <a:p>
            <a:r>
              <a:t>          "file_name": "20260820160334_문경찻사발축제_목적지 검색순위.csv",</a:t>
            </a:r>
          </a:p>
          <a:p>
            <a:r>
              <a:t>          "source_id": "festival-file:343671c431cfa7e76ba3",</a:t>
            </a:r>
          </a:p>
          <a:p>
            <a:r>
              <a:t>          "source_url": "https://datalab.visitkorea.or.kr/",</a:t>
            </a:r>
          </a:p>
          <a:p>
            <a:r>
              <a:t>          "downloaded_at": "2026-08-20",</a:t>
            </a:r>
          </a:p>
          <a:p>
            <a:r>
              <a:t>          "relative_path": "data/source_snapshots/festivals_20260820/25. 문경찻사발축제_2023-2025/20260820160334_문경찻사발축제_목적지 검색순위.csv",</a:t>
            </a:r>
          </a:p>
          <a:p>
            <a:r>
              <a:t>          "provenance_status": "team_download_exact_query_url_unrecorded"</a:t>
            </a:r>
          </a:p>
          <a:p>
            <a:r>
              <a:t>        }</a:t>
            </a:r>
          </a:p>
          <a:p>
            <a:r>
              <a:t>      ],</a:t>
            </a:r>
          </a:p>
          <a:p>
            <a:r>
              <a:t>      "dataset_hash": "ad20e3daf70fd44fd481d672398c07bb9c96fce77acb450784065a568735e2e2",</a:t>
            </a:r>
          </a:p>
          <a:p>
            <a:r>
              <a:t>      "measurement_period": "2023~2025년 각 축제 개최기간",</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a:t>
            </a:r>
          </a:p>
          <a:p>
            <a:r>
              <a:t>    {</a:t>
            </a:r>
          </a:p>
          <a:p>
            <a:r>
              <a:t>      "source_id": "case:gangjin_half_price_2024",</a:t>
            </a:r>
          </a:p>
          <a:p>
            <a:r>
              <a:t>      "source_type": "benchmark_case",</a:t>
            </a:r>
          </a:p>
          <a:p>
            <a:r>
              <a:t>      "title": "강진 반값여행 지역경제 효과 소개",</a:t>
            </a:r>
          </a:p>
          <a:p>
            <a:r>
              <a:t>      "source_url": "https://jnfarm.jeonnam.go.kr/board/FARM_BOARD_008/boardView.do?bdId=BD_00000000000011721&amp;menuCd=farm004002",</a:t>
            </a:r>
          </a:p>
          <a:p>
            <a:r>
              <a:t>      "published_or_updated_at": "2025-01-02",</a:t>
            </a:r>
          </a:p>
          <a:p>
            <a:r>
              <a:t>      "summary": "전라남도 강진군 · 반값여행 지역환급 · 상품권 결제 변화에 관한 소개 자료는 있으나, 사업 참여자 범위·정확한 비교 기간·원자료를 확인하지 못해 성과 수치 인용을 보류한다.",</a:t>
            </a:r>
          </a:p>
          <a:p>
            <a:r>
              <a:t>      "case_region": "전라남도 강진군",</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"quantitative_result_approved": false,</a:t>
            </a:r>
          </a:p>
          <a:p>
            <a:r>
              <a:t>      "document_type": "case_study",</a:t>
            </a:r>
          </a:p>
          <a:p>
            <a:r>
              <a:t>      "retrieval_method": "curated_registry",</a:t>
            </a:r>
          </a:p>
          <a:p>
            <a:r>
              <a:t>      "retrieval_context": {</a:t>
            </a:r>
          </a:p>
          <a:p>
            <a:r>
              <a:t>        "scope": "cross_province",</a:t>
            </a:r>
          </a:p>
          <a:p>
            <a:r>
              <a:t>        "peer_region_code": null</a:t>
            </a:r>
          </a:p>
          <a:p>
            <a:r>
              <a:t>      },</a:t>
            </a:r>
          </a:p>
          <a:p>
            <a:r>
              <a:t>      "observed_result": "상품권 결제 변화에 관한 소개 자료는 있으나, 사업 참여자 범위·정확한 비교 기간·원자료를 확인하지 못해 성과 수치 인용을 보류한다.",</a:t>
            </a:r>
          </a:p>
          <a:p>
            <a:r>
              <a:t>      "operating_statistics": [],</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a:t>
            </a:r>
          </a:p>
          <a:p>
            <a:r>
              <a:t>    {</a:t>
            </a:r>
          </a:p>
          <a:p>
            <a:r>
              <a:t>      "source_id": "case:4544b7bca8ebab",</a:t>
            </a:r>
          </a:p>
          <a:p>
            <a:r>
              <a:t>      "source_type": "benchmark_case",</a:t>
            </a:r>
          </a:p>
          <a:p>
            <a:r>
              <a:t>      "title": "요즘, 한국관광 2호 - 지방공항 연계 지역관광 활성화 방안",</a:t>
            </a:r>
          </a:p>
          <a:p>
            <a:r>
              <a:t>      "source_url": "https://datalab.visitkorea.or.kr/site/portal/ex/bbs/View.do?bcIdx=311068&amp;cbIdx=1135&amp;pageIndex=1",</a:t>
            </a:r>
          </a:p>
          <a:p>
            <a:r>
              <a:t>      "published_or_updated_at": "2026-08",</a:t>
            </a:r>
          </a:p>
          <a:p>
            <a:r>
              <a:t>      "summary": "충청권 청주공항·오송역·공주·부여 연계지역 · 청주공항 연계 광역순환버스·수요응답형 버스와 관광상품 연결 · 2026년 상반기 순환버스와 DRT 이용객은 총 7,470명으로 보고됐다. 2026년 6월 기준 청주공항 연계 여행상품 49개가 개발됐으나, 공항 입국자 증가와 버스사업의 인과관계 및 이용객의 대전 서구 방문·숙박·소비는 확인되지 않았다.",</a:t>
            </a:r>
          </a:p>
          <a:p>
            <a:r>
              <a:t>      "case_region": "충청권 청주공항·오송역·공주·부여 연계지역",</a:t>
            </a:r>
          </a:p>
          <a:p>
            <a:r>
              <a:t>      "intervention": "청주공항 연계 광역순환버스·수요응답형 버스와 관광상품 연결",</a:t>
            </a:r>
          </a:p>
          <a:p>
            <a:r>
              <a:t>      "operating_model": "한국관광공사, 충청남·북도와 지역관광기관이 협업해 청주공항·오송역·공주터미널·부여터미널 등을 연결하는 광역순환버스와 수요응답형 버스를 지원했다. 공항 연계 콘텐츠와 코스를 발굴하고 여행사·OTA가 교통·숙박·식당을 묶어 판매할 수 있도록 상품화 정보를 제공했다.",</a:t>
            </a:r>
          </a:p>
          <a:p>
            <a:r>
              <a:t>      "evidence_strength": "medium",</a:t>
            </a:r>
          </a:p>
          <a:p>
            <a:r>
              <a:t>      "quantitative_result_approved": null,</a:t>
            </a:r>
          </a:p>
          <a:p>
            <a:r>
              <a:t>      "document_type": null,</a:t>
            </a:r>
          </a:p>
          <a:p>
            <a:r>
              <a:t>      "retrieval_method": "official_web_search",</a:t>
            </a:r>
          </a:p>
          <a:p>
            <a:r>
              <a:t>      "retrieval_context": {</a:t>
            </a:r>
          </a:p>
          <a:p>
            <a:r>
              <a:t>        "scope": "national_or_unresolved",</a:t>
            </a:r>
          </a:p>
          <a:p>
            <a:r>
              <a:t>        "peer_region_code": null</a:t>
            </a:r>
          </a:p>
          <a:p>
            <a:r>
              <a:t>      },</a:t>
            </a:r>
          </a:p>
          <a:p>
            <a:r>
              <a:t>      "observed_result": "2026년 상반기 순환버스와 DRT 이용객은 총 7,470명으로 보고됐다. 2026년 6월 기준 청주공항 연계 여행상품 49개가 개발됐으나, 공항 입국자 증가와 버스사업의 인과관계 및 이용객의 대전 서구 방문·숙박·소비는 확인되지 않았다.",</a:t>
            </a:r>
          </a:p>
          <a:p>
            <a:r>
              <a:t>      "operating_statistics": [</a:t>
            </a:r>
          </a:p>
          <a:p>
            <a:r>
              <a:t>        {</a:t>
            </a:r>
          </a:p>
          <a:p>
            <a:r>
              <a:t>          "metric": "participants",</a:t>
            </a:r>
          </a:p>
          <a:p>
            <a:r>
              <a:t>          "value": 7470,</a:t>
            </a:r>
          </a:p>
          <a:p>
            <a:r>
              <a:t>          "unit": "명",</a:t>
            </a:r>
          </a:p>
          <a:p>
            <a:r>
              <a:t>          "period": "2026년 상반기",</a:t>
            </a:r>
          </a:p>
          <a:p>
            <a:r>
              <a:t>          "scope": "청주공항 연계 광역순환버스·DRT 실제 이용객 합계",</a:t>
            </a:r>
          </a:p>
          <a:p>
            <a:r>
              <a:t>          "quote": "순환버스와 DRT 이용객은 총 7,470명",</a:t>
            </a:r>
          </a:p>
          <a:p>
            <a:r>
              <a:t>          "capacity_count": null,</a:t>
            </a:r>
          </a:p>
          <a:p>
            <a:r>
              <a:t>          "participant_count": 7470,</a:t>
            </a:r>
          </a:p>
          <a:p>
            <a:r>
              <a:t>          "program_name": "청주공항 연계 순환버스·DRT"</a:t>
            </a:r>
          </a:p>
          <a:p>
            <a:r>
              <a:t>        }</a:t>
            </a:r>
          </a:p>
          <a:p>
            <a:r>
              <a:t>      ],</a:t>
            </a:r>
          </a:p>
          <a:p>
            <a:r>
              <a:t>      "measurement_period": "2026-01~2026-06",</a:t>
            </a:r>
          </a:p>
          <a:p>
            <a:r>
              <a:t>      "transfer_conditions": [</a:t>
            </a:r>
          </a:p>
          <a:p>
            <a:r>
              <a:t>        "서구 적용 시 청주공항 전체 권역사업을 복제하지 말고 대전역·복합터미널·유성 권역 등 실제 유입거점에서 서구 콘텐츠로 이어지는 한정 노선을 검토해야 한다.",</a:t>
            </a:r>
          </a:p>
          <a:p>
            <a:r>
              <a:t>        "고정노선보다 사전예약 회차 또는 행사일 셔틀을 우선 검토해 3개월 고정기간의 운행 공차 위험을 줄여야 한다.",</a:t>
            </a:r>
          </a:p>
          <a:p>
            <a:r>
              <a:t>        "탑승 QR, 하차지, 체험 예약, 참여업소 결제를 연결해 이동 이후 행동을 측정해야 한다.",</a:t>
            </a:r>
          </a:p>
          <a:p>
            <a:r>
              <a:t>        "버스 운송사업자, 관광시설, 숙박·식음업체 간 운행시간과 정산 책임 협약이 필요하다."</a:t>
            </a:r>
          </a:p>
          <a:p>
            <a:r>
              <a:t>      ]</a:t>
            </a:r>
          </a:p>
          <a:p>
            <a:r>
              <a:t>    },</a:t>
            </a:r>
          </a:p>
          <a:p>
            <a:r>
              <a:t>    {</a:t>
            </a:r>
          </a:p>
          <a:p>
            <a:r>
              <a:t>      "source_id": "case:digital_tourism_resident_2024",</a:t>
            </a:r>
          </a:p>
          <a:p>
            <a:r>
              <a:t>      "source_type": "benchmark_case",</a:t>
            </a:r>
          </a:p>
          <a:p>
            <a:r>
              <a:t>      "title": "2024년 6월 여행가는 달 추진 보도자료",</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"published_or_updated_at": "2024-05-14",</a:t>
            </a:r>
          </a:p>
          <a:p>
            <a:r>
              <a:t>      "summary": "전국 인구감소지역 34곳 · 디지털 관광주민증과 교통·숙박·상점 할인 결합 · 2024년 34개 지역 약 800개 관광업체에 혜택 구조를 적용",</a:t>
            </a:r>
          </a:p>
          <a:p>
            <a:r>
              <a:t>      "case_region": "전국 인구감소지역 34곳",</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"2024년 34개 지역 약 800개 관광업체에 혜택 구조를 적용",</a:t>
            </a:r>
          </a:p>
          <a:p>
            <a:r>
              <a:t>      "operating_statistics": [],</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a:t>
            </a:r>
          </a:p>
          <a:p>
            <a:r>
              <a:t>    {</a:t>
            </a:r>
          </a:p>
          <a:p>
            <a:r>
              <a:t>      "source_id": "case:night_festival_2025",</a:t>
            </a:r>
          </a:p>
          <a:p>
            <a:r>
              <a:t>      "source_type": "benchmark_case",</a:t>
            </a:r>
          </a:p>
          <a:p>
            <a:r>
              <a:t>      "title": "2025 대한민국 밤밤페스타 개최 도시 및 일정",</a:t>
            </a:r>
          </a:p>
          <a:p>
            <a:r>
              <a:t>      "source_url": "https://korean.visitkorea.or.kr/detail/rem_detail.do?cotid=f9c636b2-dd7c-4f09-af3d-6af43b33d371",</a:t>
            </a:r>
          </a:p>
          <a:p>
            <a:r>
              <a:t>      "published_or_updated_at": "2025",</a:t>
            </a:r>
          </a:p>
          <a:p>
            <a:r>
              <a:t>      "summary": "야간관광 특화도시 10곳 · 도시별 야간 콘텐츠를 순회형 축제로 묶는 운영 · 공식 여행기사는 개최 도시·장소·운영 시간과 콘텐츠만 제시하며 방문·소비 성과 수치는 제시하지 않음",</a:t>
            </a:r>
          </a:p>
          <a:p>
            <a:r>
              <a:t>      "case_region": "야간관광 특화도시 10곳",</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"공식 여행기사는 개최 도시·장소·운영 시간과 콘텐츠만 제시하며 방문·소비 성과 수치는 제시하지 않음",</a:t>
            </a:r>
          </a:p>
          <a:p>
            <a:r>
              <a:t>      "operating_statistics": [],</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a:t>
            </a:r>
          </a:p>
          <a:p>
            <a:r>
              <a:t>    {</a:t>
            </a:r>
          </a:p>
          <a:p>
            <a:r>
              <a:t>      "source_id": "case:festival:1ff9d11d3ee0ee",</a:t>
            </a:r>
          </a:p>
          <a:p>
            <a:r>
              <a:t>      "source_type": "benchmark_case",</a:t>
            </a:r>
          </a:p>
          <a:p>
            <a:r>
              <a:t>      "title": "한국관광 데이터랩 · 진도신비의바닷길축제 방문자 추이",</a:t>
            </a:r>
          </a:p>
          <a:p>
            <a:r>
              <a:t>      "source_url": "https://datalab.visitkorea.or.kr/",</a:t>
            </a:r>
          </a:p>
          <a:p>
            <a:r>
              <a:t>      "published_or_updated_at": "2026-08-20",</a:t>
            </a:r>
          </a:p>
          <a:p>
            <a:r>
              <a:t>      "summary": "전라남도 진도군 · 진도신비의바닷길축제 · 2024→2025년 전체 28,171→43,973명 (+56.09%). 개최 3→4일, 일평균 +17.07%, 외지인 +89.98%.",</a:t>
            </a:r>
          </a:p>
          <a:p>
            <a:r>
              <a:t>      "case_region": "전라남도 진도군",</a:t>
            </a:r>
          </a:p>
          <a:p>
            <a:r>
              <a:t>      "intervention": "진도신비의바닷길축제",</a:t>
            </a:r>
          </a:p>
          <a:p>
            <a:r>
              <a:t>      "operating_model": "진도신비의바닷길축제를 2025년 4일 개최한 문화관광축제 운영 사례. 세부 프로그램·예약·혜택은 이 CSV에 기록되어 있지 않으며 새로운 운영안은 제안으로 구분한다.",</a:t>
            </a:r>
          </a:p>
          <a:p>
            <a:r>
              <a:t>      "evidence_strength": "medium",</a:t>
            </a:r>
          </a:p>
          <a:p>
            <a:r>
              <a:t>      "quantitative_result_approved": true,</a:t>
            </a:r>
          </a:p>
          <a:p>
            <a:r>
              <a:t>      "document_type": "case_study",</a:t>
            </a:r>
          </a:p>
          <a:p>
            <a:r>
              <a:t>      "retrieval_method": "datalab_festival_table",</a:t>
            </a:r>
          </a:p>
          <a:p>
            <a:r>
              <a:t>      "retrieval_context": {</a:t>
            </a:r>
          </a:p>
          <a:p>
            <a:r>
              <a:t>        "scope": "cross_province",</a:t>
            </a:r>
          </a:p>
          <a:p>
            <a:r>
              <a:t>        "peer_region_code": null</a:t>
            </a:r>
          </a:p>
          <a:p>
            <a:r>
              <a:t>      },</a:t>
            </a:r>
          </a:p>
          <a:p>
            <a:r>
              <a:t>      "observed_result": "2024→2025년 전체 28,171→43,973명 (+56.09%). 개최 3→4일, 일평균 +17.07%, 외지인 +89.98%.",</a:t>
            </a:r>
          </a:p>
          <a:p>
            <a:r>
              <a:t>      "operating_statistics": [],</a:t>
            </a:r>
          </a:p>
          <a:p>
            <a:r>
              <a:t>      "evidence_kind": "festival_statistics",</a:t>
            </a:r>
          </a:p>
          <a:p>
            <a:r>
              <a:t>      "festival_statistics": {</a:t>
            </a:r>
          </a:p>
          <a:p>
            <a:r>
              <a:t>        "name": "진도신비의바닷길축제",</a:t>
            </a:r>
          </a:p>
          <a:p>
            <a:r>
              <a:t>        "annual": [</a:t>
            </a:r>
          </a:p>
          <a:p>
            <a:r>
              <a:t>          {</a:t>
            </a:r>
          </a:p>
          <a:p>
            <a:r>
              <a:t>            "days": 3,</a:t>
            </a:r>
          </a:p>
          <a:p>
            <a:r>
              <a:t>            "year": 2023,</a:t>
            </a:r>
          </a:p>
          <a:p>
            <a:r>
              <a:t>            "daily": 11185.333333333334,</a:t>
            </a:r>
          </a:p>
          <a:p>
            <a:r>
              <a:t>            "local": 12120,</a:t>
            </a:r>
          </a:p>
          <a:p>
            <a:r>
              <a:t>            "total": 33556,</a:t>
            </a:r>
          </a:p>
          <a:p>
            <a:r>
              <a:t>            "foreign": 278,</a:t>
            </a:r>
          </a:p>
          <a:p>
            <a:r>
              <a:t>            "outside": 21158,</a:t>
            </a:r>
          </a:p>
          <a:p>
            <a:r>
              <a:t>            "outside_daily": 7052.666666666667,</a:t>
            </a:r>
          </a:p>
          <a:p>
            <a:r>
              <a:t>            "outside_share_pct": 63.05280724758613</a:t>
            </a:r>
          </a:p>
          <a:p>
            <a:r>
              <a:t>          },</a:t>
            </a:r>
          </a:p>
          <a:p>
            <a:r>
              <a:t>          {</a:t>
            </a:r>
          </a:p>
          <a:p>
            <a:r>
              <a:t>            "days": 3,</a:t>
            </a:r>
          </a:p>
          <a:p>
            <a:r>
              <a:t>            "year": 2024,</a:t>
            </a:r>
          </a:p>
          <a:p>
            <a:r>
              <a:t>            "daily": 9390.333333333334,</a:t>
            </a:r>
          </a:p>
          <a:p>
            <a:r>
              <a:t>            "local": 13068,</a:t>
            </a:r>
          </a:p>
          <a:p>
            <a:r>
              <a:t>            "total": 28171,</a:t>
            </a:r>
          </a:p>
          <a:p>
            <a:r>
              <a:t>            "foreign": 223,</a:t>
            </a:r>
          </a:p>
          <a:p>
            <a:r>
              <a:t>            "outside": 14880,</a:t>
            </a:r>
          </a:p>
          <a:p>
            <a:r>
              <a:t>            "outside_daily": 4960,</a:t>
            </a:r>
          </a:p>
          <a:p>
            <a:r>
              <a:t>            "outside_share_pct": 52.82027617052998</a:t>
            </a:r>
          </a:p>
          <a:p>
            <a:r>
              <a:t>          },</a:t>
            </a:r>
          </a:p>
          <a:p>
            <a:r>
              <a:t>          {</a:t>
            </a:r>
          </a:p>
          <a:p>
            <a:r>
              <a:t>            "days": 4,</a:t>
            </a:r>
          </a:p>
          <a:p>
            <a:r>
              <a:t>            "year": 2025,</a:t>
            </a:r>
          </a:p>
          <a:p>
            <a:r>
              <a:t>            "daily": 10993.25,</a:t>
            </a:r>
          </a:p>
          <a:p>
            <a:r>
              <a:t>            "local": 15345,</a:t>
            </a:r>
          </a:p>
          <a:p>
            <a:r>
              <a:t>            "total": 43973,</a:t>
            </a:r>
          </a:p>
          <a:p>
            <a:r>
              <a:t>            "foreign": 359,</a:t>
            </a:r>
          </a:p>
          <a:p>
            <a:r>
              <a:t>            "outside": 28269,</a:t>
            </a:r>
          </a:p>
          <a:p>
            <a:r>
              <a:t>            "outside_daily": 7067.25,</a:t>
            </a:r>
          </a:p>
          <a:p>
            <a:r>
              <a:t>            "outside_share_pct": 64.28717622177244</a:t>
            </a:r>
          </a:p>
          <a:p>
            <a:r>
              <a:t>          }</a:t>
            </a:r>
          </a:p>
          <a:p>
            <a:r>
              <a:t>        ],</a:t>
            </a:r>
          </a:p>
          <a:p>
            <a:r>
              <a:t>        "comparison": {</a:t>
            </a:r>
          </a:p>
          <a:p>
            <a:r>
              <a:t>          "daily": {</a:t>
            </a:r>
          </a:p>
          <a:p>
            <a:r>
              <a:t>            "after": 10993.25,</a:t>
            </a:r>
          </a:p>
          <a:p>
            <a:r>
              <a:t>            "before": 9390.333333333334,</a:t>
            </a:r>
          </a:p>
          <a:p>
            <a:r>
              <a:t>            "change_pct": 17.069859074935213,</a:t>
            </a:r>
          </a:p>
          <a:p>
            <a:r>
              <a:t>            "difference": 1602.916666666666</a:t>
            </a:r>
          </a:p>
          <a:p>
            <a:r>
              <a:t>          },</a:t>
            </a:r>
          </a:p>
          <a:p>
            <a:r>
              <a:t>          "total": {</a:t>
            </a:r>
          </a:p>
          <a:p>
            <a:r>
              <a:t>            "after": 43973,</a:t>
            </a:r>
          </a:p>
          <a:p>
            <a:r>
              <a:t>            "before": 28171,</a:t>
            </a:r>
          </a:p>
          <a:p>
            <a:r>
              <a:t>            "change_pct": 56.093145433246946,</a:t>
            </a:r>
          </a:p>
          <a:p>
            <a:r>
              <a:t>            "difference": 15802</a:t>
            </a:r>
          </a:p>
          <a:p>
            <a:r>
              <a:t>          },</a:t>
            </a:r>
          </a:p>
          <a:p>
            <a:r>
              <a:t>          "outside": {</a:t>
            </a:r>
          </a:p>
          <a:p>
            <a:r>
              <a:t>            "after": 28269,</a:t>
            </a:r>
          </a:p>
          <a:p>
            <a:r>
              <a:t>            "before": 14880,</a:t>
            </a:r>
          </a:p>
          <a:p>
            <a:r>
              <a:t>            "change_pct": 89.97983870967742,</a:t>
            </a:r>
          </a:p>
          <a:p>
            <a:r>
              <a:t>            "difference": 13389</a:t>
            </a:r>
          </a:p>
          <a:p>
            <a:r>
              <a:t>          },</a:t>
            </a:r>
          </a:p>
          <a:p>
            <a:r>
              <a:t>          "after_days": 4,</a:t>
            </a:r>
          </a:p>
          <a:p>
            <a:r>
              <a:t>          "after_year": 2025,</a:t>
            </a:r>
          </a:p>
          <a:p>
            <a:r>
              <a:t>          "before_days": 3,</a:t>
            </a:r>
          </a:p>
          <a:p>
            <a:r>
              <a:t>          "before_year": 2024,</a:t>
            </a:r>
          </a:p>
          <a:p>
            <a:r>
              <a:t>          "outside_daily": {</a:t>
            </a:r>
          </a:p>
          <a:p>
            <a:r>
              <a:t>            "after": 7067.25,</a:t>
            </a:r>
          </a:p>
          <a:p>
            <a:r>
              <a:t>            "before": 4960,</a:t>
            </a:r>
          </a:p>
          <a:p>
            <a:r>
              <a:t>            "change_pct": 42.484879032258064,</a:t>
            </a:r>
          </a:p>
          <a:p>
            <a:r>
              <a:t>            "difference": 2107.25</a:t>
            </a:r>
          </a:p>
          <a:p>
            <a:r>
              <a:t>          }</a:t>
            </a:r>
          </a:p>
          <a:p>
            <a:r>
              <a:t>        },</a:t>
            </a:r>
          </a:p>
          <a:p>
            <a:r>
              <a:t>        "scope": "축제 관측구역 방문 지표. 도시 전체·순증 관광객·입장권 실구매자 수가 아님.",</a:t>
            </a:r>
          </a:p>
          <a:p>
            <a:r>
              <a:t>        "region_basis": "목적지 검색 CSV의 시도+시군구 최빈 주소; 행사장 행정경계 확정은 아님",</a:t>
            </a:r>
          </a:p>
          <a:p>
            <a:r>
              <a:t>        "source_file": {</a:t>
            </a:r>
          </a:p>
          <a:p>
            <a:r>
              <a:t>          "sha256": "3cf7484d808e807aeffda7504a3d316839b9220f0f7a72550f5387af3ee3f8d9",</a:t>
            </a:r>
          </a:p>
          <a:p>
            <a:r>
              <a:t>          "provider": "한국관광 데이터랩",</a:t>
            </a:r>
          </a:p>
          <a:p>
            <a:r>
              <a:t>          "file_name": "20260820182448_진도신비의바닷길축제_연도별 방문자 추이.csv",</a:t>
            </a:r>
          </a:p>
          <a:p>
            <a:r>
              <a:t>          "source_id": "festival-file:3cf7484d808e807aeffd",</a:t>
            </a:r>
          </a:p>
          <a:p>
            <a:r>
              <a:t>          "source_url": "https://datalab.visitkorea.or.kr/",</a:t>
            </a:r>
          </a:p>
          <a:p>
            <a:r>
              <a:t>          "downloaded_at": "2026-08-20",</a:t>
            </a:r>
          </a:p>
          <a:p>
            <a:r>
              <a:t>          "relative_path": "data/source_snapshots/festivals_20260820/69. 진도신비의바닷길축제_2023-2025/20260820182448_진도신비의바닷길축제_연도별 방문자 추이.csv",</a:t>
            </a:r>
          </a:p>
          <a:p>
            <a:r>
              <a:t>          "provenance_status": "team_download_exact_query_url_unrecorded"</a:t>
            </a:r>
          </a:p>
          <a:p>
            <a:r>
              <a:t>        },</a:t>
            </a:r>
          </a:p>
          <a:p>
            <a:r>
              <a:t>        "indicator_values": [</a:t>
            </a:r>
          </a:p>
          <a:p>
            <a:r>
              <a:t>          {</a:t>
            </a:r>
          </a:p>
          <a:p>
            <a:r>
              <a:t>            "구분명": "외부방문자 유입",</a:t>
            </a:r>
          </a:p>
          <a:p>
            <a:r>
              <a:t>            "그룹명": "축제기간",</a:t>
            </a:r>
          </a:p>
          <a:p>
            <a:r>
              <a:t>            "지표값": "0.568",</a:t>
            </a:r>
          </a:p>
          <a:p>
            <a:r>
              <a:t>            "축제명": "진도신비의바닷길축제",</a:t>
            </a:r>
          </a:p>
          <a:p>
            <a:r>
              <a:t>            "개최년도": "2025"</a:t>
            </a:r>
          </a:p>
          <a:p>
            <a:r>
              <a:t>          },</a:t>
            </a:r>
          </a:p>
          <a:p>
            <a:r>
              <a:t>          {</a:t>
            </a:r>
          </a:p>
          <a:p>
            <a:r>
              <a:t>            "구분명": "현지인방문자 유입",</a:t>
            </a:r>
          </a:p>
          <a:p>
            <a:r>
              <a:t>            "그룹명": "축제기간",</a:t>
            </a:r>
          </a:p>
          <a:p>
            <a:r>
              <a:t>            "지표값": "0.858",</a:t>
            </a:r>
          </a:p>
          <a:p>
            <a:r>
              <a:t>            "축제명": "진도신비의바닷길축제",</a:t>
            </a:r>
          </a:p>
          <a:p>
            <a:r>
              <a:t>            "개최년도": "2025"</a:t>
            </a:r>
          </a:p>
          <a:p>
            <a:r>
              <a:t>          },</a:t>
            </a:r>
          </a:p>
          <a:p>
            <a:r>
              <a:t>          {</a:t>
            </a:r>
          </a:p>
          <a:p>
            <a:r>
              <a:t>            "구분명": "내비게이션 검색량",</a:t>
            </a:r>
          </a:p>
          <a:p>
            <a:r>
              <a:t>            "그룹명": "축제기간",</a:t>
            </a:r>
          </a:p>
          <a:p>
            <a:r>
              <a:t>            "지표값": "0.513",</a:t>
            </a:r>
          </a:p>
          <a:p>
            <a:r>
              <a:t>            "축제명": "진도신비의바닷길축제",</a:t>
            </a:r>
          </a:p>
          <a:p>
            <a:r>
              <a:t>            "개최년도": "2025"</a:t>
            </a:r>
          </a:p>
          <a:p>
            <a:r>
              <a:t>          },</a:t>
            </a:r>
          </a:p>
          <a:p>
            <a:r>
              <a:t>          {</a:t>
            </a:r>
          </a:p>
          <a:p>
            <a:r>
              <a:t>            "구분명": "관광소비",</a:t>
            </a:r>
          </a:p>
          <a:p>
            <a:r>
              <a:t>            "그룹명": "축제기간",</a:t>
            </a:r>
          </a:p>
          <a:p>
            <a:r>
              <a:t>            "지표값": "0.283",</a:t>
            </a:r>
          </a:p>
          <a:p>
            <a:r>
              <a:t>            "축제명": "진도신비의바닷길축제",</a:t>
            </a:r>
          </a:p>
          <a:p>
            <a:r>
              <a:t>            "개최년도": "2025"</a:t>
            </a:r>
          </a:p>
          <a:p>
            <a:r>
              <a:t>          },</a:t>
            </a:r>
          </a:p>
          <a:p>
            <a:r>
              <a:t>          {</a:t>
            </a:r>
          </a:p>
          <a:p>
            <a:r>
              <a:t>            "구분명": "축제지 집중률",</a:t>
            </a:r>
          </a:p>
          <a:p>
            <a:r>
              <a:t>            "그룹명": "축제기간",</a:t>
            </a:r>
          </a:p>
          <a:p>
            <a:r>
              <a:t>            "지표값": "0.791",</a:t>
            </a:r>
          </a:p>
          <a:p>
            <a:r>
              <a:t>            "축제명": "진도신비의바닷길축제",</a:t>
            </a:r>
          </a:p>
          <a:p>
            <a:r>
              <a:t>            "개최년도": "2025"</a:t>
            </a:r>
          </a:p>
          <a:p>
            <a:r>
              <a:t>          },</a:t>
            </a:r>
          </a:p>
          <a:p>
            <a:r>
              <a:t>          {</a:t>
            </a:r>
          </a:p>
          <a:p>
            <a:r>
              <a:t>            "구분명": "외부방문자 유입",</a:t>
            </a:r>
          </a:p>
          <a:p>
            <a:r>
              <a:t>            "그룹명": "비축제기간",</a:t>
            </a:r>
          </a:p>
          <a:p>
            <a:r>
              <a:t>            "지표값": "0.137",</a:t>
            </a:r>
          </a:p>
          <a:p>
            <a:r>
              <a:t>            "축제명": "진도신비의바닷길축제",</a:t>
            </a:r>
          </a:p>
          <a:p>
            <a:r>
              <a:t>            "개최년도": "2025"</a:t>
            </a:r>
          </a:p>
          <a:p>
            <a:r>
              <a:t>          },</a:t>
            </a:r>
          </a:p>
          <a:p>
            <a:r>
              <a:t>          {</a:t>
            </a:r>
          </a:p>
          <a:p>
            <a:r>
              <a:t>            "구분명": "현지인방문자 유입",</a:t>
            </a:r>
          </a:p>
          <a:p>
            <a:r>
              <a:t>            "그룹명": "비축제기간",</a:t>
            </a:r>
          </a:p>
          <a:p>
            <a:r>
              <a:t>            "지표값": "0.472",</a:t>
            </a:r>
          </a:p>
          <a:p>
            <a:r>
              <a:t>            "축제명": "진도신비의바닷길축제",</a:t>
            </a:r>
          </a:p>
          <a:p>
            <a:r>
              <a:t>            "개최년도": "2025"</a:t>
            </a:r>
          </a:p>
          <a:p>
            <a:r>
              <a:t>          },</a:t>
            </a:r>
          </a:p>
          <a:p>
            <a:r>
              <a:t>          {</a:t>
            </a:r>
          </a:p>
          <a:p>
            <a:r>
              <a:t>            "구분명": "내비게이션 검색량",</a:t>
            </a:r>
          </a:p>
          <a:p>
            <a:r>
              <a:t>            "그룹명": "비축제기간",</a:t>
            </a:r>
          </a:p>
          <a:p>
            <a:r>
              <a:t>            "지표값": "0.06",</a:t>
            </a:r>
          </a:p>
          <a:p>
            <a:r>
              <a:t>            "축제명": "진도신비의바닷길축제",</a:t>
            </a:r>
          </a:p>
          <a:p>
            <a:r>
              <a:t>            "개최년도": "2025"</a:t>
            </a:r>
          </a:p>
          <a:p>
            <a:r>
              <a:t>          },</a:t>
            </a:r>
          </a:p>
          <a:p>
            <a:r>
              <a:t>          {</a:t>
            </a:r>
          </a:p>
          <a:p>
            <a:r>
              <a:t>            "구분명": "관광소비",</a:t>
            </a:r>
          </a:p>
          <a:p>
            <a:r>
              <a:t>            "그룹명": "비축제기간",</a:t>
            </a:r>
          </a:p>
          <a:p>
            <a:r>
              <a:t>            "지표값": "0.212",</a:t>
            </a:r>
          </a:p>
          <a:p>
            <a:r>
              <a:t>            "축제명": "진도신비의바닷길축제",</a:t>
            </a:r>
          </a:p>
          <a:p>
            <a:r>
              <a:t>            "개최년도": "2025"</a:t>
            </a:r>
          </a:p>
          <a:p>
            <a:r>
              <a:t>          },</a:t>
            </a:r>
          </a:p>
          <a:p>
            <a:r>
              <a:t>          {</a:t>
            </a:r>
          </a:p>
          <a:p>
            <a:r>
              <a:t>            "구분명": "축제지 집중률",</a:t>
            </a:r>
          </a:p>
          <a:p>
            <a:r>
              <a:t>            "그룹명": "비축제기간",</a:t>
            </a:r>
          </a:p>
          <a:p>
            <a:r>
              <a:t>            "지표값": "0.269",</a:t>
            </a:r>
          </a:p>
          <a:p>
            <a:r>
              <a:t>            "축제명": "진도신비의바닷길축제",</a:t>
            </a:r>
          </a:p>
          <a:p>
            <a:r>
              <a:t>            "개최년도": "2025"</a:t>
            </a:r>
          </a:p>
          <a:p>
            <a:r>
              <a:t>          }</a:t>
            </a:r>
          </a:p>
          <a:p>
            <a:r>
              <a:t>        ],</a:t>
            </a:r>
          </a:p>
          <a:p>
            <a:r>
              <a:t>        "indicator_rule": "원본 지표값만 보존. 산식·단위 미확인으로 성장률/원화/정원/참여율 변환 금지.",</a:t>
            </a:r>
          </a:p>
          <a:p>
            <a:r>
              <a:t>        "audience": [</a:t>
            </a:r>
          </a:p>
          <a:p>
            <a:r>
              <a:t>          {</a:t>
            </a:r>
          </a:p>
          <a:p>
            <a:r>
              <a:t>            "연령대": "70세 이상",</a:t>
            </a:r>
          </a:p>
          <a:p>
            <a:r>
              <a:t>            "축제명": "진도신비의바닷길축제",</a:t>
            </a:r>
          </a:p>
          <a:p>
            <a:r>
              <a:t>            "남성비율": "7.4",</a:t>
            </a:r>
          </a:p>
          <a:p>
            <a:r>
              <a:t>            "여성비율": "6.8"</a:t>
            </a:r>
          </a:p>
          <a:p>
            <a:r>
              <a:t>          },</a:t>
            </a:r>
          </a:p>
          <a:p>
            <a:r>
              <a:t>          {</a:t>
            </a:r>
          </a:p>
          <a:p>
            <a:r>
              <a:t>            "연령대": "60~69세",</a:t>
            </a:r>
          </a:p>
          <a:p>
            <a:r>
              <a:t>            "축제명": "진도신비의바닷길축제",</a:t>
            </a:r>
          </a:p>
          <a:p>
            <a:r>
              <a:t>            "남성비율": "13.8",</a:t>
            </a:r>
          </a:p>
          <a:p>
            <a:r>
              <a:t>            "여성비율": "14.3"</a:t>
            </a:r>
          </a:p>
          <a:p>
            <a:r>
              <a:t>          },</a:t>
            </a:r>
          </a:p>
          <a:p>
            <a:r>
              <a:t>          {</a:t>
            </a:r>
          </a:p>
          <a:p>
            <a:r>
              <a:t>            "연령대": "50~59세",</a:t>
            </a:r>
          </a:p>
          <a:p>
            <a:r>
              <a:t>            "축제명": "진도신비의바닷길축제",</a:t>
            </a:r>
          </a:p>
          <a:p>
            <a:r>
              <a:t>            "남성비율": "10.7",</a:t>
            </a:r>
          </a:p>
          <a:p>
            <a:r>
              <a:t>            "여성비율": "11.5"</a:t>
            </a:r>
          </a:p>
          <a:p>
            <a:r>
              <a:t>          },</a:t>
            </a:r>
          </a:p>
          <a:p>
            <a:r>
              <a:t>          {</a:t>
            </a:r>
          </a:p>
          <a:p>
            <a:r>
              <a:t>            "연령대": "40~49세",</a:t>
            </a:r>
          </a:p>
          <a:p>
            <a:r>
              <a:t>            "축제명": "진도신비의바닷길축제",</a:t>
            </a:r>
          </a:p>
          <a:p>
            <a:r>
              <a:t>            "남성비율": "7.7",</a:t>
            </a:r>
          </a:p>
          <a:p>
            <a:r>
              <a:t>            "여성비율": "4.9"</a:t>
            </a:r>
          </a:p>
          <a:p>
            <a:r>
              <a:t>          },</a:t>
            </a:r>
          </a:p>
          <a:p>
            <a:r>
              <a:t>          {</a:t>
            </a:r>
          </a:p>
          <a:p>
            <a:r>
              <a:t>            "연령대": "30~39세",</a:t>
            </a:r>
          </a:p>
          <a:p>
            <a:r>
              <a:t>            "축제명": "진도신비의바닷길축제",</a:t>
            </a:r>
          </a:p>
          <a:p>
            <a:r>
              <a:t>            "남성비율": "6.8",</a:t>
            </a:r>
          </a:p>
          <a:p>
            <a:r>
              <a:t>            "여성비율": "4.2"</a:t>
            </a:r>
          </a:p>
          <a:p>
            <a:r>
              <a:t>          },</a:t>
            </a:r>
          </a:p>
          <a:p>
            <a:r>
              <a:t>          {</a:t>
            </a:r>
          </a:p>
          <a:p>
            <a:r>
              <a:t>            "연령대": "20~29세",</a:t>
            </a:r>
          </a:p>
          <a:p>
            <a:r>
              <a:t>            "축제명": "진도신비의바닷길축제",</a:t>
            </a:r>
          </a:p>
          <a:p>
            <a:r>
              <a:t>            "남성비율": "5.3",</a:t>
            </a:r>
          </a:p>
          <a:p>
            <a:r>
              <a:t>            "여성비율": "3.0"</a:t>
            </a:r>
          </a:p>
          <a:p>
            <a:r>
              <a:t>          },</a:t>
            </a:r>
          </a:p>
          <a:p>
            <a:r>
              <a:t>          {</a:t>
            </a:r>
          </a:p>
          <a:p>
            <a:r>
              <a:t>            "연령대": "10~19세",</a:t>
            </a:r>
          </a:p>
          <a:p>
            <a:r>
              <a:t>            "축제명": "진도신비의바닷길축제",</a:t>
            </a:r>
          </a:p>
          <a:p>
            <a:r>
              <a:t>            "남성비율": "1.3",</a:t>
            </a:r>
          </a:p>
          <a:p>
            <a:r>
              <a:t>            "여성비율": "1.3"</a:t>
            </a:r>
          </a:p>
          <a:p>
            <a:r>
              <a:t>          },</a:t>
            </a:r>
          </a:p>
          <a:p>
            <a:r>
              <a:t>          {</a:t>
            </a:r>
          </a:p>
          <a:p>
            <a:r>
              <a:t>            "연령대": "0~9세",</a:t>
            </a:r>
          </a:p>
          <a:p>
            <a:r>
              <a:t>            "축제명": "진도신비의바닷길축제",</a:t>
            </a:r>
          </a:p>
          <a:p>
            <a:r>
              <a:t>            "남성비율": "0.5",</a:t>
            </a:r>
          </a:p>
          <a:p>
            <a:r>
              <a:t>            "여성비율": "0.4"</a:t>
            </a:r>
          </a:p>
          <a:p>
            <a:r>
              <a:t>          }</a:t>
            </a:r>
          </a:p>
          <a:p>
            <a:r>
              <a:t>        ],</a:t>
            </a:r>
          </a:p>
          <a:p>
            <a:r>
              <a:t>        "audience_period": "다운로드 CSV에 연도 열 없음; 최신 개최연도와 자동 결합하지 않음",</a:t>
            </a:r>
          </a:p>
          <a:p>
            <a:r>
              <a:t>        "destination_examples": [</a:t>
            </a:r>
          </a:p>
          <a:p>
            <a:r>
              <a:t>          {</a:t>
            </a:r>
          </a:p>
          <a:p>
            <a:r>
              <a:t>            "구분": "외지인",</a:t>
            </a:r>
          </a:p>
          <a:p>
            <a:r>
              <a:t>            "순위": "1",</a:t>
            </a:r>
          </a:p>
          <a:p>
            <a:r>
              <a:t>            "목적지명": "진도신비의바닷길축제",</a:t>
            </a:r>
          </a:p>
          <a:p>
            <a:r>
              <a:t>            "도로명주소": "전남 진도군 신비의바닷길 74-0",</a:t>
            </a:r>
          </a:p>
          <a:p>
            <a:r>
              <a:t>            "카테고리": "기타문화관광지"</a:t>
            </a:r>
          </a:p>
          <a:p>
            <a:r>
              <a:t>          },</a:t>
            </a:r>
          </a:p>
          <a:p>
            <a:r>
              <a:t>          {</a:t>
            </a:r>
          </a:p>
          <a:p>
            <a:r>
              <a:t>            "구분": "외지인",</a:t>
            </a:r>
          </a:p>
          <a:p>
            <a:r>
              <a:t>            "순위": "2",</a:t>
            </a:r>
          </a:p>
          <a:p>
            <a:r>
              <a:t>            "목적지명": "진도신비의바닷길",</a:t>
            </a:r>
          </a:p>
          <a:p>
            <a:r>
              <a:t>            "도로명주소": "전남 진도군",</a:t>
            </a:r>
          </a:p>
          <a:p>
            <a:r>
              <a:t>            "카테고리": "테마공원"</a:t>
            </a:r>
          </a:p>
          <a:p>
            <a:r>
              <a:t>          },</a:t>
            </a:r>
          </a:p>
          <a:p>
            <a:r>
              <a:t>          {</a:t>
            </a:r>
          </a:p>
          <a:p>
            <a:r>
              <a:t>            "구분": "외지인",</a:t>
            </a:r>
          </a:p>
          <a:p>
            <a:r>
              <a:t>            "순위": "3",</a:t>
            </a:r>
          </a:p>
          <a:p>
            <a:r>
              <a:t>            "목적지명": "가계해변",</a:t>
            </a:r>
          </a:p>
          <a:p>
            <a:r>
              <a:t>            "도로명주소": "전남 진도군 신비의바닷길 0-0",</a:t>
            </a:r>
          </a:p>
          <a:p>
            <a:r>
              <a:t>            "카테고리": "자연경관(하천/해양)"</a:t>
            </a:r>
          </a:p>
          <a:p>
            <a:r>
              <a:t>          }</a:t>
            </a:r>
          </a:p>
          <a:p>
            <a:r>
              <a:t>        ],</a:t>
            </a:r>
          </a:p>
          <a:p>
            <a:r>
              <a:t>        "destination_period": "다운로드 CSV에 연도 열 없음; 주변 검색 후보이며 제휴·실제 방문 증거 아님"</a:t>
            </a:r>
          </a:p>
          <a:p>
            <a:r>
              <a:t>      },</a:t>
            </a:r>
          </a:p>
          <a:p>
            <a:r>
              <a:t>      "retrieval_basis": {</a:t>
            </a:r>
          </a:p>
          <a:p>
            <a:r>
              <a:t>        "kind": "external_benchmark",</a:t>
            </a:r>
          </a:p>
          <a:p>
            <a:r>
              <a:t>        "score": 31,</a:t>
            </a:r>
          </a:p>
          <a:p>
            <a:r>
              <a:t>        "components": {</a:t>
            </a:r>
          </a:p>
          <a:p>
            <a:r>
              <a:t>          "방문 전망 조사: 외지인·일평균 동반 증가": 15,</a:t>
            </a:r>
          </a:p>
          <a:p>
            <a:r>
              <a:t>          "최근 개최연도": 6,</a:t>
            </a:r>
          </a:p>
          <a:p>
            <a:r>
              <a:t>          "방문 실적 비교 가능": 10</a:t>
            </a:r>
          </a:p>
          <a:p>
            <a:r>
              <a:t>        },</a:t>
            </a:r>
          </a:p>
          <a:p>
            <a:r>
              <a:t>        "theme": "자연·야외",</a:t>
            </a:r>
          </a:p>
          <a:p>
            <a:r>
              <a:t>        "priority_signal": "visit",</a:t>
            </a:r>
          </a:p>
          <a:p>
            <a:r>
              <a:t>        "rule": "함수 기반 조사 우선순위. 사업효과·인구/환경 유사도 점수가 아니며 소비·체류 개선은 조사 가설이다."</a:t>
            </a:r>
          </a:p>
          <a:p>
            <a:r>
              <a:t>      },</a:t>
            </a:r>
          </a:p>
          <a:p>
            <a:r>
              <a:t>      "source_files": [</a:t>
            </a:r>
          </a:p>
          <a:p>
            <a:r>
              <a:t>        {</a:t>
            </a:r>
          </a:p>
          <a:p>
            <a:r>
              <a:t>          "sha256": "3cf7484d808e807aeffda7504a3d316839b9220f0f7a72550f5387af3ee3f8d9",</a:t>
            </a:r>
          </a:p>
          <a:p>
            <a:r>
              <a:t>          "provider": "한국관광 데이터랩",</a:t>
            </a:r>
          </a:p>
          <a:p>
            <a:r>
              <a:t>          "file_name": "20260820182448_진도신비의바닷길축제_연도별 방문자 추이.csv",</a:t>
            </a:r>
          </a:p>
          <a:p>
            <a:r>
              <a:t>          "source_id": "festival-file:3cf7484d808e807aeffd",</a:t>
            </a:r>
          </a:p>
          <a:p>
            <a:r>
              <a:t>          "source_url": "https://datalab.visitkorea.or.kr/",</a:t>
            </a:r>
          </a:p>
          <a:p>
            <a:r>
              <a:t>          "downloaded_at": "2026-08-20",</a:t>
            </a:r>
          </a:p>
          <a:p>
            <a:r>
              <a:t>          "relative_path": "data/source_snapshots/festivals_20260820/69. 진도신비의바닷길축제_2023-2025/20260820182448_진도신비의바닷길축제_연도별 방문자 추이.csv",</a:t>
            </a:r>
          </a:p>
          <a:p>
            <a:r>
              <a:t>          "provenance_status": "team_download_exact_query_url_unrecorded"</a:t>
            </a:r>
          </a:p>
          <a:p>
            <a:r>
              <a:t>        },</a:t>
            </a:r>
          </a:p>
          <a:p>
            <a:r>
              <a:t>        {</a:t>
            </a:r>
          </a:p>
          <a:p>
            <a:r>
              <a:t>          "sha256": "cb3424e725c84352d81fdb987f6d3ade162f54f63a9590ac8730dddcfcc48ed7",</a:t>
            </a:r>
          </a:p>
          <a:p>
            <a:r>
              <a:t>          "provider": "한국관광 데이터랩",</a:t>
            </a:r>
          </a:p>
          <a:p>
            <a:r>
              <a:t>          "file_name": "20260820182448_진도신비의바닷길축제_성_연령별 내국인 방문자.csv",</a:t>
            </a:r>
          </a:p>
          <a:p>
            <a:r>
              <a:t>          "source_id": "festival-file:cb3424e725c84352d81f",</a:t>
            </a:r>
          </a:p>
          <a:p>
            <a:r>
              <a:t>          "source_url": "https://datalab.visitkorea.or.kr/",</a:t>
            </a:r>
          </a:p>
          <a:p>
            <a:r>
              <a:t>          "downloaded_at": "2026-08-20",</a:t>
            </a:r>
          </a:p>
          <a:p>
            <a:r>
              <a:t>          "relative_path": "data/source_snapshots/festivals_20260820/69. 진도신비의바닷길축제_2023-2025/20260820182448_진도신비의바닷길축제_성_연령별 내국인 방문자.csv",</a:t>
            </a:r>
          </a:p>
          <a:p>
            <a:r>
              <a:t>          "provenance_status": "team_download_exact_query_url_unrecorded"</a:t>
            </a:r>
          </a:p>
          <a:p>
            <a:r>
              <a:t>        },</a:t>
            </a:r>
          </a:p>
          <a:p>
            <a:r>
              <a:t>        {</a:t>
            </a:r>
          </a:p>
          <a:p>
            <a:r>
              <a:t>          "sha256": "c9332a0e0d15d1550b1b545b8b739cc6a919a13ca701800d87203b06b2fecd46",</a:t>
            </a:r>
          </a:p>
          <a:p>
            <a:r>
              <a:t>          "provider": "한국관광 데이터랩",</a:t>
            </a:r>
          </a:p>
          <a:p>
            <a:r>
              <a:t>          "file_name": "20260820182448_진도신비의바닷길축제_문화관광축제 주요 지표.csv",</a:t>
            </a:r>
          </a:p>
          <a:p>
            <a:r>
              <a:t>          "source_id": "festival-file:c9332a0e0d15d1550b1b",</a:t>
            </a:r>
          </a:p>
          <a:p>
            <a:r>
              <a:t>          "source_url": "https://datalab.visitkorea.or.kr/",</a:t>
            </a:r>
          </a:p>
          <a:p>
            <a:r>
              <a:t>          "downloaded_at": "2026-08-20",</a:t>
            </a:r>
          </a:p>
          <a:p>
            <a:r>
              <a:t>          "relative_path": "data/source_snapshots/festivals_20260820/69. 진도신비의바닷길축제_2023-2025/20260820182448_진도신비의바닷길축제_문화관광축제 주요 지표.csv",</a:t>
            </a:r>
          </a:p>
          <a:p>
            <a:r>
              <a:t>          "provenance_status": "team_download_exact_query_url_unrecorded"</a:t>
            </a:r>
          </a:p>
          <a:p>
            <a:r>
              <a:t>        },</a:t>
            </a:r>
          </a:p>
          <a:p>
            <a:r>
              <a:t>        {</a:t>
            </a:r>
          </a:p>
          <a:p>
            <a:r>
              <a:t>          "sha256": "b8aa76a62ac8159da3b9234363c8c0026f70875997af88b4e750f2f6154c65ae",</a:t>
            </a:r>
          </a:p>
          <a:p>
            <a:r>
              <a:t>          "provider": "한국관광 데이터랩",</a:t>
            </a:r>
          </a:p>
          <a:p>
            <a:r>
              <a:t>          "file_name": "20260820182448_진도신비의바닷길축제_목적지 검색순위.csv",</a:t>
            </a:r>
          </a:p>
          <a:p>
            <a:r>
              <a:t>          "source_id": "festival-file:b8aa76a62ac8159da3b9",</a:t>
            </a:r>
          </a:p>
          <a:p>
            <a:r>
              <a:t>          "source_url": "https://datalab.visitkorea.or.kr/",</a:t>
            </a:r>
          </a:p>
          <a:p>
            <a:r>
              <a:t>          "downloaded_at": "2026-08-20",</a:t>
            </a:r>
          </a:p>
          <a:p>
            <a:r>
              <a:t>          "relative_path": "data/source_snapshots/festivals_20260820/69. 진도신비의바닷길축제_2023-2025/20260820182448_진도신비의바닷길축제_목적지 검색순위.csv",</a:t>
            </a:r>
          </a:p>
          <a:p>
            <a:r>
              <a:t>          "provenance_status": "team_download_exact_query_url_unrecorded"</a:t>
            </a:r>
          </a:p>
          <a:p>
            <a:r>
              <a:t>        }</a:t>
            </a:r>
          </a:p>
          <a:p>
            <a:r>
              <a:t>      ],</a:t>
            </a:r>
          </a:p>
          <a:p>
            <a:r>
              <a:t>      "dataset_hash": "ad20e3daf70fd44fd481d672398c07bb9c96fce77acb450784065a568735e2e2",</a:t>
            </a:r>
          </a:p>
          <a:p>
            <a:r>
              <a:t>      "measurement_period": "2023~2025년 각 축제 개최기간",</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a:t>
            </a:r>
          </a:p>
          <a:p>
            <a:r>
              <a:t>    {</a:t>
            </a:r>
          </a:p>
          <a:p>
            <a:r>
              <a:t>      "source_id": "case:festival:1ffc3eec28956a",</a:t>
            </a:r>
          </a:p>
          <a:p>
            <a:r>
              <a:t>      "source_type": "benchmark_case",</a:t>
            </a:r>
          </a:p>
          <a:p>
            <a:r>
              <a:t>      "title": "한국관광 데이터랩 · 통영한산대첩축제 방문자 추이",</a:t>
            </a:r>
          </a:p>
          <a:p>
            <a:r>
              <a:t>      "source_url": "https://datalab.visitkorea.or.kr/",</a:t>
            </a:r>
          </a:p>
          <a:p>
            <a:r>
              <a:t>      "published_or_updated_at": "2026-08-20",</a:t>
            </a:r>
          </a:p>
          <a:p>
            <a:r>
              <a:t>      "summary": "경상남도 통영시 · 통영한산대첩축제 · 2024→2025년 전체 93,221→124,718명 (+33.79%). 개최 6→7일, 일평균 +14.67%, 외지인 +33.21%.",</a:t>
            </a:r>
          </a:p>
          <a:p>
            <a:r>
              <a:t>      "case_region": "경상남도 통영시",</a:t>
            </a:r>
          </a:p>
          <a:p>
            <a:r>
              <a:t>      "intervention": "통영한산대첩축제",</a:t>
            </a:r>
          </a:p>
          <a:p>
            <a:r>
              <a:t>      "operating_model": "통영한산대첩축제를 2025년 7일 개최한 문화관광축제 운영 사례. 세부 프로그램·예약·혜택은 이 CSV에 기록되어 있지 않으며 새로운 운영안은 제안으로 구분한다.",</a:t>
            </a:r>
          </a:p>
          <a:p>
            <a:r>
              <a:t>      "evidence_strength": "medium",</a:t>
            </a:r>
          </a:p>
          <a:p>
            <a:r>
              <a:t>      "quantitative_result_approved": true,</a:t>
            </a:r>
          </a:p>
          <a:p>
            <a:r>
              <a:t>      "document_type": "case_study",</a:t>
            </a:r>
          </a:p>
          <a:p>
            <a:r>
              <a:t>      "retrieval_method": "datalab_festival_table",</a:t>
            </a:r>
          </a:p>
          <a:p>
            <a:r>
              <a:t>      "retrieval_context": {</a:t>
            </a:r>
          </a:p>
          <a:p>
            <a:r>
              <a:t>        "scope": "cross_province",</a:t>
            </a:r>
          </a:p>
          <a:p>
            <a:r>
              <a:t>        "peer_region_code": null</a:t>
            </a:r>
          </a:p>
          <a:p>
            <a:r>
              <a:t>      },</a:t>
            </a:r>
          </a:p>
          <a:p>
            <a:r>
              <a:t>      "observed_result": "2024→2025년 전체 93,221→124,718명 (+33.79%). 개최 6→7일, 일평균 +14.67%, 외지인 +33.21%.",</a:t>
            </a:r>
          </a:p>
          <a:p>
            <a:r>
              <a:t>      "operating_statistics": [],</a:t>
            </a:r>
          </a:p>
          <a:p>
            <a:r>
              <a:t>      "evidence_kind": "festival_statistics",</a:t>
            </a:r>
          </a:p>
          <a:p>
            <a:r>
              <a:t>      "festival_statistics": {</a:t>
            </a:r>
          </a:p>
          <a:p>
            <a:r>
              <a:t>        "name": "통영한산대첩축제",</a:t>
            </a:r>
          </a:p>
          <a:p>
            <a:r>
              <a:t>        "annual": [</a:t>
            </a:r>
          </a:p>
          <a:p>
            <a:r>
              <a:t>          {</a:t>
            </a:r>
          </a:p>
          <a:p>
            <a:r>
              <a:t>            "days": 9,</a:t>
            </a:r>
          </a:p>
          <a:p>
            <a:r>
              <a:t>            "year": 2023,</a:t>
            </a:r>
          </a:p>
          <a:p>
            <a:r>
              <a:t>            "daily": 11745.444444444443,</a:t>
            </a:r>
          </a:p>
          <a:p>
            <a:r>
              <a:t>            "local": 57810,</a:t>
            </a:r>
          </a:p>
          <a:p>
            <a:r>
              <a:t>            "total": 105709,</a:t>
            </a:r>
          </a:p>
          <a:p>
            <a:r>
              <a:t>            "foreign": 455,</a:t>
            </a:r>
          </a:p>
          <a:p>
            <a:r>
              <a:t>            "outside": 47444,</a:t>
            </a:r>
          </a:p>
          <a:p>
            <a:r>
              <a:t>            "outside_daily": 5271.555555555556,</a:t>
            </a:r>
          </a:p>
          <a:p>
            <a:r>
              <a:t>            "outside_share_pct": 44.88170354463669</a:t>
            </a:r>
          </a:p>
          <a:p>
            <a:r>
              <a:t>          },</a:t>
            </a:r>
          </a:p>
          <a:p>
            <a:r>
              <a:t>          {</a:t>
            </a:r>
          </a:p>
          <a:p>
            <a:r>
              <a:t>            "days": 6,</a:t>
            </a:r>
          </a:p>
          <a:p>
            <a:r>
              <a:t>            "year": 2024,</a:t>
            </a:r>
          </a:p>
          <a:p>
            <a:r>
              <a:t>            "daily": 15536.833333333334,</a:t>
            </a:r>
          </a:p>
          <a:p>
            <a:r>
              <a:t>            "local": 52493,</a:t>
            </a:r>
          </a:p>
          <a:p>
            <a:r>
              <a:t>            "total": 93221,</a:t>
            </a:r>
          </a:p>
          <a:p>
            <a:r>
              <a:t>            "foreign": 394,</a:t>
            </a:r>
          </a:p>
          <a:p>
            <a:r>
              <a:t>            "outside": 40334,</a:t>
            </a:r>
          </a:p>
          <a:p>
            <a:r>
              <a:t>            "outside_daily": 6722.333333333333,</a:t>
            </a:r>
          </a:p>
          <a:p>
            <a:r>
              <a:t>            "outside_share_pct": 43.26707501528625</a:t>
            </a:r>
          </a:p>
          <a:p>
            <a:r>
              <a:t>          },</a:t>
            </a:r>
          </a:p>
          <a:p>
            <a:r>
              <a:t>          {</a:t>
            </a:r>
          </a:p>
          <a:p>
            <a:r>
              <a:t>            "days": 7,</a:t>
            </a:r>
          </a:p>
          <a:p>
            <a:r>
              <a:t>            "year": 2025,</a:t>
            </a:r>
          </a:p>
          <a:p>
            <a:r>
              <a:t>            "daily": 17816.85714285714,</a:t>
            </a:r>
          </a:p>
          <a:p>
            <a:r>
              <a:t>            "local": 70201,</a:t>
            </a:r>
          </a:p>
          <a:p>
            <a:r>
              <a:t>            "total": 124718,</a:t>
            </a:r>
          </a:p>
          <a:p>
            <a:r>
              <a:t>            "foreign": 787,</a:t>
            </a:r>
          </a:p>
          <a:p>
            <a:r>
              <a:t>            "outside": 53730,</a:t>
            </a:r>
          </a:p>
          <a:p>
            <a:r>
              <a:t>            "outside_daily": 7675.714285714285,</a:t>
            </a:r>
          </a:p>
          <a:p>
            <a:r>
              <a:t>            "outside_share_pct": 43.08119116727337</a:t>
            </a:r>
          </a:p>
          <a:p>
            <a:r>
              <a:t>          }</a:t>
            </a:r>
          </a:p>
          <a:p>
            <a:r>
              <a:t>        ],</a:t>
            </a:r>
          </a:p>
          <a:p>
            <a:r>
              <a:t>        "comparison": {</a:t>
            </a:r>
          </a:p>
          <a:p>
            <a:r>
              <a:t>          "daily": {</a:t>
            </a:r>
          </a:p>
          <a:p>
            <a:r>
              <a:t>            "after": 17816.85714285714,</a:t>
            </a:r>
          </a:p>
          <a:p>
            <a:r>
              <a:t>            "before": 15536.833333333334,</a:t>
            </a:r>
          </a:p>
          <a:p>
            <a:r>
              <a:t>            "change_pct": 14.674958278867244,</a:t>
            </a:r>
          </a:p>
          <a:p>
            <a:r>
              <a:t>            "difference": 2280.0238095238074</a:t>
            </a:r>
          </a:p>
          <a:p>
            <a:r>
              <a:t>          },</a:t>
            </a:r>
          </a:p>
          <a:p>
            <a:r>
              <a:t>          "total": {</a:t>
            </a:r>
          </a:p>
          <a:p>
            <a:r>
              <a:t>            "after": 124718,</a:t>
            </a:r>
          </a:p>
          <a:p>
            <a:r>
              <a:t>            "before": 93221,</a:t>
            </a:r>
          </a:p>
          <a:p>
            <a:r>
              <a:t>            "change_pct": 33.78745132534515,</a:t>
            </a:r>
          </a:p>
          <a:p>
            <a:r>
              <a:t>            "difference": 31497</a:t>
            </a:r>
          </a:p>
          <a:p>
            <a:r>
              <a:t>          },</a:t>
            </a:r>
          </a:p>
          <a:p>
            <a:r>
              <a:t>          "outside": {</a:t>
            </a:r>
          </a:p>
          <a:p>
            <a:r>
              <a:t>            "after": 53730,</a:t>
            </a:r>
          </a:p>
          <a:p>
            <a:r>
              <a:t>            "before": 40334,</a:t>
            </a:r>
          </a:p>
          <a:p>
            <a:r>
              <a:t>            "change_pct": 33.21267417067486,</a:t>
            </a:r>
          </a:p>
          <a:p>
            <a:r>
              <a:t>            "difference": 13396</a:t>
            </a:r>
          </a:p>
          <a:p>
            <a:r>
              <a:t>          },</a:t>
            </a:r>
          </a:p>
          <a:p>
            <a:r>
              <a:t>          "after_days": 7,</a:t>
            </a:r>
          </a:p>
          <a:p>
            <a:r>
              <a:t>          "after_year": 2025,</a:t>
            </a:r>
          </a:p>
          <a:p>
            <a:r>
              <a:t>          "before_days": 6,</a:t>
            </a:r>
          </a:p>
          <a:p>
            <a:r>
              <a:t>          "before_year": 2024,</a:t>
            </a:r>
          </a:p>
          <a:p>
            <a:r>
              <a:t>          "outside_daily": {</a:t>
            </a:r>
          </a:p>
          <a:p>
            <a:r>
              <a:t>            "after": 7675.714285714285,</a:t>
            </a:r>
          </a:p>
          <a:p>
            <a:r>
              <a:t>            "before": 6722.333333333333,</a:t>
            </a:r>
          </a:p>
          <a:p>
            <a:r>
              <a:t>            "change_pct": 14.182292146292742,</a:t>
            </a:r>
          </a:p>
          <a:p>
            <a:r>
              <a:t>            "difference": 953.3809523809524</a:t>
            </a:r>
          </a:p>
          <a:p>
            <a:r>
              <a:t>          }</a:t>
            </a:r>
          </a:p>
          <a:p>
            <a:r>
              <a:t>        },</a:t>
            </a:r>
          </a:p>
          <a:p>
            <a:r>
              <a:t>        "scope": "축제 관측구역 방문 지표. 도시 전체·순증 관광객·입장권 실구매자 수가 아님.",</a:t>
            </a:r>
          </a:p>
          <a:p>
            <a:r>
              <a:t>        "region_basis": "목적지 검색 CSV의 시도+시군구 최빈 주소; 행사장 행정경계 확정은 아님",</a:t>
            </a:r>
          </a:p>
          <a:p>
            <a:r>
              <a:t>        "source_file": {</a:t>
            </a:r>
          </a:p>
          <a:p>
            <a:r>
              <a:t>          "sha256": "ec35e7537d4da1ed72dd60617fec143558f280299aeb303bc8b7a1036ecc73f0",</a:t>
            </a:r>
          </a:p>
          <a:p>
            <a:r>
              <a:t>          "provider": "한국관광 데이터랩",</a:t>
            </a:r>
          </a:p>
          <a:p>
            <a:r>
              <a:t>          "file_name": "20260820183544_통영한산대첩축제_연도별 방문자 추이.csv",</a:t>
            </a:r>
          </a:p>
          <a:p>
            <a:r>
              <a:t>          "source_id": "festival-file:ec35e7537d4da1ed72dd",</a:t>
            </a:r>
          </a:p>
          <a:p>
            <a:r>
              <a:t>          "source_url": "https://datalab.visitkorea.or.kr/",</a:t>
            </a:r>
          </a:p>
          <a:p>
            <a:r>
              <a:t>          "downloaded_at": "2026-08-20",</a:t>
            </a:r>
          </a:p>
          <a:p>
            <a:r>
              <a:t>          "relative_path": "data/source_snapshots/festivals_20260820/81. 통영한산대첩축제_2023-2025/20260820183544_통영한산대첩축제_연도별 방문자 추이.csv",</a:t>
            </a:r>
          </a:p>
          <a:p>
            <a:r>
              <a:t>          "provenance_status": "team_download_exact_query_url_unrecorded"</a:t>
            </a:r>
          </a:p>
          <a:p>
            <a:r>
              <a:t>        },</a:t>
            </a:r>
          </a:p>
          <a:p>
            <a:r>
              <a:t>        "indicator_values": [</a:t>
            </a:r>
          </a:p>
          <a:p>
            <a:r>
              <a:t>          {</a:t>
            </a:r>
          </a:p>
          <a:p>
            <a:r>
              <a:t>            "구분명": "외부방문자 유입",</a:t>
            </a:r>
          </a:p>
          <a:p>
            <a:r>
              <a:t>            "그룹명": "축제기간",</a:t>
            </a:r>
          </a:p>
          <a:p>
            <a:r>
              <a:t>            "지표값": "0.309",</a:t>
            </a:r>
          </a:p>
          <a:p>
            <a:r>
              <a:t>            "축제명": "통영한산대첩축제",</a:t>
            </a:r>
          </a:p>
          <a:p>
            <a:r>
              <a:t>            "개최년도": "2025"</a:t>
            </a:r>
          </a:p>
          <a:p>
            <a:r>
              <a:t>          },</a:t>
            </a:r>
          </a:p>
          <a:p>
            <a:r>
              <a:t>          {</a:t>
            </a:r>
          </a:p>
          <a:p>
            <a:r>
              <a:t>            "구분명": "현지인방문자 유입",</a:t>
            </a:r>
          </a:p>
          <a:p>
            <a:r>
              <a:t>            "그룹명": "축제기간",</a:t>
            </a:r>
          </a:p>
          <a:p>
            <a:r>
              <a:t>            "지표값": "0.731",</a:t>
            </a:r>
          </a:p>
          <a:p>
            <a:r>
              <a:t>            "축제명": "통영한산대첩축제",</a:t>
            </a:r>
          </a:p>
          <a:p>
            <a:r>
              <a:t>            "개최년도": "2025"</a:t>
            </a:r>
          </a:p>
          <a:p>
            <a:r>
              <a:t>          },</a:t>
            </a:r>
          </a:p>
          <a:p>
            <a:r>
              <a:t>          {</a:t>
            </a:r>
          </a:p>
          <a:p>
            <a:r>
              <a:t>            "구분명": "내비게이션 검색량",</a:t>
            </a:r>
          </a:p>
          <a:p>
            <a:r>
              <a:t>            "그룹명": "축제기간",</a:t>
            </a:r>
          </a:p>
          <a:p>
            <a:r>
              <a:t>            "지표값": "0.228",</a:t>
            </a:r>
          </a:p>
          <a:p>
            <a:r>
              <a:t>            "축제명": "통영한산대첩축제",</a:t>
            </a:r>
          </a:p>
          <a:p>
            <a:r>
              <a:t>            "개최년도": "2025"</a:t>
            </a:r>
          </a:p>
          <a:p>
            <a:r>
              <a:t>          },</a:t>
            </a:r>
          </a:p>
          <a:p>
            <a:r>
              <a:t>          {</a:t>
            </a:r>
          </a:p>
          <a:p>
            <a:r>
              <a:t>            "구분명": "관광소비",</a:t>
            </a:r>
          </a:p>
          <a:p>
            <a:r>
              <a:t>            "그룹명": "축제기간",</a:t>
            </a:r>
          </a:p>
          <a:p>
            <a:r>
              <a:t>            "지표값": "0.313",</a:t>
            </a:r>
          </a:p>
          <a:p>
            <a:r>
              <a:t>            "축제명": "통영한산대첩축제",</a:t>
            </a:r>
          </a:p>
          <a:p>
            <a:r>
              <a:t>            "개최년도": "2025"</a:t>
            </a:r>
          </a:p>
          <a:p>
            <a:r>
              <a:t>          },</a:t>
            </a:r>
          </a:p>
          <a:p>
            <a:r>
              <a:t>          {</a:t>
            </a:r>
          </a:p>
          <a:p>
            <a:r>
              <a:t>            "구분명": "축제지 집중률",</a:t>
            </a:r>
          </a:p>
          <a:p>
            <a:r>
              <a:t>            "그룹명": "축제기간",</a:t>
            </a:r>
          </a:p>
          <a:p>
            <a:r>
              <a:t>            "지표값": "0.766",</a:t>
            </a:r>
          </a:p>
          <a:p>
            <a:r>
              <a:t>            "축제명": "통영한산대첩축제",</a:t>
            </a:r>
          </a:p>
          <a:p>
            <a:r>
              <a:t>            "개최년도": "2025"</a:t>
            </a:r>
          </a:p>
          <a:p>
            <a:r>
              <a:t>          },</a:t>
            </a:r>
          </a:p>
          <a:p>
            <a:r>
              <a:t>          {</a:t>
            </a:r>
          </a:p>
          <a:p>
            <a:r>
              <a:t>            "구분명": "외부방문자 유입",</a:t>
            </a:r>
          </a:p>
          <a:p>
            <a:r>
              <a:t>            "그룹명": "비축제기간",</a:t>
            </a:r>
          </a:p>
          <a:p>
            <a:r>
              <a:t>            "지표값": "0.244",</a:t>
            </a:r>
          </a:p>
          <a:p>
            <a:r>
              <a:t>            "축제명": "통영한산대첩축제",</a:t>
            </a:r>
          </a:p>
          <a:p>
            <a:r>
              <a:t>            "개최년도": "2025"</a:t>
            </a:r>
          </a:p>
          <a:p>
            <a:r>
              <a:t>          },</a:t>
            </a:r>
          </a:p>
          <a:p>
            <a:r>
              <a:t>          {</a:t>
            </a:r>
          </a:p>
          <a:p>
            <a:r>
              <a:t>            "구분명": "현지인방문자 유입",</a:t>
            </a:r>
          </a:p>
          <a:p>
            <a:r>
              <a:t>            "그룹명": "비축제기간",</a:t>
            </a:r>
          </a:p>
          <a:p>
            <a:r>
              <a:t>            "지표값": "0.586",</a:t>
            </a:r>
          </a:p>
          <a:p>
            <a:r>
              <a:t>            "축제명": "통영한산대첩축제",</a:t>
            </a:r>
          </a:p>
          <a:p>
            <a:r>
              <a:t>            "개최년도": "2025"</a:t>
            </a:r>
          </a:p>
          <a:p>
            <a:r>
              <a:t>          },</a:t>
            </a:r>
          </a:p>
          <a:p>
            <a:r>
              <a:t>          {</a:t>
            </a:r>
          </a:p>
          <a:p>
            <a:r>
              <a:t>            "구분명": "내비게이션 검색량",</a:t>
            </a:r>
          </a:p>
          <a:p>
            <a:r>
              <a:t>            "그룹명": "비축제기간",</a:t>
            </a:r>
          </a:p>
          <a:p>
            <a:r>
              <a:t>            "지표값": "0.206",</a:t>
            </a:r>
          </a:p>
          <a:p>
            <a:r>
              <a:t>            "축제명": "통영한산대첩축제",</a:t>
            </a:r>
          </a:p>
          <a:p>
            <a:r>
              <a:t>            "개최년도": "2025"</a:t>
            </a:r>
          </a:p>
          <a:p>
            <a:r>
              <a:t>          },</a:t>
            </a:r>
          </a:p>
          <a:p>
            <a:r>
              <a:t>          {</a:t>
            </a:r>
          </a:p>
          <a:p>
            <a:r>
              <a:t>            "구분명": "관광소비",</a:t>
            </a:r>
          </a:p>
          <a:p>
            <a:r>
              <a:t>            "그룹명": "비축제기간",</a:t>
            </a:r>
          </a:p>
          <a:p>
            <a:r>
              <a:t>            "지표값": "0.312",</a:t>
            </a:r>
          </a:p>
          <a:p>
            <a:r>
              <a:t>            "축제명": "통영한산대첩축제",</a:t>
            </a:r>
          </a:p>
          <a:p>
            <a:r>
              <a:t>            "개최년도": "2025"</a:t>
            </a:r>
          </a:p>
          <a:p>
            <a:r>
              <a:t>          },</a:t>
            </a:r>
          </a:p>
          <a:p>
            <a:r>
              <a:t>          {</a:t>
            </a:r>
          </a:p>
          <a:p>
            <a:r>
              <a:t>            "구분명": "축제지 집중률",</a:t>
            </a:r>
          </a:p>
          <a:p>
            <a:r>
              <a:t>            "그룹명": "비축제기간",</a:t>
            </a:r>
          </a:p>
          <a:p>
            <a:r>
              <a:t>            "지표값": "0.595",</a:t>
            </a:r>
          </a:p>
          <a:p>
            <a:r>
              <a:t>            "축제명": "통영한산대첩축제",</a:t>
            </a:r>
          </a:p>
          <a:p>
            <a:r>
              <a:t>            "개최년도": "2025"</a:t>
            </a:r>
          </a:p>
          <a:p>
            <a:r>
              <a:t>          }</a:t>
            </a:r>
          </a:p>
          <a:p>
            <a:r>
              <a:t>        ],</a:t>
            </a:r>
          </a:p>
          <a:p>
            <a:r>
              <a:t>        "indicator_rule": "원본 지표값만 보존. 산식·단위 미확인으로 성장률/원화/정원/참여율 변환 금지.",</a:t>
            </a:r>
          </a:p>
          <a:p>
            <a:r>
              <a:t>        "audience": [</a:t>
            </a:r>
          </a:p>
          <a:p>
            <a:r>
              <a:t>          {</a:t>
            </a:r>
          </a:p>
          <a:p>
            <a:r>
              <a:t>            "연령대": "70세 이상",</a:t>
            </a:r>
          </a:p>
          <a:p>
            <a:r>
              <a:t>            "축제명": "통영한산대첩축제",</a:t>
            </a:r>
          </a:p>
          <a:p>
            <a:r>
              <a:t>            "남성비율": "5.2",</a:t>
            </a:r>
          </a:p>
          <a:p>
            <a:r>
              <a:t>            "여성비율": "5.7"</a:t>
            </a:r>
          </a:p>
          <a:p>
            <a:r>
              <a:t>          },</a:t>
            </a:r>
          </a:p>
          <a:p>
            <a:r>
              <a:t>          {</a:t>
            </a:r>
          </a:p>
          <a:p>
            <a:r>
              <a:t>            "연령대": "60~69세",</a:t>
            </a:r>
          </a:p>
          <a:p>
            <a:r>
              <a:t>            "축제명": "통영한산대첩축제",</a:t>
            </a:r>
          </a:p>
          <a:p>
            <a:r>
              <a:t>            "남성비율": "11.0",</a:t>
            </a:r>
          </a:p>
          <a:p>
            <a:r>
              <a:t>            "여성비율": "11.5"</a:t>
            </a:r>
          </a:p>
          <a:p>
            <a:r>
              <a:t>          },</a:t>
            </a:r>
          </a:p>
          <a:p>
            <a:r>
              <a:t>          {</a:t>
            </a:r>
          </a:p>
          <a:p>
            <a:r>
              <a:t>            "연령대": "50~59세",</a:t>
            </a:r>
          </a:p>
          <a:p>
            <a:r>
              <a:t>            "축제명": "통영한산대첩축제",</a:t>
            </a:r>
          </a:p>
          <a:p>
            <a:r>
              <a:t>            "남성비율": "11.1",</a:t>
            </a:r>
          </a:p>
          <a:p>
            <a:r>
              <a:t>            "여성비율": "10.9"</a:t>
            </a:r>
          </a:p>
          <a:p>
            <a:r>
              <a:t>          },</a:t>
            </a:r>
          </a:p>
          <a:p>
            <a:r>
              <a:t>          {</a:t>
            </a:r>
          </a:p>
          <a:p>
            <a:r>
              <a:t>            "연령대": "40~49세",</a:t>
            </a:r>
          </a:p>
          <a:p>
            <a:r>
              <a:t>            "축제명": "통영한산대첩축제",</a:t>
            </a:r>
          </a:p>
          <a:p>
            <a:r>
              <a:t>            "남성비율": "8.0",</a:t>
            </a:r>
          </a:p>
          <a:p>
            <a:r>
              <a:t>            "여성비율": "7.7"</a:t>
            </a:r>
          </a:p>
          <a:p>
            <a:r>
              <a:t>          },</a:t>
            </a:r>
          </a:p>
          <a:p>
            <a:r>
              <a:t>          {</a:t>
            </a:r>
          </a:p>
          <a:p>
            <a:r>
              <a:t>            "연령대": "30~39세",</a:t>
            </a:r>
          </a:p>
          <a:p>
            <a:r>
              <a:t>            "축제명": "통영한산대첩축제",</a:t>
            </a:r>
          </a:p>
          <a:p>
            <a:r>
              <a:t>            "남성비율": "6.3",</a:t>
            </a:r>
          </a:p>
          <a:p>
            <a:r>
              <a:t>            "여성비율": "5.6"</a:t>
            </a:r>
          </a:p>
          <a:p>
            <a:r>
              <a:t>          },</a:t>
            </a:r>
          </a:p>
          <a:p>
            <a:r>
              <a:t>          {</a:t>
            </a:r>
          </a:p>
          <a:p>
            <a:r>
              <a:t>            "연령대": "20~29세",</a:t>
            </a:r>
          </a:p>
          <a:p>
            <a:r>
              <a:t>            "축제명": "통영한산대첩축제",</a:t>
            </a:r>
          </a:p>
          <a:p>
            <a:r>
              <a:t>            "남성비율": "5.4",</a:t>
            </a:r>
          </a:p>
          <a:p>
            <a:r>
              <a:t>            "여성비율": "4.4"</a:t>
            </a:r>
          </a:p>
          <a:p>
            <a:r>
              <a:t>          },</a:t>
            </a:r>
          </a:p>
          <a:p>
            <a:r>
              <a:t>          {</a:t>
            </a:r>
          </a:p>
          <a:p>
            <a:r>
              <a:t>            "연령대": "10~19세",</a:t>
            </a:r>
          </a:p>
          <a:p>
            <a:r>
              <a:t>            "축제명": "통영한산대첩축제",</a:t>
            </a:r>
          </a:p>
          <a:p>
            <a:r>
              <a:t>            "남성비율": "2.8",</a:t>
            </a:r>
          </a:p>
          <a:p>
            <a:r>
              <a:t>            "여성비율": "3.1"</a:t>
            </a:r>
          </a:p>
          <a:p>
            <a:r>
              <a:t>          },</a:t>
            </a:r>
          </a:p>
          <a:p>
            <a:r>
              <a:t>          {</a:t>
            </a:r>
          </a:p>
          <a:p>
            <a:r>
              <a:t>            "연령대": "0~9세",</a:t>
            </a:r>
          </a:p>
          <a:p>
            <a:r>
              <a:t>            "축제명": "통영한산대첩축제",</a:t>
            </a:r>
          </a:p>
          <a:p>
            <a:r>
              <a:t>            "남성비율": "0.5",</a:t>
            </a:r>
          </a:p>
          <a:p>
            <a:r>
              <a:t>            "여성비율": "0.6"</a:t>
            </a:r>
          </a:p>
          <a:p>
            <a:r>
              <a:t>          }</a:t>
            </a:r>
          </a:p>
          <a:p>
            <a:r>
              <a:t>        ],</a:t>
            </a:r>
          </a:p>
          <a:p>
            <a:r>
              <a:t>        "audience_period": "다운로드 CSV에 연도 열 없음; 최신 개최연도와 자동 결합하지 않음",</a:t>
            </a:r>
          </a:p>
          <a:p>
            <a:r>
              <a:t>        "destination_examples": [</a:t>
            </a:r>
          </a:p>
          <a:p>
            <a:r>
              <a:t>          {</a:t>
            </a:r>
          </a:p>
          <a:p>
            <a:r>
              <a:t>            "구분": "외지인",</a:t>
            </a:r>
          </a:p>
          <a:p>
            <a:r>
              <a:t>            "순위": "1",</a:t>
            </a:r>
          </a:p>
          <a:p>
            <a:r>
              <a:t>            "목적지명": "통영중앙전통시장",</a:t>
            </a:r>
          </a:p>
          <a:p>
            <a:r>
              <a:t>            "도로명주소": "경남 통영시 중앙시장1길 14-16",</a:t>
            </a:r>
          </a:p>
          <a:p>
            <a:r>
              <a:t>            "카테고리": "시장"</a:t>
            </a:r>
          </a:p>
          <a:p>
            <a:r>
              <a:t>          },</a:t>
            </a:r>
          </a:p>
          <a:p>
            <a:r>
              <a:t>          {</a:t>
            </a:r>
          </a:p>
          <a:p>
            <a:r>
              <a:t>            "구분": "외지인",</a:t>
            </a:r>
          </a:p>
          <a:p>
            <a:r>
              <a:t>            "순위": "2",</a:t>
            </a:r>
          </a:p>
          <a:p>
            <a:r>
              <a:t>            "목적지명": "동피랑벽화마을",</a:t>
            </a:r>
          </a:p>
          <a:p>
            <a:r>
              <a:t>            "도로명주소": "경남 통영시 동피랑1길 6-18",</a:t>
            </a:r>
          </a:p>
          <a:p>
            <a:r>
              <a:t>            "카테고리": "기타관광"</a:t>
            </a:r>
          </a:p>
          <a:p>
            <a:r>
              <a:t>          },</a:t>
            </a:r>
          </a:p>
          <a:p>
            <a:r>
              <a:t>          {</a:t>
            </a:r>
          </a:p>
          <a:p>
            <a:r>
              <a:t>            "구분": "외지인",</a:t>
            </a:r>
          </a:p>
          <a:p>
            <a:r>
              <a:t>            "순위": "3",</a:t>
            </a:r>
          </a:p>
          <a:p>
            <a:r>
              <a:t>            "목적지명": "통영한산대첩축제(한산대첩광장)",</a:t>
            </a:r>
          </a:p>
          <a:p>
            <a:r>
              <a:t>            "도로명주소": "경남 통영시 통영해안로 267-0",</a:t>
            </a:r>
          </a:p>
          <a:p>
            <a:r>
              <a:t>            "카테고리": "기타문화관광지"</a:t>
            </a:r>
          </a:p>
          <a:p>
            <a:r>
              <a:t>          }</a:t>
            </a:r>
          </a:p>
          <a:p>
            <a:r>
              <a:t>        ],</a:t>
            </a:r>
          </a:p>
          <a:p>
            <a:r>
              <a:t>        "destination_period": "다운로드 CSV에 연도 열 없음; 주변 검색 후보이며 제휴·실제 방문 증거 아님"</a:t>
            </a:r>
          </a:p>
          <a:p>
            <a:r>
              <a:t>      },</a:t>
            </a:r>
          </a:p>
          <a:p>
            <a:r>
              <a:t>      "retrieval_basis": {</a:t>
            </a:r>
          </a:p>
          <a:p>
            <a:r>
              <a:t>        "kind": "external_benchmark",</a:t>
            </a:r>
          </a:p>
          <a:p>
            <a:r>
              <a:t>        "score": 31,</a:t>
            </a:r>
          </a:p>
          <a:p>
            <a:r>
              <a:t>        "components": {</a:t>
            </a:r>
          </a:p>
          <a:p>
            <a:r>
              <a:t>          "방문 전망 조사: 외지인·일평균 동반 증가": 15,</a:t>
            </a:r>
          </a:p>
          <a:p>
            <a:r>
              <a:t>          "최근 개최연도": 6,</a:t>
            </a:r>
          </a:p>
          <a:p>
            <a:r>
              <a:t>          "방문 실적 비교 가능": 10</a:t>
            </a:r>
          </a:p>
          <a:p>
            <a:r>
              <a:t>        },</a:t>
            </a:r>
          </a:p>
          <a:p>
            <a:r>
              <a:t>        "theme": "지역문화",</a:t>
            </a:r>
          </a:p>
          <a:p>
            <a:r>
              <a:t>        "priority_signal": "visit",</a:t>
            </a:r>
          </a:p>
          <a:p>
            <a:r>
              <a:t>        "rule": "함수 기반 조사 우선순위. 사업효과·인구/환경 유사도 점수가 아니며 소비·체류 개선은 조사 가설이다."</a:t>
            </a:r>
          </a:p>
          <a:p>
            <a:r>
              <a:t>      },</a:t>
            </a:r>
          </a:p>
          <a:p>
            <a:r>
              <a:t>      "source_files": [</a:t>
            </a:r>
          </a:p>
          <a:p>
            <a:r>
              <a:t>        {</a:t>
            </a:r>
          </a:p>
          <a:p>
            <a:r>
              <a:t>          "sha256": "ec35e7537d4da1ed72dd60617fec143558f280299aeb303bc8b7a1036ecc73f0",</a:t>
            </a:r>
          </a:p>
          <a:p>
            <a:r>
              <a:t>          "provider": "한국관광 데이터랩",</a:t>
            </a:r>
          </a:p>
          <a:p>
            <a:r>
              <a:t>          "file_name": "20260820183544_통영한산대첩축제_연도별 방문자 추이.csv",</a:t>
            </a:r>
          </a:p>
          <a:p>
            <a:r>
              <a:t>          "source_id": "festival-file:ec35e7537d4da1ed72dd",</a:t>
            </a:r>
          </a:p>
          <a:p>
            <a:r>
              <a:t>          "source_url": "https://datalab.visitkorea.or.kr/",</a:t>
            </a:r>
          </a:p>
          <a:p>
            <a:r>
              <a:t>          "downloaded_at": "2026-08-20",</a:t>
            </a:r>
          </a:p>
          <a:p>
            <a:r>
              <a:t>          "relative_path": "data/source_snapshots/festivals_20260820/81. 통영한산대첩축제_2023-2025/20260820183544_통영한산대첩축제_연도별 방문자 추이.csv",</a:t>
            </a:r>
          </a:p>
          <a:p>
            <a:r>
              <a:t>          "provenance_status": "team_download_exact_query_url_unrecorded"</a:t>
            </a:r>
          </a:p>
          <a:p>
            <a:r>
              <a:t>        },</a:t>
            </a:r>
          </a:p>
          <a:p>
            <a:r>
              <a:t>        {</a:t>
            </a:r>
          </a:p>
          <a:p>
            <a:r>
              <a:t>          "sha256": "77b41103f7ab3a48a3a94baa36227391bc47069fafcf8cc68a36662ec60fd43d",</a:t>
            </a:r>
          </a:p>
          <a:p>
            <a:r>
              <a:t>          "provider": "한국관광 데이터랩",</a:t>
            </a:r>
          </a:p>
          <a:p>
            <a:r>
              <a:t>          "file_name": "20260820183544_통영한산대첩축제_성_연령별 내국인 방문자.csv",</a:t>
            </a:r>
          </a:p>
          <a:p>
            <a:r>
              <a:t>          "source_id": "festival-file:77b41103f7ab3a48a3a9",</a:t>
            </a:r>
          </a:p>
          <a:p>
            <a:r>
              <a:t>          "source_url": "https://datalab.visitkorea.or.kr/",</a:t>
            </a:r>
          </a:p>
          <a:p>
            <a:r>
              <a:t>          "downloaded_at": "2026-08-20",</a:t>
            </a:r>
          </a:p>
          <a:p>
            <a:r>
              <a:t>          "relative_path": "data/source_snapshots/festivals_20260820/81. 통영한산대첩축제_2023-2025/20260820183544_통영한산대첩축제_성_연령별 내국인 방문자.csv",</a:t>
            </a:r>
          </a:p>
          <a:p>
            <a:r>
              <a:t>          "provenance_status": "team_download_exact_query_url_unrecorded"</a:t>
            </a:r>
          </a:p>
          <a:p>
            <a:r>
              <a:t>        },</a:t>
            </a:r>
          </a:p>
          <a:p>
            <a:r>
              <a:t>        {</a:t>
            </a:r>
          </a:p>
          <a:p>
            <a:r>
              <a:t>          "sha256": "5457f819bd8704a9d5b81a24337c2a40c45bbcf7435e0a751139a5457627bdd4",</a:t>
            </a:r>
          </a:p>
          <a:p>
            <a:r>
              <a:t>          "provider": "한국관광 데이터랩",</a:t>
            </a:r>
          </a:p>
          <a:p>
            <a:r>
              <a:t>          "file_name": "20260820183544_통영한산대첩축제_문화관광축제 주요 지표.csv",</a:t>
            </a:r>
          </a:p>
          <a:p>
            <a:r>
              <a:t>          "source_id": "festival-file:5457f819bd8704a9d5b8",</a:t>
            </a:r>
          </a:p>
          <a:p>
            <a:r>
              <a:t>          "source_url": "https://datalab.visitkorea.or.kr/",</a:t>
            </a:r>
          </a:p>
          <a:p>
            <a:r>
              <a:t>          "downloaded_at": "2026-08-20",</a:t>
            </a:r>
          </a:p>
          <a:p>
            <a:r>
              <a:t>          "relative_path": "data/source_snapshots/festivals_20260820/81. 통영한산대첩축제_2023-2025/20260820183544_통영한산대첩축제_문화관광축제 주요 지표.csv",</a:t>
            </a:r>
          </a:p>
          <a:p>
            <a:r>
              <a:t>          "provenance_status": "team_download_exact_query_url_unrecorded"</a:t>
            </a:r>
          </a:p>
          <a:p>
            <a:r>
              <a:t>        },</a:t>
            </a:r>
          </a:p>
          <a:p>
            <a:r>
              <a:t>        {</a:t>
            </a:r>
          </a:p>
          <a:p>
            <a:r>
              <a:t>          "sha256": "3b2a6e862dd8337a7616d3cdb3f568c6fdb24be706918eb7f02d965d625ca746",</a:t>
            </a:r>
          </a:p>
          <a:p>
            <a:r>
              <a:t>          "provider": "한국관광 데이터랩",</a:t>
            </a:r>
          </a:p>
          <a:p>
            <a:r>
              <a:t>          "file_name": "20260820183544_통영한산대첩축제_목적지 검색순위.csv",</a:t>
            </a:r>
          </a:p>
          <a:p>
            <a:r>
              <a:t>          "source_id": "festival-file:3b2a6e862dd8337a7616",</a:t>
            </a:r>
          </a:p>
          <a:p>
            <a:r>
              <a:t>          "source_url": "https://datalab.visitkorea.or.kr/",</a:t>
            </a:r>
          </a:p>
          <a:p>
            <a:r>
              <a:t>          "downloaded_at": "2026-08-20",</a:t>
            </a:r>
          </a:p>
          <a:p>
            <a:r>
              <a:t>          "relative_path": "data/source_snapshots/festivals_20260820/81. 통영한산대첩축제_2023-2025/20260820183544_통영한산대첩축제_목적지 검색순위.csv",</a:t>
            </a:r>
          </a:p>
          <a:p>
            <a:r>
              <a:t>          "provenance_status": "team_download_exact_query_url_unrecorded"</a:t>
            </a:r>
          </a:p>
          <a:p>
            <a:r>
              <a:t>        }</a:t>
            </a:r>
          </a:p>
          <a:p>
            <a:r>
              <a:t>      ],</a:t>
            </a:r>
          </a:p>
          <a:p>
            <a:r>
              <a:t>      "dataset_hash": "ad20e3daf70fd44fd481d672398c07bb9c96fce77acb450784065a568735e2e2",</a:t>
            </a:r>
          </a:p>
          <a:p>
            <a:r>
              <a:t>      "measurement_period": "2023~2025년 각 축제 개최기간",</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a:t>
            </a:r>
          </a:p>
          <a:p>
            <a:r>
              <a:t>    {</a:t>
            </a:r>
          </a:p>
          <a:p>
            <a:r>
              <a:t>      "source_id": "tour-api:2758252",</a:t>
            </a:r>
          </a:p>
          <a:p>
            <a:r>
              <a:t>      "source_type": "open_api",</a:t>
            </a:r>
          </a:p>
          <a:p>
            <a:r>
              <a:t>      "title": "남선공원",</a:t>
            </a:r>
          </a:p>
          <a:p>
            <a:r>
              <a:t>      "source_url": "https://apis.data.go.kr/B551011/KorService2",</a:t>
            </a:r>
          </a:p>
          <a:p>
            <a:r>
              <a:t>      "content_id": "2758252",</a:t>
            </a:r>
          </a:p>
          <a:p>
            <a:r>
              <a:t>      "content_type_id": "12",</a:t>
            </a:r>
          </a:p>
          <a:p>
            <a:r>
              <a:t>      "address": "대전광역시 서구 남선로 66",</a:t>
            </a:r>
          </a:p>
          <a:p>
            <a:r>
              <a:t>      "image_url": "http://tong.visitkorea.or.kr/cms/resource/24/3565624_image2_1.jpg",</a:t>
            </a:r>
          </a:p>
          <a:p>
            <a:r>
              <a:t>      "summary": "한국관광공사 국문관광정보 API가 반환한 선택 지역 관광자원"</a:t>
            </a:r>
          </a:p>
          <a:p>
            <a:r>
              <a:t>    }</a:t>
            </a:r>
          </a:p>
          <a:p>
            <a:r>
              <a:t>  ],</a:t>
            </a:r>
          </a:p>
          <a:p>
            <a:r>
              <a:t>  "selected_forecast": {</a:t>
            </a:r>
          </a:p>
          <a:p>
            <a:r>
              <a:t>    "rows": [</a:t>
            </a:r>
          </a:p>
          <a:p>
            <a:r>
              <a:t>      {</a:t>
            </a:r>
          </a:p>
          <a:p>
            <a:r>
              <a:t>        "month": "202610",</a:t>
            </a:r>
          </a:p>
          <a:p>
            <a:r>
              <a:t>        "visitors": 4998578.0,</a:t>
            </a:r>
          </a:p>
          <a:p>
            <a:r>
              <a:t>        "spending_krw": 79359374710.0,</a:t>
            </a:r>
          </a:p>
          <a:p>
            <a:r>
              <a:t>        "previous_year_visitors": 4949394,</a:t>
            </a:r>
          </a:p>
          <a:p>
            <a:r>
              <a:t>        "previous_year_spending_krw": 78158272000,</a:t>
            </a:r>
          </a:p>
          <a:p>
            <a:r>
              <a:t>        "visitor_yoy_percent": 0.99,</a:t>
            </a:r>
          </a:p>
          <a:p>
            <a:r>
              <a:t>        "spending_yoy_percent": 1.54,</a:t>
            </a:r>
          </a:p>
          <a:p>
            <a:r>
              <a:t>        "lodging_nights": 2.85,</a:t>
            </a:r>
          </a:p>
          <a:p>
            <a:r>
              <a:t>        "previous_year_lodging_nights": 2.85,</a:t>
            </a:r>
          </a:p>
          <a:p>
            <a:r>
              <a:t>        "lodging_rate_pct": 8.9,</a:t>
            </a:r>
          </a:p>
          <a:p>
            <a:r>
              <a:t>        "previous_year_lodging_rate_pct": 8.9,</a:t>
            </a:r>
          </a:p>
          <a:p>
            <a:r>
              <a:t>        "stay_minutes": 1170.0,</a:t>
            </a:r>
          </a:p>
          <a:p>
            <a:r>
              <a:t>        "previous_year_stay_minutes": 1170.0,</a:t>
            </a:r>
          </a:p>
          <a:p>
            <a:r>
              <a:t>        "navigation_searches": 237779,</a:t>
            </a:r>
          </a:p>
          <a:p>
            <a:r>
              <a:t>        "previous_year_navigation_searches": 324902,</a:t>
            </a:r>
          </a:p>
          <a:p>
            <a:r>
              <a:t>        "lodging_searches": 19187,</a:t>
            </a:r>
          </a:p>
          <a:p>
            <a:r>
              <a:t>        "previous_year_lodging_searches": 19187,</a:t>
            </a:r>
          </a:p>
          <a:p>
            <a:r>
              <a:t>        "metric_changes_percent": {</a:t>
            </a:r>
          </a:p>
          <a:p>
            <a:r>
              <a:t>          "lodging_nights": 0.0,</a:t>
            </a:r>
          </a:p>
          <a:p>
            <a:r>
              <a:t>          "lodging_rate_pct": 0.0,</a:t>
            </a:r>
          </a:p>
          <a:p>
            <a:r>
              <a:t>          "stay_minutes": 0.0,</a:t>
            </a:r>
          </a:p>
          <a:p>
            <a:r>
              <a:t>          "navigation_searches": -26.82,</a:t>
            </a:r>
          </a:p>
          <a:p>
            <a:r>
              <a:t>          "lodging_searches": 0.0</a:t>
            </a:r>
          </a:p>
          <a:p>
            <a:r>
              <a:t>        },</a:t>
            </a:r>
          </a:p>
          <a:p>
            <a:r>
              <a:t>        "is_forecast": true</a:t>
            </a:r>
          </a:p>
          <a:p>
            <a:r>
              <a:t>      },</a:t>
            </a:r>
          </a:p>
          <a:p>
            <a:r>
              <a:t>      {</a:t>
            </a:r>
          </a:p>
          <a:p>
            <a:r>
              <a:t>        "month": "202611",</a:t>
            </a:r>
          </a:p>
          <a:p>
            <a:r>
              <a:t>        "visitors": 4940348.0,</a:t>
            </a:r>
          </a:p>
          <a:p>
            <a:r>
              <a:t>        "spending_krw": 85971975908.0,</a:t>
            </a:r>
          </a:p>
          <a:p>
            <a:r>
              <a:t>        "previous_year_visitors": 5167969,</a:t>
            </a:r>
          </a:p>
          <a:p>
            <a:r>
              <a:t>        "previous_year_spending_krw": 76509918000,</a:t>
            </a:r>
          </a:p>
          <a:p>
            <a:r>
              <a:t>        "visitor_yoy_percent": -4.4,</a:t>
            </a:r>
          </a:p>
          <a:p>
            <a:r>
              <a:t>        "spending_yoy_percent": 12.37,</a:t>
            </a:r>
          </a:p>
          <a:p>
            <a:r>
              <a:t>        "lodging_nights": 2.79,</a:t>
            </a:r>
          </a:p>
          <a:p>
            <a:r>
              <a:t>        "previous_year_lodging_nights": 2.79,</a:t>
            </a:r>
          </a:p>
          <a:p>
            <a:r>
              <a:t>        "lodging_rate_pct": 6.5,</a:t>
            </a:r>
          </a:p>
          <a:p>
            <a:r>
              <a:t>        "previous_year_lodging_rate_pct": 6.5,</a:t>
            </a:r>
          </a:p>
          <a:p>
            <a:r>
              <a:t>        "stay_minutes": 987.0,</a:t>
            </a:r>
          </a:p>
          <a:p>
            <a:r>
              <a:t>        "previous_year_stay_minutes": 987.0,</a:t>
            </a:r>
          </a:p>
          <a:p>
            <a:r>
              <a:t>        "navigation_searches": 231894,</a:t>
            </a:r>
          </a:p>
          <a:p>
            <a:r>
              <a:t>        "previous_year_navigation_searches": 238728,</a:t>
            </a:r>
          </a:p>
          <a:p>
            <a:r>
              <a:t>        "lodging_searches": 14379,</a:t>
            </a:r>
          </a:p>
          <a:p>
            <a:r>
              <a:t>        "previous_year_lodging_searches": 14379,</a:t>
            </a:r>
          </a:p>
          <a:p>
            <a:r>
              <a:t>        "metric_changes_percent": {</a:t>
            </a:r>
          </a:p>
          <a:p>
            <a:r>
              <a:t>          "lodging_nights": 0.0,</a:t>
            </a:r>
          </a:p>
          <a:p>
            <a:r>
              <a:t>          "lodging_rate_pct": 0.0,</a:t>
            </a:r>
          </a:p>
          <a:p>
            <a:r>
              <a:t>          "stay_minutes": 0.0,</a:t>
            </a:r>
          </a:p>
          <a:p>
            <a:r>
              <a:t>          "navigation_searches": -2.86,</a:t>
            </a:r>
          </a:p>
          <a:p>
            <a:r>
              <a:t>          "lodging_searches": 0.0</a:t>
            </a:r>
          </a:p>
          <a:p>
            <a:r>
              <a:t>        },</a:t>
            </a:r>
          </a:p>
          <a:p>
            <a:r>
              <a:t>        "is_forecast": true</a:t>
            </a:r>
          </a:p>
          <a:p>
            <a:r>
              <a:t>      },</a:t>
            </a:r>
          </a:p>
          <a:p>
            <a:r>
              <a:t>      {</a:t>
            </a:r>
          </a:p>
          <a:p>
            <a:r>
              <a:t>        "month": "202612",</a:t>
            </a:r>
          </a:p>
          <a:p>
            <a:r>
              <a:t>        "visitors": 4989633.0,</a:t>
            </a:r>
          </a:p>
          <a:p>
            <a:r>
              <a:t>        "spending_krw": 81033922052.0,</a:t>
            </a:r>
          </a:p>
          <a:p>
            <a:r>
              <a:t>        "previous_year_visitors": 5079597,</a:t>
            </a:r>
          </a:p>
          <a:p>
            <a:r>
              <a:t>        "previous_year_spending_krw": 81119852000,</a:t>
            </a:r>
          </a:p>
          <a:p>
            <a:r>
              <a:t>        "visitor_yoy_percent": -1.77,</a:t>
            </a:r>
          </a:p>
          <a:p>
            <a:r>
              <a:t>        "spending_yoy_percent": -0.11,</a:t>
            </a:r>
          </a:p>
          <a:p>
            <a:r>
              <a:t>        "lodging_nights": 2.81,</a:t>
            </a:r>
          </a:p>
          <a:p>
            <a:r>
              <a:t>        "previous_year_lodging_nights": 2.81,</a:t>
            </a:r>
          </a:p>
          <a:p>
            <a:r>
              <a:t>        "lodging_rate_pct": 7.3,</a:t>
            </a:r>
          </a:p>
          <a:p>
            <a:r>
              <a:t>        "previous_year_lodging_rate_pct": 7.3,</a:t>
            </a:r>
          </a:p>
          <a:p>
            <a:r>
              <a:t>        "stay_minutes": 1118.0,</a:t>
            </a:r>
          </a:p>
          <a:p>
            <a:r>
              <a:t>        "previous_year_stay_minutes": 1118.0,</a:t>
            </a:r>
          </a:p>
          <a:p>
            <a:r>
              <a:t>        "navigation_searches": 225518,</a:t>
            </a:r>
          </a:p>
          <a:p>
            <a:r>
              <a:t>        "previous_year_navigation_searches": 220205,</a:t>
            </a:r>
          </a:p>
          <a:p>
            <a:r>
              <a:t>        "lodging_searches": 12004,</a:t>
            </a:r>
          </a:p>
          <a:p>
            <a:r>
              <a:t>        "previous_year_lodging_searches": 12004,</a:t>
            </a:r>
          </a:p>
          <a:p>
            <a:r>
              <a:t>        "metric_changes_percent": {</a:t>
            </a:r>
          </a:p>
          <a:p>
            <a:r>
              <a:t>          "lodging_nights": 0.0,</a:t>
            </a:r>
          </a:p>
          <a:p>
            <a:r>
              <a:t>          "lodging_rate_pct": 0.0,</a:t>
            </a:r>
          </a:p>
          <a:p>
            <a:r>
              <a:t>          "stay_minutes": 0.0,</a:t>
            </a:r>
          </a:p>
          <a:p>
            <a:r>
              <a:t>          "navigation_searches": 2.41,</a:t>
            </a:r>
          </a:p>
          <a:p>
            <a:r>
              <a:t>          "lodging_searches": 0.0</a:t>
            </a:r>
          </a:p>
          <a:p>
            <a:r>
              <a:t>        },</a:t>
            </a:r>
          </a:p>
          <a:p>
            <a:r>
              <a:t>        "is_forecast": true</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4982887,</a:t>
            </a:r>
          </a:p>
          <a:p>
            <a:r>
              <a:t>      "spending_krw": 80283647550,</a:t>
            </a:r>
          </a:p>
          <a:p>
            <a:r>
              <a:t>      "previous_year_visitors": 4951150,</a:t>
            </a:r>
          </a:p>
          <a:p>
            <a:r>
              <a:t>      "previous_year_spending_krw": 75135145000,</a:t>
            </a:r>
          </a:p>
          <a:p>
            <a:r>
              <a:t>      "visitor_yoy_percent": 0.64,</a:t>
            </a:r>
          </a:p>
          <a:p>
            <a:r>
              <a:t>      "spending_yoy_percent": 6.85,</a:t>
            </a:r>
          </a:p>
          <a:p>
            <a:r>
              <a:t>      "lodging_nights": 2.91,</a:t>
            </a:r>
          </a:p>
          <a:p>
            <a:r>
              <a:t>      "previous_year_lodging_nights": 2.91,</a:t>
            </a:r>
          </a:p>
          <a:p>
            <a:r>
              <a:t>      "lodging_rate_pct": 7.3,</a:t>
            </a:r>
          </a:p>
          <a:p>
            <a:r>
              <a:t>      "previous_year_lodging_rate_pct": 7.3,</a:t>
            </a:r>
          </a:p>
          <a:p>
            <a:r>
              <a:t>      "stay_minutes": 1223.0,</a:t>
            </a:r>
          </a:p>
          <a:p>
            <a:r>
              <a:t>      "previous_year_stay_minutes": 1223.0,</a:t>
            </a:r>
          </a:p>
          <a:p>
            <a:r>
              <a:t>      "navigation_searches": 209722,</a:t>
            </a:r>
          </a:p>
          <a:p>
            <a:r>
              <a:t>      "previous_year_navigation_searches": 210646,</a:t>
            </a:r>
          </a:p>
          <a:p>
            <a:r>
              <a:t>      "lodging_searches": 12843,</a:t>
            </a:r>
          </a:p>
          <a:p>
            <a:r>
              <a:t>      "previous_year_lodging_searches": 12843,</a:t>
            </a:r>
          </a:p>
          <a:p>
            <a:r>
              <a:t>      "metric_changes_percent": {</a:t>
            </a:r>
          </a:p>
          <a:p>
            <a:r>
              <a:t>        "lodging_nights": 0.0,</a:t>
            </a:r>
          </a:p>
          <a:p>
            <a:r>
              <a:t>        "lodging_rate_pct": 0.0,</a:t>
            </a:r>
          </a:p>
          <a:p>
            <a:r>
              <a:t>        "stay_minutes": 0.0,</a:t>
            </a:r>
          </a:p>
          <a:p>
            <a:r>
              <a:t>        "navigation_searches": -0.44,</a:t>
            </a:r>
          </a:p>
          <a:p>
            <a:r>
              <a:t>        "lodging_searches": 0.0</a:t>
            </a:r>
          </a:p>
          <a:p>
            <a:r>
              <a:t>      },</a:t>
            </a:r>
          </a:p>
          <a:p>
            <a:r>
              <a:t>      "is_forecast": true</a:t>
            </a:r>
          </a:p>
          <a:p>
            <a:r>
              <a:t>    },</a:t>
            </a:r>
          </a:p>
          <a:p>
            <a:r>
              <a:t>    {</a:t>
            </a:r>
          </a:p>
          <a:p>
            <a:r>
              <a:t>      "month": "202608",</a:t>
            </a:r>
          </a:p>
          <a:p>
            <a:r>
              <a:t>      "visitors": 4852547,</a:t>
            </a:r>
          </a:p>
          <a:p>
            <a:r>
              <a:t>      "spending_krw": 76665340753,</a:t>
            </a:r>
          </a:p>
          <a:p>
            <a:r>
              <a:t>      "previous_year_visitors": 4939438,</a:t>
            </a:r>
          </a:p>
          <a:p>
            <a:r>
              <a:t>      "previous_year_spending_krw": 76291079000,</a:t>
            </a:r>
          </a:p>
          <a:p>
            <a:r>
              <a:t>      "visitor_yoy_percent": -1.76,</a:t>
            </a:r>
          </a:p>
          <a:p>
            <a:r>
              <a:t>      "spending_yoy_percent": 0.49,</a:t>
            </a:r>
          </a:p>
          <a:p>
            <a:r>
              <a:t>      "lodging_nights": 2.84,</a:t>
            </a:r>
          </a:p>
          <a:p>
            <a:r>
              <a:t>      "previous_year_lodging_nights": 2.84,</a:t>
            </a:r>
          </a:p>
          <a:p>
            <a:r>
              <a:t>      "lodging_rate_pct": 7.9,</a:t>
            </a:r>
          </a:p>
          <a:p>
            <a:r>
              <a:t>      "previous_year_lodging_rate_pct": 7.9,</a:t>
            </a:r>
          </a:p>
          <a:p>
            <a:r>
              <a:t>      "stay_minutes": 1218.0,</a:t>
            </a:r>
          </a:p>
          <a:p>
            <a:r>
              <a:t>      "previous_year_stay_minutes": 1218.0,</a:t>
            </a:r>
          </a:p>
          <a:p>
            <a:r>
              <a:t>      "navigation_searches": 225159,</a:t>
            </a:r>
          </a:p>
          <a:p>
            <a:r>
              <a:t>      "previous_year_navigation_searches": 220742,</a:t>
            </a:r>
          </a:p>
          <a:p>
            <a:r>
              <a:t>      "lodging_searches": 13272,</a:t>
            </a:r>
          </a:p>
          <a:p>
            <a:r>
              <a:t>      "previous_year_lodging_searches": 13272,</a:t>
            </a:r>
          </a:p>
          <a:p>
            <a:r>
              <a:t>      "metric_changes_percent": {</a:t>
            </a:r>
          </a:p>
          <a:p>
            <a:r>
              <a:t>        "lodging_nights": 0.0,</a:t>
            </a:r>
          </a:p>
          <a:p>
            <a:r>
              <a:t>        "lodging_rate_pct": 0.0,</a:t>
            </a:r>
          </a:p>
          <a:p>
            <a:r>
              <a:t>        "stay_minutes": 0.0,</a:t>
            </a:r>
          </a:p>
          <a:p>
            <a:r>
              <a:t>        "navigation_searches": 2.0,</a:t>
            </a:r>
          </a:p>
          <a:p>
            <a:r>
              <a:t>        "lodging_searches": 0.0</a:t>
            </a:r>
          </a:p>
          <a:p>
            <a:r>
              <a:t>      },</a:t>
            </a:r>
          </a:p>
          <a:p>
            <a:r>
              <a:t>      "is_forecast": true</a:t>
            </a:r>
          </a:p>
          <a:p>
            <a:r>
              <a:t>    },</a:t>
            </a:r>
          </a:p>
          <a:p>
            <a:r>
              <a:t>    {</a:t>
            </a:r>
          </a:p>
          <a:p>
            <a:r>
              <a:t>      "month": "202609",</a:t>
            </a:r>
          </a:p>
          <a:p>
            <a:r>
              <a:t>      "visitors": 4823300,</a:t>
            </a:r>
          </a:p>
          <a:p>
            <a:r>
              <a:t>      "spending_krw": 80194062490,</a:t>
            </a:r>
          </a:p>
          <a:p>
            <a:r>
              <a:t>      "previous_year_visitors": 4842196,</a:t>
            </a:r>
          </a:p>
          <a:p>
            <a:r>
              <a:t>      "previous_year_spending_krw": 70764730000,</a:t>
            </a:r>
          </a:p>
          <a:p>
            <a:r>
              <a:t>      "visitor_yoy_percent": -0.39,</a:t>
            </a:r>
          </a:p>
          <a:p>
            <a:r>
              <a:t>      "spending_yoy_percent": 13.32,</a:t>
            </a:r>
          </a:p>
          <a:p>
            <a:r>
              <a:t>      "lodging_nights": 2.93,</a:t>
            </a:r>
          </a:p>
          <a:p>
            <a:r>
              <a:t>      "previous_year_lodging_nights": 2.93,</a:t>
            </a:r>
          </a:p>
          <a:p>
            <a:r>
              <a:t>      "lodging_rate_pct": 6.7,</a:t>
            </a:r>
          </a:p>
          <a:p>
            <a:r>
              <a:t>      "previous_year_lodging_rate_pct": 6.7,</a:t>
            </a:r>
          </a:p>
          <a:p>
            <a:r>
              <a:t>      "stay_minutes": 1281.0,</a:t>
            </a:r>
          </a:p>
          <a:p>
            <a:r>
              <a:t>      "previous_year_stay_minutes": 1281.0,</a:t>
            </a:r>
          </a:p>
          <a:p>
            <a:r>
              <a:t>      "navigation_searches": 206180,</a:t>
            </a:r>
          </a:p>
          <a:p>
            <a:r>
              <a:t>      "previous_year_navigation_searches": 191971,</a:t>
            </a:r>
          </a:p>
          <a:p>
            <a:r>
              <a:t>      "lodging_searches": 11464,</a:t>
            </a:r>
          </a:p>
          <a:p>
            <a:r>
              <a:t>      "previous_year_lodging_searches": 11464,</a:t>
            </a:r>
          </a:p>
          <a:p>
            <a:r>
              <a:t>      "metric_changes_percent": {</a:t>
            </a:r>
          </a:p>
          <a:p>
            <a:r>
              <a:t>        "lodging_nights": 0.0,</a:t>
            </a:r>
          </a:p>
          <a:p>
            <a:r>
              <a:t>        "lodging_rate_pct": 0.0,</a:t>
            </a:r>
          </a:p>
          <a:p>
            <a:r>
              <a:t>        "stay_minutes": 0.0,</a:t>
            </a:r>
          </a:p>
          <a:p>
            <a:r>
              <a:t>        "navigation_searches": 7.4,</a:t>
            </a:r>
          </a:p>
          <a:p>
            <a:r>
              <a:t>        "lodging_searches": 0.0</a:t>
            </a:r>
          </a:p>
          <a:p>
            <a:r>
              <a:t>      },</a:t>
            </a:r>
          </a:p>
          <a:p>
            <a:r>
              <a:t>      "is_forecast": true</a:t>
            </a:r>
          </a:p>
          <a:p>
            <a:r>
              <a:t>    },</a:t>
            </a:r>
          </a:p>
          <a:p>
            <a:r>
              <a:t>    {</a:t>
            </a:r>
          </a:p>
          <a:p>
            <a:r>
              <a:t>      "month": "202610",</a:t>
            </a:r>
          </a:p>
          <a:p>
            <a:r>
              <a:t>      "visitors": 4998578,</a:t>
            </a:r>
          </a:p>
          <a:p>
            <a:r>
              <a:t>      "spending_krw": 79359374710,</a:t>
            </a:r>
          </a:p>
          <a:p>
            <a:r>
              <a:t>      "previous_year_visitors": 4949394,</a:t>
            </a:r>
          </a:p>
          <a:p>
            <a:r>
              <a:t>      "previous_year_spending_krw": 78158272000,</a:t>
            </a:r>
          </a:p>
          <a:p>
            <a:r>
              <a:t>      "visitor_yoy_percent": 0.99,</a:t>
            </a:r>
          </a:p>
          <a:p>
            <a:r>
              <a:t>      "spending_yoy_percent": 1.54,</a:t>
            </a:r>
          </a:p>
          <a:p>
            <a:r>
              <a:t>      "lodging_nights": 2.85,</a:t>
            </a:r>
          </a:p>
          <a:p>
            <a:r>
              <a:t>      "previous_year_lodging_nights": 2.85,</a:t>
            </a:r>
          </a:p>
          <a:p>
            <a:r>
              <a:t>      "lodging_rate_pct": 8.9,</a:t>
            </a:r>
          </a:p>
          <a:p>
            <a:r>
              <a:t>      "previous_year_lodging_rate_pct": 8.9,</a:t>
            </a:r>
          </a:p>
          <a:p>
            <a:r>
              <a:t>      "stay_minutes": 1170.0,</a:t>
            </a:r>
          </a:p>
          <a:p>
            <a:r>
              <a:t>      "previous_year_stay_minutes": 1170.0,</a:t>
            </a:r>
          </a:p>
          <a:p>
            <a:r>
              <a:t>      "navigation_searches": 237779,</a:t>
            </a:r>
          </a:p>
          <a:p>
            <a:r>
              <a:t>      "previous_year_navigation_searches": 324902,</a:t>
            </a:r>
          </a:p>
          <a:p>
            <a:r>
              <a:t>      "lodging_searches": 19187,</a:t>
            </a:r>
          </a:p>
          <a:p>
            <a:r>
              <a:t>      "previous_year_lodging_searches": 19187,</a:t>
            </a:r>
          </a:p>
          <a:p>
            <a:r>
              <a:t>      "metric_changes_percent": {</a:t>
            </a:r>
          </a:p>
          <a:p>
            <a:r>
              <a:t>        "lodging_nights": 0.0,</a:t>
            </a:r>
          </a:p>
          <a:p>
            <a:r>
              <a:t>        "lodging_rate_pct": 0.0,</a:t>
            </a:r>
          </a:p>
          <a:p>
            <a:r>
              <a:t>        "stay_minutes": 0.0,</a:t>
            </a:r>
          </a:p>
          <a:p>
            <a:r>
              <a:t>        "navigation_searches": -26.82,</a:t>
            </a:r>
          </a:p>
          <a:p>
            <a:r>
              <a:t>        "lodging_searches": 0.0</a:t>
            </a:r>
          </a:p>
          <a:p>
            <a:r>
              <a:t>      },</a:t>
            </a:r>
          </a:p>
          <a:p>
            <a:r>
              <a:t>      "is_forecast": true</a:t>
            </a:r>
          </a:p>
          <a:p>
            <a:r>
              <a:t>    },</a:t>
            </a:r>
          </a:p>
          <a:p>
            <a:r>
              <a:t>    {</a:t>
            </a:r>
          </a:p>
          <a:p>
            <a:r>
              <a:t>      "month": "202611",</a:t>
            </a:r>
          </a:p>
          <a:p>
            <a:r>
              <a:t>      "visitors": 4940348,</a:t>
            </a:r>
          </a:p>
          <a:p>
            <a:r>
              <a:t>      "spending_krw": 85971975908,</a:t>
            </a:r>
          </a:p>
          <a:p>
            <a:r>
              <a:t>      "previous_year_visitors": 5167969,</a:t>
            </a:r>
          </a:p>
          <a:p>
            <a:r>
              <a:t>      "previous_year_spending_krw": 76509918000,</a:t>
            </a:r>
          </a:p>
          <a:p>
            <a:r>
              <a:t>      "visitor_yoy_percent": -4.4,</a:t>
            </a:r>
          </a:p>
          <a:p>
            <a:r>
              <a:t>      "spending_yoy_percent": 12.37,</a:t>
            </a:r>
          </a:p>
          <a:p>
            <a:r>
              <a:t>      "lodging_nights": 2.79,</a:t>
            </a:r>
          </a:p>
          <a:p>
            <a:r>
              <a:t>      "previous_year_lodging_nights": 2.79,</a:t>
            </a:r>
          </a:p>
          <a:p>
            <a:r>
              <a:t>      "lodging_rate_pct": 6.5,</a:t>
            </a:r>
          </a:p>
          <a:p>
            <a:r>
              <a:t>      "previous_year_lodging_rate_pct": 6.5,</a:t>
            </a:r>
          </a:p>
          <a:p>
            <a:r>
              <a:t>      "stay_minutes": 987.0,</a:t>
            </a:r>
          </a:p>
          <a:p>
            <a:r>
              <a:t>      "previous_year_stay_minutes": 987.0,</a:t>
            </a:r>
          </a:p>
          <a:p>
            <a:r>
              <a:t>      "navigation_searches": 231894,</a:t>
            </a:r>
          </a:p>
          <a:p>
            <a:r>
              <a:t>      "previous_year_navigation_searches": 238728,</a:t>
            </a:r>
          </a:p>
          <a:p>
            <a:r>
              <a:t>      "lodging_searches": 14379,</a:t>
            </a:r>
          </a:p>
          <a:p>
            <a:r>
              <a:t>      "previous_year_lodging_searches": 14379,</a:t>
            </a:r>
          </a:p>
          <a:p>
            <a:r>
              <a:t>      "metric_changes_percent": {</a:t>
            </a:r>
          </a:p>
          <a:p>
            <a:r>
              <a:t>        "lodging_nights": 0.0,</a:t>
            </a:r>
          </a:p>
          <a:p>
            <a:r>
              <a:t>        "lodging_rate_pct": 0.0,</a:t>
            </a:r>
          </a:p>
          <a:p>
            <a:r>
              <a:t>        "stay_minutes": 0.0,</a:t>
            </a:r>
          </a:p>
          <a:p>
            <a:r>
              <a:t>        "navigation_searches": -2.86,</a:t>
            </a:r>
          </a:p>
          <a:p>
            <a:r>
              <a:t>        "lodging_searches": 0.0</a:t>
            </a:r>
          </a:p>
          <a:p>
            <a:r>
              <a:t>      },</a:t>
            </a:r>
          </a:p>
          <a:p>
            <a:r>
              <a:t>      "is_forecast": true</a:t>
            </a:r>
          </a:p>
          <a:p>
            <a:r>
              <a:t>    },</a:t>
            </a:r>
          </a:p>
          <a:p>
            <a:r>
              <a:t>    {</a:t>
            </a:r>
          </a:p>
          <a:p>
            <a:r>
              <a:t>      "month": "202612",</a:t>
            </a:r>
          </a:p>
          <a:p>
            <a:r>
              <a:t>      "visitors": 4989633,</a:t>
            </a:r>
          </a:p>
          <a:p>
            <a:r>
              <a:t>      "spending_krw": 81033922052,</a:t>
            </a:r>
          </a:p>
          <a:p>
            <a:r>
              <a:t>      "previous_year_visitors": 5079597,</a:t>
            </a:r>
          </a:p>
          <a:p>
            <a:r>
              <a:t>      "previous_year_spending_krw": 81119852000,</a:t>
            </a:r>
          </a:p>
          <a:p>
            <a:r>
              <a:t>      "visitor_yoy_percent": -1.77,</a:t>
            </a:r>
          </a:p>
          <a:p>
            <a:r>
              <a:t>      "spending_yoy_percent": -0.11,</a:t>
            </a:r>
          </a:p>
          <a:p>
            <a:r>
              <a:t>      "lodging_nights": 2.81,</a:t>
            </a:r>
          </a:p>
          <a:p>
            <a:r>
              <a:t>      "previous_year_lodging_nights": 2.81,</a:t>
            </a:r>
          </a:p>
          <a:p>
            <a:r>
              <a:t>      "lodging_rate_pct": 7.3,</a:t>
            </a:r>
          </a:p>
          <a:p>
            <a:r>
              <a:t>      "previous_year_lodging_rate_pct": 7.3,</a:t>
            </a:r>
          </a:p>
          <a:p>
            <a:r>
              <a:t>      "stay_minutes": 1118.0,</a:t>
            </a:r>
          </a:p>
          <a:p>
            <a:r>
              <a:t>      "previous_year_stay_minutes": 1118.0,</a:t>
            </a:r>
          </a:p>
          <a:p>
            <a:r>
              <a:t>      "navigation_searches": 225518,</a:t>
            </a:r>
          </a:p>
          <a:p>
            <a:r>
              <a:t>      "previous_year_navigation_searches": 220205,</a:t>
            </a:r>
          </a:p>
          <a:p>
            <a:r>
              <a:t>      "lodging_searches": 12004,</a:t>
            </a:r>
          </a:p>
          <a:p>
            <a:r>
              <a:t>      "previous_year_lodging_searches": 12004,</a:t>
            </a:r>
          </a:p>
          <a:p>
            <a:r>
              <a:t>      "metric_changes_percent": {</a:t>
            </a:r>
          </a:p>
          <a:p>
            <a:r>
              <a:t>        "lodging_nights": 0.0,</a:t>
            </a:r>
          </a:p>
          <a:p>
            <a:r>
              <a:t>        "lodging_rate_pct": 0.0,</a:t>
            </a:r>
          </a:p>
          <a:p>
            <a:r>
              <a:t>        "stay_minutes": 0.0,</a:t>
            </a:r>
          </a:p>
          <a:p>
            <a:r>
              <a:t>        "navigation_searches": 2.41,</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6,</a:t>
            </a:r>
          </a:p>
          <a:p>
            <a:r>
              <a:t>    "longer_horizon_status": "exploratory_not_recursively_backtested",</a:t>
            </a:r>
          </a:p>
          <a:p>
            <a:r>
              <a:t>    "metrics": {</a:t>
            </a:r>
          </a:p>
          <a:p>
            <a:r>
              <a:t>      "visitors": {</a:t>
            </a:r>
          </a:p>
          <a:p>
            <a:r>
              <a:t>        "selected_model": "RandomForestRegressor",</a:t>
            </a:r>
          </a:p>
          <a:p>
            <a:r>
              <a:t>        "test_mae": 237105.53,</a:t>
            </a:r>
          </a:p>
          <a:p>
            <a:r>
              <a:t>        "baseline_test_mae": 192935.5,</a:t>
            </a:r>
          </a:p>
          <a:p>
            <a:r>
              <a:t>        "beats_baseline_on_test": false,</a:t>
            </a:r>
          </a:p>
          <a:p>
            <a:r>
              <a:t>        "model_reliability": "below_baseline_on_test",</a:t>
            </a:r>
          </a:p>
          <a:p>
            <a:r>
              <a:t>        "recursive_horizons_worse_than_baseline": [</a:t>
            </a:r>
          </a:p>
          <a:p>
            <a:r>
              <a:t>          "1",</a:t>
            </a:r>
          </a:p>
          <a:p>
            <a:r>
              <a:t>          "2"</a:t>
            </a:r>
          </a:p>
          <a:p>
            <a:r>
              <a:t>        ],</a:t>
            </a:r>
          </a:p>
          <a:p>
            <a:r>
              <a:t>        "recursive_mae": {</a:t>
            </a:r>
          </a:p>
          <a:p>
            <a:r>
              <a:t>          "1": {</a:t>
            </a:r>
          </a:p>
          <a:p>
            <a:r>
              <a:t>            "selected": 332727,</a:t>
            </a:r>
          </a:p>
          <a:p>
            <a:r>
              <a:t>            "baseline": 211072,</a:t>
            </a:r>
          </a:p>
          <a:p>
            <a:r>
              <a:t>            "sample_count": 2</a:t>
            </a:r>
          </a:p>
          <a:p>
            <a:r>
              <a:t>          },</a:t>
            </a:r>
          </a:p>
          <a:p>
            <a:r>
              <a:t>          "2": {</a:t>
            </a:r>
          </a:p>
          <a:p>
            <a:r>
              <a:t>            "selected": 141143.5,</a:t>
            </a:r>
          </a:p>
          <a:p>
            <a:r>
              <a:t>            "baseline": 97043,</a:t>
            </a:r>
          </a:p>
          <a:p>
            <a:r>
              <a:t>            "sample_count": 2</a:t>
            </a:r>
          </a:p>
          <a:p>
            <a:r>
              <a:t>          },</a:t>
            </a:r>
          </a:p>
          <a:p>
            <a:r>
              <a:t>          "3": {</a:t>
            </a:r>
          </a:p>
          <a:p>
            <a:r>
              <a:t>            "selected": 168591.5,</a:t>
            </a:r>
          </a:p>
          <a:p>
            <a:r>
              <a:t>            "baseline": 174799,</a:t>
            </a:r>
          </a:p>
          <a:p>
            <a:r>
              <a:t>            "sample_count": 2</a:t>
            </a:r>
          </a:p>
          <a:p>
            <a:r>
              <a:t>          }</a:t>
            </a:r>
          </a:p>
          <a:p>
            <a:r>
              <a:t>        }</a:t>
            </a:r>
          </a:p>
          <a:p>
            <a:r>
              <a:t>      },</a:t>
            </a:r>
          </a:p>
          <a:p>
            <a:r>
              <a:t>      "spending_krw": {</a:t>
            </a:r>
          </a:p>
          <a:p>
            <a:r>
              <a:t>        "selected_model": "LinearRegression",</a:t>
            </a:r>
          </a:p>
          <a:p>
            <a:r>
              <a:t>        "test_mae": 4927867951.9,</a:t>
            </a:r>
          </a:p>
          <a:p>
            <a:r>
              <a:t>        "baseline_test_mae": 2411157000,</a:t>
            </a:r>
          </a:p>
          <a:p>
            <a:r>
              <a:t>        "beats_baseline_on_test": false,</a:t>
            </a:r>
          </a:p>
          <a:p>
            <a:r>
              <a:t>        "model_reliability": "below_baseline_on_test",</a:t>
            </a:r>
          </a:p>
          <a:p>
            <a:r>
              <a:t>        "recursive_horizons_worse_than_baseline": [</a:t>
            </a:r>
          </a:p>
          <a:p>
            <a:r>
              <a:t>          "1",</a:t>
            </a:r>
          </a:p>
          <a:p>
            <a:r>
              <a:t>          "3"</a:t>
            </a:r>
          </a:p>
          <a:p>
            <a:r>
              <a:t>        ],</a:t>
            </a:r>
          </a:p>
          <a:p>
            <a:r>
              <a:t>        "recursive_mae": {</a:t>
            </a:r>
          </a:p>
          <a:p>
            <a:r>
              <a:t>          "1": {</a:t>
            </a:r>
          </a:p>
          <a:p>
            <a:r>
              <a:t>            "selected": 3237755191,</a:t>
            </a:r>
          </a:p>
          <a:p>
            <a:r>
              <a:t>            "baseline": 1944140500,</a:t>
            </a:r>
          </a:p>
          <a:p>
            <a:r>
              <a:t>            "sample_count": 2</a:t>
            </a:r>
          </a:p>
          <a:p>
            <a:r>
              <a:t>          },</a:t>
            </a:r>
          </a:p>
          <a:p>
            <a:r>
              <a:t>          "2": {</a:t>
            </a:r>
          </a:p>
          <a:p>
            <a:r>
              <a:t>            "selected": 1581504765.5,</a:t>
            </a:r>
          </a:p>
          <a:p>
            <a:r>
              <a:t>            "baseline": 3984052500,</a:t>
            </a:r>
          </a:p>
          <a:p>
            <a:r>
              <a:t>            "sample_count": 2</a:t>
            </a:r>
          </a:p>
          <a:p>
            <a:r>
              <a:t>          },</a:t>
            </a:r>
          </a:p>
          <a:p>
            <a:r>
              <a:t>          "3": {</a:t>
            </a:r>
          </a:p>
          <a:p>
            <a:r>
              <a:t>            "selected": 4493524184.5,</a:t>
            </a:r>
          </a:p>
          <a:p>
            <a:r>
              <a:t>            "baseline": 2878173500,</a:t>
            </a:r>
          </a:p>
          <a:p>
            <a:r>
              <a:t>            "sample_count": 2</a:t>
            </a:r>
          </a:p>
          <a:p>
            <a:r>
              <a:t>          }</a:t>
            </a:r>
          </a:p>
          <a:p>
            <a:r>
              <a:t>        }</a:t>
            </a:r>
          </a:p>
          <a:p>
            <a:r>
              <a:t>      },</a:t>
            </a:r>
          </a:p>
          <a:p>
            <a:r>
              <a:t>      "lodging_nights": {</a:t>
            </a:r>
          </a:p>
          <a:p>
            <a:r>
              <a:t>        "selected_model": "seasonal_naive_previous_year_same_month",</a:t>
            </a:r>
          </a:p>
          <a:p>
            <a:r>
              <a:t>        "test_mae": 0.07,</a:t>
            </a:r>
          </a:p>
          <a:p>
            <a:r>
              <a:t>        "baseline_test_mae": 0.07,</a:t>
            </a:r>
          </a:p>
          <a:p>
            <a:r>
              <a:t>        "beats_baseline_on_test": false,</a:t>
            </a:r>
          </a:p>
          <a:p>
            <a:r>
              <a:t>        "model_reliability": "seasonal_baseline",</a:t>
            </a:r>
          </a:p>
          <a:p>
            <a:r>
              <a:t>        "recursive_horizons_worse_than_baseline": [],</a:t>
            </a:r>
          </a:p>
          <a:p>
            <a:r>
              <a:t>        "recursive_mae": {</a:t>
            </a:r>
          </a:p>
          <a:p>
            <a:r>
              <a:t>          "1": {</a:t>
            </a:r>
          </a:p>
          <a:p>
            <a:r>
              <a:t>            "selected": 0.06,</a:t>
            </a:r>
          </a:p>
          <a:p>
            <a:r>
              <a:t>            "baseline": 0.06,</a:t>
            </a:r>
          </a:p>
          <a:p>
            <a:r>
              <a:t>            "sample_count": 2</a:t>
            </a:r>
          </a:p>
          <a:p>
            <a:r>
              <a:t>          },</a:t>
            </a:r>
          </a:p>
          <a:p>
            <a:r>
              <a:t>          "2": {</a:t>
            </a:r>
          </a:p>
          <a:p>
            <a:r>
              <a:t>            "selected": 0.11,</a:t>
            </a:r>
          </a:p>
          <a:p>
            <a:r>
              <a:t>            "baseline": 0.11,</a:t>
            </a:r>
          </a:p>
          <a:p>
            <a:r>
              <a:t>            "sample_count": 2</a:t>
            </a:r>
          </a:p>
          <a:p>
            <a:r>
              <a:t>          },</a:t>
            </a:r>
          </a:p>
          <a:p>
            <a:r>
              <a:t>          "3": {</a:t>
            </a:r>
          </a:p>
          <a:p>
            <a:r>
              <a:t>            "selected": 0.08,</a:t>
            </a:r>
          </a:p>
          <a:p>
            <a:r>
              <a:t>            "baseline": 0.08,</a:t>
            </a:r>
          </a:p>
          <a:p>
            <a:r>
              <a:t>            "sample_count": 2</a:t>
            </a:r>
          </a:p>
          <a:p>
            <a:r>
              <a:t>          }</a:t>
            </a:r>
          </a:p>
          <a:p>
            <a:r>
              <a:t>        }</a:t>
            </a:r>
          </a:p>
          <a:p>
            <a:r>
              <a:t>      },</a:t>
            </a:r>
          </a:p>
          <a:p>
            <a:r>
              <a:t>      "lodging_rate_pct": {</a:t>
            </a:r>
          </a:p>
          <a:p>
            <a:r>
              <a:t>        "selected_model": "seasonal_naive_previous_year_same_month",</a:t>
            </a:r>
          </a:p>
          <a:p>
            <a:r>
              <a:t>        "test_mae": 0.3,</a:t>
            </a:r>
          </a:p>
          <a:p>
            <a:r>
              <a:t>        "baseline_test_mae": 0.3,</a:t>
            </a:r>
          </a:p>
          <a:p>
            <a:r>
              <a:t>        "beats_baseline_on_test": false,</a:t>
            </a:r>
          </a:p>
          <a:p>
            <a:r>
              <a:t>        "model_reliability": "seasonal_baseline",</a:t>
            </a:r>
          </a:p>
          <a:p>
            <a:r>
              <a:t>        "recursive_horizons_worse_than_baseline": [],</a:t>
            </a:r>
          </a:p>
          <a:p>
            <a:r>
              <a:t>        "recursive_mae": {</a:t>
            </a:r>
          </a:p>
          <a:p>
            <a:r>
              <a:t>          "1": {</a:t>
            </a:r>
          </a:p>
          <a:p>
            <a:r>
              <a:t>            "selected": 0.4,</a:t>
            </a:r>
          </a:p>
          <a:p>
            <a:r>
              <a:t>            "baseline": 0.4,</a:t>
            </a:r>
          </a:p>
          <a:p>
            <a:r>
              <a:t>            "sample_count": 2</a:t>
            </a:r>
          </a:p>
          <a:p>
            <a:r>
              <a:t>          },</a:t>
            </a:r>
          </a:p>
          <a:p>
            <a:r>
              <a:t>          "2": {</a:t>
            </a:r>
          </a:p>
          <a:p>
            <a:r>
              <a:t>            "selected": 0.2,</a:t>
            </a:r>
          </a:p>
          <a:p>
            <a:r>
              <a:t>            "baseline": 0.2,</a:t>
            </a:r>
          </a:p>
          <a:p>
            <a:r>
              <a:t>            "sample_count": 2</a:t>
            </a:r>
          </a:p>
          <a:p>
            <a:r>
              <a:t>          },</a:t>
            </a:r>
          </a:p>
          <a:p>
            <a:r>
              <a:t>          "3": {</a:t>
            </a:r>
          </a:p>
          <a:p>
            <a:r>
              <a:t>            "selected": 0.2,</a:t>
            </a:r>
          </a:p>
          <a:p>
            <a:r>
              <a:t>            "baseline": 0.2,</a:t>
            </a:r>
          </a:p>
          <a:p>
            <a:r>
              <a:t>            "sample_count": 2</a:t>
            </a:r>
          </a:p>
          <a:p>
            <a:r>
              <a:t>          }</a:t>
            </a:r>
          </a:p>
          <a:p>
            <a:r>
              <a:t>        }</a:t>
            </a:r>
          </a:p>
          <a:p>
            <a:r>
              <a:t>      },</a:t>
            </a:r>
          </a:p>
          <a:p>
            <a:r>
              <a:t>      "stay_minutes": {</a:t>
            </a:r>
          </a:p>
          <a:p>
            <a:r>
              <a:t>        "selected_model": "seasonal_naive_previous_year_same_month",</a:t>
            </a:r>
          </a:p>
          <a:p>
            <a:r>
              <a:t>        "test_mae": 113.5,</a:t>
            </a:r>
          </a:p>
          <a:p>
            <a:r>
              <a:t>        "baseline_test_mae": 113.5,</a:t>
            </a:r>
          </a:p>
          <a:p>
            <a:r>
              <a:t>        "beats_baseline_on_test": false,</a:t>
            </a:r>
          </a:p>
          <a:p>
            <a:r>
              <a:t>        "model_reliability": "seasonal_baseline",</a:t>
            </a:r>
          </a:p>
          <a:p>
            <a:r>
              <a:t>        "recursive_horizons_worse_than_baseline": [],</a:t>
            </a:r>
          </a:p>
          <a:p>
            <a:r>
              <a:t>        "recursive_mae": {</a:t>
            </a:r>
          </a:p>
          <a:p>
            <a:r>
              <a:t>          "1": {</a:t>
            </a:r>
          </a:p>
          <a:p>
            <a:r>
              <a:t>            "selected": 52,</a:t>
            </a:r>
          </a:p>
          <a:p>
            <a:r>
              <a:t>            "baseline": 52,</a:t>
            </a:r>
          </a:p>
          <a:p>
            <a:r>
              <a:t>            "sample_count": 2</a:t>
            </a:r>
          </a:p>
          <a:p>
            <a:r>
              <a:t>          },</a:t>
            </a:r>
          </a:p>
          <a:p>
            <a:r>
              <a:t>          "2": {</a:t>
            </a:r>
          </a:p>
          <a:p>
            <a:r>
              <a:t>            "selected": 218.5,</a:t>
            </a:r>
          </a:p>
          <a:p>
            <a:r>
              <a:t>            "baseline": 218.5,</a:t>
            </a:r>
          </a:p>
          <a:p>
            <a:r>
              <a:t>            "sample_count": 2</a:t>
            </a:r>
          </a:p>
          <a:p>
            <a:r>
              <a:t>          },</a:t>
            </a:r>
          </a:p>
          <a:p>
            <a:r>
              <a:t>          "3": {</a:t>
            </a:r>
          </a:p>
          <a:p>
            <a:r>
              <a:t>            "selected": 175,</a:t>
            </a:r>
          </a:p>
          <a:p>
            <a:r>
              <a:t>            "baseline": 175,</a:t>
            </a:r>
          </a:p>
          <a:p>
            <a:r>
              <a:t>            "sample_count": 2</a:t>
            </a:r>
          </a:p>
          <a:p>
            <a:r>
              <a:t>          }</a:t>
            </a:r>
          </a:p>
          <a:p>
            <a:r>
              <a:t>        }</a:t>
            </a:r>
          </a:p>
          <a:p>
            <a:r>
              <a:t>      },</a:t>
            </a:r>
          </a:p>
          <a:p>
            <a:r>
              <a:t>      "navigation_searches": {</a:t>
            </a:r>
          </a:p>
          <a:p>
            <a:r>
              <a:t>        "selected_model": "RandomForestRegressor",</a:t>
            </a:r>
          </a:p>
          <a:p>
            <a:r>
              <a:t>        "test_mae": 20482.57,</a:t>
            </a:r>
          </a:p>
          <a:p>
            <a:r>
              <a:t>        "baseline_test_mae": 12060,</a:t>
            </a:r>
          </a:p>
          <a:p>
            <a:r>
              <a:t>        "beats_baseline_on_test": false,</a:t>
            </a:r>
          </a:p>
          <a:p>
            <a:r>
              <a:t>        "model_reliability": "below_baseline_on_test",</a:t>
            </a:r>
          </a:p>
          <a:p>
            <a:r>
              <a:t>        "recursive_horizons_worse_than_baseline": [</a:t>
            </a:r>
          </a:p>
          <a:p>
            <a:r>
              <a:t>          "1",</a:t>
            </a:r>
          </a:p>
          <a:p>
            <a:r>
              <a:t>          "2",</a:t>
            </a:r>
          </a:p>
          <a:p>
            <a:r>
              <a:t>          "3"</a:t>
            </a:r>
          </a:p>
          <a:p>
            <a:r>
              <a:t>        ],</a:t>
            </a:r>
          </a:p>
          <a:p>
            <a:r>
              <a:t>        "recursive_mae": {</a:t>
            </a:r>
          </a:p>
          <a:p>
            <a:r>
              <a:t>          "1": {</a:t>
            </a:r>
          </a:p>
          <a:p>
            <a:r>
              <a:t>            "selected": 20785,</a:t>
            </a:r>
          </a:p>
          <a:p>
            <a:r>
              <a:t>            "baseline": 9487,</a:t>
            </a:r>
          </a:p>
          <a:p>
            <a:r>
              <a:t>            "sample_count": 2</a:t>
            </a:r>
          </a:p>
          <a:p>
            <a:r>
              <a:t>          },</a:t>
            </a:r>
          </a:p>
          <a:p>
            <a:r>
              <a:t>          "2": {</a:t>
            </a:r>
          </a:p>
          <a:p>
            <a:r>
              <a:t>            "selected": 14198,</a:t>
            </a:r>
          </a:p>
          <a:p>
            <a:r>
              <a:t>            "baseline": 6758.5,</a:t>
            </a:r>
          </a:p>
          <a:p>
            <a:r>
              <a:t>            "sample_count": 2</a:t>
            </a:r>
          </a:p>
          <a:p>
            <a:r>
              <a:t>          },</a:t>
            </a:r>
          </a:p>
          <a:p>
            <a:r>
              <a:t>          "3": {</a:t>
            </a:r>
          </a:p>
          <a:p>
            <a:r>
              <a:t>            "selected": 18839,</a:t>
            </a:r>
          </a:p>
          <a:p>
            <a:r>
              <a:t>            "baseline": 14633,</a:t>
            </a:r>
          </a:p>
          <a:p>
            <a:r>
              <a:t>            "sample_count": 2</a:t>
            </a:r>
          </a:p>
          <a:p>
            <a:r>
              <a:t>          }</a:t>
            </a:r>
          </a:p>
          <a:p>
            <a:r>
              <a:t>        }</a:t>
            </a:r>
          </a:p>
          <a:p>
            <a:r>
              <a:t>      },</a:t>
            </a:r>
          </a:p>
          <a:p>
            <a:r>
              <a:t>      "lodging_searches": {</a:t>
            </a:r>
          </a:p>
          <a:p>
            <a:r>
              <a:t>        "selected_model": "seasonal_naive_previous_year_same_month",</a:t>
            </a:r>
          </a:p>
          <a:p>
            <a:r>
              <a:t>        "test_mae": 526.5,</a:t>
            </a:r>
          </a:p>
          <a:p>
            <a:r>
              <a:t>        "baseline_test_mae": 526.5,</a:t>
            </a:r>
          </a:p>
          <a:p>
            <a:r>
              <a:t>        "beats_baseline_on_test": false,</a:t>
            </a:r>
          </a:p>
          <a:p>
            <a:r>
              <a:t>        "model_reliability": "seasonal_baseline",</a:t>
            </a:r>
          </a:p>
          <a:p>
            <a:r>
              <a:t>        "recursive_horizons_worse_than_baseline": [],</a:t>
            </a:r>
          </a:p>
          <a:p>
            <a:r>
              <a:t>        "recursive_mae": {</a:t>
            </a:r>
          </a:p>
          <a:p>
            <a:r>
              <a:t>          "1": {</a:t>
            </a:r>
          </a:p>
          <a:p>
            <a:r>
              <a:t>            "selected": 779,</a:t>
            </a:r>
          </a:p>
          <a:p>
            <a:r>
              <a:t>            "baseline": 779,</a:t>
            </a:r>
          </a:p>
          <a:p>
            <a:r>
              <a:t>            "sample_count": 2</a:t>
            </a:r>
          </a:p>
          <a:p>
            <a:r>
              <a:t>          },</a:t>
            </a:r>
          </a:p>
          <a:p>
            <a:r>
              <a:t>          "2": {</a:t>
            </a:r>
          </a:p>
          <a:p>
            <a:r>
              <a:t>            "selected": 391.5,</a:t>
            </a:r>
          </a:p>
          <a:p>
            <a:r>
              <a:t>            "baseline": 391.5,</a:t>
            </a:r>
          </a:p>
          <a:p>
            <a:r>
              <a:t>            "sample_count": 2</a:t>
            </a:r>
          </a:p>
          <a:p>
            <a:r>
              <a:t>          },</a:t>
            </a:r>
          </a:p>
          <a:p>
            <a:r>
              <a:t>          "3": {</a:t>
            </a:r>
          </a:p>
          <a:p>
            <a:r>
              <a:t>            "selected": 274,</a:t>
            </a:r>
          </a:p>
          <a:p>
            <a:r>
              <a:t>            "baseline": 274,</a:t>
            </a:r>
          </a:p>
          <a:p>
            <a:r>
              <a:t>            "sample_count": 2</a:t>
            </a:r>
          </a:p>
          <a:p>
            <a:r>
              <a:t>          }</a:t>
            </a:r>
          </a:p>
          <a:p>
            <a:r>
              <a:t>        }</a:t>
            </a:r>
          </a:p>
          <a:p>
            <a:r>
              <a:t>      }</a:t>
            </a:r>
          </a:p>
          <a:p>
            <a:r>
              <a:t>    }</a:t>
            </a:r>
          </a:p>
          <a:p>
            <a:r>
              <a:t>  },</a:t>
            </a:r>
          </a:p>
          <a:p>
            <a:r>
              <a:t>  "execution_scenario": {</a:t>
            </a:r>
          </a:p>
          <a:p>
            <a:r>
              <a:t>    "visitor_target_pct": 0.03473579438178678,</a:t>
            </a:r>
          </a:p>
          <a:p>
            <a:r>
              <a:t>    "spending_target_pct": 0.07498350856156079,</a:t>
            </a:r>
          </a:p>
          <a:p>
            <a:r>
              <a:t>    "target_origin": "operating_capacity"</a:t>
            </a:r>
          </a:p>
          <a:p>
            <a:r>
              <a:t>  },</a:t>
            </a:r>
          </a:p>
          <a:p>
            <a:r>
              <a:t>  "reference_estimate": {</a:t>
            </a:r>
          </a:p>
          <a:p>
            <a:r>
              <a:t>    "status": "saved_report_budget",</a:t>
            </a:r>
          </a:p>
          <a:p>
            <a:r>
              <a:t>    "total_label": "총액 미확정",</a:t>
            </a:r>
          </a:p>
          <a:p>
            <a:r>
              <a:t>    "rows": [</a:t>
            </a:r>
          </a:p>
          <a:p>
            <a:r>
              <a:t>      [</a:t>
            </a:r>
          </a:p>
          <a:p>
            <a:r>
              <a:t>        "산정 내역 1",</a:t>
            </a:r>
          </a:p>
          <a:p>
            <a:r>
              <a:t>        "3,000,000원 (기획 가정: 축제 운영 비용 1,000,000원/월 × 3개월)",</a:t>
            </a:r>
          </a:p>
          <a:p>
            <a:r>
              <a:t>        "본문 기준"</a:t>
            </a:r>
          </a:p>
          <a:p>
            <a:r>
              <a:t>      ]</a:t>
            </a:r>
          </a:p>
          <a:p>
            <a:r>
              <a:t>    ],</a:t>
            </a:r>
          </a:p>
          <a:p>
            <a:r>
              <a:t>    "original_text": "3,000,000원 (기획 가정: 축제 운영 비용 1,000,000원/월 × 3개월)",</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"method": "operation-document-v2",</a:t>
            </a:r>
          </a:p>
          <a:p xmlns:a="http://schemas.openxmlformats.org/drawingml/2006/main">
            <a:r>
              <a:t>  "sources": [</a:t>
            </a:r>
          </a:p>
          <a:p xmlns:a="http://schemas.openxmlformats.org/drawingml/2006/main">
            <a:r>
              <a:t>    {</a:t>
            </a:r>
          </a:p>
          <a:p xmlns:a="http://schemas.openxmlformats.org/drawingml/2006/main">
            <a:r>
              <a:t>      "source_id": "case:night_festival_2025",</a:t>
            </a:r>
          </a:p>
          <a:p xmlns:a="http://schemas.openxmlformats.org/drawingml/2006/main">
            <a:r>
              <a:t>      "source_type": "benchmark_case",</a:t>
            </a:r>
          </a:p>
          <a:p xmlns:a="http://schemas.openxmlformats.org/drawingml/2006/main">
            <a:r>
              <a:t>      "title": "2025 대한민국 밤밤페스타 개최 도시 및 일정",</a:t>
            </a:r>
          </a:p>
          <a:p xmlns:a="http://schemas.openxmlformats.org/drawingml/2006/main">
            <a:r>
              <a:t>      "source_url": "https://korean.visitkorea.or.kr/detail/rem_detail.do?cotid=f9c636b2-dd7c-4f09-af3d-6af43b33d371",</a:t>
            </a:r>
          </a:p>
          <a:p xmlns:a="http://schemas.openxmlformats.org/drawingml/2006/main">
            <a:r>
              <a:t>      "published_or_updated_at": "2025",</a:t>
            </a:r>
          </a:p>
          <a:p xmlns:a="http://schemas.openxmlformats.org/drawingml/2006/main">
            <a:r>
              <a:t>      "summary": "야간관광 특화도시 10곳 · 도시별 야간 콘텐츠를 순회형 축제로 묶는 운영 · 공식 여행기사는 개최 도시·장소·운영 시간과 콘텐츠만 제시하며 방문·소비 성과 수치는 제시하지 않음",</a:t>
            </a:r>
          </a:p>
          <a:p xmlns:a="http://schemas.openxmlformats.org/drawingml/2006/main">
            <a:r>
              <a:t>      "case_region": "야간관광 특화도시 10곳",</a:t>
            </a:r>
          </a:p>
          <a:p xmlns:a="http://schemas.openxmlformats.org/drawingml/2006/main">
            <a:r>
              <a:t>      "intervention": "도시별 야간 콘텐츠를 순회형 축제로 묶는 운영",</a:t>
            </a:r>
          </a:p>
          <a:p xmlns:a="http://schemas.openxmlformats.org/drawingml/2006/main">
            <a:r>
              <a:t>      "operating_model": "10개 야간관광 특화도시의 대표 장소와 시간대를 연결하고, 공연·체험·지역 디저트·판매상품 등 도시별 콘텐츠를 순회 일정으로 운영",</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"공식 여행기사는 개최 도시·장소·운영 시간과 콘텐츠만 제시하며 방문·소비 성과 수치는 제시하지 않음",</a:t>
            </a:r>
          </a:p>
          <a:p xmlns:a="http://schemas.openxmlformats.org/drawingml/2006/main">
            <a:r>
              <a:t>      "operating_statistics": [],</a:t>
            </a:r>
          </a:p>
          <a:p xmlns:a="http://schemas.openxmlformats.org/drawingml/2006/main">
            <a:r>
              <a:t>      "measurement_period": "2025년 행사 일정",</a:t>
            </a:r>
          </a:p>
          <a:p xmlns:a="http://schemas.openxmlformats.org/drawingml/2006/main">
            <a:r>
              <a:t>      "transfer_conditions": [</a:t>
            </a:r>
          </a:p>
          <a:p xmlns:a="http://schemas.openxmlformats.org/drawingml/2006/main">
            <a:r>
              <a:t>        "야간에도 이용 가능한 교통·안전·식음 운영을 함께 설계",</a:t>
            </a:r>
          </a:p>
          <a:p xmlns:a="http://schemas.openxmlformats.org/drawingml/2006/main">
            <a:r>
              <a:t>        "하나의 행사보다 지역별 대표 콘텐츠와 상점 참여를 연결",</a:t>
            </a:r>
          </a:p>
          <a:p xmlns:a="http://schemas.openxmlformats.org/drawingml/2006/main">
            <a:r>
              <a:t>        "행사일과 비행사일을 분리해 방문·결제·숙박 변화를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"case:gangjin_half_price_2024",</a:t>
            </a:r>
          </a:p>
          <a:p xmlns:a="http://schemas.openxmlformats.org/drawingml/2006/main">
            <a:r>
              <a:t>      "source_type": "benchmark_case",</a:t>
            </a:r>
          </a:p>
          <a:p xmlns:a="http://schemas.openxmlformats.org/drawingml/2006/main">
            <a:r>
              <a:t>      "title": "강진 반값여행 지역경제 효과 소개",</a:t>
            </a:r>
          </a:p>
          <a:p xmlns:a="http://schemas.openxmlformats.org/drawingml/2006/main">
            <a:r>
              <a:t>      "source_url": "https://jnfarm.jeonnam.go.kr/board/FARM_BOARD_008/boardView.do?bdId=BD_00000000000011721&amp;menuCd=farm004002",</a:t>
            </a:r>
          </a:p>
          <a:p xmlns:a="http://schemas.openxmlformats.org/drawingml/2006/main">
            <a:r>
              <a:t>      "published_or_updated_at": "2025-01-02",</a:t>
            </a:r>
          </a:p>
          <a:p xmlns:a="http://schemas.openxmlformats.org/drawingml/2006/main">
            <a:r>
              <a:t>      "summary": "전라남도 강진군 · 반값여행 지역환급 · 상품권 결제 변화에 관한 소개 자료는 있으나, 사업 참여자 범위·정확한 비교 기간·원자료를 확인하지 못해 성과 수치 인용을 보류한다.",</a:t>
            </a:r>
          </a:p>
          <a:p xmlns:a="http://schemas.openxmlformats.org/drawingml/2006/main">
            <a:r>
              <a:t>      "case_region": "전라남도 강진군",</a:t>
            </a:r>
          </a:p>
          <a:p xmlns:a="http://schemas.openxmlformats.org/drawingml/2006/main">
            <a:r>
              <a:t>      "intervention": "반값여행 지역환급",</a:t>
            </a:r>
          </a:p>
          <a:p xmlns:a="http://schemas.openxmlformats.org/drawingml/2006/main">
            <a:r>
              <a:t>      "operating_model": "여행자가 지역에서 지출한 비용의 일부를 지역상품권으로 돌려받게 하여 혜택이 다시 지역 상점에서 사용되도록 설계",</a:t>
            </a:r>
          </a:p>
          <a:p xmlns:a="http://schemas.openxmlformats.org/drawingml/2006/main">
            <a:r>
              <a:t>      "evidence_strength": "low",</a:t>
            </a:r>
          </a:p>
          <a:p xmlns:a="http://schemas.openxmlformats.org/drawingml/2006/main">
            <a:r>
              <a:t>      "quantitative_result_approved": false,</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"상품권 결제 변화에 관한 소개 자료는 있으나, 사업 참여자 범위·정확한 비교 기간·원자료를 확인하지 못해 성과 수치 인용을 보류한다.",</a:t>
            </a:r>
          </a:p>
          <a:p xmlns:a="http://schemas.openxmlformats.org/drawingml/2006/main">
            <a:r>
              <a:t>      "operating_statistics": [],</a:t>
            </a:r>
          </a:p>
          <a:p xmlns:a="http://schemas.openxmlformats.org/drawingml/2006/main">
            <a:r>
              <a:t>      "measurement_period": "게시일과 사업 측정기간은 다르며, 비교기간과 집계범위 원자료 확인 필요",</a:t>
            </a:r>
          </a:p>
          <a:p xmlns:a="http://schemas.openxmlformats.org/drawingml/2006/main">
            <a:r>
              <a:t>      "transfer_conditions": [</a:t>
            </a:r>
          </a:p>
          <a:p xmlns:a="http://schemas.openxmlformats.org/drawingml/2006/main">
            <a:r>
              <a:t>        "지역상품권 사용처와 관광업체 참여 기준 필요",</a:t>
            </a:r>
          </a:p>
          <a:p xmlns:a="http://schemas.openxmlformats.org/drawingml/2006/main">
            <a:r>
              <a:t>        "여행 지출 증빙과 중복수혜 방지 절차 필요",</a:t>
            </a:r>
          </a:p>
          <a:p xmlns:a="http://schemas.openxmlformats.org/drawingml/2006/main">
            <a:r>
              <a:t>        "지원금보다 추가 지역소비가 큰지 사후 측정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"case:41508ca81cf29f",</a:t>
            </a:r>
          </a:p>
          <a:p xmlns:a="http://schemas.openxmlformats.org/drawingml/2006/main">
            <a:r>
              <a:t>      "source_type": "benchmark_case",</a:t>
            </a:r>
          </a:p>
          <a:p xmlns:a="http://schemas.openxmlformats.org/drawingml/2006/main">
            <a:r>
              <a:t>      "title": "한국관광 데이터랩 · 안동탈춤축제 방문자 추이",</a:t>
            </a:r>
          </a:p>
          <a:p xmlns:a="http://schemas.openxmlformats.org/drawingml/2006/main">
            <a:r>
              <a:t>      "source_url": "https://datalab.visitkorea.or.kr/",</a:t>
            </a:r>
          </a:p>
          <a:p xmlns:a="http://schemas.openxmlformats.org/drawingml/2006/main">
            <a:r>
              <a:t>      "published_or_updated_at": "2026-08-20",</a:t>
            </a:r>
          </a:p>
          <a:p xmlns:a="http://schemas.openxmlformats.org/drawingml/2006/main">
            <a:r>
              <a:t>      "summary": "경상북도 안동시 · 2025 안동탈춤축제 10일 집중 운영 · 2024→2025년 전체 504,573→554,494명 (+9.89%). 개최 10→10일, 일평균 +9.89%, 외지인 +10.75%.",</a:t>
            </a:r>
          </a:p>
          <a:p xmlns:a="http://schemas.openxmlformats.org/drawingml/2006/main">
            <a:r>
              <a:t>      "case_region": "경상북도 안동시",</a:t>
            </a:r>
          </a:p>
          <a:p xmlns:a="http://schemas.openxmlformats.org/drawingml/2006/main">
            <a:r>
              <a:t>      "intervention": "2025 안동탈춤축제 10일 집중 운영",</a:t>
            </a:r>
          </a:p>
          <a:p xmlns:a="http://schemas.openxmlformats.org/drawingml/2006/main">
            <a:r>
              <a:t>      "operating_model": "2025년 10일 동안 탈춤과 지역문화 중심 축제를 집중 운영했다. 제공된 관광데이터랩 CSV에서는 세부 예약·정원·상권 정산 방식은 확인되지 않으므로, 확인 가능한 실행 사실은 축제명·개최일수·관측구역 방문지표까지다.",</a:t>
            </a:r>
          </a:p>
          <a:p xmlns:a="http://schemas.openxmlformats.org/drawingml/2006/main">
            <a:r>
              <a:t>      "evidence_strength": "medium",</a:t>
            </a:r>
          </a:p>
          <a:p xmlns:a="http://schemas.openxmlformats.org/drawingml/2006/main">
            <a:r>
              <a:t>      "quantitative_result_approved": true,</a:t>
            </a:r>
          </a:p>
          <a:p xmlns:a="http://schemas.openxmlformats.org/drawingml/2006/main">
            <a:r>
              <a:t>      "document_type": null,</a:t>
            </a:r>
          </a:p>
          <a:p xmlns:a="http://schemas.openxmlformats.org/drawingml/2006/main">
            <a:r>
              <a:t>      "retrieval_method": "official_web_search",</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"2024→2025년 전체 504,573→554,494명 (+9.89%). 개최 10→10일, 일평균 +9.89%, 외지인 +10.75%.",</a:t>
            </a:r>
          </a:p>
          <a:p xmlns:a="http://schemas.openxmlformats.org/drawingml/2006/main">
            <a:r>
              <a:t>      "operating_statistics": [</a:t>
            </a:r>
          </a:p>
          <a:p xmlns:a="http://schemas.openxmlformats.org/drawingml/2006/main">
            <a:r>
              <a:t>        {</a:t>
            </a:r>
          </a:p>
          <a:p xmlns:a="http://schemas.openxmlformats.org/drawingml/2006/main">
            <a:r>
              <a:t>          "metric": "operating_days",</a:t>
            </a:r>
          </a:p>
          <a:p xmlns:a="http://schemas.openxmlformats.org/drawingml/2006/main">
            <a:r>
              <a:t>          "value": 10,</a:t>
            </a:r>
          </a:p>
          <a:p xmlns:a="http://schemas.openxmlformats.org/drawingml/2006/main">
            <a:r>
              <a:t>          "unit": "일",</a:t>
            </a:r>
          </a:p>
          <a:p xmlns:a="http://schemas.openxmlformats.org/drawingml/2006/main">
            <a:r>
              <a:t>          "period": "2025년 축제 개최기간",</a:t>
            </a:r>
          </a:p>
          <a:p xmlns:a="http://schemas.openxmlformats.org/drawingml/2006/main">
            <a:r>
              <a:t>          "scope": "안동탈춤축제 전체 개최일",</a:t>
            </a:r>
          </a:p>
          <a:p xmlns:a="http://schemas.openxmlformats.org/drawingml/2006/main">
            <a:r>
              <a:t>          "quote": "2025년 10일 개최",</a:t>
            </a:r>
          </a:p>
          <a:p xmlns:a="http://schemas.openxmlformats.org/drawingml/2006/main">
            <a:r>
              <a:t>          "capacity_count": null,</a:t>
            </a:r>
          </a:p>
          <a:p xmlns:a="http://schemas.openxmlformats.org/drawingml/2006/main">
            <a:r>
              <a:t>          "participant_count": null,</a:t>
            </a:r>
          </a:p>
          <a:p xmlns:a="http://schemas.openxmlformats.org/drawingml/2006/main">
            <a:r>
              <a:t>          "program_name": "안동탈춤축제"</a:t>
            </a:r>
          </a:p>
          <a:p xmlns:a="http://schemas.openxmlformats.org/drawingml/2006/main">
            <a:r>
              <a:t>        }</a:t>
            </a:r>
          </a:p>
          <a:p xmlns:a="http://schemas.openxmlformats.org/drawingml/2006/main">
            <a:r>
              <a:t>      ],</a:t>
            </a:r>
          </a:p>
          <a:p xmlns:a="http://schemas.openxmlformats.org/drawingml/2006/main">
            <a:r>
              <a:t>      "evidence_kind": "festival_document_and_statistics",</a:t>
            </a:r>
          </a:p>
          <a:p xmlns:a="http://schemas.openxmlformats.org/drawingml/2006/main">
            <a:r>
              <a:t>      "festival_statistics": {</a:t>
            </a:r>
          </a:p>
          <a:p xmlns:a="http://schemas.openxmlformats.org/drawingml/2006/main">
            <a:r>
              <a:t>        "name": "안동탈춤축제",</a:t>
            </a:r>
          </a:p>
          <a:p xmlns:a="http://schemas.openxmlformats.org/drawingml/2006/main">
            <a:r>
              <a:t>        "annual": [</a:t>
            </a:r>
          </a:p>
          <a:p xmlns:a="http://schemas.openxmlformats.org/drawingml/2006/main">
            <a:r>
              <a:t>          {</a:t>
            </a:r>
          </a:p>
          <a:p xmlns:a="http://schemas.openxmlformats.org/drawingml/2006/main">
            <a:r>
              <a:t>            "days": 8,</a:t>
            </a:r>
          </a:p>
          <a:p xmlns:a="http://schemas.openxmlformats.org/drawingml/2006/main">
            <a:r>
              <a:t>            "year": 2023,</a:t>
            </a:r>
          </a:p>
          <a:p xmlns:a="http://schemas.openxmlformats.org/drawingml/2006/main">
            <a:r>
              <a:t>            "daily": 45517.125,</a:t>
            </a:r>
          </a:p>
          <a:p xmlns:a="http://schemas.openxmlformats.org/drawingml/2006/main">
            <a:r>
              <a:t>            "local": 233513,</a:t>
            </a:r>
          </a:p>
          <a:p xmlns:a="http://schemas.openxmlformats.org/drawingml/2006/main">
            <a:r>
              <a:t>            "total": 364137,</a:t>
            </a:r>
          </a:p>
          <a:p xmlns:a="http://schemas.openxmlformats.org/drawingml/2006/main">
            <a:r>
              <a:t>            "foreign": 3319,</a:t>
            </a:r>
          </a:p>
          <a:p xmlns:a="http://schemas.openxmlformats.org/drawingml/2006/main">
            <a:r>
              <a:t>            "outside": 127305,</a:t>
            </a:r>
          </a:p>
          <a:p xmlns:a="http://schemas.openxmlformats.org/drawingml/2006/main">
            <a:r>
              <a:t>            "outside_daily": 15913.125,</a:t>
            </a:r>
          </a:p>
          <a:p xmlns:a="http://schemas.openxmlformats.org/drawingml/2006/main">
            <a:r>
              <a:t>            "outside_share_pct": 34.960742797353745</a:t>
            </a:r>
          </a:p>
          <a:p xmlns:a="http://schemas.openxmlformats.org/drawingml/2006/main">
            <a:r>
              <a:t>          },</a:t>
            </a:r>
          </a:p>
          <a:p xmlns:a="http://schemas.openxmlformats.org/drawingml/2006/main">
            <a:r>
              <a:t>          {</a:t>
            </a:r>
          </a:p>
          <a:p xmlns:a="http://schemas.openxmlformats.org/drawingml/2006/main">
            <a:r>
              <a:t>            "days": 10,</a:t>
            </a:r>
          </a:p>
          <a:p xmlns:a="http://schemas.openxmlformats.org/drawingml/2006/main">
            <a:r>
              <a:t>            "year": 2024,</a:t>
            </a:r>
          </a:p>
          <a:p xmlns:a="http://schemas.openxmlformats.org/drawingml/2006/main">
            <a:r>
              <a:t>            "daily": 50457.3,</a:t>
            </a:r>
          </a:p>
          <a:p xmlns:a="http://schemas.openxmlformats.org/drawingml/2006/main">
            <a:r>
              <a:t>            "local": 317925,</a:t>
            </a:r>
          </a:p>
          <a:p xmlns:a="http://schemas.openxmlformats.org/drawingml/2006/main">
            <a:r>
              <a:t>            "total": 504573,</a:t>
            </a:r>
          </a:p>
          <a:p xmlns:a="http://schemas.openxmlformats.org/drawingml/2006/main">
            <a:r>
              <a:t>            "foreign": 4684,</a:t>
            </a:r>
          </a:p>
          <a:p xmlns:a="http://schemas.openxmlformats.org/drawingml/2006/main">
            <a:r>
              <a:t>            "outside": 181964,</a:t>
            </a:r>
          </a:p>
          <a:p xmlns:a="http://schemas.openxmlformats.org/drawingml/2006/main">
            <a:r>
              <a:t>            "outside_daily": 18196.4,</a:t>
            </a:r>
          </a:p>
          <a:p xmlns:a="http://schemas.openxmlformats.org/drawingml/2006/main">
            <a:r>
              <a:t>            "outside_share_pct": 36.06296809381398</a:t>
            </a:r>
          </a:p>
          <a:p xmlns:a="http://schemas.openxmlformats.org/drawingml/2006/main">
            <a:r>
              <a:t>          },</a:t>
            </a:r>
          </a:p>
          <a:p xmlns:a="http://schemas.openxmlformats.org/drawingml/2006/main">
            <a:r>
              <a:t>          {</a:t>
            </a:r>
          </a:p>
          <a:p xmlns:a="http://schemas.openxmlformats.org/drawingml/2006/main">
            <a:r>
              <a:t>            "days": 10,</a:t>
            </a:r>
          </a:p>
          <a:p xmlns:a="http://schemas.openxmlformats.org/drawingml/2006/main">
            <a:r>
              <a:t>            "year": 2025,</a:t>
            </a:r>
          </a:p>
          <a:p xmlns:a="http://schemas.openxmlformats.org/drawingml/2006/main">
            <a:r>
              <a:t>            "daily": 55449.4,</a:t>
            </a:r>
          </a:p>
          <a:p xmlns:a="http://schemas.openxmlformats.org/drawingml/2006/main">
            <a:r>
              <a:t>            "local": 347269,</a:t>
            </a:r>
          </a:p>
          <a:p xmlns:a="http://schemas.openxmlformats.org/drawingml/2006/main">
            <a:r>
              <a:t>            "total": 554494,</a:t>
            </a:r>
          </a:p>
          <a:p xmlns:a="http://schemas.openxmlformats.org/drawingml/2006/main">
            <a:r>
              <a:t>            "foreign": 5702,</a:t>
            </a:r>
          </a:p>
          <a:p xmlns:a="http://schemas.openxmlformats.org/drawingml/2006/main">
            <a:r>
              <a:t>            "outside": 201523,</a:t>
            </a:r>
          </a:p>
          <a:p xmlns:a="http://schemas.openxmlformats.org/drawingml/2006/main">
            <a:r>
              <a:t>            "outside_daily": 20152.3,</a:t>
            </a:r>
          </a:p>
          <a:p xmlns:a="http://schemas.openxmlformats.org/drawingml/2006/main">
            <a:r>
              <a:t>            "outside_share_pct": 36.34358532283487</a:t>
            </a:r>
          </a:p>
          <a:p xmlns:a="http://schemas.openxmlformats.org/drawingml/2006/main">
            <a:r>
              <a:t>          }</a:t>
            </a:r>
          </a:p>
          <a:p xmlns:a="http://schemas.openxmlformats.org/drawingml/2006/main">
            <a:r>
              <a:t>        ],</a:t>
            </a:r>
          </a:p>
          <a:p xmlns:a="http://schemas.openxmlformats.org/drawingml/2006/main">
            <a:r>
              <a:t>        "comparison": {</a:t>
            </a:r>
          </a:p>
          <a:p xmlns:a="http://schemas.openxmlformats.org/drawingml/2006/main">
            <a:r>
              <a:t>          "daily": {</a:t>
            </a:r>
          </a:p>
          <a:p xmlns:a="http://schemas.openxmlformats.org/drawingml/2006/main">
            <a:r>
              <a:t>            "after": 55449.4,</a:t>
            </a:r>
          </a:p>
          <a:p xmlns:a="http://schemas.openxmlformats.org/drawingml/2006/main">
            <a:r>
              <a:t>            "before": 50457.3,</a:t>
            </a:r>
          </a:p>
          <a:p xmlns:a="http://schemas.openxmlformats.org/drawingml/2006/main">
            <a:r>
              <a:t>            "change_pct": 9.893712109050613,</a:t>
            </a:r>
          </a:p>
          <a:p xmlns:a="http://schemas.openxmlformats.org/drawingml/2006/main">
            <a:r>
              <a:t>            "difference": 4992.0999999999985</a:t>
            </a:r>
          </a:p>
          <a:p xmlns:a="http://schemas.openxmlformats.org/drawingml/2006/main">
            <a:r>
              <a:t>          },</a:t>
            </a:r>
          </a:p>
          <a:p xmlns:a="http://schemas.openxmlformats.org/drawingml/2006/main">
            <a:r>
              <a:t>          "total": {</a:t>
            </a:r>
          </a:p>
          <a:p xmlns:a="http://schemas.openxmlformats.org/drawingml/2006/main">
            <a:r>
              <a:t>            "after": 554494,</a:t>
            </a:r>
          </a:p>
          <a:p xmlns:a="http://schemas.openxmlformats.org/drawingml/2006/main">
            <a:r>
              <a:t>            "before": 504573,</a:t>
            </a:r>
          </a:p>
          <a:p xmlns:a="http://schemas.openxmlformats.org/drawingml/2006/main">
            <a:r>
              <a:t>            "change_pct": 9.893712109050613,</a:t>
            </a:r>
          </a:p>
          <a:p xmlns:a="http://schemas.openxmlformats.org/drawingml/2006/main">
            <a:r>
              <a:t>            "difference": 49921</a:t>
            </a:r>
          </a:p>
          <a:p xmlns:a="http://schemas.openxmlformats.org/drawingml/2006/main">
            <a:r>
              <a:t>          },</a:t>
            </a:r>
          </a:p>
          <a:p xmlns:a="http://schemas.openxmlformats.org/drawingml/2006/main">
            <a:r>
              <a:t>          "outside": {</a:t>
            </a:r>
          </a:p>
          <a:p xmlns:a="http://schemas.openxmlformats.org/drawingml/2006/main">
            <a:r>
              <a:t>            "after": 201523,</a:t>
            </a:r>
          </a:p>
          <a:p xmlns:a="http://schemas.openxmlformats.org/drawingml/2006/main">
            <a:r>
              <a:t>            "before": 181964,</a:t>
            </a:r>
          </a:p>
          <a:p xmlns:a="http://schemas.openxmlformats.org/drawingml/2006/main">
            <a:r>
              <a:t>            "change_pct": 10.748829438790096,</a:t>
            </a:r>
          </a:p>
          <a:p xmlns:a="http://schemas.openxmlformats.org/drawingml/2006/main">
            <a:r>
              <a:t>            "difference": 19559</a:t>
            </a:r>
          </a:p>
          <a:p xmlns:a="http://schemas.openxmlformats.org/drawingml/2006/main">
            <a:r>
              <a:t>          },</a:t>
            </a:r>
          </a:p>
          <a:p xmlns:a="http://schemas.openxmlformats.org/drawingml/2006/main">
            <a:r>
              <a:t>          "after_days": 10,</a:t>
            </a:r>
          </a:p>
          <a:p xmlns:a="http://schemas.openxmlformats.org/drawingml/2006/main">
            <a:r>
              <a:t>          "after_year": 2025,</a:t>
            </a:r>
          </a:p>
          <a:p xmlns:a="http://schemas.openxmlformats.org/drawingml/2006/main">
            <a:r>
              <a:t>          "before_days": 10,</a:t>
            </a:r>
          </a:p>
          <a:p xmlns:a="http://schemas.openxmlformats.org/drawingml/2006/main">
            <a:r>
              <a:t>          "before_year": 2024,</a:t>
            </a:r>
          </a:p>
          <a:p xmlns:a="http://schemas.openxmlformats.org/drawingml/2006/main">
            <a:r>
              <a:t>          "outside_daily": {</a:t>
            </a:r>
          </a:p>
          <a:p xmlns:a="http://schemas.openxmlformats.org/drawingml/2006/main">
            <a:r>
              <a:t>            "after": 20152.3,</a:t>
            </a:r>
          </a:p>
          <a:p xmlns:a="http://schemas.openxmlformats.org/drawingml/2006/main">
            <a:r>
              <a:t>            "before": 18196.4,</a:t>
            </a:r>
          </a:p>
          <a:p xmlns:a="http://schemas.openxmlformats.org/drawingml/2006/main">
            <a:r>
              <a:t>            "change_pct": 10.748829438790075,</a:t>
            </a:r>
          </a:p>
          <a:p xmlns:a="http://schemas.openxmlformats.org/drawingml/2006/main">
            <a:r>
              <a:t>            "difference": 1955.8999999999976</a:t>
            </a:r>
          </a:p>
          <a:p xmlns:a="http://schemas.openxmlformats.org/drawingml/2006/main">
            <a:r>
              <a:t>          }</a:t>
            </a:r>
          </a:p>
          <a:p xmlns:a="http://schemas.openxmlformats.org/drawingml/2006/main">
            <a:r>
              <a:t>        },</a:t>
            </a:r>
          </a:p>
          <a:p xmlns:a="http://schemas.openxmlformats.org/drawingml/2006/main">
            <a:r>
              <a:t>        "scope": "축제 관측구역 방문 지표. 도시 전체·순증 관광객·입장권 실구매자 수가 아님.",</a:t>
            </a:r>
          </a:p>
          <a:p xmlns:a="http://schemas.openxmlformats.org/drawingml/2006/main">
            <a:r>
              <a:t>        "region_basis": "목적지 검색 CSV의 시도+시군구 최빈 주소; 행사장 행정경계 확정은 아님",</a:t>
            </a:r>
          </a:p>
          <a:p xmlns:a="http://schemas.openxmlformats.org/drawingml/2006/main">
            <a:r>
              <a:t>        "source_file": {</a:t>
            </a:r>
          </a:p>
          <a:p xmlns:a="http://schemas.openxmlformats.org/drawingml/2006/main">
            <a:r>
              <a:t>          "sha256": "28f418873eda5b37d320d3fef32c46bef172ca1cfea3861db2d5fc96a0b16f50",</a:t>
            </a:r>
          </a:p>
          <a:p xmlns:a="http://schemas.openxmlformats.org/drawingml/2006/main">
            <a:r>
              <a:t>          "provider": "한국관광 데이터랩",</a:t>
            </a:r>
          </a:p>
          <a:p xmlns:a="http://schemas.openxmlformats.org/drawingml/2006/main">
            <a:r>
              <a:t>          "file_name": "20260820175023_안동탈춤축제_연도별 방문자 추이.csv",</a:t>
            </a:r>
          </a:p>
          <a:p xmlns:a="http://schemas.openxmlformats.org/drawingml/2006/main">
            <a:r>
              <a:t>          "source_id": "festival-file:28f418873eda5b37d320",</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"indicator_values": [</a:t>
            </a:r>
          </a:p>
          <a:p xmlns:a="http://schemas.openxmlformats.org/drawingml/2006/main">
            <a:r>
              <a:t>          {</a:t>
            </a:r>
          </a:p>
          <a:p xmlns:a="http://schemas.openxmlformats.org/drawingml/2006/main">
            <a:r>
              <a:t>            "구분명": "외부방문자 유입",</a:t>
            </a:r>
          </a:p>
          <a:p xmlns:a="http://schemas.openxmlformats.org/drawingml/2006/main">
            <a:r>
              <a:t>            "그룹명": "축제기간",</a:t>
            </a:r>
          </a:p>
          <a:p xmlns:a="http://schemas.openxmlformats.org/drawingml/2006/main">
            <a:r>
              <a:t>            "지표값": "0.515",</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"축제기간",</a:t>
            </a:r>
          </a:p>
          <a:p xmlns:a="http://schemas.openxmlformats.org/drawingml/2006/main">
            <a:r>
              <a:t>            "지표값": "0.859",</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"축제기간",</a:t>
            </a:r>
          </a:p>
          <a:p xmlns:a="http://schemas.openxmlformats.org/drawingml/2006/main">
            <a:r>
              <a:t>            "지표값": "0.434",</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"축제기간",</a:t>
            </a:r>
          </a:p>
          <a:p xmlns:a="http://schemas.openxmlformats.org/drawingml/2006/main">
            <a:r>
              <a:t>            "지표값": "0.544",</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"축제기간",</a:t>
            </a:r>
          </a:p>
          <a:p xmlns:a="http://schemas.openxmlformats.org/drawingml/2006/main">
            <a:r>
              <a:t>            "지표값": "0.879",</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"외부방문자 유입",</a:t>
            </a:r>
          </a:p>
          <a:p xmlns:a="http://schemas.openxmlformats.org/drawingml/2006/main">
            <a:r>
              <a:t>            "그룹명": "비축제기간",</a:t>
            </a:r>
          </a:p>
          <a:p xmlns:a="http://schemas.openxmlformats.org/drawingml/2006/main">
            <a:r>
              <a:t>            "지표값": "0.258",</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"비축제기간",</a:t>
            </a:r>
          </a:p>
          <a:p xmlns:a="http://schemas.openxmlformats.org/drawingml/2006/main">
            <a:r>
              <a:t>            "지표값": "0.618",</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"비축제기간",</a:t>
            </a:r>
          </a:p>
          <a:p xmlns:a="http://schemas.openxmlformats.org/drawingml/2006/main">
            <a:r>
              <a:t>            "지표값": "0.252",</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"비축제기간",</a:t>
            </a:r>
          </a:p>
          <a:p xmlns:a="http://schemas.openxmlformats.org/drawingml/2006/main">
            <a:r>
              <a:t>            "지표값": "0.375",</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"비축제기간",</a:t>
            </a:r>
          </a:p>
          <a:p xmlns:a="http://schemas.openxmlformats.org/drawingml/2006/main">
            <a:r>
              <a:t>            "지표값": "0.65",</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"indicator_rule": "원본 지표값만 보존. 산식·단위 미확인으로 성장률/원화/정원/참여율 변환 금지.",</a:t>
            </a:r>
          </a:p>
          <a:p xmlns:a="http://schemas.openxmlformats.org/drawingml/2006/main">
            <a:r>
              <a:t>        "audience": [</a:t>
            </a:r>
          </a:p>
          <a:p xmlns:a="http://schemas.openxmlformats.org/drawingml/2006/main">
            <a:r>
              <a:t>          {</a:t>
            </a:r>
          </a:p>
          <a:p xmlns:a="http://schemas.openxmlformats.org/drawingml/2006/main">
            <a:r>
              <a:t>            "연령대": "70세 이상",</a:t>
            </a:r>
          </a:p>
          <a:p xmlns:a="http://schemas.openxmlformats.org/drawingml/2006/main">
            <a:r>
              <a:t>            "축제명": "안동탈춤축제",</a:t>
            </a:r>
          </a:p>
          <a:p xmlns:a="http://schemas.openxmlformats.org/drawingml/2006/main">
            <a:r>
              <a:t>            "남성비율": "4.4",</a:t>
            </a:r>
          </a:p>
          <a:p xmlns:a="http://schemas.openxmlformats.org/drawingml/2006/main">
            <a:r>
              <a:t>            "여성비율": "5.0"</a:t>
            </a:r>
          </a:p>
          <a:p xmlns:a="http://schemas.openxmlformats.org/drawingml/2006/main">
            <a:r>
              <a:t>          },</a:t>
            </a:r>
          </a:p>
          <a:p xmlns:a="http://schemas.openxmlformats.org/drawingml/2006/main">
            <a:r>
              <a:t>          {</a:t>
            </a:r>
          </a:p>
          <a:p xmlns:a="http://schemas.openxmlformats.org/drawingml/2006/main">
            <a:r>
              <a:t>            "연령대": "60~69세",</a:t>
            </a:r>
          </a:p>
          <a:p xmlns:a="http://schemas.openxmlformats.org/drawingml/2006/main">
            <a:r>
              <a:t>            "축제명": "안동탈춤축제",</a:t>
            </a:r>
          </a:p>
          <a:p xmlns:a="http://schemas.openxmlformats.org/drawingml/2006/main">
            <a:r>
              <a:t>            "남성비율": "8.0",</a:t>
            </a:r>
          </a:p>
          <a:p xmlns:a="http://schemas.openxmlformats.org/drawingml/2006/main">
            <a:r>
              <a:t>            "여성비율": "8.5"</a:t>
            </a:r>
          </a:p>
          <a:p xmlns:a="http://schemas.openxmlformats.org/drawingml/2006/main">
            <a:r>
              <a:t>          },</a:t>
            </a:r>
          </a:p>
          <a:p xmlns:a="http://schemas.openxmlformats.org/drawingml/2006/main">
            <a:r>
              <a:t>          {</a:t>
            </a:r>
          </a:p>
          <a:p xmlns:a="http://schemas.openxmlformats.org/drawingml/2006/main">
            <a:r>
              <a:t>            "연령대": "50~59세",</a:t>
            </a:r>
          </a:p>
          <a:p xmlns:a="http://schemas.openxmlformats.org/drawingml/2006/main">
            <a:r>
              <a:t>            "축제명": "안동탈춤축제",</a:t>
            </a:r>
          </a:p>
          <a:p xmlns:a="http://schemas.openxmlformats.org/drawingml/2006/main">
            <a:r>
              <a:t>            "남성비율": "9.2",</a:t>
            </a:r>
          </a:p>
          <a:p xmlns:a="http://schemas.openxmlformats.org/drawingml/2006/main">
            <a:r>
              <a:t>            "여성비율": "10.9"</a:t>
            </a:r>
          </a:p>
          <a:p xmlns:a="http://schemas.openxmlformats.org/drawingml/2006/main">
            <a:r>
              <a:t>          },</a:t>
            </a:r>
          </a:p>
          <a:p xmlns:a="http://schemas.openxmlformats.org/drawingml/2006/main">
            <a:r>
              <a:t>          {</a:t>
            </a:r>
          </a:p>
          <a:p xmlns:a="http://schemas.openxmlformats.org/drawingml/2006/main">
            <a:r>
              <a:t>            "연령대": "40~49세",</a:t>
            </a:r>
          </a:p>
          <a:p xmlns:a="http://schemas.openxmlformats.org/drawingml/2006/main">
            <a:r>
              <a:t>            "축제명": "안동탈춤축제",</a:t>
            </a:r>
          </a:p>
          <a:p xmlns:a="http://schemas.openxmlformats.org/drawingml/2006/main">
            <a:r>
              <a:t>            "남성비율": "7.5",</a:t>
            </a:r>
          </a:p>
          <a:p xmlns:a="http://schemas.openxmlformats.org/drawingml/2006/main">
            <a:r>
              <a:t>            "여성비율": "7.9"</a:t>
            </a:r>
          </a:p>
          <a:p xmlns:a="http://schemas.openxmlformats.org/drawingml/2006/main">
            <a:r>
              <a:t>          },</a:t>
            </a:r>
          </a:p>
          <a:p xmlns:a="http://schemas.openxmlformats.org/drawingml/2006/main">
            <a:r>
              <a:t>          {</a:t>
            </a:r>
          </a:p>
          <a:p xmlns:a="http://schemas.openxmlformats.org/drawingml/2006/main">
            <a:r>
              <a:t>            "연령대": "30~39세",</a:t>
            </a:r>
          </a:p>
          <a:p xmlns:a="http://schemas.openxmlformats.org/drawingml/2006/main">
            <a:r>
              <a:t>            "축제명": "안동탈춤축제",</a:t>
            </a:r>
          </a:p>
          <a:p xmlns:a="http://schemas.openxmlformats.org/drawingml/2006/main">
            <a:r>
              <a:t>            "남성비율": "7.9",</a:t>
            </a:r>
          </a:p>
          <a:p xmlns:a="http://schemas.openxmlformats.org/drawingml/2006/main">
            <a:r>
              <a:t>            "여성비율": "7.2"</a:t>
            </a:r>
          </a:p>
          <a:p xmlns:a="http://schemas.openxmlformats.org/drawingml/2006/main">
            <a:r>
              <a:t>          },</a:t>
            </a:r>
          </a:p>
          <a:p xmlns:a="http://schemas.openxmlformats.org/drawingml/2006/main">
            <a:r>
              <a:t>          {</a:t>
            </a:r>
          </a:p>
          <a:p xmlns:a="http://schemas.openxmlformats.org/drawingml/2006/main">
            <a:r>
              <a:t>            "연령대": "20~29세",</a:t>
            </a:r>
          </a:p>
          <a:p xmlns:a="http://schemas.openxmlformats.org/drawingml/2006/main">
            <a:r>
              <a:t>            "축제명": "안동탈춤축제",</a:t>
            </a:r>
          </a:p>
          <a:p xmlns:a="http://schemas.openxmlformats.org/drawingml/2006/main">
            <a:r>
              <a:t>            "남성비율": "7.1",</a:t>
            </a:r>
          </a:p>
          <a:p xmlns:a="http://schemas.openxmlformats.org/drawingml/2006/main">
            <a:r>
              <a:t>            "여성비율": "8.2"</a:t>
            </a:r>
          </a:p>
          <a:p xmlns:a="http://schemas.openxmlformats.org/drawingml/2006/main">
            <a:r>
              <a:t>          },</a:t>
            </a:r>
          </a:p>
          <a:p xmlns:a="http://schemas.openxmlformats.org/drawingml/2006/main">
            <a:r>
              <a:t>          {</a:t>
            </a:r>
          </a:p>
          <a:p xmlns:a="http://schemas.openxmlformats.org/drawingml/2006/main">
            <a:r>
              <a:t>            "연령대": "10~19세",</a:t>
            </a:r>
          </a:p>
          <a:p xmlns:a="http://schemas.openxmlformats.org/drawingml/2006/main">
            <a:r>
              <a:t>            "축제명": "안동탈춤축제",</a:t>
            </a:r>
          </a:p>
          <a:p xmlns:a="http://schemas.openxmlformats.org/drawingml/2006/main">
            <a:r>
              <a:t>            "남성비율": "3.2",</a:t>
            </a:r>
          </a:p>
          <a:p xmlns:a="http://schemas.openxmlformats.org/drawingml/2006/main">
            <a:r>
              <a:t>            "여성비율": "3.9"</a:t>
            </a:r>
          </a:p>
          <a:p xmlns:a="http://schemas.openxmlformats.org/drawingml/2006/main">
            <a:r>
              <a:t>          },</a:t>
            </a:r>
          </a:p>
          <a:p xmlns:a="http://schemas.openxmlformats.org/drawingml/2006/main">
            <a:r>
              <a:t>          {</a:t>
            </a:r>
          </a:p>
          <a:p xmlns:a="http://schemas.openxmlformats.org/drawingml/2006/main">
            <a:r>
              <a:t>            "연령대": "0~9세",</a:t>
            </a:r>
          </a:p>
          <a:p xmlns:a="http://schemas.openxmlformats.org/drawingml/2006/main">
            <a:r>
              <a:t>            "축제명": "안동탈춤축제",</a:t>
            </a:r>
          </a:p>
          <a:p xmlns:a="http://schemas.openxmlformats.org/drawingml/2006/main">
            <a:r>
              <a:t>            "남성비율": "0.5",</a:t>
            </a:r>
          </a:p>
          <a:p xmlns:a="http://schemas.openxmlformats.org/drawingml/2006/main">
            <a:r>
              <a:t>            "여성비율": "0.7"</a:t>
            </a:r>
          </a:p>
          <a:p xmlns:a="http://schemas.openxmlformats.org/drawingml/2006/main">
            <a:r>
              <a:t>          }</a:t>
            </a:r>
          </a:p>
          <a:p xmlns:a="http://schemas.openxmlformats.org/drawingml/2006/main">
            <a:r>
              <a:t>        ],</a:t>
            </a:r>
          </a:p>
          <a:p xmlns:a="http://schemas.openxmlformats.org/drawingml/2006/main">
            <a:r>
              <a:t>        "audience_period": "다운로드 CSV에 연도 열 없음; 최신 개최연도와 자동 결합하지 않음",</a:t>
            </a:r>
          </a:p>
          <a:p xmlns:a="http://schemas.openxmlformats.org/drawingml/2006/main">
            <a:r>
              <a:t>        "destination_examples": [</a:t>
            </a:r>
          </a:p>
          <a:p xmlns:a="http://schemas.openxmlformats.org/drawingml/2006/main">
            <a:r>
              <a:t>          {</a:t>
            </a:r>
          </a:p>
          <a:p xmlns:a="http://schemas.openxmlformats.org/drawingml/2006/main">
            <a:r>
              <a:t>            "구분": "외지인",</a:t>
            </a:r>
          </a:p>
          <a:p xmlns:a="http://schemas.openxmlformats.org/drawingml/2006/main">
            <a:r>
              <a:t>            "순위": "1",</a:t>
            </a:r>
          </a:p>
          <a:p xmlns:a="http://schemas.openxmlformats.org/drawingml/2006/main">
            <a:r>
              <a:t>            "목적지명": "안동구시장",</a:t>
            </a:r>
          </a:p>
          <a:p xmlns:a="http://schemas.openxmlformats.org/drawingml/2006/main">
            <a:r>
              <a:t>            "도로명주소": "경북 안동시 번영1길 47-0",</a:t>
            </a:r>
          </a:p>
          <a:p xmlns:a="http://schemas.openxmlformats.org/drawingml/2006/main">
            <a:r>
              <a:t>            "카테고리": "시장"</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"2",</a:t>
            </a:r>
          </a:p>
          <a:p xmlns:a="http://schemas.openxmlformats.org/drawingml/2006/main">
            <a:r>
              <a:t>            "목적지명": "안동국제탈춤페스티벌",</a:t>
            </a:r>
          </a:p>
          <a:p xmlns:a="http://schemas.openxmlformats.org/drawingml/2006/main">
            <a:r>
              <a:t>            "도로명주소": "경북 안동시 육사로 239-0",</a:t>
            </a:r>
          </a:p>
          <a:p xmlns:a="http://schemas.openxmlformats.org/drawingml/2006/main">
            <a:r>
              <a:t>            "카테고리": "기타문화관광지"</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"3",</a:t>
            </a:r>
          </a:p>
          <a:p xmlns:a="http://schemas.openxmlformats.org/drawingml/2006/main">
            <a:r>
              <a:t>            "목적지명": "탈춤공원",</a:t>
            </a:r>
          </a:p>
          <a:p xmlns:a="http://schemas.openxmlformats.org/drawingml/2006/main">
            <a:r>
              <a:t>            "도로명주소": "경북 안동시 육사로 239-0",</a:t>
            </a:r>
          </a:p>
          <a:p xmlns:a="http://schemas.openxmlformats.org/drawingml/2006/main">
            <a:r>
              <a:t>            "카테고리": "도시공원"</a:t>
            </a:r>
          </a:p>
          <a:p xmlns:a="http://schemas.openxmlformats.org/drawingml/2006/main">
            <a:r>
              <a:t>          }</a:t>
            </a:r>
          </a:p>
          <a:p xmlns:a="http://schemas.openxmlformats.org/drawingml/2006/main">
            <a:r>
              <a:t>        ],</a:t>
            </a:r>
          </a:p>
          <a:p xmlns:a="http://schemas.openxmlformats.org/drawingml/2006/main">
            <a:r>
              <a:t>        "destination_period": "다운로드 CSV에 연도 열 없음; 주변 검색 후보이며 제휴·실제 방문 증거 아님"</a:t>
            </a:r>
          </a:p>
          <a:p xmlns:a="http://schemas.openxmlformats.org/drawingml/2006/main">
            <a:r>
              <a:t>      },</a:t>
            </a:r>
          </a:p>
          <a:p xmlns:a="http://schemas.openxmlformats.org/drawingml/2006/main">
            <a:r>
              <a:t>      "retrieval_basis": {</a:t>
            </a:r>
          </a:p>
          <a:p xmlns:a="http://schemas.openxmlformats.org/drawingml/2006/main">
            <a:r>
              <a:t>        "kind": "external_benchmark",</a:t>
            </a:r>
          </a:p>
          <a:p xmlns:a="http://schemas.openxmlformats.org/drawingml/2006/main">
            <a:r>
              <a:t>        "score": 31,</a:t>
            </a:r>
          </a:p>
          <a:p xmlns:a="http://schemas.openxmlformats.org/drawingml/2006/main">
            <a:r>
              <a:t>        "components": {</a:t>
            </a:r>
          </a:p>
          <a:p xmlns:a="http://schemas.openxmlformats.org/drawingml/2006/main">
            <a:r>
              <a:t>          "방문 전망 조사: 외지인·일평균 동반 증가": 15,</a:t>
            </a:r>
          </a:p>
          <a:p xmlns:a="http://schemas.openxmlformats.org/drawingml/2006/main">
            <a:r>
              <a:t>          "최근 개최연도": 6,</a:t>
            </a:r>
          </a:p>
          <a:p xmlns:a="http://schemas.openxmlformats.org/drawingml/2006/main">
            <a:r>
              <a:t>          "방문 실적 비교 가능": 10</a:t>
            </a:r>
          </a:p>
          <a:p xmlns:a="http://schemas.openxmlformats.org/drawingml/2006/main">
            <a:r>
              <a:t>        },</a:t>
            </a:r>
          </a:p>
          <a:p xmlns:a="http://schemas.openxmlformats.org/drawingml/2006/main">
            <a:r>
              <a:t>        "theme": "공연·문화",</a:t>
            </a:r>
          </a:p>
          <a:p xmlns:a="http://schemas.openxmlformats.org/drawingml/2006/main">
            <a:r>
              <a:t>        "priority_signal": "visit",</a:t>
            </a:r>
          </a:p>
          <a:p xmlns:a="http://schemas.openxmlformats.org/drawingml/2006/main">
            <a:r>
              <a:t>        "rule": "함수 기반 조사 우선순위. 사업효과·인구/환경 유사도 점수가 아니며 소비·체류 개선은 조사 가설이다."</a:t>
            </a:r>
          </a:p>
          <a:p xmlns:a="http://schemas.openxmlformats.org/drawingml/2006/main">
            <a:r>
              <a:t>      },</a:t>
            </a:r>
          </a:p>
          <a:p xmlns:a="http://schemas.openxmlformats.org/drawingml/2006/main">
            <a:r>
              <a:t>      "source_files": [</a:t>
            </a:r>
          </a:p>
          <a:p xmlns:a="http://schemas.openxmlformats.org/drawingml/2006/main">
            <a:r>
              <a:t>        {</a:t>
            </a:r>
          </a:p>
          <a:p xmlns:a="http://schemas.openxmlformats.org/drawingml/2006/main">
            <a:r>
              <a:t>          "sha256": "28f418873eda5b37d320d3fef32c46bef172ca1cfea3861db2d5fc96a0b16f50",</a:t>
            </a:r>
          </a:p>
          <a:p xmlns:a="http://schemas.openxmlformats.org/drawingml/2006/main">
            <a:r>
              <a:t>          "provider": "한국관광 데이터랩",</a:t>
            </a:r>
          </a:p>
          <a:p xmlns:a="http://schemas.openxmlformats.org/drawingml/2006/main">
            <a:r>
              <a:t>          "file_name": "20260820175023_안동탈춤축제_연도별 방문자 추이.csv",</a:t>
            </a:r>
          </a:p>
          <a:p xmlns:a="http://schemas.openxmlformats.org/drawingml/2006/main">
            <a:r>
              <a:t>          "source_id": "festival-file:28f418873eda5b37d320",</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"c0b34e003112bda1f5afa06dcb153cc870d61730036ef23f1b3e7aed39ca5458",</a:t>
            </a:r>
          </a:p>
          <a:p xmlns:a="http://schemas.openxmlformats.org/drawingml/2006/main">
            <a:r>
              <a:t>          "provider": "한국관광 데이터랩",</a:t>
            </a:r>
          </a:p>
          <a:p xmlns:a="http://schemas.openxmlformats.org/drawingml/2006/main">
            <a:r>
              <a:t>          "file_name": "20260820175023_안동탈춤축제_성_연령별 내국인 방문자.csv",</a:t>
            </a:r>
          </a:p>
          <a:p xmlns:a="http://schemas.openxmlformats.org/drawingml/2006/main">
            <a:r>
              <a:t>          "source_id": "festival-file:c0b34e003112bda1f5af",</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안동탈춤축제_2023-2025/20260820175023_안동탈춤축제_성_연령별 내국인 방문자.csv",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"40ddabd2e46fcb12bc9cc2361174e1a5ebe80f169611896b6d4b5e60d9fda352",</a:t>
            </a:r>
          </a:p>
          <a:p xmlns:a="http://schemas.openxmlformats.org/drawingml/2006/main">
            <a:r>
              <a:t>          "provider": "한국관광 데이터랩",</a:t>
            </a:r>
          </a:p>
          <a:p xmlns:a="http://schemas.openxmlformats.org/drawingml/2006/main">
            <a:r>
              <a:t>          "file_name": "20260820175023_안동탈춤축제_문화관광축제 주요 지표.csv",</a:t>
            </a:r>
          </a:p>
          <a:p xmlns:a="http://schemas.openxmlformats.org/drawingml/2006/main">
            <a:r>
              <a:t>          "source_id": "festival-file:40ddabd2e46fcb12bc9c",</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안동탈춤축제_2023-2025/20260820175023_안동탈춤축제_문화관광축제 주요 지표.csv",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"11de7e20288dde00f7f18e353a24b5a95c511a7dc354ec9cc2c7a3a2436712f6",</a:t>
            </a:r>
          </a:p>
          <a:p xmlns:a="http://schemas.openxmlformats.org/drawingml/2006/main">
            <a:r>
              <a:t>          "provider": "한국관광 데이터랩",</a:t>
            </a:r>
          </a:p>
          <a:p xmlns:a="http://schemas.openxmlformats.org/drawingml/2006/main">
            <a:r>
              <a:t>          "file_name": "20260820175023_안동탈춤축제_목적지 검색순위.csv",</a:t>
            </a:r>
          </a:p>
          <a:p xmlns:a="http://schemas.openxmlformats.org/drawingml/2006/main">
            <a:r>
              <a:t>          "source_id": "festival-file:11de7e20288dde00f7f1",</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안동탈춤축제_2023-2025/20260820175023_안동탈춤축제_목적지 검색순위.csv",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"dataset_hash": "ad20e3daf70fd44fd481d672398c07bb9c96fce77acb450784065a568735e2e2",</a:t>
            </a:r>
          </a:p>
          <a:p xmlns:a="http://schemas.openxmlformats.org/drawingml/2006/main">
            <a:r>
              <a:t>      "measurement_period": "2024년과 2025년 각 축제 개최기간 비교",</a:t>
            </a:r>
          </a:p>
          <a:p xmlns:a="http://schemas.openxmlformats.org/drawingml/2006/main">
            <a:r>
              <a:t>      "transfer_conditions": [</a:t>
            </a:r>
          </a:p>
          <a:p xmlns:a="http://schemas.openxmlformats.org/drawingml/2006/main">
            <a:r>
              <a:t>        "서구에서는 10일 축제를 복제하기보다 3개월 중 주말 2~3회 등 준비 가능한 집중 회차로 축소할 수 있다.",</a:t>
            </a:r>
          </a:p>
          <a:p xmlns:a="http://schemas.openxmlformats.org/drawingml/2006/main">
            <a:r>
              <a:t>        "기존 공공·민간 시설과 공연자원을 조합해 신규 시설비를 줄이되 장소·운영인력 확보 여부를 먼저 확인해야 한다.",</a:t>
            </a:r>
          </a:p>
          <a:p xmlns:a="http://schemas.openxmlformats.org/drawingml/2006/main">
            <a:r>
              <a:t>        "사전예약 회차, 현장 체크인, 참여업소 결제를 연계해 축제 관측구역 방문자와 실제 사업 참여자를 구분해야 한다.",</a:t>
            </a:r>
          </a:p>
          <a:p xmlns:a="http://schemas.openxmlformats.org/drawingml/2006/main">
            <a:r>
              <a:t>        "안동의 전통문화 정체성을 복제하지 말고 서구에서 실제 확보 가능한 문화·쇼핑·식음 콘텐츠로 주제를 다시 설계해야 한다."</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"images": [</a:t>
            </a:r>
          </a:p>
          <a:p xmlns:a="http://schemas.openxmlformats.org/drawingml/2006/main">
            <a:r>
              <a:t>    {</a:t>
            </a:r>
          </a:p>
          <a:p xmlns:a="http://schemas.openxmlformats.org/drawingml/2006/main">
            <a:r>
              <a:t>      "filename": "yeosu_night.jpg",</a:t>
            </a:r>
          </a:p>
          <a:p xmlns:a="http://schemas.openxmlformats.org/drawingml/2006/main">
            <a:r>
              <a:t>      "caption": "유사 사업 참고 · 전남 여수시 야경",</a:t>
            </a:r>
          </a:p>
          <a:p xmlns:a="http://schemas.openxmlformats.org/drawingml/2006/main">
            <a:r>
              <a:t>      "credit": "문화체육관광부 코리아넷 (2024)",</a:t>
            </a:r>
          </a:p>
          <a:p xmlns:a="http://schemas.openxmlformats.org/drawingml/2006/main">
            <a:r>
              <a:t>      "page_url": "https://www.korean-culture.org/koreanet/view.do?seq=1047457",</a:t>
            </a:r>
          </a:p>
          <a:p xmlns:a="http://schemas.openxmlformats.org/drawingml/2006/main">
            <a:r>
              <a:t>      "image_url": "https://www.korean-culture.org/CONTENTS/editImage/20240201110349153_XHMYP6Q1.jpg",</a:t>
            </a:r>
          </a:p>
          <a:p xmlns:a="http://schemas.openxmlformats.org/drawingml/2006/main">
            <a:r>
              <a:t>      "match_kind": "similar_operation",</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"filename": "gangjin_official.jpg",</a:t>
            </a:r>
          </a:p>
          <a:p xmlns:a="http://schemas.openxmlformats.org/drawingml/2006/main">
            <a:r>
              <a:t>      "caption": "강진군 · 반값여행 공식 홍보물",</a:t>
            </a:r>
          </a:p>
          <a:p xmlns:a="http://schemas.openxmlformats.org/drawingml/2006/main">
            <a:r>
              <a:t>      "credit": "강진 반값여행 공식 홈페이지",</a:t>
            </a:r>
          </a:p>
          <a:p xmlns:a="http://schemas.openxmlformats.org/drawingml/2006/main">
            <a:r>
              <a:t>      "page_url": "https://www.gangjintour.com/",</a:t>
            </a:r>
          </a:p>
          <a:p xmlns:a="http://schemas.openxmlformats.org/drawingml/2006/main">
            <a:r>
              <a:t>      "image_url": "https://gangjintour.com/skin_hub/SKIN006/assets/img/gjimg.jpg",</a:t>
            </a:r>
          </a:p>
          <a:p xmlns:a="http://schemas.openxmlformats.org/drawingml/2006/main">
            <a:r>
              <a:t>      "match_kind": "exact_case",</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"filename": "incheon_official.jpg",</a:t>
            </a:r>
          </a:p>
          <a:p xmlns:a="http://schemas.openxmlformats.org/drawingml/2006/main">
            <a:r>
              <a:t>      "caption": "관광 참고 이미지 · 인천 섬 · 로컬체험 여행 소개 사진",</a:t>
            </a:r>
          </a:p>
          <a:p xmlns:a="http://schemas.openxmlformats.org/drawingml/2006/main">
            <a:r>
              <a:t>      "credit": "인천광역시 섬포털",</a:t>
            </a:r>
          </a:p>
          <a:p xmlns:a="http://schemas.openxmlformats.org/drawingml/2006/main">
            <a:r>
              <a:t>      "page_url": "https://isum.incheon.go.kr/theme/themeContent.do?key=2407020018",</a:t>
            </a:r>
          </a:p>
          <a:p xmlns:a="http://schemas.openxmlformats.org/drawingml/2006/main">
            <a:r>
              <a:t>      "image_url": "https://isum.incheon.go.kr/resource/www/images/sub/theme_local.jpg",</a:t>
            </a:r>
          </a:p>
          <a:p xmlns:a="http://schemas.openxmlformats.org/drawingml/2006/main">
            <a:r>
              <a:t>      "match_kind": "general_tourism_reference",</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"image_policy": "Official web assets; exact case or clearly labelled similar operation / general tourism reference. No generated fallback."</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proposal_layout_v9.execution_groups / execution_copy → 4개 단계. 일정은 저장 implementation_steps, 업무 설명은 환급형/일반형 코드 템플릿.</a:t>
            </a:r>
          </a:p>
          <a:p xmlns:a="http://schemas.openxmlformats.org/drawingml/2006/main">
            <a:r>
              <a:t>[{"step": 1, "schedule": "2026-10", "task": "관광기획팀이 야간 운영 거점 및 참여 상점 대상 협의를 진행하고, 참여 의사를 확인하여 명단을 확정함", "deliverable": "참여 업체 명단 및 야간 운영 시간 확정안"}, {"step": 2, "schedule": "2026-10", "task": "운영팀이 야간 콘텐츠(공연, 체험) 구성안과 안전 관리 계획을 수립하고, 유관기관의 검토를 완료함", "deliverable": "축제 운영 매뉴얼 및 안전 관리 계획서"}, {"step": 3, "schedule": "2026-11", "task": "홍보팀이 축제 실행에 맞춰 온·오프라인 홍보물을 배포하고, 시범 운영을 통해 현장 반응을 모니터링함", "deliverable": "축제 실행 및 홍보물 배포 결과"}, {"step": 4, "schedule": "2026-11 ~ 2026-12", "task": "상권지원팀이 야간 상권 연계 프로그램(디저트, 판매상품)의 운영 현황을 점검하고 참여 업체의 결제 데이터를 수집함", "deliverable": "상권 연계 프로그램 운영 결과"}, {"step": 5, "schedule": "2026-12", "task": "성과분석팀이 한국관광 데이터랩 원자료를 바탕으로 지표별 성과를 분석하고 최종 보고서를 작성함", "deliverable": "지표별 성과 분석 보고서"}]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 목표율 입력 시 최종 월의 자연추세와 목표를 비교합니다. 미입력 시 견적에 기반한 별도 참여 목표만 제안합니다.</a:t>
            </a:r>
          </a:p>
          <a:p>
            <a:r>
              <a:t>[Sources]</a:t>
            </a:r>
          </a:p>
          <a:p>
            <a:r>
              <a:t>dataset:30170:1 | 한국관광 데이터랩 · 대전광역시 서구 순 방문자 수 및 숙박 비율 (이동통신 기반 외지인) | https://datalab.visitkorea.or.kr/</a:t>
            </a:r>
          </a:p>
          <a:p>
            <a:r>
              <a:t>dataset:30170:2 | 한국관광 데이터랩 · 대전광역시 서구 월간 순 방문자 수 (이동통신 기반 외지인) | https://datalab.visitkorea.or.kr/</a:t>
            </a:r>
          </a:p>
          <a:p>
            <a:r>
              <a:t>dataset:30170:3 | 한국관광 데이터랩 · 대전광역시 서구 관광소비 추이_외지인 | https://datalab.visitkorea.or.kr/</a:t>
            </a:r>
          </a:p>
          <a:p>
            <a:r>
              <a:t>dataset:30170:4 | 한국관광 데이터랩 · 대전광역시 서구 숙박방문자 비율 추이 (이동통신 기반 외지인) | https://datalab.visitkorea.or.kr/</a:t>
            </a:r>
          </a:p>
          <a:p>
            <a:r>
              <a:t>dataset:30170:5 | 한국관광 데이터랩 · 대전광역시 서구 평균 숙박일 (이동통신 기반 외지인) | https://datalab.visitkorea.or.kr/</a:t>
            </a:r>
          </a:p>
          <a:p>
            <a:r>
              <a:t>dataset:30170:6 | 한국관광 데이터랩 · 대전광역시 서구 내비게이션 목적지 유형별 검색량 | https://datalab.visitkorea.or.kr/</a:t>
            </a:r>
          </a:p>
          <a:p>
            <a:r>
              <a:t>dataset:30170:7 | 한국관광 데이터랩 · 대전광역시 서구 SNS 언급량 | https://datalab.visitkorea.or.kr/</a:t>
            </a:r>
          </a:p>
          <a:p>
            <a:r>
              <a:t>datalab:12c41f8a3e52:f92921dca662 | 방문자/2025_01_12.zip | https://datalab.visitkorea.or.kr/</a:t>
            </a:r>
          </a:p>
          <a:p>
            <a:r>
              <a:t>datalab:162285800b98:dbba3ac2e220 | 관광소비/2025_01_12.zip | https://datalab.visitkorea.or.kr/</a:t>
            </a:r>
          </a:p>
          <a:p>
            <a:r>
              <a:t>datalab:1bec5b4405e1:6c5494eef7c6 | 숙박_체류시간/2025_01_12.zip | https://datalab.visitkorea.or.kr/</a:t>
            </a:r>
          </a:p>
          <a:p>
            <a:r>
              <a:t>datalab:7a4db91d6ba9:d81294f3e5a0 | 관광소비/2026_01_06.zip | https://datalab.visitkorea.or.kr/</a:t>
            </a:r>
          </a:p>
          <a:p>
            <a:r>
              <a:t>datalab:cc1dc8fb5607:77f3b69cfb89 | 방문자/2026_01_06.zip | https://datalab.visitkorea.or.kr/</a:t>
            </a:r>
          </a:p>
          <a:p>
            <a:r>
              <a:t>datalab:e53d144382ee:fc025995a6df | 숙박_체류시간/2026_01_06.zip | https://datalab.visitkorea.or.kr/</a:t>
            </a:r>
          </a:p>
          <a:p>
            <a:r>
              <a:t>team-bigdata:23ea68053684:6bfbcf8aabf6 | 이동통신/내국인/지역별 방문자수/20260820140607__202601-202606_데이터랩_다운로드.zip | https://datalab.visitkorea.or.kr/</a:t>
            </a:r>
          </a:p>
          <a:p>
            <a:r>
              <a:t>team-bigdata:98d4ae590d9a:3be52dd54323 | 이동통신/외국인/20260820141710_전국_202601-202606_데이터랩_다운로드.zip | https://datalab.visitkorea.or.kr/</a:t>
            </a:r>
          </a:p>
          <a:p>
            <a:r>
              <a:t>team-bigdata:367cd0294ec4:873930d645e5 | 신용카드/내국인/지역별 관광지출액/20260820140046__202601-202606_데이터랩_다운로드.zip | https://datalab.visitkorea.or.kr/</a:t>
            </a:r>
          </a:p>
          <a:p>
            <a:r>
              <a:t>team-bigdata:553a0dad4bb4:5a31355dffe8 | 신용카드/외국인/지역별 관광지출액/20260820140355__202601-202606_데이터랩_다운로드.zip | https://datalab.visitkorea.or.kr/</a:t>
            </a:r>
          </a:p>
          <a:p>
            <a:r>
              <a:t>team-bigdata:a53dbe1c21df:77a052de41d5 | 지역별 검색건수/20260820195507__202601-202606_데이터랩_다운로드.zip | https://datalab.visitkorea.or.kr/</a:t>
            </a:r>
          </a:p>
          <a:p>
            <a:r>
              <a:t>team-bigdata:823a38d1d61c:5385261d02e5 | 이동통신/내국인/지역별 방문자수/20260820140614__202501-202512_데이터랩_다운로드.zip | https://datalab.visitkorea.or.kr/</a:t>
            </a:r>
          </a:p>
          <a:p>
            <a:r>
              <a:t>team-bigdata:2723bdb0d589:1666a34058ed | 이동통신/외국인/20260820141649_전국_202501-202512_데이터랩_다운로드.zip | https://datalab.visitkorea.or.kr/</a:t>
            </a:r>
          </a:p>
          <a:p>
            <a:r>
              <a:t>team-bigdata:83177a234971:c02cb7972e0f | 신용카드/내국인/지역별 관광지출액/20260820135957__202501-202512_데이터랩_다운로드.zip | https://datalab.visitkorea.or.kr/</a:t>
            </a:r>
          </a:p>
          <a:p>
            <a:r>
              <a:t>team-bigdata:58ded7732251:589c76395cbc | 신용카드/외국인/지역별 관광지출액/20260820140409__202501-202512_데이터랩_다운로드.zip | https://datalab.visitkorea.or.kr/</a:t>
            </a:r>
          </a:p>
          <a:p>
            <a:r>
              <a:t>team-bigdata:e28c947cb52f:bb4cb344a6ba | 지역별 검색건수/20260820132007__202501-202512_데이터랩_다운로드.zip | https://datalab.visitkorea.or.kr/</a:t>
            </a:r>
          </a:p>
          <a:p>
            <a:r>
              <a:t>team-bigdata:8815bbb11a39:1a5988f5f8ec | 이동통신/내국인/지역별 방문자수/20260820140624__202401-202412_데이터랩_다운로드.zip | https://datalab.visitkorea.or.kr/</a:t>
            </a:r>
          </a:p>
          <a:p>
            <a:r>
              <a:t>team-bigdata:19fd67fbb73d:afa4f0f54a2f | 이동통신/외국인/20260820141639_전국_202401-202412_데이터랩_다운로드.zip | https://datalab.visitkorea.or.kr/</a:t>
            </a:r>
          </a:p>
          <a:p>
            <a:r>
              <a:t>regional-status:0c68fedc2071:0ad82310f803 | 한국관광 데이터랩 지역별 관광 현황 · 대전광역시 서구 · 지역집중률 | https://datalab.visitkorea.or.kr/</a:t>
            </a:r>
          </a:p>
          <a:p>
            <a:r>
              <a:t>regional-status:4cddd6aa75d4:be8b01ec64e2 | 한국관광 데이터랩 지역별 관광 현황 · 대전광역시 서구 · 유입유출 | https://datalab.visitkorea.or.kr/</a:t>
            </a:r>
          </a:p>
          <a:p>
            <a:r>
              <a:t>regional-status:8c9a813e95eb:5e0cc3f56b73 | 한국관광 데이터랩 지역별 관광 현황 · 대전광역시 서구 · 인기관광지 | https://datalab.visitkorea.or.kr/</a:t>
            </a:r>
          </a:p>
          <a:p>
            <a:r>
              <a:t>ml:30170:regional-demand-v3.1:202606 | 지역 관광수요 ML 전망 · 공식 관측값 아님 | URL 미기록</a:t>
            </a:r>
          </a:p>
          <a:p>
            <a:r>
              <a:t>tour-api:2899643 | 갈마짬뽕 | https://apis.data.go.kr/B551011/KorService2</a:t>
            </a:r>
          </a:p>
          <a:p>
            <a:r>
              <a:t>tour-api:2899637 | 관저당 | https://apis.data.go.kr/B551011/KorService2</a:t>
            </a:r>
          </a:p>
          <a:p>
            <a:r>
              <a:t>tour-api:1932079 | 굿모닝레지던스호텔휴 | https://apis.data.go.kr/B551011/KorService2</a:t>
            </a:r>
          </a:p>
          <a:p>
            <a:r>
              <a:t>tour-api:133881 | 귀빈돌솥밥 | https://apis.data.go.kr/B551011/KorService2</a:t>
            </a:r>
          </a:p>
          <a:p>
            <a:r>
              <a:t>tour-api:2758252 | 남선공원 | https://apis.data.go.kr/B551011/KorService2</a:t>
            </a:r>
          </a:p>
          <a:p>
            <a:r>
              <a:t>tour-api:298208 | 내원사(대전) | https://apis.data.go.kr/B551011/KorService2</a:t>
            </a:r>
          </a:p>
          <a:p>
            <a:r>
              <a:t>tour-api:3452550 | 노크노크 | https://apis.data.go.kr/B551011/KorService2</a:t>
            </a:r>
          </a:p>
          <a:p>
            <a:r>
              <a:t>tour-api:2899585 | 대성콩국수 | https://apis.data.go.kr/B551011/KorService2</a:t>
            </a:r>
          </a:p>
          <a:p>
            <a:r>
              <a:t>tour-api:130802 | 대전 가수원도서관 | https://apis.data.go.kr/B551011/KorService2</a:t>
            </a:r>
          </a:p>
          <a:p>
            <a:r>
              <a:t>tour-api:2743325 | 대전광역시청 시민잔디광장 | https://apis.data.go.kr/B551011/KorService2</a:t>
            </a:r>
          </a:p>
          <a:p>
            <a:r>
              <a:t>tour-api:130197 | 대전서구문화원 | https://apis.data.go.kr/B551011/KorService2</a:t>
            </a:r>
          </a:p>
          <a:p>
            <a:r>
              <a:t>tour-api:2865847 | 델빠네 | https://apis.data.go.kr/B551011/KorService2</a:t>
            </a:r>
          </a:p>
          <a:p>
            <a:r>
              <a:t>tour-api:2758334 | 도마큰시장 | https://apis.data.go.kr/B551011/KorService2</a:t>
            </a:r>
          </a:p>
          <a:p>
            <a:r>
              <a:t>tour-api:1955818 | 도산서원(대전) | https://apis.data.go.kr/B551011/KorService2</a:t>
            </a:r>
          </a:p>
          <a:p>
            <a:r>
              <a:t>tour-api:2758341 | 둔산꽃시장 | https://apis.data.go.kr/B551011/KorService2</a:t>
            </a:r>
          </a:p>
          <a:p>
            <a:r>
              <a:t>tour-api:1623725 | 둔산전자타운 | https://apis.data.go.kr/B551011/KorService2</a:t>
            </a:r>
          </a:p>
          <a:p>
            <a:r>
              <a:t>tour-api:132661 | 롯데백화점 (대전점) | https://apis.data.go.kr/B551011/KorService2</a:t>
            </a:r>
          </a:p>
          <a:p>
            <a:r>
              <a:t>tour-api:2758646 | 마치광장 | https://apis.data.go.kr/B551011/KorService2</a:t>
            </a:r>
          </a:p>
          <a:p>
            <a:r>
              <a:t>tour-api:2899544 | 몽뜨 | https://apis.data.go.kr/B551011/KorService2</a:t>
            </a:r>
          </a:p>
          <a:p>
            <a:r>
              <a:t>tour-api:2865914 | 미세노센세 | https://apis.data.go.kr/B551011/KorService2</a:t>
            </a:r>
          </a:p>
          <a:p>
            <a:r>
              <a:t>reference:kto:2026:local-airport | 요즘, 한국관광 2호 - 지방공항 연계 지역관광 활성화 방안 | PDF 44쪽, PDF 40쪽, PDF 41쪽, PDF 41쪽, PDF 43쪽 | https://datalab.visitkorea.or.kr/site/portal/ex/bbs/View.do?bcIdx=311068&amp;cbIdx=1135&amp;pageIndex=1</a:t>
            </a:r>
          </a:p>
          <a:p>
            <a:r>
              <a:t>web:30170:1 | 한밭수목원 | 열린관광 모두의 여행 | https://access.visitkorea.or.kr/ms/detail.do?cotId=81cc7479-c010-4bdd-9a29-3121bb578cb8</a:t>
            </a:r>
          </a:p>
          <a:p>
            <a:r>
              <a:t>web:30170:2 | Hanbat Arboretum (한밭수목원) - VISITKOREA | https://english.visitkorea.or.kr/svc/contents/contentsView.do?vcontsId=82059</a:t>
            </a:r>
          </a:p>
          <a:p>
            <a:r>
              <a:t>web:30170:3 | 대전예술의전당 | 열린관광 모두의 여행 | https://access.visitkorea.or.kr/ms/detail.do?cotId=af31b729-4eda-469b-b4cc-73ea3a1c8028</a:t>
            </a:r>
          </a:p>
          <a:p>
            <a:r>
              <a:t>web:30170:4 | 한민시장 | 열린관광 모두의 여행 | https://access.visitkorea.or.kr/ms/detail.do?cotId=72bba786-e15a-478a-bc99-c9d15ff27727</a:t>
            </a:r>
          </a:p>
          <a:p>
            <a:r>
              <a:t>web:30170:5 | 장태산자연휴양림 - VISITKOREA | https://japanese.visitkorea.or.kr/svc/contents/contentsView.do?vcontsId=76300</a:t>
            </a:r>
          </a:p>
          <a:p>
            <a:r>
              <a:t>web:30170:6 | 여유롭고 안전한 오늘의 여행법 비대면(언택트) 관광지 100선 | https://korean.visitkorea.or.kr/detail/rem_detail.do?cotid=351f6cf4-d984-496f-886d-6fc538b226a7</a:t>
            </a:r>
          </a:p>
          <a:p>
            <a:r>
              <a:t>case:41508ca81cf29f | 한국관광 데이터랩 · 안동탈춤축제 방문자 추이 | https://datalab.visitkorea.or.kr/</a:t>
            </a:r>
          </a:p>
          <a:p>
            <a:r>
              <a:t>case:festival:01474ef75569b1 | 한국관광 데이터랩 · 문경찻사발축제 방문자 추이 | https://datalab.visitkorea.or.kr/</a:t>
            </a:r>
          </a:p>
          <a:p>
            <a:r>
              <a:t>case:gangjin_half_price_2024 | 강진 반값여행 지역경제 효과 소개 | https://jnfarm.jeonnam.go.kr/board/FARM_BOARD_008/boardView.do?bdId=BD_00000000000011721&amp;menuCd=farm004002</a:t>
            </a:r>
          </a:p>
          <a:p>
            <a:r>
              <a:t>case:4544b7bca8ebab | 요즘, 한국관광 2호 - 지방공항 연계 지역관광 활성화 방안 | https://datalab.visitkorea.or.kr/site/portal/ex/bbs/View.do?bcIdx=311068&amp;cbIdx=1135&amp;pageIndex=1</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case:night_festival_2025 | 2025 대한민국 밤밤페스타 개최 도시 및 일정 | https://korean.visitkorea.or.kr/detail/rem_detail.do?cotid=f9c636b2-dd7c-4f09-af3d-6af43b33d371</a:t>
            </a:r>
          </a:p>
          <a:p>
            <a:r>
              <a:t>case:festival:1ff9d11d3ee0ee | 한국관광 데이터랩 · 진도신비의바닷길축제 방문자 추이 | https://datalab.visitkorea.or.kr/</a:t>
            </a:r>
          </a:p>
          <a:p>
            <a:r>
              <a:t>case:festival:1ffc3eec28956a | 한국관광 데이터랩 · 통영한산대첩축제 방문자 추이 | https://datalab.visitkorea.or.kr/</a:t>
            </a:r>
          </a:p>
          <a:p>
            <a:r>
              <a:t>[/Sources]</a:t>
            </a:r>
          </a:p>
          <a:p>
            <a:r>
              <a:t>[Calculation audit]</a:t>
            </a:r>
          </a:p>
          <a:p>
            <a:r>
              <a:t>{</a:t>
            </a:r>
          </a:p>
          <a:p>
            <a:r>
              <a:t>  "source_inventory": [</a:t>
            </a:r>
          </a:p>
          <a:p>
            <a:r>
              <a:t>    {</a:t>
            </a:r>
          </a:p>
          <a:p>
            <a:r>
              <a:t>      "source_id": "dataset:30170:1",</a:t>
            </a:r>
          </a:p>
          <a:p>
            <a:r>
              <a:t>      "source_type": "dataset",</a:t>
            </a:r>
          </a:p>
          <a:p>
            <a:r>
              <a:t>      "title": "한국관광 데이터랩 · 대전광역시 서구 순 방문자 수 및 숙박 비율 (이동통신 기반 외지인)",</a:t>
            </a:r>
          </a:p>
          <a:p>
            <a:r>
              <a:t>      "source_url": "https://datalab.visitkorea.or.kr/",</a:t>
            </a:r>
          </a:p>
          <a:p>
            <a:r>
              <a:t>      "summary": "월간 순 방문자 수: 4,619,168명 (관측 기준월: 2026-06)",</a:t>
            </a:r>
          </a:p>
          <a:p>
            <a:r>
              <a:t>      "observation_period": "2026-06",</a:t>
            </a:r>
          </a:p>
          <a:p>
            <a:r>
              <a:t>      "published_or_updated_at": "2026-06"</a:t>
            </a:r>
          </a:p>
          <a:p>
            <a:r>
              <a:t>    },</a:t>
            </a:r>
          </a:p>
          <a:p>
            <a:r>
              <a:t>    {</a:t>
            </a:r>
          </a:p>
          <a:p>
            <a:r>
              <a:t>      "source_id": "dataset:30170:2",</a:t>
            </a:r>
          </a:p>
          <a:p>
            <a:r>
              <a:t>      "source_type": "dataset",</a:t>
            </a:r>
          </a:p>
          <a:p>
            <a:r>
              <a:t>      "title": "한국관광 데이터랩 · 대전광역시 서구 월간 순 방문자 수 (이동통신 기반 외지인)",</a:t>
            </a:r>
          </a:p>
          <a:p>
            <a:r>
              <a:t>      "source_url": "https://datalab.visitkorea.or.kr/",</a:t>
            </a:r>
          </a:p>
          <a:p>
            <a:r>
              <a:t>      "summary": "전년동월 외지인 방문자 증감률: -3.5% (관측 기준월: 2026-06)",</a:t>
            </a:r>
          </a:p>
          <a:p>
            <a:r>
              <a:t>      "observation_period": "2026-06",</a:t>
            </a:r>
          </a:p>
          <a:p>
            <a:r>
              <a:t>      "published_or_updated_at": "2026-06"</a:t>
            </a:r>
          </a:p>
          <a:p>
            <a:r>
              <a:t>    },</a:t>
            </a:r>
          </a:p>
          <a:p>
            <a:r>
              <a:t>    {</a:t>
            </a:r>
          </a:p>
          <a:p>
            <a:r>
              <a:t>      "source_id": "dataset:30170:3",</a:t>
            </a:r>
          </a:p>
          <a:p>
            <a:r>
              <a:t>      "source_type": "dataset",</a:t>
            </a:r>
          </a:p>
          <a:p>
            <a:r>
              <a:t>      "title": "한국관광 데이터랩 · 대전광역시 서구 관광소비 추이_외지인",</a:t>
            </a:r>
          </a:p>
          <a:p>
            <a:r>
              <a:t>      "source_url": "https://datalab.visitkorea.or.kr/",</a:t>
            </a:r>
          </a:p>
          <a:p>
            <a:r>
              <a:t>      "summary": "월간 외지인 관광소비 총액: 76,758,413,000원 (관측 기준월: 2026-06)",</a:t>
            </a:r>
          </a:p>
          <a:p>
            <a:r>
              <a:t>      "observation_period": "2026-06",</a:t>
            </a:r>
          </a:p>
          <a:p>
            <a:r>
              <a:t>      "published_or_updated_at": "2026-06"</a:t>
            </a:r>
          </a:p>
          <a:p>
            <a:r>
              <a:t>    },</a:t>
            </a:r>
          </a:p>
          <a:p>
            <a:r>
              <a:t>    {</a:t>
            </a:r>
          </a:p>
          <a:p>
            <a:r>
              <a:t>      "source_id": "dataset:30170:4",</a:t>
            </a:r>
          </a:p>
          <a:p>
            <a:r>
              <a:t>      "source_type": "dataset",</a:t>
            </a:r>
          </a:p>
          <a:p>
            <a:r>
              <a:t>      "title": "한국관광 데이터랩 · 대전광역시 서구 숙박방문자 비율 추이 (이동통신 기반 외지인)",</a:t>
            </a:r>
          </a:p>
          <a:p>
            <a:r>
              <a:t>      "source_url": "https://datalab.visitkorea.or.kr/",</a:t>
            </a:r>
          </a:p>
          <a:p>
            <a:r>
              <a:t>      "summary": "외지인 숙박 방문 비율: 6.7% (관측 기준월: 2026-06)",</a:t>
            </a:r>
          </a:p>
          <a:p>
            <a:r>
              <a:t>      "observation_period": "2026-06",</a:t>
            </a:r>
          </a:p>
          <a:p>
            <a:r>
              <a:t>      "published_or_updated_at": "2026-06"</a:t>
            </a:r>
          </a:p>
          <a:p>
            <a:r>
              <a:t>    },</a:t>
            </a:r>
          </a:p>
          <a:p>
            <a:r>
              <a:t>    {</a:t>
            </a:r>
          </a:p>
          <a:p>
            <a:r>
              <a:t>      "source_id": "dataset:30170:5",</a:t>
            </a:r>
          </a:p>
          <a:p>
            <a:r>
              <a:t>      "source_type": "dataset",</a:t>
            </a:r>
          </a:p>
          <a:p>
            <a:r>
              <a:t>      "title": "한국관광 데이터랩 · 대전광역시 서구 평균 숙박일 (이동통신 기반 외지인)",</a:t>
            </a:r>
          </a:p>
          <a:p>
            <a:r>
              <a:t>      "source_url": "https://datalab.visitkorea.or.kr/",</a:t>
            </a:r>
          </a:p>
          <a:p>
            <a:r>
              <a:t>      "summary": "외지인 평균 숙박일수: 2.81일 (관측 기준월: 2026-06)",</a:t>
            </a:r>
          </a:p>
          <a:p>
            <a:r>
              <a:t>      "observation_period": "2026-06",</a:t>
            </a:r>
          </a:p>
          <a:p>
            <a:r>
              <a:t>      "published_or_updated_at": "2026-06"</a:t>
            </a:r>
          </a:p>
          <a:p>
            <a:r>
              <a:t>    },</a:t>
            </a:r>
          </a:p>
          <a:p>
            <a:r>
              <a:t>    {</a:t>
            </a:r>
          </a:p>
          <a:p>
            <a:r>
              <a:t>      "source_id": "dataset:30170:6",</a:t>
            </a:r>
          </a:p>
          <a:p>
            <a:r>
              <a:t>      "source_type": "dataset",</a:t>
            </a:r>
          </a:p>
          <a:p>
            <a:r>
              <a:t>      "title": "한국관광 데이터랩 · 대전광역시 서구 내비게이션 목적지 유형별 검색량",</a:t>
            </a:r>
          </a:p>
          <a:p>
            <a:r>
              <a:t>      "source_url": "https://datalab.visitkorea.or.kr/",</a:t>
            </a:r>
          </a:p>
          <a:p>
            <a:r>
              <a:t>      "summary": "내비게이션 목적지 검색량: 191,346건 (관측 기준월: 2026-06)",</a:t>
            </a:r>
          </a:p>
          <a:p>
            <a:r>
              <a:t>      "observation_period": "2026-06",</a:t>
            </a:r>
          </a:p>
          <a:p>
            <a:r>
              <a:t>      "published_or_updated_at": "2026-06"</a:t>
            </a:r>
          </a:p>
          <a:p>
            <a:r>
              <a:t>    },</a:t>
            </a:r>
          </a:p>
          <a:p>
            <a:r>
              <a:t>    {</a:t>
            </a:r>
          </a:p>
          <a:p>
            <a:r>
              <a:t>      "source_id": "dataset:30170:7",</a:t>
            </a:r>
          </a:p>
          <a:p>
            <a:r>
              <a:t>      "source_type": "dataset",</a:t>
            </a:r>
          </a:p>
          <a:p>
            <a:r>
              <a:t>      "title": "한국관광 데이터랩 · 대전광역시 서구 SNS 언급량",</a:t>
            </a:r>
          </a:p>
          <a:p>
            <a:r>
              <a:t>      "source_url": "https://datalab.visitkorea.or.kr/",</a:t>
            </a:r>
          </a:p>
          <a:p>
            <a:r>
              <a:t>      "summary": "SNS 언급량: 54,388건 (관측 기준월: 2026-06)",</a:t>
            </a:r>
          </a:p>
          <a:p>
            <a:r>
              <a:t>      "observation_period": "2026-06",</a:t>
            </a:r>
          </a:p>
          <a:p>
            <a:r>
              <a:t>      "published_or_updated_at": "2026-06"</a:t>
            </a:r>
          </a:p>
          <a:p>
            <a:r>
              <a:t>    },</a:t>
            </a:r>
          </a:p>
          <a:p>
            <a:r>
              <a:t>    {</a:t>
            </a:r>
          </a:p>
          <a:p>
            <a:r>
              <a:t>      "source_id": "datalab:12c41f8a3e52:f92921dca662",</a:t>
            </a:r>
          </a:p>
          <a:p>
            <a:r>
              <a:t>      "source_type": "nationwide_dataset",</a:t>
            </a:r>
          </a:p>
          <a:p>
            <a:r>
              <a:t>      "title": "한국관광 데이터랩 공식 다운로드 · 대전광역시_서구/방문자/2025_01_12.zip",</a:t>
            </a:r>
          </a:p>
          <a:p>
            <a:r>
              <a:t>      "source_url": "https://datalab.visitkorea.or.kr/",</a:t>
            </a:r>
          </a:p>
          <a:p>
            <a:r>
              <a:t>      "summary": "전국 비교 기준 기간: 2025-07 ~ 2026-06",</a:t>
            </a:r>
          </a:p>
          <a:p>
            <a:r>
              <a:t>      "observation_period": "2025-07 ~ 2026-06",</a:t>
            </a:r>
          </a:p>
          <a:p>
            <a:r>
              <a:t>      "published_or_updated_at": "2024-07 ~ 2025-06",</a:t>
            </a:r>
          </a:p>
          <a:p>
            <a:r>
              <a:t>      "source_file_name": "대전광역시_서구/방문자/2025_01_12.zip"</a:t>
            </a:r>
          </a:p>
          <a:p>
            <a:r>
              <a:t>    },</a:t>
            </a:r>
          </a:p>
          <a:p>
            <a:r>
              <a:t>    {</a:t>
            </a:r>
          </a:p>
          <a:p>
            <a:r>
              <a:t>      "source_id": "datalab:162285800b98:dbba3ac2e220",</a:t>
            </a:r>
          </a:p>
          <a:p>
            <a:r>
              <a:t>      "source_type": "nationwide_dataset",</a:t>
            </a:r>
          </a:p>
          <a:p>
            <a:r>
              <a:t>      "title": "한국관광 데이터랩 공식 다운로드 · 대전광역시_서구/관광소비/2025_01_12.zip",</a:t>
            </a:r>
          </a:p>
          <a:p>
            <a:r>
              <a:t>      "source_url": "https://datalab.visitkorea.or.kr/",</a:t>
            </a:r>
          </a:p>
          <a:p>
            <a:r>
              <a:t>      "summary": "전국 비교 기준 기간: 2025-07 ~ 2026-06",</a:t>
            </a:r>
          </a:p>
          <a:p>
            <a:r>
              <a:t>      "observation_period": "2025-07 ~ 2026-06",</a:t>
            </a:r>
          </a:p>
          <a:p>
            <a:r>
              <a:t>      "published_or_updated_at": "2024-07 ~ 2025-06",</a:t>
            </a:r>
          </a:p>
          <a:p>
            <a:r>
              <a:t>      "source_file_name": "대전광역시_서구/관광소비/2025_01_12.zip"</a:t>
            </a:r>
          </a:p>
          <a:p>
            <a:r>
              <a:t>    },</a:t>
            </a:r>
          </a:p>
          <a:p>
            <a:r>
              <a:t>    {</a:t>
            </a:r>
          </a:p>
          <a:p>
            <a:r>
              <a:t>      "source_id": "datalab:1bec5b4405e1:6c5494eef7c6",</a:t>
            </a:r>
          </a:p>
          <a:p>
            <a:r>
              <a:t>      "source_type": "nationwide_dataset",</a:t>
            </a:r>
          </a:p>
          <a:p>
            <a:r>
              <a:t>      "title": "한국관광 데이터랩 공식 다운로드 · 대전광역시_서구/숙박_체류시간/2025_01_12.zip",</a:t>
            </a:r>
          </a:p>
          <a:p>
            <a:r>
              <a:t>      "source_url": "https://datalab.visitkorea.or.kr/",</a:t>
            </a:r>
          </a:p>
          <a:p>
            <a:r>
              <a:t>      "summary": "전국 비교 기준 기간: 2025-07 ~ 2026-06",</a:t>
            </a:r>
          </a:p>
          <a:p>
            <a:r>
              <a:t>      "observation_period": "2025-07 ~ 2026-06",</a:t>
            </a:r>
          </a:p>
          <a:p>
            <a:r>
              <a:t>      "published_or_updated_at": "2024-07 ~ 2025-06",</a:t>
            </a:r>
          </a:p>
          <a:p>
            <a:r>
              <a:t>      "source_file_name": "대전광역시_서구/숙박_체류시간/2025_01_12.zip"</a:t>
            </a:r>
          </a:p>
          <a:p>
            <a:r>
              <a:t>    },</a:t>
            </a:r>
          </a:p>
          <a:p>
            <a:r>
              <a:t>    {</a:t>
            </a:r>
          </a:p>
          <a:p>
            <a:r>
              <a:t>      "source_id": "datalab:7a4db91d6ba9:d81294f3e5a0",</a:t>
            </a:r>
          </a:p>
          <a:p>
            <a:r>
              <a:t>      "source_type": "nationwide_dataset",</a:t>
            </a:r>
          </a:p>
          <a:p>
            <a:r>
              <a:t>      "title": "한국관광 데이터랩 공식 다운로드 · 대전광역시_서구/관광소비/2026_01_06.zip",</a:t>
            </a:r>
          </a:p>
          <a:p>
            <a:r>
              <a:t>      "source_url": "https://datalab.visitkorea.or.kr/",</a:t>
            </a:r>
          </a:p>
          <a:p>
            <a:r>
              <a:t>      "summary": "전국 비교 기준 기간: 2025-07 ~ 2026-06",</a:t>
            </a:r>
          </a:p>
          <a:p>
            <a:r>
              <a:t>      "observation_period": "2025-07 ~ 2026-06",</a:t>
            </a:r>
          </a:p>
          <a:p>
            <a:r>
              <a:t>      "published_or_updated_at": "2024-07 ~ 2025-06",</a:t>
            </a:r>
          </a:p>
          <a:p>
            <a:r>
              <a:t>      "source_file_name": "대전광역시_서구/관광소비/2026_01_06.zip"</a:t>
            </a:r>
          </a:p>
          <a:p>
            <a:r>
              <a:t>    },</a:t>
            </a:r>
          </a:p>
          <a:p>
            <a:r>
              <a:t>    {</a:t>
            </a:r>
          </a:p>
          <a:p>
            <a:r>
              <a:t>      "source_id": "datalab:cc1dc8fb5607:77f3b69cfb89",</a:t>
            </a:r>
          </a:p>
          <a:p>
            <a:r>
              <a:t>      "source_type": "nationwide_dataset",</a:t>
            </a:r>
          </a:p>
          <a:p>
            <a:r>
              <a:t>      "title": "한국관광 데이터랩 공식 다운로드 · 대전광역시_서구/방문자/2026_01_06.zip",</a:t>
            </a:r>
          </a:p>
          <a:p>
            <a:r>
              <a:t>      "source_url": "https://datalab.visitkorea.or.kr/",</a:t>
            </a:r>
          </a:p>
          <a:p>
            <a:r>
              <a:t>      "summary": "전국 비교 기준 기간: 2025-07 ~ 2026-06",</a:t>
            </a:r>
          </a:p>
          <a:p>
            <a:r>
              <a:t>      "observation_period": "2025-07 ~ 2026-06",</a:t>
            </a:r>
          </a:p>
          <a:p>
            <a:r>
              <a:t>      "published_or_updated_at": "2024-07 ~ 2025-06",</a:t>
            </a:r>
          </a:p>
          <a:p>
            <a:r>
              <a:t>      "source_file_name": "대전광역시_서구/방문자/2026_01_06.zip"</a:t>
            </a:r>
          </a:p>
          <a:p>
            <a:r>
              <a:t>    },</a:t>
            </a:r>
          </a:p>
          <a:p>
            <a:r>
              <a:t>    {</a:t>
            </a:r>
          </a:p>
          <a:p>
            <a:r>
              <a:t>      "source_id": "datalab:e53d144382ee:fc025995a6df",</a:t>
            </a:r>
          </a:p>
          <a:p>
            <a:r>
              <a:t>      "source_type": "nationwide_dataset",</a:t>
            </a:r>
          </a:p>
          <a:p>
            <a:r>
              <a:t>      "title": "한국관광 데이터랩 공식 다운로드 · 대전광역시_서구/숙박_체류시간/2026_01_06.zip",</a:t>
            </a:r>
          </a:p>
          <a:p>
            <a:r>
              <a:t>      "source_url": "https://datalab.visitkorea.or.kr/",</a:t>
            </a:r>
          </a:p>
          <a:p>
            <a:r>
              <a:t>      "summary": "전국 비교 기준 기간: 2025-07 ~ 2026-06",</a:t>
            </a:r>
          </a:p>
          <a:p>
            <a:r>
              <a:t>      "observation_period": "2025-07 ~ 2026-06",</a:t>
            </a:r>
          </a:p>
          <a:p>
            <a:r>
              <a:t>      "published_or_updated_at": "2024-07 ~ 2025-06",</a:t>
            </a:r>
          </a:p>
          <a:p>
            <a:r>
              <a:t>      "source_file_name": "대전광역시_서구/숙박_체류시간/2026_01_06.zip"</a:t>
            </a:r>
          </a:p>
          <a:p>
            <a:r>
              <a:t>    },</a:t>
            </a:r>
          </a:p>
          <a:p>
            <a:r>
              <a:t>    {</a:t>
            </a:r>
          </a:p>
          <a:p>
            <a:r>
              <a:t>      "source_id": "team-bigdata:23ea68053684:6bfbcf8aabf6",</a:t>
            </a:r>
          </a:p>
          <a:p>
            <a:r>
              <a:t>      "source_type": "nationwide_bigdata_dataset",</a:t>
            </a:r>
          </a:p>
          <a:p>
            <a:r>
              <a:t>      "title": "한국관광 데이터랩 전국 빅데이터 다운로드 · 이동통신/내국인/지역별 방문자수/20260820140607__202601-202606_데이터랩_다운로드.zip",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"이동통신/내국인/지역별 방문자수/20260820140607__202601-202606_데이터랩_다운로드.zip"</a:t>
            </a:r>
          </a:p>
          <a:p>
            <a:r>
              <a:t>    },</a:t>
            </a:r>
          </a:p>
          <a:p>
            <a:r>
              <a:t>    {</a:t>
            </a:r>
          </a:p>
          <a:p>
            <a:r>
              <a:t>      "source_id": "team-bigdata:98d4ae590d9a:3be52dd54323",</a:t>
            </a:r>
          </a:p>
          <a:p>
            <a:r>
              <a:t>      "source_type": "nationwide_bigdata_dataset",</a:t>
            </a:r>
          </a:p>
          <a:p>
            <a:r>
              <a:t>      "title": "한국관광 데이터랩 전국 빅데이터 다운로드 · 이동통신/외국인/20260820141710_전국_202601-202606_데이터랩_다운로드.zip",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"이동통신/외국인/20260820141710_전국_202601-202606_데이터랩_다운로드.zip"</a:t>
            </a:r>
          </a:p>
          <a:p>
            <a:r>
              <a:t>    },</a:t>
            </a:r>
          </a:p>
          <a:p>
            <a:r>
              <a:t>    {</a:t>
            </a:r>
          </a:p>
          <a:p>
            <a:r>
              <a:t>      "source_id": "team-bigdata:367cd0294ec4:873930d645e5",</a:t>
            </a:r>
          </a:p>
          <a:p>
            <a:r>
              <a:t>      "source_type": "nationwide_bigdata_dataset",</a:t>
            </a:r>
          </a:p>
          <a:p>
            <a:r>
              <a:t>      "title": "한국관광 데이터랩 전국 빅데이터 다운로드 · 신용카드/내국인/지역별 관광지출액/20260820140046__202601-202606_데이터랩_다운로드.zip",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"신용카드/내국인/지역별 관광지출액/20260820140046__202601-202606_데이터랩_다운로드.zip"</a:t>
            </a:r>
          </a:p>
          <a:p>
            <a:r>
              <a:t>    },</a:t>
            </a:r>
          </a:p>
          <a:p>
            <a:r>
              <a:t>    {</a:t>
            </a:r>
          </a:p>
          <a:p>
            <a:r>
              <a:t>      "source_id": "team-bigdata:553a0dad4bb4:5a31355dffe8",</a:t>
            </a:r>
          </a:p>
          <a:p>
            <a:r>
              <a:t>      "source_type": "nationwide_bigdata_dataset",</a:t>
            </a:r>
          </a:p>
          <a:p>
            <a:r>
              <a:t>      "title": "한국관광 데이터랩 전국 빅데이터 다운로드 · 신용카드/외국인/지역별 관광지출액/20260820140355__202601-202606_데이터랩_다운로드.zip",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"신용카드/외국인/지역별 관광지출액/20260820140355__202601-202606_데이터랩_다운로드.zip"</a:t>
            </a:r>
          </a:p>
          <a:p>
            <a:r>
              <a:t>    },</a:t>
            </a:r>
          </a:p>
          <a:p>
            <a:r>
              <a:t>    {</a:t>
            </a:r>
          </a:p>
          <a:p>
            <a:r>
              <a:t>      "source_id": "team-bigdata:a53dbe1c21df:77a052de41d5",</a:t>
            </a:r>
          </a:p>
          <a:p>
            <a:r>
              <a:t>      "source_type": "nationwide_bigdata_dataset",</a:t>
            </a:r>
          </a:p>
          <a:p>
            <a:r>
              <a:t>      "title": "한국관광 데이터랩 전국 빅데이터 다운로드 · 네비게이션/지역별 검색건수/20260820195507__202601-202606_데이터랩_다운로드.zip",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"네비게이션/지역별 검색건수/20260820195507__202601-202606_데이터랩_다운로드.zip"</a:t>
            </a:r>
          </a:p>
          <a:p>
            <a:r>
              <a:t>    },</a:t>
            </a:r>
          </a:p>
          <a:p>
            <a:r>
              <a:t>    {</a:t>
            </a:r>
          </a:p>
          <a:p>
            <a:r>
              <a:t>      "source_id": "team-bigdata:823a38d1d61c:5385261d02e5",</a:t>
            </a:r>
          </a:p>
          <a:p>
            <a:r>
              <a:t>      "source_type": "nationwide_bigdata_dataset",</a:t>
            </a:r>
          </a:p>
          <a:p>
            <a:r>
              <a:t>      "title": "한국관광 데이터랩 전국 빅데이터 다운로드 · 이동통신/내국인/지역별 방문자수/20260820140614__202501-202512_데이터랩_다운로드.zip",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"이동통신/내국인/지역별 방문자수/20260820140614__202501-202512_데이터랩_다운로드.zip"</a:t>
            </a:r>
          </a:p>
          <a:p>
            <a:r>
              <a:t>    },</a:t>
            </a:r>
          </a:p>
          <a:p>
            <a:r>
              <a:t>    {</a:t>
            </a:r>
          </a:p>
          <a:p>
            <a:r>
              <a:t>      "source_id": "team-bigdata:2723bdb0d589:1666a34058ed",</a:t>
            </a:r>
          </a:p>
          <a:p>
            <a:r>
              <a:t>      "source_type": "nationwide_bigdata_dataset",</a:t>
            </a:r>
          </a:p>
          <a:p>
            <a:r>
              <a:t>      "title": "한국관광 데이터랩 전국 빅데이터 다운로드 · 이동통신/외국인/20260820141649_전국_202501-202512_데이터랩_다운로드.zip",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"이동통신/외국인/20260820141649_전국_202501-202512_데이터랩_다운로드.zip"</a:t>
            </a:r>
          </a:p>
          <a:p>
            <a:r>
              <a:t>    },</a:t>
            </a:r>
          </a:p>
          <a:p>
            <a:r>
              <a:t>    {</a:t>
            </a:r>
          </a:p>
          <a:p>
            <a:r>
              <a:t>      "source_id": "team-bigdata:83177a234971:c02cb7972e0f",</a:t>
            </a:r>
          </a:p>
          <a:p>
            <a:r>
              <a:t>      "source_type": "nationwide_bigdata_dataset",</a:t>
            </a:r>
          </a:p>
          <a:p>
            <a:r>
              <a:t>      "title": "한국관광 데이터랩 전국 빅데이터 다운로드 · 신용카드/내국인/지역별 관광지출액/20260820135957__202501-202512_데이터랩_다운로드.zip",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"신용카드/내국인/지역별 관광지출액/20260820135957__202501-202512_데이터랩_다운로드.zip"</a:t>
            </a:r>
          </a:p>
          <a:p>
            <a:r>
              <a:t>    },</a:t>
            </a:r>
          </a:p>
          <a:p>
            <a:r>
              <a:t>    {</a:t>
            </a:r>
          </a:p>
          <a:p>
            <a:r>
              <a:t>      "source_id": "team-bigdata:58ded7732251:589c76395cbc",</a:t>
            </a:r>
          </a:p>
          <a:p>
            <a:r>
              <a:t>      "source_type": "nationwide_bigdata_dataset",</a:t>
            </a:r>
          </a:p>
          <a:p>
            <a:r>
              <a:t>      "title": "한국관광 데이터랩 전국 빅데이터 다운로드 · 신용카드/외국인/지역별 관광지출액/20260820140409__202501-202512_데이터랩_다운로드.zip",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"신용카드/외국인/지역별 관광지출액/20260820140409__202501-202512_데이터랩_다운로드.zip"</a:t>
            </a:r>
          </a:p>
          <a:p>
            <a:r>
              <a:t>    },</a:t>
            </a:r>
          </a:p>
          <a:p>
            <a:r>
              <a:t>    {</a:t>
            </a:r>
          </a:p>
          <a:p>
            <a:r>
              <a:t>      "source_id": "team-bigdata:e28c947cb52f:bb4cb344a6ba",</a:t>
            </a:r>
          </a:p>
          <a:p>
            <a:r>
              <a:t>      "source_type": "nationwide_bigdata_dataset",</a:t>
            </a:r>
          </a:p>
          <a:p>
            <a:r>
              <a:t>      "title": "한국관광 데이터랩 전국 빅데이터 다운로드 · 네비게이션/지역별 검색건수/20260820132007__202501-202512_데이터랩_다운로드.zip",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"네비게이션/지역별 검색건수/20260820132007__202501-202512_데이터랩_다운로드.zip"</a:t>
            </a:r>
          </a:p>
          <a:p>
            <a:r>
              <a:t>    },</a:t>
            </a:r>
          </a:p>
          <a:p>
            <a:r>
              <a:t>    {</a:t>
            </a:r>
          </a:p>
          <a:p>
            <a:r>
              <a:t>      "source_id": "team-bigdata:8815bbb11a39:1a5988f5f8ec",</a:t>
            </a:r>
          </a:p>
          <a:p>
            <a:r>
              <a:t>      "source_type": "nationwide_bigdata_dataset",</a:t>
            </a:r>
          </a:p>
          <a:p>
            <a:r>
              <a:t>      "title": "한국관광 데이터랩 전국 빅데이터 다운로드 · 이동통신/내국인/지역별 방문자수/20260820140624__202401-202412_데이터랩_다운로드.zip",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"이동통신/내국인/지역별 방문자수/20260820140624__202401-202412_데이터랩_다운로드.zip"</a:t>
            </a:r>
          </a:p>
          <a:p>
            <a:r>
              <a:t>    },</a:t>
            </a:r>
          </a:p>
          <a:p>
            <a:r>
              <a:t>    {</a:t>
            </a:r>
          </a:p>
          <a:p>
            <a:r>
              <a:t>      "source_id": "team-bigdata:19fd67fbb73d:afa4f0f54a2f",</a:t>
            </a:r>
          </a:p>
          <a:p>
            <a:r>
              <a:t>      "source_type": "nationwide_bigdata_dataset",</a:t>
            </a:r>
          </a:p>
          <a:p>
            <a:r>
              <a:t>      "title": "한국관광 데이터랩 전국 빅데이터 다운로드 · 이동통신/외국인/20260820141639_전국_202401-202412_데이터랩_다운로드.zip",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"이동통신/외국인/20260820141639_전국_202401-202412_데이터랩_다운로드.zip"</a:t>
            </a:r>
          </a:p>
          <a:p>
            <a:r>
              <a:t>    },</a:t>
            </a:r>
          </a:p>
          <a:p>
            <a:r>
              <a:t>    {</a:t>
            </a:r>
          </a:p>
          <a:p>
            <a:r>
              <a:t>      "source_id": "regional-status:0c68fedc2071:0ad82310f803",</a:t>
            </a:r>
          </a:p>
          <a:p>
            <a:r>
              <a:t>      "source_type": "regional_tourism_status",</a:t>
            </a:r>
          </a:p>
          <a:p>
            <a:r>
              <a:t>      "title": "한국관광 데이터랩 지역별 관광 현황 · 대전광역시 서구 · 지역집중률",</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"regional-status:4cddd6aa75d4:be8b01ec64e2",</a:t>
            </a:r>
          </a:p>
          <a:p>
            <a:r>
              <a:t>      "source_type": "regional_tourism_status",</a:t>
            </a:r>
          </a:p>
          <a:p>
            <a:r>
              <a:t>      "title": "한국관광 데이터랩 지역별 관광 현황 · 대전광역시 서구 · 유입유출",</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"regional-status:8c9a813e95eb:5e0cc3f56b73",</a:t>
            </a:r>
          </a:p>
          <a:p>
            <a:r>
              <a:t>      "source_type": "regional_tourism_status",</a:t>
            </a:r>
          </a:p>
          <a:p>
            <a:r>
              <a:t>      "title": "한국관광 데이터랩 지역별 관광 현황 · 대전광역시 서구 · 인기관광지",</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"ml:30170:regional-demand-v3.1:202606",</a:t>
            </a:r>
          </a:p>
          <a:p>
            <a:r>
              <a:t>      "source_type": "model_forecast",</a:t>
            </a:r>
          </a:p>
          <a:p>
            <a:r>
              <a:t>      "title": "지역 관광수요 ML 전망 · 공식 관측값 아님",</a:t>
            </a:r>
          </a:p>
          <a:p>
            <a:r>
              <a:t>      "source_url": "",</a:t>
            </a:r>
          </a:p>
          <a:p>
            <a:r>
              <a:t>      "summary": "학습 202401~202606 · 모델 regional-demand-v3.1 · 자연 추세 예측",</a:t>
            </a:r>
          </a:p>
          <a:p>
            <a:r>
              <a:t>      "model_version": "regional-demand-v3.1",</a:t>
            </a:r>
          </a:p>
          <a:p>
            <a:r>
              <a:t>      "data_fingerprint": "edea7fa8270d3b72aee15e6816efec3fce699e1bab55ebd844a10870c2f0e0a0"</a:t>
            </a:r>
          </a:p>
          <a:p>
            <a:r>
              <a:t>    },</a:t>
            </a:r>
          </a:p>
          <a:p>
            <a:r>
              <a:t>    {</a:t>
            </a:r>
          </a:p>
          <a:p>
            <a:r>
              <a:t>      "source_id": "tour-api:2899643",</a:t>
            </a:r>
          </a:p>
          <a:p>
            <a:r>
              <a:t>      "source_type": "open_api",</a:t>
            </a:r>
          </a:p>
          <a:p>
            <a:r>
              <a:t>      "title": "갈마짬뽕",</a:t>
            </a:r>
          </a:p>
          <a:p>
            <a:r>
              <a:t>      "source_url": "https://apis.data.go.kr/B551011/KorService2",</a:t>
            </a:r>
          </a:p>
          <a:p>
            <a:r>
              <a:t>      "content_id": "2899643",</a:t>
            </a:r>
          </a:p>
          <a:p>
            <a:r>
              <a:t>      "content_type_id": "39",</a:t>
            </a:r>
          </a:p>
          <a:p>
            <a:r>
              <a:t>      "address": "대전광역시 서구 월평동로 5-11 (갈마동)",</a:t>
            </a:r>
          </a:p>
          <a:p>
            <a:r>
              <a:t>      "image_url": "http://tong.visitkorea.or.kr/cms/resource/38/2899638_image2_1.jpg",</a:t>
            </a:r>
          </a:p>
          <a:p>
            <a:r>
              <a:t>      "summary": "한국관광공사 국문관광정보 API가 반환한 선택 지역 관광자원"</a:t>
            </a:r>
          </a:p>
          <a:p>
            <a:r>
              <a:t>    },</a:t>
            </a:r>
          </a:p>
          <a:p>
            <a:r>
              <a:t>    {</a:t>
            </a:r>
          </a:p>
          <a:p>
            <a:r>
              <a:t>      "source_id": "tour-api:2899637",</a:t>
            </a:r>
          </a:p>
          <a:p>
            <a:r>
              <a:t>      "source_type": "open_api",</a:t>
            </a:r>
          </a:p>
          <a:p>
            <a:r>
              <a:t>      "title": "관저당",</a:t>
            </a:r>
          </a:p>
          <a:p>
            <a:r>
              <a:t>      "source_url": "https://apis.data.go.kr/B551011/KorService2",</a:t>
            </a:r>
          </a:p>
          <a:p>
            <a:r>
              <a:t>      "content_id": "2899637",</a:t>
            </a:r>
          </a:p>
          <a:p>
            <a:r>
              <a:t>      "content_type_id": "39",</a:t>
            </a:r>
          </a:p>
          <a:p>
            <a:r>
              <a:t>      "address": "대전광역시 서구 구봉산북로21번길 11 (관저동)",</a:t>
            </a:r>
          </a:p>
          <a:p>
            <a:r>
              <a:t>      "image_url": "http://tong.visitkorea.or.kr/cms/resource/36/2899636_image2_1.jpg",</a:t>
            </a:r>
          </a:p>
          <a:p>
            <a:r>
              <a:t>      "summary": "한국관광공사 국문관광정보 API가 반환한 선택 지역 관광자원"</a:t>
            </a:r>
          </a:p>
          <a:p>
            <a:r>
              <a:t>    },</a:t>
            </a:r>
          </a:p>
          <a:p>
            <a:r>
              <a:t>    {</a:t>
            </a:r>
          </a:p>
          <a:p>
            <a:r>
              <a:t>      "source_id": "tour-api:1932079",</a:t>
            </a:r>
          </a:p>
          <a:p>
            <a:r>
              <a:t>      "source_type": "open_api",</a:t>
            </a:r>
          </a:p>
          <a:p>
            <a:r>
              <a:t>      "title": "굿모닝레지던스호텔휴",</a:t>
            </a:r>
          </a:p>
          <a:p>
            <a:r>
              <a:t>      "source_url": "https://apis.data.go.kr/B551011/KorService2",</a:t>
            </a:r>
          </a:p>
          <a:p>
            <a:r>
              <a:t>      "content_id": "1932079",</a:t>
            </a:r>
          </a:p>
          <a:p>
            <a:r>
              <a:t>      "content_type_id": "32",</a:t>
            </a:r>
          </a:p>
          <a:p>
            <a:r>
              <a:t>      "address": "대전광역시 서구 둔산로73번길 21 (둔산동)",</a:t>
            </a:r>
          </a:p>
          <a:p>
            <a:r>
              <a:t>      "image_url": "http://tong.visitkorea.or.kr/cms/resource/87/2584687_image2_1.jpg",</a:t>
            </a:r>
          </a:p>
          <a:p>
            <a:r>
              <a:t>      "summary": "한국관광공사 국문관광정보 API가 반환한 선택 지역 관광자원"</a:t>
            </a:r>
          </a:p>
          <a:p>
            <a:r>
              <a:t>    },</a:t>
            </a:r>
          </a:p>
          <a:p>
            <a:r>
              <a:t>    {</a:t>
            </a:r>
          </a:p>
          <a:p>
            <a:r>
              <a:t>      "source_id": "tour-api:133881",</a:t>
            </a:r>
          </a:p>
          <a:p>
            <a:r>
              <a:t>      "source_type": "open_api",</a:t>
            </a:r>
          </a:p>
          <a:p>
            <a:r>
              <a:t>      "title": "귀빈돌솥밥",</a:t>
            </a:r>
          </a:p>
          <a:p>
            <a:r>
              <a:t>      "source_url": "https://apis.data.go.kr/B551011/KorService2",</a:t>
            </a:r>
          </a:p>
          <a:p>
            <a:r>
              <a:t>      "content_id": "133881",</a:t>
            </a:r>
          </a:p>
          <a:p>
            <a:r>
              <a:t>      "content_type_id": "39",</a:t>
            </a:r>
          </a:p>
          <a:p>
            <a:r>
              <a:t>      "address": "대전광역시 서구 만년로68번길 21",</a:t>
            </a:r>
          </a:p>
          <a:p>
            <a:r>
              <a:t>      "image_url": "http://tong.visitkorea.or.kr/cms/resource/72/3060272_image2_1.JPG",</a:t>
            </a:r>
          </a:p>
          <a:p>
            <a:r>
              <a:t>      "summary": "한국관광공사 국문관광정보 API가 반환한 선택 지역 관광자원"</a:t>
            </a:r>
          </a:p>
          <a:p>
            <a:r>
              <a:t>    },</a:t>
            </a:r>
          </a:p>
          <a:p>
            <a:r>
              <a:t>    {</a:t>
            </a:r>
          </a:p>
          <a:p>
            <a:r>
              <a:t>      "source_id": "tour-api:2758252",</a:t>
            </a:r>
          </a:p>
          <a:p>
            <a:r>
              <a:t>      "source_type": "open_api",</a:t>
            </a:r>
          </a:p>
          <a:p>
            <a:r>
              <a:t>      "title": "남선공원",</a:t>
            </a:r>
          </a:p>
          <a:p>
            <a:r>
              <a:t>      "source_url": "https://apis.data.go.kr/B551011/KorService2",</a:t>
            </a:r>
          </a:p>
          <a:p>
            <a:r>
              <a:t>      "content_id": "2758252",</a:t>
            </a:r>
          </a:p>
          <a:p>
            <a:r>
              <a:t>      "content_type_id": "12",</a:t>
            </a:r>
          </a:p>
          <a:p>
            <a:r>
              <a:t>      "address": "대전광역시 서구 남선로 66",</a:t>
            </a:r>
          </a:p>
          <a:p>
            <a:r>
              <a:t>      "image_url": "http://tong.visitkorea.or.kr/cms/resource/24/3565624_image2_1.jpg",</a:t>
            </a:r>
          </a:p>
          <a:p>
            <a:r>
              <a:t>      "summary": "한국관광공사 국문관광정보 API가 반환한 선택 지역 관광자원"</a:t>
            </a:r>
          </a:p>
          <a:p>
            <a:r>
              <a:t>    },</a:t>
            </a:r>
          </a:p>
          <a:p>
            <a:r>
              <a:t>    {</a:t>
            </a:r>
          </a:p>
          <a:p>
            <a:r>
              <a:t>      "source_id": "tour-api:298208",</a:t>
            </a:r>
          </a:p>
          <a:p>
            <a:r>
              <a:t>      "source_type": "open_api",</a:t>
            </a:r>
          </a:p>
          <a:p>
            <a:r>
              <a:t>      "title": "내원사(대전)",</a:t>
            </a:r>
          </a:p>
          <a:p>
            <a:r>
              <a:t>      "source_url": "https://apis.data.go.kr/B551011/KorService2",</a:t>
            </a:r>
          </a:p>
          <a:p>
            <a:r>
              <a:t>      "content_id": "298208",</a:t>
            </a:r>
          </a:p>
          <a:p>
            <a:r>
              <a:t>      "content_type_id": "12",</a:t>
            </a:r>
          </a:p>
          <a:p>
            <a:r>
              <a:t>      "address": "대전광역시 서구 배재로197번길 200",</a:t>
            </a:r>
          </a:p>
          <a:p>
            <a:r>
              <a:t>      "image_url": "http://tong.visitkorea.or.kr/cms/resource/79/3034979_image2_1.JPG",</a:t>
            </a:r>
          </a:p>
          <a:p>
            <a:r>
              <a:t>      "summary": "한국관광공사 국문관광정보 API가 반환한 선택 지역 관광자원"</a:t>
            </a:r>
          </a:p>
          <a:p>
            <a:r>
              <a:t>    },</a:t>
            </a:r>
          </a:p>
          <a:p>
            <a:r>
              <a:t>    {</a:t>
            </a:r>
          </a:p>
          <a:p>
            <a:r>
              <a:t>      "source_id": "tour-api:3452550",</a:t>
            </a:r>
          </a:p>
          <a:p>
            <a:r>
              <a:t>      "source_type": "open_api",</a:t>
            </a:r>
          </a:p>
          <a:p>
            <a:r>
              <a:t>      "title": "노크노크",</a:t>
            </a:r>
          </a:p>
          <a:p>
            <a:r>
              <a:t>      "source_url": "https://apis.data.go.kr/B551011/KorService2",</a:t>
            </a:r>
          </a:p>
          <a:p>
            <a:r>
              <a:t>      "content_id": "3452550",</a:t>
            </a:r>
          </a:p>
          <a:p>
            <a:r>
              <a:t>      "content_type_id": "39",</a:t>
            </a:r>
          </a:p>
          <a:p>
            <a:r>
              <a:t>      "address": "대전광역시 서구 둔산로 68 (둔산동)",</a:t>
            </a:r>
          </a:p>
          <a:p>
            <a:r>
              <a:t>      "image_url": "http://tong.visitkorea.or.kr/cms/resource/59/3453059_image2_1.jpg",</a:t>
            </a:r>
          </a:p>
          <a:p>
            <a:r>
              <a:t>      "summary": "한국관광공사 국문관광정보 API가 반환한 선택 지역 관광자원"</a:t>
            </a:r>
          </a:p>
          <a:p>
            <a:r>
              <a:t>    },</a:t>
            </a:r>
          </a:p>
          <a:p>
            <a:r>
              <a:t>    {</a:t>
            </a:r>
          </a:p>
          <a:p>
            <a:r>
              <a:t>      "source_id": "tour-api:2899585",</a:t>
            </a:r>
          </a:p>
          <a:p>
            <a:r>
              <a:t>      "source_type": "open_api",</a:t>
            </a:r>
          </a:p>
          <a:p>
            <a:r>
              <a:t>      "title": "대성콩국수",</a:t>
            </a:r>
          </a:p>
          <a:p>
            <a:r>
              <a:t>      "source_url": "https://apis.data.go.kr/B551011/KorService2",</a:t>
            </a:r>
          </a:p>
          <a:p>
            <a:r>
              <a:t>      "content_id": "2899585",</a:t>
            </a:r>
          </a:p>
          <a:p>
            <a:r>
              <a:t>      "content_type_id": "39",</a:t>
            </a:r>
          </a:p>
          <a:p>
            <a:r>
              <a:t>      "address": "대전광역시 서구 도산로 141",</a:t>
            </a:r>
          </a:p>
          <a:p>
            <a:r>
              <a:t>      "image_url": "http://tong.visitkorea.or.kr/cms/resource/69/2899569_image2_1.jpg",</a:t>
            </a:r>
          </a:p>
          <a:p>
            <a:r>
              <a:t>      "summary": "한국관광공사 국문관광정보 API가 반환한 선택 지역 관광자원"</a:t>
            </a:r>
          </a:p>
          <a:p>
            <a:r>
              <a:t>    },</a:t>
            </a:r>
          </a:p>
          <a:p>
            <a:r>
              <a:t>    {</a:t>
            </a:r>
          </a:p>
          <a:p>
            <a:r>
              <a:t>      "source_id": "tour-api:130802",</a:t>
            </a:r>
          </a:p>
          <a:p>
            <a:r>
              <a:t>      "source_type": "open_api",</a:t>
            </a:r>
          </a:p>
          <a:p>
            <a:r>
              <a:t>      "title": "대전 가수원도서관",</a:t>
            </a:r>
          </a:p>
          <a:p>
            <a:r>
              <a:t>      "source_url": "https://apis.data.go.kr/B551011/KorService2",</a:t>
            </a:r>
          </a:p>
          <a:p>
            <a:r>
              <a:t>      "content_id": "130802",</a:t>
            </a:r>
          </a:p>
          <a:p>
            <a:r>
              <a:t>      "content_type_id": "14",</a:t>
            </a:r>
          </a:p>
          <a:p>
            <a:r>
              <a:t>      "address": "대전광역시 서구 가수원로 91-11 (가수원동)",</a:t>
            </a:r>
          </a:p>
          <a:p>
            <a:r>
              <a:t>      "image_url": "http://tong.visitkorea.or.kr/cms/resource/58/3033558_image2_1.JPG",</a:t>
            </a:r>
          </a:p>
          <a:p>
            <a:r>
              <a:t>      "summary": "한국관광공사 국문관광정보 API가 반환한 선택 지역 관광자원"</a:t>
            </a:r>
          </a:p>
          <a:p>
            <a:r>
              <a:t>    },</a:t>
            </a:r>
          </a:p>
          <a:p>
            <a:r>
              <a:t>    {</a:t>
            </a:r>
          </a:p>
          <a:p>
            <a:r>
              <a:t>      "source_id": "tour-api:2743325",</a:t>
            </a:r>
          </a:p>
          <a:p>
            <a:r>
              <a:t>      "source_type": "open_api",</a:t>
            </a:r>
          </a:p>
          <a:p>
            <a:r>
              <a:t>      "title": "대전광역시청 시민잔디광장",</a:t>
            </a:r>
          </a:p>
          <a:p>
            <a:r>
              <a:t>      "source_url": "https://apis.data.go.kr/B551011/KorService2",</a:t>
            </a:r>
          </a:p>
          <a:p>
            <a:r>
              <a:t>      "content_id": "2743325",</a:t>
            </a:r>
          </a:p>
          <a:p>
            <a:r>
              <a:t>      "content_type_id": "12",</a:t>
            </a:r>
          </a:p>
          <a:p>
            <a:r>
              <a:t>      "address": "대전광역시 서구 둔산로 100",</a:t>
            </a:r>
          </a:p>
          <a:p>
            <a:r>
              <a:t>      "image_url": "http://tong.visitkorea.or.kr/cms/resource/86/3565586_image2_1.jpg",</a:t>
            </a:r>
          </a:p>
          <a:p>
            <a:r>
              <a:t>      "summary": "한국관광공사 국문관광정보 API가 반환한 선택 지역 관광자원"</a:t>
            </a:r>
          </a:p>
          <a:p>
            <a:r>
              <a:t>    },</a:t>
            </a:r>
          </a:p>
          <a:p>
            <a:r>
              <a:t>    {</a:t>
            </a:r>
          </a:p>
          <a:p>
            <a:r>
              <a:t>      "source_id": "tour-api:130197",</a:t>
            </a:r>
          </a:p>
          <a:p>
            <a:r>
              <a:t>      "source_type": "open_api",</a:t>
            </a:r>
          </a:p>
          <a:p>
            <a:r>
              <a:t>      "title": "대전서구문화원",</a:t>
            </a:r>
          </a:p>
          <a:p>
            <a:r>
              <a:t>      "source_url": "https://apis.data.go.kr/B551011/KorService2",</a:t>
            </a:r>
          </a:p>
          <a:p>
            <a:r>
              <a:t>      "content_id": "130197",</a:t>
            </a:r>
          </a:p>
          <a:p>
            <a:r>
              <a:t>      "content_type_id": "14",</a:t>
            </a:r>
          </a:p>
          <a:p>
            <a:r>
              <a:t>      "address": "대전광역시 서구 계룡로553번길 38",</a:t>
            </a:r>
          </a:p>
          <a:p>
            <a:r>
              <a:t>      "image_url": "http://tong.visitkorea.or.kr/cms/resource/43/3585043_image2_1.jpg",</a:t>
            </a:r>
          </a:p>
          <a:p>
            <a:r>
              <a:t>      "summary": "한국관광공사 국문관광정보 API가 반환한 선택 지역 관광자원"</a:t>
            </a:r>
          </a:p>
          <a:p>
            <a:r>
              <a:t>    },</a:t>
            </a:r>
          </a:p>
          <a:p>
            <a:r>
              <a:t>    {</a:t>
            </a:r>
          </a:p>
          <a:p>
            <a:r>
              <a:t>      "source_id": "tour-api:2865847",</a:t>
            </a:r>
          </a:p>
          <a:p>
            <a:r>
              <a:t>      "source_type": "open_api",</a:t>
            </a:r>
          </a:p>
          <a:p>
            <a:r>
              <a:t>      "title": "델빠네",</a:t>
            </a:r>
          </a:p>
          <a:p>
            <a:r>
              <a:t>      "source_url": "https://apis.data.go.kr/B551011/KorService2",</a:t>
            </a:r>
          </a:p>
          <a:p>
            <a:r>
              <a:t>      "content_id": "2865847",</a:t>
            </a:r>
          </a:p>
          <a:p>
            <a:r>
              <a:t>      "content_type_id": "39",</a:t>
            </a:r>
          </a:p>
          <a:p>
            <a:r>
              <a:t>      "address": "대전광역시 서구 원도안로207번길 16-61 (도안동)",</a:t>
            </a:r>
          </a:p>
          <a:p>
            <a:r>
              <a:t>      "image_url": "http://tong.visitkorea.or.kr/cms/resource/36/2865836_image2_1.jpg",</a:t>
            </a:r>
          </a:p>
          <a:p>
            <a:r>
              <a:t>      "summary": "한국관광공사 국문관광정보 API가 반환한 선택 지역 관광자원"</a:t>
            </a:r>
          </a:p>
          <a:p>
            <a:r>
              <a:t>    },</a:t>
            </a:r>
          </a:p>
          <a:p>
            <a:r>
              <a:t>    {</a:t>
            </a:r>
          </a:p>
          <a:p>
            <a:r>
              <a:t>      "source_id": "tour-api:2758334",</a:t>
            </a:r>
          </a:p>
          <a:p>
            <a:r>
              <a:t>      "source_type": "open_api",</a:t>
            </a:r>
          </a:p>
          <a:p>
            <a:r>
              <a:t>      "title": "도마큰시장",</a:t>
            </a:r>
          </a:p>
          <a:p>
            <a:r>
              <a:t>      "source_url": "https://apis.data.go.kr/B551011/KorService2",</a:t>
            </a:r>
          </a:p>
          <a:p>
            <a:r>
              <a:t>      "content_id": "2758334",</a:t>
            </a:r>
          </a:p>
          <a:p>
            <a:r>
              <a:t>      "content_type_id": "38",</a:t>
            </a:r>
          </a:p>
          <a:p>
            <a:r>
              <a:t>      "address": "대전광역시 서구 도마4길 69 (도마동)",</a:t>
            </a:r>
          </a:p>
          <a:p>
            <a:r>
              <a:t>      "image_url": "http://tong.visitkorea.or.kr/cms/resource/34/3565534_image2_1.jpg",</a:t>
            </a:r>
          </a:p>
          <a:p>
            <a:r>
              <a:t>      "summary": "한국관광공사 국문관광정보 API가 반환한 선택 지역 관광자원"</a:t>
            </a:r>
          </a:p>
          <a:p>
            <a:r>
              <a:t>    },</a:t>
            </a:r>
          </a:p>
          <a:p>
            <a:r>
              <a:t>    {</a:t>
            </a:r>
          </a:p>
          <a:p>
            <a:r>
              <a:t>      "source_id": "tour-api:1955818",</a:t>
            </a:r>
          </a:p>
          <a:p>
            <a:r>
              <a:t>      "source_type": "open_api",</a:t>
            </a:r>
          </a:p>
          <a:p>
            <a:r>
              <a:t>      "title": "도산서원(대전)",</a:t>
            </a:r>
          </a:p>
          <a:p>
            <a:r>
              <a:t>      "source_url": "https://apis.data.go.kr/B551011/KorService2",</a:t>
            </a:r>
          </a:p>
          <a:p>
            <a:r>
              <a:t>      "content_id": "1955818",</a:t>
            </a:r>
          </a:p>
          <a:p>
            <a:r>
              <a:t>      "content_type_id": "12",</a:t>
            </a:r>
          </a:p>
          <a:p>
            <a:r>
              <a:t>      "address": "대전광역시 서구 남선로 8",</a:t>
            </a:r>
          </a:p>
          <a:p>
            <a:r>
              <a:t>      "image_url": "http://tong.visitkorea.or.kr/cms/resource/24/3035024_image2_1.JPG",</a:t>
            </a:r>
          </a:p>
          <a:p>
            <a:r>
              <a:t>      "summary": "한국관광공사 국문관광정보 API가 반환한 선택 지역 관광자원"</a:t>
            </a:r>
          </a:p>
          <a:p>
            <a:r>
              <a:t>    },</a:t>
            </a:r>
          </a:p>
          <a:p>
            <a:r>
              <a:t>    {</a:t>
            </a:r>
          </a:p>
          <a:p>
            <a:r>
              <a:t>      "source_id": "tour-api:2758341",</a:t>
            </a:r>
          </a:p>
          <a:p>
            <a:r>
              <a:t>      "source_type": "open_api",</a:t>
            </a:r>
          </a:p>
          <a:p>
            <a:r>
              <a:t>      "title": "둔산꽃시장",</a:t>
            </a:r>
          </a:p>
          <a:p>
            <a:r>
              <a:t>      "source_url": "https://apis.data.go.kr/B551011/KorService2",</a:t>
            </a:r>
          </a:p>
          <a:p>
            <a:r>
              <a:t>      "content_id": "2758341",</a:t>
            </a:r>
          </a:p>
          <a:p>
            <a:r>
              <a:t>      "content_type_id": "38",</a:t>
            </a:r>
          </a:p>
          <a:p>
            <a:r>
              <a:t>      "address": "대전광역시 서구 둔산북로 22 (둔산동)",</a:t>
            </a:r>
          </a:p>
          <a:p>
            <a:r>
              <a:t>      "image_url": "http://tong.visitkorea.or.kr/cms/resource/31/2758631_image2_1.jpg",</a:t>
            </a:r>
          </a:p>
          <a:p>
            <a:r>
              <a:t>      "summary": "한국관광공사 국문관광정보 API가 반환한 선택 지역 관광자원"</a:t>
            </a:r>
          </a:p>
          <a:p>
            <a:r>
              <a:t>    },</a:t>
            </a:r>
          </a:p>
          <a:p>
            <a:r>
              <a:t>    {</a:t>
            </a:r>
          </a:p>
          <a:p>
            <a:r>
              <a:t>      "source_id": "tour-api:1623725",</a:t>
            </a:r>
          </a:p>
          <a:p>
            <a:r>
              <a:t>      "source_type": "open_api",</a:t>
            </a:r>
          </a:p>
          <a:p>
            <a:r>
              <a:t>      "title": "둔산전자타운",</a:t>
            </a:r>
          </a:p>
          <a:p>
            <a:r>
              <a:t>      "source_url": "https://apis.data.go.kr/B551011/KorService2",</a:t>
            </a:r>
          </a:p>
          <a:p>
            <a:r>
              <a:t>      "content_id": "1623725",</a:t>
            </a:r>
          </a:p>
          <a:p>
            <a:r>
              <a:t>      "content_type_id": "38",</a:t>
            </a:r>
          </a:p>
          <a:p>
            <a:r>
              <a:t>      "address": "대전광역시 서구 도산로403번길 21",</a:t>
            </a:r>
          </a:p>
          <a:p>
            <a:r>
              <a:t>      "image_url": "http://tong.visitkorea.or.kr/cms/resource/60/3565560_image2_1.jpg",</a:t>
            </a:r>
          </a:p>
          <a:p>
            <a:r>
              <a:t>      "summary": "한국관광공사 국문관광정보 API가 반환한 선택 지역 관광자원"</a:t>
            </a:r>
          </a:p>
          <a:p>
            <a:r>
              <a:t>    },</a:t>
            </a:r>
          </a:p>
          <a:p>
            <a:r>
              <a:t>    {</a:t>
            </a:r>
          </a:p>
          <a:p>
            <a:r>
              <a:t>      "source_id": "tour-api:132661",</a:t>
            </a:r>
          </a:p>
          <a:p>
            <a:r>
              <a:t>      "source_type": "open_api",</a:t>
            </a:r>
          </a:p>
          <a:p>
            <a:r>
              <a:t>      "title": "롯데백화점 (대전점)",</a:t>
            </a:r>
          </a:p>
          <a:p>
            <a:r>
              <a:t>      "source_url": "https://apis.data.go.kr/B551011/KorService2",</a:t>
            </a:r>
          </a:p>
          <a:p>
            <a:r>
              <a:t>      "content_id": "132661",</a:t>
            </a:r>
          </a:p>
          <a:p>
            <a:r>
              <a:t>      "content_type_id": "38",</a:t>
            </a:r>
          </a:p>
          <a:p>
            <a:r>
              <a:t>      "address": "대전광역시 서구 계룡로 598 (괴정동)",</a:t>
            </a:r>
          </a:p>
          <a:p>
            <a:r>
              <a:t>      "image_url": "http://tong.visitkorea.or.kr/cms/resource/21/3443221_image2_1.jpg",</a:t>
            </a:r>
          </a:p>
          <a:p>
            <a:r>
              <a:t>      "summary": "한국관광공사 국문관광정보 API가 반환한 선택 지역 관광자원"</a:t>
            </a:r>
          </a:p>
          <a:p>
            <a:r>
              <a:t>    },</a:t>
            </a:r>
          </a:p>
          <a:p>
            <a:r>
              <a:t>    {</a:t>
            </a:r>
          </a:p>
          <a:p>
            <a:r>
              <a:t>      "source_id": "tour-api:2758646",</a:t>
            </a:r>
          </a:p>
          <a:p>
            <a:r>
              <a:t>      "source_type": "open_api",</a:t>
            </a:r>
          </a:p>
          <a:p>
            <a:r>
              <a:t>      "title": "마치광장",</a:t>
            </a:r>
          </a:p>
          <a:p>
            <a:r>
              <a:t>      "source_url": "https://apis.data.go.kr/B551011/KorService2",</a:t>
            </a:r>
          </a:p>
          <a:p>
            <a:r>
              <a:t>      "content_id": "2758646",</a:t>
            </a:r>
          </a:p>
          <a:p>
            <a:r>
              <a:t>      "content_type_id": "12",</a:t>
            </a:r>
          </a:p>
          <a:p>
            <a:r>
              <a:t>      "address": "대전광역시 서구 구봉로131번길 27",</a:t>
            </a:r>
          </a:p>
          <a:p>
            <a:r>
              <a:t>      "image_url": "http://tong.visitkorea.or.kr/cms/resource/16/3542516_image2_1.jpg",</a:t>
            </a:r>
          </a:p>
          <a:p>
            <a:r>
              <a:t>      "summary": "한국관광공사 국문관광정보 API가 반환한 선택 지역 관광자원"</a:t>
            </a:r>
          </a:p>
          <a:p>
            <a:r>
              <a:t>    },</a:t>
            </a:r>
          </a:p>
          <a:p>
            <a:r>
              <a:t>    {</a:t>
            </a:r>
          </a:p>
          <a:p>
            <a:r>
              <a:t>      "source_id": "tour-api:2899544",</a:t>
            </a:r>
          </a:p>
          <a:p>
            <a:r>
              <a:t>      "source_type": "open_api",</a:t>
            </a:r>
          </a:p>
          <a:p>
            <a:r>
              <a:t>      "title": "몽뜨",</a:t>
            </a:r>
          </a:p>
          <a:p>
            <a:r>
              <a:t>      "source_url": "https://apis.data.go.kr/B551011/KorService2",</a:t>
            </a:r>
          </a:p>
          <a:p>
            <a:r>
              <a:t>      "content_id": "2899544",</a:t>
            </a:r>
          </a:p>
          <a:p>
            <a:r>
              <a:t>      "content_type_id": "39",</a:t>
            </a:r>
          </a:p>
          <a:p>
            <a:r>
              <a:t>      "address": "대전광역시 서구 원도안로257번길 48 (도안동)",</a:t>
            </a:r>
          </a:p>
          <a:p>
            <a:r>
              <a:t>      "image_url": "http://tong.visitkorea.or.kr/cms/resource/35/2899535_image2_1.jpg",</a:t>
            </a:r>
          </a:p>
          <a:p>
            <a:r>
              <a:t>      "summary": "한국관광공사 국문관광정보 API가 반환한 선택 지역 관광자원"</a:t>
            </a:r>
          </a:p>
          <a:p>
            <a:r>
              <a:t>    },</a:t>
            </a:r>
          </a:p>
          <a:p>
            <a:r>
              <a:t>    {</a:t>
            </a:r>
          </a:p>
          <a:p>
            <a:r>
              <a:t>      "source_id": "tour-api:2865914",</a:t>
            </a:r>
          </a:p>
          <a:p>
            <a:r>
              <a:t>      "source_type": "open_api",</a:t>
            </a:r>
          </a:p>
          <a:p>
            <a:r>
              <a:t>      "title": "미세노센세",</a:t>
            </a:r>
          </a:p>
          <a:p>
            <a:r>
              <a:t>      "source_url": "https://apis.data.go.kr/B551011/KorService2",</a:t>
            </a:r>
          </a:p>
          <a:p>
            <a:r>
              <a:t>      "content_id": "2865914",</a:t>
            </a:r>
          </a:p>
          <a:p>
            <a:r>
              <a:t>      "content_type_id": "39",</a:t>
            </a:r>
          </a:p>
          <a:p>
            <a:r>
              <a:t>      "address": "대전광역시 서구 계룡로553번안길 65 (탄방동)",</a:t>
            </a:r>
          </a:p>
          <a:p>
            <a:r>
              <a:t>      "image_url": "http://tong.visitkorea.or.kr/cms/resource/05/2865905_image2_1.jpg",</a:t>
            </a:r>
          </a:p>
          <a:p>
            <a:r>
              <a:t>      "summary": "한국관광공사 국문관광정보 API가 반환한 선택 지역 관광자원"</a:t>
            </a:r>
          </a:p>
          <a:p>
            <a:r>
              <a:t>    },</a:t>
            </a:r>
          </a:p>
          <a:p>
            <a:r>
              <a:t>    {</a:t>
            </a:r>
          </a:p>
          <a:p>
            <a:r>
              <a:t>      "source_id": "reference:kto:2026:local-airport",</a:t>
            </a:r>
          </a:p>
          <a:p>
            <a:r>
              <a:t>      "source_type": "rag",</a:t>
            </a:r>
          </a:p>
          <a:p>
            <a:r>
              <a:t>      "title": "요즘, 한국관광 2호 - 지방공항 연계 지역관광 활성화 방안",</a:t>
            </a:r>
          </a:p>
          <a:p>
            <a:r>
              <a:t>      "source_url": "https://datalab.visitkorea.or.kr/site/portal/ex/bbs/View.do?bcIdx=311068&amp;cbIdx=1135&amp;pageIndex=1",</a:t>
            </a:r>
          </a:p>
          <a:p>
            <a:r>
              <a:t>      "published_or_updated_at": "2026-08",</a:t>
            </a:r>
          </a:p>
          <a:p>
            <a:r>
              <a:t>      "document_type": "policy",</a:t>
            </a:r>
          </a:p>
          <a:p>
            <a:r>
              <a:t>      "region_code": "ALL",</a:t>
            </a:r>
          </a:p>
          <a:p>
            <a:r>
              <a:t>      "region_name": "전국 공통",</a:t>
            </a:r>
          </a:p>
          <a:p>
            <a:r>
              <a:t>      "case_region": "",</a:t>
            </a:r>
          </a:p>
          <a:p>
            <a:r>
              <a:t>      "intervention": "",</a:t>
            </a:r>
          </a:p>
          <a:p>
            <a:r>
              <a:t>      "evidence_strength": "medium",</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"retrieval_method": "local_curated_chunk",</a:t>
            </a:r>
          </a:p>
          <a:p>
            <a:r>
              <a:t>      "matched_terms": [</a:t>
            </a:r>
          </a:p>
          <a:p>
            <a:r>
              <a:t>        "관광",</a:t>
            </a:r>
          </a:p>
          <a:p>
            <a:r>
              <a:t>        "상권",</a:t>
            </a:r>
          </a:p>
          <a:p>
            <a:r>
              <a:t>        "성과",</a:t>
            </a:r>
          </a:p>
          <a:p>
            <a:r>
              <a:t>        "소비",</a:t>
            </a:r>
          </a:p>
          <a:p>
            <a:r>
              <a:t>        "수와",</a:t>
            </a:r>
          </a:p>
          <a:p>
            <a:r>
              <a:t>        "숙박",</a:t>
            </a:r>
          </a:p>
          <a:p>
            <a:r>
              <a:t>        "실제",</a:t>
            </a:r>
          </a:p>
          <a:p>
            <a:r>
              <a:t>        "연결한",</a:t>
            </a:r>
          </a:p>
          <a:p>
            <a:r>
              <a:t>        "예산",</a:t>
            </a:r>
          </a:p>
          <a:p>
            <a:r>
              <a:t>        "운영",</a:t>
            </a:r>
          </a:p>
          <a:p>
            <a:r>
              <a:t>        "정책",</a:t>
            </a:r>
          </a:p>
          <a:p>
            <a:r>
              <a:t>        "중심으로",</a:t>
            </a:r>
          </a:p>
          <a:p>
            <a:r>
              <a:t>        "지역",</a:t>
            </a:r>
          </a:p>
          <a:p>
            <a:r>
              <a:t>        "체류",</a:t>
            </a:r>
          </a:p>
          <a:p>
            <a:r>
              <a:t>        "함께"</a:t>
            </a:r>
          </a:p>
          <a:p>
            <a:r>
              <a:t>      ],</a:t>
            </a:r>
          </a:p>
          <a:p>
            <a:r>
              <a:t>      "page_references": "PDF 44쪽, PDF 40쪽, PDF 41쪽, PDF 41쪽, PDF 43쪽",</a:t>
            </a:r>
          </a:p>
          <a:p>
            <a:r>
              <a:t>      "source_note": "지방공항·연계 지역에 관한 자료입니다. 다른 시군구의 사업 효과·예산을 보장하는 근거로 사용하지 않습니다.",</a:t>
            </a:r>
          </a:p>
          <a:p>
            <a:r>
              <a:t>      "chunk_id": "reference:kto:2026:local-airport:page:044:chunk:01",</a:t>
            </a:r>
          </a:p>
          <a:p>
            <a:r>
              <a:t>      "parent_source_id": "reference:kto:2026:local-airport",</a:t>
            </a:r>
          </a:p>
          <a:p>
            <a:r>
              <a:t>      "chunk_ids": [</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"reference:kto:2026:local-airport:page:044:chunk:01"</a:t>
            </a:r>
          </a:p>
          <a:p>
            <a:r>
              <a:t>      ],</a:t>
            </a:r>
          </a:p>
          <a:p>
            <a:r>
              <a:t>      "source_chunk_count": 5</a:t>
            </a:r>
          </a:p>
          <a:p>
            <a:r>
              <a:t>    },</a:t>
            </a:r>
          </a:p>
          <a:p>
            <a:r>
              <a:t>    {</a:t>
            </a:r>
          </a:p>
          <a:p>
            <a:r>
              <a:t>      "source_id": "web:30170:1",</a:t>
            </a:r>
          </a:p>
          <a:p>
            <a:r>
              <a:t>      "source_type": "official_web",</a:t>
            </a:r>
          </a:p>
          <a:p>
            <a:r>
              <a:t>      "title": "한밭수목원 | 열린관광 모두의 여행",</a:t>
            </a:r>
          </a:p>
          <a:p>
            <a:r>
              <a:t>      "source_url": "https://access.visitkorea.or.kr/ms/detail.do?cotId=81cc7479-c010-4bdd-9a29-3121bb578cb8",</a:t>
            </a:r>
          </a:p>
          <a:p>
            <a:r>
              <a:t>      "published_or_updated_at": "2026-09-10 수정",</a:t>
            </a:r>
          </a:p>
          <a:p>
            <a:r>
              <a:t>      "summary": "한밭수목원은 대전광역시 서구 둔산대로 169에 있으며, 정부대전청사 녹지축 및 예술의전당·미술관·연정국악원 등 문화예술 시설과 연계된 공간으로 안내된다.",</a:t>
            </a:r>
          </a:p>
          <a:p>
            <a:r>
              <a:t>      "why_relevant": "둔산권에서 자연관광과 문화관람을 한 동선으로 묶을 수 있는 공식 인프라 조건이다. 단, 개별 시설의 공동운영·할인·참여 여부는 확인되지 않았으므로 기관 협의 전제로만 활용해야 한다."</a:t>
            </a:r>
          </a:p>
          <a:p>
            <a:r>
              <a:t>    },</a:t>
            </a:r>
          </a:p>
          <a:p>
            <a:r>
              <a:t>    {</a:t>
            </a:r>
          </a:p>
          <a:p>
            <a:r>
              <a:t>      "source_id": "web:30170:2",</a:t>
            </a:r>
          </a:p>
          <a:p>
            <a:r>
              <a:t>      "source_type": "official_web",</a:t>
            </a:r>
          </a:p>
          <a:p>
            <a:r>
              <a:t>      "title": "Hanbat Arboretum (한밭수목원) - VISITKOREA",</a:t>
            </a:r>
          </a:p>
          <a:p>
            <a:r>
              <a:t>      "source_url": "https://english.visitkorea.or.kr/svc/contents/contentsView.do?vcontsId=82059",</a:t>
            </a:r>
          </a:p>
          <a:p>
            <a:r>
              <a:t>      "published_or_updated_at": "검색 시점 기준 현재 운영정보",</a:t>
            </a:r>
          </a:p>
          <a:p>
            <a:r>
              <a:t>      "summary": "한밭수목원의 10월~3월 동원·서원 운영시간은 08:00~19:00이며, 열대식물원은 09:00~18:00이다. 동원·열대식물원은 월요일, 서원은 화요일에 휴원한다.",</a:t>
            </a:r>
          </a:p>
          <a:p>
            <a:r>
              <a:t>      "why_relevant": "고정 운영기간인 2026년 10월~12월의 현장 프로그램은 종료시간 이전에 수목원 구간을 배치해야 한다. 월·화요일에는 동일한 수목원 구간을 전제로 한 전일 프로그램을 고정 편성하지 않고, 휴원일 대체 동선을 따로 설계해야 한다."</a:t>
            </a:r>
          </a:p>
          <a:p>
            <a:r>
              <a:t>    },</a:t>
            </a:r>
          </a:p>
          <a:p>
            <a:r>
              <a:t>    {</a:t>
            </a:r>
          </a:p>
          <a:p>
            <a:r>
              <a:t>      "source_id": "web:30170:3",</a:t>
            </a:r>
          </a:p>
          <a:p>
            <a:r>
              <a:t>      "source_type": "official_web",</a:t>
            </a:r>
          </a:p>
          <a:p>
            <a:r>
              <a:t>      "title": "대전예술의전당 | 열린관광 모두의 여행",</a:t>
            </a:r>
          </a:p>
          <a:p>
            <a:r>
              <a:t>      "source_url": "https://access.visitkorea.or.kr/ms/detail.do?cotId=af31b729-4eda-469b-b4cc-73ea3a1c8028",</a:t>
            </a:r>
          </a:p>
          <a:p>
            <a:r>
              <a:t>      "published_or_updated_at": "2026-07-31 수정",</a:t>
            </a:r>
          </a:p>
          <a:p>
            <a:r>
              <a:t>      "summary": "대전예술의전당은 서구 둔산대로 135의 둔산대공원 내 종합공연장으로, 대형공연이 가능한 아트홀, 앙상블홀, 국제회의·세미나·연회 활용이 가능한 컨벤션홀이 안내되어 있다.",</a:t>
            </a:r>
          </a:p>
          <a:p>
            <a:r>
              <a:t>      "why_relevant": "공연 일정이 확정되는 날에는 수목원·미술관 권역과 식음 상권을 연결하는 저녁 체류 동선의 문화 앵커 후보가 된다. 다만 2026년 10~12월의 실제 공연 편성, 대관·협력 가능 여부, 티켓 연계는 별도 확인이 필요하다."</a:t>
            </a:r>
          </a:p>
          <a:p>
            <a:r>
              <a:t>    },</a:t>
            </a:r>
          </a:p>
          <a:p>
            <a:r>
              <a:t>    {</a:t>
            </a:r>
          </a:p>
          <a:p>
            <a:r>
              <a:t>      "source_id": "web:30170:4",</a:t>
            </a:r>
          </a:p>
          <a:p>
            <a:r>
              <a:t>      "source_type": "official_web",</a:t>
            </a:r>
          </a:p>
          <a:p>
            <a:r>
              <a:t>      "title": "한민시장 | 열린관광 모두의 여행",</a:t>
            </a:r>
          </a:p>
          <a:p>
            <a:r>
              <a:t>      "source_url": "https://access.visitkorea.or.kr/ms/detail.do?cotId=72bba786-e15a-478a-bc99-c9d15ff27727",</a:t>
            </a:r>
          </a:p>
          <a:p>
            <a:r>
              <a:t>      "published_or_updated_at": "2026-06-24 수정",</a:t>
            </a:r>
          </a:p>
          <a:p>
            <a:r>
              <a:t>      "summary": "한민시장은 서구 가장로 106에 위치하며, 용문역과 가깝고 주변 한밭수목원·엑스포시민광장·엑스포과학공원과의 연계 관광이 가능한 곳으로 안내된다. 시장 내 점포별 영업시간과 휴무일은 서로 다르다.",</a:t>
            </a:r>
          </a:p>
          <a:p>
            <a:r>
              <a:t>      "why_relevant": "둔산권 방문을 지역 식음·시장 이용으로 전환할 후보 거점이다. 다만 시장 전체의 일괄 야간운영이나 할인 참여를 전제할 수 없으므로, 참여 점포 모집과 공연일·주말별 영업 확인 후에만 스탬프·메뉴·체험 연계를 편성해야 한다."</a:t>
            </a:r>
          </a:p>
          <a:p>
            <a:r>
              <a:t>    },</a:t>
            </a:r>
          </a:p>
          <a:p>
            <a:r>
              <a:t>    {</a:t>
            </a:r>
          </a:p>
          <a:p>
            <a:r>
              <a:t>      "source_id": "web:30170:5",</a:t>
            </a:r>
          </a:p>
          <a:p>
            <a:r>
              <a:t>      "source_type": "official_web",</a:t>
            </a:r>
          </a:p>
          <a:p>
            <a:r>
              <a:t>      "title": "장태산자연휴양림 - VISITKOREA",</a:t>
            </a:r>
          </a:p>
          <a:p>
            <a:r>
              <a:t>      "source_url": "https://japanese.visitkorea.or.kr/svc/contents/contentsView.do?vcontsId=76300",</a:t>
            </a:r>
          </a:p>
          <a:p>
            <a:r>
              <a:t>      "published_or_updated_at": "검색 시점 기준 현재 페이지",</a:t>
            </a:r>
          </a:p>
          <a:p>
            <a:r>
              <a:t>      "summary": "장태산자연휴양림은 대전광역시 서구 장안로 461에 위치한 서구 관광자원으로 공식 관광정보에 수록되어 있으며, 한국관광공사 공식 콘텐츠는 가을 단풍 경관을 소개한다.",</a:t>
            </a:r>
          </a:p>
          <a:p>
            <a:r>
              <a:t>      "why_relevant": "10~11월 자연관광 콘텐츠 후보로 검토할 수 있다. 그러나 공식 검색 결과만으로는 2026년 가을의 숙박 객실, 프로그램, 교통운행, 단체예약 및 행사 가능 조건을 확정할 수 없으므로, 체류 증대의 주력 사업으로 바로 확정하지 않는다."</a:t>
            </a:r>
          </a:p>
          <a:p>
            <a:r>
              <a:t>    },</a:t>
            </a:r>
          </a:p>
          <a:p>
            <a:r>
              <a:t>    {</a:t>
            </a:r>
          </a:p>
          <a:p>
            <a:r>
              <a:t>      "source_id": "web:30170:6",</a:t>
            </a:r>
          </a:p>
          <a:p>
            <a:r>
              <a:t>      "source_type": "official_web",</a:t>
            </a:r>
          </a:p>
          <a:p>
            <a:r>
              <a:t>      "title": "여유롭고 안전한 오늘의 여행법 비대면(언택트) 관광지 100선",</a:t>
            </a:r>
          </a:p>
          <a:p>
            <a:r>
              <a:t>      "source_url": "https://korean.visitkorea.or.kr/detail/rem_detail.do?cotid=351f6cf4-d984-496f-886d-6fc538b226a7",</a:t>
            </a:r>
          </a:p>
          <a:p>
            <a:r>
              <a:t>      "published_or_updated_at": "게시일 미확인",</a:t>
            </a:r>
          </a:p>
          <a:p>
            <a:r>
              <a:t>      "summary": "한국관광공사 공식 관광 콘텐츠에는 대전 서구의 장태산자연휴양림과 한밭수목원이 비대면 관광지 100선 목록에 포함되어 있다.",</a:t>
            </a:r>
          </a:p>
          <a:p>
            <a:r>
              <a:t>      "why_relevant": "가을철 자연·산책 콘텐츠의 공공 관광자원으로 두 장소를 후보군에 둘 근거는 있으나, 선정 사실 자체가 현재 수요·소비·숙박 증가 또는 특정 사업효과를 뜻하지는 않는다."</a:t>
            </a:r>
          </a:p>
          <a:p>
            <a:r>
              <a:t>    },</a:t>
            </a:r>
          </a:p>
          <a:p>
            <a:r>
              <a:t>    {</a:t>
            </a:r>
          </a:p>
          <a:p>
            <a:r>
              <a:t>      "source_id": "case:41508ca81cf29f",</a:t>
            </a:r>
          </a:p>
          <a:p>
            <a:r>
              <a:t>      "source_type": "benchmark_case",</a:t>
            </a:r>
          </a:p>
          <a:p>
            <a:r>
              <a:t>      "title": "한국관광 데이터랩 · 안동탈춤축제 방문자 추이",</a:t>
            </a:r>
          </a:p>
          <a:p>
            <a:r>
              <a:t>      "source_url": "https://datalab.visitkorea.or.kr/",</a:t>
            </a:r>
          </a:p>
          <a:p>
            <a:r>
              <a:t>      "published_or_updated_at": "2026-08-20",</a:t>
            </a:r>
          </a:p>
          <a:p>
            <a:r>
              <a:t>      "summary": "경상북도 안동시 · 2025 안동탈춤축제 10일 집중 운영 · 2024→2025년 전체 504,573→554,494명 (+9.89%). 개최 10→10일, 일평균 +9.89%, 외지인 +10.75%.",</a:t>
            </a:r>
          </a:p>
          <a:p>
            <a:r>
              <a:t>      "case_region": "경상북도 안동시",</a:t>
            </a:r>
          </a:p>
          <a:p>
            <a:r>
              <a:t>      "intervention": "2025 안동탈춤축제 10일 집중 운영",</a:t>
            </a:r>
          </a:p>
          <a:p>
            <a:r>
              <a:t>      "operating_model": "2025년 10일 동안 탈춤과 지역문화 중심 축제를 집중 운영했다. 제공된 관광데이터랩 CSV에서는 세부 예약·정원·상권 정산 방식은 확인되지 않으므로, 확인 가능한 실행 사실은 축제명·개최일수·관측구역 방문지표까지다.",</a:t>
            </a:r>
          </a:p>
          <a:p>
            <a:r>
              <a:t>      "evidence_strength": "medium",</a:t>
            </a:r>
          </a:p>
          <a:p>
            <a:r>
              <a:t>      "quantitative_result_approved": true,</a:t>
            </a:r>
          </a:p>
          <a:p>
            <a:r>
              <a:t>      "document_type": null,</a:t>
            </a:r>
          </a:p>
          <a:p>
            <a:r>
              <a:t>      "retrieval_method": "official_web_search",</a:t>
            </a:r>
          </a:p>
          <a:p>
            <a:r>
              <a:t>      "retrieval_context": {</a:t>
            </a:r>
          </a:p>
          <a:p>
            <a:r>
              <a:t>        "scope": "cross_province",</a:t>
            </a:r>
          </a:p>
          <a:p>
            <a:r>
              <a:t>        "peer_region_code": null</a:t>
            </a:r>
          </a:p>
          <a:p>
            <a:r>
              <a:t>      },</a:t>
            </a:r>
          </a:p>
          <a:p>
            <a:r>
              <a:t>      "observed_result": "2024→2025년 전체 504,573→554,494명 (+9.89%). 개최 10→10일, 일평균 +9.89%, 외지인 +10.75%.",</a:t>
            </a:r>
          </a:p>
          <a:p>
            <a:r>
              <a:t>      "operating_statistics": [</a:t>
            </a:r>
          </a:p>
          <a:p>
            <a:r>
              <a:t>        {</a:t>
            </a:r>
          </a:p>
          <a:p>
            <a:r>
              <a:t>          "metric": "operating_days",</a:t>
            </a:r>
          </a:p>
          <a:p>
            <a:r>
              <a:t>          "value": 10,</a:t>
            </a:r>
          </a:p>
          <a:p>
            <a:r>
              <a:t>          "unit": "일",</a:t>
            </a:r>
          </a:p>
          <a:p>
            <a:r>
              <a:t>          "period": "2025년 축제 개최기간",</a:t>
            </a:r>
          </a:p>
          <a:p>
            <a:r>
              <a:t>          "scope": "안동탈춤축제 전체 개최일",</a:t>
            </a:r>
          </a:p>
          <a:p>
            <a:r>
              <a:t>          "quote": "2025년 10일 개최",</a:t>
            </a:r>
          </a:p>
          <a:p>
            <a:r>
              <a:t>          "capacity_count": null,</a:t>
            </a:r>
          </a:p>
          <a:p>
            <a:r>
              <a:t>          "participant_count": null,</a:t>
            </a:r>
          </a:p>
          <a:p>
            <a:r>
              <a:t>          "program_name": "안동탈춤축제"</a:t>
            </a:r>
          </a:p>
          <a:p>
            <a:r>
              <a:t>        }</a:t>
            </a:r>
          </a:p>
          <a:p>
            <a:r>
              <a:t>      ],</a:t>
            </a:r>
          </a:p>
          <a:p>
            <a:r>
              <a:t>      "evidence_kind": "festival_document_and_statistics",</a:t>
            </a:r>
          </a:p>
          <a:p>
            <a:r>
              <a:t>      "festival_statistics": {</a:t>
            </a:r>
          </a:p>
          <a:p>
            <a:r>
              <a:t>        "name": "안동탈춤축제",</a:t>
            </a:r>
          </a:p>
          <a:p>
            <a:r>
              <a:t>        "annual": [</a:t>
            </a:r>
          </a:p>
          <a:p>
            <a:r>
              <a:t>          {</a:t>
            </a:r>
          </a:p>
          <a:p>
            <a:r>
              <a:t>            "days": 8,</a:t>
            </a:r>
          </a:p>
          <a:p>
            <a:r>
              <a:t>            "year": 2023,</a:t>
            </a:r>
          </a:p>
          <a:p>
            <a:r>
              <a:t>            "daily": 45517.125,</a:t>
            </a:r>
          </a:p>
          <a:p>
            <a:r>
              <a:t>            "local": 233513,</a:t>
            </a:r>
          </a:p>
          <a:p>
            <a:r>
              <a:t>            "total": 364137,</a:t>
            </a:r>
          </a:p>
          <a:p>
            <a:r>
              <a:t>            "foreign": 3319,</a:t>
            </a:r>
          </a:p>
          <a:p>
            <a:r>
              <a:t>            "outside": 127305,</a:t>
            </a:r>
          </a:p>
          <a:p>
            <a:r>
              <a:t>            "outside_daily": 15913.125,</a:t>
            </a:r>
          </a:p>
          <a:p>
            <a:r>
              <a:t>            "outside_share_pct": 34.960742797353745</a:t>
            </a:r>
          </a:p>
          <a:p>
            <a:r>
              <a:t>          },</a:t>
            </a:r>
          </a:p>
          <a:p>
            <a:r>
              <a:t>          {</a:t>
            </a:r>
          </a:p>
          <a:p>
            <a:r>
              <a:t>            "days": 10,</a:t>
            </a:r>
          </a:p>
          <a:p>
            <a:r>
              <a:t>            "year": 2024,</a:t>
            </a:r>
          </a:p>
          <a:p>
            <a:r>
              <a:t>            "daily": 50457.3,</a:t>
            </a:r>
          </a:p>
          <a:p>
            <a:r>
              <a:t>            "local": 317925,</a:t>
            </a:r>
          </a:p>
          <a:p>
            <a:r>
              <a:t>            "total": 504573,</a:t>
            </a:r>
          </a:p>
          <a:p>
            <a:r>
              <a:t>            "foreign": 4684,</a:t>
            </a:r>
          </a:p>
          <a:p>
            <a:r>
              <a:t>            "outside": 181964,</a:t>
            </a:r>
          </a:p>
          <a:p>
            <a:r>
              <a:t>            "outside_daily": 18196.4,</a:t>
            </a:r>
          </a:p>
          <a:p>
            <a:r>
              <a:t>            "outside_share_pct": 36.06296809381398</a:t>
            </a:r>
          </a:p>
          <a:p>
            <a:r>
              <a:t>          },</a:t>
            </a:r>
          </a:p>
          <a:p>
            <a:r>
              <a:t>          {</a:t>
            </a:r>
          </a:p>
          <a:p>
            <a:r>
              <a:t>            "days": 10,</a:t>
            </a:r>
          </a:p>
          <a:p>
            <a:r>
              <a:t>            "year": 2025,</a:t>
            </a:r>
          </a:p>
          <a:p>
            <a:r>
              <a:t>            "daily": 55449.4,</a:t>
            </a:r>
          </a:p>
          <a:p>
            <a:r>
              <a:t>            "local": 347269,</a:t>
            </a:r>
          </a:p>
          <a:p>
            <a:r>
              <a:t>            "total": 554494,</a:t>
            </a:r>
          </a:p>
          <a:p>
            <a:r>
              <a:t>            "foreign": 5702,</a:t>
            </a:r>
          </a:p>
          <a:p>
            <a:r>
              <a:t>            "outside": 201523,</a:t>
            </a:r>
          </a:p>
          <a:p>
            <a:r>
              <a:t>            "outside_daily": 20152.3,</a:t>
            </a:r>
          </a:p>
          <a:p>
            <a:r>
              <a:t>            "outside_share_pct": 36.34358532283487</a:t>
            </a:r>
          </a:p>
          <a:p>
            <a:r>
              <a:t>          }</a:t>
            </a:r>
          </a:p>
          <a:p>
            <a:r>
              <a:t>        ],</a:t>
            </a:r>
          </a:p>
          <a:p>
            <a:r>
              <a:t>        "comparison": {</a:t>
            </a:r>
          </a:p>
          <a:p>
            <a:r>
              <a:t>          "daily": {</a:t>
            </a:r>
          </a:p>
          <a:p>
            <a:r>
              <a:t>            "after": 55449.4,</a:t>
            </a:r>
          </a:p>
          <a:p>
            <a:r>
              <a:t>            "before": 50457.3,</a:t>
            </a:r>
          </a:p>
          <a:p>
            <a:r>
              <a:t>            "change_pct": 9.893712109050613,</a:t>
            </a:r>
          </a:p>
          <a:p>
            <a:r>
              <a:t>            "difference": 4992.0999999999985</a:t>
            </a:r>
          </a:p>
          <a:p>
            <a:r>
              <a:t>          },</a:t>
            </a:r>
          </a:p>
          <a:p>
            <a:r>
              <a:t>          "total": {</a:t>
            </a:r>
          </a:p>
          <a:p>
            <a:r>
              <a:t>            "after": 554494,</a:t>
            </a:r>
          </a:p>
          <a:p>
            <a:r>
              <a:t>            "before": 504573,</a:t>
            </a:r>
          </a:p>
          <a:p>
            <a:r>
              <a:t>            "change_pct": 9.893712109050613,</a:t>
            </a:r>
          </a:p>
          <a:p>
            <a:r>
              <a:t>            "difference": 49921</a:t>
            </a:r>
          </a:p>
          <a:p>
            <a:r>
              <a:t>          },</a:t>
            </a:r>
          </a:p>
          <a:p>
            <a:r>
              <a:t>          "outside": {</a:t>
            </a:r>
          </a:p>
          <a:p>
            <a:r>
              <a:t>            "after": 201523,</a:t>
            </a:r>
          </a:p>
          <a:p>
            <a:r>
              <a:t>            "before": 181964,</a:t>
            </a:r>
          </a:p>
          <a:p>
            <a:r>
              <a:t>            "change_pct": 10.748829438790096,</a:t>
            </a:r>
          </a:p>
          <a:p>
            <a:r>
              <a:t>            "difference": 19559</a:t>
            </a:r>
          </a:p>
          <a:p>
            <a:r>
              <a:t>          },</a:t>
            </a:r>
          </a:p>
          <a:p>
            <a:r>
              <a:t>          "after_days": 10,</a:t>
            </a:r>
          </a:p>
          <a:p>
            <a:r>
              <a:t>          "after_year": 2025,</a:t>
            </a:r>
          </a:p>
          <a:p>
            <a:r>
              <a:t>          "before_days": 10,</a:t>
            </a:r>
          </a:p>
          <a:p>
            <a:r>
              <a:t>          "before_year": 2024,</a:t>
            </a:r>
          </a:p>
          <a:p>
            <a:r>
              <a:t>          "outside_daily": {</a:t>
            </a:r>
          </a:p>
          <a:p>
            <a:r>
              <a:t>            "after": 20152.3,</a:t>
            </a:r>
          </a:p>
          <a:p>
            <a:r>
              <a:t>            "before": 18196.4,</a:t>
            </a:r>
          </a:p>
          <a:p>
            <a:r>
              <a:t>            "change_pct": 10.748829438790075,</a:t>
            </a:r>
          </a:p>
          <a:p>
            <a:r>
              <a:t>            "difference": 1955.8999999999976</a:t>
            </a:r>
          </a:p>
          <a:p>
            <a:r>
              <a:t>          }</a:t>
            </a:r>
          </a:p>
          <a:p>
            <a:r>
              <a:t>        },</a:t>
            </a:r>
          </a:p>
          <a:p>
            <a:r>
              <a:t>        "scope": "축제 관측구역 방문 지표. 도시 전체·순증 관광객·입장권 실구매자 수가 아님.",</a:t>
            </a:r>
          </a:p>
          <a:p>
            <a:r>
              <a:t>        "region_basis": "목적지 검색 CSV의 시도+시군구 최빈 주소; 행사장 행정경계 확정은 아님",</a:t>
            </a:r>
          </a:p>
          <a:p>
            <a:r>
              <a:t>        "source_file": {</a:t>
            </a:r>
          </a:p>
          <a:p>
            <a:r>
              <a:t>          "sha256": "28f418873eda5b37d320d3fef32c46bef172ca1cfea3861db2d5fc96a0b16f50",</a:t>
            </a:r>
          </a:p>
          <a:p>
            <a:r>
              <a:t>          "provider": "한국관광 데이터랩",</a:t>
            </a:r>
          </a:p>
          <a:p>
            <a:r>
              <a:t>          "file_name": "20260820175023_안동탈춤축제_연도별 방문자 추이.csv",</a:t>
            </a:r>
          </a:p>
          <a:p>
            <a:r>
              <a:t>          "source_id": "festival-file:28f418873eda5b37d320",</a:t>
            </a:r>
          </a:p>
          <a:p>
            <a:r>
              <a:t>          "source_url": "https://datalab.visitkorea.or.kr/",</a:t>
            </a:r>
          </a:p>
          <a:p>
            <a:r>
              <a:t>          "downloaded_at": "2026-08-20",</a:t>
            </a:r>
          </a:p>
          <a:p>
            <a:r>
              <a:t>          "relative_path": "data/source_snapshots/festivals_20260820/43. 안동탈춤축제_2023-2025/20260820175023_안동탈춤축제_연도별 방문자 추이.csv",</a:t>
            </a:r>
          </a:p>
          <a:p>
            <a:r>
              <a:t>          "provenance_status": "team_download_exact_query_url_unrecorded"</a:t>
            </a:r>
          </a:p>
          <a:p>
            <a:r>
              <a:t>        },</a:t>
            </a:r>
          </a:p>
          <a:p>
            <a:r>
              <a:t>        "indicator_values": [</a:t>
            </a:r>
          </a:p>
          <a:p>
            <a:r>
              <a:t>          {</a:t>
            </a:r>
          </a:p>
          <a:p>
            <a:r>
              <a:t>            "구분명": "외부방문자 유입",</a:t>
            </a:r>
          </a:p>
          <a:p>
            <a:r>
              <a:t>            "그룹명": "축제기간",</a:t>
            </a:r>
          </a:p>
          <a:p>
            <a:r>
              <a:t>            "지표값": "0.515",</a:t>
            </a:r>
          </a:p>
          <a:p>
            <a:r>
              <a:t>            "축제명": "안동탈춤축제",</a:t>
            </a:r>
          </a:p>
          <a:p>
            <a:r>
              <a:t>            "개최년도": "2025"</a:t>
            </a:r>
          </a:p>
          <a:p>
            <a:r>
              <a:t>          },</a:t>
            </a:r>
          </a:p>
          <a:p>
            <a:r>
              <a:t>          {</a:t>
            </a:r>
          </a:p>
          <a:p>
            <a:r>
              <a:t>            "구분명": "현지인방문자 유입",</a:t>
            </a:r>
          </a:p>
          <a:p>
            <a:r>
              <a:t>            "그룹명": "축제기간",</a:t>
            </a:r>
          </a:p>
          <a:p>
            <a:r>
              <a:t>            "지표값": "0.859",</a:t>
            </a:r>
          </a:p>
          <a:p>
            <a:r>
              <a:t>            "축제명": "안동탈춤축제",</a:t>
            </a:r>
          </a:p>
          <a:p>
            <a:r>
              <a:t>            "개최년도": "2025"</a:t>
            </a:r>
          </a:p>
          <a:p>
            <a:r>
              <a:t>          },</a:t>
            </a:r>
          </a:p>
          <a:p>
            <a:r>
              <a:t>          {</a:t>
            </a:r>
          </a:p>
          <a:p>
            <a:r>
              <a:t>            "구분명": "내비게이션 검색량",</a:t>
            </a:r>
          </a:p>
          <a:p>
            <a:r>
              <a:t>            "그룹명": "축제기간",</a:t>
            </a:r>
          </a:p>
          <a:p>
            <a:r>
              <a:t>            "지표값": "0.434",</a:t>
            </a:r>
          </a:p>
          <a:p>
            <a:r>
              <a:t>            "축제명": "안동탈춤축제",</a:t>
            </a:r>
          </a:p>
          <a:p>
            <a:r>
              <a:t>            "개최년도": "2025"</a:t>
            </a:r>
          </a:p>
          <a:p>
            <a:r>
              <a:t>          },</a:t>
            </a:r>
          </a:p>
          <a:p>
            <a:r>
              <a:t>          {</a:t>
            </a:r>
          </a:p>
          <a:p>
            <a:r>
              <a:t>            "구분명": "관광소비",</a:t>
            </a:r>
          </a:p>
          <a:p>
            <a:r>
              <a:t>            "그룹명": "축제기간",</a:t>
            </a:r>
          </a:p>
          <a:p>
            <a:r>
              <a:t>            "지표값": "0.544",</a:t>
            </a:r>
          </a:p>
          <a:p>
            <a:r>
              <a:t>            "축제명": "안동탈춤축제",</a:t>
            </a:r>
          </a:p>
          <a:p>
            <a:r>
              <a:t>            "개최년도": "2025"</a:t>
            </a:r>
          </a:p>
          <a:p>
            <a:r>
              <a:t>          },</a:t>
            </a:r>
          </a:p>
          <a:p>
            <a:r>
              <a:t>          {</a:t>
            </a:r>
          </a:p>
          <a:p>
            <a:r>
              <a:t>            "구분명": "축제지 집중률",</a:t>
            </a:r>
          </a:p>
          <a:p>
            <a:r>
              <a:t>            "그룹명": "축제기간",</a:t>
            </a:r>
          </a:p>
          <a:p>
            <a:r>
              <a:t>            "지표값": "0.879",</a:t>
            </a:r>
          </a:p>
          <a:p>
            <a:r>
              <a:t>            "축제명": "안동탈춤축제",</a:t>
            </a:r>
          </a:p>
          <a:p>
            <a:r>
              <a:t>            "개최년도": "2025"</a:t>
            </a:r>
          </a:p>
          <a:p>
            <a:r>
              <a:t>          },</a:t>
            </a:r>
          </a:p>
          <a:p>
            <a:r>
              <a:t>          {</a:t>
            </a:r>
          </a:p>
          <a:p>
            <a:r>
              <a:t>            "구분명": "외부방문자 유입",</a:t>
            </a:r>
          </a:p>
          <a:p>
            <a:r>
              <a:t>            "그룹명": "비축제기간",</a:t>
            </a:r>
          </a:p>
          <a:p>
            <a:r>
              <a:t>            "지표값": "0.258",</a:t>
            </a:r>
          </a:p>
          <a:p>
            <a:r>
              <a:t>            "축제명": "안동탈춤축제",</a:t>
            </a:r>
          </a:p>
          <a:p>
            <a:r>
              <a:t>            "개최년도": "2025"</a:t>
            </a:r>
          </a:p>
          <a:p>
            <a:r>
              <a:t>          },</a:t>
            </a:r>
          </a:p>
          <a:p>
            <a:r>
              <a:t>          {</a:t>
            </a:r>
          </a:p>
          <a:p>
            <a:r>
              <a:t>            "구분명": "현지인방문자 유입",</a:t>
            </a:r>
          </a:p>
          <a:p>
            <a:r>
              <a:t>            "그룹명": "비축제기간",</a:t>
            </a:r>
          </a:p>
          <a:p>
            <a:r>
              <a:t>            "지표값": "0.618",</a:t>
            </a:r>
          </a:p>
          <a:p>
            <a:r>
              <a:t>            "축제명": "안동탈춤축제",</a:t>
            </a:r>
          </a:p>
          <a:p>
            <a:r>
              <a:t>            "개최년도": "2025"</a:t>
            </a:r>
          </a:p>
          <a:p>
            <a:r>
              <a:t>          },</a:t>
            </a:r>
          </a:p>
          <a:p>
            <a:r>
              <a:t>          {</a:t>
            </a:r>
          </a:p>
          <a:p>
            <a:r>
              <a:t>            "구분명": "내비게이션 검색량",</a:t>
            </a:r>
          </a:p>
          <a:p>
            <a:r>
              <a:t>            "그룹명": "비축제기간",</a:t>
            </a:r>
          </a:p>
          <a:p>
            <a:r>
              <a:t>            "지표값": "0.252",</a:t>
            </a:r>
          </a:p>
          <a:p>
            <a:r>
              <a:t>            "축제명": "안동탈춤축제",</a:t>
            </a:r>
          </a:p>
          <a:p>
            <a:r>
              <a:t>            "개최년도": "2025"</a:t>
            </a:r>
          </a:p>
          <a:p>
            <a:r>
              <a:t>          },</a:t>
            </a:r>
          </a:p>
          <a:p>
            <a:r>
              <a:t>          {</a:t>
            </a:r>
          </a:p>
          <a:p>
            <a:r>
              <a:t>            "구분명": "관광소비",</a:t>
            </a:r>
          </a:p>
          <a:p>
            <a:r>
              <a:t>            "그룹명": "비축제기간",</a:t>
            </a:r>
          </a:p>
          <a:p>
            <a:r>
              <a:t>            "지표값": "0.375",</a:t>
            </a:r>
          </a:p>
          <a:p>
            <a:r>
              <a:t>            "축제명": "안동탈춤축제",</a:t>
            </a:r>
          </a:p>
          <a:p>
            <a:r>
              <a:t>            "개최년도": "2025"</a:t>
            </a:r>
          </a:p>
          <a:p>
            <a:r>
              <a:t>          },</a:t>
            </a:r>
          </a:p>
          <a:p>
            <a:r>
              <a:t>          {</a:t>
            </a:r>
          </a:p>
          <a:p>
            <a:r>
              <a:t>            "구분명": "축제지 집중률",</a:t>
            </a:r>
          </a:p>
          <a:p>
            <a:r>
              <a:t>            "그룹명": "비축제기간",</a:t>
            </a:r>
          </a:p>
          <a:p>
            <a:r>
              <a:t>            "지표값": "0.65",</a:t>
            </a:r>
          </a:p>
          <a:p>
            <a:r>
              <a:t>            "축제명": "안동탈춤축제",</a:t>
            </a:r>
          </a:p>
          <a:p>
            <a:r>
              <a:t>            "개최년도": "2025"</a:t>
            </a:r>
          </a:p>
          <a:p>
            <a:r>
              <a:t>          }</a:t>
            </a:r>
          </a:p>
          <a:p>
            <a:r>
              <a:t>        ],</a:t>
            </a:r>
          </a:p>
          <a:p>
            <a:r>
              <a:t>        "indicator_rule": "원본 지표값만 보존. 산식·단위 미확인으로 성장률/원화/정원/참여율 변환 금지.",</a:t>
            </a:r>
          </a:p>
          <a:p>
            <a:r>
              <a:t>        "audience": [</a:t>
            </a:r>
          </a:p>
          <a:p>
            <a:r>
              <a:t>          {</a:t>
            </a:r>
          </a:p>
          <a:p>
            <a:r>
              <a:t>            "연령대": "70세 이상",</a:t>
            </a:r>
          </a:p>
          <a:p>
            <a:r>
              <a:t>            "축제명": "안동탈춤축제",</a:t>
            </a:r>
          </a:p>
          <a:p>
            <a:r>
              <a:t>            "남성비율": "4.4",</a:t>
            </a:r>
          </a:p>
          <a:p>
            <a:r>
              <a:t>            "여성비율": "5.0"</a:t>
            </a:r>
          </a:p>
          <a:p>
            <a:r>
              <a:t>          },</a:t>
            </a:r>
          </a:p>
          <a:p>
            <a:r>
              <a:t>          {</a:t>
            </a:r>
          </a:p>
          <a:p>
            <a:r>
              <a:t>            "연령대": "60~69세",</a:t>
            </a:r>
          </a:p>
          <a:p>
            <a:r>
              <a:t>            "축제명": "안동탈춤축제",</a:t>
            </a:r>
          </a:p>
          <a:p>
            <a:r>
              <a:t>            "남성비율": "8.0",</a:t>
            </a:r>
          </a:p>
          <a:p>
            <a:r>
              <a:t>            "여성비율": "8.5"</a:t>
            </a:r>
          </a:p>
          <a:p>
            <a:r>
              <a:t>          },</a:t>
            </a:r>
          </a:p>
          <a:p>
            <a:r>
              <a:t>          {</a:t>
            </a:r>
          </a:p>
          <a:p>
            <a:r>
              <a:t>            "연령대": "50~59세",</a:t>
            </a:r>
          </a:p>
          <a:p>
            <a:r>
              <a:t>            "축제명": "안동탈춤축제",</a:t>
            </a:r>
          </a:p>
          <a:p>
            <a:r>
              <a:t>            "남성비율": "9.2",</a:t>
            </a:r>
          </a:p>
          <a:p>
            <a:r>
              <a:t>            "여성비율": "10.9"</a:t>
            </a:r>
          </a:p>
          <a:p>
            <a:r>
              <a:t>          },</a:t>
            </a:r>
          </a:p>
          <a:p>
            <a:r>
              <a:t>          {</a:t>
            </a:r>
          </a:p>
          <a:p>
            <a:r>
              <a:t>            "연령대": "40~49세",</a:t>
            </a:r>
          </a:p>
          <a:p>
            <a:r>
              <a:t>            "축제명": "안동탈춤축제",</a:t>
            </a:r>
          </a:p>
          <a:p>
            <a:r>
              <a:t>            "남성비율": "7.5",</a:t>
            </a:r>
          </a:p>
          <a:p>
            <a:r>
              <a:t>            "여성비율": "7.9"</a:t>
            </a:r>
          </a:p>
          <a:p>
            <a:r>
              <a:t>          },</a:t>
            </a:r>
          </a:p>
          <a:p>
            <a:r>
              <a:t>          {</a:t>
            </a:r>
          </a:p>
          <a:p>
            <a:r>
              <a:t>            "연령대": "30~39세",</a:t>
            </a:r>
          </a:p>
          <a:p>
            <a:r>
              <a:t>            "축제명": "안동탈춤축제",</a:t>
            </a:r>
          </a:p>
          <a:p>
            <a:r>
              <a:t>            "남성비율": "7.9",</a:t>
            </a:r>
          </a:p>
          <a:p>
            <a:r>
              <a:t>            "여성비율": "7.2"</a:t>
            </a:r>
          </a:p>
          <a:p>
            <a:r>
              <a:t>          },</a:t>
            </a:r>
          </a:p>
          <a:p>
            <a:r>
              <a:t>          {</a:t>
            </a:r>
          </a:p>
          <a:p>
            <a:r>
              <a:t>            "연령대": "20~29세",</a:t>
            </a:r>
          </a:p>
          <a:p>
            <a:r>
              <a:t>            "축제명": "안동탈춤축제",</a:t>
            </a:r>
          </a:p>
          <a:p>
            <a:r>
              <a:t>            "남성비율": "7.1",</a:t>
            </a:r>
          </a:p>
          <a:p>
            <a:r>
              <a:t>            "여성비율": "8.2"</a:t>
            </a:r>
          </a:p>
          <a:p>
            <a:r>
              <a:t>          },</a:t>
            </a:r>
          </a:p>
          <a:p>
            <a:r>
              <a:t>          {</a:t>
            </a:r>
          </a:p>
          <a:p>
            <a:r>
              <a:t>            "연령대": "10~19세",</a:t>
            </a:r>
          </a:p>
          <a:p>
            <a:r>
              <a:t>            "축제명": "안동탈춤축제",</a:t>
            </a:r>
          </a:p>
          <a:p>
            <a:r>
              <a:t>            "남성비율": "3.2",</a:t>
            </a:r>
          </a:p>
          <a:p>
            <a:r>
              <a:t>            "여성비율": "3.9"</a:t>
            </a:r>
          </a:p>
          <a:p>
            <a:r>
              <a:t>          },</a:t>
            </a:r>
          </a:p>
          <a:p>
            <a:r>
              <a:t>          {</a:t>
            </a:r>
          </a:p>
          <a:p>
            <a:r>
              <a:t>            "연령대": "0~9세",</a:t>
            </a:r>
          </a:p>
          <a:p>
            <a:r>
              <a:t>            "축제명": "안동탈춤축제",</a:t>
            </a:r>
          </a:p>
          <a:p>
            <a:r>
              <a:t>            "남성비율": "0.5",</a:t>
            </a:r>
          </a:p>
          <a:p>
            <a:r>
              <a:t>            "여성비율": "0.7"</a:t>
            </a:r>
          </a:p>
          <a:p>
            <a:r>
              <a:t>          }</a:t>
            </a:r>
          </a:p>
          <a:p>
            <a:r>
              <a:t>        ],</a:t>
            </a:r>
          </a:p>
          <a:p>
            <a:r>
              <a:t>        "audience_period": "다운로드 CSV에 연도 열 없음; 최신 개최연도와 자동 결합하지 않음",</a:t>
            </a:r>
          </a:p>
          <a:p>
            <a:r>
              <a:t>        "destination_examples": [</a:t>
            </a:r>
          </a:p>
          <a:p>
            <a:r>
              <a:t>          {</a:t>
            </a:r>
          </a:p>
          <a:p>
            <a:r>
              <a:t>            "구분": "외지인",</a:t>
            </a:r>
          </a:p>
          <a:p>
            <a:r>
              <a:t>            "순위": "1",</a:t>
            </a:r>
          </a:p>
          <a:p>
            <a:r>
              <a:t>            "목적지명": "안동구시장",</a:t>
            </a:r>
          </a:p>
          <a:p>
            <a:r>
              <a:t>            "도로명주소": "경북 안동시 번영1길 47-0",</a:t>
            </a:r>
          </a:p>
          <a:p>
            <a:r>
              <a:t>            "카테고리": "시장"</a:t>
            </a:r>
          </a:p>
          <a:p>
            <a:r>
              <a:t>          },</a:t>
            </a:r>
          </a:p>
          <a:p>
            <a:r>
              <a:t>          {</a:t>
            </a:r>
          </a:p>
          <a:p>
            <a:r>
              <a:t>            "구분": "외지인",</a:t>
            </a:r>
          </a:p>
          <a:p>
            <a:r>
              <a:t>            "순위": "2",</a:t>
            </a:r>
          </a:p>
          <a:p>
            <a:r>
              <a:t>            "목적지명": "안동국제탈춤페스티벌",</a:t>
            </a:r>
          </a:p>
          <a:p>
            <a:r>
              <a:t>            "도로명주소": "경북 안동시 육사로 239-0",</a:t>
            </a:r>
          </a:p>
          <a:p>
            <a:r>
              <a:t>            "카테고리": "기타문화관광지"</a:t>
            </a:r>
          </a:p>
          <a:p>
            <a:r>
              <a:t>          },</a:t>
            </a:r>
          </a:p>
          <a:p>
            <a:r>
              <a:t>          {</a:t>
            </a:r>
          </a:p>
          <a:p>
            <a:r>
              <a:t>            "구분": "외지인",</a:t>
            </a:r>
          </a:p>
          <a:p>
            <a:r>
              <a:t>            "순위": "3",</a:t>
            </a:r>
          </a:p>
          <a:p>
            <a:r>
              <a:t>            "목적지명": "탈춤공원",</a:t>
            </a:r>
          </a:p>
          <a:p>
            <a:r>
              <a:t>            "도로명주소": "경북 안동시 육사로 239-0",</a:t>
            </a:r>
          </a:p>
          <a:p>
            <a:r>
              <a:t>            "카테고리": "도시공원"</a:t>
            </a:r>
          </a:p>
          <a:p>
            <a:r>
              <a:t>          }</a:t>
            </a:r>
          </a:p>
          <a:p>
            <a:r>
              <a:t>        ],</a:t>
            </a:r>
          </a:p>
          <a:p>
            <a:r>
              <a:t>        "destination_period": "다운로드 CSV에 연도 열 없음; 주변 검색 후보이며 제휴·실제 방문 증거 아님"</a:t>
            </a:r>
          </a:p>
          <a:p>
            <a:r>
              <a:t>      },</a:t>
            </a:r>
          </a:p>
          <a:p>
            <a:r>
              <a:t>      "retrieval_basis": {</a:t>
            </a:r>
          </a:p>
          <a:p>
            <a:r>
              <a:t>        "kind": "external_benchmark",</a:t>
            </a:r>
          </a:p>
          <a:p>
            <a:r>
              <a:t>        "score": 31,</a:t>
            </a:r>
          </a:p>
          <a:p>
            <a:r>
              <a:t>        "components": {</a:t>
            </a:r>
          </a:p>
          <a:p>
            <a:r>
              <a:t>          "방문 전망 조사: 외지인·일평균 동반 증가": 15,</a:t>
            </a:r>
          </a:p>
          <a:p>
            <a:r>
              <a:t>          "최근 개최연도": 6,</a:t>
            </a:r>
          </a:p>
          <a:p>
            <a:r>
              <a:t>          "방문 실적 비교 가능": 10</a:t>
            </a:r>
          </a:p>
          <a:p>
            <a:r>
              <a:t>        },</a:t>
            </a:r>
          </a:p>
          <a:p>
            <a:r>
              <a:t>        "theme": "공연·문화",</a:t>
            </a:r>
          </a:p>
          <a:p>
            <a:r>
              <a:t>        "priority_signal": "visit",</a:t>
            </a:r>
          </a:p>
          <a:p>
            <a:r>
              <a:t>        "rule": "함수 기반 조사 우선순위. 사업효과·인구/환경 유사도 점수가 아니며 소비·체류 개선은 조사 가설이다."</a:t>
            </a:r>
          </a:p>
          <a:p>
            <a:r>
              <a:t>      },</a:t>
            </a:r>
          </a:p>
          <a:p>
            <a:r>
              <a:t>      "source_files": [</a:t>
            </a:r>
          </a:p>
          <a:p>
            <a:r>
              <a:t>        {</a:t>
            </a:r>
          </a:p>
          <a:p>
            <a:r>
              <a:t>          "sha256": "28f418873eda5b37d320d3fef32c46bef172ca1cfea3861db2d5fc96a0b16f50",</a:t>
            </a:r>
          </a:p>
          <a:p>
            <a:r>
              <a:t>          "provider": "한국관광 데이터랩",</a:t>
            </a:r>
          </a:p>
          <a:p>
            <a:r>
              <a:t>          "file_name": "20260820175023_안동탈춤축제_연도별 방문자 추이.csv",</a:t>
            </a:r>
          </a:p>
          <a:p>
            <a:r>
              <a:t>          "source_id": "festival-file:28f418873eda5b37d320",</a:t>
            </a:r>
          </a:p>
          <a:p>
            <a:r>
              <a:t>          "source_url": "https://datalab.visitkorea.or.kr/",</a:t>
            </a:r>
          </a:p>
          <a:p>
            <a:r>
              <a:t>          "downloaded_at": "2026-08-20",</a:t>
            </a:r>
          </a:p>
          <a:p>
            <a:r>
              <a:t>          "relative_path": "data/source_snapshots/festivals_20260820/43. 안동탈춤축제_2023-2025/20260820175023_안동탈춤축제_연도별 방문자 추이.csv",</a:t>
            </a:r>
          </a:p>
          <a:p>
            <a:r>
              <a:t>          "provenance_status": "team_download_exact_query_url_unrecorded"</a:t>
            </a:r>
          </a:p>
          <a:p>
            <a:r>
              <a:t>        },</a:t>
            </a:r>
          </a:p>
          <a:p>
            <a:r>
              <a:t>        {</a:t>
            </a:r>
          </a:p>
          <a:p>
            <a:r>
              <a:t>          "sha256": "c0b34e003112bda1f5afa06dcb153cc870d61730036ef23f1b3e7aed39ca5458",</a:t>
            </a:r>
          </a:p>
          <a:p>
            <a:r>
              <a:t>          "provider": "한국관광 데이터랩",</a:t>
            </a:r>
          </a:p>
          <a:p>
            <a:r>
              <a:t>          "file_name": "20260820175023_안동탈춤축제_성_연령별 내국인 방문자.csv",</a:t>
            </a:r>
          </a:p>
          <a:p>
            <a:r>
              <a:t>          "source_id": "festival-file:c0b34e003112bda1f5af",</a:t>
            </a:r>
          </a:p>
          <a:p>
            <a:r>
              <a:t>          "source_url": "https://datalab.visitkorea.or.kr/",</a:t>
            </a:r>
          </a:p>
          <a:p>
            <a:r>
              <a:t>          "downloaded_at": "2026-08-20",</a:t>
            </a:r>
          </a:p>
          <a:p>
            <a:r>
              <a:t>          "relative_path": "data/source_snapshots/festivals_20260820/43. 안동탈춤축제_2023-2025/20260820175023_안동탈춤축제_성_연령별 내국인 방문자.csv",</a:t>
            </a:r>
          </a:p>
          <a:p>
            <a:r>
              <a:t>          "provenance_status": "team_download_exact_query_url_unrecorded"</a:t>
            </a:r>
          </a:p>
          <a:p>
            <a:r>
              <a:t>        },</a:t>
            </a:r>
          </a:p>
          <a:p>
            <a:r>
              <a:t>        {</a:t>
            </a:r>
          </a:p>
          <a:p>
            <a:r>
              <a:t>          "sha256": "40ddabd2e46fcb12bc9cc2361174e1a5ebe80f169611896b6d4b5e60d9fda352",</a:t>
            </a:r>
          </a:p>
          <a:p>
            <a:r>
              <a:t>          "provider": "한국관광 데이터랩",</a:t>
            </a:r>
          </a:p>
          <a:p>
            <a:r>
              <a:t>          "file_name": "20260820175023_안동탈춤축제_문화관광축제 주요 지표.csv",</a:t>
            </a:r>
          </a:p>
          <a:p>
            <a:r>
              <a:t>          "source_id": "festival-file:40ddabd2e46fcb12bc9c",</a:t>
            </a:r>
          </a:p>
          <a:p>
            <a:r>
              <a:t>          "source_url": "https://datalab.visitkorea.or.kr/",</a:t>
            </a:r>
          </a:p>
          <a:p>
            <a:r>
              <a:t>          "downloaded_at": "2026-08-20",</a:t>
            </a:r>
          </a:p>
          <a:p>
            <a:r>
              <a:t>          "relative_path": "data/source_snapshots/festivals_20260820/43. 안동탈춤축제_2023-2025/20260820175023_안동탈춤축제_문화관광축제 주요 지표.csv",</a:t>
            </a:r>
          </a:p>
          <a:p>
            <a:r>
              <a:t>          "provenance_status": "team_download_exact_query_url_unrecorded"</a:t>
            </a:r>
          </a:p>
          <a:p>
            <a:r>
              <a:t>        },</a:t>
            </a:r>
          </a:p>
          <a:p>
            <a:r>
              <a:t>        {</a:t>
            </a:r>
          </a:p>
          <a:p>
            <a:r>
              <a:t>          "sha256": "11de7e20288dde00f7f18e353a24b5a95c511a7dc354ec9cc2c7a3a2436712f6",</a:t>
            </a:r>
          </a:p>
          <a:p>
            <a:r>
              <a:t>          "provider": "한국관광 데이터랩",</a:t>
            </a:r>
          </a:p>
          <a:p>
            <a:r>
              <a:t>          "file_name": "20260820175023_안동탈춤축제_목적지 검색순위.csv",</a:t>
            </a:r>
          </a:p>
          <a:p>
            <a:r>
              <a:t>          "source_id": "festival-file:11de7e20288dde00f7f1",</a:t>
            </a:r>
          </a:p>
          <a:p>
            <a:r>
              <a:t>          "source_url": "https://datalab.visitkorea.or.kr/",</a:t>
            </a:r>
          </a:p>
          <a:p>
            <a:r>
              <a:t>          "downloaded_at": "2026-08-20",</a:t>
            </a:r>
          </a:p>
          <a:p>
            <a:r>
              <a:t>          "relative_path": "data/source_snapshots/festivals_20260820/43. 안동탈춤축제_2023-2025/20260820175023_안동탈춤축제_목적지 검색순위.csv",</a:t>
            </a:r>
          </a:p>
          <a:p>
            <a:r>
              <a:t>          "provenance_status": "team_download_exact_query_url_unrecorded"</a:t>
            </a:r>
          </a:p>
          <a:p>
            <a:r>
              <a:t>        }</a:t>
            </a:r>
          </a:p>
          <a:p>
            <a:r>
              <a:t>      ],</a:t>
            </a:r>
          </a:p>
          <a:p>
            <a:r>
              <a:t>      "dataset_hash": "ad20e3daf70fd44fd481d672398c07bb9c96fce77acb450784065a568735e2e2",</a:t>
            </a:r>
          </a:p>
          <a:p>
            <a:r>
              <a:t>      "measurement_period": "2024년과 2025년 각 축제 개최기간 비교",</a:t>
            </a:r>
          </a:p>
          <a:p>
            <a:r>
              <a:t>      "transfer_conditions": [</a:t>
            </a:r>
          </a:p>
          <a:p>
            <a:r>
              <a:t>        "서구에서는 10일 축제를 복제하기보다 3개월 중 주말 2~3회 등 준비 가능한 집중 회차로 축소할 수 있다.",</a:t>
            </a:r>
          </a:p>
          <a:p>
            <a:r>
              <a:t>        "기존 공공·민간 시설과 공연자원을 조합해 신규 시설비를 줄이되 장소·운영인력 확보 여부를 먼저 확인해야 한다.",</a:t>
            </a:r>
          </a:p>
          <a:p>
            <a:r>
              <a:t>        "사전예약 회차, 현장 체크인, 참여업소 결제를 연계해 축제 관측구역 방문자와 실제 사업 참여자를 구분해야 한다.",</a:t>
            </a:r>
          </a:p>
          <a:p>
            <a:r>
              <a:t>        "안동의 전통문화 정체성을 복제하지 말고 서구에서 실제 확보 가능한 문화·쇼핑·식음 콘텐츠로 주제를 다시 설계해야 한다."</a:t>
            </a:r>
          </a:p>
          <a:p>
            <a:r>
              <a:t>      ]</a:t>
            </a:r>
          </a:p>
          <a:p>
            <a:r>
              <a:t>    },</a:t>
            </a:r>
          </a:p>
          <a:p>
            <a:r>
              <a:t>    {</a:t>
            </a:r>
          </a:p>
          <a:p>
            <a:r>
              <a:t>      "source_id": "case:festival:01474ef75569b1",</a:t>
            </a:r>
          </a:p>
          <a:p>
            <a:r>
              <a:t>      "source_type": "benchmark_case",</a:t>
            </a:r>
          </a:p>
          <a:p>
            <a:r>
              <a:t>      "title": "한국관광 데이터랩 · 문경찻사발축제 방문자 추이",</a:t>
            </a:r>
          </a:p>
          <a:p>
            <a:r>
              <a:t>      "source_url": "https://datalab.visitkorea.or.kr/",</a:t>
            </a:r>
          </a:p>
          <a:p>
            <a:r>
              <a:t>      "published_or_updated_at": "2026-08-20",</a:t>
            </a:r>
          </a:p>
          <a:p>
            <a:r>
              <a:t>      "summary": "경상북도 문경시 · 문경찻사발축제 · 2024→2025년 전체 245,750→256,570명 (+4.40%). 개최 10→9일, 일평균 +16.00%, 외지인 +9.28%.",</a:t>
            </a:r>
          </a:p>
          <a:p>
            <a:r>
              <a:t>      "case_region": "경상북도 문경시",</a:t>
            </a:r>
          </a:p>
          <a:p>
            <a:r>
              <a:t>      "intervention": "문경찻사발축제",</a:t>
            </a:r>
          </a:p>
          <a:p>
            <a:r>
              <a:t>      "operating_model": "문경찻사발축제를 2025년 9일 개최한 문화관광축제 운영 사례. 세부 프로그램·예약·혜택은 이 CSV에 기록되어 있지 않으며 새로운 운영안은 제안으로 구분한다.",</a:t>
            </a:r>
          </a:p>
          <a:p>
            <a:r>
              <a:t>      "evidence_strength": "medium",</a:t>
            </a:r>
          </a:p>
          <a:p>
            <a:r>
              <a:t>      "quantitative_result_approved": true,</a:t>
            </a:r>
          </a:p>
          <a:p>
            <a:r>
              <a:t>      "document_type": "case_study",</a:t>
            </a:r>
          </a:p>
          <a:p>
            <a:r>
              <a:t>      "retrieval_method": "datalab_festival_table",</a:t>
            </a:r>
          </a:p>
          <a:p>
            <a:r>
              <a:t>      "retrieval_context": {</a:t>
            </a:r>
          </a:p>
          <a:p>
            <a:r>
              <a:t>        "scope": "cross_province",</a:t>
            </a:r>
          </a:p>
          <a:p>
            <a:r>
              <a:t>        "peer_region_code": null</a:t>
            </a:r>
          </a:p>
          <a:p>
            <a:r>
              <a:t>      },</a:t>
            </a:r>
          </a:p>
          <a:p>
            <a:r>
              <a:t>      "observed_result": "2024→2025년 전체 245,750→256,570명 (+4.40%). 개최 10→9일, 일평균 +16.00%, 외지인 +9.28%.",</a:t>
            </a:r>
          </a:p>
          <a:p>
            <a:r>
              <a:t>      "operating_statistics": [],</a:t>
            </a:r>
          </a:p>
          <a:p>
            <a:r>
              <a:t>      "evidence_kind": "festival_statistics",</a:t>
            </a:r>
          </a:p>
          <a:p>
            <a:r>
              <a:t>      "festival_statistics": {</a:t>
            </a:r>
          </a:p>
          <a:p>
            <a:r>
              <a:t>        "name": "문경찻사발축제",</a:t>
            </a:r>
          </a:p>
          <a:p>
            <a:r>
              <a:t>        "annual": [</a:t>
            </a:r>
          </a:p>
          <a:p>
            <a:r>
              <a:t>          {</a:t>
            </a:r>
          </a:p>
          <a:p>
            <a:r>
              <a:t>            "days": 9,</a:t>
            </a:r>
          </a:p>
          <a:p>
            <a:r>
              <a:t>            "year": 2023,</a:t>
            </a:r>
          </a:p>
          <a:p>
            <a:r>
              <a:t>            "daily": 23055.333333333332,</a:t>
            </a:r>
          </a:p>
          <a:p>
            <a:r>
              <a:t>            "local": 59726,</a:t>
            </a:r>
          </a:p>
          <a:p>
            <a:r>
              <a:t>            "total": 207498,</a:t>
            </a:r>
          </a:p>
          <a:p>
            <a:r>
              <a:t>            "foreign": 1241,</a:t>
            </a:r>
          </a:p>
          <a:p>
            <a:r>
              <a:t>            "outside": 146531,</a:t>
            </a:r>
          </a:p>
          <a:p>
            <a:r>
              <a:t>            "outside_daily": 16281.222222222224,</a:t>
            </a:r>
          </a:p>
          <a:p>
            <a:r>
              <a:t>            "outside_share_pct": 70.61803005330172</a:t>
            </a:r>
          </a:p>
          <a:p>
            <a:r>
              <a:t>          },</a:t>
            </a:r>
          </a:p>
          <a:p>
            <a:r>
              <a:t>          {</a:t>
            </a:r>
          </a:p>
          <a:p>
            <a:r>
              <a:t>            "days": 10,</a:t>
            </a:r>
          </a:p>
          <a:p>
            <a:r>
              <a:t>            "year": 2024,</a:t>
            </a:r>
          </a:p>
          <a:p>
            <a:r>
              <a:t>            "daily": 24575,</a:t>
            </a:r>
          </a:p>
          <a:p>
            <a:r>
              <a:t>            "local": 64582,</a:t>
            </a:r>
          </a:p>
          <a:p>
            <a:r>
              <a:t>            "total": 245750,</a:t>
            </a:r>
          </a:p>
          <a:p>
            <a:r>
              <a:t>            "foreign": 1170,</a:t>
            </a:r>
          </a:p>
          <a:p>
            <a:r>
              <a:t>            "outside": 179998,</a:t>
            </a:r>
          </a:p>
          <a:p>
            <a:r>
              <a:t>            "outside_daily": 17999.8,</a:t>
            </a:r>
          </a:p>
          <a:p>
            <a:r>
              <a:t>            "outside_share_pct": 73.2443540183113</a:t>
            </a:r>
          </a:p>
          <a:p>
            <a:r>
              <a:t>          },</a:t>
            </a:r>
          </a:p>
          <a:p>
            <a:r>
              <a:t>          {</a:t>
            </a:r>
          </a:p>
          <a:p>
            <a:r>
              <a:t>            "days": 9,</a:t>
            </a:r>
          </a:p>
          <a:p>
            <a:r>
              <a:t>            "year": 2025,</a:t>
            </a:r>
          </a:p>
          <a:p>
            <a:r>
              <a:t>            "daily": 28507.777777777777,</a:t>
            </a:r>
          </a:p>
          <a:p>
            <a:r>
              <a:t>            "local": 58704,</a:t>
            </a:r>
          </a:p>
          <a:p>
            <a:r>
              <a:t>            "total": 256570,</a:t>
            </a:r>
          </a:p>
          <a:p>
            <a:r>
              <a:t>            "foreign": 1166,</a:t>
            </a:r>
          </a:p>
          <a:p>
            <a:r>
              <a:t>            "outside": 196700,</a:t>
            </a:r>
          </a:p>
          <a:p>
            <a:r>
              <a:t>            "outside_daily": 21855.555555555555,</a:t>
            </a:r>
          </a:p>
          <a:p>
            <a:r>
              <a:t>            "outside_share_pct": 76.66523755700199</a:t>
            </a:r>
          </a:p>
          <a:p>
            <a:r>
              <a:t>          }</a:t>
            </a:r>
          </a:p>
          <a:p>
            <a:r>
              <a:t>        ],</a:t>
            </a:r>
          </a:p>
          <a:p>
            <a:r>
              <a:t>        "comparison": {</a:t>
            </a:r>
          </a:p>
          <a:p>
            <a:r>
              <a:t>          "daily": {</a:t>
            </a:r>
          </a:p>
          <a:p>
            <a:r>
              <a:t>            "after": 28507.777777777777,</a:t>
            </a:r>
          </a:p>
          <a:p>
            <a:r>
              <a:t>            "before": 24575,</a:t>
            </a:r>
          </a:p>
          <a:p>
            <a:r>
              <a:t>            "change_pct": 16.00316491466034,</a:t>
            </a:r>
          </a:p>
          <a:p>
            <a:r>
              <a:t>            "difference": 3932.7777777777774</a:t>
            </a:r>
          </a:p>
          <a:p>
            <a:r>
              <a:t>          },</a:t>
            </a:r>
          </a:p>
          <a:p>
            <a:r>
              <a:t>          "total": {</a:t>
            </a:r>
          </a:p>
          <a:p>
            <a:r>
              <a:t>            "after": 256570,</a:t>
            </a:r>
          </a:p>
          <a:p>
            <a:r>
              <a:t>            "before": 245750,</a:t>
            </a:r>
          </a:p>
          <a:p>
            <a:r>
              <a:t>            "change_pct": 4.402848423194294,</a:t>
            </a:r>
          </a:p>
          <a:p>
            <a:r>
              <a:t>            "difference": 10820</a:t>
            </a:r>
          </a:p>
          <a:p>
            <a:r>
              <a:t>          },</a:t>
            </a:r>
          </a:p>
          <a:p>
            <a:r>
              <a:t>          "outside": {</a:t>
            </a:r>
          </a:p>
          <a:p>
            <a:r>
              <a:t>            "after": 196700,</a:t>
            </a:r>
          </a:p>
          <a:p>
            <a:r>
              <a:t>            "before": 179998,</a:t>
            </a:r>
          </a:p>
          <a:p>
            <a:r>
              <a:t>            "change_pct": 9.278991988799866,</a:t>
            </a:r>
          </a:p>
          <a:p>
            <a:r>
              <a:t>            "difference": 16702</a:t>
            </a:r>
          </a:p>
          <a:p>
            <a:r>
              <a:t>          },</a:t>
            </a:r>
          </a:p>
          <a:p>
            <a:r>
              <a:t>          "after_days": 9,</a:t>
            </a:r>
          </a:p>
          <a:p>
            <a:r>
              <a:t>          "after_year": 2025,</a:t>
            </a:r>
          </a:p>
          <a:p>
            <a:r>
              <a:t>          "before_days": 10,</a:t>
            </a:r>
          </a:p>
          <a:p>
            <a:r>
              <a:t>          "before_year": 2024,</a:t>
            </a:r>
          </a:p>
          <a:p>
            <a:r>
              <a:t>          "outside_daily": {</a:t>
            </a:r>
          </a:p>
          <a:p>
            <a:r>
              <a:t>            "after": 21855.555555555555,</a:t>
            </a:r>
          </a:p>
          <a:p>
            <a:r>
              <a:t>            "before": 17999.8,</a:t>
            </a:r>
          </a:p>
          <a:p>
            <a:r>
              <a:t>            "change_pct": 21.421102209777644,</a:t>
            </a:r>
          </a:p>
          <a:p>
            <a:r>
              <a:t>            "difference": 3855.755555555555</a:t>
            </a:r>
          </a:p>
          <a:p>
            <a:r>
              <a:t>          }</a:t>
            </a:r>
          </a:p>
          <a:p>
            <a:r>
              <a:t>        },</a:t>
            </a:r>
          </a:p>
          <a:p>
            <a:r>
              <a:t>        "scope": "축제 관측구역 방문 지표. 도시 전체·순증 관광객·입장권 실구매자 수가 아님.",</a:t>
            </a:r>
          </a:p>
          <a:p>
            <a:r>
              <a:t>        "region_basis": "목적지 검색 CSV의 시도+시군구 최빈 주소; 행사장 행정경계 확정은 아님",</a:t>
            </a:r>
          </a:p>
          <a:p>
            <a:r>
              <a:t>        "source_file": {</a:t>
            </a:r>
          </a:p>
          <a:p>
            <a:r>
              <a:t>          "sha256": "dfcb5b619f820d7ce4451f5e89294681bc37f49f8200ba859754d423602e51a1",</a:t>
            </a:r>
          </a:p>
          <a:p>
            <a:r>
              <a:t>          "provider": "한국관광 데이터랩",</a:t>
            </a:r>
          </a:p>
          <a:p>
            <a:r>
              <a:t>          "file_name": "20260820160334_문경찻사발축제_연도별 방문자 추이.csv",</a:t>
            </a:r>
          </a:p>
          <a:p>
            <a:r>
              <a:t>          "source_id": "festival-file:dfcb5b619f820d7ce445",</a:t>
            </a:r>
          </a:p>
          <a:p>
            <a:r>
              <a:t>          "source_url": "https://datalab.visitkorea.or.kr/",</a:t>
            </a:r>
          </a:p>
          <a:p>
            <a:r>
              <a:t>          "downloaded_at": "2026-08-20",</a:t>
            </a:r>
          </a:p>
          <a:p>
            <a:r>
              <a:t>          "relative_path": "data/source_snapshots/festivals_20260820/25. 문경찻사발축제_2023-2025/20260820160334_문경찻사발축제_연도별 방문자 추이.csv",</a:t>
            </a:r>
          </a:p>
          <a:p>
            <a:r>
              <a:t>          "provenance_status": "team_download_exact_query_url_unrecorded"</a:t>
            </a:r>
          </a:p>
          <a:p>
            <a:r>
              <a:t>        },</a:t>
            </a:r>
          </a:p>
          <a:p>
            <a:r>
              <a:t>        "indicator_values": [</a:t>
            </a:r>
          </a:p>
          <a:p>
            <a:r>
              <a:t>          {</a:t>
            </a:r>
          </a:p>
          <a:p>
            <a:r>
              <a:t>            "구분명": "외부방문자 유입",</a:t>
            </a:r>
          </a:p>
          <a:p>
            <a:r>
              <a:t>            "그룹명": "축제기간",</a:t>
            </a:r>
          </a:p>
          <a:p>
            <a:r>
              <a:t>            "지표값": "0.414",</a:t>
            </a:r>
          </a:p>
          <a:p>
            <a:r>
              <a:t>            "축제명": "문경찻사발축제",</a:t>
            </a:r>
          </a:p>
          <a:p>
            <a:r>
              <a:t>            "개최년도": "2025"</a:t>
            </a:r>
          </a:p>
          <a:p>
            <a:r>
              <a:t>          },</a:t>
            </a:r>
          </a:p>
          <a:p>
            <a:r>
              <a:t>          {</a:t>
            </a:r>
          </a:p>
          <a:p>
            <a:r>
              <a:t>            "구분명": "현지인방문자 유입",</a:t>
            </a:r>
          </a:p>
          <a:p>
            <a:r>
              <a:t>            "그룹명": "축제기간",</a:t>
            </a:r>
          </a:p>
          <a:p>
            <a:r>
              <a:t>            "지표값": "0.86",</a:t>
            </a:r>
          </a:p>
          <a:p>
            <a:r>
              <a:t>            "축제명": "문경찻사발축제",</a:t>
            </a:r>
          </a:p>
          <a:p>
            <a:r>
              <a:t>            "개최년도": "2025"</a:t>
            </a:r>
          </a:p>
          <a:p>
            <a:r>
              <a:t>          },</a:t>
            </a:r>
          </a:p>
          <a:p>
            <a:r>
              <a:t>          {</a:t>
            </a:r>
          </a:p>
          <a:p>
            <a:r>
              <a:t>            "구분명": "내비게이션 검색량",</a:t>
            </a:r>
          </a:p>
          <a:p>
            <a:r>
              <a:t>            "그룹명": "축제기간",</a:t>
            </a:r>
          </a:p>
          <a:p>
            <a:r>
              <a:t>            "지표값": "0.273",</a:t>
            </a:r>
          </a:p>
          <a:p>
            <a:r>
              <a:t>            "축제명": "문경찻사발축제",</a:t>
            </a:r>
          </a:p>
          <a:p>
            <a:r>
              <a:t>            "개최년도": "2025"</a:t>
            </a:r>
          </a:p>
          <a:p>
            <a:r>
              <a:t>          },</a:t>
            </a:r>
          </a:p>
          <a:p>
            <a:r>
              <a:t>          {</a:t>
            </a:r>
          </a:p>
          <a:p>
            <a:r>
              <a:t>            "구분명": "관광소비",</a:t>
            </a:r>
          </a:p>
          <a:p>
            <a:r>
              <a:t>            "그룹명": "축제기간",</a:t>
            </a:r>
          </a:p>
          <a:p>
            <a:r>
              <a:t>            "지표값": "0.536",</a:t>
            </a:r>
          </a:p>
          <a:p>
            <a:r>
              <a:t>            "축제명": "문경찻사발축제",</a:t>
            </a:r>
          </a:p>
          <a:p>
            <a:r>
              <a:t>            "개최년도": "2025"</a:t>
            </a:r>
          </a:p>
          <a:p>
            <a:r>
              <a:t>          },</a:t>
            </a:r>
          </a:p>
          <a:p>
            <a:r>
              <a:t>          {</a:t>
            </a:r>
          </a:p>
          <a:p>
            <a:r>
              <a:t>            "구분명": "축제지 집중률",</a:t>
            </a:r>
          </a:p>
          <a:p>
            <a:r>
              <a:t>            "그룹명": "축제기간",</a:t>
            </a:r>
          </a:p>
          <a:p>
            <a:r>
              <a:t>            "지표값": "0.716",</a:t>
            </a:r>
          </a:p>
          <a:p>
            <a:r>
              <a:t>            "축제명": "문경찻사발축제",</a:t>
            </a:r>
          </a:p>
          <a:p>
            <a:r>
              <a:t>            "개최년도": "2025"</a:t>
            </a:r>
          </a:p>
          <a:p>
            <a:r>
              <a:t>          },</a:t>
            </a:r>
          </a:p>
          <a:p>
            <a:r>
              <a:t>          {</a:t>
            </a:r>
          </a:p>
          <a:p>
            <a:r>
              <a:t>            "구분명": "외부방문자 유입",</a:t>
            </a:r>
          </a:p>
          <a:p>
            <a:r>
              <a:t>            "그룹명": "비축제기간",</a:t>
            </a:r>
          </a:p>
          <a:p>
            <a:r>
              <a:t>            "지표값": "0.217",</a:t>
            </a:r>
          </a:p>
          <a:p>
            <a:r>
              <a:t>            "축제명": "문경찻사발축제",</a:t>
            </a:r>
          </a:p>
          <a:p>
            <a:r>
              <a:t>            "개최년도": "2025"</a:t>
            </a:r>
          </a:p>
          <a:p>
            <a:r>
              <a:t>          },</a:t>
            </a:r>
          </a:p>
          <a:p>
            <a:r>
              <a:t>          {</a:t>
            </a:r>
          </a:p>
          <a:p>
            <a:r>
              <a:t>            "구분명": "현지인방문자 유입",</a:t>
            </a:r>
          </a:p>
          <a:p>
            <a:r>
              <a:t>            "그룹명": "비축제기간",</a:t>
            </a:r>
          </a:p>
          <a:p>
            <a:r>
              <a:t>            "지표값": "0.725",</a:t>
            </a:r>
          </a:p>
          <a:p>
            <a:r>
              <a:t>            "축제명": "문경찻사발축제",</a:t>
            </a:r>
          </a:p>
          <a:p>
            <a:r>
              <a:t>            "개최년도": "2025"</a:t>
            </a:r>
          </a:p>
          <a:p>
            <a:r>
              <a:t>          },</a:t>
            </a:r>
          </a:p>
          <a:p>
            <a:r>
              <a:t>          {</a:t>
            </a:r>
          </a:p>
          <a:p>
            <a:r>
              <a:t>            "구분명": "내비게이션 검색량",</a:t>
            </a:r>
          </a:p>
          <a:p>
            <a:r>
              <a:t>            "그룹명": "비축제기간",</a:t>
            </a:r>
          </a:p>
          <a:p>
            <a:r>
              <a:t>            "지표값": "0.148",</a:t>
            </a:r>
          </a:p>
          <a:p>
            <a:r>
              <a:t>            "축제명": "문경찻사발축제",</a:t>
            </a:r>
          </a:p>
          <a:p>
            <a:r>
              <a:t>            "개최년도": "2025"</a:t>
            </a:r>
          </a:p>
          <a:p>
            <a:r>
              <a:t>          },</a:t>
            </a:r>
          </a:p>
          <a:p>
            <a:r>
              <a:t>          {</a:t>
            </a:r>
          </a:p>
          <a:p>
            <a:r>
              <a:t>            "구분명": "관광소비",</a:t>
            </a:r>
          </a:p>
          <a:p>
            <a:r>
              <a:t>            "그룹명": "비축제기간",</a:t>
            </a:r>
          </a:p>
          <a:p>
            <a:r>
              <a:t>            "지표값": "0.381",</a:t>
            </a:r>
          </a:p>
          <a:p>
            <a:r>
              <a:t>            "축제명": "문경찻사발축제",</a:t>
            </a:r>
          </a:p>
          <a:p>
            <a:r>
              <a:t>            "개최년도": "2025"</a:t>
            </a:r>
          </a:p>
          <a:p>
            <a:r>
              <a:t>          },</a:t>
            </a:r>
          </a:p>
          <a:p>
            <a:r>
              <a:t>          {</a:t>
            </a:r>
          </a:p>
          <a:p>
            <a:r>
              <a:t>            "구분명": "축제지 집중률",</a:t>
            </a:r>
          </a:p>
          <a:p>
            <a:r>
              <a:t>            "그룹명": "비축제기간",</a:t>
            </a:r>
          </a:p>
          <a:p>
            <a:r>
              <a:t>            "지표값": "0.607",</a:t>
            </a:r>
          </a:p>
          <a:p>
            <a:r>
              <a:t>            "축제명": "문경찻사발축제",</a:t>
            </a:r>
          </a:p>
          <a:p>
            <a:r>
              <a:t>            "개최년도": "2025"</a:t>
            </a:r>
          </a:p>
          <a:p>
            <a:r>
              <a:t>          }</a:t>
            </a:r>
          </a:p>
          <a:p>
            <a:r>
              <a:t>        ],</a:t>
            </a:r>
          </a:p>
          <a:p>
            <a:r>
              <a:t>        "indicator_rule": "원본 지표값만 보존. 산식·단위 미확인으로 성장률/원화/정원/참여율 변환 금지.",</a:t>
            </a:r>
          </a:p>
          <a:p>
            <a:r>
              <a:t>        "audience": [</a:t>
            </a:r>
          </a:p>
          <a:p>
            <a:r>
              <a:t>          {</a:t>
            </a:r>
          </a:p>
          <a:p>
            <a:r>
              <a:t>            "연령대": "70세 이상",</a:t>
            </a:r>
          </a:p>
          <a:p>
            <a:r>
              <a:t>            "축제명": "문경찻사발축제",</a:t>
            </a:r>
          </a:p>
          <a:p>
            <a:r>
              <a:t>            "남성비율": "4.0",</a:t>
            </a:r>
          </a:p>
          <a:p>
            <a:r>
              <a:t>            "여성비율": "3.8"</a:t>
            </a:r>
          </a:p>
          <a:p>
            <a:r>
              <a:t>          },</a:t>
            </a:r>
          </a:p>
          <a:p>
            <a:r>
              <a:t>          {</a:t>
            </a:r>
          </a:p>
          <a:p>
            <a:r>
              <a:t>            "연령대": "60~69세",</a:t>
            </a:r>
          </a:p>
          <a:p>
            <a:r>
              <a:t>            "축제명": "문경찻사발축제",</a:t>
            </a:r>
          </a:p>
          <a:p>
            <a:r>
              <a:t>            "남성비율": "12.3",</a:t>
            </a:r>
          </a:p>
          <a:p>
            <a:r>
              <a:t>            "여성비율": "10.0"</a:t>
            </a:r>
          </a:p>
          <a:p>
            <a:r>
              <a:t>          },</a:t>
            </a:r>
          </a:p>
          <a:p>
            <a:r>
              <a:t>          {</a:t>
            </a:r>
          </a:p>
          <a:p>
            <a:r>
              <a:t>            "연령대": "50~59세",</a:t>
            </a:r>
          </a:p>
          <a:p>
            <a:r>
              <a:t>            "축제명": "문경찻사발축제",</a:t>
            </a:r>
          </a:p>
          <a:p>
            <a:r>
              <a:t>            "남성비율": "13.0",</a:t>
            </a:r>
          </a:p>
          <a:p>
            <a:r>
              <a:t>            "여성비율": "11.7"</a:t>
            </a:r>
          </a:p>
          <a:p>
            <a:r>
              <a:t>          },</a:t>
            </a:r>
          </a:p>
          <a:p>
            <a:r>
              <a:t>          {</a:t>
            </a:r>
          </a:p>
          <a:p>
            <a:r>
              <a:t>            "연령대": "40~49세",</a:t>
            </a:r>
          </a:p>
          <a:p>
            <a:r>
              <a:t>            "축제명": "문경찻사발축제",</a:t>
            </a:r>
          </a:p>
          <a:p>
            <a:r>
              <a:t>            "남성비율": "9.3",</a:t>
            </a:r>
          </a:p>
          <a:p>
            <a:r>
              <a:t>            "여성비율": "7.6"</a:t>
            </a:r>
          </a:p>
          <a:p>
            <a:r>
              <a:t>          },</a:t>
            </a:r>
          </a:p>
          <a:p>
            <a:r>
              <a:t>          {</a:t>
            </a:r>
          </a:p>
          <a:p>
            <a:r>
              <a:t>            "연령대": "30~39세",</a:t>
            </a:r>
          </a:p>
          <a:p>
            <a:r>
              <a:t>            "축제명": "문경찻사발축제",</a:t>
            </a:r>
          </a:p>
          <a:p>
            <a:r>
              <a:t>            "남성비율": "7.2",</a:t>
            </a:r>
          </a:p>
          <a:p>
            <a:r>
              <a:t>            "여성비율": "6.1"</a:t>
            </a:r>
          </a:p>
          <a:p>
            <a:r>
              <a:t>          },</a:t>
            </a:r>
          </a:p>
          <a:p>
            <a:r>
              <a:t>          {</a:t>
            </a:r>
          </a:p>
          <a:p>
            <a:r>
              <a:t>            "연령대": "20~29세",</a:t>
            </a:r>
          </a:p>
          <a:p>
            <a:r>
              <a:t>            "축제명": "문경찻사발축제",</a:t>
            </a:r>
          </a:p>
          <a:p>
            <a:r>
              <a:t>            "남성비율": "4.6",</a:t>
            </a:r>
          </a:p>
          <a:p>
            <a:r>
              <a:t>            "여성비율": "4.1"</a:t>
            </a:r>
          </a:p>
          <a:p>
            <a:r>
              <a:t>          },</a:t>
            </a:r>
          </a:p>
          <a:p>
            <a:r>
              <a:t>          {</a:t>
            </a:r>
          </a:p>
          <a:p>
            <a:r>
              <a:t>            "연령대": "10~19세",</a:t>
            </a:r>
          </a:p>
          <a:p>
            <a:r>
              <a:t>            "축제명": "문경찻사발축제",</a:t>
            </a:r>
          </a:p>
          <a:p>
            <a:r>
              <a:t>            "남성비율": "2.5",</a:t>
            </a:r>
          </a:p>
          <a:p>
            <a:r>
              <a:t>            "여성비율": "2.5"</a:t>
            </a:r>
          </a:p>
          <a:p>
            <a:r>
              <a:t>          },</a:t>
            </a:r>
          </a:p>
          <a:p>
            <a:r>
              <a:t>          {</a:t>
            </a:r>
          </a:p>
          <a:p>
            <a:r>
              <a:t>            "연령대": "0~9세",</a:t>
            </a:r>
          </a:p>
          <a:p>
            <a:r>
              <a:t>            "축제명": "문경찻사발축제",</a:t>
            </a:r>
          </a:p>
          <a:p>
            <a:r>
              <a:t>            "남성비율": "0.6",</a:t>
            </a:r>
          </a:p>
          <a:p>
            <a:r>
              <a:t>            "여성비율": "0.6"</a:t>
            </a:r>
          </a:p>
          <a:p>
            <a:r>
              <a:t>          }</a:t>
            </a:r>
          </a:p>
          <a:p>
            <a:r>
              <a:t>        ],</a:t>
            </a:r>
          </a:p>
          <a:p>
            <a:r>
              <a:t>        "audience_period": "다운로드 CSV에 연도 열 없음; 최신 개최연도와 자동 결합하지 않음",</a:t>
            </a:r>
          </a:p>
          <a:p>
            <a:r>
              <a:t>        "destination_examples": [</a:t>
            </a:r>
          </a:p>
          <a:p>
            <a:r>
              <a:t>          {</a:t>
            </a:r>
          </a:p>
          <a:p>
            <a:r>
              <a:t>            "구분": "외지인",</a:t>
            </a:r>
          </a:p>
          <a:p>
            <a:r>
              <a:t>            "순위": "1",</a:t>
            </a:r>
          </a:p>
          <a:p>
            <a:r>
              <a:t>            "목적지명": "문경새재",</a:t>
            </a:r>
          </a:p>
          <a:p>
            <a:r>
              <a:t>            "도로명주소": "경북 문경시 새재로 932-0",</a:t>
            </a:r>
          </a:p>
          <a:p>
            <a:r>
              <a:t>            "카테고리": "역사유적지"</a:t>
            </a:r>
          </a:p>
          <a:p>
            <a:r>
              <a:t>          },</a:t>
            </a:r>
          </a:p>
          <a:p>
            <a:r>
              <a:t>          {</a:t>
            </a:r>
          </a:p>
          <a:p>
            <a:r>
              <a:t>            "구분": "외지인",</a:t>
            </a:r>
          </a:p>
          <a:p>
            <a:r>
              <a:t>            "순위": "2",</a:t>
            </a:r>
          </a:p>
          <a:p>
            <a:r>
              <a:t>            "목적지명": "문경종합온천",</a:t>
            </a:r>
          </a:p>
          <a:p>
            <a:r>
              <a:t>            "도로명주소": "경북 문경시 온천2길 24-0",</a:t>
            </a:r>
          </a:p>
          <a:p>
            <a:r>
              <a:t>            "카테고리": "웰니스관광"</a:t>
            </a:r>
          </a:p>
          <a:p>
            <a:r>
              <a:t>          },</a:t>
            </a:r>
          </a:p>
          <a:p>
            <a:r>
              <a:t>          {</a:t>
            </a:r>
          </a:p>
          <a:p>
            <a:r>
              <a:t>            "구분": "외지인",</a:t>
            </a:r>
          </a:p>
          <a:p>
            <a:r>
              <a:t>            "순위": "3",</a:t>
            </a:r>
          </a:p>
          <a:p>
            <a:r>
              <a:t>            "목적지명": "문경찻사발축제",</a:t>
            </a:r>
          </a:p>
          <a:p>
            <a:r>
              <a:t>            "도로명주소": "경북 문경시 새재로 933-0",</a:t>
            </a:r>
          </a:p>
          <a:p>
            <a:r>
              <a:t>            "카테고리": "기타문화관광지"</a:t>
            </a:r>
          </a:p>
          <a:p>
            <a:r>
              <a:t>          }</a:t>
            </a:r>
          </a:p>
          <a:p>
            <a:r>
              <a:t>        ],</a:t>
            </a:r>
          </a:p>
          <a:p>
            <a:r>
              <a:t>        "destination_period": "다운로드 CSV에 연도 열 없음; 주변 검색 후보이며 제휴·실제 방문 증거 아님"</a:t>
            </a:r>
          </a:p>
          <a:p>
            <a:r>
              <a:t>      },</a:t>
            </a:r>
          </a:p>
          <a:p>
            <a:r>
              <a:t>      "retrieval_basis": {</a:t>
            </a:r>
          </a:p>
          <a:p>
            <a:r>
              <a:t>        "kind": "external_benchmark",</a:t>
            </a:r>
          </a:p>
          <a:p>
            <a:r>
              <a:t>        "score": 31,</a:t>
            </a:r>
          </a:p>
          <a:p>
            <a:r>
              <a:t>        "components": {</a:t>
            </a:r>
          </a:p>
          <a:p>
            <a:r>
              <a:t>          "방문 전망 조사: 외지인·일평균 동반 증가": 15,</a:t>
            </a:r>
          </a:p>
          <a:p>
            <a:r>
              <a:t>          "최근 개최연도": 6,</a:t>
            </a:r>
          </a:p>
          <a:p>
            <a:r>
              <a:t>          "방문 실적 비교 가능": 10</a:t>
            </a:r>
          </a:p>
          <a:p>
            <a:r>
              <a:t>        },</a:t>
            </a:r>
          </a:p>
          <a:p>
            <a:r>
              <a:t>        "theme": "역사·공예",</a:t>
            </a:r>
          </a:p>
          <a:p>
            <a:r>
              <a:t>        "priority_signal": "visit",</a:t>
            </a:r>
          </a:p>
          <a:p>
            <a:r>
              <a:t>        "rule": "함수 기반 조사 우선순위. 사업효과·인구/환경 유사도 점수가 아니며 소비·체류 개선은 조사 가설이다."</a:t>
            </a:r>
          </a:p>
          <a:p>
            <a:r>
              <a:t>      },</a:t>
            </a:r>
          </a:p>
          <a:p>
            <a:r>
              <a:t>      "source_files": [</a:t>
            </a:r>
          </a:p>
          <a:p>
            <a:r>
              <a:t>        {</a:t>
            </a:r>
          </a:p>
          <a:p>
            <a:r>
              <a:t>          "sha256": "dfcb5b619f820d7ce4451f5e89294681bc37f49f8200ba859754d423602e51a1",</a:t>
            </a:r>
          </a:p>
          <a:p>
            <a:r>
              <a:t>          "provider": "한국관광 데이터랩",</a:t>
            </a:r>
          </a:p>
          <a:p>
            <a:r>
              <a:t>          "file_name": "20260820160334_문경찻사발축제_연도별 방문자 추이.csv",</a:t>
            </a:r>
          </a:p>
          <a:p>
            <a:r>
              <a:t>          "source_id": "festival-file:dfcb5b619f820d7ce445",</a:t>
            </a:r>
          </a:p>
          <a:p>
            <a:r>
              <a:t>          "source_url": "https://datalab.visitkorea.or.kr/",</a:t>
            </a:r>
          </a:p>
          <a:p>
            <a:r>
              <a:t>          "downloaded_at": "2026-08-20",</a:t>
            </a:r>
          </a:p>
          <a:p>
            <a:r>
              <a:t>          "relative_path": "data/source_snapshots/festivals_20260820/25. 문경찻사발축제_2023-2025/20260820160334_문경찻사발축제_연도별 방문자 추이.csv",</a:t>
            </a:r>
          </a:p>
          <a:p>
            <a:r>
              <a:t>          "provenance_status": "team_download_exact_query_url_unrecorded"</a:t>
            </a:r>
          </a:p>
          <a:p>
            <a:r>
              <a:t>        },</a:t>
            </a:r>
          </a:p>
          <a:p>
            <a:r>
              <a:t>        {</a:t>
            </a:r>
          </a:p>
          <a:p>
            <a:r>
              <a:t>          "sha256": "44238aecdfa68974febce93cd262e119492da76910929b96da438d8b6ee7a9b3",</a:t>
            </a:r>
          </a:p>
          <a:p>
            <a:r>
              <a:t>          "provider": "한국관광 데이터랩",</a:t>
            </a:r>
          </a:p>
          <a:p>
            <a:r>
              <a:t>          "file_name": "20260820160334_문경찻사발축제_성_연령별 내국인 방문자.csv",</a:t>
            </a:r>
          </a:p>
          <a:p>
            <a:r>
              <a:t>          "source_id": "festival-file:44238aecdfa68974febc",</a:t>
            </a:r>
          </a:p>
          <a:p>
            <a:r>
              <a:t>          "source_url": "https://datalab.visitkorea.or.kr/",</a:t>
            </a:r>
          </a:p>
          <a:p>
            <a:r>
              <a:t>          "downloaded_at": "2026-08-20",</a:t>
            </a:r>
          </a:p>
          <a:p>
            <a:r>
              <a:t>          "relative_path": "data/source_snapshots/festivals_20260820/25. 문경찻사발축제_2023-2025/20260820160334_문경찻사발축제_성_연령별 내국인 방문자.csv",</a:t>
            </a:r>
          </a:p>
          <a:p>
            <a:r>
              <a:t>          "provenance_status": "team_download_exact_query_url_unrecorded"</a:t>
            </a:r>
          </a:p>
          <a:p>
            <a:r>
              <a:t>        },</a:t>
            </a:r>
          </a:p>
          <a:p>
            <a:r>
              <a:t>        {</a:t>
            </a:r>
          </a:p>
          <a:p>
            <a:r>
              <a:t>          "sha256": "eadf4622620ddb1575df5f358ec588aeed8718c09e0998a19494cf0f3cfe0f16",</a:t>
            </a:r>
          </a:p>
          <a:p>
            <a:r>
              <a:t>          "provider": "한국관광 데이터랩",</a:t>
            </a:r>
          </a:p>
          <a:p>
            <a:r>
              <a:t>          "file_name": "20260820160334_문경찻사발축제_문화관광축제 주요 지표.csv",</a:t>
            </a:r>
          </a:p>
          <a:p>
            <a:r>
              <a:t>          "source_id": "festival-file:eadf4622620ddb1575df",</a:t>
            </a:r>
          </a:p>
          <a:p>
            <a:r>
              <a:t>          "source_url": "https://datalab.visitkorea.or.kr/",</a:t>
            </a:r>
          </a:p>
          <a:p>
            <a:r>
              <a:t>          "downloaded_at": "2026-08-20",</a:t>
            </a:r>
          </a:p>
          <a:p>
            <a:r>
              <a:t>          "relative_path": "data/source_snapshots/festivals_20260820/25. 문경찻사발축제_2023-2025/20260820160334_문경찻사발축제_문화관광축제 주요 지표.csv",</a:t>
            </a:r>
          </a:p>
          <a:p>
            <a:r>
              <a:t>          "provenance_status": "team_download_exact_query_url_unrecorded"</a:t>
            </a:r>
          </a:p>
          <a:p>
            <a:r>
              <a:t>        },</a:t>
            </a:r>
          </a:p>
          <a:p>
            <a:r>
              <a:t>        {</a:t>
            </a:r>
          </a:p>
          <a:p>
            <a:r>
              <a:t>          "sha256": "343671c431cfa7e76ba333ca2ea221803e111e0db5e9a51c6d387b0ba5d7eeaf",</a:t>
            </a:r>
          </a:p>
          <a:p>
            <a:r>
              <a:t>          "provider": "한국관광 데이터랩",</a:t>
            </a:r>
          </a:p>
          <a:p>
            <a:r>
              <a:t>          "file_name": "20260820160334_문경찻사발축제_목적지 검색순위.csv",</a:t>
            </a:r>
          </a:p>
          <a:p>
            <a:r>
              <a:t>          "source_id": "festival-file:343671c431cfa7e76ba3",</a:t>
            </a:r>
          </a:p>
          <a:p>
            <a:r>
              <a:t>          "source_url": "https://datalab.visitkorea.or.kr/",</a:t>
            </a:r>
          </a:p>
          <a:p>
            <a:r>
              <a:t>          "downloaded_at": "2026-08-20",</a:t>
            </a:r>
          </a:p>
          <a:p>
            <a:r>
              <a:t>          "relative_path": "data/source_snapshots/festivals_20260820/25. 문경찻사발축제_2023-2025/20260820160334_문경찻사발축제_목적지 검색순위.csv",</a:t>
            </a:r>
          </a:p>
          <a:p>
            <a:r>
              <a:t>          "provenance_status": "team_download_exact_query_url_unrecorded"</a:t>
            </a:r>
          </a:p>
          <a:p>
            <a:r>
              <a:t>        }</a:t>
            </a:r>
          </a:p>
          <a:p>
            <a:r>
              <a:t>      ],</a:t>
            </a:r>
          </a:p>
          <a:p>
            <a:r>
              <a:t>      "dataset_hash": "ad20e3daf70fd44fd481d672398c07bb9c96fce77acb450784065a568735e2e2",</a:t>
            </a:r>
          </a:p>
          <a:p>
            <a:r>
              <a:t>      "measurement_period": "2023~2025년 각 축제 개최기간",</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a:t>
            </a:r>
          </a:p>
          <a:p>
            <a:r>
              <a:t>    {</a:t>
            </a:r>
          </a:p>
          <a:p>
            <a:r>
              <a:t>      "source_id": "case:gangjin_half_price_2024",</a:t>
            </a:r>
          </a:p>
          <a:p>
            <a:r>
              <a:t>      "source_type": "benchmark_case",</a:t>
            </a:r>
          </a:p>
          <a:p>
            <a:r>
              <a:t>      "title": "강진 반값여행 지역경제 효과 소개",</a:t>
            </a:r>
          </a:p>
          <a:p>
            <a:r>
              <a:t>      "source_url": "https://jnfarm.jeonnam.go.kr/board/FARM_BOARD_008/boardView.do?bdId=BD_00000000000011721&amp;menuCd=farm004002",</a:t>
            </a:r>
          </a:p>
          <a:p>
            <a:r>
              <a:t>      "published_or_updated_at": "2025-01-02",</a:t>
            </a:r>
          </a:p>
          <a:p>
            <a:r>
              <a:t>      "summary": "전라남도 강진군 · 반값여행 지역환급 · 상품권 결제 변화에 관한 소개 자료는 있으나, 사업 참여자 범위·정확한 비교 기간·원자료를 확인하지 못해 성과 수치 인용을 보류한다.",</a:t>
            </a:r>
          </a:p>
          <a:p>
            <a:r>
              <a:t>      "case_region": "전라남도 강진군",</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"quantitative_result_approved": false,</a:t>
            </a:r>
          </a:p>
          <a:p>
            <a:r>
              <a:t>      "document_type": "case_study",</a:t>
            </a:r>
          </a:p>
          <a:p>
            <a:r>
              <a:t>      "retrieval_method": "curated_registry",</a:t>
            </a:r>
          </a:p>
          <a:p>
            <a:r>
              <a:t>      "retrieval_context": {</a:t>
            </a:r>
          </a:p>
          <a:p>
            <a:r>
              <a:t>        "scope": "cross_province",</a:t>
            </a:r>
          </a:p>
          <a:p>
            <a:r>
              <a:t>        "peer_region_code": null</a:t>
            </a:r>
          </a:p>
          <a:p>
            <a:r>
              <a:t>      },</a:t>
            </a:r>
          </a:p>
          <a:p>
            <a:r>
              <a:t>      "observed_result": "상품권 결제 변화에 관한 소개 자료는 있으나, 사업 참여자 범위·정확한 비교 기간·원자료를 확인하지 못해 성과 수치 인용을 보류한다.",</a:t>
            </a:r>
          </a:p>
          <a:p>
            <a:r>
              <a:t>      "operating_statistics": [],</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a:t>
            </a:r>
          </a:p>
          <a:p>
            <a:r>
              <a:t>    {</a:t>
            </a:r>
          </a:p>
          <a:p>
            <a:r>
              <a:t>      "source_id": "case:4544b7bca8ebab",</a:t>
            </a:r>
          </a:p>
          <a:p>
            <a:r>
              <a:t>      "source_type": "benchmark_case",</a:t>
            </a:r>
          </a:p>
          <a:p>
            <a:r>
              <a:t>      "title": "요즘, 한국관광 2호 - 지방공항 연계 지역관광 활성화 방안",</a:t>
            </a:r>
          </a:p>
          <a:p>
            <a:r>
              <a:t>      "source_url": "https://datalab.visitkorea.or.kr/site/portal/ex/bbs/View.do?bcIdx=311068&amp;cbIdx=1135&amp;pageIndex=1",</a:t>
            </a:r>
          </a:p>
          <a:p>
            <a:r>
              <a:t>      "published_or_updated_at": "2026-08",</a:t>
            </a:r>
          </a:p>
          <a:p>
            <a:r>
              <a:t>      "summary": "충청권 청주공항·오송역·공주·부여 연계지역 · 청주공항 연계 광역순환버스·수요응답형 버스와 관광상품 연결 · 2026년 상반기 순환버스와 DRT 이용객은 총 7,470명으로 보고됐다. 2026년 6월 기준 청주공항 연계 여행상품 49개가 개발됐으나, 공항 입국자 증가와 버스사업의 인과관계 및 이용객의 대전 서구 방문·숙박·소비는 확인되지 않았다.",</a:t>
            </a:r>
          </a:p>
          <a:p>
            <a:r>
              <a:t>      "case_region": "충청권 청주공항·오송역·공주·부여 연계지역",</a:t>
            </a:r>
          </a:p>
          <a:p>
            <a:r>
              <a:t>      "intervention": "청주공항 연계 광역순환버스·수요응답형 버스와 관광상품 연결",</a:t>
            </a:r>
          </a:p>
          <a:p>
            <a:r>
              <a:t>      "operating_model": "한국관광공사, 충청남·북도와 지역관광기관이 협업해 청주공항·오송역·공주터미널·부여터미널 등을 연결하는 광역순환버스와 수요응답형 버스를 지원했다. 공항 연계 콘텐츠와 코스를 발굴하고 여행사·OTA가 교통·숙박·식당을 묶어 판매할 수 있도록 상품화 정보를 제공했다.",</a:t>
            </a:r>
          </a:p>
          <a:p>
            <a:r>
              <a:t>      "evidence_strength": "medium",</a:t>
            </a:r>
          </a:p>
          <a:p>
            <a:r>
              <a:t>      "quantitative_result_approved": null,</a:t>
            </a:r>
          </a:p>
          <a:p>
            <a:r>
              <a:t>      "document_type": null,</a:t>
            </a:r>
          </a:p>
          <a:p>
            <a:r>
              <a:t>      "retrieval_method": "official_web_search",</a:t>
            </a:r>
          </a:p>
          <a:p>
            <a:r>
              <a:t>      "retrieval_context": {</a:t>
            </a:r>
          </a:p>
          <a:p>
            <a:r>
              <a:t>        "scope": "national_or_unresolved",</a:t>
            </a:r>
          </a:p>
          <a:p>
            <a:r>
              <a:t>        "peer_region_code": null</a:t>
            </a:r>
          </a:p>
          <a:p>
            <a:r>
              <a:t>      },</a:t>
            </a:r>
          </a:p>
          <a:p>
            <a:r>
              <a:t>      "observed_result": "2026년 상반기 순환버스와 DRT 이용객은 총 7,470명으로 보고됐다. 2026년 6월 기준 청주공항 연계 여행상품 49개가 개발됐으나, 공항 입국자 증가와 버스사업의 인과관계 및 이용객의 대전 서구 방문·숙박·소비는 확인되지 않았다.",</a:t>
            </a:r>
          </a:p>
          <a:p>
            <a:r>
              <a:t>      "operating_statistics": [</a:t>
            </a:r>
          </a:p>
          <a:p>
            <a:r>
              <a:t>        {</a:t>
            </a:r>
          </a:p>
          <a:p>
            <a:r>
              <a:t>          "metric": "participants",</a:t>
            </a:r>
          </a:p>
          <a:p>
            <a:r>
              <a:t>          "value": 7470,</a:t>
            </a:r>
          </a:p>
          <a:p>
            <a:r>
              <a:t>          "unit": "명",</a:t>
            </a:r>
          </a:p>
          <a:p>
            <a:r>
              <a:t>          "period": "2026년 상반기",</a:t>
            </a:r>
          </a:p>
          <a:p>
            <a:r>
              <a:t>          "scope": "청주공항 연계 광역순환버스·DRT 실제 이용객 합계",</a:t>
            </a:r>
          </a:p>
          <a:p>
            <a:r>
              <a:t>          "quote": "순환버스와 DRT 이용객은 총 7,470명",</a:t>
            </a:r>
          </a:p>
          <a:p>
            <a:r>
              <a:t>          "capacity_count": null,</a:t>
            </a:r>
          </a:p>
          <a:p>
            <a:r>
              <a:t>          "participant_count": 7470,</a:t>
            </a:r>
          </a:p>
          <a:p>
            <a:r>
              <a:t>          "program_name": "청주공항 연계 순환버스·DRT"</a:t>
            </a:r>
          </a:p>
          <a:p>
            <a:r>
              <a:t>        }</a:t>
            </a:r>
          </a:p>
          <a:p>
            <a:r>
              <a:t>      ],</a:t>
            </a:r>
          </a:p>
          <a:p>
            <a:r>
              <a:t>      "measurement_period": "2026-01~2026-06",</a:t>
            </a:r>
          </a:p>
          <a:p>
            <a:r>
              <a:t>      "transfer_conditions": [</a:t>
            </a:r>
          </a:p>
          <a:p>
            <a:r>
              <a:t>        "서구 적용 시 청주공항 전체 권역사업을 복제하지 말고 대전역·복합터미널·유성 권역 등 실제 유입거점에서 서구 콘텐츠로 이어지는 한정 노선을 검토해야 한다.",</a:t>
            </a:r>
          </a:p>
          <a:p>
            <a:r>
              <a:t>        "고정노선보다 사전예약 회차 또는 행사일 셔틀을 우선 검토해 3개월 고정기간의 운행 공차 위험을 줄여야 한다.",</a:t>
            </a:r>
          </a:p>
          <a:p>
            <a:r>
              <a:t>        "탑승 QR, 하차지, 체험 예약, 참여업소 결제를 연결해 이동 이후 행동을 측정해야 한다.",</a:t>
            </a:r>
          </a:p>
          <a:p>
            <a:r>
              <a:t>        "버스 운송사업자, 관광시설, 숙박·식음업체 간 운행시간과 정산 책임 협약이 필요하다."</a:t>
            </a:r>
          </a:p>
          <a:p>
            <a:r>
              <a:t>      ]</a:t>
            </a:r>
          </a:p>
          <a:p>
            <a:r>
              <a:t>    },</a:t>
            </a:r>
          </a:p>
          <a:p>
            <a:r>
              <a:t>    {</a:t>
            </a:r>
          </a:p>
          <a:p>
            <a:r>
              <a:t>      "source_id": "case:digital_tourism_resident_2024",</a:t>
            </a:r>
          </a:p>
          <a:p>
            <a:r>
              <a:t>      "source_type": "benchmark_case",</a:t>
            </a:r>
          </a:p>
          <a:p>
            <a:r>
              <a:t>      "title": "2024년 6월 여행가는 달 추진 보도자료",</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"published_or_updated_at": "2024-05-14",</a:t>
            </a:r>
          </a:p>
          <a:p>
            <a:r>
              <a:t>      "summary": "전국 인구감소지역 34곳 · 디지털 관광주민증과 교통·숙박·상점 할인 결합 · 2024년 34개 지역 약 800개 관광업체에 혜택 구조를 적용",</a:t>
            </a:r>
          </a:p>
          <a:p>
            <a:r>
              <a:t>      "case_region": "전국 인구감소지역 34곳",</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"2024년 34개 지역 약 800개 관광업체에 혜택 구조를 적용",</a:t>
            </a:r>
          </a:p>
          <a:p>
            <a:r>
              <a:t>      "operating_statistics": [],</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a:t>
            </a:r>
          </a:p>
          <a:p>
            <a:r>
              <a:t>    {</a:t>
            </a:r>
          </a:p>
          <a:p>
            <a:r>
              <a:t>      "source_id": "case:night_festival_2025",</a:t>
            </a:r>
          </a:p>
          <a:p>
            <a:r>
              <a:t>      "source_type": "benchmark_case",</a:t>
            </a:r>
          </a:p>
          <a:p>
            <a:r>
              <a:t>      "title": "2025 대한민국 밤밤페스타 개최 도시 및 일정",</a:t>
            </a:r>
          </a:p>
          <a:p>
            <a:r>
              <a:t>      "source_url": "https://korean.visitkorea.or.kr/detail/rem_detail.do?cotid=f9c636b2-dd7c-4f09-af3d-6af43b33d371",</a:t>
            </a:r>
          </a:p>
          <a:p>
            <a:r>
              <a:t>      "published_or_updated_at": "2025",</a:t>
            </a:r>
          </a:p>
          <a:p>
            <a:r>
              <a:t>      "summary": "야간관광 특화도시 10곳 · 도시별 야간 콘텐츠를 순회형 축제로 묶는 운영 · 공식 여행기사는 개최 도시·장소·운영 시간과 콘텐츠만 제시하며 방문·소비 성과 수치는 제시하지 않음",</a:t>
            </a:r>
          </a:p>
          <a:p>
            <a:r>
              <a:t>      "case_region": "야간관광 특화도시 10곳",</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"공식 여행기사는 개최 도시·장소·운영 시간과 콘텐츠만 제시하며 방문·소비 성과 수치는 제시하지 않음",</a:t>
            </a:r>
          </a:p>
          <a:p>
            <a:r>
              <a:t>      "operating_statistics": [],</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a:t>
            </a:r>
          </a:p>
          <a:p>
            <a:r>
              <a:t>    {</a:t>
            </a:r>
          </a:p>
          <a:p>
            <a:r>
              <a:t>      "source_id": "case:festival:1ff9d11d3ee0ee",</a:t>
            </a:r>
          </a:p>
          <a:p>
            <a:r>
              <a:t>      "source_type": "benchmark_case",</a:t>
            </a:r>
          </a:p>
          <a:p>
            <a:r>
              <a:t>      "title": "한국관광 데이터랩 · 진도신비의바닷길축제 방문자 추이",</a:t>
            </a:r>
          </a:p>
          <a:p>
            <a:r>
              <a:t>      "source_url": "https://datalab.visitkorea.or.kr/",</a:t>
            </a:r>
          </a:p>
          <a:p>
            <a:r>
              <a:t>      "published_or_updated_at": "2026-08-20",</a:t>
            </a:r>
          </a:p>
          <a:p>
            <a:r>
              <a:t>      "summary": "전라남도 진도군 · 진도신비의바닷길축제 · 2024→2025년 전체 28,171→43,973명 (+56.09%). 개최 3→4일, 일평균 +17.07%, 외지인 +89.98%.",</a:t>
            </a:r>
          </a:p>
          <a:p>
            <a:r>
              <a:t>      "case_region": "전라남도 진도군",</a:t>
            </a:r>
          </a:p>
          <a:p>
            <a:r>
              <a:t>      "intervention": "진도신비의바닷길축제",</a:t>
            </a:r>
          </a:p>
          <a:p>
            <a:r>
              <a:t>      "operating_model": "진도신비의바닷길축제를 2025년 4일 개최한 문화관광축제 운영 사례. 세부 프로그램·예약·혜택은 이 CSV에 기록되어 있지 않으며 새로운 운영안은 제안으로 구분한다.",</a:t>
            </a:r>
          </a:p>
          <a:p>
            <a:r>
              <a:t>      "evidence_strength": "medium",</a:t>
            </a:r>
          </a:p>
          <a:p>
            <a:r>
              <a:t>      "quantitative_result_approved": true,</a:t>
            </a:r>
          </a:p>
          <a:p>
            <a:r>
              <a:t>      "document_type": "case_study",</a:t>
            </a:r>
          </a:p>
          <a:p>
            <a:r>
              <a:t>      "retrieval_method": "datalab_festival_table",</a:t>
            </a:r>
          </a:p>
          <a:p>
            <a:r>
              <a:t>      "retrieval_context": {</a:t>
            </a:r>
          </a:p>
          <a:p>
            <a:r>
              <a:t>        "scope": "cross_province",</a:t>
            </a:r>
          </a:p>
          <a:p>
            <a:r>
              <a:t>        "peer_region_code": null</a:t>
            </a:r>
          </a:p>
          <a:p>
            <a:r>
              <a:t>      },</a:t>
            </a:r>
          </a:p>
          <a:p>
            <a:r>
              <a:t>      "observed_result": "2024→2025년 전체 28,171→43,973명 (+56.09%). 개최 3→4일, 일평균 +17.07%, 외지인 +89.98%.",</a:t>
            </a:r>
          </a:p>
          <a:p>
            <a:r>
              <a:t>      "operating_statistics": [],</a:t>
            </a:r>
          </a:p>
          <a:p>
            <a:r>
              <a:t>      "evidence_kind": "festival_statistics",</a:t>
            </a:r>
          </a:p>
          <a:p>
            <a:r>
              <a:t>      "festival_statistics": {</a:t>
            </a:r>
          </a:p>
          <a:p>
            <a:r>
              <a:t>        "name": "진도신비의바닷길축제",</a:t>
            </a:r>
          </a:p>
          <a:p>
            <a:r>
              <a:t>        "annual": [</a:t>
            </a:r>
          </a:p>
          <a:p>
            <a:r>
              <a:t>          {</a:t>
            </a:r>
          </a:p>
          <a:p>
            <a:r>
              <a:t>            "days": 3,</a:t>
            </a:r>
          </a:p>
          <a:p>
            <a:r>
              <a:t>            "year": 2023,</a:t>
            </a:r>
          </a:p>
          <a:p>
            <a:r>
              <a:t>            "daily": 11185.333333333334,</a:t>
            </a:r>
          </a:p>
          <a:p>
            <a:r>
              <a:t>            "local": 12120,</a:t>
            </a:r>
          </a:p>
          <a:p>
            <a:r>
              <a:t>            "total": 33556,</a:t>
            </a:r>
          </a:p>
          <a:p>
            <a:r>
              <a:t>            "foreign": 278,</a:t>
            </a:r>
          </a:p>
          <a:p>
            <a:r>
              <a:t>            "outside": 21158,</a:t>
            </a:r>
          </a:p>
          <a:p>
            <a:r>
              <a:t>            "outside_daily": 7052.666666666667,</a:t>
            </a:r>
          </a:p>
          <a:p>
            <a:r>
              <a:t>            "outside_share_pct": 63.05280724758613</a:t>
            </a:r>
          </a:p>
          <a:p>
            <a:r>
              <a:t>          },</a:t>
            </a:r>
          </a:p>
          <a:p>
            <a:r>
              <a:t>          {</a:t>
            </a:r>
          </a:p>
          <a:p>
            <a:r>
              <a:t>            "days": 3,</a:t>
            </a:r>
          </a:p>
          <a:p>
            <a:r>
              <a:t>            "year": 2024,</a:t>
            </a:r>
          </a:p>
          <a:p>
            <a:r>
              <a:t>            "daily": 9390.333333333334,</a:t>
            </a:r>
          </a:p>
          <a:p>
            <a:r>
              <a:t>            "local": 13068,</a:t>
            </a:r>
          </a:p>
          <a:p>
            <a:r>
              <a:t>            "total": 28171,</a:t>
            </a:r>
          </a:p>
          <a:p>
            <a:r>
              <a:t>            "foreign": 223,</a:t>
            </a:r>
          </a:p>
          <a:p>
            <a:r>
              <a:t>            "outside": 14880,</a:t>
            </a:r>
          </a:p>
          <a:p>
            <a:r>
              <a:t>            "outside_daily": 4960,</a:t>
            </a:r>
          </a:p>
          <a:p>
            <a:r>
              <a:t>            "outside_share_pct": 52.82027617052998</a:t>
            </a:r>
          </a:p>
          <a:p>
            <a:r>
              <a:t>          },</a:t>
            </a:r>
          </a:p>
          <a:p>
            <a:r>
              <a:t>          {</a:t>
            </a:r>
          </a:p>
          <a:p>
            <a:r>
              <a:t>            "days": 4,</a:t>
            </a:r>
          </a:p>
          <a:p>
            <a:r>
              <a:t>            "year": 2025,</a:t>
            </a:r>
          </a:p>
          <a:p>
            <a:r>
              <a:t>            "daily": 10993.25,</a:t>
            </a:r>
          </a:p>
          <a:p>
            <a:r>
              <a:t>            "local": 15345,</a:t>
            </a:r>
          </a:p>
          <a:p>
            <a:r>
              <a:t>            "total": 43973,</a:t>
            </a:r>
          </a:p>
          <a:p>
            <a:r>
              <a:t>            "foreign": 359,</a:t>
            </a:r>
          </a:p>
          <a:p>
            <a:r>
              <a:t>            "outside": 28269,</a:t>
            </a:r>
          </a:p>
          <a:p>
            <a:r>
              <a:t>            "outside_daily": 7067.25,</a:t>
            </a:r>
          </a:p>
          <a:p>
            <a:r>
              <a:t>            "outside_share_pct": 64.28717622177244</a:t>
            </a:r>
          </a:p>
          <a:p>
            <a:r>
              <a:t>          }</a:t>
            </a:r>
          </a:p>
          <a:p>
            <a:r>
              <a:t>        ],</a:t>
            </a:r>
          </a:p>
          <a:p>
            <a:r>
              <a:t>        "comparison": {</a:t>
            </a:r>
          </a:p>
          <a:p>
            <a:r>
              <a:t>          "daily": {</a:t>
            </a:r>
          </a:p>
          <a:p>
            <a:r>
              <a:t>            "after": 10993.25,</a:t>
            </a:r>
          </a:p>
          <a:p>
            <a:r>
              <a:t>            "before": 9390.333333333334,</a:t>
            </a:r>
          </a:p>
          <a:p>
            <a:r>
              <a:t>            "change_pct": 17.069859074935213,</a:t>
            </a:r>
          </a:p>
          <a:p>
            <a:r>
              <a:t>            "difference": 1602.916666666666</a:t>
            </a:r>
          </a:p>
          <a:p>
            <a:r>
              <a:t>          },</a:t>
            </a:r>
          </a:p>
          <a:p>
            <a:r>
              <a:t>          "total": {</a:t>
            </a:r>
          </a:p>
          <a:p>
            <a:r>
              <a:t>            "after": 43973,</a:t>
            </a:r>
          </a:p>
          <a:p>
            <a:r>
              <a:t>            "before": 28171,</a:t>
            </a:r>
          </a:p>
          <a:p>
            <a:r>
              <a:t>            "change_pct": 56.093145433246946,</a:t>
            </a:r>
          </a:p>
          <a:p>
            <a:r>
              <a:t>            "difference": 15802</a:t>
            </a:r>
          </a:p>
          <a:p>
            <a:r>
              <a:t>          },</a:t>
            </a:r>
          </a:p>
          <a:p>
            <a:r>
              <a:t>          "outside": {</a:t>
            </a:r>
          </a:p>
          <a:p>
            <a:r>
              <a:t>            "after": 28269,</a:t>
            </a:r>
          </a:p>
          <a:p>
            <a:r>
              <a:t>            "before": 14880,</a:t>
            </a:r>
          </a:p>
          <a:p>
            <a:r>
              <a:t>            "change_pct": 89.97983870967742,</a:t>
            </a:r>
          </a:p>
          <a:p>
            <a:r>
              <a:t>            "difference": 13389</a:t>
            </a:r>
          </a:p>
          <a:p>
            <a:r>
              <a:t>          },</a:t>
            </a:r>
          </a:p>
          <a:p>
            <a:r>
              <a:t>          "after_days": 4,</a:t>
            </a:r>
          </a:p>
          <a:p>
            <a:r>
              <a:t>          "after_year": 2025,</a:t>
            </a:r>
          </a:p>
          <a:p>
            <a:r>
              <a:t>          "before_days": 3,</a:t>
            </a:r>
          </a:p>
          <a:p>
            <a:r>
              <a:t>          "before_year": 2024,</a:t>
            </a:r>
          </a:p>
          <a:p>
            <a:r>
              <a:t>          "outside_daily": {</a:t>
            </a:r>
          </a:p>
          <a:p>
            <a:r>
              <a:t>            "after": 7067.25,</a:t>
            </a:r>
          </a:p>
          <a:p>
            <a:r>
              <a:t>            "before": 4960,</a:t>
            </a:r>
          </a:p>
          <a:p>
            <a:r>
              <a:t>            "change_pct": 42.484879032258064,</a:t>
            </a:r>
          </a:p>
          <a:p>
            <a:r>
              <a:t>            "difference": 2107.25</a:t>
            </a:r>
          </a:p>
          <a:p>
            <a:r>
              <a:t>          }</a:t>
            </a:r>
          </a:p>
          <a:p>
            <a:r>
              <a:t>        },</a:t>
            </a:r>
          </a:p>
          <a:p>
            <a:r>
              <a:t>        "scope": "축제 관측구역 방문 지표. 도시 전체·순증 관광객·입장권 실구매자 수가 아님.",</a:t>
            </a:r>
          </a:p>
          <a:p>
            <a:r>
              <a:t>        "region_basis": "목적지 검색 CSV의 시도+시군구 최빈 주소; 행사장 행정경계 확정은 아님",</a:t>
            </a:r>
          </a:p>
          <a:p>
            <a:r>
              <a:t>        "source_file": {</a:t>
            </a:r>
          </a:p>
          <a:p>
            <a:r>
              <a:t>          "sha256": "3cf7484d808e807aeffda7504a3d316839b9220f0f7a72550f5387af3ee3f8d9",</a:t>
            </a:r>
          </a:p>
          <a:p>
            <a:r>
              <a:t>          "provider": "한국관광 데이터랩",</a:t>
            </a:r>
          </a:p>
          <a:p>
            <a:r>
              <a:t>          "file_name": "20260820182448_진도신비의바닷길축제_연도별 방문자 추이.csv",</a:t>
            </a:r>
          </a:p>
          <a:p>
            <a:r>
              <a:t>          "source_id": "festival-file:3cf7484d808e807aeffd",</a:t>
            </a:r>
          </a:p>
          <a:p>
            <a:r>
              <a:t>          "source_url": "https://datalab.visitkorea.or.kr/",</a:t>
            </a:r>
          </a:p>
          <a:p>
            <a:r>
              <a:t>          "downloaded_at": "2026-08-20",</a:t>
            </a:r>
          </a:p>
          <a:p>
            <a:r>
              <a:t>          "relative_path": "data/source_snapshots/festivals_20260820/69. 진도신비의바닷길축제_2023-2025/20260820182448_진도신비의바닷길축제_연도별 방문자 추이.csv",</a:t>
            </a:r>
          </a:p>
          <a:p>
            <a:r>
              <a:t>          "provenance_status": "team_download_exact_query_url_unrecorded"</a:t>
            </a:r>
          </a:p>
          <a:p>
            <a:r>
              <a:t>        },</a:t>
            </a:r>
          </a:p>
          <a:p>
            <a:r>
              <a:t>        "indicator_values": [</a:t>
            </a:r>
          </a:p>
          <a:p>
            <a:r>
              <a:t>          {</a:t>
            </a:r>
          </a:p>
          <a:p>
            <a:r>
              <a:t>            "구분명": "외부방문자 유입",</a:t>
            </a:r>
          </a:p>
          <a:p>
            <a:r>
              <a:t>            "그룹명": "축제기간",</a:t>
            </a:r>
          </a:p>
          <a:p>
            <a:r>
              <a:t>            "지표값": "0.568",</a:t>
            </a:r>
          </a:p>
          <a:p>
            <a:r>
              <a:t>            "축제명": "진도신비의바닷길축제",</a:t>
            </a:r>
          </a:p>
          <a:p>
            <a:r>
              <a:t>            "개최년도": "2025"</a:t>
            </a:r>
          </a:p>
          <a:p>
            <a:r>
              <a:t>          },</a:t>
            </a:r>
          </a:p>
          <a:p>
            <a:r>
              <a:t>          {</a:t>
            </a:r>
          </a:p>
          <a:p>
            <a:r>
              <a:t>            "구분명": "현지인방문자 유입",</a:t>
            </a:r>
          </a:p>
          <a:p>
            <a:r>
              <a:t>            "그룹명": "축제기간",</a:t>
            </a:r>
          </a:p>
          <a:p>
            <a:r>
              <a:t>            "지표값": "0.858",</a:t>
            </a:r>
          </a:p>
          <a:p>
            <a:r>
              <a:t>            "축제명": "진도신비의바닷길축제",</a:t>
            </a:r>
          </a:p>
          <a:p>
            <a:r>
              <a:t>            "개최년도": "2025"</a:t>
            </a:r>
          </a:p>
          <a:p>
            <a:r>
              <a:t>          },</a:t>
            </a:r>
          </a:p>
          <a:p>
            <a:r>
              <a:t>          {</a:t>
            </a:r>
          </a:p>
          <a:p>
            <a:r>
              <a:t>            "구분명": "내비게이션 검색량",</a:t>
            </a:r>
          </a:p>
          <a:p>
            <a:r>
              <a:t>            "그룹명": "축제기간",</a:t>
            </a:r>
          </a:p>
          <a:p>
            <a:r>
              <a:t>            "지표값": "0.513",</a:t>
            </a:r>
          </a:p>
          <a:p>
            <a:r>
              <a:t>            "축제명": "진도신비의바닷길축제",</a:t>
            </a:r>
          </a:p>
          <a:p>
            <a:r>
              <a:t>            "개최년도": "2025"</a:t>
            </a:r>
          </a:p>
          <a:p>
            <a:r>
              <a:t>          },</a:t>
            </a:r>
          </a:p>
          <a:p>
            <a:r>
              <a:t>          {</a:t>
            </a:r>
          </a:p>
          <a:p>
            <a:r>
              <a:t>            "구분명": "관광소비",</a:t>
            </a:r>
          </a:p>
          <a:p>
            <a:r>
              <a:t>            "그룹명": "축제기간",</a:t>
            </a:r>
          </a:p>
          <a:p>
            <a:r>
              <a:t>            "지표값": "0.283",</a:t>
            </a:r>
          </a:p>
          <a:p>
            <a:r>
              <a:t>            "축제명": "진도신비의바닷길축제",</a:t>
            </a:r>
          </a:p>
          <a:p>
            <a:r>
              <a:t>            "개최년도": "2025"</a:t>
            </a:r>
          </a:p>
          <a:p>
            <a:r>
              <a:t>          },</a:t>
            </a:r>
          </a:p>
          <a:p>
            <a:r>
              <a:t>          {</a:t>
            </a:r>
          </a:p>
          <a:p>
            <a:r>
              <a:t>            "구분명": "축제지 집중률",</a:t>
            </a:r>
          </a:p>
          <a:p>
            <a:r>
              <a:t>            "그룹명": "축제기간",</a:t>
            </a:r>
          </a:p>
          <a:p>
            <a:r>
              <a:t>            "지표값": "0.791",</a:t>
            </a:r>
          </a:p>
          <a:p>
            <a:r>
              <a:t>            "축제명": "진도신비의바닷길축제",</a:t>
            </a:r>
          </a:p>
          <a:p>
            <a:r>
              <a:t>            "개최년도": "2025"</a:t>
            </a:r>
          </a:p>
          <a:p>
            <a:r>
              <a:t>          },</a:t>
            </a:r>
          </a:p>
          <a:p>
            <a:r>
              <a:t>          {</a:t>
            </a:r>
          </a:p>
          <a:p>
            <a:r>
              <a:t>            "구분명": "외부방문자 유입",</a:t>
            </a:r>
          </a:p>
          <a:p>
            <a:r>
              <a:t>            "그룹명": "비축제기간",</a:t>
            </a:r>
          </a:p>
          <a:p>
            <a:r>
              <a:t>            "지표값": "0.137",</a:t>
            </a:r>
          </a:p>
          <a:p>
            <a:r>
              <a:t>            "축제명": "진도신비의바닷길축제",</a:t>
            </a:r>
          </a:p>
          <a:p>
            <a:r>
              <a:t>            "개최년도": "2025"</a:t>
            </a:r>
          </a:p>
          <a:p>
            <a:r>
              <a:t>          },</a:t>
            </a:r>
          </a:p>
          <a:p>
            <a:r>
              <a:t>          {</a:t>
            </a:r>
          </a:p>
          <a:p>
            <a:r>
              <a:t>            "구분명": "현지인방문자 유입",</a:t>
            </a:r>
          </a:p>
          <a:p>
            <a:r>
              <a:t>            "그룹명": "비축제기간",</a:t>
            </a:r>
          </a:p>
          <a:p>
            <a:r>
              <a:t>            "지표값": "0.472",</a:t>
            </a:r>
          </a:p>
          <a:p>
            <a:r>
              <a:t>            "축제명": "진도신비의바닷길축제",</a:t>
            </a:r>
          </a:p>
          <a:p>
            <a:r>
              <a:t>            "개최년도": "2025"</a:t>
            </a:r>
          </a:p>
          <a:p>
            <a:r>
              <a:t>          },</a:t>
            </a:r>
          </a:p>
          <a:p>
            <a:r>
              <a:t>          {</a:t>
            </a:r>
          </a:p>
          <a:p>
            <a:r>
              <a:t>            "구분명": "내비게이션 검색량",</a:t>
            </a:r>
          </a:p>
          <a:p>
            <a:r>
              <a:t>            "그룹명": "비축제기간",</a:t>
            </a:r>
          </a:p>
          <a:p>
            <a:r>
              <a:t>            "지표값": "0.06",</a:t>
            </a:r>
          </a:p>
          <a:p>
            <a:r>
              <a:t>            "축제명": "진도신비의바닷길축제",</a:t>
            </a:r>
          </a:p>
          <a:p>
            <a:r>
              <a:t>            "개최년도": "2025"</a:t>
            </a:r>
          </a:p>
          <a:p>
            <a:r>
              <a:t>          },</a:t>
            </a:r>
          </a:p>
          <a:p>
            <a:r>
              <a:t>          {</a:t>
            </a:r>
          </a:p>
          <a:p>
            <a:r>
              <a:t>            "구분명": "관광소비",</a:t>
            </a:r>
          </a:p>
          <a:p>
            <a:r>
              <a:t>            "그룹명": "비축제기간",</a:t>
            </a:r>
          </a:p>
          <a:p>
            <a:r>
              <a:t>            "지표값": "0.212",</a:t>
            </a:r>
          </a:p>
          <a:p>
            <a:r>
              <a:t>            "축제명": "진도신비의바닷길축제",</a:t>
            </a:r>
          </a:p>
          <a:p>
            <a:r>
              <a:t>            "개최년도": "2025"</a:t>
            </a:r>
          </a:p>
          <a:p>
            <a:r>
              <a:t>          },</a:t>
            </a:r>
          </a:p>
          <a:p>
            <a:r>
              <a:t>          {</a:t>
            </a:r>
          </a:p>
          <a:p>
            <a:r>
              <a:t>            "구분명": "축제지 집중률",</a:t>
            </a:r>
          </a:p>
          <a:p>
            <a:r>
              <a:t>            "그룹명": "비축제기간",</a:t>
            </a:r>
          </a:p>
          <a:p>
            <a:r>
              <a:t>            "지표값": "0.269",</a:t>
            </a:r>
          </a:p>
          <a:p>
            <a:r>
              <a:t>            "축제명": "진도신비의바닷길축제",</a:t>
            </a:r>
          </a:p>
          <a:p>
            <a:r>
              <a:t>            "개최년도": "2025"</a:t>
            </a:r>
          </a:p>
          <a:p>
            <a:r>
              <a:t>          }</a:t>
            </a:r>
          </a:p>
          <a:p>
            <a:r>
              <a:t>        ],</a:t>
            </a:r>
          </a:p>
          <a:p>
            <a:r>
              <a:t>        "indicator_rule": "원본 지표값만 보존. 산식·단위 미확인으로 성장률/원화/정원/참여율 변환 금지.",</a:t>
            </a:r>
          </a:p>
          <a:p>
            <a:r>
              <a:t>        "audience": [</a:t>
            </a:r>
          </a:p>
          <a:p>
            <a:r>
              <a:t>          {</a:t>
            </a:r>
          </a:p>
          <a:p>
            <a:r>
              <a:t>            "연령대": "70세 이상",</a:t>
            </a:r>
          </a:p>
          <a:p>
            <a:r>
              <a:t>            "축제명": "진도신비의바닷길축제",</a:t>
            </a:r>
          </a:p>
          <a:p>
            <a:r>
              <a:t>            "남성비율": "7.4",</a:t>
            </a:r>
          </a:p>
          <a:p>
            <a:r>
              <a:t>            "여성비율": "6.8"</a:t>
            </a:r>
          </a:p>
          <a:p>
            <a:r>
              <a:t>          },</a:t>
            </a:r>
          </a:p>
          <a:p>
            <a:r>
              <a:t>          {</a:t>
            </a:r>
          </a:p>
          <a:p>
            <a:r>
              <a:t>            "연령대": "60~69세",</a:t>
            </a:r>
          </a:p>
          <a:p>
            <a:r>
              <a:t>            "축제명": "진도신비의바닷길축제",</a:t>
            </a:r>
          </a:p>
          <a:p>
            <a:r>
              <a:t>            "남성비율": "13.8",</a:t>
            </a:r>
          </a:p>
          <a:p>
            <a:r>
              <a:t>            "여성비율": "14.3"</a:t>
            </a:r>
          </a:p>
          <a:p>
            <a:r>
              <a:t>          },</a:t>
            </a:r>
          </a:p>
          <a:p>
            <a:r>
              <a:t>          {</a:t>
            </a:r>
          </a:p>
          <a:p>
            <a:r>
              <a:t>            "연령대": "50~59세",</a:t>
            </a:r>
          </a:p>
          <a:p>
            <a:r>
              <a:t>            "축제명": "진도신비의바닷길축제",</a:t>
            </a:r>
          </a:p>
          <a:p>
            <a:r>
              <a:t>            "남성비율": "10.7",</a:t>
            </a:r>
          </a:p>
          <a:p>
            <a:r>
              <a:t>            "여성비율": "11.5"</a:t>
            </a:r>
          </a:p>
          <a:p>
            <a:r>
              <a:t>          },</a:t>
            </a:r>
          </a:p>
          <a:p>
            <a:r>
              <a:t>          {</a:t>
            </a:r>
          </a:p>
          <a:p>
            <a:r>
              <a:t>            "연령대": "40~49세",</a:t>
            </a:r>
          </a:p>
          <a:p>
            <a:r>
              <a:t>            "축제명": "진도신비의바닷길축제",</a:t>
            </a:r>
          </a:p>
          <a:p>
            <a:r>
              <a:t>            "남성비율": "7.7",</a:t>
            </a:r>
          </a:p>
          <a:p>
            <a:r>
              <a:t>            "여성비율": "4.9"</a:t>
            </a:r>
          </a:p>
          <a:p>
            <a:r>
              <a:t>          },</a:t>
            </a:r>
          </a:p>
          <a:p>
            <a:r>
              <a:t>          {</a:t>
            </a:r>
          </a:p>
          <a:p>
            <a:r>
              <a:t>            "연령대": "30~39세",</a:t>
            </a:r>
          </a:p>
          <a:p>
            <a:r>
              <a:t>            "축제명": "진도신비의바닷길축제",</a:t>
            </a:r>
          </a:p>
          <a:p>
            <a:r>
              <a:t>            "남성비율": "6.8",</a:t>
            </a:r>
          </a:p>
          <a:p>
            <a:r>
              <a:t>            "여성비율": "4.2"</a:t>
            </a:r>
          </a:p>
          <a:p>
            <a:r>
              <a:t>          },</a:t>
            </a:r>
          </a:p>
          <a:p>
            <a:r>
              <a:t>          {</a:t>
            </a:r>
          </a:p>
          <a:p>
            <a:r>
              <a:t>            "연령대": "20~29세",</a:t>
            </a:r>
          </a:p>
          <a:p>
            <a:r>
              <a:t>            "축제명": "진도신비의바닷길축제",</a:t>
            </a:r>
          </a:p>
          <a:p>
            <a:r>
              <a:t>            "남성비율": "5.3",</a:t>
            </a:r>
          </a:p>
          <a:p>
            <a:r>
              <a:t>            "여성비율": "3.0"</a:t>
            </a:r>
          </a:p>
          <a:p>
            <a:r>
              <a:t>          },</a:t>
            </a:r>
          </a:p>
          <a:p>
            <a:r>
              <a:t>          {</a:t>
            </a:r>
          </a:p>
          <a:p>
            <a:r>
              <a:t>            "연령대": "10~19세",</a:t>
            </a:r>
          </a:p>
          <a:p>
            <a:r>
              <a:t>            "축제명": "진도신비의바닷길축제",</a:t>
            </a:r>
          </a:p>
          <a:p>
            <a:r>
              <a:t>            "남성비율": "1.3",</a:t>
            </a:r>
          </a:p>
          <a:p>
            <a:r>
              <a:t>            "여성비율": "1.3"</a:t>
            </a:r>
          </a:p>
          <a:p>
            <a:r>
              <a:t>          },</a:t>
            </a:r>
          </a:p>
          <a:p>
            <a:r>
              <a:t>          {</a:t>
            </a:r>
          </a:p>
          <a:p>
            <a:r>
              <a:t>            "연령대": "0~9세",</a:t>
            </a:r>
          </a:p>
          <a:p>
            <a:r>
              <a:t>            "축제명": "진도신비의바닷길축제",</a:t>
            </a:r>
          </a:p>
          <a:p>
            <a:r>
              <a:t>            "남성비율": "0.5",</a:t>
            </a:r>
          </a:p>
          <a:p>
            <a:r>
              <a:t>            "여성비율": "0.4"</a:t>
            </a:r>
          </a:p>
          <a:p>
            <a:r>
              <a:t>          }</a:t>
            </a:r>
          </a:p>
          <a:p>
            <a:r>
              <a:t>        ],</a:t>
            </a:r>
          </a:p>
          <a:p>
            <a:r>
              <a:t>        "audience_period": "다운로드 CSV에 연도 열 없음; 최신 개최연도와 자동 결합하지 않음",</a:t>
            </a:r>
          </a:p>
          <a:p>
            <a:r>
              <a:t>        "destination_examples": [</a:t>
            </a:r>
          </a:p>
          <a:p>
            <a:r>
              <a:t>          {</a:t>
            </a:r>
          </a:p>
          <a:p>
            <a:r>
              <a:t>            "구분": "외지인",</a:t>
            </a:r>
          </a:p>
          <a:p>
            <a:r>
              <a:t>            "순위": "1",</a:t>
            </a:r>
          </a:p>
          <a:p>
            <a:r>
              <a:t>            "목적지명": "진도신비의바닷길축제",</a:t>
            </a:r>
          </a:p>
          <a:p>
            <a:r>
              <a:t>            "도로명주소": "전남 진도군 신비의바닷길 74-0",</a:t>
            </a:r>
          </a:p>
          <a:p>
            <a:r>
              <a:t>            "카테고리": "기타문화관광지"</a:t>
            </a:r>
          </a:p>
          <a:p>
            <a:r>
              <a:t>          },</a:t>
            </a:r>
          </a:p>
          <a:p>
            <a:r>
              <a:t>          {</a:t>
            </a:r>
          </a:p>
          <a:p>
            <a:r>
              <a:t>            "구분": "외지인",</a:t>
            </a:r>
          </a:p>
          <a:p>
            <a:r>
              <a:t>            "순위": "2",</a:t>
            </a:r>
          </a:p>
          <a:p>
            <a:r>
              <a:t>            "목적지명": "진도신비의바닷길",</a:t>
            </a:r>
          </a:p>
          <a:p>
            <a:r>
              <a:t>            "도로명주소": "전남 진도군",</a:t>
            </a:r>
          </a:p>
          <a:p>
            <a:r>
              <a:t>            "카테고리": "테마공원"</a:t>
            </a:r>
          </a:p>
          <a:p>
            <a:r>
              <a:t>          },</a:t>
            </a:r>
          </a:p>
          <a:p>
            <a:r>
              <a:t>          {</a:t>
            </a:r>
          </a:p>
          <a:p>
            <a:r>
              <a:t>            "구분": "외지인",</a:t>
            </a:r>
          </a:p>
          <a:p>
            <a:r>
              <a:t>            "순위": "3",</a:t>
            </a:r>
          </a:p>
          <a:p>
            <a:r>
              <a:t>            "목적지명": "가계해변",</a:t>
            </a:r>
          </a:p>
          <a:p>
            <a:r>
              <a:t>            "도로명주소": "전남 진도군 신비의바닷길 0-0",</a:t>
            </a:r>
          </a:p>
          <a:p>
            <a:r>
              <a:t>            "카테고리": "자연경관(하천/해양)"</a:t>
            </a:r>
          </a:p>
          <a:p>
            <a:r>
              <a:t>          }</a:t>
            </a:r>
          </a:p>
          <a:p>
            <a:r>
              <a:t>        ],</a:t>
            </a:r>
          </a:p>
          <a:p>
            <a:r>
              <a:t>        "destination_period": "다운로드 CSV에 연도 열 없음; 주변 검색 후보이며 제휴·실제 방문 증거 아님"</a:t>
            </a:r>
          </a:p>
          <a:p>
            <a:r>
              <a:t>      },</a:t>
            </a:r>
          </a:p>
          <a:p>
            <a:r>
              <a:t>      "retrieval_basis": {</a:t>
            </a:r>
          </a:p>
          <a:p>
            <a:r>
              <a:t>        "kind": "external_benchmark",</a:t>
            </a:r>
          </a:p>
          <a:p>
            <a:r>
              <a:t>        "score": 31,</a:t>
            </a:r>
          </a:p>
          <a:p>
            <a:r>
              <a:t>        "components": {</a:t>
            </a:r>
          </a:p>
          <a:p>
            <a:r>
              <a:t>          "방문 전망 조사: 외지인·일평균 동반 증가": 15,</a:t>
            </a:r>
          </a:p>
          <a:p>
            <a:r>
              <a:t>          "최근 개최연도": 6,</a:t>
            </a:r>
          </a:p>
          <a:p>
            <a:r>
              <a:t>          "방문 실적 비교 가능": 10</a:t>
            </a:r>
          </a:p>
          <a:p>
            <a:r>
              <a:t>        },</a:t>
            </a:r>
          </a:p>
          <a:p>
            <a:r>
              <a:t>        "theme": "자연·야외",</a:t>
            </a:r>
          </a:p>
          <a:p>
            <a:r>
              <a:t>        "priority_signal": "visit",</a:t>
            </a:r>
          </a:p>
          <a:p>
            <a:r>
              <a:t>        "rule": "함수 기반 조사 우선순위. 사업효과·인구/환경 유사도 점수가 아니며 소비·체류 개선은 조사 가설이다."</a:t>
            </a:r>
          </a:p>
          <a:p>
            <a:r>
              <a:t>      },</a:t>
            </a:r>
          </a:p>
          <a:p>
            <a:r>
              <a:t>      "source_files": [</a:t>
            </a:r>
          </a:p>
          <a:p>
            <a:r>
              <a:t>        {</a:t>
            </a:r>
          </a:p>
          <a:p>
            <a:r>
              <a:t>          "sha256": "3cf7484d808e807aeffda7504a3d316839b9220f0f7a72550f5387af3ee3f8d9",</a:t>
            </a:r>
          </a:p>
          <a:p>
            <a:r>
              <a:t>          "provider": "한국관광 데이터랩",</a:t>
            </a:r>
          </a:p>
          <a:p>
            <a:r>
              <a:t>          "file_name": "20260820182448_진도신비의바닷길축제_연도별 방문자 추이.csv",</a:t>
            </a:r>
          </a:p>
          <a:p>
            <a:r>
              <a:t>          "source_id": "festival-file:3cf7484d808e807aeffd",</a:t>
            </a:r>
          </a:p>
          <a:p>
            <a:r>
              <a:t>          "source_url": "https://datalab.visitkorea.or.kr/",</a:t>
            </a:r>
          </a:p>
          <a:p>
            <a:r>
              <a:t>          "downloaded_at": "2026-08-20",</a:t>
            </a:r>
          </a:p>
          <a:p>
            <a:r>
              <a:t>          "relative_path": "data/source_snapshots/festivals_20260820/69. 진도신비의바닷길축제_2023-2025/20260820182448_진도신비의바닷길축제_연도별 방문자 추이.csv",</a:t>
            </a:r>
          </a:p>
          <a:p>
            <a:r>
              <a:t>          "provenance_status": "team_download_exact_query_url_unrecorded"</a:t>
            </a:r>
          </a:p>
          <a:p>
            <a:r>
              <a:t>        },</a:t>
            </a:r>
          </a:p>
          <a:p>
            <a:r>
              <a:t>        {</a:t>
            </a:r>
          </a:p>
          <a:p>
            <a:r>
              <a:t>          "sha256": "cb3424e725c84352d81fdb987f6d3ade162f54f63a9590ac8730dddcfcc48ed7",</a:t>
            </a:r>
          </a:p>
          <a:p>
            <a:r>
              <a:t>          "provider": "한국관광 데이터랩",</a:t>
            </a:r>
          </a:p>
          <a:p>
            <a:r>
              <a:t>          "file_name": "20260820182448_진도신비의바닷길축제_성_연령별 내국인 방문자.csv",</a:t>
            </a:r>
          </a:p>
          <a:p>
            <a:r>
              <a:t>          "source_id": "festival-file:cb3424e725c84352d81f",</a:t>
            </a:r>
          </a:p>
          <a:p>
            <a:r>
              <a:t>          "source_url": "https://datalab.visitkorea.or.kr/",</a:t>
            </a:r>
          </a:p>
          <a:p>
            <a:r>
              <a:t>          "downloaded_at": "2026-08-20",</a:t>
            </a:r>
          </a:p>
          <a:p>
            <a:r>
              <a:t>          "relative_path": "data/source_snapshots/festivals_20260820/69. 진도신비의바닷길축제_2023-2025/20260820182448_진도신비의바닷길축제_성_연령별 내국인 방문자.csv",</a:t>
            </a:r>
          </a:p>
          <a:p>
            <a:r>
              <a:t>          "provenance_status": "team_download_exact_query_url_unrecorded"</a:t>
            </a:r>
          </a:p>
          <a:p>
            <a:r>
              <a:t>        },</a:t>
            </a:r>
          </a:p>
          <a:p>
            <a:r>
              <a:t>        {</a:t>
            </a:r>
          </a:p>
          <a:p>
            <a:r>
              <a:t>          "sha256": "c9332a0e0d15d1550b1b545b8b739cc6a919a13ca701800d87203b06b2fecd46",</a:t>
            </a:r>
          </a:p>
          <a:p>
            <a:r>
              <a:t>          "provider": "한국관광 데이터랩",</a:t>
            </a:r>
          </a:p>
          <a:p>
            <a:r>
              <a:t>          "file_name": "20260820182448_진도신비의바닷길축제_문화관광축제 주요 지표.csv",</a:t>
            </a:r>
          </a:p>
          <a:p>
            <a:r>
              <a:t>          "source_id": "festival-file:c9332a0e0d15d1550b1b",</a:t>
            </a:r>
          </a:p>
          <a:p>
            <a:r>
              <a:t>          "source_url": "https://datalab.visitkorea.or.kr/",</a:t>
            </a:r>
          </a:p>
          <a:p>
            <a:r>
              <a:t>          "downloaded_at": "2026-08-20",</a:t>
            </a:r>
          </a:p>
          <a:p>
            <a:r>
              <a:t>          "relative_path": "data/source_snapshots/festivals_20260820/69. 진도신비의바닷길축제_2023-2025/20260820182448_진도신비의바닷길축제_문화관광축제 주요 지표.csv",</a:t>
            </a:r>
          </a:p>
          <a:p>
            <a:r>
              <a:t>          "provenance_status": "team_download_exact_query_url_unrecorded"</a:t>
            </a:r>
          </a:p>
          <a:p>
            <a:r>
              <a:t>        },</a:t>
            </a:r>
          </a:p>
          <a:p>
            <a:r>
              <a:t>        {</a:t>
            </a:r>
          </a:p>
          <a:p>
            <a:r>
              <a:t>          "sha256": "b8aa76a62ac8159da3b9234363c8c0026f70875997af88b4e750f2f6154c65ae",</a:t>
            </a:r>
          </a:p>
          <a:p>
            <a:r>
              <a:t>          "provider": "한국관광 데이터랩",</a:t>
            </a:r>
          </a:p>
          <a:p>
            <a:r>
              <a:t>          "file_name": "20260820182448_진도신비의바닷길축제_목적지 검색순위.csv",</a:t>
            </a:r>
          </a:p>
          <a:p>
            <a:r>
              <a:t>          "source_id": "festival-file:b8aa76a62ac8159da3b9",</a:t>
            </a:r>
          </a:p>
          <a:p>
            <a:r>
              <a:t>          "source_url": "https://datalab.visitkorea.or.kr/",</a:t>
            </a:r>
          </a:p>
          <a:p>
            <a:r>
              <a:t>          "downloaded_at": "2026-08-20",</a:t>
            </a:r>
          </a:p>
          <a:p>
            <a:r>
              <a:t>          "relative_path": "data/source_snapshots/festivals_20260820/69. 진도신비의바닷길축제_2023-2025/20260820182448_진도신비의바닷길축제_목적지 검색순위.csv",</a:t>
            </a:r>
          </a:p>
          <a:p>
            <a:r>
              <a:t>          "provenance_status": "team_download_exact_query_url_unrecorded"</a:t>
            </a:r>
          </a:p>
          <a:p>
            <a:r>
              <a:t>        }</a:t>
            </a:r>
          </a:p>
          <a:p>
            <a:r>
              <a:t>      ],</a:t>
            </a:r>
          </a:p>
          <a:p>
            <a:r>
              <a:t>      "dataset_hash": "ad20e3daf70fd44fd481d672398c07bb9c96fce77acb450784065a568735e2e2",</a:t>
            </a:r>
          </a:p>
          <a:p>
            <a:r>
              <a:t>      "measurement_period": "2023~2025년 각 축제 개최기간",</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a:t>
            </a:r>
          </a:p>
          <a:p>
            <a:r>
              <a:t>    {</a:t>
            </a:r>
          </a:p>
          <a:p>
            <a:r>
              <a:t>      "source_id": "case:festival:1ffc3eec28956a",</a:t>
            </a:r>
          </a:p>
          <a:p>
            <a:r>
              <a:t>      "source_type": "benchmark_case",</a:t>
            </a:r>
          </a:p>
          <a:p>
            <a:r>
              <a:t>      "title": "한국관광 데이터랩 · 통영한산대첩축제 방문자 추이",</a:t>
            </a:r>
          </a:p>
          <a:p>
            <a:r>
              <a:t>      "source_url": "https://datalab.visitkorea.or.kr/",</a:t>
            </a:r>
          </a:p>
          <a:p>
            <a:r>
              <a:t>      "published_or_updated_at": "2026-08-20",</a:t>
            </a:r>
          </a:p>
          <a:p>
            <a:r>
              <a:t>      "summary": "경상남도 통영시 · 통영한산대첩축제 · 2024→2025년 전체 93,221→124,718명 (+33.79%). 개최 6→7일, 일평균 +14.67%, 외지인 +33.21%.",</a:t>
            </a:r>
          </a:p>
          <a:p>
            <a:r>
              <a:t>      "case_region": "경상남도 통영시",</a:t>
            </a:r>
          </a:p>
          <a:p>
            <a:r>
              <a:t>      "intervention": "통영한산대첩축제",</a:t>
            </a:r>
          </a:p>
          <a:p>
            <a:r>
              <a:t>      "operating_model": "통영한산대첩축제를 2025년 7일 개최한 문화관광축제 운영 사례. 세부 프로그램·예약·혜택은 이 CSV에 기록되어 있지 않으며 새로운 운영안은 제안으로 구분한다.",</a:t>
            </a:r>
          </a:p>
          <a:p>
            <a:r>
              <a:t>      "evidence_strength": "medium",</a:t>
            </a:r>
          </a:p>
          <a:p>
            <a:r>
              <a:t>      "quantitative_result_approved": true,</a:t>
            </a:r>
          </a:p>
          <a:p>
            <a:r>
              <a:t>      "document_type": "case_study",</a:t>
            </a:r>
          </a:p>
          <a:p>
            <a:r>
              <a:t>      "retrieval_method": "datalab_festival_table",</a:t>
            </a:r>
          </a:p>
          <a:p>
            <a:r>
              <a:t>      "retrieval_context": {</a:t>
            </a:r>
          </a:p>
          <a:p>
            <a:r>
              <a:t>        "scope": "cross_province",</a:t>
            </a:r>
          </a:p>
          <a:p>
            <a:r>
              <a:t>        "peer_region_code": null</a:t>
            </a:r>
          </a:p>
          <a:p>
            <a:r>
              <a:t>      },</a:t>
            </a:r>
          </a:p>
          <a:p>
            <a:r>
              <a:t>      "observed_result": "2024→2025년 전체 93,221→124,718명 (+33.79%). 개최 6→7일, 일평균 +14.67%, 외지인 +33.21%.",</a:t>
            </a:r>
          </a:p>
          <a:p>
            <a:r>
              <a:t>      "operating_statistics": [],</a:t>
            </a:r>
          </a:p>
          <a:p>
            <a:r>
              <a:t>      "evidence_kind": "festival_statistics",</a:t>
            </a:r>
          </a:p>
          <a:p>
            <a:r>
              <a:t>      "festival_statistics": {</a:t>
            </a:r>
          </a:p>
          <a:p>
            <a:r>
              <a:t>        "name": "통영한산대첩축제",</a:t>
            </a:r>
          </a:p>
          <a:p>
            <a:r>
              <a:t>        "annual": [</a:t>
            </a:r>
          </a:p>
          <a:p>
            <a:r>
              <a:t>          {</a:t>
            </a:r>
          </a:p>
          <a:p>
            <a:r>
              <a:t>            "days": 9,</a:t>
            </a:r>
          </a:p>
          <a:p>
            <a:r>
              <a:t>            "year": 2023,</a:t>
            </a:r>
          </a:p>
          <a:p>
            <a:r>
              <a:t>            "daily": 11745.444444444443,</a:t>
            </a:r>
          </a:p>
          <a:p>
            <a:r>
              <a:t>            "local": 57810,</a:t>
            </a:r>
          </a:p>
          <a:p>
            <a:r>
              <a:t>            "total": 105709,</a:t>
            </a:r>
          </a:p>
          <a:p>
            <a:r>
              <a:t>            "foreign": 455,</a:t>
            </a:r>
          </a:p>
          <a:p>
            <a:r>
              <a:t>            "outside": 47444,</a:t>
            </a:r>
          </a:p>
          <a:p>
            <a:r>
              <a:t>            "outside_daily": 5271.555555555556,</a:t>
            </a:r>
          </a:p>
          <a:p>
            <a:r>
              <a:t>            "outside_share_pct": 44.88170354463669</a:t>
            </a:r>
          </a:p>
          <a:p>
            <a:r>
              <a:t>          },</a:t>
            </a:r>
          </a:p>
          <a:p>
            <a:r>
              <a:t>          {</a:t>
            </a:r>
          </a:p>
          <a:p>
            <a:r>
              <a:t>            "days": 6,</a:t>
            </a:r>
          </a:p>
          <a:p>
            <a:r>
              <a:t>            "year": 2024,</a:t>
            </a:r>
          </a:p>
          <a:p>
            <a:r>
              <a:t>            "daily": 15536.833333333334,</a:t>
            </a:r>
          </a:p>
          <a:p>
            <a:r>
              <a:t>            "local": 52493,</a:t>
            </a:r>
          </a:p>
          <a:p>
            <a:r>
              <a:t>            "total": 93221,</a:t>
            </a:r>
          </a:p>
          <a:p>
            <a:r>
              <a:t>            "foreign": 394,</a:t>
            </a:r>
          </a:p>
          <a:p>
            <a:r>
              <a:t>            "outside": 40334,</a:t>
            </a:r>
          </a:p>
          <a:p>
            <a:r>
              <a:t>            "outside_daily": 6722.333333333333,</a:t>
            </a:r>
          </a:p>
          <a:p>
            <a:r>
              <a:t>            "outside_share_pct": 43.26707501528625</a:t>
            </a:r>
          </a:p>
          <a:p>
            <a:r>
              <a:t>          },</a:t>
            </a:r>
          </a:p>
          <a:p>
            <a:r>
              <a:t>          {</a:t>
            </a:r>
          </a:p>
          <a:p>
            <a:r>
              <a:t>            "days": 7,</a:t>
            </a:r>
          </a:p>
          <a:p>
            <a:r>
              <a:t>            "year": 2025,</a:t>
            </a:r>
          </a:p>
          <a:p>
            <a:r>
              <a:t>            "daily": 17816.85714285714,</a:t>
            </a:r>
          </a:p>
          <a:p>
            <a:r>
              <a:t>            "local": 70201,</a:t>
            </a:r>
          </a:p>
          <a:p>
            <a:r>
              <a:t>            "total": 124718,</a:t>
            </a:r>
          </a:p>
          <a:p>
            <a:r>
              <a:t>            "foreign": 787,</a:t>
            </a:r>
          </a:p>
          <a:p>
            <a:r>
              <a:t>            "outside": 53730,</a:t>
            </a:r>
          </a:p>
          <a:p>
            <a:r>
              <a:t>            "outside_daily": 7675.714285714285,</a:t>
            </a:r>
          </a:p>
          <a:p>
            <a:r>
              <a:t>            "outside_share_pct": 43.08119116727337</a:t>
            </a:r>
          </a:p>
          <a:p>
            <a:r>
              <a:t>          }</a:t>
            </a:r>
          </a:p>
          <a:p>
            <a:r>
              <a:t>        ],</a:t>
            </a:r>
          </a:p>
          <a:p>
            <a:r>
              <a:t>        "comparison": {</a:t>
            </a:r>
          </a:p>
          <a:p>
            <a:r>
              <a:t>          "daily": {</a:t>
            </a:r>
          </a:p>
          <a:p>
            <a:r>
              <a:t>            "after": 17816.85714285714,</a:t>
            </a:r>
          </a:p>
          <a:p>
            <a:r>
              <a:t>            "before": 15536.833333333334,</a:t>
            </a:r>
          </a:p>
          <a:p>
            <a:r>
              <a:t>            "change_pct": 14.674958278867244,</a:t>
            </a:r>
          </a:p>
          <a:p>
            <a:r>
              <a:t>            "difference": 2280.0238095238074</a:t>
            </a:r>
          </a:p>
          <a:p>
            <a:r>
              <a:t>          },</a:t>
            </a:r>
          </a:p>
          <a:p>
            <a:r>
              <a:t>          "total": {</a:t>
            </a:r>
          </a:p>
          <a:p>
            <a:r>
              <a:t>            "after": 124718,</a:t>
            </a:r>
          </a:p>
          <a:p>
            <a:r>
              <a:t>            "before": 93221,</a:t>
            </a:r>
          </a:p>
          <a:p>
            <a:r>
              <a:t>            "change_pct": 33.78745132534515,</a:t>
            </a:r>
          </a:p>
          <a:p>
            <a:r>
              <a:t>            "difference": 31497</a:t>
            </a:r>
          </a:p>
          <a:p>
            <a:r>
              <a:t>          },</a:t>
            </a:r>
          </a:p>
          <a:p>
            <a:r>
              <a:t>          "outside": {</a:t>
            </a:r>
          </a:p>
          <a:p>
            <a:r>
              <a:t>            "after": 53730,</a:t>
            </a:r>
          </a:p>
          <a:p>
            <a:r>
              <a:t>            "before": 40334,</a:t>
            </a:r>
          </a:p>
          <a:p>
            <a:r>
              <a:t>            "change_pct": 33.21267417067486,</a:t>
            </a:r>
          </a:p>
          <a:p>
            <a:r>
              <a:t>            "difference": 13396</a:t>
            </a:r>
          </a:p>
          <a:p>
            <a:r>
              <a:t>          },</a:t>
            </a:r>
          </a:p>
          <a:p>
            <a:r>
              <a:t>          "after_days": 7,</a:t>
            </a:r>
          </a:p>
          <a:p>
            <a:r>
              <a:t>          "after_year": 2025,</a:t>
            </a:r>
          </a:p>
          <a:p>
            <a:r>
              <a:t>          "before_days": 6,</a:t>
            </a:r>
          </a:p>
          <a:p>
            <a:r>
              <a:t>          "before_year": 2024,</a:t>
            </a:r>
          </a:p>
          <a:p>
            <a:r>
              <a:t>          "outside_daily": {</a:t>
            </a:r>
          </a:p>
          <a:p>
            <a:r>
              <a:t>            "after": 7675.714285714285,</a:t>
            </a:r>
          </a:p>
          <a:p>
            <a:r>
              <a:t>            "before": 6722.333333333333,</a:t>
            </a:r>
          </a:p>
          <a:p>
            <a:r>
              <a:t>            "change_pct": 14.182292146292742,</a:t>
            </a:r>
          </a:p>
          <a:p>
            <a:r>
              <a:t>            "difference": 953.3809523809524</a:t>
            </a:r>
          </a:p>
          <a:p>
            <a:r>
              <a:t>          }</a:t>
            </a:r>
          </a:p>
          <a:p>
            <a:r>
              <a:t>        },</a:t>
            </a:r>
          </a:p>
          <a:p>
            <a:r>
              <a:t>        "scope": "축제 관측구역 방문 지표. 도시 전체·순증 관광객·입장권 실구매자 수가 아님.",</a:t>
            </a:r>
          </a:p>
          <a:p>
            <a:r>
              <a:t>        "region_basis": "목적지 검색 CSV의 시도+시군구 최빈 주소; 행사장 행정경계 확정은 아님",</a:t>
            </a:r>
          </a:p>
          <a:p>
            <a:r>
              <a:t>        "source_file": {</a:t>
            </a:r>
          </a:p>
          <a:p>
            <a:r>
              <a:t>          "sha256": "ec35e7537d4da1ed72dd60617fec143558f280299aeb303bc8b7a1036ecc73f0",</a:t>
            </a:r>
          </a:p>
          <a:p>
            <a:r>
              <a:t>          "provider": "한국관광 데이터랩",</a:t>
            </a:r>
          </a:p>
          <a:p>
            <a:r>
              <a:t>          "file_name": "20260820183544_통영한산대첩축제_연도별 방문자 추이.csv",</a:t>
            </a:r>
          </a:p>
          <a:p>
            <a:r>
              <a:t>          "source_id": "festival-file:ec35e7537d4da1ed72dd",</a:t>
            </a:r>
          </a:p>
          <a:p>
            <a:r>
              <a:t>          "source_url": "https://datalab.visitkorea.or.kr/",</a:t>
            </a:r>
          </a:p>
          <a:p>
            <a:r>
              <a:t>          "downloaded_at": "2026-08-20",</a:t>
            </a:r>
          </a:p>
          <a:p>
            <a:r>
              <a:t>          "relative_path": "data/source_snapshots/festivals_20260820/81. 통영한산대첩축제_2023-2025/20260820183544_통영한산대첩축제_연도별 방문자 추이.csv",</a:t>
            </a:r>
          </a:p>
          <a:p>
            <a:r>
              <a:t>          "provenance_status": "team_download_exact_query_url_unrecorded"</a:t>
            </a:r>
          </a:p>
          <a:p>
            <a:r>
              <a:t>        },</a:t>
            </a:r>
          </a:p>
          <a:p>
            <a:r>
              <a:t>        "indicator_values": [</a:t>
            </a:r>
          </a:p>
          <a:p>
            <a:r>
              <a:t>          {</a:t>
            </a:r>
          </a:p>
          <a:p>
            <a:r>
              <a:t>            "구분명": "외부방문자 유입",</a:t>
            </a:r>
          </a:p>
          <a:p>
            <a:r>
              <a:t>            "그룹명": "축제기간",</a:t>
            </a:r>
          </a:p>
          <a:p>
            <a:r>
              <a:t>            "지표값": "0.309",</a:t>
            </a:r>
          </a:p>
          <a:p>
            <a:r>
              <a:t>            "축제명": "통영한산대첩축제",</a:t>
            </a:r>
          </a:p>
          <a:p>
            <a:r>
              <a:t>            "개최년도": "2025"</a:t>
            </a:r>
          </a:p>
          <a:p>
            <a:r>
              <a:t>          },</a:t>
            </a:r>
          </a:p>
          <a:p>
            <a:r>
              <a:t>          {</a:t>
            </a:r>
          </a:p>
          <a:p>
            <a:r>
              <a:t>            "구분명": "현지인방문자 유입",</a:t>
            </a:r>
          </a:p>
          <a:p>
            <a:r>
              <a:t>            "그룹명": "축제기간",</a:t>
            </a:r>
          </a:p>
          <a:p>
            <a:r>
              <a:t>            "지표값": "0.731",</a:t>
            </a:r>
          </a:p>
          <a:p>
            <a:r>
              <a:t>            "축제명": "통영한산대첩축제",</a:t>
            </a:r>
          </a:p>
          <a:p>
            <a:r>
              <a:t>            "개최년도": "2025"</a:t>
            </a:r>
          </a:p>
          <a:p>
            <a:r>
              <a:t>          },</a:t>
            </a:r>
          </a:p>
          <a:p>
            <a:r>
              <a:t>          {</a:t>
            </a:r>
          </a:p>
          <a:p>
            <a:r>
              <a:t>            "구분명": "내비게이션 검색량",</a:t>
            </a:r>
          </a:p>
          <a:p>
            <a:r>
              <a:t>            "그룹명": "축제기간",</a:t>
            </a:r>
          </a:p>
          <a:p>
            <a:r>
              <a:t>            "지표값": "0.228",</a:t>
            </a:r>
          </a:p>
          <a:p>
            <a:r>
              <a:t>            "축제명": "통영한산대첩축제",</a:t>
            </a:r>
          </a:p>
          <a:p>
            <a:r>
              <a:t>            "개최년도": "2025"</a:t>
            </a:r>
          </a:p>
          <a:p>
            <a:r>
              <a:t>          },</a:t>
            </a:r>
          </a:p>
          <a:p>
            <a:r>
              <a:t>          {</a:t>
            </a:r>
          </a:p>
          <a:p>
            <a:r>
              <a:t>            "구분명": "관광소비",</a:t>
            </a:r>
          </a:p>
          <a:p>
            <a:r>
              <a:t>            "그룹명": "축제기간",</a:t>
            </a:r>
          </a:p>
          <a:p>
            <a:r>
              <a:t>            "지표값": "0.313",</a:t>
            </a:r>
          </a:p>
          <a:p>
            <a:r>
              <a:t>            "축제명": "통영한산대첩축제",</a:t>
            </a:r>
          </a:p>
          <a:p>
            <a:r>
              <a:t>            "개최년도": "2025"</a:t>
            </a:r>
          </a:p>
          <a:p>
            <a:r>
              <a:t>          },</a:t>
            </a:r>
          </a:p>
          <a:p>
            <a:r>
              <a:t>          {</a:t>
            </a:r>
          </a:p>
          <a:p>
            <a:r>
              <a:t>            "구분명": "축제지 집중률",</a:t>
            </a:r>
          </a:p>
          <a:p>
            <a:r>
              <a:t>            "그룹명": "축제기간",</a:t>
            </a:r>
          </a:p>
          <a:p>
            <a:r>
              <a:t>            "지표값": "0.766",</a:t>
            </a:r>
          </a:p>
          <a:p>
            <a:r>
              <a:t>            "축제명": "통영한산대첩축제",</a:t>
            </a:r>
          </a:p>
          <a:p>
            <a:r>
              <a:t>            "개최년도": "2025"</a:t>
            </a:r>
          </a:p>
          <a:p>
            <a:r>
              <a:t>          },</a:t>
            </a:r>
          </a:p>
          <a:p>
            <a:r>
              <a:t>          {</a:t>
            </a:r>
          </a:p>
          <a:p>
            <a:r>
              <a:t>            "구분명": "외부방문자 유입",</a:t>
            </a:r>
          </a:p>
          <a:p>
            <a:r>
              <a:t>            "그룹명": "비축제기간",</a:t>
            </a:r>
          </a:p>
          <a:p>
            <a:r>
              <a:t>            "지표값": "0.244",</a:t>
            </a:r>
          </a:p>
          <a:p>
            <a:r>
              <a:t>            "축제명": "통영한산대첩축제",</a:t>
            </a:r>
          </a:p>
          <a:p>
            <a:r>
              <a:t>            "개최년도": "2025"</a:t>
            </a:r>
          </a:p>
          <a:p>
            <a:r>
              <a:t>          },</a:t>
            </a:r>
          </a:p>
          <a:p>
            <a:r>
              <a:t>          {</a:t>
            </a:r>
          </a:p>
          <a:p>
            <a:r>
              <a:t>            "구분명": "현지인방문자 유입",</a:t>
            </a:r>
          </a:p>
          <a:p>
            <a:r>
              <a:t>            "그룹명": "비축제기간",</a:t>
            </a:r>
          </a:p>
          <a:p>
            <a:r>
              <a:t>            "지표값": "0.586",</a:t>
            </a:r>
          </a:p>
          <a:p>
            <a:r>
              <a:t>            "축제명": "통영한산대첩축제",</a:t>
            </a:r>
          </a:p>
          <a:p>
            <a:r>
              <a:t>            "개최년도": "2025"</a:t>
            </a:r>
          </a:p>
          <a:p>
            <a:r>
              <a:t>          },</a:t>
            </a:r>
          </a:p>
          <a:p>
            <a:r>
              <a:t>          {</a:t>
            </a:r>
          </a:p>
          <a:p>
            <a:r>
              <a:t>            "구분명": "내비게이션 검색량",</a:t>
            </a:r>
          </a:p>
          <a:p>
            <a:r>
              <a:t>            "그룹명": "비축제기간",</a:t>
            </a:r>
          </a:p>
          <a:p>
            <a:r>
              <a:t>            "지표값": "0.206",</a:t>
            </a:r>
          </a:p>
          <a:p>
            <a:r>
              <a:t>            "축제명": "통영한산대첩축제",</a:t>
            </a:r>
          </a:p>
          <a:p>
            <a:r>
              <a:t>            "개최년도": "2025"</a:t>
            </a:r>
          </a:p>
          <a:p>
            <a:r>
              <a:t>          },</a:t>
            </a:r>
          </a:p>
          <a:p>
            <a:r>
              <a:t>          {</a:t>
            </a:r>
          </a:p>
          <a:p>
            <a:r>
              <a:t>            "구분명": "관광소비",</a:t>
            </a:r>
          </a:p>
          <a:p>
            <a:r>
              <a:t>            "그룹명": "비축제기간",</a:t>
            </a:r>
          </a:p>
          <a:p>
            <a:r>
              <a:t>            "지표값": "0.312",</a:t>
            </a:r>
          </a:p>
          <a:p>
            <a:r>
              <a:t>            "축제명": "통영한산대첩축제",</a:t>
            </a:r>
          </a:p>
          <a:p>
            <a:r>
              <a:t>            "개최년도": "2025"</a:t>
            </a:r>
          </a:p>
          <a:p>
            <a:r>
              <a:t>          },</a:t>
            </a:r>
          </a:p>
          <a:p>
            <a:r>
              <a:t>          {</a:t>
            </a:r>
          </a:p>
          <a:p>
            <a:r>
              <a:t>            "구분명": "축제지 집중률",</a:t>
            </a:r>
          </a:p>
          <a:p>
            <a:r>
              <a:t>            "그룹명": "비축제기간",</a:t>
            </a:r>
          </a:p>
          <a:p>
            <a:r>
              <a:t>            "지표값": "0.595",</a:t>
            </a:r>
          </a:p>
          <a:p>
            <a:r>
              <a:t>            "축제명": "통영한산대첩축제",</a:t>
            </a:r>
          </a:p>
          <a:p>
            <a:r>
              <a:t>            "개최년도": "2025"</a:t>
            </a:r>
          </a:p>
          <a:p>
            <a:r>
              <a:t>          }</a:t>
            </a:r>
          </a:p>
          <a:p>
            <a:r>
              <a:t>        ],</a:t>
            </a:r>
          </a:p>
          <a:p>
            <a:r>
              <a:t>        "indicator_rule": "원본 지표값만 보존. 산식·단위 미확인으로 성장률/원화/정원/참여율 변환 금지.",</a:t>
            </a:r>
          </a:p>
          <a:p>
            <a:r>
              <a:t>        "audience": [</a:t>
            </a:r>
          </a:p>
          <a:p>
            <a:r>
              <a:t>          {</a:t>
            </a:r>
          </a:p>
          <a:p>
            <a:r>
              <a:t>            "연령대": "70세 이상",</a:t>
            </a:r>
          </a:p>
          <a:p>
            <a:r>
              <a:t>            "축제명": "통영한산대첩축제",</a:t>
            </a:r>
          </a:p>
          <a:p>
            <a:r>
              <a:t>            "남성비율": "5.2",</a:t>
            </a:r>
          </a:p>
          <a:p>
            <a:r>
              <a:t>            "여성비율": "5.7"</a:t>
            </a:r>
          </a:p>
          <a:p>
            <a:r>
              <a:t>          },</a:t>
            </a:r>
          </a:p>
          <a:p>
            <a:r>
              <a:t>          {</a:t>
            </a:r>
          </a:p>
          <a:p>
            <a:r>
              <a:t>            "연령대": "60~69세",</a:t>
            </a:r>
          </a:p>
          <a:p>
            <a:r>
              <a:t>            "축제명": "통영한산대첩축제",</a:t>
            </a:r>
          </a:p>
          <a:p>
            <a:r>
              <a:t>            "남성비율": "11.0",</a:t>
            </a:r>
          </a:p>
          <a:p>
            <a:r>
              <a:t>            "여성비율": "11.5"</a:t>
            </a:r>
          </a:p>
          <a:p>
            <a:r>
              <a:t>          },</a:t>
            </a:r>
          </a:p>
          <a:p>
            <a:r>
              <a:t>          {</a:t>
            </a:r>
          </a:p>
          <a:p>
            <a:r>
              <a:t>            "연령대": "50~59세",</a:t>
            </a:r>
          </a:p>
          <a:p>
            <a:r>
              <a:t>            "축제명": "통영한산대첩축제",</a:t>
            </a:r>
          </a:p>
          <a:p>
            <a:r>
              <a:t>            "남성비율": "11.1",</a:t>
            </a:r>
          </a:p>
          <a:p>
            <a:r>
              <a:t>            "여성비율": "10.9"</a:t>
            </a:r>
          </a:p>
          <a:p>
            <a:r>
              <a:t>          },</a:t>
            </a:r>
          </a:p>
          <a:p>
            <a:r>
              <a:t>          {</a:t>
            </a:r>
          </a:p>
          <a:p>
            <a:r>
              <a:t>            "연령대": "40~49세",</a:t>
            </a:r>
          </a:p>
          <a:p>
            <a:r>
              <a:t>            "축제명": "통영한산대첩축제",</a:t>
            </a:r>
          </a:p>
          <a:p>
            <a:r>
              <a:t>            "남성비율": "8.0",</a:t>
            </a:r>
          </a:p>
          <a:p>
            <a:r>
              <a:t>            "여성비율": "7.7"</a:t>
            </a:r>
          </a:p>
          <a:p>
            <a:r>
              <a:t>          },</a:t>
            </a:r>
          </a:p>
          <a:p>
            <a:r>
              <a:t>          {</a:t>
            </a:r>
          </a:p>
          <a:p>
            <a:r>
              <a:t>            "연령대": "30~39세",</a:t>
            </a:r>
          </a:p>
          <a:p>
            <a:r>
              <a:t>            "축제명": "통영한산대첩축제",</a:t>
            </a:r>
          </a:p>
          <a:p>
            <a:r>
              <a:t>            "남성비율": "6.3",</a:t>
            </a:r>
          </a:p>
          <a:p>
            <a:r>
              <a:t>            "여성비율": "5.6"</a:t>
            </a:r>
          </a:p>
          <a:p>
            <a:r>
              <a:t>          },</a:t>
            </a:r>
          </a:p>
          <a:p>
            <a:r>
              <a:t>          {</a:t>
            </a:r>
          </a:p>
          <a:p>
            <a:r>
              <a:t>            "연령대": "20~29세",</a:t>
            </a:r>
          </a:p>
          <a:p>
            <a:r>
              <a:t>            "축제명": "통영한산대첩축제",</a:t>
            </a:r>
          </a:p>
          <a:p>
            <a:r>
              <a:t>            "남성비율": "5.4",</a:t>
            </a:r>
          </a:p>
          <a:p>
            <a:r>
              <a:t>            "여성비율": "4.4"</a:t>
            </a:r>
          </a:p>
          <a:p>
            <a:r>
              <a:t>          },</a:t>
            </a:r>
          </a:p>
          <a:p>
            <a:r>
              <a:t>          {</a:t>
            </a:r>
          </a:p>
          <a:p>
            <a:r>
              <a:t>            "연령대": "10~19세",</a:t>
            </a:r>
          </a:p>
          <a:p>
            <a:r>
              <a:t>            "축제명": "통영한산대첩축제",</a:t>
            </a:r>
          </a:p>
          <a:p>
            <a:r>
              <a:t>            "남성비율": "2.8",</a:t>
            </a:r>
          </a:p>
          <a:p>
            <a:r>
              <a:t>            "여성비율": "3.1"</a:t>
            </a:r>
          </a:p>
          <a:p>
            <a:r>
              <a:t>          },</a:t>
            </a:r>
          </a:p>
          <a:p>
            <a:r>
              <a:t>          {</a:t>
            </a:r>
          </a:p>
          <a:p>
            <a:r>
              <a:t>            "연령대": "0~9세",</a:t>
            </a:r>
          </a:p>
          <a:p>
            <a:r>
              <a:t>            "축제명": "통영한산대첩축제",</a:t>
            </a:r>
          </a:p>
          <a:p>
            <a:r>
              <a:t>            "남성비율": "0.5",</a:t>
            </a:r>
          </a:p>
          <a:p>
            <a:r>
              <a:t>            "여성비율": "0.6"</a:t>
            </a:r>
          </a:p>
          <a:p>
            <a:r>
              <a:t>          }</a:t>
            </a:r>
          </a:p>
          <a:p>
            <a:r>
              <a:t>        ],</a:t>
            </a:r>
          </a:p>
          <a:p>
            <a:r>
              <a:t>        "audience_period": "다운로드 CSV에 연도 열 없음; 최신 개최연도와 자동 결합하지 않음",</a:t>
            </a:r>
          </a:p>
          <a:p>
            <a:r>
              <a:t>        "destination_examples": [</a:t>
            </a:r>
          </a:p>
          <a:p>
            <a:r>
              <a:t>          {</a:t>
            </a:r>
          </a:p>
          <a:p>
            <a:r>
              <a:t>            "구분": "외지인",</a:t>
            </a:r>
          </a:p>
          <a:p>
            <a:r>
              <a:t>            "순위": "1",</a:t>
            </a:r>
          </a:p>
          <a:p>
            <a:r>
              <a:t>            "목적지명": "통영중앙전통시장",</a:t>
            </a:r>
          </a:p>
          <a:p>
            <a:r>
              <a:t>            "도로명주소": "경남 통영시 중앙시장1길 14-16",</a:t>
            </a:r>
          </a:p>
          <a:p>
            <a:r>
              <a:t>            "카테고리": "시장"</a:t>
            </a:r>
          </a:p>
          <a:p>
            <a:r>
              <a:t>          },</a:t>
            </a:r>
          </a:p>
          <a:p>
            <a:r>
              <a:t>          {</a:t>
            </a:r>
          </a:p>
          <a:p>
            <a:r>
              <a:t>            "구분": "외지인",</a:t>
            </a:r>
          </a:p>
          <a:p>
            <a:r>
              <a:t>            "순위": "2",</a:t>
            </a:r>
          </a:p>
          <a:p>
            <a:r>
              <a:t>            "목적지명": "동피랑벽화마을",</a:t>
            </a:r>
          </a:p>
          <a:p>
            <a:r>
              <a:t>            "도로명주소": "경남 통영시 동피랑1길 6-18",</a:t>
            </a:r>
          </a:p>
          <a:p>
            <a:r>
              <a:t>            "카테고리": "기타관광"</a:t>
            </a:r>
          </a:p>
          <a:p>
            <a:r>
              <a:t>          },</a:t>
            </a:r>
          </a:p>
          <a:p>
            <a:r>
              <a:t>          {</a:t>
            </a:r>
          </a:p>
          <a:p>
            <a:r>
              <a:t>            "구분": "외지인",</a:t>
            </a:r>
          </a:p>
          <a:p>
            <a:r>
              <a:t>            "순위": "3",</a:t>
            </a:r>
          </a:p>
          <a:p>
            <a:r>
              <a:t>            "목적지명": "통영한산대첩축제(한산대첩광장)",</a:t>
            </a:r>
          </a:p>
          <a:p>
            <a:r>
              <a:t>            "도로명주소": "경남 통영시 통영해안로 267-0",</a:t>
            </a:r>
          </a:p>
          <a:p>
            <a:r>
              <a:t>            "카테고리": "기타문화관광지"</a:t>
            </a:r>
          </a:p>
          <a:p>
            <a:r>
              <a:t>          }</a:t>
            </a:r>
          </a:p>
          <a:p>
            <a:r>
              <a:t>        ],</a:t>
            </a:r>
          </a:p>
          <a:p>
            <a:r>
              <a:t>        "destination_period": "다운로드 CSV에 연도 열 없음; 주변 검색 후보이며 제휴·실제 방문 증거 아님"</a:t>
            </a:r>
          </a:p>
          <a:p>
            <a:r>
              <a:t>      },</a:t>
            </a:r>
          </a:p>
          <a:p>
            <a:r>
              <a:t>      "retrieval_basis": {</a:t>
            </a:r>
          </a:p>
          <a:p>
            <a:r>
              <a:t>        "kind": "external_benchmark",</a:t>
            </a:r>
          </a:p>
          <a:p>
            <a:r>
              <a:t>        "score": 31,</a:t>
            </a:r>
          </a:p>
          <a:p>
            <a:r>
              <a:t>        "components": {</a:t>
            </a:r>
          </a:p>
          <a:p>
            <a:r>
              <a:t>          "방문 전망 조사: 외지인·일평균 동반 증가": 15,</a:t>
            </a:r>
          </a:p>
          <a:p>
            <a:r>
              <a:t>          "최근 개최연도": 6,</a:t>
            </a:r>
          </a:p>
          <a:p>
            <a:r>
              <a:t>          "방문 실적 비교 가능": 10</a:t>
            </a:r>
          </a:p>
          <a:p>
            <a:r>
              <a:t>        },</a:t>
            </a:r>
          </a:p>
          <a:p>
            <a:r>
              <a:t>        "theme": "지역문화",</a:t>
            </a:r>
          </a:p>
          <a:p>
            <a:r>
              <a:t>        "priority_signal": "visit",</a:t>
            </a:r>
          </a:p>
          <a:p>
            <a:r>
              <a:t>        "rule": "함수 기반 조사 우선순위. 사업효과·인구/환경 유사도 점수가 아니며 소비·체류 개선은 조사 가설이다."</a:t>
            </a:r>
          </a:p>
          <a:p>
            <a:r>
              <a:t>      },</a:t>
            </a:r>
          </a:p>
          <a:p>
            <a:r>
              <a:t>      "source_files": [</a:t>
            </a:r>
          </a:p>
          <a:p>
            <a:r>
              <a:t>        {</a:t>
            </a:r>
          </a:p>
          <a:p>
            <a:r>
              <a:t>          "sha256": "ec35e7537d4da1ed72dd60617fec143558f280299aeb303bc8b7a1036ecc73f0",</a:t>
            </a:r>
          </a:p>
          <a:p>
            <a:r>
              <a:t>          "provider": "한국관광 데이터랩",</a:t>
            </a:r>
          </a:p>
          <a:p>
            <a:r>
              <a:t>          "file_name": "20260820183544_통영한산대첩축제_연도별 방문자 추이.csv",</a:t>
            </a:r>
          </a:p>
          <a:p>
            <a:r>
              <a:t>          "source_id": "festival-file:ec35e7537d4da1ed72dd",</a:t>
            </a:r>
          </a:p>
          <a:p>
            <a:r>
              <a:t>          "source_url": "https://datalab.visitkorea.or.kr/",</a:t>
            </a:r>
          </a:p>
          <a:p>
            <a:r>
              <a:t>          "downloaded_at": "2026-08-20",</a:t>
            </a:r>
          </a:p>
          <a:p>
            <a:r>
              <a:t>          "relative_path": "data/source_snapshots/festivals_20260820/81. 통영한산대첩축제_2023-2025/20260820183544_통영한산대첩축제_연도별 방문자 추이.csv",</a:t>
            </a:r>
          </a:p>
          <a:p>
            <a:r>
              <a:t>          "provenance_status": "team_download_exact_query_url_unrecorded"</a:t>
            </a:r>
          </a:p>
          <a:p>
            <a:r>
              <a:t>        },</a:t>
            </a:r>
          </a:p>
          <a:p>
            <a:r>
              <a:t>        {</a:t>
            </a:r>
          </a:p>
          <a:p>
            <a:r>
              <a:t>          "sha256": "77b41103f7ab3a48a3a94baa36227391bc47069fafcf8cc68a36662ec60fd43d",</a:t>
            </a:r>
          </a:p>
          <a:p>
            <a:r>
              <a:t>          "provider": "한국관광 데이터랩",</a:t>
            </a:r>
          </a:p>
          <a:p>
            <a:r>
              <a:t>          "file_name": "20260820183544_통영한산대첩축제_성_연령별 내국인 방문자.csv",</a:t>
            </a:r>
          </a:p>
          <a:p>
            <a:r>
              <a:t>          "source_id": "festival-file:77b41103f7ab3a48a3a9",</a:t>
            </a:r>
          </a:p>
          <a:p>
            <a:r>
              <a:t>          "source_url": "https://datalab.visitkorea.or.kr/",</a:t>
            </a:r>
          </a:p>
          <a:p>
            <a:r>
              <a:t>          "downloaded_at": "2026-08-20",</a:t>
            </a:r>
          </a:p>
          <a:p>
            <a:r>
              <a:t>          "relative_path": "data/source_snapshots/festivals_20260820/81. 통영한산대첩축제_2023-2025/20260820183544_통영한산대첩축제_성_연령별 내국인 방문자.csv",</a:t>
            </a:r>
          </a:p>
          <a:p>
            <a:r>
              <a:t>          "provenance_status": "team_download_exact_query_url_unrecorded"</a:t>
            </a:r>
          </a:p>
          <a:p>
            <a:r>
              <a:t>        },</a:t>
            </a:r>
          </a:p>
          <a:p>
            <a:r>
              <a:t>        {</a:t>
            </a:r>
          </a:p>
          <a:p>
            <a:r>
              <a:t>          "sha256": "5457f819bd8704a9d5b81a24337c2a40c45bbcf7435e0a751139a5457627bdd4",</a:t>
            </a:r>
          </a:p>
          <a:p>
            <a:r>
              <a:t>          "provider": "한국관광 데이터랩",</a:t>
            </a:r>
          </a:p>
          <a:p>
            <a:r>
              <a:t>          "file_name": "20260820183544_통영한산대첩축제_문화관광축제 주요 지표.csv",</a:t>
            </a:r>
          </a:p>
          <a:p>
            <a:r>
              <a:t>          "source_id": "festival-file:5457f819bd8704a9d5b8",</a:t>
            </a:r>
          </a:p>
          <a:p>
            <a:r>
              <a:t>          "source_url": "https://datalab.visitkorea.or.kr/",</a:t>
            </a:r>
          </a:p>
          <a:p>
            <a:r>
              <a:t>          "downloaded_at": "2026-08-20",</a:t>
            </a:r>
          </a:p>
          <a:p>
            <a:r>
              <a:t>          "relative_path": "data/source_snapshots/festivals_20260820/81. 통영한산대첩축제_2023-2025/20260820183544_통영한산대첩축제_문화관광축제 주요 지표.csv",</a:t>
            </a:r>
          </a:p>
          <a:p>
            <a:r>
              <a:t>          "provenance_status": "team_download_exact_query_url_unrecorded"</a:t>
            </a:r>
          </a:p>
          <a:p>
            <a:r>
              <a:t>        },</a:t>
            </a:r>
          </a:p>
          <a:p>
            <a:r>
              <a:t>        {</a:t>
            </a:r>
          </a:p>
          <a:p>
            <a:r>
              <a:t>          "sha256": "3b2a6e862dd8337a7616d3cdb3f568c6fdb24be706918eb7f02d965d625ca746",</a:t>
            </a:r>
          </a:p>
          <a:p>
            <a:r>
              <a:t>          "provider": "한국관광 데이터랩",</a:t>
            </a:r>
          </a:p>
          <a:p>
            <a:r>
              <a:t>          "file_name": "20260820183544_통영한산대첩축제_목적지 검색순위.csv",</a:t>
            </a:r>
          </a:p>
          <a:p>
            <a:r>
              <a:t>          "source_id": "festival-file:3b2a6e862dd8337a7616",</a:t>
            </a:r>
          </a:p>
          <a:p>
            <a:r>
              <a:t>          "source_url": "https://datalab.visitkorea.or.kr/",</a:t>
            </a:r>
          </a:p>
          <a:p>
            <a:r>
              <a:t>          "downloaded_at": "2026-08-20",</a:t>
            </a:r>
          </a:p>
          <a:p>
            <a:r>
              <a:t>          "relative_path": "data/source_snapshots/festivals_20260820/81. 통영한산대첩축제_2023-2025/20260820183544_통영한산대첩축제_목적지 검색순위.csv",</a:t>
            </a:r>
          </a:p>
          <a:p>
            <a:r>
              <a:t>          "provenance_status": "team_download_exact_query_url_unrecorded"</a:t>
            </a:r>
          </a:p>
          <a:p>
            <a:r>
              <a:t>        }</a:t>
            </a:r>
          </a:p>
          <a:p>
            <a:r>
              <a:t>      ],</a:t>
            </a:r>
          </a:p>
          <a:p>
            <a:r>
              <a:t>      "dataset_hash": "ad20e3daf70fd44fd481d672398c07bb9c96fce77acb450784065a568735e2e2",</a:t>
            </a:r>
          </a:p>
          <a:p>
            <a:r>
              <a:t>      "measurement_period": "2023~2025년 각 축제 개최기간",</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a:t>
            </a:r>
          </a:p>
          <a:p>
            <a:r>
              <a:t>    {</a:t>
            </a:r>
          </a:p>
          <a:p>
            <a:r>
              <a:t>      "source_id": "tour-api:2758252",</a:t>
            </a:r>
          </a:p>
          <a:p>
            <a:r>
              <a:t>      "source_type": "open_api",</a:t>
            </a:r>
          </a:p>
          <a:p>
            <a:r>
              <a:t>      "title": "남선공원",</a:t>
            </a:r>
          </a:p>
          <a:p>
            <a:r>
              <a:t>      "source_url": "https://apis.data.go.kr/B551011/KorService2",</a:t>
            </a:r>
          </a:p>
          <a:p>
            <a:r>
              <a:t>      "content_id": "2758252",</a:t>
            </a:r>
          </a:p>
          <a:p>
            <a:r>
              <a:t>      "content_type_id": "12",</a:t>
            </a:r>
          </a:p>
          <a:p>
            <a:r>
              <a:t>      "address": "대전광역시 서구 남선로 66",</a:t>
            </a:r>
          </a:p>
          <a:p>
            <a:r>
              <a:t>      "image_url": "http://tong.visitkorea.or.kr/cms/resource/24/3565624_image2_1.jpg",</a:t>
            </a:r>
          </a:p>
          <a:p>
            <a:r>
              <a:t>      "summary": "한국관광공사 국문관광정보 API가 반환한 선택 지역 관광자원"</a:t>
            </a:r>
          </a:p>
          <a:p>
            <a:r>
              <a:t>    }</a:t>
            </a:r>
          </a:p>
          <a:p>
            <a:r>
              <a:t>  ],</a:t>
            </a:r>
          </a:p>
          <a:p>
            <a:r>
              <a:t>  "selected_forecast": {</a:t>
            </a:r>
          </a:p>
          <a:p>
            <a:r>
              <a:t>    "rows": [</a:t>
            </a:r>
          </a:p>
          <a:p>
            <a:r>
              <a:t>      {</a:t>
            </a:r>
          </a:p>
          <a:p>
            <a:r>
              <a:t>        "month": "202610",</a:t>
            </a:r>
          </a:p>
          <a:p>
            <a:r>
              <a:t>        "visitors": 4998578.0,</a:t>
            </a:r>
          </a:p>
          <a:p>
            <a:r>
              <a:t>        "spending_krw": 79359374710.0,</a:t>
            </a:r>
          </a:p>
          <a:p>
            <a:r>
              <a:t>        "previous_year_visitors": 4949394,</a:t>
            </a:r>
          </a:p>
          <a:p>
            <a:r>
              <a:t>        "previous_year_spending_krw": 78158272000,</a:t>
            </a:r>
          </a:p>
          <a:p>
            <a:r>
              <a:t>        "visitor_yoy_percent": 0.99,</a:t>
            </a:r>
          </a:p>
          <a:p>
            <a:r>
              <a:t>        "spending_yoy_percent": 1.54,</a:t>
            </a:r>
          </a:p>
          <a:p>
            <a:r>
              <a:t>        "lodging_nights": 2.85,</a:t>
            </a:r>
          </a:p>
          <a:p>
            <a:r>
              <a:t>        "previous_year_lodging_nights": 2.85,</a:t>
            </a:r>
          </a:p>
          <a:p>
            <a:r>
              <a:t>        "lodging_rate_pct": 8.9,</a:t>
            </a:r>
          </a:p>
          <a:p>
            <a:r>
              <a:t>        "previous_year_lodging_rate_pct": 8.9,</a:t>
            </a:r>
          </a:p>
          <a:p>
            <a:r>
              <a:t>        "stay_minutes": 1170.0,</a:t>
            </a:r>
          </a:p>
          <a:p>
            <a:r>
              <a:t>        "previous_year_stay_minutes": 1170.0,</a:t>
            </a:r>
          </a:p>
          <a:p>
            <a:r>
              <a:t>        "navigation_searches": 237779,</a:t>
            </a:r>
          </a:p>
          <a:p>
            <a:r>
              <a:t>        "previous_year_navigation_searches": 324902,</a:t>
            </a:r>
          </a:p>
          <a:p>
            <a:r>
              <a:t>        "lodging_searches": 19187,</a:t>
            </a:r>
          </a:p>
          <a:p>
            <a:r>
              <a:t>        "previous_year_lodging_searches": 19187,</a:t>
            </a:r>
          </a:p>
          <a:p>
            <a:r>
              <a:t>        "metric_changes_percent": {</a:t>
            </a:r>
          </a:p>
          <a:p>
            <a:r>
              <a:t>          "lodging_nights": 0.0,</a:t>
            </a:r>
          </a:p>
          <a:p>
            <a:r>
              <a:t>          "lodging_rate_pct": 0.0,</a:t>
            </a:r>
          </a:p>
          <a:p>
            <a:r>
              <a:t>          "stay_minutes": 0.0,</a:t>
            </a:r>
          </a:p>
          <a:p>
            <a:r>
              <a:t>          "navigation_searches": -26.82,</a:t>
            </a:r>
          </a:p>
          <a:p>
            <a:r>
              <a:t>          "lodging_searches": 0.0</a:t>
            </a:r>
          </a:p>
          <a:p>
            <a:r>
              <a:t>        },</a:t>
            </a:r>
          </a:p>
          <a:p>
            <a:r>
              <a:t>        "is_forecast": true</a:t>
            </a:r>
          </a:p>
          <a:p>
            <a:r>
              <a:t>      },</a:t>
            </a:r>
          </a:p>
          <a:p>
            <a:r>
              <a:t>      {</a:t>
            </a:r>
          </a:p>
          <a:p>
            <a:r>
              <a:t>        "month": "202611",</a:t>
            </a:r>
          </a:p>
          <a:p>
            <a:r>
              <a:t>        "visitors": 4940348.0,</a:t>
            </a:r>
          </a:p>
          <a:p>
            <a:r>
              <a:t>        "spending_krw": 85971975908.0,</a:t>
            </a:r>
          </a:p>
          <a:p>
            <a:r>
              <a:t>        "previous_year_visitors": 5167969,</a:t>
            </a:r>
          </a:p>
          <a:p>
            <a:r>
              <a:t>        "previous_year_spending_krw": 76509918000,</a:t>
            </a:r>
          </a:p>
          <a:p>
            <a:r>
              <a:t>        "visitor_yoy_percent": -4.4,</a:t>
            </a:r>
          </a:p>
          <a:p>
            <a:r>
              <a:t>        "spending_yoy_percent": 12.37,</a:t>
            </a:r>
          </a:p>
          <a:p>
            <a:r>
              <a:t>        "lodging_nights": 2.79,</a:t>
            </a:r>
          </a:p>
          <a:p>
            <a:r>
              <a:t>        "previous_year_lodging_nights": 2.79,</a:t>
            </a:r>
          </a:p>
          <a:p>
            <a:r>
              <a:t>        "lodging_rate_pct": 6.5,</a:t>
            </a:r>
          </a:p>
          <a:p>
            <a:r>
              <a:t>        "previous_year_lodging_rate_pct": 6.5,</a:t>
            </a:r>
          </a:p>
          <a:p>
            <a:r>
              <a:t>        "stay_minutes": 987.0,</a:t>
            </a:r>
          </a:p>
          <a:p>
            <a:r>
              <a:t>        "previous_year_stay_minutes": 987.0,</a:t>
            </a:r>
          </a:p>
          <a:p>
            <a:r>
              <a:t>        "navigation_searches": 231894,</a:t>
            </a:r>
          </a:p>
          <a:p>
            <a:r>
              <a:t>        "previous_year_navigation_searches": 238728,</a:t>
            </a:r>
          </a:p>
          <a:p>
            <a:r>
              <a:t>        "lodging_searches": 14379,</a:t>
            </a:r>
          </a:p>
          <a:p>
            <a:r>
              <a:t>        "previous_year_lodging_searches": 14379,</a:t>
            </a:r>
          </a:p>
          <a:p>
            <a:r>
              <a:t>        "metric_changes_percent": {</a:t>
            </a:r>
          </a:p>
          <a:p>
            <a:r>
              <a:t>          "lodging_nights": 0.0,</a:t>
            </a:r>
          </a:p>
          <a:p>
            <a:r>
              <a:t>          "lodging_rate_pct": 0.0,</a:t>
            </a:r>
          </a:p>
          <a:p>
            <a:r>
              <a:t>          "stay_minutes": 0.0,</a:t>
            </a:r>
          </a:p>
          <a:p>
            <a:r>
              <a:t>          "navigation_searches": -2.86,</a:t>
            </a:r>
          </a:p>
          <a:p>
            <a:r>
              <a:t>          "lodging_searches": 0.0</a:t>
            </a:r>
          </a:p>
          <a:p>
            <a:r>
              <a:t>        },</a:t>
            </a:r>
          </a:p>
          <a:p>
            <a:r>
              <a:t>        "is_forecast": true</a:t>
            </a:r>
          </a:p>
          <a:p>
            <a:r>
              <a:t>      },</a:t>
            </a:r>
          </a:p>
          <a:p>
            <a:r>
              <a:t>      {</a:t>
            </a:r>
          </a:p>
          <a:p>
            <a:r>
              <a:t>        "month": "202612",</a:t>
            </a:r>
          </a:p>
          <a:p>
            <a:r>
              <a:t>        "visitors": 4989633.0,</a:t>
            </a:r>
          </a:p>
          <a:p>
            <a:r>
              <a:t>        "spending_krw": 81033922052.0,</a:t>
            </a:r>
          </a:p>
          <a:p>
            <a:r>
              <a:t>        "previous_year_visitors": 5079597,</a:t>
            </a:r>
          </a:p>
          <a:p>
            <a:r>
              <a:t>        "previous_year_spending_krw": 81119852000,</a:t>
            </a:r>
          </a:p>
          <a:p>
            <a:r>
              <a:t>        "visitor_yoy_percent": -1.77,</a:t>
            </a:r>
          </a:p>
          <a:p>
            <a:r>
              <a:t>        "spending_yoy_percent": -0.11,</a:t>
            </a:r>
          </a:p>
          <a:p>
            <a:r>
              <a:t>        "lodging_nights": 2.81,</a:t>
            </a:r>
          </a:p>
          <a:p>
            <a:r>
              <a:t>        "previous_year_lodging_nights": 2.81,</a:t>
            </a:r>
          </a:p>
          <a:p>
            <a:r>
              <a:t>        "lodging_rate_pct": 7.3,</a:t>
            </a:r>
          </a:p>
          <a:p>
            <a:r>
              <a:t>        "previous_year_lodging_rate_pct": 7.3,</a:t>
            </a:r>
          </a:p>
          <a:p>
            <a:r>
              <a:t>        "stay_minutes": 1118.0,</a:t>
            </a:r>
          </a:p>
          <a:p>
            <a:r>
              <a:t>        "previous_year_stay_minutes": 1118.0,</a:t>
            </a:r>
          </a:p>
          <a:p>
            <a:r>
              <a:t>        "navigation_searches": 225518,</a:t>
            </a:r>
          </a:p>
          <a:p>
            <a:r>
              <a:t>        "previous_year_navigation_searches": 220205,</a:t>
            </a:r>
          </a:p>
          <a:p>
            <a:r>
              <a:t>        "lodging_searches": 12004,</a:t>
            </a:r>
          </a:p>
          <a:p>
            <a:r>
              <a:t>        "previous_year_lodging_searches": 12004,</a:t>
            </a:r>
          </a:p>
          <a:p>
            <a:r>
              <a:t>        "metric_changes_percent": {</a:t>
            </a:r>
          </a:p>
          <a:p>
            <a:r>
              <a:t>          "lodging_nights": 0.0,</a:t>
            </a:r>
          </a:p>
          <a:p>
            <a:r>
              <a:t>          "lodging_rate_pct": 0.0,</a:t>
            </a:r>
          </a:p>
          <a:p>
            <a:r>
              <a:t>          "stay_minutes": 0.0,</a:t>
            </a:r>
          </a:p>
          <a:p>
            <a:r>
              <a:t>          "navigation_searches": 2.41,</a:t>
            </a:r>
          </a:p>
          <a:p>
            <a:r>
              <a:t>          "lodging_searches": 0.0</a:t>
            </a:r>
          </a:p>
          <a:p>
            <a:r>
              <a:t>        },</a:t>
            </a:r>
          </a:p>
          <a:p>
            <a:r>
              <a:t>        "is_forecast": true</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4982887,</a:t>
            </a:r>
          </a:p>
          <a:p>
            <a:r>
              <a:t>      "spending_krw": 80283647550,</a:t>
            </a:r>
          </a:p>
          <a:p>
            <a:r>
              <a:t>      "previous_year_visitors": 4951150,</a:t>
            </a:r>
          </a:p>
          <a:p>
            <a:r>
              <a:t>      "previous_year_spending_krw": 75135145000,</a:t>
            </a:r>
          </a:p>
          <a:p>
            <a:r>
              <a:t>      "visitor_yoy_percent": 0.64,</a:t>
            </a:r>
          </a:p>
          <a:p>
            <a:r>
              <a:t>      "spending_yoy_percent": 6.85,</a:t>
            </a:r>
          </a:p>
          <a:p>
            <a:r>
              <a:t>      "lodging_nights": 2.91,</a:t>
            </a:r>
          </a:p>
          <a:p>
            <a:r>
              <a:t>      "previous_year_lodging_nights": 2.91,</a:t>
            </a:r>
          </a:p>
          <a:p>
            <a:r>
              <a:t>      "lodging_rate_pct": 7.3,</a:t>
            </a:r>
          </a:p>
          <a:p>
            <a:r>
              <a:t>      "previous_year_lodging_rate_pct": 7.3,</a:t>
            </a:r>
          </a:p>
          <a:p>
            <a:r>
              <a:t>      "stay_minutes": 1223.0,</a:t>
            </a:r>
          </a:p>
          <a:p>
            <a:r>
              <a:t>      "previous_year_stay_minutes": 1223.0,</a:t>
            </a:r>
          </a:p>
          <a:p>
            <a:r>
              <a:t>      "navigation_searches": 209722,</a:t>
            </a:r>
          </a:p>
          <a:p>
            <a:r>
              <a:t>      "previous_year_navigation_searches": 210646,</a:t>
            </a:r>
          </a:p>
          <a:p>
            <a:r>
              <a:t>      "lodging_searches": 12843,</a:t>
            </a:r>
          </a:p>
          <a:p>
            <a:r>
              <a:t>      "previous_year_lodging_searches": 12843,</a:t>
            </a:r>
          </a:p>
          <a:p>
            <a:r>
              <a:t>      "metric_changes_percent": {</a:t>
            </a:r>
          </a:p>
          <a:p>
            <a:r>
              <a:t>        "lodging_nights": 0.0,</a:t>
            </a:r>
          </a:p>
          <a:p>
            <a:r>
              <a:t>        "lodging_rate_pct": 0.0,</a:t>
            </a:r>
          </a:p>
          <a:p>
            <a:r>
              <a:t>        "stay_minutes": 0.0,</a:t>
            </a:r>
          </a:p>
          <a:p>
            <a:r>
              <a:t>        "navigation_searches": -0.44,</a:t>
            </a:r>
          </a:p>
          <a:p>
            <a:r>
              <a:t>        "lodging_searches": 0.0</a:t>
            </a:r>
          </a:p>
          <a:p>
            <a:r>
              <a:t>      },</a:t>
            </a:r>
          </a:p>
          <a:p>
            <a:r>
              <a:t>      "is_forecast": true</a:t>
            </a:r>
          </a:p>
          <a:p>
            <a:r>
              <a:t>    },</a:t>
            </a:r>
          </a:p>
          <a:p>
            <a:r>
              <a:t>    {</a:t>
            </a:r>
          </a:p>
          <a:p>
            <a:r>
              <a:t>      "month": "202608",</a:t>
            </a:r>
          </a:p>
          <a:p>
            <a:r>
              <a:t>      "visitors": 4852547,</a:t>
            </a:r>
          </a:p>
          <a:p>
            <a:r>
              <a:t>      "spending_krw": 76665340753,</a:t>
            </a:r>
          </a:p>
          <a:p>
            <a:r>
              <a:t>      "previous_year_visitors": 4939438,</a:t>
            </a:r>
          </a:p>
          <a:p>
            <a:r>
              <a:t>      "previous_year_spending_krw": 76291079000,</a:t>
            </a:r>
          </a:p>
          <a:p>
            <a:r>
              <a:t>      "visitor_yoy_percent": -1.76,</a:t>
            </a:r>
          </a:p>
          <a:p>
            <a:r>
              <a:t>      "spending_yoy_percent": 0.49,</a:t>
            </a:r>
          </a:p>
          <a:p>
            <a:r>
              <a:t>      "lodging_nights": 2.84,</a:t>
            </a:r>
          </a:p>
          <a:p>
            <a:r>
              <a:t>      "previous_year_lodging_nights": 2.84,</a:t>
            </a:r>
          </a:p>
          <a:p>
            <a:r>
              <a:t>      "lodging_rate_pct": 7.9,</a:t>
            </a:r>
          </a:p>
          <a:p>
            <a:r>
              <a:t>      "previous_year_lodging_rate_pct": 7.9,</a:t>
            </a:r>
          </a:p>
          <a:p>
            <a:r>
              <a:t>      "stay_minutes": 1218.0,</a:t>
            </a:r>
          </a:p>
          <a:p>
            <a:r>
              <a:t>      "previous_year_stay_minutes": 1218.0,</a:t>
            </a:r>
          </a:p>
          <a:p>
            <a:r>
              <a:t>      "navigation_searches": 225159,</a:t>
            </a:r>
          </a:p>
          <a:p>
            <a:r>
              <a:t>      "previous_year_navigation_searches": 220742,</a:t>
            </a:r>
          </a:p>
          <a:p>
            <a:r>
              <a:t>      "lodging_searches": 13272,</a:t>
            </a:r>
          </a:p>
          <a:p>
            <a:r>
              <a:t>      "previous_year_lodging_searches": 13272,</a:t>
            </a:r>
          </a:p>
          <a:p>
            <a:r>
              <a:t>      "metric_changes_percent": {</a:t>
            </a:r>
          </a:p>
          <a:p>
            <a:r>
              <a:t>        "lodging_nights": 0.0,</a:t>
            </a:r>
          </a:p>
          <a:p>
            <a:r>
              <a:t>        "lodging_rate_pct": 0.0,</a:t>
            </a:r>
          </a:p>
          <a:p>
            <a:r>
              <a:t>        "stay_minutes": 0.0,</a:t>
            </a:r>
          </a:p>
          <a:p>
            <a:r>
              <a:t>        "navigation_searches": 2.0,</a:t>
            </a:r>
          </a:p>
          <a:p>
            <a:r>
              <a:t>        "lodging_searches": 0.0</a:t>
            </a:r>
          </a:p>
          <a:p>
            <a:r>
              <a:t>      },</a:t>
            </a:r>
          </a:p>
          <a:p>
            <a:r>
              <a:t>      "is_forecast": true</a:t>
            </a:r>
          </a:p>
          <a:p>
            <a:r>
              <a:t>    },</a:t>
            </a:r>
          </a:p>
          <a:p>
            <a:r>
              <a:t>    {</a:t>
            </a:r>
          </a:p>
          <a:p>
            <a:r>
              <a:t>      "month": "202609",</a:t>
            </a:r>
          </a:p>
          <a:p>
            <a:r>
              <a:t>      "visitors": 4823300,</a:t>
            </a:r>
          </a:p>
          <a:p>
            <a:r>
              <a:t>      "spending_krw": 80194062490,</a:t>
            </a:r>
          </a:p>
          <a:p>
            <a:r>
              <a:t>      "previous_year_visitors": 4842196,</a:t>
            </a:r>
          </a:p>
          <a:p>
            <a:r>
              <a:t>      "previous_year_spending_krw": 70764730000,</a:t>
            </a:r>
          </a:p>
          <a:p>
            <a:r>
              <a:t>      "visitor_yoy_percent": -0.39,</a:t>
            </a:r>
          </a:p>
          <a:p>
            <a:r>
              <a:t>      "spending_yoy_percent": 13.32,</a:t>
            </a:r>
          </a:p>
          <a:p>
            <a:r>
              <a:t>      "lodging_nights": 2.93,</a:t>
            </a:r>
          </a:p>
          <a:p>
            <a:r>
              <a:t>      "previous_year_lodging_nights": 2.93,</a:t>
            </a:r>
          </a:p>
          <a:p>
            <a:r>
              <a:t>      "lodging_rate_pct": 6.7,</a:t>
            </a:r>
          </a:p>
          <a:p>
            <a:r>
              <a:t>      "previous_year_lodging_rate_pct": 6.7,</a:t>
            </a:r>
          </a:p>
          <a:p>
            <a:r>
              <a:t>      "stay_minutes": 1281.0,</a:t>
            </a:r>
          </a:p>
          <a:p>
            <a:r>
              <a:t>      "previous_year_stay_minutes": 1281.0,</a:t>
            </a:r>
          </a:p>
          <a:p>
            <a:r>
              <a:t>      "navigation_searches": 206180,</a:t>
            </a:r>
          </a:p>
          <a:p>
            <a:r>
              <a:t>      "previous_year_navigation_searches": 191971,</a:t>
            </a:r>
          </a:p>
          <a:p>
            <a:r>
              <a:t>      "lodging_searches": 11464,</a:t>
            </a:r>
          </a:p>
          <a:p>
            <a:r>
              <a:t>      "previous_year_lodging_searches": 11464,</a:t>
            </a:r>
          </a:p>
          <a:p>
            <a:r>
              <a:t>      "metric_changes_percent": {</a:t>
            </a:r>
          </a:p>
          <a:p>
            <a:r>
              <a:t>        "lodging_nights": 0.0,</a:t>
            </a:r>
          </a:p>
          <a:p>
            <a:r>
              <a:t>        "lodging_rate_pct": 0.0,</a:t>
            </a:r>
          </a:p>
          <a:p>
            <a:r>
              <a:t>        "stay_minutes": 0.0,</a:t>
            </a:r>
          </a:p>
          <a:p>
            <a:r>
              <a:t>        "navigation_searches": 7.4,</a:t>
            </a:r>
          </a:p>
          <a:p>
            <a:r>
              <a:t>        "lodging_searches": 0.0</a:t>
            </a:r>
          </a:p>
          <a:p>
            <a:r>
              <a:t>      },</a:t>
            </a:r>
          </a:p>
          <a:p>
            <a:r>
              <a:t>      "is_forecast": true</a:t>
            </a:r>
          </a:p>
          <a:p>
            <a:r>
              <a:t>    },</a:t>
            </a:r>
          </a:p>
          <a:p>
            <a:r>
              <a:t>    {</a:t>
            </a:r>
          </a:p>
          <a:p>
            <a:r>
              <a:t>      "month": "202610",</a:t>
            </a:r>
          </a:p>
          <a:p>
            <a:r>
              <a:t>      "visitors": 4998578,</a:t>
            </a:r>
          </a:p>
          <a:p>
            <a:r>
              <a:t>      "spending_krw": 79359374710,</a:t>
            </a:r>
          </a:p>
          <a:p>
            <a:r>
              <a:t>      "previous_year_visitors": 4949394,</a:t>
            </a:r>
          </a:p>
          <a:p>
            <a:r>
              <a:t>      "previous_year_spending_krw": 78158272000,</a:t>
            </a:r>
          </a:p>
          <a:p>
            <a:r>
              <a:t>      "visitor_yoy_percent": 0.99,</a:t>
            </a:r>
          </a:p>
          <a:p>
            <a:r>
              <a:t>      "spending_yoy_percent": 1.54,</a:t>
            </a:r>
          </a:p>
          <a:p>
            <a:r>
              <a:t>      "lodging_nights": 2.85,</a:t>
            </a:r>
          </a:p>
          <a:p>
            <a:r>
              <a:t>      "previous_year_lodging_nights": 2.85,</a:t>
            </a:r>
          </a:p>
          <a:p>
            <a:r>
              <a:t>      "lodging_rate_pct": 8.9,</a:t>
            </a:r>
          </a:p>
          <a:p>
            <a:r>
              <a:t>      "previous_year_lodging_rate_pct": 8.9,</a:t>
            </a:r>
          </a:p>
          <a:p>
            <a:r>
              <a:t>      "stay_minutes": 1170.0,</a:t>
            </a:r>
          </a:p>
          <a:p>
            <a:r>
              <a:t>      "previous_year_stay_minutes": 1170.0,</a:t>
            </a:r>
          </a:p>
          <a:p>
            <a:r>
              <a:t>      "navigation_searches": 237779,</a:t>
            </a:r>
          </a:p>
          <a:p>
            <a:r>
              <a:t>      "previous_year_navigation_searches": 324902,</a:t>
            </a:r>
          </a:p>
          <a:p>
            <a:r>
              <a:t>      "lodging_searches": 19187,</a:t>
            </a:r>
          </a:p>
          <a:p>
            <a:r>
              <a:t>      "previous_year_lodging_searches": 19187,</a:t>
            </a:r>
          </a:p>
          <a:p>
            <a:r>
              <a:t>      "metric_changes_percent": {</a:t>
            </a:r>
          </a:p>
          <a:p>
            <a:r>
              <a:t>        "lodging_nights": 0.0,</a:t>
            </a:r>
          </a:p>
          <a:p>
            <a:r>
              <a:t>        "lodging_rate_pct": 0.0,</a:t>
            </a:r>
          </a:p>
          <a:p>
            <a:r>
              <a:t>        "stay_minutes": 0.0,</a:t>
            </a:r>
          </a:p>
          <a:p>
            <a:r>
              <a:t>        "navigation_searches": -26.82,</a:t>
            </a:r>
          </a:p>
          <a:p>
            <a:r>
              <a:t>        "lodging_searches": 0.0</a:t>
            </a:r>
          </a:p>
          <a:p>
            <a:r>
              <a:t>      },</a:t>
            </a:r>
          </a:p>
          <a:p>
            <a:r>
              <a:t>      "is_forecast": true</a:t>
            </a:r>
          </a:p>
          <a:p>
            <a:r>
              <a:t>    },</a:t>
            </a:r>
          </a:p>
          <a:p>
            <a:r>
              <a:t>    {</a:t>
            </a:r>
          </a:p>
          <a:p>
            <a:r>
              <a:t>      "month": "202611",</a:t>
            </a:r>
          </a:p>
          <a:p>
            <a:r>
              <a:t>      "visitors": 4940348,</a:t>
            </a:r>
          </a:p>
          <a:p>
            <a:r>
              <a:t>      "spending_krw": 85971975908,</a:t>
            </a:r>
          </a:p>
          <a:p>
            <a:r>
              <a:t>      "previous_year_visitors": 5167969,</a:t>
            </a:r>
          </a:p>
          <a:p>
            <a:r>
              <a:t>      "previous_year_spending_krw": 76509918000,</a:t>
            </a:r>
          </a:p>
          <a:p>
            <a:r>
              <a:t>      "visitor_yoy_percent": -4.4,</a:t>
            </a:r>
          </a:p>
          <a:p>
            <a:r>
              <a:t>      "spending_yoy_percent": 12.37,</a:t>
            </a:r>
          </a:p>
          <a:p>
            <a:r>
              <a:t>      "lodging_nights": 2.79,</a:t>
            </a:r>
          </a:p>
          <a:p>
            <a:r>
              <a:t>      "previous_year_lodging_nights": 2.79,</a:t>
            </a:r>
          </a:p>
          <a:p>
            <a:r>
              <a:t>      "lodging_rate_pct": 6.5,</a:t>
            </a:r>
          </a:p>
          <a:p>
            <a:r>
              <a:t>      "previous_year_lodging_rate_pct": 6.5,</a:t>
            </a:r>
          </a:p>
          <a:p>
            <a:r>
              <a:t>      "stay_minutes": 987.0,</a:t>
            </a:r>
          </a:p>
          <a:p>
            <a:r>
              <a:t>      "previous_year_stay_minutes": 987.0,</a:t>
            </a:r>
          </a:p>
          <a:p>
            <a:r>
              <a:t>      "navigation_searches": 231894,</a:t>
            </a:r>
          </a:p>
          <a:p>
            <a:r>
              <a:t>      "previous_year_navigation_searches": 238728,</a:t>
            </a:r>
          </a:p>
          <a:p>
            <a:r>
              <a:t>      "lodging_searches": 14379,</a:t>
            </a:r>
          </a:p>
          <a:p>
            <a:r>
              <a:t>      "previous_year_lodging_searches": 14379,</a:t>
            </a:r>
          </a:p>
          <a:p>
            <a:r>
              <a:t>      "metric_changes_percent": {</a:t>
            </a:r>
          </a:p>
          <a:p>
            <a:r>
              <a:t>        "lodging_nights": 0.0,</a:t>
            </a:r>
          </a:p>
          <a:p>
            <a:r>
              <a:t>        "lodging_rate_pct": 0.0,</a:t>
            </a:r>
          </a:p>
          <a:p>
            <a:r>
              <a:t>        "stay_minutes": 0.0,</a:t>
            </a:r>
          </a:p>
          <a:p>
            <a:r>
              <a:t>        "navigation_searches": -2.86,</a:t>
            </a:r>
          </a:p>
          <a:p>
            <a:r>
              <a:t>        "lodging_searches": 0.0</a:t>
            </a:r>
          </a:p>
          <a:p>
            <a:r>
              <a:t>      },</a:t>
            </a:r>
          </a:p>
          <a:p>
            <a:r>
              <a:t>      "is_forecast": true</a:t>
            </a:r>
          </a:p>
          <a:p>
            <a:r>
              <a:t>    },</a:t>
            </a:r>
          </a:p>
          <a:p>
            <a:r>
              <a:t>    {</a:t>
            </a:r>
          </a:p>
          <a:p>
            <a:r>
              <a:t>      "month": "202612",</a:t>
            </a:r>
          </a:p>
          <a:p>
            <a:r>
              <a:t>      "visitors": 4989633,</a:t>
            </a:r>
          </a:p>
          <a:p>
            <a:r>
              <a:t>      "spending_krw": 81033922052,</a:t>
            </a:r>
          </a:p>
          <a:p>
            <a:r>
              <a:t>      "previous_year_visitors": 5079597,</a:t>
            </a:r>
          </a:p>
          <a:p>
            <a:r>
              <a:t>      "previous_year_spending_krw": 81119852000,</a:t>
            </a:r>
          </a:p>
          <a:p>
            <a:r>
              <a:t>      "visitor_yoy_percent": -1.77,</a:t>
            </a:r>
          </a:p>
          <a:p>
            <a:r>
              <a:t>      "spending_yoy_percent": -0.11,</a:t>
            </a:r>
          </a:p>
          <a:p>
            <a:r>
              <a:t>      "lodging_nights": 2.81,</a:t>
            </a:r>
          </a:p>
          <a:p>
            <a:r>
              <a:t>      "previous_year_lodging_nights": 2.81,</a:t>
            </a:r>
          </a:p>
          <a:p>
            <a:r>
              <a:t>      "lodging_rate_pct": 7.3,</a:t>
            </a:r>
          </a:p>
          <a:p>
            <a:r>
              <a:t>      "previous_year_lodging_rate_pct": 7.3,</a:t>
            </a:r>
          </a:p>
          <a:p>
            <a:r>
              <a:t>      "stay_minutes": 1118.0,</a:t>
            </a:r>
          </a:p>
          <a:p>
            <a:r>
              <a:t>      "previous_year_stay_minutes": 1118.0,</a:t>
            </a:r>
          </a:p>
          <a:p>
            <a:r>
              <a:t>      "navigation_searches": 225518,</a:t>
            </a:r>
          </a:p>
          <a:p>
            <a:r>
              <a:t>      "previous_year_navigation_searches": 220205,</a:t>
            </a:r>
          </a:p>
          <a:p>
            <a:r>
              <a:t>      "lodging_searches": 12004,</a:t>
            </a:r>
          </a:p>
          <a:p>
            <a:r>
              <a:t>      "previous_year_lodging_searches": 12004,</a:t>
            </a:r>
          </a:p>
          <a:p>
            <a:r>
              <a:t>      "metric_changes_percent": {</a:t>
            </a:r>
          </a:p>
          <a:p>
            <a:r>
              <a:t>        "lodging_nights": 0.0,</a:t>
            </a:r>
          </a:p>
          <a:p>
            <a:r>
              <a:t>        "lodging_rate_pct": 0.0,</a:t>
            </a:r>
          </a:p>
          <a:p>
            <a:r>
              <a:t>        "stay_minutes": 0.0,</a:t>
            </a:r>
          </a:p>
          <a:p>
            <a:r>
              <a:t>        "navigation_searches": 2.41,</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6,</a:t>
            </a:r>
          </a:p>
          <a:p>
            <a:r>
              <a:t>    "longer_horizon_status": "exploratory_not_recursively_backtested",</a:t>
            </a:r>
          </a:p>
          <a:p>
            <a:r>
              <a:t>    "metrics": {</a:t>
            </a:r>
          </a:p>
          <a:p>
            <a:r>
              <a:t>      "visitors": {</a:t>
            </a:r>
          </a:p>
          <a:p>
            <a:r>
              <a:t>        "selected_model": "RandomForestRegressor",</a:t>
            </a:r>
          </a:p>
          <a:p>
            <a:r>
              <a:t>        "test_mae": 237105.53,</a:t>
            </a:r>
          </a:p>
          <a:p>
            <a:r>
              <a:t>        "baseline_test_mae": 192935.5,</a:t>
            </a:r>
          </a:p>
          <a:p>
            <a:r>
              <a:t>        "beats_baseline_on_test": false,</a:t>
            </a:r>
          </a:p>
          <a:p>
            <a:r>
              <a:t>        "model_reliability": "below_baseline_on_test",</a:t>
            </a:r>
          </a:p>
          <a:p>
            <a:r>
              <a:t>        "recursive_horizons_worse_than_baseline": [</a:t>
            </a:r>
          </a:p>
          <a:p>
            <a:r>
              <a:t>          "1",</a:t>
            </a:r>
          </a:p>
          <a:p>
            <a:r>
              <a:t>          "2"</a:t>
            </a:r>
          </a:p>
          <a:p>
            <a:r>
              <a:t>        ],</a:t>
            </a:r>
          </a:p>
          <a:p>
            <a:r>
              <a:t>        "recursive_mae": {</a:t>
            </a:r>
          </a:p>
          <a:p>
            <a:r>
              <a:t>          "1": {</a:t>
            </a:r>
          </a:p>
          <a:p>
            <a:r>
              <a:t>            "selected": 332727,</a:t>
            </a:r>
          </a:p>
          <a:p>
            <a:r>
              <a:t>            "baseline": 211072,</a:t>
            </a:r>
          </a:p>
          <a:p>
            <a:r>
              <a:t>            "sample_count": 2</a:t>
            </a:r>
          </a:p>
          <a:p>
            <a:r>
              <a:t>          },</a:t>
            </a:r>
          </a:p>
          <a:p>
            <a:r>
              <a:t>          "2": {</a:t>
            </a:r>
          </a:p>
          <a:p>
            <a:r>
              <a:t>            "selected": 141143.5,</a:t>
            </a:r>
          </a:p>
          <a:p>
            <a:r>
              <a:t>            "baseline": 97043,</a:t>
            </a:r>
          </a:p>
          <a:p>
            <a:r>
              <a:t>            "sample_count": 2</a:t>
            </a:r>
          </a:p>
          <a:p>
            <a:r>
              <a:t>          },</a:t>
            </a:r>
          </a:p>
          <a:p>
            <a:r>
              <a:t>          "3": {</a:t>
            </a:r>
          </a:p>
          <a:p>
            <a:r>
              <a:t>            "selected": 168591.5,</a:t>
            </a:r>
          </a:p>
          <a:p>
            <a:r>
              <a:t>            "baseline": 174799,</a:t>
            </a:r>
          </a:p>
          <a:p>
            <a:r>
              <a:t>            "sample_count": 2</a:t>
            </a:r>
          </a:p>
          <a:p>
            <a:r>
              <a:t>          }</a:t>
            </a:r>
          </a:p>
          <a:p>
            <a:r>
              <a:t>        }</a:t>
            </a:r>
          </a:p>
          <a:p>
            <a:r>
              <a:t>      },</a:t>
            </a:r>
          </a:p>
          <a:p>
            <a:r>
              <a:t>      "spending_krw": {</a:t>
            </a:r>
          </a:p>
          <a:p>
            <a:r>
              <a:t>        "selected_model": "LinearRegression",</a:t>
            </a:r>
          </a:p>
          <a:p>
            <a:r>
              <a:t>        "test_mae": 4927867951.9,</a:t>
            </a:r>
          </a:p>
          <a:p>
            <a:r>
              <a:t>        "baseline_test_mae": 2411157000,</a:t>
            </a:r>
          </a:p>
          <a:p>
            <a:r>
              <a:t>        "beats_baseline_on_test": false,</a:t>
            </a:r>
          </a:p>
          <a:p>
            <a:r>
              <a:t>        "model_reliability": "below_baseline_on_test",</a:t>
            </a:r>
          </a:p>
          <a:p>
            <a:r>
              <a:t>        "recursive_horizons_worse_than_baseline": [</a:t>
            </a:r>
          </a:p>
          <a:p>
            <a:r>
              <a:t>          "1",</a:t>
            </a:r>
          </a:p>
          <a:p>
            <a:r>
              <a:t>          "3"</a:t>
            </a:r>
          </a:p>
          <a:p>
            <a:r>
              <a:t>        ],</a:t>
            </a:r>
          </a:p>
          <a:p>
            <a:r>
              <a:t>        "recursive_mae": {</a:t>
            </a:r>
          </a:p>
          <a:p>
            <a:r>
              <a:t>          "1": {</a:t>
            </a:r>
          </a:p>
          <a:p>
            <a:r>
              <a:t>            "selected": 3237755191,</a:t>
            </a:r>
          </a:p>
          <a:p>
            <a:r>
              <a:t>            "baseline": 1944140500,</a:t>
            </a:r>
          </a:p>
          <a:p>
            <a:r>
              <a:t>            "sample_count": 2</a:t>
            </a:r>
          </a:p>
          <a:p>
            <a:r>
              <a:t>          },</a:t>
            </a:r>
          </a:p>
          <a:p>
            <a:r>
              <a:t>          "2": {</a:t>
            </a:r>
          </a:p>
          <a:p>
            <a:r>
              <a:t>            "selected": 1581504765.5,</a:t>
            </a:r>
          </a:p>
          <a:p>
            <a:r>
              <a:t>            "baseline": 3984052500,</a:t>
            </a:r>
          </a:p>
          <a:p>
            <a:r>
              <a:t>            "sample_count": 2</a:t>
            </a:r>
          </a:p>
          <a:p>
            <a:r>
              <a:t>          },</a:t>
            </a:r>
          </a:p>
          <a:p>
            <a:r>
              <a:t>          "3": {</a:t>
            </a:r>
          </a:p>
          <a:p>
            <a:r>
              <a:t>            "selected": 4493524184.5,</a:t>
            </a:r>
          </a:p>
          <a:p>
            <a:r>
              <a:t>            "baseline": 2878173500,</a:t>
            </a:r>
          </a:p>
          <a:p>
            <a:r>
              <a:t>            "sample_count": 2</a:t>
            </a:r>
          </a:p>
          <a:p>
            <a:r>
              <a:t>          }</a:t>
            </a:r>
          </a:p>
          <a:p>
            <a:r>
              <a:t>        }</a:t>
            </a:r>
          </a:p>
          <a:p>
            <a:r>
              <a:t>      },</a:t>
            </a:r>
          </a:p>
          <a:p>
            <a:r>
              <a:t>      "lodging_nights": {</a:t>
            </a:r>
          </a:p>
          <a:p>
            <a:r>
              <a:t>        "selected_model": "seasonal_naive_previous_year_same_month",</a:t>
            </a:r>
          </a:p>
          <a:p>
            <a:r>
              <a:t>        "test_mae": 0.07,</a:t>
            </a:r>
          </a:p>
          <a:p>
            <a:r>
              <a:t>        "baseline_test_mae": 0.07,</a:t>
            </a:r>
          </a:p>
          <a:p>
            <a:r>
              <a:t>        "beats_baseline_on_test": false,</a:t>
            </a:r>
          </a:p>
          <a:p>
            <a:r>
              <a:t>        "model_reliability": "seasonal_baseline",</a:t>
            </a:r>
          </a:p>
          <a:p>
            <a:r>
              <a:t>        "recursive_horizons_worse_than_baseline": [],</a:t>
            </a:r>
          </a:p>
          <a:p>
            <a:r>
              <a:t>        "recursive_mae": {</a:t>
            </a:r>
          </a:p>
          <a:p>
            <a:r>
              <a:t>          "1": {</a:t>
            </a:r>
          </a:p>
          <a:p>
            <a:r>
              <a:t>            "selected": 0.06,</a:t>
            </a:r>
          </a:p>
          <a:p>
            <a:r>
              <a:t>            "baseline": 0.06,</a:t>
            </a:r>
          </a:p>
          <a:p>
            <a:r>
              <a:t>            "sample_count": 2</a:t>
            </a:r>
          </a:p>
          <a:p>
            <a:r>
              <a:t>          },</a:t>
            </a:r>
          </a:p>
          <a:p>
            <a:r>
              <a:t>          "2": {</a:t>
            </a:r>
          </a:p>
          <a:p>
            <a:r>
              <a:t>            "selected": 0.11,</a:t>
            </a:r>
          </a:p>
          <a:p>
            <a:r>
              <a:t>            "baseline": 0.11,</a:t>
            </a:r>
          </a:p>
          <a:p>
            <a:r>
              <a:t>            "sample_count": 2</a:t>
            </a:r>
          </a:p>
          <a:p>
            <a:r>
              <a:t>          },</a:t>
            </a:r>
          </a:p>
          <a:p>
            <a:r>
              <a:t>          "3": {</a:t>
            </a:r>
          </a:p>
          <a:p>
            <a:r>
              <a:t>            "selected": 0.08,</a:t>
            </a:r>
          </a:p>
          <a:p>
            <a:r>
              <a:t>            "baseline": 0.08,</a:t>
            </a:r>
          </a:p>
          <a:p>
            <a:r>
              <a:t>            "sample_count": 2</a:t>
            </a:r>
          </a:p>
          <a:p>
            <a:r>
              <a:t>          }</a:t>
            </a:r>
          </a:p>
          <a:p>
            <a:r>
              <a:t>        }</a:t>
            </a:r>
          </a:p>
          <a:p>
            <a:r>
              <a:t>      },</a:t>
            </a:r>
          </a:p>
          <a:p>
            <a:r>
              <a:t>      "lodging_rate_pct": {</a:t>
            </a:r>
          </a:p>
          <a:p>
            <a:r>
              <a:t>        "selected_model": "seasonal_naive_previous_year_same_month",</a:t>
            </a:r>
          </a:p>
          <a:p>
            <a:r>
              <a:t>        "test_mae": 0.3,</a:t>
            </a:r>
          </a:p>
          <a:p>
            <a:r>
              <a:t>        "baseline_test_mae": 0.3,</a:t>
            </a:r>
          </a:p>
          <a:p>
            <a:r>
              <a:t>        "beats_baseline_on_test": false,</a:t>
            </a:r>
          </a:p>
          <a:p>
            <a:r>
              <a:t>        "model_reliability": "seasonal_baseline",</a:t>
            </a:r>
          </a:p>
          <a:p>
            <a:r>
              <a:t>        "recursive_horizons_worse_than_baseline": [],</a:t>
            </a:r>
          </a:p>
          <a:p>
            <a:r>
              <a:t>        "recursive_mae": {</a:t>
            </a:r>
          </a:p>
          <a:p>
            <a:r>
              <a:t>          "1": {</a:t>
            </a:r>
          </a:p>
          <a:p>
            <a:r>
              <a:t>            "selected": 0.4,</a:t>
            </a:r>
          </a:p>
          <a:p>
            <a:r>
              <a:t>            "baseline": 0.4,</a:t>
            </a:r>
          </a:p>
          <a:p>
            <a:r>
              <a:t>            "sample_count": 2</a:t>
            </a:r>
          </a:p>
          <a:p>
            <a:r>
              <a:t>          },</a:t>
            </a:r>
          </a:p>
          <a:p>
            <a:r>
              <a:t>          "2": {</a:t>
            </a:r>
          </a:p>
          <a:p>
            <a:r>
              <a:t>            "selected": 0.2,</a:t>
            </a:r>
          </a:p>
          <a:p>
            <a:r>
              <a:t>            "baseline": 0.2,</a:t>
            </a:r>
          </a:p>
          <a:p>
            <a:r>
              <a:t>            "sample_count": 2</a:t>
            </a:r>
          </a:p>
          <a:p>
            <a:r>
              <a:t>          },</a:t>
            </a:r>
          </a:p>
          <a:p>
            <a:r>
              <a:t>          "3": {</a:t>
            </a:r>
          </a:p>
          <a:p>
            <a:r>
              <a:t>            "selected": 0.2,</a:t>
            </a:r>
          </a:p>
          <a:p>
            <a:r>
              <a:t>            "baseline": 0.2,</a:t>
            </a:r>
          </a:p>
          <a:p>
            <a:r>
              <a:t>            "sample_count": 2</a:t>
            </a:r>
          </a:p>
          <a:p>
            <a:r>
              <a:t>          }</a:t>
            </a:r>
          </a:p>
          <a:p>
            <a:r>
              <a:t>        }</a:t>
            </a:r>
          </a:p>
          <a:p>
            <a:r>
              <a:t>      },</a:t>
            </a:r>
          </a:p>
          <a:p>
            <a:r>
              <a:t>      "stay_minutes": {</a:t>
            </a:r>
          </a:p>
          <a:p>
            <a:r>
              <a:t>        "selected_model": "seasonal_naive_previous_year_same_month",</a:t>
            </a:r>
          </a:p>
          <a:p>
            <a:r>
              <a:t>        "test_mae": 113.5,</a:t>
            </a:r>
          </a:p>
          <a:p>
            <a:r>
              <a:t>        "baseline_test_mae": 113.5,</a:t>
            </a:r>
          </a:p>
          <a:p>
            <a:r>
              <a:t>        "beats_baseline_on_test": false,</a:t>
            </a:r>
          </a:p>
          <a:p>
            <a:r>
              <a:t>        "model_reliability": "seasonal_baseline",</a:t>
            </a:r>
          </a:p>
          <a:p>
            <a:r>
              <a:t>        "recursive_horizons_worse_than_baseline": [],</a:t>
            </a:r>
          </a:p>
          <a:p>
            <a:r>
              <a:t>        "recursive_mae": {</a:t>
            </a:r>
          </a:p>
          <a:p>
            <a:r>
              <a:t>          "1": {</a:t>
            </a:r>
          </a:p>
          <a:p>
            <a:r>
              <a:t>            "selected": 52,</a:t>
            </a:r>
          </a:p>
          <a:p>
            <a:r>
              <a:t>            "baseline": 52,</a:t>
            </a:r>
          </a:p>
          <a:p>
            <a:r>
              <a:t>            "sample_count": 2</a:t>
            </a:r>
          </a:p>
          <a:p>
            <a:r>
              <a:t>          },</a:t>
            </a:r>
          </a:p>
          <a:p>
            <a:r>
              <a:t>          "2": {</a:t>
            </a:r>
          </a:p>
          <a:p>
            <a:r>
              <a:t>            "selected": 218.5,</a:t>
            </a:r>
          </a:p>
          <a:p>
            <a:r>
              <a:t>            "baseline": 218.5,</a:t>
            </a:r>
          </a:p>
          <a:p>
            <a:r>
              <a:t>            "sample_count": 2</a:t>
            </a:r>
          </a:p>
          <a:p>
            <a:r>
              <a:t>          },</a:t>
            </a:r>
          </a:p>
          <a:p>
            <a:r>
              <a:t>          "3": {</a:t>
            </a:r>
          </a:p>
          <a:p>
            <a:r>
              <a:t>            "selected": 175,</a:t>
            </a:r>
          </a:p>
          <a:p>
            <a:r>
              <a:t>            "baseline": 175,</a:t>
            </a:r>
          </a:p>
          <a:p>
            <a:r>
              <a:t>            "sample_count": 2</a:t>
            </a:r>
          </a:p>
          <a:p>
            <a:r>
              <a:t>          }</a:t>
            </a:r>
          </a:p>
          <a:p>
            <a:r>
              <a:t>        }</a:t>
            </a:r>
          </a:p>
          <a:p>
            <a:r>
              <a:t>      },</a:t>
            </a:r>
          </a:p>
          <a:p>
            <a:r>
              <a:t>      "navigation_searches": {</a:t>
            </a:r>
          </a:p>
          <a:p>
            <a:r>
              <a:t>        "selected_model": "RandomForestRegressor",</a:t>
            </a:r>
          </a:p>
          <a:p>
            <a:r>
              <a:t>        "test_mae": 20482.57,</a:t>
            </a:r>
          </a:p>
          <a:p>
            <a:r>
              <a:t>        "baseline_test_mae": 12060,</a:t>
            </a:r>
          </a:p>
          <a:p>
            <a:r>
              <a:t>        "beats_baseline_on_test": false,</a:t>
            </a:r>
          </a:p>
          <a:p>
            <a:r>
              <a:t>        "model_reliability": "below_baseline_on_test",</a:t>
            </a:r>
          </a:p>
          <a:p>
            <a:r>
              <a:t>        "recursive_horizons_worse_than_baseline": [</a:t>
            </a:r>
          </a:p>
          <a:p>
            <a:r>
              <a:t>          "1",</a:t>
            </a:r>
          </a:p>
          <a:p>
            <a:r>
              <a:t>          "2",</a:t>
            </a:r>
          </a:p>
          <a:p>
            <a:r>
              <a:t>          "3"</a:t>
            </a:r>
          </a:p>
          <a:p>
            <a:r>
              <a:t>        ],</a:t>
            </a:r>
          </a:p>
          <a:p>
            <a:r>
              <a:t>        "recursive_mae": {</a:t>
            </a:r>
          </a:p>
          <a:p>
            <a:r>
              <a:t>          "1": {</a:t>
            </a:r>
          </a:p>
          <a:p>
            <a:r>
              <a:t>            "selected": 20785,</a:t>
            </a:r>
          </a:p>
          <a:p>
            <a:r>
              <a:t>            "baseline": 9487,</a:t>
            </a:r>
          </a:p>
          <a:p>
            <a:r>
              <a:t>            "sample_count": 2</a:t>
            </a:r>
          </a:p>
          <a:p>
            <a:r>
              <a:t>          },</a:t>
            </a:r>
          </a:p>
          <a:p>
            <a:r>
              <a:t>          "2": {</a:t>
            </a:r>
          </a:p>
          <a:p>
            <a:r>
              <a:t>            "selected": 14198,</a:t>
            </a:r>
          </a:p>
          <a:p>
            <a:r>
              <a:t>            "baseline": 6758.5,</a:t>
            </a:r>
          </a:p>
          <a:p>
            <a:r>
              <a:t>            "sample_count": 2</a:t>
            </a:r>
          </a:p>
          <a:p>
            <a:r>
              <a:t>          },</a:t>
            </a:r>
          </a:p>
          <a:p>
            <a:r>
              <a:t>          "3": {</a:t>
            </a:r>
          </a:p>
          <a:p>
            <a:r>
              <a:t>            "selected": 18839,</a:t>
            </a:r>
          </a:p>
          <a:p>
            <a:r>
              <a:t>            "baseline": 14633,</a:t>
            </a:r>
          </a:p>
          <a:p>
            <a:r>
              <a:t>            "sample_count": 2</a:t>
            </a:r>
          </a:p>
          <a:p>
            <a:r>
              <a:t>          }</a:t>
            </a:r>
          </a:p>
          <a:p>
            <a:r>
              <a:t>        }</a:t>
            </a:r>
          </a:p>
          <a:p>
            <a:r>
              <a:t>      },</a:t>
            </a:r>
          </a:p>
          <a:p>
            <a:r>
              <a:t>      "lodging_searches": {</a:t>
            </a:r>
          </a:p>
          <a:p>
            <a:r>
              <a:t>        "selected_model": "seasonal_naive_previous_year_same_month",</a:t>
            </a:r>
          </a:p>
          <a:p>
            <a:r>
              <a:t>        "test_mae": 526.5,</a:t>
            </a:r>
          </a:p>
          <a:p>
            <a:r>
              <a:t>        "baseline_test_mae": 526.5,</a:t>
            </a:r>
          </a:p>
          <a:p>
            <a:r>
              <a:t>        "beats_baseline_on_test": false,</a:t>
            </a:r>
          </a:p>
          <a:p>
            <a:r>
              <a:t>        "model_reliability": "seasonal_baseline",</a:t>
            </a:r>
          </a:p>
          <a:p>
            <a:r>
              <a:t>        "recursive_horizons_worse_than_baseline": [],</a:t>
            </a:r>
          </a:p>
          <a:p>
            <a:r>
              <a:t>        "recursive_mae": {</a:t>
            </a:r>
          </a:p>
          <a:p>
            <a:r>
              <a:t>          "1": {</a:t>
            </a:r>
          </a:p>
          <a:p>
            <a:r>
              <a:t>            "selected": 779,</a:t>
            </a:r>
          </a:p>
          <a:p>
            <a:r>
              <a:t>            "baseline": 779,</a:t>
            </a:r>
          </a:p>
          <a:p>
            <a:r>
              <a:t>            "sample_count": 2</a:t>
            </a:r>
          </a:p>
          <a:p>
            <a:r>
              <a:t>          },</a:t>
            </a:r>
          </a:p>
          <a:p>
            <a:r>
              <a:t>          "2": {</a:t>
            </a:r>
          </a:p>
          <a:p>
            <a:r>
              <a:t>            "selected": 391.5,</a:t>
            </a:r>
          </a:p>
          <a:p>
            <a:r>
              <a:t>            "baseline": 391.5,</a:t>
            </a:r>
          </a:p>
          <a:p>
            <a:r>
              <a:t>            "sample_count": 2</a:t>
            </a:r>
          </a:p>
          <a:p>
            <a:r>
              <a:t>          },</a:t>
            </a:r>
          </a:p>
          <a:p>
            <a:r>
              <a:t>          "3": {</a:t>
            </a:r>
          </a:p>
          <a:p>
            <a:r>
              <a:t>            "selected": 274,</a:t>
            </a:r>
          </a:p>
          <a:p>
            <a:r>
              <a:t>            "baseline": 274,</a:t>
            </a:r>
          </a:p>
          <a:p>
            <a:r>
              <a:t>            "sample_count": 2</a:t>
            </a:r>
          </a:p>
          <a:p>
            <a:r>
              <a:t>          }</a:t>
            </a:r>
          </a:p>
          <a:p>
            <a:r>
              <a:t>        }</a:t>
            </a:r>
          </a:p>
          <a:p>
            <a:r>
              <a:t>      }</a:t>
            </a:r>
          </a:p>
          <a:p>
            <a:r>
              <a:t>    }</a:t>
            </a:r>
          </a:p>
          <a:p>
            <a:r>
              <a:t>  },</a:t>
            </a:r>
          </a:p>
          <a:p>
            <a:r>
              <a:t>  "execution_scenario": {</a:t>
            </a:r>
          </a:p>
          <a:p>
            <a:r>
              <a:t>    "visitor_target_pct": 0.03473579438178678,</a:t>
            </a:r>
          </a:p>
          <a:p>
            <a:r>
              <a:t>    "spending_target_pct": 0.07498350856156079,</a:t>
            </a:r>
          </a:p>
          <a:p>
            <a:r>
              <a:t>    "target_origin": "operating_capacity"</a:t>
            </a:r>
          </a:p>
          <a:p>
            <a:r>
              <a:t>  },</a:t>
            </a:r>
          </a:p>
          <a:p>
            <a:r>
              <a:t>  "reference_estimate": {</a:t>
            </a:r>
          </a:p>
          <a:p>
            <a:r>
              <a:t>    "status": "saved_report_budget",</a:t>
            </a:r>
          </a:p>
          <a:p>
            <a:r>
              <a:t>    "total_label": "총액 미확정",</a:t>
            </a:r>
          </a:p>
          <a:p>
            <a:r>
              <a:t>    "rows": [</a:t>
            </a:r>
          </a:p>
          <a:p>
            <a:r>
              <a:t>      [</a:t>
            </a:r>
          </a:p>
          <a:p>
            <a:r>
              <a:t>        "산정 내역 1",</a:t>
            </a:r>
          </a:p>
          <a:p>
            <a:r>
              <a:t>        "3,000,000원 (기획 가정: 축제 운영 비용 1,000,000원/월 × 3개월)",</a:t>
            </a:r>
          </a:p>
          <a:p>
            <a:r>
              <a:t>        "본문 기준"</a:t>
            </a:r>
          </a:p>
          <a:p>
            <a:r>
              <a:t>      ]</a:t>
            </a:r>
          </a:p>
          <a:p>
            <a:r>
              <a:t>    ],</a:t>
            </a:r>
          </a:p>
          <a:p>
            <a:r>
              <a:t>    "original_text": "3,000,000원 (기획 가정: 축제 운영 비용 1,000,000원/월 × 3개월)",</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"selected_source": {</a:t>
            </a:r>
          </a:p>
          <a:p>
            <a:r>
              <a:t>    "source_id": "case:night_festival_2025",</a:t>
            </a:r>
          </a:p>
          <a:p>
            <a:r>
              <a:t>    "source_type": "benchmark_case",</a:t>
            </a:r>
          </a:p>
          <a:p>
            <a:r>
              <a:t>    "title": "2025 대한민국 밤밤페스타 개최 도시 및 일정",</a:t>
            </a:r>
          </a:p>
          <a:p>
            <a:r>
              <a:t>    "source_url": "https://korean.visitkorea.or.kr/detail/rem_detail.do?cotid=f9c636b2-dd7c-4f09-af3d-6af43b33d371",</a:t>
            </a:r>
          </a:p>
          <a:p>
            <a:r>
              <a:t>    "published_or_updated_at": "2025",</a:t>
            </a:r>
          </a:p>
          <a:p>
            <a:r>
              <a:t>    "summary": "야간관광 특화도시 10곳 · 도시별 야간 콘텐츠를 순회형 축제로 묶는 운영 · 공식 여행기사는 개최 도시·장소·운영 시간과 콘텐츠만 제시하며 방문·소비 성과 수치는 제시하지 않음",</a:t>
            </a:r>
          </a:p>
          <a:p>
            <a:r>
              <a:t>    "case_region": "야간관광 특화도시 10곳",</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"공식 여행기사는 개최 도시·장소·운영 시간과 콘텐츠만 제시하며 방문·소비 성과 수치는 제시하지 않음",</a:t>
            </a:r>
          </a:p>
          <a:p>
            <a:r>
              <a:t>    "operating_statistics": [],</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a:t>
            </a:r>
          </a:p>
          <a:p>
            <a:r>
              <a:t>  "export_evidence": null,</a:t>
            </a:r>
          </a:p>
          <a:p>
            <a:r>
              <a:t>  "rule": "Facts refer only to the named event / period. Saved regional targets are unchanged."</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방문·소비의 기준 전망은 저장 모델에서 나온 수치입니다. 운영 규모와 참여 가정에서 추가 방문·소비를 계산합니다. 지역 전체 사례 증가율이나 인구 비율을 신규 사업의 효과로 복사하지 않습니다. 운영량과 단가를 곱해 예상 견적을 산정합니다. 자동 제안과 사용자 수정 목표는 구분하며 계획 시나리오는 통계적 신뢰구간이 아닙니다.</a:t>
            </a:r>
          </a:p>
          <a:p/>
          <a:p>
            <a:r>
              <a:t>{</a:t>
            </a:r>
          </a:p>
          <a:p>
            <a:r>
              <a:t>  "sections": [</a:t>
            </a:r>
          </a:p>
          <a:p>
            <a:r>
              <a:t>    [</a:t>
            </a:r>
          </a:p>
          <a:p>
            <a:r>
              <a:t>      "월별 기준 전망",</a:t>
            </a:r>
          </a:p>
          <a:p>
            <a:r>
              <a:t>      "202401~202606 월별 데이터에서 1·3·12개월 전 값과 계절 정보를 구성합니다. 방문은 랜덤 포레스트, 소비는 선형 회귀로 산출합니다. 전년 동월 기준모델이 선택된 지표는 해당 월의 전년 값을 사용합니다. 최신 관측월 이후를 순차 계산한 뒤 사업기간의 3개월을 표시합니다."</a:t>
            </a:r>
          </a:p>
          <a:p>
            <a:r>
              <a:t>    ],</a:t>
            </a:r>
          </a:p>
          <a:p>
            <a:r>
              <a:t>    [</a:t>
            </a:r>
          </a:p>
          <a:p>
            <a:r>
              <a:t>      "3개월 목표 계산",</a:t>
            </a:r>
          </a:p>
          <a:p>
            <a:r>
              <a:t>      "방문자 수: 기준 14,928,559명 → 목표 14,932,015명 (추가 3,456명, +0.02%)\n관광소비액: 기준 246,365,272,670원 → 목표 246,488,846,765원 (추가 123,574,095원, +0.05%)\n월별 목표 = 월별 기준 전망 × (1 + 최종월 목표율 × 경과월/전체월). 합계 증가율 = (월별 목표 합계 ÷ 월별 기준 합계 − 1) × 100. 방문 합계는 월간 순 방문 수의 합계로, 3개월 고유 인원과 다릅니다."</a:t>
            </a:r>
          </a:p>
          <a:p>
            <a:r>
              <a:t>    ],</a:t>
            </a:r>
          </a:p>
          <a:p>
            <a:r>
              <a:t>    [</a:t>
            </a:r>
          </a:p>
          <a:p>
            <a:r>
              <a:t>      "공식 사례에서 사업 후보까지",</a:t>
            </a:r>
          </a:p>
          <a:p>
            <a:r>
              <a:t>      "저장 보고서의 공식 사례 8건 → 설계 후보 2개 → 선정 사업의 운영 근거와 추가 참고 사례 3건 표시. 지역 원자료·7개 전망·공식 사례를 읽은 Qwen이 후보를 비교하고, 같은 운영 방식의 공식 문서를 함수로 연결합니다. 방문·소비 전망은 그래프와 목표 규모의 기준값입니다. 체류시간·숙박일수·숙박방문 비율·내비게이션 검색·숙박 검색 전망은 관광 흐름을 진단하고 조사·설계 방향을 검토하는 입력입니다. 7개 예측값으로 학습한 지역 추천 모델이나 주민 인구 비례 순위가 아닙니다. 표시 건수는 보고서에 남은 기록 기준입니다."</a:t>
            </a:r>
          </a:p>
          <a:p>
            <a:r>
              <a:t>    ],</a:t>
            </a:r>
          </a:p>
          <a:p>
            <a:r>
              <a:t>    [</a:t>
            </a:r>
          </a:p>
          <a:p>
            <a:r>
              <a:t>      "목표율과 운영 예산의 연결",</a:t>
            </a:r>
          </a:p>
          <a:p>
            <a:r>
              <a:t>      "야간 문화·체험: 8개 × 월 8일 × 3개월 × 하루 2회 × 회당 40명 = 15,360명분. 편성 한도 15,360명분에 이용률 75%를 적용해 11,520명 참여, 추가 방문 비중 30%로 3,456명 유치를 제안합니다. 기간 합계 ML 전망 대비 방문 +0.02%, 소비 +0.05%의 계획 시나리오입니다. 참여 목표 75%는 공통 최소 운영 목표입니다. 사례 참여율을 인용한 값이 아닙니다.\n8개 × 월 8일 × 3개월 × 하루 2회 × 회당 40명 = 15,360명분 → 편성 참여 한도 15,360건. 모든 단가는 기획 가정.\n참여량·단가·운영 처리량은 기획 가정입니다. 운영 예산이 지역 전체 목표 증가를 발생시킨다는 인과 계산은 아닙니다."</a:t>
            </a:r>
          </a:p>
          <a:p>
            <a:r>
              <a:t>    ]</a:t>
            </a:r>
          </a:p>
          <a:p>
            <a:r>
              <a:t>  ],</a:t>
            </a:r>
          </a:p>
          <a:p>
            <a:r>
              <a:t>  "basis": {</a:t>
            </a:r>
          </a:p>
          <a:p>
            <a:r>
              <a:t>    "totals": [</a:t>
            </a:r>
          </a:p>
          <a:p>
            <a:r>
              <a:t>      {</a:t>
            </a:r>
          </a:p>
          <a:p>
            <a:r>
              <a:t>        "key": "visitors",</a:t>
            </a:r>
          </a:p>
          <a:p>
            <a:r>
              <a:t>        "label": "방문자 수",</a:t>
            </a:r>
          </a:p>
          <a:p>
            <a:r>
              <a:t>        "unit": "명",</a:t>
            </a:r>
          </a:p>
          <a:p>
            <a:r>
              <a:t>        "baseline": 14928559.0,</a:t>
            </a:r>
          </a:p>
          <a:p>
            <a:r>
              <a:t>        "target": 14932015.0,</a:t>
            </a:r>
          </a:p>
          <a:p>
            <a:r>
              <a:t>        "additional": 3456.0,</a:t>
            </a:r>
          </a:p>
          <a:p>
            <a:r>
              <a:t>        "pct": 0.023150258507875776</a:t>
            </a:r>
          </a:p>
          <a:p>
            <a:r>
              <a:t>      },</a:t>
            </a:r>
          </a:p>
          <a:p>
            <a:r>
              <a:t>      {</a:t>
            </a:r>
          </a:p>
          <a:p>
            <a:r>
              <a:t>        "key": "spending",</a:t>
            </a:r>
          </a:p>
          <a:p>
            <a:r>
              <a:t>        "label": "관광소비액",</a:t>
            </a:r>
          </a:p>
          <a:p>
            <a:r>
              <a:t>        "unit": "원",</a:t>
            </a:r>
          </a:p>
          <a:p>
            <a:r>
              <a:t>        "baseline": 246365272670.0,</a:t>
            </a:r>
          </a:p>
          <a:p>
            <a:r>
              <a:t>        "target": 246488846765.0,</a:t>
            </a:r>
          </a:p>
          <a:p>
            <a:r>
              <a:t>        "additional": 123574095.0,</a:t>
            </a:r>
          </a:p>
          <a:p>
            <a:r>
              <a:t>        "pct": 0.050158893605734</a:t>
            </a:r>
          </a:p>
          <a:p>
            <a:r>
              <a:t>      }</a:t>
            </a:r>
          </a:p>
          <a:p>
            <a:r>
              <a:t>    ],</a:t>
            </a:r>
          </a:p>
          <a:p>
            <a:r>
              <a:t>    "demo": false,</a:t>
            </a:r>
          </a:p>
          <a:p>
            <a:r>
              <a:t>    "models": {</a:t>
            </a:r>
          </a:p>
          <a:p>
            <a:r>
              <a:t>      "visitors": "랜덤 포레스트",</a:t>
            </a:r>
          </a:p>
          <a:p>
            <a:r>
              <a:t>      "spending_krw": "선형 회귀",</a:t>
            </a:r>
          </a:p>
          <a:p>
            <a:r>
              <a:t>      "lodging_nights": "전년 동월 기준모델",</a:t>
            </a:r>
          </a:p>
          <a:p>
            <a:r>
              <a:t>      "lodging_rate_pct": "전년 동월 기준모델",</a:t>
            </a:r>
          </a:p>
          <a:p>
            <a:r>
              <a:t>      "stay_minutes": "전년 동월 기준모델",</a:t>
            </a:r>
          </a:p>
          <a:p>
            <a:r>
              <a:t>      "navigation_searches": "랜덤 포레스트",</a:t>
            </a:r>
          </a:p>
          <a:p>
            <a:r>
              <a:t>      "lodging_searches": "전년 동월 기준모델"</a:t>
            </a:r>
          </a:p>
          <a:p>
            <a:r>
              <a:t>    },</a:t>
            </a:r>
          </a:p>
          <a:p>
            <a:r>
              <a:t>    "source_period": "202401~202606",</a:t>
            </a:r>
          </a:p>
          <a:p>
            <a:r>
              <a:t>    "months": [</a:t>
            </a:r>
          </a:p>
          <a:p>
            <a:r>
              <a:t>      "26.10",</a:t>
            </a:r>
          </a:p>
          <a:p>
            <a:r>
              <a:t>      "26.11",</a:t>
            </a:r>
          </a:p>
          <a:p>
            <a:r>
              <a:t>      "26.12"</a:t>
            </a:r>
          </a:p>
          <a:p>
            <a:r>
              <a:t>    ],</a:t>
            </a:r>
          </a:p>
          <a:p>
            <a:r>
              <a:t>    "case_count": 8,</a:t>
            </a:r>
          </a:p>
          <a:p>
            <a:r>
              <a:t>    "case_region_count": 8,</a:t>
            </a:r>
          </a:p>
          <a:p>
            <a:r>
              <a:t>    "candidate_count": 2,</a:t>
            </a:r>
          </a:p>
          <a:p>
            <a:r>
              <a:t>    "displayed_count": 3,</a:t>
            </a:r>
          </a:p>
          <a:p>
            <a:r>
              <a:t>    "primary": {</a:t>
            </a:r>
          </a:p>
          <a:p>
            <a:r>
              <a:t>      "source_id": "case:night_festival_2025",</a:t>
            </a:r>
          </a:p>
          <a:p>
            <a:r>
              <a:t>      "source_type": "benchmark_case",</a:t>
            </a:r>
          </a:p>
          <a:p>
            <a:r>
              <a:t>      "title": "2025 대한민국 밤밤페스타 개최 도시 및 일정",</a:t>
            </a:r>
          </a:p>
          <a:p>
            <a:r>
              <a:t>      "source_url": "https://korean.visitkorea.or.kr/detail/rem_detail.do?cotid=f9c636b2-dd7c-4f09-af3d-6af43b33d371",</a:t>
            </a:r>
          </a:p>
          <a:p>
            <a:r>
              <a:t>      "published_or_updated_at": "2025",</a:t>
            </a:r>
          </a:p>
          <a:p>
            <a:r>
              <a:t>      "summary": "야간관광 특화도시 10곳 · 도시별 야간 콘텐츠를 순회형 축제로 묶는 운영 · 공식 여행기사는 개최 도시·장소·운영 시간과 콘텐츠만 제시하며 방문·소비 성과 수치는 제시하지 않음",</a:t>
            </a:r>
          </a:p>
          <a:p>
            <a:r>
              <a:t>      "case_region": "야간관광 특화도시 10곳",</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"공식 여행기사는 개최 도시·장소·운영 시간과 콘텐츠만 제시하며 방문·소비 성과 수치는 제시하지 않음",</a:t>
            </a:r>
          </a:p>
          <a:p>
            <a:r>
              <a:t>      "operating_statistics": [],</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a:t>
            </a:r>
          </a:p>
          <a:p>
            <a:r>
              <a:t>    "selection_reason": "야간 축제 운영은 '2025 대한민국 밤밤페스타' 사례에서 도출된 운영 방식을 참고하여, 대전 서구의 특성에 맞게 조정된 운영 방식으로, 야간 시간대의 방문자 수, 관광소비액, 내비게이션 검색량의 증가를 기대할 수 있습니다. 이는 '2025 대한민국 밤밤페스타' 사례와 비교하여, 대전 서구의 특성에 맞게 조정된 운영 방식으로, 야간 시간대의 방문자 수, 관광소비액, 내비게이션 검색량의 증가를 기대할 수 있습니다.",</a:t>
            </a:r>
          </a:p>
          <a:p>
            <a:r>
              <a:t>    "target_explanation": "야간 문화·체험: 8개 × 월 8일 × 3개월 × 하루 2회 × 회당 40명 = 15,360명분. 편성 한도 15,360명분에 이용률 75%를 적용해 11,520명 참여, 추가 방문 비중 30%로 3,456명 유치를 제안합니다. 기간 합계 ML 전망 대비 방문 +0.02%, 소비 +0.05%의 계획 시나리오입니다. 참여 목표 75%는 공통 최소 운영 목표입니다. 사례 참여율을 인용한 값이 아닙니다.",</a:t>
            </a:r>
          </a:p>
          <a:p>
            <a:r>
              <a:t>    "estimate": {</a:t>
            </a:r>
          </a:p>
          <a:p>
            <a:r>
              <a:t>      "version": "operating-capacity-v2-participation-floor",</a:t>
            </a:r>
          </a:p>
          <a:p>
            <a:r>
              <a:t>      "status": "planning_assumption_not_quote",</a:t>
            </a:r>
          </a:p>
          <a:p>
            <a:r>
              <a:t>      "scale_basis": "8개 × 월 8일 × 3개월 × 하루 2회 × 회당 40명 = 15,360명분 → 편성 참여 한도 15,360건. 모든 단가는 기획 가정.",</a:t>
            </a:r>
          </a:p>
          <a:p>
            <a:r>
              <a:t>      "months": 3,</a:t>
            </a:r>
          </a:p>
          <a:p>
            <a:r>
              <a:t>      "refund": false,</a:t>
            </a:r>
          </a:p>
          <a:p>
            <a:r>
              <a:t>      "quantity": 15360,</a:t>
            </a:r>
          </a:p>
          <a:p>
            <a:r>
              <a:t>      "unit_krw": 10000,</a:t>
            </a:r>
          </a:p>
          <a:p>
            <a:r>
              <a:t>      "redemption_target_pct": 75.0,</a:t>
            </a:r>
          </a:p>
          <a:p>
            <a:r>
              <a:t>      "redemption_count": 11520,</a:t>
            </a:r>
          </a:p>
          <a:p>
            <a:r>
              <a:t>      "qualifying_spend_krw": null,</a:t>
            </a:r>
          </a:p>
          <a:p>
            <a:r>
              <a:t>      "subtotal_krw": 198400000,</a:t>
            </a:r>
          </a:p>
          <a:p>
            <a:r>
              <a:t>      "reserve_krw": 19840000,</a:t>
            </a:r>
          </a:p>
          <a:p>
            <a:r>
              <a:t>      "total_krw": 218240000,</a:t>
            </a:r>
          </a:p>
          <a:p>
            <a:r>
              <a:t>      "within_hard_budget": true,</a:t>
            </a:r>
          </a:p>
          <a:p>
            <a:r>
              <a:t>      "items": [</a:t>
            </a:r>
          </a:p>
          <a:p>
            <a:r>
              <a:t>        {</a:t>
            </a:r>
          </a:p>
          <a:p>
            <a:r>
              <a:t>          "name": "프로그램 운영·참여 지원",</a:t>
            </a:r>
          </a:p>
          <a:p>
            <a:r>
              <a:t>          "basis": "편성 참여 한도 15,360건 × 가정 단가 10,000원",</a:t>
            </a:r>
          </a:p>
          <a:p>
            <a:r>
              <a:t>          "amount": 153600000</a:t>
            </a:r>
          </a:p>
          <a:p>
            <a:r>
              <a:t>        },</a:t>
            </a:r>
          </a:p>
          <a:p>
            <a:r>
              <a:t>        {</a:t>
            </a:r>
          </a:p>
          <a:p>
            <a:r>
              <a:t>          "name": "현장 운영·정산",</a:t>
            </a:r>
          </a:p>
          <a:p>
            <a:r>
              <a:t>          "basis": "8개 거점 × 월 8일 × 3개월 × 150,000원",</a:t>
            </a:r>
          </a:p>
          <a:p>
            <a:r>
              <a:t>          "amount": 28800000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198,400,000원 × 10%",</a:t>
            </a:r>
          </a:p>
          <a:p>
            <a:r>
              <a:t>          "amount": 19840000</a:t>
            </a:r>
          </a:p>
          <a:p>
            <a:r>
              <a:t>        }</a:t>
            </a:r>
          </a:p>
          <a:p>
            <a:r>
              <a:t>      ],</a:t>
            </a:r>
          </a:p>
          <a:p>
            <a:r>
              <a:t>      "sources": [],</a:t>
            </a:r>
          </a:p>
          <a:p>
            <a:r>
              <a:t>      "assumptions": [</a:t>
            </a:r>
          </a:p>
          <a:p>
            <a:r>
              <a:t>        "기획용 예상 견적이며 실제 액수와 다를 수 있습니다."</a:t>
            </a:r>
          </a:p>
          <a:p>
            <a:r>
              <a:t>      ]</a:t>
            </a:r>
          </a:p>
          <a:p>
            <a:r>
              <a:t>    }</a:t>
            </a:r>
          </a:p>
          <a:p>
            <a:r>
              <a:t>  },</a:t>
            </a:r>
          </a:p>
          <a:p>
            <a:r>
              <a:t>  "icons": {</a:t>
            </a:r>
          </a:p>
          <a:p>
            <a:r>
              <a:t>    "library": "Lucide 0.468.0",</a:t>
            </a:r>
          </a:p>
          <a:p>
            <a:r>
              <a:t>    "source": "https://github.com/lucide-icons/lucide/tree/0.468.0",</a:t>
            </a:r>
          </a:p>
          <a:p>
            <a:r>
              <a:t>    "license": "ISC / Feather MIT; ai_server/assets/proposal_icons/LICENSE"</a:t>
            </a:r>
          </a:p>
          <a:p>
            <a:r>
              <a:t>  },</a:t>
            </a:r>
          </a:p>
          <a:p>
            <a:r>
              <a:t>  "pipeline": {</a:t>
            </a:r>
          </a:p>
          <a:p>
            <a:r>
              <a:t>    "agents": [</a:t>
            </a:r>
          </a:p>
          <a:p>
            <a:r>
              <a:t>      "Evidence",</a:t>
            </a:r>
          </a:p>
          <a:p>
            <a:r>
              <a:t>      "Case Scout",</a:t>
            </a:r>
          </a:p>
          <a:p>
            <a:r>
              <a:t>      "Transferability",</a:t>
            </a:r>
          </a:p>
          <a:p>
            <a:r>
              <a:t>      "Planner",</a:t>
            </a:r>
          </a:p>
          <a:p>
            <a:r>
              <a:t>      "Reviewer"</a:t>
            </a:r>
          </a:p>
          <a:p>
            <a:r>
              <a:t>    ],</a:t>
            </a:r>
          </a:p>
          <a:p>
            <a:r>
              <a:t>    "implementation": "app/agents/report_orchestrator.py; Evidence + Case Scout gathered together",</a:t>
            </a:r>
          </a:p>
          <a:p>
            <a:r>
              <a:t>    "provider_labels": "Completed provider records in this report, otherwise saved evidence / configured model"</a:t>
            </a:r>
          </a:p>
          <a:p>
            <a:r>
              <a:t>  },</a:t>
            </a:r>
          </a:p>
          <a:p>
            <a:r>
              <a:t>  "functions": [</a:t>
            </a:r>
          </a:p>
          <a:p>
            <a:r>
              <a:t>    "planning_evidence.build_planning_ml_evidence",</a:t>
            </a:r>
          </a:p>
          <a:p>
            <a:r>
              <a:t>    "case_recommendation.link_decision",</a:t>
            </a:r>
          </a:p>
          <a:p>
            <a:r>
              <a:t>    "report_projection.execution_target",</a:t>
            </a:r>
          </a:p>
          <a:p>
            <a:r>
              <a:t>    "proposal_evidence.build_reference_estimate"</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proposal_evidence.build_reference_estimate; idea_proposal.scale_estimate.</a:t>
            </a:r>
          </a:p>
          <a:p>
            <a:r>
              <a:t>{</a:t>
            </a:r>
          </a:p>
          <a:p>
            <a:r>
              <a:t>  "version": "operating-capacity-v2-participation-floor",</a:t>
            </a:r>
          </a:p>
          <a:p>
            <a:r>
              <a:t>  "status": "planning_assumption_not_quote",</a:t>
            </a:r>
          </a:p>
          <a:p>
            <a:r>
              <a:t>  "scale_basis": "8개 × 월 8일 × 3개월 × 하루 2회 × 회당 40명 = 15,360명분 → 편성 참여 한도 15,360건. 모든 단가는 기획 가정.",</a:t>
            </a:r>
          </a:p>
          <a:p>
            <a:r>
              <a:t>  "months": 3,</a:t>
            </a:r>
          </a:p>
          <a:p>
            <a:r>
              <a:t>  "refund": false,</a:t>
            </a:r>
          </a:p>
          <a:p>
            <a:r>
              <a:t>  "quantity": 15360,</a:t>
            </a:r>
          </a:p>
          <a:p>
            <a:r>
              <a:t>  "unit_krw": 10000,</a:t>
            </a:r>
          </a:p>
          <a:p>
            <a:r>
              <a:t>  "redemption_target_pct": 75.0,</a:t>
            </a:r>
          </a:p>
          <a:p>
            <a:r>
              <a:t>  "redemption_count": 11520,</a:t>
            </a:r>
          </a:p>
          <a:p>
            <a:r>
              <a:t>  "qualifying_spend_krw": null,</a:t>
            </a:r>
          </a:p>
          <a:p>
            <a:r>
              <a:t>  "subtotal_krw": 198400000,</a:t>
            </a:r>
          </a:p>
          <a:p>
            <a:r>
              <a:t>  "reserve_krw": 19840000,</a:t>
            </a:r>
          </a:p>
          <a:p>
            <a:r>
              <a:t>  "total_krw": 218240000,</a:t>
            </a:r>
          </a:p>
          <a:p>
            <a:r>
              <a:t>  "within_hard_budget": true,</a:t>
            </a:r>
          </a:p>
          <a:p>
            <a:r>
              <a:t>  "items": [</a:t>
            </a:r>
          </a:p>
          <a:p>
            <a:r>
              <a:t>    {</a:t>
            </a:r>
          </a:p>
          <a:p>
            <a:r>
              <a:t>      "name": "프로그램 운영·참여 지원",</a:t>
            </a:r>
          </a:p>
          <a:p>
            <a:r>
              <a:t>      "basis": "편성 참여 한도 15,360건 × 가정 단가 10,000원",</a:t>
            </a:r>
          </a:p>
          <a:p>
            <a:r>
              <a:t>      "amount": 153600000</a:t>
            </a:r>
          </a:p>
          <a:p>
            <a:r>
              <a:t>    },</a:t>
            </a:r>
          </a:p>
          <a:p>
            <a:r>
              <a:t>    {</a:t>
            </a:r>
          </a:p>
          <a:p>
            <a:r>
              <a:t>      "name": "현장 운영·정산",</a:t>
            </a:r>
          </a:p>
          <a:p>
            <a:r>
              <a:t>      "basis": "8개 거점 × 월 8일 × 3개월 × 150,000원",</a:t>
            </a:r>
          </a:p>
          <a:p>
            <a:r>
              <a:t>      "amount": 28800000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198,400,000원 × 10%",</a:t>
            </a:r>
          </a:p>
          <a:p>
            <a:r>
              <a:t>      "amount": 19840000</a:t>
            </a:r>
          </a:p>
          <a:p>
            <a:r>
              <a:t>    }</a:t>
            </a:r>
          </a:p>
          <a:p>
            <a:r>
              <a:t>  ],</a:t>
            </a:r>
          </a:p>
          <a:p>
            <a:r>
              <a:t>  "sources": [],</a:t>
            </a:r>
          </a:p>
          <a:p>
            <a:r>
              <a:t>  "assumptions": [</a:t>
            </a:r>
          </a:p>
          <a:p>
            <a:r>
              <a:t>    "기획용 예상 견적이며 실제 액수와 다를 수 있습니다."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dataset:30170:1 | 한국관광 데이터랩 · 대전광역시 서구 순 방문자 수 및 숙박 비율 (이동통신 기반 외지인) | https://datalab.visitkorea.or.kr/</a:t>
            </a:r>
          </a:p>
          <a:p xmlns:a="http://schemas.openxmlformats.org/drawingml/2006/main">
            <a:r>
              <a:t>dataset:30170:2 | 한국관광 데이터랩 · 대전광역시 서구 월간 순 방문자 수 (이동통신 기반 외지인) | https://datalab.visitkorea.or.kr/</a:t>
            </a:r>
          </a:p>
          <a:p xmlns:a="http://schemas.openxmlformats.org/drawingml/2006/main">
            <a:r>
              <a:t>dataset:30170:3 | 한국관광 데이터랩 · 대전광역시 서구 관광소비 추이_외지인 | https://datalab.visitkorea.or.kr/</a:t>
            </a:r>
          </a:p>
          <a:p xmlns:a="http://schemas.openxmlformats.org/drawingml/2006/main">
            <a:r>
              <a:t>dataset:30170:4 | 한국관광 데이터랩 · 대전광역시 서구 숙박방문자 비율 추이 (이동통신 기반 외지인) | https://datalab.visitkorea.or.kr/</a:t>
            </a:r>
          </a:p>
          <a:p xmlns:a="http://schemas.openxmlformats.org/drawingml/2006/main">
            <a:r>
              <a:t>dataset:30170:5 | 한국관광 데이터랩 · 대전광역시 서구 평균 숙박일 (이동통신 기반 외지인) | https://datalab.visitkorea.or.kr/</a:t>
            </a:r>
          </a:p>
          <a:p xmlns:a="http://schemas.openxmlformats.org/drawingml/2006/main">
            <a:r>
              <a:t>dataset:30170:6 | 한국관광 데이터랩 · 대전광역시 서구 내비게이션 목적지 유형별 검색량 | https://datalab.visitkorea.or.kr/</a:t>
            </a:r>
          </a:p>
          <a:p xmlns:a="http://schemas.openxmlformats.org/drawingml/2006/main">
            <a:r>
              <a:t>dataset:30170:7 | 한국관광 데이터랩 · 대전광역시 서구 SNS 언급량 | https://datalab.visitkorea.or.kr/</a:t>
            </a:r>
          </a:p>
          <a:p xmlns:a="http://schemas.openxmlformats.org/drawingml/2006/main">
            <a:r>
              <a:t>datalab:12c41f8a3e52:f92921dca662 | 방문자/2025_01_12.zip | https://datalab.visitkorea.or.kr/</a:t>
            </a:r>
          </a:p>
          <a:p xmlns:a="http://schemas.openxmlformats.org/drawingml/2006/main">
            <a:r>
              <a:t>datalab:162285800b98:dbba3ac2e220 | 관광소비/2025_01_12.zip | https://datalab.visitkorea.or.kr/</a:t>
            </a:r>
          </a:p>
          <a:p xmlns:a="http://schemas.openxmlformats.org/drawingml/2006/main">
            <a:r>
              <a:t>datalab:1bec5b4405e1:6c5494eef7c6 | 숙박_체류시간/2025_01_12.zip | https://datalab.visitkorea.or.kr/</a:t>
            </a:r>
          </a:p>
          <a:p xmlns:a="http://schemas.openxmlformats.org/drawingml/2006/main">
            <a:r>
              <a:t>datalab:7a4db91d6ba9:d81294f3e5a0 | 관광소비/2026_01_06.zip | https://datalab.visitkorea.or.kr/</a:t>
            </a:r>
          </a:p>
          <a:p xmlns:a="http://schemas.openxmlformats.org/drawingml/2006/main">
            <a:r>
              <a:t>datalab:cc1dc8fb5607:77f3b69cfb89 | 방문자/2026_01_06.zip | https://datalab.visitkorea.or.kr/</a:t>
            </a:r>
          </a:p>
          <a:p xmlns:a="http://schemas.openxmlformats.org/drawingml/2006/main">
            <a:r>
              <a:t>datalab:e53d144382ee:fc025995a6df | 숙박_체류시간/2026_01_06.zip | https://datalab.visitkorea.or.kr/</a:t>
            </a:r>
          </a:p>
          <a:p xmlns:a="http://schemas.openxmlformats.org/drawingml/2006/main">
            <a:r>
              <a:t>team-bigdata:23ea68053684:6bfbcf8aabf6 | 이동통신/내국인/지역별 방문자수/20260820140607__202601-202606_데이터랩_다운로드.zip | https://datalab.visitkorea.or.kr/</a:t>
            </a:r>
          </a:p>
          <a:p xmlns:a="http://schemas.openxmlformats.org/drawingml/2006/main">
            <a:r>
              <a:t>team-bigdata:98d4ae590d9a:3be52dd54323 | 이동통신/외국인/20260820141710_전국_202601-202606_데이터랩_다운로드.zip | https://datalab.visitkorea.or.kr/</a:t>
            </a:r>
          </a:p>
          <a:p xmlns:a="http://schemas.openxmlformats.org/drawingml/2006/main">
            <a:r>
              <a:t>team-bigdata:367cd0294ec4:873930d645e5 | 신용카드/내국인/지역별 관광지출액/20260820140046__202601-202606_데이터랩_다운로드.zip | https://datalab.visitkorea.or.kr/</a:t>
            </a:r>
          </a:p>
          <a:p xmlns:a="http://schemas.openxmlformats.org/drawingml/2006/main">
            <a:r>
              <a:t>team-bigdata:553a0dad4bb4:5a31355dffe8 | 신용카드/외국인/지역별 관광지출액/20260820140355__202601-202606_데이터랩_다운로드.zip | https://datalab.visitkorea.or.kr/</a:t>
            </a:r>
          </a:p>
          <a:p xmlns:a="http://schemas.openxmlformats.org/drawingml/2006/main">
            <a:r>
              <a:t>team-bigdata:a53dbe1c21df:77a052de41d5 | 지역별 검색건수/20260820195507__202601-202606_데이터랩_다운로드.zip | https://datalab.visitkorea.or.kr/</a:t>
            </a:r>
          </a:p>
          <a:p xmlns:a="http://schemas.openxmlformats.org/drawingml/2006/main">
            <a:r>
              <a:t>team-bigdata:823a38d1d61c:5385261d02e5 | 이동통신/내국인/지역별 방문자수/20260820140614__202501-202512_데이터랩_다운로드.zip | https://datalab.visitkorea.or.kr/</a:t>
            </a:r>
          </a:p>
          <a:p xmlns:a="http://schemas.openxmlformats.org/drawingml/2006/main">
            <a:r>
              <a:t>team-bigdata:2723bdb0d589:1666a34058ed | 이동통신/외국인/20260820141649_전국_202501-202512_데이터랩_다운로드.zip | https://datalab.visitkorea.or.kr/</a:t>
            </a:r>
          </a:p>
          <a:p xmlns:a="http://schemas.openxmlformats.org/drawingml/2006/main">
            <a:r>
              <a:t>team-bigdata:83177a234971:c02cb7972e0f | 신용카드/내국인/지역별 관광지출액/20260820135957__202501-202512_데이터랩_다운로드.zip | https://datalab.visitkorea.or.kr/</a:t>
            </a:r>
          </a:p>
          <a:p xmlns:a="http://schemas.openxmlformats.org/drawingml/2006/main">
            <a:r>
              <a:t>team-bigdata:58ded7732251:589c76395cbc | 신용카드/외국인/지역별 관광지출액/20260820140409__202501-202512_데이터랩_다운로드.zip | https://datalab.visitkorea.or.kr/</a:t>
            </a:r>
          </a:p>
          <a:p xmlns:a="http://schemas.openxmlformats.org/drawingml/2006/main">
            <a:r>
              <a:t>team-bigdata:e28c947cb52f:bb4cb344a6ba | 지역별 검색건수/20260820132007__202501-202512_데이터랩_다운로드.zip | https://datalab.visitkorea.or.kr/</a:t>
            </a:r>
          </a:p>
          <a:p xmlns:a="http://schemas.openxmlformats.org/drawingml/2006/main">
            <a:r>
              <a:t>team-bigdata:8815bbb11a39:1a5988f5f8ec | 이동통신/내국인/지역별 방문자수/20260820140624__202401-202412_데이터랩_다운로드.zip | https://datalab.visitkorea.or.kr/</a:t>
            </a:r>
          </a:p>
          <a:p xmlns:a="http://schemas.openxmlformats.org/drawingml/2006/main">
            <a:r>
              <a:t>team-bigdata:19fd67fbb73d:afa4f0f54a2f | 이동통신/외국인/20260820141639_전국_202401-202412_데이터랩_다운로드.zip | https://datalab.visitkorea.or.kr/</a:t>
            </a:r>
          </a:p>
          <a:p xmlns:a="http://schemas.openxmlformats.org/drawingml/2006/main">
            <a:r>
              <a:t>regional-status:0c68fedc2071:0ad82310f803 | 한국관광 데이터랩 지역별 관광 현황 · 대전광역시 서구 · 지역집중률 | https://datalab.visitkorea.or.kr/</a:t>
            </a:r>
          </a:p>
          <a:p xmlns:a="http://schemas.openxmlformats.org/drawingml/2006/main">
            <a:r>
              <a:t>regional-status:4cddd6aa75d4:be8b01ec64e2 | 한국관광 데이터랩 지역별 관광 현황 · 대전광역시 서구 · 유입유출 | https://datalab.visitkorea.or.kr/</a:t>
            </a:r>
          </a:p>
          <a:p xmlns:a="http://schemas.openxmlformats.org/drawingml/2006/main">
            <a:r>
              <a:t>regional-status:8c9a813e95eb:5e0cc3f56b73 | 한국관광 데이터랩 지역별 관광 현황 · 대전광역시 서구 · 인기관광지 | https://datalab.visitkorea.or.kr/</a:t>
            </a:r>
          </a:p>
          <a:p xmlns:a="http://schemas.openxmlformats.org/drawingml/2006/main">
            <a:r>
              <a:t>ml:30170:regional-demand-v3.1:202606 | 지역 관광수요 ML 전망 · 공식 관측값 아님 | URL 미기록</a:t>
            </a:r>
          </a:p>
          <a:p xmlns:a="http://schemas.openxmlformats.org/drawingml/2006/main">
            <a:r>
              <a:t>tour-api:2899643 | 갈마짬뽕 | https://apis.data.go.kr/B551011/KorService2</a:t>
            </a:r>
          </a:p>
          <a:p xmlns:a="http://schemas.openxmlformats.org/drawingml/2006/main">
            <a:r>
              <a:t>tour-api:2899637 | 관저당 | https://apis.data.go.kr/B551011/KorService2</a:t>
            </a:r>
          </a:p>
          <a:p xmlns:a="http://schemas.openxmlformats.org/drawingml/2006/main">
            <a:r>
              <a:t>tour-api:1932079 | 굿모닝레지던스호텔휴 | https://apis.data.go.kr/B551011/KorService2</a:t>
            </a:r>
          </a:p>
          <a:p xmlns:a="http://schemas.openxmlformats.org/drawingml/2006/main">
            <a:r>
              <a:t>tour-api:133881 | 귀빈돌솥밥 | https://apis.data.go.kr/B551011/KorService2</a:t>
            </a:r>
          </a:p>
          <a:p xmlns:a="http://schemas.openxmlformats.org/drawingml/2006/main">
            <a:r>
              <a:t>tour-api:2758252 | 남선공원 | https://apis.data.go.kr/B551011/KorService2</a:t>
            </a:r>
          </a:p>
          <a:p xmlns:a="http://schemas.openxmlformats.org/drawingml/2006/main">
            <a:r>
              <a:t>tour-api:298208 | 내원사(대전) | https://apis.data.go.kr/B551011/KorService2</a:t>
            </a:r>
          </a:p>
          <a:p xmlns:a="http://schemas.openxmlformats.org/drawingml/2006/main">
            <a:r>
              <a:t>tour-api:3452550 | 노크노크 | https://apis.data.go.kr/B551011/KorService2</a:t>
            </a:r>
          </a:p>
          <a:p xmlns:a="http://schemas.openxmlformats.org/drawingml/2006/main">
            <a:r>
              <a:t>tour-api:2899585 | 대성콩국수 | https://apis.data.go.kr/B551011/KorService2</a:t>
            </a:r>
          </a:p>
          <a:p xmlns:a="http://schemas.openxmlformats.org/drawingml/2006/main">
            <a:r>
              <a:t>tour-api:130802 | 대전 가수원도서관 | https://apis.data.go.kr/B551011/KorService2</a:t>
            </a:r>
          </a:p>
          <a:p xmlns:a="http://schemas.openxmlformats.org/drawingml/2006/main">
            <a:r>
              <a:t>tour-api:2743325 | 대전광역시청 시민잔디광장 | https://apis.data.go.kr/B551011/KorService2</a:t>
            </a:r>
          </a:p>
          <a:p xmlns:a="http://schemas.openxmlformats.org/drawingml/2006/main">
            <a:r>
              <a:t>tour-api:130197 | 대전서구문화원 | https://apis.data.go.kr/B551011/KorService2</a:t>
            </a:r>
          </a:p>
          <a:p xmlns:a="http://schemas.openxmlformats.org/drawingml/2006/main">
            <a:r>
              <a:t>tour-api:2865847 | 델빠네 | https://apis.data.go.kr/B551011/KorService2</a:t>
            </a:r>
          </a:p>
          <a:p xmlns:a="http://schemas.openxmlformats.org/drawingml/2006/main">
            <a:r>
              <a:t>tour-api:2758334 | 도마큰시장 | https://apis.data.go.kr/B551011/KorService2</a:t>
            </a:r>
          </a:p>
          <a:p xmlns:a="http://schemas.openxmlformats.org/drawingml/2006/main">
            <a:r>
              <a:t>tour-api:1955818 | 도산서원(대전) | https://apis.data.go.kr/B551011/KorService2</a:t>
            </a:r>
          </a:p>
          <a:p xmlns:a="http://schemas.openxmlformats.org/drawingml/2006/main">
            <a:r>
              <a:t>tour-api:2758341 | 둔산꽃시장 | https://apis.data.go.kr/B551011/KorService2</a:t>
            </a:r>
          </a:p>
          <a:p xmlns:a="http://schemas.openxmlformats.org/drawingml/2006/main">
            <a:r>
              <a:t>tour-api:1623725 | 둔산전자타운 | https://apis.data.go.kr/B551011/KorService2</a:t>
            </a:r>
          </a:p>
          <a:p xmlns:a="http://schemas.openxmlformats.org/drawingml/2006/main">
            <a:r>
              <a:t>tour-api:132661 | 롯데백화점 (대전점) | https://apis.data.go.kr/B551011/KorService2</a:t>
            </a:r>
          </a:p>
          <a:p xmlns:a="http://schemas.openxmlformats.org/drawingml/2006/main">
            <a:r>
              <a:t>tour-api:2758646 | 마치광장 | https://apis.data.go.kr/B551011/KorService2</a:t>
            </a:r>
          </a:p>
          <a:p xmlns:a="http://schemas.openxmlformats.org/drawingml/2006/main">
            <a:r>
              <a:t>tour-api:2899544 | 몽뜨 | https://apis.data.go.kr/B551011/KorService2</a:t>
            </a:r>
          </a:p>
          <a:p xmlns:a="http://schemas.openxmlformats.org/drawingml/2006/main">
            <a:r>
              <a:t>tour-api:2865914 | 미세노센세 | https://apis.data.go.kr/B551011/KorService2</a:t>
            </a:r>
          </a:p>
          <a:p xmlns:a="http://schemas.openxmlformats.org/drawingml/2006/main">
            <a:r>
              <a:t>reference:kto:2026:local-airport | 요즘, 한국관광 2호 - 지방공항 연계 지역관광 활성화 방안 | PDF 44쪽, PDF 40쪽, PDF 41쪽, PDF 41쪽, PDF 43쪽 | https://datalab.visitkorea.or.kr/site/portal/ex/bbs/View.do?bcIdx=311068&amp;cbIdx=1135&amp;pageIndex=1</a:t>
            </a:r>
          </a:p>
          <a:p xmlns:a="http://schemas.openxmlformats.org/drawingml/2006/main">
            <a:r>
              <a:t>web:30170:1 | 한밭수목원 | 열린관광 모두의 여행 | https://access.visitkorea.or.kr/ms/detail.do?cotId=81cc7479-c010-4bdd-9a29-3121bb578cb8</a:t>
            </a:r>
          </a:p>
          <a:p xmlns:a="http://schemas.openxmlformats.org/drawingml/2006/main">
            <a:r>
              <a:t>web:30170:2 | Hanbat Arboretum (한밭수목원) - VISITKOREA | https://english.visitkorea.or.kr/svc/contents/contentsView.do?vcontsId=82059</a:t>
            </a:r>
          </a:p>
          <a:p xmlns:a="http://schemas.openxmlformats.org/drawingml/2006/main">
            <a:r>
              <a:t>web:30170:3 | 대전예술의전당 | 열린관광 모두의 여행 | https://access.visitkorea.or.kr/ms/detail.do?cotId=af31b729-4eda-469b-b4cc-73ea3a1c8028</a:t>
            </a:r>
          </a:p>
          <a:p xmlns:a="http://schemas.openxmlformats.org/drawingml/2006/main">
            <a:r>
              <a:t>web:30170:4 | 한민시장 | 열린관광 모두의 여행 | https://access.visitkorea.or.kr/ms/detail.do?cotId=72bba786-e15a-478a-bc99-c9d15ff27727</a:t>
            </a:r>
          </a:p>
          <a:p xmlns:a="http://schemas.openxmlformats.org/drawingml/2006/main">
            <a:r>
              <a:t>web:30170:5 | 장태산자연휴양림 - VISITKOREA | https://japanese.visitkorea.or.kr/svc/contents/contentsView.do?vcontsId=76300</a:t>
            </a:r>
          </a:p>
          <a:p xmlns:a="http://schemas.openxmlformats.org/drawingml/2006/main">
            <a:r>
              <a:t>web:30170:6 | 여유롭고 안전한 오늘의 여행법 비대면(언택트) 관광지 100선 | https://korean.visitkorea.or.kr/detail/rem_detail.do?cotid=351f6cf4-d984-496f-886d-6fc538b226a7</a:t>
            </a:r>
          </a:p>
          <a:p xmlns:a="http://schemas.openxmlformats.org/drawingml/2006/main">
            <a:r>
              <a:t>case:41508ca81cf29f | 한국관광 데이터랩 · 안동탈춤축제 방문자 추이 | https://datalab.visitkorea.or.kr/</a:t>
            </a:r>
          </a:p>
          <a:p xmlns:a="http://schemas.openxmlformats.org/drawingml/2006/main">
            <a:r>
              <a:t>case:festival:01474ef75569b1 | 한국관광 데이터랩 · 문경찻사발축제 방문자 추이 | https://datalab.visitkorea.or.kr/</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case:4544b7bca8ebab | 요즘, 한국관광 2호 - 지방공항 연계 지역관광 활성화 방안 | https://datalab.visitkorea.or.kr/site/portal/ex/bbs/View.do?bcIdx=311068&amp;cbIdx=1135&amp;pageIndex=1</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case:festival:1ff9d11d3ee0ee | 한국관광 데이터랩 · 진도신비의바닷길축제 방문자 추이 | https://datalab.visitkorea.or.kr/</a:t>
            </a:r>
          </a:p>
          <a:p xmlns:a="http://schemas.openxmlformats.org/drawingml/2006/main">
            <a:r>
              <a:t>case:festival:1ffc3eec28956a | 한국관광 데이터랩 · 통영한산대첩축제 방문자 추이 | https://datalab.visitkorea.or.kr/</a:t>
            </a:r>
          </a:p>
          <a:p xmlns:a="http://schemas.openxmlformats.org/drawingml/2006/main">
            <a:r>
              <a:t>[/Sources]</a:t>
            </a:r>
          </a:p>
          <a:p xmlns:a="http://schemas.openxmlformats.org/drawingml/2006/main">
            <a:r>
              <a:t>[Calculation audit]</a:t>
            </a:r>
          </a:p>
          <a:p xmlns:a="http://schemas.openxmlformats.org/drawingml/2006/main">
            <a:r>
              <a:t>{</a:t>
            </a:r>
          </a:p>
          <a:p xmlns:a="http://schemas.openxmlformats.org/drawingml/2006/main">
            <a:r>
              <a:t>  "source_inventory": [</a:t>
            </a:r>
          </a:p>
          <a:p xmlns:a="http://schemas.openxmlformats.org/drawingml/2006/main">
            <a:r>
              <a:t>    {</a:t>
            </a:r>
          </a:p>
          <a:p xmlns:a="http://schemas.openxmlformats.org/drawingml/2006/main">
            <a:r>
              <a:t>      "source_id": "dataset:30170:1",</a:t>
            </a:r>
          </a:p>
          <a:p xmlns:a="http://schemas.openxmlformats.org/drawingml/2006/main">
            <a:r>
              <a:t>      "source_type": "dataset",</a:t>
            </a:r>
          </a:p>
          <a:p xmlns:a="http://schemas.openxmlformats.org/drawingml/2006/main">
            <a:r>
              <a:t>      "title": "한국관광 데이터랩 · 대전광역시 서구 순 방문자 수 및 숙박 비율 (이동통신 기반 외지인)",</a:t>
            </a:r>
          </a:p>
          <a:p xmlns:a="http://schemas.openxmlformats.org/drawingml/2006/main">
            <a:r>
              <a:t>      "source_url": "https://datalab.visitkorea.or.kr/",</a:t>
            </a:r>
          </a:p>
          <a:p xmlns:a="http://schemas.openxmlformats.org/drawingml/2006/main">
            <a:r>
              <a:t>      "summary": "월간 순 방문자 수: 4,619,168명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"dataset:30170:2",</a:t>
            </a:r>
          </a:p>
          <a:p xmlns:a="http://schemas.openxmlformats.org/drawingml/2006/main">
            <a:r>
              <a:t>      "source_type": "dataset",</a:t>
            </a:r>
          </a:p>
          <a:p xmlns:a="http://schemas.openxmlformats.org/drawingml/2006/main">
            <a:r>
              <a:t>      "title": "한국관광 데이터랩 · 대전광역시 서구 월간 순 방문자 수 (이동통신 기반 외지인)",</a:t>
            </a:r>
          </a:p>
          <a:p xmlns:a="http://schemas.openxmlformats.org/drawingml/2006/main">
            <a:r>
              <a:t>      "source_url": "https://datalab.visitkorea.or.kr/",</a:t>
            </a:r>
          </a:p>
          <a:p xmlns:a="http://schemas.openxmlformats.org/drawingml/2006/main">
            <a:r>
              <a:t>      "summary": "전년동월 외지인 방문자 증감률: -3.5%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"dataset:30170:3",</a:t>
            </a:r>
          </a:p>
          <a:p xmlns:a="http://schemas.openxmlformats.org/drawingml/2006/main">
            <a:r>
              <a:t>      "source_type": "dataset",</a:t>
            </a:r>
          </a:p>
          <a:p xmlns:a="http://schemas.openxmlformats.org/drawingml/2006/main">
            <a:r>
              <a:t>      "title": "한국관광 데이터랩 · 대전광역시 서구 관광소비 추이_외지인",</a:t>
            </a:r>
          </a:p>
          <a:p xmlns:a="http://schemas.openxmlformats.org/drawingml/2006/main">
            <a:r>
              <a:t>      "source_url": "https://datalab.visitkorea.or.kr/",</a:t>
            </a:r>
          </a:p>
          <a:p xmlns:a="http://schemas.openxmlformats.org/drawingml/2006/main">
            <a:r>
              <a:t>      "summary": "월간 외지인 관광소비 총액: 76,758,413,000원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"dataset:30170:4",</a:t>
            </a:r>
          </a:p>
          <a:p xmlns:a="http://schemas.openxmlformats.org/drawingml/2006/main">
            <a:r>
              <a:t>      "source_type": "dataset",</a:t>
            </a:r>
          </a:p>
          <a:p xmlns:a="http://schemas.openxmlformats.org/drawingml/2006/main">
            <a:r>
              <a:t>      "title": "한국관광 데이터랩 · 대전광역시 서구 숙박방문자 비율 추이 (이동통신 기반 외지인)",</a:t>
            </a:r>
          </a:p>
          <a:p xmlns:a="http://schemas.openxmlformats.org/drawingml/2006/main">
            <a:r>
              <a:t>      "source_url": "https://datalab.visitkorea.or.kr/",</a:t>
            </a:r>
          </a:p>
          <a:p xmlns:a="http://schemas.openxmlformats.org/drawingml/2006/main">
            <a:r>
              <a:t>      "summary": "외지인 숙박 방문 비율: 6.7%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"dataset:30170:5",</a:t>
            </a:r>
          </a:p>
          <a:p xmlns:a="http://schemas.openxmlformats.org/drawingml/2006/main">
            <a:r>
              <a:t>      "source_type": "dataset",</a:t>
            </a:r>
          </a:p>
          <a:p xmlns:a="http://schemas.openxmlformats.org/drawingml/2006/main">
            <a:r>
              <a:t>      "title": "한국관광 데이터랩 · 대전광역시 서구 평균 숙박일 (이동통신 기반 외지인)",</a:t>
            </a:r>
          </a:p>
          <a:p xmlns:a="http://schemas.openxmlformats.org/drawingml/2006/main">
            <a:r>
              <a:t>      "source_url": "https://datalab.visitkorea.or.kr/",</a:t>
            </a:r>
          </a:p>
          <a:p xmlns:a="http://schemas.openxmlformats.org/drawingml/2006/main">
            <a:r>
              <a:t>      "summary": "외지인 평균 숙박일수: 2.81일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"dataset:30170:6",</a:t>
            </a:r>
          </a:p>
          <a:p xmlns:a="http://schemas.openxmlformats.org/drawingml/2006/main">
            <a:r>
              <a:t>      "source_type": "dataset",</a:t>
            </a:r>
          </a:p>
          <a:p xmlns:a="http://schemas.openxmlformats.org/drawingml/2006/main">
            <a:r>
              <a:t>      "title": "한국관광 데이터랩 · 대전광역시 서구 내비게이션 목적지 유형별 검색량",</a:t>
            </a:r>
          </a:p>
          <a:p xmlns:a="http://schemas.openxmlformats.org/drawingml/2006/main">
            <a:r>
              <a:t>      "source_url": "https://datalab.visitkorea.or.kr/",</a:t>
            </a:r>
          </a:p>
          <a:p xmlns:a="http://schemas.openxmlformats.org/drawingml/2006/main">
            <a:r>
              <a:t>      "summary": "내비게이션 목적지 검색량: 191,346건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"dataset:30170:7",</a:t>
            </a:r>
          </a:p>
          <a:p xmlns:a="http://schemas.openxmlformats.org/drawingml/2006/main">
            <a:r>
              <a:t>      "source_type": "dataset",</a:t>
            </a:r>
          </a:p>
          <a:p xmlns:a="http://schemas.openxmlformats.org/drawingml/2006/main">
            <a:r>
              <a:t>      "title": "한국관광 데이터랩 · 대전광역시 서구 SNS 언급량",</a:t>
            </a:r>
          </a:p>
          <a:p xmlns:a="http://schemas.openxmlformats.org/drawingml/2006/main">
            <a:r>
              <a:t>      "source_url": "https://datalab.visitkorea.or.kr/",</a:t>
            </a:r>
          </a:p>
          <a:p xmlns:a="http://schemas.openxmlformats.org/drawingml/2006/main">
            <a:r>
              <a:t>      "summary": "SNS 언급량: 54,388건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"datalab:12c41f8a3e52:f92921dca662",</a:t>
            </a:r>
          </a:p>
          <a:p xmlns:a="http://schemas.openxmlformats.org/drawingml/2006/main">
            <a:r>
              <a:t>      "source_type": "nationwide_dataset",</a:t>
            </a:r>
          </a:p>
          <a:p xmlns:a="http://schemas.openxmlformats.org/drawingml/2006/main">
            <a:r>
              <a:t>      "title": "한국관광 데이터랩 공식 다운로드 · 대전광역시_서구/방문자/2025_01_12.zip",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"source_file_name": "대전광역시_서구/방문자/2025_01_12.zip"</a:t>
            </a:r>
          </a:p>
          <a:p xmlns:a="http://schemas.openxmlformats.org/drawingml/2006/main">
            <a:r>
              <a:t>    },</a:t>
            </a:r>
          </a:p>
          <a:p xmlns:a="http://schemas.openxmlformats.org/drawingml/2006/main">
            <a:r>
              <a:t>    {</a:t>
            </a:r>
          </a:p>
          <a:p xmlns:a="http://schemas.openxmlformats.org/drawingml/2006/main">
            <a:r>
              <a:t>      "source_id": "datalab:162285800b98:dbba3ac2e220",</a:t>
            </a:r>
          </a:p>
          <a:p xmlns:a="http://schemas.openxmlformats.org/drawingml/2006/main">
            <a:r>
              <a:t>      "source_type": "nationwide_dataset",</a:t>
            </a:r>
          </a:p>
          <a:p xmlns:a="http://schemas.openxmlformats.org/drawingml/2006/main">
            <a:r>
              <a:t>      "title": "한국관광 데이터랩 공식 다운로드 · 대전광역시_서구/관광소비/2025_01_12.zip",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"source_file_name": "대전광역시_서구/관광소비/2025_01_12.zip"</a:t>
            </a:r>
          </a:p>
          <a:p xmlns:a="http://schemas.openxmlformats.org/drawingml/2006/main">
            <a:r>
              <a:t>    },</a:t>
            </a:r>
          </a:p>
          <a:p xmlns:a="http://schemas.openxmlformats.org/drawingml/2006/main">
            <a:r>
              <a:t>    {</a:t>
            </a:r>
          </a:p>
          <a:p xmlns:a="http://schemas.openxmlformats.org/drawingml/2006/main">
            <a:r>
              <a:t>      "source_id": "datalab:1bec5b4405e1:6c5494eef7c6",</a:t>
            </a:r>
          </a:p>
          <a:p xmlns:a="http://schemas.openxmlformats.org/drawingml/2006/main">
            <a:r>
              <a:t>      "source_type": "nationwide_dataset",</a:t>
            </a:r>
          </a:p>
          <a:p xmlns:a="http://schemas.openxmlformats.org/drawingml/2006/main">
            <a:r>
              <a:t>      "title": "한국관광 데이터랩 공식 다운로드 · 대전광역시_서구/숙박_체류시간/2025_01_12.zip",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"source_file_name": "대전광역시_서구/숙박_체류시간/2025_01_12.zip"</a:t>
            </a:r>
          </a:p>
          <a:p xmlns:a="http://schemas.openxmlformats.org/drawingml/2006/main">
            <a:r>
              <a:t>    },</a:t>
            </a:r>
          </a:p>
          <a:p xmlns:a="http://schemas.openxmlformats.org/drawingml/2006/main">
            <a:r>
              <a:t>    {</a:t>
            </a:r>
          </a:p>
          <a:p xmlns:a="http://schemas.openxmlformats.org/drawingml/2006/main">
            <a:r>
              <a:t>      "source_id": "datalab:7a4db91d6ba9:d81294f3e5a0",</a:t>
            </a:r>
          </a:p>
          <a:p xmlns:a="http://schemas.openxmlformats.org/drawingml/2006/main">
            <a:r>
              <a:t>      "source_type": "nationwide_dataset",</a:t>
            </a:r>
          </a:p>
          <a:p xmlns:a="http://schemas.openxmlformats.org/drawingml/2006/main">
            <a:r>
              <a:t>      "title": "한국관광 데이터랩 공식 다운로드 · 대전광역시_서구/관광소비/2026_01_06.zip",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"source_file_name": "대전광역시_서구/관광소비/2026_01_06.zip"</a:t>
            </a:r>
          </a:p>
          <a:p xmlns:a="http://schemas.openxmlformats.org/drawingml/2006/main">
            <a:r>
              <a:t>    },</a:t>
            </a:r>
          </a:p>
          <a:p xmlns:a="http://schemas.openxmlformats.org/drawingml/2006/main">
            <a:r>
              <a:t>    {</a:t>
            </a:r>
          </a:p>
          <a:p xmlns:a="http://schemas.openxmlformats.org/drawingml/2006/main">
            <a:r>
              <a:t>      "source_id": "datalab:cc1dc8fb5607:77f3b69cfb89",</a:t>
            </a:r>
          </a:p>
          <a:p xmlns:a="http://schemas.openxmlformats.org/drawingml/2006/main">
            <a:r>
              <a:t>      "source_type": "nationwide_dataset",</a:t>
            </a:r>
          </a:p>
          <a:p xmlns:a="http://schemas.openxmlformats.org/drawingml/2006/main">
            <a:r>
              <a:t>      "title": "한국관광 데이터랩 공식 다운로드 · 대전광역시_서구/방문자/2026_01_06.zip",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"source_file_name": "대전광역시_서구/방문자/2026_01_06.zip"</a:t>
            </a:r>
          </a:p>
          <a:p xmlns:a="http://schemas.openxmlformats.org/drawingml/2006/main">
            <a:r>
              <a:t>    },</a:t>
            </a:r>
          </a:p>
          <a:p xmlns:a="http://schemas.openxmlformats.org/drawingml/2006/main">
            <a:r>
              <a:t>    {</a:t>
            </a:r>
          </a:p>
          <a:p xmlns:a="http://schemas.openxmlformats.org/drawingml/2006/main">
            <a:r>
              <a:t>      "source_id": "datalab:e53d144382ee:fc025995a6df",</a:t>
            </a:r>
          </a:p>
          <a:p xmlns:a="http://schemas.openxmlformats.org/drawingml/2006/main">
            <a:r>
              <a:t>      "source_type": "nationwide_dataset",</a:t>
            </a:r>
          </a:p>
          <a:p xmlns:a="http://schemas.openxmlformats.org/drawingml/2006/main">
            <a:r>
              <a:t>      "title": "한국관광 데이터랩 공식 다운로드 · 대전광역시_서구/숙박_체류시간/2026_01_06.zip",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"source_file_name": "대전광역시_서구/숙박_체류시간/2026_01_06.zip"</a:t>
            </a:r>
          </a:p>
          <a:p xmlns:a="http://schemas.openxmlformats.org/drawingml/2006/main">
            <a:r>
              <a:t>    },</a:t>
            </a:r>
          </a:p>
          <a:p xmlns:a="http://schemas.openxmlformats.org/drawingml/2006/main">
            <a:r>
              <a:t>    {</a:t>
            </a:r>
          </a:p>
          <a:p xmlns:a="http://schemas.openxmlformats.org/drawingml/2006/main">
            <a:r>
              <a:t>      "source_id": "team-bigdata:23ea68053684:6bfbcf8aabf6",</a:t>
            </a:r>
          </a:p>
          <a:p xmlns:a="http://schemas.openxmlformats.org/drawingml/2006/main">
            <a:r>
              <a:t>      "source_type": "nationwide_bigdata_dataset",</a:t>
            </a:r>
          </a:p>
          <a:p xmlns:a="http://schemas.openxmlformats.org/drawingml/2006/main">
            <a:r>
              <a:t>      "title": "한국관광 데이터랩 전국 빅데이터 다운로드 · 이동통신/내국인/지역별 방문자수/20260820140607__202601-202606_데이터랩_다운로드.zip",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"source_file_name": "이동통신/내국인/지역별 방문자수/20260820140607__202601-202606_데이터랩_다운로드.zip"</a:t>
            </a:r>
          </a:p>
          <a:p xmlns:a="http://schemas.openxmlformats.org/drawingml/2006/main">
            <a:r>
              <a:t>    },</a:t>
            </a:r>
          </a:p>
          <a:p xmlns:a="http://schemas.openxmlformats.org/drawingml/2006/main">
            <a:r>
              <a:t>    {</a:t>
            </a:r>
          </a:p>
          <a:p xmlns:a="http://schemas.openxmlformats.org/drawingml/2006/main">
            <a:r>
              <a:t>      "source_id": "team-bigdata:98d4ae590d9a:3be52dd54323",</a:t>
            </a:r>
          </a:p>
          <a:p xmlns:a="http://schemas.openxmlformats.org/drawingml/2006/main">
            <a:r>
              <a:t>      "source_type": "nationwide_bigdata_dataset",</a:t>
            </a:r>
          </a:p>
          <a:p xmlns:a="http://schemas.openxmlformats.org/drawingml/2006/main">
            <a:r>
              <a:t>      "title": "한국관광 데이터랩 전국 빅데이터 다운로드 · 이동통신/외국인/20260820141710_전국_202601-202606_데이터랩_다운로드.zip",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"source_file_name": "이동통신/외국인/20260820141710_전국_202601-202606_데이터랩_다운로드.zip"</a:t>
            </a:r>
          </a:p>
          <a:p xmlns:a="http://schemas.openxmlformats.org/drawingml/2006/main">
            <a:r>
              <a:t>    },</a:t>
            </a:r>
          </a:p>
          <a:p xmlns:a="http://schemas.openxmlformats.org/drawingml/2006/main">
            <a:r>
              <a:t>    {</a:t>
            </a:r>
          </a:p>
          <a:p xmlns:a="http://schemas.openxmlformats.org/drawingml/2006/main">
            <a:r>
              <a:t>      "source_id": "team-bigdata:367cd0294ec4:873930d645e5",</a:t>
            </a:r>
          </a:p>
          <a:p xmlns:a="http://schemas.openxmlformats.org/drawingml/2006/main">
            <a:r>
              <a:t>      "source_type": "nationwide_bigdata_dataset",</a:t>
            </a:r>
          </a:p>
          <a:p xmlns:a="http://schemas.openxmlformats.org/drawingml/2006/main">
            <a:r>
              <a:t>      "title": "한국관광 데이터랩 전국 빅데이터 다운로드 · 신용카드/내국인/지역별 관광지출액/20260820140046__202601-202606_데이터랩_다운로드.zip",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"source_file_name": "신용카드/내국인/지역별 관광지출액/20260820140046__202601-202606_데이터랩_다운로드.zip"</a:t>
            </a:r>
          </a:p>
          <a:p xmlns:a="http://schemas.openxmlformats.org/drawingml/2006/main">
            <a:r>
              <a:t>    },</a:t>
            </a:r>
          </a:p>
          <a:p xmlns:a="http://schemas.openxmlformats.org/drawingml/2006/main">
            <a:r>
              <a:t>    {</a:t>
            </a:r>
          </a:p>
          <a:p xmlns:a="http://schemas.openxmlformats.org/drawingml/2006/main">
            <a:r>
              <a:t>      "source_id": "team-bigdata:553a0dad4bb4:5a31355dffe8",</a:t>
            </a:r>
          </a:p>
          <a:p xmlns:a="http://schemas.openxmlformats.org/drawingml/2006/main">
            <a:r>
              <a:t>      "source_type": "nationwide_bigdata_dataset",</a:t>
            </a:r>
          </a:p>
          <a:p xmlns:a="http://schemas.openxmlformats.org/drawingml/2006/main">
            <a:r>
              <a:t>      "title": "한국관광 데이터랩 전국 빅데이터 다운로드 · 신용카드/외국인/지역별 관광지출액/20260820140355__202601-202606_데이터랩_다운로드.zip",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"source_file_name": "신용카드/외국인/지역별 관광지출액/20260820140355__202601-202606_데이터랩_다운로드.zip"</a:t>
            </a:r>
          </a:p>
          <a:p xmlns:a="http://schemas.openxmlformats.org/drawingml/2006/main">
            <a:r>
              <a:t>    },</a:t>
            </a:r>
          </a:p>
          <a:p xmlns:a="http://schemas.openxmlformats.org/drawingml/2006/main">
            <a:r>
              <a:t>    {</a:t>
            </a:r>
          </a:p>
          <a:p xmlns:a="http://schemas.openxmlformats.org/drawingml/2006/main">
            <a:r>
              <a:t>      "source_id": "team-bigdata:a53dbe1c21df:77a052de41d5",</a:t>
            </a:r>
          </a:p>
          <a:p xmlns:a="http://schemas.openxmlformats.org/drawingml/2006/main">
            <a:r>
              <a:t>      "source_type": "nationwide_bigdata_dataset",</a:t>
            </a:r>
          </a:p>
          <a:p xmlns:a="http://schemas.openxmlformats.org/drawingml/2006/main">
            <a:r>
              <a:t>      "title": "한국관광 데이터랩 전국 빅데이터 다운로드 · 네비게이션/지역별 검색건수/20260820195507__202601-202606_데이터랩_다운로드.zip",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"source_file_name": "네비게이션/지역별 검색건수/20260820195507__202601-202606_데이터랩_다운로드.zip"</a:t>
            </a:r>
          </a:p>
          <a:p xmlns:a="http://schemas.openxmlformats.org/drawingml/2006/main">
            <a:r>
              <a:t>    },</a:t>
            </a:r>
          </a:p>
          <a:p xmlns:a="http://schemas.openxmlformats.org/drawingml/2006/main">
            <a:r>
              <a:t>    {</a:t>
            </a:r>
          </a:p>
          <a:p xmlns:a="http://schemas.openxmlformats.org/drawingml/2006/main">
            <a:r>
              <a:t>      "source_id": "team-bigdata:823a38d1d61c:5385261d02e5",</a:t>
            </a:r>
          </a:p>
          <a:p xmlns:a="http://schemas.openxmlformats.org/drawingml/2006/main">
            <a:r>
              <a:t>      "source_type": "nationwide_bigdata_dataset",</a:t>
            </a:r>
          </a:p>
          <a:p xmlns:a="http://schemas.openxmlformats.org/drawingml/2006/main">
            <a:r>
              <a:t>      "title": "한국관광 데이터랩 전국 빅데이터 다운로드 · 이동통신/내국인/지역별 방문자수/20260820140614__202501-202512_데이터랩_다운로드.zip",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"source_file_name": "이동통신/내국인/지역별 방문자수/20260820140614__202501-202512_데이터랩_다운로드.zip"</a:t>
            </a:r>
          </a:p>
          <a:p xmlns:a="http://schemas.openxmlformats.org/drawingml/2006/main">
            <a:r>
              <a:t>    },</a:t>
            </a:r>
          </a:p>
          <a:p xmlns:a="http://schemas.openxmlformats.org/drawingml/2006/main">
            <a:r>
              <a:t>    {</a:t>
            </a:r>
          </a:p>
          <a:p xmlns:a="http://schemas.openxmlformats.org/drawingml/2006/main">
            <a:r>
              <a:t>      "source_id": "team-bigdata:2723bdb0d589:1666a34058ed",</a:t>
            </a:r>
          </a:p>
          <a:p xmlns:a="http://schemas.openxmlformats.org/drawingml/2006/main">
            <a:r>
              <a:t>      "source_type": "nationwide_bigdata_dataset",</a:t>
            </a:r>
          </a:p>
          <a:p xmlns:a="http://schemas.openxmlformats.org/drawingml/2006/main">
            <a:r>
              <a:t>      "title": "한국관광 데이터랩 전국 빅데이터 다운로드 · 이동통신/외국인/20260820141649_전국_202501-202512_데이터랩_다운로드.zip",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"source_file_name": "이동통신/외국인/20260820141649_전국_202501-202512_데이터랩_다운로드.zip"</a:t>
            </a:r>
          </a:p>
          <a:p xmlns:a="http://schemas.openxmlformats.org/drawingml/2006/main">
            <a:r>
              <a:t>    },</a:t>
            </a:r>
          </a:p>
          <a:p xmlns:a="http://schemas.openxmlformats.org/drawingml/2006/main">
            <a:r>
              <a:t>    {</a:t>
            </a:r>
          </a:p>
          <a:p xmlns:a="http://schemas.openxmlformats.org/drawingml/2006/main">
            <a:r>
              <a:t>      "source_id": "team-bigdata:83177a234971:c02cb7972e0f",</a:t>
            </a:r>
          </a:p>
          <a:p xmlns:a="http://schemas.openxmlformats.org/drawingml/2006/main">
            <a:r>
              <a:t>      "source_type": "nationwide_bigdata_dataset",</a:t>
            </a:r>
          </a:p>
          <a:p xmlns:a="http://schemas.openxmlformats.org/drawingml/2006/main">
            <a:r>
              <a:t>      "title": "한국관광 데이터랩 전국 빅데이터 다운로드 · 신용카드/내국인/지역별 관광지출액/20260820135957__202501-202512_데이터랩_다운로드.zip",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"source_file_name": "신용카드/내국인/지역별 관광지출액/20260820135957__202501-202512_데이터랩_다운로드.zip"</a:t>
            </a:r>
          </a:p>
          <a:p xmlns:a="http://schemas.openxmlformats.org/drawingml/2006/main">
            <a:r>
              <a:t>    },</a:t>
            </a:r>
          </a:p>
          <a:p xmlns:a="http://schemas.openxmlformats.org/drawingml/2006/main">
            <a:r>
              <a:t>    {</a:t>
            </a:r>
          </a:p>
          <a:p xmlns:a="http://schemas.openxmlformats.org/drawingml/2006/main">
            <a:r>
              <a:t>      "source_id": "team-bigdata:58ded7732251:589c76395cbc",</a:t>
            </a:r>
          </a:p>
          <a:p xmlns:a="http://schemas.openxmlformats.org/drawingml/2006/main">
            <a:r>
              <a:t>      "source_type": "nationwide_bigdata_dataset",</a:t>
            </a:r>
          </a:p>
          <a:p xmlns:a="http://schemas.openxmlformats.org/drawingml/2006/main">
            <a:r>
              <a:t>      "title": "한국관광 데이터랩 전국 빅데이터 다운로드 · 신용카드/외국인/지역별 관광지출액/20260820140409__202501-202512_데이터랩_다운로드.zip",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"source_file_name": "신용카드/외국인/지역별 관광지출액/20260820140409__202501-202512_데이터랩_다운로드.zip"</a:t>
            </a:r>
          </a:p>
          <a:p xmlns:a="http://schemas.openxmlformats.org/drawingml/2006/main">
            <a:r>
              <a:t>    },</a:t>
            </a:r>
          </a:p>
          <a:p xmlns:a="http://schemas.openxmlformats.org/drawingml/2006/main">
            <a:r>
              <a:t>    {</a:t>
            </a:r>
          </a:p>
          <a:p xmlns:a="http://schemas.openxmlformats.org/drawingml/2006/main">
            <a:r>
              <a:t>      "source_id": "team-bigdata:e28c947cb52f:bb4cb344a6ba",</a:t>
            </a:r>
          </a:p>
          <a:p xmlns:a="http://schemas.openxmlformats.org/drawingml/2006/main">
            <a:r>
              <a:t>      "source_type": "nationwide_bigdata_dataset",</a:t>
            </a:r>
          </a:p>
          <a:p xmlns:a="http://schemas.openxmlformats.org/drawingml/2006/main">
            <a:r>
              <a:t>      "title": "한국관광 데이터랩 전국 빅데이터 다운로드 · 네비게이션/지역별 검색건수/20260820132007__202501-202512_데이터랩_다운로드.zip",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"source_file_name": "네비게이션/지역별 검색건수/20260820132007__202501-202512_데이터랩_다운로드.zip"</a:t>
            </a:r>
          </a:p>
          <a:p xmlns:a="http://schemas.openxmlformats.org/drawingml/2006/main">
            <a:r>
              <a:t>    },</a:t>
            </a:r>
          </a:p>
          <a:p xmlns:a="http://schemas.openxmlformats.org/drawingml/2006/main">
            <a:r>
              <a:t>    {</a:t>
            </a:r>
          </a:p>
          <a:p xmlns:a="http://schemas.openxmlformats.org/drawingml/2006/main">
            <a:r>
              <a:t>      "source_id": "team-bigdata:8815bbb11a39:1a5988f5f8ec",</a:t>
            </a:r>
          </a:p>
          <a:p xmlns:a="http://schemas.openxmlformats.org/drawingml/2006/main">
            <a:r>
              <a:t>      "source_type": "nationwide_bigdata_dataset",</a:t>
            </a:r>
          </a:p>
          <a:p xmlns:a="http://schemas.openxmlformats.org/drawingml/2006/main">
            <a:r>
              <a:t>      "title": "한국관광 데이터랩 전국 빅데이터 다운로드 · 이동통신/내국인/지역별 방문자수/20260820140624__202401-202412_데이터랩_다운로드.zip",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"source_file_name": "이동통신/내국인/지역별 방문자수/20260820140624__202401-202412_데이터랩_다운로드.zip"</a:t>
            </a:r>
          </a:p>
          <a:p xmlns:a="http://schemas.openxmlformats.org/drawingml/2006/main">
            <a:r>
              <a:t>    },</a:t>
            </a:r>
          </a:p>
          <a:p xmlns:a="http://schemas.openxmlformats.org/drawingml/2006/main">
            <a:r>
              <a:t>    {</a:t>
            </a:r>
          </a:p>
          <a:p xmlns:a="http://schemas.openxmlformats.org/drawingml/2006/main">
            <a:r>
              <a:t>      "source_id": "team-bigdata:19fd67fbb73d:afa4f0f54a2f",</a:t>
            </a:r>
          </a:p>
          <a:p xmlns:a="http://schemas.openxmlformats.org/drawingml/2006/main">
            <a:r>
              <a:t>      "source_type": "nationwide_bigdata_dataset",</a:t>
            </a:r>
          </a:p>
          <a:p xmlns:a="http://schemas.openxmlformats.org/drawingml/2006/main">
            <a:r>
              <a:t>      "title": "한국관광 데이터랩 전국 빅데이터 다운로드 · 이동통신/외국인/20260820141639_전국_202401-202412_데이터랩_다운로드.zip",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"source_file_name": "이동통신/외국인/20260820141639_전국_202401-202412_데이터랩_다운로드.zip"</a:t>
            </a:r>
          </a:p>
          <a:p xmlns:a="http://schemas.openxmlformats.org/drawingml/2006/main">
            <a:r>
              <a:t>    },</a:t>
            </a:r>
          </a:p>
          <a:p xmlns:a="http://schemas.openxmlformats.org/drawingml/2006/main">
            <a:r>
              <a:t>    {</a:t>
            </a:r>
          </a:p>
          <a:p xmlns:a="http://schemas.openxmlformats.org/drawingml/2006/main">
            <a:r>
              <a:t>      "source_id": "regional-status:0c68fedc2071:0ad82310f803",</a:t>
            </a:r>
          </a:p>
          <a:p xmlns:a="http://schemas.openxmlformats.org/drawingml/2006/main">
            <a:r>
              <a:t>      "source_type": "regional_tourism_status",</a:t>
            </a:r>
          </a:p>
          <a:p xmlns:a="http://schemas.openxmlformats.org/drawingml/2006/main">
            <a:r>
              <a:t>      "title": "한국관광 데이터랩 지역별 관광 현황 · 대전광역시 서구 · 지역집중률",</a:t>
            </a:r>
          </a:p>
          <a:p xmlns:a="http://schemas.openxmlformats.org/drawingml/2006/main">
            <a:r>
              <a:t>      "source_url": "https://datalab.visitkorea.or.kr/",</a:t>
            </a:r>
          </a:p>
          <a:p xmlns:a="http://schemas.openxmlformats.org/drawingml/2006/main">
            <a:r>
              <a:t>      "summary": "관측 기간: 2025-07 ~ 2026-06. 유입·유출·인기장소 또는 30일 집중 운영 신호.",</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"source_id": "regional-status:4cddd6aa75d4:be8b01ec64e2",</a:t>
            </a:r>
          </a:p>
          <a:p xmlns:a="http://schemas.openxmlformats.org/drawingml/2006/main">
            <a:r>
              <a:t>      "source_type": "regional_tourism_status",</a:t>
            </a:r>
          </a:p>
          <a:p xmlns:a="http://schemas.openxmlformats.org/drawingml/2006/main">
            <a:r>
              <a:t>      "title": "한국관광 데이터랩 지역별 관광 현황 · 대전광역시 서구 · 유입유출",</a:t>
            </a:r>
          </a:p>
          <a:p xmlns:a="http://schemas.openxmlformats.org/drawingml/2006/main">
            <a:r>
              <a:t>      "source_url": "https://datalab.visitkorea.or.kr/",</a:t>
            </a:r>
          </a:p>
          <a:p xmlns:a="http://schemas.openxmlformats.org/drawingml/2006/main">
            <a:r>
              <a:t>      "summary": "관측 기간: 2025-07 ~ 2026-06. 유입·유출·인기장소 또는 30일 집중 운영 신호.",</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"source_id": "regional-status:8c9a813e95eb:5e0cc3f56b73",</a:t>
            </a:r>
          </a:p>
          <a:p xmlns:a="http://schemas.openxmlformats.org/drawingml/2006/main">
            <a:r>
              <a:t>      "source_type": "regional_tourism_status",</a:t>
            </a:r>
          </a:p>
          <a:p xmlns:a="http://schemas.openxmlformats.org/drawingml/2006/main">
            <a:r>
              <a:t>      "title": "한국관광 데이터랩 지역별 관광 현황 · 대전광역시 서구 · 인기관광지",</a:t>
            </a:r>
          </a:p>
          <a:p xmlns:a="http://schemas.openxmlformats.org/drawingml/2006/main">
            <a:r>
              <a:t>      "source_url": "https://datalab.visitkorea.or.kr/",</a:t>
            </a:r>
          </a:p>
          <a:p xmlns:a="http://schemas.openxmlformats.org/drawingml/2006/main">
            <a:r>
              <a:t>      "summary": "관측 기간: 2025-07 ~ 2026-06. 유입·유출·인기장소 또는 30일 집중 운영 신호.",</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"source_id": "ml:30170:regional-demand-v3.1:202606",</a:t>
            </a:r>
          </a:p>
          <a:p xmlns:a="http://schemas.openxmlformats.org/drawingml/2006/main">
            <a:r>
              <a:t>      "source_type": "model_forecast",</a:t>
            </a:r>
          </a:p>
          <a:p xmlns:a="http://schemas.openxmlformats.org/drawingml/2006/main">
            <a:r>
              <a:t>      "title": "지역 관광수요 ML 전망 · 공식 관측값 아님",</a:t>
            </a:r>
          </a:p>
          <a:p xmlns:a="http://schemas.openxmlformats.org/drawingml/2006/main">
            <a:r>
              <a:t>      "source_url": "",</a:t>
            </a:r>
          </a:p>
          <a:p xmlns:a="http://schemas.openxmlformats.org/drawingml/2006/main">
            <a:r>
              <a:t>      "summary": "학습 202401~202606 · 모델 regional-demand-v3.1 · 자연 추세 예측",</a:t>
            </a:r>
          </a:p>
          <a:p xmlns:a="http://schemas.openxmlformats.org/drawingml/2006/main">
            <a:r>
              <a:t>      "model_version": "regional-demand-v3.1",</a:t>
            </a:r>
          </a:p>
          <a:p xmlns:a="http://schemas.openxmlformats.org/drawingml/2006/main">
            <a:r>
              <a:t>      "data_fingerprint": "edea7fa8270d3b72aee15e6816efec3fce699e1bab55ebd844a10870c2f0e0a0"</a:t>
            </a:r>
          </a:p>
          <a:p xmlns:a="http://schemas.openxmlformats.org/drawingml/2006/main">
            <a:r>
              <a:t>    },</a:t>
            </a:r>
          </a:p>
          <a:p xmlns:a="http://schemas.openxmlformats.org/drawingml/2006/main">
            <a:r>
              <a:t>    {</a:t>
            </a:r>
          </a:p>
          <a:p xmlns:a="http://schemas.openxmlformats.org/drawingml/2006/main">
            <a:r>
              <a:t>      "source_id": "tour-api:2899643",</a:t>
            </a:r>
          </a:p>
          <a:p xmlns:a="http://schemas.openxmlformats.org/drawingml/2006/main">
            <a:r>
              <a:t>      "source_type": "open_api",</a:t>
            </a:r>
          </a:p>
          <a:p xmlns:a="http://schemas.openxmlformats.org/drawingml/2006/main">
            <a:r>
              <a:t>      "title": "갈마짬뽕",</a:t>
            </a:r>
          </a:p>
          <a:p xmlns:a="http://schemas.openxmlformats.org/drawingml/2006/main">
            <a:r>
              <a:t>      "source_url": "https://apis.data.go.kr/B551011/KorService2",</a:t>
            </a:r>
          </a:p>
          <a:p xmlns:a="http://schemas.openxmlformats.org/drawingml/2006/main">
            <a:r>
              <a:t>      "content_id": "2899643",</a:t>
            </a:r>
          </a:p>
          <a:p xmlns:a="http://schemas.openxmlformats.org/drawingml/2006/main">
            <a:r>
              <a:t>      "content_type_id": "39",</a:t>
            </a:r>
          </a:p>
          <a:p xmlns:a="http://schemas.openxmlformats.org/drawingml/2006/main">
            <a:r>
              <a:t>      "address": "대전광역시 서구 월평동로 5-11 (갈마동)",</a:t>
            </a:r>
          </a:p>
          <a:p xmlns:a="http://schemas.openxmlformats.org/drawingml/2006/main">
            <a:r>
              <a:t>      "image_url": "http://tong.visitkorea.or.kr/cms/resource/38/2899638_image2_1.jpg",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"tour-api:2899637",</a:t>
            </a:r>
          </a:p>
          <a:p xmlns:a="http://schemas.openxmlformats.org/drawingml/2006/main">
            <a:r>
              <a:t>      "source_type": "open_api",</a:t>
            </a:r>
          </a:p>
          <a:p xmlns:a="http://schemas.openxmlformats.org/drawingml/2006/main">
            <a:r>
              <a:t>      "title": "관저당",</a:t>
            </a:r>
          </a:p>
          <a:p xmlns:a="http://schemas.openxmlformats.org/drawingml/2006/main">
            <a:r>
              <a:t>      "source_url": "https://apis.data.go.kr/B551011/KorService2",</a:t>
            </a:r>
          </a:p>
          <a:p xmlns:a="http://schemas.openxmlformats.org/drawingml/2006/main">
            <a:r>
              <a:t>      "content_id": "2899637",</a:t>
            </a:r>
          </a:p>
          <a:p xmlns:a="http://schemas.openxmlformats.org/drawingml/2006/main">
            <a:r>
              <a:t>      "content_type_id": "39",</a:t>
            </a:r>
          </a:p>
          <a:p xmlns:a="http://schemas.openxmlformats.org/drawingml/2006/main">
            <a:r>
              <a:t>      "address": "대전광역시 서구 구봉산북로21번길 11 (관저동)",</a:t>
            </a:r>
          </a:p>
          <a:p xmlns:a="http://schemas.openxmlformats.org/drawingml/2006/main">
            <a:r>
              <a:t>      "image_url": "http://tong.visitkorea.or.kr/cms/resource/36/2899636_image2_1.jpg",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"tour-api:1932079",</a:t>
            </a:r>
          </a:p>
          <a:p xmlns:a="http://schemas.openxmlformats.org/drawingml/2006/main">
            <a:r>
              <a:t>      "source_type": "open_api",</a:t>
            </a:r>
          </a:p>
          <a:p xmlns:a="http://schemas.openxmlformats.org/drawingml/2006/main">
            <a:r>
              <a:t>      "title": "굿모닝레지던스호텔휴",</a:t>
            </a:r>
          </a:p>
          <a:p xmlns:a="http://schemas.openxmlformats.org/drawingml/2006/main">
            <a:r>
              <a:t>      "source_url": "https://apis.data.go.kr/B551011/KorService2",</a:t>
            </a:r>
          </a:p>
          <a:p xmlns:a="http://schemas.openxmlformats.org/drawingml/2006/main">
            <a:r>
              <a:t>      "content_id": "1932079",</a:t>
            </a:r>
          </a:p>
          <a:p xmlns:a="http://schemas.openxmlformats.org/drawingml/2006/main">
            <a:r>
              <a:t>      "content_type_id": "32",</a:t>
            </a:r>
          </a:p>
          <a:p xmlns:a="http://schemas.openxmlformats.org/drawingml/2006/main">
            <a:r>
              <a:t>      "address": "대전광역시 서구 둔산로73번길 21 (둔산동)",</a:t>
            </a:r>
          </a:p>
          <a:p xmlns:a="http://schemas.openxmlformats.org/drawingml/2006/main">
            <a:r>
              <a:t>      "image_url": "http://tong.visitkorea.or.kr/cms/resource/87/2584687_image2_1.jpg",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"tour-api:133881",</a:t>
            </a:r>
          </a:p>
          <a:p xmlns:a="http://schemas.openxmlformats.org/drawingml/2006/main">
            <a:r>
              <a:t>      "source_type": "open_api",</a:t>
            </a:r>
          </a:p>
          <a:p xmlns:a="http://schemas.openxmlformats.org/drawingml/2006/main">
            <a:r>
              <a:t>      "title": "귀빈돌솥밥",</a:t>
            </a:r>
          </a:p>
          <a:p xmlns:a="http://schemas.openxmlformats.org/drawingml/2006/main">
            <a:r>
              <a:t>      "source_url": "https://apis.data.go.kr/B551011/KorService2",</a:t>
            </a:r>
          </a:p>
          <a:p xmlns:a="http://schemas.openxmlformats.org/drawingml/2006/main">
            <a:r>
              <a:t>      "content_id": "133881",</a:t>
            </a:r>
          </a:p>
          <a:p xmlns:a="http://schemas.openxmlformats.org/drawingml/2006/main">
            <a:r>
              <a:t>      "content_type_id": "39",</a:t>
            </a:r>
          </a:p>
          <a:p xmlns:a="http://schemas.openxmlformats.org/drawingml/2006/main">
            <a:r>
              <a:t>      "address": "대전광역시 서구 만년로68번길 21",</a:t>
            </a:r>
          </a:p>
          <a:p xmlns:a="http://schemas.openxmlformats.org/drawingml/2006/main">
            <a:r>
              <a:t>      "image_url": "http://tong.visitkorea.or.kr/cms/resource/72/3060272_image2_1.JPG",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"tour-api:2758252",</a:t>
            </a:r>
          </a:p>
          <a:p xmlns:a="http://schemas.openxmlformats.org/drawingml/2006/main">
            <a:r>
              <a:t>      "source_type": "open_api",</a:t>
            </a:r>
          </a:p>
          <a:p xmlns:a="http://schemas.openxmlformats.org/drawingml/2006/main">
            <a:r>
              <a:t>      "title": "남선공원",</a:t>
            </a:r>
          </a:p>
          <a:p xmlns:a="http://schemas.openxmlformats.org/drawingml/2006/main">
            <a:r>
              <a:t>      "source_url": "https://apis.data.go.kr/B551011/KorService2",</a:t>
            </a:r>
          </a:p>
          <a:p xmlns:a="http://schemas.openxmlformats.org/drawingml/2006/main">
            <a:r>
              <a:t>      "content_id": "2758252",</a:t>
            </a:r>
          </a:p>
          <a:p xmlns:a="http://schemas.openxmlformats.org/drawingml/2006/main">
            <a:r>
              <a:t>      "content_type_id": "12",</a:t>
            </a:r>
          </a:p>
          <a:p xmlns:a="http://schemas.openxmlformats.org/drawingml/2006/main">
            <a:r>
              <a:t>      "address": "대전광역시 서구 남선로 66",</a:t>
            </a:r>
          </a:p>
          <a:p xmlns:a="http://schemas.openxmlformats.org/drawingml/2006/main">
            <a:r>
              <a:t>      "image_url": "http://tong.visitkorea.or.kr/cms/resource/24/3565624_image2_1.jpg",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"tour-api:298208",</a:t>
            </a:r>
          </a:p>
          <a:p xmlns:a="http://schemas.openxmlformats.org/drawingml/2006/main">
            <a:r>
              <a:t>      "source_type": "open_api",</a:t>
            </a:r>
          </a:p>
          <a:p xmlns:a="http://schemas.openxmlformats.org/drawingml/2006/main">
            <a:r>
              <a:t>      "title": "내원사(대전)",</a:t>
            </a:r>
          </a:p>
          <a:p xmlns:a="http://schemas.openxmlformats.org/drawingml/2006/main">
            <a:r>
              <a:t>      "source_url": "https://apis.data.go.kr/B551011/KorService2",</a:t>
            </a:r>
          </a:p>
          <a:p xmlns:a="http://schemas.openxmlformats.org/drawingml/2006/main">
            <a:r>
              <a:t>      "content_id": "298208",</a:t>
            </a:r>
          </a:p>
          <a:p xmlns:a="http://schemas.openxmlformats.org/drawingml/2006/main">
            <a:r>
              <a:t>      "content_type_id": "12",</a:t>
            </a:r>
          </a:p>
          <a:p xmlns:a="http://schemas.openxmlformats.org/drawingml/2006/main">
            <a:r>
              <a:t>      "address": "대전광역시 서구 배재로197번길 200",</a:t>
            </a:r>
          </a:p>
          <a:p xmlns:a="http://schemas.openxmlformats.org/drawingml/2006/main">
            <a:r>
              <a:t>      "image_url": "http://tong.visitkorea.or.kr/cms/resource/79/3034979_image2_1.JPG",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"tour-api:3452550",</a:t>
            </a:r>
          </a:p>
          <a:p xmlns:a="http://schemas.openxmlformats.org/drawingml/2006/main">
            <a:r>
              <a:t>      "source_type": "open_api",</a:t>
            </a:r>
          </a:p>
          <a:p xmlns:a="http://schemas.openxmlformats.org/drawingml/2006/main">
            <a:r>
              <a:t>      "title": "노크노크",</a:t>
            </a:r>
          </a:p>
          <a:p xmlns:a="http://schemas.openxmlformats.org/drawingml/2006/main">
            <a:r>
              <a:t>      "source_url": "https://apis.data.go.kr/B551011/KorService2",</a:t>
            </a:r>
          </a:p>
          <a:p xmlns:a="http://schemas.openxmlformats.org/drawingml/2006/main">
            <a:r>
              <a:t>      "content_id": "3452550",</a:t>
            </a:r>
          </a:p>
          <a:p xmlns:a="http://schemas.openxmlformats.org/drawingml/2006/main">
            <a:r>
              <a:t>      "content_type_id": "39",</a:t>
            </a:r>
          </a:p>
          <a:p xmlns:a="http://schemas.openxmlformats.org/drawingml/2006/main">
            <a:r>
              <a:t>      "address": "대전광역시 서구 둔산로 68 (둔산동)",</a:t>
            </a:r>
          </a:p>
          <a:p xmlns:a="http://schemas.openxmlformats.org/drawingml/2006/main">
            <a:r>
              <a:t>      "image_url": "http://tong.visitkorea.or.kr/cms/resource/59/3453059_image2_1.jpg",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"tour-api:2899585",</a:t>
            </a:r>
          </a:p>
          <a:p xmlns:a="http://schemas.openxmlformats.org/drawingml/2006/main">
            <a:r>
              <a:t>      "source_type": "open_api",</a:t>
            </a:r>
          </a:p>
          <a:p xmlns:a="http://schemas.openxmlformats.org/drawingml/2006/main">
            <a:r>
              <a:t>      "title": "대성콩국수",</a:t>
            </a:r>
          </a:p>
          <a:p xmlns:a="http://schemas.openxmlformats.org/drawingml/2006/main">
            <a:r>
              <a:t>      "source_url": "https://apis.data.go.kr/B551011/KorService2",</a:t>
            </a:r>
          </a:p>
          <a:p xmlns:a="http://schemas.openxmlformats.org/drawingml/2006/main">
            <a:r>
              <a:t>      "content_id": "2899585",</a:t>
            </a:r>
          </a:p>
          <a:p xmlns:a="http://schemas.openxmlformats.org/drawingml/2006/main">
            <a:r>
              <a:t>      "content_type_id": "39",</a:t>
            </a:r>
          </a:p>
          <a:p xmlns:a="http://schemas.openxmlformats.org/drawingml/2006/main">
            <a:r>
              <a:t>      "address": "대전광역시 서구 도산로 141",</a:t>
            </a:r>
          </a:p>
          <a:p xmlns:a="http://schemas.openxmlformats.org/drawingml/2006/main">
            <a:r>
              <a:t>      "image_url": "http://tong.visitkorea.or.kr/cms/resource/69/2899569_image2_1.jpg",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"tour-api:130802",</a:t>
            </a:r>
          </a:p>
          <a:p xmlns:a="http://schemas.openxmlformats.org/drawingml/2006/main">
            <a:r>
              <a:t>      "source_type": "open_api",</a:t>
            </a:r>
          </a:p>
          <a:p xmlns:a="http://schemas.openxmlformats.org/drawingml/2006/main">
            <a:r>
              <a:t>      "title": "대전 가수원도서관",</a:t>
            </a:r>
          </a:p>
          <a:p xmlns:a="http://schemas.openxmlformats.org/drawingml/2006/main">
            <a:r>
              <a:t>      "source_url": "https://apis.data.go.kr/B551011/KorService2",</a:t>
            </a:r>
          </a:p>
          <a:p xmlns:a="http://schemas.openxmlformats.org/drawingml/2006/main">
            <a:r>
              <a:t>      "content_id": "130802",</a:t>
            </a:r>
          </a:p>
          <a:p xmlns:a="http://schemas.openxmlformats.org/drawingml/2006/main">
            <a:r>
              <a:t>      "content_type_id": "14",</a:t>
            </a:r>
          </a:p>
          <a:p xmlns:a="http://schemas.openxmlformats.org/drawingml/2006/main">
            <a:r>
              <a:t>      "address": "대전광역시 서구 가수원로 91-11 (가수원동)",</a:t>
            </a:r>
          </a:p>
          <a:p xmlns:a="http://schemas.openxmlformats.org/drawingml/2006/main">
            <a:r>
              <a:t>      "image_url": "http://tong.visitkorea.or.kr/cms/resource/58/3033558_image2_1.JPG",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"tour-api:2743325",</a:t>
            </a:r>
          </a:p>
          <a:p xmlns:a="http://schemas.openxmlformats.org/drawingml/2006/main">
            <a:r>
              <a:t>      "source_type": "open_api",</a:t>
            </a:r>
          </a:p>
          <a:p xmlns:a="http://schemas.openxmlformats.org/drawingml/2006/main">
            <a:r>
              <a:t>      "title": "대전광역시청 시민잔디광장",</a:t>
            </a:r>
          </a:p>
          <a:p xmlns:a="http://schemas.openxmlformats.org/drawingml/2006/main">
            <a:r>
              <a:t>      "source_url": "https://apis.data.go.kr/B551011/KorService2",</a:t>
            </a:r>
          </a:p>
          <a:p xmlns:a="http://schemas.openxmlformats.org/drawingml/2006/main">
            <a:r>
              <a:t>      "content_id": "2743325",</a:t>
            </a:r>
          </a:p>
          <a:p xmlns:a="http://schemas.openxmlformats.org/drawingml/2006/main">
            <a:r>
              <a:t>      "content_type_id": "12",</a:t>
            </a:r>
          </a:p>
          <a:p xmlns:a="http://schemas.openxmlformats.org/drawingml/2006/main">
            <a:r>
              <a:t>      "address": "대전광역시 서구 둔산로 100",</a:t>
            </a:r>
          </a:p>
          <a:p xmlns:a="http://schemas.openxmlformats.org/drawingml/2006/main">
            <a:r>
              <a:t>      "image_url": "http://tong.visitkorea.or.kr/cms/resource/86/3565586_image2_1.jpg",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"tour-api:130197",</a:t>
            </a:r>
          </a:p>
          <a:p xmlns:a="http://schemas.openxmlformats.org/drawingml/2006/main">
            <a:r>
              <a:t>      "source_type": "open_api",</a:t>
            </a:r>
          </a:p>
          <a:p xmlns:a="http://schemas.openxmlformats.org/drawingml/2006/main">
            <a:r>
              <a:t>      "title": "대전서구문화원",</a:t>
            </a:r>
          </a:p>
          <a:p xmlns:a="http://schemas.openxmlformats.org/drawingml/2006/main">
            <a:r>
              <a:t>      "source_url": "https://apis.data.go.kr/B551011/KorService2",</a:t>
            </a:r>
          </a:p>
          <a:p xmlns:a="http://schemas.openxmlformats.org/drawingml/2006/main">
            <a:r>
              <a:t>      "content_id": "130197",</a:t>
            </a:r>
          </a:p>
          <a:p xmlns:a="http://schemas.openxmlformats.org/drawingml/2006/main">
            <a:r>
              <a:t>      "content_type_id": "14",</a:t>
            </a:r>
          </a:p>
          <a:p xmlns:a="http://schemas.openxmlformats.org/drawingml/2006/main">
            <a:r>
              <a:t>      "address": "대전광역시 서구 계룡로553번길 38",</a:t>
            </a:r>
          </a:p>
          <a:p xmlns:a="http://schemas.openxmlformats.org/drawingml/2006/main">
            <a:r>
              <a:t>      "image_url": "http://tong.visitkorea.or.kr/cms/resource/43/3585043_image2_1.jpg",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"tour-api:2865847",</a:t>
            </a:r>
          </a:p>
          <a:p xmlns:a="http://schemas.openxmlformats.org/drawingml/2006/main">
            <a:r>
              <a:t>      "source_type": "open_api",</a:t>
            </a:r>
          </a:p>
          <a:p xmlns:a="http://schemas.openxmlformats.org/drawingml/2006/main">
            <a:r>
              <a:t>      "title": "델빠네",</a:t>
            </a:r>
          </a:p>
          <a:p xmlns:a="http://schemas.openxmlformats.org/drawingml/2006/main">
            <a:r>
              <a:t>      "source_url": "https://apis.data.go.kr/B551011/KorService2",</a:t>
            </a:r>
          </a:p>
          <a:p xmlns:a="http://schemas.openxmlformats.org/drawingml/2006/main">
            <a:r>
              <a:t>      "content_id": "2865847",</a:t>
            </a:r>
          </a:p>
          <a:p xmlns:a="http://schemas.openxmlformats.org/drawingml/2006/main">
            <a:r>
              <a:t>      "content_type_id": "39",</a:t>
            </a:r>
          </a:p>
          <a:p xmlns:a="http://schemas.openxmlformats.org/drawingml/2006/main">
            <a:r>
              <a:t>      "address": "대전광역시 서구 원도안로207번길 16-61 (도안동)",</a:t>
            </a:r>
          </a:p>
          <a:p xmlns:a="http://schemas.openxmlformats.org/drawingml/2006/main">
            <a:r>
              <a:t>      "image_url": "http://tong.visitkorea.or.kr/cms/resource/36/2865836_image2_1.jpg",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"tour-api:2758334",</a:t>
            </a:r>
          </a:p>
          <a:p xmlns:a="http://schemas.openxmlformats.org/drawingml/2006/main">
            <a:r>
              <a:t>      "source_type": "open_api",</a:t>
            </a:r>
          </a:p>
          <a:p xmlns:a="http://schemas.openxmlformats.org/drawingml/2006/main">
            <a:r>
              <a:t>      "title": "도마큰시장",</a:t>
            </a:r>
          </a:p>
          <a:p xmlns:a="http://schemas.openxmlformats.org/drawingml/2006/main">
            <a:r>
              <a:t>      "source_url": "https://apis.data.go.kr/B551011/KorService2",</a:t>
            </a:r>
          </a:p>
          <a:p xmlns:a="http://schemas.openxmlformats.org/drawingml/2006/main">
            <a:r>
              <a:t>      "content_id": "2758334",</a:t>
            </a:r>
          </a:p>
          <a:p xmlns:a="http://schemas.openxmlformats.org/drawingml/2006/main">
            <a:r>
              <a:t>      "content_type_id": "38",</a:t>
            </a:r>
          </a:p>
          <a:p xmlns:a="http://schemas.openxmlformats.org/drawingml/2006/main">
            <a:r>
              <a:t>      "address": "대전광역시 서구 도마4길 69 (도마동)",</a:t>
            </a:r>
          </a:p>
          <a:p xmlns:a="http://schemas.openxmlformats.org/drawingml/2006/main">
            <a:r>
              <a:t>      "image_url": "http://tong.visitkorea.or.kr/cms/resource/34/3565534_image2_1.jpg",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"tour-api:1955818",</a:t>
            </a:r>
          </a:p>
          <a:p xmlns:a="http://schemas.openxmlformats.org/drawingml/2006/main">
            <a:r>
              <a:t>      "source_type": "open_api",</a:t>
            </a:r>
          </a:p>
          <a:p xmlns:a="http://schemas.openxmlformats.org/drawingml/2006/main">
            <a:r>
              <a:t>      "title": "도산서원(대전)",</a:t>
            </a:r>
          </a:p>
          <a:p xmlns:a="http://schemas.openxmlformats.org/drawingml/2006/main">
            <a:r>
              <a:t>      "source_url": "https://apis.data.go.kr/B551011/KorService2",</a:t>
            </a:r>
          </a:p>
          <a:p xmlns:a="http://schemas.openxmlformats.org/drawingml/2006/main">
            <a:r>
              <a:t>      "content_id": "1955818",</a:t>
            </a:r>
          </a:p>
          <a:p xmlns:a="http://schemas.openxmlformats.org/drawingml/2006/main">
            <a:r>
              <a:t>      "content_type_id": "12",</a:t>
            </a:r>
          </a:p>
          <a:p xmlns:a="http://schemas.openxmlformats.org/drawingml/2006/main">
            <a:r>
              <a:t>      "address": "대전광역시 서구 남선로 8",</a:t>
            </a:r>
          </a:p>
          <a:p xmlns:a="http://schemas.openxmlformats.org/drawingml/2006/main">
            <a:r>
              <a:t>      "image_url": "http://tong.visitkorea.or.kr/cms/resource/24/3035024_image2_1.JPG",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"tour-api:2758341",</a:t>
            </a:r>
          </a:p>
          <a:p xmlns:a="http://schemas.openxmlformats.org/drawingml/2006/main">
            <a:r>
              <a:t>      "source_type": "open_api",</a:t>
            </a:r>
          </a:p>
          <a:p xmlns:a="http://schemas.openxmlformats.org/drawingml/2006/main">
            <a:r>
              <a:t>      "title": "둔산꽃시장",</a:t>
            </a:r>
          </a:p>
          <a:p xmlns:a="http://schemas.openxmlformats.org/drawingml/2006/main">
            <a:r>
              <a:t>      "source_url": "https://apis.data.go.kr/B551011/KorService2",</a:t>
            </a:r>
          </a:p>
          <a:p xmlns:a="http://schemas.openxmlformats.org/drawingml/2006/main">
            <a:r>
              <a:t>      "content_id": "2758341",</a:t>
            </a:r>
          </a:p>
          <a:p xmlns:a="http://schemas.openxmlformats.org/drawingml/2006/main">
            <a:r>
              <a:t>      "content_type_id": "38",</a:t>
            </a:r>
          </a:p>
          <a:p xmlns:a="http://schemas.openxmlformats.org/drawingml/2006/main">
            <a:r>
              <a:t>      "address": "대전광역시 서구 둔산북로 22 (둔산동)",</a:t>
            </a:r>
          </a:p>
          <a:p xmlns:a="http://schemas.openxmlformats.org/drawingml/2006/main">
            <a:r>
              <a:t>      "image_url": "http://tong.visitkorea.or.kr/cms/resource/31/2758631_image2_1.jpg",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"tour-api:1623725",</a:t>
            </a:r>
          </a:p>
          <a:p xmlns:a="http://schemas.openxmlformats.org/drawingml/2006/main">
            <a:r>
              <a:t>      "source_type": "open_api",</a:t>
            </a:r>
          </a:p>
          <a:p xmlns:a="http://schemas.openxmlformats.org/drawingml/2006/main">
            <a:r>
              <a:t>      "title": "둔산전자타운",</a:t>
            </a:r>
          </a:p>
          <a:p xmlns:a="http://schemas.openxmlformats.org/drawingml/2006/main">
            <a:r>
              <a:t>      "source_url": "https://apis.data.go.kr/B551011/KorService2",</a:t>
            </a:r>
          </a:p>
          <a:p xmlns:a="http://schemas.openxmlformats.org/drawingml/2006/main">
            <a:r>
              <a:t>      "content_id": "1623725",</a:t>
            </a:r>
          </a:p>
          <a:p xmlns:a="http://schemas.openxmlformats.org/drawingml/2006/main">
            <a:r>
              <a:t>      "content_type_id": "38",</a:t>
            </a:r>
          </a:p>
          <a:p xmlns:a="http://schemas.openxmlformats.org/drawingml/2006/main">
            <a:r>
              <a:t>      "address": "대전광역시 서구 도산로403번길 21",</a:t>
            </a:r>
          </a:p>
          <a:p xmlns:a="http://schemas.openxmlformats.org/drawingml/2006/main">
            <a:r>
              <a:t>      "image_url": "http://tong.visitkorea.or.kr/cms/resource/60/3565560_image2_1.jpg",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"tour-api:132661",</a:t>
            </a:r>
          </a:p>
          <a:p xmlns:a="http://schemas.openxmlformats.org/drawingml/2006/main">
            <a:r>
              <a:t>      "source_type": "open_api",</a:t>
            </a:r>
          </a:p>
          <a:p xmlns:a="http://schemas.openxmlformats.org/drawingml/2006/main">
            <a:r>
              <a:t>      "title": "롯데백화점 (대전점)",</a:t>
            </a:r>
          </a:p>
          <a:p xmlns:a="http://schemas.openxmlformats.org/drawingml/2006/main">
            <a:r>
              <a:t>      "source_url": "https://apis.data.go.kr/B551011/KorService2",</a:t>
            </a:r>
          </a:p>
          <a:p xmlns:a="http://schemas.openxmlformats.org/drawingml/2006/main">
            <a:r>
              <a:t>      "content_id": "132661",</a:t>
            </a:r>
          </a:p>
          <a:p xmlns:a="http://schemas.openxmlformats.org/drawingml/2006/main">
            <a:r>
              <a:t>      "content_type_id": "38",</a:t>
            </a:r>
          </a:p>
          <a:p xmlns:a="http://schemas.openxmlformats.org/drawingml/2006/main">
            <a:r>
              <a:t>      "address": "대전광역시 서구 계룡로 598 (괴정동)",</a:t>
            </a:r>
          </a:p>
          <a:p xmlns:a="http://schemas.openxmlformats.org/drawingml/2006/main">
            <a:r>
              <a:t>      "image_url": "http://tong.visitkorea.or.kr/cms/resource/21/3443221_image2_1.jpg",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"tour-api:2758646",</a:t>
            </a:r>
          </a:p>
          <a:p xmlns:a="http://schemas.openxmlformats.org/drawingml/2006/main">
            <a:r>
              <a:t>      "source_type": "open_api",</a:t>
            </a:r>
          </a:p>
          <a:p xmlns:a="http://schemas.openxmlformats.org/drawingml/2006/main">
            <a:r>
              <a:t>      "title": "마치광장",</a:t>
            </a:r>
          </a:p>
          <a:p xmlns:a="http://schemas.openxmlformats.org/drawingml/2006/main">
            <a:r>
              <a:t>      "source_url": "https://apis.data.go.kr/B551011/KorService2",</a:t>
            </a:r>
          </a:p>
          <a:p xmlns:a="http://schemas.openxmlformats.org/drawingml/2006/main">
            <a:r>
              <a:t>      "content_id": "2758646",</a:t>
            </a:r>
          </a:p>
          <a:p xmlns:a="http://schemas.openxmlformats.org/drawingml/2006/main">
            <a:r>
              <a:t>      "content_type_id": "12",</a:t>
            </a:r>
          </a:p>
          <a:p xmlns:a="http://schemas.openxmlformats.org/drawingml/2006/main">
            <a:r>
              <a:t>      "address": "대전광역시 서구 구봉로131번길 27",</a:t>
            </a:r>
          </a:p>
          <a:p xmlns:a="http://schemas.openxmlformats.org/drawingml/2006/main">
            <a:r>
              <a:t>      "image_url": "http://tong.visitkorea.or.kr/cms/resource/16/3542516_image2_1.jpg",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"tour-api:2899544",</a:t>
            </a:r>
          </a:p>
          <a:p xmlns:a="http://schemas.openxmlformats.org/drawingml/2006/main">
            <a:r>
              <a:t>      "source_type": "open_api",</a:t>
            </a:r>
          </a:p>
          <a:p xmlns:a="http://schemas.openxmlformats.org/drawingml/2006/main">
            <a:r>
              <a:t>      "title": "몽뜨",</a:t>
            </a:r>
          </a:p>
          <a:p xmlns:a="http://schemas.openxmlformats.org/drawingml/2006/main">
            <a:r>
              <a:t>      "source_url": "https://apis.data.go.kr/B551011/KorService2",</a:t>
            </a:r>
          </a:p>
          <a:p xmlns:a="http://schemas.openxmlformats.org/drawingml/2006/main">
            <a:r>
              <a:t>      "content_id": "2899544",</a:t>
            </a:r>
          </a:p>
          <a:p xmlns:a="http://schemas.openxmlformats.org/drawingml/2006/main">
            <a:r>
              <a:t>      "content_type_id": "39",</a:t>
            </a:r>
          </a:p>
          <a:p xmlns:a="http://schemas.openxmlformats.org/drawingml/2006/main">
            <a:r>
              <a:t>      "address": "대전광역시 서구 원도안로257번길 48 (도안동)",</a:t>
            </a:r>
          </a:p>
          <a:p xmlns:a="http://schemas.openxmlformats.org/drawingml/2006/main">
            <a:r>
              <a:t>      "image_url": "http://tong.visitkorea.or.kr/cms/resource/35/2899535_image2_1.jpg",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"tour-api:2865914",</a:t>
            </a:r>
          </a:p>
          <a:p xmlns:a="http://schemas.openxmlformats.org/drawingml/2006/main">
            <a:r>
              <a:t>      "source_type": "open_api",</a:t>
            </a:r>
          </a:p>
          <a:p xmlns:a="http://schemas.openxmlformats.org/drawingml/2006/main">
            <a:r>
              <a:t>      "title": "미세노센세",</a:t>
            </a:r>
          </a:p>
          <a:p xmlns:a="http://schemas.openxmlformats.org/drawingml/2006/main">
            <a:r>
              <a:t>      "source_url": "https://apis.data.go.kr/B551011/KorService2",</a:t>
            </a:r>
          </a:p>
          <a:p xmlns:a="http://schemas.openxmlformats.org/drawingml/2006/main">
            <a:r>
              <a:t>      "content_id": "2865914",</a:t>
            </a:r>
          </a:p>
          <a:p xmlns:a="http://schemas.openxmlformats.org/drawingml/2006/main">
            <a:r>
              <a:t>      "content_type_id": "39",</a:t>
            </a:r>
          </a:p>
          <a:p xmlns:a="http://schemas.openxmlformats.org/drawingml/2006/main">
            <a:r>
              <a:t>      "address": "대전광역시 서구 계룡로553번안길 65 (탄방동)",</a:t>
            </a:r>
          </a:p>
          <a:p xmlns:a="http://schemas.openxmlformats.org/drawingml/2006/main">
            <a:r>
              <a:t>      "image_url": "http://tong.visitkorea.or.kr/cms/resource/05/2865905_image2_1.jpg",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"reference:kto:2026:local-airport",</a:t>
            </a:r>
          </a:p>
          <a:p xmlns:a="http://schemas.openxmlformats.org/drawingml/2006/main">
            <a:r>
              <a:t>      "source_type": "rag",</a:t>
            </a:r>
          </a:p>
          <a:p xmlns:a="http://schemas.openxmlformats.org/drawingml/2006/main">
            <a:r>
              <a:t>      "title": "요즘, 한국관광 2호 - 지방공항 연계 지역관광 활성화 방안",</a:t>
            </a:r>
          </a:p>
          <a:p xmlns:a="http://schemas.openxmlformats.org/drawingml/2006/main">
            <a:r>
              <a:t>      "source_url": "https://datalab.visitkorea.or.kr/site/portal/ex/bbs/View.do?bcIdx=311068&amp;cbIdx=1135&amp;pageIndex=1",</a:t>
            </a:r>
          </a:p>
          <a:p xmlns:a="http://schemas.openxmlformats.org/drawingml/2006/main">
            <a:r>
              <a:t>      "published_or_updated_at": "2026-08",</a:t>
            </a:r>
          </a:p>
          <a:p xmlns:a="http://schemas.openxmlformats.org/drawingml/2006/main">
            <a:r>
              <a:t>      "document_type": "policy",</a:t>
            </a:r>
          </a:p>
          <a:p xmlns:a="http://schemas.openxmlformats.org/drawingml/2006/main">
            <a:r>
              <a:t>      "region_code": "ALL",</a:t>
            </a:r>
          </a:p>
          <a:p xmlns:a="http://schemas.openxmlformats.org/drawingml/2006/main">
            <a:r>
              <a:t>      "region_name": "전국 공통",</a:t>
            </a:r>
          </a:p>
          <a:p xmlns:a="http://schemas.openxmlformats.org/drawingml/2006/main">
            <a:r>
              <a:t>      "case_region": "",</a:t>
            </a:r>
          </a:p>
          <a:p xmlns:a="http://schemas.openxmlformats.org/drawingml/2006/main">
            <a:r>
              <a:t>      "intervention": "",</a:t>
            </a:r>
          </a:p>
          <a:p xmlns:a="http://schemas.openxmlformats.org/drawingml/2006/main">
            <a:r>
              <a:t>      "evidence_strength": "medium",</a:t>
            </a:r>
          </a:p>
          <a:p xmlns:a="http://schemas.openxmlformats.org/drawingml/2006/main">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xmlns:a="http://schemas.openxmlformats.org/drawingml/2006/main">
            <a:r>
              <a:t>      "retrieval_method": "local_curated_chunk",</a:t>
            </a:r>
          </a:p>
          <a:p xmlns:a="http://schemas.openxmlformats.org/drawingml/2006/main">
            <a:r>
              <a:t>      "matched_terms": [</a:t>
            </a:r>
          </a:p>
          <a:p xmlns:a="http://schemas.openxmlformats.org/drawingml/2006/main">
            <a:r>
              <a:t>        "관광",</a:t>
            </a:r>
          </a:p>
          <a:p xmlns:a="http://schemas.openxmlformats.org/drawingml/2006/main">
            <a:r>
              <a:t>        "상권",</a:t>
            </a:r>
          </a:p>
          <a:p xmlns:a="http://schemas.openxmlformats.org/drawingml/2006/main">
            <a:r>
              <a:t>        "성과",</a:t>
            </a:r>
          </a:p>
          <a:p xmlns:a="http://schemas.openxmlformats.org/drawingml/2006/main">
            <a:r>
              <a:t>        "소비",</a:t>
            </a:r>
          </a:p>
          <a:p xmlns:a="http://schemas.openxmlformats.org/drawingml/2006/main">
            <a:r>
              <a:t>        "수와",</a:t>
            </a:r>
          </a:p>
          <a:p xmlns:a="http://schemas.openxmlformats.org/drawingml/2006/main">
            <a:r>
              <a:t>        "숙박",</a:t>
            </a:r>
          </a:p>
          <a:p xmlns:a="http://schemas.openxmlformats.org/drawingml/2006/main">
            <a:r>
              <a:t>        "실제",</a:t>
            </a:r>
          </a:p>
          <a:p xmlns:a="http://schemas.openxmlformats.org/drawingml/2006/main">
            <a:r>
              <a:t>        "연결한",</a:t>
            </a:r>
          </a:p>
          <a:p xmlns:a="http://schemas.openxmlformats.org/drawingml/2006/main">
            <a:r>
              <a:t>        "예산",</a:t>
            </a:r>
          </a:p>
          <a:p xmlns:a="http://schemas.openxmlformats.org/drawingml/2006/main">
            <a:r>
              <a:t>        "운영",</a:t>
            </a:r>
          </a:p>
          <a:p xmlns:a="http://schemas.openxmlformats.org/drawingml/2006/main">
            <a:r>
              <a:t>        "정책",</a:t>
            </a:r>
          </a:p>
          <a:p xmlns:a="http://schemas.openxmlformats.org/drawingml/2006/main">
            <a:r>
              <a:t>        "중심으로",</a:t>
            </a:r>
          </a:p>
          <a:p xmlns:a="http://schemas.openxmlformats.org/drawingml/2006/main">
            <a:r>
              <a:t>        "지역",</a:t>
            </a:r>
          </a:p>
          <a:p xmlns:a="http://schemas.openxmlformats.org/drawingml/2006/main">
            <a:r>
              <a:t>        "체류",</a:t>
            </a:r>
          </a:p>
          <a:p xmlns:a="http://schemas.openxmlformats.org/drawingml/2006/main">
            <a:r>
              <a:t>        "함께"</a:t>
            </a:r>
          </a:p>
          <a:p xmlns:a="http://schemas.openxmlformats.org/drawingml/2006/main">
            <a:r>
              <a:t>      ],</a:t>
            </a:r>
          </a:p>
          <a:p xmlns:a="http://schemas.openxmlformats.org/drawingml/2006/main">
            <a:r>
              <a:t>      "page_references": "PDF 44쪽, PDF 40쪽, PDF 41쪽, PDF 41쪽, PDF 43쪽",</a:t>
            </a:r>
          </a:p>
          <a:p xmlns:a="http://schemas.openxmlformats.org/drawingml/2006/main">
            <a:r>
              <a:t>      "source_note": "지방공항·연계 지역에 관한 자료입니다. 다른 시군구의 사업 효과·예산을 보장하는 근거로 사용하지 않습니다.",</a:t>
            </a:r>
          </a:p>
          <a:p xmlns:a="http://schemas.openxmlformats.org/drawingml/2006/main">
            <a:r>
              <a:t>      "chunk_id": "reference:kto:2026:local-airport:page:044:chunk:01",</a:t>
            </a:r>
          </a:p>
          <a:p xmlns:a="http://schemas.openxmlformats.org/drawingml/2006/main">
            <a:r>
              <a:t>      "parent_source_id": "reference:kto:2026:local-airport",</a:t>
            </a:r>
          </a:p>
          <a:p xmlns:a="http://schemas.openxmlformats.org/drawingml/2006/main">
            <a:r>
              <a:t>      "chunk_ids": [</a:t>
            </a:r>
          </a:p>
          <a:p xmlns:a="http://schemas.openxmlformats.org/drawingml/2006/main">
            <a:r>
              <a:t>        "reference:kto:2026:local-airport:page:040:chunk:02",</a:t>
            </a:r>
          </a:p>
          <a:p xmlns:a="http://schemas.openxmlformats.org/drawingml/2006/main">
            <a:r>
              <a:t>        "reference:kto:2026:local-airport:page:041:chunk:01",</a:t>
            </a:r>
          </a:p>
          <a:p xmlns:a="http://schemas.openxmlformats.org/drawingml/2006/main">
            <a:r>
              <a:t>        "reference:kto:2026:local-airport:page:041:chunk:02",</a:t>
            </a:r>
          </a:p>
          <a:p xmlns:a="http://schemas.openxmlformats.org/drawingml/2006/main">
            <a:r>
              <a:t>        "reference:kto:2026:local-airport:page:043:chunk:01",</a:t>
            </a:r>
          </a:p>
          <a:p xmlns:a="http://schemas.openxmlformats.org/drawingml/2006/main">
            <a:r>
              <a:t>        "reference:kto:2026:local-airport:page:044:chunk:01"</a:t>
            </a:r>
          </a:p>
          <a:p xmlns:a="http://schemas.openxmlformats.org/drawingml/2006/main">
            <a:r>
              <a:t>      ],</a:t>
            </a:r>
          </a:p>
          <a:p xmlns:a="http://schemas.openxmlformats.org/drawingml/2006/main">
            <a:r>
              <a:t>      "source_chunk_count": 5</a:t>
            </a:r>
          </a:p>
          <a:p xmlns:a="http://schemas.openxmlformats.org/drawingml/2006/main">
            <a:r>
              <a:t>    },</a:t>
            </a:r>
          </a:p>
          <a:p xmlns:a="http://schemas.openxmlformats.org/drawingml/2006/main">
            <a:r>
              <a:t>    {</a:t>
            </a:r>
          </a:p>
          <a:p xmlns:a="http://schemas.openxmlformats.org/drawingml/2006/main">
            <a:r>
              <a:t>      "source_id": "web:30170:1",</a:t>
            </a:r>
          </a:p>
          <a:p xmlns:a="http://schemas.openxmlformats.org/drawingml/2006/main">
            <a:r>
              <a:t>      "source_type": "official_web",</a:t>
            </a:r>
          </a:p>
          <a:p xmlns:a="http://schemas.openxmlformats.org/drawingml/2006/main">
            <a:r>
              <a:t>      "title": "한밭수목원 | 열린관광 모두의 여행",</a:t>
            </a:r>
          </a:p>
          <a:p xmlns:a="http://schemas.openxmlformats.org/drawingml/2006/main">
            <a:r>
              <a:t>      "source_url": "https://access.visitkorea.or.kr/ms/detail.do?cotId=81cc7479-c010-4bdd-9a29-3121bb578cb8",</a:t>
            </a:r>
          </a:p>
          <a:p xmlns:a="http://schemas.openxmlformats.org/drawingml/2006/main">
            <a:r>
              <a:t>      "published_or_updated_at": "2026-09-10 수정",</a:t>
            </a:r>
          </a:p>
          <a:p xmlns:a="http://schemas.openxmlformats.org/drawingml/2006/main">
            <a:r>
              <a:t>      "summary": "한밭수목원은 대전광역시 서구 둔산대로 169에 있으며, 정부대전청사 녹지축 및 예술의전당·미술관·연정국악원 등 문화예술 시설과 연계된 공간으로 안내된다.",</a:t>
            </a:r>
          </a:p>
          <a:p xmlns:a="http://schemas.openxmlformats.org/drawingml/2006/main">
            <a:r>
              <a:t>      "why_relevant": "둔산권에서 자연관광과 문화관람을 한 동선으로 묶을 수 있는 공식 인프라 조건이다. 단, 개별 시설의 공동운영·할인·참여 여부는 확인되지 않았으므로 기관 협의 전제로만 활용해야 한다."</a:t>
            </a:r>
          </a:p>
          <a:p xmlns:a="http://schemas.openxmlformats.org/drawingml/2006/main">
            <a:r>
              <a:t>    },</a:t>
            </a:r>
          </a:p>
          <a:p xmlns:a="http://schemas.openxmlformats.org/drawingml/2006/main">
            <a:r>
              <a:t>    {</a:t>
            </a:r>
          </a:p>
          <a:p xmlns:a="http://schemas.openxmlformats.org/drawingml/2006/main">
            <a:r>
              <a:t>      "source_id": "web:30170:2",</a:t>
            </a:r>
          </a:p>
          <a:p xmlns:a="http://schemas.openxmlformats.org/drawingml/2006/main">
            <a:r>
              <a:t>      "source_type": "official_web",</a:t>
            </a:r>
          </a:p>
          <a:p xmlns:a="http://schemas.openxmlformats.org/drawingml/2006/main">
            <a:r>
              <a:t>      "title": "Hanbat Arboretum (한밭수목원) - VISITKOREA",</a:t>
            </a:r>
          </a:p>
          <a:p xmlns:a="http://schemas.openxmlformats.org/drawingml/2006/main">
            <a:r>
              <a:t>      "source_url": "https://english.visitkorea.or.kr/svc/contents/contentsView.do?vcontsId=82059",</a:t>
            </a:r>
          </a:p>
          <a:p xmlns:a="http://schemas.openxmlformats.org/drawingml/2006/main">
            <a:r>
              <a:t>      "published_or_updated_at": "검색 시점 기준 현재 운영정보",</a:t>
            </a:r>
          </a:p>
          <a:p xmlns:a="http://schemas.openxmlformats.org/drawingml/2006/main">
            <a:r>
              <a:t>      "summary": "한밭수목원의 10월~3월 동원·서원 운영시간은 08:00~19:00이며, 열대식물원은 09:00~18:00이다. 동원·열대식물원은 월요일, 서원은 화요일에 휴원한다.",</a:t>
            </a:r>
          </a:p>
          <a:p xmlns:a="http://schemas.openxmlformats.org/drawingml/2006/main">
            <a:r>
              <a:t>      "why_relevant": "고정 운영기간인 2026년 10월~12월의 현장 프로그램은 종료시간 이전에 수목원 구간을 배치해야 한다. 월·화요일에는 동일한 수목원 구간을 전제로 한 전일 프로그램을 고정 편성하지 않고, 휴원일 대체 동선을 따로 설계해야 한다."</a:t>
            </a:r>
          </a:p>
          <a:p xmlns:a="http://schemas.openxmlformats.org/drawingml/2006/main">
            <a:r>
              <a:t>    },</a:t>
            </a:r>
          </a:p>
          <a:p xmlns:a="http://schemas.openxmlformats.org/drawingml/2006/main">
            <a:r>
              <a:t>    {</a:t>
            </a:r>
          </a:p>
          <a:p xmlns:a="http://schemas.openxmlformats.org/drawingml/2006/main">
            <a:r>
              <a:t>      "source_id": "web:30170:3",</a:t>
            </a:r>
          </a:p>
          <a:p xmlns:a="http://schemas.openxmlformats.org/drawingml/2006/main">
            <a:r>
              <a:t>      "source_type": "official_web",</a:t>
            </a:r>
          </a:p>
          <a:p xmlns:a="http://schemas.openxmlformats.org/drawingml/2006/main">
            <a:r>
              <a:t>      "title": "대전예술의전당 | 열린관광 모두의 여행",</a:t>
            </a:r>
          </a:p>
          <a:p xmlns:a="http://schemas.openxmlformats.org/drawingml/2006/main">
            <a:r>
              <a:t>      "source_url": "https://access.visitkorea.or.kr/ms/detail.do?cotId=af31b729-4eda-469b-b4cc-73ea3a1c8028",</a:t>
            </a:r>
          </a:p>
          <a:p xmlns:a="http://schemas.openxmlformats.org/drawingml/2006/main">
            <a:r>
              <a:t>      "published_or_updated_at": "2026-07-31 수정",</a:t>
            </a:r>
          </a:p>
          <a:p xmlns:a="http://schemas.openxmlformats.org/drawingml/2006/main">
            <a:r>
              <a:t>      "summary": "대전예술의전당은 서구 둔산대로 135의 둔산대공원 내 종합공연장으로, 대형공연이 가능한 아트홀, 앙상블홀, 국제회의·세미나·연회 활용이 가능한 컨벤션홀이 안내되어 있다.",</a:t>
            </a:r>
          </a:p>
          <a:p xmlns:a="http://schemas.openxmlformats.org/drawingml/2006/main">
            <a:r>
              <a:t>      "why_relevant": "공연 일정이 확정되는 날에는 수목원·미술관 권역과 식음 상권을 연결하는 저녁 체류 동선의 문화 앵커 후보가 된다. 다만 2026년 10~12월의 실제 공연 편성, 대관·협력 가능 여부, 티켓 연계는 별도 확인이 필요하다."</a:t>
            </a:r>
          </a:p>
          <a:p xmlns:a="http://schemas.openxmlformats.org/drawingml/2006/main">
            <a:r>
              <a:t>    },</a:t>
            </a:r>
          </a:p>
          <a:p xmlns:a="http://schemas.openxmlformats.org/drawingml/2006/main">
            <a:r>
              <a:t>    {</a:t>
            </a:r>
          </a:p>
          <a:p xmlns:a="http://schemas.openxmlformats.org/drawingml/2006/main">
            <a:r>
              <a:t>      "source_id": "web:30170:4",</a:t>
            </a:r>
          </a:p>
          <a:p xmlns:a="http://schemas.openxmlformats.org/drawingml/2006/main">
            <a:r>
              <a:t>      "source_type": "official_web",</a:t>
            </a:r>
          </a:p>
          <a:p xmlns:a="http://schemas.openxmlformats.org/drawingml/2006/main">
            <a:r>
              <a:t>      "title": "한민시장 | 열린관광 모두의 여행",</a:t>
            </a:r>
          </a:p>
          <a:p xmlns:a="http://schemas.openxmlformats.org/drawingml/2006/main">
            <a:r>
              <a:t>      "source_url": "https://access.visitkorea.or.kr/ms/detail.do?cotId=72bba786-e15a-478a-bc99-c9d15ff27727",</a:t>
            </a:r>
          </a:p>
          <a:p xmlns:a="http://schemas.openxmlformats.org/drawingml/2006/main">
            <a:r>
              <a:t>      "published_or_updated_at": "2026-06-24 수정",</a:t>
            </a:r>
          </a:p>
          <a:p xmlns:a="http://schemas.openxmlformats.org/drawingml/2006/main">
            <a:r>
              <a:t>      "summary": "한민시장은 서구 가장로 106에 위치하며, 용문역과 가깝고 주변 한밭수목원·엑스포시민광장·엑스포과학공원과의 연계 관광이 가능한 곳으로 안내된다. 시장 내 점포별 영업시간과 휴무일은 서로 다르다.",</a:t>
            </a:r>
          </a:p>
          <a:p xmlns:a="http://schemas.openxmlformats.org/drawingml/2006/main">
            <a:r>
              <a:t>      "why_relevant": "둔산권 방문을 지역 식음·시장 이용으로 전환할 후보 거점이다. 다만 시장 전체의 일괄 야간운영이나 할인 참여를 전제할 수 없으므로, 참여 점포 모집과 공연일·주말별 영업 확인 후에만 스탬프·메뉴·체험 연계를 편성해야 한다."</a:t>
            </a:r>
          </a:p>
          <a:p xmlns:a="http://schemas.openxmlformats.org/drawingml/2006/main">
            <a:r>
              <a:t>    },</a:t>
            </a:r>
          </a:p>
          <a:p xmlns:a="http://schemas.openxmlformats.org/drawingml/2006/main">
            <a:r>
              <a:t>    {</a:t>
            </a:r>
          </a:p>
          <a:p xmlns:a="http://schemas.openxmlformats.org/drawingml/2006/main">
            <a:r>
              <a:t>      "source_id": "web:30170:5",</a:t>
            </a:r>
          </a:p>
          <a:p xmlns:a="http://schemas.openxmlformats.org/drawingml/2006/main">
            <a:r>
              <a:t>      "source_type": "official_web",</a:t>
            </a:r>
          </a:p>
          <a:p xmlns:a="http://schemas.openxmlformats.org/drawingml/2006/main">
            <a:r>
              <a:t>      "title": "장태산자연휴양림 - VISITKOREA",</a:t>
            </a:r>
          </a:p>
          <a:p xmlns:a="http://schemas.openxmlformats.org/drawingml/2006/main">
            <a:r>
              <a:t>      "source_url": "https://japanese.visitkorea.or.kr/svc/contents/contentsView.do?vcontsId=76300",</a:t>
            </a:r>
          </a:p>
          <a:p xmlns:a="http://schemas.openxmlformats.org/drawingml/2006/main">
            <a:r>
              <a:t>      "published_or_updated_at": "검색 시점 기준 현재 페이지",</a:t>
            </a:r>
          </a:p>
          <a:p xmlns:a="http://schemas.openxmlformats.org/drawingml/2006/main">
            <a:r>
              <a:t>      "summary": "장태산자연휴양림은 대전광역시 서구 장안로 461에 위치한 서구 관광자원으로 공식 관광정보에 수록되어 있으며, 한국관광공사 공식 콘텐츠는 가을 단풍 경관을 소개한다.",</a:t>
            </a:r>
          </a:p>
          <a:p xmlns:a="http://schemas.openxmlformats.org/drawingml/2006/main">
            <a:r>
              <a:t>      "why_relevant": "10~11월 자연관광 콘텐츠 후보로 검토할 수 있다. 그러나 공식 검색 결과만으로는 2026년 가을의 숙박 객실, 프로그램, 교통운행, 단체예약 및 행사 가능 조건을 확정할 수 없으므로, 체류 증대의 주력 사업으로 바로 확정하지 않는다."</a:t>
            </a:r>
          </a:p>
          <a:p xmlns:a="http://schemas.openxmlformats.org/drawingml/2006/main">
            <a:r>
              <a:t>    },</a:t>
            </a:r>
          </a:p>
          <a:p xmlns:a="http://schemas.openxmlformats.org/drawingml/2006/main">
            <a:r>
              <a:t>    {</a:t>
            </a:r>
          </a:p>
          <a:p xmlns:a="http://schemas.openxmlformats.org/drawingml/2006/main">
            <a:r>
              <a:t>      "source_id": "web:30170:6",</a:t>
            </a:r>
          </a:p>
          <a:p xmlns:a="http://schemas.openxmlformats.org/drawingml/2006/main">
            <a:r>
              <a:t>      "source_type": "official_web",</a:t>
            </a:r>
          </a:p>
          <a:p xmlns:a="http://schemas.openxmlformats.org/drawingml/2006/main">
            <a:r>
              <a:t>      "title": "여유롭고 안전한 오늘의 여행법 비대면(언택트) 관광지 100선",</a:t>
            </a:r>
          </a:p>
          <a:p xmlns:a="http://schemas.openxmlformats.org/drawingml/2006/main">
            <a:r>
              <a:t>      "source_url": "https://korean.visitkorea.or.kr/detail/rem_detail.do?cotid=351f6cf4-d984-496f-886d-6fc538b226a7",</a:t>
            </a:r>
          </a:p>
          <a:p xmlns:a="http://schemas.openxmlformats.org/drawingml/2006/main">
            <a:r>
              <a:t>      "published_or_updated_at": "게시일 미확인",</a:t>
            </a:r>
          </a:p>
          <a:p xmlns:a="http://schemas.openxmlformats.org/drawingml/2006/main">
            <a:r>
              <a:t>      "summary": "한국관광공사 공식 관광 콘텐츠에는 대전 서구의 장태산자연휴양림과 한밭수목원이 비대면 관광지 100선 목록에 포함되어 있다.",</a:t>
            </a:r>
          </a:p>
          <a:p xmlns:a="http://schemas.openxmlformats.org/drawingml/2006/main">
            <a:r>
              <a:t>      "why_relevant": "가을철 자연·산책 콘텐츠의 공공 관광자원으로 두 장소를 후보군에 둘 근거는 있으나, 선정 사실 자체가 현재 수요·소비·숙박 증가 또는 특정 사업효과를 뜻하지는 않는다."</a:t>
            </a:r>
          </a:p>
          <a:p xmlns:a="http://schemas.openxmlformats.org/drawingml/2006/main">
            <a:r>
              <a:t>    },</a:t>
            </a:r>
          </a:p>
          <a:p xmlns:a="http://schemas.openxmlformats.org/drawingml/2006/main">
            <a:r>
              <a:t>    {</a:t>
            </a:r>
          </a:p>
          <a:p xmlns:a="http://schemas.openxmlformats.org/drawingml/2006/main">
            <a:r>
              <a:t>      "source_id": "case:41508ca81cf29f",</a:t>
            </a:r>
          </a:p>
          <a:p xmlns:a="http://schemas.openxmlformats.org/drawingml/2006/main">
            <a:r>
              <a:t>      "source_type": "benchmark_case",</a:t>
            </a:r>
          </a:p>
          <a:p xmlns:a="http://schemas.openxmlformats.org/drawingml/2006/main">
            <a:r>
              <a:t>      "title": "한국관광 데이터랩 · 안동탈춤축제 방문자 추이",</a:t>
            </a:r>
          </a:p>
          <a:p xmlns:a="http://schemas.openxmlformats.org/drawingml/2006/main">
            <a:r>
              <a:t>      "source_url": "https://datalab.visitkorea.or.kr/",</a:t>
            </a:r>
          </a:p>
          <a:p xmlns:a="http://schemas.openxmlformats.org/drawingml/2006/main">
            <a:r>
              <a:t>      "published_or_updated_at": "2026-08-20",</a:t>
            </a:r>
          </a:p>
          <a:p xmlns:a="http://schemas.openxmlformats.org/drawingml/2006/main">
            <a:r>
              <a:t>      "summary": "경상북도 안동시 · 2025 안동탈춤축제 10일 집중 운영 · 2024→2025년 전체 504,573→554,494명 (+9.89%). 개최 10→10일, 일평균 +9.89%, 외지인 +10.75%.",</a:t>
            </a:r>
          </a:p>
          <a:p xmlns:a="http://schemas.openxmlformats.org/drawingml/2006/main">
            <a:r>
              <a:t>      "case_region": "경상북도 안동시",</a:t>
            </a:r>
          </a:p>
          <a:p xmlns:a="http://schemas.openxmlformats.org/drawingml/2006/main">
            <a:r>
              <a:t>      "intervention": "2025 안동탈춤축제 10일 집중 운영",</a:t>
            </a:r>
          </a:p>
          <a:p xmlns:a="http://schemas.openxmlformats.org/drawingml/2006/main">
            <a:r>
              <a:t>      "operating_model": "2025년 10일 동안 탈춤과 지역문화 중심 축제를 집중 운영했다. 제공된 관광데이터랩 CSV에서는 세부 예약·정원·상권 정산 방식은 확인되지 않으므로, 확인 가능한 실행 사실은 축제명·개최일수·관측구역 방문지표까지다.",</a:t>
            </a:r>
          </a:p>
          <a:p xmlns:a="http://schemas.openxmlformats.org/drawingml/2006/main">
            <a:r>
              <a:t>      "evidence_strength": "medium",</a:t>
            </a:r>
          </a:p>
          <a:p xmlns:a="http://schemas.openxmlformats.org/drawingml/2006/main">
            <a:r>
              <a:t>      "quantitative_result_approved": true,</a:t>
            </a:r>
          </a:p>
          <a:p xmlns:a="http://schemas.openxmlformats.org/drawingml/2006/main">
            <a:r>
              <a:t>      "document_type": null,</a:t>
            </a:r>
          </a:p>
          <a:p xmlns:a="http://schemas.openxmlformats.org/drawingml/2006/main">
            <a:r>
              <a:t>      "retrieval_method": "official_web_search",</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"2024→2025년 전체 504,573→554,494명 (+9.89%). 개최 10→10일, 일평균 +9.89%, 외지인 +10.75%.",</a:t>
            </a:r>
          </a:p>
          <a:p xmlns:a="http://schemas.openxmlformats.org/drawingml/2006/main">
            <a:r>
              <a:t>      "operating_statistics": [</a:t>
            </a:r>
          </a:p>
          <a:p xmlns:a="http://schemas.openxmlformats.org/drawingml/2006/main">
            <a:r>
              <a:t>        {</a:t>
            </a:r>
          </a:p>
          <a:p xmlns:a="http://schemas.openxmlformats.org/drawingml/2006/main">
            <a:r>
              <a:t>          "metric": "operating_days",</a:t>
            </a:r>
          </a:p>
          <a:p xmlns:a="http://schemas.openxmlformats.org/drawingml/2006/main">
            <a:r>
              <a:t>          "value": 10,</a:t>
            </a:r>
          </a:p>
          <a:p xmlns:a="http://schemas.openxmlformats.org/drawingml/2006/main">
            <a:r>
              <a:t>          "unit": "일",</a:t>
            </a:r>
          </a:p>
          <a:p xmlns:a="http://schemas.openxmlformats.org/drawingml/2006/main">
            <a:r>
              <a:t>          "period": "2025년 축제 개최기간",</a:t>
            </a:r>
          </a:p>
          <a:p xmlns:a="http://schemas.openxmlformats.org/drawingml/2006/main">
            <a:r>
              <a:t>          "scope": "안동탈춤축제 전체 개최일",</a:t>
            </a:r>
          </a:p>
          <a:p xmlns:a="http://schemas.openxmlformats.org/drawingml/2006/main">
            <a:r>
              <a:t>          "quote": "2025년 10일 개최",</a:t>
            </a:r>
          </a:p>
          <a:p xmlns:a="http://schemas.openxmlformats.org/drawingml/2006/main">
            <a:r>
              <a:t>          "capacity_count": null,</a:t>
            </a:r>
          </a:p>
          <a:p xmlns:a="http://schemas.openxmlformats.org/drawingml/2006/main">
            <a:r>
              <a:t>          "participant_count": null,</a:t>
            </a:r>
          </a:p>
          <a:p xmlns:a="http://schemas.openxmlformats.org/drawingml/2006/main">
            <a:r>
              <a:t>          "program_name": "안동탈춤축제"</a:t>
            </a:r>
          </a:p>
          <a:p xmlns:a="http://schemas.openxmlformats.org/drawingml/2006/main">
            <a:r>
              <a:t>        }</a:t>
            </a:r>
          </a:p>
          <a:p xmlns:a="http://schemas.openxmlformats.org/drawingml/2006/main">
            <a:r>
              <a:t>      ],</a:t>
            </a:r>
          </a:p>
          <a:p xmlns:a="http://schemas.openxmlformats.org/drawingml/2006/main">
            <a:r>
              <a:t>      "evidence_kind": "festival_document_and_statistics",</a:t>
            </a:r>
          </a:p>
          <a:p xmlns:a="http://schemas.openxmlformats.org/drawingml/2006/main">
            <a:r>
              <a:t>      "festival_statistics": {</a:t>
            </a:r>
          </a:p>
          <a:p xmlns:a="http://schemas.openxmlformats.org/drawingml/2006/main">
            <a:r>
              <a:t>        "name": "안동탈춤축제",</a:t>
            </a:r>
          </a:p>
          <a:p xmlns:a="http://schemas.openxmlformats.org/drawingml/2006/main">
            <a:r>
              <a:t>        "annual": [</a:t>
            </a:r>
          </a:p>
          <a:p xmlns:a="http://schemas.openxmlformats.org/drawingml/2006/main">
            <a:r>
              <a:t>          {</a:t>
            </a:r>
          </a:p>
          <a:p xmlns:a="http://schemas.openxmlformats.org/drawingml/2006/main">
            <a:r>
              <a:t>            "days": 8,</a:t>
            </a:r>
          </a:p>
          <a:p xmlns:a="http://schemas.openxmlformats.org/drawingml/2006/main">
            <a:r>
              <a:t>            "year": 2023,</a:t>
            </a:r>
          </a:p>
          <a:p xmlns:a="http://schemas.openxmlformats.org/drawingml/2006/main">
            <a:r>
              <a:t>            "daily": 45517.125,</a:t>
            </a:r>
          </a:p>
          <a:p xmlns:a="http://schemas.openxmlformats.org/drawingml/2006/main">
            <a:r>
              <a:t>            "local": 233513,</a:t>
            </a:r>
          </a:p>
          <a:p xmlns:a="http://schemas.openxmlformats.org/drawingml/2006/main">
            <a:r>
              <a:t>            "total": 364137,</a:t>
            </a:r>
          </a:p>
          <a:p xmlns:a="http://schemas.openxmlformats.org/drawingml/2006/main">
            <a:r>
              <a:t>            "foreign": 3319,</a:t>
            </a:r>
          </a:p>
          <a:p xmlns:a="http://schemas.openxmlformats.org/drawingml/2006/main">
            <a:r>
              <a:t>            "outside": 127305,</a:t>
            </a:r>
          </a:p>
          <a:p xmlns:a="http://schemas.openxmlformats.org/drawingml/2006/main">
            <a:r>
              <a:t>            "outside_daily": 15913.125,</a:t>
            </a:r>
          </a:p>
          <a:p xmlns:a="http://schemas.openxmlformats.org/drawingml/2006/main">
            <a:r>
              <a:t>            "outside_share_pct": 34.960742797353745</a:t>
            </a:r>
          </a:p>
          <a:p xmlns:a="http://schemas.openxmlformats.org/drawingml/2006/main">
            <a:r>
              <a:t>          },</a:t>
            </a:r>
          </a:p>
          <a:p xmlns:a="http://schemas.openxmlformats.org/drawingml/2006/main">
            <a:r>
              <a:t>          {</a:t>
            </a:r>
          </a:p>
          <a:p xmlns:a="http://schemas.openxmlformats.org/drawingml/2006/main">
            <a:r>
              <a:t>            "days": 10,</a:t>
            </a:r>
          </a:p>
          <a:p xmlns:a="http://schemas.openxmlformats.org/drawingml/2006/main">
            <a:r>
              <a:t>            "year": 2024,</a:t>
            </a:r>
          </a:p>
          <a:p xmlns:a="http://schemas.openxmlformats.org/drawingml/2006/main">
            <a:r>
              <a:t>            "daily": 50457.3,</a:t>
            </a:r>
          </a:p>
          <a:p xmlns:a="http://schemas.openxmlformats.org/drawingml/2006/main">
            <a:r>
              <a:t>            "local": 317925,</a:t>
            </a:r>
          </a:p>
          <a:p xmlns:a="http://schemas.openxmlformats.org/drawingml/2006/main">
            <a:r>
              <a:t>            "total": 504573,</a:t>
            </a:r>
          </a:p>
          <a:p xmlns:a="http://schemas.openxmlformats.org/drawingml/2006/main">
            <a:r>
              <a:t>            "foreign": 4684,</a:t>
            </a:r>
          </a:p>
          <a:p xmlns:a="http://schemas.openxmlformats.org/drawingml/2006/main">
            <a:r>
              <a:t>            "outside": 181964,</a:t>
            </a:r>
          </a:p>
          <a:p xmlns:a="http://schemas.openxmlformats.org/drawingml/2006/main">
            <a:r>
              <a:t>            "outside_daily": 18196.4,</a:t>
            </a:r>
          </a:p>
          <a:p xmlns:a="http://schemas.openxmlformats.org/drawingml/2006/main">
            <a:r>
              <a:t>            "outside_share_pct": 36.06296809381398</a:t>
            </a:r>
          </a:p>
          <a:p xmlns:a="http://schemas.openxmlformats.org/drawingml/2006/main">
            <a:r>
              <a:t>          },</a:t>
            </a:r>
          </a:p>
          <a:p xmlns:a="http://schemas.openxmlformats.org/drawingml/2006/main">
            <a:r>
              <a:t>          {</a:t>
            </a:r>
          </a:p>
          <a:p xmlns:a="http://schemas.openxmlformats.org/drawingml/2006/main">
            <a:r>
              <a:t>            "days": 10,</a:t>
            </a:r>
          </a:p>
          <a:p xmlns:a="http://schemas.openxmlformats.org/drawingml/2006/main">
            <a:r>
              <a:t>            "year": 2025,</a:t>
            </a:r>
          </a:p>
          <a:p xmlns:a="http://schemas.openxmlformats.org/drawingml/2006/main">
            <a:r>
              <a:t>            "daily": 55449.4,</a:t>
            </a:r>
          </a:p>
          <a:p xmlns:a="http://schemas.openxmlformats.org/drawingml/2006/main">
            <a:r>
              <a:t>            "local": 347269,</a:t>
            </a:r>
          </a:p>
          <a:p xmlns:a="http://schemas.openxmlformats.org/drawingml/2006/main">
            <a:r>
              <a:t>            "total": 554494,</a:t>
            </a:r>
          </a:p>
          <a:p xmlns:a="http://schemas.openxmlformats.org/drawingml/2006/main">
            <a:r>
              <a:t>            "foreign": 5702,</a:t>
            </a:r>
          </a:p>
          <a:p xmlns:a="http://schemas.openxmlformats.org/drawingml/2006/main">
            <a:r>
              <a:t>            "outside": 201523,</a:t>
            </a:r>
          </a:p>
          <a:p xmlns:a="http://schemas.openxmlformats.org/drawingml/2006/main">
            <a:r>
              <a:t>            "outside_daily": 20152.3,</a:t>
            </a:r>
          </a:p>
          <a:p xmlns:a="http://schemas.openxmlformats.org/drawingml/2006/main">
            <a:r>
              <a:t>            "outside_share_pct": 36.34358532283487</a:t>
            </a:r>
          </a:p>
          <a:p xmlns:a="http://schemas.openxmlformats.org/drawingml/2006/main">
            <a:r>
              <a:t>          }</a:t>
            </a:r>
          </a:p>
          <a:p xmlns:a="http://schemas.openxmlformats.org/drawingml/2006/main">
            <a:r>
              <a:t>        ],</a:t>
            </a:r>
          </a:p>
          <a:p xmlns:a="http://schemas.openxmlformats.org/drawingml/2006/main">
            <a:r>
              <a:t>        "comparison": {</a:t>
            </a:r>
          </a:p>
          <a:p xmlns:a="http://schemas.openxmlformats.org/drawingml/2006/main">
            <a:r>
              <a:t>          "daily": {</a:t>
            </a:r>
          </a:p>
          <a:p xmlns:a="http://schemas.openxmlformats.org/drawingml/2006/main">
            <a:r>
              <a:t>            "after": 55449.4,</a:t>
            </a:r>
          </a:p>
          <a:p xmlns:a="http://schemas.openxmlformats.org/drawingml/2006/main">
            <a:r>
              <a:t>            "before": 50457.3,</a:t>
            </a:r>
          </a:p>
          <a:p xmlns:a="http://schemas.openxmlformats.org/drawingml/2006/main">
            <a:r>
              <a:t>            "change_pct": 9.893712109050613,</a:t>
            </a:r>
          </a:p>
          <a:p xmlns:a="http://schemas.openxmlformats.org/drawingml/2006/main">
            <a:r>
              <a:t>            "difference": 4992.0999999999985</a:t>
            </a:r>
          </a:p>
          <a:p xmlns:a="http://schemas.openxmlformats.org/drawingml/2006/main">
            <a:r>
              <a:t>          },</a:t>
            </a:r>
          </a:p>
          <a:p xmlns:a="http://schemas.openxmlformats.org/drawingml/2006/main">
            <a:r>
              <a:t>          "total": {</a:t>
            </a:r>
          </a:p>
          <a:p xmlns:a="http://schemas.openxmlformats.org/drawingml/2006/main">
            <a:r>
              <a:t>            "after": 554494,</a:t>
            </a:r>
          </a:p>
          <a:p xmlns:a="http://schemas.openxmlformats.org/drawingml/2006/main">
            <a:r>
              <a:t>            "before": 504573,</a:t>
            </a:r>
          </a:p>
          <a:p xmlns:a="http://schemas.openxmlformats.org/drawingml/2006/main">
            <a:r>
              <a:t>            "change_pct": 9.893712109050613,</a:t>
            </a:r>
          </a:p>
          <a:p xmlns:a="http://schemas.openxmlformats.org/drawingml/2006/main">
            <a:r>
              <a:t>            "difference": 49921</a:t>
            </a:r>
          </a:p>
          <a:p xmlns:a="http://schemas.openxmlformats.org/drawingml/2006/main">
            <a:r>
              <a:t>          },</a:t>
            </a:r>
          </a:p>
          <a:p xmlns:a="http://schemas.openxmlformats.org/drawingml/2006/main">
            <a:r>
              <a:t>          "outside": {</a:t>
            </a:r>
          </a:p>
          <a:p xmlns:a="http://schemas.openxmlformats.org/drawingml/2006/main">
            <a:r>
              <a:t>            "after": 201523,</a:t>
            </a:r>
          </a:p>
          <a:p xmlns:a="http://schemas.openxmlformats.org/drawingml/2006/main">
            <a:r>
              <a:t>            "before": 181964,</a:t>
            </a:r>
          </a:p>
          <a:p xmlns:a="http://schemas.openxmlformats.org/drawingml/2006/main">
            <a:r>
              <a:t>            "change_pct": 10.748829438790096,</a:t>
            </a:r>
          </a:p>
          <a:p xmlns:a="http://schemas.openxmlformats.org/drawingml/2006/main">
            <a:r>
              <a:t>            "difference": 19559</a:t>
            </a:r>
          </a:p>
          <a:p xmlns:a="http://schemas.openxmlformats.org/drawingml/2006/main">
            <a:r>
              <a:t>          },</a:t>
            </a:r>
          </a:p>
          <a:p xmlns:a="http://schemas.openxmlformats.org/drawingml/2006/main">
            <a:r>
              <a:t>          "after_days": 10,</a:t>
            </a:r>
          </a:p>
          <a:p xmlns:a="http://schemas.openxmlformats.org/drawingml/2006/main">
            <a:r>
              <a:t>          "after_year": 2025,</a:t>
            </a:r>
          </a:p>
          <a:p xmlns:a="http://schemas.openxmlformats.org/drawingml/2006/main">
            <a:r>
              <a:t>          "before_days": 10,</a:t>
            </a:r>
          </a:p>
          <a:p xmlns:a="http://schemas.openxmlformats.org/drawingml/2006/main">
            <a:r>
              <a:t>          "before_year": 2024,</a:t>
            </a:r>
          </a:p>
          <a:p xmlns:a="http://schemas.openxmlformats.org/drawingml/2006/main">
            <a:r>
              <a:t>          "outside_daily": {</a:t>
            </a:r>
          </a:p>
          <a:p xmlns:a="http://schemas.openxmlformats.org/drawingml/2006/main">
            <a:r>
              <a:t>            "after": 20152.3,</a:t>
            </a:r>
          </a:p>
          <a:p xmlns:a="http://schemas.openxmlformats.org/drawingml/2006/main">
            <a:r>
              <a:t>            "before": 18196.4,</a:t>
            </a:r>
          </a:p>
          <a:p xmlns:a="http://schemas.openxmlformats.org/drawingml/2006/main">
            <a:r>
              <a:t>            "change_pct": 10.748829438790075,</a:t>
            </a:r>
          </a:p>
          <a:p xmlns:a="http://schemas.openxmlformats.org/drawingml/2006/main">
            <a:r>
              <a:t>            "difference": 1955.8999999999976</a:t>
            </a:r>
          </a:p>
          <a:p xmlns:a="http://schemas.openxmlformats.org/drawingml/2006/main">
            <a:r>
              <a:t>          }</a:t>
            </a:r>
          </a:p>
          <a:p xmlns:a="http://schemas.openxmlformats.org/drawingml/2006/main">
            <a:r>
              <a:t>        },</a:t>
            </a:r>
          </a:p>
          <a:p xmlns:a="http://schemas.openxmlformats.org/drawingml/2006/main">
            <a:r>
              <a:t>        "scope": "축제 관측구역 방문 지표. 도시 전체·순증 관광객·입장권 실구매자 수가 아님.",</a:t>
            </a:r>
          </a:p>
          <a:p xmlns:a="http://schemas.openxmlformats.org/drawingml/2006/main">
            <a:r>
              <a:t>        "region_basis": "목적지 검색 CSV의 시도+시군구 최빈 주소; 행사장 행정경계 확정은 아님",</a:t>
            </a:r>
          </a:p>
          <a:p xmlns:a="http://schemas.openxmlformats.org/drawingml/2006/main">
            <a:r>
              <a:t>        "source_file": {</a:t>
            </a:r>
          </a:p>
          <a:p xmlns:a="http://schemas.openxmlformats.org/drawingml/2006/main">
            <a:r>
              <a:t>          "sha256": "28f418873eda5b37d320d3fef32c46bef172ca1cfea3861db2d5fc96a0b16f50",</a:t>
            </a:r>
          </a:p>
          <a:p xmlns:a="http://schemas.openxmlformats.org/drawingml/2006/main">
            <a:r>
              <a:t>          "provider": "한국관광 데이터랩",</a:t>
            </a:r>
          </a:p>
          <a:p xmlns:a="http://schemas.openxmlformats.org/drawingml/2006/main">
            <a:r>
              <a:t>          "file_name": "20260820175023_안동탈춤축제_연도별 방문자 추이.csv",</a:t>
            </a:r>
          </a:p>
          <a:p xmlns:a="http://schemas.openxmlformats.org/drawingml/2006/main">
            <a:r>
              <a:t>          "source_id": "festival-file:28f418873eda5b37d320",</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"indicator_values": [</a:t>
            </a:r>
          </a:p>
          <a:p xmlns:a="http://schemas.openxmlformats.org/drawingml/2006/main">
            <a:r>
              <a:t>          {</a:t>
            </a:r>
          </a:p>
          <a:p xmlns:a="http://schemas.openxmlformats.org/drawingml/2006/main">
            <a:r>
              <a:t>            "구분명": "외부방문자 유입",</a:t>
            </a:r>
          </a:p>
          <a:p xmlns:a="http://schemas.openxmlformats.org/drawingml/2006/main">
            <a:r>
              <a:t>            "그룹명": "축제기간",</a:t>
            </a:r>
          </a:p>
          <a:p xmlns:a="http://schemas.openxmlformats.org/drawingml/2006/main">
            <a:r>
              <a:t>            "지표값": "0.515",</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"축제기간",</a:t>
            </a:r>
          </a:p>
          <a:p xmlns:a="http://schemas.openxmlformats.org/drawingml/2006/main">
            <a:r>
              <a:t>            "지표값": "0.859",</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"축제기간",</a:t>
            </a:r>
          </a:p>
          <a:p xmlns:a="http://schemas.openxmlformats.org/drawingml/2006/main">
            <a:r>
              <a:t>            "지표값": "0.434",</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"축제기간",</a:t>
            </a:r>
          </a:p>
          <a:p xmlns:a="http://schemas.openxmlformats.org/drawingml/2006/main">
            <a:r>
              <a:t>            "지표값": "0.544",</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"축제기간",</a:t>
            </a:r>
          </a:p>
          <a:p xmlns:a="http://schemas.openxmlformats.org/drawingml/2006/main">
            <a:r>
              <a:t>            "지표값": "0.879",</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"외부방문자 유입",</a:t>
            </a:r>
          </a:p>
          <a:p xmlns:a="http://schemas.openxmlformats.org/drawingml/2006/main">
            <a:r>
              <a:t>            "그룹명": "비축제기간",</a:t>
            </a:r>
          </a:p>
          <a:p xmlns:a="http://schemas.openxmlformats.org/drawingml/2006/main">
            <a:r>
              <a:t>            "지표값": "0.258",</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"비축제기간",</a:t>
            </a:r>
          </a:p>
          <a:p xmlns:a="http://schemas.openxmlformats.org/drawingml/2006/main">
            <a:r>
              <a:t>            "지표값": "0.618",</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"비축제기간",</a:t>
            </a:r>
          </a:p>
          <a:p xmlns:a="http://schemas.openxmlformats.org/drawingml/2006/main">
            <a:r>
              <a:t>            "지표값": "0.252",</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"비축제기간",</a:t>
            </a:r>
          </a:p>
          <a:p xmlns:a="http://schemas.openxmlformats.org/drawingml/2006/main">
            <a:r>
              <a:t>            "지표값": "0.375",</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"비축제기간",</a:t>
            </a:r>
          </a:p>
          <a:p xmlns:a="http://schemas.openxmlformats.org/drawingml/2006/main">
            <a:r>
              <a:t>            "지표값": "0.65",</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"indicator_rule": "원본 지표값만 보존. 산식·단위 미확인으로 성장률/원화/정원/참여율 변환 금지.",</a:t>
            </a:r>
          </a:p>
          <a:p xmlns:a="http://schemas.openxmlformats.org/drawingml/2006/main">
            <a:r>
              <a:t>        "audience": [</a:t>
            </a:r>
          </a:p>
          <a:p xmlns:a="http://schemas.openxmlformats.org/drawingml/2006/main">
            <a:r>
              <a:t>          {</a:t>
            </a:r>
          </a:p>
          <a:p xmlns:a="http://schemas.openxmlformats.org/drawingml/2006/main">
            <a:r>
              <a:t>            "연령대": "70세 이상",</a:t>
            </a:r>
          </a:p>
          <a:p xmlns:a="http://schemas.openxmlformats.org/drawingml/2006/main">
            <a:r>
              <a:t>            "축제명": "안동탈춤축제",</a:t>
            </a:r>
          </a:p>
          <a:p xmlns:a="http://schemas.openxmlformats.org/drawingml/2006/main">
            <a:r>
              <a:t>            "남성비율": "4.4",</a:t>
            </a:r>
          </a:p>
          <a:p xmlns:a="http://schemas.openxmlformats.org/drawingml/2006/main">
            <a:r>
              <a:t>            "여성비율": "5.0"</a:t>
            </a:r>
          </a:p>
          <a:p xmlns:a="http://schemas.openxmlformats.org/drawingml/2006/main">
            <a:r>
              <a:t>          },</a:t>
            </a:r>
          </a:p>
          <a:p xmlns:a="http://schemas.openxmlformats.org/drawingml/2006/main">
            <a:r>
              <a:t>          {</a:t>
            </a:r>
          </a:p>
          <a:p xmlns:a="http://schemas.openxmlformats.org/drawingml/2006/main">
            <a:r>
              <a:t>            "연령대": "60~69세",</a:t>
            </a:r>
          </a:p>
          <a:p xmlns:a="http://schemas.openxmlformats.org/drawingml/2006/main">
            <a:r>
              <a:t>            "축제명": "안동탈춤축제",</a:t>
            </a:r>
          </a:p>
          <a:p xmlns:a="http://schemas.openxmlformats.org/drawingml/2006/main">
            <a:r>
              <a:t>            "남성비율": "8.0",</a:t>
            </a:r>
          </a:p>
          <a:p xmlns:a="http://schemas.openxmlformats.org/drawingml/2006/main">
            <a:r>
              <a:t>            "여성비율": "8.5"</a:t>
            </a:r>
          </a:p>
          <a:p xmlns:a="http://schemas.openxmlformats.org/drawingml/2006/main">
            <a:r>
              <a:t>          },</a:t>
            </a:r>
          </a:p>
          <a:p xmlns:a="http://schemas.openxmlformats.org/drawingml/2006/main">
            <a:r>
              <a:t>          {</a:t>
            </a:r>
          </a:p>
          <a:p xmlns:a="http://schemas.openxmlformats.org/drawingml/2006/main">
            <a:r>
              <a:t>            "연령대": "50~59세",</a:t>
            </a:r>
          </a:p>
          <a:p xmlns:a="http://schemas.openxmlformats.org/drawingml/2006/main">
            <a:r>
              <a:t>            "축제명": "안동탈춤축제",</a:t>
            </a:r>
          </a:p>
          <a:p xmlns:a="http://schemas.openxmlformats.org/drawingml/2006/main">
            <a:r>
              <a:t>            "남성비율": "9.2",</a:t>
            </a:r>
          </a:p>
          <a:p xmlns:a="http://schemas.openxmlformats.org/drawingml/2006/main">
            <a:r>
              <a:t>            "여성비율": "10.9"</a:t>
            </a:r>
          </a:p>
          <a:p xmlns:a="http://schemas.openxmlformats.org/drawingml/2006/main">
            <a:r>
              <a:t>          },</a:t>
            </a:r>
          </a:p>
          <a:p xmlns:a="http://schemas.openxmlformats.org/drawingml/2006/main">
            <a:r>
              <a:t>          {</a:t>
            </a:r>
          </a:p>
          <a:p xmlns:a="http://schemas.openxmlformats.org/drawingml/2006/main">
            <a:r>
              <a:t>            "연령대": "40~49세",</a:t>
            </a:r>
          </a:p>
          <a:p xmlns:a="http://schemas.openxmlformats.org/drawingml/2006/main">
            <a:r>
              <a:t>            "축제명": "안동탈춤축제",</a:t>
            </a:r>
          </a:p>
          <a:p xmlns:a="http://schemas.openxmlformats.org/drawingml/2006/main">
            <a:r>
              <a:t>            "남성비율": "7.5",</a:t>
            </a:r>
          </a:p>
          <a:p xmlns:a="http://schemas.openxmlformats.org/drawingml/2006/main">
            <a:r>
              <a:t>            "여성비율": "7.9"</a:t>
            </a:r>
          </a:p>
          <a:p xmlns:a="http://schemas.openxmlformats.org/drawingml/2006/main">
            <a:r>
              <a:t>          },</a:t>
            </a:r>
          </a:p>
          <a:p xmlns:a="http://schemas.openxmlformats.org/drawingml/2006/main">
            <a:r>
              <a:t>          {</a:t>
            </a:r>
          </a:p>
          <a:p xmlns:a="http://schemas.openxmlformats.org/drawingml/2006/main">
            <a:r>
              <a:t>            "연령대": "30~39세",</a:t>
            </a:r>
          </a:p>
          <a:p xmlns:a="http://schemas.openxmlformats.org/drawingml/2006/main">
            <a:r>
              <a:t>            "축제명": "안동탈춤축제",</a:t>
            </a:r>
          </a:p>
          <a:p xmlns:a="http://schemas.openxmlformats.org/drawingml/2006/main">
            <a:r>
              <a:t>            "남성비율": "7.9",</a:t>
            </a:r>
          </a:p>
          <a:p xmlns:a="http://schemas.openxmlformats.org/drawingml/2006/main">
            <a:r>
              <a:t>            "여성비율": "7.2"</a:t>
            </a:r>
          </a:p>
          <a:p xmlns:a="http://schemas.openxmlformats.org/drawingml/2006/main">
            <a:r>
              <a:t>          },</a:t>
            </a:r>
          </a:p>
          <a:p xmlns:a="http://schemas.openxmlformats.org/drawingml/2006/main">
            <a:r>
              <a:t>          {</a:t>
            </a:r>
          </a:p>
          <a:p xmlns:a="http://schemas.openxmlformats.org/drawingml/2006/main">
            <a:r>
              <a:t>            "연령대": "20~29세",</a:t>
            </a:r>
          </a:p>
          <a:p xmlns:a="http://schemas.openxmlformats.org/drawingml/2006/main">
            <a:r>
              <a:t>            "축제명": "안동탈춤축제",</a:t>
            </a:r>
          </a:p>
          <a:p xmlns:a="http://schemas.openxmlformats.org/drawingml/2006/main">
            <a:r>
              <a:t>            "남성비율": "7.1",</a:t>
            </a:r>
          </a:p>
          <a:p xmlns:a="http://schemas.openxmlformats.org/drawingml/2006/main">
            <a:r>
              <a:t>            "여성비율": "8.2"</a:t>
            </a:r>
          </a:p>
          <a:p xmlns:a="http://schemas.openxmlformats.org/drawingml/2006/main">
            <a:r>
              <a:t>          },</a:t>
            </a:r>
          </a:p>
          <a:p xmlns:a="http://schemas.openxmlformats.org/drawingml/2006/main">
            <a:r>
              <a:t>          {</a:t>
            </a:r>
          </a:p>
          <a:p xmlns:a="http://schemas.openxmlformats.org/drawingml/2006/main">
            <a:r>
              <a:t>            "연령대": "10~19세",</a:t>
            </a:r>
          </a:p>
          <a:p xmlns:a="http://schemas.openxmlformats.org/drawingml/2006/main">
            <a:r>
              <a:t>            "축제명": "안동탈춤축제",</a:t>
            </a:r>
          </a:p>
          <a:p xmlns:a="http://schemas.openxmlformats.org/drawingml/2006/main">
            <a:r>
              <a:t>            "남성비율": "3.2",</a:t>
            </a:r>
          </a:p>
          <a:p xmlns:a="http://schemas.openxmlformats.org/drawingml/2006/main">
            <a:r>
              <a:t>            "여성비율": "3.9"</a:t>
            </a:r>
          </a:p>
          <a:p xmlns:a="http://schemas.openxmlformats.org/drawingml/2006/main">
            <a:r>
              <a:t>          },</a:t>
            </a:r>
          </a:p>
          <a:p xmlns:a="http://schemas.openxmlformats.org/drawingml/2006/main">
            <a:r>
              <a:t>          {</a:t>
            </a:r>
          </a:p>
          <a:p xmlns:a="http://schemas.openxmlformats.org/drawingml/2006/main">
            <a:r>
              <a:t>            "연령대": "0~9세",</a:t>
            </a:r>
          </a:p>
          <a:p xmlns:a="http://schemas.openxmlformats.org/drawingml/2006/main">
            <a:r>
              <a:t>            "축제명": "안동탈춤축제",</a:t>
            </a:r>
          </a:p>
          <a:p xmlns:a="http://schemas.openxmlformats.org/drawingml/2006/main">
            <a:r>
              <a:t>            "남성비율": "0.5",</a:t>
            </a:r>
          </a:p>
          <a:p xmlns:a="http://schemas.openxmlformats.org/drawingml/2006/main">
            <a:r>
              <a:t>            "여성비율": "0.7"</a:t>
            </a:r>
          </a:p>
          <a:p xmlns:a="http://schemas.openxmlformats.org/drawingml/2006/main">
            <a:r>
              <a:t>          }</a:t>
            </a:r>
          </a:p>
          <a:p xmlns:a="http://schemas.openxmlformats.org/drawingml/2006/main">
            <a:r>
              <a:t>        ],</a:t>
            </a:r>
          </a:p>
          <a:p xmlns:a="http://schemas.openxmlformats.org/drawingml/2006/main">
            <a:r>
              <a:t>        "audience_period": "다운로드 CSV에 연도 열 없음; 최신 개최연도와 자동 결합하지 않음",</a:t>
            </a:r>
          </a:p>
          <a:p xmlns:a="http://schemas.openxmlformats.org/drawingml/2006/main">
            <a:r>
              <a:t>        "destination_examples": [</a:t>
            </a:r>
          </a:p>
          <a:p xmlns:a="http://schemas.openxmlformats.org/drawingml/2006/main">
            <a:r>
              <a:t>          {</a:t>
            </a:r>
          </a:p>
          <a:p xmlns:a="http://schemas.openxmlformats.org/drawingml/2006/main">
            <a:r>
              <a:t>            "구분": "외지인",</a:t>
            </a:r>
          </a:p>
          <a:p xmlns:a="http://schemas.openxmlformats.org/drawingml/2006/main">
            <a:r>
              <a:t>            "순위": "1",</a:t>
            </a:r>
          </a:p>
          <a:p xmlns:a="http://schemas.openxmlformats.org/drawingml/2006/main">
            <a:r>
              <a:t>            "목적지명": "안동구시장",</a:t>
            </a:r>
          </a:p>
          <a:p xmlns:a="http://schemas.openxmlformats.org/drawingml/2006/main">
            <a:r>
              <a:t>            "도로명주소": "경북 안동시 번영1길 47-0",</a:t>
            </a:r>
          </a:p>
          <a:p xmlns:a="http://schemas.openxmlformats.org/drawingml/2006/main">
            <a:r>
              <a:t>            "카테고리": "시장"</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"2",</a:t>
            </a:r>
          </a:p>
          <a:p xmlns:a="http://schemas.openxmlformats.org/drawingml/2006/main">
            <a:r>
              <a:t>            "목적지명": "안동국제탈춤페스티벌",</a:t>
            </a:r>
          </a:p>
          <a:p xmlns:a="http://schemas.openxmlformats.org/drawingml/2006/main">
            <a:r>
              <a:t>            "도로명주소": "경북 안동시 육사로 239-0",</a:t>
            </a:r>
          </a:p>
          <a:p xmlns:a="http://schemas.openxmlformats.org/drawingml/2006/main">
            <a:r>
              <a:t>            "카테고리": "기타문화관광지"</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"3",</a:t>
            </a:r>
          </a:p>
          <a:p xmlns:a="http://schemas.openxmlformats.org/drawingml/2006/main">
            <a:r>
              <a:t>            "목적지명": "탈춤공원",</a:t>
            </a:r>
          </a:p>
          <a:p xmlns:a="http://schemas.openxmlformats.org/drawingml/2006/main">
            <a:r>
              <a:t>            "도로명주소": "경북 안동시 육사로 239-0",</a:t>
            </a:r>
          </a:p>
          <a:p xmlns:a="http://schemas.openxmlformats.org/drawingml/2006/main">
            <a:r>
              <a:t>            "카테고리": "도시공원"</a:t>
            </a:r>
          </a:p>
          <a:p xmlns:a="http://schemas.openxmlformats.org/drawingml/2006/main">
            <a:r>
              <a:t>          }</a:t>
            </a:r>
          </a:p>
          <a:p xmlns:a="http://schemas.openxmlformats.org/drawingml/2006/main">
            <a:r>
              <a:t>        ],</a:t>
            </a:r>
          </a:p>
          <a:p xmlns:a="http://schemas.openxmlformats.org/drawingml/2006/main">
            <a:r>
              <a:t>        "destination_period": "다운로드 CSV에 연도 열 없음; 주변 검색 후보이며 제휴·실제 방문 증거 아님"</a:t>
            </a:r>
          </a:p>
          <a:p xmlns:a="http://schemas.openxmlformats.org/drawingml/2006/main">
            <a:r>
              <a:t>      },</a:t>
            </a:r>
          </a:p>
          <a:p xmlns:a="http://schemas.openxmlformats.org/drawingml/2006/main">
            <a:r>
              <a:t>      "retrieval_basis": {</a:t>
            </a:r>
          </a:p>
          <a:p xmlns:a="http://schemas.openxmlformats.org/drawingml/2006/main">
            <a:r>
              <a:t>        "kind": "external_benchmark",</a:t>
            </a:r>
          </a:p>
          <a:p xmlns:a="http://schemas.openxmlformats.org/drawingml/2006/main">
            <a:r>
              <a:t>        "score": 31,</a:t>
            </a:r>
          </a:p>
          <a:p xmlns:a="http://schemas.openxmlformats.org/drawingml/2006/main">
            <a:r>
              <a:t>        "components": {</a:t>
            </a:r>
          </a:p>
          <a:p xmlns:a="http://schemas.openxmlformats.org/drawingml/2006/main">
            <a:r>
              <a:t>          "방문 전망 조사: 외지인·일평균 동반 증가": 15,</a:t>
            </a:r>
          </a:p>
          <a:p xmlns:a="http://schemas.openxmlformats.org/drawingml/2006/main">
            <a:r>
              <a:t>          "최근 개최연도": 6,</a:t>
            </a:r>
          </a:p>
          <a:p xmlns:a="http://schemas.openxmlformats.org/drawingml/2006/main">
            <a:r>
              <a:t>          "방문 실적 비교 가능": 10</a:t>
            </a:r>
          </a:p>
          <a:p xmlns:a="http://schemas.openxmlformats.org/drawingml/2006/main">
            <a:r>
              <a:t>        },</a:t>
            </a:r>
          </a:p>
          <a:p xmlns:a="http://schemas.openxmlformats.org/drawingml/2006/main">
            <a:r>
              <a:t>        "theme": "공연·문화",</a:t>
            </a:r>
          </a:p>
          <a:p xmlns:a="http://schemas.openxmlformats.org/drawingml/2006/main">
            <a:r>
              <a:t>        "priority_signal": "visit",</a:t>
            </a:r>
          </a:p>
          <a:p xmlns:a="http://schemas.openxmlformats.org/drawingml/2006/main">
            <a:r>
              <a:t>        "rule": "함수 기반 조사 우선순위. 사업효과·인구/환경 유사도 점수가 아니며 소비·체류 개선은 조사 가설이다."</a:t>
            </a:r>
          </a:p>
          <a:p xmlns:a="http://schemas.openxmlformats.org/drawingml/2006/main">
            <a:r>
              <a:t>      },</a:t>
            </a:r>
          </a:p>
          <a:p xmlns:a="http://schemas.openxmlformats.org/drawingml/2006/main">
            <a:r>
              <a:t>      "source_files": [</a:t>
            </a:r>
          </a:p>
          <a:p xmlns:a="http://schemas.openxmlformats.org/drawingml/2006/main">
            <a:r>
              <a:t>        {</a:t>
            </a:r>
          </a:p>
          <a:p xmlns:a="http://schemas.openxmlformats.org/drawingml/2006/main">
            <a:r>
              <a:t>          "sha256": "28f418873eda5b37d320d3fef32c46bef172ca1cfea3861db2d5fc96a0b16f50",</a:t>
            </a:r>
          </a:p>
          <a:p xmlns:a="http://schemas.openxmlformats.org/drawingml/2006/main">
            <a:r>
              <a:t>          "provider": "한국관광 데이터랩",</a:t>
            </a:r>
          </a:p>
          <a:p xmlns:a="http://schemas.openxmlformats.org/drawingml/2006/main">
            <a:r>
              <a:t>          "file_name": "20260820175023_안동탈춤축제_연도별 방문자 추이.csv",</a:t>
            </a:r>
          </a:p>
          <a:p xmlns:a="http://schemas.openxmlformats.org/drawingml/2006/main">
            <a:r>
              <a:t>          "source_id": "festival-file:28f418873eda5b37d320",</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"c0b34e003112bda1f5afa06dcb153cc870d61730036ef23f1b3e7aed39ca5458",</a:t>
            </a:r>
          </a:p>
          <a:p xmlns:a="http://schemas.openxmlformats.org/drawingml/2006/main">
            <a:r>
              <a:t>          "provider": "한국관광 데이터랩",</a:t>
            </a:r>
          </a:p>
          <a:p xmlns:a="http://schemas.openxmlformats.org/drawingml/2006/main">
            <a:r>
              <a:t>          "file_name": "20260820175023_안동탈춤축제_성_연령별 내국인 방문자.csv",</a:t>
            </a:r>
          </a:p>
          <a:p xmlns:a="http://schemas.openxmlformats.org/drawingml/2006/main">
            <a:r>
              <a:t>          "source_id": "festival-file:c0b34e003112bda1f5af",</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안동탈춤축제_2023-2025/20260820175023_안동탈춤축제_성_연령별 내국인 방문자.csv",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"40ddabd2e46fcb12bc9cc2361174e1a5ebe80f169611896b6d4b5e60d9fda352",</a:t>
            </a:r>
          </a:p>
          <a:p xmlns:a="http://schemas.openxmlformats.org/drawingml/2006/main">
            <a:r>
              <a:t>          "provider": "한국관광 데이터랩",</a:t>
            </a:r>
          </a:p>
          <a:p xmlns:a="http://schemas.openxmlformats.org/drawingml/2006/main">
            <a:r>
              <a:t>          "file_name": "20260820175023_안동탈춤축제_문화관광축제 주요 지표.csv",</a:t>
            </a:r>
          </a:p>
          <a:p xmlns:a="http://schemas.openxmlformats.org/drawingml/2006/main">
            <a:r>
              <a:t>          "source_id": "festival-file:40ddabd2e46fcb12bc9c",</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안동탈춤축제_2023-2025/20260820175023_안동탈춤축제_문화관광축제 주요 지표.csv",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"11de7e20288dde00f7f18e353a24b5a95c511a7dc354ec9cc2c7a3a2436712f6",</a:t>
            </a:r>
          </a:p>
          <a:p xmlns:a="http://schemas.openxmlformats.org/drawingml/2006/main">
            <a:r>
              <a:t>          "provider": "한국관광 데이터랩",</a:t>
            </a:r>
          </a:p>
          <a:p xmlns:a="http://schemas.openxmlformats.org/drawingml/2006/main">
            <a:r>
              <a:t>          "file_name": "20260820175023_안동탈춤축제_목적지 검색순위.csv",</a:t>
            </a:r>
          </a:p>
          <a:p xmlns:a="http://schemas.openxmlformats.org/drawingml/2006/main">
            <a:r>
              <a:t>          "source_id": "festival-file:11de7e20288dde00f7f1",</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안동탈춤축제_2023-2025/20260820175023_안동탈춤축제_목적지 검색순위.csv",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"dataset_hash": "ad20e3daf70fd44fd481d672398c07bb9c96fce77acb450784065a568735e2e2",</a:t>
            </a:r>
          </a:p>
          <a:p xmlns:a="http://schemas.openxmlformats.org/drawingml/2006/main">
            <a:r>
              <a:t>      "measurement_period": "2024년과 2025년 각 축제 개최기간 비교",</a:t>
            </a:r>
          </a:p>
          <a:p xmlns:a="http://schemas.openxmlformats.org/drawingml/2006/main">
            <a:r>
              <a:t>      "transfer_conditions": [</a:t>
            </a:r>
          </a:p>
          <a:p xmlns:a="http://schemas.openxmlformats.org/drawingml/2006/main">
            <a:r>
              <a:t>        "서구에서는 10일 축제를 복제하기보다 3개월 중 주말 2~3회 등 준비 가능한 집중 회차로 축소할 수 있다.",</a:t>
            </a:r>
          </a:p>
          <a:p xmlns:a="http://schemas.openxmlformats.org/drawingml/2006/main">
            <a:r>
              <a:t>        "기존 공공·민간 시설과 공연자원을 조합해 신규 시설비를 줄이되 장소·운영인력 확보 여부를 먼저 확인해야 한다.",</a:t>
            </a:r>
          </a:p>
          <a:p xmlns:a="http://schemas.openxmlformats.org/drawingml/2006/main">
            <a:r>
              <a:t>        "사전예약 회차, 현장 체크인, 참여업소 결제를 연계해 축제 관측구역 방문자와 실제 사업 참여자를 구분해야 한다.",</a:t>
            </a:r>
          </a:p>
          <a:p xmlns:a="http://schemas.openxmlformats.org/drawingml/2006/main">
            <a:r>
              <a:t>        "안동의 전통문화 정체성을 복제하지 말고 서구에서 실제 확보 가능한 문화·쇼핑·식음 콘텐츠로 주제를 다시 설계해야 한다."</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"case:festival:01474ef75569b1",</a:t>
            </a:r>
          </a:p>
          <a:p xmlns:a="http://schemas.openxmlformats.org/drawingml/2006/main">
            <a:r>
              <a:t>      "source_type": "benchmark_case",</a:t>
            </a:r>
          </a:p>
          <a:p xmlns:a="http://schemas.openxmlformats.org/drawingml/2006/main">
            <a:r>
              <a:t>      "title": "한국관광 데이터랩 · 문경찻사발축제 방문자 추이",</a:t>
            </a:r>
          </a:p>
          <a:p xmlns:a="http://schemas.openxmlformats.org/drawingml/2006/main">
            <a:r>
              <a:t>      "source_url": "https://datalab.visitkorea.or.kr/",</a:t>
            </a:r>
          </a:p>
          <a:p xmlns:a="http://schemas.openxmlformats.org/drawingml/2006/main">
            <a:r>
              <a:t>      "published_or_updated_at": "2026-08-20",</a:t>
            </a:r>
          </a:p>
          <a:p xmlns:a="http://schemas.openxmlformats.org/drawingml/2006/main">
            <a:r>
              <a:t>      "summary": "경상북도 문경시 · 문경찻사발축제 · 2024→2025년 전체 245,750→256,570명 (+4.40%). 개최 10→9일, 일평균 +16.00%, 외지인 +9.28%.",</a:t>
            </a:r>
          </a:p>
          <a:p xmlns:a="http://schemas.openxmlformats.org/drawingml/2006/main">
            <a:r>
              <a:t>      "case_region": "경상북도 문경시",</a:t>
            </a:r>
          </a:p>
          <a:p xmlns:a="http://schemas.openxmlformats.org/drawingml/2006/main">
            <a:r>
              <a:t>      "intervention": "문경찻사발축제",</a:t>
            </a:r>
          </a:p>
          <a:p xmlns:a="http://schemas.openxmlformats.org/drawingml/2006/main">
            <a:r>
              <a:t>      "operating_model": "문경찻사발축제를 2025년 9일 개최한 문화관광축제 운영 사례. 세부 프로그램·예약·혜택은 이 CSV에 기록되어 있지 않으며 새로운 운영안은 제안으로 구분한다.",</a:t>
            </a:r>
          </a:p>
          <a:p xmlns:a="http://schemas.openxmlformats.org/drawingml/2006/main">
            <a:r>
              <a:t>      "evidence_strength": "medium",</a:t>
            </a:r>
          </a:p>
          <a:p xmlns:a="http://schemas.openxmlformats.org/drawingml/2006/main">
            <a:r>
              <a:t>      "quantitative_result_approved": true,</a:t>
            </a:r>
          </a:p>
          <a:p xmlns:a="http://schemas.openxmlformats.org/drawingml/2006/main">
            <a:r>
              <a:t>      "document_type": "case_study",</a:t>
            </a:r>
          </a:p>
          <a:p xmlns:a="http://schemas.openxmlformats.org/drawingml/2006/main">
            <a:r>
              <a:t>      "retrieval_method": "datalab_festival_table",</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"2024→2025년 전체 245,750→256,570명 (+4.40%). 개최 10→9일, 일평균 +16.00%, 외지인 +9.28%.",</a:t>
            </a:r>
          </a:p>
          <a:p xmlns:a="http://schemas.openxmlformats.org/drawingml/2006/main">
            <a:r>
              <a:t>      "operating_statistics": [],</a:t>
            </a:r>
          </a:p>
          <a:p xmlns:a="http://schemas.openxmlformats.org/drawingml/2006/main">
            <a:r>
              <a:t>      "evidence_kind": "festival_statistics",</a:t>
            </a:r>
          </a:p>
          <a:p xmlns:a="http://schemas.openxmlformats.org/drawingml/2006/main">
            <a:r>
              <a:t>      "festival_statistics": {</a:t>
            </a:r>
          </a:p>
          <a:p xmlns:a="http://schemas.openxmlformats.org/drawingml/2006/main">
            <a:r>
              <a:t>        "name": "문경찻사발축제",</a:t>
            </a:r>
          </a:p>
          <a:p xmlns:a="http://schemas.openxmlformats.org/drawingml/2006/main">
            <a:r>
              <a:t>        "annual": [</a:t>
            </a:r>
          </a:p>
          <a:p xmlns:a="http://schemas.openxmlformats.org/drawingml/2006/main">
            <a:r>
              <a:t>          {</a:t>
            </a:r>
          </a:p>
          <a:p xmlns:a="http://schemas.openxmlformats.org/drawingml/2006/main">
            <a:r>
              <a:t>            "days": 9,</a:t>
            </a:r>
          </a:p>
          <a:p xmlns:a="http://schemas.openxmlformats.org/drawingml/2006/main">
            <a:r>
              <a:t>            "year": 2023,</a:t>
            </a:r>
          </a:p>
          <a:p xmlns:a="http://schemas.openxmlformats.org/drawingml/2006/main">
            <a:r>
              <a:t>            "daily": 23055.333333333332,</a:t>
            </a:r>
          </a:p>
          <a:p xmlns:a="http://schemas.openxmlformats.org/drawingml/2006/main">
            <a:r>
              <a:t>            "local": 59726,</a:t>
            </a:r>
          </a:p>
          <a:p xmlns:a="http://schemas.openxmlformats.org/drawingml/2006/main">
            <a:r>
              <a:t>            "total": 207498,</a:t>
            </a:r>
          </a:p>
          <a:p xmlns:a="http://schemas.openxmlformats.org/drawingml/2006/main">
            <a:r>
              <a:t>            "foreign": 1241,</a:t>
            </a:r>
          </a:p>
          <a:p xmlns:a="http://schemas.openxmlformats.org/drawingml/2006/main">
            <a:r>
              <a:t>            "outside": 146531,</a:t>
            </a:r>
          </a:p>
          <a:p xmlns:a="http://schemas.openxmlformats.org/drawingml/2006/main">
            <a:r>
              <a:t>            "outside_daily": 16281.222222222224,</a:t>
            </a:r>
          </a:p>
          <a:p xmlns:a="http://schemas.openxmlformats.org/drawingml/2006/main">
            <a:r>
              <a:t>            "outside_share_pct": 70.61803005330172</a:t>
            </a:r>
          </a:p>
          <a:p xmlns:a="http://schemas.openxmlformats.org/drawingml/2006/main">
            <a:r>
              <a:t>          },</a:t>
            </a:r>
          </a:p>
          <a:p xmlns:a="http://schemas.openxmlformats.org/drawingml/2006/main">
            <a:r>
              <a:t>          {</a:t>
            </a:r>
          </a:p>
          <a:p xmlns:a="http://schemas.openxmlformats.org/drawingml/2006/main">
            <a:r>
              <a:t>            "days": 10,</a:t>
            </a:r>
          </a:p>
          <a:p xmlns:a="http://schemas.openxmlformats.org/drawingml/2006/main">
            <a:r>
              <a:t>            "year": 2024,</a:t>
            </a:r>
          </a:p>
          <a:p xmlns:a="http://schemas.openxmlformats.org/drawingml/2006/main">
            <a:r>
              <a:t>            "daily": 24575,</a:t>
            </a:r>
          </a:p>
          <a:p xmlns:a="http://schemas.openxmlformats.org/drawingml/2006/main">
            <a:r>
              <a:t>            "local": 64582,</a:t>
            </a:r>
          </a:p>
          <a:p xmlns:a="http://schemas.openxmlformats.org/drawingml/2006/main">
            <a:r>
              <a:t>            "total": 245750,</a:t>
            </a:r>
          </a:p>
          <a:p xmlns:a="http://schemas.openxmlformats.org/drawingml/2006/main">
            <a:r>
              <a:t>            "foreign": 1170,</a:t>
            </a:r>
          </a:p>
          <a:p xmlns:a="http://schemas.openxmlformats.org/drawingml/2006/main">
            <a:r>
              <a:t>            "outside": 179998,</a:t>
            </a:r>
          </a:p>
          <a:p xmlns:a="http://schemas.openxmlformats.org/drawingml/2006/main">
            <a:r>
              <a:t>            "outside_daily": 17999.8,</a:t>
            </a:r>
          </a:p>
          <a:p xmlns:a="http://schemas.openxmlformats.org/drawingml/2006/main">
            <a:r>
              <a:t>            "outside_share_pct": 73.2443540183113</a:t>
            </a:r>
          </a:p>
          <a:p xmlns:a="http://schemas.openxmlformats.org/drawingml/2006/main">
            <a:r>
              <a:t>          },</a:t>
            </a:r>
          </a:p>
          <a:p xmlns:a="http://schemas.openxmlformats.org/drawingml/2006/main">
            <a:r>
              <a:t>          {</a:t>
            </a:r>
          </a:p>
          <a:p xmlns:a="http://schemas.openxmlformats.org/drawingml/2006/main">
            <a:r>
              <a:t>            "days": 9,</a:t>
            </a:r>
          </a:p>
          <a:p xmlns:a="http://schemas.openxmlformats.org/drawingml/2006/main">
            <a:r>
              <a:t>            "year": 2025,</a:t>
            </a:r>
          </a:p>
          <a:p xmlns:a="http://schemas.openxmlformats.org/drawingml/2006/main">
            <a:r>
              <a:t>            "daily": 28507.777777777777,</a:t>
            </a:r>
          </a:p>
          <a:p xmlns:a="http://schemas.openxmlformats.org/drawingml/2006/main">
            <a:r>
              <a:t>            "local": 58704,</a:t>
            </a:r>
          </a:p>
          <a:p xmlns:a="http://schemas.openxmlformats.org/drawingml/2006/main">
            <a:r>
              <a:t>            "total": 256570,</a:t>
            </a:r>
          </a:p>
          <a:p xmlns:a="http://schemas.openxmlformats.org/drawingml/2006/main">
            <a:r>
              <a:t>            "foreign": 1166,</a:t>
            </a:r>
          </a:p>
          <a:p xmlns:a="http://schemas.openxmlformats.org/drawingml/2006/main">
            <a:r>
              <a:t>            "outside": 196700,</a:t>
            </a:r>
          </a:p>
          <a:p xmlns:a="http://schemas.openxmlformats.org/drawingml/2006/main">
            <a:r>
              <a:t>            "outside_daily": 21855.555555555555,</a:t>
            </a:r>
          </a:p>
          <a:p xmlns:a="http://schemas.openxmlformats.org/drawingml/2006/main">
            <a:r>
              <a:t>            "outside_share_pct": 76.66523755700199</a:t>
            </a:r>
          </a:p>
          <a:p xmlns:a="http://schemas.openxmlformats.org/drawingml/2006/main">
            <a:r>
              <a:t>          }</a:t>
            </a:r>
          </a:p>
          <a:p xmlns:a="http://schemas.openxmlformats.org/drawingml/2006/main">
            <a:r>
              <a:t>        ],</a:t>
            </a:r>
          </a:p>
          <a:p xmlns:a="http://schemas.openxmlformats.org/drawingml/2006/main">
            <a:r>
              <a:t>        "comparison": {</a:t>
            </a:r>
          </a:p>
          <a:p xmlns:a="http://schemas.openxmlformats.org/drawingml/2006/main">
            <a:r>
              <a:t>          "daily": {</a:t>
            </a:r>
          </a:p>
          <a:p xmlns:a="http://schemas.openxmlformats.org/drawingml/2006/main">
            <a:r>
              <a:t>            "after": 28507.777777777777,</a:t>
            </a:r>
          </a:p>
          <a:p xmlns:a="http://schemas.openxmlformats.org/drawingml/2006/main">
            <a:r>
              <a:t>            "before": 24575,</a:t>
            </a:r>
          </a:p>
          <a:p xmlns:a="http://schemas.openxmlformats.org/drawingml/2006/main">
            <a:r>
              <a:t>            "change_pct": 16.00316491466034,</a:t>
            </a:r>
          </a:p>
          <a:p xmlns:a="http://schemas.openxmlformats.org/drawingml/2006/main">
            <a:r>
              <a:t>            "difference": 3932.7777777777774</a:t>
            </a:r>
          </a:p>
          <a:p xmlns:a="http://schemas.openxmlformats.org/drawingml/2006/main">
            <a:r>
              <a:t>          },</a:t>
            </a:r>
          </a:p>
          <a:p xmlns:a="http://schemas.openxmlformats.org/drawingml/2006/main">
            <a:r>
              <a:t>          "total": {</a:t>
            </a:r>
          </a:p>
          <a:p xmlns:a="http://schemas.openxmlformats.org/drawingml/2006/main">
            <a:r>
              <a:t>            "after": 256570,</a:t>
            </a:r>
          </a:p>
          <a:p xmlns:a="http://schemas.openxmlformats.org/drawingml/2006/main">
            <a:r>
              <a:t>            "before": 245750,</a:t>
            </a:r>
          </a:p>
          <a:p xmlns:a="http://schemas.openxmlformats.org/drawingml/2006/main">
            <a:r>
              <a:t>            "change_pct": 4.402848423194294,</a:t>
            </a:r>
          </a:p>
          <a:p xmlns:a="http://schemas.openxmlformats.org/drawingml/2006/main">
            <a:r>
              <a:t>            "difference": 10820</a:t>
            </a:r>
          </a:p>
          <a:p xmlns:a="http://schemas.openxmlformats.org/drawingml/2006/main">
            <a:r>
              <a:t>          },</a:t>
            </a:r>
          </a:p>
          <a:p xmlns:a="http://schemas.openxmlformats.org/drawingml/2006/main">
            <a:r>
              <a:t>          "outside": {</a:t>
            </a:r>
          </a:p>
          <a:p xmlns:a="http://schemas.openxmlformats.org/drawingml/2006/main">
            <a:r>
              <a:t>            "after": 196700,</a:t>
            </a:r>
          </a:p>
          <a:p xmlns:a="http://schemas.openxmlformats.org/drawingml/2006/main">
            <a:r>
              <a:t>            "before": 179998,</a:t>
            </a:r>
          </a:p>
          <a:p xmlns:a="http://schemas.openxmlformats.org/drawingml/2006/main">
            <a:r>
              <a:t>            "change_pct": 9.278991988799866,</a:t>
            </a:r>
          </a:p>
          <a:p xmlns:a="http://schemas.openxmlformats.org/drawingml/2006/main">
            <a:r>
              <a:t>            "difference": 16702</a:t>
            </a:r>
          </a:p>
          <a:p xmlns:a="http://schemas.openxmlformats.org/drawingml/2006/main">
            <a:r>
              <a:t>          },</a:t>
            </a:r>
          </a:p>
          <a:p xmlns:a="http://schemas.openxmlformats.org/drawingml/2006/main">
            <a:r>
              <a:t>          "after_days": 9,</a:t>
            </a:r>
          </a:p>
          <a:p xmlns:a="http://schemas.openxmlformats.org/drawingml/2006/main">
            <a:r>
              <a:t>          "after_year": 2025,</a:t>
            </a:r>
          </a:p>
          <a:p xmlns:a="http://schemas.openxmlformats.org/drawingml/2006/main">
            <a:r>
              <a:t>          "before_days": 10,</a:t>
            </a:r>
          </a:p>
          <a:p xmlns:a="http://schemas.openxmlformats.org/drawingml/2006/main">
            <a:r>
              <a:t>          "before_year": 2024,</a:t>
            </a:r>
          </a:p>
          <a:p xmlns:a="http://schemas.openxmlformats.org/drawingml/2006/main">
            <a:r>
              <a:t>          "outside_daily": {</a:t>
            </a:r>
          </a:p>
          <a:p xmlns:a="http://schemas.openxmlformats.org/drawingml/2006/main">
            <a:r>
              <a:t>            "after": 21855.555555555555,</a:t>
            </a:r>
          </a:p>
          <a:p xmlns:a="http://schemas.openxmlformats.org/drawingml/2006/main">
            <a:r>
              <a:t>            "before": 17999.8,</a:t>
            </a:r>
          </a:p>
          <a:p xmlns:a="http://schemas.openxmlformats.org/drawingml/2006/main">
            <a:r>
              <a:t>            "change_pct": 21.421102209777644,</a:t>
            </a:r>
          </a:p>
          <a:p xmlns:a="http://schemas.openxmlformats.org/drawingml/2006/main">
            <a:r>
              <a:t>            "difference": 3855.755555555555</a:t>
            </a:r>
          </a:p>
          <a:p xmlns:a="http://schemas.openxmlformats.org/drawingml/2006/main">
            <a:r>
              <a:t>          }</a:t>
            </a:r>
          </a:p>
          <a:p xmlns:a="http://schemas.openxmlformats.org/drawingml/2006/main">
            <a:r>
              <a:t>        },</a:t>
            </a:r>
          </a:p>
          <a:p xmlns:a="http://schemas.openxmlformats.org/drawingml/2006/main">
            <a:r>
              <a:t>        "scope": "축제 관측구역 방문 지표. 도시 전체·순증 관광객·입장권 실구매자 수가 아님.",</a:t>
            </a:r>
          </a:p>
          <a:p xmlns:a="http://schemas.openxmlformats.org/drawingml/2006/main">
            <a:r>
              <a:t>        "region_basis": "목적지 검색 CSV의 시도+시군구 최빈 주소; 행사장 행정경계 확정은 아님",</a:t>
            </a:r>
          </a:p>
          <a:p xmlns:a="http://schemas.openxmlformats.org/drawingml/2006/main">
            <a:r>
              <a:t>        "source_file": {</a:t>
            </a:r>
          </a:p>
          <a:p xmlns:a="http://schemas.openxmlformats.org/drawingml/2006/main">
            <a:r>
              <a:t>          "sha256": "dfcb5b619f820d7ce4451f5e89294681bc37f49f8200ba859754d423602e51a1",</a:t>
            </a:r>
          </a:p>
          <a:p xmlns:a="http://schemas.openxmlformats.org/drawingml/2006/main">
            <a:r>
              <a:t>          "provider": "한국관광 데이터랩",</a:t>
            </a:r>
          </a:p>
          <a:p xmlns:a="http://schemas.openxmlformats.org/drawingml/2006/main">
            <a:r>
              <a:t>          "file_name": "20260820160334_문경찻사발축제_연도별 방문자 추이.csv",</a:t>
            </a:r>
          </a:p>
          <a:p xmlns:a="http://schemas.openxmlformats.org/drawingml/2006/main">
            <a:r>
              <a:t>          "source_id": "festival-file:dfcb5b619f820d7ce445",</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"data/source_snapshots/festivals_20260820/25. 문경찻사발축제_2023-2025/20260820160334_문경찻사발축제_연도별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"indicator_values": [</a:t>
            </a:r>
          </a:p>
          <a:p xmlns:a="http://schemas.openxmlformats.org/drawingml/2006/main">
            <a:r>
              <a:t>          {</a:t>
            </a:r>
          </a:p>
          <a:p xmlns:a="http://schemas.openxmlformats.org/drawingml/2006/main">
            <a:r>
              <a:t>            "구분명": "외부방문자 유입",</a:t>
            </a:r>
          </a:p>
          <a:p xmlns:a="http://schemas.openxmlformats.org/drawingml/2006/main">
            <a:r>
              <a:t>            "그룹명": "축제기간",</a:t>
            </a:r>
          </a:p>
          <a:p xmlns:a="http://schemas.openxmlformats.org/drawingml/2006/main">
            <a:r>
              <a:t>            "지표값": "0.414",</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"축제기간",</a:t>
            </a:r>
          </a:p>
          <a:p xmlns:a="http://schemas.openxmlformats.org/drawingml/2006/main">
            <a:r>
              <a:t>            "지표값": "0.86",</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"축제기간",</a:t>
            </a:r>
          </a:p>
          <a:p xmlns:a="http://schemas.openxmlformats.org/drawingml/2006/main">
            <a:r>
              <a:t>            "지표값": "0.273",</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"축제기간",</a:t>
            </a:r>
          </a:p>
          <a:p xmlns:a="http://schemas.openxmlformats.org/drawingml/2006/main">
            <a:r>
              <a:t>            "지표값": "0.536",</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"축제기간",</a:t>
            </a:r>
          </a:p>
          <a:p xmlns:a="http://schemas.openxmlformats.org/drawingml/2006/main">
            <a:r>
              <a:t>            "지표값": "0.716",</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"외부방문자 유입",</a:t>
            </a:r>
          </a:p>
          <a:p xmlns:a="http://schemas.openxmlformats.org/drawingml/2006/main">
            <a:r>
              <a:t>            "그룹명": "비축제기간",</a:t>
            </a:r>
          </a:p>
          <a:p xmlns:a="http://schemas.openxmlformats.org/drawingml/2006/main">
            <a:r>
              <a:t>            "지표값": "0.217",</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"비축제기간",</a:t>
            </a:r>
          </a:p>
          <a:p xmlns:a="http://schemas.openxmlformats.org/drawingml/2006/main">
            <a:r>
              <a:t>            "지표값": "0.725",</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"비축제기간",</a:t>
            </a:r>
          </a:p>
          <a:p xmlns:a="http://schemas.openxmlformats.org/drawingml/2006/main">
            <a:r>
              <a:t>            "지표값": "0.148",</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"비축제기간",</a:t>
            </a:r>
          </a:p>
          <a:p xmlns:a="http://schemas.openxmlformats.org/drawingml/2006/main">
            <a:r>
              <a:t>            "지표값": "0.381",</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"비축제기간",</a:t>
            </a:r>
          </a:p>
          <a:p xmlns:a="http://schemas.openxmlformats.org/drawingml/2006/main">
            <a:r>
              <a:t>            "지표값": "0.607",</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"indicator_rule": "원본 지표값만 보존. 산식·단위 미확인으로 성장률/원화/정원/참여율 변환 금지.",</a:t>
            </a:r>
          </a:p>
          <a:p xmlns:a="http://schemas.openxmlformats.org/drawingml/2006/main">
            <a:r>
              <a:t>        "audience": [</a:t>
            </a:r>
          </a:p>
          <a:p xmlns:a="http://schemas.openxmlformats.org/drawingml/2006/main">
            <a:r>
              <a:t>          {</a:t>
            </a:r>
          </a:p>
          <a:p xmlns:a="http://schemas.openxmlformats.org/drawingml/2006/main">
            <a:r>
              <a:t>            "연령대": "70세 이상",</a:t>
            </a:r>
          </a:p>
          <a:p xmlns:a="http://schemas.openxmlformats.org/drawingml/2006/main">
            <a:r>
              <a:t>            "축제명": "문경찻사발축제",</a:t>
            </a:r>
          </a:p>
          <a:p xmlns:a="http://schemas.openxmlformats.org/drawingml/2006/main">
            <a:r>
              <a:t>            "남성비율": "4.0",</a:t>
            </a:r>
          </a:p>
          <a:p xmlns:a="http://schemas.openxmlformats.org/drawingml/2006/main">
            <a:r>
              <a:t>            "여성비율": "3.8"</a:t>
            </a:r>
          </a:p>
          <a:p xmlns:a="http://schemas.openxmlformats.org/drawingml/2006/main">
            <a:r>
              <a:t>          },</a:t>
            </a:r>
          </a:p>
          <a:p xmlns:a="http://schemas.openxmlformats.org/drawingml/2006/main">
            <a:r>
              <a:t>          {</a:t>
            </a:r>
          </a:p>
          <a:p xmlns:a="http://schemas.openxmlformats.org/drawingml/2006/main">
            <a:r>
              <a:t>            "연령대": "60~69세",</a:t>
            </a:r>
          </a:p>
          <a:p xmlns:a="http://schemas.openxmlformats.org/drawingml/2006/main">
            <a:r>
              <a:t>            "축제명": "문경찻사발축제",</a:t>
            </a:r>
          </a:p>
          <a:p xmlns:a="http://schemas.openxmlformats.org/drawingml/2006/main">
            <a:r>
              <a:t>            "남성비율": "12.3",</a:t>
            </a:r>
          </a:p>
          <a:p xmlns:a="http://schemas.openxmlformats.org/drawingml/2006/main">
            <a:r>
              <a:t>            "여성비율": "10.0"</a:t>
            </a:r>
          </a:p>
          <a:p xmlns:a="http://schemas.openxmlformats.org/drawingml/2006/main">
            <a:r>
              <a:t>          },</a:t>
            </a:r>
          </a:p>
          <a:p xmlns:a="http://schemas.openxmlformats.org/drawingml/2006/main">
            <a:r>
              <a:t>          {</a:t>
            </a:r>
          </a:p>
          <a:p xmlns:a="http://schemas.openxmlformats.org/drawingml/2006/main">
            <a:r>
              <a:t>            "연령대": "50~59세",</a:t>
            </a:r>
          </a:p>
          <a:p xmlns:a="http://schemas.openxmlformats.org/drawingml/2006/main">
            <a:r>
              <a:t>            "축제명": "문경찻사발축제",</a:t>
            </a:r>
          </a:p>
          <a:p xmlns:a="http://schemas.openxmlformats.org/drawingml/2006/main">
            <a:r>
              <a:t>            "남성비율": "13.0",</a:t>
            </a:r>
          </a:p>
          <a:p xmlns:a="http://schemas.openxmlformats.org/drawingml/2006/main">
            <a:r>
              <a:t>            "여성비율": "11.7"</a:t>
            </a:r>
          </a:p>
          <a:p xmlns:a="http://schemas.openxmlformats.org/drawingml/2006/main">
            <a:r>
              <a:t>          },</a:t>
            </a:r>
          </a:p>
          <a:p xmlns:a="http://schemas.openxmlformats.org/drawingml/2006/main">
            <a:r>
              <a:t>          {</a:t>
            </a:r>
          </a:p>
          <a:p xmlns:a="http://schemas.openxmlformats.org/drawingml/2006/main">
            <a:r>
              <a:t>            "연령대": "40~49세",</a:t>
            </a:r>
          </a:p>
          <a:p xmlns:a="http://schemas.openxmlformats.org/drawingml/2006/main">
            <a:r>
              <a:t>            "축제명": "문경찻사발축제",</a:t>
            </a:r>
          </a:p>
          <a:p xmlns:a="http://schemas.openxmlformats.org/drawingml/2006/main">
            <a:r>
              <a:t>            "남성비율": "9.3",</a:t>
            </a:r>
          </a:p>
          <a:p xmlns:a="http://schemas.openxmlformats.org/drawingml/2006/main">
            <a:r>
              <a:t>            "여성비율": "7.6"</a:t>
            </a:r>
          </a:p>
          <a:p xmlns:a="http://schemas.openxmlformats.org/drawingml/2006/main">
            <a:r>
              <a:t>          },</a:t>
            </a:r>
          </a:p>
          <a:p xmlns:a="http://schemas.openxmlformats.org/drawingml/2006/main">
            <a:r>
              <a:t>          {</a:t>
            </a:r>
          </a:p>
          <a:p xmlns:a="http://schemas.openxmlformats.org/drawingml/2006/main">
            <a:r>
              <a:t>            "연령대": "30~39세",</a:t>
            </a:r>
          </a:p>
          <a:p xmlns:a="http://schemas.openxmlformats.org/drawingml/2006/main">
            <a:r>
              <a:t>            "축제명": "문경찻사발축제",</a:t>
            </a:r>
          </a:p>
          <a:p xmlns:a="http://schemas.openxmlformats.org/drawingml/2006/main">
            <a:r>
              <a:t>            "남성비율": "7.2",</a:t>
            </a:r>
          </a:p>
          <a:p xmlns:a="http://schemas.openxmlformats.org/drawingml/2006/main">
            <a:r>
              <a:t>            "여성비율": "6.1"</a:t>
            </a:r>
          </a:p>
          <a:p xmlns:a="http://schemas.openxmlformats.org/drawingml/2006/main">
            <a:r>
              <a:t>          },</a:t>
            </a:r>
          </a:p>
          <a:p xmlns:a="http://schemas.openxmlformats.org/drawingml/2006/main">
            <a:r>
              <a:t>          {</a:t>
            </a:r>
          </a:p>
          <a:p xmlns:a="http://schemas.openxmlformats.org/drawingml/2006/main">
            <a:r>
              <a:t>            "연령대": "20~29세",</a:t>
            </a:r>
          </a:p>
          <a:p xmlns:a="http://schemas.openxmlformats.org/drawingml/2006/main">
            <a:r>
              <a:t>            "축제명": "문경찻사발축제",</a:t>
            </a:r>
          </a:p>
          <a:p xmlns:a="http://schemas.openxmlformats.org/drawingml/2006/main">
            <a:r>
              <a:t>            "남성비율": "4.6",</a:t>
            </a:r>
          </a:p>
          <a:p xmlns:a="http://schemas.openxmlformats.org/drawingml/2006/main">
            <a:r>
              <a:t>            "여성비율": "4.1"</a:t>
            </a:r>
          </a:p>
          <a:p xmlns:a="http://schemas.openxmlformats.org/drawingml/2006/main">
            <a:r>
              <a:t>          },</a:t>
            </a:r>
          </a:p>
          <a:p xmlns:a="http://schemas.openxmlformats.org/drawingml/2006/main">
            <a:r>
              <a:t>          {</a:t>
            </a:r>
          </a:p>
          <a:p xmlns:a="http://schemas.openxmlformats.org/drawingml/2006/main">
            <a:r>
              <a:t>            "연령대": "10~19세",</a:t>
            </a:r>
          </a:p>
          <a:p xmlns:a="http://schemas.openxmlformats.org/drawingml/2006/main">
            <a:r>
              <a:t>            "축제명": "문경찻사발축제",</a:t>
            </a:r>
          </a:p>
          <a:p xmlns:a="http://schemas.openxmlformats.org/drawingml/2006/main">
            <a:r>
              <a:t>            "남성비율": "2.5",</a:t>
            </a:r>
          </a:p>
          <a:p xmlns:a="http://schemas.openxmlformats.org/drawingml/2006/main">
            <a:r>
              <a:t>            "여성비율": "2.5"</a:t>
            </a:r>
          </a:p>
          <a:p xmlns:a="http://schemas.openxmlformats.org/drawingml/2006/main">
            <a:r>
              <a:t>          },</a:t>
            </a:r>
          </a:p>
          <a:p xmlns:a="http://schemas.openxmlformats.org/drawingml/2006/main">
            <a:r>
              <a:t>          {</a:t>
            </a:r>
          </a:p>
          <a:p xmlns:a="http://schemas.openxmlformats.org/drawingml/2006/main">
            <a:r>
              <a:t>            "연령대": "0~9세",</a:t>
            </a:r>
          </a:p>
          <a:p xmlns:a="http://schemas.openxmlformats.org/drawingml/2006/main">
            <a:r>
              <a:t>            "축제명": "문경찻사발축제",</a:t>
            </a:r>
          </a:p>
          <a:p xmlns:a="http://schemas.openxmlformats.org/drawingml/2006/main">
            <a:r>
              <a:t>            "남성비율": "0.6",</a:t>
            </a:r>
          </a:p>
          <a:p xmlns:a="http://schemas.openxmlformats.org/drawingml/2006/main">
            <a:r>
              <a:t>            "여성비율": "0.6"</a:t>
            </a:r>
          </a:p>
          <a:p xmlns:a="http://schemas.openxmlformats.org/drawingml/2006/main">
            <a:r>
              <a:t>          }</a:t>
            </a:r>
          </a:p>
          <a:p xmlns:a="http://schemas.openxmlformats.org/drawingml/2006/main">
            <a:r>
              <a:t>        ],</a:t>
            </a:r>
          </a:p>
          <a:p xmlns:a="http://schemas.openxmlformats.org/drawingml/2006/main">
            <a:r>
              <a:t>        "audience_period": "다운로드 CSV에 연도 열 없음; 최신 개최연도와 자동 결합하지 않음",</a:t>
            </a:r>
          </a:p>
          <a:p xmlns:a="http://schemas.openxmlformats.org/drawingml/2006/main">
            <a:r>
              <a:t>        "destination_examples": [</a:t>
            </a:r>
          </a:p>
          <a:p xmlns:a="http://schemas.openxmlformats.org/drawingml/2006/main">
            <a:r>
              <a:t>          {</a:t>
            </a:r>
          </a:p>
          <a:p xmlns:a="http://schemas.openxmlformats.org/drawingml/2006/main">
            <a:r>
              <a:t>            "구분": "외지인",</a:t>
            </a:r>
          </a:p>
          <a:p xmlns:a="http://schemas.openxmlformats.org/drawingml/2006/main">
            <a:r>
              <a:t>            "순위": "1",</a:t>
            </a:r>
          </a:p>
          <a:p xmlns:a="http://schemas.openxmlformats.org/drawingml/2006/main">
            <a:r>
              <a:t>            "목적지명": "문경새재",</a:t>
            </a:r>
          </a:p>
          <a:p xmlns:a="http://schemas.openxmlformats.org/drawingml/2006/main">
            <a:r>
              <a:t>            "도로명주소": "경북 문경시 새재로 932-0",</a:t>
            </a:r>
          </a:p>
          <a:p xmlns:a="http://schemas.openxmlformats.org/drawingml/2006/main">
            <a:r>
              <a:t>            "카테고리": "역사유적지"</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"2",</a:t>
            </a:r>
          </a:p>
          <a:p xmlns:a="http://schemas.openxmlformats.org/drawingml/2006/main">
            <a:r>
              <a:t>            "목적지명": "문경종합온천",</a:t>
            </a:r>
          </a:p>
          <a:p xmlns:a="http://schemas.openxmlformats.org/drawingml/2006/main">
            <a:r>
              <a:t>            "도로명주소": "경북 문경시 온천2길 24-0",</a:t>
            </a:r>
          </a:p>
          <a:p xmlns:a="http://schemas.openxmlformats.org/drawingml/2006/main">
            <a:r>
              <a:t>            "카테고리": "웰니스관광"</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"3",</a:t>
            </a:r>
          </a:p>
          <a:p xmlns:a="http://schemas.openxmlformats.org/drawingml/2006/main">
            <a:r>
              <a:t>            "목적지명": "문경찻사발축제",</a:t>
            </a:r>
          </a:p>
          <a:p xmlns:a="http://schemas.openxmlformats.org/drawingml/2006/main">
            <a:r>
              <a:t>            "도로명주소": "경북 문경시 새재로 933-0",</a:t>
            </a:r>
          </a:p>
          <a:p xmlns:a="http://schemas.openxmlformats.org/drawingml/2006/main">
            <a:r>
              <a:t>            "카테고리": "기타문화관광지"</a:t>
            </a:r>
          </a:p>
          <a:p xmlns:a="http://schemas.openxmlformats.org/drawingml/2006/main">
            <a:r>
              <a:t>          }</a:t>
            </a:r>
          </a:p>
          <a:p xmlns:a="http://schemas.openxmlformats.org/drawingml/2006/main">
            <a:r>
              <a:t>        ],</a:t>
            </a:r>
          </a:p>
          <a:p xmlns:a="http://schemas.openxmlformats.org/drawingml/2006/main">
            <a:r>
              <a:t>        "destination_period": "다운로드 CSV에 연도 열 없음; 주변 검색 후보이며 제휴·실제 방문 증거 아님"</a:t>
            </a:r>
          </a:p>
          <a:p xmlns:a="http://schemas.openxmlformats.org/drawingml/2006/main">
            <a:r>
              <a:t>      },</a:t>
            </a:r>
          </a:p>
          <a:p xmlns:a="http://schemas.openxmlformats.org/drawingml/2006/main">
            <a:r>
              <a:t>      "retrieval_basis": {</a:t>
            </a:r>
          </a:p>
          <a:p xmlns:a="http://schemas.openxmlformats.org/drawingml/2006/main">
            <a:r>
              <a:t>        "kind": "external_benchmark",</a:t>
            </a:r>
          </a:p>
          <a:p xmlns:a="http://schemas.openxmlformats.org/drawingml/2006/main">
            <a:r>
              <a:t>        "score": 31,</a:t>
            </a:r>
          </a:p>
          <a:p xmlns:a="http://schemas.openxmlformats.org/drawingml/2006/main">
            <a:r>
              <a:t>        "components": {</a:t>
            </a:r>
          </a:p>
          <a:p xmlns:a="http://schemas.openxmlformats.org/drawingml/2006/main">
            <a:r>
              <a:t>          "방문 전망 조사: 외지인·일평균 동반 증가": 15,</a:t>
            </a:r>
          </a:p>
          <a:p xmlns:a="http://schemas.openxmlformats.org/drawingml/2006/main">
            <a:r>
              <a:t>          "최근 개최연도": 6,</a:t>
            </a:r>
          </a:p>
          <a:p xmlns:a="http://schemas.openxmlformats.org/drawingml/2006/main">
            <a:r>
              <a:t>          "방문 실적 비교 가능": 10</a:t>
            </a:r>
          </a:p>
          <a:p xmlns:a="http://schemas.openxmlformats.org/drawingml/2006/main">
            <a:r>
              <a:t>        },</a:t>
            </a:r>
          </a:p>
          <a:p xmlns:a="http://schemas.openxmlformats.org/drawingml/2006/main">
            <a:r>
              <a:t>        "theme": "역사·공예",</a:t>
            </a:r>
          </a:p>
          <a:p xmlns:a="http://schemas.openxmlformats.org/drawingml/2006/main">
            <a:r>
              <a:t>        "priority_signal": "visit",</a:t>
            </a:r>
          </a:p>
          <a:p xmlns:a="http://schemas.openxmlformats.org/drawingml/2006/main">
            <a:r>
              <a:t>        "rule": "함수 기반 조사 우선순위. 사업효과·인구/환경 유사도 점수가 아니며 소비·체류 개선은 조사 가설이다."</a:t>
            </a:r>
          </a:p>
          <a:p xmlns:a="http://schemas.openxmlformats.org/drawingml/2006/main">
            <a:r>
              <a:t>      },</a:t>
            </a:r>
          </a:p>
          <a:p xmlns:a="http://schemas.openxmlformats.org/drawingml/2006/main">
            <a:r>
              <a:t>      "source_files": [</a:t>
            </a:r>
          </a:p>
          <a:p xmlns:a="http://schemas.openxmlformats.org/drawingml/2006/main">
            <a:r>
              <a:t>        {</a:t>
            </a:r>
          </a:p>
          <a:p xmlns:a="http://schemas.openxmlformats.org/drawingml/2006/main">
            <a:r>
              <a:t>          "sha256": "dfcb5b619f820d7ce4451f5e89294681bc37f49f8200ba859754d423602e51a1",</a:t>
            </a:r>
          </a:p>
          <a:p xmlns:a="http://schemas.openxmlformats.org/drawingml/2006/main">
            <a:r>
              <a:t>          "provider": "한국관광 데이터랩",</a:t>
            </a:r>
          </a:p>
          <a:p xmlns:a="http://schemas.openxmlformats.org/drawingml/2006/main">
            <a:r>
              <a:t>          "file_name": "20260820160334_문경찻사발축제_연도별 방문자 추이.csv",</a:t>
            </a:r>
          </a:p>
          <a:p xmlns:a="http://schemas.openxmlformats.org/drawingml/2006/main">
            <a:r>
              <a:t>          "source_id": "festival-file:dfcb5b619f820d7ce445",</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"data/source_snapshots/festivals_20260820/25. 문경찻사발축제_2023-2025/20260820160334_문경찻사발축제_연도별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"44238aecdfa68974febce93cd262e119492da76910929b96da438d8b6ee7a9b3",</a:t>
            </a:r>
          </a:p>
          <a:p xmlns:a="http://schemas.openxmlformats.org/drawingml/2006/main">
            <a:r>
              <a:t>          "provider": "한국관광 데이터랩",</a:t>
            </a:r>
          </a:p>
          <a:p xmlns:a="http://schemas.openxmlformats.org/drawingml/2006/main">
            <a:r>
              <a:t>          "file_name": "20260820160334_문경찻사발축제_성_연령별 내국인 방문자.csv",</a:t>
            </a:r>
          </a:p>
          <a:p xmlns:a="http://schemas.openxmlformats.org/drawingml/2006/main">
            <a:r>
              <a:t>          "source_id": "festival-file:44238aecdfa68974febc",</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"data/source_snapshots/festivals_20260820/25. 문경찻사발축제_2023-2025/20260820160334_문경찻사발축제_성_연령별 내국인 방문자.csv",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"eadf4622620ddb1575df5f358ec588aeed8718c09e0998a19494cf0f3cfe0f16",</a:t>
            </a:r>
          </a:p>
          <a:p xmlns:a="http://schemas.openxmlformats.org/drawingml/2006/main">
            <a:r>
              <a:t>          "provider": "한국관광 데이터랩",</a:t>
            </a:r>
          </a:p>
          <a:p xmlns:a="http://schemas.openxmlformats.org/drawingml/2006/main">
            <a:r>
              <a:t>          "file_name": "20260820160334_문경찻사발축제_문화관광축제 주요 지표.csv",</a:t>
            </a:r>
          </a:p>
          <a:p xmlns:a="http://schemas.openxmlformats.org/drawingml/2006/main">
            <a:r>
              <a:t>          "source_id": "festival-file:eadf4622620ddb1575df",</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"data/source_snapshots/festivals_20260820/25. 문경찻사발축제_2023-2025/20260820160334_문경찻사발축제_문화관광축제 주요 지표.csv",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"343671c431cfa7e76ba333ca2ea221803e111e0db5e9a51c6d387b0ba5d7eeaf",</a:t>
            </a:r>
          </a:p>
          <a:p xmlns:a="http://schemas.openxmlformats.org/drawingml/2006/main">
            <a:r>
              <a:t>          "provider": "한국관광 데이터랩",</a:t>
            </a:r>
          </a:p>
          <a:p xmlns:a="http://schemas.openxmlformats.org/drawingml/2006/main">
            <a:r>
              <a:t>          "file_name": "20260820160334_문경찻사발축제_목적지 검색순위.csv",</a:t>
            </a:r>
          </a:p>
          <a:p xmlns:a="http://schemas.openxmlformats.org/drawingml/2006/main">
            <a:r>
              <a:t>          "source_id": "festival-file:343671c431cfa7e76ba3",</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"data/source_snapshots/festivals_20260820/25. 문경찻사발축제_2023-2025/20260820160334_문경찻사발축제_목적지 검색순위.csv",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"dataset_hash": "ad20e3daf70fd44fd481d672398c07bb9c96fce77acb450784065a568735e2e2",</a:t>
            </a:r>
          </a:p>
          <a:p xmlns:a="http://schemas.openxmlformats.org/drawingml/2006/main">
            <a:r>
              <a:t>      "measurement_period": "2023~2025년 각 축제 개최기간",</a:t>
            </a:r>
          </a:p>
          <a:p xmlns:a="http://schemas.openxmlformats.org/drawingml/2006/main">
            <a:r>
              <a:t>      "transfer_conditions": [</a:t>
            </a:r>
          </a:p>
          <a:p xmlns:a="http://schemas.openxmlformats.org/drawingml/2006/main">
            <a:r>
              <a:t>        "지역 지표와 자원에 맞춰 행사 콘텐츠·운영일·참여처를 새로 설계한다.",</a:t>
            </a:r>
          </a:p>
          <a:p xmlns:a="http://schemas.openxmlformats.org/drawingml/2006/main">
            <a:r>
              <a:t>        "개최 일수는 사례 실적이며 우리 지역의 월 운영일·회차·정원으로 복사하지 않는다."</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"case:gangjin_half_price_2024",</a:t>
            </a:r>
          </a:p>
          <a:p xmlns:a="http://schemas.openxmlformats.org/drawingml/2006/main">
            <a:r>
              <a:t>      "source_type": "benchmark_case",</a:t>
            </a:r>
          </a:p>
          <a:p xmlns:a="http://schemas.openxmlformats.org/drawingml/2006/main">
            <a:r>
              <a:t>      "title": "강진 반값여행 지역경제 효과 소개",</a:t>
            </a:r>
          </a:p>
          <a:p xmlns:a="http://schemas.openxmlformats.org/drawingml/2006/main">
            <a:r>
              <a:t>      "source_url": "https://jnfarm.jeonnam.go.kr/board/FARM_BOARD_008/boardView.do?bdId=BD_00000000000011721&amp;menuCd=farm004002",</a:t>
            </a:r>
          </a:p>
          <a:p xmlns:a="http://schemas.openxmlformats.org/drawingml/2006/main">
            <a:r>
              <a:t>      "published_or_updated_at": "2025-01-02",</a:t>
            </a:r>
          </a:p>
          <a:p xmlns:a="http://schemas.openxmlformats.org/drawingml/2006/main">
            <a:r>
              <a:t>      "summary": "전라남도 강진군 · 반값여행 지역환급 · 상품권 결제 변화에 관한 소개 자료는 있으나, 사업 참여자 범위·정확한 비교 기간·원자료를 확인하지 못해 성과 수치 인용을 보류한다.",</a:t>
            </a:r>
          </a:p>
          <a:p xmlns:a="http://schemas.openxmlformats.org/drawingml/2006/main">
            <a:r>
              <a:t>      "case_region": "전라남도 강진군",</a:t>
            </a:r>
          </a:p>
          <a:p xmlns:a="http://schemas.openxmlformats.org/drawingml/2006/main">
            <a:r>
              <a:t>      "intervention": "반값여행 지역환급",</a:t>
            </a:r>
          </a:p>
          <a:p xmlns:a="http://schemas.openxmlformats.org/drawingml/2006/main">
            <a:r>
              <a:t>      "operating_model": "여행자가 지역에서 지출한 비용의 일부를 지역상품권으로 돌려받게 하여 혜택이 다시 지역 상점에서 사용되도록 설계",</a:t>
            </a:r>
          </a:p>
          <a:p xmlns:a="http://schemas.openxmlformats.org/drawingml/2006/main">
            <a:r>
              <a:t>      "evidence_strength": "low",</a:t>
            </a:r>
          </a:p>
          <a:p xmlns:a="http://schemas.openxmlformats.org/drawingml/2006/main">
            <a:r>
              <a:t>      "quantitative_result_approved": false,</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"상품권 결제 변화에 관한 소개 자료는 있으나, 사업 참여자 범위·정확한 비교 기간·원자료를 확인하지 못해 성과 수치 인용을 보류한다.",</a:t>
            </a:r>
          </a:p>
          <a:p xmlns:a="http://schemas.openxmlformats.org/drawingml/2006/main">
            <a:r>
              <a:t>      "operating_statistics": [],</a:t>
            </a:r>
          </a:p>
          <a:p xmlns:a="http://schemas.openxmlformats.org/drawingml/2006/main">
            <a:r>
              <a:t>      "measurement_period": "게시일과 사업 측정기간은 다르며, 비교기간과 집계범위 원자료 확인 필요",</a:t>
            </a:r>
          </a:p>
          <a:p xmlns:a="http://schemas.openxmlformats.org/drawingml/2006/main">
            <a:r>
              <a:t>      "transfer_conditions": [</a:t>
            </a:r>
          </a:p>
          <a:p xmlns:a="http://schemas.openxmlformats.org/drawingml/2006/main">
            <a:r>
              <a:t>        "지역상품권 사용처와 관광업체 참여 기준 필요",</a:t>
            </a:r>
          </a:p>
          <a:p xmlns:a="http://schemas.openxmlformats.org/drawingml/2006/main">
            <a:r>
              <a:t>        "여행 지출 증빙과 중복수혜 방지 절차 필요",</a:t>
            </a:r>
          </a:p>
          <a:p xmlns:a="http://schemas.openxmlformats.org/drawingml/2006/main">
            <a:r>
              <a:t>        "지원금보다 추가 지역소비가 큰지 사후 측정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"case:4544b7bca8ebab",</a:t>
            </a:r>
          </a:p>
          <a:p xmlns:a="http://schemas.openxmlformats.org/drawingml/2006/main">
            <a:r>
              <a:t>      "source_type": "benchmark_case",</a:t>
            </a:r>
          </a:p>
          <a:p xmlns:a="http://schemas.openxmlformats.org/drawingml/2006/main">
            <a:r>
              <a:t>      "title": "요즘, 한국관광 2호 - 지방공항 연계 지역관광 활성화 방안",</a:t>
            </a:r>
          </a:p>
          <a:p xmlns:a="http://schemas.openxmlformats.org/drawingml/2006/main">
            <a:r>
              <a:t>      "source_url": "https://datalab.visitkorea.or.kr/site/portal/ex/bbs/View.do?bcIdx=311068&amp;cbIdx=1135&amp;pageIndex=1",</a:t>
            </a:r>
          </a:p>
          <a:p xmlns:a="http://schemas.openxmlformats.org/drawingml/2006/main">
            <a:r>
              <a:t>      "published_or_updated_at": "2026-08",</a:t>
            </a:r>
          </a:p>
          <a:p xmlns:a="http://schemas.openxmlformats.org/drawingml/2006/main">
            <a:r>
              <a:t>      "summary": "충청권 청주공항·오송역·공주·부여 연계지역 · 청주공항 연계 광역순환버스·수요응답형 버스와 관광상품 연결 · 2026년 상반기 순환버스와 DRT 이용객은 총 7,470명으로 보고됐다. 2026년 6월 기준 청주공항 연계 여행상품 49개가 개발됐으나, 공항 입국자 증가와 버스사업의 인과관계 및 이용객의 대전 서구 방문·숙박·소비는 확인되지 않았다.",</a:t>
            </a:r>
          </a:p>
          <a:p xmlns:a="http://schemas.openxmlformats.org/drawingml/2006/main">
            <a:r>
              <a:t>      "case_region": "충청권 청주공항·오송역·공주·부여 연계지역",</a:t>
            </a:r>
          </a:p>
          <a:p xmlns:a="http://schemas.openxmlformats.org/drawingml/2006/main">
            <a:r>
              <a:t>      "intervention": "청주공항 연계 광역순환버스·수요응답형 버스와 관광상품 연결",</a:t>
            </a:r>
          </a:p>
          <a:p xmlns:a="http://schemas.openxmlformats.org/drawingml/2006/main">
            <a:r>
              <a:t>      "operating_model": "한국관광공사, 충청남·북도와 지역관광기관이 협업해 청주공항·오송역·공주터미널·부여터미널 등을 연결하는 광역순환버스와 수요응답형 버스를 지원했다. 공항 연계 콘텐츠와 코스를 발굴하고 여행사·OTA가 교통·숙박·식당을 묶어 판매할 수 있도록 상품화 정보를 제공했다.",</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null,</a:t>
            </a:r>
          </a:p>
          <a:p xmlns:a="http://schemas.openxmlformats.org/drawingml/2006/main">
            <a:r>
              <a:t>      "retrieval_method": "official_web_search",</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"2026년 상반기 순환버스와 DRT 이용객은 총 7,470명으로 보고됐다. 2026년 6월 기준 청주공항 연계 여행상품 49개가 개발됐으나, 공항 입국자 증가와 버스사업의 인과관계 및 이용객의 대전 서구 방문·숙박·소비는 확인되지 않았다.",</a:t>
            </a:r>
          </a:p>
          <a:p xmlns:a="http://schemas.openxmlformats.org/drawingml/2006/main">
            <a:r>
              <a:t>      "operating_statistics": [</a:t>
            </a:r>
          </a:p>
          <a:p xmlns:a="http://schemas.openxmlformats.org/drawingml/2006/main">
            <a:r>
              <a:t>        {</a:t>
            </a:r>
          </a:p>
          <a:p xmlns:a="http://schemas.openxmlformats.org/drawingml/2006/main">
            <a:r>
              <a:t>          "metric": "participants",</a:t>
            </a:r>
          </a:p>
          <a:p xmlns:a="http://schemas.openxmlformats.org/drawingml/2006/main">
            <a:r>
              <a:t>          "value": 7470,</a:t>
            </a:r>
          </a:p>
          <a:p xmlns:a="http://schemas.openxmlformats.org/drawingml/2006/main">
            <a:r>
              <a:t>          "unit": "명",</a:t>
            </a:r>
          </a:p>
          <a:p xmlns:a="http://schemas.openxmlformats.org/drawingml/2006/main">
            <a:r>
              <a:t>          "period": "2026년 상반기",</a:t>
            </a:r>
          </a:p>
          <a:p xmlns:a="http://schemas.openxmlformats.org/drawingml/2006/main">
            <a:r>
              <a:t>          "scope": "청주공항 연계 광역순환버스·DRT 실제 이용객 합계",</a:t>
            </a:r>
          </a:p>
          <a:p xmlns:a="http://schemas.openxmlformats.org/drawingml/2006/main">
            <a:r>
              <a:t>          "quote": "순환버스와 DRT 이용객은 총 7,470명",</a:t>
            </a:r>
          </a:p>
          <a:p xmlns:a="http://schemas.openxmlformats.org/drawingml/2006/main">
            <a:r>
              <a:t>          "capacity_count": null,</a:t>
            </a:r>
          </a:p>
          <a:p xmlns:a="http://schemas.openxmlformats.org/drawingml/2006/main">
            <a:r>
              <a:t>          "participant_count": 7470,</a:t>
            </a:r>
          </a:p>
          <a:p xmlns:a="http://schemas.openxmlformats.org/drawingml/2006/main">
            <a:r>
              <a:t>          "program_name": "청주공항 연계 순환버스·DRT"</a:t>
            </a:r>
          </a:p>
          <a:p xmlns:a="http://schemas.openxmlformats.org/drawingml/2006/main">
            <a:r>
              <a:t>        }</a:t>
            </a:r>
          </a:p>
          <a:p xmlns:a="http://schemas.openxmlformats.org/drawingml/2006/main">
            <a:r>
              <a:t>      ],</a:t>
            </a:r>
          </a:p>
          <a:p xmlns:a="http://schemas.openxmlformats.org/drawingml/2006/main">
            <a:r>
              <a:t>      "measurement_period": "2026-01~2026-06",</a:t>
            </a:r>
          </a:p>
          <a:p xmlns:a="http://schemas.openxmlformats.org/drawingml/2006/main">
            <a:r>
              <a:t>      "transfer_conditions": [</a:t>
            </a:r>
          </a:p>
          <a:p xmlns:a="http://schemas.openxmlformats.org/drawingml/2006/main">
            <a:r>
              <a:t>        "서구 적용 시 청주공항 전체 권역사업을 복제하지 말고 대전역·복합터미널·유성 권역 등 실제 유입거점에서 서구 콘텐츠로 이어지는 한정 노선을 검토해야 한다.",</a:t>
            </a:r>
          </a:p>
          <a:p xmlns:a="http://schemas.openxmlformats.org/drawingml/2006/main">
            <a:r>
              <a:t>        "고정노선보다 사전예약 회차 또는 행사일 셔틀을 우선 검토해 3개월 고정기간의 운행 공차 위험을 줄여야 한다.",</a:t>
            </a:r>
          </a:p>
          <a:p xmlns:a="http://schemas.openxmlformats.org/drawingml/2006/main">
            <a:r>
              <a:t>        "탑승 QR, 하차지, 체험 예약, 참여업소 결제를 연결해 이동 이후 행동을 측정해야 한다.",</a:t>
            </a:r>
          </a:p>
          <a:p xmlns:a="http://schemas.openxmlformats.org/drawingml/2006/main">
            <a:r>
              <a:t>        "버스 운송사업자, 관광시설, 숙박·식음업체 간 운행시간과 정산 책임 협약이 필요하다."</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"case:digital_tourism_resident_2024",</a:t>
            </a:r>
          </a:p>
          <a:p xmlns:a="http://schemas.openxmlformats.org/drawingml/2006/main">
            <a:r>
              <a:t>      "source_type": "benchmark_case",</a:t>
            </a:r>
          </a:p>
          <a:p xmlns:a="http://schemas.openxmlformats.org/drawingml/2006/main">
            <a:r>
              <a:t>      "title": "2024년 6월 여행가는 달 추진 보도자료",</a:t>
            </a:r>
          </a:p>
          <a:p xmlns:a="http://schemas.openxmlformats.org/drawingml/2006/main">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      "published_or_updated_at": "2024-05-14",</a:t>
            </a:r>
          </a:p>
          <a:p xmlns:a="http://schemas.openxmlformats.org/drawingml/2006/main">
            <a:r>
              <a:t>      "summary": "전국 인구감소지역 34곳 · 디지털 관광주민증과 교통·숙박·상점 할인 결합 · 2024년 34개 지역 약 800개 관광업체에 혜택 구조를 적용",</a:t>
            </a:r>
          </a:p>
          <a:p xmlns:a="http://schemas.openxmlformats.org/drawingml/2006/main">
            <a:r>
              <a:t>      "case_region": "전국 인구감소지역 34곳",</a:t>
            </a:r>
          </a:p>
          <a:p xmlns:a="http://schemas.openxmlformats.org/drawingml/2006/main">
            <a:r>
              <a:t>      "intervention": "디지털 관광주민증과 교통·숙박·상점 할인 결합",</a:t>
            </a:r>
          </a:p>
          <a:p xmlns:a="http://schemas.openxmlformats.org/drawingml/2006/main">
            <a:r>
              <a:t>      "operating_model": "디지털 관광주민증 참여업체 현장 인증과 숙박·식음·관람·체험 할인, 특정 시간대 KTX 할인과 방문 후 교통 할인권을 결합",</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"2024년 34개 지역 약 800개 관광업체에 혜택 구조를 적용",</a:t>
            </a:r>
          </a:p>
          <a:p xmlns:a="http://schemas.openxmlformats.org/drawingml/2006/main">
            <a:r>
              <a:t>      "operating_statistics": [],</a:t>
            </a:r>
          </a:p>
          <a:p xmlns:a="http://schemas.openxmlformats.org/drawingml/2006/main">
            <a:r>
              <a:t>      "measurement_period": "2024년 6월 운영 계획",</a:t>
            </a:r>
          </a:p>
          <a:p xmlns:a="http://schemas.openxmlformats.org/drawingml/2006/main">
            <a:r>
              <a:t>      "transfer_conditions": [</a:t>
            </a:r>
          </a:p>
          <a:p xmlns:a="http://schemas.openxmlformats.org/drawingml/2006/main">
            <a:r>
              <a:t>        "지역 내 참여업체 수와 혜택 매력도 확보",</a:t>
            </a:r>
          </a:p>
          <a:p xmlns:a="http://schemas.openxmlformats.org/drawingml/2006/main">
            <a:r>
              <a:t>        "QR 또는 위치인증과 실제 사용기록 수집",</a:t>
            </a:r>
          </a:p>
          <a:p xmlns:a="http://schemas.openxmlformats.org/drawingml/2006/main">
            <a:r>
              <a:t>        "교통 할인 제공기관과 협약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"case:night_festival_2025",</a:t>
            </a:r>
          </a:p>
          <a:p xmlns:a="http://schemas.openxmlformats.org/drawingml/2006/main">
            <a:r>
              <a:t>      "source_type": "benchmark_case",</a:t>
            </a:r>
          </a:p>
          <a:p xmlns:a="http://schemas.openxmlformats.org/drawingml/2006/main">
            <a:r>
              <a:t>      "title": "2025 대한민국 밤밤페스타 개최 도시 및 일정",</a:t>
            </a:r>
          </a:p>
          <a:p xmlns:a="http://schemas.openxmlformats.org/drawingml/2006/main">
            <a:r>
              <a:t>      "source_url": "https://korean.visitkorea.or.kr/detail/rem_detail.do?cotid=f9c636b2-dd7c-4f09-af3d-6af43b33d371",</a:t>
            </a:r>
          </a:p>
          <a:p xmlns:a="http://schemas.openxmlformats.org/drawingml/2006/main">
            <a:r>
              <a:t>      "published_or_updated_at": "2025",</a:t>
            </a:r>
          </a:p>
          <a:p xmlns:a="http://schemas.openxmlformats.org/drawingml/2006/main">
            <a:r>
              <a:t>      "summary": "야간관광 특화도시 10곳 · 도시별 야간 콘텐츠를 순회형 축제로 묶는 운영 · 공식 여행기사는 개최 도시·장소·운영 시간과 콘텐츠만 제시하며 방문·소비 성과 수치는 제시하지 않음",</a:t>
            </a:r>
          </a:p>
          <a:p xmlns:a="http://schemas.openxmlformats.org/drawingml/2006/main">
            <a:r>
              <a:t>      "case_region": "야간관광 특화도시 10곳",</a:t>
            </a:r>
          </a:p>
          <a:p xmlns:a="http://schemas.openxmlformats.org/drawingml/2006/main">
            <a:r>
              <a:t>      "intervention": "도시별 야간 콘텐츠를 순회형 축제로 묶는 운영",</a:t>
            </a:r>
          </a:p>
          <a:p xmlns:a="http://schemas.openxmlformats.org/drawingml/2006/main">
            <a:r>
              <a:t>      "operating_model": "10개 야간관광 특화도시의 대표 장소와 시간대를 연결하고, 공연·체험·지역 디저트·판매상품 등 도시별 콘텐츠를 순회 일정으로 운영",</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"공식 여행기사는 개최 도시·장소·운영 시간과 콘텐츠만 제시하며 방문·소비 성과 수치는 제시하지 않음",</a:t>
            </a:r>
          </a:p>
          <a:p xmlns:a="http://schemas.openxmlformats.org/drawingml/2006/main">
            <a:r>
              <a:t>      "operating_statistics": [],</a:t>
            </a:r>
          </a:p>
          <a:p xmlns:a="http://schemas.openxmlformats.org/drawingml/2006/main">
            <a:r>
              <a:t>      "measurement_period": "2025년 행사 일정",</a:t>
            </a:r>
          </a:p>
          <a:p xmlns:a="http://schemas.openxmlformats.org/drawingml/2006/main">
            <a:r>
              <a:t>      "transfer_conditions": [</a:t>
            </a:r>
          </a:p>
          <a:p xmlns:a="http://schemas.openxmlformats.org/drawingml/2006/main">
            <a:r>
              <a:t>        "야간에도 이용 가능한 교통·안전·식음 운영을 함께 설계",</a:t>
            </a:r>
          </a:p>
          <a:p xmlns:a="http://schemas.openxmlformats.org/drawingml/2006/main">
            <a:r>
              <a:t>        "하나의 행사보다 지역별 대표 콘텐츠와 상점 참여를 연결",</a:t>
            </a:r>
          </a:p>
          <a:p xmlns:a="http://schemas.openxmlformats.org/drawingml/2006/main">
            <a:r>
              <a:t>        "행사일과 비행사일을 분리해 방문·결제·숙박 변화를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"case:festival:1ff9d11d3ee0ee",</a:t>
            </a:r>
          </a:p>
          <a:p xmlns:a="http://schemas.openxmlformats.org/drawingml/2006/main">
            <a:r>
              <a:t>      "source_type": "benchmark_case",</a:t>
            </a:r>
          </a:p>
          <a:p xmlns:a="http://schemas.openxmlformats.org/drawingml/2006/main">
            <a:r>
              <a:t>      "title": "한국관광 데이터랩 · 진도신비의바닷길축제 방문자 추이",</a:t>
            </a:r>
          </a:p>
          <a:p xmlns:a="http://schemas.openxmlformats.org/drawingml/2006/main">
            <a:r>
              <a:t>      "source_url": "https://datalab.visitkorea.or.kr/",</a:t>
            </a:r>
          </a:p>
          <a:p xmlns:a="http://schemas.openxmlformats.org/drawingml/2006/main">
            <a:r>
              <a:t>      "published_or_updated_at": "2026-08-20",</a:t>
            </a:r>
          </a:p>
          <a:p xmlns:a="http://schemas.openxmlformats.org/drawingml/2006/main">
            <a:r>
              <a:t>      "summary": "전라남도 진도군 · 진도신비의바닷길축제 · 2024→2025년 전체 28,171→43,973명 (+56.09%). 개최 3→4일, 일평균 +17.07%, 외지인 +89.98%.",</a:t>
            </a:r>
          </a:p>
          <a:p xmlns:a="http://schemas.openxmlformats.org/drawingml/2006/main">
            <a:r>
              <a:t>      "case_region": "전라남도 진도군",</a:t>
            </a:r>
          </a:p>
          <a:p xmlns:a="http://schemas.openxmlformats.org/drawingml/2006/main">
            <a:r>
              <a:t>      "intervention": "진도신비의바닷길축제",</a:t>
            </a:r>
          </a:p>
          <a:p xmlns:a="http://schemas.openxmlformats.org/drawingml/2006/main">
            <a:r>
              <a:t>      "operating_model": "진도신비의바닷길축제를 2025년 4일 개최한 문화관광축제 운영 사례. 세부 프로그램·예약·혜택은 이 CSV에 기록되어 있지 않으며 새로운 운영안은 제안으로 구분한다.",</a:t>
            </a:r>
          </a:p>
          <a:p xmlns:a="http://schemas.openxmlformats.org/drawingml/2006/main">
            <a:r>
              <a:t>      "evidence_strength": "medium",</a:t>
            </a:r>
          </a:p>
          <a:p xmlns:a="http://schemas.openxmlformats.org/drawingml/2006/main">
            <a:r>
              <a:t>      "quantitative_result_approved": true,</a:t>
            </a:r>
          </a:p>
          <a:p xmlns:a="http://schemas.openxmlformats.org/drawingml/2006/main">
            <a:r>
              <a:t>      "document_type": "case_study",</a:t>
            </a:r>
          </a:p>
          <a:p xmlns:a="http://schemas.openxmlformats.org/drawingml/2006/main">
            <a:r>
              <a:t>      "retrieval_method": "datalab_festival_table",</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"2024→2025년 전체 28,171→43,973명 (+56.09%). 개최 3→4일, 일평균 +17.07%, 외지인 +89.98%.",</a:t>
            </a:r>
          </a:p>
          <a:p xmlns:a="http://schemas.openxmlformats.org/drawingml/2006/main">
            <a:r>
              <a:t>      "operating_statistics": [],</a:t>
            </a:r>
          </a:p>
          <a:p xmlns:a="http://schemas.openxmlformats.org/drawingml/2006/main">
            <a:r>
              <a:t>      "evidence_kind": "festival_statistics",</a:t>
            </a:r>
          </a:p>
          <a:p xmlns:a="http://schemas.openxmlformats.org/drawingml/2006/main">
            <a:r>
              <a:t>      "festival_statistics": {</a:t>
            </a:r>
          </a:p>
          <a:p xmlns:a="http://schemas.openxmlformats.org/drawingml/2006/main">
            <a:r>
              <a:t>        "name": "진도신비의바닷길축제",</a:t>
            </a:r>
          </a:p>
          <a:p xmlns:a="http://schemas.openxmlformats.org/drawingml/2006/main">
            <a:r>
              <a:t>        "annual": [</a:t>
            </a:r>
          </a:p>
          <a:p xmlns:a="http://schemas.openxmlformats.org/drawingml/2006/main">
            <a:r>
              <a:t>          {</a:t>
            </a:r>
          </a:p>
          <a:p xmlns:a="http://schemas.openxmlformats.org/drawingml/2006/main">
            <a:r>
              <a:t>            "days": 3,</a:t>
            </a:r>
          </a:p>
          <a:p xmlns:a="http://schemas.openxmlformats.org/drawingml/2006/main">
            <a:r>
              <a:t>            "year": 2023,</a:t>
            </a:r>
          </a:p>
          <a:p xmlns:a="http://schemas.openxmlformats.org/drawingml/2006/main">
            <a:r>
              <a:t>            "daily": 11185.333333333334,</a:t>
            </a:r>
          </a:p>
          <a:p xmlns:a="http://schemas.openxmlformats.org/drawingml/2006/main">
            <a:r>
              <a:t>            "local": 12120,</a:t>
            </a:r>
          </a:p>
          <a:p xmlns:a="http://schemas.openxmlformats.org/drawingml/2006/main">
            <a:r>
              <a:t>            "total": 33556,</a:t>
            </a:r>
          </a:p>
          <a:p xmlns:a="http://schemas.openxmlformats.org/drawingml/2006/main">
            <a:r>
              <a:t>            "foreign": 278,</a:t>
            </a:r>
          </a:p>
          <a:p xmlns:a="http://schemas.openxmlformats.org/drawingml/2006/main">
            <a:r>
              <a:t>            "outside": 21158,</a:t>
            </a:r>
          </a:p>
          <a:p xmlns:a="http://schemas.openxmlformats.org/drawingml/2006/main">
            <a:r>
              <a:t>            "outside_daily": 7052.666666666667,</a:t>
            </a:r>
          </a:p>
          <a:p xmlns:a="http://schemas.openxmlformats.org/drawingml/2006/main">
            <a:r>
              <a:t>            "outside_share_pct": 63.05280724758613</a:t>
            </a:r>
          </a:p>
          <a:p xmlns:a="http://schemas.openxmlformats.org/drawingml/2006/main">
            <a:r>
              <a:t>          },</a:t>
            </a:r>
          </a:p>
          <a:p xmlns:a="http://schemas.openxmlformats.org/drawingml/2006/main">
            <a:r>
              <a:t>          {</a:t>
            </a:r>
          </a:p>
          <a:p xmlns:a="http://schemas.openxmlformats.org/drawingml/2006/main">
            <a:r>
              <a:t>            "days": 3,</a:t>
            </a:r>
          </a:p>
          <a:p xmlns:a="http://schemas.openxmlformats.org/drawingml/2006/main">
            <a:r>
              <a:t>            "year": 2024,</a:t>
            </a:r>
          </a:p>
          <a:p xmlns:a="http://schemas.openxmlformats.org/drawingml/2006/main">
            <a:r>
              <a:t>            "daily": 9390.333333333334,</a:t>
            </a:r>
          </a:p>
          <a:p xmlns:a="http://schemas.openxmlformats.org/drawingml/2006/main">
            <a:r>
              <a:t>            "local": 13068,</a:t>
            </a:r>
          </a:p>
          <a:p xmlns:a="http://schemas.openxmlformats.org/drawingml/2006/main">
            <a:r>
              <a:t>            "total": 28171,</a:t>
            </a:r>
          </a:p>
          <a:p xmlns:a="http://schemas.openxmlformats.org/drawingml/2006/main">
            <a:r>
              <a:t>            "foreign": 223,</a:t>
            </a:r>
          </a:p>
          <a:p xmlns:a="http://schemas.openxmlformats.org/drawingml/2006/main">
            <a:r>
              <a:t>            "outside": 14880,</a:t>
            </a:r>
          </a:p>
          <a:p xmlns:a="http://schemas.openxmlformats.org/drawingml/2006/main">
            <a:r>
              <a:t>            "outside_daily": 4960,</a:t>
            </a:r>
          </a:p>
          <a:p xmlns:a="http://schemas.openxmlformats.org/drawingml/2006/main">
            <a:r>
              <a:t>            "outside_share_pct": 52.82027617052998</a:t>
            </a:r>
          </a:p>
          <a:p xmlns:a="http://schemas.openxmlformats.org/drawingml/2006/main">
            <a:r>
              <a:t>          },</a:t>
            </a:r>
          </a:p>
          <a:p xmlns:a="http://schemas.openxmlformats.org/drawingml/2006/main">
            <a:r>
              <a:t>          {</a:t>
            </a:r>
          </a:p>
          <a:p xmlns:a="http://schemas.openxmlformats.org/drawingml/2006/main">
            <a:r>
              <a:t>            "days": 4,</a:t>
            </a:r>
          </a:p>
          <a:p xmlns:a="http://schemas.openxmlformats.org/drawingml/2006/main">
            <a:r>
              <a:t>            "year": 2025,</a:t>
            </a:r>
          </a:p>
          <a:p xmlns:a="http://schemas.openxmlformats.org/drawingml/2006/main">
            <a:r>
              <a:t>            "daily": 10993.25,</a:t>
            </a:r>
          </a:p>
          <a:p xmlns:a="http://schemas.openxmlformats.org/drawingml/2006/main">
            <a:r>
              <a:t>            "local": 15345,</a:t>
            </a:r>
          </a:p>
          <a:p xmlns:a="http://schemas.openxmlformats.org/drawingml/2006/main">
            <a:r>
              <a:t>            "total": 43973,</a:t>
            </a:r>
          </a:p>
          <a:p xmlns:a="http://schemas.openxmlformats.org/drawingml/2006/main">
            <a:r>
              <a:t>            "foreign": 359,</a:t>
            </a:r>
          </a:p>
          <a:p xmlns:a="http://schemas.openxmlformats.org/drawingml/2006/main">
            <a:r>
              <a:t>            "outside": 28269,</a:t>
            </a:r>
          </a:p>
          <a:p xmlns:a="http://schemas.openxmlformats.org/drawingml/2006/main">
            <a:r>
              <a:t>            "outside_daily": 7067.25,</a:t>
            </a:r>
          </a:p>
          <a:p xmlns:a="http://schemas.openxmlformats.org/drawingml/2006/main">
            <a:r>
              <a:t>            "outside_share_pct": 64.28717622177244</a:t>
            </a:r>
          </a:p>
          <a:p xmlns:a="http://schemas.openxmlformats.org/drawingml/2006/main">
            <a:r>
              <a:t>          }</a:t>
            </a:r>
          </a:p>
          <a:p xmlns:a="http://schemas.openxmlformats.org/drawingml/2006/main">
            <a:r>
              <a:t>        ],</a:t>
            </a:r>
          </a:p>
          <a:p xmlns:a="http://schemas.openxmlformats.org/drawingml/2006/main">
            <a:r>
              <a:t>        "comparison": {</a:t>
            </a:r>
          </a:p>
          <a:p xmlns:a="http://schemas.openxmlformats.org/drawingml/2006/main">
            <a:r>
              <a:t>          "daily": {</a:t>
            </a:r>
          </a:p>
          <a:p xmlns:a="http://schemas.openxmlformats.org/drawingml/2006/main">
            <a:r>
              <a:t>            "after": 10993.25,</a:t>
            </a:r>
          </a:p>
          <a:p xmlns:a="http://schemas.openxmlformats.org/drawingml/2006/main">
            <a:r>
              <a:t>            "before": 9390.333333333334,</a:t>
            </a:r>
          </a:p>
          <a:p xmlns:a="http://schemas.openxmlformats.org/drawingml/2006/main">
            <a:r>
              <a:t>            "change_pct": 17.069859074935213,</a:t>
            </a:r>
          </a:p>
          <a:p xmlns:a="http://schemas.openxmlformats.org/drawingml/2006/main">
            <a:r>
              <a:t>            "difference": 1602.916666666666</a:t>
            </a:r>
          </a:p>
          <a:p xmlns:a="http://schemas.openxmlformats.org/drawingml/2006/main">
            <a:r>
              <a:t>          },</a:t>
            </a:r>
          </a:p>
          <a:p xmlns:a="http://schemas.openxmlformats.org/drawingml/2006/main">
            <a:r>
              <a:t>          "total": {</a:t>
            </a:r>
          </a:p>
          <a:p xmlns:a="http://schemas.openxmlformats.org/drawingml/2006/main">
            <a:r>
              <a:t>            "after": 43973,</a:t>
            </a:r>
          </a:p>
          <a:p xmlns:a="http://schemas.openxmlformats.org/drawingml/2006/main">
            <a:r>
              <a:t>            "before": 28171,</a:t>
            </a:r>
          </a:p>
          <a:p xmlns:a="http://schemas.openxmlformats.org/drawingml/2006/main">
            <a:r>
              <a:t>            "change_pct": 56.093145433246946,</a:t>
            </a:r>
          </a:p>
          <a:p xmlns:a="http://schemas.openxmlformats.org/drawingml/2006/main">
            <a:r>
              <a:t>            "difference": 15802</a:t>
            </a:r>
          </a:p>
          <a:p xmlns:a="http://schemas.openxmlformats.org/drawingml/2006/main">
            <a:r>
              <a:t>          },</a:t>
            </a:r>
          </a:p>
          <a:p xmlns:a="http://schemas.openxmlformats.org/drawingml/2006/main">
            <a:r>
              <a:t>          "outside": {</a:t>
            </a:r>
          </a:p>
          <a:p xmlns:a="http://schemas.openxmlformats.org/drawingml/2006/main">
            <a:r>
              <a:t>            "after": 28269,</a:t>
            </a:r>
          </a:p>
          <a:p xmlns:a="http://schemas.openxmlformats.org/drawingml/2006/main">
            <a:r>
              <a:t>            "before": 14880,</a:t>
            </a:r>
          </a:p>
          <a:p xmlns:a="http://schemas.openxmlformats.org/drawingml/2006/main">
            <a:r>
              <a:t>            "change_pct": 89.97983870967742,</a:t>
            </a:r>
          </a:p>
          <a:p xmlns:a="http://schemas.openxmlformats.org/drawingml/2006/main">
            <a:r>
              <a:t>            "difference": 13389</a:t>
            </a:r>
          </a:p>
          <a:p xmlns:a="http://schemas.openxmlformats.org/drawingml/2006/main">
            <a:r>
              <a:t>          },</a:t>
            </a:r>
          </a:p>
          <a:p xmlns:a="http://schemas.openxmlformats.org/drawingml/2006/main">
            <a:r>
              <a:t>          "after_days": 4,</a:t>
            </a:r>
          </a:p>
          <a:p xmlns:a="http://schemas.openxmlformats.org/drawingml/2006/main">
            <a:r>
              <a:t>          "after_year": 2025,</a:t>
            </a:r>
          </a:p>
          <a:p xmlns:a="http://schemas.openxmlformats.org/drawingml/2006/main">
            <a:r>
              <a:t>          "before_days": 3,</a:t>
            </a:r>
          </a:p>
          <a:p xmlns:a="http://schemas.openxmlformats.org/drawingml/2006/main">
            <a:r>
              <a:t>          "before_year": 2024,</a:t>
            </a:r>
          </a:p>
          <a:p xmlns:a="http://schemas.openxmlformats.org/drawingml/2006/main">
            <a:r>
              <a:t>          "outside_daily": {</a:t>
            </a:r>
          </a:p>
          <a:p xmlns:a="http://schemas.openxmlformats.org/drawingml/2006/main">
            <a:r>
              <a:t>            "after": 7067.25,</a:t>
            </a:r>
          </a:p>
          <a:p xmlns:a="http://schemas.openxmlformats.org/drawingml/2006/main">
            <a:r>
              <a:t>            "before": 4960,</a:t>
            </a:r>
          </a:p>
          <a:p xmlns:a="http://schemas.openxmlformats.org/drawingml/2006/main">
            <a:r>
              <a:t>            "change_pct": 42.484879032258064,</a:t>
            </a:r>
          </a:p>
          <a:p xmlns:a="http://schemas.openxmlformats.org/drawingml/2006/main">
            <a:r>
              <a:t>            "difference": 2107.25</a:t>
            </a:r>
          </a:p>
          <a:p xmlns:a="http://schemas.openxmlformats.org/drawingml/2006/main">
            <a:r>
              <a:t>          }</a:t>
            </a:r>
          </a:p>
          <a:p xmlns:a="http://schemas.openxmlformats.org/drawingml/2006/main">
            <a:r>
              <a:t>        },</a:t>
            </a:r>
          </a:p>
          <a:p xmlns:a="http://schemas.openxmlformats.org/drawingml/2006/main">
            <a:r>
              <a:t>        "scope": "축제 관측구역 방문 지표. 도시 전체·순증 관광객·입장권 실구매자 수가 아님.",</a:t>
            </a:r>
          </a:p>
          <a:p xmlns:a="http://schemas.openxmlformats.org/drawingml/2006/main">
            <a:r>
              <a:t>        "region_basis": "목적지 검색 CSV의 시도+시군구 최빈 주소; 행사장 행정경계 확정은 아님",</a:t>
            </a:r>
          </a:p>
          <a:p xmlns:a="http://schemas.openxmlformats.org/drawingml/2006/main">
            <a:r>
              <a:t>        "source_file": {</a:t>
            </a:r>
          </a:p>
          <a:p xmlns:a="http://schemas.openxmlformats.org/drawingml/2006/main">
            <a:r>
              <a:t>          "sha256": "3cf7484d808e807aeffda7504a3d316839b9220f0f7a72550f5387af3ee3f8d9",</a:t>
            </a:r>
          </a:p>
          <a:p xmlns:a="http://schemas.openxmlformats.org/drawingml/2006/main">
            <a:r>
              <a:t>          "provider": "한국관광 데이터랩",</a:t>
            </a:r>
          </a:p>
          <a:p xmlns:a="http://schemas.openxmlformats.org/drawingml/2006/main">
            <a:r>
              <a:t>          "file_name": "20260820182448_진도신비의바닷길축제_연도별 방문자 추이.csv",</a:t>
            </a:r>
          </a:p>
          <a:p xmlns:a="http://schemas.openxmlformats.org/drawingml/2006/main">
            <a:r>
              <a:t>          "source_id": "festival-file:3cf7484d808e807aeffd",</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"data/source_snapshots/festivals_20260820/69. 진도신비의바닷길축제_2023-2025/20260820182448_진도신비의바닷길축제_연도별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"indicator_values": [</a:t>
            </a:r>
          </a:p>
          <a:p xmlns:a="http://schemas.openxmlformats.org/drawingml/2006/main">
            <a:r>
              <a:t>          {</a:t>
            </a:r>
          </a:p>
          <a:p xmlns:a="http://schemas.openxmlformats.org/drawingml/2006/main">
            <a:r>
              <a:t>            "구분명": "외부방문자 유입",</a:t>
            </a:r>
          </a:p>
          <a:p xmlns:a="http://schemas.openxmlformats.org/drawingml/2006/main">
            <a:r>
              <a:t>            "그룹명": "축제기간",</a:t>
            </a:r>
          </a:p>
          <a:p xmlns:a="http://schemas.openxmlformats.org/drawingml/2006/main">
            <a:r>
              <a:t>            "지표값": "0.568",</a:t>
            </a:r>
          </a:p>
          <a:p xmlns:a="http://schemas.openxmlformats.org/drawingml/2006/main">
            <a:r>
              <a:t>            "축제명": "진도신비의바닷길축제",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"축제기간",</a:t>
            </a:r>
          </a:p>
          <a:p xmlns:a="http://schemas.openxmlformats.org/drawingml/2006/main">
            <a:r>
              <a:t>            "지표값": "0.858",</a:t>
            </a:r>
          </a:p>
          <a:p xmlns:a="http://schemas.openxmlformats.org/drawingml/2006/main">
            <a:r>
              <a:t>            "축제명": "진도신비의바닷길축제",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"축제기간",</a:t>
            </a:r>
          </a:p>
          <a:p xmlns:a="http://schemas.openxmlformats.org/drawingml/2006/main">
            <a:r>
              <a:t>            "지표값": "0.513",</a:t>
            </a:r>
          </a:p>
          <a:p xmlns:a="http://schemas.openxmlformats.org/drawingml/2006/main">
            <a:r>
              <a:t>            "축제명": "진도신비의바닷길축제",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"축제기간",</a:t>
            </a:r>
          </a:p>
          <a:p xmlns:a="http://schemas.openxmlformats.org/drawingml/2006/main">
            <a:r>
              <a:t>            "지표값": "0.283",</a:t>
            </a:r>
          </a:p>
          <a:p xmlns:a="http://schemas.openxmlformats.org/drawingml/2006/main">
            <a:r>
              <a:t>            "축제명": "진도신비의바닷길축제",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"축제기간",</a:t>
            </a:r>
          </a:p>
          <a:p xmlns:a="http://schemas.openxmlformats.org/drawingml/2006/main">
            <a:r>
              <a:t>            "지표값": "0.791",</a:t>
            </a:r>
          </a:p>
          <a:p xmlns:a="http://schemas.openxmlformats.org/drawingml/2006/main">
            <a:r>
              <a:t>            "축제명": "진도신비의바닷길축제",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"외부방문자 유입",</a:t>
            </a:r>
          </a:p>
          <a:p xmlns:a="http://schemas.openxmlformats.org/drawingml/2006/main">
            <a:r>
              <a:t>            "그룹명": "비축제기간",</a:t>
            </a:r>
          </a:p>
          <a:p xmlns:a="http://schemas.openxmlformats.org/drawingml/2006/main">
            <a:r>
              <a:t>            "지표값": "0.137",</a:t>
            </a:r>
          </a:p>
          <a:p xmlns:a="http://schemas.openxmlformats.org/drawingml/2006/main">
            <a:r>
              <a:t>            "축제명": "진도신비의바닷길축제",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"비축제기간",</a:t>
            </a:r>
          </a:p>
          <a:p xmlns:a="http://schemas.openxmlformats.org/drawingml/2006/main">
            <a:r>
              <a:t>            "지표값": "0.472",</a:t>
            </a:r>
          </a:p>
          <a:p xmlns:a="http://schemas.openxmlformats.org/drawingml/2006/main">
            <a:r>
              <a:t>            "축제명": "진도신비의바닷길축제",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"비축제기간",</a:t>
            </a:r>
          </a:p>
          <a:p xmlns:a="http://schemas.openxmlformats.org/drawingml/2006/main">
            <a:r>
              <a:t>            "지표값": "0.06",</a:t>
            </a:r>
          </a:p>
          <a:p xmlns:a="http://schemas.openxmlformats.org/drawingml/2006/main">
            <a:r>
              <a:t>            "축제명": "진도신비의바닷길축제",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"비축제기간",</a:t>
            </a:r>
          </a:p>
          <a:p xmlns:a="http://schemas.openxmlformats.org/drawingml/2006/main">
            <a:r>
              <a:t>            "지표값": "0.212",</a:t>
            </a:r>
          </a:p>
          <a:p xmlns:a="http://schemas.openxmlformats.org/drawingml/2006/main">
            <a:r>
              <a:t>            "축제명": "진도신비의바닷길축제",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"비축제기간",</a:t>
            </a:r>
          </a:p>
          <a:p xmlns:a="http://schemas.openxmlformats.org/drawingml/2006/main">
            <a:r>
              <a:t>            "지표값": "0.269",</a:t>
            </a:r>
          </a:p>
          <a:p xmlns:a="http://schemas.openxmlformats.org/drawingml/2006/main">
            <a:r>
              <a:t>            "축제명": "진도신비의바닷길축제",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"indicator_rule": "원본 지표값만 보존. 산식·단위 미확인으로 성장률/원화/정원/참여율 변환 금지.",</a:t>
            </a:r>
          </a:p>
          <a:p xmlns:a="http://schemas.openxmlformats.org/drawingml/2006/main">
            <a:r>
              <a:t>        "audience": [</a:t>
            </a:r>
          </a:p>
          <a:p xmlns:a="http://schemas.openxmlformats.org/drawingml/2006/main">
            <a:r>
              <a:t>          {</a:t>
            </a:r>
          </a:p>
          <a:p xmlns:a="http://schemas.openxmlformats.org/drawingml/2006/main">
            <a:r>
              <a:t>            "연령대": "70세 이상",</a:t>
            </a:r>
          </a:p>
          <a:p xmlns:a="http://schemas.openxmlformats.org/drawingml/2006/main">
            <a:r>
              <a:t>            "축제명": "진도신비의바닷길축제",</a:t>
            </a:r>
          </a:p>
          <a:p xmlns:a="http://schemas.openxmlformats.org/drawingml/2006/main">
            <a:r>
              <a:t>            "남성비율": "7.4",</a:t>
            </a:r>
          </a:p>
          <a:p xmlns:a="http://schemas.openxmlformats.org/drawingml/2006/main">
            <a:r>
              <a:t>            "여성비율": "6.8"</a:t>
            </a:r>
          </a:p>
          <a:p xmlns:a="http://schemas.openxmlformats.org/drawingml/2006/main">
            <a:r>
              <a:t>          },</a:t>
            </a:r>
          </a:p>
          <a:p xmlns:a="http://schemas.openxmlformats.org/drawingml/2006/main">
            <a:r>
              <a:t>          {</a:t>
            </a:r>
          </a:p>
          <a:p xmlns:a="http://schemas.openxmlformats.org/drawingml/2006/main">
            <a:r>
              <a:t>            "연령대": "60~69세",</a:t>
            </a:r>
          </a:p>
          <a:p xmlns:a="http://schemas.openxmlformats.org/drawingml/2006/main">
            <a:r>
              <a:t>            "축제명": "진도신비의바닷길축제",</a:t>
            </a:r>
          </a:p>
          <a:p xmlns:a="http://schemas.openxmlformats.org/drawingml/2006/main">
            <a:r>
              <a:t>            "남성비율": "13.8",</a:t>
            </a:r>
          </a:p>
          <a:p xmlns:a="http://schemas.openxmlformats.org/drawingml/2006/main">
            <a:r>
              <a:t>            "여성비율": "14.3"</a:t>
            </a:r>
          </a:p>
          <a:p xmlns:a="http://schemas.openxmlformats.org/drawingml/2006/main">
            <a:r>
              <a:t>          },</a:t>
            </a:r>
          </a:p>
          <a:p xmlns:a="http://schemas.openxmlformats.org/drawingml/2006/main">
            <a:r>
              <a:t>          {</a:t>
            </a:r>
          </a:p>
          <a:p xmlns:a="http://schemas.openxmlformats.org/drawingml/2006/main">
            <a:r>
              <a:t>            "연령대": "50~59세",</a:t>
            </a:r>
          </a:p>
          <a:p xmlns:a="http://schemas.openxmlformats.org/drawingml/2006/main">
            <a:r>
              <a:t>            "축제명": "진도신비의바닷길축제",</a:t>
            </a:r>
          </a:p>
          <a:p xmlns:a="http://schemas.openxmlformats.org/drawingml/2006/main">
            <a:r>
              <a:t>            "남성비율": "10.7",</a:t>
            </a:r>
          </a:p>
          <a:p xmlns:a="http://schemas.openxmlformats.org/drawingml/2006/main">
            <a:r>
              <a:t>            "여성비율": "11.5"</a:t>
            </a:r>
          </a:p>
          <a:p xmlns:a="http://schemas.openxmlformats.org/drawingml/2006/main">
            <a:r>
              <a:t>          },</a:t>
            </a:r>
          </a:p>
          <a:p xmlns:a="http://schemas.openxmlformats.org/drawingml/2006/main">
            <a:r>
              <a:t>          {</a:t>
            </a:r>
          </a:p>
          <a:p xmlns:a="http://schemas.openxmlformats.org/drawingml/2006/main">
            <a:r>
              <a:t>            "연령대": "40~49세",</a:t>
            </a:r>
          </a:p>
          <a:p xmlns:a="http://schemas.openxmlformats.org/drawingml/2006/main">
            <a:r>
              <a:t>            "축제명": "진도신비의바닷길축제",</a:t>
            </a:r>
          </a:p>
          <a:p xmlns:a="http://schemas.openxmlformats.org/drawingml/2006/main">
            <a:r>
              <a:t>            "남성비율": "7.7",</a:t>
            </a:r>
          </a:p>
          <a:p xmlns:a="http://schemas.openxmlformats.org/drawingml/2006/main">
            <a:r>
              <a:t>            "여성비율": "4.9"</a:t>
            </a:r>
          </a:p>
          <a:p xmlns:a="http://schemas.openxmlformats.org/drawingml/2006/main">
            <a:r>
              <a:t>          },</a:t>
            </a:r>
          </a:p>
          <a:p xmlns:a="http://schemas.openxmlformats.org/drawingml/2006/main">
            <a:r>
              <a:t>          {</a:t>
            </a:r>
          </a:p>
          <a:p xmlns:a="http://schemas.openxmlformats.org/drawingml/2006/main">
            <a:r>
              <a:t>            "연령대": "30~39세",</a:t>
            </a:r>
          </a:p>
          <a:p xmlns:a="http://schemas.openxmlformats.org/drawingml/2006/main">
            <a:r>
              <a:t>            "축제명": "진도신비의바닷길축제",</a:t>
            </a:r>
          </a:p>
          <a:p xmlns:a="http://schemas.openxmlformats.org/drawingml/2006/main">
            <a:r>
              <a:t>            "남성비율": "6.8",</a:t>
            </a:r>
          </a:p>
          <a:p xmlns:a="http://schemas.openxmlformats.org/drawingml/2006/main">
            <a:r>
              <a:t>            "여성비율": "4.2"</a:t>
            </a:r>
          </a:p>
          <a:p xmlns:a="http://schemas.openxmlformats.org/drawingml/2006/main">
            <a:r>
              <a:t>          },</a:t>
            </a:r>
          </a:p>
          <a:p xmlns:a="http://schemas.openxmlformats.org/drawingml/2006/main">
            <a:r>
              <a:t>          {</a:t>
            </a:r>
          </a:p>
          <a:p xmlns:a="http://schemas.openxmlformats.org/drawingml/2006/main">
            <a:r>
              <a:t>            "연령대": "20~29세",</a:t>
            </a:r>
          </a:p>
          <a:p xmlns:a="http://schemas.openxmlformats.org/drawingml/2006/main">
            <a:r>
              <a:t>            "축제명": "진도신비의바닷길축제",</a:t>
            </a:r>
          </a:p>
          <a:p xmlns:a="http://schemas.openxmlformats.org/drawingml/2006/main">
            <a:r>
              <a:t>            "남성비율": "5.3",</a:t>
            </a:r>
          </a:p>
          <a:p xmlns:a="http://schemas.openxmlformats.org/drawingml/2006/main">
            <a:r>
              <a:t>            "여성비율": "3.0"</a:t>
            </a:r>
          </a:p>
          <a:p xmlns:a="http://schemas.openxmlformats.org/drawingml/2006/main">
            <a:r>
              <a:t>          },</a:t>
            </a:r>
          </a:p>
          <a:p xmlns:a="http://schemas.openxmlformats.org/drawingml/2006/main">
            <a:r>
              <a:t>          {</a:t>
            </a:r>
          </a:p>
          <a:p xmlns:a="http://schemas.openxmlformats.org/drawingml/2006/main">
            <a:r>
              <a:t>            "연령대": "10~19세",</a:t>
            </a:r>
          </a:p>
          <a:p xmlns:a="http://schemas.openxmlformats.org/drawingml/2006/main">
            <a:r>
              <a:t>            "축제명": "진도신비의바닷길축제",</a:t>
            </a:r>
          </a:p>
          <a:p xmlns:a="http://schemas.openxmlformats.org/drawingml/2006/main">
            <a:r>
              <a:t>            "남성비율": "1.3",</a:t>
            </a:r>
          </a:p>
          <a:p xmlns:a="http://schemas.openxmlformats.org/drawingml/2006/main">
            <a:r>
              <a:t>            "여성비율": "1.3"</a:t>
            </a:r>
          </a:p>
          <a:p xmlns:a="http://schemas.openxmlformats.org/drawingml/2006/main">
            <a:r>
              <a:t>          },</a:t>
            </a:r>
          </a:p>
          <a:p xmlns:a="http://schemas.openxmlformats.org/drawingml/2006/main">
            <a:r>
              <a:t>          {</a:t>
            </a:r>
          </a:p>
          <a:p xmlns:a="http://schemas.openxmlformats.org/drawingml/2006/main">
            <a:r>
              <a:t>            "연령대": "0~9세",</a:t>
            </a:r>
          </a:p>
          <a:p xmlns:a="http://schemas.openxmlformats.org/drawingml/2006/main">
            <a:r>
              <a:t>            "축제명": "진도신비의바닷길축제",</a:t>
            </a:r>
          </a:p>
          <a:p xmlns:a="http://schemas.openxmlformats.org/drawingml/2006/main">
            <a:r>
              <a:t>            "남성비율": "0.5",</a:t>
            </a:r>
          </a:p>
          <a:p xmlns:a="http://schemas.openxmlformats.org/drawingml/2006/main">
            <a:r>
              <a:t>            "여성비율": "0.4"</a:t>
            </a:r>
          </a:p>
          <a:p xmlns:a="http://schemas.openxmlformats.org/drawingml/2006/main">
            <a:r>
              <a:t>          }</a:t>
            </a:r>
          </a:p>
          <a:p xmlns:a="http://schemas.openxmlformats.org/drawingml/2006/main">
            <a:r>
              <a:t>        ],</a:t>
            </a:r>
          </a:p>
          <a:p xmlns:a="http://schemas.openxmlformats.org/drawingml/2006/main">
            <a:r>
              <a:t>        "audience_period": "다운로드 CSV에 연도 열 없음; 최신 개최연도와 자동 결합하지 않음",</a:t>
            </a:r>
          </a:p>
          <a:p xmlns:a="http://schemas.openxmlformats.org/drawingml/2006/main">
            <a:r>
              <a:t>        "destination_examples": [</a:t>
            </a:r>
          </a:p>
          <a:p xmlns:a="http://schemas.openxmlformats.org/drawingml/2006/main">
            <a:r>
              <a:t>          {</a:t>
            </a:r>
          </a:p>
          <a:p xmlns:a="http://schemas.openxmlformats.org/drawingml/2006/main">
            <a:r>
              <a:t>            "구분": "외지인",</a:t>
            </a:r>
          </a:p>
          <a:p xmlns:a="http://schemas.openxmlformats.org/drawingml/2006/main">
            <a:r>
              <a:t>            "순위": "1",</a:t>
            </a:r>
          </a:p>
          <a:p xmlns:a="http://schemas.openxmlformats.org/drawingml/2006/main">
            <a:r>
              <a:t>            "목적지명": "진도신비의바닷길축제",</a:t>
            </a:r>
          </a:p>
          <a:p xmlns:a="http://schemas.openxmlformats.org/drawingml/2006/main">
            <a:r>
              <a:t>            "도로명주소": "전남 진도군 신비의바닷길 74-0",</a:t>
            </a:r>
          </a:p>
          <a:p xmlns:a="http://schemas.openxmlformats.org/drawingml/2006/main">
            <a:r>
              <a:t>            "카테고리": "기타문화관광지"</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"2",</a:t>
            </a:r>
          </a:p>
          <a:p xmlns:a="http://schemas.openxmlformats.org/drawingml/2006/main">
            <a:r>
              <a:t>            "목적지명": "진도신비의바닷길",</a:t>
            </a:r>
          </a:p>
          <a:p xmlns:a="http://schemas.openxmlformats.org/drawingml/2006/main">
            <a:r>
              <a:t>            "도로명주소": "전남 진도군",</a:t>
            </a:r>
          </a:p>
          <a:p xmlns:a="http://schemas.openxmlformats.org/drawingml/2006/main">
            <a:r>
              <a:t>            "카테고리": "테마공원"</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"3",</a:t>
            </a:r>
          </a:p>
          <a:p xmlns:a="http://schemas.openxmlformats.org/drawingml/2006/main">
            <a:r>
              <a:t>            "목적지명": "가계해변",</a:t>
            </a:r>
          </a:p>
          <a:p xmlns:a="http://schemas.openxmlformats.org/drawingml/2006/main">
            <a:r>
              <a:t>            "도로명주소": "전남 진도군 신비의바닷길 0-0",</a:t>
            </a:r>
          </a:p>
          <a:p xmlns:a="http://schemas.openxmlformats.org/drawingml/2006/main">
            <a:r>
              <a:t>            "카테고리": "자연경관(하천/해양)"</a:t>
            </a:r>
          </a:p>
          <a:p xmlns:a="http://schemas.openxmlformats.org/drawingml/2006/main">
            <a:r>
              <a:t>          }</a:t>
            </a:r>
          </a:p>
          <a:p xmlns:a="http://schemas.openxmlformats.org/drawingml/2006/main">
            <a:r>
              <a:t>        ],</a:t>
            </a:r>
          </a:p>
          <a:p xmlns:a="http://schemas.openxmlformats.org/drawingml/2006/main">
            <a:r>
              <a:t>        "destination_period": "다운로드 CSV에 연도 열 없음; 주변 검색 후보이며 제휴·실제 방문 증거 아님"</a:t>
            </a:r>
          </a:p>
          <a:p xmlns:a="http://schemas.openxmlformats.org/drawingml/2006/main">
            <a:r>
              <a:t>      },</a:t>
            </a:r>
          </a:p>
          <a:p xmlns:a="http://schemas.openxmlformats.org/drawingml/2006/main">
            <a:r>
              <a:t>      "retrieval_basis": {</a:t>
            </a:r>
          </a:p>
          <a:p xmlns:a="http://schemas.openxmlformats.org/drawingml/2006/main">
            <a:r>
              <a:t>        "kind": "external_benchmark",</a:t>
            </a:r>
          </a:p>
          <a:p xmlns:a="http://schemas.openxmlformats.org/drawingml/2006/main">
            <a:r>
              <a:t>        "score": 31,</a:t>
            </a:r>
          </a:p>
          <a:p xmlns:a="http://schemas.openxmlformats.org/drawingml/2006/main">
            <a:r>
              <a:t>        "components": {</a:t>
            </a:r>
          </a:p>
          <a:p xmlns:a="http://schemas.openxmlformats.org/drawingml/2006/main">
            <a:r>
              <a:t>          "방문 전망 조사: 외지인·일평균 동반 증가": 15,</a:t>
            </a:r>
          </a:p>
          <a:p xmlns:a="http://schemas.openxmlformats.org/drawingml/2006/main">
            <a:r>
              <a:t>          "최근 개최연도": 6,</a:t>
            </a:r>
          </a:p>
          <a:p xmlns:a="http://schemas.openxmlformats.org/drawingml/2006/main">
            <a:r>
              <a:t>          "방문 실적 비교 가능": 10</a:t>
            </a:r>
          </a:p>
          <a:p xmlns:a="http://schemas.openxmlformats.org/drawingml/2006/main">
            <a:r>
              <a:t>        },</a:t>
            </a:r>
          </a:p>
          <a:p xmlns:a="http://schemas.openxmlformats.org/drawingml/2006/main">
            <a:r>
              <a:t>        "theme": "자연·야외",</a:t>
            </a:r>
          </a:p>
          <a:p xmlns:a="http://schemas.openxmlformats.org/drawingml/2006/main">
            <a:r>
              <a:t>        "priority_signal": "visit",</a:t>
            </a:r>
          </a:p>
          <a:p xmlns:a="http://schemas.openxmlformats.org/drawingml/2006/main">
            <a:r>
              <a:t>        "rule": "함수 기반 조사 우선순위. 사업효과·인구/환경 유사도 점수가 아니며 소비·체류 개선은 조사 가설이다."</a:t>
            </a:r>
          </a:p>
          <a:p xmlns:a="http://schemas.openxmlformats.org/drawingml/2006/main">
            <a:r>
              <a:t>      },</a:t>
            </a:r>
          </a:p>
          <a:p xmlns:a="http://schemas.openxmlformats.org/drawingml/2006/main">
            <a:r>
              <a:t>      "source_files": [</a:t>
            </a:r>
          </a:p>
          <a:p xmlns:a="http://schemas.openxmlformats.org/drawingml/2006/main">
            <a:r>
              <a:t>        {</a:t>
            </a:r>
          </a:p>
          <a:p xmlns:a="http://schemas.openxmlformats.org/drawingml/2006/main">
            <a:r>
              <a:t>          "sha256": "3cf7484d808e807aeffda7504a3d316839b9220f0f7a72550f5387af3ee3f8d9",</a:t>
            </a:r>
          </a:p>
          <a:p xmlns:a="http://schemas.openxmlformats.org/drawingml/2006/main">
            <a:r>
              <a:t>          "provider": "한국관광 데이터랩",</a:t>
            </a:r>
          </a:p>
          <a:p xmlns:a="http://schemas.openxmlformats.org/drawingml/2006/main">
            <a:r>
              <a:t>          "file_name": "20260820182448_진도신비의바닷길축제_연도별 방문자 추이.csv",</a:t>
            </a:r>
          </a:p>
          <a:p xmlns:a="http://schemas.openxmlformats.org/drawingml/2006/main">
            <a:r>
              <a:t>          "source_id": "festival-file:3cf7484d808e807aeffd",</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"data/source_snapshots/festivals_20260820/69. 진도신비의바닷길축제_2023-2025/20260820182448_진도신비의바닷길축제_연도별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"cb3424e725c84352d81fdb987f6d3ade162f54f63a9590ac8730dddcfcc48ed7",</a:t>
            </a:r>
          </a:p>
          <a:p xmlns:a="http://schemas.openxmlformats.org/drawingml/2006/main">
            <a:r>
              <a:t>          "provider": "한국관광 데이터랩",</a:t>
            </a:r>
          </a:p>
          <a:p xmlns:a="http://schemas.openxmlformats.org/drawingml/2006/main">
            <a:r>
              <a:t>          "file_name": "20260820182448_진도신비의바닷길축제_성_연령별 내국인 방문자.csv",</a:t>
            </a:r>
          </a:p>
          <a:p xmlns:a="http://schemas.openxmlformats.org/drawingml/2006/main">
            <a:r>
              <a:t>          "source_id": "festival-file:cb3424e725c84352d81f",</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"data/source_snapshots/festivals_20260820/69. 진도신비의바닷길축제_2023-2025/20260820182448_진도신비의바닷길축제_성_연령별 내국인 방문자.csv",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"c9332a0e0d15d1550b1b545b8b739cc6a919a13ca701800d87203b06b2fecd46",</a:t>
            </a:r>
          </a:p>
          <a:p xmlns:a="http://schemas.openxmlformats.org/drawingml/2006/main">
            <a:r>
              <a:t>          "provider": "한국관광 데이터랩",</a:t>
            </a:r>
          </a:p>
          <a:p xmlns:a="http://schemas.openxmlformats.org/drawingml/2006/main">
            <a:r>
              <a:t>          "file_name": "20260820182448_진도신비의바닷길축제_문화관광축제 주요 지표.csv",</a:t>
            </a:r>
          </a:p>
          <a:p xmlns:a="http://schemas.openxmlformats.org/drawingml/2006/main">
            <a:r>
              <a:t>          "source_id": "festival-file:c9332a0e0d15d1550b1b",</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"data/source_snapshots/festivals_20260820/69. 진도신비의바닷길축제_2023-2025/20260820182448_진도신비의바닷길축제_문화관광축제 주요 지표.csv",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"b8aa76a62ac8159da3b9234363c8c0026f70875997af88b4e750f2f6154c65ae",</a:t>
            </a:r>
          </a:p>
          <a:p xmlns:a="http://schemas.openxmlformats.org/drawingml/2006/main">
            <a:r>
              <a:t>          "provider": "한국관광 데이터랩",</a:t>
            </a:r>
          </a:p>
          <a:p xmlns:a="http://schemas.openxmlformats.org/drawingml/2006/main">
            <a:r>
              <a:t>          "file_name": "20260820182448_진도신비의바닷길축제_목적지 검색순위.csv",</a:t>
            </a:r>
          </a:p>
          <a:p xmlns:a="http://schemas.openxmlformats.org/drawingml/2006/main">
            <a:r>
              <a:t>          "source_id": "festival-file:b8aa76a62ac8159da3b9",</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"data/source_snapshots/festivals_20260820/69. 진도신비의바닷길축제_2023-2025/20260820182448_진도신비의바닷길축제_목적지 검색순위.csv",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"dataset_hash": "ad20e3daf70fd44fd481d672398c07bb9c96fce77acb450784065a568735e2e2",</a:t>
            </a:r>
          </a:p>
          <a:p xmlns:a="http://schemas.openxmlformats.org/drawingml/2006/main">
            <a:r>
              <a:t>      "measurement_period": "2023~2025년 각 축제 개최기간",</a:t>
            </a:r>
          </a:p>
          <a:p xmlns:a="http://schemas.openxmlformats.org/drawingml/2006/main">
            <a:r>
              <a:t>      "transfer_conditions": [</a:t>
            </a:r>
          </a:p>
          <a:p xmlns:a="http://schemas.openxmlformats.org/drawingml/2006/main">
            <a:r>
              <a:t>        "지역 지표와 자원에 맞춰 행사 콘텐츠·운영일·참여처를 새로 설계한다.",</a:t>
            </a:r>
          </a:p>
          <a:p xmlns:a="http://schemas.openxmlformats.org/drawingml/2006/main">
            <a:r>
              <a:t>        "개최 일수는 사례 실적이며 우리 지역의 월 운영일·회차·정원으로 복사하지 않는다."</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"case:festival:1ffc3eec28956a",</a:t>
            </a:r>
          </a:p>
          <a:p xmlns:a="http://schemas.openxmlformats.org/drawingml/2006/main">
            <a:r>
              <a:t>      "source_type": "benchmark_case",</a:t>
            </a:r>
          </a:p>
          <a:p xmlns:a="http://schemas.openxmlformats.org/drawingml/2006/main">
            <a:r>
              <a:t>      "title": "한국관광 데이터랩 · 통영한산대첩축제 방문자 추이",</a:t>
            </a:r>
          </a:p>
          <a:p xmlns:a="http://schemas.openxmlformats.org/drawingml/2006/main">
            <a:r>
              <a:t>      "source_url": "https://datalab.visitkorea.or.kr/",</a:t>
            </a:r>
          </a:p>
          <a:p xmlns:a="http://schemas.openxmlformats.org/drawingml/2006/main">
            <a:r>
              <a:t>      "published_or_updated_at": "2026-08-20",</a:t>
            </a:r>
          </a:p>
          <a:p xmlns:a="http://schemas.openxmlformats.org/drawingml/2006/main">
            <a:r>
              <a:t>      "summary": "경상남도 통영시 · 통영한산대첩축제 · 2024→2025년 전체 93,221→124,718명 (+33.79%). 개최 6→7일, 일평균 +14.67%, 외지인 +33.21%.",</a:t>
            </a:r>
          </a:p>
          <a:p xmlns:a="http://schemas.openxmlformats.org/drawingml/2006/main">
            <a:r>
              <a:t>      "case_region": "경상남도 통영시",</a:t>
            </a:r>
          </a:p>
          <a:p xmlns:a="http://schemas.openxmlformats.org/drawingml/2006/main">
            <a:r>
              <a:t>      "intervention": "통영한산대첩축제",</a:t>
            </a:r>
          </a:p>
          <a:p xmlns:a="http://schemas.openxmlformats.org/drawingml/2006/main">
            <a:r>
              <a:t>      "operating_model": "통영한산대첩축제를 2025년 7일 개최한 문화관광축제 운영 사례. 세부 프로그램·예약·혜택은 이 CSV에 기록되어 있지 않으며 새로운 운영안은 제안으로 구분한다.",</a:t>
            </a:r>
          </a:p>
          <a:p xmlns:a="http://schemas.openxmlformats.org/drawingml/2006/main">
            <a:r>
              <a:t>      "evidence_strength": "medium",</a:t>
            </a:r>
          </a:p>
          <a:p xmlns:a="http://schemas.openxmlformats.org/drawingml/2006/main">
            <a:r>
              <a:t>      "quantitative_result_approved": true,</a:t>
            </a:r>
          </a:p>
          <a:p xmlns:a="http://schemas.openxmlformats.org/drawingml/2006/main">
            <a:r>
              <a:t>      "document_type": "case_study",</a:t>
            </a:r>
          </a:p>
          <a:p xmlns:a="http://schemas.openxmlformats.org/drawingml/2006/main">
            <a:r>
              <a:t>      "retrieval_method": "datalab_festival_table",</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"2024→2025년 전체 93,221→124,718명 (+33.79%). 개최 6→7일, 일평균 +14.67%, 외지인 +33.21%.",</a:t>
            </a:r>
          </a:p>
          <a:p xmlns:a="http://schemas.openxmlformats.org/drawingml/2006/main">
            <a:r>
              <a:t>      "operating_statistics": [],</a:t>
            </a:r>
          </a:p>
          <a:p xmlns:a="http://schemas.openxmlformats.org/drawingml/2006/main">
            <a:r>
              <a:t>      "evidence_kind": "festival_statistics",</a:t>
            </a:r>
          </a:p>
          <a:p xmlns:a="http://schemas.openxmlformats.org/drawingml/2006/main">
            <a:r>
              <a:t>      "festival_statistics": {</a:t>
            </a:r>
          </a:p>
          <a:p xmlns:a="http://schemas.openxmlformats.org/drawingml/2006/main">
            <a:r>
              <a:t>        "name": "통영한산대첩축제",</a:t>
            </a:r>
          </a:p>
          <a:p xmlns:a="http://schemas.openxmlformats.org/drawingml/2006/main">
            <a:r>
              <a:t>        "annual": [</a:t>
            </a:r>
          </a:p>
          <a:p xmlns:a="http://schemas.openxmlformats.org/drawingml/2006/main">
            <a:r>
              <a:t>          {</a:t>
            </a:r>
          </a:p>
          <a:p xmlns:a="http://schemas.openxmlformats.org/drawingml/2006/main">
            <a:r>
              <a:t>            "days": 9,</a:t>
            </a:r>
          </a:p>
          <a:p xmlns:a="http://schemas.openxmlformats.org/drawingml/2006/main">
            <a:r>
              <a:t>            "year": 2023,</a:t>
            </a:r>
          </a:p>
          <a:p xmlns:a="http://schemas.openxmlformats.org/drawingml/2006/main">
            <a:r>
              <a:t>            "daily": 11745.444444444443,</a:t>
            </a:r>
          </a:p>
          <a:p xmlns:a="http://schemas.openxmlformats.org/drawingml/2006/main">
            <a:r>
              <a:t>            "local": 57810,</a:t>
            </a:r>
          </a:p>
          <a:p xmlns:a="http://schemas.openxmlformats.org/drawingml/2006/main">
            <a:r>
              <a:t>            "total": 105709,</a:t>
            </a:r>
          </a:p>
          <a:p xmlns:a="http://schemas.openxmlformats.org/drawingml/2006/main">
            <a:r>
              <a:t>            "foreign": 455,</a:t>
            </a:r>
          </a:p>
          <a:p xmlns:a="http://schemas.openxmlformats.org/drawingml/2006/main">
            <a:r>
              <a:t>            "outside": 47444,</a:t>
            </a:r>
          </a:p>
          <a:p xmlns:a="http://schemas.openxmlformats.org/drawingml/2006/main">
            <a:r>
              <a:t>            "outside_daily": 5271.555555555556,</a:t>
            </a:r>
          </a:p>
          <a:p xmlns:a="http://schemas.openxmlformats.org/drawingml/2006/main">
            <a:r>
              <a:t>            "outside_share_pct": 44.88170354463669</a:t>
            </a:r>
          </a:p>
          <a:p xmlns:a="http://schemas.openxmlformats.org/drawingml/2006/main">
            <a:r>
              <a:t>          },</a:t>
            </a:r>
          </a:p>
          <a:p xmlns:a="http://schemas.openxmlformats.org/drawingml/2006/main">
            <a:r>
              <a:t>          {</a:t>
            </a:r>
          </a:p>
          <a:p xmlns:a="http://schemas.openxmlformats.org/drawingml/2006/main">
            <a:r>
              <a:t>            "days": 6,</a:t>
            </a:r>
          </a:p>
          <a:p xmlns:a="http://schemas.openxmlformats.org/drawingml/2006/main">
            <a:r>
              <a:t>            "year": 2024,</a:t>
            </a:r>
          </a:p>
          <a:p xmlns:a="http://schemas.openxmlformats.org/drawingml/2006/main">
            <a:r>
              <a:t>            "daily": 15536.833333333334,</a:t>
            </a:r>
          </a:p>
          <a:p xmlns:a="http://schemas.openxmlformats.org/drawingml/2006/main">
            <a:r>
              <a:t>            "local": 52493,</a:t>
            </a:r>
          </a:p>
          <a:p xmlns:a="http://schemas.openxmlformats.org/drawingml/2006/main">
            <a:r>
              <a:t>            "total": 93221,</a:t>
            </a:r>
          </a:p>
          <a:p xmlns:a="http://schemas.openxmlformats.org/drawingml/2006/main">
            <a:r>
              <a:t>            "foreign": 394,</a:t>
            </a:r>
          </a:p>
          <a:p xmlns:a="http://schemas.openxmlformats.org/drawingml/2006/main">
            <a:r>
              <a:t>            "outside": 40334,</a:t>
            </a:r>
          </a:p>
          <a:p xmlns:a="http://schemas.openxmlformats.org/drawingml/2006/main">
            <a:r>
              <a:t>            "outside_daily": 6722.333333333333,</a:t>
            </a:r>
          </a:p>
          <a:p xmlns:a="http://schemas.openxmlformats.org/drawingml/2006/main">
            <a:r>
              <a:t>            "outside_share_pct": 43.26707501528625</a:t>
            </a:r>
          </a:p>
          <a:p xmlns:a="http://schemas.openxmlformats.org/drawingml/2006/main">
            <a:r>
              <a:t>          },</a:t>
            </a:r>
          </a:p>
          <a:p xmlns:a="http://schemas.openxmlformats.org/drawingml/2006/main">
            <a:r>
              <a:t>          {</a:t>
            </a:r>
          </a:p>
          <a:p xmlns:a="http://schemas.openxmlformats.org/drawingml/2006/main">
            <a:r>
              <a:t>            "days": 7,</a:t>
            </a:r>
          </a:p>
          <a:p xmlns:a="http://schemas.openxmlformats.org/drawingml/2006/main">
            <a:r>
              <a:t>            "year": 2025,</a:t>
            </a:r>
          </a:p>
          <a:p xmlns:a="http://schemas.openxmlformats.org/drawingml/2006/main">
            <a:r>
              <a:t>            "daily": 17816.85714285714,</a:t>
            </a:r>
          </a:p>
          <a:p xmlns:a="http://schemas.openxmlformats.org/drawingml/2006/main">
            <a:r>
              <a:t>            "local": 70201,</a:t>
            </a:r>
          </a:p>
          <a:p xmlns:a="http://schemas.openxmlformats.org/drawingml/2006/main">
            <a:r>
              <a:t>            "total": 124718,</a:t>
            </a:r>
          </a:p>
          <a:p xmlns:a="http://schemas.openxmlformats.org/drawingml/2006/main">
            <a:r>
              <a:t>            "foreign": 787,</a:t>
            </a:r>
          </a:p>
          <a:p xmlns:a="http://schemas.openxmlformats.org/drawingml/2006/main">
            <a:r>
              <a:t>            "outside": 53730,</a:t>
            </a:r>
          </a:p>
          <a:p xmlns:a="http://schemas.openxmlformats.org/drawingml/2006/main">
            <a:r>
              <a:t>            "outside_daily": 7675.714285714285,</a:t>
            </a:r>
          </a:p>
          <a:p xmlns:a="http://schemas.openxmlformats.org/drawingml/2006/main">
            <a:r>
              <a:t>            "outside_share_pct": 43.08119116727337</a:t>
            </a:r>
          </a:p>
          <a:p xmlns:a="http://schemas.openxmlformats.org/drawingml/2006/main">
            <a:r>
              <a:t>          }</a:t>
            </a:r>
          </a:p>
          <a:p xmlns:a="http://schemas.openxmlformats.org/drawingml/2006/main">
            <a:r>
              <a:t>        ],</a:t>
            </a:r>
          </a:p>
          <a:p xmlns:a="http://schemas.openxmlformats.org/drawingml/2006/main">
            <a:r>
              <a:t>        "comparison": {</a:t>
            </a:r>
          </a:p>
          <a:p xmlns:a="http://schemas.openxmlformats.org/drawingml/2006/main">
            <a:r>
              <a:t>          "daily": {</a:t>
            </a:r>
          </a:p>
          <a:p xmlns:a="http://schemas.openxmlformats.org/drawingml/2006/main">
            <a:r>
              <a:t>            "after": 17816.85714285714,</a:t>
            </a:r>
          </a:p>
          <a:p xmlns:a="http://schemas.openxmlformats.org/drawingml/2006/main">
            <a:r>
              <a:t>            "before": 15536.833333333334,</a:t>
            </a:r>
          </a:p>
          <a:p xmlns:a="http://schemas.openxmlformats.org/drawingml/2006/main">
            <a:r>
              <a:t>            "change_pct": 14.674958278867244,</a:t>
            </a:r>
          </a:p>
          <a:p xmlns:a="http://schemas.openxmlformats.org/drawingml/2006/main">
            <a:r>
              <a:t>            "difference": 2280.0238095238074</a:t>
            </a:r>
          </a:p>
          <a:p xmlns:a="http://schemas.openxmlformats.org/drawingml/2006/main">
            <a:r>
              <a:t>          },</a:t>
            </a:r>
          </a:p>
          <a:p xmlns:a="http://schemas.openxmlformats.org/drawingml/2006/main">
            <a:r>
              <a:t>          "total": {</a:t>
            </a:r>
          </a:p>
          <a:p xmlns:a="http://schemas.openxmlformats.org/drawingml/2006/main">
            <a:r>
              <a:t>            "after": 124718,</a:t>
            </a:r>
          </a:p>
          <a:p xmlns:a="http://schemas.openxmlformats.org/drawingml/2006/main">
            <a:r>
              <a:t>            "before": 93221,</a:t>
            </a:r>
          </a:p>
          <a:p xmlns:a="http://schemas.openxmlformats.org/drawingml/2006/main">
            <a:r>
              <a:t>            "change_pct": 33.78745132534515,</a:t>
            </a:r>
          </a:p>
          <a:p xmlns:a="http://schemas.openxmlformats.org/drawingml/2006/main">
            <a:r>
              <a:t>            "difference": 31497</a:t>
            </a:r>
          </a:p>
          <a:p xmlns:a="http://schemas.openxmlformats.org/drawingml/2006/main">
            <a:r>
              <a:t>          },</a:t>
            </a:r>
          </a:p>
          <a:p xmlns:a="http://schemas.openxmlformats.org/drawingml/2006/main">
            <a:r>
              <a:t>          "outside": {</a:t>
            </a:r>
          </a:p>
          <a:p xmlns:a="http://schemas.openxmlformats.org/drawingml/2006/main">
            <a:r>
              <a:t>            "after": 53730,</a:t>
            </a:r>
          </a:p>
          <a:p xmlns:a="http://schemas.openxmlformats.org/drawingml/2006/main">
            <a:r>
              <a:t>            "before": 40334,</a:t>
            </a:r>
          </a:p>
          <a:p xmlns:a="http://schemas.openxmlformats.org/drawingml/2006/main">
            <a:r>
              <a:t>            "change_pct": 33.21267417067486,</a:t>
            </a:r>
          </a:p>
          <a:p xmlns:a="http://schemas.openxmlformats.org/drawingml/2006/main">
            <a:r>
              <a:t>            "difference": 13396</a:t>
            </a:r>
          </a:p>
          <a:p xmlns:a="http://schemas.openxmlformats.org/drawingml/2006/main">
            <a:r>
              <a:t>          },</a:t>
            </a:r>
          </a:p>
          <a:p xmlns:a="http://schemas.openxmlformats.org/drawingml/2006/main">
            <a:r>
              <a:t>          "after_days": 7,</a:t>
            </a:r>
          </a:p>
          <a:p xmlns:a="http://schemas.openxmlformats.org/drawingml/2006/main">
            <a:r>
              <a:t>          "after_year": 2025,</a:t>
            </a:r>
          </a:p>
          <a:p xmlns:a="http://schemas.openxmlformats.org/drawingml/2006/main">
            <a:r>
              <a:t>          "before_days": 6,</a:t>
            </a:r>
          </a:p>
          <a:p xmlns:a="http://schemas.openxmlformats.org/drawingml/2006/main">
            <a:r>
              <a:t>          "before_year": 2024,</a:t>
            </a:r>
          </a:p>
          <a:p xmlns:a="http://schemas.openxmlformats.org/drawingml/2006/main">
            <a:r>
              <a:t>          "outside_daily": {</a:t>
            </a:r>
          </a:p>
          <a:p xmlns:a="http://schemas.openxmlformats.org/drawingml/2006/main">
            <a:r>
              <a:t>            "after": 7675.714285714285,</a:t>
            </a:r>
          </a:p>
          <a:p xmlns:a="http://schemas.openxmlformats.org/drawingml/2006/main">
            <a:r>
              <a:t>            "before": 6722.333333333333,</a:t>
            </a:r>
          </a:p>
          <a:p xmlns:a="http://schemas.openxmlformats.org/drawingml/2006/main">
            <a:r>
              <a:t>            "change_pct": 14.182292146292742,</a:t>
            </a:r>
          </a:p>
          <a:p xmlns:a="http://schemas.openxmlformats.org/drawingml/2006/main">
            <a:r>
              <a:t>            "difference": 953.3809523809524</a:t>
            </a:r>
          </a:p>
          <a:p xmlns:a="http://schemas.openxmlformats.org/drawingml/2006/main">
            <a:r>
              <a:t>          }</a:t>
            </a:r>
          </a:p>
          <a:p xmlns:a="http://schemas.openxmlformats.org/drawingml/2006/main">
            <a:r>
              <a:t>        },</a:t>
            </a:r>
          </a:p>
          <a:p xmlns:a="http://schemas.openxmlformats.org/drawingml/2006/main">
            <a:r>
              <a:t>        "scope": "축제 관측구역 방문 지표. 도시 전체·순증 관광객·입장권 실구매자 수가 아님.",</a:t>
            </a:r>
          </a:p>
          <a:p xmlns:a="http://schemas.openxmlformats.org/drawingml/2006/main">
            <a:r>
              <a:t>        "region_basis": "목적지 검색 CSV의 시도+시군구 최빈 주소; 행사장 행정경계 확정은 아님",</a:t>
            </a:r>
          </a:p>
          <a:p xmlns:a="http://schemas.openxmlformats.org/drawingml/2006/main">
            <a:r>
              <a:t>        "source_file": {</a:t>
            </a:r>
          </a:p>
          <a:p xmlns:a="http://schemas.openxmlformats.org/drawingml/2006/main">
            <a:r>
              <a:t>          "sha256": "ec35e7537d4da1ed72dd60617fec143558f280299aeb303bc8b7a1036ecc73f0",</a:t>
            </a:r>
          </a:p>
          <a:p xmlns:a="http://schemas.openxmlformats.org/drawingml/2006/main">
            <a:r>
              <a:t>          "provider": "한국관광 데이터랩",</a:t>
            </a:r>
          </a:p>
          <a:p xmlns:a="http://schemas.openxmlformats.org/drawingml/2006/main">
            <a:r>
              <a:t>          "file_name": "20260820183544_통영한산대첩축제_연도별 방문자 추이.csv",</a:t>
            </a:r>
          </a:p>
          <a:p xmlns:a="http://schemas.openxmlformats.org/drawingml/2006/main">
            <a:r>
              <a:t>          "source_id": "festival-file:ec35e7537d4da1ed72dd",</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"data/source_snapshots/festivals_20260820/81. 통영한산대첩축제_2023-2025/20260820183544_통영한산대첩축제_연도별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"indicator_values": [</a:t>
            </a:r>
          </a:p>
          <a:p xmlns:a="http://schemas.openxmlformats.org/drawingml/2006/main">
            <a:r>
              <a:t>          {</a:t>
            </a:r>
          </a:p>
          <a:p xmlns:a="http://schemas.openxmlformats.org/drawingml/2006/main">
            <a:r>
              <a:t>            "구분명": "외부방문자 유입",</a:t>
            </a:r>
          </a:p>
          <a:p xmlns:a="http://schemas.openxmlformats.org/drawingml/2006/main">
            <a:r>
              <a:t>            "그룹명": "축제기간",</a:t>
            </a:r>
          </a:p>
          <a:p xmlns:a="http://schemas.openxmlformats.org/drawingml/2006/main">
            <a:r>
              <a:t>            "지표값": "0.309",</a:t>
            </a:r>
          </a:p>
          <a:p xmlns:a="http://schemas.openxmlformats.org/drawingml/2006/main">
            <a:r>
              <a:t>            "축제명": "통영한산대첩축제",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"축제기간",</a:t>
            </a:r>
          </a:p>
          <a:p xmlns:a="http://schemas.openxmlformats.org/drawingml/2006/main">
            <a:r>
              <a:t>            "지표값": "0.731",</a:t>
            </a:r>
          </a:p>
          <a:p xmlns:a="http://schemas.openxmlformats.org/drawingml/2006/main">
            <a:r>
              <a:t>            "축제명": "통영한산대첩축제",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"축제기간",</a:t>
            </a:r>
          </a:p>
          <a:p xmlns:a="http://schemas.openxmlformats.org/drawingml/2006/main">
            <a:r>
              <a:t>            "지표값": "0.228",</a:t>
            </a:r>
          </a:p>
          <a:p xmlns:a="http://schemas.openxmlformats.org/drawingml/2006/main">
            <a:r>
              <a:t>            "축제명": "통영한산대첩축제",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"축제기간",</a:t>
            </a:r>
          </a:p>
          <a:p xmlns:a="http://schemas.openxmlformats.org/drawingml/2006/main">
            <a:r>
              <a:t>            "지표값": "0.313",</a:t>
            </a:r>
          </a:p>
          <a:p xmlns:a="http://schemas.openxmlformats.org/drawingml/2006/main">
            <a:r>
              <a:t>            "축제명": "통영한산대첩축제",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"축제기간",</a:t>
            </a:r>
          </a:p>
          <a:p xmlns:a="http://schemas.openxmlformats.org/drawingml/2006/main">
            <a:r>
              <a:t>            "지표값": "0.766",</a:t>
            </a:r>
          </a:p>
          <a:p xmlns:a="http://schemas.openxmlformats.org/drawingml/2006/main">
            <a:r>
              <a:t>            "축제명": "통영한산대첩축제",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"외부방문자 유입",</a:t>
            </a:r>
          </a:p>
          <a:p xmlns:a="http://schemas.openxmlformats.org/drawingml/2006/main">
            <a:r>
              <a:t>            "그룹명": "비축제기간",</a:t>
            </a:r>
          </a:p>
          <a:p xmlns:a="http://schemas.openxmlformats.org/drawingml/2006/main">
            <a:r>
              <a:t>            "지표값": "0.244",</a:t>
            </a:r>
          </a:p>
          <a:p xmlns:a="http://schemas.openxmlformats.org/drawingml/2006/main">
            <a:r>
              <a:t>            "축제명": "통영한산대첩축제",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"비축제기간",</a:t>
            </a:r>
          </a:p>
          <a:p xmlns:a="http://schemas.openxmlformats.org/drawingml/2006/main">
            <a:r>
              <a:t>            "지표값": "0.586",</a:t>
            </a:r>
          </a:p>
          <a:p xmlns:a="http://schemas.openxmlformats.org/drawingml/2006/main">
            <a:r>
              <a:t>            "축제명": "통영한산대첩축제",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"비축제기간",</a:t>
            </a:r>
          </a:p>
          <a:p xmlns:a="http://schemas.openxmlformats.org/drawingml/2006/main">
            <a:r>
              <a:t>            "지표값": "0.206",</a:t>
            </a:r>
          </a:p>
          <a:p xmlns:a="http://schemas.openxmlformats.org/drawingml/2006/main">
            <a:r>
              <a:t>            "축제명": "통영한산대첩축제",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"비축제기간",</a:t>
            </a:r>
          </a:p>
          <a:p xmlns:a="http://schemas.openxmlformats.org/drawingml/2006/main">
            <a:r>
              <a:t>            "지표값": "0.312",</a:t>
            </a:r>
          </a:p>
          <a:p xmlns:a="http://schemas.openxmlformats.org/drawingml/2006/main">
            <a:r>
              <a:t>            "축제명": "통영한산대첩축제",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"비축제기간",</a:t>
            </a:r>
          </a:p>
          <a:p xmlns:a="http://schemas.openxmlformats.org/drawingml/2006/main">
            <a:r>
              <a:t>            "지표값": "0.595",</a:t>
            </a:r>
          </a:p>
          <a:p xmlns:a="http://schemas.openxmlformats.org/drawingml/2006/main">
            <a:r>
              <a:t>            "축제명": "통영한산대첩축제",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"indicator_rule": "원본 지표값만 보존. 산식·단위 미확인으로 성장률/원화/정원/참여율 변환 금지.",</a:t>
            </a:r>
          </a:p>
          <a:p xmlns:a="http://schemas.openxmlformats.org/drawingml/2006/main">
            <a:r>
              <a:t>        "audience": [</a:t>
            </a:r>
          </a:p>
          <a:p xmlns:a="http://schemas.openxmlformats.org/drawingml/2006/main">
            <a:r>
              <a:t>          {</a:t>
            </a:r>
          </a:p>
          <a:p xmlns:a="http://schemas.openxmlformats.org/drawingml/2006/main">
            <a:r>
              <a:t>            "연령대": "70세 이상",</a:t>
            </a:r>
          </a:p>
          <a:p xmlns:a="http://schemas.openxmlformats.org/drawingml/2006/main">
            <a:r>
              <a:t>            "축제명": "통영한산대첩축제",</a:t>
            </a:r>
          </a:p>
          <a:p xmlns:a="http://schemas.openxmlformats.org/drawingml/2006/main">
            <a:r>
              <a:t>            "남성비율": "5.2",</a:t>
            </a:r>
          </a:p>
          <a:p xmlns:a="http://schemas.openxmlformats.org/drawingml/2006/main">
            <a:r>
              <a:t>            "여성비율": "5.7"</a:t>
            </a:r>
          </a:p>
          <a:p xmlns:a="http://schemas.openxmlformats.org/drawingml/2006/main">
            <a:r>
              <a:t>          },</a:t>
            </a:r>
          </a:p>
          <a:p xmlns:a="http://schemas.openxmlformats.org/drawingml/2006/main">
            <a:r>
              <a:t>          {</a:t>
            </a:r>
          </a:p>
          <a:p xmlns:a="http://schemas.openxmlformats.org/drawingml/2006/main">
            <a:r>
              <a:t>            "연령대": "60~69세",</a:t>
            </a:r>
          </a:p>
          <a:p xmlns:a="http://schemas.openxmlformats.org/drawingml/2006/main">
            <a:r>
              <a:t>            "축제명": "통영한산대첩축제",</a:t>
            </a:r>
          </a:p>
          <a:p xmlns:a="http://schemas.openxmlformats.org/drawingml/2006/main">
            <a:r>
              <a:t>            "남성비율": "11.0",</a:t>
            </a:r>
          </a:p>
          <a:p xmlns:a="http://schemas.openxmlformats.org/drawingml/2006/main">
            <a:r>
              <a:t>            "여성비율": "11.5"</a:t>
            </a:r>
          </a:p>
          <a:p xmlns:a="http://schemas.openxmlformats.org/drawingml/2006/main">
            <a:r>
              <a:t>          },</a:t>
            </a:r>
          </a:p>
          <a:p xmlns:a="http://schemas.openxmlformats.org/drawingml/2006/main">
            <a:r>
              <a:t>          {</a:t>
            </a:r>
          </a:p>
          <a:p xmlns:a="http://schemas.openxmlformats.org/drawingml/2006/main">
            <a:r>
              <a:t>            "연령대": "50~59세",</a:t>
            </a:r>
          </a:p>
          <a:p xmlns:a="http://schemas.openxmlformats.org/drawingml/2006/main">
            <a:r>
              <a:t>            "축제명": "통영한산대첩축제",</a:t>
            </a:r>
          </a:p>
          <a:p xmlns:a="http://schemas.openxmlformats.org/drawingml/2006/main">
            <a:r>
              <a:t>            "남성비율": "11.1",</a:t>
            </a:r>
          </a:p>
          <a:p xmlns:a="http://schemas.openxmlformats.org/drawingml/2006/main">
            <a:r>
              <a:t>            "여성비율": "10.9"</a:t>
            </a:r>
          </a:p>
          <a:p xmlns:a="http://schemas.openxmlformats.org/drawingml/2006/main">
            <a:r>
              <a:t>          },</a:t>
            </a:r>
          </a:p>
          <a:p xmlns:a="http://schemas.openxmlformats.org/drawingml/2006/main">
            <a:r>
              <a:t>          {</a:t>
            </a:r>
          </a:p>
          <a:p xmlns:a="http://schemas.openxmlformats.org/drawingml/2006/main">
            <a:r>
              <a:t>            "연령대": "40~49세",</a:t>
            </a:r>
          </a:p>
          <a:p xmlns:a="http://schemas.openxmlformats.org/drawingml/2006/main">
            <a:r>
              <a:t>            "축제명": "통영한산대첩축제",</a:t>
            </a:r>
          </a:p>
          <a:p xmlns:a="http://schemas.openxmlformats.org/drawingml/2006/main">
            <a:r>
              <a:t>            "남성비율": "8.0",</a:t>
            </a:r>
          </a:p>
          <a:p xmlns:a="http://schemas.openxmlformats.org/drawingml/2006/main">
            <a:r>
              <a:t>            "여성비율": "7.7"</a:t>
            </a:r>
          </a:p>
          <a:p xmlns:a="http://schemas.openxmlformats.org/drawingml/2006/main">
            <a:r>
              <a:t>          },</a:t>
            </a:r>
          </a:p>
          <a:p xmlns:a="http://schemas.openxmlformats.org/drawingml/2006/main">
            <a:r>
              <a:t>          {</a:t>
            </a:r>
          </a:p>
          <a:p xmlns:a="http://schemas.openxmlformats.org/drawingml/2006/main">
            <a:r>
              <a:t>            "연령대": "30~39세",</a:t>
            </a:r>
          </a:p>
          <a:p xmlns:a="http://schemas.openxmlformats.org/drawingml/2006/main">
            <a:r>
              <a:t>            "축제명": "통영한산대첩축제",</a:t>
            </a:r>
          </a:p>
          <a:p xmlns:a="http://schemas.openxmlformats.org/drawingml/2006/main">
            <a:r>
              <a:t>            "남성비율": "6.3",</a:t>
            </a:r>
          </a:p>
          <a:p xmlns:a="http://schemas.openxmlformats.org/drawingml/2006/main">
            <a:r>
              <a:t>            "여성비율": "5.6"</a:t>
            </a:r>
          </a:p>
          <a:p xmlns:a="http://schemas.openxmlformats.org/drawingml/2006/main">
            <a:r>
              <a:t>          },</a:t>
            </a:r>
          </a:p>
          <a:p xmlns:a="http://schemas.openxmlformats.org/drawingml/2006/main">
            <a:r>
              <a:t>          {</a:t>
            </a:r>
          </a:p>
          <a:p xmlns:a="http://schemas.openxmlformats.org/drawingml/2006/main">
            <a:r>
              <a:t>            "연령대": "20~29세",</a:t>
            </a:r>
          </a:p>
          <a:p xmlns:a="http://schemas.openxmlformats.org/drawingml/2006/main">
            <a:r>
              <a:t>            "축제명": "통영한산대첩축제",</a:t>
            </a:r>
          </a:p>
          <a:p xmlns:a="http://schemas.openxmlformats.org/drawingml/2006/main">
            <a:r>
              <a:t>            "남성비율": "5.4",</a:t>
            </a:r>
          </a:p>
          <a:p xmlns:a="http://schemas.openxmlformats.org/drawingml/2006/main">
            <a:r>
              <a:t>            "여성비율": "4.4"</a:t>
            </a:r>
          </a:p>
          <a:p xmlns:a="http://schemas.openxmlformats.org/drawingml/2006/main">
            <a:r>
              <a:t>          },</a:t>
            </a:r>
          </a:p>
          <a:p xmlns:a="http://schemas.openxmlformats.org/drawingml/2006/main">
            <a:r>
              <a:t>          {</a:t>
            </a:r>
          </a:p>
          <a:p xmlns:a="http://schemas.openxmlformats.org/drawingml/2006/main">
            <a:r>
              <a:t>            "연령대": "10~19세",</a:t>
            </a:r>
          </a:p>
          <a:p xmlns:a="http://schemas.openxmlformats.org/drawingml/2006/main">
            <a:r>
              <a:t>            "축제명": "통영한산대첩축제",</a:t>
            </a:r>
          </a:p>
          <a:p xmlns:a="http://schemas.openxmlformats.org/drawingml/2006/main">
            <a:r>
              <a:t>            "남성비율": "2.8",</a:t>
            </a:r>
          </a:p>
          <a:p xmlns:a="http://schemas.openxmlformats.org/drawingml/2006/main">
            <a:r>
              <a:t>            "여성비율": "3.1"</a:t>
            </a:r>
          </a:p>
          <a:p xmlns:a="http://schemas.openxmlformats.org/drawingml/2006/main">
            <a:r>
              <a:t>          },</a:t>
            </a:r>
          </a:p>
          <a:p xmlns:a="http://schemas.openxmlformats.org/drawingml/2006/main">
            <a:r>
              <a:t>          {</a:t>
            </a:r>
          </a:p>
          <a:p xmlns:a="http://schemas.openxmlformats.org/drawingml/2006/main">
            <a:r>
              <a:t>            "연령대": "0~9세",</a:t>
            </a:r>
          </a:p>
          <a:p xmlns:a="http://schemas.openxmlformats.org/drawingml/2006/main">
            <a:r>
              <a:t>            "축제명": "통영한산대첩축제",</a:t>
            </a:r>
          </a:p>
          <a:p xmlns:a="http://schemas.openxmlformats.org/drawingml/2006/main">
            <a:r>
              <a:t>            "남성비율": "0.5",</a:t>
            </a:r>
          </a:p>
          <a:p xmlns:a="http://schemas.openxmlformats.org/drawingml/2006/main">
            <a:r>
              <a:t>            "여성비율": "0.6"</a:t>
            </a:r>
          </a:p>
          <a:p xmlns:a="http://schemas.openxmlformats.org/drawingml/2006/main">
            <a:r>
              <a:t>          }</a:t>
            </a:r>
          </a:p>
          <a:p xmlns:a="http://schemas.openxmlformats.org/drawingml/2006/main">
            <a:r>
              <a:t>        ],</a:t>
            </a:r>
          </a:p>
          <a:p xmlns:a="http://schemas.openxmlformats.org/drawingml/2006/main">
            <a:r>
              <a:t>        "audience_period": "다운로드 CSV에 연도 열 없음; 최신 개최연도와 자동 결합하지 않음",</a:t>
            </a:r>
          </a:p>
          <a:p xmlns:a="http://schemas.openxmlformats.org/drawingml/2006/main">
            <a:r>
              <a:t>        "destination_examples": [</a:t>
            </a:r>
          </a:p>
          <a:p xmlns:a="http://schemas.openxmlformats.org/drawingml/2006/main">
            <a:r>
              <a:t>          {</a:t>
            </a:r>
          </a:p>
          <a:p xmlns:a="http://schemas.openxmlformats.org/drawingml/2006/main">
            <a:r>
              <a:t>            "구분": "외지인",</a:t>
            </a:r>
          </a:p>
          <a:p xmlns:a="http://schemas.openxmlformats.org/drawingml/2006/main">
            <a:r>
              <a:t>            "순위": "1",</a:t>
            </a:r>
          </a:p>
          <a:p xmlns:a="http://schemas.openxmlformats.org/drawingml/2006/main">
            <a:r>
              <a:t>            "목적지명": "통영중앙전통시장",</a:t>
            </a:r>
          </a:p>
          <a:p xmlns:a="http://schemas.openxmlformats.org/drawingml/2006/main">
            <a:r>
              <a:t>            "도로명주소": "경남 통영시 중앙시장1길 14-16",</a:t>
            </a:r>
          </a:p>
          <a:p xmlns:a="http://schemas.openxmlformats.org/drawingml/2006/main">
            <a:r>
              <a:t>            "카테고리": "시장"</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"2",</a:t>
            </a:r>
          </a:p>
          <a:p xmlns:a="http://schemas.openxmlformats.org/drawingml/2006/main">
            <a:r>
              <a:t>            "목적지명": "동피랑벽화마을",</a:t>
            </a:r>
          </a:p>
          <a:p xmlns:a="http://schemas.openxmlformats.org/drawingml/2006/main">
            <a:r>
              <a:t>            "도로명주소": "경남 통영시 동피랑1길 6-18",</a:t>
            </a:r>
          </a:p>
          <a:p xmlns:a="http://schemas.openxmlformats.org/drawingml/2006/main">
            <a:r>
              <a:t>            "카테고리": "기타관광"</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"3",</a:t>
            </a:r>
          </a:p>
          <a:p xmlns:a="http://schemas.openxmlformats.org/drawingml/2006/main">
            <a:r>
              <a:t>            "목적지명": "통영한산대첩축제(한산대첩광장)",</a:t>
            </a:r>
          </a:p>
          <a:p xmlns:a="http://schemas.openxmlformats.org/drawingml/2006/main">
            <a:r>
              <a:t>            "도로명주소": "경남 통영시 통영해안로 267-0",</a:t>
            </a:r>
          </a:p>
          <a:p xmlns:a="http://schemas.openxmlformats.org/drawingml/2006/main">
            <a:r>
              <a:t>            "카테고리": "기타문화관광지"</a:t>
            </a:r>
          </a:p>
          <a:p xmlns:a="http://schemas.openxmlformats.org/drawingml/2006/main">
            <a:r>
              <a:t>          }</a:t>
            </a:r>
          </a:p>
          <a:p xmlns:a="http://schemas.openxmlformats.org/drawingml/2006/main">
            <a:r>
              <a:t>        ],</a:t>
            </a:r>
          </a:p>
          <a:p xmlns:a="http://schemas.openxmlformats.org/drawingml/2006/main">
            <a:r>
              <a:t>        "destination_period": "다운로드 CSV에 연도 열 없음; 주변 검색 후보이며 제휴·실제 방문 증거 아님"</a:t>
            </a:r>
          </a:p>
          <a:p xmlns:a="http://schemas.openxmlformats.org/drawingml/2006/main">
            <a:r>
              <a:t>      },</a:t>
            </a:r>
          </a:p>
          <a:p xmlns:a="http://schemas.openxmlformats.org/drawingml/2006/main">
            <a:r>
              <a:t>      "retrieval_basis": {</a:t>
            </a:r>
          </a:p>
          <a:p xmlns:a="http://schemas.openxmlformats.org/drawingml/2006/main">
            <a:r>
              <a:t>        "kind": "external_benchmark",</a:t>
            </a:r>
          </a:p>
          <a:p xmlns:a="http://schemas.openxmlformats.org/drawingml/2006/main">
            <a:r>
              <a:t>        "score": 31,</a:t>
            </a:r>
          </a:p>
          <a:p xmlns:a="http://schemas.openxmlformats.org/drawingml/2006/main">
            <a:r>
              <a:t>        "components": {</a:t>
            </a:r>
          </a:p>
          <a:p xmlns:a="http://schemas.openxmlformats.org/drawingml/2006/main">
            <a:r>
              <a:t>          "방문 전망 조사: 외지인·일평균 동반 증가": 15,</a:t>
            </a:r>
          </a:p>
          <a:p xmlns:a="http://schemas.openxmlformats.org/drawingml/2006/main">
            <a:r>
              <a:t>          "최근 개최연도": 6,</a:t>
            </a:r>
          </a:p>
          <a:p xmlns:a="http://schemas.openxmlformats.org/drawingml/2006/main">
            <a:r>
              <a:t>          "방문 실적 비교 가능": 10</a:t>
            </a:r>
          </a:p>
          <a:p xmlns:a="http://schemas.openxmlformats.org/drawingml/2006/main">
            <a:r>
              <a:t>        },</a:t>
            </a:r>
          </a:p>
          <a:p xmlns:a="http://schemas.openxmlformats.org/drawingml/2006/main">
            <a:r>
              <a:t>        "theme": "지역문화",</a:t>
            </a:r>
          </a:p>
          <a:p xmlns:a="http://schemas.openxmlformats.org/drawingml/2006/main">
            <a:r>
              <a:t>        "priority_signal": "visit",</a:t>
            </a:r>
          </a:p>
          <a:p xmlns:a="http://schemas.openxmlformats.org/drawingml/2006/main">
            <a:r>
              <a:t>        "rule": "함수 기반 조사 우선순위. 사업효과·인구/환경 유사도 점수가 아니며 소비·체류 개선은 조사 가설이다."</a:t>
            </a:r>
          </a:p>
          <a:p xmlns:a="http://schemas.openxmlformats.org/drawingml/2006/main">
            <a:r>
              <a:t>      },</a:t>
            </a:r>
          </a:p>
          <a:p xmlns:a="http://schemas.openxmlformats.org/drawingml/2006/main">
            <a:r>
              <a:t>      "source_files": [</a:t>
            </a:r>
          </a:p>
          <a:p xmlns:a="http://schemas.openxmlformats.org/drawingml/2006/main">
            <a:r>
              <a:t>        {</a:t>
            </a:r>
          </a:p>
          <a:p xmlns:a="http://schemas.openxmlformats.org/drawingml/2006/main">
            <a:r>
              <a:t>          "sha256": "ec35e7537d4da1ed72dd60617fec143558f280299aeb303bc8b7a1036ecc73f0",</a:t>
            </a:r>
          </a:p>
          <a:p xmlns:a="http://schemas.openxmlformats.org/drawingml/2006/main">
            <a:r>
              <a:t>          "provider": "한국관광 데이터랩",</a:t>
            </a:r>
          </a:p>
          <a:p xmlns:a="http://schemas.openxmlformats.org/drawingml/2006/main">
            <a:r>
              <a:t>          "file_name": "20260820183544_통영한산대첩축제_연도별 방문자 추이.csv",</a:t>
            </a:r>
          </a:p>
          <a:p xmlns:a="http://schemas.openxmlformats.org/drawingml/2006/main">
            <a:r>
              <a:t>          "source_id": "festival-file:ec35e7537d4da1ed72dd",</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"data/source_snapshots/festivals_20260820/81. 통영한산대첩축제_2023-2025/20260820183544_통영한산대첩축제_연도별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"77b41103f7ab3a48a3a94baa36227391bc47069fafcf8cc68a36662ec60fd43d",</a:t>
            </a:r>
          </a:p>
          <a:p xmlns:a="http://schemas.openxmlformats.org/drawingml/2006/main">
            <a:r>
              <a:t>          "provider": "한국관광 데이터랩",</a:t>
            </a:r>
          </a:p>
          <a:p xmlns:a="http://schemas.openxmlformats.org/drawingml/2006/main">
            <a:r>
              <a:t>          "file_name": "20260820183544_통영한산대첩축제_성_연령별 내국인 방문자.csv",</a:t>
            </a:r>
          </a:p>
          <a:p xmlns:a="http://schemas.openxmlformats.org/drawingml/2006/main">
            <a:r>
              <a:t>          "source_id": "festival-file:77b41103f7ab3a48a3a9",</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"data/source_snapshots/festivals_20260820/81. 통영한산대첩축제_2023-2025/20260820183544_통영한산대첩축제_성_연령별 내국인 방문자.csv",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"5457f819bd8704a9d5b81a24337c2a40c45bbcf7435e0a751139a5457627bdd4",</a:t>
            </a:r>
          </a:p>
          <a:p xmlns:a="http://schemas.openxmlformats.org/drawingml/2006/main">
            <a:r>
              <a:t>          "provider": "한국관광 데이터랩",</a:t>
            </a:r>
          </a:p>
          <a:p xmlns:a="http://schemas.openxmlformats.org/drawingml/2006/main">
            <a:r>
              <a:t>          "file_name": "20260820183544_통영한산대첩축제_문화관광축제 주요 지표.csv",</a:t>
            </a:r>
          </a:p>
          <a:p xmlns:a="http://schemas.openxmlformats.org/drawingml/2006/main">
            <a:r>
              <a:t>          "source_id": "festival-file:5457f819bd8704a9d5b8",</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"data/source_snapshots/festivals_20260820/81. 통영한산대첩축제_2023-2025/20260820183544_통영한산대첩축제_문화관광축제 주요 지표.csv",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"3b2a6e862dd8337a7616d3cdb3f568c6fdb24be706918eb7f02d965d625ca746",</a:t>
            </a:r>
          </a:p>
          <a:p xmlns:a="http://schemas.openxmlformats.org/drawingml/2006/main">
            <a:r>
              <a:t>          "provider": "한국관광 데이터랩",</a:t>
            </a:r>
          </a:p>
          <a:p xmlns:a="http://schemas.openxmlformats.org/drawingml/2006/main">
            <a:r>
              <a:t>          "file_name": "20260820183544_통영한산대첩축제_목적지 검색순위.csv",</a:t>
            </a:r>
          </a:p>
          <a:p xmlns:a="http://schemas.openxmlformats.org/drawingml/2006/main">
            <a:r>
              <a:t>          "source_id": "festival-file:3b2a6e862dd8337a7616",</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"data/source_snapshots/festivals_20260820/81. 통영한산대첩축제_2023-2025/20260820183544_통영한산대첩축제_목적지 검색순위.csv",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"dataset_hash": "ad20e3daf70fd44fd481d672398c07bb9c96fce77acb450784065a568735e2e2",</a:t>
            </a:r>
          </a:p>
          <a:p xmlns:a="http://schemas.openxmlformats.org/drawingml/2006/main">
            <a:r>
              <a:t>      "measurement_period": "2023~2025년 각 축제 개최기간",</a:t>
            </a:r>
          </a:p>
          <a:p xmlns:a="http://schemas.openxmlformats.org/drawingml/2006/main">
            <a:r>
              <a:t>      "transfer_conditions": [</a:t>
            </a:r>
          </a:p>
          <a:p xmlns:a="http://schemas.openxmlformats.org/drawingml/2006/main">
            <a:r>
              <a:t>        "지역 지표와 자원에 맞춰 행사 콘텐츠·운영일·참여처를 새로 설계한다.",</a:t>
            </a:r>
          </a:p>
          <a:p xmlns:a="http://schemas.openxmlformats.org/drawingml/2006/main">
            <a:r>
              <a:t>        "개최 일수는 사례 실적이며 우리 지역의 월 운영일·회차·정원으로 복사하지 않는다."</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"tour-api:2758252",</a:t>
            </a:r>
          </a:p>
          <a:p xmlns:a="http://schemas.openxmlformats.org/drawingml/2006/main">
            <a:r>
              <a:t>      "source_type": "open_api",</a:t>
            </a:r>
          </a:p>
          <a:p xmlns:a="http://schemas.openxmlformats.org/drawingml/2006/main">
            <a:r>
              <a:t>      "title": "남선공원",</a:t>
            </a:r>
          </a:p>
          <a:p xmlns:a="http://schemas.openxmlformats.org/drawingml/2006/main">
            <a:r>
              <a:t>      "source_url": "https://apis.data.go.kr/B551011/KorService2",</a:t>
            </a:r>
          </a:p>
          <a:p xmlns:a="http://schemas.openxmlformats.org/drawingml/2006/main">
            <a:r>
              <a:t>      "content_id": "2758252",</a:t>
            </a:r>
          </a:p>
          <a:p xmlns:a="http://schemas.openxmlformats.org/drawingml/2006/main">
            <a:r>
              <a:t>      "content_type_id": "12",</a:t>
            </a:r>
          </a:p>
          <a:p xmlns:a="http://schemas.openxmlformats.org/drawingml/2006/main">
            <a:r>
              <a:t>      "address": "대전광역시 서구 남선로 66",</a:t>
            </a:r>
          </a:p>
          <a:p xmlns:a="http://schemas.openxmlformats.org/drawingml/2006/main">
            <a:r>
              <a:t>      "image_url": "http://tong.visitkorea.or.kr/cms/resource/24/3565624_image2_1.jpg",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"selected_forecast": {</a:t>
            </a:r>
          </a:p>
          <a:p xmlns:a="http://schemas.openxmlformats.org/drawingml/2006/main">
            <a:r>
              <a:t>    "rows": [</a:t>
            </a:r>
          </a:p>
          <a:p xmlns:a="http://schemas.openxmlformats.org/drawingml/2006/main">
            <a:r>
              <a:t>      {</a:t>
            </a:r>
          </a:p>
          <a:p xmlns:a="http://schemas.openxmlformats.org/drawingml/2006/main">
            <a:r>
              <a:t>        "month": "202610",</a:t>
            </a:r>
          </a:p>
          <a:p xmlns:a="http://schemas.openxmlformats.org/drawingml/2006/main">
            <a:r>
              <a:t>        "visitors": 4998578.0,</a:t>
            </a:r>
          </a:p>
          <a:p xmlns:a="http://schemas.openxmlformats.org/drawingml/2006/main">
            <a:r>
              <a:t>        "spending_krw": 79359374710.0,</a:t>
            </a:r>
          </a:p>
          <a:p xmlns:a="http://schemas.openxmlformats.org/drawingml/2006/main">
            <a:r>
              <a:t>        "previous_year_visitors": 4949394,</a:t>
            </a:r>
          </a:p>
          <a:p xmlns:a="http://schemas.openxmlformats.org/drawingml/2006/main">
            <a:r>
              <a:t>        "previous_year_spending_krw": 78158272000,</a:t>
            </a:r>
          </a:p>
          <a:p xmlns:a="http://schemas.openxmlformats.org/drawingml/2006/main">
            <a:r>
              <a:t>        "visitor_yoy_percent": 0.99,</a:t>
            </a:r>
          </a:p>
          <a:p xmlns:a="http://schemas.openxmlformats.org/drawingml/2006/main">
            <a:r>
              <a:t>        "spending_yoy_percent": 1.54,</a:t>
            </a:r>
          </a:p>
          <a:p xmlns:a="http://schemas.openxmlformats.org/drawingml/2006/main">
            <a:r>
              <a:t>        "lodging_nights": 2.85,</a:t>
            </a:r>
          </a:p>
          <a:p xmlns:a="http://schemas.openxmlformats.org/drawingml/2006/main">
            <a:r>
              <a:t>        "previous_year_lodging_nights": 2.85,</a:t>
            </a:r>
          </a:p>
          <a:p xmlns:a="http://schemas.openxmlformats.org/drawingml/2006/main">
            <a:r>
              <a:t>        "lodging_rate_pct": 8.9,</a:t>
            </a:r>
          </a:p>
          <a:p xmlns:a="http://schemas.openxmlformats.org/drawingml/2006/main">
            <a:r>
              <a:t>        "previous_year_lodging_rate_pct": 8.9,</a:t>
            </a:r>
          </a:p>
          <a:p xmlns:a="http://schemas.openxmlformats.org/drawingml/2006/main">
            <a:r>
              <a:t>        "stay_minutes": 1170.0,</a:t>
            </a:r>
          </a:p>
          <a:p xmlns:a="http://schemas.openxmlformats.org/drawingml/2006/main">
            <a:r>
              <a:t>        "previous_year_stay_minutes": 1170.0,</a:t>
            </a:r>
          </a:p>
          <a:p xmlns:a="http://schemas.openxmlformats.org/drawingml/2006/main">
            <a:r>
              <a:t>        "navigation_searches": 237779,</a:t>
            </a:r>
          </a:p>
          <a:p xmlns:a="http://schemas.openxmlformats.org/drawingml/2006/main">
            <a:r>
              <a:t>        "previous_year_navigation_searches": 324902,</a:t>
            </a:r>
          </a:p>
          <a:p xmlns:a="http://schemas.openxmlformats.org/drawingml/2006/main">
            <a:r>
              <a:t>        "lodging_searches": 19187,</a:t>
            </a:r>
          </a:p>
          <a:p xmlns:a="http://schemas.openxmlformats.org/drawingml/2006/main">
            <a:r>
              <a:t>        "previous_year_lodging_searches": 19187,</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-26.82,</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4940348.0,</a:t>
            </a:r>
          </a:p>
          <a:p xmlns:a="http://schemas.openxmlformats.org/drawingml/2006/main">
            <a:r>
              <a:t>        "spending_krw": 85971975908.0,</a:t>
            </a:r>
          </a:p>
          <a:p xmlns:a="http://schemas.openxmlformats.org/drawingml/2006/main">
            <a:r>
              <a:t>        "previous_year_visitors": 5167969,</a:t>
            </a:r>
          </a:p>
          <a:p xmlns:a="http://schemas.openxmlformats.org/drawingml/2006/main">
            <a:r>
              <a:t>        "previous_year_spending_krw": 76509918000,</a:t>
            </a:r>
          </a:p>
          <a:p xmlns:a="http://schemas.openxmlformats.org/drawingml/2006/main">
            <a:r>
              <a:t>        "visitor_yoy_percent": -4.4,</a:t>
            </a:r>
          </a:p>
          <a:p xmlns:a="http://schemas.openxmlformats.org/drawingml/2006/main">
            <a:r>
              <a:t>        "spending_yoy_percent": 12.37,</a:t>
            </a:r>
          </a:p>
          <a:p xmlns:a="http://schemas.openxmlformats.org/drawingml/2006/main">
            <a:r>
              <a:t>        "lodging_nights": 2.79,</a:t>
            </a:r>
          </a:p>
          <a:p xmlns:a="http://schemas.openxmlformats.org/drawingml/2006/main">
            <a:r>
              <a:t>        "previous_year_lodging_nights": 2.79,</a:t>
            </a:r>
          </a:p>
          <a:p xmlns:a="http://schemas.openxmlformats.org/drawingml/2006/main">
            <a:r>
              <a:t>        "lodging_rate_pct": 6.5,</a:t>
            </a:r>
          </a:p>
          <a:p xmlns:a="http://schemas.openxmlformats.org/drawingml/2006/main">
            <a:r>
              <a:t>        "previous_year_lodging_rate_pct": 6.5,</a:t>
            </a:r>
          </a:p>
          <a:p xmlns:a="http://schemas.openxmlformats.org/drawingml/2006/main">
            <a:r>
              <a:t>        "stay_minutes": 987.0,</a:t>
            </a:r>
          </a:p>
          <a:p xmlns:a="http://schemas.openxmlformats.org/drawingml/2006/main">
            <a:r>
              <a:t>        "previous_year_stay_minutes": 987.0,</a:t>
            </a:r>
          </a:p>
          <a:p xmlns:a="http://schemas.openxmlformats.org/drawingml/2006/main">
            <a:r>
              <a:t>        "navigation_searches": 231894,</a:t>
            </a:r>
          </a:p>
          <a:p xmlns:a="http://schemas.openxmlformats.org/drawingml/2006/main">
            <a:r>
              <a:t>        "previous_year_navigation_searches": 238728,</a:t>
            </a:r>
          </a:p>
          <a:p xmlns:a="http://schemas.openxmlformats.org/drawingml/2006/main">
            <a:r>
              <a:t>        "lodging_searches": 14379,</a:t>
            </a:r>
          </a:p>
          <a:p xmlns:a="http://schemas.openxmlformats.org/drawingml/2006/main">
            <a:r>
              <a:t>        "previous_year_lodging_searches": 14379,</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-2.86,</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"202612",</a:t>
            </a:r>
          </a:p>
          <a:p xmlns:a="http://schemas.openxmlformats.org/drawingml/2006/main">
            <a:r>
              <a:t>        "visitors": 4989633.0,</a:t>
            </a:r>
          </a:p>
          <a:p xmlns:a="http://schemas.openxmlformats.org/drawingml/2006/main">
            <a:r>
              <a:t>        "spending_krw": 81033922052.0,</a:t>
            </a:r>
          </a:p>
          <a:p xmlns:a="http://schemas.openxmlformats.org/drawingml/2006/main">
            <a:r>
              <a:t>        "previous_year_visitors": 5079597,</a:t>
            </a:r>
          </a:p>
          <a:p xmlns:a="http://schemas.openxmlformats.org/drawingml/2006/main">
            <a:r>
              <a:t>        "previous_year_spending_krw": 81119852000,</a:t>
            </a:r>
          </a:p>
          <a:p xmlns:a="http://schemas.openxmlformats.org/drawingml/2006/main">
            <a:r>
              <a:t>        "visitor_yoy_percent": -1.77,</a:t>
            </a:r>
          </a:p>
          <a:p xmlns:a="http://schemas.openxmlformats.org/drawingml/2006/main">
            <a:r>
              <a:t>        "spending_yoy_percent": -0.11,</a:t>
            </a:r>
          </a:p>
          <a:p xmlns:a="http://schemas.openxmlformats.org/drawingml/2006/main">
            <a:r>
              <a:t>        "lodging_nights": 2.81,</a:t>
            </a:r>
          </a:p>
          <a:p xmlns:a="http://schemas.openxmlformats.org/drawingml/2006/main">
            <a:r>
              <a:t>        "previous_year_lodging_nights": 2.81,</a:t>
            </a:r>
          </a:p>
          <a:p xmlns:a="http://schemas.openxmlformats.org/drawingml/2006/main">
            <a:r>
              <a:t>        "lodging_rate_pct": 7.3,</a:t>
            </a:r>
          </a:p>
          <a:p xmlns:a="http://schemas.openxmlformats.org/drawingml/2006/main">
            <a:r>
              <a:t>        "previous_year_lodging_rate_pct": 7.3,</a:t>
            </a:r>
          </a:p>
          <a:p xmlns:a="http://schemas.openxmlformats.org/drawingml/2006/main">
            <a:r>
              <a:t>        "stay_minutes": 1118.0,</a:t>
            </a:r>
          </a:p>
          <a:p xmlns:a="http://schemas.openxmlformats.org/drawingml/2006/main">
            <a:r>
              <a:t>        "previous_year_stay_minutes": 1118.0,</a:t>
            </a:r>
          </a:p>
          <a:p xmlns:a="http://schemas.openxmlformats.org/drawingml/2006/main">
            <a:r>
              <a:t>        "navigation_searches": 225518,</a:t>
            </a:r>
          </a:p>
          <a:p xmlns:a="http://schemas.openxmlformats.org/drawingml/2006/main">
            <a:r>
              <a:t>        "previous_year_navigation_searches": 220205,</a:t>
            </a:r>
          </a:p>
          <a:p xmlns:a="http://schemas.openxmlformats.org/drawingml/2006/main">
            <a:r>
              <a:t>        "lodging_searches": 12004,</a:t>
            </a:r>
          </a:p>
          <a:p xmlns:a="http://schemas.openxmlformats.org/drawingml/2006/main">
            <a:r>
              <a:t>        "previous_year_lodging_searches": 12004,</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2.41,</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"period": "202610~202612",</a:t>
            </a:r>
          </a:p>
          <a:p xmlns:a="http://schemas.openxmlformats.org/drawingml/2006/main">
            <a:r>
              <a:t>    "complete": true,</a:t>
            </a:r>
          </a:p>
          <a:p xmlns:a="http://schemas.openxmlformats.org/drawingml/2006/main">
            <a:r>
              <a:t>    "notes": [</a:t>
            </a:r>
          </a:p>
          <a:p xmlns:a="http://schemas.openxmlformats.org/drawingml/2006/main">
            <a:r>
              <a:t>      "3개월 초과 예측 거리는 재귀 검증 범위 밖의 탐색 전망입니다."</a:t>
            </a:r>
          </a:p>
          <a:p xmlns:a="http://schemas.openxmlformats.org/drawingml/2006/main">
            <a:r>
              <a:t>    ],</a:t>
            </a:r>
          </a:p>
          <a:p xmlns:a="http://schemas.openxmlformats.org/drawingml/2006/main">
            <a:r>
              <a:t>    "selection_basis": "next_three_months_at_generation",</a:t>
            </a:r>
          </a:p>
          <a:p xmlns:a="http://schemas.openxmlformats.org/drawingml/2006/main">
            <a:r>
              <a:t>    "requested_period": "202610~202612"</a:t>
            </a:r>
          </a:p>
          <a:p xmlns:a="http://schemas.openxmlformats.org/drawingml/2006/main">
            <a:r>
              <a:t>  },</a:t>
            </a:r>
          </a:p>
          <a:p xmlns:a="http://schemas.openxmlformats.org/drawingml/2006/main">
            <a:r>
              <a:t>  "all_ml_forecasts": [</a:t>
            </a:r>
          </a:p>
          <a:p xmlns:a="http://schemas.openxmlformats.org/drawingml/2006/main">
            <a:r>
              <a:t>    {</a:t>
            </a:r>
          </a:p>
          <a:p xmlns:a="http://schemas.openxmlformats.org/drawingml/2006/main">
            <a:r>
              <a:t>      "month": "202607",</a:t>
            </a:r>
          </a:p>
          <a:p xmlns:a="http://schemas.openxmlformats.org/drawingml/2006/main">
            <a:r>
              <a:t>      "visitors": 4982887,</a:t>
            </a:r>
          </a:p>
          <a:p xmlns:a="http://schemas.openxmlformats.org/drawingml/2006/main">
            <a:r>
              <a:t>      "spending_krw": 80283647550,</a:t>
            </a:r>
          </a:p>
          <a:p xmlns:a="http://schemas.openxmlformats.org/drawingml/2006/main">
            <a:r>
              <a:t>      "previous_year_visitors": 4951150,</a:t>
            </a:r>
          </a:p>
          <a:p xmlns:a="http://schemas.openxmlformats.org/drawingml/2006/main">
            <a:r>
              <a:t>      "previous_year_spending_krw": 75135145000,</a:t>
            </a:r>
          </a:p>
          <a:p xmlns:a="http://schemas.openxmlformats.org/drawingml/2006/main">
            <a:r>
              <a:t>      "visitor_yoy_percent": 0.64,</a:t>
            </a:r>
          </a:p>
          <a:p xmlns:a="http://schemas.openxmlformats.org/drawingml/2006/main">
            <a:r>
              <a:t>      "spending_yoy_percent": 6.85,</a:t>
            </a:r>
          </a:p>
          <a:p xmlns:a="http://schemas.openxmlformats.org/drawingml/2006/main">
            <a:r>
              <a:t>      "lodging_nights": 2.91,</a:t>
            </a:r>
          </a:p>
          <a:p xmlns:a="http://schemas.openxmlformats.org/drawingml/2006/main">
            <a:r>
              <a:t>      "previous_year_lodging_nights": 2.91,</a:t>
            </a:r>
          </a:p>
          <a:p xmlns:a="http://schemas.openxmlformats.org/drawingml/2006/main">
            <a:r>
              <a:t>      "lodging_rate_pct": 7.3,</a:t>
            </a:r>
          </a:p>
          <a:p xmlns:a="http://schemas.openxmlformats.org/drawingml/2006/main">
            <a:r>
              <a:t>      "previous_year_lodging_rate_pct": 7.3,</a:t>
            </a:r>
          </a:p>
          <a:p xmlns:a="http://schemas.openxmlformats.org/drawingml/2006/main">
            <a:r>
              <a:t>      "stay_minutes": 1223.0,</a:t>
            </a:r>
          </a:p>
          <a:p xmlns:a="http://schemas.openxmlformats.org/drawingml/2006/main">
            <a:r>
              <a:t>      "previous_year_stay_minutes": 1223.0,</a:t>
            </a:r>
          </a:p>
          <a:p xmlns:a="http://schemas.openxmlformats.org/drawingml/2006/main">
            <a:r>
              <a:t>      "navigation_searches": 209722,</a:t>
            </a:r>
          </a:p>
          <a:p xmlns:a="http://schemas.openxmlformats.org/drawingml/2006/main">
            <a:r>
              <a:t>      "previous_year_navigation_searches": 210646,</a:t>
            </a:r>
          </a:p>
          <a:p xmlns:a="http://schemas.openxmlformats.org/drawingml/2006/main">
            <a:r>
              <a:t>      "lodging_searches": 12843,</a:t>
            </a:r>
          </a:p>
          <a:p xmlns:a="http://schemas.openxmlformats.org/drawingml/2006/main">
            <a:r>
              <a:t>      "previous_year_lodging_searches": 12843,</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-0.44,</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"202608",</a:t>
            </a:r>
          </a:p>
          <a:p xmlns:a="http://schemas.openxmlformats.org/drawingml/2006/main">
            <a:r>
              <a:t>      "visitors": 4852547,</a:t>
            </a:r>
          </a:p>
          <a:p xmlns:a="http://schemas.openxmlformats.org/drawingml/2006/main">
            <a:r>
              <a:t>      "spending_krw": 76665340753,</a:t>
            </a:r>
          </a:p>
          <a:p xmlns:a="http://schemas.openxmlformats.org/drawingml/2006/main">
            <a:r>
              <a:t>      "previous_year_visitors": 4939438,</a:t>
            </a:r>
          </a:p>
          <a:p xmlns:a="http://schemas.openxmlformats.org/drawingml/2006/main">
            <a:r>
              <a:t>      "previous_year_spending_krw": 76291079000,</a:t>
            </a:r>
          </a:p>
          <a:p xmlns:a="http://schemas.openxmlformats.org/drawingml/2006/main">
            <a:r>
              <a:t>      "visitor_yoy_percent": -1.76,</a:t>
            </a:r>
          </a:p>
          <a:p xmlns:a="http://schemas.openxmlformats.org/drawingml/2006/main">
            <a:r>
              <a:t>      "spending_yoy_percent": 0.49,</a:t>
            </a:r>
          </a:p>
          <a:p xmlns:a="http://schemas.openxmlformats.org/drawingml/2006/main">
            <a:r>
              <a:t>      "lodging_nights": 2.84,</a:t>
            </a:r>
          </a:p>
          <a:p xmlns:a="http://schemas.openxmlformats.org/drawingml/2006/main">
            <a:r>
              <a:t>      "previous_year_lodging_nights": 2.84,</a:t>
            </a:r>
          </a:p>
          <a:p xmlns:a="http://schemas.openxmlformats.org/drawingml/2006/main">
            <a:r>
              <a:t>      "lodging_rate_pct": 7.9,</a:t>
            </a:r>
          </a:p>
          <a:p xmlns:a="http://schemas.openxmlformats.org/drawingml/2006/main">
            <a:r>
              <a:t>      "previous_year_lodging_rate_pct": 7.9,</a:t>
            </a:r>
          </a:p>
          <a:p xmlns:a="http://schemas.openxmlformats.org/drawingml/2006/main">
            <a:r>
              <a:t>      "stay_minutes": 1218.0,</a:t>
            </a:r>
          </a:p>
          <a:p xmlns:a="http://schemas.openxmlformats.org/drawingml/2006/main">
            <a:r>
              <a:t>      "previous_year_stay_minutes": 1218.0,</a:t>
            </a:r>
          </a:p>
          <a:p xmlns:a="http://schemas.openxmlformats.org/drawingml/2006/main">
            <a:r>
              <a:t>      "navigation_searches": 225159,</a:t>
            </a:r>
          </a:p>
          <a:p xmlns:a="http://schemas.openxmlformats.org/drawingml/2006/main">
            <a:r>
              <a:t>      "previous_year_navigation_searches": 220742,</a:t>
            </a:r>
          </a:p>
          <a:p xmlns:a="http://schemas.openxmlformats.org/drawingml/2006/main">
            <a:r>
              <a:t>      "lodging_searches": 13272,</a:t>
            </a:r>
          </a:p>
          <a:p xmlns:a="http://schemas.openxmlformats.org/drawingml/2006/main">
            <a:r>
              <a:t>      "previous_year_lodging_searches": 13272,</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2.0,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"202609",</a:t>
            </a:r>
          </a:p>
          <a:p xmlns:a="http://schemas.openxmlformats.org/drawingml/2006/main">
            <a:r>
              <a:t>      "visitors": 4823300,</a:t>
            </a:r>
          </a:p>
          <a:p xmlns:a="http://schemas.openxmlformats.org/drawingml/2006/main">
            <a:r>
              <a:t>      "spending_krw": 80194062490,</a:t>
            </a:r>
          </a:p>
          <a:p xmlns:a="http://schemas.openxmlformats.org/drawingml/2006/main">
            <a:r>
              <a:t>      "previous_year_visitors": 4842196,</a:t>
            </a:r>
          </a:p>
          <a:p xmlns:a="http://schemas.openxmlformats.org/drawingml/2006/main">
            <a:r>
              <a:t>      "previous_year_spending_krw": 70764730000,</a:t>
            </a:r>
          </a:p>
          <a:p xmlns:a="http://schemas.openxmlformats.org/drawingml/2006/main">
            <a:r>
              <a:t>      "visitor_yoy_percent": -0.39,</a:t>
            </a:r>
          </a:p>
          <a:p xmlns:a="http://schemas.openxmlformats.org/drawingml/2006/main">
            <a:r>
              <a:t>      "spending_yoy_percent": 13.32,</a:t>
            </a:r>
          </a:p>
          <a:p xmlns:a="http://schemas.openxmlformats.org/drawingml/2006/main">
            <a:r>
              <a:t>      "lodging_nights": 2.93,</a:t>
            </a:r>
          </a:p>
          <a:p xmlns:a="http://schemas.openxmlformats.org/drawingml/2006/main">
            <a:r>
              <a:t>      "previous_year_lodging_nights": 2.93,</a:t>
            </a:r>
          </a:p>
          <a:p xmlns:a="http://schemas.openxmlformats.org/drawingml/2006/main">
            <a:r>
              <a:t>      "lodging_rate_pct": 6.7,</a:t>
            </a:r>
          </a:p>
          <a:p xmlns:a="http://schemas.openxmlformats.org/drawingml/2006/main">
            <a:r>
              <a:t>      "previous_year_lodging_rate_pct": 6.7,</a:t>
            </a:r>
          </a:p>
          <a:p xmlns:a="http://schemas.openxmlformats.org/drawingml/2006/main">
            <a:r>
              <a:t>      "stay_minutes": 1281.0,</a:t>
            </a:r>
          </a:p>
          <a:p xmlns:a="http://schemas.openxmlformats.org/drawingml/2006/main">
            <a:r>
              <a:t>      "previous_year_stay_minutes": 1281.0,</a:t>
            </a:r>
          </a:p>
          <a:p xmlns:a="http://schemas.openxmlformats.org/drawingml/2006/main">
            <a:r>
              <a:t>      "navigation_searches": 206180,</a:t>
            </a:r>
          </a:p>
          <a:p xmlns:a="http://schemas.openxmlformats.org/drawingml/2006/main">
            <a:r>
              <a:t>      "previous_year_navigation_searches": 191971,</a:t>
            </a:r>
          </a:p>
          <a:p xmlns:a="http://schemas.openxmlformats.org/drawingml/2006/main">
            <a:r>
              <a:t>      "lodging_searches": 11464,</a:t>
            </a:r>
          </a:p>
          <a:p xmlns:a="http://schemas.openxmlformats.org/drawingml/2006/main">
            <a:r>
              <a:t>      "previous_year_lodging_searches": 11464,</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7.4,</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"202610",</a:t>
            </a:r>
          </a:p>
          <a:p xmlns:a="http://schemas.openxmlformats.org/drawingml/2006/main">
            <a:r>
              <a:t>      "visitors": 4998578,</a:t>
            </a:r>
          </a:p>
          <a:p xmlns:a="http://schemas.openxmlformats.org/drawingml/2006/main">
            <a:r>
              <a:t>      "spending_krw": 79359374710,</a:t>
            </a:r>
          </a:p>
          <a:p xmlns:a="http://schemas.openxmlformats.org/drawingml/2006/main">
            <a:r>
              <a:t>      "previous_year_visitors": 4949394,</a:t>
            </a:r>
          </a:p>
          <a:p xmlns:a="http://schemas.openxmlformats.org/drawingml/2006/main">
            <a:r>
              <a:t>      "previous_year_spending_krw": 78158272000,</a:t>
            </a:r>
          </a:p>
          <a:p xmlns:a="http://schemas.openxmlformats.org/drawingml/2006/main">
            <a:r>
              <a:t>      "visitor_yoy_percent": 0.99,</a:t>
            </a:r>
          </a:p>
          <a:p xmlns:a="http://schemas.openxmlformats.org/drawingml/2006/main">
            <a:r>
              <a:t>      "spending_yoy_percent": 1.54,</a:t>
            </a:r>
          </a:p>
          <a:p xmlns:a="http://schemas.openxmlformats.org/drawingml/2006/main">
            <a:r>
              <a:t>      "lodging_nights": 2.85,</a:t>
            </a:r>
          </a:p>
          <a:p xmlns:a="http://schemas.openxmlformats.org/drawingml/2006/main">
            <a:r>
              <a:t>      "previous_year_lodging_nights": 2.85,</a:t>
            </a:r>
          </a:p>
          <a:p xmlns:a="http://schemas.openxmlformats.org/drawingml/2006/main">
            <a:r>
              <a:t>      "lodging_rate_pct": 8.9,</a:t>
            </a:r>
          </a:p>
          <a:p xmlns:a="http://schemas.openxmlformats.org/drawingml/2006/main">
            <a:r>
              <a:t>      "previous_year_lodging_rate_pct": 8.9,</a:t>
            </a:r>
          </a:p>
          <a:p xmlns:a="http://schemas.openxmlformats.org/drawingml/2006/main">
            <a:r>
              <a:t>      "stay_minutes": 1170.0,</a:t>
            </a:r>
          </a:p>
          <a:p xmlns:a="http://schemas.openxmlformats.org/drawingml/2006/main">
            <a:r>
              <a:t>      "previous_year_stay_minutes": 1170.0,</a:t>
            </a:r>
          </a:p>
          <a:p xmlns:a="http://schemas.openxmlformats.org/drawingml/2006/main">
            <a:r>
              <a:t>      "navigation_searches": 237779,</a:t>
            </a:r>
          </a:p>
          <a:p xmlns:a="http://schemas.openxmlformats.org/drawingml/2006/main">
            <a:r>
              <a:t>      "previous_year_navigation_searches": 324902,</a:t>
            </a:r>
          </a:p>
          <a:p xmlns:a="http://schemas.openxmlformats.org/drawingml/2006/main">
            <a:r>
              <a:t>      "lodging_searches": 19187,</a:t>
            </a:r>
          </a:p>
          <a:p xmlns:a="http://schemas.openxmlformats.org/drawingml/2006/main">
            <a:r>
              <a:t>      "previous_year_lodging_searches": 19187,</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-26.82,</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4940348,</a:t>
            </a:r>
          </a:p>
          <a:p xmlns:a="http://schemas.openxmlformats.org/drawingml/2006/main">
            <a:r>
              <a:t>      "spending_krw": 85971975908,</a:t>
            </a:r>
          </a:p>
          <a:p xmlns:a="http://schemas.openxmlformats.org/drawingml/2006/main">
            <a:r>
              <a:t>      "previous_year_visitors": 5167969,</a:t>
            </a:r>
          </a:p>
          <a:p xmlns:a="http://schemas.openxmlformats.org/drawingml/2006/main">
            <a:r>
              <a:t>      "previous_year_spending_krw": 76509918000,</a:t>
            </a:r>
          </a:p>
          <a:p xmlns:a="http://schemas.openxmlformats.org/drawingml/2006/main">
            <a:r>
              <a:t>      "visitor_yoy_percent": -4.4,</a:t>
            </a:r>
          </a:p>
          <a:p xmlns:a="http://schemas.openxmlformats.org/drawingml/2006/main">
            <a:r>
              <a:t>      "spending_yoy_percent": 12.37,</a:t>
            </a:r>
          </a:p>
          <a:p xmlns:a="http://schemas.openxmlformats.org/drawingml/2006/main">
            <a:r>
              <a:t>      "lodging_nights": 2.79,</a:t>
            </a:r>
          </a:p>
          <a:p xmlns:a="http://schemas.openxmlformats.org/drawingml/2006/main">
            <a:r>
              <a:t>      "previous_year_lodging_nights": 2.79,</a:t>
            </a:r>
          </a:p>
          <a:p xmlns:a="http://schemas.openxmlformats.org/drawingml/2006/main">
            <a:r>
              <a:t>      "lodging_rate_pct": 6.5,</a:t>
            </a:r>
          </a:p>
          <a:p xmlns:a="http://schemas.openxmlformats.org/drawingml/2006/main">
            <a:r>
              <a:t>      "previous_year_lodging_rate_pct": 6.5,</a:t>
            </a:r>
          </a:p>
          <a:p xmlns:a="http://schemas.openxmlformats.org/drawingml/2006/main">
            <a:r>
              <a:t>      "stay_minutes": 987.0,</a:t>
            </a:r>
          </a:p>
          <a:p xmlns:a="http://schemas.openxmlformats.org/drawingml/2006/main">
            <a:r>
              <a:t>      "previous_year_stay_minutes": 987.0,</a:t>
            </a:r>
          </a:p>
          <a:p xmlns:a="http://schemas.openxmlformats.org/drawingml/2006/main">
            <a:r>
              <a:t>      "navigation_searches": 231894,</a:t>
            </a:r>
          </a:p>
          <a:p xmlns:a="http://schemas.openxmlformats.org/drawingml/2006/main">
            <a:r>
              <a:t>      "previous_year_navigation_searches": 238728,</a:t>
            </a:r>
          </a:p>
          <a:p xmlns:a="http://schemas.openxmlformats.org/drawingml/2006/main">
            <a:r>
              <a:t>      "lodging_searches": 14379,</a:t>
            </a:r>
          </a:p>
          <a:p xmlns:a="http://schemas.openxmlformats.org/drawingml/2006/main">
            <a:r>
              <a:t>      "previous_year_lodging_searches": 14379,</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-2.86,</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"202612",</a:t>
            </a:r>
          </a:p>
          <a:p xmlns:a="http://schemas.openxmlformats.org/drawingml/2006/main">
            <a:r>
              <a:t>      "visitors": 4989633,</a:t>
            </a:r>
          </a:p>
          <a:p xmlns:a="http://schemas.openxmlformats.org/drawingml/2006/main">
            <a:r>
              <a:t>      "spending_krw": 81033922052,</a:t>
            </a:r>
          </a:p>
          <a:p xmlns:a="http://schemas.openxmlformats.org/drawingml/2006/main">
            <a:r>
              <a:t>      "previous_year_visitors": 5079597,</a:t>
            </a:r>
          </a:p>
          <a:p xmlns:a="http://schemas.openxmlformats.org/drawingml/2006/main">
            <a:r>
              <a:t>      "previous_year_spending_krw": 81119852000,</a:t>
            </a:r>
          </a:p>
          <a:p xmlns:a="http://schemas.openxmlformats.org/drawingml/2006/main">
            <a:r>
              <a:t>      "visitor_yoy_percent": -1.77,</a:t>
            </a:r>
          </a:p>
          <a:p xmlns:a="http://schemas.openxmlformats.org/drawingml/2006/main">
            <a:r>
              <a:t>      "spending_yoy_percent": -0.11,</a:t>
            </a:r>
          </a:p>
          <a:p xmlns:a="http://schemas.openxmlformats.org/drawingml/2006/main">
            <a:r>
              <a:t>      "lodging_nights": 2.81,</a:t>
            </a:r>
          </a:p>
          <a:p xmlns:a="http://schemas.openxmlformats.org/drawingml/2006/main">
            <a:r>
              <a:t>      "previous_year_lodging_nights": 2.81,</a:t>
            </a:r>
          </a:p>
          <a:p xmlns:a="http://schemas.openxmlformats.org/drawingml/2006/main">
            <a:r>
              <a:t>      "lodging_rate_pct": 7.3,</a:t>
            </a:r>
          </a:p>
          <a:p xmlns:a="http://schemas.openxmlformats.org/drawingml/2006/main">
            <a:r>
              <a:t>      "previous_year_lodging_rate_pct": 7.3,</a:t>
            </a:r>
          </a:p>
          <a:p xmlns:a="http://schemas.openxmlformats.org/drawingml/2006/main">
            <a:r>
              <a:t>      "stay_minutes": 1118.0,</a:t>
            </a:r>
          </a:p>
          <a:p xmlns:a="http://schemas.openxmlformats.org/drawingml/2006/main">
            <a:r>
              <a:t>      "previous_year_stay_minutes": 1118.0,</a:t>
            </a:r>
          </a:p>
          <a:p xmlns:a="http://schemas.openxmlformats.org/drawingml/2006/main">
            <a:r>
              <a:t>      "navigation_searches": 225518,</a:t>
            </a:r>
          </a:p>
          <a:p xmlns:a="http://schemas.openxmlformats.org/drawingml/2006/main">
            <a:r>
              <a:t>      "previous_year_navigation_searches": 220205,</a:t>
            </a:r>
          </a:p>
          <a:p xmlns:a="http://schemas.openxmlformats.org/drawingml/2006/main">
            <a:r>
              <a:t>      "lodging_searches": 12004,</a:t>
            </a:r>
          </a:p>
          <a:p xmlns:a="http://schemas.openxmlformats.org/drawingml/2006/main">
            <a:r>
              <a:t>      "previous_year_lodging_searches": 12004,</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2.41,</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"evaluation": {</a:t>
            </a:r>
          </a:p>
          <a:p xmlns:a="http://schemas.openxmlformats.org/drawingml/2006/main">
            <a:r>
              <a:t>    "validation_period": "202512~202602",</a:t>
            </a:r>
          </a:p>
          <a:p xmlns:a="http://schemas.openxmlformats.org/drawingml/2006/main">
            <a:r>
              <a:t>    "test_period": "202603~202606",</a:t>
            </a:r>
          </a:p>
          <a:p xmlns:a="http://schemas.openxmlformats.org/drawingml/2006/main">
            <a:r>
              <a:t>    "selection_basis": "validation_mae_only",</a:t>
            </a:r>
          </a:p>
          <a:p xmlns:a="http://schemas.openxmlformats.org/drawingml/2006/main">
            <a:r>
              <a:t>    "recursive_backtest_horizon_months": [</a:t>
            </a:r>
          </a:p>
          <a:p xmlns:a="http://schemas.openxmlformats.org/drawingml/2006/main">
            <a:r>
              <a:t>      1,</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"forecast_horizon_months": 6,</a:t>
            </a:r>
          </a:p>
          <a:p xmlns:a="http://schemas.openxmlformats.org/drawingml/2006/main">
            <a:r>
              <a:t>    "longer_horizon_status": "exploratory_not_recursively_backtested",</a:t>
            </a:r>
          </a:p>
          <a:p xmlns:a="http://schemas.openxmlformats.org/drawingml/2006/main">
            <a:r>
              <a:t>    "metrics": {</a:t>
            </a:r>
          </a:p>
          <a:p xmlns:a="http://schemas.openxmlformats.org/drawingml/2006/main">
            <a:r>
              <a:t>      "visitors": {</a:t>
            </a:r>
          </a:p>
          <a:p xmlns:a="http://schemas.openxmlformats.org/drawingml/2006/main">
            <a:r>
              <a:t>        "selected_model": "RandomForestRegressor",</a:t>
            </a:r>
          </a:p>
          <a:p xmlns:a="http://schemas.openxmlformats.org/drawingml/2006/main">
            <a:r>
              <a:t>        "test_mae": 237105.53,</a:t>
            </a:r>
          </a:p>
          <a:p xmlns:a="http://schemas.openxmlformats.org/drawingml/2006/main">
            <a:r>
              <a:t>        "baseline_test_mae": 192935.5,</a:t>
            </a:r>
          </a:p>
          <a:p xmlns:a="http://schemas.openxmlformats.org/drawingml/2006/main">
            <a:r>
              <a:t>        "beats_baseline_on_test": false,</a:t>
            </a:r>
          </a:p>
          <a:p xmlns:a="http://schemas.openxmlformats.org/drawingml/2006/main">
            <a:r>
              <a:t>        "model_reliability": "below_baseline_on_test",</a:t>
            </a:r>
          </a:p>
          <a:p xmlns:a="http://schemas.openxmlformats.org/drawingml/2006/main">
            <a:r>
              <a:t>        "recursive_horizons_worse_than_baseline":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"recursive_mae": {</a:t>
            </a:r>
          </a:p>
          <a:p xmlns:a="http://schemas.openxmlformats.org/drawingml/2006/main">
            <a:r>
              <a:t>          "1": {</a:t>
            </a:r>
          </a:p>
          <a:p xmlns:a="http://schemas.openxmlformats.org/drawingml/2006/main">
            <a:r>
              <a:t>            "selected": 332727,</a:t>
            </a:r>
          </a:p>
          <a:p xmlns:a="http://schemas.openxmlformats.org/drawingml/2006/main">
            <a:r>
              <a:t>            "baseline": 211072,</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141143.5,</a:t>
            </a:r>
          </a:p>
          <a:p xmlns:a="http://schemas.openxmlformats.org/drawingml/2006/main">
            <a:r>
              <a:t>            "baseline": 97043,</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168591.5,</a:t>
            </a:r>
          </a:p>
          <a:p xmlns:a="http://schemas.openxmlformats.org/drawingml/2006/main">
            <a:r>
              <a:t>            "baseline": 174799,</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"spending_krw": {</a:t>
            </a:r>
          </a:p>
          <a:p xmlns:a="http://schemas.openxmlformats.org/drawingml/2006/main">
            <a:r>
              <a:t>        "selected_model": "LinearRegression",</a:t>
            </a:r>
          </a:p>
          <a:p xmlns:a="http://schemas.openxmlformats.org/drawingml/2006/main">
            <a:r>
              <a:t>        "test_mae": 4927867951.9,</a:t>
            </a:r>
          </a:p>
          <a:p xmlns:a="http://schemas.openxmlformats.org/drawingml/2006/main">
            <a:r>
              <a:t>        "baseline_test_mae": 2411157000,</a:t>
            </a:r>
          </a:p>
          <a:p xmlns:a="http://schemas.openxmlformats.org/drawingml/2006/main">
            <a:r>
              <a:t>        "beats_baseline_on_test": false,</a:t>
            </a:r>
          </a:p>
          <a:p xmlns:a="http://schemas.openxmlformats.org/drawingml/2006/main">
            <a:r>
              <a:t>        "model_reliability": "below_baseline_on_test",</a:t>
            </a:r>
          </a:p>
          <a:p xmlns:a="http://schemas.openxmlformats.org/drawingml/2006/main">
            <a:r>
              <a:t>        "recursive_horizons_worse_than_baseline": [</a:t>
            </a:r>
          </a:p>
          <a:p xmlns:a="http://schemas.openxmlformats.org/drawingml/2006/main">
            <a:r>
              <a:t>          "1",</a:t>
            </a:r>
          </a:p>
          <a:p xmlns:a="http://schemas.openxmlformats.org/drawingml/2006/main">
            <a:r>
              <a:t>          "3"</a:t>
            </a:r>
          </a:p>
          <a:p xmlns:a="http://schemas.openxmlformats.org/drawingml/2006/main">
            <a:r>
              <a:t>        ],</a:t>
            </a:r>
          </a:p>
          <a:p xmlns:a="http://schemas.openxmlformats.org/drawingml/2006/main">
            <a:r>
              <a:t>        "recursive_mae": {</a:t>
            </a:r>
          </a:p>
          <a:p xmlns:a="http://schemas.openxmlformats.org/drawingml/2006/main">
            <a:r>
              <a:t>          "1": {</a:t>
            </a:r>
          </a:p>
          <a:p xmlns:a="http://schemas.openxmlformats.org/drawingml/2006/main">
            <a:r>
              <a:t>            "selected": 3237755191,</a:t>
            </a:r>
          </a:p>
          <a:p xmlns:a="http://schemas.openxmlformats.org/drawingml/2006/main">
            <a:r>
              <a:t>            "baseline": 1944140500,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1581504765.5,</a:t>
            </a:r>
          </a:p>
          <a:p xmlns:a="http://schemas.openxmlformats.org/drawingml/2006/main">
            <a:r>
              <a:t>            "baseline": 3984052500,</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4493524184.5,</a:t>
            </a:r>
          </a:p>
          <a:p xmlns:a="http://schemas.openxmlformats.org/drawingml/2006/main">
            <a:r>
              <a:t>            "baseline": 2878173500,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"lodging_nights": {</a:t>
            </a:r>
          </a:p>
          <a:p xmlns:a="http://schemas.openxmlformats.org/drawingml/2006/main">
            <a:r>
              <a:t>        "selected_model": "seasonal_naive_previous_year_same_month",</a:t>
            </a:r>
          </a:p>
          <a:p xmlns:a="http://schemas.openxmlformats.org/drawingml/2006/main">
            <a:r>
              <a:t>        "test_mae": 0.07,</a:t>
            </a:r>
          </a:p>
          <a:p xmlns:a="http://schemas.openxmlformats.org/drawingml/2006/main">
            <a:r>
              <a:t>        "baseline_test_mae": 0.07,</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0.06,</a:t>
            </a:r>
          </a:p>
          <a:p xmlns:a="http://schemas.openxmlformats.org/drawingml/2006/main">
            <a:r>
              <a:t>            "baseline": 0.06,</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0.11,</a:t>
            </a:r>
          </a:p>
          <a:p xmlns:a="http://schemas.openxmlformats.org/drawingml/2006/main">
            <a:r>
              <a:t>            "baseline": 0.11,</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0.08,</a:t>
            </a:r>
          </a:p>
          <a:p xmlns:a="http://schemas.openxmlformats.org/drawingml/2006/main">
            <a:r>
              <a:t>            "baseline": 0.08,</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"lodging_rate_pct": {</a:t>
            </a:r>
          </a:p>
          <a:p xmlns:a="http://schemas.openxmlformats.org/drawingml/2006/main">
            <a:r>
              <a:t>        "selected_model": "seasonal_naive_previous_year_same_month",</a:t>
            </a:r>
          </a:p>
          <a:p xmlns:a="http://schemas.openxmlformats.org/drawingml/2006/main">
            <a:r>
              <a:t>        "test_mae": 0.3,</a:t>
            </a:r>
          </a:p>
          <a:p xmlns:a="http://schemas.openxmlformats.org/drawingml/2006/main">
            <a:r>
              <a:t>        "baseline_test_mae": 0.3,</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0.4,</a:t>
            </a:r>
          </a:p>
          <a:p xmlns:a="http://schemas.openxmlformats.org/drawingml/2006/main">
            <a:r>
              <a:t>            "baseline": 0.4,</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0.2,</a:t>
            </a:r>
          </a:p>
          <a:p xmlns:a="http://schemas.openxmlformats.org/drawingml/2006/main">
            <a:r>
              <a:t>            "baseline": 0.2,</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0.2,</a:t>
            </a:r>
          </a:p>
          <a:p xmlns:a="http://schemas.openxmlformats.org/drawingml/2006/main">
            <a:r>
              <a:t>            "baseline": 0.2,</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"stay_minutes": {</a:t>
            </a:r>
          </a:p>
          <a:p xmlns:a="http://schemas.openxmlformats.org/drawingml/2006/main">
            <a:r>
              <a:t>        "selected_model": "seasonal_naive_previous_year_same_month",</a:t>
            </a:r>
          </a:p>
          <a:p xmlns:a="http://schemas.openxmlformats.org/drawingml/2006/main">
            <a:r>
              <a:t>        "test_mae": 113.5,</a:t>
            </a:r>
          </a:p>
          <a:p xmlns:a="http://schemas.openxmlformats.org/drawingml/2006/main">
            <a:r>
              <a:t>        "baseline_test_mae": 113.5,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52,</a:t>
            </a:r>
          </a:p>
          <a:p xmlns:a="http://schemas.openxmlformats.org/drawingml/2006/main">
            <a:r>
              <a:t>            "baseline": 52,</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218.5,</a:t>
            </a:r>
          </a:p>
          <a:p xmlns:a="http://schemas.openxmlformats.org/drawingml/2006/main">
            <a:r>
              <a:t>            "baseline": 218.5,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175,</a:t>
            </a:r>
          </a:p>
          <a:p xmlns:a="http://schemas.openxmlformats.org/drawingml/2006/main">
            <a:r>
              <a:t>            "baseline": 175,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"navigation_searches": {</a:t>
            </a:r>
          </a:p>
          <a:p xmlns:a="http://schemas.openxmlformats.org/drawingml/2006/main">
            <a:r>
              <a:t>        "selected_model": "RandomForestRegressor",</a:t>
            </a:r>
          </a:p>
          <a:p xmlns:a="http://schemas.openxmlformats.org/drawingml/2006/main">
            <a:r>
              <a:t>        "test_mae": 20482.57,</a:t>
            </a:r>
          </a:p>
          <a:p xmlns:a="http://schemas.openxmlformats.org/drawingml/2006/main">
            <a:r>
              <a:t>        "baseline_test_mae": 12060,</a:t>
            </a:r>
          </a:p>
          <a:p xmlns:a="http://schemas.openxmlformats.org/drawingml/2006/main">
            <a:r>
              <a:t>        "beats_baseline_on_test": false,</a:t>
            </a:r>
          </a:p>
          <a:p xmlns:a="http://schemas.openxmlformats.org/drawingml/2006/main">
            <a:r>
              <a:t>        "model_reliability": "below_baseline_on_test",</a:t>
            </a:r>
          </a:p>
          <a:p xmlns:a="http://schemas.openxmlformats.org/drawingml/2006/main">
            <a:r>
              <a:t>        "recursive_horizons_worse_than_baseline": [</a:t>
            </a:r>
          </a:p>
          <a:p xmlns:a="http://schemas.openxmlformats.org/drawingml/2006/main">
            <a:r>
              <a:t>          "1",</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"recursive_mae": {</a:t>
            </a:r>
          </a:p>
          <a:p xmlns:a="http://schemas.openxmlformats.org/drawingml/2006/main">
            <a:r>
              <a:t>          "1": {</a:t>
            </a:r>
          </a:p>
          <a:p xmlns:a="http://schemas.openxmlformats.org/drawingml/2006/main">
            <a:r>
              <a:t>            "selected": 20785,</a:t>
            </a:r>
          </a:p>
          <a:p xmlns:a="http://schemas.openxmlformats.org/drawingml/2006/main">
            <a:r>
              <a:t>            "baseline": 9487,</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14198,</a:t>
            </a:r>
          </a:p>
          <a:p xmlns:a="http://schemas.openxmlformats.org/drawingml/2006/main">
            <a:r>
              <a:t>            "baseline": 6758.5,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18839,</a:t>
            </a:r>
          </a:p>
          <a:p xmlns:a="http://schemas.openxmlformats.org/drawingml/2006/main">
            <a:r>
              <a:t>            "baseline": 14633,</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"lodging_searches": {</a:t>
            </a:r>
          </a:p>
          <a:p xmlns:a="http://schemas.openxmlformats.org/drawingml/2006/main">
            <a:r>
              <a:t>        "selected_model": "seasonal_naive_previous_year_same_month",</a:t>
            </a:r>
          </a:p>
          <a:p xmlns:a="http://schemas.openxmlformats.org/drawingml/2006/main">
            <a:r>
              <a:t>        "test_mae": 526.5,</a:t>
            </a:r>
          </a:p>
          <a:p xmlns:a="http://schemas.openxmlformats.org/drawingml/2006/main">
            <a:r>
              <a:t>        "baseline_test_mae": 526.5,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779,</a:t>
            </a:r>
          </a:p>
          <a:p xmlns:a="http://schemas.openxmlformats.org/drawingml/2006/main">
            <a:r>
              <a:t>            "baseline": 779,</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391.5,</a:t>
            </a:r>
          </a:p>
          <a:p xmlns:a="http://schemas.openxmlformats.org/drawingml/2006/main">
            <a:r>
              <a:t>            "baseline": 391.5,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274,</a:t>
            </a:r>
          </a:p>
          <a:p xmlns:a="http://schemas.openxmlformats.org/drawingml/2006/main">
            <a:r>
              <a:t>            "baseline": 274,</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"execution_scenario": {</a:t>
            </a:r>
          </a:p>
          <a:p xmlns:a="http://schemas.openxmlformats.org/drawingml/2006/main">
            <a:r>
              <a:t>    "visitor_target_pct": 0.03473579438178678,</a:t>
            </a:r>
          </a:p>
          <a:p xmlns:a="http://schemas.openxmlformats.org/drawingml/2006/main">
            <a:r>
              <a:t>    "spending_target_pct": 0.07498350856156079,</a:t>
            </a:r>
          </a:p>
          <a:p xmlns:a="http://schemas.openxmlformats.org/drawingml/2006/main">
            <a:r>
              <a:t>    "target_origin": "operating_capacity"</a:t>
            </a:r>
          </a:p>
          <a:p xmlns:a="http://schemas.openxmlformats.org/drawingml/2006/main">
            <a:r>
              <a:t>  },</a:t>
            </a:r>
          </a:p>
          <a:p xmlns:a="http://schemas.openxmlformats.org/drawingml/2006/main">
            <a:r>
              <a:t>  "reference_estimate": {</a:t>
            </a:r>
          </a:p>
          <a:p xmlns:a="http://schemas.openxmlformats.org/drawingml/2006/main">
            <a:r>
              <a:t>    "status": "saved_report_budget",</a:t>
            </a:r>
          </a:p>
          <a:p xmlns:a="http://schemas.openxmlformats.org/drawingml/2006/main">
            <a:r>
              <a:t>    "total_label": "총액 미확정",</a:t>
            </a:r>
          </a:p>
          <a:p xmlns:a="http://schemas.openxmlformats.org/drawingml/2006/main">
            <a:r>
              <a:t>    "rows": [</a:t>
            </a:r>
          </a:p>
          <a:p xmlns:a="http://schemas.openxmlformats.org/drawingml/2006/main">
            <a:r>
              <a:t>      [</a:t>
            </a:r>
          </a:p>
          <a:p xmlns:a="http://schemas.openxmlformats.org/drawingml/2006/main">
            <a:r>
              <a:t>        "산정 내역 1",</a:t>
            </a:r>
          </a:p>
          <a:p xmlns:a="http://schemas.openxmlformats.org/drawingml/2006/main">
            <a:r>
              <a:t>        "3,000,000원 (기획 가정: 축제 운영 비용 1,000,000원/월 × 3개월)",</a:t>
            </a:r>
          </a:p>
          <a:p xmlns:a="http://schemas.openxmlformats.org/drawingml/2006/main">
            <a:r>
              <a:t>        "본문 기준"</a:t>
            </a:r>
          </a:p>
          <a:p xmlns:a="http://schemas.openxmlformats.org/drawingml/2006/main">
            <a:r>
              <a:t>      ]</a:t>
            </a:r>
          </a:p>
          <a:p xmlns:a="http://schemas.openxmlformats.org/drawingml/2006/main">
            <a:r>
              <a:t>    ],</a:t>
            </a:r>
          </a:p>
          <a:p xmlns:a="http://schemas.openxmlformats.org/drawingml/2006/main">
            <a:r>
              <a:t>    "original_text": "3,000,000원 (기획 가정: 축제 운영 비용 1,000,000원/월 × 3개월)",</a:t>
            </a:r>
          </a:p>
          <a:p xmlns:a="http://schemas.openxmlformats.org/drawingml/2006/main">
            <a:r>
              <a:t>    "sources": [],</a:t>
            </a:r>
          </a:p>
          <a:p xmlns:a="http://schemas.openxmlformats.org/drawingml/2006/main">
            <a:r>
              <a:t>    "note": "저장 기획안의 예산 산정 내용을 그대로 표시합니다. 확정 견적이 아니며 계약 전 수량·단가·세금과 합계를 확인합니다."</a:t>
            </a:r>
          </a:p>
          <a:p xmlns:a="http://schemas.openxmlformats.org/drawingml/2006/main">
            <a:r>
              <a:t>  }</a:t>
            </a:r>
          </a:p>
          <a:p xmlns:a="http://schemas.openxmlformats.org/drawingml/2006/main">
            <a:r>
              <a:t>}</a:t>
            </a:r>
          </a:p>
          <a:p xmlns:a="http://schemas.openxmlformats.org/drawingml/2006/main">
            <a:r>
              <a:t>표지 사진 출처: {"source_id": "tour-api:298208", "source_type": "open_api", "title": "내원사(대전)", "source_url": "https://apis.data.go.kr/B551011/KorService2", "content_id": "298208", "content_type_id": "12", "address": "대전광역시 서구 배재로197번길 200", "image_url": "http://tong.visitkorea.or.kr/cms/resource/79/3034979_image2_1.JPG", "summary": "한국관광공사 국문관광정보 API가 반환한 선택 지역 관광자원"}</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dataset:30170:1 | 한국관광 데이터랩 · 대전광역시 서구 순 방문자 수 및 숙박 비율 (이동통신 기반 외지인) | https://datalab.visitkorea.or.kr/</a:t>
            </a:r>
          </a:p>
          <a:p>
            <a:r>
              <a:t>dataset:30170:2 | 한국관광 데이터랩 · 대전광역시 서구 월간 순 방문자 수 (이동통신 기반 외지인) | https://datalab.visitkorea.or.kr/</a:t>
            </a:r>
          </a:p>
          <a:p>
            <a:r>
              <a:t>dataset:30170:3 | 한국관광 데이터랩 · 대전광역시 서구 관광소비 추이_외지인 | https://datalab.visitkorea.or.kr/</a:t>
            </a:r>
          </a:p>
          <a:p>
            <a:r>
              <a:t>dataset:30170:4 | 한국관광 데이터랩 · 대전광역시 서구 숙박방문자 비율 추이 (이동통신 기반 외지인) | https://datalab.visitkorea.or.kr/</a:t>
            </a:r>
          </a:p>
          <a:p>
            <a:r>
              <a:t>dataset:30170:5 | 한국관광 데이터랩 · 대전광역시 서구 평균 숙박일 (이동통신 기반 외지인) | https://datalab.visitkorea.or.kr/</a:t>
            </a:r>
          </a:p>
          <a:p>
            <a:r>
              <a:t>dataset:30170:6 | 한국관광 데이터랩 · 대전광역시 서구 내비게이션 목적지 유형별 검색량 | https://datalab.visitkorea.or.kr/</a:t>
            </a:r>
          </a:p>
          <a:p>
            <a:r>
              <a:t>dataset:30170:7 | 한국관광 데이터랩 · 대전광역시 서구 SNS 언급량 | https://datalab.visitkorea.or.kr/</a:t>
            </a:r>
          </a:p>
          <a:p>
            <a:r>
              <a:t>datalab:12c41f8a3e52:f92921dca662 | 방문자/2025_01_12.zip | https://datalab.visitkorea.or.kr/</a:t>
            </a:r>
          </a:p>
          <a:p>
            <a:r>
              <a:t>datalab:162285800b98:dbba3ac2e220 | 관광소비/2025_01_12.zip | https://datalab.visitkorea.or.kr/</a:t>
            </a:r>
          </a:p>
          <a:p>
            <a:r>
              <a:t>datalab:1bec5b4405e1:6c5494eef7c6 | 숙박_체류시간/2025_01_12.zip | https://datalab.visitkorea.or.kr/</a:t>
            </a:r>
          </a:p>
          <a:p>
            <a:r>
              <a:t>datalab:7a4db91d6ba9:d81294f3e5a0 | 관광소비/2026_01_06.zip | https://datalab.visitkorea.or.kr/</a:t>
            </a:r>
          </a:p>
          <a:p>
            <a:r>
              <a:t>datalab:cc1dc8fb5607:77f3b69cfb89 | 방문자/2026_01_06.zip | https://datalab.visitkorea.or.kr/</a:t>
            </a:r>
          </a:p>
          <a:p>
            <a:r>
              <a:t>datalab:e53d144382ee:fc025995a6df | 숙박_체류시간/2026_01_06.zip | https://datalab.visitkorea.or.kr/</a:t>
            </a:r>
          </a:p>
          <a:p>
            <a:r>
              <a:t>team-bigdata:23ea68053684:6bfbcf8aabf6 | 이동통신/내국인/지역별 방문자수/20260820140607__202601-202606_데이터랩_다운로드.zip | https://datalab.visitkorea.or.kr/</a:t>
            </a:r>
          </a:p>
          <a:p>
            <a:r>
              <a:t>team-bigdata:98d4ae590d9a:3be52dd54323 | 이동통신/외국인/20260820141710_전국_202601-202606_데이터랩_다운로드.zip | https://datalab.visitkorea.or.kr/</a:t>
            </a:r>
          </a:p>
          <a:p>
            <a:r>
              <a:t>team-bigdata:367cd0294ec4:873930d645e5 | 신용카드/내국인/지역별 관광지출액/20260820140046__202601-202606_데이터랩_다운로드.zip | https://datalab.visitkorea.or.kr/</a:t>
            </a:r>
          </a:p>
          <a:p>
            <a:r>
              <a:t>team-bigdata:553a0dad4bb4:5a31355dffe8 | 신용카드/외국인/지역별 관광지출액/20260820140355__202601-202606_데이터랩_다운로드.zip | https://datalab.visitkorea.or.kr/</a:t>
            </a:r>
          </a:p>
          <a:p>
            <a:r>
              <a:t>team-bigdata:a53dbe1c21df:77a052de41d5 | 지역별 검색건수/20260820195507__202601-202606_데이터랩_다운로드.zip | https://datalab.visitkorea.or.kr/</a:t>
            </a:r>
          </a:p>
          <a:p>
            <a:r>
              <a:t>team-bigdata:823a38d1d61c:5385261d02e5 | 이동통신/내국인/지역별 방문자수/20260820140614__202501-202512_데이터랩_다운로드.zip | https://datalab.visitkorea.or.kr/</a:t>
            </a:r>
          </a:p>
          <a:p>
            <a:r>
              <a:t>team-bigdata:2723bdb0d589:1666a34058ed | 이동통신/외국인/20260820141649_전국_202501-202512_데이터랩_다운로드.zip | https://datalab.visitkorea.or.kr/</a:t>
            </a:r>
          </a:p>
          <a:p>
            <a:r>
              <a:t>team-bigdata:83177a234971:c02cb7972e0f | 신용카드/내국인/지역별 관광지출액/20260820135957__202501-202512_데이터랩_다운로드.zip | https://datalab.visitkorea.or.kr/</a:t>
            </a:r>
          </a:p>
          <a:p>
            <a:r>
              <a:t>team-bigdata:58ded7732251:589c76395cbc | 신용카드/외국인/지역별 관광지출액/20260820140409__202501-202512_데이터랩_다운로드.zip | https://datalab.visitkorea.or.kr/</a:t>
            </a:r>
          </a:p>
          <a:p>
            <a:r>
              <a:t>team-bigdata:e28c947cb52f:bb4cb344a6ba | 지역별 검색건수/20260820132007__202501-202512_데이터랩_다운로드.zip | https://datalab.visitkorea.or.kr/</a:t>
            </a:r>
          </a:p>
          <a:p>
            <a:r>
              <a:t>team-bigdata:8815bbb11a39:1a5988f5f8ec | 이동통신/내국인/지역별 방문자수/20260820140624__202401-202412_데이터랩_다운로드.zip | https://datalab.visitkorea.or.kr/</a:t>
            </a:r>
          </a:p>
          <a:p>
            <a:r>
              <a:t>team-bigdata:19fd67fbb73d:afa4f0f54a2f | 이동통신/외국인/20260820141639_전국_202401-202412_데이터랩_다운로드.zip | https://datalab.visitkorea.or.kr/</a:t>
            </a:r>
          </a:p>
          <a:p>
            <a:r>
              <a:t>regional-status:0c68fedc2071:0ad82310f803 | 한국관광 데이터랩 지역별 관광 현황 · 대전광역시 서구 · 지역집중률 | https://datalab.visitkorea.or.kr/</a:t>
            </a:r>
          </a:p>
          <a:p>
            <a:r>
              <a:t>regional-status:4cddd6aa75d4:be8b01ec64e2 | 한국관광 데이터랩 지역별 관광 현황 · 대전광역시 서구 · 유입유출 | https://datalab.visitkorea.or.kr/</a:t>
            </a:r>
          </a:p>
          <a:p>
            <a:r>
              <a:t>regional-status:8c9a813e95eb:5e0cc3f56b73 | 한국관광 데이터랩 지역별 관광 현황 · 대전광역시 서구 · 인기관광지 | https://datalab.visitkorea.or.kr/</a:t>
            </a:r>
          </a:p>
          <a:p>
            <a:r>
              <a:t>ml:30170:regional-demand-v3.1:202606 | 지역 관광수요 ML 전망 · 공식 관측값 아님 | URL 미기록</a:t>
            </a:r>
          </a:p>
          <a:p>
            <a:r>
              <a:t>tour-api:2899643 | 갈마짬뽕 | https://apis.data.go.kr/B551011/KorService2</a:t>
            </a:r>
          </a:p>
          <a:p>
            <a:r>
              <a:t>tour-api:2899637 | 관저당 | https://apis.data.go.kr/B551011/KorService2</a:t>
            </a:r>
          </a:p>
          <a:p>
            <a:r>
              <a:t>tour-api:1932079 | 굿모닝레지던스호텔휴 | https://apis.data.go.kr/B551011/KorService2</a:t>
            </a:r>
          </a:p>
          <a:p>
            <a:r>
              <a:t>tour-api:133881 | 귀빈돌솥밥 | https://apis.data.go.kr/B551011/KorService2</a:t>
            </a:r>
          </a:p>
          <a:p>
            <a:r>
              <a:t>tour-api:2758252 | 남선공원 | https://apis.data.go.kr/B551011/KorService2</a:t>
            </a:r>
          </a:p>
          <a:p>
            <a:r>
              <a:t>tour-api:298208 | 내원사(대전) | https://apis.data.go.kr/B551011/KorService2</a:t>
            </a:r>
          </a:p>
          <a:p>
            <a:r>
              <a:t>tour-api:3452550 | 노크노크 | https://apis.data.go.kr/B551011/KorService2</a:t>
            </a:r>
          </a:p>
          <a:p>
            <a:r>
              <a:t>tour-api:2899585 | 대성콩국수 | https://apis.data.go.kr/B551011/KorService2</a:t>
            </a:r>
          </a:p>
          <a:p>
            <a:r>
              <a:t>tour-api:130802 | 대전 가수원도서관 | https://apis.data.go.kr/B551011/KorService2</a:t>
            </a:r>
          </a:p>
          <a:p>
            <a:r>
              <a:t>tour-api:2743325 | 대전광역시청 시민잔디광장 | https://apis.data.go.kr/B551011/KorService2</a:t>
            </a:r>
          </a:p>
          <a:p>
            <a:r>
              <a:t>tour-api:130197 | 대전서구문화원 | https://apis.data.go.kr/B551011/KorService2</a:t>
            </a:r>
          </a:p>
          <a:p>
            <a:r>
              <a:t>tour-api:2865847 | 델빠네 | https://apis.data.go.kr/B551011/KorService2</a:t>
            </a:r>
          </a:p>
          <a:p>
            <a:r>
              <a:t>tour-api:2758334 | 도마큰시장 | https://apis.data.go.kr/B551011/KorService2</a:t>
            </a:r>
          </a:p>
          <a:p>
            <a:r>
              <a:t>tour-api:1955818 | 도산서원(대전) | https://apis.data.go.kr/B551011/KorService2</a:t>
            </a:r>
          </a:p>
          <a:p>
            <a:r>
              <a:t>tour-api:2758341 | 둔산꽃시장 | https://apis.data.go.kr/B551011/KorService2</a:t>
            </a:r>
          </a:p>
          <a:p>
            <a:r>
              <a:t>tour-api:1623725 | 둔산전자타운 | https://apis.data.go.kr/B551011/KorService2</a:t>
            </a:r>
          </a:p>
          <a:p>
            <a:r>
              <a:t>tour-api:132661 | 롯데백화점 (대전점) | https://apis.data.go.kr/B551011/KorService2</a:t>
            </a:r>
          </a:p>
          <a:p>
            <a:r>
              <a:t>tour-api:2758646 | 마치광장 | https://apis.data.go.kr/B551011/KorService2</a:t>
            </a:r>
          </a:p>
          <a:p>
            <a:r>
              <a:t>tour-api:2899544 | 몽뜨 | https://apis.data.go.kr/B551011/KorService2</a:t>
            </a:r>
          </a:p>
          <a:p>
            <a:r>
              <a:t>tour-api:2865914 | 미세노센세 | https://apis.data.go.kr/B551011/KorService2</a:t>
            </a:r>
          </a:p>
          <a:p>
            <a:r>
              <a:t>reference:kto:2026:local-airport | 요즘, 한국관광 2호 - 지방공항 연계 지역관광 활성화 방안 | PDF 44쪽, PDF 40쪽, PDF 41쪽, PDF 41쪽, PDF 43쪽 | https://datalab.visitkorea.or.kr/site/portal/ex/bbs/View.do?bcIdx=311068&amp;cbIdx=1135&amp;pageIndex=1</a:t>
            </a:r>
          </a:p>
          <a:p>
            <a:r>
              <a:t>web:30170:1 | 한밭수목원 | 열린관광 모두의 여행 | https://access.visitkorea.or.kr/ms/detail.do?cotId=81cc7479-c010-4bdd-9a29-3121bb578cb8</a:t>
            </a:r>
          </a:p>
          <a:p>
            <a:r>
              <a:t>web:30170:2 | Hanbat Arboretum (한밭수목원) - VISITKOREA | https://english.visitkorea.or.kr/svc/contents/contentsView.do?vcontsId=82059</a:t>
            </a:r>
          </a:p>
          <a:p>
            <a:r>
              <a:t>web:30170:3 | 대전예술의전당 | 열린관광 모두의 여행 | https://access.visitkorea.or.kr/ms/detail.do?cotId=af31b729-4eda-469b-b4cc-73ea3a1c8028</a:t>
            </a:r>
          </a:p>
          <a:p>
            <a:r>
              <a:t>web:30170:4 | 한민시장 | 열린관광 모두의 여행 | https://access.visitkorea.or.kr/ms/detail.do?cotId=72bba786-e15a-478a-bc99-c9d15ff27727</a:t>
            </a:r>
          </a:p>
          <a:p>
            <a:r>
              <a:t>web:30170:5 | 장태산자연휴양림 - VISITKOREA | https://japanese.visitkorea.or.kr/svc/contents/contentsView.do?vcontsId=76300</a:t>
            </a:r>
          </a:p>
          <a:p>
            <a:r>
              <a:t>web:30170:6 | 여유롭고 안전한 오늘의 여행법 비대면(언택트) 관광지 100선 | https://korean.visitkorea.or.kr/detail/rem_detail.do?cotid=351f6cf4-d984-496f-886d-6fc538b226a7</a:t>
            </a:r>
          </a:p>
          <a:p>
            <a:r>
              <a:t>case:41508ca81cf29f | 한국관광 데이터랩 · 안동탈춤축제 방문자 추이 | https://datalab.visitkorea.or.kr/</a:t>
            </a:r>
          </a:p>
          <a:p>
            <a:r>
              <a:t>case:festival:01474ef75569b1 | 한국관광 데이터랩 · 문경찻사발축제 방문자 추이 | https://datalab.visitkorea.or.kr/</a:t>
            </a:r>
          </a:p>
          <a:p>
            <a:r>
              <a:t>case:gangjin_half_price_2024 | 강진 반값여행 지역경제 효과 소개 | https://jnfarm.jeonnam.go.kr/board/FARM_BOARD_008/boardView.do?bdId=BD_00000000000011721&amp;menuCd=farm004002</a:t>
            </a:r>
          </a:p>
          <a:p>
            <a:r>
              <a:t>case:4544b7bca8ebab | 요즘, 한국관광 2호 - 지방공항 연계 지역관광 활성화 방안 | https://datalab.visitkorea.or.kr/site/portal/ex/bbs/View.do?bcIdx=311068&amp;cbIdx=1135&amp;pageIndex=1</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case:night_festival_2025 | 2025 대한민국 밤밤페스타 개최 도시 및 일정 | https://korean.visitkorea.or.kr/detail/rem_detail.do?cotid=f9c636b2-dd7c-4f09-af3d-6af43b33d371</a:t>
            </a:r>
          </a:p>
          <a:p>
            <a:r>
              <a:t>case:festival:1ff9d11d3ee0ee | 한국관광 데이터랩 · 진도신비의바닷길축제 방문자 추이 | https://datalab.visitkorea.or.kr/</a:t>
            </a:r>
          </a:p>
          <a:p>
            <a:r>
              <a:t>case:festival:1ffc3eec28956a | 한국관광 데이터랩 · 통영한산대첩축제 방문자 추이 | https://datalab.visitkorea.or.kr/</a:t>
            </a:r>
          </a:p>
          <a:p>
            <a:r>
              <a:t>[/Sources]</a:t>
            </a:r>
          </a:p>
          <a:p>
            <a:r>
              <a:t>[Calculation audit]</a:t>
            </a:r>
          </a:p>
          <a:p>
            <a:r>
              <a:t>{</a:t>
            </a:r>
          </a:p>
          <a:p>
            <a:r>
              <a:t>  "source_inventory": [</a:t>
            </a:r>
          </a:p>
          <a:p>
            <a:r>
              <a:t>    {</a:t>
            </a:r>
          </a:p>
          <a:p>
            <a:r>
              <a:t>      "source_id": "dataset:30170:1",</a:t>
            </a:r>
          </a:p>
          <a:p>
            <a:r>
              <a:t>      "source_type": "dataset",</a:t>
            </a:r>
          </a:p>
          <a:p>
            <a:r>
              <a:t>      "title": "한국관광 데이터랩 · 대전광역시 서구 순 방문자 수 및 숙박 비율 (이동통신 기반 외지인)",</a:t>
            </a:r>
          </a:p>
          <a:p>
            <a:r>
              <a:t>      "source_url": "https://datalab.visitkorea.or.kr/",</a:t>
            </a:r>
          </a:p>
          <a:p>
            <a:r>
              <a:t>      "summary": "월간 순 방문자 수: 4,619,168명 (관측 기준월: 2026-06)",</a:t>
            </a:r>
          </a:p>
          <a:p>
            <a:r>
              <a:t>      "observation_period": "2026-06",</a:t>
            </a:r>
          </a:p>
          <a:p>
            <a:r>
              <a:t>      "published_or_updated_at": "2026-06"</a:t>
            </a:r>
          </a:p>
          <a:p>
            <a:r>
              <a:t>    },</a:t>
            </a:r>
          </a:p>
          <a:p>
            <a:r>
              <a:t>    {</a:t>
            </a:r>
          </a:p>
          <a:p>
            <a:r>
              <a:t>      "source_id": "dataset:30170:2",</a:t>
            </a:r>
          </a:p>
          <a:p>
            <a:r>
              <a:t>      "source_type": "dataset",</a:t>
            </a:r>
          </a:p>
          <a:p>
            <a:r>
              <a:t>      "title": "한국관광 데이터랩 · 대전광역시 서구 월간 순 방문자 수 (이동통신 기반 외지인)",</a:t>
            </a:r>
          </a:p>
          <a:p>
            <a:r>
              <a:t>      "source_url": "https://datalab.visitkorea.or.kr/",</a:t>
            </a:r>
          </a:p>
          <a:p>
            <a:r>
              <a:t>      "summary": "전년동월 외지인 방문자 증감률: -3.5% (관측 기준월: 2026-06)",</a:t>
            </a:r>
          </a:p>
          <a:p>
            <a:r>
              <a:t>      "observation_period": "2026-06",</a:t>
            </a:r>
          </a:p>
          <a:p>
            <a:r>
              <a:t>      "published_or_updated_at": "2026-06"</a:t>
            </a:r>
          </a:p>
          <a:p>
            <a:r>
              <a:t>    },</a:t>
            </a:r>
          </a:p>
          <a:p>
            <a:r>
              <a:t>    {</a:t>
            </a:r>
          </a:p>
          <a:p>
            <a:r>
              <a:t>      "source_id": "dataset:30170:3",</a:t>
            </a:r>
          </a:p>
          <a:p>
            <a:r>
              <a:t>      "source_type": "dataset",</a:t>
            </a:r>
          </a:p>
          <a:p>
            <a:r>
              <a:t>      "title": "한국관광 데이터랩 · 대전광역시 서구 관광소비 추이_외지인",</a:t>
            </a:r>
          </a:p>
          <a:p>
            <a:r>
              <a:t>      "source_url": "https://datalab.visitkorea.or.kr/",</a:t>
            </a:r>
          </a:p>
          <a:p>
            <a:r>
              <a:t>      "summary": "월간 외지인 관광소비 총액: 76,758,413,000원 (관측 기준월: 2026-06)",</a:t>
            </a:r>
          </a:p>
          <a:p>
            <a:r>
              <a:t>      "observation_period": "2026-06",</a:t>
            </a:r>
          </a:p>
          <a:p>
            <a:r>
              <a:t>      "published_or_updated_at": "2026-06"</a:t>
            </a:r>
          </a:p>
          <a:p>
            <a:r>
              <a:t>    },</a:t>
            </a:r>
          </a:p>
          <a:p>
            <a:r>
              <a:t>    {</a:t>
            </a:r>
          </a:p>
          <a:p>
            <a:r>
              <a:t>      "source_id": "dataset:30170:4",</a:t>
            </a:r>
          </a:p>
          <a:p>
            <a:r>
              <a:t>      "source_type": "dataset",</a:t>
            </a:r>
          </a:p>
          <a:p>
            <a:r>
              <a:t>      "title": "한국관광 데이터랩 · 대전광역시 서구 숙박방문자 비율 추이 (이동통신 기반 외지인)",</a:t>
            </a:r>
          </a:p>
          <a:p>
            <a:r>
              <a:t>      "source_url": "https://datalab.visitkorea.or.kr/",</a:t>
            </a:r>
          </a:p>
          <a:p>
            <a:r>
              <a:t>      "summary": "외지인 숙박 방문 비율: 6.7% (관측 기준월: 2026-06)",</a:t>
            </a:r>
          </a:p>
          <a:p>
            <a:r>
              <a:t>      "observation_period": "2026-06",</a:t>
            </a:r>
          </a:p>
          <a:p>
            <a:r>
              <a:t>      "published_or_updated_at": "2026-06"</a:t>
            </a:r>
          </a:p>
          <a:p>
            <a:r>
              <a:t>    },</a:t>
            </a:r>
          </a:p>
          <a:p>
            <a:r>
              <a:t>    {</a:t>
            </a:r>
          </a:p>
          <a:p>
            <a:r>
              <a:t>      "source_id": "dataset:30170:5",</a:t>
            </a:r>
          </a:p>
          <a:p>
            <a:r>
              <a:t>      "source_type": "dataset",</a:t>
            </a:r>
          </a:p>
          <a:p>
            <a:r>
              <a:t>      "title": "한국관광 데이터랩 · 대전광역시 서구 평균 숙박일 (이동통신 기반 외지인)",</a:t>
            </a:r>
          </a:p>
          <a:p>
            <a:r>
              <a:t>      "source_url": "https://datalab.visitkorea.or.kr/",</a:t>
            </a:r>
          </a:p>
          <a:p>
            <a:r>
              <a:t>      "summary": "외지인 평균 숙박일수: 2.81일 (관측 기준월: 2026-06)",</a:t>
            </a:r>
          </a:p>
          <a:p>
            <a:r>
              <a:t>      "observation_period": "2026-06",</a:t>
            </a:r>
          </a:p>
          <a:p>
            <a:r>
              <a:t>      "published_or_updated_at": "2026-06"</a:t>
            </a:r>
          </a:p>
          <a:p>
            <a:r>
              <a:t>    },</a:t>
            </a:r>
          </a:p>
          <a:p>
            <a:r>
              <a:t>    {</a:t>
            </a:r>
          </a:p>
          <a:p>
            <a:r>
              <a:t>      "source_id": "dataset:30170:6",</a:t>
            </a:r>
          </a:p>
          <a:p>
            <a:r>
              <a:t>      "source_type": "dataset",</a:t>
            </a:r>
          </a:p>
          <a:p>
            <a:r>
              <a:t>      "title": "한국관광 데이터랩 · 대전광역시 서구 내비게이션 목적지 유형별 검색량",</a:t>
            </a:r>
          </a:p>
          <a:p>
            <a:r>
              <a:t>      "source_url": "https://datalab.visitkorea.or.kr/",</a:t>
            </a:r>
          </a:p>
          <a:p>
            <a:r>
              <a:t>      "summary": "내비게이션 목적지 검색량: 191,346건 (관측 기준월: 2026-06)",</a:t>
            </a:r>
          </a:p>
          <a:p>
            <a:r>
              <a:t>      "observation_period": "2026-06",</a:t>
            </a:r>
          </a:p>
          <a:p>
            <a:r>
              <a:t>      "published_or_updated_at": "2026-06"</a:t>
            </a:r>
          </a:p>
          <a:p>
            <a:r>
              <a:t>    },</a:t>
            </a:r>
          </a:p>
          <a:p>
            <a:r>
              <a:t>    {</a:t>
            </a:r>
          </a:p>
          <a:p>
            <a:r>
              <a:t>      "source_id": "dataset:30170:7",</a:t>
            </a:r>
          </a:p>
          <a:p>
            <a:r>
              <a:t>      "source_type": "dataset",</a:t>
            </a:r>
          </a:p>
          <a:p>
            <a:r>
              <a:t>      "title": "한국관광 데이터랩 · 대전광역시 서구 SNS 언급량",</a:t>
            </a:r>
          </a:p>
          <a:p>
            <a:r>
              <a:t>      "source_url": "https://datalab.visitkorea.or.kr/",</a:t>
            </a:r>
          </a:p>
          <a:p>
            <a:r>
              <a:t>      "summary": "SNS 언급량: 54,388건 (관측 기준월: 2026-06)",</a:t>
            </a:r>
          </a:p>
          <a:p>
            <a:r>
              <a:t>      "observation_period": "2026-06",</a:t>
            </a:r>
          </a:p>
          <a:p>
            <a:r>
              <a:t>      "published_or_updated_at": "2026-06"</a:t>
            </a:r>
          </a:p>
          <a:p>
            <a:r>
              <a:t>    },</a:t>
            </a:r>
          </a:p>
          <a:p>
            <a:r>
              <a:t>    {</a:t>
            </a:r>
          </a:p>
          <a:p>
            <a:r>
              <a:t>      "source_id": "datalab:12c41f8a3e52:f92921dca662",</a:t>
            </a:r>
          </a:p>
          <a:p>
            <a:r>
              <a:t>      "source_type": "nationwide_dataset",</a:t>
            </a:r>
          </a:p>
          <a:p>
            <a:r>
              <a:t>      "title": "한국관광 데이터랩 공식 다운로드 · 대전광역시_서구/방문자/2025_01_12.zip",</a:t>
            </a:r>
          </a:p>
          <a:p>
            <a:r>
              <a:t>      "source_url": "https://datalab.visitkorea.or.kr/",</a:t>
            </a:r>
          </a:p>
          <a:p>
            <a:r>
              <a:t>      "summary": "전국 비교 기준 기간: 2025-07 ~ 2026-06",</a:t>
            </a:r>
          </a:p>
          <a:p>
            <a:r>
              <a:t>      "observation_period": "2025-07 ~ 2026-06",</a:t>
            </a:r>
          </a:p>
          <a:p>
            <a:r>
              <a:t>      "published_or_updated_at": "2024-07 ~ 2025-06",</a:t>
            </a:r>
          </a:p>
          <a:p>
            <a:r>
              <a:t>      "source_file_name": "대전광역시_서구/방문자/2025_01_12.zip"</a:t>
            </a:r>
          </a:p>
          <a:p>
            <a:r>
              <a:t>    },</a:t>
            </a:r>
          </a:p>
          <a:p>
            <a:r>
              <a:t>    {</a:t>
            </a:r>
          </a:p>
          <a:p>
            <a:r>
              <a:t>      "source_id": "datalab:162285800b98:dbba3ac2e220",</a:t>
            </a:r>
          </a:p>
          <a:p>
            <a:r>
              <a:t>      "source_type": "nationwide_dataset",</a:t>
            </a:r>
          </a:p>
          <a:p>
            <a:r>
              <a:t>      "title": "한국관광 데이터랩 공식 다운로드 · 대전광역시_서구/관광소비/2025_01_12.zip",</a:t>
            </a:r>
          </a:p>
          <a:p>
            <a:r>
              <a:t>      "source_url": "https://datalab.visitkorea.or.kr/",</a:t>
            </a:r>
          </a:p>
          <a:p>
            <a:r>
              <a:t>      "summary": "전국 비교 기준 기간: 2025-07 ~ 2026-06",</a:t>
            </a:r>
          </a:p>
          <a:p>
            <a:r>
              <a:t>      "observation_period": "2025-07 ~ 2026-06",</a:t>
            </a:r>
          </a:p>
          <a:p>
            <a:r>
              <a:t>      "published_or_updated_at": "2024-07 ~ 2025-06",</a:t>
            </a:r>
          </a:p>
          <a:p>
            <a:r>
              <a:t>      "source_file_name": "대전광역시_서구/관광소비/2025_01_12.zip"</a:t>
            </a:r>
          </a:p>
          <a:p>
            <a:r>
              <a:t>    },</a:t>
            </a:r>
          </a:p>
          <a:p>
            <a:r>
              <a:t>    {</a:t>
            </a:r>
          </a:p>
          <a:p>
            <a:r>
              <a:t>      "source_id": "datalab:1bec5b4405e1:6c5494eef7c6",</a:t>
            </a:r>
          </a:p>
          <a:p>
            <a:r>
              <a:t>      "source_type": "nationwide_dataset",</a:t>
            </a:r>
          </a:p>
          <a:p>
            <a:r>
              <a:t>      "title": "한국관광 데이터랩 공식 다운로드 · 대전광역시_서구/숙박_체류시간/2025_01_12.zip",</a:t>
            </a:r>
          </a:p>
          <a:p>
            <a:r>
              <a:t>      "source_url": "https://datalab.visitkorea.or.kr/",</a:t>
            </a:r>
          </a:p>
          <a:p>
            <a:r>
              <a:t>      "summary": "전국 비교 기준 기간: 2025-07 ~ 2026-06",</a:t>
            </a:r>
          </a:p>
          <a:p>
            <a:r>
              <a:t>      "observation_period": "2025-07 ~ 2026-06",</a:t>
            </a:r>
          </a:p>
          <a:p>
            <a:r>
              <a:t>      "published_or_updated_at": "2024-07 ~ 2025-06",</a:t>
            </a:r>
          </a:p>
          <a:p>
            <a:r>
              <a:t>      "source_file_name": "대전광역시_서구/숙박_체류시간/2025_01_12.zip"</a:t>
            </a:r>
          </a:p>
          <a:p>
            <a:r>
              <a:t>    },</a:t>
            </a:r>
          </a:p>
          <a:p>
            <a:r>
              <a:t>    {</a:t>
            </a:r>
          </a:p>
          <a:p>
            <a:r>
              <a:t>      "source_id": "datalab:7a4db91d6ba9:d81294f3e5a0",</a:t>
            </a:r>
          </a:p>
          <a:p>
            <a:r>
              <a:t>      "source_type": "nationwide_dataset",</a:t>
            </a:r>
          </a:p>
          <a:p>
            <a:r>
              <a:t>      "title": "한국관광 데이터랩 공식 다운로드 · 대전광역시_서구/관광소비/2026_01_06.zip",</a:t>
            </a:r>
          </a:p>
          <a:p>
            <a:r>
              <a:t>      "source_url": "https://datalab.visitkorea.or.kr/",</a:t>
            </a:r>
          </a:p>
          <a:p>
            <a:r>
              <a:t>      "summary": "전국 비교 기준 기간: 2025-07 ~ 2026-06",</a:t>
            </a:r>
          </a:p>
          <a:p>
            <a:r>
              <a:t>      "observation_period": "2025-07 ~ 2026-06",</a:t>
            </a:r>
          </a:p>
          <a:p>
            <a:r>
              <a:t>      "published_or_updated_at": "2024-07 ~ 2025-06",</a:t>
            </a:r>
          </a:p>
          <a:p>
            <a:r>
              <a:t>      "source_file_name": "대전광역시_서구/관광소비/2026_01_06.zip"</a:t>
            </a:r>
          </a:p>
          <a:p>
            <a:r>
              <a:t>    },</a:t>
            </a:r>
          </a:p>
          <a:p>
            <a:r>
              <a:t>    {</a:t>
            </a:r>
          </a:p>
          <a:p>
            <a:r>
              <a:t>      "source_id": "datalab:cc1dc8fb5607:77f3b69cfb89",</a:t>
            </a:r>
          </a:p>
          <a:p>
            <a:r>
              <a:t>      "source_type": "nationwide_dataset",</a:t>
            </a:r>
          </a:p>
          <a:p>
            <a:r>
              <a:t>      "title": "한국관광 데이터랩 공식 다운로드 · 대전광역시_서구/방문자/2026_01_06.zip",</a:t>
            </a:r>
          </a:p>
          <a:p>
            <a:r>
              <a:t>      "source_url": "https://datalab.visitkorea.or.kr/",</a:t>
            </a:r>
          </a:p>
          <a:p>
            <a:r>
              <a:t>      "summary": "전국 비교 기준 기간: 2025-07 ~ 2026-06",</a:t>
            </a:r>
          </a:p>
          <a:p>
            <a:r>
              <a:t>      "observation_period": "2025-07 ~ 2026-06",</a:t>
            </a:r>
          </a:p>
          <a:p>
            <a:r>
              <a:t>      "published_or_updated_at": "2024-07 ~ 2025-06",</a:t>
            </a:r>
          </a:p>
          <a:p>
            <a:r>
              <a:t>      "source_file_name": "대전광역시_서구/방문자/2026_01_06.zip"</a:t>
            </a:r>
          </a:p>
          <a:p>
            <a:r>
              <a:t>    },</a:t>
            </a:r>
          </a:p>
          <a:p>
            <a:r>
              <a:t>    {</a:t>
            </a:r>
          </a:p>
          <a:p>
            <a:r>
              <a:t>      "source_id": "datalab:e53d144382ee:fc025995a6df",</a:t>
            </a:r>
          </a:p>
          <a:p>
            <a:r>
              <a:t>      "source_type": "nationwide_dataset",</a:t>
            </a:r>
          </a:p>
          <a:p>
            <a:r>
              <a:t>      "title": "한국관광 데이터랩 공식 다운로드 · 대전광역시_서구/숙박_체류시간/2026_01_06.zip",</a:t>
            </a:r>
          </a:p>
          <a:p>
            <a:r>
              <a:t>      "source_url": "https://datalab.visitkorea.or.kr/",</a:t>
            </a:r>
          </a:p>
          <a:p>
            <a:r>
              <a:t>      "summary": "전국 비교 기준 기간: 2025-07 ~ 2026-06",</a:t>
            </a:r>
          </a:p>
          <a:p>
            <a:r>
              <a:t>      "observation_period": "2025-07 ~ 2026-06",</a:t>
            </a:r>
          </a:p>
          <a:p>
            <a:r>
              <a:t>      "published_or_updated_at": "2024-07 ~ 2025-06",</a:t>
            </a:r>
          </a:p>
          <a:p>
            <a:r>
              <a:t>      "source_file_name": "대전광역시_서구/숙박_체류시간/2026_01_06.zip"</a:t>
            </a:r>
          </a:p>
          <a:p>
            <a:r>
              <a:t>    },</a:t>
            </a:r>
          </a:p>
          <a:p>
            <a:r>
              <a:t>    {</a:t>
            </a:r>
          </a:p>
          <a:p>
            <a:r>
              <a:t>      "source_id": "team-bigdata:23ea68053684:6bfbcf8aabf6",</a:t>
            </a:r>
          </a:p>
          <a:p>
            <a:r>
              <a:t>      "source_type": "nationwide_bigdata_dataset",</a:t>
            </a:r>
          </a:p>
          <a:p>
            <a:r>
              <a:t>      "title": "한국관광 데이터랩 전국 빅데이터 다운로드 · 이동통신/내국인/지역별 방문자수/20260820140607__202601-202606_데이터랩_다운로드.zip",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"이동통신/내국인/지역별 방문자수/20260820140607__202601-202606_데이터랩_다운로드.zip"</a:t>
            </a:r>
          </a:p>
          <a:p>
            <a:r>
              <a:t>    },</a:t>
            </a:r>
          </a:p>
          <a:p>
            <a:r>
              <a:t>    {</a:t>
            </a:r>
          </a:p>
          <a:p>
            <a:r>
              <a:t>      "source_id": "team-bigdata:98d4ae590d9a:3be52dd54323",</a:t>
            </a:r>
          </a:p>
          <a:p>
            <a:r>
              <a:t>      "source_type": "nationwide_bigdata_dataset",</a:t>
            </a:r>
          </a:p>
          <a:p>
            <a:r>
              <a:t>      "title": "한국관광 데이터랩 전국 빅데이터 다운로드 · 이동통신/외국인/20260820141710_전국_202601-202606_데이터랩_다운로드.zip",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"이동통신/외국인/20260820141710_전국_202601-202606_데이터랩_다운로드.zip"</a:t>
            </a:r>
          </a:p>
          <a:p>
            <a:r>
              <a:t>    },</a:t>
            </a:r>
          </a:p>
          <a:p>
            <a:r>
              <a:t>    {</a:t>
            </a:r>
          </a:p>
          <a:p>
            <a:r>
              <a:t>      "source_id": "team-bigdata:367cd0294ec4:873930d645e5",</a:t>
            </a:r>
          </a:p>
          <a:p>
            <a:r>
              <a:t>      "source_type": "nationwide_bigdata_dataset",</a:t>
            </a:r>
          </a:p>
          <a:p>
            <a:r>
              <a:t>      "title": "한국관광 데이터랩 전국 빅데이터 다운로드 · 신용카드/내국인/지역별 관광지출액/20260820140046__202601-202606_데이터랩_다운로드.zip",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"신용카드/내국인/지역별 관광지출액/20260820140046__202601-202606_데이터랩_다운로드.zip"</a:t>
            </a:r>
          </a:p>
          <a:p>
            <a:r>
              <a:t>    },</a:t>
            </a:r>
          </a:p>
          <a:p>
            <a:r>
              <a:t>    {</a:t>
            </a:r>
          </a:p>
          <a:p>
            <a:r>
              <a:t>      "source_id": "team-bigdata:553a0dad4bb4:5a31355dffe8",</a:t>
            </a:r>
          </a:p>
          <a:p>
            <a:r>
              <a:t>      "source_type": "nationwide_bigdata_dataset",</a:t>
            </a:r>
          </a:p>
          <a:p>
            <a:r>
              <a:t>      "title": "한국관광 데이터랩 전국 빅데이터 다운로드 · 신용카드/외국인/지역별 관광지출액/20260820140355__202601-202606_데이터랩_다운로드.zip",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"신용카드/외국인/지역별 관광지출액/20260820140355__202601-202606_데이터랩_다운로드.zip"</a:t>
            </a:r>
          </a:p>
          <a:p>
            <a:r>
              <a:t>    },</a:t>
            </a:r>
          </a:p>
          <a:p>
            <a:r>
              <a:t>    {</a:t>
            </a:r>
          </a:p>
          <a:p>
            <a:r>
              <a:t>      "source_id": "team-bigdata:a53dbe1c21df:77a052de41d5",</a:t>
            </a:r>
          </a:p>
          <a:p>
            <a:r>
              <a:t>      "source_type": "nationwide_bigdata_dataset",</a:t>
            </a:r>
          </a:p>
          <a:p>
            <a:r>
              <a:t>      "title": "한국관광 데이터랩 전국 빅데이터 다운로드 · 네비게이션/지역별 검색건수/20260820195507__202601-202606_데이터랩_다운로드.zip",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"네비게이션/지역별 검색건수/20260820195507__202601-202606_데이터랩_다운로드.zip"</a:t>
            </a:r>
          </a:p>
          <a:p>
            <a:r>
              <a:t>    },</a:t>
            </a:r>
          </a:p>
          <a:p>
            <a:r>
              <a:t>    {</a:t>
            </a:r>
          </a:p>
          <a:p>
            <a:r>
              <a:t>      "source_id": "team-bigdata:823a38d1d61c:5385261d02e5",</a:t>
            </a:r>
          </a:p>
          <a:p>
            <a:r>
              <a:t>      "source_type": "nationwide_bigdata_dataset",</a:t>
            </a:r>
          </a:p>
          <a:p>
            <a:r>
              <a:t>      "title": "한국관광 데이터랩 전국 빅데이터 다운로드 · 이동통신/내국인/지역별 방문자수/20260820140614__202501-202512_데이터랩_다운로드.zip",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"이동통신/내국인/지역별 방문자수/20260820140614__202501-202512_데이터랩_다운로드.zip"</a:t>
            </a:r>
          </a:p>
          <a:p>
            <a:r>
              <a:t>    },</a:t>
            </a:r>
          </a:p>
          <a:p>
            <a:r>
              <a:t>    {</a:t>
            </a:r>
          </a:p>
          <a:p>
            <a:r>
              <a:t>      "source_id": "team-bigdata:2723bdb0d589:1666a34058ed",</a:t>
            </a:r>
          </a:p>
          <a:p>
            <a:r>
              <a:t>      "source_type": "nationwide_bigdata_dataset",</a:t>
            </a:r>
          </a:p>
          <a:p>
            <a:r>
              <a:t>      "title": "한국관광 데이터랩 전국 빅데이터 다운로드 · 이동통신/외국인/20260820141649_전국_202501-202512_데이터랩_다운로드.zip",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"이동통신/외국인/20260820141649_전국_202501-202512_데이터랩_다운로드.zip"</a:t>
            </a:r>
          </a:p>
          <a:p>
            <a:r>
              <a:t>    },</a:t>
            </a:r>
          </a:p>
          <a:p>
            <a:r>
              <a:t>    {</a:t>
            </a:r>
          </a:p>
          <a:p>
            <a:r>
              <a:t>      "source_id": "team-bigdata:83177a234971:c02cb7972e0f",</a:t>
            </a:r>
          </a:p>
          <a:p>
            <a:r>
              <a:t>      "source_type": "nationwide_bigdata_dataset",</a:t>
            </a:r>
          </a:p>
          <a:p>
            <a:r>
              <a:t>      "title": "한국관광 데이터랩 전국 빅데이터 다운로드 · 신용카드/내국인/지역별 관광지출액/20260820135957__202501-202512_데이터랩_다운로드.zip",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"신용카드/내국인/지역별 관광지출액/20260820135957__202501-202512_데이터랩_다운로드.zip"</a:t>
            </a:r>
          </a:p>
          <a:p>
            <a:r>
              <a:t>    },</a:t>
            </a:r>
          </a:p>
          <a:p>
            <a:r>
              <a:t>    {</a:t>
            </a:r>
          </a:p>
          <a:p>
            <a:r>
              <a:t>      "source_id": "team-bigdata:58ded7732251:589c76395cbc",</a:t>
            </a:r>
          </a:p>
          <a:p>
            <a:r>
              <a:t>      "source_type": "nationwide_bigdata_dataset",</a:t>
            </a:r>
          </a:p>
          <a:p>
            <a:r>
              <a:t>      "title": "한국관광 데이터랩 전국 빅데이터 다운로드 · 신용카드/외국인/지역별 관광지출액/20260820140409__202501-202512_데이터랩_다운로드.zip",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"신용카드/외국인/지역별 관광지출액/20260820140409__202501-202512_데이터랩_다운로드.zip"</a:t>
            </a:r>
          </a:p>
          <a:p>
            <a:r>
              <a:t>    },</a:t>
            </a:r>
          </a:p>
          <a:p>
            <a:r>
              <a:t>    {</a:t>
            </a:r>
          </a:p>
          <a:p>
            <a:r>
              <a:t>      "source_id": "team-bigdata:e28c947cb52f:bb4cb344a6ba",</a:t>
            </a:r>
          </a:p>
          <a:p>
            <a:r>
              <a:t>      "source_type": "nationwide_bigdata_dataset",</a:t>
            </a:r>
          </a:p>
          <a:p>
            <a:r>
              <a:t>      "title": "한국관광 데이터랩 전국 빅데이터 다운로드 · 네비게이션/지역별 검색건수/20260820132007__202501-202512_데이터랩_다운로드.zip",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"네비게이션/지역별 검색건수/20260820132007__202501-202512_데이터랩_다운로드.zip"</a:t>
            </a:r>
          </a:p>
          <a:p>
            <a:r>
              <a:t>    },</a:t>
            </a:r>
          </a:p>
          <a:p>
            <a:r>
              <a:t>    {</a:t>
            </a:r>
          </a:p>
          <a:p>
            <a:r>
              <a:t>      "source_id": "team-bigdata:8815bbb11a39:1a5988f5f8ec",</a:t>
            </a:r>
          </a:p>
          <a:p>
            <a:r>
              <a:t>      "source_type": "nationwide_bigdata_dataset",</a:t>
            </a:r>
          </a:p>
          <a:p>
            <a:r>
              <a:t>      "title": "한국관광 데이터랩 전국 빅데이터 다운로드 · 이동통신/내국인/지역별 방문자수/20260820140624__202401-202412_데이터랩_다운로드.zip",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"이동통신/내국인/지역별 방문자수/20260820140624__202401-202412_데이터랩_다운로드.zip"</a:t>
            </a:r>
          </a:p>
          <a:p>
            <a:r>
              <a:t>    },</a:t>
            </a:r>
          </a:p>
          <a:p>
            <a:r>
              <a:t>    {</a:t>
            </a:r>
          </a:p>
          <a:p>
            <a:r>
              <a:t>      "source_id": "team-bigdata:19fd67fbb73d:afa4f0f54a2f",</a:t>
            </a:r>
          </a:p>
          <a:p>
            <a:r>
              <a:t>      "source_type": "nationwide_bigdata_dataset",</a:t>
            </a:r>
          </a:p>
          <a:p>
            <a:r>
              <a:t>      "title": "한국관광 데이터랩 전국 빅데이터 다운로드 · 이동통신/외국인/20260820141639_전국_202401-202412_데이터랩_다운로드.zip",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"이동통신/외국인/20260820141639_전국_202401-202412_데이터랩_다운로드.zip"</a:t>
            </a:r>
          </a:p>
          <a:p>
            <a:r>
              <a:t>    },</a:t>
            </a:r>
          </a:p>
          <a:p>
            <a:r>
              <a:t>    {</a:t>
            </a:r>
          </a:p>
          <a:p>
            <a:r>
              <a:t>      "source_id": "regional-status:0c68fedc2071:0ad82310f803",</a:t>
            </a:r>
          </a:p>
          <a:p>
            <a:r>
              <a:t>      "source_type": "regional_tourism_status",</a:t>
            </a:r>
          </a:p>
          <a:p>
            <a:r>
              <a:t>      "title": "한국관광 데이터랩 지역별 관광 현황 · 대전광역시 서구 · 지역집중률",</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"regional-status:4cddd6aa75d4:be8b01ec64e2",</a:t>
            </a:r>
          </a:p>
          <a:p>
            <a:r>
              <a:t>      "source_type": "regional_tourism_status",</a:t>
            </a:r>
          </a:p>
          <a:p>
            <a:r>
              <a:t>      "title": "한국관광 데이터랩 지역별 관광 현황 · 대전광역시 서구 · 유입유출",</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"regional-status:8c9a813e95eb:5e0cc3f56b73",</a:t>
            </a:r>
          </a:p>
          <a:p>
            <a:r>
              <a:t>      "source_type": "regional_tourism_status",</a:t>
            </a:r>
          </a:p>
          <a:p>
            <a:r>
              <a:t>      "title": "한국관광 데이터랩 지역별 관광 현황 · 대전광역시 서구 · 인기관광지",</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"ml:30170:regional-demand-v3.1:202606",</a:t>
            </a:r>
          </a:p>
          <a:p>
            <a:r>
              <a:t>      "source_type": "model_forecast",</a:t>
            </a:r>
          </a:p>
          <a:p>
            <a:r>
              <a:t>      "title": "지역 관광수요 ML 전망 · 공식 관측값 아님",</a:t>
            </a:r>
          </a:p>
          <a:p>
            <a:r>
              <a:t>      "source_url": "",</a:t>
            </a:r>
          </a:p>
          <a:p>
            <a:r>
              <a:t>      "summary": "학습 202401~202606 · 모델 regional-demand-v3.1 · 자연 추세 예측",</a:t>
            </a:r>
          </a:p>
          <a:p>
            <a:r>
              <a:t>      "model_version": "regional-demand-v3.1",</a:t>
            </a:r>
          </a:p>
          <a:p>
            <a:r>
              <a:t>      "data_fingerprint": "edea7fa8270d3b72aee15e6816efec3fce699e1bab55ebd844a10870c2f0e0a0"</a:t>
            </a:r>
          </a:p>
          <a:p>
            <a:r>
              <a:t>    },</a:t>
            </a:r>
          </a:p>
          <a:p>
            <a:r>
              <a:t>    {</a:t>
            </a:r>
          </a:p>
          <a:p>
            <a:r>
              <a:t>      "source_id": "tour-api:2899643",</a:t>
            </a:r>
          </a:p>
          <a:p>
            <a:r>
              <a:t>      "source_type": "open_api",</a:t>
            </a:r>
          </a:p>
          <a:p>
            <a:r>
              <a:t>      "title": "갈마짬뽕",</a:t>
            </a:r>
          </a:p>
          <a:p>
            <a:r>
              <a:t>      "source_url": "https://apis.data.go.kr/B551011/KorService2",</a:t>
            </a:r>
          </a:p>
          <a:p>
            <a:r>
              <a:t>      "content_id": "2899643",</a:t>
            </a:r>
          </a:p>
          <a:p>
            <a:r>
              <a:t>      "content_type_id": "39",</a:t>
            </a:r>
          </a:p>
          <a:p>
            <a:r>
              <a:t>      "address": "대전광역시 서구 월평동로 5-11 (갈마동)",</a:t>
            </a:r>
          </a:p>
          <a:p>
            <a:r>
              <a:t>      "image_url": "http://tong.visitkorea.or.kr/cms/resource/38/2899638_image2_1.jpg",</a:t>
            </a:r>
          </a:p>
          <a:p>
            <a:r>
              <a:t>      "summary": "한국관광공사 국문관광정보 API가 반환한 선택 지역 관광자원"</a:t>
            </a:r>
          </a:p>
          <a:p>
            <a:r>
              <a:t>    },</a:t>
            </a:r>
          </a:p>
          <a:p>
            <a:r>
              <a:t>    {</a:t>
            </a:r>
          </a:p>
          <a:p>
            <a:r>
              <a:t>      "source_id": "tour-api:2899637",</a:t>
            </a:r>
          </a:p>
          <a:p>
            <a:r>
              <a:t>      "source_type": "open_api",</a:t>
            </a:r>
          </a:p>
          <a:p>
            <a:r>
              <a:t>      "title": "관저당",</a:t>
            </a:r>
          </a:p>
          <a:p>
            <a:r>
              <a:t>      "source_url": "https://apis.data.go.kr/B551011/KorService2",</a:t>
            </a:r>
          </a:p>
          <a:p>
            <a:r>
              <a:t>      "content_id": "2899637",</a:t>
            </a:r>
          </a:p>
          <a:p>
            <a:r>
              <a:t>      "content_type_id": "39",</a:t>
            </a:r>
          </a:p>
          <a:p>
            <a:r>
              <a:t>      "address": "대전광역시 서구 구봉산북로21번길 11 (관저동)",</a:t>
            </a:r>
          </a:p>
          <a:p>
            <a:r>
              <a:t>      "image_url": "http://tong.visitkorea.or.kr/cms/resource/36/2899636_image2_1.jpg",</a:t>
            </a:r>
          </a:p>
          <a:p>
            <a:r>
              <a:t>      "summary": "한국관광공사 국문관광정보 API가 반환한 선택 지역 관광자원"</a:t>
            </a:r>
          </a:p>
          <a:p>
            <a:r>
              <a:t>    },</a:t>
            </a:r>
          </a:p>
          <a:p>
            <a:r>
              <a:t>    {</a:t>
            </a:r>
          </a:p>
          <a:p>
            <a:r>
              <a:t>      "source_id": "tour-api:1932079",</a:t>
            </a:r>
          </a:p>
          <a:p>
            <a:r>
              <a:t>      "source_type": "open_api",</a:t>
            </a:r>
          </a:p>
          <a:p>
            <a:r>
              <a:t>      "title": "굿모닝레지던스호텔휴",</a:t>
            </a:r>
          </a:p>
          <a:p>
            <a:r>
              <a:t>      "source_url": "https://apis.data.go.kr/B551011/KorService2",</a:t>
            </a:r>
          </a:p>
          <a:p>
            <a:r>
              <a:t>      "content_id": "1932079",</a:t>
            </a:r>
          </a:p>
          <a:p>
            <a:r>
              <a:t>      "content_type_id": "32",</a:t>
            </a:r>
          </a:p>
          <a:p>
            <a:r>
              <a:t>      "address": "대전광역시 서구 둔산로73번길 21 (둔산동)",</a:t>
            </a:r>
          </a:p>
          <a:p>
            <a:r>
              <a:t>      "image_url": "http://tong.visitkorea.or.kr/cms/resource/87/2584687_image2_1.jpg",</a:t>
            </a:r>
          </a:p>
          <a:p>
            <a:r>
              <a:t>      "summary": "한국관광공사 국문관광정보 API가 반환한 선택 지역 관광자원"</a:t>
            </a:r>
          </a:p>
          <a:p>
            <a:r>
              <a:t>    },</a:t>
            </a:r>
          </a:p>
          <a:p>
            <a:r>
              <a:t>    {</a:t>
            </a:r>
          </a:p>
          <a:p>
            <a:r>
              <a:t>      "source_id": "tour-api:133881",</a:t>
            </a:r>
          </a:p>
          <a:p>
            <a:r>
              <a:t>      "source_type": "open_api",</a:t>
            </a:r>
          </a:p>
          <a:p>
            <a:r>
              <a:t>      "title": "귀빈돌솥밥",</a:t>
            </a:r>
          </a:p>
          <a:p>
            <a:r>
              <a:t>      "source_url": "https://apis.data.go.kr/B551011/KorService2",</a:t>
            </a:r>
          </a:p>
          <a:p>
            <a:r>
              <a:t>      "content_id": "133881",</a:t>
            </a:r>
          </a:p>
          <a:p>
            <a:r>
              <a:t>      "content_type_id": "39",</a:t>
            </a:r>
          </a:p>
          <a:p>
            <a:r>
              <a:t>      "address": "대전광역시 서구 만년로68번길 21",</a:t>
            </a:r>
          </a:p>
          <a:p>
            <a:r>
              <a:t>      "image_url": "http://tong.visitkorea.or.kr/cms/resource/72/3060272_image2_1.JPG",</a:t>
            </a:r>
          </a:p>
          <a:p>
            <a:r>
              <a:t>      "summary": "한국관광공사 국문관광정보 API가 반환한 선택 지역 관광자원"</a:t>
            </a:r>
          </a:p>
          <a:p>
            <a:r>
              <a:t>    },</a:t>
            </a:r>
          </a:p>
          <a:p>
            <a:r>
              <a:t>    {</a:t>
            </a:r>
          </a:p>
          <a:p>
            <a:r>
              <a:t>      "source_id": "tour-api:2758252",</a:t>
            </a:r>
          </a:p>
          <a:p>
            <a:r>
              <a:t>      "source_type": "open_api",</a:t>
            </a:r>
          </a:p>
          <a:p>
            <a:r>
              <a:t>      "title": "남선공원",</a:t>
            </a:r>
          </a:p>
          <a:p>
            <a:r>
              <a:t>      "source_url": "https://apis.data.go.kr/B551011/KorService2",</a:t>
            </a:r>
          </a:p>
          <a:p>
            <a:r>
              <a:t>      "content_id": "2758252",</a:t>
            </a:r>
          </a:p>
          <a:p>
            <a:r>
              <a:t>      "content_type_id": "12",</a:t>
            </a:r>
          </a:p>
          <a:p>
            <a:r>
              <a:t>      "address": "대전광역시 서구 남선로 66",</a:t>
            </a:r>
          </a:p>
          <a:p>
            <a:r>
              <a:t>      "image_url": "http://tong.visitkorea.or.kr/cms/resource/24/3565624_image2_1.jpg",</a:t>
            </a:r>
          </a:p>
          <a:p>
            <a:r>
              <a:t>      "summary": "한국관광공사 국문관광정보 API가 반환한 선택 지역 관광자원"</a:t>
            </a:r>
          </a:p>
          <a:p>
            <a:r>
              <a:t>    },</a:t>
            </a:r>
          </a:p>
          <a:p>
            <a:r>
              <a:t>    {</a:t>
            </a:r>
          </a:p>
          <a:p>
            <a:r>
              <a:t>      "source_id": "tour-api:298208",</a:t>
            </a:r>
          </a:p>
          <a:p>
            <a:r>
              <a:t>      "source_type": "open_api",</a:t>
            </a:r>
          </a:p>
          <a:p>
            <a:r>
              <a:t>      "title": "내원사(대전)",</a:t>
            </a:r>
          </a:p>
          <a:p>
            <a:r>
              <a:t>      "source_url": "https://apis.data.go.kr/B551011/KorService2",</a:t>
            </a:r>
          </a:p>
          <a:p>
            <a:r>
              <a:t>      "content_id": "298208",</a:t>
            </a:r>
          </a:p>
          <a:p>
            <a:r>
              <a:t>      "content_type_id": "12",</a:t>
            </a:r>
          </a:p>
          <a:p>
            <a:r>
              <a:t>      "address": "대전광역시 서구 배재로197번길 200",</a:t>
            </a:r>
          </a:p>
          <a:p>
            <a:r>
              <a:t>      "image_url": "http://tong.visitkorea.or.kr/cms/resource/79/3034979_image2_1.JPG",</a:t>
            </a:r>
          </a:p>
          <a:p>
            <a:r>
              <a:t>      "summary": "한국관광공사 국문관광정보 API가 반환한 선택 지역 관광자원"</a:t>
            </a:r>
          </a:p>
          <a:p>
            <a:r>
              <a:t>    },</a:t>
            </a:r>
          </a:p>
          <a:p>
            <a:r>
              <a:t>    {</a:t>
            </a:r>
          </a:p>
          <a:p>
            <a:r>
              <a:t>      "source_id": "tour-api:3452550",</a:t>
            </a:r>
          </a:p>
          <a:p>
            <a:r>
              <a:t>      "source_type": "open_api",</a:t>
            </a:r>
          </a:p>
          <a:p>
            <a:r>
              <a:t>      "title": "노크노크",</a:t>
            </a:r>
          </a:p>
          <a:p>
            <a:r>
              <a:t>      "source_url": "https://apis.data.go.kr/B551011/KorService2",</a:t>
            </a:r>
          </a:p>
          <a:p>
            <a:r>
              <a:t>      "content_id": "3452550",</a:t>
            </a:r>
          </a:p>
          <a:p>
            <a:r>
              <a:t>      "content_type_id": "39",</a:t>
            </a:r>
          </a:p>
          <a:p>
            <a:r>
              <a:t>      "address": "대전광역시 서구 둔산로 68 (둔산동)",</a:t>
            </a:r>
          </a:p>
          <a:p>
            <a:r>
              <a:t>      "image_url": "http://tong.visitkorea.or.kr/cms/resource/59/3453059_image2_1.jpg",</a:t>
            </a:r>
          </a:p>
          <a:p>
            <a:r>
              <a:t>      "summary": "한국관광공사 국문관광정보 API가 반환한 선택 지역 관광자원"</a:t>
            </a:r>
          </a:p>
          <a:p>
            <a:r>
              <a:t>    },</a:t>
            </a:r>
          </a:p>
          <a:p>
            <a:r>
              <a:t>    {</a:t>
            </a:r>
          </a:p>
          <a:p>
            <a:r>
              <a:t>      "source_id": "tour-api:2899585",</a:t>
            </a:r>
          </a:p>
          <a:p>
            <a:r>
              <a:t>      "source_type": "open_api",</a:t>
            </a:r>
          </a:p>
          <a:p>
            <a:r>
              <a:t>      "title": "대성콩국수",</a:t>
            </a:r>
          </a:p>
          <a:p>
            <a:r>
              <a:t>      "source_url": "https://apis.data.go.kr/B551011/KorService2",</a:t>
            </a:r>
          </a:p>
          <a:p>
            <a:r>
              <a:t>      "content_id": "2899585",</a:t>
            </a:r>
          </a:p>
          <a:p>
            <a:r>
              <a:t>      "content_type_id": "39",</a:t>
            </a:r>
          </a:p>
          <a:p>
            <a:r>
              <a:t>      "address": "대전광역시 서구 도산로 141",</a:t>
            </a:r>
          </a:p>
          <a:p>
            <a:r>
              <a:t>      "image_url": "http://tong.visitkorea.or.kr/cms/resource/69/2899569_image2_1.jpg",</a:t>
            </a:r>
          </a:p>
          <a:p>
            <a:r>
              <a:t>      "summary": "한국관광공사 국문관광정보 API가 반환한 선택 지역 관광자원"</a:t>
            </a:r>
          </a:p>
          <a:p>
            <a:r>
              <a:t>    },</a:t>
            </a:r>
          </a:p>
          <a:p>
            <a:r>
              <a:t>    {</a:t>
            </a:r>
          </a:p>
          <a:p>
            <a:r>
              <a:t>      "source_id": "tour-api:130802",</a:t>
            </a:r>
          </a:p>
          <a:p>
            <a:r>
              <a:t>      "source_type": "open_api",</a:t>
            </a:r>
          </a:p>
          <a:p>
            <a:r>
              <a:t>      "title": "대전 가수원도서관",</a:t>
            </a:r>
          </a:p>
          <a:p>
            <a:r>
              <a:t>      "source_url": "https://apis.data.go.kr/B551011/KorService2",</a:t>
            </a:r>
          </a:p>
          <a:p>
            <a:r>
              <a:t>      "content_id": "130802",</a:t>
            </a:r>
          </a:p>
          <a:p>
            <a:r>
              <a:t>      "content_type_id": "14",</a:t>
            </a:r>
          </a:p>
          <a:p>
            <a:r>
              <a:t>      "address": "대전광역시 서구 가수원로 91-11 (가수원동)",</a:t>
            </a:r>
          </a:p>
          <a:p>
            <a:r>
              <a:t>      "image_url": "http://tong.visitkorea.or.kr/cms/resource/58/3033558_image2_1.JPG",</a:t>
            </a:r>
          </a:p>
          <a:p>
            <a:r>
              <a:t>      "summary": "한국관광공사 국문관광정보 API가 반환한 선택 지역 관광자원"</a:t>
            </a:r>
          </a:p>
          <a:p>
            <a:r>
              <a:t>    },</a:t>
            </a:r>
          </a:p>
          <a:p>
            <a:r>
              <a:t>    {</a:t>
            </a:r>
          </a:p>
          <a:p>
            <a:r>
              <a:t>      "source_id": "tour-api:2743325",</a:t>
            </a:r>
          </a:p>
          <a:p>
            <a:r>
              <a:t>      "source_type": "open_api",</a:t>
            </a:r>
          </a:p>
          <a:p>
            <a:r>
              <a:t>      "title": "대전광역시청 시민잔디광장",</a:t>
            </a:r>
          </a:p>
          <a:p>
            <a:r>
              <a:t>      "source_url": "https://apis.data.go.kr/B551011/KorService2",</a:t>
            </a:r>
          </a:p>
          <a:p>
            <a:r>
              <a:t>      "content_id": "2743325",</a:t>
            </a:r>
          </a:p>
          <a:p>
            <a:r>
              <a:t>      "content_type_id": "12",</a:t>
            </a:r>
          </a:p>
          <a:p>
            <a:r>
              <a:t>      "address": "대전광역시 서구 둔산로 100",</a:t>
            </a:r>
          </a:p>
          <a:p>
            <a:r>
              <a:t>      "image_url": "http://tong.visitkorea.or.kr/cms/resource/86/3565586_image2_1.jpg",</a:t>
            </a:r>
          </a:p>
          <a:p>
            <a:r>
              <a:t>      "summary": "한국관광공사 국문관광정보 API가 반환한 선택 지역 관광자원"</a:t>
            </a:r>
          </a:p>
          <a:p>
            <a:r>
              <a:t>    },</a:t>
            </a:r>
          </a:p>
          <a:p>
            <a:r>
              <a:t>    {</a:t>
            </a:r>
          </a:p>
          <a:p>
            <a:r>
              <a:t>      "source_id": "tour-api:130197",</a:t>
            </a:r>
          </a:p>
          <a:p>
            <a:r>
              <a:t>      "source_type": "open_api",</a:t>
            </a:r>
          </a:p>
          <a:p>
            <a:r>
              <a:t>      "title": "대전서구문화원",</a:t>
            </a:r>
          </a:p>
          <a:p>
            <a:r>
              <a:t>      "source_url": "https://apis.data.go.kr/B551011/KorService2",</a:t>
            </a:r>
          </a:p>
          <a:p>
            <a:r>
              <a:t>      "content_id": "130197",</a:t>
            </a:r>
          </a:p>
          <a:p>
            <a:r>
              <a:t>      "content_type_id": "14",</a:t>
            </a:r>
          </a:p>
          <a:p>
            <a:r>
              <a:t>      "address": "대전광역시 서구 계룡로553번길 38",</a:t>
            </a:r>
          </a:p>
          <a:p>
            <a:r>
              <a:t>      "image_url": "http://tong.visitkorea.or.kr/cms/resource/43/3585043_image2_1.jpg",</a:t>
            </a:r>
          </a:p>
          <a:p>
            <a:r>
              <a:t>      "summary": "한국관광공사 국문관광정보 API가 반환한 선택 지역 관광자원"</a:t>
            </a:r>
          </a:p>
          <a:p>
            <a:r>
              <a:t>    },</a:t>
            </a:r>
          </a:p>
          <a:p>
            <a:r>
              <a:t>    {</a:t>
            </a:r>
          </a:p>
          <a:p>
            <a:r>
              <a:t>      "source_id": "tour-api:2865847",</a:t>
            </a:r>
          </a:p>
          <a:p>
            <a:r>
              <a:t>      "source_type": "open_api",</a:t>
            </a:r>
          </a:p>
          <a:p>
            <a:r>
              <a:t>      "title": "델빠네",</a:t>
            </a:r>
          </a:p>
          <a:p>
            <a:r>
              <a:t>      "source_url": "https://apis.data.go.kr/B551011/KorService2",</a:t>
            </a:r>
          </a:p>
          <a:p>
            <a:r>
              <a:t>      "content_id": "2865847",</a:t>
            </a:r>
          </a:p>
          <a:p>
            <a:r>
              <a:t>      "content_type_id": "39",</a:t>
            </a:r>
          </a:p>
          <a:p>
            <a:r>
              <a:t>      "address": "대전광역시 서구 원도안로207번길 16-61 (도안동)",</a:t>
            </a:r>
          </a:p>
          <a:p>
            <a:r>
              <a:t>      "image_url": "http://tong.visitkorea.or.kr/cms/resource/36/2865836_image2_1.jpg",</a:t>
            </a:r>
          </a:p>
          <a:p>
            <a:r>
              <a:t>      "summary": "한국관광공사 국문관광정보 API가 반환한 선택 지역 관광자원"</a:t>
            </a:r>
          </a:p>
          <a:p>
            <a:r>
              <a:t>    },</a:t>
            </a:r>
          </a:p>
          <a:p>
            <a:r>
              <a:t>    {</a:t>
            </a:r>
          </a:p>
          <a:p>
            <a:r>
              <a:t>      "source_id": "tour-api:2758334",</a:t>
            </a:r>
          </a:p>
          <a:p>
            <a:r>
              <a:t>      "source_type": "open_api",</a:t>
            </a:r>
          </a:p>
          <a:p>
            <a:r>
              <a:t>      "title": "도마큰시장",</a:t>
            </a:r>
          </a:p>
          <a:p>
            <a:r>
              <a:t>      "source_url": "https://apis.data.go.kr/B551011/KorService2",</a:t>
            </a:r>
          </a:p>
          <a:p>
            <a:r>
              <a:t>      "content_id": "2758334",</a:t>
            </a:r>
          </a:p>
          <a:p>
            <a:r>
              <a:t>      "content_type_id": "38",</a:t>
            </a:r>
          </a:p>
          <a:p>
            <a:r>
              <a:t>      "address": "대전광역시 서구 도마4길 69 (도마동)",</a:t>
            </a:r>
          </a:p>
          <a:p>
            <a:r>
              <a:t>      "image_url": "http://tong.visitkorea.or.kr/cms/resource/34/3565534_image2_1.jpg",</a:t>
            </a:r>
          </a:p>
          <a:p>
            <a:r>
              <a:t>      "summary": "한국관광공사 국문관광정보 API가 반환한 선택 지역 관광자원"</a:t>
            </a:r>
          </a:p>
          <a:p>
            <a:r>
              <a:t>    },</a:t>
            </a:r>
          </a:p>
          <a:p>
            <a:r>
              <a:t>    {</a:t>
            </a:r>
          </a:p>
          <a:p>
            <a:r>
              <a:t>      "source_id": "tour-api:1955818",</a:t>
            </a:r>
          </a:p>
          <a:p>
            <a:r>
              <a:t>      "source_type": "open_api",</a:t>
            </a:r>
          </a:p>
          <a:p>
            <a:r>
              <a:t>      "title": "도산서원(대전)",</a:t>
            </a:r>
          </a:p>
          <a:p>
            <a:r>
              <a:t>      "source_url": "https://apis.data.go.kr/B551011/KorService2",</a:t>
            </a:r>
          </a:p>
          <a:p>
            <a:r>
              <a:t>      "content_id": "1955818",</a:t>
            </a:r>
          </a:p>
          <a:p>
            <a:r>
              <a:t>      "content_type_id": "12",</a:t>
            </a:r>
          </a:p>
          <a:p>
            <a:r>
              <a:t>      "address": "대전광역시 서구 남선로 8",</a:t>
            </a:r>
          </a:p>
          <a:p>
            <a:r>
              <a:t>      "image_url": "http://tong.visitkorea.or.kr/cms/resource/24/3035024_image2_1.JPG",</a:t>
            </a:r>
          </a:p>
          <a:p>
            <a:r>
              <a:t>      "summary": "한국관광공사 국문관광정보 API가 반환한 선택 지역 관광자원"</a:t>
            </a:r>
          </a:p>
          <a:p>
            <a:r>
              <a:t>    },</a:t>
            </a:r>
          </a:p>
          <a:p>
            <a:r>
              <a:t>    {</a:t>
            </a:r>
          </a:p>
          <a:p>
            <a:r>
              <a:t>      "source_id": "tour-api:2758341",</a:t>
            </a:r>
          </a:p>
          <a:p>
            <a:r>
              <a:t>      "source_type": "open_api",</a:t>
            </a:r>
          </a:p>
          <a:p>
            <a:r>
              <a:t>      "title": "둔산꽃시장",</a:t>
            </a:r>
          </a:p>
          <a:p>
            <a:r>
              <a:t>      "source_url": "https://apis.data.go.kr/B551011/KorService2",</a:t>
            </a:r>
          </a:p>
          <a:p>
            <a:r>
              <a:t>      "content_id": "2758341",</a:t>
            </a:r>
          </a:p>
          <a:p>
            <a:r>
              <a:t>      "content_type_id": "38",</a:t>
            </a:r>
          </a:p>
          <a:p>
            <a:r>
              <a:t>      "address": "대전광역시 서구 둔산북로 22 (둔산동)",</a:t>
            </a:r>
          </a:p>
          <a:p>
            <a:r>
              <a:t>      "image_url": "http://tong.visitkorea.or.kr/cms/resource/31/2758631_image2_1.jpg",</a:t>
            </a:r>
          </a:p>
          <a:p>
            <a:r>
              <a:t>      "summary": "한국관광공사 국문관광정보 API가 반환한 선택 지역 관광자원"</a:t>
            </a:r>
          </a:p>
          <a:p>
            <a:r>
              <a:t>    },</a:t>
            </a:r>
          </a:p>
          <a:p>
            <a:r>
              <a:t>    {</a:t>
            </a:r>
          </a:p>
          <a:p>
            <a:r>
              <a:t>      "source_id": "tour-api:1623725",</a:t>
            </a:r>
          </a:p>
          <a:p>
            <a:r>
              <a:t>      "source_type": "open_api",</a:t>
            </a:r>
          </a:p>
          <a:p>
            <a:r>
              <a:t>      "title": "둔산전자타운",</a:t>
            </a:r>
          </a:p>
          <a:p>
            <a:r>
              <a:t>      "source_url": "https://apis.data.go.kr/B551011/KorService2",</a:t>
            </a:r>
          </a:p>
          <a:p>
            <a:r>
              <a:t>      "content_id": "1623725",</a:t>
            </a:r>
          </a:p>
          <a:p>
            <a:r>
              <a:t>      "content_type_id": "38",</a:t>
            </a:r>
          </a:p>
          <a:p>
            <a:r>
              <a:t>      "address": "대전광역시 서구 도산로403번길 21",</a:t>
            </a:r>
          </a:p>
          <a:p>
            <a:r>
              <a:t>      "image_url": "http://tong.visitkorea.or.kr/cms/resource/60/3565560_image2_1.jpg",</a:t>
            </a:r>
          </a:p>
          <a:p>
            <a:r>
              <a:t>      "summary": "한국관광공사 국문관광정보 API가 반환한 선택 지역 관광자원"</a:t>
            </a:r>
          </a:p>
          <a:p>
            <a:r>
              <a:t>    },</a:t>
            </a:r>
          </a:p>
          <a:p>
            <a:r>
              <a:t>    {</a:t>
            </a:r>
          </a:p>
          <a:p>
            <a:r>
              <a:t>      "source_id": "tour-api:132661",</a:t>
            </a:r>
          </a:p>
          <a:p>
            <a:r>
              <a:t>      "source_type": "open_api",</a:t>
            </a:r>
          </a:p>
          <a:p>
            <a:r>
              <a:t>      "title": "롯데백화점 (대전점)",</a:t>
            </a:r>
          </a:p>
          <a:p>
            <a:r>
              <a:t>      "source_url": "https://apis.data.go.kr/B551011/KorService2",</a:t>
            </a:r>
          </a:p>
          <a:p>
            <a:r>
              <a:t>      "content_id": "132661",</a:t>
            </a:r>
          </a:p>
          <a:p>
            <a:r>
              <a:t>      "content_type_id": "38",</a:t>
            </a:r>
          </a:p>
          <a:p>
            <a:r>
              <a:t>      "address": "대전광역시 서구 계룡로 598 (괴정동)",</a:t>
            </a:r>
          </a:p>
          <a:p>
            <a:r>
              <a:t>      "image_url": "http://tong.visitkorea.or.kr/cms/resource/21/3443221_image2_1.jpg",</a:t>
            </a:r>
          </a:p>
          <a:p>
            <a:r>
              <a:t>      "summary": "한국관광공사 국문관광정보 API가 반환한 선택 지역 관광자원"</a:t>
            </a:r>
          </a:p>
          <a:p>
            <a:r>
              <a:t>    },</a:t>
            </a:r>
          </a:p>
          <a:p>
            <a:r>
              <a:t>    {</a:t>
            </a:r>
          </a:p>
          <a:p>
            <a:r>
              <a:t>      "source_id": "tour-api:2758646",</a:t>
            </a:r>
          </a:p>
          <a:p>
            <a:r>
              <a:t>      "source_type": "open_api",</a:t>
            </a:r>
          </a:p>
          <a:p>
            <a:r>
              <a:t>      "title": "마치광장",</a:t>
            </a:r>
          </a:p>
          <a:p>
            <a:r>
              <a:t>      "source_url": "https://apis.data.go.kr/B551011/KorService2",</a:t>
            </a:r>
          </a:p>
          <a:p>
            <a:r>
              <a:t>      "content_id": "2758646",</a:t>
            </a:r>
          </a:p>
          <a:p>
            <a:r>
              <a:t>      "content_type_id": "12",</a:t>
            </a:r>
          </a:p>
          <a:p>
            <a:r>
              <a:t>      "address": "대전광역시 서구 구봉로131번길 27",</a:t>
            </a:r>
          </a:p>
          <a:p>
            <a:r>
              <a:t>      "image_url": "http://tong.visitkorea.or.kr/cms/resource/16/3542516_image2_1.jpg",</a:t>
            </a:r>
          </a:p>
          <a:p>
            <a:r>
              <a:t>      "summary": "한국관광공사 국문관광정보 API가 반환한 선택 지역 관광자원"</a:t>
            </a:r>
          </a:p>
          <a:p>
            <a:r>
              <a:t>    },</a:t>
            </a:r>
          </a:p>
          <a:p>
            <a:r>
              <a:t>    {</a:t>
            </a:r>
          </a:p>
          <a:p>
            <a:r>
              <a:t>      "source_id": "tour-api:2899544",</a:t>
            </a:r>
          </a:p>
          <a:p>
            <a:r>
              <a:t>      "source_type": "open_api",</a:t>
            </a:r>
          </a:p>
          <a:p>
            <a:r>
              <a:t>      "title": "몽뜨",</a:t>
            </a:r>
          </a:p>
          <a:p>
            <a:r>
              <a:t>      "source_url": "https://apis.data.go.kr/B551011/KorService2",</a:t>
            </a:r>
          </a:p>
          <a:p>
            <a:r>
              <a:t>      "content_id": "2899544",</a:t>
            </a:r>
          </a:p>
          <a:p>
            <a:r>
              <a:t>      "content_type_id": "39",</a:t>
            </a:r>
          </a:p>
          <a:p>
            <a:r>
              <a:t>      "address": "대전광역시 서구 원도안로257번길 48 (도안동)",</a:t>
            </a:r>
          </a:p>
          <a:p>
            <a:r>
              <a:t>      "image_url": "http://tong.visitkorea.or.kr/cms/resource/35/2899535_image2_1.jpg",</a:t>
            </a:r>
          </a:p>
          <a:p>
            <a:r>
              <a:t>      "summary": "한국관광공사 국문관광정보 API가 반환한 선택 지역 관광자원"</a:t>
            </a:r>
          </a:p>
          <a:p>
            <a:r>
              <a:t>    },</a:t>
            </a:r>
          </a:p>
          <a:p>
            <a:r>
              <a:t>    {</a:t>
            </a:r>
          </a:p>
          <a:p>
            <a:r>
              <a:t>      "source_id": "tour-api:2865914",</a:t>
            </a:r>
          </a:p>
          <a:p>
            <a:r>
              <a:t>      "source_type": "open_api",</a:t>
            </a:r>
          </a:p>
          <a:p>
            <a:r>
              <a:t>      "title": "미세노센세",</a:t>
            </a:r>
          </a:p>
          <a:p>
            <a:r>
              <a:t>      "source_url": "https://apis.data.go.kr/B551011/KorService2",</a:t>
            </a:r>
          </a:p>
          <a:p>
            <a:r>
              <a:t>      "content_id": "2865914",</a:t>
            </a:r>
          </a:p>
          <a:p>
            <a:r>
              <a:t>      "content_type_id": "39",</a:t>
            </a:r>
          </a:p>
          <a:p>
            <a:r>
              <a:t>      "address": "대전광역시 서구 계룡로553번안길 65 (탄방동)",</a:t>
            </a:r>
          </a:p>
          <a:p>
            <a:r>
              <a:t>      "image_url": "http://tong.visitkorea.or.kr/cms/resource/05/2865905_image2_1.jpg",</a:t>
            </a:r>
          </a:p>
          <a:p>
            <a:r>
              <a:t>      "summary": "한국관광공사 국문관광정보 API가 반환한 선택 지역 관광자원"</a:t>
            </a:r>
          </a:p>
          <a:p>
            <a:r>
              <a:t>    },</a:t>
            </a:r>
          </a:p>
          <a:p>
            <a:r>
              <a:t>    {</a:t>
            </a:r>
          </a:p>
          <a:p>
            <a:r>
              <a:t>      "source_id": "reference:kto:2026:local-airport",</a:t>
            </a:r>
          </a:p>
          <a:p>
            <a:r>
              <a:t>      "source_type": "rag",</a:t>
            </a:r>
          </a:p>
          <a:p>
            <a:r>
              <a:t>      "title": "요즘, 한국관광 2호 - 지방공항 연계 지역관광 활성화 방안",</a:t>
            </a:r>
          </a:p>
          <a:p>
            <a:r>
              <a:t>      "source_url": "https://datalab.visitkorea.or.kr/site/portal/ex/bbs/View.do?bcIdx=311068&amp;cbIdx=1135&amp;pageIndex=1",</a:t>
            </a:r>
          </a:p>
          <a:p>
            <a:r>
              <a:t>      "published_or_updated_at": "2026-08",</a:t>
            </a:r>
          </a:p>
          <a:p>
            <a:r>
              <a:t>      "document_type": "policy",</a:t>
            </a:r>
          </a:p>
          <a:p>
            <a:r>
              <a:t>      "region_code": "ALL",</a:t>
            </a:r>
          </a:p>
          <a:p>
            <a:r>
              <a:t>      "region_name": "전국 공통",</a:t>
            </a:r>
          </a:p>
          <a:p>
            <a:r>
              <a:t>      "case_region": "",</a:t>
            </a:r>
          </a:p>
          <a:p>
            <a:r>
              <a:t>      "intervention": "",</a:t>
            </a:r>
          </a:p>
          <a:p>
            <a:r>
              <a:t>      "evidence_strength": "medium",</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"retrieval_method": "local_curated_chunk",</a:t>
            </a:r>
          </a:p>
          <a:p>
            <a:r>
              <a:t>      "matched_terms": [</a:t>
            </a:r>
          </a:p>
          <a:p>
            <a:r>
              <a:t>        "관광",</a:t>
            </a:r>
          </a:p>
          <a:p>
            <a:r>
              <a:t>        "상권",</a:t>
            </a:r>
          </a:p>
          <a:p>
            <a:r>
              <a:t>        "성과",</a:t>
            </a:r>
          </a:p>
          <a:p>
            <a:r>
              <a:t>        "소비",</a:t>
            </a:r>
          </a:p>
          <a:p>
            <a:r>
              <a:t>        "수와",</a:t>
            </a:r>
          </a:p>
          <a:p>
            <a:r>
              <a:t>        "숙박",</a:t>
            </a:r>
          </a:p>
          <a:p>
            <a:r>
              <a:t>        "실제",</a:t>
            </a:r>
          </a:p>
          <a:p>
            <a:r>
              <a:t>        "연결한",</a:t>
            </a:r>
          </a:p>
          <a:p>
            <a:r>
              <a:t>        "예산",</a:t>
            </a:r>
          </a:p>
          <a:p>
            <a:r>
              <a:t>        "운영",</a:t>
            </a:r>
          </a:p>
          <a:p>
            <a:r>
              <a:t>        "정책",</a:t>
            </a:r>
          </a:p>
          <a:p>
            <a:r>
              <a:t>        "중심으로",</a:t>
            </a:r>
          </a:p>
          <a:p>
            <a:r>
              <a:t>        "지역",</a:t>
            </a:r>
          </a:p>
          <a:p>
            <a:r>
              <a:t>        "체류",</a:t>
            </a:r>
          </a:p>
          <a:p>
            <a:r>
              <a:t>        "함께"</a:t>
            </a:r>
          </a:p>
          <a:p>
            <a:r>
              <a:t>      ],</a:t>
            </a:r>
          </a:p>
          <a:p>
            <a:r>
              <a:t>      "page_references": "PDF 44쪽, PDF 40쪽, PDF 41쪽, PDF 41쪽, PDF 43쪽",</a:t>
            </a:r>
          </a:p>
          <a:p>
            <a:r>
              <a:t>      "source_note": "지방공항·연계 지역에 관한 자료입니다. 다른 시군구의 사업 효과·예산을 보장하는 근거로 사용하지 않습니다.",</a:t>
            </a:r>
          </a:p>
          <a:p>
            <a:r>
              <a:t>      "chunk_id": "reference:kto:2026:local-airport:page:044:chunk:01",</a:t>
            </a:r>
          </a:p>
          <a:p>
            <a:r>
              <a:t>      "parent_source_id": "reference:kto:2026:local-airport",</a:t>
            </a:r>
          </a:p>
          <a:p>
            <a:r>
              <a:t>      "chunk_ids": [</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"reference:kto:2026:local-airport:page:044:chunk:01"</a:t>
            </a:r>
          </a:p>
          <a:p>
            <a:r>
              <a:t>      ],</a:t>
            </a:r>
          </a:p>
          <a:p>
            <a:r>
              <a:t>      "source_chunk_count": 5</a:t>
            </a:r>
          </a:p>
          <a:p>
            <a:r>
              <a:t>    },</a:t>
            </a:r>
          </a:p>
          <a:p>
            <a:r>
              <a:t>    {</a:t>
            </a:r>
          </a:p>
          <a:p>
            <a:r>
              <a:t>      "source_id": "web:30170:1",</a:t>
            </a:r>
          </a:p>
          <a:p>
            <a:r>
              <a:t>      "source_type": "official_web",</a:t>
            </a:r>
          </a:p>
          <a:p>
            <a:r>
              <a:t>      "title": "한밭수목원 | 열린관광 모두의 여행",</a:t>
            </a:r>
          </a:p>
          <a:p>
            <a:r>
              <a:t>      "source_url": "https://access.visitkorea.or.kr/ms/detail.do?cotId=81cc7479-c010-4bdd-9a29-3121bb578cb8",</a:t>
            </a:r>
          </a:p>
          <a:p>
            <a:r>
              <a:t>      "published_or_updated_at": "2026-09-10 수정",</a:t>
            </a:r>
          </a:p>
          <a:p>
            <a:r>
              <a:t>      "summary": "한밭수목원은 대전광역시 서구 둔산대로 169에 있으며, 정부대전청사 녹지축 및 예술의전당·미술관·연정국악원 등 문화예술 시설과 연계된 공간으로 안내된다.",</a:t>
            </a:r>
          </a:p>
          <a:p>
            <a:r>
              <a:t>      "why_relevant": "둔산권에서 자연관광과 문화관람을 한 동선으로 묶을 수 있는 공식 인프라 조건이다. 단, 개별 시설의 공동운영·할인·참여 여부는 확인되지 않았으므로 기관 협의 전제로만 활용해야 한다."</a:t>
            </a:r>
          </a:p>
          <a:p>
            <a:r>
              <a:t>    },</a:t>
            </a:r>
          </a:p>
          <a:p>
            <a:r>
              <a:t>    {</a:t>
            </a:r>
          </a:p>
          <a:p>
            <a:r>
              <a:t>      "source_id": "web:30170:2",</a:t>
            </a:r>
          </a:p>
          <a:p>
            <a:r>
              <a:t>      "source_type": "official_web",</a:t>
            </a:r>
          </a:p>
          <a:p>
            <a:r>
              <a:t>      "title": "Hanbat Arboretum (한밭수목원) - VISITKOREA",</a:t>
            </a:r>
          </a:p>
          <a:p>
            <a:r>
              <a:t>      "source_url": "https://english.visitkorea.or.kr/svc/contents/contentsView.do?vcontsId=82059",</a:t>
            </a:r>
          </a:p>
          <a:p>
            <a:r>
              <a:t>      "published_or_updated_at": "검색 시점 기준 현재 운영정보",</a:t>
            </a:r>
          </a:p>
          <a:p>
            <a:r>
              <a:t>      "summary": "한밭수목원의 10월~3월 동원·서원 운영시간은 08:00~19:00이며, 열대식물원은 09:00~18:00이다. 동원·열대식물원은 월요일, 서원은 화요일에 휴원한다.",</a:t>
            </a:r>
          </a:p>
          <a:p>
            <a:r>
              <a:t>      "why_relevant": "고정 운영기간인 2026년 10월~12월의 현장 프로그램은 종료시간 이전에 수목원 구간을 배치해야 한다. 월·화요일에는 동일한 수목원 구간을 전제로 한 전일 프로그램을 고정 편성하지 않고, 휴원일 대체 동선을 따로 설계해야 한다."</a:t>
            </a:r>
          </a:p>
          <a:p>
            <a:r>
              <a:t>    },</a:t>
            </a:r>
          </a:p>
          <a:p>
            <a:r>
              <a:t>    {</a:t>
            </a:r>
          </a:p>
          <a:p>
            <a:r>
              <a:t>      "source_id": "web:30170:3",</a:t>
            </a:r>
          </a:p>
          <a:p>
            <a:r>
              <a:t>      "source_type": "official_web",</a:t>
            </a:r>
          </a:p>
          <a:p>
            <a:r>
              <a:t>      "title": "대전예술의전당 | 열린관광 모두의 여행",</a:t>
            </a:r>
          </a:p>
          <a:p>
            <a:r>
              <a:t>      "source_url": "https://access.visitkorea.or.kr/ms/detail.do?cotId=af31b729-4eda-469b-b4cc-73ea3a1c8028",</a:t>
            </a:r>
          </a:p>
          <a:p>
            <a:r>
              <a:t>      "published_or_updated_at": "2026-07-31 수정",</a:t>
            </a:r>
          </a:p>
          <a:p>
            <a:r>
              <a:t>      "summary": "대전예술의전당은 서구 둔산대로 135의 둔산대공원 내 종합공연장으로, 대형공연이 가능한 아트홀, 앙상블홀, 국제회의·세미나·연회 활용이 가능한 컨벤션홀이 안내되어 있다.",</a:t>
            </a:r>
          </a:p>
          <a:p>
            <a:r>
              <a:t>      "why_relevant": "공연 일정이 확정되는 날에는 수목원·미술관 권역과 식음 상권을 연결하는 저녁 체류 동선의 문화 앵커 후보가 된다. 다만 2026년 10~12월의 실제 공연 편성, 대관·협력 가능 여부, 티켓 연계는 별도 확인이 필요하다."</a:t>
            </a:r>
          </a:p>
          <a:p>
            <a:r>
              <a:t>    },</a:t>
            </a:r>
          </a:p>
          <a:p>
            <a:r>
              <a:t>    {</a:t>
            </a:r>
          </a:p>
          <a:p>
            <a:r>
              <a:t>      "source_id": "web:30170:4",</a:t>
            </a:r>
          </a:p>
          <a:p>
            <a:r>
              <a:t>      "source_type": "official_web",</a:t>
            </a:r>
          </a:p>
          <a:p>
            <a:r>
              <a:t>      "title": "한민시장 | 열린관광 모두의 여행",</a:t>
            </a:r>
          </a:p>
          <a:p>
            <a:r>
              <a:t>      "source_url": "https://access.visitkorea.or.kr/ms/detail.do?cotId=72bba786-e15a-478a-bc99-c9d15ff27727",</a:t>
            </a:r>
          </a:p>
          <a:p>
            <a:r>
              <a:t>      "published_or_updated_at": "2026-06-24 수정",</a:t>
            </a:r>
          </a:p>
          <a:p>
            <a:r>
              <a:t>      "summary": "한민시장은 서구 가장로 106에 위치하며, 용문역과 가깝고 주변 한밭수목원·엑스포시민광장·엑스포과학공원과의 연계 관광이 가능한 곳으로 안내된다. 시장 내 점포별 영업시간과 휴무일은 서로 다르다.",</a:t>
            </a:r>
          </a:p>
          <a:p>
            <a:r>
              <a:t>      "why_relevant": "둔산권 방문을 지역 식음·시장 이용으로 전환할 후보 거점이다. 다만 시장 전체의 일괄 야간운영이나 할인 참여를 전제할 수 없으므로, 참여 점포 모집과 공연일·주말별 영업 확인 후에만 스탬프·메뉴·체험 연계를 편성해야 한다."</a:t>
            </a:r>
          </a:p>
          <a:p>
            <a:r>
              <a:t>    },</a:t>
            </a:r>
          </a:p>
          <a:p>
            <a:r>
              <a:t>    {</a:t>
            </a:r>
          </a:p>
          <a:p>
            <a:r>
              <a:t>      "source_id": "web:30170:5",</a:t>
            </a:r>
          </a:p>
          <a:p>
            <a:r>
              <a:t>      "source_type": "official_web",</a:t>
            </a:r>
          </a:p>
          <a:p>
            <a:r>
              <a:t>      "title": "장태산자연휴양림 - VISITKOREA",</a:t>
            </a:r>
          </a:p>
          <a:p>
            <a:r>
              <a:t>      "source_url": "https://japanese.visitkorea.or.kr/svc/contents/contentsView.do?vcontsId=76300",</a:t>
            </a:r>
          </a:p>
          <a:p>
            <a:r>
              <a:t>      "published_or_updated_at": "검색 시점 기준 현재 페이지",</a:t>
            </a:r>
          </a:p>
          <a:p>
            <a:r>
              <a:t>      "summary": "장태산자연휴양림은 대전광역시 서구 장안로 461에 위치한 서구 관광자원으로 공식 관광정보에 수록되어 있으며, 한국관광공사 공식 콘텐츠는 가을 단풍 경관을 소개한다.",</a:t>
            </a:r>
          </a:p>
          <a:p>
            <a:r>
              <a:t>      "why_relevant": "10~11월 자연관광 콘텐츠 후보로 검토할 수 있다. 그러나 공식 검색 결과만으로는 2026년 가을의 숙박 객실, 프로그램, 교통운행, 단체예약 및 행사 가능 조건을 확정할 수 없으므로, 체류 증대의 주력 사업으로 바로 확정하지 않는다."</a:t>
            </a:r>
          </a:p>
          <a:p>
            <a:r>
              <a:t>    },</a:t>
            </a:r>
          </a:p>
          <a:p>
            <a:r>
              <a:t>    {</a:t>
            </a:r>
          </a:p>
          <a:p>
            <a:r>
              <a:t>      "source_id": "web:30170:6",</a:t>
            </a:r>
          </a:p>
          <a:p>
            <a:r>
              <a:t>      "source_type": "official_web",</a:t>
            </a:r>
          </a:p>
          <a:p>
            <a:r>
              <a:t>      "title": "여유롭고 안전한 오늘의 여행법 비대면(언택트) 관광지 100선",</a:t>
            </a:r>
          </a:p>
          <a:p>
            <a:r>
              <a:t>      "source_url": "https://korean.visitkorea.or.kr/detail/rem_detail.do?cotid=351f6cf4-d984-496f-886d-6fc538b226a7",</a:t>
            </a:r>
          </a:p>
          <a:p>
            <a:r>
              <a:t>      "published_or_updated_at": "게시일 미확인",</a:t>
            </a:r>
          </a:p>
          <a:p>
            <a:r>
              <a:t>      "summary": "한국관광공사 공식 관광 콘텐츠에는 대전 서구의 장태산자연휴양림과 한밭수목원이 비대면 관광지 100선 목록에 포함되어 있다.",</a:t>
            </a:r>
          </a:p>
          <a:p>
            <a:r>
              <a:t>      "why_relevant": "가을철 자연·산책 콘텐츠의 공공 관광자원으로 두 장소를 후보군에 둘 근거는 있으나, 선정 사실 자체가 현재 수요·소비·숙박 증가 또는 특정 사업효과를 뜻하지는 않는다."</a:t>
            </a:r>
          </a:p>
          <a:p>
            <a:r>
              <a:t>    },</a:t>
            </a:r>
          </a:p>
          <a:p>
            <a:r>
              <a:t>    {</a:t>
            </a:r>
          </a:p>
          <a:p>
            <a:r>
              <a:t>      "source_id": "case:41508ca81cf29f",</a:t>
            </a:r>
          </a:p>
          <a:p>
            <a:r>
              <a:t>      "source_type": "benchmark_case",</a:t>
            </a:r>
          </a:p>
          <a:p>
            <a:r>
              <a:t>      "title": "한국관광 데이터랩 · 안동탈춤축제 방문자 추이",</a:t>
            </a:r>
          </a:p>
          <a:p>
            <a:r>
              <a:t>      "source_url": "https://datalab.visitkorea.or.kr/",</a:t>
            </a:r>
          </a:p>
          <a:p>
            <a:r>
              <a:t>      "published_or_updated_at": "2026-08-20",</a:t>
            </a:r>
          </a:p>
          <a:p>
            <a:r>
              <a:t>      "summary": "경상북도 안동시 · 2025 안동탈춤축제 10일 집중 운영 · 2024→2025년 전체 504,573→554,494명 (+9.89%). 개최 10→10일, 일평균 +9.89%, 외지인 +10.75%.",</a:t>
            </a:r>
          </a:p>
          <a:p>
            <a:r>
              <a:t>      "case_region": "경상북도 안동시",</a:t>
            </a:r>
          </a:p>
          <a:p>
            <a:r>
              <a:t>      "intervention": "2025 안동탈춤축제 10일 집중 운영",</a:t>
            </a:r>
          </a:p>
          <a:p>
            <a:r>
              <a:t>      "operating_model": "2025년 10일 동안 탈춤과 지역문화 중심 축제를 집중 운영했다. 제공된 관광데이터랩 CSV에서는 세부 예약·정원·상권 정산 방식은 확인되지 않으므로, 확인 가능한 실행 사실은 축제명·개최일수·관측구역 방문지표까지다.",</a:t>
            </a:r>
          </a:p>
          <a:p>
            <a:r>
              <a:t>      "evidence_strength": "medium",</a:t>
            </a:r>
          </a:p>
          <a:p>
            <a:r>
              <a:t>      "quantitative_result_approved": true,</a:t>
            </a:r>
          </a:p>
          <a:p>
            <a:r>
              <a:t>      "document_type": null,</a:t>
            </a:r>
          </a:p>
          <a:p>
            <a:r>
              <a:t>      "retrieval_method": "official_web_search",</a:t>
            </a:r>
          </a:p>
          <a:p>
            <a:r>
              <a:t>      "retrieval_context": {</a:t>
            </a:r>
          </a:p>
          <a:p>
            <a:r>
              <a:t>        "scope": "cross_province",</a:t>
            </a:r>
          </a:p>
          <a:p>
            <a:r>
              <a:t>        "peer_region_code": null</a:t>
            </a:r>
          </a:p>
          <a:p>
            <a:r>
              <a:t>      },</a:t>
            </a:r>
          </a:p>
          <a:p>
            <a:r>
              <a:t>      "observed_result": "2024→2025년 전체 504,573→554,494명 (+9.89%). 개최 10→10일, 일평균 +9.89%, 외지인 +10.75%.",</a:t>
            </a:r>
          </a:p>
          <a:p>
            <a:r>
              <a:t>      "operating_statistics": [</a:t>
            </a:r>
          </a:p>
          <a:p>
            <a:r>
              <a:t>        {</a:t>
            </a:r>
          </a:p>
          <a:p>
            <a:r>
              <a:t>          "metric": "operating_days",</a:t>
            </a:r>
          </a:p>
          <a:p>
            <a:r>
              <a:t>          "value": 10,</a:t>
            </a:r>
          </a:p>
          <a:p>
            <a:r>
              <a:t>          "unit": "일",</a:t>
            </a:r>
          </a:p>
          <a:p>
            <a:r>
              <a:t>          "period": "2025년 축제 개최기간",</a:t>
            </a:r>
          </a:p>
          <a:p>
            <a:r>
              <a:t>          "scope": "안동탈춤축제 전체 개최일",</a:t>
            </a:r>
          </a:p>
          <a:p>
            <a:r>
              <a:t>          "quote": "2025년 10일 개최",</a:t>
            </a:r>
          </a:p>
          <a:p>
            <a:r>
              <a:t>          "capacity_count": null,</a:t>
            </a:r>
          </a:p>
          <a:p>
            <a:r>
              <a:t>          "participant_count": null,</a:t>
            </a:r>
          </a:p>
          <a:p>
            <a:r>
              <a:t>          "program_name": "안동탈춤축제"</a:t>
            </a:r>
          </a:p>
          <a:p>
            <a:r>
              <a:t>        }</a:t>
            </a:r>
          </a:p>
          <a:p>
            <a:r>
              <a:t>      ],</a:t>
            </a:r>
          </a:p>
          <a:p>
            <a:r>
              <a:t>      "evidence_kind": "festival_document_and_statistics",</a:t>
            </a:r>
          </a:p>
          <a:p>
            <a:r>
              <a:t>      "festival_statistics": {</a:t>
            </a:r>
          </a:p>
          <a:p>
            <a:r>
              <a:t>        "name": "안동탈춤축제",</a:t>
            </a:r>
          </a:p>
          <a:p>
            <a:r>
              <a:t>        "annual": [</a:t>
            </a:r>
          </a:p>
          <a:p>
            <a:r>
              <a:t>          {</a:t>
            </a:r>
          </a:p>
          <a:p>
            <a:r>
              <a:t>            "days": 8,</a:t>
            </a:r>
          </a:p>
          <a:p>
            <a:r>
              <a:t>            "year": 2023,</a:t>
            </a:r>
          </a:p>
          <a:p>
            <a:r>
              <a:t>            "daily": 45517.125,</a:t>
            </a:r>
          </a:p>
          <a:p>
            <a:r>
              <a:t>            "local": 233513,</a:t>
            </a:r>
          </a:p>
          <a:p>
            <a:r>
              <a:t>            "total": 364137,</a:t>
            </a:r>
          </a:p>
          <a:p>
            <a:r>
              <a:t>            "foreign": 3319,</a:t>
            </a:r>
          </a:p>
          <a:p>
            <a:r>
              <a:t>            "outside": 127305,</a:t>
            </a:r>
          </a:p>
          <a:p>
            <a:r>
              <a:t>            "outside_daily": 15913.125,</a:t>
            </a:r>
          </a:p>
          <a:p>
            <a:r>
              <a:t>            "outside_share_pct": 34.960742797353745</a:t>
            </a:r>
          </a:p>
          <a:p>
            <a:r>
              <a:t>          },</a:t>
            </a:r>
          </a:p>
          <a:p>
            <a:r>
              <a:t>          {</a:t>
            </a:r>
          </a:p>
          <a:p>
            <a:r>
              <a:t>            "days": 10,</a:t>
            </a:r>
          </a:p>
          <a:p>
            <a:r>
              <a:t>            "year": 2024,</a:t>
            </a:r>
          </a:p>
          <a:p>
            <a:r>
              <a:t>            "daily": 50457.3,</a:t>
            </a:r>
          </a:p>
          <a:p>
            <a:r>
              <a:t>            "local": 317925,</a:t>
            </a:r>
          </a:p>
          <a:p>
            <a:r>
              <a:t>            "total": 504573,</a:t>
            </a:r>
          </a:p>
          <a:p>
            <a:r>
              <a:t>            "foreign": 4684,</a:t>
            </a:r>
          </a:p>
          <a:p>
            <a:r>
              <a:t>            "outside": 181964,</a:t>
            </a:r>
          </a:p>
          <a:p>
            <a:r>
              <a:t>            "outside_daily": 18196.4,</a:t>
            </a:r>
          </a:p>
          <a:p>
            <a:r>
              <a:t>            "outside_share_pct": 36.06296809381398</a:t>
            </a:r>
          </a:p>
          <a:p>
            <a:r>
              <a:t>          },</a:t>
            </a:r>
          </a:p>
          <a:p>
            <a:r>
              <a:t>          {</a:t>
            </a:r>
          </a:p>
          <a:p>
            <a:r>
              <a:t>            "days": 10,</a:t>
            </a:r>
          </a:p>
          <a:p>
            <a:r>
              <a:t>            "year": 2025,</a:t>
            </a:r>
          </a:p>
          <a:p>
            <a:r>
              <a:t>            "daily": 55449.4,</a:t>
            </a:r>
          </a:p>
          <a:p>
            <a:r>
              <a:t>            "local": 347269,</a:t>
            </a:r>
          </a:p>
          <a:p>
            <a:r>
              <a:t>            "total": 554494,</a:t>
            </a:r>
          </a:p>
          <a:p>
            <a:r>
              <a:t>            "foreign": 5702,</a:t>
            </a:r>
          </a:p>
          <a:p>
            <a:r>
              <a:t>            "outside": 201523,</a:t>
            </a:r>
          </a:p>
          <a:p>
            <a:r>
              <a:t>            "outside_daily": 20152.3,</a:t>
            </a:r>
          </a:p>
          <a:p>
            <a:r>
              <a:t>            "outside_share_pct": 36.34358532283487</a:t>
            </a:r>
          </a:p>
          <a:p>
            <a:r>
              <a:t>          }</a:t>
            </a:r>
          </a:p>
          <a:p>
            <a:r>
              <a:t>        ],</a:t>
            </a:r>
          </a:p>
          <a:p>
            <a:r>
              <a:t>        "comparison": {</a:t>
            </a:r>
          </a:p>
          <a:p>
            <a:r>
              <a:t>          "daily": {</a:t>
            </a:r>
          </a:p>
          <a:p>
            <a:r>
              <a:t>            "after": 55449.4,</a:t>
            </a:r>
          </a:p>
          <a:p>
            <a:r>
              <a:t>            "before": 50457.3,</a:t>
            </a:r>
          </a:p>
          <a:p>
            <a:r>
              <a:t>            "change_pct": 9.893712109050613,</a:t>
            </a:r>
          </a:p>
          <a:p>
            <a:r>
              <a:t>            "difference": 4992.0999999999985</a:t>
            </a:r>
          </a:p>
          <a:p>
            <a:r>
              <a:t>          },</a:t>
            </a:r>
          </a:p>
          <a:p>
            <a:r>
              <a:t>          "total": {</a:t>
            </a:r>
          </a:p>
          <a:p>
            <a:r>
              <a:t>            "after": 554494,</a:t>
            </a:r>
          </a:p>
          <a:p>
            <a:r>
              <a:t>            "before": 504573,</a:t>
            </a:r>
          </a:p>
          <a:p>
            <a:r>
              <a:t>            "change_pct": 9.893712109050613,</a:t>
            </a:r>
          </a:p>
          <a:p>
            <a:r>
              <a:t>            "difference": 49921</a:t>
            </a:r>
          </a:p>
          <a:p>
            <a:r>
              <a:t>          },</a:t>
            </a:r>
          </a:p>
          <a:p>
            <a:r>
              <a:t>          "outside": {</a:t>
            </a:r>
          </a:p>
          <a:p>
            <a:r>
              <a:t>            "after": 201523,</a:t>
            </a:r>
          </a:p>
          <a:p>
            <a:r>
              <a:t>            "before": 181964,</a:t>
            </a:r>
          </a:p>
          <a:p>
            <a:r>
              <a:t>            "change_pct": 10.748829438790096,</a:t>
            </a:r>
          </a:p>
          <a:p>
            <a:r>
              <a:t>            "difference": 19559</a:t>
            </a:r>
          </a:p>
          <a:p>
            <a:r>
              <a:t>          },</a:t>
            </a:r>
          </a:p>
          <a:p>
            <a:r>
              <a:t>          "after_days": 10,</a:t>
            </a:r>
          </a:p>
          <a:p>
            <a:r>
              <a:t>          "after_year": 2025,</a:t>
            </a:r>
          </a:p>
          <a:p>
            <a:r>
              <a:t>          "before_days": 10,</a:t>
            </a:r>
          </a:p>
          <a:p>
            <a:r>
              <a:t>          "before_year": 2024,</a:t>
            </a:r>
          </a:p>
          <a:p>
            <a:r>
              <a:t>          "outside_daily": {</a:t>
            </a:r>
          </a:p>
          <a:p>
            <a:r>
              <a:t>            "after": 20152.3,</a:t>
            </a:r>
          </a:p>
          <a:p>
            <a:r>
              <a:t>            "before": 18196.4,</a:t>
            </a:r>
          </a:p>
          <a:p>
            <a:r>
              <a:t>            "change_pct": 10.748829438790075,</a:t>
            </a:r>
          </a:p>
          <a:p>
            <a:r>
              <a:t>            "difference": 1955.8999999999976</a:t>
            </a:r>
          </a:p>
          <a:p>
            <a:r>
              <a:t>          }</a:t>
            </a:r>
          </a:p>
          <a:p>
            <a:r>
              <a:t>        },</a:t>
            </a:r>
          </a:p>
          <a:p>
            <a:r>
              <a:t>        "scope": "축제 관측구역 방문 지표. 도시 전체·순증 관광객·입장권 실구매자 수가 아님.",</a:t>
            </a:r>
          </a:p>
          <a:p>
            <a:r>
              <a:t>        "region_basis": "목적지 검색 CSV의 시도+시군구 최빈 주소; 행사장 행정경계 확정은 아님",</a:t>
            </a:r>
          </a:p>
          <a:p>
            <a:r>
              <a:t>        "source_file": {</a:t>
            </a:r>
          </a:p>
          <a:p>
            <a:r>
              <a:t>          "sha256": "28f418873eda5b37d320d3fef32c46bef172ca1cfea3861db2d5fc96a0b16f50",</a:t>
            </a:r>
          </a:p>
          <a:p>
            <a:r>
              <a:t>          "provider": "한국관광 데이터랩",</a:t>
            </a:r>
          </a:p>
          <a:p>
            <a:r>
              <a:t>          "file_name": "20260820175023_안동탈춤축제_연도별 방문자 추이.csv",</a:t>
            </a:r>
          </a:p>
          <a:p>
            <a:r>
              <a:t>          "source_id": "festival-file:28f418873eda5b37d320",</a:t>
            </a:r>
          </a:p>
          <a:p>
            <a:r>
              <a:t>          "source_url": "https://datalab.visitkorea.or.kr/",</a:t>
            </a:r>
          </a:p>
          <a:p>
            <a:r>
              <a:t>          "downloaded_at": "2026-08-20",</a:t>
            </a:r>
          </a:p>
          <a:p>
            <a:r>
              <a:t>          "relative_path": "data/source_snapshots/festivals_20260820/43. 안동탈춤축제_2023-2025/20260820175023_안동탈춤축제_연도별 방문자 추이.csv",</a:t>
            </a:r>
          </a:p>
          <a:p>
            <a:r>
              <a:t>          "provenance_status": "team_download_exact_query_url_unrecorded"</a:t>
            </a:r>
          </a:p>
          <a:p>
            <a:r>
              <a:t>        },</a:t>
            </a:r>
          </a:p>
          <a:p>
            <a:r>
              <a:t>        "indicator_values": [</a:t>
            </a:r>
          </a:p>
          <a:p>
            <a:r>
              <a:t>          {</a:t>
            </a:r>
          </a:p>
          <a:p>
            <a:r>
              <a:t>            "구분명": "외부방문자 유입",</a:t>
            </a:r>
          </a:p>
          <a:p>
            <a:r>
              <a:t>            "그룹명": "축제기간",</a:t>
            </a:r>
          </a:p>
          <a:p>
            <a:r>
              <a:t>            "지표값": "0.515",</a:t>
            </a:r>
          </a:p>
          <a:p>
            <a:r>
              <a:t>            "축제명": "안동탈춤축제",</a:t>
            </a:r>
          </a:p>
          <a:p>
            <a:r>
              <a:t>            "개최년도": "2025"</a:t>
            </a:r>
          </a:p>
          <a:p>
            <a:r>
              <a:t>          },</a:t>
            </a:r>
          </a:p>
          <a:p>
            <a:r>
              <a:t>          {</a:t>
            </a:r>
          </a:p>
          <a:p>
            <a:r>
              <a:t>            "구분명": "현지인방문자 유입",</a:t>
            </a:r>
          </a:p>
          <a:p>
            <a:r>
              <a:t>            "그룹명": "축제기간",</a:t>
            </a:r>
          </a:p>
          <a:p>
            <a:r>
              <a:t>            "지표값": "0.859",</a:t>
            </a:r>
          </a:p>
          <a:p>
            <a:r>
              <a:t>            "축제명": "안동탈춤축제",</a:t>
            </a:r>
          </a:p>
          <a:p>
            <a:r>
              <a:t>            "개최년도": "2025"</a:t>
            </a:r>
          </a:p>
          <a:p>
            <a:r>
              <a:t>          },</a:t>
            </a:r>
          </a:p>
          <a:p>
            <a:r>
              <a:t>          {</a:t>
            </a:r>
          </a:p>
          <a:p>
            <a:r>
              <a:t>            "구분명": "내비게이션 검색량",</a:t>
            </a:r>
          </a:p>
          <a:p>
            <a:r>
              <a:t>            "그룹명": "축제기간",</a:t>
            </a:r>
          </a:p>
          <a:p>
            <a:r>
              <a:t>            "지표값": "0.434",</a:t>
            </a:r>
          </a:p>
          <a:p>
            <a:r>
              <a:t>            "축제명": "안동탈춤축제",</a:t>
            </a:r>
          </a:p>
          <a:p>
            <a:r>
              <a:t>            "개최년도": "2025"</a:t>
            </a:r>
          </a:p>
          <a:p>
            <a:r>
              <a:t>          },</a:t>
            </a:r>
          </a:p>
          <a:p>
            <a:r>
              <a:t>          {</a:t>
            </a:r>
          </a:p>
          <a:p>
            <a:r>
              <a:t>            "구분명": "관광소비",</a:t>
            </a:r>
          </a:p>
          <a:p>
            <a:r>
              <a:t>            "그룹명": "축제기간",</a:t>
            </a:r>
          </a:p>
          <a:p>
            <a:r>
              <a:t>            "지표값": "0.544",</a:t>
            </a:r>
          </a:p>
          <a:p>
            <a:r>
              <a:t>            "축제명": "안동탈춤축제",</a:t>
            </a:r>
          </a:p>
          <a:p>
            <a:r>
              <a:t>            "개최년도": "2025"</a:t>
            </a:r>
          </a:p>
          <a:p>
            <a:r>
              <a:t>          },</a:t>
            </a:r>
          </a:p>
          <a:p>
            <a:r>
              <a:t>          {</a:t>
            </a:r>
          </a:p>
          <a:p>
            <a:r>
              <a:t>            "구분명": "축제지 집중률",</a:t>
            </a:r>
          </a:p>
          <a:p>
            <a:r>
              <a:t>            "그룹명": "축제기간",</a:t>
            </a:r>
          </a:p>
          <a:p>
            <a:r>
              <a:t>            "지표값": "0.879",</a:t>
            </a:r>
          </a:p>
          <a:p>
            <a:r>
              <a:t>            "축제명": "안동탈춤축제",</a:t>
            </a:r>
          </a:p>
          <a:p>
            <a:r>
              <a:t>            "개최년도": "2025"</a:t>
            </a:r>
          </a:p>
          <a:p>
            <a:r>
              <a:t>          },</a:t>
            </a:r>
          </a:p>
          <a:p>
            <a:r>
              <a:t>          {</a:t>
            </a:r>
          </a:p>
          <a:p>
            <a:r>
              <a:t>            "구분명": "외부방문자 유입",</a:t>
            </a:r>
          </a:p>
          <a:p>
            <a:r>
              <a:t>            "그룹명": "비축제기간",</a:t>
            </a:r>
          </a:p>
          <a:p>
            <a:r>
              <a:t>            "지표값": "0.258",</a:t>
            </a:r>
          </a:p>
          <a:p>
            <a:r>
              <a:t>            "축제명": "안동탈춤축제",</a:t>
            </a:r>
          </a:p>
          <a:p>
            <a:r>
              <a:t>            "개최년도": "2025"</a:t>
            </a:r>
          </a:p>
          <a:p>
            <a:r>
              <a:t>          },</a:t>
            </a:r>
          </a:p>
          <a:p>
            <a:r>
              <a:t>          {</a:t>
            </a:r>
          </a:p>
          <a:p>
            <a:r>
              <a:t>            "구분명": "현지인방문자 유입",</a:t>
            </a:r>
          </a:p>
          <a:p>
            <a:r>
              <a:t>            "그룹명": "비축제기간",</a:t>
            </a:r>
          </a:p>
          <a:p>
            <a:r>
              <a:t>            "지표값": "0.618",</a:t>
            </a:r>
          </a:p>
          <a:p>
            <a:r>
              <a:t>            "축제명": "안동탈춤축제",</a:t>
            </a:r>
          </a:p>
          <a:p>
            <a:r>
              <a:t>            "개최년도": "2025"</a:t>
            </a:r>
          </a:p>
          <a:p>
            <a:r>
              <a:t>          },</a:t>
            </a:r>
          </a:p>
          <a:p>
            <a:r>
              <a:t>          {</a:t>
            </a:r>
          </a:p>
          <a:p>
            <a:r>
              <a:t>            "구분명": "내비게이션 검색량",</a:t>
            </a:r>
          </a:p>
          <a:p>
            <a:r>
              <a:t>            "그룹명": "비축제기간",</a:t>
            </a:r>
          </a:p>
          <a:p>
            <a:r>
              <a:t>            "지표값": "0.252",</a:t>
            </a:r>
          </a:p>
          <a:p>
            <a:r>
              <a:t>            "축제명": "안동탈춤축제",</a:t>
            </a:r>
          </a:p>
          <a:p>
            <a:r>
              <a:t>            "개최년도": "2025"</a:t>
            </a:r>
          </a:p>
          <a:p>
            <a:r>
              <a:t>          },</a:t>
            </a:r>
          </a:p>
          <a:p>
            <a:r>
              <a:t>          {</a:t>
            </a:r>
          </a:p>
          <a:p>
            <a:r>
              <a:t>            "구분명": "관광소비",</a:t>
            </a:r>
          </a:p>
          <a:p>
            <a:r>
              <a:t>            "그룹명": "비축제기간",</a:t>
            </a:r>
          </a:p>
          <a:p>
            <a:r>
              <a:t>            "지표값": "0.375",</a:t>
            </a:r>
          </a:p>
          <a:p>
            <a:r>
              <a:t>            "축제명": "안동탈춤축제",</a:t>
            </a:r>
          </a:p>
          <a:p>
            <a:r>
              <a:t>            "개최년도": "2025"</a:t>
            </a:r>
          </a:p>
          <a:p>
            <a:r>
              <a:t>          },</a:t>
            </a:r>
          </a:p>
          <a:p>
            <a:r>
              <a:t>          {</a:t>
            </a:r>
          </a:p>
          <a:p>
            <a:r>
              <a:t>            "구분명": "축제지 집중률",</a:t>
            </a:r>
          </a:p>
          <a:p>
            <a:r>
              <a:t>            "그룹명": "비축제기간",</a:t>
            </a:r>
          </a:p>
          <a:p>
            <a:r>
              <a:t>            "지표값": "0.65",</a:t>
            </a:r>
          </a:p>
          <a:p>
            <a:r>
              <a:t>            "축제명": "안동탈춤축제",</a:t>
            </a:r>
          </a:p>
          <a:p>
            <a:r>
              <a:t>            "개최년도": "2025"</a:t>
            </a:r>
          </a:p>
          <a:p>
            <a:r>
              <a:t>          }</a:t>
            </a:r>
          </a:p>
          <a:p>
            <a:r>
              <a:t>        ],</a:t>
            </a:r>
          </a:p>
          <a:p>
            <a:r>
              <a:t>        "indicator_rule": "원본 지표값만 보존. 산식·단위 미확인으로 성장률/원화/정원/참여율 변환 금지.",</a:t>
            </a:r>
          </a:p>
          <a:p>
            <a:r>
              <a:t>        "audience": [</a:t>
            </a:r>
          </a:p>
          <a:p>
            <a:r>
              <a:t>          {</a:t>
            </a:r>
          </a:p>
          <a:p>
            <a:r>
              <a:t>            "연령대": "70세 이상",</a:t>
            </a:r>
          </a:p>
          <a:p>
            <a:r>
              <a:t>            "축제명": "안동탈춤축제",</a:t>
            </a:r>
          </a:p>
          <a:p>
            <a:r>
              <a:t>            "남성비율": "4.4",</a:t>
            </a:r>
          </a:p>
          <a:p>
            <a:r>
              <a:t>            "여성비율": "5.0"</a:t>
            </a:r>
          </a:p>
          <a:p>
            <a:r>
              <a:t>          },</a:t>
            </a:r>
          </a:p>
          <a:p>
            <a:r>
              <a:t>          {</a:t>
            </a:r>
          </a:p>
          <a:p>
            <a:r>
              <a:t>            "연령대": "60~69세",</a:t>
            </a:r>
          </a:p>
          <a:p>
            <a:r>
              <a:t>            "축제명": "안동탈춤축제",</a:t>
            </a:r>
          </a:p>
          <a:p>
            <a:r>
              <a:t>            "남성비율": "8.0",</a:t>
            </a:r>
          </a:p>
          <a:p>
            <a:r>
              <a:t>            "여성비율": "8.5"</a:t>
            </a:r>
          </a:p>
          <a:p>
            <a:r>
              <a:t>          },</a:t>
            </a:r>
          </a:p>
          <a:p>
            <a:r>
              <a:t>          {</a:t>
            </a:r>
          </a:p>
          <a:p>
            <a:r>
              <a:t>            "연령대": "50~59세",</a:t>
            </a:r>
          </a:p>
          <a:p>
            <a:r>
              <a:t>            "축제명": "안동탈춤축제",</a:t>
            </a:r>
          </a:p>
          <a:p>
            <a:r>
              <a:t>            "남성비율": "9.2",</a:t>
            </a:r>
          </a:p>
          <a:p>
            <a:r>
              <a:t>            "여성비율": "10.9"</a:t>
            </a:r>
          </a:p>
          <a:p>
            <a:r>
              <a:t>          },</a:t>
            </a:r>
          </a:p>
          <a:p>
            <a:r>
              <a:t>          {</a:t>
            </a:r>
          </a:p>
          <a:p>
            <a:r>
              <a:t>            "연령대": "40~49세",</a:t>
            </a:r>
          </a:p>
          <a:p>
            <a:r>
              <a:t>            "축제명": "안동탈춤축제",</a:t>
            </a:r>
          </a:p>
          <a:p>
            <a:r>
              <a:t>            "남성비율": "7.5",</a:t>
            </a:r>
          </a:p>
          <a:p>
            <a:r>
              <a:t>            "여성비율": "7.9"</a:t>
            </a:r>
          </a:p>
          <a:p>
            <a:r>
              <a:t>          },</a:t>
            </a:r>
          </a:p>
          <a:p>
            <a:r>
              <a:t>          {</a:t>
            </a:r>
          </a:p>
          <a:p>
            <a:r>
              <a:t>            "연령대": "30~39세",</a:t>
            </a:r>
          </a:p>
          <a:p>
            <a:r>
              <a:t>            "축제명": "안동탈춤축제",</a:t>
            </a:r>
          </a:p>
          <a:p>
            <a:r>
              <a:t>            "남성비율": "7.9",</a:t>
            </a:r>
          </a:p>
          <a:p>
            <a:r>
              <a:t>            "여성비율": "7.2"</a:t>
            </a:r>
          </a:p>
          <a:p>
            <a:r>
              <a:t>          },</a:t>
            </a:r>
          </a:p>
          <a:p>
            <a:r>
              <a:t>          {</a:t>
            </a:r>
          </a:p>
          <a:p>
            <a:r>
              <a:t>            "연령대": "20~29세",</a:t>
            </a:r>
          </a:p>
          <a:p>
            <a:r>
              <a:t>            "축제명": "안동탈춤축제",</a:t>
            </a:r>
          </a:p>
          <a:p>
            <a:r>
              <a:t>            "남성비율": "7.1",</a:t>
            </a:r>
          </a:p>
          <a:p>
            <a:r>
              <a:t>            "여성비율": "8.2"</a:t>
            </a:r>
          </a:p>
          <a:p>
            <a:r>
              <a:t>          },</a:t>
            </a:r>
          </a:p>
          <a:p>
            <a:r>
              <a:t>          {</a:t>
            </a:r>
          </a:p>
          <a:p>
            <a:r>
              <a:t>            "연령대": "10~19세",</a:t>
            </a:r>
          </a:p>
          <a:p>
            <a:r>
              <a:t>            "축제명": "안동탈춤축제",</a:t>
            </a:r>
          </a:p>
          <a:p>
            <a:r>
              <a:t>            "남성비율": "3.2",</a:t>
            </a:r>
          </a:p>
          <a:p>
            <a:r>
              <a:t>            "여성비율": "3.9"</a:t>
            </a:r>
          </a:p>
          <a:p>
            <a:r>
              <a:t>          },</a:t>
            </a:r>
          </a:p>
          <a:p>
            <a:r>
              <a:t>          {</a:t>
            </a:r>
          </a:p>
          <a:p>
            <a:r>
              <a:t>            "연령대": "0~9세",</a:t>
            </a:r>
          </a:p>
          <a:p>
            <a:r>
              <a:t>            "축제명": "안동탈춤축제",</a:t>
            </a:r>
          </a:p>
          <a:p>
            <a:r>
              <a:t>            "남성비율": "0.5",</a:t>
            </a:r>
          </a:p>
          <a:p>
            <a:r>
              <a:t>            "여성비율": "0.7"</a:t>
            </a:r>
          </a:p>
          <a:p>
            <a:r>
              <a:t>          }</a:t>
            </a:r>
          </a:p>
          <a:p>
            <a:r>
              <a:t>        ],</a:t>
            </a:r>
          </a:p>
          <a:p>
            <a:r>
              <a:t>        "audience_period": "다운로드 CSV에 연도 열 없음; 최신 개최연도와 자동 결합하지 않음",</a:t>
            </a:r>
          </a:p>
          <a:p>
            <a:r>
              <a:t>        "destination_examples": [</a:t>
            </a:r>
          </a:p>
          <a:p>
            <a:r>
              <a:t>          {</a:t>
            </a:r>
          </a:p>
          <a:p>
            <a:r>
              <a:t>            "구분": "외지인",</a:t>
            </a:r>
          </a:p>
          <a:p>
            <a:r>
              <a:t>            "순위": "1",</a:t>
            </a:r>
          </a:p>
          <a:p>
            <a:r>
              <a:t>            "목적지명": "안동구시장",</a:t>
            </a:r>
          </a:p>
          <a:p>
            <a:r>
              <a:t>            "도로명주소": "경북 안동시 번영1길 47-0",</a:t>
            </a:r>
          </a:p>
          <a:p>
            <a:r>
              <a:t>            "카테고리": "시장"</a:t>
            </a:r>
          </a:p>
          <a:p>
            <a:r>
              <a:t>          },</a:t>
            </a:r>
          </a:p>
          <a:p>
            <a:r>
              <a:t>          {</a:t>
            </a:r>
          </a:p>
          <a:p>
            <a:r>
              <a:t>            "구분": "외지인",</a:t>
            </a:r>
          </a:p>
          <a:p>
            <a:r>
              <a:t>            "순위": "2",</a:t>
            </a:r>
          </a:p>
          <a:p>
            <a:r>
              <a:t>            "목적지명": "안동국제탈춤페스티벌",</a:t>
            </a:r>
          </a:p>
          <a:p>
            <a:r>
              <a:t>            "도로명주소": "경북 안동시 육사로 239-0",</a:t>
            </a:r>
          </a:p>
          <a:p>
            <a:r>
              <a:t>            "카테고리": "기타문화관광지"</a:t>
            </a:r>
          </a:p>
          <a:p>
            <a:r>
              <a:t>          },</a:t>
            </a:r>
          </a:p>
          <a:p>
            <a:r>
              <a:t>          {</a:t>
            </a:r>
          </a:p>
          <a:p>
            <a:r>
              <a:t>            "구분": "외지인",</a:t>
            </a:r>
          </a:p>
          <a:p>
            <a:r>
              <a:t>            "순위": "3",</a:t>
            </a:r>
          </a:p>
          <a:p>
            <a:r>
              <a:t>            "목적지명": "탈춤공원",</a:t>
            </a:r>
          </a:p>
          <a:p>
            <a:r>
              <a:t>            "도로명주소": "경북 안동시 육사로 239-0",</a:t>
            </a:r>
          </a:p>
          <a:p>
            <a:r>
              <a:t>            "카테고리": "도시공원"</a:t>
            </a:r>
          </a:p>
          <a:p>
            <a:r>
              <a:t>          }</a:t>
            </a:r>
          </a:p>
          <a:p>
            <a:r>
              <a:t>        ],</a:t>
            </a:r>
          </a:p>
          <a:p>
            <a:r>
              <a:t>        "destination_period": "다운로드 CSV에 연도 열 없음; 주변 검색 후보이며 제휴·실제 방문 증거 아님"</a:t>
            </a:r>
          </a:p>
          <a:p>
            <a:r>
              <a:t>      },</a:t>
            </a:r>
          </a:p>
          <a:p>
            <a:r>
              <a:t>      "retrieval_basis": {</a:t>
            </a:r>
          </a:p>
          <a:p>
            <a:r>
              <a:t>        "kind": "external_benchmark",</a:t>
            </a:r>
          </a:p>
          <a:p>
            <a:r>
              <a:t>        "score": 31,</a:t>
            </a:r>
          </a:p>
          <a:p>
            <a:r>
              <a:t>        "components": {</a:t>
            </a:r>
          </a:p>
          <a:p>
            <a:r>
              <a:t>          "방문 전망 조사: 외지인·일평균 동반 증가": 15,</a:t>
            </a:r>
          </a:p>
          <a:p>
            <a:r>
              <a:t>          "최근 개최연도": 6,</a:t>
            </a:r>
          </a:p>
          <a:p>
            <a:r>
              <a:t>          "방문 실적 비교 가능": 10</a:t>
            </a:r>
          </a:p>
          <a:p>
            <a:r>
              <a:t>        },</a:t>
            </a:r>
          </a:p>
          <a:p>
            <a:r>
              <a:t>        "theme": "공연·문화",</a:t>
            </a:r>
          </a:p>
          <a:p>
            <a:r>
              <a:t>        "priority_signal": "visit",</a:t>
            </a:r>
          </a:p>
          <a:p>
            <a:r>
              <a:t>        "rule": "함수 기반 조사 우선순위. 사업효과·인구/환경 유사도 점수가 아니며 소비·체류 개선은 조사 가설이다."</a:t>
            </a:r>
          </a:p>
          <a:p>
            <a:r>
              <a:t>      },</a:t>
            </a:r>
          </a:p>
          <a:p>
            <a:r>
              <a:t>      "source_files": [</a:t>
            </a:r>
          </a:p>
          <a:p>
            <a:r>
              <a:t>        {</a:t>
            </a:r>
          </a:p>
          <a:p>
            <a:r>
              <a:t>          "sha256": "28f418873eda5b37d320d3fef32c46bef172ca1cfea3861db2d5fc96a0b16f50",</a:t>
            </a:r>
          </a:p>
          <a:p>
            <a:r>
              <a:t>          "provider": "한국관광 데이터랩",</a:t>
            </a:r>
          </a:p>
          <a:p>
            <a:r>
              <a:t>          "file_name": "20260820175023_안동탈춤축제_연도별 방문자 추이.csv",</a:t>
            </a:r>
          </a:p>
          <a:p>
            <a:r>
              <a:t>          "source_id": "festival-file:28f418873eda5b37d320",</a:t>
            </a:r>
          </a:p>
          <a:p>
            <a:r>
              <a:t>          "source_url": "https://datalab.visitkorea.or.kr/",</a:t>
            </a:r>
          </a:p>
          <a:p>
            <a:r>
              <a:t>          "downloaded_at": "2026-08-20",</a:t>
            </a:r>
          </a:p>
          <a:p>
            <a:r>
              <a:t>          "relative_path": "data/source_snapshots/festivals_20260820/43. 안동탈춤축제_2023-2025/20260820175023_안동탈춤축제_연도별 방문자 추이.csv",</a:t>
            </a:r>
          </a:p>
          <a:p>
            <a:r>
              <a:t>          "provenance_status": "team_download_exact_query_url_unrecorded"</a:t>
            </a:r>
          </a:p>
          <a:p>
            <a:r>
              <a:t>        },</a:t>
            </a:r>
          </a:p>
          <a:p>
            <a:r>
              <a:t>        {</a:t>
            </a:r>
          </a:p>
          <a:p>
            <a:r>
              <a:t>          "sha256": "c0b34e003112bda1f5afa06dcb153cc870d61730036ef23f1b3e7aed39ca5458",</a:t>
            </a:r>
          </a:p>
          <a:p>
            <a:r>
              <a:t>          "provider": "한국관광 데이터랩",</a:t>
            </a:r>
          </a:p>
          <a:p>
            <a:r>
              <a:t>          "file_name": "20260820175023_안동탈춤축제_성_연령별 내국인 방문자.csv",</a:t>
            </a:r>
          </a:p>
          <a:p>
            <a:r>
              <a:t>          "source_id": "festival-file:c0b34e003112bda1f5af",</a:t>
            </a:r>
          </a:p>
          <a:p>
            <a:r>
              <a:t>          "source_url": "https://datalab.visitkorea.or.kr/",</a:t>
            </a:r>
          </a:p>
          <a:p>
            <a:r>
              <a:t>          "downloaded_at": "2026-08-20",</a:t>
            </a:r>
          </a:p>
          <a:p>
            <a:r>
              <a:t>          "relative_path": "data/source_snapshots/festivals_20260820/43. 안동탈춤축제_2023-2025/20260820175023_안동탈춤축제_성_연령별 내국인 방문자.csv",</a:t>
            </a:r>
          </a:p>
          <a:p>
            <a:r>
              <a:t>          "provenance_status": "team_download_exact_query_url_unrecorded"</a:t>
            </a:r>
          </a:p>
          <a:p>
            <a:r>
              <a:t>        },</a:t>
            </a:r>
          </a:p>
          <a:p>
            <a:r>
              <a:t>        {</a:t>
            </a:r>
          </a:p>
          <a:p>
            <a:r>
              <a:t>          "sha256": "40ddabd2e46fcb12bc9cc2361174e1a5ebe80f169611896b6d4b5e60d9fda352",</a:t>
            </a:r>
          </a:p>
          <a:p>
            <a:r>
              <a:t>          "provider": "한국관광 데이터랩",</a:t>
            </a:r>
          </a:p>
          <a:p>
            <a:r>
              <a:t>          "file_name": "20260820175023_안동탈춤축제_문화관광축제 주요 지표.csv",</a:t>
            </a:r>
          </a:p>
          <a:p>
            <a:r>
              <a:t>          "source_id": "festival-file:40ddabd2e46fcb12bc9c",</a:t>
            </a:r>
          </a:p>
          <a:p>
            <a:r>
              <a:t>          "source_url": "https://datalab.visitkorea.or.kr/",</a:t>
            </a:r>
          </a:p>
          <a:p>
            <a:r>
              <a:t>          "downloaded_at": "2026-08-20",</a:t>
            </a:r>
          </a:p>
          <a:p>
            <a:r>
              <a:t>          "relative_path": "data/source_snapshots/festivals_20260820/43. 안동탈춤축제_2023-2025/20260820175023_안동탈춤축제_문화관광축제 주요 지표.csv",</a:t>
            </a:r>
          </a:p>
          <a:p>
            <a:r>
              <a:t>          "provenance_status": "team_download_exact_query_url_unrecorded"</a:t>
            </a:r>
          </a:p>
          <a:p>
            <a:r>
              <a:t>        },</a:t>
            </a:r>
          </a:p>
          <a:p>
            <a:r>
              <a:t>        {</a:t>
            </a:r>
          </a:p>
          <a:p>
            <a:r>
              <a:t>          "sha256": "11de7e20288dde00f7f18e353a24b5a95c511a7dc354ec9cc2c7a3a2436712f6",</a:t>
            </a:r>
          </a:p>
          <a:p>
            <a:r>
              <a:t>          "provider": "한국관광 데이터랩",</a:t>
            </a:r>
          </a:p>
          <a:p>
            <a:r>
              <a:t>          "file_name": "20260820175023_안동탈춤축제_목적지 검색순위.csv",</a:t>
            </a:r>
          </a:p>
          <a:p>
            <a:r>
              <a:t>          "source_id": "festival-file:11de7e20288dde00f7f1",</a:t>
            </a:r>
          </a:p>
          <a:p>
            <a:r>
              <a:t>          "source_url": "https://datalab.visitkorea.or.kr/",</a:t>
            </a:r>
          </a:p>
          <a:p>
            <a:r>
              <a:t>          "downloaded_at": "2026-08-20",</a:t>
            </a:r>
          </a:p>
          <a:p>
            <a:r>
              <a:t>          "relative_path": "data/source_snapshots/festivals_20260820/43. 안동탈춤축제_2023-2025/20260820175023_안동탈춤축제_목적지 검색순위.csv",</a:t>
            </a:r>
          </a:p>
          <a:p>
            <a:r>
              <a:t>          "provenance_status": "team_download_exact_query_url_unrecorded"</a:t>
            </a:r>
          </a:p>
          <a:p>
            <a:r>
              <a:t>        }</a:t>
            </a:r>
          </a:p>
          <a:p>
            <a:r>
              <a:t>      ],</a:t>
            </a:r>
          </a:p>
          <a:p>
            <a:r>
              <a:t>      "dataset_hash": "ad20e3daf70fd44fd481d672398c07bb9c96fce77acb450784065a568735e2e2",</a:t>
            </a:r>
          </a:p>
          <a:p>
            <a:r>
              <a:t>      "measurement_period": "2024년과 2025년 각 축제 개최기간 비교",</a:t>
            </a:r>
          </a:p>
          <a:p>
            <a:r>
              <a:t>      "transfer_conditions": [</a:t>
            </a:r>
          </a:p>
          <a:p>
            <a:r>
              <a:t>        "서구에서는 10일 축제를 복제하기보다 3개월 중 주말 2~3회 등 준비 가능한 집중 회차로 축소할 수 있다.",</a:t>
            </a:r>
          </a:p>
          <a:p>
            <a:r>
              <a:t>        "기존 공공·민간 시설과 공연자원을 조합해 신규 시설비를 줄이되 장소·운영인력 확보 여부를 먼저 확인해야 한다.",</a:t>
            </a:r>
          </a:p>
          <a:p>
            <a:r>
              <a:t>        "사전예약 회차, 현장 체크인, 참여업소 결제를 연계해 축제 관측구역 방문자와 실제 사업 참여자를 구분해야 한다.",</a:t>
            </a:r>
          </a:p>
          <a:p>
            <a:r>
              <a:t>        "안동의 전통문화 정체성을 복제하지 말고 서구에서 실제 확보 가능한 문화·쇼핑·식음 콘텐츠로 주제를 다시 설계해야 한다."</a:t>
            </a:r>
          </a:p>
          <a:p>
            <a:r>
              <a:t>      ]</a:t>
            </a:r>
          </a:p>
          <a:p>
            <a:r>
              <a:t>    },</a:t>
            </a:r>
          </a:p>
          <a:p>
            <a:r>
              <a:t>    {</a:t>
            </a:r>
          </a:p>
          <a:p>
            <a:r>
              <a:t>      "source_id": "case:festival:01474ef75569b1",</a:t>
            </a:r>
          </a:p>
          <a:p>
            <a:r>
              <a:t>      "source_type": "benchmark_case",</a:t>
            </a:r>
          </a:p>
          <a:p>
            <a:r>
              <a:t>      "title": "한국관광 데이터랩 · 문경찻사발축제 방문자 추이",</a:t>
            </a:r>
          </a:p>
          <a:p>
            <a:r>
              <a:t>      "source_url": "https://datalab.visitkorea.or.kr/",</a:t>
            </a:r>
          </a:p>
          <a:p>
            <a:r>
              <a:t>      "published_or_updated_at": "2026-08-20",</a:t>
            </a:r>
          </a:p>
          <a:p>
            <a:r>
              <a:t>      "summary": "경상북도 문경시 · 문경찻사발축제 · 2024→2025년 전체 245,750→256,570명 (+4.40%). 개최 10→9일, 일평균 +16.00%, 외지인 +9.28%.",</a:t>
            </a:r>
          </a:p>
          <a:p>
            <a:r>
              <a:t>      "case_region": "경상북도 문경시",</a:t>
            </a:r>
          </a:p>
          <a:p>
            <a:r>
              <a:t>      "intervention": "문경찻사발축제",</a:t>
            </a:r>
          </a:p>
          <a:p>
            <a:r>
              <a:t>      "operating_model": "문경찻사발축제를 2025년 9일 개최한 문화관광축제 운영 사례. 세부 프로그램·예약·혜택은 이 CSV에 기록되어 있지 않으며 새로운 운영안은 제안으로 구분한다.",</a:t>
            </a:r>
          </a:p>
          <a:p>
            <a:r>
              <a:t>      "evidence_strength": "medium",</a:t>
            </a:r>
          </a:p>
          <a:p>
            <a:r>
              <a:t>      "quantitative_result_approved": true,</a:t>
            </a:r>
          </a:p>
          <a:p>
            <a:r>
              <a:t>      "document_type": "case_study",</a:t>
            </a:r>
          </a:p>
          <a:p>
            <a:r>
              <a:t>      "retrieval_method": "datalab_festival_table",</a:t>
            </a:r>
          </a:p>
          <a:p>
            <a:r>
              <a:t>      "retrieval_context": {</a:t>
            </a:r>
          </a:p>
          <a:p>
            <a:r>
              <a:t>        "scope": "cross_province",</a:t>
            </a:r>
          </a:p>
          <a:p>
            <a:r>
              <a:t>        "peer_region_code": null</a:t>
            </a:r>
          </a:p>
          <a:p>
            <a:r>
              <a:t>      },</a:t>
            </a:r>
          </a:p>
          <a:p>
            <a:r>
              <a:t>      "observed_result": "2024→2025년 전체 245,750→256,570명 (+4.40%). 개최 10→9일, 일평균 +16.00%, 외지인 +9.28%.",</a:t>
            </a:r>
          </a:p>
          <a:p>
            <a:r>
              <a:t>      "operating_statistics": [],</a:t>
            </a:r>
          </a:p>
          <a:p>
            <a:r>
              <a:t>      "evidence_kind": "festival_statistics",</a:t>
            </a:r>
          </a:p>
          <a:p>
            <a:r>
              <a:t>      "festival_statistics": {</a:t>
            </a:r>
          </a:p>
          <a:p>
            <a:r>
              <a:t>        "name": "문경찻사발축제",</a:t>
            </a:r>
          </a:p>
          <a:p>
            <a:r>
              <a:t>        "annual": [</a:t>
            </a:r>
          </a:p>
          <a:p>
            <a:r>
              <a:t>          {</a:t>
            </a:r>
          </a:p>
          <a:p>
            <a:r>
              <a:t>            "days": 9,</a:t>
            </a:r>
          </a:p>
          <a:p>
            <a:r>
              <a:t>            "year": 2023,</a:t>
            </a:r>
          </a:p>
          <a:p>
            <a:r>
              <a:t>            "daily": 23055.333333333332,</a:t>
            </a:r>
          </a:p>
          <a:p>
            <a:r>
              <a:t>            "local": 59726,</a:t>
            </a:r>
          </a:p>
          <a:p>
            <a:r>
              <a:t>            "total": 207498,</a:t>
            </a:r>
          </a:p>
          <a:p>
            <a:r>
              <a:t>            "foreign": 1241,</a:t>
            </a:r>
          </a:p>
          <a:p>
            <a:r>
              <a:t>            "outside": 146531,</a:t>
            </a:r>
          </a:p>
          <a:p>
            <a:r>
              <a:t>            "outside_daily": 16281.222222222224,</a:t>
            </a:r>
          </a:p>
          <a:p>
            <a:r>
              <a:t>            "outside_share_pct": 70.61803005330172</a:t>
            </a:r>
          </a:p>
          <a:p>
            <a:r>
              <a:t>          },</a:t>
            </a:r>
          </a:p>
          <a:p>
            <a:r>
              <a:t>          {</a:t>
            </a:r>
          </a:p>
          <a:p>
            <a:r>
              <a:t>            "days": 10,</a:t>
            </a:r>
          </a:p>
          <a:p>
            <a:r>
              <a:t>            "year": 2024,</a:t>
            </a:r>
          </a:p>
          <a:p>
            <a:r>
              <a:t>            "daily": 24575,</a:t>
            </a:r>
          </a:p>
          <a:p>
            <a:r>
              <a:t>            "local": 64582,</a:t>
            </a:r>
          </a:p>
          <a:p>
            <a:r>
              <a:t>            "total": 245750,</a:t>
            </a:r>
          </a:p>
          <a:p>
            <a:r>
              <a:t>            "foreign": 1170,</a:t>
            </a:r>
          </a:p>
          <a:p>
            <a:r>
              <a:t>            "outside": 179998,</a:t>
            </a:r>
          </a:p>
          <a:p>
            <a:r>
              <a:t>            "outside_daily": 17999.8,</a:t>
            </a:r>
          </a:p>
          <a:p>
            <a:r>
              <a:t>            "outside_share_pct": 73.2443540183113</a:t>
            </a:r>
          </a:p>
          <a:p>
            <a:r>
              <a:t>          },</a:t>
            </a:r>
          </a:p>
          <a:p>
            <a:r>
              <a:t>          {</a:t>
            </a:r>
          </a:p>
          <a:p>
            <a:r>
              <a:t>            "days": 9,</a:t>
            </a:r>
          </a:p>
          <a:p>
            <a:r>
              <a:t>            "year": 2025,</a:t>
            </a:r>
          </a:p>
          <a:p>
            <a:r>
              <a:t>            "daily": 28507.777777777777,</a:t>
            </a:r>
          </a:p>
          <a:p>
            <a:r>
              <a:t>            "local": 58704,</a:t>
            </a:r>
          </a:p>
          <a:p>
            <a:r>
              <a:t>            "total": 256570,</a:t>
            </a:r>
          </a:p>
          <a:p>
            <a:r>
              <a:t>            "foreign": 1166,</a:t>
            </a:r>
          </a:p>
          <a:p>
            <a:r>
              <a:t>            "outside": 196700,</a:t>
            </a:r>
          </a:p>
          <a:p>
            <a:r>
              <a:t>            "outside_daily": 21855.555555555555,</a:t>
            </a:r>
          </a:p>
          <a:p>
            <a:r>
              <a:t>            "outside_share_pct": 76.66523755700199</a:t>
            </a:r>
          </a:p>
          <a:p>
            <a:r>
              <a:t>          }</a:t>
            </a:r>
          </a:p>
          <a:p>
            <a:r>
              <a:t>        ],</a:t>
            </a:r>
          </a:p>
          <a:p>
            <a:r>
              <a:t>        "comparison": {</a:t>
            </a:r>
          </a:p>
          <a:p>
            <a:r>
              <a:t>          "daily": {</a:t>
            </a:r>
          </a:p>
          <a:p>
            <a:r>
              <a:t>            "after": 28507.777777777777,</a:t>
            </a:r>
          </a:p>
          <a:p>
            <a:r>
              <a:t>            "before": 24575,</a:t>
            </a:r>
          </a:p>
          <a:p>
            <a:r>
              <a:t>            "change_pct": 16.00316491466034,</a:t>
            </a:r>
          </a:p>
          <a:p>
            <a:r>
              <a:t>            "difference": 3932.7777777777774</a:t>
            </a:r>
          </a:p>
          <a:p>
            <a:r>
              <a:t>          },</a:t>
            </a:r>
          </a:p>
          <a:p>
            <a:r>
              <a:t>          "total": {</a:t>
            </a:r>
          </a:p>
          <a:p>
            <a:r>
              <a:t>            "after": 256570,</a:t>
            </a:r>
          </a:p>
          <a:p>
            <a:r>
              <a:t>            "before": 245750,</a:t>
            </a:r>
          </a:p>
          <a:p>
            <a:r>
              <a:t>            "change_pct": 4.402848423194294,</a:t>
            </a:r>
          </a:p>
          <a:p>
            <a:r>
              <a:t>            "difference": 10820</a:t>
            </a:r>
          </a:p>
          <a:p>
            <a:r>
              <a:t>          },</a:t>
            </a:r>
          </a:p>
          <a:p>
            <a:r>
              <a:t>          "outside": {</a:t>
            </a:r>
          </a:p>
          <a:p>
            <a:r>
              <a:t>            "after": 196700,</a:t>
            </a:r>
          </a:p>
          <a:p>
            <a:r>
              <a:t>            "before": 179998,</a:t>
            </a:r>
          </a:p>
          <a:p>
            <a:r>
              <a:t>            "change_pct": 9.278991988799866,</a:t>
            </a:r>
          </a:p>
          <a:p>
            <a:r>
              <a:t>            "difference": 16702</a:t>
            </a:r>
          </a:p>
          <a:p>
            <a:r>
              <a:t>          },</a:t>
            </a:r>
          </a:p>
          <a:p>
            <a:r>
              <a:t>          "after_days": 9,</a:t>
            </a:r>
          </a:p>
          <a:p>
            <a:r>
              <a:t>          "after_year": 2025,</a:t>
            </a:r>
          </a:p>
          <a:p>
            <a:r>
              <a:t>          "before_days": 10,</a:t>
            </a:r>
          </a:p>
          <a:p>
            <a:r>
              <a:t>          "before_year": 2024,</a:t>
            </a:r>
          </a:p>
          <a:p>
            <a:r>
              <a:t>          "outside_daily": {</a:t>
            </a:r>
          </a:p>
          <a:p>
            <a:r>
              <a:t>            "after": 21855.555555555555,</a:t>
            </a:r>
          </a:p>
          <a:p>
            <a:r>
              <a:t>            "before": 17999.8,</a:t>
            </a:r>
          </a:p>
          <a:p>
            <a:r>
              <a:t>            "change_pct": 21.421102209777644,</a:t>
            </a:r>
          </a:p>
          <a:p>
            <a:r>
              <a:t>            "difference": 3855.755555555555</a:t>
            </a:r>
          </a:p>
          <a:p>
            <a:r>
              <a:t>          }</a:t>
            </a:r>
          </a:p>
          <a:p>
            <a:r>
              <a:t>        },</a:t>
            </a:r>
          </a:p>
          <a:p>
            <a:r>
              <a:t>        "scope": "축제 관측구역 방문 지표. 도시 전체·순증 관광객·입장권 실구매자 수가 아님.",</a:t>
            </a:r>
          </a:p>
          <a:p>
            <a:r>
              <a:t>        "region_basis": "목적지 검색 CSV의 시도+시군구 최빈 주소; 행사장 행정경계 확정은 아님",</a:t>
            </a:r>
          </a:p>
          <a:p>
            <a:r>
              <a:t>        "source_file": {</a:t>
            </a:r>
          </a:p>
          <a:p>
            <a:r>
              <a:t>          "sha256": "dfcb5b619f820d7ce4451f5e89294681bc37f49f8200ba859754d423602e51a1",</a:t>
            </a:r>
          </a:p>
          <a:p>
            <a:r>
              <a:t>          "provider": "한국관광 데이터랩",</a:t>
            </a:r>
          </a:p>
          <a:p>
            <a:r>
              <a:t>          "file_name": "20260820160334_문경찻사발축제_연도별 방문자 추이.csv",</a:t>
            </a:r>
          </a:p>
          <a:p>
            <a:r>
              <a:t>          "source_id": "festival-file:dfcb5b619f820d7ce445",</a:t>
            </a:r>
          </a:p>
          <a:p>
            <a:r>
              <a:t>          "source_url": "https://datalab.visitkorea.or.kr/",</a:t>
            </a:r>
          </a:p>
          <a:p>
            <a:r>
              <a:t>          "downloaded_at": "2026-08-20",</a:t>
            </a:r>
          </a:p>
          <a:p>
            <a:r>
              <a:t>          "relative_path": "data/source_snapshots/festivals_20260820/25. 문경찻사발축제_2023-2025/20260820160334_문경찻사발축제_연도별 방문자 추이.csv",</a:t>
            </a:r>
          </a:p>
          <a:p>
            <a:r>
              <a:t>          "provenance_status": "team_download_exact_query_url_unrecorded"</a:t>
            </a:r>
          </a:p>
          <a:p>
            <a:r>
              <a:t>        },</a:t>
            </a:r>
          </a:p>
          <a:p>
            <a:r>
              <a:t>        "indicator_values": [</a:t>
            </a:r>
          </a:p>
          <a:p>
            <a:r>
              <a:t>          {</a:t>
            </a:r>
          </a:p>
          <a:p>
            <a:r>
              <a:t>            "구분명": "외부방문자 유입",</a:t>
            </a:r>
          </a:p>
          <a:p>
            <a:r>
              <a:t>            "그룹명": "축제기간",</a:t>
            </a:r>
          </a:p>
          <a:p>
            <a:r>
              <a:t>            "지표값": "0.414",</a:t>
            </a:r>
          </a:p>
          <a:p>
            <a:r>
              <a:t>            "축제명": "문경찻사발축제",</a:t>
            </a:r>
          </a:p>
          <a:p>
            <a:r>
              <a:t>            "개최년도": "2025"</a:t>
            </a:r>
          </a:p>
          <a:p>
            <a:r>
              <a:t>          },</a:t>
            </a:r>
          </a:p>
          <a:p>
            <a:r>
              <a:t>          {</a:t>
            </a:r>
          </a:p>
          <a:p>
            <a:r>
              <a:t>            "구분명": "현지인방문자 유입",</a:t>
            </a:r>
          </a:p>
          <a:p>
            <a:r>
              <a:t>            "그룹명": "축제기간",</a:t>
            </a:r>
          </a:p>
          <a:p>
            <a:r>
              <a:t>            "지표값": "0.86",</a:t>
            </a:r>
          </a:p>
          <a:p>
            <a:r>
              <a:t>            "축제명": "문경찻사발축제",</a:t>
            </a:r>
          </a:p>
          <a:p>
            <a:r>
              <a:t>            "개최년도": "2025"</a:t>
            </a:r>
          </a:p>
          <a:p>
            <a:r>
              <a:t>          },</a:t>
            </a:r>
          </a:p>
          <a:p>
            <a:r>
              <a:t>          {</a:t>
            </a:r>
          </a:p>
          <a:p>
            <a:r>
              <a:t>            "구분명": "내비게이션 검색량",</a:t>
            </a:r>
          </a:p>
          <a:p>
            <a:r>
              <a:t>            "그룹명": "축제기간",</a:t>
            </a:r>
          </a:p>
          <a:p>
            <a:r>
              <a:t>            "지표값": "0.273",</a:t>
            </a:r>
          </a:p>
          <a:p>
            <a:r>
              <a:t>            "축제명": "문경찻사발축제",</a:t>
            </a:r>
          </a:p>
          <a:p>
            <a:r>
              <a:t>            "개최년도": "2025"</a:t>
            </a:r>
          </a:p>
          <a:p>
            <a:r>
              <a:t>          },</a:t>
            </a:r>
          </a:p>
          <a:p>
            <a:r>
              <a:t>          {</a:t>
            </a:r>
          </a:p>
          <a:p>
            <a:r>
              <a:t>            "구분명": "관광소비",</a:t>
            </a:r>
          </a:p>
          <a:p>
            <a:r>
              <a:t>            "그룹명": "축제기간",</a:t>
            </a:r>
          </a:p>
          <a:p>
            <a:r>
              <a:t>            "지표값": "0.536",</a:t>
            </a:r>
          </a:p>
          <a:p>
            <a:r>
              <a:t>            "축제명": "문경찻사발축제",</a:t>
            </a:r>
          </a:p>
          <a:p>
            <a:r>
              <a:t>            "개최년도": "2025"</a:t>
            </a:r>
          </a:p>
          <a:p>
            <a:r>
              <a:t>          },</a:t>
            </a:r>
          </a:p>
          <a:p>
            <a:r>
              <a:t>          {</a:t>
            </a:r>
          </a:p>
          <a:p>
            <a:r>
              <a:t>            "구분명": "축제지 집중률",</a:t>
            </a:r>
          </a:p>
          <a:p>
            <a:r>
              <a:t>            "그룹명": "축제기간",</a:t>
            </a:r>
          </a:p>
          <a:p>
            <a:r>
              <a:t>            "지표값": "0.716",</a:t>
            </a:r>
          </a:p>
          <a:p>
            <a:r>
              <a:t>            "축제명": "문경찻사발축제",</a:t>
            </a:r>
          </a:p>
          <a:p>
            <a:r>
              <a:t>            "개최년도": "2025"</a:t>
            </a:r>
          </a:p>
          <a:p>
            <a:r>
              <a:t>          },</a:t>
            </a:r>
          </a:p>
          <a:p>
            <a:r>
              <a:t>          {</a:t>
            </a:r>
          </a:p>
          <a:p>
            <a:r>
              <a:t>            "구분명": "외부방문자 유입",</a:t>
            </a:r>
          </a:p>
          <a:p>
            <a:r>
              <a:t>            "그룹명": "비축제기간",</a:t>
            </a:r>
          </a:p>
          <a:p>
            <a:r>
              <a:t>            "지표값": "0.217",</a:t>
            </a:r>
          </a:p>
          <a:p>
            <a:r>
              <a:t>            "축제명": "문경찻사발축제",</a:t>
            </a:r>
          </a:p>
          <a:p>
            <a:r>
              <a:t>            "개최년도": "2025"</a:t>
            </a:r>
          </a:p>
          <a:p>
            <a:r>
              <a:t>          },</a:t>
            </a:r>
          </a:p>
          <a:p>
            <a:r>
              <a:t>          {</a:t>
            </a:r>
          </a:p>
          <a:p>
            <a:r>
              <a:t>            "구분명": "현지인방문자 유입",</a:t>
            </a:r>
          </a:p>
          <a:p>
            <a:r>
              <a:t>            "그룹명": "비축제기간",</a:t>
            </a:r>
          </a:p>
          <a:p>
            <a:r>
              <a:t>            "지표값": "0.725",</a:t>
            </a:r>
          </a:p>
          <a:p>
            <a:r>
              <a:t>            "축제명": "문경찻사발축제",</a:t>
            </a:r>
          </a:p>
          <a:p>
            <a:r>
              <a:t>            "개최년도": "2025"</a:t>
            </a:r>
          </a:p>
          <a:p>
            <a:r>
              <a:t>          },</a:t>
            </a:r>
          </a:p>
          <a:p>
            <a:r>
              <a:t>          {</a:t>
            </a:r>
          </a:p>
          <a:p>
            <a:r>
              <a:t>            "구분명": "내비게이션 검색량",</a:t>
            </a:r>
          </a:p>
          <a:p>
            <a:r>
              <a:t>            "그룹명": "비축제기간",</a:t>
            </a:r>
          </a:p>
          <a:p>
            <a:r>
              <a:t>            "지표값": "0.148",</a:t>
            </a:r>
          </a:p>
          <a:p>
            <a:r>
              <a:t>            "축제명": "문경찻사발축제",</a:t>
            </a:r>
          </a:p>
          <a:p>
            <a:r>
              <a:t>            "개최년도": "2025"</a:t>
            </a:r>
          </a:p>
          <a:p>
            <a:r>
              <a:t>          },</a:t>
            </a:r>
          </a:p>
          <a:p>
            <a:r>
              <a:t>          {</a:t>
            </a:r>
          </a:p>
          <a:p>
            <a:r>
              <a:t>            "구분명": "관광소비",</a:t>
            </a:r>
          </a:p>
          <a:p>
            <a:r>
              <a:t>            "그룹명": "비축제기간",</a:t>
            </a:r>
          </a:p>
          <a:p>
            <a:r>
              <a:t>            "지표값": "0.381",</a:t>
            </a:r>
          </a:p>
          <a:p>
            <a:r>
              <a:t>            "축제명": "문경찻사발축제",</a:t>
            </a:r>
          </a:p>
          <a:p>
            <a:r>
              <a:t>            "개최년도": "2025"</a:t>
            </a:r>
          </a:p>
          <a:p>
            <a:r>
              <a:t>          },</a:t>
            </a:r>
          </a:p>
          <a:p>
            <a:r>
              <a:t>          {</a:t>
            </a:r>
          </a:p>
          <a:p>
            <a:r>
              <a:t>            "구분명": "축제지 집중률",</a:t>
            </a:r>
          </a:p>
          <a:p>
            <a:r>
              <a:t>            "그룹명": "비축제기간",</a:t>
            </a:r>
          </a:p>
          <a:p>
            <a:r>
              <a:t>            "지표값": "0.607",</a:t>
            </a:r>
          </a:p>
          <a:p>
            <a:r>
              <a:t>            "축제명": "문경찻사발축제",</a:t>
            </a:r>
          </a:p>
          <a:p>
            <a:r>
              <a:t>            "개최년도": "2025"</a:t>
            </a:r>
          </a:p>
          <a:p>
            <a:r>
              <a:t>          }</a:t>
            </a:r>
          </a:p>
          <a:p>
            <a:r>
              <a:t>        ],</a:t>
            </a:r>
          </a:p>
          <a:p>
            <a:r>
              <a:t>        "indicator_rule": "원본 지표값만 보존. 산식·단위 미확인으로 성장률/원화/정원/참여율 변환 금지.",</a:t>
            </a:r>
          </a:p>
          <a:p>
            <a:r>
              <a:t>        "audience": [</a:t>
            </a:r>
          </a:p>
          <a:p>
            <a:r>
              <a:t>          {</a:t>
            </a:r>
          </a:p>
          <a:p>
            <a:r>
              <a:t>            "연령대": "70세 이상",</a:t>
            </a:r>
          </a:p>
          <a:p>
            <a:r>
              <a:t>            "축제명": "문경찻사발축제",</a:t>
            </a:r>
          </a:p>
          <a:p>
            <a:r>
              <a:t>            "남성비율": "4.0",</a:t>
            </a:r>
          </a:p>
          <a:p>
            <a:r>
              <a:t>            "여성비율": "3.8"</a:t>
            </a:r>
          </a:p>
          <a:p>
            <a:r>
              <a:t>          },</a:t>
            </a:r>
          </a:p>
          <a:p>
            <a:r>
              <a:t>          {</a:t>
            </a:r>
          </a:p>
          <a:p>
            <a:r>
              <a:t>            "연령대": "60~69세",</a:t>
            </a:r>
          </a:p>
          <a:p>
            <a:r>
              <a:t>            "축제명": "문경찻사발축제",</a:t>
            </a:r>
          </a:p>
          <a:p>
            <a:r>
              <a:t>            "남성비율": "12.3",</a:t>
            </a:r>
          </a:p>
          <a:p>
            <a:r>
              <a:t>            "여성비율": "10.0"</a:t>
            </a:r>
          </a:p>
          <a:p>
            <a:r>
              <a:t>          },</a:t>
            </a:r>
          </a:p>
          <a:p>
            <a:r>
              <a:t>          {</a:t>
            </a:r>
          </a:p>
          <a:p>
            <a:r>
              <a:t>            "연령대": "50~59세",</a:t>
            </a:r>
          </a:p>
          <a:p>
            <a:r>
              <a:t>            "축제명": "문경찻사발축제",</a:t>
            </a:r>
          </a:p>
          <a:p>
            <a:r>
              <a:t>            "남성비율": "13.0",</a:t>
            </a:r>
          </a:p>
          <a:p>
            <a:r>
              <a:t>            "여성비율": "11.7"</a:t>
            </a:r>
          </a:p>
          <a:p>
            <a:r>
              <a:t>          },</a:t>
            </a:r>
          </a:p>
          <a:p>
            <a:r>
              <a:t>          {</a:t>
            </a:r>
          </a:p>
          <a:p>
            <a:r>
              <a:t>            "연령대": "40~49세",</a:t>
            </a:r>
          </a:p>
          <a:p>
            <a:r>
              <a:t>            "축제명": "문경찻사발축제",</a:t>
            </a:r>
          </a:p>
          <a:p>
            <a:r>
              <a:t>            "남성비율": "9.3",</a:t>
            </a:r>
          </a:p>
          <a:p>
            <a:r>
              <a:t>            "여성비율": "7.6"</a:t>
            </a:r>
          </a:p>
          <a:p>
            <a:r>
              <a:t>          },</a:t>
            </a:r>
          </a:p>
          <a:p>
            <a:r>
              <a:t>          {</a:t>
            </a:r>
          </a:p>
          <a:p>
            <a:r>
              <a:t>            "연령대": "30~39세",</a:t>
            </a:r>
          </a:p>
          <a:p>
            <a:r>
              <a:t>            "축제명": "문경찻사발축제",</a:t>
            </a:r>
          </a:p>
          <a:p>
            <a:r>
              <a:t>            "남성비율": "7.2",</a:t>
            </a:r>
          </a:p>
          <a:p>
            <a:r>
              <a:t>            "여성비율": "6.1"</a:t>
            </a:r>
          </a:p>
          <a:p>
            <a:r>
              <a:t>          },</a:t>
            </a:r>
          </a:p>
          <a:p>
            <a:r>
              <a:t>          {</a:t>
            </a:r>
          </a:p>
          <a:p>
            <a:r>
              <a:t>            "연령대": "20~29세",</a:t>
            </a:r>
          </a:p>
          <a:p>
            <a:r>
              <a:t>            "축제명": "문경찻사발축제",</a:t>
            </a:r>
          </a:p>
          <a:p>
            <a:r>
              <a:t>            "남성비율": "4.6",</a:t>
            </a:r>
          </a:p>
          <a:p>
            <a:r>
              <a:t>            "여성비율": "4.1"</a:t>
            </a:r>
          </a:p>
          <a:p>
            <a:r>
              <a:t>          },</a:t>
            </a:r>
          </a:p>
          <a:p>
            <a:r>
              <a:t>          {</a:t>
            </a:r>
          </a:p>
          <a:p>
            <a:r>
              <a:t>            "연령대": "10~19세",</a:t>
            </a:r>
          </a:p>
          <a:p>
            <a:r>
              <a:t>            "축제명": "문경찻사발축제",</a:t>
            </a:r>
          </a:p>
          <a:p>
            <a:r>
              <a:t>            "남성비율": "2.5",</a:t>
            </a:r>
          </a:p>
          <a:p>
            <a:r>
              <a:t>            "여성비율": "2.5"</a:t>
            </a:r>
          </a:p>
          <a:p>
            <a:r>
              <a:t>          },</a:t>
            </a:r>
          </a:p>
          <a:p>
            <a:r>
              <a:t>          {</a:t>
            </a:r>
          </a:p>
          <a:p>
            <a:r>
              <a:t>            "연령대": "0~9세",</a:t>
            </a:r>
          </a:p>
          <a:p>
            <a:r>
              <a:t>            "축제명": "문경찻사발축제",</a:t>
            </a:r>
          </a:p>
          <a:p>
            <a:r>
              <a:t>            "남성비율": "0.6",</a:t>
            </a:r>
          </a:p>
          <a:p>
            <a:r>
              <a:t>            "여성비율": "0.6"</a:t>
            </a:r>
          </a:p>
          <a:p>
            <a:r>
              <a:t>          }</a:t>
            </a:r>
          </a:p>
          <a:p>
            <a:r>
              <a:t>        ],</a:t>
            </a:r>
          </a:p>
          <a:p>
            <a:r>
              <a:t>        "audience_period": "다운로드 CSV에 연도 열 없음; 최신 개최연도와 자동 결합하지 않음",</a:t>
            </a:r>
          </a:p>
          <a:p>
            <a:r>
              <a:t>        "destination_examples": [</a:t>
            </a:r>
          </a:p>
          <a:p>
            <a:r>
              <a:t>          {</a:t>
            </a:r>
          </a:p>
          <a:p>
            <a:r>
              <a:t>            "구분": "외지인",</a:t>
            </a:r>
          </a:p>
          <a:p>
            <a:r>
              <a:t>            "순위": "1",</a:t>
            </a:r>
          </a:p>
          <a:p>
            <a:r>
              <a:t>            "목적지명": "문경새재",</a:t>
            </a:r>
          </a:p>
          <a:p>
            <a:r>
              <a:t>            "도로명주소": "경북 문경시 새재로 932-0",</a:t>
            </a:r>
          </a:p>
          <a:p>
            <a:r>
              <a:t>            "카테고리": "역사유적지"</a:t>
            </a:r>
          </a:p>
          <a:p>
            <a:r>
              <a:t>          },</a:t>
            </a:r>
          </a:p>
          <a:p>
            <a:r>
              <a:t>          {</a:t>
            </a:r>
          </a:p>
          <a:p>
            <a:r>
              <a:t>            "구분": "외지인",</a:t>
            </a:r>
          </a:p>
          <a:p>
            <a:r>
              <a:t>            "순위": "2",</a:t>
            </a:r>
          </a:p>
          <a:p>
            <a:r>
              <a:t>            "목적지명": "문경종합온천",</a:t>
            </a:r>
          </a:p>
          <a:p>
            <a:r>
              <a:t>            "도로명주소": "경북 문경시 온천2길 24-0",</a:t>
            </a:r>
          </a:p>
          <a:p>
            <a:r>
              <a:t>            "카테고리": "웰니스관광"</a:t>
            </a:r>
          </a:p>
          <a:p>
            <a:r>
              <a:t>          },</a:t>
            </a:r>
          </a:p>
          <a:p>
            <a:r>
              <a:t>          {</a:t>
            </a:r>
          </a:p>
          <a:p>
            <a:r>
              <a:t>            "구분": "외지인",</a:t>
            </a:r>
          </a:p>
          <a:p>
            <a:r>
              <a:t>            "순위": "3",</a:t>
            </a:r>
          </a:p>
          <a:p>
            <a:r>
              <a:t>            "목적지명": "문경찻사발축제",</a:t>
            </a:r>
          </a:p>
          <a:p>
            <a:r>
              <a:t>            "도로명주소": "경북 문경시 새재로 933-0",</a:t>
            </a:r>
          </a:p>
          <a:p>
            <a:r>
              <a:t>            "카테고리": "기타문화관광지"</a:t>
            </a:r>
          </a:p>
          <a:p>
            <a:r>
              <a:t>          }</a:t>
            </a:r>
          </a:p>
          <a:p>
            <a:r>
              <a:t>        ],</a:t>
            </a:r>
          </a:p>
          <a:p>
            <a:r>
              <a:t>        "destination_period": "다운로드 CSV에 연도 열 없음; 주변 검색 후보이며 제휴·실제 방문 증거 아님"</a:t>
            </a:r>
          </a:p>
          <a:p>
            <a:r>
              <a:t>      },</a:t>
            </a:r>
          </a:p>
          <a:p>
            <a:r>
              <a:t>      "retrieval_basis": {</a:t>
            </a:r>
          </a:p>
          <a:p>
            <a:r>
              <a:t>        "kind": "external_benchmark",</a:t>
            </a:r>
          </a:p>
          <a:p>
            <a:r>
              <a:t>        "score": 31,</a:t>
            </a:r>
          </a:p>
          <a:p>
            <a:r>
              <a:t>        "components": {</a:t>
            </a:r>
          </a:p>
          <a:p>
            <a:r>
              <a:t>          "방문 전망 조사: 외지인·일평균 동반 증가": 15,</a:t>
            </a:r>
          </a:p>
          <a:p>
            <a:r>
              <a:t>          "최근 개최연도": 6,</a:t>
            </a:r>
          </a:p>
          <a:p>
            <a:r>
              <a:t>          "방문 실적 비교 가능": 10</a:t>
            </a:r>
          </a:p>
          <a:p>
            <a:r>
              <a:t>        },</a:t>
            </a:r>
          </a:p>
          <a:p>
            <a:r>
              <a:t>        "theme": "역사·공예",</a:t>
            </a:r>
          </a:p>
          <a:p>
            <a:r>
              <a:t>        "priority_signal": "visit",</a:t>
            </a:r>
          </a:p>
          <a:p>
            <a:r>
              <a:t>        "rule": "함수 기반 조사 우선순위. 사업효과·인구/환경 유사도 점수가 아니며 소비·체류 개선은 조사 가설이다."</a:t>
            </a:r>
          </a:p>
          <a:p>
            <a:r>
              <a:t>      },</a:t>
            </a:r>
          </a:p>
          <a:p>
            <a:r>
              <a:t>      "source_files": [</a:t>
            </a:r>
          </a:p>
          <a:p>
            <a:r>
              <a:t>        {</a:t>
            </a:r>
          </a:p>
          <a:p>
            <a:r>
              <a:t>          "sha256": "dfcb5b619f820d7ce4451f5e89294681bc37f49f8200ba859754d423602e51a1",</a:t>
            </a:r>
          </a:p>
          <a:p>
            <a:r>
              <a:t>          "provider": "한국관광 데이터랩",</a:t>
            </a:r>
          </a:p>
          <a:p>
            <a:r>
              <a:t>          "file_name": "20260820160334_문경찻사발축제_연도별 방문자 추이.csv",</a:t>
            </a:r>
          </a:p>
          <a:p>
            <a:r>
              <a:t>          "source_id": "festival-file:dfcb5b619f820d7ce445",</a:t>
            </a:r>
          </a:p>
          <a:p>
            <a:r>
              <a:t>          "source_url": "https://datalab.visitkorea.or.kr/",</a:t>
            </a:r>
          </a:p>
          <a:p>
            <a:r>
              <a:t>          "downloaded_at": "2026-08-20",</a:t>
            </a:r>
          </a:p>
          <a:p>
            <a:r>
              <a:t>          "relative_path": "data/source_snapshots/festivals_20260820/25. 문경찻사발축제_2023-2025/20260820160334_문경찻사발축제_연도별 방문자 추이.csv",</a:t>
            </a:r>
          </a:p>
          <a:p>
            <a:r>
              <a:t>          "provenance_status": "team_download_exact_query_url_unrecorded"</a:t>
            </a:r>
          </a:p>
          <a:p>
            <a:r>
              <a:t>        },</a:t>
            </a:r>
          </a:p>
          <a:p>
            <a:r>
              <a:t>        {</a:t>
            </a:r>
          </a:p>
          <a:p>
            <a:r>
              <a:t>          "sha256": "44238aecdfa68974febce93cd262e119492da76910929b96da438d8b6ee7a9b3",</a:t>
            </a:r>
          </a:p>
          <a:p>
            <a:r>
              <a:t>          "provider": "한국관광 데이터랩",</a:t>
            </a:r>
          </a:p>
          <a:p>
            <a:r>
              <a:t>          "file_name": "20260820160334_문경찻사발축제_성_연령별 내국인 방문자.csv",</a:t>
            </a:r>
          </a:p>
          <a:p>
            <a:r>
              <a:t>          "source_id": "festival-file:44238aecdfa68974febc",</a:t>
            </a:r>
          </a:p>
          <a:p>
            <a:r>
              <a:t>          "source_url": "https://datalab.visitkorea.or.kr/",</a:t>
            </a:r>
          </a:p>
          <a:p>
            <a:r>
              <a:t>          "downloaded_at": "2026-08-20",</a:t>
            </a:r>
          </a:p>
          <a:p>
            <a:r>
              <a:t>          "relative_path": "data/source_snapshots/festivals_20260820/25. 문경찻사발축제_2023-2025/20260820160334_문경찻사발축제_성_연령별 내국인 방문자.csv",</a:t>
            </a:r>
          </a:p>
          <a:p>
            <a:r>
              <a:t>          "provenance_status": "team_download_exact_query_url_unrecorded"</a:t>
            </a:r>
          </a:p>
          <a:p>
            <a:r>
              <a:t>        },</a:t>
            </a:r>
          </a:p>
          <a:p>
            <a:r>
              <a:t>        {</a:t>
            </a:r>
          </a:p>
          <a:p>
            <a:r>
              <a:t>          "sha256": "eadf4622620ddb1575df5f358ec588aeed8718c09e0998a19494cf0f3cfe0f16",</a:t>
            </a:r>
          </a:p>
          <a:p>
            <a:r>
              <a:t>          "provider": "한국관광 데이터랩",</a:t>
            </a:r>
          </a:p>
          <a:p>
            <a:r>
              <a:t>          "file_name": "20260820160334_문경찻사발축제_문화관광축제 주요 지표.csv",</a:t>
            </a:r>
          </a:p>
          <a:p>
            <a:r>
              <a:t>          "source_id": "festival-file:eadf4622620ddb1575df",</a:t>
            </a:r>
          </a:p>
          <a:p>
            <a:r>
              <a:t>          "source_url": "https://datalab.visitkorea.or.kr/",</a:t>
            </a:r>
          </a:p>
          <a:p>
            <a:r>
              <a:t>          "downloaded_at": "2026-08-20",</a:t>
            </a:r>
          </a:p>
          <a:p>
            <a:r>
              <a:t>          "relative_path": "data/source_snapshots/festivals_20260820/25. 문경찻사발축제_2023-2025/20260820160334_문경찻사발축제_문화관광축제 주요 지표.csv",</a:t>
            </a:r>
          </a:p>
          <a:p>
            <a:r>
              <a:t>          "provenance_status": "team_download_exact_query_url_unrecorded"</a:t>
            </a:r>
          </a:p>
          <a:p>
            <a:r>
              <a:t>        },</a:t>
            </a:r>
          </a:p>
          <a:p>
            <a:r>
              <a:t>        {</a:t>
            </a:r>
          </a:p>
          <a:p>
            <a:r>
              <a:t>          "sha256": "343671c431cfa7e76ba333ca2ea221803e111e0db5e9a51c6d387b0ba5d7eeaf",</a:t>
            </a:r>
          </a:p>
          <a:p>
            <a:r>
              <a:t>          "provider": "한국관광 데이터랩",</a:t>
            </a:r>
          </a:p>
          <a:p>
            <a:r>
              <a:t>          "file_name": "20260820160334_문경찻사발축제_목적지 검색순위.csv",</a:t>
            </a:r>
          </a:p>
          <a:p>
            <a:r>
              <a:t>          "source_id": "festival-file:343671c431cfa7e76ba3",</a:t>
            </a:r>
          </a:p>
          <a:p>
            <a:r>
              <a:t>          "source_url": "https://datalab.visitkorea.or.kr/",</a:t>
            </a:r>
          </a:p>
          <a:p>
            <a:r>
              <a:t>          "downloaded_at": "2026-08-20",</a:t>
            </a:r>
          </a:p>
          <a:p>
            <a:r>
              <a:t>          "relative_path": "data/source_snapshots/festivals_20260820/25. 문경찻사발축제_2023-2025/20260820160334_문경찻사발축제_목적지 검색순위.csv",</a:t>
            </a:r>
          </a:p>
          <a:p>
            <a:r>
              <a:t>          "provenance_status": "team_download_exact_query_url_unrecorded"</a:t>
            </a:r>
          </a:p>
          <a:p>
            <a:r>
              <a:t>        }</a:t>
            </a:r>
          </a:p>
          <a:p>
            <a:r>
              <a:t>      ],</a:t>
            </a:r>
          </a:p>
          <a:p>
            <a:r>
              <a:t>      "dataset_hash": "ad20e3daf70fd44fd481d672398c07bb9c96fce77acb450784065a568735e2e2",</a:t>
            </a:r>
          </a:p>
          <a:p>
            <a:r>
              <a:t>      "measurement_period": "2023~2025년 각 축제 개최기간",</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a:t>
            </a:r>
          </a:p>
          <a:p>
            <a:r>
              <a:t>    {</a:t>
            </a:r>
          </a:p>
          <a:p>
            <a:r>
              <a:t>      "source_id": "case:gangjin_half_price_2024",</a:t>
            </a:r>
          </a:p>
          <a:p>
            <a:r>
              <a:t>      "source_type": "benchmark_case",</a:t>
            </a:r>
          </a:p>
          <a:p>
            <a:r>
              <a:t>      "title": "강진 반값여행 지역경제 효과 소개",</a:t>
            </a:r>
          </a:p>
          <a:p>
            <a:r>
              <a:t>      "source_url": "https://jnfarm.jeonnam.go.kr/board/FARM_BOARD_008/boardView.do?bdId=BD_00000000000011721&amp;menuCd=farm004002",</a:t>
            </a:r>
          </a:p>
          <a:p>
            <a:r>
              <a:t>      "published_or_updated_at": "2025-01-02",</a:t>
            </a:r>
          </a:p>
          <a:p>
            <a:r>
              <a:t>      "summary": "전라남도 강진군 · 반값여행 지역환급 · 상품권 결제 변화에 관한 소개 자료는 있으나, 사업 참여자 범위·정확한 비교 기간·원자료를 확인하지 못해 성과 수치 인용을 보류한다.",</a:t>
            </a:r>
          </a:p>
          <a:p>
            <a:r>
              <a:t>      "case_region": "전라남도 강진군",</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"quantitative_result_approved": false,</a:t>
            </a:r>
          </a:p>
          <a:p>
            <a:r>
              <a:t>      "document_type": "case_study",</a:t>
            </a:r>
          </a:p>
          <a:p>
            <a:r>
              <a:t>      "retrieval_method": "curated_registry",</a:t>
            </a:r>
          </a:p>
          <a:p>
            <a:r>
              <a:t>      "retrieval_context": {</a:t>
            </a:r>
          </a:p>
          <a:p>
            <a:r>
              <a:t>        "scope": "cross_province",</a:t>
            </a:r>
          </a:p>
          <a:p>
            <a:r>
              <a:t>        "peer_region_code": null</a:t>
            </a:r>
          </a:p>
          <a:p>
            <a:r>
              <a:t>      },</a:t>
            </a:r>
          </a:p>
          <a:p>
            <a:r>
              <a:t>      "observed_result": "상품권 결제 변화에 관한 소개 자료는 있으나, 사업 참여자 범위·정확한 비교 기간·원자료를 확인하지 못해 성과 수치 인용을 보류한다.",</a:t>
            </a:r>
          </a:p>
          <a:p>
            <a:r>
              <a:t>      "operating_statistics": [],</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a:t>
            </a:r>
          </a:p>
          <a:p>
            <a:r>
              <a:t>    {</a:t>
            </a:r>
          </a:p>
          <a:p>
            <a:r>
              <a:t>      "source_id": "case:4544b7bca8ebab",</a:t>
            </a:r>
          </a:p>
          <a:p>
            <a:r>
              <a:t>      "source_type": "benchmark_case",</a:t>
            </a:r>
          </a:p>
          <a:p>
            <a:r>
              <a:t>      "title": "요즘, 한국관광 2호 - 지방공항 연계 지역관광 활성화 방안",</a:t>
            </a:r>
          </a:p>
          <a:p>
            <a:r>
              <a:t>      "source_url": "https://datalab.visitkorea.or.kr/site/portal/ex/bbs/View.do?bcIdx=311068&amp;cbIdx=1135&amp;pageIndex=1",</a:t>
            </a:r>
          </a:p>
          <a:p>
            <a:r>
              <a:t>      "published_or_updated_at": "2026-08",</a:t>
            </a:r>
          </a:p>
          <a:p>
            <a:r>
              <a:t>      "summary": "충청권 청주공항·오송역·공주·부여 연계지역 · 청주공항 연계 광역순환버스·수요응답형 버스와 관광상품 연결 · 2026년 상반기 순환버스와 DRT 이용객은 총 7,470명으로 보고됐다. 2026년 6월 기준 청주공항 연계 여행상품 49개가 개발됐으나, 공항 입국자 증가와 버스사업의 인과관계 및 이용객의 대전 서구 방문·숙박·소비는 확인되지 않았다.",</a:t>
            </a:r>
          </a:p>
          <a:p>
            <a:r>
              <a:t>      "case_region": "충청권 청주공항·오송역·공주·부여 연계지역",</a:t>
            </a:r>
          </a:p>
          <a:p>
            <a:r>
              <a:t>      "intervention": "청주공항 연계 광역순환버스·수요응답형 버스와 관광상품 연결",</a:t>
            </a:r>
          </a:p>
          <a:p>
            <a:r>
              <a:t>      "operating_model": "한국관광공사, 충청남·북도와 지역관광기관이 협업해 청주공항·오송역·공주터미널·부여터미널 등을 연결하는 광역순환버스와 수요응답형 버스를 지원했다. 공항 연계 콘텐츠와 코스를 발굴하고 여행사·OTA가 교통·숙박·식당을 묶어 판매할 수 있도록 상품화 정보를 제공했다.",</a:t>
            </a:r>
          </a:p>
          <a:p>
            <a:r>
              <a:t>      "evidence_strength": "medium",</a:t>
            </a:r>
          </a:p>
          <a:p>
            <a:r>
              <a:t>      "quantitative_result_approved": null,</a:t>
            </a:r>
          </a:p>
          <a:p>
            <a:r>
              <a:t>      "document_type": null,</a:t>
            </a:r>
          </a:p>
          <a:p>
            <a:r>
              <a:t>      "retrieval_method": "official_web_search",</a:t>
            </a:r>
          </a:p>
          <a:p>
            <a:r>
              <a:t>      "retrieval_context": {</a:t>
            </a:r>
          </a:p>
          <a:p>
            <a:r>
              <a:t>        "scope": "national_or_unresolved",</a:t>
            </a:r>
          </a:p>
          <a:p>
            <a:r>
              <a:t>        "peer_region_code": null</a:t>
            </a:r>
          </a:p>
          <a:p>
            <a:r>
              <a:t>      },</a:t>
            </a:r>
          </a:p>
          <a:p>
            <a:r>
              <a:t>      "observed_result": "2026년 상반기 순환버스와 DRT 이용객은 총 7,470명으로 보고됐다. 2026년 6월 기준 청주공항 연계 여행상품 49개가 개발됐으나, 공항 입국자 증가와 버스사업의 인과관계 및 이용객의 대전 서구 방문·숙박·소비는 확인되지 않았다.",</a:t>
            </a:r>
          </a:p>
          <a:p>
            <a:r>
              <a:t>      "operating_statistics": [</a:t>
            </a:r>
          </a:p>
          <a:p>
            <a:r>
              <a:t>        {</a:t>
            </a:r>
          </a:p>
          <a:p>
            <a:r>
              <a:t>          "metric": "participants",</a:t>
            </a:r>
          </a:p>
          <a:p>
            <a:r>
              <a:t>          "value": 7470,</a:t>
            </a:r>
          </a:p>
          <a:p>
            <a:r>
              <a:t>          "unit": "명",</a:t>
            </a:r>
          </a:p>
          <a:p>
            <a:r>
              <a:t>          "period": "2026년 상반기",</a:t>
            </a:r>
          </a:p>
          <a:p>
            <a:r>
              <a:t>          "scope": "청주공항 연계 광역순환버스·DRT 실제 이용객 합계",</a:t>
            </a:r>
          </a:p>
          <a:p>
            <a:r>
              <a:t>          "quote": "순환버스와 DRT 이용객은 총 7,470명",</a:t>
            </a:r>
          </a:p>
          <a:p>
            <a:r>
              <a:t>          "capacity_count": null,</a:t>
            </a:r>
          </a:p>
          <a:p>
            <a:r>
              <a:t>          "participant_count": 7470,</a:t>
            </a:r>
          </a:p>
          <a:p>
            <a:r>
              <a:t>          "program_name": "청주공항 연계 순환버스·DRT"</a:t>
            </a:r>
          </a:p>
          <a:p>
            <a:r>
              <a:t>        }</a:t>
            </a:r>
          </a:p>
          <a:p>
            <a:r>
              <a:t>      ],</a:t>
            </a:r>
          </a:p>
          <a:p>
            <a:r>
              <a:t>      "measurement_period": "2026-01~2026-06",</a:t>
            </a:r>
          </a:p>
          <a:p>
            <a:r>
              <a:t>      "transfer_conditions": [</a:t>
            </a:r>
          </a:p>
          <a:p>
            <a:r>
              <a:t>        "서구 적용 시 청주공항 전체 권역사업을 복제하지 말고 대전역·복합터미널·유성 권역 등 실제 유입거점에서 서구 콘텐츠로 이어지는 한정 노선을 검토해야 한다.",</a:t>
            </a:r>
          </a:p>
          <a:p>
            <a:r>
              <a:t>        "고정노선보다 사전예약 회차 또는 행사일 셔틀을 우선 검토해 3개월 고정기간의 운행 공차 위험을 줄여야 한다.",</a:t>
            </a:r>
          </a:p>
          <a:p>
            <a:r>
              <a:t>        "탑승 QR, 하차지, 체험 예약, 참여업소 결제를 연결해 이동 이후 행동을 측정해야 한다.",</a:t>
            </a:r>
          </a:p>
          <a:p>
            <a:r>
              <a:t>        "버스 운송사업자, 관광시설, 숙박·식음업체 간 운행시간과 정산 책임 협약이 필요하다."</a:t>
            </a:r>
          </a:p>
          <a:p>
            <a:r>
              <a:t>      ]</a:t>
            </a:r>
          </a:p>
          <a:p>
            <a:r>
              <a:t>    },</a:t>
            </a:r>
          </a:p>
          <a:p>
            <a:r>
              <a:t>    {</a:t>
            </a:r>
          </a:p>
          <a:p>
            <a:r>
              <a:t>      "source_id": "case:digital_tourism_resident_2024",</a:t>
            </a:r>
          </a:p>
          <a:p>
            <a:r>
              <a:t>      "source_type": "benchmark_case",</a:t>
            </a:r>
          </a:p>
          <a:p>
            <a:r>
              <a:t>      "title": "2024년 6월 여행가는 달 추진 보도자료",</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"published_or_updated_at": "2024-05-14",</a:t>
            </a:r>
          </a:p>
          <a:p>
            <a:r>
              <a:t>      "summary": "전국 인구감소지역 34곳 · 디지털 관광주민증과 교통·숙박·상점 할인 결합 · 2024년 34개 지역 약 800개 관광업체에 혜택 구조를 적용",</a:t>
            </a:r>
          </a:p>
          <a:p>
            <a:r>
              <a:t>      "case_region": "전국 인구감소지역 34곳",</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"2024년 34개 지역 약 800개 관광업체에 혜택 구조를 적용",</a:t>
            </a:r>
          </a:p>
          <a:p>
            <a:r>
              <a:t>      "operating_statistics": [],</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a:t>
            </a:r>
          </a:p>
          <a:p>
            <a:r>
              <a:t>    {</a:t>
            </a:r>
          </a:p>
          <a:p>
            <a:r>
              <a:t>      "source_id": "case:night_festival_2025",</a:t>
            </a:r>
          </a:p>
          <a:p>
            <a:r>
              <a:t>      "source_type": "benchmark_case",</a:t>
            </a:r>
          </a:p>
          <a:p>
            <a:r>
              <a:t>      "title": "2025 대한민국 밤밤페스타 개최 도시 및 일정",</a:t>
            </a:r>
          </a:p>
          <a:p>
            <a:r>
              <a:t>      "source_url": "https://korean.visitkorea.or.kr/detail/rem_detail.do?cotid=f9c636b2-dd7c-4f09-af3d-6af43b33d371",</a:t>
            </a:r>
          </a:p>
          <a:p>
            <a:r>
              <a:t>      "published_or_updated_at": "2025",</a:t>
            </a:r>
          </a:p>
          <a:p>
            <a:r>
              <a:t>      "summary": "야간관광 특화도시 10곳 · 도시별 야간 콘텐츠를 순회형 축제로 묶는 운영 · 공식 여행기사는 개최 도시·장소·운영 시간과 콘텐츠만 제시하며 방문·소비 성과 수치는 제시하지 않음",</a:t>
            </a:r>
          </a:p>
          <a:p>
            <a:r>
              <a:t>      "case_region": "야간관광 특화도시 10곳",</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"공식 여행기사는 개최 도시·장소·운영 시간과 콘텐츠만 제시하며 방문·소비 성과 수치는 제시하지 않음",</a:t>
            </a:r>
          </a:p>
          <a:p>
            <a:r>
              <a:t>      "operating_statistics": [],</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a:t>
            </a:r>
          </a:p>
          <a:p>
            <a:r>
              <a:t>    {</a:t>
            </a:r>
          </a:p>
          <a:p>
            <a:r>
              <a:t>      "source_id": "case:festival:1ff9d11d3ee0ee",</a:t>
            </a:r>
          </a:p>
          <a:p>
            <a:r>
              <a:t>      "source_type": "benchmark_case",</a:t>
            </a:r>
          </a:p>
          <a:p>
            <a:r>
              <a:t>      "title": "한국관광 데이터랩 · 진도신비의바닷길축제 방문자 추이",</a:t>
            </a:r>
          </a:p>
          <a:p>
            <a:r>
              <a:t>      "source_url": "https://datalab.visitkorea.or.kr/",</a:t>
            </a:r>
          </a:p>
          <a:p>
            <a:r>
              <a:t>      "published_or_updated_at": "2026-08-20",</a:t>
            </a:r>
          </a:p>
          <a:p>
            <a:r>
              <a:t>      "summary": "전라남도 진도군 · 진도신비의바닷길축제 · 2024→2025년 전체 28,171→43,973명 (+56.09%). 개최 3→4일, 일평균 +17.07%, 외지인 +89.98%.",</a:t>
            </a:r>
          </a:p>
          <a:p>
            <a:r>
              <a:t>      "case_region": "전라남도 진도군",</a:t>
            </a:r>
          </a:p>
          <a:p>
            <a:r>
              <a:t>      "intervention": "진도신비의바닷길축제",</a:t>
            </a:r>
          </a:p>
          <a:p>
            <a:r>
              <a:t>      "operating_model": "진도신비의바닷길축제를 2025년 4일 개최한 문화관광축제 운영 사례. 세부 프로그램·예약·혜택은 이 CSV에 기록되어 있지 않으며 새로운 운영안은 제안으로 구분한다.",</a:t>
            </a:r>
          </a:p>
          <a:p>
            <a:r>
              <a:t>      "evidence_strength": "medium",</a:t>
            </a:r>
          </a:p>
          <a:p>
            <a:r>
              <a:t>      "quantitative_result_approved": true,</a:t>
            </a:r>
          </a:p>
          <a:p>
            <a:r>
              <a:t>      "document_type": "case_study",</a:t>
            </a:r>
          </a:p>
          <a:p>
            <a:r>
              <a:t>      "retrieval_method": "datalab_festival_table",</a:t>
            </a:r>
          </a:p>
          <a:p>
            <a:r>
              <a:t>      "retrieval_context": {</a:t>
            </a:r>
          </a:p>
          <a:p>
            <a:r>
              <a:t>        "scope": "cross_province",</a:t>
            </a:r>
          </a:p>
          <a:p>
            <a:r>
              <a:t>        "peer_region_code": null</a:t>
            </a:r>
          </a:p>
          <a:p>
            <a:r>
              <a:t>      },</a:t>
            </a:r>
          </a:p>
          <a:p>
            <a:r>
              <a:t>      "observed_result": "2024→2025년 전체 28,171→43,973명 (+56.09%). 개최 3→4일, 일평균 +17.07%, 외지인 +89.98%.",</a:t>
            </a:r>
          </a:p>
          <a:p>
            <a:r>
              <a:t>      "operating_statistics": [],</a:t>
            </a:r>
          </a:p>
          <a:p>
            <a:r>
              <a:t>      "evidence_kind": "festival_statistics",</a:t>
            </a:r>
          </a:p>
          <a:p>
            <a:r>
              <a:t>      "festival_statistics": {</a:t>
            </a:r>
          </a:p>
          <a:p>
            <a:r>
              <a:t>        "name": "진도신비의바닷길축제",</a:t>
            </a:r>
          </a:p>
          <a:p>
            <a:r>
              <a:t>        "annual": [</a:t>
            </a:r>
          </a:p>
          <a:p>
            <a:r>
              <a:t>          {</a:t>
            </a:r>
          </a:p>
          <a:p>
            <a:r>
              <a:t>            "days": 3,</a:t>
            </a:r>
          </a:p>
          <a:p>
            <a:r>
              <a:t>            "year": 2023,</a:t>
            </a:r>
          </a:p>
          <a:p>
            <a:r>
              <a:t>            "daily": 11185.333333333334,</a:t>
            </a:r>
          </a:p>
          <a:p>
            <a:r>
              <a:t>            "local": 12120,</a:t>
            </a:r>
          </a:p>
          <a:p>
            <a:r>
              <a:t>            "total": 33556,</a:t>
            </a:r>
          </a:p>
          <a:p>
            <a:r>
              <a:t>            "foreign": 278,</a:t>
            </a:r>
          </a:p>
          <a:p>
            <a:r>
              <a:t>            "outside": 21158,</a:t>
            </a:r>
          </a:p>
          <a:p>
            <a:r>
              <a:t>            "outside_daily": 7052.666666666667,</a:t>
            </a:r>
          </a:p>
          <a:p>
            <a:r>
              <a:t>            "outside_share_pct": 63.05280724758613</a:t>
            </a:r>
          </a:p>
          <a:p>
            <a:r>
              <a:t>          },</a:t>
            </a:r>
          </a:p>
          <a:p>
            <a:r>
              <a:t>          {</a:t>
            </a:r>
          </a:p>
          <a:p>
            <a:r>
              <a:t>            "days": 3,</a:t>
            </a:r>
          </a:p>
          <a:p>
            <a:r>
              <a:t>            "year": 2024,</a:t>
            </a:r>
          </a:p>
          <a:p>
            <a:r>
              <a:t>            "daily": 9390.333333333334,</a:t>
            </a:r>
          </a:p>
          <a:p>
            <a:r>
              <a:t>            "local": 13068,</a:t>
            </a:r>
          </a:p>
          <a:p>
            <a:r>
              <a:t>            "total": 28171,</a:t>
            </a:r>
          </a:p>
          <a:p>
            <a:r>
              <a:t>            "foreign": 223,</a:t>
            </a:r>
          </a:p>
          <a:p>
            <a:r>
              <a:t>            "outside": 14880,</a:t>
            </a:r>
          </a:p>
          <a:p>
            <a:r>
              <a:t>            "outside_daily": 4960,</a:t>
            </a:r>
          </a:p>
          <a:p>
            <a:r>
              <a:t>            "outside_share_pct": 52.82027617052998</a:t>
            </a:r>
          </a:p>
          <a:p>
            <a:r>
              <a:t>          },</a:t>
            </a:r>
          </a:p>
          <a:p>
            <a:r>
              <a:t>          {</a:t>
            </a:r>
          </a:p>
          <a:p>
            <a:r>
              <a:t>            "days": 4,</a:t>
            </a:r>
          </a:p>
          <a:p>
            <a:r>
              <a:t>            "year": 2025,</a:t>
            </a:r>
          </a:p>
          <a:p>
            <a:r>
              <a:t>            "daily": 10993.25,</a:t>
            </a:r>
          </a:p>
          <a:p>
            <a:r>
              <a:t>            "local": 15345,</a:t>
            </a:r>
          </a:p>
          <a:p>
            <a:r>
              <a:t>            "total": 43973,</a:t>
            </a:r>
          </a:p>
          <a:p>
            <a:r>
              <a:t>            "foreign": 359,</a:t>
            </a:r>
          </a:p>
          <a:p>
            <a:r>
              <a:t>            "outside": 28269,</a:t>
            </a:r>
          </a:p>
          <a:p>
            <a:r>
              <a:t>            "outside_daily": 7067.25,</a:t>
            </a:r>
          </a:p>
          <a:p>
            <a:r>
              <a:t>            "outside_share_pct": 64.28717622177244</a:t>
            </a:r>
          </a:p>
          <a:p>
            <a:r>
              <a:t>          }</a:t>
            </a:r>
          </a:p>
          <a:p>
            <a:r>
              <a:t>        ],</a:t>
            </a:r>
          </a:p>
          <a:p>
            <a:r>
              <a:t>        "comparison": {</a:t>
            </a:r>
          </a:p>
          <a:p>
            <a:r>
              <a:t>          "daily": {</a:t>
            </a:r>
          </a:p>
          <a:p>
            <a:r>
              <a:t>            "after": 10993.25,</a:t>
            </a:r>
          </a:p>
          <a:p>
            <a:r>
              <a:t>            "before": 9390.333333333334,</a:t>
            </a:r>
          </a:p>
          <a:p>
            <a:r>
              <a:t>            "change_pct": 17.069859074935213,</a:t>
            </a:r>
          </a:p>
          <a:p>
            <a:r>
              <a:t>            "difference": 1602.916666666666</a:t>
            </a:r>
          </a:p>
          <a:p>
            <a:r>
              <a:t>          },</a:t>
            </a:r>
          </a:p>
          <a:p>
            <a:r>
              <a:t>          "total": {</a:t>
            </a:r>
          </a:p>
          <a:p>
            <a:r>
              <a:t>            "after": 43973,</a:t>
            </a:r>
          </a:p>
          <a:p>
            <a:r>
              <a:t>            "before": 28171,</a:t>
            </a:r>
          </a:p>
          <a:p>
            <a:r>
              <a:t>            "change_pct": 56.093145433246946,</a:t>
            </a:r>
          </a:p>
          <a:p>
            <a:r>
              <a:t>            "difference": 15802</a:t>
            </a:r>
          </a:p>
          <a:p>
            <a:r>
              <a:t>          },</a:t>
            </a:r>
          </a:p>
          <a:p>
            <a:r>
              <a:t>          "outside": {</a:t>
            </a:r>
          </a:p>
          <a:p>
            <a:r>
              <a:t>            "after": 28269,</a:t>
            </a:r>
          </a:p>
          <a:p>
            <a:r>
              <a:t>            "before": 14880,</a:t>
            </a:r>
          </a:p>
          <a:p>
            <a:r>
              <a:t>            "change_pct": 89.97983870967742,</a:t>
            </a:r>
          </a:p>
          <a:p>
            <a:r>
              <a:t>            "difference": 13389</a:t>
            </a:r>
          </a:p>
          <a:p>
            <a:r>
              <a:t>          },</a:t>
            </a:r>
          </a:p>
          <a:p>
            <a:r>
              <a:t>          "after_days": 4,</a:t>
            </a:r>
          </a:p>
          <a:p>
            <a:r>
              <a:t>          "after_year": 2025,</a:t>
            </a:r>
          </a:p>
          <a:p>
            <a:r>
              <a:t>          "before_days": 3,</a:t>
            </a:r>
          </a:p>
          <a:p>
            <a:r>
              <a:t>          "before_year": 2024,</a:t>
            </a:r>
          </a:p>
          <a:p>
            <a:r>
              <a:t>          "outside_daily": {</a:t>
            </a:r>
          </a:p>
          <a:p>
            <a:r>
              <a:t>            "after": 7067.25,</a:t>
            </a:r>
          </a:p>
          <a:p>
            <a:r>
              <a:t>            "before": 4960,</a:t>
            </a:r>
          </a:p>
          <a:p>
            <a:r>
              <a:t>            "change_pct": 42.484879032258064,</a:t>
            </a:r>
          </a:p>
          <a:p>
            <a:r>
              <a:t>            "difference": 2107.25</a:t>
            </a:r>
          </a:p>
          <a:p>
            <a:r>
              <a:t>          }</a:t>
            </a:r>
          </a:p>
          <a:p>
            <a:r>
              <a:t>        },</a:t>
            </a:r>
          </a:p>
          <a:p>
            <a:r>
              <a:t>        "scope": "축제 관측구역 방문 지표. 도시 전체·순증 관광객·입장권 실구매자 수가 아님.",</a:t>
            </a:r>
          </a:p>
          <a:p>
            <a:r>
              <a:t>        "region_basis": "목적지 검색 CSV의 시도+시군구 최빈 주소; 행사장 행정경계 확정은 아님",</a:t>
            </a:r>
          </a:p>
          <a:p>
            <a:r>
              <a:t>        "source_file": {</a:t>
            </a:r>
          </a:p>
          <a:p>
            <a:r>
              <a:t>          "sha256": "3cf7484d808e807aeffda7504a3d316839b9220f0f7a72550f5387af3ee3f8d9",</a:t>
            </a:r>
          </a:p>
          <a:p>
            <a:r>
              <a:t>          "provider": "한국관광 데이터랩",</a:t>
            </a:r>
          </a:p>
          <a:p>
            <a:r>
              <a:t>          "file_name": "20260820182448_진도신비의바닷길축제_연도별 방문자 추이.csv",</a:t>
            </a:r>
          </a:p>
          <a:p>
            <a:r>
              <a:t>          "source_id": "festival-file:3cf7484d808e807aeffd",</a:t>
            </a:r>
          </a:p>
          <a:p>
            <a:r>
              <a:t>          "source_url": "https://datalab.visitkorea.or.kr/",</a:t>
            </a:r>
          </a:p>
          <a:p>
            <a:r>
              <a:t>          "downloaded_at": "2026-08-20",</a:t>
            </a:r>
          </a:p>
          <a:p>
            <a:r>
              <a:t>          "relative_path": "data/source_snapshots/festivals_20260820/69. 진도신비의바닷길축제_2023-2025/20260820182448_진도신비의바닷길축제_연도별 방문자 추이.csv",</a:t>
            </a:r>
          </a:p>
          <a:p>
            <a:r>
              <a:t>          "provenance_status": "team_download_exact_query_url_unrecorded"</a:t>
            </a:r>
          </a:p>
          <a:p>
            <a:r>
              <a:t>        },</a:t>
            </a:r>
          </a:p>
          <a:p>
            <a:r>
              <a:t>        "indicator_values": [</a:t>
            </a:r>
          </a:p>
          <a:p>
            <a:r>
              <a:t>          {</a:t>
            </a:r>
          </a:p>
          <a:p>
            <a:r>
              <a:t>            "구분명": "외부방문자 유입",</a:t>
            </a:r>
          </a:p>
          <a:p>
            <a:r>
              <a:t>            "그룹명": "축제기간",</a:t>
            </a:r>
          </a:p>
          <a:p>
            <a:r>
              <a:t>            "지표값": "0.568",</a:t>
            </a:r>
          </a:p>
          <a:p>
            <a:r>
              <a:t>            "축제명": "진도신비의바닷길축제",</a:t>
            </a:r>
          </a:p>
          <a:p>
            <a:r>
              <a:t>            "개최년도": "2025"</a:t>
            </a:r>
          </a:p>
          <a:p>
            <a:r>
              <a:t>          },</a:t>
            </a:r>
          </a:p>
          <a:p>
            <a:r>
              <a:t>          {</a:t>
            </a:r>
          </a:p>
          <a:p>
            <a:r>
              <a:t>            "구분명": "현지인방문자 유입",</a:t>
            </a:r>
          </a:p>
          <a:p>
            <a:r>
              <a:t>            "그룹명": "축제기간",</a:t>
            </a:r>
          </a:p>
          <a:p>
            <a:r>
              <a:t>            "지표값": "0.858",</a:t>
            </a:r>
          </a:p>
          <a:p>
            <a:r>
              <a:t>            "축제명": "진도신비의바닷길축제",</a:t>
            </a:r>
          </a:p>
          <a:p>
            <a:r>
              <a:t>            "개최년도": "2025"</a:t>
            </a:r>
          </a:p>
          <a:p>
            <a:r>
              <a:t>          },</a:t>
            </a:r>
          </a:p>
          <a:p>
            <a:r>
              <a:t>          {</a:t>
            </a:r>
          </a:p>
          <a:p>
            <a:r>
              <a:t>            "구분명": "내비게이션 검색량",</a:t>
            </a:r>
          </a:p>
          <a:p>
            <a:r>
              <a:t>            "그룹명": "축제기간",</a:t>
            </a:r>
          </a:p>
          <a:p>
            <a:r>
              <a:t>            "지표값": "0.513",</a:t>
            </a:r>
          </a:p>
          <a:p>
            <a:r>
              <a:t>            "축제명": "진도신비의바닷길축제",</a:t>
            </a:r>
          </a:p>
          <a:p>
            <a:r>
              <a:t>            "개최년도": "2025"</a:t>
            </a:r>
          </a:p>
          <a:p>
            <a:r>
              <a:t>          },</a:t>
            </a:r>
          </a:p>
          <a:p>
            <a:r>
              <a:t>          {</a:t>
            </a:r>
          </a:p>
          <a:p>
            <a:r>
              <a:t>            "구분명": "관광소비",</a:t>
            </a:r>
          </a:p>
          <a:p>
            <a:r>
              <a:t>            "그룹명": "축제기간",</a:t>
            </a:r>
          </a:p>
          <a:p>
            <a:r>
              <a:t>            "지표값": "0.283",</a:t>
            </a:r>
          </a:p>
          <a:p>
            <a:r>
              <a:t>            "축제명": "진도신비의바닷길축제",</a:t>
            </a:r>
          </a:p>
          <a:p>
            <a:r>
              <a:t>            "개최년도": "2025"</a:t>
            </a:r>
          </a:p>
          <a:p>
            <a:r>
              <a:t>          },</a:t>
            </a:r>
          </a:p>
          <a:p>
            <a:r>
              <a:t>          {</a:t>
            </a:r>
          </a:p>
          <a:p>
            <a:r>
              <a:t>            "구분명": "축제지 집중률",</a:t>
            </a:r>
          </a:p>
          <a:p>
            <a:r>
              <a:t>            "그룹명": "축제기간",</a:t>
            </a:r>
          </a:p>
          <a:p>
            <a:r>
              <a:t>            "지표값": "0.791",</a:t>
            </a:r>
          </a:p>
          <a:p>
            <a:r>
              <a:t>            "축제명": "진도신비의바닷길축제",</a:t>
            </a:r>
          </a:p>
          <a:p>
            <a:r>
              <a:t>            "개최년도": "2025"</a:t>
            </a:r>
          </a:p>
          <a:p>
            <a:r>
              <a:t>          },</a:t>
            </a:r>
          </a:p>
          <a:p>
            <a:r>
              <a:t>          {</a:t>
            </a:r>
          </a:p>
          <a:p>
            <a:r>
              <a:t>            "구분명": "외부방문자 유입",</a:t>
            </a:r>
          </a:p>
          <a:p>
            <a:r>
              <a:t>            "그룹명": "비축제기간",</a:t>
            </a:r>
          </a:p>
          <a:p>
            <a:r>
              <a:t>            "지표값": "0.137",</a:t>
            </a:r>
          </a:p>
          <a:p>
            <a:r>
              <a:t>            "축제명": "진도신비의바닷길축제",</a:t>
            </a:r>
          </a:p>
          <a:p>
            <a:r>
              <a:t>            "개최년도": "2025"</a:t>
            </a:r>
          </a:p>
          <a:p>
            <a:r>
              <a:t>          },</a:t>
            </a:r>
          </a:p>
          <a:p>
            <a:r>
              <a:t>          {</a:t>
            </a:r>
          </a:p>
          <a:p>
            <a:r>
              <a:t>            "구분명": "현지인방문자 유입",</a:t>
            </a:r>
          </a:p>
          <a:p>
            <a:r>
              <a:t>            "그룹명": "비축제기간",</a:t>
            </a:r>
          </a:p>
          <a:p>
            <a:r>
              <a:t>            "지표값": "0.472",</a:t>
            </a:r>
          </a:p>
          <a:p>
            <a:r>
              <a:t>            "축제명": "진도신비의바닷길축제",</a:t>
            </a:r>
          </a:p>
          <a:p>
            <a:r>
              <a:t>            "개최년도": "2025"</a:t>
            </a:r>
          </a:p>
          <a:p>
            <a:r>
              <a:t>          },</a:t>
            </a:r>
          </a:p>
          <a:p>
            <a:r>
              <a:t>          {</a:t>
            </a:r>
          </a:p>
          <a:p>
            <a:r>
              <a:t>            "구분명": "내비게이션 검색량",</a:t>
            </a:r>
          </a:p>
          <a:p>
            <a:r>
              <a:t>            "그룹명": "비축제기간",</a:t>
            </a:r>
          </a:p>
          <a:p>
            <a:r>
              <a:t>            "지표값": "0.06",</a:t>
            </a:r>
          </a:p>
          <a:p>
            <a:r>
              <a:t>            "축제명": "진도신비의바닷길축제",</a:t>
            </a:r>
          </a:p>
          <a:p>
            <a:r>
              <a:t>            "개최년도": "2025"</a:t>
            </a:r>
          </a:p>
          <a:p>
            <a:r>
              <a:t>          },</a:t>
            </a:r>
          </a:p>
          <a:p>
            <a:r>
              <a:t>          {</a:t>
            </a:r>
          </a:p>
          <a:p>
            <a:r>
              <a:t>            "구분명": "관광소비",</a:t>
            </a:r>
          </a:p>
          <a:p>
            <a:r>
              <a:t>            "그룹명": "비축제기간",</a:t>
            </a:r>
          </a:p>
          <a:p>
            <a:r>
              <a:t>            "지표값": "0.212",</a:t>
            </a:r>
          </a:p>
          <a:p>
            <a:r>
              <a:t>            "축제명": "진도신비의바닷길축제",</a:t>
            </a:r>
          </a:p>
          <a:p>
            <a:r>
              <a:t>            "개최년도": "2025"</a:t>
            </a:r>
          </a:p>
          <a:p>
            <a:r>
              <a:t>          },</a:t>
            </a:r>
          </a:p>
          <a:p>
            <a:r>
              <a:t>          {</a:t>
            </a:r>
          </a:p>
          <a:p>
            <a:r>
              <a:t>            "구분명": "축제지 집중률",</a:t>
            </a:r>
          </a:p>
          <a:p>
            <a:r>
              <a:t>            "그룹명": "비축제기간",</a:t>
            </a:r>
          </a:p>
          <a:p>
            <a:r>
              <a:t>            "지표값": "0.269",</a:t>
            </a:r>
          </a:p>
          <a:p>
            <a:r>
              <a:t>            "축제명": "진도신비의바닷길축제",</a:t>
            </a:r>
          </a:p>
          <a:p>
            <a:r>
              <a:t>            "개최년도": "2025"</a:t>
            </a:r>
          </a:p>
          <a:p>
            <a:r>
              <a:t>          }</a:t>
            </a:r>
          </a:p>
          <a:p>
            <a:r>
              <a:t>        ],</a:t>
            </a:r>
          </a:p>
          <a:p>
            <a:r>
              <a:t>        "indicator_rule": "원본 지표값만 보존. 산식·단위 미확인으로 성장률/원화/정원/참여율 변환 금지.",</a:t>
            </a:r>
          </a:p>
          <a:p>
            <a:r>
              <a:t>        "audience": [</a:t>
            </a:r>
          </a:p>
          <a:p>
            <a:r>
              <a:t>          {</a:t>
            </a:r>
          </a:p>
          <a:p>
            <a:r>
              <a:t>            "연령대": "70세 이상",</a:t>
            </a:r>
          </a:p>
          <a:p>
            <a:r>
              <a:t>            "축제명": "진도신비의바닷길축제",</a:t>
            </a:r>
          </a:p>
          <a:p>
            <a:r>
              <a:t>            "남성비율": "7.4",</a:t>
            </a:r>
          </a:p>
          <a:p>
            <a:r>
              <a:t>            "여성비율": "6.8"</a:t>
            </a:r>
          </a:p>
          <a:p>
            <a:r>
              <a:t>          },</a:t>
            </a:r>
          </a:p>
          <a:p>
            <a:r>
              <a:t>          {</a:t>
            </a:r>
          </a:p>
          <a:p>
            <a:r>
              <a:t>            "연령대": "60~69세",</a:t>
            </a:r>
          </a:p>
          <a:p>
            <a:r>
              <a:t>            "축제명": "진도신비의바닷길축제",</a:t>
            </a:r>
          </a:p>
          <a:p>
            <a:r>
              <a:t>            "남성비율": "13.8",</a:t>
            </a:r>
          </a:p>
          <a:p>
            <a:r>
              <a:t>            "여성비율": "14.3"</a:t>
            </a:r>
          </a:p>
          <a:p>
            <a:r>
              <a:t>          },</a:t>
            </a:r>
          </a:p>
          <a:p>
            <a:r>
              <a:t>          {</a:t>
            </a:r>
          </a:p>
          <a:p>
            <a:r>
              <a:t>            "연령대": "50~59세",</a:t>
            </a:r>
          </a:p>
          <a:p>
            <a:r>
              <a:t>            "축제명": "진도신비의바닷길축제",</a:t>
            </a:r>
          </a:p>
          <a:p>
            <a:r>
              <a:t>            "남성비율": "10.7",</a:t>
            </a:r>
          </a:p>
          <a:p>
            <a:r>
              <a:t>            "여성비율": "11.5"</a:t>
            </a:r>
          </a:p>
          <a:p>
            <a:r>
              <a:t>          },</a:t>
            </a:r>
          </a:p>
          <a:p>
            <a:r>
              <a:t>          {</a:t>
            </a:r>
          </a:p>
          <a:p>
            <a:r>
              <a:t>            "연령대": "40~49세",</a:t>
            </a:r>
          </a:p>
          <a:p>
            <a:r>
              <a:t>            "축제명": "진도신비의바닷길축제",</a:t>
            </a:r>
          </a:p>
          <a:p>
            <a:r>
              <a:t>            "남성비율": "7.7",</a:t>
            </a:r>
          </a:p>
          <a:p>
            <a:r>
              <a:t>            "여성비율": "4.9"</a:t>
            </a:r>
          </a:p>
          <a:p>
            <a:r>
              <a:t>          },</a:t>
            </a:r>
          </a:p>
          <a:p>
            <a:r>
              <a:t>          {</a:t>
            </a:r>
          </a:p>
          <a:p>
            <a:r>
              <a:t>            "연령대": "30~39세",</a:t>
            </a:r>
          </a:p>
          <a:p>
            <a:r>
              <a:t>            "축제명": "진도신비의바닷길축제",</a:t>
            </a:r>
          </a:p>
          <a:p>
            <a:r>
              <a:t>            "남성비율": "6.8",</a:t>
            </a:r>
          </a:p>
          <a:p>
            <a:r>
              <a:t>            "여성비율": "4.2"</a:t>
            </a:r>
          </a:p>
          <a:p>
            <a:r>
              <a:t>          },</a:t>
            </a:r>
          </a:p>
          <a:p>
            <a:r>
              <a:t>          {</a:t>
            </a:r>
          </a:p>
          <a:p>
            <a:r>
              <a:t>            "연령대": "20~29세",</a:t>
            </a:r>
          </a:p>
          <a:p>
            <a:r>
              <a:t>            "축제명": "진도신비의바닷길축제",</a:t>
            </a:r>
          </a:p>
          <a:p>
            <a:r>
              <a:t>            "남성비율": "5.3",</a:t>
            </a:r>
          </a:p>
          <a:p>
            <a:r>
              <a:t>            "여성비율": "3.0"</a:t>
            </a:r>
          </a:p>
          <a:p>
            <a:r>
              <a:t>          },</a:t>
            </a:r>
          </a:p>
          <a:p>
            <a:r>
              <a:t>          {</a:t>
            </a:r>
          </a:p>
          <a:p>
            <a:r>
              <a:t>            "연령대": "10~19세",</a:t>
            </a:r>
          </a:p>
          <a:p>
            <a:r>
              <a:t>            "축제명": "진도신비의바닷길축제",</a:t>
            </a:r>
          </a:p>
          <a:p>
            <a:r>
              <a:t>            "남성비율": "1.3",</a:t>
            </a:r>
          </a:p>
          <a:p>
            <a:r>
              <a:t>            "여성비율": "1.3"</a:t>
            </a:r>
          </a:p>
          <a:p>
            <a:r>
              <a:t>          },</a:t>
            </a:r>
          </a:p>
          <a:p>
            <a:r>
              <a:t>          {</a:t>
            </a:r>
          </a:p>
          <a:p>
            <a:r>
              <a:t>            "연령대": "0~9세",</a:t>
            </a:r>
          </a:p>
          <a:p>
            <a:r>
              <a:t>            "축제명": "진도신비의바닷길축제",</a:t>
            </a:r>
          </a:p>
          <a:p>
            <a:r>
              <a:t>            "남성비율": "0.5",</a:t>
            </a:r>
          </a:p>
          <a:p>
            <a:r>
              <a:t>            "여성비율": "0.4"</a:t>
            </a:r>
          </a:p>
          <a:p>
            <a:r>
              <a:t>          }</a:t>
            </a:r>
          </a:p>
          <a:p>
            <a:r>
              <a:t>        ],</a:t>
            </a:r>
          </a:p>
          <a:p>
            <a:r>
              <a:t>        "audience_period": "다운로드 CSV에 연도 열 없음; 최신 개최연도와 자동 결합하지 않음",</a:t>
            </a:r>
          </a:p>
          <a:p>
            <a:r>
              <a:t>        "destination_examples": [</a:t>
            </a:r>
          </a:p>
          <a:p>
            <a:r>
              <a:t>          {</a:t>
            </a:r>
          </a:p>
          <a:p>
            <a:r>
              <a:t>            "구분": "외지인",</a:t>
            </a:r>
          </a:p>
          <a:p>
            <a:r>
              <a:t>            "순위": "1",</a:t>
            </a:r>
          </a:p>
          <a:p>
            <a:r>
              <a:t>            "목적지명": "진도신비의바닷길축제",</a:t>
            </a:r>
          </a:p>
          <a:p>
            <a:r>
              <a:t>            "도로명주소": "전남 진도군 신비의바닷길 74-0",</a:t>
            </a:r>
          </a:p>
          <a:p>
            <a:r>
              <a:t>            "카테고리": "기타문화관광지"</a:t>
            </a:r>
          </a:p>
          <a:p>
            <a:r>
              <a:t>          },</a:t>
            </a:r>
          </a:p>
          <a:p>
            <a:r>
              <a:t>          {</a:t>
            </a:r>
          </a:p>
          <a:p>
            <a:r>
              <a:t>            "구분": "외지인",</a:t>
            </a:r>
          </a:p>
          <a:p>
            <a:r>
              <a:t>            "순위": "2",</a:t>
            </a:r>
          </a:p>
          <a:p>
            <a:r>
              <a:t>            "목적지명": "진도신비의바닷길",</a:t>
            </a:r>
          </a:p>
          <a:p>
            <a:r>
              <a:t>            "도로명주소": "전남 진도군",</a:t>
            </a:r>
          </a:p>
          <a:p>
            <a:r>
              <a:t>            "카테고리": "테마공원"</a:t>
            </a:r>
          </a:p>
          <a:p>
            <a:r>
              <a:t>          },</a:t>
            </a:r>
          </a:p>
          <a:p>
            <a:r>
              <a:t>          {</a:t>
            </a:r>
          </a:p>
          <a:p>
            <a:r>
              <a:t>            "구분": "외지인",</a:t>
            </a:r>
          </a:p>
          <a:p>
            <a:r>
              <a:t>            "순위": "3",</a:t>
            </a:r>
          </a:p>
          <a:p>
            <a:r>
              <a:t>            "목적지명": "가계해변",</a:t>
            </a:r>
          </a:p>
          <a:p>
            <a:r>
              <a:t>            "도로명주소": "전남 진도군 신비의바닷길 0-0",</a:t>
            </a:r>
          </a:p>
          <a:p>
            <a:r>
              <a:t>            "카테고리": "자연경관(하천/해양)"</a:t>
            </a:r>
          </a:p>
          <a:p>
            <a:r>
              <a:t>          }</a:t>
            </a:r>
          </a:p>
          <a:p>
            <a:r>
              <a:t>        ],</a:t>
            </a:r>
          </a:p>
          <a:p>
            <a:r>
              <a:t>        "destination_period": "다운로드 CSV에 연도 열 없음; 주변 검색 후보이며 제휴·실제 방문 증거 아님"</a:t>
            </a:r>
          </a:p>
          <a:p>
            <a:r>
              <a:t>      },</a:t>
            </a:r>
          </a:p>
          <a:p>
            <a:r>
              <a:t>      "retrieval_basis": {</a:t>
            </a:r>
          </a:p>
          <a:p>
            <a:r>
              <a:t>        "kind": "external_benchmark",</a:t>
            </a:r>
          </a:p>
          <a:p>
            <a:r>
              <a:t>        "score": 31,</a:t>
            </a:r>
          </a:p>
          <a:p>
            <a:r>
              <a:t>        "components": {</a:t>
            </a:r>
          </a:p>
          <a:p>
            <a:r>
              <a:t>          "방문 전망 조사: 외지인·일평균 동반 증가": 15,</a:t>
            </a:r>
          </a:p>
          <a:p>
            <a:r>
              <a:t>          "최근 개최연도": 6,</a:t>
            </a:r>
          </a:p>
          <a:p>
            <a:r>
              <a:t>          "방문 실적 비교 가능": 10</a:t>
            </a:r>
          </a:p>
          <a:p>
            <a:r>
              <a:t>        },</a:t>
            </a:r>
          </a:p>
          <a:p>
            <a:r>
              <a:t>        "theme": "자연·야외",</a:t>
            </a:r>
          </a:p>
          <a:p>
            <a:r>
              <a:t>        "priority_signal": "visit",</a:t>
            </a:r>
          </a:p>
          <a:p>
            <a:r>
              <a:t>        "rule": "함수 기반 조사 우선순위. 사업효과·인구/환경 유사도 점수가 아니며 소비·체류 개선은 조사 가설이다."</a:t>
            </a:r>
          </a:p>
          <a:p>
            <a:r>
              <a:t>      },</a:t>
            </a:r>
          </a:p>
          <a:p>
            <a:r>
              <a:t>      "source_files": [</a:t>
            </a:r>
          </a:p>
          <a:p>
            <a:r>
              <a:t>        {</a:t>
            </a:r>
          </a:p>
          <a:p>
            <a:r>
              <a:t>          "sha256": "3cf7484d808e807aeffda7504a3d316839b9220f0f7a72550f5387af3ee3f8d9",</a:t>
            </a:r>
          </a:p>
          <a:p>
            <a:r>
              <a:t>          "provider": "한국관광 데이터랩",</a:t>
            </a:r>
          </a:p>
          <a:p>
            <a:r>
              <a:t>          "file_name": "20260820182448_진도신비의바닷길축제_연도별 방문자 추이.csv",</a:t>
            </a:r>
          </a:p>
          <a:p>
            <a:r>
              <a:t>          "source_id": "festival-file:3cf7484d808e807aeffd",</a:t>
            </a:r>
          </a:p>
          <a:p>
            <a:r>
              <a:t>          "source_url": "https://datalab.visitkorea.or.kr/",</a:t>
            </a:r>
          </a:p>
          <a:p>
            <a:r>
              <a:t>          "downloaded_at": "2026-08-20",</a:t>
            </a:r>
          </a:p>
          <a:p>
            <a:r>
              <a:t>          "relative_path": "data/source_snapshots/festivals_20260820/69. 진도신비의바닷길축제_2023-2025/20260820182448_진도신비의바닷길축제_연도별 방문자 추이.csv",</a:t>
            </a:r>
          </a:p>
          <a:p>
            <a:r>
              <a:t>          "provenance_status": "team_download_exact_query_url_unrecorded"</a:t>
            </a:r>
          </a:p>
          <a:p>
            <a:r>
              <a:t>        },</a:t>
            </a:r>
          </a:p>
          <a:p>
            <a:r>
              <a:t>        {</a:t>
            </a:r>
          </a:p>
          <a:p>
            <a:r>
              <a:t>          "sha256": "cb3424e725c84352d81fdb987f6d3ade162f54f63a9590ac8730dddcfcc48ed7",</a:t>
            </a:r>
          </a:p>
          <a:p>
            <a:r>
              <a:t>          "provider": "한국관광 데이터랩",</a:t>
            </a:r>
          </a:p>
          <a:p>
            <a:r>
              <a:t>          "file_name": "20260820182448_진도신비의바닷길축제_성_연령별 내국인 방문자.csv",</a:t>
            </a:r>
          </a:p>
          <a:p>
            <a:r>
              <a:t>          "source_id": "festival-file:cb3424e725c84352d81f",</a:t>
            </a:r>
          </a:p>
          <a:p>
            <a:r>
              <a:t>          "source_url": "https://datalab.visitkorea.or.kr/",</a:t>
            </a:r>
          </a:p>
          <a:p>
            <a:r>
              <a:t>          "downloaded_at": "2026-08-20",</a:t>
            </a:r>
          </a:p>
          <a:p>
            <a:r>
              <a:t>          "relative_path": "data/source_snapshots/festivals_20260820/69. 진도신비의바닷길축제_2023-2025/20260820182448_진도신비의바닷길축제_성_연령별 내국인 방문자.csv",</a:t>
            </a:r>
          </a:p>
          <a:p>
            <a:r>
              <a:t>          "provenance_status": "team_download_exact_query_url_unrecorded"</a:t>
            </a:r>
          </a:p>
          <a:p>
            <a:r>
              <a:t>        },</a:t>
            </a:r>
          </a:p>
          <a:p>
            <a:r>
              <a:t>        {</a:t>
            </a:r>
          </a:p>
          <a:p>
            <a:r>
              <a:t>          "sha256": "c9332a0e0d15d1550b1b545b8b739cc6a919a13ca701800d87203b06b2fecd46",</a:t>
            </a:r>
          </a:p>
          <a:p>
            <a:r>
              <a:t>          "provider": "한국관광 데이터랩",</a:t>
            </a:r>
          </a:p>
          <a:p>
            <a:r>
              <a:t>          "file_name": "20260820182448_진도신비의바닷길축제_문화관광축제 주요 지표.csv",</a:t>
            </a:r>
          </a:p>
          <a:p>
            <a:r>
              <a:t>          "source_id": "festival-file:c9332a0e0d15d1550b1b",</a:t>
            </a:r>
          </a:p>
          <a:p>
            <a:r>
              <a:t>          "source_url": "https://datalab.visitkorea.or.kr/",</a:t>
            </a:r>
          </a:p>
          <a:p>
            <a:r>
              <a:t>          "downloaded_at": "2026-08-20",</a:t>
            </a:r>
          </a:p>
          <a:p>
            <a:r>
              <a:t>          "relative_path": "data/source_snapshots/festivals_20260820/69. 진도신비의바닷길축제_2023-2025/20260820182448_진도신비의바닷길축제_문화관광축제 주요 지표.csv",</a:t>
            </a:r>
          </a:p>
          <a:p>
            <a:r>
              <a:t>          "provenance_status": "team_download_exact_query_url_unrecorded"</a:t>
            </a:r>
          </a:p>
          <a:p>
            <a:r>
              <a:t>        },</a:t>
            </a:r>
          </a:p>
          <a:p>
            <a:r>
              <a:t>        {</a:t>
            </a:r>
          </a:p>
          <a:p>
            <a:r>
              <a:t>          "sha256": "b8aa76a62ac8159da3b9234363c8c0026f70875997af88b4e750f2f6154c65ae",</a:t>
            </a:r>
          </a:p>
          <a:p>
            <a:r>
              <a:t>          "provider": "한국관광 데이터랩",</a:t>
            </a:r>
          </a:p>
          <a:p>
            <a:r>
              <a:t>          "file_name": "20260820182448_진도신비의바닷길축제_목적지 검색순위.csv",</a:t>
            </a:r>
          </a:p>
          <a:p>
            <a:r>
              <a:t>          "source_id": "festival-file:b8aa76a62ac8159da3b9",</a:t>
            </a:r>
          </a:p>
          <a:p>
            <a:r>
              <a:t>          "source_url": "https://datalab.visitkorea.or.kr/",</a:t>
            </a:r>
          </a:p>
          <a:p>
            <a:r>
              <a:t>          "downloaded_at": "2026-08-20",</a:t>
            </a:r>
          </a:p>
          <a:p>
            <a:r>
              <a:t>          "relative_path": "data/source_snapshots/festivals_20260820/69. 진도신비의바닷길축제_2023-2025/20260820182448_진도신비의바닷길축제_목적지 검색순위.csv",</a:t>
            </a:r>
          </a:p>
          <a:p>
            <a:r>
              <a:t>          "provenance_status": "team_download_exact_query_url_unrecorded"</a:t>
            </a:r>
          </a:p>
          <a:p>
            <a:r>
              <a:t>        }</a:t>
            </a:r>
          </a:p>
          <a:p>
            <a:r>
              <a:t>      ],</a:t>
            </a:r>
          </a:p>
          <a:p>
            <a:r>
              <a:t>      "dataset_hash": "ad20e3daf70fd44fd481d672398c07bb9c96fce77acb450784065a568735e2e2",</a:t>
            </a:r>
          </a:p>
          <a:p>
            <a:r>
              <a:t>      "measurement_period": "2023~2025년 각 축제 개최기간",</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a:t>
            </a:r>
          </a:p>
          <a:p>
            <a:r>
              <a:t>    {</a:t>
            </a:r>
          </a:p>
          <a:p>
            <a:r>
              <a:t>      "source_id": "case:festival:1ffc3eec28956a",</a:t>
            </a:r>
          </a:p>
          <a:p>
            <a:r>
              <a:t>      "source_type": "benchmark_case",</a:t>
            </a:r>
          </a:p>
          <a:p>
            <a:r>
              <a:t>      "title": "한국관광 데이터랩 · 통영한산대첩축제 방문자 추이",</a:t>
            </a:r>
          </a:p>
          <a:p>
            <a:r>
              <a:t>      "source_url": "https://datalab.visitkorea.or.kr/",</a:t>
            </a:r>
          </a:p>
          <a:p>
            <a:r>
              <a:t>      "published_or_updated_at": "2026-08-20",</a:t>
            </a:r>
          </a:p>
          <a:p>
            <a:r>
              <a:t>      "summary": "경상남도 통영시 · 통영한산대첩축제 · 2024→2025년 전체 93,221→124,718명 (+33.79%). 개최 6→7일, 일평균 +14.67%, 외지인 +33.21%.",</a:t>
            </a:r>
          </a:p>
          <a:p>
            <a:r>
              <a:t>      "case_region": "경상남도 통영시",</a:t>
            </a:r>
          </a:p>
          <a:p>
            <a:r>
              <a:t>      "intervention": "통영한산대첩축제",</a:t>
            </a:r>
          </a:p>
          <a:p>
            <a:r>
              <a:t>      "operating_model": "통영한산대첩축제를 2025년 7일 개최한 문화관광축제 운영 사례. 세부 프로그램·예약·혜택은 이 CSV에 기록되어 있지 않으며 새로운 운영안은 제안으로 구분한다.",</a:t>
            </a:r>
          </a:p>
          <a:p>
            <a:r>
              <a:t>      "evidence_strength": "medium",</a:t>
            </a:r>
          </a:p>
          <a:p>
            <a:r>
              <a:t>      "quantitative_result_approved": true,</a:t>
            </a:r>
          </a:p>
          <a:p>
            <a:r>
              <a:t>      "document_type": "case_study",</a:t>
            </a:r>
          </a:p>
          <a:p>
            <a:r>
              <a:t>      "retrieval_method": "datalab_festival_table",</a:t>
            </a:r>
          </a:p>
          <a:p>
            <a:r>
              <a:t>      "retrieval_context": {</a:t>
            </a:r>
          </a:p>
          <a:p>
            <a:r>
              <a:t>        "scope": "cross_province",</a:t>
            </a:r>
          </a:p>
          <a:p>
            <a:r>
              <a:t>        "peer_region_code": null</a:t>
            </a:r>
          </a:p>
          <a:p>
            <a:r>
              <a:t>      },</a:t>
            </a:r>
          </a:p>
          <a:p>
            <a:r>
              <a:t>      "observed_result": "2024→2025년 전체 93,221→124,718명 (+33.79%). 개최 6→7일, 일평균 +14.67%, 외지인 +33.21%.",</a:t>
            </a:r>
          </a:p>
          <a:p>
            <a:r>
              <a:t>      "operating_statistics": [],</a:t>
            </a:r>
          </a:p>
          <a:p>
            <a:r>
              <a:t>      "evidence_kind": "festival_statistics",</a:t>
            </a:r>
          </a:p>
          <a:p>
            <a:r>
              <a:t>      "festival_statistics": {</a:t>
            </a:r>
          </a:p>
          <a:p>
            <a:r>
              <a:t>        "name": "통영한산대첩축제",</a:t>
            </a:r>
          </a:p>
          <a:p>
            <a:r>
              <a:t>        "annual": [</a:t>
            </a:r>
          </a:p>
          <a:p>
            <a:r>
              <a:t>          {</a:t>
            </a:r>
          </a:p>
          <a:p>
            <a:r>
              <a:t>            "days": 9,</a:t>
            </a:r>
          </a:p>
          <a:p>
            <a:r>
              <a:t>            "year": 2023,</a:t>
            </a:r>
          </a:p>
          <a:p>
            <a:r>
              <a:t>            "daily": 11745.444444444443,</a:t>
            </a:r>
          </a:p>
          <a:p>
            <a:r>
              <a:t>            "local": 57810,</a:t>
            </a:r>
          </a:p>
          <a:p>
            <a:r>
              <a:t>            "total": 105709,</a:t>
            </a:r>
          </a:p>
          <a:p>
            <a:r>
              <a:t>            "foreign": 455,</a:t>
            </a:r>
          </a:p>
          <a:p>
            <a:r>
              <a:t>            "outside": 47444,</a:t>
            </a:r>
          </a:p>
          <a:p>
            <a:r>
              <a:t>            "outside_daily": 5271.555555555556,</a:t>
            </a:r>
          </a:p>
          <a:p>
            <a:r>
              <a:t>            "outside_share_pct": 44.88170354463669</a:t>
            </a:r>
          </a:p>
          <a:p>
            <a:r>
              <a:t>          },</a:t>
            </a:r>
          </a:p>
          <a:p>
            <a:r>
              <a:t>          {</a:t>
            </a:r>
          </a:p>
          <a:p>
            <a:r>
              <a:t>            "days": 6,</a:t>
            </a:r>
          </a:p>
          <a:p>
            <a:r>
              <a:t>            "year": 2024,</a:t>
            </a:r>
          </a:p>
          <a:p>
            <a:r>
              <a:t>            "daily": 15536.833333333334,</a:t>
            </a:r>
          </a:p>
          <a:p>
            <a:r>
              <a:t>            "local": 52493,</a:t>
            </a:r>
          </a:p>
          <a:p>
            <a:r>
              <a:t>            "total": 93221,</a:t>
            </a:r>
          </a:p>
          <a:p>
            <a:r>
              <a:t>            "foreign": 394,</a:t>
            </a:r>
          </a:p>
          <a:p>
            <a:r>
              <a:t>            "outside": 40334,</a:t>
            </a:r>
          </a:p>
          <a:p>
            <a:r>
              <a:t>            "outside_daily": 6722.333333333333,</a:t>
            </a:r>
          </a:p>
          <a:p>
            <a:r>
              <a:t>            "outside_share_pct": 43.26707501528625</a:t>
            </a:r>
          </a:p>
          <a:p>
            <a:r>
              <a:t>          },</a:t>
            </a:r>
          </a:p>
          <a:p>
            <a:r>
              <a:t>          {</a:t>
            </a:r>
          </a:p>
          <a:p>
            <a:r>
              <a:t>            "days": 7,</a:t>
            </a:r>
          </a:p>
          <a:p>
            <a:r>
              <a:t>            "year": 2025,</a:t>
            </a:r>
          </a:p>
          <a:p>
            <a:r>
              <a:t>            "daily": 17816.85714285714,</a:t>
            </a:r>
          </a:p>
          <a:p>
            <a:r>
              <a:t>            "local": 70201,</a:t>
            </a:r>
          </a:p>
          <a:p>
            <a:r>
              <a:t>            "total": 124718,</a:t>
            </a:r>
          </a:p>
          <a:p>
            <a:r>
              <a:t>            "foreign": 787,</a:t>
            </a:r>
          </a:p>
          <a:p>
            <a:r>
              <a:t>            "outside": 53730,</a:t>
            </a:r>
          </a:p>
          <a:p>
            <a:r>
              <a:t>            "outside_daily": 7675.714285714285,</a:t>
            </a:r>
          </a:p>
          <a:p>
            <a:r>
              <a:t>            "outside_share_pct": 43.08119116727337</a:t>
            </a:r>
          </a:p>
          <a:p>
            <a:r>
              <a:t>          }</a:t>
            </a:r>
          </a:p>
          <a:p>
            <a:r>
              <a:t>        ],</a:t>
            </a:r>
          </a:p>
          <a:p>
            <a:r>
              <a:t>        "comparison": {</a:t>
            </a:r>
          </a:p>
          <a:p>
            <a:r>
              <a:t>          "daily": {</a:t>
            </a:r>
          </a:p>
          <a:p>
            <a:r>
              <a:t>            "after": 17816.85714285714,</a:t>
            </a:r>
          </a:p>
          <a:p>
            <a:r>
              <a:t>            "before": 15536.833333333334,</a:t>
            </a:r>
          </a:p>
          <a:p>
            <a:r>
              <a:t>            "change_pct": 14.674958278867244,</a:t>
            </a:r>
          </a:p>
          <a:p>
            <a:r>
              <a:t>            "difference": 2280.0238095238074</a:t>
            </a:r>
          </a:p>
          <a:p>
            <a:r>
              <a:t>          },</a:t>
            </a:r>
          </a:p>
          <a:p>
            <a:r>
              <a:t>          "total": {</a:t>
            </a:r>
          </a:p>
          <a:p>
            <a:r>
              <a:t>            "after": 124718,</a:t>
            </a:r>
          </a:p>
          <a:p>
            <a:r>
              <a:t>            "before": 93221,</a:t>
            </a:r>
          </a:p>
          <a:p>
            <a:r>
              <a:t>            "change_pct": 33.78745132534515,</a:t>
            </a:r>
          </a:p>
          <a:p>
            <a:r>
              <a:t>            "difference": 31497</a:t>
            </a:r>
          </a:p>
          <a:p>
            <a:r>
              <a:t>          },</a:t>
            </a:r>
          </a:p>
          <a:p>
            <a:r>
              <a:t>          "outside": {</a:t>
            </a:r>
          </a:p>
          <a:p>
            <a:r>
              <a:t>            "after": 53730,</a:t>
            </a:r>
          </a:p>
          <a:p>
            <a:r>
              <a:t>            "before": 40334,</a:t>
            </a:r>
          </a:p>
          <a:p>
            <a:r>
              <a:t>            "change_pct": 33.21267417067486,</a:t>
            </a:r>
          </a:p>
          <a:p>
            <a:r>
              <a:t>            "difference": 13396</a:t>
            </a:r>
          </a:p>
          <a:p>
            <a:r>
              <a:t>          },</a:t>
            </a:r>
          </a:p>
          <a:p>
            <a:r>
              <a:t>          "after_days": 7,</a:t>
            </a:r>
          </a:p>
          <a:p>
            <a:r>
              <a:t>          "after_year": 2025,</a:t>
            </a:r>
          </a:p>
          <a:p>
            <a:r>
              <a:t>          "before_days": 6,</a:t>
            </a:r>
          </a:p>
          <a:p>
            <a:r>
              <a:t>          "before_year": 2024,</a:t>
            </a:r>
          </a:p>
          <a:p>
            <a:r>
              <a:t>          "outside_daily": {</a:t>
            </a:r>
          </a:p>
          <a:p>
            <a:r>
              <a:t>            "after": 7675.714285714285,</a:t>
            </a:r>
          </a:p>
          <a:p>
            <a:r>
              <a:t>            "before": 6722.333333333333,</a:t>
            </a:r>
          </a:p>
          <a:p>
            <a:r>
              <a:t>            "change_pct": 14.182292146292742,</a:t>
            </a:r>
          </a:p>
          <a:p>
            <a:r>
              <a:t>            "difference": 953.3809523809524</a:t>
            </a:r>
          </a:p>
          <a:p>
            <a:r>
              <a:t>          }</a:t>
            </a:r>
          </a:p>
          <a:p>
            <a:r>
              <a:t>        },</a:t>
            </a:r>
          </a:p>
          <a:p>
            <a:r>
              <a:t>        "scope": "축제 관측구역 방문 지표. 도시 전체·순증 관광객·입장권 실구매자 수가 아님.",</a:t>
            </a:r>
          </a:p>
          <a:p>
            <a:r>
              <a:t>        "region_basis": "목적지 검색 CSV의 시도+시군구 최빈 주소; 행사장 행정경계 확정은 아님",</a:t>
            </a:r>
          </a:p>
          <a:p>
            <a:r>
              <a:t>        "source_file": {</a:t>
            </a:r>
          </a:p>
          <a:p>
            <a:r>
              <a:t>          "sha256": "ec35e7537d4da1ed72dd60617fec143558f280299aeb303bc8b7a1036ecc73f0",</a:t>
            </a:r>
          </a:p>
          <a:p>
            <a:r>
              <a:t>          "provider": "한국관광 데이터랩",</a:t>
            </a:r>
          </a:p>
          <a:p>
            <a:r>
              <a:t>          "file_name": "20260820183544_통영한산대첩축제_연도별 방문자 추이.csv",</a:t>
            </a:r>
          </a:p>
          <a:p>
            <a:r>
              <a:t>          "source_id": "festival-file:ec35e7537d4da1ed72dd",</a:t>
            </a:r>
          </a:p>
          <a:p>
            <a:r>
              <a:t>          "source_url": "https://datalab.visitkorea.or.kr/",</a:t>
            </a:r>
          </a:p>
          <a:p>
            <a:r>
              <a:t>          "downloaded_at": "2026-08-20",</a:t>
            </a:r>
          </a:p>
          <a:p>
            <a:r>
              <a:t>          "relative_path": "data/source_snapshots/festivals_20260820/81. 통영한산대첩축제_2023-2025/20260820183544_통영한산대첩축제_연도별 방문자 추이.csv",</a:t>
            </a:r>
          </a:p>
          <a:p>
            <a:r>
              <a:t>          "provenance_status": "team_download_exact_query_url_unrecorded"</a:t>
            </a:r>
          </a:p>
          <a:p>
            <a:r>
              <a:t>        },</a:t>
            </a:r>
          </a:p>
          <a:p>
            <a:r>
              <a:t>        "indicator_values": [</a:t>
            </a:r>
          </a:p>
          <a:p>
            <a:r>
              <a:t>          {</a:t>
            </a:r>
          </a:p>
          <a:p>
            <a:r>
              <a:t>            "구분명": "외부방문자 유입",</a:t>
            </a:r>
          </a:p>
          <a:p>
            <a:r>
              <a:t>            "그룹명": "축제기간",</a:t>
            </a:r>
          </a:p>
          <a:p>
            <a:r>
              <a:t>            "지표값": "0.309",</a:t>
            </a:r>
          </a:p>
          <a:p>
            <a:r>
              <a:t>            "축제명": "통영한산대첩축제",</a:t>
            </a:r>
          </a:p>
          <a:p>
            <a:r>
              <a:t>            "개최년도": "2025"</a:t>
            </a:r>
          </a:p>
          <a:p>
            <a:r>
              <a:t>          },</a:t>
            </a:r>
          </a:p>
          <a:p>
            <a:r>
              <a:t>          {</a:t>
            </a:r>
          </a:p>
          <a:p>
            <a:r>
              <a:t>            "구분명": "현지인방문자 유입",</a:t>
            </a:r>
          </a:p>
          <a:p>
            <a:r>
              <a:t>            "그룹명": "축제기간",</a:t>
            </a:r>
          </a:p>
          <a:p>
            <a:r>
              <a:t>            "지표값": "0.731",</a:t>
            </a:r>
          </a:p>
          <a:p>
            <a:r>
              <a:t>            "축제명": "통영한산대첩축제",</a:t>
            </a:r>
          </a:p>
          <a:p>
            <a:r>
              <a:t>            "개최년도": "2025"</a:t>
            </a:r>
          </a:p>
          <a:p>
            <a:r>
              <a:t>          },</a:t>
            </a:r>
          </a:p>
          <a:p>
            <a:r>
              <a:t>          {</a:t>
            </a:r>
          </a:p>
          <a:p>
            <a:r>
              <a:t>            "구분명": "내비게이션 검색량",</a:t>
            </a:r>
          </a:p>
          <a:p>
            <a:r>
              <a:t>            "그룹명": "축제기간",</a:t>
            </a:r>
          </a:p>
          <a:p>
            <a:r>
              <a:t>            "지표값": "0.228",</a:t>
            </a:r>
          </a:p>
          <a:p>
            <a:r>
              <a:t>            "축제명": "통영한산대첩축제",</a:t>
            </a:r>
          </a:p>
          <a:p>
            <a:r>
              <a:t>            "개최년도": "2025"</a:t>
            </a:r>
          </a:p>
          <a:p>
            <a:r>
              <a:t>          },</a:t>
            </a:r>
          </a:p>
          <a:p>
            <a:r>
              <a:t>          {</a:t>
            </a:r>
          </a:p>
          <a:p>
            <a:r>
              <a:t>            "구분명": "관광소비",</a:t>
            </a:r>
          </a:p>
          <a:p>
            <a:r>
              <a:t>            "그룹명": "축제기간",</a:t>
            </a:r>
          </a:p>
          <a:p>
            <a:r>
              <a:t>            "지표값": "0.313",</a:t>
            </a:r>
          </a:p>
          <a:p>
            <a:r>
              <a:t>            "축제명": "통영한산대첩축제",</a:t>
            </a:r>
          </a:p>
          <a:p>
            <a:r>
              <a:t>            "개최년도": "2025"</a:t>
            </a:r>
          </a:p>
          <a:p>
            <a:r>
              <a:t>          },</a:t>
            </a:r>
          </a:p>
          <a:p>
            <a:r>
              <a:t>          {</a:t>
            </a:r>
          </a:p>
          <a:p>
            <a:r>
              <a:t>            "구분명": "축제지 집중률",</a:t>
            </a:r>
          </a:p>
          <a:p>
            <a:r>
              <a:t>            "그룹명": "축제기간",</a:t>
            </a:r>
          </a:p>
          <a:p>
            <a:r>
              <a:t>            "지표값": "0.766",</a:t>
            </a:r>
          </a:p>
          <a:p>
            <a:r>
              <a:t>            "축제명": "통영한산대첩축제",</a:t>
            </a:r>
          </a:p>
          <a:p>
            <a:r>
              <a:t>            "개최년도": "2025"</a:t>
            </a:r>
          </a:p>
          <a:p>
            <a:r>
              <a:t>          },</a:t>
            </a:r>
          </a:p>
          <a:p>
            <a:r>
              <a:t>          {</a:t>
            </a:r>
          </a:p>
          <a:p>
            <a:r>
              <a:t>            "구분명": "외부방문자 유입",</a:t>
            </a:r>
          </a:p>
          <a:p>
            <a:r>
              <a:t>            "그룹명": "비축제기간",</a:t>
            </a:r>
          </a:p>
          <a:p>
            <a:r>
              <a:t>            "지표값": "0.244",</a:t>
            </a:r>
          </a:p>
          <a:p>
            <a:r>
              <a:t>            "축제명": "통영한산대첩축제",</a:t>
            </a:r>
          </a:p>
          <a:p>
            <a:r>
              <a:t>            "개최년도": "2025"</a:t>
            </a:r>
          </a:p>
          <a:p>
            <a:r>
              <a:t>          },</a:t>
            </a:r>
          </a:p>
          <a:p>
            <a:r>
              <a:t>          {</a:t>
            </a:r>
          </a:p>
          <a:p>
            <a:r>
              <a:t>            "구분명": "현지인방문자 유입",</a:t>
            </a:r>
          </a:p>
          <a:p>
            <a:r>
              <a:t>            "그룹명": "비축제기간",</a:t>
            </a:r>
          </a:p>
          <a:p>
            <a:r>
              <a:t>            "지표값": "0.586",</a:t>
            </a:r>
          </a:p>
          <a:p>
            <a:r>
              <a:t>            "축제명": "통영한산대첩축제",</a:t>
            </a:r>
          </a:p>
          <a:p>
            <a:r>
              <a:t>            "개최년도": "2025"</a:t>
            </a:r>
          </a:p>
          <a:p>
            <a:r>
              <a:t>          },</a:t>
            </a:r>
          </a:p>
          <a:p>
            <a:r>
              <a:t>          {</a:t>
            </a:r>
          </a:p>
          <a:p>
            <a:r>
              <a:t>            "구분명": "내비게이션 검색량",</a:t>
            </a:r>
          </a:p>
          <a:p>
            <a:r>
              <a:t>            "그룹명": "비축제기간",</a:t>
            </a:r>
          </a:p>
          <a:p>
            <a:r>
              <a:t>            "지표값": "0.206",</a:t>
            </a:r>
          </a:p>
          <a:p>
            <a:r>
              <a:t>            "축제명": "통영한산대첩축제",</a:t>
            </a:r>
          </a:p>
          <a:p>
            <a:r>
              <a:t>            "개최년도": "2025"</a:t>
            </a:r>
          </a:p>
          <a:p>
            <a:r>
              <a:t>          },</a:t>
            </a:r>
          </a:p>
          <a:p>
            <a:r>
              <a:t>          {</a:t>
            </a:r>
          </a:p>
          <a:p>
            <a:r>
              <a:t>            "구분명": "관광소비",</a:t>
            </a:r>
          </a:p>
          <a:p>
            <a:r>
              <a:t>            "그룹명": "비축제기간",</a:t>
            </a:r>
          </a:p>
          <a:p>
            <a:r>
              <a:t>            "지표값": "0.312",</a:t>
            </a:r>
          </a:p>
          <a:p>
            <a:r>
              <a:t>            "축제명": "통영한산대첩축제",</a:t>
            </a:r>
          </a:p>
          <a:p>
            <a:r>
              <a:t>            "개최년도": "2025"</a:t>
            </a:r>
          </a:p>
          <a:p>
            <a:r>
              <a:t>          },</a:t>
            </a:r>
          </a:p>
          <a:p>
            <a:r>
              <a:t>          {</a:t>
            </a:r>
          </a:p>
          <a:p>
            <a:r>
              <a:t>            "구분명": "축제지 집중률",</a:t>
            </a:r>
          </a:p>
          <a:p>
            <a:r>
              <a:t>            "그룹명": "비축제기간",</a:t>
            </a:r>
          </a:p>
          <a:p>
            <a:r>
              <a:t>            "지표값": "0.595",</a:t>
            </a:r>
          </a:p>
          <a:p>
            <a:r>
              <a:t>            "축제명": "통영한산대첩축제",</a:t>
            </a:r>
          </a:p>
          <a:p>
            <a:r>
              <a:t>            "개최년도": "2025"</a:t>
            </a:r>
          </a:p>
          <a:p>
            <a:r>
              <a:t>          }</a:t>
            </a:r>
          </a:p>
          <a:p>
            <a:r>
              <a:t>        ],</a:t>
            </a:r>
          </a:p>
          <a:p>
            <a:r>
              <a:t>        "indicator_rule": "원본 지표값만 보존. 산식·단위 미확인으로 성장률/원화/정원/참여율 변환 금지.",</a:t>
            </a:r>
          </a:p>
          <a:p>
            <a:r>
              <a:t>        "audience": [</a:t>
            </a:r>
          </a:p>
          <a:p>
            <a:r>
              <a:t>          {</a:t>
            </a:r>
          </a:p>
          <a:p>
            <a:r>
              <a:t>            "연령대": "70세 이상",</a:t>
            </a:r>
          </a:p>
          <a:p>
            <a:r>
              <a:t>            "축제명": "통영한산대첩축제",</a:t>
            </a:r>
          </a:p>
          <a:p>
            <a:r>
              <a:t>            "남성비율": "5.2",</a:t>
            </a:r>
          </a:p>
          <a:p>
            <a:r>
              <a:t>            "여성비율": "5.7"</a:t>
            </a:r>
          </a:p>
          <a:p>
            <a:r>
              <a:t>          },</a:t>
            </a:r>
          </a:p>
          <a:p>
            <a:r>
              <a:t>          {</a:t>
            </a:r>
          </a:p>
          <a:p>
            <a:r>
              <a:t>            "연령대": "60~69세",</a:t>
            </a:r>
          </a:p>
          <a:p>
            <a:r>
              <a:t>            "축제명": "통영한산대첩축제",</a:t>
            </a:r>
          </a:p>
          <a:p>
            <a:r>
              <a:t>            "남성비율": "11.0",</a:t>
            </a:r>
          </a:p>
          <a:p>
            <a:r>
              <a:t>            "여성비율": "11.5"</a:t>
            </a:r>
          </a:p>
          <a:p>
            <a:r>
              <a:t>          },</a:t>
            </a:r>
          </a:p>
          <a:p>
            <a:r>
              <a:t>          {</a:t>
            </a:r>
          </a:p>
          <a:p>
            <a:r>
              <a:t>            "연령대": "50~59세",</a:t>
            </a:r>
          </a:p>
          <a:p>
            <a:r>
              <a:t>            "축제명": "통영한산대첩축제",</a:t>
            </a:r>
          </a:p>
          <a:p>
            <a:r>
              <a:t>            "남성비율": "11.1",</a:t>
            </a:r>
          </a:p>
          <a:p>
            <a:r>
              <a:t>            "여성비율": "10.9"</a:t>
            </a:r>
          </a:p>
          <a:p>
            <a:r>
              <a:t>          },</a:t>
            </a:r>
          </a:p>
          <a:p>
            <a:r>
              <a:t>          {</a:t>
            </a:r>
          </a:p>
          <a:p>
            <a:r>
              <a:t>            "연령대": "40~49세",</a:t>
            </a:r>
          </a:p>
          <a:p>
            <a:r>
              <a:t>            "축제명": "통영한산대첩축제",</a:t>
            </a:r>
          </a:p>
          <a:p>
            <a:r>
              <a:t>            "남성비율": "8.0",</a:t>
            </a:r>
          </a:p>
          <a:p>
            <a:r>
              <a:t>            "여성비율": "7.7"</a:t>
            </a:r>
          </a:p>
          <a:p>
            <a:r>
              <a:t>          },</a:t>
            </a:r>
          </a:p>
          <a:p>
            <a:r>
              <a:t>          {</a:t>
            </a:r>
          </a:p>
          <a:p>
            <a:r>
              <a:t>            "연령대": "30~39세",</a:t>
            </a:r>
          </a:p>
          <a:p>
            <a:r>
              <a:t>            "축제명": "통영한산대첩축제",</a:t>
            </a:r>
          </a:p>
          <a:p>
            <a:r>
              <a:t>            "남성비율": "6.3",</a:t>
            </a:r>
          </a:p>
          <a:p>
            <a:r>
              <a:t>            "여성비율": "5.6"</a:t>
            </a:r>
          </a:p>
          <a:p>
            <a:r>
              <a:t>          },</a:t>
            </a:r>
          </a:p>
          <a:p>
            <a:r>
              <a:t>          {</a:t>
            </a:r>
          </a:p>
          <a:p>
            <a:r>
              <a:t>            "연령대": "20~29세",</a:t>
            </a:r>
          </a:p>
          <a:p>
            <a:r>
              <a:t>            "축제명": "통영한산대첩축제",</a:t>
            </a:r>
          </a:p>
          <a:p>
            <a:r>
              <a:t>            "남성비율": "5.4",</a:t>
            </a:r>
          </a:p>
          <a:p>
            <a:r>
              <a:t>            "여성비율": "4.4"</a:t>
            </a:r>
          </a:p>
          <a:p>
            <a:r>
              <a:t>          },</a:t>
            </a:r>
          </a:p>
          <a:p>
            <a:r>
              <a:t>          {</a:t>
            </a:r>
          </a:p>
          <a:p>
            <a:r>
              <a:t>            "연령대": "10~19세",</a:t>
            </a:r>
          </a:p>
          <a:p>
            <a:r>
              <a:t>            "축제명": "통영한산대첩축제",</a:t>
            </a:r>
          </a:p>
          <a:p>
            <a:r>
              <a:t>            "남성비율": "2.8",</a:t>
            </a:r>
          </a:p>
          <a:p>
            <a:r>
              <a:t>            "여성비율": "3.1"</a:t>
            </a:r>
          </a:p>
          <a:p>
            <a:r>
              <a:t>          },</a:t>
            </a:r>
          </a:p>
          <a:p>
            <a:r>
              <a:t>          {</a:t>
            </a:r>
          </a:p>
          <a:p>
            <a:r>
              <a:t>            "연령대": "0~9세",</a:t>
            </a:r>
          </a:p>
          <a:p>
            <a:r>
              <a:t>            "축제명": "통영한산대첩축제",</a:t>
            </a:r>
          </a:p>
          <a:p>
            <a:r>
              <a:t>            "남성비율": "0.5",</a:t>
            </a:r>
          </a:p>
          <a:p>
            <a:r>
              <a:t>            "여성비율": "0.6"</a:t>
            </a:r>
          </a:p>
          <a:p>
            <a:r>
              <a:t>          }</a:t>
            </a:r>
          </a:p>
          <a:p>
            <a:r>
              <a:t>        ],</a:t>
            </a:r>
          </a:p>
          <a:p>
            <a:r>
              <a:t>        "audience_period": "다운로드 CSV에 연도 열 없음; 최신 개최연도와 자동 결합하지 않음",</a:t>
            </a:r>
          </a:p>
          <a:p>
            <a:r>
              <a:t>        "destination_examples": [</a:t>
            </a:r>
          </a:p>
          <a:p>
            <a:r>
              <a:t>          {</a:t>
            </a:r>
          </a:p>
          <a:p>
            <a:r>
              <a:t>            "구분": "외지인",</a:t>
            </a:r>
          </a:p>
          <a:p>
            <a:r>
              <a:t>            "순위": "1",</a:t>
            </a:r>
          </a:p>
          <a:p>
            <a:r>
              <a:t>            "목적지명": "통영중앙전통시장",</a:t>
            </a:r>
          </a:p>
          <a:p>
            <a:r>
              <a:t>            "도로명주소": "경남 통영시 중앙시장1길 14-16",</a:t>
            </a:r>
          </a:p>
          <a:p>
            <a:r>
              <a:t>            "카테고리": "시장"</a:t>
            </a:r>
          </a:p>
          <a:p>
            <a:r>
              <a:t>          },</a:t>
            </a:r>
          </a:p>
          <a:p>
            <a:r>
              <a:t>          {</a:t>
            </a:r>
          </a:p>
          <a:p>
            <a:r>
              <a:t>            "구분": "외지인",</a:t>
            </a:r>
          </a:p>
          <a:p>
            <a:r>
              <a:t>            "순위": "2",</a:t>
            </a:r>
          </a:p>
          <a:p>
            <a:r>
              <a:t>            "목적지명": "동피랑벽화마을",</a:t>
            </a:r>
          </a:p>
          <a:p>
            <a:r>
              <a:t>            "도로명주소": "경남 통영시 동피랑1길 6-18",</a:t>
            </a:r>
          </a:p>
          <a:p>
            <a:r>
              <a:t>            "카테고리": "기타관광"</a:t>
            </a:r>
          </a:p>
          <a:p>
            <a:r>
              <a:t>          },</a:t>
            </a:r>
          </a:p>
          <a:p>
            <a:r>
              <a:t>          {</a:t>
            </a:r>
          </a:p>
          <a:p>
            <a:r>
              <a:t>            "구분": "외지인",</a:t>
            </a:r>
          </a:p>
          <a:p>
            <a:r>
              <a:t>            "순위": "3",</a:t>
            </a:r>
          </a:p>
          <a:p>
            <a:r>
              <a:t>            "목적지명": "통영한산대첩축제(한산대첩광장)",</a:t>
            </a:r>
          </a:p>
          <a:p>
            <a:r>
              <a:t>            "도로명주소": "경남 통영시 통영해안로 267-0",</a:t>
            </a:r>
          </a:p>
          <a:p>
            <a:r>
              <a:t>            "카테고리": "기타문화관광지"</a:t>
            </a:r>
          </a:p>
          <a:p>
            <a:r>
              <a:t>          }</a:t>
            </a:r>
          </a:p>
          <a:p>
            <a:r>
              <a:t>        ],</a:t>
            </a:r>
          </a:p>
          <a:p>
            <a:r>
              <a:t>        "destination_period": "다운로드 CSV에 연도 열 없음; 주변 검색 후보이며 제휴·실제 방문 증거 아님"</a:t>
            </a:r>
          </a:p>
          <a:p>
            <a:r>
              <a:t>      },</a:t>
            </a:r>
          </a:p>
          <a:p>
            <a:r>
              <a:t>      "retrieval_basis": {</a:t>
            </a:r>
          </a:p>
          <a:p>
            <a:r>
              <a:t>        "kind": "external_benchmark",</a:t>
            </a:r>
          </a:p>
          <a:p>
            <a:r>
              <a:t>        "score": 31,</a:t>
            </a:r>
          </a:p>
          <a:p>
            <a:r>
              <a:t>        "components": {</a:t>
            </a:r>
          </a:p>
          <a:p>
            <a:r>
              <a:t>          "방문 전망 조사: 외지인·일평균 동반 증가": 15,</a:t>
            </a:r>
          </a:p>
          <a:p>
            <a:r>
              <a:t>          "최근 개최연도": 6,</a:t>
            </a:r>
          </a:p>
          <a:p>
            <a:r>
              <a:t>          "방문 실적 비교 가능": 10</a:t>
            </a:r>
          </a:p>
          <a:p>
            <a:r>
              <a:t>        },</a:t>
            </a:r>
          </a:p>
          <a:p>
            <a:r>
              <a:t>        "theme": "지역문화",</a:t>
            </a:r>
          </a:p>
          <a:p>
            <a:r>
              <a:t>        "priority_signal": "visit",</a:t>
            </a:r>
          </a:p>
          <a:p>
            <a:r>
              <a:t>        "rule": "함수 기반 조사 우선순위. 사업효과·인구/환경 유사도 점수가 아니며 소비·체류 개선은 조사 가설이다."</a:t>
            </a:r>
          </a:p>
          <a:p>
            <a:r>
              <a:t>      },</a:t>
            </a:r>
          </a:p>
          <a:p>
            <a:r>
              <a:t>      "source_files": [</a:t>
            </a:r>
          </a:p>
          <a:p>
            <a:r>
              <a:t>        {</a:t>
            </a:r>
          </a:p>
          <a:p>
            <a:r>
              <a:t>          "sha256": "ec35e7537d4da1ed72dd60617fec143558f280299aeb303bc8b7a1036ecc73f0",</a:t>
            </a:r>
          </a:p>
          <a:p>
            <a:r>
              <a:t>          "provider": "한국관광 데이터랩",</a:t>
            </a:r>
          </a:p>
          <a:p>
            <a:r>
              <a:t>          "file_name": "20260820183544_통영한산대첩축제_연도별 방문자 추이.csv",</a:t>
            </a:r>
          </a:p>
          <a:p>
            <a:r>
              <a:t>          "source_id": "festival-file:ec35e7537d4da1ed72dd",</a:t>
            </a:r>
          </a:p>
          <a:p>
            <a:r>
              <a:t>          "source_url": "https://datalab.visitkorea.or.kr/",</a:t>
            </a:r>
          </a:p>
          <a:p>
            <a:r>
              <a:t>          "downloaded_at": "2026-08-20",</a:t>
            </a:r>
          </a:p>
          <a:p>
            <a:r>
              <a:t>          "relative_path": "data/source_snapshots/festivals_20260820/81. 통영한산대첩축제_2023-2025/20260820183544_통영한산대첩축제_연도별 방문자 추이.csv",</a:t>
            </a:r>
          </a:p>
          <a:p>
            <a:r>
              <a:t>          "provenance_status": "team_download_exact_query_url_unrecorded"</a:t>
            </a:r>
          </a:p>
          <a:p>
            <a:r>
              <a:t>        },</a:t>
            </a:r>
          </a:p>
          <a:p>
            <a:r>
              <a:t>        {</a:t>
            </a:r>
          </a:p>
          <a:p>
            <a:r>
              <a:t>          "sha256": "77b41103f7ab3a48a3a94baa36227391bc47069fafcf8cc68a36662ec60fd43d",</a:t>
            </a:r>
          </a:p>
          <a:p>
            <a:r>
              <a:t>          "provider": "한국관광 데이터랩",</a:t>
            </a:r>
          </a:p>
          <a:p>
            <a:r>
              <a:t>          "file_name": "20260820183544_통영한산대첩축제_성_연령별 내국인 방문자.csv",</a:t>
            </a:r>
          </a:p>
          <a:p>
            <a:r>
              <a:t>          "source_id": "festival-file:77b41103f7ab3a48a3a9",</a:t>
            </a:r>
          </a:p>
          <a:p>
            <a:r>
              <a:t>          "source_url": "https://datalab.visitkorea.or.kr/",</a:t>
            </a:r>
          </a:p>
          <a:p>
            <a:r>
              <a:t>          "downloaded_at": "2026-08-20",</a:t>
            </a:r>
          </a:p>
          <a:p>
            <a:r>
              <a:t>          "relative_path": "data/source_snapshots/festivals_20260820/81. 통영한산대첩축제_2023-2025/20260820183544_통영한산대첩축제_성_연령별 내국인 방문자.csv",</a:t>
            </a:r>
          </a:p>
          <a:p>
            <a:r>
              <a:t>          "provenance_status": "team_download_exact_query_url_unrecorded"</a:t>
            </a:r>
          </a:p>
          <a:p>
            <a:r>
              <a:t>        },</a:t>
            </a:r>
          </a:p>
          <a:p>
            <a:r>
              <a:t>        {</a:t>
            </a:r>
          </a:p>
          <a:p>
            <a:r>
              <a:t>          "sha256": "5457f819bd8704a9d5b81a24337c2a40c45bbcf7435e0a751139a5457627bdd4",</a:t>
            </a:r>
          </a:p>
          <a:p>
            <a:r>
              <a:t>          "provider": "한국관광 데이터랩",</a:t>
            </a:r>
          </a:p>
          <a:p>
            <a:r>
              <a:t>          "file_name": "20260820183544_통영한산대첩축제_문화관광축제 주요 지표.csv",</a:t>
            </a:r>
          </a:p>
          <a:p>
            <a:r>
              <a:t>          "source_id": "festival-file:5457f819bd8704a9d5b8",</a:t>
            </a:r>
          </a:p>
          <a:p>
            <a:r>
              <a:t>          "source_url": "https://datalab.visitkorea.or.kr/",</a:t>
            </a:r>
          </a:p>
          <a:p>
            <a:r>
              <a:t>          "downloaded_at": "2026-08-20",</a:t>
            </a:r>
          </a:p>
          <a:p>
            <a:r>
              <a:t>          "relative_path": "data/source_snapshots/festivals_20260820/81. 통영한산대첩축제_2023-2025/20260820183544_통영한산대첩축제_문화관광축제 주요 지표.csv",</a:t>
            </a:r>
          </a:p>
          <a:p>
            <a:r>
              <a:t>          "provenance_status": "team_download_exact_query_url_unrecorded"</a:t>
            </a:r>
          </a:p>
          <a:p>
            <a:r>
              <a:t>        },</a:t>
            </a:r>
          </a:p>
          <a:p>
            <a:r>
              <a:t>        {</a:t>
            </a:r>
          </a:p>
          <a:p>
            <a:r>
              <a:t>          "sha256": "3b2a6e862dd8337a7616d3cdb3f568c6fdb24be706918eb7f02d965d625ca746",</a:t>
            </a:r>
          </a:p>
          <a:p>
            <a:r>
              <a:t>          "provider": "한국관광 데이터랩",</a:t>
            </a:r>
          </a:p>
          <a:p>
            <a:r>
              <a:t>          "file_name": "20260820183544_통영한산대첩축제_목적지 검색순위.csv",</a:t>
            </a:r>
          </a:p>
          <a:p>
            <a:r>
              <a:t>          "source_id": "festival-file:3b2a6e862dd8337a7616",</a:t>
            </a:r>
          </a:p>
          <a:p>
            <a:r>
              <a:t>          "source_url": "https://datalab.visitkorea.or.kr/",</a:t>
            </a:r>
          </a:p>
          <a:p>
            <a:r>
              <a:t>          "downloaded_at": "2026-08-20",</a:t>
            </a:r>
          </a:p>
          <a:p>
            <a:r>
              <a:t>          "relative_path": "data/source_snapshots/festivals_20260820/81. 통영한산대첩축제_2023-2025/20260820183544_통영한산대첩축제_목적지 검색순위.csv",</a:t>
            </a:r>
          </a:p>
          <a:p>
            <a:r>
              <a:t>          "provenance_status": "team_download_exact_query_url_unrecorded"</a:t>
            </a:r>
          </a:p>
          <a:p>
            <a:r>
              <a:t>        }</a:t>
            </a:r>
          </a:p>
          <a:p>
            <a:r>
              <a:t>      ],</a:t>
            </a:r>
          </a:p>
          <a:p>
            <a:r>
              <a:t>      "dataset_hash": "ad20e3daf70fd44fd481d672398c07bb9c96fce77acb450784065a568735e2e2",</a:t>
            </a:r>
          </a:p>
          <a:p>
            <a:r>
              <a:t>      "measurement_period": "2023~2025년 각 축제 개최기간",</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a:t>
            </a:r>
          </a:p>
          <a:p>
            <a:r>
              <a:t>    {</a:t>
            </a:r>
          </a:p>
          <a:p>
            <a:r>
              <a:t>      "source_id": "tour-api:2758252",</a:t>
            </a:r>
          </a:p>
          <a:p>
            <a:r>
              <a:t>      "source_type": "open_api",</a:t>
            </a:r>
          </a:p>
          <a:p>
            <a:r>
              <a:t>      "title": "남선공원",</a:t>
            </a:r>
          </a:p>
          <a:p>
            <a:r>
              <a:t>      "source_url": "https://apis.data.go.kr/B551011/KorService2",</a:t>
            </a:r>
          </a:p>
          <a:p>
            <a:r>
              <a:t>      "content_id": "2758252",</a:t>
            </a:r>
          </a:p>
          <a:p>
            <a:r>
              <a:t>      "content_type_id": "12",</a:t>
            </a:r>
          </a:p>
          <a:p>
            <a:r>
              <a:t>      "address": "대전광역시 서구 남선로 66",</a:t>
            </a:r>
          </a:p>
          <a:p>
            <a:r>
              <a:t>      "image_url": "http://tong.visitkorea.or.kr/cms/resource/24/3565624_image2_1.jpg",</a:t>
            </a:r>
          </a:p>
          <a:p>
            <a:r>
              <a:t>      "summary": "한국관광공사 국문관광정보 API가 반환한 선택 지역 관광자원"</a:t>
            </a:r>
          </a:p>
          <a:p>
            <a:r>
              <a:t>    }</a:t>
            </a:r>
          </a:p>
          <a:p>
            <a:r>
              <a:t>  ],</a:t>
            </a:r>
          </a:p>
          <a:p>
            <a:r>
              <a:t>  "selected_forecast": {</a:t>
            </a:r>
          </a:p>
          <a:p>
            <a:r>
              <a:t>    "rows": [</a:t>
            </a:r>
          </a:p>
          <a:p>
            <a:r>
              <a:t>      {</a:t>
            </a:r>
          </a:p>
          <a:p>
            <a:r>
              <a:t>        "month": "202610",</a:t>
            </a:r>
          </a:p>
          <a:p>
            <a:r>
              <a:t>        "visitors": 4998578.0,</a:t>
            </a:r>
          </a:p>
          <a:p>
            <a:r>
              <a:t>        "spending_krw": 79359374710.0,</a:t>
            </a:r>
          </a:p>
          <a:p>
            <a:r>
              <a:t>        "previous_year_visitors": 4949394,</a:t>
            </a:r>
          </a:p>
          <a:p>
            <a:r>
              <a:t>        "previous_year_spending_krw": 78158272000,</a:t>
            </a:r>
          </a:p>
          <a:p>
            <a:r>
              <a:t>        "visitor_yoy_percent": 0.99,</a:t>
            </a:r>
          </a:p>
          <a:p>
            <a:r>
              <a:t>        "spending_yoy_percent": 1.54,</a:t>
            </a:r>
          </a:p>
          <a:p>
            <a:r>
              <a:t>        "lodging_nights": 2.85,</a:t>
            </a:r>
          </a:p>
          <a:p>
            <a:r>
              <a:t>        "previous_year_lodging_nights": 2.85,</a:t>
            </a:r>
          </a:p>
          <a:p>
            <a:r>
              <a:t>        "lodging_rate_pct": 8.9,</a:t>
            </a:r>
          </a:p>
          <a:p>
            <a:r>
              <a:t>        "previous_year_lodging_rate_pct": 8.9,</a:t>
            </a:r>
          </a:p>
          <a:p>
            <a:r>
              <a:t>        "stay_minutes": 1170.0,</a:t>
            </a:r>
          </a:p>
          <a:p>
            <a:r>
              <a:t>        "previous_year_stay_minutes": 1170.0,</a:t>
            </a:r>
          </a:p>
          <a:p>
            <a:r>
              <a:t>        "navigation_searches": 237779,</a:t>
            </a:r>
          </a:p>
          <a:p>
            <a:r>
              <a:t>        "previous_year_navigation_searches": 324902,</a:t>
            </a:r>
          </a:p>
          <a:p>
            <a:r>
              <a:t>        "lodging_searches": 19187,</a:t>
            </a:r>
          </a:p>
          <a:p>
            <a:r>
              <a:t>        "previous_year_lodging_searches": 19187,</a:t>
            </a:r>
          </a:p>
          <a:p>
            <a:r>
              <a:t>        "metric_changes_percent": {</a:t>
            </a:r>
          </a:p>
          <a:p>
            <a:r>
              <a:t>          "lodging_nights": 0.0,</a:t>
            </a:r>
          </a:p>
          <a:p>
            <a:r>
              <a:t>          "lodging_rate_pct": 0.0,</a:t>
            </a:r>
          </a:p>
          <a:p>
            <a:r>
              <a:t>          "stay_minutes": 0.0,</a:t>
            </a:r>
          </a:p>
          <a:p>
            <a:r>
              <a:t>          "navigation_searches": -26.82,</a:t>
            </a:r>
          </a:p>
          <a:p>
            <a:r>
              <a:t>          "lodging_searches": 0.0</a:t>
            </a:r>
          </a:p>
          <a:p>
            <a:r>
              <a:t>        },</a:t>
            </a:r>
          </a:p>
          <a:p>
            <a:r>
              <a:t>        "is_forecast": true</a:t>
            </a:r>
          </a:p>
          <a:p>
            <a:r>
              <a:t>      },</a:t>
            </a:r>
          </a:p>
          <a:p>
            <a:r>
              <a:t>      {</a:t>
            </a:r>
          </a:p>
          <a:p>
            <a:r>
              <a:t>        "month": "202611",</a:t>
            </a:r>
          </a:p>
          <a:p>
            <a:r>
              <a:t>        "visitors": 4940348.0,</a:t>
            </a:r>
          </a:p>
          <a:p>
            <a:r>
              <a:t>        "spending_krw": 85971975908.0,</a:t>
            </a:r>
          </a:p>
          <a:p>
            <a:r>
              <a:t>        "previous_year_visitors": 5167969,</a:t>
            </a:r>
          </a:p>
          <a:p>
            <a:r>
              <a:t>        "previous_year_spending_krw": 76509918000,</a:t>
            </a:r>
          </a:p>
          <a:p>
            <a:r>
              <a:t>        "visitor_yoy_percent": -4.4,</a:t>
            </a:r>
          </a:p>
          <a:p>
            <a:r>
              <a:t>        "spending_yoy_percent": 12.37,</a:t>
            </a:r>
          </a:p>
          <a:p>
            <a:r>
              <a:t>        "lodging_nights": 2.79,</a:t>
            </a:r>
          </a:p>
          <a:p>
            <a:r>
              <a:t>        "previous_year_lodging_nights": 2.79,</a:t>
            </a:r>
          </a:p>
          <a:p>
            <a:r>
              <a:t>        "lodging_rate_pct": 6.5,</a:t>
            </a:r>
          </a:p>
          <a:p>
            <a:r>
              <a:t>        "previous_year_lodging_rate_pct": 6.5,</a:t>
            </a:r>
          </a:p>
          <a:p>
            <a:r>
              <a:t>        "stay_minutes": 987.0,</a:t>
            </a:r>
          </a:p>
          <a:p>
            <a:r>
              <a:t>        "previous_year_stay_minutes": 987.0,</a:t>
            </a:r>
          </a:p>
          <a:p>
            <a:r>
              <a:t>        "navigation_searches": 231894,</a:t>
            </a:r>
          </a:p>
          <a:p>
            <a:r>
              <a:t>        "previous_year_navigation_searches": 238728,</a:t>
            </a:r>
          </a:p>
          <a:p>
            <a:r>
              <a:t>        "lodging_searches": 14379,</a:t>
            </a:r>
          </a:p>
          <a:p>
            <a:r>
              <a:t>        "previous_year_lodging_searches": 14379,</a:t>
            </a:r>
          </a:p>
          <a:p>
            <a:r>
              <a:t>        "metric_changes_percent": {</a:t>
            </a:r>
          </a:p>
          <a:p>
            <a:r>
              <a:t>          "lodging_nights": 0.0,</a:t>
            </a:r>
          </a:p>
          <a:p>
            <a:r>
              <a:t>          "lodging_rate_pct": 0.0,</a:t>
            </a:r>
          </a:p>
          <a:p>
            <a:r>
              <a:t>          "stay_minutes": 0.0,</a:t>
            </a:r>
          </a:p>
          <a:p>
            <a:r>
              <a:t>          "navigation_searches": -2.86,</a:t>
            </a:r>
          </a:p>
          <a:p>
            <a:r>
              <a:t>          "lodging_searches": 0.0</a:t>
            </a:r>
          </a:p>
          <a:p>
            <a:r>
              <a:t>        },</a:t>
            </a:r>
          </a:p>
          <a:p>
            <a:r>
              <a:t>        "is_forecast": true</a:t>
            </a:r>
          </a:p>
          <a:p>
            <a:r>
              <a:t>      },</a:t>
            </a:r>
          </a:p>
          <a:p>
            <a:r>
              <a:t>      {</a:t>
            </a:r>
          </a:p>
          <a:p>
            <a:r>
              <a:t>        "month": "202612",</a:t>
            </a:r>
          </a:p>
          <a:p>
            <a:r>
              <a:t>        "visitors": 4989633.0,</a:t>
            </a:r>
          </a:p>
          <a:p>
            <a:r>
              <a:t>        "spending_krw": 81033922052.0,</a:t>
            </a:r>
          </a:p>
          <a:p>
            <a:r>
              <a:t>        "previous_year_visitors": 5079597,</a:t>
            </a:r>
          </a:p>
          <a:p>
            <a:r>
              <a:t>        "previous_year_spending_krw": 81119852000,</a:t>
            </a:r>
          </a:p>
          <a:p>
            <a:r>
              <a:t>        "visitor_yoy_percent": -1.77,</a:t>
            </a:r>
          </a:p>
          <a:p>
            <a:r>
              <a:t>        "spending_yoy_percent": -0.11,</a:t>
            </a:r>
          </a:p>
          <a:p>
            <a:r>
              <a:t>        "lodging_nights": 2.81,</a:t>
            </a:r>
          </a:p>
          <a:p>
            <a:r>
              <a:t>        "previous_year_lodging_nights": 2.81,</a:t>
            </a:r>
          </a:p>
          <a:p>
            <a:r>
              <a:t>        "lodging_rate_pct": 7.3,</a:t>
            </a:r>
          </a:p>
          <a:p>
            <a:r>
              <a:t>        "previous_year_lodging_rate_pct": 7.3,</a:t>
            </a:r>
          </a:p>
          <a:p>
            <a:r>
              <a:t>        "stay_minutes": 1118.0,</a:t>
            </a:r>
          </a:p>
          <a:p>
            <a:r>
              <a:t>        "previous_year_stay_minutes": 1118.0,</a:t>
            </a:r>
          </a:p>
          <a:p>
            <a:r>
              <a:t>        "navigation_searches": 225518,</a:t>
            </a:r>
          </a:p>
          <a:p>
            <a:r>
              <a:t>        "previous_year_navigation_searches": 220205,</a:t>
            </a:r>
          </a:p>
          <a:p>
            <a:r>
              <a:t>        "lodging_searches": 12004,</a:t>
            </a:r>
          </a:p>
          <a:p>
            <a:r>
              <a:t>        "previous_year_lodging_searches": 12004,</a:t>
            </a:r>
          </a:p>
          <a:p>
            <a:r>
              <a:t>        "metric_changes_percent": {</a:t>
            </a:r>
          </a:p>
          <a:p>
            <a:r>
              <a:t>          "lodging_nights": 0.0,</a:t>
            </a:r>
          </a:p>
          <a:p>
            <a:r>
              <a:t>          "lodging_rate_pct": 0.0,</a:t>
            </a:r>
          </a:p>
          <a:p>
            <a:r>
              <a:t>          "stay_minutes": 0.0,</a:t>
            </a:r>
          </a:p>
          <a:p>
            <a:r>
              <a:t>          "navigation_searches": 2.41,</a:t>
            </a:r>
          </a:p>
          <a:p>
            <a:r>
              <a:t>          "lodging_searches": 0.0</a:t>
            </a:r>
          </a:p>
          <a:p>
            <a:r>
              <a:t>        },</a:t>
            </a:r>
          </a:p>
          <a:p>
            <a:r>
              <a:t>        "is_forecast": true</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4982887,</a:t>
            </a:r>
          </a:p>
          <a:p>
            <a:r>
              <a:t>      "spending_krw": 80283647550,</a:t>
            </a:r>
          </a:p>
          <a:p>
            <a:r>
              <a:t>      "previous_year_visitors": 4951150,</a:t>
            </a:r>
          </a:p>
          <a:p>
            <a:r>
              <a:t>      "previous_year_spending_krw": 75135145000,</a:t>
            </a:r>
          </a:p>
          <a:p>
            <a:r>
              <a:t>      "visitor_yoy_percent": 0.64,</a:t>
            </a:r>
          </a:p>
          <a:p>
            <a:r>
              <a:t>      "spending_yoy_percent": 6.85,</a:t>
            </a:r>
          </a:p>
          <a:p>
            <a:r>
              <a:t>      "lodging_nights": 2.91,</a:t>
            </a:r>
          </a:p>
          <a:p>
            <a:r>
              <a:t>      "previous_year_lodging_nights": 2.91,</a:t>
            </a:r>
          </a:p>
          <a:p>
            <a:r>
              <a:t>      "lodging_rate_pct": 7.3,</a:t>
            </a:r>
          </a:p>
          <a:p>
            <a:r>
              <a:t>      "previous_year_lodging_rate_pct": 7.3,</a:t>
            </a:r>
          </a:p>
          <a:p>
            <a:r>
              <a:t>      "stay_minutes": 1223.0,</a:t>
            </a:r>
          </a:p>
          <a:p>
            <a:r>
              <a:t>      "previous_year_stay_minutes": 1223.0,</a:t>
            </a:r>
          </a:p>
          <a:p>
            <a:r>
              <a:t>      "navigation_searches": 209722,</a:t>
            </a:r>
          </a:p>
          <a:p>
            <a:r>
              <a:t>      "previous_year_navigation_searches": 210646,</a:t>
            </a:r>
          </a:p>
          <a:p>
            <a:r>
              <a:t>      "lodging_searches": 12843,</a:t>
            </a:r>
          </a:p>
          <a:p>
            <a:r>
              <a:t>      "previous_year_lodging_searches": 12843,</a:t>
            </a:r>
          </a:p>
          <a:p>
            <a:r>
              <a:t>      "metric_changes_percent": {</a:t>
            </a:r>
          </a:p>
          <a:p>
            <a:r>
              <a:t>        "lodging_nights": 0.0,</a:t>
            </a:r>
          </a:p>
          <a:p>
            <a:r>
              <a:t>        "lodging_rate_pct": 0.0,</a:t>
            </a:r>
          </a:p>
          <a:p>
            <a:r>
              <a:t>        "stay_minutes": 0.0,</a:t>
            </a:r>
          </a:p>
          <a:p>
            <a:r>
              <a:t>        "navigation_searches": -0.44,</a:t>
            </a:r>
          </a:p>
          <a:p>
            <a:r>
              <a:t>        "lodging_searches": 0.0</a:t>
            </a:r>
          </a:p>
          <a:p>
            <a:r>
              <a:t>      },</a:t>
            </a:r>
          </a:p>
          <a:p>
            <a:r>
              <a:t>      "is_forecast": true</a:t>
            </a:r>
          </a:p>
          <a:p>
            <a:r>
              <a:t>    },</a:t>
            </a:r>
          </a:p>
          <a:p>
            <a:r>
              <a:t>    {</a:t>
            </a:r>
          </a:p>
          <a:p>
            <a:r>
              <a:t>      "month": "202608",</a:t>
            </a:r>
          </a:p>
          <a:p>
            <a:r>
              <a:t>      "visitors": 4852547,</a:t>
            </a:r>
          </a:p>
          <a:p>
            <a:r>
              <a:t>      "spending_krw": 76665340753,</a:t>
            </a:r>
          </a:p>
          <a:p>
            <a:r>
              <a:t>      "previous_year_visitors": 4939438,</a:t>
            </a:r>
          </a:p>
          <a:p>
            <a:r>
              <a:t>      "previous_year_spending_krw": 76291079000,</a:t>
            </a:r>
          </a:p>
          <a:p>
            <a:r>
              <a:t>      "visitor_yoy_percent": -1.76,</a:t>
            </a:r>
          </a:p>
          <a:p>
            <a:r>
              <a:t>      "spending_yoy_percent": 0.49,</a:t>
            </a:r>
          </a:p>
          <a:p>
            <a:r>
              <a:t>      "lodging_nights": 2.84,</a:t>
            </a:r>
          </a:p>
          <a:p>
            <a:r>
              <a:t>      "previous_year_lodging_nights": 2.84,</a:t>
            </a:r>
          </a:p>
          <a:p>
            <a:r>
              <a:t>      "lodging_rate_pct": 7.9,</a:t>
            </a:r>
          </a:p>
          <a:p>
            <a:r>
              <a:t>      "previous_year_lodging_rate_pct": 7.9,</a:t>
            </a:r>
          </a:p>
          <a:p>
            <a:r>
              <a:t>      "stay_minutes": 1218.0,</a:t>
            </a:r>
          </a:p>
          <a:p>
            <a:r>
              <a:t>      "previous_year_stay_minutes": 1218.0,</a:t>
            </a:r>
          </a:p>
          <a:p>
            <a:r>
              <a:t>      "navigation_searches": 225159,</a:t>
            </a:r>
          </a:p>
          <a:p>
            <a:r>
              <a:t>      "previous_year_navigation_searches": 220742,</a:t>
            </a:r>
          </a:p>
          <a:p>
            <a:r>
              <a:t>      "lodging_searches": 13272,</a:t>
            </a:r>
          </a:p>
          <a:p>
            <a:r>
              <a:t>      "previous_year_lodging_searches": 13272,</a:t>
            </a:r>
          </a:p>
          <a:p>
            <a:r>
              <a:t>      "metric_changes_percent": {</a:t>
            </a:r>
          </a:p>
          <a:p>
            <a:r>
              <a:t>        "lodging_nights": 0.0,</a:t>
            </a:r>
          </a:p>
          <a:p>
            <a:r>
              <a:t>        "lodging_rate_pct": 0.0,</a:t>
            </a:r>
          </a:p>
          <a:p>
            <a:r>
              <a:t>        "stay_minutes": 0.0,</a:t>
            </a:r>
          </a:p>
          <a:p>
            <a:r>
              <a:t>        "navigation_searches": 2.0,</a:t>
            </a:r>
          </a:p>
          <a:p>
            <a:r>
              <a:t>        "lodging_searches": 0.0</a:t>
            </a:r>
          </a:p>
          <a:p>
            <a:r>
              <a:t>      },</a:t>
            </a:r>
          </a:p>
          <a:p>
            <a:r>
              <a:t>      "is_forecast": true</a:t>
            </a:r>
          </a:p>
          <a:p>
            <a:r>
              <a:t>    },</a:t>
            </a:r>
          </a:p>
          <a:p>
            <a:r>
              <a:t>    {</a:t>
            </a:r>
          </a:p>
          <a:p>
            <a:r>
              <a:t>      "month": "202609",</a:t>
            </a:r>
          </a:p>
          <a:p>
            <a:r>
              <a:t>      "visitors": 4823300,</a:t>
            </a:r>
          </a:p>
          <a:p>
            <a:r>
              <a:t>      "spending_krw": 80194062490,</a:t>
            </a:r>
          </a:p>
          <a:p>
            <a:r>
              <a:t>      "previous_year_visitors": 4842196,</a:t>
            </a:r>
          </a:p>
          <a:p>
            <a:r>
              <a:t>      "previous_year_spending_krw": 70764730000,</a:t>
            </a:r>
          </a:p>
          <a:p>
            <a:r>
              <a:t>      "visitor_yoy_percent": -0.39,</a:t>
            </a:r>
          </a:p>
          <a:p>
            <a:r>
              <a:t>      "spending_yoy_percent": 13.32,</a:t>
            </a:r>
          </a:p>
          <a:p>
            <a:r>
              <a:t>      "lodging_nights": 2.93,</a:t>
            </a:r>
          </a:p>
          <a:p>
            <a:r>
              <a:t>      "previous_year_lodging_nights": 2.93,</a:t>
            </a:r>
          </a:p>
          <a:p>
            <a:r>
              <a:t>      "lodging_rate_pct": 6.7,</a:t>
            </a:r>
          </a:p>
          <a:p>
            <a:r>
              <a:t>      "previous_year_lodging_rate_pct": 6.7,</a:t>
            </a:r>
          </a:p>
          <a:p>
            <a:r>
              <a:t>      "stay_minutes": 1281.0,</a:t>
            </a:r>
          </a:p>
          <a:p>
            <a:r>
              <a:t>      "previous_year_stay_minutes": 1281.0,</a:t>
            </a:r>
          </a:p>
          <a:p>
            <a:r>
              <a:t>      "navigation_searches": 206180,</a:t>
            </a:r>
          </a:p>
          <a:p>
            <a:r>
              <a:t>      "previous_year_navigation_searches": 191971,</a:t>
            </a:r>
          </a:p>
          <a:p>
            <a:r>
              <a:t>      "lodging_searches": 11464,</a:t>
            </a:r>
          </a:p>
          <a:p>
            <a:r>
              <a:t>      "previous_year_lodging_searches": 11464,</a:t>
            </a:r>
          </a:p>
          <a:p>
            <a:r>
              <a:t>      "metric_changes_percent": {</a:t>
            </a:r>
          </a:p>
          <a:p>
            <a:r>
              <a:t>        "lodging_nights": 0.0,</a:t>
            </a:r>
          </a:p>
          <a:p>
            <a:r>
              <a:t>        "lodging_rate_pct": 0.0,</a:t>
            </a:r>
          </a:p>
          <a:p>
            <a:r>
              <a:t>        "stay_minutes": 0.0,</a:t>
            </a:r>
          </a:p>
          <a:p>
            <a:r>
              <a:t>        "navigation_searches": 7.4,</a:t>
            </a:r>
          </a:p>
          <a:p>
            <a:r>
              <a:t>        "lodging_searches": 0.0</a:t>
            </a:r>
          </a:p>
          <a:p>
            <a:r>
              <a:t>      },</a:t>
            </a:r>
          </a:p>
          <a:p>
            <a:r>
              <a:t>      "is_forecast": true</a:t>
            </a:r>
          </a:p>
          <a:p>
            <a:r>
              <a:t>    },</a:t>
            </a:r>
          </a:p>
          <a:p>
            <a:r>
              <a:t>    {</a:t>
            </a:r>
          </a:p>
          <a:p>
            <a:r>
              <a:t>      "month": "202610",</a:t>
            </a:r>
          </a:p>
          <a:p>
            <a:r>
              <a:t>      "visitors": 4998578,</a:t>
            </a:r>
          </a:p>
          <a:p>
            <a:r>
              <a:t>      "spending_krw": 79359374710,</a:t>
            </a:r>
          </a:p>
          <a:p>
            <a:r>
              <a:t>      "previous_year_visitors": 4949394,</a:t>
            </a:r>
          </a:p>
          <a:p>
            <a:r>
              <a:t>      "previous_year_spending_krw": 78158272000,</a:t>
            </a:r>
          </a:p>
          <a:p>
            <a:r>
              <a:t>      "visitor_yoy_percent": 0.99,</a:t>
            </a:r>
          </a:p>
          <a:p>
            <a:r>
              <a:t>      "spending_yoy_percent": 1.54,</a:t>
            </a:r>
          </a:p>
          <a:p>
            <a:r>
              <a:t>      "lodging_nights": 2.85,</a:t>
            </a:r>
          </a:p>
          <a:p>
            <a:r>
              <a:t>      "previous_year_lodging_nights": 2.85,</a:t>
            </a:r>
          </a:p>
          <a:p>
            <a:r>
              <a:t>      "lodging_rate_pct": 8.9,</a:t>
            </a:r>
          </a:p>
          <a:p>
            <a:r>
              <a:t>      "previous_year_lodging_rate_pct": 8.9,</a:t>
            </a:r>
          </a:p>
          <a:p>
            <a:r>
              <a:t>      "stay_minutes": 1170.0,</a:t>
            </a:r>
          </a:p>
          <a:p>
            <a:r>
              <a:t>      "previous_year_stay_minutes": 1170.0,</a:t>
            </a:r>
          </a:p>
          <a:p>
            <a:r>
              <a:t>      "navigation_searches": 237779,</a:t>
            </a:r>
          </a:p>
          <a:p>
            <a:r>
              <a:t>      "previous_year_navigation_searches": 324902,</a:t>
            </a:r>
          </a:p>
          <a:p>
            <a:r>
              <a:t>      "lodging_searches": 19187,</a:t>
            </a:r>
          </a:p>
          <a:p>
            <a:r>
              <a:t>      "previous_year_lodging_searches": 19187,</a:t>
            </a:r>
          </a:p>
          <a:p>
            <a:r>
              <a:t>      "metric_changes_percent": {</a:t>
            </a:r>
          </a:p>
          <a:p>
            <a:r>
              <a:t>        "lodging_nights": 0.0,</a:t>
            </a:r>
          </a:p>
          <a:p>
            <a:r>
              <a:t>        "lodging_rate_pct": 0.0,</a:t>
            </a:r>
          </a:p>
          <a:p>
            <a:r>
              <a:t>        "stay_minutes": 0.0,</a:t>
            </a:r>
          </a:p>
          <a:p>
            <a:r>
              <a:t>        "navigation_searches": -26.82,</a:t>
            </a:r>
          </a:p>
          <a:p>
            <a:r>
              <a:t>        "lodging_searches": 0.0</a:t>
            </a:r>
          </a:p>
          <a:p>
            <a:r>
              <a:t>      },</a:t>
            </a:r>
          </a:p>
          <a:p>
            <a:r>
              <a:t>      "is_forecast": true</a:t>
            </a:r>
          </a:p>
          <a:p>
            <a:r>
              <a:t>    },</a:t>
            </a:r>
          </a:p>
          <a:p>
            <a:r>
              <a:t>    {</a:t>
            </a:r>
          </a:p>
          <a:p>
            <a:r>
              <a:t>      "month": "202611",</a:t>
            </a:r>
          </a:p>
          <a:p>
            <a:r>
              <a:t>      "visitors": 4940348,</a:t>
            </a:r>
          </a:p>
          <a:p>
            <a:r>
              <a:t>      "spending_krw": 85971975908,</a:t>
            </a:r>
          </a:p>
          <a:p>
            <a:r>
              <a:t>      "previous_year_visitors": 5167969,</a:t>
            </a:r>
          </a:p>
          <a:p>
            <a:r>
              <a:t>      "previous_year_spending_krw": 76509918000,</a:t>
            </a:r>
          </a:p>
          <a:p>
            <a:r>
              <a:t>      "visitor_yoy_percent": -4.4,</a:t>
            </a:r>
          </a:p>
          <a:p>
            <a:r>
              <a:t>      "spending_yoy_percent": 12.37,</a:t>
            </a:r>
          </a:p>
          <a:p>
            <a:r>
              <a:t>      "lodging_nights": 2.79,</a:t>
            </a:r>
          </a:p>
          <a:p>
            <a:r>
              <a:t>      "previous_year_lodging_nights": 2.79,</a:t>
            </a:r>
          </a:p>
          <a:p>
            <a:r>
              <a:t>      "lodging_rate_pct": 6.5,</a:t>
            </a:r>
          </a:p>
          <a:p>
            <a:r>
              <a:t>      "previous_year_lodging_rate_pct": 6.5,</a:t>
            </a:r>
          </a:p>
          <a:p>
            <a:r>
              <a:t>      "stay_minutes": 987.0,</a:t>
            </a:r>
          </a:p>
          <a:p>
            <a:r>
              <a:t>      "previous_year_stay_minutes": 987.0,</a:t>
            </a:r>
          </a:p>
          <a:p>
            <a:r>
              <a:t>      "navigation_searches": 231894,</a:t>
            </a:r>
          </a:p>
          <a:p>
            <a:r>
              <a:t>      "previous_year_navigation_searches": 238728,</a:t>
            </a:r>
          </a:p>
          <a:p>
            <a:r>
              <a:t>      "lodging_searches": 14379,</a:t>
            </a:r>
          </a:p>
          <a:p>
            <a:r>
              <a:t>      "previous_year_lodging_searches": 14379,</a:t>
            </a:r>
          </a:p>
          <a:p>
            <a:r>
              <a:t>      "metric_changes_percent": {</a:t>
            </a:r>
          </a:p>
          <a:p>
            <a:r>
              <a:t>        "lodging_nights": 0.0,</a:t>
            </a:r>
          </a:p>
          <a:p>
            <a:r>
              <a:t>        "lodging_rate_pct": 0.0,</a:t>
            </a:r>
          </a:p>
          <a:p>
            <a:r>
              <a:t>        "stay_minutes": 0.0,</a:t>
            </a:r>
          </a:p>
          <a:p>
            <a:r>
              <a:t>        "navigation_searches": -2.86,</a:t>
            </a:r>
          </a:p>
          <a:p>
            <a:r>
              <a:t>        "lodging_searches": 0.0</a:t>
            </a:r>
          </a:p>
          <a:p>
            <a:r>
              <a:t>      },</a:t>
            </a:r>
          </a:p>
          <a:p>
            <a:r>
              <a:t>      "is_forecast": true</a:t>
            </a:r>
          </a:p>
          <a:p>
            <a:r>
              <a:t>    },</a:t>
            </a:r>
          </a:p>
          <a:p>
            <a:r>
              <a:t>    {</a:t>
            </a:r>
          </a:p>
          <a:p>
            <a:r>
              <a:t>      "month": "202612",</a:t>
            </a:r>
          </a:p>
          <a:p>
            <a:r>
              <a:t>      "visitors": 4989633,</a:t>
            </a:r>
          </a:p>
          <a:p>
            <a:r>
              <a:t>      "spending_krw": 81033922052,</a:t>
            </a:r>
          </a:p>
          <a:p>
            <a:r>
              <a:t>      "previous_year_visitors": 5079597,</a:t>
            </a:r>
          </a:p>
          <a:p>
            <a:r>
              <a:t>      "previous_year_spending_krw": 81119852000,</a:t>
            </a:r>
          </a:p>
          <a:p>
            <a:r>
              <a:t>      "visitor_yoy_percent": -1.77,</a:t>
            </a:r>
          </a:p>
          <a:p>
            <a:r>
              <a:t>      "spending_yoy_percent": -0.11,</a:t>
            </a:r>
          </a:p>
          <a:p>
            <a:r>
              <a:t>      "lodging_nights": 2.81,</a:t>
            </a:r>
          </a:p>
          <a:p>
            <a:r>
              <a:t>      "previous_year_lodging_nights": 2.81,</a:t>
            </a:r>
          </a:p>
          <a:p>
            <a:r>
              <a:t>      "lodging_rate_pct": 7.3,</a:t>
            </a:r>
          </a:p>
          <a:p>
            <a:r>
              <a:t>      "previous_year_lodging_rate_pct": 7.3,</a:t>
            </a:r>
          </a:p>
          <a:p>
            <a:r>
              <a:t>      "stay_minutes": 1118.0,</a:t>
            </a:r>
          </a:p>
          <a:p>
            <a:r>
              <a:t>      "previous_year_stay_minutes": 1118.0,</a:t>
            </a:r>
          </a:p>
          <a:p>
            <a:r>
              <a:t>      "navigation_searches": 225518,</a:t>
            </a:r>
          </a:p>
          <a:p>
            <a:r>
              <a:t>      "previous_year_navigation_searches": 220205,</a:t>
            </a:r>
          </a:p>
          <a:p>
            <a:r>
              <a:t>      "lodging_searches": 12004,</a:t>
            </a:r>
          </a:p>
          <a:p>
            <a:r>
              <a:t>      "previous_year_lodging_searches": 12004,</a:t>
            </a:r>
          </a:p>
          <a:p>
            <a:r>
              <a:t>      "metric_changes_percent": {</a:t>
            </a:r>
          </a:p>
          <a:p>
            <a:r>
              <a:t>        "lodging_nights": 0.0,</a:t>
            </a:r>
          </a:p>
          <a:p>
            <a:r>
              <a:t>        "lodging_rate_pct": 0.0,</a:t>
            </a:r>
          </a:p>
          <a:p>
            <a:r>
              <a:t>        "stay_minutes": 0.0,</a:t>
            </a:r>
          </a:p>
          <a:p>
            <a:r>
              <a:t>        "navigation_searches": 2.41,</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6,</a:t>
            </a:r>
          </a:p>
          <a:p>
            <a:r>
              <a:t>    "longer_horizon_status": "exploratory_not_recursively_backtested",</a:t>
            </a:r>
          </a:p>
          <a:p>
            <a:r>
              <a:t>    "metrics": {</a:t>
            </a:r>
          </a:p>
          <a:p>
            <a:r>
              <a:t>      "visitors": {</a:t>
            </a:r>
          </a:p>
          <a:p>
            <a:r>
              <a:t>        "selected_model": "RandomForestRegressor",</a:t>
            </a:r>
          </a:p>
          <a:p>
            <a:r>
              <a:t>        "test_mae": 237105.53,</a:t>
            </a:r>
          </a:p>
          <a:p>
            <a:r>
              <a:t>        "baseline_test_mae": 192935.5,</a:t>
            </a:r>
          </a:p>
          <a:p>
            <a:r>
              <a:t>        "beats_baseline_on_test": false,</a:t>
            </a:r>
          </a:p>
          <a:p>
            <a:r>
              <a:t>        "model_reliability": "below_baseline_on_test",</a:t>
            </a:r>
          </a:p>
          <a:p>
            <a:r>
              <a:t>        "recursive_horizons_worse_than_baseline": [</a:t>
            </a:r>
          </a:p>
          <a:p>
            <a:r>
              <a:t>          "1",</a:t>
            </a:r>
          </a:p>
          <a:p>
            <a:r>
              <a:t>          "2"</a:t>
            </a:r>
          </a:p>
          <a:p>
            <a:r>
              <a:t>        ],</a:t>
            </a:r>
          </a:p>
          <a:p>
            <a:r>
              <a:t>        "recursive_mae": {</a:t>
            </a:r>
          </a:p>
          <a:p>
            <a:r>
              <a:t>          "1": {</a:t>
            </a:r>
          </a:p>
          <a:p>
            <a:r>
              <a:t>            "selected": 332727,</a:t>
            </a:r>
          </a:p>
          <a:p>
            <a:r>
              <a:t>            "baseline": 211072,</a:t>
            </a:r>
          </a:p>
          <a:p>
            <a:r>
              <a:t>            "sample_count": 2</a:t>
            </a:r>
          </a:p>
          <a:p>
            <a:r>
              <a:t>          },</a:t>
            </a:r>
          </a:p>
          <a:p>
            <a:r>
              <a:t>          "2": {</a:t>
            </a:r>
          </a:p>
          <a:p>
            <a:r>
              <a:t>            "selected": 141143.5,</a:t>
            </a:r>
          </a:p>
          <a:p>
            <a:r>
              <a:t>            "baseline": 97043,</a:t>
            </a:r>
          </a:p>
          <a:p>
            <a:r>
              <a:t>            "sample_count": 2</a:t>
            </a:r>
          </a:p>
          <a:p>
            <a:r>
              <a:t>          },</a:t>
            </a:r>
          </a:p>
          <a:p>
            <a:r>
              <a:t>          "3": {</a:t>
            </a:r>
          </a:p>
          <a:p>
            <a:r>
              <a:t>            "selected": 168591.5,</a:t>
            </a:r>
          </a:p>
          <a:p>
            <a:r>
              <a:t>            "baseline": 174799,</a:t>
            </a:r>
          </a:p>
          <a:p>
            <a:r>
              <a:t>            "sample_count": 2</a:t>
            </a:r>
          </a:p>
          <a:p>
            <a:r>
              <a:t>          }</a:t>
            </a:r>
          </a:p>
          <a:p>
            <a:r>
              <a:t>        }</a:t>
            </a:r>
          </a:p>
          <a:p>
            <a:r>
              <a:t>      },</a:t>
            </a:r>
          </a:p>
          <a:p>
            <a:r>
              <a:t>      "spending_krw": {</a:t>
            </a:r>
          </a:p>
          <a:p>
            <a:r>
              <a:t>        "selected_model": "LinearRegression",</a:t>
            </a:r>
          </a:p>
          <a:p>
            <a:r>
              <a:t>        "test_mae": 4927867951.9,</a:t>
            </a:r>
          </a:p>
          <a:p>
            <a:r>
              <a:t>        "baseline_test_mae": 2411157000,</a:t>
            </a:r>
          </a:p>
          <a:p>
            <a:r>
              <a:t>        "beats_baseline_on_test": false,</a:t>
            </a:r>
          </a:p>
          <a:p>
            <a:r>
              <a:t>        "model_reliability": "below_baseline_on_test",</a:t>
            </a:r>
          </a:p>
          <a:p>
            <a:r>
              <a:t>        "recursive_horizons_worse_than_baseline": [</a:t>
            </a:r>
          </a:p>
          <a:p>
            <a:r>
              <a:t>          "1",</a:t>
            </a:r>
          </a:p>
          <a:p>
            <a:r>
              <a:t>          "3"</a:t>
            </a:r>
          </a:p>
          <a:p>
            <a:r>
              <a:t>        ],</a:t>
            </a:r>
          </a:p>
          <a:p>
            <a:r>
              <a:t>        "recursive_mae": {</a:t>
            </a:r>
          </a:p>
          <a:p>
            <a:r>
              <a:t>          "1": {</a:t>
            </a:r>
          </a:p>
          <a:p>
            <a:r>
              <a:t>            "selected": 3237755191,</a:t>
            </a:r>
          </a:p>
          <a:p>
            <a:r>
              <a:t>            "baseline": 1944140500,</a:t>
            </a:r>
          </a:p>
          <a:p>
            <a:r>
              <a:t>            "sample_count": 2</a:t>
            </a:r>
          </a:p>
          <a:p>
            <a:r>
              <a:t>          },</a:t>
            </a:r>
          </a:p>
          <a:p>
            <a:r>
              <a:t>          "2": {</a:t>
            </a:r>
          </a:p>
          <a:p>
            <a:r>
              <a:t>            "selected": 1581504765.5,</a:t>
            </a:r>
          </a:p>
          <a:p>
            <a:r>
              <a:t>            "baseline": 3984052500,</a:t>
            </a:r>
          </a:p>
          <a:p>
            <a:r>
              <a:t>            "sample_count": 2</a:t>
            </a:r>
          </a:p>
          <a:p>
            <a:r>
              <a:t>          },</a:t>
            </a:r>
          </a:p>
          <a:p>
            <a:r>
              <a:t>          "3": {</a:t>
            </a:r>
          </a:p>
          <a:p>
            <a:r>
              <a:t>            "selected": 4493524184.5,</a:t>
            </a:r>
          </a:p>
          <a:p>
            <a:r>
              <a:t>            "baseline": 2878173500,</a:t>
            </a:r>
          </a:p>
          <a:p>
            <a:r>
              <a:t>            "sample_count": 2</a:t>
            </a:r>
          </a:p>
          <a:p>
            <a:r>
              <a:t>          }</a:t>
            </a:r>
          </a:p>
          <a:p>
            <a:r>
              <a:t>        }</a:t>
            </a:r>
          </a:p>
          <a:p>
            <a:r>
              <a:t>      },</a:t>
            </a:r>
          </a:p>
          <a:p>
            <a:r>
              <a:t>      "lodging_nights": {</a:t>
            </a:r>
          </a:p>
          <a:p>
            <a:r>
              <a:t>        "selected_model": "seasonal_naive_previous_year_same_month",</a:t>
            </a:r>
          </a:p>
          <a:p>
            <a:r>
              <a:t>        "test_mae": 0.07,</a:t>
            </a:r>
          </a:p>
          <a:p>
            <a:r>
              <a:t>        "baseline_test_mae": 0.07,</a:t>
            </a:r>
          </a:p>
          <a:p>
            <a:r>
              <a:t>        "beats_baseline_on_test": false,</a:t>
            </a:r>
          </a:p>
          <a:p>
            <a:r>
              <a:t>        "model_reliability": "seasonal_baseline",</a:t>
            </a:r>
          </a:p>
          <a:p>
            <a:r>
              <a:t>        "recursive_horizons_worse_than_baseline": [],</a:t>
            </a:r>
          </a:p>
          <a:p>
            <a:r>
              <a:t>        "recursive_mae": {</a:t>
            </a:r>
          </a:p>
          <a:p>
            <a:r>
              <a:t>          "1": {</a:t>
            </a:r>
          </a:p>
          <a:p>
            <a:r>
              <a:t>            "selected": 0.06,</a:t>
            </a:r>
          </a:p>
          <a:p>
            <a:r>
              <a:t>            "baseline": 0.06,</a:t>
            </a:r>
          </a:p>
          <a:p>
            <a:r>
              <a:t>            "sample_count": 2</a:t>
            </a:r>
          </a:p>
          <a:p>
            <a:r>
              <a:t>          },</a:t>
            </a:r>
          </a:p>
          <a:p>
            <a:r>
              <a:t>          "2": {</a:t>
            </a:r>
          </a:p>
          <a:p>
            <a:r>
              <a:t>            "selected": 0.11,</a:t>
            </a:r>
          </a:p>
          <a:p>
            <a:r>
              <a:t>            "baseline": 0.11,</a:t>
            </a:r>
          </a:p>
          <a:p>
            <a:r>
              <a:t>            "sample_count": 2</a:t>
            </a:r>
          </a:p>
          <a:p>
            <a:r>
              <a:t>          },</a:t>
            </a:r>
          </a:p>
          <a:p>
            <a:r>
              <a:t>          "3": {</a:t>
            </a:r>
          </a:p>
          <a:p>
            <a:r>
              <a:t>            "selected": 0.08,</a:t>
            </a:r>
          </a:p>
          <a:p>
            <a:r>
              <a:t>            "baseline": 0.08,</a:t>
            </a:r>
          </a:p>
          <a:p>
            <a:r>
              <a:t>            "sample_count": 2</a:t>
            </a:r>
          </a:p>
          <a:p>
            <a:r>
              <a:t>          }</a:t>
            </a:r>
          </a:p>
          <a:p>
            <a:r>
              <a:t>        }</a:t>
            </a:r>
          </a:p>
          <a:p>
            <a:r>
              <a:t>      },</a:t>
            </a:r>
          </a:p>
          <a:p>
            <a:r>
              <a:t>      "lodging_rate_pct": {</a:t>
            </a:r>
          </a:p>
          <a:p>
            <a:r>
              <a:t>        "selected_model": "seasonal_naive_previous_year_same_month",</a:t>
            </a:r>
          </a:p>
          <a:p>
            <a:r>
              <a:t>        "test_mae": 0.3,</a:t>
            </a:r>
          </a:p>
          <a:p>
            <a:r>
              <a:t>        "baseline_test_mae": 0.3,</a:t>
            </a:r>
          </a:p>
          <a:p>
            <a:r>
              <a:t>        "beats_baseline_on_test": false,</a:t>
            </a:r>
          </a:p>
          <a:p>
            <a:r>
              <a:t>        "model_reliability": "seasonal_baseline",</a:t>
            </a:r>
          </a:p>
          <a:p>
            <a:r>
              <a:t>        "recursive_horizons_worse_than_baseline": [],</a:t>
            </a:r>
          </a:p>
          <a:p>
            <a:r>
              <a:t>        "recursive_mae": {</a:t>
            </a:r>
          </a:p>
          <a:p>
            <a:r>
              <a:t>          "1": {</a:t>
            </a:r>
          </a:p>
          <a:p>
            <a:r>
              <a:t>            "selected": 0.4,</a:t>
            </a:r>
          </a:p>
          <a:p>
            <a:r>
              <a:t>            "baseline": 0.4,</a:t>
            </a:r>
          </a:p>
          <a:p>
            <a:r>
              <a:t>            "sample_count": 2</a:t>
            </a:r>
          </a:p>
          <a:p>
            <a:r>
              <a:t>          },</a:t>
            </a:r>
          </a:p>
          <a:p>
            <a:r>
              <a:t>          "2": {</a:t>
            </a:r>
          </a:p>
          <a:p>
            <a:r>
              <a:t>            "selected": 0.2,</a:t>
            </a:r>
          </a:p>
          <a:p>
            <a:r>
              <a:t>            "baseline": 0.2,</a:t>
            </a:r>
          </a:p>
          <a:p>
            <a:r>
              <a:t>            "sample_count": 2</a:t>
            </a:r>
          </a:p>
          <a:p>
            <a:r>
              <a:t>          },</a:t>
            </a:r>
          </a:p>
          <a:p>
            <a:r>
              <a:t>          "3": {</a:t>
            </a:r>
          </a:p>
          <a:p>
            <a:r>
              <a:t>            "selected": 0.2,</a:t>
            </a:r>
          </a:p>
          <a:p>
            <a:r>
              <a:t>            "baseline": 0.2,</a:t>
            </a:r>
          </a:p>
          <a:p>
            <a:r>
              <a:t>            "sample_count": 2</a:t>
            </a:r>
          </a:p>
          <a:p>
            <a:r>
              <a:t>          }</a:t>
            </a:r>
          </a:p>
          <a:p>
            <a:r>
              <a:t>        }</a:t>
            </a:r>
          </a:p>
          <a:p>
            <a:r>
              <a:t>      },</a:t>
            </a:r>
          </a:p>
          <a:p>
            <a:r>
              <a:t>      "stay_minutes": {</a:t>
            </a:r>
          </a:p>
          <a:p>
            <a:r>
              <a:t>        "selected_model": "seasonal_naive_previous_year_same_month",</a:t>
            </a:r>
          </a:p>
          <a:p>
            <a:r>
              <a:t>        "test_mae": 113.5,</a:t>
            </a:r>
          </a:p>
          <a:p>
            <a:r>
              <a:t>        "baseline_test_mae": 113.5,</a:t>
            </a:r>
          </a:p>
          <a:p>
            <a:r>
              <a:t>        "beats_baseline_on_test": false,</a:t>
            </a:r>
          </a:p>
          <a:p>
            <a:r>
              <a:t>        "model_reliability": "seasonal_baseline",</a:t>
            </a:r>
          </a:p>
          <a:p>
            <a:r>
              <a:t>        "recursive_horizons_worse_than_baseline": [],</a:t>
            </a:r>
          </a:p>
          <a:p>
            <a:r>
              <a:t>        "recursive_mae": {</a:t>
            </a:r>
          </a:p>
          <a:p>
            <a:r>
              <a:t>          "1": {</a:t>
            </a:r>
          </a:p>
          <a:p>
            <a:r>
              <a:t>            "selected": 52,</a:t>
            </a:r>
          </a:p>
          <a:p>
            <a:r>
              <a:t>            "baseline": 52,</a:t>
            </a:r>
          </a:p>
          <a:p>
            <a:r>
              <a:t>            "sample_count": 2</a:t>
            </a:r>
          </a:p>
          <a:p>
            <a:r>
              <a:t>          },</a:t>
            </a:r>
          </a:p>
          <a:p>
            <a:r>
              <a:t>          "2": {</a:t>
            </a:r>
          </a:p>
          <a:p>
            <a:r>
              <a:t>            "selected": 218.5,</a:t>
            </a:r>
          </a:p>
          <a:p>
            <a:r>
              <a:t>            "baseline": 218.5,</a:t>
            </a:r>
          </a:p>
          <a:p>
            <a:r>
              <a:t>            "sample_count": 2</a:t>
            </a:r>
          </a:p>
          <a:p>
            <a:r>
              <a:t>          },</a:t>
            </a:r>
          </a:p>
          <a:p>
            <a:r>
              <a:t>          "3": {</a:t>
            </a:r>
          </a:p>
          <a:p>
            <a:r>
              <a:t>            "selected": 175,</a:t>
            </a:r>
          </a:p>
          <a:p>
            <a:r>
              <a:t>            "baseline": 175,</a:t>
            </a:r>
          </a:p>
          <a:p>
            <a:r>
              <a:t>            "sample_count": 2</a:t>
            </a:r>
          </a:p>
          <a:p>
            <a:r>
              <a:t>          }</a:t>
            </a:r>
          </a:p>
          <a:p>
            <a:r>
              <a:t>        }</a:t>
            </a:r>
          </a:p>
          <a:p>
            <a:r>
              <a:t>      },</a:t>
            </a:r>
          </a:p>
          <a:p>
            <a:r>
              <a:t>      "navigation_searches": {</a:t>
            </a:r>
          </a:p>
          <a:p>
            <a:r>
              <a:t>        "selected_model": "RandomForestRegressor",</a:t>
            </a:r>
          </a:p>
          <a:p>
            <a:r>
              <a:t>        "test_mae": 20482.57,</a:t>
            </a:r>
          </a:p>
          <a:p>
            <a:r>
              <a:t>        "baseline_test_mae": 12060,</a:t>
            </a:r>
          </a:p>
          <a:p>
            <a:r>
              <a:t>        "beats_baseline_on_test": false,</a:t>
            </a:r>
          </a:p>
          <a:p>
            <a:r>
              <a:t>        "model_reliability": "below_baseline_on_test",</a:t>
            </a:r>
          </a:p>
          <a:p>
            <a:r>
              <a:t>        "recursive_horizons_worse_than_baseline": [</a:t>
            </a:r>
          </a:p>
          <a:p>
            <a:r>
              <a:t>          "1",</a:t>
            </a:r>
          </a:p>
          <a:p>
            <a:r>
              <a:t>          "2",</a:t>
            </a:r>
          </a:p>
          <a:p>
            <a:r>
              <a:t>          "3"</a:t>
            </a:r>
          </a:p>
          <a:p>
            <a:r>
              <a:t>        ],</a:t>
            </a:r>
          </a:p>
          <a:p>
            <a:r>
              <a:t>        "recursive_mae": {</a:t>
            </a:r>
          </a:p>
          <a:p>
            <a:r>
              <a:t>          "1": {</a:t>
            </a:r>
          </a:p>
          <a:p>
            <a:r>
              <a:t>            "selected": 20785,</a:t>
            </a:r>
          </a:p>
          <a:p>
            <a:r>
              <a:t>            "baseline": 9487,</a:t>
            </a:r>
          </a:p>
          <a:p>
            <a:r>
              <a:t>            "sample_count": 2</a:t>
            </a:r>
          </a:p>
          <a:p>
            <a:r>
              <a:t>          },</a:t>
            </a:r>
          </a:p>
          <a:p>
            <a:r>
              <a:t>          "2": {</a:t>
            </a:r>
          </a:p>
          <a:p>
            <a:r>
              <a:t>            "selected": 14198,</a:t>
            </a:r>
          </a:p>
          <a:p>
            <a:r>
              <a:t>            "baseline": 6758.5,</a:t>
            </a:r>
          </a:p>
          <a:p>
            <a:r>
              <a:t>            "sample_count": 2</a:t>
            </a:r>
          </a:p>
          <a:p>
            <a:r>
              <a:t>          },</a:t>
            </a:r>
          </a:p>
          <a:p>
            <a:r>
              <a:t>          "3": {</a:t>
            </a:r>
          </a:p>
          <a:p>
            <a:r>
              <a:t>            "selected": 18839,</a:t>
            </a:r>
          </a:p>
          <a:p>
            <a:r>
              <a:t>            "baseline": 14633,</a:t>
            </a:r>
          </a:p>
          <a:p>
            <a:r>
              <a:t>            "sample_count": 2</a:t>
            </a:r>
          </a:p>
          <a:p>
            <a:r>
              <a:t>          }</a:t>
            </a:r>
          </a:p>
          <a:p>
            <a:r>
              <a:t>        }</a:t>
            </a:r>
          </a:p>
          <a:p>
            <a:r>
              <a:t>      },</a:t>
            </a:r>
          </a:p>
          <a:p>
            <a:r>
              <a:t>      "lodging_searches": {</a:t>
            </a:r>
          </a:p>
          <a:p>
            <a:r>
              <a:t>        "selected_model": "seasonal_naive_previous_year_same_month",</a:t>
            </a:r>
          </a:p>
          <a:p>
            <a:r>
              <a:t>        "test_mae": 526.5,</a:t>
            </a:r>
          </a:p>
          <a:p>
            <a:r>
              <a:t>        "baseline_test_mae": 526.5,</a:t>
            </a:r>
          </a:p>
          <a:p>
            <a:r>
              <a:t>        "beats_baseline_on_test": false,</a:t>
            </a:r>
          </a:p>
          <a:p>
            <a:r>
              <a:t>        "model_reliability": "seasonal_baseline",</a:t>
            </a:r>
          </a:p>
          <a:p>
            <a:r>
              <a:t>        "recursive_horizons_worse_than_baseline": [],</a:t>
            </a:r>
          </a:p>
          <a:p>
            <a:r>
              <a:t>        "recursive_mae": {</a:t>
            </a:r>
          </a:p>
          <a:p>
            <a:r>
              <a:t>          "1": {</a:t>
            </a:r>
          </a:p>
          <a:p>
            <a:r>
              <a:t>            "selected": 779,</a:t>
            </a:r>
          </a:p>
          <a:p>
            <a:r>
              <a:t>            "baseline": 779,</a:t>
            </a:r>
          </a:p>
          <a:p>
            <a:r>
              <a:t>            "sample_count": 2</a:t>
            </a:r>
          </a:p>
          <a:p>
            <a:r>
              <a:t>          },</a:t>
            </a:r>
          </a:p>
          <a:p>
            <a:r>
              <a:t>          "2": {</a:t>
            </a:r>
          </a:p>
          <a:p>
            <a:r>
              <a:t>            "selected": 391.5,</a:t>
            </a:r>
          </a:p>
          <a:p>
            <a:r>
              <a:t>            "baseline": 391.5,</a:t>
            </a:r>
          </a:p>
          <a:p>
            <a:r>
              <a:t>            "sample_count": 2</a:t>
            </a:r>
          </a:p>
          <a:p>
            <a:r>
              <a:t>          },</a:t>
            </a:r>
          </a:p>
          <a:p>
            <a:r>
              <a:t>          "3": {</a:t>
            </a:r>
          </a:p>
          <a:p>
            <a:r>
              <a:t>            "selected": 274,</a:t>
            </a:r>
          </a:p>
          <a:p>
            <a:r>
              <a:t>            "baseline": 274,</a:t>
            </a:r>
          </a:p>
          <a:p>
            <a:r>
              <a:t>            "sample_count": 2</a:t>
            </a:r>
          </a:p>
          <a:p>
            <a:r>
              <a:t>          }</a:t>
            </a:r>
          </a:p>
          <a:p>
            <a:r>
              <a:t>        }</a:t>
            </a:r>
          </a:p>
          <a:p>
            <a:r>
              <a:t>      }</a:t>
            </a:r>
          </a:p>
          <a:p>
            <a:r>
              <a:t>    }</a:t>
            </a:r>
          </a:p>
          <a:p>
            <a:r>
              <a:t>  },</a:t>
            </a:r>
          </a:p>
          <a:p>
            <a:r>
              <a:t>  "execution_scenario": {</a:t>
            </a:r>
          </a:p>
          <a:p>
            <a:r>
              <a:t>    "visitor_target_pct": 0.03473579438178678,</a:t>
            </a:r>
          </a:p>
          <a:p>
            <a:r>
              <a:t>    "spending_target_pct": 0.07498350856156079,</a:t>
            </a:r>
          </a:p>
          <a:p>
            <a:r>
              <a:t>    "target_origin": "operating_capacity"</a:t>
            </a:r>
          </a:p>
          <a:p>
            <a:r>
              <a:t>  },</a:t>
            </a:r>
          </a:p>
          <a:p>
            <a:r>
              <a:t>  "reference_estimate": {</a:t>
            </a:r>
          </a:p>
          <a:p>
            <a:r>
              <a:t>    "status": "saved_report_budget",</a:t>
            </a:r>
          </a:p>
          <a:p>
            <a:r>
              <a:t>    "total_label": "총액 미확정",</a:t>
            </a:r>
          </a:p>
          <a:p>
            <a:r>
              <a:t>    "rows": [</a:t>
            </a:r>
          </a:p>
          <a:p>
            <a:r>
              <a:t>      [</a:t>
            </a:r>
          </a:p>
          <a:p>
            <a:r>
              <a:t>        "산정 내역 1",</a:t>
            </a:r>
          </a:p>
          <a:p>
            <a:r>
              <a:t>        "3,000,000원 (기획 가정: 축제 운영 비용 1,000,000원/월 × 3개월)",</a:t>
            </a:r>
          </a:p>
          <a:p>
            <a:r>
              <a:t>        "본문 기준"</a:t>
            </a:r>
          </a:p>
          <a:p>
            <a:r>
              <a:t>      ]</a:t>
            </a:r>
          </a:p>
          <a:p>
            <a:r>
              <a:t>    ],</a:t>
            </a:r>
          </a:p>
          <a:p>
            <a:r>
              <a:t>    "original_text": "3,000,000원 (기획 가정: 축제 운영 비용 1,000,000원/월 × 3개월)",</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"method": "operation-document-v2",</a:t>
            </a:r>
          </a:p>
          <a:p>
            <a:r>
              <a:t>  "selected_source": {</a:t>
            </a:r>
          </a:p>
          <a:p>
            <a:r>
              <a:t>    "source_id": "case:night_festival_2025",</a:t>
            </a:r>
          </a:p>
          <a:p>
            <a:r>
              <a:t>    "source_type": "benchmark_case",</a:t>
            </a:r>
          </a:p>
          <a:p>
            <a:r>
              <a:t>    "title": "2025 대한민국 밤밤페스타 개최 도시 및 일정",</a:t>
            </a:r>
          </a:p>
          <a:p>
            <a:r>
              <a:t>    "source_url": "https://korean.visitkorea.or.kr/detail/rem_detail.do?cotid=f9c636b2-dd7c-4f09-af3d-6af43b33d371",</a:t>
            </a:r>
          </a:p>
          <a:p>
            <a:r>
              <a:t>    "published_or_updated_at": "2025",</a:t>
            </a:r>
          </a:p>
          <a:p>
            <a:r>
              <a:t>    "summary": "야간관광 특화도시 10곳 · 도시별 야간 콘텐츠를 순회형 축제로 묶는 운영 · 공식 여행기사는 개최 도시·장소·운영 시간과 콘텐츠만 제시하며 방문·소비 성과 수치는 제시하지 않음",</a:t>
            </a:r>
          </a:p>
          <a:p>
            <a:r>
              <a:t>    "case_region": "야간관광 특화도시 10곳",</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"공식 여행기사는 개최 도시·장소·운영 시간과 콘텐츠만 제시하며 방문·소비 성과 수치는 제시하지 않음",</a:t>
            </a:r>
          </a:p>
          <a:p>
            <a:r>
              <a:t>    "operating_statistics": [],</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a:t>
            </a:r>
          </a:p>
          <a:p>
            <a:r>
              <a:t>  "observed_findings": [</a:t>
            </a:r>
          </a:p>
          <a:p>
            <a:r>
              <a:t>    {</a:t>
            </a:r>
          </a:p>
          <a:p>
            <a:r>
              <a:t>      "metric": "내비게이션 목적지 검색량",</a:t>
            </a:r>
          </a:p>
          <a:p>
            <a:r>
              <a:t>      "value": "191,346건",</a:t>
            </a:r>
          </a:p>
          <a:p>
            <a:r>
              <a:t>      "interpretation": "2026년 6월 기준 검색량은 관측되었으나, ML 전망에 따르면 2026년 10월에는 전년 동기 대비 감소 추세가 예상되어 야간 관심도 제고가 필요함",</a:t>
            </a:r>
          </a:p>
          <a:p>
            <a:r>
              <a:t>      "source": "dataset:30170:6"</a:t>
            </a:r>
          </a:p>
          <a:p>
            <a:r>
              <a:t>    },</a:t>
            </a:r>
          </a:p>
          <a:p>
            <a:r>
              <a:t>    {</a:t>
            </a:r>
          </a:p>
          <a:p>
            <a:r>
              <a:t>      "metric": "외지인 숙박 방문 비율",</a:t>
            </a:r>
          </a:p>
          <a:p>
            <a:r>
              <a:t>      "value": "6.7%",</a:t>
            </a:r>
          </a:p>
          <a:p>
            <a:r>
              <a:t>      "interpretation": "외지인 방문객 중 숙박 비중이 낮아, 야간 콘텐츠를 통한 체류 시간 연장 및 숙박 유도가 핵심 과제임",</a:t>
            </a:r>
          </a:p>
          <a:p>
            <a:r>
              <a:t>      "source": "dataset:30170:4"</a:t>
            </a:r>
          </a:p>
          <a:p>
            <a:r>
              <a:t>    },</a:t>
            </a:r>
          </a:p>
          <a:p>
            <a:r>
              <a:t>    {</a:t>
            </a:r>
          </a:p>
          <a:p>
            <a:r>
              <a:t>      "metric": "관광소비 구성",</a:t>
            </a:r>
          </a:p>
          <a:p>
            <a:r>
              <a:t>      "value": "쇼핑업 43.0%, 식음료업 39.7%",</a:t>
            </a:r>
          </a:p>
          <a:p>
            <a:r>
              <a:t>      "interpretation": "쇼핑과 식음료 중심의 소비 구조를 가지고 있어, 야간 시간대 상권 이용을 유도하는 축제 설계가 효과적일 수 있음",</a:t>
            </a:r>
          </a:p>
          <a:p>
            <a:r>
              <a:t>      "source": "dataset:30170:3"</a:t>
            </a:r>
          </a:p>
          <a:p>
            <a:r>
              <a:t>    }</a:t>
            </a:r>
          </a:p>
          <a:p>
            <a:r>
              <a:t>  ],</a:t>
            </a:r>
          </a:p>
          <a:p>
            <a:r>
              <a:t>  "interpretation": "7개 예측값으로 학습한 추천 모델 없음. 관측 지표는 지역 설계 입력이고 공식 운영 문서가 사례 연결 기준."</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우리 ML은 7개 관광지표의 전망을 계산합니다. 방문자와 소비액은 그래프·목표 규모를 계산하는 기준선입니다. 체류·숙박·검색 관련 5개 전망은 지역의 관광 흐름을 검토할 입력입니다. 서버가 이 수치와 모델 평가를 공식 사례와 함께 Qwen에 제공합니다. Qwen은 지역 조건과 사례의 운영 방식을 비교하고 Gemma는 선택안을 본문으로 구성합니다. 따라서 ML은 수치 전망을 담당하고 사업 선택은 근거 문서와 LLM 판단을 결합합니다. 지표별로 전년 동월 기준모델이 선택될 수 있으며, 이를 고도화 모델의 성능 개선이라고 설명하지 않습니다.</a:t>
            </a:r>
          </a:p>
          <a:p/>
          <a:p>
            <a:r>
              <a:t>{</a:t>
            </a:r>
          </a:p>
          <a:p>
            <a:r>
              <a:t>  "sections": [</a:t>
            </a:r>
          </a:p>
          <a:p>
            <a:r>
              <a:t>    [</a:t>
            </a:r>
          </a:p>
          <a:p>
            <a:r>
              <a:t>      "월별 기준 전망",</a:t>
            </a:r>
          </a:p>
          <a:p>
            <a:r>
              <a:t>      "202401~202606 월별 데이터에서 1·3·12개월 전 값과 계절 정보를 구성합니다. 방문은 랜덤 포레스트, 소비는 선형 회귀로 산출합니다. 전년 동월 기준모델이 선택된 지표는 해당 월의 전년 값을 사용합니다. 최신 관측월 이후를 순차 계산한 뒤 사업기간의 3개월을 표시합니다."</a:t>
            </a:r>
          </a:p>
          <a:p>
            <a:r>
              <a:t>    ],</a:t>
            </a:r>
          </a:p>
          <a:p>
            <a:r>
              <a:t>    [</a:t>
            </a:r>
          </a:p>
          <a:p>
            <a:r>
              <a:t>      "3개월 목표 계산",</a:t>
            </a:r>
          </a:p>
          <a:p>
            <a:r>
              <a:t>      "방문자 수: 기준 14,928,559명 → 목표 14,932,015명 (추가 3,456명, +0.02%)\n관광소비액: 기준 246,365,272,670원 → 목표 246,488,846,765원 (추가 123,574,095원, +0.05%)\n월별 목표 = 월별 기준 전망 × (1 + 최종월 목표율 × 경과월/전체월). 합계 증가율 = (월별 목표 합계 ÷ 월별 기준 합계 − 1) × 100. 방문 합계는 월간 순 방문 수의 합계로, 3개월 고유 인원과 다릅니다."</a:t>
            </a:r>
          </a:p>
          <a:p>
            <a:r>
              <a:t>    ],</a:t>
            </a:r>
          </a:p>
          <a:p>
            <a:r>
              <a:t>    [</a:t>
            </a:r>
          </a:p>
          <a:p>
            <a:r>
              <a:t>      "공식 사례에서 사업 후보까지",</a:t>
            </a:r>
          </a:p>
          <a:p>
            <a:r>
              <a:t>      "저장 보고서의 공식 사례 8건 → 설계 후보 2개 → 선정 사업의 운영 근거와 추가 참고 사례 3건 표시. 지역 원자료·7개 전망·공식 사례를 읽은 Qwen이 후보를 비교하고, 같은 운영 방식의 공식 문서를 함수로 연결합니다. 방문·소비 전망은 그래프와 목표 규모의 기준값입니다. 체류시간·숙박일수·숙박방문 비율·내비게이션 검색·숙박 검색 전망은 관광 흐름을 진단하고 조사·설계 방향을 검토하는 입력입니다. 7개 예측값으로 학습한 지역 추천 모델이나 주민 인구 비례 순위가 아닙니다. 표시 건수는 보고서에 남은 기록 기준입니다."</a:t>
            </a:r>
          </a:p>
          <a:p>
            <a:r>
              <a:t>    ],</a:t>
            </a:r>
          </a:p>
          <a:p>
            <a:r>
              <a:t>    [</a:t>
            </a:r>
          </a:p>
          <a:p>
            <a:r>
              <a:t>      "목표율과 운영 예산의 연결",</a:t>
            </a:r>
          </a:p>
          <a:p>
            <a:r>
              <a:t>      "야간 문화·체험: 8개 × 월 8일 × 3개월 × 하루 2회 × 회당 40명 = 15,360명분. 편성 한도 15,360명분에 이용률 75%를 적용해 11,520명 참여, 추가 방문 비중 30%로 3,456명 유치를 제안합니다. 기간 합계 ML 전망 대비 방문 +0.02%, 소비 +0.05%의 계획 시나리오입니다. 참여 목표 75%는 공통 최소 운영 목표입니다. 사례 참여율을 인용한 값이 아닙니다.\n8개 × 월 8일 × 3개월 × 하루 2회 × 회당 40명 = 15,360명분 → 편성 참여 한도 15,360건. 모든 단가는 기획 가정.\n참여량·단가·운영 처리량은 기획 가정입니다. 운영 예산이 지역 전체 목표 증가를 발생시킨다는 인과 계산은 아닙니다."</a:t>
            </a:r>
          </a:p>
          <a:p>
            <a:r>
              <a:t>    ]</a:t>
            </a:r>
          </a:p>
          <a:p>
            <a:r>
              <a:t>  ],</a:t>
            </a:r>
          </a:p>
          <a:p>
            <a:r>
              <a:t>  "basis": {</a:t>
            </a:r>
          </a:p>
          <a:p>
            <a:r>
              <a:t>    "totals": [</a:t>
            </a:r>
          </a:p>
          <a:p>
            <a:r>
              <a:t>      {</a:t>
            </a:r>
          </a:p>
          <a:p>
            <a:r>
              <a:t>        "key": "visitors",</a:t>
            </a:r>
          </a:p>
          <a:p>
            <a:r>
              <a:t>        "label": "방문자 수",</a:t>
            </a:r>
          </a:p>
          <a:p>
            <a:r>
              <a:t>        "unit": "명",</a:t>
            </a:r>
          </a:p>
          <a:p>
            <a:r>
              <a:t>        "baseline": 14928559.0,</a:t>
            </a:r>
          </a:p>
          <a:p>
            <a:r>
              <a:t>        "target": 14932015.0,</a:t>
            </a:r>
          </a:p>
          <a:p>
            <a:r>
              <a:t>        "additional": 3456.0,</a:t>
            </a:r>
          </a:p>
          <a:p>
            <a:r>
              <a:t>        "pct": 0.023150258507875776</a:t>
            </a:r>
          </a:p>
          <a:p>
            <a:r>
              <a:t>      },</a:t>
            </a:r>
          </a:p>
          <a:p>
            <a:r>
              <a:t>      {</a:t>
            </a:r>
          </a:p>
          <a:p>
            <a:r>
              <a:t>        "key": "spending",</a:t>
            </a:r>
          </a:p>
          <a:p>
            <a:r>
              <a:t>        "label": "관광소비액",</a:t>
            </a:r>
          </a:p>
          <a:p>
            <a:r>
              <a:t>        "unit": "원",</a:t>
            </a:r>
          </a:p>
          <a:p>
            <a:r>
              <a:t>        "baseline": 246365272670.0,</a:t>
            </a:r>
          </a:p>
          <a:p>
            <a:r>
              <a:t>        "target": 246488846765.0,</a:t>
            </a:r>
          </a:p>
          <a:p>
            <a:r>
              <a:t>        "additional": 123574095.0,</a:t>
            </a:r>
          </a:p>
          <a:p>
            <a:r>
              <a:t>        "pct": 0.050158893605734</a:t>
            </a:r>
          </a:p>
          <a:p>
            <a:r>
              <a:t>      }</a:t>
            </a:r>
          </a:p>
          <a:p>
            <a:r>
              <a:t>    ],</a:t>
            </a:r>
          </a:p>
          <a:p>
            <a:r>
              <a:t>    "demo": false,</a:t>
            </a:r>
          </a:p>
          <a:p>
            <a:r>
              <a:t>    "models": {</a:t>
            </a:r>
          </a:p>
          <a:p>
            <a:r>
              <a:t>      "visitors": "랜덤 포레스트",</a:t>
            </a:r>
          </a:p>
          <a:p>
            <a:r>
              <a:t>      "spending_krw": "선형 회귀",</a:t>
            </a:r>
          </a:p>
          <a:p>
            <a:r>
              <a:t>      "lodging_nights": "전년 동월 기준모델",</a:t>
            </a:r>
          </a:p>
          <a:p>
            <a:r>
              <a:t>      "lodging_rate_pct": "전년 동월 기준모델",</a:t>
            </a:r>
          </a:p>
          <a:p>
            <a:r>
              <a:t>      "stay_minutes": "전년 동월 기준모델",</a:t>
            </a:r>
          </a:p>
          <a:p>
            <a:r>
              <a:t>      "navigation_searches": "랜덤 포레스트",</a:t>
            </a:r>
          </a:p>
          <a:p>
            <a:r>
              <a:t>      "lodging_searches": "전년 동월 기준모델"</a:t>
            </a:r>
          </a:p>
          <a:p>
            <a:r>
              <a:t>    },</a:t>
            </a:r>
          </a:p>
          <a:p>
            <a:r>
              <a:t>    "source_period": "202401~202606",</a:t>
            </a:r>
          </a:p>
          <a:p>
            <a:r>
              <a:t>    "months": [</a:t>
            </a:r>
          </a:p>
          <a:p>
            <a:r>
              <a:t>      "26.10",</a:t>
            </a:r>
          </a:p>
          <a:p>
            <a:r>
              <a:t>      "26.11",</a:t>
            </a:r>
          </a:p>
          <a:p>
            <a:r>
              <a:t>      "26.12"</a:t>
            </a:r>
          </a:p>
          <a:p>
            <a:r>
              <a:t>    ],</a:t>
            </a:r>
          </a:p>
          <a:p>
            <a:r>
              <a:t>    "case_count": 8,</a:t>
            </a:r>
          </a:p>
          <a:p>
            <a:r>
              <a:t>    "case_region_count": 8,</a:t>
            </a:r>
          </a:p>
          <a:p>
            <a:r>
              <a:t>    "candidate_count": 2,</a:t>
            </a:r>
          </a:p>
          <a:p>
            <a:r>
              <a:t>    "displayed_count": 3,</a:t>
            </a:r>
          </a:p>
          <a:p>
            <a:r>
              <a:t>    "primary": {</a:t>
            </a:r>
          </a:p>
          <a:p>
            <a:r>
              <a:t>      "source_id": "case:night_festival_2025",</a:t>
            </a:r>
          </a:p>
          <a:p>
            <a:r>
              <a:t>      "source_type": "benchmark_case",</a:t>
            </a:r>
          </a:p>
          <a:p>
            <a:r>
              <a:t>      "title": "2025 대한민국 밤밤페스타 개최 도시 및 일정",</a:t>
            </a:r>
          </a:p>
          <a:p>
            <a:r>
              <a:t>      "source_url": "https://korean.visitkorea.or.kr/detail/rem_detail.do?cotid=f9c636b2-dd7c-4f09-af3d-6af43b33d371",</a:t>
            </a:r>
          </a:p>
          <a:p>
            <a:r>
              <a:t>      "published_or_updated_at": "2025",</a:t>
            </a:r>
          </a:p>
          <a:p>
            <a:r>
              <a:t>      "summary": "야간관광 특화도시 10곳 · 도시별 야간 콘텐츠를 순회형 축제로 묶는 운영 · 공식 여행기사는 개최 도시·장소·운영 시간과 콘텐츠만 제시하며 방문·소비 성과 수치는 제시하지 않음",</a:t>
            </a:r>
          </a:p>
          <a:p>
            <a:r>
              <a:t>      "case_region": "야간관광 특화도시 10곳",</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"공식 여행기사는 개최 도시·장소·운영 시간과 콘텐츠만 제시하며 방문·소비 성과 수치는 제시하지 않음",</a:t>
            </a:r>
          </a:p>
          <a:p>
            <a:r>
              <a:t>      "operating_statistics": [],</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a:t>
            </a:r>
          </a:p>
          <a:p>
            <a:r>
              <a:t>    "selection_reason": "야간 축제 운영은 '2025 대한민국 밤밤페스타' 사례에서 도출된 운영 방식을 참고하여, 대전 서구의 특성에 맞게 조정된 운영 방식으로, 야간 시간대의 방문자 수, 관광소비액, 내비게이션 검색량의 증가를 기대할 수 있습니다. 이는 '2025 대한민국 밤밤페스타' 사례와 비교하여, 대전 서구의 특성에 맞게 조정된 운영 방식으로, 야간 시간대의 방문자 수, 관광소비액, 내비게이션 검색량의 증가를 기대할 수 있습니다.",</a:t>
            </a:r>
          </a:p>
          <a:p>
            <a:r>
              <a:t>    "target_explanation": "야간 문화·체험: 8개 × 월 8일 × 3개월 × 하루 2회 × 회당 40명 = 15,360명분. 편성 한도 15,360명분에 이용률 75%를 적용해 11,520명 참여, 추가 방문 비중 30%로 3,456명 유치를 제안합니다. 기간 합계 ML 전망 대비 방문 +0.02%, 소비 +0.05%의 계획 시나리오입니다. 참여 목표 75%는 공통 최소 운영 목표입니다. 사례 참여율을 인용한 값이 아닙니다.",</a:t>
            </a:r>
          </a:p>
          <a:p>
            <a:r>
              <a:t>    "estimate": {</a:t>
            </a:r>
          </a:p>
          <a:p>
            <a:r>
              <a:t>      "version": "operating-capacity-v2-participation-floor",</a:t>
            </a:r>
          </a:p>
          <a:p>
            <a:r>
              <a:t>      "status": "planning_assumption_not_quote",</a:t>
            </a:r>
          </a:p>
          <a:p>
            <a:r>
              <a:t>      "scale_basis": "8개 × 월 8일 × 3개월 × 하루 2회 × 회당 40명 = 15,360명분 → 편성 참여 한도 15,360건. 모든 단가는 기획 가정.",</a:t>
            </a:r>
          </a:p>
          <a:p>
            <a:r>
              <a:t>      "months": 3,</a:t>
            </a:r>
          </a:p>
          <a:p>
            <a:r>
              <a:t>      "refund": false,</a:t>
            </a:r>
          </a:p>
          <a:p>
            <a:r>
              <a:t>      "quantity": 15360,</a:t>
            </a:r>
          </a:p>
          <a:p>
            <a:r>
              <a:t>      "unit_krw": 10000,</a:t>
            </a:r>
          </a:p>
          <a:p>
            <a:r>
              <a:t>      "redemption_target_pct": 75.0,</a:t>
            </a:r>
          </a:p>
          <a:p>
            <a:r>
              <a:t>      "redemption_count": 11520,</a:t>
            </a:r>
          </a:p>
          <a:p>
            <a:r>
              <a:t>      "qualifying_spend_krw": null,</a:t>
            </a:r>
          </a:p>
          <a:p>
            <a:r>
              <a:t>      "subtotal_krw": 198400000,</a:t>
            </a:r>
          </a:p>
          <a:p>
            <a:r>
              <a:t>      "reserve_krw": 19840000,</a:t>
            </a:r>
          </a:p>
          <a:p>
            <a:r>
              <a:t>      "total_krw": 218240000,</a:t>
            </a:r>
          </a:p>
          <a:p>
            <a:r>
              <a:t>      "within_hard_budget": true,</a:t>
            </a:r>
          </a:p>
          <a:p>
            <a:r>
              <a:t>      "items": [</a:t>
            </a:r>
          </a:p>
          <a:p>
            <a:r>
              <a:t>        {</a:t>
            </a:r>
          </a:p>
          <a:p>
            <a:r>
              <a:t>          "name": "프로그램 운영·참여 지원",</a:t>
            </a:r>
          </a:p>
          <a:p>
            <a:r>
              <a:t>          "basis": "편성 참여 한도 15,360건 × 가정 단가 10,000원",</a:t>
            </a:r>
          </a:p>
          <a:p>
            <a:r>
              <a:t>          "amount": 153600000</a:t>
            </a:r>
          </a:p>
          <a:p>
            <a:r>
              <a:t>        },</a:t>
            </a:r>
          </a:p>
          <a:p>
            <a:r>
              <a:t>        {</a:t>
            </a:r>
          </a:p>
          <a:p>
            <a:r>
              <a:t>          "name": "현장 운영·정산",</a:t>
            </a:r>
          </a:p>
          <a:p>
            <a:r>
              <a:t>          "basis": "8개 거점 × 월 8일 × 3개월 × 150,000원",</a:t>
            </a:r>
          </a:p>
          <a:p>
            <a:r>
              <a:t>          "amount": 28800000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198,400,000원 × 10%",</a:t>
            </a:r>
          </a:p>
          <a:p>
            <a:r>
              <a:t>          "amount": 19840000</a:t>
            </a:r>
          </a:p>
          <a:p>
            <a:r>
              <a:t>        }</a:t>
            </a:r>
          </a:p>
          <a:p>
            <a:r>
              <a:t>      ],</a:t>
            </a:r>
          </a:p>
          <a:p>
            <a:r>
              <a:t>      "sources": [],</a:t>
            </a:r>
          </a:p>
          <a:p>
            <a:r>
              <a:t>      "assumptions": [</a:t>
            </a:r>
          </a:p>
          <a:p>
            <a:r>
              <a:t>        "기획용 예상 견적이며 실제 액수와 다를 수 있습니다."</a:t>
            </a:r>
          </a:p>
          <a:p>
            <a:r>
              <a:t>      ]</a:t>
            </a:r>
          </a:p>
          <a:p>
            <a:r>
              <a:t>    }</a:t>
            </a:r>
          </a:p>
          <a:p>
            <a:r>
              <a:t>  },</a:t>
            </a:r>
          </a:p>
          <a:p>
            <a:r>
              <a:t>  "icons": {</a:t>
            </a:r>
          </a:p>
          <a:p>
            <a:r>
              <a:t>    "library": "Lucide 0.468.0",</a:t>
            </a:r>
          </a:p>
          <a:p>
            <a:r>
              <a:t>    "source": "https://github.com/lucide-icons/lucide/tree/0.468.0",</a:t>
            </a:r>
          </a:p>
          <a:p>
            <a:r>
              <a:t>    "license": "ISC / Feather MIT; ai_server/assets/proposal_icons/LICENSE"</a:t>
            </a:r>
          </a:p>
          <a:p>
            <a:r>
              <a:t>  },</a:t>
            </a:r>
          </a:p>
          <a:p>
            <a:r>
              <a:t>  "pipeline": {</a:t>
            </a:r>
          </a:p>
          <a:p>
            <a:r>
              <a:t>    "agents": [</a:t>
            </a:r>
          </a:p>
          <a:p>
            <a:r>
              <a:t>      "Evidence",</a:t>
            </a:r>
          </a:p>
          <a:p>
            <a:r>
              <a:t>      "Case Scout",</a:t>
            </a:r>
          </a:p>
          <a:p>
            <a:r>
              <a:t>      "Transferability",</a:t>
            </a:r>
          </a:p>
          <a:p>
            <a:r>
              <a:t>      "Planner",</a:t>
            </a:r>
          </a:p>
          <a:p>
            <a:r>
              <a:t>      "Reviewer"</a:t>
            </a:r>
          </a:p>
          <a:p>
            <a:r>
              <a:t>    ],</a:t>
            </a:r>
          </a:p>
          <a:p>
            <a:r>
              <a:t>    "implementation": "app/agents/report_orchestrator.py; Evidence + Case Scout gathered together",</a:t>
            </a:r>
          </a:p>
          <a:p>
            <a:r>
              <a:t>    "provider_labels": "Completed provider records in this report, otherwise saved evidence / configured model"</a:t>
            </a:r>
          </a:p>
          <a:p>
            <a:r>
              <a:t>  },</a:t>
            </a:r>
          </a:p>
          <a:p>
            <a:r>
              <a:t>  "functions": [</a:t>
            </a:r>
          </a:p>
          <a:p>
            <a:r>
              <a:t>    "planning_evidence.build_planning_ml_evidence",</a:t>
            </a:r>
          </a:p>
          <a:p>
            <a:r>
              <a:t>    "case_recommendation.link_decision",</a:t>
            </a:r>
          </a:p>
          <a:p>
            <a:r>
              <a:t>    "report_projection.execution_target",</a:t>
            </a:r>
          </a:p>
          <a:p>
            <a:r>
              <a:t>    "proposal_evidence.build_reference_estimate"</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"version": "operating-capacity-v2-participation-floor",</a:t>
            </a:r>
          </a:p>
          <a:p>
            <a:r>
              <a:t>  "status": "proposed",</a:t>
            </a:r>
          </a:p>
          <a:p>
            <a:r>
              <a:t>  "minimum_operating_budget_krw": 49280001,</a:t>
            </a:r>
          </a:p>
          <a:p>
            <a:r>
              <a:t>  "family": "night_time_experience",</a:t>
            </a:r>
          </a:p>
          <a:p>
            <a:r>
              <a:t>  "program_label": "야간 문화·체험",</a:t>
            </a:r>
          </a:p>
          <a:p>
            <a:r>
              <a:t>  "site_label": "운영 거점",</a:t>
            </a:r>
          </a:p>
          <a:p>
            <a:r>
              <a:t>  "months": 3,</a:t>
            </a:r>
          </a:p>
          <a:p>
            <a:r>
              <a:t>  "forecast_period": "202610~202612",</a:t>
            </a:r>
          </a:p>
          <a:p>
            <a:r>
              <a:t>  "baseline_visitors": 14928559.0,</a:t>
            </a:r>
          </a:p>
          <a:p>
            <a:r>
              <a:t>  "baseline_spending_krw": 246365272670.0,</a:t>
            </a:r>
          </a:p>
          <a:p>
            <a:r>
              <a:t>  "mean_monthly_visitors": 4976186.333333333,</a:t>
            </a:r>
          </a:p>
          <a:p>
            <a:r>
              <a:t>  "sites": 8,</a:t>
            </a:r>
          </a:p>
          <a:p>
            <a:r>
              <a:t>  "days_per_month": 8,</a:t>
            </a:r>
          </a:p>
          <a:p>
            <a:r>
              <a:t>  "sessions_per_day": 2,</a:t>
            </a:r>
          </a:p>
          <a:p>
            <a:r>
              <a:t>  "capacity_per_session": 40,</a:t>
            </a:r>
          </a:p>
          <a:p>
            <a:r>
              <a:t>  "capacity": 15360,</a:t>
            </a:r>
          </a:p>
          <a:p>
            <a:r>
              <a:t>  "funded_capacity": 15360,</a:t>
            </a:r>
          </a:p>
          <a:p>
            <a:r>
              <a:t>  "scale_rule": "운영 거점 = ceil(√(월평균 ML 방문 전망 ÷ 100,000)), 최소 1·최대 12개",</a:t>
            </a:r>
          </a:p>
          <a:p>
            <a:r>
              <a:t>  "capacity_formula": "8개 × 월 8일 × 3개월 × 하루 2회 × 회당 40명 = 15,360명분",</a:t>
            </a:r>
          </a:p>
          <a:p>
            <a:r>
              <a:t>  "scale_kind": "planning_rule_not_population_model",</a:t>
            </a:r>
          </a:p>
          <a:p>
            <a:r>
              <a:t>  "spending_per_visit_proxy_krw": 16502.9506645618,</a:t>
            </a:r>
          </a:p>
          <a:p>
            <a:r>
              <a:t>  "existing_participant_extra_spend_krw": 8251.4753322809,</a:t>
            </a:r>
          </a:p>
          <a:p>
            <a:r>
              <a:t>  "spending_formula": "추가 방문 × (ML 소비 합계 ÷ ML 방문 합계) + 기존 방문 참여 × 추가 구매 가정액",</a:t>
            </a:r>
          </a:p>
          <a:p>
            <a:r>
              <a:t>  "rate_basis": [</a:t>
            </a:r>
          </a:p>
          <a:p>
            <a:r>
              <a:t>    {</a:t>
            </a:r>
          </a:p>
          <a:p>
            <a:r>
              <a:t>      "kind": "planning_policy",</a:t>
            </a:r>
          </a:p>
          <a:p>
            <a:r>
              <a:t>      "metric": "utilization_rate",</a:t>
            </a:r>
          </a:p>
          <a:p>
            <a:r>
              <a:t>      "value": 75.0,</a:t>
            </a:r>
          </a:p>
          <a:p>
            <a:r>
              <a:t>      "target_value": 75.0,</a:t>
            </a:r>
          </a:p>
          <a:p>
            <a:r>
              <a:t>      "unit": "percent",</a:t>
            </a:r>
          </a:p>
          <a:p>
            <a:r>
              <a:t>      "floor_applied": true,</a:t>
            </a:r>
          </a:p>
          <a:p>
            <a:r>
              <a:t>      "reason": "참여 목표 75%는 공통 최소 운영 목표입니다. 사례 참여율을 인용한 값이 아닙니다."</a:t>
            </a:r>
          </a:p>
          <a:p>
            <a:r>
              <a:t>    },</a:t>
            </a:r>
          </a:p>
          <a:p>
            <a:r>
              <a:t>    {</a:t>
            </a:r>
          </a:p>
          <a:p>
            <a:r>
              <a:t>      "kind": "planning_assumption",</a:t>
            </a:r>
          </a:p>
          <a:p>
            <a:r>
              <a:t>      "metric": "additional_visitor_share",</a:t>
            </a:r>
          </a:p>
          <a:p>
            <a:r>
              <a:t>      "value": 30.0,</a:t>
            </a:r>
          </a:p>
          <a:p>
            <a:r>
              <a:t>      "unit": "percent",</a:t>
            </a:r>
          </a:p>
          <a:p>
            <a:r>
              <a:t>      "reason": "사업 규모를 검토하기 위한 공통 계획 가정"</a:t>
            </a:r>
          </a:p>
          <a:p>
            <a:r>
              <a:t>    }</a:t>
            </a:r>
          </a:p>
          <a:p>
            <a:r>
              <a:t>  ],</a:t>
            </a:r>
          </a:p>
          <a:p>
            <a:r>
              <a:t>  "scenarios": [</a:t>
            </a:r>
          </a:p>
          <a:p>
            <a:r>
              <a:t>    {</a:t>
            </a:r>
          </a:p>
          <a:p>
            <a:r>
              <a:t>      "label": "보수",</a:t>
            </a:r>
          </a:p>
          <a:p>
            <a:r>
              <a:t>      "utilization_pct": 75.0,</a:t>
            </a:r>
          </a:p>
          <a:p>
            <a:r>
              <a:t>      "additional_visitor_share_pct": 15.0,</a:t>
            </a:r>
          </a:p>
          <a:p>
            <a:r>
              <a:t>      "participants": 11520,</a:t>
            </a:r>
          </a:p>
          <a:p>
            <a:r>
              <a:t>      "additional_visitors": 1728,</a:t>
            </a:r>
          </a:p>
          <a:p>
            <a:r>
              <a:t>      "additional_spending_krw": 109315545,</a:t>
            </a:r>
          </a:p>
          <a:p>
            <a:r>
              <a:t>      "visitor_growth_pct": 0.011575129253935359,</a:t>
            </a:r>
          </a:p>
          <a:p>
            <a:r>
              <a:t>      "spending_growth_pct": 0.04437132872473686,</a:t>
            </a:r>
          </a:p>
          <a:p>
            <a:r>
              <a:t>      "visitor_target_pct": 0.01736789719089339,</a:t>
            </a:r>
          </a:p>
          <a:p>
            <a:r>
              <a:t>      "spending_target_pct": 0.06633156491592501</a:t>
            </a:r>
          </a:p>
          <a:p>
            <a:r>
              <a:t>    },</a:t>
            </a:r>
          </a:p>
          <a:p>
            <a:r>
              <a:t>    {</a:t>
            </a:r>
          </a:p>
          <a:p>
            <a:r>
              <a:t>      "label": "기준",</a:t>
            </a:r>
          </a:p>
          <a:p>
            <a:r>
              <a:t>      "utilization_pct": 75.0,</a:t>
            </a:r>
          </a:p>
          <a:p>
            <a:r>
              <a:t>      "additional_visitor_share_pct": 30.0,</a:t>
            </a:r>
          </a:p>
          <a:p>
            <a:r>
              <a:t>      "participants": 11520,</a:t>
            </a:r>
          </a:p>
          <a:p>
            <a:r>
              <a:t>      "additional_visitors": 3456,</a:t>
            </a:r>
          </a:p>
          <a:p>
            <a:r>
              <a:t>      "additional_spending_krw": 123574095,</a:t>
            </a:r>
          </a:p>
          <a:p>
            <a:r>
              <a:t>      "visitor_growth_pct": 0.023150258507870718,</a:t>
            </a:r>
          </a:p>
          <a:p>
            <a:r>
              <a:t>      "spending_growth_pct": 0.05015889360572517,</a:t>
            </a:r>
          </a:p>
          <a:p>
            <a:r>
              <a:t>      "visitor_target_pct": 0.03473579438178678,</a:t>
            </a:r>
          </a:p>
          <a:p>
            <a:r>
              <a:t>      "spending_target_pct": 0.07498350856156079</a:t>
            </a:r>
          </a:p>
          <a:p>
            <a:r>
              <a:t>    },</a:t>
            </a:r>
          </a:p>
          <a:p>
            <a:r>
              <a:t>    {</a:t>
            </a:r>
          </a:p>
          <a:p>
            <a:r>
              <a:t>      "label": "확대",</a:t>
            </a:r>
          </a:p>
          <a:p>
            <a:r>
              <a:t>      "utilization_pct": 90.0,</a:t>
            </a:r>
          </a:p>
          <a:p>
            <a:r>
              <a:t>      "additional_visitor_share_pct": 44.99999999999999,</a:t>
            </a:r>
          </a:p>
          <a:p>
            <a:r>
              <a:t>      "participants": 13824,</a:t>
            </a:r>
          </a:p>
          <a:p>
            <a:r>
              <a:t>      "additional_visitors": 6220,</a:t>
            </a:r>
          </a:p>
          <a:p>
            <a:r>
              <a:t>      "additional_spending_krw": 165392572,</a:t>
            </a:r>
          </a:p>
          <a:p>
            <a:r>
              <a:t>      "visitor_growth_pct": 0.04166510645803122,</a:t>
            </a:r>
          </a:p>
          <a:p>
            <a:r>
              <a:t>      "spending_growth_pct": 0.0671330704232569,</a:t>
            </a:r>
          </a:p>
          <a:p>
            <a:r>
              <a:t>      "visitor_target_pct": 0.06251638919407228,</a:t>
            </a:r>
          </a:p>
          <a:p>
            <a:r>
              <a:t>      "spending_target_pct": 0.10035853662193972</a:t>
            </a:r>
          </a:p>
          <a:p>
            <a:r>
              <a:t>    }</a:t>
            </a:r>
          </a:p>
          <a:p>
            <a:r>
              <a:t>  ],</a:t>
            </a:r>
          </a:p>
          <a:p>
            <a:r>
              <a:t>  "central": {</a:t>
            </a:r>
          </a:p>
          <a:p>
            <a:r>
              <a:t>    "label": "기준",</a:t>
            </a:r>
          </a:p>
          <a:p>
            <a:r>
              <a:t>    "utilization_pct": 75.0,</a:t>
            </a:r>
          </a:p>
          <a:p>
            <a:r>
              <a:t>    "additional_visitor_share_pct": 30.0,</a:t>
            </a:r>
          </a:p>
          <a:p>
            <a:r>
              <a:t>    "participants": 11520,</a:t>
            </a:r>
          </a:p>
          <a:p>
            <a:r>
              <a:t>    "additional_visitors": 3456,</a:t>
            </a:r>
          </a:p>
          <a:p>
            <a:r>
              <a:t>    "additional_spending_krw": 123574095,</a:t>
            </a:r>
          </a:p>
          <a:p>
            <a:r>
              <a:t>    "visitor_growth_pct": 0.023150258507870718,</a:t>
            </a:r>
          </a:p>
          <a:p>
            <a:r>
              <a:t>    "spending_growth_pct": 0.05015889360572517,</a:t>
            </a:r>
          </a:p>
          <a:p>
            <a:r>
              <a:t>    "visitor_target_pct": 0.03473579438178678,</a:t>
            </a:r>
          </a:p>
          <a:p>
            <a:r>
              <a:t>    "spending_target_pct": 0.07498350856156079</a:t>
            </a:r>
          </a:p>
          <a:p>
            <a:r>
              <a:t>  },</a:t>
            </a:r>
          </a:p>
          <a:p>
            <a:r>
              <a:t>  "participation_basis": "참여 목표 75%는 공통 최소 운영 목표입니다. 사례 참여율을 인용한 값이 아닙니다.",</a:t>
            </a:r>
          </a:p>
          <a:p>
            <a:r>
              <a:t>  "minimum_participation_pct": 75.0,</a:t>
            </a:r>
          </a:p>
          <a:p>
            <a:r>
              <a:t>  "case_sources": [</a:t>
            </a:r>
          </a:p>
          <a:p>
            <a:r>
              <a:t>    {</a:t>
            </a:r>
          </a:p>
          <a:p>
            <a:r>
              <a:t>      "source_id": "case:night_festival_2025",</a:t>
            </a:r>
          </a:p>
          <a:p>
            <a:r>
              <a:t>      "title": "2025 대한민국 밤밤페스타 개최 도시 및 일정",</a:t>
            </a:r>
          </a:p>
          <a:p>
            <a:r>
              <a:t>      "source_url": "https://korean.visitkorea.or.kr/detail/rem_detail.do?cotid=f9c636b2-dd7c-4f09-af3d-6af43b33d371",</a:t>
            </a:r>
          </a:p>
          <a:p>
            <a:r>
              <a:t>      "operating_model": "10개 야간관광 특화도시의 대표 장소와 시간대를 연결하고, 공연·체험·지역 디저트·판매상품 등 도시별 콘텐츠를 순회 일정으로 운영",</a:t>
            </a:r>
          </a:p>
          <a:p>
            <a:r>
              <a:t>      "observed_result": "공식 여행기사는 개최 도시·장소·운영 시간과 콘텐츠만 제시하며 방문·소비 성과 수치는 제시하지 않음"</a:t>
            </a:r>
          </a:p>
          <a:p>
            <a:r>
              <a:t>    }</a:t>
            </a:r>
          </a:p>
          <a:p>
            <a:r>
              <a:t>  ],</a:t>
            </a:r>
          </a:p>
          <a:p>
            <a:r>
              <a:t>  "explanation": "야간 문화·체험: 8개 × 월 8일 × 3개월 × 하루 2회 × 회당 40명 = 15,360명분. 편성 한도 15,360명분에 이용률 75%를 적용해 11,520명 참여, 추가 방문 비중 30%로 3,456명 유치를 제안합니다. 기간 합계 ML 전망 대비 방문 +0.02%, 소비 +0.05%의 계획 시나리오입니다. 참여 목표 75%는 공통 최소 운영 목표입니다. 사례 참여율을 인용한 값이 아닙니다.",</a:t>
            </a:r>
          </a:p>
          <a:p>
            <a:r>
              <a:t>  "disclosure": "보수·기준·확대는 이용률과 추가 방문 비중을 ±15%p 바꾼 계획 범위이며 통계적 오차범위가 아닙니다. 참여 목표는 75~100% 안에서 적용합니다. 거점 수는 운영 제안이며 소비/방문 비율은 실측 객단가가 아닙니다.",</a:t>
            </a:r>
          </a:p>
          <a:p>
            <a:r>
              <a:t>  "budget_cap_krw": null,</a:t>
            </a:r>
          </a:p>
          <a:p>
            <a:r>
              <a:t>  "capacity_reduced": false,</a:t>
            </a:r>
          </a:p>
          <a:p>
            <a:r>
              <a:t>  "estimate": {</a:t>
            </a:r>
          </a:p>
          <a:p>
            <a:r>
              <a:t>    "version": "operating-capacity-v2-participation-floor",</a:t>
            </a:r>
          </a:p>
          <a:p>
            <a:r>
              <a:t>    "status": "planning_assumption_not_quote",</a:t>
            </a:r>
          </a:p>
          <a:p>
            <a:r>
              <a:t>    "scale_basis": "8개 × 월 8일 × 3개월 × 하루 2회 × 회당 40명 = 15,360명분 → 편성 참여 한도 15,360건. 모든 단가는 기획 가정.",</a:t>
            </a:r>
          </a:p>
          <a:p>
            <a:r>
              <a:t>    "months": 3,</a:t>
            </a:r>
          </a:p>
          <a:p>
            <a:r>
              <a:t>    "refund": false,</a:t>
            </a:r>
          </a:p>
          <a:p>
            <a:r>
              <a:t>    "quantity": 15360,</a:t>
            </a:r>
          </a:p>
          <a:p>
            <a:r>
              <a:t>    "unit_krw": 10000,</a:t>
            </a:r>
          </a:p>
          <a:p>
            <a:r>
              <a:t>    "redemption_target_pct": 75.0,</a:t>
            </a:r>
          </a:p>
          <a:p>
            <a:r>
              <a:t>    "redemption_count": 11520,</a:t>
            </a:r>
          </a:p>
          <a:p>
            <a:r>
              <a:t>    "qualifying_spend_krw": null,</a:t>
            </a:r>
          </a:p>
          <a:p>
            <a:r>
              <a:t>    "subtotal_krw": 198400000,</a:t>
            </a:r>
          </a:p>
          <a:p>
            <a:r>
              <a:t>    "reserve_krw": 19840000,</a:t>
            </a:r>
          </a:p>
          <a:p>
            <a:r>
              <a:t>    "total_krw": 218240000,</a:t>
            </a:r>
          </a:p>
          <a:p>
            <a:r>
              <a:t>    "within_hard_budget": true,</a:t>
            </a:r>
          </a:p>
          <a:p>
            <a:r>
              <a:t>    "items": [</a:t>
            </a:r>
          </a:p>
          <a:p>
            <a:r>
              <a:t>      {</a:t>
            </a:r>
          </a:p>
          <a:p>
            <a:r>
              <a:t>        "name": "프로그램 운영·참여 지원",</a:t>
            </a:r>
          </a:p>
          <a:p>
            <a:r>
              <a:t>        "basis": "편성 참여 한도 15,360건 × 가정 단가 10,000원",</a:t>
            </a:r>
          </a:p>
          <a:p>
            <a:r>
              <a:t>        "amount": 153600000</a:t>
            </a:r>
          </a:p>
          <a:p>
            <a:r>
              <a:t>      },</a:t>
            </a:r>
          </a:p>
          <a:p>
            <a:r>
              <a:t>      {</a:t>
            </a:r>
          </a:p>
          <a:p>
            <a:r>
              <a:t>        "name": "현장 운영·정산",</a:t>
            </a:r>
          </a:p>
          <a:p>
            <a:r>
              <a:t>        "basis": "8개 거점 × 월 8일 × 3개월 × 150,000원",</a:t>
            </a:r>
          </a:p>
          <a:p>
            <a:r>
              <a:t>        "amount": 28800000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198,400,000원 × 10%",</a:t>
            </a:r>
          </a:p>
          <a:p>
            <a:r>
              <a:t>        "amount": 19840000</a:t>
            </a:r>
          </a:p>
          <a:p>
            <a:r>
              <a:t>      }</a:t>
            </a:r>
          </a:p>
          <a:p>
            <a:r>
              <a:t>    ],</a:t>
            </a:r>
          </a:p>
          <a:p>
            <a:r>
              <a:t>    "sources": [],</a:t>
            </a:r>
          </a:p>
          <a:p>
            <a:r>
              <a:t>    "assumptions": [</a:t>
            </a:r>
          </a:p>
          <a:p>
            <a:r>
              <a:t>      "기획용 예상 견적이며 실제 액수와 다를 수 있습니다."</a:t>
            </a:r>
          </a:p>
          <a:p>
            <a:r>
              <a:t>    ]</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"version": "operating-capacity-v2-participation-floor",</a:t>
            </a:r>
          </a:p>
          <a:p>
            <a:r>
              <a:t>  "status": "proposed",</a:t>
            </a:r>
          </a:p>
          <a:p>
            <a:r>
              <a:t>  "minimum_operating_budget_krw": 49280001,</a:t>
            </a:r>
          </a:p>
          <a:p>
            <a:r>
              <a:t>  "family": "night_time_experience",</a:t>
            </a:r>
          </a:p>
          <a:p>
            <a:r>
              <a:t>  "program_label": "야간 문화·체험",</a:t>
            </a:r>
          </a:p>
          <a:p>
            <a:r>
              <a:t>  "site_label": "운영 거점",</a:t>
            </a:r>
          </a:p>
          <a:p>
            <a:r>
              <a:t>  "months": 3,</a:t>
            </a:r>
          </a:p>
          <a:p>
            <a:r>
              <a:t>  "forecast_period": "202610~202612",</a:t>
            </a:r>
          </a:p>
          <a:p>
            <a:r>
              <a:t>  "baseline_visitors": 14928559.0,</a:t>
            </a:r>
          </a:p>
          <a:p>
            <a:r>
              <a:t>  "baseline_spending_krw": 246365272670.0,</a:t>
            </a:r>
          </a:p>
          <a:p>
            <a:r>
              <a:t>  "mean_monthly_visitors": 4976186.333333333,</a:t>
            </a:r>
          </a:p>
          <a:p>
            <a:r>
              <a:t>  "sites": 8,</a:t>
            </a:r>
          </a:p>
          <a:p>
            <a:r>
              <a:t>  "days_per_month": 8,</a:t>
            </a:r>
          </a:p>
          <a:p>
            <a:r>
              <a:t>  "sessions_per_day": 2,</a:t>
            </a:r>
          </a:p>
          <a:p>
            <a:r>
              <a:t>  "capacity_per_session": 40,</a:t>
            </a:r>
          </a:p>
          <a:p>
            <a:r>
              <a:t>  "capacity": 15360,</a:t>
            </a:r>
          </a:p>
          <a:p>
            <a:r>
              <a:t>  "funded_capacity": 15360,</a:t>
            </a:r>
          </a:p>
          <a:p>
            <a:r>
              <a:t>  "scale_rule": "운영 거점 = ceil(√(월평균 ML 방문 전망 ÷ 100,000)), 최소 1·최대 12개",</a:t>
            </a:r>
          </a:p>
          <a:p>
            <a:r>
              <a:t>  "capacity_formula": "8개 × 월 8일 × 3개월 × 하루 2회 × 회당 40명 = 15,360명분",</a:t>
            </a:r>
          </a:p>
          <a:p>
            <a:r>
              <a:t>  "scale_kind": "planning_rule_not_population_model",</a:t>
            </a:r>
          </a:p>
          <a:p>
            <a:r>
              <a:t>  "spending_per_visit_proxy_krw": 16502.9506645618,</a:t>
            </a:r>
          </a:p>
          <a:p>
            <a:r>
              <a:t>  "existing_participant_extra_spend_krw": 8251.4753322809,</a:t>
            </a:r>
          </a:p>
          <a:p>
            <a:r>
              <a:t>  "spending_formula": "추가 방문 × (ML 소비 합계 ÷ ML 방문 합계) + 기존 방문 참여 × 추가 구매 가정액",</a:t>
            </a:r>
          </a:p>
          <a:p>
            <a:r>
              <a:t>  "rate_basis": [</a:t>
            </a:r>
          </a:p>
          <a:p>
            <a:r>
              <a:t>    {</a:t>
            </a:r>
          </a:p>
          <a:p>
            <a:r>
              <a:t>      "kind": "planning_policy",</a:t>
            </a:r>
          </a:p>
          <a:p>
            <a:r>
              <a:t>      "metric": "utilization_rate",</a:t>
            </a:r>
          </a:p>
          <a:p>
            <a:r>
              <a:t>      "value": 75.0,</a:t>
            </a:r>
          </a:p>
          <a:p>
            <a:r>
              <a:t>      "target_value": 75.0,</a:t>
            </a:r>
          </a:p>
          <a:p>
            <a:r>
              <a:t>      "unit": "percent",</a:t>
            </a:r>
          </a:p>
          <a:p>
            <a:r>
              <a:t>      "floor_applied": true,</a:t>
            </a:r>
          </a:p>
          <a:p>
            <a:r>
              <a:t>      "reason": "참여 목표 75%는 공통 최소 운영 목표입니다. 사례 참여율을 인용한 값이 아닙니다."</a:t>
            </a:r>
          </a:p>
          <a:p>
            <a:r>
              <a:t>    },</a:t>
            </a:r>
          </a:p>
          <a:p>
            <a:r>
              <a:t>    {</a:t>
            </a:r>
          </a:p>
          <a:p>
            <a:r>
              <a:t>      "kind": "planning_assumption",</a:t>
            </a:r>
          </a:p>
          <a:p>
            <a:r>
              <a:t>      "metric": "additional_visitor_share",</a:t>
            </a:r>
          </a:p>
          <a:p>
            <a:r>
              <a:t>      "value": 30.0,</a:t>
            </a:r>
          </a:p>
          <a:p>
            <a:r>
              <a:t>      "unit": "percent",</a:t>
            </a:r>
          </a:p>
          <a:p>
            <a:r>
              <a:t>      "reason": "사업 규모를 검토하기 위한 공통 계획 가정"</a:t>
            </a:r>
          </a:p>
          <a:p>
            <a:r>
              <a:t>    }</a:t>
            </a:r>
          </a:p>
          <a:p>
            <a:r>
              <a:t>  ],</a:t>
            </a:r>
          </a:p>
          <a:p>
            <a:r>
              <a:t>  "scenarios": [</a:t>
            </a:r>
          </a:p>
          <a:p>
            <a:r>
              <a:t>    {</a:t>
            </a:r>
          </a:p>
          <a:p>
            <a:r>
              <a:t>      "label": "보수",</a:t>
            </a:r>
          </a:p>
          <a:p>
            <a:r>
              <a:t>      "utilization_pct": 75.0,</a:t>
            </a:r>
          </a:p>
          <a:p>
            <a:r>
              <a:t>      "additional_visitor_share_pct": 15.0,</a:t>
            </a:r>
          </a:p>
          <a:p>
            <a:r>
              <a:t>      "participants": 11520,</a:t>
            </a:r>
          </a:p>
          <a:p>
            <a:r>
              <a:t>      "additional_visitors": 1728,</a:t>
            </a:r>
          </a:p>
          <a:p>
            <a:r>
              <a:t>      "additional_spending_krw": 109315545,</a:t>
            </a:r>
          </a:p>
          <a:p>
            <a:r>
              <a:t>      "visitor_growth_pct": 0.011575129253935359,</a:t>
            </a:r>
          </a:p>
          <a:p>
            <a:r>
              <a:t>      "spending_growth_pct": 0.04437132872473686,</a:t>
            </a:r>
          </a:p>
          <a:p>
            <a:r>
              <a:t>      "visitor_target_pct": 0.01736789719089339,</a:t>
            </a:r>
          </a:p>
          <a:p>
            <a:r>
              <a:t>      "spending_target_pct": 0.06633156491592501</a:t>
            </a:r>
          </a:p>
          <a:p>
            <a:r>
              <a:t>    },</a:t>
            </a:r>
          </a:p>
          <a:p>
            <a:r>
              <a:t>    {</a:t>
            </a:r>
          </a:p>
          <a:p>
            <a:r>
              <a:t>      "label": "기준",</a:t>
            </a:r>
          </a:p>
          <a:p>
            <a:r>
              <a:t>      "utilization_pct": 75.0,</a:t>
            </a:r>
          </a:p>
          <a:p>
            <a:r>
              <a:t>      "additional_visitor_share_pct": 30.0,</a:t>
            </a:r>
          </a:p>
          <a:p>
            <a:r>
              <a:t>      "participants": 11520,</a:t>
            </a:r>
          </a:p>
          <a:p>
            <a:r>
              <a:t>      "additional_visitors": 3456,</a:t>
            </a:r>
          </a:p>
          <a:p>
            <a:r>
              <a:t>      "additional_spending_krw": 123574095,</a:t>
            </a:r>
          </a:p>
          <a:p>
            <a:r>
              <a:t>      "visitor_growth_pct": 0.023150258507870718,</a:t>
            </a:r>
          </a:p>
          <a:p>
            <a:r>
              <a:t>      "spending_growth_pct": 0.05015889360572517,</a:t>
            </a:r>
          </a:p>
          <a:p>
            <a:r>
              <a:t>      "visitor_target_pct": 0.03473579438178678,</a:t>
            </a:r>
          </a:p>
          <a:p>
            <a:r>
              <a:t>      "spending_target_pct": 0.07498350856156079</a:t>
            </a:r>
          </a:p>
          <a:p>
            <a:r>
              <a:t>    },</a:t>
            </a:r>
          </a:p>
          <a:p>
            <a:r>
              <a:t>    {</a:t>
            </a:r>
          </a:p>
          <a:p>
            <a:r>
              <a:t>      "label": "확대",</a:t>
            </a:r>
          </a:p>
          <a:p>
            <a:r>
              <a:t>      "utilization_pct": 90.0,</a:t>
            </a:r>
          </a:p>
          <a:p>
            <a:r>
              <a:t>      "additional_visitor_share_pct": 44.99999999999999,</a:t>
            </a:r>
          </a:p>
          <a:p>
            <a:r>
              <a:t>      "participants": 13824,</a:t>
            </a:r>
          </a:p>
          <a:p>
            <a:r>
              <a:t>      "additional_visitors": 6220,</a:t>
            </a:r>
          </a:p>
          <a:p>
            <a:r>
              <a:t>      "additional_spending_krw": 165392572,</a:t>
            </a:r>
          </a:p>
          <a:p>
            <a:r>
              <a:t>      "visitor_growth_pct": 0.04166510645803122,</a:t>
            </a:r>
          </a:p>
          <a:p>
            <a:r>
              <a:t>      "spending_growth_pct": 0.0671330704232569,</a:t>
            </a:r>
          </a:p>
          <a:p>
            <a:r>
              <a:t>      "visitor_target_pct": 0.06251638919407228,</a:t>
            </a:r>
          </a:p>
          <a:p>
            <a:r>
              <a:t>      "spending_target_pct": 0.10035853662193972</a:t>
            </a:r>
          </a:p>
          <a:p>
            <a:r>
              <a:t>    }</a:t>
            </a:r>
          </a:p>
          <a:p>
            <a:r>
              <a:t>  ],</a:t>
            </a:r>
          </a:p>
          <a:p>
            <a:r>
              <a:t>  "central": {</a:t>
            </a:r>
          </a:p>
          <a:p>
            <a:r>
              <a:t>    "label": "기준",</a:t>
            </a:r>
          </a:p>
          <a:p>
            <a:r>
              <a:t>    "utilization_pct": 75.0,</a:t>
            </a:r>
          </a:p>
          <a:p>
            <a:r>
              <a:t>    "additional_visitor_share_pct": 30.0,</a:t>
            </a:r>
          </a:p>
          <a:p>
            <a:r>
              <a:t>    "participants": 11520,</a:t>
            </a:r>
          </a:p>
          <a:p>
            <a:r>
              <a:t>    "additional_visitors": 3456,</a:t>
            </a:r>
          </a:p>
          <a:p>
            <a:r>
              <a:t>    "additional_spending_krw": 123574095,</a:t>
            </a:r>
          </a:p>
          <a:p>
            <a:r>
              <a:t>    "visitor_growth_pct": 0.023150258507870718,</a:t>
            </a:r>
          </a:p>
          <a:p>
            <a:r>
              <a:t>    "spending_growth_pct": 0.05015889360572517,</a:t>
            </a:r>
          </a:p>
          <a:p>
            <a:r>
              <a:t>    "visitor_target_pct": 0.03473579438178678,</a:t>
            </a:r>
          </a:p>
          <a:p>
            <a:r>
              <a:t>    "spending_target_pct": 0.07498350856156079</a:t>
            </a:r>
          </a:p>
          <a:p>
            <a:r>
              <a:t>  },</a:t>
            </a:r>
          </a:p>
          <a:p>
            <a:r>
              <a:t>  "participation_basis": "참여 목표 75%는 공통 최소 운영 목표입니다. 사례 참여율을 인용한 값이 아닙니다.",</a:t>
            </a:r>
          </a:p>
          <a:p>
            <a:r>
              <a:t>  "minimum_participation_pct": 75.0,</a:t>
            </a:r>
          </a:p>
          <a:p>
            <a:r>
              <a:t>  "case_sources": [</a:t>
            </a:r>
          </a:p>
          <a:p>
            <a:r>
              <a:t>    {</a:t>
            </a:r>
          </a:p>
          <a:p>
            <a:r>
              <a:t>      "source_id": "case:night_festival_2025",</a:t>
            </a:r>
          </a:p>
          <a:p>
            <a:r>
              <a:t>      "title": "2025 대한민국 밤밤페스타 개최 도시 및 일정",</a:t>
            </a:r>
          </a:p>
          <a:p>
            <a:r>
              <a:t>      "source_url": "https://korean.visitkorea.or.kr/detail/rem_detail.do?cotid=f9c636b2-dd7c-4f09-af3d-6af43b33d371",</a:t>
            </a:r>
          </a:p>
          <a:p>
            <a:r>
              <a:t>      "operating_model": "10개 야간관광 특화도시의 대표 장소와 시간대를 연결하고, 공연·체험·지역 디저트·판매상품 등 도시별 콘텐츠를 순회 일정으로 운영",</a:t>
            </a:r>
          </a:p>
          <a:p>
            <a:r>
              <a:t>      "observed_result": "공식 여행기사는 개최 도시·장소·운영 시간과 콘텐츠만 제시하며 방문·소비 성과 수치는 제시하지 않음"</a:t>
            </a:r>
          </a:p>
          <a:p>
            <a:r>
              <a:t>    }</a:t>
            </a:r>
          </a:p>
          <a:p>
            <a:r>
              <a:t>  ],</a:t>
            </a:r>
          </a:p>
          <a:p>
            <a:r>
              <a:t>  "explanation": "야간 문화·체험: 8개 × 월 8일 × 3개월 × 하루 2회 × 회당 40명 = 15,360명분. 편성 한도 15,360명분에 이용률 75%를 적용해 11,520명 참여, 추가 방문 비중 30%로 3,456명 유치를 제안합니다. 기간 합계 ML 전망 대비 방문 +0.02%, 소비 +0.05%의 계획 시나리오입니다. 참여 목표 75%는 공통 최소 운영 목표입니다. 사례 참여율을 인용한 값이 아닙니다.",</a:t>
            </a:r>
          </a:p>
          <a:p>
            <a:r>
              <a:t>  "disclosure": "보수·기준·확대는 이용률과 추가 방문 비중을 ±15%p 바꾼 계획 범위이며 통계적 오차범위가 아닙니다. 참여 목표는 75~100% 안에서 적용합니다. 거점 수는 운영 제안이며 소비/방문 비율은 실측 객단가가 아닙니다.",</a:t>
            </a:r>
          </a:p>
          <a:p>
            <a:r>
              <a:t>  "budget_cap_krw": null,</a:t>
            </a:r>
          </a:p>
          <a:p>
            <a:r>
              <a:t>  "capacity_reduced": false,</a:t>
            </a:r>
          </a:p>
          <a:p>
            <a:r>
              <a:t>  "estimate": {</a:t>
            </a:r>
          </a:p>
          <a:p>
            <a:r>
              <a:t>    "version": "operating-capacity-v2-participation-floor",</a:t>
            </a:r>
          </a:p>
          <a:p>
            <a:r>
              <a:t>    "status": "planning_assumption_not_quote",</a:t>
            </a:r>
          </a:p>
          <a:p>
            <a:r>
              <a:t>    "scale_basis": "8개 × 월 8일 × 3개월 × 하루 2회 × 회당 40명 = 15,360명분 → 편성 참여 한도 15,360건. 모든 단가는 기획 가정.",</a:t>
            </a:r>
          </a:p>
          <a:p>
            <a:r>
              <a:t>    "months": 3,</a:t>
            </a:r>
          </a:p>
          <a:p>
            <a:r>
              <a:t>    "refund": false,</a:t>
            </a:r>
          </a:p>
          <a:p>
            <a:r>
              <a:t>    "quantity": 15360,</a:t>
            </a:r>
          </a:p>
          <a:p>
            <a:r>
              <a:t>    "unit_krw": 10000,</a:t>
            </a:r>
          </a:p>
          <a:p>
            <a:r>
              <a:t>    "redemption_target_pct": 75.0,</a:t>
            </a:r>
          </a:p>
          <a:p>
            <a:r>
              <a:t>    "redemption_count": 11520,</a:t>
            </a:r>
          </a:p>
          <a:p>
            <a:r>
              <a:t>    "qualifying_spend_krw": null,</a:t>
            </a:r>
          </a:p>
          <a:p>
            <a:r>
              <a:t>    "subtotal_krw": 198400000,</a:t>
            </a:r>
          </a:p>
          <a:p>
            <a:r>
              <a:t>    "reserve_krw": 19840000,</a:t>
            </a:r>
          </a:p>
          <a:p>
            <a:r>
              <a:t>    "total_krw": 218240000,</a:t>
            </a:r>
          </a:p>
          <a:p>
            <a:r>
              <a:t>    "within_hard_budget": true,</a:t>
            </a:r>
          </a:p>
          <a:p>
            <a:r>
              <a:t>    "items": [</a:t>
            </a:r>
          </a:p>
          <a:p>
            <a:r>
              <a:t>      {</a:t>
            </a:r>
          </a:p>
          <a:p>
            <a:r>
              <a:t>        "name": "프로그램 운영·참여 지원",</a:t>
            </a:r>
          </a:p>
          <a:p>
            <a:r>
              <a:t>        "basis": "편성 참여 한도 15,360건 × 가정 단가 10,000원",</a:t>
            </a:r>
          </a:p>
          <a:p>
            <a:r>
              <a:t>        "amount": 153600000</a:t>
            </a:r>
          </a:p>
          <a:p>
            <a:r>
              <a:t>      },</a:t>
            </a:r>
          </a:p>
          <a:p>
            <a:r>
              <a:t>      {</a:t>
            </a:r>
          </a:p>
          <a:p>
            <a:r>
              <a:t>        "name": "현장 운영·정산",</a:t>
            </a:r>
          </a:p>
          <a:p>
            <a:r>
              <a:t>        "basis": "8개 거점 × 월 8일 × 3개월 × 150,000원",</a:t>
            </a:r>
          </a:p>
          <a:p>
            <a:r>
              <a:t>        "amount": 28800000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198,400,000원 × 10%",</a:t>
            </a:r>
          </a:p>
          <a:p>
            <a:r>
              <a:t>        "amount": 19840000</a:t>
            </a:r>
          </a:p>
          <a:p>
            <a:r>
              <a:t>      }</a:t>
            </a:r>
          </a:p>
          <a:p>
            <a:r>
              <a:t>    ],</a:t>
            </a:r>
          </a:p>
          <a:p>
            <a:r>
              <a:t>    "sources": [],</a:t>
            </a:r>
          </a:p>
          <a:p>
            <a:r>
              <a:t>    "assumptions": [</a:t>
            </a:r>
          </a:p>
          <a:p>
            <a:r>
              <a:t>      "기획용 예상 견적이며 실제 액수와 다를 수 있습니다."</a:t>
            </a:r>
          </a:p>
          <a:p>
            <a:r>
              <a:t>    ]</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c3a5f6510e4e49ba"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32212eb627044e2" Type="http://schemas.openxmlformats.org/officeDocument/2006/relationships/slideLayout" Target="../slideLayouts/slideLayout1.xml"/><Relationship Id="Rc23d06999bd7418f"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32212eb627044e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23aa0b3f3fe84ab1" Type="http://schemas.openxmlformats.org/officeDocument/2006/relationships/notesSlide" Target="../notesSlides/notesSlide1.xml"/><Relationship Id="Rfe2d442cc9394c75" Type="http://schemas.openxmlformats.org/officeDocument/2006/relationships/slideLayout" Target="../slideLayouts/slideLayout1.xml"/><Relationship Id="rId3" Type="http://schemas.openxmlformats.org/officeDocument/2006/relationships/image" Target="../media/image36.jpg"/><Relationship Id="rId4" Type="http://schemas.openxmlformats.org/officeDocument/2006/relationships/hyperlink" Target="https://apis.data.go.kr/B551011/KorService2" TargetMode="External"/></Relationships>
</file>

<file path=ppt/slides/_rels/slide2.xml.rels><?xml version='1.0' encoding='UTF-8' standalone='yes'?>
<Relationships xmlns="http://schemas.openxmlformats.org/package/2006/relationships"><Relationship Id="Ra91e1cfda5554f8e" Type="http://schemas.openxmlformats.org/officeDocument/2006/relationships/notesSlide" Target="../notesSlides/notesSlide2.xml"/><Relationship Id="Rcfdb7c120e7d4793"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40bfe741e78644e3" Type="http://schemas.openxmlformats.org/officeDocument/2006/relationships/slideLayout" Target="../slideLayouts/slideLayout1.xml"/><Relationship Id="R9925e0cf7f4b4a11" Type="http://schemas.openxmlformats.org/officeDocument/2006/relationships/notesSlide" Target="../notesSlides/notesSlide3.xml"/><Relationship Id="Re0802ea4bb724ca1" Type="http://schemas.openxmlformats.org/officeDocument/2006/relationships/image" Target="../media/image.png"/><Relationship Id="rId4" Type="http://schemas.openxmlformats.org/officeDocument/2006/relationships/chart" Target="../charts/chart3.xml"/><Relationship Id="rId5" Type="http://schemas.openxmlformats.org/officeDocument/2006/relationships/chart" Target="../charts/chart4.xml"/></Relationships>
</file>

<file path=ppt/slides/_rels/slide4.xml.rels><?xml version='1.0' encoding='UTF-8' standalone='yes'?>
<Relationships xmlns="http://schemas.openxmlformats.org/package/2006/relationships"><Relationship Id="R08a1a66771e34c37" Type="http://schemas.openxmlformats.org/officeDocument/2006/relationships/chart" Target="charts/chart3.xml"/><Relationship Id="R92c25c991d43491c" Type="http://schemas.openxmlformats.org/officeDocument/2006/relationships/slideLayout" Target="../slideLayouts/slideLayout1.xml"/><Relationship Id="Rf95ef34647d642a0" Type="http://schemas.openxmlformats.org/officeDocument/2006/relationships/notesSlide" Target="../notesSlides/notesSlide6.xml"/><Relationship Id="rId4" Type="http://schemas.openxmlformats.org/officeDocument/2006/relationships/image" Target="../media/image1.jpg"/><Relationship Id="rId5" Type="http://schemas.openxmlformats.org/officeDocument/2006/relationships/hyperlink" Target="https://www.korean-culture.org/koreanet/view.do?seq=1047457" TargetMode="External"/><Relationship Id="rId6" Type="http://schemas.openxmlformats.org/officeDocument/2006/relationships/hyperlink" Target="https://korean.visitkorea.or.kr/detail/rem_detail.do?cotid=f9c636b2-dd7c-4f09-af3d-6af43b33d371" TargetMode="External"/><Relationship Id="rId7" Type="http://schemas.openxmlformats.org/officeDocument/2006/relationships/image" Target="../media/image2.jpg"/><Relationship Id="rId8" Type="http://schemas.openxmlformats.org/officeDocument/2006/relationships/hyperlink" Target="https://www.gangjintour.com/" TargetMode="External"/><Relationship Id="rId9" Type="http://schemas.openxmlformats.org/officeDocument/2006/relationships/hyperlink" Target="https://jnfarm.jeonnam.go.kr/board/FARM_BOARD_008/boardView.do?bdId=BD_00000000000011721&amp;menuCd=farm004002" TargetMode="External"/><Relationship Id="rId10" Type="http://schemas.openxmlformats.org/officeDocument/2006/relationships/image" Target="../media/image3.jpg"/><Relationship Id="rId11" Type="http://schemas.openxmlformats.org/officeDocument/2006/relationships/hyperlink" Target="https://isum.incheon.go.kr/theme/themeContent.do?key=2407020018" TargetMode="External"/><Relationship Id="rId12" Type="http://schemas.openxmlformats.org/officeDocument/2006/relationships/hyperlink" Target="https://datalab.visitkorea.or.kr/"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jpg"/><Relationship Id="rId4" Type="http://schemas.openxmlformats.org/officeDocument/2006/relationships/hyperlink" Target="https://www.korean-culture.org/koreanet/view.do?seq=1047457" TargetMode="External"/></Relationships>
</file>

<file path=ppt/slides/_rels/slide6.xml.rels><?xml version='1.0' encoding='UTF-8' standalone='yes'?>
<Relationships xmlns="http://schemas.openxmlformats.org/package/2006/relationships"><Relationship Id="R4f2ce5977e6c41d3" Type="http://schemas.openxmlformats.org/officeDocument/2006/relationships/slideLayout" Target="../slideLayouts/slideLayout1.xml"/><Relationship Id="Reab760d5cc7545a2" Type="http://schemas.openxmlformats.org/officeDocument/2006/relationships/notesSlide" Target="../notesSlides/notesSlide4.xml"/><Relationship Id="rId3" Type="http://schemas.openxmlformats.org/officeDocument/2006/relationships/chart" Target="../charts/chart1.xml"/><Relationship Id="rId4" Type="http://schemas.openxmlformats.org/officeDocument/2006/relationships/chart" Target="../charts/char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notesSlide" Target="../notesSlides/notesSlide10.xml"/><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17.png"/><Relationship Id="rId9" Type="http://schemas.openxmlformats.org/officeDocument/2006/relationships/image" Target="../media/image18.png"/><Relationship Id="rId10"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korean.visitkorea.or.kr/detail/rem_detail.do?cotid=f9c636b2-dd7c-4f09-af3d-6af43b33d371" TargetMode="External"/><Relationship Id="rId3" Type="http://schemas.openxmlformats.org/officeDocument/2006/relationships/notesSlide" Target="../notesSlides/notesSlide14.xml"/></Relationships>
</file>

<file path=ppt/slides/_rels/slide9.xml.rels><?xml version='1.0' encoding='UTF-8' standalone='yes'?>
<Relationships xmlns="http://schemas.openxmlformats.org/package/2006/relationships"><Relationship Id="R41faa7af3ee946e3" Type="http://schemas.openxmlformats.org/officeDocument/2006/relationships/notesSlide" Target="../notesSlides/notesSlide7.xml"/><Relationship Id="Rdd777a48420b4e2a"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1be757d81be54559"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3a927cda51254bd6"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4.png"/><Relationship Id="rId10" Type="http://schemas.openxmlformats.org/officeDocument/2006/relationships/notesSlide" Target="../notesSlides/notesSlide15.xml"/><Relationship Id="rId11" Type="http://schemas.openxmlformats.org/officeDocument/2006/relationships/image" Target="../media/image20.png"/><Relationship Id="rId12" Type="http://schemas.openxmlformats.org/officeDocument/2006/relationships/image" Target="../media/image21.png"/><Relationship Id="rId13" Type="http://schemas.openxmlformats.org/officeDocument/2006/relationships/image" Target="../media/image22.png"/><Relationship Id="rId14" Type="http://schemas.openxmlformats.org/officeDocument/2006/relationships/image" Target="../media/image23.png"/><Relationship Id="rId15" Type="http://schemas.openxmlformats.org/officeDocument/2006/relationships/image" Target="../media/image24.png"/><Relationship Id="rId16" Type="http://schemas.openxmlformats.org/officeDocument/2006/relationships/image" Target="../media/image25.png"/><Relationship Id="rId17" Type="http://schemas.openxmlformats.org/officeDocument/2006/relationships/image" Target="../media/image26.png"/><Relationship Id="rId18" Type="http://schemas.openxmlformats.org/officeDocument/2006/relationships/image" Target="../media/image27.png"/><Relationship Id="rId19" Type="http://schemas.openxmlformats.org/officeDocument/2006/relationships/image" Target="../media/image28.png"/><Relationship Id="rId20" Type="http://schemas.openxmlformats.org/officeDocument/2006/relationships/image" Target="../media/image29.png"/><Relationship Id="rId21" Type="http://schemas.openxmlformats.org/officeDocument/2006/relationships/image" Target="../media/image30.png"/><Relationship Id="rId22" Type="http://schemas.openxmlformats.org/officeDocument/2006/relationships/image" Target="../media/image31.png"/><Relationship Id="rId23" Type="http://schemas.openxmlformats.org/officeDocument/2006/relationships/image" Target="../media/image32.png"/><Relationship Id="rId24" Type="http://schemas.openxmlformats.org/officeDocument/2006/relationships/image" Target="../media/image33.png"/><Relationship Id="rId25" Type="http://schemas.openxmlformats.org/officeDocument/2006/relationships/image" Target="../media/image34.png"/><Relationship Id="rId26" Type="http://schemas.openxmlformats.org/officeDocument/2006/relationships/image" Target="../media/image35.png"/></Relationships>
</file>

<file path=ppt/slides/_rels/slide13.xml.rels><?xml version='1.0' encoding='UTF-8' standalone='yes'?>
<Relationships xmlns="http://schemas.openxmlformats.org/package/2006/relationships"><Relationship Id="R304ac80f13724322" Type="http://schemas.openxmlformats.org/officeDocument/2006/relationships/slideLayout" Target="../slideLayouts/slideLayout1.xml"/><Relationship Id="rId2" Type="http://schemas.openxmlformats.org/officeDocument/2006/relationships/hyperlink" Target="https://datalab.visitkorea.or.kr/" TargetMode="External"/><Relationship Id="rId3" Type="http://schemas.openxmlformats.org/officeDocument/2006/relationships/hyperlink" Target="https://datalab.visitkorea.or.kr/site/portal/ex/bbs/View.do?bcIdx=311068&amp;cbIdx=1135&amp;pageIndex=1" TargetMode="External"/><Relationship Id="rId4" Type="http://schemas.openxmlformats.org/officeDocument/2006/relationships/notesSlide" Target="../notesSlides/notesSlide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access.visitkorea.or.kr/ms/detail.do?cotId=81cc7479-c010-4bdd-9a29-3121bb578cb8" TargetMode="External"/><Relationship Id="rId3" Type="http://schemas.openxmlformats.org/officeDocument/2006/relationships/hyperlink" Target="https://english.visitkorea.or.kr/svc/contents/contentsView.do?vcontsId=82059" TargetMode="External"/><Relationship Id="rId4" Type="http://schemas.openxmlformats.org/officeDocument/2006/relationships/hyperlink" Target="https://access.visitkorea.or.kr/ms/detail.do?cotId=af31b729-4eda-469b-b4cc-73ea3a1c8028" TargetMode="External"/><Relationship Id="rId5" Type="http://schemas.openxmlformats.org/officeDocument/2006/relationships/hyperlink" Target="https://access.visitkorea.or.kr/ms/detail.do?cotId=72bba786-e15a-478a-bc99-c9d15ff27727" TargetMode="External"/><Relationship Id="rId6" Type="http://schemas.openxmlformats.org/officeDocument/2006/relationships/hyperlink" Target="https://japanese.visitkorea.or.kr/svc/contents/contentsView.do?vcontsId=76300" TargetMode="External"/><Relationship Id="rId7" Type="http://schemas.openxmlformats.org/officeDocument/2006/relationships/hyperlink" Target="https://korean.visitkorea.or.kr/detail/rem_detail.do?cotid=351f6cf4-d984-496f-886d-6fc538b226a7" TargetMode="External"/><Relationship Id="rId8" Type="http://schemas.openxmlformats.org/officeDocument/2006/relationships/hyperlink" Target="https://datalab.visitkorea.or.kr/" TargetMode="External"/><Relationship Id="rId9" Type="http://schemas.openxmlformats.org/officeDocument/2006/relationships/hyperlink" Target="https://jnfarm.jeonnam.go.kr/board/FARM_BOARD_008/boardView.do?bdId=BD_00000000000011721&amp;menuCd=farm004002" TargetMode="External"/><Relationship Id="rId10" Type="http://schemas.openxmlformats.org/officeDocument/2006/relationships/hyperlink" Target="https://datalab.visitkorea.or.kr/site/portal/ex/bbs/View.do?bcIdx=311068&amp;cbIdx=1135&amp;pageIndex=1" TargetMode="External"/><Relationship Id="rId11" Type="http://schemas.openxmlformats.org/officeDocument/2006/relationships/hyperlink" Target="https://mcst.go.kr/servlets/eduport/front/upload/UplDownloadFile?pFileName=%280514%29%EB%AC%B8%EC%B2%B4%EB%B6%80%EB%B3%B4%EB%8F%84%EC%9E%90%EB%A3%8C-6%EC%9B%94_%EC%97%AC%ED%96%89%EA%B0%80%EB%8A%94_%EB%8B%AC_%EC%B6%94%EC%A7%84.pdf&amp;pPath=0302000000&amp;pRealName=20240514083202149235802932_PRESS20240514083202456506.pdf" TargetMode="External"/><Relationship Id="rId12" Type="http://schemas.openxmlformats.org/officeDocument/2006/relationships/hyperlink" Target="https://korean.visitkorea.or.kr/detail/rem_detail.do?cotid=f9c636b2-dd7c-4f09-af3d-6af43b33d371" TargetMode="External"/><Relationship Id="rId13" Type="http://schemas.openxmlformats.org/officeDocument/2006/relationships/hyperlink" Target="https://apis.data.go.kr/B551011/KorService2" TargetMode="External"/><Relationship Id="rId14"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3ae7c5de0f064511" Type="http://schemas.openxmlformats.org/officeDocument/2006/relationships/slideLayout" Target="../slideLayouts/slideLayout1.xml"/><Relationship Id="R9f79db7a81fa4a26" Type="http://schemas.openxmlformats.org/officeDocument/2006/relationships/notesSlide" Target="../notesSlides/notesSlide12.xml"/><Relationship Id="rId3" Type="http://schemas.openxmlformats.org/officeDocument/2006/relationships/image" Target="../media/image37.jpg"/><Relationship Id="rId4" Type="http://schemas.openxmlformats.org/officeDocument/2006/relationships/hyperlink" Target="https://apis.data.go.kr/B551011/KorService2"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png"/><Relationship Id="rId3" Type="http://schemas.openxmlformats.org/officeDocument/2006/relationships/image" Target="../media/image7.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hyperlink" Target="https://korean.visitkorea.or.kr/detail/rem_detail.do?cotid=f9c636b2-dd7c-4f09-af3d-6af43b33d371" TargetMode="Externa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5.xml"/><Relationship Id="rId3" Type="http://schemas.openxmlformats.org/officeDocument/2006/relationships/chart" Target="../charts/chart6.xml"/><Relationship Id="rId4" Type="http://schemas.openxmlformats.org/officeDocument/2006/relationships/notesSlide" Target="../notesSlides/notesSlide17.xml"/></Relationships>
</file>

<file path=ppt/slides/charts/chart3.xml><?xml version="1.0" encoding="utf-8"?>
<c:chartSpace xmlns:c="http://schemas.openxmlformats.org/drawingml/2006/chart">
  <c:lang val="en-US"/>
  <c:chart>
    <c:plotArea>
      <c:barChart>
        <c:barDir val="bar"/>
        <c:grouping val="clustered"/>
        <c:varyColors val="0"/>
        <c:ser>
          <c:idx val="0"/>
          <c:order val="0"/>
          <c:tx>
            <c:v>방문 지수</c:v>
          </c:tx>
          <c:spPr>
            <a:solidFill xmlns:a="http://schemas.openxmlformats.org/drawingml/2006/main">
              <a:srgbClr val="004EA2"/>
            </a:solidFill>
          </c:spPr>
          <c:dPt>
            <c:idx val="0"/>
            <c:invertIfNegative val="0"/>
            <c:spPr>
              <a:solidFill xmlns:a="http://schemas.openxmlformats.org/drawingml/2006/main">
                <a:srgbClr val="BFD0E3"/>
              </a:solidFill>
            </c:spPr>
          </c:dPt>
          <c:dPt>
            <c:idx val="1"/>
            <c:invertIfNegative val="0"/>
            <c:spPr>
              <a:solidFill xmlns:a="http://schemas.openxmlformats.org/drawingml/2006/main">
                <a:srgbClr val="004EA2"/>
              </a:solidFill>
            </c:spPr>
          </c:dPt>
          <c:cat>
            <c:strLit>
              <c:ptCount val="2"/>
              <c:pt idx="0">
                <c:v>전년</c:v>
              </c:pt>
              <c:pt idx="1">
                <c:v>현재</c:v>
              </c:pt>
            </c:strLit>
          </c:cat>
          <c:val>
            <c:numLit>
              <c:formatCode>General</c:formatCode>
              <c:ptCount val="2"/>
              <c:pt idx="0">
                <c:v>100</c:v>
              </c:pt>
              <c:pt idx="1">
                <c:v>91.7</c:v>
              </c:pt>
            </c:numLit>
          </c:val>
        </c:ser>
        <c:dLbls>
          <c:txPr>
            <a:bodyPr xmlns:a="http://schemas.openxmlformats.org/drawingml/2006/main" anchorCtr="1"/>
            <a:lstStyle xmlns:a="http://schemas.openxmlformats.org/drawingml/2006/main"/>
            <a:p xmlns:a="http://schemas.openxmlformats.org/drawingml/2006/main">
              <a:pPr>
                <a:defRPr sz="1200" b="1">
                  <a:solidFill>
                    <a:srgbClr val="FFFFFF"/>
                  </a:solidFill>
                </a:defRPr>
              </a:pPr>
            </a:p>
          </c:txPr>
          <c:dLblPos val="inEnd"/>
          <c:showLegendKey val="0"/>
          <c:showVal val="1"/>
          <c:showCatName val="0"/>
          <c:showSerName val="0"/>
          <c:showPercent val="0"/>
          <c:showBubbleSize val="0"/>
          <c:showLeaderLines val="0"/>
        </c:dLbls>
        <c:gapWidth val="42"/>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203B4B"/>
        </a:solidFill>
      </p:bgPr>
    </p:bg>
    <p:spTree>
      <p:nvGrpSpPr>
        <p:cNvPr id="1" name=""/>
        <p:cNvGrpSpPr/>
        <p:nvPr/>
      </p:nvGrpSpPr>
      <p:grpSpPr>
        <a:xfrm xmlns:a="http://schemas.openxmlformats.org/drawingml/2006/main"/>
      </p:grpSpPr>
      <p:pic xmlns:a="http://schemas.openxmlformats.org/drawingml/2006/main" xmlns:r="http://schemas.openxmlformats.org/officeDocument/2006/relationships">
        <p:nvPicPr>
          <p:cNvPr id="2" name="cover-regional-photo" descr="image.jpg"/>
          <p:cNvPicPr>
            <a:picLocks noChangeAspect="1"/>
          </p:cNvPicPr>
          <p:nvPr/>
        </p:nvPicPr>
        <p:blipFill>
          <a:blip r:embed="rId3"/>
          <a:srcRect t="7835" b="7835"/>
          <a:stretch>
            <a:fillRect/>
          </a:stretch>
        </p:blipFill>
        <p:spPr>
          <a:xfrm>
            <a:off x="0" y="0"/>
            <a:ext cx="15240000" cy="8572500"/>
          </a:xfrm>
          <a:prstGeom prst="rect">
            <a:avLst/>
          </a:prstGeom>
        </p:spPr>
      </p:pic>
      <p:sp xmlns:a="http://schemas.openxmlformats.org/drawingml/2006/main">
        <p:nvSpPr>
          <p:cNvPr id="14" name="cover-photo-blend"/>
          <p:cNvSpPr/>
          <p:nvPr/>
        </p:nvSpPr>
        <p:spPr>
          <a:xfrm>
            <a:off x="0" y="0"/>
            <a:ext cx="15240000" cy="8572500"/>
          </a:xfrm>
          <a:prstGeom prst="rect">
            <a:avLst/>
          </a:prstGeom>
          <a:gradFill rotWithShape="1">
            <a:gsLst>
              <a:gs pos="0">
                <a:srgbClr val="203B4B">
                  <a:alpha val="100000"/>
                </a:srgbClr>
              </a:gs>
              <a:gs pos="40000">
                <a:srgbClr val="203B4B">
                  <a:alpha val="98000"/>
                </a:srgbClr>
              </a:gs>
              <a:gs pos="64000">
                <a:srgbClr val="203B4B">
                  <a:alpha val="75000"/>
                </a:srgbClr>
              </a:gs>
              <a:gs pos="82000">
                <a:srgbClr val="203B4B">
                  <a:alpha val="24000"/>
                </a:srgbClr>
              </a:gs>
              <a:gs pos="100000">
                <a:srgbClr val="203B4B">
                  <a:alpha val="0"/>
                </a:srgbClr>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cover-top-rule"/>
          <p:cNvSpPr/>
          <p:nvPr/>
        </p:nvSpPr>
        <p:spPr>
          <a:xfrm>
            <a:off x="762000" y="781050"/>
            <a:ext cx="1619250" cy="38100"/>
          </a:xfrm>
          <a:prstGeom prst="rect">
            <a:avLst/>
          </a:prstGeom>
          <a:solidFill>
            <a:srgbClr val="A9D7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cover-title-line1"/>
          <p:cNvSpPr txBox="1"/>
          <p:nvPr/>
        </p:nvSpPr>
        <p:spPr>
          <a:xfrm>
            <a:off x="704850" y="2981325"/>
            <a:ext cx="7524750" cy="2047875"/>
          </a:xfrm>
          <a:prstGeom prst="rect">
            <a:avLst/>
          </a:prstGeom>
          <a:noFill/>
        </p:spPr>
        <p:txBody>
          <a:bodyPr wrap="none" lIns="57150" rIns="57150" tIns="38100" bIns="38100" anchor="t">
            <a:noAutofit/>
          </a:bodyPr>
          <a:lstStyle/>
          <a:p>
            <a:pPr eaLnBrk="0">
              <a:lnSpc>
                <a:spcPts val="4031"/>
              </a:lnSpc>
              <a:spcBef>
                <a:spcPts val="0"/>
              </a:spcBef>
              <a:spcAft>
                <a:spcPts val="0"/>
              </a:spcAft>
            </a:pPr>
            <a:r>
              <a:rPr sz="3225" b="1">
                <a:solidFill>
                  <a:srgbClr val="FFFFFF"/>
                </a:solidFill>
                <a:latin typeface="Noto Sans KR"/>
              </a:rPr>
              <a:t>대전 서구 야간 특화 콘텐츠 순회</a:t>
            </a:r>
          </a:p>
          <a:p>
            <a:pPr eaLnBrk="0">
              <a:lnSpc>
                <a:spcPts val="4031"/>
              </a:lnSpc>
              <a:spcBef>
                <a:spcPts val="0"/>
              </a:spcBef>
              <a:spcAft>
                <a:spcPts val="0"/>
              </a:spcAft>
            </a:pPr>
            <a:r>
              <a:rPr sz="3225" b="1">
                <a:solidFill>
                  <a:srgbClr val="FFFFFF"/>
                </a:solidFill>
                <a:latin typeface="Noto Sans KR"/>
              </a:rPr>
              <a:t>축제 실행 기획안</a:t>
            </a:r>
          </a:p>
        </p:txBody>
      </p:sp>
      <p:sp xmlns:a="http://schemas.openxmlformats.org/drawingml/2006/main">
        <p:nvSpPr>
          <p:cNvPr id="7" name="cover-date"/>
          <p:cNvSpPr txBox="1"/>
          <p:nvPr/>
        </p:nvSpPr>
        <p:spPr>
          <a:xfrm>
            <a:off x="762000" y="7038975"/>
            <a:ext cx="7524750" cy="49530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0">
                <a:solidFill>
                  <a:srgbClr val="FFFFFF"/>
                </a:solidFill>
                <a:latin typeface="Noto Sans KR"/>
              </a:rPr>
              <a:t>사업기간 2026.10 ~ 2026.12</a:t>
            </a:r>
          </a:p>
        </p:txBody>
      </p:sp>
      <p:sp xmlns:a="http://schemas.openxmlformats.org/drawingml/2006/main">
        <p:nvSpPr>
          <p:cNvPr id="9" name="cover-issued-date"/>
          <p:cNvSpPr txBox="1"/>
          <p:nvPr/>
        </p:nvSpPr>
        <p:spPr>
          <a:xfrm>
            <a:off x="800100" y="1304925"/>
            <a:ext cx="7143750" cy="438150"/>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FFFFFF"/>
                </a:solidFill>
                <a:latin typeface="Noto Sans KR"/>
              </a:rPr>
              <a:t>2026.09.16</a:t>
            </a:r>
          </a:p>
        </p:txBody>
      </p:sp>
      <p:sp xmlns:a="http://schemas.openxmlformats.org/drawingml/2006/main">
        <p:nvSpPr>
          <p:cNvPr id="10" name="cover-province-ribbon"/>
          <p:cNvSpPr/>
          <p:nvPr/>
        </p:nvSpPr>
        <p:spPr>
          <a:xfrm>
            <a:off x="0" y="1866900"/>
            <a:ext cx="8953500" cy="685800"/>
          </a:xfrm>
          <a:prstGeom prst="rect">
            <a:avLst/>
          </a:prstGeom>
          <a:gradFill rotWithShape="1">
            <a:gsLst>
              <a:gs pos="0">
                <a:srgbClr val="DBE8EC">
                  <a:alpha val="13000"/>
                </a:srgbClr>
              </a:gs>
              <a:gs pos="60000">
                <a:srgbClr val="DBE8EC">
                  <a:alpha val="8000"/>
                </a:srgbClr>
              </a:gs>
              <a:gs pos="100000">
                <a:srgbClr val="DBE8EC">
                  <a:alpha val="0"/>
                </a:srgbClr>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8" name="org-title"/>
          <p:cNvSpPr txBox="1"/>
          <p:nvPr/>
        </p:nvSpPr>
        <p:spPr>
          <a:xfrm>
            <a:off x="609600" y="1914525"/>
            <a:ext cx="4857750" cy="571500"/>
          </a:xfrm>
          <a:prstGeom prst="rect">
            <a:avLst/>
          </a:prstGeom>
          <a:noFill/>
        </p:spPr>
        <p:txBody>
          <a:bodyPr wrap="none" lIns="57150" rIns="57150" tIns="38100" bIns="38100" anchor="t">
            <a:noAutofit/>
          </a:bodyPr>
          <a:lstStyle/>
          <a:p>
            <a:pPr eaLnBrk="0">
              <a:lnSpc>
                <a:spcPts val="3750"/>
              </a:lnSpc>
              <a:spcBef>
                <a:spcPts val="0"/>
              </a:spcBef>
              <a:spcAft>
                <a:spcPts val="0"/>
              </a:spcAft>
            </a:pPr>
            <a:r>
              <a:rPr sz="3000" b="1">
                <a:solidFill>
                  <a:srgbClr val="FFFFFF"/>
                </a:solidFill>
                <a:latin typeface="Noto Sans KR"/>
              </a:rPr>
              <a:t>대전광역시</a:t>
            </a:r>
          </a:p>
        </p:txBody>
      </p:sp>
      <p:sp xmlns:a="http://schemas.openxmlformats.org/drawingml/2006/main">
        <p:nvSpPr>
          <p:cNvPr id="11" name="cover-title-rule"/>
          <p:cNvSpPr/>
          <p:nvPr/>
        </p:nvSpPr>
        <p:spPr>
          <a:xfrm>
            <a:off x="762000" y="4371975"/>
            <a:ext cx="1619250" cy="38100"/>
          </a:xfrm>
          <a:prstGeom prst="rect">
            <a:avLst/>
          </a:prstGeom>
          <a:solidFill>
            <a:srgbClr val="A9D7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cover-source-bg"/>
          <p:cNvSpPr/>
          <p:nvPr/>
        </p:nvSpPr>
        <p:spPr>
          <a:xfrm>
            <a:off x="9258300" y="8001000"/>
            <a:ext cx="5676900" cy="400050"/>
          </a:xfrm>
          <a:prstGeom prst="rect">
            <a:avLst/>
          </a:prstGeom>
          <a:solidFill>
            <a:srgbClr val="0F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cover-source-label">
            <a:hlinkClick xmlns:r="http://schemas.openxmlformats.org/officeDocument/2006/relationships" r:id="rId4"/>
          </p:cNvPr>
          <p:cNvSpPr txBox="1"/>
          <p:nvPr/>
        </p:nvSpPr>
        <p:spPr>
          <a:xfrm>
            <a:off x="9363075" y="8039100"/>
            <a:ext cx="5467350" cy="323850"/>
          </a:xfrm>
          <a:prstGeom prst="rect">
            <a:avLst/>
          </a:prstGeom>
          <a:noFill/>
        </p:spPr>
        <p:txBody>
          <a:bodyPr wrap="none" lIns="57150" rIns="57150" tIns="38100" bIns="38100" anchor="ctr">
            <a:noAutofit/>
          </a:bodyPr>
          <a:lstStyle/>
          <a:p>
            <a:pPr eaLnBrk="0" algn="ctr">
              <a:lnSpc>
                <a:spcPts val="1593"/>
              </a:lnSpc>
              <a:spcBef>
                <a:spcPts val="0"/>
              </a:spcBef>
              <a:spcAft>
                <a:spcPts val="0"/>
              </a:spcAft>
            </a:pPr>
            <a:r>
              <a:rPr sz="1275" b="0">
                <a:solidFill>
                  <a:srgbClr val="FFFFFF"/>
                </a:solidFill>
                <a:latin typeface="Noto Sans KR"/>
              </a:rPr>
              <a:t>대전광역시 서구 · 도산서원(대전)</a:t>
            </a:r>
          </a:p>
        </p:txBody>
      </p:sp>
    </p:spTree>
    <p:extLst>
      <p:ext uri="{BB962C8B-B14F-4D97-AF65-F5344CB8AC3E}">
        <p14:creationId xmlns:p14="http://schemas.microsoft.com/office/powerpoint/2010/main" val="655411831"/>
      </p:ext>
    </p:extLst>
  </p:cSld>
</p:sld>
</file>

<file path=ppt/slides/slide2.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contents-rail"/>
          <p:cNvSpPr/>
          <p:nvPr/>
        </p:nvSpPr>
        <p:spPr>
          <a:xfrm>
            <a:off x="0" y="0"/>
            <a:ext cx="15240000" cy="8572500"/>
          </a:xfrm>
          <a:prstGeom prst="rect">
            <a:avLst/>
          </a:prstGeom>
          <a:gradFill rotWithShape="1">
            <a:gsLst>
              <a:gs pos="0">
                <a:srgbClr val="E7E9ED"/>
              </a:gs>
              <a:gs pos="100000">
                <a:srgbClr val="FAFAFB"/>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contents-en"/>
          <p:cNvSpPr txBox="1"/>
          <p:nvPr/>
        </p:nvSpPr>
        <p:spPr>
          <a:xfrm>
            <a:off x="1009650" y="971550"/>
            <a:ext cx="3333750" cy="3238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495565"/>
                </a:solidFill>
                <a:latin typeface="Noto Sans KR"/>
              </a:rPr>
              <a:t>CONTENTS</a:t>
            </a:r>
          </a:p>
        </p:txBody>
      </p:sp>
      <p:sp xmlns:a="http://schemas.openxmlformats.org/drawingml/2006/main">
        <p:nvSpPr>
          <p:cNvPr id="4" name="contents-ko"/>
          <p:cNvSpPr txBox="1"/>
          <p:nvPr/>
        </p:nvSpPr>
        <p:spPr>
          <a:xfrm>
            <a:off x="1009650" y="1409700"/>
            <a:ext cx="8572500" cy="71437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202124"/>
                </a:solidFill>
                <a:latin typeface="Noto Sans KR"/>
              </a:rPr>
              <a:t>목차</a:t>
            </a:r>
          </a:p>
        </p:txBody>
      </p:sp>
      <p:sp xmlns:a="http://schemas.openxmlformats.org/drawingml/2006/main">
        <p:nvSpPr>
          <p:cNvPr id="5" name="contents-short-rule"/>
          <p:cNvSpPr/>
          <p:nvPr/>
        </p:nvSpPr>
        <p:spPr>
          <a:xfrm>
            <a:off x="1066800" y="2324100"/>
            <a:ext cx="552450"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top-brand"/>
          <p:cNvSpPr txBox="1"/>
          <p:nvPr/>
        </p:nvSpPr>
        <p:spPr>
          <a:xfrm>
            <a:off x="1009650" y="7610475"/>
            <a:ext cx="11430000" cy="400050"/>
          </a:xfrm>
          <a:prstGeom prst="rect">
            <a:avLst/>
          </a:prstGeom>
          <a:noFill/>
        </p:spPr>
        <p:txBody>
          <a:bodyPr wrap="none" lIns="57150" rIns="57150" tIns="38100" bIns="38100" anchor="t">
            <a:noAutofit/>
          </a:bodyPr>
          <a:lstStyle/>
          <a:p>
            <a:pPr eaLnBrk="0">
              <a:lnSpc>
                <a:spcPts val="1593"/>
              </a:lnSpc>
              <a:spcBef>
                <a:spcPts val="0"/>
              </a:spcBef>
              <a:spcAft>
                <a:spcPts val="0"/>
              </a:spcAft>
            </a:pPr>
            <a:r>
              <a:rPr sz="1275" b="0">
                <a:solidFill>
                  <a:srgbClr val="495565"/>
                </a:solidFill>
                <a:latin typeface="Noto Sans KR"/>
              </a:rPr>
              <a:t>대전광역시 서구 관광 전략기획안</a:t>
            </a:r>
          </a:p>
        </p:txBody>
      </p:sp>
      <p:sp xmlns:a="http://schemas.openxmlformats.org/drawingml/2006/main">
        <p:nvSpPr>
          <p:cNvPr id="7" name="toc-0-number"/>
          <p:cNvSpPr txBox="1"/>
          <p:nvPr/>
        </p:nvSpPr>
        <p:spPr>
          <a:xfrm>
            <a:off x="1009650" y="300037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0</a:t>
            </a:r>
          </a:p>
        </p:txBody>
      </p:sp>
      <p:sp xmlns:a="http://schemas.openxmlformats.org/drawingml/2006/main">
        <p:nvSpPr>
          <p:cNvPr id="8" name="toc-0-label"/>
          <p:cNvSpPr txBox="1"/>
          <p:nvPr/>
        </p:nvSpPr>
        <p:spPr>
          <a:xfrm>
            <a:off x="1657350" y="300990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개요</a:t>
            </a:r>
          </a:p>
        </p:txBody>
      </p:sp>
      <p:sp xmlns:a="http://schemas.openxmlformats.org/drawingml/2006/main">
        <p:nvSpPr>
          <p:cNvPr id="9" name="contents-rule-0"/>
          <p:cNvSpPr/>
          <p:nvPr/>
        </p:nvSpPr>
        <p:spPr>
          <a:xfrm>
            <a:off x="1066800" y="365760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toc-1-number"/>
          <p:cNvSpPr txBox="1"/>
          <p:nvPr/>
        </p:nvSpPr>
        <p:spPr>
          <a:xfrm>
            <a:off x="1009650" y="3962400"/>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1</a:t>
            </a:r>
          </a:p>
        </p:txBody>
      </p:sp>
      <p:sp xmlns:a="http://schemas.openxmlformats.org/drawingml/2006/main">
        <p:nvSpPr>
          <p:cNvPr id="11" name="toc-1-label"/>
          <p:cNvSpPr txBox="1"/>
          <p:nvPr/>
        </p:nvSpPr>
        <p:spPr>
          <a:xfrm>
            <a:off x="1657350" y="3971925"/>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지역별 사례와 실적</a:t>
            </a:r>
          </a:p>
        </p:txBody>
      </p:sp>
      <p:sp xmlns:a="http://schemas.openxmlformats.org/drawingml/2006/main">
        <p:nvSpPr>
          <p:cNvPr id="12" name="contents-rule-1"/>
          <p:cNvSpPr/>
          <p:nvPr/>
        </p:nvSpPr>
        <p:spPr>
          <a:xfrm>
            <a:off x="1066800" y="4619625"/>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toc-2-number"/>
          <p:cNvSpPr txBox="1"/>
          <p:nvPr/>
        </p:nvSpPr>
        <p:spPr>
          <a:xfrm>
            <a:off x="1009650" y="492442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2</a:t>
            </a:r>
          </a:p>
        </p:txBody>
      </p:sp>
      <p:sp xmlns:a="http://schemas.openxmlformats.org/drawingml/2006/main">
        <p:nvSpPr>
          <p:cNvPr id="14" name="toc-2-label"/>
          <p:cNvSpPr txBox="1"/>
          <p:nvPr/>
        </p:nvSpPr>
        <p:spPr>
          <a:xfrm>
            <a:off x="1657350" y="493395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사업 목표와 KPI 산출근거</a:t>
            </a:r>
          </a:p>
        </p:txBody>
      </p:sp>
      <p:sp xmlns:a="http://schemas.openxmlformats.org/drawingml/2006/main">
        <p:nvSpPr>
          <p:cNvPr id="15" name="contents-rule-2"/>
          <p:cNvSpPr/>
          <p:nvPr/>
        </p:nvSpPr>
        <p:spPr>
          <a:xfrm>
            <a:off x="1066800" y="558165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toc-3-number"/>
          <p:cNvSpPr txBox="1"/>
          <p:nvPr/>
        </p:nvSpPr>
        <p:spPr>
          <a:xfrm>
            <a:off x="1009650" y="5886450"/>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3</a:t>
            </a:r>
          </a:p>
        </p:txBody>
      </p:sp>
      <p:sp xmlns:a="http://schemas.openxmlformats.org/drawingml/2006/main">
        <p:nvSpPr>
          <p:cNvPr id="17" name="toc-3-label"/>
          <p:cNvSpPr txBox="1"/>
          <p:nvPr/>
        </p:nvSpPr>
        <p:spPr>
          <a:xfrm>
            <a:off x="1657350" y="5895975"/>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지역 적용과 실행</a:t>
            </a:r>
          </a:p>
        </p:txBody>
      </p:sp>
      <p:sp xmlns:a="http://schemas.openxmlformats.org/drawingml/2006/main">
        <p:nvSpPr>
          <p:cNvPr id="18" name="contents-rule-3"/>
          <p:cNvSpPr/>
          <p:nvPr/>
        </p:nvSpPr>
        <p:spPr>
          <a:xfrm>
            <a:off x="1066800" y="6543675"/>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toc-4-number"/>
          <p:cNvSpPr txBox="1"/>
          <p:nvPr/>
        </p:nvSpPr>
        <p:spPr>
          <a:xfrm>
            <a:off x="8239125" y="300037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4</a:t>
            </a:r>
          </a:p>
        </p:txBody>
      </p:sp>
      <p:sp xmlns:a="http://schemas.openxmlformats.org/drawingml/2006/main">
        <p:nvSpPr>
          <p:cNvPr id="20" name="toc-4-label"/>
          <p:cNvSpPr txBox="1"/>
          <p:nvPr/>
        </p:nvSpPr>
        <p:spPr>
          <a:xfrm>
            <a:off x="8886825" y="300990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견적 예시안</a:t>
            </a:r>
          </a:p>
        </p:txBody>
      </p:sp>
      <p:sp xmlns:a="http://schemas.openxmlformats.org/drawingml/2006/main">
        <p:nvSpPr>
          <p:cNvPr id="21" name="contents-rule-4"/>
          <p:cNvSpPr/>
          <p:nvPr/>
        </p:nvSpPr>
        <p:spPr>
          <a:xfrm>
            <a:off x="8296275" y="365760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toc-5-number"/>
          <p:cNvSpPr txBox="1"/>
          <p:nvPr/>
        </p:nvSpPr>
        <p:spPr>
          <a:xfrm>
            <a:off x="8239125" y="3962400"/>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5</a:t>
            </a:r>
          </a:p>
        </p:txBody>
      </p:sp>
      <p:sp xmlns:a="http://schemas.openxmlformats.org/drawingml/2006/main">
        <p:nvSpPr>
          <p:cNvPr id="23" name="toc-5-label"/>
          <p:cNvSpPr txBox="1"/>
          <p:nvPr/>
        </p:nvSpPr>
        <p:spPr>
          <a:xfrm>
            <a:off x="8886825" y="3971925"/>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기획서 생성 과정</a:t>
            </a:r>
          </a:p>
        </p:txBody>
      </p:sp>
      <p:sp xmlns:a="http://schemas.openxmlformats.org/drawingml/2006/main">
        <p:nvSpPr>
          <p:cNvPr id="24" name="contents-rule-5"/>
          <p:cNvSpPr/>
          <p:nvPr/>
        </p:nvSpPr>
        <p:spPr>
          <a:xfrm>
            <a:off x="8296275" y="4619625"/>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toc-6-number"/>
          <p:cNvSpPr txBox="1"/>
          <p:nvPr/>
        </p:nvSpPr>
        <p:spPr>
          <a:xfrm>
            <a:off x="8239125" y="492442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6</a:t>
            </a:r>
          </a:p>
        </p:txBody>
      </p:sp>
      <p:sp xmlns:a="http://schemas.openxmlformats.org/drawingml/2006/main">
        <p:nvSpPr>
          <p:cNvPr id="26" name="toc-6-label"/>
          <p:cNvSpPr txBox="1"/>
          <p:nvPr/>
        </p:nvSpPr>
        <p:spPr>
          <a:xfrm>
            <a:off x="8886825" y="493395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근거·데이터·출처</a:t>
            </a:r>
          </a:p>
        </p:txBody>
      </p:sp>
      <p:sp xmlns:a="http://schemas.openxmlformats.org/drawingml/2006/main">
        <p:nvSpPr>
          <p:cNvPr id="27" name="contents-rule-6"/>
          <p:cNvSpPr/>
          <p:nvPr/>
        </p:nvSpPr>
        <p:spPr>
          <a:xfrm>
            <a:off x="8296275" y="558165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70192671"/>
      </p:ext>
    </p:extLst>
  </p:cSld>
</p:sld>
</file>

<file path=ppt/slides/slide3.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51" name="growth-card-1"/>
          <p:cNvSpPr/>
          <p:nvPr/>
        </p:nvSpPr>
        <p:spPr>
          <a:xfrm>
            <a:off x="5248275" y="5314950"/>
            <a:ext cx="9048750" cy="21812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0" name="growth-card-0"/>
          <p:cNvSpPr/>
          <p:nvPr/>
        </p:nvSpPr>
        <p:spPr>
          <a:xfrm>
            <a:off x="5248275" y="2971800"/>
            <a:ext cx="9048750" cy="21812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visitor-photo"/>
          <p:cNvPicPr>
            <a:picLocks xmlns:a="http://schemas.openxmlformats.org/drawingml/2006/main" noChangeAspect="1"/>
          </p:cNvPicPr>
          <p:nvPr/>
        </p:nvPicPr>
        <p:blipFill>
          <a:blip xmlns:r="http://schemas.openxmlformats.org/officeDocument/2006/relationships" xmlns:a="http://schemas.openxmlformats.org/drawingml/2006/main" r:embed="Re0802ea4bb724ca1"/>
          <a:srcRect xmlns:a="http://schemas.openxmlformats.org/drawingml/2006/main" l="31390" r="31390"/>
          <a:stretch xmlns:a="http://schemas.openxmlformats.org/drawingml/2006/main">
            <a:fillRect l="0" t="0" r="0" b="0"/>
          </a:stretch>
        </p:blipFill>
        <p:spPr>
          <a:xfrm xmlns:a="http://schemas.openxmlformats.org/drawingml/2006/main">
            <a:off x="0" y="0"/>
            <a:ext cx="4791075" cy="8572500"/>
          </a:xfrm>
          <a:prstGeom xmlns:a="http://schemas.openxmlformats.org/drawingml/2006/main" prst="rect">
            <a:avLst/>
          </a:prstGeom>
        </p:spPr>
      </p:pic>
      <p:sp>
        <p:nvSpPr>
          <p:cNvPr id="15" name="hero-source-bg">
            <a:extLst xmlns:a="http://schemas.openxmlformats.org/drawingml/2006/main">
              <a:ext uri="{FF2B5EF4-FFF2-40B4-BE49-F238E27FC236}">
                <a16:creationId xmlns:a16="http://schemas.microsoft.com/office/drawing/2014/main" id="{CDA4A852-90A1-4F7A-85C3-CC9CF369CFEA}"/>
              </a:ext>
            </a:extLst>
          </p:cNvPr>
          <p:cNvSpPr>
            <a:spLocks xmlns:a="http://schemas.openxmlformats.org/drawingml/2006/main" noGrp="1"/>
          </p:cNvSpPr>
          <p:nvPr/>
        </p:nvSpPr>
        <p:spPr>
          <a:xfrm xmlns:a="http://schemas.openxmlformats.org/drawingml/2006/main">
            <a:off x="323850" y="8103394"/>
            <a:ext cx="4143375" cy="392906"/>
          </a:xfrm>
          <a:prstGeom xmlns:a="http://schemas.openxmlformats.org/drawingml/2006/main" prst="roundRect">
            <a:avLst>
              <a:gd name="adj" fmla="val 5000"/>
            </a:avLst>
          </a:prstGeom>
          <a:solidFill xmlns:a="http://schemas.openxmlformats.org/drawingml/2006/main">
            <a:srgbClr val="0F315B"/>
          </a:solidFill>
          <a:ln xmlns:a="http://schemas.openxmlformats.org/drawingml/2006/main" w="9525">
            <a:noFill/>
            <a:prstDash val="solid"/>
          </a:ln>
        </p:spPr>
        <p:txBody>
          <a:bodyPr xmlns:a="http://schemas.openxmlformats.org/drawingml/2006/main"/>
          <a:lstStyle xmlns:a="http://schemas.openxmlformats.org/drawingml/2006/main"/>
          <a:p xmlns:a="http://schemas.openxmlformats.org/drawingml/2006/main">
            <a:endParaRPr/>
          </a:p>
        </p:txBody>
      </p:sp>
      <p:sp>
        <p:nvSpPr>
          <p:cNvPr id="16" name="hero-source-label">
            <a:extLst xmlns:a="http://schemas.openxmlformats.org/drawingml/2006/main">
              <a:ext uri="{FF2B5EF4-FFF2-40B4-BE49-F238E27FC236}">
                <a16:creationId xmlns:a16="http://schemas.microsoft.com/office/drawing/2014/main" id="{D1920FBE-F92C-4035-AAA5-C13D7F354553}"/>
              </a:ext>
            </a:extLst>
          </p:cNvPr>
          <p:cNvSpPr>
            <a:spLocks xmlns:a="http://schemas.openxmlformats.org/drawingml/2006/main" noGrp="1"/>
          </p:cNvSpPr>
          <p:nvPr/>
        </p:nvSpPr>
        <p:spPr>
          <a:xfrm xmlns:a="http://schemas.openxmlformats.org/drawingml/2006/main">
            <a:off x="323850" y="8160544"/>
            <a:ext cx="4143375" cy="27860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wrap="none" lIns="57150" rIns="57150" tIns="38100" bIns="38100">
            <a:noAutofit/>
          </a:bodyPr>
          <a:lstStyle xmlns:a="http://schemas.openxmlformats.org/drawingml/2006/main"/>
          <a:p xmlns:a="http://schemas.openxmlformats.org/drawingml/2006/main">
            <a:pPr algn="ctr" eaLnBrk="0">
              <a:lnSpc>
                <a:spcPts val="1546"/>
              </a:lnSpc>
              <a:spcBef>
                <a:spcPts val="0"/>
              </a:spcBef>
              <a:spcAft>
                <a:spcPts val="0"/>
              </a:spcAft>
              <a:buNone/>
              <a:defRPr sz="825" b="0" i="0">
                <a:solidFill>
                  <a:srgbClr val="FFFFFF"/>
                </a:solidFill>
                <a:latin typeface="Noto Sans KR"/>
                <a:ea typeface="Noto Sans KR"/>
                <a:cs typeface="Noto Sans KR"/>
              </a:defRPr>
            </a:pPr>
            <a:r>
              <a:rPr sz="1237" b="0">
                <a:solidFill>
                  <a:srgbClr val="FFFFFF"/>
                </a:solidFill>
                <a:latin typeface="Noto Sans KR"/>
              </a:rPr>
              <a:t>대전광역시 서구 남선로 66 · 남선공원</a:t>
            </a:r>
          </a:p>
        </p:txBody>
      </p:sp>
      <p:sp xmlns:a="http://schemas.openxmlformats.org/drawingml/2006/main">
        <p:nvSpPr>
          <p:cNvPr id="34" name="title"/>
          <p:cNvSpPr txBox="1"/>
          <p:nvPr/>
        </p:nvSpPr>
        <p:spPr>
          <a:xfrm>
            <a:off x="5257800" y="828675"/>
            <a:ext cx="8972550" cy="762000"/>
          </a:xfrm>
          <a:prstGeom prst="rect">
            <a:avLst/>
          </a:prstGeom>
          <a:noFill/>
        </p:spPr>
        <p:txBody>
          <a:bodyPr wrap="none" lIns="57150" rIns="57150" tIns="38100" bIns="38100" anchor="t">
            <a:noAutofit/>
          </a:bodyPr>
          <a:lstStyle/>
          <a:p>
            <a:pPr eaLnBrk="0" algn="l">
              <a:lnSpc>
                <a:spcPts val="3937"/>
              </a:lnSpc>
              <a:spcBef>
                <a:spcPts val="0"/>
              </a:spcBef>
              <a:spcAft>
                <a:spcPts val="0"/>
              </a:spcAft>
            </a:pPr>
            <a:r>
              <a:rPr sz="3150" b="1">
                <a:solidFill>
                  <a:srgbClr val="202124"/>
                </a:solidFill>
                <a:latin typeface="Noto Sans KR"/>
              </a:rPr>
              <a:t>서구 관광 발전 기획안</a:t>
            </a:r>
          </a:p>
        </p:txBody>
      </p:sp>
      <p:sp xmlns:a="http://schemas.openxmlformats.org/drawingml/2006/main">
        <p:nvSpPr>
          <p:cNvPr id="36" name="purpose-period"/>
          <p:cNvSpPr txBox="1"/>
          <p:nvPr/>
        </p:nvSpPr>
        <p:spPr>
          <a:xfrm>
            <a:off x="5391150" y="1952625"/>
            <a:ext cx="8763000" cy="428625"/>
          </a:xfrm>
          <a:prstGeom prst="rect">
            <a:avLst/>
          </a:prstGeom>
          <a:noFill/>
        </p:spPr>
        <p:txBody>
          <a:bodyPr wrap="none" lIns="57150" rIns="57150" tIns="38100" bIns="38100" anchor="ctr">
            <a:noAutofit/>
          </a:bodyPr>
          <a:lstStyle/>
          <a:p>
            <a:pPr eaLnBrk="0" algn="ctr">
              <a:lnSpc>
                <a:spcPts val="2437"/>
              </a:lnSpc>
              <a:spcBef>
                <a:spcPts val="0"/>
              </a:spcBef>
              <a:spcAft>
                <a:spcPts val="0"/>
              </a:spcAft>
            </a:pPr>
            <a:r>
              <a:rPr sz="1950" b="0">
                <a:solidFill>
                  <a:srgbClr val="62666C"/>
                </a:solidFill>
                <a:latin typeface="Noto Sans KR"/>
              </a:rPr>
              <a:t>향후 3개월 전망 · 2026년 10–12월</a:t>
            </a:r>
          </a:p>
        </p:txBody>
      </p:sp>
      <p:sp xmlns:a="http://schemas.openxmlformats.org/drawingml/2006/main">
        <p:nvSpPr>
          <p:cNvPr id="37" name="purpose-comparison"/>
          <p:cNvSpPr txBox="1"/>
          <p:nvPr/>
        </p:nvSpPr>
        <p:spPr>
          <a:xfrm>
            <a:off x="5391150" y="2409825"/>
            <a:ext cx="8763000" cy="381000"/>
          </a:xfrm>
          <a:prstGeom prst="rect">
            <a:avLst/>
          </a:prstGeom>
          <a:noFill/>
        </p:spPr>
        <p:txBody>
          <a:bodyPr wrap="none" lIns="57150" rIns="57150" tIns="38100" bIns="38100" anchor="ctr">
            <a:noAutofit/>
          </a:bodyPr>
          <a:lstStyle/>
          <a:p>
            <a:pPr eaLnBrk="0" algn="ctr">
              <a:lnSpc>
                <a:spcPts val="2062"/>
              </a:lnSpc>
              <a:spcBef>
                <a:spcPts val="0"/>
              </a:spcBef>
              <a:spcAft>
                <a:spcPts val="0"/>
              </a:spcAft>
            </a:pPr>
            <a:r>
              <a:rPr sz="1650" b="0">
                <a:solidFill>
                  <a:srgbClr val="62666C"/>
                </a:solidFill>
                <a:latin typeface="Noto Sans KR"/>
              </a:rPr>
              <a:t>전년 같은 기간 대비 증가율을 전국 비교 평균과 비교합니다.</a:t>
            </a:r>
          </a:p>
        </p:txBody>
      </p:sp>
      <p:sp xmlns:a="http://schemas.openxmlformats.org/drawingml/2006/main">
        <p:nvSpPr>
          <p:cNvPr id="38" name="growth-label-0"/>
          <p:cNvSpPr txBox="1"/>
          <p:nvPr/>
        </p:nvSpPr>
        <p:spPr>
          <a:xfrm>
            <a:off x="5505450" y="3095625"/>
            <a:ext cx="4095750" cy="41910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202124"/>
                </a:solidFill>
                <a:latin typeface="Noto Sans KR"/>
              </a:rPr>
              <a:t>관광객 방문자 수</a:t>
            </a:r>
          </a:p>
        </p:txBody>
      </p:sp>
      <p:sp xmlns:a="http://schemas.openxmlformats.org/drawingml/2006/main">
        <p:nvSpPr>
          <p:cNvPr id="39" name="growth-total-0"/>
          <p:cNvSpPr txBox="1"/>
          <p:nvPr/>
        </p:nvSpPr>
        <p:spPr>
          <a:xfrm>
            <a:off x="9525000" y="3133725"/>
            <a:ext cx="4514850" cy="361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3개월 예측 합계 1,492.9만 명</a:t>
            </a:r>
          </a:p>
        </p:txBody>
      </p:sp>
      <p:graphicFrame xmlns:a="http://schemas.openxmlformats.org/drawingml/2006/main">
        <p:nvGraphicFramePr>
          <p:cNvPr id="40" name="growth-chart-0"/>
          <p:cNvGraphicFramePr>
            <a:graphicFrameLocks noGrp="1"/>
          </p:cNvGraphicFramePr>
          <p:nvPr/>
        </p:nvGraphicFramePr>
        <p:xfrm>
          <a:off x="5505450" y="3543300"/>
          <a:ext cx="8534400" cy="1066800"/>
        </p:xfrm>
        <a:graphic>
          <a:graphicData uri="http://schemas.openxmlformats.org/drawingml/2006/chart">
            <c:chart xmlns:c="http://schemas.openxmlformats.org/drawingml/2006/chart" xmlns:r="http://schemas.openxmlformats.org/officeDocument/2006/relationships" r:id="rId4"/>
          </a:graphicData>
        </a:graphic>
      </p:graphicFrame>
      <p:sp xmlns:a="http://schemas.openxmlformats.org/drawingml/2006/main">
        <p:nvSpPr>
          <p:cNvPr id="41" name="growth-gap-0"/>
          <p:cNvSpPr txBox="1"/>
          <p:nvPr/>
        </p:nvSpPr>
        <p:spPr>
          <a:xfrm>
            <a:off x="5505450" y="4667250"/>
            <a:ext cx="8524875" cy="3714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F50045"/>
                </a:solidFill>
                <a:latin typeface="Noto Sans KR"/>
              </a:rPr>
              <a:t>서구의 예상 증가율은 전국 비교 평균보다 1.37%p 낮습니다.</a:t>
            </a:r>
          </a:p>
        </p:txBody>
      </p:sp>
      <p:sp xmlns:a="http://schemas.openxmlformats.org/drawingml/2006/main">
        <p:nvSpPr>
          <p:cNvPr id="42" name="growth-label-1"/>
          <p:cNvSpPr txBox="1"/>
          <p:nvPr/>
        </p:nvSpPr>
        <p:spPr>
          <a:xfrm>
            <a:off x="5505450" y="5438775"/>
            <a:ext cx="4095750" cy="41910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202124"/>
                </a:solidFill>
                <a:latin typeface="Noto Sans KR"/>
              </a:rPr>
              <a:t>관광소비액</a:t>
            </a:r>
          </a:p>
        </p:txBody>
      </p:sp>
      <p:sp xmlns:a="http://schemas.openxmlformats.org/drawingml/2006/main">
        <p:nvSpPr>
          <p:cNvPr id="43" name="growth-total-1"/>
          <p:cNvSpPr txBox="1"/>
          <p:nvPr/>
        </p:nvSpPr>
        <p:spPr>
          <a:xfrm>
            <a:off x="9525000" y="5476875"/>
            <a:ext cx="4514850" cy="361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3개월 예측 합계 2,463.7억 원</a:t>
            </a:r>
          </a:p>
        </p:txBody>
      </p:sp>
      <p:graphicFrame xmlns:a="http://schemas.openxmlformats.org/drawingml/2006/main">
        <p:nvGraphicFramePr>
          <p:cNvPr id="44" name="growth-chart-1"/>
          <p:cNvGraphicFramePr>
            <a:graphicFrameLocks noGrp="1"/>
          </p:cNvGraphicFramePr>
          <p:nvPr/>
        </p:nvGraphicFramePr>
        <p:xfrm>
          <a:off x="5505450" y="5886450"/>
          <a:ext cx="8534400" cy="1066800"/>
        </p:xfrm>
        <a:graphic>
          <a:graphicData uri="http://schemas.openxmlformats.org/drawingml/2006/chart">
            <c:chart xmlns:c="http://schemas.openxmlformats.org/drawingml/2006/chart" xmlns:r="http://schemas.openxmlformats.org/officeDocument/2006/relationships" r:id="rId5"/>
          </a:graphicData>
        </a:graphic>
      </p:graphicFrame>
      <p:sp xmlns:a="http://schemas.openxmlformats.org/drawingml/2006/main">
        <p:nvSpPr>
          <p:cNvPr id="45" name="growth-gap-1"/>
          <p:cNvSpPr txBox="1"/>
          <p:nvPr/>
        </p:nvSpPr>
        <p:spPr>
          <a:xfrm>
            <a:off x="5505450" y="7010400"/>
            <a:ext cx="8524875" cy="3714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F50045"/>
                </a:solidFill>
                <a:latin typeface="Noto Sans KR"/>
              </a:rPr>
              <a:t>서구의 예상 증가율은 전국 비교 평균보다 2.16%p 낮습니다.</a:t>
            </a:r>
          </a:p>
        </p:txBody>
      </p:sp>
      <p:sp xmlns:a="http://schemas.openxmlformats.org/drawingml/2006/main">
        <p:nvSpPr>
          <p:cNvPr id="46" name="purpose-note"/>
          <p:cNvSpPr txBox="1"/>
          <p:nvPr/>
        </p:nvSpPr>
        <p:spPr>
          <a:xfrm>
            <a:off x="5391150" y="7886700"/>
            <a:ext cx="8772525" cy="64770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62666C"/>
                </a:solidFill>
                <a:latin typeface="Noto Sans KR"/>
              </a:rPr>
              <a:t>비교 대상 249개 지역 · 한국관광 데이터랩 2026.06까지의 관측값과 저장 ML 모델</a:t>
            </a:r>
          </a:p>
          <a:p>
            <a:pPr eaLnBrk="0">
              <a:lnSpc>
                <a:spcPts val="1500"/>
              </a:lnSpc>
              <a:spcBef>
                <a:spcPts val="0"/>
              </a:spcBef>
              <a:spcAft>
                <a:spcPts val="0"/>
              </a:spcAft>
            </a:pPr>
            <a:r>
              <a:rPr sz="1200" b="0">
                <a:solidFill>
                  <a:srgbClr val="62666C"/>
                </a:solidFill>
                <a:latin typeface="Noto Sans KR"/>
              </a:rPr>
              <a:t>비교 평균 = 지역별 전년 동기 대비 증가율의 단순평균. 인구 보정 전 탐색 전망입니다.</a:t>
            </a:r>
          </a:p>
        </p:txBody>
      </p:sp>
      <p:sp xmlns:a="http://schemas.openxmlformats.org/drawingml/2006/main">
        <p:nvSpPr>
          <p:cNvPr id="48" name="editorial-kicker"/>
          <p:cNvSpPr txBox="1"/>
          <p:nvPr/>
        </p:nvSpPr>
        <p:spPr>
          <a:xfrm>
            <a:off x="5343525"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0. 개요</a:t>
            </a:r>
          </a:p>
        </p:txBody>
      </p:sp>
      <p:sp xmlns:a="http://schemas.openxmlformats.org/drawingml/2006/main">
        <p:nvSpPr>
          <p:cNvPr id="49"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03 / 17</a:t>
            </a:r>
          </a:p>
        </p:txBody>
      </p:sp>
    </p:spTree>
    <p:extLst>
      <p:ext uri="{BB962C8B-B14F-4D97-AF65-F5344CB8AC3E}">
        <p14:creationId xmlns:p14="http://schemas.microsoft.com/office/powerpoint/2010/main" val="1308887362"/>
      </p:ext>
    </p:extLst>
  </p:cSld>
</p:sld>
</file>

<file path=ppt/slides/slide4.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2600" b="1">
                <a:solidFill>
                  <a:srgbClr val="202124"/>
                </a:solidFill>
                <a:latin typeface="Century Gothic"/>
                <a:ea typeface="맑은 고딕"/>
              </a:rPr>
              <a:t>1.1 지역별 참고 사례</a:t>
            </a:r>
          </a:p>
        </p:txBody>
      </p:sp>
      <p:sp xmlns:a="http://schemas.openxmlformats.org/drawingml/2006/main">
        <p:nvSpPr>
          <p:cNvPr id="5" name="case-panel-0"/>
          <p:cNvSpPr/>
          <p:nvPr/>
        </p:nvSpPr>
        <p:spPr>
          <a:xfrm>
            <a:off x="1009650" y="2057400"/>
            <a:ext cx="4229100" cy="62388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case-number-0"/>
          <p:cNvSpPr txBox="1"/>
          <p:nvPr/>
        </p:nvSpPr>
        <p:spPr>
          <a:xfrm>
            <a:off x="1238250" y="223837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000" b="1">
                <a:solidFill>
                  <a:srgbClr val="36A69C"/>
                </a:solidFill>
                <a:latin typeface="Century Gothic"/>
                <a:ea typeface="맑은 고딕"/>
              </a:rPr>
              <a:t>01</a:t>
            </a:r>
          </a:p>
        </p:txBody>
      </p:sp>
      <p:sp xmlns:a="http://schemas.openxmlformats.org/drawingml/2006/main">
        <p:nvSpPr>
          <p:cNvPr id="7" name="case-badge-0"/>
          <p:cNvSpPr txBox="1"/>
          <p:nvPr/>
        </p:nvSpPr>
        <p:spPr>
          <a:xfrm>
            <a:off x="1952625" y="2247900"/>
            <a:ext cx="2362200" cy="419100"/>
          </a:xfrm>
          <a:prstGeom prst="roundRect">
            <a:avLst>
              <a:gd name="adj" fmla="val 40000"/>
            </a:avLst>
          </a:prstGeom>
          <a:solidFill>
            <a:srgbClr val="F50045"/>
          </a:solidFill>
          <a:ln>
            <a:noFill/>
          </a:ln>
        </p:spPr>
        <p:txBody>
          <a:bodyPr wrap="none" lIns="57150" rIns="57150" tIns="38100" bIns="38100" anchor="ctr">
            <a:noAutofit/>
          </a:bodyPr>
          <a:lstStyle/>
          <a:p>
            <a:pPr eaLnBrk="0" algn="ctr">
              <a:lnSpc>
                <a:spcPts val="2343"/>
              </a:lnSpc>
              <a:spcBef>
                <a:spcPts val="0"/>
              </a:spcBef>
              <a:spcAft>
                <a:spcPts val="0"/>
              </a:spcAft>
            </a:pPr>
            <a:r>
              <a:rPr sz="1700" b="1">
                <a:solidFill>
                  <a:srgbClr val="FFFFFF"/>
                </a:solidFill>
                <a:latin typeface="Century Gothic"/>
                <a:ea typeface="맑은 고딕"/>
              </a:rPr>
              <a:t>적용 사례</a:t>
            </a:r>
          </a:p>
        </p:txBody>
      </p:sp>
      <p:sp xmlns:a="http://schemas.openxmlformats.org/drawingml/2006/main">
        <p:nvSpPr>
          <p:cNvPr id="8" name="case-selected-tick-0"/>
          <p:cNvSpPr/>
          <p:nvPr/>
        </p:nvSpPr>
        <p:spPr>
          <a:xfrm>
            <a:off x="4486275" y="2286000"/>
            <a:ext cx="409575" cy="409575"/>
          </a:xfrm>
          <a:prstGeom prst="ellipse">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case-selected-mark-0"/>
          <p:cNvSpPr txBox="1"/>
          <p:nvPr/>
        </p:nvSpPr>
        <p:spPr>
          <a:xfrm>
            <a:off x="4486275" y="2276475"/>
            <a:ext cx="409575" cy="409575"/>
          </a:xfrm>
          <a:prstGeom prst="rect">
            <a:avLst/>
          </a:prstGeom>
          <a:noFill/>
        </p:spPr>
        <p:txBody>
          <a:bodyPr wrap="none" lIns="57150" rIns="57150" tIns="38100" bIns="38100" anchor="ctr">
            <a:noAutofit/>
          </a:bodyPr>
          <a:lstStyle/>
          <a:p>
            <a:pPr eaLnBrk="0" algn="ctr">
              <a:lnSpc>
                <a:spcPts val="2437"/>
              </a:lnSpc>
              <a:spcBef>
                <a:spcPts val="0"/>
              </a:spcBef>
              <a:spcAft>
                <a:spcPts val="0"/>
              </a:spcAft>
            </a:pPr>
            <a:r>
              <a:rPr sz="1950" b="1">
                <a:solidFill>
                  <a:srgbClr val="FFFFFF"/>
                </a:solidFill>
                <a:latin typeface="Noto Sans KR"/>
              </a:rPr>
              <a:t>✓</a:t>
            </a:r>
          </a:p>
        </p:txBody>
      </p:sp>
      <p:sp xmlns:a="http://schemas.openxmlformats.org/drawingml/2006/main">
        <p:nvSpPr>
          <p:cNvPr id="10" name="case-title-0"/>
          <p:cNvSpPr txBox="1"/>
          <p:nvPr/>
        </p:nvSpPr>
        <p:spPr>
          <a:xfrm>
            <a:off x="1238250" y="2886075"/>
            <a:ext cx="3771900" cy="1028700"/>
          </a:xfrm>
          <a:prstGeom prst="rect">
            <a:avLst/>
          </a:prstGeom>
          <a:noFill/>
        </p:spPr>
        <p:txBody>
          <a:bodyPr wrap="none" lIns="57150" rIns="57150" tIns="38100" bIns="38100" anchor="t">
            <a:noAutofit/>
          </a:bodyPr>
          <a:lstStyle/>
          <a:p>
            <a:pPr eaLnBrk="0">
              <a:lnSpc>
                <a:spcPts val="2125"/>
              </a:lnSpc>
              <a:spcBef>
                <a:spcPts val="0"/>
              </a:spcBef>
              <a:spcAft>
                <a:spcPts val="0"/>
              </a:spcAft>
            </a:pPr>
            <a:r>
              <a:rPr sz="1700" b="1">
                <a:solidFill>
                  <a:srgbClr val="202124"/>
                </a:solidFill>
                <a:latin typeface="Century Gothic"/>
                <a:ea typeface="맑은 고딕"/>
              </a:rPr>
              <a:t>야간관광 특화도시 10곳 · 도시별 야간</a:t>
            </a:r>
          </a:p>
          <a:p>
            <a:pPr eaLnBrk="0">
              <a:lnSpc>
                <a:spcPts val="2125"/>
              </a:lnSpc>
              <a:spcBef>
                <a:spcPts val="0"/>
              </a:spcBef>
              <a:spcAft>
                <a:spcPts val="0"/>
              </a:spcAft>
            </a:pPr>
            <a:r>
              <a:rPr sz="1700" b="1">
                <a:solidFill>
                  <a:srgbClr val="202124"/>
                </a:solidFill>
                <a:latin typeface="Century Gothic"/>
                <a:ea typeface="맑은 고딕"/>
              </a:rPr>
              <a:t>콘텐츠를 순회형 축제로 묶는 운영</a:t>
            </a:r>
          </a:p>
        </p:txBody>
      </p:sp>
      <p:sp xmlns:a="http://schemas.openxmlformats.org/drawingml/2006/main">
        <p:nvSpPr>
          <p:cNvPr id="11" name="case-body-0"/>
          <p:cNvSpPr txBox="1"/>
          <p:nvPr/>
        </p:nvSpPr>
        <p:spPr>
          <a:xfrm>
            <a:off x="1238250" y="4076700"/>
            <a:ext cx="3771900" cy="13620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Century Gothic"/>
                <a:ea typeface="맑은 고딕"/>
              </a:rPr>
              <a:t>10개 야간관광 특화도시의 대표 장소와</a:t>
            </a:r>
          </a:p>
          <a:p>
            <a:pPr eaLnBrk="0">
              <a:lnSpc>
                <a:spcPts val="1875"/>
              </a:lnSpc>
              <a:spcBef>
                <a:spcPts val="0"/>
              </a:spcBef>
              <a:spcAft>
                <a:spcPts val="0"/>
              </a:spcAft>
            </a:pPr>
            <a:r>
              <a:rPr sz="1500" b="0">
                <a:solidFill>
                  <a:srgbClr val="62666C"/>
                </a:solidFill>
                <a:latin typeface="Century Gothic"/>
                <a:ea typeface="맑은 고딕"/>
              </a:rPr>
              <a:t>시간대를 연결하고, 공연·체험·지역</a:t>
            </a:r>
          </a:p>
          <a:p>
            <a:pPr eaLnBrk="0">
              <a:lnSpc>
                <a:spcPts val="1875"/>
              </a:lnSpc>
              <a:spcBef>
                <a:spcPts val="0"/>
              </a:spcBef>
              <a:spcAft>
                <a:spcPts val="0"/>
              </a:spcAft>
            </a:pPr>
            <a:r>
              <a:rPr sz="1500" b="0">
                <a:solidFill>
                  <a:srgbClr val="62666C"/>
                </a:solidFill>
                <a:latin typeface="Century Gothic"/>
                <a:ea typeface="맑은 고딕"/>
              </a:rPr>
              <a:t>디저트·판매상품 등 도시별 콘텐츠를</a:t>
            </a:r>
          </a:p>
          <a:p>
            <a:pPr eaLnBrk="0">
              <a:lnSpc>
                <a:spcPts val="1875"/>
              </a:lnSpc>
              <a:spcBef>
                <a:spcPts val="0"/>
              </a:spcBef>
              <a:spcAft>
                <a:spcPts val="0"/>
              </a:spcAft>
            </a:pPr>
            <a:r>
              <a:rPr sz="1500" b="0">
                <a:solidFill>
                  <a:srgbClr val="62666C"/>
                </a:solidFill>
                <a:latin typeface="Century Gothic"/>
                <a:ea typeface="맑은 고딕"/>
              </a:rPr>
              <a:t>순회 일정으로 운영</a:t>
            </a:r>
          </a:p>
        </p:txBody>
      </p:sp>
      <p:pic xmlns:a="http://schemas.openxmlformats.org/drawingml/2006/main" xmlns:r="http://schemas.openxmlformats.org/officeDocument/2006/relationships">
        <p:nvPicPr>
          <p:cNvPr id="12" name="case-photo-0" descr="yeosu_night.jpg"/>
          <p:cNvPicPr>
            <a:picLocks noChangeAspect="1"/>
          </p:cNvPicPr>
          <p:nvPr/>
        </p:nvPicPr>
        <p:blipFill>
          <a:blip r:embed="rId4"/>
          <a:stretch>
            <a:fillRect/>
          </a:stretch>
        </p:blipFill>
        <p:spPr>
          <a:xfrm>
            <a:off x="1479595" y="5457825"/>
            <a:ext cx="3289208" cy="1714500"/>
          </a:xfrm>
          <a:prstGeom prst="rect">
            <a:avLst/>
          </a:prstGeom>
        </p:spPr>
      </p:pic>
      <p:sp xmlns:a="http://schemas.openxmlformats.org/drawingml/2006/main">
        <p:nvSpPr>
          <p:cNvPr id="13" name="case-image-caption-0"/>
          <p:cNvSpPr txBox="1"/>
          <p:nvPr/>
        </p:nvSpPr>
        <p:spPr>
          <a:xfrm>
            <a:off x="1238250" y="7353300"/>
            <a:ext cx="3771900" cy="55245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050" b="0" u="none">
                <a:solidFill>
                  <a:srgbClr val="62666C"/>
                </a:solidFill>
                <a:latin typeface="Century Gothic"/>
                <a:hlinkClick xmlns:r="http://schemas.openxmlformats.org/officeDocument/2006/relationships" r:id="rId5"/>
                <a:ea typeface="맑은 고딕"/>
              </a:rPr>
              <a:t>유사 사업 참고 · 전남 여수시 야경</a:t>
            </a:r>
          </a:p>
          <a:p>
            <a:pPr eaLnBrk="0">
              <a:lnSpc>
                <a:spcPts val="1500"/>
              </a:lnSpc>
              <a:spcBef>
                <a:spcPts val="0"/>
              </a:spcBef>
              <a:spcAft>
                <a:spcPts val="0"/>
              </a:spcAft>
            </a:pPr>
            <a:r>
              <a:rPr sz="1050" b="0" u="none">
                <a:solidFill>
                  <a:srgbClr val="62666C"/>
                </a:solidFill>
                <a:latin typeface="Century Gothic"/>
                <a:hlinkClick xmlns:r="http://schemas.openxmlformats.org/officeDocument/2006/relationships" r:id="rId5"/>
                <a:ea typeface="맑은 고딕"/>
              </a:rPr>
              <a:t>출처: 문화체육관광부 코리아넷 (2024)</a:t>
            </a:r>
          </a:p>
        </p:txBody>
      </p:sp>
      <p:sp xmlns:a="http://schemas.openxmlformats.org/drawingml/2006/main">
        <p:nvSpPr>
          <p:cNvPr id="14" name="case-source-0"/>
          <p:cNvSpPr txBox="1"/>
          <p:nvPr/>
        </p:nvSpPr>
        <p:spPr>
          <a:xfrm>
            <a:off x="1238250" y="8001000"/>
            <a:ext cx="3771900" cy="24765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1050" b="0" u="none">
                <a:solidFill>
                  <a:srgbClr val="62666C"/>
                </a:solidFill>
                <a:latin typeface="Century Gothic"/>
                <a:hlinkClick xmlns:r="http://schemas.openxmlformats.org/officeDocument/2006/relationships" r:id="rId6"/>
                <a:ea typeface="맑은 고딕"/>
              </a:rPr>
              <a:t>사업 원문 보기 ↗</a:t>
            </a:r>
          </a:p>
        </p:txBody>
      </p:sp>
      <p:sp xmlns:a="http://schemas.openxmlformats.org/drawingml/2006/main">
        <p:nvSpPr>
          <p:cNvPr id="15" name="case-panel-1"/>
          <p:cNvSpPr/>
          <p:nvPr/>
        </p:nvSpPr>
        <p:spPr>
          <a:xfrm>
            <a:off x="5505450" y="2057400"/>
            <a:ext cx="4229100" cy="62388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case-number-1"/>
          <p:cNvSpPr txBox="1"/>
          <p:nvPr/>
        </p:nvSpPr>
        <p:spPr>
          <a:xfrm>
            <a:off x="5734050" y="223837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000" b="1">
                <a:solidFill>
                  <a:srgbClr val="36A69C"/>
                </a:solidFill>
                <a:latin typeface="Century Gothic"/>
                <a:ea typeface="맑은 고딕"/>
              </a:rPr>
              <a:t>02</a:t>
            </a:r>
          </a:p>
        </p:txBody>
      </p:sp>
      <p:sp xmlns:a="http://schemas.openxmlformats.org/drawingml/2006/main">
        <p:nvSpPr>
          <p:cNvPr id="17" name="case-badge-1"/>
          <p:cNvSpPr txBox="1"/>
          <p:nvPr/>
        </p:nvSpPr>
        <p:spPr>
          <a:xfrm>
            <a:off x="6448425" y="2247900"/>
            <a:ext cx="2362200" cy="419100"/>
          </a:xfrm>
          <a:prstGeom prst="roundRect">
            <a:avLst>
              <a:gd name="adj" fmla="val 40000"/>
            </a:avLst>
          </a:prstGeom>
          <a:solidFill>
            <a:srgbClr val="FBE2E9"/>
          </a:solidFill>
          <a:ln>
            <a:noFill/>
          </a:ln>
        </p:spPr>
        <p:txBody>
          <a:bodyPr wrap="none" lIns="57150" rIns="57150" tIns="38100" bIns="38100" anchor="ctr">
            <a:noAutofit/>
          </a:bodyPr>
          <a:lstStyle/>
          <a:p>
            <a:pPr eaLnBrk="0" algn="ctr">
              <a:lnSpc>
                <a:spcPts val="2343"/>
              </a:lnSpc>
              <a:spcBef>
                <a:spcPts val="0"/>
              </a:spcBef>
              <a:spcAft>
                <a:spcPts val="0"/>
              </a:spcAft>
            </a:pPr>
            <a:r>
              <a:rPr sz="1700" b="1">
                <a:solidFill>
                  <a:srgbClr val="F50045"/>
                </a:solidFill>
                <a:latin typeface="Century Gothic"/>
                <a:ea typeface="맑은 고딕"/>
              </a:rPr>
              <a:t>후보 사례</a:t>
            </a:r>
          </a:p>
        </p:txBody>
      </p:sp>
      <p:sp xmlns:a="http://schemas.openxmlformats.org/drawingml/2006/main">
        <p:nvSpPr>
          <p:cNvPr id="18" name="case-title-1"/>
          <p:cNvSpPr txBox="1"/>
          <p:nvPr/>
        </p:nvSpPr>
        <p:spPr>
          <a:xfrm>
            <a:off x="5734050" y="2886075"/>
            <a:ext cx="3771900" cy="1028700"/>
          </a:xfrm>
          <a:prstGeom prst="rect">
            <a:avLst/>
          </a:prstGeom>
          <a:noFill/>
        </p:spPr>
        <p:txBody>
          <a:bodyPr wrap="none" lIns="57150" rIns="57150" tIns="38100" bIns="38100" anchor="t">
            <a:noAutofit/>
          </a:bodyPr>
          <a:lstStyle/>
          <a:p>
            <a:pPr eaLnBrk="0">
              <a:lnSpc>
                <a:spcPts val="2125"/>
              </a:lnSpc>
              <a:spcBef>
                <a:spcPts val="0"/>
              </a:spcBef>
              <a:spcAft>
                <a:spcPts val="0"/>
              </a:spcAft>
            </a:pPr>
            <a:r>
              <a:rPr sz="1700" b="1">
                <a:solidFill>
                  <a:srgbClr val="202124"/>
                </a:solidFill>
                <a:latin typeface="Century Gothic"/>
                <a:ea typeface="맑은 고딕"/>
              </a:rPr>
              <a:t>전라남도 강진군 · 반값여행 지역환급</a:t>
            </a:r>
          </a:p>
        </p:txBody>
      </p:sp>
      <p:sp xmlns:a="http://schemas.openxmlformats.org/drawingml/2006/main">
        <p:nvSpPr>
          <p:cNvPr id="19" name="case-body-1"/>
          <p:cNvSpPr txBox="1"/>
          <p:nvPr/>
        </p:nvSpPr>
        <p:spPr>
          <a:xfrm>
            <a:off x="5734050" y="4076700"/>
            <a:ext cx="3771900" cy="13620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Century Gothic"/>
                <a:ea typeface="맑은 고딕"/>
              </a:rPr>
              <a:t>여행자가 지역에서 지출한 비용의 일부를</a:t>
            </a:r>
          </a:p>
          <a:p>
            <a:pPr eaLnBrk="0">
              <a:lnSpc>
                <a:spcPts val="1875"/>
              </a:lnSpc>
              <a:spcBef>
                <a:spcPts val="0"/>
              </a:spcBef>
              <a:spcAft>
                <a:spcPts val="0"/>
              </a:spcAft>
            </a:pPr>
            <a:r>
              <a:rPr sz="1500" b="0">
                <a:solidFill>
                  <a:srgbClr val="62666C"/>
                </a:solidFill>
                <a:latin typeface="Century Gothic"/>
                <a:ea typeface="맑은 고딕"/>
              </a:rPr>
              <a:t>지역상품권으로 돌려받게 하여 혜택이 다시</a:t>
            </a:r>
          </a:p>
          <a:p>
            <a:pPr eaLnBrk="0">
              <a:lnSpc>
                <a:spcPts val="1875"/>
              </a:lnSpc>
              <a:spcBef>
                <a:spcPts val="0"/>
              </a:spcBef>
              <a:spcAft>
                <a:spcPts val="0"/>
              </a:spcAft>
            </a:pPr>
            <a:r>
              <a:rPr sz="1500" b="0">
                <a:solidFill>
                  <a:srgbClr val="62666C"/>
                </a:solidFill>
                <a:latin typeface="Century Gothic"/>
                <a:ea typeface="맑은 고딕"/>
              </a:rPr>
              <a:t>지역 상점에서 사용되도록 설계</a:t>
            </a:r>
          </a:p>
        </p:txBody>
      </p:sp>
      <p:pic xmlns:a="http://schemas.openxmlformats.org/drawingml/2006/main" xmlns:r="http://schemas.openxmlformats.org/officeDocument/2006/relationships">
        <p:nvPicPr>
          <p:cNvPr id="20" name="case-photo-1" descr="gangjin_official.jpg"/>
          <p:cNvPicPr>
            <a:picLocks noChangeAspect="1"/>
          </p:cNvPicPr>
          <p:nvPr/>
        </p:nvPicPr>
        <p:blipFill>
          <a:blip r:embed="rId7"/>
          <a:stretch>
            <a:fillRect/>
          </a:stretch>
        </p:blipFill>
        <p:spPr>
          <a:xfrm>
            <a:off x="6014436" y="5457825"/>
            <a:ext cx="3211126" cy="1714500"/>
          </a:xfrm>
          <a:prstGeom prst="rect">
            <a:avLst/>
          </a:prstGeom>
        </p:spPr>
      </p:pic>
      <p:sp xmlns:a="http://schemas.openxmlformats.org/drawingml/2006/main">
        <p:nvSpPr>
          <p:cNvPr id="21" name="case-image-caption-1"/>
          <p:cNvSpPr txBox="1"/>
          <p:nvPr/>
        </p:nvSpPr>
        <p:spPr>
          <a:xfrm>
            <a:off x="5734050" y="7353300"/>
            <a:ext cx="3771900" cy="55245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050" b="0" u="none">
                <a:solidFill>
                  <a:srgbClr val="62666C"/>
                </a:solidFill>
                <a:latin typeface="Century Gothic"/>
                <a:hlinkClick xmlns:r="http://schemas.openxmlformats.org/officeDocument/2006/relationships" r:id="rId8"/>
                <a:ea typeface="맑은 고딕"/>
              </a:rPr>
              <a:t>강진군 · 반값여행 공식 홍보물</a:t>
            </a:r>
          </a:p>
          <a:p>
            <a:pPr eaLnBrk="0">
              <a:lnSpc>
                <a:spcPts val="1500"/>
              </a:lnSpc>
              <a:spcBef>
                <a:spcPts val="0"/>
              </a:spcBef>
              <a:spcAft>
                <a:spcPts val="0"/>
              </a:spcAft>
            </a:pPr>
            <a:r>
              <a:rPr sz="1050" b="0" u="none">
                <a:solidFill>
                  <a:srgbClr val="62666C"/>
                </a:solidFill>
                <a:latin typeface="Century Gothic"/>
                <a:hlinkClick xmlns:r="http://schemas.openxmlformats.org/officeDocument/2006/relationships" r:id="rId8"/>
                <a:ea typeface="맑은 고딕"/>
              </a:rPr>
              <a:t>출처: 강진 반값여행 공식 홈페이지</a:t>
            </a:r>
          </a:p>
        </p:txBody>
      </p:sp>
      <p:sp xmlns:a="http://schemas.openxmlformats.org/drawingml/2006/main">
        <p:nvSpPr>
          <p:cNvPr id="22" name="case-source-1"/>
          <p:cNvSpPr txBox="1"/>
          <p:nvPr/>
        </p:nvSpPr>
        <p:spPr>
          <a:xfrm>
            <a:off x="5734050" y="8001000"/>
            <a:ext cx="3771900" cy="24765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1050" b="0" u="none">
                <a:solidFill>
                  <a:srgbClr val="62666C"/>
                </a:solidFill>
                <a:latin typeface="Century Gothic"/>
                <a:hlinkClick xmlns:r="http://schemas.openxmlformats.org/officeDocument/2006/relationships" r:id="rId9"/>
                <a:ea typeface="맑은 고딕"/>
              </a:rPr>
              <a:t>사업 원문 보기 ↗</a:t>
            </a:r>
          </a:p>
        </p:txBody>
      </p:sp>
      <p:sp xmlns:a="http://schemas.openxmlformats.org/drawingml/2006/main">
        <p:nvSpPr>
          <p:cNvPr id="23" name="case-panel-2"/>
          <p:cNvSpPr/>
          <p:nvPr/>
        </p:nvSpPr>
        <p:spPr>
          <a:xfrm>
            <a:off x="10001250" y="2057400"/>
            <a:ext cx="4229100" cy="62388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case-number-2"/>
          <p:cNvSpPr txBox="1"/>
          <p:nvPr/>
        </p:nvSpPr>
        <p:spPr>
          <a:xfrm>
            <a:off x="10229850" y="223837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000" b="1">
                <a:solidFill>
                  <a:srgbClr val="36A69C"/>
                </a:solidFill>
                <a:latin typeface="Century Gothic"/>
                <a:ea typeface="맑은 고딕"/>
              </a:rPr>
              <a:t>03</a:t>
            </a:r>
          </a:p>
        </p:txBody>
      </p:sp>
      <p:sp xmlns:a="http://schemas.openxmlformats.org/drawingml/2006/main">
        <p:nvSpPr>
          <p:cNvPr id="25" name="case-badge-2"/>
          <p:cNvSpPr txBox="1"/>
          <p:nvPr/>
        </p:nvSpPr>
        <p:spPr>
          <a:xfrm>
            <a:off x="10944225" y="2247900"/>
            <a:ext cx="2362200" cy="419100"/>
          </a:xfrm>
          <a:prstGeom prst="roundRect">
            <a:avLst>
              <a:gd name="adj" fmla="val 40000"/>
            </a:avLst>
          </a:prstGeom>
          <a:solidFill>
            <a:srgbClr val="FBE2E9"/>
          </a:solidFill>
          <a:ln>
            <a:noFill/>
          </a:ln>
        </p:spPr>
        <p:txBody>
          <a:bodyPr wrap="none" lIns="57150" rIns="57150" tIns="38100" bIns="38100" anchor="ctr">
            <a:noAutofit/>
          </a:bodyPr>
          <a:lstStyle/>
          <a:p>
            <a:pPr eaLnBrk="0" algn="ctr">
              <a:lnSpc>
                <a:spcPts val="2343"/>
              </a:lnSpc>
              <a:spcBef>
                <a:spcPts val="0"/>
              </a:spcBef>
              <a:spcAft>
                <a:spcPts val="0"/>
              </a:spcAft>
            </a:pPr>
            <a:r>
              <a:rPr sz="1700" b="1">
                <a:solidFill>
                  <a:srgbClr val="F50045"/>
                </a:solidFill>
                <a:latin typeface="Century Gothic"/>
                <a:ea typeface="맑은 고딕"/>
              </a:rPr>
              <a:t>후보 사례</a:t>
            </a:r>
          </a:p>
        </p:txBody>
      </p:sp>
      <p:sp xmlns:a="http://schemas.openxmlformats.org/drawingml/2006/main">
        <p:nvSpPr>
          <p:cNvPr id="26" name="case-title-2"/>
          <p:cNvSpPr txBox="1"/>
          <p:nvPr/>
        </p:nvSpPr>
        <p:spPr>
          <a:xfrm>
            <a:off x="10229850" y="2886075"/>
            <a:ext cx="3771900" cy="1028700"/>
          </a:xfrm>
          <a:prstGeom prst="rect">
            <a:avLst/>
          </a:prstGeom>
          <a:noFill/>
        </p:spPr>
        <p:txBody>
          <a:bodyPr wrap="none" lIns="57150" rIns="57150" tIns="38100" bIns="38100" anchor="t">
            <a:noAutofit/>
          </a:bodyPr>
          <a:lstStyle/>
          <a:p>
            <a:pPr eaLnBrk="0">
              <a:lnSpc>
                <a:spcPts val="2125"/>
              </a:lnSpc>
              <a:spcBef>
                <a:spcPts val="0"/>
              </a:spcBef>
              <a:spcAft>
                <a:spcPts val="0"/>
              </a:spcAft>
            </a:pPr>
            <a:r>
              <a:rPr sz="1700" b="1">
                <a:solidFill>
                  <a:srgbClr val="202124"/>
                </a:solidFill>
                <a:latin typeface="Century Gothic"/>
                <a:ea typeface="맑은 고딕"/>
              </a:rPr>
              <a:t>경상북도 안동시 · 2025 안동탈춤축제</a:t>
            </a:r>
          </a:p>
          <a:p>
            <a:pPr eaLnBrk="0">
              <a:lnSpc>
                <a:spcPts val="2125"/>
              </a:lnSpc>
              <a:spcBef>
                <a:spcPts val="0"/>
              </a:spcBef>
              <a:spcAft>
                <a:spcPts val="0"/>
              </a:spcAft>
            </a:pPr>
            <a:r>
              <a:rPr sz="1700" b="1">
                <a:solidFill>
                  <a:srgbClr val="202124"/>
                </a:solidFill>
                <a:latin typeface="Century Gothic"/>
                <a:ea typeface="맑은 고딕"/>
              </a:rPr>
              <a:t>10일 집중 운영</a:t>
            </a:r>
          </a:p>
        </p:txBody>
      </p:sp>
      <p:sp xmlns:a="http://schemas.openxmlformats.org/drawingml/2006/main">
        <p:nvSpPr>
          <p:cNvPr id="27" name="case-body-2"/>
          <p:cNvSpPr txBox="1"/>
          <p:nvPr/>
        </p:nvSpPr>
        <p:spPr>
          <a:xfrm>
            <a:off x="10229850" y="4076700"/>
            <a:ext cx="3771900" cy="136207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500" b="0">
                <a:solidFill>
                  <a:srgbClr val="62666C"/>
                </a:solidFill>
                <a:latin typeface="Century Gothic"/>
                <a:ea typeface="맑은 고딕"/>
              </a:rPr>
              <a:t>2025년 10일 동안 탈춤과 지역문화 중심 축제를</a:t>
            </a:r>
          </a:p>
          <a:p>
            <a:pPr eaLnBrk="0">
              <a:lnSpc>
                <a:spcPts val="1781"/>
              </a:lnSpc>
              <a:spcBef>
                <a:spcPts val="0"/>
              </a:spcBef>
              <a:spcAft>
                <a:spcPts val="0"/>
              </a:spcAft>
            </a:pPr>
            <a:r>
              <a:rPr sz="1500" b="0">
                <a:solidFill>
                  <a:srgbClr val="62666C"/>
                </a:solidFill>
                <a:latin typeface="Century Gothic"/>
                <a:ea typeface="맑은 고딕"/>
              </a:rPr>
              <a:t>집중 운영했다. 제공된 관광데이터랩</a:t>
            </a:r>
          </a:p>
          <a:p>
            <a:pPr eaLnBrk="0">
              <a:lnSpc>
                <a:spcPts val="1781"/>
              </a:lnSpc>
              <a:spcBef>
                <a:spcPts val="0"/>
              </a:spcBef>
              <a:spcAft>
                <a:spcPts val="0"/>
              </a:spcAft>
            </a:pPr>
            <a:r>
              <a:rPr sz="1500" b="0">
                <a:solidFill>
                  <a:srgbClr val="62666C"/>
                </a:solidFill>
                <a:latin typeface="Century Gothic"/>
                <a:ea typeface="맑은 고딕"/>
              </a:rPr>
              <a:t>CSV에서는 세부 예약·정원·상권 정산 방식은</a:t>
            </a:r>
          </a:p>
          <a:p>
            <a:pPr eaLnBrk="0">
              <a:lnSpc>
                <a:spcPts val="1781"/>
              </a:lnSpc>
              <a:spcBef>
                <a:spcPts val="0"/>
              </a:spcBef>
              <a:spcAft>
                <a:spcPts val="0"/>
              </a:spcAft>
            </a:pPr>
            <a:r>
              <a:rPr sz="1500" b="0">
                <a:solidFill>
                  <a:srgbClr val="62666C"/>
                </a:solidFill>
                <a:latin typeface="Century Gothic"/>
                <a:ea typeface="맑은 고딕"/>
              </a:rPr>
              <a:t>확인되지 않으므로, 확인 가능한 실행 사실은</a:t>
            </a:r>
          </a:p>
          <a:p>
            <a:pPr eaLnBrk="0">
              <a:lnSpc>
                <a:spcPts val="1781"/>
              </a:lnSpc>
              <a:spcBef>
                <a:spcPts val="0"/>
              </a:spcBef>
              <a:spcAft>
                <a:spcPts val="0"/>
              </a:spcAft>
            </a:pPr>
            <a:r>
              <a:rPr sz="1500" b="0">
                <a:solidFill>
                  <a:srgbClr val="62666C"/>
                </a:solidFill>
                <a:latin typeface="Century Gothic"/>
                <a:ea typeface="맑은 고딕"/>
              </a:rPr>
              <a:t>축제명·개최일수·관측구역 방문지표까지다.</a:t>
            </a:r>
          </a:p>
        </p:txBody>
      </p:sp>
      <p:pic xmlns:a="http://schemas.openxmlformats.org/drawingml/2006/main" xmlns:r="http://schemas.openxmlformats.org/officeDocument/2006/relationships">
        <p:nvPicPr>
          <p:cNvPr id="28" name="case-photo-2" descr="incheon_official.jpg"/>
          <p:cNvPicPr>
            <a:picLocks noChangeAspect="1"/>
          </p:cNvPicPr>
          <p:nvPr/>
        </p:nvPicPr>
        <p:blipFill>
          <a:blip r:embed="rId10"/>
          <a:stretch>
            <a:fillRect/>
          </a:stretch>
        </p:blipFill>
        <p:spPr>
          <a:xfrm>
            <a:off x="10590240" y="5457825"/>
            <a:ext cx="3051119" cy="1714500"/>
          </a:xfrm>
          <a:prstGeom prst="rect">
            <a:avLst/>
          </a:prstGeom>
        </p:spPr>
      </p:pic>
      <p:sp xmlns:a="http://schemas.openxmlformats.org/drawingml/2006/main">
        <p:nvSpPr>
          <p:cNvPr id="29" name="case-image-caption-2"/>
          <p:cNvSpPr txBox="1"/>
          <p:nvPr/>
        </p:nvSpPr>
        <p:spPr>
          <a:xfrm>
            <a:off x="10229850" y="7353300"/>
            <a:ext cx="3771900" cy="552450"/>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050" b="0" u="none">
                <a:solidFill>
                  <a:srgbClr val="62666C"/>
                </a:solidFill>
                <a:latin typeface="Century Gothic"/>
                <a:hlinkClick xmlns:r="http://schemas.openxmlformats.org/officeDocument/2006/relationships" r:id="rId11"/>
                <a:ea typeface="맑은 고딕"/>
              </a:rPr>
              <a:t>관광 참고 이미지 · 인천 섬 · 로컬체험 여행 소개 사진</a:t>
            </a:r>
          </a:p>
          <a:p>
            <a:pPr eaLnBrk="0">
              <a:lnSpc>
                <a:spcPts val="1406"/>
              </a:lnSpc>
              <a:spcBef>
                <a:spcPts val="0"/>
              </a:spcBef>
              <a:spcAft>
                <a:spcPts val="0"/>
              </a:spcAft>
            </a:pPr>
            <a:r>
              <a:rPr sz="1050" b="0" u="none">
                <a:solidFill>
                  <a:srgbClr val="62666C"/>
                </a:solidFill>
                <a:latin typeface="Century Gothic"/>
                <a:hlinkClick xmlns:r="http://schemas.openxmlformats.org/officeDocument/2006/relationships" r:id="rId11"/>
                <a:ea typeface="맑은 고딕"/>
              </a:rPr>
              <a:t>출처: 인천광역시 섬포털</a:t>
            </a:r>
          </a:p>
        </p:txBody>
      </p:sp>
      <p:sp xmlns:a="http://schemas.openxmlformats.org/drawingml/2006/main">
        <p:nvSpPr>
          <p:cNvPr id="30" name="case-source-2"/>
          <p:cNvSpPr txBox="1"/>
          <p:nvPr/>
        </p:nvSpPr>
        <p:spPr>
          <a:xfrm>
            <a:off x="10229850" y="8001000"/>
            <a:ext cx="3771900" cy="24765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1050" b="0" u="none">
                <a:solidFill>
                  <a:srgbClr val="62666C"/>
                </a:solidFill>
                <a:latin typeface="Century Gothic"/>
                <a:hlinkClick xmlns:r="http://schemas.openxmlformats.org/officeDocument/2006/relationships" r:id="rId12"/>
                <a:ea typeface="맑은 고딕"/>
              </a:rPr>
              <a:t>사업 원문 보기 ↗</a:t>
            </a:r>
          </a:p>
        </p:txBody>
      </p:sp>
      <p:sp xmlns:a="http://schemas.openxmlformats.org/drawingml/2006/main">
        <p:nvSpPr>
          <p:cNvPr id="3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000" b="1">
                <a:solidFill>
                  <a:srgbClr val="F50045"/>
                </a:solidFill>
                <a:latin typeface="Century Gothic"/>
                <a:ea typeface="맑은 고딕"/>
              </a:rPr>
              <a:t>1. 지역별 사례</a:t>
            </a:r>
          </a:p>
        </p:txBody>
      </p:sp>
      <p:sp xmlns:a="http://schemas.openxmlformats.org/drawingml/2006/main">
        <p:nvSpPr>
          <p:cNvPr id="33"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04 / 17</a:t>
            </a:r>
          </a:p>
        </p:txBody>
      </p:sp>
    </p:spTree>
    <p:extLst>
      <p:ext uri="{BB962C8B-B14F-4D97-AF65-F5344CB8AC3E}">
        <p14:creationId xmlns:p14="http://schemas.microsoft.com/office/powerpoint/2010/main" val="930694367"/>
      </p:ext>
    </p:extLst>
  </p:cSld>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18" name="result-evidence-card"/>
          <p:cNvSpPr/>
          <p:nvPr/>
        </p:nvSpPr>
        <p:spPr>
          <a:xfrm>
            <a:off x="6905625" y="2838450"/>
            <a:ext cx="7524750" cy="43624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1.2 참고 사례 실적</a:t>
            </a:r>
          </a:p>
        </p:txBody>
      </p:sp>
      <p:sp>
        <p:nvSpPr>
          <p:cNvPr id="4" name="result-title"/>
          <p:cNvSpPr txBox="1"/>
          <p:nvPr/>
        </p:nvSpPr>
        <p:spPr>
          <a:xfrm>
            <a:off x="1009650" y="1543050"/>
            <a:ext cx="13220700" cy="552450"/>
          </a:xfrm>
          <a:prstGeom prst="rect">
            <a:avLst/>
          </a:prstGeom>
          <a:noFill/>
        </p:spPr>
        <p:txBody>
          <a:bodyPr wrap="none" lIns="57150" rIns="57150" tIns="38100" bIns="38100" anchor="ctr">
            <a:noAutofit/>
          </a:bodyPr>
          <a:lstStyle/>
          <a:p>
            <a:pPr eaLnBrk="0" algn="ctr">
              <a:lnSpc>
                <a:spcPts val="2812"/>
              </a:lnSpc>
              <a:spcBef>
                <a:spcPts val="0"/>
              </a:spcBef>
              <a:spcAft>
                <a:spcPts val="0"/>
              </a:spcAft>
            </a:pPr>
            <a:r>
              <a:rPr sz="2250" b="1">
                <a:solidFill>
                  <a:srgbClr val="F50045"/>
                </a:solidFill>
                <a:latin typeface="Noto Sans KR"/>
              </a:rPr>
              <a:t>야간관광 특화도시 10곳 · 도시별 야간 콘텐츠를 순회형 축제로 묶는 운영</a:t>
            </a:r>
          </a:p>
        </p:txBody>
      </p:sp>
      <p:sp>
        <p:nvSpPr>
          <p:cNvPr id="5" name="result-scope"/>
          <p:cNvSpPr txBox="1"/>
          <p:nvPr/>
        </p:nvSpPr>
        <p:spPr>
          <a:xfrm>
            <a:off x="1009650" y="215265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공식 자료에서 확인한 운영 사례</a:t>
            </a:r>
          </a:p>
        </p:txBody>
      </p:sp>
      <p:sp>
        <p:nvSpPr>
          <p:cNvPr id="6" name="result-photo-panel"/>
          <p:cNvSpPr/>
          <p:nvPr/>
        </p:nvSpPr>
        <p:spPr>
          <a:xfrm>
            <a:off x="1009650" y="3028950"/>
            <a:ext cx="5581650" cy="33718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result-photo" descr="yeosu_night.jpg"/>
          <p:cNvPicPr>
            <a:picLocks noChangeAspect="1"/>
          </p:cNvPicPr>
          <p:nvPr/>
        </p:nvPicPr>
        <p:blipFill>
          <a:blip r:embed="rId3"/>
          <a:stretch>
            <a:fillRect/>
          </a:stretch>
        </p:blipFill>
        <p:spPr>
          <a:xfrm>
            <a:off x="1009650" y="3260157"/>
            <a:ext cx="5581650" cy="2909435"/>
          </a:xfrm>
          <a:prstGeom prst="rect">
            <a:avLst/>
          </a:prstGeom>
        </p:spPr>
      </p:pic>
      <p:sp>
        <p:nvSpPr>
          <p:cNvPr id="9" name="result-operation-label"/>
          <p:cNvSpPr txBox="1"/>
          <p:nvPr/>
        </p:nvSpPr>
        <p:spPr>
          <a:xfrm>
            <a:off x="7172325" y="3076575"/>
            <a:ext cx="7058025" cy="466725"/>
          </a:xfrm>
          <a:prstGeom prst="rect">
            <a:avLst/>
          </a:prstGeom>
          <a:noFill/>
        </p:spPr>
        <p:txBody>
          <a:bodyPr wrap="none" lIns="57150" rIns="57150" tIns="38100" bIns="38100" anchor="t">
            <a:noAutofit/>
          </a:bodyPr>
          <a:lstStyle/>
          <a:p>
            <a:pPr eaLnBrk="0">
              <a:lnSpc>
                <a:spcPts val="2812"/>
              </a:lnSpc>
              <a:spcBef>
                <a:spcPts val="0"/>
              </a:spcBef>
              <a:spcAft>
                <a:spcPts val="0"/>
              </a:spcAft>
            </a:pPr>
            <a:r>
              <a:rPr sz="2250" b="1">
                <a:solidFill>
                  <a:srgbClr val="F50045"/>
                </a:solidFill>
                <a:latin typeface="Noto Sans KR"/>
              </a:rPr>
              <a:t>어떻게 운영했나</a:t>
            </a:r>
          </a:p>
        </p:txBody>
      </p:sp>
      <p:sp>
        <p:nvSpPr>
          <p:cNvPr id="10" name="result-operation"/>
          <p:cNvSpPr txBox="1"/>
          <p:nvPr/>
        </p:nvSpPr>
        <p:spPr>
          <a:xfrm>
            <a:off x="7172325" y="3743325"/>
            <a:ext cx="7058025" cy="1790700"/>
          </a:xfrm>
          <a:prstGeom prst="rect">
            <a:avLst/>
          </a:prstGeom>
          <a:noFill/>
        </p:spPr>
        <p:txBody>
          <a:bodyPr wrap="none" lIns="57150" rIns="57150" tIns="38100" bIns="38100" anchor="t">
            <a:noAutofit/>
          </a:bodyPr>
          <a:lstStyle/>
          <a:p>
            <a:pPr eaLnBrk="0">
              <a:lnSpc>
                <a:spcPts val="2812"/>
              </a:lnSpc>
              <a:spcBef>
                <a:spcPts val="0"/>
              </a:spcBef>
              <a:spcAft>
                <a:spcPts val="0"/>
              </a:spcAft>
            </a:pPr>
            <a:r>
              <a:rPr sz="2250" b="0">
                <a:solidFill>
                  <a:srgbClr val="62666C"/>
                </a:solidFill>
                <a:latin typeface="Noto Sans KR"/>
              </a:rPr>
              <a:t>10개 야간관광 특화도시의 대표 장소와 시간대를</a:t>
            </a:r>
          </a:p>
          <a:p>
            <a:pPr eaLnBrk="0">
              <a:lnSpc>
                <a:spcPts val="2812"/>
              </a:lnSpc>
              <a:spcBef>
                <a:spcPts val="0"/>
              </a:spcBef>
              <a:spcAft>
                <a:spcPts val="0"/>
              </a:spcAft>
            </a:pPr>
            <a:r>
              <a:rPr sz="2250" b="0">
                <a:solidFill>
                  <a:srgbClr val="62666C"/>
                </a:solidFill>
                <a:latin typeface="Noto Sans KR"/>
              </a:rPr>
              <a:t>연결하고, 공연·체험·지역 디저트·판매상품 등 도시별</a:t>
            </a:r>
          </a:p>
          <a:p>
            <a:pPr eaLnBrk="0">
              <a:lnSpc>
                <a:spcPts val="2812"/>
              </a:lnSpc>
              <a:spcBef>
                <a:spcPts val="0"/>
              </a:spcBef>
              <a:spcAft>
                <a:spcPts val="0"/>
              </a:spcAft>
            </a:pPr>
            <a:r>
              <a:rPr sz="2250" b="0">
                <a:solidFill>
                  <a:srgbClr val="62666C"/>
                </a:solidFill>
                <a:latin typeface="Noto Sans KR"/>
              </a:rPr>
              <a:t>콘텐츠를 순회 일정으로 운영</a:t>
            </a:r>
          </a:p>
        </p:txBody>
      </p:sp>
      <p:sp>
        <p:nvSpPr>
          <p:cNvPr id="11" name="result-link-band"/>
          <p:cNvSpPr/>
          <p:nvPr/>
        </p:nvSpPr>
        <p:spPr>
          <a:xfrm>
            <a:off x="7172325" y="5715000"/>
            <a:ext cx="7058025" cy="990600"/>
          </a:xfrm>
          <a:prstGeom prst="rect">
            <a:avLst/>
          </a:prstGeom>
          <a:solidFill>
            <a:srgbClr val="FF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sult-use"/>
          <p:cNvSpPr txBox="1"/>
          <p:nvPr/>
        </p:nvSpPr>
        <p:spPr>
          <a:xfrm>
            <a:off x="7381875" y="5848350"/>
            <a:ext cx="6619875" cy="742950"/>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F50045"/>
                </a:solidFill>
                <a:latin typeface="Noto Sans KR"/>
              </a:rPr>
              <a:t>이 운영 방식을 우리 지역의</a:t>
            </a:r>
          </a:p>
          <a:p>
            <a:pPr eaLnBrk="0">
              <a:lnSpc>
                <a:spcPts val="2625"/>
              </a:lnSpc>
              <a:spcBef>
                <a:spcPts val="0"/>
              </a:spcBef>
              <a:spcAft>
                <a:spcPts val="0"/>
              </a:spcAft>
            </a:pPr>
            <a:r>
              <a:rPr sz="2100" b="1">
                <a:solidFill>
                  <a:srgbClr val="F50045"/>
                </a:solidFill>
                <a:latin typeface="Noto Sans KR"/>
              </a:rPr>
              <a:t>대상·참여처·일정에 맞춰 적용</a:t>
            </a:r>
          </a:p>
        </p:txBody>
      </p:sp>
      <p:sp>
        <p:nvSpPr>
          <p:cNvPr id="13" name="result-action"/>
          <p:cNvSpPr txBox="1"/>
          <p:nvPr/>
        </p:nvSpPr>
        <p:spPr>
          <a:xfrm>
            <a:off x="1009650" y="7305675"/>
            <a:ext cx="13220700" cy="409575"/>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F50045"/>
                </a:solidFill>
                <a:latin typeface="Noto Sans KR"/>
              </a:rPr>
              <a:t>사례의 운영 내용 → 지역 조건에 맞춘 실행 계획</a:t>
            </a:r>
          </a:p>
        </p:txBody>
      </p:sp>
      <p:sp>
        <p:nvSpPr>
          <p:cNvPr id="14" name="result-interpretation"/>
          <p:cNvSpPr txBox="1"/>
          <p:nvPr/>
        </p:nvSpPr>
        <p:spPr>
          <a:xfrm>
            <a:off x="1009650" y="7800975"/>
            <a:ext cx="13220700" cy="3429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자료 구분: 운영 사례. 수치 목표와 견적은 뒤의 산출 근거에서 제시합니다.</a:t>
            </a:r>
          </a:p>
        </p:txBody>
      </p:sp>
      <p:sp>
        <p:nvSpPr>
          <p:cNvPr id="16"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1. 지역별 사례</a:t>
            </a:r>
          </a:p>
        </p:txBody>
      </p:sp>
      <p:sp>
        <p:nvSpPr>
          <p:cNvPr id="17"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05 / 17</a:t>
            </a:r>
          </a:p>
        </p:txBody>
      </p:sp>
      <p:sp>
        <p:nvSpPr>
          <p:cNvPr id="19" name="result-photo-source-bg"/>
          <p:cNvSpPr/>
          <p:nvPr/>
        </p:nvSpPr>
        <p:spPr>
          <a:xfrm>
            <a:off x="1123950" y="5483792"/>
            <a:ext cx="5353050" cy="571500"/>
          </a:xfrm>
          <a:prstGeom prst="rect">
            <a:avLst/>
          </a:prstGeom>
          <a:solidFill>
            <a:srgbClr val="0F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sult-photo-source">
            <a:hlinkClick r:id="rId4"/>
          </p:cNvPr>
          <p:cNvSpPr txBox="1"/>
          <p:nvPr/>
        </p:nvSpPr>
        <p:spPr>
          <a:xfrm>
            <a:off x="1238250" y="5521892"/>
            <a:ext cx="5124450" cy="495300"/>
          </a:xfrm>
          <a:prstGeom prst="rect">
            <a:avLst/>
          </a:prstGeom>
          <a:noFill/>
        </p:spPr>
        <p:txBody>
          <a:bodyPr wrap="none" lIns="57150" rIns="57150" tIns="38100" bIns="38100" anchor="ctr">
            <a:noAutofit/>
          </a:bodyPr>
          <a:lstStyle/>
          <a:p>
            <a:pPr eaLnBrk="0" algn="ctr">
              <a:lnSpc>
                <a:spcPts val="1593"/>
              </a:lnSpc>
              <a:spcBef>
                <a:spcPts val="0"/>
              </a:spcBef>
              <a:spcAft>
                <a:spcPts val="0"/>
              </a:spcAft>
            </a:pPr>
            <a:r>
              <a:rPr sz="1275" b="0">
                <a:solidFill>
                  <a:srgbClr val="FFFFFF"/>
                </a:solidFill>
                <a:latin typeface="Noto Sans KR"/>
              </a:rPr>
              <a:t>유사 사업 참고 · 전남 여수시 야경</a:t>
            </a:r>
          </a:p>
          <a:p>
            <a:pPr eaLnBrk="0" algn="ctr">
              <a:lnSpc>
                <a:spcPts val="1593"/>
              </a:lnSpc>
              <a:spcBef>
                <a:spcPts val="0"/>
              </a:spcBef>
              <a:spcAft>
                <a:spcPts val="0"/>
              </a:spcAft>
            </a:pPr>
            <a:r>
              <a:rPr sz="1275" b="0">
                <a:solidFill>
                  <a:srgbClr val="FFFFFF"/>
                </a:solidFill>
                <a:latin typeface="Noto Sans KR"/>
              </a:rPr>
              <a:t>출처: 문화체육관광부 코리아넷 (2024)</a:t>
            </a:r>
          </a:p>
        </p:txBody>
      </p:sp>
    </p:spTree>
  </p:cSld>
  <p:clrMapOvr>
    <a:masterClrMapping/>
  </p:clrMapOvr>
</p:sld>
</file>

<file path=ppt/slides/slide6.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2.1 사업 목표</a:t>
            </a:r>
          </a:p>
        </p:txBody>
      </p:sp>
      <p:sp xmlns:a="http://schemas.openxmlformats.org/drawingml/2006/main">
        <p:nvSpPr>
          <p:cNvPr id="4" name="block-0"/>
          <p:cNvSpPr/>
          <p:nvPr/>
        </p:nvSpPr>
        <p:spPr>
          <a:xfrm>
            <a:off x="1009650" y="2447925"/>
            <a:ext cx="4267200" cy="16192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block-title-0"/>
          <p:cNvSpPr txBox="1"/>
          <p:nvPr/>
        </p:nvSpPr>
        <p:spPr>
          <a:xfrm>
            <a:off x="1181100" y="2590800"/>
            <a:ext cx="39433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사업내용</a:t>
            </a:r>
          </a:p>
        </p:txBody>
      </p:sp>
      <p:sp xmlns:a="http://schemas.openxmlformats.org/drawingml/2006/main">
        <p:nvSpPr>
          <p:cNvPr id="7" name="block-body-0"/>
          <p:cNvSpPr txBox="1"/>
          <p:nvPr/>
        </p:nvSpPr>
        <p:spPr>
          <a:xfrm>
            <a:off x="1181100" y="3009900"/>
            <a:ext cx="3943350" cy="9906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202124"/>
                </a:solidFill>
                <a:latin typeface="Noto Sans KR"/>
              </a:rPr>
              <a:t>지역별 대표 콘텐츠(공연, 체험, 디저트</a:t>
            </a:r>
          </a:p>
          <a:p>
            <a:pPr eaLnBrk="0">
              <a:lnSpc>
                <a:spcPts val="1781"/>
              </a:lnSpc>
              <a:spcBef>
                <a:spcPts val="0"/>
              </a:spcBef>
              <a:spcAft>
                <a:spcPts val="0"/>
              </a:spcAft>
            </a:pPr>
            <a:r>
              <a:rPr sz="1425" b="0">
                <a:solidFill>
                  <a:srgbClr val="202124"/>
                </a:solidFill>
                <a:latin typeface="Noto Sans KR"/>
              </a:rPr>
              <a:t>등)를 야간 시간대에 맞춰 순회 운영하여</a:t>
            </a:r>
          </a:p>
          <a:p>
            <a:pPr eaLnBrk="0">
              <a:lnSpc>
                <a:spcPts val="1781"/>
              </a:lnSpc>
              <a:spcBef>
                <a:spcPts val="0"/>
              </a:spcBef>
              <a:spcAft>
                <a:spcPts val="0"/>
              </a:spcAft>
            </a:pPr>
            <a:r>
              <a:rPr sz="1425" b="0">
                <a:solidFill>
                  <a:srgbClr val="202124"/>
                </a:solidFill>
                <a:latin typeface="Noto Sans KR"/>
              </a:rPr>
              <a:t>방문객의 저녁 체류와 지역 상점</a:t>
            </a:r>
          </a:p>
          <a:p>
            <a:pPr eaLnBrk="0">
              <a:lnSpc>
                <a:spcPts val="1781"/>
              </a:lnSpc>
              <a:spcBef>
                <a:spcPts val="0"/>
              </a:spcBef>
              <a:spcAft>
                <a:spcPts val="0"/>
              </a:spcAft>
            </a:pPr>
            <a:r>
              <a:rPr sz="1425" b="0">
                <a:solidFill>
                  <a:srgbClr val="202124"/>
                </a:solidFill>
                <a:latin typeface="Noto Sans KR"/>
              </a:rPr>
              <a:t>이용을 유도함</a:t>
            </a:r>
          </a:p>
        </p:txBody>
      </p:sp>
      <p:sp xmlns:a="http://schemas.openxmlformats.org/drawingml/2006/main">
        <p:nvSpPr>
          <p:cNvPr id="8" name="block-1"/>
          <p:cNvSpPr/>
          <p:nvPr/>
        </p:nvSpPr>
        <p:spPr>
          <a:xfrm>
            <a:off x="5486400" y="2447925"/>
            <a:ext cx="4267200" cy="16192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block-title-1"/>
          <p:cNvSpPr txBox="1"/>
          <p:nvPr/>
        </p:nvSpPr>
        <p:spPr>
          <a:xfrm>
            <a:off x="5657850" y="2590800"/>
            <a:ext cx="39433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사업기간</a:t>
            </a:r>
          </a:p>
        </p:txBody>
      </p:sp>
      <p:sp xmlns:a="http://schemas.openxmlformats.org/drawingml/2006/main">
        <p:nvSpPr>
          <p:cNvPr id="11" name="block-body-1"/>
          <p:cNvSpPr txBox="1"/>
          <p:nvPr/>
        </p:nvSpPr>
        <p:spPr>
          <a:xfrm>
            <a:off x="5657850" y="3009900"/>
            <a:ext cx="3943350" cy="9906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202124"/>
                </a:solidFill>
                <a:latin typeface="Noto Sans KR"/>
              </a:rPr>
              <a:t>2026-10 ~ 2026-12, 3개월</a:t>
            </a:r>
          </a:p>
          <a:p>
            <a:pPr eaLnBrk="0">
              <a:lnSpc>
                <a:spcPts val="2156"/>
              </a:lnSpc>
              <a:spcBef>
                <a:spcPts val="0"/>
              </a:spcBef>
              <a:spcAft>
                <a:spcPts val="0"/>
              </a:spcAft>
            </a:pPr>
            <a:r>
              <a:rPr sz="1725" b="0">
                <a:solidFill>
                  <a:srgbClr val="202124"/>
                </a:solidFill>
                <a:latin typeface="Noto Sans KR"/>
              </a:rPr>
              <a:t>준비·협의 → 시범 운영 → 성과 확인</a:t>
            </a:r>
          </a:p>
        </p:txBody>
      </p:sp>
      <p:sp xmlns:a="http://schemas.openxmlformats.org/drawingml/2006/main">
        <p:nvSpPr>
          <p:cNvPr id="12" name="block-2"/>
          <p:cNvSpPr/>
          <p:nvPr/>
        </p:nvSpPr>
        <p:spPr>
          <a:xfrm>
            <a:off x="9963150" y="2447925"/>
            <a:ext cx="4267200" cy="16192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block-title-2"/>
          <p:cNvSpPr txBox="1"/>
          <p:nvPr/>
        </p:nvSpPr>
        <p:spPr>
          <a:xfrm>
            <a:off x="10134600" y="2590800"/>
            <a:ext cx="39433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목표 KPI</a:t>
            </a:r>
          </a:p>
        </p:txBody>
      </p:sp>
      <p:sp xmlns:a="http://schemas.openxmlformats.org/drawingml/2006/main">
        <p:nvSpPr>
          <p:cNvPr id="15" name="block-body-2"/>
          <p:cNvSpPr txBox="1"/>
          <p:nvPr/>
        </p:nvSpPr>
        <p:spPr>
          <a:xfrm>
            <a:off x="10134600" y="3009900"/>
            <a:ext cx="3943350" cy="9906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202124"/>
                </a:solidFill>
                <a:latin typeface="Noto Sans KR"/>
              </a:rPr>
              <a:t>3개월 월별 합계</a:t>
            </a:r>
          </a:p>
          <a:p>
            <a:pPr eaLnBrk="0">
              <a:lnSpc>
                <a:spcPts val="2156"/>
              </a:lnSpc>
              <a:spcBef>
                <a:spcPts val="0"/>
              </a:spcBef>
              <a:spcAft>
                <a:spcPts val="0"/>
              </a:spcAft>
            </a:pPr>
            <a:r>
              <a:rPr sz="1725" b="0">
                <a:solidFill>
                  <a:srgbClr val="202124"/>
                </a:solidFill>
                <a:latin typeface="Noto Sans KR"/>
              </a:rPr>
              <a:t>방문자 1,493만 명</a:t>
            </a:r>
          </a:p>
          <a:p>
            <a:pPr eaLnBrk="0">
              <a:lnSpc>
                <a:spcPts val="2156"/>
              </a:lnSpc>
              <a:spcBef>
                <a:spcPts val="0"/>
              </a:spcBef>
              <a:spcAft>
                <a:spcPts val="0"/>
              </a:spcAft>
            </a:pPr>
            <a:r>
              <a:rPr sz="1725" b="0">
                <a:solidFill>
                  <a:srgbClr val="202124"/>
                </a:solidFill>
                <a:latin typeface="Noto Sans KR"/>
              </a:rPr>
              <a:t>관광소비액 2,465억 원</a:t>
            </a:r>
          </a:p>
        </p:txBody>
      </p:sp>
      <p:sp xmlns:a="http://schemas.openxmlformats.org/drawingml/2006/main">
        <p:nvSpPr>
          <p:cNvPr id="16" name="chart-panel-0"/>
          <p:cNvSpPr/>
          <p:nvPr/>
        </p:nvSpPr>
        <p:spPr>
          <a:xfrm>
            <a:off x="1009650" y="4248150"/>
            <a:ext cx="6419850" cy="33337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chart-title-0"/>
          <p:cNvSpPr txBox="1"/>
          <p:nvPr/>
        </p:nvSpPr>
        <p:spPr>
          <a:xfrm>
            <a:off x="1200150" y="4343400"/>
            <a:ext cx="6038850" cy="409575"/>
          </a:xfrm>
          <a:prstGeom prst="rect">
            <a:avLst/>
          </a:prstGeom>
          <a:noFill/>
        </p:spPr>
        <p:txBody>
          <a:bodyPr wrap="none" lIns="57150" rIns="57150" tIns="38100" bIns="38100" anchor="t">
            <a:noAutofit/>
          </a:bodyPr>
          <a:lstStyle/>
          <a:p>
            <a:pPr eaLnBrk="0" algn="ctr">
              <a:lnSpc>
                <a:spcPts val="2437"/>
              </a:lnSpc>
              <a:spcBef>
                <a:spcPts val="0"/>
              </a:spcBef>
              <a:spcAft>
                <a:spcPts val="0"/>
              </a:spcAft>
            </a:pPr>
            <a:r>
              <a:rPr sz="1950" b="1">
                <a:solidFill>
                  <a:srgbClr val="F50045"/>
                </a:solidFill>
                <a:latin typeface="Noto Sans KR"/>
              </a:rPr>
              <a:t>관광객 방문자 수</a:t>
            </a:r>
          </a:p>
        </p:txBody>
      </p:sp>
      <p:graphicFrame xmlns:a="http://schemas.openxmlformats.org/drawingml/2006/main">
        <p:nvGraphicFramePr>
          <p:cNvPr id="18" name="comparison-chart-0"/>
          <p:cNvGraphicFramePr>
            <a:graphicFrameLocks noGrp="1"/>
          </p:cNvGraphicFramePr>
          <p:nvPr/>
        </p:nvGraphicFramePr>
        <p:xfrm>
          <a:off x="1123950" y="4857750"/>
          <a:ext cx="6191250" cy="2200275"/>
        </p:xfrm>
        <a:graphic>
          <a:graphicData uri="http://schemas.openxmlformats.org/drawingml/2006/chart">
            <c:chart xmlns:c="http://schemas.openxmlformats.org/drawingml/2006/chart" xmlns:r="http://schemas.openxmlformats.org/officeDocument/2006/relationships" r:id="rId3"/>
          </a:graphicData>
        </a:graphic>
      </p:graphicFrame>
      <p:sp xmlns:a="http://schemas.openxmlformats.org/drawingml/2006/main">
        <p:nvSpPr>
          <p:cNvPr id="19" name="comparison-chart-0-legend-line-0"/>
          <p:cNvSpPr/>
          <p:nvPr/>
        </p:nvSpPr>
        <p:spPr>
          <a:xfrm>
            <a:off x="2686050" y="7343775"/>
            <a:ext cx="238125" cy="28575"/>
          </a:xfrm>
          <a:prstGeom prst="rect">
            <a:avLst/>
          </a:prstGeom>
          <a:solidFill>
            <a:srgbClr val="36A6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comparison-chart-0-legend-label-0"/>
          <p:cNvSpPr txBox="1"/>
          <p:nvPr/>
        </p:nvSpPr>
        <p:spPr>
          <a:xfrm>
            <a:off x="297180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ML 기준 전망</a:t>
            </a:r>
          </a:p>
        </p:txBody>
      </p:sp>
      <p:sp xmlns:a="http://schemas.openxmlformats.org/drawingml/2006/main">
        <p:nvSpPr>
          <p:cNvPr id="21" name="comparison-chart-0-legend-line-1"/>
          <p:cNvSpPr/>
          <p:nvPr/>
        </p:nvSpPr>
        <p:spPr>
          <a:xfrm>
            <a:off x="4410075" y="7343775"/>
            <a:ext cx="238125"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comparison-chart-0-legend-label-1"/>
          <p:cNvSpPr txBox="1"/>
          <p:nvPr/>
        </p:nvSpPr>
        <p:spPr>
          <a:xfrm>
            <a:off x="469582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목표 KPI</a:t>
            </a:r>
          </a:p>
        </p:txBody>
      </p:sp>
      <p:sp xmlns:a="http://schemas.openxmlformats.org/drawingml/2006/main">
        <p:nvSpPr>
          <p:cNvPr id="23" name="chart-panel-1"/>
          <p:cNvSpPr/>
          <p:nvPr/>
        </p:nvSpPr>
        <p:spPr>
          <a:xfrm>
            <a:off x="7810500" y="4248150"/>
            <a:ext cx="6419850" cy="33337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chart-title-1"/>
          <p:cNvSpPr txBox="1"/>
          <p:nvPr/>
        </p:nvSpPr>
        <p:spPr>
          <a:xfrm>
            <a:off x="8001000" y="4343400"/>
            <a:ext cx="6038850" cy="409575"/>
          </a:xfrm>
          <a:prstGeom prst="rect">
            <a:avLst/>
          </a:prstGeom>
          <a:noFill/>
        </p:spPr>
        <p:txBody>
          <a:bodyPr wrap="none" lIns="57150" rIns="57150" tIns="38100" bIns="38100" anchor="t">
            <a:noAutofit/>
          </a:bodyPr>
          <a:lstStyle/>
          <a:p>
            <a:pPr eaLnBrk="0" algn="ctr">
              <a:lnSpc>
                <a:spcPts val="2437"/>
              </a:lnSpc>
              <a:spcBef>
                <a:spcPts val="0"/>
              </a:spcBef>
              <a:spcAft>
                <a:spcPts val="0"/>
              </a:spcAft>
            </a:pPr>
            <a:r>
              <a:rPr sz="1950" b="1">
                <a:solidFill>
                  <a:srgbClr val="F50045"/>
                </a:solidFill>
                <a:latin typeface="Noto Sans KR"/>
              </a:rPr>
              <a:t>관광소비액</a:t>
            </a:r>
          </a:p>
        </p:txBody>
      </p:sp>
      <p:graphicFrame xmlns:a="http://schemas.openxmlformats.org/drawingml/2006/main">
        <p:nvGraphicFramePr>
          <p:cNvPr id="25" name="comparison-chart-1"/>
          <p:cNvGraphicFramePr>
            <a:graphicFrameLocks noGrp="1"/>
          </p:cNvGraphicFramePr>
          <p:nvPr/>
        </p:nvGraphicFramePr>
        <p:xfrm>
          <a:off x="7924800" y="4857750"/>
          <a:ext cx="6191250" cy="2200275"/>
        </p:xfrm>
        <a:graphic>
          <a:graphicData uri="http://schemas.openxmlformats.org/drawingml/2006/chart">
            <c:chart xmlns:c="http://schemas.openxmlformats.org/drawingml/2006/chart" xmlns:r="http://schemas.openxmlformats.org/officeDocument/2006/relationships" r:id="rId4"/>
          </a:graphicData>
        </a:graphic>
      </p:graphicFrame>
      <p:sp xmlns:a="http://schemas.openxmlformats.org/drawingml/2006/main">
        <p:nvSpPr>
          <p:cNvPr id="26" name="comparison-chart-1-legend-line-0"/>
          <p:cNvSpPr/>
          <p:nvPr/>
        </p:nvSpPr>
        <p:spPr>
          <a:xfrm>
            <a:off x="9486900" y="7343775"/>
            <a:ext cx="238125" cy="28575"/>
          </a:xfrm>
          <a:prstGeom prst="rect">
            <a:avLst/>
          </a:prstGeom>
          <a:solidFill>
            <a:srgbClr val="36A6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comparison-chart-1-legend-label-0"/>
          <p:cNvSpPr txBox="1"/>
          <p:nvPr/>
        </p:nvSpPr>
        <p:spPr>
          <a:xfrm>
            <a:off x="977265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ML 기준 전망</a:t>
            </a:r>
          </a:p>
        </p:txBody>
      </p:sp>
      <p:sp xmlns:a="http://schemas.openxmlformats.org/drawingml/2006/main">
        <p:nvSpPr>
          <p:cNvPr id="28" name="comparison-chart-1-legend-line-1"/>
          <p:cNvSpPr/>
          <p:nvPr/>
        </p:nvSpPr>
        <p:spPr>
          <a:xfrm>
            <a:off x="11210925" y="7343775"/>
            <a:ext cx="238125"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comparison-chart-1-legend-label-1"/>
          <p:cNvSpPr txBox="1"/>
          <p:nvPr/>
        </p:nvSpPr>
        <p:spPr>
          <a:xfrm>
            <a:off x="1149667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목표 KPI</a:t>
            </a:r>
          </a:p>
        </p:txBody>
      </p:sp>
      <p:sp xmlns:a="http://schemas.openxmlformats.org/drawingml/2006/main">
        <p:nvSpPr>
          <p:cNvPr id="30" name="comparison-note"/>
          <p:cNvSpPr txBox="1"/>
          <p:nvPr/>
        </p:nvSpPr>
        <p:spPr>
          <a:xfrm>
            <a:off x="1009650" y="7724775"/>
            <a:ext cx="13220700" cy="6572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청록선: 한국관광 데이터랩의 과거 월별 방문·소비 기록과 계절 흐름을 바탕으로 계산한 전망입니다.</a:t>
            </a:r>
          </a:p>
          <a:p>
            <a:pPr eaLnBrk="0">
              <a:lnSpc>
                <a:spcPts val="1781"/>
              </a:lnSpc>
              <a:spcBef>
                <a:spcPts val="0"/>
              </a:spcBef>
              <a:spcAft>
                <a:spcPts val="0"/>
              </a:spcAft>
            </a:pPr>
            <a:r>
              <a:rPr sz="1425" b="0">
                <a:solidFill>
                  <a:srgbClr val="62666C"/>
                </a:solidFill>
                <a:latin typeface="Noto Sans KR"/>
              </a:rPr>
              <a:t>빨간선: 공식 사례를 참고해 정한 사업 목표입니다. 목표율은 조정할 수 있으며, 산출 근거 페이지에서 설명합니다.</a:t>
            </a:r>
          </a:p>
        </p:txBody>
      </p:sp>
      <p:sp xmlns:a="http://schemas.openxmlformats.org/drawingml/2006/main">
        <p:nvSpPr>
          <p:cNvPr id="3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2. 사업 목표</a:t>
            </a:r>
          </a:p>
        </p:txBody>
      </p:sp>
      <p:sp xmlns:a="http://schemas.openxmlformats.org/drawingml/2006/main">
        <p:nvSpPr>
          <p:cNvPr id="33"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06 / 17</a:t>
            </a:r>
          </a:p>
        </p:txBody>
      </p:sp>
      <p:sp xmlns:a="http://schemas.openxmlformats.org/drawingml/2006/main">
        <p:nvSpPr>
          <p:cNvPr id="34" name="business-goal-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3개월 목표: ML 전망 대비 방문자 +3,456명, 관광소비액 약 +1억 2,357만 원</a:t>
            </a:r>
          </a:p>
        </p:txBody>
      </p:sp>
    </p:spTree>
    <p:extLst>
      <p:ext uri="{BB962C8B-B14F-4D97-AF65-F5344CB8AC3E}">
        <p14:creationId xmlns:p14="http://schemas.microsoft.com/office/powerpoint/2010/main" val="380383987"/>
      </p:ext>
    </p:extLst>
  </p:cSld>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33" name="kpi-reason-card"/>
          <p:cNvSpPr/>
          <p:nvPr/>
        </p:nvSpPr>
        <p:spPr>
          <a:xfrm>
            <a:off x="1009650" y="2543175"/>
            <a:ext cx="6762750" cy="49815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2.2 목표 KPI 산출근거</a:t>
            </a:r>
          </a:p>
        </p:txBody>
      </p:sp>
      <p:sp>
        <p:nvSpPr>
          <p:cNvPr id="4" name="kpi-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목표율을 정한 이유와 3개월 동안 추가로 달성할 규모</a:t>
            </a:r>
          </a:p>
        </p:txBody>
      </p:sp>
      <p:pic>
        <p:nvPicPr>
          <p:cNvPr id="30" name="kpi-reason-icon" descr="target-red.png"/>
          <p:cNvPicPr>
            <a:picLocks noChangeAspect="1"/>
          </p:cNvPicPr>
          <p:nvPr/>
        </p:nvPicPr>
        <p:blipFill>
          <a:blip r:embed="rId6"/>
          <a:stretch>
            <a:fillRect/>
          </a:stretch>
        </p:blipFill>
        <p:spPr>
          <a:xfrm>
            <a:off x="1200150" y="2724150"/>
            <a:ext cx="809625" cy="809625"/>
          </a:xfrm>
          <a:prstGeom prst="rect">
            <a:avLst/>
          </a:prstGeom>
        </p:spPr>
      </p:pic>
      <p:sp>
        <p:nvSpPr>
          <p:cNvPr id="6" name="kpi-reason-title"/>
          <p:cNvSpPr txBox="1"/>
          <p:nvPr/>
        </p:nvSpPr>
        <p:spPr>
          <a:xfrm>
            <a:off x="2247900" y="2781300"/>
            <a:ext cx="5410200" cy="53340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202124"/>
                </a:solidFill>
                <a:latin typeface="Noto Sans KR"/>
              </a:rPr>
              <a:t>목표를 정한 이유</a:t>
            </a:r>
          </a:p>
        </p:txBody>
      </p:sp>
      <p:sp>
        <p:nvSpPr>
          <p:cNvPr id="7" name="kpi-reason"/>
          <p:cNvSpPr txBox="1"/>
          <p:nvPr/>
        </p:nvSpPr>
        <p:spPr>
          <a:xfrm>
            <a:off x="1200150" y="3619500"/>
            <a:ext cx="6648450" cy="131445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0">
                <a:solidFill>
                  <a:srgbClr val="62666C"/>
                </a:solidFill>
                <a:latin typeface="Noto Sans KR"/>
              </a:rPr>
              <a:t>대전광역시 서구의 3개월 운영안</a:t>
            </a:r>
          </a:p>
          <a:p>
            <a:pPr eaLnBrk="0">
              <a:lnSpc>
                <a:spcPts val="2437"/>
              </a:lnSpc>
              <a:spcBef>
                <a:spcPts val="0"/>
              </a:spcBef>
              <a:spcAft>
                <a:spcPts val="0"/>
              </a:spcAft>
            </a:pPr>
            <a:r>
              <a:rPr sz="1950" b="0">
                <a:solidFill>
                  <a:srgbClr val="62666C"/>
                </a:solidFill>
                <a:latin typeface="Noto Sans KR"/>
              </a:rPr>
              <a:t>사업기간 2026.10 ~ 2026.12</a:t>
            </a:r>
          </a:p>
          <a:p>
            <a:pPr eaLnBrk="0">
              <a:lnSpc>
                <a:spcPts val="2437"/>
              </a:lnSpc>
              <a:spcBef>
                <a:spcPts val="0"/>
              </a:spcBef>
              <a:spcAft>
                <a:spcPts val="0"/>
              </a:spcAft>
            </a:pPr>
            <a:r>
              <a:rPr sz="1950" b="0">
                <a:solidFill>
                  <a:srgbClr val="62666C"/>
                </a:solidFill>
                <a:latin typeface="Noto Sans KR"/>
              </a:rPr>
              <a:t>편성 정원 15,360명분 × 이용률 75%</a:t>
            </a:r>
          </a:p>
          <a:p>
            <a:pPr eaLnBrk="0">
              <a:lnSpc>
                <a:spcPts val="2437"/>
              </a:lnSpc>
              <a:spcBef>
                <a:spcPts val="0"/>
              </a:spcBef>
              <a:spcAft>
                <a:spcPts val="0"/>
              </a:spcAft>
            </a:pPr>
            <a:r>
              <a:rPr sz="1950" b="0">
                <a:solidFill>
                  <a:srgbClr val="62666C"/>
                </a:solidFill>
                <a:latin typeface="Noto Sans KR"/>
              </a:rPr>
              <a:t>예상 참여 11,520명 중 추가 방문 30% 가정</a:t>
            </a:r>
          </a:p>
        </p:txBody>
      </p:sp>
      <p:sp>
        <p:nvSpPr>
          <p:cNvPr id="8" name="kpi-decision-band"/>
          <p:cNvSpPr/>
          <p:nvPr/>
        </p:nvSpPr>
        <p:spPr>
          <a:xfrm>
            <a:off x="1200150" y="5067300"/>
            <a:ext cx="6391275" cy="1047750"/>
          </a:xfrm>
          <a:prstGeom prst="roundRect">
            <a:avLst>
              <a:gd name="adj" fmla="val 10000"/>
            </a:avLst>
          </a:prstGeom>
          <a:solidFill>
            <a:srgbClr val="FF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kpi-decision"/>
          <p:cNvSpPr txBox="1"/>
          <p:nvPr/>
        </p:nvSpPr>
        <p:spPr>
          <a:xfrm>
            <a:off x="1409700" y="5286375"/>
            <a:ext cx="5972175" cy="600075"/>
          </a:xfrm>
          <a:prstGeom prst="rect">
            <a:avLst/>
          </a:prstGeom>
          <a:noFill/>
        </p:spPr>
        <p:txBody>
          <a:bodyPr wrap="none" lIns="57150" rIns="57150" tIns="38100" bIns="38100" anchor="t">
            <a:noAutofit/>
          </a:bodyPr>
          <a:lstStyle/>
          <a:p>
            <a:pPr eaLnBrk="0">
              <a:lnSpc>
                <a:spcPts val="2812"/>
              </a:lnSpc>
              <a:spcBef>
                <a:spcPts val="0"/>
              </a:spcBef>
              <a:spcAft>
                <a:spcPts val="0"/>
              </a:spcAft>
            </a:pPr>
            <a:r>
              <a:rPr sz="2250" b="1">
                <a:solidFill>
                  <a:srgbClr val="AE2349"/>
                </a:solidFill>
                <a:latin typeface="Noto Sans KR"/>
              </a:rPr>
              <a:t>추가 방문 목표 3,456명</a:t>
            </a:r>
          </a:p>
        </p:txBody>
      </p:sp>
      <p:sp>
        <p:nvSpPr>
          <p:cNvPr id="10" name="kpi-step-explanation"/>
          <p:cNvSpPr txBox="1"/>
          <p:nvPr/>
        </p:nvSpPr>
        <p:spPr>
          <a:xfrm>
            <a:off x="1200150" y="6448425"/>
            <a:ext cx="6391275" cy="9810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62666C"/>
                </a:solidFill>
                <a:latin typeface="Noto Sans KR"/>
              </a:rPr>
              <a:t>운영 정원 = 8개 거점 × 월 8일 × 3개월</a:t>
            </a:r>
          </a:p>
          <a:p>
            <a:pPr eaLnBrk="0">
              <a:lnSpc>
                <a:spcPts val="2062"/>
              </a:lnSpc>
              <a:spcBef>
                <a:spcPts val="0"/>
              </a:spcBef>
              <a:spcAft>
                <a:spcPts val="0"/>
              </a:spcAft>
            </a:pPr>
            <a:r>
              <a:rPr sz="1650" b="0">
                <a:solidFill>
                  <a:srgbClr val="62666C"/>
                </a:solidFill>
                <a:latin typeface="Noto Sans KR"/>
              </a:rPr>
              <a:t>× 하루 2회 × 회당 40명 = 15,360명분</a:t>
            </a:r>
          </a:p>
          <a:p>
            <a:pPr eaLnBrk="0">
              <a:lnSpc>
                <a:spcPts val="2062"/>
              </a:lnSpc>
              <a:spcBef>
                <a:spcPts val="0"/>
              </a:spcBef>
              <a:spcAft>
                <a:spcPts val="0"/>
              </a:spcAft>
            </a:pPr>
            <a:r>
              <a:rPr sz="1650" b="0">
                <a:solidFill>
                  <a:srgbClr val="62666C"/>
                </a:solidFill>
                <a:latin typeface="Noto Sans KR"/>
              </a:rPr>
              <a:t>운영량은 기획 가정이며 참여 비율의 근거는 다음 장에 표시합니다.</a:t>
            </a:r>
          </a:p>
        </p:txBody>
      </p:sp>
      <p:cxnSp>
        <p:nvCxnSpPr>
          <p:cNvPr id="11" name="kpi-to-visitors-0"/>
          <p:cNvCxnSpPr/>
          <p:nvPr/>
        </p:nvCxnSpPr>
        <p:spPr>
          <a:xfrm>
            <a:off x="7762875" y="5162550"/>
            <a:ext cx="466725"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2" name="kpi-to-visitors-1"/>
          <p:cNvCxnSpPr/>
          <p:nvPr/>
        </p:nvCxnSpPr>
        <p:spPr>
          <a:xfrm flipV="1">
            <a:off x="8229600" y="3724275"/>
            <a:ext cx="0" cy="1438275"/>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3" name="kpi-to-visitors-2"/>
          <p:cNvCxnSpPr/>
          <p:nvPr/>
        </p:nvCxnSpPr>
        <p:spPr>
          <a:xfrm>
            <a:off x="8229600" y="3724275"/>
            <a:ext cx="46672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4" name="kpi-to-spending-0"/>
          <p:cNvCxnSpPr/>
          <p:nvPr/>
        </p:nvCxnSpPr>
        <p:spPr>
          <a:xfrm>
            <a:off x="8229600" y="5162550"/>
            <a:ext cx="0" cy="104775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5" name="kpi-to-spending-1"/>
          <p:cNvCxnSpPr/>
          <p:nvPr/>
        </p:nvCxnSpPr>
        <p:spPr>
          <a:xfrm>
            <a:off x="8229600" y="6210300"/>
            <a:ext cx="46672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sp>
        <p:nvSpPr>
          <p:cNvPr id="16" name="kpi-impact-panel-0"/>
          <p:cNvSpPr/>
          <p:nvPr/>
        </p:nvSpPr>
        <p:spPr>
          <a:xfrm>
            <a:off x="8696325" y="2609850"/>
            <a:ext cx="5534025" cy="2219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kpi-impact-icon-0" descr="users-ocean.png"/>
          <p:cNvPicPr>
            <a:picLocks noChangeAspect="1"/>
          </p:cNvPicPr>
          <p:nvPr/>
        </p:nvPicPr>
        <p:blipFill>
          <a:blip r:embed="rId9"/>
          <a:stretch>
            <a:fillRect/>
          </a:stretch>
        </p:blipFill>
        <p:spPr>
          <a:xfrm>
            <a:off x="8943975" y="2838450"/>
            <a:ext cx="523875" cy="523875"/>
          </a:xfrm>
          <a:prstGeom prst="rect">
            <a:avLst/>
          </a:prstGeom>
        </p:spPr>
      </p:pic>
      <p:sp>
        <p:nvSpPr>
          <p:cNvPr id="18" name="kpi-impact-title-0"/>
          <p:cNvSpPr txBox="1"/>
          <p:nvPr/>
        </p:nvSpPr>
        <p:spPr>
          <a:xfrm>
            <a:off x="9629775" y="2847975"/>
            <a:ext cx="4314825" cy="4667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추가 방문 목표</a:t>
            </a:r>
          </a:p>
        </p:txBody>
      </p:sp>
      <p:sp>
        <p:nvSpPr>
          <p:cNvPr id="19" name="kpi-impact-value-0"/>
          <p:cNvSpPr txBox="1"/>
          <p:nvPr/>
        </p:nvSpPr>
        <p:spPr>
          <a:xfrm>
            <a:off x="8934450" y="3514725"/>
            <a:ext cx="5095875" cy="742950"/>
          </a:xfrm>
          <a:prstGeom prst="rect">
            <a:avLst/>
          </a:prstGeom>
          <a:noFill/>
        </p:spPr>
        <p:txBody>
          <a:bodyPr wrap="none" lIns="57150" rIns="57150" tIns="38100" bIns="38100" anchor="t">
            <a:noAutofit/>
          </a:bodyPr>
          <a:lstStyle/>
          <a:p>
            <a:pPr eaLnBrk="0">
              <a:lnSpc>
                <a:spcPts val="3843"/>
              </a:lnSpc>
              <a:spcBef>
                <a:spcPts val="0"/>
              </a:spcBef>
              <a:spcAft>
                <a:spcPts val="0"/>
              </a:spcAft>
            </a:pPr>
            <a:r>
              <a:rPr sz="3075" b="1">
                <a:solidFill>
                  <a:srgbClr val="27649B"/>
                </a:solidFill>
                <a:latin typeface="Noto Sans KR"/>
              </a:rPr>
              <a:t>↑ 3,456명</a:t>
            </a:r>
          </a:p>
        </p:txBody>
      </p:sp>
      <p:sp>
        <p:nvSpPr>
          <p:cNvPr id="20" name="kpi-impact-period-0"/>
          <p:cNvSpPr txBox="1"/>
          <p:nvPr/>
        </p:nvSpPr>
        <p:spPr>
          <a:xfrm>
            <a:off x="8953500" y="4333875"/>
            <a:ext cx="5048250" cy="3333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3개월 월별 합계 · +0.02%</a:t>
            </a:r>
          </a:p>
        </p:txBody>
      </p:sp>
      <p:sp>
        <p:nvSpPr>
          <p:cNvPr id="21" name="kpi-impact-panel-1"/>
          <p:cNvSpPr/>
          <p:nvPr/>
        </p:nvSpPr>
        <p:spPr>
          <a:xfrm>
            <a:off x="8696325" y="5095875"/>
            <a:ext cx="5534025" cy="2219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kpi-impact-icon-1" descr="coins-jade.png"/>
          <p:cNvPicPr>
            <a:picLocks noChangeAspect="1"/>
          </p:cNvPicPr>
          <p:nvPr/>
        </p:nvPicPr>
        <p:blipFill>
          <a:blip r:embed="rId10"/>
          <a:stretch>
            <a:fillRect/>
          </a:stretch>
        </p:blipFill>
        <p:spPr>
          <a:xfrm>
            <a:off x="8943975" y="5324475"/>
            <a:ext cx="523875" cy="523875"/>
          </a:xfrm>
          <a:prstGeom prst="rect">
            <a:avLst/>
          </a:prstGeom>
        </p:spPr>
      </p:pic>
      <p:sp>
        <p:nvSpPr>
          <p:cNvPr id="23" name="kpi-impact-title-1"/>
          <p:cNvSpPr txBox="1"/>
          <p:nvPr/>
        </p:nvSpPr>
        <p:spPr>
          <a:xfrm>
            <a:off x="9629775" y="5334000"/>
            <a:ext cx="4314825" cy="4667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추가 소비 목표</a:t>
            </a:r>
          </a:p>
        </p:txBody>
      </p:sp>
      <p:sp>
        <p:nvSpPr>
          <p:cNvPr id="24" name="kpi-impact-value-1"/>
          <p:cNvSpPr txBox="1"/>
          <p:nvPr/>
        </p:nvSpPr>
        <p:spPr>
          <a:xfrm>
            <a:off x="8934450" y="6000750"/>
            <a:ext cx="5095875" cy="742950"/>
          </a:xfrm>
          <a:prstGeom prst="rect">
            <a:avLst/>
          </a:prstGeom>
          <a:noFill/>
        </p:spPr>
        <p:txBody>
          <a:bodyPr wrap="none" lIns="57150" rIns="57150" tIns="38100" bIns="38100" anchor="t">
            <a:noAutofit/>
          </a:bodyPr>
          <a:lstStyle/>
          <a:p>
            <a:pPr eaLnBrk="0">
              <a:lnSpc>
                <a:spcPts val="3843"/>
              </a:lnSpc>
              <a:spcBef>
                <a:spcPts val="0"/>
              </a:spcBef>
              <a:spcAft>
                <a:spcPts val="0"/>
              </a:spcAft>
            </a:pPr>
            <a:r>
              <a:rPr sz="3075" b="1">
                <a:solidFill>
                  <a:srgbClr val="187C70"/>
                </a:solidFill>
                <a:latin typeface="Noto Sans KR"/>
              </a:rPr>
              <a:t>↑ 1.24억 원</a:t>
            </a:r>
          </a:p>
        </p:txBody>
      </p:sp>
      <p:sp>
        <p:nvSpPr>
          <p:cNvPr id="25" name="kpi-impact-period-1"/>
          <p:cNvSpPr txBox="1"/>
          <p:nvPr/>
        </p:nvSpPr>
        <p:spPr>
          <a:xfrm>
            <a:off x="8953500" y="6819900"/>
            <a:ext cx="5048250" cy="3333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3개월 월별 합계 · +0.05%</a:t>
            </a:r>
          </a:p>
        </p:txBody>
      </p:sp>
      <p:sp>
        <p:nvSpPr>
          <p:cNvPr id="26" name="kpi-footnote"/>
          <p:cNvSpPr txBox="1"/>
          <p:nvPr/>
        </p:nvSpPr>
        <p:spPr>
          <a:xfrm>
            <a:off x="1009650" y="8096250"/>
            <a:ext cx="13220700" cy="3714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목표는 계획 가정입니다. 사례의 사업 효과를 예측한 값이 아니며, 방문 합계에는 월간 중복이 포함됩니다.</a:t>
            </a:r>
          </a:p>
        </p:txBody>
      </p:sp>
      <p:sp>
        <p:nvSpPr>
          <p:cNvPr id="28"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2. 사업 목표</a:t>
            </a:r>
          </a:p>
        </p:txBody>
      </p:sp>
      <p:sp>
        <p:nvSpPr>
          <p:cNvPr id="29"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07 / 17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3.1 사례 선정과 지역 적용</a:t>
            </a:r>
          </a:p>
        </p:txBody>
      </p:sp>
      <p:sp>
        <p:nvSpPr>
          <p:cNvPr id="4" name="selection-case"/>
          <p:cNvSpPr txBox="1"/>
          <p:nvPr/>
        </p:nvSpPr>
        <p:spPr>
          <a:xfrm>
            <a:off x="1009650" y="1885950"/>
            <a:ext cx="13220700" cy="66675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202124"/>
                </a:solidFill>
                <a:latin typeface="Noto Sans KR"/>
              </a:rPr>
              <a:t>야간관광 특화도시 10곳 · 도시별 야간 콘텐츠를 순회형 축제로 묶는 운영</a:t>
            </a:r>
          </a:p>
        </p:txBody>
      </p:sp>
      <p:graphicFrame>
        <p:nvGraphicFramePr>
          <p:cNvPr id="5" name="selection-matrix"/>
          <p:cNvGraphicFramePr>
            <a:graphicFrameLocks noGrp="1"/>
          </p:cNvGraphicFramePr>
          <p:nvPr/>
        </p:nvGraphicFramePr>
        <p:xfrm>
          <a:off x="1009650" y="2809875"/>
          <a:ext cx="13220700" cy="3429000"/>
        </p:xfrm>
        <a:graphic>
          <a:graphicData uri="http://schemas.openxmlformats.org/drawingml/2006/table">
            <a:tbl>
              <a:tblPr firstRow="1" bandRow="1">
                <a:tableStyleId>{5C22544A-7EE6-4342-B048-85BDC9FD1C3A}</a:tableStyleId>
              </a:tblPr>
              <a:tblGrid>
                <a:gridCol w="2209800"/>
                <a:gridCol w="5505450"/>
                <a:gridCol w="5505450"/>
              </a:tblGrid>
              <a:tr h="495300">
                <a:tc>
                  <a:txBody>
                    <a:bodyPr wrap="none"/>
                    <a:lstStyle/>
                    <a:p>
                      <a:pPr eaLnBrk="0">
                        <a:lnSpc>
                          <a:spcPct val="112000"/>
                        </a:lnSpc>
                        <a:spcBef>
                          <a:spcPts val="0"/>
                        </a:spcBef>
                        <a:spcAft>
                          <a:spcPts val="0"/>
                        </a:spcAft>
                      </a:pPr>
                      <a:r>
                        <a:rPr sz="1575" b="1">
                          <a:solidFill>
                            <a:srgbClr val="FFFFFF"/>
                          </a:solidFill>
                          <a:latin typeface="Noto Sans KR"/>
                        </a:rPr>
                        <a:t>비교 기준</a:t>
                      </a:r>
                    </a:p>
                  </a:txBody>
                  <a:tcPr marL="95250" marR="95250" marT="66675" marB="66675" anchor="ctr">
                    <a:solidFill>
                      <a:srgbClr val="495565"/>
                    </a:solidFill>
                  </a:tcPr>
                </a:tc>
                <a:tc>
                  <a:txBody>
                    <a:bodyPr wrap="none"/>
                    <a:lstStyle/>
                    <a:p>
                      <a:pPr eaLnBrk="0">
                        <a:lnSpc>
                          <a:spcPct val="112000"/>
                        </a:lnSpc>
                        <a:spcBef>
                          <a:spcPts val="0"/>
                        </a:spcBef>
                        <a:spcAft>
                          <a:spcPts val="0"/>
                        </a:spcAft>
                      </a:pPr>
                      <a:r>
                        <a:rPr sz="1575" b="1">
                          <a:solidFill>
                            <a:srgbClr val="FFFFFF"/>
                          </a:solidFill>
                          <a:latin typeface="Noto Sans KR"/>
                        </a:rPr>
                        <a:t>확인한 근거</a:t>
                      </a:r>
                    </a:p>
                  </a:txBody>
                  <a:tcPr marL="95250" marR="95250" marT="66675" marB="66675" anchor="ctr">
                    <a:solidFill>
                      <a:srgbClr val="495565"/>
                    </a:solidFill>
                  </a:tcPr>
                </a:tc>
                <a:tc>
                  <a:txBody>
                    <a:bodyPr wrap="none"/>
                    <a:lstStyle/>
                    <a:p>
                      <a:pPr eaLnBrk="0">
                        <a:lnSpc>
                          <a:spcPct val="112000"/>
                        </a:lnSpc>
                        <a:spcBef>
                          <a:spcPts val="0"/>
                        </a:spcBef>
                        <a:spcAft>
                          <a:spcPts val="0"/>
                        </a:spcAft>
                      </a:pPr>
                      <a:r>
                        <a:rPr sz="1575" b="1">
                          <a:solidFill>
                            <a:srgbClr val="FFFFFF"/>
                          </a:solidFill>
                          <a:latin typeface="Noto Sans KR"/>
                        </a:rPr>
                        <a:t>이번 기획에 연결한 판단</a:t>
                      </a:r>
                    </a:p>
                  </a:txBody>
                  <a:tcPr marL="95250" marR="95250" marT="66675" marB="66675" anchor="ctr">
                    <a:solidFill>
                      <a:srgbClr val="495565"/>
                    </a:solidFill>
                  </a:tcPr>
                </a:tc>
              </a:tr>
              <a:tr h="977900">
                <a:tc>
                  <a:txBody>
                    <a:bodyPr wrap="none"/>
                    <a:lstStyle/>
                    <a:p>
                      <a:pPr eaLnBrk="0">
                        <a:lnSpc>
                          <a:spcPct val="112000"/>
                        </a:lnSpc>
                        <a:spcBef>
                          <a:spcPts val="0"/>
                        </a:spcBef>
                        <a:spcAft>
                          <a:spcPts val="0"/>
                        </a:spcAft>
                      </a:pPr>
                      <a:r>
                        <a:rPr sz="1575" b="1">
                          <a:solidFill>
                            <a:srgbClr val="202124"/>
                          </a:solidFill>
                          <a:latin typeface="Noto Sans KR"/>
                        </a:rPr>
                        <a:t>사업의 이용 흐름</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10개 야간관광 특화도시의 대표 장소와 시간대를 연결하고,</a:t>
                      </a:r>
                    </a:p>
                    <a:p>
                      <a:pPr eaLnBrk="0">
                        <a:lnSpc>
                          <a:spcPct val="112000"/>
                        </a:lnSpc>
                        <a:spcBef>
                          <a:spcPts val="0"/>
                        </a:spcBef>
                        <a:spcAft>
                          <a:spcPts val="0"/>
                        </a:spcAft>
                      </a:pPr>
                      <a:r>
                        <a:rPr sz="1575" b="0">
                          <a:solidFill>
                            <a:srgbClr val="202124"/>
                          </a:solidFill>
                          <a:latin typeface="Noto Sans KR"/>
                        </a:rPr>
                        <a:t>공연·체험·지역 디저트·판매상품 등 도시별 콘텐츠를</a:t>
                      </a:r>
                    </a:p>
                    <a:p>
                      <a:pPr eaLnBrk="0">
                        <a:lnSpc>
                          <a:spcPct val="112000"/>
                        </a:lnSpc>
                        <a:spcBef>
                          <a:spcPts val="0"/>
                        </a:spcBef>
                        <a:spcAft>
                          <a:spcPts val="0"/>
                        </a:spcAft>
                      </a:pPr>
                      <a:r>
                        <a:rPr sz="1575" b="0">
                          <a:solidFill>
                            <a:srgbClr val="202124"/>
                          </a:solidFill>
                          <a:latin typeface="Noto Sans KR"/>
                        </a:rPr>
                        <a:t>순회 일정으로 운영</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결제·혜택·재이용 또는 예약·체류 등 실제 이용</a:t>
                      </a:r>
                    </a:p>
                    <a:p>
                      <a:pPr eaLnBrk="0">
                        <a:lnSpc>
                          <a:spcPct val="112000"/>
                        </a:lnSpc>
                        <a:spcBef>
                          <a:spcPts val="0"/>
                        </a:spcBef>
                        <a:spcAft>
                          <a:spcPts val="0"/>
                        </a:spcAft>
                      </a:pPr>
                      <a:r>
                        <a:rPr sz="1575" b="0">
                          <a:solidFill>
                            <a:srgbClr val="202124"/>
                          </a:solidFill>
                          <a:latin typeface="Noto Sans KR"/>
                        </a:rPr>
                        <a:t>흐름이 같은 사례만 연결</a:t>
                      </a:r>
                    </a:p>
                  </a:txBody>
                  <a:tcPr marL="95250" marR="95250" marT="66675" marB="66675" anchor="ctr">
                    <a:solidFill>
                      <a:srgbClr val="FFFFFF"/>
                    </a:solidFill>
                  </a:tcPr>
                </a:tc>
              </a:tr>
              <a:tr h="977900">
                <a:tc>
                  <a:txBody>
                    <a:bodyPr wrap="none"/>
                    <a:lstStyle/>
                    <a:p>
                      <a:pPr eaLnBrk="0">
                        <a:lnSpc>
                          <a:spcPct val="112000"/>
                        </a:lnSpc>
                        <a:spcBef>
                          <a:spcPts val="0"/>
                        </a:spcBef>
                        <a:spcAft>
                          <a:spcPts val="0"/>
                        </a:spcAft>
                      </a:pPr>
                      <a:r>
                        <a:rPr sz="1575" b="1">
                          <a:solidFill>
                            <a:srgbClr val="202124"/>
                          </a:solidFill>
                          <a:latin typeface="Noto Sans KR"/>
                        </a:rPr>
                        <a:t>선택 지역의</a:t>
                      </a:r>
                    </a:p>
                    <a:p>
                      <a:pPr eaLnBrk="0">
                        <a:lnSpc>
                          <a:spcPct val="112000"/>
                        </a:lnSpc>
                        <a:spcBef>
                          <a:spcPts val="0"/>
                        </a:spcBef>
                        <a:spcAft>
                          <a:spcPts val="0"/>
                        </a:spcAft>
                      </a:pPr>
                      <a:r>
                        <a:rPr sz="1575" b="1">
                          <a:solidFill>
                            <a:srgbClr val="202124"/>
                          </a:solidFill>
                          <a:latin typeface="Noto Sans KR"/>
                        </a:rPr>
                        <a:t>소비·체류</a:t>
                      </a:r>
                    </a:p>
                  </a:txBody>
                  <a:tcPr marL="95250" marR="95250" marT="66675" marB="66675" anchor="ctr">
                    <a:solidFill>
                      <a:srgbClr val="F0F2F4"/>
                    </a:solidFill>
                  </a:tcPr>
                </a:tc>
                <a:tc>
                  <a:txBody>
                    <a:bodyPr wrap="none"/>
                    <a:lstStyle/>
                    <a:p>
                      <a:pPr eaLnBrk="0">
                        <a:lnSpc>
                          <a:spcPct val="112000"/>
                        </a:lnSpc>
                        <a:spcBef>
                          <a:spcPts val="0"/>
                        </a:spcBef>
                        <a:spcAft>
                          <a:spcPts val="0"/>
                        </a:spcAft>
                      </a:pPr>
                      <a:r>
                        <a:rPr sz="1575" b="0">
                          <a:solidFill>
                            <a:srgbClr val="202124"/>
                          </a:solidFill>
                          <a:latin typeface="Noto Sans KR"/>
                        </a:rPr>
                        <a:t>내비게이션 목적지 검색량: 191,346건 / 외지인 숙박 방문</a:t>
                      </a:r>
                    </a:p>
                    <a:p>
                      <a:pPr eaLnBrk="0">
                        <a:lnSpc>
                          <a:spcPct val="112000"/>
                        </a:lnSpc>
                        <a:spcBef>
                          <a:spcPts val="0"/>
                        </a:spcBef>
                        <a:spcAft>
                          <a:spcPts val="0"/>
                        </a:spcAft>
                      </a:pPr>
                      <a:r>
                        <a:rPr sz="1575" b="0">
                          <a:solidFill>
                            <a:srgbClr val="202124"/>
                          </a:solidFill>
                          <a:latin typeface="Noto Sans KR"/>
                        </a:rPr>
                        <a:t>비율: 6.7% / 관광소비 구성: 쇼핑업 43.0%, 식음료업 39.7%</a:t>
                      </a:r>
                    </a:p>
                  </a:txBody>
                  <a:tcPr marL="95250" marR="95250" marT="66675" marB="66675" anchor="ctr">
                    <a:solidFill>
                      <a:srgbClr val="F0F2F4"/>
                    </a:solidFill>
                  </a:tcPr>
                </a:tc>
                <a:tc>
                  <a:txBody>
                    <a:bodyPr wrap="none"/>
                    <a:lstStyle/>
                    <a:p>
                      <a:pPr eaLnBrk="0">
                        <a:lnSpc>
                          <a:spcPct val="112000"/>
                        </a:lnSpc>
                        <a:spcBef>
                          <a:spcPts val="0"/>
                        </a:spcBef>
                        <a:spcAft>
                          <a:spcPts val="0"/>
                        </a:spcAft>
                      </a:pPr>
                      <a:r>
                        <a:rPr sz="1575" b="0">
                          <a:solidFill>
                            <a:srgbClr val="202124"/>
                          </a:solidFill>
                          <a:latin typeface="Noto Sans KR"/>
                        </a:rPr>
                        <a:t>지역 소비·체류 지표를 보고 참여 업종과 이용</a:t>
                      </a:r>
                    </a:p>
                    <a:p>
                      <a:pPr eaLnBrk="0">
                        <a:lnSpc>
                          <a:spcPct val="112000"/>
                        </a:lnSpc>
                        <a:spcBef>
                          <a:spcPts val="0"/>
                        </a:spcBef>
                        <a:spcAft>
                          <a:spcPts val="0"/>
                        </a:spcAft>
                      </a:pPr>
                      <a:r>
                        <a:rPr sz="1575" b="0">
                          <a:solidFill>
                            <a:srgbClr val="202124"/>
                          </a:solidFill>
                          <a:latin typeface="Noto Sans KR"/>
                        </a:rPr>
                        <a:t>대상을 정합니다.</a:t>
                      </a:r>
                    </a:p>
                  </a:txBody>
                  <a:tcPr marL="95250" marR="95250" marT="66675" marB="66675" anchor="ctr">
                    <a:solidFill>
                      <a:srgbClr val="F0F2F4"/>
                    </a:solidFill>
                  </a:tcPr>
                </a:tc>
              </a:tr>
              <a:tr h="977900">
                <a:tc>
                  <a:txBody>
                    <a:bodyPr wrap="none"/>
                    <a:lstStyle/>
                    <a:p>
                      <a:pPr eaLnBrk="0">
                        <a:lnSpc>
                          <a:spcPct val="112000"/>
                        </a:lnSpc>
                        <a:spcBef>
                          <a:spcPts val="0"/>
                        </a:spcBef>
                        <a:spcAft>
                          <a:spcPts val="0"/>
                        </a:spcAft>
                      </a:pPr>
                      <a:r>
                        <a:rPr sz="1575" b="1">
                          <a:solidFill>
                            <a:srgbClr val="202124"/>
                          </a:solidFill>
                          <a:latin typeface="Noto Sans KR"/>
                        </a:rPr>
                        <a:t>시범 운영 규모</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입력 예산 총액 안에서 참여량과 운영 인력을 배분</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참여량 × 건별 혜택과 운영 인일로 견적을 계산합니다.</a:t>
                      </a:r>
                    </a:p>
                  </a:txBody>
                  <a:tcPr marL="95250" marR="95250" marT="66675" marB="66675" anchor="ctr">
                    <a:solidFill>
                      <a:srgbClr val="FFFFFF"/>
                    </a:solidFill>
                  </a:tcPr>
                </a:tc>
              </a:tr>
            </a:tbl>
          </a:graphicData>
        </a:graphic>
      </p:graphicFrame>
      <p:sp>
        <p:nvSpPr>
          <p:cNvPr id="6" name="adaptation-panel"/>
          <p:cNvSpPr/>
          <p:nvPr/>
        </p:nvSpPr>
        <p:spPr>
          <a:xfrm>
            <a:off x="1009650" y="6477000"/>
            <a:ext cx="13220700" cy="12192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adaptation-label"/>
          <p:cNvSpPr txBox="1"/>
          <p:nvPr/>
        </p:nvSpPr>
        <p:spPr>
          <a:xfrm>
            <a:off x="1219200" y="6696075"/>
            <a:ext cx="3048000" cy="6191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187C70"/>
                </a:solidFill>
                <a:latin typeface="Noto Sans KR"/>
              </a:rPr>
              <a:t>사례 → 우리 지역의 제안</a:t>
            </a:r>
          </a:p>
        </p:txBody>
      </p:sp>
      <p:sp>
        <p:nvSpPr>
          <p:cNvPr id="8" name="adaptation-body"/>
          <p:cNvSpPr txBox="1"/>
          <p:nvPr/>
        </p:nvSpPr>
        <p:spPr>
          <a:xfrm>
            <a:off x="4552950" y="6638925"/>
            <a:ext cx="9163050" cy="904875"/>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202124"/>
                </a:solidFill>
                <a:latin typeface="Noto Sans KR"/>
              </a:rPr>
              <a:t>지역별 대표 콘텐츠(공연, 체험, 디저트 등)를 야간 시간대에 맞춰 순회 운영하여 방문객의</a:t>
            </a:r>
          </a:p>
          <a:p>
            <a:pPr eaLnBrk="0">
              <a:lnSpc>
                <a:spcPts val="1968"/>
              </a:lnSpc>
              <a:spcBef>
                <a:spcPts val="0"/>
              </a:spcBef>
              <a:spcAft>
                <a:spcPts val="0"/>
              </a:spcAft>
            </a:pPr>
            <a:r>
              <a:rPr sz="1575" b="0">
                <a:solidFill>
                  <a:srgbClr val="202124"/>
                </a:solidFill>
                <a:latin typeface="Noto Sans KR"/>
              </a:rPr>
              <a:t>저녁 체류와 지역 상점 이용을 유도함</a:t>
            </a:r>
          </a:p>
        </p:txBody>
      </p:sp>
      <p:sp>
        <p:nvSpPr>
          <p:cNvPr id="9" name="selection-source"/>
          <p:cNvSpPr txBox="1"/>
          <p:nvPr/>
        </p:nvSpPr>
        <p:spPr>
          <a:xfrm>
            <a:off x="1009650" y="8077200"/>
            <a:ext cx="13220700" cy="3619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62666C"/>
                </a:solidFill>
                <a:latin typeface="Noto Sans KR"/>
                <a:hlinkClick r:id="rId2"/>
              </a:rPr>
              <a:t>문서 기반 함수 연결 · 2025 대한민국 밤밤페스타 개최 도시 및 일정</a:t>
            </a:r>
          </a:p>
        </p:txBody>
      </p:sp>
      <p:sp>
        <p:nvSpPr>
          <p:cNvPr id="11"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3. 지역 적용과 실행</a:t>
            </a:r>
          </a:p>
        </p:txBody>
      </p:sp>
      <p:sp>
        <p:nvSpPr>
          <p:cNvPr id="12"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10 / 17</a:t>
            </a:r>
          </a:p>
        </p:txBody>
      </p:sp>
    </p:spTree>
  </p:cSld>
  <p:clrMapOvr>
    <a:masterClrMapping/>
  </p:clrMapOvr>
</p:sld>
</file>

<file path=ppt/slides/slide9.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3.2 4단계 실행 가이드 예시안</a:t>
            </a:r>
          </a:p>
        </p:txBody>
      </p:sp>
      <p:sp xmlns:a="http://schemas.openxmlformats.org/drawingml/2006/main">
        <p:nvSpPr>
          <p:cNvPr id="4" name="execution-panel-0"/>
          <p:cNvSpPr/>
          <p:nvPr/>
        </p:nvSpPr>
        <p:spPr>
          <a:xfrm>
            <a:off x="1009650" y="2095500"/>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flow-node-0"/>
          <p:cNvSpPr txBox="1"/>
          <p:nvPr/>
        </p:nvSpPr>
        <p:spPr>
          <a:xfrm>
            <a:off x="1219200" y="2305050"/>
            <a:ext cx="714375" cy="485775"/>
          </a:xfrm>
          <a:prstGeom prst="roundRect">
            <a:avLst>
              <a:gd name="adj" fmla="val 50000"/>
            </a:avLst>
          </a:prstGeom>
          <a:solidFill>
            <a:srgbClr val="27649B"/>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01</a:t>
            </a:r>
          </a:p>
        </p:txBody>
      </p:sp>
      <p:sp xmlns:a="http://schemas.openxmlformats.org/drawingml/2006/main">
        <p:nvSpPr>
          <p:cNvPr id="6" name="execution-stage-0"/>
          <p:cNvSpPr txBox="1"/>
          <p:nvPr/>
        </p:nvSpPr>
        <p:spPr>
          <a:xfrm>
            <a:off x="2209800" y="2219325"/>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준비와 협의</a:t>
            </a:r>
          </a:p>
        </p:txBody>
      </p:sp>
      <p:sp xmlns:a="http://schemas.openxmlformats.org/drawingml/2006/main">
        <p:nvSpPr>
          <p:cNvPr id="7" name="execution-period-0"/>
          <p:cNvSpPr txBox="1"/>
          <p:nvPr/>
        </p:nvSpPr>
        <p:spPr>
          <a:xfrm>
            <a:off x="2209800" y="2686050"/>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2026-10 · 사업 총괄</a:t>
            </a:r>
          </a:p>
        </p:txBody>
      </p:sp>
      <p:sp xmlns:a="http://schemas.openxmlformats.org/drawingml/2006/main">
        <p:nvSpPr>
          <p:cNvPr id="8" name="execution-lead-0"/>
          <p:cNvSpPr txBox="1"/>
          <p:nvPr/>
        </p:nvSpPr>
        <p:spPr>
          <a:xfrm>
            <a:off x="5314950" y="2190750"/>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함께 운영할 곳과 업무 범위를 정합니다.</a:t>
            </a:r>
          </a:p>
        </p:txBody>
      </p:sp>
      <p:sp xmlns:a="http://schemas.openxmlformats.org/drawingml/2006/main">
        <p:nvSpPr>
          <p:cNvPr id="9" name="execution-body-0"/>
          <p:cNvSpPr txBox="1"/>
          <p:nvPr/>
        </p:nvSpPr>
        <p:spPr>
          <a:xfrm>
            <a:off x="5314950" y="2609850"/>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계획에 나온 참여처와 운영 가능 시간을 확인합니다. 누가 이용자를 안내하고 문의에 답할지 정한 뒤, 신청</a:t>
            </a:r>
          </a:p>
          <a:p>
            <a:pPr eaLnBrk="0">
              <a:lnSpc>
                <a:spcPts val="1875"/>
              </a:lnSpc>
              <a:spcBef>
                <a:spcPts val="0"/>
              </a:spcBef>
              <a:spcAft>
                <a:spcPts val="0"/>
              </a:spcAft>
            </a:pPr>
            <a:r>
              <a:rPr sz="1500" b="0">
                <a:solidFill>
                  <a:srgbClr val="62666C"/>
                </a:solidFill>
                <a:latin typeface="Noto Sans KR"/>
              </a:rPr>
              <a:t>대상과 이용 조건을 하나의 안내문으로 정리합니다.</a:t>
            </a:r>
          </a:p>
        </p:txBody>
      </p:sp>
      <p:sp xmlns:a="http://schemas.openxmlformats.org/drawingml/2006/main">
        <p:nvSpPr>
          <p:cNvPr id="10" name="execution-panel-1"/>
          <p:cNvSpPr/>
          <p:nvPr/>
        </p:nvSpPr>
        <p:spPr>
          <a:xfrm>
            <a:off x="1009650" y="3457575"/>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flow-node-1"/>
          <p:cNvSpPr txBox="1"/>
          <p:nvPr/>
        </p:nvSpPr>
        <p:spPr>
          <a:xfrm>
            <a:off x="1219200" y="3667125"/>
            <a:ext cx="714375" cy="485775"/>
          </a:xfrm>
          <a:prstGeom prst="roundRect">
            <a:avLst>
              <a:gd name="adj" fmla="val 50000"/>
            </a:avLst>
          </a:prstGeom>
          <a:solidFill>
            <a:srgbClr val="187C70"/>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02</a:t>
            </a:r>
          </a:p>
        </p:txBody>
      </p:sp>
      <p:sp xmlns:a="http://schemas.openxmlformats.org/drawingml/2006/main">
        <p:nvSpPr>
          <p:cNvPr id="12" name="execution-stage-1"/>
          <p:cNvSpPr txBox="1"/>
          <p:nvPr/>
        </p:nvSpPr>
        <p:spPr>
          <a:xfrm>
            <a:off x="2209800" y="3581400"/>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운영 절차 점검</a:t>
            </a:r>
          </a:p>
        </p:txBody>
      </p:sp>
      <p:sp xmlns:a="http://schemas.openxmlformats.org/drawingml/2006/main">
        <p:nvSpPr>
          <p:cNvPr id="13" name="execution-period-1"/>
          <p:cNvSpPr txBox="1"/>
          <p:nvPr/>
        </p:nvSpPr>
        <p:spPr>
          <a:xfrm>
            <a:off x="2209800" y="4048125"/>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2026-11 · 운영·정산 담당</a:t>
            </a:r>
          </a:p>
        </p:txBody>
      </p:sp>
      <p:sp xmlns:a="http://schemas.openxmlformats.org/drawingml/2006/main">
        <p:nvSpPr>
          <p:cNvPr id="14" name="execution-lead-1"/>
          <p:cNvSpPr txBox="1"/>
          <p:nvPr/>
        </p:nvSpPr>
        <p:spPr>
          <a:xfrm>
            <a:off x="5314950" y="3552825"/>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이용자 입장에서 전 과정을 시험합니다.</a:t>
            </a:r>
          </a:p>
        </p:txBody>
      </p:sp>
      <p:sp xmlns:a="http://schemas.openxmlformats.org/drawingml/2006/main">
        <p:nvSpPr>
          <p:cNvPr id="15" name="execution-body-1"/>
          <p:cNvSpPr txBox="1"/>
          <p:nvPr/>
        </p:nvSpPr>
        <p:spPr>
          <a:xfrm>
            <a:off x="5314950" y="3971925"/>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안내를 보고 신청한 뒤 현장에서 이용을 마칠 때까지 직접 따라가 봅니다. 예약이 안 되거나 취소가 생겼을</a:t>
            </a:r>
          </a:p>
          <a:p>
            <a:pPr eaLnBrk="0">
              <a:lnSpc>
                <a:spcPts val="1875"/>
              </a:lnSpc>
              <a:spcBef>
                <a:spcPts val="0"/>
              </a:spcBef>
              <a:spcAft>
                <a:spcPts val="0"/>
              </a:spcAft>
            </a:pPr>
            <a:r>
              <a:rPr sz="1500" b="0">
                <a:solidFill>
                  <a:srgbClr val="62666C"/>
                </a:solidFill>
                <a:latin typeface="Noto Sans KR"/>
              </a:rPr>
              <a:t>때의 처리 방법을 정하고 담당자에게 공유합니다.</a:t>
            </a:r>
          </a:p>
        </p:txBody>
      </p:sp>
      <p:sp xmlns:a="http://schemas.openxmlformats.org/drawingml/2006/main">
        <p:nvSpPr>
          <p:cNvPr id="16" name="execution-panel-2"/>
          <p:cNvSpPr/>
          <p:nvPr/>
        </p:nvSpPr>
        <p:spPr>
          <a:xfrm>
            <a:off x="1009650" y="4819650"/>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flow-node-2"/>
          <p:cNvSpPr txBox="1"/>
          <p:nvPr/>
        </p:nvSpPr>
        <p:spPr>
          <a:xfrm>
            <a:off x="1219200" y="5029200"/>
            <a:ext cx="714375" cy="485775"/>
          </a:xfrm>
          <a:prstGeom prst="roundRect">
            <a:avLst>
              <a:gd name="adj" fmla="val 50000"/>
            </a:avLst>
          </a:prstGeom>
          <a:solidFill>
            <a:srgbClr val="7556A5"/>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03</a:t>
            </a:r>
          </a:p>
        </p:txBody>
      </p:sp>
      <p:sp xmlns:a="http://schemas.openxmlformats.org/drawingml/2006/main">
        <p:nvSpPr>
          <p:cNvPr id="18" name="execution-stage-2"/>
          <p:cNvSpPr txBox="1"/>
          <p:nvPr/>
        </p:nvSpPr>
        <p:spPr>
          <a:xfrm>
            <a:off x="2209800" y="4943475"/>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시범 운영</a:t>
            </a:r>
          </a:p>
        </p:txBody>
      </p:sp>
      <p:sp xmlns:a="http://schemas.openxmlformats.org/drawingml/2006/main">
        <p:nvSpPr>
          <p:cNvPr id="19" name="execution-period-2"/>
          <p:cNvSpPr txBox="1"/>
          <p:nvPr/>
        </p:nvSpPr>
        <p:spPr>
          <a:xfrm>
            <a:off x="2209800" y="5410200"/>
            <a:ext cx="2724150" cy="476250"/>
          </a:xfrm>
          <a:prstGeom prst="rect">
            <a:avLst/>
          </a:prstGeom>
          <a:noFill/>
        </p:spPr>
        <p:txBody>
          <a:bodyPr wrap="none" lIns="57150" rIns="57150" tIns="38100" bIns="38100" anchor="t">
            <a:noAutofit/>
          </a:bodyPr>
          <a:lstStyle/>
          <a:p>
            <a:pPr eaLnBrk="0">
              <a:lnSpc>
                <a:spcPts val="1546"/>
              </a:lnSpc>
              <a:spcBef>
                <a:spcPts val="0"/>
              </a:spcBef>
              <a:spcAft>
                <a:spcPts val="0"/>
              </a:spcAft>
            </a:pPr>
            <a:r>
              <a:rPr sz="1237" b="0">
                <a:solidFill>
                  <a:srgbClr val="62666C"/>
                </a:solidFill>
                <a:latin typeface="Noto Sans KR"/>
              </a:rPr>
              <a:t>2026-11 ~ 2026-12 · 현장 운영 담당</a:t>
            </a:r>
          </a:p>
        </p:txBody>
      </p:sp>
      <p:sp xmlns:a="http://schemas.openxmlformats.org/drawingml/2006/main">
        <p:nvSpPr>
          <p:cNvPr id="20" name="execution-lead-2"/>
          <p:cNvSpPr txBox="1"/>
          <p:nvPr/>
        </p:nvSpPr>
        <p:spPr>
          <a:xfrm>
            <a:off x="5314950" y="4914900"/>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제한된 범위에서 먼저 운영합니다.</a:t>
            </a:r>
          </a:p>
        </p:txBody>
      </p:sp>
      <p:sp xmlns:a="http://schemas.openxmlformats.org/drawingml/2006/main">
        <p:nvSpPr>
          <p:cNvPr id="21" name="execution-body-2"/>
          <p:cNvSpPr txBox="1"/>
          <p:nvPr/>
        </p:nvSpPr>
        <p:spPr>
          <a:xfrm>
            <a:off x="5314950" y="5334000"/>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협의된 참여처와 시간대로 시작합니다. 현장 담당자가 안내와 안전 상태를 확인하고, 매일 신청 수와 실제</a:t>
            </a:r>
          </a:p>
          <a:p>
            <a:pPr eaLnBrk="0">
              <a:lnSpc>
                <a:spcPts val="1875"/>
              </a:lnSpc>
              <a:spcBef>
                <a:spcPts val="0"/>
              </a:spcBef>
              <a:spcAft>
                <a:spcPts val="0"/>
              </a:spcAft>
            </a:pPr>
            <a:r>
              <a:rPr sz="1500" b="0">
                <a:solidFill>
                  <a:srgbClr val="62666C"/>
                </a:solidFill>
                <a:latin typeface="Noto Sans KR"/>
              </a:rPr>
              <a:t>이용 수를 기록합니다. 반복되는 문의는 안내문에 반영합니다.</a:t>
            </a:r>
          </a:p>
        </p:txBody>
      </p:sp>
      <p:sp xmlns:a="http://schemas.openxmlformats.org/drawingml/2006/main">
        <p:nvSpPr>
          <p:cNvPr id="22" name="execution-panel-3"/>
          <p:cNvSpPr/>
          <p:nvPr/>
        </p:nvSpPr>
        <p:spPr>
          <a:xfrm>
            <a:off x="1009650" y="6181725"/>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flow-node-3"/>
          <p:cNvSpPr txBox="1"/>
          <p:nvPr/>
        </p:nvSpPr>
        <p:spPr>
          <a:xfrm>
            <a:off x="1219200" y="6391275"/>
            <a:ext cx="714375" cy="485775"/>
          </a:xfrm>
          <a:prstGeom prst="roundRect">
            <a:avLst>
              <a:gd name="adj" fmla="val 50000"/>
            </a:avLst>
          </a:prstGeom>
          <a:solidFill>
            <a:srgbClr val="AE2349"/>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04</a:t>
            </a:r>
          </a:p>
        </p:txBody>
      </p:sp>
      <p:sp xmlns:a="http://schemas.openxmlformats.org/drawingml/2006/main">
        <p:nvSpPr>
          <p:cNvPr id="24" name="execution-stage-3"/>
          <p:cNvSpPr txBox="1"/>
          <p:nvPr/>
        </p:nvSpPr>
        <p:spPr>
          <a:xfrm>
            <a:off x="2209800" y="6305550"/>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실적 확인과 평가</a:t>
            </a:r>
          </a:p>
        </p:txBody>
      </p:sp>
      <p:sp xmlns:a="http://schemas.openxmlformats.org/drawingml/2006/main">
        <p:nvSpPr>
          <p:cNvPr id="25" name="execution-period-3"/>
          <p:cNvSpPr txBox="1"/>
          <p:nvPr/>
        </p:nvSpPr>
        <p:spPr>
          <a:xfrm>
            <a:off x="2209800" y="6772275"/>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2026-12 · 사업·평가 담당</a:t>
            </a:r>
          </a:p>
        </p:txBody>
      </p:sp>
      <p:sp xmlns:a="http://schemas.openxmlformats.org/drawingml/2006/main">
        <p:nvSpPr>
          <p:cNvPr id="26" name="execution-lead-3"/>
          <p:cNvSpPr txBox="1"/>
          <p:nvPr/>
        </p:nvSpPr>
        <p:spPr>
          <a:xfrm>
            <a:off x="5314950" y="6276975"/>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이용 실적과 비용을 함께 정리합니다.</a:t>
            </a:r>
          </a:p>
        </p:txBody>
      </p:sp>
      <p:sp xmlns:a="http://schemas.openxmlformats.org/drawingml/2006/main">
        <p:nvSpPr>
          <p:cNvPr id="27" name="execution-body-3"/>
          <p:cNvSpPr txBox="1"/>
          <p:nvPr/>
        </p:nvSpPr>
        <p:spPr>
          <a:xfrm>
            <a:off x="5314950" y="6696075"/>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매주 이용 기록과 지출 내역을 확인하고 불편이 생긴 원인을 정리합니다. 종료 후 같은 기준의 운영 전 자료와</a:t>
            </a:r>
          </a:p>
          <a:p>
            <a:pPr eaLnBrk="0">
              <a:lnSpc>
                <a:spcPts val="1875"/>
              </a:lnSpc>
              <a:spcBef>
                <a:spcPts val="0"/>
              </a:spcBef>
              <a:spcAft>
                <a:spcPts val="0"/>
              </a:spcAft>
            </a:pPr>
            <a:r>
              <a:rPr sz="1500" b="0">
                <a:solidFill>
                  <a:srgbClr val="62666C"/>
                </a:solidFill>
                <a:latin typeface="Noto Sans KR"/>
              </a:rPr>
              <a:t>비교하되, 계절 변화와 사업 효과를 구분해 보고합니다.</a:t>
            </a:r>
          </a:p>
        </p:txBody>
      </p:sp>
      <p:sp xmlns:a="http://schemas.openxmlformats.org/drawingml/2006/main">
        <p:nvSpPr>
          <p:cNvPr id="28" name="execution-origin"/>
          <p:cNvSpPr txBox="1"/>
          <p:nvPr/>
        </p:nvSpPr>
        <p:spPr>
          <a:xfrm>
            <a:off x="1009650" y="7829550"/>
            <a:ext cx="13220700" cy="5715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작성 기준: 저장된 일정 + 사업 유형별 운영 안내 함수. 공식 협약·법정 절차를 인용한 내용이 아니라 조정 가능한 실행 예시입니다.</a:t>
            </a:r>
          </a:p>
        </p:txBody>
      </p:sp>
      <p:sp xmlns:a="http://schemas.openxmlformats.org/drawingml/2006/main">
        <p:nvSpPr>
          <p:cNvPr id="30"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3. 지역 적용과 실행</a:t>
            </a:r>
          </a:p>
        </p:txBody>
      </p:sp>
      <p:sp xmlns:a="http://schemas.openxmlformats.org/drawingml/2006/main">
        <p:nvSpPr>
          <p:cNvPr id="31"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11 / 17</a:t>
            </a:r>
          </a:p>
        </p:txBody>
      </p:sp>
    </p:spTree>
    <p:extLst>
      <p:ext uri="{BB962C8B-B14F-4D97-AF65-F5344CB8AC3E}">
        <p14:creationId xmlns:p14="http://schemas.microsoft.com/office/powerpoint/2010/main" val="380383987"/>
      </p:ext>
    </p:extLst>
  </p:cSld>
</p:sld>
</file>

<file path=ppt/slides/slide10.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3.3 머신러닝 예측값과 목표 KPI</a:t>
            </a:r>
          </a:p>
        </p:txBody>
      </p:sp>
      <p:sp xmlns:a="http://schemas.openxmlformats.org/drawingml/2006/main">
        <p:nvSpPr>
          <p:cNvPr id="4" name="kpi-title-0"/>
          <p:cNvSpPr txBox="1"/>
          <p:nvPr/>
        </p:nvSpPr>
        <p:spPr>
          <a:xfrm>
            <a:off x="1009650" y="2047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202124"/>
                </a:solidFill>
                <a:latin typeface="Noto Sans KR"/>
              </a:rPr>
              <a:t>관광객 방문자 수</a:t>
            </a:r>
          </a:p>
        </p:txBody>
      </p:sp>
      <p:graphicFrame xmlns:a="http://schemas.openxmlformats.org/drawingml/2006/main">
        <p:nvGraphicFramePr>
          <p:cNvPr id="5" name="kpi-visitors-table"/>
          <p:cNvGraphicFramePr>
            <a:graphicFrameLocks noGrp="1"/>
          </p:cNvGraphicFramePr>
          <p:nvPr/>
        </p:nvGraphicFramePr>
        <p:xfrm>
          <a:off x="1009650" y="2514600"/>
          <a:ext cx="13220700" cy="2019300"/>
        </p:xfrm>
        <a:graphic>
          <a:graphicData uri="http://schemas.openxmlformats.org/drawingml/2006/table">
            <a:tbl>
              <a:tblPr firstRow="1" bandRow="1">
                <a:tableStyleId>{5C22544A-7EE6-4342-B048-85BDC9FD1C3A}</a:tableStyleId>
              </a:tblPr>
              <a:tblGrid>
                <a:gridCol w="2143125"/>
                <a:gridCol w="3333750"/>
                <a:gridCol w="3333750"/>
                <a:gridCol w="4410075"/>
              </a:tblGrid>
              <a:tr h="495300">
                <a:tc>
                  <a:txBody>
                    <a:bodyPr wrap="none"/>
                    <a:lstStyle/>
                    <a:p>
                      <a:pPr eaLnBrk="0">
                        <a:lnSpc>
                          <a:spcPct val="112000"/>
                        </a:lnSpc>
                        <a:spcBef>
                          <a:spcPts val="0"/>
                        </a:spcBef>
                        <a:spcAft>
                          <a:spcPts val="0"/>
                        </a:spcAft>
                      </a:pPr>
                      <a:r>
                        <a:rPr sz="1575" b="1">
                          <a:solidFill>
                            <a:srgbClr val="FFFFFF"/>
                          </a:solidFill>
                          <a:latin typeface="Noto Sans KR"/>
                        </a:rPr>
                        <a:t>기준월</a:t>
                      </a:r>
                    </a:p>
                  </a:txBody>
                  <a:tcPr marL="95250" marR="95250" marT="66675" marB="66675" anchor="ctr">
                    <a:solidFill>
                      <a:srgbClr val="27649B"/>
                    </a:solidFill>
                  </a:tcPr>
                </a:tc>
                <a:tc>
                  <a:txBody>
                    <a:bodyPr wrap="none"/>
                    <a:lstStyle/>
                    <a:p>
                      <a:pPr eaLnBrk="0">
                        <a:lnSpc>
                          <a:spcPct val="112000"/>
                        </a:lnSpc>
                        <a:spcBef>
                          <a:spcPts val="0"/>
                        </a:spcBef>
                        <a:spcAft>
                          <a:spcPts val="0"/>
                        </a:spcAft>
                      </a:pPr>
                      <a:r>
                        <a:rPr sz="1575" b="1">
                          <a:solidFill>
                            <a:srgbClr val="FFFFFF"/>
                          </a:solidFill>
                          <a:latin typeface="Noto Sans KR"/>
                        </a:rPr>
                        <a:t>머신러닝 예측값</a:t>
                      </a:r>
                    </a:p>
                  </a:txBody>
                  <a:tcPr marL="95250" marR="95250" marT="66675" marB="66675" anchor="ctr">
                    <a:solidFill>
                      <a:srgbClr val="27649B"/>
                    </a:solidFill>
                  </a:tcPr>
                </a:tc>
                <a:tc>
                  <a:txBody>
                    <a:bodyPr wrap="none"/>
                    <a:lstStyle/>
                    <a:p>
                      <a:pPr eaLnBrk="0">
                        <a:lnSpc>
                          <a:spcPct val="112000"/>
                        </a:lnSpc>
                        <a:spcBef>
                          <a:spcPts val="0"/>
                        </a:spcBef>
                        <a:spcAft>
                          <a:spcPts val="0"/>
                        </a:spcAft>
                      </a:pPr>
                      <a:r>
                        <a:rPr sz="1575" b="1">
                          <a:solidFill>
                            <a:srgbClr val="FFFFFF"/>
                          </a:solidFill>
                          <a:latin typeface="Noto Sans KR"/>
                        </a:rPr>
                        <a:t>목표 KPI</a:t>
                      </a:r>
                    </a:p>
                  </a:txBody>
                  <a:tcPr marL="95250" marR="95250" marT="66675" marB="66675" anchor="ctr">
                    <a:solidFill>
                      <a:srgbClr val="27649B"/>
                    </a:solidFill>
                  </a:tcPr>
                </a:tc>
                <a:tc>
                  <a:txBody>
                    <a:bodyPr wrap="none"/>
                    <a:lstStyle/>
                    <a:p>
                      <a:pPr eaLnBrk="0">
                        <a:lnSpc>
                          <a:spcPct val="112000"/>
                        </a:lnSpc>
                        <a:spcBef>
                          <a:spcPts val="0"/>
                        </a:spcBef>
                        <a:spcAft>
                          <a:spcPts val="0"/>
                        </a:spcAft>
                      </a:pPr>
                      <a:r>
                        <a:rPr sz="1575" b="1">
                          <a:solidFill>
                            <a:srgbClr val="FFFFFF"/>
                          </a:solidFill>
                          <a:latin typeface="Noto Sans KR"/>
                        </a:rPr>
                        <a:t>기준 대비 증가</a:t>
                      </a:r>
                    </a:p>
                  </a:txBody>
                  <a:tcPr marL="95250" marR="95250" marT="66675" marB="66675" anchor="ctr">
                    <a:solidFill>
                      <a:srgbClr val="27649B"/>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26.10</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4,998,578명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4,999,157명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579명 · 0.01%</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26.11</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4,940,348명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4,941,492명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1">
                          <a:solidFill>
                            <a:srgbClr val="202124"/>
                          </a:solidFill>
                          <a:latin typeface="Noto Sans KR"/>
                        </a:rPr>
                        <a:t>↑ 1,144명 · 0.02%</a:t>
                      </a:r>
                    </a:p>
                  </a:txBody>
                  <a:tcPr marL="95250" marR="95250" marT="66675" marB="66675" anchor="ctr">
                    <a:solidFill>
                      <a:srgbClr val="EDF3F8"/>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26.12</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4,989,633명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4,991,366명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1,733명 · 0.03%</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3개월 월별 합계</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14,928,559명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14,932,015명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1">
                          <a:solidFill>
                            <a:srgbClr val="202124"/>
                          </a:solidFill>
                          <a:latin typeface="Noto Sans KR"/>
                        </a:rPr>
                        <a:t>↑ 3,456명 · 0.02%</a:t>
                      </a:r>
                    </a:p>
                  </a:txBody>
                  <a:tcPr marL="95250" marR="95250" marT="66675" marB="66675" anchor="ctr">
                    <a:solidFill>
                      <a:srgbClr val="EDF3F8"/>
                    </a:solidFill>
                  </a:tcPr>
                </a:tc>
              </a:tr>
            </a:tbl>
          </a:graphicData>
        </a:graphic>
      </p:graphicFrame>
      <p:sp xmlns:a="http://schemas.openxmlformats.org/drawingml/2006/main">
        <p:nvSpPr>
          <p:cNvPr id="6" name="kpi-total-0"/>
          <p:cNvSpPr txBox="1"/>
          <p:nvPr/>
        </p:nvSpPr>
        <p:spPr>
          <a:xfrm>
            <a:off x="8743950" y="2047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27649B"/>
                </a:solidFill>
                <a:latin typeface="Noto Sans KR"/>
              </a:rPr>
              <a:t>3개월 목표 추가 규모 ↑ 3,456명</a:t>
            </a:r>
          </a:p>
        </p:txBody>
      </p:sp>
      <p:sp xmlns:a="http://schemas.openxmlformats.org/drawingml/2006/main">
        <p:nvSpPr>
          <p:cNvPr id="7" name="kpi-title-1"/>
          <p:cNvSpPr txBox="1"/>
          <p:nvPr/>
        </p:nvSpPr>
        <p:spPr>
          <a:xfrm>
            <a:off x="1009650" y="4714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202124"/>
                </a:solidFill>
                <a:latin typeface="Noto Sans KR"/>
              </a:rPr>
              <a:t>관광소비액</a:t>
            </a:r>
          </a:p>
        </p:txBody>
      </p:sp>
      <p:graphicFrame xmlns:a="http://schemas.openxmlformats.org/drawingml/2006/main">
        <p:nvGraphicFramePr>
          <p:cNvPr id="8" name="kpi-spending-table"/>
          <p:cNvGraphicFramePr>
            <a:graphicFrameLocks noGrp="1"/>
          </p:cNvGraphicFramePr>
          <p:nvPr/>
        </p:nvGraphicFramePr>
        <p:xfrm>
          <a:off x="1009650" y="5181600"/>
          <a:ext cx="13220700" cy="2019300"/>
        </p:xfrm>
        <a:graphic>
          <a:graphicData uri="http://schemas.openxmlformats.org/drawingml/2006/table">
            <a:tbl>
              <a:tblPr firstRow="1" bandRow="1">
                <a:tableStyleId>{5C22544A-7EE6-4342-B048-85BDC9FD1C3A}</a:tableStyleId>
              </a:tblPr>
              <a:tblGrid>
                <a:gridCol w="2143125"/>
                <a:gridCol w="3333750"/>
                <a:gridCol w="3333750"/>
                <a:gridCol w="4410075"/>
              </a:tblGrid>
              <a:tr h="495300">
                <a:tc>
                  <a:txBody>
                    <a:bodyPr wrap="none"/>
                    <a:lstStyle/>
                    <a:p>
                      <a:pPr eaLnBrk="0">
                        <a:lnSpc>
                          <a:spcPct val="112000"/>
                        </a:lnSpc>
                        <a:spcBef>
                          <a:spcPts val="0"/>
                        </a:spcBef>
                        <a:spcAft>
                          <a:spcPts val="0"/>
                        </a:spcAft>
                      </a:pPr>
                      <a:r>
                        <a:rPr sz="1575" b="1">
                          <a:solidFill>
                            <a:srgbClr val="FFFFFF"/>
                          </a:solidFill>
                          <a:latin typeface="Noto Sans KR"/>
                        </a:rPr>
                        <a:t>기준월</a:t>
                      </a:r>
                    </a:p>
                  </a:txBody>
                  <a:tcPr marL="95250" marR="95250" marT="66675" marB="66675" anchor="ctr">
                    <a:solidFill>
                      <a:srgbClr val="187C70"/>
                    </a:solidFill>
                  </a:tcPr>
                </a:tc>
                <a:tc>
                  <a:txBody>
                    <a:bodyPr wrap="none"/>
                    <a:lstStyle/>
                    <a:p>
                      <a:pPr eaLnBrk="0">
                        <a:lnSpc>
                          <a:spcPct val="112000"/>
                        </a:lnSpc>
                        <a:spcBef>
                          <a:spcPts val="0"/>
                        </a:spcBef>
                        <a:spcAft>
                          <a:spcPts val="0"/>
                        </a:spcAft>
                      </a:pPr>
                      <a:r>
                        <a:rPr sz="1575" b="1">
                          <a:solidFill>
                            <a:srgbClr val="FFFFFF"/>
                          </a:solidFill>
                          <a:latin typeface="Noto Sans KR"/>
                        </a:rPr>
                        <a:t>머신러닝 예측값</a:t>
                      </a:r>
                    </a:p>
                  </a:txBody>
                  <a:tcPr marL="95250" marR="95250" marT="66675" marB="66675" anchor="ctr">
                    <a:solidFill>
                      <a:srgbClr val="187C70"/>
                    </a:solidFill>
                  </a:tcPr>
                </a:tc>
                <a:tc>
                  <a:txBody>
                    <a:bodyPr wrap="none"/>
                    <a:lstStyle/>
                    <a:p>
                      <a:pPr eaLnBrk="0">
                        <a:lnSpc>
                          <a:spcPct val="112000"/>
                        </a:lnSpc>
                        <a:spcBef>
                          <a:spcPts val="0"/>
                        </a:spcBef>
                        <a:spcAft>
                          <a:spcPts val="0"/>
                        </a:spcAft>
                      </a:pPr>
                      <a:r>
                        <a:rPr sz="1575" b="1">
                          <a:solidFill>
                            <a:srgbClr val="FFFFFF"/>
                          </a:solidFill>
                          <a:latin typeface="Noto Sans KR"/>
                        </a:rPr>
                        <a:t>목표 KPI</a:t>
                      </a:r>
                    </a:p>
                  </a:txBody>
                  <a:tcPr marL="95250" marR="95250" marT="66675" marB="66675" anchor="ctr">
                    <a:solidFill>
                      <a:srgbClr val="187C70"/>
                    </a:solidFill>
                  </a:tcPr>
                </a:tc>
                <a:tc>
                  <a:txBody>
                    <a:bodyPr wrap="none"/>
                    <a:lstStyle/>
                    <a:p>
                      <a:pPr eaLnBrk="0">
                        <a:lnSpc>
                          <a:spcPct val="112000"/>
                        </a:lnSpc>
                        <a:spcBef>
                          <a:spcPts val="0"/>
                        </a:spcBef>
                        <a:spcAft>
                          <a:spcPts val="0"/>
                        </a:spcAft>
                      </a:pPr>
                      <a:r>
                        <a:rPr sz="1575" b="1">
                          <a:solidFill>
                            <a:srgbClr val="FFFFFF"/>
                          </a:solidFill>
                          <a:latin typeface="Noto Sans KR"/>
                        </a:rPr>
                        <a:t>기준 대비 증가</a:t>
                      </a:r>
                    </a:p>
                  </a:txBody>
                  <a:tcPr marL="95250" marR="95250" marT="66675" marB="66675" anchor="ctr">
                    <a:solidFill>
                      <a:srgbClr val="187C70"/>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26.10</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793.59억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793.79억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1,984만 원 · 0.02%</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26.11</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859.72억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860.15억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1">
                          <a:solidFill>
                            <a:srgbClr val="202124"/>
                          </a:solidFill>
                          <a:latin typeface="Noto Sans KR"/>
                        </a:rPr>
                        <a:t>↑ 4,298만 원 · 0.05%</a:t>
                      </a:r>
                    </a:p>
                  </a:txBody>
                  <a:tcPr marL="95250" marR="95250" marT="66675" marB="66675" anchor="ctr">
                    <a:solidFill>
                      <a:srgbClr val="EDF5F3"/>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26.12</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810.34억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810.95억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6,076만 원 · 0.07%</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3개월 월별 합계</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2,463.65억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2,464.89억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1">
                          <a:solidFill>
                            <a:srgbClr val="202124"/>
                          </a:solidFill>
                          <a:latin typeface="Noto Sans KR"/>
                        </a:rPr>
                        <a:t>↑ 1.24억 원 · 0.05%</a:t>
                      </a:r>
                    </a:p>
                  </a:txBody>
                  <a:tcPr marL="95250" marR="95250" marT="66675" marB="66675" anchor="ctr">
                    <a:solidFill>
                      <a:srgbClr val="EDF5F3"/>
                    </a:solidFill>
                  </a:tcPr>
                </a:tc>
              </a:tr>
            </a:tbl>
          </a:graphicData>
        </a:graphic>
      </p:graphicFrame>
      <p:sp xmlns:a="http://schemas.openxmlformats.org/drawingml/2006/main">
        <p:nvSpPr>
          <p:cNvPr id="9" name="kpi-total-1"/>
          <p:cNvSpPr txBox="1"/>
          <p:nvPr/>
        </p:nvSpPr>
        <p:spPr>
          <a:xfrm>
            <a:off x="8743950" y="4714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187C70"/>
                </a:solidFill>
                <a:latin typeface="Noto Sans KR"/>
              </a:rPr>
              <a:t>3개월 목표 추가 규모 ↑ 1.24억 원</a:t>
            </a:r>
          </a:p>
        </p:txBody>
      </p:sp>
      <p:sp xmlns:a="http://schemas.openxmlformats.org/drawingml/2006/main">
        <p:nvSpPr>
          <p:cNvPr id="10" name="kpi-calculation"/>
          <p:cNvSpPr txBox="1"/>
          <p:nvPr/>
        </p:nvSpPr>
        <p:spPr>
          <a:xfrm>
            <a:off x="1009650" y="7429500"/>
            <a:ext cx="13220700" cy="10668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월별 목표 = 해당 월 ML 전망 × (1 + 최종월 목표율 × 경과 월 수 ÷ 전체 월 수). 방문·소비 목표율은 각각 적용합니다.</a:t>
            </a:r>
          </a:p>
          <a:p>
            <a:pPr eaLnBrk="0">
              <a:lnSpc>
                <a:spcPts val="1687"/>
              </a:lnSpc>
              <a:spcBef>
                <a:spcPts val="0"/>
              </a:spcBef>
              <a:spcAft>
                <a:spcPts val="0"/>
              </a:spcAft>
            </a:pPr>
            <a:r>
              <a:rPr sz="1350" b="0">
                <a:solidFill>
                  <a:srgbClr val="62666C"/>
                </a:solidFill>
                <a:latin typeface="Noto Sans KR"/>
              </a:rPr>
              <a:t>합계 증가율 = (목표 합계 ÷ ML 합계 − 1) × 100. 방문 합계는 월 간 중복을 포함하며, 보장된 사업 효과가 아닙니다.</a:t>
            </a:r>
          </a:p>
        </p:txBody>
      </p:sp>
      <p:sp xmlns:a="http://schemas.openxmlformats.org/drawingml/2006/main">
        <p:nvSpPr>
          <p:cNvPr id="1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3. 지역 적용과 실행</a:t>
            </a:r>
          </a:p>
        </p:txBody>
      </p:sp>
      <p:sp xmlns:a="http://schemas.openxmlformats.org/drawingml/2006/main">
        <p:nvSpPr>
          <p:cNvPr id="13"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12 / 17</a:t>
            </a:r>
          </a:p>
        </p:txBody>
      </p:sp>
    </p:spTree>
    <p:extLst>
      <p:ext uri="{BB962C8B-B14F-4D97-AF65-F5344CB8AC3E}">
        <p14:creationId xmlns:p14="http://schemas.microsoft.com/office/powerpoint/2010/main" val="553742078"/>
      </p:ext>
    </p:extLst>
  </p:cSld>
</p:sld>
</file>

<file path=ppt/slides/slide11.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4.1 견적 예시안</a:t>
            </a:r>
          </a:p>
        </p:txBody>
      </p:sp>
      <p:sp xmlns:a="http://schemas.openxmlformats.org/drawingml/2006/main">
        <p:nvSpPr>
          <p:cNvPr id="4" name="estimate-label"/>
          <p:cNvSpPr txBox="1"/>
          <p:nvPr/>
        </p:nvSpPr>
        <p:spPr>
          <a:xfrm>
            <a:off x="1009650" y="1933575"/>
            <a:ext cx="8477250" cy="47625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62666C"/>
                </a:solidFill>
                <a:latin typeface="Noto Sans KR"/>
              </a:rPr>
              <a:t>운영 규모를 가정한 시범 예산</a:t>
            </a:r>
          </a:p>
        </p:txBody>
      </p:sp>
      <p:sp xmlns:a="http://schemas.openxmlformats.org/drawingml/2006/main">
        <p:nvSpPr>
          <p:cNvPr id="5" name="estimate-total"/>
          <p:cNvSpPr txBox="1"/>
          <p:nvPr/>
        </p:nvSpPr>
        <p:spPr>
          <a:xfrm>
            <a:off x="9620250" y="1876425"/>
            <a:ext cx="4610100" cy="590550"/>
          </a:xfrm>
          <a:prstGeom prst="rect">
            <a:avLst/>
          </a:prstGeom>
          <a:noFill/>
        </p:spPr>
        <p:txBody>
          <a:bodyPr wrap="none" lIns="57150" rIns="57150" tIns="38100" bIns="38100" anchor="t">
            <a:noAutofit/>
          </a:bodyPr>
          <a:lstStyle/>
          <a:p>
            <a:pPr eaLnBrk="0">
              <a:lnSpc>
                <a:spcPts val="3281"/>
              </a:lnSpc>
              <a:spcBef>
                <a:spcPts val="0"/>
              </a:spcBef>
              <a:spcAft>
                <a:spcPts val="0"/>
              </a:spcAft>
            </a:pPr>
            <a:r>
              <a:rPr sz="2625" b="1">
                <a:solidFill>
                  <a:srgbClr val="F50045"/>
                </a:solidFill>
                <a:latin typeface="Noto Sans KR"/>
              </a:rPr>
              <a:t>총 21,824만 원</a:t>
            </a:r>
          </a:p>
        </p:txBody>
      </p:sp>
      <p:graphicFrame xmlns:a="http://schemas.openxmlformats.org/drawingml/2006/main">
        <p:nvGraphicFramePr>
          <p:cNvPr id="6" name="estimate-table"/>
          <p:cNvGraphicFramePr>
            <a:graphicFrameLocks noGrp="1"/>
          </p:cNvGraphicFramePr>
          <p:nvPr/>
        </p:nvGraphicFramePr>
        <p:xfrm>
          <a:off x="1009650" y="2771775"/>
          <a:ext cx="13220700" cy="3829050"/>
        </p:xfrm>
        <a:graphic>
          <a:graphicData uri="http://schemas.openxmlformats.org/drawingml/2006/table">
            <a:tbl>
              <a:tblPr firstRow="1" bandRow="1">
                <a:tableStyleId>{5C22544A-7EE6-4342-B048-85BDC9FD1C3A}</a:tableStyleId>
              </a:tblPr>
              <a:tblGrid>
                <a:gridCol w="2762250"/>
                <a:gridCol w="2667000"/>
                <a:gridCol w="7791450"/>
              </a:tblGrid>
              <a:tr h="495300">
                <a:tc>
                  <a:txBody>
                    <a:bodyPr wrap="none"/>
                    <a:lstStyle/>
                    <a:p>
                      <a:pPr eaLnBrk="0">
                        <a:lnSpc>
                          <a:spcPct val="112000"/>
                        </a:lnSpc>
                        <a:spcBef>
                          <a:spcPts val="0"/>
                        </a:spcBef>
                        <a:spcAft>
                          <a:spcPts val="0"/>
                        </a:spcAft>
                      </a:pPr>
                      <a:r>
                        <a:rPr sz="1575" b="1">
                          <a:solidFill>
                            <a:srgbClr val="FFFFFF"/>
                          </a:solidFill>
                          <a:latin typeface="Noto Sans KR"/>
                        </a:rPr>
                        <a:t>항목</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금액</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산출근거</a:t>
                      </a:r>
                    </a:p>
                  </a:txBody>
                  <a:tcPr marL="95250" marR="95250" marT="66675" marB="66675" anchor="ctr">
                    <a:solidFill>
                      <a:srgbClr val="36A69C"/>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프로그램 운영·참여 지원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153,600,000원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편성 참여 한도 15,360건 × 가정 단가 10,000원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현장 운영·정산</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28,800,000원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8개 거점 × 월 8일 × 3개월 × 150,000원</a:t>
                      </a:r>
                    </a:p>
                  </a:txBody>
                  <a:tcPr marL="95250" marR="95250" marT="66675" marB="66675" anchor="ctr">
                    <a:solidFill>
                      <a:srgbClr val="FBEFF2"/>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신청·운영 시스템</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8,000,000원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기존 수단 설정 1식 × 가정 단가 8,000,000원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홍보·참여처 안내</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5,000,000원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안내 콘텐츠 1식 × 가정 단가 5,000,000원</a:t>
                      </a:r>
                    </a:p>
                  </a:txBody>
                  <a:tcPr marL="95250" marR="95250" marT="66675" marB="66675" anchor="ctr">
                    <a:solidFill>
                      <a:srgbClr val="FBEFF2"/>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성과 집계·검토</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3,000,000원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실적 정리 1식 × 가정 단가 3,000,000원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예비비</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19,840,000원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직접비 198,400,000원 × 10%</a:t>
                      </a:r>
                    </a:p>
                  </a:txBody>
                  <a:tcPr marL="95250" marR="95250" marT="66675" marB="66675" anchor="ctr">
                    <a:solidFill>
                      <a:srgbClr val="FBEFF2"/>
                    </a:solidFill>
                  </a:tcPr>
                </a:tc>
              </a:tr>
            </a:tbl>
          </a:graphicData>
        </a:graphic>
      </p:graphicFrame>
      <p:sp xmlns:a="http://schemas.openxmlformats.org/drawingml/2006/main">
        <p:nvSpPr>
          <p:cNvPr id="7" name="estimate-method"/>
          <p:cNvSpPr txBox="1"/>
          <p:nvPr/>
        </p:nvSpPr>
        <p:spPr>
          <a:xfrm>
            <a:off x="1009650" y="6858000"/>
            <a:ext cx="13220700" cy="100965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8개 × 월 8일 × 3개월 × 하루 2회 × 회당 40명 = 15,360명분 → 편성 참여 한도 15,360건. 모든 단가는 기획 가정.</a:t>
            </a:r>
          </a:p>
          <a:p>
            <a:pPr eaLnBrk="0">
              <a:lnSpc>
                <a:spcPts val="1781"/>
              </a:lnSpc>
              <a:spcBef>
                <a:spcPts val="0"/>
              </a:spcBef>
              <a:spcAft>
                <a:spcPts val="0"/>
              </a:spcAft>
            </a:pPr>
            <a:r>
              <a:rPr sz="1425" b="0">
                <a:solidFill>
                  <a:srgbClr val="62666C"/>
                </a:solidFill>
                <a:latin typeface="Noto Sans KR"/>
              </a:rPr>
              <a:t>직접비 = 혜택 + 운영·정산 + 시스템 + 홍보 + 평가; 예비비 = 직접비 × 10%. 단가와 처리량은 기획 가정입니다.</a:t>
            </a:r>
          </a:p>
        </p:txBody>
      </p:sp>
      <p:sp xmlns:a="http://schemas.openxmlformats.org/drawingml/2006/main">
        <p:nvSpPr>
          <p:cNvPr id="8" name="estimate-note"/>
          <p:cNvSpPr txBox="1"/>
          <p:nvPr/>
        </p:nvSpPr>
        <p:spPr>
          <a:xfrm>
            <a:off x="1009650" y="8077200"/>
            <a:ext cx="13220700" cy="3619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F50045"/>
                </a:solidFill>
                <a:latin typeface="Noto Sans KR"/>
              </a:rPr>
              <a:t>예상 견적이며 실제 액수와 다를 수 있습니다. 세금 포함 여부·업무 범위·수량·단가는 계약 전에 조정합니다.</a:t>
            </a:r>
          </a:p>
        </p:txBody>
      </p:sp>
      <p:sp xmlns:a="http://schemas.openxmlformats.org/drawingml/2006/main">
        <p:nvSpPr>
          <p:cNvPr id="10"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4. 예상 견적</a:t>
            </a:r>
          </a:p>
        </p:txBody>
      </p:sp>
      <p:sp xmlns:a="http://schemas.openxmlformats.org/drawingml/2006/main">
        <p:nvSpPr>
          <p:cNvPr id="11"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13 / 17</a:t>
            </a:r>
          </a:p>
        </p:txBody>
      </p:sp>
    </p:spTree>
    <p:extLst>
      <p:ext uri="{BB962C8B-B14F-4D97-AF65-F5344CB8AC3E}">
        <p14:creationId xmlns:p14="http://schemas.microsoft.com/office/powerpoint/2010/main" val="1823133345"/>
      </p:ext>
    </p:extLst>
  </p:cSld>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66" name="pipeline-agent-card-1086"/>
          <p:cNvSpPr/>
          <p:nvPr/>
        </p:nvSpPr>
        <p:spPr>
          <a:xfrm>
            <a:off x="10344150" y="2686050"/>
            <a:ext cx="19050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pipeline-agent-card-864"/>
          <p:cNvSpPr/>
          <p:nvPr/>
        </p:nvSpPr>
        <p:spPr>
          <a:xfrm>
            <a:off x="8229600" y="2686050"/>
            <a:ext cx="19050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pipeline-agent-card-642"/>
          <p:cNvSpPr/>
          <p:nvPr/>
        </p:nvSpPr>
        <p:spPr>
          <a:xfrm>
            <a:off x="6115050" y="2686050"/>
            <a:ext cx="19050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5.1 기획서 생성 파이프라인</a:t>
            </a:r>
          </a:p>
        </p:txBody>
      </p:sp>
      <p:sp>
        <p:nvSpPr>
          <p:cNvPr id="4" name="pipeline-intro"/>
          <p:cNvSpPr txBox="1"/>
          <p:nvPr/>
        </p:nvSpPr>
        <p:spPr>
          <a:xfrm>
            <a:off x="1009650" y="180975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5개 전문 에이전트가 조사·비교·작성·검수를 나누어 수행합니다</a:t>
            </a:r>
          </a:p>
        </p:txBody>
      </p:sp>
      <p:cxnSp>
        <p:nvCxnSpPr>
          <p:cNvPr id="5" name="start-to-fork-0"/>
          <p:cNvCxnSpPr/>
          <p:nvPr/>
        </p:nvCxnSpPr>
        <p:spPr>
          <a:xfrm>
            <a:off x="2457450" y="4324350"/>
            <a:ext cx="238125"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6" name="fork-evidence-0"/>
          <p:cNvCxnSpPr/>
          <p:nvPr/>
        </p:nvCxnSpPr>
        <p:spPr>
          <a:xfrm flipV="1">
            <a:off x="2695575" y="33718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7" name="fork-evidence-1"/>
          <p:cNvCxnSpPr/>
          <p:nvPr/>
        </p:nvCxnSpPr>
        <p:spPr>
          <a:xfrm>
            <a:off x="2695575" y="3371850"/>
            <a:ext cx="25717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8" name="fork-case-0"/>
          <p:cNvCxnSpPr/>
          <p:nvPr/>
        </p:nvCxnSpPr>
        <p:spPr>
          <a:xfrm>
            <a:off x="2695575" y="43243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9" name="fork-case-1"/>
          <p:cNvCxnSpPr/>
          <p:nvPr/>
        </p:nvCxnSpPr>
        <p:spPr>
          <a:xfrm>
            <a:off x="2695575" y="5276850"/>
            <a:ext cx="25717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0" name="join-evidence-0"/>
          <p:cNvCxnSpPr/>
          <p:nvPr/>
        </p:nvCxnSpPr>
        <p:spPr>
          <a:xfrm>
            <a:off x="5715000" y="3371850"/>
            <a:ext cx="209550"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1" name="join-evidence-1"/>
          <p:cNvCxnSpPr/>
          <p:nvPr/>
        </p:nvCxnSpPr>
        <p:spPr>
          <a:xfrm>
            <a:off x="5924550" y="33718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2" name="join-case-0"/>
          <p:cNvCxnSpPr/>
          <p:nvPr/>
        </p:nvCxnSpPr>
        <p:spPr>
          <a:xfrm>
            <a:off x="5715000" y="5276850"/>
            <a:ext cx="209550"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3" name="join-case-1"/>
          <p:cNvCxnSpPr/>
          <p:nvPr/>
        </p:nvCxnSpPr>
        <p:spPr>
          <a:xfrm flipV="1">
            <a:off x="5924550" y="43243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4" name="join-compare-0"/>
          <p:cNvCxnSpPr/>
          <p:nvPr/>
        </p:nvCxnSpPr>
        <p:spPr>
          <a:xfrm>
            <a:off x="5924550" y="4324350"/>
            <a:ext cx="27622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5" name="pipeline-next-0-0"/>
          <p:cNvCxnSpPr/>
          <p:nvPr/>
        </p:nvCxnSpPr>
        <p:spPr>
          <a:xfrm>
            <a:off x="7905750" y="4324350"/>
            <a:ext cx="419100"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6" name="pipeline-next-1-0"/>
          <p:cNvCxnSpPr/>
          <p:nvPr/>
        </p:nvCxnSpPr>
        <p:spPr>
          <a:xfrm>
            <a:off x="10020300" y="4324350"/>
            <a:ext cx="419100"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7" name="pipeline-next-2-0"/>
          <p:cNvCxnSpPr/>
          <p:nvPr/>
        </p:nvCxnSpPr>
        <p:spPr>
          <a:xfrm>
            <a:off x="12134850" y="4324350"/>
            <a:ext cx="628650"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sp>
        <p:nvSpPr>
          <p:cNvPr id="18" name="research-background"/>
          <p:cNvSpPr/>
          <p:nvPr/>
        </p:nvSpPr>
        <p:spPr>
          <a:xfrm>
            <a:off x="2952750" y="2647950"/>
            <a:ext cx="2762250" cy="34575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7" name="pipeline-evidence-icon" descr="map-pinned-ocean.png"/>
          <p:cNvPicPr>
            <a:picLocks noChangeAspect="1"/>
          </p:cNvPicPr>
          <p:nvPr/>
        </p:nvPicPr>
        <p:blipFill>
          <a:blip r:embed="rId19"/>
          <a:stretch>
            <a:fillRect/>
          </a:stretch>
        </p:blipFill>
        <p:spPr>
          <a:xfrm>
            <a:off x="3143250" y="2981325"/>
            <a:ext cx="542925" cy="542925"/>
          </a:xfrm>
          <a:prstGeom prst="rect">
            <a:avLst/>
          </a:prstGeom>
        </p:spPr>
      </p:pic>
      <p:sp>
        <p:nvSpPr>
          <p:cNvPr id="20" name="pipeline-evidence-title"/>
          <p:cNvSpPr txBox="1"/>
          <p:nvPr/>
        </p:nvSpPr>
        <p:spPr>
          <a:xfrm>
            <a:off x="3800475" y="2905125"/>
            <a:ext cx="1800225" cy="638175"/>
          </a:xfrm>
          <a:prstGeom prst="rect">
            <a:avLst/>
          </a:prstGeom>
          <a:noFill/>
        </p:spPr>
        <p:txBody>
          <a:bodyPr wrap="none" lIns="57150" rIns="57150" tIns="38100" bIns="38100" anchor="t">
            <a:noAutofit/>
          </a:bodyPr>
          <a:lstStyle/>
          <a:p>
            <a:pPr eaLnBrk="0">
              <a:lnSpc>
                <a:spcPts val="2203"/>
              </a:lnSpc>
              <a:spcBef>
                <a:spcPts val="0"/>
              </a:spcBef>
              <a:spcAft>
                <a:spcPts val="0"/>
              </a:spcAft>
            </a:pPr>
            <a:r>
              <a:rPr sz="1762" b="1">
                <a:solidFill>
                  <a:srgbClr val="202124"/>
                </a:solidFill>
                <a:latin typeface="Noto Sans KR"/>
              </a:rPr>
              <a:t>① 지역</a:t>
            </a:r>
          </a:p>
          <a:p>
            <a:pPr eaLnBrk="0">
              <a:lnSpc>
                <a:spcPts val="2203"/>
              </a:lnSpc>
              <a:spcBef>
                <a:spcPts val="0"/>
              </a:spcBef>
              <a:spcAft>
                <a:spcPts val="0"/>
              </a:spcAft>
            </a:pPr>
            <a:r>
              <a:rPr sz="1762" b="1">
                <a:solidFill>
                  <a:srgbClr val="202124"/>
                </a:solidFill>
                <a:latin typeface="Noto Sans KR"/>
              </a:rPr>
              <a:t>근거 정리</a:t>
            </a:r>
          </a:p>
        </p:txBody>
      </p:sp>
      <p:sp>
        <p:nvSpPr>
          <p:cNvPr id="21" name="pipeline-evidence-subtitle"/>
          <p:cNvSpPr txBox="1"/>
          <p:nvPr/>
        </p:nvSpPr>
        <p:spPr>
          <a:xfrm>
            <a:off x="3086100" y="3686175"/>
            <a:ext cx="2486025" cy="485775"/>
          </a:xfrm>
          <a:prstGeom prst="rect">
            <a:avLst/>
          </a:prstGeom>
          <a:noFill/>
        </p:spPr>
        <p:txBody>
          <a:bodyPr wrap="none" lIns="57150" rIns="57150" tIns="38100" bIns="38100" anchor="t">
            <a:noAutofit/>
          </a:bodyPr>
          <a:lstStyle/>
          <a:p>
            <a:pPr eaLnBrk="0" algn="ctr">
              <a:lnSpc>
                <a:spcPts val="1875"/>
              </a:lnSpc>
              <a:spcBef>
                <a:spcPts val="0"/>
              </a:spcBef>
              <a:spcAft>
                <a:spcPts val="0"/>
              </a:spcAft>
            </a:pPr>
            <a:r>
              <a:rPr sz="1500" b="0">
                <a:solidFill>
                  <a:srgbClr val="62666C"/>
                </a:solidFill>
                <a:latin typeface="Noto Sans KR"/>
              </a:rPr>
              <a:t>SQL · 공식 관광자료</a:t>
            </a:r>
          </a:p>
        </p:txBody>
      </p:sp>
      <p:pic>
        <p:nvPicPr>
          <p:cNvPr id="68" name="pipeline-case-icon" descr="search-check-violet.png"/>
          <p:cNvPicPr>
            <a:picLocks noChangeAspect="1"/>
          </p:cNvPicPr>
          <p:nvPr/>
        </p:nvPicPr>
        <p:blipFill>
          <a:blip r:embed="rId20"/>
          <a:stretch>
            <a:fillRect/>
          </a:stretch>
        </p:blipFill>
        <p:spPr>
          <a:xfrm>
            <a:off x="3143250" y="4867275"/>
            <a:ext cx="542925" cy="542925"/>
          </a:xfrm>
          <a:prstGeom prst="rect">
            <a:avLst/>
          </a:prstGeom>
        </p:spPr>
      </p:pic>
      <p:sp>
        <p:nvSpPr>
          <p:cNvPr id="23" name="pipeline-case-title"/>
          <p:cNvSpPr txBox="1"/>
          <p:nvPr/>
        </p:nvSpPr>
        <p:spPr>
          <a:xfrm>
            <a:off x="3800475" y="4791075"/>
            <a:ext cx="1800225" cy="638175"/>
          </a:xfrm>
          <a:prstGeom prst="rect">
            <a:avLst/>
          </a:prstGeom>
          <a:noFill/>
        </p:spPr>
        <p:txBody>
          <a:bodyPr wrap="none" lIns="57150" rIns="57150" tIns="38100" bIns="38100" anchor="t">
            <a:noAutofit/>
          </a:bodyPr>
          <a:lstStyle/>
          <a:p>
            <a:pPr eaLnBrk="0">
              <a:lnSpc>
                <a:spcPts val="2203"/>
              </a:lnSpc>
              <a:spcBef>
                <a:spcPts val="0"/>
              </a:spcBef>
              <a:spcAft>
                <a:spcPts val="0"/>
              </a:spcAft>
            </a:pPr>
            <a:r>
              <a:rPr sz="1762" b="1">
                <a:solidFill>
                  <a:srgbClr val="202124"/>
                </a:solidFill>
                <a:latin typeface="Noto Sans KR"/>
              </a:rPr>
              <a:t>② 타지역</a:t>
            </a:r>
          </a:p>
          <a:p>
            <a:pPr eaLnBrk="0">
              <a:lnSpc>
                <a:spcPts val="2203"/>
              </a:lnSpc>
              <a:spcBef>
                <a:spcPts val="0"/>
              </a:spcBef>
              <a:spcAft>
                <a:spcPts val="0"/>
              </a:spcAft>
            </a:pPr>
            <a:r>
              <a:rPr sz="1762" b="1">
                <a:solidFill>
                  <a:srgbClr val="202124"/>
                </a:solidFill>
                <a:latin typeface="Noto Sans KR"/>
              </a:rPr>
              <a:t>사례 조사</a:t>
            </a:r>
          </a:p>
        </p:txBody>
      </p:sp>
      <p:sp>
        <p:nvSpPr>
          <p:cNvPr id="24" name="pipeline-case-subtitle"/>
          <p:cNvSpPr txBox="1"/>
          <p:nvPr/>
        </p:nvSpPr>
        <p:spPr>
          <a:xfrm>
            <a:off x="3086100" y="5572125"/>
            <a:ext cx="2486025" cy="485775"/>
          </a:xfrm>
          <a:prstGeom prst="rect">
            <a:avLst/>
          </a:prstGeom>
          <a:noFill/>
        </p:spPr>
        <p:txBody>
          <a:bodyPr wrap="none" lIns="57150" rIns="57150" tIns="38100" bIns="38100" anchor="t">
            <a:noAutofit/>
          </a:bodyPr>
          <a:lstStyle/>
          <a:p>
            <a:pPr eaLnBrk="0" algn="ctr">
              <a:lnSpc>
                <a:spcPts val="1875"/>
              </a:lnSpc>
              <a:spcBef>
                <a:spcPts val="0"/>
              </a:spcBef>
              <a:spcAft>
                <a:spcPts val="0"/>
              </a:spcAft>
            </a:pPr>
            <a:r>
              <a:rPr sz="1500" b="0">
                <a:solidFill>
                  <a:srgbClr val="62666C"/>
                </a:solidFill>
                <a:latin typeface="Noto Sans KR"/>
              </a:rPr>
              <a:t>OpenAI · 공식 사업·성과</a:t>
            </a:r>
          </a:p>
        </p:txBody>
      </p:sp>
      <p:pic>
        <p:nvPicPr>
          <p:cNvPr id="69" name="pipeline-click-icon" descr="mouse-pointer-click-slate.png"/>
          <p:cNvPicPr>
            <a:picLocks noChangeAspect="1"/>
          </p:cNvPicPr>
          <p:nvPr/>
        </p:nvPicPr>
        <p:blipFill>
          <a:blip r:embed="rId21"/>
          <a:stretch>
            <a:fillRect/>
          </a:stretch>
        </p:blipFill>
        <p:spPr>
          <a:xfrm>
            <a:off x="1352550" y="3476625"/>
            <a:ext cx="819150" cy="819150"/>
          </a:xfrm>
          <a:prstGeom prst="rect">
            <a:avLst/>
          </a:prstGeom>
        </p:spPr>
      </p:pic>
      <p:sp>
        <p:nvSpPr>
          <p:cNvPr id="26" name="pipeline-click"/>
          <p:cNvSpPr txBox="1"/>
          <p:nvPr/>
        </p:nvSpPr>
        <p:spPr>
          <a:xfrm>
            <a:off x="1009650" y="4600575"/>
            <a:ext cx="1428750" cy="866775"/>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202124"/>
                </a:solidFill>
                <a:latin typeface="Noto Sans KR"/>
              </a:rPr>
              <a:t>기획서 생성</a:t>
            </a:r>
          </a:p>
          <a:p>
            <a:pPr eaLnBrk="0" algn="ctr">
              <a:lnSpc>
                <a:spcPts val="2531"/>
              </a:lnSpc>
              <a:spcBef>
                <a:spcPts val="0"/>
              </a:spcBef>
              <a:spcAft>
                <a:spcPts val="0"/>
              </a:spcAft>
            </a:pPr>
            <a:r>
              <a:rPr sz="2025" b="1">
                <a:solidFill>
                  <a:srgbClr val="202124"/>
                </a:solidFill>
                <a:latin typeface="Noto Sans KR"/>
              </a:rPr>
              <a:t>클릭</a:t>
            </a:r>
          </a:p>
        </p:txBody>
      </p:sp>
      <p:sp>
        <p:nvSpPr>
          <p:cNvPr id="27" name="pipeline-model-652"/>
          <p:cNvSpPr txBox="1"/>
          <p:nvPr/>
        </p:nvSpPr>
        <p:spPr>
          <a:xfrm>
            <a:off x="6210300" y="2933700"/>
            <a:ext cx="16954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27649B"/>
                </a:solidFill>
                <a:latin typeface="Noto Sans KR"/>
              </a:rPr>
              <a:t>Qwen</a:t>
            </a:r>
          </a:p>
        </p:txBody>
      </p:sp>
      <p:pic>
        <p:nvPicPr>
          <p:cNvPr id="70" name="pipeline-icon-652" descr="git-compare-arrows-ocean.png"/>
          <p:cNvPicPr>
            <a:picLocks noChangeAspect="1"/>
          </p:cNvPicPr>
          <p:nvPr/>
        </p:nvPicPr>
        <p:blipFill>
          <a:blip r:embed="rId22"/>
          <a:stretch>
            <a:fillRect/>
          </a:stretch>
        </p:blipFill>
        <p:spPr>
          <a:xfrm>
            <a:off x="6677025" y="3705225"/>
            <a:ext cx="762000" cy="762000"/>
          </a:xfrm>
          <a:prstGeom prst="rect">
            <a:avLst/>
          </a:prstGeom>
        </p:spPr>
      </p:pic>
      <p:sp>
        <p:nvSpPr>
          <p:cNvPr id="29" name="pipeline-title-652"/>
          <p:cNvSpPr txBox="1"/>
          <p:nvPr/>
        </p:nvSpPr>
        <p:spPr>
          <a:xfrm>
            <a:off x="6162675" y="4724400"/>
            <a:ext cx="17907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③ 후보 비교</a:t>
            </a:r>
          </a:p>
        </p:txBody>
      </p:sp>
      <p:sp>
        <p:nvSpPr>
          <p:cNvPr id="30" name="pipeline-body-652"/>
          <p:cNvSpPr txBox="1"/>
          <p:nvPr/>
        </p:nvSpPr>
        <p:spPr>
          <a:xfrm>
            <a:off x="6162675" y="5276850"/>
            <a:ext cx="17907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지역에 맞는</a:t>
            </a:r>
          </a:p>
          <a:p>
            <a:pPr eaLnBrk="0" algn="ctr">
              <a:lnSpc>
                <a:spcPts val="2062"/>
              </a:lnSpc>
              <a:spcBef>
                <a:spcPts val="0"/>
              </a:spcBef>
              <a:spcAft>
                <a:spcPts val="0"/>
              </a:spcAft>
            </a:pPr>
            <a:r>
              <a:rPr sz="1650" b="0">
                <a:solidFill>
                  <a:srgbClr val="62666C"/>
                </a:solidFill>
                <a:latin typeface="Noto Sans KR"/>
              </a:rPr>
              <a:t>사업 선택</a:t>
            </a:r>
          </a:p>
        </p:txBody>
      </p:sp>
      <p:sp>
        <p:nvSpPr>
          <p:cNvPr id="31" name="pipeline-model-874"/>
          <p:cNvSpPr txBox="1"/>
          <p:nvPr/>
        </p:nvSpPr>
        <p:spPr>
          <a:xfrm>
            <a:off x="8324850" y="2933700"/>
            <a:ext cx="16954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A96924"/>
                </a:solidFill>
                <a:latin typeface="Noto Sans KR"/>
              </a:rPr>
              <a:t>Gemma</a:t>
            </a:r>
          </a:p>
        </p:txBody>
      </p:sp>
      <p:pic>
        <p:nvPicPr>
          <p:cNvPr id="71" name="pipeline-icon-874" descr="notebook-pen-ochre.png"/>
          <p:cNvPicPr>
            <a:picLocks noChangeAspect="1"/>
          </p:cNvPicPr>
          <p:nvPr/>
        </p:nvPicPr>
        <p:blipFill>
          <a:blip r:embed="rId23"/>
          <a:stretch>
            <a:fillRect/>
          </a:stretch>
        </p:blipFill>
        <p:spPr>
          <a:xfrm>
            <a:off x="8791575" y="3705225"/>
            <a:ext cx="762000" cy="762000"/>
          </a:xfrm>
          <a:prstGeom prst="rect">
            <a:avLst/>
          </a:prstGeom>
        </p:spPr>
      </p:pic>
      <p:sp>
        <p:nvSpPr>
          <p:cNvPr id="33" name="pipeline-title-874"/>
          <p:cNvSpPr txBox="1"/>
          <p:nvPr/>
        </p:nvSpPr>
        <p:spPr>
          <a:xfrm>
            <a:off x="8277225" y="4724400"/>
            <a:ext cx="17907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④ 본문 작성</a:t>
            </a:r>
          </a:p>
        </p:txBody>
      </p:sp>
      <p:sp>
        <p:nvSpPr>
          <p:cNvPr id="34" name="pipeline-body-874"/>
          <p:cNvSpPr txBox="1"/>
          <p:nvPr/>
        </p:nvSpPr>
        <p:spPr>
          <a:xfrm>
            <a:off x="8277225" y="5276850"/>
            <a:ext cx="17907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선정 근거로</a:t>
            </a:r>
          </a:p>
          <a:p>
            <a:pPr eaLnBrk="0" algn="ctr">
              <a:lnSpc>
                <a:spcPts val="2062"/>
              </a:lnSpc>
              <a:spcBef>
                <a:spcPts val="0"/>
              </a:spcBef>
              <a:spcAft>
                <a:spcPts val="0"/>
              </a:spcAft>
            </a:pPr>
            <a:r>
              <a:rPr sz="1650" b="0">
                <a:solidFill>
                  <a:srgbClr val="62666C"/>
                </a:solidFill>
                <a:latin typeface="Noto Sans KR"/>
              </a:rPr>
              <a:t>실행 계획 작성</a:t>
            </a:r>
          </a:p>
        </p:txBody>
      </p:sp>
      <p:sp>
        <p:nvSpPr>
          <p:cNvPr id="35" name="pipeline-model-1096"/>
          <p:cNvSpPr txBox="1"/>
          <p:nvPr/>
        </p:nvSpPr>
        <p:spPr>
          <a:xfrm>
            <a:off x="10439400" y="2933700"/>
            <a:ext cx="16954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187C70"/>
                </a:solidFill>
                <a:latin typeface="Noto Sans KR"/>
              </a:rPr>
              <a:t>Qwen</a:t>
            </a:r>
          </a:p>
        </p:txBody>
      </p:sp>
      <p:pic>
        <p:nvPicPr>
          <p:cNvPr id="72" name="pipeline-icon-1096" descr="shield-check-jade.png"/>
          <p:cNvPicPr>
            <a:picLocks noChangeAspect="1"/>
          </p:cNvPicPr>
          <p:nvPr/>
        </p:nvPicPr>
        <p:blipFill>
          <a:blip r:embed="rId24"/>
          <a:stretch>
            <a:fillRect/>
          </a:stretch>
        </p:blipFill>
        <p:spPr>
          <a:xfrm>
            <a:off x="10906125" y="3705225"/>
            <a:ext cx="762000" cy="762000"/>
          </a:xfrm>
          <a:prstGeom prst="rect">
            <a:avLst/>
          </a:prstGeom>
        </p:spPr>
      </p:pic>
      <p:sp>
        <p:nvSpPr>
          <p:cNvPr id="37" name="pipeline-title-1096"/>
          <p:cNvSpPr txBox="1"/>
          <p:nvPr/>
        </p:nvSpPr>
        <p:spPr>
          <a:xfrm>
            <a:off x="10391775" y="4724400"/>
            <a:ext cx="17907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⑤ 품질 검수</a:t>
            </a:r>
          </a:p>
        </p:txBody>
      </p:sp>
      <p:sp>
        <p:nvSpPr>
          <p:cNvPr id="38" name="pipeline-body-1096"/>
          <p:cNvSpPr txBox="1"/>
          <p:nvPr/>
        </p:nvSpPr>
        <p:spPr>
          <a:xfrm>
            <a:off x="10391775" y="5276850"/>
            <a:ext cx="17907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수치·출처와</a:t>
            </a:r>
          </a:p>
          <a:p>
            <a:pPr eaLnBrk="0" algn="ctr">
              <a:lnSpc>
                <a:spcPts val="2062"/>
              </a:lnSpc>
              <a:spcBef>
                <a:spcPts val="0"/>
              </a:spcBef>
              <a:spcAft>
                <a:spcPts val="0"/>
              </a:spcAft>
            </a:pPr>
            <a:r>
              <a:rPr sz="1650" b="0">
                <a:solidFill>
                  <a:srgbClr val="62666C"/>
                </a:solidFill>
                <a:latin typeface="Noto Sans KR"/>
              </a:rPr>
              <a:t>본문 연결 확인</a:t>
            </a:r>
          </a:p>
        </p:txBody>
      </p:sp>
      <p:pic>
        <p:nvPicPr>
          <p:cNvPr id="73" name="pipeline-output-icon" descr="files-slate.png"/>
          <p:cNvPicPr>
            <a:picLocks noChangeAspect="1"/>
          </p:cNvPicPr>
          <p:nvPr/>
        </p:nvPicPr>
        <p:blipFill>
          <a:blip r:embed="rId25"/>
          <a:stretch>
            <a:fillRect/>
          </a:stretch>
        </p:blipFill>
        <p:spPr>
          <a:xfrm>
            <a:off x="13068300" y="3705225"/>
            <a:ext cx="723900" cy="723900"/>
          </a:xfrm>
          <a:prstGeom prst="rect">
            <a:avLst/>
          </a:prstGeom>
        </p:spPr>
      </p:pic>
      <p:sp>
        <p:nvSpPr>
          <p:cNvPr id="40" name="pipeline-output-title"/>
          <p:cNvSpPr txBox="1"/>
          <p:nvPr/>
        </p:nvSpPr>
        <p:spPr>
          <a:xfrm>
            <a:off x="12763500" y="4724400"/>
            <a:ext cx="146685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저장·출력</a:t>
            </a:r>
          </a:p>
        </p:txBody>
      </p:sp>
      <p:sp>
        <p:nvSpPr>
          <p:cNvPr id="41" name="pipeline-output-body"/>
          <p:cNvSpPr txBox="1"/>
          <p:nvPr/>
        </p:nvSpPr>
        <p:spPr>
          <a:xfrm>
            <a:off x="12763500" y="5276850"/>
            <a:ext cx="146685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웹</a:t>
            </a:r>
          </a:p>
          <a:p>
            <a:pPr eaLnBrk="0" algn="ctr">
              <a:lnSpc>
                <a:spcPts val="2062"/>
              </a:lnSpc>
              <a:spcBef>
                <a:spcPts val="0"/>
              </a:spcBef>
              <a:spcAft>
                <a:spcPts val="0"/>
              </a:spcAft>
            </a:pPr>
            <a:r>
              <a:rPr sz="1650" b="0">
                <a:solidFill>
                  <a:srgbClr val="62666C"/>
                </a:solidFill>
                <a:latin typeface="Noto Sans KR"/>
              </a:rPr>
              <a:t>PPT · Word</a:t>
            </a:r>
          </a:p>
        </p:txBody>
      </p:sp>
      <p:sp>
        <p:nvSpPr>
          <p:cNvPr id="42" name="pipeline-data-band"/>
          <p:cNvSpPr/>
          <p:nvPr/>
        </p:nvSpPr>
        <p:spPr>
          <a:xfrm>
            <a:off x="1009650" y="6762750"/>
            <a:ext cx="6610350" cy="9620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4" name="pipeline-data-icon" descr="database-ocean.png"/>
          <p:cNvPicPr>
            <a:picLocks noChangeAspect="1"/>
          </p:cNvPicPr>
          <p:nvPr/>
        </p:nvPicPr>
        <p:blipFill>
          <a:blip r:embed="rId26"/>
          <a:stretch>
            <a:fillRect/>
          </a:stretch>
        </p:blipFill>
        <p:spPr>
          <a:xfrm>
            <a:off x="1219200" y="6962775"/>
            <a:ext cx="552450" cy="552450"/>
          </a:xfrm>
          <a:prstGeom prst="rect">
            <a:avLst/>
          </a:prstGeom>
        </p:spPr>
      </p:pic>
      <p:sp>
        <p:nvSpPr>
          <p:cNvPr id="44" name="pipeline-data-label"/>
          <p:cNvSpPr txBox="1"/>
          <p:nvPr/>
        </p:nvSpPr>
        <p:spPr>
          <a:xfrm>
            <a:off x="1971675" y="6886575"/>
            <a:ext cx="5391150" cy="381000"/>
          </a:xfrm>
          <a:prstGeom prst="rect">
            <a:avLst/>
          </a:prstGeom>
          <a:noFill/>
        </p:spPr>
        <p:txBody>
          <a:bodyPr wrap="none" lIns="57150" rIns="57150" tIns="38100" bIns="38100" anchor="t">
            <a:noAutofit/>
          </a:bodyPr>
          <a:lstStyle/>
          <a:p>
            <a:pPr eaLnBrk="0">
              <a:lnSpc>
                <a:spcPts val="2390"/>
              </a:lnSpc>
              <a:spcBef>
                <a:spcPts val="0"/>
              </a:spcBef>
              <a:spcAft>
                <a:spcPts val="0"/>
              </a:spcAft>
            </a:pPr>
            <a:r>
              <a:rPr sz="1912" b="1">
                <a:solidFill>
                  <a:srgbClr val="202124"/>
                </a:solidFill>
                <a:latin typeface="Noto Sans KR"/>
              </a:rPr>
              <a:t>지역 관측값 + 7개 ML 전망</a:t>
            </a:r>
          </a:p>
        </p:txBody>
      </p:sp>
      <p:sp>
        <p:nvSpPr>
          <p:cNvPr id="45" name="pipeline-data-use"/>
          <p:cNvSpPr txBox="1"/>
          <p:nvPr/>
        </p:nvSpPr>
        <p:spPr>
          <a:xfrm>
            <a:off x="1971675" y="7286625"/>
            <a:ext cx="5391150" cy="3143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조사 방향과 후보 비교에 함께 전달</a:t>
            </a:r>
          </a:p>
        </p:txBody>
      </p:sp>
      <p:cxnSp>
        <p:nvCxnSpPr>
          <p:cNvPr id="46" name="data-to-research-0"/>
          <p:cNvCxnSpPr/>
          <p:nvPr/>
        </p:nvCxnSpPr>
        <p:spPr>
          <a:xfrm flipV="1">
            <a:off x="4333875" y="6267450"/>
            <a:ext cx="0" cy="485775"/>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47" name="data-to-compare-0"/>
          <p:cNvCxnSpPr/>
          <p:nvPr/>
        </p:nvCxnSpPr>
        <p:spPr>
          <a:xfrm flipV="1">
            <a:off x="7058025" y="6162675"/>
            <a:ext cx="0" cy="59055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sp>
        <p:nvSpPr>
          <p:cNvPr id="48" name="pipeline-revision"/>
          <p:cNvSpPr txBox="1"/>
          <p:nvPr/>
        </p:nvSpPr>
        <p:spPr>
          <a:xfrm>
            <a:off x="8162925" y="6924675"/>
            <a:ext cx="6067425" cy="3714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필요한 부분은 보완 작성 후 다시 검수</a:t>
            </a:r>
          </a:p>
        </p:txBody>
      </p:sp>
      <p:cxnSp>
        <p:nvCxnSpPr>
          <p:cNvPr id="49" name="review-return-0"/>
          <p:cNvCxnSpPr/>
          <p:nvPr/>
        </p:nvCxnSpPr>
        <p:spPr>
          <a:xfrm>
            <a:off x="11287125" y="6115050"/>
            <a:ext cx="0" cy="438150"/>
          </a:xfrm>
          <a:prstGeom prst="line">
            <a:avLst/>
          </a:prstGeom>
          <a:ln w="21590">
            <a:solidFill>
              <a:srgbClr val="8CA4BF"/>
            </a:solidFill>
          </a:ln>
        </p:spPr>
        <p:style>
          <a:lnRef idx="2">
            <a:schemeClr val="accent1"/>
          </a:lnRef>
          <a:fillRef idx="0">
            <a:schemeClr val="accent1"/>
          </a:fillRef>
          <a:effectRef idx="1">
            <a:schemeClr val="accent1"/>
          </a:effectRef>
          <a:fontRef idx="minor">
            <a:schemeClr val="tx1"/>
          </a:fontRef>
        </p:style>
      </p:cxnSp>
      <p:cxnSp>
        <p:nvCxnSpPr>
          <p:cNvPr id="50" name="review-return-1"/>
          <p:cNvCxnSpPr/>
          <p:nvPr/>
        </p:nvCxnSpPr>
        <p:spPr>
          <a:xfrm flipH="1">
            <a:off x="9172575" y="6553200"/>
            <a:ext cx="2114550" cy="0"/>
          </a:xfrm>
          <a:prstGeom prst="line">
            <a:avLst/>
          </a:prstGeom>
          <a:ln w="21590">
            <a:solidFill>
              <a:srgbClr val="8CA4BF"/>
            </a:solidFill>
          </a:ln>
        </p:spPr>
        <p:style>
          <a:lnRef idx="2">
            <a:schemeClr val="accent1"/>
          </a:lnRef>
          <a:fillRef idx="0">
            <a:schemeClr val="accent1"/>
          </a:fillRef>
          <a:effectRef idx="1">
            <a:schemeClr val="accent1"/>
          </a:effectRef>
          <a:fontRef idx="minor">
            <a:schemeClr val="tx1"/>
          </a:fontRef>
        </p:style>
      </p:cxnSp>
      <p:cxnSp>
        <p:nvCxnSpPr>
          <p:cNvPr id="51" name="review-return-2"/>
          <p:cNvCxnSpPr/>
          <p:nvPr/>
        </p:nvCxnSpPr>
        <p:spPr>
          <a:xfrm flipV="1">
            <a:off x="9172575" y="6115050"/>
            <a:ext cx="0" cy="438150"/>
          </a:xfrm>
          <a:prstGeom prst="line">
            <a:avLst/>
          </a:prstGeom>
          <a:ln w="21590">
            <a:solidFill>
              <a:srgbClr val="8CA4BF"/>
            </a:solidFill>
            <a:tailEnd type="triangle"/>
          </a:ln>
        </p:spPr>
        <p:style>
          <a:lnRef idx="2">
            <a:schemeClr val="accent1"/>
          </a:lnRef>
          <a:fillRef idx="0">
            <a:schemeClr val="accent1"/>
          </a:fillRef>
          <a:effectRef idx="1">
            <a:schemeClr val="accent1"/>
          </a:effectRef>
          <a:fontRef idx="minor">
            <a:schemeClr val="tx1"/>
          </a:fontRef>
        </p:style>
      </p:cxnSp>
      <p:sp>
        <p:nvSpPr>
          <p:cNvPr id="52" name="pipeline-footnote"/>
          <p:cNvSpPr txBox="1"/>
          <p:nvPr/>
        </p:nvSpPr>
        <p:spPr>
          <a:xfrm>
            <a:off x="1009650" y="8096250"/>
            <a:ext cx="13220700" cy="37147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OpenAI는 공식 웹에서 사업 사례와 출처를 조사합니다. 이미 확보한 공식 근거는 재사용합니다.</a:t>
            </a:r>
          </a:p>
        </p:txBody>
      </p:sp>
      <p:sp>
        <p:nvSpPr>
          <p:cNvPr id="54"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5. 생성 과정</a:t>
            </a:r>
          </a:p>
        </p:txBody>
      </p:sp>
      <p:sp>
        <p:nvSpPr>
          <p:cNvPr id="55"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14 / 17</a:t>
            </a:r>
          </a:p>
        </p:txBody>
      </p:sp>
    </p:spTree>
  </p:cSld>
  <p:clrMapOvr>
    <a:masterClrMapping/>
  </p:clrMapOvr>
</p:sld>
</file>

<file path=ppt/slides/slide13.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6.1 근거·데이터·출처</a:t>
            </a:r>
          </a:p>
        </p:txBody>
      </p:sp>
      <p:sp xmlns:a="http://schemas.openxmlformats.org/drawingml/2006/main">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전체 자료명과 머신러닝 모델 1/2 · 파란 자료명을 누르면 원문으로 이동합니다.</a:t>
            </a:r>
          </a:p>
          <a:p>
            <a:pPr eaLnBrk="0">
              <a:lnSpc>
                <a:spcPts val="1781"/>
              </a:lnSpc>
              <a:spcBef>
                <a:spcPts val="0"/>
              </a:spcBef>
              <a:spcAft>
                <a:spcPts val="0"/>
              </a:spcAft>
            </a:pPr>
            <a:r>
              <a:rPr sz="1425" b="0">
                <a:solidFill>
                  <a:srgbClr val="62666C"/>
                </a:solidFill>
                <a:latin typeface="Noto Sans KR"/>
              </a:rPr>
              <a:t>참고 전망: 방문자·소비액 모델의 검증 오차가 전년동월 기준선보다 큽니다. 예측거리·누락 범위의 해석 주의가 필요합니다.</a:t>
            </a:r>
          </a:p>
        </p:txBody>
      </p:sp>
      <p:sp xmlns:a="http://schemas.openxmlformats.org/drawingml/2006/main">
        <p:nvSpPr>
          <p:cNvPr id="5" name="reference-0"/>
          <p:cNvSpPr txBox="1"/>
          <p:nvPr/>
        </p:nvSpPr>
        <p:spPr>
          <a:xfrm>
            <a:off x="100965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r="http://schemas.openxmlformats.org/officeDocument/2006/relationships" r:id="rId2"/>
              </a:rPr>
              <a:t>관측 데이터 D01 순 방문자 수 및 숙박 비율 (이동통신</a:t>
            </a:r>
          </a:p>
          <a:p>
            <a:pPr eaLnBrk="0">
              <a:lnSpc>
                <a:spcPts val="1265"/>
              </a:lnSpc>
              <a:spcBef>
                <a:spcPts val="0"/>
              </a:spcBef>
              <a:spcAft>
                <a:spcPts val="0"/>
              </a:spcAft>
            </a:pPr>
            <a:r>
              <a:rPr sz="1012" b="0" u="none">
                <a:solidFill>
                  <a:srgbClr val="62666C"/>
                </a:solidFill>
                <a:latin typeface="Noto Sans KR"/>
                <a:hlinkClick xmlns:r="http://schemas.openxmlformats.org/officeDocument/2006/relationships" r:id="rId2"/>
              </a:rPr>
              <a:t>기반 외지인) 2026-06</a:t>
            </a:r>
          </a:p>
        </p:txBody>
      </p:sp>
      <p:sp xmlns:a="http://schemas.openxmlformats.org/drawingml/2006/main">
        <p:nvSpPr>
          <p:cNvPr id="6" name="reference-1"/>
          <p:cNvSpPr txBox="1"/>
          <p:nvPr/>
        </p:nvSpPr>
        <p:spPr>
          <a:xfrm>
            <a:off x="1009650" y="2909888"/>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62666C"/>
                </a:solidFill>
                <a:latin typeface="Noto Sans KR"/>
                <a:hlinkClick xmlns:r="http://schemas.openxmlformats.org/officeDocument/2006/relationships" r:id="rId2"/>
              </a:rPr>
              <a:t>관측 데이터 D02 월간 순 방문자 수 (이동통신 기반 외지인) 2026-06</a:t>
            </a:r>
          </a:p>
        </p:txBody>
      </p:sp>
      <p:sp xmlns:a="http://schemas.openxmlformats.org/drawingml/2006/main">
        <p:nvSpPr>
          <p:cNvPr id="7" name="reference-2"/>
          <p:cNvSpPr txBox="1"/>
          <p:nvPr/>
        </p:nvSpPr>
        <p:spPr>
          <a:xfrm>
            <a:off x="1009650" y="3343275"/>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r="http://schemas.openxmlformats.org/officeDocument/2006/relationships" r:id="rId2"/>
              </a:rPr>
              <a:t>관측 데이터 D03 관광소비 추이_외지인 2026-06</a:t>
            </a:r>
          </a:p>
        </p:txBody>
      </p:sp>
      <p:sp xmlns:a="http://schemas.openxmlformats.org/drawingml/2006/main">
        <p:nvSpPr>
          <p:cNvPr id="8" name="reference-3"/>
          <p:cNvSpPr txBox="1"/>
          <p:nvPr/>
        </p:nvSpPr>
        <p:spPr>
          <a:xfrm>
            <a:off x="1009650" y="36480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r="http://schemas.openxmlformats.org/officeDocument/2006/relationships" r:id="rId2"/>
              </a:rPr>
              <a:t>관측 데이터 D04 숙박방문자 비율 추이 (이동통신</a:t>
            </a:r>
          </a:p>
          <a:p>
            <a:pPr eaLnBrk="0">
              <a:lnSpc>
                <a:spcPts val="1265"/>
              </a:lnSpc>
              <a:spcBef>
                <a:spcPts val="0"/>
              </a:spcBef>
              <a:spcAft>
                <a:spcPts val="0"/>
              </a:spcAft>
            </a:pPr>
            <a:r>
              <a:rPr sz="1012" b="0" u="none">
                <a:solidFill>
                  <a:srgbClr val="62666C"/>
                </a:solidFill>
                <a:latin typeface="Noto Sans KR"/>
                <a:hlinkClick xmlns:r="http://schemas.openxmlformats.org/officeDocument/2006/relationships" r:id="rId2"/>
              </a:rPr>
              <a:t>기반 외지인) 2026-06</a:t>
            </a:r>
          </a:p>
        </p:txBody>
      </p:sp>
      <p:sp xmlns:a="http://schemas.openxmlformats.org/drawingml/2006/main">
        <p:nvSpPr>
          <p:cNvPr id="9" name="reference-4"/>
          <p:cNvSpPr txBox="1"/>
          <p:nvPr/>
        </p:nvSpPr>
        <p:spPr>
          <a:xfrm>
            <a:off x="1009650" y="4081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r="http://schemas.openxmlformats.org/officeDocument/2006/relationships" r:id="rId2"/>
              </a:rPr>
              <a:t>관측 데이터 D05 평균 숙박일 (이동통신 기반 외지인) 2026-06</a:t>
            </a:r>
          </a:p>
        </p:txBody>
      </p:sp>
      <p:sp xmlns:a="http://schemas.openxmlformats.org/drawingml/2006/main">
        <p:nvSpPr>
          <p:cNvPr id="10" name="reference-5"/>
          <p:cNvSpPr txBox="1"/>
          <p:nvPr/>
        </p:nvSpPr>
        <p:spPr>
          <a:xfrm>
            <a:off x="1009650" y="4386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r="http://schemas.openxmlformats.org/officeDocument/2006/relationships" r:id="rId2"/>
              </a:rPr>
              <a:t>관측 데이터 D06 내비게이션 목적지 유형별 검색량 2026-06</a:t>
            </a:r>
          </a:p>
        </p:txBody>
      </p:sp>
      <p:sp xmlns:a="http://schemas.openxmlformats.org/drawingml/2006/main">
        <p:nvSpPr>
          <p:cNvPr id="11" name="reference-6"/>
          <p:cNvSpPr txBox="1"/>
          <p:nvPr/>
        </p:nvSpPr>
        <p:spPr>
          <a:xfrm>
            <a:off x="1009650" y="4691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r="http://schemas.openxmlformats.org/officeDocument/2006/relationships" r:id="rId2"/>
              </a:rPr>
              <a:t>관측 데이터 D07 SNS 언급량 2026-06</a:t>
            </a:r>
          </a:p>
        </p:txBody>
      </p:sp>
      <p:sp xmlns:a="http://schemas.openxmlformats.org/drawingml/2006/main">
        <p:nvSpPr>
          <p:cNvPr id="12" name="reference-7"/>
          <p:cNvSpPr txBox="1"/>
          <p:nvPr/>
        </p:nvSpPr>
        <p:spPr>
          <a:xfrm>
            <a:off x="1009650" y="49958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r="http://schemas.openxmlformats.org/officeDocument/2006/relationships" r:id="rId2"/>
              </a:rPr>
              <a:t>관측 데이터 D08 방문자/2025_01_12.zip</a:t>
            </a:r>
          </a:p>
        </p:txBody>
      </p:sp>
      <p:sp xmlns:a="http://schemas.openxmlformats.org/drawingml/2006/main">
        <p:nvSpPr>
          <p:cNvPr id="13" name="reference-8"/>
          <p:cNvSpPr txBox="1"/>
          <p:nvPr/>
        </p:nvSpPr>
        <p:spPr>
          <a:xfrm>
            <a:off x="1009650" y="53006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r="http://schemas.openxmlformats.org/officeDocument/2006/relationships" r:id="rId2"/>
              </a:rPr>
              <a:t>관측 데이터 D09 관광소비/2025_01_12.zip</a:t>
            </a:r>
          </a:p>
        </p:txBody>
      </p:sp>
      <p:sp xmlns:a="http://schemas.openxmlformats.org/drawingml/2006/main">
        <p:nvSpPr>
          <p:cNvPr id="14" name="reference-9"/>
          <p:cNvSpPr txBox="1"/>
          <p:nvPr/>
        </p:nvSpPr>
        <p:spPr>
          <a:xfrm>
            <a:off x="1009650" y="5605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r="http://schemas.openxmlformats.org/officeDocument/2006/relationships" r:id="rId2"/>
              </a:rPr>
              <a:t>관측 데이터 D10 숙박_체류시간/2025_01_12.zip</a:t>
            </a:r>
          </a:p>
        </p:txBody>
      </p:sp>
      <p:sp xmlns:a="http://schemas.openxmlformats.org/drawingml/2006/main">
        <p:nvSpPr>
          <p:cNvPr id="15" name="reference-10"/>
          <p:cNvSpPr txBox="1"/>
          <p:nvPr/>
        </p:nvSpPr>
        <p:spPr>
          <a:xfrm>
            <a:off x="1009650" y="5910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r="http://schemas.openxmlformats.org/officeDocument/2006/relationships" r:id="rId2"/>
              </a:rPr>
              <a:t>관측 데이터 D11 관광소비/2026_01_06.zip</a:t>
            </a:r>
          </a:p>
        </p:txBody>
      </p:sp>
      <p:sp xmlns:a="http://schemas.openxmlformats.org/drawingml/2006/main">
        <p:nvSpPr>
          <p:cNvPr id="16" name="reference-11"/>
          <p:cNvSpPr txBox="1"/>
          <p:nvPr/>
        </p:nvSpPr>
        <p:spPr>
          <a:xfrm>
            <a:off x="1009650" y="6215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r="http://schemas.openxmlformats.org/officeDocument/2006/relationships" r:id="rId2"/>
              </a:rPr>
              <a:t>관측 데이터 D12 방문자/2026_01_06.zip</a:t>
            </a:r>
          </a:p>
        </p:txBody>
      </p:sp>
      <p:sp xmlns:a="http://schemas.openxmlformats.org/drawingml/2006/main">
        <p:nvSpPr>
          <p:cNvPr id="17" name="reference-12"/>
          <p:cNvSpPr txBox="1"/>
          <p:nvPr/>
        </p:nvSpPr>
        <p:spPr>
          <a:xfrm>
            <a:off x="1009650" y="65198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r="http://schemas.openxmlformats.org/officeDocument/2006/relationships" r:id="rId2"/>
              </a:rPr>
              <a:t>관측 데이터 D13 숙박_체류시간/2026_01_06.zip</a:t>
            </a:r>
          </a:p>
        </p:txBody>
      </p:sp>
      <p:sp xmlns:a="http://schemas.openxmlformats.org/drawingml/2006/main">
        <p:nvSpPr>
          <p:cNvPr id="18" name="reference-13"/>
          <p:cNvSpPr txBox="1"/>
          <p:nvPr/>
        </p:nvSpPr>
        <p:spPr>
          <a:xfrm>
            <a:off x="1009650" y="6824662"/>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관측 데이터 D14 이동통신/내국인/지역별</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방문자수/20260820140607__202601-202606_데이터랩_다운로드.zi</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p</a:t>
            </a:r>
          </a:p>
        </p:txBody>
      </p:sp>
      <p:sp xmlns:a="http://schemas.openxmlformats.org/drawingml/2006/main">
        <p:nvSpPr>
          <p:cNvPr id="19" name="reference-14"/>
          <p:cNvSpPr txBox="1"/>
          <p:nvPr/>
        </p:nvSpPr>
        <p:spPr>
          <a:xfrm>
            <a:off x="1009650" y="7436644"/>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관측 데이터 D15</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이동통신/외국인/20260820141710_전국_202601-202606_데이터랩_</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다운로드.zip</a:t>
            </a:r>
          </a:p>
        </p:txBody>
      </p:sp>
      <p:sp xmlns:a="http://schemas.openxmlformats.org/drawingml/2006/main">
        <p:nvSpPr>
          <p:cNvPr id="20" name="reference-15"/>
          <p:cNvSpPr txBox="1"/>
          <p:nvPr/>
        </p:nvSpPr>
        <p:spPr>
          <a:xfrm>
            <a:off x="5486400" y="2476500"/>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관측 데이터 D16 신용카드/내국인/지역별</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관광지출액/20260820140046__202601-202606_데이터랩_다운로드.</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zip</a:t>
            </a:r>
          </a:p>
        </p:txBody>
      </p:sp>
      <p:sp xmlns:a="http://schemas.openxmlformats.org/drawingml/2006/main">
        <p:nvSpPr>
          <p:cNvPr id="21" name="reference-16"/>
          <p:cNvSpPr txBox="1"/>
          <p:nvPr/>
        </p:nvSpPr>
        <p:spPr>
          <a:xfrm>
            <a:off x="5486400" y="3088481"/>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관측 데이터 D17 신용카드/외국인/지역별</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관광지출액/20260820140355__202601-202606_데이터랩_다운로드.</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zip</a:t>
            </a:r>
          </a:p>
        </p:txBody>
      </p:sp>
      <p:sp xmlns:a="http://schemas.openxmlformats.org/drawingml/2006/main">
        <p:nvSpPr>
          <p:cNvPr id="22" name="reference-17"/>
          <p:cNvSpPr txBox="1"/>
          <p:nvPr/>
        </p:nvSpPr>
        <p:spPr>
          <a:xfrm>
            <a:off x="5486400" y="3700462"/>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관측 데이터 D18 지역별</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검색건수/20260820195507__202601-202606_데이터랩_다운로드.zi</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p</a:t>
            </a:r>
          </a:p>
        </p:txBody>
      </p:sp>
      <p:sp xmlns:a="http://schemas.openxmlformats.org/drawingml/2006/main">
        <p:nvSpPr>
          <p:cNvPr id="23" name="reference-18"/>
          <p:cNvSpPr txBox="1"/>
          <p:nvPr/>
        </p:nvSpPr>
        <p:spPr>
          <a:xfrm>
            <a:off x="5486400" y="4312444"/>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관측 데이터 D19 이동통신/내국인/지역별</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방문자수/20260820140614__202501-202512_데이터랩_다운로드.zi</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p</a:t>
            </a:r>
          </a:p>
        </p:txBody>
      </p:sp>
      <p:sp xmlns:a="http://schemas.openxmlformats.org/drawingml/2006/main">
        <p:nvSpPr>
          <p:cNvPr id="24" name="reference-19"/>
          <p:cNvSpPr txBox="1"/>
          <p:nvPr/>
        </p:nvSpPr>
        <p:spPr>
          <a:xfrm>
            <a:off x="5486400" y="4924425"/>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관측 데이터 D20</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이동통신/외국인/20260820141649_전국_202501-202512_데이터랩_</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다운로드.zip</a:t>
            </a:r>
          </a:p>
        </p:txBody>
      </p:sp>
      <p:sp xmlns:a="http://schemas.openxmlformats.org/drawingml/2006/main">
        <p:nvSpPr>
          <p:cNvPr id="25" name="reference-20"/>
          <p:cNvSpPr txBox="1"/>
          <p:nvPr/>
        </p:nvSpPr>
        <p:spPr>
          <a:xfrm>
            <a:off x="5486400" y="5536406"/>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관측 데이터 D21 신용카드/내국인/지역별</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관광지출액/20260820135957__202501-202512_데이터랩_다운로드.</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zip</a:t>
            </a:r>
          </a:p>
        </p:txBody>
      </p:sp>
      <p:sp xmlns:a="http://schemas.openxmlformats.org/drawingml/2006/main">
        <p:nvSpPr>
          <p:cNvPr id="26" name="reference-21"/>
          <p:cNvSpPr txBox="1"/>
          <p:nvPr/>
        </p:nvSpPr>
        <p:spPr>
          <a:xfrm>
            <a:off x="5486400" y="6148388"/>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관측 데이터 D22 신용카드/외국인/지역별</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관광지출액/20260820140409__202501-202512_데이터랩_다운로드.</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zip</a:t>
            </a:r>
          </a:p>
        </p:txBody>
      </p:sp>
      <p:sp xmlns:a="http://schemas.openxmlformats.org/drawingml/2006/main">
        <p:nvSpPr>
          <p:cNvPr id="27" name="reference-22"/>
          <p:cNvSpPr txBox="1"/>
          <p:nvPr/>
        </p:nvSpPr>
        <p:spPr>
          <a:xfrm>
            <a:off x="5486400" y="6760369"/>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관측 데이터 D23 지역별</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검색건수/20260820132007__202501-202512_데이터랩_다운로드.zi</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p</a:t>
            </a:r>
          </a:p>
        </p:txBody>
      </p:sp>
      <p:sp xmlns:a="http://schemas.openxmlformats.org/drawingml/2006/main">
        <p:nvSpPr>
          <p:cNvPr id="28" name="reference-23"/>
          <p:cNvSpPr txBox="1"/>
          <p:nvPr/>
        </p:nvSpPr>
        <p:spPr>
          <a:xfrm>
            <a:off x="5486400" y="7372350"/>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관측 데이터 D24 이동통신/내국인/지역별</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방문자수/20260820140624__202401-202412_데이터랩_다운로드.zi</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p</a:t>
            </a:r>
          </a:p>
        </p:txBody>
      </p:sp>
      <p:sp xmlns:a="http://schemas.openxmlformats.org/drawingml/2006/main">
        <p:nvSpPr>
          <p:cNvPr id="29" name="reference-24"/>
          <p:cNvSpPr txBox="1"/>
          <p:nvPr/>
        </p:nvSpPr>
        <p:spPr>
          <a:xfrm>
            <a:off x="9963150" y="2476500"/>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관측 데이터 D25</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이동통신/외국인/20260820141639_전국_202401-202412_데이터랩_</a:t>
            </a:r>
          </a:p>
          <a:p>
            <a:pPr eaLnBrk="0">
              <a:lnSpc>
                <a:spcPts val="1312"/>
              </a:lnSpc>
              <a:spcBef>
                <a:spcPts val="0"/>
              </a:spcBef>
              <a:spcAft>
                <a:spcPts val="0"/>
              </a:spcAft>
            </a:pPr>
            <a:r>
              <a:rPr sz="1050" b="0" u="none">
                <a:solidFill>
                  <a:srgbClr val="62666C"/>
                </a:solidFill>
                <a:latin typeface="Noto Sans KR"/>
                <a:hlinkClick xmlns:r="http://schemas.openxmlformats.org/officeDocument/2006/relationships" r:id="rId2"/>
              </a:rPr>
              <a:t>다운로드.zip</a:t>
            </a:r>
          </a:p>
        </p:txBody>
      </p:sp>
      <p:sp xmlns:a="http://schemas.openxmlformats.org/drawingml/2006/main">
        <p:nvSpPr>
          <p:cNvPr id="30" name="reference-25"/>
          <p:cNvSpPr txBox="1"/>
          <p:nvPr/>
        </p:nvSpPr>
        <p:spPr>
          <a:xfrm>
            <a:off x="9963150" y="3088481"/>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r="http://schemas.openxmlformats.org/officeDocument/2006/relationships" r:id="rId2"/>
              </a:rPr>
              <a:t>관측 데이터 D26 한국관광 데이터랩 지역별 관광 현황 · ·</a:t>
            </a:r>
          </a:p>
          <a:p>
            <a:pPr eaLnBrk="0">
              <a:lnSpc>
                <a:spcPts val="1265"/>
              </a:lnSpc>
              <a:spcBef>
                <a:spcPts val="0"/>
              </a:spcBef>
              <a:spcAft>
                <a:spcPts val="0"/>
              </a:spcAft>
            </a:pPr>
            <a:r>
              <a:rPr sz="1012" b="0" u="none">
                <a:solidFill>
                  <a:srgbClr val="62666C"/>
                </a:solidFill>
                <a:latin typeface="Noto Sans KR"/>
                <a:hlinkClick xmlns:r="http://schemas.openxmlformats.org/officeDocument/2006/relationships" r:id="rId2"/>
              </a:rPr>
              <a:t>지역집중률 2025-07 ~ 2026-06</a:t>
            </a:r>
          </a:p>
        </p:txBody>
      </p:sp>
      <p:sp xmlns:a="http://schemas.openxmlformats.org/drawingml/2006/main">
        <p:nvSpPr>
          <p:cNvPr id="31" name="reference-26"/>
          <p:cNvSpPr txBox="1"/>
          <p:nvPr/>
        </p:nvSpPr>
        <p:spPr>
          <a:xfrm>
            <a:off x="9963150" y="3521869"/>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r="http://schemas.openxmlformats.org/officeDocument/2006/relationships" r:id="rId2"/>
              </a:rPr>
              <a:t>관측 데이터 D27 한국관광 데이터랩 지역별 관광 현황 · ·</a:t>
            </a:r>
          </a:p>
          <a:p>
            <a:pPr eaLnBrk="0">
              <a:lnSpc>
                <a:spcPts val="1265"/>
              </a:lnSpc>
              <a:spcBef>
                <a:spcPts val="0"/>
              </a:spcBef>
              <a:spcAft>
                <a:spcPts val="0"/>
              </a:spcAft>
            </a:pPr>
            <a:r>
              <a:rPr sz="1012" b="0" u="none">
                <a:solidFill>
                  <a:srgbClr val="62666C"/>
                </a:solidFill>
                <a:latin typeface="Noto Sans KR"/>
                <a:hlinkClick xmlns:r="http://schemas.openxmlformats.org/officeDocument/2006/relationships" r:id="rId2"/>
              </a:rPr>
              <a:t>유입유출 2025-07 ~ 2026-06</a:t>
            </a:r>
          </a:p>
        </p:txBody>
      </p:sp>
      <p:sp xmlns:a="http://schemas.openxmlformats.org/drawingml/2006/main">
        <p:nvSpPr>
          <p:cNvPr id="32" name="reference-27"/>
          <p:cNvSpPr txBox="1"/>
          <p:nvPr/>
        </p:nvSpPr>
        <p:spPr>
          <a:xfrm>
            <a:off x="9963150" y="3955256"/>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r="http://schemas.openxmlformats.org/officeDocument/2006/relationships" r:id="rId2"/>
              </a:rPr>
              <a:t>관측 데이터 D28 한국관광 데이터랩 지역별 관광 현황 · ·</a:t>
            </a:r>
          </a:p>
          <a:p>
            <a:pPr eaLnBrk="0">
              <a:lnSpc>
                <a:spcPts val="1265"/>
              </a:lnSpc>
              <a:spcBef>
                <a:spcPts val="0"/>
              </a:spcBef>
              <a:spcAft>
                <a:spcPts val="0"/>
              </a:spcAft>
            </a:pPr>
            <a:r>
              <a:rPr sz="1012" b="0" u="none">
                <a:solidFill>
                  <a:srgbClr val="62666C"/>
                </a:solidFill>
                <a:latin typeface="Noto Sans KR"/>
                <a:hlinkClick xmlns:r="http://schemas.openxmlformats.org/officeDocument/2006/relationships" r:id="rId2"/>
              </a:rPr>
              <a:t>인기관광지 2025-07 ~ 2026-06</a:t>
            </a:r>
          </a:p>
        </p:txBody>
      </p:sp>
      <p:sp xmlns:a="http://schemas.openxmlformats.org/drawingml/2006/main">
        <p:nvSpPr>
          <p:cNvPr id="33" name="reference-28"/>
          <p:cNvSpPr txBox="1"/>
          <p:nvPr/>
        </p:nvSpPr>
        <p:spPr>
          <a:xfrm>
            <a:off x="9963150" y="4388644"/>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방문자 수 RandomForestRegressor</a:t>
            </a:r>
          </a:p>
          <a:p>
            <a:pPr eaLnBrk="0">
              <a:lnSpc>
                <a:spcPts val="1265"/>
              </a:lnSpc>
              <a:spcBef>
                <a:spcPts val="0"/>
              </a:spcBef>
              <a:spcAft>
                <a:spcPts val="0"/>
              </a:spcAft>
            </a:pPr>
            <a:r>
              <a:rPr sz="1012" b="0">
                <a:solidFill>
                  <a:srgbClr val="F50045"/>
                </a:solidFill>
                <a:latin typeface="Noto Sans KR"/>
              </a:rPr>
              <a:t>최종 월 4,989,633명</a:t>
            </a:r>
          </a:p>
        </p:txBody>
      </p:sp>
      <p:sp xmlns:a="http://schemas.openxmlformats.org/drawingml/2006/main">
        <p:nvSpPr>
          <p:cNvPr id="34" name="reference-29"/>
          <p:cNvSpPr txBox="1"/>
          <p:nvPr/>
        </p:nvSpPr>
        <p:spPr>
          <a:xfrm>
            <a:off x="9963150" y="4822031"/>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관광소비액 LinearRegression 최종 월 810.34억 원</a:t>
            </a:r>
          </a:p>
        </p:txBody>
      </p:sp>
      <p:sp xmlns:a="http://schemas.openxmlformats.org/drawingml/2006/main">
        <p:nvSpPr>
          <p:cNvPr id="35" name="reference-30"/>
          <p:cNvSpPr txBox="1"/>
          <p:nvPr/>
        </p:nvSpPr>
        <p:spPr>
          <a:xfrm>
            <a:off x="9963150" y="5255419"/>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평균 숙박일수 전년동월 계절 기준선 최종 월 2.81일</a:t>
            </a:r>
          </a:p>
        </p:txBody>
      </p:sp>
      <p:sp xmlns:a="http://schemas.openxmlformats.org/drawingml/2006/main">
        <p:nvSpPr>
          <p:cNvPr id="36" name="reference-31"/>
          <p:cNvSpPr txBox="1"/>
          <p:nvPr/>
        </p:nvSpPr>
        <p:spPr>
          <a:xfrm>
            <a:off x="9963150" y="5688806"/>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숙박방문자 비율 전년동월 계절 기준선 최종 월 7%</a:t>
            </a:r>
          </a:p>
        </p:txBody>
      </p:sp>
      <p:sp xmlns:a="http://schemas.openxmlformats.org/drawingml/2006/main">
        <p:nvSpPr>
          <p:cNvPr id="37" name="reference-32"/>
          <p:cNvSpPr txBox="1"/>
          <p:nvPr/>
        </p:nvSpPr>
        <p:spPr>
          <a:xfrm>
            <a:off x="9963150" y="6122194"/>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평균 체류시간 전년동월 계절 기준선 최종 월 1,118분</a:t>
            </a:r>
          </a:p>
        </p:txBody>
      </p:sp>
      <p:sp xmlns:a="http://schemas.openxmlformats.org/drawingml/2006/main">
        <p:nvSpPr>
          <p:cNvPr id="38" name="reference-33"/>
          <p:cNvSpPr txBox="1"/>
          <p:nvPr/>
        </p:nvSpPr>
        <p:spPr>
          <a:xfrm>
            <a:off x="9963150" y="6555581"/>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내비게이션 검색량 RandomForestRegressor</a:t>
            </a:r>
          </a:p>
          <a:p>
            <a:pPr eaLnBrk="0">
              <a:lnSpc>
                <a:spcPts val="1265"/>
              </a:lnSpc>
              <a:spcBef>
                <a:spcPts val="0"/>
              </a:spcBef>
              <a:spcAft>
                <a:spcPts val="0"/>
              </a:spcAft>
            </a:pPr>
            <a:r>
              <a:rPr sz="1012" b="0">
                <a:solidFill>
                  <a:srgbClr val="F50045"/>
                </a:solidFill>
                <a:latin typeface="Noto Sans KR"/>
              </a:rPr>
              <a:t>최종 월 225,518건</a:t>
            </a:r>
          </a:p>
        </p:txBody>
      </p:sp>
      <p:sp xmlns:a="http://schemas.openxmlformats.org/drawingml/2006/main">
        <p:nvSpPr>
          <p:cNvPr id="39" name="reference-34"/>
          <p:cNvSpPr txBox="1"/>
          <p:nvPr/>
        </p:nvSpPr>
        <p:spPr>
          <a:xfrm>
            <a:off x="9963150" y="6988969"/>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숙박 목적지 검색량 전년동월 계절</a:t>
            </a:r>
          </a:p>
          <a:p>
            <a:pPr eaLnBrk="0">
              <a:lnSpc>
                <a:spcPts val="1265"/>
              </a:lnSpc>
              <a:spcBef>
                <a:spcPts val="0"/>
              </a:spcBef>
              <a:spcAft>
                <a:spcPts val="0"/>
              </a:spcAft>
            </a:pPr>
            <a:r>
              <a:rPr sz="1012" b="0">
                <a:solidFill>
                  <a:srgbClr val="F50045"/>
                </a:solidFill>
                <a:latin typeface="Noto Sans KR"/>
              </a:rPr>
              <a:t>기준선 최종 월 12,004건</a:t>
            </a:r>
          </a:p>
        </p:txBody>
      </p:sp>
      <p:sp xmlns:a="http://schemas.openxmlformats.org/drawingml/2006/main">
        <p:nvSpPr>
          <p:cNvPr id="40" name="reference-35"/>
          <p:cNvSpPr txBox="1"/>
          <p:nvPr/>
        </p:nvSpPr>
        <p:spPr>
          <a:xfrm>
            <a:off x="9963150" y="7422356"/>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r="http://schemas.openxmlformats.org/officeDocument/2006/relationships" r:id="rId3"/>
              </a:rPr>
              <a:t>공식 사례·문서 D50 요즘, 한국관광 2호 - 지방공항 연계 지역관광</a:t>
            </a:r>
          </a:p>
          <a:p>
            <a:pPr eaLnBrk="0">
              <a:lnSpc>
                <a:spcPts val="1265"/>
              </a:lnSpc>
              <a:spcBef>
                <a:spcPts val="0"/>
              </a:spcBef>
              <a:spcAft>
                <a:spcPts val="0"/>
              </a:spcAft>
            </a:pPr>
            <a:r>
              <a:rPr sz="1012" b="0" u="none">
                <a:solidFill>
                  <a:srgbClr val="62666C"/>
                </a:solidFill>
                <a:latin typeface="Noto Sans KR"/>
                <a:hlinkClick xmlns:r="http://schemas.openxmlformats.org/officeDocument/2006/relationships" r:id="rId3"/>
              </a:rPr>
              <a:t>활성화 방안 · PDF 44쪽 외 4쪽 (5개 청크) datalab.visitkorea.or.kr</a:t>
            </a:r>
          </a:p>
        </p:txBody>
      </p:sp>
      <p:sp xmlns:a="http://schemas.openxmlformats.org/drawingml/2006/main">
        <p:nvSpPr>
          <p:cNvPr id="4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6. 근거와 출처</a:t>
            </a:r>
          </a:p>
        </p:txBody>
      </p:sp>
      <p:sp xmlns:a="http://schemas.openxmlformats.org/drawingml/2006/main">
        <p:nvSpPr>
          <p:cNvPr id="43"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15 / 17</a:t>
            </a:r>
          </a:p>
        </p:txBody>
      </p:sp>
    </p:spTree>
    <p:extLst>
      <p:ext uri="{BB962C8B-B14F-4D97-AF65-F5344CB8AC3E}">
        <p14:creationId xmlns:p14="http://schemas.microsoft.com/office/powerpoint/2010/main" val="930694367"/>
      </p:ext>
    </p:extLst>
  </p:cSld>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6.2 근거·데이터·출처 계속</a:t>
            </a:r>
          </a:p>
        </p:txBody>
      </p:sp>
      <p:sp>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전체 자료명과 머신러닝 모델 2/2 · 파란 자료명을 누르면 원문으로 이동합니다.</a:t>
            </a:r>
          </a:p>
          <a:p>
            <a:pPr eaLnBrk="0">
              <a:lnSpc>
                <a:spcPts val="1781"/>
              </a:lnSpc>
              <a:spcBef>
                <a:spcPts val="0"/>
              </a:spcBef>
              <a:spcAft>
                <a:spcPts val="0"/>
              </a:spcAft>
            </a:pPr>
            <a:r>
              <a:rPr sz="1425" b="0">
                <a:solidFill>
                  <a:srgbClr val="62666C"/>
                </a:solidFill>
                <a:latin typeface="Noto Sans KR"/>
              </a:rPr>
              <a:t>참고 전망: 방문자·소비액 모델의 검증 오차가 전년동월 기준선보다 큽니다. 예측거리·누락 범위의 해석 주의가 필요합니다.</a:t>
            </a:r>
          </a:p>
        </p:txBody>
      </p:sp>
      <p:sp>
        <p:nvSpPr>
          <p:cNvPr id="5" name="reference-0"/>
          <p:cNvSpPr txBox="1"/>
          <p:nvPr/>
        </p:nvSpPr>
        <p:spPr>
          <a:xfrm>
            <a:off x="100965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2"/>
              </a:rPr>
              <a:t>공식 사례·문서 D51 한밭수목원 | 열린관광 모두의</a:t>
            </a:r>
          </a:p>
          <a:p>
            <a:pPr eaLnBrk="0">
              <a:lnSpc>
                <a:spcPts val="1265"/>
              </a:lnSpc>
              <a:spcBef>
                <a:spcPts val="0"/>
              </a:spcBef>
              <a:spcAft>
                <a:spcPts val="0"/>
              </a:spcAft>
            </a:pPr>
            <a:r>
              <a:rPr sz="1012" b="0" u="none">
                <a:solidFill>
                  <a:srgbClr val="62666C"/>
                </a:solidFill>
                <a:latin typeface="Noto Sans KR"/>
                <a:hlinkClick r:id="rId2"/>
              </a:rPr>
              <a:t>여행 access.visitkorea.or.kr</a:t>
            </a:r>
          </a:p>
        </p:txBody>
      </p:sp>
      <p:sp>
        <p:nvSpPr>
          <p:cNvPr id="6" name="reference-1"/>
          <p:cNvSpPr txBox="1"/>
          <p:nvPr/>
        </p:nvSpPr>
        <p:spPr>
          <a:xfrm>
            <a:off x="1009650" y="29098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3"/>
              </a:rPr>
              <a:t>공식 사례·문서 D52 Hanbat Arboretum (한밭수목원) -</a:t>
            </a:r>
          </a:p>
          <a:p>
            <a:pPr eaLnBrk="0">
              <a:lnSpc>
                <a:spcPts val="1265"/>
              </a:lnSpc>
              <a:spcBef>
                <a:spcPts val="0"/>
              </a:spcBef>
              <a:spcAft>
                <a:spcPts val="0"/>
              </a:spcAft>
            </a:pPr>
            <a:r>
              <a:rPr sz="1012" b="0" u="none">
                <a:solidFill>
                  <a:srgbClr val="62666C"/>
                </a:solidFill>
                <a:latin typeface="Noto Sans KR"/>
                <a:hlinkClick r:id="rId3"/>
              </a:rPr>
              <a:t>VISITKOREA english.visitkorea.or.kr</a:t>
            </a:r>
          </a:p>
        </p:txBody>
      </p:sp>
      <p:sp>
        <p:nvSpPr>
          <p:cNvPr id="7" name="reference-2"/>
          <p:cNvSpPr txBox="1"/>
          <p:nvPr/>
        </p:nvSpPr>
        <p:spPr>
          <a:xfrm>
            <a:off x="1009650" y="33432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4"/>
              </a:rPr>
              <a:t>공식 사례·문서 D53 대전예술의전당 | 열린관광 모두의</a:t>
            </a:r>
          </a:p>
          <a:p>
            <a:pPr eaLnBrk="0">
              <a:lnSpc>
                <a:spcPts val="1265"/>
              </a:lnSpc>
              <a:spcBef>
                <a:spcPts val="0"/>
              </a:spcBef>
              <a:spcAft>
                <a:spcPts val="0"/>
              </a:spcAft>
            </a:pPr>
            <a:r>
              <a:rPr sz="1012" b="0" u="none">
                <a:solidFill>
                  <a:srgbClr val="62666C"/>
                </a:solidFill>
                <a:latin typeface="Noto Sans KR"/>
                <a:hlinkClick r:id="rId4"/>
              </a:rPr>
              <a:t>여행 access.visitkorea.or.kr</a:t>
            </a:r>
          </a:p>
        </p:txBody>
      </p:sp>
      <p:sp>
        <p:nvSpPr>
          <p:cNvPr id="8" name="reference-3"/>
          <p:cNvSpPr txBox="1"/>
          <p:nvPr/>
        </p:nvSpPr>
        <p:spPr>
          <a:xfrm>
            <a:off x="1009650" y="377666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5"/>
              </a:rPr>
              <a:t>공식 사례·문서 D54 한민시장 | 열린관광 모두의</a:t>
            </a:r>
          </a:p>
          <a:p>
            <a:pPr eaLnBrk="0">
              <a:lnSpc>
                <a:spcPts val="1265"/>
              </a:lnSpc>
              <a:spcBef>
                <a:spcPts val="0"/>
              </a:spcBef>
              <a:spcAft>
                <a:spcPts val="0"/>
              </a:spcAft>
            </a:pPr>
            <a:r>
              <a:rPr sz="1012" b="0" u="none">
                <a:solidFill>
                  <a:srgbClr val="62666C"/>
                </a:solidFill>
                <a:latin typeface="Noto Sans KR"/>
                <a:hlinkClick r:id="rId5"/>
              </a:rPr>
              <a:t>여행 access.visitkorea.or.kr</a:t>
            </a:r>
          </a:p>
        </p:txBody>
      </p:sp>
      <p:sp>
        <p:nvSpPr>
          <p:cNvPr id="9" name="reference-4"/>
          <p:cNvSpPr txBox="1"/>
          <p:nvPr/>
        </p:nvSpPr>
        <p:spPr>
          <a:xfrm>
            <a:off x="1009650" y="421005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6"/>
              </a:rPr>
              <a:t>공식 사례·문서 D55 장태산자연휴양림 -</a:t>
            </a:r>
          </a:p>
          <a:p>
            <a:pPr eaLnBrk="0">
              <a:lnSpc>
                <a:spcPts val="1265"/>
              </a:lnSpc>
              <a:spcBef>
                <a:spcPts val="0"/>
              </a:spcBef>
              <a:spcAft>
                <a:spcPts val="0"/>
              </a:spcAft>
            </a:pPr>
            <a:r>
              <a:rPr sz="1012" b="0" u="none">
                <a:solidFill>
                  <a:srgbClr val="62666C"/>
                </a:solidFill>
                <a:latin typeface="Noto Sans KR"/>
                <a:hlinkClick r:id="rId6"/>
              </a:rPr>
              <a:t>VISITKOREA japanese.visitkorea.or.kr</a:t>
            </a:r>
          </a:p>
        </p:txBody>
      </p:sp>
      <p:sp>
        <p:nvSpPr>
          <p:cNvPr id="10" name="reference-5"/>
          <p:cNvSpPr txBox="1"/>
          <p:nvPr/>
        </p:nvSpPr>
        <p:spPr>
          <a:xfrm>
            <a:off x="1009650" y="464343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7"/>
              </a:rPr>
              <a:t>공식 사례·문서 D56 여유롭고 안전한 오늘의 여행법 비대면(언택트)</a:t>
            </a:r>
          </a:p>
          <a:p>
            <a:pPr eaLnBrk="0">
              <a:lnSpc>
                <a:spcPts val="1265"/>
              </a:lnSpc>
              <a:spcBef>
                <a:spcPts val="0"/>
              </a:spcBef>
              <a:spcAft>
                <a:spcPts val="0"/>
              </a:spcAft>
            </a:pPr>
            <a:r>
              <a:rPr sz="1012" b="0" u="none">
                <a:solidFill>
                  <a:srgbClr val="62666C"/>
                </a:solidFill>
                <a:latin typeface="Noto Sans KR"/>
                <a:hlinkClick r:id="rId7"/>
              </a:rPr>
              <a:t>관광지 100선 korean.visitkorea.or.kr</a:t>
            </a:r>
          </a:p>
        </p:txBody>
      </p:sp>
      <p:sp>
        <p:nvSpPr>
          <p:cNvPr id="11" name="reference-6"/>
          <p:cNvSpPr txBox="1"/>
          <p:nvPr/>
        </p:nvSpPr>
        <p:spPr>
          <a:xfrm>
            <a:off x="1009650" y="507682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8"/>
              </a:rPr>
              <a:t>공식 사례·문서 D57 한국관광 데이터랩 · 안동탈춤축제 방문자</a:t>
            </a:r>
          </a:p>
          <a:p>
            <a:pPr eaLnBrk="0">
              <a:lnSpc>
                <a:spcPts val="1265"/>
              </a:lnSpc>
              <a:spcBef>
                <a:spcPts val="0"/>
              </a:spcBef>
              <a:spcAft>
                <a:spcPts val="0"/>
              </a:spcAft>
            </a:pPr>
            <a:r>
              <a:rPr sz="1012" b="0" u="none">
                <a:solidFill>
                  <a:srgbClr val="62666C"/>
                </a:solidFill>
                <a:latin typeface="Noto Sans KR"/>
                <a:hlinkClick r:id="rId8"/>
              </a:rPr>
              <a:t>추이 datalab.visitkorea.or.kr</a:t>
            </a:r>
          </a:p>
        </p:txBody>
      </p:sp>
      <p:sp>
        <p:nvSpPr>
          <p:cNvPr id="12" name="reference-7"/>
          <p:cNvSpPr txBox="1"/>
          <p:nvPr/>
        </p:nvSpPr>
        <p:spPr>
          <a:xfrm>
            <a:off x="1009650" y="551021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8"/>
              </a:rPr>
              <a:t>공식 사례·문서 D58 한국관광 데이터랩 · 문경찻사발축제 방문자</a:t>
            </a:r>
          </a:p>
          <a:p>
            <a:pPr eaLnBrk="0">
              <a:lnSpc>
                <a:spcPts val="1265"/>
              </a:lnSpc>
              <a:spcBef>
                <a:spcPts val="0"/>
              </a:spcBef>
              <a:spcAft>
                <a:spcPts val="0"/>
              </a:spcAft>
            </a:pPr>
            <a:r>
              <a:rPr sz="1012" b="0" u="none">
                <a:solidFill>
                  <a:srgbClr val="62666C"/>
                </a:solidFill>
                <a:latin typeface="Noto Sans KR"/>
                <a:hlinkClick r:id="rId8"/>
              </a:rPr>
              <a:t>추이 datalab.visitkorea.or.kr</a:t>
            </a:r>
          </a:p>
        </p:txBody>
      </p:sp>
      <p:sp>
        <p:nvSpPr>
          <p:cNvPr id="13" name="reference-8"/>
          <p:cNvSpPr txBox="1"/>
          <p:nvPr/>
        </p:nvSpPr>
        <p:spPr>
          <a:xfrm>
            <a:off x="1009650" y="59436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9"/>
              </a:rPr>
              <a:t>공식 사례·문서 D59 강진 반값여행 지역경제 효과</a:t>
            </a:r>
          </a:p>
          <a:p>
            <a:pPr eaLnBrk="0">
              <a:lnSpc>
                <a:spcPts val="1265"/>
              </a:lnSpc>
              <a:spcBef>
                <a:spcPts val="0"/>
              </a:spcBef>
              <a:spcAft>
                <a:spcPts val="0"/>
              </a:spcAft>
            </a:pPr>
            <a:r>
              <a:rPr sz="1012" b="0" u="none">
                <a:solidFill>
                  <a:srgbClr val="62666C"/>
                </a:solidFill>
                <a:latin typeface="Noto Sans KR"/>
                <a:hlinkClick r:id="rId9"/>
              </a:rPr>
              <a:t>소개 jnfarm.jeonnam.go.kr</a:t>
            </a:r>
          </a:p>
        </p:txBody>
      </p:sp>
      <p:sp>
        <p:nvSpPr>
          <p:cNvPr id="14" name="reference-9"/>
          <p:cNvSpPr txBox="1"/>
          <p:nvPr/>
        </p:nvSpPr>
        <p:spPr>
          <a:xfrm>
            <a:off x="1009650" y="63769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10"/>
              </a:rPr>
              <a:t>공식 사례·문서 D60 요즘, 한국관광 2호 - 지방공항 연계 지역관광</a:t>
            </a:r>
          </a:p>
          <a:p>
            <a:pPr eaLnBrk="0">
              <a:lnSpc>
                <a:spcPts val="1265"/>
              </a:lnSpc>
              <a:spcBef>
                <a:spcPts val="0"/>
              </a:spcBef>
              <a:spcAft>
                <a:spcPts val="0"/>
              </a:spcAft>
            </a:pPr>
            <a:r>
              <a:rPr sz="1012" b="0" u="none">
                <a:solidFill>
                  <a:srgbClr val="62666C"/>
                </a:solidFill>
                <a:latin typeface="Noto Sans KR"/>
                <a:hlinkClick r:id="rId10"/>
              </a:rPr>
              <a:t>활성화 방안 datalab.visitkorea.or.kr</a:t>
            </a:r>
          </a:p>
        </p:txBody>
      </p:sp>
      <p:sp>
        <p:nvSpPr>
          <p:cNvPr id="15" name="reference-10"/>
          <p:cNvSpPr txBox="1"/>
          <p:nvPr/>
        </p:nvSpPr>
        <p:spPr>
          <a:xfrm>
            <a:off x="1009650" y="68103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11"/>
              </a:rPr>
              <a:t>공식 사례·문서 D61 2024년 6월 여행가는 달 추진</a:t>
            </a:r>
          </a:p>
          <a:p>
            <a:pPr eaLnBrk="0">
              <a:lnSpc>
                <a:spcPts val="1265"/>
              </a:lnSpc>
              <a:spcBef>
                <a:spcPts val="0"/>
              </a:spcBef>
              <a:spcAft>
                <a:spcPts val="0"/>
              </a:spcAft>
            </a:pPr>
            <a:r>
              <a:rPr sz="1012" b="0" u="none">
                <a:solidFill>
                  <a:srgbClr val="62666C"/>
                </a:solidFill>
                <a:latin typeface="Noto Sans KR"/>
                <a:hlinkClick r:id="rId11"/>
              </a:rPr>
              <a:t>보도자료 mcst.go.kr</a:t>
            </a:r>
          </a:p>
        </p:txBody>
      </p:sp>
      <p:sp>
        <p:nvSpPr>
          <p:cNvPr id="16" name="reference-11"/>
          <p:cNvSpPr txBox="1"/>
          <p:nvPr/>
        </p:nvSpPr>
        <p:spPr>
          <a:xfrm>
            <a:off x="1009650" y="724376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12"/>
              </a:rPr>
              <a:t>공식 사례·문서 D62 2025 대한민국 밤밤페스타 개최 도시 및</a:t>
            </a:r>
          </a:p>
          <a:p>
            <a:pPr eaLnBrk="0">
              <a:lnSpc>
                <a:spcPts val="1265"/>
              </a:lnSpc>
              <a:spcBef>
                <a:spcPts val="0"/>
              </a:spcBef>
              <a:spcAft>
                <a:spcPts val="0"/>
              </a:spcAft>
            </a:pPr>
            <a:r>
              <a:rPr sz="1012" b="0" u="none">
                <a:solidFill>
                  <a:srgbClr val="62666C"/>
                </a:solidFill>
                <a:latin typeface="Noto Sans KR"/>
                <a:hlinkClick r:id="rId12"/>
              </a:rPr>
              <a:t>일정 korean.visitkorea.or.kr</a:t>
            </a:r>
          </a:p>
        </p:txBody>
      </p:sp>
      <p:sp>
        <p:nvSpPr>
          <p:cNvPr id="17" name="reference-12"/>
          <p:cNvSpPr txBox="1"/>
          <p:nvPr/>
        </p:nvSpPr>
        <p:spPr>
          <a:xfrm>
            <a:off x="548640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8"/>
              </a:rPr>
              <a:t>공식 사례·문서 D63 한국관광 데이터랩 · 진도신비의바닷길축제</a:t>
            </a:r>
          </a:p>
          <a:p>
            <a:pPr eaLnBrk="0">
              <a:lnSpc>
                <a:spcPts val="1265"/>
              </a:lnSpc>
              <a:spcBef>
                <a:spcPts val="0"/>
              </a:spcBef>
              <a:spcAft>
                <a:spcPts val="0"/>
              </a:spcAft>
            </a:pPr>
            <a:r>
              <a:rPr sz="1012" b="0" u="none">
                <a:solidFill>
                  <a:srgbClr val="62666C"/>
                </a:solidFill>
                <a:latin typeface="Noto Sans KR"/>
                <a:hlinkClick r:id="rId8"/>
              </a:rPr>
              <a:t>방문자 추이 datalab.visitkorea.or.kr</a:t>
            </a:r>
          </a:p>
        </p:txBody>
      </p:sp>
      <p:sp>
        <p:nvSpPr>
          <p:cNvPr id="18" name="reference-13"/>
          <p:cNvSpPr txBox="1"/>
          <p:nvPr/>
        </p:nvSpPr>
        <p:spPr>
          <a:xfrm>
            <a:off x="5486400" y="29098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8"/>
              </a:rPr>
              <a:t>공식 사례·문서 D64 한국관광 데이터랩 · 통영한산대첩축제 방문자</a:t>
            </a:r>
          </a:p>
          <a:p>
            <a:pPr eaLnBrk="0">
              <a:lnSpc>
                <a:spcPts val="1265"/>
              </a:lnSpc>
              <a:spcBef>
                <a:spcPts val="0"/>
              </a:spcBef>
              <a:spcAft>
                <a:spcPts val="0"/>
              </a:spcAft>
            </a:pPr>
            <a:r>
              <a:rPr sz="1012" b="0" u="none">
                <a:solidFill>
                  <a:srgbClr val="62666C"/>
                </a:solidFill>
                <a:latin typeface="Noto Sans KR"/>
                <a:hlinkClick r:id="rId8"/>
              </a:rPr>
              <a:t>추이 datalab.visitkorea.or.kr</a:t>
            </a:r>
          </a:p>
        </p:txBody>
      </p:sp>
      <p:sp>
        <p:nvSpPr>
          <p:cNvPr id="19" name="reference-14"/>
          <p:cNvSpPr txBox="1"/>
          <p:nvPr/>
        </p:nvSpPr>
        <p:spPr>
          <a:xfrm>
            <a:off x="5486400" y="3343275"/>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3"/>
              </a:rPr>
              <a:t>관광자원·사진 D30 갈마짬뽕</a:t>
            </a:r>
          </a:p>
        </p:txBody>
      </p:sp>
      <p:sp>
        <p:nvSpPr>
          <p:cNvPr id="20" name="reference-15"/>
          <p:cNvSpPr txBox="1"/>
          <p:nvPr/>
        </p:nvSpPr>
        <p:spPr>
          <a:xfrm>
            <a:off x="5486400" y="3648075"/>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3"/>
              </a:rPr>
              <a:t>관광자원·사진 D31 관저당</a:t>
            </a:r>
          </a:p>
        </p:txBody>
      </p:sp>
      <p:sp>
        <p:nvSpPr>
          <p:cNvPr id="21" name="reference-16"/>
          <p:cNvSpPr txBox="1"/>
          <p:nvPr/>
        </p:nvSpPr>
        <p:spPr>
          <a:xfrm>
            <a:off x="5486400" y="3952875"/>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3"/>
              </a:rPr>
              <a:t>관광자원·사진 D32 굿모닝레지던스호텔휴</a:t>
            </a:r>
          </a:p>
        </p:txBody>
      </p:sp>
      <p:sp>
        <p:nvSpPr>
          <p:cNvPr id="22" name="reference-17"/>
          <p:cNvSpPr txBox="1"/>
          <p:nvPr/>
        </p:nvSpPr>
        <p:spPr>
          <a:xfrm>
            <a:off x="5486400" y="4257675"/>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3"/>
              </a:rPr>
              <a:t>관광자원·사진 D33 귀빈돌솥밥</a:t>
            </a:r>
          </a:p>
        </p:txBody>
      </p:sp>
      <p:sp>
        <p:nvSpPr>
          <p:cNvPr id="23" name="reference-18"/>
          <p:cNvSpPr txBox="1"/>
          <p:nvPr/>
        </p:nvSpPr>
        <p:spPr>
          <a:xfrm>
            <a:off x="5486400" y="4562475"/>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3"/>
              </a:rPr>
              <a:t>관광자원·사진 D34 남선공원</a:t>
            </a:r>
          </a:p>
        </p:txBody>
      </p:sp>
      <p:sp>
        <p:nvSpPr>
          <p:cNvPr id="24" name="reference-19"/>
          <p:cNvSpPr txBox="1"/>
          <p:nvPr/>
        </p:nvSpPr>
        <p:spPr>
          <a:xfrm>
            <a:off x="5486400" y="4867275"/>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3"/>
              </a:rPr>
              <a:t>관광자원·사진 D35 내원사(대전)</a:t>
            </a:r>
          </a:p>
        </p:txBody>
      </p:sp>
      <p:sp>
        <p:nvSpPr>
          <p:cNvPr id="25" name="reference-20"/>
          <p:cNvSpPr txBox="1"/>
          <p:nvPr/>
        </p:nvSpPr>
        <p:spPr>
          <a:xfrm>
            <a:off x="5486400" y="5172075"/>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3"/>
              </a:rPr>
              <a:t>관광자원·사진 D36 노크노크</a:t>
            </a:r>
          </a:p>
        </p:txBody>
      </p:sp>
      <p:sp>
        <p:nvSpPr>
          <p:cNvPr id="26" name="reference-21"/>
          <p:cNvSpPr txBox="1"/>
          <p:nvPr/>
        </p:nvSpPr>
        <p:spPr>
          <a:xfrm>
            <a:off x="5486400" y="5476875"/>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3"/>
              </a:rPr>
              <a:t>관광자원·사진 D37 대성콩국수</a:t>
            </a:r>
          </a:p>
        </p:txBody>
      </p:sp>
      <p:sp>
        <p:nvSpPr>
          <p:cNvPr id="27" name="reference-22"/>
          <p:cNvSpPr txBox="1"/>
          <p:nvPr/>
        </p:nvSpPr>
        <p:spPr>
          <a:xfrm>
            <a:off x="5486400" y="5781675"/>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3"/>
              </a:rPr>
              <a:t>관광자원·사진 D38 대전 가수원도서관</a:t>
            </a:r>
          </a:p>
        </p:txBody>
      </p:sp>
      <p:sp>
        <p:nvSpPr>
          <p:cNvPr id="28" name="reference-23"/>
          <p:cNvSpPr txBox="1"/>
          <p:nvPr/>
        </p:nvSpPr>
        <p:spPr>
          <a:xfrm>
            <a:off x="5486400" y="6086475"/>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3"/>
              </a:rPr>
              <a:t>관광자원·사진 D39 대전광역시청 시민잔디광장</a:t>
            </a:r>
          </a:p>
        </p:txBody>
      </p:sp>
      <p:sp>
        <p:nvSpPr>
          <p:cNvPr id="29" name="reference-24"/>
          <p:cNvSpPr txBox="1"/>
          <p:nvPr/>
        </p:nvSpPr>
        <p:spPr>
          <a:xfrm>
            <a:off x="5486400" y="6391275"/>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3"/>
              </a:rPr>
              <a:t>관광자원·사진 D40 대전서구문화원</a:t>
            </a:r>
          </a:p>
        </p:txBody>
      </p:sp>
      <p:sp>
        <p:nvSpPr>
          <p:cNvPr id="30" name="reference-25"/>
          <p:cNvSpPr txBox="1"/>
          <p:nvPr/>
        </p:nvSpPr>
        <p:spPr>
          <a:xfrm>
            <a:off x="5486400" y="6696075"/>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3"/>
              </a:rPr>
              <a:t>관광자원·사진 D41 델빠네</a:t>
            </a:r>
          </a:p>
        </p:txBody>
      </p:sp>
      <p:sp>
        <p:nvSpPr>
          <p:cNvPr id="31" name="reference-26"/>
          <p:cNvSpPr txBox="1"/>
          <p:nvPr/>
        </p:nvSpPr>
        <p:spPr>
          <a:xfrm>
            <a:off x="5486400" y="7000875"/>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3"/>
              </a:rPr>
              <a:t>관광자원·사진 D42 도마큰시장</a:t>
            </a:r>
          </a:p>
        </p:txBody>
      </p:sp>
      <p:sp>
        <p:nvSpPr>
          <p:cNvPr id="32" name="reference-27"/>
          <p:cNvSpPr txBox="1"/>
          <p:nvPr/>
        </p:nvSpPr>
        <p:spPr>
          <a:xfrm>
            <a:off x="5486400" y="7305675"/>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3"/>
              </a:rPr>
              <a:t>관광자원·사진 D43 도산서원(대전)</a:t>
            </a:r>
          </a:p>
        </p:txBody>
      </p:sp>
      <p:sp>
        <p:nvSpPr>
          <p:cNvPr id="33" name="reference-28"/>
          <p:cNvSpPr txBox="1"/>
          <p:nvPr/>
        </p:nvSpPr>
        <p:spPr>
          <a:xfrm>
            <a:off x="5486400" y="7610475"/>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3"/>
              </a:rPr>
              <a:t>관광자원·사진 D44 둔산꽃시장</a:t>
            </a:r>
          </a:p>
        </p:txBody>
      </p:sp>
      <p:sp>
        <p:nvSpPr>
          <p:cNvPr id="34" name="reference-29"/>
          <p:cNvSpPr txBox="1"/>
          <p:nvPr/>
        </p:nvSpPr>
        <p:spPr>
          <a:xfrm>
            <a:off x="9963150" y="24765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3"/>
              </a:rPr>
              <a:t>관광자원·사진 D45 둔산전자타운</a:t>
            </a:r>
          </a:p>
        </p:txBody>
      </p:sp>
      <p:sp>
        <p:nvSpPr>
          <p:cNvPr id="35" name="reference-30"/>
          <p:cNvSpPr txBox="1"/>
          <p:nvPr/>
        </p:nvSpPr>
        <p:spPr>
          <a:xfrm>
            <a:off x="9963150" y="27813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3"/>
              </a:rPr>
              <a:t>관광자원·사진 D46 롯데백화점 (대전점)</a:t>
            </a:r>
          </a:p>
        </p:txBody>
      </p:sp>
      <p:sp>
        <p:nvSpPr>
          <p:cNvPr id="36" name="reference-31"/>
          <p:cNvSpPr txBox="1"/>
          <p:nvPr/>
        </p:nvSpPr>
        <p:spPr>
          <a:xfrm>
            <a:off x="9963150" y="30861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3"/>
              </a:rPr>
              <a:t>관광자원·사진 D47 마치광장</a:t>
            </a:r>
          </a:p>
        </p:txBody>
      </p:sp>
      <p:sp>
        <p:nvSpPr>
          <p:cNvPr id="37" name="reference-32"/>
          <p:cNvSpPr txBox="1"/>
          <p:nvPr/>
        </p:nvSpPr>
        <p:spPr>
          <a:xfrm>
            <a:off x="9963150" y="33909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3"/>
              </a:rPr>
              <a:t>관광자원·사진 D48 몽뜨</a:t>
            </a:r>
          </a:p>
        </p:txBody>
      </p:sp>
      <p:sp>
        <p:nvSpPr>
          <p:cNvPr id="38" name="reference-33"/>
          <p:cNvSpPr txBox="1"/>
          <p:nvPr/>
        </p:nvSpPr>
        <p:spPr>
          <a:xfrm>
            <a:off x="9963150" y="36957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3"/>
              </a:rPr>
              <a:t>관광자원·사진 D49 미세노센세</a:t>
            </a:r>
          </a:p>
        </p:txBody>
      </p:sp>
      <p:sp>
        <p:nvSpPr>
          <p:cNvPr id="40"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6. 근거와 출처</a:t>
            </a:r>
          </a:p>
        </p:txBody>
      </p:sp>
      <p:sp>
        <p:nvSpPr>
          <p:cNvPr id="41"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16 / 17</a:t>
            </a:r>
          </a:p>
        </p:txBody>
      </p:sp>
    </p:spTree>
  </p:cSld>
  <p:clrMapOvr>
    <a:masterClrMapping/>
  </p:clrMapOvr>
</p:sld>
</file>

<file path=ppt/slides/slide15.xml><?xml version="1.0" encoding="utf-8"?>
<p:sld xmlns:p="http://schemas.openxmlformats.org/presentationml/2006/main">
  <p:cSld>
    <p:bg>
      <p:bgPr>
        <a:solidFill xmlns:a="http://schemas.openxmlformats.org/drawingml/2006/main">
          <a:srgbClr val="202124"/>
        </a:solidFill>
      </p:bgPr>
    </p:bg>
    <p:spTree>
      <p:nvGrpSpPr>
        <p:cNvPr id="1" name=""/>
        <p:cNvGrpSpPr/>
        <p:nvPr/>
      </p:nvGrpSpPr>
      <p:grpSpPr>
        <a:xfrm xmlns:a="http://schemas.openxmlformats.org/drawingml/2006/main"/>
      </p:grpSpPr>
      <p:pic xmlns:a="http://schemas.openxmlformats.org/drawingml/2006/main" xmlns:r="http://schemas.openxmlformats.org/officeDocument/2006/relationships">
        <p:nvPicPr>
          <p:cNvPr id="2" name="cover-regional-photo" descr="image.jpg"/>
          <p:cNvPicPr>
            <a:picLocks noChangeAspect="1"/>
          </p:cNvPicPr>
          <p:nvPr/>
        </p:nvPicPr>
        <p:blipFill>
          <a:blip r:embed="rId3"/>
          <a:srcRect l="25543" r="25543"/>
          <a:stretch>
            <a:fillRect/>
          </a:stretch>
        </p:blipFill>
        <p:spPr>
          <a:xfrm>
            <a:off x="8953500" y="0"/>
            <a:ext cx="6286500" cy="8572500"/>
          </a:xfrm>
          <a:prstGeom prst="rect">
            <a:avLst/>
          </a:prstGeom>
        </p:spPr>
      </p:pic>
      <p:sp xmlns:a="http://schemas.openxmlformats.org/drawingml/2006/main">
        <p:nvSpPr>
          <p:cNvPr id="3" name="cover-top-rule"/>
          <p:cNvSpPr/>
          <p:nvPr/>
        </p:nvSpPr>
        <p:spPr>
          <a:xfrm>
            <a:off x="762000" y="904875"/>
            <a:ext cx="666750" cy="476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cover-title-line1"/>
          <p:cNvSpPr txBox="1"/>
          <p:nvPr/>
        </p:nvSpPr>
        <p:spPr>
          <a:xfrm>
            <a:off x="762000" y="2619375"/>
            <a:ext cx="7715250" cy="1190625"/>
          </a:xfrm>
          <a:prstGeom prst="rect">
            <a:avLst/>
          </a:prstGeom>
          <a:noFill/>
        </p:spPr>
        <p:txBody>
          <a:bodyPr wrap="none" lIns="57150" rIns="57150" tIns="38100" bIns="38100" anchor="t">
            <a:noAutofit/>
          </a:bodyPr>
          <a:lstStyle/>
          <a:p>
            <a:pPr eaLnBrk="0">
              <a:lnSpc>
                <a:spcPts val="5437"/>
              </a:lnSpc>
              <a:spcBef>
                <a:spcPts val="0"/>
              </a:spcBef>
              <a:spcAft>
                <a:spcPts val="0"/>
              </a:spcAft>
            </a:pPr>
            <a:r>
              <a:rPr sz="4350" b="1">
                <a:solidFill>
                  <a:srgbClr val="FFFFFF"/>
                </a:solidFill>
                <a:latin typeface="Noto Sans KR"/>
              </a:rPr>
              <a:t>감사합니다</a:t>
            </a:r>
          </a:p>
        </p:txBody>
      </p:sp>
      <p:sp xmlns:a="http://schemas.openxmlformats.org/drawingml/2006/main">
        <p:nvSpPr>
          <p:cNvPr id="6" name="cover-title-line2"/>
          <p:cNvSpPr txBox="1"/>
          <p:nvPr/>
        </p:nvSpPr>
        <p:spPr>
          <a:xfrm>
            <a:off x="762000" y="3943350"/>
            <a:ext cx="7715250" cy="1352550"/>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FFFFFF"/>
                </a:solidFill>
                <a:latin typeface="Noto Sans KR"/>
              </a:rPr>
              <a:t>데이터로 확인하고,</a:t>
            </a:r>
          </a:p>
          <a:p>
            <a:pPr eaLnBrk="0">
              <a:lnSpc>
                <a:spcPts val="4500"/>
              </a:lnSpc>
              <a:spcBef>
                <a:spcPts val="0"/>
              </a:spcBef>
              <a:spcAft>
                <a:spcPts val="0"/>
              </a:spcAft>
            </a:pPr>
            <a:r>
              <a:rPr sz="3600" b="1">
                <a:solidFill>
                  <a:srgbClr val="FFFFFF"/>
                </a:solidFill>
                <a:latin typeface="Noto Sans KR"/>
              </a:rPr>
              <a:t>현장에서 완성합니다</a:t>
            </a:r>
          </a:p>
        </p:txBody>
      </p:sp>
      <p:sp xmlns:a="http://schemas.openxmlformats.org/drawingml/2006/main">
        <p:nvSpPr>
          <p:cNvPr id="8" name="org-title"/>
          <p:cNvSpPr txBox="1"/>
          <p:nvPr/>
        </p:nvSpPr>
        <p:spPr>
          <a:xfrm>
            <a:off x="762000" y="7239000"/>
            <a:ext cx="7429500" cy="457200"/>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FFFFFF"/>
                </a:solidFill>
                <a:latin typeface="Noto Sans KR"/>
              </a:rPr>
              <a:t>대전광역시 서구</a:t>
            </a:r>
          </a:p>
        </p:txBody>
      </p:sp>
      <p:sp xmlns:a="http://schemas.openxmlformats.org/drawingml/2006/main">
        <p:nvSpPr>
          <p:cNvPr id="9" name="cover-meta"/>
          <p:cNvSpPr txBox="1"/>
          <p:nvPr/>
        </p:nvSpPr>
        <p:spPr>
          <a:xfrm>
            <a:off x="762000" y="7753350"/>
            <a:ext cx="7524750" cy="57150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FFFFFF"/>
                </a:solidFill>
                <a:latin typeface="Noto Sans KR"/>
              </a:rPr>
              <a:t>대전 서구 야간 특화 콘텐츠 순회 축제</a:t>
            </a:r>
          </a:p>
        </p:txBody>
      </p:sp>
      <p:sp xmlns:a="http://schemas.openxmlformats.org/drawingml/2006/main">
        <p:nvSpPr>
          <p:cNvPr id="10" name="cover-source-bg"/>
          <p:cNvSpPr/>
          <p:nvPr/>
        </p:nvSpPr>
        <p:spPr>
          <a:xfrm>
            <a:off x="9258300" y="8001000"/>
            <a:ext cx="5676900" cy="400050"/>
          </a:xfrm>
          <a:prstGeom prst="rect">
            <a:avLst/>
          </a:prstGeom>
          <a:solidFill>
            <a:srgbClr val="0F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cover-source-label">
            <a:hlinkClick xmlns:r="http://schemas.openxmlformats.org/officeDocument/2006/relationships" r:id="rId4"/>
          </p:cNvPr>
          <p:cNvSpPr txBox="1"/>
          <p:nvPr/>
        </p:nvSpPr>
        <p:spPr>
          <a:xfrm>
            <a:off x="9363075" y="8039100"/>
            <a:ext cx="5467350" cy="323850"/>
          </a:xfrm>
          <a:prstGeom prst="rect">
            <a:avLst/>
          </a:prstGeom>
          <a:noFill/>
        </p:spPr>
        <p:txBody>
          <a:bodyPr wrap="none" lIns="57150" rIns="57150" tIns="38100" bIns="38100" anchor="ctr">
            <a:noAutofit/>
          </a:bodyPr>
          <a:lstStyle/>
          <a:p>
            <a:pPr eaLnBrk="0" algn="ctr">
              <a:lnSpc>
                <a:spcPts val="1593"/>
              </a:lnSpc>
              <a:spcBef>
                <a:spcPts val="0"/>
              </a:spcBef>
              <a:spcAft>
                <a:spcPts val="0"/>
              </a:spcAft>
            </a:pPr>
            <a:r>
              <a:rPr sz="1275" b="0">
                <a:solidFill>
                  <a:srgbClr val="FFFFFF"/>
                </a:solidFill>
                <a:latin typeface="Noto Sans KR"/>
              </a:rPr>
              <a:t>대전광역시 서구 · 내원사(대전)</a:t>
            </a:r>
          </a:p>
        </p:txBody>
      </p:sp>
    </p:spTree>
    <p:extLst>
      <p:ext uri="{BB962C8B-B14F-4D97-AF65-F5344CB8AC3E}">
        <p14:creationId xmlns:p14="http://schemas.microsoft.com/office/powerpoint/2010/main" val="655411831"/>
      </p:ext>
    </p:extLst>
  </p:cSld>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2. 사업 목표</a:t>
            </a:r>
          </a:p>
        </p:txBody>
      </p:sp>
      <p:sp>
        <p:nvSpPr>
          <p:cNvPr id="3" name="title"/>
          <p:cNvSpPr txBox="1"/>
          <p:nvPr/>
        </p:nvSpPr>
        <p:spPr>
          <a:xfrm>
            <a:off x="1009650" y="819150"/>
            <a:ext cx="13220700" cy="733425"/>
          </a:xfrm>
          <a:prstGeom prst="rect">
            <a:avLst/>
          </a:prstGeom>
          <a:noFill/>
        </p:spPr>
        <p:txBody>
          <a:bodyPr wrap="none" lIns="57150" rIns="57150" tIns="38100" bIns="38100" anchor="t">
            <a:noAutofit/>
          </a:bodyPr>
          <a:lstStyle/>
          <a:p>
            <a:pPr eaLnBrk="0">
              <a:lnSpc>
                <a:spcPts val="3750"/>
              </a:lnSpc>
              <a:spcBef>
                <a:spcPts val="0"/>
              </a:spcBef>
              <a:spcAft>
                <a:spcPts val="0"/>
              </a:spcAft>
            </a:pPr>
            <a:r>
              <a:rPr sz="3000" b="1">
                <a:solidFill>
                  <a:srgbClr val="202124"/>
                </a:solidFill>
                <a:latin typeface="Noto Sans KR"/>
              </a:rPr>
              <a:t>2.3 운영 규모와 산출 근거</a:t>
            </a:r>
          </a:p>
        </p:txBody>
      </p:sp>
      <p:sp>
        <p:nvSpPr>
          <p:cNvPr id="4" name="operating-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운영량을 먼저 제안하고, 참여와 추가 방문을 차례로 계산합니다</a:t>
            </a:r>
          </a:p>
        </p:txBody>
      </p:sp>
      <p:sp>
        <p:nvSpPr>
          <p:cNvPr id="5" name="capacity-stage-0"/>
          <p:cNvSpPr/>
          <p:nvPr/>
        </p:nvSpPr>
        <p:spPr>
          <a:xfrm>
            <a:off x="1009650"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capacity-icon-0" descr="database-blue.png"/>
          <p:cNvPicPr>
            <a:picLocks noChangeAspect="1"/>
          </p:cNvPicPr>
          <p:nvPr/>
        </p:nvPicPr>
        <p:blipFill>
          <a:blip r:embed="rId2"/>
          <a:stretch>
            <a:fillRect/>
          </a:stretch>
        </p:blipFill>
        <p:spPr>
          <a:xfrm>
            <a:off x="1219200" y="2809875"/>
            <a:ext cx="438150" cy="438150"/>
          </a:xfrm>
          <a:prstGeom prst="rect">
            <a:avLst/>
          </a:prstGeom>
        </p:spPr>
      </p:pic>
      <p:sp>
        <p:nvSpPr>
          <p:cNvPr id="7" name="capacity-label-0"/>
          <p:cNvSpPr txBox="1"/>
          <p:nvPr/>
        </p:nvSpPr>
        <p:spPr>
          <a:xfrm>
            <a:off x="1781175" y="2905125"/>
            <a:ext cx="2171700" cy="3714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지역 관광 규모</a:t>
            </a:r>
          </a:p>
        </p:txBody>
      </p:sp>
      <p:sp>
        <p:nvSpPr>
          <p:cNvPr id="8" name="capacity-value-0"/>
          <p:cNvSpPr txBox="1"/>
          <p:nvPr/>
        </p:nvSpPr>
        <p:spPr>
          <a:xfrm>
            <a:off x="1200150" y="3514725"/>
            <a:ext cx="2752725" cy="59055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27649B"/>
                </a:solidFill>
                <a:latin typeface="Noto Sans KR"/>
              </a:rPr>
              <a:t>월평균 497.6만 명</a:t>
            </a:r>
          </a:p>
        </p:txBody>
      </p:sp>
      <p:sp>
        <p:nvSpPr>
          <p:cNvPr id="9" name="capacity-detail-0"/>
          <p:cNvSpPr txBox="1"/>
          <p:nvPr/>
        </p:nvSpPr>
        <p:spPr>
          <a:xfrm>
            <a:off x="1200150" y="4248150"/>
            <a:ext cx="2752725" cy="5810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저장 ML 방문 전망</a:t>
            </a:r>
          </a:p>
        </p:txBody>
      </p:sp>
      <p:cxnSp>
        <p:nvCxnSpPr>
          <p:cNvPr id="10" name="capacity-arrow-0-0"/>
          <p:cNvCxnSpPr/>
          <p:nvPr/>
        </p:nvCxnSpPr>
        <p:spPr>
          <a:xfrm>
            <a:off x="4143375" y="3743325"/>
            <a:ext cx="219075"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sp>
        <p:nvSpPr>
          <p:cNvPr id="11" name="capacity-stage-1"/>
          <p:cNvSpPr/>
          <p:nvPr/>
        </p:nvSpPr>
        <p:spPr>
          <a:xfrm>
            <a:off x="4391025"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capacity-icon-1" descr="map-pinned-blue.png"/>
          <p:cNvPicPr>
            <a:picLocks noChangeAspect="1"/>
          </p:cNvPicPr>
          <p:nvPr/>
        </p:nvPicPr>
        <p:blipFill>
          <a:blip r:embed="rId3"/>
          <a:stretch>
            <a:fillRect/>
          </a:stretch>
        </p:blipFill>
        <p:spPr>
          <a:xfrm>
            <a:off x="4600575" y="2809875"/>
            <a:ext cx="438150" cy="438150"/>
          </a:xfrm>
          <a:prstGeom prst="rect">
            <a:avLst/>
          </a:prstGeom>
        </p:spPr>
      </p:pic>
      <p:sp>
        <p:nvSpPr>
          <p:cNvPr id="13" name="capacity-label-1"/>
          <p:cNvSpPr txBox="1"/>
          <p:nvPr/>
        </p:nvSpPr>
        <p:spPr>
          <a:xfrm>
            <a:off x="5162550" y="2905125"/>
            <a:ext cx="2171700" cy="3714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제안 운영 규모</a:t>
            </a:r>
          </a:p>
        </p:txBody>
      </p:sp>
      <p:sp>
        <p:nvSpPr>
          <p:cNvPr id="14" name="capacity-value-1"/>
          <p:cNvSpPr txBox="1"/>
          <p:nvPr/>
        </p:nvSpPr>
        <p:spPr>
          <a:xfrm>
            <a:off x="4581525" y="3514725"/>
            <a:ext cx="2752725" cy="59055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F50045"/>
                </a:solidFill>
                <a:latin typeface="Noto Sans KR"/>
              </a:rPr>
              <a:t>8개 운영 거점</a:t>
            </a:r>
          </a:p>
        </p:txBody>
      </p:sp>
      <p:sp>
        <p:nvSpPr>
          <p:cNvPr id="15" name="capacity-detail-1"/>
          <p:cNvSpPr txBox="1"/>
          <p:nvPr/>
        </p:nvSpPr>
        <p:spPr>
          <a:xfrm>
            <a:off x="4581525" y="4248150"/>
            <a:ext cx="2752725" cy="5810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월 8일 · 하루 2회</a:t>
            </a:r>
          </a:p>
        </p:txBody>
      </p:sp>
      <p:cxnSp>
        <p:nvCxnSpPr>
          <p:cNvPr id="16" name="capacity-arrow-1-0"/>
          <p:cNvCxnSpPr/>
          <p:nvPr/>
        </p:nvCxnSpPr>
        <p:spPr>
          <a:xfrm>
            <a:off x="7524750" y="3743325"/>
            <a:ext cx="219075"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sp>
        <p:nvSpPr>
          <p:cNvPr id="17" name="capacity-stage-2"/>
          <p:cNvSpPr/>
          <p:nvPr/>
        </p:nvSpPr>
        <p:spPr>
          <a:xfrm>
            <a:off x="7772400"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capacity-icon-2" descr="users-blue.png"/>
          <p:cNvPicPr>
            <a:picLocks noChangeAspect="1"/>
          </p:cNvPicPr>
          <p:nvPr/>
        </p:nvPicPr>
        <p:blipFill>
          <a:blip r:embed="rId4"/>
          <a:stretch>
            <a:fillRect/>
          </a:stretch>
        </p:blipFill>
        <p:spPr>
          <a:xfrm>
            <a:off x="7981950" y="2809875"/>
            <a:ext cx="438150" cy="438150"/>
          </a:xfrm>
          <a:prstGeom prst="rect">
            <a:avLst/>
          </a:prstGeom>
        </p:spPr>
      </p:pic>
      <p:sp>
        <p:nvSpPr>
          <p:cNvPr id="19" name="capacity-label-2"/>
          <p:cNvSpPr txBox="1"/>
          <p:nvPr/>
        </p:nvSpPr>
        <p:spPr>
          <a:xfrm>
            <a:off x="8543925" y="2905125"/>
            <a:ext cx="2171700" cy="3714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참여 목표</a:t>
            </a:r>
          </a:p>
        </p:txBody>
      </p:sp>
      <p:sp>
        <p:nvSpPr>
          <p:cNvPr id="20" name="capacity-value-2"/>
          <p:cNvSpPr txBox="1"/>
          <p:nvPr/>
        </p:nvSpPr>
        <p:spPr>
          <a:xfrm>
            <a:off x="7962900" y="3514725"/>
            <a:ext cx="2752725" cy="59055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187C70"/>
                </a:solidFill>
                <a:latin typeface="Noto Sans KR"/>
              </a:rPr>
              <a:t>11,520명</a:t>
            </a:r>
          </a:p>
        </p:txBody>
      </p:sp>
      <p:sp>
        <p:nvSpPr>
          <p:cNvPr id="21" name="capacity-detail-2"/>
          <p:cNvSpPr txBox="1"/>
          <p:nvPr/>
        </p:nvSpPr>
        <p:spPr>
          <a:xfrm>
            <a:off x="7962900" y="4248150"/>
            <a:ext cx="2752725" cy="5810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편성 한도 15,360 × 이용률 75%</a:t>
            </a:r>
          </a:p>
        </p:txBody>
      </p:sp>
      <p:cxnSp>
        <p:nvCxnSpPr>
          <p:cNvPr id="22" name="capacity-arrow-2-0"/>
          <p:cNvCxnSpPr/>
          <p:nvPr/>
        </p:nvCxnSpPr>
        <p:spPr>
          <a:xfrm>
            <a:off x="10906125" y="3743325"/>
            <a:ext cx="219075"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sp>
        <p:nvSpPr>
          <p:cNvPr id="23" name="capacity-stage-3"/>
          <p:cNvSpPr/>
          <p:nvPr/>
        </p:nvSpPr>
        <p:spPr>
          <a:xfrm>
            <a:off x="11153775"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capacity-icon-3" descr="target-blue.png"/>
          <p:cNvPicPr>
            <a:picLocks noChangeAspect="1"/>
          </p:cNvPicPr>
          <p:nvPr/>
        </p:nvPicPr>
        <p:blipFill>
          <a:blip r:embed="rId5"/>
          <a:stretch>
            <a:fillRect/>
          </a:stretch>
        </p:blipFill>
        <p:spPr>
          <a:xfrm>
            <a:off x="11363325" y="2809875"/>
            <a:ext cx="438150" cy="438150"/>
          </a:xfrm>
          <a:prstGeom prst="rect">
            <a:avLst/>
          </a:prstGeom>
        </p:spPr>
      </p:pic>
      <p:sp>
        <p:nvSpPr>
          <p:cNvPr id="25" name="capacity-label-3"/>
          <p:cNvSpPr txBox="1"/>
          <p:nvPr/>
        </p:nvSpPr>
        <p:spPr>
          <a:xfrm>
            <a:off x="11925300" y="2905125"/>
            <a:ext cx="2171700" cy="3714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추가 방문 목표</a:t>
            </a:r>
          </a:p>
        </p:txBody>
      </p:sp>
      <p:sp>
        <p:nvSpPr>
          <p:cNvPr id="26" name="capacity-value-3"/>
          <p:cNvSpPr txBox="1"/>
          <p:nvPr/>
        </p:nvSpPr>
        <p:spPr>
          <a:xfrm>
            <a:off x="11344275" y="3514725"/>
            <a:ext cx="2752725" cy="59055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27649B"/>
                </a:solidFill>
                <a:latin typeface="Noto Sans KR"/>
              </a:rPr>
              <a:t>3,456명</a:t>
            </a:r>
          </a:p>
        </p:txBody>
      </p:sp>
      <p:sp>
        <p:nvSpPr>
          <p:cNvPr id="27" name="capacity-detail-3"/>
          <p:cNvSpPr txBox="1"/>
          <p:nvPr/>
        </p:nvSpPr>
        <p:spPr>
          <a:xfrm>
            <a:off x="11344275" y="4248150"/>
            <a:ext cx="2752725" cy="5810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참여 목표 × 추가 방문</a:t>
            </a:r>
          </a:p>
          <a:p>
            <a:pPr eaLnBrk="0">
              <a:lnSpc>
                <a:spcPts val="1875"/>
              </a:lnSpc>
              <a:spcBef>
                <a:spcPts val="0"/>
              </a:spcBef>
              <a:spcAft>
                <a:spcPts val="0"/>
              </a:spcAft>
            </a:pPr>
            <a:r>
              <a:rPr sz="1500" b="0">
                <a:solidFill>
                  <a:srgbClr val="62666C"/>
                </a:solidFill>
                <a:latin typeface="Noto Sans KR"/>
              </a:rPr>
              <a:t>비중 30%</a:t>
            </a:r>
          </a:p>
        </p:txBody>
      </p:sp>
      <p:sp>
        <p:nvSpPr>
          <p:cNvPr id="28" name="capacity-formula-panel"/>
          <p:cNvSpPr/>
          <p:nvPr/>
        </p:nvSpPr>
        <p:spPr>
          <a:xfrm>
            <a:off x="1009650" y="5238750"/>
            <a:ext cx="13220700" cy="12192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capacity-formula-label"/>
          <p:cNvSpPr txBox="1"/>
          <p:nvPr/>
        </p:nvSpPr>
        <p:spPr>
          <a:xfrm>
            <a:off x="1209675" y="5410200"/>
            <a:ext cx="2381250" cy="3810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87C70"/>
                </a:solidFill>
                <a:latin typeface="Noto Sans KR"/>
              </a:rPr>
              <a:t>운영량 계산</a:t>
            </a:r>
          </a:p>
        </p:txBody>
      </p:sp>
      <p:sp>
        <p:nvSpPr>
          <p:cNvPr id="30" name="capacity-formula"/>
          <p:cNvSpPr txBox="1"/>
          <p:nvPr/>
        </p:nvSpPr>
        <p:spPr>
          <a:xfrm>
            <a:off x="3667125" y="5400675"/>
            <a:ext cx="10287000" cy="45720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202124"/>
                </a:solidFill>
                <a:latin typeface="Noto Sans KR"/>
              </a:rPr>
              <a:t>8개 × 월 8일 × 3개월 × 하루 2회 × 회당 40명 = 15,360명분</a:t>
            </a:r>
          </a:p>
        </p:txBody>
      </p:sp>
      <p:sp>
        <p:nvSpPr>
          <p:cNvPr id="31" name="capacity-limit"/>
          <p:cNvSpPr txBox="1"/>
          <p:nvPr/>
        </p:nvSpPr>
        <p:spPr>
          <a:xfrm>
            <a:off x="3667125" y="5905500"/>
            <a:ext cx="10287000" cy="36195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편성 참여 한도 15,360명분 · 예상 견적 2.18억 원</a:t>
            </a:r>
          </a:p>
        </p:txBody>
      </p:sp>
      <p:sp>
        <p:nvSpPr>
          <p:cNvPr id="32" name="capacity-case"/>
          <p:cNvSpPr txBox="1"/>
          <p:nvPr/>
        </p:nvSpPr>
        <p:spPr>
          <a:xfrm>
            <a:off x="1009650" y="6667500"/>
            <a:ext cx="2190750" cy="342900"/>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187C70"/>
                </a:solidFill>
                <a:latin typeface="Noto Sans KR"/>
              </a:rPr>
              <a:t>사례와의 차이</a:t>
            </a:r>
          </a:p>
        </p:txBody>
      </p:sp>
      <p:sp>
        <p:nvSpPr>
          <p:cNvPr id="33" name="capacity-case-name">
            <a:hlinkClick r:id="rId6"/>
          </p:cNvPr>
          <p:cNvSpPr txBox="1"/>
          <p:nvPr/>
        </p:nvSpPr>
        <p:spPr>
          <a:xfrm>
            <a:off x="3333750" y="6667500"/>
            <a:ext cx="10896600" cy="5905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202124"/>
                </a:solidFill>
                <a:latin typeface="Noto Sans KR"/>
              </a:rPr>
              <a:t>공식 사례의 운영 방식을 참고하며, 발표 실적을 우리 지역 정원으로 환산하지 않습니다.</a:t>
            </a:r>
          </a:p>
        </p:txBody>
      </p:sp>
      <p:sp>
        <p:nvSpPr>
          <p:cNvPr id="34" name="capacity-scale-rule"/>
          <p:cNvSpPr txBox="1"/>
          <p:nvPr/>
        </p:nvSpPr>
        <p:spPr>
          <a:xfrm>
            <a:off x="1009650" y="7305675"/>
            <a:ext cx="13220700" cy="5715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대전광역시 서구: 월평균 ML 방문 497.6만 명을 규모 입력으로 사용.</a:t>
            </a:r>
          </a:p>
          <a:p>
            <a:pPr eaLnBrk="0">
              <a:lnSpc>
                <a:spcPts val="1875"/>
              </a:lnSpc>
              <a:spcBef>
                <a:spcPts val="0"/>
              </a:spcBef>
              <a:spcAft>
                <a:spcPts val="0"/>
              </a:spcAft>
            </a:pPr>
            <a:r>
              <a:rPr sz="1500" b="0">
                <a:solidFill>
                  <a:srgbClr val="62666C"/>
                </a:solidFill>
                <a:latin typeface="Noto Sans KR"/>
              </a:rPr>
              <a:t>거점은 √(월평균 방문 ÷ 10만)을 올려 1~12개로 제안한 뒤 예산을 반영합니다. 인구 보정·학습 모델의 결과는 아닙니다.</a:t>
            </a:r>
          </a:p>
        </p:txBody>
      </p:sp>
      <p:sp>
        <p:nvSpPr>
          <p:cNvPr id="35" name="capacity-disclosure"/>
          <p:cNvSpPr txBox="1"/>
          <p:nvPr/>
        </p:nvSpPr>
        <p:spPr>
          <a:xfrm>
            <a:off x="1009650" y="7924800"/>
            <a:ext cx="13220700" cy="5429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참여 목표 75%는 공통 최소 운영 목표입니다. 사례 참여율을 인용한 값이 아닙니다.</a:t>
            </a:r>
          </a:p>
        </p:txBody>
      </p:sp>
      <p:sp>
        <p:nvSpPr>
          <p:cNvPr id="36"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08 / 17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2. 사업 목표</a:t>
            </a:r>
          </a:p>
        </p:txBody>
      </p:sp>
      <p:sp>
        <p:nvSpPr>
          <p:cNvPr id="3" name="title"/>
          <p:cNvSpPr txBox="1"/>
          <p:nvPr/>
        </p:nvSpPr>
        <p:spPr>
          <a:xfrm>
            <a:off x="1009650" y="819150"/>
            <a:ext cx="13220700" cy="733425"/>
          </a:xfrm>
          <a:prstGeom prst="rect">
            <a:avLst/>
          </a:prstGeom>
          <a:noFill/>
        </p:spPr>
        <p:txBody>
          <a:bodyPr wrap="none" lIns="57150" rIns="57150" tIns="38100" bIns="38100" anchor="t">
            <a:noAutofit/>
          </a:bodyPr>
          <a:lstStyle/>
          <a:p>
            <a:pPr eaLnBrk="0">
              <a:lnSpc>
                <a:spcPts val="3750"/>
              </a:lnSpc>
              <a:spcBef>
                <a:spcPts val="0"/>
              </a:spcBef>
              <a:spcAft>
                <a:spcPts val="0"/>
              </a:spcAft>
            </a:pPr>
            <a:r>
              <a:rPr sz="3000" b="1">
                <a:solidFill>
                  <a:srgbClr val="202124"/>
                </a:solidFill>
                <a:latin typeface="Noto Sans KR"/>
              </a:rPr>
              <a:t>2.4 기대 변화의 시나리오</a:t>
            </a:r>
          </a:p>
        </p:txBody>
      </p:sp>
      <p:sp>
        <p:nvSpPr>
          <p:cNvPr id="4" name="operating-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같은 운영량에서 이용률과 추가 방문 비중을 달리한 계획 범위</a:t>
            </a:r>
          </a:p>
        </p:txBody>
      </p:sp>
      <p:sp>
        <p:nvSpPr>
          <p:cNvPr id="5" name="scenario-panel-0"/>
          <p:cNvSpPr/>
          <p:nvPr/>
        </p:nvSpPr>
        <p:spPr>
          <a:xfrm>
            <a:off x="1009650" y="2571750"/>
            <a:ext cx="6419850" cy="41338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cenario-label-0"/>
          <p:cNvSpPr txBox="1"/>
          <p:nvPr/>
        </p:nvSpPr>
        <p:spPr>
          <a:xfrm>
            <a:off x="1238250" y="2752725"/>
            <a:ext cx="5962650" cy="447675"/>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27649B"/>
                </a:solidFill>
                <a:latin typeface="Noto Sans KR"/>
              </a:rPr>
              <a:t>추가 방문 목표 · 명</a:t>
            </a:r>
          </a:p>
        </p:txBody>
      </p:sp>
      <p:graphicFrame>
        <p:nvGraphicFramePr>
          <p:cNvPr id="7" name="operating-scenario-chart-0"/>
          <p:cNvGraphicFramePr>
            <a:graphicFrameLocks noGrp="1"/>
          </p:cNvGraphicFramePr>
          <p:nvPr/>
        </p:nvGraphicFramePr>
        <p:xfrm>
          <a:off x="1104900" y="3343275"/>
          <a:ext cx="6210300" cy="2857500"/>
        </p:xfrm>
        <a:graphic>
          <a:graphicData uri="http://schemas.openxmlformats.org/drawingml/2006/chart">
            <c:chart xmlns:c="http://schemas.openxmlformats.org/drawingml/2006/chart" r:id="rId2"/>
          </a:graphicData>
        </a:graphic>
      </p:graphicFrame>
      <p:sp>
        <p:nvSpPr>
          <p:cNvPr id="8" name="scenario-growth-0"/>
          <p:cNvSpPr txBox="1"/>
          <p:nvPr/>
        </p:nvSpPr>
        <p:spPr>
          <a:xfrm>
            <a:off x="1238250" y="6219825"/>
            <a:ext cx="5962650" cy="381000"/>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27649B"/>
                </a:solidFill>
                <a:latin typeface="Noto Sans KR"/>
              </a:rPr>
              <a:t>기준 시나리오 · 기간 합계 ML 전망 대비 +0.02%</a:t>
            </a:r>
          </a:p>
        </p:txBody>
      </p:sp>
      <p:sp>
        <p:nvSpPr>
          <p:cNvPr id="9" name="scenario-panel-1"/>
          <p:cNvSpPr/>
          <p:nvPr/>
        </p:nvSpPr>
        <p:spPr>
          <a:xfrm>
            <a:off x="7810500" y="2571750"/>
            <a:ext cx="6419850" cy="41338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cenario-label-1"/>
          <p:cNvSpPr txBox="1"/>
          <p:nvPr/>
        </p:nvSpPr>
        <p:spPr>
          <a:xfrm>
            <a:off x="8039100" y="2752725"/>
            <a:ext cx="5962650" cy="447675"/>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187C70"/>
                </a:solidFill>
                <a:latin typeface="Noto Sans KR"/>
              </a:rPr>
              <a:t>추가 소비 목표 · 만 원</a:t>
            </a:r>
          </a:p>
        </p:txBody>
      </p:sp>
      <p:graphicFrame>
        <p:nvGraphicFramePr>
          <p:cNvPr id="11" name="operating-scenario-chart-1"/>
          <p:cNvGraphicFramePr>
            <a:graphicFrameLocks noGrp="1"/>
          </p:cNvGraphicFramePr>
          <p:nvPr/>
        </p:nvGraphicFramePr>
        <p:xfrm>
          <a:off x="7905750" y="3343275"/>
          <a:ext cx="6210300" cy="2857500"/>
        </p:xfrm>
        <a:graphic>
          <a:graphicData uri="http://schemas.openxmlformats.org/drawingml/2006/chart">
            <c:chart xmlns:c="http://schemas.openxmlformats.org/drawingml/2006/chart" r:id="rId3"/>
          </a:graphicData>
        </a:graphic>
      </p:graphicFrame>
      <p:sp>
        <p:nvSpPr>
          <p:cNvPr id="12" name="scenario-growth-1"/>
          <p:cNvSpPr txBox="1"/>
          <p:nvPr/>
        </p:nvSpPr>
        <p:spPr>
          <a:xfrm>
            <a:off x="8039100" y="6219825"/>
            <a:ext cx="5962650" cy="381000"/>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187C70"/>
                </a:solidFill>
                <a:latin typeface="Noto Sans KR"/>
              </a:rPr>
              <a:t>기준 시나리오 · 기간 합계 ML 전망 대비 +0.05%</a:t>
            </a:r>
          </a:p>
        </p:txBody>
      </p:sp>
      <p:sp>
        <p:nvSpPr>
          <p:cNvPr id="13" name="scenario-rates"/>
          <p:cNvSpPr txBox="1"/>
          <p:nvPr/>
        </p:nvSpPr>
        <p:spPr>
          <a:xfrm>
            <a:off x="1009650" y="6953250"/>
            <a:ext cx="13220700" cy="4286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202124"/>
                </a:solidFill>
                <a:latin typeface="Noto Sans KR"/>
              </a:rPr>
              <a:t>이용률·추가 방문 비중 보수 75%·15% / 기준 75%·30% / 확대 90%·45%</a:t>
            </a:r>
          </a:p>
        </p:txBody>
      </p:sp>
      <p:sp>
        <p:nvSpPr>
          <p:cNvPr id="14" name="scenario-consumption-formula"/>
          <p:cNvSpPr txBox="1"/>
          <p:nvPr/>
        </p:nvSpPr>
        <p:spPr>
          <a:xfrm>
            <a:off x="1009650" y="7429500"/>
            <a:ext cx="13220700" cy="45720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소비 = 추가 방문 × 16,503원(ML 소비/방문 비율) + 기존 방문 참여 × 8,251원(추가 구매 가정)</a:t>
            </a:r>
          </a:p>
        </p:txBody>
      </p:sp>
      <p:sp>
        <p:nvSpPr>
          <p:cNvPr id="15" name="scenario-disclaimer"/>
          <p:cNvSpPr txBox="1"/>
          <p:nvPr/>
        </p:nvSpPr>
        <p:spPr>
          <a:xfrm>
            <a:off x="1009650" y="8048625"/>
            <a:ext cx="13220700" cy="4000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계획 가정을 바꾼 범위이며 통계적 신뢰구간이 아닙니다. 소비/방문 비율은 실측 객단가가 아니며 사업 효과는 사후 확인합니다.</a:t>
            </a:r>
          </a:p>
        </p:txBody>
      </p:sp>
      <p:sp>
        <p:nvSpPr>
          <p:cNvPr id="16"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09 / 17</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2026-09-04T04:44:41.2670000Z</dcterms:created>
  <dcterms:modified xsi:type="dcterms:W3CDTF">2026-09-04T04:44:41.2670000Z</dcterms:modified>
</coreProperties>
</file>