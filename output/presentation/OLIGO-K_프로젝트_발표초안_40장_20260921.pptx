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slides/charts/chart1.xml" ContentType="application/vnd.openxmlformats-officedocument.drawingml.chart+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slides/charts/chart2.xml" ContentType="application/vnd.openxmlformats-officedocument.drawingml.chart+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58b9fc24e9c4c78" /><Relationship Type="http://schemas.openxmlformats.org/officeDocument/2006/relationships/extended-properties" Target="/docProps/app.xml" Id="Rcb0bd45a245f42cf" /><Relationship Type="http://schemas.openxmlformats.org/officeDocument/2006/relationships/officeDocument" Target="/ppt/presentation.xml" Id="Rfff3525f03ae4e5e" /></Relationships>
</file>

<file path=ppt/presentation.xml><?xml version="1.0" encoding="utf-8"?>
<p:presentation xmlns:p="http://schemas.openxmlformats.org/presentationml/2006/main">
  <p:sldMasterIdLst>
    <p:sldMasterId xmlns:r="http://schemas.openxmlformats.org/officeDocument/2006/relationships" id="2147483648" r:id="Ra1751554deda41e6"/>
  </p:sldMasterIdLst>
  <p:notesMasterIdLst>
    <p:notesMasterId xmlns:r="http://schemas.openxmlformats.org/officeDocument/2006/relationships" r:id="R47e2c073d5b4401d"/>
  </p:notesMasterIdLst>
  <p:sldIdLst>
    <p:sldId xmlns:r="http://schemas.openxmlformats.org/officeDocument/2006/relationships" id="256" r:id="Rf9555bfed5c1432a"/>
    <p:sldId xmlns:r="http://schemas.openxmlformats.org/officeDocument/2006/relationships" id="257" r:id="R3e2404ba0c414993"/>
    <p:sldId xmlns:r="http://schemas.openxmlformats.org/officeDocument/2006/relationships" id="258" r:id="R84cf680560054c3b"/>
    <p:sldId xmlns:r="http://schemas.openxmlformats.org/officeDocument/2006/relationships" id="259" r:id="Rc916d55ef2934fe0"/>
    <p:sldId xmlns:r="http://schemas.openxmlformats.org/officeDocument/2006/relationships" id="260" r:id="R370d4320da2447a4"/>
    <p:sldId xmlns:r="http://schemas.openxmlformats.org/officeDocument/2006/relationships" id="261" r:id="R1f58234bc08f4653"/>
    <p:sldId xmlns:r="http://schemas.openxmlformats.org/officeDocument/2006/relationships" id="262" r:id="R16e770a78f5a414d"/>
    <p:sldId xmlns:r="http://schemas.openxmlformats.org/officeDocument/2006/relationships" id="263" r:id="R1624caea4f804c17"/>
    <p:sldId xmlns:r="http://schemas.openxmlformats.org/officeDocument/2006/relationships" id="264" r:id="Rbded2c10dfd6466b"/>
    <p:sldId xmlns:r="http://schemas.openxmlformats.org/officeDocument/2006/relationships" id="265" r:id="R7e88e40f1624436d"/>
    <p:sldId xmlns:r="http://schemas.openxmlformats.org/officeDocument/2006/relationships" id="266" r:id="Re3e9520c98034729"/>
    <p:sldId xmlns:r="http://schemas.openxmlformats.org/officeDocument/2006/relationships" id="267" r:id="Ra4e2357110e343f5"/>
    <p:sldId xmlns:r="http://schemas.openxmlformats.org/officeDocument/2006/relationships" id="268" r:id="Ra845881039aa48ae"/>
    <p:sldId xmlns:r="http://schemas.openxmlformats.org/officeDocument/2006/relationships" id="269" r:id="Rde9f7e5bbef64577"/>
    <p:sldId xmlns:r="http://schemas.openxmlformats.org/officeDocument/2006/relationships" id="270" r:id="Rf09c82565e0e43e3"/>
    <p:sldId xmlns:r="http://schemas.openxmlformats.org/officeDocument/2006/relationships" id="271" r:id="Red28eadd6c114e60"/>
    <p:sldId xmlns:r="http://schemas.openxmlformats.org/officeDocument/2006/relationships" id="272" r:id="Rcdfeab3228f94ca7"/>
    <p:sldId xmlns:r="http://schemas.openxmlformats.org/officeDocument/2006/relationships" id="273" r:id="R3c99dfb2462244d6"/>
    <p:sldId xmlns:r="http://schemas.openxmlformats.org/officeDocument/2006/relationships" id="274" r:id="R57e90f73756f4c95"/>
    <p:sldId xmlns:r="http://schemas.openxmlformats.org/officeDocument/2006/relationships" id="275" r:id="R04ca2d2247a6494a"/>
    <p:sldId xmlns:r="http://schemas.openxmlformats.org/officeDocument/2006/relationships" id="276" r:id="R0572aded8c424c11"/>
    <p:sldId xmlns:r="http://schemas.openxmlformats.org/officeDocument/2006/relationships" id="277" r:id="Rb618d3494a8b410e"/>
    <p:sldId xmlns:r="http://schemas.openxmlformats.org/officeDocument/2006/relationships" id="278" r:id="Re2d357b4face4740"/>
    <p:sldId xmlns:r="http://schemas.openxmlformats.org/officeDocument/2006/relationships" id="279" r:id="R5a57191971f34044"/>
    <p:sldId xmlns:r="http://schemas.openxmlformats.org/officeDocument/2006/relationships" id="280" r:id="Rbf7b6f5d92c94034"/>
    <p:sldId xmlns:r="http://schemas.openxmlformats.org/officeDocument/2006/relationships" id="281" r:id="R5a7f9ce1883a4678"/>
    <p:sldId xmlns:r="http://schemas.openxmlformats.org/officeDocument/2006/relationships" id="282" r:id="R78bd7070a9c449f6"/>
    <p:sldId xmlns:r="http://schemas.openxmlformats.org/officeDocument/2006/relationships" id="283" r:id="Rfbad513c2769485e"/>
    <p:sldId xmlns:r="http://schemas.openxmlformats.org/officeDocument/2006/relationships" id="284" r:id="R1d679a6bb5e74889"/>
    <p:sldId xmlns:r="http://schemas.openxmlformats.org/officeDocument/2006/relationships" id="285" r:id="R6f16cf5e36de4677"/>
    <p:sldId xmlns:r="http://schemas.openxmlformats.org/officeDocument/2006/relationships" id="286" r:id="R9074abc995994d5c"/>
    <p:sldId xmlns:r="http://schemas.openxmlformats.org/officeDocument/2006/relationships" id="287" r:id="R3e289e9f1dc249fa"/>
    <p:sldId xmlns:r="http://schemas.openxmlformats.org/officeDocument/2006/relationships" id="288" r:id="R8991402b1be443f5"/>
    <p:sldId xmlns:r="http://schemas.openxmlformats.org/officeDocument/2006/relationships" id="289" r:id="Raa18b52a67854f19"/>
    <p:sldId xmlns:r="http://schemas.openxmlformats.org/officeDocument/2006/relationships" id="290" r:id="R2586fef26efb4986"/>
    <p:sldId xmlns:r="http://schemas.openxmlformats.org/officeDocument/2006/relationships" id="291" r:id="Rc6b676b31a304455"/>
    <p:sldId xmlns:r="http://schemas.openxmlformats.org/officeDocument/2006/relationships" id="292" r:id="R9e0f034587dd4bf2"/>
    <p:sldId xmlns:r="http://schemas.openxmlformats.org/officeDocument/2006/relationships" id="293" r:id="R010200a11fea4b96"/>
    <p:sldId xmlns:r="http://schemas.openxmlformats.org/officeDocument/2006/relationships" id="294" r:id="R4115ac7f86fa426c"/>
    <p:sldId xmlns:r="http://schemas.openxmlformats.org/officeDocument/2006/relationships" id="295" r:id="R698726d81a28497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866fd32dc3844e1" /><Relationship Type="http://schemas.openxmlformats.org/officeDocument/2006/relationships/slideMaster" Target="/ppt/slideMasters/slideMaster1.xml" Id="Ra1751554deda41e6" /><Relationship Type="http://schemas.openxmlformats.org/officeDocument/2006/relationships/notesMaster" Target="/ppt/notesMasters/notesMaster1.xml" Id="R47e2c073d5b4401d" /><Relationship Type="http://schemas.openxmlformats.org/officeDocument/2006/relationships/presProps" Target="/ppt/presProps.xml" Id="Re6dfd93b5dec40c2" /><Relationship Type="http://schemas.openxmlformats.org/officeDocument/2006/relationships/tableStyles" Target="/ppt/tableStyles.xml" Id="R5118726795a0473f" /><Relationship Type="http://schemas.openxmlformats.org/officeDocument/2006/relationships/slide" Target="/ppt/slides/slide1.xml" Id="Rf9555bfed5c1432a" /><Relationship Type="http://schemas.openxmlformats.org/officeDocument/2006/relationships/slide" Target="/ppt/slides/slide2.xml" Id="R3e2404ba0c414993" /><Relationship Type="http://schemas.openxmlformats.org/officeDocument/2006/relationships/slide" Target="/ppt/slides/slide3.xml" Id="R84cf680560054c3b" /><Relationship Type="http://schemas.openxmlformats.org/officeDocument/2006/relationships/slide" Target="/ppt/slides/slide4.xml" Id="Rc916d55ef2934fe0" /><Relationship Type="http://schemas.openxmlformats.org/officeDocument/2006/relationships/slide" Target="/ppt/slides/slide5.xml" Id="R370d4320da2447a4" /><Relationship Type="http://schemas.openxmlformats.org/officeDocument/2006/relationships/slide" Target="/ppt/slides/slide6.xml" Id="R1f58234bc08f4653" /><Relationship Type="http://schemas.openxmlformats.org/officeDocument/2006/relationships/slide" Target="/ppt/slides/slide7.xml" Id="R16e770a78f5a414d" /><Relationship Type="http://schemas.openxmlformats.org/officeDocument/2006/relationships/slide" Target="/ppt/slides/slide8.xml" Id="R1624caea4f804c17" /><Relationship Type="http://schemas.openxmlformats.org/officeDocument/2006/relationships/slide" Target="/ppt/slides/slide9.xml" Id="Rbded2c10dfd6466b" /><Relationship Type="http://schemas.openxmlformats.org/officeDocument/2006/relationships/slide" Target="/ppt/slides/slide10.xml" Id="R7e88e40f1624436d" /><Relationship Type="http://schemas.openxmlformats.org/officeDocument/2006/relationships/slide" Target="/ppt/slides/slide11.xml" Id="Re3e9520c98034729" /><Relationship Type="http://schemas.openxmlformats.org/officeDocument/2006/relationships/slide" Target="/ppt/slides/slide12.xml" Id="Ra4e2357110e343f5" /><Relationship Type="http://schemas.openxmlformats.org/officeDocument/2006/relationships/slide" Target="/ppt/slides/slide13.xml" Id="Ra845881039aa48ae" /><Relationship Type="http://schemas.openxmlformats.org/officeDocument/2006/relationships/slide" Target="/ppt/slides/slide14.xml" Id="Rde9f7e5bbef64577" /><Relationship Type="http://schemas.openxmlformats.org/officeDocument/2006/relationships/slide" Target="/ppt/slides/slide15.xml" Id="Rf09c82565e0e43e3" /><Relationship Type="http://schemas.openxmlformats.org/officeDocument/2006/relationships/slide" Target="/ppt/slides/slide16.xml" Id="Red28eadd6c114e60" /><Relationship Type="http://schemas.openxmlformats.org/officeDocument/2006/relationships/slide" Target="/ppt/slides/slide17.xml" Id="Rcdfeab3228f94ca7" /><Relationship Type="http://schemas.openxmlformats.org/officeDocument/2006/relationships/slide" Target="/ppt/slides/slide18.xml" Id="R3c99dfb2462244d6" /><Relationship Type="http://schemas.openxmlformats.org/officeDocument/2006/relationships/slide" Target="/ppt/slides/slide19.xml" Id="R57e90f73756f4c95" /><Relationship Type="http://schemas.openxmlformats.org/officeDocument/2006/relationships/slide" Target="/ppt/slides/slide20.xml" Id="R04ca2d2247a6494a" /><Relationship Type="http://schemas.openxmlformats.org/officeDocument/2006/relationships/slide" Target="/ppt/slides/slide21.xml" Id="R0572aded8c424c11" /><Relationship Type="http://schemas.openxmlformats.org/officeDocument/2006/relationships/slide" Target="/ppt/slides/slide22.xml" Id="Rb618d3494a8b410e" /><Relationship Type="http://schemas.openxmlformats.org/officeDocument/2006/relationships/slide" Target="/ppt/slides/slide23.xml" Id="Re2d357b4face4740" /><Relationship Type="http://schemas.openxmlformats.org/officeDocument/2006/relationships/slide" Target="/ppt/slides/slide24.xml" Id="R5a57191971f34044" /><Relationship Type="http://schemas.openxmlformats.org/officeDocument/2006/relationships/slide" Target="/ppt/slides/slide25.xml" Id="Rbf7b6f5d92c94034" /><Relationship Type="http://schemas.openxmlformats.org/officeDocument/2006/relationships/slide" Target="/ppt/slides/slide26.xml" Id="R5a7f9ce1883a4678" /><Relationship Type="http://schemas.openxmlformats.org/officeDocument/2006/relationships/slide" Target="/ppt/slides/slide27.xml" Id="R78bd7070a9c449f6" /><Relationship Type="http://schemas.openxmlformats.org/officeDocument/2006/relationships/slide" Target="/ppt/slides/slide28.xml" Id="Rfbad513c2769485e" /><Relationship Type="http://schemas.openxmlformats.org/officeDocument/2006/relationships/slide" Target="/ppt/slides/slide29.xml" Id="R1d679a6bb5e74889" /><Relationship Type="http://schemas.openxmlformats.org/officeDocument/2006/relationships/slide" Target="/ppt/slides/slide30.xml" Id="R6f16cf5e36de4677" /><Relationship Type="http://schemas.openxmlformats.org/officeDocument/2006/relationships/slide" Target="/ppt/slides/slide31.xml" Id="R9074abc995994d5c" /><Relationship Type="http://schemas.openxmlformats.org/officeDocument/2006/relationships/slide" Target="/ppt/slides/slide32.xml" Id="R3e289e9f1dc249fa" /><Relationship Type="http://schemas.openxmlformats.org/officeDocument/2006/relationships/slide" Target="/ppt/slides/slide33.xml" Id="R8991402b1be443f5" /><Relationship Type="http://schemas.openxmlformats.org/officeDocument/2006/relationships/slide" Target="/ppt/slides/slide34.xml" Id="Raa18b52a67854f19" /><Relationship Type="http://schemas.openxmlformats.org/officeDocument/2006/relationships/slide" Target="/ppt/slides/slide35.xml" Id="R2586fef26efb4986" /><Relationship Type="http://schemas.openxmlformats.org/officeDocument/2006/relationships/slide" Target="/ppt/slides/slide36.xml" Id="Rc6b676b31a304455" /><Relationship Type="http://schemas.openxmlformats.org/officeDocument/2006/relationships/slide" Target="/ppt/slides/slide37.xml" Id="R9e0f034587dd4bf2" /><Relationship Type="http://schemas.openxmlformats.org/officeDocument/2006/relationships/slide" Target="/ppt/slides/slide38.xml" Id="R010200a11fea4b96" /><Relationship Type="http://schemas.openxmlformats.org/officeDocument/2006/relationships/slide" Target="/ppt/slides/slide39.xml" Id="R4115ac7f86fa426c" /><Relationship Type="http://schemas.openxmlformats.org/officeDocument/2006/relationships/slide" Target="/ppt/slides/slide40.xml" Id="R698726d81a28497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66421338d81401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4db81626dfd4889" /><Relationship Type="http://schemas.openxmlformats.org/officeDocument/2006/relationships/notesMaster" Target="/ppt/notesMasters/notesMaster1.xml" Id="Rd57db2b45b89423b" /></Relationships>
</file>

<file path=ppt/notesSlides/_rels/notesSlide2.xml.rels>&#65279;<?xml version="1.0" encoding="utf-8"?><Relationships xmlns="http://schemas.openxmlformats.org/package/2006/relationships"><Relationship Type="http://schemas.openxmlformats.org/officeDocument/2006/relationships/slide" Target="/ppt/slides/slide2.xml" Id="R0d5c35c48b5a4967" /><Relationship Type="http://schemas.openxmlformats.org/officeDocument/2006/relationships/notesMaster" Target="/ppt/notesMasters/notesMaster1.xml" Id="R7e18f48ae07440c6" /></Relationships>
</file>

<file path=ppt/notesSlides/_rels/notesSlide3.xml.rels>&#65279;<?xml version="1.0" encoding="utf-8"?><Relationships xmlns="http://schemas.openxmlformats.org/package/2006/relationships"><Relationship Type="http://schemas.openxmlformats.org/officeDocument/2006/relationships/slide" Target="/ppt/slides/slide3.xml" Id="R16fef61ba0a743f6" /><Relationship Type="http://schemas.openxmlformats.org/officeDocument/2006/relationships/notesMaster" Target="/ppt/notesMasters/notesMaster1.xml" Id="R901e9bb108664c26" /></Relationships>
</file>

<file path=ppt/notesSlides/_rels/notesSlide4.xml.rels>&#65279;<?xml version="1.0" encoding="utf-8"?><Relationships xmlns="http://schemas.openxmlformats.org/package/2006/relationships"><Relationship Type="http://schemas.openxmlformats.org/officeDocument/2006/relationships/slide" Target="/ppt/slides/slide4.xml" Id="R4451d48780234de3" /><Relationship Type="http://schemas.openxmlformats.org/officeDocument/2006/relationships/notesMaster" Target="/ppt/notesMasters/notesMaster1.xml" Id="R14c7b33b5f054360" /></Relationships>
</file>

<file path=ppt/notesSlides/_rels/notesSlide5.xml.rels>&#65279;<?xml version="1.0" encoding="utf-8"?><Relationships xmlns="http://schemas.openxmlformats.org/package/2006/relationships"><Relationship Type="http://schemas.openxmlformats.org/officeDocument/2006/relationships/slide" Target="/ppt/slides/slide5.xml" Id="Rb8d595b585234ffc" /><Relationship Type="http://schemas.openxmlformats.org/officeDocument/2006/relationships/notesMaster" Target="/ppt/notesMasters/notesMaster1.xml" Id="R553b468cf794443f" /></Relationships>
</file>

<file path=ppt/notesSlides/_rels/notesSlide6.xml.rels>&#65279;<?xml version="1.0" encoding="utf-8"?><Relationships xmlns="http://schemas.openxmlformats.org/package/2006/relationships"><Relationship Type="http://schemas.openxmlformats.org/officeDocument/2006/relationships/slide" Target="/ppt/slides/slide6.xml" Id="R574ee73a18da4ed1" /><Relationship Type="http://schemas.openxmlformats.org/officeDocument/2006/relationships/notesMaster" Target="/ppt/notesMasters/notesMaster1.xml" Id="Rea2d5ce864c34e94" /></Relationships>
</file>

<file path=ppt/notesSlides/_rels/notesSlide7.xml.rels>&#65279;<?xml version="1.0" encoding="utf-8"?><Relationships xmlns="http://schemas.openxmlformats.org/package/2006/relationships"><Relationship Type="http://schemas.openxmlformats.org/officeDocument/2006/relationships/slide" Target="/ppt/slides/slide7.xml" Id="R2a0e27c53cde478b" /><Relationship Type="http://schemas.openxmlformats.org/officeDocument/2006/relationships/notesMaster" Target="/ppt/notesMasters/notesMaster1.xml" Id="R90d9a508568c491a" /></Relationships>
</file>

<file path=ppt/notesSlides/_rels/notesSlide8.xml.rels>&#65279;<?xml version="1.0" encoding="utf-8"?><Relationships xmlns="http://schemas.openxmlformats.org/package/2006/relationships"><Relationship Type="http://schemas.openxmlformats.org/officeDocument/2006/relationships/slide" Target="/ppt/slides/slide8.xml" Id="R320f824918d74c48" /><Relationship Type="http://schemas.openxmlformats.org/officeDocument/2006/relationships/notesMaster" Target="/ppt/notesMasters/notesMaster1.xml" Id="R3d774d1eeb5e479b" /></Relationships>
</file>

<file path=ppt/notesSlides/_rels/notesSlide9.xml.rels>&#65279;<?xml version="1.0" encoding="utf-8"?><Relationships xmlns="http://schemas.openxmlformats.org/package/2006/relationships"><Relationship Type="http://schemas.openxmlformats.org/officeDocument/2006/relationships/slide" Target="/ppt/slides/slide9.xml" Id="Rec00fddc6b7e4eb5" /><Relationship Type="http://schemas.openxmlformats.org/officeDocument/2006/relationships/notesMaster" Target="/ppt/notesMasters/notesMaster1.xml" Id="R4568a84bd1b7425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6fd1d9a5d7a424b" /><Relationship Type="http://schemas.openxmlformats.org/officeDocument/2006/relationships/notesMaster" Target="/ppt/notesMasters/notesMaster1.xml" Id="R648d4b340b53421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67832e4e3334839" /><Relationship Type="http://schemas.openxmlformats.org/officeDocument/2006/relationships/notesMaster" Target="/ppt/notesMasters/notesMaster1.xml" Id="Rcce437dbf91d420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41eb566287f4ab6" /><Relationship Type="http://schemas.openxmlformats.org/officeDocument/2006/relationships/notesMaster" Target="/ppt/notesMasters/notesMaster1.xml" Id="Rd96658a9e9de4e1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7cd2518bd2c4fba" /><Relationship Type="http://schemas.openxmlformats.org/officeDocument/2006/relationships/notesMaster" Target="/ppt/notesMasters/notesMaster1.xml" Id="R537530ad7ef048e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b6af9be117e46c1" /><Relationship Type="http://schemas.openxmlformats.org/officeDocument/2006/relationships/notesMaster" Target="/ppt/notesMasters/notesMaster1.xml" Id="Re2cb50bb5e8b492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6948f9dbab94287" /><Relationship Type="http://schemas.openxmlformats.org/officeDocument/2006/relationships/notesMaster" Target="/ppt/notesMasters/notesMaster1.xml" Id="Re0deb8444d04419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1792572e6834540" /><Relationship Type="http://schemas.openxmlformats.org/officeDocument/2006/relationships/notesMaster" Target="/ppt/notesMasters/notesMaster1.xml" Id="R7d04910b03864ea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2207478613e4ddc" /><Relationship Type="http://schemas.openxmlformats.org/officeDocument/2006/relationships/notesMaster" Target="/ppt/notesMasters/notesMaster1.xml" Id="Rdd7d6f7467f0403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746af5d74fe443f" /><Relationship Type="http://schemas.openxmlformats.org/officeDocument/2006/relationships/notesMaster" Target="/ppt/notesMasters/notesMaster1.xml" Id="Rf361e6f37ce8410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24168e3a3ee4ce5" /><Relationship Type="http://schemas.openxmlformats.org/officeDocument/2006/relationships/notesMaster" Target="/ppt/notesMasters/notesMaster1.xml" Id="R230f5ffd48c948b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323fb7cea5846c3" /><Relationship Type="http://schemas.openxmlformats.org/officeDocument/2006/relationships/notesMaster" Target="/ppt/notesMasters/notesMaster1.xml" Id="Rd4159bad6969416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2b5a47003a744ac" /><Relationship Type="http://schemas.openxmlformats.org/officeDocument/2006/relationships/notesMaster" Target="/ppt/notesMasters/notesMaster1.xml" Id="Re681c239cd2149f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e15f3b2f13a433d" /><Relationship Type="http://schemas.openxmlformats.org/officeDocument/2006/relationships/notesMaster" Target="/ppt/notesMasters/notesMaster1.xml" Id="Rcd5c408aacc3495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c64f7dd28aa4e55" /><Relationship Type="http://schemas.openxmlformats.org/officeDocument/2006/relationships/notesMaster" Target="/ppt/notesMasters/notesMaster1.xml" Id="Rdb3587f8f83e4cf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ce50a831238443c" /><Relationship Type="http://schemas.openxmlformats.org/officeDocument/2006/relationships/notesMaster" Target="/ppt/notesMasters/notesMaster1.xml" Id="R7247660e84d9419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6b6828a8c0c420d" /><Relationship Type="http://schemas.openxmlformats.org/officeDocument/2006/relationships/notesMaster" Target="/ppt/notesMasters/notesMaster1.xml" Id="Rbd5946be0675493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e30e72737114882" /><Relationship Type="http://schemas.openxmlformats.org/officeDocument/2006/relationships/notesMaster" Target="/ppt/notesMasters/notesMaster1.xml" Id="R586651caeb5d490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274e4615c30402b" /><Relationship Type="http://schemas.openxmlformats.org/officeDocument/2006/relationships/notesMaster" Target="/ppt/notesMasters/notesMaster1.xml" Id="Rf5a6618c2c9649f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09acde224294c64" /><Relationship Type="http://schemas.openxmlformats.org/officeDocument/2006/relationships/notesMaster" Target="/ppt/notesMasters/notesMaster1.xml" Id="R9222825cc5ee43e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6eb92a506a2472b" /><Relationship Type="http://schemas.openxmlformats.org/officeDocument/2006/relationships/notesMaster" Target="/ppt/notesMasters/notesMaster1.xml" Id="Ree000d1f5db2471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79ad20b519f4495" /><Relationship Type="http://schemas.openxmlformats.org/officeDocument/2006/relationships/notesMaster" Target="/ppt/notesMasters/notesMaster1.xml" Id="R67e5976a37a445b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103ae27774b4c8b" /><Relationship Type="http://schemas.openxmlformats.org/officeDocument/2006/relationships/notesMaster" Target="/ppt/notesMasters/notesMaster1.xml" Id="R913f7dfa080b4055"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7f5c86fc4274014" /><Relationship Type="http://schemas.openxmlformats.org/officeDocument/2006/relationships/notesMaster" Target="/ppt/notesMasters/notesMaster1.xml" Id="R25585c3427e54c4f"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31b41de53e84ecd" /><Relationship Type="http://schemas.openxmlformats.org/officeDocument/2006/relationships/notesMaster" Target="/ppt/notesMasters/notesMaster1.xml" Id="R4e4f54075891408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d34bb674fe444fc" /><Relationship Type="http://schemas.openxmlformats.org/officeDocument/2006/relationships/notesMaster" Target="/ppt/notesMasters/notesMaster1.xml" Id="Rb4dc5d37f08f418a"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c59e184ee584e4c" /><Relationship Type="http://schemas.openxmlformats.org/officeDocument/2006/relationships/notesMaster" Target="/ppt/notesMasters/notesMaster1.xml" Id="Rcf3a28f3ce6f4e47"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cc0496f4de9e467e" /><Relationship Type="http://schemas.openxmlformats.org/officeDocument/2006/relationships/notesMaster" Target="/ppt/notesMasters/notesMaster1.xml" Id="R50c84cf1fbe14f3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bcf3924337494be2" /><Relationship Type="http://schemas.openxmlformats.org/officeDocument/2006/relationships/notesMaster" Target="/ppt/notesMasters/notesMaster1.xml" Id="R5f78441925f14847"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69484b44b064bcc" /><Relationship Type="http://schemas.openxmlformats.org/officeDocument/2006/relationships/notesMaster" Target="/ppt/notesMasters/notesMaster1.xml" Id="Re43d2c43f41e491c"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dfa218587b754972" /><Relationship Type="http://schemas.openxmlformats.org/officeDocument/2006/relationships/notesMaster" Target="/ppt/notesMasters/notesMaster1.xml" Id="R3bfdb914078c4578"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58f598a5521f4965" /><Relationship Type="http://schemas.openxmlformats.org/officeDocument/2006/relationships/notesMaster" Target="/ppt/notesMasters/notesMaster1.xml" Id="Rfdd72bc4ac914b8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OLIGO-K는 지자체 관광 담당자와 지역 관광사업자가 지역의 관광 흐름을 이해하고 실행 기획안의 초안을 만드는 서비스입니다. 오늘은 왜 만들었는지, 사용자가 어떻게 쓰는지, 그 뒤에서 데이터와 AI가 어떻게 나뉘어 작동하는지 설명합니다. 서비스는 기획 담당자의 판단을 지원하며 최종 예산과 협약을 확정하지 않습니다. 기존 서비스의 시각 자산을 표지 배경으로 사용했습니다.</a:t>
            </a:r>
          </a:p>
          <a:p xmlns:a="http://schemas.openxmlformats.org/drawingml/2006/main">
            <a:r>
              <a:t/>
            </a:r>
          </a:p>
          <a:p xmlns:a="http://schemas.openxmlformats.org/drawingml/2006/main">
            <a:r>
              <a:t>근거</a:t>
            </a:r>
          </a:p>
          <a:p xmlns:a="http://schemas.openxmlformats.org/drawingml/2006/main">
            <a:r>
              <a:t>C:/Users/Admin/mbca/TP2-4/docs/PROJECT_BRIEF.md</a:t>
            </a:r>
          </a:p>
          <a:p xmlns:a="http://schemas.openxmlformats.org/drawingml/2006/main">
            <a:r>
              <a:t>C:/Users/Admin/mbca/TP2-4/frontend/src/assets/korea-tourism-hero.png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서비스 사용 장면을 먼저 공유한 뒤 기술 구조로 넘어갑니다. 마지막에는 원주 기획서를 예시로 숫자와 사례를 역추적합니다. 화면의 숫자를 관측값, ML 전망, 공식 사례 수치, 계획 가정으로 나누어 읽는 것이 발표 전체의 기준입니다.</a:t>
            </a:r>
          </a:p>
          <a:p xmlns:a="http://schemas.openxmlformats.org/drawingml/2006/main">
            <a:r>
              <a:t/>
            </a:r>
          </a:p>
          <a:p xmlns:a="http://schemas.openxmlformats.org/drawingml/2006/main">
            <a:r>
              <a:t>근거</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프로젝트가 해결하려는 문제는 자료가 전혀 없다는 것이 아니라, 여러 자료를 하나의 기획 판단으로 연결해야 한다는 점입니다. 관광객 방문 규모만으로 지역의 체류와 소비가 충분하다고 판단할 수 없습니다. 이 슬라이드는 팀의 문제 정의이며 모든 지역에서 체류와 소비가 낮다는 실증 결과를 주장하지 않습니다.</a:t>
            </a:r>
          </a:p>
          <a:p xmlns:a="http://schemas.openxmlformats.org/drawingml/2006/main">
            <a:r>
              <a:t/>
            </a:r>
          </a:p>
          <a:p xmlns:a="http://schemas.openxmlformats.org/drawingml/2006/main">
            <a:r>
              <a:t>근거</a:t>
            </a:r>
          </a:p>
          <a:p xmlns:a="http://schemas.openxmlformats.org/drawingml/2006/main">
            <a:r>
              <a:t>C:/Users/Admin/mbca/TP2-4/docs/PROJECT_BRIEF.md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서비스의 중심 사용자는 관광 정책과 사업을 기획하는 사람입니다. 사용자에게는 데이터 해석과 사례 비교의 근거, 구체적인 운영 초안, 검토 가능한 문서가 필요합니다. 일반 여행자의 개인 여행 일정 자동 추천은 핵심 범위에 포함하지 않았습니다.</a:t>
            </a:r>
          </a:p>
          <a:p xmlns:a="http://schemas.openxmlformats.org/drawingml/2006/main">
            <a:r>
              <a:t/>
            </a:r>
          </a:p>
          <a:p xmlns:a="http://schemas.openxmlformats.org/drawingml/2006/main">
            <a:r>
              <a:t>근거</a:t>
            </a:r>
          </a:p>
          <a:p xmlns:a="http://schemas.openxmlformats.org/drawingml/2006/main">
            <a:r>
              <a:t>C:/Users/Admin/mbca/TP2-4/docs/PROJECT_BRIEF.md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서비스 기능은 실제 사용자 업무 순서에 맞췄습니다. 대시보드는 지역의 현황과 전망을 보여 주고, 입력 화면은 사업 방향과 현실적인 여건을 받습니다. 생성 결과는 미리보기와 챗봇에서 조정하며, 수정 적용 시 자동 저장합니다. 같은 저장 결과에서 PowerPoint와 Word를 출력합니다.</a:t>
            </a:r>
          </a:p>
          <a:p xmlns:a="http://schemas.openxmlformats.org/drawingml/2006/main">
            <a:r>
              <a:t/>
            </a:r>
          </a:p>
          <a:p xmlns:a="http://schemas.openxmlformats.org/drawingml/2006/main">
            <a:r>
              <a:t>근거</a:t>
            </a:r>
          </a:p>
          <a:p xmlns:a="http://schemas.openxmlformats.org/drawingml/2006/main">
            <a:r>
              <a:t>C:/Users/Admin/mbca/TP2-4/frontend/src/pages/TourismDashboardPage.jsx</a:t>
            </a:r>
          </a:p>
          <a:p xmlns:a="http://schemas.openxmlformats.org/drawingml/2006/main">
            <a:r>
              <a:t>C:/Users/Admin/mbca/TP2-4/frontend/src/pages/TourismPlanningPage.jsx</a:t>
            </a:r>
          </a:p>
          <a:p xmlns:a="http://schemas.openxmlformats.org/drawingml/2006/main">
            <a:r>
              <a:t>C:/Users/Admin/mbca/TP2-4/docs/DECISIONS.md#d-217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시연에서는 이 다섯 화면의 연결을 보여 주면 됩니다. 새로운 기획을 생성하면 결과는 서버에 자동 저장되고, 사용자는 페이지 미리보기와 챗봇을 보며 내용을 검토합니다. 이미 만들어 둔 기획안은 저장 목록에서 다시 열 수 있습니다. 생성에는 시간이 걸릴 수 있으므로 발표에서는 저장된 원주 문서를 준비해 결과 화면으로 연결하는 편이 안정적입니다.</a:t>
            </a:r>
          </a:p>
          <a:p xmlns:a="http://schemas.openxmlformats.org/drawingml/2006/main">
            <a:r>
              <a:t/>
            </a:r>
          </a:p>
          <a:p xmlns:a="http://schemas.openxmlformats.org/drawingml/2006/main">
            <a:r>
              <a:t>근거</a:t>
            </a:r>
          </a:p>
          <a:p xmlns:a="http://schemas.openxmlformats.org/drawingml/2006/main">
            <a:r>
              <a:t>C:/Users/Admin/mbca/TP2-4/docs/ARCHITECTURE.md</a:t>
            </a:r>
          </a:p>
          <a:p xmlns:a="http://schemas.openxmlformats.org/drawingml/2006/main">
            <a:r>
              <a:t>C:/Users/Admin/mbca/TP2-4/docs/DECISIONS.md#d-217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저장된 개발 화면 캡처를 사용한 기능 설명입니다. 화면 속 날짜와 숫자는 해당 캡처 당시 값이며 현재 실시간 지표를 뜻하지 않습니다. 시도와 시군구를 지역 코드로 선택하고, 방문·소비·숙박 전망과 소비업종 비중을 확인합니다. 데이터 준비 상태와 모델 연결 상태는 별도 개념입니다.</a:t>
            </a:r>
          </a:p>
          <a:p xmlns:a="http://schemas.openxmlformats.org/drawingml/2006/main">
            <a:r>
              <a:t/>
            </a:r>
          </a:p>
          <a:p xmlns:a="http://schemas.openxmlformats.org/drawingml/2006/main">
            <a:r>
              <a:t>근거</a:t>
            </a:r>
          </a:p>
          <a:p xmlns:a="http://schemas.openxmlformats.org/drawingml/2006/main">
            <a:r>
              <a:t>C:/Users/Admin/mbca/TP2-4/storage/previews/presentation_motion/dashboard_top.png</a:t>
            </a:r>
          </a:p>
          <a:p xmlns:a="http://schemas.openxmlformats.org/drawingml/2006/main">
            <a:r>
              <a:t>C:/Users/Admin/mbca/TP2-4/frontend/src/pages/TourismDashboardPage.jsx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사업 방향은 사례 기반 추천, 지역 소비·환급, 숙박·체류, 야간관광, 재방문 등의 범위에서 선택합니다. 예산은 참고 총액이며 실제 계약 견적을 보장하지 않습니다. 현재 일정 정책은 한국 시간 1~15일 생성이면 다음 달, 16일 이후이면 다다음 달부터 3개월입니다. 캡처는 기존 개발 기록이므로 당시 일정 선택 UI가 보이지만 설명은 최신 코드의 자동 일정 정책을 따릅니다.</a:t>
            </a:r>
          </a:p>
          <a:p xmlns:a="http://schemas.openxmlformats.org/drawingml/2006/main">
            <a:r>
              <a:t/>
            </a:r>
          </a:p>
          <a:p xmlns:a="http://schemas.openxmlformats.org/drawingml/2006/main">
            <a:r>
              <a:t>근거</a:t>
            </a:r>
          </a:p>
          <a:p xmlns:a="http://schemas.openxmlformats.org/drawingml/2006/main">
            <a:r>
              <a:t>C:/Users/Admin/mbca/TP2-4/frontend/src/features/planning/planningBrief.js</a:t>
            </a:r>
          </a:p>
          <a:p xmlns:a="http://schemas.openxmlformats.org/drawingml/2006/main">
            <a:r>
              <a:t>C:/Users/Admin/mbca/TP2-4/frontend/src/pages/TourismPlanningPage.jsx</a:t>
            </a:r>
          </a:p>
          <a:p xmlns:a="http://schemas.openxmlformats.org/drawingml/2006/main">
            <a:r>
              <a:t>C:/Users/Admin/mbca/TP2-4/docs/DECISIONS.md#사업기간-자동-선택-규칙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요청을 하나의 장시간 응답으로만 묶으면 화면 전환이나 재접속에서 상태를 관리하기 어렵습니다. API는 job_id를 반환하고 React는 작업 상태를 반복 조회합니다. 생성 완료와 MySQL 저장 성공은 다른 상태로 관리합니다. 자동 저장이 실패하면 실패 사실을 보여 주며 성공으로 표시하지 않습니다.</a:t>
            </a:r>
          </a:p>
          <a:p xmlns:a="http://schemas.openxmlformats.org/drawingml/2006/main">
            <a:r>
              <a:t/>
            </a:r>
          </a:p>
          <a:p xmlns:a="http://schemas.openxmlformats.org/drawingml/2006/main">
            <a:r>
              <a:t>근거</a:t>
            </a:r>
          </a:p>
          <a:p xmlns:a="http://schemas.openxmlformats.org/drawingml/2006/main">
            <a:r>
              <a:t>C:/Users/Admin/mbca/TP2-4/ai_server/app/main.py</a:t>
            </a:r>
          </a:p>
          <a:p xmlns:a="http://schemas.openxmlformats.org/drawingml/2006/main">
            <a:r>
              <a:t>C:/Users/Admin/mbca/TP2-4/frontend/src/features/planning/strategyJobLink.js</a:t>
            </a:r>
          </a:p>
          <a:p xmlns:a="http://schemas.openxmlformats.org/drawingml/2006/main">
            <a:r>
              <a:t>C:/Users/Admin/mbca/TP2-4/docs/FINAL_OFFLINE_REVIEW_20260920.md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왼쪽은 사용자가 생성한 원주 기획서의 표지입니다. 웹에서는 실제 PPTX 생성 입력을 PDF로 변환해 같은 페이지를 보여 줍니다. 전체보기에서는 페이지 목록, 문서, 챗봇을 함께 볼 수 있습니다. 수정 이력은 브라우저에서 최대 20개를 유지하고 원본 복원도 자동 저장 큐에 전달합니다. 이력 자체를 서버의 영구 버전 관리라고 소개하지 않습니다.</a:t>
            </a:r>
          </a:p>
          <a:p xmlns:a="http://schemas.openxmlformats.org/drawingml/2006/main">
            <a:r>
              <a:t/>
            </a:r>
          </a:p>
          <a:p xmlns:a="http://schemas.openxmlformats.org/drawingml/2006/main">
            <a:r>
              <a:t>근거</a:t>
            </a:r>
          </a:p>
          <a:p xmlns:a="http://schemas.openxmlformats.org/drawingml/2006/main">
            <a:r>
              <a:t>C:/Users/Admin/mbca/TP2-4/output/review/ppt-01.png</a:t>
            </a:r>
          </a:p>
          <a:p xmlns:a="http://schemas.openxmlformats.org/drawingml/2006/main">
            <a:r>
              <a:t>C:/Users/Admin/mbca/TP2-4/ai_server/app/proposal_preview.py</a:t>
            </a:r>
          </a:p>
          <a:p xmlns:a="http://schemas.openxmlformats.org/drawingml/2006/main">
            <a:r>
              <a:t>C:/Users/Admin/mbca/TP2-4/docs/DECISIONS.md#d-219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웹 검색 OFF일 때 chat_explain, chat_revise 경로를 사용합니다. local_first_gemma 모드에서는 Gemma가 설명과 수정안을 작성합니다. 웹 검색 ON은 chat_research로 OpenAI 공식 검색을 사용하며 현재 질문과 지역명만 전송합니다. 전체 보고서나 과거 대화는 이 조사 경로로 전송하지 않습니다. AWS는 배포 시 openai_only로 설정했으므로 동일한 업무 역할을 OpenAI로 실행합니다.</a:t>
            </a:r>
          </a:p>
          <a:p xmlns:a="http://schemas.openxmlformats.org/drawingml/2006/main">
            <a:r>
              <a:t/>
            </a:r>
          </a:p>
          <a:p xmlns:a="http://schemas.openxmlformats.org/drawingml/2006/main">
            <a:r>
              <a:t>근거</a:t>
            </a:r>
          </a:p>
          <a:p xmlns:a="http://schemas.openxmlformats.org/drawingml/2006/main">
            <a:r>
              <a:t>C:/Users/Admin/mbca/TP2-4/docs/DECISIONS.md#d-219</a:t>
            </a:r>
          </a:p>
          <a:p xmlns:a="http://schemas.openxmlformats.org/drawingml/2006/main">
            <a:r>
              <a:t>C:/Users/Admin/mbca/TP2-4/ai_server/app/agents/chat_assistant_agent.py</a:t>
            </a:r>
          </a:p>
          <a:p xmlns:a="http://schemas.openxmlformats.org/drawingml/2006/main">
            <a:r>
              <a:t>C:/Users/Admin/mbca/TP2-4/docs/GEMMA_FIRST_MODE.md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완성 보고서와 수정 적용 결과는 같은 MySQL 기록을 갱신합니다. 브라우저 캐시가 없어도 서버 저장본을 불러와 복원할 수 있습니다. 저장 큐는 같은 보고서의 요청 순서를 유지해 늦은 응답이 최신 결과를 덮는 문제를 막습니다. PowerPoint·Word·웹은 공통 계산 결과를 사용하지만 실제 문서 품질은 출력 후 별도 점검해야 합니다.</a:t>
            </a:r>
          </a:p>
          <a:p xmlns:a="http://schemas.openxmlformats.org/drawingml/2006/main">
            <a:r>
              <a:t/>
            </a:r>
          </a:p>
          <a:p xmlns:a="http://schemas.openxmlformats.org/drawingml/2006/main">
            <a:r>
              <a:t>근거</a:t>
            </a:r>
          </a:p>
          <a:p xmlns:a="http://schemas.openxmlformats.org/drawingml/2006/main">
            <a:r>
              <a:t>C:/Users/Admin/mbca/TP2-4/docs/DECISIONS.md#d-217</a:t>
            </a:r>
          </a:p>
          <a:p xmlns:a="http://schemas.openxmlformats.org/drawingml/2006/main">
            <a:r>
              <a:t>C:/Users/Admin/mbca/TP2-4/docs/FINAL_OFFLINE_REVIEW_20260920.md</a:t>
            </a:r>
          </a:p>
          <a:p xmlns:a="http://schemas.openxmlformats.org/drawingml/2006/main">
            <a:r>
              <a:t>C:/Users/Admin/mbca/TP2-4/ai_server/app/strategy_store.py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외부에는 Nginx가 하나의 웹 주소를 제공합니다. React 정적 파일은 루트 경로에서 제공하고, /api는 일반 백엔드, /ai는 AI 서버로 전달합니다. AI 서버는 저장된 모델로 예측하고 공식 문서와 사례를 조회해 LLM 작업을 실행합니다. 두 FastAPI 서비스는 별도의 systemd 프로세스입니다. 구조도는 책임 경계를 보여 주며 각 API의 상세 담당은 현재 소스를 기준으로 확인합니다.</a:t>
            </a:r>
          </a:p>
          <a:p xmlns:a="http://schemas.openxmlformats.org/drawingml/2006/main">
            <a:r>
              <a:t/>
            </a:r>
          </a:p>
          <a:p xmlns:a="http://schemas.openxmlformats.org/drawingml/2006/main">
            <a:r>
              <a:t>근거</a:t>
            </a:r>
          </a:p>
          <a:p xmlns:a="http://schemas.openxmlformats.org/drawingml/2006/main">
            <a:r>
              <a:t>C:/Users/Admin/mbca/TP2-4/docs/ARCHITECTURE.md</a:t>
            </a:r>
          </a:p>
          <a:p xmlns:a="http://schemas.openxmlformats.org/drawingml/2006/main">
            <a:r>
              <a:t>C:/Users/Admin/mbca/TP2-4/frontend/vite.config.js</a:t>
            </a:r>
          </a:p>
          <a:p xmlns:a="http://schemas.openxmlformats.org/drawingml/2006/main">
            <a:r>
              <a:t>C:/Users/Admin/mbca/TP2-4/ai_server/app/main.py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React는 routes.js의 경로 계약과 window.location.pathname을 사용하며 별도 React Router 패키지를 쓰지 않습니다. 페이지를 지연 로딩하고 로딩 화면은 Suspense로 처리합니다. AI와 저장 관련 비동기 상태를 공통으로 관리해 기본 미리보기와 전체보기에서 대화가 끊기거나 중복 전송되지 않도록 했습니다.</a:t>
            </a:r>
          </a:p>
          <a:p xmlns:a="http://schemas.openxmlformats.org/drawingml/2006/main">
            <a:r>
              <a:t/>
            </a:r>
          </a:p>
          <a:p xmlns:a="http://schemas.openxmlformats.org/drawingml/2006/main">
            <a:r>
              <a:t>근거</a:t>
            </a:r>
          </a:p>
          <a:p xmlns:a="http://schemas.openxmlformats.org/drawingml/2006/main">
            <a:r>
              <a:t>C:/Users/Admin/mbca/TP2-4/frontend/src/App.jsx</a:t>
            </a:r>
          </a:p>
          <a:p xmlns:a="http://schemas.openxmlformats.org/drawingml/2006/main">
            <a:r>
              <a:t>C:/Users/Admin/mbca/TP2-4/frontend/src/routes.js</a:t>
            </a:r>
          </a:p>
          <a:p xmlns:a="http://schemas.openxmlformats.org/drawingml/2006/main">
            <a:r>
              <a:t>C:/Users/Admin/mbca/TP2-4/frontend/package.json</a:t>
            </a:r>
          </a:p>
          <a:p xmlns:a="http://schemas.openxmlformats.org/drawingml/2006/main">
            <a:r>
              <a:t>C:/Users/Admin/mbca/TP2-4/docs/FINAL_OFFLINE_REVIEW_20260920.md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이름만으로 조인하면 중구처럼 같은 이름이 있는 지역을 섞을 수 있습니다. 지역 코드와 기준월을 검증한 뒤 월별 사실표를 연결하고, 각 지표의 원자료와 단위를 보존합니다. 원자료와 모델 파일, 생성 문서는 파일 저장소에 두며 보고서 본문과 저장 관계는 MySQL에서 관리합니다.</a:t>
            </a:r>
          </a:p>
          <a:p xmlns:a="http://schemas.openxmlformats.org/drawingml/2006/main">
            <a:r>
              <a:t/>
            </a:r>
          </a:p>
          <a:p xmlns:a="http://schemas.openxmlformats.org/drawingml/2006/main">
            <a:r>
              <a:t>근거</a:t>
            </a:r>
          </a:p>
          <a:p xmlns:a="http://schemas.openxmlformats.org/drawingml/2006/main">
            <a:r>
              <a:t>C:/Users/Admin/mbca/TP2-4/docs/ARCHITECTURE.md</a:t>
            </a:r>
          </a:p>
          <a:p xmlns:a="http://schemas.openxmlformats.org/drawingml/2006/main">
            <a:r>
              <a:t>C:/Users/Admin/mbca/TP2-4/docs/DATA_AND_AI_RULES.md</a:t>
            </a:r>
          </a:p>
          <a:p xmlns:a="http://schemas.openxmlformats.org/drawingml/2006/main">
            <a:r>
              <a:t>C:/Users/Admin/mbca/TP2-4/ai_server/app/strategy_store.py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데이터랩의 월별 수치는 공식 다운로드 CSV·Excel·ZIP을 사용합니다. 지도 경계와 관광자원 사진은 각각 별도 API의 역할입니다. 공식 웹 검색은 사업 문서와 사례의 실행 방식을 보강합니다. 모든 출처를 같은 신뢰 수준으로 취급하지 않고, 원문과 측정 범위를 확인한 뒤 기획 근거에 포함합니다.</a:t>
            </a:r>
          </a:p>
          <a:p xmlns:a="http://schemas.openxmlformats.org/drawingml/2006/main">
            <a:r>
              <a:t/>
            </a:r>
          </a:p>
          <a:p xmlns:a="http://schemas.openxmlformats.org/drawingml/2006/main">
            <a:r>
              <a:t>근거</a:t>
            </a:r>
          </a:p>
          <a:p xmlns:a="http://schemas.openxmlformats.org/drawingml/2006/main">
            <a:r>
              <a:t>C:/Users/Admin/mbca/TP2-4/docs/DATA_AND_AI_RULES.md</a:t>
            </a:r>
          </a:p>
          <a:p xmlns:a="http://schemas.openxmlformats.org/drawingml/2006/main">
            <a:r>
              <a:t>C:/Users/Admin/mbca/TP2-4/ai_server/app/tourism_open_api.py</a:t>
            </a:r>
          </a:p>
          <a:p xmlns:a="http://schemas.openxmlformats.org/drawingml/2006/main">
            <a:r>
              <a:t>C:/Users/Admin/mbca/TP2-4/backend/app</a:t>
            </a:r>
          </a:p>
          <a:p xmlns:a="http://schemas.openxmlformats.org/drawingml/2006/main">
            <a:r>
              <a:t>C:/Users/Admin/mbca/TP2-4/data/rag/README.md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파일은 수정하지 않고 변환 코드를 통해 처리 결과를 재생성합니다. 월이 빠지면 12개월 lag가 전년 동월을 뜻하지 않으므로, 현재 검증 코드는 누락을 조용히 채워 학습하지 않고 오류를 반환합니다. 저장 모델에는 데이터 지문을 남겨 원자료 변경 후 모델이 오래되었는지 확인합니다.</a:t>
            </a:r>
          </a:p>
          <a:p xmlns:a="http://schemas.openxmlformats.org/drawingml/2006/main">
            <a:r>
              <a:t/>
            </a:r>
          </a:p>
          <a:p xmlns:a="http://schemas.openxmlformats.org/drawingml/2006/main">
            <a:r>
              <a:t>근거</a:t>
            </a:r>
          </a:p>
          <a:p xmlns:a="http://schemas.openxmlformats.org/drawingml/2006/main">
            <a:r>
              <a:t>C:/Users/Admin/mbca/TP2-4/ai_server/ml/validation.py</a:t>
            </a:r>
          </a:p>
          <a:p xmlns:a="http://schemas.openxmlformats.org/drawingml/2006/main">
            <a:r>
              <a:t>C:/Users/Admin/mbca/TP2-4/data_pipeline/tools/train_team_snapshot.py</a:t>
            </a:r>
          </a:p>
          <a:p xmlns:a="http://schemas.openxmlformats.org/drawingml/2006/main">
            <a:r>
              <a:t>C:/Users/Admin/mbca/TP2-4/docs/DATA_AND_AI_RULES.md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방문자 수와 두 종류 검색량에는 RandomForestRegressor, 소비액·숙박일·숙박비율·체류시간에는 LinearRegression을 사용합니다. 두 개의 결합 행을 풀면 총 7개 타깃입니다. 250은 2026-09-21 로컬 artifacts/ml의 demand_model.metadata.json 개수이며, 250개 지역 모두가 검증을 통과했거나 동일한 최신 자료를 보유한다는 뜻은 아닙니다.</a:t>
            </a:r>
          </a:p>
          <a:p xmlns:a="http://schemas.openxmlformats.org/drawingml/2006/main">
            <a:r>
              <a:t/>
            </a:r>
          </a:p>
          <a:p xmlns:a="http://schemas.openxmlformats.org/drawingml/2006/main">
            <a:r>
              <a:t>근거</a:t>
            </a:r>
          </a:p>
          <a:p xmlns:a="http://schemas.openxmlformats.org/drawingml/2006/main">
            <a:r>
              <a:t>C:/Users/Admin/mbca/TP2-4/ai_server/ml/gangnam_forecast.py</a:t>
            </a:r>
          </a:p>
          <a:p xmlns:a="http://schemas.openxmlformats.org/drawingml/2006/main">
            <a:r>
              <a:t>C:/Users/Admin/mbca/TP2-4/artifacts/ml</a:t>
            </a:r>
          </a:p>
          <a:p xmlns:a="http://schemas.openxmlformats.org/drawingml/2006/main">
            <a:r>
              <a:t>C:/Users/Admin/mbca/TP2-4/ai_server/ml/region_service.py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방문과 소비는 서로의 1·3·12개월 전 값 6개에 월 sin과 cos 2개를 더합니다. 나머지 타깃은 자기 자신의 세 lag와 두 계절 변수만 사용합니다. 월 순환성은 12월과 1월이 가까운 시점이라는 점을 표현합니다. 여기서 설명하는 Feature는 현재 지역별 운영 코드의 정의이며 별도 전국 패널 모델 실험과 구분합니다.</a:t>
            </a:r>
          </a:p>
          <a:p xmlns:a="http://schemas.openxmlformats.org/drawingml/2006/main">
            <a:r>
              <a:t/>
            </a:r>
          </a:p>
          <a:p xmlns:a="http://schemas.openxmlformats.org/drawingml/2006/main">
            <a:r>
              <a:t>근거</a:t>
            </a:r>
          </a:p>
          <a:p xmlns:a="http://schemas.openxmlformats.org/drawingml/2006/main">
            <a:r>
              <a:t>C:/Users/Admin/mbca/TP2-4/ai_server/ml/gangnam_forecast.py#FEATURE_NAMES</a:t>
            </a:r>
          </a:p>
          <a:p xmlns:a="http://schemas.openxmlformats.org/drawingml/2006/main">
            <a:r>
              <a:t>C:/Users/Admin/mbca/TP2-4/ai_server/ml/gangnam_forecast.py#_season_features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원주 메타데이터의 기간을 그대로 사용했습니다. 30개월 관측에서 12개월 lag를 구성하면 지도학습 행은 18개입니다. 초기 Train 11개월로 Validation 3개월을 평가하고, Train과 Validation을 합쳐 마지막 Test 4개월을 평가합니다. 최종 운영 모델은 평가 종료 후 전체 학습 행으로 다시 학습합니다. Test를 보고 모델 선택을 바꾸지 않습니다.</a:t>
            </a:r>
          </a:p>
          <a:p xmlns:a="http://schemas.openxmlformats.org/drawingml/2006/main">
            <a:r>
              <a:t/>
            </a:r>
          </a:p>
          <a:p xmlns:a="http://schemas.openxmlformats.org/drawingml/2006/main">
            <a:r>
              <a:t>근거</a:t>
            </a:r>
          </a:p>
          <a:p xmlns:a="http://schemas.openxmlformats.org/drawingml/2006/main">
            <a:r>
              <a:t>C:/Users/Admin/mbca/TP2-4/artifacts/ml/51130/demand_model.metadata.json</a:t>
            </a:r>
          </a:p>
          <a:p xmlns:a="http://schemas.openxmlformats.org/drawingml/2006/main">
            <a:r>
              <a:t>C:/Users/Admin/mbca/TP2-4/ai_server/ml/evaluation.py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월별 표본 수가 짧아 깊은 트리의 과적합을 줄이도록 Random Forest의 깊이와 최소 잎 크기를 제한했습니다. 소비·비율·시간 지표는 선형 회귀를 사용합니다. 이 설계가 최적이라는 주장은 하지 않습니다. 현행 D-210 정책은 7개 지표 모두 학습 모델로 전망하며 기준선보다 오차가 큰 경우 탐색 전망임을 공개합니다.</a:t>
            </a:r>
          </a:p>
          <a:p xmlns:a="http://schemas.openxmlformats.org/drawingml/2006/main">
            <a:r>
              <a:t/>
            </a:r>
          </a:p>
          <a:p xmlns:a="http://schemas.openxmlformats.org/drawingml/2006/main">
            <a:r>
              <a:t>근거</a:t>
            </a:r>
          </a:p>
          <a:p xmlns:a="http://schemas.openxmlformats.org/drawingml/2006/main">
            <a:r>
              <a:t>C:/Users/Admin/mbca/TP2-4/ai_server/ml/gangnam_forecast.py#_random_forest</a:t>
            </a:r>
          </a:p>
          <a:p xmlns:a="http://schemas.openxmlformats.org/drawingml/2006/main">
            <a:r>
              <a:t>C:/Users/Admin/mbca/TP2-4/docs/DECISIONS.md#d-210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원주 visitors Test MAPE는 4.37%, baseline은 3.99%입니다. 소비액은 각각 12.87%, 7.66%입니다. 이 수치를 정확도 95.63%로 바꾸어 설명하지 않습니다. MAPE는 평균 절대 백분율 오차입니다. 방문 모델 MAE는 103,646.64명으로 baseline 92,238.25명보다 큽니다. 서비스는 기준선 열세 상태를 공개하며 전망을 기획 검토의 참고값으로 사용합니다.</a:t>
            </a:r>
          </a:p>
          <a:p xmlns:a="http://schemas.openxmlformats.org/drawingml/2006/main">
            <a:r>
              <a:t/>
            </a:r>
          </a:p>
          <a:p xmlns:a="http://schemas.openxmlformats.org/drawingml/2006/main">
            <a:r>
              <a:t>근거</a:t>
            </a:r>
          </a:p>
          <a:p xmlns:a="http://schemas.openxmlformats.org/drawingml/2006/main">
            <a:r>
              <a:t>C:/Users/Admin/mbca/TP2-4/artifacts/ml/51130/demand_model.metadata.json</a:t>
            </a:r>
          </a:p>
          <a:p xmlns:a="http://schemas.openxmlformats.org/drawingml/2006/main">
            <a:r>
              <a:t>C:/Users/Admin/mbca/TP2-4/ai_server/ml/evaluation.py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저장 모델은 최신 관측월 다음 달부터 순서대로 예측하고, 예측한 값을 다음 달 Feature 구성에 다시 사용합니다. 원주 자료의 최신월이 2026년 6월이면 11월 사업 전망은 5개월 후 값이고 다음 해 1월은 7개월 후 값입니다. 사업기간이 3개월이라고 예측거리도 3개월인 것은 아닙니다. 현재 1~3개월 재귀 평가와 4~12개월 탐색 범위를 구분합니다.</a:t>
            </a:r>
          </a:p>
          <a:p xmlns:a="http://schemas.openxmlformats.org/drawingml/2006/main">
            <a:r>
              <a:t/>
            </a:r>
          </a:p>
          <a:p xmlns:a="http://schemas.openxmlformats.org/drawingml/2006/main">
            <a:r>
              <a:t>근거</a:t>
            </a:r>
          </a:p>
          <a:p xmlns:a="http://schemas.openxmlformats.org/drawingml/2006/main">
            <a:r>
              <a:t>C:/Users/Admin/mbca/TP2-4/ai_server/ml/gangnam_forecast.py</a:t>
            </a:r>
          </a:p>
          <a:p xmlns:a="http://schemas.openxmlformats.org/drawingml/2006/main">
            <a:r>
              <a:t>C:/Users/Admin/mbca/TP2-4/ai_server/app/report_projection.py</a:t>
            </a:r>
          </a:p>
          <a:p xmlns:a="http://schemas.openxmlformats.org/drawingml/2006/main">
            <a:r>
              <a:t>C:/Users/Admin/mbca/TP2-4/docs/ARCHITECTURE.md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가장 중요한 구분입니다. LLM이 모든 숫자를 만들어 내는 구조가 아닙니다. 실제 월별 수치는 원자료와 SQL, 미래 수요는 학습 모델, 외부 사례의 결과는 원문, 목표와 견적은 계획 가정과 결정적 계산 코드에서 옵니다. 특히 사업을 하지 않아도 나타날 관광 흐름과 사업 때문에 생기는 순증 효과는 같은 값이 아닙니다.</a:t>
            </a:r>
          </a:p>
          <a:p xmlns:a="http://schemas.openxmlformats.org/drawingml/2006/main">
            <a:r>
              <a:t/>
            </a:r>
          </a:p>
          <a:p xmlns:a="http://schemas.openxmlformats.org/drawingml/2006/main">
            <a:r>
              <a:t>근거</a:t>
            </a:r>
          </a:p>
          <a:p xmlns:a="http://schemas.openxmlformats.org/drawingml/2006/main">
            <a:r>
              <a:t>C:/Users/Admin/mbca/TP2-4/docs/DATA_AND_AI_RULES.md</a:t>
            </a:r>
          </a:p>
          <a:p xmlns:a="http://schemas.openxmlformats.org/drawingml/2006/main">
            <a:r>
              <a:t>C:/Users/Admin/mbca/TP2-4/ai_server/app/operating_target.py</a:t>
            </a:r>
          </a:p>
          <a:p xmlns:a="http://schemas.openxmlformats.org/drawingml/2006/main">
            <a:r>
              <a:t>C:/Users/Admin/mbca/TP2-4/ai_server/app/report_projection.py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Agent는 업무 역할별 프롬프트와 도구, JSON 응답 계약을 갖는 소프트웨어 구성 요소입니다. 다섯 개의 서로 다른 모델을 반드시 쓴다는 뜻은 아닙니다. Evidence와 Case Scout가 병렬로 조사하고, 지역 적용성 비교, 기획 작성, 검수가 이어집니다. 실패하거나 근거가 부족하면 보완하거나 미승인 상태를 유지합니다. 자율적으로 무제한 실행하는 구조가 아닙니다.</a:t>
            </a:r>
          </a:p>
          <a:p xmlns:a="http://schemas.openxmlformats.org/drawingml/2006/main">
            <a:r>
              <a:t/>
            </a:r>
          </a:p>
          <a:p xmlns:a="http://schemas.openxmlformats.org/drawingml/2006/main">
            <a:r>
              <a:t>근거</a:t>
            </a:r>
          </a:p>
          <a:p xmlns:a="http://schemas.openxmlformats.org/drawingml/2006/main">
            <a:r>
              <a:t>C:/Users/Admin/mbca/TP2-4/ai_server/app/agents/report_orchestrator.py</a:t>
            </a:r>
          </a:p>
          <a:p xmlns:a="http://schemas.openxmlformats.org/drawingml/2006/main">
            <a:r>
              <a:t>C:/Users/Admin/mbca/TP2-4/ai_server/app/agents/README.md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Agent 간 전달물은 자유 형식 장문만이 아니라 구조화된 필드입니다. 관측값은 snapshot.observations, 모델 전망은 snapshot.ml_analysis, 사용자의 사업 조건은 planning_brief로 분리합니다. 출처 ID와 지역 조건을 다음 단계까지 보존하여 왜 이 기획이 나왔는지 추적할 수 있게 합니다.</a:t>
            </a:r>
          </a:p>
          <a:p xmlns:a="http://schemas.openxmlformats.org/drawingml/2006/main">
            <a:r>
              <a:t/>
            </a:r>
          </a:p>
          <a:p xmlns:a="http://schemas.openxmlformats.org/drawingml/2006/main">
            <a:r>
              <a:t>근거</a:t>
            </a:r>
          </a:p>
          <a:p xmlns:a="http://schemas.openxmlformats.org/drawingml/2006/main">
            <a:r>
              <a:t>C:/Users/Admin/mbca/TP2-4/ai_server/app/agents</a:t>
            </a:r>
          </a:p>
          <a:p xmlns:a="http://schemas.openxmlformats.org/drawingml/2006/main">
            <a:r>
              <a:t>C:/Users/Admin/mbca/TP2-4/ai_server/app/main.py#REPORT_SCHEMA</a:t>
            </a:r>
          </a:p>
          <a:p xmlns:a="http://schemas.openxmlformats.org/drawingml/2006/main">
            <a:r>
              <a:t>C:/Users/Admin/mbca/TP2-4/docs/ARCHITECTURE.md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로컬 개발에서는 Ollama의 gemma4:26b 태그를 사용하도록 설정했습니다. Qwen 역할 분담은 기존 local_first 모드에 남아 있으나 local_first_gemma에서는 로컬 업무를 Gemma로 통합합니다. AWS 배포 당시 노트북 Ollama에 연결하지 않고 동작시키기 위해 openai_only를 설정했습니다. 따라서 현재 AWS가 로컬 Gemma를 호출하고 있다고 설명하면 안 됩니다. 모델 태그는 프로젝트 설정값이며 외부 모델 제품 사양을 검증한 설명은 아닙니다.</a:t>
            </a:r>
          </a:p>
          <a:p xmlns:a="http://schemas.openxmlformats.org/drawingml/2006/main">
            <a:r>
              <a:t/>
            </a:r>
          </a:p>
          <a:p xmlns:a="http://schemas.openxmlformats.org/drawingml/2006/main">
            <a:r>
              <a:t>근거</a:t>
            </a:r>
          </a:p>
          <a:p xmlns:a="http://schemas.openxmlformats.org/drawingml/2006/main">
            <a:r>
              <a:t>C:/Users/Admin/mbca/TP2-4/docs/GEMMA_FIRST_MODE.md</a:t>
            </a:r>
          </a:p>
          <a:p xmlns:a="http://schemas.openxmlformats.org/drawingml/2006/main">
            <a:r>
              <a:t>C:/Users/Admin/mbca/TP2-4/storage/llm_runtime_config.json</a:t>
            </a:r>
          </a:p>
          <a:p xmlns:a="http://schemas.openxmlformats.org/drawingml/2006/main">
            <a:r>
              <a:t>C:/Users/Admin/mbca/TP2-4/ai_server/app/llm/router.py</a:t>
            </a:r>
          </a:p>
          <a:p xmlns:a="http://schemas.openxmlformats.org/drawingml/2006/main">
            <a:r>
              <a:t>2026-09-20 AWS 배포 검증 기록(이 대화)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로컬 모델은 필요한 근거를 함수명과 인자 형태로 요청할 수 있습니다. 실제 실행 여부는 서버가 검증합니다. 도구가 조회할 수 있는 대상은 현재 요청에 수집한 자료로 한정됩니다. 모델이 파일과 DB를 마음대로 변경하거나 인터넷을 자유롭게 돌아다니게 하지 않습니다. 이 제약은 비용과 오류 범위를 관리하고 사실 추적을 가능하게 합니다.</a:t>
            </a:r>
          </a:p>
          <a:p xmlns:a="http://schemas.openxmlformats.org/drawingml/2006/main">
            <a:r>
              <a:t/>
            </a:r>
          </a:p>
          <a:p xmlns:a="http://schemas.openxmlformats.org/drawingml/2006/main">
            <a:r>
              <a:t>근거</a:t>
            </a:r>
          </a:p>
          <a:p xmlns:a="http://schemas.openxmlformats.org/drawingml/2006/main">
            <a:r>
              <a:t>C:/Users/Admin/mbca/TP2-4/ai_server/app/llm/evidence_tools.py</a:t>
            </a:r>
          </a:p>
          <a:p xmlns:a="http://schemas.openxmlformats.org/drawingml/2006/main">
            <a:r>
              <a:t>C:/Users/Admin/mbca/TP2-4/ai_server/app/llm/local_agent.py</a:t>
            </a:r>
          </a:p>
          <a:p xmlns:a="http://schemas.openxmlformats.org/drawingml/2006/main">
            <a:r>
              <a:t>C:/Users/Admin/mbca/TP2-4/docs/ARCHITECTURE.md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2026-09-21 로컬 파일과 Chroma DB를 직접 확인했습니다. 공식 사례 카드 6행, 문서 요약 3행, 페이지 청크 24행이며 Chroma embeddings 테이블은 0행입니다. Chroma와 임베딩 기반 검색 코드는 구현되어 있지만, 현재 지식베이스의 실제 사용 경로는 검수 JSONL과 키워드 검색입니다. 키워드 검색을 의미 검색과 동일한 성능이라고 주장하지 않습니다. 검색 문서는 출처와 페이지를 보존합니다.</a:t>
            </a:r>
          </a:p>
          <a:p xmlns:a="http://schemas.openxmlformats.org/drawingml/2006/main">
            <a:r>
              <a:t/>
            </a:r>
          </a:p>
          <a:p xmlns:a="http://schemas.openxmlformats.org/drawingml/2006/main">
            <a:r>
              <a:t>근거</a:t>
            </a:r>
          </a:p>
          <a:p xmlns:a="http://schemas.openxmlformats.org/drawingml/2006/main">
            <a:r>
              <a:t>C:/Users/Admin/mbca/TP2-4/ai_server/app/rag_store.py</a:t>
            </a:r>
          </a:p>
          <a:p xmlns:a="http://schemas.openxmlformats.org/drawingml/2006/main">
            <a:r>
              <a:t>C:/Users/Admin/mbca/TP2-4/data/rag/official_case_studies.jsonl</a:t>
            </a:r>
          </a:p>
          <a:p xmlns:a="http://schemas.openxmlformats.org/drawingml/2006/main">
            <a:r>
              <a:t>C:/Users/Admin/mbca/TP2-4/data/rag/official_reference_documents.jsonl</a:t>
            </a:r>
          </a:p>
          <a:p xmlns:a="http://schemas.openxmlformats.org/drawingml/2006/main">
            <a:r>
              <a:t>C:/Users/Admin/mbca/TP2-4/data/rag/official_reference_chunks.jsonl</a:t>
            </a:r>
          </a:p>
          <a:p xmlns:a="http://schemas.openxmlformats.org/drawingml/2006/main">
            <a:r>
              <a:t>C:/Users/Admin/mbca/TP2-4/data/chroma/chroma.sqlite3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RAG는 저장된 문서에서 근거를 찾고, 웹 조사는 새 자료를 확보하는 역할입니다. 두 경로 모두 출처 정보를 보존합니다. 같은 시도의 정책·시설과 다른 지역의 운영 사례를 구분하여 다른 도시의 시설을 선택 지역의 사실처럼 쓰지 않습니다. 완성 보고서를 저장하는 것은 공용 사례 카탈로그를 자동으로 확대하는 작업과 다릅니다. 현재 공용 카드는 검수 JSONL을 통해 관리합니다.</a:t>
            </a:r>
          </a:p>
          <a:p xmlns:a="http://schemas.openxmlformats.org/drawingml/2006/main">
            <a:r>
              <a:t/>
            </a:r>
          </a:p>
          <a:p xmlns:a="http://schemas.openxmlformats.org/drawingml/2006/main">
            <a:r>
              <a:t>근거</a:t>
            </a:r>
          </a:p>
          <a:p xmlns:a="http://schemas.openxmlformats.org/drawingml/2006/main">
            <a:r>
              <a:t>C:/Users/Admin/mbca/TP2-4/ai_server/app/rag_store.py</a:t>
            </a:r>
          </a:p>
          <a:p xmlns:a="http://schemas.openxmlformats.org/drawingml/2006/main">
            <a:r>
              <a:t>C:/Users/Admin/mbca/TP2-4/ai_server/app/agents/case_study_agent.py</a:t>
            </a:r>
          </a:p>
          <a:p xmlns:a="http://schemas.openxmlformats.org/drawingml/2006/main">
            <a:r>
              <a:t>C:/Users/Admin/mbca/TP2-4/docs/GEMMA_FIRST_MODE.md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case_scope.py는 같은 시도, 타시도 peer, 전국 사업의 순서와 다양성을 고려합니다. peer는 관광지표의 관측 거리로 선택하며 주민 인구가 비슷하다는 뜻은 아닙니다. 후보 조회의 순위는 왜 검색 결과에 들어왔는지 설명합니다. 실제 사업 선정은 지역 조건과 예산·운영 부담을 비교하는 다음 단계에서 이루어집니다.</a:t>
            </a:r>
          </a:p>
          <a:p xmlns:a="http://schemas.openxmlformats.org/drawingml/2006/main">
            <a:r>
              <a:t/>
            </a:r>
          </a:p>
          <a:p xmlns:a="http://schemas.openxmlformats.org/drawingml/2006/main">
            <a:r>
              <a:t>근거</a:t>
            </a:r>
          </a:p>
          <a:p xmlns:a="http://schemas.openxmlformats.org/drawingml/2006/main">
            <a:r>
              <a:t>C:/Users/Admin/mbca/TP2-4/ai_server/app/case_scope.py</a:t>
            </a:r>
          </a:p>
          <a:p xmlns:a="http://schemas.openxmlformats.org/drawingml/2006/main">
            <a:r>
              <a:t>C:/Users/Admin/mbca/TP2-4/docs/NATIONWIDE_CASE_SELECTION.md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원주 기획안은 낮은 숙박방문 비율과 숙박 목적지 검색량 증가 전망을 근거로, 야간 프로그램을 실제 숙박 예약과 연결하는 방향을 제시했습니다. 12.5%는 기존 원주 문서가 인용한 관측 비율이고 +8.52%는 해당 보고서의 전망 신호입니다. 두 값의 성격은 다릅니다. 최신 데이터라는 표현은 피하고 해당 저장본의 기준으로 설명합니다. 선택 지역의 모든 사업 여건이 확인된 것은 아니므로 참여처와 운영 조건은 실행 전 협의가 필요합니다.</a:t>
            </a:r>
          </a:p>
          <a:p xmlns:a="http://schemas.openxmlformats.org/drawingml/2006/main">
            <a:r>
              <a:t/>
            </a:r>
          </a:p>
          <a:p xmlns:a="http://schemas.openxmlformats.org/drawingml/2006/main">
            <a:r>
              <a:t>근거</a:t>
            </a:r>
          </a:p>
          <a:p xmlns:a="http://schemas.openxmlformats.org/drawingml/2006/main">
            <a:r>
              <a:t>C:/Users/Admin/Downloads/강원특별자치도-원주시-관광-전략기획안 (7).pptx</a:t>
            </a:r>
          </a:p>
          <a:p xmlns:a="http://schemas.openxmlformats.org/drawingml/2006/main">
            <a:r>
              <a:t>C:/Users/Admin/mbca/TP2-4/ai_server/app/planning_rationale.py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비교는 사용자가 생성한 원주 기획안에 등장한 후보를 설명한 것입니다. 인천은 야간 콘텐츠와 주변 상권 이용을 함께 설계한 운영 구조가 원주의 야간·숙박 연계 목표에 맞아 선정되었습니다. 강진은 환급과 정산 구조, 춘천은 축제 집중 운영을 참고하는 대안입니다. 지역별 예산과 효과가 같다고 가정하지 않습니다. 강진 카드의 성과 수치는 집계 범위 검증이 부족해 quantitative_result_approved=false로 보류된 상태입니다.</a:t>
            </a:r>
          </a:p>
          <a:p xmlns:a="http://schemas.openxmlformats.org/drawingml/2006/main">
            <a:r>
              <a:t/>
            </a:r>
          </a:p>
          <a:p xmlns:a="http://schemas.openxmlformats.org/drawingml/2006/main">
            <a:r>
              <a:t>근거</a:t>
            </a:r>
          </a:p>
          <a:p xmlns:a="http://schemas.openxmlformats.org/drawingml/2006/main">
            <a:r>
              <a:t>C:/Users/Admin/Downloads/강원특별자치도-원주시-관광-전략기획안 (7).pptx</a:t>
            </a:r>
          </a:p>
          <a:p xmlns:a="http://schemas.openxmlformats.org/drawingml/2006/main">
            <a:r>
              <a:t>C:/Users/Admin/mbca/TP2-4/data/rag/official_case_studies.jsonl</a:t>
            </a:r>
          </a:p>
          <a:p xmlns:a="http://schemas.openxmlformats.org/drawingml/2006/main">
            <a:r>
              <a:t>C:/Users/Admin/mbca/TP2-4/docs/NATIONWIDE_CASE_SELECTION.md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원주 원본 기획서에 표시된 산식을 그대로 풀었습니다. 5×8×3×2×40은 9,600명분입니다. 75% 참여 가정을 적용하면 7,200명이며, 그중 30%를 추가 방문으로 가정하면 2,160명입니다. 운영 거점 수는 실제 협약된 시설 수가 아니라 ML 방문 규모를 참고한 제한된 계획 제안입니다. 사업 효과를 추정한 인과모델 결과로 소개하지 않습니다.</a:t>
            </a:r>
          </a:p>
          <a:p xmlns:a="http://schemas.openxmlformats.org/drawingml/2006/main">
            <a:r>
              <a:t/>
            </a:r>
          </a:p>
          <a:p xmlns:a="http://schemas.openxmlformats.org/drawingml/2006/main">
            <a:r>
              <a:t>근거</a:t>
            </a:r>
          </a:p>
          <a:p xmlns:a="http://schemas.openxmlformats.org/drawingml/2006/main">
            <a:r>
              <a:t>C:/Users/Admin/Downloads/강원특별자치도-원주시-관광-전략기획안 (7).pptx</a:t>
            </a:r>
          </a:p>
          <a:p xmlns:a="http://schemas.openxmlformats.org/drawingml/2006/main">
            <a:r>
              <a:t>C:/Users/Admin/mbca/TP2-4/ai_server/app/operating_target.py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총 사업비 116,600,000원은 참여 지원 72,000,000원, 현장 운영 18,000,000원, 시스템 8,000,000원, 홍보 5,000,000원, 성과 집계 3,000,000원, 예비비 10,600,000원 합계입니다. 직접비 106,000,000원의 10%를 예비비로 반영했습니다. 원주 야간 프로그램 유형에 적용한 계획 단가입니다. 환급형 시범사업은 다른 비용 프로필을 쓰므로 이 견적을 모든 사업에 고정해 쓰는 구조가 아닙니다.</a:t>
            </a:r>
          </a:p>
          <a:p xmlns:a="http://schemas.openxmlformats.org/drawingml/2006/main">
            <a:r>
              <a:t/>
            </a:r>
          </a:p>
          <a:p xmlns:a="http://schemas.openxmlformats.org/drawingml/2006/main">
            <a:r>
              <a:t>근거</a:t>
            </a:r>
          </a:p>
          <a:p xmlns:a="http://schemas.openxmlformats.org/drawingml/2006/main">
            <a:r>
              <a:t>C:/Users/Admin/Downloads/강원특별자치도-원주시-관광-전략기획안 (7).pptx</a:t>
            </a:r>
          </a:p>
          <a:p xmlns:a="http://schemas.openxmlformats.org/drawingml/2006/main">
            <a:r>
              <a:t>C:/Users/Admin/mbca/TP2-4/ai_server/app/operating_target.py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표는 원주 기획서의 저장 수치를 전사했습니다. 439+700+1,021=2,160명이고 6,772,990+2,160=6,775,150명입니다. 추가 목표는 운영월 가중치로 배분하며 이 예시에서는 뒤의 월에 더 큰 목표를 배분했습니다. 실제 관측과 ML 입력을 수정하는 것이 아니라 목표 계열을 별도로 만듭니다. report_projection.py의 공통 계산을 통해 Word와 PowerPoint가 같은 기간과 숫자를 사용합니다.</a:t>
            </a:r>
          </a:p>
          <a:p xmlns:a="http://schemas.openxmlformats.org/drawingml/2006/main">
            <a:r>
              <a:t/>
            </a:r>
          </a:p>
          <a:p xmlns:a="http://schemas.openxmlformats.org/drawingml/2006/main">
            <a:r>
              <a:t>근거</a:t>
            </a:r>
          </a:p>
          <a:p xmlns:a="http://schemas.openxmlformats.org/drawingml/2006/main">
            <a:r>
              <a:t>C:/Users/Admin/Downloads/강원특별자치도-원주시-관광-전략기획안 (7).pptx</a:t>
            </a:r>
          </a:p>
          <a:p xmlns:a="http://schemas.openxmlformats.org/drawingml/2006/main">
            <a:r>
              <a:t>C:/Users/Admin/mbca/TP2-4/ai_server/app/report_projection.py</a:t>
            </a:r>
          </a:p>
          <a:p xmlns:a="http://schemas.openxmlformats.org/drawingml/2006/main">
            <a:r>
              <a:t>C:/Users/Admin/mbca/TP2-4/ai_server/app/operating_schedule.py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2026-09-20 오프라인 점검 기록은 프론트 lint/build와 Node 28개 통과를 기록합니다. AI 서버 전체 545개 중 초기 544개 통과, 구형 테스트 조건 1개 실패가 있었고 조건 수정 후 관련 18개를 다시 통과했습니다. 수정 후 전체 545개를 재실행했다고 말하지 않습니다. 이 슬라이드의 자동 검사는 실제 LLM 생성 품질이나 사업성과를 보장하지 않습니다.</a:t>
            </a:r>
          </a:p>
          <a:p xmlns:a="http://schemas.openxmlformats.org/drawingml/2006/main">
            <a:r>
              <a:t/>
            </a:r>
          </a:p>
          <a:p xmlns:a="http://schemas.openxmlformats.org/drawingml/2006/main">
            <a:r>
              <a:t>근거</a:t>
            </a:r>
          </a:p>
          <a:p xmlns:a="http://schemas.openxmlformats.org/drawingml/2006/main">
            <a:r>
              <a:t>C:/Users/Admin/mbca/TP2-4/docs/FINAL_OFFLINE_REVIEW_20260920.md</a:t>
            </a:r>
          </a:p>
          <a:p xmlns:a="http://schemas.openxmlformats.org/drawingml/2006/main">
            <a:r>
              <a:t>C:/Users/Admin/mbca/TP2-4/ai_server/app/agents/plan_quality_gate.py</a:t>
            </a:r>
          </a:p>
          <a:p xmlns:a="http://schemas.openxmlformats.org/drawingml/2006/main">
            <a:r>
              <a:t>C:/Users/Admin/mbca/TP2-4/ai_server/app/agents/reviewer_agent.py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이전 배포 검증에서 Nginx, MySQL, Backend, AI Server, Streamlit 구조 도구의 active 상태와 외부 데이터 화면을 확인했습니다. EBS는 20GiB로 확장했고 systemd 서비스를 활성화했습니다. 현재 주소는 HTTP이며 HTTPS와 도메인은 적용하지 않았습니다. AWS는 OpenAI-only 설정이고 실제 기획서 생성 API는 비용을 아끼기 위해 배포 검증에서 호출하지 않았습니다. 발표 직전에 실제 URL과 생성 흐름을 다시 확인해야 합니다.</a:t>
            </a:r>
          </a:p>
          <a:p xmlns:a="http://schemas.openxmlformats.org/drawingml/2006/main">
            <a:r>
              <a:t/>
            </a:r>
          </a:p>
          <a:p xmlns:a="http://schemas.openxmlformats.org/drawingml/2006/main">
            <a:r>
              <a:t>근거</a:t>
            </a:r>
          </a:p>
          <a:p xmlns:a="http://schemas.openxmlformats.org/drawingml/2006/main">
            <a:r>
              <a:t>2026-09-20 AWS 배포 및 브라우저 검증 기록(이 대화)</a:t>
            </a:r>
          </a:p>
          <a:p xmlns:a="http://schemas.openxmlformats.org/drawingml/2006/main">
            <a:r>
              <a:t>C:/Users/Admin/mbca/TP2-4/docs/ARCHITECTURE.md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완성도 있는 발표는 한계를 숨기기보다 다음 검증 계획을 제시해야 합니다. 원주 Test가 짧고 기준선보다 열세인 점, 4개월 이상 예측이 탐색 수준인 점, Chroma 의미 검색 지식베이스가 아직 채워지지 않은 점을 설명합니다. 관리자 화면의 admin/1234 세션 잠금은 교육용 화면 장치이며 서버 인증을 대체하지 않습니다. 서비스 효과를 검증하려면 실제 담당자의 유용성 평가와 생성·수정·자동 저장·다운로드의 전체 흐름 측정이 필요합니다.</a:t>
            </a:r>
          </a:p>
          <a:p xmlns:a="http://schemas.openxmlformats.org/drawingml/2006/main">
            <a:r>
              <a:t/>
            </a:r>
          </a:p>
          <a:p xmlns:a="http://schemas.openxmlformats.org/drawingml/2006/main">
            <a:r>
              <a:t>근거</a:t>
            </a:r>
          </a:p>
          <a:p xmlns:a="http://schemas.openxmlformats.org/drawingml/2006/main">
            <a:r>
              <a:t>C:/Users/Admin/mbca/TP2-4/docs/CONTEST_EVIDENCE.md</a:t>
            </a:r>
          </a:p>
          <a:p xmlns:a="http://schemas.openxmlformats.org/drawingml/2006/main">
            <a:r>
              <a:t>C:/Users/Admin/mbca/TP2-4/docs/FINAL_OFFLINE_REVIEW_20260920.md</a:t>
            </a:r>
          </a:p>
          <a:p xmlns:a="http://schemas.openxmlformats.org/drawingml/2006/main">
            <a:r>
              <a:t>C:/Users/Admin/mbca/TP2-4/docs/DECISIONS.md#d-219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정리하면 정형 수치는 공식 자료와 SQL, 숫자 전망은 ML, 문서 근거는 검색, 기획 문장은 LLM이 담당합니다. 담당자는 같은 근거를 보고 초안을 수정하고 문서로 출력합니다. 질의응답에서는 Agent가 다섯 개 모델인지, RAG가 실제 의미 검색인지, KPI가 예측효과인지, AWS에서 Gemma가 돌아가는지에 대한 질문에 각각 역할 분리, 현재 키워드 검색, 계획 가정, 현재 OpenAI-only라고 정확하게 답변합니다.</a:t>
            </a:r>
          </a:p>
          <a:p xmlns:a="http://schemas.openxmlformats.org/drawingml/2006/main">
            <a:r>
              <a:t/>
            </a:r>
          </a:p>
          <a:p xmlns:a="http://schemas.openxmlformats.org/drawingml/2006/main">
            <a:r>
              <a:t>근거</a:t>
            </a:r>
          </a:p>
          <a:p xmlns:a="http://schemas.openxmlformats.org/drawingml/2006/main">
            <a:r>
              <a:t>C:/Users/Admin/mbca/TP2-4/docs/PROJECT_BRIEF.md</a:t>
            </a:r>
          </a:p>
          <a:p xmlns:a="http://schemas.openxmlformats.org/drawingml/2006/main">
            <a:r>
              <a:t>C:/Users/Admin/mbca/TP2-4/docs/DATA_AND_AI_RULES.md</a:t>
            </a:r>
          </a:p>
          <a:p xmlns:a="http://schemas.openxmlformats.org/drawingml/2006/main">
            <a:r>
              <a:t>C:/Users/Admin/mbca/TP2-4/docs/GEMMA_FIRST_MODE.md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6cbc7da4c354a9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2ed822f103d41a0" /><Relationship Type="http://schemas.openxmlformats.org/officeDocument/2006/relationships/slideLayout" Target="/ppt/slideLayouts/slideLayout1.xml" Id="R86e53bfa6af04da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6e53bfa6af04da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c940c56fcbb4f9d" /><Relationship Type="http://schemas.openxmlformats.org/officeDocument/2006/relationships/image" Target="/ppt/media/image.png" Id="Rb7f5cf327eab49dd" /><Relationship Type="http://schemas.openxmlformats.org/officeDocument/2006/relationships/notesSlide" Target="/ppt/notesSlides/notesSlide1.xml" Id="R03a0957ca53643c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cad8ae52d1545d3" /><Relationship Type="http://schemas.openxmlformats.org/officeDocument/2006/relationships/notesSlide" Target="/ppt/notesSlides/notesSlide2.xml" Id="R6e409a4c9d3e40d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bbd81fcfff5482a" /><Relationship Type="http://schemas.openxmlformats.org/officeDocument/2006/relationships/notesSlide" Target="/ppt/notesSlides/notesSlide3.xml" Id="R4faab583e7d747b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98c81f0358f4179" /><Relationship Type="http://schemas.openxmlformats.org/officeDocument/2006/relationships/notesSlide" Target="/ppt/notesSlides/notesSlide4.xml" Id="R074ecf6addb0463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ffa6ec08f4c4c6b" /><Relationship Type="http://schemas.openxmlformats.org/officeDocument/2006/relationships/notesSlide" Target="/ppt/notesSlides/notesSlide5.xml" Id="R16aec1acc7ca432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2030e7b211342f0" /><Relationship Type="http://schemas.openxmlformats.org/officeDocument/2006/relationships/notesSlide" Target="/ppt/notesSlides/notesSlide6.xml" Id="R0da04792af614b5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8442b07d22d486b" /><Relationship Type="http://schemas.openxmlformats.org/officeDocument/2006/relationships/image" Target="/ppt/media/image2.png" Id="R58f18503fd314ef5" /><Relationship Type="http://schemas.openxmlformats.org/officeDocument/2006/relationships/notesSlide" Target="/ppt/notesSlides/notesSlide7.xml" Id="R036b34ce5c3d4d4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6a9551825a84ffc" /><Relationship Type="http://schemas.openxmlformats.org/officeDocument/2006/relationships/image" Target="/ppt/media/image.jpeg" Id="R0600056ada514348" /><Relationship Type="http://schemas.openxmlformats.org/officeDocument/2006/relationships/notesSlide" Target="/ppt/notesSlides/notesSlide8.xml" Id="Rb7a2db88b7ca49f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03e65eb87624daa" /><Relationship Type="http://schemas.openxmlformats.org/officeDocument/2006/relationships/notesSlide" Target="/ppt/notesSlides/notesSlide9.xml" Id="R1f7ddf820c3948e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516152820904e81" /><Relationship Type="http://schemas.openxmlformats.org/officeDocument/2006/relationships/image" Target="/ppt/media/image3.png" Id="R70f482263d674f5a" /><Relationship Type="http://schemas.openxmlformats.org/officeDocument/2006/relationships/notesSlide" Target="/ppt/notesSlides/notesSlide10.xml" Id="R0627ca59b4814ad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e9740cdbf2b4346" /><Relationship Type="http://schemas.openxmlformats.org/officeDocument/2006/relationships/notesSlide" Target="/ppt/notesSlides/notesSlide11.xml" Id="Rc39e8f2042684ed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11e072cfecd49ae" /><Relationship Type="http://schemas.openxmlformats.org/officeDocument/2006/relationships/notesSlide" Target="/ppt/notesSlides/notesSlide12.xml" Id="R511a568f982d4f4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e55cef5bd9a4319" /><Relationship Type="http://schemas.openxmlformats.org/officeDocument/2006/relationships/notesSlide" Target="/ppt/notesSlides/notesSlide13.xml" Id="R9da2f72b4dcb498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50f23eb70f44bee" /><Relationship Type="http://schemas.openxmlformats.org/officeDocument/2006/relationships/notesSlide" Target="/ppt/notesSlides/notesSlide14.xml" Id="Rab3c2b564b4c49c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96d68e86edc47f5" /><Relationship Type="http://schemas.openxmlformats.org/officeDocument/2006/relationships/notesSlide" Target="/ppt/notesSlides/notesSlide15.xml" Id="R9f7676aeb366482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1adac93a1cc4b1c" /><Relationship Type="http://schemas.openxmlformats.org/officeDocument/2006/relationships/notesSlide" Target="/ppt/notesSlides/notesSlide16.xml" Id="R0df12c54d326482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5281866377245e5" /><Relationship Type="http://schemas.openxmlformats.org/officeDocument/2006/relationships/notesSlide" Target="/ppt/notesSlides/notesSlide17.xml" Id="R6e0e962a8bf44fc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ecb32d735aa4615" /><Relationship Type="http://schemas.openxmlformats.org/officeDocument/2006/relationships/notesSlide" Target="/ppt/notesSlides/notesSlide18.xml" Id="Rad037560d4484aa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73c3104ed4d4864" /><Relationship Type="http://schemas.openxmlformats.org/officeDocument/2006/relationships/notesSlide" Target="/ppt/notesSlides/notesSlide19.xml" Id="R9d79fc7ddc02455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5c3e5e310b8432e" /><Relationship Type="http://schemas.openxmlformats.org/officeDocument/2006/relationships/notesSlide" Target="/ppt/notesSlides/notesSlide20.xml" Id="Ra2d4e7160fae460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c2862c2c9aa4700" /><Relationship Type="http://schemas.openxmlformats.org/officeDocument/2006/relationships/notesSlide" Target="/ppt/notesSlides/notesSlide21.xml" Id="R7d25a171cfad408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40c60df1246413a" /><Relationship Type="http://schemas.openxmlformats.org/officeDocument/2006/relationships/chart" Target="/ppt/slides/charts/chart1.xml" Id="R929f4c4d76fa4179" /><Relationship Type="http://schemas.openxmlformats.org/officeDocument/2006/relationships/notesSlide" Target="/ppt/notesSlides/notesSlide22.xml" Id="R57d18655b94c49b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7b743da593634710" /><Relationship Type="http://schemas.openxmlformats.org/officeDocument/2006/relationships/notesSlide" Target="/ppt/notesSlides/notesSlide23.xml" Id="R816a00d598a7447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9cdac9a154d44c59" /><Relationship Type="http://schemas.openxmlformats.org/officeDocument/2006/relationships/notesSlide" Target="/ppt/notesSlides/notesSlide24.xml" Id="R22f35c51c16a48d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e1743282ba854d7f" /><Relationship Type="http://schemas.openxmlformats.org/officeDocument/2006/relationships/notesSlide" Target="/ppt/notesSlides/notesSlide25.xml" Id="R7457db1b73ec4ce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8b524ab880974385" /><Relationship Type="http://schemas.openxmlformats.org/officeDocument/2006/relationships/notesSlide" Target="/ppt/notesSlides/notesSlide26.xml" Id="R2dc27241f74c460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3d4dd2e93326427c" /><Relationship Type="http://schemas.openxmlformats.org/officeDocument/2006/relationships/notesSlide" Target="/ppt/notesSlides/notesSlide27.xml" Id="Rb00d360ad0ea467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a8d53b275d374461" /><Relationship Type="http://schemas.openxmlformats.org/officeDocument/2006/relationships/notesSlide" Target="/ppt/notesSlides/notesSlide28.xml" Id="R17a1e57aa1904b8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26988359057d411b" /><Relationship Type="http://schemas.openxmlformats.org/officeDocument/2006/relationships/notesSlide" Target="/ppt/notesSlides/notesSlide29.xml" Id="Rb61b0bf83f1c495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2bf1b14c0d9742ce" /><Relationship Type="http://schemas.openxmlformats.org/officeDocument/2006/relationships/notesSlide" Target="/ppt/notesSlides/notesSlide30.xml" Id="Rdecdf00fc8b4481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eaa9d62ae4dc45ce" /><Relationship Type="http://schemas.openxmlformats.org/officeDocument/2006/relationships/notesSlide" Target="/ppt/notesSlides/notesSlide31.xml" Id="Re41e681a7ea640d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1d88c8765eed4166" /><Relationship Type="http://schemas.openxmlformats.org/officeDocument/2006/relationships/notesSlide" Target="/ppt/notesSlides/notesSlide32.xml" Id="R1a2f5983837e41d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8b0e4c80473d4485" /><Relationship Type="http://schemas.openxmlformats.org/officeDocument/2006/relationships/notesSlide" Target="/ppt/notesSlides/notesSlide33.xml" Id="R3a2b1e02524e4ee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618f88b575904527" /><Relationship Type="http://schemas.openxmlformats.org/officeDocument/2006/relationships/notesSlide" Target="/ppt/notesSlides/notesSlide34.xml" Id="R0c7aebff6c9046e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964f91aeee73450f" /><Relationship Type="http://schemas.openxmlformats.org/officeDocument/2006/relationships/chart" Target="/ppt/slides/charts/chart2.xml" Id="Ra9c301fb6b7d43c2" /><Relationship Type="http://schemas.openxmlformats.org/officeDocument/2006/relationships/notesSlide" Target="/ppt/notesSlides/notesSlide35.xml" Id="R3595e5b1780f4110"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be1a4d59caea4f87" /><Relationship Type="http://schemas.openxmlformats.org/officeDocument/2006/relationships/notesSlide" Target="/ppt/notesSlides/notesSlide36.xml" Id="Rd4466f320e3843e7"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25a0c134bfca49de" /><Relationship Type="http://schemas.openxmlformats.org/officeDocument/2006/relationships/notesSlide" Target="/ppt/notesSlides/notesSlide37.xml" Id="R52ea826723894dfd"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96340b0c932d4598" /><Relationship Type="http://schemas.openxmlformats.org/officeDocument/2006/relationships/notesSlide" Target="/ppt/notesSlides/notesSlide38.xml" Id="R13c9a5ee724e425a"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f6484ba0887645a7" /><Relationship Type="http://schemas.openxmlformats.org/officeDocument/2006/relationships/notesSlide" Target="/ppt/notesSlides/notesSlide39.xml" Id="Rc172739a65c74d42"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f20b1d49f4e04d9c" /><Relationship Type="http://schemas.openxmlformats.org/officeDocument/2006/relationships/notesSlide" Target="/ppt/notesSlides/notesSlide40.xml" Id="R5dc6a1a2a2614b9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학습 모델</c:v>
          </c:tx>
          <c:spPr>
            <a:solidFill xmlns:a="http://schemas.openxmlformats.org/drawingml/2006/main">
              <a:srgbClr val="087F82"/>
            </a:solidFill>
          </c:spPr>
          <c:dLbls>
            <c:dLbl>
              <c:idx val="0"/>
              <c:tx>
                <c:rich>
                  <a:bodyPr xmlns:a="http://schemas.openxmlformats.org/drawingml/2006/main"/>
                  <a:lstStyle xmlns:a="http://schemas.openxmlformats.org/drawingml/2006/main"/>
                  <a:p xmlns:a="http://schemas.openxmlformats.org/drawingml/2006/main">
                    <a:r>
                      <a:rPr sz="1500" b="1">
                        <a:solidFill>
                          <a:srgbClr val="102F40"/>
                        </a:solidFill>
                        <a:latin typeface="Malgun Gothic"/>
                        <a:ea typeface="Malgun Gothic"/>
                        <a:cs typeface="Malgun Gothic"/>
                      </a:rPr>
                      <a:t>4.37</a:t>
                    </a:r>
                  </a:p>
                </c:rich>
              </c:tx>
              <c:txPr>
                <a:bodyPr xmlns:a="http://schemas.openxmlformats.org/drawingml/2006/main" anchorCtr="1"/>
                <a:lstStyle xmlns:a="http://schemas.openxmlformats.org/drawingml/2006/main"/>
                <a:p xmlns:a="http://schemas.openxmlformats.org/drawingml/2006/main">
                  <a:pPr>
                    <a:defRPr sz="1500" b="1">
                      <a:solidFill>
                        <a:srgbClr val="102F40"/>
                      </a:solidFill>
                      <a:latin typeface="Malgun Gothic"/>
                      <a:ea typeface="Malgun Gothic"/>
                      <a:cs typeface="Malgun Gothic"/>
                    </a:defRPr>
                  </a:pPr>
                </a:p>
              </c:txPr>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500" b="1">
                        <a:solidFill>
                          <a:srgbClr val="102F40"/>
                        </a:solidFill>
                        <a:latin typeface="Malgun Gothic"/>
                        <a:ea typeface="Malgun Gothic"/>
                        <a:cs typeface="Malgun Gothic"/>
                      </a:rPr>
                      <a:t>12.87</a:t>
                    </a:r>
                  </a:p>
                </c:rich>
              </c:tx>
              <c:txPr>
                <a:bodyPr xmlns:a="http://schemas.openxmlformats.org/drawingml/2006/main" anchorCtr="1"/>
                <a:lstStyle xmlns:a="http://schemas.openxmlformats.org/drawingml/2006/main"/>
                <a:p xmlns:a="http://schemas.openxmlformats.org/drawingml/2006/main">
                  <a:pPr>
                    <a:defRPr sz="1500" b="1">
                      <a:solidFill>
                        <a:srgbClr val="102F40"/>
                      </a:solidFill>
                      <a:latin typeface="Malgun Gothic"/>
                      <a:ea typeface="Malgun Gothic"/>
                      <a:cs typeface="Malgun Gothic"/>
                    </a:defRPr>
                  </a:pPr>
                </a:p>
              </c:txPr>
              <c:showLegendKey val="0"/>
              <c:showVal val="0"/>
              <c:showCatName val="0"/>
              <c:showSerName val="0"/>
              <c:showPercent val="0"/>
              <c:showBubbleSize val="0"/>
            </c:dLbl>
          </c:dLbls>
          <c:cat>
            <c:strRef>
              <c:f>'Chart Data'!$A$2:$A$3</c:f>
              <c:strCache>
                <c:ptCount val="2"/>
                <c:pt idx="0">
                  <c:v>방문자 수</c:v>
                </c:pt>
                <c:pt idx="1">
                  <c:v>관광소비액</c:v>
                </c:pt>
              </c:strCache>
            </c:strRef>
          </c:cat>
          <c:val>
            <c:numRef>
              <c:f>'Chart Data'!$B$2:$B$3</c:f>
              <c:numCache>
                <c:formatCode>0.00</c:formatCode>
                <c:ptCount val="2"/>
                <c:pt idx="0">
                  <c:v>4.37</c:v>
                </c:pt>
                <c:pt idx="1">
                  <c:v>12.87</c:v>
                </c:pt>
              </c:numCache>
            </c:numRef>
          </c:val>
        </c:ser>
        <c:ser>
          <c:idx val="1"/>
          <c:order val="1"/>
          <c:tx>
            <c:v>전년 동월 기준선</c:v>
          </c:tx>
          <c:spPr>
            <a:solidFill xmlns:a="http://schemas.openxmlformats.org/drawingml/2006/main">
              <a:srgbClr val="B6C6C9"/>
            </a:solidFill>
          </c:spPr>
          <c:dLbls>
            <c:dLbl>
              <c:idx val="0"/>
              <c:tx>
                <c:rich>
                  <a:bodyPr xmlns:a="http://schemas.openxmlformats.org/drawingml/2006/main"/>
                  <a:lstStyle xmlns:a="http://schemas.openxmlformats.org/drawingml/2006/main"/>
                  <a:p xmlns:a="http://schemas.openxmlformats.org/drawingml/2006/main">
                    <a:r>
                      <a:rPr sz="1500" b="1">
                        <a:solidFill>
                          <a:srgbClr val="102F40"/>
                        </a:solidFill>
                        <a:latin typeface="Malgun Gothic"/>
                        <a:ea typeface="Malgun Gothic"/>
                        <a:cs typeface="Malgun Gothic"/>
                      </a:rPr>
                      <a:t>3.99</a:t>
                    </a:r>
                  </a:p>
                </c:rich>
              </c:tx>
              <c:txPr>
                <a:bodyPr xmlns:a="http://schemas.openxmlformats.org/drawingml/2006/main" anchorCtr="1"/>
                <a:lstStyle xmlns:a="http://schemas.openxmlformats.org/drawingml/2006/main"/>
                <a:p xmlns:a="http://schemas.openxmlformats.org/drawingml/2006/main">
                  <a:pPr>
                    <a:defRPr sz="1500" b="1">
                      <a:solidFill>
                        <a:srgbClr val="102F40"/>
                      </a:solidFill>
                      <a:latin typeface="Malgun Gothic"/>
                      <a:ea typeface="Malgun Gothic"/>
                      <a:cs typeface="Malgun Gothic"/>
                    </a:defRPr>
                  </a:pPr>
                </a:p>
              </c:txPr>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500" b="1">
                        <a:solidFill>
                          <a:srgbClr val="102F40"/>
                        </a:solidFill>
                        <a:latin typeface="Malgun Gothic"/>
                        <a:ea typeface="Malgun Gothic"/>
                        <a:cs typeface="Malgun Gothic"/>
                      </a:rPr>
                      <a:t>7.66</a:t>
                    </a:r>
                  </a:p>
                </c:rich>
              </c:tx>
              <c:txPr>
                <a:bodyPr xmlns:a="http://schemas.openxmlformats.org/drawingml/2006/main" anchorCtr="1"/>
                <a:lstStyle xmlns:a="http://schemas.openxmlformats.org/drawingml/2006/main"/>
                <a:p xmlns:a="http://schemas.openxmlformats.org/drawingml/2006/main">
                  <a:pPr>
                    <a:defRPr sz="1500" b="1">
                      <a:solidFill>
                        <a:srgbClr val="102F40"/>
                      </a:solidFill>
                      <a:latin typeface="Malgun Gothic"/>
                      <a:ea typeface="Malgun Gothic"/>
                      <a:cs typeface="Malgun Gothic"/>
                    </a:defRPr>
                  </a:pPr>
                </a:p>
              </c:txPr>
              <c:showLegendKey val="0"/>
              <c:showVal val="0"/>
              <c:showCatName val="0"/>
              <c:showSerName val="0"/>
              <c:showPercent val="0"/>
              <c:showBubbleSize val="0"/>
            </c:dLbl>
          </c:dLbls>
          <c:cat>
            <c:strRef>
              <c:f>'Chart Data'!$C$2:$C$3</c:f>
              <c:strCache>
                <c:ptCount val="2"/>
                <c:pt idx="0">
                  <c:v>방문자 수</c:v>
                </c:pt>
                <c:pt idx="1">
                  <c:v>관광소비액</c:v>
                </c:pt>
              </c:strCache>
            </c:strRef>
          </c:cat>
          <c:val>
            <c:numRef>
              <c:f>'Chart Data'!$D$2:$D$3</c:f>
              <c:numCache>
                <c:formatCode>0.00</c:formatCode>
                <c:ptCount val="2"/>
                <c:pt idx="0">
                  <c:v>3.99</c:v>
                </c:pt>
                <c:pt idx="1">
                  <c:v>7.66</c:v>
                </c:pt>
              </c:numCache>
            </c:numRef>
          </c:val>
        </c:ser>
        <c:dLbls>
          <c:txPr>
            <a:bodyPr xmlns:a="http://schemas.openxmlformats.org/drawingml/2006/main" anchorCtr="1"/>
            <a:lstStyle xmlns:a="http://schemas.openxmlformats.org/drawingml/2006/main"/>
            <a:p xmlns:a="http://schemas.openxmlformats.org/drawingml/2006/main">
              <a:pPr>
                <a:defRPr sz="1500" b="1">
                  <a:solidFill>
                    <a:srgbClr val="102F40"/>
                  </a:solidFill>
                  <a:latin typeface="Malgun Gothic"/>
                  <a:ea typeface="Malgun Gothic"/>
                  <a:cs typeface="Malgun Gothic"/>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DD8D9"/>
            </a:solidFill>
          </a:ln>
        </c:spPr>
        <c:txPr>
          <a:bodyPr xmlns:a="http://schemas.openxmlformats.org/drawingml/2006/main" anchorCtr="1"/>
          <a:lstStyle xmlns:a="http://schemas.openxmlformats.org/drawingml/2006/main"/>
          <a:p xmlns:a="http://schemas.openxmlformats.org/drawingml/2006/main">
            <a:pPr>
              <a:defRPr sz="1575">
                <a:solidFill>
                  <a:srgbClr val="536B78"/>
                </a:solidFill>
                <a:latin typeface="Malgun Gothic"/>
                <a:ea typeface="Malgun Gothic"/>
                <a:cs typeface="Malgun Gothic"/>
              </a:defRPr>
            </a:pPr>
          </a:p>
        </c:txPr>
        <c:crossAx val="48672768"/>
      </c:catAx>
      <c:valAx>
        <c:axId val="48672768"/>
        <c:scaling>
          <c:orientation val="minMax"/>
          <c:max val="16"/>
          <c:min val="0"/>
        </c:scaling>
        <c:delete val="0"/>
        <c:axPos val="l"/>
        <c:majorGridlines>
          <c:spPr>
            <a:ln xmlns:a="http://schemas.openxmlformats.org/drawingml/2006/main" w="6668">
              <a:solidFill>
                <a:srgbClr val="CDD8D9"/>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36B78"/>
                </a:solidFill>
                <a:latin typeface="Malgun Gothic"/>
                <a:ea typeface="Malgun Gothic"/>
                <a:cs typeface="Malgun Gothic"/>
              </a:defRPr>
            </a:pPr>
          </a:p>
        </c:txPr>
        <c:crossAx val="48650112"/>
        <c:crossBetween val="between"/>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536B78"/>
              </a:solidFill>
              <a:latin typeface="Malgun Gothic"/>
              <a:ea typeface="Malgun Gothic"/>
              <a:cs typeface="Malgun Gothic"/>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계획 비용</c:v>
          </c:tx>
          <c:spPr>
            <a:solidFill xmlns:a="http://schemas.openxmlformats.org/drawingml/2006/main">
              <a:srgbClr val="087F82"/>
            </a:solidFill>
          </c:spPr>
          <c:dLbls>
            <c:dLbl>
              <c:idx val="0"/>
              <c:tx>
                <c:rich>
                  <a:bodyPr xmlns:a="http://schemas.openxmlformats.org/drawingml/2006/main"/>
                  <a:lstStyle xmlns:a="http://schemas.openxmlformats.org/drawingml/2006/main"/>
                  <a:p xmlns:a="http://schemas.openxmlformats.org/drawingml/2006/main">
                    <a:r>
                      <a:rPr sz="1500" b="1">
                        <a:solidFill>
                          <a:srgbClr val="102F40"/>
                        </a:solidFill>
                        <a:latin typeface="Malgun Gothic"/>
                        <a:ea typeface="Malgun Gothic"/>
                        <a:cs typeface="Malgun Gothic"/>
                      </a:rPr>
                      <a:t>7,200</a:t>
                    </a:r>
                  </a:p>
                </c:rich>
              </c:tx>
              <c:txPr>
                <a:bodyPr xmlns:a="http://schemas.openxmlformats.org/drawingml/2006/main" anchorCtr="1"/>
                <a:lstStyle xmlns:a="http://schemas.openxmlformats.org/drawingml/2006/main"/>
                <a:p xmlns:a="http://schemas.openxmlformats.org/drawingml/2006/main">
                  <a:pPr>
                    <a:defRPr sz="1500" b="1">
                      <a:solidFill>
                        <a:srgbClr val="102F40"/>
                      </a:solidFill>
                      <a:latin typeface="Malgun Gothic"/>
                      <a:ea typeface="Malgun Gothic"/>
                      <a:cs typeface="Malgun Gothic"/>
                    </a:defRPr>
                  </a:pPr>
                </a:p>
              </c:txPr>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500" b="1">
                        <a:solidFill>
                          <a:srgbClr val="102F40"/>
                        </a:solidFill>
                        <a:latin typeface="Malgun Gothic"/>
                        <a:ea typeface="Malgun Gothic"/>
                        <a:cs typeface="Malgun Gothic"/>
                      </a:rPr>
                      <a:t>1,800</a:t>
                    </a:r>
                  </a:p>
                </c:rich>
              </c:tx>
              <c:txPr>
                <a:bodyPr xmlns:a="http://schemas.openxmlformats.org/drawingml/2006/main" anchorCtr="1"/>
                <a:lstStyle xmlns:a="http://schemas.openxmlformats.org/drawingml/2006/main"/>
                <a:p xmlns:a="http://schemas.openxmlformats.org/drawingml/2006/main">
                  <a:pPr>
                    <a:defRPr sz="1500" b="1">
                      <a:solidFill>
                        <a:srgbClr val="102F40"/>
                      </a:solidFill>
                      <a:latin typeface="Malgun Gothic"/>
                      <a:ea typeface="Malgun Gothic"/>
                      <a:cs typeface="Malgun Gothic"/>
                    </a:defRPr>
                  </a:pPr>
                </a:p>
              </c:txPr>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500" b="1">
                        <a:solidFill>
                          <a:srgbClr val="102F40"/>
                        </a:solidFill>
                        <a:latin typeface="Malgun Gothic"/>
                        <a:ea typeface="Malgun Gothic"/>
                        <a:cs typeface="Malgun Gothic"/>
                      </a:rPr>
                      <a:t>800</a:t>
                    </a:r>
                  </a:p>
                </c:rich>
              </c:tx>
              <c:txPr>
                <a:bodyPr xmlns:a="http://schemas.openxmlformats.org/drawingml/2006/main" anchorCtr="1"/>
                <a:lstStyle xmlns:a="http://schemas.openxmlformats.org/drawingml/2006/main"/>
                <a:p xmlns:a="http://schemas.openxmlformats.org/drawingml/2006/main">
                  <a:pPr>
                    <a:defRPr sz="1500" b="1">
                      <a:solidFill>
                        <a:srgbClr val="102F40"/>
                      </a:solidFill>
                      <a:latin typeface="Malgun Gothic"/>
                      <a:ea typeface="Malgun Gothic"/>
                      <a:cs typeface="Malgun Gothic"/>
                    </a:defRPr>
                  </a:pPr>
                </a:p>
              </c:txPr>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500" b="1">
                        <a:solidFill>
                          <a:srgbClr val="102F40"/>
                        </a:solidFill>
                        <a:latin typeface="Malgun Gothic"/>
                        <a:ea typeface="Malgun Gothic"/>
                        <a:cs typeface="Malgun Gothic"/>
                      </a:rPr>
                      <a:t>500</a:t>
                    </a:r>
                  </a:p>
                </c:rich>
              </c:tx>
              <c:txPr>
                <a:bodyPr xmlns:a="http://schemas.openxmlformats.org/drawingml/2006/main" anchorCtr="1"/>
                <a:lstStyle xmlns:a="http://schemas.openxmlformats.org/drawingml/2006/main"/>
                <a:p xmlns:a="http://schemas.openxmlformats.org/drawingml/2006/main">
                  <a:pPr>
                    <a:defRPr sz="1500" b="1">
                      <a:solidFill>
                        <a:srgbClr val="102F40"/>
                      </a:solidFill>
                      <a:latin typeface="Malgun Gothic"/>
                      <a:ea typeface="Malgun Gothic"/>
                      <a:cs typeface="Malgun Gothic"/>
                    </a:defRPr>
                  </a:pPr>
                </a:p>
              </c:txPr>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500" b="1">
                        <a:solidFill>
                          <a:srgbClr val="102F40"/>
                        </a:solidFill>
                        <a:latin typeface="Malgun Gothic"/>
                        <a:ea typeface="Malgun Gothic"/>
                        <a:cs typeface="Malgun Gothic"/>
                      </a:rPr>
                      <a:t>300</a:t>
                    </a:r>
                  </a:p>
                </c:rich>
              </c:tx>
              <c:txPr>
                <a:bodyPr xmlns:a="http://schemas.openxmlformats.org/drawingml/2006/main" anchorCtr="1"/>
                <a:lstStyle xmlns:a="http://schemas.openxmlformats.org/drawingml/2006/main"/>
                <a:p xmlns:a="http://schemas.openxmlformats.org/drawingml/2006/main">
                  <a:pPr>
                    <a:defRPr sz="1500" b="1">
                      <a:solidFill>
                        <a:srgbClr val="102F40"/>
                      </a:solidFill>
                      <a:latin typeface="Malgun Gothic"/>
                      <a:ea typeface="Malgun Gothic"/>
                      <a:cs typeface="Malgun Gothic"/>
                    </a:defRPr>
                  </a:pPr>
                </a:p>
              </c:txPr>
              <c:showLegendKey val="0"/>
              <c:showVal val="0"/>
              <c:showCatName val="0"/>
              <c:showSerName val="0"/>
              <c:showPercent val="0"/>
              <c:showBubbleSize val="0"/>
            </c:dLbl>
            <c:dLbl>
              <c:idx val="5"/>
              <c:tx>
                <c:rich>
                  <a:bodyPr xmlns:a="http://schemas.openxmlformats.org/drawingml/2006/main"/>
                  <a:lstStyle xmlns:a="http://schemas.openxmlformats.org/drawingml/2006/main"/>
                  <a:p xmlns:a="http://schemas.openxmlformats.org/drawingml/2006/main">
                    <a:r>
                      <a:rPr sz="1500" b="1">
                        <a:solidFill>
                          <a:srgbClr val="102F40"/>
                        </a:solidFill>
                        <a:latin typeface="Malgun Gothic"/>
                        <a:ea typeface="Malgun Gothic"/>
                        <a:cs typeface="Malgun Gothic"/>
                      </a:rPr>
                      <a:t>1,060</a:t>
                    </a:r>
                  </a:p>
                </c:rich>
              </c:tx>
              <c:txPr>
                <a:bodyPr xmlns:a="http://schemas.openxmlformats.org/drawingml/2006/main" anchorCtr="1"/>
                <a:lstStyle xmlns:a="http://schemas.openxmlformats.org/drawingml/2006/main"/>
                <a:p xmlns:a="http://schemas.openxmlformats.org/drawingml/2006/main">
                  <a:pPr>
                    <a:defRPr sz="1500" b="1">
                      <a:solidFill>
                        <a:srgbClr val="102F40"/>
                      </a:solidFill>
                      <a:latin typeface="Malgun Gothic"/>
                      <a:ea typeface="Malgun Gothic"/>
                      <a:cs typeface="Malgun Gothic"/>
                    </a:defRPr>
                  </a:pPr>
                </a:p>
              </c:txPr>
              <c:showLegendKey val="0"/>
              <c:showVal val="0"/>
              <c:showCatName val="0"/>
              <c:showSerName val="0"/>
              <c:showPercent val="0"/>
              <c:showBubbleSize val="0"/>
            </c:dLbl>
          </c:dLbls>
          <c:cat>
            <c:strRef>
              <c:f>'Chart Data'!$A$2:$A$7</c:f>
              <c:strCache>
                <c:ptCount val="6"/>
                <c:pt idx="0">
                  <c:v>참여 지원</c:v>
                </c:pt>
                <c:pt idx="1">
                  <c:v>현장 운영</c:v>
                </c:pt>
                <c:pt idx="2">
                  <c:v>운영 시스템</c:v>
                </c:pt>
                <c:pt idx="3">
                  <c:v>홍보</c:v>
                </c:pt>
                <c:pt idx="4">
                  <c:v>성과 집계</c:v>
                </c:pt>
                <c:pt idx="5">
                  <c:v>예비비</c:v>
                </c:pt>
              </c:strCache>
            </c:strRef>
          </c:cat>
          <c:val>
            <c:numRef>
              <c:f>'Chart Data'!$B$2:$B$7</c:f>
              <c:numCache>
                <c:formatCode>#,##0</c:formatCode>
                <c:ptCount val="6"/>
                <c:pt idx="0">
                  <c:v>7200</c:v>
                </c:pt>
                <c:pt idx="1">
                  <c:v>1800</c:v>
                </c:pt>
                <c:pt idx="2">
                  <c:v>800</c:v>
                </c:pt>
                <c:pt idx="3">
                  <c:v>500</c:v>
                </c:pt>
                <c:pt idx="4">
                  <c:v>300</c:v>
                </c:pt>
                <c:pt idx="5">
                  <c:v>1060</c:v>
                </c:pt>
              </c:numCache>
            </c:numRef>
          </c:val>
        </c:ser>
        <c:dLbls>
          <c:txPr>
            <a:bodyPr xmlns:a="http://schemas.openxmlformats.org/drawingml/2006/main" anchorCtr="1"/>
            <a:lstStyle xmlns:a="http://schemas.openxmlformats.org/drawingml/2006/main"/>
            <a:p xmlns:a="http://schemas.openxmlformats.org/drawingml/2006/main">
              <a:pPr>
                <a:defRPr sz="1500" b="1">
                  <a:solidFill>
                    <a:srgbClr val="102F40"/>
                  </a:solidFill>
                  <a:latin typeface="Malgun Gothic"/>
                  <a:ea typeface="Malgun Gothic"/>
                  <a:cs typeface="Malgun Gothic"/>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DD8D9"/>
            </a:solidFill>
          </a:ln>
        </c:spPr>
        <c:txPr>
          <a:bodyPr xmlns:a="http://schemas.openxmlformats.org/drawingml/2006/main" anchorCtr="1"/>
          <a:lstStyle xmlns:a="http://schemas.openxmlformats.org/drawingml/2006/main"/>
          <a:p xmlns:a="http://schemas.openxmlformats.org/drawingml/2006/main">
            <a:pPr>
              <a:defRPr sz="1575">
                <a:solidFill>
                  <a:srgbClr val="536B78"/>
                </a:solidFill>
                <a:latin typeface="Malgun Gothic"/>
                <a:ea typeface="Malgun Gothic"/>
                <a:cs typeface="Malgun Gothic"/>
              </a:defRPr>
            </a:pPr>
          </a:p>
        </c:txPr>
        <c:crossAx val="48672768"/>
      </c:catAx>
      <c:valAx>
        <c:axId val="48672768"/>
        <c:scaling>
          <c:orientation val="minMax"/>
          <c:max val="8500"/>
          <c:min val="0"/>
        </c:scaling>
        <c:delete val="0"/>
        <c:axPos val="l"/>
        <c:majorGridlines>
          <c:spPr>
            <a:ln xmlns:a="http://schemas.openxmlformats.org/drawingml/2006/main" w="6668">
              <a:solidFill>
                <a:srgbClr val="CDD8D9"/>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36B78"/>
                </a:solidFill>
                <a:latin typeface="Malgun Gothic"/>
                <a:ea typeface="Malgun Gothic"/>
                <a:cs typeface="Malgun Gothic"/>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92638"/>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b7f5cf327eab49d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0.6207353515697319">
            <a:extLst xmlns:a="http://schemas.openxmlformats.org/drawingml/2006/main">
              <a:ext uri="{FF2B5EF4-FFF2-40B4-BE49-F238E27FC236}">
                <a16:creationId xmlns:a16="http://schemas.microsoft.com/office/drawing/2014/main" id="{5DBFC06D-8822-4FAB-B50E-A410D601BF90}"/>
              </a:ext>
            </a:extLst>
          </p:cNvPr>
          <p:cNvSpPr>
            <a:spLocks xmlns:a="http://schemas.openxmlformats.org/drawingml/2006/main" noGrp="1"/>
          </p:cNvSpPr>
          <p:nvPr/>
        </p:nvSpPr>
        <p:spPr>
          <a:xfrm xmlns:a="http://schemas.openxmlformats.org/drawingml/2006/main">
            <a:off x="609600" y="819150"/>
            <a:ext cx="857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300" b="1">
                <a:solidFill>
                  <a:srgbClr val="FFFFFF"/>
                </a:solidFill>
                <a:latin typeface="Arial"/>
                <a:ea typeface="Arial"/>
                <a:cs typeface="Arial"/>
              </a:defRPr>
            </a:pPr>
            <a:r>
              <a:rPr sz="6300" b="1">
                <a:solidFill>
                  <a:srgbClr val="FFFFFF"/>
                </a:solidFill>
                <a:latin typeface="Arial"/>
                <a:ea typeface="Arial"/>
                <a:cs typeface="Arial"/>
              </a:rPr>
              <a:t>OLIGO-K</a:t>
            </a:r>
          </a:p>
        </p:txBody>
      </p:sp>
      <p:sp>
        <p:nvSpPr>
          <p:cNvPr id="3" name="text-1">
            <a:extLst xmlns:a="http://schemas.openxmlformats.org/drawingml/2006/main">
              <a:ext uri="{FF2B5EF4-FFF2-40B4-BE49-F238E27FC236}">
                <a16:creationId xmlns:a16="http://schemas.microsoft.com/office/drawing/2014/main" id="{2A05729E-1329-47B8-BA0F-0E13E1924D1D}"/>
              </a:ext>
            </a:extLst>
          </p:cNvPr>
          <p:cNvSpPr>
            <a:spLocks xmlns:a="http://schemas.openxmlformats.org/drawingml/2006/main" noGrp="1"/>
          </p:cNvSpPr>
          <p:nvPr/>
        </p:nvSpPr>
        <p:spPr>
          <a:xfrm xmlns:a="http://schemas.openxmlformats.org/drawingml/2006/main">
            <a:off x="647700" y="2305050"/>
            <a:ext cx="9810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FFFF"/>
                </a:solidFill>
                <a:latin typeface="Malgun Gothic"/>
                <a:ea typeface="Malgun Gothic"/>
                <a:cs typeface="Malgun Gothic"/>
              </a:defRPr>
            </a:pPr>
            <a:r>
              <a:rPr sz="4350" b="1">
                <a:solidFill>
                  <a:srgbClr val="FFFFFF"/>
                </a:solidFill>
                <a:latin typeface="Malgun Gothic"/>
                <a:ea typeface="Malgun Gothic"/>
                <a:cs typeface="Malgun Gothic"/>
              </a:rPr>
              <a:t>지역 관광 데이터를</a:t>
            </a:r>
          </a:p>
          <a:p xmlns:a="http://schemas.openxmlformats.org/drawingml/2006/main">
            <a:pPr algn="l">
              <a:defRPr sz="4350" b="1">
                <a:solidFill>
                  <a:srgbClr val="FFFFFF"/>
                </a:solidFill>
                <a:latin typeface="Malgun Gothic"/>
                <a:ea typeface="Malgun Gothic"/>
                <a:cs typeface="Malgun Gothic"/>
              </a:defRPr>
            </a:pPr>
            <a:r>
              <a:rPr sz="4350" b="1">
                <a:solidFill>
                  <a:srgbClr val="FFFFFF"/>
                </a:solidFill>
                <a:latin typeface="Malgun Gothic"/>
                <a:ea typeface="Malgun Gothic"/>
                <a:cs typeface="Malgun Gothic"/>
              </a:rPr>
              <a:t>실행 기획안으로</a:t>
            </a:r>
          </a:p>
        </p:txBody>
      </p:sp>
      <p:sp>
        <p:nvSpPr>
          <p:cNvPr id="4" name="text-2">
            <a:extLst xmlns:a="http://schemas.openxmlformats.org/drawingml/2006/main">
              <a:ext uri="{FF2B5EF4-FFF2-40B4-BE49-F238E27FC236}">
                <a16:creationId xmlns:a16="http://schemas.microsoft.com/office/drawing/2014/main" id="{DB2BA5AC-030B-4B54-9254-5D6AD80291C0}"/>
              </a:ext>
            </a:extLst>
          </p:cNvPr>
          <p:cNvSpPr>
            <a:spLocks xmlns:a="http://schemas.openxmlformats.org/drawingml/2006/main" noGrp="1"/>
          </p:cNvSpPr>
          <p:nvPr/>
        </p:nvSpPr>
        <p:spPr>
          <a:xfrm xmlns:a="http://schemas.openxmlformats.org/drawingml/2006/main">
            <a:off x="666750" y="4362450"/>
            <a:ext cx="981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A9DEDE"/>
                </a:solidFill>
                <a:latin typeface="Malgun Gothic"/>
                <a:ea typeface="Malgun Gothic"/>
                <a:cs typeface="Malgun Gothic"/>
              </a:defRPr>
            </a:pPr>
            <a:r>
              <a:rPr sz="2025" b="0">
                <a:solidFill>
                  <a:srgbClr val="A9DEDE"/>
                </a:solidFill>
                <a:latin typeface="Malgun Gothic"/>
                <a:ea typeface="Malgun Gothic"/>
                <a:cs typeface="Malgun Gothic"/>
              </a:rPr>
              <a:t>공식 데이터 · 머신러닝 · 근거 기반 AI</a:t>
            </a:r>
          </a:p>
        </p:txBody>
      </p:sp>
      <p:sp>
        <p:nvSpPr>
          <p:cNvPr id="5" name="text-3">
            <a:extLst xmlns:a="http://schemas.openxmlformats.org/drawingml/2006/main">
              <a:ext uri="{FF2B5EF4-FFF2-40B4-BE49-F238E27FC236}">
                <a16:creationId xmlns:a16="http://schemas.microsoft.com/office/drawing/2014/main" id="{3A6EA904-0F12-4471-889A-8750F6DBC120}"/>
              </a:ext>
            </a:extLst>
          </p:cNvPr>
          <p:cNvSpPr>
            <a:spLocks xmlns:a="http://schemas.openxmlformats.org/drawingml/2006/main" noGrp="1"/>
          </p:cNvSpPr>
          <p:nvPr/>
        </p:nvSpPr>
        <p:spPr>
          <a:xfrm xmlns:a="http://schemas.openxmlformats.org/drawingml/2006/main">
            <a:off x="666750" y="6172200"/>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FFFFFF"/>
                </a:solidFill>
                <a:latin typeface="Malgun Gothic"/>
                <a:ea typeface="Malgun Gothic"/>
                <a:cs typeface="Malgun Gothic"/>
              </a:defRPr>
            </a:pPr>
            <a:r>
              <a:rPr sz="1500" b="0">
                <a:solidFill>
                  <a:srgbClr val="FFFFFF"/>
                </a:solidFill>
                <a:latin typeface="Malgun Gothic"/>
                <a:ea typeface="Malgun Gothic"/>
                <a:cs typeface="Malgun Gothic"/>
              </a:rPr>
              <a:t>프로젝트 발표 초안    2026.09</a:t>
            </a:r>
          </a:p>
        </p:txBody>
      </p:sp>
    </p:spTree>
    <p:extLst>
      <p:ext uri="{BB962C8B-B14F-4D97-AF65-F5344CB8AC3E}">
        <p14:creationId xmlns:p14="http://schemas.microsoft.com/office/powerpoint/2010/main" val="1062672050"/>
      </p:ext>
    </p:extLst>
  </p:cSld>
</p:sld>
</file>

<file path=ppt/slides/slide2.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24" name="text-0.615835574627405">
            <a:extLst xmlns:a="http://schemas.openxmlformats.org/drawingml/2006/main">
              <a:ext uri="{FF2B5EF4-FFF2-40B4-BE49-F238E27FC236}">
                <a16:creationId xmlns:a16="http://schemas.microsoft.com/office/drawing/2014/main" id="{97EAE27B-0AF2-4A5A-81B8-B1E1FF9C3698}"/>
              </a:ext>
            </a:extLst>
          </p:cNvPr>
          <p:cNvSpPr>
            <a:spLocks xmlns:a="http://schemas.openxmlformats.org/drawingml/2006/main" noGrp="1"/>
          </p:cNvSpPr>
          <p:nvPr/>
        </p:nvSpPr>
        <p:spPr>
          <a:xfrm xmlns:a="http://schemas.openxmlformats.org/drawingml/2006/main">
            <a:off x="571500" y="3048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87F82"/>
                </a:solidFill>
                <a:latin typeface="Malgun Gothic"/>
                <a:ea typeface="Malgun Gothic"/>
                <a:cs typeface="Malgun Gothic"/>
              </a:defRPr>
            </a:pPr>
            <a:r>
              <a:rPr sz="1200" b="1">
                <a:solidFill>
                  <a:srgbClr val="087F82"/>
                </a:solidFill>
                <a:latin typeface="Malgun Gothic"/>
                <a:ea typeface="Malgun Gothic"/>
                <a:cs typeface="Malgun Gothic"/>
              </a:rPr>
              <a:t>발표 구성</a:t>
            </a:r>
          </a:p>
        </p:txBody>
      </p:sp>
      <p:sp>
        <p:nvSpPr>
          <p:cNvPr id="2" name="text-1">
            <a:extLst xmlns:a="http://schemas.openxmlformats.org/drawingml/2006/main">
              <a:ext uri="{FF2B5EF4-FFF2-40B4-BE49-F238E27FC236}">
                <a16:creationId xmlns:a16="http://schemas.microsoft.com/office/drawing/2014/main" id="{E2A707AD-56E7-4540-A8BE-B82D6E6E0F93}"/>
              </a:ext>
            </a:extLst>
          </p:cNvPr>
          <p:cNvSpPr>
            <a:spLocks xmlns:a="http://schemas.openxmlformats.org/drawingml/2006/main" noGrp="1"/>
          </p:cNvSpPr>
          <p:nvPr/>
        </p:nvSpPr>
        <p:spPr>
          <a:xfrm xmlns:a="http://schemas.openxmlformats.org/drawingml/2006/main">
            <a:off x="571500" y="76200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02F40"/>
                </a:solidFill>
                <a:latin typeface="Malgun Gothic"/>
                <a:ea typeface="Malgun Gothic"/>
                <a:cs typeface="Malgun Gothic"/>
              </a:defRPr>
            </a:pPr>
            <a:r>
              <a:rPr sz="3300" b="1">
                <a:solidFill>
                  <a:srgbClr val="102F40"/>
                </a:solidFill>
                <a:latin typeface="Malgun Gothic"/>
                <a:ea typeface="Malgun Gothic"/>
                <a:cs typeface="Malgun Gothic"/>
              </a:rPr>
              <a:t>오늘 설명할 여섯 가지</a:t>
            </a:r>
          </a:p>
        </p:txBody>
      </p:sp>
      <p:sp>
        <p:nvSpPr>
          <p:cNvPr id="3" name="">
            <a:extLst xmlns:a="http://schemas.openxmlformats.org/drawingml/2006/main">
              <a:ext uri="{FF2B5EF4-FFF2-40B4-BE49-F238E27FC236}">
                <a16:creationId xmlns:a16="http://schemas.microsoft.com/office/drawing/2014/main" id="{E23AB6CF-4935-4883-9BBD-5D5F309628EC}"/>
              </a:ext>
            </a:extLst>
          </p:cNvPr>
          <p:cNvSpPr>
            <a:spLocks xmlns:a="http://schemas.openxmlformats.org/drawingml/2006/main" noGrp="1"/>
          </p:cNvSpPr>
          <p:nvPr/>
        </p:nvSpPr>
        <p:spPr>
          <a:xfrm xmlns:a="http://schemas.openxmlformats.org/drawingml/2006/main">
            <a:off x="571500" y="6324600"/>
            <a:ext cx="11049000" cy="0"/>
          </a:xfrm>
          <a:prstGeom xmlns:a="http://schemas.openxmlformats.org/drawingml/2006/main" prst="line">
            <a:avLst/>
          </a:prstGeom>
          <a:noFill xmlns:a="http://schemas.openxmlformats.org/drawingml/2006/main"/>
          <a:ln xmlns:a="http://schemas.openxmlformats.org/drawingml/2006/main" w="9525">
            <a:solidFill>
              <a:srgbClr val="CDD8D9"/>
            </a:solidFill>
            <a:prstDash val="solid"/>
          </a:ln>
        </p:spPr>
      </p:sp>
      <p:sp>
        <p:nvSpPr>
          <p:cNvPr id="4" name="text-3">
            <a:extLst xmlns:a="http://schemas.openxmlformats.org/drawingml/2006/main">
              <a:ext uri="{FF2B5EF4-FFF2-40B4-BE49-F238E27FC236}">
                <a16:creationId xmlns:a16="http://schemas.microsoft.com/office/drawing/2014/main" id="{90DABFE0-0181-41CB-9439-0B85C01CA0C8}"/>
              </a:ext>
            </a:extLst>
          </p:cNvPr>
          <p:cNvSpPr>
            <a:spLocks xmlns:a="http://schemas.openxmlformats.org/drawingml/2006/main" noGrp="1"/>
          </p:cNvSpPr>
          <p:nvPr/>
        </p:nvSpPr>
        <p:spPr>
          <a:xfrm xmlns:a="http://schemas.openxmlformats.org/drawingml/2006/main">
            <a:off x="571500" y="64960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36B78"/>
                </a:solidFill>
                <a:latin typeface="Arial"/>
                <a:ea typeface="Arial"/>
                <a:cs typeface="Arial"/>
              </a:defRPr>
            </a:pPr>
            <a:r>
              <a:rPr sz="1050" b="1">
                <a:solidFill>
                  <a:srgbClr val="536B78"/>
                </a:solidFill>
                <a:latin typeface="Arial"/>
                <a:ea typeface="Arial"/>
                <a:cs typeface="Arial"/>
              </a:rPr>
              <a:t>OLIGO-K</a:t>
            </a:r>
          </a:p>
        </p:txBody>
      </p:sp>
      <p:sp>
        <p:nvSpPr>
          <p:cNvPr id="5" name="text-4">
            <a:extLst xmlns:a="http://schemas.openxmlformats.org/drawingml/2006/main">
              <a:ext uri="{FF2B5EF4-FFF2-40B4-BE49-F238E27FC236}">
                <a16:creationId xmlns:a16="http://schemas.microsoft.com/office/drawing/2014/main" id="{50CC0698-56E7-42B5-A1EF-CB5DFE2FC52C}"/>
              </a:ext>
            </a:extLst>
          </p:cNvPr>
          <p:cNvSpPr>
            <a:spLocks xmlns:a="http://schemas.openxmlformats.org/drawingml/2006/main" noGrp="1"/>
          </p:cNvSpPr>
          <p:nvPr/>
        </p:nvSpPr>
        <p:spPr>
          <a:xfrm xmlns:a="http://schemas.openxmlformats.org/drawingml/2006/main">
            <a:off x="11049000" y="64674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1">
                <a:solidFill>
                  <a:srgbClr val="087F82"/>
                </a:solidFill>
                <a:latin typeface="Arial"/>
                <a:ea typeface="Arial"/>
                <a:cs typeface="Arial"/>
              </a:defRPr>
            </a:pPr>
            <a:r>
              <a:rPr sz="1350" b="1">
                <a:solidFill>
                  <a:srgbClr val="087F82"/>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9FC24A66-EAE9-47B6-9774-CBB187D830CA}"/>
              </a:ext>
            </a:extLst>
          </p:cNvPr>
          <p:cNvSpPr>
            <a:spLocks xmlns:a="http://schemas.openxmlformats.org/drawingml/2006/main" noGrp="1"/>
          </p:cNvSpPr>
          <p:nvPr/>
        </p:nvSpPr>
        <p:spPr>
          <a:xfrm xmlns:a="http://schemas.openxmlformats.org/drawingml/2006/main">
            <a:off x="571500" y="213360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087F82"/>
                </a:solidFill>
                <a:latin typeface="Arial"/>
                <a:ea typeface="Arial"/>
                <a:cs typeface="Arial"/>
              </a:defRPr>
            </a:pPr>
            <a:r>
              <a:rPr sz="2850" b="1">
                <a:solidFill>
                  <a:srgbClr val="087F82"/>
                </a:solidFill>
                <a:latin typeface="Arial"/>
                <a:ea typeface="Arial"/>
                <a:cs typeface="Arial"/>
              </a:rPr>
              <a:t>01</a:t>
            </a:r>
          </a:p>
        </p:txBody>
      </p:sp>
      <p:sp>
        <p:nvSpPr>
          <p:cNvPr id="7" name="text-6">
            <a:extLst xmlns:a="http://schemas.openxmlformats.org/drawingml/2006/main">
              <a:ext uri="{FF2B5EF4-FFF2-40B4-BE49-F238E27FC236}">
                <a16:creationId xmlns:a16="http://schemas.microsoft.com/office/drawing/2014/main" id="{5309449D-6152-450B-916E-9DA4A30AB0EF}"/>
              </a:ext>
            </a:extLst>
          </p:cNvPr>
          <p:cNvSpPr>
            <a:spLocks xmlns:a="http://schemas.openxmlformats.org/drawingml/2006/main" noGrp="1"/>
          </p:cNvSpPr>
          <p:nvPr/>
        </p:nvSpPr>
        <p:spPr>
          <a:xfrm xmlns:a="http://schemas.openxmlformats.org/drawingml/2006/main">
            <a:off x="1390650" y="2133600"/>
            <a:ext cx="438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02F40"/>
                </a:solidFill>
                <a:latin typeface="Malgun Gothic"/>
                <a:ea typeface="Malgun Gothic"/>
                <a:cs typeface="Malgun Gothic"/>
              </a:defRPr>
            </a:pPr>
            <a:r>
              <a:rPr sz="2250" b="1">
                <a:solidFill>
                  <a:srgbClr val="102F40"/>
                </a:solidFill>
                <a:latin typeface="Malgun Gothic"/>
                <a:ea typeface="Malgun Gothic"/>
                <a:cs typeface="Malgun Gothic"/>
              </a:rPr>
              <a:t>서비스의 출발점</a:t>
            </a:r>
          </a:p>
        </p:txBody>
      </p:sp>
      <p:sp>
        <p:nvSpPr>
          <p:cNvPr id="8" name="text-7">
            <a:extLst xmlns:a="http://schemas.openxmlformats.org/drawingml/2006/main">
              <a:ext uri="{FF2B5EF4-FFF2-40B4-BE49-F238E27FC236}">
                <a16:creationId xmlns:a16="http://schemas.microsoft.com/office/drawing/2014/main" id="{B5383511-6042-47B6-8884-7EAF2DD957BE}"/>
              </a:ext>
            </a:extLst>
          </p:cNvPr>
          <p:cNvSpPr>
            <a:spLocks xmlns:a="http://schemas.openxmlformats.org/drawingml/2006/main" noGrp="1"/>
          </p:cNvSpPr>
          <p:nvPr/>
        </p:nvSpPr>
        <p:spPr>
          <a:xfrm xmlns:a="http://schemas.openxmlformats.org/drawingml/2006/main">
            <a:off x="1390650" y="2619375"/>
            <a:ext cx="4429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B78"/>
                </a:solidFill>
                <a:latin typeface="Malgun Gothic"/>
                <a:ea typeface="Malgun Gothic"/>
                <a:cs typeface="Malgun Gothic"/>
              </a:defRPr>
            </a:pPr>
            <a:r>
              <a:rPr sz="1725" b="0">
                <a:solidFill>
                  <a:srgbClr val="536B78"/>
                </a:solidFill>
                <a:latin typeface="Malgun Gothic"/>
                <a:ea typeface="Malgun Gothic"/>
                <a:cs typeface="Malgun Gothic"/>
              </a:rPr>
              <a:t>왜 만들었고 누가 사용하는가</a:t>
            </a:r>
          </a:p>
        </p:txBody>
      </p:sp>
      <p:sp>
        <p:nvSpPr>
          <p:cNvPr id="9" name="text-8">
            <a:extLst xmlns:a="http://schemas.openxmlformats.org/drawingml/2006/main">
              <a:ext uri="{FF2B5EF4-FFF2-40B4-BE49-F238E27FC236}">
                <a16:creationId xmlns:a16="http://schemas.microsoft.com/office/drawing/2014/main" id="{0D14850F-3210-4FDA-9CA0-BE23BC375EA2}"/>
              </a:ext>
            </a:extLst>
          </p:cNvPr>
          <p:cNvSpPr>
            <a:spLocks xmlns:a="http://schemas.openxmlformats.org/drawingml/2006/main" noGrp="1"/>
          </p:cNvSpPr>
          <p:nvPr/>
        </p:nvSpPr>
        <p:spPr>
          <a:xfrm xmlns:a="http://schemas.openxmlformats.org/drawingml/2006/main">
            <a:off x="571500" y="340995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087F82"/>
                </a:solidFill>
                <a:latin typeface="Arial"/>
                <a:ea typeface="Arial"/>
                <a:cs typeface="Arial"/>
              </a:defRPr>
            </a:pPr>
            <a:r>
              <a:rPr sz="2850" b="1">
                <a:solidFill>
                  <a:srgbClr val="087F82"/>
                </a:solidFill>
                <a:latin typeface="Arial"/>
                <a:ea typeface="Arial"/>
                <a:cs typeface="Arial"/>
              </a:rPr>
              <a:t>02</a:t>
            </a:r>
          </a:p>
        </p:txBody>
      </p:sp>
      <p:sp>
        <p:nvSpPr>
          <p:cNvPr id="10" name="text-9">
            <a:extLst xmlns:a="http://schemas.openxmlformats.org/drawingml/2006/main">
              <a:ext uri="{FF2B5EF4-FFF2-40B4-BE49-F238E27FC236}">
                <a16:creationId xmlns:a16="http://schemas.microsoft.com/office/drawing/2014/main" id="{432BFC83-C0B9-4D14-976A-2C8FAA8360F9}"/>
              </a:ext>
            </a:extLst>
          </p:cNvPr>
          <p:cNvSpPr>
            <a:spLocks xmlns:a="http://schemas.openxmlformats.org/drawingml/2006/main" noGrp="1"/>
          </p:cNvSpPr>
          <p:nvPr/>
        </p:nvSpPr>
        <p:spPr>
          <a:xfrm xmlns:a="http://schemas.openxmlformats.org/drawingml/2006/main">
            <a:off x="1390650" y="3409950"/>
            <a:ext cx="438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02F40"/>
                </a:solidFill>
                <a:latin typeface="Malgun Gothic"/>
                <a:ea typeface="Malgun Gothic"/>
                <a:cs typeface="Malgun Gothic"/>
              </a:defRPr>
            </a:pPr>
            <a:r>
              <a:rPr sz="2250" b="1">
                <a:solidFill>
                  <a:srgbClr val="102F40"/>
                </a:solidFill>
                <a:latin typeface="Malgun Gothic"/>
                <a:ea typeface="Malgun Gothic"/>
                <a:cs typeface="Malgun Gothic"/>
              </a:rPr>
              <a:t>사용자의 업무 흐름</a:t>
            </a:r>
          </a:p>
        </p:txBody>
      </p:sp>
      <p:sp>
        <p:nvSpPr>
          <p:cNvPr id="11" name="text-10">
            <a:extLst xmlns:a="http://schemas.openxmlformats.org/drawingml/2006/main">
              <a:ext uri="{FF2B5EF4-FFF2-40B4-BE49-F238E27FC236}">
                <a16:creationId xmlns:a16="http://schemas.microsoft.com/office/drawing/2014/main" id="{E4451584-5438-4054-8CF1-9CFB7FEA9AC6}"/>
              </a:ext>
            </a:extLst>
          </p:cNvPr>
          <p:cNvSpPr>
            <a:spLocks xmlns:a="http://schemas.openxmlformats.org/drawingml/2006/main" noGrp="1"/>
          </p:cNvSpPr>
          <p:nvPr/>
        </p:nvSpPr>
        <p:spPr>
          <a:xfrm xmlns:a="http://schemas.openxmlformats.org/drawingml/2006/main">
            <a:off x="1390650" y="3895725"/>
            <a:ext cx="4429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B78"/>
                </a:solidFill>
                <a:latin typeface="Malgun Gothic"/>
                <a:ea typeface="Malgun Gothic"/>
                <a:cs typeface="Malgun Gothic"/>
              </a:defRPr>
            </a:pPr>
            <a:r>
              <a:rPr sz="1725" b="0">
                <a:solidFill>
                  <a:srgbClr val="536B78"/>
                </a:solidFill>
                <a:latin typeface="Malgun Gothic"/>
                <a:ea typeface="Malgun Gothic"/>
                <a:cs typeface="Malgun Gothic"/>
              </a:rPr>
              <a:t>지역 선택부터 문서 출력까지</a:t>
            </a:r>
          </a:p>
        </p:txBody>
      </p:sp>
      <p:sp>
        <p:nvSpPr>
          <p:cNvPr id="12" name="text-11">
            <a:extLst xmlns:a="http://schemas.openxmlformats.org/drawingml/2006/main">
              <a:ext uri="{FF2B5EF4-FFF2-40B4-BE49-F238E27FC236}">
                <a16:creationId xmlns:a16="http://schemas.microsoft.com/office/drawing/2014/main" id="{619EA129-CFE2-4E6A-A1D0-04F5839008D4}"/>
              </a:ext>
            </a:extLst>
          </p:cNvPr>
          <p:cNvSpPr>
            <a:spLocks xmlns:a="http://schemas.openxmlformats.org/drawingml/2006/main" noGrp="1"/>
          </p:cNvSpPr>
          <p:nvPr/>
        </p:nvSpPr>
        <p:spPr>
          <a:xfrm xmlns:a="http://schemas.openxmlformats.org/drawingml/2006/main">
            <a:off x="571500" y="468630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087F82"/>
                </a:solidFill>
                <a:latin typeface="Arial"/>
                <a:ea typeface="Arial"/>
                <a:cs typeface="Arial"/>
              </a:defRPr>
            </a:pPr>
            <a:r>
              <a:rPr sz="2850" b="1">
                <a:solidFill>
                  <a:srgbClr val="087F82"/>
                </a:solidFill>
                <a:latin typeface="Arial"/>
                <a:ea typeface="Arial"/>
                <a:cs typeface="Arial"/>
              </a:rPr>
              <a:t>03</a:t>
            </a:r>
          </a:p>
        </p:txBody>
      </p:sp>
      <p:sp>
        <p:nvSpPr>
          <p:cNvPr id="13" name="text-12">
            <a:extLst xmlns:a="http://schemas.openxmlformats.org/drawingml/2006/main">
              <a:ext uri="{FF2B5EF4-FFF2-40B4-BE49-F238E27FC236}">
                <a16:creationId xmlns:a16="http://schemas.microsoft.com/office/drawing/2014/main" id="{628F4A44-8435-4125-AC05-11D801687B47}"/>
              </a:ext>
            </a:extLst>
          </p:cNvPr>
          <p:cNvSpPr>
            <a:spLocks xmlns:a="http://schemas.openxmlformats.org/drawingml/2006/main" noGrp="1"/>
          </p:cNvSpPr>
          <p:nvPr/>
        </p:nvSpPr>
        <p:spPr>
          <a:xfrm xmlns:a="http://schemas.openxmlformats.org/drawingml/2006/main">
            <a:off x="1390650" y="4686300"/>
            <a:ext cx="438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02F40"/>
                </a:solidFill>
                <a:latin typeface="Malgun Gothic"/>
                <a:ea typeface="Malgun Gothic"/>
                <a:cs typeface="Malgun Gothic"/>
              </a:defRPr>
            </a:pPr>
            <a:r>
              <a:rPr sz="2250" b="1">
                <a:solidFill>
                  <a:srgbClr val="102F40"/>
                </a:solidFill>
                <a:latin typeface="Malgun Gothic"/>
                <a:ea typeface="Malgun Gothic"/>
                <a:cs typeface="Malgun Gothic"/>
              </a:rPr>
              <a:t>시스템과 머신러닝</a:t>
            </a:r>
          </a:p>
        </p:txBody>
      </p:sp>
      <p:sp>
        <p:nvSpPr>
          <p:cNvPr id="14" name="text-13">
            <a:extLst xmlns:a="http://schemas.openxmlformats.org/drawingml/2006/main">
              <a:ext uri="{FF2B5EF4-FFF2-40B4-BE49-F238E27FC236}">
                <a16:creationId xmlns:a16="http://schemas.microsoft.com/office/drawing/2014/main" id="{DE9E2321-158A-4529-A457-43F349B721C4}"/>
              </a:ext>
            </a:extLst>
          </p:cNvPr>
          <p:cNvSpPr>
            <a:spLocks xmlns:a="http://schemas.openxmlformats.org/drawingml/2006/main" noGrp="1"/>
          </p:cNvSpPr>
          <p:nvPr/>
        </p:nvSpPr>
        <p:spPr>
          <a:xfrm xmlns:a="http://schemas.openxmlformats.org/drawingml/2006/main">
            <a:off x="1390650" y="5172075"/>
            <a:ext cx="4429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B78"/>
                </a:solidFill>
                <a:latin typeface="Malgun Gothic"/>
                <a:ea typeface="Malgun Gothic"/>
                <a:cs typeface="Malgun Gothic"/>
              </a:defRPr>
            </a:pPr>
            <a:r>
              <a:rPr sz="1725" b="0">
                <a:solidFill>
                  <a:srgbClr val="536B78"/>
                </a:solidFill>
                <a:latin typeface="Malgun Gothic"/>
                <a:ea typeface="Malgun Gothic"/>
                <a:cs typeface="Malgun Gothic"/>
              </a:rPr>
              <a:t>데이터 구조와 미래 전망의 계산</a:t>
            </a:r>
          </a:p>
        </p:txBody>
      </p:sp>
      <p:sp>
        <p:nvSpPr>
          <p:cNvPr id="15" name="text-14">
            <a:extLst xmlns:a="http://schemas.openxmlformats.org/drawingml/2006/main">
              <a:ext uri="{FF2B5EF4-FFF2-40B4-BE49-F238E27FC236}">
                <a16:creationId xmlns:a16="http://schemas.microsoft.com/office/drawing/2014/main" id="{DAA53B86-58FD-477E-9E86-FA5B4C0B77C5}"/>
              </a:ext>
            </a:extLst>
          </p:cNvPr>
          <p:cNvSpPr>
            <a:spLocks xmlns:a="http://schemas.openxmlformats.org/drawingml/2006/main" noGrp="1"/>
          </p:cNvSpPr>
          <p:nvPr/>
        </p:nvSpPr>
        <p:spPr>
          <a:xfrm xmlns:a="http://schemas.openxmlformats.org/drawingml/2006/main">
            <a:off x="6286500" y="213360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087F82"/>
                </a:solidFill>
                <a:latin typeface="Arial"/>
                <a:ea typeface="Arial"/>
                <a:cs typeface="Arial"/>
              </a:defRPr>
            </a:pPr>
            <a:r>
              <a:rPr sz="2850" b="1">
                <a:solidFill>
                  <a:srgbClr val="087F82"/>
                </a:solidFill>
                <a:latin typeface="Arial"/>
                <a:ea typeface="Arial"/>
                <a:cs typeface="Arial"/>
              </a:rPr>
              <a:t>04</a:t>
            </a:r>
          </a:p>
        </p:txBody>
      </p:sp>
      <p:sp>
        <p:nvSpPr>
          <p:cNvPr id="16" name="text-15">
            <a:extLst xmlns:a="http://schemas.openxmlformats.org/drawingml/2006/main">
              <a:ext uri="{FF2B5EF4-FFF2-40B4-BE49-F238E27FC236}">
                <a16:creationId xmlns:a16="http://schemas.microsoft.com/office/drawing/2014/main" id="{B0203F1D-5756-4384-AA39-B362D119FC0B}"/>
              </a:ext>
            </a:extLst>
          </p:cNvPr>
          <p:cNvSpPr>
            <a:spLocks xmlns:a="http://schemas.openxmlformats.org/drawingml/2006/main" noGrp="1"/>
          </p:cNvSpPr>
          <p:nvPr/>
        </p:nvSpPr>
        <p:spPr>
          <a:xfrm xmlns:a="http://schemas.openxmlformats.org/drawingml/2006/main">
            <a:off x="7105650" y="2133600"/>
            <a:ext cx="438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02F40"/>
                </a:solidFill>
                <a:latin typeface="Malgun Gothic"/>
                <a:ea typeface="Malgun Gothic"/>
                <a:cs typeface="Malgun Gothic"/>
              </a:defRPr>
            </a:pPr>
            <a:r>
              <a:rPr sz="2250" b="1">
                <a:solidFill>
                  <a:srgbClr val="102F40"/>
                </a:solidFill>
                <a:latin typeface="Malgun Gothic"/>
                <a:ea typeface="Malgun Gothic"/>
                <a:cs typeface="Malgun Gothic"/>
              </a:rPr>
              <a:t>AI와 근거 검색</a:t>
            </a:r>
          </a:p>
        </p:txBody>
      </p:sp>
      <p:sp>
        <p:nvSpPr>
          <p:cNvPr id="17" name="text-16">
            <a:extLst xmlns:a="http://schemas.openxmlformats.org/drawingml/2006/main">
              <a:ext uri="{FF2B5EF4-FFF2-40B4-BE49-F238E27FC236}">
                <a16:creationId xmlns:a16="http://schemas.microsoft.com/office/drawing/2014/main" id="{61341086-0CE2-45CD-B081-C3EEAF672DC4}"/>
              </a:ext>
            </a:extLst>
          </p:cNvPr>
          <p:cNvSpPr>
            <a:spLocks xmlns:a="http://schemas.openxmlformats.org/drawingml/2006/main" noGrp="1"/>
          </p:cNvSpPr>
          <p:nvPr/>
        </p:nvSpPr>
        <p:spPr>
          <a:xfrm xmlns:a="http://schemas.openxmlformats.org/drawingml/2006/main">
            <a:off x="7105650" y="2619375"/>
            <a:ext cx="4429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B78"/>
                </a:solidFill>
                <a:latin typeface="Malgun Gothic"/>
                <a:ea typeface="Malgun Gothic"/>
                <a:cs typeface="Malgun Gothic"/>
              </a:defRPr>
            </a:pPr>
            <a:r>
              <a:rPr sz="1725" b="0">
                <a:solidFill>
                  <a:srgbClr val="536B78"/>
                </a:solidFill>
                <a:latin typeface="Malgun Gothic"/>
                <a:ea typeface="Malgun Gothic"/>
                <a:cs typeface="Malgun Gothic"/>
              </a:rPr>
              <a:t>Agent, 로컬 LLM, RAG의 역할</a:t>
            </a:r>
          </a:p>
        </p:txBody>
      </p:sp>
      <p:sp>
        <p:nvSpPr>
          <p:cNvPr id="18" name="text-17">
            <a:extLst xmlns:a="http://schemas.openxmlformats.org/drawingml/2006/main">
              <a:ext uri="{FF2B5EF4-FFF2-40B4-BE49-F238E27FC236}">
                <a16:creationId xmlns:a16="http://schemas.microsoft.com/office/drawing/2014/main" id="{6D53C2A2-46FE-4F66-9E00-88958B9DAC82}"/>
              </a:ext>
            </a:extLst>
          </p:cNvPr>
          <p:cNvSpPr>
            <a:spLocks xmlns:a="http://schemas.openxmlformats.org/drawingml/2006/main" noGrp="1"/>
          </p:cNvSpPr>
          <p:nvPr/>
        </p:nvSpPr>
        <p:spPr>
          <a:xfrm xmlns:a="http://schemas.openxmlformats.org/drawingml/2006/main">
            <a:off x="6286500" y="340995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087F82"/>
                </a:solidFill>
                <a:latin typeface="Arial"/>
                <a:ea typeface="Arial"/>
                <a:cs typeface="Arial"/>
              </a:defRPr>
            </a:pPr>
            <a:r>
              <a:rPr sz="2850" b="1">
                <a:solidFill>
                  <a:srgbClr val="087F82"/>
                </a:solidFill>
                <a:latin typeface="Arial"/>
                <a:ea typeface="Arial"/>
                <a:cs typeface="Arial"/>
              </a:rPr>
              <a:t>05</a:t>
            </a:r>
          </a:p>
        </p:txBody>
      </p:sp>
      <p:sp>
        <p:nvSpPr>
          <p:cNvPr id="19" name="text-18">
            <a:extLst xmlns:a="http://schemas.openxmlformats.org/drawingml/2006/main">
              <a:ext uri="{FF2B5EF4-FFF2-40B4-BE49-F238E27FC236}">
                <a16:creationId xmlns:a16="http://schemas.microsoft.com/office/drawing/2014/main" id="{6AA5B151-FF59-4CE8-BBBC-C3E3BA8A2FB9}"/>
              </a:ext>
            </a:extLst>
          </p:cNvPr>
          <p:cNvSpPr>
            <a:spLocks xmlns:a="http://schemas.openxmlformats.org/drawingml/2006/main" noGrp="1"/>
          </p:cNvSpPr>
          <p:nvPr/>
        </p:nvSpPr>
        <p:spPr>
          <a:xfrm xmlns:a="http://schemas.openxmlformats.org/drawingml/2006/main">
            <a:off x="7105650" y="3409950"/>
            <a:ext cx="438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02F40"/>
                </a:solidFill>
                <a:latin typeface="Malgun Gothic"/>
                <a:ea typeface="Malgun Gothic"/>
                <a:cs typeface="Malgun Gothic"/>
              </a:defRPr>
            </a:pPr>
            <a:r>
              <a:rPr sz="2250" b="1">
                <a:solidFill>
                  <a:srgbClr val="102F40"/>
                </a:solidFill>
                <a:latin typeface="Malgun Gothic"/>
                <a:ea typeface="Malgun Gothic"/>
                <a:cs typeface="Malgun Gothic"/>
              </a:rPr>
              <a:t>기획 수치와 사례</a:t>
            </a:r>
          </a:p>
        </p:txBody>
      </p:sp>
      <p:sp>
        <p:nvSpPr>
          <p:cNvPr id="20" name="text-19">
            <a:extLst xmlns:a="http://schemas.openxmlformats.org/drawingml/2006/main">
              <a:ext uri="{FF2B5EF4-FFF2-40B4-BE49-F238E27FC236}">
                <a16:creationId xmlns:a16="http://schemas.microsoft.com/office/drawing/2014/main" id="{6B9097CC-2577-4FEE-B90C-CCA0B431BAEC}"/>
              </a:ext>
            </a:extLst>
          </p:cNvPr>
          <p:cNvSpPr>
            <a:spLocks xmlns:a="http://schemas.openxmlformats.org/drawingml/2006/main" noGrp="1"/>
          </p:cNvSpPr>
          <p:nvPr/>
        </p:nvSpPr>
        <p:spPr>
          <a:xfrm xmlns:a="http://schemas.openxmlformats.org/drawingml/2006/main">
            <a:off x="7105650" y="3895725"/>
            <a:ext cx="4429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B78"/>
                </a:solidFill>
                <a:latin typeface="Malgun Gothic"/>
                <a:ea typeface="Malgun Gothic"/>
                <a:cs typeface="Malgun Gothic"/>
              </a:defRPr>
            </a:pPr>
            <a:r>
              <a:rPr sz="1725" b="0">
                <a:solidFill>
                  <a:srgbClr val="536B78"/>
                </a:solidFill>
                <a:latin typeface="Malgun Gothic"/>
                <a:ea typeface="Malgun Gothic"/>
                <a:cs typeface="Malgun Gothic"/>
              </a:rPr>
              <a:t>선정 이유와 KPI·견적의 근거</a:t>
            </a:r>
          </a:p>
        </p:txBody>
      </p:sp>
      <p:sp>
        <p:nvSpPr>
          <p:cNvPr id="21" name="text-20">
            <a:extLst xmlns:a="http://schemas.openxmlformats.org/drawingml/2006/main">
              <a:ext uri="{FF2B5EF4-FFF2-40B4-BE49-F238E27FC236}">
                <a16:creationId xmlns:a16="http://schemas.microsoft.com/office/drawing/2014/main" id="{7D2FED68-9111-4488-A9A5-3E5577B3642C}"/>
              </a:ext>
            </a:extLst>
          </p:cNvPr>
          <p:cNvSpPr>
            <a:spLocks xmlns:a="http://schemas.openxmlformats.org/drawingml/2006/main" noGrp="1"/>
          </p:cNvSpPr>
          <p:nvPr/>
        </p:nvSpPr>
        <p:spPr>
          <a:xfrm xmlns:a="http://schemas.openxmlformats.org/drawingml/2006/main">
            <a:off x="6286500" y="468630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087F82"/>
                </a:solidFill>
                <a:latin typeface="Arial"/>
                <a:ea typeface="Arial"/>
                <a:cs typeface="Arial"/>
              </a:defRPr>
            </a:pPr>
            <a:r>
              <a:rPr sz="2850" b="1">
                <a:solidFill>
                  <a:srgbClr val="087F82"/>
                </a:solidFill>
                <a:latin typeface="Arial"/>
                <a:ea typeface="Arial"/>
                <a:cs typeface="Arial"/>
              </a:rPr>
              <a:t>06</a:t>
            </a:r>
          </a:p>
        </p:txBody>
      </p:sp>
      <p:sp>
        <p:nvSpPr>
          <p:cNvPr id="22" name="text-21">
            <a:extLst xmlns:a="http://schemas.openxmlformats.org/drawingml/2006/main">
              <a:ext uri="{FF2B5EF4-FFF2-40B4-BE49-F238E27FC236}">
                <a16:creationId xmlns:a16="http://schemas.microsoft.com/office/drawing/2014/main" id="{31AB11CE-911A-4C6A-B844-CBE593D5F65D}"/>
              </a:ext>
            </a:extLst>
          </p:cNvPr>
          <p:cNvSpPr>
            <a:spLocks xmlns:a="http://schemas.openxmlformats.org/drawingml/2006/main" noGrp="1"/>
          </p:cNvSpPr>
          <p:nvPr/>
        </p:nvSpPr>
        <p:spPr>
          <a:xfrm xmlns:a="http://schemas.openxmlformats.org/drawingml/2006/main">
            <a:off x="7105650" y="4686300"/>
            <a:ext cx="438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02F40"/>
                </a:solidFill>
                <a:latin typeface="Malgun Gothic"/>
                <a:ea typeface="Malgun Gothic"/>
                <a:cs typeface="Malgun Gothic"/>
              </a:defRPr>
            </a:pPr>
            <a:r>
              <a:rPr sz="2250" b="1">
                <a:solidFill>
                  <a:srgbClr val="102F40"/>
                </a:solidFill>
                <a:latin typeface="Malgun Gothic"/>
                <a:ea typeface="Malgun Gothic"/>
                <a:cs typeface="Malgun Gothic"/>
              </a:rPr>
              <a:t>배포와 검증</a:t>
            </a:r>
          </a:p>
        </p:txBody>
      </p:sp>
      <p:sp>
        <p:nvSpPr>
          <p:cNvPr id="23" name="text-22">
            <a:extLst xmlns:a="http://schemas.openxmlformats.org/drawingml/2006/main">
              <a:ext uri="{FF2B5EF4-FFF2-40B4-BE49-F238E27FC236}">
                <a16:creationId xmlns:a16="http://schemas.microsoft.com/office/drawing/2014/main" id="{F64CBF7D-7480-41EA-A712-B3C17629B67D}"/>
              </a:ext>
            </a:extLst>
          </p:cNvPr>
          <p:cNvSpPr>
            <a:spLocks xmlns:a="http://schemas.openxmlformats.org/drawingml/2006/main" noGrp="1"/>
          </p:cNvSpPr>
          <p:nvPr/>
        </p:nvSpPr>
        <p:spPr>
          <a:xfrm xmlns:a="http://schemas.openxmlformats.org/drawingml/2006/main">
            <a:off x="7105650" y="5172075"/>
            <a:ext cx="4429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B78"/>
                </a:solidFill>
                <a:latin typeface="Malgun Gothic"/>
                <a:ea typeface="Malgun Gothic"/>
                <a:cs typeface="Malgun Gothic"/>
              </a:defRPr>
            </a:pPr>
            <a:r>
              <a:rPr sz="1725" b="0">
                <a:solidFill>
                  <a:srgbClr val="536B78"/>
                </a:solidFill>
                <a:latin typeface="Malgun Gothic"/>
                <a:ea typeface="Malgun Gothic"/>
                <a:cs typeface="Malgun Gothic"/>
              </a:rPr>
              <a:t>현재 가능한 것과 다음 과제</a:t>
            </a:r>
          </a:p>
        </p:txBody>
      </p:sp>
    </p:spTree>
    <p:extLst>
      <p:ext uri="{BB962C8B-B14F-4D97-AF65-F5344CB8AC3E}">
        <p14:creationId xmlns:p14="http://schemas.microsoft.com/office/powerpoint/2010/main" val="478734297"/>
      </p:ext>
    </p:extLst>
  </p:cSld>
</p:sld>
</file>

<file path=ppt/slides/slide3.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7" name="text-0.4535385098906076">
            <a:extLst xmlns:a="http://schemas.openxmlformats.org/drawingml/2006/main">
              <a:ext uri="{FF2B5EF4-FFF2-40B4-BE49-F238E27FC236}">
                <a16:creationId xmlns:a16="http://schemas.microsoft.com/office/drawing/2014/main" id="{39F269D3-C6D1-4A7D-B3D0-87B1DE403F8F}"/>
              </a:ext>
            </a:extLst>
          </p:cNvPr>
          <p:cNvSpPr>
            <a:spLocks xmlns:a="http://schemas.openxmlformats.org/drawingml/2006/main" noGrp="1"/>
          </p:cNvSpPr>
          <p:nvPr/>
        </p:nvSpPr>
        <p:spPr>
          <a:xfrm xmlns:a="http://schemas.openxmlformats.org/drawingml/2006/main">
            <a:off x="571500" y="3048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87F82"/>
                </a:solidFill>
                <a:latin typeface="Malgun Gothic"/>
                <a:ea typeface="Malgun Gothic"/>
                <a:cs typeface="Malgun Gothic"/>
              </a:defRPr>
            </a:pPr>
            <a:r>
              <a:rPr sz="1200" b="1">
                <a:solidFill>
                  <a:srgbClr val="087F82"/>
                </a:solidFill>
                <a:latin typeface="Malgun Gothic"/>
                <a:ea typeface="Malgun Gothic"/>
                <a:cs typeface="Malgun Gothic"/>
              </a:rPr>
              <a:t>01 서비스의 출발점</a:t>
            </a:r>
          </a:p>
        </p:txBody>
      </p:sp>
      <p:sp>
        <p:nvSpPr>
          <p:cNvPr id="2" name="text-1">
            <a:extLst xmlns:a="http://schemas.openxmlformats.org/drawingml/2006/main">
              <a:ext uri="{FF2B5EF4-FFF2-40B4-BE49-F238E27FC236}">
                <a16:creationId xmlns:a16="http://schemas.microsoft.com/office/drawing/2014/main" id="{A2951199-59B8-4E90-8481-679160C65B8B}"/>
              </a:ext>
            </a:extLst>
          </p:cNvPr>
          <p:cNvSpPr>
            <a:spLocks xmlns:a="http://schemas.openxmlformats.org/drawingml/2006/main" noGrp="1"/>
          </p:cNvSpPr>
          <p:nvPr/>
        </p:nvSpPr>
        <p:spPr>
          <a:xfrm xmlns:a="http://schemas.openxmlformats.org/drawingml/2006/main">
            <a:off x="571500" y="76200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02F40"/>
                </a:solidFill>
                <a:latin typeface="Malgun Gothic"/>
                <a:ea typeface="Malgun Gothic"/>
                <a:cs typeface="Malgun Gothic"/>
              </a:defRPr>
            </a:pPr>
            <a:r>
              <a:rPr sz="3300" b="1">
                <a:solidFill>
                  <a:srgbClr val="102F40"/>
                </a:solidFill>
                <a:latin typeface="Malgun Gothic"/>
                <a:ea typeface="Malgun Gothic"/>
                <a:cs typeface="Malgun Gothic"/>
              </a:rPr>
              <a:t>방문 이후의 체류와 소비를 기획하는 일</a:t>
            </a:r>
          </a:p>
        </p:txBody>
      </p:sp>
      <p:sp>
        <p:nvSpPr>
          <p:cNvPr id="3" name="text-2">
            <a:extLst xmlns:a="http://schemas.openxmlformats.org/drawingml/2006/main">
              <a:ext uri="{FF2B5EF4-FFF2-40B4-BE49-F238E27FC236}">
                <a16:creationId xmlns:a16="http://schemas.microsoft.com/office/drawing/2014/main" id="{930388A2-0543-4BB9-B21C-ADABCB762885}"/>
              </a:ext>
            </a:extLst>
          </p:cNvPr>
          <p:cNvSpPr>
            <a:spLocks xmlns:a="http://schemas.openxmlformats.org/drawingml/2006/main" noGrp="1"/>
          </p:cNvSpPr>
          <p:nvPr/>
        </p:nvSpPr>
        <p:spPr>
          <a:xfrm xmlns:a="http://schemas.openxmlformats.org/drawingml/2006/main">
            <a:off x="571500" y="14954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B78"/>
                </a:solidFill>
                <a:latin typeface="Malgun Gothic"/>
                <a:ea typeface="Malgun Gothic"/>
                <a:cs typeface="Malgun Gothic"/>
              </a:defRPr>
            </a:pPr>
            <a:r>
              <a:rPr sz="1725" b="0">
                <a:solidFill>
                  <a:srgbClr val="536B78"/>
                </a:solidFill>
                <a:latin typeface="Malgun Gothic"/>
                <a:ea typeface="Malgun Gothic"/>
                <a:cs typeface="Malgun Gothic"/>
              </a:rPr>
              <a:t>지역의 관광 흐름을 읽고, 실행 가능한 사업으로 연결하는 과정에 주목했습니다.</a:t>
            </a:r>
          </a:p>
        </p:txBody>
      </p:sp>
      <p:sp>
        <p:nvSpPr>
          <p:cNvPr id="4" name="">
            <a:extLst xmlns:a="http://schemas.openxmlformats.org/drawingml/2006/main">
              <a:ext uri="{FF2B5EF4-FFF2-40B4-BE49-F238E27FC236}">
                <a16:creationId xmlns:a16="http://schemas.microsoft.com/office/drawing/2014/main" id="{95147B2B-DA04-4899-A466-73438576FDBE}"/>
              </a:ext>
            </a:extLst>
          </p:cNvPr>
          <p:cNvSpPr>
            <a:spLocks xmlns:a="http://schemas.openxmlformats.org/drawingml/2006/main" noGrp="1"/>
          </p:cNvSpPr>
          <p:nvPr/>
        </p:nvSpPr>
        <p:spPr>
          <a:xfrm xmlns:a="http://schemas.openxmlformats.org/drawingml/2006/main">
            <a:off x="571500" y="6324600"/>
            <a:ext cx="11049000" cy="0"/>
          </a:xfrm>
          <a:prstGeom xmlns:a="http://schemas.openxmlformats.org/drawingml/2006/main" prst="line">
            <a:avLst/>
          </a:prstGeom>
          <a:noFill xmlns:a="http://schemas.openxmlformats.org/drawingml/2006/main"/>
          <a:ln xmlns:a="http://schemas.openxmlformats.org/drawingml/2006/main" w="9525">
            <a:solidFill>
              <a:srgbClr val="CDD8D9"/>
            </a:solidFill>
            <a:prstDash val="solid"/>
          </a:ln>
        </p:spPr>
      </p:sp>
      <p:sp>
        <p:nvSpPr>
          <p:cNvPr id="5" name="text-4">
            <a:extLst xmlns:a="http://schemas.openxmlformats.org/drawingml/2006/main">
              <a:ext uri="{FF2B5EF4-FFF2-40B4-BE49-F238E27FC236}">
                <a16:creationId xmlns:a16="http://schemas.microsoft.com/office/drawing/2014/main" id="{8A2E5FF8-C69C-4D1A-A024-06176B631529}"/>
              </a:ext>
            </a:extLst>
          </p:cNvPr>
          <p:cNvSpPr>
            <a:spLocks xmlns:a="http://schemas.openxmlformats.org/drawingml/2006/main" noGrp="1"/>
          </p:cNvSpPr>
          <p:nvPr/>
        </p:nvSpPr>
        <p:spPr>
          <a:xfrm xmlns:a="http://schemas.openxmlformats.org/drawingml/2006/main">
            <a:off x="571500" y="64960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36B78"/>
                </a:solidFill>
                <a:latin typeface="Arial"/>
                <a:ea typeface="Arial"/>
                <a:cs typeface="Arial"/>
              </a:defRPr>
            </a:pPr>
            <a:r>
              <a:rPr sz="1050" b="1">
                <a:solidFill>
                  <a:srgbClr val="536B78"/>
                </a:solidFill>
                <a:latin typeface="Arial"/>
                <a:ea typeface="Arial"/>
                <a:cs typeface="Arial"/>
              </a:rPr>
              <a:t>OLIGO-K</a:t>
            </a:r>
          </a:p>
        </p:txBody>
      </p:sp>
      <p:sp>
        <p:nvSpPr>
          <p:cNvPr id="6" name="text-5">
            <a:extLst xmlns:a="http://schemas.openxmlformats.org/drawingml/2006/main">
              <a:ext uri="{FF2B5EF4-FFF2-40B4-BE49-F238E27FC236}">
                <a16:creationId xmlns:a16="http://schemas.microsoft.com/office/drawing/2014/main" id="{DE371800-4880-4FEA-9987-02BFEE298E50}"/>
              </a:ext>
            </a:extLst>
          </p:cNvPr>
          <p:cNvSpPr>
            <a:spLocks xmlns:a="http://schemas.openxmlformats.org/drawingml/2006/main" noGrp="1"/>
          </p:cNvSpPr>
          <p:nvPr/>
        </p:nvSpPr>
        <p:spPr>
          <a:xfrm xmlns:a="http://schemas.openxmlformats.org/drawingml/2006/main">
            <a:off x="11049000" y="64674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1">
                <a:solidFill>
                  <a:srgbClr val="087F82"/>
                </a:solidFill>
                <a:latin typeface="Arial"/>
                <a:ea typeface="Arial"/>
                <a:cs typeface="Arial"/>
              </a:defRPr>
            </a:pPr>
            <a:r>
              <a:rPr sz="1350" b="1">
                <a:solidFill>
                  <a:srgbClr val="087F82"/>
                </a:solidFill>
                <a:latin typeface="Arial"/>
                <a:ea typeface="Arial"/>
                <a:cs typeface="Arial"/>
              </a:rPr>
              <a:t>03</a:t>
            </a:r>
          </a:p>
        </p:txBody>
      </p:sp>
      <p:sp>
        <p:nvSpPr>
          <p:cNvPr id="7" name="text-6">
            <a:extLst xmlns:a="http://schemas.openxmlformats.org/drawingml/2006/main">
              <a:ext uri="{FF2B5EF4-FFF2-40B4-BE49-F238E27FC236}">
                <a16:creationId xmlns:a16="http://schemas.microsoft.com/office/drawing/2014/main" id="{E4BA7A7F-AFB6-4CA9-88F8-3932CD37D0C6}"/>
              </a:ext>
            </a:extLst>
          </p:cNvPr>
          <p:cNvSpPr>
            <a:spLocks xmlns:a="http://schemas.openxmlformats.org/drawingml/2006/main" noGrp="1"/>
          </p:cNvSpPr>
          <p:nvPr/>
        </p:nvSpPr>
        <p:spPr>
          <a:xfrm xmlns:a="http://schemas.openxmlformats.org/drawingml/2006/main">
            <a:off x="571500" y="2381250"/>
            <a:ext cx="5143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02F40"/>
                </a:solidFill>
                <a:latin typeface="Malgun Gothic"/>
                <a:ea typeface="Malgun Gothic"/>
                <a:cs typeface="Malgun Gothic"/>
              </a:defRPr>
            </a:pPr>
            <a:r>
              <a:rPr sz="3375" b="1">
                <a:solidFill>
                  <a:srgbClr val="102F40"/>
                </a:solidFill>
                <a:latin typeface="Malgun Gothic"/>
                <a:ea typeface="Malgun Gothic"/>
                <a:cs typeface="Malgun Gothic"/>
              </a:rPr>
              <a:t>사람은 오는데,</a:t>
            </a:r>
          </a:p>
          <a:p xmlns:a="http://schemas.openxmlformats.org/drawingml/2006/main">
            <a:pPr algn="l">
              <a:defRPr sz="3375" b="1">
                <a:solidFill>
                  <a:srgbClr val="102F40"/>
                </a:solidFill>
                <a:latin typeface="Malgun Gothic"/>
                <a:ea typeface="Malgun Gothic"/>
                <a:cs typeface="Malgun Gothic"/>
              </a:defRPr>
            </a:pPr>
            <a:r>
              <a:rPr sz="3375" b="1">
                <a:solidFill>
                  <a:srgbClr val="102F40"/>
                </a:solidFill>
                <a:latin typeface="Malgun Gothic"/>
                <a:ea typeface="Malgun Gothic"/>
                <a:cs typeface="Malgun Gothic"/>
              </a:rPr>
              <a:t>지역 안에서 얼마나</a:t>
            </a:r>
          </a:p>
          <a:p xmlns:a="http://schemas.openxmlformats.org/drawingml/2006/main">
            <a:pPr algn="l">
              <a:defRPr sz="3375" b="1">
                <a:solidFill>
                  <a:srgbClr val="102F40"/>
                </a:solidFill>
                <a:latin typeface="Malgun Gothic"/>
                <a:ea typeface="Malgun Gothic"/>
                <a:cs typeface="Malgun Gothic"/>
              </a:defRPr>
            </a:pPr>
            <a:r>
              <a:rPr sz="3375" b="1">
                <a:solidFill>
                  <a:srgbClr val="102F40"/>
                </a:solidFill>
                <a:latin typeface="Malgun Gothic"/>
                <a:ea typeface="Malgun Gothic"/>
                <a:cs typeface="Malgun Gothic"/>
              </a:rPr>
              <a:t>머물고 소비할까?</a:t>
            </a:r>
          </a:p>
        </p:txBody>
      </p:sp>
      <p:sp>
        <p:nvSpPr>
          <p:cNvPr id="8" name="text-7">
            <a:extLst xmlns:a="http://schemas.openxmlformats.org/drawingml/2006/main">
              <a:ext uri="{FF2B5EF4-FFF2-40B4-BE49-F238E27FC236}">
                <a16:creationId xmlns:a16="http://schemas.microsoft.com/office/drawing/2014/main" id="{7C9F0810-25A0-4AD1-A106-8ECE9E79666B}"/>
              </a:ext>
            </a:extLst>
          </p:cNvPr>
          <p:cNvSpPr>
            <a:spLocks xmlns:a="http://schemas.openxmlformats.org/drawingml/2006/main" noGrp="1"/>
          </p:cNvSpPr>
          <p:nvPr/>
        </p:nvSpPr>
        <p:spPr>
          <a:xfrm xmlns:a="http://schemas.openxmlformats.org/drawingml/2006/main">
            <a:off x="6286500" y="223837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87F82"/>
                </a:solidFill>
                <a:latin typeface="Arial"/>
                <a:ea typeface="Arial"/>
                <a:cs typeface="Arial"/>
              </a:defRPr>
            </a:pPr>
            <a:r>
              <a:rPr sz="2400" b="1">
                <a:solidFill>
                  <a:srgbClr val="087F82"/>
                </a:solidFill>
                <a:latin typeface="Arial"/>
                <a:ea typeface="Arial"/>
                <a:cs typeface="Arial"/>
              </a:rPr>
              <a:t>01</a:t>
            </a:r>
          </a:p>
        </p:txBody>
      </p:sp>
      <p:sp>
        <p:nvSpPr>
          <p:cNvPr id="9" name="text-8">
            <a:extLst xmlns:a="http://schemas.openxmlformats.org/drawingml/2006/main">
              <a:ext uri="{FF2B5EF4-FFF2-40B4-BE49-F238E27FC236}">
                <a16:creationId xmlns:a16="http://schemas.microsoft.com/office/drawing/2014/main" id="{0D656F81-BD7E-41DA-A9FD-AA59F122F1B7}"/>
              </a:ext>
            </a:extLst>
          </p:cNvPr>
          <p:cNvSpPr>
            <a:spLocks xmlns:a="http://schemas.openxmlformats.org/drawingml/2006/main" noGrp="1"/>
          </p:cNvSpPr>
          <p:nvPr/>
        </p:nvSpPr>
        <p:spPr>
          <a:xfrm xmlns:a="http://schemas.openxmlformats.org/drawingml/2006/main">
            <a:off x="7096125" y="2238375"/>
            <a:ext cx="4524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F40"/>
                </a:solidFill>
                <a:latin typeface="Malgun Gothic"/>
                <a:ea typeface="Malgun Gothic"/>
                <a:cs typeface="Malgun Gothic"/>
              </a:defRPr>
            </a:pPr>
            <a:r>
              <a:rPr sz="2175" b="1">
                <a:solidFill>
                  <a:srgbClr val="102F40"/>
                </a:solidFill>
                <a:latin typeface="Malgun Gothic"/>
                <a:ea typeface="Malgun Gothic"/>
                <a:cs typeface="Malgun Gothic"/>
              </a:rPr>
              <a:t>분산된 자료</a:t>
            </a:r>
          </a:p>
        </p:txBody>
      </p:sp>
      <p:sp>
        <p:nvSpPr>
          <p:cNvPr id="10" name="text-9">
            <a:extLst xmlns:a="http://schemas.openxmlformats.org/drawingml/2006/main">
              <a:ext uri="{FF2B5EF4-FFF2-40B4-BE49-F238E27FC236}">
                <a16:creationId xmlns:a16="http://schemas.microsoft.com/office/drawing/2014/main" id="{A3309535-2045-4BED-A04D-FB5B0B1F19E9}"/>
              </a:ext>
            </a:extLst>
          </p:cNvPr>
          <p:cNvSpPr>
            <a:spLocks xmlns:a="http://schemas.openxmlformats.org/drawingml/2006/main" noGrp="1"/>
          </p:cNvSpPr>
          <p:nvPr/>
        </p:nvSpPr>
        <p:spPr>
          <a:xfrm xmlns:a="http://schemas.openxmlformats.org/drawingml/2006/main">
            <a:off x="7096125" y="2686050"/>
            <a:ext cx="4524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6B78"/>
                </a:solidFill>
                <a:latin typeface="Malgun Gothic"/>
                <a:ea typeface="Malgun Gothic"/>
                <a:cs typeface="Malgun Gothic"/>
              </a:defRPr>
            </a:pPr>
            <a:r>
              <a:rPr sz="1800" b="0">
                <a:solidFill>
                  <a:srgbClr val="536B78"/>
                </a:solidFill>
                <a:latin typeface="Malgun Gothic"/>
                <a:ea typeface="Malgun Gothic"/>
                <a:cs typeface="Malgun Gothic"/>
              </a:rPr>
              <a:t>방문·소비·숙박 지표와</a:t>
            </a:r>
          </a:p>
          <a:p xmlns:a="http://schemas.openxmlformats.org/drawingml/2006/main">
            <a:pPr algn="l">
              <a:defRPr sz="1800" b="0">
                <a:solidFill>
                  <a:srgbClr val="536B78"/>
                </a:solidFill>
                <a:latin typeface="Malgun Gothic"/>
                <a:ea typeface="Malgun Gothic"/>
                <a:cs typeface="Malgun Gothic"/>
              </a:defRPr>
            </a:pPr>
            <a:r>
              <a:rPr sz="1800" b="0">
                <a:solidFill>
                  <a:srgbClr val="536B78"/>
                </a:solidFill>
                <a:latin typeface="Malgun Gothic"/>
                <a:ea typeface="Malgun Gothic"/>
                <a:cs typeface="Malgun Gothic"/>
              </a:rPr>
              <a:t>정책 자료를 각각 확인</a:t>
            </a:r>
          </a:p>
        </p:txBody>
      </p:sp>
      <p:sp>
        <p:nvSpPr>
          <p:cNvPr id="11" name="text-10">
            <a:extLst xmlns:a="http://schemas.openxmlformats.org/drawingml/2006/main">
              <a:ext uri="{FF2B5EF4-FFF2-40B4-BE49-F238E27FC236}">
                <a16:creationId xmlns:a16="http://schemas.microsoft.com/office/drawing/2014/main" id="{5498ECE8-E235-4AD8-9B52-AE3FD4290E6D}"/>
              </a:ext>
            </a:extLst>
          </p:cNvPr>
          <p:cNvSpPr>
            <a:spLocks xmlns:a="http://schemas.openxmlformats.org/drawingml/2006/main" noGrp="1"/>
          </p:cNvSpPr>
          <p:nvPr/>
        </p:nvSpPr>
        <p:spPr>
          <a:xfrm xmlns:a="http://schemas.openxmlformats.org/drawingml/2006/main">
            <a:off x="6286500" y="343852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87F82"/>
                </a:solidFill>
                <a:latin typeface="Arial"/>
                <a:ea typeface="Arial"/>
                <a:cs typeface="Arial"/>
              </a:defRPr>
            </a:pPr>
            <a:r>
              <a:rPr sz="2400" b="1">
                <a:solidFill>
                  <a:srgbClr val="087F82"/>
                </a:solidFill>
                <a:latin typeface="Arial"/>
                <a:ea typeface="Arial"/>
                <a:cs typeface="Arial"/>
              </a:rPr>
              <a:t>02</a:t>
            </a:r>
          </a:p>
        </p:txBody>
      </p:sp>
      <p:sp>
        <p:nvSpPr>
          <p:cNvPr id="12" name="text-11">
            <a:extLst xmlns:a="http://schemas.openxmlformats.org/drawingml/2006/main">
              <a:ext uri="{FF2B5EF4-FFF2-40B4-BE49-F238E27FC236}">
                <a16:creationId xmlns:a16="http://schemas.microsoft.com/office/drawing/2014/main" id="{0ACB09CC-52F1-4B21-A1D7-56D0510A0CD3}"/>
              </a:ext>
            </a:extLst>
          </p:cNvPr>
          <p:cNvSpPr>
            <a:spLocks xmlns:a="http://schemas.openxmlformats.org/drawingml/2006/main" noGrp="1"/>
          </p:cNvSpPr>
          <p:nvPr/>
        </p:nvSpPr>
        <p:spPr>
          <a:xfrm xmlns:a="http://schemas.openxmlformats.org/drawingml/2006/main">
            <a:off x="7096125" y="3438525"/>
            <a:ext cx="4524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F40"/>
                </a:solidFill>
                <a:latin typeface="Malgun Gothic"/>
                <a:ea typeface="Malgun Gothic"/>
                <a:cs typeface="Malgun Gothic"/>
              </a:defRPr>
            </a:pPr>
            <a:r>
              <a:rPr sz="2175" b="1">
                <a:solidFill>
                  <a:srgbClr val="102F40"/>
                </a:solidFill>
                <a:latin typeface="Malgun Gothic"/>
                <a:ea typeface="Malgun Gothic"/>
                <a:cs typeface="Malgun Gothic"/>
              </a:rPr>
              <a:t>사례의 지역 차이</a:t>
            </a:r>
          </a:p>
        </p:txBody>
      </p:sp>
      <p:sp>
        <p:nvSpPr>
          <p:cNvPr id="13" name="text-12">
            <a:extLst xmlns:a="http://schemas.openxmlformats.org/drawingml/2006/main">
              <a:ext uri="{FF2B5EF4-FFF2-40B4-BE49-F238E27FC236}">
                <a16:creationId xmlns:a16="http://schemas.microsoft.com/office/drawing/2014/main" id="{2E1F4A79-2C1D-4A74-A2E8-74B306E3BE2C}"/>
              </a:ext>
            </a:extLst>
          </p:cNvPr>
          <p:cNvSpPr>
            <a:spLocks xmlns:a="http://schemas.openxmlformats.org/drawingml/2006/main" noGrp="1"/>
          </p:cNvSpPr>
          <p:nvPr/>
        </p:nvSpPr>
        <p:spPr>
          <a:xfrm xmlns:a="http://schemas.openxmlformats.org/drawingml/2006/main">
            <a:off x="7096125" y="3886200"/>
            <a:ext cx="4524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6B78"/>
                </a:solidFill>
                <a:latin typeface="Malgun Gothic"/>
                <a:ea typeface="Malgun Gothic"/>
                <a:cs typeface="Malgun Gothic"/>
              </a:defRPr>
            </a:pPr>
            <a:r>
              <a:rPr sz="1800" b="0">
                <a:solidFill>
                  <a:srgbClr val="536B78"/>
                </a:solidFill>
                <a:latin typeface="Malgun Gothic"/>
                <a:ea typeface="Malgun Gothic"/>
                <a:cs typeface="Malgun Gothic"/>
              </a:rPr>
              <a:t>다른 도시의 운영 방식을</a:t>
            </a:r>
          </a:p>
          <a:p xmlns:a="http://schemas.openxmlformats.org/drawingml/2006/main">
            <a:pPr algn="l">
              <a:defRPr sz="1800" b="0">
                <a:solidFill>
                  <a:srgbClr val="536B78"/>
                </a:solidFill>
                <a:latin typeface="Malgun Gothic"/>
                <a:ea typeface="Malgun Gothic"/>
                <a:cs typeface="Malgun Gothic"/>
              </a:defRPr>
            </a:pPr>
            <a:r>
              <a:rPr sz="1800" b="0">
                <a:solidFill>
                  <a:srgbClr val="536B78"/>
                </a:solidFill>
                <a:latin typeface="Malgun Gothic"/>
                <a:ea typeface="Malgun Gothic"/>
                <a:cs typeface="Malgun Gothic"/>
              </a:rPr>
              <a:t>우리 조건에 맞게 판단</a:t>
            </a:r>
          </a:p>
        </p:txBody>
      </p:sp>
      <p:sp>
        <p:nvSpPr>
          <p:cNvPr id="14" name="text-13">
            <a:extLst xmlns:a="http://schemas.openxmlformats.org/drawingml/2006/main">
              <a:ext uri="{FF2B5EF4-FFF2-40B4-BE49-F238E27FC236}">
                <a16:creationId xmlns:a16="http://schemas.microsoft.com/office/drawing/2014/main" id="{22C00301-2445-4EB6-B4B1-F89E79A2D7F7}"/>
              </a:ext>
            </a:extLst>
          </p:cNvPr>
          <p:cNvSpPr>
            <a:spLocks xmlns:a="http://schemas.openxmlformats.org/drawingml/2006/main" noGrp="1"/>
          </p:cNvSpPr>
          <p:nvPr/>
        </p:nvSpPr>
        <p:spPr>
          <a:xfrm xmlns:a="http://schemas.openxmlformats.org/drawingml/2006/main">
            <a:off x="6286500" y="463867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87F82"/>
                </a:solidFill>
                <a:latin typeface="Arial"/>
                <a:ea typeface="Arial"/>
                <a:cs typeface="Arial"/>
              </a:defRPr>
            </a:pPr>
            <a:r>
              <a:rPr sz="2400" b="1">
                <a:solidFill>
                  <a:srgbClr val="087F82"/>
                </a:solidFill>
                <a:latin typeface="Arial"/>
                <a:ea typeface="Arial"/>
                <a:cs typeface="Arial"/>
              </a:rPr>
              <a:t>03</a:t>
            </a:r>
          </a:p>
        </p:txBody>
      </p:sp>
      <p:sp>
        <p:nvSpPr>
          <p:cNvPr id="15" name="text-14">
            <a:extLst xmlns:a="http://schemas.openxmlformats.org/drawingml/2006/main">
              <a:ext uri="{FF2B5EF4-FFF2-40B4-BE49-F238E27FC236}">
                <a16:creationId xmlns:a16="http://schemas.microsoft.com/office/drawing/2014/main" id="{85FA0D1A-2D5F-40D5-B0C3-659084614580}"/>
              </a:ext>
            </a:extLst>
          </p:cNvPr>
          <p:cNvSpPr>
            <a:spLocks xmlns:a="http://schemas.openxmlformats.org/drawingml/2006/main" noGrp="1"/>
          </p:cNvSpPr>
          <p:nvPr/>
        </p:nvSpPr>
        <p:spPr>
          <a:xfrm xmlns:a="http://schemas.openxmlformats.org/drawingml/2006/main">
            <a:off x="7096125" y="4638675"/>
            <a:ext cx="4524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F40"/>
                </a:solidFill>
                <a:latin typeface="Malgun Gothic"/>
                <a:ea typeface="Malgun Gothic"/>
                <a:cs typeface="Malgun Gothic"/>
              </a:defRPr>
            </a:pPr>
            <a:r>
              <a:rPr sz="2175" b="1">
                <a:solidFill>
                  <a:srgbClr val="102F40"/>
                </a:solidFill>
                <a:latin typeface="Malgun Gothic"/>
                <a:ea typeface="Malgun Gothic"/>
                <a:cs typeface="Malgun Gothic"/>
              </a:rPr>
              <a:t>초안 작성 부담</a:t>
            </a:r>
          </a:p>
        </p:txBody>
      </p:sp>
      <p:sp>
        <p:nvSpPr>
          <p:cNvPr id="16" name="text-15">
            <a:extLst xmlns:a="http://schemas.openxmlformats.org/drawingml/2006/main">
              <a:ext uri="{FF2B5EF4-FFF2-40B4-BE49-F238E27FC236}">
                <a16:creationId xmlns:a16="http://schemas.microsoft.com/office/drawing/2014/main" id="{97149A37-E89E-463D-938A-9A856909F191}"/>
              </a:ext>
            </a:extLst>
          </p:cNvPr>
          <p:cNvSpPr>
            <a:spLocks xmlns:a="http://schemas.openxmlformats.org/drawingml/2006/main" noGrp="1"/>
          </p:cNvSpPr>
          <p:nvPr/>
        </p:nvSpPr>
        <p:spPr>
          <a:xfrm xmlns:a="http://schemas.openxmlformats.org/drawingml/2006/main">
            <a:off x="7096125" y="5086350"/>
            <a:ext cx="4524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6B78"/>
                </a:solidFill>
                <a:latin typeface="Malgun Gothic"/>
                <a:ea typeface="Malgun Gothic"/>
                <a:cs typeface="Malgun Gothic"/>
              </a:defRPr>
            </a:pPr>
            <a:r>
              <a:rPr sz="1800" b="0">
                <a:solidFill>
                  <a:srgbClr val="536B78"/>
                </a:solidFill>
                <a:latin typeface="Malgun Gothic"/>
                <a:ea typeface="Malgun Gothic"/>
                <a:cs typeface="Malgun Gothic"/>
              </a:rPr>
              <a:t>목표·예산·일정·성과 측정 방법을 함께 정리</a:t>
            </a:r>
          </a:p>
        </p:txBody>
      </p:sp>
    </p:spTree>
    <p:extLst>
      <p:ext uri="{BB962C8B-B14F-4D97-AF65-F5344CB8AC3E}">
        <p14:creationId xmlns:p14="http://schemas.microsoft.com/office/powerpoint/2010/main" val="369305736"/>
      </p:ext>
    </p:extLst>
  </p:cSld>
</p:sld>
</file>

<file path=ppt/slides/slide4.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8" name="text-0.6321740349172633">
            <a:extLst xmlns:a="http://schemas.openxmlformats.org/drawingml/2006/main">
              <a:ext uri="{FF2B5EF4-FFF2-40B4-BE49-F238E27FC236}">
                <a16:creationId xmlns:a16="http://schemas.microsoft.com/office/drawing/2014/main" id="{7B154A1B-F8E3-446A-8699-00EF1F7C738D}"/>
              </a:ext>
            </a:extLst>
          </p:cNvPr>
          <p:cNvSpPr>
            <a:spLocks xmlns:a="http://schemas.openxmlformats.org/drawingml/2006/main" noGrp="1"/>
          </p:cNvSpPr>
          <p:nvPr/>
        </p:nvSpPr>
        <p:spPr>
          <a:xfrm xmlns:a="http://schemas.openxmlformats.org/drawingml/2006/main">
            <a:off x="571500" y="3048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87F82"/>
                </a:solidFill>
                <a:latin typeface="Malgun Gothic"/>
                <a:ea typeface="Malgun Gothic"/>
                <a:cs typeface="Malgun Gothic"/>
              </a:defRPr>
            </a:pPr>
            <a:r>
              <a:rPr sz="1200" b="1">
                <a:solidFill>
                  <a:srgbClr val="087F82"/>
                </a:solidFill>
                <a:latin typeface="Malgun Gothic"/>
                <a:ea typeface="Malgun Gothic"/>
                <a:cs typeface="Malgun Gothic"/>
              </a:rPr>
              <a:t>01 서비스의 출발점</a:t>
            </a:r>
          </a:p>
        </p:txBody>
      </p:sp>
      <p:sp>
        <p:nvSpPr>
          <p:cNvPr id="2" name="text-1">
            <a:extLst xmlns:a="http://schemas.openxmlformats.org/drawingml/2006/main">
              <a:ext uri="{FF2B5EF4-FFF2-40B4-BE49-F238E27FC236}">
                <a16:creationId xmlns:a16="http://schemas.microsoft.com/office/drawing/2014/main" id="{23AA8CB7-CA6A-42A2-A188-F8F2106FEADC}"/>
              </a:ext>
            </a:extLst>
          </p:cNvPr>
          <p:cNvSpPr>
            <a:spLocks xmlns:a="http://schemas.openxmlformats.org/drawingml/2006/main" noGrp="1"/>
          </p:cNvSpPr>
          <p:nvPr/>
        </p:nvSpPr>
        <p:spPr>
          <a:xfrm xmlns:a="http://schemas.openxmlformats.org/drawingml/2006/main">
            <a:off x="571500" y="76200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02F40"/>
                </a:solidFill>
                <a:latin typeface="Malgun Gothic"/>
                <a:ea typeface="Malgun Gothic"/>
                <a:cs typeface="Malgun Gothic"/>
              </a:defRPr>
            </a:pPr>
            <a:r>
              <a:rPr sz="3300" b="1">
                <a:solidFill>
                  <a:srgbClr val="102F40"/>
                </a:solidFill>
                <a:latin typeface="Malgun Gothic"/>
                <a:ea typeface="Malgun Gothic"/>
                <a:cs typeface="Malgun Gothic"/>
              </a:rPr>
              <a:t>주요 사용자와 실제 질문</a:t>
            </a:r>
          </a:p>
        </p:txBody>
      </p:sp>
      <p:sp>
        <p:nvSpPr>
          <p:cNvPr id="3" name="">
            <a:extLst xmlns:a="http://schemas.openxmlformats.org/drawingml/2006/main">
              <a:ext uri="{FF2B5EF4-FFF2-40B4-BE49-F238E27FC236}">
                <a16:creationId xmlns:a16="http://schemas.microsoft.com/office/drawing/2014/main" id="{77DD5B56-CA2B-47DB-8D78-5191B413F019}"/>
              </a:ext>
            </a:extLst>
          </p:cNvPr>
          <p:cNvSpPr>
            <a:spLocks xmlns:a="http://schemas.openxmlformats.org/drawingml/2006/main" noGrp="1"/>
          </p:cNvSpPr>
          <p:nvPr/>
        </p:nvSpPr>
        <p:spPr>
          <a:xfrm xmlns:a="http://schemas.openxmlformats.org/drawingml/2006/main">
            <a:off x="571500" y="6324600"/>
            <a:ext cx="11049000" cy="0"/>
          </a:xfrm>
          <a:prstGeom xmlns:a="http://schemas.openxmlformats.org/drawingml/2006/main" prst="line">
            <a:avLst/>
          </a:prstGeom>
          <a:noFill xmlns:a="http://schemas.openxmlformats.org/drawingml/2006/main"/>
          <a:ln xmlns:a="http://schemas.openxmlformats.org/drawingml/2006/main" w="9525">
            <a:solidFill>
              <a:srgbClr val="CDD8D9"/>
            </a:solidFill>
            <a:prstDash val="solid"/>
          </a:ln>
        </p:spPr>
      </p:sp>
      <p:sp>
        <p:nvSpPr>
          <p:cNvPr id="4" name="text-3">
            <a:extLst xmlns:a="http://schemas.openxmlformats.org/drawingml/2006/main">
              <a:ext uri="{FF2B5EF4-FFF2-40B4-BE49-F238E27FC236}">
                <a16:creationId xmlns:a16="http://schemas.microsoft.com/office/drawing/2014/main" id="{3B24BEED-0B14-41F0-A67E-2F4B659C1B57}"/>
              </a:ext>
            </a:extLst>
          </p:cNvPr>
          <p:cNvSpPr>
            <a:spLocks xmlns:a="http://schemas.openxmlformats.org/drawingml/2006/main" noGrp="1"/>
          </p:cNvSpPr>
          <p:nvPr/>
        </p:nvSpPr>
        <p:spPr>
          <a:xfrm xmlns:a="http://schemas.openxmlformats.org/drawingml/2006/main">
            <a:off x="571500" y="64960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36B78"/>
                </a:solidFill>
                <a:latin typeface="Arial"/>
                <a:ea typeface="Arial"/>
                <a:cs typeface="Arial"/>
              </a:defRPr>
            </a:pPr>
            <a:r>
              <a:rPr sz="1050" b="1">
                <a:solidFill>
                  <a:srgbClr val="536B78"/>
                </a:solidFill>
                <a:latin typeface="Arial"/>
                <a:ea typeface="Arial"/>
                <a:cs typeface="Arial"/>
              </a:rPr>
              <a:t>OLIGO-K</a:t>
            </a:r>
          </a:p>
        </p:txBody>
      </p:sp>
      <p:sp>
        <p:nvSpPr>
          <p:cNvPr id="5" name="text-4">
            <a:extLst xmlns:a="http://schemas.openxmlformats.org/drawingml/2006/main">
              <a:ext uri="{FF2B5EF4-FFF2-40B4-BE49-F238E27FC236}">
                <a16:creationId xmlns:a16="http://schemas.microsoft.com/office/drawing/2014/main" id="{C5ED8BA9-9796-470F-9879-51265C50C56C}"/>
              </a:ext>
            </a:extLst>
          </p:cNvPr>
          <p:cNvSpPr>
            <a:spLocks xmlns:a="http://schemas.openxmlformats.org/drawingml/2006/main" noGrp="1"/>
          </p:cNvSpPr>
          <p:nvPr/>
        </p:nvSpPr>
        <p:spPr>
          <a:xfrm xmlns:a="http://schemas.openxmlformats.org/drawingml/2006/main">
            <a:off x="11049000" y="64674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1">
                <a:solidFill>
                  <a:srgbClr val="087F82"/>
                </a:solidFill>
                <a:latin typeface="Arial"/>
                <a:ea typeface="Arial"/>
                <a:cs typeface="Arial"/>
              </a:defRPr>
            </a:pPr>
            <a:r>
              <a:rPr sz="1350" b="1">
                <a:solidFill>
                  <a:srgbClr val="087F82"/>
                </a:solidFill>
                <a:latin typeface="Arial"/>
                <a:ea typeface="Arial"/>
                <a:cs typeface="Arial"/>
              </a:rPr>
              <a:t>04</a:t>
            </a:r>
          </a:p>
        </p:txBody>
      </p:sp>
      <p:graphicFrame>
        <p:nvGraphicFramePr>
          <p:cNvPr id="13" name=""/>
          <p:cNvGraphicFramePr/>
          <p:nvPr/>
        </p:nvGraphicFramePr>
        <p:xfrm>
          <a:off xmlns:a="http://schemas.openxmlformats.org/drawingml/2006/main" x="571500" y="2095500"/>
          <a:ext xmlns:a="http://schemas.openxmlformats.org/drawingml/2006/main" cx="11049000" cy="3257550"/>
        </p:xfrm>
        <a:graphic xmlns:a="http://schemas.openxmlformats.org/drawingml/2006/main">
          <a:graphicData uri="http://schemas.openxmlformats.org/drawingml/2006/table">
            <a:tbl>
              <a:tblPr firstRow="1" bandRow="0"/>
              <a:tblGrid>
                <a:gridCol w="3190875"/>
                <a:gridCol w="7858125"/>
              </a:tblGrid>
              <a:tr h="814388">
                <a:tc>
                  <a:txBody>
                    <a:bodyPr/>
                    <a:lstStyle/>
                    <a:p>
                      <a:r>
                        <a:rPr sz="2025" b="1">
                          <a:solidFill>
                            <a:srgbClr val="FFFFFF"/>
                          </a:solidFill>
                          <a:latin typeface="Malgun Gothic"/>
                          <a:ea typeface="Malgun Gothic"/>
                          <a:cs typeface="Malgun Gothic"/>
                        </a:rPr>
                        <a:t>사용자</a:t>
                      </a:r>
                    </a:p>
                  </a:txBody>
                  <a:tcPr marL="142875" marR="123825" marT="123825" marB="95250" anchor="ctr">
                    <a:solidFill>
                      <a:srgbClr val="102F40"/>
                    </a:solidFill>
                  </a:tcPr>
                </a:tc>
                <a:tc>
                  <a:txBody>
                    <a:bodyPr/>
                    <a:lstStyle/>
                    <a:p>
                      <a:r>
                        <a:rPr sz="2025" b="1">
                          <a:solidFill>
                            <a:srgbClr val="FFFFFF"/>
                          </a:solidFill>
                          <a:latin typeface="Malgun Gothic"/>
                          <a:ea typeface="Malgun Gothic"/>
                          <a:cs typeface="Malgun Gothic"/>
                        </a:rPr>
                        <a:t>서비스에서 확인하려는 질문</a:t>
                      </a:r>
                    </a:p>
                  </a:txBody>
                  <a:tcPr marL="142875" marR="123825" marT="123825" marB="95250" anchor="ctr">
                    <a:solidFill>
                      <a:srgbClr val="102F40"/>
                    </a:solidFill>
                  </a:tcPr>
                </a:tc>
              </a:tr>
              <a:tr h="814388">
                <a:tc>
                  <a:txBody>
                    <a:bodyPr/>
                    <a:lstStyle/>
                    <a:p>
                      <a:r>
                        <a:rPr sz="2025" b="0">
                          <a:solidFill>
                            <a:srgbClr val="102F40"/>
                          </a:solidFill>
                          <a:latin typeface="Malgun Gothic"/>
                          <a:ea typeface="Malgun Gothic"/>
                          <a:cs typeface="Malgun Gothic"/>
                        </a:rPr>
                        <a:t>지자체 관광 담당자</a:t>
                      </a:r>
                    </a:p>
                  </a:txBody>
                  <a:tcPr marL="142875" marR="123825" marT="123825" marB="95250" anchor="ctr">
                    <a:solidFill>
                      <a:srgbClr val="FFFFFF"/>
                    </a:solidFill>
                  </a:tcPr>
                </a:tc>
                <a:tc>
                  <a:txBody>
                    <a:bodyPr/>
                    <a:lstStyle/>
                    <a:p>
                      <a:r>
                        <a:rPr sz="2025" b="0">
                          <a:solidFill>
                            <a:srgbClr val="102F40"/>
                          </a:solidFill>
                          <a:latin typeface="Malgun Gothic"/>
                          <a:ea typeface="Malgun Gothic"/>
                          <a:cs typeface="Malgun Gothic"/>
                        </a:rPr>
                        <a:t>다음 분기에 어떤 관광사업을 검토할까?</a:t>
                      </a:r>
                    </a:p>
                  </a:txBody>
                  <a:tcPr marL="142875" marR="123825" marT="123825" marB="95250" anchor="ctr">
                    <a:solidFill>
                      <a:srgbClr val="FFFFFF"/>
                    </a:solidFill>
                  </a:tcPr>
                </a:tc>
              </a:tr>
              <a:tr h="814388">
                <a:tc>
                  <a:txBody>
                    <a:bodyPr/>
                    <a:lstStyle/>
                    <a:p>
                      <a:r>
                        <a:rPr sz="2025" b="0">
                          <a:solidFill>
                            <a:srgbClr val="102F40"/>
                          </a:solidFill>
                          <a:latin typeface="Malgun Gothic"/>
                          <a:ea typeface="Malgun Gothic"/>
                          <a:cs typeface="Malgun Gothic"/>
                        </a:rPr>
                        <a:t>지역 숙박·식음·체험</a:t>
                      </a:r>
                    </a:p>
                    <a:p>
                      <a:r>
                        <a:rPr sz="2025" b="0">
                          <a:solidFill>
                            <a:srgbClr val="102F40"/>
                          </a:solidFill>
                          <a:latin typeface="Malgun Gothic"/>
                          <a:ea typeface="Malgun Gothic"/>
                          <a:cs typeface="Malgun Gothic"/>
                        </a:rPr>
                        <a:t>사업자</a:t>
                      </a:r>
                    </a:p>
                  </a:txBody>
                  <a:tcPr marL="142875" marR="123825" marT="123825" marB="95250" anchor="ctr">
                    <a:solidFill>
                      <a:srgbClr val="F6F7F4"/>
                    </a:solidFill>
                  </a:tcPr>
                </a:tc>
                <a:tc>
                  <a:txBody>
                    <a:bodyPr/>
                    <a:lstStyle/>
                    <a:p>
                      <a:r>
                        <a:rPr sz="2025" b="0">
                          <a:solidFill>
                            <a:srgbClr val="102F40"/>
                          </a:solidFill>
                          <a:latin typeface="Malgun Gothic"/>
                          <a:ea typeface="Malgun Gothic"/>
                          <a:cs typeface="Malgun Gothic"/>
                        </a:rPr>
                        <a:t>방문객을 숙박과 지역 결제로 어떻게 연결할까?</a:t>
                      </a:r>
                    </a:p>
                  </a:txBody>
                  <a:tcPr marL="142875" marR="123825" marT="123825" marB="95250" anchor="ctr">
                    <a:solidFill>
                      <a:srgbClr val="F6F7F4"/>
                    </a:solidFill>
                  </a:tcPr>
                </a:tc>
              </a:tr>
              <a:tr h="814388">
                <a:tc>
                  <a:txBody>
                    <a:bodyPr/>
                    <a:lstStyle/>
                    <a:p>
                      <a:r>
                        <a:rPr sz="2025" b="0">
                          <a:solidFill>
                            <a:srgbClr val="102F40"/>
                          </a:solidFill>
                          <a:latin typeface="Malgun Gothic"/>
                          <a:ea typeface="Malgun Gothic"/>
                          <a:cs typeface="Malgun Gothic"/>
                        </a:rPr>
                        <a:t>지역관광 상품 기획자</a:t>
                      </a:r>
                    </a:p>
                  </a:txBody>
                  <a:tcPr marL="142875" marR="123825" marT="123825" marB="95250" anchor="ctr">
                    <a:solidFill>
                      <a:srgbClr val="FFFFFF"/>
                    </a:solidFill>
                  </a:tcPr>
                </a:tc>
                <a:tc>
                  <a:txBody>
                    <a:bodyPr/>
                    <a:lstStyle/>
                    <a:p>
                      <a:r>
                        <a:rPr sz="2025" b="0">
                          <a:solidFill>
                            <a:srgbClr val="102F40"/>
                          </a:solidFill>
                          <a:latin typeface="Malgun Gothic"/>
                          <a:ea typeface="Malgun Gothic"/>
                          <a:cs typeface="Malgun Gothic"/>
                        </a:rPr>
                        <a:t>참고할 운영 사례와 필요한 준비 조건은 무엇일까?</a:t>
                      </a:r>
                    </a:p>
                  </a:txBody>
                  <a:tcPr marL="142875" marR="123825" marT="123825" marB="95250" anchor="ctr">
                    <a:solidFill>
                      <a:srgbClr val="FFFFFF"/>
                    </a:solidFill>
                  </a:tcPr>
                </a:tc>
              </a:tr>
            </a:tbl>
          </a:graphicData>
        </a:graphic>
      </p:graphicFrame>
      <p:sp>
        <p:nvSpPr>
          <p:cNvPr id="7" name="text-5">
            <a:extLst xmlns:a="http://schemas.openxmlformats.org/drawingml/2006/main">
              <a:ext uri="{FF2B5EF4-FFF2-40B4-BE49-F238E27FC236}">
                <a16:creationId xmlns:a16="http://schemas.microsoft.com/office/drawing/2014/main" id="{028733EE-7D6A-4437-B401-F5D94461A774}"/>
              </a:ext>
            </a:extLst>
          </p:cNvPr>
          <p:cNvSpPr>
            <a:spLocks xmlns:a="http://schemas.openxmlformats.org/drawingml/2006/main" noGrp="1"/>
          </p:cNvSpPr>
          <p:nvPr/>
        </p:nvSpPr>
        <p:spPr>
          <a:xfrm xmlns:a="http://schemas.openxmlformats.org/drawingml/2006/main">
            <a:off x="571500" y="572452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087F82"/>
                </a:solidFill>
                <a:latin typeface="Malgun Gothic"/>
                <a:ea typeface="Malgun Gothic"/>
                <a:cs typeface="Malgun Gothic"/>
              </a:defRPr>
            </a:pPr>
            <a:r>
              <a:rPr sz="1950" b="1">
                <a:solidFill>
                  <a:srgbClr val="087F82"/>
                </a:solidFill>
                <a:latin typeface="Malgun Gothic"/>
                <a:ea typeface="Malgun Gothic"/>
                <a:cs typeface="Malgun Gothic"/>
              </a:rPr>
              <a:t>결과물은 담당자가 검토하고 조정할 수 있는 관광사업 기획 초안입니다.</a:t>
            </a:r>
          </a:p>
        </p:txBody>
      </p:sp>
    </p:spTree>
    <p:extLst>
      <p:ext uri="{BB962C8B-B14F-4D97-AF65-F5344CB8AC3E}">
        <p14:creationId xmlns:p14="http://schemas.microsoft.com/office/powerpoint/2010/main" val="2142297254"/>
      </p:ext>
    </p:extLst>
  </p:cSld>
</p:sld>
</file>

<file path=ppt/slides/slide5.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22" name="text-0.9665523556144721">
            <a:extLst xmlns:a="http://schemas.openxmlformats.org/drawingml/2006/main">
              <a:ext uri="{FF2B5EF4-FFF2-40B4-BE49-F238E27FC236}">
                <a16:creationId xmlns:a16="http://schemas.microsoft.com/office/drawing/2014/main" id="{87B4DA9F-5564-45A9-AB01-2ED802F14091}"/>
              </a:ext>
            </a:extLst>
          </p:cNvPr>
          <p:cNvSpPr>
            <a:spLocks xmlns:a="http://schemas.openxmlformats.org/drawingml/2006/main" noGrp="1"/>
          </p:cNvSpPr>
          <p:nvPr/>
        </p:nvSpPr>
        <p:spPr>
          <a:xfrm xmlns:a="http://schemas.openxmlformats.org/drawingml/2006/main">
            <a:off x="571500" y="3048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87F82"/>
                </a:solidFill>
                <a:latin typeface="Malgun Gothic"/>
                <a:ea typeface="Malgun Gothic"/>
                <a:cs typeface="Malgun Gothic"/>
              </a:defRPr>
            </a:pPr>
            <a:r>
              <a:rPr sz="1200" b="1">
                <a:solidFill>
                  <a:srgbClr val="087F82"/>
                </a:solidFill>
                <a:latin typeface="Malgun Gothic"/>
                <a:ea typeface="Malgun Gothic"/>
                <a:cs typeface="Malgun Gothic"/>
              </a:rPr>
              <a:t>01 서비스의 출발점</a:t>
            </a:r>
          </a:p>
        </p:txBody>
      </p:sp>
      <p:sp>
        <p:nvSpPr>
          <p:cNvPr id="2" name="text-1">
            <a:extLst xmlns:a="http://schemas.openxmlformats.org/drawingml/2006/main">
              <a:ext uri="{FF2B5EF4-FFF2-40B4-BE49-F238E27FC236}">
                <a16:creationId xmlns:a16="http://schemas.microsoft.com/office/drawing/2014/main" id="{39005FF2-8BA2-456D-9054-C5F5578EC2A8}"/>
              </a:ext>
            </a:extLst>
          </p:cNvPr>
          <p:cNvSpPr>
            <a:spLocks xmlns:a="http://schemas.openxmlformats.org/drawingml/2006/main" noGrp="1"/>
          </p:cNvSpPr>
          <p:nvPr/>
        </p:nvSpPr>
        <p:spPr>
          <a:xfrm xmlns:a="http://schemas.openxmlformats.org/drawingml/2006/main">
            <a:off x="571500" y="76200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02F40"/>
                </a:solidFill>
                <a:latin typeface="Malgun Gothic"/>
                <a:ea typeface="Malgun Gothic"/>
                <a:cs typeface="Malgun Gothic"/>
              </a:defRPr>
            </a:pPr>
            <a:r>
              <a:rPr sz="3300" b="1">
                <a:solidFill>
                  <a:srgbClr val="102F40"/>
                </a:solidFill>
                <a:latin typeface="Malgun Gothic"/>
                <a:ea typeface="Malgun Gothic"/>
                <a:cs typeface="Malgun Gothic"/>
              </a:rPr>
              <a:t>OLIGO-K가 연결하는 업무</a:t>
            </a:r>
          </a:p>
        </p:txBody>
      </p:sp>
      <p:sp>
        <p:nvSpPr>
          <p:cNvPr id="3" name="text-2">
            <a:extLst xmlns:a="http://schemas.openxmlformats.org/drawingml/2006/main">
              <a:ext uri="{FF2B5EF4-FFF2-40B4-BE49-F238E27FC236}">
                <a16:creationId xmlns:a16="http://schemas.microsoft.com/office/drawing/2014/main" id="{D4631F0F-CD8A-407B-8CE7-114C2ED4BE7A}"/>
              </a:ext>
            </a:extLst>
          </p:cNvPr>
          <p:cNvSpPr>
            <a:spLocks xmlns:a="http://schemas.openxmlformats.org/drawingml/2006/main" noGrp="1"/>
          </p:cNvSpPr>
          <p:nvPr/>
        </p:nvSpPr>
        <p:spPr>
          <a:xfrm xmlns:a="http://schemas.openxmlformats.org/drawingml/2006/main">
            <a:off x="571500" y="14954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B78"/>
                </a:solidFill>
                <a:latin typeface="Malgun Gothic"/>
                <a:ea typeface="Malgun Gothic"/>
                <a:cs typeface="Malgun Gothic"/>
              </a:defRPr>
            </a:pPr>
            <a:r>
              <a:rPr sz="1725" b="0">
                <a:solidFill>
                  <a:srgbClr val="536B78"/>
                </a:solidFill>
                <a:latin typeface="Malgun Gothic"/>
                <a:ea typeface="Malgun Gothic"/>
                <a:cs typeface="Malgun Gothic"/>
              </a:rPr>
              <a:t>하나의 지역을 선택하고 같은 데이터와 근거로 기획을 이어갑니다.</a:t>
            </a:r>
          </a:p>
        </p:txBody>
      </p:sp>
      <p:sp>
        <p:nvSpPr>
          <p:cNvPr id="4" name="">
            <a:extLst xmlns:a="http://schemas.openxmlformats.org/drawingml/2006/main">
              <a:ext uri="{FF2B5EF4-FFF2-40B4-BE49-F238E27FC236}">
                <a16:creationId xmlns:a16="http://schemas.microsoft.com/office/drawing/2014/main" id="{02DCD5BE-5459-4FB2-A31C-84F55B7434C1}"/>
              </a:ext>
            </a:extLst>
          </p:cNvPr>
          <p:cNvSpPr>
            <a:spLocks xmlns:a="http://schemas.openxmlformats.org/drawingml/2006/main" noGrp="1"/>
          </p:cNvSpPr>
          <p:nvPr/>
        </p:nvSpPr>
        <p:spPr>
          <a:xfrm xmlns:a="http://schemas.openxmlformats.org/drawingml/2006/main">
            <a:off x="571500" y="6324600"/>
            <a:ext cx="11049000" cy="0"/>
          </a:xfrm>
          <a:prstGeom xmlns:a="http://schemas.openxmlformats.org/drawingml/2006/main" prst="line">
            <a:avLst/>
          </a:prstGeom>
          <a:noFill xmlns:a="http://schemas.openxmlformats.org/drawingml/2006/main"/>
          <a:ln xmlns:a="http://schemas.openxmlformats.org/drawingml/2006/main" w="9525">
            <a:solidFill>
              <a:srgbClr val="CDD8D9"/>
            </a:solidFill>
            <a:prstDash val="solid"/>
          </a:ln>
        </p:spPr>
      </p:sp>
      <p:sp>
        <p:nvSpPr>
          <p:cNvPr id="5" name="text-4">
            <a:extLst xmlns:a="http://schemas.openxmlformats.org/drawingml/2006/main">
              <a:ext uri="{FF2B5EF4-FFF2-40B4-BE49-F238E27FC236}">
                <a16:creationId xmlns:a16="http://schemas.microsoft.com/office/drawing/2014/main" id="{EE4675D3-6FEE-4D0F-8C96-92056DBEA244}"/>
              </a:ext>
            </a:extLst>
          </p:cNvPr>
          <p:cNvSpPr>
            <a:spLocks xmlns:a="http://schemas.openxmlformats.org/drawingml/2006/main" noGrp="1"/>
          </p:cNvSpPr>
          <p:nvPr/>
        </p:nvSpPr>
        <p:spPr>
          <a:xfrm xmlns:a="http://schemas.openxmlformats.org/drawingml/2006/main">
            <a:off x="571500" y="64960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36B78"/>
                </a:solidFill>
                <a:latin typeface="Arial"/>
                <a:ea typeface="Arial"/>
                <a:cs typeface="Arial"/>
              </a:defRPr>
            </a:pPr>
            <a:r>
              <a:rPr sz="1050" b="1">
                <a:solidFill>
                  <a:srgbClr val="536B78"/>
                </a:solidFill>
                <a:latin typeface="Arial"/>
                <a:ea typeface="Arial"/>
                <a:cs typeface="Arial"/>
              </a:rPr>
              <a:t>OLIGO-K</a:t>
            </a:r>
          </a:p>
        </p:txBody>
      </p:sp>
      <p:sp>
        <p:nvSpPr>
          <p:cNvPr id="6" name="text-5">
            <a:extLst xmlns:a="http://schemas.openxmlformats.org/drawingml/2006/main">
              <a:ext uri="{FF2B5EF4-FFF2-40B4-BE49-F238E27FC236}">
                <a16:creationId xmlns:a16="http://schemas.microsoft.com/office/drawing/2014/main" id="{0B276310-727C-48D4-90ED-CA1F00BB398D}"/>
              </a:ext>
            </a:extLst>
          </p:cNvPr>
          <p:cNvSpPr>
            <a:spLocks xmlns:a="http://schemas.openxmlformats.org/drawingml/2006/main" noGrp="1"/>
          </p:cNvSpPr>
          <p:nvPr/>
        </p:nvSpPr>
        <p:spPr>
          <a:xfrm xmlns:a="http://schemas.openxmlformats.org/drawingml/2006/main">
            <a:off x="11049000" y="64674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1">
                <a:solidFill>
                  <a:srgbClr val="087F82"/>
                </a:solidFill>
                <a:latin typeface="Arial"/>
                <a:ea typeface="Arial"/>
                <a:cs typeface="Arial"/>
              </a:defRPr>
            </a:pPr>
            <a:r>
              <a:rPr sz="1350" b="1">
                <a:solidFill>
                  <a:srgbClr val="087F82"/>
                </a:solidFill>
                <a:latin typeface="Arial"/>
                <a:ea typeface="Arial"/>
                <a:cs typeface="Arial"/>
              </a:rPr>
              <a:t>05</a:t>
            </a:r>
          </a:p>
        </p:txBody>
      </p:sp>
      <p:sp>
        <p:nvSpPr>
          <p:cNvPr id="7" name="">
            <a:extLst xmlns:a="http://schemas.openxmlformats.org/drawingml/2006/main">
              <a:ext uri="{FF2B5EF4-FFF2-40B4-BE49-F238E27FC236}">
                <a16:creationId xmlns:a16="http://schemas.microsoft.com/office/drawing/2014/main" id="{BF682439-85FA-4025-BA5E-B899D0FECCB4}"/>
              </a:ext>
            </a:extLst>
          </p:cNvPr>
          <p:cNvSpPr>
            <a:spLocks xmlns:a="http://schemas.openxmlformats.org/drawingml/2006/main" noGrp="1"/>
          </p:cNvSpPr>
          <p:nvPr/>
        </p:nvSpPr>
        <p:spPr>
          <a:xfrm xmlns:a="http://schemas.openxmlformats.org/drawingml/2006/main">
            <a:off x="571500" y="2543175"/>
            <a:ext cx="2476500" cy="981075"/>
          </a:xfrm>
          <a:prstGeom xmlns:a="http://schemas.openxmlformats.org/drawingml/2006/main" prst="rect">
            <a:avLst/>
          </a:prstGeom>
          <a:solidFill xmlns:a="http://schemas.openxmlformats.org/drawingml/2006/main">
            <a:srgbClr val="FFFFFF"/>
          </a:solidFill>
          <a:ln xmlns:a="http://schemas.openxmlformats.org/drawingml/2006/main" w="9525">
            <a:solidFill>
              <a:srgbClr val="CDD8D9"/>
            </a:solidFill>
          </a:ln>
        </p:spPr>
      </p:sp>
      <p:sp>
        <p:nvSpPr>
          <p:cNvPr id="8" name="text-7">
            <a:extLst xmlns:a="http://schemas.openxmlformats.org/drawingml/2006/main">
              <a:ext uri="{FF2B5EF4-FFF2-40B4-BE49-F238E27FC236}">
                <a16:creationId xmlns:a16="http://schemas.microsoft.com/office/drawing/2014/main" id="{C7B3C135-3FDD-4FCC-8D88-E138E0AB27EC}"/>
              </a:ext>
            </a:extLst>
          </p:cNvPr>
          <p:cNvSpPr>
            <a:spLocks xmlns:a="http://schemas.openxmlformats.org/drawingml/2006/main" noGrp="1"/>
          </p:cNvSpPr>
          <p:nvPr/>
        </p:nvSpPr>
        <p:spPr>
          <a:xfrm xmlns:a="http://schemas.openxmlformats.org/drawingml/2006/main">
            <a:off x="723900" y="2724150"/>
            <a:ext cx="21717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관광 현황 확인</a:t>
            </a:r>
          </a:p>
        </p:txBody>
      </p:sp>
      <p:sp>
        <p:nvSpPr>
          <p:cNvPr id="9" name="">
            <a:extLst xmlns:a="http://schemas.openxmlformats.org/drawingml/2006/main">
              <a:ext uri="{FF2B5EF4-FFF2-40B4-BE49-F238E27FC236}">
                <a16:creationId xmlns:a16="http://schemas.microsoft.com/office/drawing/2014/main" id="{88494922-0AE0-4B03-9212-36A7116F0272}"/>
              </a:ext>
            </a:extLst>
          </p:cNvPr>
          <p:cNvSpPr>
            <a:spLocks xmlns:a="http://schemas.openxmlformats.org/drawingml/2006/main" noGrp="1"/>
          </p:cNvSpPr>
          <p:nvPr/>
        </p:nvSpPr>
        <p:spPr>
          <a:xfrm xmlns:a="http://schemas.openxmlformats.org/drawingml/2006/main">
            <a:off x="3429000" y="2543175"/>
            <a:ext cx="2476500" cy="981075"/>
          </a:xfrm>
          <a:prstGeom xmlns:a="http://schemas.openxmlformats.org/drawingml/2006/main" prst="rect">
            <a:avLst/>
          </a:prstGeom>
          <a:solidFill xmlns:a="http://schemas.openxmlformats.org/drawingml/2006/main">
            <a:srgbClr val="FFFFFF"/>
          </a:solidFill>
          <a:ln xmlns:a="http://schemas.openxmlformats.org/drawingml/2006/main" w="9525">
            <a:solidFill>
              <a:srgbClr val="CDD8D9"/>
            </a:solidFill>
          </a:ln>
        </p:spPr>
      </p:sp>
      <p:sp>
        <p:nvSpPr>
          <p:cNvPr id="10" name="text-9">
            <a:extLst xmlns:a="http://schemas.openxmlformats.org/drawingml/2006/main">
              <a:ext uri="{FF2B5EF4-FFF2-40B4-BE49-F238E27FC236}">
                <a16:creationId xmlns:a16="http://schemas.microsoft.com/office/drawing/2014/main" id="{D9024D0B-8C15-4620-B0C6-B6120CA58881}"/>
              </a:ext>
            </a:extLst>
          </p:cNvPr>
          <p:cNvSpPr>
            <a:spLocks xmlns:a="http://schemas.openxmlformats.org/drawingml/2006/main" noGrp="1"/>
          </p:cNvSpPr>
          <p:nvPr/>
        </p:nvSpPr>
        <p:spPr>
          <a:xfrm xmlns:a="http://schemas.openxmlformats.org/drawingml/2006/main">
            <a:off x="3581400" y="2724150"/>
            <a:ext cx="21717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사업 조건 입력</a:t>
            </a:r>
          </a:p>
        </p:txBody>
      </p:sp>
      <p:sp>
        <p:nvSpPr>
          <p:cNvPr id="11" name="">
            <a:extLst xmlns:a="http://schemas.openxmlformats.org/drawingml/2006/main">
              <a:ext uri="{FF2B5EF4-FFF2-40B4-BE49-F238E27FC236}">
                <a16:creationId xmlns:a16="http://schemas.microsoft.com/office/drawing/2014/main" id="{E820FD8A-E0FB-49E5-A5B1-23C3EF5A065A}"/>
              </a:ext>
            </a:extLst>
          </p:cNvPr>
          <p:cNvSpPr>
            <a:spLocks xmlns:a="http://schemas.openxmlformats.org/drawingml/2006/main" noGrp="1"/>
          </p:cNvSpPr>
          <p:nvPr/>
        </p:nvSpPr>
        <p:spPr>
          <a:xfrm xmlns:a="http://schemas.openxmlformats.org/drawingml/2006/main">
            <a:off x="6286500" y="2543175"/>
            <a:ext cx="2476500" cy="981075"/>
          </a:xfrm>
          <a:prstGeom xmlns:a="http://schemas.openxmlformats.org/drawingml/2006/main" prst="rect">
            <a:avLst/>
          </a:prstGeom>
          <a:solidFill xmlns:a="http://schemas.openxmlformats.org/drawingml/2006/main">
            <a:srgbClr val="E5F2ED"/>
          </a:solidFill>
          <a:ln xmlns:a="http://schemas.openxmlformats.org/drawingml/2006/main" w="9525">
            <a:solidFill>
              <a:srgbClr val="CDD8D9"/>
            </a:solidFill>
          </a:ln>
        </p:spPr>
      </p:sp>
      <p:sp>
        <p:nvSpPr>
          <p:cNvPr id="12" name="text-11">
            <a:extLst xmlns:a="http://schemas.openxmlformats.org/drawingml/2006/main">
              <a:ext uri="{FF2B5EF4-FFF2-40B4-BE49-F238E27FC236}">
                <a16:creationId xmlns:a16="http://schemas.microsoft.com/office/drawing/2014/main" id="{31C414D2-8ECF-4F35-8CBD-DF4434394CAC}"/>
              </a:ext>
            </a:extLst>
          </p:cNvPr>
          <p:cNvSpPr>
            <a:spLocks xmlns:a="http://schemas.openxmlformats.org/drawingml/2006/main" noGrp="1"/>
          </p:cNvSpPr>
          <p:nvPr/>
        </p:nvSpPr>
        <p:spPr>
          <a:xfrm xmlns:a="http://schemas.openxmlformats.org/drawingml/2006/main">
            <a:off x="6438900" y="2724150"/>
            <a:ext cx="21717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근거 기반 기획</a:t>
            </a:r>
          </a:p>
        </p:txBody>
      </p:sp>
      <p:sp>
        <p:nvSpPr>
          <p:cNvPr id="13" name="">
            <a:extLst xmlns:a="http://schemas.openxmlformats.org/drawingml/2006/main">
              <a:ext uri="{FF2B5EF4-FFF2-40B4-BE49-F238E27FC236}">
                <a16:creationId xmlns:a16="http://schemas.microsoft.com/office/drawing/2014/main" id="{D7595798-979D-4C68-AA62-7F303093A138}"/>
              </a:ext>
            </a:extLst>
          </p:cNvPr>
          <p:cNvSpPr>
            <a:spLocks xmlns:a="http://schemas.openxmlformats.org/drawingml/2006/main" noGrp="1"/>
          </p:cNvSpPr>
          <p:nvPr/>
        </p:nvSpPr>
        <p:spPr>
          <a:xfrm xmlns:a="http://schemas.openxmlformats.org/drawingml/2006/main">
            <a:off x="9144000" y="2543175"/>
            <a:ext cx="2476500" cy="981075"/>
          </a:xfrm>
          <a:prstGeom xmlns:a="http://schemas.openxmlformats.org/drawingml/2006/main" prst="rect">
            <a:avLst/>
          </a:prstGeom>
          <a:solidFill xmlns:a="http://schemas.openxmlformats.org/drawingml/2006/main">
            <a:srgbClr val="FFFFFF"/>
          </a:solidFill>
          <a:ln xmlns:a="http://schemas.openxmlformats.org/drawingml/2006/main" w="9525">
            <a:solidFill>
              <a:srgbClr val="CDD8D9"/>
            </a:solidFill>
          </a:ln>
        </p:spPr>
      </p:sp>
      <p:sp>
        <p:nvSpPr>
          <p:cNvPr id="14" name="text-13">
            <a:extLst xmlns:a="http://schemas.openxmlformats.org/drawingml/2006/main">
              <a:ext uri="{FF2B5EF4-FFF2-40B4-BE49-F238E27FC236}">
                <a16:creationId xmlns:a16="http://schemas.microsoft.com/office/drawing/2014/main" id="{DFEB41EC-1296-4716-A064-4E21705C0929}"/>
              </a:ext>
            </a:extLst>
          </p:cNvPr>
          <p:cNvSpPr>
            <a:spLocks xmlns:a="http://schemas.openxmlformats.org/drawingml/2006/main" noGrp="1"/>
          </p:cNvSpPr>
          <p:nvPr/>
        </p:nvSpPr>
        <p:spPr>
          <a:xfrm xmlns:a="http://schemas.openxmlformats.org/drawingml/2006/main">
            <a:off x="9296400" y="2724150"/>
            <a:ext cx="21717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수정과 문서 출력</a:t>
            </a:r>
          </a:p>
        </p:txBody>
      </p:sp>
      <p:cxnSp>
        <p:nvCxnSpPr>
          <p:cNvPr id="36" name=""/>
          <p:cNvCxnSpPr>
            <a:stCxn xmlns:a="http://schemas.openxmlformats.org/drawingml/2006/main" id="7" idx="3"/>
            <a:endCxn xmlns:a="http://schemas.openxmlformats.org/drawingml/2006/main" id="9" idx="1"/>
          </p:cNvCxnSpPr>
          <p:nvPr/>
        </p:nvCxnSpPr>
        <p:spPr>
          <a:xfrm xmlns:a="http://schemas.openxmlformats.org/drawingml/2006/main">
            <a:off x="3048000" y="3033713"/>
            <a:ext cx="381000" cy="0"/>
          </a:xfrm>
          <a:prstGeom xmlns:a="http://schemas.openxmlformats.org/drawingml/2006/main" prst="straightConnector1">
            <a:avLst/>
          </a:prstGeom>
          <a:ln xmlns:a="http://schemas.openxmlformats.org/drawingml/2006/main" w="19050">
            <a:solidFill>
              <a:srgbClr val="087F82"/>
            </a:solidFill>
            <a:tailEnd type="arrow" w="med" len="med"/>
          </a:ln>
        </p:spPr>
      </p:cxnSp>
      <p:cxnSp>
        <p:nvCxnSpPr>
          <p:cNvPr id="37" name=""/>
          <p:cNvCxnSpPr>
            <a:stCxn xmlns:a="http://schemas.openxmlformats.org/drawingml/2006/main" id="9" idx="3"/>
            <a:endCxn xmlns:a="http://schemas.openxmlformats.org/drawingml/2006/main" id="11" idx="1"/>
          </p:cNvCxnSpPr>
          <p:nvPr/>
        </p:nvCxnSpPr>
        <p:spPr>
          <a:xfrm xmlns:a="http://schemas.openxmlformats.org/drawingml/2006/main">
            <a:off x="5905500" y="3033713"/>
            <a:ext cx="381000" cy="0"/>
          </a:xfrm>
          <a:prstGeom xmlns:a="http://schemas.openxmlformats.org/drawingml/2006/main" prst="straightConnector1">
            <a:avLst/>
          </a:prstGeom>
          <a:ln xmlns:a="http://schemas.openxmlformats.org/drawingml/2006/main" w="19050">
            <a:solidFill>
              <a:srgbClr val="087F82"/>
            </a:solidFill>
            <a:tailEnd type="arrow" w="med" len="med"/>
          </a:ln>
        </p:spPr>
      </p:cxnSp>
      <p:cxnSp>
        <p:nvCxnSpPr>
          <p:cNvPr id="38" name=""/>
          <p:cNvCxnSpPr>
            <a:stCxn xmlns:a="http://schemas.openxmlformats.org/drawingml/2006/main" id="11" idx="3"/>
            <a:endCxn xmlns:a="http://schemas.openxmlformats.org/drawingml/2006/main" id="13" idx="1"/>
          </p:cNvCxnSpPr>
          <p:nvPr/>
        </p:nvCxnSpPr>
        <p:spPr>
          <a:xfrm xmlns:a="http://schemas.openxmlformats.org/drawingml/2006/main">
            <a:off x="8763000" y="3033713"/>
            <a:ext cx="381000" cy="0"/>
          </a:xfrm>
          <a:prstGeom xmlns:a="http://schemas.openxmlformats.org/drawingml/2006/main" prst="straightConnector1">
            <a:avLst/>
          </a:prstGeom>
          <a:ln xmlns:a="http://schemas.openxmlformats.org/drawingml/2006/main" w="19050">
            <a:solidFill>
              <a:srgbClr val="087F82"/>
            </a:solidFill>
            <a:tailEnd type="arrow" w="med" len="med"/>
          </a:ln>
        </p:spPr>
      </p:cxnSp>
      <p:sp>
        <p:nvSpPr>
          <p:cNvPr id="18" name="text-17">
            <a:extLst xmlns:a="http://schemas.openxmlformats.org/drawingml/2006/main">
              <a:ext uri="{FF2B5EF4-FFF2-40B4-BE49-F238E27FC236}">
                <a16:creationId xmlns:a16="http://schemas.microsoft.com/office/drawing/2014/main" id="{609230B0-9375-4725-A5DB-FF1229FE6837}"/>
              </a:ext>
            </a:extLst>
          </p:cNvPr>
          <p:cNvSpPr>
            <a:spLocks xmlns:a="http://schemas.openxmlformats.org/drawingml/2006/main" noGrp="1"/>
          </p:cNvSpPr>
          <p:nvPr/>
        </p:nvSpPr>
        <p:spPr>
          <a:xfrm xmlns:a="http://schemas.openxmlformats.org/drawingml/2006/main">
            <a:off x="619125" y="3838575"/>
            <a:ext cx="24193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6B78"/>
                </a:solidFill>
                <a:latin typeface="Malgun Gothic"/>
                <a:ea typeface="Malgun Gothic"/>
                <a:cs typeface="Malgun Gothic"/>
              </a:defRPr>
            </a:pPr>
            <a:r>
              <a:rPr sz="1875" b="0">
                <a:solidFill>
                  <a:srgbClr val="536B78"/>
                </a:solidFill>
                <a:latin typeface="Malgun Gothic"/>
                <a:ea typeface="Malgun Gothic"/>
                <a:cs typeface="Malgun Gothic"/>
              </a:rPr>
              <a:t>방문·소비·체류 전망</a:t>
            </a:r>
          </a:p>
          <a:p xmlns:a="http://schemas.openxmlformats.org/drawingml/2006/main">
            <a:pPr algn="l">
              <a:defRPr sz="1875" b="0">
                <a:solidFill>
                  <a:srgbClr val="536B78"/>
                </a:solidFill>
                <a:latin typeface="Malgun Gothic"/>
                <a:ea typeface="Malgun Gothic"/>
                <a:cs typeface="Malgun Gothic"/>
              </a:defRPr>
            </a:pPr>
            <a:r>
              <a:rPr sz="1875" b="0">
                <a:solidFill>
                  <a:srgbClr val="536B78"/>
                </a:solidFill>
                <a:latin typeface="Malgun Gothic"/>
                <a:ea typeface="Malgun Gothic"/>
                <a:cs typeface="Malgun Gothic"/>
              </a:rPr>
              <a:t>업종별 소비 구성</a:t>
            </a:r>
          </a:p>
        </p:txBody>
      </p:sp>
      <p:sp>
        <p:nvSpPr>
          <p:cNvPr id="19" name="text-18">
            <a:extLst xmlns:a="http://schemas.openxmlformats.org/drawingml/2006/main">
              <a:ext uri="{FF2B5EF4-FFF2-40B4-BE49-F238E27FC236}">
                <a16:creationId xmlns:a16="http://schemas.microsoft.com/office/drawing/2014/main" id="{9662414B-9925-4A0E-8AB6-B7C6FF4E4FE6}"/>
              </a:ext>
            </a:extLst>
          </p:cNvPr>
          <p:cNvSpPr>
            <a:spLocks xmlns:a="http://schemas.openxmlformats.org/drawingml/2006/main" noGrp="1"/>
          </p:cNvSpPr>
          <p:nvPr/>
        </p:nvSpPr>
        <p:spPr>
          <a:xfrm xmlns:a="http://schemas.openxmlformats.org/drawingml/2006/main">
            <a:off x="3476625" y="3838575"/>
            <a:ext cx="24193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6B78"/>
                </a:solidFill>
                <a:latin typeface="Malgun Gothic"/>
                <a:ea typeface="Malgun Gothic"/>
                <a:cs typeface="Malgun Gothic"/>
              </a:defRPr>
            </a:pPr>
            <a:r>
              <a:rPr sz="1875" b="0">
                <a:solidFill>
                  <a:srgbClr val="536B78"/>
                </a:solidFill>
                <a:latin typeface="Malgun Gothic"/>
                <a:ea typeface="Malgun Gothic"/>
                <a:cs typeface="Malgun Gothic"/>
              </a:rPr>
              <a:t>방향·예산·가용 자원</a:t>
            </a:r>
          </a:p>
          <a:p xmlns:a="http://schemas.openxmlformats.org/drawingml/2006/main">
            <a:pPr algn="l">
              <a:defRPr sz="1875" b="0">
                <a:solidFill>
                  <a:srgbClr val="536B78"/>
                </a:solidFill>
                <a:latin typeface="Malgun Gothic"/>
                <a:ea typeface="Malgun Gothic"/>
                <a:cs typeface="Malgun Gothic"/>
              </a:defRPr>
            </a:pPr>
            <a:r>
              <a:rPr sz="1875" b="0">
                <a:solidFill>
                  <a:srgbClr val="536B78"/>
                </a:solidFill>
                <a:latin typeface="Malgun Gothic"/>
                <a:ea typeface="Malgun Gothic"/>
                <a:cs typeface="Malgun Gothic"/>
              </a:rPr>
              <a:t>현장 정보와 선호</a:t>
            </a:r>
          </a:p>
        </p:txBody>
      </p:sp>
      <p:sp>
        <p:nvSpPr>
          <p:cNvPr id="20" name="text-19">
            <a:extLst xmlns:a="http://schemas.openxmlformats.org/drawingml/2006/main">
              <a:ext uri="{FF2B5EF4-FFF2-40B4-BE49-F238E27FC236}">
                <a16:creationId xmlns:a16="http://schemas.microsoft.com/office/drawing/2014/main" id="{BA79A0DF-68E6-48C1-980B-82EF17F4BD80}"/>
              </a:ext>
            </a:extLst>
          </p:cNvPr>
          <p:cNvSpPr>
            <a:spLocks xmlns:a="http://schemas.openxmlformats.org/drawingml/2006/main" noGrp="1"/>
          </p:cNvSpPr>
          <p:nvPr/>
        </p:nvSpPr>
        <p:spPr>
          <a:xfrm xmlns:a="http://schemas.openxmlformats.org/drawingml/2006/main">
            <a:off x="6334125" y="3838575"/>
            <a:ext cx="24193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6B78"/>
                </a:solidFill>
                <a:latin typeface="Malgun Gothic"/>
                <a:ea typeface="Malgun Gothic"/>
                <a:cs typeface="Malgun Gothic"/>
              </a:defRPr>
            </a:pPr>
            <a:r>
              <a:rPr sz="1875" b="0">
                <a:solidFill>
                  <a:srgbClr val="536B78"/>
                </a:solidFill>
                <a:latin typeface="Malgun Gothic"/>
                <a:ea typeface="Malgun Gothic"/>
                <a:cs typeface="Malgun Gothic"/>
              </a:rPr>
              <a:t>공식 사례 비교</a:t>
            </a:r>
          </a:p>
          <a:p xmlns:a="http://schemas.openxmlformats.org/drawingml/2006/main">
            <a:pPr algn="l">
              <a:defRPr sz="1875" b="0">
                <a:solidFill>
                  <a:srgbClr val="536B78"/>
                </a:solidFill>
                <a:latin typeface="Malgun Gothic"/>
                <a:ea typeface="Malgun Gothic"/>
                <a:cs typeface="Malgun Gothic"/>
              </a:defRPr>
            </a:pPr>
            <a:r>
              <a:rPr sz="1875" b="0">
                <a:solidFill>
                  <a:srgbClr val="536B78"/>
                </a:solidFill>
                <a:latin typeface="Malgun Gothic"/>
                <a:ea typeface="Malgun Gothic"/>
                <a:cs typeface="Malgun Gothic"/>
              </a:rPr>
              <a:t>목표·실행안·검수</a:t>
            </a:r>
          </a:p>
        </p:txBody>
      </p:sp>
      <p:sp>
        <p:nvSpPr>
          <p:cNvPr id="21" name="text-20">
            <a:extLst xmlns:a="http://schemas.openxmlformats.org/drawingml/2006/main">
              <a:ext uri="{FF2B5EF4-FFF2-40B4-BE49-F238E27FC236}">
                <a16:creationId xmlns:a16="http://schemas.microsoft.com/office/drawing/2014/main" id="{FAC8B9C3-4B81-42B9-BA78-E2779035E06A}"/>
              </a:ext>
            </a:extLst>
          </p:cNvPr>
          <p:cNvSpPr>
            <a:spLocks xmlns:a="http://schemas.openxmlformats.org/drawingml/2006/main" noGrp="1"/>
          </p:cNvSpPr>
          <p:nvPr/>
        </p:nvSpPr>
        <p:spPr>
          <a:xfrm xmlns:a="http://schemas.openxmlformats.org/drawingml/2006/main">
            <a:off x="9191625" y="3838575"/>
            <a:ext cx="24193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6B78"/>
                </a:solidFill>
                <a:latin typeface="Malgun Gothic"/>
                <a:ea typeface="Malgun Gothic"/>
                <a:cs typeface="Malgun Gothic"/>
              </a:defRPr>
            </a:pPr>
            <a:r>
              <a:rPr sz="1875" b="0">
                <a:solidFill>
                  <a:srgbClr val="536B78"/>
                </a:solidFill>
                <a:latin typeface="Malgun Gothic"/>
                <a:ea typeface="Malgun Gothic"/>
                <a:cs typeface="Malgun Gothic"/>
              </a:rPr>
              <a:t>챗봇 수정과 자동 저장</a:t>
            </a:r>
          </a:p>
          <a:p xmlns:a="http://schemas.openxmlformats.org/drawingml/2006/main">
            <a:pPr algn="l">
              <a:defRPr sz="1875" b="0">
                <a:solidFill>
                  <a:srgbClr val="536B78"/>
                </a:solidFill>
                <a:latin typeface="Malgun Gothic"/>
                <a:ea typeface="Malgun Gothic"/>
                <a:cs typeface="Malgun Gothic"/>
              </a:defRPr>
            </a:pPr>
            <a:r>
              <a:rPr sz="1875" b="0">
                <a:solidFill>
                  <a:srgbClr val="536B78"/>
                </a:solidFill>
                <a:latin typeface="Malgun Gothic"/>
                <a:ea typeface="Malgun Gothic"/>
                <a:cs typeface="Malgun Gothic"/>
              </a:rPr>
              <a:t>PowerPoint·Word</a:t>
            </a:r>
          </a:p>
        </p:txBody>
      </p:sp>
    </p:spTree>
    <p:extLst>
      <p:ext uri="{BB962C8B-B14F-4D97-AF65-F5344CB8AC3E}">
        <p14:creationId xmlns:p14="http://schemas.microsoft.com/office/powerpoint/2010/main" val="1108605146"/>
      </p:ext>
    </p:extLst>
  </p:cSld>
</p:sld>
</file>

<file path=ppt/slides/slide6.xml><?xml version="1.0" encoding="utf-8"?>
<p:sld xmlns:p="http://schemas.openxmlformats.org/presentationml/2006/main">
  <p:cSld>
    <p:bg>
      <p:bgPr>
        <a:solidFill xmlns:a="http://schemas.openxmlformats.org/drawingml/2006/main">
          <a:srgbClr val="092638"/>
        </a:solidFill>
      </p:bgPr>
    </p:bg>
    <p:spTree>
      <p:nvGrpSpPr>
        <p:cNvPr id="1" name=""/>
        <p:cNvGrpSpPr/>
        <p:nvPr/>
      </p:nvGrpSpPr>
      <p:grpSpPr>
        <a:xfrm xmlns:a="http://schemas.openxmlformats.org/drawingml/2006/main"/>
      </p:grpSpPr>
      <p:sp>
        <p:nvSpPr>
          <p:cNvPr id="31" name="text-0.1698167821656683">
            <a:extLst xmlns:a="http://schemas.openxmlformats.org/drawingml/2006/main">
              <a:ext uri="{FF2B5EF4-FFF2-40B4-BE49-F238E27FC236}">
                <a16:creationId xmlns:a16="http://schemas.microsoft.com/office/drawing/2014/main" id="{AE535B8D-2520-4642-AC67-C436526E5EA2}"/>
              </a:ext>
            </a:extLst>
          </p:cNvPr>
          <p:cNvSpPr>
            <a:spLocks xmlns:a="http://schemas.openxmlformats.org/drawingml/2006/main" noGrp="1"/>
          </p:cNvSpPr>
          <p:nvPr/>
        </p:nvSpPr>
        <p:spPr>
          <a:xfrm xmlns:a="http://schemas.openxmlformats.org/drawingml/2006/main">
            <a:off x="571500" y="3048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69D5C3"/>
                </a:solidFill>
                <a:latin typeface="Malgun Gothic"/>
                <a:ea typeface="Malgun Gothic"/>
                <a:cs typeface="Malgun Gothic"/>
              </a:defRPr>
            </a:pPr>
            <a:r>
              <a:rPr sz="1200" b="1">
                <a:solidFill>
                  <a:srgbClr val="69D5C3"/>
                </a:solidFill>
                <a:latin typeface="Malgun Gothic"/>
                <a:ea typeface="Malgun Gothic"/>
                <a:cs typeface="Malgun Gothic"/>
              </a:rPr>
              <a:t>02 실제 사용 흐름</a:t>
            </a:r>
          </a:p>
        </p:txBody>
      </p:sp>
      <p:sp>
        <p:nvSpPr>
          <p:cNvPr id="2" name="text-1">
            <a:extLst xmlns:a="http://schemas.openxmlformats.org/drawingml/2006/main">
              <a:ext uri="{FF2B5EF4-FFF2-40B4-BE49-F238E27FC236}">
                <a16:creationId xmlns:a16="http://schemas.microsoft.com/office/drawing/2014/main" id="{5D47E52F-7262-44E8-811F-9F769FEA8CE2}"/>
              </a:ext>
            </a:extLst>
          </p:cNvPr>
          <p:cNvSpPr>
            <a:spLocks xmlns:a="http://schemas.openxmlformats.org/drawingml/2006/main" noGrp="1"/>
          </p:cNvSpPr>
          <p:nvPr/>
        </p:nvSpPr>
        <p:spPr>
          <a:xfrm xmlns:a="http://schemas.openxmlformats.org/drawingml/2006/main">
            <a:off x="571500" y="76200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Malgun Gothic"/>
                <a:ea typeface="Malgun Gothic"/>
                <a:cs typeface="Malgun Gothic"/>
              </a:defRPr>
            </a:pPr>
            <a:r>
              <a:rPr sz="3300" b="1">
                <a:solidFill>
                  <a:srgbClr val="FFFFFF"/>
                </a:solidFill>
                <a:latin typeface="Malgun Gothic"/>
                <a:ea typeface="Malgun Gothic"/>
                <a:cs typeface="Malgun Gothic"/>
              </a:rPr>
              <a:t>사용자 여정</a:t>
            </a:r>
          </a:p>
        </p:txBody>
      </p:sp>
      <p:sp>
        <p:nvSpPr>
          <p:cNvPr id="3" name="text-2">
            <a:extLst xmlns:a="http://schemas.openxmlformats.org/drawingml/2006/main">
              <a:ext uri="{FF2B5EF4-FFF2-40B4-BE49-F238E27FC236}">
                <a16:creationId xmlns:a16="http://schemas.microsoft.com/office/drawing/2014/main" id="{13C6EF67-4B46-4D28-A61B-C63C6ACC2FDE}"/>
              </a:ext>
            </a:extLst>
          </p:cNvPr>
          <p:cNvSpPr>
            <a:spLocks xmlns:a="http://schemas.openxmlformats.org/drawingml/2006/main" noGrp="1"/>
          </p:cNvSpPr>
          <p:nvPr/>
        </p:nvSpPr>
        <p:spPr>
          <a:xfrm xmlns:a="http://schemas.openxmlformats.org/drawingml/2006/main">
            <a:off x="571500" y="14954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BAD2DA"/>
                </a:solidFill>
                <a:latin typeface="Malgun Gothic"/>
                <a:ea typeface="Malgun Gothic"/>
                <a:cs typeface="Malgun Gothic"/>
              </a:defRPr>
            </a:pPr>
            <a:r>
              <a:rPr sz="1725" b="0">
                <a:solidFill>
                  <a:srgbClr val="BAD2DA"/>
                </a:solidFill>
                <a:latin typeface="Malgun Gothic"/>
                <a:ea typeface="Malgun Gothic"/>
                <a:cs typeface="Malgun Gothic"/>
              </a:rPr>
              <a:t>접속부터 저장된 기획서 재열람까지</a:t>
            </a:r>
          </a:p>
        </p:txBody>
      </p:sp>
      <p:sp>
        <p:nvSpPr>
          <p:cNvPr id="4" name="">
            <a:extLst xmlns:a="http://schemas.openxmlformats.org/drawingml/2006/main">
              <a:ext uri="{FF2B5EF4-FFF2-40B4-BE49-F238E27FC236}">
                <a16:creationId xmlns:a16="http://schemas.microsoft.com/office/drawing/2014/main" id="{ABF5C8C7-6467-459D-87BC-DCA4B77AD886}"/>
              </a:ext>
            </a:extLst>
          </p:cNvPr>
          <p:cNvSpPr>
            <a:spLocks xmlns:a="http://schemas.openxmlformats.org/drawingml/2006/main" noGrp="1"/>
          </p:cNvSpPr>
          <p:nvPr/>
        </p:nvSpPr>
        <p:spPr>
          <a:xfrm xmlns:a="http://schemas.openxmlformats.org/drawingml/2006/main">
            <a:off x="571500" y="6324600"/>
            <a:ext cx="11049000" cy="0"/>
          </a:xfrm>
          <a:prstGeom xmlns:a="http://schemas.openxmlformats.org/drawingml/2006/main" prst="line">
            <a:avLst/>
          </a:prstGeom>
          <a:noFill xmlns:a="http://schemas.openxmlformats.org/drawingml/2006/main"/>
          <a:ln xmlns:a="http://schemas.openxmlformats.org/drawingml/2006/main" w="9525">
            <a:solidFill>
              <a:srgbClr val="2A4959"/>
            </a:solidFill>
            <a:prstDash val="solid"/>
          </a:ln>
        </p:spPr>
      </p:sp>
      <p:sp>
        <p:nvSpPr>
          <p:cNvPr id="5" name="text-4">
            <a:extLst xmlns:a="http://schemas.openxmlformats.org/drawingml/2006/main">
              <a:ext uri="{FF2B5EF4-FFF2-40B4-BE49-F238E27FC236}">
                <a16:creationId xmlns:a16="http://schemas.microsoft.com/office/drawing/2014/main" id="{01CC5EAD-4681-4A7F-99EF-673DA84261B3}"/>
              </a:ext>
            </a:extLst>
          </p:cNvPr>
          <p:cNvSpPr>
            <a:spLocks xmlns:a="http://schemas.openxmlformats.org/drawingml/2006/main" noGrp="1"/>
          </p:cNvSpPr>
          <p:nvPr/>
        </p:nvSpPr>
        <p:spPr>
          <a:xfrm xmlns:a="http://schemas.openxmlformats.org/drawingml/2006/main">
            <a:off x="571500" y="64960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8CAAB8"/>
                </a:solidFill>
                <a:latin typeface="Arial"/>
                <a:ea typeface="Arial"/>
                <a:cs typeface="Arial"/>
              </a:defRPr>
            </a:pPr>
            <a:r>
              <a:rPr sz="1050" b="1">
                <a:solidFill>
                  <a:srgbClr val="8CAAB8"/>
                </a:solidFill>
                <a:latin typeface="Arial"/>
                <a:ea typeface="Arial"/>
                <a:cs typeface="Arial"/>
              </a:rPr>
              <a:t>OLIGO-K</a:t>
            </a:r>
          </a:p>
        </p:txBody>
      </p:sp>
      <p:sp>
        <p:nvSpPr>
          <p:cNvPr id="6" name="text-5">
            <a:extLst xmlns:a="http://schemas.openxmlformats.org/drawingml/2006/main">
              <a:ext uri="{FF2B5EF4-FFF2-40B4-BE49-F238E27FC236}">
                <a16:creationId xmlns:a16="http://schemas.microsoft.com/office/drawing/2014/main" id="{5951B3A1-1642-413F-B1D2-D1DB5EB332E9}"/>
              </a:ext>
            </a:extLst>
          </p:cNvPr>
          <p:cNvSpPr>
            <a:spLocks xmlns:a="http://schemas.openxmlformats.org/drawingml/2006/main" noGrp="1"/>
          </p:cNvSpPr>
          <p:nvPr/>
        </p:nvSpPr>
        <p:spPr>
          <a:xfrm xmlns:a="http://schemas.openxmlformats.org/drawingml/2006/main">
            <a:off x="11049000" y="64674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1">
                <a:solidFill>
                  <a:srgbClr val="69D5C3"/>
                </a:solidFill>
                <a:latin typeface="Arial"/>
                <a:ea typeface="Arial"/>
                <a:cs typeface="Arial"/>
              </a:defRPr>
            </a:pPr>
            <a:r>
              <a:rPr sz="1350" b="1">
                <a:solidFill>
                  <a:srgbClr val="69D5C3"/>
                </a:solidFill>
                <a:latin typeface="Arial"/>
                <a:ea typeface="Arial"/>
                <a:cs typeface="Arial"/>
              </a:rPr>
              <a:t>06</a:t>
            </a:r>
          </a:p>
        </p:txBody>
      </p:sp>
      <p:sp>
        <p:nvSpPr>
          <p:cNvPr id="7" name="text-6">
            <a:extLst xmlns:a="http://schemas.openxmlformats.org/drawingml/2006/main">
              <a:ext uri="{FF2B5EF4-FFF2-40B4-BE49-F238E27FC236}">
                <a16:creationId xmlns:a16="http://schemas.microsoft.com/office/drawing/2014/main" id="{4803B671-AE40-4C22-9900-219ED9CDBE93}"/>
              </a:ext>
            </a:extLst>
          </p:cNvPr>
          <p:cNvSpPr>
            <a:spLocks xmlns:a="http://schemas.openxmlformats.org/drawingml/2006/main" noGrp="1"/>
          </p:cNvSpPr>
          <p:nvPr/>
        </p:nvSpPr>
        <p:spPr>
          <a:xfrm xmlns:a="http://schemas.openxmlformats.org/drawingml/2006/main">
            <a:off x="571500" y="2266950"/>
            <a:ext cx="142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69D5C3"/>
                </a:solidFill>
                <a:latin typeface="Arial"/>
                <a:ea typeface="Arial"/>
                <a:cs typeface="Arial"/>
              </a:defRPr>
            </a:pPr>
            <a:r>
              <a:rPr sz="3750" b="1">
                <a:solidFill>
                  <a:srgbClr val="69D5C3"/>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9E466052-95DF-4D50-9B47-54740B66CC4A}"/>
              </a:ext>
            </a:extLst>
          </p:cNvPr>
          <p:cNvSpPr>
            <a:spLocks xmlns:a="http://schemas.openxmlformats.org/drawingml/2006/main" noGrp="1"/>
          </p:cNvSpPr>
          <p:nvPr/>
        </p:nvSpPr>
        <p:spPr>
          <a:xfrm xmlns:a="http://schemas.openxmlformats.org/drawingml/2006/main">
            <a:off x="571500" y="3076575"/>
            <a:ext cx="2000250" cy="866775"/>
          </a:xfrm>
          <a:prstGeom xmlns:a="http://schemas.openxmlformats.org/drawingml/2006/main" prst="rect">
            <a:avLst/>
          </a:prstGeom>
          <a:solidFill xmlns:a="http://schemas.openxmlformats.org/drawingml/2006/main">
            <a:srgbClr val="163B4C"/>
          </a:solidFill>
          <a:ln xmlns:a="http://schemas.openxmlformats.org/drawingml/2006/main" w="9525">
            <a:solidFill>
              <a:srgbClr val="366273"/>
            </a:solidFill>
          </a:ln>
        </p:spPr>
      </p:sp>
      <p:sp>
        <p:nvSpPr>
          <p:cNvPr id="9" name="text-8">
            <a:extLst xmlns:a="http://schemas.openxmlformats.org/drawingml/2006/main">
              <a:ext uri="{FF2B5EF4-FFF2-40B4-BE49-F238E27FC236}">
                <a16:creationId xmlns:a16="http://schemas.microsoft.com/office/drawing/2014/main" id="{66B7EDEA-1C17-4D32-81A6-849492F2D351}"/>
              </a:ext>
            </a:extLst>
          </p:cNvPr>
          <p:cNvSpPr>
            <a:spLocks xmlns:a="http://schemas.openxmlformats.org/drawingml/2006/main" noGrp="1"/>
          </p:cNvSpPr>
          <p:nvPr/>
        </p:nvSpPr>
        <p:spPr>
          <a:xfrm xmlns:a="http://schemas.openxmlformats.org/drawingml/2006/main">
            <a:off x="723900" y="3257550"/>
            <a:ext cx="16954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지역 선택</a:t>
            </a:r>
          </a:p>
        </p:txBody>
      </p:sp>
      <p:sp>
        <p:nvSpPr>
          <p:cNvPr id="10" name="text-9">
            <a:extLst xmlns:a="http://schemas.openxmlformats.org/drawingml/2006/main">
              <a:ext uri="{FF2B5EF4-FFF2-40B4-BE49-F238E27FC236}">
                <a16:creationId xmlns:a16="http://schemas.microsoft.com/office/drawing/2014/main" id="{4E51AD6D-2A58-4C08-8493-ADCA705F4C8D}"/>
              </a:ext>
            </a:extLst>
          </p:cNvPr>
          <p:cNvSpPr>
            <a:spLocks xmlns:a="http://schemas.openxmlformats.org/drawingml/2006/main" noGrp="1"/>
          </p:cNvSpPr>
          <p:nvPr/>
        </p:nvSpPr>
        <p:spPr>
          <a:xfrm xmlns:a="http://schemas.openxmlformats.org/drawingml/2006/main">
            <a:off x="571500" y="4276725"/>
            <a:ext cx="202882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EE0E5"/>
                </a:solidFill>
                <a:latin typeface="Malgun Gothic"/>
                <a:ea typeface="Malgun Gothic"/>
                <a:cs typeface="Malgun Gothic"/>
              </a:defRPr>
            </a:pPr>
            <a:r>
              <a:rPr sz="1800" b="0">
                <a:solidFill>
                  <a:srgbClr val="CEE0E5"/>
                </a:solidFill>
                <a:latin typeface="Malgun Gothic"/>
                <a:ea typeface="Malgun Gothic"/>
                <a:cs typeface="Malgun Gothic"/>
              </a:rPr>
              <a:t>지도와 검색으로</a:t>
            </a:r>
          </a:p>
          <a:p xmlns:a="http://schemas.openxmlformats.org/drawingml/2006/main">
            <a:pPr algn="l">
              <a:defRPr sz="1800" b="0">
                <a:solidFill>
                  <a:srgbClr val="CEE0E5"/>
                </a:solidFill>
                <a:latin typeface="Malgun Gothic"/>
                <a:ea typeface="Malgun Gothic"/>
                <a:cs typeface="Malgun Gothic"/>
              </a:defRPr>
            </a:pPr>
            <a:r>
              <a:rPr sz="1800" b="0">
                <a:solidFill>
                  <a:srgbClr val="CEE0E5"/>
                </a:solidFill>
                <a:latin typeface="Malgun Gothic"/>
                <a:ea typeface="Malgun Gothic"/>
                <a:cs typeface="Malgun Gothic"/>
              </a:rPr>
              <a:t>시군구 선택</a:t>
            </a:r>
          </a:p>
        </p:txBody>
      </p:sp>
      <p:sp>
        <p:nvSpPr>
          <p:cNvPr id="11" name="text-10">
            <a:extLst xmlns:a="http://schemas.openxmlformats.org/drawingml/2006/main">
              <a:ext uri="{FF2B5EF4-FFF2-40B4-BE49-F238E27FC236}">
                <a16:creationId xmlns:a16="http://schemas.microsoft.com/office/drawing/2014/main" id="{4DF149CB-16C0-4422-9A8D-0A23B641A233}"/>
              </a:ext>
            </a:extLst>
          </p:cNvPr>
          <p:cNvSpPr>
            <a:spLocks xmlns:a="http://schemas.openxmlformats.org/drawingml/2006/main" noGrp="1"/>
          </p:cNvSpPr>
          <p:nvPr/>
        </p:nvSpPr>
        <p:spPr>
          <a:xfrm xmlns:a="http://schemas.openxmlformats.org/drawingml/2006/main">
            <a:off x="2838450" y="2266950"/>
            <a:ext cx="142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69D5C3"/>
                </a:solidFill>
                <a:latin typeface="Arial"/>
                <a:ea typeface="Arial"/>
                <a:cs typeface="Arial"/>
              </a:defRPr>
            </a:pPr>
            <a:r>
              <a:rPr sz="3750" b="1">
                <a:solidFill>
                  <a:srgbClr val="69D5C3"/>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51A6C18F-23C5-41CC-BE32-4C41606E13CD}"/>
              </a:ext>
            </a:extLst>
          </p:cNvPr>
          <p:cNvSpPr>
            <a:spLocks xmlns:a="http://schemas.openxmlformats.org/drawingml/2006/main" noGrp="1"/>
          </p:cNvSpPr>
          <p:nvPr/>
        </p:nvSpPr>
        <p:spPr>
          <a:xfrm xmlns:a="http://schemas.openxmlformats.org/drawingml/2006/main">
            <a:off x="2838450" y="3076575"/>
            <a:ext cx="2000250" cy="866775"/>
          </a:xfrm>
          <a:prstGeom xmlns:a="http://schemas.openxmlformats.org/drawingml/2006/main" prst="rect">
            <a:avLst/>
          </a:prstGeom>
          <a:solidFill xmlns:a="http://schemas.openxmlformats.org/drawingml/2006/main">
            <a:srgbClr val="163B4C"/>
          </a:solidFill>
          <a:ln xmlns:a="http://schemas.openxmlformats.org/drawingml/2006/main" w="9525">
            <a:solidFill>
              <a:srgbClr val="366273"/>
            </a:solidFill>
          </a:ln>
        </p:spPr>
      </p:sp>
      <p:sp>
        <p:nvSpPr>
          <p:cNvPr id="13" name="text-12">
            <a:extLst xmlns:a="http://schemas.openxmlformats.org/drawingml/2006/main">
              <a:ext uri="{FF2B5EF4-FFF2-40B4-BE49-F238E27FC236}">
                <a16:creationId xmlns:a16="http://schemas.microsoft.com/office/drawing/2014/main" id="{1BCDF08B-462E-4739-9502-566C9C2F3DEF}"/>
              </a:ext>
            </a:extLst>
          </p:cNvPr>
          <p:cNvSpPr>
            <a:spLocks xmlns:a="http://schemas.openxmlformats.org/drawingml/2006/main" noGrp="1"/>
          </p:cNvSpPr>
          <p:nvPr/>
        </p:nvSpPr>
        <p:spPr>
          <a:xfrm xmlns:a="http://schemas.openxmlformats.org/drawingml/2006/main">
            <a:off x="2990850" y="3257550"/>
            <a:ext cx="16954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조건 입력</a:t>
            </a:r>
          </a:p>
        </p:txBody>
      </p:sp>
      <p:sp>
        <p:nvSpPr>
          <p:cNvPr id="14" name="text-13">
            <a:extLst xmlns:a="http://schemas.openxmlformats.org/drawingml/2006/main">
              <a:ext uri="{FF2B5EF4-FFF2-40B4-BE49-F238E27FC236}">
                <a16:creationId xmlns:a16="http://schemas.microsoft.com/office/drawing/2014/main" id="{A8F339A3-0E01-441C-98EF-8EFFB33888C4}"/>
              </a:ext>
            </a:extLst>
          </p:cNvPr>
          <p:cNvSpPr>
            <a:spLocks xmlns:a="http://schemas.openxmlformats.org/drawingml/2006/main" noGrp="1"/>
          </p:cNvSpPr>
          <p:nvPr/>
        </p:nvSpPr>
        <p:spPr>
          <a:xfrm xmlns:a="http://schemas.openxmlformats.org/drawingml/2006/main">
            <a:off x="2838450" y="4276725"/>
            <a:ext cx="202882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EE0E5"/>
                </a:solidFill>
                <a:latin typeface="Malgun Gothic"/>
                <a:ea typeface="Malgun Gothic"/>
                <a:cs typeface="Malgun Gothic"/>
              </a:defRPr>
            </a:pPr>
            <a:r>
              <a:rPr sz="1800" b="0">
                <a:solidFill>
                  <a:srgbClr val="CEE0E5"/>
                </a:solidFill>
                <a:latin typeface="Malgun Gothic"/>
                <a:ea typeface="Malgun Gothic"/>
                <a:cs typeface="Malgun Gothic"/>
              </a:rPr>
              <a:t>사업 방향과</a:t>
            </a:r>
          </a:p>
          <a:p xmlns:a="http://schemas.openxmlformats.org/drawingml/2006/main">
            <a:pPr algn="l">
              <a:defRPr sz="1800" b="0">
                <a:solidFill>
                  <a:srgbClr val="CEE0E5"/>
                </a:solidFill>
                <a:latin typeface="Malgun Gothic"/>
                <a:ea typeface="Malgun Gothic"/>
                <a:cs typeface="Malgun Gothic"/>
              </a:defRPr>
            </a:pPr>
            <a:r>
              <a:rPr sz="1800" b="0">
                <a:solidFill>
                  <a:srgbClr val="CEE0E5"/>
                </a:solidFill>
                <a:latin typeface="Malgun Gothic"/>
                <a:ea typeface="Malgun Gothic"/>
                <a:cs typeface="Malgun Gothic"/>
              </a:rPr>
              <a:t>예산·자원 설정</a:t>
            </a:r>
          </a:p>
        </p:txBody>
      </p:sp>
      <p:sp>
        <p:nvSpPr>
          <p:cNvPr id="15" name="text-14">
            <a:extLst xmlns:a="http://schemas.openxmlformats.org/drawingml/2006/main">
              <a:ext uri="{FF2B5EF4-FFF2-40B4-BE49-F238E27FC236}">
                <a16:creationId xmlns:a16="http://schemas.microsoft.com/office/drawing/2014/main" id="{4AB11C05-B08B-414B-92A8-BCD277484A83}"/>
              </a:ext>
            </a:extLst>
          </p:cNvPr>
          <p:cNvSpPr>
            <a:spLocks xmlns:a="http://schemas.openxmlformats.org/drawingml/2006/main" noGrp="1"/>
          </p:cNvSpPr>
          <p:nvPr/>
        </p:nvSpPr>
        <p:spPr>
          <a:xfrm xmlns:a="http://schemas.openxmlformats.org/drawingml/2006/main">
            <a:off x="5105400" y="2266950"/>
            <a:ext cx="142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69D5C3"/>
                </a:solidFill>
                <a:latin typeface="Arial"/>
                <a:ea typeface="Arial"/>
                <a:cs typeface="Arial"/>
              </a:defRPr>
            </a:pPr>
            <a:r>
              <a:rPr sz="3750" b="1">
                <a:solidFill>
                  <a:srgbClr val="69D5C3"/>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E7BD4269-D96C-4909-AE2B-321E9EDCE4F0}"/>
              </a:ext>
            </a:extLst>
          </p:cNvPr>
          <p:cNvSpPr>
            <a:spLocks xmlns:a="http://schemas.openxmlformats.org/drawingml/2006/main" noGrp="1"/>
          </p:cNvSpPr>
          <p:nvPr/>
        </p:nvSpPr>
        <p:spPr>
          <a:xfrm xmlns:a="http://schemas.openxmlformats.org/drawingml/2006/main">
            <a:off x="5105400" y="3076575"/>
            <a:ext cx="2000250" cy="866775"/>
          </a:xfrm>
          <a:prstGeom xmlns:a="http://schemas.openxmlformats.org/drawingml/2006/main" prst="rect">
            <a:avLst/>
          </a:prstGeom>
          <a:solidFill xmlns:a="http://schemas.openxmlformats.org/drawingml/2006/main">
            <a:srgbClr val="163B4C"/>
          </a:solidFill>
          <a:ln xmlns:a="http://schemas.openxmlformats.org/drawingml/2006/main" w="9525">
            <a:solidFill>
              <a:srgbClr val="366273"/>
            </a:solidFill>
          </a:ln>
        </p:spPr>
      </p:sp>
      <p:sp>
        <p:nvSpPr>
          <p:cNvPr id="17" name="text-16">
            <a:extLst xmlns:a="http://schemas.openxmlformats.org/drawingml/2006/main">
              <a:ext uri="{FF2B5EF4-FFF2-40B4-BE49-F238E27FC236}">
                <a16:creationId xmlns:a16="http://schemas.microsoft.com/office/drawing/2014/main" id="{95834872-D57C-400D-B41E-59B923B28566}"/>
              </a:ext>
            </a:extLst>
          </p:cNvPr>
          <p:cNvSpPr>
            <a:spLocks xmlns:a="http://schemas.openxmlformats.org/drawingml/2006/main" noGrp="1"/>
          </p:cNvSpPr>
          <p:nvPr/>
        </p:nvSpPr>
        <p:spPr>
          <a:xfrm xmlns:a="http://schemas.openxmlformats.org/drawingml/2006/main">
            <a:off x="5257800" y="3257550"/>
            <a:ext cx="16954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생성 진행</a:t>
            </a:r>
          </a:p>
        </p:txBody>
      </p:sp>
      <p:sp>
        <p:nvSpPr>
          <p:cNvPr id="18" name="text-17">
            <a:extLst xmlns:a="http://schemas.openxmlformats.org/drawingml/2006/main">
              <a:ext uri="{FF2B5EF4-FFF2-40B4-BE49-F238E27FC236}">
                <a16:creationId xmlns:a16="http://schemas.microsoft.com/office/drawing/2014/main" id="{E37A3F1A-3760-4CA8-8B54-329CC5650F3B}"/>
              </a:ext>
            </a:extLst>
          </p:cNvPr>
          <p:cNvSpPr>
            <a:spLocks xmlns:a="http://schemas.openxmlformats.org/drawingml/2006/main" noGrp="1"/>
          </p:cNvSpPr>
          <p:nvPr/>
        </p:nvSpPr>
        <p:spPr>
          <a:xfrm xmlns:a="http://schemas.openxmlformats.org/drawingml/2006/main">
            <a:off x="5105400" y="4276725"/>
            <a:ext cx="202882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EE0E5"/>
                </a:solidFill>
                <a:latin typeface="Malgun Gothic"/>
                <a:ea typeface="Malgun Gothic"/>
                <a:cs typeface="Malgun Gothic"/>
              </a:defRPr>
            </a:pPr>
            <a:r>
              <a:rPr sz="1800" b="0">
                <a:solidFill>
                  <a:srgbClr val="CEE0E5"/>
                </a:solidFill>
                <a:latin typeface="Malgun Gothic"/>
                <a:ea typeface="Malgun Gothic"/>
                <a:cs typeface="Malgun Gothic"/>
              </a:rPr>
              <a:t>실행 단계와</a:t>
            </a:r>
          </a:p>
          <a:p xmlns:a="http://schemas.openxmlformats.org/drawingml/2006/main">
            <a:pPr algn="l">
              <a:defRPr sz="1800" b="0">
                <a:solidFill>
                  <a:srgbClr val="CEE0E5"/>
                </a:solidFill>
                <a:latin typeface="Malgun Gothic"/>
                <a:ea typeface="Malgun Gothic"/>
                <a:cs typeface="Malgun Gothic"/>
              </a:defRPr>
            </a:pPr>
            <a:r>
              <a:rPr sz="1800" b="0">
                <a:solidFill>
                  <a:srgbClr val="CEE0E5"/>
                </a:solidFill>
                <a:latin typeface="Malgun Gothic"/>
                <a:ea typeface="Malgun Gothic"/>
                <a:cs typeface="Malgun Gothic"/>
              </a:rPr>
              <a:t>진행 상태 확인</a:t>
            </a:r>
          </a:p>
        </p:txBody>
      </p:sp>
      <p:sp>
        <p:nvSpPr>
          <p:cNvPr id="19" name="text-18">
            <a:extLst xmlns:a="http://schemas.openxmlformats.org/drawingml/2006/main">
              <a:ext uri="{FF2B5EF4-FFF2-40B4-BE49-F238E27FC236}">
                <a16:creationId xmlns:a16="http://schemas.microsoft.com/office/drawing/2014/main" id="{9F6CA7EA-1914-4443-93F0-92AE57988176}"/>
              </a:ext>
            </a:extLst>
          </p:cNvPr>
          <p:cNvSpPr>
            <a:spLocks xmlns:a="http://schemas.openxmlformats.org/drawingml/2006/main" noGrp="1"/>
          </p:cNvSpPr>
          <p:nvPr/>
        </p:nvSpPr>
        <p:spPr>
          <a:xfrm xmlns:a="http://schemas.openxmlformats.org/drawingml/2006/main">
            <a:off x="7372350" y="2266950"/>
            <a:ext cx="142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69D5C3"/>
                </a:solidFill>
                <a:latin typeface="Arial"/>
                <a:ea typeface="Arial"/>
                <a:cs typeface="Arial"/>
              </a:defRPr>
            </a:pPr>
            <a:r>
              <a:rPr sz="3750" b="1">
                <a:solidFill>
                  <a:srgbClr val="69D5C3"/>
                </a:solidFill>
                <a:latin typeface="Arial"/>
                <a:ea typeface="Arial"/>
                <a:cs typeface="Arial"/>
              </a:rPr>
              <a:t>04</a:t>
            </a:r>
          </a:p>
        </p:txBody>
      </p:sp>
      <p:sp>
        <p:nvSpPr>
          <p:cNvPr id="20" name="">
            <a:extLst xmlns:a="http://schemas.openxmlformats.org/drawingml/2006/main">
              <a:ext uri="{FF2B5EF4-FFF2-40B4-BE49-F238E27FC236}">
                <a16:creationId xmlns:a16="http://schemas.microsoft.com/office/drawing/2014/main" id="{F6D7F463-5C9C-43F2-81AB-51F54D04D6C5}"/>
              </a:ext>
            </a:extLst>
          </p:cNvPr>
          <p:cNvSpPr>
            <a:spLocks xmlns:a="http://schemas.openxmlformats.org/drawingml/2006/main" noGrp="1"/>
          </p:cNvSpPr>
          <p:nvPr/>
        </p:nvSpPr>
        <p:spPr>
          <a:xfrm xmlns:a="http://schemas.openxmlformats.org/drawingml/2006/main">
            <a:off x="7372350" y="3076575"/>
            <a:ext cx="2000250" cy="866775"/>
          </a:xfrm>
          <a:prstGeom xmlns:a="http://schemas.openxmlformats.org/drawingml/2006/main" prst="rect">
            <a:avLst/>
          </a:prstGeom>
          <a:solidFill xmlns:a="http://schemas.openxmlformats.org/drawingml/2006/main">
            <a:srgbClr val="087F82"/>
          </a:solidFill>
          <a:ln xmlns:a="http://schemas.openxmlformats.org/drawingml/2006/main" w="9525">
            <a:solidFill>
              <a:srgbClr val="366273"/>
            </a:solidFill>
          </a:ln>
        </p:spPr>
      </p:sp>
      <p:sp>
        <p:nvSpPr>
          <p:cNvPr id="21" name="text-20">
            <a:extLst xmlns:a="http://schemas.openxmlformats.org/drawingml/2006/main">
              <a:ext uri="{FF2B5EF4-FFF2-40B4-BE49-F238E27FC236}">
                <a16:creationId xmlns:a16="http://schemas.microsoft.com/office/drawing/2014/main" id="{2221E1F5-81DF-421B-915B-CD67F5866E1B}"/>
              </a:ext>
            </a:extLst>
          </p:cNvPr>
          <p:cNvSpPr>
            <a:spLocks xmlns:a="http://schemas.openxmlformats.org/drawingml/2006/main" noGrp="1"/>
          </p:cNvSpPr>
          <p:nvPr/>
        </p:nvSpPr>
        <p:spPr>
          <a:xfrm xmlns:a="http://schemas.openxmlformats.org/drawingml/2006/main">
            <a:off x="7524750" y="3257550"/>
            <a:ext cx="16954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검토·수정</a:t>
            </a:r>
          </a:p>
        </p:txBody>
      </p:sp>
      <p:sp>
        <p:nvSpPr>
          <p:cNvPr id="22" name="text-21">
            <a:extLst xmlns:a="http://schemas.openxmlformats.org/drawingml/2006/main">
              <a:ext uri="{FF2B5EF4-FFF2-40B4-BE49-F238E27FC236}">
                <a16:creationId xmlns:a16="http://schemas.microsoft.com/office/drawing/2014/main" id="{57EC7DC5-2BD1-4F4A-858E-B6E6FE61C011}"/>
              </a:ext>
            </a:extLst>
          </p:cNvPr>
          <p:cNvSpPr>
            <a:spLocks xmlns:a="http://schemas.openxmlformats.org/drawingml/2006/main" noGrp="1"/>
          </p:cNvSpPr>
          <p:nvPr/>
        </p:nvSpPr>
        <p:spPr>
          <a:xfrm xmlns:a="http://schemas.openxmlformats.org/drawingml/2006/main">
            <a:off x="7372350" y="4276725"/>
            <a:ext cx="202882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EE0E5"/>
                </a:solidFill>
                <a:latin typeface="Malgun Gothic"/>
                <a:ea typeface="Malgun Gothic"/>
                <a:cs typeface="Malgun Gothic"/>
              </a:defRPr>
            </a:pPr>
            <a:r>
              <a:rPr sz="1800" b="0">
                <a:solidFill>
                  <a:srgbClr val="CEE0E5"/>
                </a:solidFill>
                <a:latin typeface="Malgun Gothic"/>
                <a:ea typeface="Malgun Gothic"/>
                <a:cs typeface="Malgun Gothic"/>
              </a:rPr>
              <a:t>페이지별 미리보기</a:t>
            </a:r>
          </a:p>
          <a:p xmlns:a="http://schemas.openxmlformats.org/drawingml/2006/main">
            <a:pPr algn="l">
              <a:defRPr sz="1800" b="0">
                <a:solidFill>
                  <a:srgbClr val="CEE0E5"/>
                </a:solidFill>
                <a:latin typeface="Malgun Gothic"/>
                <a:ea typeface="Malgun Gothic"/>
                <a:cs typeface="Malgun Gothic"/>
              </a:defRPr>
            </a:pPr>
            <a:r>
              <a:rPr sz="1800" b="0">
                <a:solidFill>
                  <a:srgbClr val="CEE0E5"/>
                </a:solidFill>
                <a:latin typeface="Malgun Gothic"/>
                <a:ea typeface="Malgun Gothic"/>
                <a:cs typeface="Malgun Gothic"/>
              </a:rPr>
              <a:t>챗봇 수정안 적용</a:t>
            </a:r>
          </a:p>
        </p:txBody>
      </p:sp>
      <p:sp>
        <p:nvSpPr>
          <p:cNvPr id="23" name="text-22">
            <a:extLst xmlns:a="http://schemas.openxmlformats.org/drawingml/2006/main">
              <a:ext uri="{FF2B5EF4-FFF2-40B4-BE49-F238E27FC236}">
                <a16:creationId xmlns:a16="http://schemas.microsoft.com/office/drawing/2014/main" id="{20FB4DE9-E0FC-4E78-B506-9F458C3E093E}"/>
              </a:ext>
            </a:extLst>
          </p:cNvPr>
          <p:cNvSpPr>
            <a:spLocks xmlns:a="http://schemas.openxmlformats.org/drawingml/2006/main" noGrp="1"/>
          </p:cNvSpPr>
          <p:nvPr/>
        </p:nvSpPr>
        <p:spPr>
          <a:xfrm xmlns:a="http://schemas.openxmlformats.org/drawingml/2006/main">
            <a:off x="9639300" y="2266950"/>
            <a:ext cx="142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69D5C3"/>
                </a:solidFill>
                <a:latin typeface="Arial"/>
                <a:ea typeface="Arial"/>
                <a:cs typeface="Arial"/>
              </a:defRPr>
            </a:pPr>
            <a:r>
              <a:rPr sz="3750" b="1">
                <a:solidFill>
                  <a:srgbClr val="69D5C3"/>
                </a:solidFill>
                <a:latin typeface="Arial"/>
                <a:ea typeface="Arial"/>
                <a:cs typeface="Arial"/>
              </a:rPr>
              <a:t>05</a:t>
            </a:r>
          </a:p>
        </p:txBody>
      </p:sp>
      <p:sp>
        <p:nvSpPr>
          <p:cNvPr id="24" name="">
            <a:extLst xmlns:a="http://schemas.openxmlformats.org/drawingml/2006/main">
              <a:ext uri="{FF2B5EF4-FFF2-40B4-BE49-F238E27FC236}">
                <a16:creationId xmlns:a16="http://schemas.microsoft.com/office/drawing/2014/main" id="{6FE17C6A-9340-4636-909C-4E51F37F9647}"/>
              </a:ext>
            </a:extLst>
          </p:cNvPr>
          <p:cNvSpPr>
            <a:spLocks xmlns:a="http://schemas.openxmlformats.org/drawingml/2006/main" noGrp="1"/>
          </p:cNvSpPr>
          <p:nvPr/>
        </p:nvSpPr>
        <p:spPr>
          <a:xfrm xmlns:a="http://schemas.openxmlformats.org/drawingml/2006/main">
            <a:off x="9639300" y="3076575"/>
            <a:ext cx="2000250" cy="866775"/>
          </a:xfrm>
          <a:prstGeom xmlns:a="http://schemas.openxmlformats.org/drawingml/2006/main" prst="rect">
            <a:avLst/>
          </a:prstGeom>
          <a:solidFill xmlns:a="http://schemas.openxmlformats.org/drawingml/2006/main">
            <a:srgbClr val="163B4C"/>
          </a:solidFill>
          <a:ln xmlns:a="http://schemas.openxmlformats.org/drawingml/2006/main" w="9525">
            <a:solidFill>
              <a:srgbClr val="366273"/>
            </a:solidFill>
          </a:ln>
        </p:spPr>
      </p:sp>
      <p:sp>
        <p:nvSpPr>
          <p:cNvPr id="25" name="text-24">
            <a:extLst xmlns:a="http://schemas.openxmlformats.org/drawingml/2006/main">
              <a:ext uri="{FF2B5EF4-FFF2-40B4-BE49-F238E27FC236}">
                <a16:creationId xmlns:a16="http://schemas.microsoft.com/office/drawing/2014/main" id="{7E0986C6-9842-4F0B-8785-F2EE46BDDE56}"/>
              </a:ext>
            </a:extLst>
          </p:cNvPr>
          <p:cNvSpPr>
            <a:spLocks xmlns:a="http://schemas.openxmlformats.org/drawingml/2006/main" noGrp="1"/>
          </p:cNvSpPr>
          <p:nvPr/>
        </p:nvSpPr>
        <p:spPr>
          <a:xfrm xmlns:a="http://schemas.openxmlformats.org/drawingml/2006/main">
            <a:off x="9791700" y="3257550"/>
            <a:ext cx="16954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저장·출력</a:t>
            </a:r>
          </a:p>
        </p:txBody>
      </p:sp>
      <p:sp>
        <p:nvSpPr>
          <p:cNvPr id="26" name="text-25">
            <a:extLst xmlns:a="http://schemas.openxmlformats.org/drawingml/2006/main">
              <a:ext uri="{FF2B5EF4-FFF2-40B4-BE49-F238E27FC236}">
                <a16:creationId xmlns:a16="http://schemas.microsoft.com/office/drawing/2014/main" id="{676A270B-53B1-4CA3-A0DC-4550D0A64AD8}"/>
              </a:ext>
            </a:extLst>
          </p:cNvPr>
          <p:cNvSpPr>
            <a:spLocks xmlns:a="http://schemas.openxmlformats.org/drawingml/2006/main" noGrp="1"/>
          </p:cNvSpPr>
          <p:nvPr/>
        </p:nvSpPr>
        <p:spPr>
          <a:xfrm xmlns:a="http://schemas.openxmlformats.org/drawingml/2006/main">
            <a:off x="9639300" y="4276725"/>
            <a:ext cx="202882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EE0E5"/>
                </a:solidFill>
                <a:latin typeface="Malgun Gothic"/>
                <a:ea typeface="Malgun Gothic"/>
                <a:cs typeface="Malgun Gothic"/>
              </a:defRPr>
            </a:pPr>
            <a:r>
              <a:rPr sz="1800" b="0">
                <a:solidFill>
                  <a:srgbClr val="CEE0E5"/>
                </a:solidFill>
                <a:latin typeface="Malgun Gothic"/>
                <a:ea typeface="Malgun Gothic"/>
                <a:cs typeface="Malgun Gothic"/>
              </a:rPr>
              <a:t>자동 저장된 결과</a:t>
            </a:r>
          </a:p>
          <a:p xmlns:a="http://schemas.openxmlformats.org/drawingml/2006/main">
            <a:pPr algn="l">
              <a:defRPr sz="1800" b="0">
                <a:solidFill>
                  <a:srgbClr val="CEE0E5"/>
                </a:solidFill>
                <a:latin typeface="Malgun Gothic"/>
                <a:ea typeface="Malgun Gothic"/>
                <a:cs typeface="Malgun Gothic"/>
              </a:defRPr>
            </a:pPr>
            <a:r>
              <a:rPr sz="1800" b="0">
                <a:solidFill>
                  <a:srgbClr val="CEE0E5"/>
                </a:solidFill>
                <a:latin typeface="Malgun Gothic"/>
                <a:ea typeface="Malgun Gothic"/>
                <a:cs typeface="Malgun Gothic"/>
              </a:rPr>
              <a:t>PPTX·DOCX 받기</a:t>
            </a:r>
          </a:p>
        </p:txBody>
      </p:sp>
      <p:cxnSp>
        <p:nvCxnSpPr>
          <p:cNvPr id="57" name=""/>
          <p:cNvCxnSpPr>
            <a:stCxn xmlns:a="http://schemas.openxmlformats.org/drawingml/2006/main" id="8" idx="3"/>
            <a:endCxn xmlns:a="http://schemas.openxmlformats.org/drawingml/2006/main" id="12" idx="1"/>
          </p:cNvCxnSpPr>
          <p:nvPr/>
        </p:nvCxnSpPr>
        <p:spPr>
          <a:xfrm xmlns:a="http://schemas.openxmlformats.org/drawingml/2006/main">
            <a:off x="2571750" y="3509963"/>
            <a:ext cx="266700" cy="0"/>
          </a:xfrm>
          <a:prstGeom xmlns:a="http://schemas.openxmlformats.org/drawingml/2006/main" prst="straightConnector1">
            <a:avLst/>
          </a:prstGeom>
          <a:ln xmlns:a="http://schemas.openxmlformats.org/drawingml/2006/main" w="19050">
            <a:solidFill>
              <a:srgbClr val="69D5C3"/>
            </a:solidFill>
            <a:tailEnd type="arrow" w="med" len="med"/>
          </a:ln>
        </p:spPr>
      </p:cxnSp>
      <p:cxnSp>
        <p:nvCxnSpPr>
          <p:cNvPr id="58" name=""/>
          <p:cNvCxnSpPr>
            <a:stCxn xmlns:a="http://schemas.openxmlformats.org/drawingml/2006/main" id="12" idx="3"/>
            <a:endCxn xmlns:a="http://schemas.openxmlformats.org/drawingml/2006/main" id="16" idx="1"/>
          </p:cNvCxnSpPr>
          <p:nvPr/>
        </p:nvCxnSpPr>
        <p:spPr>
          <a:xfrm xmlns:a="http://schemas.openxmlformats.org/drawingml/2006/main">
            <a:off x="4838700" y="3509963"/>
            <a:ext cx="266700" cy="0"/>
          </a:xfrm>
          <a:prstGeom xmlns:a="http://schemas.openxmlformats.org/drawingml/2006/main" prst="straightConnector1">
            <a:avLst/>
          </a:prstGeom>
          <a:ln xmlns:a="http://schemas.openxmlformats.org/drawingml/2006/main" w="19050">
            <a:solidFill>
              <a:srgbClr val="69D5C3"/>
            </a:solidFill>
            <a:tailEnd type="arrow" w="med" len="med"/>
          </a:ln>
        </p:spPr>
      </p:cxnSp>
      <p:cxnSp>
        <p:nvCxnSpPr>
          <p:cNvPr id="59" name=""/>
          <p:cNvCxnSpPr>
            <a:stCxn xmlns:a="http://schemas.openxmlformats.org/drawingml/2006/main" id="16" idx="3"/>
            <a:endCxn xmlns:a="http://schemas.openxmlformats.org/drawingml/2006/main" id="20" idx="1"/>
          </p:cNvCxnSpPr>
          <p:nvPr/>
        </p:nvCxnSpPr>
        <p:spPr>
          <a:xfrm xmlns:a="http://schemas.openxmlformats.org/drawingml/2006/main">
            <a:off x="7105650" y="3509963"/>
            <a:ext cx="266700" cy="0"/>
          </a:xfrm>
          <a:prstGeom xmlns:a="http://schemas.openxmlformats.org/drawingml/2006/main" prst="straightConnector1">
            <a:avLst/>
          </a:prstGeom>
          <a:ln xmlns:a="http://schemas.openxmlformats.org/drawingml/2006/main" w="19050">
            <a:solidFill>
              <a:srgbClr val="69D5C3"/>
            </a:solidFill>
            <a:tailEnd type="arrow" w="med" len="med"/>
          </a:ln>
        </p:spPr>
      </p:cxnSp>
      <p:cxnSp>
        <p:nvCxnSpPr>
          <p:cNvPr id="60" name=""/>
          <p:cNvCxnSpPr>
            <a:stCxn xmlns:a="http://schemas.openxmlformats.org/drawingml/2006/main" id="20" idx="3"/>
            <a:endCxn xmlns:a="http://schemas.openxmlformats.org/drawingml/2006/main" id="24" idx="1"/>
          </p:cNvCxnSpPr>
          <p:nvPr/>
        </p:nvCxnSpPr>
        <p:spPr>
          <a:xfrm xmlns:a="http://schemas.openxmlformats.org/drawingml/2006/main">
            <a:off x="9372600" y="3509963"/>
            <a:ext cx="266700" cy="0"/>
          </a:xfrm>
          <a:prstGeom xmlns:a="http://schemas.openxmlformats.org/drawingml/2006/main" prst="straightConnector1">
            <a:avLst/>
          </a:prstGeom>
          <a:ln xmlns:a="http://schemas.openxmlformats.org/drawingml/2006/main" w="19050">
            <a:solidFill>
              <a:srgbClr val="69D5C3"/>
            </a:solidFill>
            <a:tailEnd type="arrow" w="med" len="med"/>
          </a:ln>
        </p:spPr>
      </p:cxnSp>
    </p:spTree>
    <p:extLst>
      <p:ext uri="{BB962C8B-B14F-4D97-AF65-F5344CB8AC3E}">
        <p14:creationId xmlns:p14="http://schemas.microsoft.com/office/powerpoint/2010/main" val="1533462724"/>
      </p:ext>
    </p:extLst>
  </p:cSld>
</p:sld>
</file>

<file path=ppt/slides/slide7.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6" name="text-0.707526301550202">
            <a:extLst xmlns:a="http://schemas.openxmlformats.org/drawingml/2006/main">
              <a:ext uri="{FF2B5EF4-FFF2-40B4-BE49-F238E27FC236}">
                <a16:creationId xmlns:a16="http://schemas.microsoft.com/office/drawing/2014/main" id="{29AD7831-2554-4063-ACDA-38ABDADD5053}"/>
              </a:ext>
            </a:extLst>
          </p:cNvPr>
          <p:cNvSpPr>
            <a:spLocks xmlns:a="http://schemas.openxmlformats.org/drawingml/2006/main" noGrp="1"/>
          </p:cNvSpPr>
          <p:nvPr/>
        </p:nvSpPr>
        <p:spPr>
          <a:xfrm xmlns:a="http://schemas.openxmlformats.org/drawingml/2006/main">
            <a:off x="571500" y="3048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87F82"/>
                </a:solidFill>
                <a:latin typeface="Malgun Gothic"/>
                <a:ea typeface="Malgun Gothic"/>
                <a:cs typeface="Malgun Gothic"/>
              </a:defRPr>
            </a:pPr>
            <a:r>
              <a:rPr sz="1200" b="1">
                <a:solidFill>
                  <a:srgbClr val="087F82"/>
                </a:solidFill>
                <a:latin typeface="Malgun Gothic"/>
                <a:ea typeface="Malgun Gothic"/>
                <a:cs typeface="Malgun Gothic"/>
              </a:rPr>
              <a:t>02 실제 사용 흐름</a:t>
            </a:r>
          </a:p>
        </p:txBody>
      </p:sp>
      <p:sp>
        <p:nvSpPr>
          <p:cNvPr id="2" name="text-1">
            <a:extLst xmlns:a="http://schemas.openxmlformats.org/drawingml/2006/main">
              <a:ext uri="{FF2B5EF4-FFF2-40B4-BE49-F238E27FC236}">
                <a16:creationId xmlns:a16="http://schemas.microsoft.com/office/drawing/2014/main" id="{F49CC3A3-50D2-4003-AA0A-38BB541C3173}"/>
              </a:ext>
            </a:extLst>
          </p:cNvPr>
          <p:cNvSpPr>
            <a:spLocks xmlns:a="http://schemas.openxmlformats.org/drawingml/2006/main" noGrp="1"/>
          </p:cNvSpPr>
          <p:nvPr/>
        </p:nvSpPr>
        <p:spPr>
          <a:xfrm xmlns:a="http://schemas.openxmlformats.org/drawingml/2006/main">
            <a:off x="571500" y="76200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02F40"/>
                </a:solidFill>
                <a:latin typeface="Malgun Gothic"/>
                <a:ea typeface="Malgun Gothic"/>
                <a:cs typeface="Malgun Gothic"/>
              </a:defRPr>
            </a:pPr>
            <a:r>
              <a:rPr sz="3300" b="1">
                <a:solidFill>
                  <a:srgbClr val="102F40"/>
                </a:solidFill>
                <a:latin typeface="Malgun Gothic"/>
                <a:ea typeface="Malgun Gothic"/>
                <a:cs typeface="Malgun Gothic"/>
              </a:rPr>
              <a:t>지역을 고르고 관광 흐름을 읽습니다</a:t>
            </a:r>
          </a:p>
        </p:txBody>
      </p:sp>
      <p:sp>
        <p:nvSpPr>
          <p:cNvPr id="3" name="">
            <a:extLst xmlns:a="http://schemas.openxmlformats.org/drawingml/2006/main">
              <a:ext uri="{FF2B5EF4-FFF2-40B4-BE49-F238E27FC236}">
                <a16:creationId xmlns:a16="http://schemas.microsoft.com/office/drawing/2014/main" id="{0000DE2F-2A85-47F2-A807-1F866F490F1B}"/>
              </a:ext>
            </a:extLst>
          </p:cNvPr>
          <p:cNvSpPr>
            <a:spLocks xmlns:a="http://schemas.openxmlformats.org/drawingml/2006/main" noGrp="1"/>
          </p:cNvSpPr>
          <p:nvPr/>
        </p:nvSpPr>
        <p:spPr>
          <a:xfrm xmlns:a="http://schemas.openxmlformats.org/drawingml/2006/main">
            <a:off x="571500" y="6324600"/>
            <a:ext cx="11049000" cy="0"/>
          </a:xfrm>
          <a:prstGeom xmlns:a="http://schemas.openxmlformats.org/drawingml/2006/main" prst="line">
            <a:avLst/>
          </a:prstGeom>
          <a:noFill xmlns:a="http://schemas.openxmlformats.org/drawingml/2006/main"/>
          <a:ln xmlns:a="http://schemas.openxmlformats.org/drawingml/2006/main" w="9525">
            <a:solidFill>
              <a:srgbClr val="CDD8D9"/>
            </a:solidFill>
            <a:prstDash val="solid"/>
          </a:ln>
        </p:spPr>
      </p:sp>
      <p:sp>
        <p:nvSpPr>
          <p:cNvPr id="4" name="text-3">
            <a:extLst xmlns:a="http://schemas.openxmlformats.org/drawingml/2006/main">
              <a:ext uri="{FF2B5EF4-FFF2-40B4-BE49-F238E27FC236}">
                <a16:creationId xmlns:a16="http://schemas.microsoft.com/office/drawing/2014/main" id="{CA8CE266-BEF2-4411-B3E4-E6622C09A8CB}"/>
              </a:ext>
            </a:extLst>
          </p:cNvPr>
          <p:cNvSpPr>
            <a:spLocks xmlns:a="http://schemas.openxmlformats.org/drawingml/2006/main" noGrp="1"/>
          </p:cNvSpPr>
          <p:nvPr/>
        </p:nvSpPr>
        <p:spPr>
          <a:xfrm xmlns:a="http://schemas.openxmlformats.org/drawingml/2006/main">
            <a:off x="571500" y="64960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36B78"/>
                </a:solidFill>
                <a:latin typeface="Arial"/>
                <a:ea typeface="Arial"/>
                <a:cs typeface="Arial"/>
              </a:defRPr>
            </a:pPr>
            <a:r>
              <a:rPr sz="1050" b="1">
                <a:solidFill>
                  <a:srgbClr val="536B78"/>
                </a:solidFill>
                <a:latin typeface="Arial"/>
                <a:ea typeface="Arial"/>
                <a:cs typeface="Arial"/>
              </a:rPr>
              <a:t>OLIGO-K</a:t>
            </a:r>
          </a:p>
        </p:txBody>
      </p:sp>
      <p:sp>
        <p:nvSpPr>
          <p:cNvPr id="5" name="text-4">
            <a:extLst xmlns:a="http://schemas.openxmlformats.org/drawingml/2006/main">
              <a:ext uri="{FF2B5EF4-FFF2-40B4-BE49-F238E27FC236}">
                <a16:creationId xmlns:a16="http://schemas.microsoft.com/office/drawing/2014/main" id="{35845FA2-1617-41BB-9D36-C29C0DA30333}"/>
              </a:ext>
            </a:extLst>
          </p:cNvPr>
          <p:cNvSpPr>
            <a:spLocks xmlns:a="http://schemas.openxmlformats.org/drawingml/2006/main" noGrp="1"/>
          </p:cNvSpPr>
          <p:nvPr/>
        </p:nvSpPr>
        <p:spPr>
          <a:xfrm xmlns:a="http://schemas.openxmlformats.org/drawingml/2006/main">
            <a:off x="11049000" y="64674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1">
                <a:solidFill>
                  <a:srgbClr val="087F82"/>
                </a:solidFill>
                <a:latin typeface="Arial"/>
                <a:ea typeface="Arial"/>
                <a:cs typeface="Arial"/>
              </a:defRPr>
            </a:pPr>
            <a:r>
              <a:rPr sz="1350" b="1">
                <a:solidFill>
                  <a:srgbClr val="087F82"/>
                </a:solidFill>
                <a:latin typeface="Arial"/>
                <a:ea typeface="Arial"/>
                <a:cs typeface="Arial"/>
              </a:rPr>
              <a:t>07</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58f18503fd314ef5"/>
          <a:stretch xmlns:a="http://schemas.openxmlformats.org/drawingml/2006/main"/>
        </p:blipFill>
        <p:spPr>
          <a:xfrm xmlns:a="http://schemas.openxmlformats.org/drawingml/2006/main">
            <a:off x="1373505" y="1876425"/>
            <a:ext cx="6035040" cy="4191000"/>
          </a:xfrm>
          <a:prstGeom xmlns:a="http://schemas.openxmlformats.org/drawingml/2006/main" prst="rect">
            <a:avLst/>
          </a:prstGeom>
        </p:spPr>
      </p:pic>
      <p:sp>
        <p:nvSpPr>
          <p:cNvPr id="7" name="text-5">
            <a:extLst xmlns:a="http://schemas.openxmlformats.org/drawingml/2006/main">
              <a:ext uri="{FF2B5EF4-FFF2-40B4-BE49-F238E27FC236}">
                <a16:creationId xmlns:a16="http://schemas.microsoft.com/office/drawing/2014/main" id="{C8DAC60A-BE2F-47D1-9691-9D75480EBD94}"/>
              </a:ext>
            </a:extLst>
          </p:cNvPr>
          <p:cNvSpPr>
            <a:spLocks xmlns:a="http://schemas.openxmlformats.org/drawingml/2006/main" noGrp="1"/>
          </p:cNvSpPr>
          <p:nvPr/>
        </p:nvSpPr>
        <p:spPr>
          <a:xfrm xmlns:a="http://schemas.openxmlformats.org/drawingml/2006/main">
            <a:off x="8667750" y="211455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87F82"/>
                </a:solidFill>
                <a:latin typeface="Arial"/>
                <a:ea typeface="Arial"/>
                <a:cs typeface="Arial"/>
              </a:defRPr>
            </a:pPr>
            <a:r>
              <a:rPr sz="2400" b="1">
                <a:solidFill>
                  <a:srgbClr val="087F82"/>
                </a:solidFill>
                <a:latin typeface="Arial"/>
                <a:ea typeface="Arial"/>
                <a:cs typeface="Arial"/>
              </a:rPr>
              <a:t>01</a:t>
            </a:r>
          </a:p>
        </p:txBody>
      </p:sp>
      <p:sp>
        <p:nvSpPr>
          <p:cNvPr id="8" name="text-6">
            <a:extLst xmlns:a="http://schemas.openxmlformats.org/drawingml/2006/main">
              <a:ext uri="{FF2B5EF4-FFF2-40B4-BE49-F238E27FC236}">
                <a16:creationId xmlns:a16="http://schemas.microsoft.com/office/drawing/2014/main" id="{3EEE0B92-1814-4EEC-9FBF-288BA28DE8E0}"/>
              </a:ext>
            </a:extLst>
          </p:cNvPr>
          <p:cNvSpPr>
            <a:spLocks xmlns:a="http://schemas.openxmlformats.org/drawingml/2006/main" noGrp="1"/>
          </p:cNvSpPr>
          <p:nvPr/>
        </p:nvSpPr>
        <p:spPr>
          <a:xfrm xmlns:a="http://schemas.openxmlformats.org/drawingml/2006/main">
            <a:off x="9477375" y="2114550"/>
            <a:ext cx="21621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F40"/>
                </a:solidFill>
                <a:latin typeface="Malgun Gothic"/>
                <a:ea typeface="Malgun Gothic"/>
                <a:cs typeface="Malgun Gothic"/>
              </a:defRPr>
            </a:pPr>
            <a:r>
              <a:rPr sz="2175" b="1">
                <a:solidFill>
                  <a:srgbClr val="102F40"/>
                </a:solidFill>
                <a:latin typeface="Malgun Gothic"/>
                <a:ea typeface="Malgun Gothic"/>
                <a:cs typeface="Malgun Gothic"/>
              </a:rPr>
              <a:t>지역과 기간</a:t>
            </a:r>
          </a:p>
        </p:txBody>
      </p:sp>
      <p:sp>
        <p:nvSpPr>
          <p:cNvPr id="9" name="text-7">
            <a:extLst xmlns:a="http://schemas.openxmlformats.org/drawingml/2006/main">
              <a:ext uri="{FF2B5EF4-FFF2-40B4-BE49-F238E27FC236}">
                <a16:creationId xmlns:a16="http://schemas.microsoft.com/office/drawing/2014/main" id="{EBF1C205-8109-4162-8A17-49BB2103514A}"/>
              </a:ext>
            </a:extLst>
          </p:cNvPr>
          <p:cNvSpPr>
            <a:spLocks xmlns:a="http://schemas.openxmlformats.org/drawingml/2006/main" noGrp="1"/>
          </p:cNvSpPr>
          <p:nvPr/>
        </p:nvSpPr>
        <p:spPr>
          <a:xfrm xmlns:a="http://schemas.openxmlformats.org/drawingml/2006/main">
            <a:off x="9477375" y="2562225"/>
            <a:ext cx="21621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6B78"/>
                </a:solidFill>
                <a:latin typeface="Malgun Gothic"/>
                <a:ea typeface="Malgun Gothic"/>
                <a:cs typeface="Malgun Gothic"/>
              </a:defRPr>
            </a:pPr>
            <a:r>
              <a:rPr sz="1800" b="0">
                <a:solidFill>
                  <a:srgbClr val="536B78"/>
                </a:solidFill>
                <a:latin typeface="Malgun Gothic"/>
                <a:ea typeface="Malgun Gothic"/>
                <a:cs typeface="Malgun Gothic"/>
              </a:rPr>
              <a:t>시군구와 자료의</a:t>
            </a:r>
          </a:p>
          <a:p xmlns:a="http://schemas.openxmlformats.org/drawingml/2006/main">
            <a:pPr algn="l">
              <a:defRPr sz="1800" b="0">
                <a:solidFill>
                  <a:srgbClr val="536B78"/>
                </a:solidFill>
                <a:latin typeface="Malgun Gothic"/>
                <a:ea typeface="Malgun Gothic"/>
                <a:cs typeface="Malgun Gothic"/>
              </a:defRPr>
            </a:pPr>
            <a:r>
              <a:rPr sz="1800" b="0">
                <a:solidFill>
                  <a:srgbClr val="536B78"/>
                </a:solidFill>
                <a:latin typeface="Malgun Gothic"/>
                <a:ea typeface="Malgun Gothic"/>
                <a:cs typeface="Malgun Gothic"/>
              </a:rPr>
              <a:t>기준월을 확인</a:t>
            </a:r>
          </a:p>
        </p:txBody>
      </p:sp>
      <p:sp>
        <p:nvSpPr>
          <p:cNvPr id="10" name="text-8">
            <a:extLst xmlns:a="http://schemas.openxmlformats.org/drawingml/2006/main">
              <a:ext uri="{FF2B5EF4-FFF2-40B4-BE49-F238E27FC236}">
                <a16:creationId xmlns:a16="http://schemas.microsoft.com/office/drawing/2014/main" id="{F31F96CA-C4C4-4A76-BB1B-08BB05634FE6}"/>
              </a:ext>
            </a:extLst>
          </p:cNvPr>
          <p:cNvSpPr>
            <a:spLocks xmlns:a="http://schemas.openxmlformats.org/drawingml/2006/main" noGrp="1"/>
          </p:cNvSpPr>
          <p:nvPr/>
        </p:nvSpPr>
        <p:spPr>
          <a:xfrm xmlns:a="http://schemas.openxmlformats.org/drawingml/2006/main">
            <a:off x="8667750" y="343852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87F82"/>
                </a:solidFill>
                <a:latin typeface="Arial"/>
                <a:ea typeface="Arial"/>
                <a:cs typeface="Arial"/>
              </a:defRPr>
            </a:pPr>
            <a:r>
              <a:rPr sz="2400" b="1">
                <a:solidFill>
                  <a:srgbClr val="087F82"/>
                </a:solidFill>
                <a:latin typeface="Arial"/>
                <a:ea typeface="Arial"/>
                <a:cs typeface="Arial"/>
              </a:rPr>
              <a:t>02</a:t>
            </a:r>
          </a:p>
        </p:txBody>
      </p:sp>
      <p:sp>
        <p:nvSpPr>
          <p:cNvPr id="11" name="text-9">
            <a:extLst xmlns:a="http://schemas.openxmlformats.org/drawingml/2006/main">
              <a:ext uri="{FF2B5EF4-FFF2-40B4-BE49-F238E27FC236}">
                <a16:creationId xmlns:a16="http://schemas.microsoft.com/office/drawing/2014/main" id="{2B230152-2027-44A1-9847-376FD699E619}"/>
              </a:ext>
            </a:extLst>
          </p:cNvPr>
          <p:cNvSpPr>
            <a:spLocks xmlns:a="http://schemas.openxmlformats.org/drawingml/2006/main" noGrp="1"/>
          </p:cNvSpPr>
          <p:nvPr/>
        </p:nvSpPr>
        <p:spPr>
          <a:xfrm xmlns:a="http://schemas.openxmlformats.org/drawingml/2006/main">
            <a:off x="9477375" y="3438525"/>
            <a:ext cx="21621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F40"/>
                </a:solidFill>
                <a:latin typeface="Malgun Gothic"/>
                <a:ea typeface="Malgun Gothic"/>
                <a:cs typeface="Malgun Gothic"/>
              </a:defRPr>
            </a:pPr>
            <a:r>
              <a:rPr sz="2175" b="1">
                <a:solidFill>
                  <a:srgbClr val="102F40"/>
                </a:solidFill>
                <a:latin typeface="Malgun Gothic"/>
                <a:ea typeface="Malgun Gothic"/>
                <a:cs typeface="Malgun Gothic"/>
              </a:rPr>
              <a:t>방문·소비·체류</a:t>
            </a:r>
          </a:p>
        </p:txBody>
      </p:sp>
      <p:sp>
        <p:nvSpPr>
          <p:cNvPr id="12" name="text-10">
            <a:extLst xmlns:a="http://schemas.openxmlformats.org/drawingml/2006/main">
              <a:ext uri="{FF2B5EF4-FFF2-40B4-BE49-F238E27FC236}">
                <a16:creationId xmlns:a16="http://schemas.microsoft.com/office/drawing/2014/main" id="{F78BEF96-8759-465B-AE5B-E97FDB359D94}"/>
              </a:ext>
            </a:extLst>
          </p:cNvPr>
          <p:cNvSpPr>
            <a:spLocks xmlns:a="http://schemas.openxmlformats.org/drawingml/2006/main" noGrp="1"/>
          </p:cNvSpPr>
          <p:nvPr/>
        </p:nvSpPr>
        <p:spPr>
          <a:xfrm xmlns:a="http://schemas.openxmlformats.org/drawingml/2006/main">
            <a:off x="9477375" y="3886200"/>
            <a:ext cx="21621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6B78"/>
                </a:solidFill>
                <a:latin typeface="Malgun Gothic"/>
                <a:ea typeface="Malgun Gothic"/>
                <a:cs typeface="Malgun Gothic"/>
              </a:defRPr>
            </a:pPr>
            <a:r>
              <a:rPr sz="1800" b="0">
                <a:solidFill>
                  <a:srgbClr val="536B78"/>
                </a:solidFill>
                <a:latin typeface="Malgun Gothic"/>
                <a:ea typeface="Malgun Gothic"/>
                <a:cs typeface="Malgun Gothic"/>
              </a:rPr>
              <a:t>현재 흐름과 전망을 함께 확인</a:t>
            </a:r>
          </a:p>
        </p:txBody>
      </p:sp>
      <p:sp>
        <p:nvSpPr>
          <p:cNvPr id="13" name="text-11">
            <a:extLst xmlns:a="http://schemas.openxmlformats.org/drawingml/2006/main">
              <a:ext uri="{FF2B5EF4-FFF2-40B4-BE49-F238E27FC236}">
                <a16:creationId xmlns:a16="http://schemas.microsoft.com/office/drawing/2014/main" id="{6030BB03-7FA7-45CB-A3CD-8862AF64224F}"/>
              </a:ext>
            </a:extLst>
          </p:cNvPr>
          <p:cNvSpPr>
            <a:spLocks xmlns:a="http://schemas.openxmlformats.org/drawingml/2006/main" noGrp="1"/>
          </p:cNvSpPr>
          <p:nvPr/>
        </p:nvSpPr>
        <p:spPr>
          <a:xfrm xmlns:a="http://schemas.openxmlformats.org/drawingml/2006/main">
            <a:off x="8667750" y="476250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87F82"/>
                </a:solidFill>
                <a:latin typeface="Arial"/>
                <a:ea typeface="Arial"/>
                <a:cs typeface="Arial"/>
              </a:defRPr>
            </a:pPr>
            <a:r>
              <a:rPr sz="2400" b="1">
                <a:solidFill>
                  <a:srgbClr val="087F82"/>
                </a:solidFill>
                <a:latin typeface="Arial"/>
                <a:ea typeface="Arial"/>
                <a:cs typeface="Arial"/>
              </a:rPr>
              <a:t>03</a:t>
            </a:r>
          </a:p>
        </p:txBody>
      </p:sp>
      <p:sp>
        <p:nvSpPr>
          <p:cNvPr id="14" name="text-12">
            <a:extLst xmlns:a="http://schemas.openxmlformats.org/drawingml/2006/main">
              <a:ext uri="{FF2B5EF4-FFF2-40B4-BE49-F238E27FC236}">
                <a16:creationId xmlns:a16="http://schemas.microsoft.com/office/drawing/2014/main" id="{AD1C457B-82E1-42B9-95A7-EA3613F39B1A}"/>
              </a:ext>
            </a:extLst>
          </p:cNvPr>
          <p:cNvSpPr>
            <a:spLocks xmlns:a="http://schemas.openxmlformats.org/drawingml/2006/main" noGrp="1"/>
          </p:cNvSpPr>
          <p:nvPr/>
        </p:nvSpPr>
        <p:spPr>
          <a:xfrm xmlns:a="http://schemas.openxmlformats.org/drawingml/2006/main">
            <a:off x="9477375" y="4762500"/>
            <a:ext cx="21621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F40"/>
                </a:solidFill>
                <a:latin typeface="Malgun Gothic"/>
                <a:ea typeface="Malgun Gothic"/>
                <a:cs typeface="Malgun Gothic"/>
              </a:defRPr>
            </a:pPr>
            <a:r>
              <a:rPr sz="2175" b="1">
                <a:solidFill>
                  <a:srgbClr val="102F40"/>
                </a:solidFill>
                <a:latin typeface="Malgun Gothic"/>
                <a:ea typeface="Malgun Gothic"/>
                <a:cs typeface="Malgun Gothic"/>
              </a:rPr>
              <a:t>참여 업종</a:t>
            </a:r>
          </a:p>
        </p:txBody>
      </p:sp>
      <p:sp>
        <p:nvSpPr>
          <p:cNvPr id="15" name="text-13">
            <a:extLst xmlns:a="http://schemas.openxmlformats.org/drawingml/2006/main">
              <a:ext uri="{FF2B5EF4-FFF2-40B4-BE49-F238E27FC236}">
                <a16:creationId xmlns:a16="http://schemas.microsoft.com/office/drawing/2014/main" id="{354B222C-20EE-4F81-95DA-807C0984FA63}"/>
              </a:ext>
            </a:extLst>
          </p:cNvPr>
          <p:cNvSpPr>
            <a:spLocks xmlns:a="http://schemas.openxmlformats.org/drawingml/2006/main" noGrp="1"/>
          </p:cNvSpPr>
          <p:nvPr/>
        </p:nvSpPr>
        <p:spPr>
          <a:xfrm xmlns:a="http://schemas.openxmlformats.org/drawingml/2006/main">
            <a:off x="9477375" y="5210175"/>
            <a:ext cx="21621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6B78"/>
                </a:solidFill>
                <a:latin typeface="Malgun Gothic"/>
                <a:ea typeface="Malgun Gothic"/>
                <a:cs typeface="Malgun Gothic"/>
              </a:defRPr>
            </a:pPr>
            <a:r>
              <a:rPr sz="1800" b="0">
                <a:solidFill>
                  <a:srgbClr val="536B78"/>
                </a:solidFill>
                <a:latin typeface="Malgun Gothic"/>
                <a:ea typeface="Malgun Gothic"/>
                <a:cs typeface="Malgun Gothic"/>
              </a:rPr>
              <a:t>사업에 연결할</a:t>
            </a:r>
          </a:p>
          <a:p xmlns:a="http://schemas.openxmlformats.org/drawingml/2006/main">
            <a:pPr algn="l">
              <a:defRPr sz="1800" b="0">
                <a:solidFill>
                  <a:srgbClr val="536B78"/>
                </a:solidFill>
                <a:latin typeface="Malgun Gothic"/>
                <a:ea typeface="Malgun Gothic"/>
                <a:cs typeface="Malgun Gothic"/>
              </a:defRPr>
            </a:pPr>
            <a:r>
              <a:rPr sz="1800" b="0">
                <a:solidFill>
                  <a:srgbClr val="536B78"/>
                </a:solidFill>
                <a:latin typeface="Malgun Gothic"/>
                <a:ea typeface="Malgun Gothic"/>
                <a:cs typeface="Malgun Gothic"/>
              </a:rPr>
              <a:t>상권을 검토</a:t>
            </a:r>
          </a:p>
        </p:txBody>
      </p:sp>
    </p:spTree>
    <p:extLst>
      <p:ext uri="{BB962C8B-B14F-4D97-AF65-F5344CB8AC3E}">
        <p14:creationId xmlns:p14="http://schemas.microsoft.com/office/powerpoint/2010/main" val="715217864"/>
      </p:ext>
    </p:extLst>
  </p:cSld>
</p:sld>
</file>

<file path=ppt/slides/slide8.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0" name="text-0.00020906942633436287">
            <a:extLst xmlns:a="http://schemas.openxmlformats.org/drawingml/2006/main">
              <a:ext uri="{FF2B5EF4-FFF2-40B4-BE49-F238E27FC236}">
                <a16:creationId xmlns:a16="http://schemas.microsoft.com/office/drawing/2014/main" id="{5EF94F62-CAF4-45AB-A479-93A4AEC65645}"/>
              </a:ext>
            </a:extLst>
          </p:cNvPr>
          <p:cNvSpPr>
            <a:spLocks xmlns:a="http://schemas.openxmlformats.org/drawingml/2006/main" noGrp="1"/>
          </p:cNvSpPr>
          <p:nvPr/>
        </p:nvSpPr>
        <p:spPr>
          <a:xfrm xmlns:a="http://schemas.openxmlformats.org/drawingml/2006/main">
            <a:off x="571500" y="3048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87F82"/>
                </a:solidFill>
                <a:latin typeface="Malgun Gothic"/>
                <a:ea typeface="Malgun Gothic"/>
                <a:cs typeface="Malgun Gothic"/>
              </a:defRPr>
            </a:pPr>
            <a:r>
              <a:rPr sz="1200" b="1">
                <a:solidFill>
                  <a:srgbClr val="087F82"/>
                </a:solidFill>
                <a:latin typeface="Malgun Gothic"/>
                <a:ea typeface="Malgun Gothic"/>
                <a:cs typeface="Malgun Gothic"/>
              </a:rPr>
              <a:t>02 실제 사용 흐름</a:t>
            </a:r>
          </a:p>
        </p:txBody>
      </p:sp>
      <p:sp>
        <p:nvSpPr>
          <p:cNvPr id="2" name="text-1">
            <a:extLst xmlns:a="http://schemas.openxmlformats.org/drawingml/2006/main">
              <a:ext uri="{FF2B5EF4-FFF2-40B4-BE49-F238E27FC236}">
                <a16:creationId xmlns:a16="http://schemas.microsoft.com/office/drawing/2014/main" id="{2E10EC27-805E-49A0-B2A2-A17DA0BF6368}"/>
              </a:ext>
            </a:extLst>
          </p:cNvPr>
          <p:cNvSpPr>
            <a:spLocks xmlns:a="http://schemas.openxmlformats.org/drawingml/2006/main" noGrp="1"/>
          </p:cNvSpPr>
          <p:nvPr/>
        </p:nvSpPr>
        <p:spPr>
          <a:xfrm xmlns:a="http://schemas.openxmlformats.org/drawingml/2006/main">
            <a:off x="571500" y="76200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02F40"/>
                </a:solidFill>
                <a:latin typeface="Malgun Gothic"/>
                <a:ea typeface="Malgun Gothic"/>
                <a:cs typeface="Malgun Gothic"/>
              </a:defRPr>
            </a:pPr>
            <a:r>
              <a:rPr sz="3300" b="1">
                <a:solidFill>
                  <a:srgbClr val="102F40"/>
                </a:solidFill>
                <a:latin typeface="Malgun Gothic"/>
                <a:ea typeface="Malgun Gothic"/>
                <a:cs typeface="Malgun Gothic"/>
              </a:rPr>
              <a:t>사업 조건이 AI의 판단 범위를 정합니다</a:t>
            </a:r>
          </a:p>
        </p:txBody>
      </p:sp>
      <p:sp>
        <p:nvSpPr>
          <p:cNvPr id="3" name="">
            <a:extLst xmlns:a="http://schemas.openxmlformats.org/drawingml/2006/main">
              <a:ext uri="{FF2B5EF4-FFF2-40B4-BE49-F238E27FC236}">
                <a16:creationId xmlns:a16="http://schemas.microsoft.com/office/drawing/2014/main" id="{B7143A11-4241-4868-93A3-B93E5BAE368B}"/>
              </a:ext>
            </a:extLst>
          </p:cNvPr>
          <p:cNvSpPr>
            <a:spLocks xmlns:a="http://schemas.openxmlformats.org/drawingml/2006/main" noGrp="1"/>
          </p:cNvSpPr>
          <p:nvPr/>
        </p:nvSpPr>
        <p:spPr>
          <a:xfrm xmlns:a="http://schemas.openxmlformats.org/drawingml/2006/main">
            <a:off x="571500" y="6324600"/>
            <a:ext cx="11049000" cy="0"/>
          </a:xfrm>
          <a:prstGeom xmlns:a="http://schemas.openxmlformats.org/drawingml/2006/main" prst="line">
            <a:avLst/>
          </a:prstGeom>
          <a:noFill xmlns:a="http://schemas.openxmlformats.org/drawingml/2006/main"/>
          <a:ln xmlns:a="http://schemas.openxmlformats.org/drawingml/2006/main" w="9525">
            <a:solidFill>
              <a:srgbClr val="CDD8D9"/>
            </a:solidFill>
            <a:prstDash val="solid"/>
          </a:ln>
        </p:spPr>
      </p:sp>
      <p:sp>
        <p:nvSpPr>
          <p:cNvPr id="4" name="text-3">
            <a:extLst xmlns:a="http://schemas.openxmlformats.org/drawingml/2006/main">
              <a:ext uri="{FF2B5EF4-FFF2-40B4-BE49-F238E27FC236}">
                <a16:creationId xmlns:a16="http://schemas.microsoft.com/office/drawing/2014/main" id="{E2D02373-F6C0-473A-8D77-99B8EC2F28BD}"/>
              </a:ext>
            </a:extLst>
          </p:cNvPr>
          <p:cNvSpPr>
            <a:spLocks xmlns:a="http://schemas.openxmlformats.org/drawingml/2006/main" noGrp="1"/>
          </p:cNvSpPr>
          <p:nvPr/>
        </p:nvSpPr>
        <p:spPr>
          <a:xfrm xmlns:a="http://schemas.openxmlformats.org/drawingml/2006/main">
            <a:off x="571500" y="64960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36B78"/>
                </a:solidFill>
                <a:latin typeface="Arial"/>
                <a:ea typeface="Arial"/>
                <a:cs typeface="Arial"/>
              </a:defRPr>
            </a:pPr>
            <a:r>
              <a:rPr sz="1050" b="1">
                <a:solidFill>
                  <a:srgbClr val="536B78"/>
                </a:solidFill>
                <a:latin typeface="Arial"/>
                <a:ea typeface="Arial"/>
                <a:cs typeface="Arial"/>
              </a:rPr>
              <a:t>OLIGO-K</a:t>
            </a:r>
          </a:p>
        </p:txBody>
      </p:sp>
      <p:sp>
        <p:nvSpPr>
          <p:cNvPr id="5" name="text-4">
            <a:extLst xmlns:a="http://schemas.openxmlformats.org/drawingml/2006/main">
              <a:ext uri="{FF2B5EF4-FFF2-40B4-BE49-F238E27FC236}">
                <a16:creationId xmlns:a16="http://schemas.microsoft.com/office/drawing/2014/main" id="{A9E207C8-8B1F-4339-A49E-70288FC2C056}"/>
              </a:ext>
            </a:extLst>
          </p:cNvPr>
          <p:cNvSpPr>
            <a:spLocks xmlns:a="http://schemas.openxmlformats.org/drawingml/2006/main" noGrp="1"/>
          </p:cNvSpPr>
          <p:nvPr/>
        </p:nvSpPr>
        <p:spPr>
          <a:xfrm xmlns:a="http://schemas.openxmlformats.org/drawingml/2006/main">
            <a:off x="11049000" y="64674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1">
                <a:solidFill>
                  <a:srgbClr val="087F82"/>
                </a:solidFill>
                <a:latin typeface="Arial"/>
                <a:ea typeface="Arial"/>
                <a:cs typeface="Arial"/>
              </a:defRPr>
            </a:pPr>
            <a:r>
              <a:rPr sz="1350" b="1">
                <a:solidFill>
                  <a:srgbClr val="087F82"/>
                </a:solidFill>
                <a:latin typeface="Arial"/>
                <a:ea typeface="Arial"/>
                <a:cs typeface="Arial"/>
              </a:rPr>
              <a:t>08</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600056ada514348"/>
          <a:stretch xmlns:a="http://schemas.openxmlformats.org/drawingml/2006/main"/>
        </p:blipFill>
        <p:spPr>
          <a:xfrm xmlns:a="http://schemas.openxmlformats.org/drawingml/2006/main">
            <a:off x="851498" y="1952625"/>
            <a:ext cx="7107630" cy="4000500"/>
          </a:xfrm>
          <a:prstGeom xmlns:a="http://schemas.openxmlformats.org/drawingml/2006/main" prst="rect">
            <a:avLst/>
          </a:prstGeom>
        </p:spPr>
      </p:pic>
      <p:sp>
        <p:nvSpPr>
          <p:cNvPr id="7" name="text-5">
            <a:extLst xmlns:a="http://schemas.openxmlformats.org/drawingml/2006/main">
              <a:ext uri="{FF2B5EF4-FFF2-40B4-BE49-F238E27FC236}">
                <a16:creationId xmlns:a16="http://schemas.microsoft.com/office/drawing/2014/main" id="{B7B6060A-868A-4BD5-B20E-70D607C93020}"/>
              </a:ext>
            </a:extLst>
          </p:cNvPr>
          <p:cNvSpPr>
            <a:spLocks xmlns:a="http://schemas.openxmlformats.org/drawingml/2006/main" noGrp="1"/>
          </p:cNvSpPr>
          <p:nvPr/>
        </p:nvSpPr>
        <p:spPr>
          <a:xfrm xmlns:a="http://schemas.openxmlformats.org/drawingml/2006/main">
            <a:off x="8639175" y="2133600"/>
            <a:ext cx="285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F40"/>
                </a:solidFill>
                <a:latin typeface="Malgun Gothic"/>
                <a:ea typeface="Malgun Gothic"/>
                <a:cs typeface="Malgun Gothic"/>
              </a:defRPr>
            </a:pPr>
            <a:r>
              <a:rPr sz="2175" b="1">
                <a:solidFill>
                  <a:srgbClr val="102F40"/>
                </a:solidFill>
                <a:latin typeface="Malgun Gothic"/>
                <a:ea typeface="Malgun Gothic"/>
                <a:cs typeface="Malgun Gothic"/>
              </a:rPr>
              <a:t>AI에게 전달하는 조건</a:t>
            </a:r>
          </a:p>
        </p:txBody>
      </p:sp>
      <p:sp>
        <p:nvSpPr>
          <p:cNvPr id="8" name="text-6">
            <a:extLst xmlns:a="http://schemas.openxmlformats.org/drawingml/2006/main">
              <a:ext uri="{FF2B5EF4-FFF2-40B4-BE49-F238E27FC236}">
                <a16:creationId xmlns:a16="http://schemas.microsoft.com/office/drawing/2014/main" id="{4728550B-A257-46E9-A4A7-A47CB3243B02}"/>
              </a:ext>
            </a:extLst>
          </p:cNvPr>
          <p:cNvSpPr>
            <a:spLocks xmlns:a="http://schemas.openxmlformats.org/drawingml/2006/main" noGrp="1"/>
          </p:cNvSpPr>
          <p:nvPr/>
        </p:nvSpPr>
        <p:spPr>
          <a:xfrm xmlns:a="http://schemas.openxmlformats.org/drawingml/2006/main">
            <a:off x="8639175" y="3057525"/>
            <a:ext cx="2714625"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36B78"/>
                </a:solidFill>
                <a:latin typeface="Malgun Gothic"/>
                <a:ea typeface="Malgun Gothic"/>
                <a:cs typeface="Malgun Gothic"/>
              </a:defRPr>
            </a:pPr>
            <a:r>
              <a:rPr sz="2100" b="0">
                <a:solidFill>
                  <a:srgbClr val="536B78"/>
                </a:solidFill>
                <a:latin typeface="Malgun Gothic"/>
                <a:ea typeface="Malgun Gothic"/>
                <a:cs typeface="Malgun Gothic"/>
              </a:rPr>
              <a:t>사업 방향</a:t>
            </a:r>
          </a:p>
          <a:p xmlns:a="http://schemas.openxmlformats.org/drawingml/2006/main">
            <a:pPr algn="l">
              <a:defRPr sz="2100" b="0">
                <a:solidFill>
                  <a:srgbClr val="536B78"/>
                </a:solidFill>
                <a:latin typeface="Malgun Gothic"/>
                <a:ea typeface="Malgun Gothic"/>
                <a:cs typeface="Malgun Gothic"/>
              </a:defRPr>
            </a:pPr>
            <a:r>
              <a:rPr sz="2100" b="0">
                <a:solidFill>
                  <a:srgbClr val="536B78"/>
                </a:solidFill>
                <a:latin typeface="Malgun Gothic"/>
                <a:ea typeface="Malgun Gothic"/>
                <a:cs typeface="Malgun Gothic"/>
              </a:rPr>
              <a:t>참고 예산</a:t>
            </a:r>
          </a:p>
          <a:p xmlns:a="http://schemas.openxmlformats.org/drawingml/2006/main">
            <a:pPr algn="l">
              <a:defRPr sz="2100" b="0">
                <a:solidFill>
                  <a:srgbClr val="536B78"/>
                </a:solidFill>
                <a:latin typeface="Malgun Gothic"/>
                <a:ea typeface="Malgun Gothic"/>
                <a:cs typeface="Malgun Gothic"/>
              </a:defRPr>
            </a:pPr>
            <a:r>
              <a:rPr sz="2100" b="0">
                <a:solidFill>
                  <a:srgbClr val="536B78"/>
                </a:solidFill>
                <a:latin typeface="Malgun Gothic"/>
                <a:ea typeface="Malgun Gothic"/>
                <a:cs typeface="Malgun Gothic"/>
              </a:rPr>
              <a:t>활용할 자원</a:t>
            </a:r>
          </a:p>
          <a:p xmlns:a="http://schemas.openxmlformats.org/drawingml/2006/main">
            <a:pPr algn="l">
              <a:defRPr sz="2100" b="0">
                <a:solidFill>
                  <a:srgbClr val="536B78"/>
                </a:solidFill>
                <a:latin typeface="Malgun Gothic"/>
                <a:ea typeface="Malgun Gothic"/>
                <a:cs typeface="Malgun Gothic"/>
              </a:defRPr>
            </a:pPr>
            <a:r>
              <a:rPr sz="2100" b="0">
                <a:solidFill>
                  <a:srgbClr val="536B78"/>
                </a:solidFill>
                <a:latin typeface="Malgun Gothic"/>
                <a:ea typeface="Malgun Gothic"/>
                <a:cs typeface="Malgun Gothic"/>
              </a:rPr>
              <a:t>현장 정보와 선호</a:t>
            </a:r>
          </a:p>
        </p:txBody>
      </p:sp>
      <p:sp>
        <p:nvSpPr>
          <p:cNvPr id="9" name="text-7">
            <a:extLst xmlns:a="http://schemas.openxmlformats.org/drawingml/2006/main">
              <a:ext uri="{FF2B5EF4-FFF2-40B4-BE49-F238E27FC236}">
                <a16:creationId xmlns:a16="http://schemas.microsoft.com/office/drawing/2014/main" id="{3A3D8ED0-7CA8-4D6B-8795-970FABACA0E3}"/>
              </a:ext>
            </a:extLst>
          </p:cNvPr>
          <p:cNvSpPr>
            <a:spLocks xmlns:a="http://schemas.openxmlformats.org/drawingml/2006/main" noGrp="1"/>
          </p:cNvSpPr>
          <p:nvPr/>
        </p:nvSpPr>
        <p:spPr>
          <a:xfrm xmlns:a="http://schemas.openxmlformats.org/drawingml/2006/main">
            <a:off x="8639175" y="5381625"/>
            <a:ext cx="27813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087F82"/>
                </a:solidFill>
                <a:latin typeface="Malgun Gothic"/>
                <a:ea typeface="Malgun Gothic"/>
                <a:cs typeface="Malgun Gothic"/>
              </a:defRPr>
            </a:pPr>
            <a:r>
              <a:rPr sz="1650" b="1">
                <a:solidFill>
                  <a:srgbClr val="087F82"/>
                </a:solidFill>
                <a:latin typeface="Malgun Gothic"/>
                <a:ea typeface="Malgun Gothic"/>
                <a:cs typeface="Malgun Gothic"/>
              </a:rPr>
              <a:t>현재 사업기간은 생성일 기준</a:t>
            </a:r>
          </a:p>
          <a:p xmlns:a="http://schemas.openxmlformats.org/drawingml/2006/main">
            <a:pPr algn="l">
              <a:defRPr sz="1650" b="1">
                <a:solidFill>
                  <a:srgbClr val="087F82"/>
                </a:solidFill>
                <a:latin typeface="Malgun Gothic"/>
                <a:ea typeface="Malgun Gothic"/>
                <a:cs typeface="Malgun Gothic"/>
              </a:defRPr>
            </a:pPr>
            <a:r>
              <a:rPr sz="1650" b="1">
                <a:solidFill>
                  <a:srgbClr val="087F82"/>
                </a:solidFill>
                <a:latin typeface="Malgun Gothic"/>
                <a:ea typeface="Malgun Gothic"/>
                <a:cs typeface="Malgun Gothic"/>
              </a:rPr>
              <a:t>연속 3개월로 자동 설정</a:t>
            </a:r>
          </a:p>
        </p:txBody>
      </p:sp>
    </p:spTree>
    <p:extLst>
      <p:ext uri="{BB962C8B-B14F-4D97-AF65-F5344CB8AC3E}">
        <p14:creationId xmlns:p14="http://schemas.microsoft.com/office/powerpoint/2010/main" val="934786958"/>
      </p:ext>
    </p:extLst>
  </p:cSld>
</p:sld>
</file>

<file path=ppt/slides/slide9.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22" name="text-0.11016247392786427">
            <a:extLst xmlns:a="http://schemas.openxmlformats.org/drawingml/2006/main">
              <a:ext uri="{FF2B5EF4-FFF2-40B4-BE49-F238E27FC236}">
                <a16:creationId xmlns:a16="http://schemas.microsoft.com/office/drawing/2014/main" id="{765C4A5A-4EE6-49E7-B92B-D2C8B70DB4AA}"/>
              </a:ext>
            </a:extLst>
          </p:cNvPr>
          <p:cNvSpPr>
            <a:spLocks xmlns:a="http://schemas.openxmlformats.org/drawingml/2006/main" noGrp="1"/>
          </p:cNvSpPr>
          <p:nvPr/>
        </p:nvSpPr>
        <p:spPr>
          <a:xfrm xmlns:a="http://schemas.openxmlformats.org/drawingml/2006/main">
            <a:off x="571500" y="3048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87F82"/>
                </a:solidFill>
                <a:latin typeface="Malgun Gothic"/>
                <a:ea typeface="Malgun Gothic"/>
                <a:cs typeface="Malgun Gothic"/>
              </a:defRPr>
            </a:pPr>
            <a:r>
              <a:rPr sz="1200" b="1">
                <a:solidFill>
                  <a:srgbClr val="087F82"/>
                </a:solidFill>
                <a:latin typeface="Malgun Gothic"/>
                <a:ea typeface="Malgun Gothic"/>
                <a:cs typeface="Malgun Gothic"/>
              </a:rPr>
              <a:t>02 실제 사용 흐름</a:t>
            </a:r>
          </a:p>
        </p:txBody>
      </p:sp>
      <p:sp>
        <p:nvSpPr>
          <p:cNvPr id="2" name="text-1">
            <a:extLst xmlns:a="http://schemas.openxmlformats.org/drawingml/2006/main">
              <a:ext uri="{FF2B5EF4-FFF2-40B4-BE49-F238E27FC236}">
                <a16:creationId xmlns:a16="http://schemas.microsoft.com/office/drawing/2014/main" id="{3AFB3574-6E7E-4637-A7CC-7DFFF1E03E86}"/>
              </a:ext>
            </a:extLst>
          </p:cNvPr>
          <p:cNvSpPr>
            <a:spLocks xmlns:a="http://schemas.openxmlformats.org/drawingml/2006/main" noGrp="1"/>
          </p:cNvSpPr>
          <p:nvPr/>
        </p:nvSpPr>
        <p:spPr>
          <a:xfrm xmlns:a="http://schemas.openxmlformats.org/drawingml/2006/main">
            <a:off x="571500" y="76200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02F40"/>
                </a:solidFill>
                <a:latin typeface="Malgun Gothic"/>
                <a:ea typeface="Malgun Gothic"/>
                <a:cs typeface="Malgun Gothic"/>
              </a:defRPr>
            </a:pPr>
            <a:r>
              <a:rPr sz="3300" b="1">
                <a:solidFill>
                  <a:srgbClr val="102F40"/>
                </a:solidFill>
                <a:latin typeface="Malgun Gothic"/>
                <a:ea typeface="Malgun Gothic"/>
                <a:cs typeface="Malgun Gothic"/>
              </a:rPr>
              <a:t>긴 생성 요청은 작업으로 분리합니다</a:t>
            </a:r>
          </a:p>
        </p:txBody>
      </p:sp>
      <p:sp>
        <p:nvSpPr>
          <p:cNvPr id="3" name="text-2">
            <a:extLst xmlns:a="http://schemas.openxmlformats.org/drawingml/2006/main">
              <a:ext uri="{FF2B5EF4-FFF2-40B4-BE49-F238E27FC236}">
                <a16:creationId xmlns:a16="http://schemas.microsoft.com/office/drawing/2014/main" id="{2CD27AB7-B9DA-47C9-BC78-82D2C6850418}"/>
              </a:ext>
            </a:extLst>
          </p:cNvPr>
          <p:cNvSpPr>
            <a:spLocks xmlns:a="http://schemas.openxmlformats.org/drawingml/2006/main" noGrp="1"/>
          </p:cNvSpPr>
          <p:nvPr/>
        </p:nvSpPr>
        <p:spPr>
          <a:xfrm xmlns:a="http://schemas.openxmlformats.org/drawingml/2006/main">
            <a:off x="571500" y="14954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B78"/>
                </a:solidFill>
                <a:latin typeface="Malgun Gothic"/>
                <a:ea typeface="Malgun Gothic"/>
                <a:cs typeface="Malgun Gothic"/>
              </a:defRPr>
            </a:pPr>
            <a:r>
              <a:rPr sz="1725" b="0">
                <a:solidFill>
                  <a:srgbClr val="536B78"/>
                </a:solidFill>
                <a:latin typeface="Malgun Gothic"/>
                <a:ea typeface="Malgun Gothic"/>
                <a:cs typeface="Malgun Gothic"/>
              </a:rPr>
              <a:t>화면은 작업 ID로 진행 상태를 조회하고 완료된 결과를 가져옵니다.</a:t>
            </a:r>
          </a:p>
        </p:txBody>
      </p:sp>
      <p:sp>
        <p:nvSpPr>
          <p:cNvPr id="4" name="">
            <a:extLst xmlns:a="http://schemas.openxmlformats.org/drawingml/2006/main">
              <a:ext uri="{FF2B5EF4-FFF2-40B4-BE49-F238E27FC236}">
                <a16:creationId xmlns:a16="http://schemas.microsoft.com/office/drawing/2014/main" id="{90FC597C-3EA0-4AE5-B35E-BD4241A32375}"/>
              </a:ext>
            </a:extLst>
          </p:cNvPr>
          <p:cNvSpPr>
            <a:spLocks xmlns:a="http://schemas.openxmlformats.org/drawingml/2006/main" noGrp="1"/>
          </p:cNvSpPr>
          <p:nvPr/>
        </p:nvSpPr>
        <p:spPr>
          <a:xfrm xmlns:a="http://schemas.openxmlformats.org/drawingml/2006/main">
            <a:off x="571500" y="6324600"/>
            <a:ext cx="11049000" cy="0"/>
          </a:xfrm>
          <a:prstGeom xmlns:a="http://schemas.openxmlformats.org/drawingml/2006/main" prst="line">
            <a:avLst/>
          </a:prstGeom>
          <a:noFill xmlns:a="http://schemas.openxmlformats.org/drawingml/2006/main"/>
          <a:ln xmlns:a="http://schemas.openxmlformats.org/drawingml/2006/main" w="9525">
            <a:solidFill>
              <a:srgbClr val="CDD8D9"/>
            </a:solidFill>
            <a:prstDash val="solid"/>
          </a:ln>
        </p:spPr>
      </p:sp>
      <p:sp>
        <p:nvSpPr>
          <p:cNvPr id="5" name="text-4">
            <a:extLst xmlns:a="http://schemas.openxmlformats.org/drawingml/2006/main">
              <a:ext uri="{FF2B5EF4-FFF2-40B4-BE49-F238E27FC236}">
                <a16:creationId xmlns:a16="http://schemas.microsoft.com/office/drawing/2014/main" id="{9786E8E4-50AF-4288-BAF0-DE536893F5C8}"/>
              </a:ext>
            </a:extLst>
          </p:cNvPr>
          <p:cNvSpPr>
            <a:spLocks xmlns:a="http://schemas.openxmlformats.org/drawingml/2006/main" noGrp="1"/>
          </p:cNvSpPr>
          <p:nvPr/>
        </p:nvSpPr>
        <p:spPr>
          <a:xfrm xmlns:a="http://schemas.openxmlformats.org/drawingml/2006/main">
            <a:off x="571500" y="64960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36B78"/>
                </a:solidFill>
                <a:latin typeface="Arial"/>
                <a:ea typeface="Arial"/>
                <a:cs typeface="Arial"/>
              </a:defRPr>
            </a:pPr>
            <a:r>
              <a:rPr sz="1050" b="1">
                <a:solidFill>
                  <a:srgbClr val="536B78"/>
                </a:solidFill>
                <a:latin typeface="Arial"/>
                <a:ea typeface="Arial"/>
                <a:cs typeface="Arial"/>
              </a:rPr>
              <a:t>OLIGO-K</a:t>
            </a:r>
          </a:p>
        </p:txBody>
      </p:sp>
      <p:sp>
        <p:nvSpPr>
          <p:cNvPr id="6" name="text-5">
            <a:extLst xmlns:a="http://schemas.openxmlformats.org/drawingml/2006/main">
              <a:ext uri="{FF2B5EF4-FFF2-40B4-BE49-F238E27FC236}">
                <a16:creationId xmlns:a16="http://schemas.microsoft.com/office/drawing/2014/main" id="{70D053C8-1EBA-490D-8416-C71B425A8B88}"/>
              </a:ext>
            </a:extLst>
          </p:cNvPr>
          <p:cNvSpPr>
            <a:spLocks xmlns:a="http://schemas.openxmlformats.org/drawingml/2006/main" noGrp="1"/>
          </p:cNvSpPr>
          <p:nvPr/>
        </p:nvSpPr>
        <p:spPr>
          <a:xfrm xmlns:a="http://schemas.openxmlformats.org/drawingml/2006/main">
            <a:off x="11049000" y="64674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1">
                <a:solidFill>
                  <a:srgbClr val="087F82"/>
                </a:solidFill>
                <a:latin typeface="Arial"/>
                <a:ea typeface="Arial"/>
                <a:cs typeface="Arial"/>
              </a:defRPr>
            </a:pPr>
            <a:r>
              <a:rPr sz="1350" b="1">
                <a:solidFill>
                  <a:srgbClr val="087F82"/>
                </a:solidFill>
                <a:latin typeface="Arial"/>
                <a:ea typeface="Arial"/>
                <a:cs typeface="Arial"/>
              </a:rPr>
              <a:t>09</a:t>
            </a:r>
          </a:p>
        </p:txBody>
      </p:sp>
      <p:sp>
        <p:nvSpPr>
          <p:cNvPr id="7" name="">
            <a:extLst xmlns:a="http://schemas.openxmlformats.org/drawingml/2006/main">
              <a:ext uri="{FF2B5EF4-FFF2-40B4-BE49-F238E27FC236}">
                <a16:creationId xmlns:a16="http://schemas.microsoft.com/office/drawing/2014/main" id="{ECAE2CEC-7FE3-4927-B4D1-AFEA7CC1AE01}"/>
              </a:ext>
            </a:extLst>
          </p:cNvPr>
          <p:cNvSpPr>
            <a:spLocks xmlns:a="http://schemas.openxmlformats.org/drawingml/2006/main" noGrp="1"/>
          </p:cNvSpPr>
          <p:nvPr/>
        </p:nvSpPr>
        <p:spPr>
          <a:xfrm xmlns:a="http://schemas.openxmlformats.org/drawingml/2006/main">
            <a:off x="571500" y="2352675"/>
            <a:ext cx="2143125" cy="1085850"/>
          </a:xfrm>
          <a:prstGeom xmlns:a="http://schemas.openxmlformats.org/drawingml/2006/main" prst="rect">
            <a:avLst/>
          </a:prstGeom>
          <a:solidFill xmlns:a="http://schemas.openxmlformats.org/drawingml/2006/main">
            <a:srgbClr val="FFFFFF"/>
          </a:solidFill>
          <a:ln xmlns:a="http://schemas.openxmlformats.org/drawingml/2006/main" w="9525">
            <a:solidFill>
              <a:srgbClr val="CDD8D9"/>
            </a:solidFill>
          </a:ln>
        </p:spPr>
      </p:sp>
      <p:sp>
        <p:nvSpPr>
          <p:cNvPr id="8" name="text-7">
            <a:extLst xmlns:a="http://schemas.openxmlformats.org/drawingml/2006/main">
              <a:ext uri="{FF2B5EF4-FFF2-40B4-BE49-F238E27FC236}">
                <a16:creationId xmlns:a16="http://schemas.microsoft.com/office/drawing/2014/main" id="{77EB949C-003C-4255-A763-4913812B2C0A}"/>
              </a:ext>
            </a:extLst>
          </p:cNvPr>
          <p:cNvSpPr>
            <a:spLocks xmlns:a="http://schemas.openxmlformats.org/drawingml/2006/main" noGrp="1"/>
          </p:cNvSpPr>
          <p:nvPr/>
        </p:nvSpPr>
        <p:spPr>
          <a:xfrm xmlns:a="http://schemas.openxmlformats.org/drawingml/2006/main">
            <a:off x="723900" y="2533650"/>
            <a:ext cx="18383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React</a:t>
            </a:r>
          </a:p>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생성 요청</a:t>
            </a:r>
          </a:p>
        </p:txBody>
      </p:sp>
      <p:sp>
        <p:nvSpPr>
          <p:cNvPr id="9" name="">
            <a:extLst xmlns:a="http://schemas.openxmlformats.org/drawingml/2006/main">
              <a:ext uri="{FF2B5EF4-FFF2-40B4-BE49-F238E27FC236}">
                <a16:creationId xmlns:a16="http://schemas.microsoft.com/office/drawing/2014/main" id="{B67B99AE-35EA-4965-B666-CDC8417DE41B}"/>
              </a:ext>
            </a:extLst>
          </p:cNvPr>
          <p:cNvSpPr>
            <a:spLocks xmlns:a="http://schemas.openxmlformats.org/drawingml/2006/main" noGrp="1"/>
          </p:cNvSpPr>
          <p:nvPr/>
        </p:nvSpPr>
        <p:spPr>
          <a:xfrm xmlns:a="http://schemas.openxmlformats.org/drawingml/2006/main">
            <a:off x="3790950" y="2352675"/>
            <a:ext cx="3429000" cy="1085850"/>
          </a:xfrm>
          <a:prstGeom xmlns:a="http://schemas.openxmlformats.org/drawingml/2006/main" prst="rect">
            <a:avLst/>
          </a:prstGeom>
          <a:solidFill xmlns:a="http://schemas.openxmlformats.org/drawingml/2006/main">
            <a:srgbClr val="E5F2ED"/>
          </a:solidFill>
          <a:ln xmlns:a="http://schemas.openxmlformats.org/drawingml/2006/main" w="9525">
            <a:solidFill>
              <a:srgbClr val="CDD8D9"/>
            </a:solidFill>
          </a:ln>
        </p:spPr>
      </p:sp>
      <p:sp>
        <p:nvSpPr>
          <p:cNvPr id="10" name="text-9">
            <a:extLst xmlns:a="http://schemas.openxmlformats.org/drawingml/2006/main">
              <a:ext uri="{FF2B5EF4-FFF2-40B4-BE49-F238E27FC236}">
                <a16:creationId xmlns:a16="http://schemas.microsoft.com/office/drawing/2014/main" id="{483B9162-580E-45AD-983D-FAB703F9A1C3}"/>
              </a:ext>
            </a:extLst>
          </p:cNvPr>
          <p:cNvSpPr>
            <a:spLocks xmlns:a="http://schemas.openxmlformats.org/drawingml/2006/main" noGrp="1"/>
          </p:cNvSpPr>
          <p:nvPr/>
        </p:nvSpPr>
        <p:spPr>
          <a:xfrm xmlns:a="http://schemas.openxmlformats.org/drawingml/2006/main">
            <a:off x="3943350" y="2533650"/>
            <a:ext cx="3124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API</a:t>
            </a:r>
          </a:p>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조건 검증·작업 등록</a:t>
            </a:r>
          </a:p>
        </p:txBody>
      </p:sp>
      <p:sp>
        <p:nvSpPr>
          <p:cNvPr id="11" name="">
            <a:extLst xmlns:a="http://schemas.openxmlformats.org/drawingml/2006/main">
              <a:ext uri="{FF2B5EF4-FFF2-40B4-BE49-F238E27FC236}">
                <a16:creationId xmlns:a16="http://schemas.microsoft.com/office/drawing/2014/main" id="{90A8357B-B861-448F-B81C-994A2B6A2A83}"/>
              </a:ext>
            </a:extLst>
          </p:cNvPr>
          <p:cNvSpPr>
            <a:spLocks xmlns:a="http://schemas.openxmlformats.org/drawingml/2006/main" noGrp="1"/>
          </p:cNvSpPr>
          <p:nvPr/>
        </p:nvSpPr>
        <p:spPr>
          <a:xfrm xmlns:a="http://schemas.openxmlformats.org/drawingml/2006/main">
            <a:off x="8620125" y="2352675"/>
            <a:ext cx="2952750" cy="1085850"/>
          </a:xfrm>
          <a:prstGeom xmlns:a="http://schemas.openxmlformats.org/drawingml/2006/main" prst="rect">
            <a:avLst/>
          </a:prstGeom>
          <a:solidFill xmlns:a="http://schemas.openxmlformats.org/drawingml/2006/main">
            <a:srgbClr val="FFFFFF"/>
          </a:solidFill>
          <a:ln xmlns:a="http://schemas.openxmlformats.org/drawingml/2006/main" w="9525">
            <a:solidFill>
              <a:srgbClr val="CDD8D9"/>
            </a:solidFill>
          </a:ln>
        </p:spPr>
      </p:sp>
      <p:sp>
        <p:nvSpPr>
          <p:cNvPr id="12" name="text-11">
            <a:extLst xmlns:a="http://schemas.openxmlformats.org/drawingml/2006/main">
              <a:ext uri="{FF2B5EF4-FFF2-40B4-BE49-F238E27FC236}">
                <a16:creationId xmlns:a16="http://schemas.microsoft.com/office/drawing/2014/main" id="{51D021D4-AD4B-4026-916C-6FD272C9215C}"/>
              </a:ext>
            </a:extLst>
          </p:cNvPr>
          <p:cNvSpPr>
            <a:spLocks xmlns:a="http://schemas.openxmlformats.org/drawingml/2006/main" noGrp="1"/>
          </p:cNvSpPr>
          <p:nvPr/>
        </p:nvSpPr>
        <p:spPr>
          <a:xfrm xmlns:a="http://schemas.openxmlformats.org/drawingml/2006/main">
            <a:off x="8772525" y="2533650"/>
            <a:ext cx="264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AI Server</a:t>
            </a:r>
          </a:p>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분석·조사·작성</a:t>
            </a:r>
          </a:p>
        </p:txBody>
      </p:sp>
      <p:cxnSp>
        <p:nvCxnSpPr>
          <p:cNvPr id="34" name=""/>
          <p:cNvCxnSpPr>
            <a:stCxn xmlns:a="http://schemas.openxmlformats.org/drawingml/2006/main" id="7" idx="3"/>
            <a:endCxn xmlns:a="http://schemas.openxmlformats.org/drawingml/2006/main" id="9" idx="1"/>
          </p:cNvCxnSpPr>
          <p:nvPr/>
        </p:nvCxnSpPr>
        <p:spPr>
          <a:xfrm xmlns:a="http://schemas.openxmlformats.org/drawingml/2006/main">
            <a:off x="2714625" y="2895600"/>
            <a:ext cx="1076325" cy="0"/>
          </a:xfrm>
          <a:prstGeom xmlns:a="http://schemas.openxmlformats.org/drawingml/2006/main" prst="straightConnector1">
            <a:avLst/>
          </a:prstGeom>
          <a:ln xmlns:a="http://schemas.openxmlformats.org/drawingml/2006/main" w="19050">
            <a:solidFill>
              <a:srgbClr val="087F82"/>
            </a:solidFill>
            <a:tailEnd type="arrow" w="med" len="med"/>
          </a:ln>
        </p:spPr>
      </p:cxnSp>
      <p:cxnSp>
        <p:nvCxnSpPr>
          <p:cNvPr id="35" name=""/>
          <p:cNvCxnSpPr>
            <a:stCxn xmlns:a="http://schemas.openxmlformats.org/drawingml/2006/main" id="9" idx="3"/>
            <a:endCxn xmlns:a="http://schemas.openxmlformats.org/drawingml/2006/main" id="11" idx="1"/>
          </p:cNvCxnSpPr>
          <p:nvPr/>
        </p:nvCxnSpPr>
        <p:spPr>
          <a:xfrm xmlns:a="http://schemas.openxmlformats.org/drawingml/2006/main">
            <a:off x="7219950" y="2895600"/>
            <a:ext cx="1400175" cy="0"/>
          </a:xfrm>
          <a:prstGeom xmlns:a="http://schemas.openxmlformats.org/drawingml/2006/main" prst="straightConnector1">
            <a:avLst/>
          </a:prstGeom>
          <a:ln xmlns:a="http://schemas.openxmlformats.org/drawingml/2006/main" w="19050">
            <a:solidFill>
              <a:srgbClr val="087F82"/>
            </a:solidFill>
            <a:tailEnd type="arrow" w="med" len="med"/>
          </a:ln>
        </p:spPr>
      </p:cxnSp>
      <p:sp>
        <p:nvSpPr>
          <p:cNvPr id="15" name="">
            <a:extLst xmlns:a="http://schemas.openxmlformats.org/drawingml/2006/main">
              <a:ext uri="{FF2B5EF4-FFF2-40B4-BE49-F238E27FC236}">
                <a16:creationId xmlns:a16="http://schemas.microsoft.com/office/drawing/2014/main" id="{20F1792D-F3AD-468B-ABCF-728AA4B2F3D3}"/>
              </a:ext>
            </a:extLst>
          </p:cNvPr>
          <p:cNvSpPr>
            <a:spLocks xmlns:a="http://schemas.openxmlformats.org/drawingml/2006/main" noGrp="1"/>
          </p:cNvSpPr>
          <p:nvPr/>
        </p:nvSpPr>
        <p:spPr>
          <a:xfrm xmlns:a="http://schemas.openxmlformats.org/drawingml/2006/main">
            <a:off x="571500" y="4514850"/>
            <a:ext cx="3286125" cy="1085850"/>
          </a:xfrm>
          <a:prstGeom xmlns:a="http://schemas.openxmlformats.org/drawingml/2006/main" prst="rect">
            <a:avLst/>
          </a:prstGeom>
          <a:solidFill xmlns:a="http://schemas.openxmlformats.org/drawingml/2006/main">
            <a:srgbClr val="FFFFFF"/>
          </a:solidFill>
          <a:ln xmlns:a="http://schemas.openxmlformats.org/drawingml/2006/main" w="9525">
            <a:solidFill>
              <a:srgbClr val="CDD8D9"/>
            </a:solidFill>
          </a:ln>
        </p:spPr>
      </p:sp>
      <p:sp>
        <p:nvSpPr>
          <p:cNvPr id="16" name="text-15">
            <a:extLst xmlns:a="http://schemas.openxmlformats.org/drawingml/2006/main">
              <a:ext uri="{FF2B5EF4-FFF2-40B4-BE49-F238E27FC236}">
                <a16:creationId xmlns:a16="http://schemas.microsoft.com/office/drawing/2014/main" id="{07A7F683-AAA2-4A96-8051-2151CDD88C40}"/>
              </a:ext>
            </a:extLst>
          </p:cNvPr>
          <p:cNvSpPr>
            <a:spLocks xmlns:a="http://schemas.openxmlformats.org/drawingml/2006/main" noGrp="1"/>
          </p:cNvSpPr>
          <p:nvPr/>
        </p:nvSpPr>
        <p:spPr>
          <a:xfrm xmlns:a="http://schemas.openxmlformats.org/drawingml/2006/main">
            <a:off x="723900" y="4695825"/>
            <a:ext cx="29813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진행 상태 확인</a:t>
            </a:r>
          </a:p>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현재 단계·안내 문구</a:t>
            </a:r>
          </a:p>
        </p:txBody>
      </p:sp>
      <p:sp>
        <p:nvSpPr>
          <p:cNvPr id="17" name="">
            <a:extLst xmlns:a="http://schemas.openxmlformats.org/drawingml/2006/main">
              <a:ext uri="{FF2B5EF4-FFF2-40B4-BE49-F238E27FC236}">
                <a16:creationId xmlns:a16="http://schemas.microsoft.com/office/drawing/2014/main" id="{B084D7E0-FFAD-40B3-B97F-0674E0D5C758}"/>
              </a:ext>
            </a:extLst>
          </p:cNvPr>
          <p:cNvSpPr>
            <a:spLocks xmlns:a="http://schemas.openxmlformats.org/drawingml/2006/main" noGrp="1"/>
          </p:cNvSpPr>
          <p:nvPr/>
        </p:nvSpPr>
        <p:spPr>
          <a:xfrm xmlns:a="http://schemas.openxmlformats.org/drawingml/2006/main">
            <a:off x="5838825" y="4514850"/>
            <a:ext cx="3714750" cy="1085850"/>
          </a:xfrm>
          <a:prstGeom xmlns:a="http://schemas.openxmlformats.org/drawingml/2006/main" prst="rect">
            <a:avLst/>
          </a:prstGeom>
          <a:solidFill xmlns:a="http://schemas.openxmlformats.org/drawingml/2006/main">
            <a:srgbClr val="E5F2ED"/>
          </a:solidFill>
          <a:ln xmlns:a="http://schemas.openxmlformats.org/drawingml/2006/main" w="9525">
            <a:solidFill>
              <a:srgbClr val="CDD8D9"/>
            </a:solidFill>
          </a:ln>
        </p:spPr>
      </p:sp>
      <p:sp>
        <p:nvSpPr>
          <p:cNvPr id="18" name="text-17">
            <a:extLst xmlns:a="http://schemas.openxmlformats.org/drawingml/2006/main">
              <a:ext uri="{FF2B5EF4-FFF2-40B4-BE49-F238E27FC236}">
                <a16:creationId xmlns:a16="http://schemas.microsoft.com/office/drawing/2014/main" id="{B064B98E-1CEA-4B75-8819-CA2BFC885A94}"/>
              </a:ext>
            </a:extLst>
          </p:cNvPr>
          <p:cNvSpPr>
            <a:spLocks xmlns:a="http://schemas.openxmlformats.org/drawingml/2006/main" noGrp="1"/>
          </p:cNvSpPr>
          <p:nvPr/>
        </p:nvSpPr>
        <p:spPr>
          <a:xfrm xmlns:a="http://schemas.openxmlformats.org/drawingml/2006/main">
            <a:off x="5991225" y="4695825"/>
            <a:ext cx="3409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결과와 저장 상태</a:t>
            </a:r>
          </a:p>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완료 / 저장 실패 구분</a:t>
            </a:r>
          </a:p>
        </p:txBody>
      </p:sp>
      <p:cxnSp>
        <p:nvCxnSpPr>
          <p:cNvPr id="40" name=""/>
          <p:cNvCxnSpPr>
            <a:stCxn xmlns:a="http://schemas.openxmlformats.org/drawingml/2006/main" id="11" idx="2"/>
            <a:endCxn xmlns:a="http://schemas.openxmlformats.org/drawingml/2006/main" id="17" idx="3"/>
          </p:cNvCxnSpPr>
          <p:nvPr/>
        </p:nvCxnSpPr>
        <p:spPr>
          <a:xfrm xmlns:a="http://schemas.openxmlformats.org/drawingml/2006/main" flipH="1">
            <a:off x="9553575" y="3438525"/>
            <a:ext cx="542925" cy="1619250"/>
          </a:xfrm>
          <a:prstGeom xmlns:a="http://schemas.openxmlformats.org/drawingml/2006/main" prst="bentConnector5">
            <a:avLst>
              <a:gd name="adj1" fmla="val 0"/>
              <a:gd name="adj2" fmla="val 14118"/>
              <a:gd name="adj3" fmla="val 57895"/>
            </a:avLst>
          </a:prstGeom>
          <a:ln xmlns:a="http://schemas.openxmlformats.org/drawingml/2006/main" w="19050">
            <a:solidFill>
              <a:srgbClr val="087F82"/>
            </a:solidFill>
            <a:tailEnd type="arrow" w="med" len="med"/>
          </a:ln>
        </p:spPr>
      </p:cxnSp>
      <p:cxnSp>
        <p:nvCxnSpPr>
          <p:cNvPr id="41" name=""/>
          <p:cNvCxnSpPr>
            <a:stCxn xmlns:a="http://schemas.openxmlformats.org/drawingml/2006/main" id="17" idx="1"/>
            <a:endCxn xmlns:a="http://schemas.openxmlformats.org/drawingml/2006/main" id="15" idx="3"/>
          </p:cNvCxnSpPr>
          <p:nvPr/>
        </p:nvCxnSpPr>
        <p:spPr>
          <a:xfrm xmlns:a="http://schemas.openxmlformats.org/drawingml/2006/main" flipH="1">
            <a:off x="3857625" y="5057775"/>
            <a:ext cx="1981200" cy="0"/>
          </a:xfrm>
          <a:prstGeom xmlns:a="http://schemas.openxmlformats.org/drawingml/2006/main" prst="straightConnector1">
            <a:avLst/>
          </a:prstGeom>
          <a:ln xmlns:a="http://schemas.openxmlformats.org/drawingml/2006/main" w="19050">
            <a:solidFill>
              <a:srgbClr val="087F82"/>
            </a:solidFill>
            <a:tailEnd type="arrow" w="med" len="med"/>
          </a:ln>
        </p:spPr>
      </p:cxnSp>
      <p:sp>
        <p:nvSpPr>
          <p:cNvPr id="21" name="text-20">
            <a:extLst xmlns:a="http://schemas.openxmlformats.org/drawingml/2006/main">
              <a:ext uri="{FF2B5EF4-FFF2-40B4-BE49-F238E27FC236}">
                <a16:creationId xmlns:a16="http://schemas.microsoft.com/office/drawing/2014/main" id="{00E7B333-9BFD-4FFD-AA51-080F802E3A67}"/>
              </a:ext>
            </a:extLst>
          </p:cNvPr>
          <p:cNvSpPr>
            <a:spLocks xmlns:a="http://schemas.openxmlformats.org/drawingml/2006/main" noGrp="1"/>
          </p:cNvSpPr>
          <p:nvPr/>
        </p:nvSpPr>
        <p:spPr>
          <a:xfrm xmlns:a="http://schemas.openxmlformats.org/drawingml/2006/main">
            <a:off x="3752850" y="1924050"/>
            <a:ext cx="409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087F82"/>
                </a:solidFill>
                <a:latin typeface="Arial"/>
                <a:ea typeface="Arial"/>
                <a:cs typeface="Arial"/>
              </a:defRPr>
            </a:pPr>
            <a:r>
              <a:rPr sz="1575" b="0">
                <a:solidFill>
                  <a:srgbClr val="087F82"/>
                </a:solidFill>
                <a:latin typeface="Arial"/>
                <a:ea typeface="Arial"/>
                <a:cs typeface="Arial"/>
              </a:rPr>
              <a:t>POST strategy-report/jobs</a:t>
            </a:r>
          </a:p>
        </p:txBody>
      </p:sp>
    </p:spTree>
    <p:extLst>
      <p:ext uri="{BB962C8B-B14F-4D97-AF65-F5344CB8AC3E}">
        <p14:creationId xmlns:p14="http://schemas.microsoft.com/office/powerpoint/2010/main" val="1773023417"/>
      </p:ext>
    </p:extLst>
  </p:cSld>
</p:sld>
</file>

<file path=ppt/slides/slide10.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1" name="text-0.07714102465243011">
            <a:extLst xmlns:a="http://schemas.openxmlformats.org/drawingml/2006/main">
              <a:ext uri="{FF2B5EF4-FFF2-40B4-BE49-F238E27FC236}">
                <a16:creationId xmlns:a16="http://schemas.microsoft.com/office/drawing/2014/main" id="{E5007DF3-DBD3-4E83-91FE-F3E4CA3F525C}"/>
              </a:ext>
            </a:extLst>
          </p:cNvPr>
          <p:cNvSpPr>
            <a:spLocks xmlns:a="http://schemas.openxmlformats.org/drawingml/2006/main" noGrp="1"/>
          </p:cNvSpPr>
          <p:nvPr/>
        </p:nvSpPr>
        <p:spPr>
          <a:xfrm xmlns:a="http://schemas.openxmlformats.org/drawingml/2006/main">
            <a:off x="571500" y="3048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87F82"/>
                </a:solidFill>
                <a:latin typeface="Malgun Gothic"/>
                <a:ea typeface="Malgun Gothic"/>
                <a:cs typeface="Malgun Gothic"/>
              </a:defRPr>
            </a:pPr>
            <a:r>
              <a:rPr sz="1200" b="1">
                <a:solidFill>
                  <a:srgbClr val="087F82"/>
                </a:solidFill>
                <a:latin typeface="Malgun Gothic"/>
                <a:ea typeface="Malgun Gothic"/>
                <a:cs typeface="Malgun Gothic"/>
              </a:rPr>
              <a:t>02 실제 사용 흐름</a:t>
            </a:r>
          </a:p>
        </p:txBody>
      </p:sp>
      <p:sp>
        <p:nvSpPr>
          <p:cNvPr id="2" name="text-1">
            <a:extLst xmlns:a="http://schemas.openxmlformats.org/drawingml/2006/main">
              <a:ext uri="{FF2B5EF4-FFF2-40B4-BE49-F238E27FC236}">
                <a16:creationId xmlns:a16="http://schemas.microsoft.com/office/drawing/2014/main" id="{F4766476-7530-47BA-8D9D-0A805302BF19}"/>
              </a:ext>
            </a:extLst>
          </p:cNvPr>
          <p:cNvSpPr>
            <a:spLocks xmlns:a="http://schemas.openxmlformats.org/drawingml/2006/main" noGrp="1"/>
          </p:cNvSpPr>
          <p:nvPr/>
        </p:nvSpPr>
        <p:spPr>
          <a:xfrm xmlns:a="http://schemas.openxmlformats.org/drawingml/2006/main">
            <a:off x="571500" y="76200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02F40"/>
                </a:solidFill>
                <a:latin typeface="Malgun Gothic"/>
                <a:ea typeface="Malgun Gothic"/>
                <a:cs typeface="Malgun Gothic"/>
              </a:defRPr>
            </a:pPr>
            <a:r>
              <a:rPr sz="3300" b="1">
                <a:solidFill>
                  <a:srgbClr val="102F40"/>
                </a:solidFill>
                <a:latin typeface="Malgun Gothic"/>
                <a:ea typeface="Malgun Gothic"/>
                <a:cs typeface="Malgun Gothic"/>
              </a:rPr>
              <a:t>미리보기와 수정 대화를 함께 봅니다</a:t>
            </a:r>
          </a:p>
        </p:txBody>
      </p:sp>
      <p:sp>
        <p:nvSpPr>
          <p:cNvPr id="3" name="text-2">
            <a:extLst xmlns:a="http://schemas.openxmlformats.org/drawingml/2006/main">
              <a:ext uri="{FF2B5EF4-FFF2-40B4-BE49-F238E27FC236}">
                <a16:creationId xmlns:a16="http://schemas.microsoft.com/office/drawing/2014/main" id="{448820FD-B2AF-49E5-B490-0FB37111813E}"/>
              </a:ext>
            </a:extLst>
          </p:cNvPr>
          <p:cNvSpPr>
            <a:spLocks xmlns:a="http://schemas.openxmlformats.org/drawingml/2006/main" noGrp="1"/>
          </p:cNvSpPr>
          <p:nvPr/>
        </p:nvSpPr>
        <p:spPr>
          <a:xfrm xmlns:a="http://schemas.openxmlformats.org/drawingml/2006/main">
            <a:off x="571500" y="14954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B78"/>
                </a:solidFill>
                <a:latin typeface="Malgun Gothic"/>
                <a:ea typeface="Malgun Gothic"/>
                <a:cs typeface="Malgun Gothic"/>
              </a:defRPr>
            </a:pPr>
            <a:r>
              <a:rPr sz="1725" b="0">
                <a:solidFill>
                  <a:srgbClr val="536B78"/>
                </a:solidFill>
                <a:latin typeface="Malgun Gothic"/>
                <a:ea typeface="Malgun Gothic"/>
                <a:cs typeface="Malgun Gothic"/>
              </a:rPr>
              <a:t>다운로드할 PowerPoint를 PDF로 변환해 페이지별로 확인합니다.</a:t>
            </a:r>
          </a:p>
        </p:txBody>
      </p:sp>
      <p:sp>
        <p:nvSpPr>
          <p:cNvPr id="4" name="">
            <a:extLst xmlns:a="http://schemas.openxmlformats.org/drawingml/2006/main">
              <a:ext uri="{FF2B5EF4-FFF2-40B4-BE49-F238E27FC236}">
                <a16:creationId xmlns:a16="http://schemas.microsoft.com/office/drawing/2014/main" id="{93F23D65-72F3-4FAE-9689-7ACD073EB298}"/>
              </a:ext>
            </a:extLst>
          </p:cNvPr>
          <p:cNvSpPr>
            <a:spLocks xmlns:a="http://schemas.openxmlformats.org/drawingml/2006/main" noGrp="1"/>
          </p:cNvSpPr>
          <p:nvPr/>
        </p:nvSpPr>
        <p:spPr>
          <a:xfrm xmlns:a="http://schemas.openxmlformats.org/drawingml/2006/main">
            <a:off x="571500" y="6324600"/>
            <a:ext cx="11049000" cy="0"/>
          </a:xfrm>
          <a:prstGeom xmlns:a="http://schemas.openxmlformats.org/drawingml/2006/main" prst="line">
            <a:avLst/>
          </a:prstGeom>
          <a:noFill xmlns:a="http://schemas.openxmlformats.org/drawingml/2006/main"/>
          <a:ln xmlns:a="http://schemas.openxmlformats.org/drawingml/2006/main" w="9525">
            <a:solidFill>
              <a:srgbClr val="CDD8D9"/>
            </a:solidFill>
            <a:prstDash val="solid"/>
          </a:ln>
        </p:spPr>
      </p:sp>
      <p:sp>
        <p:nvSpPr>
          <p:cNvPr id="5" name="text-4">
            <a:extLst xmlns:a="http://schemas.openxmlformats.org/drawingml/2006/main">
              <a:ext uri="{FF2B5EF4-FFF2-40B4-BE49-F238E27FC236}">
                <a16:creationId xmlns:a16="http://schemas.microsoft.com/office/drawing/2014/main" id="{0B1A58E8-6DB8-4CCF-9BB6-CB8B4EF3845B}"/>
              </a:ext>
            </a:extLst>
          </p:cNvPr>
          <p:cNvSpPr>
            <a:spLocks xmlns:a="http://schemas.openxmlformats.org/drawingml/2006/main" noGrp="1"/>
          </p:cNvSpPr>
          <p:nvPr/>
        </p:nvSpPr>
        <p:spPr>
          <a:xfrm xmlns:a="http://schemas.openxmlformats.org/drawingml/2006/main">
            <a:off x="571500" y="64960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36B78"/>
                </a:solidFill>
                <a:latin typeface="Arial"/>
                <a:ea typeface="Arial"/>
                <a:cs typeface="Arial"/>
              </a:defRPr>
            </a:pPr>
            <a:r>
              <a:rPr sz="1050" b="1">
                <a:solidFill>
                  <a:srgbClr val="536B78"/>
                </a:solidFill>
                <a:latin typeface="Arial"/>
                <a:ea typeface="Arial"/>
                <a:cs typeface="Arial"/>
              </a:rPr>
              <a:t>OLIGO-K</a:t>
            </a:r>
          </a:p>
        </p:txBody>
      </p:sp>
      <p:sp>
        <p:nvSpPr>
          <p:cNvPr id="6" name="text-5">
            <a:extLst xmlns:a="http://schemas.openxmlformats.org/drawingml/2006/main">
              <a:ext uri="{FF2B5EF4-FFF2-40B4-BE49-F238E27FC236}">
                <a16:creationId xmlns:a16="http://schemas.microsoft.com/office/drawing/2014/main" id="{B0F4C1AE-C077-42B8-8E3A-CAD70B423C90}"/>
              </a:ext>
            </a:extLst>
          </p:cNvPr>
          <p:cNvSpPr>
            <a:spLocks xmlns:a="http://schemas.openxmlformats.org/drawingml/2006/main" noGrp="1"/>
          </p:cNvSpPr>
          <p:nvPr/>
        </p:nvSpPr>
        <p:spPr>
          <a:xfrm xmlns:a="http://schemas.openxmlformats.org/drawingml/2006/main">
            <a:off x="11049000" y="64674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1">
                <a:solidFill>
                  <a:srgbClr val="087F82"/>
                </a:solidFill>
                <a:latin typeface="Arial"/>
                <a:ea typeface="Arial"/>
                <a:cs typeface="Arial"/>
              </a:defRPr>
            </a:pPr>
            <a:r>
              <a:rPr sz="1350" b="1">
                <a:solidFill>
                  <a:srgbClr val="087F82"/>
                </a:solidFill>
                <a:latin typeface="Arial"/>
                <a:ea typeface="Arial"/>
                <a:cs typeface="Arial"/>
              </a:rPr>
              <a:t>10</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0f482263d674f5a"/>
          <a:stretch xmlns:a="http://schemas.openxmlformats.org/drawingml/2006/main"/>
        </p:blipFill>
        <p:spPr>
          <a:xfrm xmlns:a="http://schemas.openxmlformats.org/drawingml/2006/main">
            <a:off x="575679" y="2190750"/>
            <a:ext cx="7021092" cy="3952875"/>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DDB638CC-ECD3-49A1-B705-6624FCD8D57F}"/>
              </a:ext>
            </a:extLst>
          </p:cNvPr>
          <p:cNvSpPr>
            <a:spLocks xmlns:a="http://schemas.openxmlformats.org/drawingml/2006/main" noGrp="1"/>
          </p:cNvSpPr>
          <p:nvPr/>
        </p:nvSpPr>
        <p:spPr>
          <a:xfrm xmlns:a="http://schemas.openxmlformats.org/drawingml/2006/main">
            <a:off x="8439150" y="2305050"/>
            <a:ext cx="319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02F40"/>
                </a:solidFill>
                <a:latin typeface="Malgun Gothic"/>
                <a:ea typeface="Malgun Gothic"/>
                <a:cs typeface="Malgun Gothic"/>
              </a:defRPr>
            </a:pPr>
            <a:r>
              <a:rPr sz="2325" b="1">
                <a:solidFill>
                  <a:srgbClr val="102F40"/>
                </a:solidFill>
                <a:latin typeface="Malgun Gothic"/>
                <a:ea typeface="Malgun Gothic"/>
                <a:cs typeface="Malgun Gothic"/>
              </a:rPr>
              <a:t>기획서 미리보기</a:t>
            </a:r>
          </a:p>
        </p:txBody>
      </p:sp>
      <p:sp>
        <p:nvSpPr>
          <p:cNvPr id="9" name="text-7">
            <a:extLst xmlns:a="http://schemas.openxmlformats.org/drawingml/2006/main">
              <a:ext uri="{FF2B5EF4-FFF2-40B4-BE49-F238E27FC236}">
                <a16:creationId xmlns:a16="http://schemas.microsoft.com/office/drawing/2014/main" id="{3CD0821E-0F21-4D7D-8B6B-59FC7EB8011D}"/>
              </a:ext>
            </a:extLst>
          </p:cNvPr>
          <p:cNvSpPr>
            <a:spLocks xmlns:a="http://schemas.openxmlformats.org/drawingml/2006/main" noGrp="1"/>
          </p:cNvSpPr>
          <p:nvPr/>
        </p:nvSpPr>
        <p:spPr>
          <a:xfrm xmlns:a="http://schemas.openxmlformats.org/drawingml/2006/main">
            <a:off x="8439150" y="3000375"/>
            <a:ext cx="31432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36B78"/>
                </a:solidFill>
                <a:latin typeface="Malgun Gothic"/>
                <a:ea typeface="Malgun Gothic"/>
                <a:cs typeface="Malgun Gothic"/>
              </a:defRPr>
            </a:pPr>
            <a:r>
              <a:rPr sz="1950" b="0">
                <a:solidFill>
                  <a:srgbClr val="536B78"/>
                </a:solidFill>
                <a:latin typeface="Malgun Gothic"/>
                <a:ea typeface="Malgun Gothic"/>
                <a:cs typeface="Malgun Gothic"/>
              </a:rPr>
              <a:t>페이지 이동과 전체보기</a:t>
            </a:r>
          </a:p>
          <a:p xmlns:a="http://schemas.openxmlformats.org/drawingml/2006/main">
            <a:pPr algn="l">
              <a:defRPr sz="1950" b="0">
                <a:solidFill>
                  <a:srgbClr val="536B78"/>
                </a:solidFill>
                <a:latin typeface="Malgun Gothic"/>
                <a:ea typeface="Malgun Gothic"/>
                <a:cs typeface="Malgun Gothic"/>
              </a:defRPr>
            </a:pPr>
            <a:r>
              <a:rPr sz="1950" b="0">
                <a:solidFill>
                  <a:srgbClr val="536B78"/>
                </a:solidFill>
                <a:latin typeface="Malgun Gothic"/>
                <a:ea typeface="Malgun Gothic"/>
                <a:cs typeface="Malgun Gothic"/>
              </a:rPr>
              <a:t>PowerPoint·Word 다운로드</a:t>
            </a:r>
          </a:p>
          <a:p xmlns:a="http://schemas.openxmlformats.org/drawingml/2006/main">
            <a:pPr algn="l">
              <a:defRPr sz="1950" b="0">
                <a:solidFill>
                  <a:srgbClr val="536B78"/>
                </a:solidFill>
                <a:latin typeface="Malgun Gothic"/>
                <a:ea typeface="Malgun Gothic"/>
                <a:cs typeface="Malgun Gothic"/>
              </a:defRPr>
            </a:pPr>
            <a:r>
              <a:rPr sz="1950" b="0">
                <a:solidFill>
                  <a:srgbClr val="536B78"/>
                </a:solidFill>
                <a:latin typeface="Malgun Gothic"/>
                <a:ea typeface="Malgun Gothic"/>
                <a:cs typeface="Malgun Gothic"/>
              </a:rPr>
              <a:t>챗봇 수정안 검토와 적용</a:t>
            </a:r>
          </a:p>
        </p:txBody>
      </p:sp>
      <p:sp>
        <p:nvSpPr>
          <p:cNvPr id="10" name="text-8">
            <a:extLst xmlns:a="http://schemas.openxmlformats.org/drawingml/2006/main">
              <a:ext uri="{FF2B5EF4-FFF2-40B4-BE49-F238E27FC236}">
                <a16:creationId xmlns:a16="http://schemas.microsoft.com/office/drawing/2014/main" id="{CAC6DFCE-7700-4E7B-9A32-1F7D979861F8}"/>
              </a:ext>
            </a:extLst>
          </p:cNvPr>
          <p:cNvSpPr>
            <a:spLocks xmlns:a="http://schemas.openxmlformats.org/drawingml/2006/main" noGrp="1"/>
          </p:cNvSpPr>
          <p:nvPr/>
        </p:nvSpPr>
        <p:spPr>
          <a:xfrm xmlns:a="http://schemas.openxmlformats.org/drawingml/2006/main">
            <a:off x="8439150" y="5095875"/>
            <a:ext cx="314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087F82"/>
                </a:solidFill>
                <a:latin typeface="Malgun Gothic"/>
                <a:ea typeface="Malgun Gothic"/>
                <a:cs typeface="Malgun Gothic"/>
              </a:defRPr>
            </a:pPr>
            <a:r>
              <a:rPr sz="1950" b="1">
                <a:solidFill>
                  <a:srgbClr val="087F82"/>
                </a:solidFill>
                <a:latin typeface="Malgun Gothic"/>
                <a:ea typeface="Malgun Gothic"/>
                <a:cs typeface="Malgun Gothic"/>
              </a:rPr>
              <a:t>한 단계 되돌리기</a:t>
            </a:r>
          </a:p>
          <a:p xmlns:a="http://schemas.openxmlformats.org/drawingml/2006/main">
            <a:pPr algn="l">
              <a:defRPr sz="1950" b="1">
                <a:solidFill>
                  <a:srgbClr val="087F82"/>
                </a:solidFill>
                <a:latin typeface="Malgun Gothic"/>
                <a:ea typeface="Malgun Gothic"/>
                <a:cs typeface="Malgun Gothic"/>
              </a:defRPr>
            </a:pPr>
            <a:r>
              <a:rPr sz="1950" b="1">
                <a:solidFill>
                  <a:srgbClr val="087F82"/>
                </a:solidFill>
                <a:latin typeface="Malgun Gothic"/>
                <a:ea typeface="Malgun Gothic"/>
                <a:cs typeface="Malgun Gothic"/>
              </a:rPr>
              <a:t>처음 생성한 내용으로 리셋</a:t>
            </a:r>
          </a:p>
        </p:txBody>
      </p:sp>
    </p:spTree>
    <p:extLst>
      <p:ext uri="{BB962C8B-B14F-4D97-AF65-F5344CB8AC3E}">
        <p14:creationId xmlns:p14="http://schemas.microsoft.com/office/powerpoint/2010/main" val="1866843409"/>
      </p:ext>
    </p:extLst>
  </p:cSld>
</p:sld>
</file>

<file path=ppt/slides/slide11.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8" name="text-0.28733882677705636">
            <a:extLst xmlns:a="http://schemas.openxmlformats.org/drawingml/2006/main">
              <a:ext uri="{FF2B5EF4-FFF2-40B4-BE49-F238E27FC236}">
                <a16:creationId xmlns:a16="http://schemas.microsoft.com/office/drawing/2014/main" id="{E49E9D6F-A446-4F16-B67C-1A9F1B7F7A73}"/>
              </a:ext>
            </a:extLst>
          </p:cNvPr>
          <p:cNvSpPr>
            <a:spLocks xmlns:a="http://schemas.openxmlformats.org/drawingml/2006/main" noGrp="1"/>
          </p:cNvSpPr>
          <p:nvPr/>
        </p:nvSpPr>
        <p:spPr>
          <a:xfrm xmlns:a="http://schemas.openxmlformats.org/drawingml/2006/main">
            <a:off x="571500" y="3048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87F82"/>
                </a:solidFill>
                <a:latin typeface="Malgun Gothic"/>
                <a:ea typeface="Malgun Gothic"/>
                <a:cs typeface="Malgun Gothic"/>
              </a:defRPr>
            </a:pPr>
            <a:r>
              <a:rPr sz="1200" b="1">
                <a:solidFill>
                  <a:srgbClr val="087F82"/>
                </a:solidFill>
                <a:latin typeface="Malgun Gothic"/>
                <a:ea typeface="Malgun Gothic"/>
                <a:cs typeface="Malgun Gothic"/>
              </a:rPr>
              <a:t>02 실제 사용 흐름</a:t>
            </a:r>
          </a:p>
        </p:txBody>
      </p:sp>
      <p:sp>
        <p:nvSpPr>
          <p:cNvPr id="2" name="text-1">
            <a:extLst xmlns:a="http://schemas.openxmlformats.org/drawingml/2006/main">
              <a:ext uri="{FF2B5EF4-FFF2-40B4-BE49-F238E27FC236}">
                <a16:creationId xmlns:a16="http://schemas.microsoft.com/office/drawing/2014/main" id="{FC07A708-508C-4C41-93D0-6D0849176E03}"/>
              </a:ext>
            </a:extLst>
          </p:cNvPr>
          <p:cNvSpPr>
            <a:spLocks xmlns:a="http://schemas.openxmlformats.org/drawingml/2006/main" noGrp="1"/>
          </p:cNvSpPr>
          <p:nvPr/>
        </p:nvSpPr>
        <p:spPr>
          <a:xfrm xmlns:a="http://schemas.openxmlformats.org/drawingml/2006/main">
            <a:off x="571500" y="76200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02F40"/>
                </a:solidFill>
                <a:latin typeface="Malgun Gothic"/>
                <a:ea typeface="Malgun Gothic"/>
                <a:cs typeface="Malgun Gothic"/>
              </a:defRPr>
            </a:pPr>
            <a:r>
              <a:rPr sz="3300" b="1">
                <a:solidFill>
                  <a:srgbClr val="102F40"/>
                </a:solidFill>
                <a:latin typeface="Malgun Gothic"/>
                <a:ea typeface="Malgun Gothic"/>
                <a:cs typeface="Malgun Gothic"/>
              </a:rPr>
              <a:t>챗봇의 설명·수정·웹 조사는 구분합니다</a:t>
            </a:r>
          </a:p>
        </p:txBody>
      </p:sp>
      <p:sp>
        <p:nvSpPr>
          <p:cNvPr id="3" name="">
            <a:extLst xmlns:a="http://schemas.openxmlformats.org/drawingml/2006/main">
              <a:ext uri="{FF2B5EF4-FFF2-40B4-BE49-F238E27FC236}">
                <a16:creationId xmlns:a16="http://schemas.microsoft.com/office/drawing/2014/main" id="{477CE732-DD78-4842-B691-DBDDB741A0FA}"/>
              </a:ext>
            </a:extLst>
          </p:cNvPr>
          <p:cNvSpPr>
            <a:spLocks xmlns:a="http://schemas.openxmlformats.org/drawingml/2006/main" noGrp="1"/>
          </p:cNvSpPr>
          <p:nvPr/>
        </p:nvSpPr>
        <p:spPr>
          <a:xfrm xmlns:a="http://schemas.openxmlformats.org/drawingml/2006/main">
            <a:off x="571500" y="6324600"/>
            <a:ext cx="11049000" cy="0"/>
          </a:xfrm>
          <a:prstGeom xmlns:a="http://schemas.openxmlformats.org/drawingml/2006/main" prst="line">
            <a:avLst/>
          </a:prstGeom>
          <a:noFill xmlns:a="http://schemas.openxmlformats.org/drawingml/2006/main"/>
          <a:ln xmlns:a="http://schemas.openxmlformats.org/drawingml/2006/main" w="9525">
            <a:solidFill>
              <a:srgbClr val="CDD8D9"/>
            </a:solidFill>
            <a:prstDash val="solid"/>
          </a:ln>
        </p:spPr>
      </p:sp>
      <p:sp>
        <p:nvSpPr>
          <p:cNvPr id="4" name="text-3">
            <a:extLst xmlns:a="http://schemas.openxmlformats.org/drawingml/2006/main">
              <a:ext uri="{FF2B5EF4-FFF2-40B4-BE49-F238E27FC236}">
                <a16:creationId xmlns:a16="http://schemas.microsoft.com/office/drawing/2014/main" id="{5D85F393-2E04-4149-91D1-47E14889435B}"/>
              </a:ext>
            </a:extLst>
          </p:cNvPr>
          <p:cNvSpPr>
            <a:spLocks xmlns:a="http://schemas.openxmlformats.org/drawingml/2006/main" noGrp="1"/>
          </p:cNvSpPr>
          <p:nvPr/>
        </p:nvSpPr>
        <p:spPr>
          <a:xfrm xmlns:a="http://schemas.openxmlformats.org/drawingml/2006/main">
            <a:off x="571500" y="64960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36B78"/>
                </a:solidFill>
                <a:latin typeface="Arial"/>
                <a:ea typeface="Arial"/>
                <a:cs typeface="Arial"/>
              </a:defRPr>
            </a:pPr>
            <a:r>
              <a:rPr sz="1050" b="1">
                <a:solidFill>
                  <a:srgbClr val="536B78"/>
                </a:solidFill>
                <a:latin typeface="Arial"/>
                <a:ea typeface="Arial"/>
                <a:cs typeface="Arial"/>
              </a:rPr>
              <a:t>OLIGO-K</a:t>
            </a:r>
          </a:p>
        </p:txBody>
      </p:sp>
      <p:sp>
        <p:nvSpPr>
          <p:cNvPr id="5" name="text-4">
            <a:extLst xmlns:a="http://schemas.openxmlformats.org/drawingml/2006/main">
              <a:ext uri="{FF2B5EF4-FFF2-40B4-BE49-F238E27FC236}">
                <a16:creationId xmlns:a16="http://schemas.microsoft.com/office/drawing/2014/main" id="{6A1DBBFD-CBF5-4188-A972-1D0E49D7D685}"/>
              </a:ext>
            </a:extLst>
          </p:cNvPr>
          <p:cNvSpPr>
            <a:spLocks xmlns:a="http://schemas.openxmlformats.org/drawingml/2006/main" noGrp="1"/>
          </p:cNvSpPr>
          <p:nvPr/>
        </p:nvSpPr>
        <p:spPr>
          <a:xfrm xmlns:a="http://schemas.openxmlformats.org/drawingml/2006/main">
            <a:off x="11049000" y="64674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1">
                <a:solidFill>
                  <a:srgbClr val="087F82"/>
                </a:solidFill>
                <a:latin typeface="Arial"/>
                <a:ea typeface="Arial"/>
                <a:cs typeface="Arial"/>
              </a:defRPr>
            </a:pPr>
            <a:r>
              <a:rPr sz="1350" b="1">
                <a:solidFill>
                  <a:srgbClr val="087F82"/>
                </a:solidFill>
                <a:latin typeface="Arial"/>
                <a:ea typeface="Arial"/>
                <a:cs typeface="Arial"/>
              </a:rPr>
              <a:t>11</a:t>
            </a:r>
          </a:p>
        </p:txBody>
      </p:sp>
      <p:graphicFrame>
        <p:nvGraphicFramePr>
          <p:cNvPr id="13" name=""/>
          <p:cNvGraphicFramePr/>
          <p:nvPr/>
        </p:nvGraphicFramePr>
        <p:xfrm>
          <a:off xmlns:a="http://schemas.openxmlformats.org/drawingml/2006/main" x="571500" y="2152650"/>
          <a:ext xmlns:a="http://schemas.openxmlformats.org/drawingml/2006/main" cx="11049000" cy="3467100"/>
        </p:xfrm>
        <a:graphic xmlns:a="http://schemas.openxmlformats.org/drawingml/2006/main">
          <a:graphicData uri="http://schemas.openxmlformats.org/drawingml/2006/table">
            <a:tbl>
              <a:tblPr firstRow="1" bandRow="0"/>
              <a:tblGrid>
                <a:gridCol w="2238375"/>
                <a:gridCol w="4429125"/>
                <a:gridCol w="4381500"/>
              </a:tblGrid>
              <a:tr h="866775">
                <a:tc>
                  <a:txBody>
                    <a:bodyPr/>
                    <a:lstStyle/>
                    <a:p>
                      <a:r>
                        <a:rPr sz="1800" b="1">
                          <a:solidFill>
                            <a:srgbClr val="FFFFFF"/>
                          </a:solidFill>
                          <a:latin typeface="Malgun Gothic"/>
                          <a:ea typeface="Malgun Gothic"/>
                          <a:cs typeface="Malgun Gothic"/>
                        </a:rPr>
                        <a:t>사용 모드</a:t>
                      </a:r>
                    </a:p>
                  </a:txBody>
                  <a:tcPr marL="142875" marR="123825" marT="123825" marB="95250" anchor="ctr">
                    <a:solidFill>
                      <a:srgbClr val="102F40"/>
                    </a:solidFill>
                  </a:tcPr>
                </a:tc>
                <a:tc>
                  <a:txBody>
                    <a:bodyPr/>
                    <a:lstStyle/>
                    <a:p>
                      <a:r>
                        <a:rPr sz="1800" b="1">
                          <a:solidFill>
                            <a:srgbClr val="FFFFFF"/>
                          </a:solidFill>
                          <a:latin typeface="Malgun Gothic"/>
                          <a:ea typeface="Malgun Gothic"/>
                          <a:cs typeface="Malgun Gothic"/>
                        </a:rPr>
                        <a:t>사용하는 정보</a:t>
                      </a:r>
                    </a:p>
                  </a:txBody>
                  <a:tcPr marL="142875" marR="123825" marT="123825" marB="95250" anchor="ctr">
                    <a:solidFill>
                      <a:srgbClr val="102F40"/>
                    </a:solidFill>
                  </a:tcPr>
                </a:tc>
                <a:tc>
                  <a:txBody>
                    <a:bodyPr/>
                    <a:lstStyle/>
                    <a:p>
                      <a:r>
                        <a:rPr sz="1800" b="1">
                          <a:solidFill>
                            <a:srgbClr val="FFFFFF"/>
                          </a:solidFill>
                          <a:latin typeface="Malgun Gothic"/>
                          <a:ea typeface="Malgun Gothic"/>
                          <a:cs typeface="Malgun Gothic"/>
                        </a:rPr>
                        <a:t>결과 처리</a:t>
                      </a:r>
                    </a:p>
                  </a:txBody>
                  <a:tcPr marL="142875" marR="123825" marT="123825" marB="95250" anchor="ctr">
                    <a:solidFill>
                      <a:srgbClr val="102F40"/>
                    </a:solidFill>
                  </a:tcPr>
                </a:tc>
              </a:tr>
              <a:tr h="866775">
                <a:tc>
                  <a:txBody>
                    <a:bodyPr/>
                    <a:lstStyle/>
                    <a:p>
                      <a:r>
                        <a:rPr sz="1800" b="0">
                          <a:solidFill>
                            <a:srgbClr val="102F40"/>
                          </a:solidFill>
                          <a:latin typeface="Malgun Gothic"/>
                          <a:ea typeface="Malgun Gothic"/>
                          <a:cs typeface="Malgun Gothic"/>
                        </a:rPr>
                        <a:t>설명·수정</a:t>
                      </a:r>
                    </a:p>
                  </a:txBody>
                  <a:tcPr marL="142875" marR="123825" marT="123825" marB="95250" anchor="ctr">
                    <a:solidFill>
                      <a:srgbClr val="FFFFFF"/>
                    </a:solidFill>
                  </a:tcPr>
                </a:tc>
                <a:tc>
                  <a:txBody>
                    <a:bodyPr/>
                    <a:lstStyle/>
                    <a:p>
                      <a:r>
                        <a:rPr sz="1800" b="0">
                          <a:solidFill>
                            <a:srgbClr val="102F40"/>
                          </a:solidFill>
                          <a:latin typeface="Malgun Gothic"/>
                          <a:ea typeface="Malgun Gothic"/>
                          <a:cs typeface="Malgun Gothic"/>
                        </a:rPr>
                        <a:t>선택 지역과 현재 기획안</a:t>
                      </a:r>
                    </a:p>
                    <a:p>
                      <a:r>
                        <a:rPr sz="1800" b="0">
                          <a:solidFill>
                            <a:srgbClr val="102F40"/>
                          </a:solidFill>
                          <a:latin typeface="Malgun Gothic"/>
                          <a:ea typeface="Malgun Gothic"/>
                          <a:cs typeface="Malgun Gothic"/>
                        </a:rPr>
                        <a:t>관리자 Router의 설명·수정 경로</a:t>
                      </a:r>
                    </a:p>
                  </a:txBody>
                  <a:tcPr marL="142875" marR="123825" marT="123825" marB="95250" anchor="ctr">
                    <a:solidFill>
                      <a:srgbClr val="FFFFFF"/>
                    </a:solidFill>
                  </a:tcPr>
                </a:tc>
                <a:tc>
                  <a:txBody>
                    <a:bodyPr/>
                    <a:lstStyle/>
                    <a:p>
                      <a:r>
                        <a:rPr sz="1800" b="0">
                          <a:solidFill>
                            <a:srgbClr val="102F40"/>
                          </a:solidFill>
                          <a:latin typeface="Malgun Gothic"/>
                          <a:ea typeface="Malgun Gothic"/>
                          <a:cs typeface="Malgun Gothic"/>
                        </a:rPr>
                        <a:t>수정안을 제시</a:t>
                      </a:r>
                    </a:p>
                    <a:p>
                      <a:r>
                        <a:rPr sz="1800" b="0">
                          <a:solidFill>
                            <a:srgbClr val="102F40"/>
                          </a:solidFill>
                          <a:latin typeface="Malgun Gothic"/>
                          <a:ea typeface="Malgun Gothic"/>
                          <a:cs typeface="Malgun Gothic"/>
                        </a:rPr>
                        <a:t>사용자가 적용하면 저장</a:t>
                      </a:r>
                    </a:p>
                  </a:txBody>
                  <a:tcPr marL="142875" marR="123825" marT="123825" marB="95250" anchor="ctr">
                    <a:solidFill>
                      <a:srgbClr val="FFFFFF"/>
                    </a:solidFill>
                  </a:tcPr>
                </a:tc>
              </a:tr>
              <a:tr h="866775">
                <a:tc>
                  <a:txBody>
                    <a:bodyPr/>
                    <a:lstStyle/>
                    <a:p>
                      <a:r>
                        <a:rPr sz="1800" b="0">
                          <a:solidFill>
                            <a:srgbClr val="102F40"/>
                          </a:solidFill>
                          <a:latin typeface="Malgun Gothic"/>
                          <a:ea typeface="Malgun Gothic"/>
                          <a:cs typeface="Malgun Gothic"/>
                        </a:rPr>
                        <a:t>공식 웹 검색 ON</a:t>
                      </a:r>
                    </a:p>
                  </a:txBody>
                  <a:tcPr marL="142875" marR="123825" marT="123825" marB="95250" anchor="ctr">
                    <a:solidFill>
                      <a:srgbClr val="F6F7F4"/>
                    </a:solidFill>
                  </a:tcPr>
                </a:tc>
                <a:tc>
                  <a:txBody>
                    <a:bodyPr/>
                    <a:lstStyle/>
                    <a:p>
                      <a:r>
                        <a:rPr sz="1800" b="0">
                          <a:solidFill>
                            <a:srgbClr val="102F40"/>
                          </a:solidFill>
                          <a:latin typeface="Malgun Gothic"/>
                          <a:ea typeface="Malgun Gothic"/>
                          <a:cs typeface="Malgun Gothic"/>
                        </a:rPr>
                        <a:t>선택 지역명과 현재 질문</a:t>
                      </a:r>
                    </a:p>
                    <a:p>
                      <a:r>
                        <a:rPr sz="1800" b="0">
                          <a:solidFill>
                            <a:srgbClr val="102F40"/>
                          </a:solidFill>
                          <a:latin typeface="Malgun Gothic"/>
                          <a:ea typeface="Malgun Gothic"/>
                          <a:cs typeface="Malgun Gothic"/>
                        </a:rPr>
                        <a:t>OpenAI 공식 웹 검색</a:t>
                      </a:r>
                    </a:p>
                  </a:txBody>
                  <a:tcPr marL="142875" marR="123825" marT="123825" marB="95250" anchor="ctr">
                    <a:solidFill>
                      <a:srgbClr val="F6F7F4"/>
                    </a:solidFill>
                  </a:tcPr>
                </a:tc>
                <a:tc>
                  <a:txBody>
                    <a:bodyPr/>
                    <a:lstStyle/>
                    <a:p>
                      <a:r>
                        <a:rPr sz="1800" b="0">
                          <a:solidFill>
                            <a:srgbClr val="102F40"/>
                          </a:solidFill>
                          <a:latin typeface="Malgun Gothic"/>
                          <a:ea typeface="Malgun Gothic"/>
                          <a:cs typeface="Malgun Gothic"/>
                        </a:rPr>
                        <a:t>출처와 조사 결과 제시</a:t>
                      </a:r>
                    </a:p>
                    <a:p>
                      <a:r>
                        <a:rPr sz="1800" b="0">
                          <a:solidFill>
                            <a:srgbClr val="102F40"/>
                          </a:solidFill>
                          <a:latin typeface="Malgun Gothic"/>
                          <a:ea typeface="Malgun Gothic"/>
                          <a:cs typeface="Malgun Gothic"/>
                        </a:rPr>
                        <a:t>자동 수정 적용 안 함</a:t>
                      </a:r>
                    </a:p>
                  </a:txBody>
                  <a:tcPr marL="142875" marR="123825" marT="123825" marB="95250" anchor="ctr">
                    <a:solidFill>
                      <a:srgbClr val="F6F7F4"/>
                    </a:solidFill>
                  </a:tcPr>
                </a:tc>
              </a:tr>
              <a:tr h="866775">
                <a:tc>
                  <a:txBody>
                    <a:bodyPr/>
                    <a:lstStyle/>
                    <a:p>
                      <a:r>
                        <a:rPr sz="1800" b="0">
                          <a:solidFill>
                            <a:srgbClr val="102F40"/>
                          </a:solidFill>
                          <a:latin typeface="Malgun Gothic"/>
                          <a:ea typeface="Malgun Gothic"/>
                          <a:cs typeface="Malgun Gothic"/>
                        </a:rPr>
                        <a:t>수정 보호 범위</a:t>
                      </a:r>
                    </a:p>
                  </a:txBody>
                  <a:tcPr marL="142875" marR="123825" marT="123825" marB="95250" anchor="ctr">
                    <a:solidFill>
                      <a:srgbClr val="FFFFFF"/>
                    </a:solidFill>
                  </a:tcPr>
                </a:tc>
                <a:tc>
                  <a:txBody>
                    <a:bodyPr/>
                    <a:lstStyle/>
                    <a:p>
                      <a:r>
                        <a:rPr sz="1800" b="0">
                          <a:solidFill>
                            <a:srgbClr val="102F40"/>
                          </a:solidFill>
                          <a:latin typeface="Malgun Gothic"/>
                          <a:ea typeface="Malgun Gothic"/>
                          <a:cs typeface="Malgun Gothic"/>
                        </a:rPr>
                        <a:t>관측값·ML 전망·공식 사례 수치</a:t>
                      </a:r>
                    </a:p>
                  </a:txBody>
                  <a:tcPr marL="142875" marR="123825" marT="123825" marB="95250" anchor="ctr">
                    <a:solidFill>
                      <a:srgbClr val="FFFFFF"/>
                    </a:solidFill>
                  </a:tcPr>
                </a:tc>
                <a:tc>
                  <a:txBody>
                    <a:bodyPr/>
                    <a:lstStyle/>
                    <a:p>
                      <a:r>
                        <a:rPr sz="1800" b="0">
                          <a:solidFill>
                            <a:srgbClr val="102F40"/>
                          </a:solidFill>
                          <a:latin typeface="Malgun Gothic"/>
                          <a:ea typeface="Malgun Gothic"/>
                          <a:cs typeface="Malgun Gothic"/>
                        </a:rPr>
                        <a:t>목표·견적·문장·실행안 중심 조정</a:t>
                      </a:r>
                    </a:p>
                  </a:txBody>
                  <a:tcPr marL="142875" marR="123825" marT="123825" marB="95250" anchor="ctr">
                    <a:solidFill>
                      <a:srgbClr val="FFFFFF"/>
                    </a:solidFill>
                  </a:tcPr>
                </a:tc>
              </a:tr>
            </a:tbl>
          </a:graphicData>
        </a:graphic>
      </p:graphicFrame>
      <p:sp>
        <p:nvSpPr>
          <p:cNvPr id="7" name="text-5">
            <a:extLst xmlns:a="http://schemas.openxmlformats.org/drawingml/2006/main">
              <a:ext uri="{FF2B5EF4-FFF2-40B4-BE49-F238E27FC236}">
                <a16:creationId xmlns:a16="http://schemas.microsoft.com/office/drawing/2014/main" id="{FA0D2997-F2B2-49A9-BD21-3587998B149C}"/>
              </a:ext>
            </a:extLst>
          </p:cNvPr>
          <p:cNvSpPr>
            <a:spLocks xmlns:a="http://schemas.openxmlformats.org/drawingml/2006/main" noGrp="1"/>
          </p:cNvSpPr>
          <p:nvPr/>
        </p:nvSpPr>
        <p:spPr>
          <a:xfrm xmlns:a="http://schemas.openxmlformats.org/drawingml/2006/main">
            <a:off x="571500" y="580072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87F82"/>
                </a:solidFill>
                <a:latin typeface="Malgun Gothic"/>
                <a:ea typeface="Malgun Gothic"/>
                <a:cs typeface="Malgun Gothic"/>
              </a:defRPr>
            </a:pPr>
            <a:r>
              <a:rPr sz="1800" b="1">
                <a:solidFill>
                  <a:srgbClr val="087F82"/>
                </a:solidFill>
                <a:latin typeface="Malgun Gothic"/>
                <a:ea typeface="Malgun Gothic"/>
                <a:cs typeface="Malgun Gothic"/>
              </a:rPr>
              <a:t>로컬 Gemma 모드에서는 설명·수정을 Gemma가, 웹 조사를 OpenAI가 맡습니다.</a:t>
            </a:r>
          </a:p>
        </p:txBody>
      </p:sp>
    </p:spTree>
    <p:extLst>
      <p:ext uri="{BB962C8B-B14F-4D97-AF65-F5344CB8AC3E}">
        <p14:creationId xmlns:p14="http://schemas.microsoft.com/office/powerpoint/2010/main" val="1323327056"/>
      </p:ext>
    </p:extLst>
  </p:cSld>
</p:sld>
</file>

<file path=ppt/slides/slide12.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22" name="text-0.31087704135011496">
            <a:extLst xmlns:a="http://schemas.openxmlformats.org/drawingml/2006/main">
              <a:ext uri="{FF2B5EF4-FFF2-40B4-BE49-F238E27FC236}">
                <a16:creationId xmlns:a16="http://schemas.microsoft.com/office/drawing/2014/main" id="{FE4CB912-09F1-4BC8-8CA8-ED3B7EF3CA26}"/>
              </a:ext>
            </a:extLst>
          </p:cNvPr>
          <p:cNvSpPr>
            <a:spLocks xmlns:a="http://schemas.openxmlformats.org/drawingml/2006/main" noGrp="1"/>
          </p:cNvSpPr>
          <p:nvPr/>
        </p:nvSpPr>
        <p:spPr>
          <a:xfrm xmlns:a="http://schemas.openxmlformats.org/drawingml/2006/main">
            <a:off x="571500" y="3048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87F82"/>
                </a:solidFill>
                <a:latin typeface="Malgun Gothic"/>
                <a:ea typeface="Malgun Gothic"/>
                <a:cs typeface="Malgun Gothic"/>
              </a:defRPr>
            </a:pPr>
            <a:r>
              <a:rPr sz="1200" b="1">
                <a:solidFill>
                  <a:srgbClr val="087F82"/>
                </a:solidFill>
                <a:latin typeface="Malgun Gothic"/>
                <a:ea typeface="Malgun Gothic"/>
                <a:cs typeface="Malgun Gothic"/>
              </a:rPr>
              <a:t>02 실제 사용 흐름</a:t>
            </a:r>
          </a:p>
        </p:txBody>
      </p:sp>
      <p:sp>
        <p:nvSpPr>
          <p:cNvPr id="2" name="text-1">
            <a:extLst xmlns:a="http://schemas.openxmlformats.org/drawingml/2006/main">
              <a:ext uri="{FF2B5EF4-FFF2-40B4-BE49-F238E27FC236}">
                <a16:creationId xmlns:a16="http://schemas.microsoft.com/office/drawing/2014/main" id="{099D5EAA-4672-4B1C-9666-896297158BB2}"/>
              </a:ext>
            </a:extLst>
          </p:cNvPr>
          <p:cNvSpPr>
            <a:spLocks xmlns:a="http://schemas.openxmlformats.org/drawingml/2006/main" noGrp="1"/>
          </p:cNvSpPr>
          <p:nvPr/>
        </p:nvSpPr>
        <p:spPr>
          <a:xfrm xmlns:a="http://schemas.openxmlformats.org/drawingml/2006/main">
            <a:off x="571500" y="76200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02F40"/>
                </a:solidFill>
                <a:latin typeface="Malgun Gothic"/>
                <a:ea typeface="Malgun Gothic"/>
                <a:cs typeface="Malgun Gothic"/>
              </a:defRPr>
            </a:pPr>
            <a:r>
              <a:rPr sz="3300" b="1">
                <a:solidFill>
                  <a:srgbClr val="102F40"/>
                </a:solidFill>
                <a:latin typeface="Malgun Gothic"/>
                <a:ea typeface="Malgun Gothic"/>
                <a:cs typeface="Malgun Gothic"/>
              </a:rPr>
              <a:t>저장된 한 기획안에서 모든 결과를 출력합니다</a:t>
            </a:r>
          </a:p>
        </p:txBody>
      </p:sp>
      <p:sp>
        <p:nvSpPr>
          <p:cNvPr id="3" name="">
            <a:extLst xmlns:a="http://schemas.openxmlformats.org/drawingml/2006/main">
              <a:ext uri="{FF2B5EF4-FFF2-40B4-BE49-F238E27FC236}">
                <a16:creationId xmlns:a16="http://schemas.microsoft.com/office/drawing/2014/main" id="{C93B6874-6AE5-49F5-B53B-BC106CE81C41}"/>
              </a:ext>
            </a:extLst>
          </p:cNvPr>
          <p:cNvSpPr>
            <a:spLocks xmlns:a="http://schemas.openxmlformats.org/drawingml/2006/main" noGrp="1"/>
          </p:cNvSpPr>
          <p:nvPr/>
        </p:nvSpPr>
        <p:spPr>
          <a:xfrm xmlns:a="http://schemas.openxmlformats.org/drawingml/2006/main">
            <a:off x="571500" y="6324600"/>
            <a:ext cx="11049000" cy="0"/>
          </a:xfrm>
          <a:prstGeom xmlns:a="http://schemas.openxmlformats.org/drawingml/2006/main" prst="line">
            <a:avLst/>
          </a:prstGeom>
          <a:noFill xmlns:a="http://schemas.openxmlformats.org/drawingml/2006/main"/>
          <a:ln xmlns:a="http://schemas.openxmlformats.org/drawingml/2006/main" w="9525">
            <a:solidFill>
              <a:srgbClr val="CDD8D9"/>
            </a:solidFill>
            <a:prstDash val="solid"/>
          </a:ln>
        </p:spPr>
      </p:sp>
      <p:sp>
        <p:nvSpPr>
          <p:cNvPr id="4" name="text-3">
            <a:extLst xmlns:a="http://schemas.openxmlformats.org/drawingml/2006/main">
              <a:ext uri="{FF2B5EF4-FFF2-40B4-BE49-F238E27FC236}">
                <a16:creationId xmlns:a16="http://schemas.microsoft.com/office/drawing/2014/main" id="{461E6FD3-0180-4B38-A6AB-ABA5F5078FB2}"/>
              </a:ext>
            </a:extLst>
          </p:cNvPr>
          <p:cNvSpPr>
            <a:spLocks xmlns:a="http://schemas.openxmlformats.org/drawingml/2006/main" noGrp="1"/>
          </p:cNvSpPr>
          <p:nvPr/>
        </p:nvSpPr>
        <p:spPr>
          <a:xfrm xmlns:a="http://schemas.openxmlformats.org/drawingml/2006/main">
            <a:off x="571500" y="64960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36B78"/>
                </a:solidFill>
                <a:latin typeface="Arial"/>
                <a:ea typeface="Arial"/>
                <a:cs typeface="Arial"/>
              </a:defRPr>
            </a:pPr>
            <a:r>
              <a:rPr sz="1050" b="1">
                <a:solidFill>
                  <a:srgbClr val="536B78"/>
                </a:solidFill>
                <a:latin typeface="Arial"/>
                <a:ea typeface="Arial"/>
                <a:cs typeface="Arial"/>
              </a:rPr>
              <a:t>OLIGO-K</a:t>
            </a:r>
          </a:p>
        </p:txBody>
      </p:sp>
      <p:sp>
        <p:nvSpPr>
          <p:cNvPr id="5" name="text-4">
            <a:extLst xmlns:a="http://schemas.openxmlformats.org/drawingml/2006/main">
              <a:ext uri="{FF2B5EF4-FFF2-40B4-BE49-F238E27FC236}">
                <a16:creationId xmlns:a16="http://schemas.microsoft.com/office/drawing/2014/main" id="{6ABAE96D-0088-409B-8EF6-02B10F9537FB}"/>
              </a:ext>
            </a:extLst>
          </p:cNvPr>
          <p:cNvSpPr>
            <a:spLocks xmlns:a="http://schemas.openxmlformats.org/drawingml/2006/main" noGrp="1"/>
          </p:cNvSpPr>
          <p:nvPr/>
        </p:nvSpPr>
        <p:spPr>
          <a:xfrm xmlns:a="http://schemas.openxmlformats.org/drawingml/2006/main">
            <a:off x="11049000" y="64674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1">
                <a:solidFill>
                  <a:srgbClr val="087F82"/>
                </a:solidFill>
                <a:latin typeface="Arial"/>
                <a:ea typeface="Arial"/>
                <a:cs typeface="Arial"/>
              </a:defRPr>
            </a:pPr>
            <a:r>
              <a:rPr sz="1350" b="1">
                <a:solidFill>
                  <a:srgbClr val="087F82"/>
                </a:solidFill>
                <a:latin typeface="Arial"/>
                <a:ea typeface="Arial"/>
                <a:cs typeface="Arial"/>
              </a:rPr>
              <a:t>12</a:t>
            </a:r>
          </a:p>
        </p:txBody>
      </p:sp>
      <p:sp>
        <p:nvSpPr>
          <p:cNvPr id="6" name="">
            <a:extLst xmlns:a="http://schemas.openxmlformats.org/drawingml/2006/main">
              <a:ext uri="{FF2B5EF4-FFF2-40B4-BE49-F238E27FC236}">
                <a16:creationId xmlns:a16="http://schemas.microsoft.com/office/drawing/2014/main" id="{17F53BCF-E040-459A-94C1-946AE2F0D8EC}"/>
              </a:ext>
            </a:extLst>
          </p:cNvPr>
          <p:cNvSpPr>
            <a:spLocks xmlns:a="http://schemas.openxmlformats.org/drawingml/2006/main" noGrp="1"/>
          </p:cNvSpPr>
          <p:nvPr/>
        </p:nvSpPr>
        <p:spPr>
          <a:xfrm xmlns:a="http://schemas.openxmlformats.org/drawingml/2006/main">
            <a:off x="571500" y="2619375"/>
            <a:ext cx="2438400" cy="1143000"/>
          </a:xfrm>
          <a:prstGeom xmlns:a="http://schemas.openxmlformats.org/drawingml/2006/main" prst="rect">
            <a:avLst/>
          </a:prstGeom>
          <a:solidFill xmlns:a="http://schemas.openxmlformats.org/drawingml/2006/main">
            <a:srgbClr val="FFFFFF"/>
          </a:solidFill>
          <a:ln xmlns:a="http://schemas.openxmlformats.org/drawingml/2006/main" w="9525">
            <a:solidFill>
              <a:srgbClr val="CDD8D9"/>
            </a:solidFill>
          </a:ln>
        </p:spPr>
      </p:sp>
      <p:sp>
        <p:nvSpPr>
          <p:cNvPr id="7" name="text-6">
            <a:extLst xmlns:a="http://schemas.openxmlformats.org/drawingml/2006/main">
              <a:ext uri="{FF2B5EF4-FFF2-40B4-BE49-F238E27FC236}">
                <a16:creationId xmlns:a16="http://schemas.microsoft.com/office/drawing/2014/main" id="{A0CC8BB3-2023-4A2D-8C70-0F95186BFD60}"/>
              </a:ext>
            </a:extLst>
          </p:cNvPr>
          <p:cNvSpPr>
            <a:spLocks xmlns:a="http://schemas.openxmlformats.org/drawingml/2006/main" noGrp="1"/>
          </p:cNvSpPr>
          <p:nvPr/>
        </p:nvSpPr>
        <p:spPr>
          <a:xfrm xmlns:a="http://schemas.openxmlformats.org/drawingml/2006/main">
            <a:off x="723900" y="2800350"/>
            <a:ext cx="2133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생성 완료</a:t>
            </a:r>
          </a:p>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챗봇 수정 적용</a:t>
            </a:r>
          </a:p>
        </p:txBody>
      </p:sp>
      <p:sp>
        <p:nvSpPr>
          <p:cNvPr id="8" name="">
            <a:extLst xmlns:a="http://schemas.openxmlformats.org/drawingml/2006/main">
              <a:ext uri="{FF2B5EF4-FFF2-40B4-BE49-F238E27FC236}">
                <a16:creationId xmlns:a16="http://schemas.microsoft.com/office/drawing/2014/main" id="{B473DBDB-5A8E-485F-BEC1-65DE7356B778}"/>
              </a:ext>
            </a:extLst>
          </p:cNvPr>
          <p:cNvSpPr>
            <a:spLocks xmlns:a="http://schemas.openxmlformats.org/drawingml/2006/main" noGrp="1"/>
          </p:cNvSpPr>
          <p:nvPr/>
        </p:nvSpPr>
        <p:spPr>
          <a:xfrm xmlns:a="http://schemas.openxmlformats.org/drawingml/2006/main">
            <a:off x="4505325" y="2619375"/>
            <a:ext cx="2857500" cy="1143000"/>
          </a:xfrm>
          <a:prstGeom xmlns:a="http://schemas.openxmlformats.org/drawingml/2006/main" prst="rect">
            <a:avLst/>
          </a:prstGeom>
          <a:solidFill xmlns:a="http://schemas.openxmlformats.org/drawingml/2006/main">
            <a:srgbClr val="E5F2ED"/>
          </a:solidFill>
          <a:ln xmlns:a="http://schemas.openxmlformats.org/drawingml/2006/main" w="9525">
            <a:solidFill>
              <a:srgbClr val="CDD8D9"/>
            </a:solidFill>
          </a:ln>
        </p:spPr>
      </p:sp>
      <p:sp>
        <p:nvSpPr>
          <p:cNvPr id="9" name="text-8">
            <a:extLst xmlns:a="http://schemas.openxmlformats.org/drawingml/2006/main">
              <a:ext uri="{FF2B5EF4-FFF2-40B4-BE49-F238E27FC236}">
                <a16:creationId xmlns:a16="http://schemas.microsoft.com/office/drawing/2014/main" id="{033F1CE6-D68B-445D-A40A-D638281EA054}"/>
              </a:ext>
            </a:extLst>
          </p:cNvPr>
          <p:cNvSpPr>
            <a:spLocks xmlns:a="http://schemas.openxmlformats.org/drawingml/2006/main" noGrp="1"/>
          </p:cNvSpPr>
          <p:nvPr/>
        </p:nvSpPr>
        <p:spPr>
          <a:xfrm xmlns:a="http://schemas.openxmlformats.org/drawingml/2006/main">
            <a:off x="4657725" y="2800350"/>
            <a:ext cx="25527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MySQL 저장본</a:t>
            </a:r>
          </a:p>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보고서 JSON</a:t>
            </a:r>
          </a:p>
        </p:txBody>
      </p:sp>
      <p:cxnSp>
        <p:nvCxnSpPr>
          <p:cNvPr id="31" name=""/>
          <p:cNvCxnSpPr>
            <a:stCxn xmlns:a="http://schemas.openxmlformats.org/drawingml/2006/main" id="6" idx="3"/>
            <a:endCxn xmlns:a="http://schemas.openxmlformats.org/drawingml/2006/main" id="8" idx="1"/>
          </p:cNvCxnSpPr>
          <p:nvPr/>
        </p:nvCxnSpPr>
        <p:spPr>
          <a:xfrm xmlns:a="http://schemas.openxmlformats.org/drawingml/2006/main">
            <a:off x="3009900" y="3190875"/>
            <a:ext cx="1495425" cy="0"/>
          </a:xfrm>
          <a:prstGeom xmlns:a="http://schemas.openxmlformats.org/drawingml/2006/main" prst="straightConnector1">
            <a:avLst/>
          </a:prstGeom>
          <a:ln xmlns:a="http://schemas.openxmlformats.org/drawingml/2006/main" w="19050">
            <a:solidFill>
              <a:srgbClr val="087F82"/>
            </a:solidFill>
            <a:tailEnd type="arrow" w="med" len="med"/>
          </a:ln>
        </p:spPr>
      </p:cxnSp>
      <p:sp>
        <p:nvSpPr>
          <p:cNvPr id="11" name="">
            <a:extLst xmlns:a="http://schemas.openxmlformats.org/drawingml/2006/main">
              <a:ext uri="{FF2B5EF4-FFF2-40B4-BE49-F238E27FC236}">
                <a16:creationId xmlns:a16="http://schemas.microsoft.com/office/drawing/2014/main" id="{5443DF61-B1A7-4540-BBF2-3EA4F4A6BEA1}"/>
              </a:ext>
            </a:extLst>
          </p:cNvPr>
          <p:cNvSpPr>
            <a:spLocks xmlns:a="http://schemas.openxmlformats.org/drawingml/2006/main" noGrp="1"/>
          </p:cNvSpPr>
          <p:nvPr/>
        </p:nvSpPr>
        <p:spPr>
          <a:xfrm xmlns:a="http://schemas.openxmlformats.org/drawingml/2006/main">
            <a:off x="9144000" y="2076450"/>
            <a:ext cx="2428875" cy="762000"/>
          </a:xfrm>
          <a:prstGeom xmlns:a="http://schemas.openxmlformats.org/drawingml/2006/main" prst="rect">
            <a:avLst/>
          </a:prstGeom>
          <a:solidFill xmlns:a="http://schemas.openxmlformats.org/drawingml/2006/main">
            <a:srgbClr val="FFFFFF"/>
          </a:solidFill>
          <a:ln xmlns:a="http://schemas.openxmlformats.org/drawingml/2006/main" w="9525">
            <a:solidFill>
              <a:srgbClr val="CDD8D9"/>
            </a:solidFill>
          </a:ln>
        </p:spPr>
      </p:sp>
      <p:sp>
        <p:nvSpPr>
          <p:cNvPr id="12" name="text-11">
            <a:extLst xmlns:a="http://schemas.openxmlformats.org/drawingml/2006/main">
              <a:ext uri="{FF2B5EF4-FFF2-40B4-BE49-F238E27FC236}">
                <a16:creationId xmlns:a16="http://schemas.microsoft.com/office/drawing/2014/main" id="{1442AF50-1964-49D3-A10A-37D27336D8B0}"/>
              </a:ext>
            </a:extLst>
          </p:cNvPr>
          <p:cNvSpPr>
            <a:spLocks xmlns:a="http://schemas.openxmlformats.org/drawingml/2006/main" noGrp="1"/>
          </p:cNvSpPr>
          <p:nvPr/>
        </p:nvSpPr>
        <p:spPr>
          <a:xfrm xmlns:a="http://schemas.openxmlformats.org/drawingml/2006/main">
            <a:off x="9296400" y="2257425"/>
            <a:ext cx="21240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웹 미리보기</a:t>
            </a:r>
          </a:p>
        </p:txBody>
      </p:sp>
      <p:cxnSp>
        <p:nvCxnSpPr>
          <p:cNvPr id="34" name=""/>
          <p:cNvCxnSpPr>
            <a:stCxn xmlns:a="http://schemas.openxmlformats.org/drawingml/2006/main" id="8" idx="3"/>
            <a:endCxn xmlns:a="http://schemas.openxmlformats.org/drawingml/2006/main" id="11" idx="1"/>
          </p:cNvCxnSpPr>
          <p:nvPr/>
        </p:nvCxnSpPr>
        <p:spPr>
          <a:xfrm xmlns:a="http://schemas.openxmlformats.org/drawingml/2006/main" flipV="1">
            <a:off x="7362825" y="2457450"/>
            <a:ext cx="1781175" cy="733425"/>
          </a:xfrm>
          <a:prstGeom xmlns:a="http://schemas.openxmlformats.org/drawingml/2006/main" prst="bentConnector3">
            <a:avLst>
              <a:gd name="adj1" fmla="val 50000"/>
            </a:avLst>
          </a:prstGeom>
          <a:ln xmlns:a="http://schemas.openxmlformats.org/drawingml/2006/main" w="19050">
            <a:solidFill>
              <a:srgbClr val="087F82"/>
            </a:solidFill>
            <a:tailEnd type="arrow" w="med" len="med"/>
          </a:ln>
        </p:spPr>
      </p:cxnSp>
      <p:sp>
        <p:nvSpPr>
          <p:cNvPr id="14" name="">
            <a:extLst xmlns:a="http://schemas.openxmlformats.org/drawingml/2006/main">
              <a:ext uri="{FF2B5EF4-FFF2-40B4-BE49-F238E27FC236}">
                <a16:creationId xmlns:a16="http://schemas.microsoft.com/office/drawing/2014/main" id="{CED95EE0-B8FE-49A6-BE66-357CC0C3E66A}"/>
              </a:ext>
            </a:extLst>
          </p:cNvPr>
          <p:cNvSpPr>
            <a:spLocks xmlns:a="http://schemas.openxmlformats.org/drawingml/2006/main" noGrp="1"/>
          </p:cNvSpPr>
          <p:nvPr/>
        </p:nvSpPr>
        <p:spPr>
          <a:xfrm xmlns:a="http://schemas.openxmlformats.org/drawingml/2006/main">
            <a:off x="9144000" y="3581400"/>
            <a:ext cx="2428875" cy="762000"/>
          </a:xfrm>
          <a:prstGeom xmlns:a="http://schemas.openxmlformats.org/drawingml/2006/main" prst="rect">
            <a:avLst/>
          </a:prstGeom>
          <a:solidFill xmlns:a="http://schemas.openxmlformats.org/drawingml/2006/main">
            <a:srgbClr val="FFFFFF"/>
          </a:solidFill>
          <a:ln xmlns:a="http://schemas.openxmlformats.org/drawingml/2006/main" w="9525">
            <a:solidFill>
              <a:srgbClr val="CDD8D9"/>
            </a:solidFill>
          </a:ln>
        </p:spPr>
      </p:sp>
      <p:sp>
        <p:nvSpPr>
          <p:cNvPr id="15" name="text-14">
            <a:extLst xmlns:a="http://schemas.openxmlformats.org/drawingml/2006/main">
              <a:ext uri="{FF2B5EF4-FFF2-40B4-BE49-F238E27FC236}">
                <a16:creationId xmlns:a16="http://schemas.microsoft.com/office/drawing/2014/main" id="{291524DE-218B-4EA9-9114-E1133942EEEE}"/>
              </a:ext>
            </a:extLst>
          </p:cNvPr>
          <p:cNvSpPr>
            <a:spLocks xmlns:a="http://schemas.openxmlformats.org/drawingml/2006/main" noGrp="1"/>
          </p:cNvSpPr>
          <p:nvPr/>
        </p:nvSpPr>
        <p:spPr>
          <a:xfrm xmlns:a="http://schemas.openxmlformats.org/drawingml/2006/main">
            <a:off x="9296400" y="3762375"/>
            <a:ext cx="21240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PowerPoint</a:t>
            </a:r>
          </a:p>
        </p:txBody>
      </p:sp>
      <p:cxnSp>
        <p:nvCxnSpPr>
          <p:cNvPr id="37" name=""/>
          <p:cNvCxnSpPr>
            <a:stCxn xmlns:a="http://schemas.openxmlformats.org/drawingml/2006/main" id="8" idx="3"/>
            <a:endCxn xmlns:a="http://schemas.openxmlformats.org/drawingml/2006/main" id="14" idx="1"/>
          </p:cNvCxnSpPr>
          <p:nvPr/>
        </p:nvCxnSpPr>
        <p:spPr>
          <a:xfrm xmlns:a="http://schemas.openxmlformats.org/drawingml/2006/main">
            <a:off x="7362825" y="3190875"/>
            <a:ext cx="1781175" cy="771525"/>
          </a:xfrm>
          <a:prstGeom xmlns:a="http://schemas.openxmlformats.org/drawingml/2006/main" prst="bentConnector3">
            <a:avLst>
              <a:gd name="adj1" fmla="val 50000"/>
            </a:avLst>
          </a:prstGeom>
          <a:ln xmlns:a="http://schemas.openxmlformats.org/drawingml/2006/main" w="19050">
            <a:solidFill>
              <a:srgbClr val="087F82"/>
            </a:solidFill>
            <a:tailEnd type="arrow" w="med" len="med"/>
          </a:ln>
        </p:spPr>
      </p:cxnSp>
      <p:sp>
        <p:nvSpPr>
          <p:cNvPr id="17" name="">
            <a:extLst xmlns:a="http://schemas.openxmlformats.org/drawingml/2006/main">
              <a:ext uri="{FF2B5EF4-FFF2-40B4-BE49-F238E27FC236}">
                <a16:creationId xmlns:a16="http://schemas.microsoft.com/office/drawing/2014/main" id="{794C7261-C8ED-449B-81C1-EF9A263E8B7F}"/>
              </a:ext>
            </a:extLst>
          </p:cNvPr>
          <p:cNvSpPr>
            <a:spLocks xmlns:a="http://schemas.openxmlformats.org/drawingml/2006/main" noGrp="1"/>
          </p:cNvSpPr>
          <p:nvPr/>
        </p:nvSpPr>
        <p:spPr>
          <a:xfrm xmlns:a="http://schemas.openxmlformats.org/drawingml/2006/main">
            <a:off x="9144000" y="5086350"/>
            <a:ext cx="2428875" cy="762000"/>
          </a:xfrm>
          <a:prstGeom xmlns:a="http://schemas.openxmlformats.org/drawingml/2006/main" prst="rect">
            <a:avLst/>
          </a:prstGeom>
          <a:solidFill xmlns:a="http://schemas.openxmlformats.org/drawingml/2006/main">
            <a:srgbClr val="FFFFFF"/>
          </a:solidFill>
          <a:ln xmlns:a="http://schemas.openxmlformats.org/drawingml/2006/main" w="9525">
            <a:solidFill>
              <a:srgbClr val="CDD8D9"/>
            </a:solidFill>
          </a:ln>
        </p:spPr>
      </p:sp>
      <p:sp>
        <p:nvSpPr>
          <p:cNvPr id="18" name="text-17">
            <a:extLst xmlns:a="http://schemas.openxmlformats.org/drawingml/2006/main">
              <a:ext uri="{FF2B5EF4-FFF2-40B4-BE49-F238E27FC236}">
                <a16:creationId xmlns:a16="http://schemas.microsoft.com/office/drawing/2014/main" id="{D437AE53-4D93-4175-867A-EDB0241F445A}"/>
              </a:ext>
            </a:extLst>
          </p:cNvPr>
          <p:cNvSpPr>
            <a:spLocks xmlns:a="http://schemas.openxmlformats.org/drawingml/2006/main" noGrp="1"/>
          </p:cNvSpPr>
          <p:nvPr/>
        </p:nvSpPr>
        <p:spPr>
          <a:xfrm xmlns:a="http://schemas.openxmlformats.org/drawingml/2006/main">
            <a:off x="9296400" y="5267325"/>
            <a:ext cx="21240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Word</a:t>
            </a:r>
          </a:p>
        </p:txBody>
      </p:sp>
      <p:cxnSp>
        <p:nvCxnSpPr>
          <p:cNvPr id="40" name=""/>
          <p:cNvCxnSpPr>
            <a:stCxn xmlns:a="http://schemas.openxmlformats.org/drawingml/2006/main" id="8" idx="3"/>
            <a:endCxn xmlns:a="http://schemas.openxmlformats.org/drawingml/2006/main" id="17" idx="1"/>
          </p:cNvCxnSpPr>
          <p:nvPr/>
        </p:nvCxnSpPr>
        <p:spPr>
          <a:xfrm xmlns:a="http://schemas.openxmlformats.org/drawingml/2006/main">
            <a:off x="7362825" y="3190875"/>
            <a:ext cx="1781175" cy="2276475"/>
          </a:xfrm>
          <a:prstGeom xmlns:a="http://schemas.openxmlformats.org/drawingml/2006/main" prst="bentConnector3">
            <a:avLst>
              <a:gd name="adj1" fmla="val 50000"/>
            </a:avLst>
          </a:prstGeom>
          <a:ln xmlns:a="http://schemas.openxmlformats.org/drawingml/2006/main" w="19050">
            <a:solidFill>
              <a:srgbClr val="087F82"/>
            </a:solidFill>
            <a:tailEnd type="arrow" w="med" len="med"/>
          </a:ln>
        </p:spPr>
      </p:cxnSp>
      <p:sp>
        <p:nvSpPr>
          <p:cNvPr id="20" name="text-19">
            <a:extLst xmlns:a="http://schemas.openxmlformats.org/drawingml/2006/main">
              <a:ext uri="{FF2B5EF4-FFF2-40B4-BE49-F238E27FC236}">
                <a16:creationId xmlns:a16="http://schemas.microsoft.com/office/drawing/2014/main" id="{0C2B5A09-05C4-44FC-A26B-B46EB7558182}"/>
              </a:ext>
            </a:extLst>
          </p:cNvPr>
          <p:cNvSpPr>
            <a:spLocks xmlns:a="http://schemas.openxmlformats.org/drawingml/2006/main" noGrp="1"/>
          </p:cNvSpPr>
          <p:nvPr/>
        </p:nvSpPr>
        <p:spPr>
          <a:xfrm xmlns:a="http://schemas.openxmlformats.org/drawingml/2006/main">
            <a:off x="571500" y="4533900"/>
            <a:ext cx="6905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02F40"/>
                </a:solidFill>
                <a:latin typeface="Malgun Gothic"/>
                <a:ea typeface="Malgun Gothic"/>
                <a:cs typeface="Malgun Gothic"/>
              </a:defRPr>
            </a:pPr>
            <a:r>
              <a:rPr sz="2400" b="1">
                <a:solidFill>
                  <a:srgbClr val="102F40"/>
                </a:solidFill>
                <a:latin typeface="Malgun Gothic"/>
                <a:ea typeface="Malgun Gothic"/>
                <a:cs typeface="Malgun Gothic"/>
              </a:rPr>
              <a:t>서버 저장과 화면 캐시를 구분</a:t>
            </a:r>
          </a:p>
        </p:txBody>
      </p:sp>
      <p:sp>
        <p:nvSpPr>
          <p:cNvPr id="21" name="text-20">
            <a:extLst xmlns:a="http://schemas.openxmlformats.org/drawingml/2006/main">
              <a:ext uri="{FF2B5EF4-FFF2-40B4-BE49-F238E27FC236}">
                <a16:creationId xmlns:a16="http://schemas.microsoft.com/office/drawing/2014/main" id="{CEA4639C-8D3E-4798-B921-9DBC991AD681}"/>
              </a:ext>
            </a:extLst>
          </p:cNvPr>
          <p:cNvSpPr>
            <a:spLocks xmlns:a="http://schemas.openxmlformats.org/drawingml/2006/main" noGrp="1"/>
          </p:cNvSpPr>
          <p:nvPr/>
        </p:nvSpPr>
        <p:spPr>
          <a:xfrm xmlns:a="http://schemas.openxmlformats.org/drawingml/2006/main">
            <a:off x="571500" y="5143500"/>
            <a:ext cx="71247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36B78"/>
                </a:solidFill>
                <a:latin typeface="Malgun Gothic"/>
                <a:ea typeface="Malgun Gothic"/>
                <a:cs typeface="Malgun Gothic"/>
              </a:defRPr>
            </a:pPr>
            <a:r>
              <a:rPr sz="2025" b="0">
                <a:solidFill>
                  <a:srgbClr val="536B78"/>
                </a:solidFill>
                <a:latin typeface="Malgun Gothic"/>
                <a:ea typeface="Malgun Gothic"/>
                <a:cs typeface="Malgun Gothic"/>
              </a:rPr>
              <a:t>늦게 끝난 이전 수정이 최신 내용을 덮지 않도록</a:t>
            </a:r>
          </a:p>
          <a:p xmlns:a="http://schemas.openxmlformats.org/drawingml/2006/main">
            <a:pPr algn="l">
              <a:defRPr sz="2025" b="0">
                <a:solidFill>
                  <a:srgbClr val="536B78"/>
                </a:solidFill>
                <a:latin typeface="Malgun Gothic"/>
                <a:ea typeface="Malgun Gothic"/>
                <a:cs typeface="Malgun Gothic"/>
              </a:defRPr>
            </a:pPr>
            <a:r>
              <a:rPr sz="2025" b="0">
                <a:solidFill>
                  <a:srgbClr val="536B78"/>
                </a:solidFill>
                <a:latin typeface="Malgun Gothic"/>
                <a:ea typeface="Malgun Gothic"/>
                <a:cs typeface="Malgun Gothic"/>
              </a:rPr>
              <a:t>보고서별 순서에 따라 저장합니다.</a:t>
            </a:r>
          </a:p>
        </p:txBody>
      </p:sp>
    </p:spTree>
    <p:extLst>
      <p:ext uri="{BB962C8B-B14F-4D97-AF65-F5344CB8AC3E}">
        <p14:creationId xmlns:p14="http://schemas.microsoft.com/office/powerpoint/2010/main" val="1382428015"/>
      </p:ext>
    </p:extLst>
  </p:cSld>
</p:sld>
</file>

<file path=ppt/slides/slide13.xml><?xml version="1.0" encoding="utf-8"?>
<p:sld xmlns:p="http://schemas.openxmlformats.org/presentationml/2006/main">
  <p:cSld>
    <p:bg>
      <p:bgPr>
        <a:solidFill xmlns:a="http://schemas.openxmlformats.org/drawingml/2006/main">
          <a:srgbClr val="092638"/>
        </a:solidFill>
      </p:bgPr>
    </p:bg>
    <p:spTree>
      <p:nvGrpSpPr>
        <p:cNvPr id="1" name=""/>
        <p:cNvGrpSpPr/>
        <p:nvPr/>
      </p:nvGrpSpPr>
      <p:grpSpPr>
        <a:xfrm xmlns:a="http://schemas.openxmlformats.org/drawingml/2006/main"/>
      </p:grpSpPr>
      <p:sp>
        <p:nvSpPr>
          <p:cNvPr id="24" name="text-0.20683413195668265">
            <a:extLst xmlns:a="http://schemas.openxmlformats.org/drawingml/2006/main">
              <a:ext uri="{FF2B5EF4-FFF2-40B4-BE49-F238E27FC236}">
                <a16:creationId xmlns:a16="http://schemas.microsoft.com/office/drawing/2014/main" id="{CBD0AAFB-EE4A-4DAA-99D0-3DFBCE3EFDE4}"/>
              </a:ext>
            </a:extLst>
          </p:cNvPr>
          <p:cNvSpPr>
            <a:spLocks xmlns:a="http://schemas.openxmlformats.org/drawingml/2006/main" noGrp="1"/>
          </p:cNvSpPr>
          <p:nvPr/>
        </p:nvSpPr>
        <p:spPr>
          <a:xfrm xmlns:a="http://schemas.openxmlformats.org/drawingml/2006/main">
            <a:off x="571500" y="3048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69D5C3"/>
                </a:solidFill>
                <a:latin typeface="Malgun Gothic"/>
                <a:ea typeface="Malgun Gothic"/>
                <a:cs typeface="Malgun Gothic"/>
              </a:defRPr>
            </a:pPr>
            <a:r>
              <a:rPr sz="1200" b="1">
                <a:solidFill>
                  <a:srgbClr val="69D5C3"/>
                </a:solidFill>
                <a:latin typeface="Malgun Gothic"/>
                <a:ea typeface="Malgun Gothic"/>
                <a:cs typeface="Malgun Gothic"/>
              </a:rPr>
              <a:t>03 시스템과 데이터</a:t>
            </a:r>
          </a:p>
        </p:txBody>
      </p:sp>
      <p:sp>
        <p:nvSpPr>
          <p:cNvPr id="2" name="text-1">
            <a:extLst xmlns:a="http://schemas.openxmlformats.org/drawingml/2006/main">
              <a:ext uri="{FF2B5EF4-FFF2-40B4-BE49-F238E27FC236}">
                <a16:creationId xmlns:a16="http://schemas.microsoft.com/office/drawing/2014/main" id="{3FE136C7-5E47-4A5E-B6FD-7B782A0447E0}"/>
              </a:ext>
            </a:extLst>
          </p:cNvPr>
          <p:cNvSpPr>
            <a:spLocks xmlns:a="http://schemas.openxmlformats.org/drawingml/2006/main" noGrp="1"/>
          </p:cNvSpPr>
          <p:nvPr/>
        </p:nvSpPr>
        <p:spPr>
          <a:xfrm xmlns:a="http://schemas.openxmlformats.org/drawingml/2006/main">
            <a:off x="571500" y="76200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Malgun Gothic"/>
                <a:ea typeface="Malgun Gothic"/>
                <a:cs typeface="Malgun Gothic"/>
              </a:defRPr>
            </a:pPr>
            <a:r>
              <a:rPr sz="3300" b="1">
                <a:solidFill>
                  <a:srgbClr val="FFFFFF"/>
                </a:solidFill>
                <a:latin typeface="Malgun Gothic"/>
                <a:ea typeface="Malgun Gothic"/>
                <a:cs typeface="Malgun Gothic"/>
              </a:rPr>
              <a:t>서비스 전체 구조</a:t>
            </a:r>
          </a:p>
        </p:txBody>
      </p:sp>
      <p:sp>
        <p:nvSpPr>
          <p:cNvPr id="3" name="text-2">
            <a:extLst xmlns:a="http://schemas.openxmlformats.org/drawingml/2006/main">
              <a:ext uri="{FF2B5EF4-FFF2-40B4-BE49-F238E27FC236}">
                <a16:creationId xmlns:a16="http://schemas.microsoft.com/office/drawing/2014/main" id="{AF75AF7B-31AC-484B-A353-9E046BF583E2}"/>
              </a:ext>
            </a:extLst>
          </p:cNvPr>
          <p:cNvSpPr>
            <a:spLocks xmlns:a="http://schemas.openxmlformats.org/drawingml/2006/main" noGrp="1"/>
          </p:cNvSpPr>
          <p:nvPr/>
        </p:nvSpPr>
        <p:spPr>
          <a:xfrm xmlns:a="http://schemas.openxmlformats.org/drawingml/2006/main">
            <a:off x="571500" y="14954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BAD2DA"/>
                </a:solidFill>
                <a:latin typeface="Malgun Gothic"/>
                <a:ea typeface="Malgun Gothic"/>
                <a:cs typeface="Malgun Gothic"/>
              </a:defRPr>
            </a:pPr>
            <a:r>
              <a:rPr sz="1725" b="0">
                <a:solidFill>
                  <a:srgbClr val="BAD2DA"/>
                </a:solidFill>
                <a:latin typeface="Malgun Gothic"/>
                <a:ea typeface="Malgun Gothic"/>
                <a:cs typeface="Malgun Gothic"/>
              </a:rPr>
              <a:t>화면, 업무 API, AI 처리를 분리하고 Nginx로 연결합니다.</a:t>
            </a:r>
          </a:p>
        </p:txBody>
      </p:sp>
      <p:sp>
        <p:nvSpPr>
          <p:cNvPr id="4" name="">
            <a:extLst xmlns:a="http://schemas.openxmlformats.org/drawingml/2006/main">
              <a:ext uri="{FF2B5EF4-FFF2-40B4-BE49-F238E27FC236}">
                <a16:creationId xmlns:a16="http://schemas.microsoft.com/office/drawing/2014/main" id="{44EF4DD7-52C9-48D3-B20E-8DE62EBF3ED1}"/>
              </a:ext>
            </a:extLst>
          </p:cNvPr>
          <p:cNvSpPr>
            <a:spLocks xmlns:a="http://schemas.openxmlformats.org/drawingml/2006/main" noGrp="1"/>
          </p:cNvSpPr>
          <p:nvPr/>
        </p:nvSpPr>
        <p:spPr>
          <a:xfrm xmlns:a="http://schemas.openxmlformats.org/drawingml/2006/main">
            <a:off x="571500" y="6324600"/>
            <a:ext cx="11049000" cy="0"/>
          </a:xfrm>
          <a:prstGeom xmlns:a="http://schemas.openxmlformats.org/drawingml/2006/main" prst="line">
            <a:avLst/>
          </a:prstGeom>
          <a:noFill xmlns:a="http://schemas.openxmlformats.org/drawingml/2006/main"/>
          <a:ln xmlns:a="http://schemas.openxmlformats.org/drawingml/2006/main" w="9525">
            <a:solidFill>
              <a:srgbClr val="2A4959"/>
            </a:solidFill>
            <a:prstDash val="solid"/>
          </a:ln>
        </p:spPr>
      </p:sp>
      <p:sp>
        <p:nvSpPr>
          <p:cNvPr id="5" name="text-4">
            <a:extLst xmlns:a="http://schemas.openxmlformats.org/drawingml/2006/main">
              <a:ext uri="{FF2B5EF4-FFF2-40B4-BE49-F238E27FC236}">
                <a16:creationId xmlns:a16="http://schemas.microsoft.com/office/drawing/2014/main" id="{066353C2-9B85-4684-8084-9236B7E63FE0}"/>
              </a:ext>
            </a:extLst>
          </p:cNvPr>
          <p:cNvSpPr>
            <a:spLocks xmlns:a="http://schemas.openxmlformats.org/drawingml/2006/main" noGrp="1"/>
          </p:cNvSpPr>
          <p:nvPr/>
        </p:nvSpPr>
        <p:spPr>
          <a:xfrm xmlns:a="http://schemas.openxmlformats.org/drawingml/2006/main">
            <a:off x="571500" y="64960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8CAAB8"/>
                </a:solidFill>
                <a:latin typeface="Arial"/>
                <a:ea typeface="Arial"/>
                <a:cs typeface="Arial"/>
              </a:defRPr>
            </a:pPr>
            <a:r>
              <a:rPr sz="1050" b="1">
                <a:solidFill>
                  <a:srgbClr val="8CAAB8"/>
                </a:solidFill>
                <a:latin typeface="Arial"/>
                <a:ea typeface="Arial"/>
                <a:cs typeface="Arial"/>
              </a:rPr>
              <a:t>OLIGO-K</a:t>
            </a:r>
          </a:p>
        </p:txBody>
      </p:sp>
      <p:sp>
        <p:nvSpPr>
          <p:cNvPr id="6" name="text-5">
            <a:extLst xmlns:a="http://schemas.openxmlformats.org/drawingml/2006/main">
              <a:ext uri="{FF2B5EF4-FFF2-40B4-BE49-F238E27FC236}">
                <a16:creationId xmlns:a16="http://schemas.microsoft.com/office/drawing/2014/main" id="{46C127CA-B10C-4FB8-9277-C2A27FC391A7}"/>
              </a:ext>
            </a:extLst>
          </p:cNvPr>
          <p:cNvSpPr>
            <a:spLocks xmlns:a="http://schemas.openxmlformats.org/drawingml/2006/main" noGrp="1"/>
          </p:cNvSpPr>
          <p:nvPr/>
        </p:nvSpPr>
        <p:spPr>
          <a:xfrm xmlns:a="http://schemas.openxmlformats.org/drawingml/2006/main">
            <a:off x="11049000" y="64674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1">
                <a:solidFill>
                  <a:srgbClr val="69D5C3"/>
                </a:solidFill>
                <a:latin typeface="Arial"/>
                <a:ea typeface="Arial"/>
                <a:cs typeface="Arial"/>
              </a:defRPr>
            </a:pPr>
            <a:r>
              <a:rPr sz="1350" b="1">
                <a:solidFill>
                  <a:srgbClr val="69D5C3"/>
                </a:solidFill>
                <a:latin typeface="Arial"/>
                <a:ea typeface="Arial"/>
                <a:cs typeface="Arial"/>
              </a:rPr>
              <a:t>13</a:t>
            </a:r>
          </a:p>
        </p:txBody>
      </p:sp>
      <p:sp>
        <p:nvSpPr>
          <p:cNvPr id="7" name="">
            <a:extLst xmlns:a="http://schemas.openxmlformats.org/drawingml/2006/main">
              <a:ext uri="{FF2B5EF4-FFF2-40B4-BE49-F238E27FC236}">
                <a16:creationId xmlns:a16="http://schemas.microsoft.com/office/drawing/2014/main" id="{C287663F-9040-4567-9D49-374469EB169A}"/>
              </a:ext>
            </a:extLst>
          </p:cNvPr>
          <p:cNvSpPr>
            <a:spLocks xmlns:a="http://schemas.openxmlformats.org/drawingml/2006/main" noGrp="1"/>
          </p:cNvSpPr>
          <p:nvPr/>
        </p:nvSpPr>
        <p:spPr>
          <a:xfrm xmlns:a="http://schemas.openxmlformats.org/drawingml/2006/main">
            <a:off x="571500" y="2609850"/>
            <a:ext cx="2524125" cy="1104900"/>
          </a:xfrm>
          <a:prstGeom xmlns:a="http://schemas.openxmlformats.org/drawingml/2006/main" prst="rect">
            <a:avLst/>
          </a:prstGeom>
          <a:solidFill xmlns:a="http://schemas.openxmlformats.org/drawingml/2006/main">
            <a:srgbClr val="163B4C"/>
          </a:solidFill>
          <a:ln xmlns:a="http://schemas.openxmlformats.org/drawingml/2006/main" w="9525">
            <a:solidFill>
              <a:srgbClr val="366273"/>
            </a:solidFill>
          </a:ln>
        </p:spPr>
      </p:sp>
      <p:sp>
        <p:nvSpPr>
          <p:cNvPr id="8" name="text-7">
            <a:extLst xmlns:a="http://schemas.openxmlformats.org/drawingml/2006/main">
              <a:ext uri="{FF2B5EF4-FFF2-40B4-BE49-F238E27FC236}">
                <a16:creationId xmlns:a16="http://schemas.microsoft.com/office/drawing/2014/main" id="{7056CE02-F152-4C9B-88EB-396E22647F56}"/>
              </a:ext>
            </a:extLst>
          </p:cNvPr>
          <p:cNvSpPr>
            <a:spLocks xmlns:a="http://schemas.openxmlformats.org/drawingml/2006/main" noGrp="1"/>
          </p:cNvSpPr>
          <p:nvPr/>
        </p:nvSpPr>
        <p:spPr>
          <a:xfrm xmlns:a="http://schemas.openxmlformats.org/drawingml/2006/main">
            <a:off x="723900" y="2790825"/>
            <a:ext cx="22193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사용자 브라우저</a:t>
            </a:r>
          </a:p>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React + Vite</a:t>
            </a:r>
          </a:p>
        </p:txBody>
      </p:sp>
      <p:sp>
        <p:nvSpPr>
          <p:cNvPr id="9" name="">
            <a:extLst xmlns:a="http://schemas.openxmlformats.org/drawingml/2006/main">
              <a:ext uri="{FF2B5EF4-FFF2-40B4-BE49-F238E27FC236}">
                <a16:creationId xmlns:a16="http://schemas.microsoft.com/office/drawing/2014/main" id="{971696EA-688B-4C56-8FF4-68496E877E88}"/>
              </a:ext>
            </a:extLst>
          </p:cNvPr>
          <p:cNvSpPr>
            <a:spLocks xmlns:a="http://schemas.openxmlformats.org/drawingml/2006/main" noGrp="1"/>
          </p:cNvSpPr>
          <p:nvPr/>
        </p:nvSpPr>
        <p:spPr>
          <a:xfrm xmlns:a="http://schemas.openxmlformats.org/drawingml/2006/main">
            <a:off x="4010025" y="2609850"/>
            <a:ext cx="2428875" cy="1104900"/>
          </a:xfrm>
          <a:prstGeom xmlns:a="http://schemas.openxmlformats.org/drawingml/2006/main" prst="rect">
            <a:avLst/>
          </a:prstGeom>
          <a:solidFill xmlns:a="http://schemas.openxmlformats.org/drawingml/2006/main">
            <a:srgbClr val="087F82"/>
          </a:solidFill>
          <a:ln xmlns:a="http://schemas.openxmlformats.org/drawingml/2006/main" w="9525">
            <a:solidFill>
              <a:srgbClr val="366273"/>
            </a:solidFill>
          </a:ln>
        </p:spPr>
      </p:sp>
      <p:sp>
        <p:nvSpPr>
          <p:cNvPr id="10" name="text-9">
            <a:extLst xmlns:a="http://schemas.openxmlformats.org/drawingml/2006/main">
              <a:ext uri="{FF2B5EF4-FFF2-40B4-BE49-F238E27FC236}">
                <a16:creationId xmlns:a16="http://schemas.microsoft.com/office/drawing/2014/main" id="{09EDC333-1444-47A0-8F68-54CCAF2B8D8A}"/>
              </a:ext>
            </a:extLst>
          </p:cNvPr>
          <p:cNvSpPr>
            <a:spLocks xmlns:a="http://schemas.openxmlformats.org/drawingml/2006/main" noGrp="1"/>
          </p:cNvSpPr>
          <p:nvPr/>
        </p:nvSpPr>
        <p:spPr>
          <a:xfrm xmlns:a="http://schemas.openxmlformats.org/drawingml/2006/main">
            <a:off x="4162425" y="2790825"/>
            <a:ext cx="21240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Nginx</a:t>
            </a:r>
          </a:p>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경로별 요청 전달</a:t>
            </a:r>
          </a:p>
        </p:txBody>
      </p:sp>
      <p:cxnSp>
        <p:nvCxnSpPr>
          <p:cNvPr id="34" name=""/>
          <p:cNvCxnSpPr>
            <a:stCxn xmlns:a="http://schemas.openxmlformats.org/drawingml/2006/main" id="7" idx="3"/>
            <a:endCxn xmlns:a="http://schemas.openxmlformats.org/drawingml/2006/main" id="9" idx="1"/>
          </p:cNvCxnSpPr>
          <p:nvPr/>
        </p:nvCxnSpPr>
        <p:spPr>
          <a:xfrm xmlns:a="http://schemas.openxmlformats.org/drawingml/2006/main">
            <a:off x="3095625" y="3162300"/>
            <a:ext cx="914400" cy="0"/>
          </a:xfrm>
          <a:prstGeom xmlns:a="http://schemas.openxmlformats.org/drawingml/2006/main" prst="straightConnector1">
            <a:avLst/>
          </a:prstGeom>
          <a:ln xmlns:a="http://schemas.openxmlformats.org/drawingml/2006/main" w="19050">
            <a:solidFill>
              <a:srgbClr val="69D5C3"/>
            </a:solidFill>
            <a:tailEnd type="arrow" w="med" len="med"/>
          </a:ln>
        </p:spPr>
      </p:cxnSp>
      <p:sp>
        <p:nvSpPr>
          <p:cNvPr id="12" name="">
            <a:extLst xmlns:a="http://schemas.openxmlformats.org/drawingml/2006/main">
              <a:ext uri="{FF2B5EF4-FFF2-40B4-BE49-F238E27FC236}">
                <a16:creationId xmlns:a16="http://schemas.microsoft.com/office/drawing/2014/main" id="{F60D4A69-22AB-44FB-A85F-50A06327345B}"/>
              </a:ext>
            </a:extLst>
          </p:cNvPr>
          <p:cNvSpPr>
            <a:spLocks xmlns:a="http://schemas.openxmlformats.org/drawingml/2006/main" noGrp="1"/>
          </p:cNvSpPr>
          <p:nvPr/>
        </p:nvSpPr>
        <p:spPr>
          <a:xfrm xmlns:a="http://schemas.openxmlformats.org/drawingml/2006/main">
            <a:off x="7810500" y="2143125"/>
            <a:ext cx="3676650" cy="952500"/>
          </a:xfrm>
          <a:prstGeom xmlns:a="http://schemas.openxmlformats.org/drawingml/2006/main" prst="rect">
            <a:avLst/>
          </a:prstGeom>
          <a:solidFill xmlns:a="http://schemas.openxmlformats.org/drawingml/2006/main">
            <a:srgbClr val="163B4C"/>
          </a:solidFill>
          <a:ln xmlns:a="http://schemas.openxmlformats.org/drawingml/2006/main" w="9525">
            <a:solidFill>
              <a:srgbClr val="366273"/>
            </a:solidFill>
          </a:ln>
        </p:spPr>
      </p:sp>
      <p:sp>
        <p:nvSpPr>
          <p:cNvPr id="13" name="text-12">
            <a:extLst xmlns:a="http://schemas.openxmlformats.org/drawingml/2006/main">
              <a:ext uri="{FF2B5EF4-FFF2-40B4-BE49-F238E27FC236}">
                <a16:creationId xmlns:a16="http://schemas.microsoft.com/office/drawing/2014/main" id="{BAD03334-D96B-480A-896B-477770D664D0}"/>
              </a:ext>
            </a:extLst>
          </p:cNvPr>
          <p:cNvSpPr>
            <a:spLocks xmlns:a="http://schemas.openxmlformats.org/drawingml/2006/main" noGrp="1"/>
          </p:cNvSpPr>
          <p:nvPr/>
        </p:nvSpPr>
        <p:spPr>
          <a:xfrm xmlns:a="http://schemas.openxmlformats.org/drawingml/2006/main">
            <a:off x="7962900" y="2324100"/>
            <a:ext cx="33718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Backend :8000</a:t>
            </a:r>
          </a:p>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지도·업무 API</a:t>
            </a:r>
          </a:p>
        </p:txBody>
      </p:sp>
      <p:sp>
        <p:nvSpPr>
          <p:cNvPr id="14" name="">
            <a:extLst xmlns:a="http://schemas.openxmlformats.org/drawingml/2006/main">
              <a:ext uri="{FF2B5EF4-FFF2-40B4-BE49-F238E27FC236}">
                <a16:creationId xmlns:a16="http://schemas.microsoft.com/office/drawing/2014/main" id="{36183658-7729-4A6E-B8AD-D1A40833B469}"/>
              </a:ext>
            </a:extLst>
          </p:cNvPr>
          <p:cNvSpPr>
            <a:spLocks xmlns:a="http://schemas.openxmlformats.org/drawingml/2006/main" noGrp="1"/>
          </p:cNvSpPr>
          <p:nvPr/>
        </p:nvSpPr>
        <p:spPr>
          <a:xfrm xmlns:a="http://schemas.openxmlformats.org/drawingml/2006/main">
            <a:off x="7810500" y="3876675"/>
            <a:ext cx="3676650" cy="952500"/>
          </a:xfrm>
          <a:prstGeom xmlns:a="http://schemas.openxmlformats.org/drawingml/2006/main" prst="rect">
            <a:avLst/>
          </a:prstGeom>
          <a:solidFill xmlns:a="http://schemas.openxmlformats.org/drawingml/2006/main">
            <a:srgbClr val="163B4C"/>
          </a:solidFill>
          <a:ln xmlns:a="http://schemas.openxmlformats.org/drawingml/2006/main" w="9525">
            <a:solidFill>
              <a:srgbClr val="366273"/>
            </a:solidFill>
          </a:ln>
        </p:spPr>
      </p:sp>
      <p:sp>
        <p:nvSpPr>
          <p:cNvPr id="15" name="text-14">
            <a:extLst xmlns:a="http://schemas.openxmlformats.org/drawingml/2006/main">
              <a:ext uri="{FF2B5EF4-FFF2-40B4-BE49-F238E27FC236}">
                <a16:creationId xmlns:a16="http://schemas.microsoft.com/office/drawing/2014/main" id="{7060E8BE-6DA3-4282-8FFF-0804C13DA416}"/>
              </a:ext>
            </a:extLst>
          </p:cNvPr>
          <p:cNvSpPr>
            <a:spLocks xmlns:a="http://schemas.openxmlformats.org/drawingml/2006/main" noGrp="1"/>
          </p:cNvSpPr>
          <p:nvPr/>
        </p:nvSpPr>
        <p:spPr>
          <a:xfrm xmlns:a="http://schemas.openxmlformats.org/drawingml/2006/main">
            <a:off x="7962900" y="4057650"/>
            <a:ext cx="33718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AI Server :8001</a:t>
            </a:r>
          </a:p>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ML·근거·기획·문서</a:t>
            </a:r>
          </a:p>
        </p:txBody>
      </p:sp>
      <p:cxnSp>
        <p:nvCxnSpPr>
          <p:cNvPr id="39" name=""/>
          <p:cNvCxnSpPr>
            <a:stCxn xmlns:a="http://schemas.openxmlformats.org/drawingml/2006/main" id="9" idx="3"/>
            <a:endCxn xmlns:a="http://schemas.openxmlformats.org/drawingml/2006/main" id="12" idx="1"/>
          </p:cNvCxnSpPr>
          <p:nvPr/>
        </p:nvCxnSpPr>
        <p:spPr>
          <a:xfrm xmlns:a="http://schemas.openxmlformats.org/drawingml/2006/main" flipV="1">
            <a:off x="6438900" y="2619375"/>
            <a:ext cx="1371600" cy="542925"/>
          </a:xfrm>
          <a:prstGeom xmlns:a="http://schemas.openxmlformats.org/drawingml/2006/main" prst="bentConnector3">
            <a:avLst>
              <a:gd name="adj1" fmla="val 50000"/>
            </a:avLst>
          </a:prstGeom>
          <a:ln xmlns:a="http://schemas.openxmlformats.org/drawingml/2006/main" w="19050">
            <a:solidFill>
              <a:srgbClr val="69D5C3"/>
            </a:solidFill>
            <a:tailEnd type="arrow" w="med" len="med"/>
          </a:ln>
        </p:spPr>
      </p:cxnSp>
      <p:cxnSp>
        <p:nvCxnSpPr>
          <p:cNvPr id="40" name=""/>
          <p:cNvCxnSpPr>
            <a:stCxn xmlns:a="http://schemas.openxmlformats.org/drawingml/2006/main" id="9" idx="3"/>
            <a:endCxn xmlns:a="http://schemas.openxmlformats.org/drawingml/2006/main" id="14" idx="1"/>
          </p:cNvCxnSpPr>
          <p:nvPr/>
        </p:nvCxnSpPr>
        <p:spPr>
          <a:xfrm xmlns:a="http://schemas.openxmlformats.org/drawingml/2006/main">
            <a:off x="6438900" y="3162300"/>
            <a:ext cx="1371600" cy="1190625"/>
          </a:xfrm>
          <a:prstGeom xmlns:a="http://schemas.openxmlformats.org/drawingml/2006/main" prst="bentConnector3">
            <a:avLst>
              <a:gd name="adj1" fmla="val 50000"/>
            </a:avLst>
          </a:prstGeom>
          <a:ln xmlns:a="http://schemas.openxmlformats.org/drawingml/2006/main" w="19050">
            <a:solidFill>
              <a:srgbClr val="69D5C3"/>
            </a:solidFill>
            <a:tailEnd type="arrow" w="med" len="med"/>
          </a:ln>
        </p:spPr>
      </p:cxnSp>
      <p:sp>
        <p:nvSpPr>
          <p:cNvPr id="18" name="text-17">
            <a:extLst xmlns:a="http://schemas.openxmlformats.org/drawingml/2006/main">
              <a:ext uri="{FF2B5EF4-FFF2-40B4-BE49-F238E27FC236}">
                <a16:creationId xmlns:a16="http://schemas.microsoft.com/office/drawing/2014/main" id="{82D53823-8068-45C4-A120-F0EE3E4FBF8F}"/>
              </a:ext>
            </a:extLst>
          </p:cNvPr>
          <p:cNvSpPr>
            <a:spLocks xmlns:a="http://schemas.openxmlformats.org/drawingml/2006/main" noGrp="1"/>
          </p:cNvSpPr>
          <p:nvPr/>
        </p:nvSpPr>
        <p:spPr>
          <a:xfrm xmlns:a="http://schemas.openxmlformats.org/drawingml/2006/main">
            <a:off x="6762750" y="2295525"/>
            <a:ext cx="95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9D5C3"/>
                </a:solidFill>
                <a:latin typeface="Arial"/>
                <a:ea typeface="Arial"/>
                <a:cs typeface="Arial"/>
              </a:defRPr>
            </a:pPr>
            <a:r>
              <a:rPr sz="1650" b="0">
                <a:solidFill>
                  <a:srgbClr val="69D5C3"/>
                </a:solidFill>
                <a:latin typeface="Arial"/>
                <a:ea typeface="Arial"/>
                <a:cs typeface="Arial"/>
              </a:rPr>
              <a:t>/api</a:t>
            </a:r>
          </a:p>
        </p:txBody>
      </p:sp>
      <p:sp>
        <p:nvSpPr>
          <p:cNvPr id="19" name="text-18">
            <a:extLst xmlns:a="http://schemas.openxmlformats.org/drawingml/2006/main">
              <a:ext uri="{FF2B5EF4-FFF2-40B4-BE49-F238E27FC236}">
                <a16:creationId xmlns:a16="http://schemas.microsoft.com/office/drawing/2014/main" id="{4A1640FF-5F33-4EB6-AB45-23632AC7FDBC}"/>
              </a:ext>
            </a:extLst>
          </p:cNvPr>
          <p:cNvSpPr>
            <a:spLocks xmlns:a="http://schemas.openxmlformats.org/drawingml/2006/main" noGrp="1"/>
          </p:cNvSpPr>
          <p:nvPr/>
        </p:nvSpPr>
        <p:spPr>
          <a:xfrm xmlns:a="http://schemas.openxmlformats.org/drawingml/2006/main">
            <a:off x="6762750" y="4048125"/>
            <a:ext cx="95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9D5C3"/>
                </a:solidFill>
                <a:latin typeface="Arial"/>
                <a:ea typeface="Arial"/>
                <a:cs typeface="Arial"/>
              </a:defRPr>
            </a:pPr>
            <a:r>
              <a:rPr sz="1650" b="0">
                <a:solidFill>
                  <a:srgbClr val="69D5C3"/>
                </a:solidFill>
                <a:latin typeface="Arial"/>
                <a:ea typeface="Arial"/>
                <a:cs typeface="Arial"/>
              </a:rPr>
              <a:t>/ai</a:t>
            </a:r>
          </a:p>
        </p:txBody>
      </p:sp>
      <p:sp>
        <p:nvSpPr>
          <p:cNvPr id="20" name="text-19">
            <a:extLst xmlns:a="http://schemas.openxmlformats.org/drawingml/2006/main">
              <a:ext uri="{FF2B5EF4-FFF2-40B4-BE49-F238E27FC236}">
                <a16:creationId xmlns:a16="http://schemas.microsoft.com/office/drawing/2014/main" id="{E48AC660-3C80-4BFB-AC3B-1FCC015B99BA}"/>
              </a:ext>
            </a:extLst>
          </p:cNvPr>
          <p:cNvSpPr>
            <a:spLocks xmlns:a="http://schemas.openxmlformats.org/drawingml/2006/main" noGrp="1"/>
          </p:cNvSpPr>
          <p:nvPr/>
        </p:nvSpPr>
        <p:spPr>
          <a:xfrm xmlns:a="http://schemas.openxmlformats.org/drawingml/2006/main">
            <a:off x="571500" y="5467350"/>
            <a:ext cx="2143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FFFFFF"/>
                </a:solidFill>
                <a:latin typeface="Malgun Gothic"/>
                <a:ea typeface="Malgun Gothic"/>
                <a:cs typeface="Malgun Gothic"/>
              </a:defRPr>
            </a:pPr>
            <a:r>
              <a:rPr sz="2100" b="1">
                <a:solidFill>
                  <a:srgbClr val="FFFFFF"/>
                </a:solidFill>
                <a:latin typeface="Malgun Gothic"/>
                <a:ea typeface="Malgun Gothic"/>
                <a:cs typeface="Malgun Gothic"/>
              </a:rPr>
              <a:t>MySQL</a:t>
            </a:r>
          </a:p>
        </p:txBody>
      </p:sp>
      <p:sp>
        <p:nvSpPr>
          <p:cNvPr id="21" name="text-20">
            <a:extLst xmlns:a="http://schemas.openxmlformats.org/drawingml/2006/main">
              <a:ext uri="{FF2B5EF4-FFF2-40B4-BE49-F238E27FC236}">
                <a16:creationId xmlns:a16="http://schemas.microsoft.com/office/drawing/2014/main" id="{A1B7693A-0E0C-4EE6-8315-351B2A645E5C}"/>
              </a:ext>
            </a:extLst>
          </p:cNvPr>
          <p:cNvSpPr>
            <a:spLocks xmlns:a="http://schemas.openxmlformats.org/drawingml/2006/main" noGrp="1"/>
          </p:cNvSpPr>
          <p:nvPr/>
        </p:nvSpPr>
        <p:spPr>
          <a:xfrm xmlns:a="http://schemas.openxmlformats.org/drawingml/2006/main">
            <a:off x="3048000" y="5467350"/>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FFFFFF"/>
                </a:solidFill>
                <a:latin typeface="Malgun Gothic"/>
                <a:ea typeface="Malgun Gothic"/>
                <a:cs typeface="Malgun Gothic"/>
              </a:defRPr>
            </a:pPr>
            <a:r>
              <a:rPr sz="2100" b="1">
                <a:solidFill>
                  <a:srgbClr val="FFFFFF"/>
                </a:solidFill>
                <a:latin typeface="Malgun Gothic"/>
                <a:ea typeface="Malgun Gothic"/>
                <a:cs typeface="Malgun Gothic"/>
              </a:rPr>
              <a:t>Joblib 모델</a:t>
            </a:r>
          </a:p>
        </p:txBody>
      </p:sp>
      <p:sp>
        <p:nvSpPr>
          <p:cNvPr id="22" name="text-21">
            <a:extLst xmlns:a="http://schemas.openxmlformats.org/drawingml/2006/main">
              <a:ext uri="{FF2B5EF4-FFF2-40B4-BE49-F238E27FC236}">
                <a16:creationId xmlns:a16="http://schemas.microsoft.com/office/drawing/2014/main" id="{A3A7FBBB-EF74-4F71-B88F-088B92212DAB}"/>
              </a:ext>
            </a:extLst>
          </p:cNvPr>
          <p:cNvSpPr>
            <a:spLocks xmlns:a="http://schemas.openxmlformats.org/drawingml/2006/main" noGrp="1"/>
          </p:cNvSpPr>
          <p:nvPr/>
        </p:nvSpPr>
        <p:spPr>
          <a:xfrm xmlns:a="http://schemas.openxmlformats.org/drawingml/2006/main">
            <a:off x="6191250" y="54673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FFFFFF"/>
                </a:solidFill>
                <a:latin typeface="Malgun Gothic"/>
                <a:ea typeface="Malgun Gothic"/>
                <a:cs typeface="Malgun Gothic"/>
              </a:defRPr>
            </a:pPr>
            <a:r>
              <a:rPr sz="2100" b="1">
                <a:solidFill>
                  <a:srgbClr val="FFFFFF"/>
                </a:solidFill>
                <a:latin typeface="Malgun Gothic"/>
                <a:ea typeface="Malgun Gothic"/>
                <a:cs typeface="Malgun Gothic"/>
              </a:rPr>
              <a:t>공식 문서·RAG</a:t>
            </a:r>
          </a:p>
        </p:txBody>
      </p:sp>
      <p:sp>
        <p:nvSpPr>
          <p:cNvPr id="23" name="text-22">
            <a:extLst xmlns:a="http://schemas.openxmlformats.org/drawingml/2006/main">
              <a:ext uri="{FF2B5EF4-FFF2-40B4-BE49-F238E27FC236}">
                <a16:creationId xmlns:a16="http://schemas.microsoft.com/office/drawing/2014/main" id="{76DCFCFE-A359-468B-9384-19EB077CE86F}"/>
              </a:ext>
            </a:extLst>
          </p:cNvPr>
          <p:cNvSpPr>
            <a:spLocks xmlns:a="http://schemas.openxmlformats.org/drawingml/2006/main" noGrp="1"/>
          </p:cNvSpPr>
          <p:nvPr/>
        </p:nvSpPr>
        <p:spPr>
          <a:xfrm xmlns:a="http://schemas.openxmlformats.org/drawingml/2006/main">
            <a:off x="9353550" y="5467350"/>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FFFFFF"/>
                </a:solidFill>
                <a:latin typeface="Malgun Gothic"/>
                <a:ea typeface="Malgun Gothic"/>
                <a:cs typeface="Malgun Gothic"/>
              </a:defRPr>
            </a:pPr>
            <a:r>
              <a:rPr sz="2100" b="1">
                <a:solidFill>
                  <a:srgbClr val="FFFFFF"/>
                </a:solidFill>
                <a:latin typeface="Malgun Gothic"/>
                <a:ea typeface="Malgun Gothic"/>
                <a:cs typeface="Malgun Gothic"/>
              </a:rPr>
              <a:t>LLM Provider</a:t>
            </a:r>
          </a:p>
        </p:txBody>
      </p:sp>
    </p:spTree>
    <p:extLst>
      <p:ext uri="{BB962C8B-B14F-4D97-AF65-F5344CB8AC3E}">
        <p14:creationId xmlns:p14="http://schemas.microsoft.com/office/powerpoint/2010/main" val="128949987"/>
      </p:ext>
    </p:extLst>
  </p:cSld>
</p:sld>
</file>

<file path=ppt/slides/slide14.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9" name="text-0.7098951389517099">
            <a:extLst xmlns:a="http://schemas.openxmlformats.org/drawingml/2006/main">
              <a:ext uri="{FF2B5EF4-FFF2-40B4-BE49-F238E27FC236}">
                <a16:creationId xmlns:a16="http://schemas.microsoft.com/office/drawing/2014/main" id="{C18655AF-9C87-4AF3-A42E-FEBC37467F03}"/>
              </a:ext>
            </a:extLst>
          </p:cNvPr>
          <p:cNvSpPr>
            <a:spLocks xmlns:a="http://schemas.openxmlformats.org/drawingml/2006/main" noGrp="1"/>
          </p:cNvSpPr>
          <p:nvPr/>
        </p:nvSpPr>
        <p:spPr>
          <a:xfrm xmlns:a="http://schemas.openxmlformats.org/drawingml/2006/main">
            <a:off x="571500" y="3048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87F82"/>
                </a:solidFill>
                <a:latin typeface="Malgun Gothic"/>
                <a:ea typeface="Malgun Gothic"/>
                <a:cs typeface="Malgun Gothic"/>
              </a:defRPr>
            </a:pPr>
            <a:r>
              <a:rPr sz="1200" b="1">
                <a:solidFill>
                  <a:srgbClr val="087F82"/>
                </a:solidFill>
                <a:latin typeface="Malgun Gothic"/>
                <a:ea typeface="Malgun Gothic"/>
                <a:cs typeface="Malgun Gothic"/>
              </a:rPr>
              <a:t>03 시스템과 데이터</a:t>
            </a:r>
          </a:p>
        </p:txBody>
      </p:sp>
      <p:sp>
        <p:nvSpPr>
          <p:cNvPr id="2" name="text-1">
            <a:extLst xmlns:a="http://schemas.openxmlformats.org/drawingml/2006/main">
              <a:ext uri="{FF2B5EF4-FFF2-40B4-BE49-F238E27FC236}">
                <a16:creationId xmlns:a16="http://schemas.microsoft.com/office/drawing/2014/main" id="{6A3F82EB-9314-437D-80D5-8C576F1B5B4A}"/>
              </a:ext>
            </a:extLst>
          </p:cNvPr>
          <p:cNvSpPr>
            <a:spLocks xmlns:a="http://schemas.openxmlformats.org/drawingml/2006/main" noGrp="1"/>
          </p:cNvSpPr>
          <p:nvPr/>
        </p:nvSpPr>
        <p:spPr>
          <a:xfrm xmlns:a="http://schemas.openxmlformats.org/drawingml/2006/main">
            <a:off x="571500" y="76200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02F40"/>
                </a:solidFill>
                <a:latin typeface="Malgun Gothic"/>
                <a:ea typeface="Malgun Gothic"/>
                <a:cs typeface="Malgun Gothic"/>
              </a:defRPr>
            </a:pPr>
            <a:r>
              <a:rPr sz="3300" b="1">
                <a:solidFill>
                  <a:srgbClr val="102F40"/>
                </a:solidFill>
                <a:latin typeface="Malgun Gothic"/>
                <a:ea typeface="Malgun Gothic"/>
                <a:cs typeface="Malgun Gothic"/>
              </a:rPr>
              <a:t>React 화면 구조와 공통 상태</a:t>
            </a:r>
          </a:p>
        </p:txBody>
      </p:sp>
      <p:sp>
        <p:nvSpPr>
          <p:cNvPr id="3" name="">
            <a:extLst xmlns:a="http://schemas.openxmlformats.org/drawingml/2006/main">
              <a:ext uri="{FF2B5EF4-FFF2-40B4-BE49-F238E27FC236}">
                <a16:creationId xmlns:a16="http://schemas.microsoft.com/office/drawing/2014/main" id="{AEDFD72B-9E19-4572-938E-ECA3EF0EC080}"/>
              </a:ext>
            </a:extLst>
          </p:cNvPr>
          <p:cNvSpPr>
            <a:spLocks xmlns:a="http://schemas.openxmlformats.org/drawingml/2006/main" noGrp="1"/>
          </p:cNvSpPr>
          <p:nvPr/>
        </p:nvSpPr>
        <p:spPr>
          <a:xfrm xmlns:a="http://schemas.openxmlformats.org/drawingml/2006/main">
            <a:off x="571500" y="6324600"/>
            <a:ext cx="11049000" cy="0"/>
          </a:xfrm>
          <a:prstGeom xmlns:a="http://schemas.openxmlformats.org/drawingml/2006/main" prst="line">
            <a:avLst/>
          </a:prstGeom>
          <a:noFill xmlns:a="http://schemas.openxmlformats.org/drawingml/2006/main"/>
          <a:ln xmlns:a="http://schemas.openxmlformats.org/drawingml/2006/main" w="9525">
            <a:solidFill>
              <a:srgbClr val="CDD8D9"/>
            </a:solidFill>
            <a:prstDash val="solid"/>
          </a:ln>
        </p:spPr>
      </p:sp>
      <p:sp>
        <p:nvSpPr>
          <p:cNvPr id="4" name="text-3">
            <a:extLst xmlns:a="http://schemas.openxmlformats.org/drawingml/2006/main">
              <a:ext uri="{FF2B5EF4-FFF2-40B4-BE49-F238E27FC236}">
                <a16:creationId xmlns:a16="http://schemas.microsoft.com/office/drawing/2014/main" id="{02BB7B35-F3C1-448F-BCFA-42BB151F2068}"/>
              </a:ext>
            </a:extLst>
          </p:cNvPr>
          <p:cNvSpPr>
            <a:spLocks xmlns:a="http://schemas.openxmlformats.org/drawingml/2006/main" noGrp="1"/>
          </p:cNvSpPr>
          <p:nvPr/>
        </p:nvSpPr>
        <p:spPr>
          <a:xfrm xmlns:a="http://schemas.openxmlformats.org/drawingml/2006/main">
            <a:off x="571500" y="64960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36B78"/>
                </a:solidFill>
                <a:latin typeface="Arial"/>
                <a:ea typeface="Arial"/>
                <a:cs typeface="Arial"/>
              </a:defRPr>
            </a:pPr>
            <a:r>
              <a:rPr sz="1050" b="1">
                <a:solidFill>
                  <a:srgbClr val="536B78"/>
                </a:solidFill>
                <a:latin typeface="Arial"/>
                <a:ea typeface="Arial"/>
                <a:cs typeface="Arial"/>
              </a:rPr>
              <a:t>OLIGO-K</a:t>
            </a:r>
          </a:p>
        </p:txBody>
      </p:sp>
      <p:sp>
        <p:nvSpPr>
          <p:cNvPr id="5" name="text-4">
            <a:extLst xmlns:a="http://schemas.openxmlformats.org/drawingml/2006/main">
              <a:ext uri="{FF2B5EF4-FFF2-40B4-BE49-F238E27FC236}">
                <a16:creationId xmlns:a16="http://schemas.microsoft.com/office/drawing/2014/main" id="{5C8A9D6C-5E66-49FC-8308-64179C48E962}"/>
              </a:ext>
            </a:extLst>
          </p:cNvPr>
          <p:cNvSpPr>
            <a:spLocks xmlns:a="http://schemas.openxmlformats.org/drawingml/2006/main" noGrp="1"/>
          </p:cNvSpPr>
          <p:nvPr/>
        </p:nvSpPr>
        <p:spPr>
          <a:xfrm xmlns:a="http://schemas.openxmlformats.org/drawingml/2006/main">
            <a:off x="11049000" y="64674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1">
                <a:solidFill>
                  <a:srgbClr val="087F82"/>
                </a:solidFill>
                <a:latin typeface="Arial"/>
                <a:ea typeface="Arial"/>
                <a:cs typeface="Arial"/>
              </a:defRPr>
            </a:pPr>
            <a:r>
              <a:rPr sz="1350" b="1">
                <a:solidFill>
                  <a:srgbClr val="087F82"/>
                </a:solidFill>
                <a:latin typeface="Arial"/>
                <a:ea typeface="Arial"/>
                <a:cs typeface="Arial"/>
              </a:rPr>
              <a:t>14</a:t>
            </a:r>
          </a:p>
        </p:txBody>
      </p:sp>
      <p:sp>
        <p:nvSpPr>
          <p:cNvPr id="6" name="text-5">
            <a:extLst xmlns:a="http://schemas.openxmlformats.org/drawingml/2006/main">
              <a:ext uri="{FF2B5EF4-FFF2-40B4-BE49-F238E27FC236}">
                <a16:creationId xmlns:a16="http://schemas.microsoft.com/office/drawing/2014/main" id="{B0D820C2-A9C2-4490-8449-14226408C408}"/>
              </a:ext>
            </a:extLst>
          </p:cNvPr>
          <p:cNvSpPr>
            <a:spLocks xmlns:a="http://schemas.openxmlformats.org/drawingml/2006/main" noGrp="1"/>
          </p:cNvSpPr>
          <p:nvPr/>
        </p:nvSpPr>
        <p:spPr>
          <a:xfrm xmlns:a="http://schemas.openxmlformats.org/drawingml/2006/main">
            <a:off x="571500" y="2238375"/>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087F82"/>
                </a:solidFill>
                <a:latin typeface="Arial"/>
                <a:ea typeface="Arial"/>
                <a:cs typeface="Arial"/>
              </a:defRPr>
            </a:pPr>
            <a:r>
              <a:rPr sz="3075" b="1">
                <a:solidFill>
                  <a:srgbClr val="087F82"/>
                </a:solidFill>
                <a:latin typeface="Arial"/>
                <a:ea typeface="Arial"/>
                <a:cs typeface="Arial"/>
              </a:rPr>
              <a:t>App.jsx</a:t>
            </a:r>
          </a:p>
        </p:txBody>
      </p:sp>
      <p:sp>
        <p:nvSpPr>
          <p:cNvPr id="7" name="text-6">
            <a:extLst xmlns:a="http://schemas.openxmlformats.org/drawingml/2006/main">
              <a:ext uri="{FF2B5EF4-FFF2-40B4-BE49-F238E27FC236}">
                <a16:creationId xmlns:a16="http://schemas.microsoft.com/office/drawing/2014/main" id="{54C2D359-8708-430F-8515-5D2F6CE365B5}"/>
              </a:ext>
            </a:extLst>
          </p:cNvPr>
          <p:cNvSpPr>
            <a:spLocks xmlns:a="http://schemas.openxmlformats.org/drawingml/2006/main" noGrp="1"/>
          </p:cNvSpPr>
          <p:nvPr/>
        </p:nvSpPr>
        <p:spPr>
          <a:xfrm xmlns:a="http://schemas.openxmlformats.org/drawingml/2006/main">
            <a:off x="571500" y="3009900"/>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F40"/>
                </a:solidFill>
                <a:latin typeface="Arial"/>
                <a:ea typeface="Arial"/>
                <a:cs typeface="Arial"/>
              </a:defRPr>
            </a:pPr>
            <a:r>
              <a:rPr sz="2175" b="1">
                <a:solidFill>
                  <a:srgbClr val="102F40"/>
                </a:solidFill>
                <a:latin typeface="Arial"/>
                <a:ea typeface="Arial"/>
                <a:cs typeface="Arial"/>
              </a:rPr>
              <a:t>routes.js · lazy · Suspense</a:t>
            </a:r>
          </a:p>
        </p:txBody>
      </p:sp>
      <p:sp>
        <p:nvSpPr>
          <p:cNvPr id="8" name="text-7">
            <a:extLst xmlns:a="http://schemas.openxmlformats.org/drawingml/2006/main">
              <a:ext uri="{FF2B5EF4-FFF2-40B4-BE49-F238E27FC236}">
                <a16:creationId xmlns:a16="http://schemas.microsoft.com/office/drawing/2014/main" id="{48812697-F734-4B90-881E-1A5F9B9AA6D1}"/>
              </a:ext>
            </a:extLst>
          </p:cNvPr>
          <p:cNvSpPr>
            <a:spLocks xmlns:a="http://schemas.openxmlformats.org/drawingml/2006/main" noGrp="1"/>
          </p:cNvSpPr>
          <p:nvPr/>
        </p:nvSpPr>
        <p:spPr>
          <a:xfrm xmlns:a="http://schemas.openxmlformats.org/drawingml/2006/main">
            <a:off x="857250" y="3800475"/>
            <a:ext cx="3905250" cy="1990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36B78"/>
                </a:solidFill>
                <a:latin typeface="Malgun Gothic"/>
                <a:ea typeface="Malgun Gothic"/>
                <a:cs typeface="Malgun Gothic"/>
              </a:defRPr>
            </a:pPr>
            <a:r>
              <a:rPr sz="2250" b="0">
                <a:solidFill>
                  <a:srgbClr val="536B78"/>
                </a:solidFill>
                <a:latin typeface="Malgun Gothic"/>
                <a:ea typeface="Malgun Gothic"/>
                <a:cs typeface="Malgun Gothic"/>
              </a:rPr>
              <a:t>지역선택</a:t>
            </a:r>
          </a:p>
          <a:p xmlns:a="http://schemas.openxmlformats.org/drawingml/2006/main">
            <a:pPr algn="l">
              <a:defRPr sz="2250" b="0">
                <a:solidFill>
                  <a:srgbClr val="536B78"/>
                </a:solidFill>
                <a:latin typeface="Malgun Gothic"/>
                <a:ea typeface="Malgun Gothic"/>
                <a:cs typeface="Malgun Gothic"/>
              </a:defRPr>
            </a:pPr>
            <a:r>
              <a:rPr sz="2250" b="0">
                <a:solidFill>
                  <a:srgbClr val="536B78"/>
                </a:solidFill>
                <a:latin typeface="Malgun Gothic"/>
                <a:ea typeface="Malgun Gothic"/>
                <a:cs typeface="Malgun Gothic"/>
              </a:rPr>
              <a:t>사업 조건 입력</a:t>
            </a:r>
          </a:p>
          <a:p xmlns:a="http://schemas.openxmlformats.org/drawingml/2006/main">
            <a:pPr algn="l">
              <a:defRPr sz="2250" b="0">
                <a:solidFill>
                  <a:srgbClr val="536B78"/>
                </a:solidFill>
                <a:latin typeface="Malgun Gothic"/>
                <a:ea typeface="Malgun Gothic"/>
                <a:cs typeface="Malgun Gothic"/>
              </a:defRPr>
            </a:pPr>
            <a:r>
              <a:rPr sz="2250" b="0">
                <a:solidFill>
                  <a:srgbClr val="536B78"/>
                </a:solidFill>
                <a:latin typeface="Malgun Gothic"/>
                <a:ea typeface="Malgun Gothic"/>
                <a:cs typeface="Malgun Gothic"/>
              </a:rPr>
              <a:t>기획안 미리보기</a:t>
            </a:r>
          </a:p>
          <a:p xmlns:a="http://schemas.openxmlformats.org/drawingml/2006/main">
            <a:pPr algn="l">
              <a:defRPr sz="2250" b="0">
                <a:solidFill>
                  <a:srgbClr val="536B78"/>
                </a:solidFill>
                <a:latin typeface="Malgun Gothic"/>
                <a:ea typeface="Malgun Gothic"/>
                <a:cs typeface="Malgun Gothic"/>
              </a:defRPr>
            </a:pPr>
            <a:r>
              <a:rPr sz="2250" b="0">
                <a:solidFill>
                  <a:srgbClr val="536B78"/>
                </a:solidFill>
                <a:latin typeface="Malgun Gothic"/>
                <a:ea typeface="Malgun Gothic"/>
                <a:cs typeface="Malgun Gothic"/>
              </a:rPr>
              <a:t>저장된 기획서</a:t>
            </a:r>
          </a:p>
        </p:txBody>
      </p:sp>
      <p:sp>
        <p:nvSpPr>
          <p:cNvPr id="9" name="text-8">
            <a:extLst xmlns:a="http://schemas.openxmlformats.org/drawingml/2006/main">
              <a:ext uri="{FF2B5EF4-FFF2-40B4-BE49-F238E27FC236}">
                <a16:creationId xmlns:a16="http://schemas.microsoft.com/office/drawing/2014/main" id="{FE1EEDE9-A9C8-4797-BF46-28A57B738184}"/>
              </a:ext>
            </a:extLst>
          </p:cNvPr>
          <p:cNvSpPr>
            <a:spLocks xmlns:a="http://schemas.openxmlformats.org/drawingml/2006/main" noGrp="1"/>
          </p:cNvSpPr>
          <p:nvPr/>
        </p:nvSpPr>
        <p:spPr>
          <a:xfrm xmlns:a="http://schemas.openxmlformats.org/drawingml/2006/main">
            <a:off x="6610350" y="2200275"/>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02F40"/>
                </a:solidFill>
                <a:latin typeface="Malgun Gothic"/>
                <a:ea typeface="Malgun Gothic"/>
                <a:cs typeface="Malgun Gothic"/>
              </a:defRPr>
            </a:pPr>
            <a:r>
              <a:rPr sz="2400" b="1">
                <a:solidFill>
                  <a:srgbClr val="102F40"/>
                </a:solidFill>
                <a:latin typeface="Malgun Gothic"/>
                <a:ea typeface="Malgun Gothic"/>
                <a:cs typeface="Malgun Gothic"/>
              </a:rPr>
              <a:t>반복되는 화면과 기능</a:t>
            </a:r>
          </a:p>
        </p:txBody>
      </p:sp>
      <p:sp>
        <p:nvSpPr>
          <p:cNvPr id="10" name="text-9">
            <a:extLst xmlns:a="http://schemas.openxmlformats.org/drawingml/2006/main">
              <a:ext uri="{FF2B5EF4-FFF2-40B4-BE49-F238E27FC236}">
                <a16:creationId xmlns:a16="http://schemas.microsoft.com/office/drawing/2014/main" id="{7D63A346-A189-460E-99AB-BE8EAE4BBD6D}"/>
              </a:ext>
            </a:extLst>
          </p:cNvPr>
          <p:cNvSpPr>
            <a:spLocks xmlns:a="http://schemas.openxmlformats.org/drawingml/2006/main" noGrp="1"/>
          </p:cNvSpPr>
          <p:nvPr/>
        </p:nvSpPr>
        <p:spPr>
          <a:xfrm xmlns:a="http://schemas.openxmlformats.org/drawingml/2006/main">
            <a:off x="6610350" y="300037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87F82"/>
                </a:solidFill>
                <a:latin typeface="Arial"/>
                <a:ea typeface="Arial"/>
                <a:cs typeface="Arial"/>
              </a:defRPr>
            </a:pPr>
            <a:r>
              <a:rPr sz="2400" b="1">
                <a:solidFill>
                  <a:srgbClr val="087F82"/>
                </a:solidFill>
                <a:latin typeface="Arial"/>
                <a:ea typeface="Arial"/>
                <a:cs typeface="Arial"/>
              </a:rPr>
              <a:t>01</a:t>
            </a:r>
          </a:p>
        </p:txBody>
      </p:sp>
      <p:sp>
        <p:nvSpPr>
          <p:cNvPr id="11" name="text-10">
            <a:extLst xmlns:a="http://schemas.openxmlformats.org/drawingml/2006/main">
              <a:ext uri="{FF2B5EF4-FFF2-40B4-BE49-F238E27FC236}">
                <a16:creationId xmlns:a16="http://schemas.microsoft.com/office/drawing/2014/main" id="{61ECB044-3F6B-44E4-8FB4-C7AD66DC34AE}"/>
              </a:ext>
            </a:extLst>
          </p:cNvPr>
          <p:cNvSpPr>
            <a:spLocks xmlns:a="http://schemas.openxmlformats.org/drawingml/2006/main" noGrp="1"/>
          </p:cNvSpPr>
          <p:nvPr/>
        </p:nvSpPr>
        <p:spPr>
          <a:xfrm xmlns:a="http://schemas.openxmlformats.org/drawingml/2006/main">
            <a:off x="7419975" y="3000375"/>
            <a:ext cx="404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F40"/>
                </a:solidFill>
                <a:latin typeface="Malgun Gothic"/>
                <a:ea typeface="Malgun Gothic"/>
                <a:cs typeface="Malgun Gothic"/>
              </a:defRPr>
            </a:pPr>
            <a:r>
              <a:rPr sz="2175" b="1">
                <a:solidFill>
                  <a:srgbClr val="102F40"/>
                </a:solidFill>
                <a:latin typeface="Malgun Gothic"/>
                <a:ea typeface="Malgun Gothic"/>
                <a:cs typeface="Malgun Gothic"/>
              </a:rPr>
              <a:t>공통 업무 화면</a:t>
            </a:r>
          </a:p>
        </p:txBody>
      </p:sp>
      <p:sp>
        <p:nvSpPr>
          <p:cNvPr id="12" name="text-11">
            <a:extLst xmlns:a="http://schemas.openxmlformats.org/drawingml/2006/main">
              <a:ext uri="{FF2B5EF4-FFF2-40B4-BE49-F238E27FC236}">
                <a16:creationId xmlns:a16="http://schemas.microsoft.com/office/drawing/2014/main" id="{483918E0-42A5-4F21-B29A-C06DED94DB59}"/>
              </a:ext>
            </a:extLst>
          </p:cNvPr>
          <p:cNvSpPr>
            <a:spLocks xmlns:a="http://schemas.openxmlformats.org/drawingml/2006/main" noGrp="1"/>
          </p:cNvSpPr>
          <p:nvPr/>
        </p:nvSpPr>
        <p:spPr>
          <a:xfrm xmlns:a="http://schemas.openxmlformats.org/drawingml/2006/main">
            <a:off x="7419975" y="3448050"/>
            <a:ext cx="4048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6B78"/>
                </a:solidFill>
                <a:latin typeface="Malgun Gothic"/>
                <a:ea typeface="Malgun Gothic"/>
                <a:cs typeface="Malgun Gothic"/>
              </a:defRPr>
            </a:pPr>
            <a:r>
              <a:rPr sz="1800" b="0">
                <a:solidFill>
                  <a:srgbClr val="536B78"/>
                </a:solidFill>
                <a:latin typeface="Malgun Gothic"/>
                <a:ea typeface="Malgun Gothic"/>
                <a:cs typeface="Malgun Gothic"/>
              </a:rPr>
              <a:t>WorkspaceShell과 지역 선택 상태</a:t>
            </a:r>
          </a:p>
        </p:txBody>
      </p:sp>
      <p:sp>
        <p:nvSpPr>
          <p:cNvPr id="13" name="text-12">
            <a:extLst xmlns:a="http://schemas.openxmlformats.org/drawingml/2006/main">
              <a:ext uri="{FF2B5EF4-FFF2-40B4-BE49-F238E27FC236}">
                <a16:creationId xmlns:a16="http://schemas.microsoft.com/office/drawing/2014/main" id="{720C1847-DF49-4AF2-AE5E-D5859911B4FC}"/>
              </a:ext>
            </a:extLst>
          </p:cNvPr>
          <p:cNvSpPr>
            <a:spLocks xmlns:a="http://schemas.openxmlformats.org/drawingml/2006/main" noGrp="1"/>
          </p:cNvSpPr>
          <p:nvPr/>
        </p:nvSpPr>
        <p:spPr>
          <a:xfrm xmlns:a="http://schemas.openxmlformats.org/drawingml/2006/main">
            <a:off x="6610350" y="401002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87F82"/>
                </a:solidFill>
                <a:latin typeface="Arial"/>
                <a:ea typeface="Arial"/>
                <a:cs typeface="Arial"/>
              </a:defRPr>
            </a:pPr>
            <a:r>
              <a:rPr sz="2400" b="1">
                <a:solidFill>
                  <a:srgbClr val="087F82"/>
                </a:solidFill>
                <a:latin typeface="Arial"/>
                <a:ea typeface="Arial"/>
                <a:cs typeface="Arial"/>
              </a:rPr>
              <a:t>02</a:t>
            </a:r>
          </a:p>
        </p:txBody>
      </p:sp>
      <p:sp>
        <p:nvSpPr>
          <p:cNvPr id="14" name="text-13">
            <a:extLst xmlns:a="http://schemas.openxmlformats.org/drawingml/2006/main">
              <a:ext uri="{FF2B5EF4-FFF2-40B4-BE49-F238E27FC236}">
                <a16:creationId xmlns:a16="http://schemas.microsoft.com/office/drawing/2014/main" id="{09225CE7-F09F-4F82-922D-C99590A73A8C}"/>
              </a:ext>
            </a:extLst>
          </p:cNvPr>
          <p:cNvSpPr>
            <a:spLocks xmlns:a="http://schemas.openxmlformats.org/drawingml/2006/main" noGrp="1"/>
          </p:cNvSpPr>
          <p:nvPr/>
        </p:nvSpPr>
        <p:spPr>
          <a:xfrm xmlns:a="http://schemas.openxmlformats.org/drawingml/2006/main">
            <a:off x="7419975" y="4010025"/>
            <a:ext cx="404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F40"/>
                </a:solidFill>
                <a:latin typeface="Malgun Gothic"/>
                <a:ea typeface="Malgun Gothic"/>
                <a:cs typeface="Malgun Gothic"/>
              </a:defRPr>
            </a:pPr>
            <a:r>
              <a:rPr sz="2175" b="1">
                <a:solidFill>
                  <a:srgbClr val="102F40"/>
                </a:solidFill>
                <a:latin typeface="Malgun Gothic"/>
                <a:ea typeface="Malgun Gothic"/>
                <a:cs typeface="Malgun Gothic"/>
              </a:rPr>
              <a:t>지도와 차트</a:t>
            </a:r>
          </a:p>
        </p:txBody>
      </p:sp>
      <p:sp>
        <p:nvSpPr>
          <p:cNvPr id="15" name="text-14">
            <a:extLst xmlns:a="http://schemas.openxmlformats.org/drawingml/2006/main">
              <a:ext uri="{FF2B5EF4-FFF2-40B4-BE49-F238E27FC236}">
                <a16:creationId xmlns:a16="http://schemas.microsoft.com/office/drawing/2014/main" id="{7B51A599-4808-4708-BD5D-F8B7FC582A5D}"/>
              </a:ext>
            </a:extLst>
          </p:cNvPr>
          <p:cNvSpPr>
            <a:spLocks xmlns:a="http://schemas.openxmlformats.org/drawingml/2006/main" noGrp="1"/>
          </p:cNvSpPr>
          <p:nvPr/>
        </p:nvSpPr>
        <p:spPr>
          <a:xfrm xmlns:a="http://schemas.openxmlformats.org/drawingml/2006/main">
            <a:off x="7419975" y="4457700"/>
            <a:ext cx="4048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6B78"/>
                </a:solidFill>
                <a:latin typeface="Malgun Gothic"/>
                <a:ea typeface="Malgun Gothic"/>
                <a:cs typeface="Malgun Gothic"/>
              </a:defRPr>
            </a:pPr>
            <a:r>
              <a:rPr sz="1800" b="0">
                <a:solidFill>
                  <a:srgbClr val="536B78"/>
                </a:solidFill>
                <a:latin typeface="Malgun Gothic"/>
                <a:ea typeface="Malgun Gothic"/>
                <a:cs typeface="Malgun Gothic"/>
              </a:rPr>
              <a:t>Leaflet 행정경계 지도, Recharts</a:t>
            </a:r>
          </a:p>
        </p:txBody>
      </p:sp>
      <p:sp>
        <p:nvSpPr>
          <p:cNvPr id="16" name="text-15">
            <a:extLst xmlns:a="http://schemas.openxmlformats.org/drawingml/2006/main">
              <a:ext uri="{FF2B5EF4-FFF2-40B4-BE49-F238E27FC236}">
                <a16:creationId xmlns:a16="http://schemas.microsoft.com/office/drawing/2014/main" id="{F8C7D090-ABF5-4C80-85D1-848265D1C066}"/>
              </a:ext>
            </a:extLst>
          </p:cNvPr>
          <p:cNvSpPr>
            <a:spLocks xmlns:a="http://schemas.openxmlformats.org/drawingml/2006/main" noGrp="1"/>
          </p:cNvSpPr>
          <p:nvPr/>
        </p:nvSpPr>
        <p:spPr>
          <a:xfrm xmlns:a="http://schemas.openxmlformats.org/drawingml/2006/main">
            <a:off x="6610350" y="501967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87F82"/>
                </a:solidFill>
                <a:latin typeface="Arial"/>
                <a:ea typeface="Arial"/>
                <a:cs typeface="Arial"/>
              </a:defRPr>
            </a:pPr>
            <a:r>
              <a:rPr sz="2400" b="1">
                <a:solidFill>
                  <a:srgbClr val="087F82"/>
                </a:solidFill>
                <a:latin typeface="Arial"/>
                <a:ea typeface="Arial"/>
                <a:cs typeface="Arial"/>
              </a:rPr>
              <a:t>03</a:t>
            </a:r>
          </a:p>
        </p:txBody>
      </p:sp>
      <p:sp>
        <p:nvSpPr>
          <p:cNvPr id="17" name="text-16">
            <a:extLst xmlns:a="http://schemas.openxmlformats.org/drawingml/2006/main">
              <a:ext uri="{FF2B5EF4-FFF2-40B4-BE49-F238E27FC236}">
                <a16:creationId xmlns:a16="http://schemas.microsoft.com/office/drawing/2014/main" id="{58D116C8-C045-4E33-9602-C20953B391B4}"/>
              </a:ext>
            </a:extLst>
          </p:cNvPr>
          <p:cNvSpPr>
            <a:spLocks xmlns:a="http://schemas.openxmlformats.org/drawingml/2006/main" noGrp="1"/>
          </p:cNvSpPr>
          <p:nvPr/>
        </p:nvSpPr>
        <p:spPr>
          <a:xfrm xmlns:a="http://schemas.openxmlformats.org/drawingml/2006/main">
            <a:off x="7419975" y="5019675"/>
            <a:ext cx="404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F40"/>
                </a:solidFill>
                <a:latin typeface="Malgun Gothic"/>
                <a:ea typeface="Malgun Gothic"/>
                <a:cs typeface="Malgun Gothic"/>
              </a:defRPr>
            </a:pPr>
            <a:r>
              <a:rPr sz="2175" b="1">
                <a:solidFill>
                  <a:srgbClr val="102F40"/>
                </a:solidFill>
                <a:latin typeface="Malgun Gothic"/>
                <a:ea typeface="Malgun Gothic"/>
                <a:cs typeface="Malgun Gothic"/>
              </a:rPr>
              <a:t>AI와 편집 상태</a:t>
            </a:r>
          </a:p>
        </p:txBody>
      </p:sp>
      <p:sp>
        <p:nvSpPr>
          <p:cNvPr id="18" name="text-17">
            <a:extLst xmlns:a="http://schemas.openxmlformats.org/drawingml/2006/main">
              <a:ext uri="{FF2B5EF4-FFF2-40B4-BE49-F238E27FC236}">
                <a16:creationId xmlns:a16="http://schemas.microsoft.com/office/drawing/2014/main" id="{D38D64F0-A5AA-4897-A5D0-6200A8F0ACA3}"/>
              </a:ext>
            </a:extLst>
          </p:cNvPr>
          <p:cNvSpPr>
            <a:spLocks xmlns:a="http://schemas.openxmlformats.org/drawingml/2006/main" noGrp="1"/>
          </p:cNvSpPr>
          <p:nvPr/>
        </p:nvSpPr>
        <p:spPr>
          <a:xfrm xmlns:a="http://schemas.openxmlformats.org/drawingml/2006/main">
            <a:off x="7419975" y="5467350"/>
            <a:ext cx="4048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6B78"/>
                </a:solidFill>
                <a:latin typeface="Malgun Gothic"/>
                <a:ea typeface="Malgun Gothic"/>
                <a:cs typeface="Malgun Gothic"/>
              </a:defRPr>
            </a:pPr>
            <a:r>
              <a:rPr sz="1800" b="0">
                <a:solidFill>
                  <a:srgbClr val="536B78"/>
                </a:solidFill>
                <a:latin typeface="Malgun Gothic"/>
                <a:ea typeface="Malgun Gothic"/>
                <a:cs typeface="Malgun Gothic"/>
              </a:rPr>
              <a:t>기본·전체보기 챗봇의 대화·요청 공유</a:t>
            </a:r>
          </a:p>
        </p:txBody>
      </p:sp>
    </p:spTree>
    <p:extLst>
      <p:ext uri="{BB962C8B-B14F-4D97-AF65-F5344CB8AC3E}">
        <p14:creationId xmlns:p14="http://schemas.microsoft.com/office/powerpoint/2010/main" val="1174190511"/>
      </p:ext>
    </p:extLst>
  </p:cSld>
</p:sld>
</file>

<file path=ppt/slides/slide15.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9" name="text-0.6526873077416985">
            <a:extLst xmlns:a="http://schemas.openxmlformats.org/drawingml/2006/main">
              <a:ext uri="{FF2B5EF4-FFF2-40B4-BE49-F238E27FC236}">
                <a16:creationId xmlns:a16="http://schemas.microsoft.com/office/drawing/2014/main" id="{57BB1A56-CDBD-4EF2-951E-AACBC27E9FB5}"/>
              </a:ext>
            </a:extLst>
          </p:cNvPr>
          <p:cNvSpPr>
            <a:spLocks xmlns:a="http://schemas.openxmlformats.org/drawingml/2006/main" noGrp="1"/>
          </p:cNvSpPr>
          <p:nvPr/>
        </p:nvSpPr>
        <p:spPr>
          <a:xfrm xmlns:a="http://schemas.openxmlformats.org/drawingml/2006/main">
            <a:off x="571500" y="3048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87F82"/>
                </a:solidFill>
                <a:latin typeface="Malgun Gothic"/>
                <a:ea typeface="Malgun Gothic"/>
                <a:cs typeface="Malgun Gothic"/>
              </a:defRPr>
            </a:pPr>
            <a:r>
              <a:rPr sz="1200" b="1">
                <a:solidFill>
                  <a:srgbClr val="087F82"/>
                </a:solidFill>
                <a:latin typeface="Malgun Gothic"/>
                <a:ea typeface="Malgun Gothic"/>
                <a:cs typeface="Malgun Gothic"/>
              </a:rPr>
              <a:t>03 시스템과 데이터</a:t>
            </a:r>
          </a:p>
        </p:txBody>
      </p:sp>
      <p:sp>
        <p:nvSpPr>
          <p:cNvPr id="2" name="text-1">
            <a:extLst xmlns:a="http://schemas.openxmlformats.org/drawingml/2006/main">
              <a:ext uri="{FF2B5EF4-FFF2-40B4-BE49-F238E27FC236}">
                <a16:creationId xmlns:a16="http://schemas.microsoft.com/office/drawing/2014/main" id="{8D288F1B-2E3E-4DEB-A4F0-962F6289D4EC}"/>
              </a:ext>
            </a:extLst>
          </p:cNvPr>
          <p:cNvSpPr>
            <a:spLocks xmlns:a="http://schemas.openxmlformats.org/drawingml/2006/main" noGrp="1"/>
          </p:cNvSpPr>
          <p:nvPr/>
        </p:nvSpPr>
        <p:spPr>
          <a:xfrm xmlns:a="http://schemas.openxmlformats.org/drawingml/2006/main">
            <a:off x="571500" y="76200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02F40"/>
                </a:solidFill>
                <a:latin typeface="Malgun Gothic"/>
                <a:ea typeface="Malgun Gothic"/>
                <a:cs typeface="Malgun Gothic"/>
              </a:defRPr>
            </a:pPr>
            <a:r>
              <a:rPr sz="3300" b="1">
                <a:solidFill>
                  <a:srgbClr val="102F40"/>
                </a:solidFill>
                <a:latin typeface="Malgun Gothic"/>
                <a:ea typeface="Malgun Gothic"/>
                <a:cs typeface="Malgun Gothic"/>
              </a:rPr>
              <a:t>데이터베이스의 핵심 연결 키</a:t>
            </a:r>
          </a:p>
        </p:txBody>
      </p:sp>
      <p:sp>
        <p:nvSpPr>
          <p:cNvPr id="3" name="text-2">
            <a:extLst xmlns:a="http://schemas.openxmlformats.org/drawingml/2006/main">
              <a:ext uri="{FF2B5EF4-FFF2-40B4-BE49-F238E27FC236}">
                <a16:creationId xmlns:a16="http://schemas.microsoft.com/office/drawing/2014/main" id="{D6381C48-E753-4FFC-8D51-9E4FB3799C19}"/>
              </a:ext>
            </a:extLst>
          </p:cNvPr>
          <p:cNvSpPr>
            <a:spLocks xmlns:a="http://schemas.openxmlformats.org/drawingml/2006/main" noGrp="1"/>
          </p:cNvSpPr>
          <p:nvPr/>
        </p:nvSpPr>
        <p:spPr>
          <a:xfrm xmlns:a="http://schemas.openxmlformats.org/drawingml/2006/main">
            <a:off x="571500" y="14954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B78"/>
                </a:solidFill>
                <a:latin typeface="Malgun Gothic"/>
                <a:ea typeface="Malgun Gothic"/>
                <a:cs typeface="Malgun Gothic"/>
              </a:defRPr>
            </a:pPr>
            <a:r>
              <a:rPr sz="1725" b="0">
                <a:solidFill>
                  <a:srgbClr val="536B78"/>
                </a:solidFill>
                <a:latin typeface="Malgun Gothic"/>
                <a:ea typeface="Malgun Gothic"/>
                <a:cs typeface="Malgun Gothic"/>
              </a:rPr>
              <a:t>정확한 지역과 월을 연결해야 비교와 출처 추적이 가능합니다.</a:t>
            </a:r>
          </a:p>
        </p:txBody>
      </p:sp>
      <p:sp>
        <p:nvSpPr>
          <p:cNvPr id="4" name="">
            <a:extLst xmlns:a="http://schemas.openxmlformats.org/drawingml/2006/main">
              <a:ext uri="{FF2B5EF4-FFF2-40B4-BE49-F238E27FC236}">
                <a16:creationId xmlns:a16="http://schemas.microsoft.com/office/drawing/2014/main" id="{611BA24E-8A7D-4DC6-A990-46EE0126079D}"/>
              </a:ext>
            </a:extLst>
          </p:cNvPr>
          <p:cNvSpPr>
            <a:spLocks xmlns:a="http://schemas.openxmlformats.org/drawingml/2006/main" noGrp="1"/>
          </p:cNvSpPr>
          <p:nvPr/>
        </p:nvSpPr>
        <p:spPr>
          <a:xfrm xmlns:a="http://schemas.openxmlformats.org/drawingml/2006/main">
            <a:off x="571500" y="6324600"/>
            <a:ext cx="11049000" cy="0"/>
          </a:xfrm>
          <a:prstGeom xmlns:a="http://schemas.openxmlformats.org/drawingml/2006/main" prst="line">
            <a:avLst/>
          </a:prstGeom>
          <a:noFill xmlns:a="http://schemas.openxmlformats.org/drawingml/2006/main"/>
          <a:ln xmlns:a="http://schemas.openxmlformats.org/drawingml/2006/main" w="9525">
            <a:solidFill>
              <a:srgbClr val="CDD8D9"/>
            </a:solidFill>
            <a:prstDash val="solid"/>
          </a:ln>
        </p:spPr>
      </p:sp>
      <p:sp>
        <p:nvSpPr>
          <p:cNvPr id="5" name="text-4">
            <a:extLst xmlns:a="http://schemas.openxmlformats.org/drawingml/2006/main">
              <a:ext uri="{FF2B5EF4-FFF2-40B4-BE49-F238E27FC236}">
                <a16:creationId xmlns:a16="http://schemas.microsoft.com/office/drawing/2014/main" id="{7B0BCDD9-D8BA-41F0-A953-DBCE1942FAF3}"/>
              </a:ext>
            </a:extLst>
          </p:cNvPr>
          <p:cNvSpPr>
            <a:spLocks xmlns:a="http://schemas.openxmlformats.org/drawingml/2006/main" noGrp="1"/>
          </p:cNvSpPr>
          <p:nvPr/>
        </p:nvSpPr>
        <p:spPr>
          <a:xfrm xmlns:a="http://schemas.openxmlformats.org/drawingml/2006/main">
            <a:off x="571500" y="64960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36B78"/>
                </a:solidFill>
                <a:latin typeface="Arial"/>
                <a:ea typeface="Arial"/>
                <a:cs typeface="Arial"/>
              </a:defRPr>
            </a:pPr>
            <a:r>
              <a:rPr sz="1050" b="1">
                <a:solidFill>
                  <a:srgbClr val="536B78"/>
                </a:solidFill>
                <a:latin typeface="Arial"/>
                <a:ea typeface="Arial"/>
                <a:cs typeface="Arial"/>
              </a:rPr>
              <a:t>OLIGO-K</a:t>
            </a:r>
          </a:p>
        </p:txBody>
      </p:sp>
      <p:sp>
        <p:nvSpPr>
          <p:cNvPr id="6" name="text-5">
            <a:extLst xmlns:a="http://schemas.openxmlformats.org/drawingml/2006/main">
              <a:ext uri="{FF2B5EF4-FFF2-40B4-BE49-F238E27FC236}">
                <a16:creationId xmlns:a16="http://schemas.microsoft.com/office/drawing/2014/main" id="{BE1BDC87-8AD8-435F-A445-C2BEDE4C9F9D}"/>
              </a:ext>
            </a:extLst>
          </p:cNvPr>
          <p:cNvSpPr>
            <a:spLocks xmlns:a="http://schemas.openxmlformats.org/drawingml/2006/main" noGrp="1"/>
          </p:cNvSpPr>
          <p:nvPr/>
        </p:nvSpPr>
        <p:spPr>
          <a:xfrm xmlns:a="http://schemas.openxmlformats.org/drawingml/2006/main">
            <a:off x="11049000" y="64674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1">
                <a:solidFill>
                  <a:srgbClr val="087F82"/>
                </a:solidFill>
                <a:latin typeface="Arial"/>
                <a:ea typeface="Arial"/>
                <a:cs typeface="Arial"/>
              </a:defRPr>
            </a:pPr>
            <a:r>
              <a:rPr sz="1350" b="1">
                <a:solidFill>
                  <a:srgbClr val="087F82"/>
                </a:solidFill>
                <a:latin typeface="Arial"/>
                <a:ea typeface="Arial"/>
                <a:cs typeface="Arial"/>
              </a:rPr>
              <a:t>15</a:t>
            </a:r>
          </a:p>
        </p:txBody>
      </p:sp>
      <p:sp>
        <p:nvSpPr>
          <p:cNvPr id="7" name="text-6">
            <a:extLst xmlns:a="http://schemas.openxmlformats.org/drawingml/2006/main">
              <a:ext uri="{FF2B5EF4-FFF2-40B4-BE49-F238E27FC236}">
                <a16:creationId xmlns:a16="http://schemas.microsoft.com/office/drawing/2014/main" id="{46B5D4D5-795B-40D8-807C-E38982BC70FE}"/>
              </a:ext>
            </a:extLst>
          </p:cNvPr>
          <p:cNvSpPr>
            <a:spLocks xmlns:a="http://schemas.openxmlformats.org/drawingml/2006/main" noGrp="1"/>
          </p:cNvSpPr>
          <p:nvPr/>
        </p:nvSpPr>
        <p:spPr>
          <a:xfrm xmlns:a="http://schemas.openxmlformats.org/drawingml/2006/main">
            <a:off x="571500" y="2333625"/>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4500" b="1">
                <a:solidFill>
                  <a:srgbClr val="087F82"/>
                </a:solidFill>
                <a:latin typeface="Arial"/>
                <a:ea typeface="Arial"/>
                <a:cs typeface="Arial"/>
              </a:defRPr>
            </a:pPr>
            <a:r>
              <a:rPr sz="4500" b="1">
                <a:solidFill>
                  <a:srgbClr val="087F82"/>
                </a:solidFill>
                <a:latin typeface="Arial"/>
                <a:ea typeface="Arial"/>
                <a:cs typeface="Arial"/>
              </a:rPr>
              <a:t>region_code + year_month</a:t>
            </a:r>
          </a:p>
        </p:txBody>
      </p:sp>
      <p:graphicFrame>
        <p:nvGraphicFramePr>
          <p:cNvPr id="16" name=""/>
          <p:cNvGraphicFramePr/>
          <p:nvPr/>
        </p:nvGraphicFramePr>
        <p:xfrm>
          <a:off xmlns:a="http://schemas.openxmlformats.org/drawingml/2006/main" x="571500" y="3429000"/>
          <a:ext xmlns:a="http://schemas.openxmlformats.org/drawingml/2006/main" cx="11049000" cy="2400300"/>
        </p:xfrm>
        <a:graphic xmlns:a="http://schemas.openxmlformats.org/drawingml/2006/main">
          <a:graphicData uri="http://schemas.openxmlformats.org/drawingml/2006/table">
            <a:tbl>
              <a:tblPr firstRow="1" bandRow="0"/>
              <a:tblGrid>
                <a:gridCol w="2667000"/>
                <a:gridCol w="4857750"/>
                <a:gridCol w="3524250"/>
              </a:tblGrid>
              <a:tr h="600075">
                <a:tc>
                  <a:txBody>
                    <a:bodyPr/>
                    <a:lstStyle/>
                    <a:p>
                      <a:r>
                        <a:rPr sz="1800" b="1">
                          <a:solidFill>
                            <a:srgbClr val="FFFFFF"/>
                          </a:solidFill>
                          <a:latin typeface="Malgun Gothic"/>
                          <a:ea typeface="Malgun Gothic"/>
                          <a:cs typeface="Malgun Gothic"/>
                        </a:rPr>
                        <a:t>저장 대상</a:t>
                      </a:r>
                    </a:p>
                  </a:txBody>
                  <a:tcPr marL="142875" marR="123825" marT="123825" marB="95250" anchor="ctr">
                    <a:solidFill>
                      <a:srgbClr val="102F40"/>
                    </a:solidFill>
                  </a:tcPr>
                </a:tc>
                <a:tc>
                  <a:txBody>
                    <a:bodyPr/>
                    <a:lstStyle/>
                    <a:p>
                      <a:r>
                        <a:rPr sz="1800" b="1">
                          <a:solidFill>
                            <a:srgbClr val="FFFFFF"/>
                          </a:solidFill>
                          <a:latin typeface="Malgun Gothic"/>
                          <a:ea typeface="Malgun Gothic"/>
                          <a:cs typeface="Malgun Gothic"/>
                        </a:rPr>
                        <a:t>핵심 정보</a:t>
                      </a:r>
                    </a:p>
                  </a:txBody>
                  <a:tcPr marL="142875" marR="123825" marT="123825" marB="95250" anchor="ctr">
                    <a:solidFill>
                      <a:srgbClr val="102F40"/>
                    </a:solidFill>
                  </a:tcPr>
                </a:tc>
                <a:tc>
                  <a:txBody>
                    <a:bodyPr/>
                    <a:lstStyle/>
                    <a:p>
                      <a:r>
                        <a:rPr sz="1800" b="1">
                          <a:solidFill>
                            <a:srgbClr val="FFFFFF"/>
                          </a:solidFill>
                          <a:latin typeface="Malgun Gothic"/>
                          <a:ea typeface="Malgun Gothic"/>
                          <a:cs typeface="Malgun Gothic"/>
                        </a:rPr>
                        <a:t>역할</a:t>
                      </a:r>
                    </a:p>
                  </a:txBody>
                  <a:tcPr marL="142875" marR="123825" marT="123825" marB="95250" anchor="ctr">
                    <a:solidFill>
                      <a:srgbClr val="102F40"/>
                    </a:solidFill>
                  </a:tcPr>
                </a:tc>
              </a:tr>
              <a:tr h="600075">
                <a:tc>
                  <a:txBody>
                    <a:bodyPr/>
                    <a:lstStyle/>
                    <a:p>
                      <a:r>
                        <a:rPr sz="1800" b="0">
                          <a:solidFill>
                            <a:srgbClr val="102F40"/>
                          </a:solidFill>
                          <a:latin typeface="Malgun Gothic"/>
                          <a:ea typeface="Malgun Gothic"/>
                          <a:cs typeface="Malgun Gothic"/>
                        </a:rPr>
                        <a:t>관광 월별 지표</a:t>
                      </a:r>
                    </a:p>
                  </a:txBody>
                  <a:tcPr marL="142875" marR="123825" marT="123825" marB="95250" anchor="ctr">
                    <a:solidFill>
                      <a:srgbClr val="FFFFFF"/>
                    </a:solidFill>
                  </a:tcPr>
                </a:tc>
                <a:tc>
                  <a:txBody>
                    <a:bodyPr/>
                    <a:lstStyle/>
                    <a:p>
                      <a:r>
                        <a:rPr sz="1800" b="0">
                          <a:solidFill>
                            <a:srgbClr val="102F40"/>
                          </a:solidFill>
                          <a:latin typeface="Malgun Gothic"/>
                          <a:ea typeface="Malgun Gothic"/>
                          <a:cs typeface="Malgun Gothic"/>
                        </a:rPr>
                        <a:t>지역 코드·기준월·값·단위</a:t>
                      </a:r>
                    </a:p>
                  </a:txBody>
                  <a:tcPr marL="142875" marR="123825" marT="123825" marB="95250" anchor="ctr">
                    <a:solidFill>
                      <a:srgbClr val="FFFFFF"/>
                    </a:solidFill>
                  </a:tcPr>
                </a:tc>
                <a:tc>
                  <a:txBody>
                    <a:bodyPr/>
                    <a:lstStyle/>
                    <a:p>
                      <a:r>
                        <a:rPr sz="1800" b="0">
                          <a:solidFill>
                            <a:srgbClr val="102F40"/>
                          </a:solidFill>
                          <a:latin typeface="Malgun Gothic"/>
                          <a:ea typeface="Malgun Gothic"/>
                          <a:cs typeface="Malgun Gothic"/>
                        </a:rPr>
                        <a:t>관측값 조회</a:t>
                      </a:r>
                    </a:p>
                  </a:txBody>
                  <a:tcPr marL="142875" marR="123825" marT="123825" marB="95250" anchor="ctr">
                    <a:solidFill>
                      <a:srgbClr val="FFFFFF"/>
                    </a:solidFill>
                  </a:tcPr>
                </a:tc>
              </a:tr>
              <a:tr h="600075">
                <a:tc>
                  <a:txBody>
                    <a:bodyPr/>
                    <a:lstStyle/>
                    <a:p>
                      <a:r>
                        <a:rPr sz="1800" b="0">
                          <a:solidFill>
                            <a:srgbClr val="102F40"/>
                          </a:solidFill>
                          <a:latin typeface="Malgun Gothic"/>
                          <a:ea typeface="Malgun Gothic"/>
                          <a:cs typeface="Malgun Gothic"/>
                        </a:rPr>
                        <a:t>출처와 비교 맥락</a:t>
                      </a:r>
                    </a:p>
                  </a:txBody>
                  <a:tcPr marL="142875" marR="123825" marT="123825" marB="95250" anchor="ctr">
                    <a:solidFill>
                      <a:srgbClr val="F6F7F4"/>
                    </a:solidFill>
                  </a:tcPr>
                </a:tc>
                <a:tc>
                  <a:txBody>
                    <a:bodyPr/>
                    <a:lstStyle/>
                    <a:p>
                      <a:r>
                        <a:rPr sz="1800" b="0">
                          <a:solidFill>
                            <a:srgbClr val="102F40"/>
                          </a:solidFill>
                          <a:latin typeface="Malgun Gothic"/>
                          <a:ea typeface="Malgun Gothic"/>
                          <a:cs typeface="Malgun Gothic"/>
                        </a:rPr>
                        <a:t>원자료 연결·상위 지역·peer</a:t>
                      </a:r>
                    </a:p>
                  </a:txBody>
                  <a:tcPr marL="142875" marR="123825" marT="123825" marB="95250" anchor="ctr">
                    <a:solidFill>
                      <a:srgbClr val="F6F7F4"/>
                    </a:solidFill>
                  </a:tcPr>
                </a:tc>
                <a:tc>
                  <a:txBody>
                    <a:bodyPr/>
                    <a:lstStyle/>
                    <a:p>
                      <a:r>
                        <a:rPr sz="1800" b="0">
                          <a:solidFill>
                            <a:srgbClr val="102F40"/>
                          </a:solidFill>
                          <a:latin typeface="Malgun Gothic"/>
                          <a:ea typeface="Malgun Gothic"/>
                          <a:cs typeface="Malgun Gothic"/>
                        </a:rPr>
                        <a:t>지역 차이 해석</a:t>
                      </a:r>
                    </a:p>
                  </a:txBody>
                  <a:tcPr marL="142875" marR="123825" marT="123825" marB="95250" anchor="ctr">
                    <a:solidFill>
                      <a:srgbClr val="F6F7F4"/>
                    </a:solidFill>
                  </a:tcPr>
                </a:tc>
              </a:tr>
              <a:tr h="600075">
                <a:tc>
                  <a:txBody>
                    <a:bodyPr/>
                    <a:lstStyle/>
                    <a:p>
                      <a:r>
                        <a:rPr sz="1800" b="0">
                          <a:solidFill>
                            <a:srgbClr val="102F40"/>
                          </a:solidFill>
                          <a:latin typeface="Malgun Gothic"/>
                          <a:ea typeface="Malgun Gothic"/>
                          <a:cs typeface="Malgun Gothic"/>
                        </a:rPr>
                        <a:t>기획서와 작업 기록</a:t>
                      </a:r>
                    </a:p>
                  </a:txBody>
                  <a:tcPr marL="142875" marR="123825" marT="123825" marB="95250" anchor="ctr">
                    <a:solidFill>
                      <a:srgbClr val="FFFFFF"/>
                    </a:solidFill>
                  </a:tcPr>
                </a:tc>
                <a:tc>
                  <a:txBody>
                    <a:bodyPr/>
                    <a:lstStyle/>
                    <a:p>
                      <a:r>
                        <a:rPr sz="1800" b="0">
                          <a:solidFill>
                            <a:srgbClr val="102F40"/>
                          </a:solidFill>
                          <a:latin typeface="Malgun Gothic"/>
                          <a:ea typeface="Malgun Gothic"/>
                          <a:cs typeface="Malgun Gothic"/>
                        </a:rPr>
                        <a:t>보고서 JSON·작업 상태·파일 경로</a:t>
                      </a:r>
                    </a:p>
                  </a:txBody>
                  <a:tcPr marL="142875" marR="123825" marT="123825" marB="95250" anchor="ctr">
                    <a:solidFill>
                      <a:srgbClr val="FFFFFF"/>
                    </a:solidFill>
                  </a:tcPr>
                </a:tc>
                <a:tc>
                  <a:txBody>
                    <a:bodyPr/>
                    <a:lstStyle/>
                    <a:p>
                      <a:r>
                        <a:rPr sz="1800" b="0">
                          <a:solidFill>
                            <a:srgbClr val="102F40"/>
                          </a:solidFill>
                          <a:latin typeface="Malgun Gothic"/>
                          <a:ea typeface="Malgun Gothic"/>
                          <a:cs typeface="Malgun Gothic"/>
                        </a:rPr>
                        <a:t>생성 결과 보존</a:t>
                      </a:r>
                    </a:p>
                  </a:txBody>
                  <a:tcPr marL="142875" marR="123825" marT="123825" marB="95250" anchor="ctr">
                    <a:solidFill>
                      <a:srgbClr val="FFFFFF"/>
                    </a:solidFill>
                  </a:tcPr>
                </a:tc>
              </a:tr>
            </a:tbl>
          </a:graphicData>
        </a:graphic>
      </p:graphicFrame>
    </p:spTree>
    <p:extLst>
      <p:ext uri="{BB962C8B-B14F-4D97-AF65-F5344CB8AC3E}">
        <p14:creationId xmlns:p14="http://schemas.microsoft.com/office/powerpoint/2010/main" val="1963359699"/>
      </p:ext>
    </p:extLst>
  </p:cSld>
</p:sld>
</file>

<file path=ppt/slides/slide16.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6" name="text-0.2400548524198587">
            <a:extLst xmlns:a="http://schemas.openxmlformats.org/drawingml/2006/main">
              <a:ext uri="{FF2B5EF4-FFF2-40B4-BE49-F238E27FC236}">
                <a16:creationId xmlns:a16="http://schemas.microsoft.com/office/drawing/2014/main" id="{9602BB62-EFD3-4A51-88E0-01C8C8A3D163}"/>
              </a:ext>
            </a:extLst>
          </p:cNvPr>
          <p:cNvSpPr>
            <a:spLocks xmlns:a="http://schemas.openxmlformats.org/drawingml/2006/main" noGrp="1"/>
          </p:cNvSpPr>
          <p:nvPr/>
        </p:nvSpPr>
        <p:spPr>
          <a:xfrm xmlns:a="http://schemas.openxmlformats.org/drawingml/2006/main">
            <a:off x="571500" y="3048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87F82"/>
                </a:solidFill>
                <a:latin typeface="Malgun Gothic"/>
                <a:ea typeface="Malgun Gothic"/>
                <a:cs typeface="Malgun Gothic"/>
              </a:defRPr>
            </a:pPr>
            <a:r>
              <a:rPr sz="1200" b="1">
                <a:solidFill>
                  <a:srgbClr val="087F82"/>
                </a:solidFill>
                <a:latin typeface="Malgun Gothic"/>
                <a:ea typeface="Malgun Gothic"/>
                <a:cs typeface="Malgun Gothic"/>
              </a:rPr>
              <a:t>03 시스템과 데이터</a:t>
            </a:r>
          </a:p>
        </p:txBody>
      </p:sp>
      <p:sp>
        <p:nvSpPr>
          <p:cNvPr id="2" name="text-1">
            <a:extLst xmlns:a="http://schemas.openxmlformats.org/drawingml/2006/main">
              <a:ext uri="{FF2B5EF4-FFF2-40B4-BE49-F238E27FC236}">
                <a16:creationId xmlns:a16="http://schemas.microsoft.com/office/drawing/2014/main" id="{D44A6D91-BE2B-454D-A7D3-81344B97F373}"/>
              </a:ext>
            </a:extLst>
          </p:cNvPr>
          <p:cNvSpPr>
            <a:spLocks xmlns:a="http://schemas.openxmlformats.org/drawingml/2006/main" noGrp="1"/>
          </p:cNvSpPr>
          <p:nvPr/>
        </p:nvSpPr>
        <p:spPr>
          <a:xfrm xmlns:a="http://schemas.openxmlformats.org/drawingml/2006/main">
            <a:off x="571500" y="76200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02F40"/>
                </a:solidFill>
                <a:latin typeface="Malgun Gothic"/>
                <a:ea typeface="Malgun Gothic"/>
                <a:cs typeface="Malgun Gothic"/>
              </a:defRPr>
            </a:pPr>
            <a:r>
              <a:rPr sz="3300" b="1">
                <a:solidFill>
                  <a:srgbClr val="102F40"/>
                </a:solidFill>
                <a:latin typeface="Malgun Gothic"/>
                <a:ea typeface="Malgun Gothic"/>
                <a:cs typeface="Malgun Gothic"/>
              </a:rPr>
              <a:t>세 종류의 근거를 결합합니다</a:t>
            </a:r>
          </a:p>
        </p:txBody>
      </p:sp>
      <p:sp>
        <p:nvSpPr>
          <p:cNvPr id="3" name="">
            <a:extLst xmlns:a="http://schemas.openxmlformats.org/drawingml/2006/main">
              <a:ext uri="{FF2B5EF4-FFF2-40B4-BE49-F238E27FC236}">
                <a16:creationId xmlns:a16="http://schemas.microsoft.com/office/drawing/2014/main" id="{EF916983-5394-4C91-AD1A-14E6B396ABAB}"/>
              </a:ext>
            </a:extLst>
          </p:cNvPr>
          <p:cNvSpPr>
            <a:spLocks xmlns:a="http://schemas.openxmlformats.org/drawingml/2006/main" noGrp="1"/>
          </p:cNvSpPr>
          <p:nvPr/>
        </p:nvSpPr>
        <p:spPr>
          <a:xfrm xmlns:a="http://schemas.openxmlformats.org/drawingml/2006/main">
            <a:off x="571500" y="6324600"/>
            <a:ext cx="11049000" cy="0"/>
          </a:xfrm>
          <a:prstGeom xmlns:a="http://schemas.openxmlformats.org/drawingml/2006/main" prst="line">
            <a:avLst/>
          </a:prstGeom>
          <a:noFill xmlns:a="http://schemas.openxmlformats.org/drawingml/2006/main"/>
          <a:ln xmlns:a="http://schemas.openxmlformats.org/drawingml/2006/main" w="9525">
            <a:solidFill>
              <a:srgbClr val="CDD8D9"/>
            </a:solidFill>
            <a:prstDash val="solid"/>
          </a:ln>
        </p:spPr>
      </p:sp>
      <p:sp>
        <p:nvSpPr>
          <p:cNvPr id="4" name="text-3">
            <a:extLst xmlns:a="http://schemas.openxmlformats.org/drawingml/2006/main">
              <a:ext uri="{FF2B5EF4-FFF2-40B4-BE49-F238E27FC236}">
                <a16:creationId xmlns:a16="http://schemas.microsoft.com/office/drawing/2014/main" id="{10D6399C-6A7E-447F-8F42-3B95081E2AD4}"/>
              </a:ext>
            </a:extLst>
          </p:cNvPr>
          <p:cNvSpPr>
            <a:spLocks xmlns:a="http://schemas.openxmlformats.org/drawingml/2006/main" noGrp="1"/>
          </p:cNvSpPr>
          <p:nvPr/>
        </p:nvSpPr>
        <p:spPr>
          <a:xfrm xmlns:a="http://schemas.openxmlformats.org/drawingml/2006/main">
            <a:off x="571500" y="64960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36B78"/>
                </a:solidFill>
                <a:latin typeface="Arial"/>
                <a:ea typeface="Arial"/>
                <a:cs typeface="Arial"/>
              </a:defRPr>
            </a:pPr>
            <a:r>
              <a:rPr sz="1050" b="1">
                <a:solidFill>
                  <a:srgbClr val="536B78"/>
                </a:solidFill>
                <a:latin typeface="Arial"/>
                <a:ea typeface="Arial"/>
                <a:cs typeface="Arial"/>
              </a:rPr>
              <a:t>OLIGO-K</a:t>
            </a:r>
          </a:p>
        </p:txBody>
      </p:sp>
      <p:sp>
        <p:nvSpPr>
          <p:cNvPr id="5" name="text-4">
            <a:extLst xmlns:a="http://schemas.openxmlformats.org/drawingml/2006/main">
              <a:ext uri="{FF2B5EF4-FFF2-40B4-BE49-F238E27FC236}">
                <a16:creationId xmlns:a16="http://schemas.microsoft.com/office/drawing/2014/main" id="{C80E2329-133C-4324-803E-13B0CCFB8638}"/>
              </a:ext>
            </a:extLst>
          </p:cNvPr>
          <p:cNvSpPr>
            <a:spLocks xmlns:a="http://schemas.openxmlformats.org/drawingml/2006/main" noGrp="1"/>
          </p:cNvSpPr>
          <p:nvPr/>
        </p:nvSpPr>
        <p:spPr>
          <a:xfrm xmlns:a="http://schemas.openxmlformats.org/drawingml/2006/main">
            <a:off x="11049000" y="64674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1">
                <a:solidFill>
                  <a:srgbClr val="087F82"/>
                </a:solidFill>
                <a:latin typeface="Arial"/>
                <a:ea typeface="Arial"/>
                <a:cs typeface="Arial"/>
              </a:defRPr>
            </a:pPr>
            <a:r>
              <a:rPr sz="1350" b="1">
                <a:solidFill>
                  <a:srgbClr val="087F82"/>
                </a:solidFill>
                <a:latin typeface="Arial"/>
                <a:ea typeface="Arial"/>
                <a:cs typeface="Arial"/>
              </a:rPr>
              <a:t>16</a:t>
            </a:r>
          </a:p>
        </p:txBody>
      </p:sp>
      <p:sp>
        <p:nvSpPr>
          <p:cNvPr id="6" name="text-5">
            <a:extLst xmlns:a="http://schemas.openxmlformats.org/drawingml/2006/main">
              <a:ext uri="{FF2B5EF4-FFF2-40B4-BE49-F238E27FC236}">
                <a16:creationId xmlns:a16="http://schemas.microsoft.com/office/drawing/2014/main" id="{04BA4415-9759-4E86-BC5A-1142FE7FAA80}"/>
              </a:ext>
            </a:extLst>
          </p:cNvPr>
          <p:cNvSpPr>
            <a:spLocks xmlns:a="http://schemas.openxmlformats.org/drawingml/2006/main" noGrp="1"/>
          </p:cNvSpPr>
          <p:nvPr/>
        </p:nvSpPr>
        <p:spPr>
          <a:xfrm xmlns:a="http://schemas.openxmlformats.org/drawingml/2006/main">
            <a:off x="571500" y="225742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87F82"/>
                </a:solidFill>
                <a:latin typeface="Arial"/>
                <a:ea typeface="Arial"/>
                <a:cs typeface="Arial"/>
              </a:defRPr>
            </a:pPr>
            <a:r>
              <a:rPr sz="2400" b="1">
                <a:solidFill>
                  <a:srgbClr val="087F82"/>
                </a:solidFill>
                <a:latin typeface="Arial"/>
                <a:ea typeface="Arial"/>
                <a:cs typeface="Arial"/>
              </a:rPr>
              <a:t>01</a:t>
            </a:r>
          </a:p>
        </p:txBody>
      </p:sp>
      <p:sp>
        <p:nvSpPr>
          <p:cNvPr id="7" name="text-6">
            <a:extLst xmlns:a="http://schemas.openxmlformats.org/drawingml/2006/main">
              <a:ext uri="{FF2B5EF4-FFF2-40B4-BE49-F238E27FC236}">
                <a16:creationId xmlns:a16="http://schemas.microsoft.com/office/drawing/2014/main" id="{31DD7F75-A9B5-45CB-8A45-169518D24A22}"/>
              </a:ext>
            </a:extLst>
          </p:cNvPr>
          <p:cNvSpPr>
            <a:spLocks xmlns:a="http://schemas.openxmlformats.org/drawingml/2006/main" noGrp="1"/>
          </p:cNvSpPr>
          <p:nvPr/>
        </p:nvSpPr>
        <p:spPr>
          <a:xfrm xmlns:a="http://schemas.openxmlformats.org/drawingml/2006/main">
            <a:off x="1381125" y="2257425"/>
            <a:ext cx="10048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F40"/>
                </a:solidFill>
                <a:latin typeface="Malgun Gothic"/>
                <a:ea typeface="Malgun Gothic"/>
                <a:cs typeface="Malgun Gothic"/>
              </a:defRPr>
            </a:pPr>
            <a:r>
              <a:rPr sz="2175" b="1">
                <a:solidFill>
                  <a:srgbClr val="102F40"/>
                </a:solidFill>
                <a:latin typeface="Malgun Gothic"/>
                <a:ea typeface="Malgun Gothic"/>
                <a:cs typeface="Malgun Gothic"/>
              </a:rPr>
              <a:t>한국관광 데이터랩 공식 다운로드</a:t>
            </a:r>
          </a:p>
        </p:txBody>
      </p:sp>
      <p:sp>
        <p:nvSpPr>
          <p:cNvPr id="8" name="text-7">
            <a:extLst xmlns:a="http://schemas.openxmlformats.org/drawingml/2006/main">
              <a:ext uri="{FF2B5EF4-FFF2-40B4-BE49-F238E27FC236}">
                <a16:creationId xmlns:a16="http://schemas.microsoft.com/office/drawing/2014/main" id="{371CEA08-DEBE-409C-BC66-08454F84FC28}"/>
              </a:ext>
            </a:extLst>
          </p:cNvPr>
          <p:cNvSpPr>
            <a:spLocks xmlns:a="http://schemas.openxmlformats.org/drawingml/2006/main" noGrp="1"/>
          </p:cNvSpPr>
          <p:nvPr/>
        </p:nvSpPr>
        <p:spPr>
          <a:xfrm xmlns:a="http://schemas.openxmlformats.org/drawingml/2006/main">
            <a:off x="1381125" y="2705100"/>
            <a:ext cx="10048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6B78"/>
                </a:solidFill>
                <a:latin typeface="Malgun Gothic"/>
                <a:ea typeface="Malgun Gothic"/>
                <a:cs typeface="Malgun Gothic"/>
              </a:defRPr>
            </a:pPr>
            <a:r>
              <a:rPr sz="1800" b="0">
                <a:solidFill>
                  <a:srgbClr val="536B78"/>
                </a:solidFill>
                <a:latin typeface="Malgun Gothic"/>
                <a:ea typeface="Malgun Gothic"/>
                <a:cs typeface="Malgun Gothic"/>
              </a:rPr>
              <a:t>월별 방문·소비·숙박·체류·검색과 축제 통계</a:t>
            </a:r>
          </a:p>
        </p:txBody>
      </p:sp>
      <p:sp>
        <p:nvSpPr>
          <p:cNvPr id="9" name="text-8">
            <a:extLst xmlns:a="http://schemas.openxmlformats.org/drawingml/2006/main">
              <a:ext uri="{FF2B5EF4-FFF2-40B4-BE49-F238E27FC236}">
                <a16:creationId xmlns:a16="http://schemas.microsoft.com/office/drawing/2014/main" id="{2C3CA01E-D5D2-42CB-ADEE-89C951E82F72}"/>
              </a:ext>
            </a:extLst>
          </p:cNvPr>
          <p:cNvSpPr>
            <a:spLocks xmlns:a="http://schemas.openxmlformats.org/drawingml/2006/main" noGrp="1"/>
          </p:cNvSpPr>
          <p:nvPr/>
        </p:nvSpPr>
        <p:spPr>
          <a:xfrm xmlns:a="http://schemas.openxmlformats.org/drawingml/2006/main">
            <a:off x="571500" y="345757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87F82"/>
                </a:solidFill>
                <a:latin typeface="Arial"/>
                <a:ea typeface="Arial"/>
                <a:cs typeface="Arial"/>
              </a:defRPr>
            </a:pPr>
            <a:r>
              <a:rPr sz="2400" b="1">
                <a:solidFill>
                  <a:srgbClr val="087F82"/>
                </a:solidFill>
                <a:latin typeface="Arial"/>
                <a:ea typeface="Arial"/>
                <a:cs typeface="Arial"/>
              </a:rPr>
              <a:t>02</a:t>
            </a:r>
          </a:p>
        </p:txBody>
      </p:sp>
      <p:sp>
        <p:nvSpPr>
          <p:cNvPr id="10" name="text-9">
            <a:extLst xmlns:a="http://schemas.openxmlformats.org/drawingml/2006/main">
              <a:ext uri="{FF2B5EF4-FFF2-40B4-BE49-F238E27FC236}">
                <a16:creationId xmlns:a16="http://schemas.microsoft.com/office/drawing/2014/main" id="{CD9D52BD-A3D7-4ADC-B477-E5159693A532}"/>
              </a:ext>
            </a:extLst>
          </p:cNvPr>
          <p:cNvSpPr>
            <a:spLocks xmlns:a="http://schemas.openxmlformats.org/drawingml/2006/main" noGrp="1"/>
          </p:cNvSpPr>
          <p:nvPr/>
        </p:nvSpPr>
        <p:spPr>
          <a:xfrm xmlns:a="http://schemas.openxmlformats.org/drawingml/2006/main">
            <a:off x="1381125" y="3457575"/>
            <a:ext cx="10048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F40"/>
                </a:solidFill>
                <a:latin typeface="Malgun Gothic"/>
                <a:ea typeface="Malgun Gothic"/>
                <a:cs typeface="Malgun Gothic"/>
              </a:defRPr>
            </a:pPr>
            <a:r>
              <a:rPr sz="2175" b="1">
                <a:solidFill>
                  <a:srgbClr val="102F40"/>
                </a:solidFill>
                <a:latin typeface="Malgun Gothic"/>
                <a:ea typeface="Malgun Gothic"/>
                <a:cs typeface="Malgun Gothic"/>
              </a:rPr>
              <a:t>공식 관광·행정 API</a:t>
            </a:r>
          </a:p>
        </p:txBody>
      </p:sp>
      <p:sp>
        <p:nvSpPr>
          <p:cNvPr id="11" name="text-10">
            <a:extLst xmlns:a="http://schemas.openxmlformats.org/drawingml/2006/main">
              <a:ext uri="{FF2B5EF4-FFF2-40B4-BE49-F238E27FC236}">
                <a16:creationId xmlns:a16="http://schemas.microsoft.com/office/drawing/2014/main" id="{2D2D367A-BB70-43EC-AFAD-3C9BCCA65594}"/>
              </a:ext>
            </a:extLst>
          </p:cNvPr>
          <p:cNvSpPr>
            <a:spLocks xmlns:a="http://schemas.openxmlformats.org/drawingml/2006/main" noGrp="1"/>
          </p:cNvSpPr>
          <p:nvPr/>
        </p:nvSpPr>
        <p:spPr>
          <a:xfrm xmlns:a="http://schemas.openxmlformats.org/drawingml/2006/main">
            <a:off x="1381125" y="3905250"/>
            <a:ext cx="10048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6B78"/>
                </a:solidFill>
                <a:latin typeface="Malgun Gothic"/>
                <a:ea typeface="Malgun Gothic"/>
                <a:cs typeface="Malgun Gothic"/>
              </a:defRPr>
            </a:pPr>
            <a:r>
              <a:rPr sz="1800" b="0">
                <a:solidFill>
                  <a:srgbClr val="536B78"/>
                </a:solidFill>
                <a:latin typeface="Malgun Gothic"/>
                <a:ea typeface="Malgun Gothic"/>
                <a:cs typeface="Malgun Gothic"/>
              </a:rPr>
              <a:t>TourAPI 관광자원·주소·사진, VWorld 행정구역 경계</a:t>
            </a:r>
          </a:p>
        </p:txBody>
      </p:sp>
      <p:sp>
        <p:nvSpPr>
          <p:cNvPr id="12" name="text-11">
            <a:extLst xmlns:a="http://schemas.openxmlformats.org/drawingml/2006/main">
              <a:ext uri="{FF2B5EF4-FFF2-40B4-BE49-F238E27FC236}">
                <a16:creationId xmlns:a16="http://schemas.microsoft.com/office/drawing/2014/main" id="{B92334C9-B68A-427F-98AC-F4B668DADEB0}"/>
              </a:ext>
            </a:extLst>
          </p:cNvPr>
          <p:cNvSpPr>
            <a:spLocks xmlns:a="http://schemas.openxmlformats.org/drawingml/2006/main" noGrp="1"/>
          </p:cNvSpPr>
          <p:nvPr/>
        </p:nvSpPr>
        <p:spPr>
          <a:xfrm xmlns:a="http://schemas.openxmlformats.org/drawingml/2006/main">
            <a:off x="571500" y="465772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87F82"/>
                </a:solidFill>
                <a:latin typeface="Arial"/>
                <a:ea typeface="Arial"/>
                <a:cs typeface="Arial"/>
              </a:defRPr>
            </a:pPr>
            <a:r>
              <a:rPr sz="2400" b="1">
                <a:solidFill>
                  <a:srgbClr val="087F82"/>
                </a:solidFill>
                <a:latin typeface="Arial"/>
                <a:ea typeface="Arial"/>
                <a:cs typeface="Arial"/>
              </a:rPr>
              <a:t>03</a:t>
            </a:r>
          </a:p>
        </p:txBody>
      </p:sp>
      <p:sp>
        <p:nvSpPr>
          <p:cNvPr id="13" name="text-12">
            <a:extLst xmlns:a="http://schemas.openxmlformats.org/drawingml/2006/main">
              <a:ext uri="{FF2B5EF4-FFF2-40B4-BE49-F238E27FC236}">
                <a16:creationId xmlns:a16="http://schemas.microsoft.com/office/drawing/2014/main" id="{A147069D-8E30-4CA6-A63C-49182AEB4AE6}"/>
              </a:ext>
            </a:extLst>
          </p:cNvPr>
          <p:cNvSpPr>
            <a:spLocks xmlns:a="http://schemas.openxmlformats.org/drawingml/2006/main" noGrp="1"/>
          </p:cNvSpPr>
          <p:nvPr/>
        </p:nvSpPr>
        <p:spPr>
          <a:xfrm xmlns:a="http://schemas.openxmlformats.org/drawingml/2006/main">
            <a:off x="1381125" y="4657725"/>
            <a:ext cx="10048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F40"/>
                </a:solidFill>
                <a:latin typeface="Malgun Gothic"/>
                <a:ea typeface="Malgun Gothic"/>
                <a:cs typeface="Malgun Gothic"/>
              </a:defRPr>
            </a:pPr>
            <a:r>
              <a:rPr sz="2175" b="1">
                <a:solidFill>
                  <a:srgbClr val="102F40"/>
                </a:solidFill>
                <a:latin typeface="Malgun Gothic"/>
                <a:ea typeface="Malgun Gothic"/>
                <a:cs typeface="Malgun Gothic"/>
              </a:rPr>
              <a:t>공식 사업 문서와 검수 사례</a:t>
            </a:r>
          </a:p>
        </p:txBody>
      </p:sp>
      <p:sp>
        <p:nvSpPr>
          <p:cNvPr id="14" name="text-13">
            <a:extLst xmlns:a="http://schemas.openxmlformats.org/drawingml/2006/main">
              <a:ext uri="{FF2B5EF4-FFF2-40B4-BE49-F238E27FC236}">
                <a16:creationId xmlns:a16="http://schemas.microsoft.com/office/drawing/2014/main" id="{04EEF83D-DE54-4B32-B0CE-2943EBD5F05F}"/>
              </a:ext>
            </a:extLst>
          </p:cNvPr>
          <p:cNvSpPr>
            <a:spLocks xmlns:a="http://schemas.openxmlformats.org/drawingml/2006/main" noGrp="1"/>
          </p:cNvSpPr>
          <p:nvPr/>
        </p:nvSpPr>
        <p:spPr>
          <a:xfrm xmlns:a="http://schemas.openxmlformats.org/drawingml/2006/main">
            <a:off x="1381125" y="5105400"/>
            <a:ext cx="10048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6B78"/>
                </a:solidFill>
                <a:latin typeface="Malgun Gothic"/>
                <a:ea typeface="Malgun Gothic"/>
                <a:cs typeface="Malgun Gothic"/>
              </a:defRPr>
            </a:pPr>
            <a:r>
              <a:rPr sz="1800" b="0">
                <a:solidFill>
                  <a:srgbClr val="536B78"/>
                </a:solidFill>
                <a:latin typeface="Malgun Gothic"/>
                <a:ea typeface="Malgun Gothic"/>
                <a:cs typeface="Malgun Gothic"/>
              </a:rPr>
              <a:t>정책·사업 운영 방식·예산·측정기간과 출처 URL</a:t>
            </a:r>
          </a:p>
        </p:txBody>
      </p:sp>
      <p:sp>
        <p:nvSpPr>
          <p:cNvPr id="15" name="text-14">
            <a:extLst xmlns:a="http://schemas.openxmlformats.org/drawingml/2006/main">
              <a:ext uri="{FF2B5EF4-FFF2-40B4-BE49-F238E27FC236}">
                <a16:creationId xmlns:a16="http://schemas.microsoft.com/office/drawing/2014/main" id="{55B2B9CE-2DF6-4048-AA91-62BE4E82327B}"/>
              </a:ext>
            </a:extLst>
          </p:cNvPr>
          <p:cNvSpPr>
            <a:spLocks xmlns:a="http://schemas.openxmlformats.org/drawingml/2006/main" noGrp="1"/>
          </p:cNvSpPr>
          <p:nvPr/>
        </p:nvSpPr>
        <p:spPr>
          <a:xfrm xmlns:a="http://schemas.openxmlformats.org/drawingml/2006/main">
            <a:off x="571500" y="591502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87F82"/>
                </a:solidFill>
                <a:latin typeface="Malgun Gothic"/>
                <a:ea typeface="Malgun Gothic"/>
                <a:cs typeface="Malgun Gothic"/>
              </a:defRPr>
            </a:pPr>
            <a:r>
              <a:rPr sz="1800" b="1">
                <a:solidFill>
                  <a:srgbClr val="087F82"/>
                </a:solidFill>
                <a:latin typeface="Malgun Gothic"/>
                <a:ea typeface="Malgun Gothic"/>
                <a:cs typeface="Malgun Gothic"/>
              </a:rPr>
              <a:t>자동 크롤링 대신 공식 다운로드 파일과 허용된 API를 사용합니다.</a:t>
            </a:r>
          </a:p>
        </p:txBody>
      </p:sp>
    </p:spTree>
    <p:extLst>
      <p:ext uri="{BB962C8B-B14F-4D97-AF65-F5344CB8AC3E}">
        <p14:creationId xmlns:p14="http://schemas.microsoft.com/office/powerpoint/2010/main" val="1244248280"/>
      </p:ext>
    </p:extLst>
  </p:cSld>
</p:sld>
</file>

<file path=ppt/slides/slide17.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9" name="text-0.36999340251409796">
            <a:extLst xmlns:a="http://schemas.openxmlformats.org/drawingml/2006/main">
              <a:ext uri="{FF2B5EF4-FFF2-40B4-BE49-F238E27FC236}">
                <a16:creationId xmlns:a16="http://schemas.microsoft.com/office/drawing/2014/main" id="{5B78615F-45E6-4FBC-8B64-93519FEECDF0}"/>
              </a:ext>
            </a:extLst>
          </p:cNvPr>
          <p:cNvSpPr>
            <a:spLocks xmlns:a="http://schemas.openxmlformats.org/drawingml/2006/main" noGrp="1"/>
          </p:cNvSpPr>
          <p:nvPr/>
        </p:nvSpPr>
        <p:spPr>
          <a:xfrm xmlns:a="http://schemas.openxmlformats.org/drawingml/2006/main">
            <a:off x="571500" y="3048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87F82"/>
                </a:solidFill>
                <a:latin typeface="Malgun Gothic"/>
                <a:ea typeface="Malgun Gothic"/>
                <a:cs typeface="Malgun Gothic"/>
              </a:defRPr>
            </a:pPr>
            <a:r>
              <a:rPr sz="1200" b="1">
                <a:solidFill>
                  <a:srgbClr val="087F82"/>
                </a:solidFill>
                <a:latin typeface="Malgun Gothic"/>
                <a:ea typeface="Malgun Gothic"/>
                <a:cs typeface="Malgun Gothic"/>
              </a:rPr>
              <a:t>03 시스템과 데이터</a:t>
            </a:r>
          </a:p>
        </p:txBody>
      </p:sp>
      <p:sp>
        <p:nvSpPr>
          <p:cNvPr id="2" name="text-1">
            <a:extLst xmlns:a="http://schemas.openxmlformats.org/drawingml/2006/main">
              <a:ext uri="{FF2B5EF4-FFF2-40B4-BE49-F238E27FC236}">
                <a16:creationId xmlns:a16="http://schemas.microsoft.com/office/drawing/2014/main" id="{D2519A08-755E-4A5B-BF70-BBF844BBD3A6}"/>
              </a:ext>
            </a:extLst>
          </p:cNvPr>
          <p:cNvSpPr>
            <a:spLocks xmlns:a="http://schemas.openxmlformats.org/drawingml/2006/main" noGrp="1"/>
          </p:cNvSpPr>
          <p:nvPr/>
        </p:nvSpPr>
        <p:spPr>
          <a:xfrm xmlns:a="http://schemas.openxmlformats.org/drawingml/2006/main">
            <a:off x="571500" y="76200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02F40"/>
                </a:solidFill>
                <a:latin typeface="Malgun Gothic"/>
                <a:ea typeface="Malgun Gothic"/>
                <a:cs typeface="Malgun Gothic"/>
              </a:defRPr>
            </a:pPr>
            <a:r>
              <a:rPr sz="3300" b="1">
                <a:solidFill>
                  <a:srgbClr val="102F40"/>
                </a:solidFill>
                <a:latin typeface="Malgun Gothic"/>
                <a:ea typeface="Malgun Gothic"/>
                <a:cs typeface="Malgun Gothic"/>
              </a:rPr>
              <a:t>전처리 과정을 재현할 수 있게 보관합니다</a:t>
            </a:r>
          </a:p>
        </p:txBody>
      </p:sp>
      <p:sp>
        <p:nvSpPr>
          <p:cNvPr id="3" name="">
            <a:extLst xmlns:a="http://schemas.openxmlformats.org/drawingml/2006/main">
              <a:ext uri="{FF2B5EF4-FFF2-40B4-BE49-F238E27FC236}">
                <a16:creationId xmlns:a16="http://schemas.microsoft.com/office/drawing/2014/main" id="{4012B15F-918C-40B8-BB01-EE7CBAA22B34}"/>
              </a:ext>
            </a:extLst>
          </p:cNvPr>
          <p:cNvSpPr>
            <a:spLocks xmlns:a="http://schemas.openxmlformats.org/drawingml/2006/main" noGrp="1"/>
          </p:cNvSpPr>
          <p:nvPr/>
        </p:nvSpPr>
        <p:spPr>
          <a:xfrm xmlns:a="http://schemas.openxmlformats.org/drawingml/2006/main">
            <a:off x="571500" y="6324600"/>
            <a:ext cx="11049000" cy="0"/>
          </a:xfrm>
          <a:prstGeom xmlns:a="http://schemas.openxmlformats.org/drawingml/2006/main" prst="line">
            <a:avLst/>
          </a:prstGeom>
          <a:noFill xmlns:a="http://schemas.openxmlformats.org/drawingml/2006/main"/>
          <a:ln xmlns:a="http://schemas.openxmlformats.org/drawingml/2006/main" w="9525">
            <a:solidFill>
              <a:srgbClr val="CDD8D9"/>
            </a:solidFill>
            <a:prstDash val="solid"/>
          </a:ln>
        </p:spPr>
      </p:sp>
      <p:sp>
        <p:nvSpPr>
          <p:cNvPr id="4" name="text-3">
            <a:extLst xmlns:a="http://schemas.openxmlformats.org/drawingml/2006/main">
              <a:ext uri="{FF2B5EF4-FFF2-40B4-BE49-F238E27FC236}">
                <a16:creationId xmlns:a16="http://schemas.microsoft.com/office/drawing/2014/main" id="{1B9B2126-BFC6-4582-AC4E-4672379699A1}"/>
              </a:ext>
            </a:extLst>
          </p:cNvPr>
          <p:cNvSpPr>
            <a:spLocks xmlns:a="http://schemas.openxmlformats.org/drawingml/2006/main" noGrp="1"/>
          </p:cNvSpPr>
          <p:nvPr/>
        </p:nvSpPr>
        <p:spPr>
          <a:xfrm xmlns:a="http://schemas.openxmlformats.org/drawingml/2006/main">
            <a:off x="571500" y="64960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36B78"/>
                </a:solidFill>
                <a:latin typeface="Arial"/>
                <a:ea typeface="Arial"/>
                <a:cs typeface="Arial"/>
              </a:defRPr>
            </a:pPr>
            <a:r>
              <a:rPr sz="1050" b="1">
                <a:solidFill>
                  <a:srgbClr val="536B78"/>
                </a:solidFill>
                <a:latin typeface="Arial"/>
                <a:ea typeface="Arial"/>
                <a:cs typeface="Arial"/>
              </a:rPr>
              <a:t>OLIGO-K</a:t>
            </a:r>
          </a:p>
        </p:txBody>
      </p:sp>
      <p:sp>
        <p:nvSpPr>
          <p:cNvPr id="5" name="text-4">
            <a:extLst xmlns:a="http://schemas.openxmlformats.org/drawingml/2006/main">
              <a:ext uri="{FF2B5EF4-FFF2-40B4-BE49-F238E27FC236}">
                <a16:creationId xmlns:a16="http://schemas.microsoft.com/office/drawing/2014/main" id="{B858A4B7-7E60-4EB0-8F85-960A5086FEE5}"/>
              </a:ext>
            </a:extLst>
          </p:cNvPr>
          <p:cNvSpPr>
            <a:spLocks xmlns:a="http://schemas.openxmlformats.org/drawingml/2006/main" noGrp="1"/>
          </p:cNvSpPr>
          <p:nvPr/>
        </p:nvSpPr>
        <p:spPr>
          <a:xfrm xmlns:a="http://schemas.openxmlformats.org/drawingml/2006/main">
            <a:off x="11049000" y="64674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1">
                <a:solidFill>
                  <a:srgbClr val="087F82"/>
                </a:solidFill>
                <a:latin typeface="Arial"/>
                <a:ea typeface="Arial"/>
                <a:cs typeface="Arial"/>
              </a:defRPr>
            </a:pPr>
            <a:r>
              <a:rPr sz="1350" b="1">
                <a:solidFill>
                  <a:srgbClr val="087F82"/>
                </a:solidFill>
                <a:latin typeface="Arial"/>
                <a:ea typeface="Arial"/>
                <a:cs typeface="Arial"/>
              </a:rPr>
              <a:t>17</a:t>
            </a:r>
          </a:p>
        </p:txBody>
      </p:sp>
      <p:sp>
        <p:nvSpPr>
          <p:cNvPr id="6" name="">
            <a:extLst xmlns:a="http://schemas.openxmlformats.org/drawingml/2006/main">
              <a:ext uri="{FF2B5EF4-FFF2-40B4-BE49-F238E27FC236}">
                <a16:creationId xmlns:a16="http://schemas.microsoft.com/office/drawing/2014/main" id="{A223D60F-82F6-41A0-8088-7507D888677B}"/>
              </a:ext>
            </a:extLst>
          </p:cNvPr>
          <p:cNvSpPr>
            <a:spLocks xmlns:a="http://schemas.openxmlformats.org/drawingml/2006/main" noGrp="1"/>
          </p:cNvSpPr>
          <p:nvPr/>
        </p:nvSpPr>
        <p:spPr>
          <a:xfrm xmlns:a="http://schemas.openxmlformats.org/drawingml/2006/main">
            <a:off x="571500" y="2428875"/>
            <a:ext cx="2476500" cy="1209675"/>
          </a:xfrm>
          <a:prstGeom xmlns:a="http://schemas.openxmlformats.org/drawingml/2006/main" prst="rect">
            <a:avLst/>
          </a:prstGeom>
          <a:solidFill xmlns:a="http://schemas.openxmlformats.org/drawingml/2006/main">
            <a:srgbClr val="FFFFFF"/>
          </a:solidFill>
          <a:ln xmlns:a="http://schemas.openxmlformats.org/drawingml/2006/main" w="9525">
            <a:solidFill>
              <a:srgbClr val="CDD8D9"/>
            </a:solidFill>
          </a:ln>
        </p:spPr>
      </p:sp>
      <p:sp>
        <p:nvSpPr>
          <p:cNvPr id="7" name="text-6">
            <a:extLst xmlns:a="http://schemas.openxmlformats.org/drawingml/2006/main">
              <a:ext uri="{FF2B5EF4-FFF2-40B4-BE49-F238E27FC236}">
                <a16:creationId xmlns:a16="http://schemas.microsoft.com/office/drawing/2014/main" id="{8C181DB9-FD6A-4B9F-8B3C-1FC0265F7BAF}"/>
              </a:ext>
            </a:extLst>
          </p:cNvPr>
          <p:cNvSpPr>
            <a:spLocks xmlns:a="http://schemas.openxmlformats.org/drawingml/2006/main" noGrp="1"/>
          </p:cNvSpPr>
          <p:nvPr/>
        </p:nvSpPr>
        <p:spPr>
          <a:xfrm xmlns:a="http://schemas.openxmlformats.org/drawingml/2006/main">
            <a:off x="723900" y="2609850"/>
            <a:ext cx="21717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원본 보존</a:t>
            </a:r>
          </a:p>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data/raw</a:t>
            </a:r>
          </a:p>
        </p:txBody>
      </p:sp>
      <p:sp>
        <p:nvSpPr>
          <p:cNvPr id="8" name="">
            <a:extLst xmlns:a="http://schemas.openxmlformats.org/drawingml/2006/main">
              <a:ext uri="{FF2B5EF4-FFF2-40B4-BE49-F238E27FC236}">
                <a16:creationId xmlns:a16="http://schemas.microsoft.com/office/drawing/2014/main" id="{21F9128B-34FF-4049-A838-A2CF2DF939F1}"/>
              </a:ext>
            </a:extLst>
          </p:cNvPr>
          <p:cNvSpPr>
            <a:spLocks xmlns:a="http://schemas.openxmlformats.org/drawingml/2006/main" noGrp="1"/>
          </p:cNvSpPr>
          <p:nvPr/>
        </p:nvSpPr>
        <p:spPr>
          <a:xfrm xmlns:a="http://schemas.openxmlformats.org/drawingml/2006/main">
            <a:off x="3429000" y="2428875"/>
            <a:ext cx="2476500" cy="1209675"/>
          </a:xfrm>
          <a:prstGeom xmlns:a="http://schemas.openxmlformats.org/drawingml/2006/main" prst="rect">
            <a:avLst/>
          </a:prstGeom>
          <a:solidFill xmlns:a="http://schemas.openxmlformats.org/drawingml/2006/main">
            <a:srgbClr val="E5F2ED"/>
          </a:solidFill>
          <a:ln xmlns:a="http://schemas.openxmlformats.org/drawingml/2006/main" w="9525">
            <a:solidFill>
              <a:srgbClr val="CDD8D9"/>
            </a:solidFill>
          </a:ln>
        </p:spPr>
      </p:sp>
      <p:sp>
        <p:nvSpPr>
          <p:cNvPr id="9" name="text-8">
            <a:extLst xmlns:a="http://schemas.openxmlformats.org/drawingml/2006/main">
              <a:ext uri="{FF2B5EF4-FFF2-40B4-BE49-F238E27FC236}">
                <a16:creationId xmlns:a16="http://schemas.microsoft.com/office/drawing/2014/main" id="{12DC8EF9-844C-4079-A644-C0CDB3EA8E13}"/>
              </a:ext>
            </a:extLst>
          </p:cNvPr>
          <p:cNvSpPr>
            <a:spLocks xmlns:a="http://schemas.openxmlformats.org/drawingml/2006/main" noGrp="1"/>
          </p:cNvSpPr>
          <p:nvPr/>
        </p:nvSpPr>
        <p:spPr>
          <a:xfrm xmlns:a="http://schemas.openxmlformats.org/drawingml/2006/main">
            <a:off x="3581400" y="2609850"/>
            <a:ext cx="21717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월별 표준화</a:t>
            </a:r>
          </a:p>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data/processed</a:t>
            </a:r>
          </a:p>
        </p:txBody>
      </p:sp>
      <p:sp>
        <p:nvSpPr>
          <p:cNvPr id="10" name="">
            <a:extLst xmlns:a="http://schemas.openxmlformats.org/drawingml/2006/main">
              <a:ext uri="{FF2B5EF4-FFF2-40B4-BE49-F238E27FC236}">
                <a16:creationId xmlns:a16="http://schemas.microsoft.com/office/drawing/2014/main" id="{AEB712E7-62EF-437C-929C-C96D4BB0943A}"/>
              </a:ext>
            </a:extLst>
          </p:cNvPr>
          <p:cNvSpPr>
            <a:spLocks xmlns:a="http://schemas.openxmlformats.org/drawingml/2006/main" noGrp="1"/>
          </p:cNvSpPr>
          <p:nvPr/>
        </p:nvSpPr>
        <p:spPr>
          <a:xfrm xmlns:a="http://schemas.openxmlformats.org/drawingml/2006/main">
            <a:off x="6286500" y="2428875"/>
            <a:ext cx="2476500" cy="1209675"/>
          </a:xfrm>
          <a:prstGeom xmlns:a="http://schemas.openxmlformats.org/drawingml/2006/main" prst="rect">
            <a:avLst/>
          </a:prstGeom>
          <a:solidFill xmlns:a="http://schemas.openxmlformats.org/drawingml/2006/main">
            <a:srgbClr val="FFFFFF"/>
          </a:solidFill>
          <a:ln xmlns:a="http://schemas.openxmlformats.org/drawingml/2006/main" w="9525">
            <a:solidFill>
              <a:srgbClr val="CDD8D9"/>
            </a:solidFill>
          </a:ln>
        </p:spPr>
      </p:sp>
      <p:sp>
        <p:nvSpPr>
          <p:cNvPr id="11" name="text-10">
            <a:extLst xmlns:a="http://schemas.openxmlformats.org/drawingml/2006/main">
              <a:ext uri="{FF2B5EF4-FFF2-40B4-BE49-F238E27FC236}">
                <a16:creationId xmlns:a16="http://schemas.microsoft.com/office/drawing/2014/main" id="{DC66D571-4471-4F42-9E8F-1DB3C8019FEC}"/>
              </a:ext>
            </a:extLst>
          </p:cNvPr>
          <p:cNvSpPr>
            <a:spLocks xmlns:a="http://schemas.openxmlformats.org/drawingml/2006/main" noGrp="1"/>
          </p:cNvSpPr>
          <p:nvPr/>
        </p:nvSpPr>
        <p:spPr>
          <a:xfrm xmlns:a="http://schemas.openxmlformats.org/drawingml/2006/main">
            <a:off x="6438900" y="2609850"/>
            <a:ext cx="21717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검증과 적재</a:t>
            </a:r>
          </a:p>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MySQL</a:t>
            </a:r>
          </a:p>
        </p:txBody>
      </p:sp>
      <p:sp>
        <p:nvSpPr>
          <p:cNvPr id="12" name="">
            <a:extLst xmlns:a="http://schemas.openxmlformats.org/drawingml/2006/main">
              <a:ext uri="{FF2B5EF4-FFF2-40B4-BE49-F238E27FC236}">
                <a16:creationId xmlns:a16="http://schemas.microsoft.com/office/drawing/2014/main" id="{36888D55-425F-4A14-9F1F-FD2B25232B43}"/>
              </a:ext>
            </a:extLst>
          </p:cNvPr>
          <p:cNvSpPr>
            <a:spLocks xmlns:a="http://schemas.openxmlformats.org/drawingml/2006/main" noGrp="1"/>
          </p:cNvSpPr>
          <p:nvPr/>
        </p:nvSpPr>
        <p:spPr>
          <a:xfrm xmlns:a="http://schemas.openxmlformats.org/drawingml/2006/main">
            <a:off x="9144000" y="2428875"/>
            <a:ext cx="2476500" cy="1209675"/>
          </a:xfrm>
          <a:prstGeom xmlns:a="http://schemas.openxmlformats.org/drawingml/2006/main" prst="rect">
            <a:avLst/>
          </a:prstGeom>
          <a:solidFill xmlns:a="http://schemas.openxmlformats.org/drawingml/2006/main">
            <a:srgbClr val="FFFFFF"/>
          </a:solidFill>
          <a:ln xmlns:a="http://schemas.openxmlformats.org/drawingml/2006/main" w="9525">
            <a:solidFill>
              <a:srgbClr val="CDD8D9"/>
            </a:solidFill>
          </a:ln>
        </p:spPr>
      </p:sp>
      <p:sp>
        <p:nvSpPr>
          <p:cNvPr id="13" name="text-12">
            <a:extLst xmlns:a="http://schemas.openxmlformats.org/drawingml/2006/main">
              <a:ext uri="{FF2B5EF4-FFF2-40B4-BE49-F238E27FC236}">
                <a16:creationId xmlns:a16="http://schemas.microsoft.com/office/drawing/2014/main" id="{E8BFF72C-8BCF-48B0-BCBB-E6D6FF30CB6D}"/>
              </a:ext>
            </a:extLst>
          </p:cNvPr>
          <p:cNvSpPr>
            <a:spLocks xmlns:a="http://schemas.openxmlformats.org/drawingml/2006/main" noGrp="1"/>
          </p:cNvSpPr>
          <p:nvPr/>
        </p:nvSpPr>
        <p:spPr>
          <a:xfrm xmlns:a="http://schemas.openxmlformats.org/drawingml/2006/main">
            <a:off x="9296400" y="2609850"/>
            <a:ext cx="21717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학습 산출물</a:t>
            </a:r>
          </a:p>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Joblib + JSON</a:t>
            </a:r>
          </a:p>
        </p:txBody>
      </p:sp>
      <p:cxnSp>
        <p:nvCxnSpPr>
          <p:cNvPr id="32" name=""/>
          <p:cNvCxnSpPr>
            <a:stCxn xmlns:a="http://schemas.openxmlformats.org/drawingml/2006/main" id="6" idx="3"/>
            <a:endCxn xmlns:a="http://schemas.openxmlformats.org/drawingml/2006/main" id="8" idx="1"/>
          </p:cNvCxnSpPr>
          <p:nvPr/>
        </p:nvCxnSpPr>
        <p:spPr>
          <a:xfrm xmlns:a="http://schemas.openxmlformats.org/drawingml/2006/main">
            <a:off x="3048000" y="3033713"/>
            <a:ext cx="381000" cy="0"/>
          </a:xfrm>
          <a:prstGeom xmlns:a="http://schemas.openxmlformats.org/drawingml/2006/main" prst="straightConnector1">
            <a:avLst/>
          </a:prstGeom>
          <a:ln xmlns:a="http://schemas.openxmlformats.org/drawingml/2006/main" w="19050">
            <a:solidFill>
              <a:srgbClr val="087F82"/>
            </a:solidFill>
            <a:tailEnd type="arrow" w="med" len="med"/>
          </a:ln>
        </p:spPr>
      </p:cxnSp>
      <p:cxnSp>
        <p:nvCxnSpPr>
          <p:cNvPr id="33" name=""/>
          <p:cNvCxnSpPr>
            <a:stCxn xmlns:a="http://schemas.openxmlformats.org/drawingml/2006/main" id="8" idx="3"/>
            <a:endCxn xmlns:a="http://schemas.openxmlformats.org/drawingml/2006/main" id="10" idx="1"/>
          </p:cNvCxnSpPr>
          <p:nvPr/>
        </p:nvCxnSpPr>
        <p:spPr>
          <a:xfrm xmlns:a="http://schemas.openxmlformats.org/drawingml/2006/main">
            <a:off x="5905500" y="3033713"/>
            <a:ext cx="381000" cy="0"/>
          </a:xfrm>
          <a:prstGeom xmlns:a="http://schemas.openxmlformats.org/drawingml/2006/main" prst="straightConnector1">
            <a:avLst/>
          </a:prstGeom>
          <a:ln xmlns:a="http://schemas.openxmlformats.org/drawingml/2006/main" w="19050">
            <a:solidFill>
              <a:srgbClr val="087F82"/>
            </a:solidFill>
            <a:tailEnd type="arrow" w="med" len="med"/>
          </a:ln>
        </p:spPr>
      </p:cxnSp>
      <p:cxnSp>
        <p:nvCxnSpPr>
          <p:cNvPr id="34" name=""/>
          <p:cNvCxnSpPr>
            <a:stCxn xmlns:a="http://schemas.openxmlformats.org/drawingml/2006/main" id="10" idx="3"/>
            <a:endCxn xmlns:a="http://schemas.openxmlformats.org/drawingml/2006/main" id="12" idx="1"/>
          </p:cNvCxnSpPr>
          <p:nvPr/>
        </p:nvCxnSpPr>
        <p:spPr>
          <a:xfrm xmlns:a="http://schemas.openxmlformats.org/drawingml/2006/main">
            <a:off x="8763000" y="3033713"/>
            <a:ext cx="381000" cy="0"/>
          </a:xfrm>
          <a:prstGeom xmlns:a="http://schemas.openxmlformats.org/drawingml/2006/main" prst="straightConnector1">
            <a:avLst/>
          </a:prstGeom>
          <a:ln xmlns:a="http://schemas.openxmlformats.org/drawingml/2006/main" w="19050">
            <a:solidFill>
              <a:srgbClr val="087F82"/>
            </a:solidFill>
            <a:tailEnd type="arrow" w="med" len="med"/>
          </a:ln>
        </p:spPr>
      </p:cxnSp>
      <p:sp>
        <p:nvSpPr>
          <p:cNvPr id="17" name="text-16">
            <a:extLst xmlns:a="http://schemas.openxmlformats.org/drawingml/2006/main">
              <a:ext uri="{FF2B5EF4-FFF2-40B4-BE49-F238E27FC236}">
                <a16:creationId xmlns:a16="http://schemas.microsoft.com/office/drawing/2014/main" id="{1DCC10A6-DC2A-4A94-818B-CCCDB8ED5864}"/>
              </a:ext>
            </a:extLst>
          </p:cNvPr>
          <p:cNvSpPr>
            <a:spLocks xmlns:a="http://schemas.openxmlformats.org/drawingml/2006/main" noGrp="1"/>
          </p:cNvSpPr>
          <p:nvPr/>
        </p:nvSpPr>
        <p:spPr>
          <a:xfrm xmlns:a="http://schemas.openxmlformats.org/drawingml/2006/main">
            <a:off x="571500" y="4352925"/>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02F40"/>
                </a:solidFill>
                <a:latin typeface="Malgun Gothic"/>
                <a:ea typeface="Malgun Gothic"/>
                <a:cs typeface="Malgun Gothic"/>
              </a:defRPr>
            </a:pPr>
            <a:r>
              <a:rPr sz="2400" b="1">
                <a:solidFill>
                  <a:srgbClr val="102F40"/>
                </a:solidFill>
                <a:latin typeface="Malgun Gothic"/>
                <a:ea typeface="Malgun Gothic"/>
                <a:cs typeface="Malgun Gothic"/>
              </a:rPr>
              <a:t>검사하는 항목</a:t>
            </a:r>
          </a:p>
        </p:txBody>
      </p:sp>
      <p:sp>
        <p:nvSpPr>
          <p:cNvPr id="18" name="text-17">
            <a:extLst xmlns:a="http://schemas.openxmlformats.org/drawingml/2006/main">
              <a:ext uri="{FF2B5EF4-FFF2-40B4-BE49-F238E27FC236}">
                <a16:creationId xmlns:a16="http://schemas.microsoft.com/office/drawing/2014/main" id="{F01B674B-6589-48B1-BDF3-FA90007675C0}"/>
              </a:ext>
            </a:extLst>
          </p:cNvPr>
          <p:cNvSpPr>
            <a:spLocks xmlns:a="http://schemas.openxmlformats.org/drawingml/2006/main" noGrp="1"/>
          </p:cNvSpPr>
          <p:nvPr/>
        </p:nvSpPr>
        <p:spPr>
          <a:xfrm xmlns:a="http://schemas.openxmlformats.org/drawingml/2006/main">
            <a:off x="571500" y="4943475"/>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36B78"/>
                </a:solidFill>
                <a:latin typeface="Malgun Gothic"/>
                <a:ea typeface="Malgun Gothic"/>
                <a:cs typeface="Malgun Gothic"/>
              </a:defRPr>
            </a:pPr>
            <a:r>
              <a:rPr sz="2100" b="0">
                <a:solidFill>
                  <a:srgbClr val="536B78"/>
                </a:solidFill>
                <a:latin typeface="Malgun Gothic"/>
                <a:ea typeface="Malgun Gothic"/>
                <a:cs typeface="Malgun Gothic"/>
              </a:rPr>
              <a:t>지역 코드와 월 연속성      중복·결측·0의 의미</a:t>
            </a:r>
          </a:p>
          <a:p xmlns:a="http://schemas.openxmlformats.org/drawingml/2006/main">
            <a:pPr algn="l">
              <a:defRPr sz="2100" b="0">
                <a:solidFill>
                  <a:srgbClr val="536B78"/>
                </a:solidFill>
                <a:latin typeface="Malgun Gothic"/>
                <a:ea typeface="Malgun Gothic"/>
                <a:cs typeface="Malgun Gothic"/>
              </a:defRPr>
            </a:pPr>
            <a:r>
              <a:rPr sz="2100" b="0">
                <a:solidFill>
                  <a:srgbClr val="536B78"/>
                </a:solidFill>
                <a:latin typeface="Malgun Gothic"/>
                <a:ea typeface="Malgun Gothic"/>
                <a:cs typeface="Malgun Gothic"/>
              </a:rPr>
              <a:t>방문자 정의와 금액 단위    학습 데이터 지문</a:t>
            </a:r>
          </a:p>
        </p:txBody>
      </p:sp>
    </p:spTree>
    <p:extLst>
      <p:ext uri="{BB962C8B-B14F-4D97-AF65-F5344CB8AC3E}">
        <p14:creationId xmlns:p14="http://schemas.microsoft.com/office/powerpoint/2010/main" val="2130965846"/>
      </p:ext>
    </p:extLst>
  </p:cSld>
</p:sld>
</file>

<file path=ppt/slides/slide18.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8" name="text-0.049712976850932455">
            <a:extLst xmlns:a="http://schemas.openxmlformats.org/drawingml/2006/main">
              <a:ext uri="{FF2B5EF4-FFF2-40B4-BE49-F238E27FC236}">
                <a16:creationId xmlns:a16="http://schemas.microsoft.com/office/drawing/2014/main" id="{61A53277-BA17-453D-920B-EFDC8D78724E}"/>
              </a:ext>
            </a:extLst>
          </p:cNvPr>
          <p:cNvSpPr>
            <a:spLocks xmlns:a="http://schemas.openxmlformats.org/drawingml/2006/main" noGrp="1"/>
          </p:cNvSpPr>
          <p:nvPr/>
        </p:nvSpPr>
        <p:spPr>
          <a:xfrm xmlns:a="http://schemas.openxmlformats.org/drawingml/2006/main">
            <a:off x="571500" y="3048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87F82"/>
                </a:solidFill>
                <a:latin typeface="Malgun Gothic"/>
                <a:ea typeface="Malgun Gothic"/>
                <a:cs typeface="Malgun Gothic"/>
              </a:defRPr>
            </a:pPr>
            <a:r>
              <a:rPr sz="1200" b="1">
                <a:solidFill>
                  <a:srgbClr val="087F82"/>
                </a:solidFill>
                <a:latin typeface="Malgun Gothic"/>
                <a:ea typeface="Malgun Gothic"/>
                <a:cs typeface="Malgun Gothic"/>
              </a:rPr>
              <a:t>03 시스템과 데이터</a:t>
            </a:r>
          </a:p>
        </p:txBody>
      </p:sp>
      <p:sp>
        <p:nvSpPr>
          <p:cNvPr id="2" name="text-1">
            <a:extLst xmlns:a="http://schemas.openxmlformats.org/drawingml/2006/main">
              <a:ext uri="{FF2B5EF4-FFF2-40B4-BE49-F238E27FC236}">
                <a16:creationId xmlns:a16="http://schemas.microsoft.com/office/drawing/2014/main" id="{CA0EF7A0-EF73-4D2D-9768-D64408E2D9C9}"/>
              </a:ext>
            </a:extLst>
          </p:cNvPr>
          <p:cNvSpPr>
            <a:spLocks xmlns:a="http://schemas.openxmlformats.org/drawingml/2006/main" noGrp="1"/>
          </p:cNvSpPr>
          <p:nvPr/>
        </p:nvSpPr>
        <p:spPr>
          <a:xfrm xmlns:a="http://schemas.openxmlformats.org/drawingml/2006/main">
            <a:off x="571500" y="76200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02F40"/>
                </a:solidFill>
                <a:latin typeface="Malgun Gothic"/>
                <a:ea typeface="Malgun Gothic"/>
                <a:cs typeface="Malgun Gothic"/>
              </a:defRPr>
            </a:pPr>
            <a:r>
              <a:rPr sz="3300" b="1">
                <a:solidFill>
                  <a:srgbClr val="102F40"/>
                </a:solidFill>
                <a:latin typeface="Malgun Gothic"/>
                <a:ea typeface="Malgun Gothic"/>
                <a:cs typeface="Malgun Gothic"/>
              </a:rPr>
              <a:t>지역별로 7개 관광 지표를 예측합니다</a:t>
            </a:r>
          </a:p>
        </p:txBody>
      </p:sp>
      <p:sp>
        <p:nvSpPr>
          <p:cNvPr id="3" name="">
            <a:extLst xmlns:a="http://schemas.openxmlformats.org/drawingml/2006/main">
              <a:ext uri="{FF2B5EF4-FFF2-40B4-BE49-F238E27FC236}">
                <a16:creationId xmlns:a16="http://schemas.microsoft.com/office/drawing/2014/main" id="{44C5F5AB-AB19-45EF-A224-0F3D4D29F7FF}"/>
              </a:ext>
            </a:extLst>
          </p:cNvPr>
          <p:cNvSpPr>
            <a:spLocks xmlns:a="http://schemas.openxmlformats.org/drawingml/2006/main" noGrp="1"/>
          </p:cNvSpPr>
          <p:nvPr/>
        </p:nvSpPr>
        <p:spPr>
          <a:xfrm xmlns:a="http://schemas.openxmlformats.org/drawingml/2006/main">
            <a:off x="571500" y="6324600"/>
            <a:ext cx="11049000" cy="0"/>
          </a:xfrm>
          <a:prstGeom xmlns:a="http://schemas.openxmlformats.org/drawingml/2006/main" prst="line">
            <a:avLst/>
          </a:prstGeom>
          <a:noFill xmlns:a="http://schemas.openxmlformats.org/drawingml/2006/main"/>
          <a:ln xmlns:a="http://schemas.openxmlformats.org/drawingml/2006/main" w="9525">
            <a:solidFill>
              <a:srgbClr val="CDD8D9"/>
            </a:solidFill>
            <a:prstDash val="solid"/>
          </a:ln>
        </p:spPr>
      </p:sp>
      <p:sp>
        <p:nvSpPr>
          <p:cNvPr id="4" name="text-3">
            <a:extLst xmlns:a="http://schemas.openxmlformats.org/drawingml/2006/main">
              <a:ext uri="{FF2B5EF4-FFF2-40B4-BE49-F238E27FC236}">
                <a16:creationId xmlns:a16="http://schemas.microsoft.com/office/drawing/2014/main" id="{698131AF-54B4-4938-9888-2F8CC7BA08BF}"/>
              </a:ext>
            </a:extLst>
          </p:cNvPr>
          <p:cNvSpPr>
            <a:spLocks xmlns:a="http://schemas.openxmlformats.org/drawingml/2006/main" noGrp="1"/>
          </p:cNvSpPr>
          <p:nvPr/>
        </p:nvSpPr>
        <p:spPr>
          <a:xfrm xmlns:a="http://schemas.openxmlformats.org/drawingml/2006/main">
            <a:off x="571500" y="64960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36B78"/>
                </a:solidFill>
                <a:latin typeface="Arial"/>
                <a:ea typeface="Arial"/>
                <a:cs typeface="Arial"/>
              </a:defRPr>
            </a:pPr>
            <a:r>
              <a:rPr sz="1050" b="1">
                <a:solidFill>
                  <a:srgbClr val="536B78"/>
                </a:solidFill>
                <a:latin typeface="Arial"/>
                <a:ea typeface="Arial"/>
                <a:cs typeface="Arial"/>
              </a:rPr>
              <a:t>OLIGO-K</a:t>
            </a:r>
          </a:p>
        </p:txBody>
      </p:sp>
      <p:sp>
        <p:nvSpPr>
          <p:cNvPr id="5" name="text-4">
            <a:extLst xmlns:a="http://schemas.openxmlformats.org/drawingml/2006/main">
              <a:ext uri="{FF2B5EF4-FFF2-40B4-BE49-F238E27FC236}">
                <a16:creationId xmlns:a16="http://schemas.microsoft.com/office/drawing/2014/main" id="{B7BBA699-D524-4BA2-B420-B4D18597558F}"/>
              </a:ext>
            </a:extLst>
          </p:cNvPr>
          <p:cNvSpPr>
            <a:spLocks xmlns:a="http://schemas.openxmlformats.org/drawingml/2006/main" noGrp="1"/>
          </p:cNvSpPr>
          <p:nvPr/>
        </p:nvSpPr>
        <p:spPr>
          <a:xfrm xmlns:a="http://schemas.openxmlformats.org/drawingml/2006/main">
            <a:off x="11049000" y="64674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1">
                <a:solidFill>
                  <a:srgbClr val="087F82"/>
                </a:solidFill>
                <a:latin typeface="Arial"/>
                <a:ea typeface="Arial"/>
                <a:cs typeface="Arial"/>
              </a:defRPr>
            </a:pPr>
            <a:r>
              <a:rPr sz="1350" b="1">
                <a:solidFill>
                  <a:srgbClr val="087F82"/>
                </a:solidFill>
                <a:latin typeface="Arial"/>
                <a:ea typeface="Arial"/>
                <a:cs typeface="Arial"/>
              </a:rPr>
              <a:t>18</a:t>
            </a:r>
          </a:p>
        </p:txBody>
      </p:sp>
      <p:graphicFrame>
        <p:nvGraphicFramePr>
          <p:cNvPr id="13" name=""/>
          <p:cNvGraphicFramePr/>
          <p:nvPr/>
        </p:nvGraphicFramePr>
        <p:xfrm>
          <a:off xmlns:a="http://schemas.openxmlformats.org/drawingml/2006/main" x="571500" y="2038350"/>
          <a:ext xmlns:a="http://schemas.openxmlformats.org/drawingml/2006/main" cx="11049000" cy="3352800"/>
        </p:xfrm>
        <a:graphic xmlns:a="http://schemas.openxmlformats.org/drawingml/2006/main">
          <a:graphicData uri="http://schemas.openxmlformats.org/drawingml/2006/table">
            <a:tbl>
              <a:tblPr firstRow="1" bandRow="0"/>
              <a:tblGrid>
                <a:gridCol w="3667125"/>
                <a:gridCol w="2952750"/>
                <a:gridCol w="4429125"/>
              </a:tblGrid>
              <a:tr h="558800">
                <a:tc>
                  <a:txBody>
                    <a:bodyPr/>
                    <a:lstStyle/>
                    <a:p>
                      <a:r>
                        <a:rPr sz="1800" b="1">
                          <a:solidFill>
                            <a:srgbClr val="FFFFFF"/>
                          </a:solidFill>
                          <a:latin typeface="Malgun Gothic"/>
                          <a:ea typeface="Malgun Gothic"/>
                          <a:cs typeface="Malgun Gothic"/>
                        </a:rPr>
                        <a:t>지표</a:t>
                      </a:r>
                    </a:p>
                  </a:txBody>
                  <a:tcPr marL="142875" marR="123825" marT="123825" marB="95250" anchor="ctr">
                    <a:solidFill>
                      <a:srgbClr val="102F40"/>
                    </a:solidFill>
                  </a:tcPr>
                </a:tc>
                <a:tc>
                  <a:txBody>
                    <a:bodyPr/>
                    <a:lstStyle/>
                    <a:p>
                      <a:r>
                        <a:rPr sz="1800" b="1">
                          <a:solidFill>
                            <a:srgbClr val="FFFFFF"/>
                          </a:solidFill>
                          <a:latin typeface="Malgun Gothic"/>
                          <a:ea typeface="Malgun Gothic"/>
                          <a:cs typeface="Malgun Gothic"/>
                        </a:rPr>
                        <a:t>모델</a:t>
                      </a:r>
                    </a:p>
                  </a:txBody>
                  <a:tcPr marL="142875" marR="123825" marT="123825" marB="95250" anchor="ctr">
                    <a:solidFill>
                      <a:srgbClr val="102F40"/>
                    </a:solidFill>
                  </a:tcPr>
                </a:tc>
                <a:tc>
                  <a:txBody>
                    <a:bodyPr/>
                    <a:lstStyle/>
                    <a:p>
                      <a:r>
                        <a:rPr sz="1800" b="1">
                          <a:solidFill>
                            <a:srgbClr val="FFFFFF"/>
                          </a:solidFill>
                          <a:latin typeface="Malgun Gothic"/>
                          <a:ea typeface="Malgun Gothic"/>
                          <a:cs typeface="Malgun Gothic"/>
                        </a:rPr>
                        <a:t>기획에 사용하는 의미</a:t>
                      </a:r>
                    </a:p>
                  </a:txBody>
                  <a:tcPr marL="142875" marR="123825" marT="123825" marB="95250" anchor="ctr">
                    <a:solidFill>
                      <a:srgbClr val="102F40"/>
                    </a:solidFill>
                  </a:tcPr>
                </a:tc>
              </a:tr>
              <a:tr h="558800">
                <a:tc>
                  <a:txBody>
                    <a:bodyPr/>
                    <a:lstStyle/>
                    <a:p>
                      <a:r>
                        <a:rPr sz="1800" b="0">
                          <a:solidFill>
                            <a:srgbClr val="102F40"/>
                          </a:solidFill>
                          <a:latin typeface="Malgun Gothic"/>
                          <a:ea typeface="Malgun Gothic"/>
                          <a:cs typeface="Malgun Gothic"/>
                        </a:rPr>
                        <a:t>방문자 수</a:t>
                      </a:r>
                    </a:p>
                  </a:txBody>
                  <a:tcPr marL="142875" marR="123825" marT="123825" marB="95250" anchor="ctr">
                    <a:solidFill>
                      <a:srgbClr val="FFFFFF"/>
                    </a:solidFill>
                  </a:tcPr>
                </a:tc>
                <a:tc>
                  <a:txBody>
                    <a:bodyPr/>
                    <a:lstStyle/>
                    <a:p>
                      <a:r>
                        <a:rPr sz="1800" b="0">
                          <a:solidFill>
                            <a:srgbClr val="102F40"/>
                          </a:solidFill>
                          <a:latin typeface="Malgun Gothic"/>
                          <a:ea typeface="Malgun Gothic"/>
                          <a:cs typeface="Malgun Gothic"/>
                        </a:rPr>
                        <a:t>Random Forest</a:t>
                      </a:r>
                    </a:p>
                  </a:txBody>
                  <a:tcPr marL="142875" marR="123825" marT="123825" marB="95250" anchor="ctr">
                    <a:solidFill>
                      <a:srgbClr val="FFFFFF"/>
                    </a:solidFill>
                  </a:tcPr>
                </a:tc>
                <a:tc>
                  <a:txBody>
                    <a:bodyPr/>
                    <a:lstStyle/>
                    <a:p>
                      <a:r>
                        <a:rPr sz="1800" b="0">
                          <a:solidFill>
                            <a:srgbClr val="102F40"/>
                          </a:solidFill>
                          <a:latin typeface="Malgun Gothic"/>
                          <a:ea typeface="Malgun Gothic"/>
                          <a:cs typeface="Malgun Gothic"/>
                        </a:rPr>
                        <a:t>방문 규모와 계절 흐름</a:t>
                      </a:r>
                    </a:p>
                  </a:txBody>
                  <a:tcPr marL="142875" marR="123825" marT="123825" marB="95250" anchor="ctr">
                    <a:solidFill>
                      <a:srgbClr val="FFFFFF"/>
                    </a:solidFill>
                  </a:tcPr>
                </a:tc>
              </a:tr>
              <a:tr h="558800">
                <a:tc>
                  <a:txBody>
                    <a:bodyPr/>
                    <a:lstStyle/>
                    <a:p>
                      <a:r>
                        <a:rPr sz="1800" b="0">
                          <a:solidFill>
                            <a:srgbClr val="102F40"/>
                          </a:solidFill>
                          <a:latin typeface="Malgun Gothic"/>
                          <a:ea typeface="Malgun Gothic"/>
                          <a:cs typeface="Malgun Gothic"/>
                        </a:rPr>
                        <a:t>관광소비액</a:t>
                      </a:r>
                    </a:p>
                  </a:txBody>
                  <a:tcPr marL="142875" marR="123825" marT="123825" marB="95250" anchor="ctr">
                    <a:solidFill>
                      <a:srgbClr val="F6F7F4"/>
                    </a:solidFill>
                  </a:tcPr>
                </a:tc>
                <a:tc>
                  <a:txBody>
                    <a:bodyPr/>
                    <a:lstStyle/>
                    <a:p>
                      <a:r>
                        <a:rPr sz="1800" b="0">
                          <a:solidFill>
                            <a:srgbClr val="102F40"/>
                          </a:solidFill>
                          <a:latin typeface="Malgun Gothic"/>
                          <a:ea typeface="Malgun Gothic"/>
                          <a:cs typeface="Malgun Gothic"/>
                        </a:rPr>
                        <a:t>Linear Regression</a:t>
                      </a:r>
                    </a:p>
                  </a:txBody>
                  <a:tcPr marL="142875" marR="123825" marT="123825" marB="95250" anchor="ctr">
                    <a:solidFill>
                      <a:srgbClr val="F6F7F4"/>
                    </a:solidFill>
                  </a:tcPr>
                </a:tc>
                <a:tc>
                  <a:txBody>
                    <a:bodyPr/>
                    <a:lstStyle/>
                    <a:p>
                      <a:r>
                        <a:rPr sz="1800" b="0">
                          <a:solidFill>
                            <a:srgbClr val="102F40"/>
                          </a:solidFill>
                          <a:latin typeface="Malgun Gothic"/>
                          <a:ea typeface="Malgun Gothic"/>
                          <a:cs typeface="Malgun Gothic"/>
                        </a:rPr>
                        <a:t>상권 소비의 규모와 추세</a:t>
                      </a:r>
                    </a:p>
                  </a:txBody>
                  <a:tcPr marL="142875" marR="123825" marT="123825" marB="95250" anchor="ctr">
                    <a:solidFill>
                      <a:srgbClr val="F6F7F4"/>
                    </a:solidFill>
                  </a:tcPr>
                </a:tc>
              </a:tr>
              <a:tr h="558800">
                <a:tc>
                  <a:txBody>
                    <a:bodyPr/>
                    <a:lstStyle/>
                    <a:p>
                      <a:r>
                        <a:rPr sz="1800" b="0">
                          <a:solidFill>
                            <a:srgbClr val="102F40"/>
                          </a:solidFill>
                          <a:latin typeface="Malgun Gothic"/>
                          <a:ea typeface="Malgun Gothic"/>
                          <a:cs typeface="Malgun Gothic"/>
                        </a:rPr>
                        <a:t>평균 숙박일·숙박방문 비율</a:t>
                      </a:r>
                    </a:p>
                  </a:txBody>
                  <a:tcPr marL="142875" marR="123825" marT="123825" marB="95250" anchor="ctr">
                    <a:solidFill>
                      <a:srgbClr val="FFFFFF"/>
                    </a:solidFill>
                  </a:tcPr>
                </a:tc>
                <a:tc>
                  <a:txBody>
                    <a:bodyPr/>
                    <a:lstStyle/>
                    <a:p>
                      <a:r>
                        <a:rPr sz="1800" b="0">
                          <a:solidFill>
                            <a:srgbClr val="102F40"/>
                          </a:solidFill>
                          <a:latin typeface="Malgun Gothic"/>
                          <a:ea typeface="Malgun Gothic"/>
                          <a:cs typeface="Malgun Gothic"/>
                        </a:rPr>
                        <a:t>Linear Regression</a:t>
                      </a:r>
                    </a:p>
                  </a:txBody>
                  <a:tcPr marL="142875" marR="123825" marT="123825" marB="95250" anchor="ctr">
                    <a:solidFill>
                      <a:srgbClr val="FFFFFF"/>
                    </a:solidFill>
                  </a:tcPr>
                </a:tc>
                <a:tc>
                  <a:txBody>
                    <a:bodyPr/>
                    <a:lstStyle/>
                    <a:p>
                      <a:r>
                        <a:rPr sz="1800" b="0">
                          <a:solidFill>
                            <a:srgbClr val="102F40"/>
                          </a:solidFill>
                          <a:latin typeface="Malgun Gothic"/>
                          <a:ea typeface="Malgun Gothic"/>
                          <a:cs typeface="Malgun Gothic"/>
                        </a:rPr>
                        <a:t>숙박 전환과 체류 기회</a:t>
                      </a:r>
                    </a:p>
                  </a:txBody>
                  <a:tcPr marL="142875" marR="123825" marT="123825" marB="95250" anchor="ctr">
                    <a:solidFill>
                      <a:srgbClr val="FFFFFF"/>
                    </a:solidFill>
                  </a:tcPr>
                </a:tc>
              </a:tr>
              <a:tr h="558800">
                <a:tc>
                  <a:txBody>
                    <a:bodyPr/>
                    <a:lstStyle/>
                    <a:p>
                      <a:r>
                        <a:rPr sz="1800" b="0">
                          <a:solidFill>
                            <a:srgbClr val="102F40"/>
                          </a:solidFill>
                          <a:latin typeface="Malgun Gothic"/>
                          <a:ea typeface="Malgun Gothic"/>
                          <a:cs typeface="Malgun Gothic"/>
                        </a:rPr>
                        <a:t>평균 체류시간</a:t>
                      </a:r>
                    </a:p>
                  </a:txBody>
                  <a:tcPr marL="142875" marR="123825" marT="123825" marB="95250" anchor="ctr">
                    <a:solidFill>
                      <a:srgbClr val="F6F7F4"/>
                    </a:solidFill>
                  </a:tcPr>
                </a:tc>
                <a:tc>
                  <a:txBody>
                    <a:bodyPr/>
                    <a:lstStyle/>
                    <a:p>
                      <a:r>
                        <a:rPr sz="1800" b="0">
                          <a:solidFill>
                            <a:srgbClr val="102F40"/>
                          </a:solidFill>
                          <a:latin typeface="Malgun Gothic"/>
                          <a:ea typeface="Malgun Gothic"/>
                          <a:cs typeface="Malgun Gothic"/>
                        </a:rPr>
                        <a:t>Linear Regression</a:t>
                      </a:r>
                    </a:p>
                  </a:txBody>
                  <a:tcPr marL="142875" marR="123825" marT="123825" marB="95250" anchor="ctr">
                    <a:solidFill>
                      <a:srgbClr val="F6F7F4"/>
                    </a:solidFill>
                  </a:tcPr>
                </a:tc>
                <a:tc>
                  <a:txBody>
                    <a:bodyPr/>
                    <a:lstStyle/>
                    <a:p>
                      <a:r>
                        <a:rPr sz="1800" b="0">
                          <a:solidFill>
                            <a:srgbClr val="102F40"/>
                          </a:solidFill>
                          <a:latin typeface="Malgun Gothic"/>
                          <a:ea typeface="Malgun Gothic"/>
                          <a:cs typeface="Malgun Gothic"/>
                        </a:rPr>
                        <a:t>지역에 머무는 시간</a:t>
                      </a:r>
                    </a:p>
                  </a:txBody>
                  <a:tcPr marL="142875" marR="123825" marT="123825" marB="95250" anchor="ctr">
                    <a:solidFill>
                      <a:srgbClr val="F6F7F4"/>
                    </a:solidFill>
                  </a:tcPr>
                </a:tc>
              </a:tr>
              <a:tr h="558800">
                <a:tc>
                  <a:txBody>
                    <a:bodyPr/>
                    <a:lstStyle/>
                    <a:p>
                      <a:r>
                        <a:rPr sz="1800" b="0">
                          <a:solidFill>
                            <a:srgbClr val="102F40"/>
                          </a:solidFill>
                          <a:latin typeface="Malgun Gothic"/>
                          <a:ea typeface="Malgun Gothic"/>
                          <a:cs typeface="Malgun Gothic"/>
                        </a:rPr>
                        <a:t>내비게이션·숙박 검색량</a:t>
                      </a:r>
                    </a:p>
                  </a:txBody>
                  <a:tcPr marL="142875" marR="123825" marT="123825" marB="95250" anchor="ctr">
                    <a:solidFill>
                      <a:srgbClr val="FFFFFF"/>
                    </a:solidFill>
                  </a:tcPr>
                </a:tc>
                <a:tc>
                  <a:txBody>
                    <a:bodyPr/>
                    <a:lstStyle/>
                    <a:p>
                      <a:r>
                        <a:rPr sz="1800" b="0">
                          <a:solidFill>
                            <a:srgbClr val="102F40"/>
                          </a:solidFill>
                          <a:latin typeface="Malgun Gothic"/>
                          <a:ea typeface="Malgun Gothic"/>
                          <a:cs typeface="Malgun Gothic"/>
                        </a:rPr>
                        <a:t>Random Forest</a:t>
                      </a:r>
                    </a:p>
                  </a:txBody>
                  <a:tcPr marL="142875" marR="123825" marT="123825" marB="95250" anchor="ctr">
                    <a:solidFill>
                      <a:srgbClr val="FFFFFF"/>
                    </a:solidFill>
                  </a:tcPr>
                </a:tc>
                <a:tc>
                  <a:txBody>
                    <a:bodyPr/>
                    <a:lstStyle/>
                    <a:p>
                      <a:r>
                        <a:rPr sz="1800" b="0">
                          <a:solidFill>
                            <a:srgbClr val="102F40"/>
                          </a:solidFill>
                          <a:latin typeface="Malgun Gothic"/>
                          <a:ea typeface="Malgun Gothic"/>
                          <a:cs typeface="Malgun Gothic"/>
                        </a:rPr>
                        <a:t>방문 관심과 예약 관련 신호</a:t>
                      </a:r>
                    </a:p>
                  </a:txBody>
                  <a:tcPr marL="142875" marR="123825" marT="123825" marB="95250" anchor="ctr">
                    <a:solidFill>
                      <a:srgbClr val="FFFFFF"/>
                    </a:solidFill>
                  </a:tcPr>
                </a:tc>
              </a:tr>
            </a:tbl>
          </a:graphicData>
        </a:graphic>
      </p:graphicFrame>
      <p:sp>
        <p:nvSpPr>
          <p:cNvPr id="7" name="text-5">
            <a:extLst xmlns:a="http://schemas.openxmlformats.org/drawingml/2006/main">
              <a:ext uri="{FF2B5EF4-FFF2-40B4-BE49-F238E27FC236}">
                <a16:creationId xmlns:a16="http://schemas.microsoft.com/office/drawing/2014/main" id="{78C0E881-ACB6-4DC5-A4F9-3E522CC2DB33}"/>
              </a:ext>
            </a:extLst>
          </p:cNvPr>
          <p:cNvSpPr>
            <a:spLocks xmlns:a="http://schemas.openxmlformats.org/drawingml/2006/main" noGrp="1"/>
          </p:cNvSpPr>
          <p:nvPr/>
        </p:nvSpPr>
        <p:spPr>
          <a:xfrm xmlns:a="http://schemas.openxmlformats.org/drawingml/2006/main">
            <a:off x="571500" y="5734050"/>
            <a:ext cx="11049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87F82"/>
                </a:solidFill>
                <a:latin typeface="Malgun Gothic"/>
                <a:ea typeface="Malgun Gothic"/>
                <a:cs typeface="Malgun Gothic"/>
              </a:defRPr>
            </a:pPr>
            <a:r>
              <a:rPr sz="1800" b="1">
                <a:solidFill>
                  <a:srgbClr val="087F82"/>
                </a:solidFill>
                <a:latin typeface="Malgun Gothic"/>
                <a:ea typeface="Malgun Gothic"/>
                <a:cs typeface="Malgun Gothic"/>
              </a:rPr>
              <a:t>지역마다 별도 모델을 저장합니다. 현재 로컬 산출물은 250개 지역입니다.</a:t>
            </a:r>
          </a:p>
        </p:txBody>
      </p:sp>
    </p:spTree>
    <p:extLst>
      <p:ext uri="{BB962C8B-B14F-4D97-AF65-F5344CB8AC3E}">
        <p14:creationId xmlns:p14="http://schemas.microsoft.com/office/powerpoint/2010/main" val="2138544733"/>
      </p:ext>
    </p:extLst>
  </p:cSld>
</p:sld>
</file>

<file path=ppt/slides/slide19.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9" name="text-0.8727298854622894">
            <a:extLst xmlns:a="http://schemas.openxmlformats.org/drawingml/2006/main">
              <a:ext uri="{FF2B5EF4-FFF2-40B4-BE49-F238E27FC236}">
                <a16:creationId xmlns:a16="http://schemas.microsoft.com/office/drawing/2014/main" id="{BB7AB95F-DFB5-4899-BF36-6C63FB331918}"/>
              </a:ext>
            </a:extLst>
          </p:cNvPr>
          <p:cNvSpPr>
            <a:spLocks xmlns:a="http://schemas.openxmlformats.org/drawingml/2006/main" noGrp="1"/>
          </p:cNvSpPr>
          <p:nvPr/>
        </p:nvSpPr>
        <p:spPr>
          <a:xfrm xmlns:a="http://schemas.openxmlformats.org/drawingml/2006/main">
            <a:off x="571500" y="3048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87F82"/>
                </a:solidFill>
                <a:latin typeface="Malgun Gothic"/>
                <a:ea typeface="Malgun Gothic"/>
                <a:cs typeface="Malgun Gothic"/>
              </a:defRPr>
            </a:pPr>
            <a:r>
              <a:rPr sz="1200" b="1">
                <a:solidFill>
                  <a:srgbClr val="087F82"/>
                </a:solidFill>
                <a:latin typeface="Malgun Gothic"/>
                <a:ea typeface="Malgun Gothic"/>
                <a:cs typeface="Malgun Gothic"/>
              </a:rPr>
              <a:t>03 시스템과 데이터</a:t>
            </a:r>
          </a:p>
        </p:txBody>
      </p:sp>
      <p:sp>
        <p:nvSpPr>
          <p:cNvPr id="2" name="text-1">
            <a:extLst xmlns:a="http://schemas.openxmlformats.org/drawingml/2006/main">
              <a:ext uri="{FF2B5EF4-FFF2-40B4-BE49-F238E27FC236}">
                <a16:creationId xmlns:a16="http://schemas.microsoft.com/office/drawing/2014/main" id="{8F69F3CE-0399-4216-8A75-5170F621A3D8}"/>
              </a:ext>
            </a:extLst>
          </p:cNvPr>
          <p:cNvSpPr>
            <a:spLocks xmlns:a="http://schemas.openxmlformats.org/drawingml/2006/main" noGrp="1"/>
          </p:cNvSpPr>
          <p:nvPr/>
        </p:nvSpPr>
        <p:spPr>
          <a:xfrm xmlns:a="http://schemas.openxmlformats.org/drawingml/2006/main">
            <a:off x="571500" y="76200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02F40"/>
                </a:solidFill>
                <a:latin typeface="Malgun Gothic"/>
                <a:ea typeface="Malgun Gothic"/>
                <a:cs typeface="Malgun Gothic"/>
              </a:defRPr>
            </a:pPr>
            <a:r>
              <a:rPr sz="3300" b="1">
                <a:solidFill>
                  <a:srgbClr val="102F40"/>
                </a:solidFill>
                <a:latin typeface="Malgun Gothic"/>
                <a:ea typeface="Malgun Gothic"/>
                <a:cs typeface="Malgun Gothic"/>
              </a:rPr>
              <a:t>과거값과 계절성을 입력으로 만듭니다</a:t>
            </a:r>
          </a:p>
        </p:txBody>
      </p:sp>
      <p:sp>
        <p:nvSpPr>
          <p:cNvPr id="3" name="text-2">
            <a:extLst xmlns:a="http://schemas.openxmlformats.org/drawingml/2006/main">
              <a:ext uri="{FF2B5EF4-FFF2-40B4-BE49-F238E27FC236}">
                <a16:creationId xmlns:a16="http://schemas.microsoft.com/office/drawing/2014/main" id="{C71E9912-8C7A-4FC5-B372-ACE36D5EC81F}"/>
              </a:ext>
            </a:extLst>
          </p:cNvPr>
          <p:cNvSpPr>
            <a:spLocks xmlns:a="http://schemas.openxmlformats.org/drawingml/2006/main" noGrp="1"/>
          </p:cNvSpPr>
          <p:nvPr/>
        </p:nvSpPr>
        <p:spPr>
          <a:xfrm xmlns:a="http://schemas.openxmlformats.org/drawingml/2006/main">
            <a:off x="571500" y="14954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B78"/>
                </a:solidFill>
                <a:latin typeface="Malgun Gothic"/>
                <a:ea typeface="Malgun Gothic"/>
                <a:cs typeface="Malgun Gothic"/>
              </a:defRPr>
            </a:pPr>
            <a:r>
              <a:rPr sz="1725" b="0">
                <a:solidFill>
                  <a:srgbClr val="536B78"/>
                </a:solidFill>
                <a:latin typeface="Malgun Gothic"/>
                <a:ea typeface="Malgun Gothic"/>
                <a:cs typeface="Malgun Gothic"/>
              </a:rPr>
              <a:t>미래 월의 실제값을 입력에 섞지 않습니다.</a:t>
            </a:r>
          </a:p>
        </p:txBody>
      </p:sp>
      <p:sp>
        <p:nvSpPr>
          <p:cNvPr id="4" name="">
            <a:extLst xmlns:a="http://schemas.openxmlformats.org/drawingml/2006/main">
              <a:ext uri="{FF2B5EF4-FFF2-40B4-BE49-F238E27FC236}">
                <a16:creationId xmlns:a16="http://schemas.microsoft.com/office/drawing/2014/main" id="{9A609A7A-936B-4E9F-84B3-4AEEDA70C467}"/>
              </a:ext>
            </a:extLst>
          </p:cNvPr>
          <p:cNvSpPr>
            <a:spLocks xmlns:a="http://schemas.openxmlformats.org/drawingml/2006/main" noGrp="1"/>
          </p:cNvSpPr>
          <p:nvPr/>
        </p:nvSpPr>
        <p:spPr>
          <a:xfrm xmlns:a="http://schemas.openxmlformats.org/drawingml/2006/main">
            <a:off x="571500" y="6324600"/>
            <a:ext cx="11049000" cy="0"/>
          </a:xfrm>
          <a:prstGeom xmlns:a="http://schemas.openxmlformats.org/drawingml/2006/main" prst="line">
            <a:avLst/>
          </a:prstGeom>
          <a:noFill xmlns:a="http://schemas.openxmlformats.org/drawingml/2006/main"/>
          <a:ln xmlns:a="http://schemas.openxmlformats.org/drawingml/2006/main" w="9525">
            <a:solidFill>
              <a:srgbClr val="CDD8D9"/>
            </a:solidFill>
            <a:prstDash val="solid"/>
          </a:ln>
        </p:spPr>
      </p:sp>
      <p:sp>
        <p:nvSpPr>
          <p:cNvPr id="5" name="text-4">
            <a:extLst xmlns:a="http://schemas.openxmlformats.org/drawingml/2006/main">
              <a:ext uri="{FF2B5EF4-FFF2-40B4-BE49-F238E27FC236}">
                <a16:creationId xmlns:a16="http://schemas.microsoft.com/office/drawing/2014/main" id="{FD7C5AA8-F5C8-4447-B79E-B584C54FAADF}"/>
              </a:ext>
            </a:extLst>
          </p:cNvPr>
          <p:cNvSpPr>
            <a:spLocks xmlns:a="http://schemas.openxmlformats.org/drawingml/2006/main" noGrp="1"/>
          </p:cNvSpPr>
          <p:nvPr/>
        </p:nvSpPr>
        <p:spPr>
          <a:xfrm xmlns:a="http://schemas.openxmlformats.org/drawingml/2006/main">
            <a:off x="571500" y="64960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36B78"/>
                </a:solidFill>
                <a:latin typeface="Arial"/>
                <a:ea typeface="Arial"/>
                <a:cs typeface="Arial"/>
              </a:defRPr>
            </a:pPr>
            <a:r>
              <a:rPr sz="1050" b="1">
                <a:solidFill>
                  <a:srgbClr val="536B78"/>
                </a:solidFill>
                <a:latin typeface="Arial"/>
                <a:ea typeface="Arial"/>
                <a:cs typeface="Arial"/>
              </a:rPr>
              <a:t>OLIGO-K</a:t>
            </a:r>
          </a:p>
        </p:txBody>
      </p:sp>
      <p:sp>
        <p:nvSpPr>
          <p:cNvPr id="6" name="text-5">
            <a:extLst xmlns:a="http://schemas.openxmlformats.org/drawingml/2006/main">
              <a:ext uri="{FF2B5EF4-FFF2-40B4-BE49-F238E27FC236}">
                <a16:creationId xmlns:a16="http://schemas.microsoft.com/office/drawing/2014/main" id="{9598E7D8-20F0-4B58-9C85-C3889B3FCFDF}"/>
              </a:ext>
            </a:extLst>
          </p:cNvPr>
          <p:cNvSpPr>
            <a:spLocks xmlns:a="http://schemas.openxmlformats.org/drawingml/2006/main" noGrp="1"/>
          </p:cNvSpPr>
          <p:nvPr/>
        </p:nvSpPr>
        <p:spPr>
          <a:xfrm xmlns:a="http://schemas.openxmlformats.org/drawingml/2006/main">
            <a:off x="11049000" y="64674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1">
                <a:solidFill>
                  <a:srgbClr val="087F82"/>
                </a:solidFill>
                <a:latin typeface="Arial"/>
                <a:ea typeface="Arial"/>
                <a:cs typeface="Arial"/>
              </a:defRPr>
            </a:pPr>
            <a:r>
              <a:rPr sz="1350" b="1">
                <a:solidFill>
                  <a:srgbClr val="087F82"/>
                </a:solidFill>
                <a:latin typeface="Arial"/>
                <a:ea typeface="Arial"/>
                <a:cs typeface="Arial"/>
              </a:rPr>
              <a:t>19</a:t>
            </a:r>
          </a:p>
        </p:txBody>
      </p:sp>
      <p:sp>
        <p:nvSpPr>
          <p:cNvPr id="7" name="">
            <a:extLst xmlns:a="http://schemas.openxmlformats.org/drawingml/2006/main">
              <a:ext uri="{FF2B5EF4-FFF2-40B4-BE49-F238E27FC236}">
                <a16:creationId xmlns:a16="http://schemas.microsoft.com/office/drawing/2014/main" id="{D813C5B7-AB80-4F64-8525-A8990DF637B6}"/>
              </a:ext>
            </a:extLst>
          </p:cNvPr>
          <p:cNvSpPr>
            <a:spLocks xmlns:a="http://schemas.openxmlformats.org/drawingml/2006/main" noGrp="1"/>
          </p:cNvSpPr>
          <p:nvPr/>
        </p:nvSpPr>
        <p:spPr>
          <a:xfrm xmlns:a="http://schemas.openxmlformats.org/drawingml/2006/main">
            <a:off x="571500" y="2371725"/>
            <a:ext cx="2428875" cy="1143000"/>
          </a:xfrm>
          <a:prstGeom xmlns:a="http://schemas.openxmlformats.org/drawingml/2006/main" prst="rect">
            <a:avLst/>
          </a:prstGeom>
          <a:solidFill xmlns:a="http://schemas.openxmlformats.org/drawingml/2006/main">
            <a:srgbClr val="FFFFFF"/>
          </a:solidFill>
          <a:ln xmlns:a="http://schemas.openxmlformats.org/drawingml/2006/main" w="9525">
            <a:solidFill>
              <a:srgbClr val="CDD8D9"/>
            </a:solidFill>
          </a:ln>
        </p:spPr>
      </p:sp>
      <p:sp>
        <p:nvSpPr>
          <p:cNvPr id="8" name="text-7">
            <a:extLst xmlns:a="http://schemas.openxmlformats.org/drawingml/2006/main">
              <a:ext uri="{FF2B5EF4-FFF2-40B4-BE49-F238E27FC236}">
                <a16:creationId xmlns:a16="http://schemas.microsoft.com/office/drawing/2014/main" id="{49C42EC3-73D1-43DC-9677-76AF6EEE5D92}"/>
              </a:ext>
            </a:extLst>
          </p:cNvPr>
          <p:cNvSpPr>
            <a:spLocks xmlns:a="http://schemas.openxmlformats.org/drawingml/2006/main" noGrp="1"/>
          </p:cNvSpPr>
          <p:nvPr/>
        </p:nvSpPr>
        <p:spPr>
          <a:xfrm xmlns:a="http://schemas.openxmlformats.org/drawingml/2006/main">
            <a:off x="723900" y="2552700"/>
            <a:ext cx="21240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1개월 전</a:t>
            </a:r>
          </a:p>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최근 흐름</a:t>
            </a:r>
          </a:p>
        </p:txBody>
      </p:sp>
      <p:sp>
        <p:nvSpPr>
          <p:cNvPr id="9" name="">
            <a:extLst xmlns:a="http://schemas.openxmlformats.org/drawingml/2006/main">
              <a:ext uri="{FF2B5EF4-FFF2-40B4-BE49-F238E27FC236}">
                <a16:creationId xmlns:a16="http://schemas.microsoft.com/office/drawing/2014/main" id="{A2B25CB6-C0E0-477C-8550-C110B83C1DB1}"/>
              </a:ext>
            </a:extLst>
          </p:cNvPr>
          <p:cNvSpPr>
            <a:spLocks xmlns:a="http://schemas.openxmlformats.org/drawingml/2006/main" noGrp="1"/>
          </p:cNvSpPr>
          <p:nvPr/>
        </p:nvSpPr>
        <p:spPr>
          <a:xfrm xmlns:a="http://schemas.openxmlformats.org/drawingml/2006/main">
            <a:off x="3381375" y="2371725"/>
            <a:ext cx="2428875" cy="1143000"/>
          </a:xfrm>
          <a:prstGeom xmlns:a="http://schemas.openxmlformats.org/drawingml/2006/main" prst="rect">
            <a:avLst/>
          </a:prstGeom>
          <a:solidFill xmlns:a="http://schemas.openxmlformats.org/drawingml/2006/main">
            <a:srgbClr val="FFFFFF"/>
          </a:solidFill>
          <a:ln xmlns:a="http://schemas.openxmlformats.org/drawingml/2006/main" w="9525">
            <a:solidFill>
              <a:srgbClr val="CDD8D9"/>
            </a:solidFill>
          </a:ln>
        </p:spPr>
      </p:sp>
      <p:sp>
        <p:nvSpPr>
          <p:cNvPr id="10" name="text-9">
            <a:extLst xmlns:a="http://schemas.openxmlformats.org/drawingml/2006/main">
              <a:ext uri="{FF2B5EF4-FFF2-40B4-BE49-F238E27FC236}">
                <a16:creationId xmlns:a16="http://schemas.microsoft.com/office/drawing/2014/main" id="{D77B8CA6-9D37-482F-9293-F517AD01E89A}"/>
              </a:ext>
            </a:extLst>
          </p:cNvPr>
          <p:cNvSpPr>
            <a:spLocks xmlns:a="http://schemas.openxmlformats.org/drawingml/2006/main" noGrp="1"/>
          </p:cNvSpPr>
          <p:nvPr/>
        </p:nvSpPr>
        <p:spPr>
          <a:xfrm xmlns:a="http://schemas.openxmlformats.org/drawingml/2006/main">
            <a:off x="3533775" y="2552700"/>
            <a:ext cx="21240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3개월 전</a:t>
            </a:r>
          </a:p>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분기 흐름</a:t>
            </a:r>
          </a:p>
        </p:txBody>
      </p:sp>
      <p:sp>
        <p:nvSpPr>
          <p:cNvPr id="11" name="">
            <a:extLst xmlns:a="http://schemas.openxmlformats.org/drawingml/2006/main">
              <a:ext uri="{FF2B5EF4-FFF2-40B4-BE49-F238E27FC236}">
                <a16:creationId xmlns:a16="http://schemas.microsoft.com/office/drawing/2014/main" id="{574BED81-1D81-40B4-A265-9D629A132292}"/>
              </a:ext>
            </a:extLst>
          </p:cNvPr>
          <p:cNvSpPr>
            <a:spLocks xmlns:a="http://schemas.openxmlformats.org/drawingml/2006/main" noGrp="1"/>
          </p:cNvSpPr>
          <p:nvPr/>
        </p:nvSpPr>
        <p:spPr>
          <a:xfrm xmlns:a="http://schemas.openxmlformats.org/drawingml/2006/main">
            <a:off x="6191250" y="2371725"/>
            <a:ext cx="2428875" cy="1143000"/>
          </a:xfrm>
          <a:prstGeom xmlns:a="http://schemas.openxmlformats.org/drawingml/2006/main" prst="rect">
            <a:avLst/>
          </a:prstGeom>
          <a:solidFill xmlns:a="http://schemas.openxmlformats.org/drawingml/2006/main">
            <a:srgbClr val="FFFFFF"/>
          </a:solidFill>
          <a:ln xmlns:a="http://schemas.openxmlformats.org/drawingml/2006/main" w="9525">
            <a:solidFill>
              <a:srgbClr val="CDD8D9"/>
            </a:solidFill>
          </a:ln>
        </p:spPr>
      </p:sp>
      <p:sp>
        <p:nvSpPr>
          <p:cNvPr id="12" name="text-11">
            <a:extLst xmlns:a="http://schemas.openxmlformats.org/drawingml/2006/main">
              <a:ext uri="{FF2B5EF4-FFF2-40B4-BE49-F238E27FC236}">
                <a16:creationId xmlns:a16="http://schemas.microsoft.com/office/drawing/2014/main" id="{831C2E1B-79FA-4326-A8B3-02DD4DDC3968}"/>
              </a:ext>
            </a:extLst>
          </p:cNvPr>
          <p:cNvSpPr>
            <a:spLocks xmlns:a="http://schemas.openxmlformats.org/drawingml/2006/main" noGrp="1"/>
          </p:cNvSpPr>
          <p:nvPr/>
        </p:nvSpPr>
        <p:spPr>
          <a:xfrm xmlns:a="http://schemas.openxmlformats.org/drawingml/2006/main">
            <a:off x="6343650" y="2552700"/>
            <a:ext cx="21240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12개월 전</a:t>
            </a:r>
          </a:p>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같은 계절</a:t>
            </a:r>
          </a:p>
        </p:txBody>
      </p:sp>
      <p:sp>
        <p:nvSpPr>
          <p:cNvPr id="13" name="">
            <a:extLst xmlns:a="http://schemas.openxmlformats.org/drawingml/2006/main">
              <a:ext uri="{FF2B5EF4-FFF2-40B4-BE49-F238E27FC236}">
                <a16:creationId xmlns:a16="http://schemas.microsoft.com/office/drawing/2014/main" id="{806720F6-94A2-4621-B963-E0CD61CFFC02}"/>
              </a:ext>
            </a:extLst>
          </p:cNvPr>
          <p:cNvSpPr>
            <a:spLocks xmlns:a="http://schemas.openxmlformats.org/drawingml/2006/main" noGrp="1"/>
          </p:cNvSpPr>
          <p:nvPr/>
        </p:nvSpPr>
        <p:spPr>
          <a:xfrm xmlns:a="http://schemas.openxmlformats.org/drawingml/2006/main">
            <a:off x="9001125" y="2371725"/>
            <a:ext cx="2571750" cy="1143000"/>
          </a:xfrm>
          <a:prstGeom xmlns:a="http://schemas.openxmlformats.org/drawingml/2006/main" prst="rect">
            <a:avLst/>
          </a:prstGeom>
          <a:solidFill xmlns:a="http://schemas.openxmlformats.org/drawingml/2006/main">
            <a:srgbClr val="E5F2ED"/>
          </a:solidFill>
          <a:ln xmlns:a="http://schemas.openxmlformats.org/drawingml/2006/main" w="9525">
            <a:solidFill>
              <a:srgbClr val="CDD8D9"/>
            </a:solidFill>
          </a:ln>
        </p:spPr>
      </p:sp>
      <p:sp>
        <p:nvSpPr>
          <p:cNvPr id="14" name="text-13">
            <a:extLst xmlns:a="http://schemas.openxmlformats.org/drawingml/2006/main">
              <a:ext uri="{FF2B5EF4-FFF2-40B4-BE49-F238E27FC236}">
                <a16:creationId xmlns:a16="http://schemas.microsoft.com/office/drawing/2014/main" id="{E427DEFF-624F-4D06-A8DD-4402DACCA8F0}"/>
              </a:ext>
            </a:extLst>
          </p:cNvPr>
          <p:cNvSpPr>
            <a:spLocks xmlns:a="http://schemas.openxmlformats.org/drawingml/2006/main" noGrp="1"/>
          </p:cNvSpPr>
          <p:nvPr/>
        </p:nvSpPr>
        <p:spPr>
          <a:xfrm xmlns:a="http://schemas.openxmlformats.org/drawingml/2006/main">
            <a:off x="9153525" y="2552700"/>
            <a:ext cx="22669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월 sin·cos</a:t>
            </a:r>
          </a:p>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연간 순환</a:t>
            </a:r>
          </a:p>
        </p:txBody>
      </p:sp>
      <p:sp>
        <p:nvSpPr>
          <p:cNvPr id="15" name="text-14">
            <a:extLst xmlns:a="http://schemas.openxmlformats.org/drawingml/2006/main">
              <a:ext uri="{FF2B5EF4-FFF2-40B4-BE49-F238E27FC236}">
                <a16:creationId xmlns:a16="http://schemas.microsoft.com/office/drawing/2014/main" id="{C5FAD7AF-1A3B-47F8-86B2-889D10A44A33}"/>
              </a:ext>
            </a:extLst>
          </p:cNvPr>
          <p:cNvSpPr>
            <a:spLocks xmlns:a="http://schemas.openxmlformats.org/drawingml/2006/main" noGrp="1"/>
          </p:cNvSpPr>
          <p:nvPr/>
        </p:nvSpPr>
        <p:spPr>
          <a:xfrm xmlns:a="http://schemas.openxmlformats.org/drawingml/2006/main">
            <a:off x="571500" y="4191000"/>
            <a:ext cx="228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2"/>
                </a:solidFill>
                <a:latin typeface="Malgun Gothic"/>
                <a:ea typeface="Malgun Gothic"/>
                <a:cs typeface="Malgun Gothic"/>
              </a:defRPr>
            </a:pPr>
            <a:r>
              <a:rPr sz="2325" b="1">
                <a:solidFill>
                  <a:srgbClr val="087F82"/>
                </a:solidFill>
                <a:latin typeface="Malgun Gothic"/>
                <a:ea typeface="Malgun Gothic"/>
                <a:cs typeface="Malgun Gothic"/>
              </a:rPr>
              <a:t>방문·소비</a:t>
            </a:r>
          </a:p>
        </p:txBody>
      </p:sp>
      <p:sp>
        <p:nvSpPr>
          <p:cNvPr id="16" name="text-15">
            <a:extLst xmlns:a="http://schemas.openxmlformats.org/drawingml/2006/main">
              <a:ext uri="{FF2B5EF4-FFF2-40B4-BE49-F238E27FC236}">
                <a16:creationId xmlns:a16="http://schemas.microsoft.com/office/drawing/2014/main" id="{3142CC8C-330D-4676-AC9C-8E2B52630A64}"/>
              </a:ext>
            </a:extLst>
          </p:cNvPr>
          <p:cNvSpPr>
            <a:spLocks xmlns:a="http://schemas.openxmlformats.org/drawingml/2006/main" noGrp="1"/>
          </p:cNvSpPr>
          <p:nvPr/>
        </p:nvSpPr>
        <p:spPr>
          <a:xfrm xmlns:a="http://schemas.openxmlformats.org/drawingml/2006/main">
            <a:off x="3095625" y="4200525"/>
            <a:ext cx="8382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02F40"/>
                </a:solidFill>
                <a:latin typeface="Malgun Gothic"/>
                <a:ea typeface="Malgun Gothic"/>
                <a:cs typeface="Malgun Gothic"/>
              </a:defRPr>
            </a:pPr>
            <a:r>
              <a:rPr sz="2025" b="0">
                <a:solidFill>
                  <a:srgbClr val="102F40"/>
                </a:solidFill>
                <a:latin typeface="Malgun Gothic"/>
                <a:ea typeface="Malgun Gothic"/>
                <a:cs typeface="Malgun Gothic"/>
              </a:rPr>
              <a:t>방문과 소비의 과거값을 함께 사용하여 8개 Feature 구성</a:t>
            </a:r>
          </a:p>
        </p:txBody>
      </p:sp>
      <p:sp>
        <p:nvSpPr>
          <p:cNvPr id="17" name="text-16">
            <a:extLst xmlns:a="http://schemas.openxmlformats.org/drawingml/2006/main">
              <a:ext uri="{FF2B5EF4-FFF2-40B4-BE49-F238E27FC236}">
                <a16:creationId xmlns:a16="http://schemas.microsoft.com/office/drawing/2014/main" id="{F347CD72-CBA8-446F-80BD-AA0BAA0A2CCB}"/>
              </a:ext>
            </a:extLst>
          </p:cNvPr>
          <p:cNvSpPr>
            <a:spLocks xmlns:a="http://schemas.openxmlformats.org/drawingml/2006/main" noGrp="1"/>
          </p:cNvSpPr>
          <p:nvPr/>
        </p:nvSpPr>
        <p:spPr>
          <a:xfrm xmlns:a="http://schemas.openxmlformats.org/drawingml/2006/main">
            <a:off x="571500" y="5229225"/>
            <a:ext cx="228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2"/>
                </a:solidFill>
                <a:latin typeface="Malgun Gothic"/>
                <a:ea typeface="Malgun Gothic"/>
                <a:cs typeface="Malgun Gothic"/>
              </a:defRPr>
            </a:pPr>
            <a:r>
              <a:rPr sz="2325" b="1">
                <a:solidFill>
                  <a:srgbClr val="087F82"/>
                </a:solidFill>
                <a:latin typeface="Malgun Gothic"/>
                <a:ea typeface="Malgun Gothic"/>
                <a:cs typeface="Malgun Gothic"/>
              </a:rPr>
              <a:t>체류·검색</a:t>
            </a:r>
          </a:p>
        </p:txBody>
      </p:sp>
      <p:sp>
        <p:nvSpPr>
          <p:cNvPr id="18" name="text-17">
            <a:extLst xmlns:a="http://schemas.openxmlformats.org/drawingml/2006/main">
              <a:ext uri="{FF2B5EF4-FFF2-40B4-BE49-F238E27FC236}">
                <a16:creationId xmlns:a16="http://schemas.microsoft.com/office/drawing/2014/main" id="{D9018007-0CA3-469C-BFF6-6529EEB1470E}"/>
              </a:ext>
            </a:extLst>
          </p:cNvPr>
          <p:cNvSpPr>
            <a:spLocks xmlns:a="http://schemas.openxmlformats.org/drawingml/2006/main" noGrp="1"/>
          </p:cNvSpPr>
          <p:nvPr/>
        </p:nvSpPr>
        <p:spPr>
          <a:xfrm xmlns:a="http://schemas.openxmlformats.org/drawingml/2006/main">
            <a:off x="3095625" y="5238750"/>
            <a:ext cx="8382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02F40"/>
                </a:solidFill>
                <a:latin typeface="Malgun Gothic"/>
                <a:ea typeface="Malgun Gothic"/>
                <a:cs typeface="Malgun Gothic"/>
              </a:defRPr>
            </a:pPr>
            <a:r>
              <a:rPr sz="2025" b="0">
                <a:solidFill>
                  <a:srgbClr val="102F40"/>
                </a:solidFill>
                <a:latin typeface="Malgun Gothic"/>
                <a:ea typeface="Malgun Gothic"/>
                <a:cs typeface="Malgun Gothic"/>
              </a:rPr>
              <a:t>해당 지표의 과거값과 계절 정보로 5개 Feature 구성</a:t>
            </a:r>
          </a:p>
        </p:txBody>
      </p:sp>
    </p:spTree>
    <p:extLst>
      <p:ext uri="{BB962C8B-B14F-4D97-AF65-F5344CB8AC3E}">
        <p14:creationId xmlns:p14="http://schemas.microsoft.com/office/powerpoint/2010/main" val="452605383"/>
      </p:ext>
    </p:extLst>
  </p:cSld>
</p:sld>
</file>

<file path=ppt/slides/slide20.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5" name="text-0.20904684845769894">
            <a:extLst xmlns:a="http://schemas.openxmlformats.org/drawingml/2006/main">
              <a:ext uri="{FF2B5EF4-FFF2-40B4-BE49-F238E27FC236}">
                <a16:creationId xmlns:a16="http://schemas.microsoft.com/office/drawing/2014/main" id="{B22C656D-66E0-40C2-BF3D-334CDFFE0DEC}"/>
              </a:ext>
            </a:extLst>
          </p:cNvPr>
          <p:cNvSpPr>
            <a:spLocks xmlns:a="http://schemas.openxmlformats.org/drawingml/2006/main" noGrp="1"/>
          </p:cNvSpPr>
          <p:nvPr/>
        </p:nvSpPr>
        <p:spPr>
          <a:xfrm xmlns:a="http://schemas.openxmlformats.org/drawingml/2006/main">
            <a:off x="571500" y="3048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87F82"/>
                </a:solidFill>
                <a:latin typeface="Malgun Gothic"/>
                <a:ea typeface="Malgun Gothic"/>
                <a:cs typeface="Malgun Gothic"/>
              </a:defRPr>
            </a:pPr>
            <a:r>
              <a:rPr sz="1200" b="1">
                <a:solidFill>
                  <a:srgbClr val="087F82"/>
                </a:solidFill>
                <a:latin typeface="Malgun Gothic"/>
                <a:ea typeface="Malgun Gothic"/>
                <a:cs typeface="Malgun Gothic"/>
              </a:rPr>
              <a:t>03 시스템과 데이터</a:t>
            </a:r>
          </a:p>
        </p:txBody>
      </p:sp>
      <p:sp>
        <p:nvSpPr>
          <p:cNvPr id="2" name="text-1">
            <a:extLst xmlns:a="http://schemas.openxmlformats.org/drawingml/2006/main">
              <a:ext uri="{FF2B5EF4-FFF2-40B4-BE49-F238E27FC236}">
                <a16:creationId xmlns:a16="http://schemas.microsoft.com/office/drawing/2014/main" id="{87178C2E-EBE4-43FF-A4B8-20988B640FB0}"/>
              </a:ext>
            </a:extLst>
          </p:cNvPr>
          <p:cNvSpPr>
            <a:spLocks xmlns:a="http://schemas.openxmlformats.org/drawingml/2006/main" noGrp="1"/>
          </p:cNvSpPr>
          <p:nvPr/>
        </p:nvSpPr>
        <p:spPr>
          <a:xfrm xmlns:a="http://schemas.openxmlformats.org/drawingml/2006/main">
            <a:off x="571500" y="76200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02F40"/>
                </a:solidFill>
                <a:latin typeface="Malgun Gothic"/>
                <a:ea typeface="Malgun Gothic"/>
                <a:cs typeface="Malgun Gothic"/>
              </a:defRPr>
            </a:pPr>
            <a:r>
              <a:rPr sz="3300" b="1">
                <a:solidFill>
                  <a:srgbClr val="102F40"/>
                </a:solidFill>
                <a:latin typeface="Malgun Gothic"/>
                <a:ea typeface="Malgun Gothic"/>
                <a:cs typeface="Malgun Gothic"/>
              </a:rPr>
              <a:t>시간순 분리로 미래 예측을 평가합니다</a:t>
            </a:r>
          </a:p>
        </p:txBody>
      </p:sp>
      <p:sp>
        <p:nvSpPr>
          <p:cNvPr id="3" name="text-2">
            <a:extLst xmlns:a="http://schemas.openxmlformats.org/drawingml/2006/main">
              <a:ext uri="{FF2B5EF4-FFF2-40B4-BE49-F238E27FC236}">
                <a16:creationId xmlns:a16="http://schemas.microsoft.com/office/drawing/2014/main" id="{E3C8FE92-73DC-4DF5-AB7D-43BCCDE0BB10}"/>
              </a:ext>
            </a:extLst>
          </p:cNvPr>
          <p:cNvSpPr>
            <a:spLocks xmlns:a="http://schemas.openxmlformats.org/drawingml/2006/main" noGrp="1"/>
          </p:cNvSpPr>
          <p:nvPr/>
        </p:nvSpPr>
        <p:spPr>
          <a:xfrm xmlns:a="http://schemas.openxmlformats.org/drawingml/2006/main">
            <a:off x="571500" y="14954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B78"/>
                </a:solidFill>
                <a:latin typeface="Malgun Gothic"/>
                <a:ea typeface="Malgun Gothic"/>
                <a:cs typeface="Malgun Gothic"/>
              </a:defRPr>
            </a:pPr>
            <a:r>
              <a:rPr sz="1725" b="0">
                <a:solidFill>
                  <a:srgbClr val="536B78"/>
                </a:solidFill>
                <a:latin typeface="Malgun Gothic"/>
                <a:ea typeface="Malgun Gothic"/>
                <a:cs typeface="Malgun Gothic"/>
              </a:rPr>
              <a:t>원주 모델 저장 기록: 2024.01–2026.06 관측 30개월</a:t>
            </a:r>
          </a:p>
        </p:txBody>
      </p:sp>
      <p:sp>
        <p:nvSpPr>
          <p:cNvPr id="4" name="">
            <a:extLst xmlns:a="http://schemas.openxmlformats.org/drawingml/2006/main">
              <a:ext uri="{FF2B5EF4-FFF2-40B4-BE49-F238E27FC236}">
                <a16:creationId xmlns:a16="http://schemas.microsoft.com/office/drawing/2014/main" id="{4493DEDF-C04D-4513-A890-8F3393250C8A}"/>
              </a:ext>
            </a:extLst>
          </p:cNvPr>
          <p:cNvSpPr>
            <a:spLocks xmlns:a="http://schemas.openxmlformats.org/drawingml/2006/main" noGrp="1"/>
          </p:cNvSpPr>
          <p:nvPr/>
        </p:nvSpPr>
        <p:spPr>
          <a:xfrm xmlns:a="http://schemas.openxmlformats.org/drawingml/2006/main">
            <a:off x="571500" y="6324600"/>
            <a:ext cx="11049000" cy="0"/>
          </a:xfrm>
          <a:prstGeom xmlns:a="http://schemas.openxmlformats.org/drawingml/2006/main" prst="line">
            <a:avLst/>
          </a:prstGeom>
          <a:noFill xmlns:a="http://schemas.openxmlformats.org/drawingml/2006/main"/>
          <a:ln xmlns:a="http://schemas.openxmlformats.org/drawingml/2006/main" w="9525">
            <a:solidFill>
              <a:srgbClr val="CDD8D9"/>
            </a:solidFill>
            <a:prstDash val="solid"/>
          </a:ln>
        </p:spPr>
      </p:sp>
      <p:sp>
        <p:nvSpPr>
          <p:cNvPr id="5" name="text-4">
            <a:extLst xmlns:a="http://schemas.openxmlformats.org/drawingml/2006/main">
              <a:ext uri="{FF2B5EF4-FFF2-40B4-BE49-F238E27FC236}">
                <a16:creationId xmlns:a16="http://schemas.microsoft.com/office/drawing/2014/main" id="{A77405CA-9941-4103-AF23-F119B69A3E61}"/>
              </a:ext>
            </a:extLst>
          </p:cNvPr>
          <p:cNvSpPr>
            <a:spLocks xmlns:a="http://schemas.openxmlformats.org/drawingml/2006/main" noGrp="1"/>
          </p:cNvSpPr>
          <p:nvPr/>
        </p:nvSpPr>
        <p:spPr>
          <a:xfrm xmlns:a="http://schemas.openxmlformats.org/drawingml/2006/main">
            <a:off x="571500" y="64960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36B78"/>
                </a:solidFill>
                <a:latin typeface="Arial"/>
                <a:ea typeface="Arial"/>
                <a:cs typeface="Arial"/>
              </a:defRPr>
            </a:pPr>
            <a:r>
              <a:rPr sz="1050" b="1">
                <a:solidFill>
                  <a:srgbClr val="536B78"/>
                </a:solidFill>
                <a:latin typeface="Arial"/>
                <a:ea typeface="Arial"/>
                <a:cs typeface="Arial"/>
              </a:rPr>
              <a:t>OLIGO-K</a:t>
            </a:r>
          </a:p>
        </p:txBody>
      </p:sp>
      <p:sp>
        <p:nvSpPr>
          <p:cNvPr id="6" name="text-5">
            <a:extLst xmlns:a="http://schemas.openxmlformats.org/drawingml/2006/main">
              <a:ext uri="{FF2B5EF4-FFF2-40B4-BE49-F238E27FC236}">
                <a16:creationId xmlns:a16="http://schemas.microsoft.com/office/drawing/2014/main" id="{E3ADC529-9CCE-433E-BF31-97DF7602D99C}"/>
              </a:ext>
            </a:extLst>
          </p:cNvPr>
          <p:cNvSpPr>
            <a:spLocks xmlns:a="http://schemas.openxmlformats.org/drawingml/2006/main" noGrp="1"/>
          </p:cNvSpPr>
          <p:nvPr/>
        </p:nvSpPr>
        <p:spPr>
          <a:xfrm xmlns:a="http://schemas.openxmlformats.org/drawingml/2006/main">
            <a:off x="11049000" y="64674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1">
                <a:solidFill>
                  <a:srgbClr val="087F82"/>
                </a:solidFill>
                <a:latin typeface="Arial"/>
                <a:ea typeface="Arial"/>
                <a:cs typeface="Arial"/>
              </a:defRPr>
            </a:pPr>
            <a:r>
              <a:rPr sz="1350" b="1">
                <a:solidFill>
                  <a:srgbClr val="087F82"/>
                </a:solidFill>
                <a:latin typeface="Arial"/>
                <a:ea typeface="Arial"/>
                <a:cs typeface="Arial"/>
              </a:rPr>
              <a:t>20</a:t>
            </a:r>
          </a:p>
        </p:txBody>
      </p:sp>
      <p:sp>
        <p:nvSpPr>
          <p:cNvPr id="7" name="text-6">
            <a:extLst xmlns:a="http://schemas.openxmlformats.org/drawingml/2006/main">
              <a:ext uri="{FF2B5EF4-FFF2-40B4-BE49-F238E27FC236}">
                <a16:creationId xmlns:a16="http://schemas.microsoft.com/office/drawing/2014/main" id="{C9871F5A-5BC4-488E-AB26-0C9C2F40943D}"/>
              </a:ext>
            </a:extLst>
          </p:cNvPr>
          <p:cNvSpPr>
            <a:spLocks xmlns:a="http://schemas.openxmlformats.org/drawingml/2006/main" noGrp="1"/>
          </p:cNvSpPr>
          <p:nvPr/>
        </p:nvSpPr>
        <p:spPr>
          <a:xfrm xmlns:a="http://schemas.openxmlformats.org/drawingml/2006/main">
            <a:off x="571500" y="22098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36B78"/>
                </a:solidFill>
                <a:latin typeface="Malgun Gothic"/>
                <a:ea typeface="Malgun Gothic"/>
                <a:cs typeface="Malgun Gothic"/>
              </a:defRPr>
            </a:pPr>
            <a:r>
              <a:rPr sz="2025" b="0">
                <a:solidFill>
                  <a:srgbClr val="536B78"/>
                </a:solidFill>
                <a:latin typeface="Malgun Gothic"/>
                <a:ea typeface="Malgun Gothic"/>
                <a:cs typeface="Malgun Gothic"/>
              </a:rPr>
              <a:t>과거 12개월은 lag 구성에 사용</a:t>
            </a:r>
          </a:p>
        </p:txBody>
      </p:sp>
      <p:sp>
        <p:nvSpPr>
          <p:cNvPr id="8" name="">
            <a:extLst xmlns:a="http://schemas.openxmlformats.org/drawingml/2006/main">
              <a:ext uri="{FF2B5EF4-FFF2-40B4-BE49-F238E27FC236}">
                <a16:creationId xmlns:a16="http://schemas.microsoft.com/office/drawing/2014/main" id="{426EB7BF-7DF5-4C69-A020-09E9C38D19BB}"/>
              </a:ext>
            </a:extLst>
          </p:cNvPr>
          <p:cNvSpPr>
            <a:spLocks xmlns:a="http://schemas.openxmlformats.org/drawingml/2006/main" noGrp="1"/>
          </p:cNvSpPr>
          <p:nvPr/>
        </p:nvSpPr>
        <p:spPr>
          <a:xfrm xmlns:a="http://schemas.openxmlformats.org/drawingml/2006/main">
            <a:off x="571500" y="3095625"/>
            <a:ext cx="5857875" cy="1619250"/>
          </a:xfrm>
          <a:prstGeom xmlns:a="http://schemas.openxmlformats.org/drawingml/2006/main" prst="rect">
            <a:avLst/>
          </a:prstGeom>
          <a:solidFill xmlns:a="http://schemas.openxmlformats.org/drawingml/2006/main">
            <a:srgbClr val="E5F2ED"/>
          </a:solidFill>
          <a:ln xmlns:a="http://schemas.openxmlformats.org/drawingml/2006/main" w="9525">
            <a:solidFill>
              <a:srgbClr val="CDD8D9"/>
            </a:solidFill>
          </a:ln>
        </p:spPr>
      </p:sp>
      <p:sp>
        <p:nvSpPr>
          <p:cNvPr id="9" name="text-8">
            <a:extLst xmlns:a="http://schemas.openxmlformats.org/drawingml/2006/main">
              <a:ext uri="{FF2B5EF4-FFF2-40B4-BE49-F238E27FC236}">
                <a16:creationId xmlns:a16="http://schemas.microsoft.com/office/drawing/2014/main" id="{70B00F2D-9EE9-47FA-A716-01C39AE71F7B}"/>
              </a:ext>
            </a:extLst>
          </p:cNvPr>
          <p:cNvSpPr>
            <a:spLocks xmlns:a="http://schemas.openxmlformats.org/drawingml/2006/main" noGrp="1"/>
          </p:cNvSpPr>
          <p:nvPr/>
        </p:nvSpPr>
        <p:spPr>
          <a:xfrm xmlns:a="http://schemas.openxmlformats.org/drawingml/2006/main">
            <a:off x="723900" y="3276600"/>
            <a:ext cx="5553075"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TRAIN</a:t>
            </a:r>
          </a:p>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2025.01–11</a:t>
            </a:r>
          </a:p>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11개 월</a:t>
            </a:r>
          </a:p>
        </p:txBody>
      </p:sp>
      <p:sp>
        <p:nvSpPr>
          <p:cNvPr id="10" name="">
            <a:extLst xmlns:a="http://schemas.openxmlformats.org/drawingml/2006/main">
              <a:ext uri="{FF2B5EF4-FFF2-40B4-BE49-F238E27FC236}">
                <a16:creationId xmlns:a16="http://schemas.microsoft.com/office/drawing/2014/main" id="{FE7E9723-B3F7-49DA-BF5E-BA59FEDBD5B5}"/>
              </a:ext>
            </a:extLst>
          </p:cNvPr>
          <p:cNvSpPr>
            <a:spLocks xmlns:a="http://schemas.openxmlformats.org/drawingml/2006/main" noGrp="1"/>
          </p:cNvSpPr>
          <p:nvPr/>
        </p:nvSpPr>
        <p:spPr>
          <a:xfrm xmlns:a="http://schemas.openxmlformats.org/drawingml/2006/main">
            <a:off x="6619875" y="3095625"/>
            <a:ext cx="2381250" cy="1619250"/>
          </a:xfrm>
          <a:prstGeom xmlns:a="http://schemas.openxmlformats.org/drawingml/2006/main" prst="rect">
            <a:avLst/>
          </a:prstGeom>
          <a:solidFill xmlns:a="http://schemas.openxmlformats.org/drawingml/2006/main">
            <a:srgbClr val="FFFFFF"/>
          </a:solidFill>
          <a:ln xmlns:a="http://schemas.openxmlformats.org/drawingml/2006/main" w="9525">
            <a:solidFill>
              <a:srgbClr val="CDD8D9"/>
            </a:solidFill>
          </a:ln>
        </p:spPr>
      </p:sp>
      <p:sp>
        <p:nvSpPr>
          <p:cNvPr id="11" name="text-10">
            <a:extLst xmlns:a="http://schemas.openxmlformats.org/drawingml/2006/main">
              <a:ext uri="{FF2B5EF4-FFF2-40B4-BE49-F238E27FC236}">
                <a16:creationId xmlns:a16="http://schemas.microsoft.com/office/drawing/2014/main" id="{0A46D6DA-661E-40EB-89EA-8122F09B342C}"/>
              </a:ext>
            </a:extLst>
          </p:cNvPr>
          <p:cNvSpPr>
            <a:spLocks xmlns:a="http://schemas.openxmlformats.org/drawingml/2006/main" noGrp="1"/>
          </p:cNvSpPr>
          <p:nvPr/>
        </p:nvSpPr>
        <p:spPr>
          <a:xfrm xmlns:a="http://schemas.openxmlformats.org/drawingml/2006/main">
            <a:off x="6772275" y="3276600"/>
            <a:ext cx="207645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VALIDATION</a:t>
            </a:r>
          </a:p>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2025.12–2026.02</a:t>
            </a:r>
          </a:p>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3개 월</a:t>
            </a:r>
          </a:p>
        </p:txBody>
      </p:sp>
      <p:sp>
        <p:nvSpPr>
          <p:cNvPr id="12" name="">
            <a:extLst xmlns:a="http://schemas.openxmlformats.org/drawingml/2006/main">
              <a:ext uri="{FF2B5EF4-FFF2-40B4-BE49-F238E27FC236}">
                <a16:creationId xmlns:a16="http://schemas.microsoft.com/office/drawing/2014/main" id="{00359391-46E4-4AB2-805E-DFA1D4A44A00}"/>
              </a:ext>
            </a:extLst>
          </p:cNvPr>
          <p:cNvSpPr>
            <a:spLocks xmlns:a="http://schemas.openxmlformats.org/drawingml/2006/main" noGrp="1"/>
          </p:cNvSpPr>
          <p:nvPr/>
        </p:nvSpPr>
        <p:spPr>
          <a:xfrm xmlns:a="http://schemas.openxmlformats.org/drawingml/2006/main">
            <a:off x="9191625" y="3095625"/>
            <a:ext cx="2381250" cy="1619250"/>
          </a:xfrm>
          <a:prstGeom xmlns:a="http://schemas.openxmlformats.org/drawingml/2006/main" prst="rect">
            <a:avLst/>
          </a:prstGeom>
          <a:solidFill xmlns:a="http://schemas.openxmlformats.org/drawingml/2006/main">
            <a:srgbClr val="FFFFFF"/>
          </a:solidFill>
          <a:ln xmlns:a="http://schemas.openxmlformats.org/drawingml/2006/main" w="9525">
            <a:solidFill>
              <a:srgbClr val="CDD8D9"/>
            </a:solidFill>
          </a:ln>
        </p:spPr>
      </p:sp>
      <p:sp>
        <p:nvSpPr>
          <p:cNvPr id="13" name="text-12">
            <a:extLst xmlns:a="http://schemas.openxmlformats.org/drawingml/2006/main">
              <a:ext uri="{FF2B5EF4-FFF2-40B4-BE49-F238E27FC236}">
                <a16:creationId xmlns:a16="http://schemas.microsoft.com/office/drawing/2014/main" id="{F49DA6BA-9723-4B5B-B932-0E9C8A869C6C}"/>
              </a:ext>
            </a:extLst>
          </p:cNvPr>
          <p:cNvSpPr>
            <a:spLocks xmlns:a="http://schemas.openxmlformats.org/drawingml/2006/main" noGrp="1"/>
          </p:cNvSpPr>
          <p:nvPr/>
        </p:nvSpPr>
        <p:spPr>
          <a:xfrm xmlns:a="http://schemas.openxmlformats.org/drawingml/2006/main">
            <a:off x="9344025" y="3276600"/>
            <a:ext cx="207645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TEST</a:t>
            </a:r>
          </a:p>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2026.03–06</a:t>
            </a:r>
          </a:p>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4개 월</a:t>
            </a:r>
          </a:p>
        </p:txBody>
      </p:sp>
      <p:sp>
        <p:nvSpPr>
          <p:cNvPr id="14" name="text-13">
            <a:extLst xmlns:a="http://schemas.openxmlformats.org/drawingml/2006/main">
              <a:ext uri="{FF2B5EF4-FFF2-40B4-BE49-F238E27FC236}">
                <a16:creationId xmlns:a16="http://schemas.microsoft.com/office/drawing/2014/main" id="{C5C50B1A-8C6B-4E1C-900B-B4229B2E1752}"/>
              </a:ext>
            </a:extLst>
          </p:cNvPr>
          <p:cNvSpPr>
            <a:spLocks xmlns:a="http://schemas.openxmlformats.org/drawingml/2006/main" noGrp="1"/>
          </p:cNvSpPr>
          <p:nvPr/>
        </p:nvSpPr>
        <p:spPr>
          <a:xfrm xmlns:a="http://schemas.openxmlformats.org/drawingml/2006/main">
            <a:off x="571500" y="5267325"/>
            <a:ext cx="11049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02F40"/>
                </a:solidFill>
                <a:latin typeface="Malgun Gothic"/>
                <a:ea typeface="Malgun Gothic"/>
                <a:cs typeface="Malgun Gothic"/>
              </a:defRPr>
            </a:pPr>
            <a:r>
              <a:rPr sz="2325" b="1">
                <a:solidFill>
                  <a:srgbClr val="102F40"/>
                </a:solidFill>
                <a:latin typeface="Malgun Gothic"/>
                <a:ea typeface="Malgun Gothic"/>
                <a:cs typeface="Malgun Gothic"/>
              </a:rPr>
              <a:t>검증 후에만 전체 관측값으로 최종 모델을 다시 학습합니다.</a:t>
            </a:r>
          </a:p>
        </p:txBody>
      </p:sp>
    </p:spTree>
    <p:extLst>
      <p:ext uri="{BB962C8B-B14F-4D97-AF65-F5344CB8AC3E}">
        <p14:creationId xmlns:p14="http://schemas.microsoft.com/office/powerpoint/2010/main" val="2099958543"/>
      </p:ext>
    </p:extLst>
  </p:cSld>
</p:sld>
</file>

<file path=ppt/slides/slide21.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2" name="text-0.42542164793587234">
            <a:extLst xmlns:a="http://schemas.openxmlformats.org/drawingml/2006/main">
              <a:ext uri="{FF2B5EF4-FFF2-40B4-BE49-F238E27FC236}">
                <a16:creationId xmlns:a16="http://schemas.microsoft.com/office/drawing/2014/main" id="{6BFCF37D-F7C6-46D3-BD89-947CAE83F41F}"/>
              </a:ext>
            </a:extLst>
          </p:cNvPr>
          <p:cNvSpPr>
            <a:spLocks xmlns:a="http://schemas.openxmlformats.org/drawingml/2006/main" noGrp="1"/>
          </p:cNvSpPr>
          <p:nvPr/>
        </p:nvSpPr>
        <p:spPr>
          <a:xfrm xmlns:a="http://schemas.openxmlformats.org/drawingml/2006/main">
            <a:off x="571500" y="3048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87F82"/>
                </a:solidFill>
                <a:latin typeface="Malgun Gothic"/>
                <a:ea typeface="Malgun Gothic"/>
                <a:cs typeface="Malgun Gothic"/>
              </a:defRPr>
            </a:pPr>
            <a:r>
              <a:rPr sz="1200" b="1">
                <a:solidFill>
                  <a:srgbClr val="087F82"/>
                </a:solidFill>
                <a:latin typeface="Malgun Gothic"/>
                <a:ea typeface="Malgun Gothic"/>
                <a:cs typeface="Malgun Gothic"/>
              </a:rPr>
              <a:t>03 시스템과 데이터</a:t>
            </a:r>
          </a:p>
        </p:txBody>
      </p:sp>
      <p:sp>
        <p:nvSpPr>
          <p:cNvPr id="2" name="text-1">
            <a:extLst xmlns:a="http://schemas.openxmlformats.org/drawingml/2006/main">
              <a:ext uri="{FF2B5EF4-FFF2-40B4-BE49-F238E27FC236}">
                <a16:creationId xmlns:a16="http://schemas.microsoft.com/office/drawing/2014/main" id="{A3A6C96D-E1C9-4E99-9598-F472DB91799F}"/>
              </a:ext>
            </a:extLst>
          </p:cNvPr>
          <p:cNvSpPr>
            <a:spLocks xmlns:a="http://schemas.openxmlformats.org/drawingml/2006/main" noGrp="1"/>
          </p:cNvSpPr>
          <p:nvPr/>
        </p:nvSpPr>
        <p:spPr>
          <a:xfrm xmlns:a="http://schemas.openxmlformats.org/drawingml/2006/main">
            <a:off x="571500" y="76200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02F40"/>
                </a:solidFill>
                <a:latin typeface="Malgun Gothic"/>
                <a:ea typeface="Malgun Gothic"/>
                <a:cs typeface="Malgun Gothic"/>
              </a:defRPr>
            </a:pPr>
            <a:r>
              <a:rPr sz="3300" b="1">
                <a:solidFill>
                  <a:srgbClr val="102F40"/>
                </a:solidFill>
                <a:latin typeface="Malgun Gothic"/>
                <a:ea typeface="Malgun Gothic"/>
                <a:cs typeface="Malgun Gothic"/>
              </a:rPr>
              <a:t>모델을 복잡하게 만들기보다 제한을 둡니다</a:t>
            </a:r>
          </a:p>
        </p:txBody>
      </p:sp>
      <p:sp>
        <p:nvSpPr>
          <p:cNvPr id="3" name="">
            <a:extLst xmlns:a="http://schemas.openxmlformats.org/drawingml/2006/main">
              <a:ext uri="{FF2B5EF4-FFF2-40B4-BE49-F238E27FC236}">
                <a16:creationId xmlns:a16="http://schemas.microsoft.com/office/drawing/2014/main" id="{3A7E9723-9B49-4ECC-BF00-F763258799CC}"/>
              </a:ext>
            </a:extLst>
          </p:cNvPr>
          <p:cNvSpPr>
            <a:spLocks xmlns:a="http://schemas.openxmlformats.org/drawingml/2006/main" noGrp="1"/>
          </p:cNvSpPr>
          <p:nvPr/>
        </p:nvSpPr>
        <p:spPr>
          <a:xfrm xmlns:a="http://schemas.openxmlformats.org/drawingml/2006/main">
            <a:off x="571500" y="6324600"/>
            <a:ext cx="11049000" cy="0"/>
          </a:xfrm>
          <a:prstGeom xmlns:a="http://schemas.openxmlformats.org/drawingml/2006/main" prst="line">
            <a:avLst/>
          </a:prstGeom>
          <a:noFill xmlns:a="http://schemas.openxmlformats.org/drawingml/2006/main"/>
          <a:ln xmlns:a="http://schemas.openxmlformats.org/drawingml/2006/main" w="9525">
            <a:solidFill>
              <a:srgbClr val="CDD8D9"/>
            </a:solidFill>
            <a:prstDash val="solid"/>
          </a:ln>
        </p:spPr>
      </p:sp>
      <p:sp>
        <p:nvSpPr>
          <p:cNvPr id="4" name="text-3">
            <a:extLst xmlns:a="http://schemas.openxmlformats.org/drawingml/2006/main">
              <a:ext uri="{FF2B5EF4-FFF2-40B4-BE49-F238E27FC236}">
                <a16:creationId xmlns:a16="http://schemas.microsoft.com/office/drawing/2014/main" id="{ABFAD9B0-C595-4206-A6CC-4D5317BAB20B}"/>
              </a:ext>
            </a:extLst>
          </p:cNvPr>
          <p:cNvSpPr>
            <a:spLocks xmlns:a="http://schemas.openxmlformats.org/drawingml/2006/main" noGrp="1"/>
          </p:cNvSpPr>
          <p:nvPr/>
        </p:nvSpPr>
        <p:spPr>
          <a:xfrm xmlns:a="http://schemas.openxmlformats.org/drawingml/2006/main">
            <a:off x="571500" y="64960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36B78"/>
                </a:solidFill>
                <a:latin typeface="Arial"/>
                <a:ea typeface="Arial"/>
                <a:cs typeface="Arial"/>
              </a:defRPr>
            </a:pPr>
            <a:r>
              <a:rPr sz="1050" b="1">
                <a:solidFill>
                  <a:srgbClr val="536B78"/>
                </a:solidFill>
                <a:latin typeface="Arial"/>
                <a:ea typeface="Arial"/>
                <a:cs typeface="Arial"/>
              </a:rPr>
              <a:t>OLIGO-K</a:t>
            </a:r>
          </a:p>
        </p:txBody>
      </p:sp>
      <p:sp>
        <p:nvSpPr>
          <p:cNvPr id="5" name="text-4">
            <a:extLst xmlns:a="http://schemas.openxmlformats.org/drawingml/2006/main">
              <a:ext uri="{FF2B5EF4-FFF2-40B4-BE49-F238E27FC236}">
                <a16:creationId xmlns:a16="http://schemas.microsoft.com/office/drawing/2014/main" id="{8F7BE002-692A-4701-9B01-E1A4BB1C1E76}"/>
              </a:ext>
            </a:extLst>
          </p:cNvPr>
          <p:cNvSpPr>
            <a:spLocks xmlns:a="http://schemas.openxmlformats.org/drawingml/2006/main" noGrp="1"/>
          </p:cNvSpPr>
          <p:nvPr/>
        </p:nvSpPr>
        <p:spPr>
          <a:xfrm xmlns:a="http://schemas.openxmlformats.org/drawingml/2006/main">
            <a:off x="11049000" y="64674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1">
                <a:solidFill>
                  <a:srgbClr val="087F82"/>
                </a:solidFill>
                <a:latin typeface="Arial"/>
                <a:ea typeface="Arial"/>
                <a:cs typeface="Arial"/>
              </a:defRPr>
            </a:pPr>
            <a:r>
              <a:rPr sz="1350" b="1">
                <a:solidFill>
                  <a:srgbClr val="087F82"/>
                </a:solidFill>
                <a:latin typeface="Arial"/>
                <a:ea typeface="Arial"/>
                <a:cs typeface="Arial"/>
              </a:rPr>
              <a:t>21</a:t>
            </a:r>
          </a:p>
        </p:txBody>
      </p:sp>
      <p:sp>
        <p:nvSpPr>
          <p:cNvPr id="6" name="text-5">
            <a:extLst xmlns:a="http://schemas.openxmlformats.org/drawingml/2006/main">
              <a:ext uri="{FF2B5EF4-FFF2-40B4-BE49-F238E27FC236}">
                <a16:creationId xmlns:a16="http://schemas.microsoft.com/office/drawing/2014/main" id="{43D3515A-383C-4EE4-B2DC-71C89AA35E2C}"/>
              </a:ext>
            </a:extLst>
          </p:cNvPr>
          <p:cNvSpPr>
            <a:spLocks xmlns:a="http://schemas.openxmlformats.org/drawingml/2006/main" noGrp="1"/>
          </p:cNvSpPr>
          <p:nvPr/>
        </p:nvSpPr>
        <p:spPr>
          <a:xfrm xmlns:a="http://schemas.openxmlformats.org/drawingml/2006/main">
            <a:off x="571500" y="2190750"/>
            <a:ext cx="5429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087F82"/>
                </a:solidFill>
                <a:latin typeface="Arial"/>
                <a:ea typeface="Arial"/>
                <a:cs typeface="Arial"/>
              </a:defRPr>
            </a:pPr>
            <a:r>
              <a:rPr sz="3150" b="1">
                <a:solidFill>
                  <a:srgbClr val="087F82"/>
                </a:solidFill>
                <a:latin typeface="Arial"/>
                <a:ea typeface="Arial"/>
                <a:cs typeface="Arial"/>
              </a:rPr>
              <a:t>Random Forest</a:t>
            </a:r>
          </a:p>
        </p:txBody>
      </p:sp>
      <p:sp>
        <p:nvSpPr>
          <p:cNvPr id="7" name="text-6">
            <a:extLst xmlns:a="http://schemas.openxmlformats.org/drawingml/2006/main">
              <a:ext uri="{FF2B5EF4-FFF2-40B4-BE49-F238E27FC236}">
                <a16:creationId xmlns:a16="http://schemas.microsoft.com/office/drawing/2014/main" id="{69427429-9A7F-48EF-B55F-983DC0B46AED}"/>
              </a:ext>
            </a:extLst>
          </p:cNvPr>
          <p:cNvSpPr>
            <a:spLocks xmlns:a="http://schemas.openxmlformats.org/drawingml/2006/main" noGrp="1"/>
          </p:cNvSpPr>
          <p:nvPr/>
        </p:nvSpPr>
        <p:spPr>
          <a:xfrm xmlns:a="http://schemas.openxmlformats.org/drawingml/2006/main">
            <a:off x="571500" y="2981325"/>
            <a:ext cx="5286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02F40"/>
                </a:solidFill>
                <a:latin typeface="Malgun Gothic"/>
                <a:ea typeface="Malgun Gothic"/>
                <a:cs typeface="Malgun Gothic"/>
              </a:defRPr>
            </a:pPr>
            <a:r>
              <a:rPr sz="2100" b="1">
                <a:solidFill>
                  <a:srgbClr val="102F40"/>
                </a:solidFill>
                <a:latin typeface="Malgun Gothic"/>
                <a:ea typeface="Malgun Gothic"/>
                <a:cs typeface="Malgun Gothic"/>
              </a:rPr>
              <a:t>방문자 수·목적지 검색량</a:t>
            </a:r>
          </a:p>
        </p:txBody>
      </p:sp>
      <p:sp>
        <p:nvSpPr>
          <p:cNvPr id="8" name="text-7">
            <a:extLst xmlns:a="http://schemas.openxmlformats.org/drawingml/2006/main">
              <a:ext uri="{FF2B5EF4-FFF2-40B4-BE49-F238E27FC236}">
                <a16:creationId xmlns:a16="http://schemas.microsoft.com/office/drawing/2014/main" id="{D4DF7BDC-5492-4A0B-A4DA-DEC2F263360D}"/>
              </a:ext>
            </a:extLst>
          </p:cNvPr>
          <p:cNvSpPr>
            <a:spLocks xmlns:a="http://schemas.openxmlformats.org/drawingml/2006/main" noGrp="1"/>
          </p:cNvSpPr>
          <p:nvPr/>
        </p:nvSpPr>
        <p:spPr>
          <a:xfrm xmlns:a="http://schemas.openxmlformats.org/drawingml/2006/main">
            <a:off x="571500" y="3771900"/>
            <a:ext cx="52197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36B78"/>
                </a:solidFill>
                <a:latin typeface="Malgun Gothic"/>
                <a:ea typeface="Malgun Gothic"/>
                <a:cs typeface="Malgun Gothic"/>
              </a:defRPr>
            </a:pPr>
            <a:r>
              <a:rPr sz="2100" b="0">
                <a:solidFill>
                  <a:srgbClr val="536B78"/>
                </a:solidFill>
                <a:latin typeface="Malgun Gothic"/>
                <a:ea typeface="Malgun Gothic"/>
                <a:cs typeface="Malgun Gothic"/>
              </a:rPr>
              <a:t>결정트리 300개</a:t>
            </a:r>
          </a:p>
          <a:p xmlns:a="http://schemas.openxmlformats.org/drawingml/2006/main">
            <a:pPr algn="l">
              <a:defRPr sz="2100" b="0">
                <a:solidFill>
                  <a:srgbClr val="536B78"/>
                </a:solidFill>
                <a:latin typeface="Malgun Gothic"/>
                <a:ea typeface="Malgun Gothic"/>
                <a:cs typeface="Malgun Gothic"/>
              </a:defRPr>
            </a:pPr>
            <a:r>
              <a:rPr sz="2100" b="0">
                <a:solidFill>
                  <a:srgbClr val="536B78"/>
                </a:solidFill>
                <a:latin typeface="Malgun Gothic"/>
                <a:ea typeface="Malgun Gothic"/>
                <a:cs typeface="Malgun Gothic"/>
              </a:rPr>
              <a:t>최대 깊이 3</a:t>
            </a:r>
          </a:p>
          <a:p xmlns:a="http://schemas.openxmlformats.org/drawingml/2006/main">
            <a:pPr algn="l">
              <a:defRPr sz="2100" b="0">
                <a:solidFill>
                  <a:srgbClr val="536B78"/>
                </a:solidFill>
                <a:latin typeface="Malgun Gothic"/>
                <a:ea typeface="Malgun Gothic"/>
                <a:cs typeface="Malgun Gothic"/>
              </a:defRPr>
            </a:pPr>
            <a:r>
              <a:rPr sz="2100" b="0">
                <a:solidFill>
                  <a:srgbClr val="536B78"/>
                </a:solidFill>
                <a:latin typeface="Malgun Gothic"/>
                <a:ea typeface="Malgun Gothic"/>
                <a:cs typeface="Malgun Gothic"/>
              </a:rPr>
              <a:t>잎의 최소 표본 2</a:t>
            </a:r>
          </a:p>
          <a:p xmlns:a="http://schemas.openxmlformats.org/drawingml/2006/main">
            <a:pPr algn="l">
              <a:defRPr sz="2100" b="0">
                <a:solidFill>
                  <a:srgbClr val="536B78"/>
                </a:solidFill>
                <a:latin typeface="Malgun Gothic"/>
                <a:ea typeface="Malgun Gothic"/>
                <a:cs typeface="Malgun Gothic"/>
              </a:defRPr>
            </a:pPr>
            <a:r>
              <a:rPr sz="2100" b="0">
                <a:solidFill>
                  <a:srgbClr val="536B78"/>
                </a:solidFill>
                <a:latin typeface="Malgun Gothic"/>
                <a:ea typeface="Malgun Gothic"/>
                <a:cs typeface="Malgun Gothic"/>
              </a:rPr>
              <a:t>random_state = 42</a:t>
            </a:r>
          </a:p>
        </p:txBody>
      </p:sp>
      <p:sp>
        <p:nvSpPr>
          <p:cNvPr id="9" name="text-8">
            <a:extLst xmlns:a="http://schemas.openxmlformats.org/drawingml/2006/main">
              <a:ext uri="{FF2B5EF4-FFF2-40B4-BE49-F238E27FC236}">
                <a16:creationId xmlns:a16="http://schemas.microsoft.com/office/drawing/2014/main" id="{85F5258C-5797-4385-9106-BE05AF7D2496}"/>
              </a:ext>
            </a:extLst>
          </p:cNvPr>
          <p:cNvSpPr>
            <a:spLocks xmlns:a="http://schemas.openxmlformats.org/drawingml/2006/main" noGrp="1"/>
          </p:cNvSpPr>
          <p:nvPr/>
        </p:nvSpPr>
        <p:spPr>
          <a:xfrm xmlns:a="http://schemas.openxmlformats.org/drawingml/2006/main">
            <a:off x="6562725" y="2190750"/>
            <a:ext cx="5238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087F82"/>
                </a:solidFill>
                <a:latin typeface="Arial"/>
                <a:ea typeface="Arial"/>
                <a:cs typeface="Arial"/>
              </a:defRPr>
            </a:pPr>
            <a:r>
              <a:rPr sz="3150" b="1">
                <a:solidFill>
                  <a:srgbClr val="087F82"/>
                </a:solidFill>
                <a:latin typeface="Arial"/>
                <a:ea typeface="Arial"/>
                <a:cs typeface="Arial"/>
              </a:rPr>
              <a:t>Linear Regression</a:t>
            </a:r>
          </a:p>
        </p:txBody>
      </p:sp>
      <p:sp>
        <p:nvSpPr>
          <p:cNvPr id="10" name="text-9">
            <a:extLst xmlns:a="http://schemas.openxmlformats.org/drawingml/2006/main">
              <a:ext uri="{FF2B5EF4-FFF2-40B4-BE49-F238E27FC236}">
                <a16:creationId xmlns:a16="http://schemas.microsoft.com/office/drawing/2014/main" id="{FF9CF3CE-F8C2-4BCE-8FD0-C5F15CFB176F}"/>
              </a:ext>
            </a:extLst>
          </p:cNvPr>
          <p:cNvSpPr>
            <a:spLocks xmlns:a="http://schemas.openxmlformats.org/drawingml/2006/main" noGrp="1"/>
          </p:cNvSpPr>
          <p:nvPr/>
        </p:nvSpPr>
        <p:spPr>
          <a:xfrm xmlns:a="http://schemas.openxmlformats.org/drawingml/2006/main">
            <a:off x="6562725" y="2981325"/>
            <a:ext cx="50577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02F40"/>
                </a:solidFill>
                <a:latin typeface="Malgun Gothic"/>
                <a:ea typeface="Malgun Gothic"/>
                <a:cs typeface="Malgun Gothic"/>
              </a:defRPr>
            </a:pPr>
            <a:r>
              <a:rPr sz="2100" b="1">
                <a:solidFill>
                  <a:srgbClr val="102F40"/>
                </a:solidFill>
                <a:latin typeface="Malgun Gothic"/>
                <a:ea typeface="Malgun Gothic"/>
                <a:cs typeface="Malgun Gothic"/>
              </a:rPr>
              <a:t>소비액·비율·숙박일·체류시간</a:t>
            </a:r>
          </a:p>
        </p:txBody>
      </p:sp>
      <p:sp>
        <p:nvSpPr>
          <p:cNvPr id="11" name="text-10">
            <a:extLst xmlns:a="http://schemas.openxmlformats.org/drawingml/2006/main">
              <a:ext uri="{FF2B5EF4-FFF2-40B4-BE49-F238E27FC236}">
                <a16:creationId xmlns:a16="http://schemas.microsoft.com/office/drawing/2014/main" id="{712C7121-3D6C-47E8-BB80-87C5AA0C80CA}"/>
              </a:ext>
            </a:extLst>
          </p:cNvPr>
          <p:cNvSpPr>
            <a:spLocks xmlns:a="http://schemas.openxmlformats.org/drawingml/2006/main" noGrp="1"/>
          </p:cNvSpPr>
          <p:nvPr/>
        </p:nvSpPr>
        <p:spPr>
          <a:xfrm xmlns:a="http://schemas.openxmlformats.org/drawingml/2006/main">
            <a:off x="6562725" y="4048125"/>
            <a:ext cx="5057775"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36B78"/>
                </a:solidFill>
                <a:latin typeface="Malgun Gothic"/>
                <a:ea typeface="Malgun Gothic"/>
                <a:cs typeface="Malgun Gothic"/>
              </a:defRPr>
            </a:pPr>
            <a:r>
              <a:rPr sz="2100" b="0">
                <a:solidFill>
                  <a:srgbClr val="536B78"/>
                </a:solidFill>
                <a:latin typeface="Malgun Gothic"/>
                <a:ea typeface="Malgun Gothic"/>
                <a:cs typeface="Malgun Gothic"/>
              </a:rPr>
              <a:t>과거 지표와 다음 달 값의 관계 학습</a:t>
            </a:r>
          </a:p>
          <a:p xmlns:a="http://schemas.openxmlformats.org/drawingml/2006/main">
            <a:pPr algn="l">
              <a:defRPr sz="2100" b="0">
                <a:solidFill>
                  <a:srgbClr val="536B78"/>
                </a:solidFill>
                <a:latin typeface="Malgun Gothic"/>
                <a:ea typeface="Malgun Gothic"/>
                <a:cs typeface="Malgun Gothic"/>
              </a:defRPr>
            </a:pPr>
            <a:r>
              <a:rPr sz="2100" b="0">
                <a:solidFill>
                  <a:srgbClr val="536B78"/>
                </a:solidFill>
                <a:latin typeface="Malgun Gothic"/>
                <a:ea typeface="Malgun Gothic"/>
                <a:cs typeface="Malgun Gothic"/>
              </a:rPr>
              <a:t>해석이 단순한 회귀 모델</a:t>
            </a:r>
          </a:p>
          <a:p xmlns:a="http://schemas.openxmlformats.org/drawingml/2006/main">
            <a:pPr algn="l">
              <a:defRPr sz="2100" b="0">
                <a:solidFill>
                  <a:srgbClr val="536B78"/>
                </a:solidFill>
                <a:latin typeface="Malgun Gothic"/>
                <a:ea typeface="Malgun Gothic"/>
                <a:cs typeface="Malgun Gothic"/>
              </a:defRPr>
            </a:pPr>
            <a:r>
              <a:rPr sz="2100" b="0">
                <a:solidFill>
                  <a:srgbClr val="536B78"/>
                </a:solidFill>
                <a:latin typeface="Malgun Gothic"/>
                <a:ea typeface="Malgun Gothic"/>
                <a:cs typeface="Malgun Gothic"/>
              </a:rPr>
              <a:t>전년 동월 기준선과 함께 평가</a:t>
            </a:r>
          </a:p>
        </p:txBody>
      </p:sp>
    </p:spTree>
    <p:extLst>
      <p:ext uri="{BB962C8B-B14F-4D97-AF65-F5344CB8AC3E}">
        <p14:creationId xmlns:p14="http://schemas.microsoft.com/office/powerpoint/2010/main" val="344947686"/>
      </p:ext>
    </p:extLst>
  </p:cSld>
</p:sld>
</file>

<file path=ppt/slides/slide22.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0" name="text-0.18042434652324635">
            <a:extLst xmlns:a="http://schemas.openxmlformats.org/drawingml/2006/main">
              <a:ext uri="{FF2B5EF4-FFF2-40B4-BE49-F238E27FC236}">
                <a16:creationId xmlns:a16="http://schemas.microsoft.com/office/drawing/2014/main" id="{E5198C91-B109-4258-8864-3C8F2518064E}"/>
              </a:ext>
            </a:extLst>
          </p:cNvPr>
          <p:cNvSpPr>
            <a:spLocks xmlns:a="http://schemas.openxmlformats.org/drawingml/2006/main" noGrp="1"/>
          </p:cNvSpPr>
          <p:nvPr/>
        </p:nvSpPr>
        <p:spPr>
          <a:xfrm xmlns:a="http://schemas.openxmlformats.org/drawingml/2006/main">
            <a:off x="571500" y="3048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87F82"/>
                </a:solidFill>
                <a:latin typeface="Malgun Gothic"/>
                <a:ea typeface="Malgun Gothic"/>
                <a:cs typeface="Malgun Gothic"/>
              </a:defRPr>
            </a:pPr>
            <a:r>
              <a:rPr sz="1200" b="1">
                <a:solidFill>
                  <a:srgbClr val="087F82"/>
                </a:solidFill>
                <a:latin typeface="Malgun Gothic"/>
                <a:ea typeface="Malgun Gothic"/>
                <a:cs typeface="Malgun Gothic"/>
              </a:rPr>
              <a:t>03 시스템과 데이터</a:t>
            </a:r>
          </a:p>
        </p:txBody>
      </p:sp>
      <p:sp>
        <p:nvSpPr>
          <p:cNvPr id="2" name="text-1">
            <a:extLst xmlns:a="http://schemas.openxmlformats.org/drawingml/2006/main">
              <a:ext uri="{FF2B5EF4-FFF2-40B4-BE49-F238E27FC236}">
                <a16:creationId xmlns:a16="http://schemas.microsoft.com/office/drawing/2014/main" id="{2546294A-9657-4F42-A997-CD6983BA11BF}"/>
              </a:ext>
            </a:extLst>
          </p:cNvPr>
          <p:cNvSpPr>
            <a:spLocks xmlns:a="http://schemas.openxmlformats.org/drawingml/2006/main" noGrp="1"/>
          </p:cNvSpPr>
          <p:nvPr/>
        </p:nvSpPr>
        <p:spPr>
          <a:xfrm xmlns:a="http://schemas.openxmlformats.org/drawingml/2006/main">
            <a:off x="571500" y="76200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02F40"/>
                </a:solidFill>
                <a:latin typeface="Malgun Gothic"/>
                <a:ea typeface="Malgun Gothic"/>
                <a:cs typeface="Malgun Gothic"/>
              </a:defRPr>
            </a:pPr>
            <a:r>
              <a:rPr sz="3300" b="1">
                <a:solidFill>
                  <a:srgbClr val="102F40"/>
                </a:solidFill>
                <a:latin typeface="Malgun Gothic"/>
                <a:ea typeface="Malgun Gothic"/>
                <a:cs typeface="Malgun Gothic"/>
              </a:rPr>
              <a:t>원주 Test에서는 기준선의 오차가 더 작았습니다</a:t>
            </a:r>
          </a:p>
        </p:txBody>
      </p:sp>
      <p:sp>
        <p:nvSpPr>
          <p:cNvPr id="3" name="text-2">
            <a:extLst xmlns:a="http://schemas.openxmlformats.org/drawingml/2006/main">
              <a:ext uri="{FF2B5EF4-FFF2-40B4-BE49-F238E27FC236}">
                <a16:creationId xmlns:a16="http://schemas.microsoft.com/office/drawing/2014/main" id="{5E1CC5C7-6F54-4676-AF8B-4619A5D1C548}"/>
              </a:ext>
            </a:extLst>
          </p:cNvPr>
          <p:cNvSpPr>
            <a:spLocks xmlns:a="http://schemas.openxmlformats.org/drawingml/2006/main" noGrp="1"/>
          </p:cNvSpPr>
          <p:nvPr/>
        </p:nvSpPr>
        <p:spPr>
          <a:xfrm xmlns:a="http://schemas.openxmlformats.org/drawingml/2006/main">
            <a:off x="571500" y="14954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B78"/>
                </a:solidFill>
                <a:latin typeface="Malgun Gothic"/>
                <a:ea typeface="Malgun Gothic"/>
                <a:cs typeface="Malgun Gothic"/>
              </a:defRPr>
            </a:pPr>
            <a:r>
              <a:rPr sz="1725" b="0">
                <a:solidFill>
                  <a:srgbClr val="536B78"/>
                </a:solidFill>
                <a:latin typeface="Malgun Gothic"/>
                <a:ea typeface="Malgun Gothic"/>
                <a:cs typeface="Malgun Gothic"/>
              </a:rPr>
              <a:t>MAPE(%) · 낮을수록 좋음 · 2026.03–06의 4개 월</a:t>
            </a:r>
          </a:p>
        </p:txBody>
      </p:sp>
      <p:sp>
        <p:nvSpPr>
          <p:cNvPr id="4" name="">
            <a:extLst xmlns:a="http://schemas.openxmlformats.org/drawingml/2006/main">
              <a:ext uri="{FF2B5EF4-FFF2-40B4-BE49-F238E27FC236}">
                <a16:creationId xmlns:a16="http://schemas.microsoft.com/office/drawing/2014/main" id="{779BAEC3-325F-416A-B0CC-33840F6F2EB8}"/>
              </a:ext>
            </a:extLst>
          </p:cNvPr>
          <p:cNvSpPr>
            <a:spLocks xmlns:a="http://schemas.openxmlformats.org/drawingml/2006/main" noGrp="1"/>
          </p:cNvSpPr>
          <p:nvPr/>
        </p:nvSpPr>
        <p:spPr>
          <a:xfrm xmlns:a="http://schemas.openxmlformats.org/drawingml/2006/main">
            <a:off x="571500" y="6324600"/>
            <a:ext cx="11049000" cy="0"/>
          </a:xfrm>
          <a:prstGeom xmlns:a="http://schemas.openxmlformats.org/drawingml/2006/main" prst="line">
            <a:avLst/>
          </a:prstGeom>
          <a:noFill xmlns:a="http://schemas.openxmlformats.org/drawingml/2006/main"/>
          <a:ln xmlns:a="http://schemas.openxmlformats.org/drawingml/2006/main" w="9525">
            <a:solidFill>
              <a:srgbClr val="CDD8D9"/>
            </a:solidFill>
            <a:prstDash val="solid"/>
          </a:ln>
        </p:spPr>
      </p:sp>
      <p:sp>
        <p:nvSpPr>
          <p:cNvPr id="5" name="text-4">
            <a:extLst xmlns:a="http://schemas.openxmlformats.org/drawingml/2006/main">
              <a:ext uri="{FF2B5EF4-FFF2-40B4-BE49-F238E27FC236}">
                <a16:creationId xmlns:a16="http://schemas.microsoft.com/office/drawing/2014/main" id="{575EB876-0F83-4506-AFDB-D04383FCB984}"/>
              </a:ext>
            </a:extLst>
          </p:cNvPr>
          <p:cNvSpPr>
            <a:spLocks xmlns:a="http://schemas.openxmlformats.org/drawingml/2006/main" noGrp="1"/>
          </p:cNvSpPr>
          <p:nvPr/>
        </p:nvSpPr>
        <p:spPr>
          <a:xfrm xmlns:a="http://schemas.openxmlformats.org/drawingml/2006/main">
            <a:off x="571500" y="64960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36B78"/>
                </a:solidFill>
                <a:latin typeface="Arial"/>
                <a:ea typeface="Arial"/>
                <a:cs typeface="Arial"/>
              </a:defRPr>
            </a:pPr>
            <a:r>
              <a:rPr sz="1050" b="1">
                <a:solidFill>
                  <a:srgbClr val="536B78"/>
                </a:solidFill>
                <a:latin typeface="Arial"/>
                <a:ea typeface="Arial"/>
                <a:cs typeface="Arial"/>
              </a:rPr>
              <a:t>OLIGO-K</a:t>
            </a:r>
          </a:p>
        </p:txBody>
      </p:sp>
      <p:sp>
        <p:nvSpPr>
          <p:cNvPr id="6" name="text-5">
            <a:extLst xmlns:a="http://schemas.openxmlformats.org/drawingml/2006/main">
              <a:ext uri="{FF2B5EF4-FFF2-40B4-BE49-F238E27FC236}">
                <a16:creationId xmlns:a16="http://schemas.microsoft.com/office/drawing/2014/main" id="{7057A67B-23DE-4759-8B51-D4FC2027F955}"/>
              </a:ext>
            </a:extLst>
          </p:cNvPr>
          <p:cNvSpPr>
            <a:spLocks xmlns:a="http://schemas.openxmlformats.org/drawingml/2006/main" noGrp="1"/>
          </p:cNvSpPr>
          <p:nvPr/>
        </p:nvSpPr>
        <p:spPr>
          <a:xfrm xmlns:a="http://schemas.openxmlformats.org/drawingml/2006/main">
            <a:off x="11049000" y="64674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1">
                <a:solidFill>
                  <a:srgbClr val="087F82"/>
                </a:solidFill>
                <a:latin typeface="Arial"/>
                <a:ea typeface="Arial"/>
                <a:cs typeface="Arial"/>
              </a:defRPr>
            </a:pPr>
            <a:r>
              <a:rPr sz="1350" b="1">
                <a:solidFill>
                  <a:srgbClr val="087F82"/>
                </a:solidFill>
                <a:latin typeface="Arial"/>
                <a:ea typeface="Arial"/>
                <a:cs typeface="Arial"/>
              </a:rPr>
              <a:t>22</a:t>
            </a:r>
          </a:p>
        </p:txBody>
      </p:sp>
      <p:graphicFrame>
        <p:nvGraphicFramePr>
          <p:cNvPr id="16" name="Chart"/>
          <p:cNvGraphicFramePr/>
          <p:nvPr/>
        </p:nvGraphicFramePr>
        <p:xfrm>
          <a:off xmlns:a="http://schemas.openxmlformats.org/drawingml/2006/main" x="571500" y="2238375"/>
          <a:ext xmlns:a="http://schemas.openxmlformats.org/drawingml/2006/main" cx="7334250" cy="3524250"/>
        </p:xfrm>
        <a:graphic xmlns:a="http://schemas.openxmlformats.org/drawingml/2006/main">
          <a:graphicData uri="http://schemas.openxmlformats.org/drawingml/2006/chart">
            <c:chart xmlns:r="http://schemas.openxmlformats.org/officeDocument/2006/relationships" xmlns:c="http://schemas.openxmlformats.org/drawingml/2006/chart" r:id="R929f4c4d76fa4179"/>
          </a:graphicData>
        </a:graphic>
      </p:graphicFrame>
      <p:sp>
        <p:nvSpPr>
          <p:cNvPr id="8" name="text-6">
            <a:extLst xmlns:a="http://schemas.openxmlformats.org/drawingml/2006/main">
              <a:ext uri="{FF2B5EF4-FFF2-40B4-BE49-F238E27FC236}">
                <a16:creationId xmlns:a16="http://schemas.microsoft.com/office/drawing/2014/main" id="{28E1145E-7D58-4CE3-AF98-D2511D8E2116}"/>
              </a:ext>
            </a:extLst>
          </p:cNvPr>
          <p:cNvSpPr>
            <a:spLocks xmlns:a="http://schemas.openxmlformats.org/drawingml/2006/main" noGrp="1"/>
          </p:cNvSpPr>
          <p:nvPr/>
        </p:nvSpPr>
        <p:spPr>
          <a:xfrm xmlns:a="http://schemas.openxmlformats.org/drawingml/2006/main">
            <a:off x="8572500" y="2295525"/>
            <a:ext cx="30289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02F40"/>
                </a:solidFill>
                <a:latin typeface="Malgun Gothic"/>
                <a:ea typeface="Malgun Gothic"/>
                <a:cs typeface="Malgun Gothic"/>
              </a:defRPr>
            </a:pPr>
            <a:r>
              <a:rPr sz="2250" b="1">
                <a:solidFill>
                  <a:srgbClr val="102F40"/>
                </a:solidFill>
                <a:latin typeface="Malgun Gothic"/>
                <a:ea typeface="Malgun Gothic"/>
                <a:cs typeface="Malgun Gothic"/>
              </a:rPr>
              <a:t>성능을 과장하지 않는 표시</a:t>
            </a:r>
          </a:p>
        </p:txBody>
      </p:sp>
      <p:sp>
        <p:nvSpPr>
          <p:cNvPr id="9" name="text-7">
            <a:extLst xmlns:a="http://schemas.openxmlformats.org/drawingml/2006/main">
              <a:ext uri="{FF2B5EF4-FFF2-40B4-BE49-F238E27FC236}">
                <a16:creationId xmlns:a16="http://schemas.microsoft.com/office/drawing/2014/main" id="{EF5DD73C-28DF-431C-AC33-BA4C460DA214}"/>
              </a:ext>
            </a:extLst>
          </p:cNvPr>
          <p:cNvSpPr>
            <a:spLocks xmlns:a="http://schemas.openxmlformats.org/drawingml/2006/main" noGrp="1"/>
          </p:cNvSpPr>
          <p:nvPr/>
        </p:nvSpPr>
        <p:spPr>
          <a:xfrm xmlns:a="http://schemas.openxmlformats.org/drawingml/2006/main">
            <a:off x="8572500" y="3438525"/>
            <a:ext cx="3028950" cy="2105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36B78"/>
                </a:solidFill>
                <a:latin typeface="Malgun Gothic"/>
                <a:ea typeface="Malgun Gothic"/>
                <a:cs typeface="Malgun Gothic"/>
              </a:defRPr>
            </a:pPr>
            <a:r>
              <a:rPr sz="1950" b="0">
                <a:solidFill>
                  <a:srgbClr val="536B78"/>
                </a:solidFill>
                <a:latin typeface="Malgun Gothic"/>
                <a:ea typeface="Malgun Gothic"/>
                <a:cs typeface="Malgun Gothic"/>
              </a:rPr>
              <a:t>원주 방문·소비 모델 모두</a:t>
            </a:r>
          </a:p>
          <a:p xmlns:a="http://schemas.openxmlformats.org/drawingml/2006/main">
            <a:pPr algn="l">
              <a:defRPr sz="1950" b="0">
                <a:solidFill>
                  <a:srgbClr val="536B78"/>
                </a:solidFill>
                <a:latin typeface="Malgun Gothic"/>
                <a:ea typeface="Malgun Gothic"/>
                <a:cs typeface="Malgun Gothic"/>
              </a:defRPr>
            </a:pPr>
            <a:r>
              <a:rPr sz="1950" b="0">
                <a:solidFill>
                  <a:srgbClr val="536B78"/>
                </a:solidFill>
                <a:latin typeface="Malgun Gothic"/>
                <a:ea typeface="Malgun Gothic"/>
                <a:cs typeface="Malgun Gothic"/>
              </a:rPr>
              <a:t>Test 기준선보다 열세</a:t>
            </a:r>
          </a:p>
          <a:p xmlns:a="http://schemas.openxmlformats.org/drawingml/2006/main">
            <a:r>
              <a:t/>
            </a:r>
          </a:p>
          <a:p xmlns:a="http://schemas.openxmlformats.org/drawingml/2006/main">
            <a:pPr algn="l">
              <a:defRPr sz="1950" b="0">
                <a:solidFill>
                  <a:srgbClr val="536B78"/>
                </a:solidFill>
                <a:latin typeface="Malgun Gothic"/>
                <a:ea typeface="Malgun Gothic"/>
                <a:cs typeface="Malgun Gothic"/>
              </a:defRPr>
            </a:pPr>
            <a:r>
              <a:rPr sz="1950" b="0">
                <a:solidFill>
                  <a:srgbClr val="536B78"/>
                </a:solidFill>
                <a:latin typeface="Malgun Gothic"/>
                <a:ea typeface="Malgun Gothic"/>
                <a:cs typeface="Malgun Gothic"/>
              </a:rPr>
              <a:t>4개월 평가만으로</a:t>
            </a:r>
          </a:p>
          <a:p xmlns:a="http://schemas.openxmlformats.org/drawingml/2006/main">
            <a:pPr algn="l">
              <a:defRPr sz="1950" b="0">
                <a:solidFill>
                  <a:srgbClr val="536B78"/>
                </a:solidFill>
                <a:latin typeface="Malgun Gothic"/>
                <a:ea typeface="Malgun Gothic"/>
                <a:cs typeface="Malgun Gothic"/>
              </a:defRPr>
            </a:pPr>
            <a:r>
              <a:rPr sz="1950" b="0">
                <a:solidFill>
                  <a:srgbClr val="536B78"/>
                </a:solidFill>
                <a:latin typeface="Malgun Gothic"/>
                <a:ea typeface="Malgun Gothic"/>
                <a:cs typeface="Malgun Gothic"/>
              </a:rPr>
              <a:t>전국 성능을 일반화할 수 없음</a:t>
            </a:r>
          </a:p>
        </p:txBody>
      </p:sp>
    </p:spTree>
    <p:extLst>
      <p:ext uri="{BB962C8B-B14F-4D97-AF65-F5344CB8AC3E}">
        <p14:creationId xmlns:p14="http://schemas.microsoft.com/office/powerpoint/2010/main" val="797053466"/>
      </p:ext>
    </p:extLst>
  </p:cSld>
</p:sld>
</file>

<file path=ppt/slides/slide23.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25" name="text-0.7183771730556003">
            <a:extLst xmlns:a="http://schemas.openxmlformats.org/drawingml/2006/main">
              <a:ext uri="{FF2B5EF4-FFF2-40B4-BE49-F238E27FC236}">
                <a16:creationId xmlns:a16="http://schemas.microsoft.com/office/drawing/2014/main" id="{AA79CAAD-96B1-48A6-A98C-302CF0C04D48}"/>
              </a:ext>
            </a:extLst>
          </p:cNvPr>
          <p:cNvSpPr>
            <a:spLocks xmlns:a="http://schemas.openxmlformats.org/drawingml/2006/main" noGrp="1"/>
          </p:cNvSpPr>
          <p:nvPr/>
        </p:nvSpPr>
        <p:spPr>
          <a:xfrm xmlns:a="http://schemas.openxmlformats.org/drawingml/2006/main">
            <a:off x="571500" y="3048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87F82"/>
                </a:solidFill>
                <a:latin typeface="Malgun Gothic"/>
                <a:ea typeface="Malgun Gothic"/>
                <a:cs typeface="Malgun Gothic"/>
              </a:defRPr>
            </a:pPr>
            <a:r>
              <a:rPr sz="1200" b="1">
                <a:solidFill>
                  <a:srgbClr val="087F82"/>
                </a:solidFill>
                <a:latin typeface="Malgun Gothic"/>
                <a:ea typeface="Malgun Gothic"/>
                <a:cs typeface="Malgun Gothic"/>
              </a:rPr>
              <a:t>03 시스템과 데이터</a:t>
            </a:r>
          </a:p>
        </p:txBody>
      </p:sp>
      <p:sp>
        <p:nvSpPr>
          <p:cNvPr id="2" name="text-1">
            <a:extLst xmlns:a="http://schemas.openxmlformats.org/drawingml/2006/main">
              <a:ext uri="{FF2B5EF4-FFF2-40B4-BE49-F238E27FC236}">
                <a16:creationId xmlns:a16="http://schemas.microsoft.com/office/drawing/2014/main" id="{8B376D2F-5BEB-4156-8BF2-81710C51D65F}"/>
              </a:ext>
            </a:extLst>
          </p:cNvPr>
          <p:cNvSpPr>
            <a:spLocks xmlns:a="http://schemas.openxmlformats.org/drawingml/2006/main" noGrp="1"/>
          </p:cNvSpPr>
          <p:nvPr/>
        </p:nvSpPr>
        <p:spPr>
          <a:xfrm xmlns:a="http://schemas.openxmlformats.org/drawingml/2006/main">
            <a:off x="571500" y="76200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02F40"/>
                </a:solidFill>
                <a:latin typeface="Malgun Gothic"/>
                <a:ea typeface="Malgun Gothic"/>
                <a:cs typeface="Malgun Gothic"/>
              </a:defRPr>
            </a:pPr>
            <a:r>
              <a:rPr sz="3300" b="1">
                <a:solidFill>
                  <a:srgbClr val="102F40"/>
                </a:solidFill>
                <a:latin typeface="Malgun Gothic"/>
                <a:ea typeface="Malgun Gothic"/>
                <a:cs typeface="Malgun Gothic"/>
              </a:rPr>
              <a:t>여러 달의 전망은 앞선 예측을 다시 사용합니다</a:t>
            </a:r>
          </a:p>
        </p:txBody>
      </p:sp>
      <p:sp>
        <p:nvSpPr>
          <p:cNvPr id="3" name="text-2">
            <a:extLst xmlns:a="http://schemas.openxmlformats.org/drawingml/2006/main">
              <a:ext uri="{FF2B5EF4-FFF2-40B4-BE49-F238E27FC236}">
                <a16:creationId xmlns:a16="http://schemas.microsoft.com/office/drawing/2014/main" id="{4737FE7B-052D-4833-BA6C-0EC0979FA4DD}"/>
              </a:ext>
            </a:extLst>
          </p:cNvPr>
          <p:cNvSpPr>
            <a:spLocks xmlns:a="http://schemas.openxmlformats.org/drawingml/2006/main" noGrp="1"/>
          </p:cNvSpPr>
          <p:nvPr/>
        </p:nvSpPr>
        <p:spPr>
          <a:xfrm xmlns:a="http://schemas.openxmlformats.org/drawingml/2006/main">
            <a:off x="571500" y="14954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B78"/>
                </a:solidFill>
                <a:latin typeface="Malgun Gothic"/>
                <a:ea typeface="Malgun Gothic"/>
                <a:cs typeface="Malgun Gothic"/>
              </a:defRPr>
            </a:pPr>
            <a:r>
              <a:rPr sz="1725" b="0">
                <a:solidFill>
                  <a:srgbClr val="536B78"/>
                </a:solidFill>
                <a:latin typeface="Malgun Gothic"/>
                <a:ea typeface="Malgun Gothic"/>
                <a:cs typeface="Malgun Gothic"/>
              </a:rPr>
              <a:t>관측 공백을 채우는 월과 실제 사업기간을 구분합니다.</a:t>
            </a:r>
          </a:p>
        </p:txBody>
      </p:sp>
      <p:sp>
        <p:nvSpPr>
          <p:cNvPr id="4" name="">
            <a:extLst xmlns:a="http://schemas.openxmlformats.org/drawingml/2006/main">
              <a:ext uri="{FF2B5EF4-FFF2-40B4-BE49-F238E27FC236}">
                <a16:creationId xmlns:a16="http://schemas.microsoft.com/office/drawing/2014/main" id="{73E7522E-CDBE-461C-BC7B-B06E3FE73618}"/>
              </a:ext>
            </a:extLst>
          </p:cNvPr>
          <p:cNvSpPr>
            <a:spLocks xmlns:a="http://schemas.openxmlformats.org/drawingml/2006/main" noGrp="1"/>
          </p:cNvSpPr>
          <p:nvPr/>
        </p:nvSpPr>
        <p:spPr>
          <a:xfrm xmlns:a="http://schemas.openxmlformats.org/drawingml/2006/main">
            <a:off x="571500" y="6324600"/>
            <a:ext cx="11049000" cy="0"/>
          </a:xfrm>
          <a:prstGeom xmlns:a="http://schemas.openxmlformats.org/drawingml/2006/main" prst="line">
            <a:avLst/>
          </a:prstGeom>
          <a:noFill xmlns:a="http://schemas.openxmlformats.org/drawingml/2006/main"/>
          <a:ln xmlns:a="http://schemas.openxmlformats.org/drawingml/2006/main" w="9525">
            <a:solidFill>
              <a:srgbClr val="CDD8D9"/>
            </a:solidFill>
            <a:prstDash val="solid"/>
          </a:ln>
        </p:spPr>
      </p:sp>
      <p:sp>
        <p:nvSpPr>
          <p:cNvPr id="5" name="text-4">
            <a:extLst xmlns:a="http://schemas.openxmlformats.org/drawingml/2006/main">
              <a:ext uri="{FF2B5EF4-FFF2-40B4-BE49-F238E27FC236}">
                <a16:creationId xmlns:a16="http://schemas.microsoft.com/office/drawing/2014/main" id="{08D69595-8D18-4CD3-9421-8302795603DC}"/>
              </a:ext>
            </a:extLst>
          </p:cNvPr>
          <p:cNvSpPr>
            <a:spLocks xmlns:a="http://schemas.openxmlformats.org/drawingml/2006/main" noGrp="1"/>
          </p:cNvSpPr>
          <p:nvPr/>
        </p:nvSpPr>
        <p:spPr>
          <a:xfrm xmlns:a="http://schemas.openxmlformats.org/drawingml/2006/main">
            <a:off x="571500" y="64960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36B78"/>
                </a:solidFill>
                <a:latin typeface="Arial"/>
                <a:ea typeface="Arial"/>
                <a:cs typeface="Arial"/>
              </a:defRPr>
            </a:pPr>
            <a:r>
              <a:rPr sz="1050" b="1">
                <a:solidFill>
                  <a:srgbClr val="536B78"/>
                </a:solidFill>
                <a:latin typeface="Arial"/>
                <a:ea typeface="Arial"/>
                <a:cs typeface="Arial"/>
              </a:rPr>
              <a:t>OLIGO-K</a:t>
            </a:r>
          </a:p>
        </p:txBody>
      </p:sp>
      <p:sp>
        <p:nvSpPr>
          <p:cNvPr id="6" name="text-5">
            <a:extLst xmlns:a="http://schemas.openxmlformats.org/drawingml/2006/main">
              <a:ext uri="{FF2B5EF4-FFF2-40B4-BE49-F238E27FC236}">
                <a16:creationId xmlns:a16="http://schemas.microsoft.com/office/drawing/2014/main" id="{56B5B5E2-6602-45DD-8DB8-C3EACC207A5C}"/>
              </a:ext>
            </a:extLst>
          </p:cNvPr>
          <p:cNvSpPr>
            <a:spLocks xmlns:a="http://schemas.openxmlformats.org/drawingml/2006/main" noGrp="1"/>
          </p:cNvSpPr>
          <p:nvPr/>
        </p:nvSpPr>
        <p:spPr>
          <a:xfrm xmlns:a="http://schemas.openxmlformats.org/drawingml/2006/main">
            <a:off x="11049000" y="64674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1">
                <a:solidFill>
                  <a:srgbClr val="087F82"/>
                </a:solidFill>
                <a:latin typeface="Arial"/>
                <a:ea typeface="Arial"/>
                <a:cs typeface="Arial"/>
              </a:defRPr>
            </a:pPr>
            <a:r>
              <a:rPr sz="1350" b="1">
                <a:solidFill>
                  <a:srgbClr val="087F82"/>
                </a:solidFill>
                <a:latin typeface="Arial"/>
                <a:ea typeface="Arial"/>
                <a:cs typeface="Arial"/>
              </a:rPr>
              <a:t>23</a:t>
            </a:r>
          </a:p>
        </p:txBody>
      </p:sp>
      <p:sp>
        <p:nvSpPr>
          <p:cNvPr id="7" name="">
            <a:extLst xmlns:a="http://schemas.openxmlformats.org/drawingml/2006/main">
              <a:ext uri="{FF2B5EF4-FFF2-40B4-BE49-F238E27FC236}">
                <a16:creationId xmlns:a16="http://schemas.microsoft.com/office/drawing/2014/main" id="{A3B3DB69-D185-40DB-B198-C87101151424}"/>
              </a:ext>
            </a:extLst>
          </p:cNvPr>
          <p:cNvSpPr>
            <a:spLocks xmlns:a="http://schemas.openxmlformats.org/drawingml/2006/main" noGrp="1"/>
          </p:cNvSpPr>
          <p:nvPr/>
        </p:nvSpPr>
        <p:spPr>
          <a:xfrm xmlns:a="http://schemas.openxmlformats.org/drawingml/2006/main">
            <a:off x="571500" y="2400300"/>
            <a:ext cx="1981200" cy="1190625"/>
          </a:xfrm>
          <a:prstGeom xmlns:a="http://schemas.openxmlformats.org/drawingml/2006/main" prst="rect">
            <a:avLst/>
          </a:prstGeom>
          <a:solidFill xmlns:a="http://schemas.openxmlformats.org/drawingml/2006/main">
            <a:srgbClr val="FFFFFF"/>
          </a:solidFill>
          <a:ln xmlns:a="http://schemas.openxmlformats.org/drawingml/2006/main" w="9525">
            <a:solidFill>
              <a:srgbClr val="CDD8D9"/>
            </a:solidFill>
          </a:ln>
        </p:spPr>
      </p:sp>
      <p:sp>
        <p:nvSpPr>
          <p:cNvPr id="8" name="text-7">
            <a:extLst xmlns:a="http://schemas.openxmlformats.org/drawingml/2006/main">
              <a:ext uri="{FF2B5EF4-FFF2-40B4-BE49-F238E27FC236}">
                <a16:creationId xmlns:a16="http://schemas.microsoft.com/office/drawing/2014/main" id="{3BC8771B-15C7-4BAA-A142-E910194335EF}"/>
              </a:ext>
            </a:extLst>
          </p:cNvPr>
          <p:cNvSpPr>
            <a:spLocks xmlns:a="http://schemas.openxmlformats.org/drawingml/2006/main" noGrp="1"/>
          </p:cNvSpPr>
          <p:nvPr/>
        </p:nvSpPr>
        <p:spPr>
          <a:xfrm xmlns:a="http://schemas.openxmlformats.org/drawingml/2006/main">
            <a:off x="723900" y="2581275"/>
            <a:ext cx="16764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최신 관측</a:t>
            </a:r>
          </a:p>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2026.06</a:t>
            </a:r>
          </a:p>
        </p:txBody>
      </p:sp>
      <p:sp>
        <p:nvSpPr>
          <p:cNvPr id="9" name="">
            <a:extLst xmlns:a="http://schemas.openxmlformats.org/drawingml/2006/main">
              <a:ext uri="{FF2B5EF4-FFF2-40B4-BE49-F238E27FC236}">
                <a16:creationId xmlns:a16="http://schemas.microsoft.com/office/drawing/2014/main" id="{2F6C2202-AFDB-4934-9DF6-F454F1239EA8}"/>
              </a:ext>
            </a:extLst>
          </p:cNvPr>
          <p:cNvSpPr>
            <a:spLocks xmlns:a="http://schemas.openxmlformats.org/drawingml/2006/main" noGrp="1"/>
          </p:cNvSpPr>
          <p:nvPr/>
        </p:nvSpPr>
        <p:spPr>
          <a:xfrm xmlns:a="http://schemas.openxmlformats.org/drawingml/2006/main">
            <a:off x="2838450" y="2400300"/>
            <a:ext cx="1981200" cy="1190625"/>
          </a:xfrm>
          <a:prstGeom xmlns:a="http://schemas.openxmlformats.org/drawingml/2006/main" prst="rect">
            <a:avLst/>
          </a:prstGeom>
          <a:solidFill xmlns:a="http://schemas.openxmlformats.org/drawingml/2006/main">
            <a:srgbClr val="FFFFFF"/>
          </a:solidFill>
          <a:ln xmlns:a="http://schemas.openxmlformats.org/drawingml/2006/main" w="9525">
            <a:solidFill>
              <a:srgbClr val="CDD8D9"/>
            </a:solidFill>
          </a:ln>
        </p:spPr>
      </p:sp>
      <p:sp>
        <p:nvSpPr>
          <p:cNvPr id="10" name="text-9">
            <a:extLst xmlns:a="http://schemas.openxmlformats.org/drawingml/2006/main">
              <a:ext uri="{FF2B5EF4-FFF2-40B4-BE49-F238E27FC236}">
                <a16:creationId xmlns:a16="http://schemas.microsoft.com/office/drawing/2014/main" id="{4FDCAA15-D399-4613-B499-AD470632658E}"/>
              </a:ext>
            </a:extLst>
          </p:cNvPr>
          <p:cNvSpPr>
            <a:spLocks xmlns:a="http://schemas.openxmlformats.org/drawingml/2006/main" noGrp="1"/>
          </p:cNvSpPr>
          <p:nvPr/>
        </p:nvSpPr>
        <p:spPr>
          <a:xfrm xmlns:a="http://schemas.openxmlformats.org/drawingml/2006/main">
            <a:off x="2990850" y="2581275"/>
            <a:ext cx="16764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1개월 후</a:t>
            </a:r>
          </a:p>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2026.07</a:t>
            </a:r>
          </a:p>
        </p:txBody>
      </p:sp>
      <p:sp>
        <p:nvSpPr>
          <p:cNvPr id="11" name="">
            <a:extLst xmlns:a="http://schemas.openxmlformats.org/drawingml/2006/main">
              <a:ext uri="{FF2B5EF4-FFF2-40B4-BE49-F238E27FC236}">
                <a16:creationId xmlns:a16="http://schemas.microsoft.com/office/drawing/2014/main" id="{BB216358-1764-45FB-AAEF-5653C3F02ED6}"/>
              </a:ext>
            </a:extLst>
          </p:cNvPr>
          <p:cNvSpPr>
            <a:spLocks xmlns:a="http://schemas.openxmlformats.org/drawingml/2006/main" noGrp="1"/>
          </p:cNvSpPr>
          <p:nvPr/>
        </p:nvSpPr>
        <p:spPr>
          <a:xfrm xmlns:a="http://schemas.openxmlformats.org/drawingml/2006/main">
            <a:off x="5105400" y="2400300"/>
            <a:ext cx="1981200" cy="1190625"/>
          </a:xfrm>
          <a:prstGeom xmlns:a="http://schemas.openxmlformats.org/drawingml/2006/main" prst="rect">
            <a:avLst/>
          </a:prstGeom>
          <a:solidFill xmlns:a="http://schemas.openxmlformats.org/drawingml/2006/main">
            <a:srgbClr val="FFFFFF"/>
          </a:solidFill>
          <a:ln xmlns:a="http://schemas.openxmlformats.org/drawingml/2006/main" w="9525">
            <a:solidFill>
              <a:srgbClr val="CDD8D9"/>
            </a:solidFill>
          </a:ln>
        </p:spPr>
      </p:sp>
      <p:sp>
        <p:nvSpPr>
          <p:cNvPr id="12" name="text-11">
            <a:extLst xmlns:a="http://schemas.openxmlformats.org/drawingml/2006/main">
              <a:ext uri="{FF2B5EF4-FFF2-40B4-BE49-F238E27FC236}">
                <a16:creationId xmlns:a16="http://schemas.microsoft.com/office/drawing/2014/main" id="{58328B2C-608E-4830-BA44-231D0356C43F}"/>
              </a:ext>
            </a:extLst>
          </p:cNvPr>
          <p:cNvSpPr>
            <a:spLocks xmlns:a="http://schemas.openxmlformats.org/drawingml/2006/main" noGrp="1"/>
          </p:cNvSpPr>
          <p:nvPr/>
        </p:nvSpPr>
        <p:spPr>
          <a:xfrm xmlns:a="http://schemas.openxmlformats.org/drawingml/2006/main">
            <a:off x="5257800" y="2581275"/>
            <a:ext cx="16764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3개월 후</a:t>
            </a:r>
          </a:p>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2026.09</a:t>
            </a:r>
          </a:p>
        </p:txBody>
      </p:sp>
      <p:sp>
        <p:nvSpPr>
          <p:cNvPr id="13" name="">
            <a:extLst xmlns:a="http://schemas.openxmlformats.org/drawingml/2006/main">
              <a:ext uri="{FF2B5EF4-FFF2-40B4-BE49-F238E27FC236}">
                <a16:creationId xmlns:a16="http://schemas.microsoft.com/office/drawing/2014/main" id="{A95066C1-1FA1-41A7-8672-59DDA0192421}"/>
              </a:ext>
            </a:extLst>
          </p:cNvPr>
          <p:cNvSpPr>
            <a:spLocks xmlns:a="http://schemas.openxmlformats.org/drawingml/2006/main" noGrp="1"/>
          </p:cNvSpPr>
          <p:nvPr/>
        </p:nvSpPr>
        <p:spPr>
          <a:xfrm xmlns:a="http://schemas.openxmlformats.org/drawingml/2006/main">
            <a:off x="7372350" y="2400300"/>
            <a:ext cx="1981200" cy="1190625"/>
          </a:xfrm>
          <a:prstGeom xmlns:a="http://schemas.openxmlformats.org/drawingml/2006/main" prst="rect">
            <a:avLst/>
          </a:prstGeom>
          <a:solidFill xmlns:a="http://schemas.openxmlformats.org/drawingml/2006/main">
            <a:srgbClr val="E5F2ED"/>
          </a:solidFill>
          <a:ln xmlns:a="http://schemas.openxmlformats.org/drawingml/2006/main" w="9525">
            <a:solidFill>
              <a:srgbClr val="CDD8D9"/>
            </a:solidFill>
          </a:ln>
        </p:spPr>
      </p:sp>
      <p:sp>
        <p:nvSpPr>
          <p:cNvPr id="14" name="text-13">
            <a:extLst xmlns:a="http://schemas.openxmlformats.org/drawingml/2006/main">
              <a:ext uri="{FF2B5EF4-FFF2-40B4-BE49-F238E27FC236}">
                <a16:creationId xmlns:a16="http://schemas.microsoft.com/office/drawing/2014/main" id="{49C7787B-8EE7-464D-9D4F-0443263C14A2}"/>
              </a:ext>
            </a:extLst>
          </p:cNvPr>
          <p:cNvSpPr>
            <a:spLocks xmlns:a="http://schemas.openxmlformats.org/drawingml/2006/main" noGrp="1"/>
          </p:cNvSpPr>
          <p:nvPr/>
        </p:nvSpPr>
        <p:spPr>
          <a:xfrm xmlns:a="http://schemas.openxmlformats.org/drawingml/2006/main">
            <a:off x="7524750" y="2581275"/>
            <a:ext cx="16764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사업 시작</a:t>
            </a:r>
          </a:p>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2026.11</a:t>
            </a:r>
          </a:p>
        </p:txBody>
      </p:sp>
      <p:sp>
        <p:nvSpPr>
          <p:cNvPr id="15" name="">
            <a:extLst xmlns:a="http://schemas.openxmlformats.org/drawingml/2006/main">
              <a:ext uri="{FF2B5EF4-FFF2-40B4-BE49-F238E27FC236}">
                <a16:creationId xmlns:a16="http://schemas.microsoft.com/office/drawing/2014/main" id="{490153A2-A023-49DE-9596-79503CF24B00}"/>
              </a:ext>
            </a:extLst>
          </p:cNvPr>
          <p:cNvSpPr>
            <a:spLocks xmlns:a="http://schemas.openxmlformats.org/drawingml/2006/main" noGrp="1"/>
          </p:cNvSpPr>
          <p:nvPr/>
        </p:nvSpPr>
        <p:spPr>
          <a:xfrm xmlns:a="http://schemas.openxmlformats.org/drawingml/2006/main">
            <a:off x="9639300" y="2400300"/>
            <a:ext cx="1981200" cy="1190625"/>
          </a:xfrm>
          <a:prstGeom xmlns:a="http://schemas.openxmlformats.org/drawingml/2006/main" prst="rect">
            <a:avLst/>
          </a:prstGeom>
          <a:solidFill xmlns:a="http://schemas.openxmlformats.org/drawingml/2006/main">
            <a:srgbClr val="E5F2ED"/>
          </a:solidFill>
          <a:ln xmlns:a="http://schemas.openxmlformats.org/drawingml/2006/main" w="9525">
            <a:solidFill>
              <a:srgbClr val="CDD8D9"/>
            </a:solidFill>
          </a:ln>
        </p:spPr>
      </p:sp>
      <p:sp>
        <p:nvSpPr>
          <p:cNvPr id="16" name="text-15">
            <a:extLst xmlns:a="http://schemas.openxmlformats.org/drawingml/2006/main">
              <a:ext uri="{FF2B5EF4-FFF2-40B4-BE49-F238E27FC236}">
                <a16:creationId xmlns:a16="http://schemas.microsoft.com/office/drawing/2014/main" id="{2BC38C34-F3CE-443F-8084-DF5A4178BC87}"/>
              </a:ext>
            </a:extLst>
          </p:cNvPr>
          <p:cNvSpPr>
            <a:spLocks xmlns:a="http://schemas.openxmlformats.org/drawingml/2006/main" noGrp="1"/>
          </p:cNvSpPr>
          <p:nvPr/>
        </p:nvSpPr>
        <p:spPr>
          <a:xfrm xmlns:a="http://schemas.openxmlformats.org/drawingml/2006/main">
            <a:off x="9791700" y="2581275"/>
            <a:ext cx="16764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사업 종료</a:t>
            </a:r>
          </a:p>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2027.01</a:t>
            </a:r>
          </a:p>
        </p:txBody>
      </p:sp>
      <p:cxnSp>
        <p:nvCxnSpPr>
          <p:cNvPr id="41" name=""/>
          <p:cNvCxnSpPr>
            <a:stCxn xmlns:a="http://schemas.openxmlformats.org/drawingml/2006/main" id="7" idx="3"/>
            <a:endCxn xmlns:a="http://schemas.openxmlformats.org/drawingml/2006/main" id="9" idx="1"/>
          </p:cNvCxnSpPr>
          <p:nvPr/>
        </p:nvCxnSpPr>
        <p:spPr>
          <a:xfrm xmlns:a="http://schemas.openxmlformats.org/drawingml/2006/main">
            <a:off x="2552700" y="2995613"/>
            <a:ext cx="285750" cy="0"/>
          </a:xfrm>
          <a:prstGeom xmlns:a="http://schemas.openxmlformats.org/drawingml/2006/main" prst="straightConnector1">
            <a:avLst/>
          </a:prstGeom>
          <a:ln xmlns:a="http://schemas.openxmlformats.org/drawingml/2006/main" w="19050">
            <a:solidFill>
              <a:srgbClr val="087F82"/>
            </a:solidFill>
            <a:tailEnd type="arrow" w="med" len="med"/>
          </a:ln>
        </p:spPr>
      </p:cxnSp>
      <p:cxnSp>
        <p:nvCxnSpPr>
          <p:cNvPr id="42" name=""/>
          <p:cNvCxnSpPr>
            <a:stCxn xmlns:a="http://schemas.openxmlformats.org/drawingml/2006/main" id="9" idx="3"/>
            <a:endCxn xmlns:a="http://schemas.openxmlformats.org/drawingml/2006/main" id="11" idx="1"/>
          </p:cNvCxnSpPr>
          <p:nvPr/>
        </p:nvCxnSpPr>
        <p:spPr>
          <a:xfrm xmlns:a="http://schemas.openxmlformats.org/drawingml/2006/main">
            <a:off x="4819650" y="2995613"/>
            <a:ext cx="285750" cy="0"/>
          </a:xfrm>
          <a:prstGeom xmlns:a="http://schemas.openxmlformats.org/drawingml/2006/main" prst="straightConnector1">
            <a:avLst/>
          </a:prstGeom>
          <a:ln xmlns:a="http://schemas.openxmlformats.org/drawingml/2006/main" w="19050">
            <a:solidFill>
              <a:srgbClr val="087F82"/>
            </a:solidFill>
            <a:tailEnd type="arrow" w="med" len="med"/>
          </a:ln>
        </p:spPr>
      </p:cxnSp>
      <p:cxnSp>
        <p:nvCxnSpPr>
          <p:cNvPr id="43" name=""/>
          <p:cNvCxnSpPr>
            <a:stCxn xmlns:a="http://schemas.openxmlformats.org/drawingml/2006/main" id="11" idx="3"/>
            <a:endCxn xmlns:a="http://schemas.openxmlformats.org/drawingml/2006/main" id="13" idx="1"/>
          </p:cNvCxnSpPr>
          <p:nvPr/>
        </p:nvCxnSpPr>
        <p:spPr>
          <a:xfrm xmlns:a="http://schemas.openxmlformats.org/drawingml/2006/main">
            <a:off x="7086600" y="2995613"/>
            <a:ext cx="285750" cy="0"/>
          </a:xfrm>
          <a:prstGeom xmlns:a="http://schemas.openxmlformats.org/drawingml/2006/main" prst="straightConnector1">
            <a:avLst/>
          </a:prstGeom>
          <a:ln xmlns:a="http://schemas.openxmlformats.org/drawingml/2006/main" w="19050">
            <a:solidFill>
              <a:srgbClr val="087F82"/>
            </a:solidFill>
            <a:tailEnd type="arrow" w="med" len="med"/>
          </a:ln>
        </p:spPr>
      </p:cxnSp>
      <p:cxnSp>
        <p:nvCxnSpPr>
          <p:cNvPr id="44" name=""/>
          <p:cNvCxnSpPr>
            <a:stCxn xmlns:a="http://schemas.openxmlformats.org/drawingml/2006/main" id="13" idx="3"/>
            <a:endCxn xmlns:a="http://schemas.openxmlformats.org/drawingml/2006/main" id="15" idx="1"/>
          </p:cNvCxnSpPr>
          <p:nvPr/>
        </p:nvCxnSpPr>
        <p:spPr>
          <a:xfrm xmlns:a="http://schemas.openxmlformats.org/drawingml/2006/main">
            <a:off x="9353550" y="2995613"/>
            <a:ext cx="285750" cy="0"/>
          </a:xfrm>
          <a:prstGeom xmlns:a="http://schemas.openxmlformats.org/drawingml/2006/main" prst="straightConnector1">
            <a:avLst/>
          </a:prstGeom>
          <a:ln xmlns:a="http://schemas.openxmlformats.org/drawingml/2006/main" w="19050">
            <a:solidFill>
              <a:srgbClr val="087F82"/>
            </a:solidFill>
            <a:tailEnd type="arrow" w="med" len="med"/>
          </a:ln>
        </p:spPr>
      </p:cxnSp>
      <p:sp>
        <p:nvSpPr>
          <p:cNvPr id="21" name="text-20">
            <a:extLst xmlns:a="http://schemas.openxmlformats.org/drawingml/2006/main">
              <a:ext uri="{FF2B5EF4-FFF2-40B4-BE49-F238E27FC236}">
                <a16:creationId xmlns:a16="http://schemas.microsoft.com/office/drawing/2014/main" id="{94A1A835-2242-4640-A965-5A1D71516135}"/>
              </a:ext>
            </a:extLst>
          </p:cNvPr>
          <p:cNvSpPr>
            <a:spLocks xmlns:a="http://schemas.openxmlformats.org/drawingml/2006/main" noGrp="1"/>
          </p:cNvSpPr>
          <p:nvPr/>
        </p:nvSpPr>
        <p:spPr>
          <a:xfrm xmlns:a="http://schemas.openxmlformats.org/drawingml/2006/main">
            <a:off x="571500" y="4419600"/>
            <a:ext cx="4095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087F82"/>
                </a:solidFill>
                <a:latin typeface="Malgun Gothic"/>
                <a:ea typeface="Malgun Gothic"/>
                <a:cs typeface="Malgun Gothic"/>
              </a:defRPr>
            </a:pPr>
            <a:r>
              <a:rPr sz="3450" b="1">
                <a:solidFill>
                  <a:srgbClr val="087F82"/>
                </a:solidFill>
                <a:latin typeface="Malgun Gothic"/>
                <a:ea typeface="Malgun Gothic"/>
                <a:cs typeface="Malgun Gothic"/>
              </a:rPr>
              <a:t>1–3개월</a:t>
            </a:r>
          </a:p>
        </p:txBody>
      </p:sp>
      <p:sp>
        <p:nvSpPr>
          <p:cNvPr id="22" name="text-21">
            <a:extLst xmlns:a="http://schemas.openxmlformats.org/drawingml/2006/main">
              <a:ext uri="{FF2B5EF4-FFF2-40B4-BE49-F238E27FC236}">
                <a16:creationId xmlns:a16="http://schemas.microsoft.com/office/drawing/2014/main" id="{B2F00525-8B34-4E82-B922-E500AED57DFD}"/>
              </a:ext>
            </a:extLst>
          </p:cNvPr>
          <p:cNvSpPr>
            <a:spLocks xmlns:a="http://schemas.openxmlformats.org/drawingml/2006/main" noGrp="1"/>
          </p:cNvSpPr>
          <p:nvPr/>
        </p:nvSpPr>
        <p:spPr>
          <a:xfrm xmlns:a="http://schemas.openxmlformats.org/drawingml/2006/main">
            <a:off x="571500" y="5162550"/>
            <a:ext cx="4667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02F40"/>
                </a:solidFill>
                <a:latin typeface="Malgun Gothic"/>
                <a:ea typeface="Malgun Gothic"/>
                <a:cs typeface="Malgun Gothic"/>
              </a:defRPr>
            </a:pPr>
            <a:r>
              <a:rPr sz="2175" b="0">
                <a:solidFill>
                  <a:srgbClr val="102F40"/>
                </a:solidFill>
                <a:latin typeface="Malgun Gothic"/>
                <a:ea typeface="Malgun Gothic"/>
                <a:cs typeface="Malgun Gothic"/>
              </a:rPr>
              <a:t>재귀 백테스트 범위</a:t>
            </a:r>
          </a:p>
        </p:txBody>
      </p:sp>
      <p:sp>
        <p:nvSpPr>
          <p:cNvPr id="23" name="text-22">
            <a:extLst xmlns:a="http://schemas.openxmlformats.org/drawingml/2006/main">
              <a:ext uri="{FF2B5EF4-FFF2-40B4-BE49-F238E27FC236}">
                <a16:creationId xmlns:a16="http://schemas.microsoft.com/office/drawing/2014/main" id="{6CCCFE21-F83D-489C-86EE-482B4C6FC533}"/>
              </a:ext>
            </a:extLst>
          </p:cNvPr>
          <p:cNvSpPr>
            <a:spLocks xmlns:a="http://schemas.openxmlformats.org/drawingml/2006/main" noGrp="1"/>
          </p:cNvSpPr>
          <p:nvPr/>
        </p:nvSpPr>
        <p:spPr>
          <a:xfrm xmlns:a="http://schemas.openxmlformats.org/drawingml/2006/main">
            <a:off x="6515100" y="44196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B96C33"/>
                </a:solidFill>
                <a:latin typeface="Malgun Gothic"/>
                <a:ea typeface="Malgun Gothic"/>
                <a:cs typeface="Malgun Gothic"/>
              </a:defRPr>
            </a:pPr>
            <a:r>
              <a:rPr sz="3450" b="1">
                <a:solidFill>
                  <a:srgbClr val="B96C33"/>
                </a:solidFill>
                <a:latin typeface="Malgun Gothic"/>
                <a:ea typeface="Malgun Gothic"/>
                <a:cs typeface="Malgun Gothic"/>
              </a:rPr>
              <a:t>4–12개월</a:t>
            </a:r>
          </a:p>
        </p:txBody>
      </p:sp>
      <p:sp>
        <p:nvSpPr>
          <p:cNvPr id="24" name="text-23">
            <a:extLst xmlns:a="http://schemas.openxmlformats.org/drawingml/2006/main">
              <a:ext uri="{FF2B5EF4-FFF2-40B4-BE49-F238E27FC236}">
                <a16:creationId xmlns:a16="http://schemas.microsoft.com/office/drawing/2014/main" id="{7BF035FF-D92A-484E-BDBA-339F9A0828D6}"/>
              </a:ext>
            </a:extLst>
          </p:cNvPr>
          <p:cNvSpPr>
            <a:spLocks xmlns:a="http://schemas.openxmlformats.org/drawingml/2006/main" noGrp="1"/>
          </p:cNvSpPr>
          <p:nvPr/>
        </p:nvSpPr>
        <p:spPr>
          <a:xfrm xmlns:a="http://schemas.openxmlformats.org/drawingml/2006/main">
            <a:off x="6515100" y="5162550"/>
            <a:ext cx="50577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02F40"/>
                </a:solidFill>
                <a:latin typeface="Malgun Gothic"/>
                <a:ea typeface="Malgun Gothic"/>
                <a:cs typeface="Malgun Gothic"/>
              </a:defRPr>
            </a:pPr>
            <a:r>
              <a:rPr sz="2175" b="0">
                <a:solidFill>
                  <a:srgbClr val="102F40"/>
                </a:solidFill>
                <a:latin typeface="Malgun Gothic"/>
                <a:ea typeface="Malgun Gothic"/>
                <a:cs typeface="Malgun Gothic"/>
              </a:rPr>
              <a:t>불확실성이 커지는 탐색 전망</a:t>
            </a:r>
          </a:p>
        </p:txBody>
      </p:sp>
    </p:spTree>
    <p:extLst>
      <p:ext uri="{BB962C8B-B14F-4D97-AF65-F5344CB8AC3E}">
        <p14:creationId xmlns:p14="http://schemas.microsoft.com/office/powerpoint/2010/main" val="217464680"/>
      </p:ext>
    </p:extLst>
  </p:cSld>
</p:sld>
</file>

<file path=ppt/slides/slide24.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8" name="text-0.07402843124102221">
            <a:extLst xmlns:a="http://schemas.openxmlformats.org/drawingml/2006/main">
              <a:ext uri="{FF2B5EF4-FFF2-40B4-BE49-F238E27FC236}">
                <a16:creationId xmlns:a16="http://schemas.microsoft.com/office/drawing/2014/main" id="{BE614077-145D-4B2F-9E35-9FC4DC904360}"/>
              </a:ext>
            </a:extLst>
          </p:cNvPr>
          <p:cNvSpPr>
            <a:spLocks xmlns:a="http://schemas.openxmlformats.org/drawingml/2006/main" noGrp="1"/>
          </p:cNvSpPr>
          <p:nvPr/>
        </p:nvSpPr>
        <p:spPr>
          <a:xfrm xmlns:a="http://schemas.openxmlformats.org/drawingml/2006/main">
            <a:off x="571500" y="3048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87F82"/>
                </a:solidFill>
                <a:latin typeface="Malgun Gothic"/>
                <a:ea typeface="Malgun Gothic"/>
                <a:cs typeface="Malgun Gothic"/>
              </a:defRPr>
            </a:pPr>
            <a:r>
              <a:rPr sz="1200" b="1">
                <a:solidFill>
                  <a:srgbClr val="087F82"/>
                </a:solidFill>
                <a:latin typeface="Malgun Gothic"/>
                <a:ea typeface="Malgun Gothic"/>
                <a:cs typeface="Malgun Gothic"/>
              </a:rPr>
              <a:t>04 AI와 근거</a:t>
            </a:r>
          </a:p>
        </p:txBody>
      </p:sp>
      <p:sp>
        <p:nvSpPr>
          <p:cNvPr id="2" name="text-1">
            <a:extLst xmlns:a="http://schemas.openxmlformats.org/drawingml/2006/main">
              <a:ext uri="{FF2B5EF4-FFF2-40B4-BE49-F238E27FC236}">
                <a16:creationId xmlns:a16="http://schemas.microsoft.com/office/drawing/2014/main" id="{CF72F0E7-8888-4C45-B045-A78863975C29}"/>
              </a:ext>
            </a:extLst>
          </p:cNvPr>
          <p:cNvSpPr>
            <a:spLocks xmlns:a="http://schemas.openxmlformats.org/drawingml/2006/main" noGrp="1"/>
          </p:cNvSpPr>
          <p:nvPr/>
        </p:nvSpPr>
        <p:spPr>
          <a:xfrm xmlns:a="http://schemas.openxmlformats.org/drawingml/2006/main">
            <a:off x="571500" y="76200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02F40"/>
                </a:solidFill>
                <a:latin typeface="Malgun Gothic"/>
                <a:ea typeface="Malgun Gothic"/>
                <a:cs typeface="Malgun Gothic"/>
              </a:defRPr>
            </a:pPr>
            <a:r>
              <a:rPr sz="3300" b="1">
                <a:solidFill>
                  <a:srgbClr val="102F40"/>
                </a:solidFill>
                <a:latin typeface="Malgun Gothic"/>
                <a:ea typeface="Malgun Gothic"/>
                <a:cs typeface="Malgun Gothic"/>
              </a:rPr>
              <a:t>기획서의 숫자는 네 가지로 읽습니다</a:t>
            </a:r>
          </a:p>
        </p:txBody>
      </p:sp>
      <p:sp>
        <p:nvSpPr>
          <p:cNvPr id="3" name="">
            <a:extLst xmlns:a="http://schemas.openxmlformats.org/drawingml/2006/main">
              <a:ext uri="{FF2B5EF4-FFF2-40B4-BE49-F238E27FC236}">
                <a16:creationId xmlns:a16="http://schemas.microsoft.com/office/drawing/2014/main" id="{2E118AF8-C153-487C-A75B-E2556F45CF74}"/>
              </a:ext>
            </a:extLst>
          </p:cNvPr>
          <p:cNvSpPr>
            <a:spLocks xmlns:a="http://schemas.openxmlformats.org/drawingml/2006/main" noGrp="1"/>
          </p:cNvSpPr>
          <p:nvPr/>
        </p:nvSpPr>
        <p:spPr>
          <a:xfrm xmlns:a="http://schemas.openxmlformats.org/drawingml/2006/main">
            <a:off x="571500" y="6324600"/>
            <a:ext cx="11049000" cy="0"/>
          </a:xfrm>
          <a:prstGeom xmlns:a="http://schemas.openxmlformats.org/drawingml/2006/main" prst="line">
            <a:avLst/>
          </a:prstGeom>
          <a:noFill xmlns:a="http://schemas.openxmlformats.org/drawingml/2006/main"/>
          <a:ln xmlns:a="http://schemas.openxmlformats.org/drawingml/2006/main" w="9525">
            <a:solidFill>
              <a:srgbClr val="CDD8D9"/>
            </a:solidFill>
            <a:prstDash val="solid"/>
          </a:ln>
        </p:spPr>
      </p:sp>
      <p:sp>
        <p:nvSpPr>
          <p:cNvPr id="4" name="text-3">
            <a:extLst xmlns:a="http://schemas.openxmlformats.org/drawingml/2006/main">
              <a:ext uri="{FF2B5EF4-FFF2-40B4-BE49-F238E27FC236}">
                <a16:creationId xmlns:a16="http://schemas.microsoft.com/office/drawing/2014/main" id="{67CB55C3-9962-4C4B-9A3B-31A2ABD9EA50}"/>
              </a:ext>
            </a:extLst>
          </p:cNvPr>
          <p:cNvSpPr>
            <a:spLocks xmlns:a="http://schemas.openxmlformats.org/drawingml/2006/main" noGrp="1"/>
          </p:cNvSpPr>
          <p:nvPr/>
        </p:nvSpPr>
        <p:spPr>
          <a:xfrm xmlns:a="http://schemas.openxmlformats.org/drawingml/2006/main">
            <a:off x="571500" y="64960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36B78"/>
                </a:solidFill>
                <a:latin typeface="Arial"/>
                <a:ea typeface="Arial"/>
                <a:cs typeface="Arial"/>
              </a:defRPr>
            </a:pPr>
            <a:r>
              <a:rPr sz="1050" b="1">
                <a:solidFill>
                  <a:srgbClr val="536B78"/>
                </a:solidFill>
                <a:latin typeface="Arial"/>
                <a:ea typeface="Arial"/>
                <a:cs typeface="Arial"/>
              </a:rPr>
              <a:t>OLIGO-K</a:t>
            </a:r>
          </a:p>
        </p:txBody>
      </p:sp>
      <p:sp>
        <p:nvSpPr>
          <p:cNvPr id="5" name="text-4">
            <a:extLst xmlns:a="http://schemas.openxmlformats.org/drawingml/2006/main">
              <a:ext uri="{FF2B5EF4-FFF2-40B4-BE49-F238E27FC236}">
                <a16:creationId xmlns:a16="http://schemas.microsoft.com/office/drawing/2014/main" id="{4A0DEC8B-B1FC-4F4F-8C3B-31244E545EA5}"/>
              </a:ext>
            </a:extLst>
          </p:cNvPr>
          <p:cNvSpPr>
            <a:spLocks xmlns:a="http://schemas.openxmlformats.org/drawingml/2006/main" noGrp="1"/>
          </p:cNvSpPr>
          <p:nvPr/>
        </p:nvSpPr>
        <p:spPr>
          <a:xfrm xmlns:a="http://schemas.openxmlformats.org/drawingml/2006/main">
            <a:off x="11049000" y="64674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1">
                <a:solidFill>
                  <a:srgbClr val="087F82"/>
                </a:solidFill>
                <a:latin typeface="Arial"/>
                <a:ea typeface="Arial"/>
                <a:cs typeface="Arial"/>
              </a:defRPr>
            </a:pPr>
            <a:r>
              <a:rPr sz="1350" b="1">
                <a:solidFill>
                  <a:srgbClr val="087F82"/>
                </a:solidFill>
                <a:latin typeface="Arial"/>
                <a:ea typeface="Arial"/>
                <a:cs typeface="Arial"/>
              </a:rPr>
              <a:t>24</a:t>
            </a:r>
          </a:p>
        </p:txBody>
      </p:sp>
      <p:graphicFrame>
        <p:nvGraphicFramePr>
          <p:cNvPr id="13" name=""/>
          <p:cNvGraphicFramePr/>
          <p:nvPr/>
        </p:nvGraphicFramePr>
        <p:xfrm>
          <a:off xmlns:a="http://schemas.openxmlformats.org/drawingml/2006/main" x="571500" y="2047875"/>
          <a:ext xmlns:a="http://schemas.openxmlformats.org/drawingml/2006/main" cx="11049000" cy="3619500"/>
        </p:xfrm>
        <a:graphic xmlns:a="http://schemas.openxmlformats.org/drawingml/2006/main">
          <a:graphicData uri="http://schemas.openxmlformats.org/drawingml/2006/table">
            <a:tbl>
              <a:tblPr firstRow="1" bandRow="0"/>
              <a:tblGrid>
                <a:gridCol w="2524125"/>
                <a:gridCol w="4095750"/>
                <a:gridCol w="4429125"/>
              </a:tblGrid>
              <a:tr h="723900">
                <a:tc>
                  <a:txBody>
                    <a:bodyPr/>
                    <a:lstStyle/>
                    <a:p>
                      <a:r>
                        <a:rPr sz="1875" b="1">
                          <a:solidFill>
                            <a:srgbClr val="FFFFFF"/>
                          </a:solidFill>
                          <a:latin typeface="Malgun Gothic"/>
                          <a:ea typeface="Malgun Gothic"/>
                          <a:cs typeface="Malgun Gothic"/>
                        </a:rPr>
                        <a:t>종류</a:t>
                      </a:r>
                    </a:p>
                  </a:txBody>
                  <a:tcPr marL="142875" marR="123825" marT="123825" marB="95250" anchor="ctr">
                    <a:solidFill>
                      <a:srgbClr val="102F40"/>
                    </a:solidFill>
                  </a:tcPr>
                </a:tc>
                <a:tc>
                  <a:txBody>
                    <a:bodyPr/>
                    <a:lstStyle/>
                    <a:p>
                      <a:r>
                        <a:rPr sz="1875" b="1">
                          <a:solidFill>
                            <a:srgbClr val="FFFFFF"/>
                          </a:solidFill>
                          <a:latin typeface="Malgun Gothic"/>
                          <a:ea typeface="Malgun Gothic"/>
                          <a:cs typeface="Malgun Gothic"/>
                        </a:rPr>
                        <a:t>만드는 주체</a:t>
                      </a:r>
                    </a:p>
                  </a:txBody>
                  <a:tcPr marL="142875" marR="123825" marT="123825" marB="95250" anchor="ctr">
                    <a:solidFill>
                      <a:srgbClr val="102F40"/>
                    </a:solidFill>
                  </a:tcPr>
                </a:tc>
                <a:tc>
                  <a:txBody>
                    <a:bodyPr/>
                    <a:lstStyle/>
                    <a:p>
                      <a:r>
                        <a:rPr sz="1875" b="1">
                          <a:solidFill>
                            <a:srgbClr val="FFFFFF"/>
                          </a:solidFill>
                          <a:latin typeface="Malgun Gothic"/>
                          <a:ea typeface="Malgun Gothic"/>
                          <a:cs typeface="Malgun Gothic"/>
                        </a:rPr>
                        <a:t>발표에서의 표현</a:t>
                      </a:r>
                    </a:p>
                  </a:txBody>
                  <a:tcPr marL="142875" marR="123825" marT="123825" marB="95250" anchor="ctr">
                    <a:solidFill>
                      <a:srgbClr val="102F40"/>
                    </a:solidFill>
                  </a:tcPr>
                </a:tc>
              </a:tr>
              <a:tr h="723900">
                <a:tc>
                  <a:txBody>
                    <a:bodyPr/>
                    <a:lstStyle/>
                    <a:p>
                      <a:r>
                        <a:rPr sz="1875" b="0">
                          <a:solidFill>
                            <a:srgbClr val="102F40"/>
                          </a:solidFill>
                          <a:latin typeface="Malgun Gothic"/>
                          <a:ea typeface="Malgun Gothic"/>
                          <a:cs typeface="Malgun Gothic"/>
                        </a:rPr>
                        <a:t>관측값</a:t>
                      </a:r>
                    </a:p>
                  </a:txBody>
                  <a:tcPr marL="142875" marR="123825" marT="123825" marB="95250" anchor="ctr">
                    <a:solidFill>
                      <a:srgbClr val="FFFFFF"/>
                    </a:solidFill>
                  </a:tcPr>
                </a:tc>
                <a:tc>
                  <a:txBody>
                    <a:bodyPr/>
                    <a:lstStyle/>
                    <a:p>
                      <a:r>
                        <a:rPr sz="1875" b="0">
                          <a:solidFill>
                            <a:srgbClr val="102F40"/>
                          </a:solidFill>
                          <a:latin typeface="Malgun Gothic"/>
                          <a:ea typeface="Malgun Gothic"/>
                          <a:cs typeface="Malgun Gothic"/>
                        </a:rPr>
                        <a:t>공식 원자료·MySQL</a:t>
                      </a:r>
                    </a:p>
                  </a:txBody>
                  <a:tcPr marL="142875" marR="123825" marT="123825" marB="95250" anchor="ctr">
                    <a:solidFill>
                      <a:srgbClr val="FFFFFF"/>
                    </a:solidFill>
                  </a:tcPr>
                </a:tc>
                <a:tc>
                  <a:txBody>
                    <a:bodyPr/>
                    <a:lstStyle/>
                    <a:p>
                      <a:r>
                        <a:rPr sz="1875" b="0">
                          <a:solidFill>
                            <a:srgbClr val="102F40"/>
                          </a:solidFill>
                          <a:latin typeface="Malgun Gothic"/>
                          <a:ea typeface="Malgun Gothic"/>
                          <a:cs typeface="Malgun Gothic"/>
                        </a:rPr>
                        <a:t>해당 기간에 관측된 값</a:t>
                      </a:r>
                    </a:p>
                  </a:txBody>
                  <a:tcPr marL="142875" marR="123825" marT="123825" marB="95250" anchor="ctr">
                    <a:solidFill>
                      <a:srgbClr val="FFFFFF"/>
                    </a:solidFill>
                  </a:tcPr>
                </a:tc>
              </a:tr>
              <a:tr h="723900">
                <a:tc>
                  <a:txBody>
                    <a:bodyPr/>
                    <a:lstStyle/>
                    <a:p>
                      <a:r>
                        <a:rPr sz="1875" b="0">
                          <a:solidFill>
                            <a:srgbClr val="102F40"/>
                          </a:solidFill>
                          <a:latin typeface="Malgun Gothic"/>
                          <a:ea typeface="Malgun Gothic"/>
                          <a:cs typeface="Malgun Gothic"/>
                        </a:rPr>
                        <a:t>ML 전망</a:t>
                      </a:r>
                    </a:p>
                  </a:txBody>
                  <a:tcPr marL="142875" marR="123825" marT="123825" marB="95250" anchor="ctr">
                    <a:solidFill>
                      <a:srgbClr val="F6F7F4"/>
                    </a:solidFill>
                  </a:tcPr>
                </a:tc>
                <a:tc>
                  <a:txBody>
                    <a:bodyPr/>
                    <a:lstStyle/>
                    <a:p>
                      <a:r>
                        <a:rPr sz="1875" b="0">
                          <a:solidFill>
                            <a:srgbClr val="102F40"/>
                          </a:solidFill>
                          <a:latin typeface="Malgun Gothic"/>
                          <a:ea typeface="Malgun Gothic"/>
                          <a:cs typeface="Malgun Gothic"/>
                        </a:rPr>
                        <a:t>저장된 학습 모델</a:t>
                      </a:r>
                    </a:p>
                  </a:txBody>
                  <a:tcPr marL="142875" marR="123825" marT="123825" marB="95250" anchor="ctr">
                    <a:solidFill>
                      <a:srgbClr val="F6F7F4"/>
                    </a:solidFill>
                  </a:tcPr>
                </a:tc>
                <a:tc>
                  <a:txBody>
                    <a:bodyPr/>
                    <a:lstStyle/>
                    <a:p>
                      <a:r>
                        <a:rPr sz="1875" b="0">
                          <a:solidFill>
                            <a:srgbClr val="102F40"/>
                          </a:solidFill>
                          <a:latin typeface="Malgun Gothic"/>
                          <a:ea typeface="Malgun Gothic"/>
                          <a:cs typeface="Malgun Gothic"/>
                        </a:rPr>
                        <a:t>미래 관광 흐름의 추정</a:t>
                      </a:r>
                    </a:p>
                  </a:txBody>
                  <a:tcPr marL="142875" marR="123825" marT="123825" marB="95250" anchor="ctr">
                    <a:solidFill>
                      <a:srgbClr val="F6F7F4"/>
                    </a:solidFill>
                  </a:tcPr>
                </a:tc>
              </a:tr>
              <a:tr h="723900">
                <a:tc>
                  <a:txBody>
                    <a:bodyPr/>
                    <a:lstStyle/>
                    <a:p>
                      <a:r>
                        <a:rPr sz="1875" b="0">
                          <a:solidFill>
                            <a:srgbClr val="102F40"/>
                          </a:solidFill>
                          <a:latin typeface="Malgun Gothic"/>
                          <a:ea typeface="Malgun Gothic"/>
                          <a:cs typeface="Malgun Gothic"/>
                        </a:rPr>
                        <a:t>공식 사례 수치</a:t>
                      </a:r>
                    </a:p>
                  </a:txBody>
                  <a:tcPr marL="142875" marR="123825" marT="123825" marB="95250" anchor="ctr">
                    <a:solidFill>
                      <a:srgbClr val="FFFFFF"/>
                    </a:solidFill>
                  </a:tcPr>
                </a:tc>
                <a:tc>
                  <a:txBody>
                    <a:bodyPr/>
                    <a:lstStyle/>
                    <a:p>
                      <a:r>
                        <a:rPr sz="1875" b="0">
                          <a:solidFill>
                            <a:srgbClr val="102F40"/>
                          </a:solidFill>
                          <a:latin typeface="Malgun Gothic"/>
                          <a:ea typeface="Malgun Gothic"/>
                          <a:cs typeface="Malgun Gothic"/>
                        </a:rPr>
                        <a:t>출처와 측정 범위가 있는 문서</a:t>
                      </a:r>
                    </a:p>
                  </a:txBody>
                  <a:tcPr marL="142875" marR="123825" marT="123825" marB="95250" anchor="ctr">
                    <a:solidFill>
                      <a:srgbClr val="FFFFFF"/>
                    </a:solidFill>
                  </a:tcPr>
                </a:tc>
                <a:tc>
                  <a:txBody>
                    <a:bodyPr/>
                    <a:lstStyle/>
                    <a:p>
                      <a:r>
                        <a:rPr sz="1875" b="0">
                          <a:solidFill>
                            <a:srgbClr val="102F40"/>
                          </a:solidFill>
                          <a:latin typeface="Malgun Gothic"/>
                          <a:ea typeface="Malgun Gothic"/>
                          <a:cs typeface="Malgun Gothic"/>
                        </a:rPr>
                        <a:t>그 사업·그 기간의 관측 결과</a:t>
                      </a:r>
                    </a:p>
                  </a:txBody>
                  <a:tcPr marL="142875" marR="123825" marT="123825" marB="95250" anchor="ctr">
                    <a:solidFill>
                      <a:srgbClr val="FFFFFF"/>
                    </a:solidFill>
                  </a:tcPr>
                </a:tc>
              </a:tr>
              <a:tr h="723900">
                <a:tc>
                  <a:txBody>
                    <a:bodyPr/>
                    <a:lstStyle/>
                    <a:p>
                      <a:r>
                        <a:rPr sz="1875" b="0">
                          <a:solidFill>
                            <a:srgbClr val="102F40"/>
                          </a:solidFill>
                          <a:latin typeface="Malgun Gothic"/>
                          <a:ea typeface="Malgun Gothic"/>
                          <a:cs typeface="Malgun Gothic"/>
                        </a:rPr>
                        <a:t>계획 목표와 견적</a:t>
                      </a:r>
                    </a:p>
                  </a:txBody>
                  <a:tcPr marL="142875" marR="123825" marT="123825" marB="95250" anchor="ctr">
                    <a:solidFill>
                      <a:srgbClr val="F6F7F4"/>
                    </a:solidFill>
                  </a:tcPr>
                </a:tc>
                <a:tc>
                  <a:txBody>
                    <a:bodyPr/>
                    <a:lstStyle/>
                    <a:p>
                      <a:r>
                        <a:rPr sz="1875" b="0">
                          <a:solidFill>
                            <a:srgbClr val="102F40"/>
                          </a:solidFill>
                          <a:latin typeface="Malgun Gothic"/>
                          <a:ea typeface="Malgun Gothic"/>
                          <a:cs typeface="Malgun Gothic"/>
                        </a:rPr>
                        <a:t>운영 규모·참여 가정·계산 코드</a:t>
                      </a:r>
                    </a:p>
                  </a:txBody>
                  <a:tcPr marL="142875" marR="123825" marT="123825" marB="95250" anchor="ctr">
                    <a:solidFill>
                      <a:srgbClr val="F6F7F4"/>
                    </a:solidFill>
                  </a:tcPr>
                </a:tc>
                <a:tc>
                  <a:txBody>
                    <a:bodyPr/>
                    <a:lstStyle/>
                    <a:p>
                      <a:r>
                        <a:rPr sz="1875" b="0">
                          <a:solidFill>
                            <a:srgbClr val="102F40"/>
                          </a:solidFill>
                          <a:latin typeface="Malgun Gothic"/>
                          <a:ea typeface="Malgun Gothic"/>
                          <a:cs typeface="Malgun Gothic"/>
                        </a:rPr>
                        <a:t>앞으로 달성할 목표와 참고 금액</a:t>
                      </a:r>
                    </a:p>
                  </a:txBody>
                  <a:tcPr marL="142875" marR="123825" marT="123825" marB="95250" anchor="ctr">
                    <a:solidFill>
                      <a:srgbClr val="F6F7F4"/>
                    </a:solidFill>
                  </a:tcPr>
                </a:tc>
              </a:tr>
            </a:tbl>
          </a:graphicData>
        </a:graphic>
      </p:graphicFrame>
      <p:sp>
        <p:nvSpPr>
          <p:cNvPr id="7" name="text-5">
            <a:extLst xmlns:a="http://schemas.openxmlformats.org/drawingml/2006/main">
              <a:ext uri="{FF2B5EF4-FFF2-40B4-BE49-F238E27FC236}">
                <a16:creationId xmlns:a16="http://schemas.microsoft.com/office/drawing/2014/main" id="{6CFA3F6B-BD50-4235-9982-A47AD8E637CB}"/>
              </a:ext>
            </a:extLst>
          </p:cNvPr>
          <p:cNvSpPr>
            <a:spLocks xmlns:a="http://schemas.openxmlformats.org/drawingml/2006/main" noGrp="1"/>
          </p:cNvSpPr>
          <p:nvPr/>
        </p:nvSpPr>
        <p:spPr>
          <a:xfrm xmlns:a="http://schemas.openxmlformats.org/drawingml/2006/main">
            <a:off x="571500" y="586740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87F82"/>
                </a:solidFill>
                <a:latin typeface="Malgun Gothic"/>
                <a:ea typeface="Malgun Gothic"/>
                <a:cs typeface="Malgun Gothic"/>
              </a:defRPr>
            </a:pPr>
            <a:r>
              <a:rPr sz="1875" b="1">
                <a:solidFill>
                  <a:srgbClr val="087F82"/>
                </a:solidFill>
                <a:latin typeface="Malgun Gothic"/>
                <a:ea typeface="Malgun Gothic"/>
                <a:cs typeface="Malgun Gothic"/>
              </a:rPr>
              <a:t>ML 자연 전망과 관광사업의 실제 순증 효과는 별도로 다룹니다.</a:t>
            </a:r>
          </a:p>
        </p:txBody>
      </p:sp>
    </p:spTree>
    <p:extLst>
      <p:ext uri="{BB962C8B-B14F-4D97-AF65-F5344CB8AC3E}">
        <p14:creationId xmlns:p14="http://schemas.microsoft.com/office/powerpoint/2010/main" val="1816392053"/>
      </p:ext>
    </p:extLst>
  </p:cSld>
</p:sld>
</file>

<file path=ppt/slides/slide25.xml><?xml version="1.0" encoding="utf-8"?>
<p:sld xmlns:p="http://schemas.openxmlformats.org/presentationml/2006/main">
  <p:cSld>
    <p:bg>
      <p:bgPr>
        <a:solidFill xmlns:a="http://schemas.openxmlformats.org/drawingml/2006/main">
          <a:srgbClr val="092638"/>
        </a:solidFill>
      </p:bgPr>
    </p:bg>
    <p:spTree>
      <p:nvGrpSpPr>
        <p:cNvPr id="1" name=""/>
        <p:cNvGrpSpPr/>
        <p:nvPr/>
      </p:nvGrpSpPr>
      <p:grpSpPr>
        <a:xfrm xmlns:a="http://schemas.openxmlformats.org/drawingml/2006/main"/>
      </p:grpSpPr>
      <p:sp>
        <p:nvSpPr>
          <p:cNvPr id="24" name="text-0.9396713384381887">
            <a:extLst xmlns:a="http://schemas.openxmlformats.org/drawingml/2006/main">
              <a:ext uri="{FF2B5EF4-FFF2-40B4-BE49-F238E27FC236}">
                <a16:creationId xmlns:a16="http://schemas.microsoft.com/office/drawing/2014/main" id="{F84BA028-4A3E-491F-B850-6777102A1689}"/>
              </a:ext>
            </a:extLst>
          </p:cNvPr>
          <p:cNvSpPr>
            <a:spLocks xmlns:a="http://schemas.openxmlformats.org/drawingml/2006/main" noGrp="1"/>
          </p:cNvSpPr>
          <p:nvPr/>
        </p:nvSpPr>
        <p:spPr>
          <a:xfrm xmlns:a="http://schemas.openxmlformats.org/drawingml/2006/main">
            <a:off x="571500" y="3048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69D5C3"/>
                </a:solidFill>
                <a:latin typeface="Malgun Gothic"/>
                <a:ea typeface="Malgun Gothic"/>
                <a:cs typeface="Malgun Gothic"/>
              </a:defRPr>
            </a:pPr>
            <a:r>
              <a:rPr sz="1200" b="1">
                <a:solidFill>
                  <a:srgbClr val="69D5C3"/>
                </a:solidFill>
                <a:latin typeface="Malgun Gothic"/>
                <a:ea typeface="Malgun Gothic"/>
                <a:cs typeface="Malgun Gothic"/>
              </a:rPr>
              <a:t>04 AI와 근거</a:t>
            </a:r>
          </a:p>
        </p:txBody>
      </p:sp>
      <p:sp>
        <p:nvSpPr>
          <p:cNvPr id="2" name="text-1">
            <a:extLst xmlns:a="http://schemas.openxmlformats.org/drawingml/2006/main">
              <a:ext uri="{FF2B5EF4-FFF2-40B4-BE49-F238E27FC236}">
                <a16:creationId xmlns:a16="http://schemas.microsoft.com/office/drawing/2014/main" id="{A7F48D72-1DA4-44C1-BB77-A96092FD9BCC}"/>
              </a:ext>
            </a:extLst>
          </p:cNvPr>
          <p:cNvSpPr>
            <a:spLocks xmlns:a="http://schemas.openxmlformats.org/drawingml/2006/main" noGrp="1"/>
          </p:cNvSpPr>
          <p:nvPr/>
        </p:nvSpPr>
        <p:spPr>
          <a:xfrm xmlns:a="http://schemas.openxmlformats.org/drawingml/2006/main">
            <a:off x="571500" y="76200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Malgun Gothic"/>
                <a:ea typeface="Malgun Gothic"/>
                <a:cs typeface="Malgun Gothic"/>
              </a:defRPr>
            </a:pPr>
            <a:r>
              <a:rPr sz="3300" b="1">
                <a:solidFill>
                  <a:srgbClr val="FFFFFF"/>
                </a:solidFill>
                <a:latin typeface="Malgun Gothic"/>
                <a:ea typeface="Malgun Gothic"/>
                <a:cs typeface="Malgun Gothic"/>
              </a:rPr>
              <a:t>다섯 업무 Agent가 생성 과정을 나눕니다</a:t>
            </a:r>
          </a:p>
        </p:txBody>
      </p:sp>
      <p:sp>
        <p:nvSpPr>
          <p:cNvPr id="3" name="text-2">
            <a:extLst xmlns:a="http://schemas.openxmlformats.org/drawingml/2006/main">
              <a:ext uri="{FF2B5EF4-FFF2-40B4-BE49-F238E27FC236}">
                <a16:creationId xmlns:a16="http://schemas.microsoft.com/office/drawing/2014/main" id="{254B175D-2AF4-458A-9B61-BBD252F85437}"/>
              </a:ext>
            </a:extLst>
          </p:cNvPr>
          <p:cNvSpPr>
            <a:spLocks xmlns:a="http://schemas.openxmlformats.org/drawingml/2006/main" noGrp="1"/>
          </p:cNvSpPr>
          <p:nvPr/>
        </p:nvSpPr>
        <p:spPr>
          <a:xfrm xmlns:a="http://schemas.openxmlformats.org/drawingml/2006/main">
            <a:off x="571500" y="14954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BAD2DA"/>
                </a:solidFill>
                <a:latin typeface="Malgun Gothic"/>
                <a:ea typeface="Malgun Gothic"/>
                <a:cs typeface="Malgun Gothic"/>
              </a:defRPr>
            </a:pPr>
            <a:r>
              <a:rPr sz="1725" b="0">
                <a:solidFill>
                  <a:srgbClr val="BAD2DA"/>
                </a:solidFill>
                <a:latin typeface="Malgun Gothic"/>
                <a:ea typeface="Malgun Gothic"/>
                <a:cs typeface="Malgun Gothic"/>
              </a:rPr>
              <a:t>정해진 순서와 입력·출력 계약을 서버가 관리합니다.</a:t>
            </a:r>
          </a:p>
        </p:txBody>
      </p:sp>
      <p:sp>
        <p:nvSpPr>
          <p:cNvPr id="4" name="">
            <a:extLst xmlns:a="http://schemas.openxmlformats.org/drawingml/2006/main">
              <a:ext uri="{FF2B5EF4-FFF2-40B4-BE49-F238E27FC236}">
                <a16:creationId xmlns:a16="http://schemas.microsoft.com/office/drawing/2014/main" id="{7CBFFE7E-A0CB-4D49-AA10-F43279C5F7FF}"/>
              </a:ext>
            </a:extLst>
          </p:cNvPr>
          <p:cNvSpPr>
            <a:spLocks xmlns:a="http://schemas.openxmlformats.org/drawingml/2006/main" noGrp="1"/>
          </p:cNvSpPr>
          <p:nvPr/>
        </p:nvSpPr>
        <p:spPr>
          <a:xfrm xmlns:a="http://schemas.openxmlformats.org/drawingml/2006/main">
            <a:off x="571500" y="6324600"/>
            <a:ext cx="11049000" cy="0"/>
          </a:xfrm>
          <a:prstGeom xmlns:a="http://schemas.openxmlformats.org/drawingml/2006/main" prst="line">
            <a:avLst/>
          </a:prstGeom>
          <a:noFill xmlns:a="http://schemas.openxmlformats.org/drawingml/2006/main"/>
          <a:ln xmlns:a="http://schemas.openxmlformats.org/drawingml/2006/main" w="9525">
            <a:solidFill>
              <a:srgbClr val="2A4959"/>
            </a:solidFill>
            <a:prstDash val="solid"/>
          </a:ln>
        </p:spPr>
      </p:sp>
      <p:sp>
        <p:nvSpPr>
          <p:cNvPr id="5" name="text-4">
            <a:extLst xmlns:a="http://schemas.openxmlformats.org/drawingml/2006/main">
              <a:ext uri="{FF2B5EF4-FFF2-40B4-BE49-F238E27FC236}">
                <a16:creationId xmlns:a16="http://schemas.microsoft.com/office/drawing/2014/main" id="{06C88BF1-7EED-4F32-9BD5-F8B2F2908AB8}"/>
              </a:ext>
            </a:extLst>
          </p:cNvPr>
          <p:cNvSpPr>
            <a:spLocks xmlns:a="http://schemas.openxmlformats.org/drawingml/2006/main" noGrp="1"/>
          </p:cNvSpPr>
          <p:nvPr/>
        </p:nvSpPr>
        <p:spPr>
          <a:xfrm xmlns:a="http://schemas.openxmlformats.org/drawingml/2006/main">
            <a:off x="571500" y="64960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8CAAB8"/>
                </a:solidFill>
                <a:latin typeface="Arial"/>
                <a:ea typeface="Arial"/>
                <a:cs typeface="Arial"/>
              </a:defRPr>
            </a:pPr>
            <a:r>
              <a:rPr sz="1050" b="1">
                <a:solidFill>
                  <a:srgbClr val="8CAAB8"/>
                </a:solidFill>
                <a:latin typeface="Arial"/>
                <a:ea typeface="Arial"/>
                <a:cs typeface="Arial"/>
              </a:rPr>
              <a:t>OLIGO-K</a:t>
            </a:r>
          </a:p>
        </p:txBody>
      </p:sp>
      <p:sp>
        <p:nvSpPr>
          <p:cNvPr id="6" name="text-5">
            <a:extLst xmlns:a="http://schemas.openxmlformats.org/drawingml/2006/main">
              <a:ext uri="{FF2B5EF4-FFF2-40B4-BE49-F238E27FC236}">
                <a16:creationId xmlns:a16="http://schemas.microsoft.com/office/drawing/2014/main" id="{4E8B2A7F-75F0-4171-828D-51C67ABBB80E}"/>
              </a:ext>
            </a:extLst>
          </p:cNvPr>
          <p:cNvSpPr>
            <a:spLocks xmlns:a="http://schemas.openxmlformats.org/drawingml/2006/main" noGrp="1"/>
          </p:cNvSpPr>
          <p:nvPr/>
        </p:nvSpPr>
        <p:spPr>
          <a:xfrm xmlns:a="http://schemas.openxmlformats.org/drawingml/2006/main">
            <a:off x="11049000" y="64674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1">
                <a:solidFill>
                  <a:srgbClr val="69D5C3"/>
                </a:solidFill>
                <a:latin typeface="Arial"/>
                <a:ea typeface="Arial"/>
                <a:cs typeface="Arial"/>
              </a:defRPr>
            </a:pPr>
            <a:r>
              <a:rPr sz="1350" b="1">
                <a:solidFill>
                  <a:srgbClr val="69D5C3"/>
                </a:solidFill>
                <a:latin typeface="Arial"/>
                <a:ea typeface="Arial"/>
                <a:cs typeface="Arial"/>
              </a:rPr>
              <a:t>25</a:t>
            </a:r>
          </a:p>
        </p:txBody>
      </p:sp>
      <p:sp>
        <p:nvSpPr>
          <p:cNvPr id="7" name="">
            <a:extLst xmlns:a="http://schemas.openxmlformats.org/drawingml/2006/main">
              <a:ext uri="{FF2B5EF4-FFF2-40B4-BE49-F238E27FC236}">
                <a16:creationId xmlns:a16="http://schemas.microsoft.com/office/drawing/2014/main" id="{37A65EAF-71FC-46B8-AE72-42D1C937105D}"/>
              </a:ext>
            </a:extLst>
          </p:cNvPr>
          <p:cNvSpPr>
            <a:spLocks xmlns:a="http://schemas.openxmlformats.org/drawingml/2006/main" noGrp="1"/>
          </p:cNvSpPr>
          <p:nvPr/>
        </p:nvSpPr>
        <p:spPr>
          <a:xfrm xmlns:a="http://schemas.openxmlformats.org/drawingml/2006/main">
            <a:off x="571500" y="2209800"/>
            <a:ext cx="2143125" cy="1028700"/>
          </a:xfrm>
          <a:prstGeom xmlns:a="http://schemas.openxmlformats.org/drawingml/2006/main" prst="rect">
            <a:avLst/>
          </a:prstGeom>
          <a:solidFill xmlns:a="http://schemas.openxmlformats.org/drawingml/2006/main">
            <a:srgbClr val="163B4C"/>
          </a:solidFill>
          <a:ln xmlns:a="http://schemas.openxmlformats.org/drawingml/2006/main" w="9525">
            <a:solidFill>
              <a:srgbClr val="366273"/>
            </a:solidFill>
          </a:ln>
        </p:spPr>
      </p:sp>
      <p:sp>
        <p:nvSpPr>
          <p:cNvPr id="8" name="text-7">
            <a:extLst xmlns:a="http://schemas.openxmlformats.org/drawingml/2006/main">
              <a:ext uri="{FF2B5EF4-FFF2-40B4-BE49-F238E27FC236}">
                <a16:creationId xmlns:a16="http://schemas.microsoft.com/office/drawing/2014/main" id="{F19364AF-EA99-4430-8CAF-8EA5F33D6B72}"/>
              </a:ext>
            </a:extLst>
          </p:cNvPr>
          <p:cNvSpPr>
            <a:spLocks xmlns:a="http://schemas.openxmlformats.org/drawingml/2006/main" noGrp="1"/>
          </p:cNvSpPr>
          <p:nvPr/>
        </p:nvSpPr>
        <p:spPr>
          <a:xfrm xmlns:a="http://schemas.openxmlformats.org/drawingml/2006/main">
            <a:off x="723900" y="2390775"/>
            <a:ext cx="18383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Evidence</a:t>
            </a:r>
          </a:p>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지역 근거</a:t>
            </a:r>
          </a:p>
        </p:txBody>
      </p:sp>
      <p:sp>
        <p:nvSpPr>
          <p:cNvPr id="9" name="">
            <a:extLst xmlns:a="http://schemas.openxmlformats.org/drawingml/2006/main">
              <a:ext uri="{FF2B5EF4-FFF2-40B4-BE49-F238E27FC236}">
                <a16:creationId xmlns:a16="http://schemas.microsoft.com/office/drawing/2014/main" id="{2612F6B8-60E8-4E75-B40A-26126666C3ED}"/>
              </a:ext>
            </a:extLst>
          </p:cNvPr>
          <p:cNvSpPr>
            <a:spLocks xmlns:a="http://schemas.openxmlformats.org/drawingml/2006/main" noGrp="1"/>
          </p:cNvSpPr>
          <p:nvPr/>
        </p:nvSpPr>
        <p:spPr>
          <a:xfrm xmlns:a="http://schemas.openxmlformats.org/drawingml/2006/main">
            <a:off x="571500" y="4010025"/>
            <a:ext cx="2143125" cy="1028700"/>
          </a:xfrm>
          <a:prstGeom xmlns:a="http://schemas.openxmlformats.org/drawingml/2006/main" prst="rect">
            <a:avLst/>
          </a:prstGeom>
          <a:solidFill xmlns:a="http://schemas.openxmlformats.org/drawingml/2006/main">
            <a:srgbClr val="163B4C"/>
          </a:solidFill>
          <a:ln xmlns:a="http://schemas.openxmlformats.org/drawingml/2006/main" w="9525">
            <a:solidFill>
              <a:srgbClr val="366273"/>
            </a:solidFill>
          </a:ln>
        </p:spPr>
      </p:sp>
      <p:sp>
        <p:nvSpPr>
          <p:cNvPr id="10" name="text-9">
            <a:extLst xmlns:a="http://schemas.openxmlformats.org/drawingml/2006/main">
              <a:ext uri="{FF2B5EF4-FFF2-40B4-BE49-F238E27FC236}">
                <a16:creationId xmlns:a16="http://schemas.microsoft.com/office/drawing/2014/main" id="{24FFFF27-6238-4E1D-BCE5-49A5C13EEF00}"/>
              </a:ext>
            </a:extLst>
          </p:cNvPr>
          <p:cNvSpPr>
            <a:spLocks xmlns:a="http://schemas.openxmlformats.org/drawingml/2006/main" noGrp="1"/>
          </p:cNvSpPr>
          <p:nvPr/>
        </p:nvSpPr>
        <p:spPr>
          <a:xfrm xmlns:a="http://schemas.openxmlformats.org/drawingml/2006/main">
            <a:off x="723900" y="4191000"/>
            <a:ext cx="18383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Case Scout</a:t>
            </a:r>
          </a:p>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공식 사례</a:t>
            </a:r>
          </a:p>
        </p:txBody>
      </p:sp>
      <p:sp>
        <p:nvSpPr>
          <p:cNvPr id="11" name="">
            <a:extLst xmlns:a="http://schemas.openxmlformats.org/drawingml/2006/main">
              <a:ext uri="{FF2B5EF4-FFF2-40B4-BE49-F238E27FC236}">
                <a16:creationId xmlns:a16="http://schemas.microsoft.com/office/drawing/2014/main" id="{092263C0-A6FA-4E30-BE39-9194ED31E3DF}"/>
              </a:ext>
            </a:extLst>
          </p:cNvPr>
          <p:cNvSpPr>
            <a:spLocks xmlns:a="http://schemas.openxmlformats.org/drawingml/2006/main" noGrp="1"/>
          </p:cNvSpPr>
          <p:nvPr/>
        </p:nvSpPr>
        <p:spPr>
          <a:xfrm xmlns:a="http://schemas.openxmlformats.org/drawingml/2006/main">
            <a:off x="3733800" y="3105150"/>
            <a:ext cx="2419350" cy="1066800"/>
          </a:xfrm>
          <a:prstGeom xmlns:a="http://schemas.openxmlformats.org/drawingml/2006/main" prst="rect">
            <a:avLst/>
          </a:prstGeom>
          <a:solidFill xmlns:a="http://schemas.openxmlformats.org/drawingml/2006/main">
            <a:srgbClr val="087F82"/>
          </a:solidFill>
          <a:ln xmlns:a="http://schemas.openxmlformats.org/drawingml/2006/main" w="9525">
            <a:solidFill>
              <a:srgbClr val="366273"/>
            </a:solidFill>
          </a:ln>
        </p:spPr>
      </p:sp>
      <p:sp>
        <p:nvSpPr>
          <p:cNvPr id="12" name="text-11">
            <a:extLst xmlns:a="http://schemas.openxmlformats.org/drawingml/2006/main">
              <a:ext uri="{FF2B5EF4-FFF2-40B4-BE49-F238E27FC236}">
                <a16:creationId xmlns:a16="http://schemas.microsoft.com/office/drawing/2014/main" id="{14EC14F9-F4DB-4463-B211-9F3B98A3F29F}"/>
              </a:ext>
            </a:extLst>
          </p:cNvPr>
          <p:cNvSpPr>
            <a:spLocks xmlns:a="http://schemas.openxmlformats.org/drawingml/2006/main" noGrp="1"/>
          </p:cNvSpPr>
          <p:nvPr/>
        </p:nvSpPr>
        <p:spPr>
          <a:xfrm xmlns:a="http://schemas.openxmlformats.org/drawingml/2006/main">
            <a:off x="3886200" y="3286125"/>
            <a:ext cx="2114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Transferability</a:t>
            </a:r>
          </a:p>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후보 비교</a:t>
            </a:r>
          </a:p>
        </p:txBody>
      </p:sp>
      <p:sp>
        <p:nvSpPr>
          <p:cNvPr id="13" name="">
            <a:extLst xmlns:a="http://schemas.openxmlformats.org/drawingml/2006/main">
              <a:ext uri="{FF2B5EF4-FFF2-40B4-BE49-F238E27FC236}">
                <a16:creationId xmlns:a16="http://schemas.microsoft.com/office/drawing/2014/main" id="{0509A198-C3CF-4E3D-835E-1E34CE1A783B}"/>
              </a:ext>
            </a:extLst>
          </p:cNvPr>
          <p:cNvSpPr>
            <a:spLocks xmlns:a="http://schemas.openxmlformats.org/drawingml/2006/main" noGrp="1"/>
          </p:cNvSpPr>
          <p:nvPr/>
        </p:nvSpPr>
        <p:spPr>
          <a:xfrm xmlns:a="http://schemas.openxmlformats.org/drawingml/2006/main">
            <a:off x="6829425" y="3105150"/>
            <a:ext cx="1952625" cy="1066800"/>
          </a:xfrm>
          <a:prstGeom xmlns:a="http://schemas.openxmlformats.org/drawingml/2006/main" prst="rect">
            <a:avLst/>
          </a:prstGeom>
          <a:solidFill xmlns:a="http://schemas.openxmlformats.org/drawingml/2006/main">
            <a:srgbClr val="087F82"/>
          </a:solidFill>
          <a:ln xmlns:a="http://schemas.openxmlformats.org/drawingml/2006/main" w="9525">
            <a:solidFill>
              <a:srgbClr val="366273"/>
            </a:solidFill>
          </a:ln>
        </p:spPr>
      </p:sp>
      <p:sp>
        <p:nvSpPr>
          <p:cNvPr id="14" name="text-13">
            <a:extLst xmlns:a="http://schemas.openxmlformats.org/drawingml/2006/main">
              <a:ext uri="{FF2B5EF4-FFF2-40B4-BE49-F238E27FC236}">
                <a16:creationId xmlns:a16="http://schemas.microsoft.com/office/drawing/2014/main" id="{12AF58E1-26FC-4E29-AD39-A651FC3C38BF}"/>
              </a:ext>
            </a:extLst>
          </p:cNvPr>
          <p:cNvSpPr>
            <a:spLocks xmlns:a="http://schemas.openxmlformats.org/drawingml/2006/main" noGrp="1"/>
          </p:cNvSpPr>
          <p:nvPr/>
        </p:nvSpPr>
        <p:spPr>
          <a:xfrm xmlns:a="http://schemas.openxmlformats.org/drawingml/2006/main">
            <a:off x="6981825" y="3286125"/>
            <a:ext cx="16478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Planner</a:t>
            </a:r>
          </a:p>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실행안 작성</a:t>
            </a:r>
          </a:p>
        </p:txBody>
      </p:sp>
      <p:sp>
        <p:nvSpPr>
          <p:cNvPr id="15" name="">
            <a:extLst xmlns:a="http://schemas.openxmlformats.org/drawingml/2006/main">
              <a:ext uri="{FF2B5EF4-FFF2-40B4-BE49-F238E27FC236}">
                <a16:creationId xmlns:a16="http://schemas.microsoft.com/office/drawing/2014/main" id="{4DAADE73-FD80-474D-A2D4-F62B49E8C0B8}"/>
              </a:ext>
            </a:extLst>
          </p:cNvPr>
          <p:cNvSpPr>
            <a:spLocks xmlns:a="http://schemas.openxmlformats.org/drawingml/2006/main" noGrp="1"/>
          </p:cNvSpPr>
          <p:nvPr/>
        </p:nvSpPr>
        <p:spPr>
          <a:xfrm xmlns:a="http://schemas.openxmlformats.org/drawingml/2006/main">
            <a:off x="9505950" y="3105150"/>
            <a:ext cx="2076450" cy="1066800"/>
          </a:xfrm>
          <a:prstGeom xmlns:a="http://schemas.openxmlformats.org/drawingml/2006/main" prst="rect">
            <a:avLst/>
          </a:prstGeom>
          <a:solidFill xmlns:a="http://schemas.openxmlformats.org/drawingml/2006/main">
            <a:srgbClr val="163B4C"/>
          </a:solidFill>
          <a:ln xmlns:a="http://schemas.openxmlformats.org/drawingml/2006/main" w="9525">
            <a:solidFill>
              <a:srgbClr val="366273"/>
            </a:solidFill>
          </a:ln>
        </p:spPr>
      </p:sp>
      <p:sp>
        <p:nvSpPr>
          <p:cNvPr id="16" name="text-15">
            <a:extLst xmlns:a="http://schemas.openxmlformats.org/drawingml/2006/main">
              <a:ext uri="{FF2B5EF4-FFF2-40B4-BE49-F238E27FC236}">
                <a16:creationId xmlns:a16="http://schemas.microsoft.com/office/drawing/2014/main" id="{212D0EEC-EAF1-4043-A502-484339E0907E}"/>
              </a:ext>
            </a:extLst>
          </p:cNvPr>
          <p:cNvSpPr>
            <a:spLocks xmlns:a="http://schemas.openxmlformats.org/drawingml/2006/main" noGrp="1"/>
          </p:cNvSpPr>
          <p:nvPr/>
        </p:nvSpPr>
        <p:spPr>
          <a:xfrm xmlns:a="http://schemas.openxmlformats.org/drawingml/2006/main">
            <a:off x="9658350" y="3286125"/>
            <a:ext cx="17716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Reviewer</a:t>
            </a:r>
          </a:p>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품질 검수</a:t>
            </a:r>
          </a:p>
        </p:txBody>
      </p:sp>
      <p:cxnSp>
        <p:nvCxnSpPr>
          <p:cNvPr id="40" name=""/>
          <p:cNvCxnSpPr>
            <a:stCxn xmlns:a="http://schemas.openxmlformats.org/drawingml/2006/main" id="7" idx="3"/>
            <a:endCxn xmlns:a="http://schemas.openxmlformats.org/drawingml/2006/main" id="11" idx="1"/>
          </p:cNvCxnSpPr>
          <p:nvPr/>
        </p:nvCxnSpPr>
        <p:spPr>
          <a:xfrm xmlns:a="http://schemas.openxmlformats.org/drawingml/2006/main">
            <a:off x="2714625" y="2724150"/>
            <a:ext cx="1019175" cy="914400"/>
          </a:xfrm>
          <a:prstGeom xmlns:a="http://schemas.openxmlformats.org/drawingml/2006/main" prst="bentConnector3">
            <a:avLst>
              <a:gd name="adj1" fmla="val 50000"/>
            </a:avLst>
          </a:prstGeom>
          <a:ln xmlns:a="http://schemas.openxmlformats.org/drawingml/2006/main" w="19050">
            <a:solidFill>
              <a:srgbClr val="69D5C3"/>
            </a:solidFill>
            <a:tailEnd type="arrow" w="med" len="med"/>
          </a:ln>
        </p:spPr>
      </p:cxnSp>
      <p:cxnSp>
        <p:nvCxnSpPr>
          <p:cNvPr id="41" name=""/>
          <p:cNvCxnSpPr>
            <a:stCxn xmlns:a="http://schemas.openxmlformats.org/drawingml/2006/main" id="9" idx="3"/>
            <a:endCxn xmlns:a="http://schemas.openxmlformats.org/drawingml/2006/main" id="11" idx="1"/>
          </p:cNvCxnSpPr>
          <p:nvPr/>
        </p:nvCxnSpPr>
        <p:spPr>
          <a:xfrm xmlns:a="http://schemas.openxmlformats.org/drawingml/2006/main" flipV="1">
            <a:off x="2714625" y="3638550"/>
            <a:ext cx="1019175" cy="885825"/>
          </a:xfrm>
          <a:prstGeom xmlns:a="http://schemas.openxmlformats.org/drawingml/2006/main" prst="bentConnector3">
            <a:avLst>
              <a:gd name="adj1" fmla="val 50000"/>
            </a:avLst>
          </a:prstGeom>
          <a:ln xmlns:a="http://schemas.openxmlformats.org/drawingml/2006/main" w="19050">
            <a:solidFill>
              <a:srgbClr val="69D5C3"/>
            </a:solidFill>
            <a:tailEnd type="arrow" w="med" len="med"/>
          </a:ln>
        </p:spPr>
      </p:cxnSp>
      <p:cxnSp>
        <p:nvCxnSpPr>
          <p:cNvPr id="42" name=""/>
          <p:cNvCxnSpPr>
            <a:stCxn xmlns:a="http://schemas.openxmlformats.org/drawingml/2006/main" id="11" idx="3"/>
            <a:endCxn xmlns:a="http://schemas.openxmlformats.org/drawingml/2006/main" id="13" idx="1"/>
          </p:cNvCxnSpPr>
          <p:nvPr/>
        </p:nvCxnSpPr>
        <p:spPr>
          <a:xfrm xmlns:a="http://schemas.openxmlformats.org/drawingml/2006/main">
            <a:off x="6153150" y="3638550"/>
            <a:ext cx="676275" cy="0"/>
          </a:xfrm>
          <a:prstGeom xmlns:a="http://schemas.openxmlformats.org/drawingml/2006/main" prst="straightConnector1">
            <a:avLst/>
          </a:prstGeom>
          <a:ln xmlns:a="http://schemas.openxmlformats.org/drawingml/2006/main" w="19050">
            <a:solidFill>
              <a:srgbClr val="69D5C3"/>
            </a:solidFill>
            <a:tailEnd type="arrow" w="med" len="med"/>
          </a:ln>
        </p:spPr>
      </p:cxnSp>
      <p:cxnSp>
        <p:nvCxnSpPr>
          <p:cNvPr id="43" name=""/>
          <p:cNvCxnSpPr>
            <a:stCxn xmlns:a="http://schemas.openxmlformats.org/drawingml/2006/main" id="13" idx="3"/>
            <a:endCxn xmlns:a="http://schemas.openxmlformats.org/drawingml/2006/main" id="15" idx="1"/>
          </p:cNvCxnSpPr>
          <p:nvPr/>
        </p:nvCxnSpPr>
        <p:spPr>
          <a:xfrm xmlns:a="http://schemas.openxmlformats.org/drawingml/2006/main">
            <a:off x="8782050" y="3638550"/>
            <a:ext cx="723900" cy="0"/>
          </a:xfrm>
          <a:prstGeom xmlns:a="http://schemas.openxmlformats.org/drawingml/2006/main" prst="straightConnector1">
            <a:avLst/>
          </a:prstGeom>
          <a:ln xmlns:a="http://schemas.openxmlformats.org/drawingml/2006/main" w="19050">
            <a:solidFill>
              <a:srgbClr val="69D5C3"/>
            </a:solidFill>
            <a:tailEnd type="arrow" w="med" len="med"/>
          </a:ln>
        </p:spPr>
      </p:cxnSp>
      <p:sp>
        <p:nvSpPr>
          <p:cNvPr id="21" name="text-20">
            <a:extLst xmlns:a="http://schemas.openxmlformats.org/drawingml/2006/main">
              <a:ext uri="{FF2B5EF4-FFF2-40B4-BE49-F238E27FC236}">
                <a16:creationId xmlns:a16="http://schemas.microsoft.com/office/drawing/2014/main" id="{687E0080-5E19-44F0-B065-F067641AC104}"/>
              </a:ext>
            </a:extLst>
          </p:cNvPr>
          <p:cNvSpPr>
            <a:spLocks xmlns:a="http://schemas.openxmlformats.org/drawingml/2006/main" noGrp="1"/>
          </p:cNvSpPr>
          <p:nvPr/>
        </p:nvSpPr>
        <p:spPr>
          <a:xfrm xmlns:a="http://schemas.openxmlformats.org/drawingml/2006/main">
            <a:off x="638175" y="5410200"/>
            <a:ext cx="2333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69D5C3"/>
                </a:solidFill>
                <a:latin typeface="Malgun Gothic"/>
                <a:ea typeface="Malgun Gothic"/>
                <a:cs typeface="Malgun Gothic"/>
              </a:defRPr>
            </a:pPr>
            <a:r>
              <a:rPr sz="1875" b="1">
                <a:solidFill>
                  <a:srgbClr val="69D5C3"/>
                </a:solidFill>
                <a:latin typeface="Malgun Gothic"/>
                <a:ea typeface="Malgun Gothic"/>
                <a:cs typeface="Malgun Gothic"/>
              </a:rPr>
              <a:t>병렬 조사</a:t>
            </a:r>
          </a:p>
        </p:txBody>
      </p:sp>
      <p:sp>
        <p:nvSpPr>
          <p:cNvPr id="22" name="text-21">
            <a:extLst xmlns:a="http://schemas.openxmlformats.org/drawingml/2006/main">
              <a:ext uri="{FF2B5EF4-FFF2-40B4-BE49-F238E27FC236}">
                <a16:creationId xmlns:a16="http://schemas.microsoft.com/office/drawing/2014/main" id="{6E601BFA-1A2C-4FC4-9578-DA1983D0A588}"/>
              </a:ext>
            </a:extLst>
          </p:cNvPr>
          <p:cNvSpPr>
            <a:spLocks xmlns:a="http://schemas.openxmlformats.org/drawingml/2006/main" noGrp="1"/>
          </p:cNvSpPr>
          <p:nvPr/>
        </p:nvSpPr>
        <p:spPr>
          <a:xfrm xmlns:a="http://schemas.openxmlformats.org/drawingml/2006/main">
            <a:off x="3705225" y="541020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69D5C3"/>
                </a:solidFill>
                <a:latin typeface="Malgun Gothic"/>
                <a:ea typeface="Malgun Gothic"/>
                <a:cs typeface="Malgun Gothic"/>
              </a:defRPr>
            </a:pPr>
            <a:r>
              <a:rPr sz="1875" b="1">
                <a:solidFill>
                  <a:srgbClr val="69D5C3"/>
                </a:solidFill>
                <a:latin typeface="Malgun Gothic"/>
                <a:ea typeface="Malgun Gothic"/>
                <a:cs typeface="Malgun Gothic"/>
              </a:rPr>
              <a:t>선정 근거와 조건 전달</a:t>
            </a:r>
          </a:p>
        </p:txBody>
      </p:sp>
      <p:sp>
        <p:nvSpPr>
          <p:cNvPr id="23" name="text-22">
            <a:extLst xmlns:a="http://schemas.openxmlformats.org/drawingml/2006/main">
              <a:ext uri="{FF2B5EF4-FFF2-40B4-BE49-F238E27FC236}">
                <a16:creationId xmlns:a16="http://schemas.microsoft.com/office/drawing/2014/main" id="{9738625F-9589-4208-91F6-2CBD7585D0F5}"/>
              </a:ext>
            </a:extLst>
          </p:cNvPr>
          <p:cNvSpPr>
            <a:spLocks xmlns:a="http://schemas.openxmlformats.org/drawingml/2006/main" noGrp="1"/>
          </p:cNvSpPr>
          <p:nvPr/>
        </p:nvSpPr>
        <p:spPr>
          <a:xfrm xmlns:a="http://schemas.openxmlformats.org/drawingml/2006/main">
            <a:off x="9020175" y="5410200"/>
            <a:ext cx="26003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69D5C3"/>
                </a:solidFill>
                <a:latin typeface="Malgun Gothic"/>
                <a:ea typeface="Malgun Gothic"/>
                <a:cs typeface="Malgun Gothic"/>
              </a:defRPr>
            </a:pPr>
            <a:r>
              <a:rPr sz="1875" b="1">
                <a:solidFill>
                  <a:srgbClr val="69D5C3"/>
                </a:solidFill>
                <a:latin typeface="Malgun Gothic"/>
                <a:ea typeface="Malgun Gothic"/>
                <a:cs typeface="Malgun Gothic"/>
              </a:rPr>
              <a:t>필요 시 1회 보완</a:t>
            </a:r>
          </a:p>
        </p:txBody>
      </p:sp>
    </p:spTree>
    <p:extLst>
      <p:ext uri="{BB962C8B-B14F-4D97-AF65-F5344CB8AC3E}">
        <p14:creationId xmlns:p14="http://schemas.microsoft.com/office/powerpoint/2010/main" val="836489641"/>
      </p:ext>
    </p:extLst>
  </p:cSld>
</p:sld>
</file>

<file path=ppt/slides/slide26.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8" name="text-0.48530115133995655">
            <a:extLst xmlns:a="http://schemas.openxmlformats.org/drawingml/2006/main">
              <a:ext uri="{FF2B5EF4-FFF2-40B4-BE49-F238E27FC236}">
                <a16:creationId xmlns:a16="http://schemas.microsoft.com/office/drawing/2014/main" id="{11D545B3-1216-4775-AF85-DC69E4BBE126}"/>
              </a:ext>
            </a:extLst>
          </p:cNvPr>
          <p:cNvSpPr>
            <a:spLocks xmlns:a="http://schemas.openxmlformats.org/drawingml/2006/main" noGrp="1"/>
          </p:cNvSpPr>
          <p:nvPr/>
        </p:nvSpPr>
        <p:spPr>
          <a:xfrm xmlns:a="http://schemas.openxmlformats.org/drawingml/2006/main">
            <a:off x="571500" y="3048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87F82"/>
                </a:solidFill>
                <a:latin typeface="Malgun Gothic"/>
                <a:ea typeface="Malgun Gothic"/>
                <a:cs typeface="Malgun Gothic"/>
              </a:defRPr>
            </a:pPr>
            <a:r>
              <a:rPr sz="1200" b="1">
                <a:solidFill>
                  <a:srgbClr val="087F82"/>
                </a:solidFill>
                <a:latin typeface="Malgun Gothic"/>
                <a:ea typeface="Malgun Gothic"/>
                <a:cs typeface="Malgun Gothic"/>
              </a:rPr>
              <a:t>04 AI와 근거</a:t>
            </a:r>
          </a:p>
        </p:txBody>
      </p:sp>
      <p:sp>
        <p:nvSpPr>
          <p:cNvPr id="2" name="text-1">
            <a:extLst xmlns:a="http://schemas.openxmlformats.org/drawingml/2006/main">
              <a:ext uri="{FF2B5EF4-FFF2-40B4-BE49-F238E27FC236}">
                <a16:creationId xmlns:a16="http://schemas.microsoft.com/office/drawing/2014/main" id="{DC84E64D-F103-42F3-A502-499B87B5B8A7}"/>
              </a:ext>
            </a:extLst>
          </p:cNvPr>
          <p:cNvSpPr>
            <a:spLocks xmlns:a="http://schemas.openxmlformats.org/drawingml/2006/main" noGrp="1"/>
          </p:cNvSpPr>
          <p:nvPr/>
        </p:nvSpPr>
        <p:spPr>
          <a:xfrm xmlns:a="http://schemas.openxmlformats.org/drawingml/2006/main">
            <a:off x="571500" y="76200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02F40"/>
                </a:solidFill>
                <a:latin typeface="Malgun Gothic"/>
                <a:ea typeface="Malgun Gothic"/>
                <a:cs typeface="Malgun Gothic"/>
              </a:defRPr>
            </a:pPr>
            <a:r>
              <a:rPr sz="3300" b="1">
                <a:solidFill>
                  <a:srgbClr val="102F40"/>
                </a:solidFill>
                <a:latin typeface="Malgun Gothic"/>
                <a:ea typeface="Malgun Gothic"/>
                <a:cs typeface="Malgun Gothic"/>
              </a:rPr>
              <a:t>각 Agent가 넘겨주는 결과</a:t>
            </a:r>
          </a:p>
        </p:txBody>
      </p:sp>
      <p:sp>
        <p:nvSpPr>
          <p:cNvPr id="3" name="">
            <a:extLst xmlns:a="http://schemas.openxmlformats.org/drawingml/2006/main">
              <a:ext uri="{FF2B5EF4-FFF2-40B4-BE49-F238E27FC236}">
                <a16:creationId xmlns:a16="http://schemas.microsoft.com/office/drawing/2014/main" id="{AC73193D-085D-4A06-8813-5582733644BD}"/>
              </a:ext>
            </a:extLst>
          </p:cNvPr>
          <p:cNvSpPr>
            <a:spLocks xmlns:a="http://schemas.openxmlformats.org/drawingml/2006/main" noGrp="1"/>
          </p:cNvSpPr>
          <p:nvPr/>
        </p:nvSpPr>
        <p:spPr>
          <a:xfrm xmlns:a="http://schemas.openxmlformats.org/drawingml/2006/main">
            <a:off x="571500" y="6324600"/>
            <a:ext cx="11049000" cy="0"/>
          </a:xfrm>
          <a:prstGeom xmlns:a="http://schemas.openxmlformats.org/drawingml/2006/main" prst="line">
            <a:avLst/>
          </a:prstGeom>
          <a:noFill xmlns:a="http://schemas.openxmlformats.org/drawingml/2006/main"/>
          <a:ln xmlns:a="http://schemas.openxmlformats.org/drawingml/2006/main" w="9525">
            <a:solidFill>
              <a:srgbClr val="CDD8D9"/>
            </a:solidFill>
            <a:prstDash val="solid"/>
          </a:ln>
        </p:spPr>
      </p:sp>
      <p:sp>
        <p:nvSpPr>
          <p:cNvPr id="4" name="text-3">
            <a:extLst xmlns:a="http://schemas.openxmlformats.org/drawingml/2006/main">
              <a:ext uri="{FF2B5EF4-FFF2-40B4-BE49-F238E27FC236}">
                <a16:creationId xmlns:a16="http://schemas.microsoft.com/office/drawing/2014/main" id="{2766672F-7947-467E-A2C6-5B33D9140005}"/>
              </a:ext>
            </a:extLst>
          </p:cNvPr>
          <p:cNvSpPr>
            <a:spLocks xmlns:a="http://schemas.openxmlformats.org/drawingml/2006/main" noGrp="1"/>
          </p:cNvSpPr>
          <p:nvPr/>
        </p:nvSpPr>
        <p:spPr>
          <a:xfrm xmlns:a="http://schemas.openxmlformats.org/drawingml/2006/main">
            <a:off x="571500" y="64960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36B78"/>
                </a:solidFill>
                <a:latin typeface="Arial"/>
                <a:ea typeface="Arial"/>
                <a:cs typeface="Arial"/>
              </a:defRPr>
            </a:pPr>
            <a:r>
              <a:rPr sz="1050" b="1">
                <a:solidFill>
                  <a:srgbClr val="536B78"/>
                </a:solidFill>
                <a:latin typeface="Arial"/>
                <a:ea typeface="Arial"/>
                <a:cs typeface="Arial"/>
              </a:rPr>
              <a:t>OLIGO-K</a:t>
            </a:r>
          </a:p>
        </p:txBody>
      </p:sp>
      <p:sp>
        <p:nvSpPr>
          <p:cNvPr id="5" name="text-4">
            <a:extLst xmlns:a="http://schemas.openxmlformats.org/drawingml/2006/main">
              <a:ext uri="{FF2B5EF4-FFF2-40B4-BE49-F238E27FC236}">
                <a16:creationId xmlns:a16="http://schemas.microsoft.com/office/drawing/2014/main" id="{60F4F31A-82C9-4AA0-A588-FCE746AA86AF}"/>
              </a:ext>
            </a:extLst>
          </p:cNvPr>
          <p:cNvSpPr>
            <a:spLocks xmlns:a="http://schemas.openxmlformats.org/drawingml/2006/main" noGrp="1"/>
          </p:cNvSpPr>
          <p:nvPr/>
        </p:nvSpPr>
        <p:spPr>
          <a:xfrm xmlns:a="http://schemas.openxmlformats.org/drawingml/2006/main">
            <a:off x="11049000" y="64674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1">
                <a:solidFill>
                  <a:srgbClr val="087F82"/>
                </a:solidFill>
                <a:latin typeface="Arial"/>
                <a:ea typeface="Arial"/>
                <a:cs typeface="Arial"/>
              </a:defRPr>
            </a:pPr>
            <a:r>
              <a:rPr sz="1350" b="1">
                <a:solidFill>
                  <a:srgbClr val="087F82"/>
                </a:solidFill>
                <a:latin typeface="Arial"/>
                <a:ea typeface="Arial"/>
                <a:cs typeface="Arial"/>
              </a:rPr>
              <a:t>26</a:t>
            </a:r>
          </a:p>
        </p:txBody>
      </p:sp>
      <p:graphicFrame>
        <p:nvGraphicFramePr>
          <p:cNvPr id="13" name=""/>
          <p:cNvGraphicFramePr/>
          <p:nvPr/>
        </p:nvGraphicFramePr>
        <p:xfrm>
          <a:off xmlns:a="http://schemas.openxmlformats.org/drawingml/2006/main" x="571500" y="2028825"/>
          <a:ext xmlns:a="http://schemas.openxmlformats.org/drawingml/2006/main" cx="11049000" cy="3619500"/>
        </p:xfrm>
        <a:graphic xmlns:a="http://schemas.openxmlformats.org/drawingml/2006/main">
          <a:graphicData uri="http://schemas.openxmlformats.org/drawingml/2006/table">
            <a:tbl>
              <a:tblPr firstRow="1" bandRow="0"/>
              <a:tblGrid>
                <a:gridCol w="2381250"/>
                <a:gridCol w="3905250"/>
                <a:gridCol w="4762500"/>
              </a:tblGrid>
              <a:tr h="603250">
                <a:tc>
                  <a:txBody>
                    <a:bodyPr/>
                    <a:lstStyle/>
                    <a:p>
                      <a:r>
                        <a:rPr sz="1800" b="1">
                          <a:solidFill>
                            <a:srgbClr val="FFFFFF"/>
                          </a:solidFill>
                          <a:latin typeface="Malgun Gothic"/>
                          <a:ea typeface="Malgun Gothic"/>
                          <a:cs typeface="Malgun Gothic"/>
                        </a:rPr>
                        <a:t>담당</a:t>
                      </a:r>
                    </a:p>
                  </a:txBody>
                  <a:tcPr marL="142875" marR="123825" marT="123825" marB="95250" anchor="ctr">
                    <a:solidFill>
                      <a:srgbClr val="102F40"/>
                    </a:solidFill>
                  </a:tcPr>
                </a:tc>
                <a:tc>
                  <a:txBody>
                    <a:bodyPr/>
                    <a:lstStyle/>
                    <a:p>
                      <a:r>
                        <a:rPr sz="1800" b="1">
                          <a:solidFill>
                            <a:srgbClr val="FFFFFF"/>
                          </a:solidFill>
                          <a:latin typeface="Malgun Gothic"/>
                          <a:ea typeface="Malgun Gothic"/>
                          <a:cs typeface="Malgun Gothic"/>
                        </a:rPr>
                        <a:t>받는 정보</a:t>
                      </a:r>
                    </a:p>
                  </a:txBody>
                  <a:tcPr marL="142875" marR="123825" marT="123825" marB="95250" anchor="ctr">
                    <a:solidFill>
                      <a:srgbClr val="102F40"/>
                    </a:solidFill>
                  </a:tcPr>
                </a:tc>
                <a:tc>
                  <a:txBody>
                    <a:bodyPr/>
                    <a:lstStyle/>
                    <a:p>
                      <a:r>
                        <a:rPr sz="1800" b="1">
                          <a:solidFill>
                            <a:srgbClr val="FFFFFF"/>
                          </a:solidFill>
                          <a:latin typeface="Malgun Gothic"/>
                          <a:ea typeface="Malgun Gothic"/>
                          <a:cs typeface="Malgun Gothic"/>
                        </a:rPr>
                        <a:t>다음 단계에 전달</a:t>
                      </a:r>
                    </a:p>
                  </a:txBody>
                  <a:tcPr marL="142875" marR="123825" marT="123825" marB="95250" anchor="ctr">
                    <a:solidFill>
                      <a:srgbClr val="102F40"/>
                    </a:solidFill>
                  </a:tcPr>
                </a:tc>
              </a:tr>
              <a:tr h="603250">
                <a:tc>
                  <a:txBody>
                    <a:bodyPr/>
                    <a:lstStyle/>
                    <a:p>
                      <a:r>
                        <a:rPr sz="1800" b="0">
                          <a:solidFill>
                            <a:srgbClr val="102F40"/>
                          </a:solidFill>
                          <a:latin typeface="Malgun Gothic"/>
                          <a:ea typeface="Malgun Gothic"/>
                          <a:cs typeface="Malgun Gothic"/>
                        </a:rPr>
                        <a:t>Evidence</a:t>
                      </a:r>
                    </a:p>
                  </a:txBody>
                  <a:tcPr marL="142875" marR="123825" marT="123825" marB="95250" anchor="ctr">
                    <a:solidFill>
                      <a:srgbClr val="FFFFFF"/>
                    </a:solidFill>
                  </a:tcPr>
                </a:tc>
                <a:tc>
                  <a:txBody>
                    <a:bodyPr/>
                    <a:lstStyle/>
                    <a:p>
                      <a:r>
                        <a:rPr sz="1800" b="0">
                          <a:solidFill>
                            <a:srgbClr val="102F40"/>
                          </a:solidFill>
                          <a:latin typeface="Malgun Gothic"/>
                          <a:ea typeface="Malgun Gothic"/>
                          <a:cs typeface="Malgun Gothic"/>
                        </a:rPr>
                        <a:t>관측·ML·지역 자원</a:t>
                      </a:r>
                    </a:p>
                  </a:txBody>
                  <a:tcPr marL="142875" marR="123825" marT="123825" marB="95250" anchor="ctr">
                    <a:solidFill>
                      <a:srgbClr val="FFFFFF"/>
                    </a:solidFill>
                  </a:tcPr>
                </a:tc>
                <a:tc>
                  <a:txBody>
                    <a:bodyPr/>
                    <a:lstStyle/>
                    <a:p>
                      <a:r>
                        <a:rPr sz="1800" b="0">
                          <a:solidFill>
                            <a:srgbClr val="102F40"/>
                          </a:solidFill>
                          <a:latin typeface="Malgun Gothic"/>
                          <a:ea typeface="Malgun Gothic"/>
                          <a:cs typeface="Malgun Gothic"/>
                        </a:rPr>
                        <a:t>지역 문제와 근거 묶음</a:t>
                      </a:r>
                    </a:p>
                  </a:txBody>
                  <a:tcPr marL="142875" marR="123825" marT="123825" marB="95250" anchor="ctr">
                    <a:solidFill>
                      <a:srgbClr val="FFFFFF"/>
                    </a:solidFill>
                  </a:tcPr>
                </a:tc>
              </a:tr>
              <a:tr h="603250">
                <a:tc>
                  <a:txBody>
                    <a:bodyPr/>
                    <a:lstStyle/>
                    <a:p>
                      <a:r>
                        <a:rPr sz="1800" b="0">
                          <a:solidFill>
                            <a:srgbClr val="102F40"/>
                          </a:solidFill>
                          <a:latin typeface="Malgun Gothic"/>
                          <a:ea typeface="Malgun Gothic"/>
                          <a:cs typeface="Malgun Gothic"/>
                        </a:rPr>
                        <a:t>Case Scout</a:t>
                      </a:r>
                    </a:p>
                  </a:txBody>
                  <a:tcPr marL="142875" marR="123825" marT="123825" marB="95250" anchor="ctr">
                    <a:solidFill>
                      <a:srgbClr val="F6F7F4"/>
                    </a:solidFill>
                  </a:tcPr>
                </a:tc>
                <a:tc>
                  <a:txBody>
                    <a:bodyPr/>
                    <a:lstStyle/>
                    <a:p>
                      <a:r>
                        <a:rPr sz="1800" b="0">
                          <a:solidFill>
                            <a:srgbClr val="102F40"/>
                          </a:solidFill>
                          <a:latin typeface="Malgun Gothic"/>
                          <a:ea typeface="Malgun Gothic"/>
                          <a:cs typeface="Malgun Gothic"/>
                        </a:rPr>
                        <a:t>사업 방향·조사 질문</a:t>
                      </a:r>
                    </a:p>
                  </a:txBody>
                  <a:tcPr marL="142875" marR="123825" marT="123825" marB="95250" anchor="ctr">
                    <a:solidFill>
                      <a:srgbClr val="F6F7F4"/>
                    </a:solidFill>
                  </a:tcPr>
                </a:tc>
                <a:tc>
                  <a:txBody>
                    <a:bodyPr/>
                    <a:lstStyle/>
                    <a:p>
                      <a:r>
                        <a:rPr sz="1800" b="0">
                          <a:solidFill>
                            <a:srgbClr val="102F40"/>
                          </a:solidFill>
                          <a:latin typeface="Malgun Gothic"/>
                          <a:ea typeface="Malgun Gothic"/>
                          <a:cs typeface="Malgun Gothic"/>
                        </a:rPr>
                        <a:t>원문이 연결된 운영 사례</a:t>
                      </a:r>
                    </a:p>
                  </a:txBody>
                  <a:tcPr marL="142875" marR="123825" marT="123825" marB="95250" anchor="ctr">
                    <a:solidFill>
                      <a:srgbClr val="F6F7F4"/>
                    </a:solidFill>
                  </a:tcPr>
                </a:tc>
              </a:tr>
              <a:tr h="603250">
                <a:tc>
                  <a:txBody>
                    <a:bodyPr/>
                    <a:lstStyle/>
                    <a:p>
                      <a:r>
                        <a:rPr sz="1800" b="0">
                          <a:solidFill>
                            <a:srgbClr val="102F40"/>
                          </a:solidFill>
                          <a:latin typeface="Malgun Gothic"/>
                          <a:ea typeface="Malgun Gothic"/>
                          <a:cs typeface="Malgun Gothic"/>
                        </a:rPr>
                        <a:t>Transferability</a:t>
                      </a:r>
                    </a:p>
                  </a:txBody>
                  <a:tcPr marL="142875" marR="123825" marT="123825" marB="95250" anchor="ctr">
                    <a:solidFill>
                      <a:srgbClr val="FFFFFF"/>
                    </a:solidFill>
                  </a:tcPr>
                </a:tc>
                <a:tc>
                  <a:txBody>
                    <a:bodyPr/>
                    <a:lstStyle/>
                    <a:p>
                      <a:r>
                        <a:rPr sz="1800" b="0">
                          <a:solidFill>
                            <a:srgbClr val="102F40"/>
                          </a:solidFill>
                          <a:latin typeface="Malgun Gothic"/>
                          <a:ea typeface="Malgun Gothic"/>
                          <a:cs typeface="Malgun Gothic"/>
                        </a:rPr>
                        <a:t>지역 조건·사례 후보</a:t>
                      </a:r>
                    </a:p>
                  </a:txBody>
                  <a:tcPr marL="142875" marR="123825" marT="123825" marB="95250" anchor="ctr">
                    <a:solidFill>
                      <a:srgbClr val="FFFFFF"/>
                    </a:solidFill>
                  </a:tcPr>
                </a:tc>
                <a:tc>
                  <a:txBody>
                    <a:bodyPr/>
                    <a:lstStyle/>
                    <a:p>
                      <a:r>
                        <a:rPr sz="1800" b="0">
                          <a:solidFill>
                            <a:srgbClr val="102F40"/>
                          </a:solidFill>
                          <a:latin typeface="Malgun Gothic"/>
                          <a:ea typeface="Malgun Gothic"/>
                          <a:cs typeface="Malgun Gothic"/>
                        </a:rPr>
                        <a:t>선정·제외 이유와 적용 조건</a:t>
                      </a:r>
                    </a:p>
                  </a:txBody>
                  <a:tcPr marL="142875" marR="123825" marT="123825" marB="95250" anchor="ctr">
                    <a:solidFill>
                      <a:srgbClr val="FFFFFF"/>
                    </a:solidFill>
                  </a:tcPr>
                </a:tc>
              </a:tr>
              <a:tr h="603250">
                <a:tc>
                  <a:txBody>
                    <a:bodyPr/>
                    <a:lstStyle/>
                    <a:p>
                      <a:r>
                        <a:rPr sz="1800" b="0">
                          <a:solidFill>
                            <a:srgbClr val="102F40"/>
                          </a:solidFill>
                          <a:latin typeface="Malgun Gothic"/>
                          <a:ea typeface="Malgun Gothic"/>
                          <a:cs typeface="Malgun Gothic"/>
                        </a:rPr>
                        <a:t>Planner</a:t>
                      </a:r>
                    </a:p>
                  </a:txBody>
                  <a:tcPr marL="142875" marR="123825" marT="123825" marB="95250" anchor="ctr">
                    <a:solidFill>
                      <a:srgbClr val="F6F7F4"/>
                    </a:solidFill>
                  </a:tcPr>
                </a:tc>
                <a:tc>
                  <a:txBody>
                    <a:bodyPr/>
                    <a:lstStyle/>
                    <a:p>
                      <a:r>
                        <a:rPr sz="1800" b="0">
                          <a:solidFill>
                            <a:srgbClr val="102F40"/>
                          </a:solidFill>
                          <a:latin typeface="Malgun Gothic"/>
                          <a:ea typeface="Malgun Gothic"/>
                          <a:cs typeface="Malgun Gothic"/>
                        </a:rPr>
                        <a:t>선정 후보·사업 여건</a:t>
                      </a:r>
                    </a:p>
                  </a:txBody>
                  <a:tcPr marL="142875" marR="123825" marT="123825" marB="95250" anchor="ctr">
                    <a:solidFill>
                      <a:srgbClr val="F6F7F4"/>
                    </a:solidFill>
                  </a:tcPr>
                </a:tc>
                <a:tc>
                  <a:txBody>
                    <a:bodyPr/>
                    <a:lstStyle/>
                    <a:p>
                      <a:r>
                        <a:rPr sz="1800" b="0">
                          <a:solidFill>
                            <a:srgbClr val="102F40"/>
                          </a:solidFill>
                          <a:latin typeface="Malgun Gothic"/>
                          <a:ea typeface="Malgun Gothic"/>
                          <a:cs typeface="Malgun Gothic"/>
                        </a:rPr>
                        <a:t>실행안·KPI·예산 구조 JSON</a:t>
                      </a:r>
                    </a:p>
                  </a:txBody>
                  <a:tcPr marL="142875" marR="123825" marT="123825" marB="95250" anchor="ctr">
                    <a:solidFill>
                      <a:srgbClr val="F6F7F4"/>
                    </a:solidFill>
                  </a:tcPr>
                </a:tc>
              </a:tr>
              <a:tr h="603250">
                <a:tc>
                  <a:txBody>
                    <a:bodyPr/>
                    <a:lstStyle/>
                    <a:p>
                      <a:r>
                        <a:rPr sz="1800" b="0">
                          <a:solidFill>
                            <a:srgbClr val="102F40"/>
                          </a:solidFill>
                          <a:latin typeface="Malgun Gothic"/>
                          <a:ea typeface="Malgun Gothic"/>
                          <a:cs typeface="Malgun Gothic"/>
                        </a:rPr>
                        <a:t>Reviewer</a:t>
                      </a:r>
                    </a:p>
                  </a:txBody>
                  <a:tcPr marL="142875" marR="123825" marT="123825" marB="95250" anchor="ctr">
                    <a:solidFill>
                      <a:srgbClr val="FFFFFF"/>
                    </a:solidFill>
                  </a:tcPr>
                </a:tc>
                <a:tc>
                  <a:txBody>
                    <a:bodyPr/>
                    <a:lstStyle/>
                    <a:p>
                      <a:r>
                        <a:rPr sz="1800" b="0">
                          <a:solidFill>
                            <a:srgbClr val="102F40"/>
                          </a:solidFill>
                          <a:latin typeface="Malgun Gothic"/>
                          <a:ea typeface="Malgun Gothic"/>
                          <a:cs typeface="Malgun Gothic"/>
                        </a:rPr>
                        <a:t>완성 초안·원문 근거</a:t>
                      </a:r>
                    </a:p>
                  </a:txBody>
                  <a:tcPr marL="142875" marR="123825" marT="123825" marB="95250" anchor="ctr">
                    <a:solidFill>
                      <a:srgbClr val="FFFFFF"/>
                    </a:solidFill>
                  </a:tcPr>
                </a:tc>
                <a:tc>
                  <a:txBody>
                    <a:bodyPr/>
                    <a:lstStyle/>
                    <a:p>
                      <a:r>
                        <a:rPr sz="1800" b="0">
                          <a:solidFill>
                            <a:srgbClr val="102F40"/>
                          </a:solidFill>
                          <a:latin typeface="Malgun Gothic"/>
                          <a:ea typeface="Malgun Gothic"/>
                          <a:cs typeface="Malgun Gothic"/>
                        </a:rPr>
                        <a:t>점수·문제·보완 필요 여부</a:t>
                      </a:r>
                    </a:p>
                  </a:txBody>
                  <a:tcPr marL="142875" marR="123825" marT="123825" marB="95250" anchor="ctr">
                    <a:solidFill>
                      <a:srgbClr val="FFFFFF"/>
                    </a:solidFill>
                  </a:tcPr>
                </a:tc>
              </a:tr>
            </a:tbl>
          </a:graphicData>
        </a:graphic>
      </p:graphicFrame>
      <p:sp>
        <p:nvSpPr>
          <p:cNvPr id="7" name="text-5">
            <a:extLst xmlns:a="http://schemas.openxmlformats.org/drawingml/2006/main">
              <a:ext uri="{FF2B5EF4-FFF2-40B4-BE49-F238E27FC236}">
                <a16:creationId xmlns:a16="http://schemas.microsoft.com/office/drawing/2014/main" id="{2A5BE0FC-F398-4493-B27F-2CC07994C9BE}"/>
              </a:ext>
            </a:extLst>
          </p:cNvPr>
          <p:cNvSpPr>
            <a:spLocks xmlns:a="http://schemas.openxmlformats.org/drawingml/2006/main" noGrp="1"/>
          </p:cNvSpPr>
          <p:nvPr/>
        </p:nvSpPr>
        <p:spPr>
          <a:xfrm xmlns:a="http://schemas.openxmlformats.org/drawingml/2006/main">
            <a:off x="571500" y="585787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87F82"/>
                </a:solidFill>
                <a:latin typeface="Malgun Gothic"/>
                <a:ea typeface="Malgun Gothic"/>
                <a:cs typeface="Malgun Gothic"/>
              </a:defRPr>
            </a:pPr>
            <a:r>
              <a:rPr sz="1800" b="1">
                <a:solidFill>
                  <a:srgbClr val="087F82"/>
                </a:solidFill>
                <a:latin typeface="Malgun Gothic"/>
                <a:ea typeface="Malgun Gothic"/>
                <a:cs typeface="Malgun Gothic"/>
              </a:rPr>
              <a:t>공식 자료의 사실과 사용자가 입력한 조건을 서로 다른 필드에 보관합니다.</a:t>
            </a:r>
          </a:p>
        </p:txBody>
      </p:sp>
    </p:spTree>
    <p:extLst>
      <p:ext uri="{BB962C8B-B14F-4D97-AF65-F5344CB8AC3E}">
        <p14:creationId xmlns:p14="http://schemas.microsoft.com/office/powerpoint/2010/main" val="1228189696"/>
      </p:ext>
    </p:extLst>
  </p:cSld>
</p:sld>
</file>

<file path=ppt/slides/slide27.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9" name="text-0.47869275317021787">
            <a:extLst xmlns:a="http://schemas.openxmlformats.org/drawingml/2006/main">
              <a:ext uri="{FF2B5EF4-FFF2-40B4-BE49-F238E27FC236}">
                <a16:creationId xmlns:a16="http://schemas.microsoft.com/office/drawing/2014/main" id="{04F34D03-14D5-4CB3-957B-F76EB69AAEF7}"/>
              </a:ext>
            </a:extLst>
          </p:cNvPr>
          <p:cNvSpPr>
            <a:spLocks xmlns:a="http://schemas.openxmlformats.org/drawingml/2006/main" noGrp="1"/>
          </p:cNvSpPr>
          <p:nvPr/>
        </p:nvSpPr>
        <p:spPr>
          <a:xfrm xmlns:a="http://schemas.openxmlformats.org/drawingml/2006/main">
            <a:off x="571500" y="3048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87F82"/>
                </a:solidFill>
                <a:latin typeface="Malgun Gothic"/>
                <a:ea typeface="Malgun Gothic"/>
                <a:cs typeface="Malgun Gothic"/>
              </a:defRPr>
            </a:pPr>
            <a:r>
              <a:rPr sz="1200" b="1">
                <a:solidFill>
                  <a:srgbClr val="087F82"/>
                </a:solidFill>
                <a:latin typeface="Malgun Gothic"/>
                <a:ea typeface="Malgun Gothic"/>
                <a:cs typeface="Malgun Gothic"/>
              </a:rPr>
              <a:t>04 AI와 근거</a:t>
            </a:r>
          </a:p>
        </p:txBody>
      </p:sp>
      <p:sp>
        <p:nvSpPr>
          <p:cNvPr id="2" name="text-1">
            <a:extLst xmlns:a="http://schemas.openxmlformats.org/drawingml/2006/main">
              <a:ext uri="{FF2B5EF4-FFF2-40B4-BE49-F238E27FC236}">
                <a16:creationId xmlns:a16="http://schemas.microsoft.com/office/drawing/2014/main" id="{328AA818-C97D-4648-98A1-9FCF6DF2F775}"/>
              </a:ext>
            </a:extLst>
          </p:cNvPr>
          <p:cNvSpPr>
            <a:spLocks xmlns:a="http://schemas.openxmlformats.org/drawingml/2006/main" noGrp="1"/>
          </p:cNvSpPr>
          <p:nvPr/>
        </p:nvSpPr>
        <p:spPr>
          <a:xfrm xmlns:a="http://schemas.openxmlformats.org/drawingml/2006/main">
            <a:off x="571500" y="76200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02F40"/>
                </a:solidFill>
                <a:latin typeface="Malgun Gothic"/>
                <a:ea typeface="Malgun Gothic"/>
                <a:cs typeface="Malgun Gothic"/>
              </a:defRPr>
            </a:pPr>
            <a:r>
              <a:rPr sz="3300" b="1">
                <a:solidFill>
                  <a:srgbClr val="102F40"/>
                </a:solidFill>
                <a:latin typeface="Malgun Gothic"/>
                <a:ea typeface="Malgun Gothic"/>
                <a:cs typeface="Malgun Gothic"/>
              </a:rPr>
              <a:t>업무 역할과 실행 모델은 Router로 연결합니다</a:t>
            </a:r>
          </a:p>
        </p:txBody>
      </p:sp>
      <p:sp>
        <p:nvSpPr>
          <p:cNvPr id="3" name="">
            <a:extLst xmlns:a="http://schemas.openxmlformats.org/drawingml/2006/main">
              <a:ext uri="{FF2B5EF4-FFF2-40B4-BE49-F238E27FC236}">
                <a16:creationId xmlns:a16="http://schemas.microsoft.com/office/drawing/2014/main" id="{58DE15C5-4787-4937-8977-31E2FE9846D2}"/>
              </a:ext>
            </a:extLst>
          </p:cNvPr>
          <p:cNvSpPr>
            <a:spLocks xmlns:a="http://schemas.openxmlformats.org/drawingml/2006/main" noGrp="1"/>
          </p:cNvSpPr>
          <p:nvPr/>
        </p:nvSpPr>
        <p:spPr>
          <a:xfrm xmlns:a="http://schemas.openxmlformats.org/drawingml/2006/main">
            <a:off x="571500" y="6324600"/>
            <a:ext cx="11049000" cy="0"/>
          </a:xfrm>
          <a:prstGeom xmlns:a="http://schemas.openxmlformats.org/drawingml/2006/main" prst="line">
            <a:avLst/>
          </a:prstGeom>
          <a:noFill xmlns:a="http://schemas.openxmlformats.org/drawingml/2006/main"/>
          <a:ln xmlns:a="http://schemas.openxmlformats.org/drawingml/2006/main" w="9525">
            <a:solidFill>
              <a:srgbClr val="CDD8D9"/>
            </a:solidFill>
            <a:prstDash val="solid"/>
          </a:ln>
        </p:spPr>
      </p:sp>
      <p:sp>
        <p:nvSpPr>
          <p:cNvPr id="4" name="text-3">
            <a:extLst xmlns:a="http://schemas.openxmlformats.org/drawingml/2006/main">
              <a:ext uri="{FF2B5EF4-FFF2-40B4-BE49-F238E27FC236}">
                <a16:creationId xmlns:a16="http://schemas.microsoft.com/office/drawing/2014/main" id="{24EB13BA-D450-4FFB-AC62-7493956D3E2E}"/>
              </a:ext>
            </a:extLst>
          </p:cNvPr>
          <p:cNvSpPr>
            <a:spLocks xmlns:a="http://schemas.openxmlformats.org/drawingml/2006/main" noGrp="1"/>
          </p:cNvSpPr>
          <p:nvPr/>
        </p:nvSpPr>
        <p:spPr>
          <a:xfrm xmlns:a="http://schemas.openxmlformats.org/drawingml/2006/main">
            <a:off x="571500" y="64960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36B78"/>
                </a:solidFill>
                <a:latin typeface="Arial"/>
                <a:ea typeface="Arial"/>
                <a:cs typeface="Arial"/>
              </a:defRPr>
            </a:pPr>
            <a:r>
              <a:rPr sz="1050" b="1">
                <a:solidFill>
                  <a:srgbClr val="536B78"/>
                </a:solidFill>
                <a:latin typeface="Arial"/>
                <a:ea typeface="Arial"/>
                <a:cs typeface="Arial"/>
              </a:rPr>
              <a:t>OLIGO-K</a:t>
            </a:r>
          </a:p>
        </p:txBody>
      </p:sp>
      <p:sp>
        <p:nvSpPr>
          <p:cNvPr id="5" name="text-4">
            <a:extLst xmlns:a="http://schemas.openxmlformats.org/drawingml/2006/main">
              <a:ext uri="{FF2B5EF4-FFF2-40B4-BE49-F238E27FC236}">
                <a16:creationId xmlns:a16="http://schemas.microsoft.com/office/drawing/2014/main" id="{1B575D92-E057-4E50-A1FE-DFDB434059A6}"/>
              </a:ext>
            </a:extLst>
          </p:cNvPr>
          <p:cNvSpPr>
            <a:spLocks xmlns:a="http://schemas.openxmlformats.org/drawingml/2006/main" noGrp="1"/>
          </p:cNvSpPr>
          <p:nvPr/>
        </p:nvSpPr>
        <p:spPr>
          <a:xfrm xmlns:a="http://schemas.openxmlformats.org/drawingml/2006/main">
            <a:off x="11049000" y="64674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1">
                <a:solidFill>
                  <a:srgbClr val="087F82"/>
                </a:solidFill>
                <a:latin typeface="Arial"/>
                <a:ea typeface="Arial"/>
                <a:cs typeface="Arial"/>
              </a:defRPr>
            </a:pPr>
            <a:r>
              <a:rPr sz="1350" b="1">
                <a:solidFill>
                  <a:srgbClr val="087F82"/>
                </a:solidFill>
                <a:latin typeface="Arial"/>
                <a:ea typeface="Arial"/>
                <a:cs typeface="Arial"/>
              </a:rPr>
              <a:t>27</a:t>
            </a:r>
          </a:p>
        </p:txBody>
      </p:sp>
      <p:graphicFrame>
        <p:nvGraphicFramePr>
          <p:cNvPr id="14" name=""/>
          <p:cNvGraphicFramePr/>
          <p:nvPr/>
        </p:nvGraphicFramePr>
        <p:xfrm>
          <a:off xmlns:a="http://schemas.openxmlformats.org/drawingml/2006/main" x="571500" y="2095500"/>
          <a:ext xmlns:a="http://schemas.openxmlformats.org/drawingml/2006/main" cx="11049000" cy="2924175"/>
        </p:xfrm>
        <a:graphic xmlns:a="http://schemas.openxmlformats.org/drawingml/2006/main">
          <a:graphicData uri="http://schemas.openxmlformats.org/drawingml/2006/table">
            <a:tbl>
              <a:tblPr firstRow="1" bandRow="0"/>
              <a:tblGrid>
                <a:gridCol w="3429000"/>
                <a:gridCol w="3810000"/>
                <a:gridCol w="3810000"/>
              </a:tblGrid>
              <a:tr h="584835">
                <a:tc>
                  <a:txBody>
                    <a:bodyPr/>
                    <a:lstStyle/>
                    <a:p>
                      <a:r>
                        <a:rPr sz="1800" b="1">
                          <a:solidFill>
                            <a:srgbClr val="FFFFFF"/>
                          </a:solidFill>
                          <a:latin typeface="Malgun Gothic"/>
                          <a:ea typeface="Malgun Gothic"/>
                          <a:cs typeface="Malgun Gothic"/>
                        </a:rPr>
                        <a:t>업무</a:t>
                      </a:r>
                    </a:p>
                  </a:txBody>
                  <a:tcPr marL="142875" marR="123825" marT="123825" marB="95250" anchor="ctr">
                    <a:solidFill>
                      <a:srgbClr val="102F40"/>
                    </a:solidFill>
                  </a:tcPr>
                </a:tc>
                <a:tc>
                  <a:txBody>
                    <a:bodyPr/>
                    <a:lstStyle/>
                    <a:p>
                      <a:r>
                        <a:rPr sz="1800" b="1">
                          <a:solidFill>
                            <a:srgbClr val="FFFFFF"/>
                          </a:solidFill>
                          <a:latin typeface="Malgun Gothic"/>
                          <a:ea typeface="Malgun Gothic"/>
                          <a:cs typeface="Malgun Gothic"/>
                        </a:rPr>
                        <a:t>로컬우선 Gemma 모드</a:t>
                      </a:r>
                    </a:p>
                  </a:txBody>
                  <a:tcPr marL="142875" marR="123825" marT="123825" marB="95250" anchor="ctr">
                    <a:solidFill>
                      <a:srgbClr val="102F40"/>
                    </a:solidFill>
                  </a:tcPr>
                </a:tc>
                <a:tc>
                  <a:txBody>
                    <a:bodyPr/>
                    <a:lstStyle/>
                    <a:p>
                      <a:r>
                        <a:rPr sz="1800" b="1">
                          <a:solidFill>
                            <a:srgbClr val="FFFFFF"/>
                          </a:solidFill>
                          <a:latin typeface="Malgun Gothic"/>
                          <a:ea typeface="Malgun Gothic"/>
                          <a:cs typeface="Malgun Gothic"/>
                        </a:rPr>
                        <a:t>AWS 현재 배포 설정</a:t>
                      </a:r>
                    </a:p>
                  </a:txBody>
                  <a:tcPr marL="142875" marR="123825" marT="123825" marB="95250" anchor="ctr">
                    <a:solidFill>
                      <a:srgbClr val="102F40"/>
                    </a:solidFill>
                  </a:tcPr>
                </a:tc>
              </a:tr>
              <a:tr h="584835">
                <a:tc>
                  <a:txBody>
                    <a:bodyPr/>
                    <a:lstStyle/>
                    <a:p>
                      <a:r>
                        <a:rPr sz="1800" b="0">
                          <a:solidFill>
                            <a:srgbClr val="102F40"/>
                          </a:solidFill>
                          <a:latin typeface="Malgun Gothic"/>
                          <a:ea typeface="Malgun Gothic"/>
                          <a:cs typeface="Malgun Gothic"/>
                        </a:rPr>
                        <a:t>공식 지역·사례 조사</a:t>
                      </a:r>
                    </a:p>
                  </a:txBody>
                  <a:tcPr marL="142875" marR="123825" marT="123825" marB="95250" anchor="ctr">
                    <a:solidFill>
                      <a:srgbClr val="FFFFFF"/>
                    </a:solidFill>
                  </a:tcPr>
                </a:tc>
                <a:tc>
                  <a:txBody>
                    <a:bodyPr/>
                    <a:lstStyle/>
                    <a:p>
                      <a:r>
                        <a:rPr sz="1800" b="0">
                          <a:solidFill>
                            <a:srgbClr val="102F40"/>
                          </a:solidFill>
                          <a:latin typeface="Malgun Gothic"/>
                          <a:ea typeface="Malgun Gothic"/>
                          <a:cs typeface="Malgun Gothic"/>
                        </a:rPr>
                        <a:t>OpenAI</a:t>
                      </a:r>
                    </a:p>
                  </a:txBody>
                  <a:tcPr marL="142875" marR="123825" marT="123825" marB="95250" anchor="ctr">
                    <a:solidFill>
                      <a:srgbClr val="FFFFFF"/>
                    </a:solidFill>
                  </a:tcPr>
                </a:tc>
                <a:tc>
                  <a:txBody>
                    <a:bodyPr/>
                    <a:lstStyle/>
                    <a:p>
                      <a:r>
                        <a:rPr sz="1800" b="0">
                          <a:solidFill>
                            <a:srgbClr val="102F40"/>
                          </a:solidFill>
                          <a:latin typeface="Malgun Gothic"/>
                          <a:ea typeface="Malgun Gothic"/>
                          <a:cs typeface="Malgun Gothic"/>
                        </a:rPr>
                        <a:t>OpenAI</a:t>
                      </a:r>
                    </a:p>
                  </a:txBody>
                  <a:tcPr marL="142875" marR="123825" marT="123825" marB="95250" anchor="ctr">
                    <a:solidFill>
                      <a:srgbClr val="FFFFFF"/>
                    </a:solidFill>
                  </a:tcPr>
                </a:tc>
              </a:tr>
              <a:tr h="584835">
                <a:tc>
                  <a:txBody>
                    <a:bodyPr/>
                    <a:lstStyle/>
                    <a:p>
                      <a:r>
                        <a:rPr sz="1800" b="0">
                          <a:solidFill>
                            <a:srgbClr val="102F40"/>
                          </a:solidFill>
                          <a:latin typeface="Malgun Gothic"/>
                          <a:ea typeface="Malgun Gothic"/>
                          <a:cs typeface="Malgun Gothic"/>
                        </a:rPr>
                        <a:t>비교·작성·수정·로컬 검수</a:t>
                      </a:r>
                    </a:p>
                  </a:txBody>
                  <a:tcPr marL="142875" marR="123825" marT="123825" marB="95250" anchor="ctr">
                    <a:solidFill>
                      <a:srgbClr val="F6F7F4"/>
                    </a:solidFill>
                  </a:tcPr>
                </a:tc>
                <a:tc>
                  <a:txBody>
                    <a:bodyPr/>
                    <a:lstStyle/>
                    <a:p>
                      <a:r>
                        <a:rPr sz="1800" b="0">
                          <a:solidFill>
                            <a:srgbClr val="102F40"/>
                          </a:solidFill>
                          <a:latin typeface="Malgun Gothic"/>
                          <a:ea typeface="Malgun Gothic"/>
                          <a:cs typeface="Malgun Gothic"/>
                        </a:rPr>
                        <a:t>Ollama의 Gemma</a:t>
                      </a:r>
                    </a:p>
                  </a:txBody>
                  <a:tcPr marL="142875" marR="123825" marT="123825" marB="95250" anchor="ctr">
                    <a:solidFill>
                      <a:srgbClr val="F6F7F4"/>
                    </a:solidFill>
                  </a:tcPr>
                </a:tc>
                <a:tc>
                  <a:txBody>
                    <a:bodyPr/>
                    <a:lstStyle/>
                    <a:p>
                      <a:r>
                        <a:rPr sz="1800" b="0">
                          <a:solidFill>
                            <a:srgbClr val="102F40"/>
                          </a:solidFill>
                          <a:latin typeface="Malgun Gothic"/>
                          <a:ea typeface="Malgun Gothic"/>
                          <a:cs typeface="Malgun Gothic"/>
                        </a:rPr>
                        <a:t>OpenAI</a:t>
                      </a:r>
                    </a:p>
                  </a:txBody>
                  <a:tcPr marL="142875" marR="123825" marT="123825" marB="95250" anchor="ctr">
                    <a:solidFill>
                      <a:srgbClr val="F6F7F4"/>
                    </a:solidFill>
                  </a:tcPr>
                </a:tc>
              </a:tr>
              <a:tr h="584835">
                <a:tc>
                  <a:txBody>
                    <a:bodyPr/>
                    <a:lstStyle/>
                    <a:p>
                      <a:r>
                        <a:rPr sz="1800" b="0">
                          <a:solidFill>
                            <a:srgbClr val="102F40"/>
                          </a:solidFill>
                          <a:latin typeface="Malgun Gothic"/>
                          <a:ea typeface="Malgun Gothic"/>
                          <a:cs typeface="Malgun Gothic"/>
                        </a:rPr>
                        <a:t>독립 최종 검수</a:t>
                      </a:r>
                    </a:p>
                  </a:txBody>
                  <a:tcPr marL="142875" marR="123825" marT="123825" marB="95250" anchor="ctr">
                    <a:solidFill>
                      <a:srgbClr val="FFFFFF"/>
                    </a:solidFill>
                  </a:tcPr>
                </a:tc>
                <a:tc>
                  <a:txBody>
                    <a:bodyPr/>
                    <a:lstStyle/>
                    <a:p>
                      <a:r>
                        <a:rPr sz="1800" b="0">
                          <a:solidFill>
                            <a:srgbClr val="102F40"/>
                          </a:solidFill>
                          <a:latin typeface="Malgun Gothic"/>
                          <a:ea typeface="Malgun Gothic"/>
                          <a:cs typeface="Malgun Gothic"/>
                        </a:rPr>
                        <a:t>OpenAI</a:t>
                      </a:r>
                    </a:p>
                  </a:txBody>
                  <a:tcPr marL="142875" marR="123825" marT="123825" marB="95250" anchor="ctr">
                    <a:solidFill>
                      <a:srgbClr val="FFFFFF"/>
                    </a:solidFill>
                  </a:tcPr>
                </a:tc>
                <a:tc>
                  <a:txBody>
                    <a:bodyPr/>
                    <a:lstStyle/>
                    <a:p>
                      <a:r>
                        <a:rPr sz="1800" b="0">
                          <a:solidFill>
                            <a:srgbClr val="102F40"/>
                          </a:solidFill>
                          <a:latin typeface="Malgun Gothic"/>
                          <a:ea typeface="Malgun Gothic"/>
                          <a:cs typeface="Malgun Gothic"/>
                        </a:rPr>
                        <a:t>OpenAI</a:t>
                      </a:r>
                    </a:p>
                  </a:txBody>
                  <a:tcPr marL="142875" marR="123825" marT="123825" marB="95250" anchor="ctr">
                    <a:solidFill>
                      <a:srgbClr val="FFFFFF"/>
                    </a:solidFill>
                  </a:tcPr>
                </a:tc>
              </a:tr>
              <a:tr h="584835">
                <a:tc>
                  <a:txBody>
                    <a:bodyPr/>
                    <a:lstStyle/>
                    <a:p>
                      <a:r>
                        <a:rPr sz="1800" b="0">
                          <a:solidFill>
                            <a:srgbClr val="102F40"/>
                          </a:solidFill>
                          <a:latin typeface="Malgun Gothic"/>
                          <a:ea typeface="Malgun Gothic"/>
                          <a:cs typeface="Malgun Gothic"/>
                        </a:rPr>
                        <a:t>모드</a:t>
                      </a:r>
                    </a:p>
                  </a:txBody>
                  <a:tcPr marL="142875" marR="123825" marT="123825" marB="95250" anchor="ctr">
                    <a:solidFill>
                      <a:srgbClr val="F6F7F4"/>
                    </a:solidFill>
                  </a:tcPr>
                </a:tc>
                <a:tc>
                  <a:txBody>
                    <a:bodyPr/>
                    <a:lstStyle/>
                    <a:p>
                      <a:r>
                        <a:rPr sz="1800" b="0">
                          <a:solidFill>
                            <a:srgbClr val="102F40"/>
                          </a:solidFill>
                          <a:latin typeface="Malgun Gothic"/>
                          <a:ea typeface="Malgun Gothic"/>
                          <a:cs typeface="Malgun Gothic"/>
                        </a:rPr>
                        <a:t>local_first_gemma</a:t>
                      </a:r>
                    </a:p>
                  </a:txBody>
                  <a:tcPr marL="142875" marR="123825" marT="123825" marB="95250" anchor="ctr">
                    <a:solidFill>
                      <a:srgbClr val="F6F7F4"/>
                    </a:solidFill>
                  </a:tcPr>
                </a:tc>
                <a:tc>
                  <a:txBody>
                    <a:bodyPr/>
                    <a:lstStyle/>
                    <a:p>
                      <a:r>
                        <a:rPr sz="1800" b="0">
                          <a:solidFill>
                            <a:srgbClr val="102F40"/>
                          </a:solidFill>
                          <a:latin typeface="Malgun Gothic"/>
                          <a:ea typeface="Malgun Gothic"/>
                          <a:cs typeface="Malgun Gothic"/>
                        </a:rPr>
                        <a:t>openai_only</a:t>
                      </a:r>
                    </a:p>
                  </a:txBody>
                  <a:tcPr marL="142875" marR="123825" marT="123825" marB="95250" anchor="ctr">
                    <a:solidFill>
                      <a:srgbClr val="F6F7F4"/>
                    </a:solidFill>
                  </a:tcPr>
                </a:tc>
              </a:tr>
            </a:tbl>
          </a:graphicData>
        </a:graphic>
      </p:graphicFrame>
      <p:sp>
        <p:nvSpPr>
          <p:cNvPr id="7" name="text-5">
            <a:extLst xmlns:a="http://schemas.openxmlformats.org/drawingml/2006/main">
              <a:ext uri="{FF2B5EF4-FFF2-40B4-BE49-F238E27FC236}">
                <a16:creationId xmlns:a16="http://schemas.microsoft.com/office/drawing/2014/main" id="{9A63F112-3923-49F3-9F16-53FB1F7AC3AF}"/>
              </a:ext>
            </a:extLst>
          </p:cNvPr>
          <p:cNvSpPr>
            <a:spLocks xmlns:a="http://schemas.openxmlformats.org/drawingml/2006/main" noGrp="1"/>
          </p:cNvSpPr>
          <p:nvPr/>
        </p:nvSpPr>
        <p:spPr>
          <a:xfrm xmlns:a="http://schemas.openxmlformats.org/drawingml/2006/main">
            <a:off x="571500" y="541972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87F82"/>
                </a:solidFill>
                <a:latin typeface="Malgun Gothic"/>
                <a:ea typeface="Malgun Gothic"/>
                <a:cs typeface="Malgun Gothic"/>
              </a:defRPr>
            </a:pPr>
            <a:r>
              <a:rPr sz="2100" b="1">
                <a:solidFill>
                  <a:srgbClr val="087F82"/>
                </a:solidFill>
                <a:latin typeface="Malgun Gothic"/>
                <a:ea typeface="Malgun Gothic"/>
                <a:cs typeface="Malgun Gothic"/>
              </a:rPr>
              <a:t>로컬은 gemma4:26b 태그를 사용합니다.</a:t>
            </a:r>
          </a:p>
        </p:txBody>
      </p:sp>
      <p:sp>
        <p:nvSpPr>
          <p:cNvPr id="8" name="text-6">
            <a:extLst xmlns:a="http://schemas.openxmlformats.org/drawingml/2006/main">
              <a:ext uri="{FF2B5EF4-FFF2-40B4-BE49-F238E27FC236}">
                <a16:creationId xmlns:a16="http://schemas.microsoft.com/office/drawing/2014/main" id="{0214285B-47A7-48A0-A723-FF54B5FBCC6E}"/>
              </a:ext>
            </a:extLst>
          </p:cNvPr>
          <p:cNvSpPr>
            <a:spLocks xmlns:a="http://schemas.openxmlformats.org/drawingml/2006/main" noGrp="1"/>
          </p:cNvSpPr>
          <p:nvPr/>
        </p:nvSpPr>
        <p:spPr>
          <a:xfrm xmlns:a="http://schemas.openxmlformats.org/drawingml/2006/main">
            <a:off x="571500" y="585787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B78"/>
                </a:solidFill>
                <a:latin typeface="Malgun Gothic"/>
                <a:ea typeface="Malgun Gothic"/>
                <a:cs typeface="Malgun Gothic"/>
              </a:defRPr>
            </a:pPr>
            <a:r>
              <a:rPr sz="1725" b="0">
                <a:solidFill>
                  <a:srgbClr val="536B78"/>
                </a:solidFill>
                <a:latin typeface="Malgun Gothic"/>
                <a:ea typeface="Malgun Gothic"/>
                <a:cs typeface="Malgun Gothic"/>
              </a:rPr>
              <a:t>관리자 AI Router에서 실제 적용 경로를 확인하며, 변경은 다음 요청부터 반영합니다.</a:t>
            </a:r>
          </a:p>
        </p:txBody>
      </p:sp>
    </p:spTree>
    <p:extLst>
      <p:ext uri="{BB962C8B-B14F-4D97-AF65-F5344CB8AC3E}">
        <p14:creationId xmlns:p14="http://schemas.microsoft.com/office/powerpoint/2010/main" val="1857489970"/>
      </p:ext>
    </p:extLst>
  </p:cSld>
</p:sld>
</file>

<file path=ppt/slides/slide28.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20" name="text-0.05455813357739536">
            <a:extLst xmlns:a="http://schemas.openxmlformats.org/drawingml/2006/main">
              <a:ext uri="{FF2B5EF4-FFF2-40B4-BE49-F238E27FC236}">
                <a16:creationId xmlns:a16="http://schemas.microsoft.com/office/drawing/2014/main" id="{CF6BA4EF-0533-4A7A-8F80-87A41C2CC12B}"/>
              </a:ext>
            </a:extLst>
          </p:cNvPr>
          <p:cNvSpPr>
            <a:spLocks xmlns:a="http://schemas.openxmlformats.org/drawingml/2006/main" noGrp="1"/>
          </p:cNvSpPr>
          <p:nvPr/>
        </p:nvSpPr>
        <p:spPr>
          <a:xfrm xmlns:a="http://schemas.openxmlformats.org/drawingml/2006/main">
            <a:off x="571500" y="3048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87F82"/>
                </a:solidFill>
                <a:latin typeface="Malgun Gothic"/>
                <a:ea typeface="Malgun Gothic"/>
                <a:cs typeface="Malgun Gothic"/>
              </a:defRPr>
            </a:pPr>
            <a:r>
              <a:rPr sz="1200" b="1">
                <a:solidFill>
                  <a:srgbClr val="087F82"/>
                </a:solidFill>
                <a:latin typeface="Malgun Gothic"/>
                <a:ea typeface="Malgun Gothic"/>
                <a:cs typeface="Malgun Gothic"/>
              </a:rPr>
              <a:t>04 AI와 근거</a:t>
            </a:r>
          </a:p>
        </p:txBody>
      </p:sp>
      <p:sp>
        <p:nvSpPr>
          <p:cNvPr id="2" name="text-1">
            <a:extLst xmlns:a="http://schemas.openxmlformats.org/drawingml/2006/main">
              <a:ext uri="{FF2B5EF4-FFF2-40B4-BE49-F238E27FC236}">
                <a16:creationId xmlns:a16="http://schemas.microsoft.com/office/drawing/2014/main" id="{55E83E11-2D3A-47D2-A712-3AF841381AB4}"/>
              </a:ext>
            </a:extLst>
          </p:cNvPr>
          <p:cNvSpPr>
            <a:spLocks xmlns:a="http://schemas.openxmlformats.org/drawingml/2006/main" noGrp="1"/>
          </p:cNvSpPr>
          <p:nvPr/>
        </p:nvSpPr>
        <p:spPr>
          <a:xfrm xmlns:a="http://schemas.openxmlformats.org/drawingml/2006/main">
            <a:off x="571500" y="76200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02F40"/>
                </a:solidFill>
                <a:latin typeface="Malgun Gothic"/>
                <a:ea typeface="Malgun Gothic"/>
                <a:cs typeface="Malgun Gothic"/>
              </a:defRPr>
            </a:pPr>
            <a:r>
              <a:rPr sz="3300" b="1">
                <a:solidFill>
                  <a:srgbClr val="102F40"/>
                </a:solidFill>
                <a:latin typeface="Malgun Gothic"/>
                <a:ea typeface="Malgun Gothic"/>
                <a:cs typeface="Malgun Gothic"/>
              </a:rPr>
              <a:t>로컬 LLM의 도구 사용 범위를 제한합니다</a:t>
            </a:r>
          </a:p>
        </p:txBody>
      </p:sp>
      <p:sp>
        <p:nvSpPr>
          <p:cNvPr id="3" name="">
            <a:extLst xmlns:a="http://schemas.openxmlformats.org/drawingml/2006/main">
              <a:ext uri="{FF2B5EF4-FFF2-40B4-BE49-F238E27FC236}">
                <a16:creationId xmlns:a16="http://schemas.microsoft.com/office/drawing/2014/main" id="{2A79AFAC-0389-4C40-A4B9-CF12C1ABB87C}"/>
              </a:ext>
            </a:extLst>
          </p:cNvPr>
          <p:cNvSpPr>
            <a:spLocks xmlns:a="http://schemas.openxmlformats.org/drawingml/2006/main" noGrp="1"/>
          </p:cNvSpPr>
          <p:nvPr/>
        </p:nvSpPr>
        <p:spPr>
          <a:xfrm xmlns:a="http://schemas.openxmlformats.org/drawingml/2006/main">
            <a:off x="571500" y="6324600"/>
            <a:ext cx="11049000" cy="0"/>
          </a:xfrm>
          <a:prstGeom xmlns:a="http://schemas.openxmlformats.org/drawingml/2006/main" prst="line">
            <a:avLst/>
          </a:prstGeom>
          <a:noFill xmlns:a="http://schemas.openxmlformats.org/drawingml/2006/main"/>
          <a:ln xmlns:a="http://schemas.openxmlformats.org/drawingml/2006/main" w="9525">
            <a:solidFill>
              <a:srgbClr val="CDD8D9"/>
            </a:solidFill>
            <a:prstDash val="solid"/>
          </a:ln>
        </p:spPr>
      </p:sp>
      <p:sp>
        <p:nvSpPr>
          <p:cNvPr id="4" name="text-3">
            <a:extLst xmlns:a="http://schemas.openxmlformats.org/drawingml/2006/main">
              <a:ext uri="{FF2B5EF4-FFF2-40B4-BE49-F238E27FC236}">
                <a16:creationId xmlns:a16="http://schemas.microsoft.com/office/drawing/2014/main" id="{EE62A654-B2EB-4147-BFDC-714DC94F926D}"/>
              </a:ext>
            </a:extLst>
          </p:cNvPr>
          <p:cNvSpPr>
            <a:spLocks xmlns:a="http://schemas.openxmlformats.org/drawingml/2006/main" noGrp="1"/>
          </p:cNvSpPr>
          <p:nvPr/>
        </p:nvSpPr>
        <p:spPr>
          <a:xfrm xmlns:a="http://schemas.openxmlformats.org/drawingml/2006/main">
            <a:off x="571500" y="64960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36B78"/>
                </a:solidFill>
                <a:latin typeface="Arial"/>
                <a:ea typeface="Arial"/>
                <a:cs typeface="Arial"/>
              </a:defRPr>
            </a:pPr>
            <a:r>
              <a:rPr sz="1050" b="1">
                <a:solidFill>
                  <a:srgbClr val="536B78"/>
                </a:solidFill>
                <a:latin typeface="Arial"/>
                <a:ea typeface="Arial"/>
                <a:cs typeface="Arial"/>
              </a:rPr>
              <a:t>OLIGO-K</a:t>
            </a:r>
          </a:p>
        </p:txBody>
      </p:sp>
      <p:sp>
        <p:nvSpPr>
          <p:cNvPr id="5" name="text-4">
            <a:extLst xmlns:a="http://schemas.openxmlformats.org/drawingml/2006/main">
              <a:ext uri="{FF2B5EF4-FFF2-40B4-BE49-F238E27FC236}">
                <a16:creationId xmlns:a16="http://schemas.microsoft.com/office/drawing/2014/main" id="{C7B91AAD-6735-4AD2-AF44-E391CB7D4103}"/>
              </a:ext>
            </a:extLst>
          </p:cNvPr>
          <p:cNvSpPr>
            <a:spLocks xmlns:a="http://schemas.openxmlformats.org/drawingml/2006/main" noGrp="1"/>
          </p:cNvSpPr>
          <p:nvPr/>
        </p:nvSpPr>
        <p:spPr>
          <a:xfrm xmlns:a="http://schemas.openxmlformats.org/drawingml/2006/main">
            <a:off x="11049000" y="64674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1">
                <a:solidFill>
                  <a:srgbClr val="087F82"/>
                </a:solidFill>
                <a:latin typeface="Arial"/>
                <a:ea typeface="Arial"/>
                <a:cs typeface="Arial"/>
              </a:defRPr>
            </a:pPr>
            <a:r>
              <a:rPr sz="1350" b="1">
                <a:solidFill>
                  <a:srgbClr val="087F82"/>
                </a:solidFill>
                <a:latin typeface="Arial"/>
                <a:ea typeface="Arial"/>
                <a:cs typeface="Arial"/>
              </a:rPr>
              <a:t>28</a:t>
            </a:r>
          </a:p>
        </p:txBody>
      </p:sp>
      <p:sp>
        <p:nvSpPr>
          <p:cNvPr id="6" name="">
            <a:extLst xmlns:a="http://schemas.openxmlformats.org/drawingml/2006/main">
              <a:ext uri="{FF2B5EF4-FFF2-40B4-BE49-F238E27FC236}">
                <a16:creationId xmlns:a16="http://schemas.microsoft.com/office/drawing/2014/main" id="{CD7FEE8B-B3C6-43BD-8D8C-D6A912807391}"/>
              </a:ext>
            </a:extLst>
          </p:cNvPr>
          <p:cNvSpPr>
            <a:spLocks xmlns:a="http://schemas.openxmlformats.org/drawingml/2006/main" noGrp="1"/>
          </p:cNvSpPr>
          <p:nvPr/>
        </p:nvSpPr>
        <p:spPr>
          <a:xfrm xmlns:a="http://schemas.openxmlformats.org/drawingml/2006/main">
            <a:off x="571500" y="2514600"/>
            <a:ext cx="2733675" cy="1162050"/>
          </a:xfrm>
          <a:prstGeom xmlns:a="http://schemas.openxmlformats.org/drawingml/2006/main" prst="rect">
            <a:avLst/>
          </a:prstGeom>
          <a:solidFill xmlns:a="http://schemas.openxmlformats.org/drawingml/2006/main">
            <a:srgbClr val="FFFFFF"/>
          </a:solidFill>
          <a:ln xmlns:a="http://schemas.openxmlformats.org/drawingml/2006/main" w="9525">
            <a:solidFill>
              <a:srgbClr val="CDD8D9"/>
            </a:solidFill>
          </a:ln>
        </p:spPr>
      </p:sp>
      <p:sp>
        <p:nvSpPr>
          <p:cNvPr id="7" name="text-6">
            <a:extLst xmlns:a="http://schemas.openxmlformats.org/drawingml/2006/main">
              <a:ext uri="{FF2B5EF4-FFF2-40B4-BE49-F238E27FC236}">
                <a16:creationId xmlns:a16="http://schemas.microsoft.com/office/drawing/2014/main" id="{862EE7EA-9F30-43C1-B0D3-4B6BA2045281}"/>
              </a:ext>
            </a:extLst>
          </p:cNvPr>
          <p:cNvSpPr>
            <a:spLocks xmlns:a="http://schemas.openxmlformats.org/drawingml/2006/main" noGrp="1"/>
          </p:cNvSpPr>
          <p:nvPr/>
        </p:nvSpPr>
        <p:spPr>
          <a:xfrm xmlns:a="http://schemas.openxmlformats.org/drawingml/2006/main">
            <a:off x="723900" y="2695575"/>
            <a:ext cx="24288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LLM</a:t>
            </a:r>
          </a:p>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조회할 근거 요청</a:t>
            </a:r>
          </a:p>
        </p:txBody>
      </p:sp>
      <p:sp>
        <p:nvSpPr>
          <p:cNvPr id="8" name="">
            <a:extLst xmlns:a="http://schemas.openxmlformats.org/drawingml/2006/main">
              <a:ext uri="{FF2B5EF4-FFF2-40B4-BE49-F238E27FC236}">
                <a16:creationId xmlns:a16="http://schemas.microsoft.com/office/drawing/2014/main" id="{3CEC24B2-CE6C-4379-90AF-F5D28557D2B9}"/>
              </a:ext>
            </a:extLst>
          </p:cNvPr>
          <p:cNvSpPr>
            <a:spLocks xmlns:a="http://schemas.openxmlformats.org/drawingml/2006/main" noGrp="1"/>
          </p:cNvSpPr>
          <p:nvPr/>
        </p:nvSpPr>
        <p:spPr>
          <a:xfrm xmlns:a="http://schemas.openxmlformats.org/drawingml/2006/main">
            <a:off x="4572000" y="2514600"/>
            <a:ext cx="3190875" cy="1162050"/>
          </a:xfrm>
          <a:prstGeom xmlns:a="http://schemas.openxmlformats.org/drawingml/2006/main" prst="rect">
            <a:avLst/>
          </a:prstGeom>
          <a:solidFill xmlns:a="http://schemas.openxmlformats.org/drawingml/2006/main">
            <a:srgbClr val="E5F2ED"/>
          </a:solidFill>
          <a:ln xmlns:a="http://schemas.openxmlformats.org/drawingml/2006/main" w="9525">
            <a:solidFill>
              <a:srgbClr val="CDD8D9"/>
            </a:solidFill>
          </a:ln>
        </p:spPr>
      </p:sp>
      <p:sp>
        <p:nvSpPr>
          <p:cNvPr id="9" name="text-8">
            <a:extLst xmlns:a="http://schemas.openxmlformats.org/drawingml/2006/main">
              <a:ext uri="{FF2B5EF4-FFF2-40B4-BE49-F238E27FC236}">
                <a16:creationId xmlns:a16="http://schemas.microsoft.com/office/drawing/2014/main" id="{385B09B2-2751-4D9F-87F7-F9949E90BB21}"/>
              </a:ext>
            </a:extLst>
          </p:cNvPr>
          <p:cNvSpPr>
            <a:spLocks xmlns:a="http://schemas.openxmlformats.org/drawingml/2006/main" noGrp="1"/>
          </p:cNvSpPr>
          <p:nvPr/>
        </p:nvSpPr>
        <p:spPr>
          <a:xfrm xmlns:a="http://schemas.openxmlformats.org/drawingml/2006/main">
            <a:off x="4724400" y="2695575"/>
            <a:ext cx="28860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AI Server</a:t>
            </a:r>
          </a:p>
          <a:p xmlns:a="http://schemas.openxmlformats.org/drawingml/2006/main">
            <a:pPr algn="ctr">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허용 함수·인자 검증</a:t>
            </a:r>
          </a:p>
        </p:txBody>
      </p:sp>
      <p:sp>
        <p:nvSpPr>
          <p:cNvPr id="10" name="">
            <a:extLst xmlns:a="http://schemas.openxmlformats.org/drawingml/2006/main">
              <a:ext uri="{FF2B5EF4-FFF2-40B4-BE49-F238E27FC236}">
                <a16:creationId xmlns:a16="http://schemas.microsoft.com/office/drawing/2014/main" id="{243D08D8-1DE1-4739-A187-F4B7A8464DCC}"/>
              </a:ext>
            </a:extLst>
          </p:cNvPr>
          <p:cNvSpPr>
            <a:spLocks xmlns:a="http://schemas.openxmlformats.org/drawingml/2006/main" noGrp="1"/>
          </p:cNvSpPr>
          <p:nvPr/>
        </p:nvSpPr>
        <p:spPr>
          <a:xfrm xmlns:a="http://schemas.openxmlformats.org/drawingml/2006/main">
            <a:off x="9077325" y="2514600"/>
            <a:ext cx="2524125" cy="1162050"/>
          </a:xfrm>
          <a:prstGeom xmlns:a="http://schemas.openxmlformats.org/drawingml/2006/main" prst="rect">
            <a:avLst/>
          </a:prstGeom>
          <a:solidFill xmlns:a="http://schemas.openxmlformats.org/drawingml/2006/main">
            <a:srgbClr val="FFFFFF"/>
          </a:solidFill>
          <a:ln xmlns:a="http://schemas.openxmlformats.org/drawingml/2006/main" w="9525">
            <a:solidFill>
              <a:srgbClr val="CDD8D9"/>
            </a:solidFill>
          </a:ln>
        </p:spPr>
      </p:sp>
      <p:sp>
        <p:nvSpPr>
          <p:cNvPr id="11" name="text-10">
            <a:extLst xmlns:a="http://schemas.openxmlformats.org/drawingml/2006/main">
              <a:ext uri="{FF2B5EF4-FFF2-40B4-BE49-F238E27FC236}">
                <a16:creationId xmlns:a16="http://schemas.microsoft.com/office/drawing/2014/main" id="{ED8F7D8A-2987-4A99-976B-E2698F4B0642}"/>
              </a:ext>
            </a:extLst>
          </p:cNvPr>
          <p:cNvSpPr>
            <a:spLocks xmlns:a="http://schemas.openxmlformats.org/drawingml/2006/main" noGrp="1"/>
          </p:cNvSpPr>
          <p:nvPr/>
        </p:nvSpPr>
        <p:spPr>
          <a:xfrm xmlns:a="http://schemas.openxmlformats.org/drawingml/2006/main">
            <a:off x="9229725" y="2695575"/>
            <a:ext cx="22193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1">
                <a:solidFill>
                  <a:srgbClr val="102F40"/>
                </a:solidFill>
                <a:latin typeface="Malgun Gothic"/>
                <a:ea typeface="Malgun Gothic"/>
                <a:cs typeface="Malgun Gothic"/>
              </a:defRPr>
            </a:pPr>
            <a:r>
              <a:rPr sz="1725" b="1">
                <a:solidFill>
                  <a:srgbClr val="102F40"/>
                </a:solidFill>
                <a:latin typeface="Malgun Gothic"/>
                <a:ea typeface="Malgun Gothic"/>
                <a:cs typeface="Malgun Gothic"/>
              </a:rPr>
              <a:t>요청 안의 근거 저장소</a:t>
            </a:r>
          </a:p>
          <a:p xmlns:a="http://schemas.openxmlformats.org/drawingml/2006/main">
            <a:pPr algn="ctr">
              <a:defRPr sz="1725" b="1">
                <a:solidFill>
                  <a:srgbClr val="102F40"/>
                </a:solidFill>
                <a:latin typeface="Malgun Gothic"/>
                <a:ea typeface="Malgun Gothic"/>
                <a:cs typeface="Malgun Gothic"/>
              </a:defRPr>
            </a:pPr>
            <a:r>
              <a:rPr sz="1725" b="1">
                <a:solidFill>
                  <a:srgbClr val="102F40"/>
                </a:solidFill>
                <a:latin typeface="Malgun Gothic"/>
                <a:ea typeface="Malgun Gothic"/>
                <a:cs typeface="Malgun Gothic"/>
              </a:rPr>
              <a:t>읽기 전용 조회</a:t>
            </a:r>
          </a:p>
        </p:txBody>
      </p:sp>
      <p:cxnSp>
        <p:nvCxnSpPr>
          <p:cNvPr id="31" name=""/>
          <p:cNvCxnSpPr>
            <a:stCxn xmlns:a="http://schemas.openxmlformats.org/drawingml/2006/main" id="6" idx="3"/>
            <a:endCxn xmlns:a="http://schemas.openxmlformats.org/drawingml/2006/main" id="8" idx="1"/>
          </p:cNvCxnSpPr>
          <p:nvPr/>
        </p:nvCxnSpPr>
        <p:spPr>
          <a:xfrm xmlns:a="http://schemas.openxmlformats.org/drawingml/2006/main">
            <a:off x="3305175" y="3095625"/>
            <a:ext cx="1266825" cy="0"/>
          </a:xfrm>
          <a:prstGeom xmlns:a="http://schemas.openxmlformats.org/drawingml/2006/main" prst="straightConnector1">
            <a:avLst/>
          </a:prstGeom>
          <a:ln xmlns:a="http://schemas.openxmlformats.org/drawingml/2006/main" w="19050">
            <a:solidFill>
              <a:srgbClr val="087F82"/>
            </a:solidFill>
            <a:tailEnd type="arrow" w="med" len="med"/>
          </a:ln>
        </p:spPr>
      </p:cxnSp>
      <p:cxnSp>
        <p:nvCxnSpPr>
          <p:cNvPr id="32" name=""/>
          <p:cNvCxnSpPr>
            <a:stCxn xmlns:a="http://schemas.openxmlformats.org/drawingml/2006/main" id="8" idx="3"/>
            <a:endCxn xmlns:a="http://schemas.openxmlformats.org/drawingml/2006/main" id="10" idx="1"/>
          </p:cNvCxnSpPr>
          <p:nvPr/>
        </p:nvCxnSpPr>
        <p:spPr>
          <a:xfrm xmlns:a="http://schemas.openxmlformats.org/drawingml/2006/main">
            <a:off x="7762875" y="3095625"/>
            <a:ext cx="1314450" cy="0"/>
          </a:xfrm>
          <a:prstGeom xmlns:a="http://schemas.openxmlformats.org/drawingml/2006/main" prst="straightConnector1">
            <a:avLst/>
          </a:prstGeom>
          <a:ln xmlns:a="http://schemas.openxmlformats.org/drawingml/2006/main" w="19050">
            <a:solidFill>
              <a:srgbClr val="087F82"/>
            </a:solidFill>
            <a:tailEnd type="arrow" w="med" len="med"/>
          </a:ln>
        </p:spPr>
      </p:cxnSp>
      <p:sp>
        <p:nvSpPr>
          <p:cNvPr id="14" name="text-13">
            <a:extLst xmlns:a="http://schemas.openxmlformats.org/drawingml/2006/main">
              <a:ext uri="{FF2B5EF4-FFF2-40B4-BE49-F238E27FC236}">
                <a16:creationId xmlns:a16="http://schemas.microsoft.com/office/drawing/2014/main" id="{D90DE8F6-FC1D-4E95-B3B4-B1B96C694D61}"/>
              </a:ext>
            </a:extLst>
          </p:cNvPr>
          <p:cNvSpPr>
            <a:spLocks xmlns:a="http://schemas.openxmlformats.org/drawingml/2006/main" noGrp="1"/>
          </p:cNvSpPr>
          <p:nvPr/>
        </p:nvSpPr>
        <p:spPr>
          <a:xfrm xmlns:a="http://schemas.openxmlformats.org/drawingml/2006/main">
            <a:off x="571500" y="435292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87F82"/>
                </a:solidFill>
                <a:latin typeface="Arial"/>
                <a:ea typeface="Arial"/>
                <a:cs typeface="Arial"/>
              </a:defRPr>
            </a:pPr>
            <a:r>
              <a:rPr sz="2400" b="1">
                <a:solidFill>
                  <a:srgbClr val="087F82"/>
                </a:solidFill>
                <a:latin typeface="Arial"/>
                <a:ea typeface="Arial"/>
                <a:cs typeface="Arial"/>
              </a:rPr>
              <a:t>01</a:t>
            </a:r>
          </a:p>
        </p:txBody>
      </p:sp>
      <p:sp>
        <p:nvSpPr>
          <p:cNvPr id="15" name="text-14">
            <a:extLst xmlns:a="http://schemas.openxmlformats.org/drawingml/2006/main">
              <a:ext uri="{FF2B5EF4-FFF2-40B4-BE49-F238E27FC236}">
                <a16:creationId xmlns:a16="http://schemas.microsoft.com/office/drawing/2014/main" id="{8C20618D-0CA1-475E-8090-5E0131115582}"/>
              </a:ext>
            </a:extLst>
          </p:cNvPr>
          <p:cNvSpPr>
            <a:spLocks xmlns:a="http://schemas.openxmlformats.org/drawingml/2006/main" noGrp="1"/>
          </p:cNvSpPr>
          <p:nvPr/>
        </p:nvSpPr>
        <p:spPr>
          <a:xfrm xmlns:a="http://schemas.openxmlformats.org/drawingml/2006/main">
            <a:off x="1381125" y="4352925"/>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F40"/>
                </a:solidFill>
                <a:latin typeface="Malgun Gothic"/>
                <a:ea typeface="Malgun Gothic"/>
                <a:cs typeface="Malgun Gothic"/>
              </a:defRPr>
            </a:pPr>
            <a:r>
              <a:rPr sz="2175" b="1">
                <a:solidFill>
                  <a:srgbClr val="102F40"/>
                </a:solidFill>
                <a:latin typeface="Malgun Gothic"/>
                <a:ea typeface="Malgun Gothic"/>
                <a:cs typeface="Malgun Gothic"/>
              </a:rPr>
              <a:t>허용하는 행동</a:t>
            </a:r>
          </a:p>
        </p:txBody>
      </p:sp>
      <p:sp>
        <p:nvSpPr>
          <p:cNvPr id="16" name="text-15">
            <a:extLst xmlns:a="http://schemas.openxmlformats.org/drawingml/2006/main">
              <a:ext uri="{FF2B5EF4-FFF2-40B4-BE49-F238E27FC236}">
                <a16:creationId xmlns:a16="http://schemas.microsoft.com/office/drawing/2014/main" id="{55CFC59F-5EA8-4E06-8685-93659835F797}"/>
              </a:ext>
            </a:extLst>
          </p:cNvPr>
          <p:cNvSpPr>
            <a:spLocks xmlns:a="http://schemas.openxmlformats.org/drawingml/2006/main" noGrp="1"/>
          </p:cNvSpPr>
          <p:nvPr/>
        </p:nvSpPr>
        <p:spPr>
          <a:xfrm xmlns:a="http://schemas.openxmlformats.org/drawingml/2006/main">
            <a:off x="1381125" y="4800600"/>
            <a:ext cx="1009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6B78"/>
                </a:solidFill>
                <a:latin typeface="Malgun Gothic"/>
                <a:ea typeface="Malgun Gothic"/>
                <a:cs typeface="Malgun Gothic"/>
              </a:defRPr>
            </a:pPr>
            <a:r>
              <a:rPr sz="1800" b="0">
                <a:solidFill>
                  <a:srgbClr val="536B78"/>
                </a:solidFill>
                <a:latin typeface="Malgun Gothic"/>
                <a:ea typeface="Malgun Gothic"/>
                <a:cs typeface="Malgun Gothic"/>
              </a:rPr>
              <a:t>현재 작업에 수집한 관측·사례·원문을 다시 확인</a:t>
            </a:r>
          </a:p>
        </p:txBody>
      </p:sp>
      <p:sp>
        <p:nvSpPr>
          <p:cNvPr id="17" name="text-16">
            <a:extLst xmlns:a="http://schemas.openxmlformats.org/drawingml/2006/main">
              <a:ext uri="{FF2B5EF4-FFF2-40B4-BE49-F238E27FC236}">
                <a16:creationId xmlns:a16="http://schemas.microsoft.com/office/drawing/2014/main" id="{FCBE8B9D-AE36-41DF-B8A3-97F73ED754D3}"/>
              </a:ext>
            </a:extLst>
          </p:cNvPr>
          <p:cNvSpPr>
            <a:spLocks xmlns:a="http://schemas.openxmlformats.org/drawingml/2006/main" noGrp="1"/>
          </p:cNvSpPr>
          <p:nvPr/>
        </p:nvSpPr>
        <p:spPr>
          <a:xfrm xmlns:a="http://schemas.openxmlformats.org/drawingml/2006/main">
            <a:off x="571500" y="530542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87F82"/>
                </a:solidFill>
                <a:latin typeface="Arial"/>
                <a:ea typeface="Arial"/>
                <a:cs typeface="Arial"/>
              </a:defRPr>
            </a:pPr>
            <a:r>
              <a:rPr sz="2400" b="1">
                <a:solidFill>
                  <a:srgbClr val="087F82"/>
                </a:solidFill>
                <a:latin typeface="Arial"/>
                <a:ea typeface="Arial"/>
                <a:cs typeface="Arial"/>
              </a:rPr>
              <a:t>02</a:t>
            </a:r>
          </a:p>
        </p:txBody>
      </p:sp>
      <p:sp>
        <p:nvSpPr>
          <p:cNvPr id="18" name="text-17">
            <a:extLst xmlns:a="http://schemas.openxmlformats.org/drawingml/2006/main">
              <a:ext uri="{FF2B5EF4-FFF2-40B4-BE49-F238E27FC236}">
                <a16:creationId xmlns:a16="http://schemas.microsoft.com/office/drawing/2014/main" id="{E12F8977-53C8-48DB-B272-47B40C415ECF}"/>
              </a:ext>
            </a:extLst>
          </p:cNvPr>
          <p:cNvSpPr>
            <a:spLocks xmlns:a="http://schemas.openxmlformats.org/drawingml/2006/main" noGrp="1"/>
          </p:cNvSpPr>
          <p:nvPr/>
        </p:nvSpPr>
        <p:spPr>
          <a:xfrm xmlns:a="http://schemas.openxmlformats.org/drawingml/2006/main">
            <a:off x="1381125" y="5305425"/>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F40"/>
                </a:solidFill>
                <a:latin typeface="Malgun Gothic"/>
                <a:ea typeface="Malgun Gothic"/>
                <a:cs typeface="Malgun Gothic"/>
              </a:defRPr>
            </a:pPr>
            <a:r>
              <a:rPr sz="2175" b="1">
                <a:solidFill>
                  <a:srgbClr val="102F40"/>
                </a:solidFill>
                <a:latin typeface="Malgun Gothic"/>
                <a:ea typeface="Malgun Gothic"/>
                <a:cs typeface="Malgun Gothic"/>
              </a:rPr>
              <a:t>실행하지 않는 행동</a:t>
            </a:r>
          </a:p>
        </p:txBody>
      </p:sp>
      <p:sp>
        <p:nvSpPr>
          <p:cNvPr id="19" name="text-18">
            <a:extLst xmlns:a="http://schemas.openxmlformats.org/drawingml/2006/main">
              <a:ext uri="{FF2B5EF4-FFF2-40B4-BE49-F238E27FC236}">
                <a16:creationId xmlns:a16="http://schemas.microsoft.com/office/drawing/2014/main" id="{EF3125F1-EF3A-4503-A35E-9CE1451810ED}"/>
              </a:ext>
            </a:extLst>
          </p:cNvPr>
          <p:cNvSpPr>
            <a:spLocks xmlns:a="http://schemas.openxmlformats.org/drawingml/2006/main" noGrp="1"/>
          </p:cNvSpPr>
          <p:nvPr/>
        </p:nvSpPr>
        <p:spPr>
          <a:xfrm xmlns:a="http://schemas.openxmlformats.org/drawingml/2006/main">
            <a:off x="1381125" y="5753100"/>
            <a:ext cx="1009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6B78"/>
                </a:solidFill>
                <a:latin typeface="Malgun Gothic"/>
                <a:ea typeface="Malgun Gothic"/>
                <a:cs typeface="Malgun Gothic"/>
              </a:defRPr>
            </a:pPr>
            <a:r>
              <a:rPr sz="1800" b="0">
                <a:solidFill>
                  <a:srgbClr val="536B78"/>
                </a:solidFill>
                <a:latin typeface="Malgun Gothic"/>
                <a:ea typeface="Malgun Gothic"/>
                <a:cs typeface="Malgun Gothic"/>
              </a:rPr>
              <a:t>임의 SQL, 임의 파일 쓰기, 자유로운 웹 접속</a:t>
            </a:r>
          </a:p>
        </p:txBody>
      </p:sp>
    </p:spTree>
    <p:extLst>
      <p:ext uri="{BB962C8B-B14F-4D97-AF65-F5344CB8AC3E}">
        <p14:creationId xmlns:p14="http://schemas.microsoft.com/office/powerpoint/2010/main" val="1583527962"/>
      </p:ext>
    </p:extLst>
  </p:cSld>
</p:sld>
</file>

<file path=ppt/slides/slide29.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7" name="text-0.9859602962389422">
            <a:extLst xmlns:a="http://schemas.openxmlformats.org/drawingml/2006/main">
              <a:ext uri="{FF2B5EF4-FFF2-40B4-BE49-F238E27FC236}">
                <a16:creationId xmlns:a16="http://schemas.microsoft.com/office/drawing/2014/main" id="{5C4B5663-D973-4072-AD55-4B9692C7E4D9}"/>
              </a:ext>
            </a:extLst>
          </p:cNvPr>
          <p:cNvSpPr>
            <a:spLocks xmlns:a="http://schemas.openxmlformats.org/drawingml/2006/main" noGrp="1"/>
          </p:cNvSpPr>
          <p:nvPr/>
        </p:nvSpPr>
        <p:spPr>
          <a:xfrm xmlns:a="http://schemas.openxmlformats.org/drawingml/2006/main">
            <a:off x="571500" y="3048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87F82"/>
                </a:solidFill>
                <a:latin typeface="Malgun Gothic"/>
                <a:ea typeface="Malgun Gothic"/>
                <a:cs typeface="Malgun Gothic"/>
              </a:defRPr>
            </a:pPr>
            <a:r>
              <a:rPr sz="1200" b="1">
                <a:solidFill>
                  <a:srgbClr val="087F82"/>
                </a:solidFill>
                <a:latin typeface="Malgun Gothic"/>
                <a:ea typeface="Malgun Gothic"/>
                <a:cs typeface="Malgun Gothic"/>
              </a:rPr>
              <a:t>04 AI와 근거</a:t>
            </a:r>
          </a:p>
        </p:txBody>
      </p:sp>
      <p:sp>
        <p:nvSpPr>
          <p:cNvPr id="2" name="text-1">
            <a:extLst xmlns:a="http://schemas.openxmlformats.org/drawingml/2006/main">
              <a:ext uri="{FF2B5EF4-FFF2-40B4-BE49-F238E27FC236}">
                <a16:creationId xmlns:a16="http://schemas.microsoft.com/office/drawing/2014/main" id="{79AAA66E-458F-4204-9F0E-713B63CCAC06}"/>
              </a:ext>
            </a:extLst>
          </p:cNvPr>
          <p:cNvSpPr>
            <a:spLocks xmlns:a="http://schemas.openxmlformats.org/drawingml/2006/main" noGrp="1"/>
          </p:cNvSpPr>
          <p:nvPr/>
        </p:nvSpPr>
        <p:spPr>
          <a:xfrm xmlns:a="http://schemas.openxmlformats.org/drawingml/2006/main">
            <a:off x="571500" y="76200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02F40"/>
                </a:solidFill>
                <a:latin typeface="Malgun Gothic"/>
                <a:ea typeface="Malgun Gothic"/>
                <a:cs typeface="Malgun Gothic"/>
              </a:defRPr>
            </a:pPr>
            <a:r>
              <a:rPr sz="3300" b="1">
                <a:solidFill>
                  <a:srgbClr val="102F40"/>
                </a:solidFill>
                <a:latin typeface="Malgun Gothic"/>
                <a:ea typeface="Malgun Gothic"/>
                <a:cs typeface="Malgun Gothic"/>
              </a:rPr>
              <a:t>RAG는 공식 문서의 근거를 찾아 제공합니다</a:t>
            </a:r>
          </a:p>
        </p:txBody>
      </p:sp>
      <p:sp>
        <p:nvSpPr>
          <p:cNvPr id="3" name="text-2">
            <a:extLst xmlns:a="http://schemas.openxmlformats.org/drawingml/2006/main">
              <a:ext uri="{FF2B5EF4-FFF2-40B4-BE49-F238E27FC236}">
                <a16:creationId xmlns:a16="http://schemas.microsoft.com/office/drawing/2014/main" id="{98811BA1-1E16-4840-B40C-B13C1A6C005F}"/>
              </a:ext>
            </a:extLst>
          </p:cNvPr>
          <p:cNvSpPr>
            <a:spLocks xmlns:a="http://schemas.openxmlformats.org/drawingml/2006/main" noGrp="1"/>
          </p:cNvSpPr>
          <p:nvPr/>
        </p:nvSpPr>
        <p:spPr>
          <a:xfrm xmlns:a="http://schemas.openxmlformats.org/drawingml/2006/main">
            <a:off x="571500" y="14954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B78"/>
                </a:solidFill>
                <a:latin typeface="Malgun Gothic"/>
                <a:ea typeface="Malgun Gothic"/>
                <a:cs typeface="Malgun Gothic"/>
              </a:defRPr>
            </a:pPr>
            <a:r>
              <a:rPr sz="1725" b="0">
                <a:solidFill>
                  <a:srgbClr val="536B78"/>
                </a:solidFill>
                <a:latin typeface="Malgun Gothic"/>
                <a:ea typeface="Malgun Gothic"/>
                <a:cs typeface="Malgun Gothic"/>
              </a:rPr>
              <a:t>2026.09.21 로컬 저장본 기준, 검색한 문서 근거를 생성 입력에 전달합니다.</a:t>
            </a:r>
          </a:p>
        </p:txBody>
      </p:sp>
      <p:sp>
        <p:nvSpPr>
          <p:cNvPr id="4" name="">
            <a:extLst xmlns:a="http://schemas.openxmlformats.org/drawingml/2006/main">
              <a:ext uri="{FF2B5EF4-FFF2-40B4-BE49-F238E27FC236}">
                <a16:creationId xmlns:a16="http://schemas.microsoft.com/office/drawing/2014/main" id="{29DF71CC-4B79-4FC2-8A87-0D8185EE0B42}"/>
              </a:ext>
            </a:extLst>
          </p:cNvPr>
          <p:cNvSpPr>
            <a:spLocks xmlns:a="http://schemas.openxmlformats.org/drawingml/2006/main" noGrp="1"/>
          </p:cNvSpPr>
          <p:nvPr/>
        </p:nvSpPr>
        <p:spPr>
          <a:xfrm xmlns:a="http://schemas.openxmlformats.org/drawingml/2006/main">
            <a:off x="571500" y="6324600"/>
            <a:ext cx="11049000" cy="0"/>
          </a:xfrm>
          <a:prstGeom xmlns:a="http://schemas.openxmlformats.org/drawingml/2006/main" prst="line">
            <a:avLst/>
          </a:prstGeom>
          <a:noFill xmlns:a="http://schemas.openxmlformats.org/drawingml/2006/main"/>
          <a:ln xmlns:a="http://schemas.openxmlformats.org/drawingml/2006/main" w="9525">
            <a:solidFill>
              <a:srgbClr val="CDD8D9"/>
            </a:solidFill>
            <a:prstDash val="solid"/>
          </a:ln>
        </p:spPr>
      </p:sp>
      <p:sp>
        <p:nvSpPr>
          <p:cNvPr id="5" name="text-4">
            <a:extLst xmlns:a="http://schemas.openxmlformats.org/drawingml/2006/main">
              <a:ext uri="{FF2B5EF4-FFF2-40B4-BE49-F238E27FC236}">
                <a16:creationId xmlns:a16="http://schemas.microsoft.com/office/drawing/2014/main" id="{11F4070F-9DF6-487E-A212-1FCC7270E697}"/>
              </a:ext>
            </a:extLst>
          </p:cNvPr>
          <p:cNvSpPr>
            <a:spLocks xmlns:a="http://schemas.openxmlformats.org/drawingml/2006/main" noGrp="1"/>
          </p:cNvSpPr>
          <p:nvPr/>
        </p:nvSpPr>
        <p:spPr>
          <a:xfrm xmlns:a="http://schemas.openxmlformats.org/drawingml/2006/main">
            <a:off x="571500" y="64960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36B78"/>
                </a:solidFill>
                <a:latin typeface="Arial"/>
                <a:ea typeface="Arial"/>
                <a:cs typeface="Arial"/>
              </a:defRPr>
            </a:pPr>
            <a:r>
              <a:rPr sz="1050" b="1">
                <a:solidFill>
                  <a:srgbClr val="536B78"/>
                </a:solidFill>
                <a:latin typeface="Arial"/>
                <a:ea typeface="Arial"/>
                <a:cs typeface="Arial"/>
              </a:rPr>
              <a:t>OLIGO-K</a:t>
            </a:r>
          </a:p>
        </p:txBody>
      </p:sp>
      <p:sp>
        <p:nvSpPr>
          <p:cNvPr id="6" name="text-5">
            <a:extLst xmlns:a="http://schemas.openxmlformats.org/drawingml/2006/main">
              <a:ext uri="{FF2B5EF4-FFF2-40B4-BE49-F238E27FC236}">
                <a16:creationId xmlns:a16="http://schemas.microsoft.com/office/drawing/2014/main" id="{BA762FFB-BB77-4EEE-9F35-261A3B1421CB}"/>
              </a:ext>
            </a:extLst>
          </p:cNvPr>
          <p:cNvSpPr>
            <a:spLocks xmlns:a="http://schemas.openxmlformats.org/drawingml/2006/main" noGrp="1"/>
          </p:cNvSpPr>
          <p:nvPr/>
        </p:nvSpPr>
        <p:spPr>
          <a:xfrm xmlns:a="http://schemas.openxmlformats.org/drawingml/2006/main">
            <a:off x="11049000" y="64674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1">
                <a:solidFill>
                  <a:srgbClr val="087F82"/>
                </a:solidFill>
                <a:latin typeface="Arial"/>
                <a:ea typeface="Arial"/>
                <a:cs typeface="Arial"/>
              </a:defRPr>
            </a:pPr>
            <a:r>
              <a:rPr sz="1350" b="1">
                <a:solidFill>
                  <a:srgbClr val="087F82"/>
                </a:solidFill>
                <a:latin typeface="Arial"/>
                <a:ea typeface="Arial"/>
                <a:cs typeface="Arial"/>
              </a:rPr>
              <a:t>29</a:t>
            </a:r>
          </a:p>
        </p:txBody>
      </p:sp>
      <p:sp>
        <p:nvSpPr>
          <p:cNvPr id="7" name="text-6">
            <a:extLst xmlns:a="http://schemas.openxmlformats.org/drawingml/2006/main">
              <a:ext uri="{FF2B5EF4-FFF2-40B4-BE49-F238E27FC236}">
                <a16:creationId xmlns:a16="http://schemas.microsoft.com/office/drawing/2014/main" id="{EFAF5EEA-F2D6-41BF-9428-4AD7CF4057FF}"/>
              </a:ext>
            </a:extLst>
          </p:cNvPr>
          <p:cNvSpPr>
            <a:spLocks xmlns:a="http://schemas.openxmlformats.org/drawingml/2006/main" noGrp="1"/>
          </p:cNvSpPr>
          <p:nvPr/>
        </p:nvSpPr>
        <p:spPr>
          <a:xfrm xmlns:a="http://schemas.openxmlformats.org/drawingml/2006/main">
            <a:off x="571500" y="2266950"/>
            <a:ext cx="2571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87F82"/>
                </a:solidFill>
                <a:latin typeface="Arial"/>
                <a:ea typeface="Arial"/>
                <a:cs typeface="Arial"/>
              </a:defRPr>
            </a:pPr>
            <a:r>
              <a:rPr sz="5700" b="1">
                <a:solidFill>
                  <a:srgbClr val="087F82"/>
                </a:solidFill>
                <a:latin typeface="Arial"/>
                <a:ea typeface="Arial"/>
                <a:cs typeface="Arial"/>
              </a:rPr>
              <a:t>6</a:t>
            </a:r>
          </a:p>
        </p:txBody>
      </p:sp>
      <p:sp>
        <p:nvSpPr>
          <p:cNvPr id="8" name="text-7">
            <a:extLst xmlns:a="http://schemas.openxmlformats.org/drawingml/2006/main">
              <a:ext uri="{FF2B5EF4-FFF2-40B4-BE49-F238E27FC236}">
                <a16:creationId xmlns:a16="http://schemas.microsoft.com/office/drawing/2014/main" id="{B8A8FCED-12E5-4835-8196-D11B339D51BC}"/>
              </a:ext>
            </a:extLst>
          </p:cNvPr>
          <p:cNvSpPr>
            <a:spLocks xmlns:a="http://schemas.openxmlformats.org/drawingml/2006/main" noGrp="1"/>
          </p:cNvSpPr>
          <p:nvPr/>
        </p:nvSpPr>
        <p:spPr>
          <a:xfrm xmlns:a="http://schemas.openxmlformats.org/drawingml/2006/main">
            <a:off x="571500" y="3400425"/>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02F40"/>
                </a:solidFill>
                <a:latin typeface="Malgun Gothic"/>
                <a:ea typeface="Malgun Gothic"/>
                <a:cs typeface="Malgun Gothic"/>
              </a:defRPr>
            </a:pPr>
            <a:r>
              <a:rPr sz="1875" b="0">
                <a:solidFill>
                  <a:srgbClr val="102F40"/>
                </a:solidFill>
                <a:latin typeface="Malgun Gothic"/>
                <a:ea typeface="Malgun Gothic"/>
                <a:cs typeface="Malgun Gothic"/>
              </a:rPr>
              <a:t>검수 사례 카드</a:t>
            </a:r>
          </a:p>
        </p:txBody>
      </p:sp>
      <p:sp>
        <p:nvSpPr>
          <p:cNvPr id="9" name="text-8">
            <a:extLst xmlns:a="http://schemas.openxmlformats.org/drawingml/2006/main">
              <a:ext uri="{FF2B5EF4-FFF2-40B4-BE49-F238E27FC236}">
                <a16:creationId xmlns:a16="http://schemas.microsoft.com/office/drawing/2014/main" id="{048BCE8C-B403-4277-A6DE-8BF4E8BA5175}"/>
              </a:ext>
            </a:extLst>
          </p:cNvPr>
          <p:cNvSpPr>
            <a:spLocks xmlns:a="http://schemas.openxmlformats.org/drawingml/2006/main" noGrp="1"/>
          </p:cNvSpPr>
          <p:nvPr/>
        </p:nvSpPr>
        <p:spPr>
          <a:xfrm xmlns:a="http://schemas.openxmlformats.org/drawingml/2006/main">
            <a:off x="3581400" y="2266950"/>
            <a:ext cx="2571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87F82"/>
                </a:solidFill>
                <a:latin typeface="Arial"/>
                <a:ea typeface="Arial"/>
                <a:cs typeface="Arial"/>
              </a:defRPr>
            </a:pPr>
            <a:r>
              <a:rPr sz="5700" b="1">
                <a:solidFill>
                  <a:srgbClr val="087F82"/>
                </a:solidFill>
                <a:latin typeface="Arial"/>
                <a:ea typeface="Arial"/>
                <a:cs typeface="Arial"/>
              </a:rPr>
              <a:t>3</a:t>
            </a:r>
          </a:p>
        </p:txBody>
      </p:sp>
      <p:sp>
        <p:nvSpPr>
          <p:cNvPr id="10" name="text-9">
            <a:extLst xmlns:a="http://schemas.openxmlformats.org/drawingml/2006/main">
              <a:ext uri="{FF2B5EF4-FFF2-40B4-BE49-F238E27FC236}">
                <a16:creationId xmlns:a16="http://schemas.microsoft.com/office/drawing/2014/main" id="{A8C35488-9C9C-4A0A-AF1B-578DA6B06000}"/>
              </a:ext>
            </a:extLst>
          </p:cNvPr>
          <p:cNvSpPr>
            <a:spLocks xmlns:a="http://schemas.openxmlformats.org/drawingml/2006/main" noGrp="1"/>
          </p:cNvSpPr>
          <p:nvPr/>
        </p:nvSpPr>
        <p:spPr>
          <a:xfrm xmlns:a="http://schemas.openxmlformats.org/drawingml/2006/main">
            <a:off x="3581400" y="3400425"/>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02F40"/>
                </a:solidFill>
                <a:latin typeface="Malgun Gothic"/>
                <a:ea typeface="Malgun Gothic"/>
                <a:cs typeface="Malgun Gothic"/>
              </a:defRPr>
            </a:pPr>
            <a:r>
              <a:rPr sz="1875" b="0">
                <a:solidFill>
                  <a:srgbClr val="102F40"/>
                </a:solidFill>
                <a:latin typeface="Malgun Gothic"/>
                <a:ea typeface="Malgun Gothic"/>
                <a:cs typeface="Malgun Gothic"/>
              </a:rPr>
              <a:t>공식 문서 요약</a:t>
            </a:r>
          </a:p>
        </p:txBody>
      </p:sp>
      <p:sp>
        <p:nvSpPr>
          <p:cNvPr id="11" name="text-10">
            <a:extLst xmlns:a="http://schemas.openxmlformats.org/drawingml/2006/main">
              <a:ext uri="{FF2B5EF4-FFF2-40B4-BE49-F238E27FC236}">
                <a16:creationId xmlns:a16="http://schemas.microsoft.com/office/drawing/2014/main" id="{7D9E05B6-BE38-42AE-A18E-ABABBC89E638}"/>
              </a:ext>
            </a:extLst>
          </p:cNvPr>
          <p:cNvSpPr>
            <a:spLocks xmlns:a="http://schemas.openxmlformats.org/drawingml/2006/main" noGrp="1"/>
          </p:cNvSpPr>
          <p:nvPr/>
        </p:nvSpPr>
        <p:spPr>
          <a:xfrm xmlns:a="http://schemas.openxmlformats.org/drawingml/2006/main">
            <a:off x="6591300" y="2266950"/>
            <a:ext cx="2571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87F82"/>
                </a:solidFill>
                <a:latin typeface="Arial"/>
                <a:ea typeface="Arial"/>
                <a:cs typeface="Arial"/>
              </a:defRPr>
            </a:pPr>
            <a:r>
              <a:rPr sz="5700" b="1">
                <a:solidFill>
                  <a:srgbClr val="087F82"/>
                </a:solidFill>
                <a:latin typeface="Arial"/>
                <a:ea typeface="Arial"/>
                <a:cs typeface="Arial"/>
              </a:rPr>
              <a:t>24</a:t>
            </a:r>
          </a:p>
        </p:txBody>
      </p:sp>
      <p:sp>
        <p:nvSpPr>
          <p:cNvPr id="12" name="text-11">
            <a:extLst xmlns:a="http://schemas.openxmlformats.org/drawingml/2006/main">
              <a:ext uri="{FF2B5EF4-FFF2-40B4-BE49-F238E27FC236}">
                <a16:creationId xmlns:a16="http://schemas.microsoft.com/office/drawing/2014/main" id="{A2554E52-36B9-4044-874D-B4F7B08633F3}"/>
              </a:ext>
            </a:extLst>
          </p:cNvPr>
          <p:cNvSpPr>
            <a:spLocks xmlns:a="http://schemas.openxmlformats.org/drawingml/2006/main" noGrp="1"/>
          </p:cNvSpPr>
          <p:nvPr/>
        </p:nvSpPr>
        <p:spPr>
          <a:xfrm xmlns:a="http://schemas.openxmlformats.org/drawingml/2006/main">
            <a:off x="6591300" y="3400425"/>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02F40"/>
                </a:solidFill>
                <a:latin typeface="Malgun Gothic"/>
                <a:ea typeface="Malgun Gothic"/>
                <a:cs typeface="Malgun Gothic"/>
              </a:defRPr>
            </a:pPr>
            <a:r>
              <a:rPr sz="1875" b="0">
                <a:solidFill>
                  <a:srgbClr val="102F40"/>
                </a:solidFill>
                <a:latin typeface="Malgun Gothic"/>
                <a:ea typeface="Malgun Gothic"/>
                <a:cs typeface="Malgun Gothic"/>
              </a:rPr>
              <a:t>PDF 페이지 청크</a:t>
            </a:r>
          </a:p>
        </p:txBody>
      </p:sp>
      <p:sp>
        <p:nvSpPr>
          <p:cNvPr id="13" name="text-12">
            <a:extLst xmlns:a="http://schemas.openxmlformats.org/drawingml/2006/main">
              <a:ext uri="{FF2B5EF4-FFF2-40B4-BE49-F238E27FC236}">
                <a16:creationId xmlns:a16="http://schemas.microsoft.com/office/drawing/2014/main" id="{F4D3A3B1-7DFE-4695-83DE-AB66235E66CE}"/>
              </a:ext>
            </a:extLst>
          </p:cNvPr>
          <p:cNvSpPr>
            <a:spLocks xmlns:a="http://schemas.openxmlformats.org/drawingml/2006/main" noGrp="1"/>
          </p:cNvSpPr>
          <p:nvPr/>
        </p:nvSpPr>
        <p:spPr>
          <a:xfrm xmlns:a="http://schemas.openxmlformats.org/drawingml/2006/main">
            <a:off x="9601200" y="2266950"/>
            <a:ext cx="2047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87F82"/>
                </a:solidFill>
                <a:latin typeface="Arial"/>
                <a:ea typeface="Arial"/>
                <a:cs typeface="Arial"/>
              </a:defRPr>
            </a:pPr>
            <a:r>
              <a:rPr sz="5700" b="1">
                <a:solidFill>
                  <a:srgbClr val="087F82"/>
                </a:solidFill>
                <a:latin typeface="Arial"/>
                <a:ea typeface="Arial"/>
                <a:cs typeface="Arial"/>
              </a:rPr>
              <a:t>0</a:t>
            </a:r>
          </a:p>
        </p:txBody>
      </p:sp>
      <p:sp>
        <p:nvSpPr>
          <p:cNvPr id="14" name="text-13">
            <a:extLst xmlns:a="http://schemas.openxmlformats.org/drawingml/2006/main">
              <a:ext uri="{FF2B5EF4-FFF2-40B4-BE49-F238E27FC236}">
                <a16:creationId xmlns:a16="http://schemas.microsoft.com/office/drawing/2014/main" id="{BA473F95-D7D3-4AE4-8063-0DAD5780BFCD}"/>
              </a:ext>
            </a:extLst>
          </p:cNvPr>
          <p:cNvSpPr>
            <a:spLocks xmlns:a="http://schemas.openxmlformats.org/drawingml/2006/main" noGrp="1"/>
          </p:cNvSpPr>
          <p:nvPr/>
        </p:nvSpPr>
        <p:spPr>
          <a:xfrm xmlns:a="http://schemas.openxmlformats.org/drawingml/2006/main">
            <a:off x="9601200" y="3400425"/>
            <a:ext cx="2047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02F40"/>
                </a:solidFill>
                <a:latin typeface="Malgun Gothic"/>
                <a:ea typeface="Malgun Gothic"/>
                <a:cs typeface="Malgun Gothic"/>
              </a:defRPr>
            </a:pPr>
            <a:r>
              <a:rPr sz="1875" b="0">
                <a:solidFill>
                  <a:srgbClr val="102F40"/>
                </a:solidFill>
                <a:latin typeface="Malgun Gothic"/>
                <a:ea typeface="Malgun Gothic"/>
                <a:cs typeface="Malgun Gothic"/>
              </a:rPr>
              <a:t>Chroma 임베딩</a:t>
            </a:r>
          </a:p>
          <a:p xmlns:a="http://schemas.openxmlformats.org/drawingml/2006/main">
            <a:pPr algn="l">
              <a:defRPr sz="1875" b="0">
                <a:solidFill>
                  <a:srgbClr val="102F40"/>
                </a:solidFill>
                <a:latin typeface="Malgun Gothic"/>
                <a:ea typeface="Malgun Gothic"/>
                <a:cs typeface="Malgun Gothic"/>
              </a:defRPr>
            </a:pPr>
            <a:r>
              <a:rPr sz="1875" b="0">
                <a:solidFill>
                  <a:srgbClr val="102F40"/>
                </a:solidFill>
                <a:latin typeface="Malgun Gothic"/>
                <a:ea typeface="Malgun Gothic"/>
                <a:cs typeface="Malgun Gothic"/>
              </a:rPr>
              <a:t>저장 건수</a:t>
            </a:r>
          </a:p>
        </p:txBody>
      </p:sp>
      <p:sp>
        <p:nvSpPr>
          <p:cNvPr id="15" name="text-14">
            <a:extLst xmlns:a="http://schemas.openxmlformats.org/drawingml/2006/main">
              <a:ext uri="{FF2B5EF4-FFF2-40B4-BE49-F238E27FC236}">
                <a16:creationId xmlns:a16="http://schemas.microsoft.com/office/drawing/2014/main" id="{23822C8E-7ABD-45CA-9ECE-DEE89D4EBD44}"/>
              </a:ext>
            </a:extLst>
          </p:cNvPr>
          <p:cNvSpPr>
            <a:spLocks xmlns:a="http://schemas.openxmlformats.org/drawingml/2006/main" noGrp="1"/>
          </p:cNvSpPr>
          <p:nvPr/>
        </p:nvSpPr>
        <p:spPr>
          <a:xfrm xmlns:a="http://schemas.openxmlformats.org/drawingml/2006/main">
            <a:off x="571500" y="47244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02F40"/>
                </a:solidFill>
                <a:latin typeface="Malgun Gothic"/>
                <a:ea typeface="Malgun Gothic"/>
                <a:cs typeface="Malgun Gothic"/>
              </a:defRPr>
            </a:pPr>
            <a:r>
              <a:rPr sz="2325" b="1">
                <a:solidFill>
                  <a:srgbClr val="102F40"/>
                </a:solidFill>
                <a:latin typeface="Malgun Gothic"/>
                <a:ea typeface="Malgun Gothic"/>
                <a:cs typeface="Malgun Gothic"/>
              </a:rPr>
              <a:t>현재 사용 경로</a:t>
            </a:r>
          </a:p>
        </p:txBody>
      </p:sp>
      <p:sp>
        <p:nvSpPr>
          <p:cNvPr id="16" name="text-15">
            <a:extLst xmlns:a="http://schemas.openxmlformats.org/drawingml/2006/main">
              <a:ext uri="{FF2B5EF4-FFF2-40B4-BE49-F238E27FC236}">
                <a16:creationId xmlns:a16="http://schemas.microsoft.com/office/drawing/2014/main" id="{E85AFA8F-4522-4E07-9542-99899F7278DB}"/>
              </a:ext>
            </a:extLst>
          </p:cNvPr>
          <p:cNvSpPr>
            <a:spLocks xmlns:a="http://schemas.openxmlformats.org/drawingml/2006/main" noGrp="1"/>
          </p:cNvSpPr>
          <p:nvPr/>
        </p:nvSpPr>
        <p:spPr>
          <a:xfrm xmlns:a="http://schemas.openxmlformats.org/drawingml/2006/main">
            <a:off x="571500" y="5324475"/>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2"/>
                </a:solidFill>
                <a:latin typeface="Malgun Gothic"/>
                <a:ea typeface="Malgun Gothic"/>
                <a:cs typeface="Malgun Gothic"/>
              </a:defRPr>
            </a:pPr>
            <a:r>
              <a:rPr sz="2325" b="1">
                <a:solidFill>
                  <a:srgbClr val="087F82"/>
                </a:solidFill>
                <a:latin typeface="Malgun Gothic"/>
                <a:ea typeface="Malgun Gothic"/>
                <a:cs typeface="Malgun Gothic"/>
              </a:rPr>
              <a:t>검수 JSONL의 키워드 검색과 지역·문서유형 필터</a:t>
            </a:r>
          </a:p>
        </p:txBody>
      </p:sp>
    </p:spTree>
    <p:extLst>
      <p:ext uri="{BB962C8B-B14F-4D97-AF65-F5344CB8AC3E}">
        <p14:creationId xmlns:p14="http://schemas.microsoft.com/office/powerpoint/2010/main" val="1311252268"/>
      </p:ext>
    </p:extLst>
  </p:cSld>
</p:sld>
</file>

<file path=ppt/slides/slide30.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7" name="text-0.5970430296668724">
            <a:extLst xmlns:a="http://schemas.openxmlformats.org/drawingml/2006/main">
              <a:ext uri="{FF2B5EF4-FFF2-40B4-BE49-F238E27FC236}">
                <a16:creationId xmlns:a16="http://schemas.microsoft.com/office/drawing/2014/main" id="{F0EE8C4D-9991-4EDF-A980-F79EF8989722}"/>
              </a:ext>
            </a:extLst>
          </p:cNvPr>
          <p:cNvSpPr>
            <a:spLocks xmlns:a="http://schemas.openxmlformats.org/drawingml/2006/main" noGrp="1"/>
          </p:cNvSpPr>
          <p:nvPr/>
        </p:nvSpPr>
        <p:spPr>
          <a:xfrm xmlns:a="http://schemas.openxmlformats.org/drawingml/2006/main">
            <a:off x="571500" y="3048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87F82"/>
                </a:solidFill>
                <a:latin typeface="Malgun Gothic"/>
                <a:ea typeface="Malgun Gothic"/>
                <a:cs typeface="Malgun Gothic"/>
              </a:defRPr>
            </a:pPr>
            <a:r>
              <a:rPr sz="1200" b="1">
                <a:solidFill>
                  <a:srgbClr val="087F82"/>
                </a:solidFill>
                <a:latin typeface="Malgun Gothic"/>
                <a:ea typeface="Malgun Gothic"/>
                <a:cs typeface="Malgun Gothic"/>
              </a:rPr>
              <a:t>04 AI와 근거</a:t>
            </a:r>
          </a:p>
        </p:txBody>
      </p:sp>
      <p:sp>
        <p:nvSpPr>
          <p:cNvPr id="2" name="text-1">
            <a:extLst xmlns:a="http://schemas.openxmlformats.org/drawingml/2006/main">
              <a:ext uri="{FF2B5EF4-FFF2-40B4-BE49-F238E27FC236}">
                <a16:creationId xmlns:a16="http://schemas.microsoft.com/office/drawing/2014/main" id="{96050C81-B093-4E84-92C2-DB453A4130C3}"/>
              </a:ext>
            </a:extLst>
          </p:cNvPr>
          <p:cNvSpPr>
            <a:spLocks xmlns:a="http://schemas.openxmlformats.org/drawingml/2006/main" noGrp="1"/>
          </p:cNvSpPr>
          <p:nvPr/>
        </p:nvSpPr>
        <p:spPr>
          <a:xfrm xmlns:a="http://schemas.openxmlformats.org/drawingml/2006/main">
            <a:off x="571500" y="76200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02F40"/>
                </a:solidFill>
                <a:latin typeface="Malgun Gothic"/>
                <a:ea typeface="Malgun Gothic"/>
                <a:cs typeface="Malgun Gothic"/>
              </a:defRPr>
            </a:pPr>
            <a:r>
              <a:rPr sz="3300" b="1">
                <a:solidFill>
                  <a:srgbClr val="102F40"/>
                </a:solidFill>
                <a:latin typeface="Malgun Gothic"/>
                <a:ea typeface="Malgun Gothic"/>
                <a:cs typeface="Malgun Gothic"/>
              </a:rPr>
              <a:t>저장 근거와 새 웹 조사의 역할</a:t>
            </a:r>
          </a:p>
        </p:txBody>
      </p:sp>
      <p:sp>
        <p:nvSpPr>
          <p:cNvPr id="3" name="">
            <a:extLst xmlns:a="http://schemas.openxmlformats.org/drawingml/2006/main">
              <a:ext uri="{FF2B5EF4-FFF2-40B4-BE49-F238E27FC236}">
                <a16:creationId xmlns:a16="http://schemas.microsoft.com/office/drawing/2014/main" id="{6AA25283-F472-4E4A-8F20-038E8F5B86D7}"/>
              </a:ext>
            </a:extLst>
          </p:cNvPr>
          <p:cNvSpPr>
            <a:spLocks xmlns:a="http://schemas.openxmlformats.org/drawingml/2006/main" noGrp="1"/>
          </p:cNvSpPr>
          <p:nvPr/>
        </p:nvSpPr>
        <p:spPr>
          <a:xfrm xmlns:a="http://schemas.openxmlformats.org/drawingml/2006/main">
            <a:off x="571500" y="6324600"/>
            <a:ext cx="11049000" cy="0"/>
          </a:xfrm>
          <a:prstGeom xmlns:a="http://schemas.openxmlformats.org/drawingml/2006/main" prst="line">
            <a:avLst/>
          </a:prstGeom>
          <a:noFill xmlns:a="http://schemas.openxmlformats.org/drawingml/2006/main"/>
          <a:ln xmlns:a="http://schemas.openxmlformats.org/drawingml/2006/main" w="9525">
            <a:solidFill>
              <a:srgbClr val="CDD8D9"/>
            </a:solidFill>
            <a:prstDash val="solid"/>
          </a:ln>
        </p:spPr>
      </p:sp>
      <p:sp>
        <p:nvSpPr>
          <p:cNvPr id="4" name="text-3">
            <a:extLst xmlns:a="http://schemas.openxmlformats.org/drawingml/2006/main">
              <a:ext uri="{FF2B5EF4-FFF2-40B4-BE49-F238E27FC236}">
                <a16:creationId xmlns:a16="http://schemas.microsoft.com/office/drawing/2014/main" id="{C45D90A2-6B77-41FB-864E-6C0F0730115C}"/>
              </a:ext>
            </a:extLst>
          </p:cNvPr>
          <p:cNvSpPr>
            <a:spLocks xmlns:a="http://schemas.openxmlformats.org/drawingml/2006/main" noGrp="1"/>
          </p:cNvSpPr>
          <p:nvPr/>
        </p:nvSpPr>
        <p:spPr>
          <a:xfrm xmlns:a="http://schemas.openxmlformats.org/drawingml/2006/main">
            <a:off x="571500" y="64960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36B78"/>
                </a:solidFill>
                <a:latin typeface="Arial"/>
                <a:ea typeface="Arial"/>
                <a:cs typeface="Arial"/>
              </a:defRPr>
            </a:pPr>
            <a:r>
              <a:rPr sz="1050" b="1">
                <a:solidFill>
                  <a:srgbClr val="536B78"/>
                </a:solidFill>
                <a:latin typeface="Arial"/>
                <a:ea typeface="Arial"/>
                <a:cs typeface="Arial"/>
              </a:rPr>
              <a:t>OLIGO-K</a:t>
            </a:r>
          </a:p>
        </p:txBody>
      </p:sp>
      <p:sp>
        <p:nvSpPr>
          <p:cNvPr id="5" name="text-4">
            <a:extLst xmlns:a="http://schemas.openxmlformats.org/drawingml/2006/main">
              <a:ext uri="{FF2B5EF4-FFF2-40B4-BE49-F238E27FC236}">
                <a16:creationId xmlns:a16="http://schemas.microsoft.com/office/drawing/2014/main" id="{513A6C2D-E912-406B-B6C3-BA597AD51864}"/>
              </a:ext>
            </a:extLst>
          </p:cNvPr>
          <p:cNvSpPr>
            <a:spLocks xmlns:a="http://schemas.openxmlformats.org/drawingml/2006/main" noGrp="1"/>
          </p:cNvSpPr>
          <p:nvPr/>
        </p:nvSpPr>
        <p:spPr>
          <a:xfrm xmlns:a="http://schemas.openxmlformats.org/drawingml/2006/main">
            <a:off x="11049000" y="64674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1">
                <a:solidFill>
                  <a:srgbClr val="087F82"/>
                </a:solidFill>
                <a:latin typeface="Arial"/>
                <a:ea typeface="Arial"/>
                <a:cs typeface="Arial"/>
              </a:defRPr>
            </a:pPr>
            <a:r>
              <a:rPr sz="1350" b="1">
                <a:solidFill>
                  <a:srgbClr val="087F82"/>
                </a:solidFill>
                <a:latin typeface="Arial"/>
                <a:ea typeface="Arial"/>
                <a:cs typeface="Arial"/>
              </a:rPr>
              <a:t>30</a:t>
            </a:r>
          </a:p>
        </p:txBody>
      </p:sp>
      <p:graphicFrame>
        <p:nvGraphicFramePr>
          <p:cNvPr id="12" name=""/>
          <p:cNvGraphicFramePr/>
          <p:nvPr/>
        </p:nvGraphicFramePr>
        <p:xfrm>
          <a:off xmlns:a="http://schemas.openxmlformats.org/drawingml/2006/main" x="571500" y="2219325"/>
          <a:ext xmlns:a="http://schemas.openxmlformats.org/drawingml/2006/main" cx="11049000" cy="3333750"/>
        </p:xfrm>
        <a:graphic xmlns:a="http://schemas.openxmlformats.org/drawingml/2006/main">
          <a:graphicData uri="http://schemas.openxmlformats.org/drawingml/2006/table">
            <a:tbl>
              <a:tblPr firstRow="1" bandRow="0"/>
              <a:tblGrid>
                <a:gridCol w="5524500"/>
                <a:gridCol w="5524500"/>
              </a:tblGrid>
              <a:tr h="666750">
                <a:tc>
                  <a:txBody>
                    <a:bodyPr/>
                    <a:lstStyle/>
                    <a:p>
                      <a:r>
                        <a:rPr sz="1875" b="1">
                          <a:solidFill>
                            <a:srgbClr val="FFFFFF"/>
                          </a:solidFill>
                          <a:latin typeface="Malgun Gothic"/>
                          <a:ea typeface="Malgun Gothic"/>
                          <a:cs typeface="Malgun Gothic"/>
                        </a:rPr>
                        <a:t>저장된 공식 근거 검색</a:t>
                      </a:r>
                    </a:p>
                  </a:txBody>
                  <a:tcPr marL="142875" marR="123825" marT="123825" marB="95250" anchor="ctr">
                    <a:solidFill>
                      <a:srgbClr val="102F40"/>
                    </a:solidFill>
                  </a:tcPr>
                </a:tc>
                <a:tc>
                  <a:txBody>
                    <a:bodyPr/>
                    <a:lstStyle/>
                    <a:p>
                      <a:r>
                        <a:rPr sz="1875" b="1">
                          <a:solidFill>
                            <a:srgbClr val="FFFFFF"/>
                          </a:solidFill>
                          <a:latin typeface="Malgun Gothic"/>
                          <a:ea typeface="Malgun Gothic"/>
                          <a:cs typeface="Malgun Gothic"/>
                        </a:rPr>
                        <a:t>새 공식 웹 조사</a:t>
                      </a:r>
                    </a:p>
                  </a:txBody>
                  <a:tcPr marL="142875" marR="123825" marT="123825" marB="95250" anchor="ctr">
                    <a:solidFill>
                      <a:srgbClr val="102F40"/>
                    </a:solidFill>
                  </a:tcPr>
                </a:tc>
              </a:tr>
              <a:tr h="666750">
                <a:tc>
                  <a:txBody>
                    <a:bodyPr/>
                    <a:lstStyle/>
                    <a:p>
                      <a:r>
                        <a:rPr sz="1875" b="0">
                          <a:solidFill>
                            <a:srgbClr val="102F40"/>
                          </a:solidFill>
                          <a:latin typeface="Malgun Gothic"/>
                          <a:ea typeface="Malgun Gothic"/>
                          <a:cs typeface="Malgun Gothic"/>
                        </a:rPr>
                        <a:t>이미 검수한 문서·사례 재사용</a:t>
                      </a:r>
                    </a:p>
                  </a:txBody>
                  <a:tcPr marL="142875" marR="123825" marT="123825" marB="95250" anchor="ctr">
                    <a:solidFill>
                      <a:srgbClr val="FFFFFF"/>
                    </a:solidFill>
                  </a:tcPr>
                </a:tc>
                <a:tc>
                  <a:txBody>
                    <a:bodyPr/>
                    <a:lstStyle/>
                    <a:p>
                      <a:r>
                        <a:rPr sz="1875" b="0">
                          <a:solidFill>
                            <a:srgbClr val="102F40"/>
                          </a:solidFill>
                          <a:latin typeface="Malgun Gothic"/>
                          <a:ea typeface="Malgun Gothic"/>
                          <a:cs typeface="Malgun Gothic"/>
                        </a:rPr>
                        <a:t>부족하거나 최신 확인이 필요한 자료 보강</a:t>
                      </a:r>
                    </a:p>
                  </a:txBody>
                  <a:tcPr marL="142875" marR="123825" marT="123825" marB="95250" anchor="ctr">
                    <a:solidFill>
                      <a:srgbClr val="FFFFFF"/>
                    </a:solidFill>
                  </a:tcPr>
                </a:tc>
              </a:tr>
              <a:tr h="666750">
                <a:tc>
                  <a:txBody>
                    <a:bodyPr/>
                    <a:lstStyle/>
                    <a:p>
                      <a:r>
                        <a:rPr sz="1875" b="0">
                          <a:solidFill>
                            <a:srgbClr val="102F40"/>
                          </a:solidFill>
                          <a:latin typeface="Malgun Gothic"/>
                          <a:ea typeface="Malgun Gothic"/>
                          <a:cs typeface="Malgun Gothic"/>
                        </a:rPr>
                        <a:t>지역 코드·문서 유형·키워드 필터</a:t>
                      </a:r>
                    </a:p>
                  </a:txBody>
                  <a:tcPr marL="142875" marR="123825" marT="123825" marB="95250" anchor="ctr">
                    <a:solidFill>
                      <a:srgbClr val="F6F7F4"/>
                    </a:solidFill>
                  </a:tcPr>
                </a:tc>
                <a:tc>
                  <a:txBody>
                    <a:bodyPr/>
                    <a:lstStyle/>
                    <a:p>
                      <a:r>
                        <a:rPr sz="1875" b="0">
                          <a:solidFill>
                            <a:srgbClr val="102F40"/>
                          </a:solidFill>
                          <a:latin typeface="Malgun Gothic"/>
                          <a:ea typeface="Malgun Gothic"/>
                          <a:cs typeface="Malgun Gothic"/>
                        </a:rPr>
                        <a:t>허용된 공식 도메인에서 조사</a:t>
                      </a:r>
                    </a:p>
                  </a:txBody>
                  <a:tcPr marL="142875" marR="123825" marT="123825" marB="95250" anchor="ctr">
                    <a:solidFill>
                      <a:srgbClr val="F6F7F4"/>
                    </a:solidFill>
                  </a:tcPr>
                </a:tc>
              </a:tr>
              <a:tr h="666750">
                <a:tc>
                  <a:txBody>
                    <a:bodyPr/>
                    <a:lstStyle/>
                    <a:p>
                      <a:r>
                        <a:rPr sz="1875" b="0">
                          <a:solidFill>
                            <a:srgbClr val="102F40"/>
                          </a:solidFill>
                          <a:latin typeface="Malgun Gothic"/>
                          <a:ea typeface="Malgun Gothic"/>
                          <a:cs typeface="Malgun Gothic"/>
                        </a:rPr>
                        <a:t>source_id·URL·페이지 유지</a:t>
                      </a:r>
                    </a:p>
                  </a:txBody>
                  <a:tcPr marL="142875" marR="123825" marT="123825" marB="95250" anchor="ctr">
                    <a:solidFill>
                      <a:srgbClr val="FFFFFF"/>
                    </a:solidFill>
                  </a:tcPr>
                </a:tc>
                <a:tc>
                  <a:txBody>
                    <a:bodyPr/>
                    <a:lstStyle/>
                    <a:p>
                      <a:r>
                        <a:rPr sz="1875" b="0">
                          <a:solidFill>
                            <a:srgbClr val="102F40"/>
                          </a:solidFill>
                          <a:latin typeface="Malgun Gothic"/>
                          <a:ea typeface="Malgun Gothic"/>
                          <a:cs typeface="Malgun Gothic"/>
                        </a:rPr>
                        <a:t>원문·측정기간·집계범위 확인</a:t>
                      </a:r>
                    </a:p>
                  </a:txBody>
                  <a:tcPr marL="142875" marR="123825" marT="123825" marB="95250" anchor="ctr">
                    <a:solidFill>
                      <a:srgbClr val="FFFFFF"/>
                    </a:solidFill>
                  </a:tcPr>
                </a:tc>
              </a:tr>
              <a:tr h="666750">
                <a:tc>
                  <a:txBody>
                    <a:bodyPr/>
                    <a:lstStyle/>
                    <a:p>
                      <a:r>
                        <a:rPr sz="1875" b="0">
                          <a:solidFill>
                            <a:srgbClr val="102F40"/>
                          </a:solidFill>
                          <a:latin typeface="Malgun Gothic"/>
                          <a:ea typeface="Malgun Gothic"/>
                          <a:cs typeface="Malgun Gothic"/>
                        </a:rPr>
                        <a:t>월별 수치표 계산은 MySQL·ML 담당</a:t>
                      </a:r>
                    </a:p>
                  </a:txBody>
                  <a:tcPr marL="142875" marR="123825" marT="123825" marB="95250" anchor="ctr">
                    <a:solidFill>
                      <a:srgbClr val="F6F7F4"/>
                    </a:solidFill>
                  </a:tcPr>
                </a:tc>
                <a:tc>
                  <a:txBody>
                    <a:bodyPr/>
                    <a:lstStyle/>
                    <a:p>
                      <a:r>
                        <a:rPr sz="1875" b="0">
                          <a:solidFill>
                            <a:srgbClr val="102F40"/>
                          </a:solidFill>
                          <a:latin typeface="Malgun Gothic"/>
                          <a:ea typeface="Malgun Gothic"/>
                          <a:cs typeface="Malgun Gothic"/>
                        </a:rPr>
                        <a:t>검색 요약만으로 확정 근거 승격 금지</a:t>
                      </a:r>
                    </a:p>
                  </a:txBody>
                  <a:tcPr marL="142875" marR="123825" marT="123825" marB="95250" anchor="ctr">
                    <a:solidFill>
                      <a:srgbClr val="F6F7F4"/>
                    </a:solidFill>
                  </a:tcPr>
                </a:tc>
              </a:tr>
            </a:tbl>
          </a:graphicData>
        </a:graphic>
      </p:graphicFrame>
    </p:spTree>
    <p:extLst>
      <p:ext uri="{BB962C8B-B14F-4D97-AF65-F5344CB8AC3E}">
        <p14:creationId xmlns:p14="http://schemas.microsoft.com/office/powerpoint/2010/main" val="1173773803"/>
      </p:ext>
    </p:extLst>
  </p:cSld>
</p:sld>
</file>

<file path=ppt/slides/slide31.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6" name="text-0.47921915660146086">
            <a:extLst xmlns:a="http://schemas.openxmlformats.org/drawingml/2006/main">
              <a:ext uri="{FF2B5EF4-FFF2-40B4-BE49-F238E27FC236}">
                <a16:creationId xmlns:a16="http://schemas.microsoft.com/office/drawing/2014/main" id="{C5A45F92-120E-40A9-9FC3-AB87F9D565CC}"/>
              </a:ext>
            </a:extLst>
          </p:cNvPr>
          <p:cNvSpPr>
            <a:spLocks xmlns:a="http://schemas.openxmlformats.org/drawingml/2006/main" noGrp="1"/>
          </p:cNvSpPr>
          <p:nvPr/>
        </p:nvSpPr>
        <p:spPr>
          <a:xfrm xmlns:a="http://schemas.openxmlformats.org/drawingml/2006/main">
            <a:off x="571500" y="3048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87F82"/>
                </a:solidFill>
                <a:latin typeface="Malgun Gothic"/>
                <a:ea typeface="Malgun Gothic"/>
                <a:cs typeface="Malgun Gothic"/>
              </a:defRPr>
            </a:pPr>
            <a:r>
              <a:rPr sz="1200" b="1">
                <a:solidFill>
                  <a:srgbClr val="087F82"/>
                </a:solidFill>
                <a:latin typeface="Malgun Gothic"/>
                <a:ea typeface="Malgun Gothic"/>
                <a:cs typeface="Malgun Gothic"/>
              </a:rPr>
              <a:t>05 기획 수치와 사례의 근거</a:t>
            </a:r>
          </a:p>
        </p:txBody>
      </p:sp>
      <p:sp>
        <p:nvSpPr>
          <p:cNvPr id="2" name="text-1">
            <a:extLst xmlns:a="http://schemas.openxmlformats.org/drawingml/2006/main">
              <a:ext uri="{FF2B5EF4-FFF2-40B4-BE49-F238E27FC236}">
                <a16:creationId xmlns:a16="http://schemas.microsoft.com/office/drawing/2014/main" id="{D73ACCE4-48B9-451C-92FB-F05A30445965}"/>
              </a:ext>
            </a:extLst>
          </p:cNvPr>
          <p:cNvSpPr>
            <a:spLocks xmlns:a="http://schemas.openxmlformats.org/drawingml/2006/main" noGrp="1"/>
          </p:cNvSpPr>
          <p:nvPr/>
        </p:nvSpPr>
        <p:spPr>
          <a:xfrm xmlns:a="http://schemas.openxmlformats.org/drawingml/2006/main">
            <a:off x="571500" y="76200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02F40"/>
                </a:solidFill>
                <a:latin typeface="Malgun Gothic"/>
                <a:ea typeface="Malgun Gothic"/>
                <a:cs typeface="Malgun Gothic"/>
              </a:defRPr>
            </a:pPr>
            <a:r>
              <a:rPr sz="3300" b="1">
                <a:solidFill>
                  <a:srgbClr val="102F40"/>
                </a:solidFill>
                <a:latin typeface="Malgun Gothic"/>
                <a:ea typeface="Malgun Gothic"/>
                <a:cs typeface="Malgun Gothic"/>
              </a:rPr>
              <a:t>비교할 사례를 고르는 순서</a:t>
            </a:r>
          </a:p>
        </p:txBody>
      </p:sp>
      <p:sp>
        <p:nvSpPr>
          <p:cNvPr id="3" name="">
            <a:extLst xmlns:a="http://schemas.openxmlformats.org/drawingml/2006/main">
              <a:ext uri="{FF2B5EF4-FFF2-40B4-BE49-F238E27FC236}">
                <a16:creationId xmlns:a16="http://schemas.microsoft.com/office/drawing/2014/main" id="{7871B123-CA5D-4A13-8BBD-685B6ED82390}"/>
              </a:ext>
            </a:extLst>
          </p:cNvPr>
          <p:cNvSpPr>
            <a:spLocks xmlns:a="http://schemas.openxmlformats.org/drawingml/2006/main" noGrp="1"/>
          </p:cNvSpPr>
          <p:nvPr/>
        </p:nvSpPr>
        <p:spPr>
          <a:xfrm xmlns:a="http://schemas.openxmlformats.org/drawingml/2006/main">
            <a:off x="571500" y="6324600"/>
            <a:ext cx="11049000" cy="0"/>
          </a:xfrm>
          <a:prstGeom xmlns:a="http://schemas.openxmlformats.org/drawingml/2006/main" prst="line">
            <a:avLst/>
          </a:prstGeom>
          <a:noFill xmlns:a="http://schemas.openxmlformats.org/drawingml/2006/main"/>
          <a:ln xmlns:a="http://schemas.openxmlformats.org/drawingml/2006/main" w="9525">
            <a:solidFill>
              <a:srgbClr val="CDD8D9"/>
            </a:solidFill>
            <a:prstDash val="solid"/>
          </a:ln>
        </p:spPr>
      </p:sp>
      <p:sp>
        <p:nvSpPr>
          <p:cNvPr id="4" name="text-3">
            <a:extLst xmlns:a="http://schemas.openxmlformats.org/drawingml/2006/main">
              <a:ext uri="{FF2B5EF4-FFF2-40B4-BE49-F238E27FC236}">
                <a16:creationId xmlns:a16="http://schemas.microsoft.com/office/drawing/2014/main" id="{961E0A3D-C654-47D2-96FD-F47E7887CB66}"/>
              </a:ext>
            </a:extLst>
          </p:cNvPr>
          <p:cNvSpPr>
            <a:spLocks xmlns:a="http://schemas.openxmlformats.org/drawingml/2006/main" noGrp="1"/>
          </p:cNvSpPr>
          <p:nvPr/>
        </p:nvSpPr>
        <p:spPr>
          <a:xfrm xmlns:a="http://schemas.openxmlformats.org/drawingml/2006/main">
            <a:off x="571500" y="64960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36B78"/>
                </a:solidFill>
                <a:latin typeface="Arial"/>
                <a:ea typeface="Arial"/>
                <a:cs typeface="Arial"/>
              </a:defRPr>
            </a:pPr>
            <a:r>
              <a:rPr sz="1050" b="1">
                <a:solidFill>
                  <a:srgbClr val="536B78"/>
                </a:solidFill>
                <a:latin typeface="Arial"/>
                <a:ea typeface="Arial"/>
                <a:cs typeface="Arial"/>
              </a:rPr>
              <a:t>OLIGO-K</a:t>
            </a:r>
          </a:p>
        </p:txBody>
      </p:sp>
      <p:sp>
        <p:nvSpPr>
          <p:cNvPr id="5" name="text-4">
            <a:extLst xmlns:a="http://schemas.openxmlformats.org/drawingml/2006/main">
              <a:ext uri="{FF2B5EF4-FFF2-40B4-BE49-F238E27FC236}">
                <a16:creationId xmlns:a16="http://schemas.microsoft.com/office/drawing/2014/main" id="{B5E79FC2-290E-4787-B04B-3254E6ED05C9}"/>
              </a:ext>
            </a:extLst>
          </p:cNvPr>
          <p:cNvSpPr>
            <a:spLocks xmlns:a="http://schemas.openxmlformats.org/drawingml/2006/main" noGrp="1"/>
          </p:cNvSpPr>
          <p:nvPr/>
        </p:nvSpPr>
        <p:spPr>
          <a:xfrm xmlns:a="http://schemas.openxmlformats.org/drawingml/2006/main">
            <a:off x="11049000" y="64674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1">
                <a:solidFill>
                  <a:srgbClr val="087F82"/>
                </a:solidFill>
                <a:latin typeface="Arial"/>
                <a:ea typeface="Arial"/>
                <a:cs typeface="Arial"/>
              </a:defRPr>
            </a:pPr>
            <a:r>
              <a:rPr sz="1350" b="1">
                <a:solidFill>
                  <a:srgbClr val="087F82"/>
                </a:solidFill>
                <a:latin typeface="Arial"/>
                <a:ea typeface="Arial"/>
                <a:cs typeface="Arial"/>
              </a:rPr>
              <a:t>31</a:t>
            </a:r>
          </a:p>
        </p:txBody>
      </p:sp>
      <p:sp>
        <p:nvSpPr>
          <p:cNvPr id="6" name="text-5">
            <a:extLst xmlns:a="http://schemas.openxmlformats.org/drawingml/2006/main">
              <a:ext uri="{FF2B5EF4-FFF2-40B4-BE49-F238E27FC236}">
                <a16:creationId xmlns:a16="http://schemas.microsoft.com/office/drawing/2014/main" id="{DBAF9DEE-F461-436C-B0BA-60B31A25A783}"/>
              </a:ext>
            </a:extLst>
          </p:cNvPr>
          <p:cNvSpPr>
            <a:spLocks xmlns:a="http://schemas.openxmlformats.org/drawingml/2006/main" noGrp="1"/>
          </p:cNvSpPr>
          <p:nvPr/>
        </p:nvSpPr>
        <p:spPr>
          <a:xfrm xmlns:a="http://schemas.openxmlformats.org/drawingml/2006/main">
            <a:off x="571500" y="218122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87F82"/>
                </a:solidFill>
                <a:latin typeface="Arial"/>
                <a:ea typeface="Arial"/>
                <a:cs typeface="Arial"/>
              </a:defRPr>
            </a:pPr>
            <a:r>
              <a:rPr sz="2400" b="1">
                <a:solidFill>
                  <a:srgbClr val="087F82"/>
                </a:solidFill>
                <a:latin typeface="Arial"/>
                <a:ea typeface="Arial"/>
                <a:cs typeface="Arial"/>
              </a:rPr>
              <a:t>01</a:t>
            </a:r>
          </a:p>
        </p:txBody>
      </p:sp>
      <p:sp>
        <p:nvSpPr>
          <p:cNvPr id="7" name="text-6">
            <a:extLst xmlns:a="http://schemas.openxmlformats.org/drawingml/2006/main">
              <a:ext uri="{FF2B5EF4-FFF2-40B4-BE49-F238E27FC236}">
                <a16:creationId xmlns:a16="http://schemas.microsoft.com/office/drawing/2014/main" id="{A3864B3F-1707-4222-B787-57C600E56C96}"/>
              </a:ext>
            </a:extLst>
          </p:cNvPr>
          <p:cNvSpPr>
            <a:spLocks xmlns:a="http://schemas.openxmlformats.org/drawingml/2006/main" noGrp="1"/>
          </p:cNvSpPr>
          <p:nvPr/>
        </p:nvSpPr>
        <p:spPr>
          <a:xfrm xmlns:a="http://schemas.openxmlformats.org/drawingml/2006/main">
            <a:off x="1381125" y="2181225"/>
            <a:ext cx="10048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F40"/>
                </a:solidFill>
                <a:latin typeface="Malgun Gothic"/>
                <a:ea typeface="Malgun Gothic"/>
                <a:cs typeface="Malgun Gothic"/>
              </a:defRPr>
            </a:pPr>
            <a:r>
              <a:rPr sz="2175" b="1">
                <a:solidFill>
                  <a:srgbClr val="102F40"/>
                </a:solidFill>
                <a:latin typeface="Malgun Gothic"/>
                <a:ea typeface="Malgun Gothic"/>
                <a:cs typeface="Malgun Gothic"/>
              </a:rPr>
              <a:t>같은 시도와 지역 맥락</a:t>
            </a:r>
          </a:p>
        </p:txBody>
      </p:sp>
      <p:sp>
        <p:nvSpPr>
          <p:cNvPr id="8" name="text-7">
            <a:extLst xmlns:a="http://schemas.openxmlformats.org/drawingml/2006/main">
              <a:ext uri="{FF2B5EF4-FFF2-40B4-BE49-F238E27FC236}">
                <a16:creationId xmlns:a16="http://schemas.microsoft.com/office/drawing/2014/main" id="{65D583DB-498D-4FF9-8BD6-2A9A8876D991}"/>
              </a:ext>
            </a:extLst>
          </p:cNvPr>
          <p:cNvSpPr>
            <a:spLocks xmlns:a="http://schemas.openxmlformats.org/drawingml/2006/main" noGrp="1"/>
          </p:cNvSpPr>
          <p:nvPr/>
        </p:nvSpPr>
        <p:spPr>
          <a:xfrm xmlns:a="http://schemas.openxmlformats.org/drawingml/2006/main">
            <a:off x="1381125" y="2628900"/>
            <a:ext cx="10048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6B78"/>
                </a:solidFill>
                <a:latin typeface="Malgun Gothic"/>
                <a:ea typeface="Malgun Gothic"/>
                <a:cs typeface="Malgun Gothic"/>
              </a:defRPr>
            </a:pPr>
            <a:r>
              <a:rPr sz="1800" b="0">
                <a:solidFill>
                  <a:srgbClr val="536B78"/>
                </a:solidFill>
                <a:latin typeface="Malgun Gothic"/>
                <a:ea typeface="Malgun Gothic"/>
                <a:cs typeface="Malgun Gothic"/>
              </a:rPr>
              <a:t>인접한 운영 환경에서 참고할 사례를 먼저 탐색</a:t>
            </a:r>
          </a:p>
        </p:txBody>
      </p:sp>
      <p:sp>
        <p:nvSpPr>
          <p:cNvPr id="9" name="text-8">
            <a:extLst xmlns:a="http://schemas.openxmlformats.org/drawingml/2006/main">
              <a:ext uri="{FF2B5EF4-FFF2-40B4-BE49-F238E27FC236}">
                <a16:creationId xmlns:a16="http://schemas.microsoft.com/office/drawing/2014/main" id="{9AA8B18D-A2AB-434C-BEFB-967E0F26C706}"/>
              </a:ext>
            </a:extLst>
          </p:cNvPr>
          <p:cNvSpPr>
            <a:spLocks xmlns:a="http://schemas.openxmlformats.org/drawingml/2006/main" noGrp="1"/>
          </p:cNvSpPr>
          <p:nvPr/>
        </p:nvSpPr>
        <p:spPr>
          <a:xfrm xmlns:a="http://schemas.openxmlformats.org/drawingml/2006/main">
            <a:off x="571500" y="337185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87F82"/>
                </a:solidFill>
                <a:latin typeface="Arial"/>
                <a:ea typeface="Arial"/>
                <a:cs typeface="Arial"/>
              </a:defRPr>
            </a:pPr>
            <a:r>
              <a:rPr sz="2400" b="1">
                <a:solidFill>
                  <a:srgbClr val="087F82"/>
                </a:solidFill>
                <a:latin typeface="Arial"/>
                <a:ea typeface="Arial"/>
                <a:cs typeface="Arial"/>
              </a:rPr>
              <a:t>02</a:t>
            </a:r>
          </a:p>
        </p:txBody>
      </p:sp>
      <p:sp>
        <p:nvSpPr>
          <p:cNvPr id="10" name="text-9">
            <a:extLst xmlns:a="http://schemas.openxmlformats.org/drawingml/2006/main">
              <a:ext uri="{FF2B5EF4-FFF2-40B4-BE49-F238E27FC236}">
                <a16:creationId xmlns:a16="http://schemas.microsoft.com/office/drawing/2014/main" id="{289F8783-BBED-45FF-AF4E-1205E1171817}"/>
              </a:ext>
            </a:extLst>
          </p:cNvPr>
          <p:cNvSpPr>
            <a:spLocks xmlns:a="http://schemas.openxmlformats.org/drawingml/2006/main" noGrp="1"/>
          </p:cNvSpPr>
          <p:nvPr/>
        </p:nvSpPr>
        <p:spPr>
          <a:xfrm xmlns:a="http://schemas.openxmlformats.org/drawingml/2006/main">
            <a:off x="1381125" y="3371850"/>
            <a:ext cx="10048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F40"/>
                </a:solidFill>
                <a:latin typeface="Malgun Gothic"/>
                <a:ea typeface="Malgun Gothic"/>
                <a:cs typeface="Malgun Gothic"/>
              </a:defRPr>
            </a:pPr>
            <a:r>
              <a:rPr sz="2175" b="1">
                <a:solidFill>
                  <a:srgbClr val="102F40"/>
                </a:solidFill>
                <a:latin typeface="Malgun Gothic"/>
                <a:ea typeface="Malgun Gothic"/>
                <a:cs typeface="Malgun Gothic"/>
              </a:rPr>
              <a:t>다른 시도의 유사 관광지표 지역</a:t>
            </a:r>
          </a:p>
        </p:txBody>
      </p:sp>
      <p:sp>
        <p:nvSpPr>
          <p:cNvPr id="11" name="text-10">
            <a:extLst xmlns:a="http://schemas.openxmlformats.org/drawingml/2006/main">
              <a:ext uri="{FF2B5EF4-FFF2-40B4-BE49-F238E27FC236}">
                <a16:creationId xmlns:a16="http://schemas.microsoft.com/office/drawing/2014/main" id="{8D0D588C-387E-413D-92E4-D6E7CF00C82C}"/>
              </a:ext>
            </a:extLst>
          </p:cNvPr>
          <p:cNvSpPr>
            <a:spLocks xmlns:a="http://schemas.openxmlformats.org/drawingml/2006/main" noGrp="1"/>
          </p:cNvSpPr>
          <p:nvPr/>
        </p:nvSpPr>
        <p:spPr>
          <a:xfrm xmlns:a="http://schemas.openxmlformats.org/drawingml/2006/main">
            <a:off x="1381125" y="3819525"/>
            <a:ext cx="10048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6B78"/>
                </a:solidFill>
                <a:latin typeface="Malgun Gothic"/>
                <a:ea typeface="Malgun Gothic"/>
                <a:cs typeface="Malgun Gothic"/>
              </a:defRPr>
            </a:pPr>
            <a:r>
              <a:rPr sz="1800" b="0">
                <a:solidFill>
                  <a:srgbClr val="536B78"/>
                </a:solidFill>
                <a:latin typeface="Malgun Gothic"/>
                <a:ea typeface="Malgun Gothic"/>
                <a:cs typeface="Malgun Gothic"/>
              </a:rPr>
              <a:t>방문 규모·소비/방문 비율·숙박 지표의 차이 비교</a:t>
            </a:r>
          </a:p>
        </p:txBody>
      </p:sp>
      <p:sp>
        <p:nvSpPr>
          <p:cNvPr id="12" name="text-11">
            <a:extLst xmlns:a="http://schemas.openxmlformats.org/drawingml/2006/main">
              <a:ext uri="{FF2B5EF4-FFF2-40B4-BE49-F238E27FC236}">
                <a16:creationId xmlns:a16="http://schemas.microsoft.com/office/drawing/2014/main" id="{6550CA63-831A-4D4D-BD2E-548EC47688FA}"/>
              </a:ext>
            </a:extLst>
          </p:cNvPr>
          <p:cNvSpPr>
            <a:spLocks xmlns:a="http://schemas.openxmlformats.org/drawingml/2006/main" noGrp="1"/>
          </p:cNvSpPr>
          <p:nvPr/>
        </p:nvSpPr>
        <p:spPr>
          <a:xfrm xmlns:a="http://schemas.openxmlformats.org/drawingml/2006/main">
            <a:off x="571500" y="456247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87F82"/>
                </a:solidFill>
                <a:latin typeface="Arial"/>
                <a:ea typeface="Arial"/>
                <a:cs typeface="Arial"/>
              </a:defRPr>
            </a:pPr>
            <a:r>
              <a:rPr sz="2400" b="1">
                <a:solidFill>
                  <a:srgbClr val="087F82"/>
                </a:solidFill>
                <a:latin typeface="Arial"/>
                <a:ea typeface="Arial"/>
                <a:cs typeface="Arial"/>
              </a:rPr>
              <a:t>03</a:t>
            </a:r>
          </a:p>
        </p:txBody>
      </p:sp>
      <p:sp>
        <p:nvSpPr>
          <p:cNvPr id="13" name="text-12">
            <a:extLst xmlns:a="http://schemas.openxmlformats.org/drawingml/2006/main">
              <a:ext uri="{FF2B5EF4-FFF2-40B4-BE49-F238E27FC236}">
                <a16:creationId xmlns:a16="http://schemas.microsoft.com/office/drawing/2014/main" id="{8FA69F17-7A37-416E-89CC-D783A3E3E400}"/>
              </a:ext>
            </a:extLst>
          </p:cNvPr>
          <p:cNvSpPr>
            <a:spLocks xmlns:a="http://schemas.openxmlformats.org/drawingml/2006/main" noGrp="1"/>
          </p:cNvSpPr>
          <p:nvPr/>
        </p:nvSpPr>
        <p:spPr>
          <a:xfrm xmlns:a="http://schemas.openxmlformats.org/drawingml/2006/main">
            <a:off x="1381125" y="4562475"/>
            <a:ext cx="10048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F40"/>
                </a:solidFill>
                <a:latin typeface="Malgun Gothic"/>
                <a:ea typeface="Malgun Gothic"/>
                <a:cs typeface="Malgun Gothic"/>
              </a:defRPr>
            </a:pPr>
            <a:r>
              <a:rPr sz="2175" b="1">
                <a:solidFill>
                  <a:srgbClr val="102F40"/>
                </a:solidFill>
                <a:latin typeface="Malgun Gothic"/>
                <a:ea typeface="Malgun Gothic"/>
                <a:cs typeface="Malgun Gothic"/>
              </a:rPr>
              <a:t>전국의 다양한 운영 방식</a:t>
            </a:r>
          </a:p>
        </p:txBody>
      </p:sp>
      <p:sp>
        <p:nvSpPr>
          <p:cNvPr id="14" name="text-13">
            <a:extLst xmlns:a="http://schemas.openxmlformats.org/drawingml/2006/main">
              <a:ext uri="{FF2B5EF4-FFF2-40B4-BE49-F238E27FC236}">
                <a16:creationId xmlns:a16="http://schemas.microsoft.com/office/drawing/2014/main" id="{658F68B4-1460-4F5D-9911-202B25E58888}"/>
              </a:ext>
            </a:extLst>
          </p:cNvPr>
          <p:cNvSpPr>
            <a:spLocks xmlns:a="http://schemas.openxmlformats.org/drawingml/2006/main" noGrp="1"/>
          </p:cNvSpPr>
          <p:nvPr/>
        </p:nvSpPr>
        <p:spPr>
          <a:xfrm xmlns:a="http://schemas.openxmlformats.org/drawingml/2006/main">
            <a:off x="1381125" y="5010150"/>
            <a:ext cx="10048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6B78"/>
                </a:solidFill>
                <a:latin typeface="Malgun Gothic"/>
                <a:ea typeface="Malgun Gothic"/>
                <a:cs typeface="Malgun Gothic"/>
              </a:defRPr>
            </a:pPr>
            <a:r>
              <a:rPr sz="1800" b="0">
                <a:solidFill>
                  <a:srgbClr val="536B78"/>
                </a:solidFill>
                <a:latin typeface="Malgun Gothic"/>
                <a:ea typeface="Malgun Gothic"/>
                <a:cs typeface="Malgun Gothic"/>
              </a:rPr>
              <a:t>중복을 줄이고 최대 8개 비교 카드로 정리</a:t>
            </a:r>
          </a:p>
        </p:txBody>
      </p:sp>
      <p:sp>
        <p:nvSpPr>
          <p:cNvPr id="15" name="text-14">
            <a:extLst xmlns:a="http://schemas.openxmlformats.org/drawingml/2006/main">
              <a:ext uri="{FF2B5EF4-FFF2-40B4-BE49-F238E27FC236}">
                <a16:creationId xmlns:a16="http://schemas.microsoft.com/office/drawing/2014/main" id="{2BE54973-E953-432A-A491-00985169886D}"/>
              </a:ext>
            </a:extLst>
          </p:cNvPr>
          <p:cNvSpPr>
            <a:spLocks xmlns:a="http://schemas.openxmlformats.org/drawingml/2006/main" noGrp="1"/>
          </p:cNvSpPr>
          <p:nvPr/>
        </p:nvSpPr>
        <p:spPr>
          <a:xfrm xmlns:a="http://schemas.openxmlformats.org/drawingml/2006/main">
            <a:off x="571500" y="5895975"/>
            <a:ext cx="1104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87F82"/>
                </a:solidFill>
                <a:latin typeface="Malgun Gothic"/>
                <a:ea typeface="Malgun Gothic"/>
                <a:cs typeface="Malgun Gothic"/>
              </a:defRPr>
            </a:pPr>
            <a:r>
              <a:rPr sz="1875" b="1">
                <a:solidFill>
                  <a:srgbClr val="087F82"/>
                </a:solidFill>
                <a:latin typeface="Malgun Gothic"/>
                <a:ea typeface="Malgun Gothic"/>
                <a:cs typeface="Malgun Gothic"/>
              </a:rPr>
              <a:t>검색 순위는 사업 적합성이나 기대효과 점수가 아닙니다.</a:t>
            </a:r>
          </a:p>
        </p:txBody>
      </p:sp>
    </p:spTree>
    <p:extLst>
      <p:ext uri="{BB962C8B-B14F-4D97-AF65-F5344CB8AC3E}">
        <p14:creationId xmlns:p14="http://schemas.microsoft.com/office/powerpoint/2010/main" val="577947991"/>
      </p:ext>
    </p:extLst>
  </p:cSld>
</p:sld>
</file>

<file path=ppt/slides/slide32.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4" name="text-0.8975465079988565">
            <a:extLst xmlns:a="http://schemas.openxmlformats.org/drawingml/2006/main">
              <a:ext uri="{FF2B5EF4-FFF2-40B4-BE49-F238E27FC236}">
                <a16:creationId xmlns:a16="http://schemas.microsoft.com/office/drawing/2014/main" id="{89B8137D-915A-4993-B569-A407C47AC794}"/>
              </a:ext>
            </a:extLst>
          </p:cNvPr>
          <p:cNvSpPr>
            <a:spLocks xmlns:a="http://schemas.openxmlformats.org/drawingml/2006/main" noGrp="1"/>
          </p:cNvSpPr>
          <p:nvPr/>
        </p:nvSpPr>
        <p:spPr>
          <a:xfrm xmlns:a="http://schemas.openxmlformats.org/drawingml/2006/main">
            <a:off x="571500" y="3048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87F82"/>
                </a:solidFill>
                <a:latin typeface="Malgun Gothic"/>
                <a:ea typeface="Malgun Gothic"/>
                <a:cs typeface="Malgun Gothic"/>
              </a:defRPr>
            </a:pPr>
            <a:r>
              <a:rPr sz="1200" b="1">
                <a:solidFill>
                  <a:srgbClr val="087F82"/>
                </a:solidFill>
                <a:latin typeface="Malgun Gothic"/>
                <a:ea typeface="Malgun Gothic"/>
                <a:cs typeface="Malgun Gothic"/>
              </a:rPr>
              <a:t>05 기획 수치와 사례의 근거</a:t>
            </a:r>
          </a:p>
        </p:txBody>
      </p:sp>
      <p:sp>
        <p:nvSpPr>
          <p:cNvPr id="2" name="text-1">
            <a:extLst xmlns:a="http://schemas.openxmlformats.org/drawingml/2006/main">
              <a:ext uri="{FF2B5EF4-FFF2-40B4-BE49-F238E27FC236}">
                <a16:creationId xmlns:a16="http://schemas.microsoft.com/office/drawing/2014/main" id="{9792FBC6-937A-49B3-955A-C2EE25C53995}"/>
              </a:ext>
            </a:extLst>
          </p:cNvPr>
          <p:cNvSpPr>
            <a:spLocks xmlns:a="http://schemas.openxmlformats.org/drawingml/2006/main" noGrp="1"/>
          </p:cNvSpPr>
          <p:nvPr/>
        </p:nvSpPr>
        <p:spPr>
          <a:xfrm xmlns:a="http://schemas.openxmlformats.org/drawingml/2006/main">
            <a:off x="571500" y="76200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02F40"/>
                </a:solidFill>
                <a:latin typeface="Malgun Gothic"/>
                <a:ea typeface="Malgun Gothic"/>
                <a:cs typeface="Malgun Gothic"/>
              </a:defRPr>
            </a:pPr>
            <a:r>
              <a:rPr sz="3300" b="1">
                <a:solidFill>
                  <a:srgbClr val="102F40"/>
                </a:solidFill>
                <a:latin typeface="Malgun Gothic"/>
                <a:ea typeface="Malgun Gothic"/>
                <a:cs typeface="Malgun Gothic"/>
              </a:rPr>
              <a:t>원주 예시: 야간 경험을 숙박과 연결</a:t>
            </a:r>
          </a:p>
        </p:txBody>
      </p:sp>
      <p:sp>
        <p:nvSpPr>
          <p:cNvPr id="3" name="text-2">
            <a:extLst xmlns:a="http://schemas.openxmlformats.org/drawingml/2006/main">
              <a:ext uri="{FF2B5EF4-FFF2-40B4-BE49-F238E27FC236}">
                <a16:creationId xmlns:a16="http://schemas.microsoft.com/office/drawing/2014/main" id="{ABE19C1B-270D-47DD-A8F9-6A5FFE2CBE95}"/>
              </a:ext>
            </a:extLst>
          </p:cNvPr>
          <p:cNvSpPr>
            <a:spLocks xmlns:a="http://schemas.openxmlformats.org/drawingml/2006/main" noGrp="1"/>
          </p:cNvSpPr>
          <p:nvPr/>
        </p:nvSpPr>
        <p:spPr>
          <a:xfrm xmlns:a="http://schemas.openxmlformats.org/drawingml/2006/main">
            <a:off x="571500" y="14954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B78"/>
                </a:solidFill>
                <a:latin typeface="Malgun Gothic"/>
                <a:ea typeface="Malgun Gothic"/>
                <a:cs typeface="Malgun Gothic"/>
              </a:defRPr>
            </a:pPr>
            <a:r>
              <a:rPr sz="1725" b="0">
                <a:solidFill>
                  <a:srgbClr val="536B78"/>
                </a:solidFill>
                <a:latin typeface="Malgun Gothic"/>
                <a:ea typeface="Malgun Gothic"/>
                <a:cs typeface="Malgun Gothic"/>
              </a:rPr>
              <a:t>사용자가 생성한 원주 기획안의 판단 근거를 따라갑니다.</a:t>
            </a:r>
          </a:p>
        </p:txBody>
      </p:sp>
      <p:sp>
        <p:nvSpPr>
          <p:cNvPr id="4" name="">
            <a:extLst xmlns:a="http://schemas.openxmlformats.org/drawingml/2006/main">
              <a:ext uri="{FF2B5EF4-FFF2-40B4-BE49-F238E27FC236}">
                <a16:creationId xmlns:a16="http://schemas.microsoft.com/office/drawing/2014/main" id="{3DCD1B89-3E57-470E-9866-8A150DC2E323}"/>
              </a:ext>
            </a:extLst>
          </p:cNvPr>
          <p:cNvSpPr>
            <a:spLocks xmlns:a="http://schemas.openxmlformats.org/drawingml/2006/main" noGrp="1"/>
          </p:cNvSpPr>
          <p:nvPr/>
        </p:nvSpPr>
        <p:spPr>
          <a:xfrm xmlns:a="http://schemas.openxmlformats.org/drawingml/2006/main">
            <a:off x="571500" y="6324600"/>
            <a:ext cx="11049000" cy="0"/>
          </a:xfrm>
          <a:prstGeom xmlns:a="http://schemas.openxmlformats.org/drawingml/2006/main" prst="line">
            <a:avLst/>
          </a:prstGeom>
          <a:noFill xmlns:a="http://schemas.openxmlformats.org/drawingml/2006/main"/>
          <a:ln xmlns:a="http://schemas.openxmlformats.org/drawingml/2006/main" w="9525">
            <a:solidFill>
              <a:srgbClr val="CDD8D9"/>
            </a:solidFill>
            <a:prstDash val="solid"/>
          </a:ln>
        </p:spPr>
      </p:sp>
      <p:sp>
        <p:nvSpPr>
          <p:cNvPr id="5" name="text-4">
            <a:extLst xmlns:a="http://schemas.openxmlformats.org/drawingml/2006/main">
              <a:ext uri="{FF2B5EF4-FFF2-40B4-BE49-F238E27FC236}">
                <a16:creationId xmlns:a16="http://schemas.microsoft.com/office/drawing/2014/main" id="{EE94E141-D251-4B13-A5DA-8B6F477145D2}"/>
              </a:ext>
            </a:extLst>
          </p:cNvPr>
          <p:cNvSpPr>
            <a:spLocks xmlns:a="http://schemas.openxmlformats.org/drawingml/2006/main" noGrp="1"/>
          </p:cNvSpPr>
          <p:nvPr/>
        </p:nvSpPr>
        <p:spPr>
          <a:xfrm xmlns:a="http://schemas.openxmlformats.org/drawingml/2006/main">
            <a:off x="571500" y="64960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36B78"/>
                </a:solidFill>
                <a:latin typeface="Arial"/>
                <a:ea typeface="Arial"/>
                <a:cs typeface="Arial"/>
              </a:defRPr>
            </a:pPr>
            <a:r>
              <a:rPr sz="1050" b="1">
                <a:solidFill>
                  <a:srgbClr val="536B78"/>
                </a:solidFill>
                <a:latin typeface="Arial"/>
                <a:ea typeface="Arial"/>
                <a:cs typeface="Arial"/>
              </a:rPr>
              <a:t>OLIGO-K</a:t>
            </a:r>
          </a:p>
        </p:txBody>
      </p:sp>
      <p:sp>
        <p:nvSpPr>
          <p:cNvPr id="6" name="text-5">
            <a:extLst xmlns:a="http://schemas.openxmlformats.org/drawingml/2006/main">
              <a:ext uri="{FF2B5EF4-FFF2-40B4-BE49-F238E27FC236}">
                <a16:creationId xmlns:a16="http://schemas.microsoft.com/office/drawing/2014/main" id="{4176B781-7102-4C7D-AD4A-FA06CE0C7FC2}"/>
              </a:ext>
            </a:extLst>
          </p:cNvPr>
          <p:cNvSpPr>
            <a:spLocks xmlns:a="http://schemas.openxmlformats.org/drawingml/2006/main" noGrp="1"/>
          </p:cNvSpPr>
          <p:nvPr/>
        </p:nvSpPr>
        <p:spPr>
          <a:xfrm xmlns:a="http://schemas.openxmlformats.org/drawingml/2006/main">
            <a:off x="11049000" y="64674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1">
                <a:solidFill>
                  <a:srgbClr val="087F82"/>
                </a:solidFill>
                <a:latin typeface="Arial"/>
                <a:ea typeface="Arial"/>
                <a:cs typeface="Arial"/>
              </a:defRPr>
            </a:pPr>
            <a:r>
              <a:rPr sz="1350" b="1">
                <a:solidFill>
                  <a:srgbClr val="087F82"/>
                </a:solidFill>
                <a:latin typeface="Arial"/>
                <a:ea typeface="Arial"/>
                <a:cs typeface="Arial"/>
              </a:rPr>
              <a:t>32</a:t>
            </a:r>
          </a:p>
        </p:txBody>
      </p:sp>
      <p:sp>
        <p:nvSpPr>
          <p:cNvPr id="7" name="text-6">
            <a:extLst xmlns:a="http://schemas.openxmlformats.org/drawingml/2006/main">
              <a:ext uri="{FF2B5EF4-FFF2-40B4-BE49-F238E27FC236}">
                <a16:creationId xmlns:a16="http://schemas.microsoft.com/office/drawing/2014/main" id="{BCE7E54F-ECE4-4A37-81A4-B6A81E028081}"/>
              </a:ext>
            </a:extLst>
          </p:cNvPr>
          <p:cNvSpPr>
            <a:spLocks xmlns:a="http://schemas.openxmlformats.org/drawingml/2006/main" noGrp="1"/>
          </p:cNvSpPr>
          <p:nvPr/>
        </p:nvSpPr>
        <p:spPr>
          <a:xfrm xmlns:a="http://schemas.openxmlformats.org/drawingml/2006/main">
            <a:off x="571500" y="2381250"/>
            <a:ext cx="3286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87F82"/>
                </a:solidFill>
                <a:latin typeface="Arial"/>
                <a:ea typeface="Arial"/>
                <a:cs typeface="Arial"/>
              </a:defRPr>
            </a:pPr>
            <a:r>
              <a:rPr sz="5700" b="1">
                <a:solidFill>
                  <a:srgbClr val="087F82"/>
                </a:solidFill>
                <a:latin typeface="Arial"/>
                <a:ea typeface="Arial"/>
                <a:cs typeface="Arial"/>
              </a:rPr>
              <a:t>12.5%</a:t>
            </a:r>
          </a:p>
        </p:txBody>
      </p:sp>
      <p:sp>
        <p:nvSpPr>
          <p:cNvPr id="8" name="text-7">
            <a:extLst xmlns:a="http://schemas.openxmlformats.org/drawingml/2006/main">
              <a:ext uri="{FF2B5EF4-FFF2-40B4-BE49-F238E27FC236}">
                <a16:creationId xmlns:a16="http://schemas.microsoft.com/office/drawing/2014/main" id="{7FB0B5C5-7D33-40B8-BB92-2AAFE7ECDB54}"/>
              </a:ext>
            </a:extLst>
          </p:cNvPr>
          <p:cNvSpPr>
            <a:spLocks xmlns:a="http://schemas.openxmlformats.org/drawingml/2006/main" noGrp="1"/>
          </p:cNvSpPr>
          <p:nvPr/>
        </p:nvSpPr>
        <p:spPr>
          <a:xfrm xmlns:a="http://schemas.openxmlformats.org/drawingml/2006/main">
            <a:off x="571500" y="3514725"/>
            <a:ext cx="328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02F40"/>
                </a:solidFill>
                <a:latin typeface="Malgun Gothic"/>
                <a:ea typeface="Malgun Gothic"/>
                <a:cs typeface="Malgun Gothic"/>
              </a:defRPr>
            </a:pPr>
            <a:r>
              <a:rPr sz="1875" b="0">
                <a:solidFill>
                  <a:srgbClr val="102F40"/>
                </a:solidFill>
                <a:latin typeface="Malgun Gothic"/>
                <a:ea typeface="Malgun Gothic"/>
                <a:cs typeface="Malgun Gothic"/>
              </a:rPr>
              <a:t>기획안에 인용된</a:t>
            </a:r>
          </a:p>
          <a:p xmlns:a="http://schemas.openxmlformats.org/drawingml/2006/main">
            <a:pPr algn="l">
              <a:defRPr sz="1875" b="0">
                <a:solidFill>
                  <a:srgbClr val="102F40"/>
                </a:solidFill>
                <a:latin typeface="Malgun Gothic"/>
                <a:ea typeface="Malgun Gothic"/>
                <a:cs typeface="Malgun Gothic"/>
              </a:defRPr>
            </a:pPr>
            <a:r>
              <a:rPr sz="1875" b="0">
                <a:solidFill>
                  <a:srgbClr val="102F40"/>
                </a:solidFill>
                <a:latin typeface="Malgun Gothic"/>
                <a:ea typeface="Malgun Gothic"/>
                <a:cs typeface="Malgun Gothic"/>
              </a:rPr>
              <a:t>원주 숙박방문 비율</a:t>
            </a:r>
          </a:p>
        </p:txBody>
      </p:sp>
      <p:sp>
        <p:nvSpPr>
          <p:cNvPr id="9" name="text-8">
            <a:extLst xmlns:a="http://schemas.openxmlformats.org/drawingml/2006/main">
              <a:ext uri="{FF2B5EF4-FFF2-40B4-BE49-F238E27FC236}">
                <a16:creationId xmlns:a16="http://schemas.microsoft.com/office/drawing/2014/main" id="{F9A5BEDB-E6B5-419C-8ABD-C95692511EFD}"/>
              </a:ext>
            </a:extLst>
          </p:cNvPr>
          <p:cNvSpPr>
            <a:spLocks xmlns:a="http://schemas.openxmlformats.org/drawingml/2006/main" noGrp="1"/>
          </p:cNvSpPr>
          <p:nvPr/>
        </p:nvSpPr>
        <p:spPr>
          <a:xfrm xmlns:a="http://schemas.openxmlformats.org/drawingml/2006/main">
            <a:off x="4686300" y="2381250"/>
            <a:ext cx="3571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87F82"/>
                </a:solidFill>
                <a:latin typeface="Arial"/>
                <a:ea typeface="Arial"/>
                <a:cs typeface="Arial"/>
              </a:defRPr>
            </a:pPr>
            <a:r>
              <a:rPr sz="5700" b="1">
                <a:solidFill>
                  <a:srgbClr val="087F82"/>
                </a:solidFill>
                <a:latin typeface="Arial"/>
                <a:ea typeface="Arial"/>
                <a:cs typeface="Arial"/>
              </a:rPr>
              <a:t>+8.52%</a:t>
            </a:r>
          </a:p>
        </p:txBody>
      </p:sp>
      <p:sp>
        <p:nvSpPr>
          <p:cNvPr id="10" name="text-9">
            <a:extLst xmlns:a="http://schemas.openxmlformats.org/drawingml/2006/main">
              <a:ext uri="{FF2B5EF4-FFF2-40B4-BE49-F238E27FC236}">
                <a16:creationId xmlns:a16="http://schemas.microsoft.com/office/drawing/2014/main" id="{B6FE3845-AF26-455E-A4A6-7186C14CE355}"/>
              </a:ext>
            </a:extLst>
          </p:cNvPr>
          <p:cNvSpPr>
            <a:spLocks xmlns:a="http://schemas.openxmlformats.org/drawingml/2006/main" noGrp="1"/>
          </p:cNvSpPr>
          <p:nvPr/>
        </p:nvSpPr>
        <p:spPr>
          <a:xfrm xmlns:a="http://schemas.openxmlformats.org/drawingml/2006/main">
            <a:off x="4686300" y="3514725"/>
            <a:ext cx="3571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02F40"/>
                </a:solidFill>
                <a:latin typeface="Malgun Gothic"/>
                <a:ea typeface="Malgun Gothic"/>
                <a:cs typeface="Malgun Gothic"/>
              </a:defRPr>
            </a:pPr>
            <a:r>
              <a:rPr sz="1875" b="0">
                <a:solidFill>
                  <a:srgbClr val="102F40"/>
                </a:solidFill>
                <a:latin typeface="Malgun Gothic"/>
                <a:ea typeface="Malgun Gothic"/>
                <a:cs typeface="Malgun Gothic"/>
              </a:rPr>
              <a:t>기획안에 기록된</a:t>
            </a:r>
          </a:p>
          <a:p xmlns:a="http://schemas.openxmlformats.org/drawingml/2006/main">
            <a:pPr algn="l">
              <a:defRPr sz="1875" b="0">
                <a:solidFill>
                  <a:srgbClr val="102F40"/>
                </a:solidFill>
                <a:latin typeface="Malgun Gothic"/>
                <a:ea typeface="Malgun Gothic"/>
                <a:cs typeface="Malgun Gothic"/>
              </a:defRPr>
            </a:pPr>
            <a:r>
              <a:rPr sz="1875" b="0">
                <a:solidFill>
                  <a:srgbClr val="102F40"/>
                </a:solidFill>
                <a:latin typeface="Malgun Gothic"/>
                <a:ea typeface="Malgun Gothic"/>
                <a:cs typeface="Malgun Gothic"/>
              </a:rPr>
              <a:t>숙박 검색량 전망 신호</a:t>
            </a:r>
          </a:p>
        </p:txBody>
      </p:sp>
      <p:sp>
        <p:nvSpPr>
          <p:cNvPr id="11" name="text-10">
            <a:extLst xmlns:a="http://schemas.openxmlformats.org/drawingml/2006/main">
              <a:ext uri="{FF2B5EF4-FFF2-40B4-BE49-F238E27FC236}">
                <a16:creationId xmlns:a16="http://schemas.microsoft.com/office/drawing/2014/main" id="{2CF057B0-579B-4D21-BE39-20F422E150F9}"/>
              </a:ext>
            </a:extLst>
          </p:cNvPr>
          <p:cNvSpPr>
            <a:spLocks xmlns:a="http://schemas.openxmlformats.org/drawingml/2006/main" noGrp="1"/>
          </p:cNvSpPr>
          <p:nvPr/>
        </p:nvSpPr>
        <p:spPr>
          <a:xfrm xmlns:a="http://schemas.openxmlformats.org/drawingml/2006/main">
            <a:off x="8963025" y="2343150"/>
            <a:ext cx="257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02F40"/>
                </a:solidFill>
                <a:latin typeface="Malgun Gothic"/>
                <a:ea typeface="Malgun Gothic"/>
                <a:cs typeface="Malgun Gothic"/>
              </a:defRPr>
            </a:pPr>
            <a:r>
              <a:rPr sz="2325" b="1">
                <a:solidFill>
                  <a:srgbClr val="102F40"/>
                </a:solidFill>
                <a:latin typeface="Malgun Gothic"/>
                <a:ea typeface="Malgun Gothic"/>
                <a:cs typeface="Malgun Gothic"/>
              </a:rPr>
              <a:t>기획 방향</a:t>
            </a:r>
          </a:p>
        </p:txBody>
      </p:sp>
      <p:sp>
        <p:nvSpPr>
          <p:cNvPr id="12" name="text-11">
            <a:extLst xmlns:a="http://schemas.openxmlformats.org/drawingml/2006/main">
              <a:ext uri="{FF2B5EF4-FFF2-40B4-BE49-F238E27FC236}">
                <a16:creationId xmlns:a16="http://schemas.microsoft.com/office/drawing/2014/main" id="{E0D4EA8D-B9E1-425E-890F-C72F10DA5295}"/>
              </a:ext>
            </a:extLst>
          </p:cNvPr>
          <p:cNvSpPr>
            <a:spLocks xmlns:a="http://schemas.openxmlformats.org/drawingml/2006/main" noGrp="1"/>
          </p:cNvSpPr>
          <p:nvPr/>
        </p:nvSpPr>
        <p:spPr>
          <a:xfrm xmlns:a="http://schemas.openxmlformats.org/drawingml/2006/main">
            <a:off x="8963025" y="3105150"/>
            <a:ext cx="264795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2"/>
                </a:solidFill>
                <a:latin typeface="Malgun Gothic"/>
                <a:ea typeface="Malgun Gothic"/>
                <a:cs typeface="Malgun Gothic"/>
              </a:defRPr>
            </a:pPr>
            <a:r>
              <a:rPr sz="2325" b="1">
                <a:solidFill>
                  <a:srgbClr val="087F82"/>
                </a:solidFill>
                <a:latin typeface="Malgun Gothic"/>
                <a:ea typeface="Malgun Gothic"/>
                <a:cs typeface="Malgun Gothic"/>
              </a:rPr>
              <a:t>야간 축제 이용과</a:t>
            </a:r>
          </a:p>
          <a:p xmlns:a="http://schemas.openxmlformats.org/drawingml/2006/main">
            <a:pPr algn="l">
              <a:defRPr sz="2325" b="1">
                <a:solidFill>
                  <a:srgbClr val="087F82"/>
                </a:solidFill>
                <a:latin typeface="Malgun Gothic"/>
                <a:ea typeface="Malgun Gothic"/>
                <a:cs typeface="Malgun Gothic"/>
              </a:defRPr>
            </a:pPr>
            <a:r>
              <a:rPr sz="2325" b="1">
                <a:solidFill>
                  <a:srgbClr val="087F82"/>
                </a:solidFill>
                <a:latin typeface="Malgun Gothic"/>
                <a:ea typeface="Malgun Gothic"/>
                <a:cs typeface="Malgun Gothic"/>
              </a:rPr>
              <a:t>숙박 예약·이용을</a:t>
            </a:r>
          </a:p>
          <a:p xmlns:a="http://schemas.openxmlformats.org/drawingml/2006/main">
            <a:pPr algn="l">
              <a:defRPr sz="2325" b="1">
                <a:solidFill>
                  <a:srgbClr val="087F82"/>
                </a:solidFill>
                <a:latin typeface="Malgun Gothic"/>
                <a:ea typeface="Malgun Gothic"/>
                <a:cs typeface="Malgun Gothic"/>
              </a:defRPr>
            </a:pPr>
            <a:r>
              <a:rPr sz="2325" b="1">
                <a:solidFill>
                  <a:srgbClr val="087F82"/>
                </a:solidFill>
                <a:latin typeface="Malgun Gothic"/>
                <a:ea typeface="Malgun Gothic"/>
                <a:cs typeface="Malgun Gothic"/>
              </a:rPr>
              <a:t>혜택으로 연결</a:t>
            </a:r>
          </a:p>
        </p:txBody>
      </p:sp>
      <p:sp>
        <p:nvSpPr>
          <p:cNvPr id="13" name="text-12">
            <a:extLst xmlns:a="http://schemas.openxmlformats.org/drawingml/2006/main">
              <a:ext uri="{FF2B5EF4-FFF2-40B4-BE49-F238E27FC236}">
                <a16:creationId xmlns:a16="http://schemas.microsoft.com/office/drawing/2014/main" id="{E3152E14-1BD5-41E9-9E59-96B712AAB386}"/>
              </a:ext>
            </a:extLst>
          </p:cNvPr>
          <p:cNvSpPr>
            <a:spLocks xmlns:a="http://schemas.openxmlformats.org/drawingml/2006/main" noGrp="1"/>
          </p:cNvSpPr>
          <p:nvPr/>
        </p:nvSpPr>
        <p:spPr>
          <a:xfrm xmlns:a="http://schemas.openxmlformats.org/drawingml/2006/main">
            <a:off x="571500" y="57435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6B78"/>
                </a:solidFill>
                <a:latin typeface="Malgun Gothic"/>
                <a:ea typeface="Malgun Gothic"/>
                <a:cs typeface="Malgun Gothic"/>
              </a:defRPr>
            </a:pPr>
            <a:r>
              <a:rPr sz="1800" b="0">
                <a:solidFill>
                  <a:srgbClr val="536B78"/>
                </a:solidFill>
                <a:latin typeface="Malgun Gothic"/>
                <a:ea typeface="Malgun Gothic"/>
                <a:cs typeface="Malgun Gothic"/>
              </a:rPr>
              <a:t>관측 비율과 전망 신호는 사업 필요성을 검토하는 자료입니다. 효과를 보장하지 않습니다.</a:t>
            </a:r>
          </a:p>
        </p:txBody>
      </p:sp>
    </p:spTree>
    <p:extLst>
      <p:ext uri="{BB962C8B-B14F-4D97-AF65-F5344CB8AC3E}">
        <p14:creationId xmlns:p14="http://schemas.microsoft.com/office/powerpoint/2010/main" val="657085039"/>
      </p:ext>
    </p:extLst>
  </p:cSld>
</p:sld>
</file>

<file path=ppt/slides/slide33.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8" name="text-0.8635047879242563">
            <a:extLst xmlns:a="http://schemas.openxmlformats.org/drawingml/2006/main">
              <a:ext uri="{FF2B5EF4-FFF2-40B4-BE49-F238E27FC236}">
                <a16:creationId xmlns:a16="http://schemas.microsoft.com/office/drawing/2014/main" id="{F3B7E8C8-C527-4128-94D4-AF796F93BECD}"/>
              </a:ext>
            </a:extLst>
          </p:cNvPr>
          <p:cNvSpPr>
            <a:spLocks xmlns:a="http://schemas.openxmlformats.org/drawingml/2006/main" noGrp="1"/>
          </p:cNvSpPr>
          <p:nvPr/>
        </p:nvSpPr>
        <p:spPr>
          <a:xfrm xmlns:a="http://schemas.openxmlformats.org/drawingml/2006/main">
            <a:off x="571500" y="3048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87F82"/>
                </a:solidFill>
                <a:latin typeface="Malgun Gothic"/>
                <a:ea typeface="Malgun Gothic"/>
                <a:cs typeface="Malgun Gothic"/>
              </a:defRPr>
            </a:pPr>
            <a:r>
              <a:rPr sz="1200" b="1">
                <a:solidFill>
                  <a:srgbClr val="087F82"/>
                </a:solidFill>
                <a:latin typeface="Malgun Gothic"/>
                <a:ea typeface="Malgun Gothic"/>
                <a:cs typeface="Malgun Gothic"/>
              </a:rPr>
              <a:t>05 기획 수치와 사례의 근거</a:t>
            </a:r>
          </a:p>
        </p:txBody>
      </p:sp>
      <p:sp>
        <p:nvSpPr>
          <p:cNvPr id="2" name="text-1">
            <a:extLst xmlns:a="http://schemas.openxmlformats.org/drawingml/2006/main">
              <a:ext uri="{FF2B5EF4-FFF2-40B4-BE49-F238E27FC236}">
                <a16:creationId xmlns:a16="http://schemas.microsoft.com/office/drawing/2014/main" id="{E0CB2668-1BEA-40CE-893A-E0D895DE0D58}"/>
              </a:ext>
            </a:extLst>
          </p:cNvPr>
          <p:cNvSpPr>
            <a:spLocks xmlns:a="http://schemas.openxmlformats.org/drawingml/2006/main" noGrp="1"/>
          </p:cNvSpPr>
          <p:nvPr/>
        </p:nvSpPr>
        <p:spPr>
          <a:xfrm xmlns:a="http://schemas.openxmlformats.org/drawingml/2006/main">
            <a:off x="571500" y="76200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02F40"/>
                </a:solidFill>
                <a:latin typeface="Malgun Gothic"/>
                <a:ea typeface="Malgun Gothic"/>
                <a:cs typeface="Malgun Gothic"/>
              </a:defRPr>
            </a:pPr>
            <a:r>
              <a:rPr sz="3300" b="1">
                <a:solidFill>
                  <a:srgbClr val="102F40"/>
                </a:solidFill>
                <a:latin typeface="Malgun Gothic"/>
                <a:ea typeface="Malgun Gothic"/>
                <a:cs typeface="Malgun Gothic"/>
              </a:rPr>
              <a:t>원주에 인천의 운영 방식을 참고한 이유</a:t>
            </a:r>
          </a:p>
        </p:txBody>
      </p:sp>
      <p:sp>
        <p:nvSpPr>
          <p:cNvPr id="3" name="">
            <a:extLst xmlns:a="http://schemas.openxmlformats.org/drawingml/2006/main">
              <a:ext uri="{FF2B5EF4-FFF2-40B4-BE49-F238E27FC236}">
                <a16:creationId xmlns:a16="http://schemas.microsoft.com/office/drawing/2014/main" id="{04597118-720D-48EC-ADFD-040B71FBE3B2}"/>
              </a:ext>
            </a:extLst>
          </p:cNvPr>
          <p:cNvSpPr>
            <a:spLocks xmlns:a="http://schemas.openxmlformats.org/drawingml/2006/main" noGrp="1"/>
          </p:cNvSpPr>
          <p:nvPr/>
        </p:nvSpPr>
        <p:spPr>
          <a:xfrm xmlns:a="http://schemas.openxmlformats.org/drawingml/2006/main">
            <a:off x="571500" y="6324600"/>
            <a:ext cx="11049000" cy="0"/>
          </a:xfrm>
          <a:prstGeom xmlns:a="http://schemas.openxmlformats.org/drawingml/2006/main" prst="line">
            <a:avLst/>
          </a:prstGeom>
          <a:noFill xmlns:a="http://schemas.openxmlformats.org/drawingml/2006/main"/>
          <a:ln xmlns:a="http://schemas.openxmlformats.org/drawingml/2006/main" w="9525">
            <a:solidFill>
              <a:srgbClr val="CDD8D9"/>
            </a:solidFill>
            <a:prstDash val="solid"/>
          </a:ln>
        </p:spPr>
      </p:sp>
      <p:sp>
        <p:nvSpPr>
          <p:cNvPr id="4" name="text-3">
            <a:extLst xmlns:a="http://schemas.openxmlformats.org/drawingml/2006/main">
              <a:ext uri="{FF2B5EF4-FFF2-40B4-BE49-F238E27FC236}">
                <a16:creationId xmlns:a16="http://schemas.microsoft.com/office/drawing/2014/main" id="{D4ECF495-C9CC-401D-B7A7-0B4F1771D2EB}"/>
              </a:ext>
            </a:extLst>
          </p:cNvPr>
          <p:cNvSpPr>
            <a:spLocks xmlns:a="http://schemas.openxmlformats.org/drawingml/2006/main" noGrp="1"/>
          </p:cNvSpPr>
          <p:nvPr/>
        </p:nvSpPr>
        <p:spPr>
          <a:xfrm xmlns:a="http://schemas.openxmlformats.org/drawingml/2006/main">
            <a:off x="571500" y="64960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36B78"/>
                </a:solidFill>
                <a:latin typeface="Arial"/>
                <a:ea typeface="Arial"/>
                <a:cs typeface="Arial"/>
              </a:defRPr>
            </a:pPr>
            <a:r>
              <a:rPr sz="1050" b="1">
                <a:solidFill>
                  <a:srgbClr val="536B78"/>
                </a:solidFill>
                <a:latin typeface="Arial"/>
                <a:ea typeface="Arial"/>
                <a:cs typeface="Arial"/>
              </a:rPr>
              <a:t>OLIGO-K</a:t>
            </a:r>
          </a:p>
        </p:txBody>
      </p:sp>
      <p:sp>
        <p:nvSpPr>
          <p:cNvPr id="5" name="text-4">
            <a:extLst xmlns:a="http://schemas.openxmlformats.org/drawingml/2006/main">
              <a:ext uri="{FF2B5EF4-FFF2-40B4-BE49-F238E27FC236}">
                <a16:creationId xmlns:a16="http://schemas.microsoft.com/office/drawing/2014/main" id="{CB664437-4E16-48A3-BD2D-56E3158074E7}"/>
              </a:ext>
            </a:extLst>
          </p:cNvPr>
          <p:cNvSpPr>
            <a:spLocks xmlns:a="http://schemas.openxmlformats.org/drawingml/2006/main" noGrp="1"/>
          </p:cNvSpPr>
          <p:nvPr/>
        </p:nvSpPr>
        <p:spPr>
          <a:xfrm xmlns:a="http://schemas.openxmlformats.org/drawingml/2006/main">
            <a:off x="11049000" y="64674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1">
                <a:solidFill>
                  <a:srgbClr val="087F82"/>
                </a:solidFill>
                <a:latin typeface="Arial"/>
                <a:ea typeface="Arial"/>
                <a:cs typeface="Arial"/>
              </a:defRPr>
            </a:pPr>
            <a:r>
              <a:rPr sz="1350" b="1">
                <a:solidFill>
                  <a:srgbClr val="087F82"/>
                </a:solidFill>
                <a:latin typeface="Arial"/>
                <a:ea typeface="Arial"/>
                <a:cs typeface="Arial"/>
              </a:rPr>
              <a:t>33</a:t>
            </a:r>
          </a:p>
        </p:txBody>
      </p:sp>
      <p:graphicFrame>
        <p:nvGraphicFramePr>
          <p:cNvPr id="13" name=""/>
          <p:cNvGraphicFramePr/>
          <p:nvPr/>
        </p:nvGraphicFramePr>
        <p:xfrm>
          <a:off xmlns:a="http://schemas.openxmlformats.org/drawingml/2006/main" x="571500" y="2085975"/>
          <a:ext xmlns:a="http://schemas.openxmlformats.org/drawingml/2006/main" cx="11049000" cy="3305175"/>
        </p:xfrm>
        <a:graphic xmlns:a="http://schemas.openxmlformats.org/drawingml/2006/main">
          <a:graphicData uri="http://schemas.openxmlformats.org/drawingml/2006/table">
            <a:tbl>
              <a:tblPr firstRow="1" bandRow="0"/>
              <a:tblGrid>
                <a:gridCol w="2571750"/>
                <a:gridCol w="3905250"/>
                <a:gridCol w="4572000"/>
              </a:tblGrid>
              <a:tr h="826294">
                <a:tc>
                  <a:txBody>
                    <a:bodyPr/>
                    <a:lstStyle/>
                    <a:p>
                      <a:r>
                        <a:rPr sz="1800" b="1">
                          <a:solidFill>
                            <a:srgbClr val="FFFFFF"/>
                          </a:solidFill>
                          <a:latin typeface="Malgun Gothic"/>
                          <a:ea typeface="Malgun Gothic"/>
                          <a:cs typeface="Malgun Gothic"/>
                        </a:rPr>
                        <a:t>검토 사례</a:t>
                      </a:r>
                    </a:p>
                  </a:txBody>
                  <a:tcPr marL="142875" marR="123825" marT="123825" marB="95250" anchor="ctr">
                    <a:solidFill>
                      <a:srgbClr val="102F40"/>
                    </a:solidFill>
                  </a:tcPr>
                </a:tc>
                <a:tc>
                  <a:txBody>
                    <a:bodyPr/>
                    <a:lstStyle/>
                    <a:p>
                      <a:r>
                        <a:rPr sz="1800" b="1">
                          <a:solidFill>
                            <a:srgbClr val="FFFFFF"/>
                          </a:solidFill>
                          <a:latin typeface="Malgun Gothic"/>
                          <a:ea typeface="Malgun Gothic"/>
                          <a:cs typeface="Malgun Gothic"/>
                        </a:rPr>
                        <a:t>참고할 운영 방식</a:t>
                      </a:r>
                    </a:p>
                  </a:txBody>
                  <a:tcPr marL="142875" marR="123825" marT="123825" marB="95250" anchor="ctr">
                    <a:solidFill>
                      <a:srgbClr val="102F40"/>
                    </a:solidFill>
                  </a:tcPr>
                </a:tc>
                <a:tc>
                  <a:txBody>
                    <a:bodyPr/>
                    <a:lstStyle/>
                    <a:p>
                      <a:r>
                        <a:rPr sz="1800" b="1">
                          <a:solidFill>
                            <a:srgbClr val="FFFFFF"/>
                          </a:solidFill>
                          <a:latin typeface="Malgun Gothic"/>
                          <a:ea typeface="Malgun Gothic"/>
                          <a:cs typeface="Malgun Gothic"/>
                        </a:rPr>
                        <a:t>원주에서의 해석</a:t>
                      </a:r>
                    </a:p>
                  </a:txBody>
                  <a:tcPr marL="142875" marR="123825" marT="123825" marB="95250" anchor="ctr">
                    <a:solidFill>
                      <a:srgbClr val="102F40"/>
                    </a:solidFill>
                  </a:tcPr>
                </a:tc>
              </a:tr>
              <a:tr h="826294">
                <a:tc>
                  <a:txBody>
                    <a:bodyPr/>
                    <a:lstStyle/>
                    <a:p>
                      <a:r>
                        <a:rPr sz="1800" b="0">
                          <a:solidFill>
                            <a:srgbClr val="102F40"/>
                          </a:solidFill>
                          <a:latin typeface="Malgun Gothic"/>
                          <a:ea typeface="Malgun Gothic"/>
                          <a:cs typeface="Malgun Gothic"/>
                        </a:rPr>
                        <a:t>인천 야간관광</a:t>
                      </a:r>
                    </a:p>
                  </a:txBody>
                  <a:tcPr marL="142875" marR="123825" marT="123825" marB="95250" anchor="ctr">
                    <a:solidFill>
                      <a:srgbClr val="FFFFFF"/>
                    </a:solidFill>
                  </a:tcPr>
                </a:tc>
                <a:tc>
                  <a:txBody>
                    <a:bodyPr/>
                    <a:lstStyle/>
                    <a:p>
                      <a:r>
                        <a:rPr sz="1800" b="0">
                          <a:solidFill>
                            <a:srgbClr val="102F40"/>
                          </a:solidFill>
                          <a:latin typeface="Malgun Gothic"/>
                          <a:ea typeface="Malgun Gothic"/>
                          <a:cs typeface="Malgun Gothic"/>
                        </a:rPr>
                        <a:t>야간 콘텐츠와 쿠폰·상권 연결</a:t>
                      </a:r>
                    </a:p>
                  </a:txBody>
                  <a:tcPr marL="142875" marR="123825" marT="123825" marB="95250" anchor="ctr">
                    <a:solidFill>
                      <a:srgbClr val="FFFFFF"/>
                    </a:solidFill>
                  </a:tcPr>
                </a:tc>
                <a:tc>
                  <a:txBody>
                    <a:bodyPr/>
                    <a:lstStyle/>
                    <a:p>
                      <a:r>
                        <a:rPr sz="1800" b="0">
                          <a:solidFill>
                            <a:srgbClr val="102F40"/>
                          </a:solidFill>
                          <a:latin typeface="Malgun Gothic"/>
                          <a:ea typeface="Malgun Gothic"/>
                          <a:cs typeface="Malgun Gothic"/>
                        </a:rPr>
                        <a:t>야간 이용을 숙박 혜택과 연결</a:t>
                      </a:r>
                    </a:p>
                    <a:p>
                      <a:r>
                        <a:rPr sz="1800" b="0">
                          <a:solidFill>
                            <a:srgbClr val="102F40"/>
                          </a:solidFill>
                          <a:latin typeface="Malgun Gothic"/>
                          <a:ea typeface="Malgun Gothic"/>
                          <a:cs typeface="Malgun Gothic"/>
                        </a:rPr>
                        <a:t>기존 기획안의 선정 사례</a:t>
                      </a:r>
                    </a:p>
                  </a:txBody>
                  <a:tcPr marL="142875" marR="123825" marT="123825" marB="95250" anchor="ctr">
                    <a:solidFill>
                      <a:srgbClr val="FFFFFF"/>
                    </a:solidFill>
                  </a:tcPr>
                </a:tc>
              </a:tr>
              <a:tr h="826294">
                <a:tc>
                  <a:txBody>
                    <a:bodyPr/>
                    <a:lstStyle/>
                    <a:p>
                      <a:r>
                        <a:rPr sz="1800" b="0">
                          <a:solidFill>
                            <a:srgbClr val="102F40"/>
                          </a:solidFill>
                          <a:latin typeface="Malgun Gothic"/>
                          <a:ea typeface="Malgun Gothic"/>
                          <a:cs typeface="Malgun Gothic"/>
                        </a:rPr>
                        <a:t>강진 반값여행</a:t>
                      </a:r>
                    </a:p>
                  </a:txBody>
                  <a:tcPr marL="142875" marR="123825" marT="123825" marB="95250" anchor="ctr">
                    <a:solidFill>
                      <a:srgbClr val="F6F7F4"/>
                    </a:solidFill>
                  </a:tcPr>
                </a:tc>
                <a:tc>
                  <a:txBody>
                    <a:bodyPr/>
                    <a:lstStyle/>
                    <a:p>
                      <a:r>
                        <a:rPr sz="1800" b="0">
                          <a:solidFill>
                            <a:srgbClr val="102F40"/>
                          </a:solidFill>
                          <a:latin typeface="Malgun Gothic"/>
                          <a:ea typeface="Malgun Gothic"/>
                          <a:cs typeface="Malgun Gothic"/>
                        </a:rPr>
                        <a:t>지출 증빙 후 지역상품권 환급</a:t>
                      </a:r>
                    </a:p>
                  </a:txBody>
                  <a:tcPr marL="142875" marR="123825" marT="123825" marB="95250" anchor="ctr">
                    <a:solidFill>
                      <a:srgbClr val="F6F7F4"/>
                    </a:solidFill>
                  </a:tcPr>
                </a:tc>
                <a:tc>
                  <a:txBody>
                    <a:bodyPr/>
                    <a:lstStyle/>
                    <a:p>
                      <a:r>
                        <a:rPr sz="1800" b="0">
                          <a:solidFill>
                            <a:srgbClr val="102F40"/>
                          </a:solidFill>
                          <a:latin typeface="Malgun Gothic"/>
                          <a:ea typeface="Malgun Gothic"/>
                          <a:cs typeface="Malgun Gothic"/>
                        </a:rPr>
                        <a:t>소비 유도 대안</a:t>
                      </a:r>
                    </a:p>
                    <a:p>
                      <a:r>
                        <a:rPr sz="1800" b="0">
                          <a:solidFill>
                            <a:srgbClr val="102F40"/>
                          </a:solidFill>
                          <a:latin typeface="Malgun Gothic"/>
                          <a:ea typeface="Malgun Gothic"/>
                          <a:cs typeface="Malgun Gothic"/>
                        </a:rPr>
                        <a:t>정산·사용처 조건 검토</a:t>
                      </a:r>
                    </a:p>
                  </a:txBody>
                  <a:tcPr marL="142875" marR="123825" marT="123825" marB="95250" anchor="ctr">
                    <a:solidFill>
                      <a:srgbClr val="F6F7F4"/>
                    </a:solidFill>
                  </a:tcPr>
                </a:tc>
              </a:tr>
              <a:tr h="826294">
                <a:tc>
                  <a:txBody>
                    <a:bodyPr/>
                    <a:lstStyle/>
                    <a:p>
                      <a:r>
                        <a:rPr sz="1800" b="0">
                          <a:solidFill>
                            <a:srgbClr val="102F40"/>
                          </a:solidFill>
                          <a:latin typeface="Malgun Gothic"/>
                          <a:ea typeface="Malgun Gothic"/>
                          <a:cs typeface="Malgun Gothic"/>
                        </a:rPr>
                        <a:t>춘천마임축제</a:t>
                      </a:r>
                    </a:p>
                  </a:txBody>
                  <a:tcPr marL="142875" marR="123825" marT="123825" marB="95250" anchor="ctr">
                    <a:solidFill>
                      <a:srgbClr val="FFFFFF"/>
                    </a:solidFill>
                  </a:tcPr>
                </a:tc>
                <a:tc>
                  <a:txBody>
                    <a:bodyPr/>
                    <a:lstStyle/>
                    <a:p>
                      <a:r>
                        <a:rPr sz="1800" b="0">
                          <a:solidFill>
                            <a:srgbClr val="102F40"/>
                          </a:solidFill>
                          <a:latin typeface="Malgun Gothic"/>
                          <a:ea typeface="Malgun Gothic"/>
                          <a:cs typeface="Malgun Gothic"/>
                        </a:rPr>
                        <a:t>일정 기간 집중 운영</a:t>
                      </a:r>
                    </a:p>
                  </a:txBody>
                  <a:tcPr marL="142875" marR="123825" marT="123825" marB="95250" anchor="ctr">
                    <a:solidFill>
                      <a:srgbClr val="FFFFFF"/>
                    </a:solidFill>
                  </a:tcPr>
                </a:tc>
                <a:tc>
                  <a:txBody>
                    <a:bodyPr/>
                    <a:lstStyle/>
                    <a:p>
                      <a:r>
                        <a:rPr sz="1800" b="0">
                          <a:solidFill>
                            <a:srgbClr val="102F40"/>
                          </a:solidFill>
                          <a:latin typeface="Malgun Gothic"/>
                          <a:ea typeface="Malgun Gothic"/>
                          <a:cs typeface="Malgun Gothic"/>
                        </a:rPr>
                        <a:t>행사 운영 참고</a:t>
                      </a:r>
                    </a:p>
                    <a:p>
                      <a:r>
                        <a:rPr sz="1800" b="0">
                          <a:solidFill>
                            <a:srgbClr val="102F40"/>
                          </a:solidFill>
                          <a:latin typeface="Malgun Gothic"/>
                          <a:ea typeface="Malgun Gothic"/>
                          <a:cs typeface="Malgun Gothic"/>
                        </a:rPr>
                        <a:t>축제 실적의 지역 이전은 불가</a:t>
                      </a:r>
                    </a:p>
                  </a:txBody>
                  <a:tcPr marL="142875" marR="123825" marT="123825" marB="95250" anchor="ctr">
                    <a:solidFill>
                      <a:srgbClr val="FFFFFF"/>
                    </a:solidFill>
                  </a:tcPr>
                </a:tc>
              </a:tr>
            </a:tbl>
          </a:graphicData>
        </a:graphic>
      </p:graphicFrame>
      <p:sp>
        <p:nvSpPr>
          <p:cNvPr id="7" name="text-5">
            <a:extLst xmlns:a="http://schemas.openxmlformats.org/drawingml/2006/main">
              <a:ext uri="{FF2B5EF4-FFF2-40B4-BE49-F238E27FC236}">
                <a16:creationId xmlns:a16="http://schemas.microsoft.com/office/drawing/2014/main" id="{ED926BF3-E18F-423D-8D1C-2857E88959FA}"/>
              </a:ext>
            </a:extLst>
          </p:cNvPr>
          <p:cNvSpPr>
            <a:spLocks xmlns:a="http://schemas.openxmlformats.org/drawingml/2006/main" noGrp="1"/>
          </p:cNvSpPr>
          <p:nvPr/>
        </p:nvSpPr>
        <p:spPr>
          <a:xfrm xmlns:a="http://schemas.openxmlformats.org/drawingml/2006/main">
            <a:off x="571500" y="5743575"/>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87F82"/>
                </a:solidFill>
                <a:latin typeface="Malgun Gothic"/>
                <a:ea typeface="Malgun Gothic"/>
                <a:cs typeface="Malgun Gothic"/>
              </a:defRPr>
            </a:pPr>
            <a:r>
              <a:rPr sz="2025" b="1">
                <a:solidFill>
                  <a:srgbClr val="087F82"/>
                </a:solidFill>
                <a:latin typeface="Malgun Gothic"/>
                <a:ea typeface="Malgun Gothic"/>
                <a:cs typeface="Malgun Gothic"/>
              </a:rPr>
              <a:t>다른 지역의 증가율을 원주의 목표율로 그대로 복사하지 않습니다.</a:t>
            </a:r>
          </a:p>
        </p:txBody>
      </p:sp>
    </p:spTree>
    <p:extLst>
      <p:ext uri="{BB962C8B-B14F-4D97-AF65-F5344CB8AC3E}">
        <p14:creationId xmlns:p14="http://schemas.microsoft.com/office/powerpoint/2010/main" val="174136511"/>
      </p:ext>
    </p:extLst>
  </p:cSld>
</p:sld>
</file>

<file path=ppt/slides/slide34.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6" name="text-0.4792526843618299">
            <a:extLst xmlns:a="http://schemas.openxmlformats.org/drawingml/2006/main">
              <a:ext uri="{FF2B5EF4-FFF2-40B4-BE49-F238E27FC236}">
                <a16:creationId xmlns:a16="http://schemas.microsoft.com/office/drawing/2014/main" id="{7ECCC142-EE29-4CDA-A085-A52504BD1640}"/>
              </a:ext>
            </a:extLst>
          </p:cNvPr>
          <p:cNvSpPr>
            <a:spLocks xmlns:a="http://schemas.openxmlformats.org/drawingml/2006/main" noGrp="1"/>
          </p:cNvSpPr>
          <p:nvPr/>
        </p:nvSpPr>
        <p:spPr>
          <a:xfrm xmlns:a="http://schemas.openxmlformats.org/drawingml/2006/main">
            <a:off x="571500" y="3048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87F82"/>
                </a:solidFill>
                <a:latin typeface="Malgun Gothic"/>
                <a:ea typeface="Malgun Gothic"/>
                <a:cs typeface="Malgun Gothic"/>
              </a:defRPr>
            </a:pPr>
            <a:r>
              <a:rPr sz="1200" b="1">
                <a:solidFill>
                  <a:srgbClr val="087F82"/>
                </a:solidFill>
                <a:latin typeface="Malgun Gothic"/>
                <a:ea typeface="Malgun Gothic"/>
                <a:cs typeface="Malgun Gothic"/>
              </a:rPr>
              <a:t>05 기획 수치와 사례의 근거</a:t>
            </a:r>
          </a:p>
        </p:txBody>
      </p:sp>
      <p:sp>
        <p:nvSpPr>
          <p:cNvPr id="2" name="text-1">
            <a:extLst xmlns:a="http://schemas.openxmlformats.org/drawingml/2006/main">
              <a:ext uri="{FF2B5EF4-FFF2-40B4-BE49-F238E27FC236}">
                <a16:creationId xmlns:a16="http://schemas.microsoft.com/office/drawing/2014/main" id="{C6A43D1F-2CF9-46B0-B756-EEAFBDC7C317}"/>
              </a:ext>
            </a:extLst>
          </p:cNvPr>
          <p:cNvSpPr>
            <a:spLocks xmlns:a="http://schemas.openxmlformats.org/drawingml/2006/main" noGrp="1"/>
          </p:cNvSpPr>
          <p:nvPr/>
        </p:nvSpPr>
        <p:spPr>
          <a:xfrm xmlns:a="http://schemas.openxmlformats.org/drawingml/2006/main">
            <a:off x="571500" y="76200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02F40"/>
                </a:solidFill>
                <a:latin typeface="Malgun Gothic"/>
                <a:ea typeface="Malgun Gothic"/>
                <a:cs typeface="Malgun Gothic"/>
              </a:defRPr>
            </a:pPr>
            <a:r>
              <a:rPr sz="3300" b="1">
                <a:solidFill>
                  <a:srgbClr val="102F40"/>
                </a:solidFill>
                <a:latin typeface="Malgun Gothic"/>
                <a:ea typeface="Malgun Gothic"/>
                <a:cs typeface="Malgun Gothic"/>
              </a:rPr>
              <a:t>추가 방문 2,160명은 운영 가정에서 계산합니다</a:t>
            </a:r>
          </a:p>
        </p:txBody>
      </p:sp>
      <p:sp>
        <p:nvSpPr>
          <p:cNvPr id="3" name="">
            <a:extLst xmlns:a="http://schemas.openxmlformats.org/drawingml/2006/main">
              <a:ext uri="{FF2B5EF4-FFF2-40B4-BE49-F238E27FC236}">
                <a16:creationId xmlns:a16="http://schemas.microsoft.com/office/drawing/2014/main" id="{739B61C3-D9C9-4B41-8B1B-3792F48AACC9}"/>
              </a:ext>
            </a:extLst>
          </p:cNvPr>
          <p:cNvSpPr>
            <a:spLocks xmlns:a="http://schemas.openxmlformats.org/drawingml/2006/main" noGrp="1"/>
          </p:cNvSpPr>
          <p:nvPr/>
        </p:nvSpPr>
        <p:spPr>
          <a:xfrm xmlns:a="http://schemas.openxmlformats.org/drawingml/2006/main">
            <a:off x="571500" y="6324600"/>
            <a:ext cx="11049000" cy="0"/>
          </a:xfrm>
          <a:prstGeom xmlns:a="http://schemas.openxmlformats.org/drawingml/2006/main" prst="line">
            <a:avLst/>
          </a:prstGeom>
          <a:noFill xmlns:a="http://schemas.openxmlformats.org/drawingml/2006/main"/>
          <a:ln xmlns:a="http://schemas.openxmlformats.org/drawingml/2006/main" w="9525">
            <a:solidFill>
              <a:srgbClr val="CDD8D9"/>
            </a:solidFill>
            <a:prstDash val="solid"/>
          </a:ln>
        </p:spPr>
      </p:sp>
      <p:sp>
        <p:nvSpPr>
          <p:cNvPr id="4" name="text-3">
            <a:extLst xmlns:a="http://schemas.openxmlformats.org/drawingml/2006/main">
              <a:ext uri="{FF2B5EF4-FFF2-40B4-BE49-F238E27FC236}">
                <a16:creationId xmlns:a16="http://schemas.microsoft.com/office/drawing/2014/main" id="{37F00501-C33A-4FDC-A1BA-C68C26AC3FAF}"/>
              </a:ext>
            </a:extLst>
          </p:cNvPr>
          <p:cNvSpPr>
            <a:spLocks xmlns:a="http://schemas.openxmlformats.org/drawingml/2006/main" noGrp="1"/>
          </p:cNvSpPr>
          <p:nvPr/>
        </p:nvSpPr>
        <p:spPr>
          <a:xfrm xmlns:a="http://schemas.openxmlformats.org/drawingml/2006/main">
            <a:off x="571500" y="64960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36B78"/>
                </a:solidFill>
                <a:latin typeface="Arial"/>
                <a:ea typeface="Arial"/>
                <a:cs typeface="Arial"/>
              </a:defRPr>
            </a:pPr>
            <a:r>
              <a:rPr sz="1050" b="1">
                <a:solidFill>
                  <a:srgbClr val="536B78"/>
                </a:solidFill>
                <a:latin typeface="Arial"/>
                <a:ea typeface="Arial"/>
                <a:cs typeface="Arial"/>
              </a:rPr>
              <a:t>OLIGO-K</a:t>
            </a:r>
          </a:p>
        </p:txBody>
      </p:sp>
      <p:sp>
        <p:nvSpPr>
          <p:cNvPr id="5" name="text-4">
            <a:extLst xmlns:a="http://schemas.openxmlformats.org/drawingml/2006/main">
              <a:ext uri="{FF2B5EF4-FFF2-40B4-BE49-F238E27FC236}">
                <a16:creationId xmlns:a16="http://schemas.microsoft.com/office/drawing/2014/main" id="{A80D3741-6A36-44E3-A504-122C2E6BA696}"/>
              </a:ext>
            </a:extLst>
          </p:cNvPr>
          <p:cNvSpPr>
            <a:spLocks xmlns:a="http://schemas.openxmlformats.org/drawingml/2006/main" noGrp="1"/>
          </p:cNvSpPr>
          <p:nvPr/>
        </p:nvSpPr>
        <p:spPr>
          <a:xfrm xmlns:a="http://schemas.openxmlformats.org/drawingml/2006/main">
            <a:off x="11049000" y="64674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1">
                <a:solidFill>
                  <a:srgbClr val="087F82"/>
                </a:solidFill>
                <a:latin typeface="Arial"/>
                <a:ea typeface="Arial"/>
                <a:cs typeface="Arial"/>
              </a:defRPr>
            </a:pPr>
            <a:r>
              <a:rPr sz="1350" b="1">
                <a:solidFill>
                  <a:srgbClr val="087F82"/>
                </a:solidFill>
                <a:latin typeface="Arial"/>
                <a:ea typeface="Arial"/>
                <a:cs typeface="Arial"/>
              </a:rPr>
              <a:t>34</a:t>
            </a:r>
          </a:p>
        </p:txBody>
      </p:sp>
      <p:sp>
        <p:nvSpPr>
          <p:cNvPr id="6" name="text-5">
            <a:extLst xmlns:a="http://schemas.openxmlformats.org/drawingml/2006/main">
              <a:ext uri="{FF2B5EF4-FFF2-40B4-BE49-F238E27FC236}">
                <a16:creationId xmlns:a16="http://schemas.microsoft.com/office/drawing/2014/main" id="{38C23570-0E33-4CC0-9720-5F96AEAAC1C7}"/>
              </a:ext>
            </a:extLst>
          </p:cNvPr>
          <p:cNvSpPr>
            <a:spLocks xmlns:a="http://schemas.openxmlformats.org/drawingml/2006/main" noGrp="1"/>
          </p:cNvSpPr>
          <p:nvPr/>
        </p:nvSpPr>
        <p:spPr>
          <a:xfrm xmlns:a="http://schemas.openxmlformats.org/drawingml/2006/main">
            <a:off x="571500" y="2238375"/>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02F40"/>
                </a:solidFill>
                <a:latin typeface="Malgun Gothic"/>
                <a:ea typeface="Malgun Gothic"/>
                <a:cs typeface="Malgun Gothic"/>
              </a:defRPr>
            </a:pPr>
            <a:r>
              <a:rPr sz="2325" b="1">
                <a:solidFill>
                  <a:srgbClr val="102F40"/>
                </a:solidFill>
                <a:latin typeface="Malgun Gothic"/>
                <a:ea typeface="Malgun Gothic"/>
                <a:cs typeface="Malgun Gothic"/>
              </a:rPr>
              <a:t>5개 거점 × 월 8일 × 3개월 × 하루 2회 × 회당 40명</a:t>
            </a:r>
          </a:p>
        </p:txBody>
      </p:sp>
      <p:sp>
        <p:nvSpPr>
          <p:cNvPr id="7" name="text-6">
            <a:extLst xmlns:a="http://schemas.openxmlformats.org/drawingml/2006/main">
              <a:ext uri="{FF2B5EF4-FFF2-40B4-BE49-F238E27FC236}">
                <a16:creationId xmlns:a16="http://schemas.microsoft.com/office/drawing/2014/main" id="{6A0D57F8-F1EC-4D7F-ADB4-7B6F1DFC37F3}"/>
              </a:ext>
            </a:extLst>
          </p:cNvPr>
          <p:cNvSpPr>
            <a:spLocks xmlns:a="http://schemas.openxmlformats.org/drawingml/2006/main" noGrp="1"/>
          </p:cNvSpPr>
          <p:nvPr/>
        </p:nvSpPr>
        <p:spPr>
          <a:xfrm xmlns:a="http://schemas.openxmlformats.org/drawingml/2006/main">
            <a:off x="571500" y="3305175"/>
            <a:ext cx="295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87F82"/>
                </a:solidFill>
                <a:latin typeface="Arial"/>
                <a:ea typeface="Arial"/>
                <a:cs typeface="Arial"/>
              </a:defRPr>
            </a:pPr>
            <a:r>
              <a:rPr sz="5700" b="1">
                <a:solidFill>
                  <a:srgbClr val="087F82"/>
                </a:solidFill>
                <a:latin typeface="Arial"/>
                <a:ea typeface="Arial"/>
                <a:cs typeface="Arial"/>
              </a:rPr>
              <a:t>9,600</a:t>
            </a:r>
          </a:p>
        </p:txBody>
      </p:sp>
      <p:sp>
        <p:nvSpPr>
          <p:cNvPr id="8" name="text-7">
            <a:extLst xmlns:a="http://schemas.openxmlformats.org/drawingml/2006/main">
              <a:ext uri="{FF2B5EF4-FFF2-40B4-BE49-F238E27FC236}">
                <a16:creationId xmlns:a16="http://schemas.microsoft.com/office/drawing/2014/main" id="{133934CE-E491-4A6F-A690-86AD61A30D54}"/>
              </a:ext>
            </a:extLst>
          </p:cNvPr>
          <p:cNvSpPr>
            <a:spLocks xmlns:a="http://schemas.openxmlformats.org/drawingml/2006/main" noGrp="1"/>
          </p:cNvSpPr>
          <p:nvPr/>
        </p:nvSpPr>
        <p:spPr>
          <a:xfrm xmlns:a="http://schemas.openxmlformats.org/drawingml/2006/main">
            <a:off x="571500" y="4438650"/>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02F40"/>
                </a:solidFill>
                <a:latin typeface="Malgun Gothic"/>
                <a:ea typeface="Malgun Gothic"/>
                <a:cs typeface="Malgun Gothic"/>
              </a:defRPr>
            </a:pPr>
            <a:r>
              <a:rPr sz="1875" b="0">
                <a:solidFill>
                  <a:srgbClr val="102F40"/>
                </a:solidFill>
                <a:latin typeface="Malgun Gothic"/>
                <a:ea typeface="Malgun Gothic"/>
                <a:cs typeface="Malgun Gothic"/>
              </a:rPr>
              <a:t>편성 정원(명분)</a:t>
            </a:r>
          </a:p>
        </p:txBody>
      </p:sp>
      <p:sp>
        <p:nvSpPr>
          <p:cNvPr id="9" name="text-8">
            <a:extLst xmlns:a="http://schemas.openxmlformats.org/drawingml/2006/main">
              <a:ext uri="{FF2B5EF4-FFF2-40B4-BE49-F238E27FC236}">
                <a16:creationId xmlns:a16="http://schemas.microsoft.com/office/drawing/2014/main" id="{40A78A59-A716-4A6E-B3E3-073AE8132C04}"/>
              </a:ext>
            </a:extLst>
          </p:cNvPr>
          <p:cNvSpPr>
            <a:spLocks xmlns:a="http://schemas.openxmlformats.org/drawingml/2006/main" noGrp="1"/>
          </p:cNvSpPr>
          <p:nvPr/>
        </p:nvSpPr>
        <p:spPr>
          <a:xfrm xmlns:a="http://schemas.openxmlformats.org/drawingml/2006/main">
            <a:off x="4657725" y="3305175"/>
            <a:ext cx="304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87F82"/>
                </a:solidFill>
                <a:latin typeface="Arial"/>
                <a:ea typeface="Arial"/>
                <a:cs typeface="Arial"/>
              </a:defRPr>
            </a:pPr>
            <a:r>
              <a:rPr sz="5700" b="1">
                <a:solidFill>
                  <a:srgbClr val="087F82"/>
                </a:solidFill>
                <a:latin typeface="Arial"/>
                <a:ea typeface="Arial"/>
                <a:cs typeface="Arial"/>
              </a:rPr>
              <a:t>7,200</a:t>
            </a:r>
          </a:p>
        </p:txBody>
      </p:sp>
      <p:sp>
        <p:nvSpPr>
          <p:cNvPr id="10" name="text-9">
            <a:extLst xmlns:a="http://schemas.openxmlformats.org/drawingml/2006/main">
              <a:ext uri="{FF2B5EF4-FFF2-40B4-BE49-F238E27FC236}">
                <a16:creationId xmlns:a16="http://schemas.microsoft.com/office/drawing/2014/main" id="{86E12706-A3E1-47F2-B83B-C67C0F922190}"/>
              </a:ext>
            </a:extLst>
          </p:cNvPr>
          <p:cNvSpPr>
            <a:spLocks xmlns:a="http://schemas.openxmlformats.org/drawingml/2006/main" noGrp="1"/>
          </p:cNvSpPr>
          <p:nvPr/>
        </p:nvSpPr>
        <p:spPr>
          <a:xfrm xmlns:a="http://schemas.openxmlformats.org/drawingml/2006/main">
            <a:off x="4657725" y="4438650"/>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02F40"/>
                </a:solidFill>
                <a:latin typeface="Malgun Gothic"/>
                <a:ea typeface="Malgun Gothic"/>
                <a:cs typeface="Malgun Gothic"/>
              </a:defRPr>
            </a:pPr>
            <a:r>
              <a:rPr sz="1875" b="0">
                <a:solidFill>
                  <a:srgbClr val="102F40"/>
                </a:solidFill>
                <a:latin typeface="Malgun Gothic"/>
                <a:ea typeface="Malgun Gothic"/>
                <a:cs typeface="Malgun Gothic"/>
              </a:rPr>
              <a:t>이용률 75%의 참여 목표</a:t>
            </a:r>
          </a:p>
        </p:txBody>
      </p:sp>
      <p:sp>
        <p:nvSpPr>
          <p:cNvPr id="11" name="text-10">
            <a:extLst xmlns:a="http://schemas.openxmlformats.org/drawingml/2006/main">
              <a:ext uri="{FF2B5EF4-FFF2-40B4-BE49-F238E27FC236}">
                <a16:creationId xmlns:a16="http://schemas.microsoft.com/office/drawing/2014/main" id="{794C83AA-A59B-4B1F-95D4-F2FB699EDBAC}"/>
              </a:ext>
            </a:extLst>
          </p:cNvPr>
          <p:cNvSpPr>
            <a:spLocks xmlns:a="http://schemas.openxmlformats.org/drawingml/2006/main" noGrp="1"/>
          </p:cNvSpPr>
          <p:nvPr/>
        </p:nvSpPr>
        <p:spPr>
          <a:xfrm xmlns:a="http://schemas.openxmlformats.org/drawingml/2006/main">
            <a:off x="8763000" y="3305175"/>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87F82"/>
                </a:solidFill>
                <a:latin typeface="Arial"/>
                <a:ea typeface="Arial"/>
                <a:cs typeface="Arial"/>
              </a:defRPr>
            </a:pPr>
            <a:r>
              <a:rPr sz="5700" b="1">
                <a:solidFill>
                  <a:srgbClr val="087F82"/>
                </a:solidFill>
                <a:latin typeface="Arial"/>
                <a:ea typeface="Arial"/>
                <a:cs typeface="Arial"/>
              </a:rPr>
              <a:t>2,160</a:t>
            </a:r>
          </a:p>
        </p:txBody>
      </p:sp>
      <p:sp>
        <p:nvSpPr>
          <p:cNvPr id="12" name="text-11">
            <a:extLst xmlns:a="http://schemas.openxmlformats.org/drawingml/2006/main">
              <a:ext uri="{FF2B5EF4-FFF2-40B4-BE49-F238E27FC236}">
                <a16:creationId xmlns:a16="http://schemas.microsoft.com/office/drawing/2014/main" id="{2EA53EEF-5945-492D-B33E-22CA435ACEE0}"/>
              </a:ext>
            </a:extLst>
          </p:cNvPr>
          <p:cNvSpPr>
            <a:spLocks xmlns:a="http://schemas.openxmlformats.org/drawingml/2006/main" noGrp="1"/>
          </p:cNvSpPr>
          <p:nvPr/>
        </p:nvSpPr>
        <p:spPr>
          <a:xfrm xmlns:a="http://schemas.openxmlformats.org/drawingml/2006/main">
            <a:off x="8763000" y="4438650"/>
            <a:ext cx="285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02F40"/>
                </a:solidFill>
                <a:latin typeface="Malgun Gothic"/>
                <a:ea typeface="Malgun Gothic"/>
                <a:cs typeface="Malgun Gothic"/>
              </a:defRPr>
            </a:pPr>
            <a:r>
              <a:rPr sz="1875" b="0">
                <a:solidFill>
                  <a:srgbClr val="102F40"/>
                </a:solidFill>
                <a:latin typeface="Malgun Gothic"/>
                <a:ea typeface="Malgun Gothic"/>
                <a:cs typeface="Malgun Gothic"/>
              </a:rPr>
              <a:t>추가 방문 비중 30% 가정</a:t>
            </a:r>
          </a:p>
        </p:txBody>
      </p:sp>
      <p:sp>
        <p:nvSpPr>
          <p:cNvPr id="13" name="text-12">
            <a:extLst xmlns:a="http://schemas.openxmlformats.org/drawingml/2006/main">
              <a:ext uri="{FF2B5EF4-FFF2-40B4-BE49-F238E27FC236}">
                <a16:creationId xmlns:a16="http://schemas.microsoft.com/office/drawing/2014/main" id="{49271258-0E66-411C-9A8F-BB7DAA394170}"/>
              </a:ext>
            </a:extLst>
          </p:cNvPr>
          <p:cNvSpPr>
            <a:spLocks xmlns:a="http://schemas.openxmlformats.org/drawingml/2006/main" noGrp="1"/>
          </p:cNvSpPr>
          <p:nvPr/>
        </p:nvSpPr>
        <p:spPr>
          <a:xfrm xmlns:a="http://schemas.openxmlformats.org/drawingml/2006/main">
            <a:off x="3686175" y="3648075"/>
            <a:ext cx="1143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536B78"/>
                </a:solidFill>
                <a:latin typeface="Malgun Gothic"/>
                <a:ea typeface="Malgun Gothic"/>
                <a:cs typeface="Malgun Gothic"/>
              </a:defRPr>
            </a:pPr>
            <a:r>
              <a:rPr sz="2250" b="1">
                <a:solidFill>
                  <a:srgbClr val="536B78"/>
                </a:solidFill>
                <a:latin typeface="Malgun Gothic"/>
                <a:ea typeface="Malgun Gothic"/>
                <a:cs typeface="Malgun Gothic"/>
              </a:rPr>
              <a:t>× 75%</a:t>
            </a:r>
          </a:p>
        </p:txBody>
      </p:sp>
      <p:sp>
        <p:nvSpPr>
          <p:cNvPr id="14" name="text-13">
            <a:extLst xmlns:a="http://schemas.openxmlformats.org/drawingml/2006/main">
              <a:ext uri="{FF2B5EF4-FFF2-40B4-BE49-F238E27FC236}">
                <a16:creationId xmlns:a16="http://schemas.microsoft.com/office/drawing/2014/main" id="{09E2E524-CDFA-4749-ADE4-272B37814739}"/>
              </a:ext>
            </a:extLst>
          </p:cNvPr>
          <p:cNvSpPr>
            <a:spLocks xmlns:a="http://schemas.openxmlformats.org/drawingml/2006/main" noGrp="1"/>
          </p:cNvSpPr>
          <p:nvPr/>
        </p:nvSpPr>
        <p:spPr>
          <a:xfrm xmlns:a="http://schemas.openxmlformats.org/drawingml/2006/main">
            <a:off x="7781925" y="3648075"/>
            <a:ext cx="1143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536B78"/>
                </a:solidFill>
                <a:latin typeface="Malgun Gothic"/>
                <a:ea typeface="Malgun Gothic"/>
                <a:cs typeface="Malgun Gothic"/>
              </a:defRPr>
            </a:pPr>
            <a:r>
              <a:rPr sz="2250" b="1">
                <a:solidFill>
                  <a:srgbClr val="536B78"/>
                </a:solidFill>
                <a:latin typeface="Malgun Gothic"/>
                <a:ea typeface="Malgun Gothic"/>
                <a:cs typeface="Malgun Gothic"/>
              </a:rPr>
              <a:t>× 30%</a:t>
            </a:r>
          </a:p>
        </p:txBody>
      </p:sp>
      <p:sp>
        <p:nvSpPr>
          <p:cNvPr id="15" name="text-14">
            <a:extLst xmlns:a="http://schemas.openxmlformats.org/drawingml/2006/main">
              <a:ext uri="{FF2B5EF4-FFF2-40B4-BE49-F238E27FC236}">
                <a16:creationId xmlns:a16="http://schemas.microsoft.com/office/drawing/2014/main" id="{68B13EF1-B783-40F2-B225-384ED28DC12C}"/>
              </a:ext>
            </a:extLst>
          </p:cNvPr>
          <p:cNvSpPr>
            <a:spLocks xmlns:a="http://schemas.openxmlformats.org/drawingml/2006/main" noGrp="1"/>
          </p:cNvSpPr>
          <p:nvPr/>
        </p:nvSpPr>
        <p:spPr>
          <a:xfrm xmlns:a="http://schemas.openxmlformats.org/drawingml/2006/main">
            <a:off x="571500" y="5772150"/>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B96C33"/>
                </a:solidFill>
                <a:latin typeface="Malgun Gothic"/>
                <a:ea typeface="Malgun Gothic"/>
                <a:cs typeface="Malgun Gothic"/>
              </a:defRPr>
            </a:pPr>
            <a:r>
              <a:rPr sz="1800" b="1">
                <a:solidFill>
                  <a:srgbClr val="B96C33"/>
                </a:solidFill>
                <a:latin typeface="Malgun Gothic"/>
                <a:ea typeface="Malgun Gothic"/>
                <a:cs typeface="Malgun Gothic"/>
              </a:rPr>
              <a:t>75%와 30%는 계획 가정입니다. 공식 사례의 참여율이나 사업효과 예측값이 아닙니다.</a:t>
            </a:r>
          </a:p>
        </p:txBody>
      </p:sp>
    </p:spTree>
    <p:extLst>
      <p:ext uri="{BB962C8B-B14F-4D97-AF65-F5344CB8AC3E}">
        <p14:creationId xmlns:p14="http://schemas.microsoft.com/office/powerpoint/2010/main" val="548011656"/>
      </p:ext>
    </p:extLst>
  </p:cSld>
</p:sld>
</file>

<file path=ppt/slides/slide35.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2" name="text-0.4437283465262656">
            <a:extLst xmlns:a="http://schemas.openxmlformats.org/drawingml/2006/main">
              <a:ext uri="{FF2B5EF4-FFF2-40B4-BE49-F238E27FC236}">
                <a16:creationId xmlns:a16="http://schemas.microsoft.com/office/drawing/2014/main" id="{A624F08D-8A08-43B3-9325-268E0C5ABD9C}"/>
              </a:ext>
            </a:extLst>
          </p:cNvPr>
          <p:cNvSpPr>
            <a:spLocks xmlns:a="http://schemas.openxmlformats.org/drawingml/2006/main" noGrp="1"/>
          </p:cNvSpPr>
          <p:nvPr/>
        </p:nvSpPr>
        <p:spPr>
          <a:xfrm xmlns:a="http://schemas.openxmlformats.org/drawingml/2006/main">
            <a:off x="571500" y="3048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87F82"/>
                </a:solidFill>
                <a:latin typeface="Malgun Gothic"/>
                <a:ea typeface="Malgun Gothic"/>
                <a:cs typeface="Malgun Gothic"/>
              </a:defRPr>
            </a:pPr>
            <a:r>
              <a:rPr sz="1200" b="1">
                <a:solidFill>
                  <a:srgbClr val="087F82"/>
                </a:solidFill>
                <a:latin typeface="Malgun Gothic"/>
                <a:ea typeface="Malgun Gothic"/>
                <a:cs typeface="Malgun Gothic"/>
              </a:rPr>
              <a:t>05 기획 수치와 사례의 근거</a:t>
            </a:r>
          </a:p>
        </p:txBody>
      </p:sp>
      <p:sp>
        <p:nvSpPr>
          <p:cNvPr id="2" name="text-1">
            <a:extLst xmlns:a="http://schemas.openxmlformats.org/drawingml/2006/main">
              <a:ext uri="{FF2B5EF4-FFF2-40B4-BE49-F238E27FC236}">
                <a16:creationId xmlns:a16="http://schemas.microsoft.com/office/drawing/2014/main" id="{6B1FB5E2-947B-4A7B-878D-4E3DE36E0D18}"/>
              </a:ext>
            </a:extLst>
          </p:cNvPr>
          <p:cNvSpPr>
            <a:spLocks xmlns:a="http://schemas.openxmlformats.org/drawingml/2006/main" noGrp="1"/>
          </p:cNvSpPr>
          <p:nvPr/>
        </p:nvSpPr>
        <p:spPr>
          <a:xfrm xmlns:a="http://schemas.openxmlformats.org/drawingml/2006/main">
            <a:off x="571500" y="76200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02F40"/>
                </a:solidFill>
                <a:latin typeface="Malgun Gothic"/>
                <a:ea typeface="Malgun Gothic"/>
                <a:cs typeface="Malgun Gothic"/>
              </a:defRPr>
            </a:pPr>
            <a:r>
              <a:rPr sz="3300" b="1">
                <a:solidFill>
                  <a:srgbClr val="102F40"/>
                </a:solidFill>
                <a:latin typeface="Malgun Gothic"/>
                <a:ea typeface="Malgun Gothic"/>
                <a:cs typeface="Malgun Gothic"/>
              </a:rPr>
              <a:t>예상 사업비도 같은 참여 목표에서 계산합니다</a:t>
            </a:r>
          </a:p>
        </p:txBody>
      </p:sp>
      <p:sp>
        <p:nvSpPr>
          <p:cNvPr id="3" name="text-2">
            <a:extLst xmlns:a="http://schemas.openxmlformats.org/drawingml/2006/main">
              <a:ext uri="{FF2B5EF4-FFF2-40B4-BE49-F238E27FC236}">
                <a16:creationId xmlns:a16="http://schemas.microsoft.com/office/drawing/2014/main" id="{02A6F7B9-3ADE-4E9A-8332-6E8F540D7DD7}"/>
              </a:ext>
            </a:extLst>
          </p:cNvPr>
          <p:cNvSpPr>
            <a:spLocks xmlns:a="http://schemas.openxmlformats.org/drawingml/2006/main" noGrp="1"/>
          </p:cNvSpPr>
          <p:nvPr/>
        </p:nvSpPr>
        <p:spPr>
          <a:xfrm xmlns:a="http://schemas.openxmlformats.org/drawingml/2006/main">
            <a:off x="571500" y="14954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B78"/>
                </a:solidFill>
                <a:latin typeface="Malgun Gothic"/>
                <a:ea typeface="Malgun Gothic"/>
                <a:cs typeface="Malgun Gothic"/>
              </a:defRPr>
            </a:pPr>
            <a:r>
              <a:rPr sz="1725" b="0">
                <a:solidFill>
                  <a:srgbClr val="536B78"/>
                </a:solidFill>
                <a:latin typeface="Malgun Gothic"/>
                <a:ea typeface="Malgun Gothic"/>
                <a:cs typeface="Malgun Gothic"/>
              </a:rPr>
              <a:t>원주 기획안 예시 · 단위: 만 원 · 실제 계약 견적과 다를 수 있음</a:t>
            </a:r>
          </a:p>
        </p:txBody>
      </p:sp>
      <p:sp>
        <p:nvSpPr>
          <p:cNvPr id="4" name="">
            <a:extLst xmlns:a="http://schemas.openxmlformats.org/drawingml/2006/main">
              <a:ext uri="{FF2B5EF4-FFF2-40B4-BE49-F238E27FC236}">
                <a16:creationId xmlns:a16="http://schemas.microsoft.com/office/drawing/2014/main" id="{69903104-BEF7-4BEE-B04B-BDDF95D4EC7B}"/>
              </a:ext>
            </a:extLst>
          </p:cNvPr>
          <p:cNvSpPr>
            <a:spLocks xmlns:a="http://schemas.openxmlformats.org/drawingml/2006/main" noGrp="1"/>
          </p:cNvSpPr>
          <p:nvPr/>
        </p:nvSpPr>
        <p:spPr>
          <a:xfrm xmlns:a="http://schemas.openxmlformats.org/drawingml/2006/main">
            <a:off x="571500" y="6324600"/>
            <a:ext cx="11049000" cy="0"/>
          </a:xfrm>
          <a:prstGeom xmlns:a="http://schemas.openxmlformats.org/drawingml/2006/main" prst="line">
            <a:avLst/>
          </a:prstGeom>
          <a:noFill xmlns:a="http://schemas.openxmlformats.org/drawingml/2006/main"/>
          <a:ln xmlns:a="http://schemas.openxmlformats.org/drawingml/2006/main" w="9525">
            <a:solidFill>
              <a:srgbClr val="CDD8D9"/>
            </a:solidFill>
            <a:prstDash val="solid"/>
          </a:ln>
        </p:spPr>
      </p:sp>
      <p:sp>
        <p:nvSpPr>
          <p:cNvPr id="5" name="text-4">
            <a:extLst xmlns:a="http://schemas.openxmlformats.org/drawingml/2006/main">
              <a:ext uri="{FF2B5EF4-FFF2-40B4-BE49-F238E27FC236}">
                <a16:creationId xmlns:a16="http://schemas.microsoft.com/office/drawing/2014/main" id="{3DACCBF0-C857-4293-BB58-EFC023E44305}"/>
              </a:ext>
            </a:extLst>
          </p:cNvPr>
          <p:cNvSpPr>
            <a:spLocks xmlns:a="http://schemas.openxmlformats.org/drawingml/2006/main" noGrp="1"/>
          </p:cNvSpPr>
          <p:nvPr/>
        </p:nvSpPr>
        <p:spPr>
          <a:xfrm xmlns:a="http://schemas.openxmlformats.org/drawingml/2006/main">
            <a:off x="571500" y="64960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36B78"/>
                </a:solidFill>
                <a:latin typeface="Arial"/>
                <a:ea typeface="Arial"/>
                <a:cs typeface="Arial"/>
              </a:defRPr>
            </a:pPr>
            <a:r>
              <a:rPr sz="1050" b="1">
                <a:solidFill>
                  <a:srgbClr val="536B78"/>
                </a:solidFill>
                <a:latin typeface="Arial"/>
                <a:ea typeface="Arial"/>
                <a:cs typeface="Arial"/>
              </a:rPr>
              <a:t>OLIGO-K</a:t>
            </a:r>
          </a:p>
        </p:txBody>
      </p:sp>
      <p:sp>
        <p:nvSpPr>
          <p:cNvPr id="6" name="text-5">
            <a:extLst xmlns:a="http://schemas.openxmlformats.org/drawingml/2006/main">
              <a:ext uri="{FF2B5EF4-FFF2-40B4-BE49-F238E27FC236}">
                <a16:creationId xmlns:a16="http://schemas.microsoft.com/office/drawing/2014/main" id="{A2B87571-506F-4895-BD45-1545D0215330}"/>
              </a:ext>
            </a:extLst>
          </p:cNvPr>
          <p:cNvSpPr>
            <a:spLocks xmlns:a="http://schemas.openxmlformats.org/drawingml/2006/main" noGrp="1"/>
          </p:cNvSpPr>
          <p:nvPr/>
        </p:nvSpPr>
        <p:spPr>
          <a:xfrm xmlns:a="http://schemas.openxmlformats.org/drawingml/2006/main">
            <a:off x="11049000" y="64674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1">
                <a:solidFill>
                  <a:srgbClr val="087F82"/>
                </a:solidFill>
                <a:latin typeface="Arial"/>
                <a:ea typeface="Arial"/>
                <a:cs typeface="Arial"/>
              </a:defRPr>
            </a:pPr>
            <a:r>
              <a:rPr sz="1350" b="1">
                <a:solidFill>
                  <a:srgbClr val="087F82"/>
                </a:solidFill>
                <a:latin typeface="Arial"/>
                <a:ea typeface="Arial"/>
                <a:cs typeface="Arial"/>
              </a:rPr>
              <a:t>35</a:t>
            </a:r>
          </a:p>
        </p:txBody>
      </p:sp>
      <p:graphicFrame>
        <p:nvGraphicFramePr>
          <p:cNvPr id="18" name="Chart"/>
          <p:cNvGraphicFramePr/>
          <p:nvPr/>
        </p:nvGraphicFramePr>
        <p:xfrm>
          <a:off xmlns:a="http://schemas.openxmlformats.org/drawingml/2006/main" x="523875" y="2305050"/>
          <a:ext xmlns:a="http://schemas.openxmlformats.org/drawingml/2006/main" cx="7505700" cy="3533775"/>
        </p:xfrm>
        <a:graphic xmlns:a="http://schemas.openxmlformats.org/drawingml/2006/main">
          <a:graphicData uri="http://schemas.openxmlformats.org/drawingml/2006/chart">
            <c:chart xmlns:r="http://schemas.openxmlformats.org/officeDocument/2006/relationships" xmlns:c="http://schemas.openxmlformats.org/drawingml/2006/chart" r:id="Ra9c301fb6b7d43c2"/>
          </a:graphicData>
        </a:graphic>
      </p:graphicFrame>
      <p:sp>
        <p:nvSpPr>
          <p:cNvPr id="8" name="text-6">
            <a:extLst xmlns:a="http://schemas.openxmlformats.org/drawingml/2006/main">
              <a:ext uri="{FF2B5EF4-FFF2-40B4-BE49-F238E27FC236}">
                <a16:creationId xmlns:a16="http://schemas.microsoft.com/office/drawing/2014/main" id="{8C723149-1A5E-452F-94C5-087D003564F8}"/>
              </a:ext>
            </a:extLst>
          </p:cNvPr>
          <p:cNvSpPr>
            <a:spLocks xmlns:a="http://schemas.openxmlformats.org/drawingml/2006/main" noGrp="1"/>
          </p:cNvSpPr>
          <p:nvPr/>
        </p:nvSpPr>
        <p:spPr>
          <a:xfrm xmlns:a="http://schemas.openxmlformats.org/drawingml/2006/main">
            <a:off x="8715375" y="2238375"/>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087F82"/>
                </a:solidFill>
                <a:latin typeface="Arial"/>
                <a:ea typeface="Arial"/>
                <a:cs typeface="Arial"/>
              </a:defRPr>
            </a:pPr>
            <a:r>
              <a:rPr sz="4650" b="1">
                <a:solidFill>
                  <a:srgbClr val="087F82"/>
                </a:solidFill>
                <a:latin typeface="Arial"/>
                <a:ea typeface="Arial"/>
                <a:cs typeface="Arial"/>
              </a:rPr>
              <a:t>11,660</a:t>
            </a:r>
          </a:p>
        </p:txBody>
      </p:sp>
      <p:sp>
        <p:nvSpPr>
          <p:cNvPr id="9" name="text-7">
            <a:extLst xmlns:a="http://schemas.openxmlformats.org/drawingml/2006/main">
              <a:ext uri="{FF2B5EF4-FFF2-40B4-BE49-F238E27FC236}">
                <a16:creationId xmlns:a16="http://schemas.microsoft.com/office/drawing/2014/main" id="{555DF1E3-F31D-4D14-B84F-27B5FAEA9C09}"/>
              </a:ext>
            </a:extLst>
          </p:cNvPr>
          <p:cNvSpPr>
            <a:spLocks xmlns:a="http://schemas.openxmlformats.org/drawingml/2006/main" noGrp="1"/>
          </p:cNvSpPr>
          <p:nvPr/>
        </p:nvSpPr>
        <p:spPr>
          <a:xfrm xmlns:a="http://schemas.openxmlformats.org/drawingml/2006/main">
            <a:off x="8715375" y="3371850"/>
            <a:ext cx="285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02F40"/>
                </a:solidFill>
                <a:latin typeface="Malgun Gothic"/>
                <a:ea typeface="Malgun Gothic"/>
                <a:cs typeface="Malgun Gothic"/>
              </a:defRPr>
            </a:pPr>
            <a:r>
              <a:rPr sz="1875" b="0">
                <a:solidFill>
                  <a:srgbClr val="102F40"/>
                </a:solidFill>
                <a:latin typeface="Malgun Gothic"/>
                <a:ea typeface="Malgun Gothic"/>
                <a:cs typeface="Malgun Gothic"/>
              </a:rPr>
              <a:t>총 예상 사업비(만 원)</a:t>
            </a:r>
          </a:p>
        </p:txBody>
      </p:sp>
      <p:sp>
        <p:nvSpPr>
          <p:cNvPr id="10" name="text-8">
            <a:extLst xmlns:a="http://schemas.openxmlformats.org/drawingml/2006/main">
              <a:ext uri="{FF2B5EF4-FFF2-40B4-BE49-F238E27FC236}">
                <a16:creationId xmlns:a16="http://schemas.microsoft.com/office/drawing/2014/main" id="{8A63E8F0-0D7D-42D6-A75B-2E4EC1F09620}"/>
              </a:ext>
            </a:extLst>
          </p:cNvPr>
          <p:cNvSpPr>
            <a:spLocks xmlns:a="http://schemas.openxmlformats.org/drawingml/2006/main" noGrp="1"/>
          </p:cNvSpPr>
          <p:nvPr/>
        </p:nvSpPr>
        <p:spPr>
          <a:xfrm xmlns:a="http://schemas.openxmlformats.org/drawingml/2006/main">
            <a:off x="8715375" y="4095750"/>
            <a:ext cx="2857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7,200명 × 1만 원</a:t>
            </a:r>
          </a:p>
          <a:p xmlns:a="http://schemas.openxmlformats.org/drawingml/2006/main">
            <a:pPr algn="l">
              <a:defRPr sz="2025" b="1">
                <a:solidFill>
                  <a:srgbClr val="102F40"/>
                </a:solidFill>
                <a:latin typeface="Malgun Gothic"/>
                <a:ea typeface="Malgun Gothic"/>
                <a:cs typeface="Malgun Gothic"/>
              </a:defRPr>
            </a:pPr>
            <a:r>
              <a:rPr sz="2025" b="1">
                <a:solidFill>
                  <a:srgbClr val="102F40"/>
                </a:solidFill>
                <a:latin typeface="Malgun Gothic"/>
                <a:ea typeface="Malgun Gothic"/>
                <a:cs typeface="Malgun Gothic"/>
              </a:rPr>
              <a:t>참여 지원비 7,200만 원</a:t>
            </a:r>
          </a:p>
        </p:txBody>
      </p:sp>
      <p:sp>
        <p:nvSpPr>
          <p:cNvPr id="11" name="text-9">
            <a:extLst xmlns:a="http://schemas.openxmlformats.org/drawingml/2006/main">
              <a:ext uri="{FF2B5EF4-FFF2-40B4-BE49-F238E27FC236}">
                <a16:creationId xmlns:a16="http://schemas.microsoft.com/office/drawing/2014/main" id="{EB16F18A-28CB-4ACE-846F-329D5941ADDF}"/>
              </a:ext>
            </a:extLst>
          </p:cNvPr>
          <p:cNvSpPr>
            <a:spLocks xmlns:a="http://schemas.openxmlformats.org/drawingml/2006/main" noGrp="1"/>
          </p:cNvSpPr>
          <p:nvPr/>
        </p:nvSpPr>
        <p:spPr>
          <a:xfrm xmlns:a="http://schemas.openxmlformats.org/drawingml/2006/main">
            <a:off x="8715375" y="5381625"/>
            <a:ext cx="285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36B78"/>
                </a:solidFill>
                <a:latin typeface="Malgun Gothic"/>
                <a:ea typeface="Malgun Gothic"/>
                <a:cs typeface="Malgun Gothic"/>
              </a:defRPr>
            </a:pPr>
            <a:r>
              <a:rPr sz="1650" b="0">
                <a:solidFill>
                  <a:srgbClr val="536B78"/>
                </a:solidFill>
                <a:latin typeface="Malgun Gothic"/>
                <a:ea typeface="Malgun Gothic"/>
                <a:cs typeface="Malgun Gothic"/>
              </a:rPr>
              <a:t>예비비는 직접비의 10%</a:t>
            </a:r>
          </a:p>
          <a:p xmlns:a="http://schemas.openxmlformats.org/drawingml/2006/main">
            <a:pPr algn="l">
              <a:defRPr sz="1650" b="0">
                <a:solidFill>
                  <a:srgbClr val="536B78"/>
                </a:solidFill>
                <a:latin typeface="Malgun Gothic"/>
                <a:ea typeface="Malgun Gothic"/>
                <a:cs typeface="Malgun Gothic"/>
              </a:defRPr>
            </a:pPr>
            <a:r>
              <a:rPr sz="1650" b="0">
                <a:solidFill>
                  <a:srgbClr val="536B78"/>
                </a:solidFill>
                <a:latin typeface="Malgun Gothic"/>
                <a:ea typeface="Malgun Gothic"/>
                <a:cs typeface="Malgun Gothic"/>
              </a:rPr>
              <a:t>단가·범위는 집행 전 확인</a:t>
            </a:r>
          </a:p>
        </p:txBody>
      </p:sp>
    </p:spTree>
    <p:extLst>
      <p:ext uri="{BB962C8B-B14F-4D97-AF65-F5344CB8AC3E}">
        <p14:creationId xmlns:p14="http://schemas.microsoft.com/office/powerpoint/2010/main" val="297597720"/>
      </p:ext>
    </p:extLst>
  </p:cSld>
</p:sld>
</file>

<file path=ppt/slides/slide36.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0" name="text-0.7120336847743617">
            <a:extLst xmlns:a="http://schemas.openxmlformats.org/drawingml/2006/main">
              <a:ext uri="{FF2B5EF4-FFF2-40B4-BE49-F238E27FC236}">
                <a16:creationId xmlns:a16="http://schemas.microsoft.com/office/drawing/2014/main" id="{26629690-89D7-4262-90DC-AD835CF0BE7F}"/>
              </a:ext>
            </a:extLst>
          </p:cNvPr>
          <p:cNvSpPr>
            <a:spLocks xmlns:a="http://schemas.openxmlformats.org/drawingml/2006/main" noGrp="1"/>
          </p:cNvSpPr>
          <p:nvPr/>
        </p:nvSpPr>
        <p:spPr>
          <a:xfrm xmlns:a="http://schemas.openxmlformats.org/drawingml/2006/main">
            <a:off x="571500" y="3048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87F82"/>
                </a:solidFill>
                <a:latin typeface="Malgun Gothic"/>
                <a:ea typeface="Malgun Gothic"/>
                <a:cs typeface="Malgun Gothic"/>
              </a:defRPr>
            </a:pPr>
            <a:r>
              <a:rPr sz="1200" b="1">
                <a:solidFill>
                  <a:srgbClr val="087F82"/>
                </a:solidFill>
                <a:latin typeface="Malgun Gothic"/>
                <a:ea typeface="Malgun Gothic"/>
                <a:cs typeface="Malgun Gothic"/>
              </a:rPr>
              <a:t>05 기획 수치와 사례의 근거</a:t>
            </a:r>
          </a:p>
        </p:txBody>
      </p:sp>
      <p:sp>
        <p:nvSpPr>
          <p:cNvPr id="2" name="text-1">
            <a:extLst xmlns:a="http://schemas.openxmlformats.org/drawingml/2006/main">
              <a:ext uri="{FF2B5EF4-FFF2-40B4-BE49-F238E27FC236}">
                <a16:creationId xmlns:a16="http://schemas.microsoft.com/office/drawing/2014/main" id="{E09D92B0-A92F-4D04-8F09-C7D6E27BDBE5}"/>
              </a:ext>
            </a:extLst>
          </p:cNvPr>
          <p:cNvSpPr>
            <a:spLocks xmlns:a="http://schemas.openxmlformats.org/drawingml/2006/main" noGrp="1"/>
          </p:cNvSpPr>
          <p:nvPr/>
        </p:nvSpPr>
        <p:spPr>
          <a:xfrm xmlns:a="http://schemas.openxmlformats.org/drawingml/2006/main">
            <a:off x="571500" y="76200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02F40"/>
                </a:solidFill>
                <a:latin typeface="Malgun Gothic"/>
                <a:ea typeface="Malgun Gothic"/>
                <a:cs typeface="Malgun Gothic"/>
              </a:defRPr>
            </a:pPr>
            <a:r>
              <a:rPr sz="3300" b="1">
                <a:solidFill>
                  <a:srgbClr val="102F40"/>
                </a:solidFill>
                <a:latin typeface="Malgun Gothic"/>
                <a:ea typeface="Malgun Gothic"/>
                <a:cs typeface="Malgun Gothic"/>
              </a:rPr>
              <a:t>ML 전망과 목표 KPI를 같은 기준으로 출력합니다</a:t>
            </a:r>
          </a:p>
        </p:txBody>
      </p:sp>
      <p:sp>
        <p:nvSpPr>
          <p:cNvPr id="3" name="text-2">
            <a:extLst xmlns:a="http://schemas.openxmlformats.org/drawingml/2006/main">
              <a:ext uri="{FF2B5EF4-FFF2-40B4-BE49-F238E27FC236}">
                <a16:creationId xmlns:a16="http://schemas.microsoft.com/office/drawing/2014/main" id="{134141F0-6508-441D-9FE6-05E3B0363656}"/>
              </a:ext>
            </a:extLst>
          </p:cNvPr>
          <p:cNvSpPr>
            <a:spLocks xmlns:a="http://schemas.openxmlformats.org/drawingml/2006/main" noGrp="1"/>
          </p:cNvSpPr>
          <p:nvPr/>
        </p:nvSpPr>
        <p:spPr>
          <a:xfrm xmlns:a="http://schemas.openxmlformats.org/drawingml/2006/main">
            <a:off x="571500" y="14954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B78"/>
                </a:solidFill>
                <a:latin typeface="Malgun Gothic"/>
                <a:ea typeface="Malgun Gothic"/>
                <a:cs typeface="Malgun Gothic"/>
              </a:defRPr>
            </a:pPr>
            <a:r>
              <a:rPr sz="1725" b="0">
                <a:solidFill>
                  <a:srgbClr val="536B78"/>
                </a:solidFill>
                <a:latin typeface="Malgun Gothic"/>
                <a:ea typeface="Malgun Gothic"/>
                <a:cs typeface="Malgun Gothic"/>
              </a:rPr>
              <a:t>원주 2026.11–2027.01 · 방문자 수</a:t>
            </a:r>
          </a:p>
        </p:txBody>
      </p:sp>
      <p:sp>
        <p:nvSpPr>
          <p:cNvPr id="4" name="">
            <a:extLst xmlns:a="http://schemas.openxmlformats.org/drawingml/2006/main">
              <a:ext uri="{FF2B5EF4-FFF2-40B4-BE49-F238E27FC236}">
                <a16:creationId xmlns:a16="http://schemas.microsoft.com/office/drawing/2014/main" id="{3A9D19B6-B9BD-42F1-BFB9-97DCBC5D7008}"/>
              </a:ext>
            </a:extLst>
          </p:cNvPr>
          <p:cNvSpPr>
            <a:spLocks xmlns:a="http://schemas.openxmlformats.org/drawingml/2006/main" noGrp="1"/>
          </p:cNvSpPr>
          <p:nvPr/>
        </p:nvSpPr>
        <p:spPr>
          <a:xfrm xmlns:a="http://schemas.openxmlformats.org/drawingml/2006/main">
            <a:off x="571500" y="6324600"/>
            <a:ext cx="11049000" cy="0"/>
          </a:xfrm>
          <a:prstGeom xmlns:a="http://schemas.openxmlformats.org/drawingml/2006/main" prst="line">
            <a:avLst/>
          </a:prstGeom>
          <a:noFill xmlns:a="http://schemas.openxmlformats.org/drawingml/2006/main"/>
          <a:ln xmlns:a="http://schemas.openxmlformats.org/drawingml/2006/main" w="9525">
            <a:solidFill>
              <a:srgbClr val="CDD8D9"/>
            </a:solidFill>
            <a:prstDash val="solid"/>
          </a:ln>
        </p:spPr>
      </p:sp>
      <p:sp>
        <p:nvSpPr>
          <p:cNvPr id="5" name="text-4">
            <a:extLst xmlns:a="http://schemas.openxmlformats.org/drawingml/2006/main">
              <a:ext uri="{FF2B5EF4-FFF2-40B4-BE49-F238E27FC236}">
                <a16:creationId xmlns:a16="http://schemas.microsoft.com/office/drawing/2014/main" id="{B485FCAD-851A-4086-8EF3-72F67CFBF2D4}"/>
              </a:ext>
            </a:extLst>
          </p:cNvPr>
          <p:cNvSpPr>
            <a:spLocks xmlns:a="http://schemas.openxmlformats.org/drawingml/2006/main" noGrp="1"/>
          </p:cNvSpPr>
          <p:nvPr/>
        </p:nvSpPr>
        <p:spPr>
          <a:xfrm xmlns:a="http://schemas.openxmlformats.org/drawingml/2006/main">
            <a:off x="571500" y="64960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36B78"/>
                </a:solidFill>
                <a:latin typeface="Arial"/>
                <a:ea typeface="Arial"/>
                <a:cs typeface="Arial"/>
              </a:defRPr>
            </a:pPr>
            <a:r>
              <a:rPr sz="1050" b="1">
                <a:solidFill>
                  <a:srgbClr val="536B78"/>
                </a:solidFill>
                <a:latin typeface="Arial"/>
                <a:ea typeface="Arial"/>
                <a:cs typeface="Arial"/>
              </a:rPr>
              <a:t>OLIGO-K</a:t>
            </a:r>
          </a:p>
        </p:txBody>
      </p:sp>
      <p:sp>
        <p:nvSpPr>
          <p:cNvPr id="6" name="text-5">
            <a:extLst xmlns:a="http://schemas.openxmlformats.org/drawingml/2006/main">
              <a:ext uri="{FF2B5EF4-FFF2-40B4-BE49-F238E27FC236}">
                <a16:creationId xmlns:a16="http://schemas.microsoft.com/office/drawing/2014/main" id="{E076B32F-C8A3-49DA-87CF-64DB961B7828}"/>
              </a:ext>
            </a:extLst>
          </p:cNvPr>
          <p:cNvSpPr>
            <a:spLocks xmlns:a="http://schemas.openxmlformats.org/drawingml/2006/main" noGrp="1"/>
          </p:cNvSpPr>
          <p:nvPr/>
        </p:nvSpPr>
        <p:spPr>
          <a:xfrm xmlns:a="http://schemas.openxmlformats.org/drawingml/2006/main">
            <a:off x="11049000" y="64674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1">
                <a:solidFill>
                  <a:srgbClr val="087F82"/>
                </a:solidFill>
                <a:latin typeface="Arial"/>
                <a:ea typeface="Arial"/>
                <a:cs typeface="Arial"/>
              </a:defRPr>
            </a:pPr>
            <a:r>
              <a:rPr sz="1350" b="1">
                <a:solidFill>
                  <a:srgbClr val="087F82"/>
                </a:solidFill>
                <a:latin typeface="Arial"/>
                <a:ea typeface="Arial"/>
                <a:cs typeface="Arial"/>
              </a:rPr>
              <a:t>36</a:t>
            </a:r>
          </a:p>
        </p:txBody>
      </p:sp>
      <p:graphicFrame>
        <p:nvGraphicFramePr>
          <p:cNvPr id="16" name=""/>
          <p:cNvGraphicFramePr/>
          <p:nvPr/>
        </p:nvGraphicFramePr>
        <p:xfrm>
          <a:off xmlns:a="http://schemas.openxmlformats.org/drawingml/2006/main" x="571500" y="2124075"/>
          <a:ext xmlns:a="http://schemas.openxmlformats.org/drawingml/2006/main" cx="11049000" cy="2952750"/>
        </p:xfrm>
        <a:graphic xmlns:a="http://schemas.openxmlformats.org/drawingml/2006/main">
          <a:graphicData uri="http://schemas.openxmlformats.org/drawingml/2006/table">
            <a:tbl>
              <a:tblPr firstRow="1" bandRow="0"/>
              <a:tblGrid>
                <a:gridCol w="2095500"/>
                <a:gridCol w="3048000"/>
                <a:gridCol w="2857500"/>
                <a:gridCol w="3048000"/>
              </a:tblGrid>
              <a:tr h="590550">
                <a:tc>
                  <a:txBody>
                    <a:bodyPr/>
                    <a:lstStyle/>
                    <a:p>
                      <a:r>
                        <a:rPr sz="1875" b="1">
                          <a:solidFill>
                            <a:srgbClr val="FFFFFF"/>
                          </a:solidFill>
                          <a:latin typeface="Malgun Gothic"/>
                          <a:ea typeface="Malgun Gothic"/>
                          <a:cs typeface="Malgun Gothic"/>
                        </a:rPr>
                        <a:t>기준월</a:t>
                      </a:r>
                    </a:p>
                  </a:txBody>
                  <a:tcPr marL="142875" marR="123825" marT="123825" marB="95250" anchor="ctr">
                    <a:solidFill>
                      <a:srgbClr val="102F40"/>
                    </a:solidFill>
                  </a:tcPr>
                </a:tc>
                <a:tc>
                  <a:txBody>
                    <a:bodyPr/>
                    <a:lstStyle/>
                    <a:p>
                      <a:r>
                        <a:rPr sz="1875" b="1">
                          <a:solidFill>
                            <a:srgbClr val="FFFFFF"/>
                          </a:solidFill>
                          <a:latin typeface="Malgun Gothic"/>
                          <a:ea typeface="Malgun Gothic"/>
                          <a:cs typeface="Malgun Gothic"/>
                        </a:rPr>
                        <a:t>ML 전망</a:t>
                      </a:r>
                    </a:p>
                  </a:txBody>
                  <a:tcPr marL="142875" marR="123825" marT="123825" marB="95250" anchor="ctr">
                    <a:solidFill>
                      <a:srgbClr val="102F40"/>
                    </a:solidFill>
                  </a:tcPr>
                </a:tc>
                <a:tc>
                  <a:txBody>
                    <a:bodyPr/>
                    <a:lstStyle/>
                    <a:p>
                      <a:r>
                        <a:rPr sz="1875" b="1">
                          <a:solidFill>
                            <a:srgbClr val="FFFFFF"/>
                          </a:solidFill>
                          <a:latin typeface="Malgun Gothic"/>
                          <a:ea typeface="Malgun Gothic"/>
                          <a:cs typeface="Malgun Gothic"/>
                        </a:rPr>
                        <a:t>추가 방문 목표</a:t>
                      </a:r>
                    </a:p>
                  </a:txBody>
                  <a:tcPr marL="142875" marR="123825" marT="123825" marB="95250" anchor="ctr">
                    <a:solidFill>
                      <a:srgbClr val="102F40"/>
                    </a:solidFill>
                  </a:tcPr>
                </a:tc>
                <a:tc>
                  <a:txBody>
                    <a:bodyPr/>
                    <a:lstStyle/>
                    <a:p>
                      <a:r>
                        <a:rPr sz="1875" b="1">
                          <a:solidFill>
                            <a:srgbClr val="FFFFFF"/>
                          </a:solidFill>
                          <a:latin typeface="Malgun Gothic"/>
                          <a:ea typeface="Malgun Gothic"/>
                          <a:cs typeface="Malgun Gothic"/>
                        </a:rPr>
                        <a:t>목표 KPI</a:t>
                      </a:r>
                    </a:p>
                  </a:txBody>
                  <a:tcPr marL="142875" marR="123825" marT="123825" marB="95250" anchor="ctr">
                    <a:solidFill>
                      <a:srgbClr val="102F40"/>
                    </a:solidFill>
                  </a:tcPr>
                </a:tc>
              </a:tr>
              <a:tr h="590550">
                <a:tc>
                  <a:txBody>
                    <a:bodyPr/>
                    <a:lstStyle/>
                    <a:p>
                      <a:r>
                        <a:rPr sz="1875" b="0">
                          <a:solidFill>
                            <a:srgbClr val="102F40"/>
                          </a:solidFill>
                          <a:latin typeface="Malgun Gothic"/>
                          <a:ea typeface="Malgun Gothic"/>
                          <a:cs typeface="Malgun Gothic"/>
                        </a:rPr>
                        <a:t>2026.11</a:t>
                      </a:r>
                    </a:p>
                  </a:txBody>
                  <a:tcPr marL="142875" marR="123825" marT="123825" marB="95250" anchor="ctr">
                    <a:solidFill>
                      <a:srgbClr val="FFFFFF"/>
                    </a:solidFill>
                  </a:tcPr>
                </a:tc>
                <a:tc>
                  <a:txBody>
                    <a:bodyPr/>
                    <a:lstStyle/>
                    <a:p>
                      <a:r>
                        <a:rPr sz="1875" b="0">
                          <a:solidFill>
                            <a:srgbClr val="102F40"/>
                          </a:solidFill>
                          <a:latin typeface="Malgun Gothic"/>
                          <a:ea typeface="Malgun Gothic"/>
                          <a:cs typeface="Malgun Gothic"/>
                        </a:rPr>
                        <a:t>2,632,315명</a:t>
                      </a:r>
                    </a:p>
                  </a:txBody>
                  <a:tcPr marL="142875" marR="123825" marT="123825" marB="95250" anchor="ctr">
                    <a:solidFill>
                      <a:srgbClr val="FFFFFF"/>
                    </a:solidFill>
                  </a:tcPr>
                </a:tc>
                <a:tc>
                  <a:txBody>
                    <a:bodyPr/>
                    <a:lstStyle/>
                    <a:p>
                      <a:r>
                        <a:rPr sz="1875" b="0">
                          <a:solidFill>
                            <a:srgbClr val="102F40"/>
                          </a:solidFill>
                          <a:latin typeface="Malgun Gothic"/>
                          <a:ea typeface="Malgun Gothic"/>
                          <a:cs typeface="Malgun Gothic"/>
                        </a:rPr>
                        <a:t>439명</a:t>
                      </a:r>
                    </a:p>
                  </a:txBody>
                  <a:tcPr marL="142875" marR="123825" marT="123825" marB="95250" anchor="ctr">
                    <a:solidFill>
                      <a:srgbClr val="FFFFFF"/>
                    </a:solidFill>
                  </a:tcPr>
                </a:tc>
                <a:tc>
                  <a:txBody>
                    <a:bodyPr/>
                    <a:lstStyle/>
                    <a:p>
                      <a:r>
                        <a:rPr sz="1875" b="0">
                          <a:solidFill>
                            <a:srgbClr val="102F40"/>
                          </a:solidFill>
                          <a:latin typeface="Malgun Gothic"/>
                          <a:ea typeface="Malgun Gothic"/>
                          <a:cs typeface="Malgun Gothic"/>
                        </a:rPr>
                        <a:t>2,632,754명</a:t>
                      </a:r>
                    </a:p>
                  </a:txBody>
                  <a:tcPr marL="142875" marR="123825" marT="123825" marB="95250" anchor="ctr">
                    <a:solidFill>
                      <a:srgbClr val="FFFFFF"/>
                    </a:solidFill>
                  </a:tcPr>
                </a:tc>
              </a:tr>
              <a:tr h="590550">
                <a:tc>
                  <a:txBody>
                    <a:bodyPr/>
                    <a:lstStyle/>
                    <a:p>
                      <a:r>
                        <a:rPr sz="1875" b="0">
                          <a:solidFill>
                            <a:srgbClr val="102F40"/>
                          </a:solidFill>
                          <a:latin typeface="Malgun Gothic"/>
                          <a:ea typeface="Malgun Gothic"/>
                          <a:cs typeface="Malgun Gothic"/>
                        </a:rPr>
                        <a:t>2026.12</a:t>
                      </a:r>
                    </a:p>
                  </a:txBody>
                  <a:tcPr marL="142875" marR="123825" marT="123825" marB="95250" anchor="ctr">
                    <a:solidFill>
                      <a:srgbClr val="F6F7F4"/>
                    </a:solidFill>
                  </a:tcPr>
                </a:tc>
                <a:tc>
                  <a:txBody>
                    <a:bodyPr/>
                    <a:lstStyle/>
                    <a:p>
                      <a:r>
                        <a:rPr sz="1875" b="0">
                          <a:solidFill>
                            <a:srgbClr val="102F40"/>
                          </a:solidFill>
                          <a:latin typeface="Malgun Gothic"/>
                          <a:ea typeface="Malgun Gothic"/>
                          <a:cs typeface="Malgun Gothic"/>
                        </a:rPr>
                        <a:t>2,098,615명</a:t>
                      </a:r>
                    </a:p>
                  </a:txBody>
                  <a:tcPr marL="142875" marR="123825" marT="123825" marB="95250" anchor="ctr">
                    <a:solidFill>
                      <a:srgbClr val="F6F7F4"/>
                    </a:solidFill>
                  </a:tcPr>
                </a:tc>
                <a:tc>
                  <a:txBody>
                    <a:bodyPr/>
                    <a:lstStyle/>
                    <a:p>
                      <a:r>
                        <a:rPr sz="1875" b="0">
                          <a:solidFill>
                            <a:srgbClr val="102F40"/>
                          </a:solidFill>
                          <a:latin typeface="Malgun Gothic"/>
                          <a:ea typeface="Malgun Gothic"/>
                          <a:cs typeface="Malgun Gothic"/>
                        </a:rPr>
                        <a:t>700명</a:t>
                      </a:r>
                    </a:p>
                  </a:txBody>
                  <a:tcPr marL="142875" marR="123825" marT="123825" marB="95250" anchor="ctr">
                    <a:solidFill>
                      <a:srgbClr val="F6F7F4"/>
                    </a:solidFill>
                  </a:tcPr>
                </a:tc>
                <a:tc>
                  <a:txBody>
                    <a:bodyPr/>
                    <a:lstStyle/>
                    <a:p>
                      <a:r>
                        <a:rPr sz="1875" b="0">
                          <a:solidFill>
                            <a:srgbClr val="102F40"/>
                          </a:solidFill>
                          <a:latin typeface="Malgun Gothic"/>
                          <a:ea typeface="Malgun Gothic"/>
                          <a:cs typeface="Malgun Gothic"/>
                        </a:rPr>
                        <a:t>2,099,315명</a:t>
                      </a:r>
                    </a:p>
                  </a:txBody>
                  <a:tcPr marL="142875" marR="123825" marT="123825" marB="95250" anchor="ctr">
                    <a:solidFill>
                      <a:srgbClr val="F6F7F4"/>
                    </a:solidFill>
                  </a:tcPr>
                </a:tc>
              </a:tr>
              <a:tr h="590550">
                <a:tc>
                  <a:txBody>
                    <a:bodyPr/>
                    <a:lstStyle/>
                    <a:p>
                      <a:r>
                        <a:rPr sz="1875" b="0">
                          <a:solidFill>
                            <a:srgbClr val="102F40"/>
                          </a:solidFill>
                          <a:latin typeface="Malgun Gothic"/>
                          <a:ea typeface="Malgun Gothic"/>
                          <a:cs typeface="Malgun Gothic"/>
                        </a:rPr>
                        <a:t>2027.01</a:t>
                      </a:r>
                    </a:p>
                  </a:txBody>
                  <a:tcPr marL="142875" marR="123825" marT="123825" marB="95250" anchor="ctr">
                    <a:solidFill>
                      <a:srgbClr val="FFFFFF"/>
                    </a:solidFill>
                  </a:tcPr>
                </a:tc>
                <a:tc>
                  <a:txBody>
                    <a:bodyPr/>
                    <a:lstStyle/>
                    <a:p>
                      <a:r>
                        <a:rPr sz="1875" b="0">
                          <a:solidFill>
                            <a:srgbClr val="102F40"/>
                          </a:solidFill>
                          <a:latin typeface="Malgun Gothic"/>
                          <a:ea typeface="Malgun Gothic"/>
                          <a:cs typeface="Malgun Gothic"/>
                        </a:rPr>
                        <a:t>2,042,060명</a:t>
                      </a:r>
                    </a:p>
                  </a:txBody>
                  <a:tcPr marL="142875" marR="123825" marT="123825" marB="95250" anchor="ctr">
                    <a:solidFill>
                      <a:srgbClr val="FFFFFF"/>
                    </a:solidFill>
                  </a:tcPr>
                </a:tc>
                <a:tc>
                  <a:txBody>
                    <a:bodyPr/>
                    <a:lstStyle/>
                    <a:p>
                      <a:r>
                        <a:rPr sz="1875" b="0">
                          <a:solidFill>
                            <a:srgbClr val="102F40"/>
                          </a:solidFill>
                          <a:latin typeface="Malgun Gothic"/>
                          <a:ea typeface="Malgun Gothic"/>
                          <a:cs typeface="Malgun Gothic"/>
                        </a:rPr>
                        <a:t>1,021명</a:t>
                      </a:r>
                    </a:p>
                  </a:txBody>
                  <a:tcPr marL="142875" marR="123825" marT="123825" marB="95250" anchor="ctr">
                    <a:solidFill>
                      <a:srgbClr val="FFFFFF"/>
                    </a:solidFill>
                  </a:tcPr>
                </a:tc>
                <a:tc>
                  <a:txBody>
                    <a:bodyPr/>
                    <a:lstStyle/>
                    <a:p>
                      <a:r>
                        <a:rPr sz="1875" b="0">
                          <a:solidFill>
                            <a:srgbClr val="102F40"/>
                          </a:solidFill>
                          <a:latin typeface="Malgun Gothic"/>
                          <a:ea typeface="Malgun Gothic"/>
                          <a:cs typeface="Malgun Gothic"/>
                        </a:rPr>
                        <a:t>2,043,081명</a:t>
                      </a:r>
                    </a:p>
                  </a:txBody>
                  <a:tcPr marL="142875" marR="123825" marT="123825" marB="95250" anchor="ctr">
                    <a:solidFill>
                      <a:srgbClr val="FFFFFF"/>
                    </a:solidFill>
                  </a:tcPr>
                </a:tc>
              </a:tr>
              <a:tr h="590550">
                <a:tc>
                  <a:txBody>
                    <a:bodyPr/>
                    <a:lstStyle/>
                    <a:p>
                      <a:r>
                        <a:rPr sz="1875" b="0">
                          <a:solidFill>
                            <a:srgbClr val="102F40"/>
                          </a:solidFill>
                          <a:latin typeface="Malgun Gothic"/>
                          <a:ea typeface="Malgun Gothic"/>
                          <a:cs typeface="Malgun Gothic"/>
                        </a:rPr>
                        <a:t>월별 합계</a:t>
                      </a:r>
                    </a:p>
                  </a:txBody>
                  <a:tcPr marL="142875" marR="123825" marT="123825" marB="95250" anchor="ctr">
                    <a:solidFill>
                      <a:srgbClr val="F6F7F4"/>
                    </a:solidFill>
                  </a:tcPr>
                </a:tc>
                <a:tc>
                  <a:txBody>
                    <a:bodyPr/>
                    <a:lstStyle/>
                    <a:p>
                      <a:r>
                        <a:rPr sz="1875" b="0">
                          <a:solidFill>
                            <a:srgbClr val="102F40"/>
                          </a:solidFill>
                          <a:latin typeface="Malgun Gothic"/>
                          <a:ea typeface="Malgun Gothic"/>
                          <a:cs typeface="Malgun Gothic"/>
                        </a:rPr>
                        <a:t>6,772,990명</a:t>
                      </a:r>
                    </a:p>
                  </a:txBody>
                  <a:tcPr marL="142875" marR="123825" marT="123825" marB="95250" anchor="ctr">
                    <a:solidFill>
                      <a:srgbClr val="F6F7F4"/>
                    </a:solidFill>
                  </a:tcPr>
                </a:tc>
                <a:tc>
                  <a:txBody>
                    <a:bodyPr/>
                    <a:lstStyle/>
                    <a:p>
                      <a:r>
                        <a:rPr sz="1875" b="0">
                          <a:solidFill>
                            <a:srgbClr val="102F40"/>
                          </a:solidFill>
                          <a:latin typeface="Malgun Gothic"/>
                          <a:ea typeface="Malgun Gothic"/>
                          <a:cs typeface="Malgun Gothic"/>
                        </a:rPr>
                        <a:t>2,160명</a:t>
                      </a:r>
                    </a:p>
                  </a:txBody>
                  <a:tcPr marL="142875" marR="123825" marT="123825" marB="95250" anchor="ctr">
                    <a:solidFill>
                      <a:srgbClr val="F6F7F4"/>
                    </a:solidFill>
                  </a:tcPr>
                </a:tc>
                <a:tc>
                  <a:txBody>
                    <a:bodyPr/>
                    <a:lstStyle/>
                    <a:p>
                      <a:r>
                        <a:rPr sz="1875" b="0">
                          <a:solidFill>
                            <a:srgbClr val="102F40"/>
                          </a:solidFill>
                          <a:latin typeface="Malgun Gothic"/>
                          <a:ea typeface="Malgun Gothic"/>
                          <a:cs typeface="Malgun Gothic"/>
                        </a:rPr>
                        <a:t>6,775,150명</a:t>
                      </a:r>
                    </a:p>
                  </a:txBody>
                  <a:tcPr marL="142875" marR="123825" marT="123825" marB="95250" anchor="ctr">
                    <a:solidFill>
                      <a:srgbClr val="F6F7F4"/>
                    </a:solidFill>
                  </a:tcPr>
                </a:tc>
              </a:tr>
            </a:tbl>
          </a:graphicData>
        </a:graphic>
      </p:graphicFrame>
      <p:sp>
        <p:nvSpPr>
          <p:cNvPr id="8" name="text-6">
            <a:extLst xmlns:a="http://schemas.openxmlformats.org/drawingml/2006/main">
              <a:ext uri="{FF2B5EF4-FFF2-40B4-BE49-F238E27FC236}">
                <a16:creationId xmlns:a16="http://schemas.microsoft.com/office/drawing/2014/main" id="{BC52F323-B974-471A-85BE-03AC1A4EE765}"/>
              </a:ext>
            </a:extLst>
          </p:cNvPr>
          <p:cNvSpPr>
            <a:spLocks xmlns:a="http://schemas.openxmlformats.org/drawingml/2006/main" noGrp="1"/>
          </p:cNvSpPr>
          <p:nvPr/>
        </p:nvSpPr>
        <p:spPr>
          <a:xfrm xmlns:a="http://schemas.openxmlformats.org/drawingml/2006/main">
            <a:off x="571500" y="5438775"/>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87F82"/>
                </a:solidFill>
                <a:latin typeface="Malgun Gothic"/>
                <a:ea typeface="Malgun Gothic"/>
                <a:cs typeface="Malgun Gothic"/>
              </a:defRPr>
            </a:pPr>
            <a:r>
              <a:rPr sz="2175" b="1">
                <a:solidFill>
                  <a:srgbClr val="087F82"/>
                </a:solidFill>
                <a:latin typeface="Malgun Gothic"/>
                <a:ea typeface="Malgun Gothic"/>
                <a:cs typeface="Malgun Gothic"/>
              </a:rPr>
              <a:t>목표 합계 = ML 전망 합계 + 운영 가정으로 계산한 추가 목표</a:t>
            </a:r>
          </a:p>
        </p:txBody>
      </p:sp>
      <p:sp>
        <p:nvSpPr>
          <p:cNvPr id="9" name="text-7">
            <a:extLst xmlns:a="http://schemas.openxmlformats.org/drawingml/2006/main">
              <a:ext uri="{FF2B5EF4-FFF2-40B4-BE49-F238E27FC236}">
                <a16:creationId xmlns:a16="http://schemas.microsoft.com/office/drawing/2014/main" id="{0B609A5B-1740-499A-9764-F0C384D1F3BF}"/>
              </a:ext>
            </a:extLst>
          </p:cNvPr>
          <p:cNvSpPr>
            <a:spLocks xmlns:a="http://schemas.openxmlformats.org/drawingml/2006/main" noGrp="1"/>
          </p:cNvSpPr>
          <p:nvPr/>
        </p:nvSpPr>
        <p:spPr>
          <a:xfrm xmlns:a="http://schemas.openxmlformats.org/drawingml/2006/main">
            <a:off x="571500" y="59531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36B78"/>
                </a:solidFill>
                <a:latin typeface="Malgun Gothic"/>
                <a:ea typeface="Malgun Gothic"/>
                <a:cs typeface="Malgun Gothic"/>
              </a:defRPr>
            </a:pPr>
            <a:r>
              <a:rPr sz="1650" b="0">
                <a:solidFill>
                  <a:srgbClr val="536B78"/>
                </a:solidFill>
                <a:latin typeface="Malgun Gothic"/>
                <a:ea typeface="Malgun Gothic"/>
                <a:cs typeface="Malgun Gothic"/>
              </a:rPr>
              <a:t>월별 방문자 합계에는 월 간 중복 방문이 포함됩니다.</a:t>
            </a:r>
          </a:p>
        </p:txBody>
      </p:sp>
    </p:spTree>
    <p:extLst>
      <p:ext uri="{BB962C8B-B14F-4D97-AF65-F5344CB8AC3E}">
        <p14:creationId xmlns:p14="http://schemas.microsoft.com/office/powerpoint/2010/main" val="1486858979"/>
      </p:ext>
    </p:extLst>
  </p:cSld>
</p:sld>
</file>

<file path=ppt/slides/slide37.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8" name="text-0.34586790612353857">
            <a:extLst xmlns:a="http://schemas.openxmlformats.org/drawingml/2006/main">
              <a:ext uri="{FF2B5EF4-FFF2-40B4-BE49-F238E27FC236}">
                <a16:creationId xmlns:a16="http://schemas.microsoft.com/office/drawing/2014/main" id="{D0175B47-0D4A-4244-988E-7F0F753FDEEB}"/>
              </a:ext>
            </a:extLst>
          </p:cNvPr>
          <p:cNvSpPr>
            <a:spLocks xmlns:a="http://schemas.openxmlformats.org/drawingml/2006/main" noGrp="1"/>
          </p:cNvSpPr>
          <p:nvPr/>
        </p:nvSpPr>
        <p:spPr>
          <a:xfrm xmlns:a="http://schemas.openxmlformats.org/drawingml/2006/main">
            <a:off x="571500" y="3048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87F82"/>
                </a:solidFill>
                <a:latin typeface="Malgun Gothic"/>
                <a:ea typeface="Malgun Gothic"/>
                <a:cs typeface="Malgun Gothic"/>
              </a:defRPr>
            </a:pPr>
            <a:r>
              <a:rPr sz="1200" b="1">
                <a:solidFill>
                  <a:srgbClr val="087F82"/>
                </a:solidFill>
                <a:latin typeface="Malgun Gothic"/>
                <a:ea typeface="Malgun Gothic"/>
                <a:cs typeface="Malgun Gothic"/>
              </a:rPr>
              <a:t>06 검증과 운영</a:t>
            </a:r>
          </a:p>
        </p:txBody>
      </p:sp>
      <p:sp>
        <p:nvSpPr>
          <p:cNvPr id="2" name="text-1">
            <a:extLst xmlns:a="http://schemas.openxmlformats.org/drawingml/2006/main">
              <a:ext uri="{FF2B5EF4-FFF2-40B4-BE49-F238E27FC236}">
                <a16:creationId xmlns:a16="http://schemas.microsoft.com/office/drawing/2014/main" id="{5B5A8009-9646-4D21-8D85-0FD0C4B2A7A3}"/>
              </a:ext>
            </a:extLst>
          </p:cNvPr>
          <p:cNvSpPr>
            <a:spLocks xmlns:a="http://schemas.openxmlformats.org/drawingml/2006/main" noGrp="1"/>
          </p:cNvSpPr>
          <p:nvPr/>
        </p:nvSpPr>
        <p:spPr>
          <a:xfrm xmlns:a="http://schemas.openxmlformats.org/drawingml/2006/main">
            <a:off x="571500" y="76200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02F40"/>
                </a:solidFill>
                <a:latin typeface="Malgun Gothic"/>
                <a:ea typeface="Malgun Gothic"/>
                <a:cs typeface="Malgun Gothic"/>
              </a:defRPr>
            </a:pPr>
            <a:r>
              <a:rPr sz="3300" b="1">
                <a:solidFill>
                  <a:srgbClr val="102F40"/>
                </a:solidFill>
                <a:latin typeface="Malgun Gothic"/>
                <a:ea typeface="Malgun Gothic"/>
                <a:cs typeface="Malgun Gothic"/>
              </a:rPr>
              <a:t>검수는 숫자·근거·화면 동작을 나누어 확인합니다</a:t>
            </a:r>
          </a:p>
        </p:txBody>
      </p:sp>
      <p:sp>
        <p:nvSpPr>
          <p:cNvPr id="3" name="">
            <a:extLst xmlns:a="http://schemas.openxmlformats.org/drawingml/2006/main">
              <a:ext uri="{FF2B5EF4-FFF2-40B4-BE49-F238E27FC236}">
                <a16:creationId xmlns:a16="http://schemas.microsoft.com/office/drawing/2014/main" id="{EBA5EF58-A04C-48CE-9A66-2F9252730070}"/>
              </a:ext>
            </a:extLst>
          </p:cNvPr>
          <p:cNvSpPr>
            <a:spLocks xmlns:a="http://schemas.openxmlformats.org/drawingml/2006/main" noGrp="1"/>
          </p:cNvSpPr>
          <p:nvPr/>
        </p:nvSpPr>
        <p:spPr>
          <a:xfrm xmlns:a="http://schemas.openxmlformats.org/drawingml/2006/main">
            <a:off x="571500" y="6324600"/>
            <a:ext cx="11049000" cy="0"/>
          </a:xfrm>
          <a:prstGeom xmlns:a="http://schemas.openxmlformats.org/drawingml/2006/main" prst="line">
            <a:avLst/>
          </a:prstGeom>
          <a:noFill xmlns:a="http://schemas.openxmlformats.org/drawingml/2006/main"/>
          <a:ln xmlns:a="http://schemas.openxmlformats.org/drawingml/2006/main" w="9525">
            <a:solidFill>
              <a:srgbClr val="CDD8D9"/>
            </a:solidFill>
            <a:prstDash val="solid"/>
          </a:ln>
        </p:spPr>
      </p:sp>
      <p:sp>
        <p:nvSpPr>
          <p:cNvPr id="4" name="text-3">
            <a:extLst xmlns:a="http://schemas.openxmlformats.org/drawingml/2006/main">
              <a:ext uri="{FF2B5EF4-FFF2-40B4-BE49-F238E27FC236}">
                <a16:creationId xmlns:a16="http://schemas.microsoft.com/office/drawing/2014/main" id="{B9842FB9-A565-4FDD-B949-818EC5D33B20}"/>
              </a:ext>
            </a:extLst>
          </p:cNvPr>
          <p:cNvSpPr>
            <a:spLocks xmlns:a="http://schemas.openxmlformats.org/drawingml/2006/main" noGrp="1"/>
          </p:cNvSpPr>
          <p:nvPr/>
        </p:nvSpPr>
        <p:spPr>
          <a:xfrm xmlns:a="http://schemas.openxmlformats.org/drawingml/2006/main">
            <a:off x="571500" y="64960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36B78"/>
                </a:solidFill>
                <a:latin typeface="Arial"/>
                <a:ea typeface="Arial"/>
                <a:cs typeface="Arial"/>
              </a:defRPr>
            </a:pPr>
            <a:r>
              <a:rPr sz="1050" b="1">
                <a:solidFill>
                  <a:srgbClr val="536B78"/>
                </a:solidFill>
                <a:latin typeface="Arial"/>
                <a:ea typeface="Arial"/>
                <a:cs typeface="Arial"/>
              </a:rPr>
              <a:t>OLIGO-K</a:t>
            </a:r>
          </a:p>
        </p:txBody>
      </p:sp>
      <p:sp>
        <p:nvSpPr>
          <p:cNvPr id="5" name="text-4">
            <a:extLst xmlns:a="http://schemas.openxmlformats.org/drawingml/2006/main">
              <a:ext uri="{FF2B5EF4-FFF2-40B4-BE49-F238E27FC236}">
                <a16:creationId xmlns:a16="http://schemas.microsoft.com/office/drawing/2014/main" id="{8800CE32-75FC-4AB0-AB5E-9E25E1434B7B}"/>
              </a:ext>
            </a:extLst>
          </p:cNvPr>
          <p:cNvSpPr>
            <a:spLocks xmlns:a="http://schemas.openxmlformats.org/drawingml/2006/main" noGrp="1"/>
          </p:cNvSpPr>
          <p:nvPr/>
        </p:nvSpPr>
        <p:spPr>
          <a:xfrm xmlns:a="http://schemas.openxmlformats.org/drawingml/2006/main">
            <a:off x="11049000" y="64674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1">
                <a:solidFill>
                  <a:srgbClr val="087F82"/>
                </a:solidFill>
                <a:latin typeface="Arial"/>
                <a:ea typeface="Arial"/>
                <a:cs typeface="Arial"/>
              </a:defRPr>
            </a:pPr>
            <a:r>
              <a:rPr sz="1350" b="1">
                <a:solidFill>
                  <a:srgbClr val="087F82"/>
                </a:solidFill>
                <a:latin typeface="Arial"/>
                <a:ea typeface="Arial"/>
                <a:cs typeface="Arial"/>
              </a:rPr>
              <a:t>37</a:t>
            </a:r>
          </a:p>
        </p:txBody>
      </p:sp>
      <p:graphicFrame>
        <p:nvGraphicFramePr>
          <p:cNvPr id="13" name=""/>
          <p:cNvGraphicFramePr/>
          <p:nvPr/>
        </p:nvGraphicFramePr>
        <p:xfrm>
          <a:off xmlns:a="http://schemas.openxmlformats.org/drawingml/2006/main" x="571500" y="2124075"/>
          <a:ext xmlns:a="http://schemas.openxmlformats.org/drawingml/2006/main" cx="11049000" cy="3324225"/>
        </p:xfrm>
        <a:graphic xmlns:a="http://schemas.openxmlformats.org/drawingml/2006/main">
          <a:graphicData uri="http://schemas.openxmlformats.org/drawingml/2006/table">
            <a:tbl>
              <a:tblPr firstRow="1" bandRow="0"/>
              <a:tblGrid>
                <a:gridCol w="2381250"/>
                <a:gridCol w="4429125"/>
                <a:gridCol w="4238625"/>
              </a:tblGrid>
              <a:tr h="664845">
                <a:tc>
                  <a:txBody>
                    <a:bodyPr/>
                    <a:lstStyle/>
                    <a:p>
                      <a:r>
                        <a:rPr sz="1800" b="1">
                          <a:solidFill>
                            <a:srgbClr val="FFFFFF"/>
                          </a:solidFill>
                          <a:latin typeface="Malgun Gothic"/>
                          <a:ea typeface="Malgun Gothic"/>
                          <a:cs typeface="Malgun Gothic"/>
                        </a:rPr>
                        <a:t>검수 층</a:t>
                      </a:r>
                    </a:p>
                  </a:txBody>
                  <a:tcPr marL="142875" marR="123825" marT="123825" marB="95250" anchor="ctr">
                    <a:solidFill>
                      <a:srgbClr val="102F40"/>
                    </a:solidFill>
                  </a:tcPr>
                </a:tc>
                <a:tc>
                  <a:txBody>
                    <a:bodyPr/>
                    <a:lstStyle/>
                    <a:p>
                      <a:r>
                        <a:rPr sz="1800" b="1">
                          <a:solidFill>
                            <a:srgbClr val="FFFFFF"/>
                          </a:solidFill>
                          <a:latin typeface="Malgun Gothic"/>
                          <a:ea typeface="Malgun Gothic"/>
                          <a:cs typeface="Malgun Gothic"/>
                        </a:rPr>
                        <a:t>확인하는 것</a:t>
                      </a:r>
                    </a:p>
                  </a:txBody>
                  <a:tcPr marL="142875" marR="123825" marT="123825" marB="95250" anchor="ctr">
                    <a:solidFill>
                      <a:srgbClr val="102F40"/>
                    </a:solidFill>
                  </a:tcPr>
                </a:tc>
                <a:tc>
                  <a:txBody>
                    <a:bodyPr/>
                    <a:lstStyle/>
                    <a:p>
                      <a:r>
                        <a:rPr sz="1800" b="1">
                          <a:solidFill>
                            <a:srgbClr val="FFFFFF"/>
                          </a:solidFill>
                          <a:latin typeface="Malgun Gothic"/>
                          <a:ea typeface="Malgun Gothic"/>
                          <a:cs typeface="Malgun Gothic"/>
                        </a:rPr>
                        <a:t>현재 증빙</a:t>
                      </a:r>
                    </a:p>
                  </a:txBody>
                  <a:tcPr marL="142875" marR="123825" marT="123825" marB="95250" anchor="ctr">
                    <a:solidFill>
                      <a:srgbClr val="102F40"/>
                    </a:solidFill>
                  </a:tcPr>
                </a:tc>
              </a:tr>
              <a:tr h="664845">
                <a:tc>
                  <a:txBody>
                    <a:bodyPr/>
                    <a:lstStyle/>
                    <a:p>
                      <a:r>
                        <a:rPr sz="1800" b="0">
                          <a:solidFill>
                            <a:srgbClr val="102F40"/>
                          </a:solidFill>
                          <a:latin typeface="Malgun Gothic"/>
                          <a:ea typeface="Malgun Gothic"/>
                          <a:cs typeface="Malgun Gothic"/>
                        </a:rPr>
                        <a:t>구조와 계산</a:t>
                      </a:r>
                    </a:p>
                  </a:txBody>
                  <a:tcPr marL="142875" marR="123825" marT="123825" marB="95250" anchor="ctr">
                    <a:solidFill>
                      <a:srgbClr val="FFFFFF"/>
                    </a:solidFill>
                  </a:tcPr>
                </a:tc>
                <a:tc>
                  <a:txBody>
                    <a:bodyPr/>
                    <a:lstStyle/>
                    <a:p>
                      <a:r>
                        <a:rPr sz="1800" b="0">
                          <a:solidFill>
                            <a:srgbClr val="102F40"/>
                          </a:solidFill>
                          <a:latin typeface="Malgun Gothic"/>
                          <a:ea typeface="Malgun Gothic"/>
                          <a:cs typeface="Malgun Gothic"/>
                        </a:rPr>
                        <a:t>JSON Schema·산식·출처 연결</a:t>
                      </a:r>
                    </a:p>
                  </a:txBody>
                  <a:tcPr marL="142875" marR="123825" marT="123825" marB="95250" anchor="ctr">
                    <a:solidFill>
                      <a:srgbClr val="FFFFFF"/>
                    </a:solidFill>
                  </a:tcPr>
                </a:tc>
                <a:tc>
                  <a:txBody>
                    <a:bodyPr/>
                    <a:lstStyle/>
                    <a:p>
                      <a:r>
                        <a:rPr sz="1800" b="0">
                          <a:solidFill>
                            <a:srgbClr val="102F40"/>
                          </a:solidFill>
                          <a:latin typeface="Malgun Gothic"/>
                          <a:ea typeface="Malgun Gothic"/>
                          <a:cs typeface="Malgun Gothic"/>
                        </a:rPr>
                        <a:t>Pydantic와 결정적 품질 검사</a:t>
                      </a:r>
                    </a:p>
                  </a:txBody>
                  <a:tcPr marL="142875" marR="123825" marT="123825" marB="95250" anchor="ctr">
                    <a:solidFill>
                      <a:srgbClr val="FFFFFF"/>
                    </a:solidFill>
                  </a:tcPr>
                </a:tc>
              </a:tr>
              <a:tr h="664845">
                <a:tc>
                  <a:txBody>
                    <a:bodyPr/>
                    <a:lstStyle/>
                    <a:p>
                      <a:r>
                        <a:rPr sz="1800" b="0">
                          <a:solidFill>
                            <a:srgbClr val="102F40"/>
                          </a:solidFill>
                          <a:latin typeface="Malgun Gothic"/>
                          <a:ea typeface="Malgun Gothic"/>
                          <a:cs typeface="Malgun Gothic"/>
                        </a:rPr>
                        <a:t>내용 품질</a:t>
                      </a:r>
                    </a:p>
                  </a:txBody>
                  <a:tcPr marL="142875" marR="123825" marT="123825" marB="95250" anchor="ctr">
                    <a:solidFill>
                      <a:srgbClr val="F6F7F4"/>
                    </a:solidFill>
                  </a:tcPr>
                </a:tc>
                <a:tc>
                  <a:txBody>
                    <a:bodyPr/>
                    <a:lstStyle/>
                    <a:p>
                      <a:r>
                        <a:rPr sz="1800" b="0">
                          <a:solidFill>
                            <a:srgbClr val="102F40"/>
                          </a:solidFill>
                          <a:latin typeface="Malgun Gothic"/>
                          <a:ea typeface="Malgun Gothic"/>
                          <a:cs typeface="Malgun Gothic"/>
                        </a:rPr>
                        <a:t>사례 오용·실행 조건·보완 필요</a:t>
                      </a:r>
                    </a:p>
                  </a:txBody>
                  <a:tcPr marL="142875" marR="123825" marT="123825" marB="95250" anchor="ctr">
                    <a:solidFill>
                      <a:srgbClr val="F6F7F4"/>
                    </a:solidFill>
                  </a:tcPr>
                </a:tc>
                <a:tc>
                  <a:txBody>
                    <a:bodyPr/>
                    <a:lstStyle/>
                    <a:p>
                      <a:r>
                        <a:rPr sz="1800" b="0">
                          <a:solidFill>
                            <a:srgbClr val="102F40"/>
                          </a:solidFill>
                          <a:latin typeface="Malgun Gothic"/>
                          <a:ea typeface="Malgun Gothic"/>
                          <a:cs typeface="Malgun Gothic"/>
                        </a:rPr>
                        <a:t>Reviewer 점수·권고·검수 상태</a:t>
                      </a:r>
                    </a:p>
                  </a:txBody>
                  <a:tcPr marL="142875" marR="123825" marT="123825" marB="95250" anchor="ctr">
                    <a:solidFill>
                      <a:srgbClr val="F6F7F4"/>
                    </a:solidFill>
                  </a:tcPr>
                </a:tc>
              </a:tr>
              <a:tr h="664845">
                <a:tc>
                  <a:txBody>
                    <a:bodyPr/>
                    <a:lstStyle/>
                    <a:p>
                      <a:r>
                        <a:rPr sz="1800" b="0">
                          <a:solidFill>
                            <a:srgbClr val="102F40"/>
                          </a:solidFill>
                          <a:latin typeface="Malgun Gothic"/>
                          <a:ea typeface="Malgun Gothic"/>
                          <a:cs typeface="Malgun Gothic"/>
                        </a:rPr>
                        <a:t>화면과 출력</a:t>
                      </a:r>
                    </a:p>
                  </a:txBody>
                  <a:tcPr marL="142875" marR="123825" marT="123825" marB="95250" anchor="ctr">
                    <a:solidFill>
                      <a:srgbClr val="FFFFFF"/>
                    </a:solidFill>
                  </a:tcPr>
                </a:tc>
                <a:tc>
                  <a:txBody>
                    <a:bodyPr/>
                    <a:lstStyle/>
                    <a:p>
                      <a:r>
                        <a:rPr sz="1800" b="0">
                          <a:solidFill>
                            <a:srgbClr val="102F40"/>
                          </a:solidFill>
                          <a:latin typeface="Malgun Gothic"/>
                          <a:ea typeface="Malgun Gothic"/>
                          <a:cs typeface="Malgun Gothic"/>
                        </a:rPr>
                        <a:t>저장 순서·미리보기·챗봇 상태</a:t>
                      </a:r>
                    </a:p>
                  </a:txBody>
                  <a:tcPr marL="142875" marR="123825" marT="123825" marB="95250" anchor="ctr">
                    <a:solidFill>
                      <a:srgbClr val="FFFFFF"/>
                    </a:solidFill>
                  </a:tcPr>
                </a:tc>
                <a:tc>
                  <a:txBody>
                    <a:bodyPr/>
                    <a:lstStyle/>
                    <a:p>
                      <a:r>
                        <a:rPr sz="1800" b="0">
                          <a:solidFill>
                            <a:srgbClr val="102F40"/>
                          </a:solidFill>
                          <a:latin typeface="Malgun Gothic"/>
                          <a:ea typeface="Malgun Gothic"/>
                          <a:cs typeface="Malgun Gothic"/>
                        </a:rPr>
                        <a:t>Node 검사 28개, 관련 재검사 18개</a:t>
                      </a:r>
                    </a:p>
                  </a:txBody>
                  <a:tcPr marL="142875" marR="123825" marT="123825" marB="95250" anchor="ctr">
                    <a:solidFill>
                      <a:srgbClr val="FFFFFF"/>
                    </a:solidFill>
                  </a:tcPr>
                </a:tc>
              </a:tr>
              <a:tr h="664845">
                <a:tc>
                  <a:txBody>
                    <a:bodyPr/>
                    <a:lstStyle/>
                    <a:p>
                      <a:r>
                        <a:rPr sz="1800" b="0">
                          <a:solidFill>
                            <a:srgbClr val="102F40"/>
                          </a:solidFill>
                          <a:latin typeface="Malgun Gothic"/>
                          <a:ea typeface="Malgun Gothic"/>
                          <a:cs typeface="Malgun Gothic"/>
                        </a:rPr>
                        <a:t>실제 생성</a:t>
                      </a:r>
                    </a:p>
                  </a:txBody>
                  <a:tcPr marL="142875" marR="123825" marT="123825" marB="95250" anchor="ctr">
                    <a:solidFill>
                      <a:srgbClr val="F6F7F4"/>
                    </a:solidFill>
                  </a:tcPr>
                </a:tc>
                <a:tc>
                  <a:txBody>
                    <a:bodyPr/>
                    <a:lstStyle/>
                    <a:p>
                      <a:r>
                        <a:rPr sz="1800" b="0">
                          <a:solidFill>
                            <a:srgbClr val="102F40"/>
                          </a:solidFill>
                          <a:latin typeface="Malgun Gothic"/>
                          <a:ea typeface="Malgun Gothic"/>
                          <a:cs typeface="Malgun Gothic"/>
                        </a:rPr>
                        <a:t>모델 응답·조사 품질·문서 완성도</a:t>
                      </a:r>
                    </a:p>
                  </a:txBody>
                  <a:tcPr marL="142875" marR="123825" marT="123825" marB="95250" anchor="ctr">
                    <a:solidFill>
                      <a:srgbClr val="F6F7F4"/>
                    </a:solidFill>
                  </a:tcPr>
                </a:tc>
                <a:tc>
                  <a:txBody>
                    <a:bodyPr/>
                    <a:lstStyle/>
                    <a:p>
                      <a:r>
                        <a:rPr sz="1800" b="0">
                          <a:solidFill>
                            <a:srgbClr val="102F40"/>
                          </a:solidFill>
                          <a:latin typeface="Malgun Gothic"/>
                          <a:ea typeface="Malgun Gothic"/>
                          <a:cs typeface="Malgun Gothic"/>
                        </a:rPr>
                        <a:t>저장된 생성안 검토</a:t>
                      </a:r>
                    </a:p>
                    <a:p>
                      <a:r>
                        <a:rPr sz="1800" b="0">
                          <a:solidFill>
                            <a:srgbClr val="102F40"/>
                          </a:solidFill>
                          <a:latin typeface="Malgun Gothic"/>
                          <a:ea typeface="Malgun Gothic"/>
                          <a:cs typeface="Malgun Gothic"/>
                        </a:rPr>
                        <a:t>배포 후 새 생성 검증 예정</a:t>
                      </a:r>
                    </a:p>
                  </a:txBody>
                  <a:tcPr marL="142875" marR="123825" marT="123825" marB="95250" anchor="ctr">
                    <a:solidFill>
                      <a:srgbClr val="F6F7F4"/>
                    </a:solidFill>
                  </a:tcPr>
                </a:tc>
              </a:tr>
            </a:tbl>
          </a:graphicData>
        </a:graphic>
      </p:graphicFrame>
      <p:sp>
        <p:nvSpPr>
          <p:cNvPr id="7" name="text-5">
            <a:extLst xmlns:a="http://schemas.openxmlformats.org/drawingml/2006/main">
              <a:ext uri="{FF2B5EF4-FFF2-40B4-BE49-F238E27FC236}">
                <a16:creationId xmlns:a16="http://schemas.microsoft.com/office/drawing/2014/main" id="{C79F76FA-F6EB-4A73-87C3-062AB415EE68}"/>
              </a:ext>
            </a:extLst>
          </p:cNvPr>
          <p:cNvSpPr>
            <a:spLocks xmlns:a="http://schemas.openxmlformats.org/drawingml/2006/main" noGrp="1"/>
          </p:cNvSpPr>
          <p:nvPr/>
        </p:nvSpPr>
        <p:spPr>
          <a:xfrm xmlns:a="http://schemas.openxmlformats.org/drawingml/2006/main">
            <a:off x="571500" y="581977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87F82"/>
                </a:solidFill>
                <a:latin typeface="Malgun Gothic"/>
                <a:ea typeface="Malgun Gothic"/>
                <a:cs typeface="Malgun Gothic"/>
              </a:defRPr>
            </a:pPr>
            <a:r>
              <a:rPr sz="1875" b="1">
                <a:solidFill>
                  <a:srgbClr val="087F82"/>
                </a:solidFill>
                <a:latin typeface="Malgun Gothic"/>
                <a:ea typeface="Malgun Gothic"/>
                <a:cs typeface="Malgun Gothic"/>
              </a:rPr>
              <a:t>연결 정상이나 자동 검수 점수만으로 기획서 품질을 확정하지 않습니다.</a:t>
            </a:r>
          </a:p>
        </p:txBody>
      </p:sp>
    </p:spTree>
    <p:extLst>
      <p:ext uri="{BB962C8B-B14F-4D97-AF65-F5344CB8AC3E}">
        <p14:creationId xmlns:p14="http://schemas.microsoft.com/office/powerpoint/2010/main" val="1392828064"/>
      </p:ext>
    </p:extLst>
  </p:cSld>
</p:sld>
</file>

<file path=ppt/slides/slide38.xml><?xml version="1.0" encoding="utf-8"?>
<p:sld xmlns:p="http://schemas.openxmlformats.org/presentationml/2006/main">
  <p:cSld>
    <p:bg>
      <p:bgPr>
        <a:solidFill xmlns:a="http://schemas.openxmlformats.org/drawingml/2006/main">
          <a:srgbClr val="092638"/>
        </a:solidFill>
      </p:bgPr>
    </p:bg>
    <p:spTree>
      <p:nvGrpSpPr>
        <p:cNvPr id="1" name=""/>
        <p:cNvGrpSpPr/>
        <p:nvPr/>
      </p:nvGrpSpPr>
      <p:grpSpPr>
        <a:xfrm xmlns:a="http://schemas.openxmlformats.org/drawingml/2006/main"/>
      </p:grpSpPr>
      <p:sp>
        <p:nvSpPr>
          <p:cNvPr id="18" name="text-0.5872725575768443">
            <a:extLst xmlns:a="http://schemas.openxmlformats.org/drawingml/2006/main">
              <a:ext uri="{FF2B5EF4-FFF2-40B4-BE49-F238E27FC236}">
                <a16:creationId xmlns:a16="http://schemas.microsoft.com/office/drawing/2014/main" id="{0CB7A0D2-72FC-42A6-892F-9649F0599FA4}"/>
              </a:ext>
            </a:extLst>
          </p:cNvPr>
          <p:cNvSpPr>
            <a:spLocks xmlns:a="http://schemas.openxmlformats.org/drawingml/2006/main" noGrp="1"/>
          </p:cNvSpPr>
          <p:nvPr/>
        </p:nvSpPr>
        <p:spPr>
          <a:xfrm xmlns:a="http://schemas.openxmlformats.org/drawingml/2006/main">
            <a:off x="571500" y="3048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69D5C3"/>
                </a:solidFill>
                <a:latin typeface="Malgun Gothic"/>
                <a:ea typeface="Malgun Gothic"/>
                <a:cs typeface="Malgun Gothic"/>
              </a:defRPr>
            </a:pPr>
            <a:r>
              <a:rPr sz="1200" b="1">
                <a:solidFill>
                  <a:srgbClr val="69D5C3"/>
                </a:solidFill>
                <a:latin typeface="Malgun Gothic"/>
                <a:ea typeface="Malgun Gothic"/>
                <a:cs typeface="Malgun Gothic"/>
              </a:rPr>
              <a:t>06 검증과 운영</a:t>
            </a:r>
          </a:p>
        </p:txBody>
      </p:sp>
      <p:sp>
        <p:nvSpPr>
          <p:cNvPr id="2" name="text-1">
            <a:extLst xmlns:a="http://schemas.openxmlformats.org/drawingml/2006/main">
              <a:ext uri="{FF2B5EF4-FFF2-40B4-BE49-F238E27FC236}">
                <a16:creationId xmlns:a16="http://schemas.microsoft.com/office/drawing/2014/main" id="{842C5964-EB5B-4D6B-915C-AF70E0B45223}"/>
              </a:ext>
            </a:extLst>
          </p:cNvPr>
          <p:cNvSpPr>
            <a:spLocks xmlns:a="http://schemas.openxmlformats.org/drawingml/2006/main" noGrp="1"/>
          </p:cNvSpPr>
          <p:nvPr/>
        </p:nvSpPr>
        <p:spPr>
          <a:xfrm xmlns:a="http://schemas.openxmlformats.org/drawingml/2006/main">
            <a:off x="571500" y="76200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Malgun Gothic"/>
                <a:ea typeface="Malgun Gothic"/>
                <a:cs typeface="Malgun Gothic"/>
              </a:defRPr>
            </a:pPr>
            <a:r>
              <a:rPr sz="3300" b="1">
                <a:solidFill>
                  <a:srgbClr val="FFFFFF"/>
                </a:solidFill>
                <a:latin typeface="Malgun Gothic"/>
                <a:ea typeface="Malgun Gothic"/>
                <a:cs typeface="Malgun Gothic"/>
              </a:rPr>
              <a:t>AWS EC2에서 웹과 API를 함께 운영합니다</a:t>
            </a:r>
          </a:p>
        </p:txBody>
      </p:sp>
      <p:sp>
        <p:nvSpPr>
          <p:cNvPr id="3" name="text-2">
            <a:extLst xmlns:a="http://schemas.openxmlformats.org/drawingml/2006/main">
              <a:ext uri="{FF2B5EF4-FFF2-40B4-BE49-F238E27FC236}">
                <a16:creationId xmlns:a16="http://schemas.microsoft.com/office/drawing/2014/main" id="{13556930-8522-43E6-A345-99C22AC40A10}"/>
              </a:ext>
            </a:extLst>
          </p:cNvPr>
          <p:cNvSpPr>
            <a:spLocks xmlns:a="http://schemas.openxmlformats.org/drawingml/2006/main" noGrp="1"/>
          </p:cNvSpPr>
          <p:nvPr/>
        </p:nvSpPr>
        <p:spPr>
          <a:xfrm xmlns:a="http://schemas.openxmlformats.org/drawingml/2006/main">
            <a:off x="571500" y="14954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BAD2DA"/>
                </a:solidFill>
                <a:latin typeface="Malgun Gothic"/>
                <a:ea typeface="Malgun Gothic"/>
                <a:cs typeface="Malgun Gothic"/>
              </a:defRPr>
            </a:pPr>
            <a:r>
              <a:rPr sz="1725" b="0">
                <a:solidFill>
                  <a:srgbClr val="BAD2DA"/>
                </a:solidFill>
                <a:latin typeface="Malgun Gothic"/>
                <a:ea typeface="Malgun Gothic"/>
                <a:cs typeface="Malgun Gothic"/>
              </a:rPr>
              <a:t>2026.09.20 배포 확인 기록 기준</a:t>
            </a:r>
          </a:p>
        </p:txBody>
      </p:sp>
      <p:sp>
        <p:nvSpPr>
          <p:cNvPr id="4" name="">
            <a:extLst xmlns:a="http://schemas.openxmlformats.org/drawingml/2006/main">
              <a:ext uri="{FF2B5EF4-FFF2-40B4-BE49-F238E27FC236}">
                <a16:creationId xmlns:a16="http://schemas.microsoft.com/office/drawing/2014/main" id="{8FFB8E7D-408E-4BC3-B50D-4053E7A2D0FD}"/>
              </a:ext>
            </a:extLst>
          </p:cNvPr>
          <p:cNvSpPr>
            <a:spLocks xmlns:a="http://schemas.openxmlformats.org/drawingml/2006/main" noGrp="1"/>
          </p:cNvSpPr>
          <p:nvPr/>
        </p:nvSpPr>
        <p:spPr>
          <a:xfrm xmlns:a="http://schemas.openxmlformats.org/drawingml/2006/main">
            <a:off x="571500" y="6324600"/>
            <a:ext cx="11049000" cy="0"/>
          </a:xfrm>
          <a:prstGeom xmlns:a="http://schemas.openxmlformats.org/drawingml/2006/main" prst="line">
            <a:avLst/>
          </a:prstGeom>
          <a:noFill xmlns:a="http://schemas.openxmlformats.org/drawingml/2006/main"/>
          <a:ln xmlns:a="http://schemas.openxmlformats.org/drawingml/2006/main" w="9525">
            <a:solidFill>
              <a:srgbClr val="2A4959"/>
            </a:solidFill>
            <a:prstDash val="solid"/>
          </a:ln>
        </p:spPr>
      </p:sp>
      <p:sp>
        <p:nvSpPr>
          <p:cNvPr id="5" name="text-4">
            <a:extLst xmlns:a="http://schemas.openxmlformats.org/drawingml/2006/main">
              <a:ext uri="{FF2B5EF4-FFF2-40B4-BE49-F238E27FC236}">
                <a16:creationId xmlns:a16="http://schemas.microsoft.com/office/drawing/2014/main" id="{3AB47F0B-FDA8-403A-9D1D-B7462BA97D3D}"/>
              </a:ext>
            </a:extLst>
          </p:cNvPr>
          <p:cNvSpPr>
            <a:spLocks xmlns:a="http://schemas.openxmlformats.org/drawingml/2006/main" noGrp="1"/>
          </p:cNvSpPr>
          <p:nvPr/>
        </p:nvSpPr>
        <p:spPr>
          <a:xfrm xmlns:a="http://schemas.openxmlformats.org/drawingml/2006/main">
            <a:off x="571500" y="64960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8CAAB8"/>
                </a:solidFill>
                <a:latin typeface="Arial"/>
                <a:ea typeface="Arial"/>
                <a:cs typeface="Arial"/>
              </a:defRPr>
            </a:pPr>
            <a:r>
              <a:rPr sz="1050" b="1">
                <a:solidFill>
                  <a:srgbClr val="8CAAB8"/>
                </a:solidFill>
                <a:latin typeface="Arial"/>
                <a:ea typeface="Arial"/>
                <a:cs typeface="Arial"/>
              </a:rPr>
              <a:t>OLIGO-K</a:t>
            </a:r>
          </a:p>
        </p:txBody>
      </p:sp>
      <p:sp>
        <p:nvSpPr>
          <p:cNvPr id="6" name="text-5">
            <a:extLst xmlns:a="http://schemas.openxmlformats.org/drawingml/2006/main">
              <a:ext uri="{FF2B5EF4-FFF2-40B4-BE49-F238E27FC236}">
                <a16:creationId xmlns:a16="http://schemas.microsoft.com/office/drawing/2014/main" id="{314A82E6-A00B-4172-9B5C-F4C3D089B9E7}"/>
              </a:ext>
            </a:extLst>
          </p:cNvPr>
          <p:cNvSpPr>
            <a:spLocks xmlns:a="http://schemas.openxmlformats.org/drawingml/2006/main" noGrp="1"/>
          </p:cNvSpPr>
          <p:nvPr/>
        </p:nvSpPr>
        <p:spPr>
          <a:xfrm xmlns:a="http://schemas.openxmlformats.org/drawingml/2006/main">
            <a:off x="11049000" y="64674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1">
                <a:solidFill>
                  <a:srgbClr val="69D5C3"/>
                </a:solidFill>
                <a:latin typeface="Arial"/>
                <a:ea typeface="Arial"/>
                <a:cs typeface="Arial"/>
              </a:defRPr>
            </a:pPr>
            <a:r>
              <a:rPr sz="1350" b="1">
                <a:solidFill>
                  <a:srgbClr val="69D5C3"/>
                </a:solidFill>
                <a:latin typeface="Arial"/>
                <a:ea typeface="Arial"/>
                <a:cs typeface="Arial"/>
              </a:rPr>
              <a:t>38</a:t>
            </a:r>
          </a:p>
        </p:txBody>
      </p:sp>
      <p:sp>
        <p:nvSpPr>
          <p:cNvPr id="7" name="">
            <a:extLst xmlns:a="http://schemas.openxmlformats.org/drawingml/2006/main">
              <a:ext uri="{FF2B5EF4-FFF2-40B4-BE49-F238E27FC236}">
                <a16:creationId xmlns:a16="http://schemas.microsoft.com/office/drawing/2014/main" id="{D93DF5D2-49EA-461D-9F7D-DA37CC86D510}"/>
              </a:ext>
            </a:extLst>
          </p:cNvPr>
          <p:cNvSpPr>
            <a:spLocks xmlns:a="http://schemas.openxmlformats.org/drawingml/2006/main" noGrp="1"/>
          </p:cNvSpPr>
          <p:nvPr/>
        </p:nvSpPr>
        <p:spPr>
          <a:xfrm xmlns:a="http://schemas.openxmlformats.org/drawingml/2006/main">
            <a:off x="571500" y="2400300"/>
            <a:ext cx="2905125" cy="1238250"/>
          </a:xfrm>
          <a:prstGeom xmlns:a="http://schemas.openxmlformats.org/drawingml/2006/main" prst="rect">
            <a:avLst/>
          </a:prstGeom>
          <a:solidFill xmlns:a="http://schemas.openxmlformats.org/drawingml/2006/main">
            <a:srgbClr val="087F82"/>
          </a:solidFill>
          <a:ln xmlns:a="http://schemas.openxmlformats.org/drawingml/2006/main" w="9525">
            <a:solidFill>
              <a:srgbClr val="366273"/>
            </a:solidFill>
          </a:ln>
        </p:spPr>
      </p:sp>
      <p:sp>
        <p:nvSpPr>
          <p:cNvPr id="8" name="text-7">
            <a:extLst xmlns:a="http://schemas.openxmlformats.org/drawingml/2006/main">
              <a:ext uri="{FF2B5EF4-FFF2-40B4-BE49-F238E27FC236}">
                <a16:creationId xmlns:a16="http://schemas.microsoft.com/office/drawing/2014/main" id="{ECA09120-1227-4ADF-BFEA-4F3723A2FF90}"/>
              </a:ext>
            </a:extLst>
          </p:cNvPr>
          <p:cNvSpPr>
            <a:spLocks xmlns:a="http://schemas.openxmlformats.org/drawingml/2006/main" noGrp="1"/>
          </p:cNvSpPr>
          <p:nvPr/>
        </p:nvSpPr>
        <p:spPr>
          <a:xfrm xmlns:a="http://schemas.openxmlformats.org/drawingml/2006/main">
            <a:off x="723900" y="2581275"/>
            <a:ext cx="26003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탄력적 IP</a:t>
            </a:r>
          </a:p>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13.124.160.185</a:t>
            </a:r>
          </a:p>
        </p:txBody>
      </p:sp>
      <p:sp>
        <p:nvSpPr>
          <p:cNvPr id="9" name="">
            <a:extLst xmlns:a="http://schemas.openxmlformats.org/drawingml/2006/main">
              <a:ext uri="{FF2B5EF4-FFF2-40B4-BE49-F238E27FC236}">
                <a16:creationId xmlns:a16="http://schemas.microsoft.com/office/drawing/2014/main" id="{54858645-ABDB-43FF-80F5-8D8B0BC197D3}"/>
              </a:ext>
            </a:extLst>
          </p:cNvPr>
          <p:cNvSpPr>
            <a:spLocks xmlns:a="http://schemas.openxmlformats.org/drawingml/2006/main" noGrp="1"/>
          </p:cNvSpPr>
          <p:nvPr/>
        </p:nvSpPr>
        <p:spPr>
          <a:xfrm xmlns:a="http://schemas.openxmlformats.org/drawingml/2006/main">
            <a:off x="4610100" y="2400300"/>
            <a:ext cx="3000375" cy="1238250"/>
          </a:xfrm>
          <a:prstGeom xmlns:a="http://schemas.openxmlformats.org/drawingml/2006/main" prst="rect">
            <a:avLst/>
          </a:prstGeom>
          <a:solidFill xmlns:a="http://schemas.openxmlformats.org/drawingml/2006/main">
            <a:srgbClr val="163B4C"/>
          </a:solidFill>
          <a:ln xmlns:a="http://schemas.openxmlformats.org/drawingml/2006/main" w="9525">
            <a:solidFill>
              <a:srgbClr val="366273"/>
            </a:solidFill>
          </a:ln>
        </p:spPr>
      </p:sp>
      <p:sp>
        <p:nvSpPr>
          <p:cNvPr id="10" name="text-9">
            <a:extLst xmlns:a="http://schemas.openxmlformats.org/drawingml/2006/main">
              <a:ext uri="{FF2B5EF4-FFF2-40B4-BE49-F238E27FC236}">
                <a16:creationId xmlns:a16="http://schemas.microsoft.com/office/drawing/2014/main" id="{E8193B3E-5961-4899-BA1B-2ECF23BFCA7D}"/>
              </a:ext>
            </a:extLst>
          </p:cNvPr>
          <p:cNvSpPr>
            <a:spLocks xmlns:a="http://schemas.openxmlformats.org/drawingml/2006/main" noGrp="1"/>
          </p:cNvSpPr>
          <p:nvPr/>
        </p:nvSpPr>
        <p:spPr>
          <a:xfrm xmlns:a="http://schemas.openxmlformats.org/drawingml/2006/main">
            <a:off x="4762500" y="2581275"/>
            <a:ext cx="26955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Nginx</a:t>
            </a:r>
          </a:p>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React · API · AI</a:t>
            </a:r>
          </a:p>
        </p:txBody>
      </p:sp>
      <p:sp>
        <p:nvSpPr>
          <p:cNvPr id="11" name="">
            <a:extLst xmlns:a="http://schemas.openxmlformats.org/drawingml/2006/main">
              <a:ext uri="{FF2B5EF4-FFF2-40B4-BE49-F238E27FC236}">
                <a16:creationId xmlns:a16="http://schemas.microsoft.com/office/drawing/2014/main" id="{4C543B72-A905-4796-AF7F-1AF54902F684}"/>
              </a:ext>
            </a:extLst>
          </p:cNvPr>
          <p:cNvSpPr>
            <a:spLocks xmlns:a="http://schemas.openxmlformats.org/drawingml/2006/main" noGrp="1"/>
          </p:cNvSpPr>
          <p:nvPr/>
        </p:nvSpPr>
        <p:spPr>
          <a:xfrm xmlns:a="http://schemas.openxmlformats.org/drawingml/2006/main">
            <a:off x="8743950" y="2400300"/>
            <a:ext cx="2838450" cy="1238250"/>
          </a:xfrm>
          <a:prstGeom xmlns:a="http://schemas.openxmlformats.org/drawingml/2006/main" prst="rect">
            <a:avLst/>
          </a:prstGeom>
          <a:solidFill xmlns:a="http://schemas.openxmlformats.org/drawingml/2006/main">
            <a:srgbClr val="163B4C"/>
          </a:solidFill>
          <a:ln xmlns:a="http://schemas.openxmlformats.org/drawingml/2006/main" w="9525">
            <a:solidFill>
              <a:srgbClr val="366273"/>
            </a:solidFill>
          </a:ln>
        </p:spPr>
      </p:sp>
      <p:sp>
        <p:nvSpPr>
          <p:cNvPr id="12" name="text-11">
            <a:extLst xmlns:a="http://schemas.openxmlformats.org/drawingml/2006/main">
              <a:ext uri="{FF2B5EF4-FFF2-40B4-BE49-F238E27FC236}">
                <a16:creationId xmlns:a16="http://schemas.microsoft.com/office/drawing/2014/main" id="{DD947ABF-6243-41C7-8323-6B5E57D3ADD2}"/>
              </a:ext>
            </a:extLst>
          </p:cNvPr>
          <p:cNvSpPr>
            <a:spLocks xmlns:a="http://schemas.openxmlformats.org/drawingml/2006/main" noGrp="1"/>
          </p:cNvSpPr>
          <p:nvPr/>
        </p:nvSpPr>
        <p:spPr>
          <a:xfrm xmlns:a="http://schemas.openxmlformats.org/drawingml/2006/main">
            <a:off x="8896350" y="2581275"/>
            <a:ext cx="25336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EC2 Ubuntu</a:t>
            </a:r>
          </a:p>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MySQL·모델·문서</a:t>
            </a:r>
          </a:p>
        </p:txBody>
      </p:sp>
      <p:cxnSp>
        <p:nvCxnSpPr>
          <p:cNvPr id="30" name=""/>
          <p:cNvCxnSpPr>
            <a:stCxn xmlns:a="http://schemas.openxmlformats.org/drawingml/2006/main" id="7" idx="3"/>
            <a:endCxn xmlns:a="http://schemas.openxmlformats.org/drawingml/2006/main" id="9" idx="1"/>
          </p:cNvCxnSpPr>
          <p:nvPr/>
        </p:nvCxnSpPr>
        <p:spPr>
          <a:xfrm xmlns:a="http://schemas.openxmlformats.org/drawingml/2006/main">
            <a:off x="3476625" y="3019425"/>
            <a:ext cx="1133475" cy="0"/>
          </a:xfrm>
          <a:prstGeom xmlns:a="http://schemas.openxmlformats.org/drawingml/2006/main" prst="straightConnector1">
            <a:avLst/>
          </a:prstGeom>
          <a:ln xmlns:a="http://schemas.openxmlformats.org/drawingml/2006/main" w="19050">
            <a:solidFill>
              <a:srgbClr val="69D5C3"/>
            </a:solidFill>
            <a:tailEnd type="arrow" w="med" len="med"/>
          </a:ln>
        </p:spPr>
      </p:cxnSp>
      <p:cxnSp>
        <p:nvCxnSpPr>
          <p:cNvPr id="31" name=""/>
          <p:cNvCxnSpPr>
            <a:stCxn xmlns:a="http://schemas.openxmlformats.org/drawingml/2006/main" id="9" idx="3"/>
            <a:endCxn xmlns:a="http://schemas.openxmlformats.org/drawingml/2006/main" id="11" idx="1"/>
          </p:cNvCxnSpPr>
          <p:nvPr/>
        </p:nvCxnSpPr>
        <p:spPr>
          <a:xfrm xmlns:a="http://schemas.openxmlformats.org/drawingml/2006/main">
            <a:off x="7610475" y="3019425"/>
            <a:ext cx="1133475" cy="0"/>
          </a:xfrm>
          <a:prstGeom xmlns:a="http://schemas.openxmlformats.org/drawingml/2006/main" prst="straightConnector1">
            <a:avLst/>
          </a:prstGeom>
          <a:ln xmlns:a="http://schemas.openxmlformats.org/drawingml/2006/main" w="19050">
            <a:solidFill>
              <a:srgbClr val="69D5C3"/>
            </a:solidFill>
            <a:tailEnd type="arrow" w="med" len="med"/>
          </a:ln>
        </p:spPr>
      </p:cxnSp>
      <p:sp>
        <p:nvSpPr>
          <p:cNvPr id="15" name="text-14">
            <a:extLst xmlns:a="http://schemas.openxmlformats.org/drawingml/2006/main">
              <a:ext uri="{FF2B5EF4-FFF2-40B4-BE49-F238E27FC236}">
                <a16:creationId xmlns:a16="http://schemas.microsoft.com/office/drawing/2014/main" id="{EE85B7E8-F399-473C-992A-59664F859571}"/>
              </a:ext>
            </a:extLst>
          </p:cNvPr>
          <p:cNvSpPr>
            <a:spLocks xmlns:a="http://schemas.openxmlformats.org/drawingml/2006/main" noGrp="1"/>
          </p:cNvSpPr>
          <p:nvPr/>
        </p:nvSpPr>
        <p:spPr>
          <a:xfrm xmlns:a="http://schemas.openxmlformats.org/drawingml/2006/main">
            <a:off x="571500" y="4352925"/>
            <a:ext cx="5048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FFFFFF"/>
                </a:solidFill>
                <a:latin typeface="Malgun Gothic"/>
                <a:ea typeface="Malgun Gothic"/>
                <a:cs typeface="Malgun Gothic"/>
              </a:defRPr>
            </a:pPr>
            <a:r>
              <a:rPr sz="2625" b="1">
                <a:solidFill>
                  <a:srgbClr val="FFFFFF"/>
                </a:solidFill>
                <a:latin typeface="Malgun Gothic"/>
                <a:ea typeface="Malgun Gothic"/>
                <a:cs typeface="Malgun Gothic"/>
              </a:rPr>
              <a:t>systemd 자동 시작</a:t>
            </a:r>
          </a:p>
        </p:txBody>
      </p:sp>
      <p:sp>
        <p:nvSpPr>
          <p:cNvPr id="16" name="text-15">
            <a:extLst xmlns:a="http://schemas.openxmlformats.org/drawingml/2006/main">
              <a:ext uri="{FF2B5EF4-FFF2-40B4-BE49-F238E27FC236}">
                <a16:creationId xmlns:a16="http://schemas.microsoft.com/office/drawing/2014/main" id="{2E425FA0-904F-44A7-AAE3-3ACB78F80590}"/>
              </a:ext>
            </a:extLst>
          </p:cNvPr>
          <p:cNvSpPr>
            <a:spLocks xmlns:a="http://schemas.openxmlformats.org/drawingml/2006/main" noGrp="1"/>
          </p:cNvSpPr>
          <p:nvPr/>
        </p:nvSpPr>
        <p:spPr>
          <a:xfrm xmlns:a="http://schemas.openxmlformats.org/drawingml/2006/main">
            <a:off x="571500" y="49815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C2D9E0"/>
                </a:solidFill>
                <a:latin typeface="Malgun Gothic"/>
                <a:ea typeface="Malgun Gothic"/>
                <a:cs typeface="Malgun Gothic"/>
              </a:defRPr>
            </a:pPr>
            <a:r>
              <a:rPr sz="2100" b="0">
                <a:solidFill>
                  <a:srgbClr val="C2D9E0"/>
                </a:solidFill>
                <a:latin typeface="Malgun Gothic"/>
                <a:ea typeface="Malgun Gothic"/>
                <a:cs typeface="Malgun Gothic"/>
              </a:rPr>
              <a:t>Backend 8000 · AI 8001 · 구조 도구 8501</a:t>
            </a:r>
          </a:p>
        </p:txBody>
      </p:sp>
      <p:sp>
        <p:nvSpPr>
          <p:cNvPr id="17" name="text-16">
            <a:extLst xmlns:a="http://schemas.openxmlformats.org/drawingml/2006/main">
              <a:ext uri="{FF2B5EF4-FFF2-40B4-BE49-F238E27FC236}">
                <a16:creationId xmlns:a16="http://schemas.microsoft.com/office/drawing/2014/main" id="{F47D297E-6D30-4A63-B092-CAB78BFE95DB}"/>
              </a:ext>
            </a:extLst>
          </p:cNvPr>
          <p:cNvSpPr>
            <a:spLocks xmlns:a="http://schemas.openxmlformats.org/drawingml/2006/main" noGrp="1"/>
          </p:cNvSpPr>
          <p:nvPr/>
        </p:nvSpPr>
        <p:spPr>
          <a:xfrm xmlns:a="http://schemas.openxmlformats.org/drawingml/2006/main">
            <a:off x="571500" y="57531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69D5C3"/>
                </a:solidFill>
                <a:latin typeface="Arial"/>
                <a:ea typeface="Arial"/>
                <a:cs typeface="Arial"/>
              </a:defRPr>
            </a:pPr>
            <a:r>
              <a:rPr sz="2250" b="1">
                <a:solidFill>
                  <a:srgbClr val="69D5C3"/>
                </a:solidFill>
                <a:latin typeface="Arial"/>
                <a:ea typeface="Arial"/>
                <a:cs typeface="Arial"/>
              </a:rPr>
              <a:t>http://13.124.160.185/dashboard</a:t>
            </a:r>
          </a:p>
        </p:txBody>
      </p:sp>
    </p:spTree>
    <p:extLst>
      <p:ext uri="{BB962C8B-B14F-4D97-AF65-F5344CB8AC3E}">
        <p14:creationId xmlns:p14="http://schemas.microsoft.com/office/powerpoint/2010/main" val="1145483893"/>
      </p:ext>
    </p:extLst>
  </p:cSld>
</p:sld>
</file>

<file path=ppt/slides/slide39.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6" name="text-0.7350167111485667">
            <a:extLst xmlns:a="http://schemas.openxmlformats.org/drawingml/2006/main">
              <a:ext uri="{FF2B5EF4-FFF2-40B4-BE49-F238E27FC236}">
                <a16:creationId xmlns:a16="http://schemas.microsoft.com/office/drawing/2014/main" id="{6922AC3B-CDEE-4860-87EB-3E3155DAFBE1}"/>
              </a:ext>
            </a:extLst>
          </p:cNvPr>
          <p:cNvSpPr>
            <a:spLocks xmlns:a="http://schemas.openxmlformats.org/drawingml/2006/main" noGrp="1"/>
          </p:cNvSpPr>
          <p:nvPr/>
        </p:nvSpPr>
        <p:spPr>
          <a:xfrm xmlns:a="http://schemas.openxmlformats.org/drawingml/2006/main">
            <a:off x="571500" y="3048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87F82"/>
                </a:solidFill>
                <a:latin typeface="Malgun Gothic"/>
                <a:ea typeface="Malgun Gothic"/>
                <a:cs typeface="Malgun Gothic"/>
              </a:defRPr>
            </a:pPr>
            <a:r>
              <a:rPr sz="1200" b="1">
                <a:solidFill>
                  <a:srgbClr val="087F82"/>
                </a:solidFill>
                <a:latin typeface="Malgun Gothic"/>
                <a:ea typeface="Malgun Gothic"/>
                <a:cs typeface="Malgun Gothic"/>
              </a:rPr>
              <a:t>06 검증과 운영</a:t>
            </a:r>
          </a:p>
        </p:txBody>
      </p:sp>
      <p:sp>
        <p:nvSpPr>
          <p:cNvPr id="2" name="text-1">
            <a:extLst xmlns:a="http://schemas.openxmlformats.org/drawingml/2006/main">
              <a:ext uri="{FF2B5EF4-FFF2-40B4-BE49-F238E27FC236}">
                <a16:creationId xmlns:a16="http://schemas.microsoft.com/office/drawing/2014/main" id="{CBDFEB50-5BEA-4996-A88C-44D3745ACFDC}"/>
              </a:ext>
            </a:extLst>
          </p:cNvPr>
          <p:cNvSpPr>
            <a:spLocks xmlns:a="http://schemas.openxmlformats.org/drawingml/2006/main" noGrp="1"/>
          </p:cNvSpPr>
          <p:nvPr/>
        </p:nvSpPr>
        <p:spPr>
          <a:xfrm xmlns:a="http://schemas.openxmlformats.org/drawingml/2006/main">
            <a:off x="571500" y="76200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02F40"/>
                </a:solidFill>
                <a:latin typeface="Malgun Gothic"/>
                <a:ea typeface="Malgun Gothic"/>
                <a:cs typeface="Malgun Gothic"/>
              </a:defRPr>
            </a:pPr>
            <a:r>
              <a:rPr sz="3300" b="1">
                <a:solidFill>
                  <a:srgbClr val="102F40"/>
                </a:solidFill>
                <a:latin typeface="Malgun Gothic"/>
                <a:ea typeface="Malgun Gothic"/>
                <a:cs typeface="Malgun Gothic"/>
              </a:rPr>
              <a:t>현재 한계와 다음 검증 과제</a:t>
            </a:r>
          </a:p>
        </p:txBody>
      </p:sp>
      <p:sp>
        <p:nvSpPr>
          <p:cNvPr id="3" name="">
            <a:extLst xmlns:a="http://schemas.openxmlformats.org/drawingml/2006/main">
              <a:ext uri="{FF2B5EF4-FFF2-40B4-BE49-F238E27FC236}">
                <a16:creationId xmlns:a16="http://schemas.microsoft.com/office/drawing/2014/main" id="{7C80E38D-3A1C-486C-8493-9D3C8252AFAB}"/>
              </a:ext>
            </a:extLst>
          </p:cNvPr>
          <p:cNvSpPr>
            <a:spLocks xmlns:a="http://schemas.openxmlformats.org/drawingml/2006/main" noGrp="1"/>
          </p:cNvSpPr>
          <p:nvPr/>
        </p:nvSpPr>
        <p:spPr>
          <a:xfrm xmlns:a="http://schemas.openxmlformats.org/drawingml/2006/main">
            <a:off x="571500" y="6324600"/>
            <a:ext cx="11049000" cy="0"/>
          </a:xfrm>
          <a:prstGeom xmlns:a="http://schemas.openxmlformats.org/drawingml/2006/main" prst="line">
            <a:avLst/>
          </a:prstGeom>
          <a:noFill xmlns:a="http://schemas.openxmlformats.org/drawingml/2006/main"/>
          <a:ln xmlns:a="http://schemas.openxmlformats.org/drawingml/2006/main" w="9525">
            <a:solidFill>
              <a:srgbClr val="CDD8D9"/>
            </a:solidFill>
            <a:prstDash val="solid"/>
          </a:ln>
        </p:spPr>
      </p:sp>
      <p:sp>
        <p:nvSpPr>
          <p:cNvPr id="4" name="text-3">
            <a:extLst xmlns:a="http://schemas.openxmlformats.org/drawingml/2006/main">
              <a:ext uri="{FF2B5EF4-FFF2-40B4-BE49-F238E27FC236}">
                <a16:creationId xmlns:a16="http://schemas.microsoft.com/office/drawing/2014/main" id="{400F2C75-C0E4-4B7B-9D89-A5881E224103}"/>
              </a:ext>
            </a:extLst>
          </p:cNvPr>
          <p:cNvSpPr>
            <a:spLocks xmlns:a="http://schemas.openxmlformats.org/drawingml/2006/main" noGrp="1"/>
          </p:cNvSpPr>
          <p:nvPr/>
        </p:nvSpPr>
        <p:spPr>
          <a:xfrm xmlns:a="http://schemas.openxmlformats.org/drawingml/2006/main">
            <a:off x="571500" y="64960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36B78"/>
                </a:solidFill>
                <a:latin typeface="Arial"/>
                <a:ea typeface="Arial"/>
                <a:cs typeface="Arial"/>
              </a:defRPr>
            </a:pPr>
            <a:r>
              <a:rPr sz="1050" b="1">
                <a:solidFill>
                  <a:srgbClr val="536B78"/>
                </a:solidFill>
                <a:latin typeface="Arial"/>
                <a:ea typeface="Arial"/>
                <a:cs typeface="Arial"/>
              </a:rPr>
              <a:t>OLIGO-K</a:t>
            </a:r>
          </a:p>
        </p:txBody>
      </p:sp>
      <p:sp>
        <p:nvSpPr>
          <p:cNvPr id="5" name="text-4">
            <a:extLst xmlns:a="http://schemas.openxmlformats.org/drawingml/2006/main">
              <a:ext uri="{FF2B5EF4-FFF2-40B4-BE49-F238E27FC236}">
                <a16:creationId xmlns:a16="http://schemas.microsoft.com/office/drawing/2014/main" id="{7701D424-1AEE-4660-BD3F-10AB266BB5CF}"/>
              </a:ext>
            </a:extLst>
          </p:cNvPr>
          <p:cNvSpPr>
            <a:spLocks xmlns:a="http://schemas.openxmlformats.org/drawingml/2006/main" noGrp="1"/>
          </p:cNvSpPr>
          <p:nvPr/>
        </p:nvSpPr>
        <p:spPr>
          <a:xfrm xmlns:a="http://schemas.openxmlformats.org/drawingml/2006/main">
            <a:off x="11049000" y="64674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1">
                <a:solidFill>
                  <a:srgbClr val="087F82"/>
                </a:solidFill>
                <a:latin typeface="Arial"/>
                <a:ea typeface="Arial"/>
                <a:cs typeface="Arial"/>
              </a:defRPr>
            </a:pPr>
            <a:r>
              <a:rPr sz="1350" b="1">
                <a:solidFill>
                  <a:srgbClr val="087F82"/>
                </a:solidFill>
                <a:latin typeface="Arial"/>
                <a:ea typeface="Arial"/>
                <a:cs typeface="Arial"/>
              </a:rPr>
              <a:t>39</a:t>
            </a:r>
          </a:p>
        </p:txBody>
      </p:sp>
      <p:sp>
        <p:nvSpPr>
          <p:cNvPr id="6" name="text-5">
            <a:extLst xmlns:a="http://schemas.openxmlformats.org/drawingml/2006/main">
              <a:ext uri="{FF2B5EF4-FFF2-40B4-BE49-F238E27FC236}">
                <a16:creationId xmlns:a16="http://schemas.microsoft.com/office/drawing/2014/main" id="{D0E7D211-BD3D-4842-BD26-EF972E1D746C}"/>
              </a:ext>
            </a:extLst>
          </p:cNvPr>
          <p:cNvSpPr>
            <a:spLocks xmlns:a="http://schemas.openxmlformats.org/drawingml/2006/main" noGrp="1"/>
          </p:cNvSpPr>
          <p:nvPr/>
        </p:nvSpPr>
        <p:spPr>
          <a:xfrm xmlns:a="http://schemas.openxmlformats.org/drawingml/2006/main">
            <a:off x="571500" y="221932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87F82"/>
                </a:solidFill>
                <a:latin typeface="Arial"/>
                <a:ea typeface="Arial"/>
                <a:cs typeface="Arial"/>
              </a:defRPr>
            </a:pPr>
            <a:r>
              <a:rPr sz="2400" b="1">
                <a:solidFill>
                  <a:srgbClr val="087F82"/>
                </a:solidFill>
                <a:latin typeface="Arial"/>
                <a:ea typeface="Arial"/>
                <a:cs typeface="Arial"/>
              </a:rPr>
              <a:t>01</a:t>
            </a:r>
          </a:p>
        </p:txBody>
      </p:sp>
      <p:sp>
        <p:nvSpPr>
          <p:cNvPr id="7" name="text-6">
            <a:extLst xmlns:a="http://schemas.openxmlformats.org/drawingml/2006/main">
              <a:ext uri="{FF2B5EF4-FFF2-40B4-BE49-F238E27FC236}">
                <a16:creationId xmlns:a16="http://schemas.microsoft.com/office/drawing/2014/main" id="{E69E0896-6742-4131-B336-A93DCD069797}"/>
              </a:ext>
            </a:extLst>
          </p:cNvPr>
          <p:cNvSpPr>
            <a:spLocks xmlns:a="http://schemas.openxmlformats.org/drawingml/2006/main" noGrp="1"/>
          </p:cNvSpPr>
          <p:nvPr/>
        </p:nvSpPr>
        <p:spPr>
          <a:xfrm xmlns:a="http://schemas.openxmlformats.org/drawingml/2006/main">
            <a:off x="1381125" y="2219325"/>
            <a:ext cx="10048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F40"/>
                </a:solidFill>
                <a:latin typeface="Malgun Gothic"/>
                <a:ea typeface="Malgun Gothic"/>
                <a:cs typeface="Malgun Gothic"/>
              </a:defRPr>
            </a:pPr>
            <a:r>
              <a:rPr sz="2175" b="1">
                <a:solidFill>
                  <a:srgbClr val="102F40"/>
                </a:solidFill>
                <a:latin typeface="Malgun Gothic"/>
                <a:ea typeface="Malgun Gothic"/>
                <a:cs typeface="Malgun Gothic"/>
              </a:rPr>
              <a:t>예측의 신뢰도</a:t>
            </a:r>
          </a:p>
        </p:txBody>
      </p:sp>
      <p:sp>
        <p:nvSpPr>
          <p:cNvPr id="8" name="text-7">
            <a:extLst xmlns:a="http://schemas.openxmlformats.org/drawingml/2006/main">
              <a:ext uri="{FF2B5EF4-FFF2-40B4-BE49-F238E27FC236}">
                <a16:creationId xmlns:a16="http://schemas.microsoft.com/office/drawing/2014/main" id="{BD56FECC-E828-404D-A5BA-2B9DAFC6DD74}"/>
              </a:ext>
            </a:extLst>
          </p:cNvPr>
          <p:cNvSpPr>
            <a:spLocks xmlns:a="http://schemas.openxmlformats.org/drawingml/2006/main" noGrp="1"/>
          </p:cNvSpPr>
          <p:nvPr/>
        </p:nvSpPr>
        <p:spPr>
          <a:xfrm xmlns:a="http://schemas.openxmlformats.org/drawingml/2006/main">
            <a:off x="1381125" y="2667000"/>
            <a:ext cx="10048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6B78"/>
                </a:solidFill>
                <a:latin typeface="Malgun Gothic"/>
                <a:ea typeface="Malgun Gothic"/>
                <a:cs typeface="Malgun Gothic"/>
              </a:defRPr>
            </a:pPr>
            <a:r>
              <a:rPr sz="1800" b="0">
                <a:solidFill>
                  <a:srgbClr val="536B78"/>
                </a:solidFill>
                <a:latin typeface="Malgun Gothic"/>
                <a:ea typeface="Malgun Gothic"/>
                <a:cs typeface="Malgun Gothic"/>
              </a:rPr>
              <a:t>관측 기간 확대, 지역별 기준선 비교, 긴 예측거리 검증</a:t>
            </a:r>
          </a:p>
        </p:txBody>
      </p:sp>
      <p:sp>
        <p:nvSpPr>
          <p:cNvPr id="9" name="text-8">
            <a:extLst xmlns:a="http://schemas.openxmlformats.org/drawingml/2006/main">
              <a:ext uri="{FF2B5EF4-FFF2-40B4-BE49-F238E27FC236}">
                <a16:creationId xmlns:a16="http://schemas.microsoft.com/office/drawing/2014/main" id="{17B00427-0143-449B-8DD7-59A6B3ABAB3F}"/>
              </a:ext>
            </a:extLst>
          </p:cNvPr>
          <p:cNvSpPr>
            <a:spLocks xmlns:a="http://schemas.openxmlformats.org/drawingml/2006/main" noGrp="1"/>
          </p:cNvSpPr>
          <p:nvPr/>
        </p:nvSpPr>
        <p:spPr>
          <a:xfrm xmlns:a="http://schemas.openxmlformats.org/drawingml/2006/main">
            <a:off x="571500" y="342900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87F82"/>
                </a:solidFill>
                <a:latin typeface="Arial"/>
                <a:ea typeface="Arial"/>
                <a:cs typeface="Arial"/>
              </a:defRPr>
            </a:pPr>
            <a:r>
              <a:rPr sz="2400" b="1">
                <a:solidFill>
                  <a:srgbClr val="087F82"/>
                </a:solidFill>
                <a:latin typeface="Arial"/>
                <a:ea typeface="Arial"/>
                <a:cs typeface="Arial"/>
              </a:rPr>
              <a:t>02</a:t>
            </a:r>
          </a:p>
        </p:txBody>
      </p:sp>
      <p:sp>
        <p:nvSpPr>
          <p:cNvPr id="10" name="text-9">
            <a:extLst xmlns:a="http://schemas.openxmlformats.org/drawingml/2006/main">
              <a:ext uri="{FF2B5EF4-FFF2-40B4-BE49-F238E27FC236}">
                <a16:creationId xmlns:a16="http://schemas.microsoft.com/office/drawing/2014/main" id="{9C7B5185-AB68-4DCD-88B5-D7508766EB70}"/>
              </a:ext>
            </a:extLst>
          </p:cNvPr>
          <p:cNvSpPr>
            <a:spLocks xmlns:a="http://schemas.openxmlformats.org/drawingml/2006/main" noGrp="1"/>
          </p:cNvSpPr>
          <p:nvPr/>
        </p:nvSpPr>
        <p:spPr>
          <a:xfrm xmlns:a="http://schemas.openxmlformats.org/drawingml/2006/main">
            <a:off x="1381125" y="3429000"/>
            <a:ext cx="10048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F40"/>
                </a:solidFill>
                <a:latin typeface="Malgun Gothic"/>
                <a:ea typeface="Malgun Gothic"/>
                <a:cs typeface="Malgun Gothic"/>
              </a:defRPr>
            </a:pPr>
            <a:r>
              <a:rPr sz="2175" b="1">
                <a:solidFill>
                  <a:srgbClr val="102F40"/>
                </a:solidFill>
                <a:latin typeface="Malgun Gothic"/>
                <a:ea typeface="Malgun Gothic"/>
                <a:cs typeface="Malgun Gothic"/>
              </a:rPr>
              <a:t>근거 검색의 품질</a:t>
            </a:r>
          </a:p>
        </p:txBody>
      </p:sp>
      <p:sp>
        <p:nvSpPr>
          <p:cNvPr id="11" name="text-10">
            <a:extLst xmlns:a="http://schemas.openxmlformats.org/drawingml/2006/main">
              <a:ext uri="{FF2B5EF4-FFF2-40B4-BE49-F238E27FC236}">
                <a16:creationId xmlns:a16="http://schemas.microsoft.com/office/drawing/2014/main" id="{9E6FD610-0988-4C23-8C81-86BF4E40B34F}"/>
              </a:ext>
            </a:extLst>
          </p:cNvPr>
          <p:cNvSpPr>
            <a:spLocks xmlns:a="http://schemas.openxmlformats.org/drawingml/2006/main" noGrp="1"/>
          </p:cNvSpPr>
          <p:nvPr/>
        </p:nvSpPr>
        <p:spPr>
          <a:xfrm xmlns:a="http://schemas.openxmlformats.org/drawingml/2006/main">
            <a:off x="1381125" y="3876675"/>
            <a:ext cx="10048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6B78"/>
                </a:solidFill>
                <a:latin typeface="Malgun Gothic"/>
                <a:ea typeface="Malgun Gothic"/>
                <a:cs typeface="Malgun Gothic"/>
              </a:defRPr>
            </a:pPr>
            <a:r>
              <a:rPr sz="1800" b="0">
                <a:solidFill>
                  <a:srgbClr val="536B78"/>
                </a:solidFill>
                <a:latin typeface="Malgun Gothic"/>
                <a:ea typeface="Malgun Gothic"/>
                <a:cs typeface="Malgun Gothic"/>
              </a:rPr>
              <a:t>검수 문서 확대, 검색 관련성 평가, 의미 검색 구축 검토</a:t>
            </a:r>
          </a:p>
        </p:txBody>
      </p:sp>
      <p:sp>
        <p:nvSpPr>
          <p:cNvPr id="12" name="text-11">
            <a:extLst xmlns:a="http://schemas.openxmlformats.org/drawingml/2006/main">
              <a:ext uri="{FF2B5EF4-FFF2-40B4-BE49-F238E27FC236}">
                <a16:creationId xmlns:a16="http://schemas.microsoft.com/office/drawing/2014/main" id="{51054DA4-6E5A-4A5B-A757-9372007B9149}"/>
              </a:ext>
            </a:extLst>
          </p:cNvPr>
          <p:cNvSpPr>
            <a:spLocks xmlns:a="http://schemas.openxmlformats.org/drawingml/2006/main" noGrp="1"/>
          </p:cNvSpPr>
          <p:nvPr/>
        </p:nvSpPr>
        <p:spPr>
          <a:xfrm xmlns:a="http://schemas.openxmlformats.org/drawingml/2006/main">
            <a:off x="571500" y="463867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87F82"/>
                </a:solidFill>
                <a:latin typeface="Arial"/>
                <a:ea typeface="Arial"/>
                <a:cs typeface="Arial"/>
              </a:defRPr>
            </a:pPr>
            <a:r>
              <a:rPr sz="2400" b="1">
                <a:solidFill>
                  <a:srgbClr val="087F82"/>
                </a:solidFill>
                <a:latin typeface="Arial"/>
                <a:ea typeface="Arial"/>
                <a:cs typeface="Arial"/>
              </a:rPr>
              <a:t>03</a:t>
            </a:r>
          </a:p>
        </p:txBody>
      </p:sp>
      <p:sp>
        <p:nvSpPr>
          <p:cNvPr id="13" name="text-12">
            <a:extLst xmlns:a="http://schemas.openxmlformats.org/drawingml/2006/main">
              <a:ext uri="{FF2B5EF4-FFF2-40B4-BE49-F238E27FC236}">
                <a16:creationId xmlns:a16="http://schemas.microsoft.com/office/drawing/2014/main" id="{C3858133-EF60-4E5E-B6A6-65CC6146EFFC}"/>
              </a:ext>
            </a:extLst>
          </p:cNvPr>
          <p:cNvSpPr>
            <a:spLocks xmlns:a="http://schemas.openxmlformats.org/drawingml/2006/main" noGrp="1"/>
          </p:cNvSpPr>
          <p:nvPr/>
        </p:nvSpPr>
        <p:spPr>
          <a:xfrm xmlns:a="http://schemas.openxmlformats.org/drawingml/2006/main">
            <a:off x="1381125" y="4638675"/>
            <a:ext cx="10048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F40"/>
                </a:solidFill>
                <a:latin typeface="Malgun Gothic"/>
                <a:ea typeface="Malgun Gothic"/>
                <a:cs typeface="Malgun Gothic"/>
              </a:defRPr>
            </a:pPr>
            <a:r>
              <a:rPr sz="2175" b="1">
                <a:solidFill>
                  <a:srgbClr val="102F40"/>
                </a:solidFill>
                <a:latin typeface="Malgun Gothic"/>
                <a:ea typeface="Malgun Gothic"/>
                <a:cs typeface="Malgun Gothic"/>
              </a:rPr>
              <a:t>실제 운영의 검증</a:t>
            </a:r>
          </a:p>
        </p:txBody>
      </p:sp>
      <p:sp>
        <p:nvSpPr>
          <p:cNvPr id="14" name="text-13">
            <a:extLst xmlns:a="http://schemas.openxmlformats.org/drawingml/2006/main">
              <a:ext uri="{FF2B5EF4-FFF2-40B4-BE49-F238E27FC236}">
                <a16:creationId xmlns:a16="http://schemas.microsoft.com/office/drawing/2014/main" id="{5FFA0423-E9F8-41B4-A4A6-5C886FDA3F7F}"/>
              </a:ext>
            </a:extLst>
          </p:cNvPr>
          <p:cNvSpPr>
            <a:spLocks xmlns:a="http://schemas.openxmlformats.org/drawingml/2006/main" noGrp="1"/>
          </p:cNvSpPr>
          <p:nvPr/>
        </p:nvSpPr>
        <p:spPr>
          <a:xfrm xmlns:a="http://schemas.openxmlformats.org/drawingml/2006/main">
            <a:off x="1381125" y="5086350"/>
            <a:ext cx="10048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6B78"/>
                </a:solidFill>
                <a:latin typeface="Malgun Gothic"/>
                <a:ea typeface="Malgun Gothic"/>
                <a:cs typeface="Malgun Gothic"/>
              </a:defRPr>
            </a:pPr>
            <a:r>
              <a:rPr sz="1800" b="0">
                <a:solidFill>
                  <a:srgbClr val="536B78"/>
                </a:solidFill>
                <a:latin typeface="Malgun Gothic"/>
                <a:ea typeface="Malgun Gothic"/>
                <a:cs typeface="Malgun Gothic"/>
              </a:rPr>
              <a:t>사용자 평가, 새 생성 E2E, 인증·접근 범위와 요청량 제한</a:t>
            </a:r>
          </a:p>
        </p:txBody>
      </p:sp>
      <p:sp>
        <p:nvSpPr>
          <p:cNvPr id="15" name="text-14">
            <a:extLst xmlns:a="http://schemas.openxmlformats.org/drawingml/2006/main">
              <a:ext uri="{FF2B5EF4-FFF2-40B4-BE49-F238E27FC236}">
                <a16:creationId xmlns:a16="http://schemas.microsoft.com/office/drawing/2014/main" id="{4DC88855-7BF7-4741-B836-B8B030C966F1}"/>
              </a:ext>
            </a:extLst>
          </p:cNvPr>
          <p:cNvSpPr>
            <a:spLocks xmlns:a="http://schemas.openxmlformats.org/drawingml/2006/main" noGrp="1"/>
          </p:cNvSpPr>
          <p:nvPr/>
        </p:nvSpPr>
        <p:spPr>
          <a:xfrm xmlns:a="http://schemas.openxmlformats.org/drawingml/2006/main">
            <a:off x="571500" y="5867400"/>
            <a:ext cx="11049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B96C33"/>
                </a:solidFill>
                <a:latin typeface="Malgun Gothic"/>
                <a:ea typeface="Malgun Gothic"/>
                <a:cs typeface="Malgun Gothic"/>
              </a:defRPr>
            </a:pPr>
            <a:r>
              <a:rPr sz="1725" b="1">
                <a:solidFill>
                  <a:srgbClr val="B96C33"/>
                </a:solidFill>
                <a:latin typeface="Malgun Gothic"/>
                <a:ea typeface="Malgun Gothic"/>
                <a:cs typeface="Malgun Gothic"/>
              </a:rPr>
              <a:t>관광객 증가·매출 개선·업무시간 절감은 아직 실사용 성과로 측정하지 않았습니다.</a:t>
            </a:r>
          </a:p>
        </p:txBody>
      </p:sp>
    </p:spTree>
    <p:extLst>
      <p:ext uri="{BB962C8B-B14F-4D97-AF65-F5344CB8AC3E}">
        <p14:creationId xmlns:p14="http://schemas.microsoft.com/office/powerpoint/2010/main" val="489157156"/>
      </p:ext>
    </p:extLst>
  </p:cSld>
</p:sld>
</file>

<file path=ppt/slides/slide40.xml><?xml version="1.0" encoding="utf-8"?>
<p:sld xmlns:p="http://schemas.openxmlformats.org/presentationml/2006/main">
  <p:cSld>
    <p:bg>
      <p:bgPr>
        <a:solidFill xmlns:a="http://schemas.openxmlformats.org/drawingml/2006/main">
          <a:srgbClr val="092638"/>
        </a:solidFill>
      </p:bgPr>
    </p:bg>
    <p:spTree>
      <p:nvGrpSpPr>
        <p:cNvPr id="1" name=""/>
        <p:cNvGrpSpPr/>
        <p:nvPr/>
      </p:nvGrpSpPr>
      <p:grpSpPr>
        <a:xfrm xmlns:a="http://schemas.openxmlformats.org/drawingml/2006/main"/>
      </p:grpSpPr>
      <p:sp>
        <p:nvSpPr>
          <p:cNvPr id="10" name="text-0.9274195340267338">
            <a:extLst xmlns:a="http://schemas.openxmlformats.org/drawingml/2006/main">
              <a:ext uri="{FF2B5EF4-FFF2-40B4-BE49-F238E27FC236}">
                <a16:creationId xmlns:a16="http://schemas.microsoft.com/office/drawing/2014/main" id="{657E456E-C7D2-4B0A-B665-C03523EB89F9}"/>
              </a:ext>
            </a:extLst>
          </p:cNvPr>
          <p:cNvSpPr>
            <a:spLocks xmlns:a="http://schemas.openxmlformats.org/drawingml/2006/main" noGrp="1"/>
          </p:cNvSpPr>
          <p:nvPr/>
        </p:nvSpPr>
        <p:spPr>
          <a:xfrm xmlns:a="http://schemas.openxmlformats.org/drawingml/2006/main">
            <a:off x="571500" y="3048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69D5C3"/>
                </a:solidFill>
                <a:latin typeface="Malgun Gothic"/>
                <a:ea typeface="Malgun Gothic"/>
                <a:cs typeface="Malgun Gothic"/>
              </a:defRPr>
            </a:pPr>
            <a:r>
              <a:rPr sz="1200" b="1">
                <a:solidFill>
                  <a:srgbClr val="69D5C3"/>
                </a:solidFill>
                <a:latin typeface="Malgun Gothic"/>
                <a:ea typeface="Malgun Gothic"/>
                <a:cs typeface="Malgun Gothic"/>
              </a:rPr>
              <a:t>마무리</a:t>
            </a:r>
          </a:p>
        </p:txBody>
      </p:sp>
      <p:sp>
        <p:nvSpPr>
          <p:cNvPr id="2" name="text-1">
            <a:extLst xmlns:a="http://schemas.openxmlformats.org/drawingml/2006/main">
              <a:ext uri="{FF2B5EF4-FFF2-40B4-BE49-F238E27FC236}">
                <a16:creationId xmlns:a16="http://schemas.microsoft.com/office/drawing/2014/main" id="{97998C21-13EE-43D0-89DA-015C1F92D7B4}"/>
              </a:ext>
            </a:extLst>
          </p:cNvPr>
          <p:cNvSpPr>
            <a:spLocks xmlns:a="http://schemas.openxmlformats.org/drawingml/2006/main" noGrp="1"/>
          </p:cNvSpPr>
          <p:nvPr/>
        </p:nvSpPr>
        <p:spPr>
          <a:xfrm xmlns:a="http://schemas.openxmlformats.org/drawingml/2006/main">
            <a:off x="571500" y="76200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Malgun Gothic"/>
                <a:ea typeface="Malgun Gothic"/>
                <a:cs typeface="Malgun Gothic"/>
              </a:defRPr>
            </a:pPr>
            <a:r>
              <a:rPr sz="3300" b="1">
                <a:solidFill>
                  <a:srgbClr val="FFFFFF"/>
                </a:solidFill>
                <a:latin typeface="Malgun Gothic"/>
                <a:ea typeface="Malgun Gothic"/>
                <a:cs typeface="Malgun Gothic"/>
              </a:rPr>
              <a:t>관광사업 기획을 지원하는 OLIGO-K</a:t>
            </a:r>
          </a:p>
        </p:txBody>
      </p:sp>
      <p:sp>
        <p:nvSpPr>
          <p:cNvPr id="3" name="">
            <a:extLst xmlns:a="http://schemas.openxmlformats.org/drawingml/2006/main">
              <a:ext uri="{FF2B5EF4-FFF2-40B4-BE49-F238E27FC236}">
                <a16:creationId xmlns:a16="http://schemas.microsoft.com/office/drawing/2014/main" id="{4584589E-9BA5-44C5-AA3C-7B2B8959E3FB}"/>
              </a:ext>
            </a:extLst>
          </p:cNvPr>
          <p:cNvSpPr>
            <a:spLocks xmlns:a="http://schemas.openxmlformats.org/drawingml/2006/main" noGrp="1"/>
          </p:cNvSpPr>
          <p:nvPr/>
        </p:nvSpPr>
        <p:spPr>
          <a:xfrm xmlns:a="http://schemas.openxmlformats.org/drawingml/2006/main">
            <a:off x="571500" y="6324600"/>
            <a:ext cx="11049000" cy="0"/>
          </a:xfrm>
          <a:prstGeom xmlns:a="http://schemas.openxmlformats.org/drawingml/2006/main" prst="line">
            <a:avLst/>
          </a:prstGeom>
          <a:noFill xmlns:a="http://schemas.openxmlformats.org/drawingml/2006/main"/>
          <a:ln xmlns:a="http://schemas.openxmlformats.org/drawingml/2006/main" w="9525">
            <a:solidFill>
              <a:srgbClr val="2A4959"/>
            </a:solidFill>
            <a:prstDash val="solid"/>
          </a:ln>
        </p:spPr>
      </p:sp>
      <p:sp>
        <p:nvSpPr>
          <p:cNvPr id="4" name="text-3">
            <a:extLst xmlns:a="http://schemas.openxmlformats.org/drawingml/2006/main">
              <a:ext uri="{FF2B5EF4-FFF2-40B4-BE49-F238E27FC236}">
                <a16:creationId xmlns:a16="http://schemas.microsoft.com/office/drawing/2014/main" id="{1BAF1F19-0F18-4AFE-8D5D-AEF15079AFEC}"/>
              </a:ext>
            </a:extLst>
          </p:cNvPr>
          <p:cNvSpPr>
            <a:spLocks xmlns:a="http://schemas.openxmlformats.org/drawingml/2006/main" noGrp="1"/>
          </p:cNvSpPr>
          <p:nvPr/>
        </p:nvSpPr>
        <p:spPr>
          <a:xfrm xmlns:a="http://schemas.openxmlformats.org/drawingml/2006/main">
            <a:off x="571500" y="64960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8CAAB8"/>
                </a:solidFill>
                <a:latin typeface="Arial"/>
                <a:ea typeface="Arial"/>
                <a:cs typeface="Arial"/>
              </a:defRPr>
            </a:pPr>
            <a:r>
              <a:rPr sz="1050" b="1">
                <a:solidFill>
                  <a:srgbClr val="8CAAB8"/>
                </a:solidFill>
                <a:latin typeface="Arial"/>
                <a:ea typeface="Arial"/>
                <a:cs typeface="Arial"/>
              </a:rPr>
              <a:t>OLIGO-K</a:t>
            </a:r>
          </a:p>
        </p:txBody>
      </p:sp>
      <p:sp>
        <p:nvSpPr>
          <p:cNvPr id="5" name="text-4">
            <a:extLst xmlns:a="http://schemas.openxmlformats.org/drawingml/2006/main">
              <a:ext uri="{FF2B5EF4-FFF2-40B4-BE49-F238E27FC236}">
                <a16:creationId xmlns:a16="http://schemas.microsoft.com/office/drawing/2014/main" id="{BD6A99F8-2AA1-4424-AEA1-8EDC62766393}"/>
              </a:ext>
            </a:extLst>
          </p:cNvPr>
          <p:cNvSpPr>
            <a:spLocks xmlns:a="http://schemas.openxmlformats.org/drawingml/2006/main" noGrp="1"/>
          </p:cNvSpPr>
          <p:nvPr/>
        </p:nvSpPr>
        <p:spPr>
          <a:xfrm xmlns:a="http://schemas.openxmlformats.org/drawingml/2006/main">
            <a:off x="11049000" y="64674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1">
                <a:solidFill>
                  <a:srgbClr val="69D5C3"/>
                </a:solidFill>
                <a:latin typeface="Arial"/>
                <a:ea typeface="Arial"/>
                <a:cs typeface="Arial"/>
              </a:defRPr>
            </a:pPr>
            <a:r>
              <a:rPr sz="1350" b="1">
                <a:solidFill>
                  <a:srgbClr val="69D5C3"/>
                </a:solidFill>
                <a:latin typeface="Arial"/>
                <a:ea typeface="Arial"/>
                <a:cs typeface="Arial"/>
              </a:rPr>
              <a:t>40</a:t>
            </a:r>
          </a:p>
        </p:txBody>
      </p:sp>
      <p:sp>
        <p:nvSpPr>
          <p:cNvPr id="6" name="text-5">
            <a:extLst xmlns:a="http://schemas.openxmlformats.org/drawingml/2006/main">
              <a:ext uri="{FF2B5EF4-FFF2-40B4-BE49-F238E27FC236}">
                <a16:creationId xmlns:a16="http://schemas.microsoft.com/office/drawing/2014/main" id="{55813DCA-E3B9-451F-9168-1C884E6CE59D}"/>
              </a:ext>
            </a:extLst>
          </p:cNvPr>
          <p:cNvSpPr>
            <a:spLocks xmlns:a="http://schemas.openxmlformats.org/drawingml/2006/main" noGrp="1"/>
          </p:cNvSpPr>
          <p:nvPr/>
        </p:nvSpPr>
        <p:spPr>
          <a:xfrm xmlns:a="http://schemas.openxmlformats.org/drawingml/2006/main">
            <a:off x="571500" y="2390775"/>
            <a:ext cx="1009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075" b="1">
                <a:solidFill>
                  <a:srgbClr val="FFFFFF"/>
                </a:solidFill>
                <a:latin typeface="Arial"/>
                <a:ea typeface="Arial"/>
                <a:cs typeface="Arial"/>
              </a:defRPr>
            </a:pPr>
            <a:r>
              <a:rPr sz="6075" b="1">
                <a:solidFill>
                  <a:srgbClr val="FFFFFF"/>
                </a:solidFill>
                <a:latin typeface="Arial"/>
                <a:ea typeface="Arial"/>
                <a:cs typeface="Arial"/>
              </a:rPr>
              <a:t>OLIGO-K</a:t>
            </a:r>
          </a:p>
        </p:txBody>
      </p:sp>
      <p:sp>
        <p:nvSpPr>
          <p:cNvPr id="7" name="text-6">
            <a:extLst xmlns:a="http://schemas.openxmlformats.org/drawingml/2006/main">
              <a:ext uri="{FF2B5EF4-FFF2-40B4-BE49-F238E27FC236}">
                <a16:creationId xmlns:a16="http://schemas.microsoft.com/office/drawing/2014/main" id="{4849E227-19C2-4444-8531-004FDFE8C7F6}"/>
              </a:ext>
            </a:extLst>
          </p:cNvPr>
          <p:cNvSpPr>
            <a:spLocks xmlns:a="http://schemas.openxmlformats.org/drawingml/2006/main" noGrp="1"/>
          </p:cNvSpPr>
          <p:nvPr/>
        </p:nvSpPr>
        <p:spPr>
          <a:xfrm xmlns:a="http://schemas.openxmlformats.org/drawingml/2006/main">
            <a:off x="571500" y="3705225"/>
            <a:ext cx="10858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D1E4E8"/>
                </a:solidFill>
                <a:latin typeface="Malgun Gothic"/>
                <a:ea typeface="Malgun Gothic"/>
                <a:cs typeface="Malgun Gothic"/>
              </a:defRPr>
            </a:pPr>
            <a:r>
              <a:rPr sz="2850" b="0">
                <a:solidFill>
                  <a:srgbClr val="D1E4E8"/>
                </a:solidFill>
                <a:latin typeface="Malgun Gothic"/>
                <a:ea typeface="Malgun Gothic"/>
                <a:cs typeface="Malgun Gothic"/>
              </a:rPr>
              <a:t>공식 데이터와 미래 전망을 바탕으로</a:t>
            </a:r>
          </a:p>
          <a:p xmlns:a="http://schemas.openxmlformats.org/drawingml/2006/main">
            <a:pPr algn="l">
              <a:defRPr sz="2850" b="0">
                <a:solidFill>
                  <a:srgbClr val="D1E4E8"/>
                </a:solidFill>
                <a:latin typeface="Malgun Gothic"/>
                <a:ea typeface="Malgun Gothic"/>
                <a:cs typeface="Malgun Gothic"/>
              </a:defRPr>
            </a:pPr>
            <a:r>
              <a:rPr sz="2850" b="0">
                <a:solidFill>
                  <a:srgbClr val="D1E4E8"/>
                </a:solidFill>
                <a:latin typeface="Malgun Gothic"/>
                <a:ea typeface="Malgun Gothic"/>
                <a:cs typeface="Malgun Gothic"/>
              </a:rPr>
              <a:t>담당자가 검토할 수 있는 관광사업 초안을 만듭니다.</a:t>
            </a:r>
          </a:p>
        </p:txBody>
      </p:sp>
      <p:sp>
        <p:nvSpPr>
          <p:cNvPr id="8" name="text-7">
            <a:extLst xmlns:a="http://schemas.openxmlformats.org/drawingml/2006/main">
              <a:ext uri="{FF2B5EF4-FFF2-40B4-BE49-F238E27FC236}">
                <a16:creationId xmlns:a16="http://schemas.microsoft.com/office/drawing/2014/main" id="{3F2F9891-5B85-4FF4-8E92-03E3C6439578}"/>
              </a:ext>
            </a:extLst>
          </p:cNvPr>
          <p:cNvSpPr>
            <a:spLocks xmlns:a="http://schemas.openxmlformats.org/drawingml/2006/main" noGrp="1"/>
          </p:cNvSpPr>
          <p:nvPr/>
        </p:nvSpPr>
        <p:spPr>
          <a:xfrm xmlns:a="http://schemas.openxmlformats.org/drawingml/2006/main">
            <a:off x="571500" y="5400675"/>
            <a:ext cx="685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69D5C3"/>
                </a:solidFill>
                <a:latin typeface="Malgun Gothic"/>
                <a:ea typeface="Malgun Gothic"/>
                <a:cs typeface="Malgun Gothic"/>
              </a:defRPr>
            </a:pPr>
            <a:r>
              <a:rPr sz="2325" b="1">
                <a:solidFill>
                  <a:srgbClr val="69D5C3"/>
                </a:solidFill>
                <a:latin typeface="Malgun Gothic"/>
                <a:ea typeface="Malgun Gothic"/>
                <a:cs typeface="Malgun Gothic"/>
              </a:rPr>
              <a:t>서비스 시연과 질문</a:t>
            </a:r>
          </a:p>
        </p:txBody>
      </p:sp>
      <p:sp>
        <p:nvSpPr>
          <p:cNvPr id="9" name="text-8">
            <a:extLst xmlns:a="http://schemas.openxmlformats.org/drawingml/2006/main">
              <a:ext uri="{FF2B5EF4-FFF2-40B4-BE49-F238E27FC236}">
                <a16:creationId xmlns:a16="http://schemas.microsoft.com/office/drawing/2014/main" id="{15ACF60B-AC5C-4877-B788-A77ADEDFBF8A}"/>
              </a:ext>
            </a:extLst>
          </p:cNvPr>
          <p:cNvSpPr>
            <a:spLocks xmlns:a="http://schemas.openxmlformats.org/drawingml/2006/main" noGrp="1"/>
          </p:cNvSpPr>
          <p:nvPr/>
        </p:nvSpPr>
        <p:spPr>
          <a:xfrm xmlns:a="http://schemas.openxmlformats.org/drawingml/2006/main">
            <a:off x="571500" y="5876925"/>
            <a:ext cx="10572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http://13.124.160.185/dashboard</a:t>
            </a:r>
          </a:p>
        </p:txBody>
      </p:sp>
    </p:spTree>
    <p:extLst>
      <p:ext uri="{BB962C8B-B14F-4D97-AF65-F5344CB8AC3E}">
        <p14:creationId xmlns:p14="http://schemas.microsoft.com/office/powerpoint/2010/main" val="12009397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2026-09-20T19:44:19.3280000Z</dcterms:created>
  <dcterms:modified xsi:type="dcterms:W3CDTF">2026-09-20T19:44:19.3280000Z</dcterms:modified>
</coreProperties>
</file>