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3.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5.xml"/><Relationship Id="R4c9d0e3030fa4c5f" Type="http://schemas.openxmlformats.org/officeDocument/2006/relationships/slide" Target="slides/slide9.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1.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0.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4.xml"/><Relationship Id="rId20"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361.55099926</c:v>
                </c:pt>
                <c:pt idx="1">
                  <c:v>359.52008419</c:v>
                </c:pt>
                <c:pt idx="2">
                  <c:v>337.20461655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38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1504.9781431</c:v>
                </c:pt>
                <c:pt idx="1">
                  <c:v>1451.44423783</c:v>
                </c:pt>
                <c:pt idx="2">
                  <c:v>1494.58189442</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0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1296.0</c:v>
                </c:pt>
                <c:pt idx="1">
                  <c:v>2592.0</c:v>
                </c:pt>
                <c:pt idx="2">
                  <c:v>4665.0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14262.76</c:v>
                </c:pt>
                <c:pt idx="1">
                  <c:v>18157.52</c:v>
                </c:pt>
                <c:pt idx="2">
                  <c:v>26460.94</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9.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5.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표지 사진 출처: {"source_id": "tour-api:127870", "source_type": "open_api", "title": "곽지해수욕장", "source_url": "https://apis.data.go.kr/B551011/KorService2", "content_id": "127870", "content_type_id": "12", "address": "제주특별자치도 제주시 애월읍 곽지리 1565", "image_url": "http://tong.visitkorea.or.kr/cms/resource/30/3053130_image2_1.jpg",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-2.9732687647158196,</a:t>
            </a:r>
          </a:p>
          <a:p xmlns:a="http://schemas.openxmlformats.org/drawingml/2006/main">
            <a:r>
              <a:t>        "target_rank": 207,</a:t>
            </a:r>
          </a:p>
          <a:p xmlns:a="http://schemas.openxmlformats.org/drawingml/2006/main">
            <a:r>
              <a:t>        "target": [</a:t>
            </a:r>
          </a:p>
          <a:p xmlns:a="http://schemas.openxmlformats.org/drawingml/2006/main">
            <a:r>
              <a:t>          3615509.992607403,</a:t>
            </a:r>
          </a:p>
          <a:p xmlns:a="http://schemas.openxmlformats.org/drawingml/2006/main">
            <a:r>
              <a:t>          3595200.8418769673,</a:t>
            </a:r>
          </a:p>
          <a:p xmlns:a="http://schemas.openxmlformats.org/drawingml/2006/main">
            <a:r>
              <a:t>          3372046.165515629</a:t>
            </a:r>
          </a:p>
          <a:p xmlns:a="http://schemas.openxmlformats.org/drawingml/2006/main">
            <a:r>
              <a:t>        ],</a:t>
            </a:r>
          </a:p>
          <a:p xmlns:a="http://schemas.openxmlformats.org/drawingml/2006/main">
            <a:r>
              <a:t>        "additional": 2592.0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-0.3035456139757309,</a:t>
            </a:r>
          </a:p>
          <a:p xmlns:a="http://schemas.openxmlformats.org/drawingml/2006/main">
            <a:r>
              <a:t>        "target_rank": 228,</a:t>
            </a:r>
          </a:p>
          <a:p xmlns:a="http://schemas.openxmlformats.org/drawingml/2006/main">
            <a:r>
              <a:t>        "target": [</a:t>
            </a:r>
          </a:p>
          <a:p xmlns:a="http://schemas.openxmlformats.org/drawingml/2006/main">
            <a:r>
              <a:t>          150497814309.8853,</a:t>
            </a:r>
          </a:p>
          <a:p xmlns:a="http://schemas.openxmlformats.org/drawingml/2006/main">
            <a:r>
              <a:t>          145144423783.03873,</a:t>
            </a:r>
          </a:p>
          <a:p xmlns:a="http://schemas.openxmlformats.org/drawingml/2006/main">
            <a:r>
              <a:t>          149458189442.076</a:t>
            </a:r>
          </a:p>
          <a:p xmlns:a="http://schemas.openxmlformats.org/drawingml/2006/main">
            <a:r>
              <a:t>        ],</a:t>
            </a:r>
          </a:p>
          <a:p xmlns:a="http://schemas.openxmlformats.org/drawingml/2006/main">
            <a:r>
              <a:t>        "additional": 181575214.0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전망 대비 방문 +0.04%, 소비 +0.06%. 운영 규모와 참여 가정으로 산정하며 실제 성과는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0.03717717212624308,</a:t>
            </a:r>
          </a:p>
          <a:p>
            <a:r>
              <a:t>    "spending_target_pct": 0.06129208930288933,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0.03717717212624308,</a:t>
            </a:r>
          </a:p>
          <a:p>
            <a:r>
              <a:t>    "spending_target_pct": 0.06129208930288933,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10,582,757명 (추가 2,592명, +0.02%)\n관광소비액: 기준 444,918,852,321원 → 목표 445,100,427,535원 (추가 181,575,214원, +0.04%)\n월별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6개 × 월 8일 × 3개월 × 하루 2회 × 회당 40명 = 11,520명분. 편성 한도 11,520명분에 이용률 75%를 적용해 8,640명 참여, 추가 방문 비중 30%로 2,592명 유치를 제안합니다. 기간 합계 ML 전망 대비 방문 +0.02%, 소비 +0.04%의 계획 시나리오입니다. 참여 목표 75%는 공통 최소 운영 목표입니다. 사례 참여율을 인용한 값이 아닙니다.\n6개 × 월 8일 × 3개월 × 하루 2회 × 회당 40명 = 11,520명분 → 편성 참여 한도 11,520건.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10582757.0,</a:t>
            </a:r>
          </a:p>
          <a:p>
            <a:r>
              <a:t>        "additional": 2592.0,</a:t>
            </a:r>
          </a:p>
          <a:p>
            <a:r>
              <a:t>        "pct": 0.024498672752271133</a:t>
            </a:r>
          </a:p>
          <a:p>
            <a:r>
              <a:t>      },</a:t>
            </a:r>
          </a:p>
          <a:p>
            <a:r>
              <a:t>      {</a:t>
            </a:r>
          </a:p>
          <a:p>
            <a:r>
              <a:t>        "key": "spending",</a:t>
            </a:r>
          </a:p>
          <a:p>
            <a:r>
              <a:t>        "label": "관광소비액",</a:t>
            </a:r>
          </a:p>
          <a:p>
            <a:r>
              <a:t>        "unit": "원",</a:t>
            </a:r>
          </a:p>
          <a:p>
            <a:r>
              <a:t>        "baseline": 444918852321.0,</a:t>
            </a:r>
          </a:p>
          <a:p>
            <a:r>
              <a:t>        "target": 445100427535.0,</a:t>
            </a:r>
          </a:p>
          <a:p>
            <a:r>
              <a:t>        "additional": 181575214.0,</a:t>
            </a:r>
          </a:p>
          <a:p>
            <a:r>
              <a:t>        "pct": 0.040810860913809144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"야간 문화·체험: 6개 × 월 8일 × 3개월 × 하루 2회 × 회당 40명 = 11,520명분. 편성 한도 11,520명분에 이용률 75%를 적용해 8,640명 참여, 추가 방문 비중 30%로 2,592명 유치를 제안합니다. 기간 합계 ML 전망 대비 방문 +0.02%, 소비 +0.04%의 계획 시나리오입니다. 참여 목표 75%는 공통 최소 운영 목표입니다. 사례 참여율을 인용한 값이 아닙니다.",</a:t>
            </a:r>
          </a:p>
          <a:p>
            <a:r>
              <a:t>    "estimate": {</a:t>
            </a:r>
          </a:p>
          <a:p>
            <a:r>
              <a:t>      "version": "operating-capacity-v2-participation-floor",</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75.0,</a:t>
            </a:r>
          </a:p>
          <a:p>
            <a:r>
              <a:t>      "redemption_count": 8640,</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"operating-capacity-v2-participation-floor",</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75.0,</a:t>
            </a:r>
          </a:p>
          <a:p>
            <a:r>
              <a:t>  "redemption_count": 8640,</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0.03717717212624308,</a:t>
            </a:r>
          </a:p>
          <a:p xmlns:a="http://schemas.openxmlformats.org/drawingml/2006/main">
            <a:r>
              <a:t>    "spending_target_pct": 0.06129208930288933,</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"tour-api:2791433", "source_type": "open_api", "title": "고내포구", "source_url": "https://apis.data.go.kr/B551011/KorService2", "content_id": "2791433", "content_type_id": "12", "address": "제주특별자치도 제주시 애월읍 고내리 1111-4", "image_url": "http://tong.visitkorea.or.kr/cms/resource/19/3589219_image2_1.jpg",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0.03717717212624308,</a:t>
            </a:r>
          </a:p>
          <a:p>
            <a:r>
              <a:t>    "spending_target_pct": 0.06129208930288933,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a:p>
            <a:r>
              <a:t>적용 공간 참고 사진(사업 참여 확정 아님): [{"source_id": "tour-api:130461", "source_type": "open_api", "title": "국립제주박물관", "content_id": "130461", "content_type_id": "14", "address": "제주특별자치도 제주시 일주동로 17 (건입동)", "source_url": "https://apis.data.go.kr/B551011/KorService2", "image_url": "https://tong.visitkorea.or.kr/cms/resource/63/3562163_image2_1.jpg"}, {"source_id": "tour-api:128641", "source_type": "open_api", "title": "제주목 관아", "content_id": "128641", "content_type_id": "12", "address": "제주특별자치도 제주시 관덕로 25", "source_url": "https://apis.data.go.kr/B551011/KorService2", "image_url": "https://tong.visitkorea.or.kr/cms/resource/65/4074265_image2_1.jpg"}]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10,582,757명 (추가 2,592명, +0.02%)\n관광소비액: 기준 444,918,852,321원 → 목표 445,100,427,535원 (추가 181,575,214원, +0.04%)\n월별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6개 × 월 8일 × 3개월 × 하루 2회 × 회당 40명 = 11,520명분. 편성 한도 11,520명분에 이용률 75%를 적용해 8,640명 참여, 추가 방문 비중 30%로 2,592명 유치를 제안합니다. 기간 합계 ML 전망 대비 방문 +0.02%, 소비 +0.04%의 계획 시나리오입니다. 참여 목표 75%는 공통 최소 운영 목표입니다. 사례 참여율을 인용한 값이 아닙니다.\n6개 × 월 8일 × 3개월 × 하루 2회 × 회당 40명 = 11,520명분 → 편성 참여 한도 11,520건.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10582757.0,</a:t>
            </a:r>
          </a:p>
          <a:p>
            <a:r>
              <a:t>        "additional": 2592.0,</a:t>
            </a:r>
          </a:p>
          <a:p>
            <a:r>
              <a:t>        "pct": 0.024498672752271133</a:t>
            </a:r>
          </a:p>
          <a:p>
            <a:r>
              <a:t>      },</a:t>
            </a:r>
          </a:p>
          <a:p>
            <a:r>
              <a:t>      {</a:t>
            </a:r>
          </a:p>
          <a:p>
            <a:r>
              <a:t>        "key": "spending",</a:t>
            </a:r>
          </a:p>
          <a:p>
            <a:r>
              <a:t>        "label": "관광소비액",</a:t>
            </a:r>
          </a:p>
          <a:p>
            <a:r>
              <a:t>        "unit": "원",</a:t>
            </a:r>
          </a:p>
          <a:p>
            <a:r>
              <a:t>        "baseline": 444918852321.0,</a:t>
            </a:r>
          </a:p>
          <a:p>
            <a:r>
              <a:t>        "target": 445100427535.0,</a:t>
            </a:r>
          </a:p>
          <a:p>
            <a:r>
              <a:t>        "additional": 181575214.0,</a:t>
            </a:r>
          </a:p>
          <a:p>
            <a:r>
              <a:t>        "pct": 0.040810860913809144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"야간 문화·체험: 6개 × 월 8일 × 3개월 × 하루 2회 × 회당 40명 = 11,520명분. 편성 한도 11,520명분에 이용률 75%를 적용해 8,640명 참여, 추가 방문 비중 30%로 2,592명 유치를 제안합니다. 기간 합계 ML 전망 대비 방문 +0.02%, 소비 +0.04%의 계획 시나리오입니다. 참여 목표 75%는 공통 최소 운영 목표입니다. 사례 참여율을 인용한 값이 아닙니다.",</a:t>
            </a:r>
          </a:p>
          <a:p>
            <a:r>
              <a:t>    "estimate": {</a:t>
            </a:r>
          </a:p>
          <a:p>
            <a:r>
              <a:t>      "version": "operating-capacity-v2-participation-floor",</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75.0,</a:t>
            </a:r>
          </a:p>
          <a:p>
            <a:r>
              <a:t>      "redemption_count": 8640,</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"operating-capacity-v2-participation-floor",</a:t>
            </a:r>
          </a:p>
          <a:p>
            <a:r>
              <a:t>  "status": "proposed",</a:t>
            </a:r>
          </a:p>
          <a:p>
            <a:r>
              <a:t>  "minimum_operating_budget_krw": 41360000,</a:t>
            </a:r>
          </a:p>
          <a:p>
            <a:r>
              <a:t>  "family": "night_time_experience",</a:t>
            </a:r>
          </a:p>
          <a:p>
            <a:r>
              <a:t>  "program_label": "야간 문화·체험",</a:t>
            </a:r>
          </a:p>
          <a:p>
            <a:r>
              <a:t>  "site_label": "운영 거점",</a:t>
            </a:r>
          </a:p>
          <a:p>
            <a:r>
              <a:t>  "months": 3,</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40,</a:t>
            </a:r>
          </a:p>
          <a:p>
            <a:r>
              <a:t>  "capacity": 11520,</a:t>
            </a:r>
          </a:p>
          <a:p>
            <a:r>
              <a:t>  "funded_capacity": 11520,</a:t>
            </a:r>
          </a:p>
          <a:p>
            <a:r>
              <a:t>  "scale_rule": "운영 거점 = ceil(√(월평균 ML 방문 전망 ÷ 100,000)), 최소 1·최대 12개",</a:t>
            </a:r>
          </a:p>
          <a:p>
            <a:r>
              <a:t>  "capacity_formula": "6개 × 월 8일 × 3개월 × 하루 2회 × 회당 40명 = 11,520명분",</a:t>
            </a:r>
          </a:p>
          <a:p>
            <a:r>
              <a:t>  "scale_kind": "planning_rule_not_population_model",</a:t>
            </a:r>
          </a:p>
          <a:p>
            <a:r>
              <a:t>  "spending_per_visit_proxy_krw": 42052.16575743384,</a:t>
            </a:r>
          </a:p>
          <a:p>
            <a:r>
              <a:t>  "existing_participant_extra_spend_krw": 12000,</a:t>
            </a:r>
          </a:p>
          <a:p>
            <a:r>
              <a:t>  "spending_formula": "추가 방문 × (ML 소비 합계 ÷ ML 방문 합계) + 기존 방문 참여 × 추가 구매 가정액",</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8640,</a:t>
            </a:r>
          </a:p>
          <a:p>
            <a:r>
              <a:t>      "additional_visitors": 1296,</a:t>
            </a:r>
          </a:p>
          <a:p>
            <a:r>
              <a:t>      "additional_spending_krw": 142627607,</a:t>
            </a:r>
          </a:p>
          <a:p>
            <a:r>
              <a:t>      "visitor_growth_pct": 0.012249336376134021,</a:t>
            </a:r>
          </a:p>
          <a:p>
            <a:r>
              <a:t>      "spending_growth_pct": 0.032056993372152516,</a:t>
            </a:r>
          </a:p>
          <a:p>
            <a:r>
              <a:t>      "visitor_target_pct": 0.01858858606312154,</a:t>
            </a:r>
          </a:p>
          <a:p>
            <a:r>
              <a:t>      "spending_target_pct": 0.04814502944934656</a:t>
            </a:r>
          </a:p>
          <a:p>
            <a:r>
              <a:t>    },</a:t>
            </a:r>
          </a:p>
          <a:p>
            <a:r>
              <a:t>    {</a:t>
            </a:r>
          </a:p>
          <a:p>
            <a:r>
              <a:t>      "label": "기준",</a:t>
            </a:r>
          </a:p>
          <a:p>
            <a:r>
              <a:t>      "utilization_pct": 75.0,</a:t>
            </a:r>
          </a:p>
          <a:p>
            <a:r>
              <a:t>      "additional_visitor_share_pct": 30.0,</a:t>
            </a:r>
          </a:p>
          <a:p>
            <a:r>
              <a:t>      "participants": 8640,</a:t>
            </a:r>
          </a:p>
          <a:p>
            <a:r>
              <a:t>      "additional_visitors": 2592,</a:t>
            </a:r>
          </a:p>
          <a:p>
            <a:r>
              <a:t>      "additional_spending_krw": 181575214,</a:t>
            </a:r>
          </a:p>
          <a:p>
            <a:r>
              <a:t>      "visitor_growth_pct": 0.024498672752268042,</a:t>
            </a:r>
          </a:p>
          <a:p>
            <a:r>
              <a:t>      "spending_growth_pct": 0.04081086091380033,</a:t>
            </a:r>
          </a:p>
          <a:p>
            <a:r>
              <a:t>      "visitor_target_pct": 0.03717717212624308,</a:t>
            </a:r>
          </a:p>
          <a:p>
            <a:r>
              <a:t>      "spending_target_pct": 0.06129208930288933</a:t>
            </a:r>
          </a:p>
          <a:p>
            <a:r>
              <a:t>    },</a:t>
            </a:r>
          </a:p>
          <a:p>
            <a:r>
              <a:t>    {</a:t>
            </a:r>
          </a:p>
          <a:p>
            <a:r>
              <a:t>      "label": "확대",</a:t>
            </a:r>
          </a:p>
          <a:p>
            <a:r>
              <a:t>      "utilization_pct": 90.0,</a:t>
            </a:r>
          </a:p>
          <a:p>
            <a:r>
              <a:t>      "additional_visitor_share_pct": 44.99999999999999,</a:t>
            </a:r>
          </a:p>
          <a:p>
            <a:r>
              <a:t>      "participants": 10368,</a:t>
            </a:r>
          </a:p>
          <a:p>
            <a:r>
              <a:t>      "additional_visitors": 4665,</a:t>
            </a:r>
          </a:p>
          <a:p>
            <a:r>
              <a:t>      "additional_spending_krw": 264609353,</a:t>
            </a:r>
          </a:p>
          <a:p>
            <a:r>
              <a:t>      "visitor_growth_pct": 0.04409193996501945,</a:t>
            </a:r>
          </a:p>
          <a:p>
            <a:r>
              <a:t>      "spending_growth_pct": 0.05947362122769518,</a:t>
            </a:r>
          </a:p>
          <a:p>
            <a:r>
              <a:t>      "visitor_target_pct": 0.06691030400035648,</a:t>
            </a:r>
          </a:p>
          <a:p>
            <a:r>
              <a:t>      "spending_target_pct": 0.08932089208197638</a:t>
            </a:r>
          </a:p>
          <a:p>
            <a:r>
              <a:t>    }</a:t>
            </a:r>
          </a:p>
          <a:p>
            <a:r>
              <a:t>  ],</a:t>
            </a:r>
          </a:p>
          <a:p>
            <a:r>
              <a:t>  "central": {</a:t>
            </a:r>
          </a:p>
          <a:p>
            <a:r>
              <a:t>    "label": "기준",</a:t>
            </a:r>
          </a:p>
          <a:p>
            <a:r>
              <a:t>    "utilization_pct": 75.0,</a:t>
            </a:r>
          </a:p>
          <a:p>
            <a:r>
              <a:t>    "additional_visitor_share_pct": 30.0,</a:t>
            </a:r>
          </a:p>
          <a:p>
            <a:r>
              <a:t>    "participants": 8640,</a:t>
            </a:r>
          </a:p>
          <a:p>
            <a:r>
              <a:t>    "additional_visitors": 2592,</a:t>
            </a:r>
          </a:p>
          <a:p>
            <a:r>
              <a:t>    "additional_spending_krw": 181575214,</a:t>
            </a:r>
          </a:p>
          <a:p>
            <a:r>
              <a:t>    "visitor_growth_pct": 0.024498672752268042,</a:t>
            </a:r>
          </a:p>
          <a:p>
            <a:r>
              <a:t>    "spending_growth_pct": 0.04081086091380033,</a:t>
            </a:r>
          </a:p>
          <a:p>
            <a:r>
              <a:t>    "visitor_target_pct": 0.03717717212624308,</a:t>
            </a:r>
          </a:p>
          <a:p>
            <a:r>
              <a:t>    "spending_target_pct": 0.06129208930288933</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"case:4bac3530eca721",</a:t>
            </a:r>
          </a:p>
          <a:p>
            <a:r>
              <a:t>      "title": "2024년 문화재야행 사업 예산 확정자료",</a:t>
            </a:r>
          </a:p>
          <a:p>
            <a:r>
              <a:t>      "source_url": "https://culture.seoul.go.kr/culture/cmmn/file/fileDown.do?atchFileId=c4638ecc9ce84bba9e51ecc2e11293e2&amp;bbsId=&amp;fileSn=2&amp;menuNo=200050",</a:t>
            </a:r>
          </a:p>
          <a:p>
            <a:r>
              <a:t>      "operating_model": "문화유산이 모인 거점을 중심으로 야간 개방, 해설, 공연과 체험프로그램을 구성하고 국비와 지방비를 결합해 운영했다.",</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a:t>
            </a:r>
          </a:p>
          <a:p>
            <a:r>
              <a:t>  ],</a:t>
            </a:r>
          </a:p>
          <a:p>
            <a:r>
              <a:t>  "explanation": "야간 문화·체험: 6개 × 월 8일 × 3개월 × 하루 2회 × 회당 40명 = 11,520명분. 편성 한도 11,520명분에 이용률 75%를 적용해 8,640명 참여, 추가 방문 비중 30%로 2,592명 유치를 제안합니다. 기간 합계 ML 전망 대비 방문 +0.02%, 소비 +0.04%의 계획 시나리오입니다. 참여 목표 75%는 공통 최소 운영 목표입니다. 사례 참여율을 인용한 값이 아닙니다.",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"estimate": {</a:t>
            </a:r>
          </a:p>
          <a:p>
            <a:r>
              <a:t>    "version": "operating-capacity-v2-participation-floor",</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75.0,</a:t>
            </a:r>
          </a:p>
          <a:p>
            <a:r>
              <a:t>    "redemption_count": 8640,</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"operating-capacity-v2-participation-floor",</a:t>
            </a:r>
          </a:p>
          <a:p>
            <a:r>
              <a:t>  "status": "proposed",</a:t>
            </a:r>
          </a:p>
          <a:p>
            <a:r>
              <a:t>  "minimum_operating_budget_krw": 41360000,</a:t>
            </a:r>
          </a:p>
          <a:p>
            <a:r>
              <a:t>  "family": "night_time_experience",</a:t>
            </a:r>
          </a:p>
          <a:p>
            <a:r>
              <a:t>  "program_label": "야간 문화·체험",</a:t>
            </a:r>
          </a:p>
          <a:p>
            <a:r>
              <a:t>  "site_label": "운영 거점",</a:t>
            </a:r>
          </a:p>
          <a:p>
            <a:r>
              <a:t>  "months": 3,</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40,</a:t>
            </a:r>
          </a:p>
          <a:p>
            <a:r>
              <a:t>  "capacity": 11520,</a:t>
            </a:r>
          </a:p>
          <a:p>
            <a:r>
              <a:t>  "funded_capacity": 11520,</a:t>
            </a:r>
          </a:p>
          <a:p>
            <a:r>
              <a:t>  "scale_rule": "운영 거점 = ceil(√(월평균 ML 방문 전망 ÷ 100,000)), 최소 1·최대 12개",</a:t>
            </a:r>
          </a:p>
          <a:p>
            <a:r>
              <a:t>  "capacity_formula": "6개 × 월 8일 × 3개월 × 하루 2회 × 회당 40명 = 11,520명분",</a:t>
            </a:r>
          </a:p>
          <a:p>
            <a:r>
              <a:t>  "scale_kind": "planning_rule_not_population_model",</a:t>
            </a:r>
          </a:p>
          <a:p>
            <a:r>
              <a:t>  "spending_per_visit_proxy_krw": 42052.16575743384,</a:t>
            </a:r>
          </a:p>
          <a:p>
            <a:r>
              <a:t>  "existing_participant_extra_spend_krw": 12000,</a:t>
            </a:r>
          </a:p>
          <a:p>
            <a:r>
              <a:t>  "spending_formula": "추가 방문 × (ML 소비 합계 ÷ ML 방문 합계) + 기존 방문 참여 × 추가 구매 가정액",</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8640,</a:t>
            </a:r>
          </a:p>
          <a:p>
            <a:r>
              <a:t>      "additional_visitors": 1296,</a:t>
            </a:r>
          </a:p>
          <a:p>
            <a:r>
              <a:t>      "additional_spending_krw": 142627607,</a:t>
            </a:r>
          </a:p>
          <a:p>
            <a:r>
              <a:t>      "visitor_growth_pct": 0.012249336376134021,</a:t>
            </a:r>
          </a:p>
          <a:p>
            <a:r>
              <a:t>      "spending_growth_pct": 0.032056993372152516,</a:t>
            </a:r>
          </a:p>
          <a:p>
            <a:r>
              <a:t>      "visitor_target_pct": 0.01858858606312154,</a:t>
            </a:r>
          </a:p>
          <a:p>
            <a:r>
              <a:t>      "spending_target_pct": 0.04814502944934656</a:t>
            </a:r>
          </a:p>
          <a:p>
            <a:r>
              <a:t>    },</a:t>
            </a:r>
          </a:p>
          <a:p>
            <a:r>
              <a:t>    {</a:t>
            </a:r>
          </a:p>
          <a:p>
            <a:r>
              <a:t>      "label": "기준",</a:t>
            </a:r>
          </a:p>
          <a:p>
            <a:r>
              <a:t>      "utilization_pct": 75.0,</a:t>
            </a:r>
          </a:p>
          <a:p>
            <a:r>
              <a:t>      "additional_visitor_share_pct": 30.0,</a:t>
            </a:r>
          </a:p>
          <a:p>
            <a:r>
              <a:t>      "participants": 8640,</a:t>
            </a:r>
          </a:p>
          <a:p>
            <a:r>
              <a:t>      "additional_visitors": 2592,</a:t>
            </a:r>
          </a:p>
          <a:p>
            <a:r>
              <a:t>      "additional_spending_krw": 181575214,</a:t>
            </a:r>
          </a:p>
          <a:p>
            <a:r>
              <a:t>      "visitor_growth_pct": 0.024498672752268042,</a:t>
            </a:r>
          </a:p>
          <a:p>
            <a:r>
              <a:t>      "spending_growth_pct": 0.04081086091380033,</a:t>
            </a:r>
          </a:p>
          <a:p>
            <a:r>
              <a:t>      "visitor_target_pct": 0.03717717212624308,</a:t>
            </a:r>
          </a:p>
          <a:p>
            <a:r>
              <a:t>      "spending_target_pct": 0.06129208930288933</a:t>
            </a:r>
          </a:p>
          <a:p>
            <a:r>
              <a:t>    },</a:t>
            </a:r>
          </a:p>
          <a:p>
            <a:r>
              <a:t>    {</a:t>
            </a:r>
          </a:p>
          <a:p>
            <a:r>
              <a:t>      "label": "확대",</a:t>
            </a:r>
          </a:p>
          <a:p>
            <a:r>
              <a:t>      "utilization_pct": 90.0,</a:t>
            </a:r>
          </a:p>
          <a:p>
            <a:r>
              <a:t>      "additional_visitor_share_pct": 44.99999999999999,</a:t>
            </a:r>
          </a:p>
          <a:p>
            <a:r>
              <a:t>      "participants": 10368,</a:t>
            </a:r>
          </a:p>
          <a:p>
            <a:r>
              <a:t>      "additional_visitors": 4665,</a:t>
            </a:r>
          </a:p>
          <a:p>
            <a:r>
              <a:t>      "additional_spending_krw": 264609353,</a:t>
            </a:r>
          </a:p>
          <a:p>
            <a:r>
              <a:t>      "visitor_growth_pct": 0.04409193996501945,</a:t>
            </a:r>
          </a:p>
          <a:p>
            <a:r>
              <a:t>      "spending_growth_pct": 0.05947362122769518,</a:t>
            </a:r>
          </a:p>
          <a:p>
            <a:r>
              <a:t>      "visitor_target_pct": 0.06691030400035648,</a:t>
            </a:r>
          </a:p>
          <a:p>
            <a:r>
              <a:t>      "spending_target_pct": 0.08932089208197638</a:t>
            </a:r>
          </a:p>
          <a:p>
            <a:r>
              <a:t>    }</a:t>
            </a:r>
          </a:p>
          <a:p>
            <a:r>
              <a:t>  ],</a:t>
            </a:r>
          </a:p>
          <a:p>
            <a:r>
              <a:t>  "central": {</a:t>
            </a:r>
          </a:p>
          <a:p>
            <a:r>
              <a:t>    "label": "기준",</a:t>
            </a:r>
          </a:p>
          <a:p>
            <a:r>
              <a:t>    "utilization_pct": 75.0,</a:t>
            </a:r>
          </a:p>
          <a:p>
            <a:r>
              <a:t>    "additional_visitor_share_pct": 30.0,</a:t>
            </a:r>
          </a:p>
          <a:p>
            <a:r>
              <a:t>    "participants": 8640,</a:t>
            </a:r>
          </a:p>
          <a:p>
            <a:r>
              <a:t>    "additional_visitors": 2592,</a:t>
            </a:r>
          </a:p>
          <a:p>
            <a:r>
              <a:t>    "additional_spending_krw": 181575214,</a:t>
            </a:r>
          </a:p>
          <a:p>
            <a:r>
              <a:t>    "visitor_growth_pct": 0.024498672752268042,</a:t>
            </a:r>
          </a:p>
          <a:p>
            <a:r>
              <a:t>    "spending_growth_pct": 0.04081086091380033,</a:t>
            </a:r>
          </a:p>
          <a:p>
            <a:r>
              <a:t>    "visitor_target_pct": 0.03717717212624308,</a:t>
            </a:r>
          </a:p>
          <a:p>
            <a:r>
              <a:t>    "spending_target_pct": 0.06129208930288933</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"case:4bac3530eca721",</a:t>
            </a:r>
          </a:p>
          <a:p>
            <a:r>
              <a:t>      "title": "2024년 문화재야행 사업 예산 확정자료",</a:t>
            </a:r>
          </a:p>
          <a:p>
            <a:r>
              <a:t>      "source_url": "https://culture.seoul.go.kr/culture/cmmn/file/fileDown.do?atchFileId=c4638ecc9ce84bba9e51ecc2e11293e2&amp;bbsId=&amp;fileSn=2&amp;menuNo=200050",</a:t>
            </a:r>
          </a:p>
          <a:p>
            <a:r>
              <a:t>      "operating_model": "문화유산이 모인 거점을 중심으로 야간 개방, 해설, 공연과 체험프로그램을 구성하고 국비와 지방비를 결합해 운영했다.",</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a:t>
            </a:r>
          </a:p>
          <a:p>
            <a:r>
              <a:t>  ],</a:t>
            </a:r>
          </a:p>
          <a:p>
            <a:r>
              <a:t>  "explanation": "야간 문화·체험: 6개 × 월 8일 × 3개월 × 하루 2회 × 회당 40명 = 11,520명분. 편성 한도 11,520명분에 이용률 75%를 적용해 8,640명 참여, 추가 방문 비중 30%로 2,592명 유치를 제안합니다. 기간 합계 ML 전망 대비 방문 +0.02%, 소비 +0.04%의 계획 시나리오입니다. 참여 목표 75%는 공통 최소 운영 목표입니다. 사례 참여율을 인용한 값이 아닙니다.",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"estimate": {</a:t>
            </a:r>
          </a:p>
          <a:p>
            <a:r>
              <a:t>    "version": "operating-capacity-v2-participation-floor",</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75.0,</a:t>
            </a:r>
          </a:p>
          <a:p>
            <a:r>
              <a:t>    "redemption_count": 8640,</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8.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 Id="rId4" Type="http://schemas.openxmlformats.org/officeDocument/2006/relationships/image" Target="../media/image20.jpg"/><Relationship Id="rId5" Type="http://schemas.openxmlformats.org/officeDocument/2006/relationships/hyperlink" Target="https://apis.data.go.kr/B551011/KorService2" TargetMode="External"/><Relationship Id="rId6" Type="http://schemas.openxmlformats.org/officeDocument/2006/relationships/image" Target="../media/image21.jpg"/></Relationships>
</file>

<file path=ppt/slides/_rels/slide9.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image" Target="../media/image33.png"/><Relationship Id="rId23" Type="http://schemas.openxmlformats.org/officeDocument/2006/relationships/image" Target="../media/image34.png"/><Relationship Id="rId24" Type="http://schemas.openxmlformats.org/officeDocument/2006/relationships/image" Target="../media/image35.png"/><Relationship Id="rId25" Type="http://schemas.openxmlformats.org/officeDocument/2006/relationships/image" Target="../media/image36.png"/><Relationship Id="rId26" Type="http://schemas.openxmlformats.org/officeDocument/2006/relationships/image" Target="../media/image37.png"/></Relationships>
</file>

<file path=ppt/slides/_rels/slide13.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9.jpg"/><Relationship Id="rId4" Type="http://schemas.openxmlformats.org/officeDocument/2006/relationships/hyperlink" Target="https://apis.data.go.kr/B551011/KorService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hyperlink" Target="https://www.junggu.seoul.kr/content.do?cid=1280957763&amp;cmsid=14390&amp;mode=view"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제주시 야간 문화유산 및 시설 개방</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2026.09.15</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제주특별자치도</a:t>
            </a:r>
          </a:p>
        </p:txBody>
      </p:sp>
      <p:sp xmlns:a="http://schemas.openxmlformats.org/drawingml/2006/main">
        <p:nvSpPr>
          <p:cNvPr id="11" name="cover-title-rule"/>
          <p:cNvSpPr/>
          <p:nvPr/>
        </p:nvSpPr>
        <p:spPr>
          <a:xfrm>
            <a:off x="762000" y="4371975"/>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제주특별자치도 제주시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서울특별시 문화유산 집적지역 · 기존</a:t>
            </a:r>
          </a:p>
          <a:p>
            <a:pPr eaLnBrk="0">
              <a:lnSpc>
                <a:spcPts val="2125"/>
              </a:lnSpc>
              <a:spcBef>
                <a:spcPts val="0"/>
              </a:spcBef>
              <a:spcAft>
                <a:spcPts val="0"/>
              </a:spcAft>
            </a:pPr>
            <a:r>
              <a:rPr sz="1700" b="1">
                <a:solidFill>
                  <a:srgbClr val="202124"/>
                </a:solidFill>
                <a:latin typeface="Century Gothic"/>
                <a:ea typeface="맑은 고딕"/>
              </a:rPr>
              <a:t>문화유산을 활용한 야간</a:t>
            </a:r>
          </a:p>
          <a:p>
            <a:pPr eaLnBrk="0">
              <a:lnSpc>
                <a:spcPts val="2125"/>
              </a:lnSpc>
              <a:spcBef>
                <a:spcPts val="0"/>
              </a:spcBef>
              <a:spcAft>
                <a:spcPts val="0"/>
              </a:spcAft>
            </a:pPr>
            <a:r>
              <a:rPr sz="1700" b="1">
                <a:solidFill>
                  <a:srgbClr val="202124"/>
                </a:solidFill>
                <a:latin typeface="Century Gothic"/>
                <a:ea typeface="맑은 고딕"/>
              </a:rPr>
              <a:t>개방·체험 프로그램</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문화유산이 모인 거점을 중심으로 야간 개방,</a:t>
            </a:r>
          </a:p>
          <a:p>
            <a:pPr eaLnBrk="0">
              <a:lnSpc>
                <a:spcPts val="1875"/>
              </a:lnSpc>
              <a:spcBef>
                <a:spcPts val="0"/>
              </a:spcBef>
              <a:spcAft>
                <a:spcPts val="0"/>
              </a:spcAft>
            </a:pPr>
            <a:r>
              <a:rPr sz="1500" b="0">
                <a:solidFill>
                  <a:srgbClr val="62666C"/>
                </a:solidFill>
                <a:latin typeface="Century Gothic"/>
                <a:ea typeface="맑은 고딕"/>
              </a:rPr>
              <a:t>해설, 공연과 체험프로그램을 구성하고</a:t>
            </a:r>
          </a:p>
          <a:p>
            <a:pPr eaLnBrk="0">
              <a:lnSpc>
                <a:spcPts val="1875"/>
              </a:lnSpc>
              <a:spcBef>
                <a:spcPts val="0"/>
              </a:spcBef>
              <a:spcAft>
                <a:spcPts val="0"/>
              </a:spcAft>
            </a:pPr>
            <a:r>
              <a:rPr sz="1500" b="0">
                <a:solidFill>
                  <a:srgbClr val="62666C"/>
                </a:solidFill>
                <a:latin typeface="Century Gothic"/>
                <a:ea typeface="맑은 고딕"/>
              </a:rPr>
              <a:t>국비와 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457825"/>
            <a:ext cx="2578195"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서울 중구 정동 · 정동야행 행사 사진</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서울문화포털 · 2024 정동야행</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반값여행 지역환급</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여행자가 지역에서 지출한 비용의 일부를</a:t>
            </a:r>
          </a:p>
          <a:p>
            <a:pPr eaLnBrk="0">
              <a:lnSpc>
                <a:spcPts val="1875"/>
              </a:lnSpc>
              <a:spcBef>
                <a:spcPts val="0"/>
              </a:spcBef>
              <a:spcAft>
                <a:spcPts val="0"/>
              </a:spcAft>
            </a:pPr>
            <a:r>
              <a:rPr sz="1500" b="0">
                <a:solidFill>
                  <a:srgbClr val="62666C"/>
                </a:solidFill>
                <a:latin typeface="Century Gothic"/>
                <a:ea typeface="맑은 고딕"/>
              </a:rPr>
              <a:t>지역상품권으로 돌려받게 하여 혜택이 다시</a:t>
            </a:r>
          </a:p>
          <a:p>
            <a:pPr eaLnBrk="0">
              <a:lnSpc>
                <a:spcPts val="1875"/>
              </a:lnSpc>
              <a:spcBef>
                <a:spcPts val="0"/>
              </a:spcBef>
              <a:spcAft>
                <a:spcPts val="0"/>
              </a:spcAft>
            </a:pPr>
            <a:r>
              <a:rPr sz="1500" b="0">
                <a:solidFill>
                  <a:srgbClr val="62666C"/>
                </a:solidFill>
                <a:latin typeface="Century Gothic"/>
                <a:ea typeface="맑은 고딕"/>
              </a:rPr>
              <a:t>지역 상점에서 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457825"/>
            <a:ext cx="3211126"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강진군 · 반값여행 공식 홍보물</a:t>
            </a:r>
          </a:p>
          <a:p>
            <a:pPr eaLnBrk="0">
              <a:lnSpc>
                <a:spcPts val="1500"/>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강진 반값여행 공식 홈페이지</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전국 인구감소지역 34곳 · 디지털</a:t>
            </a:r>
          </a:p>
          <a:p>
            <a:pPr eaLnBrk="0">
              <a:lnSpc>
                <a:spcPts val="2125"/>
              </a:lnSpc>
              <a:spcBef>
                <a:spcPts val="0"/>
              </a:spcBef>
              <a:spcAft>
                <a:spcPts val="0"/>
              </a:spcAft>
            </a:pPr>
            <a:r>
              <a:rPr sz="1700" b="1">
                <a:solidFill>
                  <a:srgbClr val="202124"/>
                </a:solidFill>
                <a:latin typeface="Century Gothic"/>
                <a:ea typeface="맑은 고딕"/>
              </a:rPr>
              <a:t>관광주민증과 교통·숙박·상점</a:t>
            </a:r>
          </a:p>
          <a:p>
            <a:pPr eaLnBrk="0">
              <a:lnSpc>
                <a:spcPts val="2125"/>
              </a:lnSpc>
              <a:spcBef>
                <a:spcPts val="0"/>
              </a:spcBef>
              <a:spcAft>
                <a:spcPts val="0"/>
              </a:spcAft>
            </a:pPr>
            <a:r>
              <a:rPr sz="1700" b="1">
                <a:solidFill>
                  <a:srgbClr val="202124"/>
                </a:solidFill>
                <a:latin typeface="Century Gothic"/>
                <a:ea typeface="맑은 고딕"/>
              </a:rPr>
              <a:t>할인 결합</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디지털 관광주민증 참여업체 현장 인증과</a:t>
            </a:r>
          </a:p>
          <a:p>
            <a:pPr eaLnBrk="0">
              <a:lnSpc>
                <a:spcPts val="1875"/>
              </a:lnSpc>
              <a:spcBef>
                <a:spcPts val="0"/>
              </a:spcBef>
              <a:spcAft>
                <a:spcPts val="0"/>
              </a:spcAft>
            </a:pPr>
            <a:r>
              <a:rPr sz="1500" b="0">
                <a:solidFill>
                  <a:srgbClr val="62666C"/>
                </a:solidFill>
                <a:latin typeface="Century Gothic"/>
                <a:ea typeface="맑은 고딕"/>
              </a:rPr>
              <a:t>숙박·식음·관람·체험 할인, 특정 시간대 KTX</a:t>
            </a:r>
          </a:p>
          <a:p>
            <a:pPr eaLnBrk="0">
              <a:lnSpc>
                <a:spcPts val="1875"/>
              </a:lnSpc>
              <a:spcBef>
                <a:spcPts val="0"/>
              </a:spcBef>
              <a:spcAft>
                <a:spcPts val="0"/>
              </a:spcAft>
            </a:pPr>
            <a:r>
              <a:rPr sz="1500" b="0">
                <a:solidFill>
                  <a:srgbClr val="62666C"/>
                </a:solidFill>
                <a:latin typeface="Century Gothic"/>
                <a:ea typeface="맑은 고딕"/>
              </a:rPr>
              <a:t>할인과 방문 후 교통 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전국 · 디지털 관광주민증 홍보물</a:t>
            </a:r>
          </a:p>
          <a:p>
            <a:pPr eaLnBrk="0">
              <a:lnSpc>
                <a:spcPts val="1500"/>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04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선정한 서울 문화재야행 사업에 포함된 정동야행</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028950"/>
            <a:ext cx="5070451" cy="3371850"/>
          </a:xfrm>
          <a:prstGeom prst="rect">
            <a:avLst/>
          </a:prstGeom>
        </p:spPr>
      </p:pic>
      <p:sp>
        <p:nvSpPr>
          <p:cNvPr id="9" name="result-metric"/>
          <p:cNvSpPr txBox="1"/>
          <p:nvPr/>
        </p:nvSpPr>
        <p:spPr>
          <a:xfrm>
            <a:off x="7172325" y="29337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4290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38862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37338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3719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48291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6767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5530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56959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a:t>
            </a:r>
          </a:p>
        </p:txBody>
      </p:sp>
      <p:sp>
        <p:nvSpPr>
          <p:cNvPr id="18" name="result-change-formula"/>
          <p:cNvSpPr txBox="1"/>
          <p:nvPr/>
        </p:nvSpPr>
        <p:spPr>
          <a:xfrm>
            <a:off x="7381875" y="62388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67341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05 / 17</a:t>
            </a:r>
          </a:p>
        </p:txBody>
      </p:sp>
      <p:sp>
        <p:nvSpPr>
          <p:cNvPr id="26" name="result-photo-source-bg"/>
          <p:cNvSpPr/>
          <p:nvPr/>
        </p:nvSpPr>
        <p:spPr>
          <a:xfrm>
            <a:off x="1379549" y="5715000"/>
            <a:ext cx="4841851"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sult-photo-source">
            <a:hlinkClick r:id="rId4"/>
          </p:cNvPr>
          <p:cNvSpPr txBox="1"/>
          <p:nvPr/>
        </p:nvSpPr>
        <p:spPr>
          <a:xfrm>
            <a:off x="1493849" y="5753100"/>
            <a:ext cx="4613251"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서울 중구 정동 · 정동야행 행사 사진</a:t>
            </a:r>
          </a:p>
          <a:p>
            <a:pPr eaLnBrk="0" algn="ctr">
              <a:lnSpc>
                <a:spcPts val="1593"/>
              </a:lnSpc>
              <a:spcBef>
                <a:spcPts val="0"/>
              </a:spcBef>
              <a:spcAft>
                <a:spcPts val="0"/>
              </a:spcAft>
            </a:pPr>
            <a:r>
              <a:rPr sz="1275" b="0">
                <a:solidFill>
                  <a:srgbClr val="FFFFFF"/>
                </a:solidFill>
                <a:latin typeface="Noto Sans KR"/>
              </a:rPr>
              <a:t>출처: 서울문화포털 · 2024 정동야행</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a:t>
            </a:r>
          </a:p>
          <a:p>
            <a:pPr eaLnBrk="0">
              <a:lnSpc>
                <a:spcPts val="2156"/>
              </a:lnSpc>
              <a:spcBef>
                <a:spcPts val="0"/>
              </a:spcBef>
              <a:spcAft>
                <a:spcPts val="0"/>
              </a:spcAft>
            </a:pPr>
            <a:r>
              <a:rPr sz="1725" b="0">
                <a:solidFill>
                  <a:srgbClr val="202124"/>
                </a:solidFill>
                <a:latin typeface="Noto Sans KR"/>
              </a:rPr>
              <a:t>기존 시설을 활용하여 야간 개방 및 체험</a:t>
            </a:r>
          </a:p>
          <a:p>
            <a:pPr eaLnBrk="0">
              <a:lnSpc>
                <a:spcPts val="2156"/>
              </a:lnSpc>
              <a:spcBef>
                <a:spcPts val="0"/>
              </a:spcBef>
              <a:spcAft>
                <a:spcPts val="0"/>
              </a:spcAft>
            </a:pPr>
            <a:r>
              <a:rPr sz="1725" b="0">
                <a:solidFill>
                  <a:srgbClr val="202124"/>
                </a:solidFill>
                <a:latin typeface="Noto Sans KR"/>
              </a:rPr>
              <a:t>프로그램을 확대 운영</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1,058만 명</a:t>
            </a:r>
          </a:p>
          <a:p>
            <a:pPr eaLnBrk="0">
              <a:lnSpc>
                <a:spcPts val="2156"/>
              </a:lnSpc>
              <a:spcBef>
                <a:spcPts val="0"/>
              </a:spcBef>
              <a:spcAft>
                <a:spcPts val="0"/>
              </a:spcAft>
            </a:pPr>
            <a:r>
              <a:rPr sz="1725" b="0">
                <a:solidFill>
                  <a:srgbClr val="202124"/>
                </a:solidFill>
                <a:latin typeface="Noto Sans KR"/>
              </a:rPr>
              <a:t>관광소비액 4,451억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06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+2,592명, 관광소비액 약 +1억 8,158만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제주특별자치도 제주시의 3개월 운영안</a:t>
            </a:r>
          </a:p>
          <a:p>
            <a:pPr eaLnBrk="0">
              <a:lnSpc>
                <a:spcPts val="2437"/>
              </a:lnSpc>
              <a:spcBef>
                <a:spcPts val="0"/>
              </a:spcBef>
              <a:spcAft>
                <a:spcPts val="0"/>
              </a:spcAft>
            </a:pPr>
            <a:r>
              <a:rPr sz="1950" b="0">
                <a:solidFill>
                  <a:srgbClr val="62666C"/>
                </a:solidFill>
                <a:latin typeface="Noto Sans KR"/>
              </a:rPr>
              <a:t>사업기간 2026.10 ~ 2026.12</a:t>
            </a:r>
          </a:p>
          <a:p>
            <a:pPr eaLnBrk="0">
              <a:lnSpc>
                <a:spcPts val="2437"/>
              </a:lnSpc>
              <a:spcBef>
                <a:spcPts val="0"/>
              </a:spcBef>
              <a:spcAft>
                <a:spcPts val="0"/>
              </a:spcAft>
            </a:pPr>
            <a:r>
              <a:rPr sz="1950" b="0">
                <a:solidFill>
                  <a:srgbClr val="62666C"/>
                </a:solidFill>
                <a:latin typeface="Noto Sans KR"/>
              </a:rPr>
              <a:t>편성 정원 11,520명분 × 이용률 75%</a:t>
            </a:r>
          </a:p>
          <a:p>
            <a:pPr eaLnBrk="0">
              <a:lnSpc>
                <a:spcPts val="2437"/>
              </a:lnSpc>
              <a:spcBef>
                <a:spcPts val="0"/>
              </a:spcBef>
              <a:spcAft>
                <a:spcPts val="0"/>
              </a:spcAft>
            </a:pPr>
            <a:r>
              <a:rPr sz="1950" b="0">
                <a:solidFill>
                  <a:srgbClr val="62666C"/>
                </a:solidFill>
                <a:latin typeface="Noto Sans KR"/>
              </a:rPr>
              <a:t>예상 참여 8,640명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2,592명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6개 거점 × 월 8일 × 3개월</a:t>
            </a:r>
          </a:p>
          <a:p>
            <a:pPr eaLnBrk="0">
              <a:lnSpc>
                <a:spcPts val="2062"/>
              </a:lnSpc>
              <a:spcBef>
                <a:spcPts val="0"/>
              </a:spcBef>
              <a:spcAft>
                <a:spcPts val="0"/>
              </a:spcAft>
            </a:pPr>
            <a:r>
              <a:rPr sz="1650" b="0">
                <a:solidFill>
                  <a:srgbClr val="62666C"/>
                </a:solidFill>
                <a:latin typeface="Noto Sans KR"/>
              </a:rPr>
              <a:t>× 하루 2회 × 회당 40명 = 11,520명분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2,592명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1.82억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+0.04%</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733550"/>
            <a:ext cx="13220700" cy="6191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524125"/>
          <a:ext cx="13220700" cy="3143250"/>
        </p:xfrm>
        <a:graphic>
          <a:graphicData uri="http://schemas.openxmlformats.org/drawingml/2006/table">
            <a:tbl>
              <a:tblPr firstRow="1" bandRow="1">
                <a:tableStyleId>{5C22544A-7EE6-4342-B048-85BDC9FD1C3A}</a:tableStyleId>
              </a:tblPr>
              <a:tblGrid>
                <a:gridCol w="2209800"/>
                <a:gridCol w="5505450"/>
                <a:gridCol w="5505450"/>
              </a:tblGrid>
              <a:tr h="47625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5895975"/>
            <a:ext cx="13220700" cy="2047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038850"/>
            <a:ext cx="7010400"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1219200" y="6515100"/>
            <a:ext cx="7048500" cy="11620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 기존 시설을 활용하여 야간 개방</a:t>
            </a:r>
          </a:p>
          <a:p>
            <a:pPr eaLnBrk="0">
              <a:lnSpc>
                <a:spcPts val="2156"/>
              </a:lnSpc>
              <a:spcBef>
                <a:spcPts val="0"/>
              </a:spcBef>
              <a:spcAft>
                <a:spcPts val="0"/>
              </a:spcAft>
            </a:pPr>
            <a:r>
              <a:rPr sz="1725" b="0">
                <a:solidFill>
                  <a:srgbClr val="202124"/>
                </a:solidFill>
                <a:latin typeface="Noto Sans KR"/>
              </a:rPr>
              <a:t>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10 / 17</a:t>
            </a:r>
          </a:p>
        </p:txBody>
      </p:sp>
      <p:pic>
        <p:nvPicPr>
          <p:cNvPr id="13" name="adaptation-photo-0" descr="image.jpg"/>
          <p:cNvPicPr>
            <a:picLocks noChangeAspect="1"/>
          </p:cNvPicPr>
          <p:nvPr/>
        </p:nvPicPr>
        <p:blipFill>
          <a:blip r:embed="rId4"/>
          <a:srcRect t="12460" b="12460"/>
          <a:stretch>
            <a:fillRect/>
          </a:stretch>
        </p:blipFill>
        <p:spPr>
          <a:xfrm>
            <a:off x="8734425" y="6143625"/>
            <a:ext cx="2400300" cy="1200150"/>
          </a:xfrm>
          <a:prstGeom prst="rect">
            <a:avLst/>
          </a:prstGeom>
        </p:spPr>
      </p:pic>
      <p:sp>
        <p:nvSpPr>
          <p:cNvPr id="14" name="adaptation-photo-label-0">
            <a:hlinkClick r:id="rId5"/>
          </p:cNvPr>
          <p:cNvSpPr txBox="1"/>
          <p:nvPr/>
        </p:nvSpPr>
        <p:spPr>
          <a:xfrm>
            <a:off x="873442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국립제주박물관</a:t>
            </a:r>
          </a:p>
          <a:p>
            <a:pPr eaLnBrk="0">
              <a:lnSpc>
                <a:spcPts val="1312"/>
              </a:lnSpc>
              <a:spcBef>
                <a:spcPts val="0"/>
              </a:spcBef>
              <a:spcAft>
                <a:spcPts val="0"/>
              </a:spcAft>
            </a:pPr>
            <a:r>
              <a:rPr sz="1050" b="0">
                <a:solidFill>
                  <a:srgbClr val="62666C"/>
                </a:solidFill>
                <a:latin typeface="Noto Sans KR"/>
              </a:rPr>
              <a:t>사진: 한국관광공사</a:t>
            </a:r>
          </a:p>
        </p:txBody>
      </p:sp>
      <p:pic>
        <p:nvPicPr>
          <p:cNvPr id="15" name="adaptation-photo-1" descr="image.jpg"/>
          <p:cNvPicPr>
            <a:picLocks noChangeAspect="1"/>
          </p:cNvPicPr>
          <p:nvPr/>
        </p:nvPicPr>
        <p:blipFill>
          <a:blip r:embed="rId6"/>
          <a:srcRect t="5577" b="5577"/>
          <a:stretch>
            <a:fillRect/>
          </a:stretch>
        </p:blipFill>
        <p:spPr>
          <a:xfrm>
            <a:off x="11382375" y="6143625"/>
            <a:ext cx="2400300" cy="1200150"/>
          </a:xfrm>
          <a:prstGeom prst="rect">
            <a:avLst/>
          </a:prstGeom>
        </p:spPr>
      </p:pic>
      <p:sp>
        <p:nvSpPr>
          <p:cNvPr id="16" name="adaptation-photo-label-1">
            <a:hlinkClick r:id="rId5"/>
          </p:cNvPr>
          <p:cNvSpPr txBox="1"/>
          <p:nvPr/>
        </p:nvSpPr>
        <p:spPr>
          <a:xfrm>
            <a:off x="1138237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제주목 관아</a:t>
            </a:r>
          </a:p>
          <a:p>
            <a:pPr eaLnBrk="0">
              <a:lnSpc>
                <a:spcPts val="1312"/>
              </a:lnSpc>
              <a:spcBef>
                <a:spcPts val="0"/>
              </a:spcBef>
              <a:spcAft>
                <a:spcPts val="0"/>
              </a:spcAft>
            </a:pPr>
            <a:r>
              <a:rPr sz="1050" b="0">
                <a:solidFill>
                  <a:srgbClr val="62666C"/>
                </a:solidFill>
                <a:latin typeface="Noto Sans KR"/>
              </a:rPr>
              <a:t>사진: 한국관광공사</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11 / 17</a:t>
            </a:r>
          </a:p>
        </p:txBody>
      </p:sp>
    </p:spTree>
    <p:extLst>
      <p:ext uri="{BB962C8B-B14F-4D97-AF65-F5344CB8AC3E}">
        <p14:creationId xmlns:p14="http://schemas.microsoft.com/office/powerpoint/2010/main" val="380383987"/>
      </p:ext>
    </p:extLst>
  </p:cSld>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3,615,510명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448명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3,595,201명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891명 · 0.02%</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3,372,046명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1,253명 · 0.04%</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10,582,757명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2,592명 · 0.02%</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2,592명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1,504.98억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3,074만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1,451.44억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5,928만 원 · 0.04%</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1,494.58억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9,155만 원 · 0.06%</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4,451.00억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1.82억 원 · 0.04%</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1.82억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목표 = 해당 월 ML 전망 × (1 + 최종월 목표율 × 경과 월 수 ÷ 전체 월 수). 방문·소비 목표율은 각각 적용합니다.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12 / 17</a:t>
            </a:r>
          </a:p>
        </p:txBody>
      </p:sp>
    </p:spTree>
    <p:extLst>
      <p:ext uri="{BB962C8B-B14F-4D97-AF65-F5344CB8AC3E}">
        <p14:creationId xmlns:p14="http://schemas.microsoft.com/office/powerpoint/2010/main" val="553742078"/>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16,808만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프로그램 운영·참여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115,200,000원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편성 참여 한도 11,520건 × 가정 단가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21,600,000원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6개 거점 × 월 8일 × 3개월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15,280,000원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152,800,000원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6개 × 월 8일 × 3개월 × 하루 2회 × 회당 40명 = 11,520명분 → 편성 참여 한도 11,520건. 모든 단가는 기획 가정.</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13 / 17</a:t>
            </a:r>
          </a:p>
        </p:txBody>
      </p:sp>
    </p:spTree>
    <p:extLst>
      <p:ext uri="{BB962C8B-B14F-4D97-AF65-F5344CB8AC3E}">
        <p14:creationId xmlns:p14="http://schemas.microsoft.com/office/powerpoint/2010/main" val="1823133345"/>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14 / 17</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15 / 17</a:t>
            </a:r>
          </a:p>
        </p:txBody>
      </p:sp>
    </p:spTree>
    <p:extLst>
      <p:ext uri="{BB962C8B-B14F-4D97-AF65-F5344CB8AC3E}">
        <p14:creationId xmlns:p14="http://schemas.microsoft.com/office/powerpoint/2010/main" val="930694367"/>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16 / 17</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82" r="25582"/>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고내포구</a:t>
            </a:r>
          </a:p>
        </p:txBody>
      </p:sp>
    </p:spTree>
    <p:extLst>
      <p:ext uri="{BB962C8B-B14F-4D97-AF65-F5344CB8AC3E}">
        <p14:creationId xmlns:p14="http://schemas.microsoft.com/office/powerpoint/2010/main" val="655411831"/>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352.7만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6개 운영 거점</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8일 · 하루 2회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8,640명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11,520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2,592명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6개 × 월 8일 × 3개월 × 하루 2회 × 회당 40명 = 11,520명분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편성 참여 한도 11,520명분 · 예상 견적 1.68억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서울 중구 · 정동야행: 행사 방문객 100,000 → 130,000명, 차이 +30,000명. 우리 지역 운영 정원과 집계 기준이 다릅니다.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제주특별자치도 제주시: 월평균 ML 방문 352.7만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+0.02%</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+0.04%</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75%·15% / 기준 75%·30% / 확대 90%·45%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소비 = 추가 방문 × 42,052원(ML 소비/방문 비율) + 기존 방문 참여 × 12,000원(추가 구매 가정)</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