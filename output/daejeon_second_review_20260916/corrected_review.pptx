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499.8578</c:v>
                </c:pt>
                <c:pt idx="1">
                  <c:v>494.0348</c:v>
                </c:pt>
                <c:pt idx="2">
                  <c:v>498.9633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499.8578</c:v>
                </c:pt>
                <c:pt idx="1">
                  <c:v>494.08248288</c:v>
                </c:pt>
                <c:pt idx="2">
                  <c:v>499.05961712</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793.5937471</c:v>
                </c:pt>
                <c:pt idx="1">
                  <c:v>859.71975908</c:v>
                </c:pt>
                <c:pt idx="2">
                  <c:v>810.33922052</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793.5937471</c:v>
                </c:pt>
                <c:pt idx="1">
                  <c:v>859.89822352</c:v>
                </c:pt>
                <c:pt idx="2">
                  <c:v>810.67564814</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-1.766149</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49452172000000005"/>
          <c:min val="-2.26067072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4.485906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0036352"/>
          <c:min val="-1.8594545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720.0</c:v>
                </c:pt>
                <c:pt idx="1">
                  <c:v>1440.0</c:v>
                </c:pt>
                <c:pt idx="2">
                  <c:v>2591.0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4554.81</c:v>
                </c:pt>
                <c:pt idx="1">
                  <c:v>5148.92</c:v>
                </c:pt>
                <c:pt idx="2">
                  <c:v>6890.81</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a:p xmlns:a="http://schemas.openxmlformats.org/drawingml/2006/main">
            <a:r>
              <a:t>표지 사진 출처: {"title": "도산서원(대전)", "address": "대전광역시 서구 남선로 8", "summary": "한국관광공사 국문관광정보 API가 반환한 선택 지역 관광자원", "image_url": "http://tong.visitkorea.or.kr/cms/resource/24/3035024_image2_1.JPG", "source_id": "tour-api:1955818", "content_id": "1955818",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4998578,</a:t>
            </a:r>
          </a:p>
          <a:p xmlns:a="http://schemas.openxmlformats.org/drawingml/2006/main">
            <a:r>
              <a:t>          4940348,</a:t>
            </a:r>
          </a:p>
          <a:p xmlns:a="http://schemas.openxmlformats.org/drawingml/2006/main">
            <a:r>
              <a:t>          4989633</a:t>
            </a:r>
          </a:p>
          <a:p xmlns:a="http://schemas.openxmlformats.org/drawingml/2006/main">
            <a:r>
              <a:t>        ],</a:t>
            </a:r>
          </a:p>
          <a:p xmlns:a="http://schemas.openxmlformats.org/drawingml/2006/main">
            <a:r>
              <a:t>        "previous": [</a:t>
            </a:r>
          </a:p>
          <a:p xmlns:a="http://schemas.openxmlformats.org/drawingml/2006/main">
            <a:r>
              <a:t>          4949394.0,</a:t>
            </a:r>
          </a:p>
          <a:p xmlns:a="http://schemas.openxmlformats.org/drawingml/2006/main">
            <a:r>
              <a:t>          5167969.0,</a:t>
            </a:r>
          </a:p>
          <a:p xmlns:a="http://schemas.openxmlformats.org/drawingml/2006/main">
            <a:r>
              <a:t>          5079597.0</a:t>
            </a:r>
          </a:p>
          <a:p xmlns:a="http://schemas.openxmlformats.org/drawingml/2006/main">
            <a:r>
              <a:t>        ],</a:t>
            </a:r>
          </a:p>
          <a:p xmlns:a="http://schemas.openxmlformats.org/drawingml/2006/main">
            <a:r>
              <a:t>        "growth_pct": -1.766149282488072,</a:t>
            </a:r>
          </a:p>
          <a:p xmlns:a="http://schemas.openxmlformats.org/drawingml/2006/main">
            <a:r>
              <a:t>        "national_mean_pct": -0.394766937691683,</a:t>
            </a:r>
          </a:p>
          <a:p xmlns:a="http://schemas.openxmlformats.org/drawingml/2006/main">
            <a:r>
              <a:t>        "gap_pp": -1.371382344796389,</a:t>
            </a:r>
          </a:p>
          <a:p xmlns:a="http://schemas.openxmlformats.org/drawingml/2006/main">
            <a:r>
              <a:t>        "rank": 185,</a:t>
            </a:r>
          </a:p>
          <a:p xmlns:a="http://schemas.openxmlformats.org/drawingml/2006/main">
            <a:r>
              <a:t>        "target_growth_pct": -1.756673703161682,</a:t>
            </a:r>
          </a:p>
          <a:p xmlns:a="http://schemas.openxmlformats.org/drawingml/2006/main">
            <a:r>
              <a:t>        "target_rank": 185,</a:t>
            </a:r>
          </a:p>
          <a:p xmlns:a="http://schemas.openxmlformats.org/drawingml/2006/main">
            <a:r>
              <a:t>        "target": [</a:t>
            </a:r>
          </a:p>
          <a:p xmlns:a="http://schemas.openxmlformats.org/drawingml/2006/main">
            <a:r>
              <a:t>          4998578.0,</a:t>
            </a:r>
          </a:p>
          <a:p xmlns:a="http://schemas.openxmlformats.org/drawingml/2006/main">
            <a:r>
              <a:t>          4940824.828765141,</a:t>
            </a:r>
          </a:p>
          <a:p xmlns:a="http://schemas.openxmlformats.org/drawingml/2006/main">
            <a:r>
              <a:t>          4990596.171234859</a:t>
            </a:r>
          </a:p>
          <a:p xmlns:a="http://schemas.openxmlformats.org/drawingml/2006/main">
            <a:r>
              <a:t>        ],</a:t>
            </a:r>
          </a:p>
          <a:p xmlns:a="http://schemas.openxmlformats.org/drawingml/2006/main">
            <a:r>
              <a:t>        "additional": 1440.0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79359374710,</a:t>
            </a:r>
          </a:p>
          <a:p xmlns:a="http://schemas.openxmlformats.org/drawingml/2006/main">
            <a:r>
              <a:t>          85971975908,</a:t>
            </a:r>
          </a:p>
          <a:p xmlns:a="http://schemas.openxmlformats.org/drawingml/2006/main">
            <a:r>
              <a:t>          81033922052</a:t>
            </a:r>
          </a:p>
          <a:p xmlns:a="http://schemas.openxmlformats.org/drawingml/2006/main">
            <a:r>
              <a:t>        ],</a:t>
            </a:r>
          </a:p>
          <a:p xmlns:a="http://schemas.openxmlformats.org/drawingml/2006/main">
            <a:r>
              <a:t>        "previous": [</a:t>
            </a:r>
          </a:p>
          <a:p xmlns:a="http://schemas.openxmlformats.org/drawingml/2006/main">
            <a:r>
              <a:t>          78158272000.0,</a:t>
            </a:r>
          </a:p>
          <a:p xmlns:a="http://schemas.openxmlformats.org/drawingml/2006/main">
            <a:r>
              <a:t>          76509918000.0,</a:t>
            </a:r>
          </a:p>
          <a:p xmlns:a="http://schemas.openxmlformats.org/drawingml/2006/main">
            <a:r>
              <a:t>          81119852000.0</a:t>
            </a:r>
          </a:p>
          <a:p xmlns:a="http://schemas.openxmlformats.org/drawingml/2006/main">
            <a:r>
              <a:t>        ],</a:t>
            </a:r>
          </a:p>
          <a:p xmlns:a="http://schemas.openxmlformats.org/drawingml/2006/main">
            <a:r>
              <a:t>        "growth_pct": 4.485906316657062,</a:t>
            </a:r>
          </a:p>
          <a:p xmlns:a="http://schemas.openxmlformats.org/drawingml/2006/main">
            <a:r>
              <a:t>        "national_mean_pct": 6.640909128955906,</a:t>
            </a:r>
          </a:p>
          <a:p xmlns:a="http://schemas.openxmlformats.org/drawingml/2006/main">
            <a:r>
              <a:t>        "gap_pp": -2.155002812298844,</a:t>
            </a:r>
          </a:p>
          <a:p xmlns:a="http://schemas.openxmlformats.org/drawingml/2006/main">
            <a:r>
              <a:t>        "rank": 60,</a:t>
            </a:r>
          </a:p>
          <a:p xmlns:a="http://schemas.openxmlformats.org/drawingml/2006/main">
            <a:r>
              <a:t>        "target_growth_pct": 4.5077433892936725,</a:t>
            </a:r>
          </a:p>
          <a:p xmlns:a="http://schemas.openxmlformats.org/drawingml/2006/main">
            <a:r>
              <a:t>        "target_rank": 60,</a:t>
            </a:r>
          </a:p>
          <a:p xmlns:a="http://schemas.openxmlformats.org/drawingml/2006/main">
            <a:r>
              <a:t>        "target": [</a:t>
            </a:r>
          </a:p>
          <a:p xmlns:a="http://schemas.openxmlformats.org/drawingml/2006/main">
            <a:r>
              <a:t>          79359374710.0,</a:t>
            </a:r>
          </a:p>
          <a:p xmlns:a="http://schemas.openxmlformats.org/drawingml/2006/main">
            <a:r>
              <a:t>          85989822352.08119,</a:t>
            </a:r>
          </a:p>
          <a:p xmlns:a="http://schemas.openxmlformats.org/drawingml/2006/main">
            <a:r>
              <a:t>          81067564813.91881</a:t>
            </a:r>
          </a:p>
          <a:p xmlns:a="http://schemas.openxmlformats.org/drawingml/2006/main">
            <a:r>
              <a:t>        ],</a:t>
            </a:r>
          </a:p>
          <a:p xmlns:a="http://schemas.openxmlformats.org/drawingml/2006/main">
            <a:r>
              <a:t>        "additional": 51489206.0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"환급 후 재사용률 (분자: 환급 후 서구 내 적격 재결제액 합계 / 분모: 지급된 환급액 합계). 측정 주기: 매주. 비교 집단: 사업 미참여 상권의 결제 추이(단, 인과관계 단정은 지양).",</a:t>
            </a:r>
          </a:p>
          <a:p xmlns:a="http://schemas.openxmlformats.org/drawingml/2006/main">
            <a:r>
              <a:t>    "title": "대전 서구 외지인 지역 상품권 환급 프로그램",</a:t>
            </a:r>
          </a:p>
          <a:p xmlns:a="http://schemas.openxmlformats.org/drawingml/2006/main">
            <a:r>
              <a:t>    "budget": "지역 상품권 환급액 = 적격 신청의 min(증빙 인정 지출액 × 10%, 건별 상한 50,000원)의 합산 (단가 및 총 예산은 참여 업체 수와 예상 신청 건수에 따라 확정 필요)",</a:t>
            </a:r>
          </a:p>
          <a:p xmlns:a="http://schemas.openxmlformats.org/drawingml/2006/main">
            <a:r>
              <a:t>    "evidence": "dataset:30170:3, case:gangjin_half_price_2024",</a:t>
            </a:r>
          </a:p>
          <a:p xmlns:a="http://schemas.openxmlformats.org/drawingml/2006/main">
            <a:r>
              <a:t>    "priority": 1,</a:t>
            </a:r>
          </a:p>
          <a:p xmlns:a="http://schemas.openxmlformats.org/drawingml/2006/main">
            <a:r>
              <a:t>    "solution": "외지인 방문객이 서구 내 지정된 사용처에서 일정 금액 이상 소비 시, 지출액의 일부를 지역 상품권으로 즉시 또는 사후 환급하여 지역 내 재결제를 유도합니다.",</a:t>
            </a:r>
          </a:p>
          <a:p xmlns:a="http://schemas.openxmlformats.org/drawingml/2006/main">
            <a:r>
              <a:t>    "timeframe": "2026-10 ~ 2026-12, 3개월",</a:t>
            </a:r>
          </a:p>
          <a:p xmlns:a="http://schemas.openxmlformats.org/drawingml/2006/main">
            <a:r>
              <a:t>    "expected_effect": "계획 목표: 최종월 ML 전망 대비 방문 +0.02%, 소비 +0.04%. 운영 규모와 참여 가정으로 산정하며 실제 성과는 별도 집계합니다.",</a:t>
            </a:r>
          </a:p>
          <a:p xmlns:a="http://schemas.openxmlformats.org/drawingml/2006/main">
            <a:r>
              <a:t>    "problem_to_solve": "외지인 관광객의 지역 내 소비 유도 및 재소비 촉진",</a:t>
            </a:r>
          </a:p>
          <a:p xmlns:a="http://schemas.openxmlformats.org/drawingml/2006/main">
            <a:r>
              <a:t>    "comparison_analysis": "강진군의 '반값여행 지역환급' 사례(case:gangjin_half_price_2024)와 유사한 운영 방식을 채택하되, 대전 서구의 쇼핑 및 식음료업 비중(각 43.0%, 39.7%)을 고려하여 참여 업종을 설계합니다. 다만, 강진 사례의 정확한 성과 수치는 미확인되었으므로 운영 방식만을 벤치마킹합니다.",</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"참여 업체 및 환급 기준 확정",</a:t>
            </a:r>
          </a:p>
          <a:p xmlns:a="http://schemas.openxmlformats.org/drawingml/2006/main">
            <a:r>
              <a:t>        "schedule": "2026-10",</a:t>
            </a:r>
          </a:p>
          <a:p xmlns:a="http://schemas.openxmlformats.org/drawingml/2006/main">
            <a:r>
              <a:t>        "deliverable": "참여 업체 명단 및 운영 지침(안) 확보 필요 (기획 가정 단계)"</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"증빙 및 환급 시스템 점검",</a:t>
            </a:r>
          </a:p>
          <a:p xmlns:a="http://schemas.openxmlformats.org/drawingml/2006/main">
            <a:r>
              <a:t>        "schedule": "2026-10",</a:t>
            </a:r>
          </a:p>
          <a:p xmlns:a="http://schemas.openxmlformats.org/drawingml/2006/main">
            <a:r>
              <a:t>        "deliverable": "지출 증빙(영수증 등) 확인 절차 및 중복 수혜 방지 로직 검증"</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"시범 운영 및 모니터링",</a:t>
            </a:r>
          </a:p>
          <a:p xmlns:a="http://schemas.openxmlformats.org/drawingml/2006/main">
            <a:r>
              <a:t>        "schedule": "2026-11",</a:t>
            </a:r>
          </a:p>
          <a:p xmlns:a="http://schemas.openxmlformats.org/drawingml/2006/main">
            <a:r>
              <a:t>        "deliverable": "주간 단위 신청·승인·결제 원장 집계"</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"성과 데이터 수집 및 분석",</a:t>
            </a:r>
          </a:p>
          <a:p xmlns:a="http://schemas.openxmlformats.org/drawingml/2006/main">
            <a:r>
              <a:t>        "schedule": "2026-12",</a:t>
            </a:r>
          </a:p>
          <a:p xmlns:a="http://schemas.openxmlformats.org/drawingml/2006/main">
            <a:r>
              <a:t>        "deliverable": "환급액 대비 재결제액 및 이용률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"사업 지속 여부 검토",</a:t>
            </a:r>
          </a:p>
          <a:p xmlns:a="http://schemas.openxmlformats.org/drawingml/2006/main">
            <a:r>
              <a:t>        "schedule": "2026-12",</a:t>
            </a:r>
          </a:p>
          <a:p xmlns:a="http://schemas.openxmlformats.org/drawingml/2006/main">
            <a:r>
              <a:t>        "deliverable": "기준선 대비 성과 비교를 통한 확대/중단 결정"</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case:festival:1ff9d11d3ee0ee | 한국관광 데이터랩 · 진도신비의바닷길축제 방문자 추이 | https://datalab.visitkorea.or.kr/</a:t>
            </a:r>
          </a:p>
          <a:p>
            <a:r>
              <a:t>case:festival:1ffc3eec28956a | 한국관광 데이터랩 · 통영한산대첩축제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a:t>
            </a:r>
          </a:p>
          <a:p>
            <a:r>
              <a:t>            "total": 33556,</a:t>
            </a:r>
          </a:p>
          <a:p>
            <a:r>
              <a:t>            "foreign": 278,</a:t>
            </a:r>
          </a:p>
          <a:p>
            <a:r>
              <a:t>            "outside": 21158,</a:t>
            </a:r>
          </a:p>
          <a:p>
            <a:r>
              <a:t>            "outside_daily": 7052.666666666667,</a:t>
            </a:r>
          </a:p>
          <a:p>
            <a:r>
              <a:t>            "outside_share_pct": 63.05280724758613</a:t>
            </a:r>
          </a:p>
          <a:p>
            <a:r>
              <a:t>          },</a:t>
            </a:r>
          </a:p>
          <a:p>
            <a:r>
              <a:t>          {</a:t>
            </a:r>
          </a:p>
          <a:p>
            <a:r>
              <a:t>            "days": 3,</a:t>
            </a:r>
          </a:p>
          <a:p>
            <a:r>
              <a:t>            "year": 2024,</a:t>
            </a:r>
          </a:p>
          <a:p>
            <a:r>
              <a:t>            "daily": 9390.333333333334,</a:t>
            </a:r>
          </a:p>
          <a:p>
            <a:r>
              <a:t>            "local": 13068,</a:t>
            </a:r>
          </a:p>
          <a:p>
            <a:r>
              <a:t>            "total": 28171,</a:t>
            </a:r>
          </a:p>
          <a:p>
            <a:r>
              <a:t>            "foreign": 223,</a:t>
            </a:r>
          </a:p>
          <a:p>
            <a:r>
              <a:t>            "outside": 14880,</a:t>
            </a:r>
          </a:p>
          <a:p>
            <a:r>
              <a:t>            "outside_daily": 4960,</a:t>
            </a:r>
          </a:p>
          <a:p>
            <a:r>
              <a:t>            "outside_share_pct": 52.82027617052998</a:t>
            </a:r>
          </a:p>
          <a:p>
            <a:r>
              <a:t>          },</a:t>
            </a:r>
          </a:p>
          <a:p>
            <a:r>
              <a:t>          {</a:t>
            </a:r>
          </a:p>
          <a:p>
            <a:r>
              <a:t>            "days": 4,</a:t>
            </a:r>
          </a:p>
          <a:p>
            <a:r>
              <a:t>            "year": 2025,</a:t>
            </a:r>
          </a:p>
          <a:p>
            <a:r>
              <a:t>            "daily": 10993.25,</a:t>
            </a:r>
          </a:p>
          <a:p>
            <a:r>
              <a:t>            "local": 15345,</a:t>
            </a:r>
          </a:p>
          <a:p>
            <a:r>
              <a:t>            "total": 43973,</a:t>
            </a:r>
          </a:p>
          <a:p>
            <a:r>
              <a:t>            "foreign": 359,</a:t>
            </a:r>
          </a:p>
          <a:p>
            <a:r>
              <a:t>            "outside": 28269,</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a:t>
            </a:r>
          </a:p>
          <a:p>
            <a:r>
              <a:t>            "before": 28171,</a:t>
            </a:r>
          </a:p>
          <a:p>
            <a:r>
              <a:t>            "change_pct": 56.093145433246946,</a:t>
            </a:r>
          </a:p>
          <a:p>
            <a:r>
              <a:t>            "difference": 15802</a:t>
            </a:r>
          </a:p>
          <a:p>
            <a:r>
              <a:t>          },</a:t>
            </a:r>
          </a:p>
          <a:p>
            <a:r>
              <a:t>          "outside": {</a:t>
            </a:r>
          </a:p>
          <a:p>
            <a:r>
              <a:t>            "after": 28269,</a:t>
            </a:r>
          </a:p>
          <a:p>
            <a:r>
              <a:t>            "before": 14880,</a:t>
            </a:r>
          </a:p>
          <a:p>
            <a:r>
              <a:t>            "change_pct": 89.97983870967742,</a:t>
            </a:r>
          </a:p>
          <a:p>
            <a:r>
              <a:t>            "difference": 13389</a:t>
            </a:r>
          </a:p>
          <a:p>
            <a:r>
              <a:t>          },</a:t>
            </a:r>
          </a:p>
          <a:p>
            <a:r>
              <a:t>          "after_days": 4,</a:t>
            </a:r>
          </a:p>
          <a:p>
            <a:r>
              <a:t>          "after_year": 2025,</a:t>
            </a:r>
          </a:p>
          <a:p>
            <a:r>
              <a:t>          "before_days": 3,</a:t>
            </a:r>
          </a:p>
          <a:p>
            <a:r>
              <a:t>          "before_year": 2024,</a:t>
            </a:r>
          </a:p>
          <a:p>
            <a:r>
              <a:t>          "outside_daily": {</a:t>
            </a:r>
          </a:p>
          <a:p>
            <a:r>
              <a:t>            "after": 7067.25,</a:t>
            </a:r>
          </a:p>
          <a:p>
            <a:r>
              <a:t>            "before": 4960,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통영한산대첩축제 방문자 추이",</a:t>
            </a:r>
          </a:p>
          <a:p>
            <a:r>
              <a:t>      "summary": "경상남도 통영시 · 통영한산대첩축제 · 2024→2025년 전체 93,221→124,718명 (+33.79%). 개최 6→7일, 일평균 +14.67%, 외지인 +33.21%.",</a:t>
            </a:r>
          </a:p>
          <a:p>
            <a:r>
              <a:t>      "source_id": "case:festival:1ffc3eec28956a",</a:t>
            </a:r>
          </a:p>
          <a:p>
            <a:r>
              <a:t>      "source_url": "https://datalab.visitkorea.or.kr/",</a:t>
            </a:r>
          </a:p>
          <a:p>
            <a:r>
              <a:t>      "case_region": "경상남도 통영시",</a:t>
            </a:r>
          </a:p>
          <a:p>
            <a:r>
              <a:t>      "source_type": "benchmark_case",</a:t>
            </a:r>
          </a:p>
          <a:p>
            <a:r>
              <a:t>      "dataset_hash": "ad20e3daf70fd44fd481d672398c07bb9c96fce77acb450784065a568735e2e2",</a:t>
            </a:r>
          </a:p>
          <a:p>
            <a:r>
              <a:t>      "intervention": "통영한산대첩축제",</a:t>
            </a:r>
          </a:p>
          <a:p>
            <a:r>
              <a:t>      "source_files": [</a:t>
            </a:r>
          </a:p>
          <a:p>
            <a:r>
              <a:t>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a:t>
            </a:r>
          </a:p>
          <a:p>
            <a:r>
              <a:t>          "sha256": "77b41103f7ab3a48a3a94baa36227391bc47069fafcf8cc68a36662ec60fd43d",</a:t>
            </a:r>
          </a:p>
          <a:p>
            <a:r>
              <a:t>          "provider": "한국관광 데이터랩",</a:t>
            </a:r>
          </a:p>
          <a:p>
            <a:r>
              <a:t>          "file_name": "20260820183544_통영한산대첩축제_성_연령별 내국인 방문자.csv",</a:t>
            </a:r>
          </a:p>
          <a:p>
            <a:r>
              <a:t>          "source_id": "festival-file:77b41103f7ab3a48a3a9",</a:t>
            </a:r>
          </a:p>
          <a:p>
            <a:r>
              <a:t>          "source_url": "https://datalab.visitkorea.or.kr/",</a:t>
            </a:r>
          </a:p>
          <a:p>
            <a:r>
              <a:t>          "downloaded_at": "2026-08-20",</a:t>
            </a:r>
          </a:p>
          <a:p>
            <a:r>
              <a:t>          "relative_path": "data/source_snapshots/festivals_20260820/81. 통영한산대첩축제_2023-2025/20260820183544_통영한산대첩축제_성_연령별 내국인 방문자.csv",</a:t>
            </a:r>
          </a:p>
          <a:p>
            <a:r>
              <a:t>          "provenance_status": "team_download_exact_query_url_unrecorded"</a:t>
            </a:r>
          </a:p>
          <a:p>
            <a:r>
              <a:t>        },</a:t>
            </a:r>
          </a:p>
          <a:p>
            <a:r>
              <a:t>        {</a:t>
            </a:r>
          </a:p>
          <a:p>
            <a:r>
              <a:t>          "sha256": "5457f819bd8704a9d5b81a24337c2a40c45bbcf7435e0a751139a5457627bdd4",</a:t>
            </a:r>
          </a:p>
          <a:p>
            <a:r>
              <a:t>          "provider": "한국관광 데이터랩",</a:t>
            </a:r>
          </a:p>
          <a:p>
            <a:r>
              <a:t>          "file_name": "20260820183544_통영한산대첩축제_문화관광축제 주요 지표.csv",</a:t>
            </a:r>
          </a:p>
          <a:p>
            <a:r>
              <a:t>          "source_id": "festival-file:5457f819bd8704a9d5b8",</a:t>
            </a:r>
          </a:p>
          <a:p>
            <a:r>
              <a:t>          "source_url": "https://datalab.visitkorea.or.kr/",</a:t>
            </a:r>
          </a:p>
          <a:p>
            <a:r>
              <a:t>          "downloaded_at": "2026-08-20",</a:t>
            </a:r>
          </a:p>
          <a:p>
            <a:r>
              <a:t>          "relative_path": "data/source_snapshots/festivals_20260820/81. 통영한산대첩축제_2023-2025/20260820183544_통영한산대첩축제_문화관광축제 주요 지표.csv",</a:t>
            </a:r>
          </a:p>
          <a:p>
            <a:r>
              <a:t>          "provenance_status": "team_download_exact_query_url_unrecorded"</a:t>
            </a:r>
          </a:p>
          <a:p>
            <a:r>
              <a:t>        },</a:t>
            </a:r>
          </a:p>
          <a:p>
            <a:r>
              <a:t>        {</a:t>
            </a:r>
          </a:p>
          <a:p>
            <a:r>
              <a:t>          "sha256": "3b2a6e862dd8337a7616d3cdb3f568c6fdb24be706918eb7f02d965d625ca746",</a:t>
            </a:r>
          </a:p>
          <a:p>
            <a:r>
              <a:t>          "provider": "한국관광 데이터랩",</a:t>
            </a:r>
          </a:p>
          <a:p>
            <a:r>
              <a:t>          "file_name": "20260820183544_통영한산대첩축제_목적지 검색순위.csv",</a:t>
            </a:r>
          </a:p>
          <a:p>
            <a:r>
              <a:t>          "source_id": "festival-file:3b2a6e862dd8337a7616",</a:t>
            </a:r>
          </a:p>
          <a:p>
            <a:r>
              <a:t>          "source_url": "https://datalab.visitkorea.or.kr/",</a:t>
            </a:r>
          </a:p>
          <a:p>
            <a:r>
              <a:t>          "downloaded_at": "2026-08-20",</a:t>
            </a:r>
          </a:p>
          <a:p>
            <a:r>
              <a:t>          "relative_path": "data/source_snapshots/festivals_20260820/81. 통영한산대첩축제_2023-2025/20260820183544_통영한산대첩축제_목적지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93,221→124,718명 (+33.79%). 개최 6→7일, 일평균 +14.67%, 외지인 +33.21%.",</a:t>
            </a:r>
          </a:p>
          <a:p>
            <a:r>
              <a:t>      "operating_model": "통영한산대첩축제를 2025년 7일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"지역문화",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"통영한산대첩축제",</a:t>
            </a:r>
          </a:p>
          <a:p>
            <a:r>
              <a:t>        "scope": "축제 관측구역 방문 지표. 도시 전체·순증 관광객·입장권 실구매자 수가 아님.",</a:t>
            </a:r>
          </a:p>
          <a:p>
            <a:r>
              <a:t>        "annual": [</a:t>
            </a:r>
          </a:p>
          <a:p>
            <a:r>
              <a:t>          {</a:t>
            </a:r>
          </a:p>
          <a:p>
            <a:r>
              <a:t>            "days": 9,</a:t>
            </a:r>
          </a:p>
          <a:p>
            <a:r>
              <a:t>            "year": 2023,</a:t>
            </a:r>
          </a:p>
          <a:p>
            <a:r>
              <a:t>            "daily": 11745.444444444443,</a:t>
            </a:r>
          </a:p>
          <a:p>
            <a:r>
              <a:t>            "local": 57810,</a:t>
            </a:r>
          </a:p>
          <a:p>
            <a:r>
              <a:t>            "total": 105709,</a:t>
            </a:r>
          </a:p>
          <a:p>
            <a:r>
              <a:t>            "foreign": 455,</a:t>
            </a:r>
          </a:p>
          <a:p>
            <a:r>
              <a:t>            "outside": 47444,</a:t>
            </a:r>
          </a:p>
          <a:p>
            <a:r>
              <a:t>            "outside_daily": 5271.555555555556,</a:t>
            </a:r>
          </a:p>
          <a:p>
            <a:r>
              <a:t>            "outside_share_pct": 44.88170354463669</a:t>
            </a:r>
          </a:p>
          <a:p>
            <a:r>
              <a:t>          },</a:t>
            </a:r>
          </a:p>
          <a:p>
            <a:r>
              <a:t>          {</a:t>
            </a:r>
          </a:p>
          <a:p>
            <a:r>
              <a:t>            "days": 6,</a:t>
            </a:r>
          </a:p>
          <a:p>
            <a:r>
              <a:t>            "year": 2024,</a:t>
            </a:r>
          </a:p>
          <a:p>
            <a:r>
              <a:t>            "daily": 15536.833333333334,</a:t>
            </a:r>
          </a:p>
          <a:p>
            <a:r>
              <a:t>            "local": 52493,</a:t>
            </a:r>
          </a:p>
          <a:p>
            <a:r>
              <a:t>            "total": 93221,</a:t>
            </a:r>
          </a:p>
          <a:p>
            <a:r>
              <a:t>            "foreign": 394,</a:t>
            </a:r>
          </a:p>
          <a:p>
            <a:r>
              <a:t>            "outside": 40334,</a:t>
            </a:r>
          </a:p>
          <a:p>
            <a:r>
              <a:t>            "outside_daily": 6722.333333333333,</a:t>
            </a:r>
          </a:p>
          <a:p>
            <a:r>
              <a:t>            "outside_share_pct": 43.26707501528625</a:t>
            </a:r>
          </a:p>
          <a:p>
            <a:r>
              <a:t>          },</a:t>
            </a:r>
          </a:p>
          <a:p>
            <a:r>
              <a:t>          {</a:t>
            </a:r>
          </a:p>
          <a:p>
            <a:r>
              <a:t>            "days": 7,</a:t>
            </a:r>
          </a:p>
          <a:p>
            <a:r>
              <a:t>            "year": 2025,</a:t>
            </a:r>
          </a:p>
          <a:p>
            <a:r>
              <a:t>            "daily": 17816.85714285714,</a:t>
            </a:r>
          </a:p>
          <a:p>
            <a:r>
              <a:t>            "local": 70201,</a:t>
            </a:r>
          </a:p>
          <a:p>
            <a:r>
              <a:t>            "total": 124718,</a:t>
            </a:r>
          </a:p>
          <a:p>
            <a:r>
              <a:t>            "foreign": 787,</a:t>
            </a:r>
          </a:p>
          <a:p>
            <a:r>
              <a:t>            "outside": 53730,</a:t>
            </a:r>
          </a:p>
          <a:p>
            <a:r>
              <a:t>            "outside_daily": 7675.714285714285,</a:t>
            </a:r>
          </a:p>
          <a:p>
            <a:r>
              <a:t>            "outside_share_pct": 43.08119116727337</a:t>
            </a:r>
          </a:p>
          <a:p>
            <a:r>
              <a:t>          }</a:t>
            </a:r>
          </a:p>
          <a:p>
            <a:r>
              <a:t>        ],</a:t>
            </a:r>
          </a:p>
          <a:p>
            <a:r>
              <a:t>        "audience": [</a:t>
            </a:r>
          </a:p>
          <a:p>
            <a:r>
              <a:t>          {</a:t>
            </a:r>
          </a:p>
          <a:p>
            <a:r>
              <a:t>            "연령대": "70세 이상",</a:t>
            </a:r>
          </a:p>
          <a:p>
            <a:r>
              <a:t>            "축제명": "통영한산대첩축제",</a:t>
            </a:r>
          </a:p>
          <a:p>
            <a:r>
              <a:t>            "남성비율": "5.2",</a:t>
            </a:r>
          </a:p>
          <a:p>
            <a:r>
              <a:t>            "여성비율": "5.7"</a:t>
            </a:r>
          </a:p>
          <a:p>
            <a:r>
              <a:t>          },</a:t>
            </a:r>
          </a:p>
          <a:p>
            <a:r>
              <a:t>          {</a:t>
            </a:r>
          </a:p>
          <a:p>
            <a:r>
              <a:t>            "연령대": "60~69세",</a:t>
            </a:r>
          </a:p>
          <a:p>
            <a:r>
              <a:t>            "축제명": "통영한산대첩축제",</a:t>
            </a:r>
          </a:p>
          <a:p>
            <a:r>
              <a:t>            "남성비율": "11.0",</a:t>
            </a:r>
          </a:p>
          <a:p>
            <a:r>
              <a:t>            "여성비율": "11.5"</a:t>
            </a:r>
          </a:p>
          <a:p>
            <a:r>
              <a:t>          },</a:t>
            </a:r>
          </a:p>
          <a:p>
            <a:r>
              <a:t>          {</a:t>
            </a:r>
          </a:p>
          <a:p>
            <a:r>
              <a:t>            "연령대": "50~59세",</a:t>
            </a:r>
          </a:p>
          <a:p>
            <a:r>
              <a:t>            "축제명": "통영한산대첩축제",</a:t>
            </a:r>
          </a:p>
          <a:p>
            <a:r>
              <a:t>            "남성비율": "11.1",</a:t>
            </a:r>
          </a:p>
          <a:p>
            <a:r>
              <a:t>            "여성비율": "10.9"</a:t>
            </a:r>
          </a:p>
          <a:p>
            <a:r>
              <a:t>          },</a:t>
            </a:r>
          </a:p>
          <a:p>
            <a:r>
              <a:t>          {</a:t>
            </a:r>
          </a:p>
          <a:p>
            <a:r>
              <a:t>            "연령대": "40~49세",</a:t>
            </a:r>
          </a:p>
          <a:p>
            <a:r>
              <a:t>            "축제명": "통영한산대첩축제",</a:t>
            </a:r>
          </a:p>
          <a:p>
            <a:r>
              <a:t>            "남성비율": "8.0",</a:t>
            </a:r>
          </a:p>
          <a:p>
            <a:r>
              <a:t>            "여성비율": "7.7"</a:t>
            </a:r>
          </a:p>
          <a:p>
            <a:r>
              <a:t>          },</a:t>
            </a:r>
          </a:p>
          <a:p>
            <a:r>
              <a:t>          {</a:t>
            </a:r>
          </a:p>
          <a:p>
            <a:r>
              <a:t>            "연령대": "30~39세",</a:t>
            </a:r>
          </a:p>
          <a:p>
            <a:r>
              <a:t>            "축제명": "통영한산대첩축제",</a:t>
            </a:r>
          </a:p>
          <a:p>
            <a:r>
              <a:t>            "남성비율": "6.3",</a:t>
            </a:r>
          </a:p>
          <a:p>
            <a:r>
              <a:t>            "여성비율": "5.6"</a:t>
            </a:r>
          </a:p>
          <a:p>
            <a:r>
              <a:t>          },</a:t>
            </a:r>
          </a:p>
          <a:p>
            <a:r>
              <a:t>          {</a:t>
            </a:r>
          </a:p>
          <a:p>
            <a:r>
              <a:t>            "연령대": "20~29세",</a:t>
            </a:r>
          </a:p>
          <a:p>
            <a:r>
              <a:t>            "축제명": "통영한산대첩축제",</a:t>
            </a:r>
          </a:p>
          <a:p>
            <a:r>
              <a:t>            "남성비율": "5.4",</a:t>
            </a:r>
          </a:p>
          <a:p>
            <a:r>
              <a:t>            "여성비율": "4.4"</a:t>
            </a:r>
          </a:p>
          <a:p>
            <a:r>
              <a:t>          },</a:t>
            </a:r>
          </a:p>
          <a:p>
            <a:r>
              <a:t>          {</a:t>
            </a:r>
          </a:p>
          <a:p>
            <a:r>
              <a:t>            "연령대": "10~19세",</a:t>
            </a:r>
          </a:p>
          <a:p>
            <a:r>
              <a:t>            "축제명": "통영한산대첩축제",</a:t>
            </a:r>
          </a:p>
          <a:p>
            <a:r>
              <a:t>            "남성비율": "2.8",</a:t>
            </a:r>
          </a:p>
          <a:p>
            <a:r>
              <a:t>            "여성비율": "3.1"</a:t>
            </a:r>
          </a:p>
          <a:p>
            <a:r>
              <a:t>          },</a:t>
            </a:r>
          </a:p>
          <a:p>
            <a:r>
              <a:t>          {</a:t>
            </a:r>
          </a:p>
          <a:p>
            <a:r>
              <a:t>            "연령대": "0~9세",</a:t>
            </a:r>
          </a:p>
          <a:p>
            <a:r>
              <a:t>            "축제명": "통영한산대첩축제",</a:t>
            </a:r>
          </a:p>
          <a:p>
            <a:r>
              <a:t>            "남성비율": "0.5",</a:t>
            </a:r>
          </a:p>
          <a:p>
            <a:r>
              <a:t>            "여성비율": "0.6"</a:t>
            </a:r>
          </a:p>
          <a:p>
            <a:r>
              <a:t>          }</a:t>
            </a:r>
          </a:p>
          <a:p>
            <a:r>
              <a:t>        ],</a:t>
            </a:r>
          </a:p>
          <a:p>
            <a:r>
              <a:t>        "comparison": {</a:t>
            </a:r>
          </a:p>
          <a:p>
            <a:r>
              <a:t>          "daily": {</a:t>
            </a:r>
          </a:p>
          <a:p>
            <a:r>
              <a:t>            "after": 17816.85714285714,</a:t>
            </a:r>
          </a:p>
          <a:p>
            <a:r>
              <a:t>            "before": 15536.833333333334,</a:t>
            </a:r>
          </a:p>
          <a:p>
            <a:r>
              <a:t>            "change_pct": 14.674958278867244,</a:t>
            </a:r>
          </a:p>
          <a:p>
            <a:r>
              <a:t>            "difference": 2280.0238095238074</a:t>
            </a:r>
          </a:p>
          <a:p>
            <a:r>
              <a:t>          },</a:t>
            </a:r>
          </a:p>
          <a:p>
            <a:r>
              <a:t>          "total": {</a:t>
            </a:r>
          </a:p>
          <a:p>
            <a:r>
              <a:t>            "after": 124718,</a:t>
            </a:r>
          </a:p>
          <a:p>
            <a:r>
              <a:t>            "before": 93221,</a:t>
            </a:r>
          </a:p>
          <a:p>
            <a:r>
              <a:t>            "change_pct": 33.78745132534515,</a:t>
            </a:r>
          </a:p>
          <a:p>
            <a:r>
              <a:t>            "difference": 31497</a:t>
            </a:r>
          </a:p>
          <a:p>
            <a:r>
              <a:t>          },</a:t>
            </a:r>
          </a:p>
          <a:p>
            <a:r>
              <a:t>          "outside": {</a:t>
            </a:r>
          </a:p>
          <a:p>
            <a:r>
              <a:t>            "after": 53730,</a:t>
            </a:r>
          </a:p>
          <a:p>
            <a:r>
              <a:t>            "before": 40334,</a:t>
            </a:r>
          </a:p>
          <a:p>
            <a:r>
              <a:t>            "change_pct": 33.21267417067486,</a:t>
            </a:r>
          </a:p>
          <a:p>
            <a:r>
              <a:t>            "difference": 13396</a:t>
            </a:r>
          </a:p>
          <a:p>
            <a:r>
              <a:t>          },</a:t>
            </a:r>
          </a:p>
          <a:p>
            <a:r>
              <a:t>          "after_days": 7,</a:t>
            </a:r>
          </a:p>
          <a:p>
            <a:r>
              <a:t>          "after_year": 2025,</a:t>
            </a:r>
          </a:p>
          <a:p>
            <a:r>
              <a:t>          "before_days": 6,</a:t>
            </a:r>
          </a:p>
          <a:p>
            <a:r>
              <a:t>          "before_year": 2024,</a:t>
            </a:r>
          </a:p>
          <a:p>
            <a:r>
              <a:t>          "outside_daily": {</a:t>
            </a:r>
          </a:p>
          <a:p>
            <a:r>
              <a:t>            "after": 7675.714285714285,</a:t>
            </a:r>
          </a:p>
          <a:p>
            <a:r>
              <a:t>            "before": 6722.333333333333,</a:t>
            </a:r>
          </a:p>
          <a:p>
            <a:r>
              <a:t>            "change_pct": 14.182292146292742,</a:t>
            </a:r>
          </a:p>
          <a:p>
            <a:r>
              <a:t>            "difference": 953.3809523809524</a:t>
            </a:r>
          </a:p>
          <a:p>
            <a:r>
              <a:t>          }</a:t>
            </a:r>
          </a:p>
          <a:p>
            <a:r>
              <a:t>        },</a:t>
            </a:r>
          </a:p>
          <a:p>
            <a:r>
              <a:t>        "source_file":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"0.309",</a:t>
            </a:r>
          </a:p>
          <a:p>
            <a:r>
              <a:t>            "축제명": "통영한산대첩축제",</a:t>
            </a:r>
          </a:p>
          <a:p>
            <a:r>
              <a:t>            "개최년도": "2025"</a:t>
            </a:r>
          </a:p>
          <a:p>
            <a:r>
              <a:t>          },</a:t>
            </a:r>
          </a:p>
          <a:p>
            <a:r>
              <a:t>          {</a:t>
            </a:r>
          </a:p>
          <a:p>
            <a:r>
              <a:t>            "구분명": "현지인방문자 유입",</a:t>
            </a:r>
          </a:p>
          <a:p>
            <a:r>
              <a:t>            "그룹명": "축제기간",</a:t>
            </a:r>
          </a:p>
          <a:p>
            <a:r>
              <a:t>            "지표값": "0.731",</a:t>
            </a:r>
          </a:p>
          <a:p>
            <a:r>
              <a:t>            "축제명": "통영한산대첩축제",</a:t>
            </a:r>
          </a:p>
          <a:p>
            <a:r>
              <a:t>            "개최년도": "2025"</a:t>
            </a:r>
          </a:p>
          <a:p>
            <a:r>
              <a:t>          },</a:t>
            </a:r>
          </a:p>
          <a:p>
            <a:r>
              <a:t>          {</a:t>
            </a:r>
          </a:p>
          <a:p>
            <a:r>
              <a:t>            "구분명": "내비게이션 검색량",</a:t>
            </a:r>
          </a:p>
          <a:p>
            <a:r>
              <a:t>            "그룹명": "축제기간",</a:t>
            </a:r>
          </a:p>
          <a:p>
            <a:r>
              <a:t>            "지표값": "0.228",</a:t>
            </a:r>
          </a:p>
          <a:p>
            <a:r>
              <a:t>            "축제명": "통영한산대첩축제",</a:t>
            </a:r>
          </a:p>
          <a:p>
            <a:r>
              <a:t>            "개최년도": "2025"</a:t>
            </a:r>
          </a:p>
          <a:p>
            <a:r>
              <a:t>          },</a:t>
            </a:r>
          </a:p>
          <a:p>
            <a:r>
              <a:t>          {</a:t>
            </a:r>
          </a:p>
          <a:p>
            <a:r>
              <a:t>            "구분명": "관광소비",</a:t>
            </a:r>
          </a:p>
          <a:p>
            <a:r>
              <a:t>            "그룹명": "축제기간",</a:t>
            </a:r>
          </a:p>
          <a:p>
            <a:r>
              <a:t>            "지표값": "0.313",</a:t>
            </a:r>
          </a:p>
          <a:p>
            <a:r>
              <a:t>            "축제명": "통영한산대첩축제",</a:t>
            </a:r>
          </a:p>
          <a:p>
            <a:r>
              <a:t>            "개최년도": "2025"</a:t>
            </a:r>
          </a:p>
          <a:p>
            <a:r>
              <a:t>          },</a:t>
            </a:r>
          </a:p>
          <a:p>
            <a:r>
              <a:t>          {</a:t>
            </a:r>
          </a:p>
          <a:p>
            <a:r>
              <a:t>            "구분명": "축제지 집중률",</a:t>
            </a:r>
          </a:p>
          <a:p>
            <a:r>
              <a:t>            "그룹명": "축제기간",</a:t>
            </a:r>
          </a:p>
          <a:p>
            <a:r>
              <a:t>            "지표값": "0.766",</a:t>
            </a:r>
          </a:p>
          <a:p>
            <a:r>
              <a:t>            "축제명": "통영한산대첩축제",</a:t>
            </a:r>
          </a:p>
          <a:p>
            <a:r>
              <a:t>            "개최년도": "2025"</a:t>
            </a:r>
          </a:p>
          <a:p>
            <a:r>
              <a:t>          },</a:t>
            </a:r>
          </a:p>
          <a:p>
            <a:r>
              <a:t>          {</a:t>
            </a:r>
          </a:p>
          <a:p>
            <a:r>
              <a:t>            "구분명": "외부방문자 유입",</a:t>
            </a:r>
          </a:p>
          <a:p>
            <a:r>
              <a:t>            "그룹명": "비축제기간",</a:t>
            </a:r>
          </a:p>
          <a:p>
            <a:r>
              <a:t>            "지표값": "0.244",</a:t>
            </a:r>
          </a:p>
          <a:p>
            <a:r>
              <a:t>            "축제명": "통영한산대첩축제",</a:t>
            </a:r>
          </a:p>
          <a:p>
            <a:r>
              <a:t>            "개최년도": "2025"</a:t>
            </a:r>
          </a:p>
          <a:p>
            <a:r>
              <a:t>          },</a:t>
            </a:r>
          </a:p>
          <a:p>
            <a:r>
              <a:t>          {</a:t>
            </a:r>
          </a:p>
          <a:p>
            <a:r>
              <a:t>            "구분명": "현지인방문자 유입",</a:t>
            </a:r>
          </a:p>
          <a:p>
            <a:r>
              <a:t>            "그룹명": "비축제기간",</a:t>
            </a:r>
          </a:p>
          <a:p>
            <a:r>
              <a:t>            "지표값": "0.586",</a:t>
            </a:r>
          </a:p>
          <a:p>
            <a:r>
              <a:t>            "축제명": "통영한산대첩축제",</a:t>
            </a:r>
          </a:p>
          <a:p>
            <a:r>
              <a:t>            "개최년도": "2025"</a:t>
            </a:r>
          </a:p>
          <a:p>
            <a:r>
              <a:t>          },</a:t>
            </a:r>
          </a:p>
          <a:p>
            <a:r>
              <a:t>          {</a:t>
            </a:r>
          </a:p>
          <a:p>
            <a:r>
              <a:t>            "구분명": "내비게이션 검색량",</a:t>
            </a:r>
          </a:p>
          <a:p>
            <a:r>
              <a:t>            "그룹명": "비축제기간",</a:t>
            </a:r>
          </a:p>
          <a:p>
            <a:r>
              <a:t>            "지표값": "0.206",</a:t>
            </a:r>
          </a:p>
          <a:p>
            <a:r>
              <a:t>            "축제명": "통영한산대첩축제",</a:t>
            </a:r>
          </a:p>
          <a:p>
            <a:r>
              <a:t>            "개최년도": "2025"</a:t>
            </a:r>
          </a:p>
          <a:p>
            <a:r>
              <a:t>          },</a:t>
            </a:r>
          </a:p>
          <a:p>
            <a:r>
              <a:t>          {</a:t>
            </a:r>
          </a:p>
          <a:p>
            <a:r>
              <a:t>            "구분명": "관광소비",</a:t>
            </a:r>
          </a:p>
          <a:p>
            <a:r>
              <a:t>            "그룹명": "비축제기간",</a:t>
            </a:r>
          </a:p>
          <a:p>
            <a:r>
              <a:t>            "지표값": "0.312",</a:t>
            </a:r>
          </a:p>
          <a:p>
            <a:r>
              <a:t>            "축제명": "통영한산대첩축제",</a:t>
            </a:r>
          </a:p>
          <a:p>
            <a:r>
              <a:t>            "개최년도": "2025"</a:t>
            </a:r>
          </a:p>
          <a:p>
            <a:r>
              <a:t>          },</a:t>
            </a:r>
          </a:p>
          <a:p>
            <a:r>
              <a:t>          {</a:t>
            </a:r>
          </a:p>
          <a:p>
            <a:r>
              <a:t>            "구분명": "축제지 집중률",</a:t>
            </a:r>
          </a:p>
          <a:p>
            <a:r>
              <a:t>            "그룹명": "비축제기간",</a:t>
            </a:r>
          </a:p>
          <a:p>
            <a:r>
              <a:t>            "지표값": "0.595",</a:t>
            </a:r>
          </a:p>
          <a:p>
            <a:r>
              <a:t>            "축제명": "통영한산대첩축제",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"통영중앙전통시장",</a:t>
            </a:r>
          </a:p>
          <a:p>
            <a:r>
              <a:t>            "카테고리": "시장",</a:t>
            </a:r>
          </a:p>
          <a:p>
            <a:r>
              <a:t>            "도로명주소": "경남 통영시 중앙시장1길 14-16"</a:t>
            </a:r>
          </a:p>
          <a:p>
            <a:r>
              <a:t>          },</a:t>
            </a:r>
          </a:p>
          <a:p>
            <a:r>
              <a:t>          {</a:t>
            </a:r>
          </a:p>
          <a:p>
            <a:r>
              <a:t>            "구분": "외지인",</a:t>
            </a:r>
          </a:p>
          <a:p>
            <a:r>
              <a:t>            "순위": "2",</a:t>
            </a:r>
          </a:p>
          <a:p>
            <a:r>
              <a:t>            "목적지명": "동피랑벽화마을",</a:t>
            </a:r>
          </a:p>
          <a:p>
            <a:r>
              <a:t>            "카테고리": "기타관광",</a:t>
            </a:r>
          </a:p>
          <a:p>
            <a:r>
              <a:t>            "도로명주소": "경남 통영시 동피랑1길 6-18"</a:t>
            </a:r>
          </a:p>
          <a:p>
            <a:r>
              <a:t>          },</a:t>
            </a:r>
          </a:p>
          <a:p>
            <a:r>
              <a:t>          {</a:t>
            </a:r>
          </a:p>
          <a:p>
            <a:r>
              <a:t>            "구분": "외지인",</a:t>
            </a:r>
          </a:p>
          <a:p>
            <a:r>
              <a:t>            "순위": "3",</a:t>
            </a:r>
          </a:p>
          <a:p>
            <a:r>
              <a:t>            "목적지명": "통영한산대첩축제(한산대첩광장)",</a:t>
            </a:r>
          </a:p>
          <a:p>
            <a:r>
              <a:t>            "카테고리": "기타문화관광지",</a:t>
            </a:r>
          </a:p>
          <a:p>
            <a:r>
              <a:t>            "도로명주소": "경남 통영시 통영해안로 267-0"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0.041516887084911594,</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"지역 상품권 환급액 = 적격 신청의 min(증빙 인정 지출액 × 10%, 건별 상한 50,000원)의 합산 (단가 및 총 예산은 참여 업체 수와 예상 신청 건수에 따라 확정 필요)",</a:t>
            </a:r>
          </a:p>
          <a:p>
            <a:r>
              <a:t>        "본문 기준"</a:t>
            </a:r>
          </a:p>
          <a:p>
            <a:r>
              <a:t>      ]</a:t>
            </a:r>
          </a:p>
          <a:p>
            <a:r>
              <a:t>    ],</a:t>
            </a:r>
          </a:p>
          <a:p>
            <a:r>
              <a:t>    "original_text": "지역 상품권 환급액 = 적격 신청의 min(증빙 인정 지출액 × 10%, 건별 상한 50,000원)의 합산 (단가 및 총 예산은 참여 업체 수와 예상 신청 건수에 따라 확정 필요)",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"operating_statistics":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"incheon_official.jpg",</a:t>
            </a:r>
          </a:p>
          <a:p xmlns:a="http://schemas.openxmlformats.org/drawingml/2006/main">
            <a:r>
              <a:t>      "caption": "유사 사업 참고 · 인천 섬 · 로컬체험 여행 소개 사진",</a:t>
            </a:r>
          </a:p>
          <a:p xmlns:a="http://schemas.openxmlformats.org/drawingml/2006/main">
            <a:r>
              <a:t>      "credit": "인천광역시 섬포털",</a:t>
            </a:r>
          </a:p>
          <a:p xmlns:a="http://schemas.openxmlformats.org/drawingml/2006/main">
            <a:r>
              <a:t>      "page_url": "https://isum.incheon.go.kr/theme/themeContent.do?key=2407020018",</a:t>
            </a:r>
          </a:p>
          <a:p xmlns:a="http://schemas.openxmlformats.org/drawingml/2006/main">
            <a:r>
              <a:t>      "image_url": "https://isum.incheon.go.kr/resource/www/images/sub/theme_local.jpg",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"incheon_official.jpg",</a:t>
            </a:r>
          </a:p>
          <a:p xmlns:a="http://schemas.openxmlformats.org/drawingml/2006/main">
            <a:r>
              <a:t>      "caption": "관광 참고 이미지 · 인천 섬 · 로컬체험 여행 소개 사진",</a:t>
            </a:r>
          </a:p>
          <a:p xmlns:a="http://schemas.openxmlformats.org/drawingml/2006/main">
            <a:r>
              <a:t>      "credit": "인천광역시 섬포털",</a:t>
            </a:r>
          </a:p>
          <a:p xmlns:a="http://schemas.openxmlformats.org/drawingml/2006/main">
            <a:r>
              <a:t>      "page_url": "https://isum.incheon.go.kr/theme/themeContent.do?key=2407020018",</a:t>
            </a:r>
          </a:p>
          <a:p xmlns:a="http://schemas.openxmlformats.org/drawingml/2006/main">
            <a:r>
              <a:t>      "image_url": "https://isum.incheon.go.kr/resource/www/images/sub/theme_local.jpg",</a:t>
            </a:r>
          </a:p>
          <a:p xmlns:a="http://schemas.openxmlformats.org/drawingml/2006/main">
            <a:r>
              <a:t>      "match_kind": "general_tourism_reference",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"참여 업체 및 환급 기준 확정", "schedule": "2026-10", "deliverable": "참여 업체 명단 및 운영 지침(안) 확보 필요 (기획 가정 단계)"}, {"step": 2, "task": "증빙 및 환급 시스템 점검", "schedule": "2026-10", "deliverable": "지출 증빙(영수증 등) 확인 절차 및 중복 수혜 방지 로직 검증"}, {"step": 3, "task": "시범 운영 및 모니터링", "schedule": "2026-11", "deliverable": "주간 단위 신청·승인·결제 원장 집계"}, {"step": 4, "task": "성과 데이터 수집 및 분석", "schedule": "2026-12", "deliverable": "환급액 대비 재결제액 및 이용률 보고서"}, {"step": 5, "task": "사업 지속 여부 검토", "schedule": "2026-12", "deliverable": "기준선 대비 성과 비교를 통한 확대/중단 결정"}]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case:festival:1ff9d11d3ee0ee | 한국관광 데이터랩 · 진도신비의바닷길축제 방문자 추이 | https://datalab.visitkorea.or.kr/</a:t>
            </a:r>
          </a:p>
          <a:p>
            <a:r>
              <a:t>case:festival:1ffc3eec28956a | 한국관광 데이터랩 · 통영한산대첩축제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a:t>
            </a:r>
          </a:p>
          <a:p>
            <a:r>
              <a:t>            "total": 33556,</a:t>
            </a:r>
          </a:p>
          <a:p>
            <a:r>
              <a:t>            "foreign": 278,</a:t>
            </a:r>
          </a:p>
          <a:p>
            <a:r>
              <a:t>            "outside": 21158,</a:t>
            </a:r>
          </a:p>
          <a:p>
            <a:r>
              <a:t>            "outside_daily": 7052.666666666667,</a:t>
            </a:r>
          </a:p>
          <a:p>
            <a:r>
              <a:t>            "outside_share_pct": 63.05280724758613</a:t>
            </a:r>
          </a:p>
          <a:p>
            <a:r>
              <a:t>          },</a:t>
            </a:r>
          </a:p>
          <a:p>
            <a:r>
              <a:t>          {</a:t>
            </a:r>
          </a:p>
          <a:p>
            <a:r>
              <a:t>            "days": 3,</a:t>
            </a:r>
          </a:p>
          <a:p>
            <a:r>
              <a:t>            "year": 2024,</a:t>
            </a:r>
          </a:p>
          <a:p>
            <a:r>
              <a:t>            "daily": 9390.333333333334,</a:t>
            </a:r>
          </a:p>
          <a:p>
            <a:r>
              <a:t>            "local": 13068,</a:t>
            </a:r>
          </a:p>
          <a:p>
            <a:r>
              <a:t>            "total": 28171,</a:t>
            </a:r>
          </a:p>
          <a:p>
            <a:r>
              <a:t>            "foreign": 223,</a:t>
            </a:r>
          </a:p>
          <a:p>
            <a:r>
              <a:t>            "outside": 14880,</a:t>
            </a:r>
          </a:p>
          <a:p>
            <a:r>
              <a:t>            "outside_daily": 4960,</a:t>
            </a:r>
          </a:p>
          <a:p>
            <a:r>
              <a:t>            "outside_share_pct": 52.82027617052998</a:t>
            </a:r>
          </a:p>
          <a:p>
            <a:r>
              <a:t>          },</a:t>
            </a:r>
          </a:p>
          <a:p>
            <a:r>
              <a:t>          {</a:t>
            </a:r>
          </a:p>
          <a:p>
            <a:r>
              <a:t>            "days": 4,</a:t>
            </a:r>
          </a:p>
          <a:p>
            <a:r>
              <a:t>            "year": 2025,</a:t>
            </a:r>
          </a:p>
          <a:p>
            <a:r>
              <a:t>            "daily": 10993.25,</a:t>
            </a:r>
          </a:p>
          <a:p>
            <a:r>
              <a:t>            "local": 15345,</a:t>
            </a:r>
          </a:p>
          <a:p>
            <a:r>
              <a:t>            "total": 43973,</a:t>
            </a:r>
          </a:p>
          <a:p>
            <a:r>
              <a:t>            "foreign": 359,</a:t>
            </a:r>
          </a:p>
          <a:p>
            <a:r>
              <a:t>            "outside": 28269,</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a:t>
            </a:r>
          </a:p>
          <a:p>
            <a:r>
              <a:t>            "before": 28171,</a:t>
            </a:r>
          </a:p>
          <a:p>
            <a:r>
              <a:t>            "change_pct": 56.093145433246946,</a:t>
            </a:r>
          </a:p>
          <a:p>
            <a:r>
              <a:t>            "difference": 15802</a:t>
            </a:r>
          </a:p>
          <a:p>
            <a:r>
              <a:t>          },</a:t>
            </a:r>
          </a:p>
          <a:p>
            <a:r>
              <a:t>          "outside": {</a:t>
            </a:r>
          </a:p>
          <a:p>
            <a:r>
              <a:t>            "after": 28269,</a:t>
            </a:r>
          </a:p>
          <a:p>
            <a:r>
              <a:t>            "before": 14880,</a:t>
            </a:r>
          </a:p>
          <a:p>
            <a:r>
              <a:t>            "change_pct": 89.97983870967742,</a:t>
            </a:r>
          </a:p>
          <a:p>
            <a:r>
              <a:t>            "difference": 13389</a:t>
            </a:r>
          </a:p>
          <a:p>
            <a:r>
              <a:t>          },</a:t>
            </a:r>
          </a:p>
          <a:p>
            <a:r>
              <a:t>          "after_days": 4,</a:t>
            </a:r>
          </a:p>
          <a:p>
            <a:r>
              <a:t>          "after_year": 2025,</a:t>
            </a:r>
          </a:p>
          <a:p>
            <a:r>
              <a:t>          "before_days": 3,</a:t>
            </a:r>
          </a:p>
          <a:p>
            <a:r>
              <a:t>          "before_year": 2024,</a:t>
            </a:r>
          </a:p>
          <a:p>
            <a:r>
              <a:t>          "outside_daily": {</a:t>
            </a:r>
          </a:p>
          <a:p>
            <a:r>
              <a:t>            "after": 7067.25,</a:t>
            </a:r>
          </a:p>
          <a:p>
            <a:r>
              <a:t>            "before": 4960,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통영한산대첩축제 방문자 추이",</a:t>
            </a:r>
          </a:p>
          <a:p>
            <a:r>
              <a:t>      "summary": "경상남도 통영시 · 통영한산대첩축제 · 2024→2025년 전체 93,221→124,718명 (+33.79%). 개최 6→7일, 일평균 +14.67%, 외지인 +33.21%.",</a:t>
            </a:r>
          </a:p>
          <a:p>
            <a:r>
              <a:t>      "source_id": "case:festival:1ffc3eec28956a",</a:t>
            </a:r>
          </a:p>
          <a:p>
            <a:r>
              <a:t>      "source_url": "https://datalab.visitkorea.or.kr/",</a:t>
            </a:r>
          </a:p>
          <a:p>
            <a:r>
              <a:t>      "case_region": "경상남도 통영시",</a:t>
            </a:r>
          </a:p>
          <a:p>
            <a:r>
              <a:t>      "source_type": "benchmark_case",</a:t>
            </a:r>
          </a:p>
          <a:p>
            <a:r>
              <a:t>      "dataset_hash": "ad20e3daf70fd44fd481d672398c07bb9c96fce77acb450784065a568735e2e2",</a:t>
            </a:r>
          </a:p>
          <a:p>
            <a:r>
              <a:t>      "intervention": "통영한산대첩축제",</a:t>
            </a:r>
          </a:p>
          <a:p>
            <a:r>
              <a:t>      "source_files": [</a:t>
            </a:r>
          </a:p>
          <a:p>
            <a:r>
              <a:t>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a:t>
            </a:r>
          </a:p>
          <a:p>
            <a:r>
              <a:t>          "sha256": "77b41103f7ab3a48a3a94baa36227391bc47069fafcf8cc68a36662ec60fd43d",</a:t>
            </a:r>
          </a:p>
          <a:p>
            <a:r>
              <a:t>          "provider": "한국관광 데이터랩",</a:t>
            </a:r>
          </a:p>
          <a:p>
            <a:r>
              <a:t>          "file_name": "20260820183544_통영한산대첩축제_성_연령별 내국인 방문자.csv",</a:t>
            </a:r>
          </a:p>
          <a:p>
            <a:r>
              <a:t>          "source_id": "festival-file:77b41103f7ab3a48a3a9",</a:t>
            </a:r>
          </a:p>
          <a:p>
            <a:r>
              <a:t>          "source_url": "https://datalab.visitkorea.or.kr/",</a:t>
            </a:r>
          </a:p>
          <a:p>
            <a:r>
              <a:t>          "downloaded_at": "2026-08-20",</a:t>
            </a:r>
          </a:p>
          <a:p>
            <a:r>
              <a:t>          "relative_path": "data/source_snapshots/festivals_20260820/81. 통영한산대첩축제_2023-2025/20260820183544_통영한산대첩축제_성_연령별 내국인 방문자.csv",</a:t>
            </a:r>
          </a:p>
          <a:p>
            <a:r>
              <a:t>          "provenance_status": "team_download_exact_query_url_unrecorded"</a:t>
            </a:r>
          </a:p>
          <a:p>
            <a:r>
              <a:t>        },</a:t>
            </a:r>
          </a:p>
          <a:p>
            <a:r>
              <a:t>        {</a:t>
            </a:r>
          </a:p>
          <a:p>
            <a:r>
              <a:t>          "sha256": "5457f819bd8704a9d5b81a24337c2a40c45bbcf7435e0a751139a5457627bdd4",</a:t>
            </a:r>
          </a:p>
          <a:p>
            <a:r>
              <a:t>          "provider": "한국관광 데이터랩",</a:t>
            </a:r>
          </a:p>
          <a:p>
            <a:r>
              <a:t>          "file_name": "20260820183544_통영한산대첩축제_문화관광축제 주요 지표.csv",</a:t>
            </a:r>
          </a:p>
          <a:p>
            <a:r>
              <a:t>          "source_id": "festival-file:5457f819bd8704a9d5b8",</a:t>
            </a:r>
          </a:p>
          <a:p>
            <a:r>
              <a:t>          "source_url": "https://datalab.visitkorea.or.kr/",</a:t>
            </a:r>
          </a:p>
          <a:p>
            <a:r>
              <a:t>          "downloaded_at": "2026-08-20",</a:t>
            </a:r>
          </a:p>
          <a:p>
            <a:r>
              <a:t>          "relative_path": "data/source_snapshots/festivals_20260820/81. 통영한산대첩축제_2023-2025/20260820183544_통영한산대첩축제_문화관광축제 주요 지표.csv",</a:t>
            </a:r>
          </a:p>
          <a:p>
            <a:r>
              <a:t>          "provenance_status": "team_download_exact_query_url_unrecorded"</a:t>
            </a:r>
          </a:p>
          <a:p>
            <a:r>
              <a:t>        },</a:t>
            </a:r>
          </a:p>
          <a:p>
            <a:r>
              <a:t>        {</a:t>
            </a:r>
          </a:p>
          <a:p>
            <a:r>
              <a:t>          "sha256": "3b2a6e862dd8337a7616d3cdb3f568c6fdb24be706918eb7f02d965d625ca746",</a:t>
            </a:r>
          </a:p>
          <a:p>
            <a:r>
              <a:t>          "provider": "한국관광 데이터랩",</a:t>
            </a:r>
          </a:p>
          <a:p>
            <a:r>
              <a:t>          "file_name": "20260820183544_통영한산대첩축제_목적지 검색순위.csv",</a:t>
            </a:r>
          </a:p>
          <a:p>
            <a:r>
              <a:t>          "source_id": "festival-file:3b2a6e862dd8337a7616",</a:t>
            </a:r>
          </a:p>
          <a:p>
            <a:r>
              <a:t>          "source_url": "https://datalab.visitkorea.or.kr/",</a:t>
            </a:r>
          </a:p>
          <a:p>
            <a:r>
              <a:t>          "downloaded_at": "2026-08-20",</a:t>
            </a:r>
          </a:p>
          <a:p>
            <a:r>
              <a:t>          "relative_path": "data/source_snapshots/festivals_20260820/81. 통영한산대첩축제_2023-2025/20260820183544_통영한산대첩축제_목적지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93,221→124,718명 (+33.79%). 개최 6→7일, 일평균 +14.67%, 외지인 +33.21%.",</a:t>
            </a:r>
          </a:p>
          <a:p>
            <a:r>
              <a:t>      "operating_model": "통영한산대첩축제를 2025년 7일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"지역문화",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"통영한산대첩축제",</a:t>
            </a:r>
          </a:p>
          <a:p>
            <a:r>
              <a:t>        "scope": "축제 관측구역 방문 지표. 도시 전체·순증 관광객·입장권 실구매자 수가 아님.",</a:t>
            </a:r>
          </a:p>
          <a:p>
            <a:r>
              <a:t>        "annual": [</a:t>
            </a:r>
          </a:p>
          <a:p>
            <a:r>
              <a:t>          {</a:t>
            </a:r>
          </a:p>
          <a:p>
            <a:r>
              <a:t>            "days": 9,</a:t>
            </a:r>
          </a:p>
          <a:p>
            <a:r>
              <a:t>            "year": 2023,</a:t>
            </a:r>
          </a:p>
          <a:p>
            <a:r>
              <a:t>            "daily": 11745.444444444443,</a:t>
            </a:r>
          </a:p>
          <a:p>
            <a:r>
              <a:t>            "local": 57810,</a:t>
            </a:r>
          </a:p>
          <a:p>
            <a:r>
              <a:t>            "total": 105709,</a:t>
            </a:r>
          </a:p>
          <a:p>
            <a:r>
              <a:t>            "foreign": 455,</a:t>
            </a:r>
          </a:p>
          <a:p>
            <a:r>
              <a:t>            "outside": 47444,</a:t>
            </a:r>
          </a:p>
          <a:p>
            <a:r>
              <a:t>            "outside_daily": 5271.555555555556,</a:t>
            </a:r>
          </a:p>
          <a:p>
            <a:r>
              <a:t>            "outside_share_pct": 44.88170354463669</a:t>
            </a:r>
          </a:p>
          <a:p>
            <a:r>
              <a:t>          },</a:t>
            </a:r>
          </a:p>
          <a:p>
            <a:r>
              <a:t>          {</a:t>
            </a:r>
          </a:p>
          <a:p>
            <a:r>
              <a:t>            "days": 6,</a:t>
            </a:r>
          </a:p>
          <a:p>
            <a:r>
              <a:t>            "year": 2024,</a:t>
            </a:r>
          </a:p>
          <a:p>
            <a:r>
              <a:t>            "daily": 15536.833333333334,</a:t>
            </a:r>
          </a:p>
          <a:p>
            <a:r>
              <a:t>            "local": 52493,</a:t>
            </a:r>
          </a:p>
          <a:p>
            <a:r>
              <a:t>            "total": 93221,</a:t>
            </a:r>
          </a:p>
          <a:p>
            <a:r>
              <a:t>            "foreign": 394,</a:t>
            </a:r>
          </a:p>
          <a:p>
            <a:r>
              <a:t>            "outside": 40334,</a:t>
            </a:r>
          </a:p>
          <a:p>
            <a:r>
              <a:t>            "outside_daily": 6722.333333333333,</a:t>
            </a:r>
          </a:p>
          <a:p>
            <a:r>
              <a:t>            "outside_share_pct": 43.26707501528625</a:t>
            </a:r>
          </a:p>
          <a:p>
            <a:r>
              <a:t>          },</a:t>
            </a:r>
          </a:p>
          <a:p>
            <a:r>
              <a:t>          {</a:t>
            </a:r>
          </a:p>
          <a:p>
            <a:r>
              <a:t>            "days": 7,</a:t>
            </a:r>
          </a:p>
          <a:p>
            <a:r>
              <a:t>            "year": 2025,</a:t>
            </a:r>
          </a:p>
          <a:p>
            <a:r>
              <a:t>            "daily": 17816.85714285714,</a:t>
            </a:r>
          </a:p>
          <a:p>
            <a:r>
              <a:t>            "local": 70201,</a:t>
            </a:r>
          </a:p>
          <a:p>
            <a:r>
              <a:t>            "total": 124718,</a:t>
            </a:r>
          </a:p>
          <a:p>
            <a:r>
              <a:t>            "foreign": 787,</a:t>
            </a:r>
          </a:p>
          <a:p>
            <a:r>
              <a:t>            "outside": 53730,</a:t>
            </a:r>
          </a:p>
          <a:p>
            <a:r>
              <a:t>            "outside_daily": 7675.714285714285,</a:t>
            </a:r>
          </a:p>
          <a:p>
            <a:r>
              <a:t>            "outside_share_pct": 43.08119116727337</a:t>
            </a:r>
          </a:p>
          <a:p>
            <a:r>
              <a:t>          }</a:t>
            </a:r>
          </a:p>
          <a:p>
            <a:r>
              <a:t>        ],</a:t>
            </a:r>
          </a:p>
          <a:p>
            <a:r>
              <a:t>        "audience": [</a:t>
            </a:r>
          </a:p>
          <a:p>
            <a:r>
              <a:t>          {</a:t>
            </a:r>
          </a:p>
          <a:p>
            <a:r>
              <a:t>            "연령대": "70세 이상",</a:t>
            </a:r>
          </a:p>
          <a:p>
            <a:r>
              <a:t>            "축제명": "통영한산대첩축제",</a:t>
            </a:r>
          </a:p>
          <a:p>
            <a:r>
              <a:t>            "남성비율": "5.2",</a:t>
            </a:r>
          </a:p>
          <a:p>
            <a:r>
              <a:t>            "여성비율": "5.7"</a:t>
            </a:r>
          </a:p>
          <a:p>
            <a:r>
              <a:t>          },</a:t>
            </a:r>
          </a:p>
          <a:p>
            <a:r>
              <a:t>          {</a:t>
            </a:r>
          </a:p>
          <a:p>
            <a:r>
              <a:t>            "연령대": "60~69세",</a:t>
            </a:r>
          </a:p>
          <a:p>
            <a:r>
              <a:t>            "축제명": "통영한산대첩축제",</a:t>
            </a:r>
          </a:p>
          <a:p>
            <a:r>
              <a:t>            "남성비율": "11.0",</a:t>
            </a:r>
          </a:p>
          <a:p>
            <a:r>
              <a:t>            "여성비율": "11.5"</a:t>
            </a:r>
          </a:p>
          <a:p>
            <a:r>
              <a:t>          },</a:t>
            </a:r>
          </a:p>
          <a:p>
            <a:r>
              <a:t>          {</a:t>
            </a:r>
          </a:p>
          <a:p>
            <a:r>
              <a:t>            "연령대": "50~59세",</a:t>
            </a:r>
          </a:p>
          <a:p>
            <a:r>
              <a:t>            "축제명": "통영한산대첩축제",</a:t>
            </a:r>
          </a:p>
          <a:p>
            <a:r>
              <a:t>            "남성비율": "11.1",</a:t>
            </a:r>
          </a:p>
          <a:p>
            <a:r>
              <a:t>            "여성비율": "10.9"</a:t>
            </a:r>
          </a:p>
          <a:p>
            <a:r>
              <a:t>          },</a:t>
            </a:r>
          </a:p>
          <a:p>
            <a:r>
              <a:t>          {</a:t>
            </a:r>
          </a:p>
          <a:p>
            <a:r>
              <a:t>            "연령대": "40~49세",</a:t>
            </a:r>
          </a:p>
          <a:p>
            <a:r>
              <a:t>            "축제명": "통영한산대첩축제",</a:t>
            </a:r>
          </a:p>
          <a:p>
            <a:r>
              <a:t>            "남성비율": "8.0",</a:t>
            </a:r>
          </a:p>
          <a:p>
            <a:r>
              <a:t>            "여성비율": "7.7"</a:t>
            </a:r>
          </a:p>
          <a:p>
            <a:r>
              <a:t>          },</a:t>
            </a:r>
          </a:p>
          <a:p>
            <a:r>
              <a:t>          {</a:t>
            </a:r>
          </a:p>
          <a:p>
            <a:r>
              <a:t>            "연령대": "30~39세",</a:t>
            </a:r>
          </a:p>
          <a:p>
            <a:r>
              <a:t>            "축제명": "통영한산대첩축제",</a:t>
            </a:r>
          </a:p>
          <a:p>
            <a:r>
              <a:t>            "남성비율": "6.3",</a:t>
            </a:r>
          </a:p>
          <a:p>
            <a:r>
              <a:t>            "여성비율": "5.6"</a:t>
            </a:r>
          </a:p>
          <a:p>
            <a:r>
              <a:t>          },</a:t>
            </a:r>
          </a:p>
          <a:p>
            <a:r>
              <a:t>          {</a:t>
            </a:r>
          </a:p>
          <a:p>
            <a:r>
              <a:t>            "연령대": "20~29세",</a:t>
            </a:r>
          </a:p>
          <a:p>
            <a:r>
              <a:t>            "축제명": "통영한산대첩축제",</a:t>
            </a:r>
          </a:p>
          <a:p>
            <a:r>
              <a:t>            "남성비율": "5.4",</a:t>
            </a:r>
          </a:p>
          <a:p>
            <a:r>
              <a:t>            "여성비율": "4.4"</a:t>
            </a:r>
          </a:p>
          <a:p>
            <a:r>
              <a:t>          },</a:t>
            </a:r>
          </a:p>
          <a:p>
            <a:r>
              <a:t>          {</a:t>
            </a:r>
          </a:p>
          <a:p>
            <a:r>
              <a:t>            "연령대": "10~19세",</a:t>
            </a:r>
          </a:p>
          <a:p>
            <a:r>
              <a:t>            "축제명": "통영한산대첩축제",</a:t>
            </a:r>
          </a:p>
          <a:p>
            <a:r>
              <a:t>            "남성비율": "2.8",</a:t>
            </a:r>
          </a:p>
          <a:p>
            <a:r>
              <a:t>            "여성비율": "3.1"</a:t>
            </a:r>
          </a:p>
          <a:p>
            <a:r>
              <a:t>          },</a:t>
            </a:r>
          </a:p>
          <a:p>
            <a:r>
              <a:t>          {</a:t>
            </a:r>
          </a:p>
          <a:p>
            <a:r>
              <a:t>            "연령대": "0~9세",</a:t>
            </a:r>
          </a:p>
          <a:p>
            <a:r>
              <a:t>            "축제명": "통영한산대첩축제",</a:t>
            </a:r>
          </a:p>
          <a:p>
            <a:r>
              <a:t>            "남성비율": "0.5",</a:t>
            </a:r>
          </a:p>
          <a:p>
            <a:r>
              <a:t>            "여성비율": "0.6"</a:t>
            </a:r>
          </a:p>
          <a:p>
            <a:r>
              <a:t>          }</a:t>
            </a:r>
          </a:p>
          <a:p>
            <a:r>
              <a:t>        ],</a:t>
            </a:r>
          </a:p>
          <a:p>
            <a:r>
              <a:t>        "comparison": {</a:t>
            </a:r>
          </a:p>
          <a:p>
            <a:r>
              <a:t>          "daily": {</a:t>
            </a:r>
          </a:p>
          <a:p>
            <a:r>
              <a:t>            "after": 17816.85714285714,</a:t>
            </a:r>
          </a:p>
          <a:p>
            <a:r>
              <a:t>            "before": 15536.833333333334,</a:t>
            </a:r>
          </a:p>
          <a:p>
            <a:r>
              <a:t>            "change_pct": 14.674958278867244,</a:t>
            </a:r>
          </a:p>
          <a:p>
            <a:r>
              <a:t>            "difference": 2280.0238095238074</a:t>
            </a:r>
          </a:p>
          <a:p>
            <a:r>
              <a:t>          },</a:t>
            </a:r>
          </a:p>
          <a:p>
            <a:r>
              <a:t>          "total": {</a:t>
            </a:r>
          </a:p>
          <a:p>
            <a:r>
              <a:t>            "after": 124718,</a:t>
            </a:r>
          </a:p>
          <a:p>
            <a:r>
              <a:t>            "before": 93221,</a:t>
            </a:r>
          </a:p>
          <a:p>
            <a:r>
              <a:t>            "change_pct": 33.78745132534515,</a:t>
            </a:r>
          </a:p>
          <a:p>
            <a:r>
              <a:t>            "difference": 31497</a:t>
            </a:r>
          </a:p>
          <a:p>
            <a:r>
              <a:t>          },</a:t>
            </a:r>
          </a:p>
          <a:p>
            <a:r>
              <a:t>          "outside": {</a:t>
            </a:r>
          </a:p>
          <a:p>
            <a:r>
              <a:t>            "after": 53730,</a:t>
            </a:r>
          </a:p>
          <a:p>
            <a:r>
              <a:t>            "before": 40334,</a:t>
            </a:r>
          </a:p>
          <a:p>
            <a:r>
              <a:t>            "change_pct": 33.21267417067486,</a:t>
            </a:r>
          </a:p>
          <a:p>
            <a:r>
              <a:t>            "difference": 13396</a:t>
            </a:r>
          </a:p>
          <a:p>
            <a:r>
              <a:t>          },</a:t>
            </a:r>
          </a:p>
          <a:p>
            <a:r>
              <a:t>          "after_days": 7,</a:t>
            </a:r>
          </a:p>
          <a:p>
            <a:r>
              <a:t>          "after_year": 2025,</a:t>
            </a:r>
          </a:p>
          <a:p>
            <a:r>
              <a:t>          "before_days": 6,</a:t>
            </a:r>
          </a:p>
          <a:p>
            <a:r>
              <a:t>          "before_year": 2024,</a:t>
            </a:r>
          </a:p>
          <a:p>
            <a:r>
              <a:t>          "outside_daily": {</a:t>
            </a:r>
          </a:p>
          <a:p>
            <a:r>
              <a:t>            "after": 7675.714285714285,</a:t>
            </a:r>
          </a:p>
          <a:p>
            <a:r>
              <a:t>            "before": 6722.333333333333,</a:t>
            </a:r>
          </a:p>
          <a:p>
            <a:r>
              <a:t>            "change_pct": 14.182292146292742,</a:t>
            </a:r>
          </a:p>
          <a:p>
            <a:r>
              <a:t>            "difference": 953.3809523809524</a:t>
            </a:r>
          </a:p>
          <a:p>
            <a:r>
              <a:t>          }</a:t>
            </a:r>
          </a:p>
          <a:p>
            <a:r>
              <a:t>        },</a:t>
            </a:r>
          </a:p>
          <a:p>
            <a:r>
              <a:t>        "source_file":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"0.309",</a:t>
            </a:r>
          </a:p>
          <a:p>
            <a:r>
              <a:t>            "축제명": "통영한산대첩축제",</a:t>
            </a:r>
          </a:p>
          <a:p>
            <a:r>
              <a:t>            "개최년도": "2025"</a:t>
            </a:r>
          </a:p>
          <a:p>
            <a:r>
              <a:t>          },</a:t>
            </a:r>
          </a:p>
          <a:p>
            <a:r>
              <a:t>          {</a:t>
            </a:r>
          </a:p>
          <a:p>
            <a:r>
              <a:t>            "구분명": "현지인방문자 유입",</a:t>
            </a:r>
          </a:p>
          <a:p>
            <a:r>
              <a:t>            "그룹명": "축제기간",</a:t>
            </a:r>
          </a:p>
          <a:p>
            <a:r>
              <a:t>            "지표값": "0.731",</a:t>
            </a:r>
          </a:p>
          <a:p>
            <a:r>
              <a:t>            "축제명": "통영한산대첩축제",</a:t>
            </a:r>
          </a:p>
          <a:p>
            <a:r>
              <a:t>            "개최년도": "2025"</a:t>
            </a:r>
          </a:p>
          <a:p>
            <a:r>
              <a:t>          },</a:t>
            </a:r>
          </a:p>
          <a:p>
            <a:r>
              <a:t>          {</a:t>
            </a:r>
          </a:p>
          <a:p>
            <a:r>
              <a:t>            "구분명": "내비게이션 검색량",</a:t>
            </a:r>
          </a:p>
          <a:p>
            <a:r>
              <a:t>            "그룹명": "축제기간",</a:t>
            </a:r>
          </a:p>
          <a:p>
            <a:r>
              <a:t>            "지표값": "0.228",</a:t>
            </a:r>
          </a:p>
          <a:p>
            <a:r>
              <a:t>            "축제명": "통영한산대첩축제",</a:t>
            </a:r>
          </a:p>
          <a:p>
            <a:r>
              <a:t>            "개최년도": "2025"</a:t>
            </a:r>
          </a:p>
          <a:p>
            <a:r>
              <a:t>          },</a:t>
            </a:r>
          </a:p>
          <a:p>
            <a:r>
              <a:t>          {</a:t>
            </a:r>
          </a:p>
          <a:p>
            <a:r>
              <a:t>            "구분명": "관광소비",</a:t>
            </a:r>
          </a:p>
          <a:p>
            <a:r>
              <a:t>            "그룹명": "축제기간",</a:t>
            </a:r>
          </a:p>
          <a:p>
            <a:r>
              <a:t>            "지표값": "0.313",</a:t>
            </a:r>
          </a:p>
          <a:p>
            <a:r>
              <a:t>            "축제명": "통영한산대첩축제",</a:t>
            </a:r>
          </a:p>
          <a:p>
            <a:r>
              <a:t>            "개최년도": "2025"</a:t>
            </a:r>
          </a:p>
          <a:p>
            <a:r>
              <a:t>          },</a:t>
            </a:r>
          </a:p>
          <a:p>
            <a:r>
              <a:t>          {</a:t>
            </a:r>
          </a:p>
          <a:p>
            <a:r>
              <a:t>            "구분명": "축제지 집중률",</a:t>
            </a:r>
          </a:p>
          <a:p>
            <a:r>
              <a:t>            "그룹명": "축제기간",</a:t>
            </a:r>
          </a:p>
          <a:p>
            <a:r>
              <a:t>            "지표값": "0.766",</a:t>
            </a:r>
          </a:p>
          <a:p>
            <a:r>
              <a:t>            "축제명": "통영한산대첩축제",</a:t>
            </a:r>
          </a:p>
          <a:p>
            <a:r>
              <a:t>            "개최년도": "2025"</a:t>
            </a:r>
          </a:p>
          <a:p>
            <a:r>
              <a:t>          },</a:t>
            </a:r>
          </a:p>
          <a:p>
            <a:r>
              <a:t>          {</a:t>
            </a:r>
          </a:p>
          <a:p>
            <a:r>
              <a:t>            "구분명": "외부방문자 유입",</a:t>
            </a:r>
          </a:p>
          <a:p>
            <a:r>
              <a:t>            "그룹명": "비축제기간",</a:t>
            </a:r>
          </a:p>
          <a:p>
            <a:r>
              <a:t>            "지표값": "0.244",</a:t>
            </a:r>
          </a:p>
          <a:p>
            <a:r>
              <a:t>            "축제명": "통영한산대첩축제",</a:t>
            </a:r>
          </a:p>
          <a:p>
            <a:r>
              <a:t>            "개최년도": "2025"</a:t>
            </a:r>
          </a:p>
          <a:p>
            <a:r>
              <a:t>          },</a:t>
            </a:r>
          </a:p>
          <a:p>
            <a:r>
              <a:t>          {</a:t>
            </a:r>
          </a:p>
          <a:p>
            <a:r>
              <a:t>            "구분명": "현지인방문자 유입",</a:t>
            </a:r>
          </a:p>
          <a:p>
            <a:r>
              <a:t>            "그룹명": "비축제기간",</a:t>
            </a:r>
          </a:p>
          <a:p>
            <a:r>
              <a:t>            "지표값": "0.586",</a:t>
            </a:r>
          </a:p>
          <a:p>
            <a:r>
              <a:t>            "축제명": "통영한산대첩축제",</a:t>
            </a:r>
          </a:p>
          <a:p>
            <a:r>
              <a:t>            "개최년도": "2025"</a:t>
            </a:r>
          </a:p>
          <a:p>
            <a:r>
              <a:t>          },</a:t>
            </a:r>
          </a:p>
          <a:p>
            <a:r>
              <a:t>          {</a:t>
            </a:r>
          </a:p>
          <a:p>
            <a:r>
              <a:t>            "구분명": "내비게이션 검색량",</a:t>
            </a:r>
          </a:p>
          <a:p>
            <a:r>
              <a:t>            "그룹명": "비축제기간",</a:t>
            </a:r>
          </a:p>
          <a:p>
            <a:r>
              <a:t>            "지표값": "0.206",</a:t>
            </a:r>
          </a:p>
          <a:p>
            <a:r>
              <a:t>            "축제명": "통영한산대첩축제",</a:t>
            </a:r>
          </a:p>
          <a:p>
            <a:r>
              <a:t>            "개최년도": "2025"</a:t>
            </a:r>
          </a:p>
          <a:p>
            <a:r>
              <a:t>          },</a:t>
            </a:r>
          </a:p>
          <a:p>
            <a:r>
              <a:t>          {</a:t>
            </a:r>
          </a:p>
          <a:p>
            <a:r>
              <a:t>            "구분명": "관광소비",</a:t>
            </a:r>
          </a:p>
          <a:p>
            <a:r>
              <a:t>            "그룹명": "비축제기간",</a:t>
            </a:r>
          </a:p>
          <a:p>
            <a:r>
              <a:t>            "지표값": "0.312",</a:t>
            </a:r>
          </a:p>
          <a:p>
            <a:r>
              <a:t>            "축제명": "통영한산대첩축제",</a:t>
            </a:r>
          </a:p>
          <a:p>
            <a:r>
              <a:t>            "개최년도": "2025"</a:t>
            </a:r>
          </a:p>
          <a:p>
            <a:r>
              <a:t>          },</a:t>
            </a:r>
          </a:p>
          <a:p>
            <a:r>
              <a:t>          {</a:t>
            </a:r>
          </a:p>
          <a:p>
            <a:r>
              <a:t>            "구분명": "축제지 집중률",</a:t>
            </a:r>
          </a:p>
          <a:p>
            <a:r>
              <a:t>            "그룹명": "비축제기간",</a:t>
            </a:r>
          </a:p>
          <a:p>
            <a:r>
              <a:t>            "지표값": "0.595",</a:t>
            </a:r>
          </a:p>
          <a:p>
            <a:r>
              <a:t>            "축제명": "통영한산대첩축제",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"통영중앙전통시장",</a:t>
            </a:r>
          </a:p>
          <a:p>
            <a:r>
              <a:t>            "카테고리": "시장",</a:t>
            </a:r>
          </a:p>
          <a:p>
            <a:r>
              <a:t>            "도로명주소": "경남 통영시 중앙시장1길 14-16"</a:t>
            </a:r>
          </a:p>
          <a:p>
            <a:r>
              <a:t>          },</a:t>
            </a:r>
          </a:p>
          <a:p>
            <a:r>
              <a:t>          {</a:t>
            </a:r>
          </a:p>
          <a:p>
            <a:r>
              <a:t>            "구분": "외지인",</a:t>
            </a:r>
          </a:p>
          <a:p>
            <a:r>
              <a:t>            "순위": "2",</a:t>
            </a:r>
          </a:p>
          <a:p>
            <a:r>
              <a:t>            "목적지명": "동피랑벽화마을",</a:t>
            </a:r>
          </a:p>
          <a:p>
            <a:r>
              <a:t>            "카테고리": "기타관광",</a:t>
            </a:r>
          </a:p>
          <a:p>
            <a:r>
              <a:t>            "도로명주소": "경남 통영시 동피랑1길 6-18"</a:t>
            </a:r>
          </a:p>
          <a:p>
            <a:r>
              <a:t>          },</a:t>
            </a:r>
          </a:p>
          <a:p>
            <a:r>
              <a:t>          {</a:t>
            </a:r>
          </a:p>
          <a:p>
            <a:r>
              <a:t>            "구분": "외지인",</a:t>
            </a:r>
          </a:p>
          <a:p>
            <a:r>
              <a:t>            "순위": "3",</a:t>
            </a:r>
          </a:p>
          <a:p>
            <a:r>
              <a:t>            "목적지명": "통영한산대첩축제(한산대첩광장)",</a:t>
            </a:r>
          </a:p>
          <a:p>
            <a:r>
              <a:t>            "카테고리": "기타문화관광지",</a:t>
            </a:r>
          </a:p>
          <a:p>
            <a:r>
              <a:t>            "도로명주소": "경남 통영시 통영해안로 267-0"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0.041516887084911594,</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"지역 상품권 환급액 = 적격 신청의 min(증빙 인정 지출액 × 10%, 건별 상한 50,000원)의 합산 (단가 및 총 예산은 참여 업체 수와 예상 신청 건수에 따라 확정 필요)",</a:t>
            </a:r>
          </a:p>
          <a:p>
            <a:r>
              <a:t>        "본문 기준"</a:t>
            </a:r>
          </a:p>
          <a:p>
            <a:r>
              <a:t>      ]</a:t>
            </a:r>
          </a:p>
          <a:p>
            <a:r>
              <a:t>    ],</a:t>
            </a:r>
          </a:p>
          <a:p>
            <a:r>
              <a:t>    "original_text": "지역 상품권 환급액 = 적격 신청의 min(증빙 인정 지출액 × 10%, 건별 상한 50,000원)의 합산 (단가 및 총 예산은 참여 업체 수와 예상 신청 건수에 따라 확정 필요)",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"export_evidence": null,</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246,416,761,876원 (추가 51,489,206원,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않습니다.\n8개 × 월 20일 × 2개월 × 하루 1회 × 회당 20명 = 6,400명분 → 편성 참여 한도 6,400건.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246416761876.0,</a:t>
            </a:r>
          </a:p>
          <a:p>
            <a:r>
              <a:t>        "additional": 51489206.0,</a:t>
            </a:r>
          </a:p>
          <a:p>
            <a:r>
              <a:t>        "pct": 0.020899538900920334</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"selection_reason": "지역 상품권 환급 프로그램은 'case:gangjin_half_price_2024' 사례와 유사한 방식으로, 대전광역시 서구의 외지인 관광소비 총액을 기반으로 설계할 수 있으며, 지역 내 소비를 유도할 수 있는 잠재력이 있습니다. 이는 'case:kto_stay_discount_2022' 사례와 비교하여, 지역 상품권 환급 방식이 더 적합하다고 판단됩니다.",</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"estimate": {</a:t>
            </a:r>
          </a:p>
          <a:p>
            <a:r>
              <a:t>      "version": "operating-capacity-v3-launch-schedule",</a:t>
            </a:r>
          </a:p>
          <a:p>
            <a:r>
              <a:t>      "status": "planning_assumption_not_quote",</a:t>
            </a:r>
          </a:p>
          <a:p>
            <a:r>
              <a:t>      "scale_basis": "8개 × 월 20일 × 2개월 × 하루 1회 × 회당 20명 = 6,400명분 → 편성 참여 한도 6,400건. 모든 단가는 기획 가정.",</a:t>
            </a:r>
          </a:p>
          <a:p>
            <a:r>
              <a:t>      "months": 2,</a:t>
            </a:r>
          </a:p>
          <a:p>
            <a:r>
              <a:t>      "refund": true,</a:t>
            </a:r>
          </a:p>
          <a:p>
            <a:r>
              <a:t>      "quantity": 6400,</a:t>
            </a:r>
          </a:p>
          <a:p>
            <a:r>
              <a:t>      "unit_krw": 50000,</a:t>
            </a:r>
          </a:p>
          <a:p>
            <a:r>
              <a:t>      "redemption_target_pct": 75.0,</a:t>
            </a:r>
          </a:p>
          <a:p>
            <a:r>
              <a:t>      "redemption_count": 4800,</a:t>
            </a:r>
          </a:p>
          <a:p>
            <a:r>
              <a:t>      "qualifying_spend_krw": null,</a:t>
            </a:r>
          </a:p>
          <a:p>
            <a:r>
              <a:t>      "subtotal_krw": 384000000,</a:t>
            </a:r>
          </a:p>
          <a:p>
            <a:r>
              <a:t>      "reserve_krw": 38400000,</a:t>
            </a:r>
          </a:p>
          <a:p>
            <a:r>
              <a:t>      "total_krw": 422400000,</a:t>
            </a:r>
          </a:p>
          <a:p>
            <a:r>
              <a:t>      "within_hard_budget": true,</a:t>
            </a:r>
          </a:p>
          <a:p>
            <a:r>
              <a:t>      "items": [</a:t>
            </a:r>
          </a:p>
          <a:p>
            <a:r>
              <a:t>        {</a:t>
            </a:r>
          </a:p>
          <a:p>
            <a:r>
              <a:t>          "name": "여행비 환급 지원",</a:t>
            </a:r>
          </a:p>
          <a:p>
            <a:r>
              <a:t>          "basis": "편성 참여 한도 6,400건 × 가정 단가 50,000원",</a:t>
            </a:r>
          </a:p>
          <a:p>
            <a:r>
              <a:t>          "amount": 320000000</a:t>
            </a:r>
          </a:p>
          <a:p>
            <a:r>
              <a:t>        },</a:t>
            </a:r>
          </a:p>
          <a:p>
            <a:r>
              <a:t>        {</a:t>
            </a:r>
          </a:p>
          <a:p>
            <a:r>
              <a:t>          "name": "현장 운영·정산",</a:t>
            </a:r>
          </a:p>
          <a:p>
            <a:r>
              <a:t>          "basis": "8개 거점 × 월 20일 × 2개월 × 150,000원",</a:t>
            </a:r>
          </a:p>
          <a:p>
            <a:r>
              <a:t>          "amount": 48000000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384,000,000원 × 10%",</a:t>
            </a:r>
          </a:p>
          <a:p>
            <a:r>
              <a:t>          "amount": 38400000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"operating-capacity-v3-launch-schedule",</a:t>
            </a:r>
          </a:p>
          <a:p>
            <a:r>
              <a:t>  "status": "planning_assumption_not_quote",</a:t>
            </a:r>
          </a:p>
          <a:p>
            <a:r>
              <a:t>  "scale_basis": "8개 × 월 20일 × 2개월 × 하루 1회 × 회당 20명 = 6,400명분 → 편성 참여 한도 6,400건. 모든 단가는 기획 가정.",</a:t>
            </a:r>
          </a:p>
          <a:p>
            <a:r>
              <a:t>  "months": 2,</a:t>
            </a:r>
          </a:p>
          <a:p>
            <a:r>
              <a:t>  "refund": true,</a:t>
            </a:r>
          </a:p>
          <a:p>
            <a:r>
              <a:t>  "quantity": 6400,</a:t>
            </a:r>
          </a:p>
          <a:p>
            <a:r>
              <a:t>  "unit_krw": 50000,</a:t>
            </a:r>
          </a:p>
          <a:p>
            <a:r>
              <a:t>  "redemption_target_pct": 75.0,</a:t>
            </a:r>
          </a:p>
          <a:p>
            <a:r>
              <a:t>  "redemption_count": 4800,</a:t>
            </a:r>
          </a:p>
          <a:p>
            <a:r>
              <a:t>  "qualifying_spend_krw": null,</a:t>
            </a:r>
          </a:p>
          <a:p>
            <a:r>
              <a:t>  "subtotal_krw": 384000000,</a:t>
            </a:r>
          </a:p>
          <a:p>
            <a:r>
              <a:t>  "reserve_krw": 38400000,</a:t>
            </a:r>
          </a:p>
          <a:p>
            <a:r>
              <a:t>  "total_krw": 422400000,</a:t>
            </a:r>
          </a:p>
          <a:p>
            <a:r>
              <a:t>  "within_hard_budget": true,</a:t>
            </a:r>
          </a:p>
          <a:p>
            <a:r>
              <a:t>  "items": [</a:t>
            </a:r>
          </a:p>
          <a:p>
            <a:r>
              <a:t>    {</a:t>
            </a:r>
          </a:p>
          <a:p>
            <a:r>
              <a:t>      "name": "여행비 환급 지원",</a:t>
            </a:r>
          </a:p>
          <a:p>
            <a:r>
              <a:t>      "basis": "편성 참여 한도 6,400건 × 가정 단가 50,000원",</a:t>
            </a:r>
          </a:p>
          <a:p>
            <a:r>
              <a:t>      "amount": 320000000</a:t>
            </a:r>
          </a:p>
          <a:p>
            <a:r>
              <a:t>    },</a:t>
            </a:r>
          </a:p>
          <a:p>
            <a:r>
              <a:t>    {</a:t>
            </a:r>
          </a:p>
          <a:p>
            <a:r>
              <a:t>      "name": "현장 운영·정산",</a:t>
            </a:r>
          </a:p>
          <a:p>
            <a:r>
              <a:t>      "basis": "8개 거점 × 월 20일 × 2개월 × 150,000원",</a:t>
            </a:r>
          </a:p>
          <a:p>
            <a:r>
              <a:t>      "amount": 48000000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384,000,000원 × 10%",</a:t>
            </a:r>
          </a:p>
          <a:p>
            <a:r>
              <a:t>      "amount": 38400000</a:t>
            </a:r>
          </a:p>
          <a:p>
            <a:r>
              <a:t>    }</a:t>
            </a:r>
          </a:p>
          <a:p>
            <a:r>
              <a:t>  ],</a:t>
            </a:r>
          </a:p>
          <a:p>
            <a:r>
              <a:t>  "sources": [],</a:t>
            </a:r>
          </a:p>
          <a:p>
            <a:r>
              <a:t>  "assumptions": [</a:t>
            </a:r>
          </a:p>
          <a:p>
            <a:r>
              <a:t>    "기획용 예상 견적이며 실제 액수와 다를 수 있습니다."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대전광역시 서구 순 방문자 수 및 숙박 비율 (이동통신 기반 외지인)",</a:t>
            </a:r>
          </a:p>
          <a:p xmlns:a="http://schemas.openxmlformats.org/drawingml/2006/main">
            <a:r>
              <a:t>      "summary": "월간 순 방문자 수: 4,619,168명 (관측 기준월: 2026-06)",</a:t>
            </a:r>
          </a:p>
          <a:p xmlns:a="http://schemas.openxmlformats.org/drawingml/2006/main">
            <a:r>
              <a:t>      "source_id": "dataset:30170:1",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월간 순 방문자 수 (이동통신 기반 외지인)",</a:t>
            </a:r>
          </a:p>
          <a:p xmlns:a="http://schemas.openxmlformats.org/drawingml/2006/main">
            <a:r>
              <a:t>      "summary": "전년동월 외지인 방문자 증감률: -3.5% (관측 기준월: 2026-06)",</a:t>
            </a:r>
          </a:p>
          <a:p xmlns:a="http://schemas.openxmlformats.org/drawingml/2006/main">
            <a:r>
              <a:t>      "source_id": "dataset:30170:2",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관광소비 추이_외지인",</a:t>
            </a:r>
          </a:p>
          <a:p xmlns:a="http://schemas.openxmlformats.org/drawingml/2006/main">
            <a:r>
              <a:t>      "summary": "월간 외지인 관광소비 총액: 76,758,413,000원 (관측 기준월: 2026-06)",</a:t>
            </a:r>
          </a:p>
          <a:p xmlns:a="http://schemas.openxmlformats.org/drawingml/2006/main">
            <a:r>
              <a:t>      "source_id": "dataset:30170:3",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숙박방문자 비율 추이 (이동통신 기반 외지인)",</a:t>
            </a:r>
          </a:p>
          <a:p xmlns:a="http://schemas.openxmlformats.org/drawingml/2006/main">
            <a:r>
              <a:t>      "summary": "외지인 숙박 방문 비율: 6.7% (관측 기준월: 2026-06)",</a:t>
            </a:r>
          </a:p>
          <a:p xmlns:a="http://schemas.openxmlformats.org/drawingml/2006/main">
            <a:r>
              <a:t>      "source_id": "dataset:30170:4",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평균 숙박일 (이동통신 기반 외지인)",</a:t>
            </a:r>
          </a:p>
          <a:p xmlns:a="http://schemas.openxmlformats.org/drawingml/2006/main">
            <a:r>
              <a:t>      "summary": "외지인 평균 숙박일수: 2.81일 (관측 기준월: 2026-06)",</a:t>
            </a:r>
          </a:p>
          <a:p xmlns:a="http://schemas.openxmlformats.org/drawingml/2006/main">
            <a:r>
              <a:t>      "source_id": "dataset:30170:5",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내비게이션 목적지 유형별 검색량",</a:t>
            </a:r>
          </a:p>
          <a:p xmlns:a="http://schemas.openxmlformats.org/drawingml/2006/main">
            <a:r>
              <a:t>      "summary": "내비게이션 목적지 검색량: 191,346건 (관측 기준월: 2026-06)",</a:t>
            </a:r>
          </a:p>
          <a:p xmlns:a="http://schemas.openxmlformats.org/drawingml/2006/main">
            <a:r>
              <a:t>      "source_id": "dataset:30170:6",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SNS 언급량",</a:t>
            </a:r>
          </a:p>
          <a:p xmlns:a="http://schemas.openxmlformats.org/drawingml/2006/main">
            <a:r>
              <a:t>      "summary": "SNS 언급량: 54,388건 (관측 기준월: 2026-06)",</a:t>
            </a:r>
          </a:p>
          <a:p xmlns:a="http://schemas.openxmlformats.org/drawingml/2006/main">
            <a:r>
              <a:t>      "source_id": "dataset:30170:7",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대전광역시_서구/방문자/2025_01_12.zip",</a:t>
            </a:r>
          </a:p>
          <a:p xmlns:a="http://schemas.openxmlformats.org/drawingml/2006/main">
            <a:r>
              <a:t>      "summary": "전국 비교 기준 기간: 2025-07 ~ 2026-06",</a:t>
            </a:r>
          </a:p>
          <a:p xmlns:a="http://schemas.openxmlformats.org/drawingml/2006/main">
            <a:r>
              <a:t>      "source_id": "datalab:12c41f8a3e52:f92921dca662",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대전광역시_서구/관광소비/2025_01_12.zip",</a:t>
            </a:r>
          </a:p>
          <a:p xmlns:a="http://schemas.openxmlformats.org/drawingml/2006/main">
            <a:r>
              <a:t>      "summary": "전국 비교 기준 기간: 2025-07 ~ 2026-06",</a:t>
            </a:r>
          </a:p>
          <a:p xmlns:a="http://schemas.openxmlformats.org/drawingml/2006/main">
            <a:r>
              <a:t>      "source_id": "datalab:162285800b98:dbba3ac2e220",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대전광역시_서구/숙박_체류시간/2025_01_12.zip",</a:t>
            </a:r>
          </a:p>
          <a:p xmlns:a="http://schemas.openxmlformats.org/drawingml/2006/main">
            <a:r>
              <a:t>      "summary": "전국 비교 기준 기간: 2025-07 ~ 2026-06",</a:t>
            </a:r>
          </a:p>
          <a:p xmlns:a="http://schemas.openxmlformats.org/drawingml/2006/main">
            <a:r>
              <a:t>      "source_id": "datalab:1bec5b4405e1:6c5494eef7c6",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대전광역시_서구/관광소비/2026_01_06.zip",</a:t>
            </a:r>
          </a:p>
          <a:p xmlns:a="http://schemas.openxmlformats.org/drawingml/2006/main">
            <a:r>
              <a:t>      "summary": "전국 비교 기준 기간: 2025-07 ~ 2026-06",</a:t>
            </a:r>
          </a:p>
          <a:p xmlns:a="http://schemas.openxmlformats.org/drawingml/2006/main">
            <a:r>
              <a:t>      "source_id": "datalab:7a4db91d6ba9:d81294f3e5a0",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대전광역시_서구/방문자/2026_01_06.zip",</a:t>
            </a:r>
          </a:p>
          <a:p xmlns:a="http://schemas.openxmlformats.org/drawingml/2006/main">
            <a:r>
              <a:t>      "summary": "전국 비교 기준 기간: 2025-07 ~ 2026-06",</a:t>
            </a:r>
          </a:p>
          <a:p xmlns:a="http://schemas.openxmlformats.org/drawingml/2006/main">
            <a:r>
              <a:t>      "source_id": "datalab:cc1dc8fb5607:77f3b69cfb89",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대전광역시_서구/숙박_체류시간/2026_01_06.zip",</a:t>
            </a:r>
          </a:p>
          <a:p xmlns:a="http://schemas.openxmlformats.org/drawingml/2006/main">
            <a:r>
              <a:t>      "summary": "전국 비교 기준 기간: 2025-07 ~ 2026-06",</a:t>
            </a:r>
          </a:p>
          <a:p xmlns:a="http://schemas.openxmlformats.org/drawingml/2006/main">
            <a:r>
              <a:t>      "source_id": "datalab:e53d144382ee:fc025995a6df",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"regional-status:0c68fedc2071:0ad82310f803",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유입유출",</a:t>
            </a:r>
          </a:p>
          <a:p xmlns:a="http://schemas.openxmlformats.org/drawingml/2006/main">
            <a:r>
              <a:t>      "summary": "관측 기간: 2025-07 ~ 2026-06. 유입·유출·인기장소 또는 30일 집중 운영 신호.",</a:t>
            </a:r>
          </a:p>
          <a:p xmlns:a="http://schemas.openxmlformats.org/drawingml/2006/main">
            <a:r>
              <a:t>      "source_id": "regional-status:4cddd6aa75d4:be8b01ec64e2",</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인기관광지",</a:t>
            </a:r>
          </a:p>
          <a:p xmlns:a="http://schemas.openxmlformats.org/drawingml/2006/main">
            <a:r>
              <a:t>      "summary": "관측 기간: 2025-07 ~ 2026-06. 유입·유출·인기장소 또는 30일 집중 운영 신호.",</a:t>
            </a:r>
          </a:p>
          <a:p xmlns:a="http://schemas.openxmlformats.org/drawingml/2006/main">
            <a:r>
              <a:t>      "source_id": "regional-status:8c9a813e95eb:5e0cc3f56b73",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"ml:30170:regional-demand-v3.1:202606",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"title": "갈마짬뽕",</a:t>
            </a:r>
          </a:p>
          <a:p xmlns:a="http://schemas.openxmlformats.org/drawingml/2006/main">
            <a:r>
              <a:t>      "address": "대전광역시 서구 월평동로 5-11 (갈마동)",</a:t>
            </a:r>
          </a:p>
          <a:p xmlns:a="http://schemas.openxmlformats.org/drawingml/2006/main">
            <a:r>
              <a:t>      "summary": "한국관광공사 국문관광정보 API가 반환한 선택 지역 관광자원",</a:t>
            </a:r>
          </a:p>
          <a:p xmlns:a="http://schemas.openxmlformats.org/drawingml/2006/main">
            <a:r>
              <a:t>      "image_url": "http://tong.visitkorea.or.kr/cms/resource/38/2899638_image2_1.jpg",</a:t>
            </a:r>
          </a:p>
          <a:p xmlns:a="http://schemas.openxmlformats.org/drawingml/2006/main">
            <a:r>
              <a:t>      "source_id": "tour-api:2899643",</a:t>
            </a:r>
          </a:p>
          <a:p xmlns:a="http://schemas.openxmlformats.org/drawingml/2006/main">
            <a:r>
              <a:t>      "content_id": "2899643",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"관저당",</a:t>
            </a:r>
          </a:p>
          <a:p xmlns:a="http://schemas.openxmlformats.org/drawingml/2006/main">
            <a:r>
              <a:t>      "address": "대전광역시 서구 구봉산북로21번길 11 (관저동)",</a:t>
            </a:r>
          </a:p>
          <a:p xmlns:a="http://schemas.openxmlformats.org/drawingml/2006/main">
            <a:r>
              <a:t>      "summary": "한국관광공사 국문관광정보 API가 반환한 선택 지역 관광자원",</a:t>
            </a:r>
          </a:p>
          <a:p xmlns:a="http://schemas.openxmlformats.org/drawingml/2006/main">
            <a:r>
              <a:t>      "image_url": "http://tong.visitkorea.or.kr/cms/resource/36/2899636_image2_1.jpg",</a:t>
            </a:r>
          </a:p>
          <a:p xmlns:a="http://schemas.openxmlformats.org/drawingml/2006/main">
            <a:r>
              <a:t>      "source_id": "tour-api:2899637",</a:t>
            </a:r>
          </a:p>
          <a:p xmlns:a="http://schemas.openxmlformats.org/drawingml/2006/main">
            <a:r>
              <a:t>      "content_id": "2899637",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"굿모닝레지던스호텔휴",</a:t>
            </a:r>
          </a:p>
          <a:p xmlns:a="http://schemas.openxmlformats.org/drawingml/2006/main">
            <a:r>
              <a:t>      "address": "대전광역시 서구 둔산로73번길 21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"http://tong.visitkorea.or.kr/cms/resource/87/2584687_image2_1.jpg",</a:t>
            </a:r>
          </a:p>
          <a:p xmlns:a="http://schemas.openxmlformats.org/drawingml/2006/main">
            <a:r>
              <a:t>      "source_id": "tour-api:1932079",</a:t>
            </a:r>
          </a:p>
          <a:p xmlns:a="http://schemas.openxmlformats.org/drawingml/2006/main">
            <a:r>
              <a:t>      "content_id": "1932079",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"32"</a:t>
            </a:r>
          </a:p>
          <a:p xmlns:a="http://schemas.openxmlformats.org/drawingml/2006/main">
            <a:r>
              <a:t>    },</a:t>
            </a:r>
          </a:p>
          <a:p xmlns:a="http://schemas.openxmlformats.org/drawingml/2006/main">
            <a:r>
              <a:t>    {</a:t>
            </a:r>
          </a:p>
          <a:p xmlns:a="http://schemas.openxmlformats.org/drawingml/2006/main">
            <a:r>
              <a:t>      "title": "귀빈돌솥밥",</a:t>
            </a:r>
          </a:p>
          <a:p xmlns:a="http://schemas.openxmlformats.org/drawingml/2006/main">
            <a:r>
              <a:t>      "address": "대전광역시 서구 만년로68번길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"http://tong.visitkorea.or.kr/cms/resource/72/3060272_image2_1.JPG",</a:t>
            </a:r>
          </a:p>
          <a:p xmlns:a="http://schemas.openxmlformats.org/drawingml/2006/main">
            <a:r>
              <a:t>      "source_id": "tour-api:133881",</a:t>
            </a:r>
          </a:p>
          <a:p xmlns:a="http://schemas.openxmlformats.org/drawingml/2006/main">
            <a:r>
              <a:t>      "content_id": "133881",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"내원사(대전)",</a:t>
            </a:r>
          </a:p>
          <a:p xmlns:a="http://schemas.openxmlformats.org/drawingml/2006/main">
            <a:r>
              <a:t>      "address": "대전광역시 서구 배재로197번길 200",</a:t>
            </a:r>
          </a:p>
          <a:p xmlns:a="http://schemas.openxmlformats.org/drawingml/2006/main">
            <a:r>
              <a:t>      "summary": "한국관광공사 국문관광정보 API가 반환한 선택 지역 관광자원",</a:t>
            </a:r>
          </a:p>
          <a:p xmlns:a="http://schemas.openxmlformats.org/drawingml/2006/main">
            <a:r>
              <a:t>      "image_url": "http://tong.visitkorea.or.kr/cms/resource/79/3034979_image2_1.JPG",</a:t>
            </a:r>
          </a:p>
          <a:p xmlns:a="http://schemas.openxmlformats.org/drawingml/2006/main">
            <a:r>
              <a:t>      "source_id": "tour-api:298208",</a:t>
            </a:r>
          </a:p>
          <a:p xmlns:a="http://schemas.openxmlformats.org/drawingml/2006/main">
            <a:r>
              <a:t>      "content_id": "298208",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"노크노크",</a:t>
            </a:r>
          </a:p>
          <a:p xmlns:a="http://schemas.openxmlformats.org/drawingml/2006/main">
            <a:r>
              <a:t>      "address": "대전광역시 서구 둔산로 68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"http://tong.visitkorea.or.kr/cms/resource/59/3453059_image2_1.jpg",</a:t>
            </a:r>
          </a:p>
          <a:p xmlns:a="http://schemas.openxmlformats.org/drawingml/2006/main">
            <a:r>
              <a:t>      "source_id": "tour-api:3452550",</a:t>
            </a:r>
          </a:p>
          <a:p xmlns:a="http://schemas.openxmlformats.org/drawingml/2006/main">
            <a:r>
              <a:t>      "content_id": "3452550",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"대성콩국수",</a:t>
            </a:r>
          </a:p>
          <a:p xmlns:a="http://schemas.openxmlformats.org/drawingml/2006/main">
            <a:r>
              <a:t>      "address": "대전광역시 서구 도산로 141",</a:t>
            </a:r>
          </a:p>
          <a:p xmlns:a="http://schemas.openxmlformats.org/drawingml/2006/main">
            <a:r>
              <a:t>      "summary": "한국관광공사 국문관광정보 API가 반환한 선택 지역 관광자원",</a:t>
            </a:r>
          </a:p>
          <a:p xmlns:a="http://schemas.openxmlformats.org/drawingml/2006/main">
            <a:r>
              <a:t>      "image_url": "http://tong.visitkorea.or.kr/cms/resource/69/2899569_image2_1.jpg",</a:t>
            </a:r>
          </a:p>
          <a:p xmlns:a="http://schemas.openxmlformats.org/drawingml/2006/main">
            <a:r>
              <a:t>      "source_id": "tour-api:2899585",</a:t>
            </a:r>
          </a:p>
          <a:p xmlns:a="http://schemas.openxmlformats.org/drawingml/2006/main">
            <a:r>
              <a:t>      "content_id": "2899585",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"대전 가수원도서관",</a:t>
            </a:r>
          </a:p>
          <a:p xmlns:a="http://schemas.openxmlformats.org/drawingml/2006/main">
            <a:r>
              <a:t>      "address": "대전광역시 서구 가수원로 91-11 (가수원동)",</a:t>
            </a:r>
          </a:p>
          <a:p xmlns:a="http://schemas.openxmlformats.org/drawingml/2006/main">
            <a:r>
              <a:t>      "summary": "한국관광공사 국문관광정보 API가 반환한 선택 지역 관광자원",</a:t>
            </a:r>
          </a:p>
          <a:p xmlns:a="http://schemas.openxmlformats.org/drawingml/2006/main">
            <a:r>
              <a:t>      "image_url": "http://tong.visitkorea.or.kr/cms/resource/58/3033558_image2_1.JPG",</a:t>
            </a:r>
          </a:p>
          <a:p xmlns:a="http://schemas.openxmlformats.org/drawingml/2006/main">
            <a:r>
              <a:t>      "source_id": "tour-api:130802",</a:t>
            </a:r>
          </a:p>
          <a:p xmlns:a="http://schemas.openxmlformats.org/drawingml/2006/main">
            <a:r>
              <a:t>      "content_id": "130802",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"대전광역시청 시민잔디광장",</a:t>
            </a:r>
          </a:p>
          <a:p xmlns:a="http://schemas.openxmlformats.org/drawingml/2006/main">
            <a:r>
              <a:t>      "address": "대전광역시 서구 둔산로 100",</a:t>
            </a:r>
          </a:p>
          <a:p xmlns:a="http://schemas.openxmlformats.org/drawingml/2006/main">
            <a:r>
              <a:t>      "summary": "한국관광공사 국문관광정보 API가 반환한 선택 지역 관광자원",</a:t>
            </a:r>
          </a:p>
          <a:p xmlns:a="http://schemas.openxmlformats.org/drawingml/2006/main">
            <a:r>
              <a:t>      "image_url": "http://tong.visitkorea.or.kr/cms/resource/86/3565586_image2_1.jpg",</a:t>
            </a:r>
          </a:p>
          <a:p xmlns:a="http://schemas.openxmlformats.org/drawingml/2006/main">
            <a:r>
              <a:t>      "source_id": "tour-api:2743325",</a:t>
            </a:r>
          </a:p>
          <a:p xmlns:a="http://schemas.openxmlformats.org/drawingml/2006/main">
            <a:r>
              <a:t>      "content_id": "2743325",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"대전서구문화원",</a:t>
            </a:r>
          </a:p>
          <a:p xmlns:a="http://schemas.openxmlformats.org/drawingml/2006/main">
            <a:r>
              <a:t>      "address": "대전광역시 서구 계룡로553번길 38",</a:t>
            </a:r>
          </a:p>
          <a:p xmlns:a="http://schemas.openxmlformats.org/drawingml/2006/main">
            <a:r>
              <a:t>      "summary": "한국관광공사 국문관광정보 API가 반환한 선택 지역 관광자원",</a:t>
            </a:r>
          </a:p>
          <a:p xmlns:a="http://schemas.openxmlformats.org/drawingml/2006/main">
            <a:r>
              <a:t>      "image_url": "http://tong.visitkorea.or.kr/cms/resource/43/3585043_image2_1.jpg",</a:t>
            </a:r>
          </a:p>
          <a:p xmlns:a="http://schemas.openxmlformats.org/drawingml/2006/main">
            <a:r>
              <a:t>      "source_id": "tour-api:130197",</a:t>
            </a:r>
          </a:p>
          <a:p xmlns:a="http://schemas.openxmlformats.org/drawingml/2006/main">
            <a:r>
              <a:t>      "content_id": "130197",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"델빠네",</a:t>
            </a:r>
          </a:p>
          <a:p xmlns:a="http://schemas.openxmlformats.org/drawingml/2006/main">
            <a:r>
              <a:t>      "address": "대전광역시 서구 원도안로207번길 16-61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"http://tong.visitkorea.or.kr/cms/resource/36/2865836_image2_1.jpg",</a:t>
            </a:r>
          </a:p>
          <a:p xmlns:a="http://schemas.openxmlformats.org/drawingml/2006/main">
            <a:r>
              <a:t>      "source_id": "tour-api:2865847",</a:t>
            </a:r>
          </a:p>
          <a:p xmlns:a="http://schemas.openxmlformats.org/drawingml/2006/main">
            <a:r>
              <a:t>      "content_id": "2865847",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"도마큰시장",</a:t>
            </a:r>
          </a:p>
          <a:p xmlns:a="http://schemas.openxmlformats.org/drawingml/2006/main">
            <a:r>
              <a:t>      "address": "대전광역시 서구 도마4길 69 (도마동)",</a:t>
            </a:r>
          </a:p>
          <a:p xmlns:a="http://schemas.openxmlformats.org/drawingml/2006/main">
            <a:r>
              <a:t>      "summary": "한국관광공사 국문관광정보 API가 반환한 선택 지역 관광자원",</a:t>
            </a:r>
          </a:p>
          <a:p xmlns:a="http://schemas.openxmlformats.org/drawingml/2006/main">
            <a:r>
              <a:t>      "image_url": "http://tong.visitkorea.or.kr/cms/resource/34/3565534_image2_1.jpg",</a:t>
            </a:r>
          </a:p>
          <a:p xmlns:a="http://schemas.openxmlformats.org/drawingml/2006/main">
            <a:r>
              <a:t>      "source_id": "tour-api:2758334",</a:t>
            </a:r>
          </a:p>
          <a:p xmlns:a="http://schemas.openxmlformats.org/drawingml/2006/main">
            <a:r>
              <a:t>      "content_id": "2758334",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"도산서원(대전)",</a:t>
            </a:r>
          </a:p>
          <a:p xmlns:a="http://schemas.openxmlformats.org/drawingml/2006/main">
            <a:r>
              <a:t>      "address": "대전광역시 서구 남선로 8",</a:t>
            </a:r>
          </a:p>
          <a:p xmlns:a="http://schemas.openxmlformats.org/drawingml/2006/main">
            <a:r>
              <a:t>      "summary": "한국관광공사 국문관광정보 API가 반환한 선택 지역 관광자원",</a:t>
            </a:r>
          </a:p>
          <a:p xmlns:a="http://schemas.openxmlformats.org/drawingml/2006/main">
            <a:r>
              <a:t>      "image_url": "http://tong.visitkorea.or.kr/cms/resource/24/3035024_image2_1.JPG",</a:t>
            </a:r>
          </a:p>
          <a:p xmlns:a="http://schemas.openxmlformats.org/drawingml/2006/main">
            <a:r>
              <a:t>      "source_id": "tour-api:1955818",</a:t>
            </a:r>
          </a:p>
          <a:p xmlns:a="http://schemas.openxmlformats.org/drawingml/2006/main">
            <a:r>
              <a:t>      "content_id": "1955818",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"둔산꽃시장",</a:t>
            </a:r>
          </a:p>
          <a:p xmlns:a="http://schemas.openxmlformats.org/drawingml/2006/main">
            <a:r>
              <a:t>      "address": "대전광역시 서구 둔산북로 22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"http://tong.visitkorea.or.kr/cms/resource/31/2758631_image2_1.jpg",</a:t>
            </a:r>
          </a:p>
          <a:p xmlns:a="http://schemas.openxmlformats.org/drawingml/2006/main">
            <a:r>
              <a:t>      "source_id": "tour-api:2758341",</a:t>
            </a:r>
          </a:p>
          <a:p xmlns:a="http://schemas.openxmlformats.org/drawingml/2006/main">
            <a:r>
              <a:t>      "content_id": "2758341",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"둔산전자타운",</a:t>
            </a:r>
          </a:p>
          <a:p xmlns:a="http://schemas.openxmlformats.org/drawingml/2006/main">
            <a:r>
              <a:t>      "address": "대전광역시 서구 도산로403번길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"http://tong.visitkorea.or.kr/cms/resource/60/3565560_image2_1.jpg",</a:t>
            </a:r>
          </a:p>
          <a:p xmlns:a="http://schemas.openxmlformats.org/drawingml/2006/main">
            <a:r>
              <a:t>      "source_id": "tour-api:1623725",</a:t>
            </a:r>
          </a:p>
          <a:p xmlns:a="http://schemas.openxmlformats.org/drawingml/2006/main">
            <a:r>
              <a:t>      "content_id": "1623725",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"롯데백화점 (대전점)",</a:t>
            </a:r>
          </a:p>
          <a:p xmlns:a="http://schemas.openxmlformats.org/drawingml/2006/main">
            <a:r>
              <a:t>      "address": "대전광역시 서구 계룡로 598 (괴정동)",</a:t>
            </a:r>
          </a:p>
          <a:p xmlns:a="http://schemas.openxmlformats.org/drawingml/2006/main">
            <a:r>
              <a:t>      "summary": "한국관광공사 국문관광정보 API가 반환한 선택 지역 관광자원",</a:t>
            </a:r>
          </a:p>
          <a:p xmlns:a="http://schemas.openxmlformats.org/drawingml/2006/main">
            <a:r>
              <a:t>      "image_url": "http://tong.visitkorea.or.kr/cms/resource/21/3443221_image2_1.jpg",</a:t>
            </a:r>
          </a:p>
          <a:p xmlns:a="http://schemas.openxmlformats.org/drawingml/2006/main">
            <a:r>
              <a:t>      "source_id": "tour-api:132661",</a:t>
            </a:r>
          </a:p>
          <a:p xmlns:a="http://schemas.openxmlformats.org/drawingml/2006/main">
            <a:r>
              <a:t>      "content_id": "132661",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"마치광장",</a:t>
            </a:r>
          </a:p>
          <a:p xmlns:a="http://schemas.openxmlformats.org/drawingml/2006/main">
            <a:r>
              <a:t>      "address": "대전광역시 서구 구봉로131번길 27",</a:t>
            </a:r>
          </a:p>
          <a:p xmlns:a="http://schemas.openxmlformats.org/drawingml/2006/main">
            <a:r>
              <a:t>      "summary": "한국관광공사 국문관광정보 API가 반환한 선택 지역 관광자원",</a:t>
            </a:r>
          </a:p>
          <a:p xmlns:a="http://schemas.openxmlformats.org/drawingml/2006/main">
            <a:r>
              <a:t>      "image_url": "http://tong.visitkorea.or.kr/cms/resource/16/3542516_image2_1.jpg",</a:t>
            </a:r>
          </a:p>
          <a:p xmlns:a="http://schemas.openxmlformats.org/drawingml/2006/main">
            <a:r>
              <a:t>      "source_id": "tour-api:2758646",</a:t>
            </a:r>
          </a:p>
          <a:p xmlns:a="http://schemas.openxmlformats.org/drawingml/2006/main">
            <a:r>
              <a:t>      "content_id": "2758646",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"몽뜨",</a:t>
            </a:r>
          </a:p>
          <a:p xmlns:a="http://schemas.openxmlformats.org/drawingml/2006/main">
            <a:r>
              <a:t>      "address": "대전광역시 서구 원도안로257번길 48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"http://tong.visitkorea.or.kr/cms/resource/35/2899535_image2_1.jpg",</a:t>
            </a:r>
          </a:p>
          <a:p xmlns:a="http://schemas.openxmlformats.org/drawingml/2006/main">
            <a:r>
              <a:t>      "source_id": "tour-api:2899544",</a:t>
            </a:r>
          </a:p>
          <a:p xmlns:a="http://schemas.openxmlformats.org/drawingml/2006/main">
            <a:r>
              <a:t>      "content_id": "2899544",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"미세노센세",</a:t>
            </a:r>
          </a:p>
          <a:p xmlns:a="http://schemas.openxmlformats.org/drawingml/2006/main">
            <a:r>
              <a:t>      "address": "대전광역시 서구 계룡로553번안길 65 (탄방동)",</a:t>
            </a:r>
          </a:p>
          <a:p xmlns:a="http://schemas.openxmlformats.org/drawingml/2006/main">
            <a:r>
              <a:t>      "summary": "한국관광공사 국문관광정보 API가 반환한 선택 지역 관광자원",</a:t>
            </a:r>
          </a:p>
          <a:p xmlns:a="http://schemas.openxmlformats.org/drawingml/2006/main">
            <a:r>
              <a:t>      "image_url": "http://tong.visitkorea.or.kr/cms/resource/05/2865905_image2_1.jpg",</a:t>
            </a:r>
          </a:p>
          <a:p xmlns:a="http://schemas.openxmlformats.org/drawingml/2006/main">
            <a:r>
              <a:t>      "source_id": "tour-api:2865914",</a:t>
            </a:r>
          </a:p>
          <a:p xmlns:a="http://schemas.openxmlformats.org/drawingml/2006/main">
            <a:r>
              <a:t>      "content_id": "2865914",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안동탈춤축제 방문자 추이",</a:t>
            </a:r>
          </a:p>
          <a:p xmlns:a="http://schemas.openxmlformats.org/drawingml/2006/main">
            <a:r>
              <a:t>      "summary": "경상북도 안동시 · 안동탈춤축제 · 2024→2025년 전체 504,573→554,494명 (+9.89%). 개최 10→10일, 일평균 +9.89%, 외지인 +10.75%.",</a:t>
            </a:r>
          </a:p>
          <a:p xmlns:a="http://schemas.openxmlformats.org/drawingml/2006/main">
            <a:r>
              <a:t>      "source_id": "case:festival:0e9c7c065555b0",</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"안동탈춤축제",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504,573→554,494명 (+9.89%). 개최 10→10일, 일평균 +9.89%, 외지인 +10.75%.",</a:t>
            </a:r>
          </a:p>
          <a:p xmlns:a="http://schemas.openxmlformats.org/drawingml/2006/main">
            <a:r>
              <a:t>      "operating_model": "안동탈춤축제를 2025년 10일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"operating_statistics":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"operating_statistics":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"operating_statistics":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진도신비의바닷길축제 방문자 추이",</a:t>
            </a:r>
          </a:p>
          <a:p xmlns:a="http://schemas.openxmlformats.org/drawingml/2006/main">
            <a:r>
              <a:t>      "summary": "전라남도 진도군 · 진도신비의바닷길축제 · 2024→2025년 전체 28,171→43,973명 (+56.09%). 개최 3→4일, 일평균 +17.07%, 외지인 +89.98%.",</a:t>
            </a:r>
          </a:p>
          <a:p xmlns:a="http://schemas.openxmlformats.org/drawingml/2006/main">
            <a:r>
              <a:t>      "source_id": "case:festival:1ff9d11d3ee0ee",</a:t>
            </a:r>
          </a:p>
          <a:p xmlns:a="http://schemas.openxmlformats.org/drawingml/2006/main">
            <a:r>
              <a:t>      "source_url": "https://datalab.visitkorea.or.kr/",</a:t>
            </a:r>
          </a:p>
          <a:p xmlns:a="http://schemas.openxmlformats.org/drawingml/2006/main">
            <a:r>
              <a:t>      "case_region": "전라남도 진도군",</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"진도신비의바닷길축제",</a:t>
            </a:r>
          </a:p>
          <a:p xmlns:a="http://schemas.openxmlformats.org/drawingml/2006/main">
            <a:r>
              <a:t>      "source_files": [</a:t>
            </a:r>
          </a:p>
          <a:p xmlns:a="http://schemas.openxmlformats.org/drawingml/2006/main">
            <a:r>
              <a:t>        {</a:t>
            </a:r>
          </a:p>
          <a:p xmlns:a="http://schemas.openxmlformats.org/drawingml/2006/main">
            <a:r>
              <a:t>          "sha256": "3cf7484d808e807aeffda7504a3d316839b9220f0f7a72550f5387af3ee3f8d9",</a:t>
            </a:r>
          </a:p>
          <a:p xmlns:a="http://schemas.openxmlformats.org/drawingml/2006/main">
            <a:r>
              <a:t>          "provider": "한국관광 데이터랩",</a:t>
            </a:r>
          </a:p>
          <a:p xmlns:a="http://schemas.openxmlformats.org/drawingml/2006/main">
            <a:r>
              <a:t>          "file_name": "20260820182448_진도신비의바닷길축제_연도별 방문자 추이.csv",</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"cb3424e725c84352d81fdb987f6d3ade162f54f63a9590ac8730dddcfcc48ed7",</a:t>
            </a:r>
          </a:p>
          <a:p xmlns:a="http://schemas.openxmlformats.org/drawingml/2006/main">
            <a:r>
              <a:t>          "provider": "한국관광 데이터랩",</a:t>
            </a:r>
          </a:p>
          <a:p xmlns:a="http://schemas.openxmlformats.org/drawingml/2006/main">
            <a:r>
              <a:t>          "file_name": "20260820182448_진도신비의바닷길축제_성_연령별 내국인 방문자.csv",</a:t>
            </a:r>
          </a:p>
          <a:p xmlns:a="http://schemas.openxmlformats.org/drawingml/2006/main">
            <a:r>
              <a:t>          "source_id": "festival-file:cb3424e725c84352d81f",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"c9332a0e0d15d1550b1b545b8b739cc6a919a13ca701800d87203b06b2fecd46",</a:t>
            </a:r>
          </a:p>
          <a:p xmlns:a="http://schemas.openxmlformats.org/drawingml/2006/main">
            <a:r>
              <a:t>          "provider": "한국관광 데이터랩",</a:t>
            </a:r>
          </a:p>
          <a:p xmlns:a="http://schemas.openxmlformats.org/drawingml/2006/main">
            <a:r>
              <a:t>          "file_name": "20260820182448_진도신비의바닷길축제_문화관광축제 주요 지표.csv",</a:t>
            </a:r>
          </a:p>
          <a:p xmlns:a="http://schemas.openxmlformats.org/drawingml/2006/main">
            <a:r>
              <a:t>          "source_id": "festival-file:c9332a0e0d15d1550b1b",</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"b8aa76a62ac8159da3b9234363c8c0026f70875997af88b4e750f2f6154c65ae",</a:t>
            </a:r>
          </a:p>
          <a:p xmlns:a="http://schemas.openxmlformats.org/drawingml/2006/main">
            <a:r>
              <a:t>          "provider": "한국관광 데이터랩",</a:t>
            </a:r>
          </a:p>
          <a:p xmlns:a="http://schemas.openxmlformats.org/drawingml/2006/main">
            <a:r>
              <a:t>          "file_name": "20260820182448_진도신비의바닷길축제_목적지 검색순위.csv",</a:t>
            </a:r>
          </a:p>
          <a:p xmlns:a="http://schemas.openxmlformats.org/drawingml/2006/main">
            <a:r>
              <a:t>          "source_id": "festival-file:b8aa76a62ac8159da3b9",</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28,171→43,973명 (+56.09%). 개최 3→4일, 일평균 +17.07%, 외지인 +89.98%.",</a:t>
            </a:r>
          </a:p>
          <a:p xmlns:a="http://schemas.openxmlformats.org/drawingml/2006/main">
            <a:r>
              <a:t>      "operating_model": "진도신비의바닷길축제를 2025년 4일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"자연·야외",</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"진도신비의바닷길축제",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3,</a:t>
            </a:r>
          </a:p>
          <a:p xmlns:a="http://schemas.openxmlformats.org/drawingml/2006/main">
            <a:r>
              <a:t>            "year": 2023,</a:t>
            </a:r>
          </a:p>
          <a:p xmlns:a="http://schemas.openxmlformats.org/drawingml/2006/main">
            <a:r>
              <a:t>            "daily": 11185.333333333334,</a:t>
            </a:r>
          </a:p>
          <a:p xmlns:a="http://schemas.openxmlformats.org/drawingml/2006/main">
            <a:r>
              <a:t>            "local": 12120,</a:t>
            </a:r>
          </a:p>
          <a:p xmlns:a="http://schemas.openxmlformats.org/drawingml/2006/main">
            <a:r>
              <a:t>            "total": 33556,</a:t>
            </a:r>
          </a:p>
          <a:p xmlns:a="http://schemas.openxmlformats.org/drawingml/2006/main">
            <a:r>
              <a:t>            "foreign": 278,</a:t>
            </a:r>
          </a:p>
          <a:p xmlns:a="http://schemas.openxmlformats.org/drawingml/2006/main">
            <a:r>
              <a:t>            "outside": 21158,</a:t>
            </a:r>
          </a:p>
          <a:p xmlns:a="http://schemas.openxmlformats.org/drawingml/2006/main">
            <a:r>
              <a:t>            "outside_daily": 7052.666666666667,</a:t>
            </a:r>
          </a:p>
          <a:p xmlns:a="http://schemas.openxmlformats.org/drawingml/2006/main">
            <a:r>
              <a:t>            "outside_share_pct": 63.05280724758613</a:t>
            </a:r>
          </a:p>
          <a:p xmlns:a="http://schemas.openxmlformats.org/drawingml/2006/main">
            <a:r>
              <a:t>          },</a:t>
            </a:r>
          </a:p>
          <a:p xmlns:a="http://schemas.openxmlformats.org/drawingml/2006/main">
            <a:r>
              <a:t>          {</a:t>
            </a:r>
          </a:p>
          <a:p xmlns:a="http://schemas.openxmlformats.org/drawingml/2006/main">
            <a:r>
              <a:t>            "days": 3,</a:t>
            </a:r>
          </a:p>
          <a:p xmlns:a="http://schemas.openxmlformats.org/drawingml/2006/main">
            <a:r>
              <a:t>            "year": 2024,</a:t>
            </a:r>
          </a:p>
          <a:p xmlns:a="http://schemas.openxmlformats.org/drawingml/2006/main">
            <a:r>
              <a:t>            "daily": 9390.333333333334,</a:t>
            </a:r>
          </a:p>
          <a:p xmlns:a="http://schemas.openxmlformats.org/drawingml/2006/main">
            <a:r>
              <a:t>            "local": 13068,</a:t>
            </a:r>
          </a:p>
          <a:p xmlns:a="http://schemas.openxmlformats.org/drawingml/2006/main">
            <a:r>
              <a:t>            "total": 28171,</a:t>
            </a:r>
          </a:p>
          <a:p xmlns:a="http://schemas.openxmlformats.org/drawingml/2006/main">
            <a:r>
              <a:t>            "foreign": 223,</a:t>
            </a:r>
          </a:p>
          <a:p xmlns:a="http://schemas.openxmlformats.org/drawingml/2006/main">
            <a:r>
              <a:t>            "outside": 14880,</a:t>
            </a:r>
          </a:p>
          <a:p xmlns:a="http://schemas.openxmlformats.org/drawingml/2006/main">
            <a:r>
              <a:t>            "outside_daily": 4960,</a:t>
            </a:r>
          </a:p>
          <a:p xmlns:a="http://schemas.openxmlformats.org/drawingml/2006/main">
            <a:r>
              <a:t>            "outside_share_pct": 52.82027617052998</a:t>
            </a:r>
          </a:p>
          <a:p xmlns:a="http://schemas.openxmlformats.org/drawingml/2006/main">
            <a:r>
              <a:t>          },</a:t>
            </a:r>
          </a:p>
          <a:p xmlns:a="http://schemas.openxmlformats.org/drawingml/2006/main">
            <a:r>
              <a:t>          {</a:t>
            </a:r>
          </a:p>
          <a:p xmlns:a="http://schemas.openxmlformats.org/drawingml/2006/main">
            <a:r>
              <a:t>            "days": 4,</a:t>
            </a:r>
          </a:p>
          <a:p xmlns:a="http://schemas.openxmlformats.org/drawingml/2006/main">
            <a:r>
              <a:t>            "year": 2025,</a:t>
            </a:r>
          </a:p>
          <a:p xmlns:a="http://schemas.openxmlformats.org/drawingml/2006/main">
            <a:r>
              <a:t>            "daily": 10993.25,</a:t>
            </a:r>
          </a:p>
          <a:p xmlns:a="http://schemas.openxmlformats.org/drawingml/2006/main">
            <a:r>
              <a:t>            "local": 15345,</a:t>
            </a:r>
          </a:p>
          <a:p xmlns:a="http://schemas.openxmlformats.org/drawingml/2006/main">
            <a:r>
              <a:t>            "total": 43973,</a:t>
            </a:r>
          </a:p>
          <a:p xmlns:a="http://schemas.openxmlformats.org/drawingml/2006/main">
            <a:r>
              <a:t>            "foreign": 359,</a:t>
            </a:r>
          </a:p>
          <a:p xmlns:a="http://schemas.openxmlformats.org/drawingml/2006/main">
            <a:r>
              <a:t>            "outside": 28269,</a:t>
            </a:r>
          </a:p>
          <a:p xmlns:a="http://schemas.openxmlformats.org/drawingml/2006/main">
            <a:r>
              <a:t>            "outside_daily": 7067.25,</a:t>
            </a:r>
          </a:p>
          <a:p xmlns:a="http://schemas.openxmlformats.org/drawingml/2006/main">
            <a:r>
              <a:t>            "outside_share_pct": 64.28717622177244</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"진도신비의바닷길축제",</a:t>
            </a:r>
          </a:p>
          <a:p xmlns:a="http://schemas.openxmlformats.org/drawingml/2006/main">
            <a:r>
              <a:t>            "남성비율": "7.4",</a:t>
            </a:r>
          </a:p>
          <a:p xmlns:a="http://schemas.openxmlformats.org/drawingml/2006/main">
            <a:r>
              <a:t>            "여성비율": "6.8"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"진도신비의바닷길축제",</a:t>
            </a:r>
          </a:p>
          <a:p xmlns:a="http://schemas.openxmlformats.org/drawingml/2006/main">
            <a:r>
              <a:t>            "남성비율": "13.8",</a:t>
            </a:r>
          </a:p>
          <a:p xmlns:a="http://schemas.openxmlformats.org/drawingml/2006/main">
            <a:r>
              <a:t>            "여성비율": "14.3"</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"진도신비의바닷길축제",</a:t>
            </a:r>
          </a:p>
          <a:p xmlns:a="http://schemas.openxmlformats.org/drawingml/2006/main">
            <a:r>
              <a:t>            "남성비율": "10.7",</a:t>
            </a:r>
          </a:p>
          <a:p xmlns:a="http://schemas.openxmlformats.org/drawingml/2006/main">
            <a:r>
              <a:t>            "여성비율": "11.5"</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"진도신비의바닷길축제",</a:t>
            </a:r>
          </a:p>
          <a:p xmlns:a="http://schemas.openxmlformats.org/drawingml/2006/main">
            <a:r>
              <a:t>            "남성비율": "7.7",</a:t>
            </a:r>
          </a:p>
          <a:p xmlns:a="http://schemas.openxmlformats.org/drawingml/2006/main">
            <a:r>
              <a:t>            "여성비율": "4.9"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"진도신비의바닷길축제",</a:t>
            </a:r>
          </a:p>
          <a:p xmlns:a="http://schemas.openxmlformats.org/drawingml/2006/main">
            <a:r>
              <a:t>            "남성비율": "6.8",</a:t>
            </a:r>
          </a:p>
          <a:p xmlns:a="http://schemas.openxmlformats.org/drawingml/2006/main">
            <a:r>
              <a:t>            "여성비율": "4.2"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"진도신비의바닷길축제",</a:t>
            </a:r>
          </a:p>
          <a:p xmlns:a="http://schemas.openxmlformats.org/drawingml/2006/main">
            <a:r>
              <a:t>            "남성비율": "5.3",</a:t>
            </a:r>
          </a:p>
          <a:p xmlns:a="http://schemas.openxmlformats.org/drawingml/2006/main">
            <a:r>
              <a:t>            "여성비율": "3.0"</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"진도신비의바닷길축제",</a:t>
            </a:r>
          </a:p>
          <a:p xmlns:a="http://schemas.openxmlformats.org/drawingml/2006/main">
            <a:r>
              <a:t>            "남성비율": "1.3",</a:t>
            </a:r>
          </a:p>
          <a:p xmlns:a="http://schemas.openxmlformats.org/drawingml/2006/main">
            <a:r>
              <a:t>            "여성비율": "1.3"</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"진도신비의바닷길축제",</a:t>
            </a:r>
          </a:p>
          <a:p xmlns:a="http://schemas.openxmlformats.org/drawingml/2006/main">
            <a:r>
              <a:t>            "남성비율": "0.5",</a:t>
            </a:r>
          </a:p>
          <a:p xmlns:a="http://schemas.openxmlformats.org/drawingml/2006/main">
            <a:r>
              <a:t>            "여성비율": "0.4"</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10993.25,</a:t>
            </a:r>
          </a:p>
          <a:p xmlns:a="http://schemas.openxmlformats.org/drawingml/2006/main">
            <a:r>
              <a:t>            "before": 9390.333333333334,</a:t>
            </a:r>
          </a:p>
          <a:p xmlns:a="http://schemas.openxmlformats.org/drawingml/2006/main">
            <a:r>
              <a:t>            "change_pct": 17.069859074935213,</a:t>
            </a:r>
          </a:p>
          <a:p xmlns:a="http://schemas.openxmlformats.org/drawingml/2006/main">
            <a:r>
              <a:t>            "difference": 1602.916666666666</a:t>
            </a:r>
          </a:p>
          <a:p xmlns:a="http://schemas.openxmlformats.org/drawingml/2006/main">
            <a:r>
              <a:t>          },</a:t>
            </a:r>
          </a:p>
          <a:p xmlns:a="http://schemas.openxmlformats.org/drawingml/2006/main">
            <a:r>
              <a:t>          "total": {</a:t>
            </a:r>
          </a:p>
          <a:p xmlns:a="http://schemas.openxmlformats.org/drawingml/2006/main">
            <a:r>
              <a:t>            "after": 43973,</a:t>
            </a:r>
          </a:p>
          <a:p xmlns:a="http://schemas.openxmlformats.org/drawingml/2006/main">
            <a:r>
              <a:t>            "before": 28171,</a:t>
            </a:r>
          </a:p>
          <a:p xmlns:a="http://schemas.openxmlformats.org/drawingml/2006/main">
            <a:r>
              <a:t>            "change_pct": 56.093145433246946,</a:t>
            </a:r>
          </a:p>
          <a:p xmlns:a="http://schemas.openxmlformats.org/drawingml/2006/main">
            <a:r>
              <a:t>            "difference": 15802</a:t>
            </a:r>
          </a:p>
          <a:p xmlns:a="http://schemas.openxmlformats.org/drawingml/2006/main">
            <a:r>
              <a:t>          },</a:t>
            </a:r>
          </a:p>
          <a:p xmlns:a="http://schemas.openxmlformats.org/drawingml/2006/main">
            <a:r>
              <a:t>          "outside": {</a:t>
            </a:r>
          </a:p>
          <a:p xmlns:a="http://schemas.openxmlformats.org/drawingml/2006/main">
            <a:r>
              <a:t>            "after": 28269,</a:t>
            </a:r>
          </a:p>
          <a:p xmlns:a="http://schemas.openxmlformats.org/drawingml/2006/main">
            <a:r>
              <a:t>            "before": 14880,</a:t>
            </a:r>
          </a:p>
          <a:p xmlns:a="http://schemas.openxmlformats.org/drawingml/2006/main">
            <a:r>
              <a:t>            "change_pct": 89.97983870967742,</a:t>
            </a:r>
          </a:p>
          <a:p xmlns:a="http://schemas.openxmlformats.org/drawingml/2006/main">
            <a:r>
              <a:t>            "difference": 13389</a:t>
            </a:r>
          </a:p>
          <a:p xmlns:a="http://schemas.openxmlformats.org/drawingml/2006/main">
            <a:r>
              <a:t>          },</a:t>
            </a:r>
          </a:p>
          <a:p xmlns:a="http://schemas.openxmlformats.org/drawingml/2006/main">
            <a:r>
              <a:t>          "after_days": 4,</a:t>
            </a:r>
          </a:p>
          <a:p xmlns:a="http://schemas.openxmlformats.org/drawingml/2006/main">
            <a:r>
              <a:t>          "after_year": 2025,</a:t>
            </a:r>
          </a:p>
          <a:p xmlns:a="http://schemas.openxmlformats.org/drawingml/2006/main">
            <a:r>
              <a:t>          "before_days": 3,</a:t>
            </a:r>
          </a:p>
          <a:p xmlns:a="http://schemas.openxmlformats.org/drawingml/2006/main">
            <a:r>
              <a:t>          "before_year": 2024,</a:t>
            </a:r>
          </a:p>
          <a:p xmlns:a="http://schemas.openxmlformats.org/drawingml/2006/main">
            <a:r>
              <a:t>          "outside_daily": {</a:t>
            </a:r>
          </a:p>
          <a:p xmlns:a="http://schemas.openxmlformats.org/drawingml/2006/main">
            <a:r>
              <a:t>            "after": 7067.25,</a:t>
            </a:r>
          </a:p>
          <a:p xmlns:a="http://schemas.openxmlformats.org/drawingml/2006/main">
            <a:r>
              <a:t>            "before": 4960,</a:t>
            </a:r>
          </a:p>
          <a:p xmlns:a="http://schemas.openxmlformats.org/drawingml/2006/main">
            <a:r>
              <a:t>            "change_pct": 42.484879032258064,</a:t>
            </a:r>
          </a:p>
          <a:p xmlns:a="http://schemas.openxmlformats.org/drawingml/2006/main">
            <a:r>
              <a:t>            "difference": 2107.25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"3cf7484d808e807aeffda7504a3d316839b9220f0f7a72550f5387af3ee3f8d9",</a:t>
            </a:r>
          </a:p>
          <a:p xmlns:a="http://schemas.openxmlformats.org/drawingml/2006/main">
            <a:r>
              <a:t>          "provider": "한국관광 데이터랩",</a:t>
            </a:r>
          </a:p>
          <a:p xmlns:a="http://schemas.openxmlformats.org/drawingml/2006/main">
            <a:r>
              <a:t>          "file_name": "20260820182448_진도신비의바닷길축제_연도별 방문자 추이.csv",</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"0.568",</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"0.858",</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"0.513",</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"0.283",</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"0.791",</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"0.137",</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"0.472",</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"0.06",</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"0.212",</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"0.269",</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"진도신비의바닷길축제",</a:t>
            </a:r>
          </a:p>
          <a:p xmlns:a="http://schemas.openxmlformats.org/drawingml/2006/main">
            <a:r>
              <a:t>            "카테고리": "기타문화관광지",</a:t>
            </a:r>
          </a:p>
          <a:p xmlns:a="http://schemas.openxmlformats.org/drawingml/2006/main">
            <a:r>
              <a:t>            "도로명주소": "전남 진도군 신비의바닷길 74-0"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"진도신비의바닷길",</a:t>
            </a:r>
          </a:p>
          <a:p xmlns:a="http://schemas.openxmlformats.org/drawingml/2006/main">
            <a:r>
              <a:t>            "카테고리": "테마공원",</a:t>
            </a:r>
          </a:p>
          <a:p xmlns:a="http://schemas.openxmlformats.org/drawingml/2006/main">
            <a:r>
              <a:t>            "도로명주소": "전남 진도군"</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"가계해변",</a:t>
            </a:r>
          </a:p>
          <a:p xmlns:a="http://schemas.openxmlformats.org/drawingml/2006/main">
            <a:r>
              <a:t>            "카테고리": "자연경관(하천/해양)",</a:t>
            </a:r>
          </a:p>
          <a:p xmlns:a="http://schemas.openxmlformats.org/drawingml/2006/main">
            <a:r>
              <a:t>            "도로명주소": "전남 진도군 신비의바닷길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통영한산대첩축제 방문자 추이",</a:t>
            </a:r>
          </a:p>
          <a:p xmlns:a="http://schemas.openxmlformats.org/drawingml/2006/main">
            <a:r>
              <a:t>      "summary": "경상남도 통영시 · 통영한산대첩축제 · 2024→2025년 전체 93,221→124,718명 (+33.79%). 개최 6→7일, 일평균 +14.67%, 외지인 +33.21%.",</a:t>
            </a:r>
          </a:p>
          <a:p xmlns:a="http://schemas.openxmlformats.org/drawingml/2006/main">
            <a:r>
              <a:t>      "source_id": "case:festival:1ffc3eec28956a",</a:t>
            </a:r>
          </a:p>
          <a:p xmlns:a="http://schemas.openxmlformats.org/drawingml/2006/main">
            <a:r>
              <a:t>      "source_url": "https://datalab.visitkorea.or.kr/",</a:t>
            </a:r>
          </a:p>
          <a:p xmlns:a="http://schemas.openxmlformats.org/drawingml/2006/main">
            <a:r>
              <a:t>      "case_region": "경상남도 통영시",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"통영한산대첩축제",</a:t>
            </a:r>
          </a:p>
          <a:p xmlns:a="http://schemas.openxmlformats.org/drawingml/2006/main">
            <a:r>
              <a:t>      "source_files": [</a:t>
            </a:r>
          </a:p>
          <a:p xmlns:a="http://schemas.openxmlformats.org/drawingml/2006/main">
            <a:r>
              <a:t>        {</a:t>
            </a:r>
          </a:p>
          <a:p xmlns:a="http://schemas.openxmlformats.org/drawingml/2006/main">
            <a:r>
              <a:t>          "sha256": "ec35e7537d4da1ed72dd60617fec143558f280299aeb303bc8b7a1036ecc73f0",</a:t>
            </a:r>
          </a:p>
          <a:p xmlns:a="http://schemas.openxmlformats.org/drawingml/2006/main">
            <a:r>
              <a:t>          "provider": "한국관광 데이터랩",</a:t>
            </a:r>
          </a:p>
          <a:p xmlns:a="http://schemas.openxmlformats.org/drawingml/2006/main">
            <a:r>
              <a:t>          "file_name": "20260820183544_통영한산대첩축제_연도별 방문자 추이.csv",</a:t>
            </a:r>
          </a:p>
          <a:p xmlns:a="http://schemas.openxmlformats.org/drawingml/2006/main">
            <a:r>
              <a:t>          "source_id": "festival-file:ec35e7537d4da1ed72dd",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"77b41103f7ab3a48a3a94baa36227391bc47069fafcf8cc68a36662ec60fd43d",</a:t>
            </a:r>
          </a:p>
          <a:p xmlns:a="http://schemas.openxmlformats.org/drawingml/2006/main">
            <a:r>
              <a:t>          "provider": "한국관광 데이터랩",</a:t>
            </a:r>
          </a:p>
          <a:p xmlns:a="http://schemas.openxmlformats.org/drawingml/2006/main">
            <a:r>
              <a:t>          "file_name": "20260820183544_통영한산대첩축제_성_연령별 내국인 방문자.csv",</a:t>
            </a:r>
          </a:p>
          <a:p xmlns:a="http://schemas.openxmlformats.org/drawingml/2006/main">
            <a:r>
              <a:t>          "source_id": "festival-file:77b41103f7ab3a48a3a9",</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"5457f819bd8704a9d5b81a24337c2a40c45bbcf7435e0a751139a5457627bdd4",</a:t>
            </a:r>
          </a:p>
          <a:p xmlns:a="http://schemas.openxmlformats.org/drawingml/2006/main">
            <a:r>
              <a:t>          "provider": "한국관광 데이터랩",</a:t>
            </a:r>
          </a:p>
          <a:p xmlns:a="http://schemas.openxmlformats.org/drawingml/2006/main">
            <a:r>
              <a:t>          "file_name": "20260820183544_통영한산대첩축제_문화관광축제 주요 지표.csv",</a:t>
            </a:r>
          </a:p>
          <a:p xmlns:a="http://schemas.openxmlformats.org/drawingml/2006/main">
            <a:r>
              <a:t>          "source_id": "festival-file:5457f819bd8704a9d5b8",</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"3b2a6e862dd8337a7616d3cdb3f568c6fdb24be706918eb7f02d965d625ca746",</a:t>
            </a:r>
          </a:p>
          <a:p xmlns:a="http://schemas.openxmlformats.org/drawingml/2006/main">
            <a:r>
              <a:t>          "provider": "한국관광 데이터랩",</a:t>
            </a:r>
          </a:p>
          <a:p xmlns:a="http://schemas.openxmlformats.org/drawingml/2006/main">
            <a:r>
              <a:t>          "file_name": "20260820183544_통영한산대첩축제_목적지 검색순위.csv",</a:t>
            </a:r>
          </a:p>
          <a:p xmlns:a="http://schemas.openxmlformats.org/drawingml/2006/main">
            <a:r>
              <a:t>          "source_id": "festival-file:3b2a6e862dd8337a7616",</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93,221→124,718명 (+33.79%). 개최 6→7일, 일평균 +14.67%, 외지인 +33.21%.",</a:t>
            </a:r>
          </a:p>
          <a:p xmlns:a="http://schemas.openxmlformats.org/drawingml/2006/main">
            <a:r>
              <a:t>      "operating_model": "통영한산대첩축제를 2025년 7일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"지역문화",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"통영한산대첩축제",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11745.444444444443,</a:t>
            </a:r>
          </a:p>
          <a:p xmlns:a="http://schemas.openxmlformats.org/drawingml/2006/main">
            <a:r>
              <a:t>            "local": 57810,</a:t>
            </a:r>
          </a:p>
          <a:p xmlns:a="http://schemas.openxmlformats.org/drawingml/2006/main">
            <a:r>
              <a:t>            "total": 105709,</a:t>
            </a:r>
          </a:p>
          <a:p xmlns:a="http://schemas.openxmlformats.org/drawingml/2006/main">
            <a:r>
              <a:t>            "foreign": 455,</a:t>
            </a:r>
          </a:p>
          <a:p xmlns:a="http://schemas.openxmlformats.org/drawingml/2006/main">
            <a:r>
              <a:t>            "outside": 47444,</a:t>
            </a:r>
          </a:p>
          <a:p xmlns:a="http://schemas.openxmlformats.org/drawingml/2006/main">
            <a:r>
              <a:t>            "outside_daily": 5271.555555555556,</a:t>
            </a:r>
          </a:p>
          <a:p xmlns:a="http://schemas.openxmlformats.org/drawingml/2006/main">
            <a:r>
              <a:t>            "outside_share_pct": 44.88170354463669</a:t>
            </a:r>
          </a:p>
          <a:p xmlns:a="http://schemas.openxmlformats.org/drawingml/2006/main">
            <a:r>
              <a:t>          },</a:t>
            </a:r>
          </a:p>
          <a:p xmlns:a="http://schemas.openxmlformats.org/drawingml/2006/main">
            <a:r>
              <a:t>          {</a:t>
            </a:r>
          </a:p>
          <a:p xmlns:a="http://schemas.openxmlformats.org/drawingml/2006/main">
            <a:r>
              <a:t>            "days": 6,</a:t>
            </a:r>
          </a:p>
          <a:p xmlns:a="http://schemas.openxmlformats.org/drawingml/2006/main">
            <a:r>
              <a:t>            "year": 2024,</a:t>
            </a:r>
          </a:p>
          <a:p xmlns:a="http://schemas.openxmlformats.org/drawingml/2006/main">
            <a:r>
              <a:t>            "daily": 15536.833333333334,</a:t>
            </a:r>
          </a:p>
          <a:p xmlns:a="http://schemas.openxmlformats.org/drawingml/2006/main">
            <a:r>
              <a:t>            "local": 52493,</a:t>
            </a:r>
          </a:p>
          <a:p xmlns:a="http://schemas.openxmlformats.org/drawingml/2006/main">
            <a:r>
              <a:t>            "total": 93221,</a:t>
            </a:r>
          </a:p>
          <a:p xmlns:a="http://schemas.openxmlformats.org/drawingml/2006/main">
            <a:r>
              <a:t>            "foreign": 394,</a:t>
            </a:r>
          </a:p>
          <a:p xmlns:a="http://schemas.openxmlformats.org/drawingml/2006/main">
            <a:r>
              <a:t>            "outside": 40334,</a:t>
            </a:r>
          </a:p>
          <a:p xmlns:a="http://schemas.openxmlformats.org/drawingml/2006/main">
            <a:r>
              <a:t>            "outside_daily": 6722.333333333333,</a:t>
            </a:r>
          </a:p>
          <a:p xmlns:a="http://schemas.openxmlformats.org/drawingml/2006/main">
            <a:r>
              <a:t>            "outside_share_pct": 43.26707501528625</a:t>
            </a:r>
          </a:p>
          <a:p xmlns:a="http://schemas.openxmlformats.org/drawingml/2006/main">
            <a:r>
              <a:t>          },</a:t>
            </a:r>
          </a:p>
          <a:p xmlns:a="http://schemas.openxmlformats.org/drawingml/2006/main">
            <a:r>
              <a:t>          {</a:t>
            </a:r>
          </a:p>
          <a:p xmlns:a="http://schemas.openxmlformats.org/drawingml/2006/main">
            <a:r>
              <a:t>            "days": 7,</a:t>
            </a:r>
          </a:p>
          <a:p xmlns:a="http://schemas.openxmlformats.org/drawingml/2006/main">
            <a:r>
              <a:t>            "year": 2025,</a:t>
            </a:r>
          </a:p>
          <a:p xmlns:a="http://schemas.openxmlformats.org/drawingml/2006/main">
            <a:r>
              <a:t>            "daily": 17816.85714285714,</a:t>
            </a:r>
          </a:p>
          <a:p xmlns:a="http://schemas.openxmlformats.org/drawingml/2006/main">
            <a:r>
              <a:t>            "local": 70201,</a:t>
            </a:r>
          </a:p>
          <a:p xmlns:a="http://schemas.openxmlformats.org/drawingml/2006/main">
            <a:r>
              <a:t>            "total": 124718,</a:t>
            </a:r>
          </a:p>
          <a:p xmlns:a="http://schemas.openxmlformats.org/drawingml/2006/main">
            <a:r>
              <a:t>            "foreign": 787,</a:t>
            </a:r>
          </a:p>
          <a:p xmlns:a="http://schemas.openxmlformats.org/drawingml/2006/main">
            <a:r>
              <a:t>            "outside": 53730,</a:t>
            </a:r>
          </a:p>
          <a:p xmlns:a="http://schemas.openxmlformats.org/drawingml/2006/main">
            <a:r>
              <a:t>            "outside_daily": 7675.714285714285,</a:t>
            </a:r>
          </a:p>
          <a:p xmlns:a="http://schemas.openxmlformats.org/drawingml/2006/main">
            <a:r>
              <a:t>            "outside_share_pct": 43.08119116727337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"통영한산대첩축제",</a:t>
            </a:r>
          </a:p>
          <a:p xmlns:a="http://schemas.openxmlformats.org/drawingml/2006/main">
            <a:r>
              <a:t>            "남성비율": "5.2",</a:t>
            </a:r>
          </a:p>
          <a:p xmlns:a="http://schemas.openxmlformats.org/drawingml/2006/main">
            <a:r>
              <a:t>            "여성비율": "5.7"</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"통영한산대첩축제",</a:t>
            </a:r>
          </a:p>
          <a:p xmlns:a="http://schemas.openxmlformats.org/drawingml/2006/main">
            <a:r>
              <a:t>            "남성비율": "11.0",</a:t>
            </a:r>
          </a:p>
          <a:p xmlns:a="http://schemas.openxmlformats.org/drawingml/2006/main">
            <a:r>
              <a:t>            "여성비율": "11.5"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"통영한산대첩축제",</a:t>
            </a:r>
          </a:p>
          <a:p xmlns:a="http://schemas.openxmlformats.org/drawingml/2006/main">
            <a:r>
              <a:t>            "남성비율": "11.1",</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"통영한산대첩축제",</a:t>
            </a:r>
          </a:p>
          <a:p xmlns:a="http://schemas.openxmlformats.org/drawingml/2006/main">
            <a:r>
              <a:t>            "남성비율": "8.0",</a:t>
            </a:r>
          </a:p>
          <a:p xmlns:a="http://schemas.openxmlformats.org/drawingml/2006/main">
            <a:r>
              <a:t>            "여성비율": "7.7"</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"통영한산대첩축제",</a:t>
            </a:r>
          </a:p>
          <a:p xmlns:a="http://schemas.openxmlformats.org/drawingml/2006/main">
            <a:r>
              <a:t>            "남성비율": "6.3",</a:t>
            </a:r>
          </a:p>
          <a:p xmlns:a="http://schemas.openxmlformats.org/drawingml/2006/main">
            <a:r>
              <a:t>            "여성비율": "5.6"</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"통영한산대첩축제",</a:t>
            </a:r>
          </a:p>
          <a:p xmlns:a="http://schemas.openxmlformats.org/drawingml/2006/main">
            <a:r>
              <a:t>            "남성비율": "5.4",</a:t>
            </a:r>
          </a:p>
          <a:p xmlns:a="http://schemas.openxmlformats.org/drawingml/2006/main">
            <a:r>
              <a:t>            "여성비율": "4.4"</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"통영한산대첩축제",</a:t>
            </a:r>
          </a:p>
          <a:p xmlns:a="http://schemas.openxmlformats.org/drawingml/2006/main">
            <a:r>
              <a:t>            "남성비율": "2.8",</a:t>
            </a:r>
          </a:p>
          <a:p xmlns:a="http://schemas.openxmlformats.org/drawingml/2006/main">
            <a:r>
              <a:t>            "여성비율": "3.1"</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"통영한산대첩축제",</a:t>
            </a:r>
          </a:p>
          <a:p xmlns:a="http://schemas.openxmlformats.org/drawingml/2006/main">
            <a:r>
              <a:t>            "남성비율": "0.5",</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17816.85714285714,</a:t>
            </a:r>
          </a:p>
          <a:p xmlns:a="http://schemas.openxmlformats.org/drawingml/2006/main">
            <a:r>
              <a:t>            "before": 15536.833333333334,</a:t>
            </a:r>
          </a:p>
          <a:p xmlns:a="http://schemas.openxmlformats.org/drawingml/2006/main">
            <a:r>
              <a:t>            "change_pct": 14.674958278867244,</a:t>
            </a:r>
          </a:p>
          <a:p xmlns:a="http://schemas.openxmlformats.org/drawingml/2006/main">
            <a:r>
              <a:t>            "difference": 2280.0238095238074</a:t>
            </a:r>
          </a:p>
          <a:p xmlns:a="http://schemas.openxmlformats.org/drawingml/2006/main">
            <a:r>
              <a:t>          },</a:t>
            </a:r>
          </a:p>
          <a:p xmlns:a="http://schemas.openxmlformats.org/drawingml/2006/main">
            <a:r>
              <a:t>          "total": {</a:t>
            </a:r>
          </a:p>
          <a:p xmlns:a="http://schemas.openxmlformats.org/drawingml/2006/main">
            <a:r>
              <a:t>            "after": 124718,</a:t>
            </a:r>
          </a:p>
          <a:p xmlns:a="http://schemas.openxmlformats.org/drawingml/2006/main">
            <a:r>
              <a:t>            "before": 93221,</a:t>
            </a:r>
          </a:p>
          <a:p xmlns:a="http://schemas.openxmlformats.org/drawingml/2006/main">
            <a:r>
              <a:t>            "change_pct": 33.78745132534515,</a:t>
            </a:r>
          </a:p>
          <a:p xmlns:a="http://schemas.openxmlformats.org/drawingml/2006/main">
            <a:r>
              <a:t>            "difference": 31497</a:t>
            </a:r>
          </a:p>
          <a:p xmlns:a="http://schemas.openxmlformats.org/drawingml/2006/main">
            <a:r>
              <a:t>          },</a:t>
            </a:r>
          </a:p>
          <a:p xmlns:a="http://schemas.openxmlformats.org/drawingml/2006/main">
            <a:r>
              <a:t>          "outside": {</a:t>
            </a:r>
          </a:p>
          <a:p xmlns:a="http://schemas.openxmlformats.org/drawingml/2006/main">
            <a:r>
              <a:t>            "after": 53730,</a:t>
            </a:r>
          </a:p>
          <a:p xmlns:a="http://schemas.openxmlformats.org/drawingml/2006/main">
            <a:r>
              <a:t>            "before": 40334,</a:t>
            </a:r>
          </a:p>
          <a:p xmlns:a="http://schemas.openxmlformats.org/drawingml/2006/main">
            <a:r>
              <a:t>            "change_pct": 33.21267417067486,</a:t>
            </a:r>
          </a:p>
          <a:p xmlns:a="http://schemas.openxmlformats.org/drawingml/2006/main">
            <a:r>
              <a:t>            "difference": 13396</a:t>
            </a:r>
          </a:p>
          <a:p xmlns:a="http://schemas.openxmlformats.org/drawingml/2006/main">
            <a:r>
              <a:t>          },</a:t>
            </a:r>
          </a:p>
          <a:p xmlns:a="http://schemas.openxmlformats.org/drawingml/2006/main">
            <a:r>
              <a:t>          "after_days": 7,</a:t>
            </a:r>
          </a:p>
          <a:p xmlns:a="http://schemas.openxmlformats.org/drawingml/2006/main">
            <a:r>
              <a:t>          "after_year": 2025,</a:t>
            </a:r>
          </a:p>
          <a:p xmlns:a="http://schemas.openxmlformats.org/drawingml/2006/main">
            <a:r>
              <a:t>          "before_days": 6,</a:t>
            </a:r>
          </a:p>
          <a:p xmlns:a="http://schemas.openxmlformats.org/drawingml/2006/main">
            <a:r>
              <a:t>          "before_year": 2024,</a:t>
            </a:r>
          </a:p>
          <a:p xmlns:a="http://schemas.openxmlformats.org/drawingml/2006/main">
            <a:r>
              <a:t>          "outside_daily": {</a:t>
            </a:r>
          </a:p>
          <a:p xmlns:a="http://schemas.openxmlformats.org/drawingml/2006/main">
            <a:r>
              <a:t>            "after": 7675.714285714285,</a:t>
            </a:r>
          </a:p>
          <a:p xmlns:a="http://schemas.openxmlformats.org/drawingml/2006/main">
            <a:r>
              <a:t>            "before": 6722.333333333333,</a:t>
            </a:r>
          </a:p>
          <a:p xmlns:a="http://schemas.openxmlformats.org/drawingml/2006/main">
            <a:r>
              <a:t>            "change_pct": 14.182292146292742,</a:t>
            </a:r>
          </a:p>
          <a:p xmlns:a="http://schemas.openxmlformats.org/drawingml/2006/main">
            <a:r>
              <a:t>            "difference": 953.3809523809524</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"ec35e7537d4da1ed72dd60617fec143558f280299aeb303bc8b7a1036ecc73f0",</a:t>
            </a:r>
          </a:p>
          <a:p xmlns:a="http://schemas.openxmlformats.org/drawingml/2006/main">
            <a:r>
              <a:t>          "provider": "한국관광 데이터랩",</a:t>
            </a:r>
          </a:p>
          <a:p xmlns:a="http://schemas.openxmlformats.org/drawingml/2006/main">
            <a:r>
              <a:t>          "file_name": "20260820183544_통영한산대첩축제_연도별 방문자 추이.csv",</a:t>
            </a:r>
          </a:p>
          <a:p xmlns:a="http://schemas.openxmlformats.org/drawingml/2006/main">
            <a:r>
              <a:t>          "source_id": "festival-file:ec35e7537d4da1ed72dd",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"0.309",</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"0.731",</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"0.228",</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"0.313",</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"0.766",</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"0.244",</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"0.586",</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"0.206",</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"0.312",</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"0.595",</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"통영중앙전통시장",</a:t>
            </a:r>
          </a:p>
          <a:p xmlns:a="http://schemas.openxmlformats.org/drawingml/2006/main">
            <a:r>
              <a:t>            "카테고리": "시장",</a:t>
            </a:r>
          </a:p>
          <a:p xmlns:a="http://schemas.openxmlformats.org/drawingml/2006/main">
            <a:r>
              <a:t>            "도로명주소": "경남 통영시 중앙시장1길 14-16"</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"동피랑벽화마을",</a:t>
            </a:r>
          </a:p>
          <a:p xmlns:a="http://schemas.openxmlformats.org/drawingml/2006/main">
            <a:r>
              <a:t>            "카테고리": "기타관광",</a:t>
            </a:r>
          </a:p>
          <a:p xmlns:a="http://schemas.openxmlformats.org/drawingml/2006/main">
            <a:r>
              <a:t>            "도로명주소": "경남 통영시 동피랑1길 6-18"</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"통영한산대첩축제(한산대첩광장)",</a:t>
            </a:r>
          </a:p>
          <a:p xmlns:a="http://schemas.openxmlformats.org/drawingml/2006/main">
            <a:r>
              <a:t>            "카테고리": "기타문화관광지",</a:t>
            </a:r>
          </a:p>
          <a:p xmlns:a="http://schemas.openxmlformats.org/drawingml/2006/main">
            <a:r>
              <a:t>            "도로명주소": "경남 통영시 통영해안로 267-0"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4998578.0,</a:t>
            </a:r>
          </a:p>
          <a:p xmlns:a="http://schemas.openxmlformats.org/drawingml/2006/main">
            <a:r>
              <a:t>        "is_forecast": true,</a:t>
            </a:r>
          </a:p>
          <a:p xmlns:a="http://schemas.openxmlformats.org/drawingml/2006/main">
            <a:r>
              <a:t>        "spending_krw": 79359374710.0,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"is_forecast": true,</a:t>
            </a:r>
          </a:p>
          <a:p xmlns:a="http://schemas.openxmlformats.org/drawingml/2006/main">
            <a:r>
              <a:t>        "spending_krw": 85971975908.0,</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"is_forecast": true,</a:t>
            </a:r>
          </a:p>
          <a:p xmlns:a="http://schemas.openxmlformats.org/drawingml/2006/main">
            <a:r>
              <a:t>        "spending_krw": 81033922052.0,</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"is_forecast": true,</a:t>
            </a:r>
          </a:p>
          <a:p xmlns:a="http://schemas.openxmlformats.org/drawingml/2006/main">
            <a:r>
              <a:t>      "spending_krw": 80283647550,</a:t>
            </a:r>
          </a:p>
          <a:p xmlns:a="http://schemas.openxmlformats.org/drawingml/2006/main">
            <a:r>
              <a:t>      "stay_minutes": 1223.0,</a:t>
            </a:r>
          </a:p>
          <a:p xmlns:a="http://schemas.openxmlformats.org/drawingml/2006/main">
            <a:r>
              <a:t>      "lodging_nights": 2.91,</a:t>
            </a:r>
          </a:p>
          <a:p xmlns:a="http://schemas.openxmlformats.org/drawingml/2006/main">
            <a:r>
              <a:t>      "lodging_rate_pct": 7.3,</a:t>
            </a:r>
          </a:p>
          <a:p xmlns:a="http://schemas.openxmlformats.org/drawingml/2006/main">
            <a:r>
              <a:t>      "lodging_searches": 12843,</a:t>
            </a:r>
          </a:p>
          <a:p xmlns:a="http://schemas.openxmlformats.org/drawingml/2006/main">
            <a:r>
              <a:t>      "navigation_searches": 209722,</a:t>
            </a:r>
          </a:p>
          <a:p xmlns:a="http://schemas.openxmlformats.org/drawingml/2006/main">
            <a:r>
              <a:t>      "visitor_yoy_percent": 0.64,</a:t>
            </a:r>
          </a:p>
          <a:p xmlns:a="http://schemas.openxmlformats.org/drawingml/2006/main">
            <a:r>
              <a:t>      "spending_yoy_percent": 6.85,</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-0.44</a:t>
            </a:r>
          </a:p>
          <a:p xmlns:a="http://schemas.openxmlformats.org/drawingml/2006/main">
            <a:r>
              <a:t>      },</a:t>
            </a:r>
          </a:p>
          <a:p xmlns:a="http://schemas.openxmlformats.org/drawingml/2006/main">
            <a:r>
              <a:t>      "previous_year_visitors": 4951150,</a:t>
            </a:r>
          </a:p>
          <a:p xmlns:a="http://schemas.openxmlformats.org/drawingml/2006/main">
            <a:r>
              <a:t>      "previous_year_spending_krw": 75135145000,</a:t>
            </a:r>
          </a:p>
          <a:p xmlns:a="http://schemas.openxmlformats.org/drawingml/2006/main">
            <a:r>
              <a:t>      "previous_year_stay_minutes": 1223.0,</a:t>
            </a:r>
          </a:p>
          <a:p xmlns:a="http://schemas.openxmlformats.org/drawingml/2006/main">
            <a:r>
              <a:t>      "previous_year_lodging_nights": 2.91,</a:t>
            </a:r>
          </a:p>
          <a:p xmlns:a="http://schemas.openxmlformats.org/drawingml/2006/main">
            <a:r>
              <a:t>      "previous_year_lodging_rate_pct": 7.3,</a:t>
            </a:r>
          </a:p>
          <a:p xmlns:a="http://schemas.openxmlformats.org/drawingml/2006/main">
            <a:r>
              <a:t>      "previous_year_lodging_searches": 12843,</a:t>
            </a:r>
          </a:p>
          <a:p xmlns:a="http://schemas.openxmlformats.org/drawingml/2006/main">
            <a:r>
              <a:t>      "previous_year_navigation_searches": 210646</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"is_forecast": true,</a:t>
            </a:r>
          </a:p>
          <a:p xmlns:a="http://schemas.openxmlformats.org/drawingml/2006/main">
            <a:r>
              <a:t>      "spending_krw": 76665340753,</a:t>
            </a:r>
          </a:p>
          <a:p xmlns:a="http://schemas.openxmlformats.org/drawingml/2006/main">
            <a:r>
              <a:t>      "stay_minutes": 1218.0,</a:t>
            </a:r>
          </a:p>
          <a:p xmlns:a="http://schemas.openxmlformats.org/drawingml/2006/main">
            <a:r>
              <a:t>      "lodging_nights": 2.84,</a:t>
            </a:r>
          </a:p>
          <a:p xmlns:a="http://schemas.openxmlformats.org/drawingml/2006/main">
            <a:r>
              <a:t>      "lodging_rate_pct": 7.9,</a:t>
            </a:r>
          </a:p>
          <a:p xmlns:a="http://schemas.openxmlformats.org/drawingml/2006/main">
            <a:r>
              <a:t>      "lodging_searches": 13272,</a:t>
            </a:r>
          </a:p>
          <a:p xmlns:a="http://schemas.openxmlformats.org/drawingml/2006/main">
            <a:r>
              <a:t>      "navigation_searches": 225159,</a:t>
            </a:r>
          </a:p>
          <a:p xmlns:a="http://schemas.openxmlformats.org/drawingml/2006/main">
            <a:r>
              <a:t>      "visitor_yoy_percent": -1.76,</a:t>
            </a:r>
          </a:p>
          <a:p xmlns:a="http://schemas.openxmlformats.org/drawingml/2006/main">
            <a:r>
              <a:t>      "spending_yoy_percent": 0.49,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2.0</a:t>
            </a:r>
          </a:p>
          <a:p xmlns:a="http://schemas.openxmlformats.org/drawingml/2006/main">
            <a:r>
              <a:t>      },</a:t>
            </a:r>
          </a:p>
          <a:p xmlns:a="http://schemas.openxmlformats.org/drawingml/2006/main">
            <a:r>
              <a:t>      "previous_year_visitors": 4939438,</a:t>
            </a:r>
          </a:p>
          <a:p xmlns:a="http://schemas.openxmlformats.org/drawingml/2006/main">
            <a:r>
              <a:t>      "previous_year_spending_krw": 76291079000,</a:t>
            </a:r>
          </a:p>
          <a:p xmlns:a="http://schemas.openxmlformats.org/drawingml/2006/main">
            <a:r>
              <a:t>      "previous_year_stay_minutes": 1218.0,</a:t>
            </a:r>
          </a:p>
          <a:p xmlns:a="http://schemas.openxmlformats.org/drawingml/2006/main">
            <a:r>
              <a:t>      "previous_year_lodging_nights": 2.84,</a:t>
            </a:r>
          </a:p>
          <a:p xmlns:a="http://schemas.openxmlformats.org/drawingml/2006/main">
            <a:r>
              <a:t>      "previous_year_lodging_rate_pct": 7.9,</a:t>
            </a:r>
          </a:p>
          <a:p xmlns:a="http://schemas.openxmlformats.org/drawingml/2006/main">
            <a:r>
              <a:t>      "previous_year_lodging_searches": 13272,</a:t>
            </a:r>
          </a:p>
          <a:p xmlns:a="http://schemas.openxmlformats.org/drawingml/2006/main">
            <a:r>
              <a:t>      "previous_year_navigation_searches": 220742</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"is_forecast": true,</a:t>
            </a:r>
          </a:p>
          <a:p xmlns:a="http://schemas.openxmlformats.org/drawingml/2006/main">
            <a:r>
              <a:t>      "spending_krw": 80194062490,</a:t>
            </a:r>
          </a:p>
          <a:p xmlns:a="http://schemas.openxmlformats.org/drawingml/2006/main">
            <a:r>
              <a:t>      "stay_minutes": 1281.0,</a:t>
            </a:r>
          </a:p>
          <a:p xmlns:a="http://schemas.openxmlformats.org/drawingml/2006/main">
            <a:r>
              <a:t>      "lodging_nights": 2.93,</a:t>
            </a:r>
          </a:p>
          <a:p xmlns:a="http://schemas.openxmlformats.org/drawingml/2006/main">
            <a:r>
              <a:t>      "lodging_rate_pct": 6.7,</a:t>
            </a:r>
          </a:p>
          <a:p xmlns:a="http://schemas.openxmlformats.org/drawingml/2006/main">
            <a:r>
              <a:t>      "lodging_searches": 11464,</a:t>
            </a:r>
          </a:p>
          <a:p xmlns:a="http://schemas.openxmlformats.org/drawingml/2006/main">
            <a:r>
              <a:t>      "navigation_searches": 206180,</a:t>
            </a:r>
          </a:p>
          <a:p xmlns:a="http://schemas.openxmlformats.org/drawingml/2006/main">
            <a:r>
              <a:t>      "visitor_yoy_percent": -0.39,</a:t>
            </a:r>
          </a:p>
          <a:p xmlns:a="http://schemas.openxmlformats.org/drawingml/2006/main">
            <a:r>
              <a:t>      "spending_yoy_percent": 13.32,</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7.4</a:t>
            </a:r>
          </a:p>
          <a:p xmlns:a="http://schemas.openxmlformats.org/drawingml/2006/main">
            <a:r>
              <a:t>      },</a:t>
            </a:r>
          </a:p>
          <a:p xmlns:a="http://schemas.openxmlformats.org/drawingml/2006/main">
            <a:r>
              <a:t>      "previous_year_visitors": 4842196,</a:t>
            </a:r>
          </a:p>
          <a:p xmlns:a="http://schemas.openxmlformats.org/drawingml/2006/main">
            <a:r>
              <a:t>      "previous_year_spending_krw": 70764730000,</a:t>
            </a:r>
          </a:p>
          <a:p xmlns:a="http://schemas.openxmlformats.org/drawingml/2006/main">
            <a:r>
              <a:t>      "previous_year_stay_minutes": 1281.0,</a:t>
            </a:r>
          </a:p>
          <a:p xmlns:a="http://schemas.openxmlformats.org/drawingml/2006/main">
            <a:r>
              <a:t>      "previous_year_lodging_nights": 2.93,</a:t>
            </a:r>
          </a:p>
          <a:p xmlns:a="http://schemas.openxmlformats.org/drawingml/2006/main">
            <a:r>
              <a:t>      "previous_year_lodging_rate_pct": 6.7,</a:t>
            </a:r>
          </a:p>
          <a:p xmlns:a="http://schemas.openxmlformats.org/drawingml/2006/main">
            <a:r>
              <a:t>      "previous_year_lodging_searches": 11464,</a:t>
            </a:r>
          </a:p>
          <a:p xmlns:a="http://schemas.openxmlformats.org/drawingml/2006/main">
            <a:r>
              <a:t>      "previous_year_navigation_searches": 191971</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"is_forecast": true,</a:t>
            </a:r>
          </a:p>
          <a:p xmlns:a="http://schemas.openxmlformats.org/drawingml/2006/main">
            <a:r>
              <a:t>      "spending_krw": 79359374710,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"is_forecast": true,</a:t>
            </a:r>
          </a:p>
          <a:p xmlns:a="http://schemas.openxmlformats.org/drawingml/2006/main">
            <a:r>
              <a:t>      "spending_krw": 85971975908,</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"is_forecast": true,</a:t>
            </a:r>
          </a:p>
          <a:p xmlns:a="http://schemas.openxmlformats.org/drawingml/2006/main">
            <a:r>
              <a:t>      "spending_krw": 81033922052,</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237105.53,</a:t>
            </a:r>
          </a:p>
          <a:p xmlns:a="http://schemas.openxmlformats.org/drawingml/2006/main">
            <a:r>
              <a:t>        "recursive_mae": {</a:t>
            </a:r>
          </a:p>
          <a:p xmlns:a="http://schemas.openxmlformats.org/drawingml/2006/main">
            <a:r>
              <a:t>          "1": {</a:t>
            </a:r>
          </a:p>
          <a:p xmlns:a="http://schemas.openxmlformats.org/drawingml/2006/main">
            <a:r>
              <a:t>            "baseline": 211072,</a:t>
            </a:r>
          </a:p>
          <a:p xmlns:a="http://schemas.openxmlformats.org/drawingml/2006/main">
            <a:r>
              <a:t>            "selected": 332727,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97043,</a:t>
            </a:r>
          </a:p>
          <a:p xmlns:a="http://schemas.openxmlformats.org/drawingml/2006/main">
            <a:r>
              <a:t>            "selected": 141143.5,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174799,</a:t>
            </a:r>
          </a:p>
          <a:p xmlns:a="http://schemas.openxmlformats.org/drawingml/2006/main">
            <a:r>
              <a:t>            "selected": 168591.5,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192935.5,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4927867951.9,</a:t>
            </a:r>
          </a:p>
          <a:p xmlns:a="http://schemas.openxmlformats.org/drawingml/2006/main">
            <a:r>
              <a:t>        "recursive_mae": {</a:t>
            </a:r>
          </a:p>
          <a:p xmlns:a="http://schemas.openxmlformats.org/drawingml/2006/main">
            <a:r>
              <a:t>          "1": {</a:t>
            </a:r>
          </a:p>
          <a:p xmlns:a="http://schemas.openxmlformats.org/drawingml/2006/main">
            <a:r>
              <a:t>            "baseline": 1944140500,</a:t>
            </a:r>
          </a:p>
          <a:p xmlns:a="http://schemas.openxmlformats.org/drawingml/2006/main">
            <a:r>
              <a:t>            "selected": 3237755191,</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3984052500,</a:t>
            </a:r>
          </a:p>
          <a:p xmlns:a="http://schemas.openxmlformats.org/drawingml/2006/main">
            <a:r>
              <a:t>            "selected": 1581504765.5,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2878173500,</a:t>
            </a:r>
          </a:p>
          <a:p xmlns:a="http://schemas.openxmlformats.org/drawingml/2006/main">
            <a:r>
              <a:t>            "selected": 4493524184.5,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2411157000,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113.5,</a:t>
            </a:r>
          </a:p>
          <a:p xmlns:a="http://schemas.openxmlformats.org/drawingml/2006/main">
            <a:r>
              <a:t>        "recursive_mae": {</a:t>
            </a:r>
          </a:p>
          <a:p xmlns:a="http://schemas.openxmlformats.org/drawingml/2006/main">
            <a:r>
              <a:t>          "1": {</a:t>
            </a:r>
          </a:p>
          <a:p xmlns:a="http://schemas.openxmlformats.org/drawingml/2006/main">
            <a:r>
              <a:t>            "baseline": 52,</a:t>
            </a:r>
          </a:p>
          <a:p xmlns:a="http://schemas.openxmlformats.org/drawingml/2006/main">
            <a:r>
              <a:t>            "selected": 52,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218.5,</a:t>
            </a:r>
          </a:p>
          <a:p xmlns:a="http://schemas.openxmlformats.org/drawingml/2006/main">
            <a:r>
              <a:t>            "selected":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175,</a:t>
            </a:r>
          </a:p>
          <a:p xmlns:a="http://schemas.openxmlformats.org/drawingml/2006/main">
            <a:r>
              <a:t>            "selected": 175,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113.5,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0.07,</a:t>
            </a:r>
          </a:p>
          <a:p xmlns:a="http://schemas.openxmlformats.org/drawingml/2006/main">
            <a:r>
              <a:t>        "recursive_mae": {</a:t>
            </a:r>
          </a:p>
          <a:p xmlns:a="http://schemas.openxmlformats.org/drawingml/2006/main">
            <a:r>
              <a:t>          "1": {</a:t>
            </a:r>
          </a:p>
          <a:p xmlns:a="http://schemas.openxmlformats.org/drawingml/2006/main">
            <a:r>
              <a:t>            "baseline": 0.06,</a:t>
            </a:r>
          </a:p>
          <a:p xmlns:a="http://schemas.openxmlformats.org/drawingml/2006/main">
            <a:r>
              <a:t>            "selected":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0.11,</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0.08,</a:t>
            </a:r>
          </a:p>
          <a:p xmlns:a="http://schemas.openxmlformats.org/drawingml/2006/main">
            <a:r>
              <a:t>            "selected":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0.07,</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0.3,</a:t>
            </a:r>
          </a:p>
          <a:p xmlns:a="http://schemas.openxmlformats.org/drawingml/2006/main">
            <a:r>
              <a:t>        "recursive_mae": {</a:t>
            </a:r>
          </a:p>
          <a:p xmlns:a="http://schemas.openxmlformats.org/drawingml/2006/main">
            <a:r>
              <a:t>          "1": {</a:t>
            </a:r>
          </a:p>
          <a:p xmlns:a="http://schemas.openxmlformats.org/drawingml/2006/main">
            <a:r>
              <a:t>            "baseline": 0.4,</a:t>
            </a:r>
          </a:p>
          <a:p xmlns:a="http://schemas.openxmlformats.org/drawingml/2006/main">
            <a:r>
              <a:t>            "selected":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0.3,</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526.5,</a:t>
            </a:r>
          </a:p>
          <a:p xmlns:a="http://schemas.openxmlformats.org/drawingml/2006/main">
            <a:r>
              <a:t>        "recursive_mae": {</a:t>
            </a:r>
          </a:p>
          <a:p xmlns:a="http://schemas.openxmlformats.org/drawingml/2006/main">
            <a:r>
              <a:t>          "1": {</a:t>
            </a:r>
          </a:p>
          <a:p xmlns:a="http://schemas.openxmlformats.org/drawingml/2006/main">
            <a:r>
              <a:t>            "baseline": 779,</a:t>
            </a:r>
          </a:p>
          <a:p xmlns:a="http://schemas.openxmlformats.org/drawingml/2006/main">
            <a:r>
              <a:t>            "selected": 779,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391.5,</a:t>
            </a:r>
          </a:p>
          <a:p xmlns:a="http://schemas.openxmlformats.org/drawingml/2006/main">
            <a:r>
              <a:t>            "selected":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274,</a:t>
            </a:r>
          </a:p>
          <a:p xmlns:a="http://schemas.openxmlformats.org/drawingml/2006/main">
            <a:r>
              <a:t>            "selected": 274,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526.5,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20482.57,</a:t>
            </a:r>
          </a:p>
          <a:p xmlns:a="http://schemas.openxmlformats.org/drawingml/2006/main">
            <a:r>
              <a:t>        "recursive_mae": {</a:t>
            </a:r>
          </a:p>
          <a:p xmlns:a="http://schemas.openxmlformats.org/drawingml/2006/main">
            <a:r>
              <a:t>          "1": {</a:t>
            </a:r>
          </a:p>
          <a:p xmlns:a="http://schemas.openxmlformats.org/drawingml/2006/main">
            <a:r>
              <a:t>            "baseline": 9487,</a:t>
            </a:r>
          </a:p>
          <a:p xmlns:a="http://schemas.openxmlformats.org/drawingml/2006/main">
            <a:r>
              <a:t>            "selected": 20785,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6758.5,</a:t>
            </a:r>
          </a:p>
          <a:p xmlns:a="http://schemas.openxmlformats.org/drawingml/2006/main">
            <a:r>
              <a:t>            "selected": 14198,</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14633,</a:t>
            </a:r>
          </a:p>
          <a:p xmlns:a="http://schemas.openxmlformats.org/drawingml/2006/main">
            <a:r>
              <a:t>            "selected": 18839,</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12060,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6,</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0.019303448467232462,</a:t>
            </a:r>
          </a:p>
          <a:p xmlns:a="http://schemas.openxmlformats.org/drawingml/2006/main">
            <a:r>
              <a:t>    "spending_target_pct": 0.041516887084911594,</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"지역 상품권 환급액 = 적격 신청의 min(증빙 인정 지출액 × 10%, 건별 상한 50,000원)의 합산 (단가 및 총 예산은 참여 업체 수와 예상 신청 건수에 따라 확정 필요)",</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"지역 상품권 환급액 = 적격 신청의 min(증빙 인정 지출액 × 10%, 건별 상한 50,000원)의 합산 (단가 및 총 예산은 참여 업체 수와 예상 신청 건수에 따라 확정 필요)",</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"내원사(대전)", "address": "대전광역시 서구 배재로197번길 200", "summary": "한국관광공사 국문관광정보 API가 반환한 선택 지역 관광자원", "image_url": "http://tong.visitkorea.or.kr/cms/resource/79/3034979_image2_1.JPG", "source_id": "tour-api:298208", "content_id": "298208",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case:festival:1ff9d11d3ee0ee | 한국관광 데이터랩 · 진도신비의바닷길축제 방문자 추이 | https://datalab.visitkorea.or.kr/</a:t>
            </a:r>
          </a:p>
          <a:p>
            <a:r>
              <a:t>case:festival:1ffc3eec28956a | 한국관광 데이터랩 · 통영한산대첩축제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a:t>
            </a:r>
          </a:p>
          <a:p>
            <a:r>
              <a:t>            "total": 33556,</a:t>
            </a:r>
          </a:p>
          <a:p>
            <a:r>
              <a:t>            "foreign": 278,</a:t>
            </a:r>
          </a:p>
          <a:p>
            <a:r>
              <a:t>            "outside": 21158,</a:t>
            </a:r>
          </a:p>
          <a:p>
            <a:r>
              <a:t>            "outside_daily": 7052.666666666667,</a:t>
            </a:r>
          </a:p>
          <a:p>
            <a:r>
              <a:t>            "outside_share_pct": 63.05280724758613</a:t>
            </a:r>
          </a:p>
          <a:p>
            <a:r>
              <a:t>          },</a:t>
            </a:r>
          </a:p>
          <a:p>
            <a:r>
              <a:t>          {</a:t>
            </a:r>
          </a:p>
          <a:p>
            <a:r>
              <a:t>            "days": 3,</a:t>
            </a:r>
          </a:p>
          <a:p>
            <a:r>
              <a:t>            "year": 2024,</a:t>
            </a:r>
          </a:p>
          <a:p>
            <a:r>
              <a:t>            "daily": 9390.333333333334,</a:t>
            </a:r>
          </a:p>
          <a:p>
            <a:r>
              <a:t>            "local": 13068,</a:t>
            </a:r>
          </a:p>
          <a:p>
            <a:r>
              <a:t>            "total": 28171,</a:t>
            </a:r>
          </a:p>
          <a:p>
            <a:r>
              <a:t>            "foreign": 223,</a:t>
            </a:r>
          </a:p>
          <a:p>
            <a:r>
              <a:t>            "outside": 14880,</a:t>
            </a:r>
          </a:p>
          <a:p>
            <a:r>
              <a:t>            "outside_daily": 4960,</a:t>
            </a:r>
          </a:p>
          <a:p>
            <a:r>
              <a:t>            "outside_share_pct": 52.82027617052998</a:t>
            </a:r>
          </a:p>
          <a:p>
            <a:r>
              <a:t>          },</a:t>
            </a:r>
          </a:p>
          <a:p>
            <a:r>
              <a:t>          {</a:t>
            </a:r>
          </a:p>
          <a:p>
            <a:r>
              <a:t>            "days": 4,</a:t>
            </a:r>
          </a:p>
          <a:p>
            <a:r>
              <a:t>            "year": 2025,</a:t>
            </a:r>
          </a:p>
          <a:p>
            <a:r>
              <a:t>            "daily": 10993.25,</a:t>
            </a:r>
          </a:p>
          <a:p>
            <a:r>
              <a:t>            "local": 15345,</a:t>
            </a:r>
          </a:p>
          <a:p>
            <a:r>
              <a:t>            "total": 43973,</a:t>
            </a:r>
          </a:p>
          <a:p>
            <a:r>
              <a:t>            "foreign": 359,</a:t>
            </a:r>
          </a:p>
          <a:p>
            <a:r>
              <a:t>            "outside": 28269,</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a:t>
            </a:r>
          </a:p>
          <a:p>
            <a:r>
              <a:t>            "before": 28171,</a:t>
            </a:r>
          </a:p>
          <a:p>
            <a:r>
              <a:t>            "change_pct": 56.093145433246946,</a:t>
            </a:r>
          </a:p>
          <a:p>
            <a:r>
              <a:t>            "difference": 15802</a:t>
            </a:r>
          </a:p>
          <a:p>
            <a:r>
              <a:t>          },</a:t>
            </a:r>
          </a:p>
          <a:p>
            <a:r>
              <a:t>          "outside": {</a:t>
            </a:r>
          </a:p>
          <a:p>
            <a:r>
              <a:t>            "after": 28269,</a:t>
            </a:r>
          </a:p>
          <a:p>
            <a:r>
              <a:t>            "before": 14880,</a:t>
            </a:r>
          </a:p>
          <a:p>
            <a:r>
              <a:t>            "change_pct": 89.97983870967742,</a:t>
            </a:r>
          </a:p>
          <a:p>
            <a:r>
              <a:t>            "difference": 13389</a:t>
            </a:r>
          </a:p>
          <a:p>
            <a:r>
              <a:t>          },</a:t>
            </a:r>
          </a:p>
          <a:p>
            <a:r>
              <a:t>          "after_days": 4,</a:t>
            </a:r>
          </a:p>
          <a:p>
            <a:r>
              <a:t>          "after_year": 2025,</a:t>
            </a:r>
          </a:p>
          <a:p>
            <a:r>
              <a:t>          "before_days": 3,</a:t>
            </a:r>
          </a:p>
          <a:p>
            <a:r>
              <a:t>          "before_year": 2024,</a:t>
            </a:r>
          </a:p>
          <a:p>
            <a:r>
              <a:t>          "outside_daily": {</a:t>
            </a:r>
          </a:p>
          <a:p>
            <a:r>
              <a:t>            "after": 7067.25,</a:t>
            </a:r>
          </a:p>
          <a:p>
            <a:r>
              <a:t>            "before": 4960,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통영한산대첩축제 방문자 추이",</a:t>
            </a:r>
          </a:p>
          <a:p>
            <a:r>
              <a:t>      "summary": "경상남도 통영시 · 통영한산대첩축제 · 2024→2025년 전체 93,221→124,718명 (+33.79%). 개최 6→7일, 일평균 +14.67%, 외지인 +33.21%.",</a:t>
            </a:r>
          </a:p>
          <a:p>
            <a:r>
              <a:t>      "source_id": "case:festival:1ffc3eec28956a",</a:t>
            </a:r>
          </a:p>
          <a:p>
            <a:r>
              <a:t>      "source_url": "https://datalab.visitkorea.or.kr/",</a:t>
            </a:r>
          </a:p>
          <a:p>
            <a:r>
              <a:t>      "case_region": "경상남도 통영시",</a:t>
            </a:r>
          </a:p>
          <a:p>
            <a:r>
              <a:t>      "source_type": "benchmark_case",</a:t>
            </a:r>
          </a:p>
          <a:p>
            <a:r>
              <a:t>      "dataset_hash": "ad20e3daf70fd44fd481d672398c07bb9c96fce77acb450784065a568735e2e2",</a:t>
            </a:r>
          </a:p>
          <a:p>
            <a:r>
              <a:t>      "intervention": "통영한산대첩축제",</a:t>
            </a:r>
          </a:p>
          <a:p>
            <a:r>
              <a:t>      "source_files": [</a:t>
            </a:r>
          </a:p>
          <a:p>
            <a:r>
              <a:t>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a:t>
            </a:r>
          </a:p>
          <a:p>
            <a:r>
              <a:t>          "sha256": "77b41103f7ab3a48a3a94baa36227391bc47069fafcf8cc68a36662ec60fd43d",</a:t>
            </a:r>
          </a:p>
          <a:p>
            <a:r>
              <a:t>          "provider": "한국관광 데이터랩",</a:t>
            </a:r>
          </a:p>
          <a:p>
            <a:r>
              <a:t>          "file_name": "20260820183544_통영한산대첩축제_성_연령별 내국인 방문자.csv",</a:t>
            </a:r>
          </a:p>
          <a:p>
            <a:r>
              <a:t>          "source_id": "festival-file:77b41103f7ab3a48a3a9",</a:t>
            </a:r>
          </a:p>
          <a:p>
            <a:r>
              <a:t>          "source_url": "https://datalab.visitkorea.or.kr/",</a:t>
            </a:r>
          </a:p>
          <a:p>
            <a:r>
              <a:t>          "downloaded_at": "2026-08-20",</a:t>
            </a:r>
          </a:p>
          <a:p>
            <a:r>
              <a:t>          "relative_path": "data/source_snapshots/festivals_20260820/81. 통영한산대첩축제_2023-2025/20260820183544_통영한산대첩축제_성_연령별 내국인 방문자.csv",</a:t>
            </a:r>
          </a:p>
          <a:p>
            <a:r>
              <a:t>          "provenance_status": "team_download_exact_query_url_unrecorded"</a:t>
            </a:r>
          </a:p>
          <a:p>
            <a:r>
              <a:t>        },</a:t>
            </a:r>
          </a:p>
          <a:p>
            <a:r>
              <a:t>        {</a:t>
            </a:r>
          </a:p>
          <a:p>
            <a:r>
              <a:t>          "sha256": "5457f819bd8704a9d5b81a24337c2a40c45bbcf7435e0a751139a5457627bdd4",</a:t>
            </a:r>
          </a:p>
          <a:p>
            <a:r>
              <a:t>          "provider": "한국관광 데이터랩",</a:t>
            </a:r>
          </a:p>
          <a:p>
            <a:r>
              <a:t>          "file_name": "20260820183544_통영한산대첩축제_문화관광축제 주요 지표.csv",</a:t>
            </a:r>
          </a:p>
          <a:p>
            <a:r>
              <a:t>          "source_id": "festival-file:5457f819bd8704a9d5b8",</a:t>
            </a:r>
          </a:p>
          <a:p>
            <a:r>
              <a:t>          "source_url": "https://datalab.visitkorea.or.kr/",</a:t>
            </a:r>
          </a:p>
          <a:p>
            <a:r>
              <a:t>          "downloaded_at": "2026-08-20",</a:t>
            </a:r>
          </a:p>
          <a:p>
            <a:r>
              <a:t>          "relative_path": "data/source_snapshots/festivals_20260820/81. 통영한산대첩축제_2023-2025/20260820183544_통영한산대첩축제_문화관광축제 주요 지표.csv",</a:t>
            </a:r>
          </a:p>
          <a:p>
            <a:r>
              <a:t>          "provenance_status": "team_download_exact_query_url_unrecorded"</a:t>
            </a:r>
          </a:p>
          <a:p>
            <a:r>
              <a:t>        },</a:t>
            </a:r>
          </a:p>
          <a:p>
            <a:r>
              <a:t>        {</a:t>
            </a:r>
          </a:p>
          <a:p>
            <a:r>
              <a:t>          "sha256": "3b2a6e862dd8337a7616d3cdb3f568c6fdb24be706918eb7f02d965d625ca746",</a:t>
            </a:r>
          </a:p>
          <a:p>
            <a:r>
              <a:t>          "provider": "한국관광 데이터랩",</a:t>
            </a:r>
          </a:p>
          <a:p>
            <a:r>
              <a:t>          "file_name": "20260820183544_통영한산대첩축제_목적지 검색순위.csv",</a:t>
            </a:r>
          </a:p>
          <a:p>
            <a:r>
              <a:t>          "source_id": "festival-file:3b2a6e862dd8337a7616",</a:t>
            </a:r>
          </a:p>
          <a:p>
            <a:r>
              <a:t>          "source_url": "https://datalab.visitkorea.or.kr/",</a:t>
            </a:r>
          </a:p>
          <a:p>
            <a:r>
              <a:t>          "downloaded_at": "2026-08-20",</a:t>
            </a:r>
          </a:p>
          <a:p>
            <a:r>
              <a:t>          "relative_path": "data/source_snapshots/festivals_20260820/81. 통영한산대첩축제_2023-2025/20260820183544_통영한산대첩축제_목적지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93,221→124,718명 (+33.79%). 개최 6→7일, 일평균 +14.67%, 외지인 +33.21%.",</a:t>
            </a:r>
          </a:p>
          <a:p>
            <a:r>
              <a:t>      "operating_model": "통영한산대첩축제를 2025년 7일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"지역문화",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"통영한산대첩축제",</a:t>
            </a:r>
          </a:p>
          <a:p>
            <a:r>
              <a:t>        "scope": "축제 관측구역 방문 지표. 도시 전체·순증 관광객·입장권 실구매자 수가 아님.",</a:t>
            </a:r>
          </a:p>
          <a:p>
            <a:r>
              <a:t>        "annual": [</a:t>
            </a:r>
          </a:p>
          <a:p>
            <a:r>
              <a:t>          {</a:t>
            </a:r>
          </a:p>
          <a:p>
            <a:r>
              <a:t>            "days": 9,</a:t>
            </a:r>
          </a:p>
          <a:p>
            <a:r>
              <a:t>            "year": 2023,</a:t>
            </a:r>
          </a:p>
          <a:p>
            <a:r>
              <a:t>            "daily": 11745.444444444443,</a:t>
            </a:r>
          </a:p>
          <a:p>
            <a:r>
              <a:t>            "local": 57810,</a:t>
            </a:r>
          </a:p>
          <a:p>
            <a:r>
              <a:t>            "total": 105709,</a:t>
            </a:r>
          </a:p>
          <a:p>
            <a:r>
              <a:t>            "foreign": 455,</a:t>
            </a:r>
          </a:p>
          <a:p>
            <a:r>
              <a:t>            "outside": 47444,</a:t>
            </a:r>
          </a:p>
          <a:p>
            <a:r>
              <a:t>            "outside_daily": 5271.555555555556,</a:t>
            </a:r>
          </a:p>
          <a:p>
            <a:r>
              <a:t>            "outside_share_pct": 44.88170354463669</a:t>
            </a:r>
          </a:p>
          <a:p>
            <a:r>
              <a:t>          },</a:t>
            </a:r>
          </a:p>
          <a:p>
            <a:r>
              <a:t>          {</a:t>
            </a:r>
          </a:p>
          <a:p>
            <a:r>
              <a:t>            "days": 6,</a:t>
            </a:r>
          </a:p>
          <a:p>
            <a:r>
              <a:t>            "year": 2024,</a:t>
            </a:r>
          </a:p>
          <a:p>
            <a:r>
              <a:t>            "daily": 15536.833333333334,</a:t>
            </a:r>
          </a:p>
          <a:p>
            <a:r>
              <a:t>            "local": 52493,</a:t>
            </a:r>
          </a:p>
          <a:p>
            <a:r>
              <a:t>            "total": 93221,</a:t>
            </a:r>
          </a:p>
          <a:p>
            <a:r>
              <a:t>            "foreign": 394,</a:t>
            </a:r>
          </a:p>
          <a:p>
            <a:r>
              <a:t>            "outside": 40334,</a:t>
            </a:r>
          </a:p>
          <a:p>
            <a:r>
              <a:t>            "outside_daily": 6722.333333333333,</a:t>
            </a:r>
          </a:p>
          <a:p>
            <a:r>
              <a:t>            "outside_share_pct": 43.26707501528625</a:t>
            </a:r>
          </a:p>
          <a:p>
            <a:r>
              <a:t>          },</a:t>
            </a:r>
          </a:p>
          <a:p>
            <a:r>
              <a:t>          {</a:t>
            </a:r>
          </a:p>
          <a:p>
            <a:r>
              <a:t>            "days": 7,</a:t>
            </a:r>
          </a:p>
          <a:p>
            <a:r>
              <a:t>            "year": 2025,</a:t>
            </a:r>
          </a:p>
          <a:p>
            <a:r>
              <a:t>            "daily": 17816.85714285714,</a:t>
            </a:r>
          </a:p>
          <a:p>
            <a:r>
              <a:t>            "local": 70201,</a:t>
            </a:r>
          </a:p>
          <a:p>
            <a:r>
              <a:t>            "total": 124718,</a:t>
            </a:r>
          </a:p>
          <a:p>
            <a:r>
              <a:t>            "foreign": 787,</a:t>
            </a:r>
          </a:p>
          <a:p>
            <a:r>
              <a:t>            "outside": 53730,</a:t>
            </a:r>
          </a:p>
          <a:p>
            <a:r>
              <a:t>            "outside_daily": 7675.714285714285,</a:t>
            </a:r>
          </a:p>
          <a:p>
            <a:r>
              <a:t>            "outside_share_pct": 43.08119116727337</a:t>
            </a:r>
          </a:p>
          <a:p>
            <a:r>
              <a:t>          }</a:t>
            </a:r>
          </a:p>
          <a:p>
            <a:r>
              <a:t>        ],</a:t>
            </a:r>
          </a:p>
          <a:p>
            <a:r>
              <a:t>        "audience": [</a:t>
            </a:r>
          </a:p>
          <a:p>
            <a:r>
              <a:t>          {</a:t>
            </a:r>
          </a:p>
          <a:p>
            <a:r>
              <a:t>            "연령대": "70세 이상",</a:t>
            </a:r>
          </a:p>
          <a:p>
            <a:r>
              <a:t>            "축제명": "통영한산대첩축제",</a:t>
            </a:r>
          </a:p>
          <a:p>
            <a:r>
              <a:t>            "남성비율": "5.2",</a:t>
            </a:r>
          </a:p>
          <a:p>
            <a:r>
              <a:t>            "여성비율": "5.7"</a:t>
            </a:r>
          </a:p>
          <a:p>
            <a:r>
              <a:t>          },</a:t>
            </a:r>
          </a:p>
          <a:p>
            <a:r>
              <a:t>          {</a:t>
            </a:r>
          </a:p>
          <a:p>
            <a:r>
              <a:t>            "연령대": "60~69세",</a:t>
            </a:r>
          </a:p>
          <a:p>
            <a:r>
              <a:t>            "축제명": "통영한산대첩축제",</a:t>
            </a:r>
          </a:p>
          <a:p>
            <a:r>
              <a:t>            "남성비율": "11.0",</a:t>
            </a:r>
          </a:p>
          <a:p>
            <a:r>
              <a:t>            "여성비율": "11.5"</a:t>
            </a:r>
          </a:p>
          <a:p>
            <a:r>
              <a:t>          },</a:t>
            </a:r>
          </a:p>
          <a:p>
            <a:r>
              <a:t>          {</a:t>
            </a:r>
          </a:p>
          <a:p>
            <a:r>
              <a:t>            "연령대": "50~59세",</a:t>
            </a:r>
          </a:p>
          <a:p>
            <a:r>
              <a:t>            "축제명": "통영한산대첩축제",</a:t>
            </a:r>
          </a:p>
          <a:p>
            <a:r>
              <a:t>            "남성비율": "11.1",</a:t>
            </a:r>
          </a:p>
          <a:p>
            <a:r>
              <a:t>            "여성비율": "10.9"</a:t>
            </a:r>
          </a:p>
          <a:p>
            <a:r>
              <a:t>          },</a:t>
            </a:r>
          </a:p>
          <a:p>
            <a:r>
              <a:t>          {</a:t>
            </a:r>
          </a:p>
          <a:p>
            <a:r>
              <a:t>            "연령대": "40~49세",</a:t>
            </a:r>
          </a:p>
          <a:p>
            <a:r>
              <a:t>            "축제명": "통영한산대첩축제",</a:t>
            </a:r>
          </a:p>
          <a:p>
            <a:r>
              <a:t>            "남성비율": "8.0",</a:t>
            </a:r>
          </a:p>
          <a:p>
            <a:r>
              <a:t>            "여성비율": "7.7"</a:t>
            </a:r>
          </a:p>
          <a:p>
            <a:r>
              <a:t>          },</a:t>
            </a:r>
          </a:p>
          <a:p>
            <a:r>
              <a:t>          {</a:t>
            </a:r>
          </a:p>
          <a:p>
            <a:r>
              <a:t>            "연령대": "30~39세",</a:t>
            </a:r>
          </a:p>
          <a:p>
            <a:r>
              <a:t>            "축제명": "통영한산대첩축제",</a:t>
            </a:r>
          </a:p>
          <a:p>
            <a:r>
              <a:t>            "남성비율": "6.3",</a:t>
            </a:r>
          </a:p>
          <a:p>
            <a:r>
              <a:t>            "여성비율": "5.6"</a:t>
            </a:r>
          </a:p>
          <a:p>
            <a:r>
              <a:t>          },</a:t>
            </a:r>
          </a:p>
          <a:p>
            <a:r>
              <a:t>          {</a:t>
            </a:r>
          </a:p>
          <a:p>
            <a:r>
              <a:t>            "연령대": "20~29세",</a:t>
            </a:r>
          </a:p>
          <a:p>
            <a:r>
              <a:t>            "축제명": "통영한산대첩축제",</a:t>
            </a:r>
          </a:p>
          <a:p>
            <a:r>
              <a:t>            "남성비율": "5.4",</a:t>
            </a:r>
          </a:p>
          <a:p>
            <a:r>
              <a:t>            "여성비율": "4.4"</a:t>
            </a:r>
          </a:p>
          <a:p>
            <a:r>
              <a:t>          },</a:t>
            </a:r>
          </a:p>
          <a:p>
            <a:r>
              <a:t>          {</a:t>
            </a:r>
          </a:p>
          <a:p>
            <a:r>
              <a:t>            "연령대": "10~19세",</a:t>
            </a:r>
          </a:p>
          <a:p>
            <a:r>
              <a:t>            "축제명": "통영한산대첩축제",</a:t>
            </a:r>
          </a:p>
          <a:p>
            <a:r>
              <a:t>            "남성비율": "2.8",</a:t>
            </a:r>
          </a:p>
          <a:p>
            <a:r>
              <a:t>            "여성비율": "3.1"</a:t>
            </a:r>
          </a:p>
          <a:p>
            <a:r>
              <a:t>          },</a:t>
            </a:r>
          </a:p>
          <a:p>
            <a:r>
              <a:t>          {</a:t>
            </a:r>
          </a:p>
          <a:p>
            <a:r>
              <a:t>            "연령대": "0~9세",</a:t>
            </a:r>
          </a:p>
          <a:p>
            <a:r>
              <a:t>            "축제명": "통영한산대첩축제",</a:t>
            </a:r>
          </a:p>
          <a:p>
            <a:r>
              <a:t>            "남성비율": "0.5",</a:t>
            </a:r>
          </a:p>
          <a:p>
            <a:r>
              <a:t>            "여성비율": "0.6"</a:t>
            </a:r>
          </a:p>
          <a:p>
            <a:r>
              <a:t>          }</a:t>
            </a:r>
          </a:p>
          <a:p>
            <a:r>
              <a:t>        ],</a:t>
            </a:r>
          </a:p>
          <a:p>
            <a:r>
              <a:t>        "comparison": {</a:t>
            </a:r>
          </a:p>
          <a:p>
            <a:r>
              <a:t>          "daily": {</a:t>
            </a:r>
          </a:p>
          <a:p>
            <a:r>
              <a:t>            "after": 17816.85714285714,</a:t>
            </a:r>
          </a:p>
          <a:p>
            <a:r>
              <a:t>            "before": 15536.833333333334,</a:t>
            </a:r>
          </a:p>
          <a:p>
            <a:r>
              <a:t>            "change_pct": 14.674958278867244,</a:t>
            </a:r>
          </a:p>
          <a:p>
            <a:r>
              <a:t>            "difference": 2280.0238095238074</a:t>
            </a:r>
          </a:p>
          <a:p>
            <a:r>
              <a:t>          },</a:t>
            </a:r>
          </a:p>
          <a:p>
            <a:r>
              <a:t>          "total": {</a:t>
            </a:r>
          </a:p>
          <a:p>
            <a:r>
              <a:t>            "after": 124718,</a:t>
            </a:r>
          </a:p>
          <a:p>
            <a:r>
              <a:t>            "before": 93221,</a:t>
            </a:r>
          </a:p>
          <a:p>
            <a:r>
              <a:t>            "change_pct": 33.78745132534515,</a:t>
            </a:r>
          </a:p>
          <a:p>
            <a:r>
              <a:t>            "difference": 31497</a:t>
            </a:r>
          </a:p>
          <a:p>
            <a:r>
              <a:t>          },</a:t>
            </a:r>
          </a:p>
          <a:p>
            <a:r>
              <a:t>          "outside": {</a:t>
            </a:r>
          </a:p>
          <a:p>
            <a:r>
              <a:t>            "after": 53730,</a:t>
            </a:r>
          </a:p>
          <a:p>
            <a:r>
              <a:t>            "before": 40334,</a:t>
            </a:r>
          </a:p>
          <a:p>
            <a:r>
              <a:t>            "change_pct": 33.21267417067486,</a:t>
            </a:r>
          </a:p>
          <a:p>
            <a:r>
              <a:t>            "difference": 13396</a:t>
            </a:r>
          </a:p>
          <a:p>
            <a:r>
              <a:t>          },</a:t>
            </a:r>
          </a:p>
          <a:p>
            <a:r>
              <a:t>          "after_days": 7,</a:t>
            </a:r>
          </a:p>
          <a:p>
            <a:r>
              <a:t>          "after_year": 2025,</a:t>
            </a:r>
          </a:p>
          <a:p>
            <a:r>
              <a:t>          "before_days": 6,</a:t>
            </a:r>
          </a:p>
          <a:p>
            <a:r>
              <a:t>          "before_year": 2024,</a:t>
            </a:r>
          </a:p>
          <a:p>
            <a:r>
              <a:t>          "outside_daily": {</a:t>
            </a:r>
          </a:p>
          <a:p>
            <a:r>
              <a:t>            "after": 7675.714285714285,</a:t>
            </a:r>
          </a:p>
          <a:p>
            <a:r>
              <a:t>            "before": 6722.333333333333,</a:t>
            </a:r>
          </a:p>
          <a:p>
            <a:r>
              <a:t>            "change_pct": 14.182292146292742,</a:t>
            </a:r>
          </a:p>
          <a:p>
            <a:r>
              <a:t>            "difference": 953.3809523809524</a:t>
            </a:r>
          </a:p>
          <a:p>
            <a:r>
              <a:t>          }</a:t>
            </a:r>
          </a:p>
          <a:p>
            <a:r>
              <a:t>        },</a:t>
            </a:r>
          </a:p>
          <a:p>
            <a:r>
              <a:t>        "source_file":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"0.309",</a:t>
            </a:r>
          </a:p>
          <a:p>
            <a:r>
              <a:t>            "축제명": "통영한산대첩축제",</a:t>
            </a:r>
          </a:p>
          <a:p>
            <a:r>
              <a:t>            "개최년도": "2025"</a:t>
            </a:r>
          </a:p>
          <a:p>
            <a:r>
              <a:t>          },</a:t>
            </a:r>
          </a:p>
          <a:p>
            <a:r>
              <a:t>          {</a:t>
            </a:r>
          </a:p>
          <a:p>
            <a:r>
              <a:t>            "구분명": "현지인방문자 유입",</a:t>
            </a:r>
          </a:p>
          <a:p>
            <a:r>
              <a:t>            "그룹명": "축제기간",</a:t>
            </a:r>
          </a:p>
          <a:p>
            <a:r>
              <a:t>            "지표값": "0.731",</a:t>
            </a:r>
          </a:p>
          <a:p>
            <a:r>
              <a:t>            "축제명": "통영한산대첩축제",</a:t>
            </a:r>
          </a:p>
          <a:p>
            <a:r>
              <a:t>            "개최년도": "2025"</a:t>
            </a:r>
          </a:p>
          <a:p>
            <a:r>
              <a:t>          },</a:t>
            </a:r>
          </a:p>
          <a:p>
            <a:r>
              <a:t>          {</a:t>
            </a:r>
          </a:p>
          <a:p>
            <a:r>
              <a:t>            "구분명": "내비게이션 검색량",</a:t>
            </a:r>
          </a:p>
          <a:p>
            <a:r>
              <a:t>            "그룹명": "축제기간",</a:t>
            </a:r>
          </a:p>
          <a:p>
            <a:r>
              <a:t>            "지표값": "0.228",</a:t>
            </a:r>
          </a:p>
          <a:p>
            <a:r>
              <a:t>            "축제명": "통영한산대첩축제",</a:t>
            </a:r>
          </a:p>
          <a:p>
            <a:r>
              <a:t>            "개최년도": "2025"</a:t>
            </a:r>
          </a:p>
          <a:p>
            <a:r>
              <a:t>          },</a:t>
            </a:r>
          </a:p>
          <a:p>
            <a:r>
              <a:t>          {</a:t>
            </a:r>
          </a:p>
          <a:p>
            <a:r>
              <a:t>            "구분명": "관광소비",</a:t>
            </a:r>
          </a:p>
          <a:p>
            <a:r>
              <a:t>            "그룹명": "축제기간",</a:t>
            </a:r>
          </a:p>
          <a:p>
            <a:r>
              <a:t>            "지표값": "0.313",</a:t>
            </a:r>
          </a:p>
          <a:p>
            <a:r>
              <a:t>            "축제명": "통영한산대첩축제",</a:t>
            </a:r>
          </a:p>
          <a:p>
            <a:r>
              <a:t>            "개최년도": "2025"</a:t>
            </a:r>
          </a:p>
          <a:p>
            <a:r>
              <a:t>          },</a:t>
            </a:r>
          </a:p>
          <a:p>
            <a:r>
              <a:t>          {</a:t>
            </a:r>
          </a:p>
          <a:p>
            <a:r>
              <a:t>            "구분명": "축제지 집중률",</a:t>
            </a:r>
          </a:p>
          <a:p>
            <a:r>
              <a:t>            "그룹명": "축제기간",</a:t>
            </a:r>
          </a:p>
          <a:p>
            <a:r>
              <a:t>            "지표값": "0.766",</a:t>
            </a:r>
          </a:p>
          <a:p>
            <a:r>
              <a:t>            "축제명": "통영한산대첩축제",</a:t>
            </a:r>
          </a:p>
          <a:p>
            <a:r>
              <a:t>            "개최년도": "2025"</a:t>
            </a:r>
          </a:p>
          <a:p>
            <a:r>
              <a:t>          },</a:t>
            </a:r>
          </a:p>
          <a:p>
            <a:r>
              <a:t>          {</a:t>
            </a:r>
          </a:p>
          <a:p>
            <a:r>
              <a:t>            "구분명": "외부방문자 유입",</a:t>
            </a:r>
          </a:p>
          <a:p>
            <a:r>
              <a:t>            "그룹명": "비축제기간",</a:t>
            </a:r>
          </a:p>
          <a:p>
            <a:r>
              <a:t>            "지표값": "0.244",</a:t>
            </a:r>
          </a:p>
          <a:p>
            <a:r>
              <a:t>            "축제명": "통영한산대첩축제",</a:t>
            </a:r>
          </a:p>
          <a:p>
            <a:r>
              <a:t>            "개최년도": "2025"</a:t>
            </a:r>
          </a:p>
          <a:p>
            <a:r>
              <a:t>          },</a:t>
            </a:r>
          </a:p>
          <a:p>
            <a:r>
              <a:t>          {</a:t>
            </a:r>
          </a:p>
          <a:p>
            <a:r>
              <a:t>            "구분명": "현지인방문자 유입",</a:t>
            </a:r>
          </a:p>
          <a:p>
            <a:r>
              <a:t>            "그룹명": "비축제기간",</a:t>
            </a:r>
          </a:p>
          <a:p>
            <a:r>
              <a:t>            "지표값": "0.586",</a:t>
            </a:r>
          </a:p>
          <a:p>
            <a:r>
              <a:t>            "축제명": "통영한산대첩축제",</a:t>
            </a:r>
          </a:p>
          <a:p>
            <a:r>
              <a:t>            "개최년도": "2025"</a:t>
            </a:r>
          </a:p>
          <a:p>
            <a:r>
              <a:t>          },</a:t>
            </a:r>
          </a:p>
          <a:p>
            <a:r>
              <a:t>          {</a:t>
            </a:r>
          </a:p>
          <a:p>
            <a:r>
              <a:t>            "구분명": "내비게이션 검색량",</a:t>
            </a:r>
          </a:p>
          <a:p>
            <a:r>
              <a:t>            "그룹명": "비축제기간",</a:t>
            </a:r>
          </a:p>
          <a:p>
            <a:r>
              <a:t>            "지표값": "0.206",</a:t>
            </a:r>
          </a:p>
          <a:p>
            <a:r>
              <a:t>            "축제명": "통영한산대첩축제",</a:t>
            </a:r>
          </a:p>
          <a:p>
            <a:r>
              <a:t>            "개최년도": "2025"</a:t>
            </a:r>
          </a:p>
          <a:p>
            <a:r>
              <a:t>          },</a:t>
            </a:r>
          </a:p>
          <a:p>
            <a:r>
              <a:t>          {</a:t>
            </a:r>
          </a:p>
          <a:p>
            <a:r>
              <a:t>            "구분명": "관광소비",</a:t>
            </a:r>
          </a:p>
          <a:p>
            <a:r>
              <a:t>            "그룹명": "비축제기간",</a:t>
            </a:r>
          </a:p>
          <a:p>
            <a:r>
              <a:t>            "지표값": "0.312",</a:t>
            </a:r>
          </a:p>
          <a:p>
            <a:r>
              <a:t>            "축제명": "통영한산대첩축제",</a:t>
            </a:r>
          </a:p>
          <a:p>
            <a:r>
              <a:t>            "개최년도": "2025"</a:t>
            </a:r>
          </a:p>
          <a:p>
            <a:r>
              <a:t>          },</a:t>
            </a:r>
          </a:p>
          <a:p>
            <a:r>
              <a:t>          {</a:t>
            </a:r>
          </a:p>
          <a:p>
            <a:r>
              <a:t>            "구분명": "축제지 집중률",</a:t>
            </a:r>
          </a:p>
          <a:p>
            <a:r>
              <a:t>            "그룹명": "비축제기간",</a:t>
            </a:r>
          </a:p>
          <a:p>
            <a:r>
              <a:t>            "지표값": "0.595",</a:t>
            </a:r>
          </a:p>
          <a:p>
            <a:r>
              <a:t>            "축제명": "통영한산대첩축제",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"통영중앙전통시장",</a:t>
            </a:r>
          </a:p>
          <a:p>
            <a:r>
              <a:t>            "카테고리": "시장",</a:t>
            </a:r>
          </a:p>
          <a:p>
            <a:r>
              <a:t>            "도로명주소": "경남 통영시 중앙시장1길 14-16"</a:t>
            </a:r>
          </a:p>
          <a:p>
            <a:r>
              <a:t>          },</a:t>
            </a:r>
          </a:p>
          <a:p>
            <a:r>
              <a:t>          {</a:t>
            </a:r>
          </a:p>
          <a:p>
            <a:r>
              <a:t>            "구분": "외지인",</a:t>
            </a:r>
          </a:p>
          <a:p>
            <a:r>
              <a:t>            "순위": "2",</a:t>
            </a:r>
          </a:p>
          <a:p>
            <a:r>
              <a:t>            "목적지명": "동피랑벽화마을",</a:t>
            </a:r>
          </a:p>
          <a:p>
            <a:r>
              <a:t>            "카테고리": "기타관광",</a:t>
            </a:r>
          </a:p>
          <a:p>
            <a:r>
              <a:t>            "도로명주소": "경남 통영시 동피랑1길 6-18"</a:t>
            </a:r>
          </a:p>
          <a:p>
            <a:r>
              <a:t>          },</a:t>
            </a:r>
          </a:p>
          <a:p>
            <a:r>
              <a:t>          {</a:t>
            </a:r>
          </a:p>
          <a:p>
            <a:r>
              <a:t>            "구분": "외지인",</a:t>
            </a:r>
          </a:p>
          <a:p>
            <a:r>
              <a:t>            "순위": "3",</a:t>
            </a:r>
          </a:p>
          <a:p>
            <a:r>
              <a:t>            "목적지명": "통영한산대첩축제(한산대첩광장)",</a:t>
            </a:r>
          </a:p>
          <a:p>
            <a:r>
              <a:t>            "카테고리": "기타문화관광지",</a:t>
            </a:r>
          </a:p>
          <a:p>
            <a:r>
              <a:t>            "도로명주소": "경남 통영시 통영해안로 267-0"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0.041516887084911594,</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"지역 상품권 환급액 = 적격 신청의 min(증빙 인정 지출액 × 10%, 건별 상한 50,000원)의 합산 (단가 및 총 예산은 참여 업체 수와 예상 신청 건수에 따라 확정 필요)",</a:t>
            </a:r>
          </a:p>
          <a:p>
            <a:r>
              <a:t>        "본문 기준"</a:t>
            </a:r>
          </a:p>
          <a:p>
            <a:r>
              <a:t>      ]</a:t>
            </a:r>
          </a:p>
          <a:p>
            <a:r>
              <a:t>    ],</a:t>
            </a:r>
          </a:p>
          <a:p>
            <a:r>
              <a:t>    "original_text": "지역 상품권 환급액 = 적격 신청의 min(증빙 인정 지출액 × 10%, 건별 상한 50,000원)의 합산 (단가 및 총 예산은 참여 업체 수와 예상 신청 건수에 따라 확정 필요)",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"observed_findings": [</a:t>
            </a:r>
          </a:p>
          <a:p>
            <a:r>
              <a:t>    {</a:t>
            </a:r>
          </a:p>
          <a:p>
            <a:r>
              <a:t>      "value": "4,619,168명",</a:t>
            </a:r>
          </a:p>
          <a:p>
            <a:r>
              <a:t>      "metric": "월간 순 방문자 수",</a:t>
            </a:r>
          </a:p>
          <a:p>
            <a:r>
              <a:t>      "source": "dataset:30170:1",</a:t>
            </a:r>
          </a:p>
          <a:p>
            <a:r>
              <a:t>      "interpretation": "2026년 6월 기준 관측치이며, 전년 동월 대비 -3.5% 감소 추세입니다."</a:t>
            </a:r>
          </a:p>
          <a:p>
            <a:r>
              <a:t>    },</a:t>
            </a:r>
          </a:p>
          <a:p>
            <a:r>
              <a:t>    {</a:t>
            </a:r>
          </a:p>
          <a:p>
            <a:r>
              <a:t>      "value": "76,758,413,000원",</a:t>
            </a:r>
          </a:p>
          <a:p>
            <a:r>
              <a:t>      "metric": "외지인 관광소비 총액",</a:t>
            </a:r>
          </a:p>
          <a:p>
            <a:r>
              <a:t>      "source": "dataset:30170:3",</a:t>
            </a:r>
          </a:p>
          <a:p>
            <a:r>
              <a:t>      "interpretation": "2026년 6월 기준 외지인 소비 규모로, 지역 내 소비 유도를 위한 잠재적 기반입니다."</a:t>
            </a:r>
          </a:p>
          <a:p>
            <a:r>
              <a:t>    },</a:t>
            </a:r>
          </a:p>
          <a:p>
            <a:r>
              <a:t>    {</a:t>
            </a:r>
          </a:p>
          <a:p>
            <a:r>
              <a:t>      "value": "6.7%",</a:t>
            </a:r>
          </a:p>
          <a:p>
            <a:r>
              <a:t>      "metric": "외지인 숙박 방문 비율",</a:t>
            </a:r>
          </a:p>
          <a:p>
            <a:r>
              <a:t>      "source": "dataset:30170:4",</a:t>
            </a:r>
          </a:p>
          <a:p>
            <a:r>
              <a:t>      "interpretation": "숙박 방문 비중이 낮아 체류형 관광 확대를 위한 전략적 개입이 필요할 수 있습니다."</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246,416,761,876원 (추가 51,489,206원,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않습니다.\n8개 × 월 20일 × 2개월 × 하루 1회 × 회당 20명 = 6,400명분 → 편성 참여 한도 6,400건.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246416761876.0,</a:t>
            </a:r>
          </a:p>
          <a:p>
            <a:r>
              <a:t>        "additional": 51489206.0,</a:t>
            </a:r>
          </a:p>
          <a:p>
            <a:r>
              <a:t>        "pct": 0.020899538900920334</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"selection_reason": "지역 상품권 환급 프로그램은 'case:gangjin_half_price_2024' 사례와 유사한 방식으로, 대전광역시 서구의 외지인 관광소비 총액을 기반으로 설계할 수 있으며, 지역 내 소비를 유도할 수 있는 잠재력이 있습니다. 이는 'case:kto_stay_discount_2022' 사례와 비교하여, 지역 상품권 환급 방식이 더 적합하다고 판단됩니다.",</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"estimate": {</a:t>
            </a:r>
          </a:p>
          <a:p>
            <a:r>
              <a:t>      "version": "operating-capacity-v3-launch-schedule",</a:t>
            </a:r>
          </a:p>
          <a:p>
            <a:r>
              <a:t>      "status": "planning_assumption_not_quote",</a:t>
            </a:r>
          </a:p>
          <a:p>
            <a:r>
              <a:t>      "scale_basis": "8개 × 월 20일 × 2개월 × 하루 1회 × 회당 20명 = 6,400명분 → 편성 참여 한도 6,400건. 모든 단가는 기획 가정.",</a:t>
            </a:r>
          </a:p>
          <a:p>
            <a:r>
              <a:t>      "months": 2,</a:t>
            </a:r>
          </a:p>
          <a:p>
            <a:r>
              <a:t>      "refund": true,</a:t>
            </a:r>
          </a:p>
          <a:p>
            <a:r>
              <a:t>      "quantity": 6400,</a:t>
            </a:r>
          </a:p>
          <a:p>
            <a:r>
              <a:t>      "unit_krw": 50000,</a:t>
            </a:r>
          </a:p>
          <a:p>
            <a:r>
              <a:t>      "redemption_target_pct": 75.0,</a:t>
            </a:r>
          </a:p>
          <a:p>
            <a:r>
              <a:t>      "redemption_count": 4800,</a:t>
            </a:r>
          </a:p>
          <a:p>
            <a:r>
              <a:t>      "qualifying_spend_krw": null,</a:t>
            </a:r>
          </a:p>
          <a:p>
            <a:r>
              <a:t>      "subtotal_krw": 384000000,</a:t>
            </a:r>
          </a:p>
          <a:p>
            <a:r>
              <a:t>      "reserve_krw": 38400000,</a:t>
            </a:r>
          </a:p>
          <a:p>
            <a:r>
              <a:t>      "total_krw": 422400000,</a:t>
            </a:r>
          </a:p>
          <a:p>
            <a:r>
              <a:t>      "within_hard_budget": true,</a:t>
            </a:r>
          </a:p>
          <a:p>
            <a:r>
              <a:t>      "items": [</a:t>
            </a:r>
          </a:p>
          <a:p>
            <a:r>
              <a:t>        {</a:t>
            </a:r>
          </a:p>
          <a:p>
            <a:r>
              <a:t>          "name": "여행비 환급 지원",</a:t>
            </a:r>
          </a:p>
          <a:p>
            <a:r>
              <a:t>          "basis": "편성 참여 한도 6,400건 × 가정 단가 50,000원",</a:t>
            </a:r>
          </a:p>
          <a:p>
            <a:r>
              <a:t>          "amount": 320000000</a:t>
            </a:r>
          </a:p>
          <a:p>
            <a:r>
              <a:t>        },</a:t>
            </a:r>
          </a:p>
          <a:p>
            <a:r>
              <a:t>        {</a:t>
            </a:r>
          </a:p>
          <a:p>
            <a:r>
              <a:t>          "name": "현장 운영·정산",</a:t>
            </a:r>
          </a:p>
          <a:p>
            <a:r>
              <a:t>          "basis": "8개 거점 × 월 20일 × 2개월 × 150,000원",</a:t>
            </a:r>
          </a:p>
          <a:p>
            <a:r>
              <a:t>          "amount": 48000000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384,000,000원 × 10%",</a:t>
            </a:r>
          </a:p>
          <a:p>
            <a:r>
              <a:t>          "amount": 38400000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"operating-capacity-v3-launch-schedule",</a:t>
            </a:r>
          </a:p>
          <a:p>
            <a:r>
              <a:t>  "status": "proposed",</a:t>
            </a:r>
          </a:p>
          <a:p>
            <a:r>
              <a:t>  "minimum_operating_budget_krw": 70400000,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"existing_participant_extra_spend_krw": 8251.4753322809,</a:t>
            </a:r>
          </a:p>
          <a:p>
            <a:r>
              <a:t>  "spending_formula": "추가 방문 × (ML 소비 합계 ÷ ML 방문 합계) + 기존 방문 참여 × 추가 구매 가정액",</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45548144,</a:t>
            </a:r>
          </a:p>
          <a:p>
            <a:r>
              <a:t>      "visitor_growth_pct": 0.004822970522473067,</a:t>
            </a:r>
          </a:p>
          <a:p>
            <a:r>
              <a:t>      "spending_growth_pct": 0.018488053736782365,</a:t>
            </a:r>
          </a:p>
          <a:p>
            <a:r>
              <a:t>      "visitor_target_pct": 0.009651724233616231,</a:t>
            </a:r>
          </a:p>
          <a:p>
            <a:r>
              <a:t>      "spending_target_pct": 0.03672647722272691</a:t>
            </a:r>
          </a:p>
          <a:p>
            <a:r>
              <a:t>    },</a:t>
            </a:r>
          </a:p>
          <a:p>
            <a:r>
              <a:t>    {</a:t>
            </a:r>
          </a:p>
          <a:p>
            <a:r>
              <a:t>      "label": "기준",</a:t>
            </a:r>
          </a:p>
          <a:p>
            <a:r>
              <a:t>      "utilization_pct": 75.0,</a:t>
            </a:r>
          </a:p>
          <a:p>
            <a:r>
              <a:t>      "additional_visitor_share_pct": 30.0,</a:t>
            </a:r>
          </a:p>
          <a:p>
            <a:r>
              <a:t>      "participants": 4800,</a:t>
            </a:r>
          </a:p>
          <a:p>
            <a:r>
              <a:t>      "additional_visitors": 1440,</a:t>
            </a:r>
          </a:p>
          <a:p>
            <a:r>
              <a:t>      "additional_spending_krw": 51489206,</a:t>
            </a:r>
          </a:p>
          <a:p>
            <a:r>
              <a:t>      "visitor_growth_pct": 0.009645941044946134,</a:t>
            </a:r>
          </a:p>
          <a:p>
            <a:r>
              <a:t>      "spending_growth_pct": 0.020899538900910144,</a:t>
            </a:r>
          </a:p>
          <a:p>
            <a:r>
              <a:t>      "visitor_target_pct": 0.019303448467232462,</a:t>
            </a:r>
          </a:p>
          <a:p>
            <a:r>
              <a:t>      "spending_target_pct": 0.041516887084911594</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68908070,</a:t>
            </a:r>
          </a:p>
          <a:p>
            <a:r>
              <a:t>      "visitor_growth_pct": 0.01735599531073294,</a:t>
            </a:r>
          </a:p>
          <a:p>
            <a:r>
              <a:t>      "spending_growth_pct": 0.027969879542357662,</a:t>
            </a:r>
          </a:p>
          <a:p>
            <a:r>
              <a:t>      "visitor_target_pct": 0.03473280206847174,</a:t>
            </a:r>
          </a:p>
          <a:p>
            <a:r>
              <a:t>      "spending_target_pct": 0.05556210288869447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51489206,</a:t>
            </a:r>
          </a:p>
          <a:p>
            <a:r>
              <a:t>    "visitor_growth_pct": 0.009645941044946134,</a:t>
            </a:r>
          </a:p>
          <a:p>
            <a:r>
              <a:t>    "spending_growth_pct": 0.020899538900910144,</a:t>
            </a:r>
          </a:p>
          <a:p>
            <a:r>
              <a:t>    "visitor_target_pct": 0.019303448467232462,</a:t>
            </a:r>
          </a:p>
          <a:p>
            <a:r>
              <a:t>    "spending_target_pct": 0.041516887084911594</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"case:gangjin_half_price_2024",</a:t>
            </a:r>
          </a:p>
          <a:p>
            <a:r>
              <a:t>      "title": "강진 반값여행 지역경제 효과 소개",</a:t>
            </a:r>
          </a:p>
          <a:p>
            <a:r>
              <a:t>      "source_url": "https://jnfarm.jeonnam.go.kr/board/FARM_BOARD_008/boardView.do?bdId=BD_00000000000011721&amp;menuCd=farm004002",</a:t>
            </a:r>
          </a:p>
          <a:p>
            <a:r>
              <a:t>      "operating_model": "여행자가 지역에서 지출한 비용의 일부를 지역상품권으로 돌려받게 하여 혜택이 다시 지역 상점에서 사용되도록 설계",</a:t>
            </a:r>
          </a:p>
          <a:p>
            <a:r>
              <a:t>      "observed_result": "상품권 결제 변화에 관한 소개 자료는 있으나, 사업 참여자 범위·정확한 비교 기간·원자료를 확인하지 못해 성과 수치 인용을 보류한다."</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"operating-capacity-v3-launch-schedule",</a:t>
            </a:r>
          </a:p>
          <a:p>
            <a:r>
              <a:t>    "status": "planning_assumption_not_quote",</a:t>
            </a:r>
          </a:p>
          <a:p>
            <a:r>
              <a:t>    "scale_basis": "8개 × 월 20일 × 2개월 × 하루 1회 × 회당 20명 = 6,400명분 → 편성 참여 한도 6,400건. 모든 단가는 기획 가정.",</a:t>
            </a:r>
          </a:p>
          <a:p>
            <a:r>
              <a:t>    "months": 2,</a:t>
            </a:r>
          </a:p>
          <a:p>
            <a:r>
              <a:t>    "refund": true,</a:t>
            </a:r>
          </a:p>
          <a:p>
            <a:r>
              <a:t>    "quantity": 6400,</a:t>
            </a:r>
          </a:p>
          <a:p>
            <a:r>
              <a:t>    "unit_krw": 50000,</a:t>
            </a:r>
          </a:p>
          <a:p>
            <a:r>
              <a:t>    "redemption_target_pct": 75.0,</a:t>
            </a:r>
          </a:p>
          <a:p>
            <a:r>
              <a:t>    "redemption_count": 4800,</a:t>
            </a:r>
          </a:p>
          <a:p>
            <a:r>
              <a:t>    "qualifying_spend_krw": null,</a:t>
            </a:r>
          </a:p>
          <a:p>
            <a:r>
              <a:t>    "subtotal_krw": 384000000,</a:t>
            </a:r>
          </a:p>
          <a:p>
            <a:r>
              <a:t>    "reserve_krw": 38400000,</a:t>
            </a:r>
          </a:p>
          <a:p>
            <a:r>
              <a:t>    "total_krw": 422400000,</a:t>
            </a:r>
          </a:p>
          <a:p>
            <a:r>
              <a:t>    "within_hard_budget": true,</a:t>
            </a:r>
          </a:p>
          <a:p>
            <a:r>
              <a:t>    "items": [</a:t>
            </a:r>
          </a:p>
          <a:p>
            <a:r>
              <a:t>      {</a:t>
            </a:r>
          </a:p>
          <a:p>
            <a:r>
              <a:t>        "name": "여행비 환급 지원",</a:t>
            </a:r>
          </a:p>
          <a:p>
            <a:r>
              <a:t>        "basis": "편성 참여 한도 6,400건 × 가정 단가 50,000원",</a:t>
            </a:r>
          </a:p>
          <a:p>
            <a:r>
              <a:t>        "amount": 320000000</a:t>
            </a:r>
          </a:p>
          <a:p>
            <a:r>
              <a:t>      },</a:t>
            </a:r>
          </a:p>
          <a:p>
            <a:r>
              <a:t>      {</a:t>
            </a:r>
          </a:p>
          <a:p>
            <a:r>
              <a:t>        "name": "현장 운영·정산",</a:t>
            </a:r>
          </a:p>
          <a:p>
            <a:r>
              <a:t>        "basis": "8개 거점 × 월 20일 × 2개월 × 150,000원",</a:t>
            </a:r>
          </a:p>
          <a:p>
            <a:r>
              <a:t>        "amount": 48000000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384,000,000원 × 10%",</a:t>
            </a:r>
          </a:p>
          <a:p>
            <a:r>
              <a:t>        "amount": 38400000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"operating-capacity-v3-launch-schedule",</a:t>
            </a:r>
          </a:p>
          <a:p>
            <a:r>
              <a:t>  "status": "proposed",</a:t>
            </a:r>
          </a:p>
          <a:p>
            <a:r>
              <a:t>  "minimum_operating_budget_krw": 70400000,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"existing_participant_extra_spend_krw": 8251.4753322809,</a:t>
            </a:r>
          </a:p>
          <a:p>
            <a:r>
              <a:t>  "spending_formula": "추가 방문 × (ML 소비 합계 ÷ ML 방문 합계) + 기존 방문 참여 × 추가 구매 가정액",</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45548144,</a:t>
            </a:r>
          </a:p>
          <a:p>
            <a:r>
              <a:t>      "visitor_growth_pct": 0.004822970522473067,</a:t>
            </a:r>
          </a:p>
          <a:p>
            <a:r>
              <a:t>      "spending_growth_pct": 0.018488053736782365,</a:t>
            </a:r>
          </a:p>
          <a:p>
            <a:r>
              <a:t>      "visitor_target_pct": 0.009651724233616231,</a:t>
            </a:r>
          </a:p>
          <a:p>
            <a:r>
              <a:t>      "spending_target_pct": 0.03672647722272691</a:t>
            </a:r>
          </a:p>
          <a:p>
            <a:r>
              <a:t>    },</a:t>
            </a:r>
          </a:p>
          <a:p>
            <a:r>
              <a:t>    {</a:t>
            </a:r>
          </a:p>
          <a:p>
            <a:r>
              <a:t>      "label": "기준",</a:t>
            </a:r>
          </a:p>
          <a:p>
            <a:r>
              <a:t>      "utilization_pct": 75.0,</a:t>
            </a:r>
          </a:p>
          <a:p>
            <a:r>
              <a:t>      "additional_visitor_share_pct": 30.0,</a:t>
            </a:r>
          </a:p>
          <a:p>
            <a:r>
              <a:t>      "participants": 4800,</a:t>
            </a:r>
          </a:p>
          <a:p>
            <a:r>
              <a:t>      "additional_visitors": 1440,</a:t>
            </a:r>
          </a:p>
          <a:p>
            <a:r>
              <a:t>      "additional_spending_krw": 51489206,</a:t>
            </a:r>
          </a:p>
          <a:p>
            <a:r>
              <a:t>      "visitor_growth_pct": 0.009645941044946134,</a:t>
            </a:r>
          </a:p>
          <a:p>
            <a:r>
              <a:t>      "spending_growth_pct": 0.020899538900910144,</a:t>
            </a:r>
          </a:p>
          <a:p>
            <a:r>
              <a:t>      "visitor_target_pct": 0.019303448467232462,</a:t>
            </a:r>
          </a:p>
          <a:p>
            <a:r>
              <a:t>      "spending_target_pct": 0.041516887084911594</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68908070,</a:t>
            </a:r>
          </a:p>
          <a:p>
            <a:r>
              <a:t>      "visitor_growth_pct": 0.01735599531073294,</a:t>
            </a:r>
          </a:p>
          <a:p>
            <a:r>
              <a:t>      "spending_growth_pct": 0.027969879542357662,</a:t>
            </a:r>
          </a:p>
          <a:p>
            <a:r>
              <a:t>      "visitor_target_pct": 0.03473280206847174,</a:t>
            </a:r>
          </a:p>
          <a:p>
            <a:r>
              <a:t>      "spending_target_pct": 0.05556210288869447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51489206,</a:t>
            </a:r>
          </a:p>
          <a:p>
            <a:r>
              <a:t>    "visitor_growth_pct": 0.009645941044946134,</a:t>
            </a:r>
          </a:p>
          <a:p>
            <a:r>
              <a:t>    "spending_growth_pct": 0.020899538900910144,</a:t>
            </a:r>
          </a:p>
          <a:p>
            <a:r>
              <a:t>    "visitor_target_pct": 0.019303448467232462,</a:t>
            </a:r>
          </a:p>
          <a:p>
            <a:r>
              <a:t>    "spending_target_pct": 0.041516887084911594</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"case:gangjin_half_price_2024",</a:t>
            </a:r>
          </a:p>
          <a:p>
            <a:r>
              <a:t>      "title": "강진 반값여행 지역경제 효과 소개",</a:t>
            </a:r>
          </a:p>
          <a:p>
            <a:r>
              <a:t>      "source_url": "https://jnfarm.jeonnam.go.kr/board/FARM_BOARD_008/boardView.do?bdId=BD_00000000000011721&amp;menuCd=farm004002",</a:t>
            </a:r>
          </a:p>
          <a:p>
            <a:r>
              <a:t>      "operating_model": "여행자가 지역에서 지출한 비용의 일부를 지역상품권으로 돌려받게 하여 혜택이 다시 지역 상점에서 사용되도록 설계",</a:t>
            </a:r>
          </a:p>
          <a:p>
            <a:r>
              <a:t>      "observed_result": "상품권 결제 변화에 관한 소개 자료는 있으나, 사업 참여자 범위·정확한 비교 기간·원자료를 확인하지 못해 성과 수치 인용을 보류한다."</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"operating-capacity-v3-launch-schedule",</a:t>
            </a:r>
          </a:p>
          <a:p>
            <a:r>
              <a:t>    "status": "planning_assumption_not_quote",</a:t>
            </a:r>
          </a:p>
          <a:p>
            <a:r>
              <a:t>    "scale_basis": "8개 × 월 20일 × 2개월 × 하루 1회 × 회당 20명 = 6,400명분 → 편성 참여 한도 6,400건. 모든 단가는 기획 가정.",</a:t>
            </a:r>
          </a:p>
          <a:p>
            <a:r>
              <a:t>    "months": 2,</a:t>
            </a:r>
          </a:p>
          <a:p>
            <a:r>
              <a:t>    "refund": true,</a:t>
            </a:r>
          </a:p>
          <a:p>
            <a:r>
              <a:t>    "quantity": 6400,</a:t>
            </a:r>
          </a:p>
          <a:p>
            <a:r>
              <a:t>    "unit_krw": 50000,</a:t>
            </a:r>
          </a:p>
          <a:p>
            <a:r>
              <a:t>    "redemption_target_pct": 75.0,</a:t>
            </a:r>
          </a:p>
          <a:p>
            <a:r>
              <a:t>    "redemption_count": 4800,</a:t>
            </a:r>
          </a:p>
          <a:p>
            <a:r>
              <a:t>    "qualifying_spend_krw": null,</a:t>
            </a:r>
          </a:p>
          <a:p>
            <a:r>
              <a:t>    "subtotal_krw": 384000000,</a:t>
            </a:r>
          </a:p>
          <a:p>
            <a:r>
              <a:t>    "reserve_krw": 38400000,</a:t>
            </a:r>
          </a:p>
          <a:p>
            <a:r>
              <a:t>    "total_krw": 422400000,</a:t>
            </a:r>
          </a:p>
          <a:p>
            <a:r>
              <a:t>    "within_hard_budget": true,</a:t>
            </a:r>
          </a:p>
          <a:p>
            <a:r>
              <a:t>    "items": [</a:t>
            </a:r>
          </a:p>
          <a:p>
            <a:r>
              <a:t>      {</a:t>
            </a:r>
          </a:p>
          <a:p>
            <a:r>
              <a:t>        "name": "여행비 환급 지원",</a:t>
            </a:r>
          </a:p>
          <a:p>
            <a:r>
              <a:t>        "basis": "편성 참여 한도 6,400건 × 가정 단가 50,000원",</a:t>
            </a:r>
          </a:p>
          <a:p>
            <a:r>
              <a:t>        "amount": 320000000</a:t>
            </a:r>
          </a:p>
          <a:p>
            <a:r>
              <a:t>      },</a:t>
            </a:r>
          </a:p>
          <a:p>
            <a:r>
              <a:t>      {</a:t>
            </a:r>
          </a:p>
          <a:p>
            <a:r>
              <a:t>        "name": "현장 운영·정산",</a:t>
            </a:r>
          </a:p>
          <a:p>
            <a:r>
              <a:t>        "basis": "8개 거점 × 월 20일 × 2개월 × 150,000원",</a:t>
            </a:r>
          </a:p>
          <a:p>
            <a:r>
              <a:t>        "amount": 48000000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384,000,000원 × 10%",</a:t>
            </a:r>
          </a:p>
          <a:p>
            <a:r>
              <a:t>        "amount": 38400000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5.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1721&amp;menuCd=farm004002" TargetMode="External"/><Relationship Id="rId7" Type="http://schemas.openxmlformats.org/officeDocument/2006/relationships/image" Target="../media/image2.jpg"/><Relationship Id="rId8" Type="http://schemas.openxmlformats.org/officeDocument/2006/relationships/hyperlink" Target="https://isum.incheon.go.kr/theme/themeContent.do?key=2407020018" TargetMode="External"/><Relationship Id="rId9" Type="http://schemas.openxmlformats.org/officeDocument/2006/relationships/hyperlink" Target="https://kto.visitkorea.or.kr/upload/flexer/upload/ktobiz/20220928/b623b5f9-3ec0-11ed-9832-ddf31964842e.hwp.files/Sections1.html" TargetMode="External"/><Relationship Id="rId10" Type="http://schemas.openxmlformats.org/officeDocument/2006/relationships/hyperlink" Target="https://datalab.visitkorea.or.k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0.xml"/><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nfarm.jeonnam.go.kr/board/FARM_BOARD_008/boardView.do?bdId=BD_00000000000011721&amp;menuCd=farm004002" TargetMode="External"/><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notesSlide" Target="../notesSlides/notesSlide15.xml"/><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 Id="rId18" Type="http://schemas.openxmlformats.org/officeDocument/2006/relationships/image" Target="../media/image26.png"/><Relationship Id="rId19" Type="http://schemas.openxmlformats.org/officeDocument/2006/relationships/image" Target="../media/image27.png"/><Relationship Id="rId20" Type="http://schemas.openxmlformats.org/officeDocument/2006/relationships/image" Target="../media/image28.png"/><Relationship Id="rId21" Type="http://schemas.openxmlformats.org/officeDocument/2006/relationships/image" Target="../media/image29.png"/><Relationship Id="rId22" Type="http://schemas.openxmlformats.org/officeDocument/2006/relationships/image" Target="../media/image30.png"/><Relationship Id="rId23" Type="http://schemas.openxmlformats.org/officeDocument/2006/relationships/image" Target="../media/image31.png"/><Relationship Id="rId24" Type="http://schemas.openxmlformats.org/officeDocument/2006/relationships/image" Target="../media/image32.png"/><Relationship Id="rId25" Type="http://schemas.openxmlformats.org/officeDocument/2006/relationships/image" Target="../media/image33.png"/><Relationship Id="rId26" Type="http://schemas.openxmlformats.org/officeDocument/2006/relationships/image" Target="../media/image34.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site/portal/ex/bbs/View.do?bcIdx=311068&amp;cbIdx=1135&amp;pageIndex=1" TargetMode="External"/><Relationship Id="rId3" Type="http://schemas.openxmlformats.org/officeDocument/2006/relationships/hyperlink" Target="https://datalab.visitkorea.or.kr/" TargetMode="External"/><Relationship Id="rId4" Type="http://schemas.openxmlformats.org/officeDocument/2006/relationships/hyperlink" Target="https://jnfarm.jeonnam.go.kr/board/FARM_BOARD_008/boardView.do?bdId=BD_00000000000011721&amp;menuCd=farm004002" TargetMode="External"/><Relationship Id="rId5"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6" Type="http://schemas.openxmlformats.org/officeDocument/2006/relationships/hyperlink" Target="https://kto.visitkorea.or.kr/upload/flexer/upload/ktobiz/20220928/b623b5f9-3ec0-11ed-9832-ddf31964842e.hwp.files/Sections1.html" TargetMode="External"/><Relationship Id="rId7" Type="http://schemas.openxmlformats.org/officeDocument/2006/relationships/hyperlink" Target="https://korean.visitkorea.or.kr/detail/rem_detail.do?cotid=f9c636b2-dd7c-4f09-af3d-6af43b33d371" TargetMode="External"/><Relationship Id="rId8" Type="http://schemas.openxmlformats.org/officeDocument/2006/relationships/hyperlink" Target="https://apis.data.go.kr/B551011/KorService2" TargetMode="External"/><Relationship Id="rId9"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hyperlink" Target="https://jnfarm.jeonnam.go.kr/board/FARM_BOARD_008/boardView.do?bdId=BD_00000000000011721&amp;menuCd=farm004002"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대전 서구 외지인 지역 상품권 환급</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2026.09.16</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371975"/>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47" t="0" r="347" b="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참고 이미지 · 실제 장소 사진 아님</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서구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1,492.9만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1.37%p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2,463.7억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2.16%p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숙박할인쿠폰 지원사업 · 온라인</a:t>
            </a:r>
          </a:p>
          <a:p>
            <a:pPr eaLnBrk="0">
              <a:lnSpc>
                <a:spcPts val="2125"/>
              </a:lnSpc>
              <a:spcBef>
                <a:spcPts val="0"/>
              </a:spcBef>
              <a:spcAft>
                <a:spcPts val="0"/>
              </a:spcAft>
            </a:pPr>
            <a:r>
              <a:rPr sz="1700" b="1">
                <a:solidFill>
                  <a:srgbClr val="202124"/>
                </a:solidFill>
                <a:latin typeface="Century Gothic"/>
                <a:ea typeface="맑은 고딕"/>
              </a:rPr>
              <a:t>예약 채널 숙박할인쿠폰</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온라인 여행사 예약 단계에서 할인쿠폰을</a:t>
            </a:r>
          </a:p>
          <a:p>
            <a:pPr eaLnBrk="0">
              <a:lnSpc>
                <a:spcPts val="1875"/>
              </a:lnSpc>
              <a:spcBef>
                <a:spcPts val="0"/>
              </a:spcBef>
              <a:spcAft>
                <a:spcPts val="0"/>
              </a:spcAft>
            </a:pPr>
            <a:r>
              <a:rPr sz="1500" b="0">
                <a:solidFill>
                  <a:srgbClr val="62666C"/>
                </a:solidFill>
                <a:latin typeface="Century Gothic"/>
                <a:ea typeface="맑은 고딕"/>
              </a:rPr>
              <a:t>제공하고, 지역 숙소에서 사용할 수 있도록</a:t>
            </a:r>
          </a:p>
          <a:p>
            <a:pPr eaLnBrk="0">
              <a:lnSpc>
                <a:spcPts val="1875"/>
              </a:lnSpc>
              <a:spcBef>
                <a:spcPts val="0"/>
              </a:spcBef>
              <a:spcAft>
                <a:spcPts val="0"/>
              </a:spcAft>
            </a:pPr>
            <a:r>
              <a:rPr sz="1500" b="0">
                <a:solidFill>
                  <a:srgbClr val="62666C"/>
                </a:solidFill>
                <a:latin typeface="Century Gothic"/>
                <a:ea typeface="맑은 고딕"/>
              </a:rPr>
              <a:t>참여 채널과 기간을 통합 운영</a:t>
            </a:r>
          </a:p>
        </p:txBody>
      </p:sp>
      <p:pic xmlns:a="http://schemas.openxmlformats.org/drawingml/2006/main" xmlns:r="http://schemas.openxmlformats.org/officeDocument/2006/relationships">
        <p:nvPicPr>
          <p:cNvPr id="20" name="case-photo-1" descr="incheon_official.jpg"/>
          <p:cNvPicPr>
            <a:picLocks noChangeAspect="1"/>
          </p:cNvPicPr>
          <p:nvPr/>
        </p:nvPicPr>
        <p:blipFill>
          <a:blip r:embed="rId7"/>
          <a:stretch>
            <a:fillRect/>
          </a:stretch>
        </p:blipFill>
        <p:spPr>
          <a:xfrm>
            <a:off x="6094440" y="5457825"/>
            <a:ext cx="3051119"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유사 사업 참고 · 인천 섬 · 로컬체험 여행 소개 사진</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인천광역시 섬포털</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문경시 · 문경찻사발축제</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문경찻사발축제를 2025년 9일 개최한</a:t>
            </a:r>
          </a:p>
          <a:p>
            <a:pPr eaLnBrk="0">
              <a:lnSpc>
                <a:spcPts val="1875"/>
              </a:lnSpc>
              <a:spcBef>
                <a:spcPts val="0"/>
              </a:spcBef>
              <a:spcAft>
                <a:spcPts val="0"/>
              </a:spcAft>
            </a:pPr>
            <a:r>
              <a:rPr sz="1500" b="0">
                <a:solidFill>
                  <a:srgbClr val="62666C"/>
                </a:solidFill>
                <a:latin typeface="Century Gothic"/>
                <a:ea typeface="맑은 고딕"/>
              </a:rPr>
              <a:t>문화관광축제 운영 사례. 세부</a:t>
            </a:r>
          </a:p>
          <a:p>
            <a:pPr eaLnBrk="0">
              <a:lnSpc>
                <a:spcPts val="1875"/>
              </a:lnSpc>
              <a:spcBef>
                <a:spcPts val="0"/>
              </a:spcBef>
              <a:spcAft>
                <a:spcPts val="0"/>
              </a:spcAft>
            </a:pPr>
            <a:r>
              <a:rPr sz="1500" b="0">
                <a:solidFill>
                  <a:srgbClr val="62666C"/>
                </a:solidFill>
                <a:latin typeface="Century Gothic"/>
                <a:ea typeface="맑은 고딕"/>
              </a:rPr>
              <a:t>프로그램·예약·혜택은 이 CSV에 기록되어</a:t>
            </a:r>
          </a:p>
          <a:p>
            <a:pPr eaLnBrk="0">
              <a:lnSpc>
                <a:spcPts val="1875"/>
              </a:lnSpc>
              <a:spcBef>
                <a:spcPts val="0"/>
              </a:spcBef>
              <a:spcAft>
                <a:spcPts val="0"/>
              </a:spcAft>
            </a:pPr>
            <a:r>
              <a:rPr sz="1500" b="0">
                <a:solidFill>
                  <a:srgbClr val="62666C"/>
                </a:solidFill>
                <a:latin typeface="Century Gothic"/>
                <a:ea typeface="맑은 고딕"/>
              </a:rPr>
              <a:t>있지 않으며 새로운 운영안은</a:t>
            </a:r>
          </a:p>
          <a:p>
            <a:pPr eaLnBrk="0">
              <a:lnSpc>
                <a:spcPts val="1875"/>
              </a:lnSpc>
              <a:spcBef>
                <a:spcPts val="0"/>
              </a:spcBef>
              <a:spcAft>
                <a:spcPts val="0"/>
              </a:spcAft>
            </a:pPr>
            <a:r>
              <a:rPr sz="1500" b="0">
                <a:solidFill>
                  <a:srgbClr val="62666C"/>
                </a:solidFill>
                <a:latin typeface="Century Gothic"/>
                <a:ea typeface="맑은 고딕"/>
              </a:rPr>
              <a:t>제안으로 구분한다.</a:t>
            </a:r>
          </a:p>
        </p:txBody>
      </p:sp>
      <p:pic xmlns:a="http://schemas.openxmlformats.org/drawingml/2006/main" xmlns:r="http://schemas.openxmlformats.org/officeDocument/2006/relationships">
        <p:nvPicPr>
          <p:cNvPr id="28" name="case-photo-2" descr="incheon_official.jpg"/>
          <p:cNvPicPr>
            <a:picLocks noChangeAspect="1"/>
          </p:cNvPicPr>
          <p:nvPr/>
        </p:nvPicPr>
        <p:blipFill>
          <a:blip r:embed="rId7"/>
          <a:stretch>
            <a:fillRect/>
          </a:stretch>
        </p:blipFill>
        <p:spPr>
          <a:xfrm>
            <a:off x="10590240" y="5457825"/>
            <a:ext cx="3051119"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ns6="http://schemas.openxmlformats.org/officeDocument/2006/relationships" ns6:id="rId8"/>
                <a:ea typeface="맑은 고딕"/>
              </a:rPr>
              <a:t>관광 참고 이미지 · 인천 섬 · 로컬체험 여행 소개 사진</a:t>
            </a:r>
          </a:p>
          <a:p>
            <a:pPr eaLnBrk="0">
              <a:lnSpc>
                <a:spcPts val="1406"/>
              </a:lnSpc>
              <a:spcBef>
                <a:spcPts val="0"/>
              </a:spcBef>
              <a:spcAft>
                <a:spcPts val="0"/>
              </a:spcAft>
            </a:pPr>
            <a:r>
              <a:rPr sz="1050" b="0" u="none">
                <a:solidFill>
                  <a:srgbClr val="62666C"/>
                </a:solidFill>
                <a:latin typeface="Century Gothic"/>
                <a:hlinkClick xmlns:ns7="http://schemas.openxmlformats.org/officeDocument/2006/relationships" ns7:id="rId8"/>
                <a:ea typeface="맑은 고딕"/>
              </a:rPr>
              <a:t>출처: 인천광역시 섬포털</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0"/>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18"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반값여행 지역환급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공식 자료에서 확인한 운영 사례</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009650" y="3224784"/>
            <a:ext cx="5581650" cy="2980181"/>
          </a:xfrm>
          <a:prstGeom prst="rect">
            <a:avLst/>
          </a:prstGeom>
        </p:spPr>
      </p:pic>
      <p:sp>
        <p:nvSpPr>
          <p:cNvPr id="9" name="result-operation-label"/>
          <p:cNvSpPr txBox="1"/>
          <p:nvPr/>
        </p:nvSpPr>
        <p:spPr>
          <a:xfrm>
            <a:off x="7172325" y="3076575"/>
            <a:ext cx="7058025" cy="46672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F50045"/>
                </a:solidFill>
                <a:latin typeface="Noto Sans KR"/>
              </a:rPr>
              <a:t>어떻게 운영했나</a:t>
            </a:r>
          </a:p>
        </p:txBody>
      </p:sp>
      <p:sp>
        <p:nvSpPr>
          <p:cNvPr id="10" name="result-operation"/>
          <p:cNvSpPr txBox="1"/>
          <p:nvPr/>
        </p:nvSpPr>
        <p:spPr>
          <a:xfrm>
            <a:off x="7172325" y="3743325"/>
            <a:ext cx="7058025" cy="17907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0">
                <a:solidFill>
                  <a:srgbClr val="62666C"/>
                </a:solidFill>
                <a:latin typeface="Noto Sans KR"/>
              </a:rPr>
              <a:t>여행자가 지역에서 지출한 비용의 일부를</a:t>
            </a:r>
          </a:p>
          <a:p>
            <a:pPr eaLnBrk="0">
              <a:lnSpc>
                <a:spcPts val="2812"/>
              </a:lnSpc>
              <a:spcBef>
                <a:spcPts val="0"/>
              </a:spcBef>
              <a:spcAft>
                <a:spcPts val="0"/>
              </a:spcAft>
            </a:pPr>
            <a:r>
              <a:rPr sz="2250" b="0">
                <a:solidFill>
                  <a:srgbClr val="62666C"/>
                </a:solidFill>
                <a:latin typeface="Noto Sans KR"/>
              </a:rPr>
              <a:t>지역상품권으로 돌려받게 하여 혜택이 다시 지역</a:t>
            </a:r>
          </a:p>
          <a:p>
            <a:pPr eaLnBrk="0">
              <a:lnSpc>
                <a:spcPts val="2812"/>
              </a:lnSpc>
              <a:spcBef>
                <a:spcPts val="0"/>
              </a:spcBef>
              <a:spcAft>
                <a:spcPts val="0"/>
              </a:spcAft>
            </a:pPr>
            <a:r>
              <a:rPr sz="2250" b="0">
                <a:solidFill>
                  <a:srgbClr val="62666C"/>
                </a:solidFill>
                <a:latin typeface="Noto Sans KR"/>
              </a:rPr>
              <a:t>상점에서 사용되도록 설계</a:t>
            </a:r>
          </a:p>
        </p:txBody>
      </p:sp>
      <p:sp>
        <p:nvSpPr>
          <p:cNvPr id="11" name="result-link-band"/>
          <p:cNvSpPr/>
          <p:nvPr/>
        </p:nvSpPr>
        <p:spPr>
          <a:xfrm>
            <a:off x="7172325" y="5715000"/>
            <a:ext cx="7058025" cy="990600"/>
          </a:xfrm>
          <a:prstGeom prst="rect">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use"/>
          <p:cNvSpPr txBox="1"/>
          <p:nvPr/>
        </p:nvSpPr>
        <p:spPr>
          <a:xfrm>
            <a:off x="7381875" y="5848350"/>
            <a:ext cx="6619875" cy="7429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50045"/>
                </a:solidFill>
                <a:latin typeface="Noto Sans KR"/>
              </a:rPr>
              <a:t>이 운영 방식을 우리 지역의</a:t>
            </a:r>
          </a:p>
          <a:p>
            <a:pPr eaLnBrk="0">
              <a:lnSpc>
                <a:spcPts val="2625"/>
              </a:lnSpc>
              <a:spcBef>
                <a:spcPts val="0"/>
              </a:spcBef>
              <a:spcAft>
                <a:spcPts val="0"/>
              </a:spcAft>
            </a:pPr>
            <a:r>
              <a:rPr sz="2100" b="1">
                <a:solidFill>
                  <a:srgbClr val="F50045"/>
                </a:solidFill>
                <a:latin typeface="Noto Sans KR"/>
              </a:rPr>
              <a:t>대상·참여처·일정에 맞춰 적용</a:t>
            </a:r>
          </a:p>
        </p:txBody>
      </p:sp>
      <p:sp>
        <p:nvSpPr>
          <p:cNvPr id="13"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사례의 운영 내용 → 지역 조건에 맞춘 실행 계획</a:t>
            </a:r>
          </a:p>
        </p:txBody>
      </p:sp>
      <p:sp>
        <p:nvSpPr>
          <p:cNvPr id="14"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자료 구분: 운영 사례. 수치 목표와 견적은 뒤의 산출 근거에서 제시합니다.</a:t>
            </a:r>
          </a:p>
        </p:txBody>
      </p:sp>
      <p:sp>
        <p:nvSpPr>
          <p:cNvPr id="16"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17"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19" name="result-photo-source-bg"/>
          <p:cNvSpPr/>
          <p:nvPr/>
        </p:nvSpPr>
        <p:spPr>
          <a:xfrm>
            <a:off x="1123950" y="5519165"/>
            <a:ext cx="535305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ult-photo-source">
            <a:hlinkClick r:id="rId4"/>
          </p:cNvPr>
          <p:cNvSpPr txBox="1"/>
          <p:nvPr/>
        </p:nvSpPr>
        <p:spPr>
          <a:xfrm>
            <a:off x="1238250" y="5557265"/>
            <a:ext cx="51244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강진군 · 반값여행 공식 홍보물</a:t>
            </a:r>
          </a:p>
          <a:p>
            <a:pPr eaLnBrk="0" algn="ctr">
              <a:lnSpc>
                <a:spcPts val="1593"/>
              </a:lnSpc>
              <a:spcBef>
                <a:spcPts val="0"/>
              </a:spcBef>
              <a:spcAft>
                <a:spcPts val="0"/>
              </a:spcAft>
            </a:pPr>
            <a:r>
              <a:rPr sz="1275" b="0">
                <a:solidFill>
                  <a:srgbClr val="FFFFFF"/>
                </a:solidFill>
                <a:latin typeface="Noto Sans KR"/>
              </a:rPr>
              <a:t>출처: 강진 반값여행 공식 홈페이지</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외지인 방문객이 서구 내 지정된 사용처에서</a:t>
            </a:r>
          </a:p>
          <a:p>
            <a:pPr eaLnBrk="0">
              <a:lnSpc>
                <a:spcPts val="1781"/>
              </a:lnSpc>
              <a:spcBef>
                <a:spcPts val="0"/>
              </a:spcBef>
              <a:spcAft>
                <a:spcPts val="0"/>
              </a:spcAft>
            </a:pPr>
            <a:r>
              <a:rPr sz="1425" b="0">
                <a:solidFill>
                  <a:srgbClr val="202124"/>
                </a:solidFill>
                <a:latin typeface="Noto Sans KR"/>
              </a:rPr>
              <a:t>일정 금액 이상 소비 시, 지출액의 일부를</a:t>
            </a:r>
          </a:p>
          <a:p>
            <a:pPr eaLnBrk="0">
              <a:lnSpc>
                <a:spcPts val="1781"/>
              </a:lnSpc>
              <a:spcBef>
                <a:spcPts val="0"/>
              </a:spcBef>
              <a:spcAft>
                <a:spcPts val="0"/>
              </a:spcAft>
            </a:pPr>
            <a:r>
              <a:rPr sz="1425" b="0">
                <a:solidFill>
                  <a:srgbClr val="202124"/>
                </a:solidFill>
                <a:latin typeface="Noto Sans KR"/>
              </a:rPr>
              <a:t>지역 상품권으로 즉시 또는 사후 환급하여</a:t>
            </a:r>
          </a:p>
          <a:p>
            <a:pPr eaLnBrk="0">
              <a:lnSpc>
                <a:spcPts val="1781"/>
              </a:lnSpc>
              <a:spcBef>
                <a:spcPts val="0"/>
              </a:spcBef>
              <a:spcAft>
                <a:spcPts val="0"/>
              </a:spcAft>
            </a:pPr>
            <a:r>
              <a:rPr sz="1425" b="0">
                <a:solidFill>
                  <a:srgbClr val="202124"/>
                </a:solidFill>
                <a:latin typeface="Noto Sans KR"/>
              </a:rPr>
              <a:t>지역 내 재결제를 유도합니다.</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1,493만 명</a:t>
            </a:r>
          </a:p>
          <a:p>
            <a:pPr eaLnBrk="0">
              <a:lnSpc>
                <a:spcPts val="2156"/>
              </a:lnSpc>
              <a:spcBef>
                <a:spcPts val="0"/>
              </a:spcBef>
              <a:spcAft>
                <a:spcPts val="0"/>
              </a:spcAft>
            </a:pPr>
            <a:r>
              <a:rPr sz="1725" b="0">
                <a:solidFill>
                  <a:srgbClr val="202124"/>
                </a:solidFill>
                <a:latin typeface="Noto Sans KR"/>
              </a:rPr>
              <a:t>관광소비액 2,464억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+1,440명, 관광소비액 약 +5,149만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2개월 운영안</a:t>
            </a:r>
          </a:p>
          <a:p>
            <a:pPr eaLnBrk="0">
              <a:lnSpc>
                <a:spcPts val="2437"/>
              </a:lnSpc>
              <a:spcBef>
                <a:spcPts val="0"/>
              </a:spcBef>
              <a:spcAft>
                <a:spcPts val="0"/>
              </a:spcAft>
            </a:pPr>
            <a:r>
              <a:rPr sz="1950" b="0">
                <a:solidFill>
                  <a:srgbClr val="62666C"/>
                </a:solidFill>
                <a:latin typeface="Noto Sans KR"/>
              </a:rPr>
              <a:t>운영 산정 기간 2026-11 ~ 2026-12</a:t>
            </a:r>
          </a:p>
          <a:p>
            <a:pPr eaLnBrk="0">
              <a:lnSpc>
                <a:spcPts val="2437"/>
              </a:lnSpc>
              <a:spcBef>
                <a:spcPts val="0"/>
              </a:spcBef>
              <a:spcAft>
                <a:spcPts val="0"/>
              </a:spcAft>
            </a:pPr>
            <a:r>
              <a:rPr sz="1950" b="0">
                <a:solidFill>
                  <a:srgbClr val="62666C"/>
                </a:solidFill>
                <a:latin typeface="Noto Sans KR"/>
              </a:rPr>
              <a:t>편성 정원 6,400명분 × 이용률 75%</a:t>
            </a:r>
          </a:p>
          <a:p>
            <a:pPr eaLnBrk="0">
              <a:lnSpc>
                <a:spcPts val="2437"/>
              </a:lnSpc>
              <a:spcBef>
                <a:spcPts val="0"/>
              </a:spcBef>
              <a:spcAft>
                <a:spcPts val="0"/>
              </a:spcAft>
            </a:pPr>
            <a:r>
              <a:rPr sz="1950" b="0">
                <a:solidFill>
                  <a:srgbClr val="62666C"/>
                </a:solidFill>
                <a:latin typeface="Noto Sans KR"/>
              </a:rPr>
              <a:t>예상 참여 4,800명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1,440명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20일 × 2개월</a:t>
            </a:r>
          </a:p>
          <a:p>
            <a:pPr eaLnBrk="0">
              <a:lnSpc>
                <a:spcPts val="2062"/>
              </a:lnSpc>
              <a:spcBef>
                <a:spcPts val="0"/>
              </a:spcBef>
              <a:spcAft>
                <a:spcPts val="0"/>
              </a:spcAft>
            </a:pPr>
            <a:r>
              <a:rPr sz="1650" b="0">
                <a:solidFill>
                  <a:srgbClr val="62666C"/>
                </a:solidFill>
                <a:latin typeface="Noto Sans KR"/>
              </a:rPr>
              <a:t>× 하루 1회 × 회당 20명 = 6,400명분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1,440명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0.51억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전라남도 강진군 · 반값여행 지역환급</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여행자가 지역에서 지출한 비용의 일부를 지역상품권으로</a:t>
                      </a:r>
                    </a:p>
                    <a:p>
                      <a:pPr eaLnBrk="0">
                        <a:lnSpc>
                          <a:spcPct val="112000"/>
                        </a:lnSpc>
                        <a:spcBef>
                          <a:spcPts val="0"/>
                        </a:spcBef>
                        <a:spcAft>
                          <a:spcPts val="0"/>
                        </a:spcAft>
                      </a:pPr>
                      <a:r>
                        <a:rPr sz="1575" b="0">
                          <a:solidFill>
                            <a:srgbClr val="202124"/>
                          </a:solidFill>
                          <a:latin typeface="Noto Sans KR"/>
                        </a:rPr>
                        <a:t>돌려받게 하여 혜택이 다시 지역 상점에서 사용되도록 설계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4,619,168명 / 외지인 관광소비 총액:</a:t>
                      </a:r>
                    </a:p>
                    <a:p>
                      <a:pPr eaLnBrk="0">
                        <a:lnSpc>
                          <a:spcPct val="112000"/>
                        </a:lnSpc>
                        <a:spcBef>
                          <a:spcPts val="0"/>
                        </a:spcBef>
                        <a:spcAft>
                          <a:spcPts val="0"/>
                        </a:spcAft>
                      </a:pPr>
                      <a:r>
                        <a:rPr sz="1575" b="0">
                          <a:solidFill>
                            <a:srgbClr val="202124"/>
                          </a:solidFill>
                          <a:latin typeface="Noto Sans KR"/>
                        </a:rPr>
                        <a:t>76,758,413,000원 / 외지인 숙박 방문 비율: 6.7%</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4552950" y="6638925"/>
            <a:ext cx="9163050" cy="9048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외지인 방문객이 서구 내 지정된 사용처에서 일정 금액 이상 소비 시, 지출액의 일부를 지역 상품권으로</a:t>
            </a:r>
          </a:p>
          <a:p>
            <a:pPr eaLnBrk="0">
              <a:lnSpc>
                <a:spcPts val="1968"/>
              </a:lnSpc>
              <a:spcBef>
                <a:spcPts val="0"/>
              </a:spcBef>
              <a:spcAft>
                <a:spcPts val="0"/>
              </a:spcAft>
            </a:pPr>
            <a:r>
              <a:rPr sz="1575" b="0">
                <a:solidFill>
                  <a:srgbClr val="202124"/>
                </a:solidFill>
                <a:latin typeface="Noto Sans KR"/>
              </a:rPr>
              <a:t>즉시 또는 사후 환급하여 지역 내 재결제를 유도합니다.</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강진 반값여행 지역경제 효과 소개</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0명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4,940,825명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477명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4,990,596명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963명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14,928,559명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14,929,999명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1,440명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1,440명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0만 원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859.90억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1,785만 원 · 0.02%</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810.68억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3,364만 원 · 0.04%</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2,463.65억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2,464.17억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5,149만 원 · 0.02%</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5,149만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42,240만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320,000,000원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편성 참여 한도 6,400건 × 가정 단가 50,000원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48,000,000원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8개 거점 × 월 20일 × 2개월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38,400,000원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384,000,000원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8개 × 월 20일 × 2개월 × 하루 1회 × 회당 20명 = 6,400명분 → 편성 참여 한도 6,400건. 모든 단가는 기획 가정.</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저장 근거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검수 모델</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265"/>
              </a:lnSpc>
              <a:spcBef>
                <a:spcPts val="0"/>
              </a:spcBef>
              <a:spcAft>
                <a:spcPts val="0"/>
              </a:spcAft>
            </a:pPr>
            <a:r>
              <a:rPr sz="1012" b="0" u="none">
                <a:solidFill>
                  <a:srgbClr val="62666C"/>
                </a:solidFill>
                <a:latin typeface="Noto Sans KR"/>
                <a:hlinkClick xmlns:ns10="http://schemas.openxmlformats.org/officeDocument/2006/relationships" ns10:id="rId2"/>
              </a:rPr>
              <a:t>대전광역시_서구/방문자/2025_01_12.zip 2025-07 ~ 2026-06</a:t>
            </a:r>
          </a:p>
        </p:txBody>
      </p:sp>
      <p:sp xmlns:a="http://schemas.openxmlformats.org/drawingml/2006/main">
        <p:nvSpPr>
          <p:cNvPr id="13" name="reference-8"/>
          <p:cNvSpPr txBox="1"/>
          <p:nvPr/>
        </p:nvSpPr>
        <p:spPr>
          <a:xfrm>
            <a:off x="1009650" y="54292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265"/>
              </a:lnSpc>
              <a:spcBef>
                <a:spcPts val="0"/>
              </a:spcBef>
              <a:spcAft>
                <a:spcPts val="0"/>
              </a:spcAft>
            </a:pPr>
            <a:r>
              <a:rPr sz="1012" b="0" u="none">
                <a:solidFill>
                  <a:srgbClr val="62666C"/>
                </a:solidFill>
                <a:latin typeface="Noto Sans KR"/>
                <a:hlinkClick xmlns:ns12="http://schemas.openxmlformats.org/officeDocument/2006/relationships" ns12:id="rId2"/>
              </a:rPr>
              <a:t>대전광역시_서구/관광소비/2025_01_12.zip 2025-07 ~ 2026-06</a:t>
            </a:r>
          </a:p>
        </p:txBody>
      </p:sp>
      <p:sp xmlns:a="http://schemas.openxmlformats.org/drawingml/2006/main">
        <p:nvSpPr>
          <p:cNvPr id="14" name="reference-9"/>
          <p:cNvSpPr txBox="1"/>
          <p:nvPr/>
        </p:nvSpPr>
        <p:spPr>
          <a:xfrm>
            <a:off x="1009650" y="586263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3="http://schemas.openxmlformats.org/officeDocument/2006/relationships" ns13:id="rId2"/>
              </a:rPr>
              <a:t>관측 데이터 D10 한국관광 데이터랩 공식 다운로드 ·</a:t>
            </a:r>
          </a:p>
          <a:p>
            <a:pPr eaLnBrk="0">
              <a:lnSpc>
                <a:spcPts val="1359"/>
              </a:lnSpc>
              <a:spcBef>
                <a:spcPts val="0"/>
              </a:spcBef>
              <a:spcAft>
                <a:spcPts val="0"/>
              </a:spcAft>
            </a:pPr>
            <a:r>
              <a:rPr sz="1087" b="0" u="none">
                <a:solidFill>
                  <a:srgbClr val="62666C"/>
                </a:solidFill>
                <a:latin typeface="Noto Sans KR"/>
                <a:hlinkClick xmlns:ns14="http://schemas.openxmlformats.org/officeDocument/2006/relationships" ns14:id="rId2"/>
              </a:rPr>
              <a:t>대전광역시_서구/숙박_체류시간/2025_01_12.zip 2025-07 ~ 2026-06</a:t>
            </a:r>
          </a:p>
        </p:txBody>
      </p:sp>
      <p:sp xmlns:a="http://schemas.openxmlformats.org/drawingml/2006/main">
        <p:nvSpPr>
          <p:cNvPr id="15" name="reference-10"/>
          <p:cNvSpPr txBox="1"/>
          <p:nvPr/>
        </p:nvSpPr>
        <p:spPr>
          <a:xfrm>
            <a:off x="1009650" y="647461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5="http://schemas.openxmlformats.org/officeDocument/2006/relationships" ns15:id="rId2"/>
              </a:rPr>
              <a:t>관측 데이터 D11 한국관광 데이터랩 공식 다운로드 ·</a:t>
            </a:r>
          </a:p>
          <a:p>
            <a:pPr eaLnBrk="0">
              <a:lnSpc>
                <a:spcPts val="1265"/>
              </a:lnSpc>
              <a:spcBef>
                <a:spcPts val="0"/>
              </a:spcBef>
              <a:spcAft>
                <a:spcPts val="0"/>
              </a:spcAft>
            </a:pPr>
            <a:r>
              <a:rPr sz="1012" b="0" u="none">
                <a:solidFill>
                  <a:srgbClr val="62666C"/>
                </a:solidFill>
                <a:latin typeface="Noto Sans KR"/>
                <a:hlinkClick xmlns:ns16="http://schemas.openxmlformats.org/officeDocument/2006/relationships" ns16:id="rId2"/>
              </a:rPr>
              <a:t>대전광역시_서구/관광소비/2026_01_06.zip 2025-07 ~ 2026-06</a:t>
            </a:r>
          </a:p>
        </p:txBody>
      </p:sp>
      <p:sp xmlns:a="http://schemas.openxmlformats.org/drawingml/2006/main">
        <p:nvSpPr>
          <p:cNvPr id="16" name="reference-11"/>
          <p:cNvSpPr txBox="1"/>
          <p:nvPr/>
        </p:nvSpPr>
        <p:spPr>
          <a:xfrm>
            <a:off x="1009650" y="690800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7="http://schemas.openxmlformats.org/officeDocument/2006/relationships" ns17:id="rId2"/>
              </a:rPr>
              <a:t>관측 데이터 D12 한국관광 데이터랩 공식 다운로드 ·</a:t>
            </a:r>
          </a:p>
          <a:p>
            <a:pPr eaLnBrk="0">
              <a:lnSpc>
                <a:spcPts val="1265"/>
              </a:lnSpc>
              <a:spcBef>
                <a:spcPts val="0"/>
              </a:spcBef>
              <a:spcAft>
                <a:spcPts val="0"/>
              </a:spcAft>
            </a:pPr>
            <a:r>
              <a:rPr sz="1012" b="0" u="none">
                <a:solidFill>
                  <a:srgbClr val="62666C"/>
                </a:solidFill>
                <a:latin typeface="Noto Sans KR"/>
                <a:hlinkClick xmlns:ns18="http://schemas.openxmlformats.org/officeDocument/2006/relationships" ns18:id="rId2"/>
              </a:rPr>
              <a:t>대전광역시_서구/방문자/2026_01_06.zip 2025-07 ~ 2026-06</a:t>
            </a:r>
          </a:p>
        </p:txBody>
      </p:sp>
      <p:sp xmlns:a="http://schemas.openxmlformats.org/drawingml/2006/main">
        <p:nvSpPr>
          <p:cNvPr id="17" name="reference-12"/>
          <p:cNvSpPr txBox="1"/>
          <p:nvPr/>
        </p:nvSpPr>
        <p:spPr>
          <a:xfrm>
            <a:off x="1009650" y="7341394"/>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9="http://schemas.openxmlformats.org/officeDocument/2006/relationships" ns19:id="rId2"/>
              </a:rPr>
              <a:t>관측 데이터 D13 한국관광 데이터랩 공식 다운로드 ·</a:t>
            </a:r>
          </a:p>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대전광역시_서구/숙박_체류시간/2026_01_06.zip 2025-07 ~ 2026-06</a:t>
            </a:r>
          </a:p>
        </p:txBody>
      </p:sp>
      <p:sp xmlns:a="http://schemas.openxmlformats.org/drawingml/2006/main">
        <p:nvSpPr>
          <p:cNvPr id="18" name="reference-13"/>
          <p:cNvSpPr txBox="1"/>
          <p:nvPr/>
        </p:nvSpPr>
        <p:spPr>
          <a:xfrm>
            <a:off x="548640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1="http://schemas.openxmlformats.org/officeDocument/2006/relationships" ns21: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이동통신/내국인/지역별</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p 2026-01 ~ 2026-06</a:t>
            </a:r>
          </a:p>
        </p:txBody>
      </p:sp>
      <p:sp xmlns:a="http://schemas.openxmlformats.org/drawingml/2006/main">
        <p:nvSpPr>
          <p:cNvPr id="19" name="reference-14"/>
          <p:cNvSpPr txBox="1"/>
          <p:nvPr/>
        </p:nvSpPr>
        <p:spPr>
          <a:xfrm>
            <a:off x="5486400" y="326707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다운로드.zip 2026-01 ~ 2026-06</a:t>
            </a:r>
          </a:p>
        </p:txBody>
      </p:sp>
      <p:sp xmlns:a="http://schemas.openxmlformats.org/drawingml/2006/main">
        <p:nvSpPr>
          <p:cNvPr id="20" name="reference-15"/>
          <p:cNvSpPr txBox="1"/>
          <p:nvPr/>
        </p:nvSpPr>
        <p:spPr>
          <a:xfrm>
            <a:off x="548640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신용카드/내국인/지역별</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zip 2026-01 ~ 2026-06</a:t>
            </a:r>
          </a:p>
        </p:txBody>
      </p:sp>
      <p:sp xmlns:a="http://schemas.openxmlformats.org/drawingml/2006/main">
        <p:nvSpPr>
          <p:cNvPr id="21" name="reference-16"/>
          <p:cNvSpPr txBox="1"/>
          <p:nvPr/>
        </p:nvSpPr>
        <p:spPr>
          <a:xfrm>
            <a:off x="548640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신용카드/외국인/지역별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2" name="reference-17"/>
          <p:cNvSpPr txBox="1"/>
          <p:nvPr/>
        </p:nvSpPr>
        <p:spPr>
          <a:xfrm>
            <a:off x="548640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네비게이션/지역별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p 2026-01 ~ 2026-06</a:t>
            </a:r>
          </a:p>
        </p:txBody>
      </p:sp>
      <p:sp xmlns:a="http://schemas.openxmlformats.org/drawingml/2006/main">
        <p:nvSpPr>
          <p:cNvPr id="23" name="reference-18"/>
          <p:cNvSpPr txBox="1"/>
          <p:nvPr/>
        </p:nvSpPr>
        <p:spPr>
          <a:xfrm>
            <a:off x="5486400" y="62507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이동통신/내국인/지역별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4" name="reference-19"/>
          <p:cNvSpPr txBox="1"/>
          <p:nvPr/>
        </p:nvSpPr>
        <p:spPr>
          <a:xfrm>
            <a:off x="5486400" y="70413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다운로드.zip 2026-01 ~ 2026-06</a:t>
            </a:r>
          </a:p>
        </p:txBody>
      </p:sp>
      <p:sp xmlns:a="http://schemas.openxmlformats.org/drawingml/2006/main">
        <p:nvSpPr>
          <p:cNvPr id="25" name="reference-20"/>
          <p:cNvSpPr txBox="1"/>
          <p:nvPr/>
        </p:nvSpPr>
        <p:spPr>
          <a:xfrm>
            <a:off x="996315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신용카드/내국인/지역별</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zip 2026-01 ~ 2026-06</a:t>
            </a:r>
          </a:p>
        </p:txBody>
      </p:sp>
      <p:sp xmlns:a="http://schemas.openxmlformats.org/drawingml/2006/main">
        <p:nvSpPr>
          <p:cNvPr id="26" name="reference-21"/>
          <p:cNvSpPr txBox="1"/>
          <p:nvPr/>
        </p:nvSpPr>
        <p:spPr>
          <a:xfrm>
            <a:off x="9963150" y="326707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신용카드/외국인/지역별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7" name="reference-22"/>
          <p:cNvSpPr txBox="1"/>
          <p:nvPr/>
        </p:nvSpPr>
        <p:spPr>
          <a:xfrm>
            <a:off x="9963150" y="405765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네비게이션/지역별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p 2026-01 ~ 2026-06</a:t>
            </a:r>
          </a:p>
        </p:txBody>
      </p:sp>
      <p:sp xmlns:a="http://schemas.openxmlformats.org/drawingml/2006/main">
        <p:nvSpPr>
          <p:cNvPr id="28" name="reference-23"/>
          <p:cNvSpPr txBox="1"/>
          <p:nvPr/>
        </p:nvSpPr>
        <p:spPr>
          <a:xfrm>
            <a:off x="9963150" y="484822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이동통신/내국인/지역별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9" name="reference-24"/>
          <p:cNvSpPr txBox="1"/>
          <p:nvPr/>
        </p:nvSpPr>
        <p:spPr>
          <a:xfrm>
            <a:off x="9963150" y="56388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다운로드.zip 2026-01 ~ 2026-06</a:t>
            </a:r>
          </a:p>
        </p:txBody>
      </p:sp>
      <p:sp xmlns:a="http://schemas.openxmlformats.org/drawingml/2006/main">
        <p:nvSpPr>
          <p:cNvPr id="30" name="reference-25"/>
          <p:cNvSpPr txBox="1"/>
          <p:nvPr/>
        </p:nvSpPr>
        <p:spPr>
          <a:xfrm>
            <a:off x="9963150" y="62507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6="http://schemas.openxmlformats.org/officeDocument/2006/relationships" ns66: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7="http://schemas.openxmlformats.org/officeDocument/2006/relationships" ns67:id="rId2"/>
              </a:rPr>
              <a:t>지역집중률 2025-07 ~ 2026-06</a:t>
            </a:r>
          </a:p>
        </p:txBody>
      </p:sp>
      <p:sp xmlns:a="http://schemas.openxmlformats.org/drawingml/2006/main">
        <p:nvSpPr>
          <p:cNvPr id="31" name="reference-26"/>
          <p:cNvSpPr txBox="1"/>
          <p:nvPr/>
        </p:nvSpPr>
        <p:spPr>
          <a:xfrm>
            <a:off x="9963150" y="66841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8="http://schemas.openxmlformats.org/officeDocument/2006/relationships" ns68: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9="http://schemas.openxmlformats.org/officeDocument/2006/relationships" ns69:id="rId2"/>
              </a:rPr>
              <a:t>유입유출 2025-07 ~ 2026-06</a:t>
            </a:r>
          </a:p>
        </p:txBody>
      </p:sp>
      <p:sp xmlns:a="http://schemas.openxmlformats.org/drawingml/2006/main">
        <p:nvSpPr>
          <p:cNvPr id="32" name="reference-27"/>
          <p:cNvSpPr txBox="1"/>
          <p:nvPr/>
        </p:nvSpPr>
        <p:spPr>
          <a:xfrm>
            <a:off x="9963150" y="71175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인기관광지 2025-07 ~ 2026-06</a:t>
            </a:r>
          </a:p>
        </p:txBody>
      </p:sp>
      <p:sp xmlns:a="http://schemas.openxmlformats.org/drawingml/2006/main">
        <p:nvSpPr>
          <p:cNvPr id="33" name="reference-28"/>
          <p:cNvSpPr txBox="1"/>
          <p:nvPr/>
        </p:nvSpPr>
        <p:spPr>
          <a:xfrm>
            <a:off x="9963150" y="75509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4,989,633명</a:t>
            </a:r>
          </a:p>
        </p:txBody>
      </p:sp>
      <p:sp xmlns:a="http://schemas.openxmlformats.org/drawingml/2006/main">
        <p:nvSpPr>
          <p:cNvPr id="35"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810.34억 원</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1,118분</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2.81일</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12,004건</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225,518건</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 PDF 44쪽 외 7쪽 (8개 청크)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D51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3"/>
              </a:rPr>
              <a:t>추이 datalab.visitkorea.or.kr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D52 한국관광 데이터랩 · 안동탈춤축제 방문자</a:t>
            </a:r>
          </a:p>
          <a:p>
            <a:pPr eaLnBrk="0">
              <a:lnSpc>
                <a:spcPts val="1265"/>
              </a:lnSpc>
              <a:spcBef>
                <a:spcPts val="0"/>
              </a:spcBef>
              <a:spcAft>
                <a:spcPts val="0"/>
              </a:spcAft>
            </a:pPr>
            <a:r>
              <a:rPr sz="1012" b="0" u="none">
                <a:solidFill>
                  <a:srgbClr val="62666C"/>
                </a:solidFill>
                <a:latin typeface="Noto Sans KR"/>
                <a:hlinkClick r:id="rId3"/>
              </a:rPr>
              <a:t>추이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D53 강진 반값여행 지역경제 효과</a:t>
            </a:r>
          </a:p>
          <a:p>
            <a:pPr eaLnBrk="0">
              <a:lnSpc>
                <a:spcPts val="1265"/>
              </a:lnSpc>
              <a:spcBef>
                <a:spcPts val="0"/>
              </a:spcBef>
              <a:spcAft>
                <a:spcPts val="0"/>
              </a:spcAft>
            </a:pPr>
            <a:r>
              <a:rPr sz="1012" b="0" u="none">
                <a:solidFill>
                  <a:srgbClr val="62666C"/>
                </a:solidFill>
                <a:latin typeface="Noto Sans KR"/>
                <a:hlinkClick r:id="rId4"/>
              </a:rPr>
              <a:t>소개 jnfarm.jeonnam.go.kr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D54 2024년 6월 여행가는 달 추진</a:t>
            </a:r>
          </a:p>
          <a:p>
            <a:pPr eaLnBrk="0">
              <a:lnSpc>
                <a:spcPts val="1265"/>
              </a:lnSpc>
              <a:spcBef>
                <a:spcPts val="0"/>
              </a:spcBef>
              <a:spcAft>
                <a:spcPts val="0"/>
              </a:spcAft>
            </a:pPr>
            <a:r>
              <a:rPr sz="1012" b="0" u="none">
                <a:solidFill>
                  <a:srgbClr val="62666C"/>
                </a:solidFill>
                <a:latin typeface="Noto Sans KR"/>
                <a:hlinkClick r:id="rId5"/>
              </a:rPr>
              <a:t>보도자료 mcst.go.kr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D55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6"/>
              </a:rPr>
              <a:t>공개자료 kto.visitkorea.or.kr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D56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7"/>
              </a:rPr>
              <a:t>일정 korean.visitkorea.or.kr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D57 한국관광 데이터랩 · 진도신비의바닷길축제</a:t>
            </a:r>
          </a:p>
          <a:p>
            <a:pPr eaLnBrk="0">
              <a:lnSpc>
                <a:spcPts val="1265"/>
              </a:lnSpc>
              <a:spcBef>
                <a:spcPts val="0"/>
              </a:spcBef>
              <a:spcAft>
                <a:spcPts val="0"/>
              </a:spcAft>
            </a:pPr>
            <a:r>
              <a:rPr sz="1012" b="0" u="none">
                <a:solidFill>
                  <a:srgbClr val="62666C"/>
                </a:solidFill>
                <a:latin typeface="Noto Sans KR"/>
                <a:hlinkClick r:id="rId3"/>
              </a:rPr>
              <a:t>방문자 추이 datalab.visitkorea.or.kr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D58 한국관광 데이터랩 · 통영한산대첩축제 방문자</a:t>
            </a:r>
          </a:p>
          <a:p>
            <a:pPr eaLnBrk="0">
              <a:lnSpc>
                <a:spcPts val="1265"/>
              </a:lnSpc>
              <a:spcBef>
                <a:spcPts val="0"/>
              </a:spcBef>
              <a:spcAft>
                <a:spcPts val="0"/>
              </a:spcAft>
            </a:pPr>
            <a:r>
              <a:rPr sz="1012" b="0" u="none">
                <a:solidFill>
                  <a:srgbClr val="62666C"/>
                </a:solidFill>
                <a:latin typeface="Noto Sans KR"/>
                <a:hlinkClick r:id="rId3"/>
              </a:rPr>
              <a:t>추이 datalab.visitkorea.or.kr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D30 갈마짬뽕</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D31 관저당</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D32 굿모닝레지던스호텔휴</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D33 귀빈돌솥밥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D34 남선공원</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D35 내원사(대전)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D36 노크노크</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D37 대성콩국수</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D38 대전 가수원도서관</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D39 대전광역시청 시민잔디광장</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D40 대전서구문화원</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D41 델빠네</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D42 도마큰시장</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D43 도산서원(대전)</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D44 둔산꽃시장</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D45 둔산전자타운</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D46 롯데백화점 (대전점)</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D47 마치광장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D48 몽뜨</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D49 미세노센세</a:t>
            </a:r>
          </a:p>
        </p:txBody>
      </p:sp>
      <p:sp>
        <p:nvSpPr>
          <p:cNvPr id="4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대전 서구 외지인 지역 상품권 환급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497.6만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8개 참여 점포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20일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4,800명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6,400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1,440명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8개 × 월 20일 × 2개월 × 하루 1회 × 회당 20명 = 6,400명분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2026-11~2026-12 운영 · 예상 견적 4.22억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공식 사례의 운영 방식을 참고하며, 발표 실적을 우리 지역 정원으로 환산하지 않습니다.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대전광역시 서구: 월평균 ML 방문 497.6만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+0.01%</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+0.02%</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75%·15% / 기준 75%·30% / 확대 90%·45%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소비 = 추가 방문 × 16,503원(ML 소비/방문 비율) + 기존 방문 참여 × 8,251원(추가 구매 가정)</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