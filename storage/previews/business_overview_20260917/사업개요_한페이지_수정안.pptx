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ns0="http://schemas.openxmlformats.org/officeDocument/2006/relationships" id="276" ns0:id="rId2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def75127518841e9" Type="http://schemas.openxmlformats.org/officeDocument/2006/relationships/slideMaster" Target="slideMasters/slideMaster1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사업명·사업개요는 저장된 제안에서 읽고, 추가 방문은 목표 합계−ML 합계, 월평균 추가 소비는 같은 차이를 전체 사업 개월 수로 나눈다. 사진은 사업 테마별 AI 생성 예시이며 실제 지역의 시행 현장 증거가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8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erview-bg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orial-kicker"/>
          <p:cNvSpPr txBox="1"/>
          <p:nvPr/>
        </p:nvSpPr>
        <p:spPr>
          <a:xfrm>
            <a:off x="1009650" y="361950"/>
            <a:ext cx="11430000" cy="352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EC164B"/>
                </a:solidFill>
                <a:latin typeface="Noto Sans KR"/>
              </a:rPr>
              <a:t>1.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09650" y="876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22262A"/>
                </a:solidFill>
                <a:latin typeface="Noto Sans KR"/>
              </a:rPr>
              <a:t>1.1 제안 사업 소개</a:t>
            </a:r>
          </a:p>
        </p:txBody>
      </p:sp>
      <p:sp>
        <p:nvSpPr>
          <p:cNvPr id="5" name="overview-name"/>
          <p:cNvSpPr txBox="1"/>
          <p:nvPr/>
        </p:nvSpPr>
        <p:spPr>
          <a:xfrm>
            <a:off x="1009650" y="1638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22262A"/>
                </a:solidFill>
                <a:latin typeface="Noto Sans KR"/>
              </a:rPr>
              <a:t>서구 여행플러스 — 관광 소비 환급 프로그램</a:t>
            </a:r>
          </a:p>
        </p:txBody>
      </p:sp>
      <p:sp>
        <p:nvSpPr>
          <p:cNvPr id="6" name="overview-photo-panel"/>
          <p:cNvSpPr/>
          <p:nvPr/>
        </p:nvSpPr>
        <p:spPr>
          <a:xfrm>
            <a:off x="1009650" y="2381250"/>
            <a:ext cx="7010400" cy="3886200"/>
          </a:xfrm>
          <a:prstGeom prst="rect">
            <a:avLst/>
          </a:prstGeom>
          <a:solidFill>
            <a:srgbClr val="E4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overview-business-photo" descr="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381250"/>
            <a:ext cx="7010400" cy="3505200"/>
          </a:xfrm>
          <a:prstGeom prst="rect">
            <a:avLst/>
          </a:prstGeom>
        </p:spPr>
      </p:pic>
      <p:sp>
        <p:nvSpPr>
          <p:cNvPr id="8" name="overview-caption-bg"/>
          <p:cNvSpPr/>
          <p:nvPr/>
        </p:nvSpPr>
        <p:spPr>
          <a:xfrm>
            <a:off x="1009650" y="5886450"/>
            <a:ext cx="7010400" cy="381000"/>
          </a:xfrm>
          <a:prstGeom prst="rect">
            <a:avLst/>
          </a:prstGeom>
          <a:solidFill>
            <a:srgbClr val="13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erview-caption"/>
          <p:cNvSpPr txBox="1"/>
          <p:nvPr/>
        </p:nvSpPr>
        <p:spPr>
          <a:xfrm>
            <a:off x="1171575" y="5943600"/>
            <a:ext cx="6677025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oto Sans KR"/>
              </a:rPr>
              <a:t>관광객 쿠폰·환급 이용 · AI 생성 예시 이미지</a:t>
            </a:r>
          </a:p>
        </p:txBody>
      </p:sp>
      <p:sp>
        <p:nvSpPr>
          <p:cNvPr id="10" name="overview-description-panel"/>
          <p:cNvSpPr/>
          <p:nvPr/>
        </p:nvSpPr>
        <p:spPr>
          <a:xfrm>
            <a:off x="8334375" y="2381250"/>
            <a:ext cx="5895975" cy="3886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view-description-accent"/>
          <p:cNvSpPr/>
          <p:nvPr/>
        </p:nvSpPr>
        <p:spPr>
          <a:xfrm>
            <a:off x="8639175" y="2752725"/>
            <a:ext cx="47625" cy="361950"/>
          </a:xfrm>
          <a:prstGeom prst="rect">
            <a:avLst/>
          </a:prstGeom>
          <a:solidFill>
            <a:srgbClr val="D5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erview-description-label"/>
          <p:cNvSpPr txBox="1"/>
          <p:nvPr/>
        </p:nvSpPr>
        <p:spPr>
          <a:xfrm>
            <a:off x="8839200" y="2752725"/>
            <a:ext cx="474345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262A"/>
                </a:solidFill>
                <a:latin typeface="Noto Sans KR"/>
              </a:rPr>
              <a:t>사업개요</a:t>
            </a:r>
          </a:p>
        </p:txBody>
      </p:sp>
      <p:sp>
        <p:nvSpPr>
          <p:cNvPr id="13" name="overview-description-divider"/>
          <p:cNvSpPr/>
          <p:nvPr/>
        </p:nvSpPr>
        <p:spPr>
          <a:xfrm>
            <a:off x="8639175" y="3333750"/>
            <a:ext cx="5257800" cy="9525"/>
          </a:xfrm>
          <a:prstGeom prst="rect">
            <a:avLst/>
          </a:prstGeom>
          <a:solidFill>
            <a:srgbClr val="E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view-description"/>
          <p:cNvSpPr txBox="1"/>
          <p:nvPr/>
        </p:nvSpPr>
        <p:spPr>
          <a:xfrm>
            <a:off x="8639175" y="3638550"/>
            <a:ext cx="5238750" cy="2181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서구의 식음료·쇼핑 가맹점에서 결제하면 지출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일부를 지역상품권으로 환급합니다. 받은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혜택을 지역 가게에서 다시 사용하도록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연결하는 관광 소비 프로그램입니다.</a:t>
            </a:r>
          </a:p>
        </p:txBody>
      </p:sp>
      <p:sp>
        <p:nvSpPr>
          <p:cNvPr id="15" name="overview-goal-0"/>
          <p:cNvSpPr/>
          <p:nvPr/>
        </p:nvSpPr>
        <p:spPr>
          <a:xfrm>
            <a:off x="1009650" y="6400800"/>
            <a:ext cx="6419850" cy="1362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verview-goal-icon-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629400"/>
            <a:ext cx="571500" cy="571500"/>
          </a:xfrm>
          <a:prstGeom prst="rect">
            <a:avLst/>
          </a:prstGeom>
        </p:spPr>
      </p:pic>
      <p:sp>
        <p:nvSpPr>
          <p:cNvPr id="17" name="overview-goal-label-0"/>
          <p:cNvSpPr txBox="1"/>
          <p:nvPr/>
        </p:nvSpPr>
        <p:spPr>
          <a:xfrm>
            <a:off x="203835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0">
                <a:solidFill>
                  <a:srgbClr val="59636E"/>
                </a:solidFill>
                <a:latin typeface="Noto Sans KR"/>
              </a:rPr>
              <a:t>3개월 추가 방문 목표</a:t>
            </a:r>
          </a:p>
        </p:txBody>
      </p:sp>
      <p:sp>
        <p:nvSpPr>
          <p:cNvPr id="18" name="overview-goal-value-0"/>
          <p:cNvSpPr txBox="1"/>
          <p:nvPr/>
        </p:nvSpPr>
        <p:spPr>
          <a:xfrm>
            <a:off x="203835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76AA5"/>
                </a:solidFill>
                <a:latin typeface="Noto Sans KR"/>
              </a:rPr>
              <a:t>+1,440명</a:t>
            </a:r>
          </a:p>
        </p:txBody>
      </p:sp>
      <p:sp>
        <p:nvSpPr>
          <p:cNvPr id="19" name="overview-goal-1"/>
          <p:cNvSpPr/>
          <p:nvPr/>
        </p:nvSpPr>
        <p:spPr>
          <a:xfrm>
            <a:off x="7810500" y="6400800"/>
            <a:ext cx="6419850" cy="1362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overview-goal-icon-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6629400"/>
            <a:ext cx="571500" cy="571500"/>
          </a:xfrm>
          <a:prstGeom prst="rect">
            <a:avLst/>
          </a:prstGeom>
        </p:spPr>
      </p:pic>
      <p:sp>
        <p:nvSpPr>
          <p:cNvPr id="21" name="overview-goal-label-1"/>
          <p:cNvSpPr txBox="1"/>
          <p:nvPr/>
        </p:nvSpPr>
        <p:spPr>
          <a:xfrm>
            <a:off x="883920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0">
                <a:solidFill>
                  <a:srgbClr val="59636E"/>
                </a:solidFill>
                <a:latin typeface="Noto Sans KR"/>
              </a:rPr>
              <a:t>3개월간 월평균 추가 소비 목표</a:t>
            </a:r>
          </a:p>
        </p:txBody>
      </p:sp>
      <p:sp>
        <p:nvSpPr>
          <p:cNvPr id="22" name="overview-goal-value-1"/>
          <p:cNvSpPr txBox="1"/>
          <p:nvPr/>
        </p:nvSpPr>
        <p:spPr>
          <a:xfrm>
            <a:off x="883920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867F"/>
                </a:solidFill>
                <a:latin typeface="Noto Sans KR"/>
              </a:rPr>
              <a:t>약 +1,716만 원</a:t>
            </a:r>
          </a:p>
        </p:txBody>
      </p:sp>
      <p:sp>
        <p:nvSpPr>
          <p:cNvPr id="23" name="overview-note"/>
          <p:cNvSpPr txBox="1"/>
          <p:nvPr/>
        </p:nvSpPr>
        <p:spPr>
          <a:xfrm>
            <a:off x="1009650" y="8077200"/>
            <a:ext cx="13220700" cy="2952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6717A"/>
                </a:solidFill>
                <a:latin typeface="Noto Sans KR"/>
              </a:rPr>
              <a:t>운영 규모를 바탕으로 제안한 계획 목표입니다. 월평균 소비 증가는 준비 기간을 포함한 사업기간 합계 ÷ 개월 수입니다.</a:t>
            </a:r>
          </a:p>
        </p:txBody>
      </p:sp>
      <p:sp>
        <p:nvSpPr>
          <p:cNvPr id="24" name="editorial-page"/>
          <p:cNvSpPr txBox="1"/>
          <p:nvPr/>
        </p:nvSpPr>
        <p:spPr>
          <a:xfrm>
            <a:off x="13268325" y="428625"/>
            <a:ext cx="962025" cy="2667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r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6717A"/>
                </a:solidFill>
                <a:latin typeface="Noto Sans KR"/>
              </a:rPr>
              <a:t>03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