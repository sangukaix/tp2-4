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8" r:id="Rb96b5134fc1b462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b96b5134fc1b4629" Type="http://schemas.openxmlformats.org/officeDocument/2006/relationships/slide" Target="slides/slide3.xml"/><Relationship Id="Rdef75127518841e9" Type="http://schemas.openxmlformats.org/officeDocument/2006/relationships/slideMaster" Target="slideMasters/slideMaster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전년 동기 대비 증가율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5004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36A69C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서구</c:v>
                </c:pt>
                <c:pt idx="1">
                  <c:v>전국 비교 평균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-0.819346</c:v>
                </c:pt>
                <c:pt idx="1">
                  <c:v>2.514965</c:v>
                </c:pt>
              </c:numCache>
            </c:numRef>
          </c:val>
        </c:ser>
        <c:dLbls>
          <c:numFmt formatCode="+0.00&quot;%&quot;;-0.00&quot;%&quot;;0.00&quot;%&quot;" sourceLinked="0"/>
          <c:txPr>
            <a:bodyPr/>
            <a:lstStyle/>
            <a:p>
              <a:pPr>
                <a:defRPr sz="1400" b="1">
                  <a:solidFill>
                    <a:srgbClr val="26333F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C8D7E3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Noto Sans KR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3.4485720800000004"/>
          <c:min val="-1.7529530800000002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전년 동기 대비 증가율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5004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36A69C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서구</c:v>
                </c:pt>
                <c:pt idx="1">
                  <c:v>전국 비교 평균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3.845927</c:v>
                </c:pt>
                <c:pt idx="1">
                  <c:v>9.565691</c:v>
                </c:pt>
              </c:numCache>
            </c:numRef>
          </c:val>
        </c:ser>
        <c:dLbls>
          <c:numFmt formatCode="+0.00&quot;%&quot;;-0.00&quot;%&quot;;0.00&quot;%&quot;" sourceLinked="0"/>
          <c:txPr>
            <a:bodyPr/>
            <a:lstStyle/>
            <a:p>
              <a:pPr>
                <a:defRPr sz="1400" b="1">
                  <a:solidFill>
                    <a:srgbClr val="26333F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C8D7E3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Noto Sans KR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2.24408448"/>
          <c:min val="-2.67839348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"comparison": {</a:t>
            </a:r>
          </a:p>
          <a:p xmlns:a="http://schemas.openxmlformats.org/drawingml/2006/main">
            <a:r>
              <a:t>    "count": 249,</a:t>
            </a:r>
          </a:p>
          <a:p xmlns:a="http://schemas.openxmlformats.org/drawingml/2006/main">
            <a:r>
              <a:t>    "months": [</a:t>
            </a:r>
          </a:p>
          <a:p xmlns:a="http://schemas.openxmlformats.org/drawingml/2006/main">
            <a:r>
              <a:t>      "202611",</a:t>
            </a:r>
          </a:p>
          <a:p xmlns:a="http://schemas.openxmlformats.org/drawingml/2006/main">
            <a:r>
              <a:t>      "202612",</a:t>
            </a:r>
          </a:p>
          <a:p xmlns:a="http://schemas.openxmlformats.org/drawingml/2006/main">
            <a:r>
              <a:t>      "202701"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"origin": "202606",</a:t>
            </a:r>
          </a:p>
          <a:p xmlns:a="http://schemas.openxmlformats.org/drawingml/2006/main">
            <a:r>
              <a:t>    "signature": "d46051da15df7b53732bc513556f317ca9dc5380e9a00ec7c0a56e1b268af9d2",</a:t>
            </a:r>
          </a:p>
          <a:p xmlns:a="http://schemas.openxmlformats.org/drawingml/2006/main">
            <a:r>
              <a:t>    "region_code": "30170",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"forecast": [</a:t>
            </a:r>
          </a:p>
          <a:p xmlns:a="http://schemas.openxmlformats.org/drawingml/2006/main">
            <a:r>
              <a:t>          4940348,</a:t>
            </a:r>
          </a:p>
          <a:p xmlns:a="http://schemas.openxmlformats.org/drawingml/2006/main">
            <a:r>
              <a:t>          4989633,</a:t>
            </a:r>
          </a:p>
          <a:p xmlns:a="http://schemas.openxmlformats.org/drawingml/2006/main">
            <a:r>
              <a:t>          5003655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"previous": [</a:t>
            </a:r>
          </a:p>
          <a:p xmlns:a="http://schemas.openxmlformats.org/drawingml/2006/main">
            <a:r>
              <a:t>          5167969.0,</a:t>
            </a:r>
          </a:p>
          <a:p xmlns:a="http://schemas.openxmlformats.org/drawingml/2006/main">
            <a:r>
              <a:t>          5079597.0,</a:t>
            </a:r>
          </a:p>
          <a:p xmlns:a="http://schemas.openxmlformats.org/drawingml/2006/main">
            <a:r>
              <a:t>          4809439.0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"growth_pct": -0.819346211281724,</a:t>
            </a:r>
          </a:p>
          <a:p xmlns:a="http://schemas.openxmlformats.org/drawingml/2006/main">
            <a:r>
              <a:t>        "national_mean_pct": 2.514965160691237,</a:t>
            </a:r>
          </a:p>
          <a:p xmlns:a="http://schemas.openxmlformats.org/drawingml/2006/main">
            <a:r>
              <a:t>        "gap_pp": -3.334311371972961,</a:t>
            </a:r>
          </a:p>
          <a:p xmlns:a="http://schemas.openxmlformats.org/drawingml/2006/main">
            <a:r>
              <a:t>        "rank": 233,</a:t>
            </a:r>
          </a:p>
          <a:p xmlns:a="http://schemas.openxmlformats.org/drawingml/2006/main">
            <a:r>
              <a:t>        "target_growth_pct": -0.8050007288966321,</a:t>
            </a:r>
          </a:p>
          <a:p xmlns:a="http://schemas.openxmlformats.org/drawingml/2006/main">
            <a:r>
              <a:t>        "target_rank": 233,</a:t>
            </a:r>
          </a:p>
          <a:p xmlns:a="http://schemas.openxmlformats.org/drawingml/2006/main">
            <a:r>
              <a:t>        "target": [</a:t>
            </a:r>
          </a:p>
          <a:p xmlns:a="http://schemas.openxmlformats.org/drawingml/2006/main">
            <a:r>
              <a:t>          4940704.530078486,</a:t>
            </a:r>
          </a:p>
          <a:p xmlns:a="http://schemas.openxmlformats.org/drawingml/2006/main">
            <a:r>
              <a:t>          4990353.173657849,</a:t>
            </a:r>
          </a:p>
          <a:p xmlns:a="http://schemas.openxmlformats.org/drawingml/2006/main">
            <a:r>
              <a:t>          5004738.296263663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"additional": 2159.9999999981374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"spending": {</a:t>
            </a:r>
          </a:p>
          <a:p xmlns:a="http://schemas.openxmlformats.org/drawingml/2006/main">
            <a:r>
              <a:t>        "forecast": [</a:t>
            </a:r>
          </a:p>
          <a:p xmlns:a="http://schemas.openxmlformats.org/drawingml/2006/main">
            <a:r>
              <a:t>          85971975908,</a:t>
            </a:r>
          </a:p>
          <a:p xmlns:a="http://schemas.openxmlformats.org/drawingml/2006/main">
            <a:r>
              <a:t>          81033922052,</a:t>
            </a:r>
          </a:p>
          <a:p xmlns:a="http://schemas.openxmlformats.org/drawingml/2006/main">
            <a:r>
              <a:t>          78371629498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"previous": [</a:t>
            </a:r>
          </a:p>
          <a:p xmlns:a="http://schemas.openxmlformats.org/drawingml/2006/main">
            <a:r>
              <a:t>          76509918000.0,</a:t>
            </a:r>
          </a:p>
          <a:p xmlns:a="http://schemas.openxmlformats.org/drawingml/2006/main">
            <a:r>
              <a:t>          81119852000.0,</a:t>
            </a:r>
          </a:p>
          <a:p xmlns:a="http://schemas.openxmlformats.org/drawingml/2006/main">
            <a:r>
              <a:t>          78660217000.0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"growth_pct": 3.8459270210210006,</a:t>
            </a:r>
          </a:p>
          <a:p xmlns:a="http://schemas.openxmlformats.org/drawingml/2006/main">
            <a:r>
              <a:t>        "national_mean_pct": 9.565691114245439,</a:t>
            </a:r>
          </a:p>
          <a:p xmlns:a="http://schemas.openxmlformats.org/drawingml/2006/main">
            <a:r>
              <a:t>        "gap_pp": -5.7197640932244385,</a:t>
            </a:r>
          </a:p>
          <a:p xmlns:a="http://schemas.openxmlformats.org/drawingml/2006/main">
            <a:r>
              <a:t>        "rank": 70,</a:t>
            </a:r>
          </a:p>
          <a:p xmlns:a="http://schemas.openxmlformats.org/drawingml/2006/main">
            <a:r>
              <a:t>        "target_growth_pct": 3.878470752550345,</a:t>
            </a:r>
          </a:p>
          <a:p xmlns:a="http://schemas.openxmlformats.org/drawingml/2006/main">
            <a:r>
              <a:t>        "target_rank": 70,</a:t>
            </a:r>
          </a:p>
          <a:p xmlns:a="http://schemas.openxmlformats.org/drawingml/2006/main">
            <a:r>
              <a:t>        "target": [</a:t>
            </a:r>
          </a:p>
          <a:p xmlns:a="http://schemas.openxmlformats.org/drawingml/2006/main">
            <a:r>
              <a:t>          85985658972.02232,</a:t>
            </a:r>
          </a:p>
          <a:p xmlns:a="http://schemas.openxmlformats.org/drawingml/2006/main">
            <a:r>
              <a:t>          81059716325.81322,</a:t>
            </a:r>
          </a:p>
          <a:p xmlns:a="http://schemas.openxmlformats.org/drawingml/2006/main">
            <a:r>
              <a:t>          78409049739.16447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"additional": 76897579.0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"population_adjusted": false,</a:t>
            </a:r>
          </a:p>
          <a:p xmlns:a="http://schemas.openxmlformats.org/drawingml/2006/main">
            <a:r>
              <a:t>    "cohort":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"28245",</a:t>
            </a:r>
          </a:p>
          <a:p xmlns:a="http://schemas.openxmlformats.org/drawingml/2006/main">
            <a:r>
              <a:t>        "region_name": "인천광역시 계양구",</a:t>
            </a:r>
          </a:p>
          <a:p xmlns:a="http://schemas.openxmlformats.org/drawingml/2006/main">
            <a:r>
              <a:t>        "visitors_yoy_pct": 3.2875867868914055,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"11110",</a:t>
            </a:r>
          </a:p>
          <a:p xmlns:a="http://schemas.openxmlformats.org/drawingml/2006/main">
            <a:r>
              <a:t>        "region_name": "서울특별시 종로구",</a:t>
            </a:r>
          </a:p>
          <a:p xmlns:a="http://schemas.openxmlformats.org/drawingml/2006/main">
            <a:r>
              <a:t>        "visitors_yoy_pct": 3.380595607680559,</a:t>
            </a:r>
          </a:p>
          <a:p xmlns:a="http://schemas.openxmlformats.org/drawingml/2006/main">
            <a:r>
              <a:t>        "spending_yoy_pct": 5.648215454695205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"11140",</a:t>
            </a:r>
          </a:p>
          <a:p xmlns:a="http://schemas.openxmlformats.org/drawingml/2006/main">
            <a:r>
              <a:t>        "region_name": "서울특별시 중구",</a:t>
            </a:r>
          </a:p>
          <a:p xmlns:a="http://schemas.openxmlformats.org/drawingml/2006/main">
            <a:r>
              <a:t>        "visitors_yoy_pct": -4.0518148966727345,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"11170",</a:t>
            </a:r>
          </a:p>
          <a:p xmlns:a="http://schemas.openxmlformats.org/drawingml/2006/main">
            <a:r>
              <a:t>        "region_name": "서울특별시 용산구",</a:t>
            </a:r>
          </a:p>
          <a:p xmlns:a="http://schemas.openxmlformats.org/drawingml/2006/main">
            <a:r>
              <a:t>        "visitors_yoy_pct": 2.7119695145277456,</a:t>
            </a:r>
          </a:p>
          <a:p xmlns:a="http://schemas.openxmlformats.org/drawingml/2006/main">
            <a:r>
              <a:t>        "spending_yoy_pct": 17.67843250733401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"11200",</a:t>
            </a:r>
          </a:p>
          <a:p xmlns:a="http://schemas.openxmlformats.org/drawingml/2006/main">
            <a:r>
              <a:t>        "region_name": "서울특별시 성동구",</a:t>
            </a:r>
          </a:p>
          <a:p xmlns:a="http://schemas.openxmlformats.org/drawingml/2006/main">
            <a:r>
              <a:t>        "visitors_yoy_pct": 4.165662982940743,</a:t>
            </a:r>
          </a:p>
          <a:p xmlns:a="http://schemas.openxmlformats.org/drawingml/2006/main">
            <a:r>
              <a:t>        "spending_yoy_pct": 5.1971035990049375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"11215",</a:t>
            </a:r>
          </a:p>
          <a:p xmlns:a="http://schemas.openxmlformats.org/drawingml/2006/main">
            <a:r>
              <a:t>        "region_name": "서울특별시 광진구",</a:t>
            </a:r>
          </a:p>
          <a:p xmlns:a="http://schemas.openxmlformats.org/drawingml/2006/main">
            <a:r>
              <a:t>        "visitors_yoy_pct": 5.788804569853823,</a:t>
            </a:r>
          </a:p>
          <a:p xmlns:a="http://schemas.openxmlformats.org/drawingml/2006/main">
            <a:r>
              <a:t>        "spending_yoy_pct": 19.52738075257865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"11230",</a:t>
            </a:r>
          </a:p>
          <a:p xmlns:a="http://schemas.openxmlformats.org/drawingml/2006/main">
            <a:r>
              <a:t>        "region_name": "서울특별시 동대문구",</a:t>
            </a:r>
          </a:p>
          <a:p xmlns:a="http://schemas.openxmlformats.org/drawingml/2006/main">
            <a:r>
              <a:t>        "visitors_yoy_pct": 3.5101887826582523,</a:t>
            </a:r>
          </a:p>
          <a:p xmlns:a="http://schemas.openxmlformats.org/drawingml/2006/main">
            <a:r>
              <a:t>        "spending_yoy_pct": 4.382432601417863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"11260",</a:t>
            </a:r>
          </a:p>
          <a:p xmlns:a="http://schemas.openxmlformats.org/drawingml/2006/main">
            <a:r>
              <a:t>        "region_name": "서울특별시 중랑구",</a:t>
            </a:r>
          </a:p>
          <a:p xmlns:a="http://schemas.openxmlformats.org/drawingml/2006/main">
            <a:r>
              <a:t>        "visitors_yoy_pct": -0.11579844359291824,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"11290",</a:t>
            </a:r>
          </a:p>
          <a:p xmlns:a="http://schemas.openxmlformats.org/drawingml/2006/main">
            <a:r>
              <a:t>        "region_name": "서울특별시 성북구",</a:t>
            </a:r>
          </a:p>
          <a:p xmlns:a="http://schemas.openxmlformats.org/drawingml/2006/main">
            <a:r>
              <a:t>        "visitors_yoy_pct": 8.705640232607404,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"11305",</a:t>
            </a:r>
          </a:p>
          <a:p xmlns:a="http://schemas.openxmlformats.org/drawingml/2006/main">
            <a:r>
              <a:t>        "region_name": "서울특별시 강북구",</a:t>
            </a:r>
          </a:p>
          <a:p xmlns:a="http://schemas.openxmlformats.org/drawingml/2006/main">
            <a:r>
              <a:t>        "visitors_yoy_pct": 2.7472890977941145,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"11320",</a:t>
            </a:r>
          </a:p>
          <a:p xmlns:a="http://schemas.openxmlformats.org/drawingml/2006/main">
            <a:r>
              <a:t>        "region_name": "서울특별시 도봉구",</a:t>
            </a:r>
          </a:p>
          <a:p xmlns:a="http://schemas.openxmlformats.org/drawingml/2006/main">
            <a:r>
              <a:t>        "visitors_yoy_pct": 3.514956030286287,</a:t>
            </a:r>
          </a:p>
          <a:p xmlns:a="http://schemas.openxmlformats.org/drawingml/2006/main">
            <a:r>
              <a:t>        "spending_yoy_pct": -2.5040232142768737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"11350",</a:t>
            </a:r>
          </a:p>
          <a:p xmlns:a="http://schemas.openxmlformats.org/drawingml/2006/main">
            <a:r>
              <a:t>        "region_name": "서울특별시 노원구",</a:t>
            </a:r>
          </a:p>
          <a:p xmlns:a="http://schemas.openxmlformats.org/drawingml/2006/main">
            <a:r>
              <a:t>        "visitors_yoy_pct": 4.696499794287856,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"11380",</a:t>
            </a:r>
          </a:p>
          <a:p xmlns:a="http://schemas.openxmlformats.org/drawingml/2006/main">
            <a:r>
              <a:t>        "region_name": "서울특별시 은평구",</a:t>
            </a:r>
          </a:p>
          <a:p xmlns:a="http://schemas.openxmlformats.org/drawingml/2006/main">
            <a:r>
              <a:t>        "visitors_yoy_pct": 1.2250415327720754,</a:t>
            </a:r>
          </a:p>
          <a:p xmlns:a="http://schemas.openxmlformats.org/drawingml/2006/main">
            <a:r>
              <a:t>        "spending_yoy_pct": 12.19557859511724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"11410",</a:t>
            </a:r>
          </a:p>
          <a:p xmlns:a="http://schemas.openxmlformats.org/drawingml/2006/main">
            <a:r>
              <a:t>        "region_name": "서울특별시 서대문구",</a:t>
            </a:r>
          </a:p>
          <a:p xmlns:a="http://schemas.openxmlformats.org/drawingml/2006/main">
            <a:r>
              <a:t>        "visitors_yoy_pct": -0.22735795943712445,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"11440",</a:t>
            </a:r>
          </a:p>
          <a:p xmlns:a="http://schemas.openxmlformats.org/drawingml/2006/main">
            <a:r>
              <a:t>        "region_name": "서울특별시 마포구",</a:t>
            </a:r>
          </a:p>
          <a:p xmlns:a="http://schemas.openxmlformats.org/drawingml/2006/main">
            <a:r>
              <a:t>        "visitors_yoy_pct": 0.5739588120649453,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"11470",</a:t>
            </a:r>
          </a:p>
          <a:p xmlns:a="http://schemas.openxmlformats.org/drawingml/2006/main">
            <a:r>
              <a:t>        "region_name": "서울특별시 양천구",</a:t>
            </a:r>
          </a:p>
          <a:p xmlns:a="http://schemas.openxmlformats.org/drawingml/2006/main">
            <a:r>
              <a:t>        "visitors_yoy_pct": 1.3576055096917505,</a:t>
            </a:r>
          </a:p>
          <a:p xmlns:a="http://schemas.openxmlformats.org/drawingml/2006/main">
            <a:r>
              <a:t>        "spending_yoy_pct": 6.626836274491077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"11500",</a:t>
            </a:r>
          </a:p>
          <a:p xmlns:a="http://schemas.openxmlformats.org/drawingml/2006/main">
            <a:r>
              <a:t>        "region_name": "서울특별시 강서구",</a:t>
            </a:r>
          </a:p>
          <a:p xmlns:a="http://schemas.openxmlformats.org/drawingml/2006/main">
            <a:r>
              <a:t>        "visitors_yoy_pct": -3.049111773679136,</a:t>
            </a:r>
          </a:p>
          <a:p xmlns:a="http://schemas.openxmlformats.org/drawingml/2006/main">
            <a:r>
              <a:t>        "spending_yoy_pct": 1.5196436346591513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"11530",</a:t>
            </a:r>
          </a:p>
          <a:p xmlns:a="http://schemas.openxmlformats.org/drawingml/2006/main">
            <a:r>
              <a:t>        "region_name": "서울특별시 구로구",</a:t>
            </a:r>
          </a:p>
          <a:p xmlns:a="http://schemas.openxmlformats.org/drawingml/2006/main">
            <a:r>
              <a:t>        "visitors_yoy_pct": -3.256142684601193,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"11545",</a:t>
            </a:r>
          </a:p>
          <a:p xmlns:a="http://schemas.openxmlformats.org/drawingml/2006/main">
            <a:r>
              <a:t>        "region_name": "서울특별시 금천구",</a:t>
            </a:r>
          </a:p>
          <a:p xmlns:a="http://schemas.openxmlformats.org/drawingml/2006/main">
            <a:r>
              <a:t>        "visitors_yoy_pct": 0.19905328071248007,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"11560",</a:t>
            </a:r>
          </a:p>
          <a:p xmlns:a="http://schemas.openxmlformats.org/drawingml/2006/main">
            <a:r>
              <a:t>        "region_name": "서울특별시 영등포구",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"11590",</a:t>
            </a:r>
          </a:p>
          <a:p xmlns:a="http://schemas.openxmlformats.org/drawingml/2006/main">
            <a:r>
              <a:t>        "region_name": "서울특별시 동작구",</a:t>
            </a:r>
          </a:p>
          <a:p xmlns:a="http://schemas.openxmlformats.org/drawingml/2006/main">
            <a:r>
              <a:t>        "visitors_yoy_pct": -1.6317277122867235,</a:t>
            </a:r>
          </a:p>
          <a:p xmlns:a="http://schemas.openxmlformats.org/drawingml/2006/main">
            <a:r>
              <a:t>        "spending_yoy_pct": 6.539237936963516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"11620",</a:t>
            </a:r>
          </a:p>
          <a:p xmlns:a="http://schemas.openxmlformats.org/drawingml/2006/main">
            <a:r>
              <a:t>        "region_name": "서울특별시 관악구",</a:t>
            </a:r>
          </a:p>
          <a:p xmlns:a="http://schemas.openxmlformats.org/drawingml/2006/main">
            <a:r>
              <a:t>        "visitors_yoy_pct": 2.902964601626601,</a:t>
            </a:r>
          </a:p>
          <a:p xmlns:a="http://schemas.openxmlformats.org/drawingml/2006/main">
            <a:r>
              <a:t>        "spending_yoy_pct": 2.7363254100926104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"11650",</a:t>
            </a:r>
          </a:p>
          <a:p xmlns:a="http://schemas.openxmlformats.org/drawingml/2006/main">
            <a:r>
              <a:t>        "region_name": "서울특별시 서초구",</a:t>
            </a:r>
          </a:p>
          <a:p xmlns:a="http://schemas.openxmlformats.org/drawingml/2006/main">
            <a:r>
              <a:t>        "visitors_yoy_pct": -4.3657056821402085,</a:t>
            </a:r>
          </a:p>
          <a:p xmlns:a="http://schemas.openxmlformats.org/drawingml/2006/main">
            <a:r>
              <a:t>        "spending_yoy_pct": 8.07241935991243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"11710",</a:t>
            </a:r>
          </a:p>
          <a:p xmlns:a="http://schemas.openxmlformats.org/drawingml/2006/main">
            <a:r>
              <a:t>        "region_name": "서울특별시 송파구",</a:t>
            </a:r>
          </a:p>
          <a:p xmlns:a="http://schemas.openxmlformats.org/drawingml/2006/main">
            <a:r>
              <a:t>        "visitors_yoy_pct": 1.0566811519832076,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"11740",</a:t>
            </a:r>
          </a:p>
          <a:p xmlns:a="http://schemas.openxmlformats.org/drawingml/2006/main">
            <a:r>
              <a:t>        "region_name": "서울특별시 강동구",</a:t>
            </a:r>
          </a:p>
          <a:p xmlns:a="http://schemas.openxmlformats.org/drawingml/2006/main">
            <a:r>
              <a:t>        "visitors_yoy_pct": 0.9197678798290587,</a:t>
            </a:r>
          </a:p>
          <a:p xmlns:a="http://schemas.openxmlformats.org/drawingml/2006/main">
            <a:r>
              <a:t>        "spending_yoy_pct": 4.734851038949284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"51110",</a:t>
            </a:r>
          </a:p>
          <a:p xmlns:a="http://schemas.openxmlformats.org/drawingml/2006/main">
            <a:r>
              <a:t>        "region_name": "강원특별자치도 춘천시",</a:t>
            </a:r>
          </a:p>
          <a:p xmlns:a="http://schemas.openxmlformats.org/drawingml/2006/main">
            <a:r>
              <a:t>        "visitors_yoy_pct": 0.6930305374551082,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"51130",</a:t>
            </a:r>
          </a:p>
          <a:p xmlns:a="http://schemas.openxmlformats.org/drawingml/2006/main">
            <a:r>
              <a:t>        "region_name": "강원특별자치도 원주시",</a:t>
            </a:r>
          </a:p>
          <a:p xmlns:a="http://schemas.openxmlformats.org/drawingml/2006/main">
            <a:r>
              <a:t>        "visitors_yoy_pct": 0.8617865354602738,</a:t>
            </a:r>
          </a:p>
          <a:p xmlns:a="http://schemas.openxmlformats.org/drawingml/2006/main">
            <a:r>
              <a:t>        "spending_yoy_pct": 57.41880146286793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"51150",</a:t>
            </a:r>
          </a:p>
          <a:p xmlns:a="http://schemas.openxmlformats.org/drawingml/2006/main">
            <a:r>
              <a:t>        "region_name": "강원특별자치도 강릉시",</a:t>
            </a:r>
          </a:p>
          <a:p xmlns:a="http://schemas.openxmlformats.org/drawingml/2006/main">
            <a:r>
              <a:t>        "visitors_yoy_pct": 8.710745667993546,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"51170",</a:t>
            </a:r>
          </a:p>
          <a:p xmlns:a="http://schemas.openxmlformats.org/drawingml/2006/main">
            <a:r>
              <a:t>        "region_name": "강원특별자치도 동해시",</a:t>
            </a:r>
          </a:p>
          <a:p xmlns:a="http://schemas.openxmlformats.org/drawingml/2006/main">
            <a:r>
              <a:t>        "visitors_yoy_pct": 3.1920808079337615,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"51190",</a:t>
            </a:r>
          </a:p>
          <a:p xmlns:a="http://schemas.openxmlformats.org/drawingml/2006/main">
            <a:r>
              <a:t>        "region_name": "강원특별자치도 태백시",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"51210",</a:t>
            </a:r>
          </a:p>
          <a:p xmlns:a="http://schemas.openxmlformats.org/drawingml/2006/main">
            <a:r>
              <a:t>        "region_name": "강원특별자치도 속초시",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"51230",</a:t>
            </a:r>
          </a:p>
          <a:p xmlns:a="http://schemas.openxmlformats.org/drawingml/2006/main">
            <a:r>
              <a:t>        "region_name": "강원특별자치도 삼척시",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"51720",</a:t>
            </a:r>
          </a:p>
          <a:p xmlns:a="http://schemas.openxmlformats.org/drawingml/2006/main">
            <a:r>
              <a:t>        "region_name": "강원특별자치도 홍천군",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"51730",</a:t>
            </a:r>
          </a:p>
          <a:p xmlns:a="http://schemas.openxmlformats.org/drawingml/2006/main">
            <a:r>
              <a:t>        "region_name": "강원특별자치도 횡성군",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"51750",</a:t>
            </a:r>
          </a:p>
          <a:p xmlns:a="http://schemas.openxmlformats.org/drawingml/2006/main">
            <a:r>
              <a:t>        "region_name": "강원특별자치도 영월군",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"51760",</a:t>
            </a:r>
          </a:p>
          <a:p xmlns:a="http://schemas.openxmlformats.org/drawingml/2006/main">
            <a:r>
              <a:t>        "region_name": "강원특별자치도 평창군",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"51770",</a:t>
            </a:r>
          </a:p>
          <a:p xmlns:a="http://schemas.openxmlformats.org/drawingml/2006/main">
            <a:r>
              <a:t>        "region_name": "강원특별자치도 정선군",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"51780",</a:t>
            </a:r>
          </a:p>
          <a:p xmlns:a="http://schemas.openxmlformats.org/drawingml/2006/main">
            <a:r>
              <a:t>        "region_name": "강원특별자치도 철원군",</a:t>
            </a:r>
          </a:p>
          <a:p xmlns:a="http://schemas.openxmlformats.org/drawingml/2006/main">
            <a:r>
              <a:t>        "visitors_yoy_pct": -1.1438635456003987,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"51790",</a:t>
            </a:r>
          </a:p>
          <a:p xmlns:a="http://schemas.openxmlformats.org/drawingml/2006/main">
            <a:r>
              <a:t>        "region_name": "강원특별자치도 화천군",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"51800",</a:t>
            </a:r>
          </a:p>
          <a:p xmlns:a="http://schemas.openxmlformats.org/drawingml/2006/main">
            <a:r>
              <a:t>        "region_name": "강원특별자치도 양구군",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"51810",</a:t>
            </a:r>
          </a:p>
          <a:p xmlns:a="http://schemas.openxmlformats.org/drawingml/2006/main">
            <a:r>
              <a:t>        "region_name": "강원특별자치도 인제군",</a:t>
            </a:r>
          </a:p>
          <a:p xmlns:a="http://schemas.openxmlformats.org/drawingml/2006/main">
            <a:r>
              <a:t>        "visitors_yoy_pct": 20.23932769560186,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"51820",</a:t>
            </a:r>
          </a:p>
          <a:p xmlns:a="http://schemas.openxmlformats.org/drawingml/2006/main">
            <a:r>
              <a:t>        "region_name": "강원특별자치도 고성군",</a:t>
            </a:r>
          </a:p>
          <a:p xmlns:a="http://schemas.openxmlformats.org/drawingml/2006/main">
            <a:r>
              <a:t>        "visitors_yoy_pct": 0.6274249767530771,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"51830",</a:t>
            </a:r>
          </a:p>
          <a:p xmlns:a="http://schemas.openxmlformats.org/drawingml/2006/main">
            <a:r>
              <a:t>        "region_name": "강원특별자치도 양양군",</a:t>
            </a:r>
          </a:p>
          <a:p xmlns:a="http://schemas.openxmlformats.org/drawingml/2006/main">
            <a:r>
              <a:t>        "visitors_yoy_pct": 1.5094291400099102,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"41111",</a:t>
            </a:r>
          </a:p>
          <a:p xmlns:a="http://schemas.openxmlformats.org/drawingml/2006/main">
            <a:r>
              <a:t>        "region_name": "경기도 수원시 장안구",</a:t>
            </a:r>
          </a:p>
          <a:p xmlns:a="http://schemas.openxmlformats.org/drawingml/2006/main">
            <a:r>
              <a:t>        "visitors_yoy_pct": 1.9243063928166215,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"41113",</a:t>
            </a:r>
          </a:p>
          <a:p xmlns:a="http://schemas.openxmlformats.org/drawingml/2006/main">
            <a:r>
              <a:t>        "region_name": "경기도 수원시 권선구",</a:t>
            </a:r>
          </a:p>
          <a:p xmlns:a="http://schemas.openxmlformats.org/drawingml/2006/main">
            <a:r>
              <a:t>        "visitors_yoy_pct": 0.5240195771314182,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"41115",</a:t>
            </a:r>
          </a:p>
          <a:p xmlns:a="http://schemas.openxmlformats.org/drawingml/2006/main">
            <a:r>
              <a:t>        "region_name": "경기도 수원시 팔달구",</a:t>
            </a:r>
          </a:p>
          <a:p xmlns:a="http://schemas.openxmlformats.org/drawingml/2006/main">
            <a:r>
              <a:t>        "visitors_yoy_pct": 2.9158637445051205,</a:t>
            </a:r>
          </a:p>
          <a:p xmlns:a="http://schemas.openxmlformats.org/drawingml/2006/main">
            <a:r>
              <a:t>        "spending_yoy_pct": 4.520264133233187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"41117",</a:t>
            </a:r>
          </a:p>
          <a:p xmlns:a="http://schemas.openxmlformats.org/drawingml/2006/main">
            <a:r>
              <a:t>        "region_name": "경기도 수원시 영통구",</a:t>
            </a:r>
          </a:p>
          <a:p xmlns:a="http://schemas.openxmlformats.org/drawingml/2006/main">
            <a:r>
              <a:t>        "visitors_yoy_pct": 1.210445125437265,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"41131",</a:t>
            </a:r>
          </a:p>
          <a:p xmlns:a="http://schemas.openxmlformats.org/drawingml/2006/main">
            <a:r>
              <a:t>        "region_name": "경기도 성남시 수정구",</a:t>
            </a:r>
          </a:p>
          <a:p xmlns:a="http://schemas.openxmlformats.org/drawingml/2006/main">
            <a:r>
              <a:t>        "visitors_yoy_pct": 4.12323742927474,</a:t>
            </a:r>
          </a:p>
          <a:p xmlns:a="http://schemas.openxmlformats.org/drawingml/2006/main">
            <a:r>
              <a:t>        "spending_yoy_pct": 11.895302839673372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"41133",</a:t>
            </a:r>
          </a:p>
          <a:p xmlns:a="http://schemas.openxmlformats.org/drawingml/2006/main">
            <a:r>
              <a:t>        "region_name": "경기도 성남시 중원구",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16.147010113508074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"41135",</a:t>
            </a:r>
          </a:p>
          <a:p xmlns:a="http://schemas.openxmlformats.org/drawingml/2006/main">
            <a:r>
              <a:t>        "region_name": "경기도 성남시 분당구",</a:t>
            </a:r>
          </a:p>
          <a:p xmlns:a="http://schemas.openxmlformats.org/drawingml/2006/main">
            <a:r>
              <a:t>        "visitors_yoy_pct": -0.7822488489986013,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"41150",</a:t>
            </a:r>
          </a:p>
          <a:p xmlns:a="http://schemas.openxmlformats.org/drawingml/2006/main">
            <a:r>
              <a:t>        "region_name": "경기도 의정부시",</a:t>
            </a:r>
          </a:p>
          <a:p xmlns:a="http://schemas.openxmlformats.org/drawingml/2006/main">
            <a:r>
              <a:t>        "visitors_yoy_pct": 2.8643102379710905,</a:t>
            </a:r>
          </a:p>
          <a:p xmlns:a="http://schemas.openxmlformats.org/drawingml/2006/main">
            <a:r>
              <a:t>        "spending_yoy_pct": 0.19488744797944157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"41171",</a:t>
            </a:r>
          </a:p>
          <a:p xmlns:a="http://schemas.openxmlformats.org/drawingml/2006/main">
            <a:r>
              <a:t>        "region_name": "경기도 안양시 만안구",</a:t>
            </a:r>
          </a:p>
          <a:p xmlns:a="http://schemas.openxmlformats.org/drawingml/2006/main">
            <a:r>
              <a:t>        "visitors_yoy_pct": 3.9046185377575204,</a:t>
            </a:r>
          </a:p>
          <a:p xmlns:a="http://schemas.openxmlformats.org/drawingml/2006/main">
            <a:r>
              <a:t>        "spending_yoy_pct": 0.5713335237841122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"41173",</a:t>
            </a:r>
          </a:p>
          <a:p xmlns:a="http://schemas.openxmlformats.org/drawingml/2006/main">
            <a:r>
              <a:t>        "region_name": "경기도 안양시 동안구",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"41192",</a:t>
            </a:r>
          </a:p>
          <a:p xmlns:a="http://schemas.openxmlformats.org/drawingml/2006/main">
            <a:r>
              <a:t>        "region_name": "경기도 부천시 원미구",</a:t>
            </a:r>
          </a:p>
          <a:p xmlns:a="http://schemas.openxmlformats.org/drawingml/2006/main">
            <a:r>
              <a:t>        "visitors_yoy_pct": 1.6510666395191942,</a:t>
            </a:r>
          </a:p>
          <a:p xmlns:a="http://schemas.openxmlformats.org/drawingml/2006/main">
            <a:r>
              <a:t>        "spending_yoy_pct": -0.4582054962217641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"41194",</a:t>
            </a:r>
          </a:p>
          <a:p xmlns:a="http://schemas.openxmlformats.org/drawingml/2006/main">
            <a:r>
              <a:t>        "region_name": "경기도 부천시 소사구",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-0.2098847807354809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"41196",</a:t>
            </a:r>
          </a:p>
          <a:p xmlns:a="http://schemas.openxmlformats.org/drawingml/2006/main">
            <a:r>
              <a:t>        "region_name": "경기도 부천시 오정구",</a:t>
            </a:r>
          </a:p>
          <a:p xmlns:a="http://schemas.openxmlformats.org/drawingml/2006/main">
            <a:r>
              <a:t>        "visitors_yoy_pct": 1.5544985519476695,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"41210",</a:t>
            </a:r>
          </a:p>
          <a:p xmlns:a="http://schemas.openxmlformats.org/drawingml/2006/main">
            <a:r>
              <a:t>        "region_name": "경기도 광명시",</a:t>
            </a:r>
          </a:p>
          <a:p xmlns:a="http://schemas.openxmlformats.org/drawingml/2006/main">
            <a:r>
              <a:t>        "visitors_yoy_pct": 0.21689382606051577,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"41220",</a:t>
            </a:r>
          </a:p>
          <a:p xmlns:a="http://schemas.openxmlformats.org/drawingml/2006/main">
            <a:r>
              <a:t>        "region_name": "경기도 평택시",</a:t>
            </a:r>
          </a:p>
          <a:p xmlns:a="http://schemas.openxmlformats.org/drawingml/2006/main">
            <a:r>
              <a:t>        "visitors_yoy_pct": 6.085733514510894,</a:t>
            </a:r>
          </a:p>
          <a:p xmlns:a="http://schemas.openxmlformats.org/drawingml/2006/main">
            <a:r>
              <a:t>        "spending_yoy_pct": 17.521588655309618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"41250",</a:t>
            </a:r>
          </a:p>
          <a:p xmlns:a="http://schemas.openxmlformats.org/drawingml/2006/main">
            <a:r>
              <a:t>        "region_name": "경기도 동두천시",</a:t>
            </a:r>
          </a:p>
          <a:p xmlns:a="http://schemas.openxmlformats.org/drawingml/2006/main">
            <a:r>
              <a:t>        "visitors_yoy_pct": 0.7509577956833491,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"41271",</a:t>
            </a:r>
          </a:p>
          <a:p xmlns:a="http://schemas.openxmlformats.org/drawingml/2006/main">
            <a:r>
              <a:t>        "region_name": "경기도 안산시 상록구",</a:t>
            </a:r>
          </a:p>
          <a:p xmlns:a="http://schemas.openxmlformats.org/drawingml/2006/main">
            <a:r>
              <a:t>        "visitors_yoy_pct": 5.0315096239816,</a:t>
            </a:r>
          </a:p>
          <a:p xmlns:a="http://schemas.openxmlformats.org/drawingml/2006/main">
            <a:r>
              <a:t>        "spending_yoy_pct": 16.965160253491728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"41273",</a:t>
            </a:r>
          </a:p>
          <a:p xmlns:a="http://schemas.openxmlformats.org/drawingml/2006/main">
            <a:r>
              <a:t>        "region_name": "경기도 안산시 단원구",</a:t>
            </a:r>
          </a:p>
          <a:p xmlns:a="http://schemas.openxmlformats.org/drawingml/2006/main">
            <a:r>
              <a:t>        "visitors_yoy_pct": 5.022983190206376,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"41281",</a:t>
            </a:r>
          </a:p>
          <a:p xmlns:a="http://schemas.openxmlformats.org/drawingml/2006/main">
            <a:r>
              <a:t>        "region_name": "경기도 고양시 덕양구",</a:t>
            </a:r>
          </a:p>
          <a:p xmlns:a="http://schemas.openxmlformats.org/drawingml/2006/main">
            <a:r>
              <a:t>        "visitors_yoy_pct": 7.1498512099725575,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"41285",</a:t>
            </a:r>
          </a:p>
          <a:p xmlns:a="http://schemas.openxmlformats.org/drawingml/2006/main">
            <a:r>
              <a:t>        "region_name": "경기도 고양시 일산동구",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"41287",</a:t>
            </a:r>
          </a:p>
          <a:p xmlns:a="http://schemas.openxmlformats.org/drawingml/2006/main">
            <a:r>
              <a:t>        "region_name": "경기도 고양시 일산서구",</a:t>
            </a:r>
          </a:p>
          <a:p xmlns:a="http://schemas.openxmlformats.org/drawingml/2006/main">
            <a:r>
              <a:t>        "visitors_yoy_pct": 5.350049823723646,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"41290",</a:t>
            </a:r>
          </a:p>
          <a:p xmlns:a="http://schemas.openxmlformats.org/drawingml/2006/main">
            <a:r>
              <a:t>        "region_name": "경기도 과천시",</a:t>
            </a:r>
          </a:p>
          <a:p xmlns:a="http://schemas.openxmlformats.org/drawingml/2006/main">
            <a:r>
              <a:t>        "visitors_yoy_pct": 12.061770183104548,</a:t>
            </a:r>
          </a:p>
          <a:p xmlns:a="http://schemas.openxmlformats.org/drawingml/2006/main">
            <a:r>
              <a:t>        "spending_yoy_pct": 32.501433300050245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"41310",</a:t>
            </a:r>
          </a:p>
          <a:p xmlns:a="http://schemas.openxmlformats.org/drawingml/2006/main">
            <a:r>
              <a:t>        "region_name": "경기도 구리시",</a:t>
            </a:r>
          </a:p>
          <a:p xmlns:a="http://schemas.openxmlformats.org/drawingml/2006/main">
            <a:r>
              <a:t>        "visitors_yoy_pct": 2.9791663767793297,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"41360",</a:t>
            </a:r>
          </a:p>
          <a:p xmlns:a="http://schemas.openxmlformats.org/drawingml/2006/main">
            <a:r>
              <a:t>        "region_name": "경기도 남양주시",</a:t>
            </a:r>
          </a:p>
          <a:p xmlns:a="http://schemas.openxmlformats.org/drawingml/2006/main">
            <a:r>
              <a:t>        "visitors_yoy_pct": 6.649126486972001,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"41370",</a:t>
            </a:r>
          </a:p>
          <a:p xmlns:a="http://schemas.openxmlformats.org/drawingml/2006/main">
            <a:r>
              <a:t>        "region_name": "경기도 오산시",</a:t>
            </a:r>
          </a:p>
          <a:p xmlns:a="http://schemas.openxmlformats.org/drawingml/2006/main">
            <a:r>
              <a:t>        "visitors_yoy_pct": 3.2372426578552993,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"41390",</a:t>
            </a:r>
          </a:p>
          <a:p xmlns:a="http://schemas.openxmlformats.org/drawingml/2006/main">
            <a:r>
              <a:t>        "region_name": "경기도 시흥시",</a:t>
            </a:r>
          </a:p>
          <a:p xmlns:a="http://schemas.openxmlformats.org/drawingml/2006/main">
            <a:r>
              <a:t>        "visitors_yoy_pct": 4.433659221140607,</a:t>
            </a:r>
          </a:p>
          <a:p xmlns:a="http://schemas.openxmlformats.org/drawingml/2006/main">
            <a:r>
              <a:t>        "spending_yoy_pct": -2.1744445027468196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"41410",</a:t>
            </a:r>
          </a:p>
          <a:p xmlns:a="http://schemas.openxmlformats.org/drawingml/2006/main">
            <a:r>
              <a:t>        "region_name": "경기도 군포시",</a:t>
            </a:r>
          </a:p>
          <a:p xmlns:a="http://schemas.openxmlformats.org/drawingml/2006/main">
            <a:r>
              <a:t>        "visitors_yoy_pct": 2.8143661310433554,</a:t>
            </a:r>
          </a:p>
          <a:p xmlns:a="http://schemas.openxmlformats.org/drawingml/2006/main">
            <a:r>
              <a:t>        "spending_yoy_pct": 71.36235434555765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"41430",</a:t>
            </a:r>
          </a:p>
          <a:p xmlns:a="http://schemas.openxmlformats.org/drawingml/2006/main">
            <a:r>
              <a:t>        "region_name": "경기도 의왕시",</a:t>
            </a:r>
          </a:p>
          <a:p xmlns:a="http://schemas.openxmlformats.org/drawingml/2006/main">
            <a:r>
              <a:t>        "visitors_yoy_pct": 3.8579875619026316,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"41450",</a:t>
            </a:r>
          </a:p>
          <a:p xmlns:a="http://schemas.openxmlformats.org/drawingml/2006/main">
            <a:r>
              <a:t>        "region_name": "경기도 하남시",</a:t>
            </a:r>
          </a:p>
          <a:p xmlns:a="http://schemas.openxmlformats.org/drawingml/2006/main">
            <a:r>
              <a:t>        "visitors_yoy_pct": 2.8017628717401877,</a:t>
            </a:r>
          </a:p>
          <a:p xmlns:a="http://schemas.openxmlformats.org/drawingml/2006/main">
            <a:r>
              <a:t>        "spending_yoy_pct": -0.4678125623589935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"41461",</a:t>
            </a:r>
          </a:p>
          <a:p xmlns:a="http://schemas.openxmlformats.org/drawingml/2006/main">
            <a:r>
              <a:t>        "region_name": "경기도 용인시 처인구",</a:t>
            </a:r>
          </a:p>
          <a:p xmlns:a="http://schemas.openxmlformats.org/drawingml/2006/main">
            <a:r>
              <a:t>        "visitors_yoy_pct": 9.510234246645899,</a:t>
            </a:r>
          </a:p>
          <a:p xmlns:a="http://schemas.openxmlformats.org/drawingml/2006/main">
            <a:r>
              <a:t>        "spending_yoy_pct": 119.32034325511474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"41463",</a:t>
            </a:r>
          </a:p>
          <a:p xmlns:a="http://schemas.openxmlformats.org/drawingml/2006/main">
            <a:r>
              <a:t>        "region_name": "경기도 용인시 기흥구",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11.315605852117216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"41465",</a:t>
            </a:r>
          </a:p>
          <a:p xmlns:a="http://schemas.openxmlformats.org/drawingml/2006/main">
            <a:r>
              <a:t>        "region_name": "경기도 용인시 수지구",</a:t>
            </a:r>
          </a:p>
          <a:p xmlns:a="http://schemas.openxmlformats.org/drawingml/2006/main">
            <a:r>
              <a:t>        "visitors_yoy_pct": 3.764049728335239,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"41480",</a:t>
            </a:r>
          </a:p>
          <a:p xmlns:a="http://schemas.openxmlformats.org/drawingml/2006/main">
            <a:r>
              <a:t>        "region_name": "경기도 파주시",</a:t>
            </a:r>
          </a:p>
          <a:p xmlns:a="http://schemas.openxmlformats.org/drawingml/2006/main">
            <a:r>
              <a:t>        "visitors_yoy_pct": 1.9640566672868731,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"41500",</a:t>
            </a:r>
          </a:p>
          <a:p xmlns:a="http://schemas.openxmlformats.org/drawingml/2006/main">
            <a:r>
              <a:t>        "region_name": "경기도 이천시",</a:t>
            </a:r>
          </a:p>
          <a:p xmlns:a="http://schemas.openxmlformats.org/drawingml/2006/main">
            <a:r>
              <a:t>        "visitors_yoy_pct": 2.1400250276531807,</a:t>
            </a:r>
          </a:p>
          <a:p xmlns:a="http://schemas.openxmlformats.org/drawingml/2006/main">
            <a:r>
              <a:t>        "spending_yoy_pct": 142.6732157338367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"41550",</a:t>
            </a:r>
          </a:p>
          <a:p xmlns:a="http://schemas.openxmlformats.org/drawingml/2006/main">
            <a:r>
              <a:t>        "region_name": "경기도 안성시",</a:t>
            </a:r>
          </a:p>
          <a:p xmlns:a="http://schemas.openxmlformats.org/drawingml/2006/main">
            <a:r>
              <a:t>        "visitors_yoy_pct": 6.371272492573143,</a:t>
            </a:r>
          </a:p>
          <a:p xmlns:a="http://schemas.openxmlformats.org/drawingml/2006/main">
            <a:r>
              <a:t>        "spending_yoy_pct": 262.9594050500134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"41570",</a:t>
            </a:r>
          </a:p>
          <a:p xmlns:a="http://schemas.openxmlformats.org/drawingml/2006/main">
            <a:r>
              <a:t>        "region_name": "경기도 김포시",</a:t>
            </a:r>
          </a:p>
          <a:p xmlns:a="http://schemas.openxmlformats.org/drawingml/2006/main">
            <a:r>
              <a:t>        "visitors_yoy_pct": 4.823584776638157,</a:t>
            </a:r>
          </a:p>
          <a:p xmlns:a="http://schemas.openxmlformats.org/drawingml/2006/main">
            <a:r>
              <a:t>        "spending_yoy_pct": 3.5254116759376286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"41610",</a:t>
            </a:r>
          </a:p>
          <a:p xmlns:a="http://schemas.openxmlformats.org/drawingml/2006/main">
            <a:r>
              <a:t>        "region_name": "경기도 광주시",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"41630",</a:t>
            </a:r>
          </a:p>
          <a:p xmlns:a="http://schemas.openxmlformats.org/drawingml/2006/main">
            <a:r>
              <a:t>        "region_name": "경기도 양주시",</a:t>
            </a:r>
          </a:p>
          <a:p xmlns:a="http://schemas.openxmlformats.org/drawingml/2006/main">
            <a:r>
              <a:t>        "visitors_yoy_pct": 6.123602025114194,</a:t>
            </a:r>
          </a:p>
          <a:p xmlns:a="http://schemas.openxmlformats.org/drawingml/2006/main">
            <a:r>
              <a:t>        "spending_yoy_pct": 131.768929157409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"41650",</a:t>
            </a:r>
          </a:p>
          <a:p xmlns:a="http://schemas.openxmlformats.org/drawingml/2006/main">
            <a:r>
              <a:t>        "region_name": "경기도 포천시",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11.21235904377016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"41670",</a:t>
            </a:r>
          </a:p>
          <a:p xmlns:a="http://schemas.openxmlformats.org/drawingml/2006/main">
            <a:r>
              <a:t>        "region_name": "경기도 여주시",</a:t>
            </a:r>
          </a:p>
          <a:p xmlns:a="http://schemas.openxmlformats.org/drawingml/2006/main">
            <a:r>
              <a:t>        "visitors_yoy_pct": 5.723345585832296,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"41800",</a:t>
            </a:r>
          </a:p>
          <a:p xmlns:a="http://schemas.openxmlformats.org/drawingml/2006/main">
            <a:r>
              <a:t>        "region_name": "경기도 연천군",</a:t>
            </a:r>
          </a:p>
          <a:p xmlns:a="http://schemas.openxmlformats.org/drawingml/2006/main">
            <a:r>
              <a:t>        "visitors_yoy_pct": 1.7145878856211993,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"41820",</a:t>
            </a:r>
          </a:p>
          <a:p xmlns:a="http://schemas.openxmlformats.org/drawingml/2006/main">
            <a:r>
              <a:t>        "region_name": "경기도 가평군",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"41830",</a:t>
            </a:r>
          </a:p>
          <a:p xmlns:a="http://schemas.openxmlformats.org/drawingml/2006/main">
            <a:r>
              <a:t>        "region_name": "경기도 양평군",</a:t>
            </a:r>
          </a:p>
          <a:p xmlns:a="http://schemas.openxmlformats.org/drawingml/2006/main">
            <a:r>
              <a:t>        "visitors_yoy_pct": 2.8133974853504995,</a:t>
            </a:r>
          </a:p>
          <a:p xmlns:a="http://schemas.openxmlformats.org/drawingml/2006/main">
            <a:r>
              <a:t>        "spending_yoy_pct": 18.402140537954704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"48310",</a:t>
            </a:r>
          </a:p>
          <a:p xmlns:a="http://schemas.openxmlformats.org/drawingml/2006/main">
            <a:r>
              <a:t>        "region_name": "경상남도 거제시",</a:t>
            </a:r>
          </a:p>
          <a:p xmlns:a="http://schemas.openxmlformats.org/drawingml/2006/main">
            <a:r>
              <a:t>        "visitors_yoy_pct": 2.7427196890843275,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"48820",</a:t>
            </a:r>
          </a:p>
          <a:p xmlns:a="http://schemas.openxmlformats.org/drawingml/2006/main">
            <a:r>
              <a:t>        "region_name": "경상남도 고성군",</a:t>
            </a:r>
          </a:p>
          <a:p xmlns:a="http://schemas.openxmlformats.org/drawingml/2006/main">
            <a:r>
              <a:t>        "visitors_yoy_pct": 2.238597081481619,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"48880",</a:t>
            </a:r>
          </a:p>
          <a:p xmlns:a="http://schemas.openxmlformats.org/drawingml/2006/main">
            <a:r>
              <a:t>        "region_name": "경상남도 거창군",</a:t>
            </a:r>
          </a:p>
          <a:p xmlns:a="http://schemas.openxmlformats.org/drawingml/2006/main">
            <a:r>
              <a:t>        "visitors_yoy_pct": 5.526247666579298,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"48250",</a:t>
            </a:r>
          </a:p>
          <a:p xmlns:a="http://schemas.openxmlformats.org/drawingml/2006/main">
            <a:r>
              <a:t>        "region_name": "경상남도 김해시",</a:t>
            </a:r>
          </a:p>
          <a:p xmlns:a="http://schemas.openxmlformats.org/drawingml/2006/main">
            <a:r>
              <a:t>        "visitors_yoy_pct": 5.346437623470246,</a:t>
            </a:r>
          </a:p>
          <a:p xmlns:a="http://schemas.openxmlformats.org/drawingml/2006/main">
            <a:r>
              <a:t>        "spending_yoy_pct": 14.74648547917683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"48840",</a:t>
            </a:r>
          </a:p>
          <a:p xmlns:a="http://schemas.openxmlformats.org/drawingml/2006/main">
            <a:r>
              <a:t>        "region_name": "경상남도 남해군",</a:t>
            </a:r>
          </a:p>
          <a:p xmlns:a="http://schemas.openxmlformats.org/drawingml/2006/main">
            <a:r>
              <a:t>        "visitors_yoy_pct": 7.54463331495876,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"48270",</a:t>
            </a:r>
          </a:p>
          <a:p xmlns:a="http://schemas.openxmlformats.org/drawingml/2006/main">
            <a:r>
              <a:t>        "region_name": "경상남도 밀양시",</a:t>
            </a:r>
          </a:p>
          <a:p xmlns:a="http://schemas.openxmlformats.org/drawingml/2006/main">
            <a:r>
              <a:t>        "visitors_yoy_pct": 3.487489125118426,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"48240",</a:t>
            </a:r>
          </a:p>
          <a:p xmlns:a="http://schemas.openxmlformats.org/drawingml/2006/main">
            <a:r>
              <a:t>        "region_name": "경상남도 사천시",</a:t>
            </a:r>
          </a:p>
          <a:p xmlns:a="http://schemas.openxmlformats.org/drawingml/2006/main">
            <a:r>
              <a:t>        "visitors_yoy_pct": 4.783807435644838,</a:t>
            </a:r>
          </a:p>
          <a:p xmlns:a="http://schemas.openxmlformats.org/drawingml/2006/main">
            <a:r>
              <a:t>        "spending_yoy_pct": 7.971877077198997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"48860",</a:t>
            </a:r>
          </a:p>
          <a:p xmlns:a="http://schemas.openxmlformats.org/drawingml/2006/main">
            <a:r>
              <a:t>        "region_name": "경상남도 산청군",</a:t>
            </a:r>
          </a:p>
          <a:p xmlns:a="http://schemas.openxmlformats.org/drawingml/2006/main">
            <a:r>
              <a:t>        "visitors_yoy_pct": 3.539183241860955,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"48330",</a:t>
            </a:r>
          </a:p>
          <a:p xmlns:a="http://schemas.openxmlformats.org/drawingml/2006/main">
            <a:r>
              <a:t>        "region_name": "경상남도 양산시",</a:t>
            </a:r>
          </a:p>
          <a:p xmlns:a="http://schemas.openxmlformats.org/drawingml/2006/main">
            <a:r>
              <a:t>        "visitors_yoy_pct": 5.18416747022592,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"48720",</a:t>
            </a:r>
          </a:p>
          <a:p xmlns:a="http://schemas.openxmlformats.org/drawingml/2006/main">
            <a:r>
              <a:t>        "region_name": "경상남도 의령군",</a:t>
            </a:r>
          </a:p>
          <a:p xmlns:a="http://schemas.openxmlformats.org/drawingml/2006/main">
            <a:r>
              <a:t>        "visitors_yoy_pct": 2.800987021911272,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"48170",</a:t>
            </a:r>
          </a:p>
          <a:p xmlns:a="http://schemas.openxmlformats.org/drawingml/2006/main">
            <a:r>
              <a:t>        "region_name": "경상남도 진주시",</a:t>
            </a:r>
          </a:p>
          <a:p xmlns:a="http://schemas.openxmlformats.org/drawingml/2006/main">
            <a:r>
              <a:t>        "visitors_yoy_pct": 1.5444864760004506,</a:t>
            </a:r>
          </a:p>
          <a:p xmlns:a="http://schemas.openxmlformats.org/drawingml/2006/main">
            <a:r>
              <a:t>        "spending_yoy_pct": -1.1385273981981414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"48740",</a:t>
            </a:r>
          </a:p>
          <a:p xmlns:a="http://schemas.openxmlformats.org/drawingml/2006/main">
            <a:r>
              <a:t>        "region_name": "경상남도 창녕군",</a:t>
            </a:r>
          </a:p>
          <a:p xmlns:a="http://schemas.openxmlformats.org/drawingml/2006/main">
            <a:r>
              <a:t>        "visitors_yoy_pct": 4.804268532774381,</a:t>
            </a:r>
          </a:p>
          <a:p xmlns:a="http://schemas.openxmlformats.org/drawingml/2006/main">
            <a:r>
              <a:t>        "spending_yoy_pct": 30.615083875768214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"48125",</a:t>
            </a:r>
          </a:p>
          <a:p xmlns:a="http://schemas.openxmlformats.org/drawingml/2006/main">
            <a:r>
              <a:t>        "region_name": "경상남도 창원시 마산합포구",</a:t>
            </a:r>
          </a:p>
          <a:p xmlns:a="http://schemas.openxmlformats.org/drawingml/2006/main">
            <a:r>
              <a:t>        "visitors_yoy_pct": -0.3845166690600532,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"48127",</a:t>
            </a:r>
          </a:p>
          <a:p xmlns:a="http://schemas.openxmlformats.org/drawingml/2006/main">
            <a:r>
              <a:t>        "region_name": "경상남도 창원시 마산회원구",</a:t>
            </a:r>
          </a:p>
          <a:p xmlns:a="http://schemas.openxmlformats.org/drawingml/2006/main">
            <a:r>
              <a:t>        "visitors_yoy_pct": 3.7070539338890596,</a:t>
            </a:r>
          </a:p>
          <a:p xmlns:a="http://schemas.openxmlformats.org/drawingml/2006/main">
            <a:r>
              <a:t>        "spending_yoy_pct": 17.487585173231103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"48123",</a:t>
            </a:r>
          </a:p>
          <a:p xmlns:a="http://schemas.openxmlformats.org/drawingml/2006/main">
            <a:r>
              <a:t>        "region_name": "경상남도 창원시 성산구",</a:t>
            </a:r>
          </a:p>
          <a:p xmlns:a="http://schemas.openxmlformats.org/drawingml/2006/main">
            <a:r>
              <a:t>        "visitors_yoy_pct": 0.021529318218460602,</a:t>
            </a:r>
          </a:p>
          <a:p xmlns:a="http://schemas.openxmlformats.org/drawingml/2006/main">
            <a:r>
              <a:t>        "spending_yoy_pct": 15.933026995444344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"48121",</a:t>
            </a:r>
          </a:p>
          <a:p xmlns:a="http://schemas.openxmlformats.org/drawingml/2006/main">
            <a:r>
              <a:t>        "region_name": "경상남도 창원시 의창구",</a:t>
            </a:r>
          </a:p>
          <a:p xmlns:a="http://schemas.openxmlformats.org/drawingml/2006/main">
            <a:r>
              <a:t>        "visitors_yoy_pct": 2.1530447446345136,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"48129",</a:t>
            </a:r>
          </a:p>
          <a:p xmlns:a="http://schemas.openxmlformats.org/drawingml/2006/main">
            <a:r>
              <a:t>        "region_name": "경상남도 창원시 진해구",</a:t>
            </a:r>
          </a:p>
          <a:p xmlns:a="http://schemas.openxmlformats.org/drawingml/2006/main">
            <a:r>
              <a:t>        "visitors_yoy_pct": 7.5340705733542235,</a:t>
            </a:r>
          </a:p>
          <a:p xmlns:a="http://schemas.openxmlformats.org/drawingml/2006/main">
            <a:r>
              <a:t>        "spending_yoy_pct": 18.864871675744133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"48220",</a:t>
            </a:r>
          </a:p>
          <a:p xmlns:a="http://schemas.openxmlformats.org/drawingml/2006/main">
            <a:r>
              <a:t>        "region_name": "경상남도 통영시",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"48850",</a:t>
            </a:r>
          </a:p>
          <a:p xmlns:a="http://schemas.openxmlformats.org/drawingml/2006/main">
            <a:r>
              <a:t>        "region_name": "경상남도 하동군",</a:t>
            </a:r>
          </a:p>
          <a:p xmlns:a="http://schemas.openxmlformats.org/drawingml/2006/main">
            <a:r>
              <a:t>        "visitors_yoy_pct": 11.932612875005887,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"48730",</a:t>
            </a:r>
          </a:p>
          <a:p xmlns:a="http://schemas.openxmlformats.org/drawingml/2006/main">
            <a:r>
              <a:t>        "region_name": "경상남도 함안군",</a:t>
            </a:r>
          </a:p>
          <a:p xmlns:a="http://schemas.openxmlformats.org/drawingml/2006/main">
            <a:r>
              <a:t>        "visitors_yoy_pct": 12.22974269811341,</a:t>
            </a:r>
          </a:p>
          <a:p xmlns:a="http://schemas.openxmlformats.org/drawingml/2006/main">
            <a:r>
              <a:t>        "spending_yoy_pct": 59.23025510524471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"48870",</a:t>
            </a:r>
          </a:p>
          <a:p xmlns:a="http://schemas.openxmlformats.org/drawingml/2006/main">
            <a:r>
              <a:t>        "region_name": "경상남도 함양군",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"48890",</a:t>
            </a:r>
          </a:p>
          <a:p xmlns:a="http://schemas.openxmlformats.org/drawingml/2006/main">
            <a:r>
              <a:t>        "region_name": "경상남도 합천군",</a:t>
            </a:r>
          </a:p>
          <a:p xmlns:a="http://schemas.openxmlformats.org/drawingml/2006/main">
            <a:r>
              <a:t>        "visitors_yoy_pct": 2.0950889432013176,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"47290",</a:t>
            </a:r>
          </a:p>
          <a:p xmlns:a="http://schemas.openxmlformats.org/drawingml/2006/main">
            <a:r>
              <a:t>        "region_name": "경상북도 경산시",</a:t>
            </a:r>
          </a:p>
          <a:p xmlns:a="http://schemas.openxmlformats.org/drawingml/2006/main">
            <a:r>
              <a:t>        "visitors_yoy_pct": 5.726917295497258,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"47130",</a:t>
            </a:r>
          </a:p>
          <a:p xmlns:a="http://schemas.openxmlformats.org/drawingml/2006/main">
            <a:r>
              <a:t>        "region_name": "경상북도 경주시",</a:t>
            </a:r>
          </a:p>
          <a:p xmlns:a="http://schemas.openxmlformats.org/drawingml/2006/main">
            <a:r>
              <a:t>        "visitors_yoy_pct": 6.222269508499756,</a:t>
            </a:r>
          </a:p>
          <a:p xmlns:a="http://schemas.openxmlformats.org/drawingml/2006/main">
            <a:r>
              <a:t>        "spending_yoy_pct": 322.3273089695823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"47830",</a:t>
            </a:r>
          </a:p>
          <a:p xmlns:a="http://schemas.openxmlformats.org/drawingml/2006/main">
            <a:r>
              <a:t>        "region_name": "경상북도 고령군",</a:t>
            </a:r>
          </a:p>
          <a:p xmlns:a="http://schemas.openxmlformats.org/drawingml/2006/main">
            <a:r>
              <a:t>        "visitors_yoy_pct": -0.29675901273958916,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"47190",</a:t>
            </a:r>
          </a:p>
          <a:p xmlns:a="http://schemas.openxmlformats.org/drawingml/2006/main">
            <a:r>
              <a:t>        "region_name": "경상북도 구미시",</a:t>
            </a:r>
          </a:p>
          <a:p xmlns:a="http://schemas.openxmlformats.org/drawingml/2006/main">
            <a:r>
              <a:t>        "visitors_yoy_pct": 1.3883127455491362,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"47150",</a:t>
            </a:r>
          </a:p>
          <a:p xmlns:a="http://schemas.openxmlformats.org/drawingml/2006/main">
            <a:r>
              <a:t>        "region_name": "경상북도 김천시",</a:t>
            </a:r>
          </a:p>
          <a:p xmlns:a="http://schemas.openxmlformats.org/drawingml/2006/main">
            <a:r>
              <a:t>        "visitors_yoy_pct": 5.870717645429502,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"47280",</a:t>
            </a:r>
          </a:p>
          <a:p xmlns:a="http://schemas.openxmlformats.org/drawingml/2006/main">
            <a:r>
              <a:t>        "region_name": "경상북도 문경시",</a:t>
            </a:r>
          </a:p>
          <a:p xmlns:a="http://schemas.openxmlformats.org/drawingml/2006/main">
            <a:r>
              <a:t>        "visitors_yoy_pct": 4.81492003841355,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"47920",</a:t>
            </a:r>
          </a:p>
          <a:p xmlns:a="http://schemas.openxmlformats.org/drawingml/2006/main">
            <a:r>
              <a:t>        "region_name": "경상북도 봉화군",</a:t>
            </a:r>
          </a:p>
          <a:p xmlns:a="http://schemas.openxmlformats.org/drawingml/2006/main">
            <a:r>
              <a:t>        "visitors_yoy_pct": 4.047079755822058,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"47250",</a:t>
            </a:r>
          </a:p>
          <a:p xmlns:a="http://schemas.openxmlformats.org/drawingml/2006/main">
            <a:r>
              <a:t>        "region_name": "경상북도 상주시",</a:t>
            </a:r>
          </a:p>
          <a:p xmlns:a="http://schemas.openxmlformats.org/drawingml/2006/main">
            <a:r>
              <a:t>        "visitors_yoy_pct": 4.606338542960131,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"47840",</a:t>
            </a:r>
          </a:p>
          <a:p xmlns:a="http://schemas.openxmlformats.org/drawingml/2006/main">
            <a:r>
              <a:t>        "region_name": "경상북도 성주군",</a:t>
            </a:r>
          </a:p>
          <a:p xmlns:a="http://schemas.openxmlformats.org/drawingml/2006/main">
            <a:r>
              <a:t>        "visitors_yoy_pct": 6.432386795843814,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"47170",</a:t>
            </a:r>
          </a:p>
          <a:p xmlns:a="http://schemas.openxmlformats.org/drawingml/2006/main">
            <a:r>
              <a:t>        "region_name": "경상북도 안동시",</a:t>
            </a:r>
          </a:p>
          <a:p xmlns:a="http://schemas.openxmlformats.org/drawingml/2006/main">
            <a:r>
              <a:t>        "visitors_yoy_pct": 3.3847674587574206,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"47770",</a:t>
            </a:r>
          </a:p>
          <a:p xmlns:a="http://schemas.openxmlformats.org/drawingml/2006/main">
            <a:r>
              <a:t>        "region_name": "경상북도 영덕군",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5.3602517512145065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"47760",</a:t>
            </a:r>
          </a:p>
          <a:p xmlns:a="http://schemas.openxmlformats.org/drawingml/2006/main">
            <a:r>
              <a:t>        "region_name": "경상북도 영양군",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"47210",</a:t>
            </a:r>
          </a:p>
          <a:p xmlns:a="http://schemas.openxmlformats.org/drawingml/2006/main">
            <a:r>
              <a:t>        "region_name": "경상북도 영주시",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9.345419395332023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"47230",</a:t>
            </a:r>
          </a:p>
          <a:p xmlns:a="http://schemas.openxmlformats.org/drawingml/2006/main">
            <a:r>
              <a:t>        "region_name": "경상북도 영천시",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99.51274637217024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"47900",</a:t>
            </a:r>
          </a:p>
          <a:p xmlns:a="http://schemas.openxmlformats.org/drawingml/2006/main">
            <a:r>
              <a:t>        "region_name": "경상북도 예천군",</a:t>
            </a:r>
          </a:p>
          <a:p xmlns:a="http://schemas.openxmlformats.org/drawingml/2006/main">
            <a:r>
              <a:t>        "visitors_yoy_pct": 3.9612196116062925,</a:t>
            </a:r>
          </a:p>
          <a:p xmlns:a="http://schemas.openxmlformats.org/drawingml/2006/main">
            <a:r>
              <a:t>        "spending_yoy_pct": 9.218601909804459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"47940",</a:t>
            </a:r>
          </a:p>
          <a:p xmlns:a="http://schemas.openxmlformats.org/drawingml/2006/main">
            <a:r>
              <a:t>        "region_name": "경상북도 울릉군",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"47930",</a:t>
            </a:r>
          </a:p>
          <a:p xmlns:a="http://schemas.openxmlformats.org/drawingml/2006/main">
            <a:r>
              <a:t>        "region_name": "경상북도 울진군",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10.480379352796731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"47730",</a:t>
            </a:r>
          </a:p>
          <a:p xmlns:a="http://schemas.openxmlformats.org/drawingml/2006/main">
            <a:r>
              <a:t>        "region_name": "경상북도 의성군",</a:t>
            </a:r>
          </a:p>
          <a:p xmlns:a="http://schemas.openxmlformats.org/drawingml/2006/main">
            <a:r>
              <a:t>        "visitors_yoy_pct": 11.22132580820525,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"47820",</a:t>
            </a:r>
          </a:p>
          <a:p xmlns:a="http://schemas.openxmlformats.org/drawingml/2006/main">
            <a:r>
              <a:t>        "region_name": "경상북도 청도군",</a:t>
            </a:r>
          </a:p>
          <a:p xmlns:a="http://schemas.openxmlformats.org/drawingml/2006/main">
            <a:r>
              <a:t>        "visitors_yoy_pct": 9.148916485647263,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"47750",</a:t>
            </a:r>
          </a:p>
          <a:p xmlns:a="http://schemas.openxmlformats.org/drawingml/2006/main">
            <a:r>
              <a:t>        "region_name": "경상북도 청송군",</a:t>
            </a:r>
          </a:p>
          <a:p xmlns:a="http://schemas.openxmlformats.org/drawingml/2006/main">
            <a:r>
              <a:t>        "visitors_yoy_pct": -6.3591410335017144,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"47850",</a:t>
            </a:r>
          </a:p>
          <a:p xmlns:a="http://schemas.openxmlformats.org/drawingml/2006/main">
            <a:r>
              <a:t>        "region_name": "경상북도 칠곡군",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"47111",</a:t>
            </a:r>
          </a:p>
          <a:p xmlns:a="http://schemas.openxmlformats.org/drawingml/2006/main">
            <a:r>
              <a:t>        "region_name": "경상북도 포항시 남구",</a:t>
            </a:r>
          </a:p>
          <a:p xmlns:a="http://schemas.openxmlformats.org/drawingml/2006/main">
            <a:r>
              <a:t>        "visitors_yoy_pct": 2.5996891700749813,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"47113",</a:t>
            </a:r>
          </a:p>
          <a:p xmlns:a="http://schemas.openxmlformats.org/drawingml/2006/main">
            <a:r>
              <a:t>        "region_name": "경상북도 포항시 북구",</a:t>
            </a:r>
          </a:p>
          <a:p xmlns:a="http://schemas.openxmlformats.org/drawingml/2006/main">
            <a:r>
              <a:t>        "visitors_yoy_pct": -0.29765707011925047,</a:t>
            </a:r>
          </a:p>
          <a:p xmlns:a="http://schemas.openxmlformats.org/drawingml/2006/main">
            <a:r>
              <a:t>        "spending_yoy_pct": -3.343873936078412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"29200",</a:t>
            </a:r>
          </a:p>
          <a:p xmlns:a="http://schemas.openxmlformats.org/drawingml/2006/main">
            <a:r>
              <a:t>        "region_name": "광주광역시 광산구",</a:t>
            </a:r>
          </a:p>
          <a:p xmlns:a="http://schemas.openxmlformats.org/drawingml/2006/main">
            <a:r>
              <a:t>        "visitors_yoy_pct": 2.078512568518076,</a:t>
            </a:r>
          </a:p>
          <a:p xmlns:a="http://schemas.openxmlformats.org/drawingml/2006/main">
            <a:r>
              <a:t>        "spending_yoy_pct": 7.447209233649366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"29155",</a:t>
            </a:r>
          </a:p>
          <a:p xmlns:a="http://schemas.openxmlformats.org/drawingml/2006/main">
            <a:r>
              <a:t>        "region_name": "광주광역시 남구",</a:t>
            </a:r>
          </a:p>
          <a:p xmlns:a="http://schemas.openxmlformats.org/drawingml/2006/main">
            <a:r>
              <a:t>        "visitors_yoy_pct": -0.39881129181118524,</a:t>
            </a:r>
          </a:p>
          <a:p xmlns:a="http://schemas.openxmlformats.org/drawingml/2006/main">
            <a:r>
              <a:t>        "spending_yoy_pct": -0.9252360689613548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"29110",</a:t>
            </a:r>
          </a:p>
          <a:p xmlns:a="http://schemas.openxmlformats.org/drawingml/2006/main">
            <a:r>
              <a:t>        "region_name": "광주광역시 동구",</a:t>
            </a:r>
          </a:p>
          <a:p xmlns:a="http://schemas.openxmlformats.org/drawingml/2006/main">
            <a:r>
              <a:t>        "visitors_yoy_pct": 7.3361436986845385,</a:t>
            </a:r>
          </a:p>
          <a:p xmlns:a="http://schemas.openxmlformats.org/drawingml/2006/main">
            <a:r>
              <a:t>        "spending_yoy_pct": 11.767857210318278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"29170",</a:t>
            </a:r>
          </a:p>
          <a:p xmlns:a="http://schemas.openxmlformats.org/drawingml/2006/main">
            <a:r>
              <a:t>        "region_name": "광주광역시 북구",</a:t>
            </a:r>
          </a:p>
          <a:p xmlns:a="http://schemas.openxmlformats.org/drawingml/2006/main">
            <a:r>
              <a:t>        "visitors_yoy_pct": 5.648311405922013,</a:t>
            </a:r>
          </a:p>
          <a:p xmlns:a="http://schemas.openxmlformats.org/drawingml/2006/main">
            <a:r>
              <a:t>        "spending_yoy_pct": 2.0498666784573905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"29140",</a:t>
            </a:r>
          </a:p>
          <a:p xmlns:a="http://schemas.openxmlformats.org/drawingml/2006/main">
            <a:r>
              <a:t>        "region_name": "광주광역시 서구",</a:t>
            </a:r>
          </a:p>
          <a:p xmlns:a="http://schemas.openxmlformats.org/drawingml/2006/main">
            <a:r>
              <a:t>        "visitors_yoy_pct": 1.3090512983046532,</a:t>
            </a:r>
          </a:p>
          <a:p xmlns:a="http://schemas.openxmlformats.org/drawingml/2006/main">
            <a:r>
              <a:t>        "spending_yoy_pct": 3.5205518403766956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"27720",</a:t>
            </a:r>
          </a:p>
          <a:p xmlns:a="http://schemas.openxmlformats.org/drawingml/2006/main">
            <a:r>
              <a:t>        "region_name": "대구광역시 군위군",</a:t>
            </a:r>
          </a:p>
          <a:p xmlns:a="http://schemas.openxmlformats.org/drawingml/2006/main">
            <a:r>
              <a:t>        "visitors_yoy_pct": 7.553051633669572,</a:t>
            </a:r>
          </a:p>
          <a:p xmlns:a="http://schemas.openxmlformats.org/drawingml/2006/main">
            <a:r>
              <a:t>        "spending_yoy_pct": 1.7553330789018995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"27200",</a:t>
            </a:r>
          </a:p>
          <a:p xmlns:a="http://schemas.openxmlformats.org/drawingml/2006/main">
            <a:r>
              <a:t>        "region_name": "대구광역시 남구",</a:t>
            </a:r>
          </a:p>
          <a:p xmlns:a="http://schemas.openxmlformats.org/drawingml/2006/main">
            <a:r>
              <a:t>        "visitors_yoy_pct": 0.8333140188663712,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"27290",</a:t>
            </a:r>
          </a:p>
          <a:p xmlns:a="http://schemas.openxmlformats.org/drawingml/2006/main">
            <a:r>
              <a:t>        "region_name": "대구광역시 달서구",</a:t>
            </a:r>
          </a:p>
          <a:p xmlns:a="http://schemas.openxmlformats.org/drawingml/2006/main">
            <a:r>
              <a:t>        "visitors_yoy_pct": 0.8990156591192067,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"27710",</a:t>
            </a:r>
          </a:p>
          <a:p xmlns:a="http://schemas.openxmlformats.org/drawingml/2006/main">
            <a:r>
              <a:t>        "region_name": "대구광역시 달성군",</a:t>
            </a:r>
          </a:p>
          <a:p xmlns:a="http://schemas.openxmlformats.org/drawingml/2006/main">
            <a:r>
              <a:t>        "visitors_yoy_pct": 6.350462144534652,</a:t>
            </a:r>
          </a:p>
          <a:p xmlns:a="http://schemas.openxmlformats.org/drawingml/2006/main">
            <a:r>
              <a:t>        "spending_yoy_pct": 22.573683764809083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"27140",</a:t>
            </a:r>
          </a:p>
          <a:p xmlns:a="http://schemas.openxmlformats.org/drawingml/2006/main">
            <a:r>
              <a:t>        "region_name": "대구광역시 동구",</a:t>
            </a:r>
          </a:p>
          <a:p xmlns:a="http://schemas.openxmlformats.org/drawingml/2006/main">
            <a:r>
              <a:t>        "visitors_yoy_pct": -0.7373045353280205,</a:t>
            </a:r>
          </a:p>
          <a:p xmlns:a="http://schemas.openxmlformats.org/drawingml/2006/main">
            <a:r>
              <a:t>        "spending_yoy_pct": 4.60692930404647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"27230",</a:t>
            </a:r>
          </a:p>
          <a:p xmlns:a="http://schemas.openxmlformats.org/drawingml/2006/main">
            <a:r>
              <a:t>        "region_name": "대구광역시 북구",</a:t>
            </a:r>
          </a:p>
          <a:p xmlns:a="http://schemas.openxmlformats.org/drawingml/2006/main">
            <a:r>
              <a:t>        "visitors_yoy_pct": 2.7247685911729658,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"27170",</a:t>
            </a:r>
          </a:p>
          <a:p xmlns:a="http://schemas.openxmlformats.org/drawingml/2006/main">
            <a:r>
              <a:t>        "region_name": "대구광역시 서구",</a:t>
            </a:r>
          </a:p>
          <a:p xmlns:a="http://schemas.openxmlformats.org/drawingml/2006/main">
            <a:r>
              <a:t>        "visitors_yoy_pct": -1.1783728020124618,</a:t>
            </a:r>
          </a:p>
          <a:p xmlns:a="http://schemas.openxmlformats.org/drawingml/2006/main">
            <a:r>
              <a:t>        "spending_yoy_pct": 8.027175625784366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"27260",</a:t>
            </a:r>
          </a:p>
          <a:p xmlns:a="http://schemas.openxmlformats.org/drawingml/2006/main">
            <a:r>
              <a:t>        "region_name": "대구광역시 수성구",</a:t>
            </a:r>
          </a:p>
          <a:p xmlns:a="http://schemas.openxmlformats.org/drawingml/2006/main">
            <a:r>
              <a:t>        "visitors_yoy_pct": 2.0478029135022613,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"27110",</a:t>
            </a:r>
          </a:p>
          <a:p xmlns:a="http://schemas.openxmlformats.org/drawingml/2006/main">
            <a:r>
              <a:t>        "region_name": "대구광역시 중구",</a:t>
            </a:r>
          </a:p>
          <a:p xmlns:a="http://schemas.openxmlformats.org/drawingml/2006/main">
            <a:r>
              <a:t>        "visitors_yoy_pct": 4.214574653222192,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"30230",</a:t>
            </a:r>
          </a:p>
          <a:p xmlns:a="http://schemas.openxmlformats.org/drawingml/2006/main">
            <a:r>
              <a:t>        "region_name": "대전광역시 대덕구",</a:t>
            </a:r>
          </a:p>
          <a:p xmlns:a="http://schemas.openxmlformats.org/drawingml/2006/main">
            <a:r>
              <a:t>        "visitors_yoy_pct": 0.6871687391595493,</a:t>
            </a:r>
          </a:p>
          <a:p xmlns:a="http://schemas.openxmlformats.org/drawingml/2006/main">
            <a:r>
              <a:t>        "spending_yoy_pct": 9.420167024623606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"30110",</a:t>
            </a:r>
          </a:p>
          <a:p xmlns:a="http://schemas.openxmlformats.org/drawingml/2006/main">
            <a:r>
              <a:t>        "region_name": "대전광역시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"30170",</a:t>
            </a:r>
          </a:p>
          <a:p xmlns:a="http://schemas.openxmlformats.org/drawingml/2006/main">
            <a:r>
              <a:t>        "region_name": "대전광역시 서구",</a:t>
            </a:r>
          </a:p>
          <a:p xmlns:a="http://schemas.openxmlformats.org/drawingml/2006/main">
            <a:r>
              <a:t>        "visitors_yoy_pct": -0.819346211281724,</a:t>
            </a:r>
          </a:p>
          <a:p xmlns:a="http://schemas.openxmlformats.org/drawingml/2006/main">
            <a:r>
              <a:t>        "spending_yoy_pct": 3.8459270210210006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"30200",</a:t>
            </a:r>
          </a:p>
          <a:p xmlns:a="http://schemas.openxmlformats.org/drawingml/2006/main">
            <a:r>
              <a:t>        "region_name": "대전광역시 유성구",</a:t>
            </a:r>
          </a:p>
          <a:p xmlns:a="http://schemas.openxmlformats.org/drawingml/2006/main">
            <a:r>
              <a:t>        "visitors_yoy_pct": 2.7680933591958112,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"30140",</a:t>
            </a:r>
          </a:p>
          <a:p xmlns:a="http://schemas.openxmlformats.org/drawingml/2006/main">
            <a:r>
              <a:t>        "region_name": "대전광역시 중구",</a:t>
            </a:r>
          </a:p>
          <a:p xmlns:a="http://schemas.openxmlformats.org/drawingml/2006/main">
            <a:r>
              <a:t>        "visitors_yoy_pct": 6.6376833118433565,</a:t>
            </a:r>
          </a:p>
          <a:p xmlns:a="http://schemas.openxmlformats.org/drawingml/2006/main">
            <a:r>
              <a:t>        "spending_yoy_pct": 13.030941142275143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"26440",</a:t>
            </a:r>
          </a:p>
          <a:p xmlns:a="http://schemas.openxmlformats.org/drawingml/2006/main">
            <a:r>
              <a:t>        "region_name": "부산광역시 강서구",</a:t>
            </a:r>
          </a:p>
          <a:p xmlns:a="http://schemas.openxmlformats.org/drawingml/2006/main">
            <a:r>
              <a:t>        "visitors_yoy_pct": 1.0049819760918233,</a:t>
            </a:r>
          </a:p>
          <a:p xmlns:a="http://schemas.openxmlformats.org/drawingml/2006/main">
            <a:r>
              <a:t>        "spending_yoy_pct": 39.73194457083986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"26410",</a:t>
            </a:r>
          </a:p>
          <a:p xmlns:a="http://schemas.openxmlformats.org/drawingml/2006/main">
            <a:r>
              <a:t>        "region_name": "부산광역시 금정구",</a:t>
            </a:r>
          </a:p>
          <a:p xmlns:a="http://schemas.openxmlformats.org/drawingml/2006/main">
            <a:r>
              <a:t>        "visitors_yoy_pct": 4.143857421215702,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"26710",</a:t>
            </a:r>
          </a:p>
          <a:p xmlns:a="http://schemas.openxmlformats.org/drawingml/2006/main">
            <a:r>
              <a:t>        "region_name": "부산광역시 기장군",</a:t>
            </a:r>
          </a:p>
          <a:p xmlns:a="http://schemas.openxmlformats.org/drawingml/2006/main">
            <a:r>
              <a:t>        "visitors_yoy_pct": 0.7368526350952198,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"26290",</a:t>
            </a:r>
          </a:p>
          <a:p xmlns:a="http://schemas.openxmlformats.org/drawingml/2006/main">
            <a:r>
              <a:t>        "region_name": "부산광역시 남구",</a:t>
            </a:r>
          </a:p>
          <a:p xmlns:a="http://schemas.openxmlformats.org/drawingml/2006/main">
            <a:r>
              <a:t>        "visitors_yoy_pct": 4.273952160462713,</a:t>
            </a:r>
          </a:p>
          <a:p xmlns:a="http://schemas.openxmlformats.org/drawingml/2006/main">
            <a:r>
              <a:t>        "spending_yoy_pct": 26.095260080388606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"26170",</a:t>
            </a:r>
          </a:p>
          <a:p xmlns:a="http://schemas.openxmlformats.org/drawingml/2006/main">
            <a:r>
              <a:t>        "region_name": "부산광역시 동구",</a:t>
            </a:r>
          </a:p>
          <a:p xmlns:a="http://schemas.openxmlformats.org/drawingml/2006/main">
            <a:r>
              <a:t>        "visitors_yoy_pct": 2.644387339627574,</a:t>
            </a:r>
          </a:p>
          <a:p xmlns:a="http://schemas.openxmlformats.org/drawingml/2006/main">
            <a:r>
              <a:t>        "spending_yoy_pct": 18.097584809270817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"26260",</a:t>
            </a:r>
          </a:p>
          <a:p xmlns:a="http://schemas.openxmlformats.org/drawingml/2006/main">
            <a:r>
              <a:t>        "region_name": "부산광역시 동래구",</a:t>
            </a:r>
          </a:p>
          <a:p xmlns:a="http://schemas.openxmlformats.org/drawingml/2006/main">
            <a:r>
              <a:t>        "visitors_yoy_pct": -0.27526650995337576,</a:t>
            </a:r>
          </a:p>
          <a:p xmlns:a="http://schemas.openxmlformats.org/drawingml/2006/main">
            <a:r>
              <a:t>        "spending_yoy_pct": -4.619758853542455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"26230",</a:t>
            </a:r>
          </a:p>
          <a:p xmlns:a="http://schemas.openxmlformats.org/drawingml/2006/main">
            <a:r>
              <a:t>        "region_name": "부산광역시 부산진구",</a:t>
            </a:r>
          </a:p>
          <a:p xmlns:a="http://schemas.openxmlformats.org/drawingml/2006/main">
            <a:r>
              <a:t>        "visitors_yoy_pct": -0.4833899292355004,</a:t>
            </a:r>
          </a:p>
          <a:p xmlns:a="http://schemas.openxmlformats.org/drawingml/2006/main">
            <a:r>
              <a:t>        "spending_yoy_pct": 13.094615651219765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"26320",</a:t>
            </a:r>
          </a:p>
          <a:p xmlns:a="http://schemas.openxmlformats.org/drawingml/2006/main">
            <a:r>
              <a:t>        "region_name": "부산광역시 북구",</a:t>
            </a:r>
          </a:p>
          <a:p xmlns:a="http://schemas.openxmlformats.org/drawingml/2006/main">
            <a:r>
              <a:t>        "visitors_yoy_pct": 1.8716437511106188,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"26530",</a:t>
            </a:r>
          </a:p>
          <a:p xmlns:a="http://schemas.openxmlformats.org/drawingml/2006/main">
            <a:r>
              <a:t>        "region_name": "부산광역시 사상구",</a:t>
            </a:r>
          </a:p>
          <a:p xmlns:a="http://schemas.openxmlformats.org/drawingml/2006/main">
            <a:r>
              <a:t>        "visitors_yoy_pct": 3.1412846269131656,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"26380",</a:t>
            </a:r>
          </a:p>
          <a:p xmlns:a="http://schemas.openxmlformats.org/drawingml/2006/main">
            <a:r>
              <a:t>        "region_name": "부산광역시 사하구",</a:t>
            </a:r>
          </a:p>
          <a:p xmlns:a="http://schemas.openxmlformats.org/drawingml/2006/main">
            <a:r>
              <a:t>        "visitors_yoy_pct": 5.153273674476,</a:t>
            </a:r>
          </a:p>
          <a:p xmlns:a="http://schemas.openxmlformats.org/drawingml/2006/main">
            <a:r>
              <a:t>        "spending_yoy_pct": 9.830323295715736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"26140",</a:t>
            </a:r>
          </a:p>
          <a:p xmlns:a="http://schemas.openxmlformats.org/drawingml/2006/main">
            <a:r>
              <a:t>        "region_name": "부산광역시 서구",</a:t>
            </a:r>
          </a:p>
          <a:p xmlns:a="http://schemas.openxmlformats.org/drawingml/2006/main">
            <a:r>
              <a:t>        "visitors_yoy_pct": 0.48883639702146375,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"26500",</a:t>
            </a:r>
          </a:p>
          <a:p xmlns:a="http://schemas.openxmlformats.org/drawingml/2006/main">
            <a:r>
              <a:t>        "region_name": "부산광역시 수영구",</a:t>
            </a:r>
          </a:p>
          <a:p xmlns:a="http://schemas.openxmlformats.org/drawingml/2006/main">
            <a:r>
              <a:t>        "visitors_yoy_pct": 3.7269707980129185,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"26470",</a:t>
            </a:r>
          </a:p>
          <a:p xmlns:a="http://schemas.openxmlformats.org/drawingml/2006/main">
            <a:r>
              <a:t>        "region_name": "부산광역시 연제구",</a:t>
            </a:r>
          </a:p>
          <a:p xmlns:a="http://schemas.openxmlformats.org/drawingml/2006/main">
            <a:r>
              <a:t>        "visitors_yoy_pct": -1.0009969620847103,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"26200",</a:t>
            </a:r>
          </a:p>
          <a:p xmlns:a="http://schemas.openxmlformats.org/drawingml/2006/main">
            <a:r>
              <a:t>        "region_name": "부산광역시 영도구",</a:t>
            </a:r>
          </a:p>
          <a:p xmlns:a="http://schemas.openxmlformats.org/drawingml/2006/main">
            <a:r>
              <a:t>        "visitors_yoy_pct": 1.7577942753985498,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"26110",</a:t>
            </a:r>
          </a:p>
          <a:p xmlns:a="http://schemas.openxmlformats.org/drawingml/2006/main">
            <a:r>
              <a:t>        "region_name": "부산광역시 중구",</a:t>
            </a:r>
          </a:p>
          <a:p xmlns:a="http://schemas.openxmlformats.org/drawingml/2006/main">
            <a:r>
              <a:t>        "visitors_yoy_pct": 0.9147314234330794,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"26350",</a:t>
            </a:r>
          </a:p>
          <a:p xmlns:a="http://schemas.openxmlformats.org/drawingml/2006/main">
            <a:r>
              <a:t>        "region_name": "부산광역시 해운대구",</a:t>
            </a:r>
          </a:p>
          <a:p xmlns:a="http://schemas.openxmlformats.org/drawingml/2006/main">
            <a:r>
              <a:t>        "visitors_yoy_pct": 2.992649250609114,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"31140",</a:t>
            </a:r>
          </a:p>
          <a:p xmlns:a="http://schemas.openxmlformats.org/drawingml/2006/main">
            <a:r>
              <a:t>        "region_name": "울산광역시 남구",</a:t>
            </a:r>
          </a:p>
          <a:p xmlns:a="http://schemas.openxmlformats.org/drawingml/2006/main">
            <a:r>
              <a:t>        "visitors_yoy_pct": -2.412975072015977,</a:t>
            </a:r>
          </a:p>
          <a:p xmlns:a="http://schemas.openxmlformats.org/drawingml/2006/main">
            <a:r>
              <a:t>        "spending_yoy_pct": 6.408098640571813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"31170",</a:t>
            </a:r>
          </a:p>
          <a:p xmlns:a="http://schemas.openxmlformats.org/drawingml/2006/main">
            <a:r>
              <a:t>        "region_name": "울산광역시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"31200",</a:t>
            </a:r>
          </a:p>
          <a:p xmlns:a="http://schemas.openxmlformats.org/drawingml/2006/main">
            <a:r>
              <a:t>        "region_name": "울산광역시 북구",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0.2949968476416043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"31710",</a:t>
            </a:r>
          </a:p>
          <a:p xmlns:a="http://schemas.openxmlformats.org/drawingml/2006/main">
            <a:r>
              <a:t>        "region_name": "울산광역시 울주군",</a:t>
            </a:r>
          </a:p>
          <a:p xmlns:a="http://schemas.openxmlformats.org/drawingml/2006/main">
            <a:r>
              <a:t>        "visitors_yoy_pct": 8.40995624472698,</a:t>
            </a:r>
          </a:p>
          <a:p xmlns:a="http://schemas.openxmlformats.org/drawingml/2006/main">
            <a:r>
              <a:t>        "spending_yoy_pct": 81.43941066200114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"31110",</a:t>
            </a:r>
          </a:p>
          <a:p xmlns:a="http://schemas.openxmlformats.org/drawingml/2006/main">
            <a:r>
              <a:t>        "region_name": "울산광역시 중구",</a:t>
            </a:r>
          </a:p>
          <a:p xmlns:a="http://schemas.openxmlformats.org/drawingml/2006/main">
            <a:r>
              <a:t>        "visitors_yoy_pct": -0.17080456491902485,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"28710",</a:t>
            </a:r>
          </a:p>
          <a:p xmlns:a="http://schemas.openxmlformats.org/drawingml/2006/main">
            <a:r>
              <a:t>        "region_name": "인천광역시 강화군",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"28200",</a:t>
            </a:r>
          </a:p>
          <a:p xmlns:a="http://schemas.openxmlformats.org/drawingml/2006/main">
            <a:r>
              <a:t>        "region_name": "인천광역시 남동구",</a:t>
            </a:r>
          </a:p>
          <a:p xmlns:a="http://schemas.openxmlformats.org/drawingml/2006/main">
            <a:r>
              <a:t>        "visitors_yoy_pct": 2.761754833526564,</a:t>
            </a:r>
          </a:p>
          <a:p xmlns:a="http://schemas.openxmlformats.org/drawingml/2006/main">
            <a:r>
              <a:t>        "spending_yoy_pct": 11.114687021806713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"28140",</a:t>
            </a:r>
          </a:p>
          <a:p xmlns:a="http://schemas.openxmlformats.org/drawingml/2006/main">
            <a:r>
              <a:t>        "region_name": "인천광역시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"28177",</a:t>
            </a:r>
          </a:p>
          <a:p xmlns:a="http://schemas.openxmlformats.org/drawingml/2006/main">
            <a:r>
              <a:t>        "region_name": "인천광역시 미추홀구",</a:t>
            </a:r>
          </a:p>
          <a:p xmlns:a="http://schemas.openxmlformats.org/drawingml/2006/main">
            <a:r>
              <a:t>        "visitors_yoy_pct": 4.8132227492542645,</a:t>
            </a:r>
          </a:p>
          <a:p xmlns:a="http://schemas.openxmlformats.org/drawingml/2006/main">
            <a:r>
              <a:t>        "spending_yoy_pct": 3.509708801871203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"28237",</a:t>
            </a:r>
          </a:p>
          <a:p xmlns:a="http://schemas.openxmlformats.org/drawingml/2006/main">
            <a:r>
              <a:t>        "region_name": "인천광역시 부평구",</a:t>
            </a:r>
          </a:p>
          <a:p xmlns:a="http://schemas.openxmlformats.org/drawingml/2006/main">
            <a:r>
              <a:t>        "visitors_yoy_pct": 0.4439984789967433,</a:t>
            </a:r>
          </a:p>
          <a:p xmlns:a="http://schemas.openxmlformats.org/drawingml/2006/main">
            <a:r>
              <a:t>        "spending_yoy_pct": 0.546897758231002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"28260",</a:t>
            </a:r>
          </a:p>
          <a:p xmlns:a="http://schemas.openxmlformats.org/drawingml/2006/main">
            <a:r>
              <a:t>        "region_name": "인천광역시 서구",</a:t>
            </a:r>
          </a:p>
          <a:p xmlns:a="http://schemas.openxmlformats.org/drawingml/2006/main">
            <a:r>
              <a:t>        "visitors_yoy_pct": 3.0776536200578963,</a:t>
            </a:r>
          </a:p>
          <a:p xmlns:a="http://schemas.openxmlformats.org/drawingml/2006/main">
            <a:r>
              <a:t>        "spending_yoy_pct": 8.70221721754081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"28185",</a:t>
            </a:r>
          </a:p>
          <a:p xmlns:a="http://schemas.openxmlformats.org/drawingml/2006/main">
            <a:r>
              <a:t>        "region_name": "인천광역시 연수구",</a:t>
            </a:r>
          </a:p>
          <a:p xmlns:a="http://schemas.openxmlformats.org/drawingml/2006/main">
            <a:r>
              <a:t>        "visitors_yoy_pct": 4.269565781613238,</a:t>
            </a:r>
          </a:p>
          <a:p xmlns:a="http://schemas.openxmlformats.org/drawingml/2006/main">
            <a:r>
              <a:t>        "spending_yoy_pct": 2.2124442485851326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"28720",</a:t>
            </a:r>
          </a:p>
          <a:p xmlns:a="http://schemas.openxmlformats.org/drawingml/2006/main">
            <a:r>
              <a:t>        "region_name": "인천광역시 옹진군",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"28110",</a:t>
            </a:r>
          </a:p>
          <a:p xmlns:a="http://schemas.openxmlformats.org/drawingml/2006/main">
            <a:r>
              <a:t>        "region_name": "인천광역시 중구",</a:t>
            </a:r>
          </a:p>
          <a:p xmlns:a="http://schemas.openxmlformats.org/drawingml/2006/main">
            <a:r>
              <a:t>        "visitors_yoy_pct": 0.03324962622512917,</a:t>
            </a:r>
          </a:p>
          <a:p xmlns:a="http://schemas.openxmlformats.org/drawingml/2006/main">
            <a:r>
              <a:t>        "spending_yoy_pct": 0.9525392476834815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"46810",</a:t>
            </a:r>
          </a:p>
          <a:p xmlns:a="http://schemas.openxmlformats.org/drawingml/2006/main">
            <a:r>
              <a:t>        "region_name": "전라남도 강진군",</a:t>
            </a:r>
          </a:p>
          <a:p xmlns:a="http://schemas.openxmlformats.org/drawingml/2006/main">
            <a:r>
              <a:t>        "visitors_yoy_pct": 7.400396804118192,</a:t>
            </a:r>
          </a:p>
          <a:p xmlns:a="http://schemas.openxmlformats.org/drawingml/2006/main">
            <a:r>
              <a:t>        "spending_yoy_pct": 10.076597865078373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"46770",</a:t>
            </a:r>
          </a:p>
          <a:p xmlns:a="http://schemas.openxmlformats.org/drawingml/2006/main">
            <a:r>
              <a:t>        "region_name": "전라남도 고흥군",</a:t>
            </a:r>
          </a:p>
          <a:p xmlns:a="http://schemas.openxmlformats.org/drawingml/2006/main">
            <a:r>
              <a:t>        "visitors_yoy_pct": 5.835368257884599,</a:t>
            </a:r>
          </a:p>
          <a:p xmlns:a="http://schemas.openxmlformats.org/drawingml/2006/main">
            <a:r>
              <a:t>        "spending_yoy_pct": 7.41269603352237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"46720",</a:t>
            </a:r>
          </a:p>
          <a:p xmlns:a="http://schemas.openxmlformats.org/drawingml/2006/main">
            <a:r>
              <a:t>        "region_name": "전라남도 곡성군",</a:t>
            </a:r>
          </a:p>
          <a:p xmlns:a="http://schemas.openxmlformats.org/drawingml/2006/main">
            <a:r>
              <a:t>        "visitors_yoy_pct": 6.818659437699259,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"46230",</a:t>
            </a:r>
          </a:p>
          <a:p xmlns:a="http://schemas.openxmlformats.org/drawingml/2006/main">
            <a:r>
              <a:t>        "region_name": "전라남도 광양시",</a:t>
            </a:r>
          </a:p>
          <a:p xmlns:a="http://schemas.openxmlformats.org/drawingml/2006/main">
            <a:r>
              <a:t>        "visitors_yoy_pct": 6.256709780782033,</a:t>
            </a:r>
          </a:p>
          <a:p xmlns:a="http://schemas.openxmlformats.org/drawingml/2006/main">
            <a:r>
              <a:t>        "spending_yoy_pct": 44.447876241338676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"46730",</a:t>
            </a:r>
          </a:p>
          <a:p xmlns:a="http://schemas.openxmlformats.org/drawingml/2006/main">
            <a:r>
              <a:t>        "region_name": "전라남도 구례군",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"46170",</a:t>
            </a:r>
          </a:p>
          <a:p xmlns:a="http://schemas.openxmlformats.org/drawingml/2006/main">
            <a:r>
              <a:t>        "region_name": "전라남도 나주시",</a:t>
            </a:r>
          </a:p>
          <a:p xmlns:a="http://schemas.openxmlformats.org/drawingml/2006/main">
            <a:r>
              <a:t>        "visitors_yoy_pct": 7.373756863501768,</a:t>
            </a:r>
          </a:p>
          <a:p xmlns:a="http://schemas.openxmlformats.org/drawingml/2006/main">
            <a:r>
              <a:t>        "spending_yoy_pct": 23.578279122775058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"46710",</a:t>
            </a:r>
          </a:p>
          <a:p xmlns:a="http://schemas.openxmlformats.org/drawingml/2006/main">
            <a:r>
              <a:t>        "region_name": "전라남도 담양군",</a:t>
            </a:r>
          </a:p>
          <a:p xmlns:a="http://schemas.openxmlformats.org/drawingml/2006/main">
            <a:r>
              <a:t>        "visitors_yoy_pct": -1.1331133792781278,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"46110",</a:t>
            </a:r>
          </a:p>
          <a:p xmlns:a="http://schemas.openxmlformats.org/drawingml/2006/main">
            <a:r>
              <a:t>        "region_name": "전라남도 목포시",</a:t>
            </a:r>
          </a:p>
          <a:p xmlns:a="http://schemas.openxmlformats.org/drawingml/2006/main">
            <a:r>
              <a:t>        "visitors_yoy_pct": 1.4075690657894935,</a:t>
            </a:r>
          </a:p>
          <a:p xmlns:a="http://schemas.openxmlformats.org/drawingml/2006/main">
            <a:r>
              <a:t>        "spending_yoy_pct": 0.9890734895862563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"46840",</a:t>
            </a:r>
          </a:p>
          <a:p xmlns:a="http://schemas.openxmlformats.org/drawingml/2006/main">
            <a:r>
              <a:t>        "region_name": "전라남도 무안군",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"46780",</a:t>
            </a:r>
          </a:p>
          <a:p xmlns:a="http://schemas.openxmlformats.org/drawingml/2006/main">
            <a:r>
              <a:t>        "region_name": "전라남도 보성군",</a:t>
            </a:r>
          </a:p>
          <a:p xmlns:a="http://schemas.openxmlformats.org/drawingml/2006/main">
            <a:r>
              <a:t>        "visitors_yoy_pct": 1.0697974548409261,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"46150",</a:t>
            </a:r>
          </a:p>
          <a:p xmlns:a="http://schemas.openxmlformats.org/drawingml/2006/main">
            <a:r>
              <a:t>        "region_name": "전라남도 순천시",</a:t>
            </a:r>
          </a:p>
          <a:p xmlns:a="http://schemas.openxmlformats.org/drawingml/2006/main">
            <a:r>
              <a:t>        "visitors_yoy_pct": 0.9163890778699724,</a:t>
            </a:r>
          </a:p>
          <a:p xmlns:a="http://schemas.openxmlformats.org/drawingml/2006/main">
            <a:r>
              <a:t>        "spending_yoy_pct": 1.6618268565630423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"46910",</a:t>
            </a:r>
          </a:p>
          <a:p xmlns:a="http://schemas.openxmlformats.org/drawingml/2006/main">
            <a:r>
              <a:t>        "region_name": "전라남도 신안군",</a:t>
            </a:r>
          </a:p>
          <a:p xmlns:a="http://schemas.openxmlformats.org/drawingml/2006/main">
            <a:r>
              <a:t>        "visitors_yoy_pct": 0.7071757344048857,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"46130",</a:t>
            </a:r>
          </a:p>
          <a:p xmlns:a="http://schemas.openxmlformats.org/drawingml/2006/main">
            <a:r>
              <a:t>        "region_name": "전라남도 여수시",</a:t>
            </a:r>
          </a:p>
          <a:p xmlns:a="http://schemas.openxmlformats.org/drawingml/2006/main">
            <a:r>
              <a:t>        "visitors_yoy_pct": 0.40208917616029183,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"46870",</a:t>
            </a:r>
          </a:p>
          <a:p xmlns:a="http://schemas.openxmlformats.org/drawingml/2006/main">
            <a:r>
              <a:t>        "region_name": "전라남도 영광군",</a:t>
            </a:r>
          </a:p>
          <a:p xmlns:a="http://schemas.openxmlformats.org/drawingml/2006/main">
            <a:r>
              <a:t>        "visitors_yoy_pct": 3.194004597673139,</a:t>
            </a:r>
          </a:p>
          <a:p xmlns:a="http://schemas.openxmlformats.org/drawingml/2006/main">
            <a:r>
              <a:t>        "spending_yoy_pct": 7.435313858166781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"46830",</a:t>
            </a:r>
          </a:p>
          <a:p xmlns:a="http://schemas.openxmlformats.org/drawingml/2006/main">
            <a:r>
              <a:t>        "region_name": "전라남도 영암군",</a:t>
            </a:r>
          </a:p>
          <a:p xmlns:a="http://schemas.openxmlformats.org/drawingml/2006/main">
            <a:r>
              <a:t>        "visitors_yoy_pct": 5.57351701191342,</a:t>
            </a:r>
          </a:p>
          <a:p xmlns:a="http://schemas.openxmlformats.org/drawingml/2006/main">
            <a:r>
              <a:t>        "spending_yoy_pct": 38.88484938801311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"46890",</a:t>
            </a:r>
          </a:p>
          <a:p xmlns:a="http://schemas.openxmlformats.org/drawingml/2006/main">
            <a:r>
              <a:t>        "region_name": "전라남도 완도군",</a:t>
            </a:r>
          </a:p>
          <a:p xmlns:a="http://schemas.openxmlformats.org/drawingml/2006/main">
            <a:r>
              <a:t>        "visitors_yoy_pct": 5.299353725195743,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"46880",</a:t>
            </a:r>
          </a:p>
          <a:p xmlns:a="http://schemas.openxmlformats.org/drawingml/2006/main">
            <a:r>
              <a:t>        "region_name": "전라남도 장성군",</a:t>
            </a:r>
          </a:p>
          <a:p xmlns:a="http://schemas.openxmlformats.org/drawingml/2006/main">
            <a:r>
              <a:t>        "visitors_yoy_pct": -1.8669547711114287,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"46800",</a:t>
            </a:r>
          </a:p>
          <a:p xmlns:a="http://schemas.openxmlformats.org/drawingml/2006/main">
            <a:r>
              <a:t>        "region_name": "전라남도 장흥군",</a:t>
            </a:r>
          </a:p>
          <a:p xmlns:a="http://schemas.openxmlformats.org/drawingml/2006/main">
            <a:r>
              <a:t>        "visitors_yoy_pct": 0.8319529973970896,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"46900",</a:t>
            </a:r>
          </a:p>
          <a:p xmlns:a="http://schemas.openxmlformats.org/drawingml/2006/main">
            <a:r>
              <a:t>        "region_name": "전라남도 진도군",</a:t>
            </a:r>
          </a:p>
          <a:p xmlns:a="http://schemas.openxmlformats.org/drawingml/2006/main">
            <a:r>
              <a:t>        "visitors_yoy_pct": 3.898312326425968,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"46860",</a:t>
            </a:r>
          </a:p>
          <a:p xmlns:a="http://schemas.openxmlformats.org/drawingml/2006/main">
            <a:r>
              <a:t>        "region_name": "전라남도 함평군",</a:t>
            </a:r>
          </a:p>
          <a:p xmlns:a="http://schemas.openxmlformats.org/drawingml/2006/main">
            <a:r>
              <a:t>        "visitors_yoy_pct": 1.080498166030397,</a:t>
            </a:r>
          </a:p>
          <a:p xmlns:a="http://schemas.openxmlformats.org/drawingml/2006/main">
            <a:r>
              <a:t>        "spending_yoy_pct": 11.660743142378639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"46820",</a:t>
            </a:r>
          </a:p>
          <a:p xmlns:a="http://schemas.openxmlformats.org/drawingml/2006/main">
            <a:r>
              <a:t>        "region_name": "전라남도 해남군",</a:t>
            </a:r>
          </a:p>
          <a:p xmlns:a="http://schemas.openxmlformats.org/drawingml/2006/main">
            <a:r>
              <a:t>        "visitors_yoy_pct": -0.49123933989323465,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"46790",</a:t>
            </a:r>
          </a:p>
          <a:p xmlns:a="http://schemas.openxmlformats.org/drawingml/2006/main">
            <a:r>
              <a:t>        "region_name": "전라남도 화순군",</a:t>
            </a:r>
          </a:p>
          <a:p xmlns:a="http://schemas.openxmlformats.org/drawingml/2006/main">
            <a:r>
              <a:t>        "visitors_yoy_pct": 3.099506935599794,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"52790",</a:t>
            </a:r>
          </a:p>
          <a:p xmlns:a="http://schemas.openxmlformats.org/drawingml/2006/main">
            <a:r>
              <a:t>        "region_name": "전북특별자치도 고창군",</a:t>
            </a:r>
          </a:p>
          <a:p xmlns:a="http://schemas.openxmlformats.org/drawingml/2006/main">
            <a:r>
              <a:t>        "visitors_yoy_pct": 0.23917140527376368,</a:t>
            </a:r>
          </a:p>
          <a:p xmlns:a="http://schemas.openxmlformats.org/drawingml/2006/main">
            <a:r>
              <a:t>        "spending_yoy_pct": -1.2376707489410221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"52130",</a:t>
            </a:r>
          </a:p>
          <a:p xmlns:a="http://schemas.openxmlformats.org/drawingml/2006/main">
            <a:r>
              <a:t>        "region_name": "전북특별자치도 군산시",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"52210",</a:t>
            </a:r>
          </a:p>
          <a:p xmlns:a="http://schemas.openxmlformats.org/drawingml/2006/main">
            <a:r>
              <a:t>        "region_name": "전북특별자치도 김제시",</a:t>
            </a:r>
          </a:p>
          <a:p xmlns:a="http://schemas.openxmlformats.org/drawingml/2006/main">
            <a:r>
              <a:t>        "visitors_yoy_pct": 7.956355670433024,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"52190",</a:t>
            </a:r>
          </a:p>
          <a:p xmlns:a="http://schemas.openxmlformats.org/drawingml/2006/main">
            <a:r>
              <a:t>        "region_name": "전북특별자치도 남원시",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"52730",</a:t>
            </a:r>
          </a:p>
          <a:p xmlns:a="http://schemas.openxmlformats.org/drawingml/2006/main">
            <a:r>
              <a:t>        "region_name": "전북특별자치도 무주군",</a:t>
            </a:r>
          </a:p>
          <a:p xmlns:a="http://schemas.openxmlformats.org/drawingml/2006/main">
            <a:r>
              <a:t>        "visitors_yoy_pct": 4.6076411076692025,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"52800",</a:t>
            </a:r>
          </a:p>
          <a:p xmlns:a="http://schemas.openxmlformats.org/drawingml/2006/main">
            <a:r>
              <a:t>        "region_name": "전북특별자치도 부안군",</a:t>
            </a:r>
          </a:p>
          <a:p xmlns:a="http://schemas.openxmlformats.org/drawingml/2006/main">
            <a:r>
              <a:t>        "visitors_yoy_pct": 8.354477566753737,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"52770",</a:t>
            </a:r>
          </a:p>
          <a:p xmlns:a="http://schemas.openxmlformats.org/drawingml/2006/main">
            <a:r>
              <a:t>        "region_name": "전북특별자치도 순창군",</a:t>
            </a:r>
          </a:p>
          <a:p xmlns:a="http://schemas.openxmlformats.org/drawingml/2006/main">
            <a:r>
              <a:t>        "visitors_yoy_pct": -7.052943132629119,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"52710",</a:t>
            </a:r>
          </a:p>
          <a:p xmlns:a="http://schemas.openxmlformats.org/drawingml/2006/main">
            <a:r>
              <a:t>        "region_name": "전북특별자치도 완주군",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"52140",</a:t>
            </a:r>
          </a:p>
          <a:p xmlns:a="http://schemas.openxmlformats.org/drawingml/2006/main">
            <a:r>
              <a:t>        "region_name": "전북특별자치도 익산시",</a:t>
            </a:r>
          </a:p>
          <a:p xmlns:a="http://schemas.openxmlformats.org/drawingml/2006/main">
            <a:r>
              <a:t>        "visitors_yoy_pct": 2.3008892542630166,</a:t>
            </a:r>
          </a:p>
          <a:p xmlns:a="http://schemas.openxmlformats.org/drawingml/2006/main">
            <a:r>
              <a:t>        "spending_yoy_pct": 0.9074597640745363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"52750",</a:t>
            </a:r>
          </a:p>
          <a:p xmlns:a="http://schemas.openxmlformats.org/drawingml/2006/main">
            <a:r>
              <a:t>        "region_name": "전북특별자치도 임실군",</a:t>
            </a:r>
          </a:p>
          <a:p xmlns:a="http://schemas.openxmlformats.org/drawingml/2006/main">
            <a:r>
              <a:t>        "visitors_yoy_pct": 6.348494995343712,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"52740",</a:t>
            </a:r>
          </a:p>
          <a:p xmlns:a="http://schemas.openxmlformats.org/drawingml/2006/main">
            <a:r>
              <a:t>        "region_name": "전북특별자치도 장수군",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31.595090652921478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"52113",</a:t>
            </a:r>
          </a:p>
          <a:p xmlns:a="http://schemas.openxmlformats.org/drawingml/2006/main">
            <a:r>
              <a:t>        "region_name": "전북특별자치도 전주시 덕진구",</a:t>
            </a:r>
          </a:p>
          <a:p xmlns:a="http://schemas.openxmlformats.org/drawingml/2006/main">
            <a:r>
              <a:t>        "visitors_yoy_pct": 5.758941617594915,</a:t>
            </a:r>
          </a:p>
          <a:p xmlns:a="http://schemas.openxmlformats.org/drawingml/2006/main">
            <a:r>
              <a:t>        "spending_yoy_pct": 3.511960496475819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"52111",</a:t>
            </a:r>
          </a:p>
          <a:p xmlns:a="http://schemas.openxmlformats.org/drawingml/2006/main">
            <a:r>
              <a:t>        "region_name": "전북특별자치도 전주시 완산구",</a:t>
            </a:r>
          </a:p>
          <a:p xmlns:a="http://schemas.openxmlformats.org/drawingml/2006/main">
            <a:r>
              <a:t>        "visitors_yoy_pct": 1.5504311547378302,</a:t>
            </a:r>
          </a:p>
          <a:p xmlns:a="http://schemas.openxmlformats.org/drawingml/2006/main">
            <a:r>
              <a:t>        "spending_yoy_pct": -1.5294414130139433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"52180",</a:t>
            </a:r>
          </a:p>
          <a:p xmlns:a="http://schemas.openxmlformats.org/drawingml/2006/main">
            <a:r>
              <a:t>        "region_name": "전북특별자치도 정읍시",</a:t>
            </a:r>
          </a:p>
          <a:p xmlns:a="http://schemas.openxmlformats.org/drawingml/2006/main">
            <a:r>
              <a:t>        "visitors_yoy_pct": -5.523148235870979,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"52720",</a:t>
            </a:r>
          </a:p>
          <a:p xmlns:a="http://schemas.openxmlformats.org/drawingml/2006/main">
            <a:r>
              <a:t>        "region_name": "전북특별자치도 진안군",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"50130",</a:t>
            </a:r>
          </a:p>
          <a:p xmlns:a="http://schemas.openxmlformats.org/drawingml/2006/main">
            <a:r>
              <a:t>        "region_name": "제주특별자치도 서귀포시",</a:t>
            </a:r>
          </a:p>
          <a:p xmlns:a="http://schemas.openxmlformats.org/drawingml/2006/main">
            <a:r>
              <a:t>        "visitors_yoy_pct": 0.48567734141498065,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"50110",</a:t>
            </a:r>
          </a:p>
          <a:p xmlns:a="http://schemas.openxmlformats.org/drawingml/2006/main">
            <a:r>
              <a:t>        "region_name": "제주특별자치도 제주시",</a:t>
            </a:r>
          </a:p>
          <a:p xmlns:a="http://schemas.openxmlformats.org/drawingml/2006/main">
            <a:r>
              <a:t>        "visitors_yoy_pct": -1.5879832207140288,</a:t>
            </a:r>
          </a:p>
          <a:p xmlns:a="http://schemas.openxmlformats.org/drawingml/2006/main">
            <a:r>
              <a:t>        "spending_yoy_pct": 1.3981784014424292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"44250",</a:t>
            </a:r>
          </a:p>
          <a:p xmlns:a="http://schemas.openxmlformats.org/drawingml/2006/main">
            <a:r>
              <a:t>        "region_name": "충청남도 계룡시",</a:t>
            </a:r>
          </a:p>
          <a:p xmlns:a="http://schemas.openxmlformats.org/drawingml/2006/main">
            <a:r>
              <a:t>        "visitors_yoy_pct": -3.173817343784502,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"44150",</a:t>
            </a:r>
          </a:p>
          <a:p xmlns:a="http://schemas.openxmlformats.org/drawingml/2006/main">
            <a:r>
              <a:t>        "region_name": "충청남도 공주시",</a:t>
            </a:r>
          </a:p>
          <a:p xmlns:a="http://schemas.openxmlformats.org/drawingml/2006/main">
            <a:r>
              <a:t>        "visitors_yoy_pct": 8.744390557354787,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"44710",</a:t>
            </a:r>
          </a:p>
          <a:p xmlns:a="http://schemas.openxmlformats.org/drawingml/2006/main">
            <a:r>
              <a:t>        "region_name": "충청남도 금산군",</a:t>
            </a:r>
          </a:p>
          <a:p xmlns:a="http://schemas.openxmlformats.org/drawingml/2006/main">
            <a:r>
              <a:t>        "visitors_yoy_pct": 4.103173763025625,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"44230",</a:t>
            </a:r>
          </a:p>
          <a:p xmlns:a="http://schemas.openxmlformats.org/drawingml/2006/main">
            <a:r>
              <a:t>        "region_name": "충청남도 논산시",</a:t>
            </a:r>
          </a:p>
          <a:p xmlns:a="http://schemas.openxmlformats.org/drawingml/2006/main">
            <a:r>
              <a:t>        "visitors_yoy_pct": 4.804361012468972,</a:t>
            </a:r>
          </a:p>
          <a:p xmlns:a="http://schemas.openxmlformats.org/drawingml/2006/main">
            <a:r>
              <a:t>        "spending_yoy_pct": 171.98018724620985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"44270",</a:t>
            </a:r>
          </a:p>
          <a:p xmlns:a="http://schemas.openxmlformats.org/drawingml/2006/main">
            <a:r>
              <a:t>        "region_name": "충청남도 당진시",</a:t>
            </a:r>
          </a:p>
          <a:p xmlns:a="http://schemas.openxmlformats.org/drawingml/2006/main">
            <a:r>
              <a:t>        "visitors_yoy_pct": 2.6104896844348913,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"44180",</a:t>
            </a:r>
          </a:p>
          <a:p xmlns:a="http://schemas.openxmlformats.org/drawingml/2006/main">
            <a:r>
              <a:t>        "region_name": "충청남도 보령시",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"44760",</a:t>
            </a:r>
          </a:p>
          <a:p xmlns:a="http://schemas.openxmlformats.org/drawingml/2006/main">
            <a:r>
              <a:t>        "region_name": "충청남도 부여군",</a:t>
            </a:r>
          </a:p>
          <a:p xmlns:a="http://schemas.openxmlformats.org/drawingml/2006/main">
            <a:r>
              <a:t>        "visitors_yoy_pct": 9.411053362609788,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"44210",</a:t>
            </a:r>
          </a:p>
          <a:p xmlns:a="http://schemas.openxmlformats.org/drawingml/2006/main">
            <a:r>
              <a:t>        "region_name": "충청남도 서산시",</a:t>
            </a:r>
          </a:p>
          <a:p xmlns:a="http://schemas.openxmlformats.org/drawingml/2006/main">
            <a:r>
              <a:t>        "visitors_yoy_pct": 3.7722502564567773,</a:t>
            </a:r>
          </a:p>
          <a:p xmlns:a="http://schemas.openxmlformats.org/drawingml/2006/main">
            <a:r>
              <a:t>        "spending_yoy_pct": 3.1415583712597783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"44770",</a:t>
            </a:r>
          </a:p>
          <a:p xmlns:a="http://schemas.openxmlformats.org/drawingml/2006/main">
            <a:r>
              <a:t>        "region_name": "충청남도 서천군",</a:t>
            </a:r>
          </a:p>
          <a:p xmlns:a="http://schemas.openxmlformats.org/drawingml/2006/main">
            <a:r>
              <a:t>        "visitors_yoy_pct": -0.2596137446849722,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"44200",</a:t>
            </a:r>
          </a:p>
          <a:p xmlns:a="http://schemas.openxmlformats.org/drawingml/2006/main">
            <a:r>
              <a:t>        "region_name": "충청남도 아산시",</a:t>
            </a:r>
          </a:p>
          <a:p xmlns:a="http://schemas.openxmlformats.org/drawingml/2006/main">
            <a:r>
              <a:t>        "visitors_yoy_pct": 3.580488680307048,</a:t>
            </a:r>
          </a:p>
          <a:p xmlns:a="http://schemas.openxmlformats.org/drawingml/2006/main">
            <a:r>
              <a:t>        "spending_yoy_pct": 21.464795055500872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"44810",</a:t>
            </a:r>
          </a:p>
          <a:p xmlns:a="http://schemas.openxmlformats.org/drawingml/2006/main">
            <a:r>
              <a:t>        "region_name": "충청남도 예산군",</a:t>
            </a:r>
          </a:p>
          <a:p xmlns:a="http://schemas.openxmlformats.org/drawingml/2006/main">
            <a:r>
              <a:t>        "visitors_yoy_pct": 5.566865736044102,</a:t>
            </a:r>
          </a:p>
          <a:p xmlns:a="http://schemas.openxmlformats.org/drawingml/2006/main">
            <a:r>
              <a:t>        "spending_yoy_pct": -6.465424887081772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"44131",</a:t>
            </a:r>
          </a:p>
          <a:p xmlns:a="http://schemas.openxmlformats.org/drawingml/2006/main">
            <a:r>
              <a:t>        "region_name": "충청남도 천안시 동남구",</a:t>
            </a:r>
          </a:p>
          <a:p xmlns:a="http://schemas.openxmlformats.org/drawingml/2006/main">
            <a:r>
              <a:t>        "visitors_yoy_pct": 4.306132946192065,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"44133",</a:t>
            </a:r>
          </a:p>
          <a:p xmlns:a="http://schemas.openxmlformats.org/drawingml/2006/main">
            <a:r>
              <a:t>        "region_name": "충청남도 천안시 서북구",</a:t>
            </a:r>
          </a:p>
          <a:p xmlns:a="http://schemas.openxmlformats.org/drawingml/2006/main">
            <a:r>
              <a:t>        "visitors_yoy_pct": 2.073238931894217,</a:t>
            </a:r>
          </a:p>
          <a:p xmlns:a="http://schemas.openxmlformats.org/drawingml/2006/main">
            <a:r>
              <a:t>        "spending_yoy_pct": 7.373493526370023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"44790",</a:t>
            </a:r>
          </a:p>
          <a:p xmlns:a="http://schemas.openxmlformats.org/drawingml/2006/main">
            <a:r>
              <a:t>        "region_name": "충청남도 청양군",</a:t>
            </a:r>
          </a:p>
          <a:p xmlns:a="http://schemas.openxmlformats.org/drawingml/2006/main">
            <a:r>
              <a:t>        "visitors_yoy_pct": 2.7599213267348377,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"44825",</a:t>
            </a:r>
          </a:p>
          <a:p xmlns:a="http://schemas.openxmlformats.org/drawingml/2006/main">
            <a:r>
              <a:t>        "region_name": "충청남도 태안군",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"44800",</a:t>
            </a:r>
          </a:p>
          <a:p xmlns:a="http://schemas.openxmlformats.org/drawingml/2006/main">
            <a:r>
              <a:t>        "region_name": "충청남도 홍성군",</a:t>
            </a:r>
          </a:p>
          <a:p xmlns:a="http://schemas.openxmlformats.org/drawingml/2006/main">
            <a:r>
              <a:t>        "visitors_yoy_pct": 4.6852619840355825,</a:t>
            </a:r>
          </a:p>
          <a:p xmlns:a="http://schemas.openxmlformats.org/drawingml/2006/main">
            <a:r>
              <a:t>        "spending_yoy_pct": 24.766235386050717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"43760",</a:t>
            </a:r>
          </a:p>
          <a:p xmlns:a="http://schemas.openxmlformats.org/drawingml/2006/main">
            <a:r>
              <a:t>        "region_name": "충청북도 괴산군",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"43800",</a:t>
            </a:r>
          </a:p>
          <a:p xmlns:a="http://schemas.openxmlformats.org/drawingml/2006/main">
            <a:r>
              <a:t>        "region_name": "충청북도 단양군",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"43720",</a:t>
            </a:r>
          </a:p>
          <a:p xmlns:a="http://schemas.openxmlformats.org/drawingml/2006/main">
            <a:r>
              <a:t>        "region_name": "충청북도 보은군",</a:t>
            </a:r>
          </a:p>
          <a:p xmlns:a="http://schemas.openxmlformats.org/drawingml/2006/main">
            <a:r>
              <a:t>        "visitors_yoy_pct": 1.571063560324637,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"43740",</a:t>
            </a:r>
          </a:p>
          <a:p xmlns:a="http://schemas.openxmlformats.org/drawingml/2006/main">
            <a:r>
              <a:t>        "region_name": "충청북도 영동군",</a:t>
            </a:r>
          </a:p>
          <a:p xmlns:a="http://schemas.openxmlformats.org/drawingml/2006/main">
            <a:r>
              <a:t>        "visitors_yoy_pct": 5.8723580375046325,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"43730",</a:t>
            </a:r>
          </a:p>
          <a:p xmlns:a="http://schemas.openxmlformats.org/drawingml/2006/main">
            <a:r>
              <a:t>        "region_name": "충청북도 옥천군",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"43770",</a:t>
            </a:r>
          </a:p>
          <a:p xmlns:a="http://schemas.openxmlformats.org/drawingml/2006/main">
            <a:r>
              <a:t>        "region_name": "충청북도 음성군",</a:t>
            </a:r>
          </a:p>
          <a:p xmlns:a="http://schemas.openxmlformats.org/drawingml/2006/main">
            <a:r>
              <a:t>        "visitors_yoy_pct": 6.35361099528613,</a:t>
            </a:r>
          </a:p>
          <a:p xmlns:a="http://schemas.openxmlformats.org/drawingml/2006/main">
            <a:r>
              <a:t>        "spending_yoy_pct": 4.551457385155788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"43150",</a:t>
            </a:r>
          </a:p>
          <a:p xmlns:a="http://schemas.openxmlformats.org/drawingml/2006/main">
            <a:r>
              <a:t>        "region_name": "충청북도 제천시",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"43745",</a:t>
            </a:r>
          </a:p>
          <a:p xmlns:a="http://schemas.openxmlformats.org/drawingml/2006/main">
            <a:r>
              <a:t>        "region_name": "충청북도 증평군",</a:t>
            </a:r>
          </a:p>
          <a:p xmlns:a="http://schemas.openxmlformats.org/drawingml/2006/main">
            <a:r>
              <a:t>        "visitors_yoy_pct": 3.6938618905598686,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"43750",</a:t>
            </a:r>
          </a:p>
          <a:p xmlns:a="http://schemas.openxmlformats.org/drawingml/2006/main">
            <a:r>
              <a:t>        "region_name": "충청북도 진천군",</a:t>
            </a:r>
          </a:p>
          <a:p xmlns:a="http://schemas.openxmlformats.org/drawingml/2006/main">
            <a:r>
              <a:t>        "visitors_yoy_pct": 3.1209835159346166,</a:t>
            </a:r>
          </a:p>
          <a:p xmlns:a="http://schemas.openxmlformats.org/drawingml/2006/main">
            <a:r>
              <a:t>        "spending_yoy_pct": 9.531959860157935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"43111",</a:t>
            </a:r>
          </a:p>
          <a:p xmlns:a="http://schemas.openxmlformats.org/drawingml/2006/main">
            <a:r>
              <a:t>        "region_name": "충청북도 청주시 상당구",</a:t>
            </a:r>
          </a:p>
          <a:p xmlns:a="http://schemas.openxmlformats.org/drawingml/2006/main">
            <a:r>
              <a:t>        "visitors_yoy_pct": 4.776598528537801,</a:t>
            </a:r>
          </a:p>
          <a:p xmlns:a="http://schemas.openxmlformats.org/drawingml/2006/main">
            <a:r>
              <a:t>        "spending_yoy_pct": 2.6698295644516534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"43112",</a:t>
            </a:r>
          </a:p>
          <a:p xmlns:a="http://schemas.openxmlformats.org/drawingml/2006/main">
            <a:r>
              <a:t>        "region_name": "충청북도 청주시 서원구",</a:t>
            </a:r>
          </a:p>
          <a:p xmlns:a="http://schemas.openxmlformats.org/drawingml/2006/main">
            <a:r>
              <a:t>        "visitors_yoy_pct": 3.3551870909287684,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"43114",</a:t>
            </a:r>
          </a:p>
          <a:p xmlns:a="http://schemas.openxmlformats.org/drawingml/2006/main">
            <a:r>
              <a:t>        "region_name": "충청북도 청주시 청원구",</a:t>
            </a:r>
          </a:p>
          <a:p xmlns:a="http://schemas.openxmlformats.org/drawingml/2006/main">
            <a:r>
              <a:t>        "visitors_yoy_pct": 1.850030473098263,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"43113",</a:t>
            </a:r>
          </a:p>
          <a:p xmlns:a="http://schemas.openxmlformats.org/drawingml/2006/main">
            <a:r>
              <a:t>        "region_name": "충청북도 청주시 흥덕구",</a:t>
            </a:r>
          </a:p>
          <a:p xmlns:a="http://schemas.openxmlformats.org/drawingml/2006/main">
            <a:r>
              <a:t>        "visitors_yoy_pct": 2.699008168290784,</a:t>
            </a:r>
          </a:p>
          <a:p xmlns:a="http://schemas.openxmlformats.org/drawingml/2006/main">
            <a:r>
              <a:t>        "spending_yoy_pct": 21.587662144613518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"43130",</a:t>
            </a:r>
          </a:p>
          <a:p xmlns:a="http://schemas.openxmlformats.org/drawingml/2006/main">
            <a:r>
              <a:t>        "region_name": "충청북도 충주시",</a:t>
            </a:r>
          </a:p>
          <a:p xmlns:a="http://schemas.openxmlformats.org/drawingml/2006/main">
            <a:r>
              <a:t>        "visitors_yoy_pct": 5.2455095134388285,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"method": "Saved region-specific models; same cutoff, same months; no retraining. Equal-weight mean of regional quarterly YoY growth. Competition ranks.",</a:t>
            </a:r>
          </a:p>
          <a:p xmlns:a="http://schemas.openxmlformats.org/drawingml/2006/main">
            <a:r>
              <a:t>  "source": "한국관광 데이터랩 공식 다운로드; data/processed/ml/&lt;region_code&gt;/monthly_demand.csv; artifacts/ml/&lt;region_code&gt;/demand_model.joblib",</a:t>
            </a:r>
          </a:p>
          <a:p xmlns:a="http://schemas.openxmlformats.org/drawingml/2006/main">
            <a:r>
              <a:t>  "limits": "No resident population or density adjustment. Forecast distance from last observed month may exceed 3 months. Rank changes are conditional scenarios, not causal estimates."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1" name="growth-card-1"/>
          <p:cNvSpPr/>
          <p:nvPr/>
        </p:nvSpPr>
        <p:spPr>
          <a:xfrm>
            <a:off x="5248275" y="5314950"/>
            <a:ext cx="9048750" cy="21812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growth-card-0"/>
          <p:cNvSpPr/>
          <p:nvPr/>
        </p:nvSpPr>
        <p:spPr>
          <a:xfrm>
            <a:off x="5248275" y="2971800"/>
            <a:ext cx="9048750" cy="21812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03394"/>
            <a:ext cx="4143375" cy="39290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315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60544"/>
            <a:ext cx="4143375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7" b="0">
                <a:solidFill>
                  <a:srgbClr val="FFFFFF"/>
                </a:solidFill>
                <a:latin typeface="Noto Sans KR"/>
              </a:rPr>
              <a:t>대전광역시 서구 남선로 66 · 남선공원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257800" y="828675"/>
            <a:ext cx="8972550" cy="762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62A"/>
                </a:solidFill>
                <a:latin typeface="Noto Sans KR"/>
              </a:rPr>
              <a:t>1.1 지역 관광 전망</a:t>
            </a:r>
          </a:p>
        </p:txBody>
      </p:sp>
      <p:sp xmlns:a="http://schemas.openxmlformats.org/drawingml/2006/main">
        <p:nvSpPr>
          <p:cNvPr id="36" name="purpose-period"/>
          <p:cNvSpPr txBox="1"/>
          <p:nvPr/>
        </p:nvSpPr>
        <p:spPr>
          <a:xfrm>
            <a:off x="5391150" y="1952625"/>
            <a:ext cx="8763000" cy="428625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62666C"/>
                </a:solidFill>
                <a:latin typeface="Noto Sans KR"/>
              </a:rPr>
              <a:t>향후 3개월 전망 · 2026.11 ~ 2027.01</a:t>
            </a:r>
          </a:p>
        </p:txBody>
      </p:sp>
      <p:sp xmlns:a="http://schemas.openxmlformats.org/drawingml/2006/main">
        <p:nvSpPr>
          <p:cNvPr id="37" name="purpose-comparison"/>
          <p:cNvSpPr txBox="1"/>
          <p:nvPr/>
        </p:nvSpPr>
        <p:spPr>
          <a:xfrm>
            <a:off x="5391150" y="2409825"/>
            <a:ext cx="8763000" cy="38100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2666C"/>
                </a:solidFill>
                <a:latin typeface="Noto Sans KR"/>
              </a:rPr>
              <a:t>전년 같은 기간 대비 증가율을 전국 비교 평균과 비교합니다.</a:t>
            </a:r>
          </a:p>
        </p:txBody>
      </p:sp>
      <p:sp xmlns:a="http://schemas.openxmlformats.org/drawingml/2006/main">
        <p:nvSpPr>
          <p:cNvPr id="38" name="growth-label-0"/>
          <p:cNvSpPr txBox="1"/>
          <p:nvPr/>
        </p:nvSpPr>
        <p:spPr>
          <a:xfrm>
            <a:off x="6010275" y="3133725"/>
            <a:ext cx="34766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33F"/>
                </a:solidFill>
                <a:latin typeface="Noto Sans KR"/>
              </a:rPr>
              <a:t>관광객 방문자 수</a:t>
            </a:r>
          </a:p>
        </p:txBody>
      </p:sp>
      <p:sp xmlns:a="http://schemas.openxmlformats.org/drawingml/2006/main">
        <p:nvSpPr>
          <p:cNvPr id="39" name="growth-total-0"/>
          <p:cNvSpPr txBox="1"/>
          <p:nvPr/>
        </p:nvSpPr>
        <p:spPr>
          <a:xfrm>
            <a:off x="10706100" y="3333750"/>
            <a:ext cx="321945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7649B"/>
                </a:solidFill>
                <a:latin typeface="Noto Sans KR"/>
              </a:rPr>
              <a:t>1,493.4만 명</a:t>
            </a:r>
          </a:p>
        </p:txBody>
      </p:sp>
      <p:graphicFrame xmlns:a="http://schemas.openxmlformats.org/drawingml/2006/main">
        <p:nvGraphicFramePr>
          <p:cNvPr id="40" name="growth-chart-0"/>
          <p:cNvGraphicFramePr>
            <a:graphicFrameLocks noGrp="1"/>
          </p:cNvGraphicFramePr>
          <p:nvPr/>
        </p:nvGraphicFramePr>
        <p:xfrm>
          <a:off x="5438775" y="3924300"/>
          <a:ext cx="61912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42" name="growth-label-1"/>
          <p:cNvSpPr txBox="1"/>
          <p:nvPr/>
        </p:nvSpPr>
        <p:spPr>
          <a:xfrm>
            <a:off x="6010275" y="5476875"/>
            <a:ext cx="34766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6333F"/>
                </a:solidFill>
                <a:latin typeface="Noto Sans KR"/>
              </a:rPr>
              <a:t>관광소비액</a:t>
            </a:r>
          </a:p>
        </p:txBody>
      </p:sp>
      <p:sp xmlns:a="http://schemas.openxmlformats.org/drawingml/2006/main">
        <p:nvSpPr>
          <p:cNvPr id="43" name="growth-total-1"/>
          <p:cNvSpPr txBox="1"/>
          <p:nvPr/>
        </p:nvSpPr>
        <p:spPr>
          <a:xfrm>
            <a:off x="10706100" y="5676900"/>
            <a:ext cx="321945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87C70"/>
                </a:solidFill>
                <a:latin typeface="Noto Sans KR"/>
              </a:rPr>
              <a:t>2,453.8억 원</a:t>
            </a:r>
          </a:p>
        </p:txBody>
      </p:sp>
      <p:graphicFrame xmlns:a="http://schemas.openxmlformats.org/drawingml/2006/main">
        <p:nvGraphicFramePr>
          <p:cNvPr id="44" name="growth-chart-1"/>
          <p:cNvGraphicFramePr>
            <a:graphicFrameLocks noGrp="1"/>
          </p:cNvGraphicFramePr>
          <p:nvPr/>
        </p:nvGraphicFramePr>
        <p:xfrm>
          <a:off x="5438775" y="6267450"/>
          <a:ext cx="61912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 xmlns:a="http://schemas.openxmlformats.org/drawingml/2006/main">
        <p:nvSpPr>
          <p:cNvPr id="46" name="purpose-note"/>
          <p:cNvSpPr txBox="1"/>
          <p:nvPr/>
        </p:nvSpPr>
        <p:spPr>
          <a:xfrm>
            <a:off x="5391150" y="7886700"/>
            <a:ext cx="8772525" cy="647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7480"/>
                </a:solidFill>
                <a:latin typeface="Noto Sans KR"/>
              </a:rPr>
              <a:t>비교 대상 249개 지역 · 한국관광 데이터랩 2026.06까지의 관측값과 저장 ML 모델</a:t>
            </a:r>
          </a:p>
          <a:p>
            <a:pPr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7480"/>
                </a:solidFill>
                <a:latin typeface="Noto Sans KR"/>
              </a:rPr>
              <a:t>비교 평균 = 지역별 전년 동기 대비 증가율의 단순평균. 인구 보정 전 탐색 전망입니다.</a:t>
            </a:r>
          </a:p>
          <a:p>
            <a:pPr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7480"/>
                </a:solidFill>
                <a:latin typeface="Noto Sans KR"/>
              </a:rPr>
              <a:t>카드의 높음·낮음은 두 증가율의 차이(퍼센트포인트)입니다.</a:t>
            </a:r>
          </a:p>
        </p:txBody>
      </p:sp>
      <p:sp xmlns:a="http://schemas.openxmlformats.org/drawingml/2006/main">
        <p:nvSpPr>
          <p:cNvPr id="48" name="editorial-kicker"/>
          <p:cNvSpPr txBox="1"/>
          <p:nvPr/>
        </p:nvSpPr>
        <p:spPr>
          <a:xfrm>
            <a:off x="5343525" y="333375"/>
            <a:ext cx="64770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l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30" b="1">
                <a:solidFill>
                  <a:srgbClr val="F50045"/>
                </a:solidFill>
                <a:latin typeface="Noto Sans KR"/>
              </a:rPr>
              <a:t>1. 개요</a:t>
            </a:r>
          </a:p>
        </p:txBody>
      </p:sp>
      <p:sp xmlns:a="http://schemas.openxmlformats.org/drawingml/2006/main">
        <p:nvSpPr>
          <p:cNvPr id="49" name="editorial-page"/>
          <p:cNvSpPr txBox="1"/>
          <p:nvPr/>
        </p:nvSpPr>
        <p:spPr>
          <a:xfrm>
            <a:off x="13268325" y="428625"/>
            <a:ext cx="962025" cy="26670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algn="ctr"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717A"/>
                </a:solidFill>
                <a:latin typeface="Noto Sans KR"/>
              </a:rPr>
              <a:t>03 / 17</a:t>
            </a:r>
          </a:p>
        </p:txBody>
      </p:sp>
      <p:pic xmlns:a="http://schemas.openxmlformats.org/drawingml/2006/main" xmlns:r="http://schemas.openxmlformats.org/officeDocument/2006/relationships">
        <p:nvPicPr>
          <p:cNvPr id="52" name="growth-metric-icon-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450" y="3143250"/>
            <a:ext cx="352425" cy="352425"/>
          </a:xfrm>
          <a:prstGeom prst="rect">
            <a:avLst/>
          </a:prstGeom>
        </p:spPr>
      </p:pic>
      <p:sp xmlns:a="http://schemas.openxmlformats.org/drawingml/2006/main">
        <p:nvSpPr>
          <p:cNvPr id="53" name="growth-total-caption-0"/>
          <p:cNvSpPr txBox="1"/>
          <p:nvPr/>
        </p:nvSpPr>
        <p:spPr>
          <a:xfrm>
            <a:off x="10706100" y="3086100"/>
            <a:ext cx="3219450" cy="2476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5808B"/>
                </a:solidFill>
                <a:latin typeface="Noto Sans KR"/>
              </a:rPr>
              <a:t>3개월 예측 합계</a:t>
            </a:r>
          </a:p>
        </p:txBody>
      </p:sp>
      <p:sp xmlns:a="http://schemas.openxmlformats.org/drawingml/2006/main">
        <p:nvSpPr>
          <p:cNvPr id="54" name="growth-inner-divider-0"/>
          <p:cNvSpPr/>
          <p:nvPr/>
        </p:nvSpPr>
        <p:spPr>
          <a:xfrm>
            <a:off x="5524500" y="3743325"/>
            <a:ext cx="8505825" cy="9525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growth-gap-badge-0"/>
          <p:cNvSpPr/>
          <p:nvPr/>
        </p:nvSpPr>
        <p:spPr>
          <a:xfrm>
            <a:off x="11811000" y="3952875"/>
            <a:ext cx="2209800" cy="1000125"/>
          </a:xfrm>
          <a:prstGeom prst="roundRect">
            <a:avLst>
              <a:gd name="adj" fmla="val 13000"/>
            </a:avLst>
          </a:prstGeom>
          <a:solidFill>
            <a:srgbClr val="F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growth-gap-caption-0"/>
          <p:cNvSpPr txBox="1"/>
          <p:nvPr/>
        </p:nvSpPr>
        <p:spPr>
          <a:xfrm>
            <a:off x="11963400" y="4095750"/>
            <a:ext cx="1905000" cy="2476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583"/>
                </a:solidFill>
                <a:latin typeface="Noto Sans KR"/>
              </a:rPr>
              <a:t>전국 평균보다</a:t>
            </a:r>
          </a:p>
        </p:txBody>
      </p:sp>
      <p:sp xmlns:a="http://schemas.openxmlformats.org/drawingml/2006/main">
        <p:nvSpPr>
          <p:cNvPr id="57" name="growth-gap-inline-0"/>
          <p:cNvSpPr txBox="1"/>
          <p:nvPr/>
        </p:nvSpPr>
        <p:spPr>
          <a:xfrm>
            <a:off x="11963400" y="4410075"/>
            <a:ext cx="198120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BA3153"/>
                </a:solidFill>
                <a:latin typeface="Noto Sans KR"/>
              </a:rPr>
              <a:t>3.33% 낮음</a:t>
            </a:r>
          </a:p>
        </p:txBody>
      </p:sp>
      <p:pic xmlns:a="http://schemas.openxmlformats.org/drawingml/2006/main" xmlns:r="http://schemas.openxmlformats.org/officeDocument/2006/relationships">
        <p:nvPicPr>
          <p:cNvPr id="58" name="growth-metric-icon-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5450" y="5486400"/>
            <a:ext cx="352425" cy="352425"/>
          </a:xfrm>
          <a:prstGeom prst="rect">
            <a:avLst/>
          </a:prstGeom>
        </p:spPr>
      </p:pic>
      <p:sp xmlns:a="http://schemas.openxmlformats.org/drawingml/2006/main">
        <p:nvSpPr>
          <p:cNvPr id="59" name="growth-total-caption-1"/>
          <p:cNvSpPr txBox="1"/>
          <p:nvPr/>
        </p:nvSpPr>
        <p:spPr>
          <a:xfrm>
            <a:off x="10706100" y="5429250"/>
            <a:ext cx="3219450" cy="2476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5808B"/>
                </a:solidFill>
                <a:latin typeface="Noto Sans KR"/>
              </a:rPr>
              <a:t>3개월 예측 합계</a:t>
            </a:r>
          </a:p>
        </p:txBody>
      </p:sp>
      <p:sp xmlns:a="http://schemas.openxmlformats.org/drawingml/2006/main">
        <p:nvSpPr>
          <p:cNvPr id="60" name="growth-inner-divider-1"/>
          <p:cNvSpPr/>
          <p:nvPr/>
        </p:nvSpPr>
        <p:spPr>
          <a:xfrm>
            <a:off x="5524500" y="6086475"/>
            <a:ext cx="8505825" cy="9525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1" name="growth-gap-badge-1"/>
          <p:cNvSpPr/>
          <p:nvPr/>
        </p:nvSpPr>
        <p:spPr>
          <a:xfrm>
            <a:off x="11811000" y="6296025"/>
            <a:ext cx="2209800" cy="1000125"/>
          </a:xfrm>
          <a:prstGeom prst="roundRect">
            <a:avLst>
              <a:gd name="adj" fmla="val 13000"/>
            </a:avLst>
          </a:prstGeom>
          <a:solidFill>
            <a:srgbClr val="F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2" name="growth-gap-caption-1"/>
          <p:cNvSpPr txBox="1"/>
          <p:nvPr/>
        </p:nvSpPr>
        <p:spPr>
          <a:xfrm>
            <a:off x="11963400" y="6438900"/>
            <a:ext cx="1905000" cy="2476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583"/>
                </a:solidFill>
                <a:latin typeface="Noto Sans KR"/>
              </a:rPr>
              <a:t>전국 평균보다</a:t>
            </a:r>
          </a:p>
        </p:txBody>
      </p:sp>
      <p:sp xmlns:a="http://schemas.openxmlformats.org/drawingml/2006/main">
        <p:nvSpPr>
          <p:cNvPr id="63" name="growth-gap-inline-1"/>
          <p:cNvSpPr txBox="1"/>
          <p:nvPr/>
        </p:nvSpPr>
        <p:spPr>
          <a:xfrm>
            <a:off x="11963400" y="6753225"/>
            <a:ext cx="198120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BA3153"/>
                </a:solidFill>
                <a:latin typeface="Noto Sans KR"/>
              </a:rPr>
              <a:t>5.72% 낮음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