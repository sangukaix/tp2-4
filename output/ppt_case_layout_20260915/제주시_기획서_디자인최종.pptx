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p-date"/>
          <p:cNvSpPr txBox="1"/>
          <p:nvPr/>
        </p:nvSpPr>
        <p:spPr>
          <a:xfrm>
            <a:off x="12477750" y="7610475"/>
            <a:ext cx="1905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2026. 09. 15</a:t>
            </a:r>
          </a:p>
        </p:txBody>
      </p:sp>
      <p:sp xmlns:a="http://schemas.openxmlformats.org/drawingml/2006/main">
        <p:nvSpPr>
          <p:cNvPr id="8"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9"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10"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2"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3"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5"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6"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8"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9"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1"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2"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4"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5"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7"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8"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000" b="0">
                <a:solidFill>
                  <a:srgbClr val="62666C"/>
                </a:solidFill>
                <a:latin typeface="Century Gothic"/>
                <a:ea typeface="맑은 고딕"/>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16573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286000"/>
            <a:ext cx="13220700" cy="419100"/>
          </a:xfrm>
          <a:prstGeom prst="rect">
            <a:avLst/>
          </a:prstGeom>
          <a:noFill/>
        </p:spPr>
        <p:txBody>
          <a:bodyPr wrap="none" lIns="57150" rIns="57150" tIns="38100" bIns="38100" anchor="ctr">
            <a:noAutofit/>
          </a:bodyPr>
          <a:lstStyle/>
          <a:p>
            <a:pPr eaLnBrk="0" algn="ctr">
              <a:lnSpc>
                <a:spcPts val="2531"/>
              </a:lnSpc>
              <a:spcBef>
                <a:spcPts val="0"/>
              </a:spcBef>
              <a:spcAft>
                <a:spcPts val="0"/>
              </a:spcAft>
            </a:pPr>
            <a:r>
              <a:rPr sz="2025"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8" name="result-photo-source"/>
          <p:cNvSpPr txBox="1"/>
          <p:nvPr/>
        </p:nvSpPr>
        <p:spPr>
          <a:xfrm>
            <a:off x="1009650" y="65055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485775"/>
          </a:xfrm>
          <a:prstGeom prst="rect">
            <a:avLst/>
          </a:prstGeom>
          <a:noFill/>
        </p:spPr>
        <p:txBody>
          <a:bodyPr wrap="none" lIns="57150" rIns="57150" tIns="38100" bIns="38100" anchor="ctr">
            <a:noAutofit/>
          </a:bodyPr>
          <a:lstStyle/>
          <a:p>
            <a:pPr eaLnBrk="0" algn="ctr">
              <a:lnSpc>
                <a:spcPts val="2718"/>
              </a:lnSpc>
              <a:spcBef>
                <a:spcPts val="0"/>
              </a:spcBef>
              <a:spcAft>
                <a:spcPts val="0"/>
              </a:spcAft>
            </a:pPr>
            <a:r>
              <a:rPr sz="2175"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71475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조정 가능한 최종월 목표 +5%</a:t>
            </a:r>
          </a:p>
        </p:txBody>
      </p:sp>
      <p:sp>
        <p:nvSpPr>
          <p:cNvPr id="10" name="kpi-step-explanation"/>
          <p:cNvSpPr txBox="1"/>
          <p:nvPr/>
        </p:nvSpPr>
        <p:spPr>
          <a:xfrm>
            <a:off x="1200150" y="655320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348,601명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148.12억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