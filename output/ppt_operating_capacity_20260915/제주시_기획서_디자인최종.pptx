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3개월간 ML 전망 대비 방문자 +0.02%, 관광소비액 +0.04%를 목표로 합니다.</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71475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11,520명분 운영에 이용률 65% 적용</a:t>
            </a:r>
          </a:p>
          <a:p>
            <a:pPr eaLnBrk="0">
              <a:lnSpc>
                <a:spcPts val="2437"/>
              </a:lnSpc>
              <a:spcBef>
                <a:spcPts val="0"/>
              </a:spcBef>
              <a:spcAft>
                <a:spcPts val="0"/>
              </a:spcAft>
            </a:pPr>
            <a:r>
              <a:rPr sz="1950" b="0">
                <a:solidFill>
                  <a:srgbClr val="62666C"/>
                </a:solidFill>
                <a:latin typeface="Noto Sans KR"/>
              </a:rPr>
              <a:t>참여 7,488명 중 추가 방문 30%를 가정했습니다.</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55320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추가 방문·소비 규모를 먼저 계산하고</a:t>
            </a:r>
          </a:p>
          <a:p>
            <a:pPr eaLnBrk="0">
              <a:lnSpc>
                <a:spcPts val="2062"/>
              </a:lnSpc>
              <a:spcBef>
                <a:spcPts val="0"/>
              </a:spcBef>
              <a:spcAft>
                <a:spcPts val="0"/>
              </a:spcAft>
            </a:pPr>
            <a:r>
              <a:rPr sz="1650" b="0">
                <a:solidFill>
                  <a:srgbClr val="62666C"/>
                </a:solidFill>
                <a:latin typeface="Noto Sans KR"/>
              </a:rPr>
              <a:t>월별 전망과 단계 운영 비중에 따라 배분합니다.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715125"/>
            <a:ext cx="1809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 근거</a:t>
            </a:r>
          </a:p>
        </p:txBody>
      </p:sp>
      <p:sp>
        <p:nvSpPr>
          <p:cNvPr id="33" name="capacity-case-name">
            <a:hlinkClick r:id="rId6"/>
          </p:cNvPr>
          <p:cNvSpPr txBox="1"/>
          <p:nvPr/>
        </p:nvSpPr>
        <p:spPr>
          <a:xfrm>
            <a:off x="2809875" y="6715125"/>
            <a:ext cx="11410950" cy="5524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202124"/>
                </a:solidFill>
                <a:latin typeface="Noto Sans KR"/>
              </a:rPr>
              <a:t>2024년 문화재야행 사업 예산 확정자료</a:t>
            </a:r>
          </a:p>
        </p:txBody>
      </p:sp>
      <p:sp>
        <p:nvSpPr>
          <p:cNvPr id="34" name="capacity-scale-rule"/>
          <p:cNvSpPr txBox="1"/>
          <p:nvPr/>
        </p:nvSpPr>
        <p:spPr>
          <a:xfrm>
            <a:off x="1009650" y="73437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규모 규칙: √(월평균 방문 ÷ 10만)을 올림, 1~12개 거점으로 제안. 야간 문화·체험 운영일·회차·정원은 계획 가정.</a:t>
            </a:r>
          </a:p>
        </p:txBody>
      </p:sp>
      <p:sp>
        <p:nvSpPr>
          <p:cNvPr id="35" name="capacity-disclosure"/>
          <p:cNvSpPr txBox="1"/>
          <p:nvPr/>
        </p:nvSpPr>
        <p:spPr>
          <a:xfrm>
            <a:off x="1009650" y="790575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 확보 시설 수·인구 보정·실제 사업 효과를 뜻하지 않습니다.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