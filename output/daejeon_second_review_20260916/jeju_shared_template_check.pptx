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361.5062</c:v>
                </c:pt>
                <c:pt idx="1">
                  <c:v>359.49109124</c:v>
                </c:pt>
                <c:pt idx="2">
                  <c:v>337.19200876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1504.67072839</c:v>
                </c:pt>
                <c:pt idx="1">
                  <c:v>1451.24711511</c:v>
                </c:pt>
                <c:pt idx="2">
                  <c:v>1494.48118113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864.0</c:v>
                </c:pt>
                <c:pt idx="1">
                  <c:v>1728.0</c:v>
                </c:pt>
                <c:pt idx="2">
                  <c:v>3110.0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9508.51</c:v>
                </c:pt>
                <c:pt idx="1">
                  <c:v>12105.01</c:v>
                </c:pt>
                <c:pt idx="2">
                  <c:v>17640.62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{"title": "곽지해수욕장", "address": "제주특별자치도 제주시 애월읍 곽지리 1565", "summary": "한국관광공사 국문관광정보 API가 반환한 선택 지역 관광자원", "image_url": "http://tong.visitkorea.or.kr/cms/resource/30/3053130_image2_1.jpg", "source_id": "tour-api:127870", "content_id": "127870",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-2.9811902445142646,</a:t>
            </a:r>
          </a:p>
          <a:p xmlns:a="http://schemas.openxmlformats.org/drawingml/2006/main">
            <a:r>
              <a:t>        "target_rank": 208,</a:t>
            </a:r>
          </a:p>
          <a:p xmlns:a="http://schemas.openxmlformats.org/drawingml/2006/main">
            <a:r>
              <a:t>        "target": [</a:t>
            </a:r>
          </a:p>
          <a:p xmlns:a="http://schemas.openxmlformats.org/drawingml/2006/main">
            <a:r>
              <a:t>          3615062.0,</a:t>
            </a:r>
          </a:p>
          <a:p xmlns:a="http://schemas.openxmlformats.org/drawingml/2006/main">
            <a:r>
              <a:t>          3594910.9123621215,</a:t>
            </a:r>
          </a:p>
          <a:p xmlns:a="http://schemas.openxmlformats.org/drawingml/2006/main">
            <a:r>
              <a:t>          3371920.087637879</a:t>
            </a:r>
          </a:p>
          <a:p xmlns:a="http://schemas.openxmlformats.org/drawingml/2006/main">
            <a:r>
              <a:t>        ],</a:t>
            </a:r>
          </a:p>
          <a:p xmlns:a="http://schemas.openxmlformats.org/drawingml/2006/main">
            <a:r>
              <a:t>        "additional": 1728.0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-0.3171024085923513,</a:t>
            </a:r>
          </a:p>
          <a:p xmlns:a="http://schemas.openxmlformats.org/drawingml/2006/main">
            <a:r>
              <a:t>        "target_rank": 228,</a:t>
            </a:r>
          </a:p>
          <a:p xmlns:a="http://schemas.openxmlformats.org/drawingml/2006/main">
            <a:r>
              <a:t>        "target": [</a:t>
            </a:r>
          </a:p>
          <a:p xmlns:a="http://schemas.openxmlformats.org/drawingml/2006/main">
            <a:r>
              <a:t>          150467072839.0,</a:t>
            </a:r>
          </a:p>
          <a:p xmlns:a="http://schemas.openxmlformats.org/drawingml/2006/main">
            <a:r>
              <a:t>          145124711510.5665,</a:t>
            </a:r>
          </a:p>
          <a:p xmlns:a="http://schemas.openxmlformats.org/drawingml/2006/main">
            <a:r>
              <a:t>          149448118113.4335</a:t>
            </a:r>
          </a:p>
          <a:p xmlns:a="http://schemas.openxmlformats.org/drawingml/2006/main">
            <a:r>
              <a:t>        ],</a:t>
            </a:r>
          </a:p>
          <a:p xmlns:a="http://schemas.openxmlformats.org/drawingml/2006/main">
            <a:r>
              <a:t>        "additional": 121050142.0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"title": "제주시 야간 문화유산 및 시설 개방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"case:4bac3530eca721, dataset:50110:1, dataset:50110:2, dataset:50110:4, dataset:50110:6",</a:t>
            </a:r>
          </a:p>
          <a:p xmlns:a="http://schemas.openxmlformats.org/drawingml/2006/main">
            <a:r>
              <a:t>    "priority": 1,</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"timeframe": "2026-10 ~ 2026-12, 3개월",</a:t>
            </a:r>
          </a:p>
          <a:p xmlns:a="http://schemas.openxmlformats.org/drawingml/2006/main">
            <a:r>
              <a:t>    "expected_effect": "계획 목표: 최종월 ML 전망 대비 방문 +0.03%, 소비 +0.05%. 운영 규모와 참여 가정으로 산정하며 실제 성과는 별도 집계합니다.",</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"schedule": "2026-10",</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"기획팀이 야간 프로그램 콘텐츠를 기획하고, 운영팀이 현장 인력 배치 및 안전 관리 계획을 수립함",</a:t>
            </a:r>
          </a:p>
          <a:p xmlns:a="http://schemas.openxmlformats.org/drawingml/2006/main">
            <a:r>
              <a:t>        "schedule": "2026-10",</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예약 시스템 구축을 확인하고, 지역 상권 담당자가 인근 식음·상점 연계 프로모션을 설계함",</a:t>
            </a:r>
          </a:p>
          <a:p xmlns:a="http://schemas.openxmlformats.org/drawingml/2006/main">
            <a:r>
              <a:t>        "schedule": "2026-10",</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"schedule": "2026-11 ~ 2026-12",</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"데이터 분석 담당자가 이용 완료율 및 인근 상권 결제 데이터를 집계하여 성과를 검증함",</a:t>
            </a:r>
          </a:p>
          <a:p xmlns:a="http://schemas.openxmlformats.org/drawingml/2006/main">
            <a:r>
              <a:t>        "schedule": "2026-12",</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141219.0,</a:t>
            </a:r>
          </a:p>
          <a:p>
            <a:r>
              <a:t>            "selected": 265459.0,</a:t>
            </a:r>
          </a:p>
          <a:p>
            <a:r>
              <a:t>            "sample_count": 2</a:t>
            </a:r>
          </a:p>
          <a:p>
            <a:r>
              <a:t>          },</a:t>
            </a:r>
          </a:p>
          <a:p>
            <a:r>
              <a:t>          "2": {</a:t>
            </a:r>
          </a:p>
          <a:p>
            <a:r>
              <a:t>            "baseline": 144459.5,</a:t>
            </a:r>
          </a:p>
          <a:p>
            <a:r>
              <a:t>            "selected": 136814.0,</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11633402000.0,</a:t>
            </a:r>
          </a:p>
          <a:p>
            <a:r>
              <a:t>            "selected": 5070058833.0,</a:t>
            </a:r>
          </a:p>
          <a:p>
            <a:r>
              <a:t>            "sample_count": 2</a:t>
            </a:r>
          </a:p>
          <a:p>
            <a:r>
              <a:t>          },</a:t>
            </a:r>
          </a:p>
          <a:p>
            <a:r>
              <a:t>          "2": {</a:t>
            </a:r>
          </a:p>
          <a:p>
            <a:r>
              <a:t>            "baseline": 5588447000.0,</a:t>
            </a:r>
          </a:p>
          <a:p>
            <a:r>
              <a:t>            "selected": 2754801694.5,</a:t>
            </a:r>
          </a:p>
          <a:p>
            <a:r>
              <a:t>            "sample_count": 2</a:t>
            </a:r>
          </a:p>
          <a:p>
            <a:r>
              <a:t>          },</a:t>
            </a:r>
          </a:p>
          <a:p>
            <a:r>
              <a:t>          "3": {</a:t>
            </a:r>
          </a:p>
          <a:p>
            <a:r>
              <a:t>            "baseline": 5647526500.0,</a:t>
            </a:r>
          </a:p>
          <a:p>
            <a:r>
              <a:t>            "selected": 11586732430.5,</a:t>
            </a:r>
          </a:p>
          <a:p>
            <a:r>
              <a:t>            "sample_count": 2</a:t>
            </a:r>
          </a:p>
          <a:p>
            <a:r>
              <a:t>          }</a:t>
            </a:r>
          </a:p>
          <a:p>
            <a:r>
              <a:t>        },</a:t>
            </a:r>
          </a:p>
          <a:p>
            <a:r>
              <a:t>        "selected_model": "LinearRegression",</a:t>
            </a:r>
          </a:p>
          <a:p>
            <a:r>
              <a:t>        "baseline_test_mae": 8640464250.0,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41.0,</a:t>
            </a:r>
          </a:p>
          <a:p>
            <a:r>
              <a:t>            "selected": 41.0,</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9571.0,</a:t>
            </a:r>
          </a:p>
          <a:p>
            <a:r>
              <a:t>            "selected": 9571.0,</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19541.0,</a:t>
            </a:r>
          </a:p>
          <a:p>
            <a:r>
              <a:t>            "selected": 19541.0,</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0.03343686894682377,</a:t>
            </a:r>
          </a:p>
          <a:p>
            <a:r>
              <a:t>    "spending_target_pct": 0.05454939985387469,</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"2024년 문화재야행 사업 예산 확정자료",</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"source_id": "case:4bac3530eca721",</a:t>
            </a:r>
          </a:p>
          <a:p xmlns:a="http://schemas.openxmlformats.org/drawingml/2006/main">
            <a:r>
              <a:t>      "source_url": "https://culture.seoul.go.kr/culture/cmmn/file/fileDown.do?atchFileId=c4638ecc9ce84bba9e51ecc2e11293e2&amp;bbsId=&amp;fileSn=2&amp;menuNo=200050",</a:t>
            </a:r>
          </a:p>
          <a:p xmlns:a="http://schemas.openxmlformats.org/drawingml/2006/main">
            <a:r>
              <a:t>      "case_region": "서울특별시 문화유산 집적지역",</a:t>
            </a:r>
          </a:p>
          <a:p xmlns:a="http://schemas.openxmlformats.org/drawingml/2006/main">
            <a:r>
              <a:t>      "source_type": "benchmark_case",</a:t>
            </a:r>
          </a:p>
          <a:p xmlns:a="http://schemas.openxmlformats.org/drawingml/2006/main">
            <a:r>
              <a:t>      "intervention": "기존 문화유산을 활용한 야간 개방·체험 프로그램",</a:t>
            </a:r>
          </a:p>
          <a:p xmlns:a="http://schemas.openxmlformats.org/drawingml/2006/main">
            <a:r>
              <a:t>      "document_type": null,</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"retrieval_method": "official_web_search",</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"published_or_updated_at": "2024",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"사업 담당자가 제주시 내 야간 개방 가능 시설(박물관, 문화유산 등)을 전수 조사하고 시설 관리 주체와 운영 협약을 체결함", "schedule": "2026-10", "deliverable": "대상 시설 목록 및 운영 협약서(안)"}, {"step": 2, "task": "기획팀이 야간 프로그램 콘텐츠를 기획하고, 운영팀이 현장 인력 배치 및 안전 관리 계획을 수립함", "schedule": "2026-10", "deliverable": "프로그램 운영 매뉴얼 및 안전 관리 계획서"}, {"step": 3, "task": "운영팀이 예약 시스템 구축을 확인하고, 지역 상권 담당자가 인근 식음·상점 연계 프로모션을 설계함", "schedule": "2026-10", "deliverable": "예약 시스템 및 연계 상점 리스트"}, {"step": 4, "task": "현장 운영팀이 야간 체험 프로그램을 시범 운영하며, 사업 담당자가 주간 운영 결과 및 현장 모니터링을 수행함", "schedule": "2026-11 ~ 2026-12", "deliverable": "주간 운영 결과 보고서"}, {"step": 5, "task": "데이터 분석 담당자가 이용 완료율 및 인근 상권 결제 데이터를 집계하여 성과를 검증함", "schedule": "2026-12",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141219.0,</a:t>
            </a:r>
          </a:p>
          <a:p>
            <a:r>
              <a:t>            "selected": 265459.0,</a:t>
            </a:r>
          </a:p>
          <a:p>
            <a:r>
              <a:t>            "sample_count": 2</a:t>
            </a:r>
          </a:p>
          <a:p>
            <a:r>
              <a:t>          },</a:t>
            </a:r>
          </a:p>
          <a:p>
            <a:r>
              <a:t>          "2": {</a:t>
            </a:r>
          </a:p>
          <a:p>
            <a:r>
              <a:t>            "baseline": 144459.5,</a:t>
            </a:r>
          </a:p>
          <a:p>
            <a:r>
              <a:t>            "selected": 136814.0,</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11633402000.0,</a:t>
            </a:r>
          </a:p>
          <a:p>
            <a:r>
              <a:t>            "selected": 5070058833.0,</a:t>
            </a:r>
          </a:p>
          <a:p>
            <a:r>
              <a:t>            "sample_count": 2</a:t>
            </a:r>
          </a:p>
          <a:p>
            <a:r>
              <a:t>          },</a:t>
            </a:r>
          </a:p>
          <a:p>
            <a:r>
              <a:t>          "2": {</a:t>
            </a:r>
          </a:p>
          <a:p>
            <a:r>
              <a:t>            "baseline": 5588447000.0,</a:t>
            </a:r>
          </a:p>
          <a:p>
            <a:r>
              <a:t>            "selected": 2754801694.5,</a:t>
            </a:r>
          </a:p>
          <a:p>
            <a:r>
              <a:t>            "sample_count": 2</a:t>
            </a:r>
          </a:p>
          <a:p>
            <a:r>
              <a:t>          },</a:t>
            </a:r>
          </a:p>
          <a:p>
            <a:r>
              <a:t>          "3": {</a:t>
            </a:r>
          </a:p>
          <a:p>
            <a:r>
              <a:t>            "baseline": 5647526500.0,</a:t>
            </a:r>
          </a:p>
          <a:p>
            <a:r>
              <a:t>            "selected": 11586732430.5,</a:t>
            </a:r>
          </a:p>
          <a:p>
            <a:r>
              <a:t>            "sample_count": 2</a:t>
            </a:r>
          </a:p>
          <a:p>
            <a:r>
              <a:t>          }</a:t>
            </a:r>
          </a:p>
          <a:p>
            <a:r>
              <a:t>        },</a:t>
            </a:r>
          </a:p>
          <a:p>
            <a:r>
              <a:t>        "selected_model": "LinearRegression",</a:t>
            </a:r>
          </a:p>
          <a:p>
            <a:r>
              <a:t>        "baseline_test_mae": 8640464250.0,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41.0,</a:t>
            </a:r>
          </a:p>
          <a:p>
            <a:r>
              <a:t>            "selected": 41.0,</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9571.0,</a:t>
            </a:r>
          </a:p>
          <a:p>
            <a:r>
              <a:t>            "selected": 9571.0,</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19541.0,</a:t>
            </a:r>
          </a:p>
          <a:p>
            <a:r>
              <a:t>            "selected": 19541.0,</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0.03343686894682377,</a:t>
            </a:r>
          </a:p>
          <a:p>
            <a:r>
              <a:t>    "spending_target_pct": 0.05454939985387469,</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10,581,893명 (추가 1,728명, +0.02%)\n관광소비액: 기준 444,918,852,321원 → 목표 445,039,902,463원 (추가 121,050,142원,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2개월 × 하루 2회 × 회당 40명 = 7,680명분. 편성 한도 7,680명분에 이용률 75%를 적용해 5,760명 참여, 추가 방문 비중 30%로 1,728명 유치를 제안합니다. 기간 합계 ML 전망 대비 방문 +0.02%, 소비 +0.03%의 계획 시나리오입니다. 참여 목표 75%는 공통 최소 운영 목표입니다. 사례 참여율을 인용한 값이 아닙니다. 실제 운영 산정: 2026-11~2026-12, 2개월. 준비 기간에는 추가 방문·소비 목표를 배분하지 않습니다.\n6개 × 월 8일 × 2개월 × 하루 2회 × 회당 40명 = 7,680명분 → 참여 목표 5,760건의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10581893.0,</a:t>
            </a:r>
          </a:p>
          <a:p>
            <a:r>
              <a:t>        "additional": 1728.0,</a:t>
            </a:r>
          </a:p>
          <a:p>
            <a:r>
              <a:t>        "pct": 0.01633244850152149</a:t>
            </a:r>
          </a:p>
          <a:p>
            <a:r>
              <a:t>      },</a:t>
            </a:r>
          </a:p>
          <a:p>
            <a:r>
              <a:t>      {</a:t>
            </a:r>
          </a:p>
          <a:p>
            <a:r>
              <a:t>        "key": "spending",</a:t>
            </a:r>
          </a:p>
          <a:p>
            <a:r>
              <a:t>        "label": "관광소비액",</a:t>
            </a:r>
          </a:p>
          <a:p>
            <a:r>
              <a:t>        "unit": "원",</a:t>
            </a:r>
          </a:p>
          <a:p>
            <a:r>
              <a:t>        "baseline": 444918852321.0,</a:t>
            </a:r>
          </a:p>
          <a:p>
            <a:r>
              <a:t>        "target": 445039902463.0,</a:t>
            </a:r>
          </a:p>
          <a:p>
            <a:r>
              <a:t>        "additional": 121050142.0,</a:t>
            </a:r>
          </a:p>
          <a:p>
            <a:r>
              <a:t>        "pct": 0.027207240459370396</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2개월 × 하루 2회 × 회당 40명 = 7,680명분. 편성 한도 7,680명분에 이용률 75%를 적용해 5,760명 참여, 추가 방문 비중 30%로 1,728명 유치를 제안합니다. 기간 합계 ML 전망 대비 방문 +0.02%, 소비 +0.03%의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"6개 × 월 8일 × 2개월 × 하루 2회 × 회당 40명 = 7,680명분 → 참여 목표 5,760건의 예상 집행액. 모든 단가는 기획 가정.",</a:t>
            </a:r>
          </a:p>
          <a:p>
            <a:r>
              <a:t>      "months": 2,</a:t>
            </a:r>
          </a:p>
          <a:p>
            <a:r>
              <a:t>      "refund": false,</a:t>
            </a:r>
          </a:p>
          <a:p>
            <a:r>
              <a:t>      "quantity": 5760,</a:t>
            </a:r>
          </a:p>
          <a:p>
            <a:r>
              <a:t>      "unit_krw": 10000,</a:t>
            </a:r>
          </a:p>
          <a:p>
            <a:r>
              <a:t>      "capacity_quantity": 7680,</a:t>
            </a:r>
          </a:p>
          <a:p>
            <a:r>
              <a:t>      "per_claim_cap_krw": null,</a:t>
            </a:r>
          </a:p>
          <a:p>
            <a:r>
              <a:t>      "refund_rate_pct": null,</a:t>
            </a:r>
          </a:p>
          <a:p>
            <a:r>
              <a:t>      "redemption_target_pct": 75.0,</a:t>
            </a:r>
          </a:p>
          <a:p>
            <a:r>
              <a:t>      "redemption_count": 5760,</a:t>
            </a:r>
          </a:p>
          <a:p>
            <a:r>
              <a:t>      "qualifying_spend_krw": null,</a:t>
            </a:r>
          </a:p>
          <a:p>
            <a:r>
              <a:t>      "subtotal_krw": 88000000,</a:t>
            </a:r>
          </a:p>
          <a:p>
            <a:r>
              <a:t>      "reserve_krw": 8800000,</a:t>
            </a:r>
          </a:p>
          <a:p>
            <a:r>
              <a:t>      "total_krw": 96800000,</a:t>
            </a:r>
          </a:p>
          <a:p>
            <a:r>
              <a:t>      "within_hard_budget": true,</a:t>
            </a:r>
          </a:p>
          <a:p>
            <a:r>
              <a:t>      "full_participation_budget_krw": 117920000,</a:t>
            </a:r>
          </a:p>
          <a:p>
            <a:r>
              <a:t>      "participant_purchases_krw": 242220475,</a:t>
            </a:r>
          </a:p>
          <a:p>
            <a:r>
              <a:t>      "additional_spending_krw": 121050142,</a:t>
            </a:r>
          </a:p>
          <a:p>
            <a:r>
              <a:t>      "scenario_note": "참여자 결제 242,220,475원 중 추가 소비 목표 121,050,142원. 견적은 같은 참여 목표의 사업비이며, 결제액 전체를 신규 소비나 사업 수익으로 계산하지 않습니다.",</a:t>
            </a:r>
          </a:p>
          <a:p>
            <a:r>
              <a:t>      "items": [</a:t>
            </a:r>
          </a:p>
          <a:p>
            <a:r>
              <a:t>        {</a:t>
            </a:r>
          </a:p>
          <a:p>
            <a:r>
              <a:t>          "name": "프로그램 운영·참여 지원",</a:t>
            </a:r>
          </a:p>
          <a:p>
            <a:r>
              <a:t>          "basis": "참여 목표 5,760명 × 계획 지원단가 10,000원",</a:t>
            </a:r>
          </a:p>
          <a:p>
            <a:r>
              <a:t>          "amount": 57600000</a:t>
            </a:r>
          </a:p>
          <a:p>
            <a:r>
              <a:t>        },</a:t>
            </a:r>
          </a:p>
          <a:p>
            <a:r>
              <a:t>        {</a:t>
            </a:r>
          </a:p>
          <a:p>
            <a:r>
              <a:t>          "name": "현장 운영·정산",</a:t>
            </a:r>
          </a:p>
          <a:p>
            <a:r>
              <a:t>          "basis": "6개 운영팀 × 월 8일 × 2개월 × 150,000원",</a:t>
            </a:r>
          </a:p>
          <a:p>
            <a:r>
              <a:t>          "amount": 14400000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88,000,000원 × 10%",</a:t>
            </a:r>
          </a:p>
          <a:p>
            <a:r>
              <a:t>          "amount": 8800000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12,000원과 ML 소비/방문 비율의 50% 중 작은 값입니다."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"operating-capacity-v4-linked-cost",</a:t>
            </a:r>
          </a:p>
          <a:p>
            <a:r>
              <a:t>  "status": "planning_assumption_not_quote",</a:t>
            </a:r>
          </a:p>
          <a:p>
            <a:r>
              <a:t>  "scale_basis": "6개 × 월 8일 × 2개월 × 하루 2회 × 회당 40명 = 7,680명분 → 참여 목표 5,760건의 예상 집행액. 모든 단가는 기획 가정.",</a:t>
            </a:r>
          </a:p>
          <a:p>
            <a:r>
              <a:t>  "months": 2,</a:t>
            </a:r>
          </a:p>
          <a:p>
            <a:r>
              <a:t>  "refund": false,</a:t>
            </a:r>
          </a:p>
          <a:p>
            <a:r>
              <a:t>  "quantity": 5760,</a:t>
            </a:r>
          </a:p>
          <a:p>
            <a:r>
              <a:t>  "unit_krw": 10000,</a:t>
            </a:r>
          </a:p>
          <a:p>
            <a:r>
              <a:t>  "capacity_quantity": 7680,</a:t>
            </a:r>
          </a:p>
          <a:p>
            <a:r>
              <a:t>  "per_claim_cap_krw": null,</a:t>
            </a:r>
          </a:p>
          <a:p>
            <a:r>
              <a:t>  "refund_rate_pct": null,</a:t>
            </a:r>
          </a:p>
          <a:p>
            <a:r>
              <a:t>  "redemption_target_pct": 75.0,</a:t>
            </a:r>
          </a:p>
          <a:p>
            <a:r>
              <a:t>  "redemption_count": 5760,</a:t>
            </a:r>
          </a:p>
          <a:p>
            <a:r>
              <a:t>  "qualifying_spend_krw": null,</a:t>
            </a:r>
          </a:p>
          <a:p>
            <a:r>
              <a:t>  "subtotal_krw": 88000000,</a:t>
            </a:r>
          </a:p>
          <a:p>
            <a:r>
              <a:t>  "reserve_krw": 8800000,</a:t>
            </a:r>
          </a:p>
          <a:p>
            <a:r>
              <a:t>  "total_krw": 96800000,</a:t>
            </a:r>
          </a:p>
          <a:p>
            <a:r>
              <a:t>  "within_hard_budget": true,</a:t>
            </a:r>
          </a:p>
          <a:p>
            <a:r>
              <a:t>  "full_participation_budget_krw": 117920000,</a:t>
            </a:r>
          </a:p>
          <a:p>
            <a:r>
              <a:t>  "participant_purchases_krw": 242220475,</a:t>
            </a:r>
          </a:p>
          <a:p>
            <a:r>
              <a:t>  "additional_spending_krw": 121050142,</a:t>
            </a:r>
          </a:p>
          <a:p>
            <a:r>
              <a:t>  "scenario_note": "참여자 결제 242,220,475원 중 추가 소비 목표 121,050,142원. 견적은 같은 참여 목표의 사업비이며, 결제액 전체를 신규 소비나 사업 수익으로 계산하지 않습니다.",</a:t>
            </a:r>
          </a:p>
          <a:p>
            <a:r>
              <a:t>  "items": [</a:t>
            </a:r>
          </a:p>
          <a:p>
            <a:r>
              <a:t>    {</a:t>
            </a:r>
          </a:p>
          <a:p>
            <a:r>
              <a:t>      "name": "프로그램 운영·참여 지원",</a:t>
            </a:r>
          </a:p>
          <a:p>
            <a:r>
              <a:t>      "basis": "참여 목표 5,760명 × 계획 지원단가 10,000원",</a:t>
            </a:r>
          </a:p>
          <a:p>
            <a:r>
              <a:t>      "amount": 57600000</a:t>
            </a:r>
          </a:p>
          <a:p>
            <a:r>
              <a:t>    },</a:t>
            </a:r>
          </a:p>
          <a:p>
            <a:r>
              <a:t>    {</a:t>
            </a:r>
          </a:p>
          <a:p>
            <a:r>
              <a:t>      "name": "현장 운영·정산",</a:t>
            </a:r>
          </a:p>
          <a:p>
            <a:r>
              <a:t>      "basis": "6개 운영팀 × 월 8일 × 2개월 × 150,000원",</a:t>
            </a:r>
          </a:p>
          <a:p>
            <a:r>
              <a:t>      "amount": 14400000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88,000,000원 × 10%",</a:t>
            </a:r>
          </a:p>
          <a:p>
            <a:r>
              <a:t>      "amount": 8800000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12,000원과 ML 소비/방문 비율의 50% 중 작은 값입니다."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제주특별자치도 제주시 순 방문자 수 및 숙박 비율 (이동통신 기반 외지인)",</a:t>
            </a:r>
          </a:p>
          <a:p xmlns:a="http://schemas.openxmlformats.org/drawingml/2006/main">
            <a:r>
              <a:t>      "summary": "월간 순 방문자 수: 3,131,476명 (관측 기준월: 2026-06)",</a:t>
            </a:r>
          </a:p>
          <a:p xmlns:a="http://schemas.openxmlformats.org/drawingml/2006/main">
            <a:r>
              <a:t>      "source_id": "dataset:50110:1",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월간 순 방문자 수 (이동통신 기반 외지인)",</a:t>
            </a:r>
          </a:p>
          <a:p xmlns:a="http://schemas.openxmlformats.org/drawingml/2006/main">
            <a:r>
              <a:t>      "summary": "전년동월 외지인 방문자 증감률: -8.9% (관측 기준월: 2026-06)",</a:t>
            </a:r>
          </a:p>
          <a:p xmlns:a="http://schemas.openxmlformats.org/drawingml/2006/main">
            <a:r>
              <a:t>      "source_id": "dataset:50110:2",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관광소비 추이_외지인",</a:t>
            </a:r>
          </a:p>
          <a:p xmlns:a="http://schemas.openxmlformats.org/drawingml/2006/main">
            <a:r>
              <a:t>      "summary": "월간 외지인 관광소비 총액: 129,503,828,000원 (관측 기준월: 2026-06)",</a:t>
            </a:r>
          </a:p>
          <a:p xmlns:a="http://schemas.openxmlformats.org/drawingml/2006/main">
            <a:r>
              <a:t>      "source_id": "dataset:50110:3",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숙박방문자 비율 추이 (이동통신 기반 외지인)",</a:t>
            </a:r>
          </a:p>
          <a:p xmlns:a="http://schemas.openxmlformats.org/drawingml/2006/main">
            <a:r>
              <a:t>      "summary": "외지인 숙박 방문 비율: 21.0% (관측 기준월: 2026-06)",</a:t>
            </a:r>
          </a:p>
          <a:p xmlns:a="http://schemas.openxmlformats.org/drawingml/2006/main">
            <a:r>
              <a:t>      "source_id": "dataset:50110:4",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평균 숙박일 (이동통신 기반 외지인)",</a:t>
            </a:r>
          </a:p>
          <a:p xmlns:a="http://schemas.openxmlformats.org/drawingml/2006/main">
            <a:r>
              <a:t>      "summary": "외지인 평균 숙박일수: 3.13일 (관측 기준월: 2026-06)",</a:t>
            </a:r>
          </a:p>
          <a:p xmlns:a="http://schemas.openxmlformats.org/drawingml/2006/main">
            <a:r>
              <a:t>      "source_id": "dataset:50110:5",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내비게이션 목적지 유형별 검색량",</a:t>
            </a:r>
          </a:p>
          <a:p xmlns:a="http://schemas.openxmlformats.org/drawingml/2006/main">
            <a:r>
              <a:t>      "summary": "내비게이션 목적지 검색량: 580,380건 (관측 기준월: 2026-06)",</a:t>
            </a:r>
          </a:p>
          <a:p xmlns:a="http://schemas.openxmlformats.org/drawingml/2006/main">
            <a:r>
              <a:t>      "source_id": "dataset:50110:6",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SNS 언급량",</a:t>
            </a:r>
          </a:p>
          <a:p xmlns:a="http://schemas.openxmlformats.org/drawingml/2006/main">
            <a:r>
              <a:t>      "summary": "SNS 언급량: 138,652건 (관측 기준월: 2026-06)",</a:t>
            </a:r>
          </a:p>
          <a:p xmlns:a="http://schemas.openxmlformats.org/drawingml/2006/main">
            <a:r>
              <a:t>      "source_id": "dataset:50110:7",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제주특별자치도_제주시/방문자/2026_01_06.zip",</a:t>
            </a:r>
          </a:p>
          <a:p xmlns:a="http://schemas.openxmlformats.org/drawingml/2006/main">
            <a:r>
              <a:t>      "summary": "전국 비교 기준 기간: 2025-07 ~ 2026-06",</a:t>
            </a:r>
          </a:p>
          <a:p xmlns:a="http://schemas.openxmlformats.org/drawingml/2006/main">
            <a:r>
              <a:t>      "source_id": "datalab:3ec866bde028:27b141591f10",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제주특별자치도_제주시/숙박_체류시간/2026_01_06.zip",</a:t>
            </a:r>
          </a:p>
          <a:p xmlns:a="http://schemas.openxmlformats.org/drawingml/2006/main">
            <a:r>
              <a:t>      "summary": "전국 비교 기준 기간: 2025-07 ~ 2026-06",</a:t>
            </a:r>
          </a:p>
          <a:p xmlns:a="http://schemas.openxmlformats.org/drawingml/2006/main">
            <a:r>
              <a:t>      "source_id": "datalab:4833a91757b2:5c2efa032440",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제주특별자치도_제주시/숙박_체류시간/2025_01_12.zip",</a:t>
            </a:r>
          </a:p>
          <a:p xmlns:a="http://schemas.openxmlformats.org/drawingml/2006/main">
            <a:r>
              <a:t>      "summary": "전국 비교 기준 기간: 2025-07 ~ 2026-06",</a:t>
            </a:r>
          </a:p>
          <a:p xmlns:a="http://schemas.openxmlformats.org/drawingml/2006/main">
            <a:r>
              <a:t>      "source_id": "datalab:5d9f73f9fe47:2904d99e7279",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제주특별자치도_제주시/관광소비/2026_01_06.zip",</a:t>
            </a:r>
          </a:p>
          <a:p xmlns:a="http://schemas.openxmlformats.org/drawingml/2006/main">
            <a:r>
              <a:t>      "summary": "전국 비교 기준 기간: 2025-07 ~ 2026-06",</a:t>
            </a:r>
          </a:p>
          <a:p xmlns:a="http://schemas.openxmlformats.org/drawingml/2006/main">
            <a:r>
              <a:t>      "source_id": "datalab:95122c38b4fc:522e2d839300",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제주특별자치도_제주시/방문자/2025_01_12.zip",</a:t>
            </a:r>
          </a:p>
          <a:p xmlns:a="http://schemas.openxmlformats.org/drawingml/2006/main">
            <a:r>
              <a:t>      "summary": "전국 비교 기준 기간: 2025-07 ~ 2026-06",</a:t>
            </a:r>
          </a:p>
          <a:p xmlns:a="http://schemas.openxmlformats.org/drawingml/2006/main">
            <a:r>
              <a:t>      "source_id": "datalab:d73227708014:f4517115deb9",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제주특별자치도_제주시/관광소비/2025_01_12.zip",</a:t>
            </a:r>
          </a:p>
          <a:p xmlns:a="http://schemas.openxmlformats.org/drawingml/2006/main">
            <a:r>
              <a:t>      "summary": "전국 비교 기준 기간: 2025-07 ~ 2026-06",</a:t>
            </a:r>
          </a:p>
          <a:p xmlns:a="http://schemas.openxmlformats.org/drawingml/2006/main">
            <a:r>
              <a:t>      "source_id": "datalab:f07ad8a73d99:ed1b998de1b3",</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유입유출",</a:t>
            </a:r>
          </a:p>
          <a:p xmlns:a="http://schemas.openxmlformats.org/drawingml/2006/main">
            <a:r>
              <a:t>      "summary": "관측 기간: 2025-07 ~ 2026-06. 유입·유출·인기장소 또는 30일 집중 운영 신호.",</a:t>
            </a:r>
          </a:p>
          <a:p xmlns:a="http://schemas.openxmlformats.org/drawingml/2006/main">
            <a:r>
              <a:t>      "source_id": "regional-status:9ac27e83f27b:e998409010f6",</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인기관광지",</a:t>
            </a:r>
          </a:p>
          <a:p xmlns:a="http://schemas.openxmlformats.org/drawingml/2006/main">
            <a:r>
              <a:t>      "summary": "관측 기간: 2025-07 ~ 2026-06. 유입·유출·인기장소 또는 30일 집중 운영 신호.",</a:t>
            </a:r>
          </a:p>
          <a:p xmlns:a="http://schemas.openxmlformats.org/drawingml/2006/main">
            <a:r>
              <a:t>      "source_id": "regional-status:daecd5ff8069:00c8b971be40",</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지역집중률",</a:t>
            </a:r>
          </a:p>
          <a:p xmlns:a="http://schemas.openxmlformats.org/drawingml/2006/main">
            <a:r>
              <a:t>      "summary": "관측 기간: 2025-07 ~ 2026-06. 유입·유출·인기장소 또는 30일 집중 운영 신호.",</a:t>
            </a:r>
          </a:p>
          <a:p xmlns:a="http://schemas.openxmlformats.org/drawingml/2006/main">
            <a:r>
              <a:t>      "source_id": "regional-status:dd0eaa9c763f:3aadcdcac2c5",</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"ml:50110:regional-demand-v3.1:202606",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"title": "가는곶 세화",</a:t>
            </a:r>
          </a:p>
          <a:p xmlns:a="http://schemas.openxmlformats.org/drawingml/2006/main">
            <a:r>
              <a:t>      "address": "제주특별자치도 제주시 구좌읍 세화14길 3",</a:t>
            </a:r>
          </a:p>
          <a:p xmlns:a="http://schemas.openxmlformats.org/drawingml/2006/main">
            <a:r>
              <a:t>      "summary": "한국관광공사 국문관광정보 API가 반환한 선택 지역 관광자원",</a:t>
            </a:r>
          </a:p>
          <a:p xmlns:a="http://schemas.openxmlformats.org/drawingml/2006/main">
            <a:r>
              <a:t>      "image_url": "http://tong.visitkorea.or.kr/cms/resource/05/2850905_image2_1.jpg",</a:t>
            </a:r>
          </a:p>
          <a:p xmlns:a="http://schemas.openxmlformats.org/drawingml/2006/main">
            <a:r>
              <a:t>      "source_id": "tour-api:2850913",</a:t>
            </a:r>
          </a:p>
          <a:p xmlns:a="http://schemas.openxmlformats.org/drawingml/2006/main">
            <a:r>
              <a:t>      "content_id": "2850913",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"가마오름",</a:t>
            </a:r>
          </a:p>
          <a:p xmlns:a="http://schemas.openxmlformats.org/drawingml/2006/main">
            <a:r>
              <a:t>      "address": "제주특별자치도 제주시 한경면 청수리",</a:t>
            </a:r>
          </a:p>
          <a:p xmlns:a="http://schemas.openxmlformats.org/drawingml/2006/main">
            <a:r>
              <a:t>      "summary": "한국관광공사 국문관광정보 API가 반환한 선택 지역 관광자원",</a:t>
            </a:r>
          </a:p>
          <a:p xmlns:a="http://schemas.openxmlformats.org/drawingml/2006/main">
            <a:r>
              <a:t>      "image_url": "http://tong.visitkorea.or.kr/cms/resource/72/3477972_image2_1.jpg",</a:t>
            </a:r>
          </a:p>
          <a:p xmlns:a="http://schemas.openxmlformats.org/drawingml/2006/main">
            <a:r>
              <a:t>      "source_id": "tour-api:1884191",</a:t>
            </a:r>
          </a:p>
          <a:p xmlns:a="http://schemas.openxmlformats.org/drawingml/2006/main">
            <a:r>
              <a:t>      "content_id": "1884191",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"가새기오름",</a:t>
            </a:r>
          </a:p>
          <a:p xmlns:a="http://schemas.openxmlformats.org/drawingml/2006/main">
            <a:r>
              <a:t>      "address": "제주특별자치도 제주시 오라삼동",</a:t>
            </a:r>
          </a:p>
          <a:p xmlns:a="http://schemas.openxmlformats.org/drawingml/2006/main">
            <a:r>
              <a:t>      "summary": "한국관광공사 국문관광정보 API가 반환한 선택 지역 관광자원",</a:t>
            </a:r>
          </a:p>
          <a:p xmlns:a="http://schemas.openxmlformats.org/drawingml/2006/main">
            <a:r>
              <a:t>      "image_url": "http://tong.visitkorea.or.kr/cms/resource/82/3477882_image2_1.jpg",</a:t>
            </a:r>
          </a:p>
          <a:p xmlns:a="http://schemas.openxmlformats.org/drawingml/2006/main">
            <a:r>
              <a:t>      "source_id": "tour-api:1884521",</a:t>
            </a:r>
          </a:p>
          <a:p xmlns:a="http://schemas.openxmlformats.org/drawingml/2006/main">
            <a:r>
              <a:t>      "content_id": "1884521",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"가시어멍김밥",</a:t>
            </a:r>
          </a:p>
          <a:p xmlns:a="http://schemas.openxmlformats.org/drawingml/2006/main">
            <a:r>
              <a:t>      "address": "제주특별자치도 제주시 월랑로 36",</a:t>
            </a:r>
          </a:p>
          <a:p xmlns:a="http://schemas.openxmlformats.org/drawingml/2006/main">
            <a:r>
              <a:t>      "summary": "한국관광공사 국문관광정보 API가 반환한 선택 지역 관광자원",</a:t>
            </a:r>
          </a:p>
          <a:p xmlns:a="http://schemas.openxmlformats.org/drawingml/2006/main">
            <a:r>
              <a:t>      "image_url": "http://tong.visitkorea.or.kr/cms/resource/75/2837175_image2_1.jpg",</a:t>
            </a:r>
          </a:p>
          <a:p xmlns:a="http://schemas.openxmlformats.org/drawingml/2006/main">
            <a:r>
              <a:t>      "source_id": "tour-api:2837181",</a:t>
            </a:r>
          </a:p>
          <a:p xmlns:a="http://schemas.openxmlformats.org/drawingml/2006/main">
            <a:r>
              <a:t>      "content_id": "2837181",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"갈치공장",</a:t>
            </a:r>
          </a:p>
          <a:p xmlns:a="http://schemas.openxmlformats.org/drawingml/2006/main">
            <a:r>
              <a:t>      "address": "제주특별자치도 제주시 해맞이해안로 1296",</a:t>
            </a:r>
          </a:p>
          <a:p xmlns:a="http://schemas.openxmlformats.org/drawingml/2006/main">
            <a:r>
              <a:t>      "summary": "한국관광공사 국문관광정보 API가 반환한 선택 지역 관광자원",</a:t>
            </a:r>
          </a:p>
          <a:p xmlns:a="http://schemas.openxmlformats.org/drawingml/2006/main">
            <a:r>
              <a:t>      "image_url": "http://tong.visitkorea.or.kr/cms/resource/24/2853424_image2_1.jpg",</a:t>
            </a:r>
          </a:p>
          <a:p xmlns:a="http://schemas.openxmlformats.org/drawingml/2006/main">
            <a:r>
              <a:t>      "source_id": "tour-api:2853435",</a:t>
            </a:r>
          </a:p>
          <a:p xmlns:a="http://schemas.openxmlformats.org/drawingml/2006/main">
            <a:r>
              <a:t>      "content_id": "2853435",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"개오리오름",</a:t>
            </a:r>
          </a:p>
          <a:p xmlns:a="http://schemas.openxmlformats.org/drawingml/2006/main">
            <a:r>
              <a:t>      "address": "제주특별자치도 제주시 봉개동",</a:t>
            </a:r>
          </a:p>
          <a:p xmlns:a="http://schemas.openxmlformats.org/drawingml/2006/main">
            <a:r>
              <a:t>      "summary": "한국관광공사 국문관광정보 API가 반환한 선택 지역 관광자원",</a:t>
            </a:r>
          </a:p>
          <a:p xmlns:a="http://schemas.openxmlformats.org/drawingml/2006/main">
            <a:r>
              <a:t>      "image_url": "http://tong.visitkorea.or.kr/cms/resource/47/3478047_image2_1.jpg",</a:t>
            </a:r>
          </a:p>
          <a:p xmlns:a="http://schemas.openxmlformats.org/drawingml/2006/main">
            <a:r>
              <a:t>      "source_id": "tour-api:1889809",</a:t>
            </a:r>
          </a:p>
          <a:p xmlns:a="http://schemas.openxmlformats.org/drawingml/2006/main">
            <a:r>
              <a:t>      "content_id": "1889809",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"거슨새미오름",</a:t>
            </a:r>
          </a:p>
          <a:p xmlns:a="http://schemas.openxmlformats.org/drawingml/2006/main">
            <a:r>
              <a:t>      "address": "제주특별자치도 제주시 구좌읍 송당리",</a:t>
            </a:r>
          </a:p>
          <a:p xmlns:a="http://schemas.openxmlformats.org/drawingml/2006/main">
            <a:r>
              <a:t>      "summary": "한국관광공사 국문관광정보 API가 반환한 선택 지역 관광자원",</a:t>
            </a:r>
          </a:p>
          <a:p xmlns:a="http://schemas.openxmlformats.org/drawingml/2006/main">
            <a:r>
              <a:t>      "image_url": "http://tong.visitkorea.or.kr/cms/resource/04/3477804_image2_1.jpg",</a:t>
            </a:r>
          </a:p>
          <a:p xmlns:a="http://schemas.openxmlformats.org/drawingml/2006/main">
            <a:r>
              <a:t>      "source_id": "tour-api:1918646",</a:t>
            </a:r>
          </a:p>
          <a:p xmlns:a="http://schemas.openxmlformats.org/drawingml/2006/main">
            <a:r>
              <a:t>      "content_id": "1918646",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"경성수산",</a:t>
            </a:r>
          </a:p>
          <a:p xmlns:a="http://schemas.openxmlformats.org/drawingml/2006/main">
            <a:r>
              <a:t>      "address": "제주특별자치도 제주시 한림상로 111",</a:t>
            </a:r>
          </a:p>
          <a:p xmlns:a="http://schemas.openxmlformats.org/drawingml/2006/main">
            <a:r>
              <a:t>      "summary": "한국관광공사 국문관광정보 API가 반환한 선택 지역 관광자원",</a:t>
            </a:r>
          </a:p>
          <a:p xmlns:a="http://schemas.openxmlformats.org/drawingml/2006/main">
            <a:r>
              <a:t>      "image_url": "http://tong.visitkorea.or.kr/cms/resource/09/2870509_image2_1.jpg",</a:t>
            </a:r>
          </a:p>
          <a:p xmlns:a="http://schemas.openxmlformats.org/drawingml/2006/main">
            <a:r>
              <a:t>      "source_id": "tour-api:2870515",</a:t>
            </a:r>
          </a:p>
          <a:p xmlns:a="http://schemas.openxmlformats.org/drawingml/2006/main">
            <a:r>
              <a:t>      "content_id": "2870515",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"고내포구",</a:t>
            </a:r>
          </a:p>
          <a:p xmlns:a="http://schemas.openxmlformats.org/drawingml/2006/main">
            <a:r>
              <a:t>      "address": "제주특별자치도 제주시 애월읍 고내리 1111-4",</a:t>
            </a:r>
          </a:p>
          <a:p xmlns:a="http://schemas.openxmlformats.org/drawingml/2006/main">
            <a:r>
              <a:t>      "summary": "한국관광공사 국문관광정보 API가 반환한 선택 지역 관광자원",</a:t>
            </a:r>
          </a:p>
          <a:p xmlns:a="http://schemas.openxmlformats.org/drawingml/2006/main">
            <a:r>
              <a:t>      "image_url": "http://tong.visitkorea.or.kr/cms/resource/19/3589219_image2_1.jpg",</a:t>
            </a:r>
          </a:p>
          <a:p xmlns:a="http://schemas.openxmlformats.org/drawingml/2006/main">
            <a:r>
              <a:t>      "source_id": "tour-api:2791433",</a:t>
            </a:r>
          </a:p>
          <a:p xmlns:a="http://schemas.openxmlformats.org/drawingml/2006/main">
            <a:r>
              <a:t>      "content_id": "2791433",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"고사리커피",</a:t>
            </a:r>
          </a:p>
          <a:p xmlns:a="http://schemas.openxmlformats.org/drawingml/2006/main">
            <a:r>
              <a:t>      "address": "제주특별자치도 제주시 구좌읍 중산간동로 2064",</a:t>
            </a:r>
          </a:p>
          <a:p xmlns:a="http://schemas.openxmlformats.org/drawingml/2006/main">
            <a:r>
              <a:t>      "summary": "한국관광공사 국문관광정보 API가 반환한 선택 지역 관광자원",</a:t>
            </a:r>
          </a:p>
          <a:p xmlns:a="http://schemas.openxmlformats.org/drawingml/2006/main">
            <a:r>
              <a:t>      "image_url": "http://tong.visitkorea.or.kr/cms/resource/18/2863918_image2_1.JPG",</a:t>
            </a:r>
          </a:p>
          <a:p xmlns:a="http://schemas.openxmlformats.org/drawingml/2006/main">
            <a:r>
              <a:t>      "source_id": "tour-api:2863927",</a:t>
            </a:r>
          </a:p>
          <a:p xmlns:a="http://schemas.openxmlformats.org/drawingml/2006/main">
            <a:r>
              <a:t>      "content_id": "2863927",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"고스트타운",</a:t>
            </a:r>
          </a:p>
          <a:p xmlns:a="http://schemas.openxmlformats.org/drawingml/2006/main">
            <a:r>
              <a:t>      "address": "제주특별자치도 제주시 애월읍 부룡수길 35-14",</a:t>
            </a:r>
          </a:p>
          <a:p xmlns:a="http://schemas.openxmlformats.org/drawingml/2006/main">
            <a:r>
              <a:t>      "summary": "한국관광공사 국문관광정보 API가 반환한 선택 지역 관광자원",</a:t>
            </a:r>
          </a:p>
          <a:p xmlns:a="http://schemas.openxmlformats.org/drawingml/2006/main">
            <a:r>
              <a:t>      "image_url": "http://tong.visitkorea.or.kr/cms/resource/81/3396881_image2_1.jpg",</a:t>
            </a:r>
          </a:p>
          <a:p xmlns:a="http://schemas.openxmlformats.org/drawingml/2006/main">
            <a:r>
              <a:t>      "source_id": "tour-api:2759120",</a:t>
            </a:r>
          </a:p>
          <a:p xmlns:a="http://schemas.openxmlformats.org/drawingml/2006/main">
            <a:r>
              <a:t>      "content_id": "2759120",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"고이정",</a:t>
            </a:r>
          </a:p>
          <a:p xmlns:a="http://schemas.openxmlformats.org/drawingml/2006/main">
            <a:r>
              <a:t>      "address": "제주특별자치도 제주시 애월읍 애월로 6",</a:t>
            </a:r>
          </a:p>
          <a:p xmlns:a="http://schemas.openxmlformats.org/drawingml/2006/main">
            <a:r>
              <a:t>      "summary": "한국관광공사 국문관광정보 API가 반환한 선택 지역 관광자원",</a:t>
            </a:r>
          </a:p>
          <a:p xmlns:a="http://schemas.openxmlformats.org/drawingml/2006/main">
            <a:r>
              <a:t>      "image_url": "http://tong.visitkorea.or.kr/cms/resource/08/2759208_image2_1.jpg",</a:t>
            </a:r>
          </a:p>
          <a:p xmlns:a="http://schemas.openxmlformats.org/drawingml/2006/main">
            <a:r>
              <a:t>      "source_id": "tour-api:2759061",</a:t>
            </a:r>
          </a:p>
          <a:p xmlns:a="http://schemas.openxmlformats.org/drawingml/2006/main">
            <a:r>
              <a:t>      "content_id": "2759061",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"고토커피바",</a:t>
            </a:r>
          </a:p>
          <a:p xmlns:a="http://schemas.openxmlformats.org/drawingml/2006/main">
            <a:r>
              <a:t>      "address": "제주특별자치도 제주시 애월읍 구엄동3길 56",</a:t>
            </a:r>
          </a:p>
          <a:p xmlns:a="http://schemas.openxmlformats.org/drawingml/2006/main">
            <a:r>
              <a:t>      "summary": "한국관광공사 국문관광정보 API가 반환한 선택 지역 관광자원",</a:t>
            </a:r>
          </a:p>
          <a:p xmlns:a="http://schemas.openxmlformats.org/drawingml/2006/main">
            <a:r>
              <a:t>      "image_url": "http://tong.visitkorea.or.kr/cms/resource/07/2863907_image2_1.jpg",</a:t>
            </a:r>
          </a:p>
          <a:p xmlns:a="http://schemas.openxmlformats.org/drawingml/2006/main">
            <a:r>
              <a:t>      "source_id": "tour-api:2863913",</a:t>
            </a:r>
          </a:p>
          <a:p xmlns:a="http://schemas.openxmlformats.org/drawingml/2006/main">
            <a:r>
              <a:t>      "content_id": "2863913",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"골목식당",</a:t>
            </a:r>
          </a:p>
          <a:p xmlns:a="http://schemas.openxmlformats.org/drawingml/2006/main">
            <a:r>
              <a:t>      "address": "제주특별자치도 제주시 중앙로 63-9 (이도일동)",</a:t>
            </a:r>
          </a:p>
          <a:p xmlns:a="http://schemas.openxmlformats.org/drawingml/2006/main">
            <a:r>
              <a:t>      "summary": "한국관광공사 국문관광정보 API가 반환한 선택 지역 관광자원",</a:t>
            </a:r>
          </a:p>
          <a:p xmlns:a="http://schemas.openxmlformats.org/drawingml/2006/main">
            <a:r>
              <a:t>      "image_url": "http://tong.visitkorea.or.kr/cms/resource/79/2857279_image2_1.JPG",</a:t>
            </a:r>
          </a:p>
          <a:p xmlns:a="http://schemas.openxmlformats.org/drawingml/2006/main">
            <a:r>
              <a:t>      "source_id": "tour-api:2857289",</a:t>
            </a:r>
          </a:p>
          <a:p xmlns:a="http://schemas.openxmlformats.org/drawingml/2006/main">
            <a:r>
              <a:t>      "content_id": "2857289",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"골목카페옥수",</a:t>
            </a:r>
          </a:p>
          <a:p xmlns:a="http://schemas.openxmlformats.org/drawingml/2006/main">
            <a:r>
              <a:t>      "address": "제주특별자치도 제주시 소길1길 19",</a:t>
            </a:r>
          </a:p>
          <a:p xmlns:a="http://schemas.openxmlformats.org/drawingml/2006/main">
            <a:r>
              <a:t>      "summary": "한국관광공사 국문관광정보 API가 반환한 선택 지역 관광자원",</a:t>
            </a:r>
          </a:p>
          <a:p xmlns:a="http://schemas.openxmlformats.org/drawingml/2006/main">
            <a:r>
              <a:t>      "image_url": "http://tong.visitkorea.or.kr/cms/resource/03/2852303_image2_1.jpg",</a:t>
            </a:r>
          </a:p>
          <a:p xmlns:a="http://schemas.openxmlformats.org/drawingml/2006/main">
            <a:r>
              <a:t>      "source_id": "tour-api:2852311",</a:t>
            </a:r>
          </a:p>
          <a:p xmlns:a="http://schemas.openxmlformats.org/drawingml/2006/main">
            <a:r>
              <a:t>      "content_id": "2852311",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"골체오름캠핑",</a:t>
            </a:r>
          </a:p>
          <a:p xmlns:a="http://schemas.openxmlformats.org/drawingml/2006/main">
            <a:r>
              <a:t>      "address": "제주특별자치도 제주시 조천읍 번영로 1648-41",</a:t>
            </a:r>
          </a:p>
          <a:p xmlns:a="http://schemas.openxmlformats.org/drawingml/2006/main">
            <a:r>
              <a:t>      "summary": "한국관광공사 국문관광정보 API가 반환한 선택 지역 관광자원",</a:t>
            </a:r>
          </a:p>
          <a:p xmlns:a="http://schemas.openxmlformats.org/drawingml/2006/main">
            <a:r>
              <a:t>      "image_url": "http://tong.visitkorea.or.kr/cms/resource/74/2739574_image2_1.jpg",</a:t>
            </a:r>
          </a:p>
          <a:p xmlns:a="http://schemas.openxmlformats.org/drawingml/2006/main">
            <a:r>
              <a:t>      "source_id": "tour-api:2739395",</a:t>
            </a:r>
          </a:p>
          <a:p xmlns:a="http://schemas.openxmlformats.org/drawingml/2006/main">
            <a:r>
              <a:t>      "content_id": "2739395",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"곰막식당/곰막",</a:t>
            </a:r>
          </a:p>
          <a:p xmlns:a="http://schemas.openxmlformats.org/drawingml/2006/main">
            <a:r>
              <a:t>      "address": "제주특별자치도 제주시 구좌읍 구좌해안로 64",</a:t>
            </a:r>
          </a:p>
          <a:p xmlns:a="http://schemas.openxmlformats.org/drawingml/2006/main">
            <a:r>
              <a:t>      "summary": "한국관광공사 국문관광정보 API가 반환한 선택 지역 관광자원",</a:t>
            </a:r>
          </a:p>
          <a:p xmlns:a="http://schemas.openxmlformats.org/drawingml/2006/main">
            <a:r>
              <a:t>      "image_url": "http://tong.visitkorea.or.kr/cms/resource/21/2759221_image2_1.jpg",</a:t>
            </a:r>
          </a:p>
          <a:p xmlns:a="http://schemas.openxmlformats.org/drawingml/2006/main">
            <a:r>
              <a:t>      "source_id": "tour-api:2759096",</a:t>
            </a:r>
          </a:p>
          <a:p xmlns:a="http://schemas.openxmlformats.org/drawingml/2006/main">
            <a:r>
              <a:t>      "content_id": "2759096",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"곽지해수욕장",</a:t>
            </a:r>
          </a:p>
          <a:p xmlns:a="http://schemas.openxmlformats.org/drawingml/2006/main">
            <a:r>
              <a:t>      "address": "제주특별자치도 제주시 애월읍 곽지리 1565",</a:t>
            </a:r>
          </a:p>
          <a:p xmlns:a="http://schemas.openxmlformats.org/drawingml/2006/main">
            <a:r>
              <a:t>      "summary": "한국관광공사 국문관광정보 API가 반환한 선택 지역 관광자원",</a:t>
            </a:r>
          </a:p>
          <a:p xmlns:a="http://schemas.openxmlformats.org/drawingml/2006/main">
            <a:r>
              <a:t>      "image_url": "http://tong.visitkorea.or.kr/cms/resource/30/3053130_image2_1.jpg",</a:t>
            </a:r>
          </a:p>
          <a:p xmlns:a="http://schemas.openxmlformats.org/drawingml/2006/main">
            <a:r>
              <a:t>      "source_id": "tour-api:127870",</a:t>
            </a:r>
          </a:p>
          <a:p xmlns:a="http://schemas.openxmlformats.org/drawingml/2006/main">
            <a:r>
              <a:t>      "content_id": "127870",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"괴오름",</a:t>
            </a:r>
          </a:p>
          <a:p xmlns:a="http://schemas.openxmlformats.org/drawingml/2006/main">
            <a:r>
              <a:t>      "address": "제주특별자치도 제주시 애월읍 봉성리 산41",</a:t>
            </a:r>
          </a:p>
          <a:p xmlns:a="http://schemas.openxmlformats.org/drawingml/2006/main">
            <a:r>
              <a:t>      "summary": "한국관광공사 국문관광정보 API가 반환한 선택 지역 관광자원",</a:t>
            </a:r>
          </a:p>
          <a:p xmlns:a="http://schemas.openxmlformats.org/drawingml/2006/main">
            <a:r>
              <a:t>      "image_url": "http://tong.visitkorea.or.kr/cms/resource/40/3585540_image2_1.jpg",</a:t>
            </a:r>
          </a:p>
          <a:p xmlns:a="http://schemas.openxmlformats.org/drawingml/2006/main">
            <a:r>
              <a:t>      "source_id": "tour-api:1918950",</a:t>
            </a:r>
          </a:p>
          <a:p xmlns:a="http://schemas.openxmlformats.org/drawingml/2006/main">
            <a:r>
              <a:t>      "content_id": "1918950",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"교래 삼다수마을",</a:t>
            </a:r>
          </a:p>
          <a:p xmlns:a="http://schemas.openxmlformats.org/drawingml/2006/main">
            <a:r>
              <a:t>      "address": "제주특별자치도 제주시 조천읍 교래3길 98",</a:t>
            </a:r>
          </a:p>
          <a:p xmlns:a="http://schemas.openxmlformats.org/drawingml/2006/main">
            <a:r>
              <a:t>      "summary": "한국관광공사 국문관광정보 API가 반환한 선택 지역 관광자원",</a:t>
            </a:r>
          </a:p>
          <a:p xmlns:a="http://schemas.openxmlformats.org/drawingml/2006/main">
            <a:r>
              <a:t>      "image_url": "http://tong.visitkorea.or.kr/cms/resource/18/3586318_image2_1.jpg",</a:t>
            </a:r>
          </a:p>
          <a:p xmlns:a="http://schemas.openxmlformats.org/drawingml/2006/main">
            <a:r>
              <a:t>      "source_id": "tour-api:128443",</a:t>
            </a:r>
          </a:p>
          <a:p xmlns:a="http://schemas.openxmlformats.org/drawingml/2006/main">
            <a:r>
              <a:t>      "content_id": "128443",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"title": "2024년 문화재야행 사업 예산 확정자료",</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"source_id": "case:4bac3530eca721",</a:t>
            </a:r>
          </a:p>
          <a:p xmlns:a="http://schemas.openxmlformats.org/drawingml/2006/main">
            <a:r>
              <a:t>      "source_url": "https://culture.seoul.go.kr/culture/cmmn/file/fileDown.do?atchFileId=c4638ecc9ce84bba9e51ecc2e11293e2&amp;bbsId=&amp;fileSn=2&amp;menuNo=200050",</a:t>
            </a:r>
          </a:p>
          <a:p xmlns:a="http://schemas.openxmlformats.org/drawingml/2006/main">
            <a:r>
              <a:t>      "case_region": "서울특별시 문화유산 집적지역",</a:t>
            </a:r>
          </a:p>
          <a:p xmlns:a="http://schemas.openxmlformats.org/drawingml/2006/main">
            <a:r>
              <a:t>      "source_type": "benchmark_case",</a:t>
            </a:r>
          </a:p>
          <a:p xmlns:a="http://schemas.openxmlformats.org/drawingml/2006/main">
            <a:r>
              <a:t>      "intervention": "기존 문화유산을 활용한 야간 개방·체험 프로그램",</a:t>
            </a:r>
          </a:p>
          <a:p xmlns:a="http://schemas.openxmlformats.org/drawingml/2006/main">
            <a:r>
              <a:t>      "document_type": null,</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"retrieval_method": "official_web_search",</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"published_or_updated_at": "2024",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"2024년도 정부업무평가 관광분야 성과자료",</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"source_id": "case:night_tourism_cities_2024",</a:t>
            </a:r>
          </a:p>
          <a:p xmlns:a="http://schemas.openxmlformats.org/drawingml/2006/main">
            <a:r>
              <a:t>      "source_url": "https://www.evaluation.go.kr/upload2/atch/eval/20250429095846463.pdf",</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"상설 야간 콘텐츠와 경관·교통·안전 운영",</a:t>
            </a:r>
          </a:p>
          <a:p xmlns:a="http://schemas.openxmlformats.org/drawingml/2006/main">
            <a:r>
              <a:t>      "document_type": "case_study",</a:t>
            </a:r>
          </a:p>
          <a:p xmlns:a="http://schemas.openxmlformats.org/drawingml/2006/main">
            <a:r>
              <a:t>      "observed_result": "정부업무평가 자료는 특화도시 10곳 방문객이 2023년 같은 기간보다 3% 증가했다고 기록",</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"published_or_updated_at": "2025-04-29",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"is_forecast": true,</a:t>
            </a:r>
          </a:p>
          <a:p xmlns:a="http://schemas.openxmlformats.org/drawingml/2006/main">
            <a:r>
              <a:t>        "spending_krw": 150467072839.0,</a:t>
            </a:r>
          </a:p>
          <a:p xmlns:a="http://schemas.openxmlformats.org/drawingml/2006/main">
            <a:r>
              <a:t>        "stay_minutes": 2601.0,</a:t>
            </a:r>
          </a:p>
          <a:p xmlns:a="http://schemas.openxmlformats.org/drawingml/2006/main">
            <a:r>
              <a:t>        "lodging_nights": 3.3,</a:t>
            </a:r>
          </a:p>
          <a:p xmlns:a="http://schemas.openxmlformats.org/drawingml/2006/main">
            <a:r>
              <a:t>        "lodging_rate_pct": 22.1,</a:t>
            </a:r>
          </a:p>
          <a:p xmlns:a="http://schemas.openxmlformats.org/drawingml/2006/main">
            <a:r>
              <a:t>        "lodging_searches": 146458,</a:t>
            </a:r>
          </a:p>
          <a:p xmlns:a="http://schemas.openxmlformats.org/drawingml/2006/main">
            <a:r>
              <a:t>        "navigation_searches": 1120126,</a:t>
            </a:r>
          </a:p>
          <a:p xmlns:a="http://schemas.openxmlformats.org/drawingml/2006/main">
            <a:r>
              <a:t>        "visitor_yoy_percent": -7.42,</a:t>
            </a:r>
          </a:p>
          <a:p xmlns:a="http://schemas.openxmlformats.org/drawingml/2006/main">
            <a:r>
              <a:t>        "spending_yoy_percent": -2.51,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3904808,</a:t>
            </a:r>
          </a:p>
          <a:p xmlns:a="http://schemas.openxmlformats.org/drawingml/2006/main">
            <a:r>
              <a:t>        "previous_year_spending_krw": 154337552000,</a:t>
            </a:r>
          </a:p>
          <a:p xmlns:a="http://schemas.openxmlformats.org/drawingml/2006/main">
            <a:r>
              <a:t>        "previous_year_stay_minutes": 2601.0,</a:t>
            </a:r>
          </a:p>
          <a:p xmlns:a="http://schemas.openxmlformats.org/drawingml/2006/main">
            <a:r>
              <a:t>        "previous_year_lodging_nights": 3.3,</a:t>
            </a:r>
          </a:p>
          <a:p xmlns:a="http://schemas.openxmlformats.org/drawingml/2006/main">
            <a:r>
              <a:t>        "previous_year_lodging_rate_pct": 22.1,</a:t>
            </a:r>
          </a:p>
          <a:p xmlns:a="http://schemas.openxmlformats.org/drawingml/2006/main">
            <a:r>
              <a:t>        "previous_year_lodging_searches": 146458,</a:t>
            </a:r>
          </a:p>
          <a:p xmlns:a="http://schemas.openxmlformats.org/drawingml/2006/main">
            <a:r>
              <a:t>        "previous_year_navigation_searches": 1120126</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"is_forecast": true,</a:t>
            </a:r>
          </a:p>
          <a:p xmlns:a="http://schemas.openxmlformats.org/drawingml/2006/main">
            <a:r>
              <a:t>        "spending_krw": 145085139974.0,</a:t>
            </a:r>
          </a:p>
          <a:p xmlns:a="http://schemas.openxmlformats.org/drawingml/2006/main">
            <a:r>
              <a:t>        "stay_minutes": 2044.0,</a:t>
            </a:r>
          </a:p>
          <a:p xmlns:a="http://schemas.openxmlformats.org/drawingml/2006/main">
            <a:r>
              <a:t>        "lodging_nights": 3.0,</a:t>
            </a:r>
          </a:p>
          <a:p xmlns:a="http://schemas.openxmlformats.org/drawingml/2006/main">
            <a:r>
              <a:t>        "lodging_rate_pct": 22.0,</a:t>
            </a:r>
          </a:p>
          <a:p xmlns:a="http://schemas.openxmlformats.org/drawingml/2006/main">
            <a:r>
              <a:t>        "lodging_searches": 87867,</a:t>
            </a:r>
          </a:p>
          <a:p xmlns:a="http://schemas.openxmlformats.org/drawingml/2006/main">
            <a:r>
              <a:t>        "navigation_searches": 657481,</a:t>
            </a:r>
          </a:p>
          <a:p xmlns:a="http://schemas.openxmlformats.org/drawingml/2006/main">
            <a:r>
              <a:t>        "visitor_yoy_percent": 0.08,</a:t>
            </a:r>
          </a:p>
          <a:p xmlns:a="http://schemas.openxmlformats.org/drawingml/2006/main">
            <a:r>
              <a:t>        "spending_yoy_percent": 0.83,</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3591286,</a:t>
            </a:r>
          </a:p>
          <a:p xmlns:a="http://schemas.openxmlformats.org/drawingml/2006/main">
            <a:r>
              <a:t>        "previous_year_spending_krw": 143894918000,</a:t>
            </a:r>
          </a:p>
          <a:p xmlns:a="http://schemas.openxmlformats.org/drawingml/2006/main">
            <a:r>
              <a:t>        "previous_year_stay_minutes": 2044.0,</a:t>
            </a:r>
          </a:p>
          <a:p xmlns:a="http://schemas.openxmlformats.org/drawingml/2006/main">
            <a:r>
              <a:t>        "previous_year_lodging_nights": 3.0,</a:t>
            </a:r>
          </a:p>
          <a:p xmlns:a="http://schemas.openxmlformats.org/drawingml/2006/main">
            <a:r>
              <a:t>        "previous_year_lodging_rate_pct": 22.0,</a:t>
            </a:r>
          </a:p>
          <a:p xmlns:a="http://schemas.openxmlformats.org/drawingml/2006/main">
            <a:r>
              <a:t>        "previous_year_lodging_searches": 87867,</a:t>
            </a:r>
          </a:p>
          <a:p xmlns:a="http://schemas.openxmlformats.org/drawingml/2006/main">
            <a:r>
              <a:t>        "previous_year_navigation_searches": 657481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"is_forecast": true,</a:t>
            </a:r>
          </a:p>
          <a:p xmlns:a="http://schemas.openxmlformats.org/drawingml/2006/main">
            <a:r>
              <a:t>        "spending_krw": 149366639508.0,</a:t>
            </a:r>
          </a:p>
          <a:p xmlns:a="http://schemas.openxmlformats.org/drawingml/2006/main">
            <a:r>
              <a:t>        "stay_minutes": 2289.0,</a:t>
            </a:r>
          </a:p>
          <a:p xmlns:a="http://schemas.openxmlformats.org/drawingml/2006/main">
            <a:r>
              <a:t>        "lodging_nights": 3.03,</a:t>
            </a:r>
          </a:p>
          <a:p xmlns:a="http://schemas.openxmlformats.org/drawingml/2006/main">
            <a:r>
              <a:t>        "lodging_rate_pct": 22.3,</a:t>
            </a:r>
          </a:p>
          <a:p xmlns:a="http://schemas.openxmlformats.org/drawingml/2006/main">
            <a:r>
              <a:t>        "lodging_searches": 75858,</a:t>
            </a:r>
          </a:p>
          <a:p xmlns:a="http://schemas.openxmlformats.org/drawingml/2006/main">
            <a:r>
              <a:t>        "navigation_searches": 556973,</a:t>
            </a:r>
          </a:p>
          <a:p xmlns:a="http://schemas.openxmlformats.org/drawingml/2006/main">
            <a:r>
              <a:t>        "visitor_yoy_percent": -1.18,</a:t>
            </a:r>
          </a:p>
          <a:p xmlns:a="http://schemas.openxmlformats.org/drawingml/2006/main">
            <a:r>
              <a:t>        "spending_yoy_percent": 0.77,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3410959,</a:t>
            </a:r>
          </a:p>
          <a:p xmlns:a="http://schemas.openxmlformats.org/drawingml/2006/main">
            <a:r>
              <a:t>        "previous_year_spending_krw": 148223154000,</a:t>
            </a:r>
          </a:p>
          <a:p xmlns:a="http://schemas.openxmlformats.org/drawingml/2006/main">
            <a:r>
              <a:t>        "previous_year_stay_minutes": 2289.0,</a:t>
            </a:r>
          </a:p>
          <a:p xmlns:a="http://schemas.openxmlformats.org/drawingml/2006/main">
            <a:r>
              <a:t>        "previous_year_lodging_nights": 3.03,</a:t>
            </a:r>
          </a:p>
          <a:p xmlns:a="http://schemas.openxmlformats.org/drawingml/2006/main">
            <a:r>
              <a:t>        "previous_year_lodging_rate_pct": 22.3,</a:t>
            </a:r>
          </a:p>
          <a:p xmlns:a="http://schemas.openxmlformats.org/drawingml/2006/main">
            <a:r>
              <a:t>        "previous_year_lodging_searches": 75858,</a:t>
            </a:r>
          </a:p>
          <a:p xmlns:a="http://schemas.openxmlformats.org/drawingml/2006/main">
            <a:r>
              <a:t>        "previous_year_navigation_searches": 556973</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"is_forecast": true,</a:t>
            </a:r>
          </a:p>
          <a:p xmlns:a="http://schemas.openxmlformats.org/drawingml/2006/main">
            <a:r>
              <a:t>      "spending_krw": 140803668431,</a:t>
            </a:r>
          </a:p>
          <a:p xmlns:a="http://schemas.openxmlformats.org/drawingml/2006/main">
            <a:r>
              <a:t>      "stay_minutes": 2599.0,</a:t>
            </a:r>
          </a:p>
          <a:p xmlns:a="http://schemas.openxmlformats.org/drawingml/2006/main">
            <a:r>
              <a:t>      "lodging_nights": 3.2,</a:t>
            </a:r>
          </a:p>
          <a:p xmlns:a="http://schemas.openxmlformats.org/drawingml/2006/main">
            <a:r>
              <a:t>      "lodging_rate_pct": 21.7,</a:t>
            </a:r>
          </a:p>
          <a:p xmlns:a="http://schemas.openxmlformats.org/drawingml/2006/main">
            <a:r>
              <a:t>      "lodging_searches": 99946,</a:t>
            </a:r>
          </a:p>
          <a:p xmlns:a="http://schemas.openxmlformats.org/drawingml/2006/main">
            <a:r>
              <a:t>      "navigation_searches": 710719,</a:t>
            </a:r>
          </a:p>
          <a:p xmlns:a="http://schemas.openxmlformats.org/drawingml/2006/main">
            <a:r>
              <a:t>      "visitor_yoy_percent": -3.05,</a:t>
            </a:r>
          </a:p>
          <a:p xmlns:a="http://schemas.openxmlformats.org/drawingml/2006/main">
            <a:r>
              <a:t>      "spending_yoy_percent": -4.29,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3628591,</a:t>
            </a:r>
          </a:p>
          <a:p xmlns:a="http://schemas.openxmlformats.org/drawingml/2006/main">
            <a:r>
              <a:t>      "previous_year_spending_krw": 147121716000,</a:t>
            </a:r>
          </a:p>
          <a:p xmlns:a="http://schemas.openxmlformats.org/drawingml/2006/main">
            <a:r>
              <a:t>      "previous_year_stay_minutes": 2599.0,</a:t>
            </a:r>
          </a:p>
          <a:p xmlns:a="http://schemas.openxmlformats.org/drawingml/2006/main">
            <a:r>
              <a:t>      "previous_year_lodging_nights": 3.2,</a:t>
            </a:r>
          </a:p>
          <a:p xmlns:a="http://schemas.openxmlformats.org/drawingml/2006/main">
            <a:r>
              <a:t>      "previous_year_lodging_rate_pct": 21.7,</a:t>
            </a:r>
          </a:p>
          <a:p xmlns:a="http://schemas.openxmlformats.org/drawingml/2006/main">
            <a:r>
              <a:t>      "previous_year_lodging_searches": 99946,</a:t>
            </a:r>
          </a:p>
          <a:p xmlns:a="http://schemas.openxmlformats.org/drawingml/2006/main">
            <a:r>
              <a:t>      "previous_year_navigation_searches": 710719</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"is_forecast": true,</a:t>
            </a:r>
          </a:p>
          <a:p xmlns:a="http://schemas.openxmlformats.org/drawingml/2006/main">
            <a:r>
              <a:t>      "spending_krw": 147968744557,</a:t>
            </a:r>
          </a:p>
          <a:p xmlns:a="http://schemas.openxmlformats.org/drawingml/2006/main">
            <a:r>
              <a:t>      "stay_minutes": 2361.0,</a:t>
            </a:r>
          </a:p>
          <a:p xmlns:a="http://schemas.openxmlformats.org/drawingml/2006/main">
            <a:r>
              <a:t>      "lodging_nights": 3.15,</a:t>
            </a:r>
          </a:p>
          <a:p xmlns:a="http://schemas.openxmlformats.org/drawingml/2006/main">
            <a:r>
              <a:t>      "lodging_rate_pct": 22.1,</a:t>
            </a:r>
          </a:p>
          <a:p xmlns:a="http://schemas.openxmlformats.org/drawingml/2006/main">
            <a:r>
              <a:t>      "lodging_searches": 114775,</a:t>
            </a:r>
          </a:p>
          <a:p xmlns:a="http://schemas.openxmlformats.org/drawingml/2006/main">
            <a:r>
              <a:t>      "navigation_searches": 832625,</a:t>
            </a:r>
          </a:p>
          <a:p xmlns:a="http://schemas.openxmlformats.org/drawingml/2006/main">
            <a:r>
              <a:t>      "visitor_yoy_percent": -6.31,</a:t>
            </a:r>
          </a:p>
          <a:p xmlns:a="http://schemas.openxmlformats.org/drawingml/2006/main">
            <a:r>
              <a:t>      "spending_yoy_percent": -7.29,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3874804,</a:t>
            </a:r>
          </a:p>
          <a:p xmlns:a="http://schemas.openxmlformats.org/drawingml/2006/main">
            <a:r>
              <a:t>      "previous_year_spending_krw": 159605711000,</a:t>
            </a:r>
          </a:p>
          <a:p xmlns:a="http://schemas.openxmlformats.org/drawingml/2006/main">
            <a:r>
              <a:t>      "previous_year_stay_minutes": 2361.0,</a:t>
            </a:r>
          </a:p>
          <a:p xmlns:a="http://schemas.openxmlformats.org/drawingml/2006/main">
            <a:r>
              <a:t>      "previous_year_lodging_nights": 3.15,</a:t>
            </a:r>
          </a:p>
          <a:p xmlns:a="http://schemas.openxmlformats.org/drawingml/2006/main">
            <a:r>
              <a:t>      "previous_year_lodging_rate_pct": 22.1,</a:t>
            </a:r>
          </a:p>
          <a:p xmlns:a="http://schemas.openxmlformats.org/drawingml/2006/main">
            <a:r>
              <a:t>      "previous_year_lodging_searches": 114775,</a:t>
            </a:r>
          </a:p>
          <a:p xmlns:a="http://schemas.openxmlformats.org/drawingml/2006/main">
            <a:r>
              <a:t>      "previous_year_navigation_searches": 832625</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"is_forecast": true,</a:t>
            </a:r>
          </a:p>
          <a:p xmlns:a="http://schemas.openxmlformats.org/drawingml/2006/main">
            <a:r>
              <a:t>      "spending_krw": 128844309211,</a:t>
            </a:r>
          </a:p>
          <a:p xmlns:a="http://schemas.openxmlformats.org/drawingml/2006/main">
            <a:r>
              <a:t>      "stay_minutes": 2331.0,</a:t>
            </a:r>
          </a:p>
          <a:p xmlns:a="http://schemas.openxmlformats.org/drawingml/2006/main">
            <a:r>
              <a:t>      "lodging_nights": 3.04,</a:t>
            </a:r>
          </a:p>
          <a:p xmlns:a="http://schemas.openxmlformats.org/drawingml/2006/main">
            <a:r>
              <a:t>      "lodging_rate_pct": 21.3,</a:t>
            </a:r>
          </a:p>
          <a:p xmlns:a="http://schemas.openxmlformats.org/drawingml/2006/main">
            <a:r>
              <a:t>      "lodging_searches": 83147,</a:t>
            </a:r>
          </a:p>
          <a:p xmlns:a="http://schemas.openxmlformats.org/drawingml/2006/main">
            <a:r>
              <a:t>      "navigation_searches": 625924,</a:t>
            </a:r>
          </a:p>
          <a:p xmlns:a="http://schemas.openxmlformats.org/drawingml/2006/main">
            <a:r>
              <a:t>      "visitor_yoy_percent": 0.75,</a:t>
            </a:r>
          </a:p>
          <a:p xmlns:a="http://schemas.openxmlformats.org/drawingml/2006/main">
            <a:r>
              <a:t>      "spending_yoy_percent": -3.74,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3482583,</a:t>
            </a:r>
          </a:p>
          <a:p xmlns:a="http://schemas.openxmlformats.org/drawingml/2006/main">
            <a:r>
              <a:t>      "previous_year_spending_krw": 133843940000,</a:t>
            </a:r>
          </a:p>
          <a:p xmlns:a="http://schemas.openxmlformats.org/drawingml/2006/main">
            <a:r>
              <a:t>      "previous_year_stay_minutes": 2331.0,</a:t>
            </a:r>
          </a:p>
          <a:p xmlns:a="http://schemas.openxmlformats.org/drawingml/2006/main">
            <a:r>
              <a:t>      "previous_year_lodging_nights": 3.04,</a:t>
            </a:r>
          </a:p>
          <a:p xmlns:a="http://schemas.openxmlformats.org/drawingml/2006/main">
            <a:r>
              <a:t>      "previous_year_lodging_rate_pct": 21.3,</a:t>
            </a:r>
          </a:p>
          <a:p xmlns:a="http://schemas.openxmlformats.org/drawingml/2006/main">
            <a:r>
              <a:t>      "previous_year_lodging_searches": 83147,</a:t>
            </a:r>
          </a:p>
          <a:p xmlns:a="http://schemas.openxmlformats.org/drawingml/2006/main">
            <a:r>
              <a:t>      "previous_year_navigation_searches": 625924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"is_forecast": true,</a:t>
            </a:r>
          </a:p>
          <a:p xmlns:a="http://schemas.openxmlformats.org/drawingml/2006/main">
            <a:r>
              <a:t>      "spending_krw": 150467072839,</a:t>
            </a:r>
          </a:p>
          <a:p xmlns:a="http://schemas.openxmlformats.org/drawingml/2006/main">
            <a:r>
              <a:t>      "stay_minutes": 2601.0,</a:t>
            </a:r>
          </a:p>
          <a:p xmlns:a="http://schemas.openxmlformats.org/drawingml/2006/main">
            <a:r>
              <a:t>      "lodging_nights": 3.3,</a:t>
            </a:r>
          </a:p>
          <a:p xmlns:a="http://schemas.openxmlformats.org/drawingml/2006/main">
            <a:r>
              <a:t>      "lodging_rate_pct": 22.1,</a:t>
            </a:r>
          </a:p>
          <a:p xmlns:a="http://schemas.openxmlformats.org/drawingml/2006/main">
            <a:r>
              <a:t>      "lodging_searches": 146458,</a:t>
            </a:r>
          </a:p>
          <a:p xmlns:a="http://schemas.openxmlformats.org/drawingml/2006/main">
            <a:r>
              <a:t>      "navigation_searches": 1120126,</a:t>
            </a:r>
          </a:p>
          <a:p xmlns:a="http://schemas.openxmlformats.org/drawingml/2006/main">
            <a:r>
              <a:t>      "visitor_yoy_percent": -7.42,</a:t>
            </a:r>
          </a:p>
          <a:p xmlns:a="http://schemas.openxmlformats.org/drawingml/2006/main">
            <a:r>
              <a:t>      "spending_yoy_percent": -2.51,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3904808,</a:t>
            </a:r>
          </a:p>
          <a:p xmlns:a="http://schemas.openxmlformats.org/drawingml/2006/main">
            <a:r>
              <a:t>      "previous_year_spending_krw": 154337552000,</a:t>
            </a:r>
          </a:p>
          <a:p xmlns:a="http://schemas.openxmlformats.org/drawingml/2006/main">
            <a:r>
              <a:t>      "previous_year_stay_minutes": 2601.0,</a:t>
            </a:r>
          </a:p>
          <a:p xmlns:a="http://schemas.openxmlformats.org/drawingml/2006/main">
            <a:r>
              <a:t>      "previous_year_lodging_nights": 3.3,</a:t>
            </a:r>
          </a:p>
          <a:p xmlns:a="http://schemas.openxmlformats.org/drawingml/2006/main">
            <a:r>
              <a:t>      "previous_year_lodging_rate_pct": 22.1,</a:t>
            </a:r>
          </a:p>
          <a:p xmlns:a="http://schemas.openxmlformats.org/drawingml/2006/main">
            <a:r>
              <a:t>      "previous_year_lodging_searches": 146458,</a:t>
            </a:r>
          </a:p>
          <a:p xmlns:a="http://schemas.openxmlformats.org/drawingml/2006/main">
            <a:r>
              <a:t>      "previous_year_navigation_searches": 1120126</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"is_forecast": true,</a:t>
            </a:r>
          </a:p>
          <a:p xmlns:a="http://schemas.openxmlformats.org/drawingml/2006/main">
            <a:r>
              <a:t>      "spending_krw": 145085139974,</a:t>
            </a:r>
          </a:p>
          <a:p xmlns:a="http://schemas.openxmlformats.org/drawingml/2006/main">
            <a:r>
              <a:t>      "stay_minutes": 2044.0,</a:t>
            </a:r>
          </a:p>
          <a:p xmlns:a="http://schemas.openxmlformats.org/drawingml/2006/main">
            <a:r>
              <a:t>      "lodging_nights": 3.0,</a:t>
            </a:r>
          </a:p>
          <a:p xmlns:a="http://schemas.openxmlformats.org/drawingml/2006/main">
            <a:r>
              <a:t>      "lodging_rate_pct": 22.0,</a:t>
            </a:r>
          </a:p>
          <a:p xmlns:a="http://schemas.openxmlformats.org/drawingml/2006/main">
            <a:r>
              <a:t>      "lodging_searches": 87867,</a:t>
            </a:r>
          </a:p>
          <a:p xmlns:a="http://schemas.openxmlformats.org/drawingml/2006/main">
            <a:r>
              <a:t>      "navigation_searches": 657481,</a:t>
            </a:r>
          </a:p>
          <a:p xmlns:a="http://schemas.openxmlformats.org/drawingml/2006/main">
            <a:r>
              <a:t>      "visitor_yoy_percent": 0.08,</a:t>
            </a:r>
          </a:p>
          <a:p xmlns:a="http://schemas.openxmlformats.org/drawingml/2006/main">
            <a:r>
              <a:t>      "spending_yoy_percent": 0.83,</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3591286,</a:t>
            </a:r>
          </a:p>
          <a:p xmlns:a="http://schemas.openxmlformats.org/drawingml/2006/main">
            <a:r>
              <a:t>      "previous_year_spending_krw": 143894918000,</a:t>
            </a:r>
          </a:p>
          <a:p xmlns:a="http://schemas.openxmlformats.org/drawingml/2006/main">
            <a:r>
              <a:t>      "previous_year_stay_minutes": 2044.0,</a:t>
            </a:r>
          </a:p>
          <a:p xmlns:a="http://schemas.openxmlformats.org/drawingml/2006/main">
            <a:r>
              <a:t>      "previous_year_lodging_nights": 3.0,</a:t>
            </a:r>
          </a:p>
          <a:p xmlns:a="http://schemas.openxmlformats.org/drawingml/2006/main">
            <a:r>
              <a:t>      "previous_year_lodging_rate_pct": 22.0,</a:t>
            </a:r>
          </a:p>
          <a:p xmlns:a="http://schemas.openxmlformats.org/drawingml/2006/main">
            <a:r>
              <a:t>      "previous_year_lodging_searches": 87867,</a:t>
            </a:r>
          </a:p>
          <a:p xmlns:a="http://schemas.openxmlformats.org/drawingml/2006/main">
            <a:r>
              <a:t>      "previous_year_navigation_searches": 657481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"is_forecast": true,</a:t>
            </a:r>
          </a:p>
          <a:p xmlns:a="http://schemas.openxmlformats.org/drawingml/2006/main">
            <a:r>
              <a:t>      "spending_krw": 149366639508,</a:t>
            </a:r>
          </a:p>
          <a:p xmlns:a="http://schemas.openxmlformats.org/drawingml/2006/main">
            <a:r>
              <a:t>      "stay_minutes": 2289.0,</a:t>
            </a:r>
          </a:p>
          <a:p xmlns:a="http://schemas.openxmlformats.org/drawingml/2006/main">
            <a:r>
              <a:t>      "lodging_nights": 3.03,</a:t>
            </a:r>
          </a:p>
          <a:p xmlns:a="http://schemas.openxmlformats.org/drawingml/2006/main">
            <a:r>
              <a:t>      "lodging_rate_pct": 22.3,</a:t>
            </a:r>
          </a:p>
          <a:p xmlns:a="http://schemas.openxmlformats.org/drawingml/2006/main">
            <a:r>
              <a:t>      "lodging_searches": 75858,</a:t>
            </a:r>
          </a:p>
          <a:p xmlns:a="http://schemas.openxmlformats.org/drawingml/2006/main">
            <a:r>
              <a:t>      "navigation_searches": 556973,</a:t>
            </a:r>
          </a:p>
          <a:p xmlns:a="http://schemas.openxmlformats.org/drawingml/2006/main">
            <a:r>
              <a:t>      "visitor_yoy_percent": -1.18,</a:t>
            </a:r>
          </a:p>
          <a:p xmlns:a="http://schemas.openxmlformats.org/drawingml/2006/main">
            <a:r>
              <a:t>      "spending_yoy_percent": 0.77,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3410959,</a:t>
            </a:r>
          </a:p>
          <a:p xmlns:a="http://schemas.openxmlformats.org/drawingml/2006/main">
            <a:r>
              <a:t>      "previous_year_spending_krw": 148223154000,</a:t>
            </a:r>
          </a:p>
          <a:p xmlns:a="http://schemas.openxmlformats.org/drawingml/2006/main">
            <a:r>
              <a:t>      "previous_year_stay_minutes": 2289.0,</a:t>
            </a:r>
          </a:p>
          <a:p xmlns:a="http://schemas.openxmlformats.org/drawingml/2006/main">
            <a:r>
              <a:t>      "previous_year_lodging_nights": 3.03,</a:t>
            </a:r>
          </a:p>
          <a:p xmlns:a="http://schemas.openxmlformats.org/drawingml/2006/main">
            <a:r>
              <a:t>      "previous_year_lodging_rate_pct": 22.3,</a:t>
            </a:r>
          </a:p>
          <a:p xmlns:a="http://schemas.openxmlformats.org/drawingml/2006/main">
            <a:r>
              <a:t>      "previous_year_lodging_searches": 75858,</a:t>
            </a:r>
          </a:p>
          <a:p xmlns:a="http://schemas.openxmlformats.org/drawingml/2006/main">
            <a:r>
              <a:t>      "previous_year_navigation_searches": 556973</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183762.22,</a:t>
            </a:r>
          </a:p>
          <a:p xmlns:a="http://schemas.openxmlformats.org/drawingml/2006/main">
            <a:r>
              <a:t>        "recursive_mae": {</a:t>
            </a:r>
          </a:p>
          <a:p xmlns:a="http://schemas.openxmlformats.org/drawingml/2006/main">
            <a:r>
              <a:t>          "1": {</a:t>
            </a:r>
          </a:p>
          <a:p xmlns:a="http://schemas.openxmlformats.org/drawingml/2006/main">
            <a:r>
              <a:t>            "baseline": 141219.0,</a:t>
            </a:r>
          </a:p>
          <a:p xmlns:a="http://schemas.openxmlformats.org/drawingml/2006/main">
            <a:r>
              <a:t>            "selected": 265459.0,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144459.5,</a:t>
            </a:r>
          </a:p>
          <a:p xmlns:a="http://schemas.openxmlformats.org/drawingml/2006/main">
            <a:r>
              <a:t>            "selected": 136814.0,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297499.5,</a:t>
            </a:r>
          </a:p>
          <a:p xmlns:a="http://schemas.openxmlformats.org/drawingml/2006/main">
            <a:r>
              <a:t>            "selected": 180437.5,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219359.25,</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7866027889.97,</a:t>
            </a:r>
          </a:p>
          <a:p xmlns:a="http://schemas.openxmlformats.org/drawingml/2006/main">
            <a:r>
              <a:t>        "recursive_mae": {</a:t>
            </a:r>
          </a:p>
          <a:p xmlns:a="http://schemas.openxmlformats.org/drawingml/2006/main">
            <a:r>
              <a:t>          "1": {</a:t>
            </a:r>
          </a:p>
          <a:p xmlns:a="http://schemas.openxmlformats.org/drawingml/2006/main">
            <a:r>
              <a:t>            "baseline": 11633402000.0,</a:t>
            </a:r>
          </a:p>
          <a:p xmlns:a="http://schemas.openxmlformats.org/drawingml/2006/main">
            <a:r>
              <a:t>            "selected": 5070058833.0,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5588447000.0,</a:t>
            </a:r>
          </a:p>
          <a:p xmlns:a="http://schemas.openxmlformats.org/drawingml/2006/main">
            <a:r>
              <a:t>            "selected": 2754801694.5,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5647526500.0,</a:t>
            </a:r>
          </a:p>
          <a:p xmlns:a="http://schemas.openxmlformats.org/drawingml/2006/main">
            <a:r>
              <a:t>            "selected": 11586732430.5,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8640464250.0,</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138.75,</a:t>
            </a:r>
          </a:p>
          <a:p xmlns:a="http://schemas.openxmlformats.org/drawingml/2006/main">
            <a:r>
              <a:t>        "recursive_mae": {</a:t>
            </a:r>
          </a:p>
          <a:p xmlns:a="http://schemas.openxmlformats.org/drawingml/2006/main">
            <a:r>
              <a:t>          "1": {</a:t>
            </a:r>
          </a:p>
          <a:p xmlns:a="http://schemas.openxmlformats.org/drawingml/2006/main">
            <a:r>
              <a:t>            "baseline": 41.0,</a:t>
            </a:r>
          </a:p>
          <a:p xmlns:a="http://schemas.openxmlformats.org/drawingml/2006/main">
            <a:r>
              <a:t>            "selected":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208.5,</a:t>
            </a:r>
          </a:p>
          <a:p xmlns:a="http://schemas.openxmlformats.org/drawingml/2006/main">
            <a:r>
              <a:t>            "selected":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236.5,</a:t>
            </a:r>
          </a:p>
          <a:p xmlns:a="http://schemas.openxmlformats.org/drawingml/2006/main">
            <a:r>
              <a:t>            "selected":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138.75,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0.03,</a:t>
            </a:r>
          </a:p>
          <a:p xmlns:a="http://schemas.openxmlformats.org/drawingml/2006/main">
            <a:r>
              <a:t>        "recursive_mae": {</a:t>
            </a:r>
          </a:p>
          <a:p xmlns:a="http://schemas.openxmlformats.org/drawingml/2006/main">
            <a:r>
              <a:t>          "1": {</a:t>
            </a:r>
          </a:p>
          <a:p xmlns:a="http://schemas.openxmlformats.org/drawingml/2006/main">
            <a:r>
              <a:t>            "baseline": 0.02,</a:t>
            </a:r>
          </a:p>
          <a:p xmlns:a="http://schemas.openxmlformats.org/drawingml/2006/main">
            <a:r>
              <a:t>            "selected":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0.02,</a:t>
            </a:r>
          </a:p>
          <a:p xmlns:a="http://schemas.openxmlformats.org/drawingml/2006/main">
            <a:r>
              <a:t>            "selected":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0.04,</a:t>
            </a:r>
          </a:p>
          <a:p xmlns:a="http://schemas.openxmlformats.org/drawingml/2006/main">
            <a:r>
              <a:t>            "selected":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0.5,</a:t>
            </a:r>
          </a:p>
          <a:p xmlns:a="http://schemas.openxmlformats.org/drawingml/2006/main">
            <a:r>
              <a:t>        "recursive_mae": {</a:t>
            </a:r>
          </a:p>
          <a:p xmlns:a="http://schemas.openxmlformats.org/drawingml/2006/main">
            <a:r>
              <a:t>          "1": {</a:t>
            </a:r>
          </a:p>
          <a:p xmlns:a="http://schemas.openxmlformats.org/drawingml/2006/main">
            <a:r>
              <a:t>            "baseline": 0.7,</a:t>
            </a:r>
          </a:p>
          <a:p xmlns:a="http://schemas.openxmlformats.org/drawingml/2006/main">
            <a:r>
              <a:t>            "selected":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0.55,</a:t>
            </a:r>
          </a:p>
          <a:p xmlns:a="http://schemas.openxmlformats.org/drawingml/2006/main">
            <a:r>
              <a:t>            "selected":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5915.25,</a:t>
            </a:r>
          </a:p>
          <a:p xmlns:a="http://schemas.openxmlformats.org/drawingml/2006/main">
            <a:r>
              <a:t>        "recursive_mae": {</a:t>
            </a:r>
          </a:p>
          <a:p xmlns:a="http://schemas.openxmlformats.org/drawingml/2006/main">
            <a:r>
              <a:t>          "1": {</a:t>
            </a:r>
          </a:p>
          <a:p xmlns:a="http://schemas.openxmlformats.org/drawingml/2006/main">
            <a:r>
              <a:t>            "baseline": 2259.5,</a:t>
            </a:r>
          </a:p>
          <a:p xmlns:a="http://schemas.openxmlformats.org/drawingml/2006/main">
            <a:r>
              <a:t>            "selected":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5253.5,</a:t>
            </a:r>
          </a:p>
          <a:p xmlns:a="http://schemas.openxmlformats.org/drawingml/2006/main">
            <a:r>
              <a:t>            "selected":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9571.0,</a:t>
            </a:r>
          </a:p>
          <a:p xmlns:a="http://schemas.openxmlformats.org/drawingml/2006/main">
            <a:r>
              <a:t>            "selected":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5915.25,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29189.5,</a:t>
            </a:r>
          </a:p>
          <a:p xmlns:a="http://schemas.openxmlformats.org/drawingml/2006/main">
            <a:r>
              <a:t>        "recursive_mae": {</a:t>
            </a:r>
          </a:p>
          <a:p xmlns:a="http://schemas.openxmlformats.org/drawingml/2006/main">
            <a:r>
              <a:t>          "1": {</a:t>
            </a:r>
          </a:p>
          <a:p xmlns:a="http://schemas.openxmlformats.org/drawingml/2006/main">
            <a:r>
              <a:t>            "baseline": 11165.5,</a:t>
            </a:r>
          </a:p>
          <a:p xmlns:a="http://schemas.openxmlformats.org/drawingml/2006/main">
            <a:r>
              <a:t>            "selected":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19541.0,</a:t>
            </a:r>
          </a:p>
          <a:p xmlns:a="http://schemas.openxmlformats.org/drawingml/2006/main">
            <a:r>
              <a:t>            "selected":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47213.5,</a:t>
            </a:r>
          </a:p>
          <a:p xmlns:a="http://schemas.openxmlformats.org/drawingml/2006/main">
            <a:r>
              <a:t>            "selected":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29189.5,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0.03343686894682377,</a:t>
            </a:r>
          </a:p>
          <a:p xmlns:a="http://schemas.openxmlformats.org/drawingml/2006/main">
            <a:r>
              <a:t>    "spending_target_pct": 0.05454939985387469,</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"고내포구", "address": "제주특별자치도 제주시 애월읍 고내리 1111-4", "summary": "한국관광공사 국문관광정보 API가 반환한 선택 지역 관광자원", "image_url": "http://tong.visitkorea.or.kr/cms/resource/19/3589219_image2_1.jpg", "source_id": "tour-api:2791433", "content_id": "2791433",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141219.0,</a:t>
            </a:r>
          </a:p>
          <a:p>
            <a:r>
              <a:t>            "selected": 265459.0,</a:t>
            </a:r>
          </a:p>
          <a:p>
            <a:r>
              <a:t>            "sample_count": 2</a:t>
            </a:r>
          </a:p>
          <a:p>
            <a:r>
              <a:t>          },</a:t>
            </a:r>
          </a:p>
          <a:p>
            <a:r>
              <a:t>          "2": {</a:t>
            </a:r>
          </a:p>
          <a:p>
            <a:r>
              <a:t>            "baseline": 144459.5,</a:t>
            </a:r>
          </a:p>
          <a:p>
            <a:r>
              <a:t>            "selected": 136814.0,</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11633402000.0,</a:t>
            </a:r>
          </a:p>
          <a:p>
            <a:r>
              <a:t>            "selected": 5070058833.0,</a:t>
            </a:r>
          </a:p>
          <a:p>
            <a:r>
              <a:t>            "sample_count": 2</a:t>
            </a:r>
          </a:p>
          <a:p>
            <a:r>
              <a:t>          },</a:t>
            </a:r>
          </a:p>
          <a:p>
            <a:r>
              <a:t>          "2": {</a:t>
            </a:r>
          </a:p>
          <a:p>
            <a:r>
              <a:t>            "baseline": 5588447000.0,</a:t>
            </a:r>
          </a:p>
          <a:p>
            <a:r>
              <a:t>            "selected": 2754801694.5,</a:t>
            </a:r>
          </a:p>
          <a:p>
            <a:r>
              <a:t>            "sample_count": 2</a:t>
            </a:r>
          </a:p>
          <a:p>
            <a:r>
              <a:t>          },</a:t>
            </a:r>
          </a:p>
          <a:p>
            <a:r>
              <a:t>          "3": {</a:t>
            </a:r>
          </a:p>
          <a:p>
            <a:r>
              <a:t>            "baseline": 5647526500.0,</a:t>
            </a:r>
          </a:p>
          <a:p>
            <a:r>
              <a:t>            "selected": 11586732430.5,</a:t>
            </a:r>
          </a:p>
          <a:p>
            <a:r>
              <a:t>            "sample_count": 2</a:t>
            </a:r>
          </a:p>
          <a:p>
            <a:r>
              <a:t>          }</a:t>
            </a:r>
          </a:p>
          <a:p>
            <a:r>
              <a:t>        },</a:t>
            </a:r>
          </a:p>
          <a:p>
            <a:r>
              <a:t>        "selected_model": "LinearRegression",</a:t>
            </a:r>
          </a:p>
          <a:p>
            <a:r>
              <a:t>        "baseline_test_mae": 8640464250.0,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41.0,</a:t>
            </a:r>
          </a:p>
          <a:p>
            <a:r>
              <a:t>            "selected": 41.0,</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9571.0,</a:t>
            </a:r>
          </a:p>
          <a:p>
            <a:r>
              <a:t>            "selected": 9571.0,</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19541.0,</a:t>
            </a:r>
          </a:p>
          <a:p>
            <a:r>
              <a:t>            "selected": 19541.0,</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0.03343686894682377,</a:t>
            </a:r>
          </a:p>
          <a:p>
            <a:r>
              <a:t>    "spending_target_pct": 0.05454939985387469,</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"observed_findings": [</a:t>
            </a:r>
          </a:p>
          <a:p>
            <a:r>
              <a:t>    {</a:t>
            </a:r>
          </a:p>
          <a:p>
            <a:r>
              <a:t>      "value": "3,131,476명",</a:t>
            </a:r>
          </a:p>
          <a:p>
            <a:r>
              <a:t>      "metric": "월간 순 방문자 수",</a:t>
            </a:r>
          </a:p>
          <a:p>
            <a:r>
              <a:t>      "source": "dataset:50110:1",</a:t>
            </a:r>
          </a:p>
          <a:p>
            <a:r>
              <a:t>      "interpretation": "2026년 6월 기준, 전년 동월 대비 -8.9% 감소하며 방문객 감소 추세가 관측됨"</a:t>
            </a:r>
          </a:p>
          <a:p>
            <a:r>
              <a:t>    },</a:t>
            </a:r>
          </a:p>
          <a:p>
            <a:r>
              <a:t>    {</a:t>
            </a:r>
          </a:p>
          <a:p>
            <a:r>
              <a:t>      "value": "580,380건",</a:t>
            </a:r>
          </a:p>
          <a:p>
            <a:r>
              <a:t>      "metric": "내비게이션 목적지 검색량",</a:t>
            </a:r>
          </a:p>
          <a:p>
            <a:r>
              <a:t>      "source": "dataset:50110:6",</a:t>
            </a:r>
          </a:p>
          <a:p>
            <a:r>
              <a:t>      "interpretation": "제주시 내 관광 목적지에 대한 높은 관심이 확인되어 야간 프로그램 운영을 위한 잠재 수요로 판단됨"</a:t>
            </a:r>
          </a:p>
          <a:p>
            <a:r>
              <a:t>    },</a:t>
            </a:r>
          </a:p>
          <a:p>
            <a:r>
              <a:t>    {</a:t>
            </a:r>
          </a:p>
          <a:p>
            <a:r>
              <a:t>      "value": "21.0%",</a:t>
            </a:r>
          </a:p>
          <a:p>
            <a:r>
              <a:t>      "metric": "외지인 숙박 방문 비율",</a:t>
            </a:r>
          </a:p>
          <a:p>
            <a:r>
              <a:t>      "source": "dataset:50110:4",</a:t>
            </a:r>
          </a:p>
          <a:p>
            <a:r>
              <a:t>      "interpretation": "전체 방문객 중 숙박객 비중이 낮아 야간 체류 프로그램이 숙박 전환의 핵심 기제가 될 수 있음"</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10,581,893명 (추가 1,728명, +0.02%)\n관광소비액: 기준 444,918,852,321원 → 목표 445,039,902,463원 (추가 121,050,142원,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2개월 × 하루 2회 × 회당 40명 = 7,680명분. 편성 한도 7,680명분에 이용률 75%를 적용해 5,760명 참여, 추가 방문 비중 30%로 1,728명 유치를 제안합니다. 기간 합계 ML 전망 대비 방문 +0.02%, 소비 +0.03%의 계획 시나리오입니다. 참여 목표 75%는 공통 최소 운영 목표입니다. 사례 참여율을 인용한 값이 아닙니다. 실제 운영 산정: 2026-11~2026-12, 2개월. 준비 기간에는 추가 방문·소비 목표를 배분하지 않습니다.\n6개 × 월 8일 × 2개월 × 하루 2회 × 회당 40명 = 7,680명분 → 참여 목표 5,760건의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10581893.0,</a:t>
            </a:r>
          </a:p>
          <a:p>
            <a:r>
              <a:t>        "additional": 1728.0,</a:t>
            </a:r>
          </a:p>
          <a:p>
            <a:r>
              <a:t>        "pct": 0.01633244850152149</a:t>
            </a:r>
          </a:p>
          <a:p>
            <a:r>
              <a:t>      },</a:t>
            </a:r>
          </a:p>
          <a:p>
            <a:r>
              <a:t>      {</a:t>
            </a:r>
          </a:p>
          <a:p>
            <a:r>
              <a:t>        "key": "spending",</a:t>
            </a:r>
          </a:p>
          <a:p>
            <a:r>
              <a:t>        "label": "관광소비액",</a:t>
            </a:r>
          </a:p>
          <a:p>
            <a:r>
              <a:t>        "unit": "원",</a:t>
            </a:r>
          </a:p>
          <a:p>
            <a:r>
              <a:t>        "baseline": 444918852321.0,</a:t>
            </a:r>
          </a:p>
          <a:p>
            <a:r>
              <a:t>        "target": 445039902463.0,</a:t>
            </a:r>
          </a:p>
          <a:p>
            <a:r>
              <a:t>        "additional": 121050142.0,</a:t>
            </a:r>
          </a:p>
          <a:p>
            <a:r>
              <a:t>        "pct": 0.027207240459370396</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"title": "2024년 문화재야행 사업 예산 확정자료",</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"source_id": "case:4bac3530eca721",</a:t>
            </a:r>
          </a:p>
          <a:p>
            <a:r>
              <a:t>      "source_url": "https://culture.seoul.go.kr/culture/cmmn/file/fileDown.do?atchFileId=c4638ecc9ce84bba9e51ecc2e11293e2&amp;bbsId=&amp;fileSn=2&amp;menuNo=200050",</a:t>
            </a:r>
          </a:p>
          <a:p>
            <a:r>
              <a:t>      "case_region": "서울특별시 문화유산 집적지역",</a:t>
            </a:r>
          </a:p>
          <a:p>
            <a:r>
              <a:t>      "source_type": "benchmark_case",</a:t>
            </a:r>
          </a:p>
          <a:p>
            <a:r>
              <a:t>      "intervention": "기존 문화유산을 활용한 야간 개방·체험 프로그램",</a:t>
            </a:r>
          </a:p>
          <a:p>
            <a:r>
              <a:t>      "document_type": null,</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"operating_model": "문화유산이 모인 거점을 중심으로 야간 개방, 해설, 공연과 체험프로그램을 구성하고 국비와 지방비를 결합해 운영했다.",</a:t>
            </a:r>
          </a:p>
          <a:p>
            <a:r>
              <a:t>      "retrieval_method": "official_web_search",</a:t>
            </a:r>
          </a:p>
          <a:p>
            <a:r>
              <a:t>      "evidence_strength": "low",</a:t>
            </a:r>
          </a:p>
          <a:p>
            <a:r>
              <a:t>      "retrieval_context": {</a:t>
            </a:r>
          </a:p>
          <a:p>
            <a:r>
              <a:t>        "scope": "cross_province",</a:t>
            </a:r>
          </a:p>
          <a:p>
            <a:r>
              <a:t>        "peer_region_code": null</a:t>
            </a:r>
          </a:p>
          <a:p>
            <a:r>
              <a:t>      },</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"published_or_updated_at": "2024",</a:t>
            </a:r>
          </a:p>
          <a:p>
            <a:r>
              <a:t>      "quantitative_result_approved": null</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2개월 × 하루 2회 × 회당 40명 = 7,680명분. 편성 한도 7,680명분에 이용률 75%를 적용해 5,760명 참여, 추가 방문 비중 30%로 1,728명 유치를 제안합니다. 기간 합계 ML 전망 대비 방문 +0.02%, 소비 +0.03%의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"6개 × 월 8일 × 2개월 × 하루 2회 × 회당 40명 = 7,680명분 → 참여 목표 5,760건의 예상 집행액. 모든 단가는 기획 가정.",</a:t>
            </a:r>
          </a:p>
          <a:p>
            <a:r>
              <a:t>      "months": 2,</a:t>
            </a:r>
          </a:p>
          <a:p>
            <a:r>
              <a:t>      "refund": false,</a:t>
            </a:r>
          </a:p>
          <a:p>
            <a:r>
              <a:t>      "quantity": 5760,</a:t>
            </a:r>
          </a:p>
          <a:p>
            <a:r>
              <a:t>      "unit_krw": 10000,</a:t>
            </a:r>
          </a:p>
          <a:p>
            <a:r>
              <a:t>      "capacity_quantity": 7680,</a:t>
            </a:r>
          </a:p>
          <a:p>
            <a:r>
              <a:t>      "per_claim_cap_krw": null,</a:t>
            </a:r>
          </a:p>
          <a:p>
            <a:r>
              <a:t>      "refund_rate_pct": null,</a:t>
            </a:r>
          </a:p>
          <a:p>
            <a:r>
              <a:t>      "redemption_target_pct": 75.0,</a:t>
            </a:r>
          </a:p>
          <a:p>
            <a:r>
              <a:t>      "redemption_count": 5760,</a:t>
            </a:r>
          </a:p>
          <a:p>
            <a:r>
              <a:t>      "qualifying_spend_krw": null,</a:t>
            </a:r>
          </a:p>
          <a:p>
            <a:r>
              <a:t>      "subtotal_krw": 88000000,</a:t>
            </a:r>
          </a:p>
          <a:p>
            <a:r>
              <a:t>      "reserve_krw": 8800000,</a:t>
            </a:r>
          </a:p>
          <a:p>
            <a:r>
              <a:t>      "total_krw": 96800000,</a:t>
            </a:r>
          </a:p>
          <a:p>
            <a:r>
              <a:t>      "within_hard_budget": true,</a:t>
            </a:r>
          </a:p>
          <a:p>
            <a:r>
              <a:t>      "full_participation_budget_krw": 117920000,</a:t>
            </a:r>
          </a:p>
          <a:p>
            <a:r>
              <a:t>      "participant_purchases_krw": 242220475,</a:t>
            </a:r>
          </a:p>
          <a:p>
            <a:r>
              <a:t>      "additional_spending_krw": 121050142,</a:t>
            </a:r>
          </a:p>
          <a:p>
            <a:r>
              <a:t>      "scenario_note": "참여자 결제 242,220,475원 중 추가 소비 목표 121,050,142원. 견적은 같은 참여 목표의 사업비이며, 결제액 전체를 신규 소비나 사업 수익으로 계산하지 않습니다.",</a:t>
            </a:r>
          </a:p>
          <a:p>
            <a:r>
              <a:t>      "items": [</a:t>
            </a:r>
          </a:p>
          <a:p>
            <a:r>
              <a:t>        {</a:t>
            </a:r>
          </a:p>
          <a:p>
            <a:r>
              <a:t>          "name": "프로그램 운영·참여 지원",</a:t>
            </a:r>
          </a:p>
          <a:p>
            <a:r>
              <a:t>          "basis": "참여 목표 5,760명 × 계획 지원단가 10,000원",</a:t>
            </a:r>
          </a:p>
          <a:p>
            <a:r>
              <a:t>          "amount": 57600000</a:t>
            </a:r>
          </a:p>
          <a:p>
            <a:r>
              <a:t>        },</a:t>
            </a:r>
          </a:p>
          <a:p>
            <a:r>
              <a:t>        {</a:t>
            </a:r>
          </a:p>
          <a:p>
            <a:r>
              <a:t>          "name": "현장 운영·정산",</a:t>
            </a:r>
          </a:p>
          <a:p>
            <a:r>
              <a:t>          "basis": "6개 운영팀 × 월 8일 × 2개월 × 150,000원",</a:t>
            </a:r>
          </a:p>
          <a:p>
            <a:r>
              <a:t>          "amount": 14400000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88,000,000원 × 10%",</a:t>
            </a:r>
          </a:p>
          <a:p>
            <a:r>
              <a:t>          "amount": 8800000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12,000원과 ML 소비/방문 비율의 50% 중 작은 값입니다."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33440001,</a:t>
            </a:r>
          </a:p>
          <a:p>
            <a:r>
              <a:t>  "family": "night_time_experience",</a:t>
            </a:r>
          </a:p>
          <a:p>
            <a:r>
              <a:t>  "program_label": "야간 문화·체험",</a:t>
            </a:r>
          </a:p>
          <a:p>
            <a:r>
              <a:t>  "site_label": "운영 거점",</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7680,</a:t>
            </a:r>
          </a:p>
          <a:p>
            <a:r>
              <a:t>  "funded_capacity": 7680,</a:t>
            </a:r>
          </a:p>
          <a:p>
            <a:r>
              <a:t>  "scale_rule": "운영 거점 = ceil(√(월평균 ML 방문 전망 ÷ 100,000)), 최소 1·최대 12개",</a:t>
            </a:r>
          </a:p>
          <a:p>
            <a:r>
              <a:t>  "capacity_formula": "6개 × 월 8일 × 2개월 × 하루 2회 × 회당 40명 = 7,680명분",</a:t>
            </a:r>
          </a:p>
          <a:p>
            <a:r>
              <a:t>  "scale_kind": "planning_rule_not_population_model",</a:t>
            </a:r>
          </a:p>
          <a:p>
            <a:r>
              <a:t>  "spending_per_visit_proxy_krw": 42052.16575743384,</a:t>
            </a:r>
          </a:p>
          <a:p>
            <a:r>
              <a:t>  "program_purchase_krw": 42052.16575743384,</a:t>
            </a:r>
          </a:p>
          <a:p>
            <a:r>
              <a:t>  "existing_participant_extra_spend_krw": 12000,</a:t>
            </a:r>
          </a:p>
          <a:p>
            <a:r>
              <a:t>  "spending_formula": "추가 방문 × 계획 결제 42,052원 + 기존 방문 참여 × 추가 구매 12,000원",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5760,</a:t>
            </a:r>
          </a:p>
          <a:p>
            <a:r>
              <a:t>      "additional_visitors": 864,</a:t>
            </a:r>
          </a:p>
          <a:p>
            <a:r>
              <a:t>      "additional_spending_krw": 95085071,</a:t>
            </a:r>
          </a:p>
          <a:p>
            <a:r>
              <a:t>      "participant_purchases_krw": 242220475,</a:t>
            </a:r>
          </a:p>
          <a:p>
            <a:r>
              <a:t>      "expected_support_krw": 57600000,</a:t>
            </a:r>
          </a:p>
          <a:p>
            <a:r>
              <a:t>      "expected_budget_krw": 96800000,</a:t>
            </a:r>
          </a:p>
          <a:p>
            <a:r>
              <a:t>      "visitor_growth_pct": 0.008166224250756015,</a:t>
            </a:r>
          </a:p>
          <a:p>
            <a:r>
              <a:t>      "spending_growth_pct": 0.021371328839848314,</a:t>
            </a:r>
          </a:p>
          <a:p>
            <a:r>
              <a:t>      "visitor_target_pct": 0.016718434473411883,</a:t>
            </a:r>
          </a:p>
          <a:p>
            <a:r>
              <a:t>      "spending_target_pct": 0.042848636708852965</a:t>
            </a:r>
          </a:p>
          <a:p>
            <a:r>
              <a:t>    },</a:t>
            </a:r>
          </a:p>
          <a:p>
            <a:r>
              <a:t>    {</a:t>
            </a:r>
          </a:p>
          <a:p>
            <a:r>
              <a:t>      "label": "기준",</a:t>
            </a:r>
          </a:p>
          <a:p>
            <a:r>
              <a:t>      "utilization_pct": 75.0,</a:t>
            </a:r>
          </a:p>
          <a:p>
            <a:r>
              <a:t>      "additional_visitor_share_pct": 30.0,</a:t>
            </a:r>
          </a:p>
          <a:p>
            <a:r>
              <a:t>      "participants": 5760,</a:t>
            </a:r>
          </a:p>
          <a:p>
            <a:r>
              <a:t>      "additional_visitors": 1728,</a:t>
            </a:r>
          </a:p>
          <a:p>
            <a:r>
              <a:t>      "additional_spending_krw": 121050142,</a:t>
            </a:r>
          </a:p>
          <a:p>
            <a:r>
              <a:t>      "participant_purchases_krw": 242220475,</a:t>
            </a:r>
          </a:p>
          <a:p>
            <a:r>
              <a:t>      "expected_support_krw": 57600000,</a:t>
            </a:r>
          </a:p>
          <a:p>
            <a:r>
              <a:t>      "expected_budget_krw": 96800000,</a:t>
            </a:r>
          </a:p>
          <a:p>
            <a:r>
              <a:t>      "visitor_growth_pct": 0.01633244850151203,</a:t>
            </a:r>
          </a:p>
          <a:p>
            <a:r>
              <a:t>      "spending_growth_pct": 0.02720724045936016,</a:t>
            </a:r>
          </a:p>
          <a:p>
            <a:r>
              <a:t>      "visitor_target_pct": 0.03343686894682377,</a:t>
            </a:r>
          </a:p>
          <a:p>
            <a:r>
              <a:t>      "spending_target_pct": 0.05454939985387469</a:t>
            </a:r>
          </a:p>
          <a:p>
            <a:r>
              <a:t>    },</a:t>
            </a:r>
          </a:p>
          <a:p>
            <a:r>
              <a:t>    {</a:t>
            </a:r>
          </a:p>
          <a:p>
            <a:r>
              <a:t>      "label": "확대",</a:t>
            </a:r>
          </a:p>
          <a:p>
            <a:r>
              <a:t>      "utilization_pct": 90.0,</a:t>
            </a:r>
          </a:p>
          <a:p>
            <a:r>
              <a:t>      "additional_visitor_share_pct": 44.99999999999999,</a:t>
            </a:r>
          </a:p>
          <a:p>
            <a:r>
              <a:t>      "participants": 6912,</a:t>
            </a:r>
          </a:p>
          <a:p>
            <a:r>
              <a:t>      "additional_visitors": 3110,</a:t>
            </a:r>
          </a:p>
          <a:p>
            <a:r>
              <a:t>      "additional_spending_krw": 176406236,</a:t>
            </a:r>
          </a:p>
          <a:p>
            <a:r>
              <a:t>      "participant_purchases_krw": 290664570,</a:t>
            </a:r>
          </a:p>
          <a:p>
            <a:r>
              <a:t>      "expected_support_krw": 69120000,</a:t>
            </a:r>
          </a:p>
          <a:p>
            <a:r>
              <a:t>      "expected_budget_krw": 109472000,</a:t>
            </a:r>
          </a:p>
          <a:p>
            <a:r>
              <a:t>      "visitor_growth_pct": 0.029394626643346296,</a:t>
            </a:r>
          </a:p>
          <a:p>
            <a:r>
              <a:t>      "spending_growth_pct": 0.03964908096830351,</a:t>
            </a:r>
          </a:p>
          <a:p>
            <a:r>
              <a:t>      "visitor_target_pct": 0.06017862408832287,</a:t>
            </a:r>
          </a:p>
          <a:p>
            <a:r>
              <a:t>      "spending_target_pct": 0.07949477914929652</a:t>
            </a:r>
          </a:p>
          <a:p>
            <a:r>
              <a:t>    }</a:t>
            </a:r>
          </a:p>
          <a:p>
            <a:r>
              <a:t>  ],</a:t>
            </a:r>
          </a:p>
          <a:p>
            <a:r>
              <a:t>  "central": {</a:t>
            </a:r>
          </a:p>
          <a:p>
            <a:r>
              <a:t>    "label": "기준",</a:t>
            </a:r>
          </a:p>
          <a:p>
            <a:r>
              <a:t>    "utilization_pct": 75.0,</a:t>
            </a:r>
          </a:p>
          <a:p>
            <a:r>
              <a:t>    "additional_visitor_share_pct": 30.0,</a:t>
            </a:r>
          </a:p>
          <a:p>
            <a:r>
              <a:t>    "participants": 5760,</a:t>
            </a:r>
          </a:p>
          <a:p>
            <a:r>
              <a:t>    "additional_visitors": 1728,</a:t>
            </a:r>
          </a:p>
          <a:p>
            <a:r>
              <a:t>    "additional_spending_krw": 121050142,</a:t>
            </a:r>
          </a:p>
          <a:p>
            <a:r>
              <a:t>    "participant_purchases_krw": 242220475,</a:t>
            </a:r>
          </a:p>
          <a:p>
            <a:r>
              <a:t>    "expected_support_krw": 57600000,</a:t>
            </a:r>
          </a:p>
          <a:p>
            <a:r>
              <a:t>    "expected_budget_krw": 96800000,</a:t>
            </a:r>
          </a:p>
          <a:p>
            <a:r>
              <a:t>    "visitor_growth_pct": 0.01633244850151203,</a:t>
            </a:r>
          </a:p>
          <a:p>
            <a:r>
              <a:t>    "spending_growth_pct": 0.02720724045936016,</a:t>
            </a:r>
          </a:p>
          <a:p>
            <a:r>
              <a:t>    "visitor_target_pct": 0.03343686894682377,</a:t>
            </a:r>
          </a:p>
          <a:p>
            <a:r>
              <a:t>    "spending_target_pct": 0.05454939985387469</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2개월 × 하루 2회 × 회당 40명 = 7,680명분. 편성 한도 7,680명분에 이용률 75%를 적용해 5,760명 참여, 추가 방문 비중 30%로 1,728명 유치를 제안합니다. 기간 합계 ML 전망 대비 방문 +0.02%, 소비 +0.03%의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"6개 × 월 8일 × 2개월 × 하루 2회 × 회당 40명 = 7,680명분 → 참여 목표 5,760건의 예상 집행액. 모든 단가는 기획 가정.",</a:t>
            </a:r>
          </a:p>
          <a:p>
            <a:r>
              <a:t>    "months": 2,</a:t>
            </a:r>
          </a:p>
          <a:p>
            <a:r>
              <a:t>    "refund": false,</a:t>
            </a:r>
          </a:p>
          <a:p>
            <a:r>
              <a:t>    "quantity": 5760,</a:t>
            </a:r>
          </a:p>
          <a:p>
            <a:r>
              <a:t>    "unit_krw": 10000,</a:t>
            </a:r>
          </a:p>
          <a:p>
            <a:r>
              <a:t>    "capacity_quantity": 7680,</a:t>
            </a:r>
          </a:p>
          <a:p>
            <a:r>
              <a:t>    "per_claim_cap_krw": null,</a:t>
            </a:r>
          </a:p>
          <a:p>
            <a:r>
              <a:t>    "refund_rate_pct": null,</a:t>
            </a:r>
          </a:p>
          <a:p>
            <a:r>
              <a:t>    "redemption_target_pct": 75.0,</a:t>
            </a:r>
          </a:p>
          <a:p>
            <a:r>
              <a:t>    "redemption_count": 5760,</a:t>
            </a:r>
          </a:p>
          <a:p>
            <a:r>
              <a:t>    "qualifying_spend_krw": null,</a:t>
            </a:r>
          </a:p>
          <a:p>
            <a:r>
              <a:t>    "subtotal_krw": 88000000,</a:t>
            </a:r>
          </a:p>
          <a:p>
            <a:r>
              <a:t>    "reserve_krw": 8800000,</a:t>
            </a:r>
          </a:p>
          <a:p>
            <a:r>
              <a:t>    "total_krw": 96800000,</a:t>
            </a:r>
          </a:p>
          <a:p>
            <a:r>
              <a:t>    "within_hard_budget": true,</a:t>
            </a:r>
          </a:p>
          <a:p>
            <a:r>
              <a:t>    "full_participation_budget_krw": 117920000,</a:t>
            </a:r>
          </a:p>
          <a:p>
            <a:r>
              <a:t>    "participant_purchases_krw": 242220475,</a:t>
            </a:r>
          </a:p>
          <a:p>
            <a:r>
              <a:t>    "additional_spending_krw": 121050142,</a:t>
            </a:r>
          </a:p>
          <a:p>
            <a:r>
              <a:t>    "scenario_note": "참여자 결제 242,220,475원 중 추가 소비 목표 121,050,142원. 견적은 같은 참여 목표의 사업비이며, 결제액 전체를 신규 소비나 사업 수익으로 계산하지 않습니다.",</a:t>
            </a:r>
          </a:p>
          <a:p>
            <a:r>
              <a:t>    "items": [</a:t>
            </a:r>
          </a:p>
          <a:p>
            <a:r>
              <a:t>      {</a:t>
            </a:r>
          </a:p>
          <a:p>
            <a:r>
              <a:t>        "name": "프로그램 운영·참여 지원",</a:t>
            </a:r>
          </a:p>
          <a:p>
            <a:r>
              <a:t>        "basis": "참여 목표 5,760명 × 계획 지원단가 10,000원",</a:t>
            </a:r>
          </a:p>
          <a:p>
            <a:r>
              <a:t>        "amount": 57600000</a:t>
            </a:r>
          </a:p>
          <a:p>
            <a:r>
              <a:t>      },</a:t>
            </a:r>
          </a:p>
          <a:p>
            <a:r>
              <a:t>      {</a:t>
            </a:r>
          </a:p>
          <a:p>
            <a:r>
              <a:t>        "name": "현장 운영·정산",</a:t>
            </a:r>
          </a:p>
          <a:p>
            <a:r>
              <a:t>        "basis": "6개 운영팀 × 월 8일 × 2개월 × 150,000원",</a:t>
            </a:r>
          </a:p>
          <a:p>
            <a:r>
              <a:t>        "amount": 14400000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88,000,000원 × 10%",</a:t>
            </a:r>
          </a:p>
          <a:p>
            <a:r>
              <a:t>        "amount": 8800000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12,000원과 ML 소비/방문 비율의 50% 중 작은 값입니다."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33440001,</a:t>
            </a:r>
          </a:p>
          <a:p>
            <a:r>
              <a:t>  "family": "night_time_experience",</a:t>
            </a:r>
          </a:p>
          <a:p>
            <a:r>
              <a:t>  "program_label": "야간 문화·체험",</a:t>
            </a:r>
          </a:p>
          <a:p>
            <a:r>
              <a:t>  "site_label": "운영 거점",</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7680,</a:t>
            </a:r>
          </a:p>
          <a:p>
            <a:r>
              <a:t>  "funded_capacity": 7680,</a:t>
            </a:r>
          </a:p>
          <a:p>
            <a:r>
              <a:t>  "scale_rule": "운영 거점 = ceil(√(월평균 ML 방문 전망 ÷ 100,000)), 최소 1·최대 12개",</a:t>
            </a:r>
          </a:p>
          <a:p>
            <a:r>
              <a:t>  "capacity_formula": "6개 × 월 8일 × 2개월 × 하루 2회 × 회당 40명 = 7,680명분",</a:t>
            </a:r>
          </a:p>
          <a:p>
            <a:r>
              <a:t>  "scale_kind": "planning_rule_not_population_model",</a:t>
            </a:r>
          </a:p>
          <a:p>
            <a:r>
              <a:t>  "spending_per_visit_proxy_krw": 42052.16575743384,</a:t>
            </a:r>
          </a:p>
          <a:p>
            <a:r>
              <a:t>  "program_purchase_krw": 42052.16575743384,</a:t>
            </a:r>
          </a:p>
          <a:p>
            <a:r>
              <a:t>  "existing_participant_extra_spend_krw": 12000,</a:t>
            </a:r>
          </a:p>
          <a:p>
            <a:r>
              <a:t>  "spending_formula": "추가 방문 × 계획 결제 42,052원 + 기존 방문 참여 × 추가 구매 12,000원",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5760,</a:t>
            </a:r>
          </a:p>
          <a:p>
            <a:r>
              <a:t>      "additional_visitors": 864,</a:t>
            </a:r>
          </a:p>
          <a:p>
            <a:r>
              <a:t>      "additional_spending_krw": 95085071,</a:t>
            </a:r>
          </a:p>
          <a:p>
            <a:r>
              <a:t>      "participant_purchases_krw": 242220475,</a:t>
            </a:r>
          </a:p>
          <a:p>
            <a:r>
              <a:t>      "expected_support_krw": 57600000,</a:t>
            </a:r>
          </a:p>
          <a:p>
            <a:r>
              <a:t>      "expected_budget_krw": 96800000,</a:t>
            </a:r>
          </a:p>
          <a:p>
            <a:r>
              <a:t>      "visitor_growth_pct": 0.008166224250756015,</a:t>
            </a:r>
          </a:p>
          <a:p>
            <a:r>
              <a:t>      "spending_growth_pct": 0.021371328839848314,</a:t>
            </a:r>
          </a:p>
          <a:p>
            <a:r>
              <a:t>      "visitor_target_pct": 0.016718434473411883,</a:t>
            </a:r>
          </a:p>
          <a:p>
            <a:r>
              <a:t>      "spending_target_pct": 0.042848636708852965</a:t>
            </a:r>
          </a:p>
          <a:p>
            <a:r>
              <a:t>    },</a:t>
            </a:r>
          </a:p>
          <a:p>
            <a:r>
              <a:t>    {</a:t>
            </a:r>
          </a:p>
          <a:p>
            <a:r>
              <a:t>      "label": "기준",</a:t>
            </a:r>
          </a:p>
          <a:p>
            <a:r>
              <a:t>      "utilization_pct": 75.0,</a:t>
            </a:r>
          </a:p>
          <a:p>
            <a:r>
              <a:t>      "additional_visitor_share_pct": 30.0,</a:t>
            </a:r>
          </a:p>
          <a:p>
            <a:r>
              <a:t>      "participants": 5760,</a:t>
            </a:r>
          </a:p>
          <a:p>
            <a:r>
              <a:t>      "additional_visitors": 1728,</a:t>
            </a:r>
          </a:p>
          <a:p>
            <a:r>
              <a:t>      "additional_spending_krw": 121050142,</a:t>
            </a:r>
          </a:p>
          <a:p>
            <a:r>
              <a:t>      "participant_purchases_krw": 242220475,</a:t>
            </a:r>
          </a:p>
          <a:p>
            <a:r>
              <a:t>      "expected_support_krw": 57600000,</a:t>
            </a:r>
          </a:p>
          <a:p>
            <a:r>
              <a:t>      "expected_budget_krw": 96800000,</a:t>
            </a:r>
          </a:p>
          <a:p>
            <a:r>
              <a:t>      "visitor_growth_pct": 0.01633244850151203,</a:t>
            </a:r>
          </a:p>
          <a:p>
            <a:r>
              <a:t>      "spending_growth_pct": 0.02720724045936016,</a:t>
            </a:r>
          </a:p>
          <a:p>
            <a:r>
              <a:t>      "visitor_target_pct": 0.03343686894682377,</a:t>
            </a:r>
          </a:p>
          <a:p>
            <a:r>
              <a:t>      "spending_target_pct": 0.05454939985387469</a:t>
            </a:r>
          </a:p>
          <a:p>
            <a:r>
              <a:t>    },</a:t>
            </a:r>
          </a:p>
          <a:p>
            <a:r>
              <a:t>    {</a:t>
            </a:r>
          </a:p>
          <a:p>
            <a:r>
              <a:t>      "label": "확대",</a:t>
            </a:r>
          </a:p>
          <a:p>
            <a:r>
              <a:t>      "utilization_pct": 90.0,</a:t>
            </a:r>
          </a:p>
          <a:p>
            <a:r>
              <a:t>      "additional_visitor_share_pct": 44.99999999999999,</a:t>
            </a:r>
          </a:p>
          <a:p>
            <a:r>
              <a:t>      "participants": 6912,</a:t>
            </a:r>
          </a:p>
          <a:p>
            <a:r>
              <a:t>      "additional_visitors": 3110,</a:t>
            </a:r>
          </a:p>
          <a:p>
            <a:r>
              <a:t>      "additional_spending_krw": 176406236,</a:t>
            </a:r>
          </a:p>
          <a:p>
            <a:r>
              <a:t>      "participant_purchases_krw": 290664570,</a:t>
            </a:r>
          </a:p>
          <a:p>
            <a:r>
              <a:t>      "expected_support_krw": 69120000,</a:t>
            </a:r>
          </a:p>
          <a:p>
            <a:r>
              <a:t>      "expected_budget_krw": 109472000,</a:t>
            </a:r>
          </a:p>
          <a:p>
            <a:r>
              <a:t>      "visitor_growth_pct": 0.029394626643346296,</a:t>
            </a:r>
          </a:p>
          <a:p>
            <a:r>
              <a:t>      "spending_growth_pct": 0.03964908096830351,</a:t>
            </a:r>
          </a:p>
          <a:p>
            <a:r>
              <a:t>      "visitor_target_pct": 0.06017862408832287,</a:t>
            </a:r>
          </a:p>
          <a:p>
            <a:r>
              <a:t>      "spending_target_pct": 0.07949477914929652</a:t>
            </a:r>
          </a:p>
          <a:p>
            <a:r>
              <a:t>    }</a:t>
            </a:r>
          </a:p>
          <a:p>
            <a:r>
              <a:t>  ],</a:t>
            </a:r>
          </a:p>
          <a:p>
            <a:r>
              <a:t>  "central": {</a:t>
            </a:r>
          </a:p>
          <a:p>
            <a:r>
              <a:t>    "label": "기준",</a:t>
            </a:r>
          </a:p>
          <a:p>
            <a:r>
              <a:t>    "utilization_pct": 75.0,</a:t>
            </a:r>
          </a:p>
          <a:p>
            <a:r>
              <a:t>    "additional_visitor_share_pct": 30.0,</a:t>
            </a:r>
          </a:p>
          <a:p>
            <a:r>
              <a:t>    "participants": 5760,</a:t>
            </a:r>
          </a:p>
          <a:p>
            <a:r>
              <a:t>    "additional_visitors": 1728,</a:t>
            </a:r>
          </a:p>
          <a:p>
            <a:r>
              <a:t>    "additional_spending_krw": 121050142,</a:t>
            </a:r>
          </a:p>
          <a:p>
            <a:r>
              <a:t>    "participant_purchases_krw": 242220475,</a:t>
            </a:r>
          </a:p>
          <a:p>
            <a:r>
              <a:t>    "expected_support_krw": 57600000,</a:t>
            </a:r>
          </a:p>
          <a:p>
            <a:r>
              <a:t>    "expected_budget_krw": 96800000,</a:t>
            </a:r>
          </a:p>
          <a:p>
            <a:r>
              <a:t>    "visitor_growth_pct": 0.01633244850151203,</a:t>
            </a:r>
          </a:p>
          <a:p>
            <a:r>
              <a:t>    "spending_growth_pct": 0.02720724045936016,</a:t>
            </a:r>
          </a:p>
          <a:p>
            <a:r>
              <a:t>    "visitor_target_pct": 0.03343686894682377,</a:t>
            </a:r>
          </a:p>
          <a:p>
            <a:r>
              <a:t>    "spending_target_pct": 0.05454939985387469</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2개월 × 하루 2회 × 회당 40명 = 7,680명분. 편성 한도 7,680명분에 이용률 75%를 적용해 5,760명 참여, 추가 방문 비중 30%로 1,728명 유치를 제안합니다. 기간 합계 ML 전망 대비 방문 +0.02%, 소비 +0.03%의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"6개 × 월 8일 × 2개월 × 하루 2회 × 회당 40명 = 7,680명분 → 참여 목표 5,760건의 예상 집행액. 모든 단가는 기획 가정.",</a:t>
            </a:r>
          </a:p>
          <a:p>
            <a:r>
              <a:t>    "months": 2,</a:t>
            </a:r>
          </a:p>
          <a:p>
            <a:r>
              <a:t>    "refund": false,</a:t>
            </a:r>
          </a:p>
          <a:p>
            <a:r>
              <a:t>    "quantity": 5760,</a:t>
            </a:r>
          </a:p>
          <a:p>
            <a:r>
              <a:t>    "unit_krw": 10000,</a:t>
            </a:r>
          </a:p>
          <a:p>
            <a:r>
              <a:t>    "capacity_quantity": 7680,</a:t>
            </a:r>
          </a:p>
          <a:p>
            <a:r>
              <a:t>    "per_claim_cap_krw": null,</a:t>
            </a:r>
          </a:p>
          <a:p>
            <a:r>
              <a:t>    "refund_rate_pct": null,</a:t>
            </a:r>
          </a:p>
          <a:p>
            <a:r>
              <a:t>    "redemption_target_pct": 75.0,</a:t>
            </a:r>
          </a:p>
          <a:p>
            <a:r>
              <a:t>    "redemption_count": 5760,</a:t>
            </a:r>
          </a:p>
          <a:p>
            <a:r>
              <a:t>    "qualifying_spend_krw": null,</a:t>
            </a:r>
          </a:p>
          <a:p>
            <a:r>
              <a:t>    "subtotal_krw": 88000000,</a:t>
            </a:r>
          </a:p>
          <a:p>
            <a:r>
              <a:t>    "reserve_krw": 8800000,</a:t>
            </a:r>
          </a:p>
          <a:p>
            <a:r>
              <a:t>    "total_krw": 96800000,</a:t>
            </a:r>
          </a:p>
          <a:p>
            <a:r>
              <a:t>    "within_hard_budget": true,</a:t>
            </a:r>
          </a:p>
          <a:p>
            <a:r>
              <a:t>    "full_participation_budget_krw": 117920000,</a:t>
            </a:r>
          </a:p>
          <a:p>
            <a:r>
              <a:t>    "participant_purchases_krw": 242220475,</a:t>
            </a:r>
          </a:p>
          <a:p>
            <a:r>
              <a:t>    "additional_spending_krw": 121050142,</a:t>
            </a:r>
          </a:p>
          <a:p>
            <a:r>
              <a:t>    "scenario_note": "참여자 결제 242,220,475원 중 추가 소비 목표 121,050,142원. 견적은 같은 참여 목표의 사업비이며, 결제액 전체를 신규 소비나 사업 수익으로 계산하지 않습니다.",</a:t>
            </a:r>
          </a:p>
          <a:p>
            <a:r>
              <a:t>    "items": [</a:t>
            </a:r>
          </a:p>
          <a:p>
            <a:r>
              <a:t>      {</a:t>
            </a:r>
          </a:p>
          <a:p>
            <a:r>
              <a:t>        "name": "프로그램 운영·참여 지원",</a:t>
            </a:r>
          </a:p>
          <a:p>
            <a:r>
              <a:t>        "basis": "참여 목표 5,760명 × 계획 지원단가 10,000원",</a:t>
            </a:r>
          </a:p>
          <a:p>
            <a:r>
              <a:t>        "amount": 57600000</a:t>
            </a:r>
          </a:p>
          <a:p>
            <a:r>
              <a:t>      },</a:t>
            </a:r>
          </a:p>
          <a:p>
            <a:r>
              <a:t>      {</a:t>
            </a:r>
          </a:p>
          <a:p>
            <a:r>
              <a:t>        "name": "현장 운영·정산",</a:t>
            </a:r>
          </a:p>
          <a:p>
            <a:r>
              <a:t>        "basis": "6개 운영팀 × 월 8일 × 2개월 × 150,000원",</a:t>
            </a:r>
          </a:p>
          <a:p>
            <a:r>
              <a:t>        "amount": 14400000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88,000,000원 × 10%",</a:t>
            </a:r>
          </a:p>
          <a:p>
            <a:r>
              <a:t>        "amount": 8800000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12,000원과 ML 소비/방문 비율의 50% 중 작은 값입니다."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www.junggu.seoul.kr/content.do?cid=1280957763&amp;cmsid=14390&amp;mode=view"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2026.09.16</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+30.00%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4,450억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+1,728명, 관광소비액 약 +1억 2,105만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제주특별자치도 제주시의 2개월 운영안</a:t>
            </a:r>
          </a:p>
          <a:p>
            <a:pPr eaLnBrk="0">
              <a:lnSpc>
                <a:spcPts val="2437"/>
              </a:lnSpc>
              <a:spcBef>
                <a:spcPts val="0"/>
              </a:spcBef>
              <a:spcAft>
                <a:spcPts val="0"/>
              </a:spcAft>
            </a:pPr>
            <a:r>
              <a:rPr sz="1950" b="0">
                <a:solidFill>
                  <a:srgbClr val="62666C"/>
                </a:solidFill>
                <a:latin typeface="Noto Sans KR"/>
              </a:rPr>
              <a:t>운영 산정 기간 2026-11 ~ 2026-12</a:t>
            </a:r>
          </a:p>
          <a:p>
            <a:pPr eaLnBrk="0">
              <a:lnSpc>
                <a:spcPts val="2437"/>
              </a:lnSpc>
              <a:spcBef>
                <a:spcPts val="0"/>
              </a:spcBef>
              <a:spcAft>
                <a:spcPts val="0"/>
              </a:spcAft>
            </a:pPr>
            <a:r>
              <a:rPr sz="1950" b="0">
                <a:solidFill>
                  <a:srgbClr val="62666C"/>
                </a:solidFill>
                <a:latin typeface="Noto Sans KR"/>
              </a:rPr>
              <a:t>편성 정원 7,680명분 × 이용률 75%</a:t>
            </a:r>
          </a:p>
          <a:p>
            <a:pPr eaLnBrk="0">
              <a:lnSpc>
                <a:spcPts val="2437"/>
              </a:lnSpc>
              <a:spcBef>
                <a:spcPts val="0"/>
              </a:spcBef>
              <a:spcAft>
                <a:spcPts val="0"/>
              </a:spcAft>
            </a:pPr>
            <a:r>
              <a:rPr sz="1950" b="0">
                <a:solidFill>
                  <a:srgbClr val="62666C"/>
                </a:solidFill>
                <a:latin typeface="Noto Sans KR"/>
              </a:rPr>
              <a:t>예상 참여 5,760명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1,728명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6개 거점 × 월 8일 × 2개월</a:t>
            </a:r>
          </a:p>
          <a:p>
            <a:pPr eaLnBrk="0">
              <a:lnSpc>
                <a:spcPts val="2062"/>
              </a:lnSpc>
              <a:spcBef>
                <a:spcPts val="0"/>
              </a:spcBef>
              <a:spcAft>
                <a:spcPts val="0"/>
              </a:spcAft>
            </a:pPr>
            <a:r>
              <a:rPr sz="1650" b="0">
                <a:solidFill>
                  <a:srgbClr val="62666C"/>
                </a:solidFill>
                <a:latin typeface="Noto Sans KR"/>
              </a:rPr>
              <a:t>× 하루 2회 × 회당 40명 = 7,680명분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1,728명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1.21억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3,594,911명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601명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3,371,920명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1,127명 · 0.03%</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10,581,893명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1,728명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1,728명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0만 원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1,451.25억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3,957만 원 · 0.03%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1,494.48억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8,148만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4,450.40억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1.21억 원 · 0.03%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1.21억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9,680만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57,600,000원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 목표 5,760명 × 계획 지원단가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14,400,000원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운영팀 × 월 8일 × 2개월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8,800,000원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88,000,000원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242,220,475원 중 추가 소비 목표 121,050,142원.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117,920,000원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5,760명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7,680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1,728명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2개월 × 하루 2회 × 회당 40명 = 7,680명분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2026-11~2026-12 운영 · 예상 견적 9,680만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서울 중구 · 정동야행: 행사 방문객 100,000 → 130,000명, 차이 +30,000명. 우리 지역 운영 정원과 집계 기준이 다릅니다.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제주특별자치도 제주시: 월평균 ML 방문 352.7만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+0.03%</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추가 방문 × 계획 결제 42,052원 + 기존 방문 참여 × 추가 구매 12,000원</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