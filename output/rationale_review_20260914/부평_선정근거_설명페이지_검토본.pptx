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618d7671ebe14b00" Type="http://schemas.openxmlformats.org/officeDocument/2006/relationships/theme" Target="theme/theme1.xml"/><Relationship Id="R667c03bfc37b4314" Type="http://schemas.openxmlformats.org/officeDocument/2006/relationships/presProps" Target="presProps.xml"/><Relationship Id="R886a7c7854c24ea4" Type="http://schemas.openxmlformats.org/officeDocument/2006/relationships/slide" Target="slides/slide1.xml"/><Relationship Id="Rdef75127518841e9"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응답을 사용한 출력 검수본이며 운영 보고서로 저장하지 않았습니다.</a:t>
            </a:r>
          </a:p>
          <a:p xmlns:a="http://schemas.openxmlformats.org/drawingml/2006/main"/>
          <a:p xmlns:a="http://schemas.openxmlformats.org/drawingml/2006/main">
            <a:r>
              <a:t>선정에 연결한 관측·전망</a:t>
            </a:r>
          </a:p>
          <a:p xmlns:a="http://schemas.openxmlformats.org/drawingml/2006/main">
            <a:r>
              <a:t>관측 · 월간 외지인 관광소비 총액: 77,138,204,000원 (관측 기준월: 2026-06) · 출처 dataset:28237:3</a:t>
            </a:r>
          </a:p>
          <a:p xmlns:a="http://schemas.openxmlformats.org/drawingml/2006/main">
            <a:r>
              <a:t>ML 전망 · spending_krw · 202610~202612 · 243545949020.0 원 · 집계 3_month_sum · 모델 평가 below_baseline_on_test · 출처 ml:28237:regional-demand-v3.1:202606</a:t>
            </a:r>
          </a:p>
          <a:p xmlns:a="http://schemas.openxmlformats.org/drawingml/2006/main"/>
          <a:p xmlns:a="http://schemas.openxmlformats.org/drawingml/2006/main">
            <a:r>
              <a:t>우리 지역에 적용할 가설</a:t>
            </a:r>
          </a:p>
          <a:p xmlns:a="http://schemas.openxmlformats.org/drawingml/2006/main">
            <a:r>
              <a:t>행사장 방문객의 소비가 인근 상권(부평종합시장, 모다아울렛 등)으로 이동하도록 스탬프와 할인 혜택을 제공한다.</a:t>
            </a:r>
          </a:p>
          <a:p xmlns:a="http://schemas.openxmlformats.org/drawingml/2006/main"/>
          <a:p xmlns:a="http://schemas.openxmlformats.org/drawingml/2006/main">
            <a:r>
              <a:t>같은 기준의 후보 비교</a:t>
            </a:r>
          </a:p>
          <a:p xmlns:a="http://schemas.openxmlformats.org/drawingml/2006/main">
            <a:r>
              <a:t>이용 행동 · 방문객이 무엇을 하고 어떤 조건으로 혜택을 받는가</a:t>
            </a:r>
          </a:p>
          <a:p xmlns:a="http://schemas.openxmlformats.org/drawingml/2006/main">
            <a:r>
              <a:t>거점 시설 방문 후 스탬프를 모아 인근 상점에서 할인 혜택을 받으며 결제한다.</a:t>
            </a:r>
          </a:p>
          <a:p xmlns:a="http://schemas.openxmlformats.org/drawingml/2006/main">
            <a:r>
              <a:t>운영 준비 · 참여처·인력·시간·시스템 중 무엇을 준비하는가</a:t>
            </a:r>
          </a:p>
          <a:p xmlns:a="http://schemas.openxmlformats.org/drawingml/2006/main">
            <a:r>
              <a:t>상인회 협의, 스탬프 투어 플랫폼 운영, 참여 상점 모집 및 교육을 준비한다.</a:t>
            </a:r>
          </a:p>
          <a:p xmlns:a="http://schemas.openxmlformats.org/drawingml/2006/main">
            <a:r>
              <a:t>성과 확인 · 어떤 원장과 분자·분모로 이용 결과를 확인하는가</a:t>
            </a:r>
          </a:p>
          <a:p xmlns:a="http://schemas.openxmlformats.org/drawingml/2006/main">
            <a:r>
              <a:t>참여 상점의 매출 증가분과 쿠폰 사용 건수를 확인한다.</a:t>
            </a:r>
          </a:p>
          <a:p xmlns:a="http://schemas.openxmlformats.org/drawingml/2006/main"/>
          <a:p xmlns:a="http://schemas.openxmlformats.org/drawingml/2006/main">
            <a:r>
              <a:t>선택 이유와 감수할 조건</a:t>
            </a:r>
          </a:p>
          <a:p xmlns:a="http://schemas.openxmlformats.org/drawingml/2006/main">
            <a:r>
              <a:t>선택안은 기존 상점의 결제 원장을 확인하는 흐름을 설계하기 용이하여 소비 전환 효과를 측정하기에 유리함. 대안인 야간 프로그램은 야간 운영 시간 및 안전 관리 준비가 더 필요하며, 디지털 주민증은 플랫폼 연계 및 가맹점 확보의 불확실성이 있음. 다만 선택안도 상인회와의 정산 협약 확보가 선행되어야 함.</a:t>
            </a:r>
          </a:p>
          <a:p xmlns:a="http://schemas.openxmlformats.org/drawingml/2006/main">
            <a:r>
              <a:t>대규모 행사 대비 방문객 유입 규모는 작을 수 있으며, 상점별 매출 편차가 발생할 수 있다.</a:t>
            </a:r>
          </a:p>
          <a:p xmlns:a="http://schemas.openxmlformats.org/drawingml/2006/main">
            <a:r>
              <a:t>선정 이유는 기획 판단이며 사업 효과의 예측·보장이 아닙니다.</a:t>
            </a:r>
          </a:p>
          <a:p xmlns:a="http://schemas.openxmlformats.org/drawingml/2006/main"/>
          <a:p xmlns:a="http://schemas.openxmlformats.org/drawingml/2006/main">
            <a:r>
              <a:t>{</a:t>
            </a:r>
          </a:p>
          <a:p xmlns:a="http://schemas.openxmlformats.org/drawingml/2006/main">
            <a:r>
              <a:t>  "region_name": "인천광역시 부평구",</a:t>
            </a:r>
          </a:p>
          <a:p xmlns:a="http://schemas.openxmlformats.org/drawingml/2006/main">
            <a:r>
              <a:t>  "planning_decision": {</a:t>
            </a:r>
          </a:p>
          <a:p xmlns:a="http://schemas.openxmlformats.org/drawingml/2006/main">
            <a:r>
              <a:t>    "diagnosis_summary": "부평구는 2026년 10~12월 전망에서 방문자 수(-2.15%)와 관광소비액(-3.24%)이 전년 동기 대비 감소할 것으로 예측됩니다. 관측된 업종별 소비 비중은 쇼핑(35.4%)과 식음료업(35.3%)이 높으나 숙박업(0.5%)은 매우 낮습니다. 따라서 기존 거점 방문객의 동선을 인근 상권으로 유도하여 결제로 연결하는 운영 가설을 제안합니다.",</a:t>
            </a:r>
          </a:p>
          <a:p xmlns:a="http://schemas.openxmlformats.org/drawingml/2006/main">
            <a:r>
              <a:t>    "design_candidates": [</a:t>
            </a:r>
          </a:p>
          <a:p xmlns:a="http://schemas.openxmlformats.org/drawingml/2006/main">
            <a:r>
              <a:t>      {</a:t>
            </a:r>
          </a:p>
          <a:p xmlns:a="http://schemas.openxmlformats.org/drawingml/2006/main">
            <a:r>
              <a:t>        "candidate_id": "cand_001",</a:t>
            </a:r>
          </a:p>
          <a:p xmlns:a="http://schemas.openxmlformats.org/drawingml/2006/main">
            <a:r>
              <a:t>        "candidate_type": "spend_conversion",</a:t>
            </a:r>
          </a:p>
          <a:p xmlns:a="http://schemas.openxmlformats.org/drawingml/2006/main">
            <a:r>
              <a:t>        "title": "부평 상권 연계 가든 스탬프 투어 및 상점 할인 프로모션",</a:t>
            </a:r>
          </a:p>
          <a:p xmlns:a="http://schemas.openxmlformats.org/drawingml/2006/main">
            <a:r>
              <a:t>        "mechanism": "지역 거점(공원·문화시설) 방문객이 인근 상권(전통시장·쇼핑몰)을 방문하도록 스탬프 투어와 할인 혜택을 결합하여 소비를 유도함",</a:t>
            </a:r>
          </a:p>
          <a:p xmlns:a="http://schemas.openxmlformats.org/drawingml/2006/main">
            <a:r>
              <a:t>        "local_fit": "2026년 10~12월 전망된 관광소비액 감소 추세(ml:28237:regional-demand-v3.1:202606)에 대응하여, 높은 쇼핑 및 식음료업 비중(dataset:28237:3)을 가진 방문객의 소비를 상권으로 유도함",</a:t>
            </a:r>
          </a:p>
          <a:p xmlns:a="http://schemas.openxmlformats.org/drawingml/2006/main">
            <a:r>
              <a:t>        "differentiation": "서울 사례의 대규모 정원 박람회 대신, 부평의 기존 문화시설과 인근 상권(부평종합시장 등)을 잇는 소규모 거점 중심의 스탬프 투어로 운영",</a:t>
            </a:r>
          </a:p>
          <a:p xmlns:a="http://schemas.openxmlformats.org/drawingml/2006/main">
            <a:r>
              <a:t>        "prerequisites": "참여 상점 모집, 스탬프/할인 시스템 구축, 상인회와 정산 방식 협의",</a:t>
            </a:r>
          </a:p>
          <a:p xmlns:a="http://schemas.openxmlformats.org/drawingml/2006/main">
            <a:r>
              <a:t>        "budget_formula": "기획 가정/미확정 견적: (참여 상점 수 × 지원금 단가) + (스탬프 시스템 운영비) + (홍보비). 단가는 2026년 10월 이전 가맹점 모집 단계에서 확정 필요",</a:t>
            </a:r>
          </a:p>
          <a:p xmlns:a="http://schemas.openxmlformats.org/drawingml/2006/main">
            <a:r>
              <a:t>        "measurement_plan": "지표: 참여 상점 내 쿠폰/할인 결제액 합계(취소 제외), 기준기간: 2026-10~2026-12, 측정 주기: 월간, 원자료: 카드 결제 데이터 및 쿠폰 사용 기록, 비교집단: 사업 미실시 기간 또는 인근 유사 상권",</a:t>
            </a:r>
          </a:p>
          <a:p xmlns:a="http://schemas.openxmlformats.org/drawingml/2006/main">
            <a:r>
              <a:t>        "stop_or_scale_rule": "사업 전 상인회와 합의된 목표 결제액 달성 여부 및 예산 소진 속도에 따라 규모 조정",</a:t>
            </a:r>
          </a:p>
          <a:p xmlns:a="http://schemas.openxmlformats.org/drawingml/2006/main">
            <a:r>
              <a:t>        "evidence_source_ids": [</a:t>
            </a:r>
          </a:p>
          <a:p xmlns:a="http://schemas.openxmlformats.org/drawingml/2006/main">
            <a:r>
              <a:t>          "ml:28237:regional-demand-v3.1:202606",</a:t>
            </a:r>
          </a:p>
          <a:p xmlns:a="http://schemas.openxmlformats.org/drawingml/2006/main">
            <a:r>
              <a:t>          "dataset:28237:3",</a:t>
            </a:r>
          </a:p>
          <a:p xmlns:a="http://schemas.openxmlformats.org/drawingml/2006/main">
            <a:r>
              <a:t>          "case:e4d3e4b6fd4903"</a:t>
            </a:r>
          </a:p>
          <a:p xmlns:a="http://schemas.openxmlformats.org/drawingml/2006/main">
            <a:r>
              <a:t>        ],</a:t>
            </a:r>
          </a:p>
          <a:p xmlns:a="http://schemas.openxmlformats.org/drawingml/2006/main">
            <a:r>
              <a:t>        "case_source_ids": [</a:t>
            </a:r>
          </a:p>
          <a:p xmlns:a="http://schemas.openxmlformats.org/drawingml/2006/main">
            <a:r>
              <a:t>          "case:e4d3e4b6fd4903"</a:t>
            </a:r>
          </a:p>
          <a:p xmlns:a="http://schemas.openxmlformats.org/drawingml/2006/main">
            <a:r>
              <a:t>        ],</a:t>
            </a:r>
          </a:p>
          <a:p xmlns:a="http://schemas.openxmlformats.org/drawingml/2006/main">
            <a:r>
              <a:t>        "reasoning": {</a:t>
            </a:r>
          </a:p>
          <a:p xmlns:a="http://schemas.openxmlformats.org/drawingml/2006/main">
            <a:r>
              <a:t>          "fact_ids": [</a:t>
            </a:r>
          </a:p>
          <a:p xmlns:a="http://schemas.openxmlformats.org/drawingml/2006/main">
            <a:r>
              <a:t>            "dataset:28237:3",</a:t>
            </a:r>
          </a:p>
          <a:p xmlns:a="http://schemas.openxmlformats.org/drawingml/2006/main">
            <a:r>
              <a:t>            "forecast:3f0af113eca76470"</a:t>
            </a:r>
          </a:p>
          <a:p xmlns:a="http://schemas.openxmlformats.org/drawingml/2006/main">
            <a:r>
              <a:t>          ],</a:t>
            </a:r>
          </a:p>
          <a:p xmlns:a="http://schemas.openxmlformats.org/drawingml/2006/main">
            <a:r>
              <a:t>          "application_hypothesis": "행사장 방문객의 소비가 인근 상권(부평종합시장, 모다아울렛 등)으로 이동하도록 스탬프와 할인 혜택을 제공한다.",</a:t>
            </a:r>
          </a:p>
          <a:p xmlns:a="http://schemas.openxmlformats.org/drawingml/2006/main">
            <a:r>
              <a:t>          "visitor_action": "거점 시설 방문 후 스탬프를 모아 인근 상점에서 할인 혜택을 받으며 결제한다.",</a:t>
            </a:r>
          </a:p>
          <a:p xmlns:a="http://schemas.openxmlformats.org/drawingml/2006/main">
            <a:r>
              <a:t>          "operating_requirements": "상인회 협의, 스탬프 투어 플랫폼 운영, 참여 상점 모집 및 교육을 준비한다.",</a:t>
            </a:r>
          </a:p>
          <a:p xmlns:a="http://schemas.openxmlformats.org/drawingml/2006/main">
            <a:r>
              <a:t>          "measurement": "참여 상점의 매출 증가분과 쿠폰 사용 건수를 확인한다.",</a:t>
            </a:r>
          </a:p>
          <a:p xmlns:a="http://schemas.openxmlformats.org/drawingml/2006/main">
            <a:r>
              <a:t>          "tradeoff": "대규모 행사 대비 방문객 유입 규모는 작을 수 있으며, 상점별 매출 편차가 발생할 수 있다."</a:t>
            </a:r>
          </a:p>
          <a:p xmlns:a="http://schemas.openxmlformats.org/drawingml/2006/main">
            <a:r>
              <a:t>        },</a:t>
            </a:r>
          </a:p>
          <a:p xmlns:a="http://schemas.openxmlformats.org/drawingml/2006/main">
            <a:r>
              <a:t>        "case_linkage": {</a:t>
            </a:r>
          </a:p>
          <a:p xmlns:a="http://schemas.openxmlformats.org/drawingml/2006/main">
            <a:r>
              <a:t>          "method": "operation-document-v2",</a:t>
            </a:r>
          </a:p>
          <a:p xmlns:a="http://schemas.openxmlformats.org/drawingml/2006/main">
            <a:r>
              <a:t>          "operation_family": "spend_conversion",</a:t>
            </a:r>
          </a:p>
          <a:p xmlns:a="http://schemas.openxmlformats.org/drawingml/2006/main">
            <a:r>
              <a:t>          "original_case_source_ids": [</a:t>
            </a:r>
          </a:p>
          <a:p xmlns:a="http://schemas.openxmlformats.org/drawingml/2006/main">
            <a:r>
              <a:t>            "case:e4d3e4b6fd4903"</a:t>
            </a:r>
          </a:p>
          <a:p xmlns:a="http://schemas.openxmlformats.org/drawingml/2006/main">
            <a:r>
              <a:t>          ],</a:t>
            </a:r>
          </a:p>
          <a:p xmlns:a="http://schemas.openxmlformats.org/drawingml/2006/main">
            <a:r>
              <a:t>          "matched_source_ids": [</a:t>
            </a:r>
          </a:p>
          <a:p xmlns:a="http://schemas.openxmlformats.org/drawingml/2006/main">
            <a:r>
              <a:t>            "case:e4d3e4b6fd4903"</a:t>
            </a:r>
          </a:p>
          <a:p xmlns:a="http://schemas.openxmlformats.org/drawingml/2006/main">
            <a:r>
              <a:t>          ],</a:t>
            </a:r>
          </a:p>
          <a:p xmlns:a="http://schemas.openxmlformats.org/drawingml/2006/main">
            <a:r>
              <a:t>          "regional_similarity_verified": false,</a:t>
            </a:r>
          </a:p>
          <a:p xmlns:a="http://schemas.openxmlformats.org/drawingml/2006/main">
            <a:r>
              <a:t>          "basis": "같은 운영 방식의 유효한 인용을 유지. 인용 누락·오류일 때만 지역 검색 맥락·문서 등급으로 참고 사례 1건 연결. 지역 적합성 순위나 효과 확률이 아님."</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"candidate_id": "cand_002",</a:t>
            </a:r>
          </a:p>
          <a:p xmlns:a="http://schemas.openxmlformats.org/drawingml/2006/main">
            <a:r>
              <a:t>        "candidate_type": "stay_conversion",</a:t>
            </a:r>
          </a:p>
          <a:p xmlns:a="http://schemas.openxmlformats.org/drawingml/2006/main">
            <a:r>
              <a:t>        "title": "부평 야간 문화 산책 및 숙박 연계 패키지",</a:t>
            </a:r>
          </a:p>
          <a:p xmlns:a="http://schemas.openxmlformats.org/drawingml/2006/main">
            <a:r>
              <a:t>        "mechanism": "야간 콘텐츠(공연·야시장)와 숙박 시설을 연계하여 당일 방문객의 체류 시간을 늘리고 숙박 전환을 유도함",</a:t>
            </a:r>
          </a:p>
          <a:p xmlns:a="http://schemas.openxmlformats.org/drawingml/2006/main">
            <a:r>
              <a:t>        "local_fit": "2026년 10~12월 전망된 평균 숙박일수 증가(ml:28237:regional-demand-v3.1:202606) 신호를 활용하여, 낮은 숙박 비율(6.6%, dataset:28237:4)을 개선함",</a:t>
            </a:r>
          </a:p>
          <a:p xmlns:a="http://schemas.openxmlformats.org/drawingml/2006/main">
            <a:r>
              <a:t>        "differentiation": "인천 송도/월미도의 해안 경관 대신, 부평의 문화시설·공연장·전통시장을 잇는 압축된 저녁 동선과 실내 프로그램을 중심으로 구성",</a:t>
            </a:r>
          </a:p>
          <a:p xmlns:a="http://schemas.openxmlformats.org/drawingml/2006/main">
            <a:r>
              <a:t>        "prerequisites": "야간 운영 가능 상점/시설 확보, 숙박 시설 협약, 야간 보행 안전 및 교통 대책",</a:t>
            </a:r>
          </a:p>
          <a:p xmlns:a="http://schemas.openxmlformats.org/drawingml/2006/main">
            <a:r>
              <a:t>        "budget_formula": "기획 가정/미확정 견적: (야간 콘텐츠 운영비) + (숙박 할인 지원금) + (안전/교통 관리비). 단가는 2026년 10월 이전 협약 단계에서 확정 필요",</a:t>
            </a:r>
          </a:p>
          <a:p xmlns:a="http://schemas.openxmlformats.org/drawingml/2006/main">
            <a:r>
              <a:t>        "measurement_plan": "지표: 사업 기간 내 숙박 방문자 수 및 평균 숙박일수, 기준기간: 2026-10~2026-12, 측정 주기: 월간, 원자료: 이동통신 기반 숙박 데이터, 비교집단: 전년 동기 숙박 데이터",</a:t>
            </a:r>
          </a:p>
          <a:p xmlns:a="http://schemas.openxmlformats.org/drawingml/2006/main">
            <a:r>
              <a:t>        "stop_or_scale_rule": "숙박 비율 및 체류 시간의 전년 대비 증가폭이 목표치에 미달할 경우 프로그램 구성 변경",</a:t>
            </a:r>
          </a:p>
          <a:p xmlns:a="http://schemas.openxmlformats.org/drawingml/2006/main">
            <a:r>
              <a:t>        "evidence_source_ids": [</a:t>
            </a:r>
          </a:p>
          <a:p xmlns:a="http://schemas.openxmlformats.org/drawingml/2006/main">
            <a:r>
              <a:t>          "ml:28237:regional-demand-v3.1:202606",</a:t>
            </a:r>
          </a:p>
          <a:p xmlns:a="http://schemas.openxmlformats.org/drawingml/2006/main">
            <a:r>
              <a:t>          "dataset:28237:4",</a:t>
            </a:r>
          </a:p>
          <a:p xmlns:a="http://schemas.openxmlformats.org/drawingml/2006/main">
            <a:r>
              <a:t>          "case:2c54c6aaf2117a"</a:t>
            </a:r>
          </a:p>
          <a:p xmlns:a="http://schemas.openxmlformats.org/drawingml/2006/main">
            <a:r>
              <a:t>        ],</a:t>
            </a:r>
          </a:p>
          <a:p xmlns:a="http://schemas.openxmlformats.org/drawingml/2006/main">
            <a:r>
              <a:t>        "case_source_ids": [</a:t>
            </a:r>
          </a:p>
          <a:p xmlns:a="http://schemas.openxmlformats.org/drawingml/2006/main">
            <a:r>
              <a:t>          "case:2c54c6aaf2117a"</a:t>
            </a:r>
          </a:p>
          <a:p xmlns:a="http://schemas.openxmlformats.org/drawingml/2006/main">
            <a:r>
              <a:t>        ],</a:t>
            </a:r>
          </a:p>
          <a:p xmlns:a="http://schemas.openxmlformats.org/drawingml/2006/main">
            <a:r>
              <a:t>        "reasoning": {</a:t>
            </a:r>
          </a:p>
          <a:p xmlns:a="http://schemas.openxmlformats.org/drawingml/2006/main">
            <a:r>
              <a:t>          "fact_ids": [</a:t>
            </a:r>
          </a:p>
          <a:p xmlns:a="http://schemas.openxmlformats.org/drawingml/2006/main">
            <a:r>
              <a:t>            "dataset:28237:4",</a:t>
            </a:r>
          </a:p>
          <a:p xmlns:a="http://schemas.openxmlformats.org/drawingml/2006/main">
            <a:r>
              <a:t>            "forecast:72b53a8068a1dae8"</a:t>
            </a:r>
          </a:p>
          <a:p xmlns:a="http://schemas.openxmlformats.org/drawingml/2006/main">
            <a:r>
              <a:t>          ],</a:t>
            </a:r>
          </a:p>
          <a:p xmlns:a="http://schemas.openxmlformats.org/drawingml/2006/main">
            <a:r>
              <a:t>          "application_hypothesis": "저녁 시간대 문화 콘텐츠를 제공하여 방문객이 부평에 더 오래 머물거나 숙박하도록 유도한다.",</a:t>
            </a:r>
          </a:p>
          <a:p xmlns:a="http://schemas.openxmlformats.org/drawingml/2006/main">
            <a:r>
              <a:t>          "visitor_action": "야간 공연이나 야시장을 관람한 후 연계된 숙박 시설을 이용하거나 늦은 시간까지 상권에 체류한다.",</a:t>
            </a:r>
          </a:p>
          <a:p xmlns:a="http://schemas.openxmlformats.org/drawingml/2006/main">
            <a:r>
              <a:t>          "operating_requirements": "야간 콘텐츠 기획, 참여 숙박업소 및 상점 모집, 야간 교통/안전 인력을 준비한다.",</a:t>
            </a:r>
          </a:p>
          <a:p xmlns:a="http://schemas.openxmlformats.org/drawingml/2006/main">
            <a:r>
              <a:t>          "measurement": "야간 시간대 유동 인구 및 숙박 데이터 변화를 확인한다.",</a:t>
            </a:r>
          </a:p>
          <a:p xmlns:a="http://schemas.openxmlformats.org/drawingml/2006/main">
            <a:r>
              <a:t>          "tradeoff": "야간 운영에 따른 안전 관리 비용과 상점 영업시간 조정 협의가 필요하다."</a:t>
            </a:r>
          </a:p>
          <a:p xmlns:a="http://schemas.openxmlformats.org/drawingml/2006/main">
            <a:r>
              <a:t>        },</a:t>
            </a:r>
          </a:p>
          <a:p xmlns:a="http://schemas.openxmlformats.org/drawingml/2006/main">
            <a:r>
              <a:t>        "case_linkage": {</a:t>
            </a:r>
          </a:p>
          <a:p xmlns:a="http://schemas.openxmlformats.org/drawingml/2006/main">
            <a:r>
              <a:t>          "method": "operation-document-v2",</a:t>
            </a:r>
          </a:p>
          <a:p xmlns:a="http://schemas.openxmlformats.org/drawingml/2006/main">
            <a:r>
              <a:t>          "operation_family": "night_time_experience",</a:t>
            </a:r>
          </a:p>
          <a:p xmlns:a="http://schemas.openxmlformats.org/drawingml/2006/main">
            <a:r>
              <a:t>          "original_case_source_ids": [</a:t>
            </a:r>
          </a:p>
          <a:p xmlns:a="http://schemas.openxmlformats.org/drawingml/2006/main">
            <a:r>
              <a:t>            "case:2c54c6aaf2117a"</a:t>
            </a:r>
          </a:p>
          <a:p xmlns:a="http://schemas.openxmlformats.org/drawingml/2006/main">
            <a:r>
              <a:t>          ],</a:t>
            </a:r>
          </a:p>
          <a:p xmlns:a="http://schemas.openxmlformats.org/drawingml/2006/main">
            <a:r>
              <a:t>          "matched_source_ids": [</a:t>
            </a:r>
          </a:p>
          <a:p xmlns:a="http://schemas.openxmlformats.org/drawingml/2006/main">
            <a:r>
              <a:t>            "case:2c54c6aaf2117a"</a:t>
            </a:r>
          </a:p>
          <a:p xmlns:a="http://schemas.openxmlformats.org/drawingml/2006/main">
            <a:r>
              <a:t>          ],</a:t>
            </a:r>
          </a:p>
          <a:p xmlns:a="http://schemas.openxmlformats.org/drawingml/2006/main">
            <a:r>
              <a:t>          "regional_similarity_verified": false,</a:t>
            </a:r>
          </a:p>
          <a:p xmlns:a="http://schemas.openxmlformats.org/drawingml/2006/main">
            <a:r>
              <a:t>          "basis": "같은 운영 방식의 유효한 인용을 유지. 인용 누락·오류일 때만 지역 검색 맥락·문서 등급으로 참고 사례 1건 연결. 지역 적합성 순위나 효과 확률이 아님."</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"candidate_id": "cand_003",</a:t>
            </a:r>
          </a:p>
          <a:p xmlns:a="http://schemas.openxmlformats.org/drawingml/2006/main">
            <a:r>
              <a:t>        "candidate_type": "return_visit",</a:t>
            </a:r>
          </a:p>
          <a:p xmlns:a="http://schemas.openxmlformats.org/drawingml/2006/main">
            <a:r>
              <a:t>        "title": "부평 디지털 관광주민증 기반 지역 혜택 프로그램",</a:t>
            </a:r>
          </a:p>
          <a:p xmlns:a="http://schemas.openxmlformats.org/drawingml/2006/main">
            <a:r>
              <a:t>        "mechanism": "디지털 인증을 통해 지역 내 다양한 업종(식음·체험·숙박)의 할인 혜택을 제공하여 재방문과 다각적 소비를 유도함",</a:t>
            </a:r>
          </a:p>
          <a:p xmlns:a="http://schemas.openxmlformats.org/drawingml/2006/main">
            <a:r>
              <a:t>        "local_fit": "방문자 수 감소 전망(ml:28237:regional-demand-v3.1:202606)에 대응하여, 한 번의 방문이 다양한 업종의 소비로 이어지도록 설계함",</a:t>
            </a:r>
          </a:p>
          <a:p xmlns:a="http://schemas.openxmlformats.org/drawingml/2006/main">
            <a:r>
              <a:t>        "differentiation": "인구감소지역의 광역적 접근성 중심 모델과 달리, 부평의 높은 쇼핑/식음료 비중을 고려하여 도심형 혜택 구조로 설계",</a:t>
            </a:r>
          </a:p>
          <a:p xmlns:a="http://schemas.openxmlformats.org/drawingml/2006/main">
            <a:r>
              <a:t>        "prerequisites": "디지털 인증 플랫폼 연계, 지역 내 가맹점 확보, 업종별 할인율 협의",</a:t>
            </a:r>
          </a:p>
          <a:p xmlns:a="http://schemas.openxmlformats.org/drawingml/2006/main">
            <a:r>
              <a:t>        "budget_formula": "기획 가정/미확정 견적: (디지털 인증 플랫폼 운영비) + (가맹점 할인 지원금 총액) + (홍보비). 가맹점 수와 할인율은 모집 결과에 따라 변동",</a:t>
            </a:r>
          </a:p>
          <a:p xmlns:a="http://schemas.openxmlformats.org/drawingml/2006/main">
            <a:r>
              <a:t>        "measurement_plan": "지표: 디지털 관광주민증 발급 건수 및 가맹점 이용 완료 건수(취소 제외), 기준기간: 2026-10~2026-12, 측정 주기: 월간, 원자료: 플랫폼 이용 기록, 비교집단: 사업 미참여 방문객",</a:t>
            </a:r>
          </a:p>
          <a:p xmlns:a="http://schemas.openxmlformats.org/drawingml/2006/main">
            <a:r>
              <a:t>        "stop_or_scale_rule": "발급 대비 실제 가맹점 이용률(전환율)이 기준치 미달 시 혜택 업종 및 할인율 재설계",</a:t>
            </a:r>
          </a:p>
          <a:p xmlns:a="http://schemas.openxmlformats.org/drawingml/2006/main">
            <a:r>
              <a:t>        "evidence_source_ids": [</a:t>
            </a:r>
          </a:p>
          <a:p xmlns:a="http://schemas.openxmlformats.org/drawingml/2006/main">
            <a:r>
              <a:t>          "ml:28237:regional-demand-v3.1:202606",</a:t>
            </a:r>
          </a:p>
          <a:p xmlns:a="http://schemas.openxmlformats.org/drawingml/2006/main">
            <a:r>
              <a:t>          "case:digital_tourism_resident_2024"</a:t>
            </a:r>
          </a:p>
          <a:p xmlns:a="http://schemas.openxmlformats.org/drawingml/2006/main">
            <a:r>
              <a:t>        ],</a:t>
            </a:r>
          </a:p>
          <a:p xmlns:a="http://schemas.openxmlformats.org/drawingml/2006/main">
            <a:r>
              <a:t>        "case_source_ids": [</a:t>
            </a:r>
          </a:p>
          <a:p xmlns:a="http://schemas.openxmlformats.org/drawingml/2006/main">
            <a:r>
              <a:t>          "case:digital_tourism_resident_2024"</a:t>
            </a:r>
          </a:p>
          <a:p xmlns:a="http://schemas.openxmlformats.org/drawingml/2006/main">
            <a:r>
              <a:t>        ],</a:t>
            </a:r>
          </a:p>
          <a:p xmlns:a="http://schemas.openxmlformats.org/drawingml/2006/main">
            <a:r>
              <a:t>        "reasoning": {</a:t>
            </a:r>
          </a:p>
          <a:p xmlns:a="http://schemas.openxmlformats.org/drawingml/2006/main">
            <a:r>
              <a:t>          "fact_ids": [</a:t>
            </a:r>
          </a:p>
          <a:p xmlns:a="http://schemas.openxmlformats.org/drawingml/2006/main">
            <a:r>
              <a:t>            "forecast:46a21b7d0804e215"</a:t>
            </a:r>
          </a:p>
          <a:p xmlns:a="http://schemas.openxmlformats.org/drawingml/2006/main">
            <a:r>
              <a:t>          ],</a:t>
            </a:r>
          </a:p>
          <a:p xmlns:a="http://schemas.openxmlformats.org/drawingml/2006/main">
            <a:r>
              <a:t>          "application_hypothesis": "디지털 인증을 통해 방문객이 식음, 쇼핑, 체험 등 다양한 업종을 경험하고 재방문하도록 유도한다.",</a:t>
            </a:r>
          </a:p>
          <a:p xmlns:a="http://schemas.openxmlformats.org/drawingml/2006/main">
            <a:r>
              <a:t>          "visitor_action": "디지털 인증을 통해 지역 내 가맹점에서 할인 혜택을 받고 다양한 서비스를 이용한다.",</a:t>
            </a:r>
          </a:p>
          <a:p xmlns:a="http://schemas.openxmlformats.org/drawingml/2006/main">
            <a:r>
              <a:t>          "operating_requirements": "디지털 플랫폼 연계, 지역 내 다양한 업종의 가맹점 모집 및 인증 체계 구축을 준비한다.",</a:t>
            </a:r>
          </a:p>
          <a:p xmlns:a="http://schemas.openxmlformats.org/drawingml/2006/main">
            <a:r>
              <a:t>          "measurement": "인증 건수와 실제 가맹점 결제 데이터를 통해 이용 결과를 확인한다.",</a:t>
            </a:r>
          </a:p>
          <a:p xmlns:a="http://schemas.openxmlformats.org/drawingml/2006/main">
            <a:r>
              <a:t>          "tradeoff": "플랫폼 이용 편의성이 낮을 경우 혜택 사용률이 저조할 위험이 있다."</a:t>
            </a:r>
          </a:p>
          <a:p xmlns:a="http://schemas.openxmlformats.org/drawingml/2006/main">
            <a:r>
              <a:t>        },</a:t>
            </a:r>
          </a:p>
          <a:p xmlns:a="http://schemas.openxmlformats.org/drawingml/2006/main">
            <a:r>
              <a:t>        "case_linkage": {</a:t>
            </a:r>
          </a:p>
          <a:p xmlns:a="http://schemas.openxmlformats.org/drawingml/2006/main">
            <a:r>
              <a:t>          "method": "operation-document-v2",</a:t>
            </a:r>
          </a:p>
          <a:p xmlns:a="http://schemas.openxmlformats.org/drawingml/2006/main">
            <a:r>
              <a:t>          "operation_family": "return_visit",</a:t>
            </a:r>
          </a:p>
          <a:p xmlns:a="http://schemas.openxmlformats.org/drawingml/2006/main">
            <a:r>
              <a:t>          "original_case_source_ids": [</a:t>
            </a:r>
          </a:p>
          <a:p xmlns:a="http://schemas.openxmlformats.org/drawingml/2006/main">
            <a:r>
              <a:t>            "case:digital_tourism_resident_2024"</a:t>
            </a:r>
          </a:p>
          <a:p xmlns:a="http://schemas.openxmlformats.org/drawingml/2006/main">
            <a:r>
              <a:t>          ],</a:t>
            </a:r>
          </a:p>
          <a:p xmlns:a="http://schemas.openxmlformats.org/drawingml/2006/main">
            <a:r>
              <a:t>          "matched_source_ids": [</a:t>
            </a:r>
          </a:p>
          <a:p xmlns:a="http://schemas.openxmlformats.org/drawingml/2006/main">
            <a:r>
              <a:t>            "case:digital_tourism_resident_2024"</a:t>
            </a:r>
          </a:p>
          <a:p xmlns:a="http://schemas.openxmlformats.org/drawingml/2006/main">
            <a:r>
              <a:t>          ],</a:t>
            </a:r>
          </a:p>
          <a:p xmlns:a="http://schemas.openxmlformats.org/drawingml/2006/main">
            <a:r>
              <a:t>          "regional_similarity_verified": false,</a:t>
            </a:r>
          </a:p>
          <a:p xmlns:a="http://schemas.openxmlformats.org/drawingml/2006/main">
            <a:r>
              <a:t>          "basis": "같은 운영 방식의 유효한 인용을 유지. 인용 누락·오류일 때만 지역 검색 맥락·문서 등급으로 참고 사례 1건 연결. 지역 적합성 순위나 효과 확률이 아님."</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"selected_candidate_id": "cand_001",</a:t>
            </a:r>
          </a:p>
          <a:p xmlns:a="http://schemas.openxmlformats.org/drawingml/2006/main">
            <a:r>
              <a:t>    "selection_reason": "선택안은 기존 상점의 결제 원장을 확인하는 흐름을 설계하기 용이하여 소비 전환 효과를 측정하기에 유리함. 대안인 야간 프로그램은 야간 운영 시간 및 안전 관리 준비가 더 필요하며, 디지털 주민증은 플랫폼 연계 및 가맹점 확보의 불확실성이 있음. 다만 선택안도 상인회와의 정산 협약 확보가 선행되어야 함.",</a:t>
            </a:r>
          </a:p>
          <a:p xmlns:a="http://schemas.openxmlformats.org/drawingml/2006/main">
            <a:r>
              <a:t>    "selection_status": "ready",</a:t>
            </a:r>
          </a:p>
          <a:p xmlns:a="http://schemas.openxmlformats.org/drawingml/2006/main">
            <a:r>
              <a:t>    "candidate_assessments": [</a:t>
            </a:r>
          </a:p>
          <a:p xmlns:a="http://schemas.openxmlformats.org/drawingml/2006/main">
            <a:r>
              <a:t>      {</a:t>
            </a:r>
          </a:p>
          <a:p xmlns:a="http://schemas.openxmlformats.org/drawingml/2006/main">
            <a:r>
              <a:t>        "case_source_id": "case:2c54c6aaf2117a",</a:t>
            </a:r>
          </a:p>
          <a:p xmlns:a="http://schemas.openxmlformats.org/drawingml/2006/main">
            <a:r>
              <a:t>        "fit_score": 0,</a:t>
            </a:r>
          </a:p>
          <a:p xmlns:a="http://schemas.openxmlformats.org/drawingml/2006/main">
            <a:r>
              <a:t>        "evidence_score": 0,</a:t>
            </a:r>
          </a:p>
          <a:p xmlns:a="http://schemas.openxmlformats.org/drawingml/2006/main">
            <a:r>
              <a:t>        "similarity_reason": "인천 내 사업이나 해안 경관 중심의 도시 단위 사업으로 부평의 도심 상권과는 성격이 다름",</a:t>
            </a:r>
          </a:p>
          <a:p xmlns:a="http://schemas.openxmlformats.org/drawingml/2006/main">
            <a:r>
              <a:t>        "adaptation": "해안 경관 대신 문화시설과 시장을 잇는 압축된 저녁 동선으로 변경 필요",</a:t>
            </a:r>
          </a:p>
          <a:p xmlns:a="http://schemas.openxmlformats.org/drawingml/2006/main">
            <a:r>
              <a:t>        "rejection_risks": [</a:t>
            </a:r>
          </a:p>
          <a:p xmlns:a="http://schemas.openxmlformats.org/drawingml/2006/main">
            <a:r>
              <a:t>          "야간 교통과 안전이 확보되지 않으면 참여 만족도와 상점 이용시간이 제한될 수 있음",</a:t>
            </a:r>
          </a:p>
          <a:p xmlns:a="http://schemas.openxmlformats.org/drawingml/2006/main">
            <a:r>
              <a:t>          "일회성 공연 관람이 상시 체류나 상권 결제로 이어지지 않을 위험이 있음"</a:t>
            </a:r>
          </a:p>
          <a:p xmlns:a="http://schemas.openxmlformats.org/drawingml/2006/main">
            <a:r>
              <a:t>        ],</a:t>
            </a:r>
          </a:p>
          <a:p xmlns:a="http://schemas.openxmlformats.org/drawingml/2006/main">
            <a:r>
              <a:t>        "validation_plan": "예약 회차별 정원 및 프로그램 전후 상권 결제 데이터를 통한 효과 측정 필요"</a:t>
            </a:r>
          </a:p>
          <a:p xmlns:a="http://schemas.openxmlformats.org/drawingml/2006/main">
            <a:r>
              <a:t>      },</a:t>
            </a:r>
          </a:p>
          <a:p xmlns:a="http://schemas.openxmlformats.org/drawingml/2006/main">
            <a:r>
              <a:t>      {</a:t>
            </a:r>
          </a:p>
          <a:p xmlns:a="http://schemas.openxmlformats.org/drawingml/2006/main">
            <a:r>
              <a:t>        "case_source_id": "case:e4d3e4b6fd4903",</a:t>
            </a:r>
          </a:p>
          <a:p xmlns:a="http://schemas.openxmlformats.org/drawingml/2006/main">
            <a:r>
              <a:t>        "fit_score": 0,</a:t>
            </a:r>
          </a:p>
          <a:p xmlns:a="http://schemas.openxmlformats.org/drawingml/2006/main">
            <a:r>
              <a:t>        "evidence_score": 0,</a:t>
            </a:r>
          </a:p>
          <a:p xmlns:a="http://schemas.openxmlformats.org/drawingml/2006/main">
            <a:r>
              <a:t>        "similarity_reason": "공공행사 관람객을 주변 상권으로 유도하는 운영 원리가 부평의 스탬프 투어와 유사함",</a:t>
            </a:r>
          </a:p>
          <a:p xmlns:a="http://schemas.openxmlformats.org/drawingml/2006/main">
            <a:r>
              <a:t>        "adaptation": "대규모 박람회 대신 부평의 기존 거점과 인접 상권을 연결하는 소규모 모델로 축소 운영",</a:t>
            </a:r>
          </a:p>
          <a:p xmlns:a="http://schemas.openxmlformats.org/drawingml/2006/main">
            <a:r>
              <a:t>        "rejection_risks": [</a:t>
            </a:r>
          </a:p>
          <a:p xmlns:a="http://schemas.openxmlformats.org/drawingml/2006/main">
            <a:r>
              <a:t>          "대규모 행사의 성과를 부평구 규모에 비례하여 환산할 수 없음",</a:t>
            </a:r>
          </a:p>
          <a:p xmlns:a="http://schemas.openxmlformats.org/drawingml/2006/main">
            <a:r>
              <a:t>          "무료 대형행사의 경우 참여 상점별 매출 효과가 불균등할 수 있음"</a:t>
            </a:r>
          </a:p>
          <a:p xmlns:a="http://schemas.openxmlformats.org/drawingml/2006/main">
            <a:r>
              <a:t>        ],</a:t>
            </a:r>
          </a:p>
          <a:p xmlns:a="http://schemas.openxmlformats.org/drawingml/2006/main">
            <a:r>
              <a:t>        "validation_plan": "사업 전후 1주일간의 카드 결제액 및 생활인구 변화를 동일 요일 기준으로 비교"</a:t>
            </a:r>
          </a:p>
          <a:p xmlns:a="http://schemas.openxmlformats.org/drawingml/2006/main">
            <a:r>
              <a:t>      },</a:t>
            </a:r>
          </a:p>
          <a:p xmlns:a="http://schemas.openxmlformats.org/drawingml/2006/main">
            <a:r>
              <a:t>      {</a:t>
            </a:r>
          </a:p>
          <a:p xmlns:a="http://schemas.openxmlformats.org/drawingml/2006/main">
            <a:r>
              <a:t>        "case_source_id": "case:digital_tourism_resident_2024",</a:t>
            </a:r>
          </a:p>
          <a:p xmlns:a="http://schemas.openxmlformats.org/drawingml/2006/main">
            <a:r>
              <a:t>        "fit_score": 0,</a:t>
            </a:r>
          </a:p>
          <a:p xmlns:a="http://schemas.openxmlformats.org/drawingml/2006/main">
            <a:r>
              <a:t>        "evidence_score": 0,</a:t>
            </a:r>
          </a:p>
          <a:p xmlns:a="http://schemas.openxmlformats.org/drawingml/2006/main">
            <a:r>
              <a:t>        "similarity_reason": "디지털 인증을 통한 혜택 제공 방식이 유사하나 부평은 도심형 소비 구조에 맞춰야 함",</a:t>
            </a:r>
          </a:p>
          <a:p xmlns:a="http://schemas.openxmlformats.org/drawingml/2006/main">
            <a:r>
              <a:t>        "adaptation": "인구감소지역의 광역적 접근성 모델 대신 부평의 높은 쇼핑/식음 비중을 고려한 혜택 설계",</a:t>
            </a:r>
          </a:p>
          <a:p xmlns:a="http://schemas.openxmlformats.org/drawingml/2006/main">
            <a:r>
              <a:t>        "rejection_risks": [</a:t>
            </a:r>
          </a:p>
          <a:p xmlns:a="http://schemas.openxmlformats.org/drawingml/2006/main">
            <a:r>
              <a:t>          "발급 건수와 실제 지역 소비 간의 인과관계를 증명하기 어려움",</a:t>
            </a:r>
          </a:p>
          <a:p xmlns:a="http://schemas.openxmlformats.org/drawingml/2006/main">
            <a:r>
              <a:t>          "혜택 사용률이 낮을 경우 홍보비 대비 효율이 저하될 수 있음"</a:t>
            </a:r>
          </a:p>
          <a:p xmlns:a="http://schemas.openxmlformats.org/drawingml/2006/main">
            <a:r>
              <a:t>        ],</a:t>
            </a:r>
          </a:p>
          <a:p xmlns:a="http://schemas.openxmlformats.org/drawingml/2006/main">
            <a:r>
              <a:t>        "validation_plan": "디지털 인증 발급 건수 대비 실제 가맹점 이용 완료 건수(전환율) 측정"</a:t>
            </a:r>
          </a:p>
          <a:p xmlns:a="http://schemas.openxmlformats.org/drawingml/2006/main">
            <a:r>
              <a:t>      }</a:t>
            </a:r>
          </a:p>
          <a:p xmlns:a="http://schemas.openxmlformats.org/drawingml/2006/main">
            <a:r>
              <a:t>    ],</a:t>
            </a:r>
          </a:p>
          <a:p xmlns:a="http://schemas.openxmlformats.org/drawingml/2006/main">
            <a:r>
              <a:t>    "recommended_case_ids": [</a:t>
            </a:r>
          </a:p>
          <a:p xmlns:a="http://schemas.openxmlformats.org/drawingml/2006/main">
            <a:r>
              <a:t>      "case:e4d3e4b6fd4903"</a:t>
            </a:r>
          </a:p>
          <a:p xmlns:a="http://schemas.openxmlformats.org/drawingml/2006/main">
            <a:r>
              <a:t>    ],</a:t>
            </a:r>
          </a:p>
          <a:p xmlns:a="http://schemas.openxmlformats.org/drawingml/2006/main">
            <a:r>
              <a:t>    "strategy_brief": {</a:t>
            </a:r>
          </a:p>
          <a:p xmlns:a="http://schemas.openxmlformats.org/drawingml/2006/main">
            <a:r>
              <a:t>      "working_title": "부평 상권 활력 제고를 위한 거점 연계 스탬프 투어 및 소비 지원 사업",</a:t>
            </a:r>
          </a:p>
          <a:p xmlns:a="http://schemas.openxmlformats.org/drawingml/2006/main">
            <a:r>
              <a:t>      "target_problem": "관측된 높은 쇼핑·식음 비중(각 35.4%, 35.3%)에도 불구하고 낮은 숙박 비율(6.6%)과 관광소비액 감소 전망(-3.24%)에 대응하기 위해, 거점 방문객을 상권 결제로 연결하는 운영 가설을 제안함",</a:t>
            </a:r>
          </a:p>
          <a:p xmlns:a="http://schemas.openxmlformats.org/drawingml/2006/main">
            <a:r>
              <a:t>      "mechanism": "거점 시설(문화/공원) 방문 인증 → 인근 상권(시장/쇼핑몰) 스탬프 투어 → 할인 혜택 제공",</a:t>
            </a:r>
          </a:p>
          <a:p xmlns:a="http://schemas.openxmlformats.org/drawingml/2006/main">
            <a:r>
              <a:t>      "target_users": "부평구 내 주요 거점 및 상권을 방문하는 외지인 관광객",</a:t>
            </a:r>
          </a:p>
          <a:p xmlns:a="http://schemas.openxmlformats.org/drawingml/2006/main">
            <a:r>
              <a:t>      "pilot_scope": "부평종합시장, 부평문화의거리, 모다아울렛 등 주요 상권 및 인근 문화시설 권역",</a:t>
            </a:r>
          </a:p>
          <a:p xmlns:a="http://schemas.openxmlformats.org/drawingml/2006/main">
            <a:r>
              <a:t>      "budget_formula": "기획 가정/미확정 견적: (참여 상점 수 × 지원금 단가) + (스탬프 시스템 운영비) + (홍보비). 단가는 2026년 10월 이전 가맹점 모집 단계에서 확정 필요",</a:t>
            </a:r>
          </a:p>
          <a:p xmlns:a="http://schemas.openxmlformats.org/drawingml/2006/main">
            <a:r>
              <a:t>      "success_metrics": "사업 기간 내 참여 상점의 결제액 증가율 및 스탬프 완주자 수 (착수 전 기준선 확정 필요)",</a:t>
            </a:r>
          </a:p>
          <a:p xmlns:a="http://schemas.openxmlformats.org/drawingml/2006/main">
            <a:r>
              <a:t>      "stop_or_scale_rule": "예산 소진 속도 및 참여 상점의 결제 데이터 기반 목표 달성률에 따라 규모 조정",</a:t>
            </a:r>
          </a:p>
          <a:p xmlns:a="http://schemas.openxmlformats.org/drawingml/2006/main">
            <a:r>
              <a:t>      "supporting_case_ids": [</a:t>
            </a:r>
          </a:p>
          <a:p xmlns:a="http://schemas.openxmlformats.org/drawingml/2006/main">
            <a:r>
              <a:t>        "case:e4d3e4b6fd4903"</a:t>
            </a:r>
          </a:p>
          <a:p xmlns:a="http://schemas.openxmlformats.org/drawingml/2006/main">
            <a:r>
              <a:t>      ]</a:t>
            </a:r>
          </a:p>
          <a:p xmlns:a="http://schemas.openxmlformats.org/drawingml/2006/main">
            <a:r>
              <a:t>    },</a:t>
            </a:r>
          </a:p>
          <a:p xmlns:a="http://schemas.openxmlformats.org/drawingml/2006/main">
            <a:r>
              <a:t>    "rationale_evidence": {</a:t>
            </a:r>
          </a:p>
          <a:p xmlns:a="http://schemas.openxmlformats.org/drawingml/2006/main">
            <a:r>
              <a:t>      "version": "source-bound-rationale-v1",</a:t>
            </a:r>
          </a:p>
          <a:p xmlns:a="http://schemas.openxmlformats.org/drawingml/2006/main">
            <a:r>
              <a:t>      "candidates": {</a:t>
            </a:r>
          </a:p>
          <a:p xmlns:a="http://schemas.openxmlformats.org/drawingml/2006/main">
            <a:r>
              <a:t>        "cand_001": {</a:t>
            </a:r>
          </a:p>
          <a:p xmlns:a="http://schemas.openxmlformats.org/drawingml/2006/main">
            <a:r>
              <a:t>          "facts": {</a:t>
            </a:r>
          </a:p>
          <a:p xmlns:a="http://schemas.openxmlformats.org/drawingml/2006/main">
            <a:r>
              <a:t>            "dataset:28237:3": {</a:t>
            </a:r>
          </a:p>
          <a:p xmlns:a="http://schemas.openxmlformats.org/drawingml/2006/main">
            <a:r>
              <a:t>              "kind": "observed",</a:t>
            </a:r>
          </a:p>
          <a:p xmlns:a="http://schemas.openxmlformats.org/drawingml/2006/main">
            <a:r>
              <a:t>              "source_id": "dataset:28237:3",</a:t>
            </a:r>
          </a:p>
          <a:p xmlns:a="http://schemas.openxmlformats.org/drawingml/2006/main">
            <a:r>
              <a:t>              "record": {</a:t>
            </a:r>
          </a:p>
          <a:p xmlns:a="http://schemas.openxmlformats.org/drawingml/2006/main">
            <a:r>
              <a:t>                "title": "한국관광 데이터랩 · 인천광역시 부평구 관광소비 추이_외지인",</a:t>
            </a:r>
          </a:p>
          <a:p xmlns:a="http://schemas.openxmlformats.org/drawingml/2006/main">
            <a:r>
              <a:t>                "summary": "월간 외지인 관광소비 총액: 77,138,204,000원 (관측 기준월: 2026-06)",</a:t>
            </a:r>
          </a:p>
          <a:p xmlns:a="http://schemas.openxmlformats.org/drawingml/2006/main">
            <a:r>
              <a:t>                "source_id": "dataset:28237:3",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"forecast:3f0af113eca76470": {</a:t>
            </a:r>
          </a:p>
          <a:p xmlns:a="http://schemas.openxmlformats.org/drawingml/2006/main">
            <a:r>
              <a:t>              "kind": "forecast",</a:t>
            </a:r>
          </a:p>
          <a:p xmlns:a="http://schemas.openxmlformats.org/drawingml/2006/main">
            <a:r>
              <a:t>              "source_id": "ml:28237:regional-demand-v3.1:202606",</a:t>
            </a:r>
          </a:p>
          <a:p xmlns:a="http://schemas.openxmlformats.org/drawingml/2006/main">
            <a:r>
              <a:t>              "record": {</a:t>
            </a:r>
          </a:p>
          <a:p xmlns:a="http://schemas.openxmlformats.org/drawingml/2006/main">
            <a:r>
              <a:t>                "kind": "forecast_signal",</a:t>
            </a:r>
          </a:p>
          <a:p xmlns:a="http://schemas.openxmlformats.org/drawingml/2006/main">
            <a:r>
              <a:t>                "window_label": "입력 일정 전망",</a:t>
            </a:r>
          </a:p>
          <a:p xmlns:a="http://schemas.openxmlformats.org/drawingml/2006/main">
            <a:r>
              <a:t>                "window_months": 3,</a:t>
            </a:r>
          </a:p>
          <a:p xmlns:a="http://schemas.openxmlformats.org/drawingml/2006/main">
            <a:r>
              <a:t>                "reliability": "exploratory_longer_horizon",</a:t>
            </a:r>
          </a:p>
          <a:p xmlns:a="http://schemas.openxmlformats.org/drawingml/2006/main">
            <a:r>
              <a:t>                "model_reliability": "below_baseline_on_test",</a:t>
            </a:r>
          </a:p>
          <a:p xmlns:a="http://schemas.openxmlformats.org/drawingml/2006/main">
            <a:r>
              <a:t>                "metric": "spending_krw",</a:t>
            </a:r>
          </a:p>
          <a:p xmlns:a="http://schemas.openxmlformats.org/drawingml/2006/main">
            <a:r>
              <a:t>                "period": "202610~202612",</a:t>
            </a:r>
          </a:p>
          <a:p xmlns:a="http://schemas.openxmlformats.org/drawingml/2006/main">
            <a:r>
              <a:t>                "aggregation": "3_month_sum",</a:t>
            </a:r>
          </a:p>
          <a:p xmlns:a="http://schemas.openxmlformats.org/drawingml/2006/main">
            <a:r>
              <a:t>                "forecast_value": 243545949020.0,</a:t>
            </a:r>
          </a:p>
          <a:p xmlns:a="http://schemas.openxmlformats.org/drawingml/2006/main">
            <a:r>
              <a:t>                "previous_year_same_months_value": 251691159000.0,</a:t>
            </a:r>
          </a:p>
          <a:p xmlns:a="http://schemas.openxmlformats.org/drawingml/2006/main">
            <a:r>
              <a:t>                "change_percent": -3.24,</a:t>
            </a:r>
          </a:p>
          <a:p xmlns:a="http://schemas.openxmlformats.org/drawingml/2006/main">
            <a:r>
              <a:t>                "unit": "원",</a:t>
            </a:r>
          </a:p>
          <a:p xmlns:a="http://schemas.openxmlformats.org/drawingml/2006/main">
            <a:r>
              <a:t>                "source_id": "ml:28237:regional-demand-v3.1:202606",</a:t>
            </a:r>
          </a:p>
          <a:p xmlns:a="http://schemas.openxmlformats.org/drawingml/2006/main">
            <a:r>
              <a:t>                "interpretation": "입력 일정 전망에서 관광소비액의 전년 동기간 대비 감소 추세 예측입니다. 원인 또는 사업 효과를 뜻하지 않습니다."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"unresolved_fact_ids": [],</a:t>
            </a:r>
          </a:p>
          <a:p xmlns:a="http://schemas.openxmlformats.org/drawingml/2006/main">
            <a:r>
              <a:t>          "case_source_ids": [</a:t>
            </a:r>
          </a:p>
          <a:p xmlns:a="http://schemas.openxmlformats.org/drawingml/2006/main">
            <a:r>
              <a:t>            "case:e4d3e4b6fd4903"</a:t>
            </a:r>
          </a:p>
          <a:p xmlns:a="http://schemas.openxmlformats.org/drawingml/2006/main">
            <a:r>
              <a:t>          ],</a:t>
            </a:r>
          </a:p>
          <a:p xmlns:a="http://schemas.openxmlformats.org/drawingml/2006/main">
            <a:r>
              <a:t>          "candidate_fingerprint": "7bc1b3381998c09d338b6db04b04adf715b7d68b04a4183b5c89daee36cd0bed"</a:t>
            </a:r>
          </a:p>
          <a:p xmlns:a="http://schemas.openxmlformats.org/drawingml/2006/main">
            <a:r>
              <a:t>        },</a:t>
            </a:r>
          </a:p>
          <a:p xmlns:a="http://schemas.openxmlformats.org/drawingml/2006/main">
            <a:r>
              <a:t>        "cand_002": {</a:t>
            </a:r>
          </a:p>
          <a:p xmlns:a="http://schemas.openxmlformats.org/drawingml/2006/main">
            <a:r>
              <a:t>          "facts": {</a:t>
            </a:r>
          </a:p>
          <a:p xmlns:a="http://schemas.openxmlformats.org/drawingml/2006/main">
            <a:r>
              <a:t>            "dataset:28237:4": {</a:t>
            </a:r>
          </a:p>
          <a:p xmlns:a="http://schemas.openxmlformats.org/drawingml/2006/main">
            <a:r>
              <a:t>              "kind": "observed",</a:t>
            </a:r>
          </a:p>
          <a:p xmlns:a="http://schemas.openxmlformats.org/drawingml/2006/main">
            <a:r>
              <a:t>              "source_id": "dataset:28237:4",</a:t>
            </a:r>
          </a:p>
          <a:p xmlns:a="http://schemas.openxmlformats.org/drawingml/2006/main">
            <a:r>
              <a:t>              "record": {</a:t>
            </a:r>
          </a:p>
          <a:p xmlns:a="http://schemas.openxmlformats.org/drawingml/2006/main">
            <a:r>
              <a:t>                "title": "한국관광 데이터랩 · 인천광역시 부평구 숙박방문자 비율 추이 (이동통신 기반 외지인)",</a:t>
            </a:r>
          </a:p>
          <a:p xmlns:a="http://schemas.openxmlformats.org/drawingml/2006/main">
            <a:r>
              <a:t>                "summary": "외지인 숙박 방문 비율: 6.6% (관측 기준월: 2026-06)",</a:t>
            </a:r>
          </a:p>
          <a:p xmlns:a="http://schemas.openxmlformats.org/drawingml/2006/main">
            <a:r>
              <a:t>                "source_id": "dataset:28237:4",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"forecast:72b53a8068a1dae8": {</a:t>
            </a:r>
          </a:p>
          <a:p xmlns:a="http://schemas.openxmlformats.org/drawingml/2006/main">
            <a:r>
              <a:t>              "kind": "forecast",</a:t>
            </a:r>
          </a:p>
          <a:p xmlns:a="http://schemas.openxmlformats.org/drawingml/2006/main">
            <a:r>
              <a:t>              "source_id": "ml:28237:regional-demand-v3.1:202606",</a:t>
            </a:r>
          </a:p>
          <a:p xmlns:a="http://schemas.openxmlformats.org/drawingml/2006/main">
            <a:r>
              <a:t>              "record": {</a:t>
            </a:r>
          </a:p>
          <a:p xmlns:a="http://schemas.openxmlformats.org/drawingml/2006/main">
            <a:r>
              <a:t>                "kind": "forecast_signal",</a:t>
            </a:r>
          </a:p>
          <a:p xmlns:a="http://schemas.openxmlformats.org/drawingml/2006/main">
            <a:r>
              <a:t>                "window_label": "입력 일정 전망",</a:t>
            </a:r>
          </a:p>
          <a:p xmlns:a="http://schemas.openxmlformats.org/drawingml/2006/main">
            <a:r>
              <a:t>                "window_months": 3,</a:t>
            </a:r>
          </a:p>
          <a:p xmlns:a="http://schemas.openxmlformats.org/drawingml/2006/main">
            <a:r>
              <a:t>                "reliability": "exploratory_longer_horizon",</a:t>
            </a:r>
          </a:p>
          <a:p xmlns:a="http://schemas.openxmlformats.org/drawingml/2006/main">
            <a:r>
              <a:t>                "model_reliability": "limited_backtest_support",</a:t>
            </a:r>
          </a:p>
          <a:p xmlns:a="http://schemas.openxmlformats.org/drawingml/2006/main">
            <a:r>
              <a:t>                "metric": "lodging_nights",</a:t>
            </a:r>
          </a:p>
          <a:p xmlns:a="http://schemas.openxmlformats.org/drawingml/2006/main">
            <a:r>
              <a:t>                "period": "202610~202612",</a:t>
            </a:r>
          </a:p>
          <a:p xmlns:a="http://schemas.openxmlformats.org/drawingml/2006/main">
            <a:r>
              <a:t>                "aggregation": "3_month_average",</a:t>
            </a:r>
          </a:p>
          <a:p xmlns:a="http://schemas.openxmlformats.org/drawingml/2006/main">
            <a:r>
              <a:t>                "forecast_value": 2.8966666666666665,</a:t>
            </a:r>
          </a:p>
          <a:p xmlns:a="http://schemas.openxmlformats.org/drawingml/2006/main">
            <a:r>
              <a:t>                "previous_year_same_months_value": 2.8766666666666665,</a:t>
            </a:r>
          </a:p>
          <a:p xmlns:a="http://schemas.openxmlformats.org/drawingml/2006/main">
            <a:r>
              <a:t>                "change_percent": 0.7,</a:t>
            </a:r>
          </a:p>
          <a:p xmlns:a="http://schemas.openxmlformats.org/drawingml/2006/main">
            <a:r>
              <a:t>                "unit": "일",</a:t>
            </a:r>
          </a:p>
          <a:p xmlns:a="http://schemas.openxmlformats.org/drawingml/2006/main">
            <a:r>
              <a:t>                "source_id": "ml:28237:regional-demand-v3.1:202606",</a:t>
            </a:r>
          </a:p>
          <a:p xmlns:a="http://schemas.openxmlformats.org/drawingml/2006/main">
            <a:r>
              <a:t>                "interpretation": "입력 일정 전망에서 평균 숙박일수의 전년 동기간 대비 증가 추세 예측입니다. 원인 또는 사업 효과를 뜻하지 않습니다."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"unresolved_fact_ids": [],</a:t>
            </a:r>
          </a:p>
          <a:p xmlns:a="http://schemas.openxmlformats.org/drawingml/2006/main">
            <a:r>
              <a:t>          "case_source_ids": [</a:t>
            </a:r>
          </a:p>
          <a:p xmlns:a="http://schemas.openxmlformats.org/drawingml/2006/main">
            <a:r>
              <a:t>            "case:2c54c6aaf2117a"</a:t>
            </a:r>
          </a:p>
          <a:p xmlns:a="http://schemas.openxmlformats.org/drawingml/2006/main">
            <a:r>
              <a:t>          ],</a:t>
            </a:r>
          </a:p>
          <a:p xmlns:a="http://schemas.openxmlformats.org/drawingml/2006/main">
            <a:r>
              <a:t>          "candidate_fingerprint": "5544dc45522419158fc78683589129714c2ed7895f08da2ca51efef474ad2820"</a:t>
            </a:r>
          </a:p>
          <a:p xmlns:a="http://schemas.openxmlformats.org/drawingml/2006/main">
            <a:r>
              <a:t>        },</a:t>
            </a:r>
          </a:p>
          <a:p xmlns:a="http://schemas.openxmlformats.org/drawingml/2006/main">
            <a:r>
              <a:t>        "cand_003": {</a:t>
            </a:r>
          </a:p>
          <a:p xmlns:a="http://schemas.openxmlformats.org/drawingml/2006/main">
            <a:r>
              <a:t>          "facts": {</a:t>
            </a:r>
          </a:p>
          <a:p xmlns:a="http://schemas.openxmlformats.org/drawingml/2006/main">
            <a:r>
              <a:t>            "forecast:46a21b7d0804e215": {</a:t>
            </a:r>
          </a:p>
          <a:p xmlns:a="http://schemas.openxmlformats.org/drawingml/2006/main">
            <a:r>
              <a:t>              "kind": "forecast",</a:t>
            </a:r>
          </a:p>
          <a:p xmlns:a="http://schemas.openxmlformats.org/drawingml/2006/main">
            <a:r>
              <a:t>              "source_id": "ml:28237:regional-demand-v3.1:202606",</a:t>
            </a:r>
          </a:p>
          <a:p xmlns:a="http://schemas.openxmlformats.org/drawingml/2006/main">
            <a:r>
              <a:t>              "record": {</a:t>
            </a:r>
          </a:p>
          <a:p xmlns:a="http://schemas.openxmlformats.org/drawingml/2006/main">
            <a:r>
              <a:t>                "kind": "forecast_signal",</a:t>
            </a:r>
          </a:p>
          <a:p xmlns:a="http://schemas.openxmlformats.org/drawingml/2006/main">
            <a:r>
              <a:t>                "window_label": "입력 일정 전망",</a:t>
            </a:r>
          </a:p>
          <a:p xmlns:a="http://schemas.openxmlformats.org/drawingml/2006/main">
            <a:r>
              <a:t>                "window_months": 3,</a:t>
            </a:r>
          </a:p>
          <a:p xmlns:a="http://schemas.openxmlformats.org/drawingml/2006/main">
            <a:r>
              <a:t>                "reliability": "exploratory_longer_horizon",</a:t>
            </a:r>
          </a:p>
          <a:p xmlns:a="http://schemas.openxmlformats.org/drawingml/2006/main">
            <a:r>
              <a:t>                "model_reliability": "below_baseline_on_test",</a:t>
            </a:r>
          </a:p>
          <a:p xmlns:a="http://schemas.openxmlformats.org/drawingml/2006/main">
            <a:r>
              <a:t>                "metric": "visitors",</a:t>
            </a:r>
          </a:p>
          <a:p xmlns:a="http://schemas.openxmlformats.org/drawingml/2006/main">
            <a:r>
              <a:t>                "period": "202610~202612",</a:t>
            </a:r>
          </a:p>
          <a:p xmlns:a="http://schemas.openxmlformats.org/drawingml/2006/main">
            <a:r>
              <a:t>                "aggregation": "3_month_sum",</a:t>
            </a:r>
          </a:p>
          <a:p xmlns:a="http://schemas.openxmlformats.org/drawingml/2006/main">
            <a:r>
              <a:t>                "forecast_value": 11268139.0,</a:t>
            </a:r>
          </a:p>
          <a:p xmlns:a="http://schemas.openxmlformats.org/drawingml/2006/main">
            <a:r>
              <a:t>                "previous_year_same_months_value": 11515444.0,</a:t>
            </a:r>
          </a:p>
          <a:p xmlns:a="http://schemas.openxmlformats.org/drawingml/2006/main">
            <a:r>
              <a:t>                "change_percent": -2.15,</a:t>
            </a:r>
          </a:p>
          <a:p xmlns:a="http://schemas.openxmlformats.org/drawingml/2006/main">
            <a:r>
              <a:t>                "unit": "명",</a:t>
            </a:r>
          </a:p>
          <a:p xmlns:a="http://schemas.openxmlformats.org/drawingml/2006/main">
            <a:r>
              <a:t>                "source_id": "ml:28237:regional-demand-v3.1:202606",</a:t>
            </a:r>
          </a:p>
          <a:p xmlns:a="http://schemas.openxmlformats.org/drawingml/2006/main">
            <a:r>
              <a:t>                "interpretation": "입력 일정 전망에서 방문자 수의 전년 동기간 대비 감소 추세 예측입니다. 원인 또는 사업 효과를 뜻하지 않습니다."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"unresolved_fact_ids": [],</a:t>
            </a:r>
          </a:p>
          <a:p xmlns:a="http://schemas.openxmlformats.org/drawingml/2006/main">
            <a:r>
              <a:t>          "case_source_ids": [</a:t>
            </a:r>
          </a:p>
          <a:p xmlns:a="http://schemas.openxmlformats.org/drawingml/2006/main">
            <a:r>
              <a:t>            "case:digital_tourism_resident_2024"</a:t>
            </a:r>
          </a:p>
          <a:p xmlns:a="http://schemas.openxmlformats.org/drawingml/2006/main">
            <a:r>
              <a:t>          ],</a:t>
            </a:r>
          </a:p>
          <a:p xmlns:a="http://schemas.openxmlformats.org/drawingml/2006/main">
            <a:r>
              <a:t>          "candidate_fingerprint": "8d6dfa073fcec7a400245986029b9e5d58f296e7d41bddea62a4a38da3b7e898"</a:t>
            </a:r>
          </a:p>
          <a:p xmlns:a="http://schemas.openxmlformats.org/drawingml/2006/main">
            <a:r>
              <a:t>        }</a:t>
            </a:r>
          </a:p>
          <a:p xmlns:a="http://schemas.openxmlformats.org/drawingml/2006/main">
            <a:r>
              <a:t>      },</a:t>
            </a:r>
          </a:p>
          <a:p xmlns:a="http://schemas.openxmlformats.org/drawingml/2006/main">
            <a:r>
              <a:t>      "selection_at_binding": {</a:t>
            </a:r>
          </a:p>
          <a:p xmlns:a="http://schemas.openxmlformats.org/drawingml/2006/main">
            <a:r>
              <a:t>        "candidate_id": "cand_001",</a:t>
            </a:r>
          </a:p>
          <a:p xmlns:a="http://schemas.openxmlformats.org/drawingml/2006/main">
            <a:r>
              <a:t>        "reason": "선택안은 기존 상점의 결제 원장을 확인하는 흐름을 설계하기 용이하여 소비 전환 효과를 측정하기에 유리함. 대안인 야간 프로그램은 야간 운영 시간 및 안전 관리 준비가 더 필요하며, 디지털 주민증은 플랫폼 연계 및 가맹점 확보의 불확실성이 있음. 다만 선택안도 상인회와의 정산 협약 확보가 선행되어야 함."</a:t>
            </a:r>
          </a:p>
          <a:p xmlns:a="http://schemas.openxmlformats.org/drawingml/2006/main">
            <a:r>
              <a:t>      },</a:t>
            </a:r>
          </a:p>
          <a:p xmlns:a="http://schemas.openxmlformats.org/drawingml/2006/main">
            <a:r>
              <a:t>      "comparison_criteria": {</a:t>
            </a:r>
          </a:p>
          <a:p xmlns:a="http://schemas.openxmlformats.org/drawingml/2006/main">
            <a:r>
              <a:t>        "visitor_action": "이용 행동 · 방문객이 무엇을 하고 어떤 조건으로 혜택을 받는가",</a:t>
            </a:r>
          </a:p>
          <a:p xmlns:a="http://schemas.openxmlformats.org/drawingml/2006/main">
            <a:r>
              <a:t>        "operating_requirements": "운영 준비 · 참여처·인력·시간·시스템 중 무엇을 준비하는가",</a:t>
            </a:r>
          </a:p>
          <a:p xmlns:a="http://schemas.openxmlformats.org/drawingml/2006/main">
            <a:r>
              <a:t>        "measurement": "성과 확인 · 어떤 원장과 분자·분모로 이용 결과를 확인하는가"</a:t>
            </a:r>
          </a:p>
          <a:p xmlns:a="http://schemas.openxmlformats.org/drawingml/2006/main">
            <a:r>
              <a:t>      }</a:t>
            </a:r>
          </a:p>
          <a:p xmlns:a="http://schemas.openxmlformats.org/drawingml/2006/main">
            <a:r>
              <a:t>    },</a:t>
            </a:r>
          </a:p>
          <a:p xmlns:a="http://schemas.openxmlformats.org/drawingml/2006/main">
            <a:r>
              <a:t>    "original_candidate_assessments": [</a:t>
            </a:r>
          </a:p>
          <a:p xmlns:a="http://schemas.openxmlformats.org/drawingml/2006/main">
            <a:r>
              <a:t>      {</a:t>
            </a:r>
          </a:p>
          <a:p xmlns:a="http://schemas.openxmlformats.org/drawingml/2006/main">
            <a:r>
              <a:t>        "case_source_id": "case:2c54c6aaf2117a",</a:t>
            </a:r>
          </a:p>
          <a:p xmlns:a="http://schemas.openxmlformats.org/drawingml/2006/main">
            <a:r>
              <a:t>        "fit_score": 0,</a:t>
            </a:r>
          </a:p>
          <a:p xmlns:a="http://schemas.openxmlformats.org/drawingml/2006/main">
            <a:r>
              <a:t>        "evidence_score": 0,</a:t>
            </a:r>
          </a:p>
          <a:p xmlns:a="http://schemas.openxmlformats.org/drawingml/2006/main">
            <a:r>
              <a:t>        "similarity_reason": "인천 내 사업이나 해안 경관 중심의 도시 단위 사업으로 부평의 도심 상권과는 성격이 다름",</a:t>
            </a:r>
          </a:p>
          <a:p xmlns:a="http://schemas.openxmlformats.org/drawingml/2006/main">
            <a:r>
              <a:t>        "adaptation": "해안 경관 대신 문화시설과 시장을 잇는 압축된 저녁 동선으로 변경 필요",</a:t>
            </a:r>
          </a:p>
          <a:p xmlns:a="http://schemas.openxmlformats.org/drawingml/2006/main">
            <a:r>
              <a:t>        "rejection_risks": [</a:t>
            </a:r>
          </a:p>
          <a:p xmlns:a="http://schemas.openxmlformats.org/drawingml/2006/main">
            <a:r>
              <a:t>          "야간 교통과 안전이 확보되지 않으면 참여 만족도와 상점 이용시간이 제한될 수 있음",</a:t>
            </a:r>
          </a:p>
          <a:p xmlns:a="http://schemas.openxmlformats.org/drawingml/2006/main">
            <a:r>
              <a:t>          "일회성 공연 관람이 상시 체류나 상권 결제로 이어지지 않을 위험이 있음"</a:t>
            </a:r>
          </a:p>
          <a:p xmlns:a="http://schemas.openxmlformats.org/drawingml/2006/main">
            <a:r>
              <a:t>        ],</a:t>
            </a:r>
          </a:p>
          <a:p xmlns:a="http://schemas.openxmlformats.org/drawingml/2006/main">
            <a:r>
              <a:t>        "validation_plan": "예약 회차별 정원 및 프로그램 전후 상권 결제 데이터를 통한 효과 측정 필요"</a:t>
            </a:r>
          </a:p>
          <a:p xmlns:a="http://schemas.openxmlformats.org/drawingml/2006/main">
            <a:r>
              <a:t>      },</a:t>
            </a:r>
          </a:p>
          <a:p xmlns:a="http://schemas.openxmlformats.org/drawingml/2006/main">
            <a:r>
              <a:t>      {</a:t>
            </a:r>
          </a:p>
          <a:p xmlns:a="http://schemas.openxmlformats.org/drawingml/2006/main">
            <a:r>
              <a:t>        "case_source_id": "case:e4d3e4b6fd4903",</a:t>
            </a:r>
          </a:p>
          <a:p xmlns:a="http://schemas.openxmlformats.org/drawingml/2006/main">
            <a:r>
              <a:t>        "fit_score": 0,</a:t>
            </a:r>
          </a:p>
          <a:p xmlns:a="http://schemas.openxmlformats.org/drawingml/2006/main">
            <a:r>
              <a:t>        "evidence_score": 0,</a:t>
            </a:r>
          </a:p>
          <a:p xmlns:a="http://schemas.openxmlformats.org/drawingml/2006/main">
            <a:r>
              <a:t>        "similarity_reason": "공공행사 관람객을 주변 상권으로 유도하는 운영 원리가 부평의 스탬프 투어와 유사함",</a:t>
            </a:r>
          </a:p>
          <a:p xmlns:a="http://schemas.openxmlformats.org/drawingml/2006/main">
            <a:r>
              <a:t>        "adaptation": "대규모 박람회 대신 부평의 기존 거점과 인접 상권을 연결하는 소규모 모델로 축소 운영",</a:t>
            </a:r>
          </a:p>
          <a:p xmlns:a="http://schemas.openxmlformats.org/drawingml/2006/main">
            <a:r>
              <a:t>        "rejection_risks": [</a:t>
            </a:r>
          </a:p>
          <a:p xmlns:a="http://schemas.openxmlformats.org/drawingml/2006/main">
            <a:r>
              <a:t>          "대규모 행사의 성과를 부평구 규모에 비례하여 환산할 수 없음",</a:t>
            </a:r>
          </a:p>
          <a:p xmlns:a="http://schemas.openxmlformats.org/drawingml/2006/main">
            <a:r>
              <a:t>          "무료 대형행사의 경우 참여 상점별 매출 효과가 불균등할 수 있음"</a:t>
            </a:r>
          </a:p>
          <a:p xmlns:a="http://schemas.openxmlformats.org/drawingml/2006/main">
            <a:r>
              <a:t>        ],</a:t>
            </a:r>
          </a:p>
          <a:p xmlns:a="http://schemas.openxmlformats.org/drawingml/2006/main">
            <a:r>
              <a:t>        "validation_plan": "사업 전후 1주일간의 카드 결제액 및 생활인구 변화를 동일 요일 기준으로 비교"</a:t>
            </a:r>
          </a:p>
          <a:p xmlns:a="http://schemas.openxmlformats.org/drawingml/2006/main">
            <a:r>
              <a:t>      },</a:t>
            </a:r>
          </a:p>
          <a:p xmlns:a="http://schemas.openxmlformats.org/drawingml/2006/main">
            <a:r>
              <a:t>      {</a:t>
            </a:r>
          </a:p>
          <a:p xmlns:a="http://schemas.openxmlformats.org/drawingml/2006/main">
            <a:r>
              <a:t>        "case_source_id": "case:digital_tourism_resident_2024",</a:t>
            </a:r>
          </a:p>
          <a:p xmlns:a="http://schemas.openxmlformats.org/drawingml/2006/main">
            <a:r>
              <a:t>        "fit_score": 0,</a:t>
            </a:r>
          </a:p>
          <a:p xmlns:a="http://schemas.openxmlformats.org/drawingml/2006/main">
            <a:r>
              <a:t>        "evidence_score": 0,</a:t>
            </a:r>
          </a:p>
          <a:p xmlns:a="http://schemas.openxmlformats.org/drawingml/2006/main">
            <a:r>
              <a:t>        "similarity_reason": "디지털 인증을 통한 혜택 제공 방식이 유사하나 부평은 도심형 소비 구조에 맞춰야 함",</a:t>
            </a:r>
          </a:p>
          <a:p xmlns:a="http://schemas.openxmlformats.org/drawingml/2006/main">
            <a:r>
              <a:t>        "adaptation": "인구감소지역의 광역적 접근성 모델 대신 부평의 높은 쇼핑/식음 비중을 고려한 혜택 설계",</a:t>
            </a:r>
          </a:p>
          <a:p xmlns:a="http://schemas.openxmlformats.org/drawingml/2006/main">
            <a:r>
              <a:t>        "rejection_risks": [</a:t>
            </a:r>
          </a:p>
          <a:p xmlns:a="http://schemas.openxmlformats.org/drawingml/2006/main">
            <a:r>
              <a:t>          "발급 건수와 실제 지역 소비 간의 인과관계를 증명하기 어려움",</a:t>
            </a:r>
          </a:p>
          <a:p xmlns:a="http://schemas.openxmlformats.org/drawingml/2006/main">
            <a:r>
              <a:t>          "혜택 사용률이 낮을 경우 홍보비 대비 효율이 저하될 수 있음"</a:t>
            </a:r>
          </a:p>
          <a:p xmlns:a="http://schemas.openxmlformats.org/drawingml/2006/main">
            <a:r>
              <a:t>        ],</a:t>
            </a:r>
          </a:p>
          <a:p xmlns:a="http://schemas.openxmlformats.org/drawingml/2006/main">
            <a:r>
              <a:t>        "validation_plan": "디지털 인증 발급 건수 대비 실제 가맹점 이용 완료 건수(전환율) 측정"</a:t>
            </a:r>
          </a:p>
          <a:p xmlns:a="http://schemas.openxmlformats.org/drawingml/2006/main">
            <a:r>
              <a:t>      }</a:t>
            </a:r>
          </a:p>
          <a:p xmlns:a="http://schemas.openxmlformats.org/drawingml/2006/main">
            <a:r>
              <a:t>    ],</a:t>
            </a:r>
          </a:p>
          <a:p xmlns:a="http://schemas.openxmlformats.org/drawingml/2006/main">
            <a:r>
              <a:t>    "case_linkage": {</a:t>
            </a:r>
          </a:p>
          <a:p xmlns:a="http://schemas.openxmlformats.org/drawingml/2006/main">
            <a:r>
              <a:t>      "method": "operation-document-v2",</a:t>
            </a:r>
          </a:p>
          <a:p xmlns:a="http://schemas.openxmlformats.org/drawingml/2006/main">
            <a:r>
              <a:t>      "operation_family": "spend_conversion",</a:t>
            </a:r>
          </a:p>
          <a:p xmlns:a="http://schemas.openxmlformats.org/drawingml/2006/main">
            <a:r>
              <a:t>      "original_case_source_ids": [</a:t>
            </a:r>
          </a:p>
          <a:p xmlns:a="http://schemas.openxmlformats.org/drawingml/2006/main">
            <a:r>
              <a:t>        "case:e4d3e4b6fd4903"</a:t>
            </a:r>
          </a:p>
          <a:p xmlns:a="http://schemas.openxmlformats.org/drawingml/2006/main">
            <a:r>
              <a:t>      ],</a:t>
            </a:r>
          </a:p>
          <a:p xmlns:a="http://schemas.openxmlformats.org/drawingml/2006/main">
            <a:r>
              <a:t>      "matched_source_ids": [</a:t>
            </a:r>
          </a:p>
          <a:p xmlns:a="http://schemas.openxmlformats.org/drawingml/2006/main">
            <a:r>
              <a:t>        "case:e4d3e4b6fd4903"</a:t>
            </a:r>
          </a:p>
          <a:p xmlns:a="http://schemas.openxmlformats.org/drawingml/2006/main">
            <a:r>
              <a:t>      ],</a:t>
            </a:r>
          </a:p>
          <a:p xmlns:a="http://schemas.openxmlformats.org/drawingml/2006/main">
            <a:r>
              <a:t>      "regional_similarity_verified": false,</a:t>
            </a:r>
          </a:p>
          <a:p xmlns:a="http://schemas.openxmlformats.org/drawingml/2006/main">
            <a:r>
              <a:t>      "basis": "같은 운영 방식의 유효한 인용을 유지. 인용 누락·오류일 때만 지역 검색 맥락·문서 등급으로 참고 사례 1건 연결. 지역 적합성 순위나 효과 확률이 아님."</a:t>
            </a:r>
          </a:p>
          <a:p xmlns:a="http://schemas.openxmlformats.org/drawingml/2006/main">
            <a:r>
              <a:t>    }</a:t>
            </a:r>
          </a:p>
          <a:p xmlns:a="http://schemas.openxmlformats.org/drawingml/2006/main">
            <a:r>
              <a:t>  },</a:t>
            </a:r>
          </a:p>
          <a:p xmlns:a="http://schemas.openxmlformats.org/drawingml/2006/main">
            <a:r>
              <a:t>  "evidence_sources": [</a:t>
            </a:r>
          </a:p>
          <a:p xmlns:a="http://schemas.openxmlformats.org/drawingml/2006/main">
            <a:r>
              <a:t>    {</a:t>
            </a:r>
          </a:p>
          <a:p xmlns:a="http://schemas.openxmlformats.org/drawingml/2006/main">
            <a:r>
              <a:t>      "title": "한국관광 데이터랩 · 인천광역시 부평구 순 방문자 수 및 숙박 비율 (이동통신 기반 외지인)",</a:t>
            </a:r>
          </a:p>
          <a:p xmlns:a="http://schemas.openxmlformats.org/drawingml/2006/main">
            <a:r>
              <a:t>      "summary": "월간 순 방문자 수: 3,514,485명 (관측 기준월: 2026-06)",</a:t>
            </a:r>
          </a:p>
          <a:p xmlns:a="http://schemas.openxmlformats.org/drawingml/2006/main">
            <a:r>
              <a:t>      "source_id": "dataset:28237:1",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월간 순 방문자 수 (이동통신 기반 외지인)",</a:t>
            </a:r>
          </a:p>
          <a:p xmlns:a="http://schemas.openxmlformats.org/drawingml/2006/main">
            <a:r>
              <a:t>      "summary": "전년동월 외지인 방문자 증감률: -2.2% (관측 기준월: 2026-06)",</a:t>
            </a:r>
          </a:p>
          <a:p xmlns:a="http://schemas.openxmlformats.org/drawingml/2006/main">
            <a:r>
              <a:t>      "source_id": "dataset:28237:2",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관광소비 추이_외지인",</a:t>
            </a:r>
          </a:p>
          <a:p xmlns:a="http://schemas.openxmlformats.org/drawingml/2006/main">
            <a:r>
              <a:t>      "summary": "월간 외지인 관광소비 총액: 77,138,204,000원 (관측 기준월: 2026-06)",</a:t>
            </a:r>
          </a:p>
          <a:p xmlns:a="http://schemas.openxmlformats.org/drawingml/2006/main">
            <a:r>
              <a:t>      "source_id": "dataset:28237:3",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숙박방문자 비율 추이 (이동통신 기반 외지인)",</a:t>
            </a:r>
          </a:p>
          <a:p xmlns:a="http://schemas.openxmlformats.org/drawingml/2006/main">
            <a:r>
              <a:t>      "summary": "외지인 숙박 방문 비율: 6.6% (관측 기준월: 2026-06)",</a:t>
            </a:r>
          </a:p>
          <a:p xmlns:a="http://schemas.openxmlformats.org/drawingml/2006/main">
            <a:r>
              <a:t>      "source_id": "dataset:28237:4",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평균 숙박일 (이동통신 기반 외지인)",</a:t>
            </a:r>
          </a:p>
          <a:p xmlns:a="http://schemas.openxmlformats.org/drawingml/2006/main">
            <a:r>
              <a:t>      "summary": "외지인 평균 숙박일수: 2.90일 (관측 기준월: 2026-06)",</a:t>
            </a:r>
          </a:p>
          <a:p xmlns:a="http://schemas.openxmlformats.org/drawingml/2006/main">
            <a:r>
              <a:t>      "source_id": "dataset:28237:5",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내비게이션 목적지 유형별 검색량",</a:t>
            </a:r>
          </a:p>
          <a:p xmlns:a="http://schemas.openxmlformats.org/drawingml/2006/main">
            <a:r>
              <a:t>      "summary": "내비게이션 목적지 검색량: 121,606건 (관측 기준월: 2026-06)",</a:t>
            </a:r>
          </a:p>
          <a:p xmlns:a="http://schemas.openxmlformats.org/drawingml/2006/main">
            <a:r>
              <a:t>      "source_id": "dataset:28237:6",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인천광역시 부평구 SNS 언급량",</a:t>
            </a:r>
          </a:p>
          <a:p xmlns:a="http://schemas.openxmlformats.org/drawingml/2006/main">
            <a:r>
              <a:t>      "summary": "SNS 언급량: 44,932건 (관측 기준월: 2026-06)",</a:t>
            </a:r>
          </a:p>
          <a:p xmlns:a="http://schemas.openxmlformats.org/drawingml/2006/main">
            <a:r>
              <a:t>      "source_id": "dataset:28237:7",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인천광역시_부평구/관광소비/2025_01_12.zip",</a:t>
            </a:r>
          </a:p>
          <a:p xmlns:a="http://schemas.openxmlformats.org/drawingml/2006/main">
            <a:r>
              <a:t>      "summary": "전국 비교 기준 기간: 2025-07 ~ 2026-06",</a:t>
            </a:r>
          </a:p>
          <a:p xmlns:a="http://schemas.openxmlformats.org/drawingml/2006/main">
            <a:r>
              <a:t>      "source_id": "datalab:088dce68db8c:f9e07528e9cc",</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인천광역시_부평구/숙박_체류시간/2026_01_06.zip",</a:t>
            </a:r>
          </a:p>
          <a:p xmlns:a="http://schemas.openxmlformats.org/drawingml/2006/main">
            <a:r>
              <a:t>      "summary": "전국 비교 기준 기간: 2025-07 ~ 2026-06",</a:t>
            </a:r>
          </a:p>
          <a:p xmlns:a="http://schemas.openxmlformats.org/drawingml/2006/main">
            <a:r>
              <a:t>      "source_id": "datalab:12893561bbea:153ed3aa5a6e",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인천광역시_부평구/방문자/2025_01_12.zip",</a:t>
            </a:r>
          </a:p>
          <a:p xmlns:a="http://schemas.openxmlformats.org/drawingml/2006/main">
            <a:r>
              <a:t>      "summary": "전국 비교 기준 기간: 2025-07 ~ 2026-06",</a:t>
            </a:r>
          </a:p>
          <a:p xmlns:a="http://schemas.openxmlformats.org/drawingml/2006/main">
            <a:r>
              <a:t>      "source_id": "datalab:328e6d50da04:877452ad2b59",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인천광역시_부평구/방문자/2026_01_06.zip",</a:t>
            </a:r>
          </a:p>
          <a:p xmlns:a="http://schemas.openxmlformats.org/drawingml/2006/main">
            <a:r>
              <a:t>      "summary": "전국 비교 기준 기간: 2025-07 ~ 2026-06",</a:t>
            </a:r>
          </a:p>
          <a:p xmlns:a="http://schemas.openxmlformats.org/drawingml/2006/main">
            <a:r>
              <a:t>      "source_id": "datalab:5104039977f5:37dc3b7e64b5",</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인천광역시_부평구/숙박_체류시간/2025_01_12.zip",</a:t>
            </a:r>
          </a:p>
          <a:p xmlns:a="http://schemas.openxmlformats.org/drawingml/2006/main">
            <a:r>
              <a:t>      "summary": "전국 비교 기준 기간: 2025-07 ~ 2026-06",</a:t>
            </a:r>
          </a:p>
          <a:p xmlns:a="http://schemas.openxmlformats.org/drawingml/2006/main">
            <a:r>
              <a:t>      "source_id": "datalab:b7bac265962d:97cf4d1db102",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인천광역시_부평구/관광소비/2026_01_06.zip",</a:t>
            </a:r>
          </a:p>
          <a:p xmlns:a="http://schemas.openxmlformats.org/drawingml/2006/main">
            <a:r>
              <a:t>      "summary": "전국 비교 기준 기간: 2025-07 ~ 2026-06",</a:t>
            </a:r>
          </a:p>
          <a:p xmlns:a="http://schemas.openxmlformats.org/drawingml/2006/main">
            <a:r>
              <a:t>      "source_id": "datalab:bd21758c8a88:9597865e62ef",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인천광역시 부평구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"regional-status:0b32b3d6db4d:a1a67792e3b1",</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인천광역시 부평구 · 유입유출",</a:t>
            </a:r>
          </a:p>
          <a:p xmlns:a="http://schemas.openxmlformats.org/drawingml/2006/main">
            <a:r>
              <a:t>      "summary": "관측 기간: 2025-07 ~ 2026-06. 유입·유출·인기장소 또는 30일 집중 운영 신호.",</a:t>
            </a:r>
          </a:p>
          <a:p xmlns:a="http://schemas.openxmlformats.org/drawingml/2006/main">
            <a:r>
              <a:t>      "source_id": "regional-status:98eebe8613d3:723745281038",</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인천광역시 부평구 · 인기관광지",</a:t>
            </a:r>
          </a:p>
          <a:p xmlns:a="http://schemas.openxmlformats.org/drawingml/2006/main">
            <a:r>
              <a:t>      "summary": "관측 기간: 2025-07 ~ 2026-06. 유입·유출·인기장소 또는 30일 집중 운영 신호.",</a:t>
            </a:r>
          </a:p>
          <a:p xmlns:a="http://schemas.openxmlformats.org/drawingml/2006/main">
            <a:r>
              <a:t>      "source_id": "regional-status:b12ff2da0892:a553d7015259",</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"ml:28237:regional-demand-v3.1:202606",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"06231bffd046b8ec0625c675881feb25e51324ad265d5b5ecf0dc8d247440a7d"</a:t>
            </a:r>
          </a:p>
          <a:p xmlns:a="http://schemas.openxmlformats.org/drawingml/2006/main">
            <a:r>
              <a:t>    },</a:t>
            </a:r>
          </a:p>
          <a:p xmlns:a="http://schemas.openxmlformats.org/drawingml/2006/main">
            <a:r>
              <a:t>    {</a:t>
            </a:r>
          </a:p>
          <a:p xmlns:a="http://schemas.openxmlformats.org/drawingml/2006/main">
            <a:r>
              <a:t>      "title": "굴포천 생태하천",</a:t>
            </a:r>
          </a:p>
          <a:p xmlns:a="http://schemas.openxmlformats.org/drawingml/2006/main">
            <a:r>
              <a:t>      "address": "인천광역시 부평구 굴포로 141 (삼산동)",</a:t>
            </a:r>
          </a:p>
          <a:p xmlns:a="http://schemas.openxmlformats.org/drawingml/2006/main">
            <a:r>
              <a:t>      "summary": "한국관광공사 국문관광정보 API가 반환한 선택 지역 관광자원",</a:t>
            </a:r>
          </a:p>
          <a:p xmlns:a="http://schemas.openxmlformats.org/drawingml/2006/main">
            <a:r>
              <a:t>      "image_url": "http://tong.visitkorea.or.kr/cms/resource/60/3523760_image2_1.jpg",</a:t>
            </a:r>
          </a:p>
          <a:p xmlns:a="http://schemas.openxmlformats.org/drawingml/2006/main">
            <a:r>
              <a:t>      "source_id": "tour-api:1619098",</a:t>
            </a:r>
          </a:p>
          <a:p xmlns:a="http://schemas.openxmlformats.org/drawingml/2006/main">
            <a:r>
              <a:t>      "content_id": "1619098",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"대왕김밥",</a:t>
            </a:r>
          </a:p>
          <a:p xmlns:a="http://schemas.openxmlformats.org/drawingml/2006/main">
            <a:r>
              <a:t>      "address": "인천광역시 부평구 부평문화로 41 (부평동)",</a:t>
            </a:r>
          </a:p>
          <a:p xmlns:a="http://schemas.openxmlformats.org/drawingml/2006/main">
            <a:r>
              <a:t>      "summary": "한국관광공사 국문관광정보 API가 반환한 선택 지역 관광자원",</a:t>
            </a:r>
          </a:p>
          <a:p xmlns:a="http://schemas.openxmlformats.org/drawingml/2006/main">
            <a:r>
              <a:t>      "image_url": "http://tong.visitkorea.or.kr/cms/resource/03/2875403_image2_1.jpg",</a:t>
            </a:r>
          </a:p>
          <a:p xmlns:a="http://schemas.openxmlformats.org/drawingml/2006/main">
            <a:r>
              <a:t>      "source_id": "tour-api:2875411",</a:t>
            </a:r>
          </a:p>
          <a:p xmlns:a="http://schemas.openxmlformats.org/drawingml/2006/main">
            <a:r>
              <a:t>      "content_id": "2875411",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"돈타래게장정식",</a:t>
            </a:r>
          </a:p>
          <a:p xmlns:a="http://schemas.openxmlformats.org/drawingml/2006/main">
            <a:r>
              <a:t>      "address": "인천광역시 부평구 열우물로 59",</a:t>
            </a:r>
          </a:p>
          <a:p xmlns:a="http://schemas.openxmlformats.org/drawingml/2006/main">
            <a:r>
              <a:t>      "summary": "한국관광공사 국문관광정보 API가 반환한 선택 지역 관광자원",</a:t>
            </a:r>
          </a:p>
          <a:p xmlns:a="http://schemas.openxmlformats.org/drawingml/2006/main">
            <a:r>
              <a:t>      "image_url": "http://tong.visitkorea.or.kr/cms/resource/35/2790235_image2_1.jpg",</a:t>
            </a:r>
          </a:p>
          <a:p xmlns:a="http://schemas.openxmlformats.org/drawingml/2006/main">
            <a:r>
              <a:t>      "source_id": "tour-api:2768148",</a:t>
            </a:r>
          </a:p>
          <a:p xmlns:a="http://schemas.openxmlformats.org/drawingml/2006/main">
            <a:r>
              <a:t>      "content_id": "2768148",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"면박사가야밀면",</a:t>
            </a:r>
          </a:p>
          <a:p xmlns:a="http://schemas.openxmlformats.org/drawingml/2006/main">
            <a:r>
              <a:t>      "address": "인천광역시 부평구 주부토로172번길 28",</a:t>
            </a:r>
          </a:p>
          <a:p xmlns:a="http://schemas.openxmlformats.org/drawingml/2006/main">
            <a:r>
              <a:t>      "summary": "한국관광공사 국문관광정보 API가 반환한 선택 지역 관광자원",</a:t>
            </a:r>
          </a:p>
          <a:p xmlns:a="http://schemas.openxmlformats.org/drawingml/2006/main">
            <a:r>
              <a:t>      "image_url": "http://tong.visitkorea.or.kr/cms/resource/52/2873452_image2_1.jpg",</a:t>
            </a:r>
          </a:p>
          <a:p xmlns:a="http://schemas.openxmlformats.org/drawingml/2006/main">
            <a:r>
              <a:t>      "source_id": "tour-api:2873461",</a:t>
            </a:r>
          </a:p>
          <a:p xmlns:a="http://schemas.openxmlformats.org/drawingml/2006/main">
            <a:r>
              <a:t>      "content_id": "2873461",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"모녀떡볶이 부평남부역점",</a:t>
            </a:r>
          </a:p>
          <a:p xmlns:a="http://schemas.openxmlformats.org/drawingml/2006/main">
            <a:r>
              <a:t>      "address": "강원특별자치도 태백시 광장로 16 (황지동)",</a:t>
            </a:r>
          </a:p>
          <a:p xmlns:a="http://schemas.openxmlformats.org/drawingml/2006/main">
            <a:r>
              <a:t>      "summary": "한국관광공사 국문관광정보 API가 반환한 선택 지역 관광자원",</a:t>
            </a:r>
          </a:p>
          <a:p xmlns:a="http://schemas.openxmlformats.org/drawingml/2006/main">
            <a:r>
              <a:t>      "image_url": "http://tong.visitkorea.or.kr/cms/resource/58/2833858_image2_1.jpg",</a:t>
            </a:r>
          </a:p>
          <a:p xmlns:a="http://schemas.openxmlformats.org/drawingml/2006/main">
            <a:r>
              <a:t>      "source_id": "tour-api:2833868",</a:t>
            </a:r>
          </a:p>
          <a:p xmlns:a="http://schemas.openxmlformats.org/drawingml/2006/main">
            <a:r>
              <a:t>      "content_id": "2833868",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"백운공원",</a:t>
            </a:r>
          </a:p>
          <a:p xmlns:a="http://schemas.openxmlformats.org/drawingml/2006/main">
            <a:r>
              <a:t>      "address": "인천광역시 부평구 십정동 186-419",</a:t>
            </a:r>
          </a:p>
          <a:p xmlns:a="http://schemas.openxmlformats.org/drawingml/2006/main">
            <a:r>
              <a:t>      "summary": "한국관광공사 국문관광정보 API가 반환한 선택 지역 관광자원",</a:t>
            </a:r>
          </a:p>
          <a:p xmlns:a="http://schemas.openxmlformats.org/drawingml/2006/main">
            <a:r>
              <a:t>      "image_url": "http://tong.visitkorea.or.kr/cms/resource/55/3395555_image2_1.JPG",</a:t>
            </a:r>
          </a:p>
          <a:p xmlns:a="http://schemas.openxmlformats.org/drawingml/2006/main">
            <a:r>
              <a:t>      "source_id": "tour-api:2768156",</a:t>
            </a:r>
          </a:p>
          <a:p xmlns:a="http://schemas.openxmlformats.org/drawingml/2006/main">
            <a:r>
              <a:t>      "content_id": "2768156",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"별미칡냉면원조",</a:t>
            </a:r>
          </a:p>
          <a:p xmlns:a="http://schemas.openxmlformats.org/drawingml/2006/main">
            <a:r>
              <a:t>      "address": "인천광역시 부평구 주부토로145번길 28 (갈산동)",</a:t>
            </a:r>
          </a:p>
          <a:p xmlns:a="http://schemas.openxmlformats.org/drawingml/2006/main">
            <a:r>
              <a:t>      "summary": "한국관광공사 국문관광정보 API가 반환한 선택 지역 관광자원",</a:t>
            </a:r>
          </a:p>
          <a:p xmlns:a="http://schemas.openxmlformats.org/drawingml/2006/main">
            <a:r>
              <a:t>      "image_url": "http://tong.visitkorea.or.kr/cms/resource/46/2875446_image2_1.jpg",</a:t>
            </a:r>
          </a:p>
          <a:p xmlns:a="http://schemas.openxmlformats.org/drawingml/2006/main">
            <a:r>
              <a:t>      "source_id": "tour-api:2875455",</a:t>
            </a:r>
          </a:p>
          <a:p xmlns:a="http://schemas.openxmlformats.org/drawingml/2006/main">
            <a:r>
              <a:t>      "content_id": "2875455",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"부영공원",</a:t>
            </a:r>
          </a:p>
          <a:p xmlns:a="http://schemas.openxmlformats.org/drawingml/2006/main">
            <a:r>
              <a:t>      "address": "인천광역시 부평구 안남로 146",</a:t>
            </a:r>
          </a:p>
          <a:p xmlns:a="http://schemas.openxmlformats.org/drawingml/2006/main">
            <a:r>
              <a:t>      "summary": "한국관광공사 국문관광정보 API가 반환한 선택 지역 관광자원",</a:t>
            </a:r>
          </a:p>
          <a:p xmlns:a="http://schemas.openxmlformats.org/drawingml/2006/main">
            <a:r>
              <a:t>      "image_url": "http://tong.visitkorea.or.kr/cms/resource/62/3395562_image2_1.JPG",</a:t>
            </a:r>
          </a:p>
          <a:p xmlns:a="http://schemas.openxmlformats.org/drawingml/2006/main">
            <a:r>
              <a:t>      "source_id": "tour-api:2767563",</a:t>
            </a:r>
          </a:p>
          <a:p xmlns:a="http://schemas.openxmlformats.org/drawingml/2006/main">
            <a:r>
              <a:t>      "content_id": "2767563",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"부평 굴포누리 기후변화체험관",</a:t>
            </a:r>
          </a:p>
          <a:p xmlns:a="http://schemas.openxmlformats.org/drawingml/2006/main">
            <a:r>
              <a:t>      "address": "인천광역시 부평구 장제로 267 (갈산동)",</a:t>
            </a:r>
          </a:p>
          <a:p xmlns:a="http://schemas.openxmlformats.org/drawingml/2006/main">
            <a:r>
              <a:t>      "summary": "한국관광공사 국문관광정보 API가 반환한 선택 지역 관광자원",</a:t>
            </a:r>
          </a:p>
          <a:p xmlns:a="http://schemas.openxmlformats.org/drawingml/2006/main">
            <a:r>
              <a:t>      "image_url": "http://tong.visitkorea.or.kr/cms/resource/89/3456089_image2_1.jpg",</a:t>
            </a:r>
          </a:p>
          <a:p xmlns:a="http://schemas.openxmlformats.org/drawingml/2006/main">
            <a:r>
              <a:t>      "source_id": "tour-api:3456754",</a:t>
            </a:r>
          </a:p>
          <a:p xmlns:a="http://schemas.openxmlformats.org/drawingml/2006/main">
            <a:r>
              <a:t>      "content_id": "3456754",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"부평 종합시장",</a:t>
            </a:r>
          </a:p>
          <a:p xmlns:a="http://schemas.openxmlformats.org/drawingml/2006/main">
            <a:r>
              <a:t>      "address": "인천광역시 부평구 부흥로316번길 38-3",</a:t>
            </a:r>
          </a:p>
          <a:p xmlns:a="http://schemas.openxmlformats.org/drawingml/2006/main">
            <a:r>
              <a:t>      "summary": "한국관광공사 국문관광정보 API가 반환한 선택 지역 관광자원",</a:t>
            </a:r>
          </a:p>
          <a:p xmlns:a="http://schemas.openxmlformats.org/drawingml/2006/main">
            <a:r>
              <a:t>      "image_url": "http://tong.visitkorea.or.kr/cms/resource/47/3395547_image2_1.JPG",</a:t>
            </a:r>
          </a:p>
          <a:p xmlns:a="http://schemas.openxmlformats.org/drawingml/2006/main">
            <a:r>
              <a:t>      "source_id": "tour-api:1025514",</a:t>
            </a:r>
          </a:p>
          <a:p xmlns:a="http://schemas.openxmlformats.org/drawingml/2006/main">
            <a:r>
              <a:t>      "content_id": "1025514",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"부평 해물탕거리",</a:t>
            </a:r>
          </a:p>
          <a:p xmlns:a="http://schemas.openxmlformats.org/drawingml/2006/main">
            <a:r>
              <a:t>      "address": "인천광역시 부평구 부평동",</a:t>
            </a:r>
          </a:p>
          <a:p xmlns:a="http://schemas.openxmlformats.org/drawingml/2006/main">
            <a:r>
              <a:t>      "summary": "한국관광공사 국문관광정보 API가 반환한 선택 지역 관광자원",</a:t>
            </a:r>
          </a:p>
          <a:p xmlns:a="http://schemas.openxmlformats.org/drawingml/2006/main">
            <a:r>
              <a:t>      "image_url": "http://tong.visitkorea.or.kr/cms/resource/95/3309195_image2_1.jpg",</a:t>
            </a:r>
          </a:p>
          <a:p xmlns:a="http://schemas.openxmlformats.org/drawingml/2006/main">
            <a:r>
              <a:t>      "source_id": "tour-api:749211",</a:t>
            </a:r>
          </a:p>
          <a:p xmlns:a="http://schemas.openxmlformats.org/drawingml/2006/main">
            <a:r>
              <a:t>      "content_id": "749211",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"부평모두몰(부평지하도상가)",</a:t>
            </a:r>
          </a:p>
          <a:p xmlns:a="http://schemas.openxmlformats.org/drawingml/2006/main">
            <a:r>
              <a:t>      "address": "인천광역시 부평구 부평대로 지하 69",</a:t>
            </a:r>
          </a:p>
          <a:p xmlns:a="http://schemas.openxmlformats.org/drawingml/2006/main">
            <a:r>
              <a:t>      "summary": "한국관광공사 국문관광정보 API가 반환한 선택 지역 관광자원",</a:t>
            </a:r>
          </a:p>
          <a:p xmlns:a="http://schemas.openxmlformats.org/drawingml/2006/main">
            <a:r>
              <a:t>      "image_url": "http://tong.visitkorea.or.kr/cms/resource/07/3395507_image2_1.JPG",</a:t>
            </a:r>
          </a:p>
          <a:p xmlns:a="http://schemas.openxmlformats.org/drawingml/2006/main">
            <a:r>
              <a:t>      "source_id": "tour-api:2021033",</a:t>
            </a:r>
          </a:p>
          <a:p xmlns:a="http://schemas.openxmlformats.org/drawingml/2006/main">
            <a:r>
              <a:t>      "content_id": "2021033",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"부평시장",</a:t>
            </a:r>
          </a:p>
          <a:p xmlns:a="http://schemas.openxmlformats.org/drawingml/2006/main">
            <a:r>
              <a:t>      "address": "인천광역시 부평구 부흥로316번길 38-3",</a:t>
            </a:r>
          </a:p>
          <a:p xmlns:a="http://schemas.openxmlformats.org/drawingml/2006/main">
            <a:r>
              <a:t>      "summary": "한국관광공사 국문관광정보 API가 반환한 선택 지역 관광자원",</a:t>
            </a:r>
          </a:p>
          <a:p xmlns:a="http://schemas.openxmlformats.org/drawingml/2006/main">
            <a:r>
              <a:t>      "image_url": "http://tong.visitkorea.or.kr/cms/resource/42/3523842_image2_1.jpg",</a:t>
            </a:r>
          </a:p>
          <a:p xmlns:a="http://schemas.openxmlformats.org/drawingml/2006/main">
            <a:r>
              <a:t>      "source_id": "tour-api:2768142",</a:t>
            </a:r>
          </a:p>
          <a:p xmlns:a="http://schemas.openxmlformats.org/drawingml/2006/main">
            <a:r>
              <a:t>      "content_id": "2768142",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"부평아트센터",</a:t>
            </a:r>
          </a:p>
          <a:p xmlns:a="http://schemas.openxmlformats.org/drawingml/2006/main">
            <a:r>
              <a:t>      "address": "인천광역시 부평구 아트센터로 166 (십정동)",</a:t>
            </a:r>
          </a:p>
          <a:p xmlns:a="http://schemas.openxmlformats.org/drawingml/2006/main">
            <a:r>
              <a:t>      "summary": "한국관광공사 국문관광정보 API가 반환한 선택 지역 관광자원",</a:t>
            </a:r>
          </a:p>
          <a:p xmlns:a="http://schemas.openxmlformats.org/drawingml/2006/main">
            <a:r>
              <a:t>      "image_url": "http://tong.visitkorea.or.kr/cms/resource/55/3457455_image2_1.jpg",</a:t>
            </a:r>
          </a:p>
          <a:p xmlns:a="http://schemas.openxmlformats.org/drawingml/2006/main">
            <a:r>
              <a:t>      "source_id": "tour-api:3457385",</a:t>
            </a:r>
          </a:p>
          <a:p xmlns:a="http://schemas.openxmlformats.org/drawingml/2006/main">
            <a:r>
              <a:t>      "content_id": "3457385",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"부평역북광장",</a:t>
            </a:r>
          </a:p>
          <a:p xmlns:a="http://schemas.openxmlformats.org/drawingml/2006/main">
            <a:r>
              <a:t>      "address": "인천광역시 부평구 광장로 지하30 (부평동)",</a:t>
            </a:r>
          </a:p>
          <a:p xmlns:a="http://schemas.openxmlformats.org/drawingml/2006/main">
            <a:r>
              <a:t>      "summary": "한국관광공사 국문관광정보 API가 반환한 선택 지역 관광자원",</a:t>
            </a:r>
          </a:p>
          <a:p xmlns:a="http://schemas.openxmlformats.org/drawingml/2006/main">
            <a:r>
              <a:t>      "image_url": "http://tong.visitkorea.or.kr/cms/resource/90/3395490_image2_1.JPG",</a:t>
            </a:r>
          </a:p>
          <a:p xmlns:a="http://schemas.openxmlformats.org/drawingml/2006/main">
            <a:r>
              <a:t>      "source_id": "tour-api:2768190",</a:t>
            </a:r>
          </a:p>
          <a:p xmlns:a="http://schemas.openxmlformats.org/drawingml/2006/main">
            <a:r>
              <a:t>      "content_id": "2768190",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"부흥기사식당",</a:t>
            </a:r>
          </a:p>
          <a:p xmlns:a="http://schemas.openxmlformats.org/drawingml/2006/main">
            <a:r>
              <a:t>      "address": "인천광역시 부평구 부흥로 387 (부개동)",</a:t>
            </a:r>
          </a:p>
          <a:p xmlns:a="http://schemas.openxmlformats.org/drawingml/2006/main">
            <a:r>
              <a:t>      "summary": "한국관광공사 국문관광정보 API가 반환한 선택 지역 관광자원",</a:t>
            </a:r>
          </a:p>
          <a:p xmlns:a="http://schemas.openxmlformats.org/drawingml/2006/main">
            <a:r>
              <a:t>      "image_url": "http://tong.visitkorea.or.kr/cms/resource/66/2875466_image2_1.jpg",</a:t>
            </a:r>
          </a:p>
          <a:p xmlns:a="http://schemas.openxmlformats.org/drawingml/2006/main">
            <a:r>
              <a:t>      "source_id": "tour-api:2875488",</a:t>
            </a:r>
          </a:p>
          <a:p xmlns:a="http://schemas.openxmlformats.org/drawingml/2006/main">
            <a:r>
              <a:t>      "content_id": "2875488",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"삼산건강공원",</a:t>
            </a:r>
          </a:p>
          <a:p xmlns:a="http://schemas.openxmlformats.org/drawingml/2006/main">
            <a:r>
              <a:t>      "address": "인천광역시 부평구 영성동로18번길 48 (삼산동)",</a:t>
            </a:r>
          </a:p>
          <a:p xmlns:a="http://schemas.openxmlformats.org/drawingml/2006/main">
            <a:r>
              <a:t>      "summary": "한국관광공사 국문관광정보 API가 반환한 선택 지역 관광자원",</a:t>
            </a:r>
          </a:p>
          <a:p xmlns:a="http://schemas.openxmlformats.org/drawingml/2006/main">
            <a:r>
              <a:t>      "image_url": "http://tong.visitkorea.or.kr/cms/resource/25/3523825_image2_1.jpg",</a:t>
            </a:r>
          </a:p>
          <a:p xmlns:a="http://schemas.openxmlformats.org/drawingml/2006/main">
            <a:r>
              <a:t>      "source_id": "tour-api:2768180",</a:t>
            </a:r>
          </a:p>
          <a:p xmlns:a="http://schemas.openxmlformats.org/drawingml/2006/main">
            <a:r>
              <a:t>      "content_id": "2768180",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"신트리공원(인천)",</a:t>
            </a:r>
          </a:p>
          <a:p xmlns:a="http://schemas.openxmlformats.org/drawingml/2006/main">
            <a:r>
              <a:t>      "address": "인천광역시 부평구 신트리로 21",</a:t>
            </a:r>
          </a:p>
          <a:p xmlns:a="http://schemas.openxmlformats.org/drawingml/2006/main">
            <a:r>
              <a:t>      "summary": "한국관광공사 국문관광정보 API가 반환한 선택 지역 관광자원",</a:t>
            </a:r>
          </a:p>
          <a:p xmlns:a="http://schemas.openxmlformats.org/drawingml/2006/main">
            <a:r>
              <a:t>      "image_url": "http://tong.visitkorea.or.kr/cms/resource/73/3030773_image2_1.jpg",</a:t>
            </a:r>
          </a:p>
          <a:p xmlns:a="http://schemas.openxmlformats.org/drawingml/2006/main">
            <a:r>
              <a:t>      "source_id": "tour-api:126568",</a:t>
            </a:r>
          </a:p>
          <a:p xmlns:a="http://schemas.openxmlformats.org/drawingml/2006/main">
            <a:r>
              <a:t>      "content_id": "126568",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"양평신내서울해장국 부평직영점",</a:t>
            </a:r>
          </a:p>
          <a:p xmlns:a="http://schemas.openxmlformats.org/drawingml/2006/main">
            <a:r>
              <a:t>      "address": "인천광역시 부평구 마장로 191 (산곡동)",</a:t>
            </a:r>
          </a:p>
          <a:p xmlns:a="http://schemas.openxmlformats.org/drawingml/2006/main">
            <a:r>
              <a:t>      "summary": "한국관광공사 국문관광정보 API가 반환한 선택 지역 관광자원",</a:t>
            </a:r>
          </a:p>
          <a:p xmlns:a="http://schemas.openxmlformats.org/drawingml/2006/main">
            <a:r>
              <a:t>      "image_url": "http://tong.visitkorea.or.kr/cms/resource/45/2835945_image2_1.jpg",</a:t>
            </a:r>
          </a:p>
          <a:p xmlns:a="http://schemas.openxmlformats.org/drawingml/2006/main">
            <a:r>
              <a:t>      "source_id": "tour-api:2835948",</a:t>
            </a:r>
          </a:p>
          <a:p xmlns:a="http://schemas.openxmlformats.org/drawingml/2006/main">
            <a:r>
              <a:t>      "content_id": "2835948",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"열우물전통시장",</a:t>
            </a:r>
          </a:p>
          <a:p xmlns:a="http://schemas.openxmlformats.org/drawingml/2006/main">
            <a:r>
              <a:t>      "address": "인천광역시 부평구 배곶남로21번길 18",</a:t>
            </a:r>
          </a:p>
          <a:p xmlns:a="http://schemas.openxmlformats.org/drawingml/2006/main">
            <a:r>
              <a:t>      "summary": "한국관광공사 국문관광정보 API가 반환한 선택 지역 관광자원",</a:t>
            </a:r>
          </a:p>
          <a:p xmlns:a="http://schemas.openxmlformats.org/drawingml/2006/main">
            <a:r>
              <a:t>      "image_url": "http://tong.visitkorea.or.kr/cms/resource/31/3523831_image2_1.jpg",</a:t>
            </a:r>
          </a:p>
          <a:p xmlns:a="http://schemas.openxmlformats.org/drawingml/2006/main">
            <a:r>
              <a:t>      "source_id": "tour-api:2765473",</a:t>
            </a:r>
          </a:p>
          <a:p xmlns:a="http://schemas.openxmlformats.org/drawingml/2006/main">
            <a:r>
              <a:t>      "content_id": "2765473",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"43제 2장 지방공항 연계 지역관광 활성화 방안 요즘, 한국관광 (전문가 제언) 지방공항 관문 활성화를 넘어 '지방관광 권역 활성화'로5. 지방공항을 통한 방한 입국은 분명한 성장 국면이다. 그러나 지방공항 관문 활성화가 곧바로 지방공항과 지역관광의 경쟁력으로 해석하기에는 아직 이르다. 최근의 지방공항 입국 증가는 대만 시장의 고성장, LCC의 공격적 공급 확대, 중국 단체 무비자와 중·일 관계 변화에 따른 수요 이동 등 외부 요인과 일부 결합되어 나타난 측면도 있기 때문이다. 지금 필요한 것은 입국자 수와 노선 수의 증가에 만족하는 것이 아니라, 이를 지역관광의 체질 전환과 고부가가치화로 연결하는 전략이 필요하다. 또한 특정 관광시장에 대한 의존도가 높을수록 공항은 외부 변수에 취약해질 수밖에 없고, 체류 전환이 약할수록 늘어난 유입은 지역에 효과를 남기지 않으며, 공항별 차이를 무시한 일률적 지원은 성과를 도출하기 어렵게 만든다. 결국 이제는 정책의 단위를 '공항' 중심에서 보다 관문과 연결되는 연계된 도시로 확장할 필요가 있다. 지방공항 활성화의 중장기 과제는 단순히 더 많은 노선을 유치하는 데서 끝나서는 안 되며, 공항을 관문으로 하는 배후 관광권 단위로 성과를 설계하고 측정하는 방향으로 전환되어야 한다. 정책의 단위를 '지방공항'에서 '지방관광 권역'으로 지방공항과 지방관광이 동시에 활성화하려면 두 관점이 함께 필요하다. 하나는 관문 기능의 고도화(노선·운수권·전세기 유치, CIQ와 터미널 용량, 공항-거점 교통의 직결성)이고, 다른 하나는 배후권역의 체류 전환(입국 이후 첫 숙박·첫 소비를 권역 안에서 완결되게 설계, 권역 내 이동의 관광 루트화, 지역 특화 업종의 객단가 제고)이다. 지금까지의 정책이",</a:t>
            </a:r>
          </a:p>
          <a:p xmlns:a="http://schemas.openxmlformats.org/drawingml/2006/main">
            <a:r>
              <a:t>      "chunk_id": "reference:kto:2026:local-airport:page:043:chunk:01",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"연계",</a:t>
            </a:r>
          </a:p>
          <a:p xmlns:a="http://schemas.openxmlformats.org/drawingml/2006/main">
            <a:r>
              <a:t>        "이후",</a:t>
            </a:r>
          </a:p>
          <a:p xmlns:a="http://schemas.openxmlformats.org/drawingml/2006/main">
            <a:r>
              <a:t>        "전환",</a:t>
            </a:r>
          </a:p>
          <a:p xmlns:a="http://schemas.openxmlformats.org/drawingml/2006/main">
            <a:r>
              <a:t>        "전환과",</a:t>
            </a:r>
          </a:p>
          <a:p xmlns:a="http://schemas.openxmlformats.org/drawingml/2006/main">
            <a:r>
              <a:t>        "지역",</a:t>
            </a:r>
          </a:p>
          <a:p xmlns:a="http://schemas.openxmlformats.org/drawingml/2006/main">
            <a:r>
              <a:t>        "체류",</a:t>
            </a:r>
          </a:p>
          <a:p xmlns:a="http://schemas.openxmlformats.org/drawingml/2006/main">
            <a:r>
              <a:t>        "측정",</a:t>
            </a:r>
          </a:p>
          <a:p xmlns:a="http://schemas.openxmlformats.org/drawingml/2006/main">
            <a:r>
              <a:t>        "필요한",</a:t>
            </a:r>
          </a:p>
          <a:p xmlns:a="http://schemas.openxmlformats.org/drawingml/2006/main">
            <a:r>
              <a:t>        "함께"</a:t>
            </a:r>
          </a:p>
          <a:p xmlns:a="http://schemas.openxmlformats.org/drawingml/2006/main">
            <a:r>
              <a:t>      ],</a:t>
            </a:r>
          </a:p>
          <a:p xmlns:a="http://schemas.openxmlformats.org/drawingml/2006/main">
            <a:r>
              <a:t>      "page_references":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"36제 2장 지방공항 연계 지역관광 활성화 방안 요즘, 한국관광 [제안 1] 의료·쇼핑 소비를 영남권 체류형 관광루트로 연결 대구공항 입국 방한객의 소비가 대구의 의료·쇼핑을 중심으로 형성되고, 경산·구미·포항·경주 등 경북 지역으로 이동하고 있는 점을 활용한다. 대구에서 시작된 의료·쇼핑 소비를 영남의 역사문화·해양·미식 등 관광자원과 연계해, 이미 형성된 지역 간 이동을 체류형 관광루트로 고도화한다. 특히 대만(30~40대)·중국(20대)·일본(20대·50대)으로 국가별 핵심 연령층이 다른 만큼, 연령층별 관심사와 이동 패턴을 반영한 맞춤형 루트를 함께 구성하는 것이 효과적이다. [제안 2] 의료 수요를 5박 6일 프리미엄 체류 패키지로 상품화 피부·성형을 핵심 의료 서비스로, 한방·치과·종합검진을 선택형 연계 서비스로 구성한 '대구 프리미엄 의료 패키지(5박 6 일)'를 개발한다. 진료와 회복 일정에 쇼핑·미식·문화관광을 결합하고 대경권 주요 관광지까지 동선을 확장해, 의료 목적 방문을 장기 체류와 광역 소비로 연결한다. 국가별 핵심 연령층이 다른 점을 고려해 대만 30~40대를 겨냥한 프리미엄 의료·웰니스 상품, 중국·일본 20대를 겨냥한 미용·체험 중심 상품으로 타깃을 세분화한다. [제안 3] 교통·결제 편의성 개선으로 소비 동선의 단절 해소 공항-도심-경북 주요 도시 간 이동정보와 예약을 다국어로 연결하고, 해외카드를 활용한 대중교통 이용 등 외국인이 도착 직후 겪는 교통·결제 불편을 줄여 의료·관광 소비 동선이 끊기지 않도록 한다. 취항 국가는 7개국에서 10개국으로, 취항 도시는 15개에서 27개로 늘었지만 실제 운항 편수는 오히려 줄어, 연결 범위 확대가 아직 공급 증가로 이어지지 않고 있다.",</a:t>
            </a:r>
          </a:p>
          <a:p xmlns:a="http://schemas.openxmlformats.org/drawingml/2006/main">
            <a:r>
              <a:t>      "chunk_id": "reference:kto:2026:local-airport:page:036:chunk:01",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"방문",</a:t>
            </a:r>
          </a:p>
          <a:p xmlns:a="http://schemas.openxmlformats.org/drawingml/2006/main">
            <a:r>
              <a:t>        "소비",</a:t>
            </a:r>
          </a:p>
          <a:p xmlns:a="http://schemas.openxmlformats.org/drawingml/2006/main">
            <a:r>
              <a:t>        "실제",</a:t>
            </a:r>
          </a:p>
          <a:p xmlns:a="http://schemas.openxmlformats.org/drawingml/2006/main">
            <a:r>
              <a:t>        "연결하고",</a:t>
            </a:r>
          </a:p>
          <a:p xmlns:a="http://schemas.openxmlformats.org/drawingml/2006/main">
            <a:r>
              <a:t>        "연결한",</a:t>
            </a:r>
          </a:p>
          <a:p xmlns:a="http://schemas.openxmlformats.org/drawingml/2006/main">
            <a:r>
              <a:t>        "연계",</a:t>
            </a:r>
          </a:p>
          <a:p xmlns:a="http://schemas.openxmlformats.org/drawingml/2006/main">
            <a:r>
              <a:t>        "예약",</a:t>
            </a:r>
          </a:p>
          <a:p xmlns:a="http://schemas.openxmlformats.org/drawingml/2006/main">
            <a:r>
              <a:t>        "이용",</a:t>
            </a:r>
          </a:p>
          <a:p xmlns:a="http://schemas.openxmlformats.org/drawingml/2006/main">
            <a:r>
              <a:t>        "일정",</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"체험",</a:t>
            </a:r>
          </a:p>
          <a:p xmlns:a="http://schemas.openxmlformats.org/drawingml/2006/main">
            <a:r>
              <a:t>        "함께"</a:t>
            </a:r>
          </a:p>
          <a:p xmlns:a="http://schemas.openxmlformats.org/drawingml/2006/main">
            <a:r>
              <a:t>      ],</a:t>
            </a:r>
          </a:p>
          <a:p xmlns:a="http://schemas.openxmlformats.org/drawingml/2006/main">
            <a:r>
              <a:t>      "page_references": "PDF 36쪽",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"남부관광의 해 연계 지역상품 홍보 타이베이 지사가 개발한 2025년 대구 파워풀페스티벌 상품 홍보 로고 일본 시장은 다른 방식으로 접근하고 있다. 일본은 방한 재방문율이 높고 서울 이외의 새로운 지역과 관광콘텐츠를 찾는 수요가 비교적 뚜렷한 시장이다. 공사는 지방 직항노선을 기반으로 동남권 각 도시의 특색을 여행 목적과 테마로 재구성하고, 현지 여행사·항공사와 연계해 실제 상품과 모객으로 이어지도록 하는 방식을 추진하고 있다. 같은 지방공항 유치 사업이라도 시장 특성에 따라 대만은 지역의 범위를 단계적으로 넓히고, 일본은 재방문객에게 새로운 지역 방문 이유를 만드는 방식으로 접근하는 것이다. 해외에서 지방공항을 선택하게 하려면 노선과 함께 '도착한 뒤 무엇을 할 것인가'가 제시돼야 한다. 이를 위해 공사는 청주· 대구공항을 중심으로 지역 관광콘텐츠를 발굴하고, 이를 공항과 연결된 권역형·초광역형 관광코스로 구성했다. 2026년 6월 기준 발굴된 콘텐츠는 17개 테마 333개, 관광코스는 35개다. 럭셔리·한류·의료·웰니스·해양·축제·역사문화·미식·쇼핑 등 지역의 다양한 관광자원을 활용하되, 개별 콘텐츠에 그치지 않고 공항을 시작점으로 여러 지역을 이동할 수 있도록 연결한 것이 특징이다. 대표적으로 청주공항에서는 청주-공주-부여-전주를 잇는 백제 역사문화 루트와 같이 충청권과 인접 지역을 연결하는 코스를, 대구공항에서는 대구-경주-울산-부산을 잇는 유네스코 헤리티지 루트와 같이 영남권의 주요 관광자원을 묶은 광역 코스를 구성했다. 지방공항을 특정 도시 하나의 관문이 아니라 여러 지역으로 이동하는 여행의 출발점으로 활용하는 방식이다. 추진사업 2. 지역 콘텐츠를 실제 방한상품으로 연결",</a:t>
            </a:r>
          </a:p>
          <a:p xmlns:a="http://schemas.openxmlformats.org/drawingml/2006/main">
            <a:r>
              <a:t>      "chunk_id": "reference:kto:2026:local-airport:page:040:chunk:02",</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"소비",</a:t>
            </a:r>
          </a:p>
          <a:p xmlns:a="http://schemas.openxmlformats.org/drawingml/2006/main">
            <a:r>
              <a:t>        "실제",</a:t>
            </a:r>
          </a:p>
          <a:p xmlns:a="http://schemas.openxmlformats.org/drawingml/2006/main">
            <a:r>
              <a:t>        "연결한",</a:t>
            </a:r>
          </a:p>
          <a:p xmlns:a="http://schemas.openxmlformats.org/drawingml/2006/main">
            <a:r>
              <a:t>        "연계",</a:t>
            </a:r>
          </a:p>
          <a:p xmlns:a="http://schemas.openxmlformats.org/drawingml/2006/main">
            <a:r>
              <a:t>        "중심으로",</a:t>
            </a:r>
          </a:p>
          <a:p xmlns:a="http://schemas.openxmlformats.org/drawingml/2006/main">
            <a:r>
              <a:t>        "지역의",</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40쪽",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"41제 2장 지방공항 연계 지역관광 활성화 방안 요즘, 한국관광 관광상품을 만들어도 공항에서 관광지까지 이동하기 어렵다면 실제 지역 방문으로 연결되기 어렵다. 이에 공사는 지자체· 공항공사·교통기관 등 대외 협업체계와 함께 지방공항으로 유입된 방한객이 지역 관광지까지 불편 없이 이동할 수 있도록 교통 연계와 이용 편의 인프라를 개선하는 방향으로 사업을 추진하고 있다. 공사는 충청남도, 충청북도(광역지자체) 및 충 남문화재단, 충북문화재단(RTO)과 협업하여 청주공항과 오 송역, 공주터미널, 부여터미널 등 충청권 주요 관광지를 연결하는 광역 순환버스와 DRT(수요 응답형 버스) 운영을 지원하고 있다. 2026년 상반기 순환버스와 DRT 이용객은 총 7 ,470명으로, 공항에서 충청권 주요 관광지까지 직접 이동할 수 있는 선택지가 확대되고 있다. 대구공항에서는 외국인이 별도의 교통카드 없이 해외 신용카드 등으로 대중교통을 이용할 수 있는 개방형 교통결제 시스템 도입을 지원하고 있으며, 간편결제·관광안내·환전 및 면세 등 이용 편의도 단계적으로 보완하고 있다. 지방공항의 역할을 항공기에서 내리는 지점에 그치지 않고 지역 여행을 실제로 시작할 수 있는 관문으로 넓히는 과정이다. 추진사업 3. 교통 편의 인프라 - 공항 도착 이후 지역으로 이어지는 이동·편의 기반 구축 성과 | 전방위 유치·마케팅 성과 가시화…청주공항 방한객 6만 명 돌파, 부정기 항공편도 대폭 확대 한국관광공사, 공항활성화 협의체 및 관계기관의 협업체계가 잘 작동하고, 전방위적 역량을 집중한 결과, 지방공항 유치· 마케팅의 성과가 방한객 유입과 항공 공급 지표에서 가시화되고 있다. 특히 청주공항은 2026년 상반기 방한객이 6만 2,971 명으로 6만 명을 돌파하며 전년 동기 대비 109.1% 급증했다.",</a:t>
            </a:r>
          </a:p>
          <a:p xmlns:a="http://schemas.openxmlformats.org/drawingml/2006/main">
            <a:r>
              <a:t>      "chunk_id": "reference:kto:2026:local-airport:page:041:chunk:01",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"방문",</a:t>
            </a:r>
          </a:p>
          <a:p xmlns:a="http://schemas.openxmlformats.org/drawingml/2006/main">
            <a:r>
              <a:t>        "방문으로",</a:t>
            </a:r>
          </a:p>
          <a:p xmlns:a="http://schemas.openxmlformats.org/drawingml/2006/main">
            <a:r>
              <a:t>        "사업을",</a:t>
            </a:r>
          </a:p>
          <a:p xmlns:a="http://schemas.openxmlformats.org/drawingml/2006/main">
            <a:r>
              <a:t>        "성과",</a:t>
            </a:r>
          </a:p>
          <a:p xmlns:a="http://schemas.openxmlformats.org/drawingml/2006/main">
            <a:r>
              <a:t>        "소비",</a:t>
            </a:r>
          </a:p>
          <a:p xmlns:a="http://schemas.openxmlformats.org/drawingml/2006/main">
            <a:r>
              <a:t>        "실제",</a:t>
            </a:r>
          </a:p>
          <a:p xmlns:a="http://schemas.openxmlformats.org/drawingml/2006/main">
            <a:r>
              <a:t>        "연계",</a:t>
            </a:r>
          </a:p>
          <a:p xmlns:a="http://schemas.openxmlformats.org/drawingml/2006/main">
            <a:r>
              <a:t>        "운영",</a:t>
            </a:r>
          </a:p>
          <a:p xmlns:a="http://schemas.openxmlformats.org/drawingml/2006/main">
            <a:r>
              <a:t>        "이어지는",</a:t>
            </a:r>
          </a:p>
          <a:p xmlns:a="http://schemas.openxmlformats.org/drawingml/2006/main">
            <a:r>
              <a:t>        "이용",</a:t>
            </a:r>
          </a:p>
          <a:p xmlns:a="http://schemas.openxmlformats.org/drawingml/2006/main">
            <a:r>
              <a:t>        "이후",</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41쪽",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"부평풍물대축제ㅣ여행지ㅣ인천투어",</a:t>
            </a:r>
          </a:p>
          <a:p xmlns:a="http://schemas.openxmlformats.org/drawingml/2006/main">
            <a:r>
              <a:t>      "summary": "제30회 부평풍물대축제는 2026년 10월 2일부터 10월 4일까지 부평대로 및 부평 일대에서 개최되며, 운영시간은 10:00~21:30, 입장료는 무료로 안내되어 있다. 축제 공간은 굴포천 일대까지 확장될 예정이며, 주최는 인천광역시 부평구, 주관은 부평구 축제위원회·부평구문화재단·부평문화원이다.",</a:t>
            </a:r>
          </a:p>
          <a:p xmlns:a="http://schemas.openxmlformats.org/drawingml/2006/main">
            <a:r>
              <a:t>      "source_id": "web:28237:1",</a:t>
            </a:r>
          </a:p>
          <a:p xmlns:a="http://schemas.openxmlformats.org/drawingml/2006/main">
            <a:r>
              <a:t>      "source_url": "https://itour.incheon.go.kr/ssst/ssst/detail.do?cotId=APD21112609174959336",</a:t>
            </a:r>
          </a:p>
          <a:p xmlns:a="http://schemas.openxmlformats.org/drawingml/2006/main">
            <a:r>
              <a:t>      "source_type": "official_web",</a:t>
            </a:r>
          </a:p>
          <a:p xmlns:a="http://schemas.openxmlformats.org/drawingml/2006/main">
            <a:r>
              <a:t>      "why_relevant": "고정 일정의 첫 주말에 이미 확정된 대규모 거리·생활문화 행사와 운영 주체가 있으므로, 별도 축제를 신설하기보다 축제 방문객이 시장·주변 문화공간으로 이동하도록 하는 현장 안내, 회유 콘텐츠, 참여점포 모집을 우선 검토할 수 있다. 다만 축제 방문이 시장 소비 또는 숙박 증가를 일으킨다고는 자료만으로 판단할 수 없다.",</a:t>
            </a:r>
          </a:p>
          <a:p xmlns:a="http://schemas.openxmlformats.org/drawingml/2006/main">
            <a:r>
              <a:t>      "published_or_updated_at": "최종수정 2026-09-09"</a:t>
            </a:r>
          </a:p>
          <a:p xmlns:a="http://schemas.openxmlformats.org/drawingml/2006/main">
            <a:r>
              <a:t>    },</a:t>
            </a:r>
          </a:p>
          <a:p xmlns:a="http://schemas.openxmlformats.org/drawingml/2006/main">
            <a:r>
              <a:t>    {</a:t>
            </a:r>
          </a:p>
          <a:p xmlns:a="http://schemas.openxmlformats.org/drawingml/2006/main">
            <a:r>
              <a:t>      "title": "부평시장 일대 부평종합시장, 부평깡시장, 부평문화의 거리 | 인천지역유산 만나보기",</a:t>
            </a:r>
          </a:p>
          <a:p xmlns:a="http://schemas.openxmlformats.org/drawingml/2006/main">
            <a:r>
              <a:t>      "summary": "인천광역시 공식 문화유산 자료는 부평종합시장·부평깡시장·부평문화의 거리 일대를 생활문화 유산으로 소개하며, 해당 권역이 여러 시장이 경계를 이루는 특징을 가진다고 명시한다. 소재지는 부평구 부흥로316번길 38-3 일대이다.",</a:t>
            </a:r>
          </a:p>
          <a:p xmlns:a="http://schemas.openxmlformats.org/drawingml/2006/main">
            <a:r>
              <a:t>      "source_id": "web:28237:2",</a:t>
            </a:r>
          </a:p>
          <a:p xmlns:a="http://schemas.openxmlformats.org/drawingml/2006/main">
            <a:r>
              <a:t>      "source_url": "https://www.incheon.go.kr/culture/CU06010002/3064078",</a:t>
            </a:r>
          </a:p>
          <a:p xmlns:a="http://schemas.openxmlformats.org/drawingml/2006/main">
            <a:r>
              <a:t>      "source_type": "official_web",</a:t>
            </a:r>
          </a:p>
          <a:p xmlns:a="http://schemas.openxmlformats.org/drawingml/2006/main">
            <a:r>
              <a:t>      "why_relevant": "축제 연계 동선의 도착·체류 권역을 단일 점포가 아니라 시장과 문화의 거리로 구성할 수 있는 공식 공간 근거다. 음식·구매·공연·전시를 묶는 방식은 가능 후보이나, 개별 상인의 참여·영업시간·할인 제공 여부는 공식 자료에서 확인되지 않았으므로 사전 협의가 필요하다.",</a:t>
            </a:r>
          </a:p>
          <a:p xmlns:a="http://schemas.openxmlformats.org/drawingml/2006/main">
            <a:r>
              <a:t>      "published_or_updated_at": "최종업데이트 2026-02-13"</a:t>
            </a:r>
          </a:p>
          <a:p xmlns:a="http://schemas.openxmlformats.org/drawingml/2006/main">
            <a:r>
              <a:t>    },</a:t>
            </a:r>
          </a:p>
          <a:p xmlns:a="http://schemas.openxmlformats.org/drawingml/2006/main">
            <a:r>
              <a:t>    {</a:t>
            </a:r>
          </a:p>
          <a:p xmlns:a="http://schemas.openxmlformats.org/drawingml/2006/main">
            <a:r>
              <a:t>      "title": "관광지·명소(상세) | 무장애 관광정보 | 열린관광 모두의 여행 - 부평아트센터",</a:t>
            </a:r>
          </a:p>
          <a:p xmlns:a="http://schemas.openxmlformats.org/drawingml/2006/main">
            <a:r>
              <a:t>      "summary": "부평아트센터는 인천광역시 부평구 아트센터로 166에 위치한 문화시설이며, 공식 열린관광 정보에는 장애인 화장실 설치 등 접근성 정보가 안내되어 있다.",</a:t>
            </a:r>
          </a:p>
          <a:p xmlns:a="http://schemas.openxmlformats.org/drawingml/2006/main">
            <a:r>
              <a:t>      "source_id": "web:28237:3",</a:t>
            </a:r>
          </a:p>
          <a:p xmlns:a="http://schemas.openxmlformats.org/drawingml/2006/main">
            <a:r>
              <a:t>      "source_url": "https://access.visitkorea.or.kr/ms/detail.do?cotId=7e599a22-ea47-4f8d-8daa-e347e6a94e4a",</a:t>
            </a:r>
          </a:p>
          <a:p xmlns:a="http://schemas.openxmlformats.org/drawingml/2006/main">
            <a:r>
              <a:t>      "source_type": "official_web",</a:t>
            </a:r>
          </a:p>
          <a:p xmlns:a="http://schemas.openxmlformats.org/drawingml/2006/main">
            <a:r>
              <a:t>      "why_relevant": "11~12월의 실내 체류 프로그램 후보 공간으로 검토할 수 있으며, 야외 축제 이후 계절 전환기에 활용 가능하다. 다만 대관 가능일, 대관료, 실제 공연·전시 일정, 운영 주체의 협력 가능 범위는 해당 자료만으로 확인되지 않는다.",</a:t>
            </a:r>
          </a:p>
          <a:p xmlns:a="http://schemas.openxmlformats.org/drawingml/2006/main">
            <a:r>
              <a:t>      "published_or_updated_at": "수정 2025-08-20"</a:t>
            </a:r>
          </a:p>
          <a:p xmlns:a="http://schemas.openxmlformats.org/drawingml/2006/main">
            <a:r>
              <a:t>    },</a:t>
            </a:r>
          </a:p>
          <a:p xmlns:a="http://schemas.openxmlformats.org/drawingml/2006/main">
            <a:r>
              <a:t>    {</a:t>
            </a:r>
          </a:p>
          <a:p xmlns:a="http://schemas.openxmlformats.org/drawingml/2006/main">
            <a:r>
              <a:t>      "title": "17-1. 부평역세권 복합환승센터 건설",</a:t>
            </a:r>
          </a:p>
          <a:p xmlns:a="http://schemas.openxmlformats.org/drawingml/2006/main">
            <a:r>
              <a:t>      "summary": "부평역세권 복합환승센터 건설은 부평구 광장로 16 일원의 부평역을 대상으로 환승정류장·환승편의시설을 조성하는 인천광역시 사업이다. 공식 공약 자료는 GTX 개통에 따른 환승센터 운영을 2030년으로 제시하고, 현재 공약 이행 현황에서는 정상추진 사업으로 표시한다.",</a:t>
            </a:r>
          </a:p>
          <a:p xmlns:a="http://schemas.openxmlformats.org/drawingml/2006/main">
            <a:r>
              <a:t>      "source_id": "web:28237:4",</a:t>
            </a:r>
          </a:p>
          <a:p xmlns:a="http://schemas.openxmlformats.org/drawingml/2006/main">
            <a:r>
              <a:t>      "source_url": "https://www.incheon.go.kr/humanframe/theme/mayor_8/data/elect/17-1.%20%EB%B6%80%ED%8F%89%EC%97%AD%EC%84%B8%EA%B6%8C%20%EB%B3%B5%ED%95%A9%ED%99%98%EC%8A%B9%EC%84%BC%ED%84%B0%20%EA%B1%B4%EC%84%A4.pdf",</a:t>
            </a:r>
          </a:p>
          <a:p xmlns:a="http://schemas.openxmlformats.org/drawingml/2006/main">
            <a:r>
              <a:t>      "source_type": "official_web",</a:t>
            </a:r>
          </a:p>
          <a:p xmlns:a="http://schemas.openxmlformats.org/drawingml/2006/main">
            <a:r>
              <a:t>      "why_relevant": "중장기적으로는 부평역 접근성과 권역 안내체계의 변화 가능성을 검토할 기반이지만, 2026년 10~12월 파일럿의 완공 인프라 또는 운영 거점으로 전제해서는 안 된다. 이번 사업에서는 현행 보행·대중교통·행사장 안전 동선을 별도 현장점검해야 한다.",</a:t>
            </a:r>
          </a:p>
          <a:p xmlns:a="http://schemas.openxmlformats.org/drawingml/2006/main">
            <a:r>
              <a:t>      "published_or_updated_at": "공약 자료상 사업기간 2022~2030"</a:t>
            </a:r>
          </a:p>
          <a:p xmlns:a="http://schemas.openxmlformats.org/drawingml/2006/main">
            <a:r>
              <a:t>    },</a:t>
            </a:r>
          </a:p>
          <a:p xmlns:a="http://schemas.openxmlformats.org/drawingml/2006/main">
            <a:r>
              <a:t>    {</a:t>
            </a:r>
          </a:p>
          <a:p xmlns:a="http://schemas.openxmlformats.org/drawingml/2006/main">
            <a:r>
              <a:t>      "title": "공약목록 | 인천광역시장실",</a:t>
            </a:r>
          </a:p>
          <a:p xmlns:a="http://schemas.openxmlformats.org/drawingml/2006/main">
            <a:r>
              <a:t>      "summary": "인천광역시 공약 현황 페이지는 부평역세권 복합환승센터 건설을 교통 분야의 임기후 신규사업으로 분류하고, 인천광역시를 사업주체로 표시한다.",</a:t>
            </a:r>
          </a:p>
          <a:p xmlns:a="http://schemas.openxmlformats.org/drawingml/2006/main">
            <a:r>
              <a:t>      "source_id": "web:28237:5",</a:t>
            </a:r>
          </a:p>
          <a:p xmlns:a="http://schemas.openxmlformats.org/drawingml/2006/main">
            <a:r>
              <a:t>      "source_url": "https://www.incheon.go.kr/mayor_8/MA0202010106?curPage=3",</a:t>
            </a:r>
          </a:p>
          <a:p xmlns:a="http://schemas.openxmlformats.org/drawingml/2006/main">
            <a:r>
              <a:t>      "source_type": "official_web",</a:t>
            </a:r>
          </a:p>
          <a:p xmlns:a="http://schemas.openxmlformats.org/drawingml/2006/main">
            <a:r>
              <a:t>      "why_relevant": "환승센터 관련 협의 상대와 사업의 장기성을 확인하는 보조 근거다. 관광사업의 행사 운영 권한이나 단기 예산을 의미하지는 않는다.",</a:t>
            </a:r>
          </a:p>
          <a:p xmlns:a="http://schemas.openxmlformats.org/drawingml/2006/main">
            <a:r>
              <a:t>      "published_or_updated_at": "페이지 크롤링 기준 2026-08경"</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"작동하고, 전방위적 역량을 집중한 결과, 지방공항 유치· 마케팅의 성과가 방한객 유입과 항공 공급 지표에서 가시화되고 있다. 특히 청주공항은 2026년 상반기 방한객이 6만 2,971 명으로 6만 명을 돌파하며 전년 동기 대비 109.1% 급증했다. 인바운드 비중도 7 .9%에서 11.1%로 전년 동기 대비 3.2%p 상승했고, 국제선 공급석은 146만 3,061석으로 전년보다 43.0% 대폭 확대됐다. 대구공항도 같은 기간 방한객이 5만 7 ,058명으로 전년 동기 대비 2.6% 증가했고, 국제선 공급석은 90만 2,286석으로 6.3% 늘었다. 특히 부정기 항공편에서는 확대 폭이 더욱 뚜렷하다. 2026년 상반기 부정기 항공편은 청주공항 574회, 대구공항 458회로 총 1,032회가 확정됐으며, 전년 동기 대비 각각 178.6%, 854.2% 급증했다. 부정기 확대편의 사례로 공사에서 유치한 후쿠시마-청주 전세기 운영을 들 수 있다. 공사 도쿄지사가 한일 비운항지역인 후쿠시마를 대상으로, 현지 여행사, 항공사가 협력해 운항한 두 차례 전세기 360석이 모두 매진됐다. 해외 현지 수요를 발굴하고 항공편과 관광상품을 함께 구성해 지방공항 입국으로 연결한 사례라는 데 의미가 있다. 발굴한 콘텐츠가 실제 해외 여행상품으로 이어질 수 있도록 '인바운드 관광 상품화 툴킷'도 함께 마련했다. 지역별 교통· 숙박·쇼핑·식당과 관광사업자, 지자체 지원정보 등 해외 여행사가 상품을 구성할 때 필요한 정보를 한데 모아 제공하는 자료다. 해외지사는 이를 활용해 현지 여행사 ·OTA와 지방공항 연계 상품 을 개발하고 있으며, 2026년 6월 기준 청주공항 연계 상품 49개, 대구공항 연계 상품 10개가 개발됐다.",</a:t>
            </a:r>
          </a:p>
          <a:p xmlns:a="http://schemas.openxmlformats.org/drawingml/2006/main">
            <a:r>
              <a:t>      "chunk_id": "reference:kto:2026:local-airport:page:041:chunk:02",</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"관광사업",</a:t>
            </a:r>
          </a:p>
          <a:p xmlns:a="http://schemas.openxmlformats.org/drawingml/2006/main">
            <a:r>
              <a:t>        "사례",</a:t>
            </a:r>
          </a:p>
          <a:p xmlns:a="http://schemas.openxmlformats.org/drawingml/2006/main">
            <a:r>
              <a:t>        "성과",</a:t>
            </a:r>
          </a:p>
          <a:p xmlns:a="http://schemas.openxmlformats.org/drawingml/2006/main">
            <a:r>
              <a:t>        "소비",</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"연계",</a:t>
            </a:r>
          </a:p>
          <a:p xmlns:a="http://schemas.openxmlformats.org/drawingml/2006/main">
            <a:r>
              <a:t>        "운영",</a:t>
            </a:r>
          </a:p>
          <a:p xmlns:a="http://schemas.openxmlformats.org/drawingml/2006/main">
            <a:r>
              <a:t>        "지역",</a:t>
            </a:r>
          </a:p>
          <a:p xmlns:a="http://schemas.openxmlformats.org/drawingml/2006/main">
            <a:r>
              <a:t>        "체류",</a:t>
            </a:r>
          </a:p>
          <a:p xmlns:a="http://schemas.openxmlformats.org/drawingml/2006/main">
            <a:r>
              <a:t>        "필요한",</a:t>
            </a:r>
          </a:p>
          <a:p xmlns:a="http://schemas.openxmlformats.org/drawingml/2006/main">
            <a:r>
              <a:t>        "함께",</a:t>
            </a:r>
          </a:p>
          <a:p xmlns:a="http://schemas.openxmlformats.org/drawingml/2006/main">
            <a:r>
              <a:t>        "활용해"</a:t>
            </a:r>
          </a:p>
          <a:p xmlns:a="http://schemas.openxmlformats.org/drawingml/2006/main">
            <a:r>
              <a:t>      ],</a:t>
            </a:r>
          </a:p>
          <a:p xmlns:a="http://schemas.openxmlformats.org/drawingml/2006/main">
            <a:r>
              <a:t>      "page_references": "PDF 41쪽",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 공동 개발과 판매 데이터 공유를, 지역 숙박·의료·외식 사업체에는 외국인 수용 인증과 바우처·즉시 환급 참여를 각각 요구하고 지원해야 한다. 방한객의 대다수가 개별여행객인 시대에 권역의 체류와 소비를 만드는 것은 결국 지역의 민간 사업자들이며, 이들이 참여할 유인과 수익 구조를 설계하는 것이 공공의 역할이라 할 것이다. 결국 지방공항 활성화의 과제는 더 많은 방한외래객을 지역 공항에 내리게 하는 데서 끝나지 않는다. 핵심은 지방공항을 수도권의 보조 관문이 아니라 권역 관광이 시작되는 출발점으로 자리 잡게 하고, 입국 이후의 인지·이동·체류·소비가 권역 안에서 완결되는 구조를 만드는 것이다. 단기적으로는 공항별 병목 단계에 맞춘 맞춤 전략으로 체류와 소비 전환율을 높이고, 중장기적으로는 5대 관광권 단위의 성과체계와 거버넌스, 민간 참여 구조를 정착시켜야 한다. 지금의 지방공항 성장세는 일시적인 수요 이동에 머물 수도 있고, 수도권에 집중된 방한 관광 구조를 바꾸는 전환점이 될 수도 있다. 필요한 것은 더 많은 노선이 아니라, 지역에서 첫 밤을 보내고 더 오래 머물며 더 깊게 소비하는 방한 여정으로의 전환이다.",</a:t>
            </a:r>
          </a:p>
          <a:p xmlns:a="http://schemas.openxmlformats.org/drawingml/2006/main">
            <a:r>
              <a:t>      "chunk_id": "reference:kto:2026:local-airport:page:044:chunk:02",</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"공공",</a:t>
            </a:r>
          </a:p>
          <a:p xmlns:a="http://schemas.openxmlformats.org/drawingml/2006/main">
            <a:r>
              <a:t>        "민간",</a:t>
            </a:r>
          </a:p>
          <a:p xmlns:a="http://schemas.openxmlformats.org/drawingml/2006/main">
            <a:r>
              <a:t>        "성과",</a:t>
            </a:r>
          </a:p>
          <a:p xmlns:a="http://schemas.openxmlformats.org/drawingml/2006/main">
            <a:r>
              <a:t>        "소비",</a:t>
            </a:r>
          </a:p>
          <a:p xmlns:a="http://schemas.openxmlformats.org/drawingml/2006/main">
            <a:r>
              <a:t>        "숙박",</a:t>
            </a:r>
          </a:p>
          <a:p xmlns:a="http://schemas.openxmlformats.org/drawingml/2006/main">
            <a:r>
              <a:t>        "연계",</a:t>
            </a:r>
          </a:p>
          <a:p xmlns:a="http://schemas.openxmlformats.org/drawingml/2006/main">
            <a:r>
              <a:t>        "이후",</a:t>
            </a:r>
          </a:p>
          <a:p xmlns:a="http://schemas.openxmlformats.org/drawingml/2006/main">
            <a:r>
              <a:t>        "전환",</a:t>
            </a:r>
          </a:p>
          <a:p xmlns:a="http://schemas.openxmlformats.org/drawingml/2006/main">
            <a:r>
              <a:t>        "지역",</a:t>
            </a:r>
          </a:p>
          <a:p xmlns:a="http://schemas.openxmlformats.org/drawingml/2006/main">
            <a:r>
              <a:t>        "지역의",</a:t>
            </a:r>
          </a:p>
          <a:p xmlns:a="http://schemas.openxmlformats.org/drawingml/2006/main">
            <a:r>
              <a:t>        "체류",</a:t>
            </a:r>
          </a:p>
          <a:p xmlns:a="http://schemas.openxmlformats.org/drawingml/2006/main">
            <a:r>
              <a:t>        "필요한",</a:t>
            </a:r>
          </a:p>
          <a:p xmlns:a="http://schemas.openxmlformats.org/drawingml/2006/main">
            <a:r>
              <a:t>        "협약",</a:t>
            </a:r>
          </a:p>
          <a:p xmlns:a="http://schemas.openxmlformats.org/drawingml/2006/main">
            <a:r>
              <a:t>        "환급"</a:t>
            </a:r>
          </a:p>
          <a:p xmlns:a="http://schemas.openxmlformats.org/drawingml/2006/main">
            <a:r>
              <a:t>      ],</a:t>
            </a:r>
          </a:p>
          <a:p xmlns:a="http://schemas.openxmlformats.org/drawingml/2006/main">
            <a:r>
              <a:t>      "page_references": "PDF 44쪽",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"권·전세기 유치, CIQ와 터미널 용량, 공항-거점 교통의 직결성)이고, 다른 하나는 배후권역의 체류 전환(입국 이후 첫 숙박·첫 소비를 권역 안에서 완결되게 설계, 권역 내 이동의 관광 루트화, 지역 특화 업종의 객단가 제고)이다. 지금까지의 정책이 전자에 집중되어 왔다면, 앞으로의 무게중심은 후자를 함께 설계하는 데 있으며 지방공항 활성화의 성과는 공항 소재 시· 도 행정구역이 아니라 권역단위로 측정되어야 한다. 한국관광공사 관광컨설팅팀 협조를 통해 본 신세시오를 활용한 다국어 소셜 데이터에서도 청주는 여정 7단계 1) 가운데 '숙박·체류' 담론이 가장 약하고 대구는 '인지·정보·예약' 단계가 가장 약한 것 으로 나타난다. 같은 지방공항이라도 방한객의 여정에서 막히는 지점이 다르며, 전략은 그 병목 단계에 맞춰 설계되어야 할 것이다. 또한 지역 단위로 분산된 해외 홍보를 관문공항 단위의 공동 홍보로 전환해야 한다. 아직도 일부 방한외래객은 지역을 알지 못하기 때문에 서울만 방문하고, 정보의 다수는 글로벌 앱이나 유튜브 등에서 얻는 현실에서 시·군 단위 개별 마케팅은 효과가 제한적일 수밖에 없다. 대만 시장에서 부산을 출 발점으로 경남·남부권·중부권으로 대상 지역을 단계적으로 넓혀 온 ‘남부관광의 해’ 등 권역 중심의 홍보 전략은 시장 특성에 맞춘 권역형 인지 전략의 좋은 선례라 할 수 있다. 여기에 AI 검색 시대에 대응한 5대 관광권 정보의 AEO(AI 답변 최적화) 표준화가 더해진다면 보다 효과적인 마케팅이 가능할 것이다. 명확한 기관별 역할분담과 민관협력 문화체육관광부는 지방공항과 5대 관광권 2) 정책을 하나의 체계로 묶는 컨트롤타워가 되어야 한다. 5대 관광권의 지정과",</a:t>
            </a:r>
          </a:p>
          <a:p xmlns:a="http://schemas.openxmlformats.org/drawingml/2006/main">
            <a:r>
              <a:t>      "chunk_id": "reference:kto:2026:local-airport:page:043:chunk:02",</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"검색",</a:t>
            </a:r>
          </a:p>
          <a:p xmlns:a="http://schemas.openxmlformats.org/drawingml/2006/main">
            <a:r>
              <a:t>        "방문",</a:t>
            </a:r>
          </a:p>
          <a:p xmlns:a="http://schemas.openxmlformats.org/drawingml/2006/main">
            <a:r>
              <a:t>        "성과",</a:t>
            </a:r>
          </a:p>
          <a:p xmlns:a="http://schemas.openxmlformats.org/drawingml/2006/main">
            <a:r>
              <a:t>        "소비",</a:t>
            </a:r>
          </a:p>
          <a:p xmlns:a="http://schemas.openxmlformats.org/drawingml/2006/main">
            <a:r>
              <a:t>        "숙박",</a:t>
            </a:r>
          </a:p>
          <a:p xmlns:a="http://schemas.openxmlformats.org/drawingml/2006/main">
            <a:r>
              <a:t>        "연계",</a:t>
            </a:r>
          </a:p>
          <a:p xmlns:a="http://schemas.openxmlformats.org/drawingml/2006/main">
            <a:r>
              <a:t>        "예약",</a:t>
            </a:r>
          </a:p>
          <a:p xmlns:a="http://schemas.openxmlformats.org/drawingml/2006/main">
            <a:r>
              <a:t>        "이후",</a:t>
            </a:r>
          </a:p>
          <a:p xmlns:a="http://schemas.openxmlformats.org/drawingml/2006/main">
            <a:r>
              <a:t>        "전환",</a:t>
            </a:r>
          </a:p>
          <a:p xmlns:a="http://schemas.openxmlformats.org/drawingml/2006/main">
            <a:r>
              <a:t>        "지역",</a:t>
            </a:r>
          </a:p>
          <a:p xmlns:a="http://schemas.openxmlformats.org/drawingml/2006/main">
            <a:r>
              <a:t>        "체류",</a:t>
            </a:r>
          </a:p>
          <a:p xmlns:a="http://schemas.openxmlformats.org/drawingml/2006/main">
            <a:r>
              <a:t>        "측정",</a:t>
            </a:r>
          </a:p>
          <a:p xmlns:a="http://schemas.openxmlformats.org/drawingml/2006/main">
            <a:r>
              <a:t>        "함께"</a:t>
            </a:r>
          </a:p>
          <a:p xmlns:a="http://schemas.openxmlformats.org/drawingml/2006/main">
            <a:r>
              <a:t>      ],</a:t>
            </a:r>
          </a:p>
          <a:p xmlns:a="http://schemas.openxmlformats.org/drawingml/2006/main">
            <a:r>
              <a:t>      "page_references":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"광권 정보의 AEO(AI 답변 최적화) 표준화가 더해진다면 보다 효과적인 마케팅이 가능할 것이다. 명확한 기관별 역할분담과 민관협력 문화체육관광부는 지방공항과 5대 관광권 2) 정책을 하나의 체계로 묶는 컨트롤타워가 되어야 한다. 5대 관광권의 지정과 예산 통합, 국토교통부·법무부·지방정부와의 협업을 통해 운수권·슬롯·공항시설 사용료 인센티브, 비자·입국 절차, 광역 교통을 권역 단위로 조율하고, 민간의 지역 투자를 끌어내기 위한 장기적 관점의 규제 특례를 마련해야 한다. 무엇보다 공항별 성장 단계와 시장 구조에 따라 KPI와 사업적 특성을 권역에 맞게 적용하는 유형별 육성 로드맵이 필요하다. 1) 소셜 데이터의 담론을 7가지의 여정으로 구분하였는데, 여정은 1) 인지, 정보 및 예약, 2) 입국 및 방문, 3) 교통 및 이동, 4) 숙박 및 체류, 5) 관광 및 체험, 6) 쇼핑 및 식음, 7) 공유 및 재방문으로 구분하였다. 2) 시도 및 시군구 등 행정권역을 넘어 방한객의 여행 동선을 따라 여러 지역이 이어지는 관광 중심 권역을 의미하며, 방한객의 지역 입국이 시작되는 지 방국제공항이 있는 김해·대구·청주·무안·양양공항 등 관문도시를 중심으로 해 인근에 특화 관광자원을 보유한 연계 도시를 연결하는 전략으로 '관광권' 을 설계(출처: 대한민국 정책브리핑, 2026). 프로젝트수 대표, 한양대학교 관광학부 겸임교수 정란수",</a:t>
            </a:r>
          </a:p>
          <a:p xmlns:a="http://schemas.openxmlformats.org/drawingml/2006/main">
            <a:r>
              <a:t>      "chunk_id": "reference:kto:2026:local-airport:page:043:chunk:03",</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"민간",</a:t>
            </a:r>
          </a:p>
          <a:p xmlns:a="http://schemas.openxmlformats.org/drawingml/2006/main">
            <a:r>
              <a:t>        "방문",</a:t>
            </a:r>
          </a:p>
          <a:p xmlns:a="http://schemas.openxmlformats.org/drawingml/2006/main">
            <a:r>
              <a:t>        "방문으로",</a:t>
            </a:r>
          </a:p>
          <a:p xmlns:a="http://schemas.openxmlformats.org/drawingml/2006/main">
            <a:r>
              <a:t>        "소비",</a:t>
            </a:r>
          </a:p>
          <a:p xmlns:a="http://schemas.openxmlformats.org/drawingml/2006/main">
            <a:r>
              <a:t>        "숙박",</a:t>
            </a:r>
          </a:p>
          <a:p xmlns:a="http://schemas.openxmlformats.org/drawingml/2006/main">
            <a:r>
              <a:t>        "연계",</a:t>
            </a:r>
          </a:p>
          <a:p xmlns:a="http://schemas.openxmlformats.org/drawingml/2006/main">
            <a:r>
              <a:t>        "예산",</a:t>
            </a:r>
          </a:p>
          <a:p xmlns:a="http://schemas.openxmlformats.org/drawingml/2006/main">
            <a:r>
              <a:t>        "예약",</a:t>
            </a:r>
          </a:p>
          <a:p xmlns:a="http://schemas.openxmlformats.org/drawingml/2006/main">
            <a:r>
              <a:t>        "이어지는",</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"체험"</a:t>
            </a:r>
          </a:p>
          <a:p xmlns:a="http://schemas.openxmlformats.org/drawingml/2006/main">
            <a:r>
              <a:t>      ],</a:t>
            </a:r>
          </a:p>
          <a:p xmlns:a="http://schemas.openxmlformats.org/drawingml/2006/main">
            <a:r>
              <a:t>      "page_references":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a:t>
            </a:r>
          </a:p>
          <a:p xmlns:a="http://schemas.openxmlformats.org/drawingml/2006/main">
            <a:r>
              <a:t>    {</a:t>
            </a:r>
          </a:p>
          <a:p xmlns:a="http://schemas.openxmlformats.org/drawingml/2006/main">
            <a:r>
              <a:t>      "source_id": "case:2c54c6aaf2117a",</a:t>
            </a:r>
          </a:p>
          <a:p xmlns:a="http://schemas.openxmlformats.org/drawingml/2006/main">
            <a:r>
              <a:t>      "source_type": "benchmark_case",</a:t>
            </a:r>
          </a:p>
          <a:p xmlns:a="http://schemas.openxmlformats.org/drawingml/2006/main">
            <a:r>
              <a:t>      "title": "6월부터 밤마다 인천으로—야간관광 특화도시 성과 및 운영계획 ([incheon.go.kr](https://www.incheon.go.kr/IC010205/view?curPage=233&amp;repSeq=DOM_0000000010085993&amp;utm_source=openai))",</a:t>
            </a:r>
          </a:p>
          <a:p xmlns:a="http://schemas.openxmlformats.org/drawingml/2006/main">
            <a:r>
              <a:t>      "source_url": "https://www.incheon.go.kr/IC010205/view?curPage=233&amp;repSeq=DOM_0000000010085993",</a:t>
            </a:r>
          </a:p>
          <a:p xmlns:a="http://schemas.openxmlformats.org/drawingml/2006/main">
            <a:r>
              <a:t>      "published_or_updated_at": "2024-06-11",</a:t>
            </a:r>
          </a:p>
          <a:p xmlns:a="http://schemas.openxmlformats.org/drawingml/2006/main">
            <a:r>
              <a:t>      "summary": "인천광역시 송도·월미도·개항장 중심 · 야간 콘텐츠·야시장·공연·경관·교통·안전을 묶은 야간관광 특화도시 운영 · 인천시는 2022년 11월~2023년 사업을 통해 관광객 29만2,034명, 지역소비 220억 원, 간접일자리 751명을 기록했다고 공개했다. 사업 운영과 지표가 함께 관측된 결과로, 다른 행사·계절·지역경제 요인을 통제한 인과효과는 아니다.",</a:t>
            </a:r>
          </a:p>
          <a:p xmlns:a="http://schemas.openxmlformats.org/drawingml/2006/main">
            <a:r>
              <a:t>      "case_region": "인천광역시 송도·월미도·개항장 중심",</a:t>
            </a:r>
          </a:p>
          <a:p xmlns:a="http://schemas.openxmlformats.org/drawingml/2006/main">
            <a:r>
              <a:t>      "intervention": "야간 콘텐츠·야시장·공연·경관·교통·안전을 묶은 야간관광 특화도시 운영",</a:t>
            </a:r>
          </a:p>
          <a:p xmlns:a="http://schemas.openxmlformats.org/drawingml/2006/main">
            <a:r>
              <a:t>      "operating_model": "야간관광 콘텐츠 개발, 야간 여건 개선, 야간명소 조성, 홍보마케팅 등 4개 분야 21개 세부사업을 운영했다. 공연·야시장·체험뿐 아니라 교통과 안전 환경을 함께 다루는 도시 단위 방식이다.",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"observed_result": "인천시는 2022년 11월~2023년 사업을 통해 관광객 29만2,034명, 지역소비 220억 원, 간접일자리 751명을 기록했다고 공개했다. 사업 운영과 지표가 함께 관측된 결과로, 다른 행사·계절·지역경제 요인을 통제한 인과효과는 아니다.",</a:t>
            </a:r>
          </a:p>
          <a:p xmlns:a="http://schemas.openxmlformats.org/drawingml/2006/main">
            <a:r>
              <a:t>      "measurement_period": "2022년 11월~2023년 12월에 해당하는 1·2차 연도 성과로 제시",</a:t>
            </a:r>
          </a:p>
          <a:p xmlns:a="http://schemas.openxmlformats.org/drawingml/2006/main">
            <a:r>
              <a:t>      "transfer_conditions": [</a:t>
            </a:r>
          </a:p>
          <a:p xmlns:a="http://schemas.openxmlformats.org/drawingml/2006/main">
            <a:r>
              <a:t>        "부평구에서는 해안경관을 복제하지 말고 문화시설·공연장·시장·식음 상권을 잇는 압축된 저녁 동선으로 변경",</a:t>
            </a:r>
          </a:p>
          <a:p xmlns:a="http://schemas.openxmlformats.org/drawingml/2006/main">
            <a:r>
              <a:t>        "2026년 10~12월 기온과 일몰시간에 맞춰 실내 프로그램 비중과 우천 대체편을 마련",</a:t>
            </a:r>
          </a:p>
          <a:p xmlns:a="http://schemas.openxmlformats.org/drawingml/2006/main">
            <a:r>
              <a:t>        "예약 회차별 정원을 두고 시작·종료 시각, 중도이탈, 프로그램 전후 상권 결제를 측정",</a:t>
            </a:r>
          </a:p>
          <a:p xmlns:a="http://schemas.openxmlformats.org/drawingml/2006/main">
            <a:r>
              <a:t>        "금·토요일 대중교통 막차, 보행 안전, 야간 화장실과 상점 영업시간을 사전 확인",</a:t>
            </a:r>
          </a:p>
          <a:p xmlns:a="http://schemas.openxmlformats.org/drawingml/2006/main">
            <a:r>
              <a:t>        "대규모 신규 경관시설 대신 기존 시설·민간공연·상점 프로그램을 조합해 3개월 일정에 맞춤"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"case:e4d3e4b6fd4903",</a:t>
            </a:r>
          </a:p>
          <a:p xmlns:a="http://schemas.openxmlformats.org/drawingml/2006/main">
            <a:r>
              <a:t>      "source_type": "benchmark_case",</a:t>
            </a:r>
          </a:p>
          <a:p xmlns:a="http://schemas.openxmlformats.org/drawingml/2006/main">
            <a:r>
              <a:t>      "title": "2025 서울국제정원박람회 주요 추진 성과 ([seoul.go.kr](https://www.seoul.go.kr/festa/files/2025/11/690b1ba4a58636.93147611.pdf?utm_source=openai))",</a:t>
            </a:r>
          </a:p>
          <a:p xmlns:a="http://schemas.openxmlformats.org/drawingml/2006/main">
            <a:r>
              <a:t>      "source_url": "https://www.seoul.go.kr/festa/files/2025/11/690b1ba4a58636.93147611.pdf",</a:t>
            </a:r>
          </a:p>
          <a:p xmlns:a="http://schemas.openxmlformats.org/drawingml/2006/main">
            <a:r>
              <a:t>      "published_or_updated_at": "2025-11",</a:t>
            </a:r>
          </a:p>
          <a:p xmlns:a="http://schemas.openxmlformats.org/drawingml/2006/main">
            <a:r>
              <a:t>      "summary": "서울특별시 동작구·관악구 보라매공원 및 인근 상권 · 장기 행사와 지역상권 스탬프 할인·지역상품권·푸드트럭을 결합한 서울국제정원박람회 · 158일 동안 누적 관람객 1,000만 명, 전년 동기 대비 보라매공원 방문객 평균 2.6배를 기록했다. 개막 전후 각 1주일 비교에서는 인근 상권 신용카드 매출액이 20%, 생활인구가 40% 증가했다. 개막 초기 약 10일간 푸드트럭 등 행사장 판매 매출은 9억5천만 원으로 공개됐다. 단순 전후 비교이므로 박람회의 단독 인과효과로 단정할 수 없다.",</a:t>
            </a:r>
          </a:p>
          <a:p xmlns:a="http://schemas.openxmlformats.org/drawingml/2006/main">
            <a:r>
              <a:t>      "case_region": "서울특별시 동작구·관악구 보라매공원 및 인근 상권",</a:t>
            </a:r>
          </a:p>
          <a:p xmlns:a="http://schemas.openxmlformats.org/drawingml/2006/main">
            <a:r>
              <a:t>      "intervention": "장기 행사와 지역상권 스탬프 할인·지역상품권·푸드트럭을 결합한 서울국제정원박람회",</a:t>
            </a:r>
          </a:p>
          <a:p xmlns:a="http://schemas.openxmlformats.org/drawingml/2006/main">
            <a:r>
              <a:t>      "operating_model": "기존 공원을 장기 행사장으로 활용해 계절별 정원·체험·야간 프로그램을 운영하고, 가든 스탬프투어 참여자에게 주변 상점 할인 혜택을 제공했다. 자치구·상인회 공동 마케팅, 지역사랑상품권 특별발행, 푸드트럭 운영을 함께 적용했다.",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"158일 동안 누적 관람객 1,000만 명, 전년 동기 대비 보라매공원 방문객 평균 2.6배를 기록했다. 개막 전후 각 1주일 비교에서는 인근 상권 신용카드 매출액이 20%, 생활인구가 40% 증가했다. 개막 초기 약 10일간 푸드트럭 등 행사장 판매 매출은 9억5천만 원으로 공개됐다. 단순 전후 비교이므로 박람회의 단독 인과효과로 단정할 수 없다.",</a:t>
            </a:r>
          </a:p>
          <a:p xmlns:a="http://schemas.openxmlformats.org/drawingml/2006/main">
            <a:r>
              <a:t>      "measurement_period": "누적 관람객은 2025-05-22~2025-10-26 기준 158일; 상권 비교는 개막 전후 각 1주일",</a:t>
            </a:r>
          </a:p>
          <a:p xmlns:a="http://schemas.openxmlformats.org/drawingml/2006/main">
            <a:r>
              <a:t>      "transfer_conditions": [</a:t>
            </a:r>
          </a:p>
          <a:p xmlns:a="http://schemas.openxmlformats.org/drawingml/2006/main">
            <a:r>
              <a:t>        "부평구의 기존 공원·문화시설·시장 중 장기 설치 없이 사용할 수 있는 거점을 선정",</a:t>
            </a:r>
          </a:p>
          <a:p xmlns:a="http://schemas.openxmlformats.org/drawingml/2006/main">
            <a:r>
              <a:t>        "행사장과 상권 사이 도보 경로에 스탬프 또는 예약 완료 지점을 배치",</a:t>
            </a:r>
          </a:p>
          <a:p xmlns:a="http://schemas.openxmlformats.org/drawingml/2006/main">
            <a:r>
              <a:t>        "상인회와 공통 할인조건·정산절차를 합의하고 업종별 참여 편중을 관리",</a:t>
            </a:r>
          </a:p>
          <a:p xmlns:a="http://schemas.openxmlformats.org/drawingml/2006/main">
            <a:r>
              <a:t>        "사업 전 2~4주와 운영기간의 카드결제 또는 쿠폰 결제를 같은 공간·요일 기준으로 비교",</a:t>
            </a:r>
          </a:p>
          <a:p xmlns:a="http://schemas.openxmlformats.org/drawingml/2006/main">
            <a:r>
              <a:t>        "서울의 규모를 복제하지 않고 하나의 거점과 인접 상권으로 축소"</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"case:d3579ecd36c485",</a:t>
            </a:r>
          </a:p>
          <a:p xmlns:a="http://schemas.openxmlformats.org/drawingml/2006/main">
            <a:r>
              <a:t>      "source_type": "benchmark_case",</a:t>
            </a:r>
          </a:p>
          <a:p xmlns:a="http://schemas.openxmlformats.org/drawingml/2006/main">
            <a:r>
              <a:t>      "title": "‘인천e지’ K-스마트관광 대표 여행 앱으로 우뚝 ([incheon.go.kr](https://www.incheon.go.kr/mayor_8/MA040101/view?curPage=1&amp;repSeq=DOM_0000000013699756&amp;utm_source=openai))",</a:t>
            </a:r>
          </a:p>
          <a:p xmlns:a="http://schemas.openxmlformats.org/drawingml/2006/main">
            <a:r>
              <a:t>      "source_url": "https://www.incheon.go.kr/mayor_8/MA040101/view?curPage=1&amp;repSeq=DOM_0000000013699756",</a:t>
            </a:r>
          </a:p>
          <a:p xmlns:a="http://schemas.openxmlformats.org/drawingml/2006/main">
            <a:r>
              <a:t>      "published_or_updated_at": "2025-12-09",</a:t>
            </a:r>
          </a:p>
          <a:p xmlns:a="http://schemas.openxmlformats.org/drawingml/2006/main">
            <a:r>
              <a:t>      "summary": "인천광역시 전역, 개항장 등 주요 관광권역 · 스마트관광 플랫폼 ‘인천e지’의 AI 동선 추천·스탬프·축제 프로모션·상점 쿠폰 결합 · 2025년 회원 12만 명, 누적 다운로드 32만 건, 사용자 만족도 4.47/5점으로 공개됐다. 지역축제 연계 프로모션 참여자는 10만 명 이상이며 앱 쿠폰으로 약 2억8천만 원의 직접 매출액이 발생했다고 발표했다. 이는 플랫폼 이용·쿠폰 정산 실적이며 인천 전체 관광소비의 순증 인과효과로 단정할 수 없다.",</a:t>
            </a:r>
          </a:p>
          <a:p xmlns:a="http://schemas.openxmlformats.org/drawingml/2006/main">
            <a:r>
              <a:t>      "case_region": "인천광역시 전역, 개항장 등 주요 관광권역",</a:t>
            </a:r>
          </a:p>
          <a:p xmlns:a="http://schemas.openxmlformats.org/drawingml/2006/main">
            <a:r>
              <a:t>      "intervention": "스마트관광 플랫폼 ‘인천e지’의 AI 동선 추천·스탬프·축제 프로모션·상점 쿠폰 결합",</a:t>
            </a:r>
          </a:p>
          <a:p xmlns:a="http://schemas.openxmlformats.org/drawingml/2006/main">
            <a:r>
              <a:t>      "operating_model": "AI 기반 일정·동선 추천, GPS 스탬프투어, 축제·행사 연계 프로모션, 교통·주차정보와 스마트쿠폰을 하나의 앱에서 제공하고 쿠폰 사용·정산기록을 축적했다.",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"observed_result": "2025년 회원 12만 명, 누적 다운로드 32만 건, 사용자 만족도 4.47/5점으로 공개됐다. 지역축제 연계 프로모션 참여자는 10만 명 이상이며 앱 쿠폰으로 약 2억8천만 원의 직접 매출액이 발생했다고 발표했다. 이는 플랫폼 이용·쿠폰 정산 실적이며 인천 전체 관광소비의 순증 인과효과로 단정할 수 없다.",</a:t>
            </a:r>
          </a:p>
          <a:p xmlns:a="http://schemas.openxmlformats.org/drawingml/2006/main">
            <a:r>
              <a:t>      "measurement_period": "2025년 1년간 운영성과; 2025년 12월 9일 공개",</a:t>
            </a:r>
          </a:p>
          <a:p xmlns:a="http://schemas.openxmlformats.org/drawingml/2006/main">
            <a:r>
              <a:t>      "transfer_conditions": [</a:t>
            </a:r>
          </a:p>
          <a:p xmlns:a="http://schemas.openxmlformats.org/drawingml/2006/main">
            <a:r>
              <a:t>        "별도 앱을 새로 구축하기보다 인천e지 안에 부평 전용 패스·쿠폰·예약 페이지를 개설할 수 있는지 인천시·인천관광공사와 협의",</a:t>
            </a:r>
          </a:p>
          <a:p xmlns:a="http://schemas.openxmlformats.org/drawingml/2006/main">
            <a:r>
              <a:t>        "부평역·문화의거리·전통시장·문화시설 등 실제 참여 지점을 모집하고 영업시간·휴무일·접근성을 검증",</a:t>
            </a:r>
          </a:p>
          <a:p xmlns:a="http://schemas.openxmlformats.org/drawingml/2006/main">
            <a:r>
              <a:t>        "노출→패스 저장→GPS 방문→쿠폰 사용→결제액을 익명 참여자 단위로 연결",</a:t>
            </a:r>
          </a:p>
          <a:p xmlns:a="http://schemas.openxmlformats.org/drawingml/2006/main">
            <a:r>
              <a:t>        "비참여 가맹점 또는 직전 동기간을 비교기준으로 두되 기상·공휴일·대형행사 영향을 별도로 기록"</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"case:ec3256094ff9a4",</a:t>
            </a:r>
          </a:p>
          <a:p xmlns:a="http://schemas.openxmlformats.org/drawingml/2006/main">
            <a:r>
              <a:t>      "source_type": "benchmark_case",</a:t>
            </a:r>
          </a:p>
          <a:p xmlns:a="http://schemas.openxmlformats.org/drawingml/2006/main">
            <a:r>
              <a:t>      "title": "인천시, 전통시장 모바일 스탬프 투어 완주하면 5천 원 쿠폰 ([incheon.go.kr](https://www.incheon.go.kr/mayor_8/MA040101/view?curPage=618&amp;repSeq=DOM_0000000008264854&amp;utm_source=openai))",</a:t>
            </a:r>
          </a:p>
          <a:p xmlns:a="http://schemas.openxmlformats.org/drawingml/2006/main">
            <a:r>
              <a:t>      "source_url": "https://www.incheon.go.kr/mayor_8/MA040101/view?curPage=618&amp;repSeq=DOM_0000000008264854",</a:t>
            </a:r>
          </a:p>
          <a:p xmlns:a="http://schemas.openxmlformats.org/drawingml/2006/main">
            <a:r>
              <a:t>      "published_or_updated_at": "2023년 공식 게시자료; 정확한 게시일은 검색 결과에서 확인되지 않음",</a:t>
            </a:r>
          </a:p>
          <a:p xmlns:a="http://schemas.openxmlformats.org/drawingml/2006/main">
            <a:r>
              <a:t>      "summary": "인천광역시 11개 전통시장·상권, 부평로터리·부평문화의거리·부평종합시장 포함 · GPS 기반 전통시장 모바일 스탬프투어와 완주 소비쿠폰 · 대상 시장·코스·쿠폰 조건·가맹점 수는 확인되지만 완주자 수, 쿠폰 사용률, 결제액 및 비참여 기간과의 비교 결과는 공식 자료에서 확인되지 않음",</a:t>
            </a:r>
          </a:p>
          <a:p xmlns:a="http://schemas.openxmlformats.org/drawingml/2006/main">
            <a:r>
              <a:t>      "case_region": "인천광역시 11개 전통시장·상권, 부평로터리·부평문화의거리·부평종합시장 포함",</a:t>
            </a:r>
          </a:p>
          <a:p xmlns:a="http://schemas.openxmlformats.org/drawingml/2006/main">
            <a:r>
              <a:t>      "intervention": "GPS 기반 전통시장 모바일 스탬프투어와 완주 소비쿠폰",</a:t>
            </a:r>
          </a:p>
          <a:p xmlns:a="http://schemas.openxmlformats.org/drawingml/2006/main">
            <a:r>
              <a:t>      "operating_model": "11개 시장과 주변 관광지를 8개 추천코스로 구성하고 GPS로 방문을 자동 인증했다. 한 코스 완주자에게 5천 원 소비쿠폰을 즉시 지급하고 약 140개 참여시장 가맹점에서 사용하도록 했다. 코스별 중복 참여가 가능하며 쿠폰 예산 소진 시 조기 종료하는 구조였다.",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"observed_result": "대상 시장·코스·쿠폰 조건·가맹점 수는 확인되지만 완주자 수, 쿠폰 사용률, 결제액 및 비참여 기간과의 비교 결과는 공식 자료에서 확인되지 않음",</a:t>
            </a:r>
          </a:p>
          <a:p xmlns:a="http://schemas.openxmlformats.org/drawingml/2006/main">
            <a:r>
              <a:t>      "measurement_period": "운영 공고 시점의 사업구조만 확인; 사후 성과 측정기간 확인되지 않음",</a:t>
            </a:r>
          </a:p>
          <a:p xmlns:a="http://schemas.openxmlformats.org/drawingml/2006/main">
            <a:r>
              <a:t>      "transfer_conditions": [</a:t>
            </a:r>
          </a:p>
          <a:p xmlns:a="http://schemas.openxmlformats.org/drawingml/2006/main">
            <a:r>
              <a:t>        "부평 3개 참여 상권을 전부 묶기보다 도보 이동 가능한 1개 권역부터 축소 실증",</a:t>
            </a:r>
          </a:p>
          <a:p xmlns:a="http://schemas.openxmlformats.org/drawingml/2006/main">
            <a:r>
              <a:t>        "단순 지점 방문이 아니라 상점 영수증, 프로그램 예약 또는 현장 체험 중 하나를 완료조건에 포함",</a:t>
            </a:r>
          </a:p>
          <a:p xmlns:a="http://schemas.openxmlformats.org/drawingml/2006/main">
            <a:r>
              <a:t>        "발급 수와 실제 사용 수를 분리하고 업종·요일·시간대별 쿠폰 사용액을 집계",</a:t>
            </a:r>
          </a:p>
          <a:p xmlns:a="http://schemas.openxmlformats.org/drawingml/2006/main">
            <a:r>
              <a:t>        "쿠폰 예산이 소진되더라도 스탬프 코스는 계속 운영할 수 있도록 비금전 보상 대안 마련"</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"36제 2장 지방공항 연계 지역관광 활성화 방안 요즘, 한국관광 [제안 1] 의료·쇼핑 소비를 영남권 체류형 관광루트로 연결 대구공항 입국 방한객의 소비가 대구의 의료·쇼핑을 중심으로 형성되고, 경산·구미·포항·경주 등 경북 지역으로 이동하고 있는 점을 활용한다. 대구에서 시작된 의료·쇼핑 소비를 영남의 역사문화·해양·미식 등 관광자원과 연계해, 이미 형성된 지역 간 이동을 체류형 관광루트로 고도화한다. 특히 대만(30~40대)·중국(20대)·일본(20대·50대)으로 국가별 핵심 연령층이 다른 만큼, 연령층별 관심사와 이동 패턴을 반영한 맞춤형 루트를 함께 구성하는 것이 효과적이다. [제안 2] 의료 수요를 5박 6일 프리미엄 체류 패키지로 상품화 피부·성형을 핵심 의료 서비스로, 한방·치과·종합검진을 선택형 연계 서비스로 구성한 '대구 프리미엄 의료 패키지(5박 6 일)'를 개발한다. 진료와 회복 일정에 쇼핑·미식·문화관광을 결합하고 대경권 주요 관광지까지 동선을 확장해, 의료 목적 방문을 장기 체류와 광역 소비로 연결한다. 국가별 핵심 연령층이 다른 점을 고려해 대만 30~40대를 겨냥한 프리미엄 의료·웰니스 상품, 중국·일본 20대를 겨냥한 미용·체험 중심 상품으로 타깃을 세분화한다. [제안 3] 교통·결제 편의성 개선으로 소비 동선의 단절 해소 공항-도심-경북 주요 도시 간 이동정보와 예약을 다국어로 연결하고, 해외카드를 활용한 대중교통 이용 등 외국인이 도착 직후 겪는 교통·결제 불편을 줄여 의료·관광 소비 동선이 끊기지 않도록 한다. 취항 국가는 7개국에서 10개국으로, 취항 도시는 15개에서 27개로 늘었지만 실제 운항 편수는 오히려 줄어, 연결 범위 확대가 아직 공급 증가로 이어지지 않고 있다.",</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"방문",</a:t>
            </a:r>
          </a:p>
          <a:p xmlns:a="http://schemas.openxmlformats.org/drawingml/2006/main">
            <a:r>
              <a:t>        "소비",</a:t>
            </a:r>
          </a:p>
          <a:p xmlns:a="http://schemas.openxmlformats.org/drawingml/2006/main">
            <a:r>
              <a:t>        "실제",</a:t>
            </a:r>
          </a:p>
          <a:p xmlns:a="http://schemas.openxmlformats.org/drawingml/2006/main">
            <a:r>
              <a:t>        "연결하고",</a:t>
            </a:r>
          </a:p>
          <a:p xmlns:a="http://schemas.openxmlformats.org/drawingml/2006/main">
            <a:r>
              <a:t>        "연결한",</a:t>
            </a:r>
          </a:p>
          <a:p xmlns:a="http://schemas.openxmlformats.org/drawingml/2006/main">
            <a:r>
              <a:t>        "예약",</a:t>
            </a:r>
          </a:p>
          <a:p xmlns:a="http://schemas.openxmlformats.org/drawingml/2006/main">
            <a:r>
              <a:t>        "이용",</a:t>
            </a:r>
          </a:p>
          <a:p xmlns:a="http://schemas.openxmlformats.org/drawingml/2006/main">
            <a:r>
              <a:t>        "일정",</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"체험",</a:t>
            </a:r>
          </a:p>
          <a:p xmlns:a="http://schemas.openxmlformats.org/drawingml/2006/main">
            <a:r>
              <a:t>        "함께"</a:t>
            </a:r>
          </a:p>
          <a:p xmlns:a="http://schemas.openxmlformats.org/drawingml/2006/main">
            <a:r>
              <a:t>      ],</a:t>
            </a:r>
          </a:p>
          <a:p xmlns:a="http://schemas.openxmlformats.org/drawingml/2006/main">
            <a:r>
              <a:t>      "page_references": "PDF 36쪽",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"reference:kto:2026:local-airport:page:036:chunk:01",</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"41제 2장 지방공항 연계 지역관광 활성화 방안 요즘, 한국관광 관광상품을 만들어도 공항에서 관광지까지 이동하기 어렵다면 실제 지역 방문으로 연결되기 어렵다. 이에 공사는 지자체· 공항공사·교통기관 등 대외 협업체계와 함께 지방공항으로 유입된 방한객이 지역 관광지까지 불편 없이 이동할 수 있도록 교통 연계와 이용 편의 인프라를 개선하는 방향으로 사업을 추진하고 있다. 공사는 충청남도, 충청북도(광역지자체) 및 충 남문화재단, 충북문화재단(RTO)과 협업하여 청주공항과 오 송역, 공주터미널, 부여터미널 등 충청권 주요 관광지를 연결하는 광역 순환버스와 DRT(수요 응답형 버스) 운영을 지원하고 있다. 2026년 상반기 순환버스와 DRT 이용객은 총 7 ,470명으로, 공항에서 충청권 주요 관광지까지 직접 이동할 수 있는 선택지가 확대되고 있다. 대구공항에서는 외국인이 별도의 교통카드 없이 해외 신용카드 등으로 대중교통을 이용할 수 있는 개방형 교통결제 시스템 도입을 지원하고 있으며, 간편결제·관광안내·환전 및 면세 등 이용 편의도 단계적으로 보완하고 있다. 지방공항의 역할을 항공기에서 내리는 지점에 그치지 않고 지역 여행을 실제로 시작할 수 있는 관문으로 넓히는 과정이다. 추진사업 3. 교통 편의 인프라 - 공항 도착 이후 지역으로 이어지는 이동·편의 기반 구축 성과 | 전방위 유치·마케팅 성과 가시화…청주공항 방한객 6만 명 돌파, 부정기 항공편도 대폭 확대 한국관광공사, 공항활성화 협의체 및 관계기관의 협업체계가 잘 작동하고, 전방위적 역량을 집중한 결과, 지방공항 유치· 마케팅의 성과가 방한객 유입과 항공 공급 지표에서 가시화되고 있다. 특히 청주공항은 2026년 상반기 방한객이 6만 2,971 명으로 6만 명을 돌파하며 전년 동기 대비 109.1% 급증했다.",</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"방문",</a:t>
            </a:r>
          </a:p>
          <a:p xmlns:a="http://schemas.openxmlformats.org/drawingml/2006/main">
            <a:r>
              <a:t>        "방문으로",</a:t>
            </a:r>
          </a:p>
          <a:p xmlns:a="http://schemas.openxmlformats.org/drawingml/2006/main">
            <a:r>
              <a:t>        "사업을",</a:t>
            </a:r>
          </a:p>
          <a:p xmlns:a="http://schemas.openxmlformats.org/drawingml/2006/main">
            <a:r>
              <a:t>        "성과",</a:t>
            </a:r>
          </a:p>
          <a:p xmlns:a="http://schemas.openxmlformats.org/drawingml/2006/main">
            <a:r>
              <a:t>        "소비",</a:t>
            </a:r>
          </a:p>
          <a:p xmlns:a="http://schemas.openxmlformats.org/drawingml/2006/main">
            <a:r>
              <a:t>        "실제",</a:t>
            </a:r>
          </a:p>
          <a:p xmlns:a="http://schemas.openxmlformats.org/drawingml/2006/main">
            <a:r>
              <a:t>        "운영",</a:t>
            </a:r>
          </a:p>
          <a:p xmlns:a="http://schemas.openxmlformats.org/drawingml/2006/main">
            <a:r>
              <a:t>        "이어지는",</a:t>
            </a:r>
          </a:p>
          <a:p xmlns:a="http://schemas.openxmlformats.org/drawingml/2006/main">
            <a:r>
              <a:t>        "이용",</a:t>
            </a:r>
          </a:p>
          <a:p xmlns:a="http://schemas.openxmlformats.org/drawingml/2006/main">
            <a:r>
              <a:t>        "이후",</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41쪽",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"reference:kto:2026:local-airport:page:041:chunk:01",</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"남부관광의 해 연계 지역상품 홍보 타이베이 지사가 개발한 2025년 대구 파워풀페스티벌 상품 홍보 로고 일본 시장은 다른 방식으로 접근하고 있다. 일본은 방한 재방문율이 높고 서울 이외의 새로운 지역과 관광콘텐츠를 찾는 수요가 비교적 뚜렷한 시장이다. 공사는 지방 직항노선을 기반으로 동남권 각 도시의 특색을 여행 목적과 테마로 재구성하고, 현지 여행사·항공사와 연계해 실제 상품과 모객으로 이어지도록 하는 방식을 추진하고 있다. 같은 지방공항 유치 사업이라도 시장 특성에 따라 대만은 지역의 범위를 단계적으로 넓히고, 일본은 재방문객에게 새로운 지역 방문 이유를 만드는 방식으로 접근하는 것이다. 해외에서 지방공항을 선택하게 하려면 노선과 함께 '도착한 뒤 무엇을 할 것인가'가 제시돼야 한다. 이를 위해 공사는 청주· 대구공항을 중심으로 지역 관광콘텐츠를 발굴하고, 이를 공항과 연결된 권역형·초광역형 관광코스로 구성했다. 2026년 6월 기준 발굴된 콘텐츠는 17개 테마 333개, 관광코스는 35개다. 럭셔리·한류·의료·웰니스·해양·축제·역사문화·미식·쇼핑 등 지역의 다양한 관광자원을 활용하되, 개별 콘텐츠에 그치지 않고 공항을 시작점으로 여러 지역을 이동할 수 있도록 연결한 것이 특징이다. 대표적으로 청주공항에서는 청주-공주-부여-전주를 잇는 백제 역사문화 루트와 같이 충청권과 인접 지역을 연결하는 코스를, 대구공항에서는 대구-경주-울산-부산을 잇는 유네스코 헤리티지 루트와 같이 영남권의 주요 관광자원을 묶은 광역 코스를 구성했다. 지방공항을 특정 도시 하나의 관문이 아니라 여러 지역으로 이동하는 여행의 출발점으로 활용하는 방식이다. 추진사업 2. 지역 콘텐츠를 실제 방한상품으로 연결",</a:t>
            </a:r>
          </a:p>
          <a:p xmlns:a="http://schemas.openxmlformats.org/drawingml/2006/main">
            <a:r>
              <a:t>      "retrieval_method": "local_curated_chunk",</a:t>
            </a:r>
          </a:p>
          <a:p xmlns:a="http://schemas.openxmlformats.org/drawingml/2006/main">
            <a:r>
              <a:t>      "matched_terms": [</a:t>
            </a:r>
          </a:p>
          <a:p xmlns:a="http://schemas.openxmlformats.org/drawingml/2006/main">
            <a:r>
              <a:t>        "관광콘텐츠",</a:t>
            </a:r>
          </a:p>
          <a:p xmlns:a="http://schemas.openxmlformats.org/drawingml/2006/main">
            <a:r>
              <a:t>        "다양한",</a:t>
            </a:r>
          </a:p>
          <a:p xmlns:a="http://schemas.openxmlformats.org/drawingml/2006/main">
            <a:r>
              <a:t>        "방문",</a:t>
            </a:r>
          </a:p>
          <a:p xmlns:a="http://schemas.openxmlformats.org/drawingml/2006/main">
            <a:r>
              <a:t>        "방식으로",</a:t>
            </a:r>
          </a:p>
          <a:p xmlns:a="http://schemas.openxmlformats.org/drawingml/2006/main">
            <a:r>
              <a:t>        "방식을",</a:t>
            </a:r>
          </a:p>
          <a:p xmlns:a="http://schemas.openxmlformats.org/drawingml/2006/main">
            <a:r>
              <a:t>        "소비",</a:t>
            </a:r>
          </a:p>
          <a:p xmlns:a="http://schemas.openxmlformats.org/drawingml/2006/main">
            <a:r>
              <a:t>        "실제",</a:t>
            </a:r>
          </a:p>
          <a:p xmlns:a="http://schemas.openxmlformats.org/drawingml/2006/main">
            <a:r>
              <a:t>        "연결한",</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"콘텐츠를",</a:t>
            </a:r>
          </a:p>
          <a:p xmlns:a="http://schemas.openxmlformats.org/drawingml/2006/main">
            <a:r>
              <a:t>        "함께"</a:t>
            </a:r>
          </a:p>
          <a:p xmlns:a="http://schemas.openxmlformats.org/drawingml/2006/main">
            <a:r>
              <a:t>      ],</a:t>
            </a:r>
          </a:p>
          <a:p xmlns:a="http://schemas.openxmlformats.org/drawingml/2006/main">
            <a:r>
              <a:t>      "page_references": "PDF 40쪽",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"reference:kto:2026:local-airport:page:040:chunk:02",</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"작동하고, 전방위적 역량을 집중한 결과, 지방공항 유치· 마케팅의 성과가 방한객 유입과 항공 공급 지표에서 가시화되고 있다. 특히 청주공항은 2026년 상반기 방한객이 6만 2,971 명으로 6만 명을 돌파하며 전년 동기 대비 109.1% 급증했다. 인바운드 비중도 7 .9%에서 11.1%로 전년 동기 대비 3.2%p 상승했고, 국제선 공급석은 146만 3,061석으로 전년보다 43.0% 대폭 확대됐다. 대구공항도 같은 기간 방한객이 5만 7 ,058명으로 전년 동기 대비 2.6% 증가했고, 국제선 공급석은 90만 2,286석으로 6.3% 늘었다. 특히 부정기 항공편에서는 확대 폭이 더욱 뚜렷하다. 2026년 상반기 부정기 항공편은 청주공항 574회, 대구공항 458회로 총 1,032회가 확정됐으며, 전년 동기 대비 각각 178.6%, 854.2% 급증했다. 부정기 확대편의 사례로 공사에서 유치한 후쿠시마-청주 전세기 운영을 들 수 있다. 공사 도쿄지사가 한일 비운항지역인 후쿠시마를 대상으로, 현지 여행사, 항공사가 협력해 운항한 두 차례 전세기 360석이 모두 매진됐다. 해외 현지 수요를 발굴하고 항공편과 관광상품을 함께 구성해 지방공항 입국으로 연결한 사례라는 데 의미가 있다. 발굴한 콘텐츠가 실제 해외 여행상품으로 이어질 수 있도록 '인바운드 관광 상품화 툴킷'도 함께 마련했다. 지역별 교통· 숙박·쇼핑·식당과 관광사업자, 지자체 지원정보 등 해외 여행사가 상품을 구성할 때 필요한 정보를 한데 모아 제공하는 자료다. 해외지사는 이를 활용해 현지 여행사 ·OTA와 지방공항 연계 상품 을 개발하고 있으며, 2026년 6월 기준 청주공항 연계 상품 49개, 대구공항 연계 상품 10개가 개발됐다.",</a:t>
            </a:r>
          </a:p>
          <a:p xmlns:a="http://schemas.openxmlformats.org/drawingml/2006/main">
            <a:r>
              <a:t>      "retrieval_method": "local_curated_chunk",</a:t>
            </a:r>
          </a:p>
          <a:p xmlns:a="http://schemas.openxmlformats.org/drawingml/2006/main">
            <a:r>
              <a:t>      "matched_terms": [</a:t>
            </a:r>
          </a:p>
          <a:p xmlns:a="http://schemas.openxmlformats.org/drawingml/2006/main">
            <a:r>
              <a:t>        "관광사업",</a:t>
            </a:r>
          </a:p>
          <a:p xmlns:a="http://schemas.openxmlformats.org/drawingml/2006/main">
            <a:r>
              <a:t>        "사례",</a:t>
            </a:r>
          </a:p>
          <a:p xmlns:a="http://schemas.openxmlformats.org/drawingml/2006/main">
            <a:r>
              <a:t>        "성과",</a:t>
            </a:r>
          </a:p>
          <a:p xmlns:a="http://schemas.openxmlformats.org/drawingml/2006/main">
            <a:r>
              <a:t>        "소비",</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"운영",</a:t>
            </a:r>
          </a:p>
          <a:p xmlns:a="http://schemas.openxmlformats.org/drawingml/2006/main">
            <a:r>
              <a:t>        "지역",</a:t>
            </a:r>
          </a:p>
          <a:p xmlns:a="http://schemas.openxmlformats.org/drawingml/2006/main">
            <a:r>
              <a:t>        "체류",</a:t>
            </a:r>
          </a:p>
          <a:p xmlns:a="http://schemas.openxmlformats.org/drawingml/2006/main">
            <a:r>
              <a:t>        "필요한",</a:t>
            </a:r>
          </a:p>
          <a:p xmlns:a="http://schemas.openxmlformats.org/drawingml/2006/main">
            <a:r>
              <a:t>        "함께",</a:t>
            </a:r>
          </a:p>
          <a:p xmlns:a="http://schemas.openxmlformats.org/drawingml/2006/main">
            <a:r>
              <a:t>        "활용해"</a:t>
            </a:r>
          </a:p>
          <a:p xmlns:a="http://schemas.openxmlformats.org/drawingml/2006/main">
            <a:r>
              <a:t>      ],</a:t>
            </a:r>
          </a:p>
          <a:p xmlns:a="http://schemas.openxmlformats.org/drawingml/2006/main">
            <a:r>
              <a:t>      "page_references": "PDF 41쪽",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"reference:kto:2026:local-airport:page:041:chunk:02",</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"43제 2장 지방공항 연계 지역관광 활성화 방안 요즘, 한국관광 (전문가 제언) 지방공항 관문 활성화를 넘어 '지방관광 권역 활성화'로5. 지방공항을 통한 방한 입국은 분명한 성장 국면이다. 그러나 지방공항 관문 활성화가 곧바로 지방공항과 지역관광의 경쟁력으로 해석하기에는 아직 이르다. 최근의 지방공항 입국 증가는 대만 시장의 고성장, LCC의 공격적 공급 확대, 중국 단체 무비자와 중·일 관계 변화에 따른 수요 이동 등 외부 요인과 일부 결합되어 나타난 측면도 있기 때문이다. 지금 필요한 것은 입국자 수와 노선 수의 증가에 만족하는 것이 아니라, 이를 지역관광의 체질 전환과 고부가가치화로 연결하는 전략이 필요하다. 또한 특정 관광시장에 대한 의존도가 높을수록 공항은 외부 변수에 취약해질 수밖에 없고, 체류 전환이 약할수록 늘어난 유입은 지역에 효과를 남기지 않으며, 공항별 차이를 무시한 일률적 지원은 성과를 도출하기 어렵게 만든다. 결국 이제는 정책의 단위를 '공항' 중심에서 보다 관문과 연결되는 연계된 도시로 확장할 필요가 있다. 지방공항 활성화의 중장기 과제는 단순히 더 많은 노선을 유치하는 데서 끝나서는 안 되며, 공항을 관문으로 하는 배후 관광권 단위로 성과를 설계하고 측정하는 방향으로 전환되어야 한다. 정책의 단위를 '지방공항'에서 '지방관광 권역'으로 지방공항과 지방관광이 동시에 활성화하려면 두 관점이 함께 필요하다. 하나는 관문 기능의 고도화(노선·운수권·전세기 유치, CIQ와 터미널 용량, 공항-거점 교통의 직결성)이고, 다른 하나는 배후권역의 체류 전환(입국 이후 첫 숙박·첫 소비를 권역 안에서 완결되게 설계, 권역 내 이동의 관광 루트화, 지역 특화 업종의 객단가 제고)이다. 지금까지의 정책이",</a:t>
            </a:r>
          </a:p>
          <a:p xmlns:a="http://schemas.openxmlformats.org/drawingml/2006/main">
            <a:r>
              <a:t>      "retrieval_method": "local_curated_chunk",</a:t>
            </a:r>
          </a:p>
          <a:p xmlns:a="http://schemas.openxmlformats.org/drawingml/2006/main">
            <a:r>
              <a:t>      "matched_terms": [</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"이후",</a:t>
            </a:r>
          </a:p>
          <a:p xmlns:a="http://schemas.openxmlformats.org/drawingml/2006/main">
            <a:r>
              <a:t>        "전환",</a:t>
            </a:r>
          </a:p>
          <a:p xmlns:a="http://schemas.openxmlformats.org/drawingml/2006/main">
            <a:r>
              <a:t>        "전환과",</a:t>
            </a:r>
          </a:p>
          <a:p xmlns:a="http://schemas.openxmlformats.org/drawingml/2006/main">
            <a:r>
              <a:t>        "지역",</a:t>
            </a:r>
          </a:p>
          <a:p xmlns:a="http://schemas.openxmlformats.org/drawingml/2006/main">
            <a:r>
              <a:t>        "체류",</a:t>
            </a:r>
          </a:p>
          <a:p xmlns:a="http://schemas.openxmlformats.org/drawingml/2006/main">
            <a:r>
              <a:t>        "측정",</a:t>
            </a:r>
          </a:p>
          <a:p xmlns:a="http://schemas.openxmlformats.org/drawingml/2006/main">
            <a:r>
              <a:t>        "필요한",</a:t>
            </a:r>
          </a:p>
          <a:p xmlns:a="http://schemas.openxmlformats.org/drawingml/2006/main">
            <a:r>
              <a:t>        "함께"</a:t>
            </a:r>
          </a:p>
          <a:p xmlns:a="http://schemas.openxmlformats.org/drawingml/2006/main">
            <a:r>
              <a:t>      ],</a:t>
            </a:r>
          </a:p>
          <a:p xmlns:a="http://schemas.openxmlformats.org/drawingml/2006/main">
            <a:r>
              <a:t>      "page_references":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"reference:kto:2026:local-airport:page:043:chunk:01",</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"권·전세기 유치, CIQ와 터미널 용량, 공항-거점 교통의 직결성)이고, 다른 하나는 배후권역의 체류 전환(입국 이후 첫 숙박·첫 소비를 권역 안에서 완결되게 설계, 권역 내 이동의 관광 루트화, 지역 특화 업종의 객단가 제고)이다. 지금까지의 정책이 전자에 집중되어 왔다면, 앞으로의 무게중심은 후자를 함께 설계하는 데 있으며 지방공항 활성화의 성과는 공항 소재 시· 도 행정구역이 아니라 권역단위로 측정되어야 한다. 한국관광공사 관광컨설팅팀 협조를 통해 본 신세시오를 활용한 다국어 소셜 데이터에서도 청주는 여정 7단계 1) 가운데 '숙박·체류' 담론이 가장 약하고 대구는 '인지·정보·예약' 단계가 가장 약한 것 으로 나타난다. 같은 지방공항이라도 방한객의 여정에서 막히는 지점이 다르며, 전략은 그 병목 단계에 맞춰 설계되어야 할 것이다. 또한 지역 단위로 분산된 해외 홍보를 관문공항 단위의 공동 홍보로 전환해야 한다. 아직도 일부 방한외래객은 지역을 알지 못하기 때문에 서울만 방문하고, 정보의 다수는 글로벌 앱이나 유튜브 등에서 얻는 현실에서 시·군 단위 개별 마케팅은 효과가 제한적일 수밖에 없다. 대만 시장에서 부산을 출 발점으로 경남·남부권·중부권으로 대상 지역을 단계적으로 넓혀 온 ‘남부관광의 해’ 등 권역 중심의 홍보 전략은 시장 특성에 맞춘 권역형 인지 전략의 좋은 선례라 할 수 있다. 여기에 AI 검색 시대에 대응한 5대 관광권 정보의 AEO(AI 답변 최적화) 표준화가 더해진다면 보다 효과적인 마케팅이 가능할 것이다. 명확한 기관별 역할분담과 민관협력 문화체육관광부는 지방공항과 5대 관광권 2) 정책을 하나의 체계로 묶는 컨트롤타워가 되어야 한다. 5대 관광권의 지정과",</a:t>
            </a:r>
          </a:p>
          <a:p xmlns:a="http://schemas.openxmlformats.org/drawingml/2006/main">
            <a:r>
              <a:t>      "retrieval_method": "local_curated_chunk",</a:t>
            </a:r>
          </a:p>
          <a:p xmlns:a="http://schemas.openxmlformats.org/drawingml/2006/main">
            <a:r>
              <a:t>      "matched_terms": [</a:t>
            </a:r>
          </a:p>
          <a:p xmlns:a="http://schemas.openxmlformats.org/drawingml/2006/main">
            <a:r>
              <a:t>        "검색",</a:t>
            </a:r>
          </a:p>
          <a:p xmlns:a="http://schemas.openxmlformats.org/drawingml/2006/main">
            <a:r>
              <a:t>        "방문",</a:t>
            </a:r>
          </a:p>
          <a:p xmlns:a="http://schemas.openxmlformats.org/drawingml/2006/main">
            <a:r>
              <a:t>        "성과",</a:t>
            </a:r>
          </a:p>
          <a:p xmlns:a="http://schemas.openxmlformats.org/drawingml/2006/main">
            <a:r>
              <a:t>        "소비",</a:t>
            </a:r>
          </a:p>
          <a:p xmlns:a="http://schemas.openxmlformats.org/drawingml/2006/main">
            <a:r>
              <a:t>        "숙박",</a:t>
            </a:r>
          </a:p>
          <a:p xmlns:a="http://schemas.openxmlformats.org/drawingml/2006/main">
            <a:r>
              <a:t>        "예약",</a:t>
            </a:r>
          </a:p>
          <a:p xmlns:a="http://schemas.openxmlformats.org/drawingml/2006/main">
            <a:r>
              <a:t>        "이후",</a:t>
            </a:r>
          </a:p>
          <a:p xmlns:a="http://schemas.openxmlformats.org/drawingml/2006/main">
            <a:r>
              <a:t>        "전환",</a:t>
            </a:r>
          </a:p>
          <a:p xmlns:a="http://schemas.openxmlformats.org/drawingml/2006/main">
            <a:r>
              <a:t>        "지역",</a:t>
            </a:r>
          </a:p>
          <a:p xmlns:a="http://schemas.openxmlformats.org/drawingml/2006/main">
            <a:r>
              <a:t>        "체류",</a:t>
            </a:r>
          </a:p>
          <a:p xmlns:a="http://schemas.openxmlformats.org/drawingml/2006/main">
            <a:r>
              <a:t>        "측정",</a:t>
            </a:r>
          </a:p>
          <a:p xmlns:a="http://schemas.openxmlformats.org/drawingml/2006/main">
            <a:r>
              <a:t>        "함께"</a:t>
            </a:r>
          </a:p>
          <a:p xmlns:a="http://schemas.openxmlformats.org/drawingml/2006/main">
            <a:r>
              <a:t>      ],</a:t>
            </a:r>
          </a:p>
          <a:p xmlns:a="http://schemas.openxmlformats.org/drawingml/2006/main">
            <a:r>
              <a:t>      "page_references":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"reference:kto:2026:local-airport:page:043:chunk:02",</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"광권 정보의 AEO(AI 답변 최적화) 표준화가 더해진다면 보다 효과적인 마케팅이 가능할 것이다. 명확한 기관별 역할분담과 민관협력 문화체육관광부는 지방공항과 5대 관광권 2) 정책을 하나의 체계로 묶는 컨트롤타워가 되어야 한다. 5대 관광권의 지정과 예산 통합, 국토교통부·법무부·지방정부와의 협업을 통해 운수권·슬롯·공항시설 사용료 인센티브, 비자·입국 절차, 광역 교통을 권역 단위로 조율하고, 민간의 지역 투자를 끌어내기 위한 장기적 관점의 규제 특례를 마련해야 한다. 무엇보다 공항별 성장 단계와 시장 구조에 따라 KPI와 사업적 특성을 권역에 맞게 적용하는 유형별 육성 로드맵이 필요하다. 1) 소셜 데이터의 담론을 7가지의 여정으로 구분하였는데, 여정은 1) 인지, 정보 및 예약, 2) 입국 및 방문, 3) 교통 및 이동, 4) 숙박 및 체류, 5) 관광 및 체험, 6) 쇼핑 및 식음, 7) 공유 및 재방문으로 구분하였다. 2) 시도 및 시군구 등 행정권역을 넘어 방한객의 여행 동선을 따라 여러 지역이 이어지는 관광 중심 권역을 의미하며, 방한객의 지역 입국이 시작되는 지 방국제공항이 있는 김해·대구·청주·무안·양양공항 등 관문도시를 중심으로 해 인근에 특화 관광자원을 보유한 연계 도시를 연결하는 전략으로 '관광권' 을 설계(출처: 대한민국 정책브리핑, 2026). 프로젝트수 대표, 한양대학교 관광학부 겸임교수 정란수",</a:t>
            </a:r>
          </a:p>
          <a:p xmlns:a="http://schemas.openxmlformats.org/drawingml/2006/main">
            <a:r>
              <a:t>      "retrieval_method": "local_curated_chunk",</a:t>
            </a:r>
          </a:p>
          <a:p xmlns:a="http://schemas.openxmlformats.org/drawingml/2006/main">
            <a:r>
              <a:t>      "matched_terms": [</a:t>
            </a:r>
          </a:p>
          <a:p xmlns:a="http://schemas.openxmlformats.org/drawingml/2006/main">
            <a:r>
              <a:t>        "민간",</a:t>
            </a:r>
          </a:p>
          <a:p xmlns:a="http://schemas.openxmlformats.org/drawingml/2006/main">
            <a:r>
              <a:t>        "방문",</a:t>
            </a:r>
          </a:p>
          <a:p xmlns:a="http://schemas.openxmlformats.org/drawingml/2006/main">
            <a:r>
              <a:t>        "방문으로",</a:t>
            </a:r>
          </a:p>
          <a:p xmlns:a="http://schemas.openxmlformats.org/drawingml/2006/main">
            <a:r>
              <a:t>        "소비",</a:t>
            </a:r>
          </a:p>
          <a:p xmlns:a="http://schemas.openxmlformats.org/drawingml/2006/main">
            <a:r>
              <a:t>        "숙박",</a:t>
            </a:r>
          </a:p>
          <a:p xmlns:a="http://schemas.openxmlformats.org/drawingml/2006/main">
            <a:r>
              <a:t>        "예산",</a:t>
            </a:r>
          </a:p>
          <a:p xmlns:a="http://schemas.openxmlformats.org/drawingml/2006/main">
            <a:r>
              <a:t>        "예약",</a:t>
            </a:r>
          </a:p>
          <a:p xmlns:a="http://schemas.openxmlformats.org/drawingml/2006/main">
            <a:r>
              <a:t>        "이어지는",</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"체험"</a:t>
            </a:r>
          </a:p>
          <a:p xmlns:a="http://schemas.openxmlformats.org/drawingml/2006/main">
            <a:r>
              <a:t>      ],</a:t>
            </a:r>
          </a:p>
          <a:p xmlns:a="http://schemas.openxmlformats.org/drawingml/2006/main">
            <a:r>
              <a:t>      "page_references":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"reference:kto:2026:local-airport:page:043:chunk:03",</a:t>
            </a:r>
          </a:p>
          <a:p xmlns:a="http://schemas.openxmlformats.org/drawingml/2006/main">
            <a:r>
              <a:t>      "parent_source_id": "reference:kto:2026:local-airport"</a:t>
            </a:r>
          </a:p>
          <a:p xmlns:a="http://schemas.openxmlformats.org/drawingml/2006/main">
            <a:r>
              <a:t>    },</a:t>
            </a:r>
          </a:p>
          <a:p xmlns:a="http://schemas.openxmlformats.org/drawingml/2006/main">
            <a:r>
              <a:t>    {</a:t>
            </a:r>
          </a:p>
          <a:p xmlns:a="http://schemas.openxmlformats.org/drawingml/2006/main">
            <a:r>
              <a:t>      "case_region": "인천광역시 송도·월미도·개항장 중심",</a:t>
            </a:r>
          </a:p>
          <a:p xmlns:a="http://schemas.openxmlformats.org/drawingml/2006/main">
            <a:r>
              <a:t>      "intervention": "야간 콘텐츠·야시장·공연·경관·교통·안전을 묶은 야간관광 특화도시 운영",</a:t>
            </a:r>
          </a:p>
          <a:p xmlns:a="http://schemas.openxmlformats.org/drawingml/2006/main">
            <a:r>
              <a:t>      "problem_addressed": "주간 중심 방문을 저녁 체류와 지역 내 소비로 확장하고 구도심의 야간 콘텐츠 부족을 보완",</a:t>
            </a:r>
          </a:p>
          <a:p xmlns:a="http://schemas.openxmlformats.org/drawingml/2006/main">
            <a:r>
              <a:t>      "target_group": "인천을 당일 또는 숙박 일정으로 방문하는 국내외 관광객",</a:t>
            </a:r>
          </a:p>
          <a:p xmlns:a="http://schemas.openxmlformats.org/drawingml/2006/main">
            <a:r>
              <a:t>      "operating_model": "야간관광 콘텐츠 개발, 야간 여건 개선, 야간명소 조성, 홍보마케팅 등 4개 분야 21개 세부사업을 운영했다. 공연·야시장·체험뿐 아니라 교통과 안전 환경을 함께 다루는 도시 단위 방식이다.",</a:t>
            </a:r>
          </a:p>
          <a:p xmlns:a="http://schemas.openxmlformats.org/drawingml/2006/main">
            <a:r>
              <a:t>      "duration": "1·2차 연도 2022년 11월~2023년; 후속 사업은 2025년까지 추진",</a:t>
            </a:r>
          </a:p>
          <a:p xmlns:a="http://schemas.openxmlformats.org/drawingml/2006/main">
            <a:r>
              <a:t>      "public_budget": "인천 개별 연도·세부사업 총집행액은 해당 공식 성과자료에서 확인되지 않음",</a:t>
            </a:r>
          </a:p>
          <a:p xmlns:a="http://schemas.openxmlformats.org/drawingml/2006/main">
            <a:r>
              <a:t>      "observed_result": "인천시는 2022년 11월~2023년 사업을 통해 관광객 29만2,034명, 지역소비 220억 원, 간접일자리 751명을 기록했다고 공개했다. 사업 운영과 지표가 함께 관측된 결과로, 다른 행사·계절·지역경제 요인을 통제한 인과효과는 아니다.",</a:t>
            </a:r>
          </a:p>
          <a:p xmlns:a="http://schemas.openxmlformats.org/drawingml/2006/main">
            <a:r>
              <a:t>      "measurement_period": "2022년 11월~2023년 12월에 해당하는 1·2차 연도 성과로 제시",</a:t>
            </a:r>
          </a:p>
          <a:p xmlns:a="http://schemas.openxmlformats.org/drawingml/2006/main">
            <a:r>
              <a:t>      "evidence_strength": "medium",</a:t>
            </a:r>
          </a:p>
          <a:p xmlns:a="http://schemas.openxmlformats.org/drawingml/2006/main">
            <a:r>
              <a:t>      "transfer_conditions": [</a:t>
            </a:r>
          </a:p>
          <a:p xmlns:a="http://schemas.openxmlformats.org/drawingml/2006/main">
            <a:r>
              <a:t>        "부평구에서는 해안경관을 복제하지 말고 문화시설·공연장·시장·식음 상권을 잇는 압축된 저녁 동선으로 변경",</a:t>
            </a:r>
          </a:p>
          <a:p xmlns:a="http://schemas.openxmlformats.org/drawingml/2006/main">
            <a:r>
              <a:t>        "2026년 10~12월 기온과 일몰시간에 맞춰 실내 프로그램 비중과 우천 대체편을 마련",</a:t>
            </a:r>
          </a:p>
          <a:p xmlns:a="http://schemas.openxmlformats.org/drawingml/2006/main">
            <a:r>
              <a:t>        "예약 회차별 정원을 두고 시작·종료 시각, 중도이탈, 프로그램 전후 상권 결제를 측정",</a:t>
            </a:r>
          </a:p>
          <a:p xmlns:a="http://schemas.openxmlformats.org/drawingml/2006/main">
            <a:r>
              <a:t>        "금·토요일 대중교통 막차, 보행 안전, 야간 화장실과 상점 영업시간을 사전 확인",</a:t>
            </a:r>
          </a:p>
          <a:p xmlns:a="http://schemas.openxmlformats.org/drawingml/2006/main">
            <a:r>
              <a:t>        "대규모 신규 경관시설 대신 기존 시설·민간공연·상점 프로그램을 조합해 3개월 일정에 맞춤"</a:t>
            </a:r>
          </a:p>
          <a:p xmlns:a="http://schemas.openxmlformats.org/drawingml/2006/main">
            <a:r>
              <a:t>      ],</a:t>
            </a:r>
          </a:p>
          <a:p xmlns:a="http://schemas.openxmlformats.org/drawingml/2006/main">
            <a:r>
              <a:t>      "risks": [</a:t>
            </a:r>
          </a:p>
          <a:p xmlns:a="http://schemas.openxmlformats.org/drawingml/2006/main">
            <a:r>
              <a:t>        "송도·개항장 중심 도시사업은 부평구와 관광자원·야경·방문 목적이 다름",</a:t>
            </a:r>
          </a:p>
          <a:p xmlns:a="http://schemas.openxmlformats.org/drawingml/2006/main">
            <a:r>
              <a:t>        "관광객 집계와 소비액 산정의 대상·방법이 세부적으로 공개되지 않으면 재현성이 낮음",</a:t>
            </a:r>
          </a:p>
          <a:p xmlns:a="http://schemas.openxmlformats.org/drawingml/2006/main">
            <a:r>
              <a:t>        "일회성 공연 관람객 수가 반복 방문이나 상시 체류로 이어지지 않을 수 있음",</a:t>
            </a:r>
          </a:p>
          <a:p xmlns:a="http://schemas.openxmlformats.org/drawingml/2006/main">
            <a:r>
              <a:t>        "야간 교통과 안전이 확보되지 않으면 참여 만족도와 상점 이용시간이 제한됨"</a:t>
            </a:r>
          </a:p>
          <a:p xmlns:a="http://schemas.openxmlformats.org/drawingml/2006/main">
            <a:r>
              <a:t>      ],</a:t>
            </a:r>
          </a:p>
          <a:p xmlns:a="http://schemas.openxmlformats.org/drawingml/2006/main">
            <a:r>
              <a:t>      "source_title": "6월부터 밤마다 인천으로—야간관광 특화도시 성과 및 운영계획 ([incheon.go.kr](https://www.incheon.go.kr/IC010205/view?curPage=233&amp;repSeq=DOM_0000000010085993&amp;utm_source=openai))",</a:t>
            </a:r>
          </a:p>
          <a:p xmlns:a="http://schemas.openxmlformats.org/drawingml/2006/main">
            <a:r>
              <a:t>      "source_url": "https://www.incheon.go.kr/IC010205/view?curPage=233&amp;repSeq=DOM_0000000010085993",</a:t>
            </a:r>
          </a:p>
          <a:p xmlns:a="http://schemas.openxmlformats.org/drawingml/2006/main">
            <a:r>
              <a:t>      "published_or_updated_at": "2024-06-11",</a:t>
            </a:r>
          </a:p>
          <a:p xmlns:a="http://schemas.openxmlformats.org/drawingml/2006/main">
            <a:r>
              <a:t>      "source_id": "case:2c54c6aaf2117a",</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"case_region": "서울특별시 동작구·관악구 보라매공원 및 인근 상권",</a:t>
            </a:r>
          </a:p>
          <a:p xmlns:a="http://schemas.openxmlformats.org/drawingml/2006/main">
            <a:r>
              <a:t>      "intervention": "장기 행사와 지역상권 스탬프 할인·지역상품권·푸드트럭을 결합한 서울국제정원박람회",</a:t>
            </a:r>
          </a:p>
          <a:p xmlns:a="http://schemas.openxmlformats.org/drawingml/2006/main">
            <a:r>
              <a:t>      "problem_addressed": "대규모 공공행사 관람객의 소비가 행사장 안에서 끝나지 않고 주변 상권으로 이동하도록 유도",</a:t>
            </a:r>
          </a:p>
          <a:p xmlns:a="http://schemas.openxmlformats.org/drawingml/2006/main">
            <a:r>
              <a:t>      "target_group": "보라매공원 방문객과 동작·관악구 인근 상점, 외식·판매 사업자",</a:t>
            </a:r>
          </a:p>
          <a:p xmlns:a="http://schemas.openxmlformats.org/drawingml/2006/main">
            <a:r>
              <a:t>      "operating_model": "기존 공원을 장기 행사장으로 활용해 계절별 정원·체험·야간 프로그램을 운영하고, 가든 스탬프투어 참여자에게 주변 상점 할인 혜택을 제공했다. 자치구·상인회 공동 마케팅, 지역사랑상품권 특별발행, 푸드트럭 운영을 함께 적용했다.",</a:t>
            </a:r>
          </a:p>
          <a:p xmlns:a="http://schemas.openxmlformats.org/drawingml/2006/main">
            <a:r>
              <a:t>      "duration": "2025년 5월 22일~11월 2일, 158일",</a:t>
            </a:r>
          </a:p>
          <a:p xmlns:a="http://schemas.openxmlformats.org/drawingml/2006/main">
            <a:r>
              <a:t>      "public_budget": "행사 총 공공예산은 해당 성과자료에서 확인되지 않음",</a:t>
            </a:r>
          </a:p>
          <a:p xmlns:a="http://schemas.openxmlformats.org/drawingml/2006/main">
            <a:r>
              <a:t>      "observed_result": "158일 동안 누적 관람객 1,000만 명, 전년 동기 대비 보라매공원 방문객 평균 2.6배를 기록했다. 개막 전후 각 1주일 비교에서는 인근 상권 신용카드 매출액이 20%, 생활인구가 40% 증가했다. 개막 초기 약 10일간 푸드트럭 등 행사장 판매 매출은 9억5천만 원으로 공개됐다. 단순 전후 비교이므로 박람회의 단독 인과효과로 단정할 수 없다.",</a:t>
            </a:r>
          </a:p>
          <a:p xmlns:a="http://schemas.openxmlformats.org/drawingml/2006/main">
            <a:r>
              <a:t>      "measurement_period": "누적 관람객은 2025-05-22~2025-10-26 기준 158일; 상권 비교는 개막 전후 각 1주일",</a:t>
            </a:r>
          </a:p>
          <a:p xmlns:a="http://schemas.openxmlformats.org/drawingml/2006/main">
            <a:r>
              <a:t>      "evidence_strength": "medium",</a:t>
            </a:r>
          </a:p>
          <a:p xmlns:a="http://schemas.openxmlformats.org/drawingml/2006/main">
            <a:r>
              <a:t>      "transfer_conditions": [</a:t>
            </a:r>
          </a:p>
          <a:p xmlns:a="http://schemas.openxmlformats.org/drawingml/2006/main">
            <a:r>
              <a:t>        "부평구의 기존 공원·문화시설·시장 중 장기 설치 없이 사용할 수 있는 거점을 선정",</a:t>
            </a:r>
          </a:p>
          <a:p xmlns:a="http://schemas.openxmlformats.org/drawingml/2006/main">
            <a:r>
              <a:t>        "행사장과 상권 사이 도보 경로에 스탬프 또는 예약 완료 지점을 배치",</a:t>
            </a:r>
          </a:p>
          <a:p xmlns:a="http://schemas.openxmlformats.org/drawingml/2006/main">
            <a:r>
              <a:t>        "상인회와 공통 할인조건·정산절차를 합의하고 업종별 참여 편중을 관리",</a:t>
            </a:r>
          </a:p>
          <a:p xmlns:a="http://schemas.openxmlformats.org/drawingml/2006/main">
            <a:r>
              <a:t>        "사업 전 2~4주와 운영기간의 카드결제 또는 쿠폰 결제를 같은 공간·요일 기준으로 비교",</a:t>
            </a:r>
          </a:p>
          <a:p xmlns:a="http://schemas.openxmlformats.org/drawingml/2006/main">
            <a:r>
              <a:t>        "서울의 규모를 복제하지 않고 하나의 거점과 인접 상권으로 축소"</a:t>
            </a:r>
          </a:p>
          <a:p xmlns:a="http://schemas.openxmlformats.org/drawingml/2006/main">
            <a:r>
              <a:t>      ],</a:t>
            </a:r>
          </a:p>
          <a:p xmlns:a="http://schemas.openxmlformats.org/drawingml/2006/main">
            <a:r>
              <a:t>      "risks": [</a:t>
            </a:r>
          </a:p>
          <a:p xmlns:a="http://schemas.openxmlformats.org/drawingml/2006/main">
            <a:r>
              <a:t>        "1,000만 명 규모 광역행사의 방문 성과를 부평구에 비례 환산할 수 없음",</a:t>
            </a:r>
          </a:p>
          <a:p xmlns:a="http://schemas.openxmlformats.org/drawingml/2006/main">
            <a:r>
              <a:t>        "개막 전후 1주 비교는 날씨·휴일·화제성 등 외부 요인의 영향을 포함",</a:t>
            </a:r>
          </a:p>
          <a:p xmlns:a="http://schemas.openxmlformats.org/drawingml/2006/main">
            <a:r>
              <a:t>        "무료 대형행사는 방문자 수는 높아도 참여 상점별 매출 효과가 불균등할 수 있음",</a:t>
            </a:r>
          </a:p>
          <a:p xmlns:a="http://schemas.openxmlformats.org/drawingml/2006/main">
            <a:r>
              <a:t>        "장기 설치형 시설은 3개월 준비·운영 일정과 미정 예산에 맞지 않을 수 있음"</a:t>
            </a:r>
          </a:p>
          <a:p xmlns:a="http://schemas.openxmlformats.org/drawingml/2006/main">
            <a:r>
              <a:t>      ],</a:t>
            </a:r>
          </a:p>
          <a:p xmlns:a="http://schemas.openxmlformats.org/drawingml/2006/main">
            <a:r>
              <a:t>      "source_title": "2025 서울국제정원박람회 주요 추진 성과 ([seoul.go.kr](https://www.seoul.go.kr/festa/files/2025/11/690b1ba4a58636.93147611.pdf?utm_source=openai))",</a:t>
            </a:r>
          </a:p>
          <a:p xmlns:a="http://schemas.openxmlformats.org/drawingml/2006/main">
            <a:r>
              <a:t>      "source_url": "https://www.seoul.go.kr/festa/files/2025/11/690b1ba4a58636.93147611.pdf",</a:t>
            </a:r>
          </a:p>
          <a:p xmlns:a="http://schemas.openxmlformats.org/drawingml/2006/main">
            <a:r>
              <a:t>      "published_or_updated_at": "2025-11",</a:t>
            </a:r>
          </a:p>
          <a:p xmlns:a="http://schemas.openxmlformats.org/drawingml/2006/main">
            <a:r>
              <a:t>      "source_id": "case:e4d3e4b6fd4903",</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"document_type": "case_study",</a:t>
            </a:r>
          </a:p>
          <a:p xmlns:a="http://schemas.openxmlformats.org/drawingml/2006/main">
            <a:r>
              <a:t>      "retrieval_method": "curated_registry",</a:t>
            </a:r>
          </a:p>
          <a:p xmlns:a="http://schemas.openxmlformats.org/drawingml/2006/main">
            <a:r>
              <a:t>      "region_code": "ALL",</a:t>
            </a:r>
          </a:p>
          <a:p xmlns:a="http://schemas.openxmlformats.org/drawingml/2006/main">
            <a:r>
              <a:t>      "region_name": "전국 공통 사례",</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"problem_addressed": "한 번의 방문을 숙박·식음·체험·지역상점 이용으로 연결",</a:t>
            </a:r>
          </a:p>
          <a:p xmlns:a="http://schemas.openxmlformats.org/drawingml/2006/main">
            <a:r>
              <a:t>      "target_group": "인구감소지역을 방문하는 외지인",</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"duration": "2024년 여행가는 달 연계",</a:t>
            </a:r>
          </a:p>
          <a:p xmlns:a="http://schemas.openxmlformats.org/drawingml/2006/main">
            <a:r>
              <a:t>      "public_budget": "개별 지역별 집행예산은 공식 자료에서 확인 필요",</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"evidence_strength": "medium",</a:t>
            </a:r>
          </a:p>
          <a:p xmlns:a="http://schemas.openxmlformats.org/drawingml/2006/main">
            <a:r>
              <a:t>      "quantitative_result_approved": null,</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"risks": [</a:t>
            </a:r>
          </a:p>
          <a:p xmlns:a="http://schemas.openxmlformats.org/drawingml/2006/main">
            <a:r>
              <a:t>        "발급 건수와 실제 지역소비를 혼동할 수 있음",</a:t>
            </a:r>
          </a:p>
          <a:p xmlns:a="http://schemas.openxmlformats.org/drawingml/2006/main">
            <a:r>
              <a:t>        "혜택 사용률이 낮으면 홍보비만 증가할 수 있음"</a:t>
            </a:r>
          </a:p>
          <a:p xmlns:a="http://schemas.openxmlformats.org/drawingml/2006/main">
            <a:r>
              <a:t>      ],</a:t>
            </a:r>
          </a:p>
          <a:p xmlns:a="http://schemas.openxmlformats.org/drawingml/2006/main">
            <a:r>
              <a:t>      "source_title":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"document_type": "case_study",</a:t>
            </a:r>
          </a:p>
          <a:p xmlns:a="http://schemas.openxmlformats.org/drawingml/2006/main">
            <a:r>
              <a:t>      "retrieval_method": "curated_registry",</a:t>
            </a:r>
          </a:p>
          <a:p xmlns:a="http://schemas.openxmlformats.org/drawingml/2006/main">
            <a:r>
              <a:t>      "region_code": "ALL",</a:t>
            </a:r>
          </a:p>
          <a:p xmlns:a="http://schemas.openxmlformats.org/drawingml/2006/main">
            <a:r>
              <a:t>      "region_name": "전국 공통 사례",</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"problem_addressed": "비수기 국내여행 수요와 지역 숙박 전환 촉진",</a:t>
            </a:r>
          </a:p>
          <a:p xmlns:a="http://schemas.openxmlformats.org/drawingml/2006/main">
            <a:r>
              <a:t>      "target_group": "국내 숙박여행을 예약하는 이용자와 참여 숙박업체",</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"duration": "2022년 대한민국 숙박대전",</a:t>
            </a:r>
          </a:p>
          <a:p xmlns:a="http://schemas.openxmlformats.org/drawingml/2006/main">
            <a:r>
              <a:t>      "public_budget": "개별 지자체 예산이 아니라 중앙정부 지원사업으로 운영되어 지역별 단가·분담액은 별도 확인 필요",</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"evidence_strength": "medium",</a:t>
            </a:r>
          </a:p>
          <a:p xmlns:a="http://schemas.openxmlformats.org/drawingml/2006/main">
            <a:r>
              <a:t>      "quantitative_result_approved": null,</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"risks": [</a:t>
            </a:r>
          </a:p>
          <a:p xmlns:a="http://schemas.openxmlformats.org/drawingml/2006/main">
            <a:r>
              <a:t>        "공식 생산유발효과 추정치를 특정 지역의 순증 효과로 단정할 수 없음",</a:t>
            </a:r>
          </a:p>
          <a:p xmlns:a="http://schemas.openxmlformats.org/drawingml/2006/main">
            <a:r>
              <a:t>        "할인만 제공하면 식음·체험 소비로 이어지지 않을 수 있음"</a:t>
            </a:r>
          </a:p>
          <a:p xmlns:a="http://schemas.openxmlformats.org/drawingml/2006/main">
            <a:r>
              <a:t>      ],</a:t>
            </a:r>
          </a:p>
          <a:p xmlns:a="http://schemas.openxmlformats.org/drawingml/2006/main">
            <a:r>
              <a:t>      "source_title":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"case_region": "인천광역시 전역, 개항장 등 주요 관광권역",</a:t>
            </a:r>
          </a:p>
          <a:p xmlns:a="http://schemas.openxmlformats.org/drawingml/2006/main">
            <a:r>
              <a:t>      "intervention": "스마트관광 플랫폼 ‘인천e지’의 AI 동선 추천·스탬프·축제 프로모션·상점 쿠폰 결합",</a:t>
            </a:r>
          </a:p>
          <a:p xmlns:a="http://schemas.openxmlformats.org/drawingml/2006/main">
            <a:r>
              <a:t>      "problem_addressed": "온라인 관광정보와 축제 관심을 실제 관광지 방문 및 지역 가맹점 결제로 전환",</a:t>
            </a:r>
          </a:p>
          <a:p xmlns:a="http://schemas.openxmlformats.org/drawingml/2006/main">
            <a:r>
              <a:t>      "target_group": "인천을 방문하거나 방문 일정을 준비하는 시민·관광객과 플랫폼 가맹점",</a:t>
            </a:r>
          </a:p>
          <a:p xmlns:a="http://schemas.openxmlformats.org/drawingml/2006/main">
            <a:r>
              <a:t>      "operating_model": "AI 기반 일정·동선 추천, GPS 스탬프투어, 축제·행사 연계 프로모션, 교통·주차정보와 스마트쿠폰을 하나의 앱에서 제공하고 쿠폰 사용·정산기록을 축적했다.",</a:t>
            </a:r>
          </a:p>
          <a:p xmlns:a="http://schemas.openxmlformats.org/drawingml/2006/main">
            <a:r>
              <a:t>      "duration": "2021년 출시 후 지속 운영; 제시된 성과는 2025년",</a:t>
            </a:r>
          </a:p>
          <a:p xmlns:a="http://schemas.openxmlformats.org/drawingml/2006/main">
            <a:r>
              <a:t>      "public_budget": "플랫폼 구축·2025년 운영에 투입된 총 공공예산은 해당 공식 성과자료에서 확인되지 않음",</a:t>
            </a:r>
          </a:p>
          <a:p xmlns:a="http://schemas.openxmlformats.org/drawingml/2006/main">
            <a:r>
              <a:t>      "observed_result": "2025년 회원 12만 명, 누적 다운로드 32만 건, 사용자 만족도 4.47/5점으로 공개됐다. 지역축제 연계 프로모션 참여자는 10만 명 이상이며 앱 쿠폰으로 약 2억8천만 원의 직접 매출액이 발생했다고 발표했다. 이는 플랫폼 이용·쿠폰 정산 실적이며 인천 전체 관광소비의 순증 인과효과로 단정할 수 없다.",</a:t>
            </a:r>
          </a:p>
          <a:p xmlns:a="http://schemas.openxmlformats.org/drawingml/2006/main">
            <a:r>
              <a:t>      "measurement_period": "2025년 1년간 운영성과; 2025년 12월 9일 공개",</a:t>
            </a:r>
          </a:p>
          <a:p xmlns:a="http://schemas.openxmlformats.org/drawingml/2006/main">
            <a:r>
              <a:t>      "evidence_strength": "medium",</a:t>
            </a:r>
          </a:p>
          <a:p xmlns:a="http://schemas.openxmlformats.org/drawingml/2006/main">
            <a:r>
              <a:t>      "transfer_conditions": [</a:t>
            </a:r>
          </a:p>
          <a:p xmlns:a="http://schemas.openxmlformats.org/drawingml/2006/main">
            <a:r>
              <a:t>        "별도 앱을 새로 구축하기보다 인천e지 안에 부평 전용 패스·쿠폰·예약 페이지를 개설할 수 있는지 인천시·인천관광공사와 협의",</a:t>
            </a:r>
          </a:p>
          <a:p xmlns:a="http://schemas.openxmlformats.org/drawingml/2006/main">
            <a:r>
              <a:t>        "부평역·문화의거리·전통시장·문화시설 등 실제 참여 지점을 모집하고 영업시간·휴무일·접근성을 검증",</a:t>
            </a:r>
          </a:p>
          <a:p xmlns:a="http://schemas.openxmlformats.org/drawingml/2006/main">
            <a:r>
              <a:t>        "노출→패스 저장→GPS 방문→쿠폰 사용→결제액을 익명 참여자 단위로 연결",</a:t>
            </a:r>
          </a:p>
          <a:p xmlns:a="http://schemas.openxmlformats.org/drawingml/2006/main">
            <a:r>
              <a:t>        "비참여 가맹점 또는 직전 동기간을 비교기준으로 두되 기상·공휴일·대형행사 영향을 별도로 기록"</a:t>
            </a:r>
          </a:p>
          <a:p xmlns:a="http://schemas.openxmlformats.org/drawingml/2006/main">
            <a:r>
              <a:t>      ],</a:t>
            </a:r>
          </a:p>
          <a:p xmlns:a="http://schemas.openxmlformats.org/drawingml/2006/main">
            <a:r>
              <a:t>      "risks": [</a:t>
            </a:r>
          </a:p>
          <a:p xmlns:a="http://schemas.openxmlformats.org/drawingml/2006/main">
            <a:r>
              <a:t>        "회원·다운로드 증가가 부평구 방문 증가를 뜻하지 않음",</a:t>
            </a:r>
          </a:p>
          <a:p xmlns:a="http://schemas.openxmlformats.org/drawingml/2006/main">
            <a:r>
              <a:t>        "쿠폰 직접 매출은 쿠폰이 없었어도 발생했을 기존 결제를 포함할 수 있음",</a:t>
            </a:r>
          </a:p>
          <a:p xmlns:a="http://schemas.openxmlformats.org/drawingml/2006/main">
            <a:r>
              <a:t>        "앱 설치와 회원가입 단계가 복잡하면 현장 이탈률이 높아질 수 있음",</a:t>
            </a:r>
          </a:p>
          <a:p xmlns:a="http://schemas.openxmlformats.org/drawingml/2006/main">
            <a:r>
              <a:t>        "인천 전체 플랫폼 성과를 부평구 사업 효과로 바꾸어 쓸 수 없음"</a:t>
            </a:r>
          </a:p>
          <a:p xmlns:a="http://schemas.openxmlformats.org/drawingml/2006/main">
            <a:r>
              <a:t>      ],</a:t>
            </a:r>
          </a:p>
          <a:p xmlns:a="http://schemas.openxmlformats.org/drawingml/2006/main">
            <a:r>
              <a:t>      "source_title": "‘인천e지’ K-스마트관광 대표 여행 앱으로 우뚝 ([incheon.go.kr](https://www.incheon.go.kr/mayor_8/MA040101/view?curPage=1&amp;repSeq=DOM_0000000013699756&amp;utm_source=openai))",</a:t>
            </a:r>
          </a:p>
          <a:p xmlns:a="http://schemas.openxmlformats.org/drawingml/2006/main">
            <a:r>
              <a:t>      "source_url": "https://www.incheon.go.kr/mayor_8/MA040101/view?curPage=1&amp;repSeq=DOM_0000000013699756",</a:t>
            </a:r>
          </a:p>
          <a:p xmlns:a="http://schemas.openxmlformats.org/drawingml/2006/main">
            <a:r>
              <a:t>      "published_or_updated_at": "2025-12-09",</a:t>
            </a:r>
          </a:p>
          <a:p xmlns:a="http://schemas.openxmlformats.org/drawingml/2006/main">
            <a:r>
              <a:t>      "source_id": "case:d3579ecd36c485",</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"case_region": "인천광역시 11개 전통시장·상권, 부평로터리·부평문화의거리·부평종합시장 포함",</a:t>
            </a:r>
          </a:p>
          <a:p xmlns:a="http://schemas.openxmlformats.org/drawingml/2006/main">
            <a:r>
              <a:t>      "intervention": "GPS 기반 전통시장 모바일 스탬프투어와 완주 소비쿠폰",</a:t>
            </a:r>
          </a:p>
          <a:p xmlns:a="http://schemas.openxmlformats.org/drawingml/2006/main">
            <a:r>
              <a:t>      "problem_addressed": "주변 관광지에 대한 관심과 이동을 전통시장 방문 및 가맹점 결제로 연결",</a:t>
            </a:r>
          </a:p>
          <a:p xmlns:a="http://schemas.openxmlformats.org/drawingml/2006/main">
            <a:r>
              <a:t>      "target_group": "인천 전통시장과 주변 관광지를 방문하는 시민·관광객",</a:t>
            </a:r>
          </a:p>
          <a:p xmlns:a="http://schemas.openxmlformats.org/drawingml/2006/main">
            <a:r>
              <a:t>      "operating_model": "11개 시장과 주변 관광지를 8개 추천코스로 구성하고 GPS로 방문을 자동 인증했다. 한 코스 완주자에게 5천 원 소비쿠폰을 즉시 지급하고 약 140개 참여시장 가맹점에서 사용하도록 했다. 코스별 중복 참여가 가능하며 쿠폰 예산 소진 시 조기 종료하는 구조였다.",</a:t>
            </a:r>
          </a:p>
          <a:p xmlns:a="http://schemas.openxmlformats.org/drawingml/2006/main">
            <a:r>
              <a:t>      "duration": "2023년 시행; 공식 검색자료에서 정확한 시작·종료일은 확인되지 않음",</a:t>
            </a:r>
          </a:p>
          <a:p xmlns:a="http://schemas.openxmlformats.org/drawingml/2006/main">
            <a:r>
              <a:t>      "public_budget": "쿠폰 총 발행예산과 운영비는 공식 자료에서 확인되지 않음",</a:t>
            </a:r>
          </a:p>
          <a:p xmlns:a="http://schemas.openxmlformats.org/drawingml/2006/main">
            <a:r>
              <a:t>      "observed_result": "대상 시장·코스·쿠폰 조건·가맹점 수는 확인되지만 완주자 수, 쿠폰 사용률, 결제액 및 비참여 기간과의 비교 결과는 공식 자료에서 확인되지 않음",</a:t>
            </a:r>
          </a:p>
          <a:p xmlns:a="http://schemas.openxmlformats.org/drawingml/2006/main">
            <a:r>
              <a:t>      "measurement_period": "운영 공고 시점의 사업구조만 확인; 사후 성과 측정기간 확인되지 않음",</a:t>
            </a:r>
          </a:p>
          <a:p xmlns:a="http://schemas.openxmlformats.org/drawingml/2006/main">
            <a:r>
              <a:t>      "evidence_strength": "low",</a:t>
            </a:r>
          </a:p>
          <a:p xmlns:a="http://schemas.openxmlformats.org/drawingml/2006/main">
            <a:r>
              <a:t>      "transfer_conditions": [</a:t>
            </a:r>
          </a:p>
          <a:p xmlns:a="http://schemas.openxmlformats.org/drawingml/2006/main">
            <a:r>
              <a:t>        "부평 3개 참여 상권을 전부 묶기보다 도보 이동 가능한 1개 권역부터 축소 실증",</a:t>
            </a:r>
          </a:p>
          <a:p xmlns:a="http://schemas.openxmlformats.org/drawingml/2006/main">
            <a:r>
              <a:t>        "단순 지점 방문이 아니라 상점 영수증, 프로그램 예약 또는 현장 체험 중 하나를 완료조건에 포함",</a:t>
            </a:r>
          </a:p>
          <a:p xmlns:a="http://schemas.openxmlformats.org/drawingml/2006/main">
            <a:r>
              <a:t>        "발급 수와 실제 사용 수를 분리하고 업종·요일·시간대별 쿠폰 사용액을 집계",</a:t>
            </a:r>
          </a:p>
          <a:p xmlns:a="http://schemas.openxmlformats.org/drawingml/2006/main">
            <a:r>
              <a:t>        "쿠폰 예산이 소진되더라도 스탬프 코스는 계속 운영할 수 있도록 비금전 보상 대안 마련"</a:t>
            </a:r>
          </a:p>
          <a:p xmlns:a="http://schemas.openxmlformats.org/drawingml/2006/main">
            <a:r>
              <a:t>      ],</a:t>
            </a:r>
          </a:p>
          <a:p xmlns:a="http://schemas.openxmlformats.org/drawingml/2006/main">
            <a:r>
              <a:t>      "risks": [</a:t>
            </a:r>
          </a:p>
          <a:p xmlns:a="http://schemas.openxmlformats.org/drawingml/2006/main">
            <a:r>
              <a:t>        "공식 사후평가가 없어 성공사례로 단정할 수 없음",</a:t>
            </a:r>
          </a:p>
          <a:p xmlns:a="http://schemas.openxmlformats.org/drawingml/2006/main">
            <a:r>
              <a:t>        "GPS 근접 인증만으로 실제 상점 이용이나 관광 경험을 확인하기 어려움",</a:t>
            </a:r>
          </a:p>
          <a:p xmlns:a="http://schemas.openxmlformats.org/drawingml/2006/main">
            <a:r>
              <a:t>        "낮은 쿠폰액은 방문 동기가 약할 수 있고 높은 쿠폰액은 기존 결제 대체 가능성이 커짐",</a:t>
            </a:r>
          </a:p>
          <a:p xmlns:a="http://schemas.openxmlformats.org/drawingml/2006/main">
            <a:r>
              <a:t>        "여러 상권을 한꺼번에 묶으면 도보 동선이 길어져 완주율이 낮아질 수 있음"</a:t>
            </a:r>
          </a:p>
          <a:p xmlns:a="http://schemas.openxmlformats.org/drawingml/2006/main">
            <a:r>
              <a:t>      ],</a:t>
            </a:r>
          </a:p>
          <a:p xmlns:a="http://schemas.openxmlformats.org/drawingml/2006/main">
            <a:r>
              <a:t>      "source_title": "인천시, 전통시장 모바일 스탬프 투어 완주하면 5천 원 쿠폰 ([incheon.go.kr](https://www.incheon.go.kr/mayor_8/MA040101/view?curPage=618&amp;repSeq=DOM_0000000008264854&amp;utm_source=openai))",</a:t>
            </a:r>
          </a:p>
          <a:p xmlns:a="http://schemas.openxmlformats.org/drawingml/2006/main">
            <a:r>
              <a:t>      "source_url": "https://www.incheon.go.kr/mayor_8/MA040101/view?curPage=618&amp;repSeq=DOM_0000000008264854",</a:t>
            </a:r>
          </a:p>
          <a:p xmlns:a="http://schemas.openxmlformats.org/drawingml/2006/main">
            <a:r>
              <a:t>      "published_or_updated_at": "2023년 공식 게시자료; 정확한 게시일은 검색 결과에서 확인되지 않음",</a:t>
            </a:r>
          </a:p>
          <a:p xmlns:a="http://schemas.openxmlformats.org/drawingml/2006/main">
            <a:r>
              <a:t>      "source_id": "case:ec3256094ff9a4",</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"document_type": "case_study",</a:t>
            </a:r>
          </a:p>
          <a:p xmlns:a="http://schemas.openxmlformats.org/drawingml/2006/main">
            <a:r>
              <a:t>      "retrieval_method": "curated_registry",</a:t>
            </a:r>
          </a:p>
          <a:p xmlns:a="http://schemas.openxmlformats.org/drawingml/2006/main">
            <a:r>
              <a:t>      "region_code": "ALL",</a:t>
            </a:r>
          </a:p>
          <a:p xmlns:a="http://schemas.openxmlformats.org/drawingml/2006/main">
            <a:r>
              <a:t>      "region_name": "전국 공통 사례",</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"problem_addressed": "방문객 지출을 지역 안의 결제와 재방문으로 연결",</a:t>
            </a:r>
          </a:p>
          <a:p xmlns:a="http://schemas.openxmlformats.org/drawingml/2006/main">
            <a:r>
              <a:t>      "target_group": "강진을 여행하며 정해진 조건을 충족한 방문객",</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"duration": "2024년 사업",</a:t>
            </a:r>
          </a:p>
          <a:p xmlns:a="http://schemas.openxmlformats.org/drawingml/2006/main">
            <a:r>
              <a:t>      "public_budget": "공식 자료에서 총사업비 확인 필요",</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"evidence_strength": "low",</a:t>
            </a:r>
          </a:p>
          <a:p xmlns:a="http://schemas.openxmlformats.org/drawingml/2006/main">
            <a:r>
              <a:t>      "quantitative_result_approved": false,</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"risks": [</a:t>
            </a:r>
          </a:p>
          <a:p xmlns:a="http://schemas.openxmlformats.org/drawingml/2006/main">
            <a:r>
              <a:t>        "사업 참여자 증가와 지역 전체 소비 증가를 같은 인과효과로 단정할 수 없음",</a:t>
            </a:r>
          </a:p>
          <a:p xmlns:a="http://schemas.openxmlformats.org/drawingml/2006/main">
            <a:r>
              <a:t>        "환급이 기존 방문객에게만 지급되면 순증 효과가 작을 수 있음"</a:t>
            </a:r>
          </a:p>
          <a:p xmlns:a="http://schemas.openxmlformats.org/drawingml/2006/main">
            <a:r>
              <a:t>      ],</a:t>
            </a:r>
          </a:p>
          <a:p xmlns:a="http://schemas.openxmlformats.org/drawingml/2006/main">
            <a:r>
              <a:t>      "source_title":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"document_type": "case_study",</a:t>
            </a:r>
          </a:p>
          <a:p xmlns:a="http://schemas.openxmlformats.org/drawingml/2006/main">
            <a:r>
              <a:t>      "retrieval_method": "curated_registry",</a:t>
            </a:r>
          </a:p>
          <a:p xmlns:a="http://schemas.openxmlformats.org/drawingml/2006/main">
            <a:r>
              <a:t>      "region_code": "ALL",</a:t>
            </a:r>
          </a:p>
          <a:p xmlns:a="http://schemas.openxmlformats.org/drawingml/2006/main">
            <a:r>
              <a:t>      "region_name": "전국 공통 사례",</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"problem_addressed": "낮 시간대 중심 방문을 저녁 체류·지역상점 이용으로 확장",</a:t>
            </a:r>
          </a:p>
          <a:p xmlns:a="http://schemas.openxmlformats.org/drawingml/2006/main">
            <a:r>
              <a:t>      "target_group": "여름철 저녁 시간에 지역을 방문하는 국내 관광객",</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"duration": "2025년 6월~8월 대한민국 밤밤페스타",</a:t>
            </a:r>
          </a:p>
          <a:p xmlns:a="http://schemas.openxmlformats.org/drawingml/2006/main">
            <a:r>
              <a:t>      "public_budget": "공식 여행기사에는 총사업비가 공개되지 않아 예산 비교에는 사용할 수 없음",</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"evidence_strength": "medium",</a:t>
            </a:r>
          </a:p>
          <a:p xmlns:a="http://schemas.openxmlformats.org/drawingml/2006/main">
            <a:r>
              <a:t>      "quantitative_result_approved": null,</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"risks": [</a:t>
            </a:r>
          </a:p>
          <a:p xmlns:a="http://schemas.openxmlformats.org/drawingml/2006/main">
            <a:r>
              <a:t>        "행사 방문 인원만으로 체류·소비 전환 성과를 판단할 수 없음",</a:t>
            </a:r>
          </a:p>
          <a:p xmlns:a="http://schemas.openxmlformats.org/drawingml/2006/main">
            <a:r>
              <a:t>        "야간 프로그램이 지역 정체성과 맞지 않으면 재방문 동기가 약해질 수 있음"</a:t>
            </a:r>
          </a:p>
          <a:p xmlns:a="http://schemas.openxmlformats.org/drawingml/2006/main">
            <a:r>
              <a:t>      ],</a:t>
            </a:r>
          </a:p>
          <a:p xmlns:a="http://schemas.openxmlformats.org/drawingml/2006/main">
            <a:r>
              <a:t>      "source_title":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선정 근거 ③ 사실에서 적용 가설까지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ationale-facts-label"/>
          <p:cNvSpPr txBox="1"/>
          <p:nvPr/>
        </p:nvSpPr>
        <p:spPr>
          <a:xfrm>
            <a:off x="1009650" y="2000250"/>
            <a:ext cx="6210300"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01 연결한 관측·전망</a:t>
            </a:r>
          </a:p>
        </p:txBody>
      </p:sp>
      <p:sp xmlns:a="http://schemas.openxmlformats.org/drawingml/2006/main">
        <p:nvSpPr>
          <p:cNvPr id="5" name="rationale-hypothesis-label"/>
          <p:cNvSpPr txBox="1"/>
          <p:nvPr/>
        </p:nvSpPr>
        <p:spPr>
          <a:xfrm>
            <a:off x="7781925" y="2000250"/>
            <a:ext cx="64484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02 우리 지역에 적용할 가설</a:t>
            </a:r>
          </a:p>
        </p:txBody>
      </p:sp>
      <p:sp xmlns:a="http://schemas.openxmlformats.org/drawingml/2006/main">
        <p:nvSpPr>
          <p:cNvPr id="6" name="rationale-fact-0"/>
          <p:cNvSpPr txBox="1"/>
          <p:nvPr/>
        </p:nvSpPr>
        <p:spPr>
          <a:xfrm>
            <a:off x="1009650" y="2562225"/>
            <a:ext cx="6210300" cy="6477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[1] 관측 · 월간 외지인 관광소비 총액: 77,138,204,000원</a:t>
            </a:r>
          </a:p>
          <a:p>
            <a:pPr eaLnBrk="0">
              <a:lnSpc>
                <a:spcPts val="2062"/>
              </a:lnSpc>
              <a:spcBef>
                <a:spcPts val="0"/>
              </a:spcBef>
              <a:spcAft>
                <a:spcPts val="0"/>
              </a:spcAft>
            </a:pPr>
            <a:r>
              <a:rPr sz="1650" b="0">
                <a:solidFill>
                  <a:srgbClr val="59636E"/>
                </a:solidFill>
                <a:latin typeface="Noto Sans KR"/>
              </a:rPr>
              <a:t>(관측 기준월: 2026-06)</a:t>
            </a:r>
          </a:p>
        </p:txBody>
      </p:sp>
      <p:sp xmlns:a="http://schemas.openxmlformats.org/drawingml/2006/main">
        <p:nvSpPr>
          <p:cNvPr id="7" name="rationale-fact-1"/>
          <p:cNvSpPr txBox="1"/>
          <p:nvPr/>
        </p:nvSpPr>
        <p:spPr>
          <a:xfrm>
            <a:off x="1009650" y="3248025"/>
            <a:ext cx="6210300" cy="6477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[2] ML 전망 · 관광소비액</a:t>
            </a:r>
          </a:p>
          <a:p>
            <a:pPr eaLnBrk="0">
              <a:lnSpc>
                <a:spcPts val="2062"/>
              </a:lnSpc>
              <a:spcBef>
                <a:spcPts val="0"/>
              </a:spcBef>
              <a:spcAft>
                <a:spcPts val="0"/>
              </a:spcAft>
            </a:pPr>
            <a:r>
              <a:rPr sz="1650" b="0">
                <a:solidFill>
                  <a:srgbClr val="59636E"/>
                </a:solidFill>
                <a:latin typeface="Noto Sans KR"/>
              </a:rPr>
              <a:t>202610~202612 · 2,435.46억 원 · 3개월 합계</a:t>
            </a:r>
          </a:p>
        </p:txBody>
      </p:sp>
      <p:sp xmlns:a="http://schemas.openxmlformats.org/drawingml/2006/main">
        <p:nvSpPr>
          <p:cNvPr id="8" name="rationale-hypothesis"/>
          <p:cNvSpPr txBox="1"/>
          <p:nvPr/>
        </p:nvSpPr>
        <p:spPr>
          <a:xfrm>
            <a:off x="7781925" y="2562225"/>
            <a:ext cx="6448425" cy="14097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행사장 방문객의 소비가 인근 상권(부평종합시장,</a:t>
            </a:r>
          </a:p>
          <a:p>
            <a:pPr eaLnBrk="0">
              <a:lnSpc>
                <a:spcPts val="2531"/>
              </a:lnSpc>
              <a:spcBef>
                <a:spcPts val="0"/>
              </a:spcBef>
              <a:spcAft>
                <a:spcPts val="0"/>
              </a:spcAft>
            </a:pPr>
            <a:r>
              <a:rPr sz="2025" b="1">
                <a:solidFill>
                  <a:srgbClr val="004EA2"/>
                </a:solidFill>
                <a:latin typeface="Noto Sans KR"/>
              </a:rPr>
              <a:t>모다아울렛 등)으로 이동하도록 스탬프와 할인</a:t>
            </a:r>
          </a:p>
          <a:p>
            <a:pPr eaLnBrk="0">
              <a:lnSpc>
                <a:spcPts val="2531"/>
              </a:lnSpc>
              <a:spcBef>
                <a:spcPts val="0"/>
              </a:spcBef>
              <a:spcAft>
                <a:spcPts val="0"/>
              </a:spcAft>
            </a:pPr>
            <a:r>
              <a:rPr sz="2025" b="1">
                <a:solidFill>
                  <a:srgbClr val="004EA2"/>
                </a:solidFill>
                <a:latin typeface="Noto Sans KR"/>
              </a:rPr>
              <a:t>혜택을 제공한다.</a:t>
            </a:r>
          </a:p>
        </p:txBody>
      </p:sp>
      <p:sp xmlns:a="http://schemas.openxmlformats.org/drawingml/2006/main">
        <p:nvSpPr>
          <p:cNvPr id="9" name="rationale-cases"/>
          <p:cNvSpPr txBox="1"/>
          <p:nvPr/>
        </p:nvSpPr>
        <p:spPr>
          <a:xfrm>
            <a:off x="7781925" y="4038600"/>
            <a:ext cx="6448425" cy="6381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운영 참고 · 서울특별시 동작구·관악구 보라매공원 및 인근 상권</a:t>
            </a:r>
          </a:p>
        </p:txBody>
      </p:sp>
      <p:sp xmlns:a="http://schemas.openxmlformats.org/drawingml/2006/main">
        <p:nvSpPr>
          <p:cNvPr id="10" name="rationale-mid-rule"/>
          <p:cNvSpPr/>
          <p:nvPr/>
        </p:nvSpPr>
        <p:spPr>
          <a:xfrm>
            <a:off x="1009650" y="481965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ationale-criteria-title"/>
          <p:cNvSpPr txBox="1"/>
          <p:nvPr/>
        </p:nvSpPr>
        <p:spPr>
          <a:xfrm>
            <a:off x="1009650" y="4962525"/>
            <a:ext cx="132207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03 모든 후보에 적용한 세 가지 비교 기준</a:t>
            </a:r>
          </a:p>
        </p:txBody>
      </p:sp>
      <p:sp xmlns:a="http://schemas.openxmlformats.org/drawingml/2006/main">
        <p:nvSpPr>
          <p:cNvPr id="12" name="rationale-criterion-0"/>
          <p:cNvSpPr txBox="1"/>
          <p:nvPr/>
        </p:nvSpPr>
        <p:spPr>
          <a:xfrm>
            <a:off x="1009650" y="5553075"/>
            <a:ext cx="410527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4EA2"/>
                </a:solidFill>
                <a:latin typeface="Noto Sans KR"/>
              </a:rPr>
              <a:t>이용 행동</a:t>
            </a:r>
          </a:p>
        </p:txBody>
      </p:sp>
      <p:sp xmlns:a="http://schemas.openxmlformats.org/drawingml/2006/main">
        <p:nvSpPr>
          <p:cNvPr id="13" name="rationale-detail-0"/>
          <p:cNvSpPr txBox="1"/>
          <p:nvPr/>
        </p:nvSpPr>
        <p:spPr>
          <a:xfrm>
            <a:off x="1009650" y="5962650"/>
            <a:ext cx="4105275" cy="8286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거점 시설 방문 후 스탬프를 모아 인근</a:t>
            </a:r>
          </a:p>
          <a:p>
            <a:pPr eaLnBrk="0">
              <a:lnSpc>
                <a:spcPts val="2156"/>
              </a:lnSpc>
              <a:spcBef>
                <a:spcPts val="0"/>
              </a:spcBef>
              <a:spcAft>
                <a:spcPts val="0"/>
              </a:spcAft>
            </a:pPr>
            <a:r>
              <a:rPr sz="1725" b="0">
                <a:solidFill>
                  <a:srgbClr val="59636E"/>
                </a:solidFill>
                <a:latin typeface="Noto Sans KR"/>
              </a:rPr>
              <a:t>상점에서 할인 혜택을 받으며 결제한다.</a:t>
            </a:r>
          </a:p>
        </p:txBody>
      </p:sp>
      <p:sp xmlns:a="http://schemas.openxmlformats.org/drawingml/2006/main">
        <p:nvSpPr>
          <p:cNvPr id="14" name="rationale-criterion-1"/>
          <p:cNvSpPr txBox="1"/>
          <p:nvPr/>
        </p:nvSpPr>
        <p:spPr>
          <a:xfrm>
            <a:off x="5562600" y="5553075"/>
            <a:ext cx="410527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4EA2"/>
                </a:solidFill>
                <a:latin typeface="Noto Sans KR"/>
              </a:rPr>
              <a:t>운영 준비</a:t>
            </a:r>
          </a:p>
        </p:txBody>
      </p:sp>
      <p:sp xmlns:a="http://schemas.openxmlformats.org/drawingml/2006/main">
        <p:nvSpPr>
          <p:cNvPr id="15" name="rationale-detail-1"/>
          <p:cNvSpPr txBox="1"/>
          <p:nvPr/>
        </p:nvSpPr>
        <p:spPr>
          <a:xfrm>
            <a:off x="5562600" y="5962650"/>
            <a:ext cx="4105275" cy="8286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상인회 협의, 스탬프 투어 플랫폼 운영,</a:t>
            </a:r>
          </a:p>
          <a:p>
            <a:pPr eaLnBrk="0">
              <a:lnSpc>
                <a:spcPts val="2156"/>
              </a:lnSpc>
              <a:spcBef>
                <a:spcPts val="0"/>
              </a:spcBef>
              <a:spcAft>
                <a:spcPts val="0"/>
              </a:spcAft>
            </a:pPr>
            <a:r>
              <a:rPr sz="1725" b="0">
                <a:solidFill>
                  <a:srgbClr val="59636E"/>
                </a:solidFill>
                <a:latin typeface="Noto Sans KR"/>
              </a:rPr>
              <a:t>참여 상점 모집 및 교육을 준비한다.</a:t>
            </a:r>
          </a:p>
        </p:txBody>
      </p:sp>
      <p:sp xmlns:a="http://schemas.openxmlformats.org/drawingml/2006/main">
        <p:nvSpPr>
          <p:cNvPr id="16" name="rationale-criterion-2"/>
          <p:cNvSpPr txBox="1"/>
          <p:nvPr/>
        </p:nvSpPr>
        <p:spPr>
          <a:xfrm>
            <a:off x="10115550" y="5553075"/>
            <a:ext cx="410527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4EA2"/>
                </a:solidFill>
                <a:latin typeface="Noto Sans KR"/>
              </a:rPr>
              <a:t>성과 확인</a:t>
            </a:r>
          </a:p>
        </p:txBody>
      </p:sp>
      <p:sp xmlns:a="http://schemas.openxmlformats.org/drawingml/2006/main">
        <p:nvSpPr>
          <p:cNvPr id="17" name="rationale-detail-2"/>
          <p:cNvSpPr txBox="1"/>
          <p:nvPr/>
        </p:nvSpPr>
        <p:spPr>
          <a:xfrm>
            <a:off x="10115550" y="5962650"/>
            <a:ext cx="4105275" cy="8286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참여 상점의 매출 증가분과 쿠폰 사용</a:t>
            </a:r>
          </a:p>
          <a:p>
            <a:pPr eaLnBrk="0">
              <a:lnSpc>
                <a:spcPts val="2156"/>
              </a:lnSpc>
              <a:spcBef>
                <a:spcPts val="0"/>
              </a:spcBef>
              <a:spcAft>
                <a:spcPts val="0"/>
              </a:spcAft>
            </a:pPr>
            <a:r>
              <a:rPr sz="1725" b="0">
                <a:solidFill>
                  <a:srgbClr val="59636E"/>
                </a:solidFill>
                <a:latin typeface="Noto Sans KR"/>
              </a:rPr>
              <a:t>건수를 확인한다.</a:t>
            </a:r>
          </a:p>
        </p:txBody>
      </p:sp>
      <p:sp xmlns:a="http://schemas.openxmlformats.org/drawingml/2006/main">
        <p:nvSpPr>
          <p:cNvPr id="18" name="rationale-selection-band"/>
          <p:cNvSpPr/>
          <p:nvPr/>
        </p:nvSpPr>
        <p:spPr>
          <a:xfrm>
            <a:off x="1009650" y="6953250"/>
            <a:ext cx="13220700" cy="12001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ationale-choice-label"/>
          <p:cNvSpPr txBox="1"/>
          <p:nvPr/>
        </p:nvSpPr>
        <p:spPr>
          <a:xfrm>
            <a:off x="1171575" y="7086600"/>
            <a:ext cx="1628775"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선택 이유</a:t>
            </a:r>
          </a:p>
        </p:txBody>
      </p:sp>
      <p:sp xmlns:a="http://schemas.openxmlformats.org/drawingml/2006/main">
        <p:nvSpPr>
          <p:cNvPr id="20" name="rationale-choice"/>
          <p:cNvSpPr txBox="1"/>
          <p:nvPr/>
        </p:nvSpPr>
        <p:spPr>
          <a:xfrm>
            <a:off x="2914650" y="7048500"/>
            <a:ext cx="10839450" cy="1009650"/>
          </a:xfrm>
          <a:prstGeom prst="rect">
            <a:avLst/>
          </a:prstGeom>
          <a:noFill/>
        </p:spPr>
        <p:txBody>
          <a:bodyPr wrap="square" lIns="57150" rIns="57150" tIns="38100" bIns="38100" anchor="t">
            <a:noAutofit/>
          </a:bodyPr>
          <a:lstStyle/>
          <a:p>
            <a:pPr eaLnBrk="0">
              <a:lnSpc>
                <a:spcPts val="1750"/>
              </a:lnSpc>
              <a:spcBef>
                <a:spcPts val="0"/>
              </a:spcBef>
              <a:spcAft>
                <a:spcPts val="0"/>
              </a:spcAft>
            </a:pPr>
            <a:r>
              <a:rPr sz="1500">
                <a:solidFill>
                  <a:srgbClr val="004EA2"/>
                </a:solidFill>
                <a:latin typeface="Noto Sans KR"/>
              </a:rPr>
              <a:t>선택안은 기존 상점의 결제 원장을 확인하는 흐름을 설계하기 용이하여 소비 전환 효과를 측정하기에 유리함. 대안인 야간 프로그램은 야간 운영 시간 및 안전 관리 준비가 더 필요하며, 디지털 주민증은 플랫폼 연계 및 가맹점 확보의 불확실성이 있음. 다만 선택안도 상인회와의 정산 협약 확보가 선행되어야 함.</a:t>
            </a:r>
          </a:p>
        </p:txBody>
      </p:sp>
      <p:sp xmlns:a="http://schemas.openxmlformats.org/drawingml/2006/main">
        <p:nvSpPr>
          <p:cNvPr id="21" name="rationale-meaning"/>
          <p:cNvSpPr txBox="1"/>
          <p:nvPr/>
        </p:nvSpPr>
        <p:spPr>
          <a:xfrm>
            <a:off x="1009650" y="8258175"/>
            <a:ext cx="13220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위 연결은 기획 판단입니다. 사업 효과는 가설이며, 실제 이용 결과로 확인합니다. 출처·비교 원문은 발표자 메모에 보존합니다.</a:t>
            </a:r>
          </a:p>
        </p:txBody>
      </p:sp>
      <p:sp xmlns:a="http://schemas.openxmlformats.org/drawingml/2006/main">
        <p:nvSpPr>
          <p:cNvPr id="22" name="diagnostic-label"/>
          <p:cNvSpPr txBox="1"/>
          <p:nvPr/>
        </p:nvSpPr>
        <p:spPr>
          <a:xfrm>
            <a:off x="1009650" y="1419225"/>
            <a:ext cx="13220700"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실제 부평 응답을 사용한 설명 페이지 검토본 · 전체 기획안 품질 미승인</a:t>
            </a:r>
          </a:p>
        </p:txBody>
      </p:sp>
    </p:spTree>
    <p:extLst>
      <p:ext uri="{BB962C8B-B14F-4D97-AF65-F5344CB8AC3E}">
        <p14:creationId xmlns:p14="http://schemas.microsoft.com/office/powerpoint/2010/main" val="655411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