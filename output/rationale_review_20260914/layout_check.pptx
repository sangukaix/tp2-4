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886a7c7854c24ea4" Type="http://schemas.openxmlformats.org/officeDocument/2006/relationships/slide" Target="slides/slide1.xml"/><Relationship Id="Rdef75127518841e9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레이아웃 검수용 예시이며 실제 지역 기획서가 아닙니다.</a:t>
            </a:r>
          </a:p>
          <a:p xmlns:a="http://schemas.openxmlformats.org/drawingml/2006/main">
            <a:r>
              <a:t>선정에 연결한 관측·전망</a:t>
            </a:r>
          </a:p>
          <a:p xmlns:a="http://schemas.openxmlformats.org/drawingml/2006/main">
            <a:r>
              <a:t>관측 · 숙박 방문 비율 6.6% · 출처 dataset:1:1</a:t>
            </a:r>
          </a:p>
          <a:p xmlns:a="http://schemas.openxmlformats.org/drawingml/2006/main">
            <a:r>
              <a:t>ML 전망 · visitors · 202610~202612 · 120 명 · 집계 3_month_sum · 모델 평가 below_baseline_on_test · 출처 ml:1:v1</a:t>
            </a:r>
          </a:p>
          <a:p xmlns:a="http://schemas.openxmlformats.org/drawingml/2006/main">
            <a:r>
              <a:t>우리 지역에 적용할 가설</a:t>
            </a:r>
          </a:p>
          <a:p xmlns:a="http://schemas.openxmlformats.org/drawingml/2006/main">
            <a:r>
              <a:t>완주 후 시장 방문으로 연결해 볼 수 있다.</a:t>
            </a:r>
          </a:p>
          <a:p xmlns:a="http://schemas.openxmlformats.org/drawingml/2006/main">
            <a:r>
              <a:t>같은 기준의 후보 비교</a:t>
            </a:r>
          </a:p>
          <a:p xmlns:a="http://schemas.openxmlformats.org/drawingml/2006/main">
            <a:r>
              <a:t>이용 행동 · 방문객이 무엇을 하고 어떤 조건으로 혜택을 받는가</a:t>
            </a:r>
          </a:p>
          <a:p xmlns:a="http://schemas.openxmlformats.org/drawingml/2006/main">
            <a:r>
              <a:t>완주 후 쿠폰을 사용한다.</a:t>
            </a:r>
          </a:p>
          <a:p xmlns:a="http://schemas.openxmlformats.org/drawingml/2006/main">
            <a:r>
              <a:t>운영 준비 · 참여처·인력·시간·시스템 중 무엇을 준비하는가</a:t>
            </a:r>
          </a:p>
          <a:p xmlns:a="http://schemas.openxmlformats.org/drawingml/2006/main">
            <a:r>
              <a:t>가맹점·정산 협약을 준비한다.</a:t>
            </a:r>
          </a:p>
          <a:p xmlns:a="http://schemas.openxmlformats.org/drawingml/2006/main">
            <a:r>
              <a:t>성과 확인 · 어떤 원장과 분자·분모로 이용 결과를 확인하는가</a:t>
            </a:r>
          </a:p>
          <a:p xmlns:a="http://schemas.openxmlformats.org/drawingml/2006/main">
            <a:r>
              <a:t>지급 ID 중 사용 ID를 집계한다.</a:t>
            </a:r>
          </a:p>
          <a:p xmlns:a="http://schemas.openxmlformats.org/drawingml/2006/main">
            <a:r>
              <a:t>선택 이유와 감수할 조건</a:t>
            </a:r>
          </a:p>
          <a:p xmlns:a="http://schemas.openxmlformats.org/drawingml/2006/main">
            <a:r>
              <a:t>완주 후 시장 재방문을 검토하되 야간 체류 연장은 별도 대안이다.</a:t>
            </a:r>
          </a:p>
          <a:p xmlns:a="http://schemas.openxmlformats.org/drawingml/2006/main">
            <a:r>
              <a:t>가맹점 참여는 아직 확정 전이다.</a:t>
            </a:r>
          </a:p>
          <a:p xmlns:a="http://schemas.openxmlformats.org/drawingml/2006/main">
            <a:r>
              <a:t>선정 이유는 기획 판단이며 사업 효과의 예측·보장이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선정 근거 ③ 사실에서 적용 가설까지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rationale-facts-label"/>
          <p:cNvSpPr txBox="1"/>
          <p:nvPr/>
        </p:nvSpPr>
        <p:spPr>
          <a:xfrm>
            <a:off x="1009650" y="2000250"/>
            <a:ext cx="621030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01 연결한 관측·전망</a:t>
            </a:r>
          </a:p>
        </p:txBody>
      </p:sp>
      <p:sp xmlns:a="http://schemas.openxmlformats.org/drawingml/2006/main">
        <p:nvSpPr>
          <p:cNvPr id="5" name="rationale-hypothesis-label"/>
          <p:cNvSpPr txBox="1"/>
          <p:nvPr/>
        </p:nvSpPr>
        <p:spPr>
          <a:xfrm>
            <a:off x="7781925" y="2000250"/>
            <a:ext cx="6448425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02 우리 지역에 적용할 가설</a:t>
            </a:r>
          </a:p>
        </p:txBody>
      </p:sp>
      <p:sp xmlns:a="http://schemas.openxmlformats.org/drawingml/2006/main">
        <p:nvSpPr>
          <p:cNvPr id="6" name="rationale-fact-0"/>
          <p:cNvSpPr txBox="1"/>
          <p:nvPr/>
        </p:nvSpPr>
        <p:spPr>
          <a:xfrm>
            <a:off x="1009650" y="2562225"/>
            <a:ext cx="6210300" cy="6477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[1] 관측 · 숙박 방문 비율 6.6%</a:t>
            </a:r>
          </a:p>
        </p:txBody>
      </p:sp>
      <p:sp xmlns:a="http://schemas.openxmlformats.org/drawingml/2006/main">
        <p:nvSpPr>
          <p:cNvPr id="7" name="rationale-fact-1"/>
          <p:cNvSpPr txBox="1"/>
          <p:nvPr/>
        </p:nvSpPr>
        <p:spPr>
          <a:xfrm>
            <a:off x="1009650" y="3248025"/>
            <a:ext cx="6210300" cy="6477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[2] ML 전망 · 방문자 수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202610~202612 · 120.00명 · 3개월 합계</a:t>
            </a:r>
          </a:p>
        </p:txBody>
      </p:sp>
      <p:sp xmlns:a="http://schemas.openxmlformats.org/drawingml/2006/main">
        <p:nvSpPr>
          <p:cNvPr id="8" name="rationale-hypothesis"/>
          <p:cNvSpPr txBox="1"/>
          <p:nvPr/>
        </p:nvSpPr>
        <p:spPr>
          <a:xfrm>
            <a:off x="7781925" y="2562225"/>
            <a:ext cx="6448425" cy="14097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완주 후 시장 방문으로 연결해 볼 수 있다.</a:t>
            </a:r>
          </a:p>
        </p:txBody>
      </p:sp>
      <p:sp xmlns:a="http://schemas.openxmlformats.org/drawingml/2006/main">
        <p:nvSpPr>
          <p:cNvPr id="9" name="rationale-cases"/>
          <p:cNvSpPr txBox="1"/>
          <p:nvPr/>
        </p:nvSpPr>
        <p:spPr>
          <a:xfrm>
            <a:off x="7781925" y="4038600"/>
            <a:ext cx="6448425" cy="6381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운영 참고 · case:stamp</a:t>
            </a:r>
          </a:p>
        </p:txBody>
      </p:sp>
      <p:sp xmlns:a="http://schemas.openxmlformats.org/drawingml/2006/main">
        <p:nvSpPr>
          <p:cNvPr id="10" name="rationale-mid-rule"/>
          <p:cNvSpPr/>
          <p:nvPr/>
        </p:nvSpPr>
        <p:spPr>
          <a:xfrm>
            <a:off x="1009650" y="4819650"/>
            <a:ext cx="13220700" cy="1905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ationale-criteria-title"/>
          <p:cNvSpPr txBox="1"/>
          <p:nvPr/>
        </p:nvSpPr>
        <p:spPr>
          <a:xfrm>
            <a:off x="1009650" y="4962525"/>
            <a:ext cx="13220700" cy="3905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03 모든 후보에 적용한 세 가지 비교 기준</a:t>
            </a:r>
          </a:p>
        </p:txBody>
      </p:sp>
      <p:sp xmlns:a="http://schemas.openxmlformats.org/drawingml/2006/main">
        <p:nvSpPr>
          <p:cNvPr id="12" name="rationale-criterion-0"/>
          <p:cNvSpPr txBox="1"/>
          <p:nvPr/>
        </p:nvSpPr>
        <p:spPr>
          <a:xfrm>
            <a:off x="1009650" y="5553075"/>
            <a:ext cx="410527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1">
                <a:solidFill>
                  <a:srgbClr val="004EA2"/>
                </a:solidFill>
                <a:latin typeface="Noto Sans KR"/>
              </a:rPr>
              <a:t>이용 행동</a:t>
            </a:r>
          </a:p>
        </p:txBody>
      </p:sp>
      <p:sp xmlns:a="http://schemas.openxmlformats.org/drawingml/2006/main">
        <p:nvSpPr>
          <p:cNvPr id="13" name="rationale-detail-0"/>
          <p:cNvSpPr txBox="1"/>
          <p:nvPr/>
        </p:nvSpPr>
        <p:spPr>
          <a:xfrm>
            <a:off x="1009650" y="5962650"/>
            <a:ext cx="4105275" cy="962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완주 후 쿠폰을 사용한다.</a:t>
            </a:r>
          </a:p>
        </p:txBody>
      </p:sp>
      <p:sp xmlns:a="http://schemas.openxmlformats.org/drawingml/2006/main">
        <p:nvSpPr>
          <p:cNvPr id="14" name="rationale-criterion-1"/>
          <p:cNvSpPr txBox="1"/>
          <p:nvPr/>
        </p:nvSpPr>
        <p:spPr>
          <a:xfrm>
            <a:off x="5562600" y="5553075"/>
            <a:ext cx="410527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1">
                <a:solidFill>
                  <a:srgbClr val="004EA2"/>
                </a:solidFill>
                <a:latin typeface="Noto Sans KR"/>
              </a:rPr>
              <a:t>운영 준비</a:t>
            </a:r>
          </a:p>
        </p:txBody>
      </p:sp>
      <p:sp xmlns:a="http://schemas.openxmlformats.org/drawingml/2006/main">
        <p:nvSpPr>
          <p:cNvPr id="15" name="rationale-detail-1"/>
          <p:cNvSpPr txBox="1"/>
          <p:nvPr/>
        </p:nvSpPr>
        <p:spPr>
          <a:xfrm>
            <a:off x="5562600" y="5962650"/>
            <a:ext cx="4105275" cy="962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가맹점·정산 협약을 준비한다.</a:t>
            </a:r>
          </a:p>
        </p:txBody>
      </p:sp>
      <p:sp xmlns:a="http://schemas.openxmlformats.org/drawingml/2006/main">
        <p:nvSpPr>
          <p:cNvPr id="16" name="rationale-criterion-2"/>
          <p:cNvSpPr txBox="1"/>
          <p:nvPr/>
        </p:nvSpPr>
        <p:spPr>
          <a:xfrm>
            <a:off x="10115550" y="5553075"/>
            <a:ext cx="410527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1">
                <a:solidFill>
                  <a:srgbClr val="004EA2"/>
                </a:solidFill>
                <a:latin typeface="Noto Sans KR"/>
              </a:rPr>
              <a:t>성과 확인</a:t>
            </a:r>
          </a:p>
        </p:txBody>
      </p:sp>
      <p:sp xmlns:a="http://schemas.openxmlformats.org/drawingml/2006/main">
        <p:nvSpPr>
          <p:cNvPr id="17" name="rationale-detail-2"/>
          <p:cNvSpPr txBox="1"/>
          <p:nvPr/>
        </p:nvSpPr>
        <p:spPr>
          <a:xfrm>
            <a:off x="10115550" y="5962650"/>
            <a:ext cx="4105275" cy="9620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지급 ID 중 사용 ID를 집계한다.</a:t>
            </a:r>
          </a:p>
        </p:txBody>
      </p:sp>
      <p:sp xmlns:a="http://schemas.openxmlformats.org/drawingml/2006/main">
        <p:nvSpPr>
          <p:cNvPr id="18" name="rationale-selection-band"/>
          <p:cNvSpPr/>
          <p:nvPr/>
        </p:nvSpPr>
        <p:spPr>
          <a:xfrm>
            <a:off x="1009650" y="7172325"/>
            <a:ext cx="13220700" cy="981075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ationale-choice-label"/>
          <p:cNvSpPr txBox="1"/>
          <p:nvPr/>
        </p:nvSpPr>
        <p:spPr>
          <a:xfrm>
            <a:off x="1171575" y="7286625"/>
            <a:ext cx="1628775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선택 이유</a:t>
            </a:r>
          </a:p>
        </p:txBody>
      </p:sp>
      <p:sp xmlns:a="http://schemas.openxmlformats.org/drawingml/2006/main">
        <p:nvSpPr>
          <p:cNvPr id="20" name="rationale-choice"/>
          <p:cNvSpPr txBox="1"/>
          <p:nvPr/>
        </p:nvSpPr>
        <p:spPr>
          <a:xfrm>
            <a:off x="2914650" y="7277100"/>
            <a:ext cx="11125200" cy="762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004EA2"/>
                </a:solidFill>
                <a:latin typeface="Noto Sans KR"/>
              </a:rPr>
              <a:t>완주 후 시장 재방문을 검토하되 야간 체류 연장은 별도 대안이다.</a:t>
            </a:r>
          </a:p>
        </p:txBody>
      </p:sp>
      <p:sp xmlns:a="http://schemas.openxmlformats.org/drawingml/2006/main">
        <p:nvSpPr>
          <p:cNvPr id="21" name="rationale-meaning"/>
          <p:cNvSpPr txBox="1"/>
          <p:nvPr/>
        </p:nvSpPr>
        <p:spPr>
          <a:xfrm>
            <a:off x="1009650" y="8258175"/>
            <a:ext cx="13220700" cy="285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40"/>
              </a:lnSpc>
              <a:spcBef>
                <a:spcPts val="0"/>
              </a:spcBef>
              <a:spcAft>
                <a:spcPts val="0"/>
              </a:spcAft>
            </a:pPr>
            <a:r>
              <a:rPr sz="1312" b="0">
                <a:solidFill>
                  <a:srgbClr val="59636E"/>
                </a:solidFill>
                <a:latin typeface="Noto Sans KR"/>
              </a:rPr>
              <a:t>위 연결은 기획 판단입니다. 사업 효과는 가설이며, 실제 이용 결과로 확인합니다. 출처·비교 원문은 발표자 메모에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