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ns0="http://schemas.openxmlformats.org/officeDocument/2006/relationships" id="272" ns0:id="rId18"/>
    <p:sldId xmlns:r="http://schemas.openxmlformats.org/officeDocument/2006/relationships" id="261" r:id="Rbf371966fa964fc8"/>
    <p:sldId xmlns:ns0="http://schemas.openxmlformats.org/officeDocument/2006/relationships" id="270" ns0:id="rId17"/>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제주시 야간 문화유산 및 시설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개방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2026-09-15</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2026. 09. 15</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목표·KPI 산출근거</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기획서 생성 파이프라인</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제주시 야간 문화유산 및 시설 개방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1D2227"/>
                </a:solidFill>
                <a:latin typeface="Noto Sans KR"/>
              </a:rPr>
              <a:t>제주시 내 박물관, 공연장, 문화유산 등 기존 시설을 활용하여</a:t>
            </a:r>
          </a:p>
          <a:p>
            <a:pPr eaLnBrk="0">
              <a:lnSpc>
                <a:spcPts val="2812"/>
              </a:lnSpc>
              <a:spcBef>
                <a:spcPts val="0"/>
              </a:spcBef>
              <a:spcAft>
                <a:spcPts val="0"/>
              </a:spcAft>
            </a:pPr>
            <a:r>
              <a:rPr sz="2250" b="1">
                <a:solidFill>
                  <a:srgbClr val="1D2227"/>
                </a:solidFill>
                <a:latin typeface="Noto Sans KR"/>
              </a:rPr>
              <a:t>야간 개방 및 체험 프로그램을 확대 운영</a:t>
            </a:r>
          </a:p>
        </p:txBody>
      </p:sp>
      <p:sp xmlns:a="http://schemas.openxmlformats.org/drawingml/2006/main">
        <p:nvSpPr>
          <p:cNvPr id="36" name="s3-detail-label"/>
          <p:cNvSpPr txBox="1"/>
          <p:nvPr/>
        </p:nvSpPr>
        <p:spPr>
          <a:xfrm>
            <a:off x="5343525" y="4476750"/>
            <a:ext cx="8524875" cy="42862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 대상과 운영 범위</a:t>
            </a:r>
          </a:p>
        </p:txBody>
      </p:sp>
      <p:sp xmlns:a="http://schemas.openxmlformats.org/drawingml/2006/main">
        <p:nvSpPr>
          <p:cNvPr id="37" name="s3-detail"/>
          <p:cNvSpPr txBox="1"/>
          <p:nvPr/>
        </p:nvSpPr>
        <p:spPr>
          <a:xfrm>
            <a:off x="5343525" y="4991100"/>
            <a:ext cx="8524875" cy="9048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이용하는 방문객</a:t>
            </a:r>
          </a:p>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확대 운영</a:t>
            </a:r>
          </a:p>
          <a:p>
            <a:pPr eaLnBrk="0">
              <a:lnSpc>
                <a:spcPts val="1781"/>
              </a:lnSpc>
              <a:spcBef>
                <a:spcPts val="0"/>
              </a:spcBef>
              <a:spcAft>
                <a:spcPts val="0"/>
              </a:spcAft>
            </a:pPr>
            <a:r>
              <a:rPr sz="1425" b="0">
                <a:solidFill>
                  <a:srgbClr val="59636E"/>
                </a:solidFill>
                <a:latin typeface="Noto Sans KR"/>
              </a:rPr>
              <a:t>2026-10 ~ 2026-12, 3개월</a:t>
            </a:r>
          </a:p>
        </p:txBody>
      </p:sp>
      <p:sp xmlns:a="http://schemas.openxmlformats.org/drawingml/2006/main">
        <p:nvSpPr>
          <p:cNvPr id="38" name="s3-goal-label"/>
          <p:cNvSpPr txBox="1"/>
          <p:nvPr/>
        </p:nvSpPr>
        <p:spPr>
          <a:xfrm>
            <a:off x="5343525" y="6143625"/>
            <a:ext cx="8524875"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648450"/>
            <a:ext cx="4171950" cy="1257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675322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10565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348,601명</a:t>
            </a:r>
          </a:p>
        </p:txBody>
      </p:sp>
      <p:sp xmlns:a="http://schemas.openxmlformats.org/drawingml/2006/main">
        <p:nvSpPr>
          <p:cNvPr id="42" name="s3-goal-pct-0"/>
          <p:cNvSpPr txBox="1"/>
          <p:nvPr/>
        </p:nvSpPr>
        <p:spPr>
          <a:xfrm>
            <a:off x="5486400" y="754380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+3.29% · 계획 목표</a:t>
            </a:r>
          </a:p>
        </p:txBody>
      </p:sp>
      <p:sp xmlns:a="http://schemas.openxmlformats.org/drawingml/2006/main">
        <p:nvSpPr>
          <p:cNvPr id="43" name="s3-goal-panel-1"/>
          <p:cNvSpPr/>
          <p:nvPr/>
        </p:nvSpPr>
        <p:spPr>
          <a:xfrm>
            <a:off x="9715500" y="6648450"/>
            <a:ext cx="4171950" cy="1257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675322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10565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148.12억 원</a:t>
            </a:r>
          </a:p>
        </p:txBody>
      </p:sp>
      <p:sp xmlns:a="http://schemas.openxmlformats.org/drawingml/2006/main">
        <p:nvSpPr>
          <p:cNvPr id="46" name="s3-goal-pct-1"/>
          <p:cNvSpPr txBox="1"/>
          <p:nvPr/>
        </p:nvSpPr>
        <p:spPr>
          <a:xfrm>
            <a:off x="9858375" y="754380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+3.33% · 계획 목표</a:t>
            </a:r>
          </a:p>
        </p:txBody>
      </p:sp>
      <p:sp xmlns:a="http://schemas.openxmlformats.org/drawingml/2006/main">
        <p:nvSpPr>
          <p:cNvPr id="47" name="s3-goal-panel-0-accent"/>
          <p:cNvSpPr/>
          <p:nvPr/>
        </p:nvSpPr>
        <p:spPr>
          <a:xfrm>
            <a:off x="5343525" y="6648450"/>
            <a:ext cx="28575" cy="12573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s3-goal-panel-1-accent"/>
          <p:cNvSpPr/>
          <p:nvPr/>
        </p:nvSpPr>
        <p:spPr>
          <a:xfrm>
            <a:off x="9715500" y="6648450"/>
            <a:ext cx="28575" cy="12573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사업 목표</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내 박물관, 공연장, 문화유산 등</a:t>
            </a:r>
          </a:p>
          <a:p>
            <a:pPr eaLnBrk="0">
              <a:lnSpc>
                <a:spcPts val="2156"/>
              </a:lnSpc>
              <a:spcBef>
                <a:spcPts val="0"/>
              </a:spcBef>
              <a:spcAft>
                <a:spcPts val="0"/>
              </a:spcAft>
            </a:pPr>
            <a:r>
              <a:rPr sz="1725" b="0">
                <a:solidFill>
                  <a:srgbClr val="59636E"/>
                </a:solidFill>
                <a:latin typeface="Noto Sans KR"/>
              </a:rPr>
              <a:t>기존 시설을 활용하여 야간 개방 및 체험</a:t>
            </a:r>
          </a:p>
          <a:p>
            <a:pPr eaLnBrk="0">
              <a:lnSpc>
                <a:spcPts val="2156"/>
              </a:lnSpc>
              <a:spcBef>
                <a:spcPts val="0"/>
              </a:spcBef>
              <a:spcAft>
                <a:spcPts val="0"/>
              </a:spcAft>
            </a:pPr>
            <a:r>
              <a:rPr sz="1725" b="0">
                <a:solidFill>
                  <a:srgbClr val="59636E"/>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1,093만 명</a:t>
            </a:r>
          </a:p>
          <a:p>
            <a:pPr eaLnBrk="0">
              <a:lnSpc>
                <a:spcPts val="2156"/>
              </a:lnSpc>
              <a:spcBef>
                <a:spcPts val="0"/>
              </a:spcBef>
              <a:spcAft>
                <a:spcPts val="0"/>
              </a:spcAft>
            </a:pPr>
            <a:r>
              <a:rPr sz="1725" b="0">
                <a:solidFill>
                  <a:srgbClr val="59636E"/>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파란선: 한국관광 데이터랩의 과거 월별 방문·소비 기록과 계절 흐름을 바탕으로 계산한 전망입니다.</a:t>
            </a:r>
          </a:p>
          <a:p>
            <a:pPr eaLnBrk="0">
              <a:lnSpc>
                <a:spcPts val="1968"/>
              </a:lnSpc>
              <a:spcBef>
                <a:spcPts val="0"/>
              </a:spcBef>
              <a:spcAft>
                <a:spcPts val="0"/>
              </a:spcAft>
            </a:pPr>
            <a:r>
              <a:rPr sz="1575" b="0">
                <a:solidFill>
                  <a:srgbClr val="59636E"/>
                </a:solidFill>
                <a:latin typeface="Noto Sans KR"/>
              </a:rPr>
              <a:t>주황선: 공식 사례를 참고해 정한 사업 목표입니다. 목표율은 조정할 수 있으며, 산출 근거 페이지에서 설명합니다.</a:t>
            </a:r>
          </a:p>
        </p:txBody>
      </p:sp>
      <p:sp xmlns:a="http://schemas.openxmlformats.org/drawingml/2006/main">
        <p:nvSpPr>
          <p:cNvPr id="3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04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문화유산 집적지역 ·</a:t>
            </a:r>
          </a:p>
          <a:p>
            <a:pPr eaLnBrk="0">
              <a:lnSpc>
                <a:spcPts val="2250"/>
              </a:lnSpc>
              <a:spcBef>
                <a:spcPts val="0"/>
              </a:spcBef>
              <a:spcAft>
                <a:spcPts val="0"/>
              </a:spcAft>
            </a:pPr>
            <a:r>
              <a:rPr sz="1800" b="1">
                <a:solidFill>
                  <a:srgbClr val="1D2227"/>
                </a:solidFill>
                <a:latin typeface="Noto Sans KR"/>
              </a:rPr>
              <a:t>기존 문화유산을 활용한 야간</a:t>
            </a:r>
          </a:p>
          <a:p>
            <a:pPr eaLnBrk="0">
              <a:lnSpc>
                <a:spcPts val="2250"/>
              </a:lnSpc>
              <a:spcBef>
                <a:spcPts val="0"/>
              </a:spcBef>
              <a:spcAft>
                <a:spcPts val="0"/>
              </a:spcAft>
            </a:pPr>
            <a:r>
              <a:rPr sz="1800" b="1">
                <a:solidFill>
                  <a:srgbClr val="1D2227"/>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문화유산이 모인 거점을 중심으로</a:t>
            </a:r>
          </a:p>
          <a:p>
            <a:pPr eaLnBrk="0">
              <a:lnSpc>
                <a:spcPts val="1968"/>
              </a:lnSpc>
              <a:spcBef>
                <a:spcPts val="0"/>
              </a:spcBef>
              <a:spcAft>
                <a:spcPts val="0"/>
              </a:spcAft>
            </a:pPr>
            <a:r>
              <a:rPr sz="1575" b="0">
                <a:solidFill>
                  <a:srgbClr val="59636E"/>
                </a:solidFill>
                <a:latin typeface="Noto Sans KR"/>
              </a:rPr>
              <a:t>야간 개방, 해설, 공연과</a:t>
            </a:r>
          </a:p>
          <a:p>
            <a:pPr eaLnBrk="0">
              <a:lnSpc>
                <a:spcPts val="1968"/>
              </a:lnSpc>
              <a:spcBef>
                <a:spcPts val="0"/>
              </a:spcBef>
              <a:spcAft>
                <a:spcPts val="0"/>
              </a:spcAft>
            </a:pPr>
            <a:r>
              <a:rPr sz="1575" b="0">
                <a:solidFill>
                  <a:srgbClr val="59636E"/>
                </a:solidFill>
                <a:latin typeface="Noto Sans KR"/>
              </a:rPr>
              <a:t>체험프로그램을 구성하고 국비와</a:t>
            </a:r>
          </a:p>
          <a:p>
            <a:pPr eaLnBrk="0">
              <a:lnSpc>
                <a:spcPts val="1968"/>
              </a:lnSpc>
              <a:spcBef>
                <a:spcPts val="0"/>
              </a:spcBef>
              <a:spcAft>
                <a:spcPts val="0"/>
              </a:spcAft>
            </a:pPr>
            <a:r>
              <a:rPr sz="1575" b="0">
                <a:solidFill>
                  <a:srgbClr val="59636E"/>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u="none">
                <a:solidFill>
                  <a:srgbClr val="39718B"/>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7" name="case-badge-1"/>
          <p:cNvSpPr txBox="1"/>
          <p:nvPr/>
        </p:nvSpPr>
        <p:spPr>
          <a:xfrm>
            <a:off x="64484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전라남도 강진군 ·</a:t>
            </a:r>
          </a:p>
          <a:p>
            <a:pPr eaLnBrk="0">
              <a:lnSpc>
                <a:spcPts val="2250"/>
              </a:lnSpc>
              <a:spcBef>
                <a:spcPts val="0"/>
              </a:spcBef>
              <a:spcAft>
                <a:spcPts val="0"/>
              </a:spcAft>
            </a:pPr>
            <a:r>
              <a:rPr sz="1800" b="1">
                <a:solidFill>
                  <a:srgbClr val="1D2227"/>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u="none">
                <a:solidFill>
                  <a:srgbClr val="39718B"/>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5" name="case-badge-2"/>
          <p:cNvSpPr txBox="1"/>
          <p:nvPr/>
        </p:nvSpPr>
        <p:spPr>
          <a:xfrm>
            <a:off x="10944225" y="2647950"/>
            <a:ext cx="2362200" cy="4191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39718B"/>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u="none">
                <a:solidFill>
                  <a:srgbClr val="39718B"/>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39718B"/>
                </a:solidFill>
                <a:latin typeface="Noto Sans KR"/>
                <a:hlinkClick xmlns:ns8="http://schemas.openxmlformats.org/officeDocument/2006/relationships" ns8:id="rId12"/>
              </a:rPr>
              <a:t>사업 원문 보기 ↗</a:t>
            </a:r>
          </a:p>
        </p:txBody>
      </p:sp>
      <p:sp xmlns:a="http://schemas.openxmlformats.org/drawingml/2006/main">
        <p:nvSpPr>
          <p:cNvPr id="3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2"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06 / 15</a:t>
            </a:r>
          </a:p>
        </p:txBody>
      </p:sp>
      <p:sp xmlns:a="http://schemas.openxmlformats.org/drawingml/2006/main">
        <p:nvSpPr>
          <p:cNvPr id="34" name="case-panel-0-accent"/>
          <p:cNvSpPr/>
          <p:nvPr/>
        </p:nvSpPr>
        <p:spPr>
          <a:xfrm>
            <a:off x="10096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case-panel-1-accent"/>
          <p:cNvSpPr/>
          <p:nvPr/>
        </p:nvSpPr>
        <p:spPr>
          <a:xfrm>
            <a:off x="55054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case-panel-2-accent"/>
          <p:cNvSpPr/>
          <p:nvPr/>
        </p:nvSpPr>
        <p:spPr>
          <a:xfrm>
            <a:off x="10001250" y="2457450"/>
            <a:ext cx="28575" cy="51625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이 사업을 참고한 이유와 지역 적용 방법</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1D2227"/>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1D2227"/>
                          </a:solidFill>
                          <a:latin typeface="Noto Sans KR"/>
                        </a:rPr>
                        <a:t>580,380건 / 외지인 숙박 방문 비율: 21.0%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348,601명 × 1%</a:t>
                      </a:r>
                    </a:p>
                    <a:p>
                      <a:pPr eaLnBrk="0">
                        <a:lnSpc>
                          <a:spcPct val="112000"/>
                        </a:lnSpc>
                        <a:spcBef>
                          <a:spcPts val="0"/>
                        </a:spcBef>
                        <a:spcAft>
                          <a:spcPts val="0"/>
                        </a:spcAft>
                      </a:pPr>
                      <a:r>
                        <a:rPr sz="1575" b="0">
                          <a:solidFill>
                            <a:srgbClr val="1D2227"/>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39718B"/>
                </a:solidFill>
                <a:latin typeface="Noto Sans KR"/>
                <a:hlinkClick r:id="rId2"/>
              </a:rPr>
              <a:t>문서 기반 함수 연결 · 2024년 문화재야행 사업 예산 확정자료</a:t>
            </a:r>
          </a:p>
        </p:txBody>
      </p:sp>
      <p:sp>
        <p:nvSpPr>
          <p:cNvPr id="10"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29"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09 / 15</a:t>
            </a:r>
          </a:p>
        </p:txBody>
      </p:sp>
      <p:sp xmlns:a="http://schemas.openxmlformats.org/drawingml/2006/main">
        <p:nvSpPr>
          <p:cNvPr id="32" name="execution-panel-0-accent"/>
          <p:cNvSpPr/>
          <p:nvPr/>
        </p:nvSpPr>
        <p:spPr>
          <a:xfrm>
            <a:off x="1009650" y="2095500"/>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execution-panel-1-accent"/>
          <p:cNvSpPr/>
          <p:nvPr/>
        </p:nvSpPr>
        <p:spPr>
          <a:xfrm>
            <a:off x="1009650" y="3457575"/>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4" name="execution-panel-2-accent"/>
          <p:cNvSpPr/>
          <p:nvPr/>
        </p:nvSpPr>
        <p:spPr>
          <a:xfrm>
            <a:off x="1009650" y="4819650"/>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execution-panel-3-accent"/>
          <p:cNvSpPr/>
          <p:nvPr/>
        </p:nvSpPr>
        <p:spPr>
          <a:xfrm>
            <a:off x="1009650" y="6181725"/>
            <a:ext cx="28575" cy="12001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3,714,120명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119,810명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10,928,766명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348,601명 · 3.29%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1,499.21억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48.36억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4,597.31억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148.12억 원 · 3.33%</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 xmlns:a="http://schemas.openxmlformats.org/drawingml/2006/main">
        <p:nvSpPr>
          <p:cNvPr id="11"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사례 실적</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sult-title"/>
          <p:cNvSpPr txBox="1"/>
          <p:nvPr/>
        </p:nvSpPr>
        <p:spPr>
          <a:xfrm>
            <a:off x="1009650" y="2009775"/>
            <a:ext cx="13220700" cy="5524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39718B"/>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39718B"/>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2024년 · 5월 24–25일</a:t>
            </a:r>
          </a:p>
        </p:txBody>
      </p:sp>
      <p:sp>
        <p:nvSpPr>
          <p:cNvPr id="14" name="result-bar-1"/>
          <p:cNvSpPr/>
          <p:nvPr/>
        </p:nvSpPr>
        <p:spPr>
          <a:xfrm>
            <a:off x="7172325" y="5133975"/>
            <a:ext cx="4572000" cy="228600"/>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13.0만 명</a:t>
            </a:r>
          </a:p>
        </p:txBody>
      </p:sp>
      <p:sp>
        <p:nvSpPr>
          <p:cNvPr id="16" name="result-change-band"/>
          <p:cNvSpPr/>
          <p:nvPr/>
        </p:nvSpPr>
        <p:spPr>
          <a:xfrm>
            <a:off x="7172325" y="5857875"/>
            <a:ext cx="7058025" cy="10572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두 해의 행사 방문객 비교입니다. 개최 계절이 달라 사업 단독 효과로 해석하지 않습니다.</a:t>
            </a:r>
          </a:p>
        </p:txBody>
      </p:sp>
      <p:sp>
        <p:nvSpPr>
          <p:cNvPr id="22"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07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004EA2"/>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21,000,000원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3,487건 ÷ 25건/인일 올림) = 140인일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7,187,000원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7,187만원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9"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39718B"/>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39718B"/>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39718B"/>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39718B"/>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39718B"/>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39718B"/>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39718B"/>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39718B"/>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39718B"/>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39718B"/>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39718B"/>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39718B"/>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39718B"/>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39718B"/>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39718B"/>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39718B"/>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39718B"/>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39718B"/>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39718B"/>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39718B"/>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39718B"/>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39718B"/>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39718B"/>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39718B"/>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39718B"/>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39718B"/>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39718B"/>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39718B"/>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39718B"/>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39718B"/>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39718B"/>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39718B"/>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39718B"/>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39718B"/>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39718B"/>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39718B"/>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39718B"/>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39718B"/>
                </a:solidFill>
                <a:latin typeface="Noto Sans KR"/>
                <a:hlinkClick xmlns:ns73="http://schemas.openxmlformats.org/officeDocument/2006/relationships" ns73:id="rId2"/>
              </a:rPr>
              <a:t>인기관광지 2025-07 ~ 2026-06</a:t>
            </a:r>
          </a:p>
        </p:txBody>
      </p:sp>
      <p:sp xmlns:a="http://schemas.openxmlformats.org/drawingml/2006/main">
        <p:nvSpPr>
          <p:cNvPr id="32"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3"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근거·데이터·출처</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39718B"/>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방문자 수 RandomForestRegressor</a:t>
            </a:r>
          </a:p>
          <a:p>
            <a:pPr eaLnBrk="0">
              <a:lnSpc>
                <a:spcPts val="1265"/>
              </a:lnSpc>
              <a:spcBef>
                <a:spcPts val="0"/>
              </a:spcBef>
              <a:spcAft>
                <a:spcPts val="0"/>
              </a:spcAft>
            </a:pPr>
            <a:r>
              <a:rPr sz="1012" b="0">
                <a:solidFill>
                  <a:srgbClr val="004EA2"/>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내비게이션 검색량 전년동월 계절</a:t>
            </a:r>
          </a:p>
          <a:p>
            <a:pPr eaLnBrk="0">
              <a:lnSpc>
                <a:spcPts val="1265"/>
              </a:lnSpc>
              <a:spcBef>
                <a:spcPts val="0"/>
              </a:spcBef>
              <a:spcAft>
                <a:spcPts val="0"/>
              </a:spcAft>
            </a:pPr>
            <a:r>
              <a:rPr sz="1012" b="0">
                <a:solidFill>
                  <a:srgbClr val="004EA2"/>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숙박 목적지 검색량 전년동월 계절</a:t>
            </a:r>
          </a:p>
          <a:p>
            <a:pPr eaLnBrk="0">
              <a:lnSpc>
                <a:spcPts val="1265"/>
              </a:lnSpc>
              <a:spcBef>
                <a:spcPts val="0"/>
              </a:spcBef>
              <a:spcAft>
                <a:spcPts val="0"/>
              </a:spcAft>
            </a:pPr>
            <a:r>
              <a:rPr sz="1012" b="0">
                <a:solidFill>
                  <a:srgbClr val="004EA2"/>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39718B"/>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39718B"/>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39718B"/>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39718B"/>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39718B"/>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39718B"/>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39718B"/>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39718B"/>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39718B"/>
                </a:solidFill>
                <a:latin typeface="Noto Sans KR"/>
                <a:hlinkClick r:id="rId13"/>
              </a:rPr>
              <a:t>사례 실적 서울문화포털 · 2024 정동야행 행사 내용과 사진</a:t>
            </a:r>
          </a:p>
        </p:txBody>
      </p:sp>
      <p:sp>
        <p:nvSpPr>
          <p:cNvPr id="43"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야간 문화유산 및</a:t>
            </a:r>
          </a:p>
          <a:p xmlns:a="http://schemas.openxmlformats.org/drawingml/2006/main">
            <a:pPr eaLnBrk="0">
              <a:lnSpc>
                <a:spcPts val="2625"/>
              </a:lnSpc>
              <a:spcBef>
                <a:spcPts val="0"/>
              </a:spcBef>
              <a:spcAft>
                <a:spcPts val="0"/>
              </a:spcAft>
            </a:pPr>
            <a:r>
              <a:rPr sz="2100" b="1">
                <a:solidFill>
                  <a:srgbClr val="004EA2"/>
                </a:solidFill>
                <a:latin typeface="Noto Sans KR"/>
              </a:rPr>
              <a:t>시설 개방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목표 KPI 산출근거</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pi-intro"/>
          <p:cNvSpPr txBox="1"/>
          <p:nvPr/>
        </p:nvSpPr>
        <p:spPr>
          <a:xfrm>
            <a:off x="1009650" y="2009775"/>
            <a:ext cx="13220700" cy="4476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목표율을 정한 이유와 3개월 동안 추가로 달성할 규모</a:t>
            </a:r>
          </a:p>
        </p:txBody>
      </p:sp>
      <p:pic>
        <p:nvPicPr>
          <p:cNvPr id="5" name="kpi-reason-icon" descr="target-blue.png"/>
          <p:cNvPicPr>
            <a:picLocks noChangeAspect="1"/>
          </p:cNvPicPr>
          <p:nvPr/>
        </p:nvPicPr>
        <p:blipFill>
          <a:blip r:embed="rId2"/>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사례의 운영 방식은 참고하되, 성장률을</a:t>
            </a:r>
          </a:p>
          <a:p>
            <a:pPr eaLnBrk="0">
              <a:lnSpc>
                <a:spcPts val="2437"/>
              </a:lnSpc>
              <a:spcBef>
                <a:spcPts val="0"/>
              </a:spcBef>
              <a:spcAft>
                <a:spcPts val="0"/>
              </a:spcAft>
            </a:pPr>
            <a:r>
              <a:rPr sz="1950" b="0">
                <a:solidFill>
                  <a:srgbClr val="59636E"/>
                </a:solidFill>
                <a:latin typeface="Noto Sans KR"/>
              </a:rPr>
              <a:t>그대로 옮기지 않고 초기 목표 5%를 채택했습니다.</a:t>
            </a:r>
          </a:p>
        </p:txBody>
      </p:sp>
      <p:sp>
        <p:nvSpPr>
          <p:cNvPr id="8" name="kpi-decision-band"/>
          <p:cNvSpPr/>
          <p:nvPr/>
        </p:nvSpPr>
        <p:spPr>
          <a:xfrm>
            <a:off x="1200150" y="5238750"/>
            <a:ext cx="6391275" cy="10477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첫 달부터 마지막 달까지 목표율을</a:t>
            </a:r>
          </a:p>
          <a:p>
            <a:pPr eaLnBrk="0">
              <a:lnSpc>
                <a:spcPts val="2062"/>
              </a:lnSpc>
              <a:spcBef>
                <a:spcPts val="0"/>
              </a:spcBef>
              <a:spcAft>
                <a:spcPts val="0"/>
              </a:spcAft>
            </a:pPr>
            <a:r>
              <a:rPr sz="1650" b="0">
                <a:solidFill>
                  <a:srgbClr val="59636E"/>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kpi-impact-icon-0" descr="users-blue.png"/>
          <p:cNvPicPr>
            <a:picLocks noChangeAspect="1"/>
          </p:cNvPicPr>
          <p:nvPr/>
        </p:nvPicPr>
        <p:blipFill>
          <a:blip r:embed="rId3"/>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F6B00"/>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3개월 월별 합계 · +3.29%</a:t>
            </a:r>
          </a:p>
        </p:txBody>
      </p:sp>
      <p:sp>
        <p:nvSpPr>
          <p:cNvPr id="21" name="kpi-impact-panel-1"/>
          <p:cNvSpPr/>
          <p:nvPr/>
        </p:nvSpPr>
        <p:spPr>
          <a:xfrm>
            <a:off x="8696325" y="5267325"/>
            <a:ext cx="5534025" cy="2219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kpi-impact-icon-1" descr="coins-blue.png"/>
          <p:cNvPicPr>
            <a:picLocks noChangeAspect="1"/>
          </p:cNvPicPr>
          <p:nvPr/>
        </p:nvPicPr>
        <p:blipFill>
          <a:blip r:embed="rId4"/>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FF6B00"/>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목표는 계획 가정입니다. 사례의 사업 효과를 예측한 값이 아니며, 방문 합계에는 월간 중복이 포함됩니다.</a:t>
            </a:r>
          </a:p>
        </p:txBody>
      </p:sp>
      <p:sp>
        <p:nvSpPr>
          <p:cNvPr id="27"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05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4EA2"/>
                </a:solidFill>
                <a:latin typeface="Noto Sans KR"/>
              </a:rPr>
              <a:t>기획서 생성 파이프라인</a:t>
            </a:r>
          </a:p>
        </p:txBody>
      </p:sp>
      <p:sp>
        <p:nvSpPr>
          <p:cNvPr id="3" name="title-rule"/>
          <p:cNvSpPr/>
          <p:nvPr/>
        </p:nvSpPr>
        <p:spPr>
          <a:xfrm>
            <a:off x="1009650" y="1724025"/>
            <a:ext cx="13220700" cy="9525"/>
          </a:xfrm>
          <a:prstGeom prst="rect">
            <a:avLst/>
          </a:prstGeom>
          <a:solidFill>
            <a:srgbClr val="D4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ipeline-intro"/>
          <p:cNvSpPr txBox="1"/>
          <p:nvPr/>
        </p:nvSpPr>
        <p:spPr>
          <a:xfrm>
            <a:off x="1009650" y="2009775"/>
            <a:ext cx="13220700" cy="4476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peline-evidence-icon" descr="map-pinned-blue.png"/>
          <p:cNvPicPr>
            <a:picLocks noChangeAspect="1"/>
          </p:cNvPicPr>
          <p:nvPr/>
        </p:nvPicPr>
        <p:blipFill>
          <a:blip r:embed="rId2"/>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004EA2"/>
                </a:solidFill>
                <a:latin typeface="Noto Sans KR"/>
              </a:rPr>
              <a:t>① 지역</a:t>
            </a:r>
          </a:p>
          <a:p>
            <a:pPr eaLnBrk="0">
              <a:lnSpc>
                <a:spcPts val="2203"/>
              </a:lnSpc>
              <a:spcBef>
                <a:spcPts val="0"/>
              </a:spcBef>
              <a:spcAft>
                <a:spcPts val="0"/>
              </a:spcAft>
            </a:pPr>
            <a:r>
              <a:rPr sz="1762" b="1">
                <a:solidFill>
                  <a:srgbClr val="004EA2"/>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SQL · 공식 관광자료</a:t>
            </a:r>
          </a:p>
        </p:txBody>
      </p:sp>
      <p:pic>
        <p:nvPicPr>
          <p:cNvPr id="22" name="pipeline-case-icon" descr="search-check-blue.png"/>
          <p:cNvPicPr>
            <a:picLocks noChangeAspect="1"/>
          </p:cNvPicPr>
          <p:nvPr/>
        </p:nvPicPr>
        <p:blipFill>
          <a:blip r:embed="rId3"/>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004EA2"/>
                </a:solidFill>
                <a:latin typeface="Noto Sans KR"/>
              </a:rPr>
              <a:t>② 타지역</a:t>
            </a:r>
          </a:p>
          <a:p>
            <a:pPr eaLnBrk="0">
              <a:lnSpc>
                <a:spcPts val="2203"/>
              </a:lnSpc>
              <a:spcBef>
                <a:spcPts val="0"/>
              </a:spcBef>
              <a:spcAft>
                <a:spcPts val="0"/>
              </a:spcAft>
            </a:pPr>
            <a:r>
              <a:rPr sz="1762" b="1">
                <a:solidFill>
                  <a:srgbClr val="004EA2"/>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OpenAI · 공식 사업·성과</a:t>
            </a:r>
          </a:p>
        </p:txBody>
      </p:sp>
      <p:pic>
        <p:nvPicPr>
          <p:cNvPr id="25" name="pipeline-click-icon" descr="mouse-pointer-click-blue.png"/>
          <p:cNvPicPr>
            <a:picLocks noChangeAspect="1"/>
          </p:cNvPicPr>
          <p:nvPr/>
        </p:nvPicPr>
        <p:blipFill>
          <a:blip r:embed="rId4"/>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기획서 생성</a:t>
            </a:r>
          </a:p>
          <a:p>
            <a:pPr eaLnBrk="0" algn="ctr">
              <a:lnSpc>
                <a:spcPts val="2531"/>
              </a:lnSpc>
              <a:spcBef>
                <a:spcPts val="0"/>
              </a:spcBef>
              <a:spcAft>
                <a:spcPts val="0"/>
              </a:spcAft>
            </a:pPr>
            <a:r>
              <a:rPr sz="2025" b="1">
                <a:solidFill>
                  <a:srgbClr val="004EA2"/>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Qwen</a:t>
            </a:r>
          </a:p>
        </p:txBody>
      </p:sp>
      <p:pic>
        <p:nvPicPr>
          <p:cNvPr id="28" name="pipeline-icon-652" descr="git-compare-arrows-blue.png"/>
          <p:cNvPicPr>
            <a:picLocks noChangeAspect="1"/>
          </p:cNvPicPr>
          <p:nvPr/>
        </p:nvPicPr>
        <p:blipFill>
          <a:blip r:embed="rId5"/>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지역에 맞는</a:t>
            </a:r>
          </a:p>
          <a:p>
            <a:pPr eaLnBrk="0" algn="ctr">
              <a:lnSpc>
                <a:spcPts val="2062"/>
              </a:lnSpc>
              <a:spcBef>
                <a:spcPts val="0"/>
              </a:spcBef>
              <a:spcAft>
                <a:spcPts val="0"/>
              </a:spcAft>
            </a:pPr>
            <a:r>
              <a:rPr sz="1650" b="0">
                <a:solidFill>
                  <a:srgbClr val="59636E"/>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Gemma</a:t>
            </a:r>
          </a:p>
        </p:txBody>
      </p:sp>
      <p:pic>
        <p:nvPicPr>
          <p:cNvPr id="32" name="pipeline-icon-874" descr="notebook-pen-blue.png"/>
          <p:cNvPicPr>
            <a:picLocks noChangeAspect="1"/>
          </p:cNvPicPr>
          <p:nvPr/>
        </p:nvPicPr>
        <p:blipFill>
          <a:blip r:embed="rId6"/>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선정 근거로</a:t>
            </a:r>
          </a:p>
          <a:p>
            <a:pPr eaLnBrk="0" algn="ctr">
              <a:lnSpc>
                <a:spcPts val="2062"/>
              </a:lnSpc>
              <a:spcBef>
                <a:spcPts val="0"/>
              </a:spcBef>
              <a:spcAft>
                <a:spcPts val="0"/>
              </a:spcAft>
            </a:pPr>
            <a:r>
              <a:rPr sz="1650" b="0">
                <a:solidFill>
                  <a:srgbClr val="59636E"/>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Qwen</a:t>
            </a:r>
          </a:p>
        </p:txBody>
      </p:sp>
      <p:pic>
        <p:nvPicPr>
          <p:cNvPr id="36" name="pipeline-icon-1096" descr="shield-check-blue.png"/>
          <p:cNvPicPr>
            <a:picLocks noChangeAspect="1"/>
          </p:cNvPicPr>
          <p:nvPr/>
        </p:nvPicPr>
        <p:blipFill>
          <a:blip r:embed="rId7"/>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수치·출처와</a:t>
            </a:r>
          </a:p>
          <a:p>
            <a:pPr eaLnBrk="0" algn="ctr">
              <a:lnSpc>
                <a:spcPts val="2062"/>
              </a:lnSpc>
              <a:spcBef>
                <a:spcPts val="0"/>
              </a:spcBef>
              <a:spcAft>
                <a:spcPts val="0"/>
              </a:spcAft>
            </a:pPr>
            <a:r>
              <a:rPr sz="1650" b="0">
                <a:solidFill>
                  <a:srgbClr val="59636E"/>
                </a:solidFill>
                <a:latin typeface="Noto Sans KR"/>
              </a:rPr>
              <a:t>본문 연결 확인</a:t>
            </a:r>
          </a:p>
        </p:txBody>
      </p:sp>
      <p:pic>
        <p:nvPicPr>
          <p:cNvPr id="39" name="pipeline-output-icon" descr="files-blue.png"/>
          <p:cNvPicPr>
            <a:picLocks noChangeAspect="1"/>
          </p:cNvPicPr>
          <p:nvPr/>
        </p:nvPicPr>
        <p:blipFill>
          <a:blip r:embed="rId8"/>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웹</a:t>
            </a:r>
          </a:p>
          <a:p>
            <a:pPr eaLnBrk="0" algn="ctr">
              <a:lnSpc>
                <a:spcPts val="2062"/>
              </a:lnSpc>
              <a:spcBef>
                <a:spcPts val="0"/>
              </a:spcBef>
              <a:spcAft>
                <a:spcPts val="0"/>
              </a:spcAft>
            </a:pPr>
            <a:r>
              <a:rPr sz="1650" b="0">
                <a:solidFill>
                  <a:srgbClr val="59636E"/>
                </a:solidFill>
                <a:latin typeface="Noto Sans KR"/>
              </a:rPr>
              <a:t>PPT · Word</a:t>
            </a:r>
          </a:p>
        </p:txBody>
      </p:sp>
      <p:sp>
        <p:nvSpPr>
          <p:cNvPr id="42" name="pipeline-data-band"/>
          <p:cNvSpPr/>
          <p:nvPr/>
        </p:nvSpPr>
        <p:spPr>
          <a:xfrm>
            <a:off x="1009650" y="6762750"/>
            <a:ext cx="6610350" cy="9620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peline-data-icon" descr="database-blue.png"/>
          <p:cNvPicPr>
            <a:picLocks noChangeAspect="1"/>
          </p:cNvPicPr>
          <p:nvPr/>
        </p:nvPicPr>
        <p:blipFill>
          <a:blip r:embed="rId9"/>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OpenAI는 공식 웹에서 사업 사례와 출처를 조사합니다. 이미 확보한 공식 근거는 재사용합니다.</a:t>
            </a:r>
          </a:p>
        </p:txBody>
      </p:sp>
      <p:sp>
        <p:nvSpPr>
          <p:cNvPr id="53" name="editorial-accent"/>
          <p:cNvSpPr/>
          <p:nvPr/>
        </p:nvSpPr>
        <p:spPr>
          <a:xfrm>
            <a:off x="1009650" y="1704975"/>
            <a:ext cx="752475" cy="3810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editorial-kicker"/>
          <p:cNvSpPr txBox="1"/>
          <p:nvPr/>
        </p:nvSpPr>
        <p:spPr>
          <a:xfrm>
            <a:off x="1009650" y="428625"/>
            <a:ext cx="10477500" cy="26670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a:solidFill>
                  <a:srgbClr val="59636E"/>
                </a:solidFill>
                <a:latin typeface="Noto Sans KR"/>
              </a:rPr>
              <a:t>관광 전략기획안</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59636E"/>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