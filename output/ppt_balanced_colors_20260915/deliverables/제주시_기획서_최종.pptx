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notesMasters/notesMaster1.xml" ContentType="application/vnd.openxmlformats-officedocument.presentationml.notesMaster+xml"/>
  <Override PartName="/ppt/notesMasters/theme/theme3.xml" ContentType="application/vnd.openxmlformats-officedocument.them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Masters/theme/theme2.xml" ContentType="application/vnd.openxmlformats-officedocument.theme+xml"/>
  <Override PartName="/ppt/slides/charts/chart3.xml" ContentType="application/vnd.openxmlformats-officedocument.drawingml.chart+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0c9acad3462d47f4" Type="http://schemas.openxmlformats.org/package/2006/relationships/metadata/core-properties" Target="docProps/core.xml"/><Relationship Id="R45c0ced956484f6e" Type="http://schemas.openxmlformats.org/officeDocument/2006/relationships/officeDocument" Target="ppt/presentation.xml"/><Relationship Id="Ra16f1779ee944664" Type="http://schemas.openxmlformats.org/officeDocument/2006/relationships/extended-properties" Target="docProps/app.xml"/></Relationships>
</file>

<file path=ppt/presentation.xml><?xml version="1.0" encoding="utf-8"?>
<p:presentation xmlns:p="http://schemas.openxmlformats.org/presentationml/2006/main">
  <p:sldMasterIdLst>
    <p:sldMasterId xmlns:r="http://schemas.openxmlformats.org/officeDocument/2006/relationships" id="2147483648" r:id="Rdef75127518841e9"/>
  </p:sldMasterIdLst>
  <p:notesMasterIdLst>
    <p:notesMasterId xmlns:r="http://schemas.openxmlformats.org/officeDocument/2006/relationships" r:id="R39a2950bce3543d9"/>
  </p:notesMasterIdLst>
  <p:sldIdLst>
    <p:sldId xmlns:r="http://schemas.openxmlformats.org/officeDocument/2006/relationships" id="256" r:id="R886a7c7854c24ea4"/>
    <p:sldId xmlns:r="http://schemas.openxmlformats.org/officeDocument/2006/relationships" id="257" r:id="Rf0fd60d93fe24e2b"/>
    <p:sldId xmlns:r="http://schemas.openxmlformats.org/officeDocument/2006/relationships" id="258" r:id="Rb96b5134fc1b4629"/>
    <p:sldId xmlns:r="http://schemas.openxmlformats.org/officeDocument/2006/relationships" id="261" r:id="Rbf371966fa964fc8"/>
    <p:sldId xmlns:ns0="http://schemas.openxmlformats.org/officeDocument/2006/relationships" id="270" ns0:id="rId17"/>
    <p:sldId xmlns:r="http://schemas.openxmlformats.org/officeDocument/2006/relationships" id="259" r:id="R5b6702ccd7664af1"/>
    <p:sldId xmlns:ns0="http://schemas.openxmlformats.org/officeDocument/2006/relationships" id="272" ns0:id="rId18"/>
    <p:sldId xmlns:ns0="http://schemas.openxmlformats.org/officeDocument/2006/relationships" id="271" ns0:id="rId20"/>
    <p:sldId xmlns:r="http://schemas.openxmlformats.org/officeDocument/2006/relationships" id="262" r:id="R4c9d0e3030fa4c5f"/>
    <p:sldId xmlns:r="http://schemas.openxmlformats.org/officeDocument/2006/relationships" id="263" r:id="Rbbe47957bc6641c0"/>
    <p:sldId xmlns:r="http://schemas.openxmlformats.org/officeDocument/2006/relationships" id="264" r:id="R72f63d3229d64861"/>
    <p:sldId xmlns:ns0="http://schemas.openxmlformats.org/officeDocument/2006/relationships" id="273" ns0:id="rId21"/>
    <p:sldId xmlns:r="http://schemas.openxmlformats.org/officeDocument/2006/relationships" id="266" r:id="R029df0519ade4c8b"/>
    <p:sldId xmlns:ns0="http://schemas.openxmlformats.org/officeDocument/2006/relationships" id="268" ns0:id="rId19"/>
    <p:sldId xmlns:r="http://schemas.openxmlformats.org/officeDocument/2006/relationships" id="267" r:id="R3ccf286ad0374944"/>
  </p:sldIdLst>
  <p:sldSz cx="15240000" cy="85725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p:cViewPr>
        <p:scale>
          <a:sx xmlns:a="http://schemas.openxmlformats.org/drawingml/2006/main" n="1" d="1"/>
          <a:sy xmlns:a="http://schemas.openxmlformats.org/drawingml/2006/main" n="1" d="1"/>
        </p:scale>
        <p:origin x="0" y="0"/>
      </p:cViewPr>
      <p:guideLst/>
    </p:cSldViewPr>
  </p:slideViewPr>
  <p:gridSpacing cx="72008" cy="72008"/>
</p:viewPr>
</file>

<file path=ppt/_rels/presentation.xml.rels><?xml version='1.0' encoding='UTF-8' standalone='yes'?>
<Relationships xmlns="http://schemas.openxmlformats.org/package/2006/relationships"><Relationship Id="R029df0519ade4c8b" Type="http://schemas.openxmlformats.org/officeDocument/2006/relationships/slide" Target="slides/slide11.xml"/><Relationship Id="R08a84642cb64493b" Type="http://schemas.openxmlformats.org/officeDocument/2006/relationships/tableStyles" Target="tableStyles.xml"/><Relationship Id="R0fdc956208c94083" Type="http://schemas.openxmlformats.org/officeDocument/2006/relationships/viewProps" Target="viewProps.xml"/><Relationship Id="R39a2950bce3543d9" Type="http://schemas.openxmlformats.org/officeDocument/2006/relationships/notesMaster" Target="notesMasters/notesMaster1.xml"/><Relationship Id="R3ccf286ad0374944" Type="http://schemas.openxmlformats.org/officeDocument/2006/relationships/slide" Target="slides/slide13.xml"/><Relationship Id="R4c9d0e3030fa4c5f" Type="http://schemas.openxmlformats.org/officeDocument/2006/relationships/slide" Target="slides/slide7.xml"/><Relationship Id="R5b6702ccd7664af1" Type="http://schemas.openxmlformats.org/officeDocument/2006/relationships/slide" Target="slides/slide4.xml"/><Relationship Id="R618d7671ebe14b00" Type="http://schemas.openxmlformats.org/officeDocument/2006/relationships/theme" Target="theme/theme1.xml"/><Relationship Id="R667c03bfc37b4314" Type="http://schemas.openxmlformats.org/officeDocument/2006/relationships/presProps" Target="presProps.xml"/><Relationship Id="R72f63d3229d64861" Type="http://schemas.openxmlformats.org/officeDocument/2006/relationships/slide" Target="slides/slide10.xml"/><Relationship Id="R886a7c7854c24ea4" Type="http://schemas.openxmlformats.org/officeDocument/2006/relationships/slide" Target="slides/slide1.xml"/><Relationship Id="Rb96b5134fc1b4629" Type="http://schemas.openxmlformats.org/officeDocument/2006/relationships/slide" Target="slides/slide3.xml"/><Relationship Id="Rbbe47957bc6641c0" Type="http://schemas.openxmlformats.org/officeDocument/2006/relationships/slide" Target="slides/slide8.xml"/><Relationship Id="Rbf371966fa964fc8" Type="http://schemas.openxmlformats.org/officeDocument/2006/relationships/slide" Target="slides/slide5.xml"/><Relationship Id="Rdef75127518841e9" Type="http://schemas.openxmlformats.org/officeDocument/2006/relationships/slideMaster" Target="slideMasters/slideMaster1.xml"/><Relationship Id="Rf0fd60d93fe24e2b" Type="http://schemas.openxmlformats.org/officeDocument/2006/relationships/slide" Target="slides/slide2.xml"/><Relationship Id="rId17" Type="http://schemas.openxmlformats.org/officeDocument/2006/relationships/slide" Target="slides/slide9.xml"/><Relationship Id="rId18" Type="http://schemas.openxmlformats.org/officeDocument/2006/relationships/slide" Target="slides/slide14.xml"/><Relationship Id="rId19" Type="http://schemas.openxmlformats.org/officeDocument/2006/relationships/slide" Target="slides/slide12.xml"/><Relationship Id="rId20" Type="http://schemas.openxmlformats.org/officeDocument/2006/relationships/slide" Target="slides/slide6.xml"/><Relationship Id="rId21" Type="http://schemas.openxmlformats.org/officeDocument/2006/relationships/slide" Target="slides/slide15.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만&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361.5062</c:v>
                </c:pt>
                <c:pt idx="1">
                  <c:v>359.431</c:v>
                </c:pt>
                <c:pt idx="2">
                  <c:v>337.0793</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만&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367.53130333</c:v>
                </c:pt>
                <c:pt idx="1">
                  <c:v>371.41203333</c:v>
                </c:pt>
                <c:pt idx="2">
                  <c:v>353.933265</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400.0"/>
          <c:min val="32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20.0"/>
      </c:valAx>
    </c:plotArea>
    <c:plotVisOnly val="1"/>
    <c:dispBlanksAs val="gap"/>
    <c:showDLblsOverMax val="0"/>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0"/>
    <c:plotArea>
      <c:lineChart>
        <c:grouping val="standard"/>
        <c:varyColors val="0"/>
        <c:ser>
          <c:idx val="0"/>
          <c:order val="0"/>
          <c:tx>
            <c:strRef>
              <c:f>Sheet1!$B$1</c:f>
              <c:strCache>
                <c:ptCount val="1"/>
                <c:pt idx="0">
                  <c:v>ML 기준 전망</c:v>
                </c:pt>
              </c:strCache>
            </c:strRef>
          </c:tx>
          <c:spPr>
            <a:ln w="31750">
              <a:solidFill>
                <a:srgbClr val="36A69C"/>
              </a:solidFill>
            </a:ln>
          </c:spPr>
          <c:marker>
            <c:symbol val="circle"/>
            <c:size val="7"/>
            <c:spPr>
              <a:solidFill>
                <a:srgbClr val="36A69C"/>
              </a:solidFill>
            </c:spPr>
          </c:marker>
          <c:dLbls>
            <c:numFmt formatCode="0&quot;억&quot;" sourceLinked="0"/>
            <c:txPr>
              <a:bodyPr/>
              <a:lstStyle/>
              <a:p>
                <a:pPr>
                  <a:defRPr sz="1200" b="1">
                    <a:solidFill>
                      <a:srgbClr val="36A69C"/>
                    </a:solidFill>
                    <a:latin typeface="Noto Sans KR"/>
                  </a:defRPr>
                </a:pPr>
              </a:p>
            </c:txPr>
            <c:dLblPos val="b"/>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Sheet1!$B$2:$B$4</c:f>
              <c:numCache>
                <c:formatCode>General</c:formatCode>
                <c:ptCount val="3"/>
                <c:pt idx="0">
                  <c:v>1504.67072839</c:v>
                </c:pt>
                <c:pt idx="1">
                  <c:v>1450.85139974</c:v>
                </c:pt>
                <c:pt idx="2">
                  <c:v>1493.66639508</c:v>
                </c:pt>
              </c:numCache>
            </c:numRef>
          </c:val>
          <c:smooth val="0"/>
        </c:ser>
        <c:ser>
          <c:idx val="1"/>
          <c:order val="1"/>
          <c:tx>
            <c:strRef>
              <c:f>Sheet1!$C$1</c:f>
              <c:strCache>
                <c:ptCount val="1"/>
                <c:pt idx="0">
                  <c:v>목표 KPI</c:v>
                </c:pt>
              </c:strCache>
            </c:strRef>
          </c:tx>
          <c:spPr>
            <a:ln w="31750">
              <a:solidFill>
                <a:srgbClr val="F50045"/>
              </a:solidFill>
            </a:ln>
          </c:spPr>
          <c:marker>
            <c:symbol val="circle"/>
            <c:size val="7"/>
            <c:spPr>
              <a:solidFill>
                <a:srgbClr val="F50045"/>
              </a:solidFill>
            </c:spPr>
          </c:marker>
          <c:dLbls>
            <c:numFmt formatCode="0&quot;억&quot;" sourceLinked="0"/>
            <c:txPr>
              <a:bodyPr/>
              <a:lstStyle/>
              <a:p>
                <a:pPr>
                  <a:defRPr sz="1200" b="1">
                    <a:solidFill>
                      <a:srgbClr val="F50045"/>
                    </a:solidFill>
                    <a:latin typeface="Noto Sans KR"/>
                  </a:defRPr>
                </a:pPr>
              </a:p>
            </c:txPr>
            <c:dLblPos val="t"/>
            <c:showLegendKey val="0"/>
            <c:showVal val="1"/>
            <c:showCatName val="0"/>
            <c:showSerName val="0"/>
            <c:showPercent val="0"/>
            <c:showBubbleSize val="0"/>
            <c:showLeaderLines val="1"/>
          </c:dLbls>
          <c:cat>
            <c:strRef>
              <c:f>Sheet1!$A$2:$A$4</c:f>
              <c:strCache>
                <c:ptCount val="3"/>
                <c:pt idx="0">
                  <c:v>26.10</c:v>
                </c:pt>
                <c:pt idx="1">
                  <c:v>26.11</c:v>
                </c:pt>
                <c:pt idx="2">
                  <c:v>26.12</c:v>
                </c:pt>
              </c:strCache>
            </c:strRef>
          </c:cat>
          <c:val>
            <c:numRef>
              <c:f>Sheet1!$C$2:$C$4</c:f>
              <c:numCache>
                <c:formatCode>General</c:formatCode>
                <c:ptCount val="3"/>
                <c:pt idx="0">
                  <c:v>1529.74857386</c:v>
                </c:pt>
                <c:pt idx="1">
                  <c:v>1499.21311306</c:v>
                </c:pt>
                <c:pt idx="2">
                  <c:v>1568.34971483</c:v>
                </c:pt>
              </c:numCache>
            </c:numRef>
          </c:val>
          <c:smooth val="0"/>
        </c:ser>
        <c:dLbls>
          <c:showLegendKey val="0"/>
          <c:showVal val="1"/>
          <c:showCatName val="0"/>
          <c:showSerName val="0"/>
          <c:showPercent val="0"/>
          <c:showBubbleSize val="0"/>
          <c:showLeaderLines val="1"/>
        </c:dLbls>
        <c:marker val="1"/>
        <c:smooth val="0"/>
        <c:axId val="2118791784"/>
        <c:axId val="2140495176"/>
      </c:lineChart>
      <c:catAx>
        <c:axId val="2118791784"/>
        <c:scaling>
          <c:orientation val="minMax"/>
        </c:scaling>
        <c:delete val="0"/>
        <c:axPos val="b"/>
        <c:majorTickMark val="out"/>
        <c:minorTickMark val="none"/>
        <c:tickLblPos val="low"/>
        <c:spPr>
          <a:ln>
            <a:solidFill>
              <a:srgbClr val="DCE5EF"/>
            </a:solidFill>
          </a:ln>
        </c:spPr>
        <c:txPr>
          <a:bodyPr/>
          <a:lstStyle/>
          <a:p>
            <a:pPr>
              <a:defRPr sz="1300">
                <a:solidFill>
                  <a:srgbClr val="59636E"/>
                </a:solidFill>
                <a:latin typeface="Noto Sans KR"/>
              </a:defRPr>
            </a:pPr>
          </a:p>
        </c:txPr>
        <c:crossAx val="2140495176"/>
        <c:crosses val="autoZero"/>
        <c:auto val="1"/>
        <c:lblAlgn val="ctr"/>
        <c:lblOffset val="100"/>
        <c:noMultiLvlLbl val="0"/>
      </c:catAx>
      <c:valAx>
        <c:axId val="2140495176"/>
        <c:scaling>
          <c:max val="1650.0"/>
          <c:min val="1350.0"/>
        </c:scaling>
        <c:delete val="0"/>
        <c:axPos val="l"/>
        <c:majorGridlines>
          <c:spPr>
            <a:ln>
              <a:solidFill>
                <a:srgbClr val="DCE5EF"/>
              </a:solidFill>
            </a:ln>
          </c:spPr>
        </c:majorGridlines>
        <c:numFmt formatCode="#,##0" sourceLinked="0"/>
        <c:majorTickMark val="out"/>
        <c:minorTickMark val="none"/>
        <c:tickLblPos val="nextTo"/>
        <c:spPr>
          <a:ln>
            <a:solidFill>
              <a:srgbClr val="DCE5EF"/>
            </a:solidFill>
          </a:ln>
        </c:spPr>
        <c:txPr>
          <a:bodyPr/>
          <a:lstStyle/>
          <a:p>
            <a:pPr>
              <a:defRPr sz="1300">
                <a:solidFill>
                  <a:srgbClr val="59636E"/>
                </a:solidFill>
                <a:latin typeface="Noto Sans KR"/>
              </a:defRPr>
            </a:pPr>
          </a:p>
        </c:txPr>
        <c:crossAx val="2118791784"/>
        <c:crosses val="autoZero"/>
        <c:majorUnit val="50.0"/>
      </c:valAx>
    </c:plotArea>
    <c:plotVisOnly val="1"/>
    <c:dispBlanksAs val="gap"/>
    <c:showDLblsOverMax val="0"/>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-2.997033</c:v>
                </c:pt>
                <c:pt idx="1">
                  <c:v>-0.394767</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0.8391692400000001"/>
          <c:min val="-3.8362022400000004"/>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style val="2"/>
  <c:chart>
    <c:autoTitleDeleted val="1"/>
    <c:plotArea>
      <c:barChart>
        <c:barDir val="bar"/>
        <c:grouping val="clustered"/>
        <c:ser>
          <c:idx val="0"/>
          <c:order val="0"/>
          <c:tx>
            <c:strRef>
              <c:f>Sheet1!$B$1</c:f>
              <c:strCache>
                <c:ptCount val="1"/>
                <c:pt idx="0">
                  <c:v>전년 동기 대비 증가율</c:v>
                </c:pt>
              </c:strCache>
            </c:strRef>
          </c:tx>
          <c:invertIfNegative val="0"/>
          <c:dPt>
            <c:idx val="0"/>
            <c:invertIfNegative val="0"/>
            <c:spPr>
              <a:solidFill>
                <a:srgbClr val="F50045"/>
              </a:solidFill>
              <a:ln>
                <a:noFill/>
              </a:ln>
            </c:spPr>
          </c:dPt>
          <c:dPt>
            <c:idx val="1"/>
            <c:invertIfNegative val="0"/>
            <c:spPr>
              <a:solidFill>
                <a:srgbClr val="36A69C"/>
              </a:solidFill>
              <a:ln>
                <a:noFill/>
              </a:ln>
            </c:spPr>
          </c:dPt>
          <c:cat>
            <c:strRef>
              <c:f>Sheet1!$A$2:$A$3</c:f>
              <c:strCache>
                <c:ptCount val="2"/>
                <c:pt idx="0">
                  <c:v>제주시</c:v>
                </c:pt>
                <c:pt idx="1">
                  <c:v>전국 비교 평균</c:v>
                </c:pt>
              </c:strCache>
            </c:strRef>
          </c:cat>
          <c:val>
            <c:numRef>
              <c:f>Sheet1!$B$2:$B$3</c:f>
              <c:numCache>
                <c:formatCode>General</c:formatCode>
                <c:ptCount val="2"/>
                <c:pt idx="0">
                  <c:v>-0.344216</c:v>
                </c:pt>
                <c:pt idx="1">
                  <c:v>6.640909</c:v>
                </c:pt>
              </c:numCache>
            </c:numRef>
          </c:val>
        </c:ser>
        <c:dLbls>
          <c:numFmt formatCode="+0.00&quot;%&quot;;-0.00&quot;%&quot;;0.00&quot;%&quot;" sourceLinked="0"/>
          <c:txPr>
            <a:bodyPr/>
            <a:lstStyle/>
            <a:p>
              <a:pPr>
                <a:defRPr sz="1600" b="1">
                  <a:solidFill>
                    <a:srgbClr val="F50045"/>
                  </a:solidFill>
                  <a:latin typeface="Noto Sans KR"/>
                </a:defRPr>
              </a:pPr>
            </a:p>
          </c:txPr>
          <c:dLblPos val="outEnd"/>
          <c:showLegendKey val="0"/>
          <c:showVal val="1"/>
          <c:showCatName val="0"/>
          <c:showSerName val="0"/>
          <c:showPercent val="0"/>
          <c:showBubbleSize val="0"/>
          <c:showLeaderLines val="1"/>
        </c:dLbls>
        <c:gapWidth val="115"/>
        <c:axId val="2068027336"/>
        <c:axId val="2113994440"/>
      </c:barChart>
      <c:catAx>
        <c:axId val="2068027336"/>
        <c:scaling>
          <c:orientation val="maxMin"/>
        </c:scaling>
        <c:delete val="0"/>
        <c:axPos val="l"/>
        <c:majorTickMark val="none"/>
        <c:minorTickMark val="none"/>
        <c:tickLblPos val="low"/>
        <c:spPr>
          <a:ln>
            <a:solidFill>
              <a:srgbClr val="C8D7E3"/>
            </a:solidFill>
          </a:ln>
        </c:spPr>
        <c:txPr>
          <a:bodyPr/>
          <a:lstStyle/>
          <a:p>
            <a:pPr>
              <a:defRPr sz="1500">
                <a:solidFill>
                  <a:srgbClr val="59636E"/>
                </a:solidFill>
                <a:latin typeface="Noto Sans KR"/>
              </a:defRPr>
            </a:pPr>
          </a:p>
        </c:txPr>
        <c:crossAx val="2113994440"/>
        <c:crosses val="autoZero"/>
        <c:auto val="1"/>
        <c:lblAlgn val="ctr"/>
        <c:lblOffset val="100"/>
        <c:noMultiLvlLbl val="0"/>
      </c:catAx>
      <c:valAx>
        <c:axId val="2113994440"/>
        <c:scaling>
          <c:max val="8.596744"/>
          <c:min val="-2.3000510000000003"/>
        </c:scaling>
        <c:delete val="0"/>
        <c:axPos val="b"/>
        <c:majorTickMark val="none"/>
        <c:minorTickMark val="none"/>
        <c:tickLblPos val="none"/>
        <c:spPr>
          <a:ln>
            <a:noFill/>
          </a:ln>
        </c:spPr>
        <c:crossAx val="2068027336"/>
        <c:crosses val="autoZero"/>
      </c:valAx>
    </c:plotArea>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c221e18921444c36" Type="http://schemas.openxmlformats.org/officeDocument/2006/relationships/theme" Target="theme/theme3.xml"/></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xml version='1.0' encoding='UTF-8' standalone='yes'?>
<Relationships xmlns="http://schemas.openxmlformats.org/package/2006/relationships"><Relationship Id="R24ae6f84cfdd4244" Type="http://schemas.openxmlformats.org/officeDocument/2006/relationships/notesMaster" Target="../notesMasters/notesMaster1.xml"/><Relationship Id="R88f0191c0919446c"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441d388ffb344ce3" Type="http://schemas.openxmlformats.org/officeDocument/2006/relationships/slide" Target="../slides/slide2.xml"/><Relationship Id="Ra78cbacf853a4d2c"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3ac37f364ddb4b5a" Type="http://schemas.openxmlformats.org/officeDocument/2006/relationships/notesMaster" Target="../notesMasters/notesMaster1.xml"/><Relationship Id="R533025fa502d4be3"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4df52324b55d4359" Type="http://schemas.openxmlformats.org/officeDocument/2006/relationships/slide" Target="../slides/slide4.xml"/><Relationship Id="Rc24a4727af3340de"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6.xml.rels><?xml version='1.0' encoding='UTF-8' standalone='yes'?>
<Relationships xmlns="http://schemas.openxmlformats.org/package/2006/relationships"><Relationship Id="R0f673709257246ec" Type="http://schemas.openxmlformats.org/officeDocument/2006/relationships/slide" Target="../slides/slide5.xml"/><Relationship Id="R8a8db54fee034818"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24a20545e0fc4e86" Type="http://schemas.openxmlformats.org/officeDocument/2006/relationships/slide" Target="../slides/slide7.xml"/><Relationship Id="Rfa2c23df5fe342e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2.xml.rels><?xml version='1.0' encoding='UTF-8' standalone='yes'?>
<Relationships xmlns="http://schemas.openxmlformats.org/package/2006/relationships"><Relationship Id="R990bca06bbea4ea5" Type="http://schemas.openxmlformats.org/officeDocument/2006/relationships/slide" Target="../slides/slide13.xml"/><Relationship Id="Rd1e7cf7dd1634167"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표지 사진 출처: {"source_id": "tour-api:127870", "source_type": "open_api", "title": "곽지해수욕장", "source_url": "https://apis.data.go.kr/B551011/KorService2", "content_id": "127870", "content_type_id": "12", "address": "제주특별자치도 제주시 애월읍 곽지리 1565", "image_url": "http://tong.visitkorea.or.kr/cms/resource/30/3053130_image2_1.jpg",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"comparison": {</a:t>
            </a:r>
          </a:p>
          <a:p xmlns:a="http://schemas.openxmlformats.org/drawingml/2006/main">
            <a:r>
              <a:t>    "count": 249,</a:t>
            </a:r>
          </a:p>
          <a:p xmlns:a="http://schemas.openxmlformats.org/drawingml/2006/main">
            <a:r>
              <a:t>    "months": [</a:t>
            </a:r>
          </a:p>
          <a:p xmlns:a="http://schemas.openxmlformats.org/drawingml/2006/main">
            <a:r>
              <a:t>      "202610",</a:t>
            </a:r>
          </a:p>
          <a:p xmlns:a="http://schemas.openxmlformats.org/drawingml/2006/main">
            <a:r>
              <a:t>      "202611",</a:t>
            </a:r>
          </a:p>
          <a:p xmlns:a="http://schemas.openxmlformats.org/drawingml/2006/main">
            <a:r>
              <a:t>      "202612"</a:t>
            </a:r>
          </a:p>
          <a:p xmlns:a="http://schemas.openxmlformats.org/drawingml/2006/main">
            <a:r>
              <a:t>    ],</a:t>
            </a:r>
          </a:p>
          <a:p xmlns:a="http://schemas.openxmlformats.org/drawingml/2006/main">
            <a:r>
              <a:t>    "origin": "202606",</a:t>
            </a:r>
          </a:p>
          <a:p xmlns:a="http://schemas.openxmlformats.org/drawingml/2006/main">
            <a:r>
              <a:t>    "signature": "2a35a8f6f8ef70b97e33e89bf2f4acd874752220ed520b852868587f35b8232f",</a:t>
            </a:r>
          </a:p>
          <a:p xmlns:a="http://schemas.openxmlformats.org/drawingml/2006/main">
            <a:r>
              <a:t>    "region_code": "50110",</a:t>
            </a:r>
          </a:p>
          <a:p xmlns:a="http://schemas.openxmlformats.org/drawingml/2006/main">
            <a:r>
              <a:t>    "metrics": {</a:t>
            </a:r>
          </a:p>
          <a:p xmlns:a="http://schemas.openxmlformats.org/drawingml/2006/main">
            <a:r>
              <a:t>      "visitors": {</a:t>
            </a:r>
          </a:p>
          <a:p xmlns:a="http://schemas.openxmlformats.org/drawingml/2006/main">
            <a:r>
              <a:t>        "forecast": [</a:t>
            </a:r>
          </a:p>
          <a:p xmlns:a="http://schemas.openxmlformats.org/drawingml/2006/main">
            <a:r>
              <a:t>          3615062,</a:t>
            </a:r>
          </a:p>
          <a:p xmlns:a="http://schemas.openxmlformats.org/drawingml/2006/main">
            <a:r>
              <a:t>          3594310,</a:t>
            </a:r>
          </a:p>
          <a:p xmlns:a="http://schemas.openxmlformats.org/drawingml/2006/main">
            <a:r>
              <a:t>          3370793</a:t>
            </a:r>
          </a:p>
          <a:p xmlns:a="http://schemas.openxmlformats.org/drawingml/2006/main">
            <a:r>
              <a:t>        ],</a:t>
            </a:r>
          </a:p>
          <a:p xmlns:a="http://schemas.openxmlformats.org/drawingml/2006/main">
            <a:r>
              <a:t>        "previous": [</a:t>
            </a:r>
          </a:p>
          <a:p xmlns:a="http://schemas.openxmlformats.org/drawingml/2006/main">
            <a:r>
              <a:t>          3904808.0,</a:t>
            </a:r>
          </a:p>
          <a:p xmlns:a="http://schemas.openxmlformats.org/drawingml/2006/main">
            <a:r>
              <a:t>          3591286.0,</a:t>
            </a:r>
          </a:p>
          <a:p xmlns:a="http://schemas.openxmlformats.org/drawingml/2006/main">
            <a:r>
              <a:t>          3410959.0</a:t>
            </a:r>
          </a:p>
          <a:p xmlns:a="http://schemas.openxmlformats.org/drawingml/2006/main">
            <a:r>
              <a:t>        ],</a:t>
            </a:r>
          </a:p>
          <a:p xmlns:a="http://schemas.openxmlformats.org/drawingml/2006/main">
            <a:r>
              <a:t>        "growth_pct": -2.9970332041111325,</a:t>
            </a:r>
          </a:p>
          <a:p xmlns:a="http://schemas.openxmlformats.org/drawingml/2006/main">
            <a:r>
              <a:t>        "national_mean_pct": -0.394766937691683,</a:t>
            </a:r>
          </a:p>
          <a:p xmlns:a="http://schemas.openxmlformats.org/drawingml/2006/main">
            <a:r>
              <a:t>        "gap_pp": -2.6022662664194494,</a:t>
            </a:r>
          </a:p>
          <a:p xmlns:a="http://schemas.openxmlformats.org/drawingml/2006/main">
            <a:r>
              <a:t>        "rank": 208,</a:t>
            </a:r>
          </a:p>
          <a:p xmlns:a="http://schemas.openxmlformats.org/drawingml/2006/main">
            <a:r>
              <a:t>        "target_growth_pct": 0.19907317463907503,</a:t>
            </a:r>
          </a:p>
          <a:p xmlns:a="http://schemas.openxmlformats.org/drawingml/2006/main">
            <a:r>
              <a:t>        "target_rank": 87,</a:t>
            </a:r>
          </a:p>
          <a:p xmlns:a="http://schemas.openxmlformats.org/drawingml/2006/main">
            <a:r>
              <a:t>        "target": [</a:t>
            </a:r>
          </a:p>
          <a:p xmlns:a="http://schemas.openxmlformats.org/drawingml/2006/main">
            <a:r>
              <a:t>          3675313.033333333,</a:t>
            </a:r>
          </a:p>
          <a:p xmlns:a="http://schemas.openxmlformats.org/drawingml/2006/main">
            <a:r>
              <a:t>          3714120.3333333335,</a:t>
            </a:r>
          </a:p>
          <a:p xmlns:a="http://schemas.openxmlformats.org/drawingml/2006/main">
            <a:r>
              <a:t>          3539332.6500000004</a:t>
            </a:r>
          </a:p>
          <a:p xmlns:a="http://schemas.openxmlformats.org/drawingml/2006/main">
            <a:r>
              <a:t>        ],</a:t>
            </a:r>
          </a:p>
          <a:p xmlns:a="http://schemas.openxmlformats.org/drawingml/2006/main">
            <a:r>
              <a:t>        "additional": 348601.01666666754</a:t>
            </a:r>
          </a:p>
          <a:p xmlns:a="http://schemas.openxmlformats.org/drawingml/2006/main">
            <a:r>
              <a:t>      },</a:t>
            </a:r>
          </a:p>
          <a:p xmlns:a="http://schemas.openxmlformats.org/drawingml/2006/main">
            <a:r>
              <a:t>      "spending": {</a:t>
            </a:r>
          </a:p>
          <a:p xmlns:a="http://schemas.openxmlformats.org/drawingml/2006/main">
            <a:r>
              <a:t>        "forecast": [</a:t>
            </a:r>
          </a:p>
          <a:p xmlns:a="http://schemas.openxmlformats.org/drawingml/2006/main">
            <a:r>
              <a:t>          150467072839,</a:t>
            </a:r>
          </a:p>
          <a:p xmlns:a="http://schemas.openxmlformats.org/drawingml/2006/main">
            <a:r>
              <a:t>          145085139974,</a:t>
            </a:r>
          </a:p>
          <a:p xmlns:a="http://schemas.openxmlformats.org/drawingml/2006/main">
            <a:r>
              <a:t>          149366639508</a:t>
            </a:r>
          </a:p>
          <a:p xmlns:a="http://schemas.openxmlformats.org/drawingml/2006/main">
            <a:r>
              <a:t>        ],</a:t>
            </a:r>
          </a:p>
          <a:p xmlns:a="http://schemas.openxmlformats.org/drawingml/2006/main">
            <a:r>
              <a:t>        "previous": [</a:t>
            </a:r>
          </a:p>
          <a:p xmlns:a="http://schemas.openxmlformats.org/drawingml/2006/main">
            <a:r>
              <a:t>          154337552000.0,</a:t>
            </a:r>
          </a:p>
          <a:p xmlns:a="http://schemas.openxmlformats.org/drawingml/2006/main">
            <a:r>
              <a:t>          143894918000.0,</a:t>
            </a:r>
          </a:p>
          <a:p xmlns:a="http://schemas.openxmlformats.org/drawingml/2006/main">
            <a:r>
              <a:t>          148223154000.0</a:t>
            </a:r>
          </a:p>
          <a:p xmlns:a="http://schemas.openxmlformats.org/drawingml/2006/main">
            <a:r>
              <a:t>        ],</a:t>
            </a:r>
          </a:p>
          <a:p xmlns:a="http://schemas.openxmlformats.org/drawingml/2006/main">
            <a:r>
              <a:t>        "growth_pct": -0.344215997377606,</a:t>
            </a:r>
          </a:p>
          <a:p xmlns:a="http://schemas.openxmlformats.org/drawingml/2006/main">
            <a:r>
              <a:t>        "national_mean_pct": 6.640909128955906,</a:t>
            </a:r>
          </a:p>
          <a:p xmlns:a="http://schemas.openxmlformats.org/drawingml/2006/main">
            <a:r>
              <a:t>        "gap_pp": -6.985125126333513,</a:t>
            </a:r>
          </a:p>
          <a:p xmlns:a="http://schemas.openxmlformats.org/drawingml/2006/main">
            <a:r>
              <a:t>        "rank": 228,</a:t>
            </a:r>
          </a:p>
          <a:p xmlns:a="http://schemas.openxmlformats.org/drawingml/2006/main">
            <a:r>
              <a:t>        "target_growth_pct": 2.9735354338785047,</a:t>
            </a:r>
          </a:p>
          <a:p xmlns:a="http://schemas.openxmlformats.org/drawingml/2006/main">
            <a:r>
              <a:t>        "target_rank": 68,</a:t>
            </a:r>
          </a:p>
          <a:p xmlns:a="http://schemas.openxmlformats.org/drawingml/2006/main">
            <a:r>
              <a:t>        "target": [</a:t>
            </a:r>
          </a:p>
          <a:p xmlns:a="http://schemas.openxmlformats.org/drawingml/2006/main">
            <a:r>
              <a:t>          152974857386.31665,</a:t>
            </a:r>
          </a:p>
          <a:p xmlns:a="http://schemas.openxmlformats.org/drawingml/2006/main">
            <a:r>
              <a:t>          149921311306.46667,</a:t>
            </a:r>
          </a:p>
          <a:p xmlns:a="http://schemas.openxmlformats.org/drawingml/2006/main">
            <a:r>
              <a:t>          156834971483.40002</a:t>
            </a:r>
          </a:p>
          <a:p xmlns:a="http://schemas.openxmlformats.org/drawingml/2006/main">
            <a:r>
              <a:t>        ],</a:t>
            </a:r>
          </a:p>
          <a:p xmlns:a="http://schemas.openxmlformats.org/drawingml/2006/main">
            <a:r>
              <a:t>        "additional": 14812287855.18335</a:t>
            </a:r>
          </a:p>
          <a:p xmlns:a="http://schemas.openxmlformats.org/drawingml/2006/main">
            <a:r>
              <a:t>      }</a:t>
            </a:r>
          </a:p>
          <a:p xmlns:a="http://schemas.openxmlformats.org/drawingml/2006/main">
            <a:r>
              <a:t>    },</a:t>
            </a:r>
          </a:p>
          <a:p xmlns:a="http://schemas.openxmlformats.org/drawingml/2006/main">
            <a:r>
              <a:t>    "population_adjusted": false,</a:t>
            </a:r>
          </a:p>
          <a:p xmlns:a="http://schemas.openxmlformats.org/drawingml/2006/main">
            <a:r>
              <a:t>    "cohort": [</a:t>
            </a:r>
          </a:p>
          <a:p xmlns:a="http://schemas.openxmlformats.org/drawingml/2006/main">
            <a:r>
              <a:t>      {</a:t>
            </a:r>
          </a:p>
          <a:p xmlns:a="http://schemas.openxmlformats.org/drawingml/2006/main">
            <a:r>
              <a:t>        "region_code": "28245",</a:t>
            </a:r>
          </a:p>
          <a:p xmlns:a="http://schemas.openxmlformats.org/drawingml/2006/main">
            <a:r>
              <a:t>        "region_name": "인천광역시 계양구",</a:t>
            </a:r>
          </a:p>
          <a:p xmlns:a="http://schemas.openxmlformats.org/drawingml/2006/main">
            <a:r>
              <a:t>        "visitors_yoy_pct": -0.181730776849387,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"11110",</a:t>
            </a:r>
          </a:p>
          <a:p xmlns:a="http://schemas.openxmlformats.org/drawingml/2006/main">
            <a:r>
              <a:t>        "region_name": "서울특별시 종로구",</a:t>
            </a:r>
          </a:p>
          <a:p xmlns:a="http://schemas.openxmlformats.org/drawingml/2006/main">
            <a:r>
              <a:t>        "visitors_yoy_pct": 0.22058697128235494,</a:t>
            </a:r>
          </a:p>
          <a:p xmlns:a="http://schemas.openxmlformats.org/drawingml/2006/main">
            <a:r>
              <a:t>        "spending_yoy_pct": 4.580217217936977</a:t>
            </a:r>
          </a:p>
          <a:p xmlns:a="http://schemas.openxmlformats.org/drawingml/2006/main">
            <a:r>
              <a:t>      },</a:t>
            </a:r>
          </a:p>
          <a:p xmlns:a="http://schemas.openxmlformats.org/drawingml/2006/main">
            <a:r>
              <a:t>      {</a:t>
            </a:r>
          </a:p>
          <a:p xmlns:a="http://schemas.openxmlformats.org/drawingml/2006/main">
            <a:r>
              <a:t>        "region_code": "11140",</a:t>
            </a:r>
          </a:p>
          <a:p xmlns:a="http://schemas.openxmlformats.org/drawingml/2006/main">
            <a:r>
              <a:t>        "region_name": "서울특별시 중구",</a:t>
            </a:r>
          </a:p>
          <a:p xmlns:a="http://schemas.openxmlformats.org/drawingml/2006/main">
            <a:r>
              <a:t>        "visitors_yoy_pct": -4.979614214123506,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"11170",</a:t>
            </a:r>
          </a:p>
          <a:p xmlns:a="http://schemas.openxmlformats.org/drawingml/2006/main">
            <a:r>
              <a:t>        "region_name": "서울특별시 용산구",</a:t>
            </a:r>
          </a:p>
          <a:p xmlns:a="http://schemas.openxmlformats.org/drawingml/2006/main">
            <a:r>
              <a:t>        "visitors_yoy_pct": -0.3378475483719168,</a:t>
            </a:r>
          </a:p>
          <a:p xmlns:a="http://schemas.openxmlformats.org/drawingml/2006/main">
            <a:r>
              <a:t>        "spending_yoy_pct": 17.74232531130686</a:t>
            </a:r>
          </a:p>
          <a:p xmlns:a="http://schemas.openxmlformats.org/drawingml/2006/main">
            <a:r>
              <a:t>      },</a:t>
            </a:r>
          </a:p>
          <a:p xmlns:a="http://schemas.openxmlformats.org/drawingml/2006/main">
            <a:r>
              <a:t>      {</a:t>
            </a:r>
          </a:p>
          <a:p xmlns:a="http://schemas.openxmlformats.org/drawingml/2006/main">
            <a:r>
              <a:t>        "region_code": "11200",</a:t>
            </a:r>
          </a:p>
          <a:p xmlns:a="http://schemas.openxmlformats.org/drawingml/2006/main">
            <a:r>
              <a:t>        "region_name": "서울특별시 성동구",</a:t>
            </a:r>
          </a:p>
          <a:p xmlns:a="http://schemas.openxmlformats.org/drawingml/2006/main">
            <a:r>
              <a:t>        "visitors_yoy_pct": 2.5969573020728554,</a:t>
            </a:r>
          </a:p>
          <a:p xmlns:a="http://schemas.openxmlformats.org/drawingml/2006/main">
            <a:r>
              <a:t>        "spending_yoy_pct": 5.2897098661769615</a:t>
            </a:r>
          </a:p>
          <a:p xmlns:a="http://schemas.openxmlformats.org/drawingml/2006/main">
            <a:r>
              <a:t>      },</a:t>
            </a:r>
          </a:p>
          <a:p xmlns:a="http://schemas.openxmlformats.org/drawingml/2006/main">
            <a:r>
              <a:t>      {</a:t>
            </a:r>
          </a:p>
          <a:p xmlns:a="http://schemas.openxmlformats.org/drawingml/2006/main">
            <a:r>
              <a:t>        "region_code": "11215",</a:t>
            </a:r>
          </a:p>
          <a:p xmlns:a="http://schemas.openxmlformats.org/drawingml/2006/main">
            <a:r>
              <a:t>        "region_name": "서울특별시 광진구",</a:t>
            </a:r>
          </a:p>
          <a:p xmlns:a="http://schemas.openxmlformats.org/drawingml/2006/main">
            <a:r>
              <a:t>        "visitors_yoy_pct": 3.8434435752205065,</a:t>
            </a:r>
          </a:p>
          <a:p xmlns:a="http://schemas.openxmlformats.org/drawingml/2006/main">
            <a:r>
              <a:t>        "spending_yoy_pct": 15.750677281894143</a:t>
            </a:r>
          </a:p>
          <a:p xmlns:a="http://schemas.openxmlformats.org/drawingml/2006/main">
            <a:r>
              <a:t>      },</a:t>
            </a:r>
          </a:p>
          <a:p xmlns:a="http://schemas.openxmlformats.org/drawingml/2006/main">
            <a:r>
              <a:t>      {</a:t>
            </a:r>
          </a:p>
          <a:p xmlns:a="http://schemas.openxmlformats.org/drawingml/2006/main">
            <a:r>
              <a:t>        "region_code": "11230",</a:t>
            </a:r>
          </a:p>
          <a:p xmlns:a="http://schemas.openxmlformats.org/drawingml/2006/main">
            <a:r>
              <a:t>        "region_name": "서울특별시 동대문구",</a:t>
            </a:r>
          </a:p>
          <a:p xmlns:a="http://schemas.openxmlformats.org/drawingml/2006/main">
            <a:r>
              <a:t>        "visitors_yoy_pct": 3.9319477713267714,</a:t>
            </a:r>
          </a:p>
          <a:p xmlns:a="http://schemas.openxmlformats.org/drawingml/2006/main">
            <a:r>
              <a:t>        "spending_yoy_pct": 4.008665139200995</a:t>
            </a:r>
          </a:p>
          <a:p xmlns:a="http://schemas.openxmlformats.org/drawingml/2006/main">
            <a:r>
              <a:t>      },</a:t>
            </a:r>
          </a:p>
          <a:p xmlns:a="http://schemas.openxmlformats.org/drawingml/2006/main">
            <a:r>
              <a:t>      {</a:t>
            </a:r>
          </a:p>
          <a:p xmlns:a="http://schemas.openxmlformats.org/drawingml/2006/main">
            <a:r>
              <a:t>        "region_code": "11260",</a:t>
            </a:r>
          </a:p>
          <a:p xmlns:a="http://schemas.openxmlformats.org/drawingml/2006/main">
            <a:r>
              <a:t>        "region_name": "서울특별시 중랑구",</a:t>
            </a:r>
          </a:p>
          <a:p xmlns:a="http://schemas.openxmlformats.org/drawingml/2006/main">
            <a:r>
              <a:t>        "visitors_yoy_pct": 0.06390882102844664,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"11290",</a:t>
            </a:r>
          </a:p>
          <a:p xmlns:a="http://schemas.openxmlformats.org/drawingml/2006/main">
            <a:r>
              <a:t>        "region_name": "서울특별시 성북구",</a:t>
            </a:r>
          </a:p>
          <a:p xmlns:a="http://schemas.openxmlformats.org/drawingml/2006/main">
            <a:r>
              <a:t>        "visitors_yoy_pct": 6.491412818941056,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"11305",</a:t>
            </a:r>
          </a:p>
          <a:p xmlns:a="http://schemas.openxmlformats.org/drawingml/2006/main">
            <a:r>
              <a:t>        "region_name": "서울특별시 강북구",</a:t>
            </a:r>
          </a:p>
          <a:p xmlns:a="http://schemas.openxmlformats.org/drawingml/2006/main">
            <a:r>
              <a:t>        "visitors_yoy_pct": -0.31553169799538594,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"11320",</a:t>
            </a:r>
          </a:p>
          <a:p xmlns:a="http://schemas.openxmlformats.org/drawingml/2006/main">
            <a:r>
              <a:t>        "region_name": "서울특별시 도봉구",</a:t>
            </a:r>
          </a:p>
          <a:p xmlns:a="http://schemas.openxmlformats.org/drawingml/2006/main">
            <a:r>
              <a:t>        "visitors_yoy_pct": 1.9885852169564178,</a:t>
            </a:r>
          </a:p>
          <a:p xmlns:a="http://schemas.openxmlformats.org/drawingml/2006/main">
            <a:r>
              <a:t>        "spending_yoy_pct": -3.9398837471920745</a:t>
            </a:r>
          </a:p>
          <a:p xmlns:a="http://schemas.openxmlformats.org/drawingml/2006/main">
            <a:r>
              <a:t>      },</a:t>
            </a:r>
          </a:p>
          <a:p xmlns:a="http://schemas.openxmlformats.org/drawingml/2006/main">
            <a:r>
              <a:t>      {</a:t>
            </a:r>
          </a:p>
          <a:p xmlns:a="http://schemas.openxmlformats.org/drawingml/2006/main">
            <a:r>
              <a:t>        "region_code": "11350",</a:t>
            </a:r>
          </a:p>
          <a:p xmlns:a="http://schemas.openxmlformats.org/drawingml/2006/main">
            <a:r>
              <a:t>        "region_name": "서울특별시 노원구",</a:t>
            </a:r>
          </a:p>
          <a:p xmlns:a="http://schemas.openxmlformats.org/drawingml/2006/main">
            <a:r>
              <a:t>        "visitors_yoy_pct": 2.6732126130347034,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"11380",</a:t>
            </a:r>
          </a:p>
          <a:p xmlns:a="http://schemas.openxmlformats.org/drawingml/2006/main">
            <a:r>
              <a:t>        "region_name": "서울특별시 은평구",</a:t>
            </a:r>
          </a:p>
          <a:p xmlns:a="http://schemas.openxmlformats.org/drawingml/2006/main">
            <a:r>
              <a:t>        "visitors_yoy_pct": -1.5414900930146969,</a:t>
            </a:r>
          </a:p>
          <a:p xmlns:a="http://schemas.openxmlformats.org/drawingml/2006/main">
            <a:r>
              <a:t>        "spending_yoy_pct": 9.742111155875799</a:t>
            </a:r>
          </a:p>
          <a:p xmlns:a="http://schemas.openxmlformats.org/drawingml/2006/main">
            <a:r>
              <a:t>      },</a:t>
            </a:r>
          </a:p>
          <a:p xmlns:a="http://schemas.openxmlformats.org/drawingml/2006/main">
            <a:r>
              <a:t>      {</a:t>
            </a:r>
          </a:p>
          <a:p xmlns:a="http://schemas.openxmlformats.org/drawingml/2006/main">
            <a:r>
              <a:t>        "region_code": "11410",</a:t>
            </a:r>
          </a:p>
          <a:p xmlns:a="http://schemas.openxmlformats.org/drawingml/2006/main">
            <a:r>
              <a:t>        "region_name": "서울특별시 서대문구",</a:t>
            </a:r>
          </a:p>
          <a:p xmlns:a="http://schemas.openxmlformats.org/drawingml/2006/main">
            <a:r>
              <a:t>        "visitors_yoy_pct": 0.26100209122330575,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"11440",</a:t>
            </a:r>
          </a:p>
          <a:p xmlns:a="http://schemas.openxmlformats.org/drawingml/2006/main">
            <a:r>
              <a:t>        "region_name": "서울특별시 마포구",</a:t>
            </a:r>
          </a:p>
          <a:p xmlns:a="http://schemas.openxmlformats.org/drawingml/2006/main">
            <a:r>
              <a:t>        "visitors_yoy_pct": -0.42315356265129056,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"11470",</a:t>
            </a:r>
          </a:p>
          <a:p xmlns:a="http://schemas.openxmlformats.org/drawingml/2006/main">
            <a:r>
              <a:t>        "region_name": "서울특별시 양천구",</a:t>
            </a:r>
          </a:p>
          <a:p xmlns:a="http://schemas.openxmlformats.org/drawingml/2006/main">
            <a:r>
              <a:t>        "visitors_yoy_pct": 0.2040172459361056,</a:t>
            </a:r>
          </a:p>
          <a:p xmlns:a="http://schemas.openxmlformats.org/drawingml/2006/main">
            <a:r>
              <a:t>        "spending_yoy_pct": 7.8308763097921785</a:t>
            </a:r>
          </a:p>
          <a:p xmlns:a="http://schemas.openxmlformats.org/drawingml/2006/main">
            <a:r>
              <a:t>      },</a:t>
            </a:r>
          </a:p>
          <a:p xmlns:a="http://schemas.openxmlformats.org/drawingml/2006/main">
            <a:r>
              <a:t>      {</a:t>
            </a:r>
          </a:p>
          <a:p xmlns:a="http://schemas.openxmlformats.org/drawingml/2006/main">
            <a:r>
              <a:t>        "region_code": "11500",</a:t>
            </a:r>
          </a:p>
          <a:p xmlns:a="http://schemas.openxmlformats.org/drawingml/2006/main">
            <a:r>
              <a:t>        "region_name": "서울특별시 강서구",</a:t>
            </a:r>
          </a:p>
          <a:p xmlns:a="http://schemas.openxmlformats.org/drawingml/2006/main">
            <a:r>
              <a:t>        "visitors_yoy_pct": -2.5203770541048165,</a:t>
            </a:r>
          </a:p>
          <a:p xmlns:a="http://schemas.openxmlformats.org/drawingml/2006/main">
            <a:r>
              <a:t>        "spending_yoy_pct": 1.0661216099866477</a:t>
            </a:r>
          </a:p>
          <a:p xmlns:a="http://schemas.openxmlformats.org/drawingml/2006/main">
            <a:r>
              <a:t>      },</a:t>
            </a:r>
          </a:p>
          <a:p xmlns:a="http://schemas.openxmlformats.org/drawingml/2006/main">
            <a:r>
              <a:t>      {</a:t>
            </a:r>
          </a:p>
          <a:p xmlns:a="http://schemas.openxmlformats.org/drawingml/2006/main">
            <a:r>
              <a:t>        "region_code": "11530",</a:t>
            </a:r>
          </a:p>
          <a:p xmlns:a="http://schemas.openxmlformats.org/drawingml/2006/main">
            <a:r>
              <a:t>        "region_name": "서울특별시 구로구",</a:t>
            </a:r>
          </a:p>
          <a:p xmlns:a="http://schemas.openxmlformats.org/drawingml/2006/main">
            <a:r>
              <a:t>        "visitors_yoy_pct": -5.084948743139006,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"11545",</a:t>
            </a:r>
          </a:p>
          <a:p xmlns:a="http://schemas.openxmlformats.org/drawingml/2006/main">
            <a:r>
              <a:t>        "region_name": "서울특별시 금천구",</a:t>
            </a:r>
          </a:p>
          <a:p xmlns:a="http://schemas.openxmlformats.org/drawingml/2006/main">
            <a:r>
              <a:t>        "visitors_yoy_pct": -0.004729088367683154,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"11560",</a:t>
            </a:r>
          </a:p>
          <a:p xmlns:a="http://schemas.openxmlformats.org/drawingml/2006/main">
            <a:r>
              <a:t>        "region_name": "서울특별시 영등포구",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"11590",</a:t>
            </a:r>
          </a:p>
          <a:p xmlns:a="http://schemas.openxmlformats.org/drawingml/2006/main">
            <a:r>
              <a:t>        "region_name": "서울특별시 동작구",</a:t>
            </a:r>
          </a:p>
          <a:p xmlns:a="http://schemas.openxmlformats.org/drawingml/2006/main">
            <a:r>
              <a:t>        "visitors_yoy_pct": -2.159738232477182,</a:t>
            </a:r>
          </a:p>
          <a:p xmlns:a="http://schemas.openxmlformats.org/drawingml/2006/main">
            <a:r>
              <a:t>        "spending_yoy_pct": 6.658745677758771</a:t>
            </a:r>
          </a:p>
          <a:p xmlns:a="http://schemas.openxmlformats.org/drawingml/2006/main">
            <a:r>
              <a:t>      },</a:t>
            </a:r>
          </a:p>
          <a:p xmlns:a="http://schemas.openxmlformats.org/drawingml/2006/main">
            <a:r>
              <a:t>      {</a:t>
            </a:r>
          </a:p>
          <a:p xmlns:a="http://schemas.openxmlformats.org/drawingml/2006/main">
            <a:r>
              <a:t>        "region_code": "11620",</a:t>
            </a:r>
          </a:p>
          <a:p xmlns:a="http://schemas.openxmlformats.org/drawingml/2006/main">
            <a:r>
              <a:t>        "region_name": "서울특별시 관악구",</a:t>
            </a:r>
          </a:p>
          <a:p xmlns:a="http://schemas.openxmlformats.org/drawingml/2006/main">
            <a:r>
              <a:t>        "visitors_yoy_pct": 3.416171684213065,</a:t>
            </a:r>
          </a:p>
          <a:p xmlns:a="http://schemas.openxmlformats.org/drawingml/2006/main">
            <a:r>
              <a:t>        "spending_yoy_pct": 2.78161019702714</a:t>
            </a:r>
          </a:p>
          <a:p xmlns:a="http://schemas.openxmlformats.org/drawingml/2006/main">
            <a:r>
              <a:t>      },</a:t>
            </a:r>
          </a:p>
          <a:p xmlns:a="http://schemas.openxmlformats.org/drawingml/2006/main">
            <a:r>
              <a:t>      {</a:t>
            </a:r>
          </a:p>
          <a:p xmlns:a="http://schemas.openxmlformats.org/drawingml/2006/main">
            <a:r>
              <a:t>        "region_code": "11650",</a:t>
            </a:r>
          </a:p>
          <a:p xmlns:a="http://schemas.openxmlformats.org/drawingml/2006/main">
            <a:r>
              <a:t>        "region_name": "서울특별시 서초구",</a:t>
            </a:r>
          </a:p>
          <a:p xmlns:a="http://schemas.openxmlformats.org/drawingml/2006/main">
            <a:r>
              <a:t>        "visitors_yoy_pct": -3.3407180053658725,</a:t>
            </a:r>
          </a:p>
          <a:p xmlns:a="http://schemas.openxmlformats.org/drawingml/2006/main">
            <a:r>
              <a:t>        "spending_yoy_pct": 7.659458813227693</a:t>
            </a:r>
          </a:p>
          <a:p xmlns:a="http://schemas.openxmlformats.org/drawingml/2006/main">
            <a:r>
              <a:t>      },</a:t>
            </a:r>
          </a:p>
          <a:p xmlns:a="http://schemas.openxmlformats.org/drawingml/2006/main">
            <a:r>
              <a:t>      {</a:t>
            </a:r>
          </a:p>
          <a:p xmlns:a="http://schemas.openxmlformats.org/drawingml/2006/main">
            <a:r>
              <a:t>        "region_code": "11710",</a:t>
            </a:r>
          </a:p>
          <a:p xmlns:a="http://schemas.openxmlformats.org/drawingml/2006/main">
            <a:r>
              <a:t>        "region_name": "서울특별시 송파구",</a:t>
            </a:r>
          </a:p>
          <a:p xmlns:a="http://schemas.openxmlformats.org/drawingml/2006/main">
            <a:r>
              <a:t>        "visitors_yoy_pct": 0.1917648649844672,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"11740",</a:t>
            </a:r>
          </a:p>
          <a:p xmlns:a="http://schemas.openxmlformats.org/drawingml/2006/main">
            <a:r>
              <a:t>        "region_name": "서울특별시 강동구",</a:t>
            </a:r>
          </a:p>
          <a:p xmlns:a="http://schemas.openxmlformats.org/drawingml/2006/main">
            <a:r>
              <a:t>        "visitors_yoy_pct": -0.13711943373028168,</a:t>
            </a:r>
          </a:p>
          <a:p xmlns:a="http://schemas.openxmlformats.org/drawingml/2006/main">
            <a:r>
              <a:t>        "spending_yoy_pct": 4.933893018036728</a:t>
            </a:r>
          </a:p>
          <a:p xmlns:a="http://schemas.openxmlformats.org/drawingml/2006/main">
            <a:r>
              <a:t>      },</a:t>
            </a:r>
          </a:p>
          <a:p xmlns:a="http://schemas.openxmlformats.org/drawingml/2006/main">
            <a:r>
              <a:t>      {</a:t>
            </a:r>
          </a:p>
          <a:p xmlns:a="http://schemas.openxmlformats.org/drawingml/2006/main">
            <a:r>
              <a:t>        "region_code": "51110",</a:t>
            </a:r>
          </a:p>
          <a:p xmlns:a="http://schemas.openxmlformats.org/drawingml/2006/main">
            <a:r>
              <a:t>        "region_name": "강원특별자치도 춘천시",</a:t>
            </a:r>
          </a:p>
          <a:p xmlns:a="http://schemas.openxmlformats.org/drawingml/2006/main">
            <a:r>
              <a:t>        "visitors_yoy_pct": -1.9664957516168258,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"51130",</a:t>
            </a:r>
          </a:p>
          <a:p xmlns:a="http://schemas.openxmlformats.org/drawingml/2006/main">
            <a:r>
              <a:t>        "region_name": "강원특별자치도 원주시",</a:t>
            </a:r>
          </a:p>
          <a:p xmlns:a="http://schemas.openxmlformats.org/drawingml/2006/main">
            <a:r>
              <a:t>        "visitors_yoy_pct": -0.8330123914969678,</a:t>
            </a:r>
          </a:p>
          <a:p xmlns:a="http://schemas.openxmlformats.org/drawingml/2006/main">
            <a:r>
              <a:t>        "spending_yoy_pct": 37.640108864536415</a:t>
            </a:r>
          </a:p>
          <a:p xmlns:a="http://schemas.openxmlformats.org/drawingml/2006/main">
            <a:r>
              <a:t>      },</a:t>
            </a:r>
          </a:p>
          <a:p xmlns:a="http://schemas.openxmlformats.org/drawingml/2006/main">
            <a:r>
              <a:t>      {</a:t>
            </a:r>
          </a:p>
          <a:p xmlns:a="http://schemas.openxmlformats.org/drawingml/2006/main">
            <a:r>
              <a:t>        "region_code": "51150",</a:t>
            </a:r>
          </a:p>
          <a:p xmlns:a="http://schemas.openxmlformats.org/drawingml/2006/main">
            <a:r>
              <a:t>        "region_name": "강원특별자치도 강릉시",</a:t>
            </a:r>
          </a:p>
          <a:p xmlns:a="http://schemas.openxmlformats.org/drawingml/2006/main">
            <a:r>
              <a:t>        "visitors_yoy_pct": 7.745107525681205,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"51170",</a:t>
            </a:r>
          </a:p>
          <a:p xmlns:a="http://schemas.openxmlformats.org/drawingml/2006/main">
            <a:r>
              <a:t>        "region_name": "강원특별자치도 동해시",</a:t>
            </a:r>
          </a:p>
          <a:p xmlns:a="http://schemas.openxmlformats.org/drawingml/2006/main">
            <a:r>
              <a:t>        "visitors_yoy_pct": 2.6814404526349644,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"51190",</a:t>
            </a:r>
          </a:p>
          <a:p xmlns:a="http://schemas.openxmlformats.org/drawingml/2006/main">
            <a:r>
              <a:t>        "region_name": "강원특별자치도 태백시",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"51210",</a:t>
            </a:r>
          </a:p>
          <a:p xmlns:a="http://schemas.openxmlformats.org/drawingml/2006/main">
            <a:r>
              <a:t>        "region_name": "강원특별자치도 속초시",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"51230",</a:t>
            </a:r>
          </a:p>
          <a:p xmlns:a="http://schemas.openxmlformats.org/drawingml/2006/main">
            <a:r>
              <a:t>        "region_name": "강원특별자치도 삼척시",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"51720",</a:t>
            </a:r>
          </a:p>
          <a:p xmlns:a="http://schemas.openxmlformats.org/drawingml/2006/main">
            <a:r>
              <a:t>        "region_name": "강원특별자치도 홍천군",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"51730",</a:t>
            </a:r>
          </a:p>
          <a:p xmlns:a="http://schemas.openxmlformats.org/drawingml/2006/main">
            <a:r>
              <a:t>        "region_name": "강원특별자치도 횡성군",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"51750",</a:t>
            </a:r>
          </a:p>
          <a:p xmlns:a="http://schemas.openxmlformats.org/drawingml/2006/main">
            <a:r>
              <a:t>        "region_name": "강원특별자치도 영월군",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"51760",</a:t>
            </a:r>
          </a:p>
          <a:p xmlns:a="http://schemas.openxmlformats.org/drawingml/2006/main">
            <a:r>
              <a:t>        "region_name": "강원특별자치도 평창군",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"51770",</a:t>
            </a:r>
          </a:p>
          <a:p xmlns:a="http://schemas.openxmlformats.org/drawingml/2006/main">
            <a:r>
              <a:t>        "region_name": "강원특별자치도 정선군",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"51780",</a:t>
            </a:r>
          </a:p>
          <a:p xmlns:a="http://schemas.openxmlformats.org/drawingml/2006/main">
            <a:r>
              <a:t>        "region_name": "강원특별자치도 철원군",</a:t>
            </a:r>
          </a:p>
          <a:p xmlns:a="http://schemas.openxmlformats.org/drawingml/2006/main">
            <a:r>
              <a:t>        "visitors_yoy_pct": -11.738262349313622,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"51790",</a:t>
            </a:r>
          </a:p>
          <a:p xmlns:a="http://schemas.openxmlformats.org/drawingml/2006/main">
            <a:r>
              <a:t>        "region_name": "강원특별자치도 화천군",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"51800",</a:t>
            </a:r>
          </a:p>
          <a:p xmlns:a="http://schemas.openxmlformats.org/drawingml/2006/main">
            <a:r>
              <a:t>        "region_name": "강원특별자치도 양구군",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"51810",</a:t>
            </a:r>
          </a:p>
          <a:p xmlns:a="http://schemas.openxmlformats.org/drawingml/2006/main">
            <a:r>
              <a:t>        "region_name": "강원특별자치도 인제군",</a:t>
            </a:r>
          </a:p>
          <a:p xmlns:a="http://schemas.openxmlformats.org/drawingml/2006/main">
            <a:r>
              <a:t>        "visitors_yoy_pct": 0.7982735908174332,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"51820",</a:t>
            </a:r>
          </a:p>
          <a:p xmlns:a="http://schemas.openxmlformats.org/drawingml/2006/main">
            <a:r>
              <a:t>        "region_name": "강원특별자치도 고성군",</a:t>
            </a:r>
          </a:p>
          <a:p xmlns:a="http://schemas.openxmlformats.org/drawingml/2006/main">
            <a:r>
              <a:t>        "visitors_yoy_pct": 3.9292214795380698,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"51830",</a:t>
            </a:r>
          </a:p>
          <a:p xmlns:a="http://schemas.openxmlformats.org/drawingml/2006/main">
            <a:r>
              <a:t>        "region_name": "강원특별자치도 양양군",</a:t>
            </a:r>
          </a:p>
          <a:p xmlns:a="http://schemas.openxmlformats.org/drawingml/2006/main">
            <a:r>
              <a:t>        "visitors_yoy_pct": 1.016923718387308,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"41111",</a:t>
            </a:r>
          </a:p>
          <a:p xmlns:a="http://schemas.openxmlformats.org/drawingml/2006/main">
            <a:r>
              <a:t>        "region_name": "경기도 수원시 장안구",</a:t>
            </a:r>
          </a:p>
          <a:p xmlns:a="http://schemas.openxmlformats.org/drawingml/2006/main">
            <a:r>
              <a:t>        "visitors_yoy_pct": 1.1475336925274693,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"41113",</a:t>
            </a:r>
          </a:p>
          <a:p xmlns:a="http://schemas.openxmlformats.org/drawingml/2006/main">
            <a:r>
              <a:t>        "region_name": "경기도 수원시 권선구",</a:t>
            </a:r>
          </a:p>
          <a:p xmlns:a="http://schemas.openxmlformats.org/drawingml/2006/main">
            <a:r>
              <a:t>        "visitors_yoy_pct": 0.02309067516510499,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"41115",</a:t>
            </a:r>
          </a:p>
          <a:p xmlns:a="http://schemas.openxmlformats.org/drawingml/2006/main">
            <a:r>
              <a:t>        "region_name": "경기도 수원시 팔달구",</a:t>
            </a:r>
          </a:p>
          <a:p xmlns:a="http://schemas.openxmlformats.org/drawingml/2006/main">
            <a:r>
              <a:t>        "visitors_yoy_pct": 1.1752424903732184,</a:t>
            </a:r>
          </a:p>
          <a:p xmlns:a="http://schemas.openxmlformats.org/drawingml/2006/main">
            <a:r>
              <a:t>        "spending_yoy_pct": 5.784673016796771</a:t>
            </a:r>
          </a:p>
          <a:p xmlns:a="http://schemas.openxmlformats.org/drawingml/2006/main">
            <a:r>
              <a:t>      },</a:t>
            </a:r>
          </a:p>
          <a:p xmlns:a="http://schemas.openxmlformats.org/drawingml/2006/main">
            <a:r>
              <a:t>      {</a:t>
            </a:r>
          </a:p>
          <a:p xmlns:a="http://schemas.openxmlformats.org/drawingml/2006/main">
            <a:r>
              <a:t>        "region_code": "41117",</a:t>
            </a:r>
          </a:p>
          <a:p xmlns:a="http://schemas.openxmlformats.org/drawingml/2006/main">
            <a:r>
              <a:t>        "region_name": "경기도 수원시 영통구",</a:t>
            </a:r>
          </a:p>
          <a:p xmlns:a="http://schemas.openxmlformats.org/drawingml/2006/main">
            <a:r>
              <a:t>        "visitors_yoy_pct": 0.6512867290074942,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"41131",</a:t>
            </a:r>
          </a:p>
          <a:p xmlns:a="http://schemas.openxmlformats.org/drawingml/2006/main">
            <a:r>
              <a:t>        "region_name": "경기도 성남시 수정구",</a:t>
            </a:r>
          </a:p>
          <a:p xmlns:a="http://schemas.openxmlformats.org/drawingml/2006/main">
            <a:r>
              <a:t>        "visitors_yoy_pct": 2.5103800143091215,</a:t>
            </a:r>
          </a:p>
          <a:p xmlns:a="http://schemas.openxmlformats.org/drawingml/2006/main">
            <a:r>
              <a:t>        "spending_yoy_pct": 9.520113178780786</a:t>
            </a:r>
          </a:p>
          <a:p xmlns:a="http://schemas.openxmlformats.org/drawingml/2006/main">
            <a:r>
              <a:t>      },</a:t>
            </a:r>
          </a:p>
          <a:p xmlns:a="http://schemas.openxmlformats.org/drawingml/2006/main">
            <a:r>
              <a:t>      {</a:t>
            </a:r>
          </a:p>
          <a:p xmlns:a="http://schemas.openxmlformats.org/drawingml/2006/main">
            <a:r>
              <a:t>        "region_code": "41133",</a:t>
            </a:r>
          </a:p>
          <a:p xmlns:a="http://schemas.openxmlformats.org/drawingml/2006/main">
            <a:r>
              <a:t>        "region_name": "경기도 성남시 중원구",</a:t>
            </a:r>
          </a:p>
          <a:p xmlns:a="http://schemas.openxmlformats.org/drawingml/2006/main">
            <a:r>
              <a:t>        "visitors_yoy_pct": 0.0,</a:t>
            </a:r>
          </a:p>
          <a:p xmlns:a="http://schemas.openxmlformats.org/drawingml/2006/main">
            <a:r>
              <a:t>        "spending_yoy_pct": 15.517585713868876</a:t>
            </a:r>
          </a:p>
          <a:p xmlns:a="http://schemas.openxmlformats.org/drawingml/2006/main">
            <a:r>
              <a:t>      },</a:t>
            </a:r>
          </a:p>
          <a:p xmlns:a="http://schemas.openxmlformats.org/drawingml/2006/main">
            <a:r>
              <a:t>      {</a:t>
            </a:r>
          </a:p>
          <a:p xmlns:a="http://schemas.openxmlformats.org/drawingml/2006/main">
            <a:r>
              <a:t>        "region_code": "41135",</a:t>
            </a:r>
          </a:p>
          <a:p xmlns:a="http://schemas.openxmlformats.org/drawingml/2006/main">
            <a:r>
              <a:t>        "region_name": "경기도 성남시 분당구",</a:t>
            </a:r>
          </a:p>
          <a:p xmlns:a="http://schemas.openxmlformats.org/drawingml/2006/main">
            <a:r>
              <a:t>        "visitors_yoy_pct": -0.021831037261310637,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"41150",</a:t>
            </a:r>
          </a:p>
          <a:p xmlns:a="http://schemas.openxmlformats.org/drawingml/2006/main">
            <a:r>
              <a:t>        "region_name": "경기도 의정부시",</a:t>
            </a:r>
          </a:p>
          <a:p xmlns:a="http://schemas.openxmlformats.org/drawingml/2006/main">
            <a:r>
              <a:t>        "visitors_yoy_pct": -1.8020937666352155,</a:t>
            </a:r>
          </a:p>
          <a:p xmlns:a="http://schemas.openxmlformats.org/drawingml/2006/main">
            <a:r>
              <a:t>        "spending_yoy_pct": 4.387608388035358</a:t>
            </a:r>
          </a:p>
          <a:p xmlns:a="http://schemas.openxmlformats.org/drawingml/2006/main">
            <a:r>
              <a:t>      },</a:t>
            </a:r>
          </a:p>
          <a:p xmlns:a="http://schemas.openxmlformats.org/drawingml/2006/main">
            <a:r>
              <a:t>      {</a:t>
            </a:r>
          </a:p>
          <a:p xmlns:a="http://schemas.openxmlformats.org/drawingml/2006/main">
            <a:r>
              <a:t>        "region_code": "41171",</a:t>
            </a:r>
          </a:p>
          <a:p xmlns:a="http://schemas.openxmlformats.org/drawingml/2006/main">
            <a:r>
              <a:t>        "region_name": "경기도 안양시 만안구",</a:t>
            </a:r>
          </a:p>
          <a:p xmlns:a="http://schemas.openxmlformats.org/drawingml/2006/main">
            <a:r>
              <a:t>        "visitors_yoy_pct": 2.161627087729401,</a:t>
            </a:r>
          </a:p>
          <a:p xmlns:a="http://schemas.openxmlformats.org/drawingml/2006/main">
            <a:r>
              <a:t>        "spending_yoy_pct": 0.7681955241102489</a:t>
            </a:r>
          </a:p>
          <a:p xmlns:a="http://schemas.openxmlformats.org/drawingml/2006/main">
            <a:r>
              <a:t>      },</a:t>
            </a:r>
          </a:p>
          <a:p xmlns:a="http://schemas.openxmlformats.org/drawingml/2006/main">
            <a:r>
              <a:t>      {</a:t>
            </a:r>
          </a:p>
          <a:p xmlns:a="http://schemas.openxmlformats.org/drawingml/2006/main">
            <a:r>
              <a:t>        "region_code": "41173",</a:t>
            </a:r>
          </a:p>
          <a:p xmlns:a="http://schemas.openxmlformats.org/drawingml/2006/main">
            <a:r>
              <a:t>        "region_name": "경기도 안양시 동안구",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"41192",</a:t>
            </a:r>
          </a:p>
          <a:p xmlns:a="http://schemas.openxmlformats.org/drawingml/2006/main">
            <a:r>
              <a:t>        "region_name": "경기도 부천시 원미구",</a:t>
            </a:r>
          </a:p>
          <a:p xmlns:a="http://schemas.openxmlformats.org/drawingml/2006/main">
            <a:r>
              <a:t>        "visitors_yoy_pct": 1.4376074623922541,</a:t>
            </a:r>
          </a:p>
          <a:p xmlns:a="http://schemas.openxmlformats.org/drawingml/2006/main">
            <a:r>
              <a:t>        "spending_yoy_pct": -0.5252023407957496</a:t>
            </a:r>
          </a:p>
          <a:p xmlns:a="http://schemas.openxmlformats.org/drawingml/2006/main">
            <a:r>
              <a:t>      },</a:t>
            </a:r>
          </a:p>
          <a:p xmlns:a="http://schemas.openxmlformats.org/drawingml/2006/main">
            <a:r>
              <a:t>      {</a:t>
            </a:r>
          </a:p>
          <a:p xmlns:a="http://schemas.openxmlformats.org/drawingml/2006/main">
            <a:r>
              <a:t>        "region_code": "41194",</a:t>
            </a:r>
          </a:p>
          <a:p xmlns:a="http://schemas.openxmlformats.org/drawingml/2006/main">
            <a:r>
              <a:t>        "region_name": "경기도 부천시 소사구",</a:t>
            </a:r>
          </a:p>
          <a:p xmlns:a="http://schemas.openxmlformats.org/drawingml/2006/main">
            <a:r>
              <a:t>        "visitors_yoy_pct": 0.0,</a:t>
            </a:r>
          </a:p>
          <a:p xmlns:a="http://schemas.openxmlformats.org/drawingml/2006/main">
            <a:r>
              <a:t>        "spending_yoy_pct": -1.9824476603583885</a:t>
            </a:r>
          </a:p>
          <a:p xmlns:a="http://schemas.openxmlformats.org/drawingml/2006/main">
            <a:r>
              <a:t>      },</a:t>
            </a:r>
          </a:p>
          <a:p xmlns:a="http://schemas.openxmlformats.org/drawingml/2006/main">
            <a:r>
              <a:t>      {</a:t>
            </a:r>
          </a:p>
          <a:p xmlns:a="http://schemas.openxmlformats.org/drawingml/2006/main">
            <a:r>
              <a:t>        "region_code": "41196",</a:t>
            </a:r>
          </a:p>
          <a:p xmlns:a="http://schemas.openxmlformats.org/drawingml/2006/main">
            <a:r>
              <a:t>        "region_name": "경기도 부천시 오정구",</a:t>
            </a:r>
          </a:p>
          <a:p xmlns:a="http://schemas.openxmlformats.org/drawingml/2006/main">
            <a:r>
              <a:t>        "visitors_yoy_pct": -1.094635619559492,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"41210",</a:t>
            </a:r>
          </a:p>
          <a:p xmlns:a="http://schemas.openxmlformats.org/drawingml/2006/main">
            <a:r>
              <a:t>        "region_name": "경기도 광명시",</a:t>
            </a:r>
          </a:p>
          <a:p xmlns:a="http://schemas.openxmlformats.org/drawingml/2006/main">
            <a:r>
              <a:t>        "visitors_yoy_pct": -0.4157538524296678,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"41220",</a:t>
            </a:r>
          </a:p>
          <a:p xmlns:a="http://schemas.openxmlformats.org/drawingml/2006/main">
            <a:r>
              <a:t>        "region_name": "경기도 평택시",</a:t>
            </a:r>
          </a:p>
          <a:p xmlns:a="http://schemas.openxmlformats.org/drawingml/2006/main">
            <a:r>
              <a:t>        "visitors_yoy_pct": -0.03909969108389921,</a:t>
            </a:r>
          </a:p>
          <a:p xmlns:a="http://schemas.openxmlformats.org/drawingml/2006/main">
            <a:r>
              <a:t>        "spending_yoy_pct": 24.268928579775473</a:t>
            </a:r>
          </a:p>
          <a:p xmlns:a="http://schemas.openxmlformats.org/drawingml/2006/main">
            <a:r>
              <a:t>      },</a:t>
            </a:r>
          </a:p>
          <a:p xmlns:a="http://schemas.openxmlformats.org/drawingml/2006/main">
            <a:r>
              <a:t>      {</a:t>
            </a:r>
          </a:p>
          <a:p xmlns:a="http://schemas.openxmlformats.org/drawingml/2006/main">
            <a:r>
              <a:t>        "region_code": "41250",</a:t>
            </a:r>
          </a:p>
          <a:p xmlns:a="http://schemas.openxmlformats.org/drawingml/2006/main">
            <a:r>
              <a:t>        "region_name": "경기도 동두천시",</a:t>
            </a:r>
          </a:p>
          <a:p xmlns:a="http://schemas.openxmlformats.org/drawingml/2006/main">
            <a:r>
              <a:t>        "visitors_yoy_pct": -2.7650328166700766,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"41271",</a:t>
            </a:r>
          </a:p>
          <a:p xmlns:a="http://schemas.openxmlformats.org/drawingml/2006/main">
            <a:r>
              <a:t>        "region_name": "경기도 안산시 상록구",</a:t>
            </a:r>
          </a:p>
          <a:p xmlns:a="http://schemas.openxmlformats.org/drawingml/2006/main">
            <a:r>
              <a:t>        "visitors_yoy_pct": 3.17645200245269,</a:t>
            </a:r>
          </a:p>
          <a:p xmlns:a="http://schemas.openxmlformats.org/drawingml/2006/main">
            <a:r>
              <a:t>        "spending_yoy_pct": 15.490271744531281</a:t>
            </a:r>
          </a:p>
          <a:p xmlns:a="http://schemas.openxmlformats.org/drawingml/2006/main">
            <a:r>
              <a:t>      },</a:t>
            </a:r>
          </a:p>
          <a:p xmlns:a="http://schemas.openxmlformats.org/drawingml/2006/main">
            <a:r>
              <a:t>      {</a:t>
            </a:r>
          </a:p>
          <a:p xmlns:a="http://schemas.openxmlformats.org/drawingml/2006/main">
            <a:r>
              <a:t>        "region_code": "41273",</a:t>
            </a:r>
          </a:p>
          <a:p xmlns:a="http://schemas.openxmlformats.org/drawingml/2006/main">
            <a:r>
              <a:t>        "region_name": "경기도 안산시 단원구",</a:t>
            </a:r>
          </a:p>
          <a:p xmlns:a="http://schemas.openxmlformats.org/drawingml/2006/main">
            <a:r>
              <a:t>        "visitors_yoy_pct": 2.126429602344748,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"41281",</a:t>
            </a:r>
          </a:p>
          <a:p xmlns:a="http://schemas.openxmlformats.org/drawingml/2006/main">
            <a:r>
              <a:t>        "region_name": "경기도 고양시 덕양구",</a:t>
            </a:r>
          </a:p>
          <a:p xmlns:a="http://schemas.openxmlformats.org/drawingml/2006/main">
            <a:r>
              <a:t>        "visitors_yoy_pct": 2.446276459112906,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"41285",</a:t>
            </a:r>
          </a:p>
          <a:p xmlns:a="http://schemas.openxmlformats.org/drawingml/2006/main">
            <a:r>
              <a:t>        "region_name": "경기도 고양시 일산동구",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"41287",</a:t>
            </a:r>
          </a:p>
          <a:p xmlns:a="http://schemas.openxmlformats.org/drawingml/2006/main">
            <a:r>
              <a:t>        "region_name": "경기도 고양시 일산서구",</a:t>
            </a:r>
          </a:p>
          <a:p xmlns:a="http://schemas.openxmlformats.org/drawingml/2006/main">
            <a:r>
              <a:t>        "visitors_yoy_pct": 2.5971124765787224,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"41290",</a:t>
            </a:r>
          </a:p>
          <a:p xmlns:a="http://schemas.openxmlformats.org/drawingml/2006/main">
            <a:r>
              <a:t>        "region_name": "경기도 과천시",</a:t>
            </a:r>
          </a:p>
          <a:p xmlns:a="http://schemas.openxmlformats.org/drawingml/2006/main">
            <a:r>
              <a:t>        "visitors_yoy_pct": 4.5266599226026605,</a:t>
            </a:r>
          </a:p>
          <a:p xmlns:a="http://schemas.openxmlformats.org/drawingml/2006/main">
            <a:r>
              <a:t>        "spending_yoy_pct": 27.301280740216516</a:t>
            </a:r>
          </a:p>
          <a:p xmlns:a="http://schemas.openxmlformats.org/drawingml/2006/main">
            <a:r>
              <a:t>      },</a:t>
            </a:r>
          </a:p>
          <a:p xmlns:a="http://schemas.openxmlformats.org/drawingml/2006/main">
            <a:r>
              <a:t>      {</a:t>
            </a:r>
          </a:p>
          <a:p xmlns:a="http://schemas.openxmlformats.org/drawingml/2006/main">
            <a:r>
              <a:t>        "region_code": "41310",</a:t>
            </a:r>
          </a:p>
          <a:p xmlns:a="http://schemas.openxmlformats.org/drawingml/2006/main">
            <a:r>
              <a:t>        "region_name": "경기도 구리시",</a:t>
            </a:r>
          </a:p>
          <a:p xmlns:a="http://schemas.openxmlformats.org/drawingml/2006/main">
            <a:r>
              <a:t>        "visitors_yoy_pct": -0.12423394404349475,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"41360",</a:t>
            </a:r>
          </a:p>
          <a:p xmlns:a="http://schemas.openxmlformats.org/drawingml/2006/main">
            <a:r>
              <a:t>        "region_name": "경기도 남양주시",</a:t>
            </a:r>
          </a:p>
          <a:p xmlns:a="http://schemas.openxmlformats.org/drawingml/2006/main">
            <a:r>
              <a:t>        "visitors_yoy_pct": 4.565492258559134,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"41370",</a:t>
            </a:r>
          </a:p>
          <a:p xmlns:a="http://schemas.openxmlformats.org/drawingml/2006/main">
            <a:r>
              <a:t>        "region_name": "경기도 오산시",</a:t>
            </a:r>
          </a:p>
          <a:p xmlns:a="http://schemas.openxmlformats.org/drawingml/2006/main">
            <a:r>
              <a:t>        "visitors_yoy_pct": 1.0039353259585715,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"41390",</a:t>
            </a:r>
          </a:p>
          <a:p xmlns:a="http://schemas.openxmlformats.org/drawingml/2006/main">
            <a:r>
              <a:t>        "region_name": "경기도 시흥시",</a:t>
            </a:r>
          </a:p>
          <a:p xmlns:a="http://schemas.openxmlformats.org/drawingml/2006/main">
            <a:r>
              <a:t>        "visitors_yoy_pct": 1.1493001597324914,</a:t>
            </a:r>
          </a:p>
          <a:p xmlns:a="http://schemas.openxmlformats.org/drawingml/2006/main">
            <a:r>
              <a:t>        "spending_yoy_pct": 0.7152053675203662</a:t>
            </a:r>
          </a:p>
          <a:p xmlns:a="http://schemas.openxmlformats.org/drawingml/2006/main">
            <a:r>
              <a:t>      },</a:t>
            </a:r>
          </a:p>
          <a:p xmlns:a="http://schemas.openxmlformats.org/drawingml/2006/main">
            <a:r>
              <a:t>      {</a:t>
            </a:r>
          </a:p>
          <a:p xmlns:a="http://schemas.openxmlformats.org/drawingml/2006/main">
            <a:r>
              <a:t>        "region_code": "41410",</a:t>
            </a:r>
          </a:p>
          <a:p xmlns:a="http://schemas.openxmlformats.org/drawingml/2006/main">
            <a:r>
              <a:t>        "region_name": "경기도 군포시",</a:t>
            </a:r>
          </a:p>
          <a:p xmlns:a="http://schemas.openxmlformats.org/drawingml/2006/main">
            <a:r>
              <a:t>        "visitors_yoy_pct": 0.8549389592575896,</a:t>
            </a:r>
          </a:p>
          <a:p xmlns:a="http://schemas.openxmlformats.org/drawingml/2006/main">
            <a:r>
              <a:t>        "spending_yoy_pct": 54.515586744429825</a:t>
            </a:r>
          </a:p>
          <a:p xmlns:a="http://schemas.openxmlformats.org/drawingml/2006/main">
            <a:r>
              <a:t>      },</a:t>
            </a:r>
          </a:p>
          <a:p xmlns:a="http://schemas.openxmlformats.org/drawingml/2006/main">
            <a:r>
              <a:t>      {</a:t>
            </a:r>
          </a:p>
          <a:p xmlns:a="http://schemas.openxmlformats.org/drawingml/2006/main">
            <a:r>
              <a:t>        "region_code": "41430",</a:t>
            </a:r>
          </a:p>
          <a:p xmlns:a="http://schemas.openxmlformats.org/drawingml/2006/main">
            <a:r>
              <a:t>        "region_name": "경기도 의왕시",</a:t>
            </a:r>
          </a:p>
          <a:p xmlns:a="http://schemas.openxmlformats.org/drawingml/2006/main">
            <a:r>
              <a:t>        "visitors_yoy_pct": 0.6696990720158169,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"41450",</a:t>
            </a:r>
          </a:p>
          <a:p xmlns:a="http://schemas.openxmlformats.org/drawingml/2006/main">
            <a:r>
              <a:t>        "region_name": "경기도 하남시",</a:t>
            </a:r>
          </a:p>
          <a:p xmlns:a="http://schemas.openxmlformats.org/drawingml/2006/main">
            <a:r>
              <a:t>        "visitors_yoy_pct": -1.2265414627372073,</a:t>
            </a:r>
          </a:p>
          <a:p xmlns:a="http://schemas.openxmlformats.org/drawingml/2006/main">
            <a:r>
              <a:t>        "spending_yoy_pct": 2.819393017454064</a:t>
            </a:r>
          </a:p>
          <a:p xmlns:a="http://schemas.openxmlformats.org/drawingml/2006/main">
            <a:r>
              <a:t>      },</a:t>
            </a:r>
          </a:p>
          <a:p xmlns:a="http://schemas.openxmlformats.org/drawingml/2006/main">
            <a:r>
              <a:t>      {</a:t>
            </a:r>
          </a:p>
          <a:p xmlns:a="http://schemas.openxmlformats.org/drawingml/2006/main">
            <a:r>
              <a:t>        "region_code": "41461",</a:t>
            </a:r>
          </a:p>
          <a:p xmlns:a="http://schemas.openxmlformats.org/drawingml/2006/main">
            <a:r>
              <a:t>        "region_name": "경기도 용인시 처인구",</a:t>
            </a:r>
          </a:p>
          <a:p xmlns:a="http://schemas.openxmlformats.org/drawingml/2006/main">
            <a:r>
              <a:t>        "visitors_yoy_pct": 4.418720080278593,</a:t>
            </a:r>
          </a:p>
          <a:p xmlns:a="http://schemas.openxmlformats.org/drawingml/2006/main">
            <a:r>
              <a:t>        "spending_yoy_pct": 80.10191905439277</a:t>
            </a:r>
          </a:p>
          <a:p xmlns:a="http://schemas.openxmlformats.org/drawingml/2006/main">
            <a:r>
              <a:t>      },</a:t>
            </a:r>
          </a:p>
          <a:p xmlns:a="http://schemas.openxmlformats.org/drawingml/2006/main">
            <a:r>
              <a:t>      {</a:t>
            </a:r>
          </a:p>
          <a:p xmlns:a="http://schemas.openxmlformats.org/drawingml/2006/main">
            <a:r>
              <a:t>        "region_code": "41463",</a:t>
            </a:r>
          </a:p>
          <a:p xmlns:a="http://schemas.openxmlformats.org/drawingml/2006/main">
            <a:r>
              <a:t>        "region_name": "경기도 용인시 기흥구",</a:t>
            </a:r>
          </a:p>
          <a:p xmlns:a="http://schemas.openxmlformats.org/drawingml/2006/main">
            <a:r>
              <a:t>        "visitors_yoy_pct": 0.0,</a:t>
            </a:r>
          </a:p>
          <a:p xmlns:a="http://schemas.openxmlformats.org/drawingml/2006/main">
            <a:r>
              <a:t>        "spending_yoy_pct": 8.438700210446726</a:t>
            </a:r>
          </a:p>
          <a:p xmlns:a="http://schemas.openxmlformats.org/drawingml/2006/main">
            <a:r>
              <a:t>      },</a:t>
            </a:r>
          </a:p>
          <a:p xmlns:a="http://schemas.openxmlformats.org/drawingml/2006/main">
            <a:r>
              <a:t>      {</a:t>
            </a:r>
          </a:p>
          <a:p xmlns:a="http://schemas.openxmlformats.org/drawingml/2006/main">
            <a:r>
              <a:t>        "region_code": "41465",</a:t>
            </a:r>
          </a:p>
          <a:p xmlns:a="http://schemas.openxmlformats.org/drawingml/2006/main">
            <a:r>
              <a:t>        "region_name": "경기도 용인시 수지구",</a:t>
            </a:r>
          </a:p>
          <a:p xmlns:a="http://schemas.openxmlformats.org/drawingml/2006/main">
            <a:r>
              <a:t>        "visitors_yoy_pct": 2.3706895536131256,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"41480",</a:t>
            </a:r>
          </a:p>
          <a:p xmlns:a="http://schemas.openxmlformats.org/drawingml/2006/main">
            <a:r>
              <a:t>        "region_name": "경기도 파주시",</a:t>
            </a:r>
          </a:p>
          <a:p xmlns:a="http://schemas.openxmlformats.org/drawingml/2006/main">
            <a:r>
              <a:t>        "visitors_yoy_pct": -2.196919183444135,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"41500",</a:t>
            </a:r>
          </a:p>
          <a:p xmlns:a="http://schemas.openxmlformats.org/drawingml/2006/main">
            <a:r>
              <a:t>        "region_name": "경기도 이천시",</a:t>
            </a:r>
          </a:p>
          <a:p xmlns:a="http://schemas.openxmlformats.org/drawingml/2006/main">
            <a:r>
              <a:t>        "visitors_yoy_pct": -0.20943825484315282,</a:t>
            </a:r>
          </a:p>
          <a:p xmlns:a="http://schemas.openxmlformats.org/drawingml/2006/main">
            <a:r>
              <a:t>        "spending_yoy_pct": 90.16980699536094</a:t>
            </a:r>
          </a:p>
          <a:p xmlns:a="http://schemas.openxmlformats.org/drawingml/2006/main">
            <a:r>
              <a:t>      },</a:t>
            </a:r>
          </a:p>
          <a:p xmlns:a="http://schemas.openxmlformats.org/drawingml/2006/main">
            <a:r>
              <a:t>      {</a:t>
            </a:r>
          </a:p>
          <a:p xmlns:a="http://schemas.openxmlformats.org/drawingml/2006/main">
            <a:r>
              <a:t>        "region_code": "41550",</a:t>
            </a:r>
          </a:p>
          <a:p xmlns:a="http://schemas.openxmlformats.org/drawingml/2006/main">
            <a:r>
              <a:t>        "region_name": "경기도 안성시",</a:t>
            </a:r>
          </a:p>
          <a:p xmlns:a="http://schemas.openxmlformats.org/drawingml/2006/main">
            <a:r>
              <a:t>        "visitors_yoy_pct": 1.4931429611678482,</a:t>
            </a:r>
          </a:p>
          <a:p xmlns:a="http://schemas.openxmlformats.org/drawingml/2006/main">
            <a:r>
              <a:t>        "spending_yoy_pct": 164.41633132776067</a:t>
            </a:r>
          </a:p>
          <a:p xmlns:a="http://schemas.openxmlformats.org/drawingml/2006/main">
            <a:r>
              <a:t>      },</a:t>
            </a:r>
          </a:p>
          <a:p xmlns:a="http://schemas.openxmlformats.org/drawingml/2006/main">
            <a:r>
              <a:t>      {</a:t>
            </a:r>
          </a:p>
          <a:p xmlns:a="http://schemas.openxmlformats.org/drawingml/2006/main">
            <a:r>
              <a:t>        "region_code": "41570",</a:t>
            </a:r>
          </a:p>
          <a:p xmlns:a="http://schemas.openxmlformats.org/drawingml/2006/main">
            <a:r>
              <a:t>        "region_name": "경기도 김포시",</a:t>
            </a:r>
          </a:p>
          <a:p xmlns:a="http://schemas.openxmlformats.org/drawingml/2006/main">
            <a:r>
              <a:t>        "visitors_yoy_pct": 0.5725787983204667,</a:t>
            </a:r>
          </a:p>
          <a:p xmlns:a="http://schemas.openxmlformats.org/drawingml/2006/main">
            <a:r>
              <a:t>        "spending_yoy_pct": 2.9201707509641794</a:t>
            </a:r>
          </a:p>
          <a:p xmlns:a="http://schemas.openxmlformats.org/drawingml/2006/main">
            <a:r>
              <a:t>      },</a:t>
            </a:r>
          </a:p>
          <a:p xmlns:a="http://schemas.openxmlformats.org/drawingml/2006/main">
            <a:r>
              <a:t>      {</a:t>
            </a:r>
          </a:p>
          <a:p xmlns:a="http://schemas.openxmlformats.org/drawingml/2006/main">
            <a:r>
              <a:t>        "region_code": "41610",</a:t>
            </a:r>
          </a:p>
          <a:p xmlns:a="http://schemas.openxmlformats.org/drawingml/2006/main">
            <a:r>
              <a:t>        "region_name": "경기도 광주시",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"41630",</a:t>
            </a:r>
          </a:p>
          <a:p xmlns:a="http://schemas.openxmlformats.org/drawingml/2006/main">
            <a:r>
              <a:t>        "region_name": "경기도 양주시",</a:t>
            </a:r>
          </a:p>
          <a:p xmlns:a="http://schemas.openxmlformats.org/drawingml/2006/main">
            <a:r>
              <a:t>        "visitors_yoy_pct": 1.9080906230178662,</a:t>
            </a:r>
          </a:p>
          <a:p xmlns:a="http://schemas.openxmlformats.org/drawingml/2006/main">
            <a:r>
              <a:t>        "spending_yoy_pct": 93.29406351350364</a:t>
            </a:r>
          </a:p>
          <a:p xmlns:a="http://schemas.openxmlformats.org/drawingml/2006/main">
            <a:r>
              <a:t>      },</a:t>
            </a:r>
          </a:p>
          <a:p xmlns:a="http://schemas.openxmlformats.org/drawingml/2006/main">
            <a:r>
              <a:t>      {</a:t>
            </a:r>
          </a:p>
          <a:p xmlns:a="http://schemas.openxmlformats.org/drawingml/2006/main">
            <a:r>
              <a:t>        "region_code": "41650",</a:t>
            </a:r>
          </a:p>
          <a:p xmlns:a="http://schemas.openxmlformats.org/drawingml/2006/main">
            <a:r>
              <a:t>        "region_name": "경기도 포천시",</a:t>
            </a:r>
          </a:p>
          <a:p xmlns:a="http://schemas.openxmlformats.org/drawingml/2006/main">
            <a:r>
              <a:t>        "visitors_yoy_pct": 0.0,</a:t>
            </a:r>
          </a:p>
          <a:p xmlns:a="http://schemas.openxmlformats.org/drawingml/2006/main">
            <a:r>
              <a:t>        "spending_yoy_pct": 8.779900218563274</a:t>
            </a:r>
          </a:p>
          <a:p xmlns:a="http://schemas.openxmlformats.org/drawingml/2006/main">
            <a:r>
              <a:t>      },</a:t>
            </a:r>
          </a:p>
          <a:p xmlns:a="http://schemas.openxmlformats.org/drawingml/2006/main">
            <a:r>
              <a:t>      {</a:t>
            </a:r>
          </a:p>
          <a:p xmlns:a="http://schemas.openxmlformats.org/drawingml/2006/main">
            <a:r>
              <a:t>        "region_code": "41670",</a:t>
            </a:r>
          </a:p>
          <a:p xmlns:a="http://schemas.openxmlformats.org/drawingml/2006/main">
            <a:r>
              <a:t>        "region_name": "경기도 여주시",</a:t>
            </a:r>
          </a:p>
          <a:p xmlns:a="http://schemas.openxmlformats.org/drawingml/2006/main">
            <a:r>
              <a:t>        "visitors_yoy_pct": -0.1543004095628131,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"41800",</a:t>
            </a:r>
          </a:p>
          <a:p xmlns:a="http://schemas.openxmlformats.org/drawingml/2006/main">
            <a:r>
              <a:t>        "region_name": "경기도 연천군",</a:t>
            </a:r>
          </a:p>
          <a:p xmlns:a="http://schemas.openxmlformats.org/drawingml/2006/main">
            <a:r>
              <a:t>        "visitors_yoy_pct": -4.9845806071294625,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"41820",</a:t>
            </a:r>
          </a:p>
          <a:p xmlns:a="http://schemas.openxmlformats.org/drawingml/2006/main">
            <a:r>
              <a:t>        "region_name": "경기도 가평군",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"41830",</a:t>
            </a:r>
          </a:p>
          <a:p xmlns:a="http://schemas.openxmlformats.org/drawingml/2006/main">
            <a:r>
              <a:t>        "region_name": "경기도 양평군",</a:t>
            </a:r>
          </a:p>
          <a:p xmlns:a="http://schemas.openxmlformats.org/drawingml/2006/main">
            <a:r>
              <a:t>        "visitors_yoy_pct": 0.4443307513116945,</a:t>
            </a:r>
          </a:p>
          <a:p xmlns:a="http://schemas.openxmlformats.org/drawingml/2006/main">
            <a:r>
              <a:t>        "spending_yoy_pct": 11.522133499214316</a:t>
            </a:r>
          </a:p>
          <a:p xmlns:a="http://schemas.openxmlformats.org/drawingml/2006/main">
            <a:r>
              <a:t>      },</a:t>
            </a:r>
          </a:p>
          <a:p xmlns:a="http://schemas.openxmlformats.org/drawingml/2006/main">
            <a:r>
              <a:t>      {</a:t>
            </a:r>
          </a:p>
          <a:p xmlns:a="http://schemas.openxmlformats.org/drawingml/2006/main">
            <a:r>
              <a:t>        "region_code": "48310",</a:t>
            </a:r>
          </a:p>
          <a:p xmlns:a="http://schemas.openxmlformats.org/drawingml/2006/main">
            <a:r>
              <a:t>        "region_name": "경상남도 거제시",</a:t>
            </a:r>
          </a:p>
          <a:p xmlns:a="http://schemas.openxmlformats.org/drawingml/2006/main">
            <a:r>
              <a:t>        "visitors_yoy_pct": -0.5533626758409849,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"48820",</a:t>
            </a:r>
          </a:p>
          <a:p xmlns:a="http://schemas.openxmlformats.org/drawingml/2006/main">
            <a:r>
              <a:t>        "region_name": "경상남도 고성군",</a:t>
            </a:r>
          </a:p>
          <a:p xmlns:a="http://schemas.openxmlformats.org/drawingml/2006/main">
            <a:r>
              <a:t>        "visitors_yoy_pct": -5.682902364697629,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"48880",</a:t>
            </a:r>
          </a:p>
          <a:p xmlns:a="http://schemas.openxmlformats.org/drawingml/2006/main">
            <a:r>
              <a:t>        "region_name": "경상남도 거창군",</a:t>
            </a:r>
          </a:p>
          <a:p xmlns:a="http://schemas.openxmlformats.org/drawingml/2006/main">
            <a:r>
              <a:t>        "visitors_yoy_pct": -6.197087223670394,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"48250",</a:t>
            </a:r>
          </a:p>
          <a:p xmlns:a="http://schemas.openxmlformats.org/drawingml/2006/main">
            <a:r>
              <a:t>        "region_name": "경상남도 김해시",</a:t>
            </a:r>
          </a:p>
          <a:p xmlns:a="http://schemas.openxmlformats.org/drawingml/2006/main">
            <a:r>
              <a:t>        "visitors_yoy_pct": 1.532627270013709,</a:t>
            </a:r>
          </a:p>
          <a:p xmlns:a="http://schemas.openxmlformats.org/drawingml/2006/main">
            <a:r>
              <a:t>        "spending_yoy_pct": 11.550184318092782</a:t>
            </a:r>
          </a:p>
          <a:p xmlns:a="http://schemas.openxmlformats.org/drawingml/2006/main">
            <a:r>
              <a:t>      },</a:t>
            </a:r>
          </a:p>
          <a:p xmlns:a="http://schemas.openxmlformats.org/drawingml/2006/main">
            <a:r>
              <a:t>      {</a:t>
            </a:r>
          </a:p>
          <a:p xmlns:a="http://schemas.openxmlformats.org/drawingml/2006/main">
            <a:r>
              <a:t>        "region_code": "48840",</a:t>
            </a:r>
          </a:p>
          <a:p xmlns:a="http://schemas.openxmlformats.org/drawingml/2006/main">
            <a:r>
              <a:t>        "region_name": "경상남도 남해군",</a:t>
            </a:r>
          </a:p>
          <a:p xmlns:a="http://schemas.openxmlformats.org/drawingml/2006/main">
            <a:r>
              <a:t>        "visitors_yoy_pct": -0.19569437562877434,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"48270",</a:t>
            </a:r>
          </a:p>
          <a:p xmlns:a="http://schemas.openxmlformats.org/drawingml/2006/main">
            <a:r>
              <a:t>        "region_name": "경상남도 밀양시",</a:t>
            </a:r>
          </a:p>
          <a:p xmlns:a="http://schemas.openxmlformats.org/drawingml/2006/main">
            <a:r>
              <a:t>        "visitors_yoy_pct": -0.9188809536138209,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"48240",</a:t>
            </a:r>
          </a:p>
          <a:p xmlns:a="http://schemas.openxmlformats.org/drawingml/2006/main">
            <a:r>
              <a:t>        "region_name": "경상남도 사천시",</a:t>
            </a:r>
          </a:p>
          <a:p xmlns:a="http://schemas.openxmlformats.org/drawingml/2006/main">
            <a:r>
              <a:t>        "visitors_yoy_pct": -0.013909531225120286,</a:t>
            </a:r>
          </a:p>
          <a:p xmlns:a="http://schemas.openxmlformats.org/drawingml/2006/main">
            <a:r>
              <a:t>        "spending_yoy_pct": 2.9088830140476807</a:t>
            </a:r>
          </a:p>
          <a:p xmlns:a="http://schemas.openxmlformats.org/drawingml/2006/main">
            <a:r>
              <a:t>      },</a:t>
            </a:r>
          </a:p>
          <a:p xmlns:a="http://schemas.openxmlformats.org/drawingml/2006/main">
            <a:r>
              <a:t>      {</a:t>
            </a:r>
          </a:p>
          <a:p xmlns:a="http://schemas.openxmlformats.org/drawingml/2006/main">
            <a:r>
              <a:t>        "region_code": "48860",</a:t>
            </a:r>
          </a:p>
          <a:p xmlns:a="http://schemas.openxmlformats.org/drawingml/2006/main">
            <a:r>
              <a:t>        "region_name": "경상남도 산청군",</a:t>
            </a:r>
          </a:p>
          <a:p xmlns:a="http://schemas.openxmlformats.org/drawingml/2006/main">
            <a:r>
              <a:t>        "visitors_yoy_pct": -0.15207888510152534,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"48330",</a:t>
            </a:r>
          </a:p>
          <a:p xmlns:a="http://schemas.openxmlformats.org/drawingml/2006/main">
            <a:r>
              <a:t>        "region_name": "경상남도 양산시",</a:t>
            </a:r>
          </a:p>
          <a:p xmlns:a="http://schemas.openxmlformats.org/drawingml/2006/main">
            <a:r>
              <a:t>        "visitors_yoy_pct": -1.3899560482204198,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"48720",</a:t>
            </a:r>
          </a:p>
          <a:p xmlns:a="http://schemas.openxmlformats.org/drawingml/2006/main">
            <a:r>
              <a:t>        "region_name": "경상남도 의령군",</a:t>
            </a:r>
          </a:p>
          <a:p xmlns:a="http://schemas.openxmlformats.org/drawingml/2006/main">
            <a:r>
              <a:t>        "visitors_yoy_pct": -7.2910216851574505,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"48170",</a:t>
            </a:r>
          </a:p>
          <a:p xmlns:a="http://schemas.openxmlformats.org/drawingml/2006/main">
            <a:r>
              <a:t>        "region_name": "경상남도 진주시",</a:t>
            </a:r>
          </a:p>
          <a:p xmlns:a="http://schemas.openxmlformats.org/drawingml/2006/main">
            <a:r>
              <a:t>        "visitors_yoy_pct": -5.515868609397323,</a:t>
            </a:r>
          </a:p>
          <a:p xmlns:a="http://schemas.openxmlformats.org/drawingml/2006/main">
            <a:r>
              <a:t>        "spending_yoy_pct": -1.7817730383349328</a:t>
            </a:r>
          </a:p>
          <a:p xmlns:a="http://schemas.openxmlformats.org/drawingml/2006/main">
            <a:r>
              <a:t>      },</a:t>
            </a:r>
          </a:p>
          <a:p xmlns:a="http://schemas.openxmlformats.org/drawingml/2006/main">
            <a:r>
              <a:t>      {</a:t>
            </a:r>
          </a:p>
          <a:p xmlns:a="http://schemas.openxmlformats.org/drawingml/2006/main">
            <a:r>
              <a:t>        "region_code": "48740",</a:t>
            </a:r>
          </a:p>
          <a:p xmlns:a="http://schemas.openxmlformats.org/drawingml/2006/main">
            <a:r>
              <a:t>        "region_name": "경상남도 창녕군",</a:t>
            </a:r>
          </a:p>
          <a:p xmlns:a="http://schemas.openxmlformats.org/drawingml/2006/main">
            <a:r>
              <a:t>        "visitors_yoy_pct": 2.1795297362594557,</a:t>
            </a:r>
          </a:p>
          <a:p xmlns:a="http://schemas.openxmlformats.org/drawingml/2006/main">
            <a:r>
              <a:t>        "spending_yoy_pct": 28.383514181768852</a:t>
            </a:r>
          </a:p>
          <a:p xmlns:a="http://schemas.openxmlformats.org/drawingml/2006/main">
            <a:r>
              <a:t>      },</a:t>
            </a:r>
          </a:p>
          <a:p xmlns:a="http://schemas.openxmlformats.org/drawingml/2006/main">
            <a:r>
              <a:t>      {</a:t>
            </a:r>
          </a:p>
          <a:p xmlns:a="http://schemas.openxmlformats.org/drawingml/2006/main">
            <a:r>
              <a:t>        "region_code": "48125",</a:t>
            </a:r>
          </a:p>
          <a:p xmlns:a="http://schemas.openxmlformats.org/drawingml/2006/main">
            <a:r>
              <a:t>        "region_name": "경상남도 창원시 마산합포구",</a:t>
            </a:r>
          </a:p>
          <a:p xmlns:a="http://schemas.openxmlformats.org/drawingml/2006/main">
            <a:r>
              <a:t>        "visitors_yoy_pct": -3.7906092926320967,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"48127",</a:t>
            </a:r>
          </a:p>
          <a:p xmlns:a="http://schemas.openxmlformats.org/drawingml/2006/main">
            <a:r>
              <a:t>        "region_name": "경상남도 창원시 마산회원구",</a:t>
            </a:r>
          </a:p>
          <a:p xmlns:a="http://schemas.openxmlformats.org/drawingml/2006/main">
            <a:r>
              <a:t>        "visitors_yoy_pct": -0.12463356717037355,</a:t>
            </a:r>
          </a:p>
          <a:p xmlns:a="http://schemas.openxmlformats.org/drawingml/2006/main">
            <a:r>
              <a:t>        "spending_yoy_pct": 15.444220129143616</a:t>
            </a:r>
          </a:p>
          <a:p xmlns:a="http://schemas.openxmlformats.org/drawingml/2006/main">
            <a:r>
              <a:t>      },</a:t>
            </a:r>
          </a:p>
          <a:p xmlns:a="http://schemas.openxmlformats.org/drawingml/2006/main">
            <a:r>
              <a:t>      {</a:t>
            </a:r>
          </a:p>
          <a:p xmlns:a="http://schemas.openxmlformats.org/drawingml/2006/main">
            <a:r>
              <a:t>        "region_code": "48123",</a:t>
            </a:r>
          </a:p>
          <a:p xmlns:a="http://schemas.openxmlformats.org/drawingml/2006/main">
            <a:r>
              <a:t>        "region_name": "경상남도 창원시 성산구",</a:t>
            </a:r>
          </a:p>
          <a:p xmlns:a="http://schemas.openxmlformats.org/drawingml/2006/main">
            <a:r>
              <a:t>        "visitors_yoy_pct": -0.3368063498548568,</a:t>
            </a:r>
          </a:p>
          <a:p xmlns:a="http://schemas.openxmlformats.org/drawingml/2006/main">
            <a:r>
              <a:t>        "spending_yoy_pct": 13.970563515910307</a:t>
            </a:r>
          </a:p>
          <a:p xmlns:a="http://schemas.openxmlformats.org/drawingml/2006/main">
            <a:r>
              <a:t>      },</a:t>
            </a:r>
          </a:p>
          <a:p xmlns:a="http://schemas.openxmlformats.org/drawingml/2006/main">
            <a:r>
              <a:t>      {</a:t>
            </a:r>
          </a:p>
          <a:p xmlns:a="http://schemas.openxmlformats.org/drawingml/2006/main">
            <a:r>
              <a:t>        "region_code": "48121",</a:t>
            </a:r>
          </a:p>
          <a:p xmlns:a="http://schemas.openxmlformats.org/drawingml/2006/main">
            <a:r>
              <a:t>        "region_name": "경상남도 창원시 의창구",</a:t>
            </a:r>
          </a:p>
          <a:p xmlns:a="http://schemas.openxmlformats.org/drawingml/2006/main">
            <a:r>
              <a:t>        "visitors_yoy_pct": 1.010200811824924,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"48129",</a:t>
            </a:r>
          </a:p>
          <a:p xmlns:a="http://schemas.openxmlformats.org/drawingml/2006/main">
            <a:r>
              <a:t>        "region_name": "경상남도 창원시 진해구",</a:t>
            </a:r>
          </a:p>
          <a:p xmlns:a="http://schemas.openxmlformats.org/drawingml/2006/main">
            <a:r>
              <a:t>        "visitors_yoy_pct": 5.772683047324012,</a:t>
            </a:r>
          </a:p>
          <a:p xmlns:a="http://schemas.openxmlformats.org/drawingml/2006/main">
            <a:r>
              <a:t>        "spending_yoy_pct": 16.64700605789211</a:t>
            </a:r>
          </a:p>
          <a:p xmlns:a="http://schemas.openxmlformats.org/drawingml/2006/main">
            <a:r>
              <a:t>      },</a:t>
            </a:r>
          </a:p>
          <a:p xmlns:a="http://schemas.openxmlformats.org/drawingml/2006/main">
            <a:r>
              <a:t>      {</a:t>
            </a:r>
          </a:p>
          <a:p xmlns:a="http://schemas.openxmlformats.org/drawingml/2006/main">
            <a:r>
              <a:t>        "region_code": "48220",</a:t>
            </a:r>
          </a:p>
          <a:p xmlns:a="http://schemas.openxmlformats.org/drawingml/2006/main">
            <a:r>
              <a:t>        "region_name": "경상남도 통영시",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"48850",</a:t>
            </a:r>
          </a:p>
          <a:p xmlns:a="http://schemas.openxmlformats.org/drawingml/2006/main">
            <a:r>
              <a:t>        "region_name": "경상남도 하동군",</a:t>
            </a:r>
          </a:p>
          <a:p xmlns:a="http://schemas.openxmlformats.org/drawingml/2006/main">
            <a:r>
              <a:t>        "visitors_yoy_pct": 7.0968608639590425,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"48730",</a:t>
            </a:r>
          </a:p>
          <a:p xmlns:a="http://schemas.openxmlformats.org/drawingml/2006/main">
            <a:r>
              <a:t>        "region_name": "경상남도 함안군",</a:t>
            </a:r>
          </a:p>
          <a:p xmlns:a="http://schemas.openxmlformats.org/drawingml/2006/main">
            <a:r>
              <a:t>        "visitors_yoy_pct": 8.91384142916214,</a:t>
            </a:r>
          </a:p>
          <a:p xmlns:a="http://schemas.openxmlformats.org/drawingml/2006/main">
            <a:r>
              <a:t>        "spending_yoy_pct": 51.42963050638678</a:t>
            </a:r>
          </a:p>
          <a:p xmlns:a="http://schemas.openxmlformats.org/drawingml/2006/main">
            <a:r>
              <a:t>      },</a:t>
            </a:r>
          </a:p>
          <a:p xmlns:a="http://schemas.openxmlformats.org/drawingml/2006/main">
            <a:r>
              <a:t>      {</a:t>
            </a:r>
          </a:p>
          <a:p xmlns:a="http://schemas.openxmlformats.org/drawingml/2006/main">
            <a:r>
              <a:t>        "region_code": "48870",</a:t>
            </a:r>
          </a:p>
          <a:p xmlns:a="http://schemas.openxmlformats.org/drawingml/2006/main">
            <a:r>
              <a:t>        "region_name": "경상남도 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"48890",</a:t>
            </a:r>
          </a:p>
          <a:p xmlns:a="http://schemas.openxmlformats.org/drawingml/2006/main">
            <a:r>
              <a:t>        "region_name": "경상남도 합천군",</a:t>
            </a:r>
          </a:p>
          <a:p xmlns:a="http://schemas.openxmlformats.org/drawingml/2006/main">
            <a:r>
              <a:t>        "visitors_yoy_pct": -4.5613101360050035,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"47290",</a:t>
            </a:r>
          </a:p>
          <a:p xmlns:a="http://schemas.openxmlformats.org/drawingml/2006/main">
            <a:r>
              <a:t>        "region_name": "경상북도 경산시",</a:t>
            </a:r>
          </a:p>
          <a:p xmlns:a="http://schemas.openxmlformats.org/drawingml/2006/main">
            <a:r>
              <a:t>        "visitors_yoy_pct": 4.65529590507352,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"47130",</a:t>
            </a:r>
          </a:p>
          <a:p xmlns:a="http://schemas.openxmlformats.org/drawingml/2006/main">
            <a:r>
              <a:t>        "region_name": "경상북도 경주시",</a:t>
            </a:r>
          </a:p>
          <a:p xmlns:a="http://schemas.openxmlformats.org/drawingml/2006/main">
            <a:r>
              <a:t>        "visitors_yoy_pct": 0.31874615966416275,</a:t>
            </a:r>
          </a:p>
          <a:p xmlns:a="http://schemas.openxmlformats.org/drawingml/2006/main">
            <a:r>
              <a:t>        "spending_yoy_pct": 199.8299142834811</a:t>
            </a:r>
          </a:p>
          <a:p xmlns:a="http://schemas.openxmlformats.org/drawingml/2006/main">
            <a:r>
              <a:t>      },</a:t>
            </a:r>
          </a:p>
          <a:p xmlns:a="http://schemas.openxmlformats.org/drawingml/2006/main">
            <a:r>
              <a:t>      {</a:t>
            </a:r>
          </a:p>
          <a:p xmlns:a="http://schemas.openxmlformats.org/drawingml/2006/main">
            <a:r>
              <a:t>        "region_code": "47830",</a:t>
            </a:r>
          </a:p>
          <a:p xmlns:a="http://schemas.openxmlformats.org/drawingml/2006/main">
            <a:r>
              <a:t>        "region_name": "경상북도 고령군",</a:t>
            </a:r>
          </a:p>
          <a:p xmlns:a="http://schemas.openxmlformats.org/drawingml/2006/main">
            <a:r>
              <a:t>        "visitors_yoy_pct": -3.899263505165773,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"47190",</a:t>
            </a:r>
          </a:p>
          <a:p xmlns:a="http://schemas.openxmlformats.org/drawingml/2006/main">
            <a:r>
              <a:t>        "region_name": "경상북도 구미시",</a:t>
            </a:r>
          </a:p>
          <a:p xmlns:a="http://schemas.openxmlformats.org/drawingml/2006/main">
            <a:r>
              <a:t>        "visitors_yoy_pct": -1.8883975251061003,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"47150",</a:t>
            </a:r>
          </a:p>
          <a:p xmlns:a="http://schemas.openxmlformats.org/drawingml/2006/main">
            <a:r>
              <a:t>        "region_name": "경상북도 김천시",</a:t>
            </a:r>
          </a:p>
          <a:p xmlns:a="http://schemas.openxmlformats.org/drawingml/2006/main">
            <a:r>
              <a:t>        "visitors_yoy_pct": 0.11812466942986433,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"47280",</a:t>
            </a:r>
          </a:p>
          <a:p xmlns:a="http://schemas.openxmlformats.org/drawingml/2006/main">
            <a:r>
              <a:t>        "region_name": "경상북도 문경시",</a:t>
            </a:r>
          </a:p>
          <a:p xmlns:a="http://schemas.openxmlformats.org/drawingml/2006/main">
            <a:r>
              <a:t>        "visitors_yoy_pct": -4.449903676617362,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"47920",</a:t>
            </a:r>
          </a:p>
          <a:p xmlns:a="http://schemas.openxmlformats.org/drawingml/2006/main">
            <a:r>
              <a:t>        "region_name": "경상북도 봉화군",</a:t>
            </a:r>
          </a:p>
          <a:p xmlns:a="http://schemas.openxmlformats.org/drawingml/2006/main">
            <a:r>
              <a:t>        "visitors_yoy_pct": -4.529772428896173,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"47250",</a:t>
            </a:r>
          </a:p>
          <a:p xmlns:a="http://schemas.openxmlformats.org/drawingml/2006/main">
            <a:r>
              <a:t>        "region_name": "경상북도 상주시",</a:t>
            </a:r>
          </a:p>
          <a:p xmlns:a="http://schemas.openxmlformats.org/drawingml/2006/main">
            <a:r>
              <a:t>        "visitors_yoy_pct": -3.967948727511972,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"47840",</a:t>
            </a:r>
          </a:p>
          <a:p xmlns:a="http://schemas.openxmlformats.org/drawingml/2006/main">
            <a:r>
              <a:t>        "region_name": "경상북도 성주군",</a:t>
            </a:r>
          </a:p>
          <a:p xmlns:a="http://schemas.openxmlformats.org/drawingml/2006/main">
            <a:r>
              <a:t>        "visitors_yoy_pct": -0.2007651826217982,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"47170",</a:t>
            </a:r>
          </a:p>
          <a:p xmlns:a="http://schemas.openxmlformats.org/drawingml/2006/main">
            <a:r>
              <a:t>        "region_name": "경상북도 안동시",</a:t>
            </a:r>
          </a:p>
          <a:p xmlns:a="http://schemas.openxmlformats.org/drawingml/2006/main">
            <a:r>
              <a:t>        "visitors_yoy_pct": -3.204974055201437,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"47770",</a:t>
            </a:r>
          </a:p>
          <a:p xmlns:a="http://schemas.openxmlformats.org/drawingml/2006/main">
            <a:r>
              <a:t>        "region_name": "경상북도 영덕군",</a:t>
            </a:r>
          </a:p>
          <a:p xmlns:a="http://schemas.openxmlformats.org/drawingml/2006/main">
            <a:r>
              <a:t>        "visitors_yoy_pct": 0.0,</a:t>
            </a:r>
          </a:p>
          <a:p xmlns:a="http://schemas.openxmlformats.org/drawingml/2006/main">
            <a:r>
              <a:t>        "spending_yoy_pct": 21.98935102974735</a:t>
            </a:r>
          </a:p>
          <a:p xmlns:a="http://schemas.openxmlformats.org/drawingml/2006/main">
            <a:r>
              <a:t>      },</a:t>
            </a:r>
          </a:p>
          <a:p xmlns:a="http://schemas.openxmlformats.org/drawingml/2006/main">
            <a:r>
              <a:t>      {</a:t>
            </a:r>
          </a:p>
          <a:p xmlns:a="http://schemas.openxmlformats.org/drawingml/2006/main">
            <a:r>
              <a:t>        "region_code": "47760",</a:t>
            </a:r>
          </a:p>
          <a:p xmlns:a="http://schemas.openxmlformats.org/drawingml/2006/main">
            <a:r>
              <a:t>        "region_name": "경상북도 영양군",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"47210",</a:t>
            </a:r>
          </a:p>
          <a:p xmlns:a="http://schemas.openxmlformats.org/drawingml/2006/main">
            <a:r>
              <a:t>        "region_name": "경상북도 영주시",</a:t>
            </a:r>
          </a:p>
          <a:p xmlns:a="http://schemas.openxmlformats.org/drawingml/2006/main">
            <a:r>
              <a:t>        "visitors_yoy_pct": 0.0,</a:t>
            </a:r>
          </a:p>
          <a:p xmlns:a="http://schemas.openxmlformats.org/drawingml/2006/main">
            <a:r>
              <a:t>        "spending_yoy_pct": -23.845377664211888</a:t>
            </a:r>
          </a:p>
          <a:p xmlns:a="http://schemas.openxmlformats.org/drawingml/2006/main">
            <a:r>
              <a:t>      },</a:t>
            </a:r>
          </a:p>
          <a:p xmlns:a="http://schemas.openxmlformats.org/drawingml/2006/main">
            <a:r>
              <a:t>      {</a:t>
            </a:r>
          </a:p>
          <a:p xmlns:a="http://schemas.openxmlformats.org/drawingml/2006/main">
            <a:r>
              <a:t>        "region_code": "47230",</a:t>
            </a:r>
          </a:p>
          <a:p xmlns:a="http://schemas.openxmlformats.org/drawingml/2006/main">
            <a:r>
              <a:t>        "region_name": "경상북도 영천시",</a:t>
            </a:r>
          </a:p>
          <a:p xmlns:a="http://schemas.openxmlformats.org/drawingml/2006/main">
            <a:r>
              <a:t>        "visitors_yoy_pct": 0.0,</a:t>
            </a:r>
          </a:p>
          <a:p xmlns:a="http://schemas.openxmlformats.org/drawingml/2006/main">
            <a:r>
              <a:t>        "spending_yoy_pct": 77.2454788529685</a:t>
            </a:r>
          </a:p>
          <a:p xmlns:a="http://schemas.openxmlformats.org/drawingml/2006/main">
            <a:r>
              <a:t>      },</a:t>
            </a:r>
          </a:p>
          <a:p xmlns:a="http://schemas.openxmlformats.org/drawingml/2006/main">
            <a:r>
              <a:t>      {</a:t>
            </a:r>
          </a:p>
          <a:p xmlns:a="http://schemas.openxmlformats.org/drawingml/2006/main">
            <a:r>
              <a:t>        "region_code": "47900",</a:t>
            </a:r>
          </a:p>
          <a:p xmlns:a="http://schemas.openxmlformats.org/drawingml/2006/main">
            <a:r>
              <a:t>        "region_name": "경상북도 예천군",</a:t>
            </a:r>
          </a:p>
          <a:p xmlns:a="http://schemas.openxmlformats.org/drawingml/2006/main">
            <a:r>
              <a:t>        "visitors_yoy_pct": -2.975129590969039,</a:t>
            </a:r>
          </a:p>
          <a:p xmlns:a="http://schemas.openxmlformats.org/drawingml/2006/main">
            <a:r>
              <a:t>        "spending_yoy_pct": -1.629426609535689</a:t>
            </a:r>
          </a:p>
          <a:p xmlns:a="http://schemas.openxmlformats.org/drawingml/2006/main">
            <a:r>
              <a:t>      },</a:t>
            </a:r>
          </a:p>
          <a:p xmlns:a="http://schemas.openxmlformats.org/drawingml/2006/main">
            <a:r>
              <a:t>      {</a:t>
            </a:r>
          </a:p>
          <a:p xmlns:a="http://schemas.openxmlformats.org/drawingml/2006/main">
            <a:r>
              <a:t>        "region_code": "47940",</a:t>
            </a:r>
          </a:p>
          <a:p xmlns:a="http://schemas.openxmlformats.org/drawingml/2006/main">
            <a:r>
              <a:t>        "region_name": "경상북도 울릉군",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"47930",</a:t>
            </a:r>
          </a:p>
          <a:p xmlns:a="http://schemas.openxmlformats.org/drawingml/2006/main">
            <a:r>
              <a:t>        "region_name": "경상북도 울진군",</a:t>
            </a:r>
          </a:p>
          <a:p xmlns:a="http://schemas.openxmlformats.org/drawingml/2006/main">
            <a:r>
              <a:t>        "visitors_yoy_pct": 0.0,</a:t>
            </a:r>
          </a:p>
          <a:p xmlns:a="http://schemas.openxmlformats.org/drawingml/2006/main">
            <a:r>
              <a:t>        "spending_yoy_pct": 13.71754848584239</a:t>
            </a:r>
          </a:p>
          <a:p xmlns:a="http://schemas.openxmlformats.org/drawingml/2006/main">
            <a:r>
              <a:t>      },</a:t>
            </a:r>
          </a:p>
          <a:p xmlns:a="http://schemas.openxmlformats.org/drawingml/2006/main">
            <a:r>
              <a:t>      {</a:t>
            </a:r>
          </a:p>
          <a:p xmlns:a="http://schemas.openxmlformats.org/drawingml/2006/main">
            <a:r>
              <a:t>        "region_code": "47730",</a:t>
            </a:r>
          </a:p>
          <a:p xmlns:a="http://schemas.openxmlformats.org/drawingml/2006/main">
            <a:r>
              <a:t>        "region_name": "경상북도 의성군",</a:t>
            </a:r>
          </a:p>
          <a:p xmlns:a="http://schemas.openxmlformats.org/drawingml/2006/main">
            <a:r>
              <a:t>        "visitors_yoy_pct": 2.817683783685676,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"47820",</a:t>
            </a:r>
          </a:p>
          <a:p xmlns:a="http://schemas.openxmlformats.org/drawingml/2006/main">
            <a:r>
              <a:t>        "region_name": "경상북도 청도군",</a:t>
            </a:r>
          </a:p>
          <a:p xmlns:a="http://schemas.openxmlformats.org/drawingml/2006/main">
            <a:r>
              <a:t>        "visitors_yoy_pct": 2.4821537544526873,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"47750",</a:t>
            </a:r>
          </a:p>
          <a:p xmlns:a="http://schemas.openxmlformats.org/drawingml/2006/main">
            <a:r>
              <a:t>        "region_name": "경상북도 청송군",</a:t>
            </a:r>
          </a:p>
          <a:p xmlns:a="http://schemas.openxmlformats.org/drawingml/2006/main">
            <a:r>
              <a:t>        "visitors_yoy_pct": -8.388009807135566,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"47850",</a:t>
            </a:r>
          </a:p>
          <a:p xmlns:a="http://schemas.openxmlformats.org/drawingml/2006/main">
            <a:r>
              <a:t>        "region_name": "경상북도 칠곡군",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"47111",</a:t>
            </a:r>
          </a:p>
          <a:p xmlns:a="http://schemas.openxmlformats.org/drawingml/2006/main">
            <a:r>
              <a:t>        "region_name": "경상북도 포항시 남구",</a:t>
            </a:r>
          </a:p>
          <a:p xmlns:a="http://schemas.openxmlformats.org/drawingml/2006/main">
            <a:r>
              <a:t>        "visitors_yoy_pct": 1.1946114274143271,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"47113",</a:t>
            </a:r>
          </a:p>
          <a:p xmlns:a="http://schemas.openxmlformats.org/drawingml/2006/main">
            <a:r>
              <a:t>        "region_name": "경상북도 포항시 북구",</a:t>
            </a:r>
          </a:p>
          <a:p xmlns:a="http://schemas.openxmlformats.org/drawingml/2006/main">
            <a:r>
              <a:t>        "visitors_yoy_pct": -0.8521609077245751,</a:t>
            </a:r>
          </a:p>
          <a:p xmlns:a="http://schemas.openxmlformats.org/drawingml/2006/main">
            <a:r>
              <a:t>        "spending_yoy_pct": 11.610152246182537</a:t>
            </a:r>
          </a:p>
          <a:p xmlns:a="http://schemas.openxmlformats.org/drawingml/2006/main">
            <a:r>
              <a:t>      },</a:t>
            </a:r>
          </a:p>
          <a:p xmlns:a="http://schemas.openxmlformats.org/drawingml/2006/main">
            <a:r>
              <a:t>      {</a:t>
            </a:r>
          </a:p>
          <a:p xmlns:a="http://schemas.openxmlformats.org/drawingml/2006/main">
            <a:r>
              <a:t>        "region_code": "29200",</a:t>
            </a:r>
          </a:p>
          <a:p xmlns:a="http://schemas.openxmlformats.org/drawingml/2006/main">
            <a:r>
              <a:t>        "region_name": "광주광역시 광산구",</a:t>
            </a:r>
          </a:p>
          <a:p xmlns:a="http://schemas.openxmlformats.org/drawingml/2006/main">
            <a:r>
              <a:t>        "visitors_yoy_pct": -0.7214500007304392,</a:t>
            </a:r>
          </a:p>
          <a:p xmlns:a="http://schemas.openxmlformats.org/drawingml/2006/main">
            <a:r>
              <a:t>        "spending_yoy_pct": 7.591638703469283</a:t>
            </a:r>
          </a:p>
          <a:p xmlns:a="http://schemas.openxmlformats.org/drawingml/2006/main">
            <a:r>
              <a:t>      },</a:t>
            </a:r>
          </a:p>
          <a:p xmlns:a="http://schemas.openxmlformats.org/drawingml/2006/main">
            <a:r>
              <a:t>      {</a:t>
            </a:r>
          </a:p>
          <a:p xmlns:a="http://schemas.openxmlformats.org/drawingml/2006/main">
            <a:r>
              <a:t>        "region_code": "29155",</a:t>
            </a:r>
          </a:p>
          <a:p xmlns:a="http://schemas.openxmlformats.org/drawingml/2006/main">
            <a:r>
              <a:t>        "region_name": "광주광역시 남구",</a:t>
            </a:r>
          </a:p>
          <a:p xmlns:a="http://schemas.openxmlformats.org/drawingml/2006/main">
            <a:r>
              <a:t>        "visitors_yoy_pct": -0.9553189898898751,</a:t>
            </a:r>
          </a:p>
          <a:p xmlns:a="http://schemas.openxmlformats.org/drawingml/2006/main">
            <a:r>
              <a:t>        "spending_yoy_pct": -1.8532051877563682</a:t>
            </a:r>
          </a:p>
          <a:p xmlns:a="http://schemas.openxmlformats.org/drawingml/2006/main">
            <a:r>
              <a:t>      },</a:t>
            </a:r>
          </a:p>
          <a:p xmlns:a="http://schemas.openxmlformats.org/drawingml/2006/main">
            <a:r>
              <a:t>      {</a:t>
            </a:r>
          </a:p>
          <a:p xmlns:a="http://schemas.openxmlformats.org/drawingml/2006/main">
            <a:r>
              <a:t>        "region_code": "29110",</a:t>
            </a:r>
          </a:p>
          <a:p xmlns:a="http://schemas.openxmlformats.org/drawingml/2006/main">
            <a:r>
              <a:t>        "region_name": "광주광역시 동구",</a:t>
            </a:r>
          </a:p>
          <a:p xmlns:a="http://schemas.openxmlformats.org/drawingml/2006/main">
            <a:r>
              <a:t>        "visitors_yoy_pct": 4.555014466689378,</a:t>
            </a:r>
          </a:p>
          <a:p xmlns:a="http://schemas.openxmlformats.org/drawingml/2006/main">
            <a:r>
              <a:t>        "spending_yoy_pct": 12.98517569147155</a:t>
            </a:r>
          </a:p>
          <a:p xmlns:a="http://schemas.openxmlformats.org/drawingml/2006/main">
            <a:r>
              <a:t>      },</a:t>
            </a:r>
          </a:p>
          <a:p xmlns:a="http://schemas.openxmlformats.org/drawingml/2006/main">
            <a:r>
              <a:t>      {</a:t>
            </a:r>
          </a:p>
          <a:p xmlns:a="http://schemas.openxmlformats.org/drawingml/2006/main">
            <a:r>
              <a:t>        "region_code": "29170",</a:t>
            </a:r>
          </a:p>
          <a:p xmlns:a="http://schemas.openxmlformats.org/drawingml/2006/main">
            <a:r>
              <a:t>        "region_name": "광주광역시 북구",</a:t>
            </a:r>
          </a:p>
          <a:p xmlns:a="http://schemas.openxmlformats.org/drawingml/2006/main">
            <a:r>
              <a:t>        "visitors_yoy_pct": 2.6888462104591726,</a:t>
            </a:r>
          </a:p>
          <a:p xmlns:a="http://schemas.openxmlformats.org/drawingml/2006/main">
            <a:r>
              <a:t>        "spending_yoy_pct": 1.7726236280316332</a:t>
            </a:r>
          </a:p>
          <a:p xmlns:a="http://schemas.openxmlformats.org/drawingml/2006/main">
            <a:r>
              <a:t>      },</a:t>
            </a:r>
          </a:p>
          <a:p xmlns:a="http://schemas.openxmlformats.org/drawingml/2006/main">
            <a:r>
              <a:t>      {</a:t>
            </a:r>
          </a:p>
          <a:p xmlns:a="http://schemas.openxmlformats.org/drawingml/2006/main">
            <a:r>
              <a:t>        "region_code": "29140",</a:t>
            </a:r>
          </a:p>
          <a:p xmlns:a="http://schemas.openxmlformats.org/drawingml/2006/main">
            <a:r>
              <a:t>        "region_name": "광주광역시 서구",</a:t>
            </a:r>
          </a:p>
          <a:p xmlns:a="http://schemas.openxmlformats.org/drawingml/2006/main">
            <a:r>
              <a:t>        "visitors_yoy_pct": -0.9873473880396388,</a:t>
            </a:r>
          </a:p>
          <a:p xmlns:a="http://schemas.openxmlformats.org/drawingml/2006/main">
            <a:r>
              <a:t>        "spending_yoy_pct": 4.430062438540672</a:t>
            </a:r>
          </a:p>
          <a:p xmlns:a="http://schemas.openxmlformats.org/drawingml/2006/main">
            <a:r>
              <a:t>      },</a:t>
            </a:r>
          </a:p>
          <a:p xmlns:a="http://schemas.openxmlformats.org/drawingml/2006/main">
            <a:r>
              <a:t>      {</a:t>
            </a:r>
          </a:p>
          <a:p xmlns:a="http://schemas.openxmlformats.org/drawingml/2006/main">
            <a:r>
              <a:t>        "region_code": "27720",</a:t>
            </a:r>
          </a:p>
          <a:p xmlns:a="http://schemas.openxmlformats.org/drawingml/2006/main">
            <a:r>
              <a:t>        "region_name": "대구광역시 군위군",</a:t>
            </a:r>
          </a:p>
          <a:p xmlns:a="http://schemas.openxmlformats.org/drawingml/2006/main">
            <a:r>
              <a:t>        "visitors_yoy_pct": -5.749236240423238,</a:t>
            </a:r>
          </a:p>
          <a:p xmlns:a="http://schemas.openxmlformats.org/drawingml/2006/main">
            <a:r>
              <a:t>        "spending_yoy_pct": -3.869100627733313</a:t>
            </a:r>
          </a:p>
          <a:p xmlns:a="http://schemas.openxmlformats.org/drawingml/2006/main">
            <a:r>
              <a:t>      },</a:t>
            </a:r>
          </a:p>
          <a:p xmlns:a="http://schemas.openxmlformats.org/drawingml/2006/main">
            <a:r>
              <a:t>      {</a:t>
            </a:r>
          </a:p>
          <a:p xmlns:a="http://schemas.openxmlformats.org/drawingml/2006/main">
            <a:r>
              <a:t>        "region_code": "27200",</a:t>
            </a:r>
          </a:p>
          <a:p xmlns:a="http://schemas.openxmlformats.org/drawingml/2006/main">
            <a:r>
              <a:t>        "region_name": "대구광역시 남구",</a:t>
            </a:r>
          </a:p>
          <a:p xmlns:a="http://schemas.openxmlformats.org/drawingml/2006/main">
            <a:r>
              <a:t>        "visitors_yoy_pct": 1.3969318106962447,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"27290",</a:t>
            </a:r>
          </a:p>
          <a:p xmlns:a="http://schemas.openxmlformats.org/drawingml/2006/main">
            <a:r>
              <a:t>        "region_name": "대구광역시 달서구",</a:t>
            </a:r>
          </a:p>
          <a:p xmlns:a="http://schemas.openxmlformats.org/drawingml/2006/main">
            <a:r>
              <a:t>        "visitors_yoy_pct": -0.22657328637972762,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"27710",</a:t>
            </a:r>
          </a:p>
          <a:p xmlns:a="http://schemas.openxmlformats.org/drawingml/2006/main">
            <a:r>
              <a:t>        "region_name": "대구광역시 달성군",</a:t>
            </a:r>
          </a:p>
          <a:p xmlns:a="http://schemas.openxmlformats.org/drawingml/2006/main">
            <a:r>
              <a:t>        "visitors_yoy_pct": 1.5620618810417541,</a:t>
            </a:r>
          </a:p>
          <a:p xmlns:a="http://schemas.openxmlformats.org/drawingml/2006/main">
            <a:r>
              <a:t>        "spending_yoy_pct": 18.180566393295393</a:t>
            </a:r>
          </a:p>
          <a:p xmlns:a="http://schemas.openxmlformats.org/drawingml/2006/main">
            <a:r>
              <a:t>      },</a:t>
            </a:r>
          </a:p>
          <a:p xmlns:a="http://schemas.openxmlformats.org/drawingml/2006/main">
            <a:r>
              <a:t>      {</a:t>
            </a:r>
          </a:p>
          <a:p xmlns:a="http://schemas.openxmlformats.org/drawingml/2006/main">
            <a:r>
              <a:t>        "region_code": "27140",</a:t>
            </a:r>
          </a:p>
          <a:p xmlns:a="http://schemas.openxmlformats.org/drawingml/2006/main">
            <a:r>
              <a:t>        "region_name": "대구광역시 동구",</a:t>
            </a:r>
          </a:p>
          <a:p xmlns:a="http://schemas.openxmlformats.org/drawingml/2006/main">
            <a:r>
              <a:t>        "visitors_yoy_pct": -2.906227538650663,</a:t>
            </a:r>
          </a:p>
          <a:p xmlns:a="http://schemas.openxmlformats.org/drawingml/2006/main">
            <a:r>
              <a:t>        "spending_yoy_pct": 4.35084627396245</a:t>
            </a:r>
          </a:p>
          <a:p xmlns:a="http://schemas.openxmlformats.org/drawingml/2006/main">
            <a:r>
              <a:t>      },</a:t>
            </a:r>
          </a:p>
          <a:p xmlns:a="http://schemas.openxmlformats.org/drawingml/2006/main">
            <a:r>
              <a:t>      {</a:t>
            </a:r>
          </a:p>
          <a:p xmlns:a="http://schemas.openxmlformats.org/drawingml/2006/main">
            <a:r>
              <a:t>        "region_code": "27230",</a:t>
            </a:r>
          </a:p>
          <a:p xmlns:a="http://schemas.openxmlformats.org/drawingml/2006/main">
            <a:r>
              <a:t>        "region_name": "대구광역시 북구",</a:t>
            </a:r>
          </a:p>
          <a:p xmlns:a="http://schemas.openxmlformats.org/drawingml/2006/main">
            <a:r>
              <a:t>        "visitors_yoy_pct": 0.7014064474913484,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"27170",</a:t>
            </a:r>
          </a:p>
          <a:p xmlns:a="http://schemas.openxmlformats.org/drawingml/2006/main">
            <a:r>
              <a:t>        "region_name": "대구광역시 서구",</a:t>
            </a:r>
          </a:p>
          <a:p xmlns:a="http://schemas.openxmlformats.org/drawingml/2006/main">
            <a:r>
              <a:t>        "visitors_yoy_pct": -3.2244991634435616,</a:t>
            </a:r>
          </a:p>
          <a:p xmlns:a="http://schemas.openxmlformats.org/drawingml/2006/main">
            <a:r>
              <a:t>        "spending_yoy_pct": 9.438557404688797</a:t>
            </a:r>
          </a:p>
          <a:p xmlns:a="http://schemas.openxmlformats.org/drawingml/2006/main">
            <a:r>
              <a:t>      },</a:t>
            </a:r>
          </a:p>
          <a:p xmlns:a="http://schemas.openxmlformats.org/drawingml/2006/main">
            <a:r>
              <a:t>      {</a:t>
            </a:r>
          </a:p>
          <a:p xmlns:a="http://schemas.openxmlformats.org/drawingml/2006/main">
            <a:r>
              <a:t>        "region_code": "27260",</a:t>
            </a:r>
          </a:p>
          <a:p xmlns:a="http://schemas.openxmlformats.org/drawingml/2006/main">
            <a:r>
              <a:t>        "region_name": "대구광역시 수성구",</a:t>
            </a:r>
          </a:p>
          <a:p xmlns:a="http://schemas.openxmlformats.org/drawingml/2006/main">
            <a:r>
              <a:t>        "visitors_yoy_pct": 0.652448528912597,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"27110",</a:t>
            </a:r>
          </a:p>
          <a:p xmlns:a="http://schemas.openxmlformats.org/drawingml/2006/main">
            <a:r>
              <a:t>        "region_name": "대구광역시 중구",</a:t>
            </a:r>
          </a:p>
          <a:p xmlns:a="http://schemas.openxmlformats.org/drawingml/2006/main">
            <a:r>
              <a:t>        "visitors_yoy_pct": 4.100821235547691,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"30230",</a:t>
            </a:r>
          </a:p>
          <a:p xmlns:a="http://schemas.openxmlformats.org/drawingml/2006/main">
            <a:r>
              <a:t>        "region_name": "대전광역시 대덕구",</a:t>
            </a:r>
          </a:p>
          <a:p xmlns:a="http://schemas.openxmlformats.org/drawingml/2006/main">
            <a:r>
              <a:t>        "visitors_yoy_pct": 0.403969457144826,</a:t>
            </a:r>
          </a:p>
          <a:p xmlns:a="http://schemas.openxmlformats.org/drawingml/2006/main">
            <a:r>
              <a:t>        "spending_yoy_pct": 8.655919147978096</a:t>
            </a:r>
          </a:p>
          <a:p xmlns:a="http://schemas.openxmlformats.org/drawingml/2006/main">
            <a:r>
              <a:t>      },</a:t>
            </a:r>
          </a:p>
          <a:p xmlns:a="http://schemas.openxmlformats.org/drawingml/2006/main">
            <a:r>
              <a:t>      {</a:t>
            </a:r>
          </a:p>
          <a:p xmlns:a="http://schemas.openxmlformats.org/drawingml/2006/main">
            <a:r>
              <a:t>        "region_code": "30110",</a:t>
            </a:r>
          </a:p>
          <a:p xmlns:a="http://schemas.openxmlformats.org/drawingml/2006/main">
            <a:r>
              <a:t>        "region_name": "대전광역시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"30170",</a:t>
            </a:r>
          </a:p>
          <a:p xmlns:a="http://schemas.openxmlformats.org/drawingml/2006/main">
            <a:r>
              <a:t>        "region_name": "대전광역시 서구",</a:t>
            </a:r>
          </a:p>
          <a:p xmlns:a="http://schemas.openxmlformats.org/drawingml/2006/main">
            <a:r>
              <a:t>        "visitors_yoy_pct": -1.766149282488072,</a:t>
            </a:r>
          </a:p>
          <a:p xmlns:a="http://schemas.openxmlformats.org/drawingml/2006/main">
            <a:r>
              <a:t>        "spending_yoy_pct": 4.485906316657062</a:t>
            </a:r>
          </a:p>
          <a:p xmlns:a="http://schemas.openxmlformats.org/drawingml/2006/main">
            <a:r>
              <a:t>      },</a:t>
            </a:r>
          </a:p>
          <a:p xmlns:a="http://schemas.openxmlformats.org/drawingml/2006/main">
            <a:r>
              <a:t>      {</a:t>
            </a:r>
          </a:p>
          <a:p xmlns:a="http://schemas.openxmlformats.org/drawingml/2006/main">
            <a:r>
              <a:t>        "region_code": "30200",</a:t>
            </a:r>
          </a:p>
          <a:p xmlns:a="http://schemas.openxmlformats.org/drawingml/2006/main">
            <a:r>
              <a:t>        "region_name": "대전광역시 유성구",</a:t>
            </a:r>
          </a:p>
          <a:p xmlns:a="http://schemas.openxmlformats.org/drawingml/2006/main">
            <a:r>
              <a:t>        "visitors_yoy_pct": 0.9780077525350483,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"30140",</a:t>
            </a:r>
          </a:p>
          <a:p xmlns:a="http://schemas.openxmlformats.org/drawingml/2006/main">
            <a:r>
              <a:t>        "region_name": "대전광역시 중구",</a:t>
            </a:r>
          </a:p>
          <a:p xmlns:a="http://schemas.openxmlformats.org/drawingml/2006/main">
            <a:r>
              <a:t>        "visitors_yoy_pct": 4.733581858819513,</a:t>
            </a:r>
          </a:p>
          <a:p xmlns:a="http://schemas.openxmlformats.org/drawingml/2006/main">
            <a:r>
              <a:t>        "spending_yoy_pct": 11.04932382073196</a:t>
            </a:r>
          </a:p>
          <a:p xmlns:a="http://schemas.openxmlformats.org/drawingml/2006/main">
            <a:r>
              <a:t>      },</a:t>
            </a:r>
          </a:p>
          <a:p xmlns:a="http://schemas.openxmlformats.org/drawingml/2006/main">
            <a:r>
              <a:t>      {</a:t>
            </a:r>
          </a:p>
          <a:p xmlns:a="http://schemas.openxmlformats.org/drawingml/2006/main">
            <a:r>
              <a:t>        "region_code": "26440",</a:t>
            </a:r>
          </a:p>
          <a:p xmlns:a="http://schemas.openxmlformats.org/drawingml/2006/main">
            <a:r>
              <a:t>        "region_name": "부산광역시 강서구",</a:t>
            </a:r>
          </a:p>
          <a:p xmlns:a="http://schemas.openxmlformats.org/drawingml/2006/main">
            <a:r>
              <a:t>        "visitors_yoy_pct": -0.9787440386389679,</a:t>
            </a:r>
          </a:p>
          <a:p xmlns:a="http://schemas.openxmlformats.org/drawingml/2006/main">
            <a:r>
              <a:t>        "spending_yoy_pct": 33.77418347740544</a:t>
            </a:r>
          </a:p>
          <a:p xmlns:a="http://schemas.openxmlformats.org/drawingml/2006/main">
            <a:r>
              <a:t>      },</a:t>
            </a:r>
          </a:p>
          <a:p xmlns:a="http://schemas.openxmlformats.org/drawingml/2006/main">
            <a:r>
              <a:t>      {</a:t>
            </a:r>
          </a:p>
          <a:p xmlns:a="http://schemas.openxmlformats.org/drawingml/2006/main">
            <a:r>
              <a:t>        "region_code": "26410",</a:t>
            </a:r>
          </a:p>
          <a:p xmlns:a="http://schemas.openxmlformats.org/drawingml/2006/main">
            <a:r>
              <a:t>        "region_name": "부산광역시 금정구",</a:t>
            </a:r>
          </a:p>
          <a:p xmlns:a="http://schemas.openxmlformats.org/drawingml/2006/main">
            <a:r>
              <a:t>        "visitors_yoy_pct": 4.408676083206853,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"26710",</a:t>
            </a:r>
          </a:p>
          <a:p xmlns:a="http://schemas.openxmlformats.org/drawingml/2006/main">
            <a:r>
              <a:t>        "region_name": "부산광역시 기장군",</a:t>
            </a:r>
          </a:p>
          <a:p xmlns:a="http://schemas.openxmlformats.org/drawingml/2006/main">
            <a:r>
              <a:t>        "visitors_yoy_pct": -3.5195344542938822,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"26290",</a:t>
            </a:r>
          </a:p>
          <a:p xmlns:a="http://schemas.openxmlformats.org/drawingml/2006/main">
            <a:r>
              <a:t>        "region_name": "부산광역시 남구",</a:t>
            </a:r>
          </a:p>
          <a:p xmlns:a="http://schemas.openxmlformats.org/drawingml/2006/main">
            <a:r>
              <a:t>        "visitors_yoy_pct": 3.68077924608996,</a:t>
            </a:r>
          </a:p>
          <a:p xmlns:a="http://schemas.openxmlformats.org/drawingml/2006/main">
            <a:r>
              <a:t>        "spending_yoy_pct": 24.203541185743948</a:t>
            </a:r>
          </a:p>
          <a:p xmlns:a="http://schemas.openxmlformats.org/drawingml/2006/main">
            <a:r>
              <a:t>      },</a:t>
            </a:r>
          </a:p>
          <a:p xmlns:a="http://schemas.openxmlformats.org/drawingml/2006/main">
            <a:r>
              <a:t>      {</a:t>
            </a:r>
          </a:p>
          <a:p xmlns:a="http://schemas.openxmlformats.org/drawingml/2006/main">
            <a:r>
              <a:t>        "region_code": "26170",</a:t>
            </a:r>
          </a:p>
          <a:p xmlns:a="http://schemas.openxmlformats.org/drawingml/2006/main">
            <a:r>
              <a:t>        "region_name": "부산광역시 동구",</a:t>
            </a:r>
          </a:p>
          <a:p xmlns:a="http://schemas.openxmlformats.org/drawingml/2006/main">
            <a:r>
              <a:t>        "visitors_yoy_pct": 2.091306262979553,</a:t>
            </a:r>
          </a:p>
          <a:p xmlns:a="http://schemas.openxmlformats.org/drawingml/2006/main">
            <a:r>
              <a:t>        "spending_yoy_pct": 19.094327547078937</a:t>
            </a:r>
          </a:p>
          <a:p xmlns:a="http://schemas.openxmlformats.org/drawingml/2006/main">
            <a:r>
              <a:t>      },</a:t>
            </a:r>
          </a:p>
          <a:p xmlns:a="http://schemas.openxmlformats.org/drawingml/2006/main">
            <a:r>
              <a:t>      {</a:t>
            </a:r>
          </a:p>
          <a:p xmlns:a="http://schemas.openxmlformats.org/drawingml/2006/main">
            <a:r>
              <a:t>        "region_code": "26260",</a:t>
            </a:r>
          </a:p>
          <a:p xmlns:a="http://schemas.openxmlformats.org/drawingml/2006/main">
            <a:r>
              <a:t>        "region_name": "부산광역시 동래구",</a:t>
            </a:r>
          </a:p>
          <a:p xmlns:a="http://schemas.openxmlformats.org/drawingml/2006/main">
            <a:r>
              <a:t>        "visitors_yoy_pct": -0.5303591349263614,</a:t>
            </a:r>
          </a:p>
          <a:p xmlns:a="http://schemas.openxmlformats.org/drawingml/2006/main">
            <a:r>
              <a:t>        "spending_yoy_pct": 2.817126268224812</a:t>
            </a:r>
          </a:p>
          <a:p xmlns:a="http://schemas.openxmlformats.org/drawingml/2006/main">
            <a:r>
              <a:t>      },</a:t>
            </a:r>
          </a:p>
          <a:p xmlns:a="http://schemas.openxmlformats.org/drawingml/2006/main">
            <a:r>
              <a:t>      {</a:t>
            </a:r>
          </a:p>
          <a:p xmlns:a="http://schemas.openxmlformats.org/drawingml/2006/main">
            <a:r>
              <a:t>        "region_code": "26230",</a:t>
            </a:r>
          </a:p>
          <a:p xmlns:a="http://schemas.openxmlformats.org/drawingml/2006/main">
            <a:r>
              <a:t>        "region_name": "부산광역시 부산진구",</a:t>
            </a:r>
          </a:p>
          <a:p xmlns:a="http://schemas.openxmlformats.org/drawingml/2006/main">
            <a:r>
              <a:t>        "visitors_yoy_pct": -0.7135985449665094,</a:t>
            </a:r>
          </a:p>
          <a:p xmlns:a="http://schemas.openxmlformats.org/drawingml/2006/main">
            <a:r>
              <a:t>        "spending_yoy_pct": 12.440013216896407</a:t>
            </a:r>
          </a:p>
          <a:p xmlns:a="http://schemas.openxmlformats.org/drawingml/2006/main">
            <a:r>
              <a:t>      },</a:t>
            </a:r>
          </a:p>
          <a:p xmlns:a="http://schemas.openxmlformats.org/drawingml/2006/main">
            <a:r>
              <a:t>      {</a:t>
            </a:r>
          </a:p>
          <a:p xmlns:a="http://schemas.openxmlformats.org/drawingml/2006/main">
            <a:r>
              <a:t>        "region_code": "26320",</a:t>
            </a:r>
          </a:p>
          <a:p xmlns:a="http://schemas.openxmlformats.org/drawingml/2006/main">
            <a:r>
              <a:t>        "region_name": "부산광역시 북구",</a:t>
            </a:r>
          </a:p>
          <a:p xmlns:a="http://schemas.openxmlformats.org/drawingml/2006/main">
            <a:r>
              <a:t>        "visitors_yoy_pct": -0.826923040419314,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"26530",</a:t>
            </a:r>
          </a:p>
          <a:p xmlns:a="http://schemas.openxmlformats.org/drawingml/2006/main">
            <a:r>
              <a:t>        "region_name": "부산광역시 사상구",</a:t>
            </a:r>
          </a:p>
          <a:p xmlns:a="http://schemas.openxmlformats.org/drawingml/2006/main">
            <a:r>
              <a:t>        "visitors_yoy_pct": 3.2552629691459556,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"26380",</a:t>
            </a:r>
          </a:p>
          <a:p xmlns:a="http://schemas.openxmlformats.org/drawingml/2006/main">
            <a:r>
              <a:t>        "region_name": "부산광역시 사하구",</a:t>
            </a:r>
          </a:p>
          <a:p xmlns:a="http://schemas.openxmlformats.org/drawingml/2006/main">
            <a:r>
              <a:t>        "visitors_yoy_pct": 1.544310172085006,</a:t>
            </a:r>
          </a:p>
          <a:p xmlns:a="http://schemas.openxmlformats.org/drawingml/2006/main">
            <a:r>
              <a:t>        "spending_yoy_pct": 13.269352912248976</a:t>
            </a:r>
          </a:p>
          <a:p xmlns:a="http://schemas.openxmlformats.org/drawingml/2006/main">
            <a:r>
              <a:t>      },</a:t>
            </a:r>
          </a:p>
          <a:p xmlns:a="http://schemas.openxmlformats.org/drawingml/2006/main">
            <a:r>
              <a:t>      {</a:t>
            </a:r>
          </a:p>
          <a:p xmlns:a="http://schemas.openxmlformats.org/drawingml/2006/main">
            <a:r>
              <a:t>        "region_code": "26140",</a:t>
            </a:r>
          </a:p>
          <a:p xmlns:a="http://schemas.openxmlformats.org/drawingml/2006/main">
            <a:r>
              <a:t>        "region_name": "부산광역시 서구",</a:t>
            </a:r>
          </a:p>
          <a:p xmlns:a="http://schemas.openxmlformats.org/drawingml/2006/main">
            <a:r>
              <a:t>        "visitors_yoy_pct": -0.5690410799997103,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"26500",</a:t>
            </a:r>
          </a:p>
          <a:p xmlns:a="http://schemas.openxmlformats.org/drawingml/2006/main">
            <a:r>
              <a:t>        "region_name": "부산광역시 수영구",</a:t>
            </a:r>
          </a:p>
          <a:p xmlns:a="http://schemas.openxmlformats.org/drawingml/2006/main">
            <a:r>
              <a:t>        "visitors_yoy_pct": 2.036957530408534,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"26470",</a:t>
            </a:r>
          </a:p>
          <a:p xmlns:a="http://schemas.openxmlformats.org/drawingml/2006/main">
            <a:r>
              <a:t>        "region_name": "부산광역시 연제구",</a:t>
            </a:r>
          </a:p>
          <a:p xmlns:a="http://schemas.openxmlformats.org/drawingml/2006/main">
            <a:r>
              <a:t>        "visitors_yoy_pct": -1.8008178398181807,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"26200",</a:t>
            </a:r>
          </a:p>
          <a:p xmlns:a="http://schemas.openxmlformats.org/drawingml/2006/main">
            <a:r>
              <a:t>        "region_name": "부산광역시 영도구",</a:t>
            </a:r>
          </a:p>
          <a:p xmlns:a="http://schemas.openxmlformats.org/drawingml/2006/main">
            <a:r>
              <a:t>        "visitors_yoy_pct": -1.424513143058459,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"26110",</a:t>
            </a:r>
          </a:p>
          <a:p xmlns:a="http://schemas.openxmlformats.org/drawingml/2006/main">
            <a:r>
              <a:t>        "region_name": "부산광역시 중구",</a:t>
            </a:r>
          </a:p>
          <a:p xmlns:a="http://schemas.openxmlformats.org/drawingml/2006/main">
            <a:r>
              <a:t>        "visitors_yoy_pct": -0.5564090965809787,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"26350",</a:t>
            </a:r>
          </a:p>
          <a:p xmlns:a="http://schemas.openxmlformats.org/drawingml/2006/main">
            <a:r>
              <a:t>        "region_name": "부산광역시 해운대구",</a:t>
            </a:r>
          </a:p>
          <a:p xmlns:a="http://schemas.openxmlformats.org/drawingml/2006/main">
            <a:r>
              <a:t>        "visitors_yoy_pct": 2.294602584905081,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"31140",</a:t>
            </a:r>
          </a:p>
          <a:p xmlns:a="http://schemas.openxmlformats.org/drawingml/2006/main">
            <a:r>
              <a:t>        "region_name": "울산광역시 남구",</a:t>
            </a:r>
          </a:p>
          <a:p xmlns:a="http://schemas.openxmlformats.org/drawingml/2006/main">
            <a:r>
              <a:t>        "visitors_yoy_pct": -4.281167592593893,</a:t>
            </a:r>
          </a:p>
          <a:p xmlns:a="http://schemas.openxmlformats.org/drawingml/2006/main">
            <a:r>
              <a:t>        "spending_yoy_pct": 7.363366661362503</a:t>
            </a:r>
          </a:p>
          <a:p xmlns:a="http://schemas.openxmlformats.org/drawingml/2006/main">
            <a:r>
              <a:t>      },</a:t>
            </a:r>
          </a:p>
          <a:p xmlns:a="http://schemas.openxmlformats.org/drawingml/2006/main">
            <a:r>
              <a:t>      {</a:t>
            </a:r>
          </a:p>
          <a:p xmlns:a="http://schemas.openxmlformats.org/drawingml/2006/main">
            <a:r>
              <a:t>        "region_code": "31170",</a:t>
            </a:r>
          </a:p>
          <a:p xmlns:a="http://schemas.openxmlformats.org/drawingml/2006/main">
            <a:r>
              <a:t>        "region_name": "울산광역시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"31200",</a:t>
            </a:r>
          </a:p>
          <a:p xmlns:a="http://schemas.openxmlformats.org/drawingml/2006/main">
            <a:r>
              <a:t>        "region_name": "울산광역시 북구",</a:t>
            </a:r>
          </a:p>
          <a:p xmlns:a="http://schemas.openxmlformats.org/drawingml/2006/main">
            <a:r>
              <a:t>        "visitors_yoy_pct": 0.0,</a:t>
            </a:r>
          </a:p>
          <a:p xmlns:a="http://schemas.openxmlformats.org/drawingml/2006/main">
            <a:r>
              <a:t>        "spending_yoy_pct": 0.9016050829677491</a:t>
            </a:r>
          </a:p>
          <a:p xmlns:a="http://schemas.openxmlformats.org/drawingml/2006/main">
            <a:r>
              <a:t>      },</a:t>
            </a:r>
          </a:p>
          <a:p xmlns:a="http://schemas.openxmlformats.org/drawingml/2006/main">
            <a:r>
              <a:t>      {</a:t>
            </a:r>
          </a:p>
          <a:p xmlns:a="http://schemas.openxmlformats.org/drawingml/2006/main">
            <a:r>
              <a:t>        "region_code": "31710",</a:t>
            </a:r>
          </a:p>
          <a:p xmlns:a="http://schemas.openxmlformats.org/drawingml/2006/main">
            <a:r>
              <a:t>        "region_name": "울산광역시 울주군",</a:t>
            </a:r>
          </a:p>
          <a:p xmlns:a="http://schemas.openxmlformats.org/drawingml/2006/main">
            <a:r>
              <a:t>        "visitors_yoy_pct": 2.6030321555469804,</a:t>
            </a:r>
          </a:p>
          <a:p xmlns:a="http://schemas.openxmlformats.org/drawingml/2006/main">
            <a:r>
              <a:t>        "spending_yoy_pct": 62.52152140018454</a:t>
            </a:r>
          </a:p>
          <a:p xmlns:a="http://schemas.openxmlformats.org/drawingml/2006/main">
            <a:r>
              <a:t>      },</a:t>
            </a:r>
          </a:p>
          <a:p xmlns:a="http://schemas.openxmlformats.org/drawingml/2006/main">
            <a:r>
              <a:t>      {</a:t>
            </a:r>
          </a:p>
          <a:p xmlns:a="http://schemas.openxmlformats.org/drawingml/2006/main">
            <a:r>
              <a:t>        "region_code": "31110",</a:t>
            </a:r>
          </a:p>
          <a:p xmlns:a="http://schemas.openxmlformats.org/drawingml/2006/main">
            <a:r>
              <a:t>        "region_name": "울산광역시 중구",</a:t>
            </a:r>
          </a:p>
          <a:p xmlns:a="http://schemas.openxmlformats.org/drawingml/2006/main">
            <a:r>
              <a:t>        "visitors_yoy_pct": -1.869977091489472,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"28710",</a:t>
            </a:r>
          </a:p>
          <a:p xmlns:a="http://schemas.openxmlformats.org/drawingml/2006/main">
            <a:r>
              <a:t>        "region_name": "인천광역시 강화군",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"28200",</a:t>
            </a:r>
          </a:p>
          <a:p xmlns:a="http://schemas.openxmlformats.org/drawingml/2006/main">
            <a:r>
              <a:t>        "region_name": "인천광역시 남동구",</a:t>
            </a:r>
          </a:p>
          <a:p xmlns:a="http://schemas.openxmlformats.org/drawingml/2006/main">
            <a:r>
              <a:t>        "visitors_yoy_pct": -0.30452048491245165,</a:t>
            </a:r>
          </a:p>
          <a:p xmlns:a="http://schemas.openxmlformats.org/drawingml/2006/main">
            <a:r>
              <a:t>        "spending_yoy_pct": 9.128785699086993</a:t>
            </a:r>
          </a:p>
          <a:p xmlns:a="http://schemas.openxmlformats.org/drawingml/2006/main">
            <a:r>
              <a:t>      },</a:t>
            </a:r>
          </a:p>
          <a:p xmlns:a="http://schemas.openxmlformats.org/drawingml/2006/main">
            <a:r>
              <a:t>      {</a:t>
            </a:r>
          </a:p>
          <a:p xmlns:a="http://schemas.openxmlformats.org/drawingml/2006/main">
            <a:r>
              <a:t>        "region_code": "28140",</a:t>
            </a:r>
          </a:p>
          <a:p xmlns:a="http://schemas.openxmlformats.org/drawingml/2006/main">
            <a:r>
              <a:t>        "region_name": "인천광역시 동구",</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"28177",</a:t>
            </a:r>
          </a:p>
          <a:p xmlns:a="http://schemas.openxmlformats.org/drawingml/2006/main">
            <a:r>
              <a:t>        "region_name": "인천광역시 미추홀구",</a:t>
            </a:r>
          </a:p>
          <a:p xmlns:a="http://schemas.openxmlformats.org/drawingml/2006/main">
            <a:r>
              <a:t>        "visitors_yoy_pct": 4.253574353563128,</a:t>
            </a:r>
          </a:p>
          <a:p xmlns:a="http://schemas.openxmlformats.org/drawingml/2006/main">
            <a:r>
              <a:t>        "spending_yoy_pct": -0.39307051850207</a:t>
            </a:r>
          </a:p>
          <a:p xmlns:a="http://schemas.openxmlformats.org/drawingml/2006/main">
            <a:r>
              <a:t>      },</a:t>
            </a:r>
          </a:p>
          <a:p xmlns:a="http://schemas.openxmlformats.org/drawingml/2006/main">
            <a:r>
              <a:t>      {</a:t>
            </a:r>
          </a:p>
          <a:p xmlns:a="http://schemas.openxmlformats.org/drawingml/2006/main">
            <a:r>
              <a:t>        "region_code": "28237",</a:t>
            </a:r>
          </a:p>
          <a:p xmlns:a="http://schemas.openxmlformats.org/drawingml/2006/main">
            <a:r>
              <a:t>        "region_name": "인천광역시 부평구",</a:t>
            </a:r>
          </a:p>
          <a:p xmlns:a="http://schemas.openxmlformats.org/drawingml/2006/main">
            <a:r>
              <a:t>        "visitors_yoy_pct": -2.147594135319486,</a:t>
            </a:r>
          </a:p>
          <a:p xmlns:a="http://schemas.openxmlformats.org/drawingml/2006/main">
            <a:r>
              <a:t>        "spending_yoy_pct": -3.236192328869203</a:t>
            </a:r>
          </a:p>
          <a:p xmlns:a="http://schemas.openxmlformats.org/drawingml/2006/main">
            <a:r>
              <a:t>      },</a:t>
            </a:r>
          </a:p>
          <a:p xmlns:a="http://schemas.openxmlformats.org/drawingml/2006/main">
            <a:r>
              <a:t>      {</a:t>
            </a:r>
          </a:p>
          <a:p xmlns:a="http://schemas.openxmlformats.org/drawingml/2006/main">
            <a:r>
              <a:t>        "region_code": "28260",</a:t>
            </a:r>
          </a:p>
          <a:p xmlns:a="http://schemas.openxmlformats.org/drawingml/2006/main">
            <a:r>
              <a:t>        "region_name": "인천광역시 서구",</a:t>
            </a:r>
          </a:p>
          <a:p xmlns:a="http://schemas.openxmlformats.org/drawingml/2006/main">
            <a:r>
              <a:t>        "visitors_yoy_pct": 0.9935772294742629,</a:t>
            </a:r>
          </a:p>
          <a:p xmlns:a="http://schemas.openxmlformats.org/drawingml/2006/main">
            <a:r>
              <a:t>        "spending_yoy_pct": 10.485707821897062</a:t>
            </a:r>
          </a:p>
          <a:p xmlns:a="http://schemas.openxmlformats.org/drawingml/2006/main">
            <a:r>
              <a:t>      },</a:t>
            </a:r>
          </a:p>
          <a:p xmlns:a="http://schemas.openxmlformats.org/drawingml/2006/main">
            <a:r>
              <a:t>      {</a:t>
            </a:r>
          </a:p>
          <a:p xmlns:a="http://schemas.openxmlformats.org/drawingml/2006/main">
            <a:r>
              <a:t>        "region_code": "28185",</a:t>
            </a:r>
          </a:p>
          <a:p xmlns:a="http://schemas.openxmlformats.org/drawingml/2006/main">
            <a:r>
              <a:t>        "region_name": "인천광역시 연수구",</a:t>
            </a:r>
          </a:p>
          <a:p xmlns:a="http://schemas.openxmlformats.org/drawingml/2006/main">
            <a:r>
              <a:t>        "visitors_yoy_pct": 1.487521488159138,</a:t>
            </a:r>
          </a:p>
          <a:p xmlns:a="http://schemas.openxmlformats.org/drawingml/2006/main">
            <a:r>
              <a:t>        "spending_yoy_pct": 1.2888193298384865</a:t>
            </a:r>
          </a:p>
          <a:p xmlns:a="http://schemas.openxmlformats.org/drawingml/2006/main">
            <a:r>
              <a:t>      },</a:t>
            </a:r>
          </a:p>
          <a:p xmlns:a="http://schemas.openxmlformats.org/drawingml/2006/main">
            <a:r>
              <a:t>      {</a:t>
            </a:r>
          </a:p>
          <a:p xmlns:a="http://schemas.openxmlformats.org/drawingml/2006/main">
            <a:r>
              <a:t>        "region_code": "28720",</a:t>
            </a:r>
          </a:p>
          <a:p xmlns:a="http://schemas.openxmlformats.org/drawingml/2006/main">
            <a:r>
              <a:t>        "region_name": "인천광역시 옹진군",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"28110",</a:t>
            </a:r>
          </a:p>
          <a:p xmlns:a="http://schemas.openxmlformats.org/drawingml/2006/main">
            <a:r>
              <a:t>        "region_name": "인천광역시 중구",</a:t>
            </a:r>
          </a:p>
          <a:p xmlns:a="http://schemas.openxmlformats.org/drawingml/2006/main">
            <a:r>
              <a:t>        "visitors_yoy_pct": -1.40416628182366,</a:t>
            </a:r>
          </a:p>
          <a:p xmlns:a="http://schemas.openxmlformats.org/drawingml/2006/main">
            <a:r>
              <a:t>        "spending_yoy_pct": -2.588345108767043</a:t>
            </a:r>
          </a:p>
          <a:p xmlns:a="http://schemas.openxmlformats.org/drawingml/2006/main">
            <a:r>
              <a:t>      },</a:t>
            </a:r>
          </a:p>
          <a:p xmlns:a="http://schemas.openxmlformats.org/drawingml/2006/main">
            <a:r>
              <a:t>      {</a:t>
            </a:r>
          </a:p>
          <a:p xmlns:a="http://schemas.openxmlformats.org/drawingml/2006/main">
            <a:r>
              <a:t>        "region_code": "46810",</a:t>
            </a:r>
          </a:p>
          <a:p xmlns:a="http://schemas.openxmlformats.org/drawingml/2006/main">
            <a:r>
              <a:t>        "region_name": "전라남도 강진군",</a:t>
            </a:r>
          </a:p>
          <a:p xmlns:a="http://schemas.openxmlformats.org/drawingml/2006/main">
            <a:r>
              <a:t>        "visitors_yoy_pct": -2.5168617337829824,</a:t>
            </a:r>
          </a:p>
          <a:p xmlns:a="http://schemas.openxmlformats.org/drawingml/2006/main">
            <a:r>
              <a:t>        "spending_yoy_pct": -4.482092207211219</a:t>
            </a:r>
          </a:p>
          <a:p xmlns:a="http://schemas.openxmlformats.org/drawingml/2006/main">
            <a:r>
              <a:t>      },</a:t>
            </a:r>
          </a:p>
          <a:p xmlns:a="http://schemas.openxmlformats.org/drawingml/2006/main">
            <a:r>
              <a:t>      {</a:t>
            </a:r>
          </a:p>
          <a:p xmlns:a="http://schemas.openxmlformats.org/drawingml/2006/main">
            <a:r>
              <a:t>        "region_code": "46770",</a:t>
            </a:r>
          </a:p>
          <a:p xmlns:a="http://schemas.openxmlformats.org/drawingml/2006/main">
            <a:r>
              <a:t>        "region_name": "전라남도 고흥군",</a:t>
            </a:r>
          </a:p>
          <a:p xmlns:a="http://schemas.openxmlformats.org/drawingml/2006/main">
            <a:r>
              <a:t>        "visitors_yoy_pct": -11.306522531093933,</a:t>
            </a:r>
          </a:p>
          <a:p xmlns:a="http://schemas.openxmlformats.org/drawingml/2006/main">
            <a:r>
              <a:t>        "spending_yoy_pct": -11.57250799849544</a:t>
            </a:r>
          </a:p>
          <a:p xmlns:a="http://schemas.openxmlformats.org/drawingml/2006/main">
            <a:r>
              <a:t>      },</a:t>
            </a:r>
          </a:p>
          <a:p xmlns:a="http://schemas.openxmlformats.org/drawingml/2006/main">
            <a:r>
              <a:t>      {</a:t>
            </a:r>
          </a:p>
          <a:p xmlns:a="http://schemas.openxmlformats.org/drawingml/2006/main">
            <a:r>
              <a:t>        "region_code": "46720",</a:t>
            </a:r>
          </a:p>
          <a:p xmlns:a="http://schemas.openxmlformats.org/drawingml/2006/main">
            <a:r>
              <a:t>        "region_name": "전라남도 곡성군",</a:t>
            </a:r>
          </a:p>
          <a:p xmlns:a="http://schemas.openxmlformats.org/drawingml/2006/main">
            <a:r>
              <a:t>        "visitors_yoy_pct": 5.339277215525051,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"46230",</a:t>
            </a:r>
          </a:p>
          <a:p xmlns:a="http://schemas.openxmlformats.org/drawingml/2006/main">
            <a:r>
              <a:t>        "region_name": "전라남도 광양시",</a:t>
            </a:r>
          </a:p>
          <a:p xmlns:a="http://schemas.openxmlformats.org/drawingml/2006/main">
            <a:r>
              <a:t>        "visitors_yoy_pct": 3.917907343849847,</a:t>
            </a:r>
          </a:p>
          <a:p xmlns:a="http://schemas.openxmlformats.org/drawingml/2006/main">
            <a:r>
              <a:t>        "spending_yoy_pct": 37.63030093728903</a:t>
            </a:r>
          </a:p>
          <a:p xmlns:a="http://schemas.openxmlformats.org/drawingml/2006/main">
            <a:r>
              <a:t>      },</a:t>
            </a:r>
          </a:p>
          <a:p xmlns:a="http://schemas.openxmlformats.org/drawingml/2006/main">
            <a:r>
              <a:t>      {</a:t>
            </a:r>
          </a:p>
          <a:p xmlns:a="http://schemas.openxmlformats.org/drawingml/2006/main">
            <a:r>
              <a:t>        "region_code": "46730",</a:t>
            </a:r>
          </a:p>
          <a:p xmlns:a="http://schemas.openxmlformats.org/drawingml/2006/main">
            <a:r>
              <a:t>        "region_name": "전라남도 구례군",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"46170",</a:t>
            </a:r>
          </a:p>
          <a:p xmlns:a="http://schemas.openxmlformats.org/drawingml/2006/main">
            <a:r>
              <a:t>        "region_name": "전라남도 나주시",</a:t>
            </a:r>
          </a:p>
          <a:p xmlns:a="http://schemas.openxmlformats.org/drawingml/2006/main">
            <a:r>
              <a:t>        "visitors_yoy_pct": -1.8552327862504048,</a:t>
            </a:r>
          </a:p>
          <a:p xmlns:a="http://schemas.openxmlformats.org/drawingml/2006/main">
            <a:r>
              <a:t>        "spending_yoy_pct": 17.91727578060309</a:t>
            </a:r>
          </a:p>
          <a:p xmlns:a="http://schemas.openxmlformats.org/drawingml/2006/main">
            <a:r>
              <a:t>      },</a:t>
            </a:r>
          </a:p>
          <a:p xmlns:a="http://schemas.openxmlformats.org/drawingml/2006/main">
            <a:r>
              <a:t>      {</a:t>
            </a:r>
          </a:p>
          <a:p xmlns:a="http://schemas.openxmlformats.org/drawingml/2006/main">
            <a:r>
              <a:t>        "region_code": "46710",</a:t>
            </a:r>
          </a:p>
          <a:p xmlns:a="http://schemas.openxmlformats.org/drawingml/2006/main">
            <a:r>
              <a:t>        "region_name": "전라남도 담양군",</a:t>
            </a:r>
          </a:p>
          <a:p xmlns:a="http://schemas.openxmlformats.org/drawingml/2006/main">
            <a:r>
              <a:t>        "visitors_yoy_pct": -2.5922628029858785,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"46110",</a:t>
            </a:r>
          </a:p>
          <a:p xmlns:a="http://schemas.openxmlformats.org/drawingml/2006/main">
            <a:r>
              <a:t>        "region_name": "전라남도 목포시",</a:t>
            </a:r>
          </a:p>
          <a:p xmlns:a="http://schemas.openxmlformats.org/drawingml/2006/main">
            <a:r>
              <a:t>        "visitors_yoy_pct": -3.8050913694334665,</a:t>
            </a:r>
          </a:p>
          <a:p xmlns:a="http://schemas.openxmlformats.org/drawingml/2006/main">
            <a:r>
              <a:t>        "spending_yoy_pct": -2.829737192897619</a:t>
            </a:r>
          </a:p>
          <a:p xmlns:a="http://schemas.openxmlformats.org/drawingml/2006/main">
            <a:r>
              <a:t>      },</a:t>
            </a:r>
          </a:p>
          <a:p xmlns:a="http://schemas.openxmlformats.org/drawingml/2006/main">
            <a:r>
              <a:t>      {</a:t>
            </a:r>
          </a:p>
          <a:p xmlns:a="http://schemas.openxmlformats.org/drawingml/2006/main">
            <a:r>
              <a:t>        "region_code": "46840",</a:t>
            </a:r>
          </a:p>
          <a:p xmlns:a="http://schemas.openxmlformats.org/drawingml/2006/main">
            <a:r>
              <a:t>        "region_name": "전라남도 무안군",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"46780",</a:t>
            </a:r>
          </a:p>
          <a:p xmlns:a="http://schemas.openxmlformats.org/drawingml/2006/main">
            <a:r>
              <a:t>        "region_name": "전라남도 보성군",</a:t>
            </a:r>
          </a:p>
          <a:p xmlns:a="http://schemas.openxmlformats.org/drawingml/2006/main">
            <a:r>
              <a:t>        "visitors_yoy_pct": -4.470951871747653,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"46150",</a:t>
            </a:r>
          </a:p>
          <a:p xmlns:a="http://schemas.openxmlformats.org/drawingml/2006/main">
            <a:r>
              <a:t>        "region_name": "전라남도 순천시",</a:t>
            </a:r>
          </a:p>
          <a:p xmlns:a="http://schemas.openxmlformats.org/drawingml/2006/main">
            <a:r>
              <a:t>        "visitors_yoy_pct": -4.022517360300859,</a:t>
            </a:r>
          </a:p>
          <a:p xmlns:a="http://schemas.openxmlformats.org/drawingml/2006/main">
            <a:r>
              <a:t>        "spending_yoy_pct": -1.9999763950737104</a:t>
            </a:r>
          </a:p>
          <a:p xmlns:a="http://schemas.openxmlformats.org/drawingml/2006/main">
            <a:r>
              <a:t>      },</a:t>
            </a:r>
          </a:p>
          <a:p xmlns:a="http://schemas.openxmlformats.org/drawingml/2006/main">
            <a:r>
              <a:t>      {</a:t>
            </a:r>
          </a:p>
          <a:p xmlns:a="http://schemas.openxmlformats.org/drawingml/2006/main">
            <a:r>
              <a:t>        "region_code": "46910",</a:t>
            </a:r>
          </a:p>
          <a:p xmlns:a="http://schemas.openxmlformats.org/drawingml/2006/main">
            <a:r>
              <a:t>        "region_name": "전라남도 신안군",</a:t>
            </a:r>
          </a:p>
          <a:p xmlns:a="http://schemas.openxmlformats.org/drawingml/2006/main">
            <a:r>
              <a:t>        "visitors_yoy_pct": -3.942188474476893,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"46130",</a:t>
            </a:r>
          </a:p>
          <a:p xmlns:a="http://schemas.openxmlformats.org/drawingml/2006/main">
            <a:r>
              <a:t>        "region_name": "전라남도 여수시",</a:t>
            </a:r>
          </a:p>
          <a:p xmlns:a="http://schemas.openxmlformats.org/drawingml/2006/main">
            <a:r>
              <a:t>        "visitors_yoy_pct": -2.7943796052375403,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"46870",</a:t>
            </a:r>
          </a:p>
          <a:p xmlns:a="http://schemas.openxmlformats.org/drawingml/2006/main">
            <a:r>
              <a:t>        "region_name": "전라남도 영광군",</a:t>
            </a:r>
          </a:p>
          <a:p xmlns:a="http://schemas.openxmlformats.org/drawingml/2006/main">
            <a:r>
              <a:t>        "visitors_yoy_pct": -3.3897637721457707,</a:t>
            </a:r>
          </a:p>
          <a:p xmlns:a="http://schemas.openxmlformats.org/drawingml/2006/main">
            <a:r>
              <a:t>        "spending_yoy_pct": 0.633656482224243</a:t>
            </a:r>
          </a:p>
          <a:p xmlns:a="http://schemas.openxmlformats.org/drawingml/2006/main">
            <a:r>
              <a:t>      },</a:t>
            </a:r>
          </a:p>
          <a:p xmlns:a="http://schemas.openxmlformats.org/drawingml/2006/main">
            <a:r>
              <a:t>      {</a:t>
            </a:r>
          </a:p>
          <a:p xmlns:a="http://schemas.openxmlformats.org/drawingml/2006/main">
            <a:r>
              <a:t>        "region_code": "46830",</a:t>
            </a:r>
          </a:p>
          <a:p xmlns:a="http://schemas.openxmlformats.org/drawingml/2006/main">
            <a:r>
              <a:t>        "region_name": "전라남도 영암군",</a:t>
            </a:r>
          </a:p>
          <a:p xmlns:a="http://schemas.openxmlformats.org/drawingml/2006/main">
            <a:r>
              <a:t>        "visitors_yoy_pct": -0.04349507838015132,</a:t>
            </a:r>
          </a:p>
          <a:p xmlns:a="http://schemas.openxmlformats.org/drawingml/2006/main">
            <a:r>
              <a:t>        "spending_yoy_pct": 27.22182967008513</a:t>
            </a:r>
          </a:p>
          <a:p xmlns:a="http://schemas.openxmlformats.org/drawingml/2006/main">
            <a:r>
              <a:t>      },</a:t>
            </a:r>
          </a:p>
          <a:p xmlns:a="http://schemas.openxmlformats.org/drawingml/2006/main">
            <a:r>
              <a:t>      {</a:t>
            </a:r>
          </a:p>
          <a:p xmlns:a="http://schemas.openxmlformats.org/drawingml/2006/main">
            <a:r>
              <a:t>        "region_code": "46890",</a:t>
            </a:r>
          </a:p>
          <a:p xmlns:a="http://schemas.openxmlformats.org/drawingml/2006/main">
            <a:r>
              <a:t>        "region_name": "전라남도 완도군",</a:t>
            </a:r>
          </a:p>
          <a:p xmlns:a="http://schemas.openxmlformats.org/drawingml/2006/main">
            <a:r>
              <a:t>        "visitors_yoy_pct": -5.909742520692795,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"46880",</a:t>
            </a:r>
          </a:p>
          <a:p xmlns:a="http://schemas.openxmlformats.org/drawingml/2006/main">
            <a:r>
              <a:t>        "region_name": "전라남도 장성군",</a:t>
            </a:r>
          </a:p>
          <a:p xmlns:a="http://schemas.openxmlformats.org/drawingml/2006/main">
            <a:r>
              <a:t>        "visitors_yoy_pct": -7.053620032661945,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"46800",</a:t>
            </a:r>
          </a:p>
          <a:p xmlns:a="http://schemas.openxmlformats.org/drawingml/2006/main">
            <a:r>
              <a:t>        "region_name": "전라남도 장흥군",</a:t>
            </a:r>
          </a:p>
          <a:p xmlns:a="http://schemas.openxmlformats.org/drawingml/2006/main">
            <a:r>
              <a:t>        "visitors_yoy_pct": -6.648802559754008,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"46900",</a:t>
            </a:r>
          </a:p>
          <a:p xmlns:a="http://schemas.openxmlformats.org/drawingml/2006/main">
            <a:r>
              <a:t>        "region_name": "전라남도 진도군",</a:t>
            </a:r>
          </a:p>
          <a:p xmlns:a="http://schemas.openxmlformats.org/drawingml/2006/main">
            <a:r>
              <a:t>        "visitors_yoy_pct": -4.343147418429072,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"46860",</a:t>
            </a:r>
          </a:p>
          <a:p xmlns:a="http://schemas.openxmlformats.org/drawingml/2006/main">
            <a:r>
              <a:t>        "region_name": "전라남도 함평군",</a:t>
            </a:r>
          </a:p>
          <a:p xmlns:a="http://schemas.openxmlformats.org/drawingml/2006/main">
            <a:r>
              <a:t>        "visitors_yoy_pct": -3.47720564034385,</a:t>
            </a:r>
          </a:p>
          <a:p xmlns:a="http://schemas.openxmlformats.org/drawingml/2006/main">
            <a:r>
              <a:t>        "spending_yoy_pct": -19.459853142577387</a:t>
            </a:r>
          </a:p>
          <a:p xmlns:a="http://schemas.openxmlformats.org/drawingml/2006/main">
            <a:r>
              <a:t>      },</a:t>
            </a:r>
          </a:p>
          <a:p xmlns:a="http://schemas.openxmlformats.org/drawingml/2006/main">
            <a:r>
              <a:t>      {</a:t>
            </a:r>
          </a:p>
          <a:p xmlns:a="http://schemas.openxmlformats.org/drawingml/2006/main">
            <a:r>
              <a:t>        "region_code": "46820",</a:t>
            </a:r>
          </a:p>
          <a:p xmlns:a="http://schemas.openxmlformats.org/drawingml/2006/main">
            <a:r>
              <a:t>        "region_name": "전라남도 해남군",</a:t>
            </a:r>
          </a:p>
          <a:p xmlns:a="http://schemas.openxmlformats.org/drawingml/2006/main">
            <a:r>
              <a:t>        "visitors_yoy_pct": -7.594166067586816,</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"46790",</a:t>
            </a:r>
          </a:p>
          <a:p xmlns:a="http://schemas.openxmlformats.org/drawingml/2006/main">
            <a:r>
              <a:t>        "region_name": "전라남도 화순군",</a:t>
            </a:r>
          </a:p>
          <a:p xmlns:a="http://schemas.openxmlformats.org/drawingml/2006/main">
            <a:r>
              <a:t>        "visitors_yoy_pct": -0.4638258656956218,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"52790",</a:t>
            </a:r>
          </a:p>
          <a:p xmlns:a="http://schemas.openxmlformats.org/drawingml/2006/main">
            <a:r>
              <a:t>        "region_name": "전북특별자치도 고창군",</a:t>
            </a:r>
          </a:p>
          <a:p xmlns:a="http://schemas.openxmlformats.org/drawingml/2006/main">
            <a:r>
              <a:t>        "visitors_yoy_pct": -6.627616864286345,</a:t>
            </a:r>
          </a:p>
          <a:p xmlns:a="http://schemas.openxmlformats.org/drawingml/2006/main">
            <a:r>
              <a:t>        "spending_yoy_pct": 1.7686019122850727</a:t>
            </a:r>
          </a:p>
          <a:p xmlns:a="http://schemas.openxmlformats.org/drawingml/2006/main">
            <a:r>
              <a:t>      },</a:t>
            </a:r>
          </a:p>
          <a:p xmlns:a="http://schemas.openxmlformats.org/drawingml/2006/main">
            <a:r>
              <a:t>      {</a:t>
            </a:r>
          </a:p>
          <a:p xmlns:a="http://schemas.openxmlformats.org/drawingml/2006/main">
            <a:r>
              <a:t>        "region_code": "52130",</a:t>
            </a:r>
          </a:p>
          <a:p xmlns:a="http://schemas.openxmlformats.org/drawingml/2006/main">
            <a:r>
              <a:t>        "region_name": "전북특별자치도 군산시",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"52210",</a:t>
            </a:r>
          </a:p>
          <a:p xmlns:a="http://schemas.openxmlformats.org/drawingml/2006/main">
            <a:r>
              <a:t>        "region_name": "전북특별자치도 김제시",</a:t>
            </a:r>
          </a:p>
          <a:p xmlns:a="http://schemas.openxmlformats.org/drawingml/2006/main">
            <a:r>
              <a:t>        "visitors_yoy_pct": -0.6758954076027224,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"52190",</a:t>
            </a:r>
          </a:p>
          <a:p xmlns:a="http://schemas.openxmlformats.org/drawingml/2006/main">
            <a:r>
              <a:t>        "region_name": "전북특별자치도 남원시",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"52730",</a:t>
            </a:r>
          </a:p>
          <a:p xmlns:a="http://schemas.openxmlformats.org/drawingml/2006/main">
            <a:r>
              <a:t>        "region_name": "전북특별자치도 무주군",</a:t>
            </a:r>
          </a:p>
          <a:p xmlns:a="http://schemas.openxmlformats.org/drawingml/2006/main">
            <a:r>
              <a:t>        "visitors_yoy_pct": 4.597012440752213,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"52800",</a:t>
            </a:r>
          </a:p>
          <a:p xmlns:a="http://schemas.openxmlformats.org/drawingml/2006/main">
            <a:r>
              <a:t>        "region_name": "전북특별자치도 부안군",</a:t>
            </a:r>
          </a:p>
          <a:p xmlns:a="http://schemas.openxmlformats.org/drawingml/2006/main">
            <a:r>
              <a:t>        "visitors_yoy_pct": 0.2262425995711581,</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"52770",</a:t>
            </a:r>
          </a:p>
          <a:p xmlns:a="http://schemas.openxmlformats.org/drawingml/2006/main">
            <a:r>
              <a:t>        "region_name": "전북특별자치도 순창군",</a:t>
            </a:r>
          </a:p>
          <a:p xmlns:a="http://schemas.openxmlformats.org/drawingml/2006/main">
            <a:r>
              <a:t>        "visitors_yoy_pct": -9.68958471728848,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"52710",</a:t>
            </a:r>
          </a:p>
          <a:p xmlns:a="http://schemas.openxmlformats.org/drawingml/2006/main">
            <a:r>
              <a:t>        "region_name": "전북특별자치도 완주군",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"52140",</a:t>
            </a:r>
          </a:p>
          <a:p xmlns:a="http://schemas.openxmlformats.org/drawingml/2006/main">
            <a:r>
              <a:t>        "region_name": "전북특별자치도 익산시",</a:t>
            </a:r>
          </a:p>
          <a:p xmlns:a="http://schemas.openxmlformats.org/drawingml/2006/main">
            <a:r>
              <a:t>        "visitors_yoy_pct": -2.186202233151302,</a:t>
            </a:r>
          </a:p>
          <a:p xmlns:a="http://schemas.openxmlformats.org/drawingml/2006/main">
            <a:r>
              <a:t>        "spending_yoy_pct": -1.7467930855516123</a:t>
            </a:r>
          </a:p>
          <a:p xmlns:a="http://schemas.openxmlformats.org/drawingml/2006/main">
            <a:r>
              <a:t>      },</a:t>
            </a:r>
          </a:p>
          <a:p xmlns:a="http://schemas.openxmlformats.org/drawingml/2006/main">
            <a:r>
              <a:t>      {</a:t>
            </a:r>
          </a:p>
          <a:p xmlns:a="http://schemas.openxmlformats.org/drawingml/2006/main">
            <a:r>
              <a:t>        "region_code": "52750",</a:t>
            </a:r>
          </a:p>
          <a:p xmlns:a="http://schemas.openxmlformats.org/drawingml/2006/main">
            <a:r>
              <a:t>        "region_name": "전북특별자치도 임실군",</a:t>
            </a:r>
          </a:p>
          <a:p xmlns:a="http://schemas.openxmlformats.org/drawingml/2006/main">
            <a:r>
              <a:t>        "visitors_yoy_pct": -6.611276395036647,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"52740",</a:t>
            </a:r>
          </a:p>
          <a:p xmlns:a="http://schemas.openxmlformats.org/drawingml/2006/main">
            <a:r>
              <a:t>        "region_name": "전북특별자치도 장수군",</a:t>
            </a:r>
          </a:p>
          <a:p xmlns:a="http://schemas.openxmlformats.org/drawingml/2006/main">
            <a:r>
              <a:t>        "visitors_yoy_pct": 0.0,</a:t>
            </a:r>
          </a:p>
          <a:p xmlns:a="http://schemas.openxmlformats.org/drawingml/2006/main">
            <a:r>
              <a:t>        "spending_yoy_pct": -16.028109986249916</a:t>
            </a:r>
          </a:p>
          <a:p xmlns:a="http://schemas.openxmlformats.org/drawingml/2006/main">
            <a:r>
              <a:t>      },</a:t>
            </a:r>
          </a:p>
          <a:p xmlns:a="http://schemas.openxmlformats.org/drawingml/2006/main">
            <a:r>
              <a:t>      {</a:t>
            </a:r>
          </a:p>
          <a:p xmlns:a="http://schemas.openxmlformats.org/drawingml/2006/main">
            <a:r>
              <a:t>        "region_code": "52113",</a:t>
            </a:r>
          </a:p>
          <a:p xmlns:a="http://schemas.openxmlformats.org/drawingml/2006/main">
            <a:r>
              <a:t>        "region_name": "전북특별자치도 전주시 덕진구",</a:t>
            </a:r>
          </a:p>
          <a:p xmlns:a="http://schemas.openxmlformats.org/drawingml/2006/main">
            <a:r>
              <a:t>        "visitors_yoy_pct": 4.291963563452361,</a:t>
            </a:r>
          </a:p>
          <a:p xmlns:a="http://schemas.openxmlformats.org/drawingml/2006/main">
            <a:r>
              <a:t>        "spending_yoy_pct": 3.429187439863446</a:t>
            </a:r>
          </a:p>
          <a:p xmlns:a="http://schemas.openxmlformats.org/drawingml/2006/main">
            <a:r>
              <a:t>      },</a:t>
            </a:r>
          </a:p>
          <a:p xmlns:a="http://schemas.openxmlformats.org/drawingml/2006/main">
            <a:r>
              <a:t>      {</a:t>
            </a:r>
          </a:p>
          <a:p xmlns:a="http://schemas.openxmlformats.org/drawingml/2006/main">
            <a:r>
              <a:t>        "region_code": "52111",</a:t>
            </a:r>
          </a:p>
          <a:p xmlns:a="http://schemas.openxmlformats.org/drawingml/2006/main">
            <a:r>
              <a:t>        "region_name": "전북특별자치도 전주시 완산구",</a:t>
            </a:r>
          </a:p>
          <a:p xmlns:a="http://schemas.openxmlformats.org/drawingml/2006/main">
            <a:r>
              <a:t>        "visitors_yoy_pct": -0.77126243208957,</a:t>
            </a:r>
          </a:p>
          <a:p xmlns:a="http://schemas.openxmlformats.org/drawingml/2006/main">
            <a:r>
              <a:t>        "spending_yoy_pct": -1.6686228105042833</a:t>
            </a:r>
          </a:p>
          <a:p xmlns:a="http://schemas.openxmlformats.org/drawingml/2006/main">
            <a:r>
              <a:t>      },</a:t>
            </a:r>
          </a:p>
          <a:p xmlns:a="http://schemas.openxmlformats.org/drawingml/2006/main">
            <a:r>
              <a:t>      {</a:t>
            </a:r>
          </a:p>
          <a:p xmlns:a="http://schemas.openxmlformats.org/drawingml/2006/main">
            <a:r>
              <a:t>        "region_code": "52180",</a:t>
            </a:r>
          </a:p>
          <a:p xmlns:a="http://schemas.openxmlformats.org/drawingml/2006/main">
            <a:r>
              <a:t>        "region_name": "전북특별자치도 정읍시",</a:t>
            </a:r>
          </a:p>
          <a:p xmlns:a="http://schemas.openxmlformats.org/drawingml/2006/main">
            <a:r>
              <a:t>        "visitors_yoy_pct": -8.113949274469512,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"52720",</a:t>
            </a:r>
          </a:p>
          <a:p xmlns:a="http://schemas.openxmlformats.org/drawingml/2006/main">
            <a:r>
              <a:t>        "region_name": "전북특별자치도 진안군",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"50130",</a:t>
            </a:r>
          </a:p>
          <a:p xmlns:a="http://schemas.openxmlformats.org/drawingml/2006/main">
            <a:r>
              <a:t>        "region_name": "제주특별자치도 서귀포시",</a:t>
            </a:r>
          </a:p>
          <a:p xmlns:a="http://schemas.openxmlformats.org/drawingml/2006/main">
            <a:r>
              <a:t>        "visitors_yoy_pct": -1.9404077647184215,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"50110",</a:t>
            </a:r>
          </a:p>
          <a:p xmlns:a="http://schemas.openxmlformats.org/drawingml/2006/main">
            <a:r>
              <a:t>        "region_name": "제주특별자치도 제주시",</a:t>
            </a:r>
          </a:p>
          <a:p xmlns:a="http://schemas.openxmlformats.org/drawingml/2006/main">
            <a:r>
              <a:t>        "visitors_yoy_pct": -2.9970332041111325,</a:t>
            </a:r>
          </a:p>
          <a:p xmlns:a="http://schemas.openxmlformats.org/drawingml/2006/main">
            <a:r>
              <a:t>        "spending_yoy_pct": -0.344215997377606</a:t>
            </a:r>
          </a:p>
          <a:p xmlns:a="http://schemas.openxmlformats.org/drawingml/2006/main">
            <a:r>
              <a:t>      },</a:t>
            </a:r>
          </a:p>
          <a:p xmlns:a="http://schemas.openxmlformats.org/drawingml/2006/main">
            <a:r>
              <a:t>      {</a:t>
            </a:r>
          </a:p>
          <a:p xmlns:a="http://schemas.openxmlformats.org/drawingml/2006/main">
            <a:r>
              <a:t>        "region_code": "44250",</a:t>
            </a:r>
          </a:p>
          <a:p xmlns:a="http://schemas.openxmlformats.org/drawingml/2006/main">
            <a:r>
              <a:t>        "region_name": "충청남도 계룡시",</a:t>
            </a:r>
          </a:p>
          <a:p xmlns:a="http://schemas.openxmlformats.org/drawingml/2006/main">
            <a:r>
              <a:t>        "visitors_yoy_pct": -3.253411379185267,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"44150",</a:t>
            </a:r>
          </a:p>
          <a:p xmlns:a="http://schemas.openxmlformats.org/drawingml/2006/main">
            <a:r>
              <a:t>        "region_name": "충청남도 공주시",</a:t>
            </a:r>
          </a:p>
          <a:p xmlns:a="http://schemas.openxmlformats.org/drawingml/2006/main">
            <a:r>
              <a:t>        "visitors_yoy_pct": 0.9396432003732524,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"44710",</a:t>
            </a:r>
          </a:p>
          <a:p xmlns:a="http://schemas.openxmlformats.org/drawingml/2006/main">
            <a:r>
              <a:t>        "region_name": "충청남도 금산군",</a:t>
            </a:r>
          </a:p>
          <a:p xmlns:a="http://schemas.openxmlformats.org/drawingml/2006/main">
            <a:r>
              <a:t>        "visitors_yoy_pct": 0.2564369450511528,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"44230",</a:t>
            </a:r>
          </a:p>
          <a:p xmlns:a="http://schemas.openxmlformats.org/drawingml/2006/main">
            <a:r>
              <a:t>        "region_name": "충청남도 논산시",</a:t>
            </a:r>
          </a:p>
          <a:p xmlns:a="http://schemas.openxmlformats.org/drawingml/2006/main">
            <a:r>
              <a:t>        "visitors_yoy_pct": -0.20290858416329716,</a:t>
            </a:r>
          </a:p>
          <a:p xmlns:a="http://schemas.openxmlformats.org/drawingml/2006/main">
            <a:r>
              <a:t>        "spending_yoy_pct": 107.12602440650927</a:t>
            </a:r>
          </a:p>
          <a:p xmlns:a="http://schemas.openxmlformats.org/drawingml/2006/main">
            <a:r>
              <a:t>      },</a:t>
            </a:r>
          </a:p>
          <a:p xmlns:a="http://schemas.openxmlformats.org/drawingml/2006/main">
            <a:r>
              <a:t>      {</a:t>
            </a:r>
          </a:p>
          <a:p xmlns:a="http://schemas.openxmlformats.org/drawingml/2006/main">
            <a:r>
              <a:t>        "region_code": "44270",</a:t>
            </a:r>
          </a:p>
          <a:p xmlns:a="http://schemas.openxmlformats.org/drawingml/2006/main">
            <a:r>
              <a:t>        "region_name": "충청남도 당진시",</a:t>
            </a:r>
          </a:p>
          <a:p xmlns:a="http://schemas.openxmlformats.org/drawingml/2006/main">
            <a:r>
              <a:t>        "visitors_yoy_pct": -4.419836099319118,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"44180",</a:t>
            </a:r>
          </a:p>
          <a:p xmlns:a="http://schemas.openxmlformats.org/drawingml/2006/main">
            <a:r>
              <a:t>        "region_name": "충청남도 보령시",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"44760",</a:t>
            </a:r>
          </a:p>
          <a:p xmlns:a="http://schemas.openxmlformats.org/drawingml/2006/main">
            <a:r>
              <a:t>        "region_name": "충청남도 부여군",</a:t>
            </a:r>
          </a:p>
          <a:p xmlns:a="http://schemas.openxmlformats.org/drawingml/2006/main">
            <a:r>
              <a:t>        "visitors_yoy_pct": -1.5360538235401844,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"44210",</a:t>
            </a:r>
          </a:p>
          <a:p xmlns:a="http://schemas.openxmlformats.org/drawingml/2006/main">
            <a:r>
              <a:t>        "region_name": "충청남도 서산시",</a:t>
            </a:r>
          </a:p>
          <a:p xmlns:a="http://schemas.openxmlformats.org/drawingml/2006/main">
            <a:r>
              <a:t>        "visitors_yoy_pct": 0.24478534850893574,</a:t>
            </a:r>
          </a:p>
          <a:p xmlns:a="http://schemas.openxmlformats.org/drawingml/2006/main">
            <a:r>
              <a:t>        "spending_yoy_pct": -3.5472930631496813</a:t>
            </a:r>
          </a:p>
          <a:p xmlns:a="http://schemas.openxmlformats.org/drawingml/2006/main">
            <a:r>
              <a:t>      },</a:t>
            </a:r>
          </a:p>
          <a:p xmlns:a="http://schemas.openxmlformats.org/drawingml/2006/main">
            <a:r>
              <a:t>      {</a:t>
            </a:r>
          </a:p>
          <a:p xmlns:a="http://schemas.openxmlformats.org/drawingml/2006/main">
            <a:r>
              <a:t>        "region_code": "44770",</a:t>
            </a:r>
          </a:p>
          <a:p xmlns:a="http://schemas.openxmlformats.org/drawingml/2006/main">
            <a:r>
              <a:t>        "region_name": "충청남도 서천군",</a:t>
            </a:r>
          </a:p>
          <a:p xmlns:a="http://schemas.openxmlformats.org/drawingml/2006/main">
            <a:r>
              <a:t>        "visitors_yoy_pct": -6.101401347839364,</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"44200",</a:t>
            </a:r>
          </a:p>
          <a:p xmlns:a="http://schemas.openxmlformats.org/drawingml/2006/main">
            <a:r>
              <a:t>        "region_name": "충청남도 아산시",</a:t>
            </a:r>
          </a:p>
          <a:p xmlns:a="http://schemas.openxmlformats.org/drawingml/2006/main">
            <a:r>
              <a:t>        "visitors_yoy_pct": 1.6381359427136033,</a:t>
            </a:r>
          </a:p>
          <a:p xmlns:a="http://schemas.openxmlformats.org/drawingml/2006/main">
            <a:r>
              <a:t>        "spending_yoy_pct": 21.67555151294014</a:t>
            </a:r>
          </a:p>
          <a:p xmlns:a="http://schemas.openxmlformats.org/drawingml/2006/main">
            <a:r>
              <a:t>      },</a:t>
            </a:r>
          </a:p>
          <a:p xmlns:a="http://schemas.openxmlformats.org/drawingml/2006/main">
            <a:r>
              <a:t>      {</a:t>
            </a:r>
          </a:p>
          <a:p xmlns:a="http://schemas.openxmlformats.org/drawingml/2006/main">
            <a:r>
              <a:t>        "region_code": "44810",</a:t>
            </a:r>
          </a:p>
          <a:p xmlns:a="http://schemas.openxmlformats.org/drawingml/2006/main">
            <a:r>
              <a:t>        "region_name": "충청남도 예산군",</a:t>
            </a:r>
          </a:p>
          <a:p xmlns:a="http://schemas.openxmlformats.org/drawingml/2006/main">
            <a:r>
              <a:t>        "visitors_yoy_pct": -2.7921566891576433,</a:t>
            </a:r>
          </a:p>
          <a:p xmlns:a="http://schemas.openxmlformats.org/drawingml/2006/main">
            <a:r>
              <a:t>        "spending_yoy_pct": 3.2182000713773418</a:t>
            </a:r>
          </a:p>
          <a:p xmlns:a="http://schemas.openxmlformats.org/drawingml/2006/main">
            <a:r>
              <a:t>      },</a:t>
            </a:r>
          </a:p>
          <a:p xmlns:a="http://schemas.openxmlformats.org/drawingml/2006/main">
            <a:r>
              <a:t>      {</a:t>
            </a:r>
          </a:p>
          <a:p xmlns:a="http://schemas.openxmlformats.org/drawingml/2006/main">
            <a:r>
              <a:t>        "region_code": "44131",</a:t>
            </a:r>
          </a:p>
          <a:p xmlns:a="http://schemas.openxmlformats.org/drawingml/2006/main">
            <a:r>
              <a:t>        "region_name": "충청남도 천안시 동남구",</a:t>
            </a:r>
          </a:p>
          <a:p xmlns:a="http://schemas.openxmlformats.org/drawingml/2006/main">
            <a:r>
              <a:t>        "visitors_yoy_pct": 1.9721057822461585,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"44133",</a:t>
            </a:r>
          </a:p>
          <a:p xmlns:a="http://schemas.openxmlformats.org/drawingml/2006/main">
            <a:r>
              <a:t>        "region_name": "충청남도 천안시 서북구",</a:t>
            </a:r>
          </a:p>
          <a:p xmlns:a="http://schemas.openxmlformats.org/drawingml/2006/main">
            <a:r>
              <a:t>        "visitors_yoy_pct": 0.2612705243280944,</a:t>
            </a:r>
          </a:p>
          <a:p xmlns:a="http://schemas.openxmlformats.org/drawingml/2006/main">
            <a:r>
              <a:t>        "spending_yoy_pct": 7.768108787176065</a:t>
            </a:r>
          </a:p>
          <a:p xmlns:a="http://schemas.openxmlformats.org/drawingml/2006/main">
            <a:r>
              <a:t>      },</a:t>
            </a:r>
          </a:p>
          <a:p xmlns:a="http://schemas.openxmlformats.org/drawingml/2006/main">
            <a:r>
              <a:t>      {</a:t>
            </a:r>
          </a:p>
          <a:p xmlns:a="http://schemas.openxmlformats.org/drawingml/2006/main">
            <a:r>
              <a:t>        "region_code": "44790",</a:t>
            </a:r>
          </a:p>
          <a:p xmlns:a="http://schemas.openxmlformats.org/drawingml/2006/main">
            <a:r>
              <a:t>        "region_name": "충청남도 청양군",</a:t>
            </a:r>
          </a:p>
          <a:p xmlns:a="http://schemas.openxmlformats.org/drawingml/2006/main">
            <a:r>
              <a:t>        "visitors_yoy_pct": -2.2014068292360522,</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"44825",</a:t>
            </a:r>
          </a:p>
          <a:p xmlns:a="http://schemas.openxmlformats.org/drawingml/2006/main">
            <a:r>
              <a:t>        "region_name": "충청남도 태안군",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"44800",</a:t>
            </a:r>
          </a:p>
          <a:p xmlns:a="http://schemas.openxmlformats.org/drawingml/2006/main">
            <a:r>
              <a:t>        "region_name": "충청남도 홍성군",</a:t>
            </a:r>
          </a:p>
          <a:p xmlns:a="http://schemas.openxmlformats.org/drawingml/2006/main">
            <a:r>
              <a:t>        "visitors_yoy_pct": -1.926036252205876,</a:t>
            </a:r>
          </a:p>
          <a:p xmlns:a="http://schemas.openxmlformats.org/drawingml/2006/main">
            <a:r>
              <a:t>        "spending_yoy_pct": 17.440281108802136</a:t>
            </a:r>
          </a:p>
          <a:p xmlns:a="http://schemas.openxmlformats.org/drawingml/2006/main">
            <a:r>
              <a:t>      },</a:t>
            </a:r>
          </a:p>
          <a:p xmlns:a="http://schemas.openxmlformats.org/drawingml/2006/main">
            <a:r>
              <a:t>      {</a:t>
            </a:r>
          </a:p>
          <a:p xmlns:a="http://schemas.openxmlformats.org/drawingml/2006/main">
            <a:r>
              <a:t>        "region_code": "43760",</a:t>
            </a:r>
          </a:p>
          <a:p xmlns:a="http://schemas.openxmlformats.org/drawingml/2006/main">
            <a:r>
              <a:t>        "region_name": "충청북도 괴산군",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"43800",</a:t>
            </a:r>
          </a:p>
          <a:p xmlns:a="http://schemas.openxmlformats.org/drawingml/2006/main">
            <a:r>
              <a:t>        "region_name": "충청북도 단양군",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"43720",</a:t>
            </a:r>
          </a:p>
          <a:p xmlns:a="http://schemas.openxmlformats.org/drawingml/2006/main">
            <a:r>
              <a:t>        "region_name": "충청북도 보은군",</a:t>
            </a:r>
          </a:p>
          <a:p xmlns:a="http://schemas.openxmlformats.org/drawingml/2006/main">
            <a:r>
              <a:t>        "visitors_yoy_pct": -7.112510215020695,</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"43740",</a:t>
            </a:r>
          </a:p>
          <a:p xmlns:a="http://schemas.openxmlformats.org/drawingml/2006/main">
            <a:r>
              <a:t>        "region_name": "충청북도 영동군",</a:t>
            </a:r>
          </a:p>
          <a:p xmlns:a="http://schemas.openxmlformats.org/drawingml/2006/main">
            <a:r>
              <a:t>        "visitors_yoy_pct": 1.8046777943435899,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"43730",</a:t>
            </a:r>
          </a:p>
          <a:p xmlns:a="http://schemas.openxmlformats.org/drawingml/2006/main">
            <a:r>
              <a:t>        "region_name": "충청북도 옥천군",</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"43770",</a:t>
            </a:r>
          </a:p>
          <a:p xmlns:a="http://schemas.openxmlformats.org/drawingml/2006/main">
            <a:r>
              <a:t>        "region_name": "충청북도 음성군",</a:t>
            </a:r>
          </a:p>
          <a:p xmlns:a="http://schemas.openxmlformats.org/drawingml/2006/main">
            <a:r>
              <a:t>        "visitors_yoy_pct": 1.3354637153798476,</a:t>
            </a:r>
          </a:p>
          <a:p xmlns:a="http://schemas.openxmlformats.org/drawingml/2006/main">
            <a:r>
              <a:t>        "spending_yoy_pct": 4.336507996980998</a:t>
            </a:r>
          </a:p>
          <a:p xmlns:a="http://schemas.openxmlformats.org/drawingml/2006/main">
            <a:r>
              <a:t>      },</a:t>
            </a:r>
          </a:p>
          <a:p xmlns:a="http://schemas.openxmlformats.org/drawingml/2006/main">
            <a:r>
              <a:t>      {</a:t>
            </a:r>
          </a:p>
          <a:p xmlns:a="http://schemas.openxmlformats.org/drawingml/2006/main">
            <a:r>
              <a:t>        "region_code": "43150",</a:t>
            </a:r>
          </a:p>
          <a:p xmlns:a="http://schemas.openxmlformats.org/drawingml/2006/main">
            <a:r>
              <a:t>        "region_name": "충청북도 제천시",</a:t>
            </a:r>
          </a:p>
          <a:p xmlns:a="http://schemas.openxmlformats.org/drawingml/2006/main">
            <a:r>
              <a:t>        "visitors_yoy_pct": 0.0,</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"43745",</a:t>
            </a:r>
          </a:p>
          <a:p xmlns:a="http://schemas.openxmlformats.org/drawingml/2006/main">
            <a:r>
              <a:t>        "region_name": "충청북도 증평군",</a:t>
            </a:r>
          </a:p>
          <a:p xmlns:a="http://schemas.openxmlformats.org/drawingml/2006/main">
            <a:r>
              <a:t>        "visitors_yoy_pct": 3.43009996565109,</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"43750",</a:t>
            </a:r>
          </a:p>
          <a:p xmlns:a="http://schemas.openxmlformats.org/drawingml/2006/main">
            <a:r>
              <a:t>        "region_name": "충청북도 진천군",</a:t>
            </a:r>
          </a:p>
          <a:p xmlns:a="http://schemas.openxmlformats.org/drawingml/2006/main">
            <a:r>
              <a:t>        "visitors_yoy_pct": 0.8598805391942577,</a:t>
            </a:r>
          </a:p>
          <a:p xmlns:a="http://schemas.openxmlformats.org/drawingml/2006/main">
            <a:r>
              <a:t>        "spending_yoy_pct": 6.441991433916305</a:t>
            </a:r>
          </a:p>
          <a:p xmlns:a="http://schemas.openxmlformats.org/drawingml/2006/main">
            <a:r>
              <a:t>      },</a:t>
            </a:r>
          </a:p>
          <a:p xmlns:a="http://schemas.openxmlformats.org/drawingml/2006/main">
            <a:r>
              <a:t>      {</a:t>
            </a:r>
          </a:p>
          <a:p xmlns:a="http://schemas.openxmlformats.org/drawingml/2006/main">
            <a:r>
              <a:t>        "region_code": "43111",</a:t>
            </a:r>
          </a:p>
          <a:p xmlns:a="http://schemas.openxmlformats.org/drawingml/2006/main">
            <a:r>
              <a:t>        "region_name": "충청북도 청주시 상당구",</a:t>
            </a:r>
          </a:p>
          <a:p xmlns:a="http://schemas.openxmlformats.org/drawingml/2006/main">
            <a:r>
              <a:t>        "visitors_yoy_pct": 0.21217211529411806,</a:t>
            </a:r>
          </a:p>
          <a:p xmlns:a="http://schemas.openxmlformats.org/drawingml/2006/main">
            <a:r>
              <a:t>        "spending_yoy_pct": -3.405545347488803</a:t>
            </a:r>
          </a:p>
          <a:p xmlns:a="http://schemas.openxmlformats.org/drawingml/2006/main">
            <a:r>
              <a:t>      },</a:t>
            </a:r>
          </a:p>
          <a:p xmlns:a="http://schemas.openxmlformats.org/drawingml/2006/main">
            <a:r>
              <a:t>      {</a:t>
            </a:r>
          </a:p>
          <a:p xmlns:a="http://schemas.openxmlformats.org/drawingml/2006/main">
            <a:r>
              <a:t>        "region_code": "43112",</a:t>
            </a:r>
          </a:p>
          <a:p xmlns:a="http://schemas.openxmlformats.org/drawingml/2006/main">
            <a:r>
              <a:t>        "region_name": "충청북도 청주시 서원구",</a:t>
            </a:r>
          </a:p>
          <a:p xmlns:a="http://schemas.openxmlformats.org/drawingml/2006/main">
            <a:r>
              <a:t>        "visitors_yoy_pct": 2.511238291733453,</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"43114",</a:t>
            </a:r>
          </a:p>
          <a:p xmlns:a="http://schemas.openxmlformats.org/drawingml/2006/main">
            <a:r>
              <a:t>        "region_name": "충청북도 청주시 청원구",</a:t>
            </a:r>
          </a:p>
          <a:p xmlns:a="http://schemas.openxmlformats.org/drawingml/2006/main">
            <a:r>
              <a:t>        "visitors_yoy_pct": 0.18077100821116687,</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"region_code": "43113",</a:t>
            </a:r>
          </a:p>
          <a:p xmlns:a="http://schemas.openxmlformats.org/drawingml/2006/main">
            <a:r>
              <a:t>        "region_name": "충청북도 청주시 흥덕구",</a:t>
            </a:r>
          </a:p>
          <a:p xmlns:a="http://schemas.openxmlformats.org/drawingml/2006/main">
            <a:r>
              <a:t>        "visitors_yoy_pct": 0.18973668636870222,</a:t>
            </a:r>
          </a:p>
          <a:p xmlns:a="http://schemas.openxmlformats.org/drawingml/2006/main">
            <a:r>
              <a:t>        "spending_yoy_pct": 18.335822536892167</a:t>
            </a:r>
          </a:p>
          <a:p xmlns:a="http://schemas.openxmlformats.org/drawingml/2006/main">
            <a:r>
              <a:t>      },</a:t>
            </a:r>
          </a:p>
          <a:p xmlns:a="http://schemas.openxmlformats.org/drawingml/2006/main">
            <a:r>
              <a:t>      {</a:t>
            </a:r>
          </a:p>
          <a:p xmlns:a="http://schemas.openxmlformats.org/drawingml/2006/main">
            <a:r>
              <a:t>        "region_code": "43130",</a:t>
            </a:r>
          </a:p>
          <a:p xmlns:a="http://schemas.openxmlformats.org/drawingml/2006/main">
            <a:r>
              <a:t>        "region_name": "충청북도 충주시",</a:t>
            </a:r>
          </a:p>
          <a:p xmlns:a="http://schemas.openxmlformats.org/drawingml/2006/main">
            <a:r>
              <a:t>        "visitors_yoy_pct": -1.9728604465589328,</a:t>
            </a:r>
          </a:p>
          <a:p xmlns:a="http://schemas.openxmlformats.org/drawingml/2006/main">
            <a:r>
              <a:t>        "spending_yoy_pct": 0.0</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"method": "Saved region-specific models; same cutoff, same months; no retraining. Equal-weight mean of regional quarterly YoY growth. Competition ranks.",</a:t>
            </a:r>
          </a:p>
          <a:p xmlns:a="http://schemas.openxmlformats.org/drawingml/2006/main">
            <a:r>
              <a:t>  "source": "한국관광 데이터랩 공식 다운로드; data/processed/ml/&lt;region_code&gt;/monthly_demand.csv; artifacts/ml/&lt;region_code&gt;/demand_model.joblib",</a:t>
            </a:r>
          </a:p>
          <a:p xmlns:a="http://schemas.openxmlformats.org/drawingml/2006/main">
            <a:r>
              <a:t>  "limits": "No resident population or density adjustment. Forecast distance from last observed month may exceed 3 months. Rank changes are conditional scenarios, not causal estimates."</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[Saved narrative]</a:t>
            </a:r>
          </a:p>
          <a:p xmlns:a="http://schemas.openxmlformats.org/drawingml/2006/main">
            <a:r>
              <a:t>[</a:t>
            </a:r>
          </a:p>
          <a:p xmlns:a="http://schemas.openxmlformats.org/drawingml/2006/main">
            <a:r>
              <a:t>  {</a:t>
            </a:r>
          </a:p>
          <a:p xmlns:a="http://schemas.openxmlformats.org/drawingml/2006/main">
            <a:r>
              <a:t>    "priority": 1,</a:t>
            </a:r>
          </a:p>
          <a:p xmlns:a="http://schemas.openxmlformats.org/drawingml/2006/main">
            <a:r>
              <a:t>    "timeframe": "2026-10 ~ 2026-12, 3개월",</a:t>
            </a:r>
          </a:p>
          <a:p xmlns:a="http://schemas.openxmlformats.org/drawingml/2006/main">
            <a:r>
              <a:t>    "title": "제주시 야간 문화유산 및 시설 개방 프로그램",</a:t>
            </a:r>
          </a:p>
          <a:p xmlns:a="http://schemas.openxmlformats.org/drawingml/2006/main">
            <a:r>
              <a:t>    "problem_to_solve": "방문자 수 감소 및 낮은 숙박 비율을 개선하기 위한 야간 관광 콘텐츠 부족",</a:t>
            </a:r>
          </a:p>
          <a:p xmlns:a="http://schemas.openxmlformats.org/drawingml/2006/main">
            <a:r>
              <a:t>    "comparison_analysis": "서울특별시 문화유산 집적지역의 야간 개방 사례(case:4bac3530eca721)를 참고하되, 제주시의 항공·렌터카 중심 이동 환경과 가을·겨울철 기상 변수를 고려하여 프로그램을 조정함",</a:t>
            </a:r>
          </a:p>
          <a:p xmlns:a="http://schemas.openxmlformats.org/drawingml/2006/main">
            <a:r>
              <a:t>    "solution": "제주시 내 박물관, 공연장, 문화유산 등 기존 시설을 활용하여 야간 개방 및 체험 프로그램을 확대 운영",</a:t>
            </a:r>
          </a:p>
          <a:p xmlns:a="http://schemas.openxmlformats.org/drawingml/2006/main">
            <a:r>
              <a:t>    "implementation_steps": [</a:t>
            </a:r>
          </a:p>
          <a:p xmlns:a="http://schemas.openxmlformats.org/drawingml/2006/main">
            <a:r>
              <a:t>      {</a:t>
            </a:r>
          </a:p>
          <a:p xmlns:a="http://schemas.openxmlformats.org/drawingml/2006/main">
            <a:r>
              <a:t>        "step": 1,</a:t>
            </a:r>
          </a:p>
          <a:p xmlns:a="http://schemas.openxmlformats.org/drawingml/2006/main">
            <a:r>
              <a:t>        "schedule": "2026-10",</a:t>
            </a:r>
          </a:p>
          <a:p xmlns:a="http://schemas.openxmlformats.org/drawingml/2006/main">
            <a:r>
              <a:t>        "task": "사업 담당자가 제주시 내 야간 개방 가능 시설(박물관, 문화유산 등)을 전수 조사하고 시설 관리 주체와 운영 협약을 체결함",</a:t>
            </a:r>
          </a:p>
          <a:p xmlns:a="http://schemas.openxmlformats.org/drawingml/2006/main">
            <a:r>
              <a:t>        "deliverable": "대상 시설 목록 및 운영 협약서(안)"</a:t>
            </a:r>
          </a:p>
          <a:p xmlns:a="http://schemas.openxmlformats.org/drawingml/2006/main">
            <a:r>
              <a:t>      },</a:t>
            </a:r>
          </a:p>
          <a:p xmlns:a="http://schemas.openxmlformats.org/drawingml/2006/main">
            <a:r>
              <a:t>      {</a:t>
            </a:r>
          </a:p>
          <a:p xmlns:a="http://schemas.openxmlformats.org/drawingml/2006/main">
            <a:r>
              <a:t>        "step": 2,</a:t>
            </a:r>
          </a:p>
          <a:p xmlns:a="http://schemas.openxmlformats.org/drawingml/2006/main">
            <a:r>
              <a:t>        "schedule": "2026-10",</a:t>
            </a:r>
          </a:p>
          <a:p xmlns:a="http://schemas.openxmlformats.org/drawingml/2006/main">
            <a:r>
              <a:t>        "task": "기획팀이 야간 프로그램 콘텐츠를 기획하고, 운영팀이 현장 인력 배치 및 안전 관리 계획을 수립함",</a:t>
            </a:r>
          </a:p>
          <a:p xmlns:a="http://schemas.openxmlformats.org/drawingml/2006/main">
            <a:r>
              <a:t>        "deliverable": "프로그램 운영 매뉴얼 및 안전 관리 계획서"</a:t>
            </a:r>
          </a:p>
          <a:p xmlns:a="http://schemas.openxmlformats.org/drawingml/2006/main">
            <a:r>
              <a:t>      },</a:t>
            </a:r>
          </a:p>
          <a:p xmlns:a="http://schemas.openxmlformats.org/drawingml/2006/main">
            <a:r>
              <a:t>      {</a:t>
            </a:r>
          </a:p>
          <a:p xmlns:a="http://schemas.openxmlformats.org/drawingml/2006/main">
            <a:r>
              <a:t>        "step": 3,</a:t>
            </a:r>
          </a:p>
          <a:p xmlns:a="http://schemas.openxmlformats.org/drawingml/2006/main">
            <a:r>
              <a:t>        "schedule": "2026-10",</a:t>
            </a:r>
          </a:p>
          <a:p xmlns:a="http://schemas.openxmlformats.org/drawingml/2006/main">
            <a:r>
              <a:t>        "task": "운영팀이 예약 시스템 구축을 확인하고, 지역 상권 담당자가 인근 식음·상점 연계 프로모션을 설계함",</a:t>
            </a:r>
          </a:p>
          <a:p xmlns:a="http://schemas.openxmlformats.org/drawingml/2006/main">
            <a:r>
              <a:t>        "deliverable": "예약 시스템 및 연계 상점 리스트"</a:t>
            </a:r>
          </a:p>
          <a:p xmlns:a="http://schemas.openxmlformats.org/drawingml/2006/main">
            <a:r>
              <a:t>      },</a:t>
            </a:r>
          </a:p>
          <a:p xmlns:a="http://schemas.openxmlformats.org/drawingml/2006/main">
            <a:r>
              <a:t>      {</a:t>
            </a:r>
          </a:p>
          <a:p xmlns:a="http://schemas.openxmlformats.org/drawingml/2006/main">
            <a:r>
              <a:t>        "step": 4,</a:t>
            </a:r>
          </a:p>
          <a:p xmlns:a="http://schemas.openxmlformats.org/drawingml/2006/main">
            <a:r>
              <a:t>        "schedule": "2026-11 ~ 2026-12",</a:t>
            </a:r>
          </a:p>
          <a:p xmlns:a="http://schemas.openxmlformats.org/drawingml/2006/main">
            <a:r>
              <a:t>        "task": "현장 운영팀이 야간 체험 프로그램을 시범 운영하며, 사업 담당자가 주간 운영 결과 및 현장 모니터링을 수행함",</a:t>
            </a:r>
          </a:p>
          <a:p xmlns:a="http://schemas.openxmlformats.org/drawingml/2006/main">
            <a:r>
              <a:t>        "deliverable": "주간 운영 결과 보고서"</a:t>
            </a:r>
          </a:p>
          <a:p xmlns:a="http://schemas.openxmlformats.org/drawingml/2006/main">
            <a:r>
              <a:t>      },</a:t>
            </a:r>
          </a:p>
          <a:p xmlns:a="http://schemas.openxmlformats.org/drawingml/2006/main">
            <a:r>
              <a:t>      {</a:t>
            </a:r>
          </a:p>
          <a:p xmlns:a="http://schemas.openxmlformats.org/drawingml/2006/main">
            <a:r>
              <a:t>        "step": 5,</a:t>
            </a:r>
          </a:p>
          <a:p xmlns:a="http://schemas.openxmlformats.org/drawingml/2006/main">
            <a:r>
              <a:t>        "schedule": "2026-12",</a:t>
            </a:r>
          </a:p>
          <a:p xmlns:a="http://schemas.openxmlformats.org/drawingml/2006/main">
            <a:r>
              <a:t>        "task": "데이터 분석 담당자가 이용 완료율 및 인근 상권 결제 데이터를 집계하여 성과를 검증함",</a:t>
            </a:r>
          </a:p>
          <a:p xmlns:a="http://schemas.openxmlformats.org/drawingml/2006/main">
            <a:r>
              <a:t>        "deliverable": "최종 사업 성과 분석 보고서"</a:t>
            </a:r>
          </a:p>
          <a:p xmlns:a="http://schemas.openxmlformats.org/drawingml/2006/main">
            <a:r>
              <a:t>      }</a:t>
            </a:r>
          </a:p>
          <a:p xmlns:a="http://schemas.openxmlformats.org/drawingml/2006/main">
            <a:r>
              <a:t>    ],</a:t>
            </a:r>
          </a:p>
          <a:p xmlns:a="http://schemas.openxmlformats.org/drawingml/2006/main">
            <a:r>
              <a:t>    "expected_effect": "계획 목표: 최종월 ML 기준 전망 대비 방문 +5%, 소비 +5%. 월별 목표는 단계 적용하며 참여·이용 실적은 별도 집계합니다.",</a:t>
            </a:r>
          </a:p>
          <a:p xmlns:a="http://schemas.openxmlformats.org/drawingml/2006/main">
            <a:r>
              <a:t>    "budget":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"kpi": "야간 프로그램 이용 완료율(분자: 야간 이용을 완료한 고유 참여 ID 수 / 분모: 승인한 고유 참여 ID 수), 기준기간: 해당 승인·발급 집단의 이용 유효기간, 측정 주기: 매주, 수집 방법: 신청·승인·취소·이용·결제 원장 집계, 비교 집단: 미운영 집단(분모 부재로 직접 비교 불가하므로 이용률 추이로 기술), 성공 기준: 착수 전 확정할 기준선 대비 달성 여부로 판단",</a:t>
            </a:r>
          </a:p>
          <a:p xmlns:a="http://schemas.openxmlformats.org/drawingml/2006/main">
            <a:r>
              <a:t>    "evidence": "case:4bac3530eca721, dataset:50110:1, dataset:50110:2, dataset:50110:4, dataset:50110:6",</a:t>
            </a:r>
          </a:p>
          <a:p xmlns:a="http://schemas.openxmlformats.org/drawingml/2006/main">
            <a:r>
              <a:t>    "visual_asset_source_ids": [</a:t>
            </a:r>
          </a:p>
          <a:p xmlns:a="http://schemas.openxmlformats.org/drawingml/2006/main">
            <a:r>
              <a:t>      "case:4bac3530eca721"</a:t>
            </a:r>
          </a:p>
          <a:p xmlns:a="http://schemas.openxmlformats.org/drawingml/2006/main">
            <a:r>
              <a:t>    ]</a:t>
            </a:r>
          </a:p>
          <a:p xmlns:a="http://schemas.openxmlformats.org/drawingml/2006/main">
            <a:r>
              <a:t>  }</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a:t>
            </a:r>
          </a:p>
          <a:p xmlns:a="http://schemas.openxmlformats.org/drawingml/2006/main">
            <a:r>
              <a:t>  "method": "operation-document-v2",</a:t>
            </a:r>
          </a:p>
          <a:p xmlns:a="http://schemas.openxmlformats.org/drawingml/2006/main">
            <a:r>
              <a:t>  "sources":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"images": [</a:t>
            </a:r>
          </a:p>
          <a:p xmlns:a="http://schemas.openxmlformats.org/drawingml/2006/main">
            <a:r>
              <a:t>    {</a:t>
            </a:r>
          </a:p>
          <a:p xmlns:a="http://schemas.openxmlformats.org/drawingml/2006/main">
            <a:r>
              <a:t>      "caption": "서울 중구 정동 · 정동야행 행사 사진",</a:t>
            </a:r>
          </a:p>
          <a:p xmlns:a="http://schemas.openxmlformats.org/drawingml/2006/main">
            <a:r>
              <a:t>      "credit": "서울문화포털 · 2024 정동야행",</a:t>
            </a:r>
          </a:p>
          <a:p xmlns:a="http://schemas.openxmlformats.org/drawingml/2006/main">
            <a:r>
              <a:t>      "page_url": "https://culture.seoul.go.kr/culture/culture/cultureEvent/view.do?cultcode=146365&amp;menuNo=200009",</a:t>
            </a:r>
          </a:p>
          <a:p xmlns:a="http://schemas.openxmlformats.org/drawingml/2006/main">
            <a:r>
              <a:t>      "image_url": "https://culture.seoul.go.kr/resources/culture/img/editor/culture/editor_20240530140505_47975.jpg",</a:t>
            </a:r>
          </a:p>
          <a:p xmlns:a="http://schemas.openxmlformats.org/drawingml/2006/main">
            <a:r>
              <a:t>      "match_kind": "documented_constituent_event",</a:t>
            </a:r>
          </a:p>
          <a:p xmlns:a="http://schemas.openxmlformats.org/drawingml/2006/main">
            <a:r>
              <a:t>      "retrieved_at": "2026-09-15"</a:t>
            </a:r>
          </a:p>
          <a:p xmlns:a="http://schemas.openxmlformats.org/drawingml/2006/main">
            <a:r>
              <a:t>    },</a:t>
            </a:r>
          </a:p>
          <a:p xmlns:a="http://schemas.openxmlformats.org/drawingml/2006/main">
            <a:r>
              <a:t>    {</a:t>
            </a:r>
          </a:p>
          <a:p xmlns:a="http://schemas.openxmlformats.org/drawingml/2006/main">
            <a:r>
              <a:t>      "filename": "gangjin_official.jpg",</a:t>
            </a:r>
          </a:p>
          <a:p xmlns:a="http://schemas.openxmlformats.org/drawingml/2006/main">
            <a:r>
              <a:t>      "caption": "강진군 · 반값여행 공식 홍보물",</a:t>
            </a:r>
          </a:p>
          <a:p xmlns:a="http://schemas.openxmlformats.org/drawingml/2006/main">
            <a:r>
              <a:t>      "credit": "강진 반값여행 공식 홈페이지",</a:t>
            </a:r>
          </a:p>
          <a:p xmlns:a="http://schemas.openxmlformats.org/drawingml/2006/main">
            <a:r>
              <a:t>      "page_url": "https://www.gangjintour.com/",</a:t>
            </a:r>
          </a:p>
          <a:p xmlns:a="http://schemas.openxmlformats.org/drawingml/2006/main">
            <a:r>
              <a:t>      "image_url": "https://gangjintour.com/skin_hub/SKIN006/assets/img/gjimg.jpg",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"filename": "digital_official.jpg",</a:t>
            </a:r>
          </a:p>
          <a:p xmlns:a="http://schemas.openxmlformats.org/drawingml/2006/main">
            <a:r>
              <a:t>      "caption": "전국 · 디지털 관광주민증 홍보물",</a:t>
            </a:r>
          </a:p>
          <a:p xmlns:a="http://schemas.openxmlformats.org/drawingml/2006/main">
            <a:r>
              <a:t>      "credit": "대한민국 정책브리핑 (2025)",</a:t>
            </a:r>
          </a:p>
          <a:p xmlns:a="http://schemas.openxmlformats.org/drawingml/2006/main">
            <a:r>
              <a:t>      "page_url": "https://www.korea.kr/news/policyNewsView.do?newsId=148947084",</a:t>
            </a:r>
          </a:p>
          <a:p xmlns:a="http://schemas.openxmlformats.org/drawingml/2006/main">
            <a:r>
              <a:t>      "image_url": "https://www.korea.kr/newsWeb/resources/attaches/2025.08/05/0805-1.jpg",</a:t>
            </a:r>
          </a:p>
          <a:p xmlns:a="http://schemas.openxmlformats.org/drawingml/2006/main">
            <a:r>
              <a:t>      "match_kind": "exact_case",</a:t>
            </a:r>
          </a:p>
          <a:p xmlns:a="http://schemas.openxmlformats.org/drawingml/2006/main">
            <a:r>
              <a:t>      "retrieved_at": "2026-09-10"</a:t>
            </a:r>
          </a:p>
          <a:p xmlns:a="http://schemas.openxmlformats.org/drawingml/2006/main">
            <a:r>
              <a:t>    }</a:t>
            </a:r>
          </a:p>
          <a:p xmlns:a="http://schemas.openxmlformats.org/drawingml/2006/main">
            <a:r>
              <a:t>  ],</a:t>
            </a:r>
          </a:p>
          <a:p xmlns:a="http://schemas.openxmlformats.org/drawingml/2006/main">
            <a:r>
              <a:t>  "image_policy": "Official web assets; exact case or clearly labelled similar operation / general tourism reference. No generated fallback."</a:t>
            </a:r>
          </a:p>
          <a:p xmlns:a="http://schemas.openxmlformats.org/drawingml/2006/main">
            <a:r>
              <a: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proposal_layout_v9.execution_groups / execution_copy → 4개 단계. 일정은 저장 implementation_steps, 업무 설명은 환급형/일반형 코드 템플릿.</a:t>
            </a:r>
          </a:p>
          <a:p xmlns:a="http://schemas.openxmlformats.org/drawingml/2006/main">
            <a:r>
              <a:t>[{"step": 1, "schedule": "2026-10", "task": "사업 담당자가 제주시 내 야간 개방 가능 시설(박물관, 문화유산 등)을 전수 조사하고 시설 관리 주체와 운영 협약을 체결함", "deliverable": "대상 시설 목록 및 운영 협약서(안)"}, {"step": 2, "schedule": "2026-10", "task": "기획팀이 야간 프로그램 콘텐츠를 기획하고, 운영팀이 현장 인력 배치 및 안전 관리 계획을 수립함", "deliverable": "프로그램 운영 매뉴얼 및 안전 관리 계획서"}, {"step": 3, "schedule": "2026-10", "task": "운영팀이 예약 시스템 구축을 확인하고, 지역 상권 담당자가 인근 식음·상점 연계 프로모션을 설계함", "deliverable": "예약 시스템 및 연계 상점 리스트"}, {"step": 4, "schedule": "2026-11 ~ 2026-12", "task": "현장 운영팀이 야간 체험 프로그램을 시범 운영하며, 사업 담당자가 주간 운영 결과 및 현장 모니터링을 수행함", "deliverable": "주간 운영 결과 보고서"}, {"step": 5, "schedule": "2026-12", "task": "데이터 분석 담당자가 이용 완료율 및 인근 상권 결제 데이터를 집계하여 성과를 검증함", "deliverable": "최종 사업 성과 분석 보고서"}]</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 목표율 입력 시 최종 월의 자연추세와 목표를 비교합니다. 미입력 시 견적에 기반한 별도 참여 목표만 제안합니다.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"export_evidence": {</a:t>
            </a:r>
          </a:p>
          <a:p>
            <a:r>
              <a:t>    "title": "서울 중구 · 정동야행",</a:t>
            </a:r>
          </a:p>
          <a:p>
            <a:r>
              <a:t>    "scope": "선정한 서울 문화재야행 사업에 포함된 정동야행",</a:t>
            </a:r>
          </a:p>
          <a:p>
            <a:r>
              <a:t>    "action": "역사·문화시설을 밤에도 개방하고, 공연과 체험을 함께 운영",</a:t>
            </a:r>
          </a:p>
          <a:p>
            <a:r>
              <a:t>    "metric": "행사 방문객",</a:t>
            </a:r>
          </a:p>
          <a:p>
            <a:r>
              <a:t>    "before": 100000,</a:t>
            </a:r>
          </a:p>
          <a:p>
            <a:r>
              <a:t>    "after": 130000,</a:t>
            </a:r>
          </a:p>
          <a:p>
            <a:r>
              <a:t>    "before_label": "2023년 · 10월 13–14일",</a:t>
            </a:r>
          </a:p>
          <a:p>
            <a:r>
              <a:t>    "after_label": "2024년 · 5월 24–25일",</a:t>
            </a:r>
          </a:p>
          <a:p>
            <a:r>
              <a:t>    "before_note": "중구청 발표 · 약 10만 명",</a:t>
            </a:r>
          </a:p>
          <a:p>
            <a:r>
              <a:t>    "after_note": "중구청 발표 · 13만 명",</a:t>
            </a:r>
          </a:p>
          <a:p>
            <a:r>
              <a:t>    "interpretation": "두 해의 행사 방문객 비교입니다. 개최 계절이 달라 사업 단독 효과로 해석하지 않습니다.",</a:t>
            </a:r>
          </a:p>
          <a:p>
            <a:r>
              <a:t>    "references": [</a:t>
            </a:r>
          </a:p>
          <a:p>
            <a:r>
              <a:t>      [</a:t>
            </a:r>
          </a:p>
          <a:p>
            <a:r>
              <a:t>        "중구청 · 2023 정동야행 성공적 개최 (2023.10.15)",</a:t>
            </a:r>
          </a:p>
          <a:p>
            <a:r>
              <a:t>        "https://www.junggu.seoul.kr/content.do?cid=1235161279&amp;cmsid=14390&amp;mode=view"</a:t>
            </a:r>
          </a:p>
          <a:p>
            <a:r>
              <a:t>      ],</a:t>
            </a:r>
          </a:p>
          <a:p>
            <a:r>
              <a:t>      [</a:t>
            </a:r>
          </a:p>
          <a:p>
            <a:r>
              <a:t>        "중구청 · 2024 정동야행, 봄밤의 낭만 활짝 (2024.05.27)",</a:t>
            </a:r>
          </a:p>
          <a:p>
            <a:r>
              <a:t>        "https://www.junggu.seoul.kr/content.do?cid=1280957763&amp;cmsid=14390&amp;mode=view"</a:t>
            </a:r>
          </a:p>
          <a:p>
            <a:r>
              <a:t>      ],</a:t>
            </a:r>
          </a:p>
          <a:p>
            <a:r>
              <a:t>      [</a:t>
            </a:r>
          </a:p>
          <a:p>
            <a:r>
              <a:t>        "서울문화포털 · 2024 정동야행 행사 내용과 사진",</a:t>
            </a:r>
          </a:p>
          <a:p>
            <a:r>
              <a:t>        "https://culture.seoul.go.kr/culture/culture/cultureEvent/view.do?cultcode=146365&amp;menuNo=200009"</a:t>
            </a:r>
          </a:p>
          <a:p>
            <a:r>
              <a:t>      ]</a:t>
            </a:r>
          </a:p>
          <a:p>
            <a:r>
              <a:t>    ],</a:t>
            </a:r>
          </a:p>
          <a:p>
            <a:r>
              <a:t>    "photo": {</a:t>
            </a:r>
          </a:p>
          <a:p>
            <a:r>
              <a:t>      "path": "C:\\Users\\Admin\\mbca\\TP2-3\\ai_server\\assets\\proposal_cases\\jeongdong_2024.jpg",</a:t>
            </a:r>
          </a:p>
          <a:p>
            <a:r>
              <a:t>      "caption": "서울 중구 정동 · 정동야행 행사 사진",</a:t>
            </a:r>
          </a:p>
          <a:p>
            <a:r>
              <a:t>      "credit": "서울문화포털 · 2024 정동야행",</a:t>
            </a:r>
          </a:p>
          <a:p>
            <a:r>
              <a:t>      "page_url": "https://culture.seoul.go.kr/culture/culture/cultureEvent/view.do?cultcode=146365&amp;menuNo=200009",</a:t>
            </a:r>
          </a:p>
          <a:p>
            <a:r>
              <a:t>      "image_url": "https://culture.seoul.go.kr/resources/culture/img/editor/culture/editor_20240530140505_47975.jpg",</a:t>
            </a:r>
          </a:p>
          <a:p>
            <a:r>
              <a:t>      "match_kind": "documented_constituent_event",</a:t>
            </a:r>
          </a:p>
          <a:p>
            <a:r>
              <a:t>      "retrieved_at": "2026-09-15"</a:t>
            </a:r>
          </a:p>
          <a:p>
            <a:r>
              <a:t>    },</a:t>
            </a:r>
          </a:p>
          <a:p>
            <a:r>
              <a:t>    "parent_source": "https://culture.seoul.go.kr/culture/cmmn/file/fileDown.do?atchFileId=c4638ecc9ce84bba9e51ecc2e11293e2&amp;bbsId=&amp;fileSn=2&amp;menuNo=200050",</a:t>
            </a:r>
          </a:p>
          <a:p>
            <a:r>
              <a:t>    "parent_page": 83,</a:t>
            </a:r>
          </a:p>
          <a:p>
            <a:r>
              <a:t>    "verified_at": "2026-09-15"</a:t>
            </a:r>
          </a:p>
          <a:p>
            <a:r>
              <a:t>  },</a:t>
            </a:r>
          </a:p>
          <a:p>
            <a:r>
              <a:t>  "rule": "Facts refer only to the named event / period. Saved regional targets are unchanged."</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방문·소비의 기준 전망은 저장 모델에서 나온 수치입니다. 여기에 공식 사례를 참고한 계획 목표율을 단계적으로 적용합니다. 강진을 참고한 경우 25%는 발표된 지역 증가율이고, 80%는 우리가 채택한 계획 가정입니다. 두 값을 곱한 20%는 신규 사업 효과의 ML 예측이 아닙니다. 추가 방문 목표의 일부를 직접 운영할 참여량으로 배분하고 가정 단가를 곱합니다. 상세 항목의 합계에 예비비를 더한 값이 견적입니다.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proposal_evidence.build_reference_estimate; idea_proposal.scale_estimate.</a:t>
            </a:r>
          </a:p>
          <a:p>
            <a:r>
              <a:t>{</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관측값·저장 예측·계획 목표는 별개입니다. 문서용 참고 견적이며 원 보고서의 검수 결과를 변경하지 않습니다.</a:t>
            </a:r>
          </a:p>
          <a:p xmlns:a="http://schemas.openxmlformats.org/drawingml/2006/main">
            <a:r>
              <a:t>[Sources]</a:t>
            </a:r>
          </a:p>
          <a:p xmlns:a="http://schemas.openxmlformats.org/drawingml/2006/main">
            <a:r>
              <a:t>dataset:50110:1 | 한국관광 데이터랩 · 제주특별자치도 제주시 순 방문자 수 및 숙박 비율 (이동통신 기반 외지인) | https://datalab.visitkorea.or.kr/</a:t>
            </a:r>
          </a:p>
          <a:p xmlns:a="http://schemas.openxmlformats.org/drawingml/2006/main">
            <a:r>
              <a:t>dataset:50110:2 | 한국관광 데이터랩 · 제주특별자치도 제주시 월간 순 방문자 수 (이동통신 기반 외지인) | https://datalab.visitkorea.or.kr/</a:t>
            </a:r>
          </a:p>
          <a:p xmlns:a="http://schemas.openxmlformats.org/drawingml/2006/main">
            <a:r>
              <a:t>dataset:50110:3 | 한국관광 데이터랩 · 제주특별자치도 제주시 관광소비 추이_외지인 | https://datalab.visitkorea.or.kr/</a:t>
            </a:r>
          </a:p>
          <a:p xmlns:a="http://schemas.openxmlformats.org/drawingml/2006/main">
            <a:r>
              <a:t>dataset:50110:4 | 한국관광 데이터랩 · 제주특별자치도 제주시 숙박방문자 비율 추이 (이동통신 기반 외지인) | https://datalab.visitkorea.or.kr/</a:t>
            </a:r>
          </a:p>
          <a:p xmlns:a="http://schemas.openxmlformats.org/drawingml/2006/main">
            <a:r>
              <a:t>dataset:50110:5 | 한국관광 데이터랩 · 제주특별자치도 제주시 평균 숙박일 (이동통신 기반 외지인) | https://datalab.visitkorea.or.kr/</a:t>
            </a:r>
          </a:p>
          <a:p xmlns:a="http://schemas.openxmlformats.org/drawingml/2006/main">
            <a:r>
              <a:t>dataset:50110:6 | 한국관광 데이터랩 · 제주특별자치도 제주시 내비게이션 목적지 유형별 검색량 | https://datalab.visitkorea.or.kr/</a:t>
            </a:r>
          </a:p>
          <a:p xmlns:a="http://schemas.openxmlformats.org/drawingml/2006/main">
            <a:r>
              <a:t>dataset:50110:7 | 한국관광 데이터랩 · 제주특별자치도 제주시 SNS 언급량 | https://datalab.visitkorea.or.kr/</a:t>
            </a:r>
          </a:p>
          <a:p xmlns:a="http://schemas.openxmlformats.org/drawingml/2006/main">
            <a:r>
              <a:t>datalab:3ec866bde028:27b141591f10 | 한국관광 데이터랩 공식 다운로드 · 제주특별자치도_제주시/방문자/2026_01_06.zip | https://datalab.visitkorea.or.kr/</a:t>
            </a:r>
          </a:p>
          <a:p xmlns:a="http://schemas.openxmlformats.org/drawingml/2006/main">
            <a:r>
              <a:t>datalab:4833a91757b2:5c2efa032440 | 한국관광 데이터랩 공식 다운로드 · 제주특별자치도_제주시/숙박_체류시간/2026_01_06.zip | https://datalab.visitkorea.or.kr/</a:t>
            </a:r>
          </a:p>
          <a:p xmlns:a="http://schemas.openxmlformats.org/drawingml/2006/main">
            <a:r>
              <a:t>datalab:5d9f73f9fe47:2904d99e7279 | 한국관광 데이터랩 공식 다운로드 · 제주특별자치도_제주시/숙박_체류시간/2025_01_12.zip | https://datalab.visitkorea.or.kr/</a:t>
            </a:r>
          </a:p>
          <a:p xmlns:a="http://schemas.openxmlformats.org/drawingml/2006/main">
            <a:r>
              <a:t>datalab:95122c38b4fc:522e2d839300 | 한국관광 데이터랩 공식 다운로드 · 제주특별자치도_제주시/관광소비/2026_01_06.zip | https://datalab.visitkorea.or.kr/</a:t>
            </a:r>
          </a:p>
          <a:p xmlns:a="http://schemas.openxmlformats.org/drawingml/2006/main">
            <a:r>
              <a:t>datalab:d73227708014:f4517115deb9 | 한국관광 데이터랩 공식 다운로드 · 제주특별자치도_제주시/방문자/2025_01_12.zip | https://datalab.visitkorea.or.kr/</a:t>
            </a:r>
          </a:p>
          <a:p xmlns:a="http://schemas.openxmlformats.org/drawingml/2006/main">
            <a:r>
              <a:t>datalab:f07ad8a73d99:ed1b998de1b3 | 한국관광 데이터랩 공식 다운로드 · 제주특별자치도_제주시/관광소비/2025_01_12.zip | https://datalab.visitkorea.or.kr/</a:t>
            </a:r>
          </a:p>
          <a:p xmlns:a="http://schemas.openxmlformats.org/drawingml/2006/main">
            <a:r>
              <a:t>team-bigdata:23ea68053684:6bfbcf8aabf6 | 한국관광 데이터랩 전국 빅데이터 다운로드 · 이동통신/내국인/지역별 방문자수/20260820140607__202601-202606_데이터랩_다운로드.zip | https://datalab.visitkorea.or.kr/</a:t>
            </a:r>
          </a:p>
          <a:p xmlns:a="http://schemas.openxmlformats.org/drawingml/2006/main">
            <a:r>
              <a:t>team-bigdata:98d4ae590d9a:3be52dd54323 | 한국관광 데이터랩 전국 빅데이터 다운로드 · 이동통신/외국인/20260820141710_전국_202601-202606_데이터랩_다운로드.zip | https://datalab.visitkorea.or.kr/</a:t>
            </a:r>
          </a:p>
          <a:p xmlns:a="http://schemas.openxmlformats.org/drawingml/2006/main">
            <a:r>
              <a:t>team-bigdata:367cd0294ec4:873930d645e5 | 한국관광 데이터랩 전국 빅데이터 다운로드 · 신용카드/내국인/지역별 관광지출액/20260820140046__202601-202606_데이터랩_다운로드.zip | https://datalab.visitkorea.or.kr/</a:t>
            </a:r>
          </a:p>
          <a:p xmlns:a="http://schemas.openxmlformats.org/drawingml/2006/main">
            <a:r>
              <a:t>team-bigdata:553a0dad4bb4:5a31355dffe8 | 한국관광 데이터랩 전국 빅데이터 다운로드 · 신용카드/외국인/지역별 관광지출액/20260820140355__202601-202606_데이터랩_다운로드.zip | https://datalab.visitkorea.or.kr/</a:t>
            </a:r>
          </a:p>
          <a:p xmlns:a="http://schemas.openxmlformats.org/drawingml/2006/main">
            <a:r>
              <a:t>team-bigdata:a53dbe1c21df:77a052de41d5 | 한국관광 데이터랩 전국 빅데이터 다운로드 · 네비게이션/지역별 검색건수/20260820195507__202601-202606_데이터랩_다운로드.zip | https://datalab.visitkorea.or.kr/</a:t>
            </a:r>
          </a:p>
          <a:p xmlns:a="http://schemas.openxmlformats.org/drawingml/2006/main">
            <a:r>
              <a:t>team-bigdata:823a38d1d61c:5385261d02e5 | 한국관광 데이터랩 전국 빅데이터 다운로드 · 이동통신/내국인/지역별 방문자수/20260820140614__202501-202512_데이터랩_다운로드.zip | https://datalab.visitkorea.or.kr/</a:t>
            </a:r>
          </a:p>
          <a:p xmlns:a="http://schemas.openxmlformats.org/drawingml/2006/main">
            <a:r>
              <a:t>team-bigdata:2723bdb0d589:1666a34058ed | 한국관광 데이터랩 전국 빅데이터 다운로드 · 이동통신/외국인/20260820141649_전국_202501-202512_데이터랩_다운로드.zip | https://datalab.visitkorea.or.kr/</a:t>
            </a:r>
          </a:p>
          <a:p xmlns:a="http://schemas.openxmlformats.org/drawingml/2006/main">
            <a:r>
              <a:t>team-bigdata:83177a234971:c02cb7972e0f | 한국관광 데이터랩 전국 빅데이터 다운로드 · 신용카드/내국인/지역별 관광지출액/20260820135957__202501-202512_데이터랩_다운로드.zip | https://datalab.visitkorea.or.kr/</a:t>
            </a:r>
          </a:p>
          <a:p xmlns:a="http://schemas.openxmlformats.org/drawingml/2006/main">
            <a:r>
              <a:t>team-bigdata:58ded7732251:589c76395cbc | 한국관광 데이터랩 전국 빅데이터 다운로드 · 신용카드/외국인/지역별 관광지출액/20260820140409__202501-202512_데이터랩_다운로드.zip | https://datalab.visitkorea.or.kr/</a:t>
            </a:r>
          </a:p>
          <a:p xmlns:a="http://schemas.openxmlformats.org/drawingml/2006/main">
            <a:r>
              <a:t>team-bigdata:e28c947cb52f:bb4cb344a6ba | 한국관광 데이터랩 전국 빅데이터 다운로드 · 네비게이션/지역별 검색건수/20260820132007__202501-202512_데이터랩_다운로드.zip | https://datalab.visitkorea.or.kr/</a:t>
            </a:r>
          </a:p>
          <a:p xmlns:a="http://schemas.openxmlformats.org/drawingml/2006/main">
            <a:r>
              <a:t>team-bigdata:8815bbb11a39:1a5988f5f8ec | 한국관광 데이터랩 전국 빅데이터 다운로드 · 이동통신/내국인/지역별 방문자수/20260820140624__202401-202412_데이터랩_다운로드.zip | https://datalab.visitkorea.or.kr/</a:t>
            </a:r>
          </a:p>
          <a:p xmlns:a="http://schemas.openxmlformats.org/drawingml/2006/main">
            <a:r>
              <a:t>team-bigdata:19fd67fbb73d:afa4f0f54a2f | 한국관광 데이터랩 전국 빅데이터 다운로드 · 이동통신/외국인/20260820141639_전국_202401-202412_데이터랩_다운로드.zip | https://datalab.visitkorea.or.kr/</a:t>
            </a:r>
          </a:p>
          <a:p xmlns:a="http://schemas.openxmlformats.org/drawingml/2006/main">
            <a:r>
              <a:t>regional-status:9ac27e83f27b:e998409010f6 | 한국관광 데이터랩 지역별 관광 현황 · 제주특별자치도 제주시 · 유입유출 | https://datalab.visitkorea.or.kr/</a:t>
            </a:r>
          </a:p>
          <a:p xmlns:a="http://schemas.openxmlformats.org/drawingml/2006/main">
            <a:r>
              <a:t>regional-status:daecd5ff8069:00c8b971be40 | 한국관광 데이터랩 지역별 관광 현황 · 제주특별자치도 제주시 · 인기관광지 | https://datalab.visitkorea.or.kr/</a:t>
            </a:r>
          </a:p>
          <a:p xmlns:a="http://schemas.openxmlformats.org/drawingml/2006/main">
            <a:r>
              <a:t>regional-status:dd0eaa9c763f:3aadcdcac2c5 | 한국관광 데이터랩 지역별 관광 현황 · 제주특별자치도 제주시 · 지역집중률 | https://datalab.visitkorea.or.kr/</a:t>
            </a:r>
          </a:p>
          <a:p xmlns:a="http://schemas.openxmlformats.org/drawingml/2006/main">
            <a:r>
              <a:t>ml:50110:regional-demand-v3.1:202606 | 지역 관광수요 ML 전망 · 공식 관측값 아님 | URL 미기록</a:t>
            </a:r>
          </a:p>
          <a:p xmlns:a="http://schemas.openxmlformats.org/drawingml/2006/main">
            <a:r>
              <a:t>tour-api:2850913 | 가는곶 세화 | https://apis.data.go.kr/B551011/KorService2</a:t>
            </a:r>
          </a:p>
          <a:p xmlns:a="http://schemas.openxmlformats.org/drawingml/2006/main">
            <a:r>
              <a:t>tour-api:1884191 | 가마오름 | https://apis.data.go.kr/B551011/KorService2</a:t>
            </a:r>
          </a:p>
          <a:p xmlns:a="http://schemas.openxmlformats.org/drawingml/2006/main">
            <a:r>
              <a:t>tour-api:1884521 | 가새기오름 | https://apis.data.go.kr/B551011/KorService2</a:t>
            </a:r>
          </a:p>
          <a:p xmlns:a="http://schemas.openxmlformats.org/drawingml/2006/main">
            <a:r>
              <a:t>tour-api:2837181 | 가시어멍김밥 | https://apis.data.go.kr/B551011/KorService2</a:t>
            </a:r>
          </a:p>
          <a:p xmlns:a="http://schemas.openxmlformats.org/drawingml/2006/main">
            <a:r>
              <a:t>tour-api:2853435 | 갈치공장 | https://apis.data.go.kr/B551011/KorService2</a:t>
            </a:r>
          </a:p>
          <a:p xmlns:a="http://schemas.openxmlformats.org/drawingml/2006/main">
            <a:r>
              <a:t>tour-api:1889809 | 개오리오름 | https://apis.data.go.kr/B551011/KorService2</a:t>
            </a:r>
          </a:p>
          <a:p xmlns:a="http://schemas.openxmlformats.org/drawingml/2006/main">
            <a:r>
              <a:t>tour-api:1918646 | 거슨새미오름 | https://apis.data.go.kr/B551011/KorService2</a:t>
            </a:r>
          </a:p>
          <a:p xmlns:a="http://schemas.openxmlformats.org/drawingml/2006/main">
            <a:r>
              <a:t>tour-api:2870515 | 경성수산 | https://apis.data.go.kr/B551011/KorService2</a:t>
            </a:r>
          </a:p>
          <a:p xmlns:a="http://schemas.openxmlformats.org/drawingml/2006/main">
            <a:r>
              <a:t>tour-api:2791433 | 고내포구 | https://apis.data.go.kr/B551011/KorService2</a:t>
            </a:r>
          </a:p>
          <a:p xmlns:a="http://schemas.openxmlformats.org/drawingml/2006/main">
            <a:r>
              <a:t>tour-api:2863927 | 고사리커피 | https://apis.data.go.kr/B551011/KorService2</a:t>
            </a:r>
          </a:p>
          <a:p xmlns:a="http://schemas.openxmlformats.org/drawingml/2006/main">
            <a:r>
              <a:t>tour-api:2759120 | 고스트타운 | https://apis.data.go.kr/B551011/KorService2</a:t>
            </a:r>
          </a:p>
          <a:p xmlns:a="http://schemas.openxmlformats.org/drawingml/2006/main">
            <a:r>
              <a:t>tour-api:2759061 | 고이정 | https://apis.data.go.kr/B551011/KorService2</a:t>
            </a:r>
          </a:p>
          <a:p xmlns:a="http://schemas.openxmlformats.org/drawingml/2006/main">
            <a:r>
              <a:t>tour-api:2863913 | 고토커피바 | https://apis.data.go.kr/B551011/KorService2</a:t>
            </a:r>
          </a:p>
          <a:p xmlns:a="http://schemas.openxmlformats.org/drawingml/2006/main">
            <a:r>
              <a:t>tour-api:2857289 | 골목식당 | https://apis.data.go.kr/B551011/KorService2</a:t>
            </a:r>
          </a:p>
          <a:p xmlns:a="http://schemas.openxmlformats.org/drawingml/2006/main">
            <a:r>
              <a:t>tour-api:2852311 | 골목카페옥수 | https://apis.data.go.kr/B551011/KorService2</a:t>
            </a:r>
          </a:p>
          <a:p xmlns:a="http://schemas.openxmlformats.org/drawingml/2006/main">
            <a:r>
              <a:t>tour-api:2739395 | 골체오름캠핑 | https://apis.data.go.kr/B551011/KorService2</a:t>
            </a:r>
          </a:p>
          <a:p xmlns:a="http://schemas.openxmlformats.org/drawingml/2006/main">
            <a:r>
              <a:t>tour-api:2759096 | 곰막식당/곰막 | https://apis.data.go.kr/B551011/KorService2</a:t>
            </a:r>
          </a:p>
          <a:p xmlns:a="http://schemas.openxmlformats.org/drawingml/2006/main">
            <a:r>
              <a:t>tour-api:127870 | 곽지해수욕장 | https://apis.data.go.kr/B551011/KorService2</a:t>
            </a:r>
          </a:p>
          <a:p xmlns:a="http://schemas.openxmlformats.org/drawingml/2006/main">
            <a:r>
              <a:t>tour-api:1918950 | 괴오름 | https://apis.data.go.kr/B551011/KorService2</a:t>
            </a:r>
          </a:p>
          <a:p xmlns:a="http://schemas.openxmlformats.org/drawingml/2006/main">
            <a:r>
              <a:t>tour-api:128443 | 교래 삼다수마을 | https://apis.data.go.kr/B551011/KorService2</a:t>
            </a:r>
          </a:p>
          <a:p xmlns:a="http://schemas.openxmlformats.org/drawingml/2006/main">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xmlns:a="http://schemas.openxmlformats.org/drawingml/2006/main">
            <a:r>
              <a:t>case:4bac3530eca721 | 2024년 문화재야행 사업 예산 확정자료 | https://culture.seoul.go.kr/culture/cmmn/file/fileDown.do?atchFileId=c4638ecc9ce84bba9e51ecc2e11293e2&amp;bbsId=&amp;fileSn=2&amp;menuNo=200050</a:t>
            </a:r>
          </a:p>
          <a:p xmlns:a="http://schemas.openxmlformats.org/drawingml/2006/main">
            <a:r>
              <a:t>case:gangjin_half_price_2024 | 강진 반값여행 지역경제 효과 소개 | https://jnfarm.jeonnam.go.kr/board/FARM_BOARD_008/boardView.do?bdId=BD_00000000000011721&amp;menuCd=farm004002</a:t>
            </a:r>
          </a:p>
          <a:p xmlns:a="http://schemas.openxmlformats.org/drawingml/2006/main">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case:kto_stay_discount_2022 | 2022 대한민국 숙박대전 경제파급효과 공개자료 | https://kto.visitkorea.or.kr/upload/flexer/upload/ktobiz/20220928/b623b5f9-3ec0-11ed-9832-ddf31964842e.hwp.files/Sections1.html</a:t>
            </a:r>
          </a:p>
          <a:p xmlns:a="http://schemas.openxmlformats.org/drawingml/2006/main">
            <a:r>
              <a:t>case:night_festival_2025 | 2025 대한민국 밤밤페스타 개최 도시 및 일정 | https://korean.visitkorea.or.kr/detail/rem_detail.do?cotid=f9c636b2-dd7c-4f09-af3d-6af43b33d371</a:t>
            </a:r>
          </a:p>
          <a:p xmlns:a="http://schemas.openxmlformats.org/drawingml/2006/main">
            <a:r>
              <a:t>case:night_tourism_cities_2024 | 2024년도 정부업무평가 관광분야 성과자료 | https://www.evaluation.go.kr/upload2/atch/eval/20250429095846463.pdf</a:t>
            </a:r>
          </a:p>
          <a:p xmlns:a="http://schemas.openxmlformats.org/drawingml/2006/main">
            <a:r>
              <a:t>[/Sources]</a:t>
            </a:r>
          </a:p>
          <a:p xmlns:a="http://schemas.openxmlformats.org/drawingml/2006/main">
            <a:r>
              <a:t>[Calculation audit]</a:t>
            </a:r>
          </a:p>
          <a:p xmlns:a="http://schemas.openxmlformats.org/drawingml/2006/main">
            <a:r>
              <a:t>{</a:t>
            </a:r>
          </a:p>
          <a:p xmlns:a="http://schemas.openxmlformats.org/drawingml/2006/main">
            <a:r>
              <a:t>  "source_inventory": [</a:t>
            </a:r>
          </a:p>
          <a:p xmlns:a="http://schemas.openxmlformats.org/drawingml/2006/main">
            <a:r>
              <a:t>    {</a:t>
            </a:r>
          </a:p>
          <a:p xmlns:a="http://schemas.openxmlformats.org/drawingml/2006/main">
            <a:r>
              <a:t>      "source_id": "dataset:50110:1",</a:t>
            </a:r>
          </a:p>
          <a:p xmlns:a="http://schemas.openxmlformats.org/drawingml/2006/main">
            <a:r>
              <a:t>      "source_type": "dataset",</a:t>
            </a:r>
          </a:p>
          <a:p xmlns:a="http://schemas.openxmlformats.org/drawingml/2006/main">
            <a:r>
              <a:t>      "title": "한국관광 데이터랩 · 제주특별자치도 제주시 순 방문자 수 및 숙박 비율 (이동통신 기반 외지인)",</a:t>
            </a:r>
          </a:p>
          <a:p xmlns:a="http://schemas.openxmlformats.org/drawingml/2006/main">
            <a:r>
              <a:t>      "source_url": "https://datalab.visitkorea.or.kr/",</a:t>
            </a:r>
          </a:p>
          <a:p xmlns:a="http://schemas.openxmlformats.org/drawingml/2006/main">
            <a:r>
              <a:t>      "summary": "월간 순 방문자 수: 3,131,476명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"dataset:50110:2",</a:t>
            </a:r>
          </a:p>
          <a:p xmlns:a="http://schemas.openxmlformats.org/drawingml/2006/main">
            <a:r>
              <a:t>      "source_type": "dataset",</a:t>
            </a:r>
          </a:p>
          <a:p xmlns:a="http://schemas.openxmlformats.org/drawingml/2006/main">
            <a:r>
              <a:t>      "title": "한국관광 데이터랩 · 제주특별자치도 제주시 월간 순 방문자 수 (이동통신 기반 외지인)",</a:t>
            </a:r>
          </a:p>
          <a:p xmlns:a="http://schemas.openxmlformats.org/drawingml/2006/main">
            <a:r>
              <a:t>      "source_url": "https://datalab.visitkorea.or.kr/",</a:t>
            </a:r>
          </a:p>
          <a:p xmlns:a="http://schemas.openxmlformats.org/drawingml/2006/main">
            <a:r>
              <a:t>      "summary": "전년동월 외지인 방문자 증감률: -8.9%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"dataset:50110:3",</a:t>
            </a:r>
          </a:p>
          <a:p xmlns:a="http://schemas.openxmlformats.org/drawingml/2006/main">
            <a:r>
              <a:t>      "source_type": "dataset",</a:t>
            </a:r>
          </a:p>
          <a:p xmlns:a="http://schemas.openxmlformats.org/drawingml/2006/main">
            <a:r>
              <a:t>      "title": "한국관광 데이터랩 · 제주특별자치도 제주시 관광소비 추이_외지인",</a:t>
            </a:r>
          </a:p>
          <a:p xmlns:a="http://schemas.openxmlformats.org/drawingml/2006/main">
            <a:r>
              <a:t>      "source_url": "https://datalab.visitkorea.or.kr/",</a:t>
            </a:r>
          </a:p>
          <a:p xmlns:a="http://schemas.openxmlformats.org/drawingml/2006/main">
            <a:r>
              <a:t>      "summary": "월간 외지인 관광소비 총액: 129,503,828,000원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"dataset:50110:4",</a:t>
            </a:r>
          </a:p>
          <a:p xmlns:a="http://schemas.openxmlformats.org/drawingml/2006/main">
            <a:r>
              <a:t>      "source_type": "dataset",</a:t>
            </a:r>
          </a:p>
          <a:p xmlns:a="http://schemas.openxmlformats.org/drawingml/2006/main">
            <a:r>
              <a:t>      "title": "한국관광 데이터랩 · 제주특별자치도 제주시 숙박방문자 비율 추이 (이동통신 기반 외지인)",</a:t>
            </a:r>
          </a:p>
          <a:p xmlns:a="http://schemas.openxmlformats.org/drawingml/2006/main">
            <a:r>
              <a:t>      "source_url": "https://datalab.visitkorea.or.kr/",</a:t>
            </a:r>
          </a:p>
          <a:p xmlns:a="http://schemas.openxmlformats.org/drawingml/2006/main">
            <a:r>
              <a:t>      "summary": "외지인 숙박 방문 비율: 21.0%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"dataset:50110:5",</a:t>
            </a:r>
          </a:p>
          <a:p xmlns:a="http://schemas.openxmlformats.org/drawingml/2006/main">
            <a:r>
              <a:t>      "source_type": "dataset",</a:t>
            </a:r>
          </a:p>
          <a:p xmlns:a="http://schemas.openxmlformats.org/drawingml/2006/main">
            <a:r>
              <a:t>      "title": "한국관광 데이터랩 · 제주특별자치도 제주시 평균 숙박일 (이동통신 기반 외지인)",</a:t>
            </a:r>
          </a:p>
          <a:p xmlns:a="http://schemas.openxmlformats.org/drawingml/2006/main">
            <a:r>
              <a:t>      "source_url": "https://datalab.visitkorea.or.kr/",</a:t>
            </a:r>
          </a:p>
          <a:p xmlns:a="http://schemas.openxmlformats.org/drawingml/2006/main">
            <a:r>
              <a:t>      "summary": "외지인 평균 숙박일수: 3.13일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"dataset:50110:6",</a:t>
            </a:r>
          </a:p>
          <a:p xmlns:a="http://schemas.openxmlformats.org/drawingml/2006/main">
            <a:r>
              <a:t>      "source_type": "dataset",</a:t>
            </a:r>
          </a:p>
          <a:p xmlns:a="http://schemas.openxmlformats.org/drawingml/2006/main">
            <a:r>
              <a:t>      "title": "한국관광 데이터랩 · 제주특별자치도 제주시 내비게이션 목적지 유형별 검색량",</a:t>
            </a:r>
          </a:p>
          <a:p xmlns:a="http://schemas.openxmlformats.org/drawingml/2006/main">
            <a:r>
              <a:t>      "source_url": "https://datalab.visitkorea.or.kr/",</a:t>
            </a:r>
          </a:p>
          <a:p xmlns:a="http://schemas.openxmlformats.org/drawingml/2006/main">
            <a:r>
              <a:t>      "summary": "내비게이션 목적지 검색량: 580,380건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"dataset:50110:7",</a:t>
            </a:r>
          </a:p>
          <a:p xmlns:a="http://schemas.openxmlformats.org/drawingml/2006/main">
            <a:r>
              <a:t>      "source_type": "dataset",</a:t>
            </a:r>
          </a:p>
          <a:p xmlns:a="http://schemas.openxmlformats.org/drawingml/2006/main">
            <a:r>
              <a:t>      "title": "한국관광 데이터랩 · 제주특별자치도 제주시 SNS 언급량",</a:t>
            </a:r>
          </a:p>
          <a:p xmlns:a="http://schemas.openxmlformats.org/drawingml/2006/main">
            <a:r>
              <a:t>      "source_url": "https://datalab.visitkorea.or.kr/",</a:t>
            </a:r>
          </a:p>
          <a:p xmlns:a="http://schemas.openxmlformats.org/drawingml/2006/main">
            <a:r>
              <a:t>      "summary": "SNS 언급량: 138,652건 (관측 기준월: 2026-06)",</a:t>
            </a:r>
          </a:p>
          <a:p xmlns:a="http://schemas.openxmlformats.org/drawingml/2006/main">
            <a:r>
              <a:t>      "observation_period": "2026-06",</a:t>
            </a:r>
          </a:p>
          <a:p xmlns:a="http://schemas.openxmlformats.org/drawingml/2006/main">
            <a:r>
              <a:t>      "published_or_updated_at": "2026-06"</a:t>
            </a:r>
          </a:p>
          <a:p xmlns:a="http://schemas.openxmlformats.org/drawingml/2006/main">
            <a:r>
              <a:t>    },</a:t>
            </a:r>
          </a:p>
          <a:p xmlns:a="http://schemas.openxmlformats.org/drawingml/2006/main">
            <a:r>
              <a:t>    {</a:t>
            </a:r>
          </a:p>
          <a:p xmlns:a="http://schemas.openxmlformats.org/drawingml/2006/main">
            <a:r>
              <a:t>      "source_id": "datalab:3ec866bde028:27b141591f10",</a:t>
            </a:r>
          </a:p>
          <a:p xmlns:a="http://schemas.openxmlformats.org/drawingml/2006/main">
            <a:r>
              <a:t>      "source_type": "nationwide_dataset",</a:t>
            </a:r>
          </a:p>
          <a:p xmlns:a="http://schemas.openxmlformats.org/drawingml/2006/main">
            <a:r>
              <a:t>      "title": "한국관광 데이터랩 공식 다운로드 · 제주특별자치도_제주시/방문자/2026_01_06.zip",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"datalab:4833a91757b2:5c2efa032440",</a:t>
            </a:r>
          </a:p>
          <a:p xmlns:a="http://schemas.openxmlformats.org/drawingml/2006/main">
            <a:r>
              <a:t>      "source_type": "nationwide_dataset",</a:t>
            </a:r>
          </a:p>
          <a:p xmlns:a="http://schemas.openxmlformats.org/drawingml/2006/main">
            <a:r>
              <a:t>      "title": "한국관광 데이터랩 공식 다운로드 · 제주특별자치도_제주시/숙박_체류시간/2026_01_06.zip",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"datalab:5d9f73f9fe47:2904d99e7279",</a:t>
            </a:r>
          </a:p>
          <a:p xmlns:a="http://schemas.openxmlformats.org/drawingml/2006/main">
            <a:r>
              <a:t>      "source_type": "nationwide_dataset",</a:t>
            </a:r>
          </a:p>
          <a:p xmlns:a="http://schemas.openxmlformats.org/drawingml/2006/main">
            <a:r>
              <a:t>      "title": "한국관광 데이터랩 공식 다운로드 · 제주특별자치도_제주시/숙박_체류시간/2025_01_12.zip",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"datalab:95122c38b4fc:522e2d839300",</a:t>
            </a:r>
          </a:p>
          <a:p xmlns:a="http://schemas.openxmlformats.org/drawingml/2006/main">
            <a:r>
              <a:t>      "source_type": "nationwide_dataset",</a:t>
            </a:r>
          </a:p>
          <a:p xmlns:a="http://schemas.openxmlformats.org/drawingml/2006/main">
            <a:r>
              <a:t>      "title": "한국관광 데이터랩 공식 다운로드 · 제주특별자치도_제주시/관광소비/2026_01_06.zip",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"datalab:d73227708014:f4517115deb9",</a:t>
            </a:r>
          </a:p>
          <a:p xmlns:a="http://schemas.openxmlformats.org/drawingml/2006/main">
            <a:r>
              <a:t>      "source_type": "nationwide_dataset",</a:t>
            </a:r>
          </a:p>
          <a:p xmlns:a="http://schemas.openxmlformats.org/drawingml/2006/main">
            <a:r>
              <a:t>      "title": "한국관광 데이터랩 공식 다운로드 · 제주특별자치도_제주시/방문자/2025_01_12.zip",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"datalab:f07ad8a73d99:ed1b998de1b3",</a:t>
            </a:r>
          </a:p>
          <a:p xmlns:a="http://schemas.openxmlformats.org/drawingml/2006/main">
            <a:r>
              <a:t>      "source_type": "nationwide_dataset",</a:t>
            </a:r>
          </a:p>
          <a:p xmlns:a="http://schemas.openxmlformats.org/drawingml/2006/main">
            <a:r>
              <a:t>      "title": "한국관광 데이터랩 공식 다운로드 · 제주특별자치도_제주시/관광소비/2025_01_12.zip",</a:t>
            </a:r>
          </a:p>
          <a:p xmlns:a="http://schemas.openxmlformats.org/drawingml/2006/main">
            <a:r>
              <a:t>      "source_url": "https://datalab.visitkorea.or.kr/",</a:t>
            </a:r>
          </a:p>
          <a:p xmlns:a="http://schemas.openxmlformats.org/drawingml/2006/main">
            <a:r>
              <a:t>      "summary": "전국 비교 기준 기간: 2025-07 ~ 2026-06",</a:t>
            </a:r>
          </a:p>
          <a:p xmlns:a="http://schemas.openxmlformats.org/drawingml/2006/main">
            <a:r>
              <a:t>      "observation_period": "2025-07 ~ 2026-06",</a:t>
            </a:r>
          </a:p>
          <a:p xmlns:a="http://schemas.openxmlformats.org/drawingml/2006/main">
            <a:r>
              <a:t>      "published_or_updated_at": "2024-07 ~ 2025-06"</a:t>
            </a:r>
          </a:p>
          <a:p xmlns:a="http://schemas.openxmlformats.org/drawingml/2006/main">
            <a:r>
              <a:t>    },</a:t>
            </a:r>
          </a:p>
          <a:p xmlns:a="http://schemas.openxmlformats.org/drawingml/2006/main">
            <a:r>
              <a:t>    {</a:t>
            </a:r>
          </a:p>
          <a:p xmlns:a="http://schemas.openxmlformats.org/drawingml/2006/main">
            <a:r>
              <a:t>      "source_id": "team-bigdata:23ea68053684:6bfbcf8aabf6",</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"team-bigdata:98d4ae590d9a:3be52dd54323",</a:t>
            </a:r>
          </a:p>
          <a:p xmlns:a="http://schemas.openxmlformats.org/drawingml/2006/main">
            <a:r>
              <a:t>      "source_type": "nationwide_bigdata_dataset",</a:t>
            </a:r>
          </a:p>
          <a:p xmlns:a="http://schemas.openxmlformats.org/drawingml/2006/main">
            <a:r>
              <a:t>      "title": "한국관광 데이터랩 전국 빅데이터 다운로드 · 이동통신/외국인/20260820141710_전국_202601-202606_데이터랩_다운로드.zip",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"team-bigdata:367cd0294ec4:873930d645e5",</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관광지출액/20260820140046__202601-202606_데이터랩_다운로드.zip",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"team-bigdata:553a0dad4bb4:5a31355dffe8",</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관광지출액/20260820140355__202601-202606_데이터랩_다운로드.zip",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"team-bigdata:a53dbe1c21df:77a052de41d5",</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검색건수/20260820195507__202601-202606_데이터랩_다운로드.zip",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"team-bigdata:823a38d1d61c:5385261d02e5",</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방문자수/20260820140614__202501-202512_데이터랩_다운로드.zip",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"team-bigdata:2723bdb0d589:1666a34058ed",</a:t>
            </a:r>
          </a:p>
          <a:p xmlns:a="http://schemas.openxmlformats.org/drawingml/2006/main">
            <a:r>
              <a:t>      "source_type": "nationwide_bigdata_dataset",</a:t>
            </a:r>
          </a:p>
          <a:p xmlns:a="http://schemas.openxmlformats.org/drawingml/2006/main">
            <a:r>
              <a:t>      "title": "한국관광 데이터랩 전국 빅데이터 다운로드 · 이동통신/외국인/20260820141649_전국_202501-202512_데이터랩_다운로드.zip",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"team-bigdata:83177a234971:c02cb7972e0f",</a:t>
            </a:r>
          </a:p>
          <a:p xmlns:a="http://schemas.openxmlformats.org/drawingml/2006/main">
            <a:r>
              <a:t>      "source_type": "nationwide_bigdata_dataset",</a:t>
            </a:r>
          </a:p>
          <a:p xmlns:a="http://schemas.openxmlformats.org/drawingml/2006/main">
            <a:r>
              <a:t>      "title": "한국관광 데이터랩 전국 빅데이터 다운로드 · 신용카드/내국인/지역별 관광지출액/20260820135957__202501-202512_데이터랩_다운로드.zip",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"team-bigdata:58ded7732251:589c76395cbc",</a:t>
            </a:r>
          </a:p>
          <a:p xmlns:a="http://schemas.openxmlformats.org/drawingml/2006/main">
            <a:r>
              <a:t>      "source_type": "nationwide_bigdata_dataset",</a:t>
            </a:r>
          </a:p>
          <a:p xmlns:a="http://schemas.openxmlformats.org/drawingml/2006/main">
            <a:r>
              <a:t>      "title": "한국관광 데이터랩 전국 빅데이터 다운로드 · 신용카드/외국인/지역별 관광지출액/20260820140409__202501-202512_데이터랩_다운로드.zip",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"team-bigdata:e28c947cb52f:bb4cb344a6ba",</a:t>
            </a:r>
          </a:p>
          <a:p xmlns:a="http://schemas.openxmlformats.org/drawingml/2006/main">
            <a:r>
              <a:t>      "source_type": "nationwide_bigdata_dataset",</a:t>
            </a:r>
          </a:p>
          <a:p xmlns:a="http://schemas.openxmlformats.org/drawingml/2006/main">
            <a:r>
              <a:t>      "title": "한국관광 데이터랩 전국 빅데이터 다운로드 · 네비게이션/지역별 검색건수/20260820132007__202501-202512_데이터랩_다운로드.zip",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"team-bigdata:8815bbb11a39:1a5988f5f8ec",</a:t>
            </a:r>
          </a:p>
          <a:p xmlns:a="http://schemas.openxmlformats.org/drawingml/2006/main">
            <a:r>
              <a:t>      "source_type": "nationwide_bigdata_dataset",</a:t>
            </a:r>
          </a:p>
          <a:p xmlns:a="http://schemas.openxmlformats.org/drawingml/2006/main">
            <a:r>
              <a:t>      "title": "한국관광 데이터랩 전국 빅데이터 다운로드 · 이동통신/내국인/지역별 방문자수/20260820140624__202401-202412_데이터랩_다운로드.zip",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"team-bigdata:19fd67fbb73d:afa4f0f54a2f",</a:t>
            </a:r>
          </a:p>
          <a:p xmlns:a="http://schemas.openxmlformats.org/drawingml/2006/main">
            <a:r>
              <a:t>      "source_type": "nationwide_bigdata_dataset",</a:t>
            </a:r>
          </a:p>
          <a:p xmlns:a="http://schemas.openxmlformats.org/drawingml/2006/main">
            <a:r>
              <a:t>      "title": "한국관광 데이터랩 전국 빅데이터 다운로드 · 이동통신/외국인/20260820141639_전국_202401-202412_데이터랩_다운로드.zip",</a:t>
            </a:r>
          </a:p>
          <a:p xmlns:a="http://schemas.openxmlformats.org/drawingml/2006/main">
            <a:r>
              <a:t>      "source_url": "https://datalab.visitkorea.or.kr/",</a:t>
            </a:r>
          </a:p>
          <a:p xmlns:a="http://schemas.openxmlformats.org/drawingml/2006/main">
            <a:r>
              <a:t>      "summary": "시군구 기간합계·비중 또는 전국 월별 추이. 지역 월별 ML·정책 효과가 아닌 보조 근거.",</a:t>
            </a:r>
          </a:p>
          <a:p xmlns:a="http://schemas.openxmlformats.org/drawingml/2006/main">
            <a:r>
              <a:t>      "observation_period": "2026-01 ~ 2026-06",</a:t>
            </a:r>
          </a:p>
          <a:p xmlns:a="http://schemas.openxmlformats.org/drawingml/2006/main">
            <a:r>
              <a:t>      "published_or_updated_at": "",</a:t>
            </a:r>
          </a:p>
          <a:p xmlns:a="http://schemas.openxmlformats.org/drawingml/2006/main">
            <a:r>
              <a:t>      "source_review_status": "needs_exact_download_url"</a:t>
            </a:r>
          </a:p>
          <a:p xmlns:a="http://schemas.openxmlformats.org/drawingml/2006/main">
            <a:r>
              <a:t>    },</a:t>
            </a:r>
          </a:p>
          <a:p xmlns:a="http://schemas.openxmlformats.org/drawingml/2006/main">
            <a:r>
              <a:t>    {</a:t>
            </a:r>
          </a:p>
          <a:p xmlns:a="http://schemas.openxmlformats.org/drawingml/2006/main">
            <a:r>
              <a:t>      "source_id": "regional-status:9ac27e83f27b:e998409010f6",</a:t>
            </a:r>
          </a:p>
          <a:p xmlns:a="http://schemas.openxmlformats.org/drawingml/2006/main">
            <a:r>
              <a:t>      "source_type": "regional_tourism_status",</a:t>
            </a:r>
          </a:p>
          <a:p xmlns:a="http://schemas.openxmlformats.org/drawingml/2006/main">
            <a:r>
              <a:t>      "title": "한국관광 데이터랩 지역별 관광 현황 · 제주특별자치도 제주시 · 유입유출",</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"regional-status:daecd5ff8069:00c8b971be40",</a:t>
            </a:r>
          </a:p>
          <a:p xmlns:a="http://schemas.openxmlformats.org/drawingml/2006/main">
            <a:r>
              <a:t>      "source_type": "regional_tourism_status",</a:t>
            </a:r>
          </a:p>
          <a:p xmlns:a="http://schemas.openxmlformats.org/drawingml/2006/main">
            <a:r>
              <a:t>      "title": "한국관광 데이터랩 지역별 관광 현황 · 제주특별자치도 제주시 · 인기관광지",</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"regional-status:dd0eaa9c763f:3aadcdcac2c5",</a:t>
            </a:r>
          </a:p>
          <a:p xmlns:a="http://schemas.openxmlformats.org/drawingml/2006/main">
            <a:r>
              <a:t>      "source_type": "regional_tourism_status",</a:t>
            </a:r>
          </a:p>
          <a:p xmlns:a="http://schemas.openxmlformats.org/drawingml/2006/main">
            <a:r>
              <a:t>      "title": "한국관광 데이터랩 지역별 관광 현황 · 제주특별자치도 제주시 · 지역집중률",</a:t>
            </a:r>
          </a:p>
          <a:p xmlns:a="http://schemas.openxmlformats.org/drawingml/2006/main">
            <a:r>
              <a:t>      "source_url": "https://datalab.visitkorea.or.kr/",</a:t>
            </a:r>
          </a:p>
          <a:p xmlns:a="http://schemas.openxmlformats.org/drawingml/2006/main">
            <a:r>
              <a:t>      "summary": "관측 기간: 2025-07 ~ 2026-06. 유입·유출·인기장소 또는 30일 집중 운영 신호.",</a:t>
            </a:r>
          </a:p>
          <a:p xmlns:a="http://schemas.openxmlformats.org/drawingml/2006/main">
            <a:r>
              <a:t>      "observation_period": "2025-07 ~ 2026-06",</a:t>
            </a:r>
          </a:p>
          <a:p xmlns:a="http://schemas.openxmlformats.org/drawingml/2006/main">
            <a:r>
              <a:t>      "published_or_updated_at": ""</a:t>
            </a:r>
          </a:p>
          <a:p xmlns:a="http://schemas.openxmlformats.org/drawingml/2006/main">
            <a:r>
              <a:t>    },</a:t>
            </a:r>
          </a:p>
          <a:p xmlns:a="http://schemas.openxmlformats.org/drawingml/2006/main">
            <a:r>
              <a:t>    {</a:t>
            </a:r>
          </a:p>
          <a:p xmlns:a="http://schemas.openxmlformats.org/drawingml/2006/main">
            <a:r>
              <a:t>      "source_id": "ml:50110:regional-demand-v3.1:202606",</a:t>
            </a:r>
          </a:p>
          <a:p xmlns:a="http://schemas.openxmlformats.org/drawingml/2006/main">
            <a:r>
              <a:t>      "source_type": "model_forecast",</a:t>
            </a:r>
          </a:p>
          <a:p xmlns:a="http://schemas.openxmlformats.org/drawingml/2006/main">
            <a:r>
              <a:t>      "title": "지역 관광수요 ML 전망 · 공식 관측값 아님",</a:t>
            </a:r>
          </a:p>
          <a:p xmlns:a="http://schemas.openxmlformats.org/drawingml/2006/main">
            <a:r>
              <a:t>      "source_url": "",</a:t>
            </a:r>
          </a:p>
          <a:p xmlns:a="http://schemas.openxmlformats.org/drawingml/2006/main">
            <a:r>
              <a:t>      "summary": "학습 202401~202606 · 모델 regional-demand-v3.1 · 자연 추세 예측",</a:t>
            </a:r>
          </a:p>
          <a:p xmlns:a="http://schemas.openxmlformats.org/drawingml/2006/main">
            <a:r>
              <a:t>      "model_version": "regional-demand-v3.1",</a:t>
            </a:r>
          </a:p>
          <a:p xmlns:a="http://schemas.openxmlformats.org/drawingml/2006/main">
            <a:r>
              <a:t>      "data_fingerprint": "8dcb136b0c95a2203f9b656937018f103a98363535f21f24b40b6f2ab16842e6"</a:t>
            </a:r>
          </a:p>
          <a:p xmlns:a="http://schemas.openxmlformats.org/drawingml/2006/main">
            <a:r>
              <a:t>    },</a:t>
            </a:r>
          </a:p>
          <a:p xmlns:a="http://schemas.openxmlformats.org/drawingml/2006/main">
            <a:r>
              <a:t>    {</a:t>
            </a:r>
          </a:p>
          <a:p xmlns:a="http://schemas.openxmlformats.org/drawingml/2006/main">
            <a:r>
              <a:t>      "source_id": "tour-api:2850913",</a:t>
            </a:r>
          </a:p>
          <a:p xmlns:a="http://schemas.openxmlformats.org/drawingml/2006/main">
            <a:r>
              <a:t>      "source_type": "open_api",</a:t>
            </a:r>
          </a:p>
          <a:p xmlns:a="http://schemas.openxmlformats.org/drawingml/2006/main">
            <a:r>
              <a:t>      "title": "가는곶 세화",</a:t>
            </a:r>
          </a:p>
          <a:p xmlns:a="http://schemas.openxmlformats.org/drawingml/2006/main">
            <a:r>
              <a:t>      "source_url": "https://apis.data.go.kr/B551011/KorService2",</a:t>
            </a:r>
          </a:p>
          <a:p xmlns:a="http://schemas.openxmlformats.org/drawingml/2006/main">
            <a:r>
              <a:t>      "content_id": "2850913",</a:t>
            </a:r>
          </a:p>
          <a:p xmlns:a="http://schemas.openxmlformats.org/drawingml/2006/main">
            <a:r>
              <a:t>      "content_type_id": "39",</a:t>
            </a:r>
          </a:p>
          <a:p xmlns:a="http://schemas.openxmlformats.org/drawingml/2006/main">
            <a:r>
              <a:t>      "address": "제주특별자치도 제주시 구좌읍 세화14길 3",</a:t>
            </a:r>
          </a:p>
          <a:p xmlns:a="http://schemas.openxmlformats.org/drawingml/2006/main">
            <a:r>
              <a:t>      "image_url": "http://tong.visitkorea.or.kr/cms/resource/05/2850905_image2_1.jpg",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"tour-api:1884521",</a:t>
            </a:r>
          </a:p>
          <a:p xmlns:a="http://schemas.openxmlformats.org/drawingml/2006/main">
            <a:r>
              <a:t>      "source_type": "open_api",</a:t>
            </a:r>
          </a:p>
          <a:p xmlns:a="http://schemas.openxmlformats.org/drawingml/2006/main">
            <a:r>
              <a:t>      "title": "가새기오름",</a:t>
            </a:r>
          </a:p>
          <a:p xmlns:a="http://schemas.openxmlformats.org/drawingml/2006/main">
            <a:r>
              <a:t>      "source_url": "https://apis.data.go.kr/B551011/KorService2",</a:t>
            </a:r>
          </a:p>
          <a:p xmlns:a="http://schemas.openxmlformats.org/drawingml/2006/main">
            <a:r>
              <a:t>      "content_id": "1884521",</a:t>
            </a:r>
          </a:p>
          <a:p xmlns:a="http://schemas.openxmlformats.org/drawingml/2006/main">
            <a:r>
              <a:t>      "content_type_id": "12",</a:t>
            </a:r>
          </a:p>
          <a:p xmlns:a="http://schemas.openxmlformats.org/drawingml/2006/main">
            <a:r>
              <a:t>      "address": "제주특별자치도 제주시 오라삼동",</a:t>
            </a:r>
          </a:p>
          <a:p xmlns:a="http://schemas.openxmlformats.org/drawingml/2006/main">
            <a:r>
              <a:t>      "image_url": "http://tong.visitkorea.or.kr/cms/resource/82/3477882_image2_1.jpg",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"tour-api:2837181",</a:t>
            </a:r>
          </a:p>
          <a:p xmlns:a="http://schemas.openxmlformats.org/drawingml/2006/main">
            <a:r>
              <a:t>      "source_type": "open_api",</a:t>
            </a:r>
          </a:p>
          <a:p xmlns:a="http://schemas.openxmlformats.org/drawingml/2006/main">
            <a:r>
              <a:t>      "title": "가시어멍김밥",</a:t>
            </a:r>
          </a:p>
          <a:p xmlns:a="http://schemas.openxmlformats.org/drawingml/2006/main">
            <a:r>
              <a:t>      "source_url": "https://apis.data.go.kr/B551011/KorService2",</a:t>
            </a:r>
          </a:p>
          <a:p xmlns:a="http://schemas.openxmlformats.org/drawingml/2006/main">
            <a:r>
              <a:t>      "content_id": "2837181",</a:t>
            </a:r>
          </a:p>
          <a:p xmlns:a="http://schemas.openxmlformats.org/drawingml/2006/main">
            <a:r>
              <a:t>      "content_type_id": "39",</a:t>
            </a:r>
          </a:p>
          <a:p xmlns:a="http://schemas.openxmlformats.org/drawingml/2006/main">
            <a:r>
              <a:t>      "address": "제주특별자치도 제주시 월랑로 36",</a:t>
            </a:r>
          </a:p>
          <a:p xmlns:a="http://schemas.openxmlformats.org/drawingml/2006/main">
            <a:r>
              <a:t>      "image_url": "http://tong.visitkorea.or.kr/cms/resource/75/2837175_image2_1.jpg",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"tour-api:2853435",</a:t>
            </a:r>
          </a:p>
          <a:p xmlns:a="http://schemas.openxmlformats.org/drawingml/2006/main">
            <a:r>
              <a:t>      "source_type": "open_api",</a:t>
            </a:r>
          </a:p>
          <a:p xmlns:a="http://schemas.openxmlformats.org/drawingml/2006/main">
            <a:r>
              <a:t>      "title": "갈치공장",</a:t>
            </a:r>
          </a:p>
          <a:p xmlns:a="http://schemas.openxmlformats.org/drawingml/2006/main">
            <a:r>
              <a:t>      "source_url": "https://apis.data.go.kr/B551011/KorService2",</a:t>
            </a:r>
          </a:p>
          <a:p xmlns:a="http://schemas.openxmlformats.org/drawingml/2006/main">
            <a:r>
              <a:t>      "content_id": "2853435",</a:t>
            </a:r>
          </a:p>
          <a:p xmlns:a="http://schemas.openxmlformats.org/drawingml/2006/main">
            <a:r>
              <a:t>      "content_type_id": "39",</a:t>
            </a:r>
          </a:p>
          <a:p xmlns:a="http://schemas.openxmlformats.org/drawingml/2006/main">
            <a:r>
              <a:t>      "address": "제주특별자치도 제주시 해맞이해안로 1296",</a:t>
            </a:r>
          </a:p>
          <a:p xmlns:a="http://schemas.openxmlformats.org/drawingml/2006/main">
            <a:r>
              <a:t>      "image_url": "http://tong.visitkorea.or.kr/cms/resource/24/2853424_image2_1.jpg",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"tour-api:1889809",</a:t>
            </a:r>
          </a:p>
          <a:p xmlns:a="http://schemas.openxmlformats.org/drawingml/2006/main">
            <a:r>
              <a:t>      "source_type": "open_api",</a:t>
            </a:r>
          </a:p>
          <a:p xmlns:a="http://schemas.openxmlformats.org/drawingml/2006/main">
            <a:r>
              <a:t>      "title": "개오리오름",</a:t>
            </a:r>
          </a:p>
          <a:p xmlns:a="http://schemas.openxmlformats.org/drawingml/2006/main">
            <a:r>
              <a:t>      "source_url": "https://apis.data.go.kr/B551011/KorService2",</a:t>
            </a:r>
          </a:p>
          <a:p xmlns:a="http://schemas.openxmlformats.org/drawingml/2006/main">
            <a:r>
              <a:t>      "content_id": "1889809",</a:t>
            </a:r>
          </a:p>
          <a:p xmlns:a="http://schemas.openxmlformats.org/drawingml/2006/main">
            <a:r>
              <a:t>      "content_type_id": "12",</a:t>
            </a:r>
          </a:p>
          <a:p xmlns:a="http://schemas.openxmlformats.org/drawingml/2006/main">
            <a:r>
              <a:t>      "address": "제주특별자치도 제주시 봉개동",</a:t>
            </a:r>
          </a:p>
          <a:p xmlns:a="http://schemas.openxmlformats.org/drawingml/2006/main">
            <a:r>
              <a:t>      "image_url": "http://tong.visitkorea.or.kr/cms/resource/47/3478047_image2_1.jpg",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"tour-api:1918646",</a:t>
            </a:r>
          </a:p>
          <a:p xmlns:a="http://schemas.openxmlformats.org/drawingml/2006/main">
            <a:r>
              <a:t>      "source_type": "open_api",</a:t>
            </a:r>
          </a:p>
          <a:p xmlns:a="http://schemas.openxmlformats.org/drawingml/2006/main">
            <a:r>
              <a:t>      "title": "거슨새미오름",</a:t>
            </a:r>
          </a:p>
          <a:p xmlns:a="http://schemas.openxmlformats.org/drawingml/2006/main">
            <a:r>
              <a:t>      "source_url": "https://apis.data.go.kr/B551011/KorService2",</a:t>
            </a:r>
          </a:p>
          <a:p xmlns:a="http://schemas.openxmlformats.org/drawingml/2006/main">
            <a:r>
              <a:t>      "content_id": "1918646",</a:t>
            </a:r>
          </a:p>
          <a:p xmlns:a="http://schemas.openxmlformats.org/drawingml/2006/main">
            <a:r>
              <a:t>      "content_type_id": "12",</a:t>
            </a:r>
          </a:p>
          <a:p xmlns:a="http://schemas.openxmlformats.org/drawingml/2006/main">
            <a:r>
              <a:t>      "address": "제주특별자치도 제주시 구좌읍 송당리",</a:t>
            </a:r>
          </a:p>
          <a:p xmlns:a="http://schemas.openxmlformats.org/drawingml/2006/main">
            <a:r>
              <a:t>      "image_url": "http://tong.visitkorea.or.kr/cms/resource/04/3477804_image2_1.jpg",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"tour-api:2870515",</a:t>
            </a:r>
          </a:p>
          <a:p xmlns:a="http://schemas.openxmlformats.org/drawingml/2006/main">
            <a:r>
              <a:t>      "source_type": "open_api",</a:t>
            </a:r>
          </a:p>
          <a:p xmlns:a="http://schemas.openxmlformats.org/drawingml/2006/main">
            <a:r>
              <a:t>      "title": "경성수산",</a:t>
            </a:r>
          </a:p>
          <a:p xmlns:a="http://schemas.openxmlformats.org/drawingml/2006/main">
            <a:r>
              <a:t>      "source_url": "https://apis.data.go.kr/B551011/KorService2",</a:t>
            </a:r>
          </a:p>
          <a:p xmlns:a="http://schemas.openxmlformats.org/drawingml/2006/main">
            <a:r>
              <a:t>      "content_id": "2870515",</a:t>
            </a:r>
          </a:p>
          <a:p xmlns:a="http://schemas.openxmlformats.org/drawingml/2006/main">
            <a:r>
              <a:t>      "content_type_id": "39",</a:t>
            </a:r>
          </a:p>
          <a:p xmlns:a="http://schemas.openxmlformats.org/drawingml/2006/main">
            <a:r>
              <a:t>      "address": "제주특별자치도 제주시 한림상로 111",</a:t>
            </a:r>
          </a:p>
          <a:p xmlns:a="http://schemas.openxmlformats.org/drawingml/2006/main">
            <a:r>
              <a:t>      "image_url": "http://tong.visitkorea.or.kr/cms/resource/09/2870509_image2_1.jpg",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"tour-api:2791433",</a:t>
            </a:r>
          </a:p>
          <a:p xmlns:a="http://schemas.openxmlformats.org/drawingml/2006/main">
            <a:r>
              <a:t>      "source_type": "open_api",</a:t>
            </a:r>
          </a:p>
          <a:p xmlns:a="http://schemas.openxmlformats.org/drawingml/2006/main">
            <a:r>
              <a:t>      "title": "고내포구",</a:t>
            </a:r>
          </a:p>
          <a:p xmlns:a="http://schemas.openxmlformats.org/drawingml/2006/main">
            <a:r>
              <a:t>      "source_url": "https://apis.data.go.kr/B551011/KorService2",</a:t>
            </a:r>
          </a:p>
          <a:p xmlns:a="http://schemas.openxmlformats.org/drawingml/2006/main">
            <a:r>
              <a:t>      "content_id": "2791433",</a:t>
            </a:r>
          </a:p>
          <a:p xmlns:a="http://schemas.openxmlformats.org/drawingml/2006/main">
            <a:r>
              <a:t>      "content_type_id": "12",</a:t>
            </a:r>
          </a:p>
          <a:p xmlns:a="http://schemas.openxmlformats.org/drawingml/2006/main">
            <a:r>
              <a:t>      "address": "제주특별자치도 제주시 애월읍 고내리 1111-4",</a:t>
            </a:r>
          </a:p>
          <a:p xmlns:a="http://schemas.openxmlformats.org/drawingml/2006/main">
            <a:r>
              <a:t>      "image_url": "http://tong.visitkorea.or.kr/cms/resource/19/3589219_image2_1.jpg",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"tour-api:2863927",</a:t>
            </a:r>
          </a:p>
          <a:p xmlns:a="http://schemas.openxmlformats.org/drawingml/2006/main">
            <a:r>
              <a:t>      "source_type": "open_api",</a:t>
            </a:r>
          </a:p>
          <a:p xmlns:a="http://schemas.openxmlformats.org/drawingml/2006/main">
            <a:r>
              <a:t>      "title": "고사리커피",</a:t>
            </a:r>
          </a:p>
          <a:p xmlns:a="http://schemas.openxmlformats.org/drawingml/2006/main">
            <a:r>
              <a:t>      "source_url": "https://apis.data.go.kr/B551011/KorService2",</a:t>
            </a:r>
          </a:p>
          <a:p xmlns:a="http://schemas.openxmlformats.org/drawingml/2006/main">
            <a:r>
              <a:t>      "content_id": "2863927",</a:t>
            </a:r>
          </a:p>
          <a:p xmlns:a="http://schemas.openxmlformats.org/drawingml/2006/main">
            <a:r>
              <a:t>      "content_type_id": "39",</a:t>
            </a:r>
          </a:p>
          <a:p xmlns:a="http://schemas.openxmlformats.org/drawingml/2006/main">
            <a:r>
              <a:t>      "address": "제주특별자치도 제주시 구좌읍 중산간동로 2064",</a:t>
            </a:r>
          </a:p>
          <a:p xmlns:a="http://schemas.openxmlformats.org/drawingml/2006/main">
            <a:r>
              <a:t>      "image_url": "http://tong.visitkorea.or.kr/cms/resource/18/2863918_image2_1.JPG",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"tour-api:2759120",</a:t>
            </a:r>
          </a:p>
          <a:p xmlns:a="http://schemas.openxmlformats.org/drawingml/2006/main">
            <a:r>
              <a:t>      "source_type": "open_api",</a:t>
            </a:r>
          </a:p>
          <a:p xmlns:a="http://schemas.openxmlformats.org/drawingml/2006/main">
            <a:r>
              <a:t>      "title": "고스트타운",</a:t>
            </a:r>
          </a:p>
          <a:p xmlns:a="http://schemas.openxmlformats.org/drawingml/2006/main">
            <a:r>
              <a:t>      "source_url": "https://apis.data.go.kr/B551011/KorService2",</a:t>
            </a:r>
          </a:p>
          <a:p xmlns:a="http://schemas.openxmlformats.org/drawingml/2006/main">
            <a:r>
              <a:t>      "content_id": "2759120",</a:t>
            </a:r>
          </a:p>
          <a:p xmlns:a="http://schemas.openxmlformats.org/drawingml/2006/main">
            <a:r>
              <a:t>      "content_type_id": "12",</a:t>
            </a:r>
          </a:p>
          <a:p xmlns:a="http://schemas.openxmlformats.org/drawingml/2006/main">
            <a:r>
              <a:t>      "address": "제주특별자치도 제주시 애월읍 부룡수길 35-14",</a:t>
            </a:r>
          </a:p>
          <a:p xmlns:a="http://schemas.openxmlformats.org/drawingml/2006/main">
            <a:r>
              <a:t>      "image_url": "http://tong.visitkorea.or.kr/cms/resource/81/3396881_image2_1.jpg",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"tour-api:2759061",</a:t>
            </a:r>
          </a:p>
          <a:p xmlns:a="http://schemas.openxmlformats.org/drawingml/2006/main">
            <a:r>
              <a:t>      "source_type": "open_api",</a:t>
            </a:r>
          </a:p>
          <a:p xmlns:a="http://schemas.openxmlformats.org/drawingml/2006/main">
            <a:r>
              <a:t>      "title": "고이정",</a:t>
            </a:r>
          </a:p>
          <a:p xmlns:a="http://schemas.openxmlformats.org/drawingml/2006/main">
            <a:r>
              <a:t>      "source_url": "https://apis.data.go.kr/B551011/KorService2",</a:t>
            </a:r>
          </a:p>
          <a:p xmlns:a="http://schemas.openxmlformats.org/drawingml/2006/main">
            <a:r>
              <a:t>      "content_id": "2759061",</a:t>
            </a:r>
          </a:p>
          <a:p xmlns:a="http://schemas.openxmlformats.org/drawingml/2006/main">
            <a:r>
              <a:t>      "content_type_id": "39",</a:t>
            </a:r>
          </a:p>
          <a:p xmlns:a="http://schemas.openxmlformats.org/drawingml/2006/main">
            <a:r>
              <a:t>      "address": "제주특별자치도 제주시 애월읍 애월로 6",</a:t>
            </a:r>
          </a:p>
          <a:p xmlns:a="http://schemas.openxmlformats.org/drawingml/2006/main">
            <a:r>
              <a:t>      "image_url": "http://tong.visitkorea.or.kr/cms/resource/08/2759208_image2_1.jpg",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"tour-api:2863913",</a:t>
            </a:r>
          </a:p>
          <a:p xmlns:a="http://schemas.openxmlformats.org/drawingml/2006/main">
            <a:r>
              <a:t>      "source_type": "open_api",</a:t>
            </a:r>
          </a:p>
          <a:p xmlns:a="http://schemas.openxmlformats.org/drawingml/2006/main">
            <a:r>
              <a:t>      "title": "고토커피바",</a:t>
            </a:r>
          </a:p>
          <a:p xmlns:a="http://schemas.openxmlformats.org/drawingml/2006/main">
            <a:r>
              <a:t>      "source_url": "https://apis.data.go.kr/B551011/KorService2",</a:t>
            </a:r>
          </a:p>
          <a:p xmlns:a="http://schemas.openxmlformats.org/drawingml/2006/main">
            <a:r>
              <a:t>      "content_id": "2863913",</a:t>
            </a:r>
          </a:p>
          <a:p xmlns:a="http://schemas.openxmlformats.org/drawingml/2006/main">
            <a:r>
              <a:t>      "content_type_id": "39",</a:t>
            </a:r>
          </a:p>
          <a:p xmlns:a="http://schemas.openxmlformats.org/drawingml/2006/main">
            <a:r>
              <a:t>      "address": "제주특별자치도 제주시 애월읍 구엄동3길 56",</a:t>
            </a:r>
          </a:p>
          <a:p xmlns:a="http://schemas.openxmlformats.org/drawingml/2006/main">
            <a:r>
              <a:t>      "image_url": "http://tong.visitkorea.or.kr/cms/resource/07/2863907_image2_1.jpg",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"tour-api:2857289",</a:t>
            </a:r>
          </a:p>
          <a:p xmlns:a="http://schemas.openxmlformats.org/drawingml/2006/main">
            <a:r>
              <a:t>      "source_type": "open_api",</a:t>
            </a:r>
          </a:p>
          <a:p xmlns:a="http://schemas.openxmlformats.org/drawingml/2006/main">
            <a:r>
              <a:t>      "title": "골목식당",</a:t>
            </a:r>
          </a:p>
          <a:p xmlns:a="http://schemas.openxmlformats.org/drawingml/2006/main">
            <a:r>
              <a:t>      "source_url": "https://apis.data.go.kr/B551011/KorService2",</a:t>
            </a:r>
          </a:p>
          <a:p xmlns:a="http://schemas.openxmlformats.org/drawingml/2006/main">
            <a:r>
              <a:t>      "content_id": "2857289",</a:t>
            </a:r>
          </a:p>
          <a:p xmlns:a="http://schemas.openxmlformats.org/drawingml/2006/main">
            <a:r>
              <a:t>      "content_type_id": "39",</a:t>
            </a:r>
          </a:p>
          <a:p xmlns:a="http://schemas.openxmlformats.org/drawingml/2006/main">
            <a:r>
              <a:t>      "address": "제주특별자치도 제주시 중앙로 63-9 (이도일동)",</a:t>
            </a:r>
          </a:p>
          <a:p xmlns:a="http://schemas.openxmlformats.org/drawingml/2006/main">
            <a:r>
              <a:t>      "image_url": "http://tong.visitkorea.or.kr/cms/resource/79/2857279_image2_1.JPG",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"tour-api:2852311",</a:t>
            </a:r>
          </a:p>
          <a:p xmlns:a="http://schemas.openxmlformats.org/drawingml/2006/main">
            <a:r>
              <a:t>      "source_type": "open_api",</a:t>
            </a:r>
          </a:p>
          <a:p xmlns:a="http://schemas.openxmlformats.org/drawingml/2006/main">
            <a:r>
              <a:t>      "title": "골목카페옥수",</a:t>
            </a:r>
          </a:p>
          <a:p xmlns:a="http://schemas.openxmlformats.org/drawingml/2006/main">
            <a:r>
              <a:t>      "source_url": "https://apis.data.go.kr/B551011/KorService2",</a:t>
            </a:r>
          </a:p>
          <a:p xmlns:a="http://schemas.openxmlformats.org/drawingml/2006/main">
            <a:r>
              <a:t>      "content_id": "2852311",</a:t>
            </a:r>
          </a:p>
          <a:p xmlns:a="http://schemas.openxmlformats.org/drawingml/2006/main">
            <a:r>
              <a:t>      "content_type_id": "39",</a:t>
            </a:r>
          </a:p>
          <a:p xmlns:a="http://schemas.openxmlformats.org/drawingml/2006/main">
            <a:r>
              <a:t>      "address": "제주특별자치도 제주시 소길1길 19",</a:t>
            </a:r>
          </a:p>
          <a:p xmlns:a="http://schemas.openxmlformats.org/drawingml/2006/main">
            <a:r>
              <a:t>      "image_url": "http://tong.visitkorea.or.kr/cms/resource/03/2852303_image2_1.jpg",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"tour-api:2739395",</a:t>
            </a:r>
          </a:p>
          <a:p xmlns:a="http://schemas.openxmlformats.org/drawingml/2006/main">
            <a:r>
              <a:t>      "source_type": "open_api",</a:t>
            </a:r>
          </a:p>
          <a:p xmlns:a="http://schemas.openxmlformats.org/drawingml/2006/main">
            <a:r>
              <a:t>      "title": "골체오름캠핑",</a:t>
            </a:r>
          </a:p>
          <a:p xmlns:a="http://schemas.openxmlformats.org/drawingml/2006/main">
            <a:r>
              <a:t>      "source_url": "https://apis.data.go.kr/B551011/KorService2",</a:t>
            </a:r>
          </a:p>
          <a:p xmlns:a="http://schemas.openxmlformats.org/drawingml/2006/main">
            <a:r>
              <a:t>      "content_id": "2739395",</a:t>
            </a:r>
          </a:p>
          <a:p xmlns:a="http://schemas.openxmlformats.org/drawingml/2006/main">
            <a:r>
              <a:t>      "content_type_id": "28",</a:t>
            </a:r>
          </a:p>
          <a:p xmlns:a="http://schemas.openxmlformats.org/drawingml/2006/main">
            <a:r>
              <a:t>      "address": "제주특별자치도 제주시 조천읍 번영로 1648-41",</a:t>
            </a:r>
          </a:p>
          <a:p xmlns:a="http://schemas.openxmlformats.org/drawingml/2006/main">
            <a:r>
              <a:t>      "image_url": "http://tong.visitkorea.or.kr/cms/resource/74/2739574_image2_1.jpg",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"tour-api:2759096",</a:t>
            </a:r>
          </a:p>
          <a:p xmlns:a="http://schemas.openxmlformats.org/drawingml/2006/main">
            <a:r>
              <a:t>      "source_type": "open_api",</a:t>
            </a:r>
          </a:p>
          <a:p xmlns:a="http://schemas.openxmlformats.org/drawingml/2006/main">
            <a:r>
              <a:t>      "title": "곰막식당/곰막",</a:t>
            </a:r>
          </a:p>
          <a:p xmlns:a="http://schemas.openxmlformats.org/drawingml/2006/main">
            <a:r>
              <a:t>      "source_url": "https://apis.data.go.kr/B551011/KorService2",</a:t>
            </a:r>
          </a:p>
          <a:p xmlns:a="http://schemas.openxmlformats.org/drawingml/2006/main">
            <a:r>
              <a:t>      "content_id": "2759096",</a:t>
            </a:r>
          </a:p>
          <a:p xmlns:a="http://schemas.openxmlformats.org/drawingml/2006/main">
            <a:r>
              <a:t>      "content_type_id": "39",</a:t>
            </a:r>
          </a:p>
          <a:p xmlns:a="http://schemas.openxmlformats.org/drawingml/2006/main">
            <a:r>
              <a:t>      "address": "제주특별자치도 제주시 구좌읍 구좌해안로 64",</a:t>
            </a:r>
          </a:p>
          <a:p xmlns:a="http://schemas.openxmlformats.org/drawingml/2006/main">
            <a:r>
              <a:t>      "image_url": "http://tong.visitkorea.or.kr/cms/resource/21/2759221_image2_1.jpg",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"tour-api:127870",</a:t>
            </a:r>
          </a:p>
          <a:p xmlns:a="http://schemas.openxmlformats.org/drawingml/2006/main">
            <a:r>
              <a:t>      "source_type": "open_api",</a:t>
            </a:r>
          </a:p>
          <a:p xmlns:a="http://schemas.openxmlformats.org/drawingml/2006/main">
            <a:r>
              <a:t>      "title": "곽지해수욕장",</a:t>
            </a:r>
          </a:p>
          <a:p xmlns:a="http://schemas.openxmlformats.org/drawingml/2006/main">
            <a:r>
              <a:t>      "source_url": "https://apis.data.go.kr/B551011/KorService2",</a:t>
            </a:r>
          </a:p>
          <a:p xmlns:a="http://schemas.openxmlformats.org/drawingml/2006/main">
            <a:r>
              <a:t>      "content_id": "127870",</a:t>
            </a:r>
          </a:p>
          <a:p xmlns:a="http://schemas.openxmlformats.org/drawingml/2006/main">
            <a:r>
              <a:t>      "content_type_id": "12",</a:t>
            </a:r>
          </a:p>
          <a:p xmlns:a="http://schemas.openxmlformats.org/drawingml/2006/main">
            <a:r>
              <a:t>      "address": "제주특별자치도 제주시 애월읍 곽지리 1565",</a:t>
            </a:r>
          </a:p>
          <a:p xmlns:a="http://schemas.openxmlformats.org/drawingml/2006/main">
            <a:r>
              <a:t>      "image_url": "http://tong.visitkorea.or.kr/cms/resource/30/3053130_image2_1.jpg",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"tour-api:1918950",</a:t>
            </a:r>
          </a:p>
          <a:p xmlns:a="http://schemas.openxmlformats.org/drawingml/2006/main">
            <a:r>
              <a:t>      "source_type": "open_api",</a:t>
            </a:r>
          </a:p>
          <a:p xmlns:a="http://schemas.openxmlformats.org/drawingml/2006/main">
            <a:r>
              <a:t>      "title": "괴오름",</a:t>
            </a:r>
          </a:p>
          <a:p xmlns:a="http://schemas.openxmlformats.org/drawingml/2006/main">
            <a:r>
              <a:t>      "source_url": "https://apis.data.go.kr/B551011/KorService2",</a:t>
            </a:r>
          </a:p>
          <a:p xmlns:a="http://schemas.openxmlformats.org/drawingml/2006/main">
            <a:r>
              <a:t>      "content_id": "1918950",</a:t>
            </a:r>
          </a:p>
          <a:p xmlns:a="http://schemas.openxmlformats.org/drawingml/2006/main">
            <a:r>
              <a:t>      "content_type_id": "12",</a:t>
            </a:r>
          </a:p>
          <a:p xmlns:a="http://schemas.openxmlformats.org/drawingml/2006/main">
            <a:r>
              <a:t>      "address": "제주특별자치도 제주시 애월읍 봉성리 산41",</a:t>
            </a:r>
          </a:p>
          <a:p xmlns:a="http://schemas.openxmlformats.org/drawingml/2006/main">
            <a:r>
              <a:t>      "image_url": "http://tong.visitkorea.or.kr/cms/resource/40/3585540_image2_1.jpg",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"tour-api:128443",</a:t>
            </a:r>
          </a:p>
          <a:p xmlns:a="http://schemas.openxmlformats.org/drawingml/2006/main">
            <a:r>
              <a:t>      "source_type": "open_api",</a:t>
            </a:r>
          </a:p>
          <a:p xmlns:a="http://schemas.openxmlformats.org/drawingml/2006/main">
            <a:r>
              <a:t>      "title": "교래 삼다수마을",</a:t>
            </a:r>
          </a:p>
          <a:p xmlns:a="http://schemas.openxmlformats.org/drawingml/2006/main">
            <a:r>
              <a:t>      "source_url": "https://apis.data.go.kr/B551011/KorService2",</a:t>
            </a:r>
          </a:p>
          <a:p xmlns:a="http://schemas.openxmlformats.org/drawingml/2006/main">
            <a:r>
              <a:t>      "content_id": "128443",</a:t>
            </a:r>
          </a:p>
          <a:p xmlns:a="http://schemas.openxmlformats.org/drawingml/2006/main">
            <a:r>
              <a:t>      "content_type_id": "12",</a:t>
            </a:r>
          </a:p>
          <a:p xmlns:a="http://schemas.openxmlformats.org/drawingml/2006/main">
            <a:r>
              <a:t>      "address": "제주특별자치도 제주시 조천읍 교래3길 98",</a:t>
            </a:r>
          </a:p>
          <a:p xmlns:a="http://schemas.openxmlformats.org/drawingml/2006/main">
            <a:r>
              <a:t>      "image_url": "http://tong.visitkorea.or.kr/cms/resource/18/3586318_image2_1.jpg",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"source_id": "reference:kto:2026:local-airport",</a:t>
            </a:r>
          </a:p>
          <a:p xmlns:a="http://schemas.openxmlformats.org/drawingml/2006/main">
            <a:r>
              <a:t>      "source_type": "rag",</a:t>
            </a:r>
          </a:p>
          <a:p xmlns:a="http://schemas.openxmlformats.org/drawingml/2006/main">
            <a:r>
              <a:t>      "title": "요즘, 한국관광 2호 - 지방공항 연계 지역관광 활성화 방안",</a:t>
            </a:r>
          </a:p>
          <a:p xmlns:a="http://schemas.openxmlformats.org/drawingml/2006/main">
            <a:r>
              <a:t>      "source_url": "https://datalab.visitkorea.or.kr/site/portal/ex/bbs/View.do?bcIdx=311068&amp;cbIdx=1135&amp;pageIndex=1",</a:t>
            </a:r>
          </a:p>
          <a:p xmlns:a="http://schemas.openxmlformats.org/drawingml/2006/main">
            <a:r>
              <a:t>      "published_or_updated_at": "2026-08",</a:t>
            </a:r>
          </a:p>
          <a:p xmlns:a="http://schemas.openxmlformats.org/drawingml/2006/main">
            <a:r>
              <a:t>      "document_type": "policy",</a:t>
            </a:r>
          </a:p>
          <a:p xmlns:a="http://schemas.openxmlformats.org/drawingml/2006/main">
            <a:r>
              <a:t>      "region_code": "ALL",</a:t>
            </a:r>
          </a:p>
          <a:p xmlns:a="http://schemas.openxmlformats.org/drawingml/2006/main">
            <a:r>
              <a:t>      "region_name": "전국 공통",</a:t>
            </a:r>
          </a:p>
          <a:p xmlns:a="http://schemas.openxmlformats.org/drawingml/2006/main">
            <a:r>
              <a:t>      "case_region": "",</a:t>
            </a:r>
          </a:p>
          <a:p xmlns:a="http://schemas.openxmlformats.org/drawingml/2006/main">
            <a:r>
              <a:t>      "intervention": "",</a:t>
            </a:r>
          </a:p>
          <a:p xmlns:a="http://schemas.openxmlformats.org/drawingml/2006/main">
            <a:r>
              <a:t>      "evidence_strength": "medium",</a:t>
            </a:r>
          </a:p>
          <a:p xmlns:a="http://schemas.openxmlformats.org/drawingml/2006/main">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xmlns:a="http://schemas.openxmlformats.org/drawingml/2006/main">
            <a:r>
              <a:t>      "retrieval_method": "local_curated_chunk",</a:t>
            </a:r>
          </a:p>
          <a:p xmlns:a="http://schemas.openxmlformats.org/drawingml/2006/main">
            <a:r>
              <a:t>      "matched_terms": [</a:t>
            </a:r>
          </a:p>
          <a:p xmlns:a="http://schemas.openxmlformats.org/drawingml/2006/main">
            <a:r>
              <a:t>        "결제",</a:t>
            </a:r>
          </a:p>
          <a:p xmlns:a="http://schemas.openxmlformats.org/drawingml/2006/main">
            <a:r>
              <a:t>        "관광사업",</a:t>
            </a:r>
          </a:p>
          <a:p xmlns:a="http://schemas.openxmlformats.org/drawingml/2006/main">
            <a:r>
              <a:t>        "상권",</a:t>
            </a:r>
          </a:p>
          <a:p xmlns:a="http://schemas.openxmlformats.org/drawingml/2006/main">
            <a:r>
              <a:t>        "성과",</a:t>
            </a:r>
          </a:p>
          <a:p xmlns:a="http://schemas.openxmlformats.org/drawingml/2006/main">
            <a:r>
              <a:t>        "소비",</a:t>
            </a:r>
          </a:p>
          <a:p xmlns:a="http://schemas.openxmlformats.org/drawingml/2006/main">
            <a:r>
              <a:t>        "수와",</a:t>
            </a:r>
          </a:p>
          <a:p xmlns:a="http://schemas.openxmlformats.org/drawingml/2006/main">
            <a:r>
              <a:t>        "숙박",</a:t>
            </a:r>
          </a:p>
          <a:p xmlns:a="http://schemas.openxmlformats.org/drawingml/2006/main">
            <a:r>
              <a:t>        "실제",</a:t>
            </a:r>
          </a:p>
          <a:p xmlns:a="http://schemas.openxmlformats.org/drawingml/2006/main">
            <a:r>
              <a:t>        "연결한",</a:t>
            </a:r>
          </a:p>
          <a:p xmlns:a="http://schemas.openxmlformats.org/drawingml/2006/main">
            <a:r>
              <a:t>        "예산",</a:t>
            </a:r>
          </a:p>
          <a:p xmlns:a="http://schemas.openxmlformats.org/drawingml/2006/main">
            <a:r>
              <a:t>        "운영",</a:t>
            </a:r>
          </a:p>
          <a:p xmlns:a="http://schemas.openxmlformats.org/drawingml/2006/main">
            <a:r>
              <a:t>        "이어지는",</a:t>
            </a:r>
          </a:p>
          <a:p xmlns:a="http://schemas.openxmlformats.org/drawingml/2006/main">
            <a:r>
              <a:t>        "전환",</a:t>
            </a:r>
          </a:p>
          <a:p xmlns:a="http://schemas.openxmlformats.org/drawingml/2006/main">
            <a:r>
              <a:t>        "중심으로",</a:t>
            </a:r>
          </a:p>
          <a:p xmlns:a="http://schemas.openxmlformats.org/drawingml/2006/main">
            <a:r>
              <a:t>        "지역",</a:t>
            </a:r>
          </a:p>
          <a:p xmlns:a="http://schemas.openxmlformats.org/drawingml/2006/main">
            <a:r>
              <a:t>        "체류",</a:t>
            </a:r>
          </a:p>
          <a:p xmlns:a="http://schemas.openxmlformats.org/drawingml/2006/main">
            <a:r>
              <a:t>        "함께",</a:t>
            </a:r>
          </a:p>
          <a:p xmlns:a="http://schemas.openxmlformats.org/drawingml/2006/main">
            <a:r>
              <a:t>        "현장",</a:t>
            </a:r>
          </a:p>
          <a:p xmlns:a="http://schemas.openxmlformats.org/drawingml/2006/main">
            <a:r>
              <a:t>        "협약"</a:t>
            </a:r>
          </a:p>
          <a:p xmlns:a="http://schemas.openxmlformats.org/drawingml/2006/main">
            <a:r>
              <a:t>      ],</a:t>
            </a:r>
          </a:p>
          <a:p xmlns:a="http://schemas.openxmlformats.org/drawingml/2006/main">
            <a:r>
              <a:t>      "page_references": "PDF 44쪽, PDF 40쪽, PDF 41쪽, PDF 41쪽, PDF 43쪽, PDF 36쪽, PDF 43쪽, PDF 43쪽",</a:t>
            </a:r>
          </a:p>
          <a:p xmlns:a="http://schemas.openxmlformats.org/drawingml/2006/main">
            <a:r>
              <a:t>      "source_note": "지방공항·연계 지역에 관한 자료입니다. 다른 시군구의 사업 효과·예산을 보장하는 근거로 사용하지 않습니다.",</a:t>
            </a:r>
          </a:p>
          <a:p xmlns:a="http://schemas.openxmlformats.org/drawingml/2006/main">
            <a:r>
              <a:t>      "chunk_id": "reference:kto:2026:local-airport:page:044:chunk:01",</a:t>
            </a:r>
          </a:p>
          <a:p xmlns:a="http://schemas.openxmlformats.org/drawingml/2006/main">
            <a:r>
              <a:t>      "parent_source_id": "reference:kto:2026:local-airport",</a:t>
            </a:r>
          </a:p>
          <a:p xmlns:a="http://schemas.openxmlformats.org/drawingml/2006/main">
            <a:r>
              <a:t>      "chunk_ids": [</a:t>
            </a:r>
          </a:p>
          <a:p xmlns:a="http://schemas.openxmlformats.org/drawingml/2006/main">
            <a:r>
              <a:t>        "reference:kto:2026:local-airport:page:036:chunk:01",</a:t>
            </a:r>
          </a:p>
          <a:p xmlns:a="http://schemas.openxmlformats.org/drawingml/2006/main">
            <a:r>
              <a:t>        "reference:kto:2026:local-airport:page:040:chunk:02",</a:t>
            </a:r>
          </a:p>
          <a:p xmlns:a="http://schemas.openxmlformats.org/drawingml/2006/main">
            <a:r>
              <a:t>        "reference:kto:2026:local-airport:page:041:chunk:01",</a:t>
            </a:r>
          </a:p>
          <a:p xmlns:a="http://schemas.openxmlformats.org/drawingml/2006/main">
            <a:r>
              <a:t>        "reference:kto:2026:local-airport:page:041:chunk:02",</a:t>
            </a:r>
          </a:p>
          <a:p xmlns:a="http://schemas.openxmlformats.org/drawingml/2006/main">
            <a:r>
              <a:t>        "reference:kto:2026:local-airport:page:043:chunk:01",</a:t>
            </a:r>
          </a:p>
          <a:p xmlns:a="http://schemas.openxmlformats.org/drawingml/2006/main">
            <a:r>
              <a:t>        "reference:kto:2026:local-airport:page:043:chunk:02",</a:t>
            </a:r>
          </a:p>
          <a:p xmlns:a="http://schemas.openxmlformats.org/drawingml/2006/main">
            <a:r>
              <a:t>        "reference:kto:2026:local-airport:page:043:chunk:03",</a:t>
            </a:r>
          </a:p>
          <a:p xmlns:a="http://schemas.openxmlformats.org/drawingml/2006/main">
            <a:r>
              <a:t>        "reference:kto:2026:local-airport:page:044:chunk:01"</a:t>
            </a:r>
          </a:p>
          <a:p xmlns:a="http://schemas.openxmlformats.org/drawingml/2006/main">
            <a:r>
              <a:t>      ],</a:t>
            </a:r>
          </a:p>
          <a:p xmlns:a="http://schemas.openxmlformats.org/drawingml/2006/main">
            <a:r>
              <a:t>      "source_chunk_count": 8</a:t>
            </a:r>
          </a:p>
          <a:p xmlns:a="http://schemas.openxmlformats.org/drawingml/2006/main">
            <a:r>
              <a:t>    },</a:t>
            </a:r>
          </a:p>
          <a:p xmlns:a="http://schemas.openxmlformats.org/drawingml/2006/main">
            <a:r>
              <a:t>    {</a:t>
            </a:r>
          </a:p>
          <a:p xmlns:a="http://schemas.openxmlformats.org/drawingml/2006/main">
            <a:r>
              <a:t>      "source_id": "case:4bac3530eca721",</a:t>
            </a:r>
          </a:p>
          <a:p xmlns:a="http://schemas.openxmlformats.org/drawingml/2006/main">
            <a:r>
              <a:t>      "source_type": "benchmark_case",</a:t>
            </a:r>
          </a:p>
          <a:p xmlns:a="http://schemas.openxmlformats.org/drawingml/2006/main">
            <a:r>
              <a:t>      "title": "2024년 문화재야행 사업 예산 확정자료",</a:t>
            </a:r>
          </a:p>
          <a:p xmlns:a="http://schemas.openxmlformats.org/drawingml/2006/main">
            <a:r>
              <a:t>      "source_url": "https://culture.seoul.go.kr/culture/cmmn/file/fileDown.do?atchFileId=c4638ecc9ce84bba9e51ecc2e11293e2&amp;bbsId=&amp;fileSn=2&amp;menuNo=200050",</a:t>
            </a:r>
          </a:p>
          <a:p xmlns:a="http://schemas.openxmlformats.org/drawingml/2006/main">
            <a:r>
              <a:t>      "published_or_updated_at": "2024",</a:t>
            </a:r>
          </a:p>
          <a:p xmlns:a="http://schemas.openxmlformats.org/drawingml/2006/main">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"case_region": "서울특별시 문화유산 집적지역",</a:t>
            </a:r>
          </a:p>
          <a:p xmlns:a="http://schemas.openxmlformats.org/drawingml/2006/main">
            <a:r>
              <a:t>      "intervention": "기존 문화유산을 활용한 야간 개방·체험 프로그램",</a:t>
            </a:r>
          </a:p>
          <a:p xmlns:a="http://schemas.openxmlformats.org/drawingml/2006/main">
            <a:r>
              <a:t>      "operating_model": "문화유산이 모인 거점을 중심으로 야간 개방, 해설, 공연과 체험프로그램을 구성하고 국비와 지방비를 결합해 운영했다.",</a:t>
            </a:r>
          </a:p>
          <a:p xmlns:a="http://schemas.openxmlformats.org/drawingml/2006/main">
            <a:r>
              <a:t>      "evidence_strength": "low",</a:t>
            </a:r>
          </a:p>
          <a:p xmlns:a="http://schemas.openxmlformats.org/drawingml/2006/main">
            <a:r>
              <a:t>      "quantitative_result_approved": null,</a:t>
            </a:r>
          </a:p>
          <a:p xmlns:a="http://schemas.openxmlformats.org/drawingml/2006/main">
            <a:r>
              <a:t>      "document_type": null,</a:t>
            </a:r>
          </a:p>
          <a:p xmlns:a="http://schemas.openxmlformats.org/drawingml/2006/main">
            <a:r>
              <a:t>      "retrieval_method": "official_web_search",</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xmlns:a="http://schemas.openxmlformats.org/drawingml/2006/main">
            <a:r>
              <a:t>      "measurement_period": "2024년 예산 및 운영계획; 사후 성과 측정기간은 공식 자료에서 확인되지 않음",</a:t>
            </a:r>
          </a:p>
          <a:p xmlns:a="http://schemas.openxmlformats.org/drawingml/2006/main">
            <a:r>
              <a:t>      "transfer_conditions": [</a:t>
            </a:r>
          </a:p>
          <a:p xmlns:a="http://schemas.openxmlformats.org/drawingml/2006/main">
            <a:r>
              <a:t>        "제주시 기존 박물관·공연장·시장·문화유산 가운데 야간 개방 가능한 시설을 먼저 조사",</a:t>
            </a:r>
          </a:p>
          <a:p xmlns:a="http://schemas.openxmlformats.org/drawingml/2006/main">
            <a:r>
              <a:t>        "신규 시설비보다 프로그램, 예약시스템, 현장인력, 안전과 이동에 예산을 배분",</a:t>
            </a:r>
          </a:p>
          <a:p xmlns:a="http://schemas.openxmlformats.org/drawingml/2006/main">
            <a:r>
              <a:t>        "인근 식음·상점과 협약해 예약 전후 이용 동선을 설계하되 참여가 확정된 것으로 미리 표현하지 않음",</a:t>
            </a:r>
          </a:p>
          <a:p xmlns:a="http://schemas.openxmlformats.org/drawingml/2006/main">
            <a:r>
              <a:t>        "유료 예약률, 노쇼율, 야간 체류시간, 인근 참여업체 결제를 별도로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"case:gangjin_half_price_2024",</a:t>
            </a:r>
          </a:p>
          <a:p xmlns:a="http://schemas.openxmlformats.org/drawingml/2006/main">
            <a:r>
              <a:t>      "source_type": "benchmark_case",</a:t>
            </a:r>
          </a:p>
          <a:p xmlns:a="http://schemas.openxmlformats.org/drawingml/2006/main">
            <a:r>
              <a:t>      "title": "강진 반값여행 지역경제 효과 소개",</a:t>
            </a:r>
          </a:p>
          <a:p xmlns:a="http://schemas.openxmlformats.org/drawingml/2006/main">
            <a:r>
              <a:t>      "source_url": "https://jnfarm.jeonnam.go.kr/board/FARM_BOARD_008/boardView.do?bdId=BD_00000000000011721&amp;menuCd=farm004002",</a:t>
            </a:r>
          </a:p>
          <a:p xmlns:a="http://schemas.openxmlformats.org/drawingml/2006/main">
            <a:r>
              <a:t>      "published_or_updated_at": "2025-01-02",</a:t>
            </a:r>
          </a:p>
          <a:p xmlns:a="http://schemas.openxmlformats.org/drawingml/2006/main">
            <a:r>
              <a:t>      "summary": "전라남도 강진군 · 반값여행 지역환급 · 상품권 결제 변화에 관한 소개 자료는 있으나, 사업 참여자 범위·정확한 비교 기간·원자료를 확인하지 못해 성과 수치 인용을 보류한다.",</a:t>
            </a:r>
          </a:p>
          <a:p xmlns:a="http://schemas.openxmlformats.org/drawingml/2006/main">
            <a:r>
              <a:t>      "case_region": "전라남도 강진군",</a:t>
            </a:r>
          </a:p>
          <a:p xmlns:a="http://schemas.openxmlformats.org/drawingml/2006/main">
            <a:r>
              <a:t>      "intervention": "반값여행 지역환급",</a:t>
            </a:r>
          </a:p>
          <a:p xmlns:a="http://schemas.openxmlformats.org/drawingml/2006/main">
            <a:r>
              <a:t>      "operating_model": "여행자가 지역에서 지출한 비용의 일부를 지역상품권으로 돌려받게 하여 혜택이 다시 지역 상점에서 사용되도록 설계",</a:t>
            </a:r>
          </a:p>
          <a:p xmlns:a="http://schemas.openxmlformats.org/drawingml/2006/main">
            <a:r>
              <a:t>      "evidence_strength": "low",</a:t>
            </a:r>
          </a:p>
          <a:p xmlns:a="http://schemas.openxmlformats.org/drawingml/2006/main">
            <a:r>
              <a:t>      "quantitative_result_approved": false,</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"cross_province",</a:t>
            </a:r>
          </a:p>
          <a:p xmlns:a="http://schemas.openxmlformats.org/drawingml/2006/main">
            <a:r>
              <a:t>        "peer_region_code": null</a:t>
            </a:r>
          </a:p>
          <a:p xmlns:a="http://schemas.openxmlformats.org/drawingml/2006/main">
            <a:r>
              <a:t>      },</a:t>
            </a:r>
          </a:p>
          <a:p xmlns:a="http://schemas.openxmlformats.org/drawingml/2006/main">
            <a:r>
              <a:t>      "observed_result": "상품권 결제 변화에 관한 소개 자료는 있으나, 사업 참여자 범위·정확한 비교 기간·원자료를 확인하지 못해 성과 수치 인용을 보류한다.",</a:t>
            </a:r>
          </a:p>
          <a:p xmlns:a="http://schemas.openxmlformats.org/drawingml/2006/main">
            <a:r>
              <a:t>      "measurement_period": "게시일과 사업 측정기간은 다르며, 비교기간과 집계범위 원자료 확인 필요",</a:t>
            </a:r>
          </a:p>
          <a:p xmlns:a="http://schemas.openxmlformats.org/drawingml/2006/main">
            <a:r>
              <a:t>      "transfer_conditions": [</a:t>
            </a:r>
          </a:p>
          <a:p xmlns:a="http://schemas.openxmlformats.org/drawingml/2006/main">
            <a:r>
              <a:t>        "지역상품권 사용처와 관광업체 참여 기준 필요",</a:t>
            </a:r>
          </a:p>
          <a:p xmlns:a="http://schemas.openxmlformats.org/drawingml/2006/main">
            <a:r>
              <a:t>        "여행 지출 증빙과 중복수혜 방지 절차 필요",</a:t>
            </a:r>
          </a:p>
          <a:p xmlns:a="http://schemas.openxmlformats.org/drawingml/2006/main">
            <a:r>
              <a:t>        "지원금보다 추가 지역소비가 큰지 사후 측정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"case:digital_tourism_resident_2024",</a:t>
            </a:r>
          </a:p>
          <a:p xmlns:a="http://schemas.openxmlformats.org/drawingml/2006/main">
            <a:r>
              <a:t>      "source_type": "benchmark_case",</a:t>
            </a:r>
          </a:p>
          <a:p xmlns:a="http://schemas.openxmlformats.org/drawingml/2006/main">
            <a:r>
              <a:t>      "title": "2024년 6월 여행가는 달 추진 보도자료",</a:t>
            </a:r>
          </a:p>
          <a:p xmlns:a="http://schemas.openxmlformats.org/drawingml/2006/main">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xmlns:a="http://schemas.openxmlformats.org/drawingml/2006/main">
            <a:r>
              <a:t>      "published_or_updated_at": "2024-05-14",</a:t>
            </a:r>
          </a:p>
          <a:p xmlns:a="http://schemas.openxmlformats.org/drawingml/2006/main">
            <a:r>
              <a:t>      "summary": "전국 인구감소지역 34곳 · 디지털 관광주민증과 교통·숙박·상점 할인 결합 · 2024년 34개 지역 약 800개 관광업체에 혜택 구조를 적용",</a:t>
            </a:r>
          </a:p>
          <a:p xmlns:a="http://schemas.openxmlformats.org/drawingml/2006/main">
            <a:r>
              <a:t>      "case_region": "전국 인구감소지역 34곳",</a:t>
            </a:r>
          </a:p>
          <a:p xmlns:a="http://schemas.openxmlformats.org/drawingml/2006/main">
            <a:r>
              <a:t>      "intervention": "디지털 관광주민증과 교통·숙박·상점 할인 결합",</a:t>
            </a:r>
          </a:p>
          <a:p xmlns:a="http://schemas.openxmlformats.org/drawingml/2006/main">
            <a:r>
              <a:t>      "operating_model": "디지털 관광주민증 참여업체 현장 인증과 숙박·식음·관람·체험 할인, 특정 시간대 KTX 할인과 방문 후 교통 할인권을 결합",</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"2024년 34개 지역 약 800개 관광업체에 혜택 구조를 적용",</a:t>
            </a:r>
          </a:p>
          <a:p xmlns:a="http://schemas.openxmlformats.org/drawingml/2006/main">
            <a:r>
              <a:t>      "measurement_period": "2024년 6월 운영 계획",</a:t>
            </a:r>
          </a:p>
          <a:p xmlns:a="http://schemas.openxmlformats.org/drawingml/2006/main">
            <a:r>
              <a:t>      "transfer_conditions": [</a:t>
            </a:r>
          </a:p>
          <a:p xmlns:a="http://schemas.openxmlformats.org/drawingml/2006/main">
            <a:r>
              <a:t>        "지역 내 참여업체 수와 혜택 매력도 확보",</a:t>
            </a:r>
          </a:p>
          <a:p xmlns:a="http://schemas.openxmlformats.org/drawingml/2006/main">
            <a:r>
              <a:t>        "QR 또는 위치인증과 실제 사용기록 수집",</a:t>
            </a:r>
          </a:p>
          <a:p xmlns:a="http://schemas.openxmlformats.org/drawingml/2006/main">
            <a:r>
              <a:t>        "교통 할인 제공기관과 협약 필요"</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"case:kto_stay_discount_2022",</a:t>
            </a:r>
          </a:p>
          <a:p xmlns:a="http://schemas.openxmlformats.org/drawingml/2006/main">
            <a:r>
              <a:t>      "source_type": "benchmark_case",</a:t>
            </a:r>
          </a:p>
          <a:p xmlns:a="http://schemas.openxmlformats.org/drawingml/2006/main">
            <a:r>
              <a:t>      "title": "2022 대한민국 숙박대전 경제파급효과 공개자료",</a:t>
            </a:r>
          </a:p>
          <a:p xmlns:a="http://schemas.openxmlformats.org/drawingml/2006/main">
            <a:r>
              <a:t>      "source_url": "https://kto.visitkorea.or.kr/upload/flexer/upload/ktobiz/20220928/b623b5f9-3ec0-11ed-9832-ddf31964842e.hwp.files/Sections1.html",</a:t>
            </a:r>
          </a:p>
          <a:p xmlns:a="http://schemas.openxmlformats.org/drawingml/2006/main">
            <a:r>
              <a:t>      "published_or_updated_at": "2022-09-28",</a:t>
            </a:r>
          </a:p>
          <a:p xmlns:a="http://schemas.openxmlformats.org/drawingml/2006/main">
            <a:r>
              <a:t>      "summary": "전국 숙박할인쿠폰 지원사업 · 온라인 예약 채널 숙박할인쿠폰 · 한국관광공사 자료는 약 104만 명이 할인혜택을 이용했고 서울·제주를 제외한 지역 사용 비율이 76%였다고 소개함",</a:t>
            </a:r>
          </a:p>
          <a:p xmlns:a="http://schemas.openxmlformats.org/drawingml/2006/main">
            <a:r>
              <a:t>      "case_region": "전국 숙박할인쿠폰 지원사업",</a:t>
            </a:r>
          </a:p>
          <a:p xmlns:a="http://schemas.openxmlformats.org/drawingml/2006/main">
            <a:r>
              <a:t>      "intervention": "온라인 예약 채널 숙박할인쿠폰",</a:t>
            </a:r>
          </a:p>
          <a:p xmlns:a="http://schemas.openxmlformats.org/drawingml/2006/main">
            <a:r>
              <a:t>      "operating_model": "온라인 여행사 예약 단계에서 할인쿠폰을 제공하고, 지역 숙소에서 사용할 수 있도록 참여 채널과 기간을 통합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"한국관광공사 자료는 약 104만 명이 할인혜택을 이용했고 서울·제주를 제외한 지역 사용 비율이 76%였다고 소개함",</a:t>
            </a:r>
          </a:p>
          <a:p xmlns:a="http://schemas.openxmlformats.org/drawingml/2006/main">
            <a:r>
              <a:t>      "measurement_period": "2022년 사업 종료 후 한국관광공사 공개 자료",</a:t>
            </a:r>
          </a:p>
          <a:p xmlns:a="http://schemas.openxmlformats.org/drawingml/2006/main">
            <a:r>
              <a:t>      "transfer_conditions": [</a:t>
            </a:r>
          </a:p>
          <a:p xmlns:a="http://schemas.openxmlformats.org/drawingml/2006/main">
            <a:r>
              <a:t>        "참여 숙소·예약 채널·쿠폰 조건을 사전에 확정",</a:t>
            </a:r>
          </a:p>
          <a:p xmlns:a="http://schemas.openxmlformats.org/drawingml/2006/main">
            <a:r>
              <a:t>        "주말과 성수기 쏠림을 막을 사용 가능일 설계",</a:t>
            </a:r>
          </a:p>
          <a:p xmlns:a="http://schemas.openxmlformats.org/drawingml/2006/main">
            <a:r>
              <a:t>        "쿠폰 발급량이 아니라 실제 숙박 완료·지역소비를 함께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"case:night_festival_2025",</a:t>
            </a:r>
          </a:p>
          <a:p xmlns:a="http://schemas.openxmlformats.org/drawingml/2006/main">
            <a:r>
              <a:t>      "source_type": "benchmark_case",</a:t>
            </a:r>
          </a:p>
          <a:p xmlns:a="http://schemas.openxmlformats.org/drawingml/2006/main">
            <a:r>
              <a:t>      "title": "2025 대한민국 밤밤페스타 개최 도시 및 일정",</a:t>
            </a:r>
          </a:p>
          <a:p xmlns:a="http://schemas.openxmlformats.org/drawingml/2006/main">
            <a:r>
              <a:t>      "source_url": "https://korean.visitkorea.or.kr/detail/rem_detail.do?cotid=f9c636b2-dd7c-4f09-af3d-6af43b33d371",</a:t>
            </a:r>
          </a:p>
          <a:p xmlns:a="http://schemas.openxmlformats.org/drawingml/2006/main">
            <a:r>
              <a:t>      "published_or_updated_at": "2025",</a:t>
            </a:r>
          </a:p>
          <a:p xmlns:a="http://schemas.openxmlformats.org/drawingml/2006/main">
            <a:r>
              <a:t>      "summary": "야간관광 특화도시 10곳 · 도시별 야간 콘텐츠를 순회형 축제로 묶는 운영 · 공식 여행기사는 개최 도시·장소·운영 시간과 콘텐츠만 제시하며 방문·소비 성과 수치는 제시하지 않음",</a:t>
            </a:r>
          </a:p>
          <a:p xmlns:a="http://schemas.openxmlformats.org/drawingml/2006/main">
            <a:r>
              <a:t>      "case_region": "야간관광 특화도시 10곳",</a:t>
            </a:r>
          </a:p>
          <a:p xmlns:a="http://schemas.openxmlformats.org/drawingml/2006/main">
            <a:r>
              <a:t>      "intervention": "도시별 야간 콘텐츠를 순회형 축제로 묶는 운영",</a:t>
            </a:r>
          </a:p>
          <a:p xmlns:a="http://schemas.openxmlformats.org/drawingml/2006/main">
            <a:r>
              <a:t>      "operating_model": "10개 야간관광 특화도시의 대표 장소와 시간대를 연결하고, 공연·체험·지역 디저트·판매상품 등 도시별 콘텐츠를 순회 일정으로 운영",</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"공식 여행기사는 개최 도시·장소·운영 시간과 콘텐츠만 제시하며 방문·소비 성과 수치는 제시하지 않음",</a:t>
            </a:r>
          </a:p>
          <a:p xmlns:a="http://schemas.openxmlformats.org/drawingml/2006/main">
            <a:r>
              <a:t>      "measurement_period": "2025년 행사 일정",</a:t>
            </a:r>
          </a:p>
          <a:p xmlns:a="http://schemas.openxmlformats.org/drawingml/2006/main">
            <a:r>
              <a:t>      "transfer_conditions": [</a:t>
            </a:r>
          </a:p>
          <a:p xmlns:a="http://schemas.openxmlformats.org/drawingml/2006/main">
            <a:r>
              <a:t>        "야간에도 이용 가능한 교통·안전·식음 운영을 함께 설계",</a:t>
            </a:r>
          </a:p>
          <a:p xmlns:a="http://schemas.openxmlformats.org/drawingml/2006/main">
            <a:r>
              <a:t>        "하나의 행사보다 지역별 대표 콘텐츠와 상점 참여를 연결",</a:t>
            </a:r>
          </a:p>
          <a:p xmlns:a="http://schemas.openxmlformats.org/drawingml/2006/main">
            <a:r>
              <a:t>        "행사일과 비행사일을 분리해 방문·결제·숙박 변화를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"case:night_tourism_cities_2024",</a:t>
            </a:r>
          </a:p>
          <a:p xmlns:a="http://schemas.openxmlformats.org/drawingml/2006/main">
            <a:r>
              <a:t>      "source_type": "benchmark_case",</a:t>
            </a:r>
          </a:p>
          <a:p xmlns:a="http://schemas.openxmlformats.org/drawingml/2006/main">
            <a:r>
              <a:t>      "title": "2024년도 정부업무평가 관광분야 성과자료",</a:t>
            </a:r>
          </a:p>
          <a:p xmlns:a="http://schemas.openxmlformats.org/drawingml/2006/main">
            <a:r>
              <a:t>      "source_url": "https://www.evaluation.go.kr/upload2/atch/eval/20250429095846463.pdf",</a:t>
            </a:r>
          </a:p>
          <a:p xmlns:a="http://schemas.openxmlformats.org/drawingml/2006/main">
            <a:r>
              <a:t>      "published_or_updated_at": "2025-04-29",</a:t>
            </a:r>
          </a:p>
          <a:p xmlns:a="http://schemas.openxmlformats.org/drawingml/2006/main">
            <a:r>
              <a:t>      "summary": "야간관광 특화도시 10곳 · 상설 야간 콘텐츠와 경관·교통·안전 운영 · 정부업무평가 자료는 특화도시 10곳 방문객이 2023년 같은 기간보다 3% 증가했다고 기록",</a:t>
            </a:r>
          </a:p>
          <a:p xmlns:a="http://schemas.openxmlformats.org/drawingml/2006/main">
            <a:r>
              <a:t>      "case_region": "야간관광 특화도시 10곳",</a:t>
            </a:r>
          </a:p>
          <a:p xmlns:a="http://schemas.openxmlformats.org/drawingml/2006/main">
            <a:r>
              <a:t>      "intervention": "상설 야간 콘텐츠와 경관·교통·안전 운영",</a:t>
            </a:r>
          </a:p>
          <a:p xmlns:a="http://schemas.openxmlformats.org/drawingml/2006/main">
            <a:r>
              <a:t>      "operating_model": "지역 스토리를 반영한 야간 프로그램을 상설·행사형으로 운영하고 야간 경관, 이동, 식음, 안전 여건을 함께 구성",</a:t>
            </a:r>
          </a:p>
          <a:p xmlns:a="http://schemas.openxmlformats.org/drawingml/2006/main">
            <a:r>
              <a:t>      "evidence_strength": "medium",</a:t>
            </a:r>
          </a:p>
          <a:p xmlns:a="http://schemas.openxmlformats.org/drawingml/2006/main">
            <a:r>
              <a:t>      "quantitative_result_approved": null,</a:t>
            </a:r>
          </a:p>
          <a:p xmlns:a="http://schemas.openxmlformats.org/drawingml/2006/main">
            <a:r>
              <a:t>      "document_type": "case_study",</a:t>
            </a:r>
          </a:p>
          <a:p xmlns:a="http://schemas.openxmlformats.org/drawingml/2006/main">
            <a:r>
              <a:t>      "retrieval_method": "curated_registry",</a:t>
            </a:r>
          </a:p>
          <a:p xmlns:a="http://schemas.openxmlformats.org/drawingml/2006/main">
            <a:r>
              <a:t>      "retrieval_context": {</a:t>
            </a:r>
          </a:p>
          <a:p xmlns:a="http://schemas.openxmlformats.org/drawingml/2006/main">
            <a:r>
              <a:t>        "scope": "national_or_unresolved",</a:t>
            </a:r>
          </a:p>
          <a:p xmlns:a="http://schemas.openxmlformats.org/drawingml/2006/main">
            <a:r>
              <a:t>        "peer_region_code": null</a:t>
            </a:r>
          </a:p>
          <a:p xmlns:a="http://schemas.openxmlformats.org/drawingml/2006/main">
            <a:r>
              <a:t>      },</a:t>
            </a:r>
          </a:p>
          <a:p xmlns:a="http://schemas.openxmlformats.org/drawingml/2006/main">
            <a:r>
              <a:t>      "observed_result": "정부업무평가 자료는 특화도시 10곳 방문객이 2023년 같은 기간보다 3% 증가했다고 기록",</a:t>
            </a:r>
          </a:p>
          <a:p xmlns:a="http://schemas.openxmlformats.org/drawingml/2006/main">
            <a:r>
              <a:t>      "measurement_period": "2023년 동기 대비 2024년 사업 평가 기간",</a:t>
            </a:r>
          </a:p>
          <a:p xmlns:a="http://schemas.openxmlformats.org/drawingml/2006/main">
            <a:r>
              <a:t>      "transfer_conditions": [</a:t>
            </a:r>
          </a:p>
          <a:p xmlns:a="http://schemas.openxmlformats.org/drawingml/2006/main">
            <a:r>
              <a:t>        "야간에 실제 이용 가능한 식음·교통·안전 운영 필요",</a:t>
            </a:r>
          </a:p>
          <a:p xmlns:a="http://schemas.openxmlformats.org/drawingml/2006/main">
            <a:r>
              <a:t>        "일회성 행사보다 상설 운영일 확보",</a:t>
            </a:r>
          </a:p>
          <a:p xmlns:a="http://schemas.openxmlformats.org/drawingml/2006/main">
            <a:r>
              <a:t>        "숙박 또는 야간 결제 데이터로 성과 측정"</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"source_id": "tour-api:1884191",</a:t>
            </a:r>
          </a:p>
          <a:p xmlns:a="http://schemas.openxmlformats.org/drawingml/2006/main">
            <a:r>
              <a:t>      "source_type": "open_api",</a:t>
            </a:r>
          </a:p>
          <a:p xmlns:a="http://schemas.openxmlformats.org/drawingml/2006/main">
            <a:r>
              <a:t>      "title": "가마오름",</a:t>
            </a:r>
          </a:p>
          <a:p xmlns:a="http://schemas.openxmlformats.org/drawingml/2006/main">
            <a:r>
              <a:t>      "source_url": "https://apis.data.go.kr/B551011/KorService2",</a:t>
            </a:r>
          </a:p>
          <a:p xmlns:a="http://schemas.openxmlformats.org/drawingml/2006/main">
            <a:r>
              <a:t>      "content_id": "1884191",</a:t>
            </a:r>
          </a:p>
          <a:p xmlns:a="http://schemas.openxmlformats.org/drawingml/2006/main">
            <a:r>
              <a:t>      "content_type_id": "12",</a:t>
            </a:r>
          </a:p>
          <a:p xmlns:a="http://schemas.openxmlformats.org/drawingml/2006/main">
            <a:r>
              <a:t>      "address": "제주특별자치도 제주시 한경면 청수리",</a:t>
            </a:r>
          </a:p>
          <a:p xmlns:a="http://schemas.openxmlformats.org/drawingml/2006/main">
            <a:r>
              <a:t>      "image_url": "http://tong.visitkorea.or.kr/cms/resource/72/3477972_image2_1.jpg",</a:t>
            </a:r>
          </a:p>
          <a:p xmlns:a="http://schemas.openxmlformats.org/drawingml/2006/main">
            <a:r>
              <a:t>      "summary": "한국관광공사 국문관광정보 API가 반환한 선택 지역 관광자원"</a:t>
            </a:r>
          </a:p>
          <a:p xmlns:a="http://schemas.openxmlformats.org/drawingml/2006/main">
            <a:r>
              <a:t>    }</a:t>
            </a:r>
          </a:p>
          <a:p xmlns:a="http://schemas.openxmlformats.org/drawingml/2006/main">
            <a:r>
              <a:t>  ],</a:t>
            </a:r>
          </a:p>
          <a:p xmlns:a="http://schemas.openxmlformats.org/drawingml/2006/main">
            <a:r>
              <a:t>  "selected_forecast": {</a:t>
            </a:r>
          </a:p>
          <a:p xmlns:a="http://schemas.openxmlformats.org/drawingml/2006/main">
            <a:r>
              <a:t>    "rows": [</a:t>
            </a:r>
          </a:p>
          <a:p xmlns:a="http://schemas.openxmlformats.org/drawingml/2006/main">
            <a:r>
              <a:t>      {</a:t>
            </a:r>
          </a:p>
          <a:p xmlns:a="http://schemas.openxmlformats.org/drawingml/2006/main">
            <a:r>
              <a:t>        "month": "202610",</a:t>
            </a:r>
          </a:p>
          <a:p xmlns:a="http://schemas.openxmlformats.org/drawingml/2006/main">
            <a:r>
              <a:t>        "visitors": 3615062.0,</a:t>
            </a:r>
          </a:p>
          <a:p xmlns:a="http://schemas.openxmlformats.org/drawingml/2006/main">
            <a:r>
              <a:t>        "spending_krw": 150467072839.0,</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3594310.0,</a:t>
            </a:r>
          </a:p>
          <a:p xmlns:a="http://schemas.openxmlformats.org/drawingml/2006/main">
            <a:r>
              <a:t>        "spending_krw": 145085139974.0,</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3370793.0,</a:t>
            </a:r>
          </a:p>
          <a:p xmlns:a="http://schemas.openxmlformats.org/drawingml/2006/main">
            <a:r>
              <a:t>        "spending_krw": 149366639508.0,</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"period": "202610~202612",</a:t>
            </a:r>
          </a:p>
          <a:p xmlns:a="http://schemas.openxmlformats.org/drawingml/2006/main">
            <a:r>
              <a:t>    "complete": true,</a:t>
            </a:r>
          </a:p>
          <a:p xmlns:a="http://schemas.openxmlformats.org/drawingml/2006/main">
            <a:r>
              <a:t>    "notes": [</a:t>
            </a:r>
          </a:p>
          <a:p xmlns:a="http://schemas.openxmlformats.org/drawingml/2006/main">
            <a:r>
              <a:t>      "3개월 초과 예측 거리는 재귀 검증 범위 밖의 탐색 전망입니다."</a:t>
            </a:r>
          </a:p>
          <a:p xmlns:a="http://schemas.openxmlformats.org/drawingml/2006/main">
            <a:r>
              <a:t>    ],</a:t>
            </a:r>
          </a:p>
          <a:p xmlns:a="http://schemas.openxmlformats.org/drawingml/2006/main">
            <a:r>
              <a:t>    "selection_basis": "next_three_months_at_generation",</a:t>
            </a:r>
          </a:p>
          <a:p xmlns:a="http://schemas.openxmlformats.org/drawingml/2006/main">
            <a:r>
              <a:t>    "requested_period": "202610~202612"</a:t>
            </a:r>
          </a:p>
          <a:p xmlns:a="http://schemas.openxmlformats.org/drawingml/2006/main">
            <a:r>
              <a:t>  },</a:t>
            </a:r>
          </a:p>
          <a:p xmlns:a="http://schemas.openxmlformats.org/drawingml/2006/main">
            <a:r>
              <a:t>  "all_ml_forecasts": [</a:t>
            </a:r>
          </a:p>
          <a:p xmlns:a="http://schemas.openxmlformats.org/drawingml/2006/main">
            <a:r>
              <a:t>    {</a:t>
            </a:r>
          </a:p>
          <a:p xmlns:a="http://schemas.openxmlformats.org/drawingml/2006/main">
            <a:r>
              <a:t>      "month": "202607",</a:t>
            </a:r>
          </a:p>
          <a:p xmlns:a="http://schemas.openxmlformats.org/drawingml/2006/main">
            <a:r>
              <a:t>      "visitors": 3517935,</a:t>
            </a:r>
          </a:p>
          <a:p xmlns:a="http://schemas.openxmlformats.org/drawingml/2006/main">
            <a:r>
              <a:t>      "spending_krw": 140803668431,</a:t>
            </a:r>
          </a:p>
          <a:p xmlns:a="http://schemas.openxmlformats.org/drawingml/2006/main">
            <a:r>
              <a:t>      "previous_year_visitors": 3628591,</a:t>
            </a:r>
          </a:p>
          <a:p xmlns:a="http://schemas.openxmlformats.org/drawingml/2006/main">
            <a:r>
              <a:t>      "previous_year_spending_krw": 147121716000,</a:t>
            </a:r>
          </a:p>
          <a:p xmlns:a="http://schemas.openxmlformats.org/drawingml/2006/main">
            <a:r>
              <a:t>      "visitor_yoy_percent": -3.05,</a:t>
            </a:r>
          </a:p>
          <a:p xmlns:a="http://schemas.openxmlformats.org/drawingml/2006/main">
            <a:r>
              <a:t>      "spending_yoy_percent": -4.29,</a:t>
            </a:r>
          </a:p>
          <a:p xmlns:a="http://schemas.openxmlformats.org/drawingml/2006/main">
            <a:r>
              <a:t>      "lodging_nights": 3.2,</a:t>
            </a:r>
          </a:p>
          <a:p xmlns:a="http://schemas.openxmlformats.org/drawingml/2006/main">
            <a:r>
              <a:t>      "previous_year_lodging_nights": 3.2,</a:t>
            </a:r>
          </a:p>
          <a:p xmlns:a="http://schemas.openxmlformats.org/drawingml/2006/main">
            <a:r>
              <a:t>      "lodging_rate_pct": 21.7,</a:t>
            </a:r>
          </a:p>
          <a:p xmlns:a="http://schemas.openxmlformats.org/drawingml/2006/main">
            <a:r>
              <a:t>      "previous_year_lodging_rate_pct": 21.7,</a:t>
            </a:r>
          </a:p>
          <a:p xmlns:a="http://schemas.openxmlformats.org/drawingml/2006/main">
            <a:r>
              <a:t>      "stay_minutes": 2599.0,</a:t>
            </a:r>
          </a:p>
          <a:p xmlns:a="http://schemas.openxmlformats.org/drawingml/2006/main">
            <a:r>
              <a:t>      "previous_year_stay_minutes": 2599.0,</a:t>
            </a:r>
          </a:p>
          <a:p xmlns:a="http://schemas.openxmlformats.org/drawingml/2006/main">
            <a:r>
              <a:t>      "navigation_searches": 710719,</a:t>
            </a:r>
          </a:p>
          <a:p xmlns:a="http://schemas.openxmlformats.org/drawingml/2006/main">
            <a:r>
              <a:t>      "previous_year_navigation_searches": 710719,</a:t>
            </a:r>
          </a:p>
          <a:p xmlns:a="http://schemas.openxmlformats.org/drawingml/2006/main">
            <a:r>
              <a:t>      "lodging_searches": 99946,</a:t>
            </a:r>
          </a:p>
          <a:p xmlns:a="http://schemas.openxmlformats.org/drawingml/2006/main">
            <a:r>
              <a:t>      "previous_year_lodging_searches": 99946,</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"202608",</a:t>
            </a:r>
          </a:p>
          <a:p xmlns:a="http://schemas.openxmlformats.org/drawingml/2006/main">
            <a:r>
              <a:t>      "visitors": 3630250,</a:t>
            </a:r>
          </a:p>
          <a:p xmlns:a="http://schemas.openxmlformats.org/drawingml/2006/main">
            <a:r>
              <a:t>      "spending_krw": 147968744557,</a:t>
            </a:r>
          </a:p>
          <a:p xmlns:a="http://schemas.openxmlformats.org/drawingml/2006/main">
            <a:r>
              <a:t>      "previous_year_visitors": 3874804,</a:t>
            </a:r>
          </a:p>
          <a:p xmlns:a="http://schemas.openxmlformats.org/drawingml/2006/main">
            <a:r>
              <a:t>      "previous_year_spending_krw": 159605711000,</a:t>
            </a:r>
          </a:p>
          <a:p xmlns:a="http://schemas.openxmlformats.org/drawingml/2006/main">
            <a:r>
              <a:t>      "visitor_yoy_percent": -6.31,</a:t>
            </a:r>
          </a:p>
          <a:p xmlns:a="http://schemas.openxmlformats.org/drawingml/2006/main">
            <a:r>
              <a:t>      "spending_yoy_percent": -7.29,</a:t>
            </a:r>
          </a:p>
          <a:p xmlns:a="http://schemas.openxmlformats.org/drawingml/2006/main">
            <a:r>
              <a:t>      "lodging_nights": 3.15,</a:t>
            </a:r>
          </a:p>
          <a:p xmlns:a="http://schemas.openxmlformats.org/drawingml/2006/main">
            <a:r>
              <a:t>      "previous_year_lodging_nights": 3.15,</a:t>
            </a:r>
          </a:p>
          <a:p xmlns:a="http://schemas.openxmlformats.org/drawingml/2006/main">
            <a:r>
              <a:t>      "lodging_rate_pct": 22.1,</a:t>
            </a:r>
          </a:p>
          <a:p xmlns:a="http://schemas.openxmlformats.org/drawingml/2006/main">
            <a:r>
              <a:t>      "previous_year_lodging_rate_pct": 22.1,</a:t>
            </a:r>
          </a:p>
          <a:p xmlns:a="http://schemas.openxmlformats.org/drawingml/2006/main">
            <a:r>
              <a:t>      "stay_minutes": 2361.0,</a:t>
            </a:r>
          </a:p>
          <a:p xmlns:a="http://schemas.openxmlformats.org/drawingml/2006/main">
            <a:r>
              <a:t>      "previous_year_stay_minutes": 2361.0,</a:t>
            </a:r>
          </a:p>
          <a:p xmlns:a="http://schemas.openxmlformats.org/drawingml/2006/main">
            <a:r>
              <a:t>      "navigation_searches": 832625,</a:t>
            </a:r>
          </a:p>
          <a:p xmlns:a="http://schemas.openxmlformats.org/drawingml/2006/main">
            <a:r>
              <a:t>      "previous_year_navigation_searches": 832625,</a:t>
            </a:r>
          </a:p>
          <a:p xmlns:a="http://schemas.openxmlformats.org/drawingml/2006/main">
            <a:r>
              <a:t>      "lodging_searches": 114775,</a:t>
            </a:r>
          </a:p>
          <a:p xmlns:a="http://schemas.openxmlformats.org/drawingml/2006/main">
            <a:r>
              <a:t>      "previous_year_lodging_searches": 114775,</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"202609",</a:t>
            </a:r>
          </a:p>
          <a:p xmlns:a="http://schemas.openxmlformats.org/drawingml/2006/main">
            <a:r>
              <a:t>      "visitors": 3508574,</a:t>
            </a:r>
          </a:p>
          <a:p xmlns:a="http://schemas.openxmlformats.org/drawingml/2006/main">
            <a:r>
              <a:t>      "spending_krw": 128844309211,</a:t>
            </a:r>
          </a:p>
          <a:p xmlns:a="http://schemas.openxmlformats.org/drawingml/2006/main">
            <a:r>
              <a:t>      "previous_year_visitors": 3482583,</a:t>
            </a:r>
          </a:p>
          <a:p xmlns:a="http://schemas.openxmlformats.org/drawingml/2006/main">
            <a:r>
              <a:t>      "previous_year_spending_krw": 133843940000,</a:t>
            </a:r>
          </a:p>
          <a:p xmlns:a="http://schemas.openxmlformats.org/drawingml/2006/main">
            <a:r>
              <a:t>      "visitor_yoy_percent": 0.75,</a:t>
            </a:r>
          </a:p>
          <a:p xmlns:a="http://schemas.openxmlformats.org/drawingml/2006/main">
            <a:r>
              <a:t>      "spending_yoy_percent": -3.74,</a:t>
            </a:r>
          </a:p>
          <a:p xmlns:a="http://schemas.openxmlformats.org/drawingml/2006/main">
            <a:r>
              <a:t>      "lodging_nights": 3.04,</a:t>
            </a:r>
          </a:p>
          <a:p xmlns:a="http://schemas.openxmlformats.org/drawingml/2006/main">
            <a:r>
              <a:t>      "previous_year_lodging_nights": 3.04,</a:t>
            </a:r>
          </a:p>
          <a:p xmlns:a="http://schemas.openxmlformats.org/drawingml/2006/main">
            <a:r>
              <a:t>      "lodging_rate_pct": 21.3,</a:t>
            </a:r>
          </a:p>
          <a:p xmlns:a="http://schemas.openxmlformats.org/drawingml/2006/main">
            <a:r>
              <a:t>      "previous_year_lodging_rate_pct": 21.3,</a:t>
            </a:r>
          </a:p>
          <a:p xmlns:a="http://schemas.openxmlformats.org/drawingml/2006/main">
            <a:r>
              <a:t>      "stay_minutes": 2331.0,</a:t>
            </a:r>
          </a:p>
          <a:p xmlns:a="http://schemas.openxmlformats.org/drawingml/2006/main">
            <a:r>
              <a:t>      "previous_year_stay_minutes": 2331.0,</a:t>
            </a:r>
          </a:p>
          <a:p xmlns:a="http://schemas.openxmlformats.org/drawingml/2006/main">
            <a:r>
              <a:t>      "navigation_searches": 625924,</a:t>
            </a:r>
          </a:p>
          <a:p xmlns:a="http://schemas.openxmlformats.org/drawingml/2006/main">
            <a:r>
              <a:t>      "previous_year_navigation_searches": 625924,</a:t>
            </a:r>
          </a:p>
          <a:p xmlns:a="http://schemas.openxmlformats.org/drawingml/2006/main">
            <a:r>
              <a:t>      "lodging_searches": 83147,</a:t>
            </a:r>
          </a:p>
          <a:p xmlns:a="http://schemas.openxmlformats.org/drawingml/2006/main">
            <a:r>
              <a:t>      "previous_year_lodging_searches": 83147,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"202610",</a:t>
            </a:r>
          </a:p>
          <a:p xmlns:a="http://schemas.openxmlformats.org/drawingml/2006/main">
            <a:r>
              <a:t>      "visitors": 3615062,</a:t>
            </a:r>
          </a:p>
          <a:p xmlns:a="http://schemas.openxmlformats.org/drawingml/2006/main">
            <a:r>
              <a:t>      "spending_krw": 150467072839,</a:t>
            </a:r>
          </a:p>
          <a:p xmlns:a="http://schemas.openxmlformats.org/drawingml/2006/main">
            <a:r>
              <a:t>      "previous_year_visitors": 3904808,</a:t>
            </a:r>
          </a:p>
          <a:p xmlns:a="http://schemas.openxmlformats.org/drawingml/2006/main">
            <a:r>
              <a:t>      "previous_year_spending_krw": 154337552000,</a:t>
            </a:r>
          </a:p>
          <a:p xmlns:a="http://schemas.openxmlformats.org/drawingml/2006/main">
            <a:r>
              <a:t>      "visitor_yoy_percent": -7.42,</a:t>
            </a:r>
          </a:p>
          <a:p xmlns:a="http://schemas.openxmlformats.org/drawingml/2006/main">
            <a:r>
              <a:t>      "spending_yoy_percent": -2.51,</a:t>
            </a:r>
          </a:p>
          <a:p xmlns:a="http://schemas.openxmlformats.org/drawingml/2006/main">
            <a:r>
              <a:t>      "lodging_nights": 3.3,</a:t>
            </a:r>
          </a:p>
          <a:p xmlns:a="http://schemas.openxmlformats.org/drawingml/2006/main">
            <a:r>
              <a:t>      "previous_year_lodging_nights": 3.3,</a:t>
            </a:r>
          </a:p>
          <a:p xmlns:a="http://schemas.openxmlformats.org/drawingml/2006/main">
            <a:r>
              <a:t>      "lodging_rate_pct": 22.1,</a:t>
            </a:r>
          </a:p>
          <a:p xmlns:a="http://schemas.openxmlformats.org/drawingml/2006/main">
            <a:r>
              <a:t>      "previous_year_lodging_rate_pct": 22.1,</a:t>
            </a:r>
          </a:p>
          <a:p xmlns:a="http://schemas.openxmlformats.org/drawingml/2006/main">
            <a:r>
              <a:t>      "stay_minutes": 2601.0,</a:t>
            </a:r>
          </a:p>
          <a:p xmlns:a="http://schemas.openxmlformats.org/drawingml/2006/main">
            <a:r>
              <a:t>      "previous_year_stay_minutes": 2601.0,</a:t>
            </a:r>
          </a:p>
          <a:p xmlns:a="http://schemas.openxmlformats.org/drawingml/2006/main">
            <a:r>
              <a:t>      "navigation_searches": 1120126,</a:t>
            </a:r>
          </a:p>
          <a:p xmlns:a="http://schemas.openxmlformats.org/drawingml/2006/main">
            <a:r>
              <a:t>      "previous_year_navigation_searches": 1120126,</a:t>
            </a:r>
          </a:p>
          <a:p xmlns:a="http://schemas.openxmlformats.org/drawingml/2006/main">
            <a:r>
              <a:t>      "lodging_searches": 146458,</a:t>
            </a:r>
          </a:p>
          <a:p xmlns:a="http://schemas.openxmlformats.org/drawingml/2006/main">
            <a:r>
              <a:t>      "previous_year_lodging_searches": 146458,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"202611",</a:t>
            </a:r>
          </a:p>
          <a:p xmlns:a="http://schemas.openxmlformats.org/drawingml/2006/main">
            <a:r>
              <a:t>      "visitors": 3594310,</a:t>
            </a:r>
          </a:p>
          <a:p xmlns:a="http://schemas.openxmlformats.org/drawingml/2006/main">
            <a:r>
              <a:t>      "spending_krw": 145085139974,</a:t>
            </a:r>
          </a:p>
          <a:p xmlns:a="http://schemas.openxmlformats.org/drawingml/2006/main">
            <a:r>
              <a:t>      "previous_year_visitors": 3591286,</a:t>
            </a:r>
          </a:p>
          <a:p xmlns:a="http://schemas.openxmlformats.org/drawingml/2006/main">
            <a:r>
              <a:t>      "previous_year_spending_krw": 143894918000,</a:t>
            </a:r>
          </a:p>
          <a:p xmlns:a="http://schemas.openxmlformats.org/drawingml/2006/main">
            <a:r>
              <a:t>      "visitor_yoy_percent": 0.08,</a:t>
            </a:r>
          </a:p>
          <a:p xmlns:a="http://schemas.openxmlformats.org/drawingml/2006/main">
            <a:r>
              <a:t>      "spending_yoy_percent": 0.83,</a:t>
            </a:r>
          </a:p>
          <a:p xmlns:a="http://schemas.openxmlformats.org/drawingml/2006/main">
            <a:r>
              <a:t>      "lodging_nights": 3.0,</a:t>
            </a:r>
          </a:p>
          <a:p xmlns:a="http://schemas.openxmlformats.org/drawingml/2006/main">
            <a:r>
              <a:t>      "previous_year_lodging_nights": 3.0,</a:t>
            </a:r>
          </a:p>
          <a:p xmlns:a="http://schemas.openxmlformats.org/drawingml/2006/main">
            <a:r>
              <a:t>      "lodging_rate_pct": 22.0,</a:t>
            </a:r>
          </a:p>
          <a:p xmlns:a="http://schemas.openxmlformats.org/drawingml/2006/main">
            <a:r>
              <a:t>      "previous_year_lodging_rate_pct": 22.0,</a:t>
            </a:r>
          </a:p>
          <a:p xmlns:a="http://schemas.openxmlformats.org/drawingml/2006/main">
            <a:r>
              <a:t>      "stay_minutes": 2044.0,</a:t>
            </a:r>
          </a:p>
          <a:p xmlns:a="http://schemas.openxmlformats.org/drawingml/2006/main">
            <a:r>
              <a:t>      "previous_year_stay_minutes": 2044.0,</a:t>
            </a:r>
          </a:p>
          <a:p xmlns:a="http://schemas.openxmlformats.org/drawingml/2006/main">
            <a:r>
              <a:t>      "navigation_searches": 657481,</a:t>
            </a:r>
          </a:p>
          <a:p xmlns:a="http://schemas.openxmlformats.org/drawingml/2006/main">
            <a:r>
              <a:t>      "previous_year_navigation_searches": 657481,</a:t>
            </a:r>
          </a:p>
          <a:p xmlns:a="http://schemas.openxmlformats.org/drawingml/2006/main">
            <a:r>
              <a:t>      "lodging_searches": 87867,</a:t>
            </a:r>
          </a:p>
          <a:p xmlns:a="http://schemas.openxmlformats.org/drawingml/2006/main">
            <a:r>
              <a:t>      "previous_year_lodging_searches": 87867,</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"month": "202612",</a:t>
            </a:r>
          </a:p>
          <a:p xmlns:a="http://schemas.openxmlformats.org/drawingml/2006/main">
            <a:r>
              <a:t>      "visitors": 3370793,</a:t>
            </a:r>
          </a:p>
          <a:p xmlns:a="http://schemas.openxmlformats.org/drawingml/2006/main">
            <a:r>
              <a:t>      "spending_krw": 149366639508,</a:t>
            </a:r>
          </a:p>
          <a:p xmlns:a="http://schemas.openxmlformats.org/drawingml/2006/main">
            <a:r>
              <a:t>      "previous_year_visitors": 3410959,</a:t>
            </a:r>
          </a:p>
          <a:p xmlns:a="http://schemas.openxmlformats.org/drawingml/2006/main">
            <a:r>
              <a:t>      "previous_year_spending_krw": 148223154000,</a:t>
            </a:r>
          </a:p>
          <a:p xmlns:a="http://schemas.openxmlformats.org/drawingml/2006/main">
            <a:r>
              <a:t>      "visitor_yoy_percent": -1.18,</a:t>
            </a:r>
          </a:p>
          <a:p xmlns:a="http://schemas.openxmlformats.org/drawingml/2006/main">
            <a:r>
              <a:t>      "spending_yoy_percent": 0.77,</a:t>
            </a:r>
          </a:p>
          <a:p xmlns:a="http://schemas.openxmlformats.org/drawingml/2006/main">
            <a:r>
              <a:t>      "lodging_nights": 3.03,</a:t>
            </a:r>
          </a:p>
          <a:p xmlns:a="http://schemas.openxmlformats.org/drawingml/2006/main">
            <a:r>
              <a:t>      "previous_year_lodging_nights": 3.03,</a:t>
            </a:r>
          </a:p>
          <a:p xmlns:a="http://schemas.openxmlformats.org/drawingml/2006/main">
            <a:r>
              <a:t>      "lodging_rate_pct": 22.3,</a:t>
            </a:r>
          </a:p>
          <a:p xmlns:a="http://schemas.openxmlformats.org/drawingml/2006/main">
            <a:r>
              <a:t>      "previous_year_lodging_rate_pct": 22.3,</a:t>
            </a:r>
          </a:p>
          <a:p xmlns:a="http://schemas.openxmlformats.org/drawingml/2006/main">
            <a:r>
              <a:t>      "stay_minutes": 2289.0,</a:t>
            </a:r>
          </a:p>
          <a:p xmlns:a="http://schemas.openxmlformats.org/drawingml/2006/main">
            <a:r>
              <a:t>      "previous_year_stay_minutes": 2289.0,</a:t>
            </a:r>
          </a:p>
          <a:p xmlns:a="http://schemas.openxmlformats.org/drawingml/2006/main">
            <a:r>
              <a:t>      "navigation_searches": 556973,</a:t>
            </a:r>
          </a:p>
          <a:p xmlns:a="http://schemas.openxmlformats.org/drawingml/2006/main">
            <a:r>
              <a:t>      "previous_year_navigation_searches": 556973,</a:t>
            </a:r>
          </a:p>
          <a:p xmlns:a="http://schemas.openxmlformats.org/drawingml/2006/main">
            <a:r>
              <a:t>      "lodging_searches": 75858,</a:t>
            </a:r>
          </a:p>
          <a:p xmlns:a="http://schemas.openxmlformats.org/drawingml/2006/main">
            <a:r>
              <a:t>      "previous_year_lodging_searches": 75858,</a:t>
            </a:r>
          </a:p>
          <a:p xmlns:a="http://schemas.openxmlformats.org/drawingml/2006/main">
            <a:r>
              <a:t>      "metric_changes_percent": {</a:t>
            </a:r>
          </a:p>
          <a:p xmlns:a="http://schemas.openxmlformats.org/drawingml/2006/main">
            <a:r>
              <a:t>        "lodging_nights": 0.0,</a:t>
            </a:r>
          </a:p>
          <a:p xmlns:a="http://schemas.openxmlformats.org/drawingml/2006/main">
            <a:r>
              <a:t>        "lodging_rate_pct": 0.0,</a:t>
            </a:r>
          </a:p>
          <a:p xmlns:a="http://schemas.openxmlformats.org/drawingml/2006/main">
            <a:r>
              <a:t>        "stay_minutes": 0.0,</a:t>
            </a:r>
          </a:p>
          <a:p xmlns:a="http://schemas.openxmlformats.org/drawingml/2006/main">
            <a:r>
              <a:t>        "navigation_searches": 0.0,</a:t>
            </a:r>
          </a:p>
          <a:p xmlns:a="http://schemas.openxmlformats.org/drawingml/2006/main">
            <a:r>
              <a:t>        "lodging_searches": 0.0</a:t>
            </a:r>
          </a:p>
          <a:p xmlns:a="http://schemas.openxmlformats.org/drawingml/2006/main">
            <a:r>
              <a:t>      },</a:t>
            </a:r>
          </a:p>
          <a:p xmlns:a="http://schemas.openxmlformats.org/drawingml/2006/main">
            <a:r>
              <a:t>      "is_forecast": true</a:t>
            </a:r>
          </a:p>
          <a:p xmlns:a="http://schemas.openxmlformats.org/drawingml/2006/main">
            <a:r>
              <a:t>    }</a:t>
            </a:r>
          </a:p>
          <a:p xmlns:a="http://schemas.openxmlformats.org/drawingml/2006/main">
            <a:r>
              <a:t>  ],</a:t>
            </a:r>
          </a:p>
          <a:p xmlns:a="http://schemas.openxmlformats.org/drawingml/2006/main">
            <a:r>
              <a:t>  "evaluation": {</a:t>
            </a:r>
          </a:p>
          <a:p xmlns:a="http://schemas.openxmlformats.org/drawingml/2006/main">
            <a:r>
              <a:t>    "validation_period": "202512~202602",</a:t>
            </a:r>
          </a:p>
          <a:p xmlns:a="http://schemas.openxmlformats.org/drawingml/2006/main">
            <a:r>
              <a:t>    "test_period": "202603~202606",</a:t>
            </a:r>
          </a:p>
          <a:p xmlns:a="http://schemas.openxmlformats.org/drawingml/2006/main">
            <a:r>
              <a:t>    "selection_basis": "validation_mae_only",</a:t>
            </a:r>
          </a:p>
          <a:p xmlns:a="http://schemas.openxmlformats.org/drawingml/2006/main">
            <a:r>
              <a:t>    "recursive_backtest_horizon_months": [</a:t>
            </a:r>
          </a:p>
          <a:p xmlns:a="http://schemas.openxmlformats.org/drawingml/2006/main">
            <a:r>
              <a:t>      1,</a:t>
            </a:r>
          </a:p>
          <a:p xmlns:a="http://schemas.openxmlformats.org/drawingml/2006/main">
            <a:r>
              <a:t>      2,</a:t>
            </a:r>
          </a:p>
          <a:p xmlns:a="http://schemas.openxmlformats.org/drawingml/2006/main">
            <a:r>
              <a:t>      3</a:t>
            </a:r>
          </a:p>
          <a:p xmlns:a="http://schemas.openxmlformats.org/drawingml/2006/main">
            <a:r>
              <a:t>    ],</a:t>
            </a:r>
          </a:p>
          <a:p xmlns:a="http://schemas.openxmlformats.org/drawingml/2006/main">
            <a:r>
              <a:t>    "forecast_horizon_months": 6,</a:t>
            </a:r>
          </a:p>
          <a:p xmlns:a="http://schemas.openxmlformats.org/drawingml/2006/main">
            <a:r>
              <a:t>    "longer_horizon_status": "exploratory_not_recursively_backtested",</a:t>
            </a:r>
          </a:p>
          <a:p xmlns:a="http://schemas.openxmlformats.org/drawingml/2006/main">
            <a:r>
              <a:t>    "metrics": {</a:t>
            </a:r>
          </a:p>
          <a:p xmlns:a="http://schemas.openxmlformats.org/drawingml/2006/main">
            <a:r>
              <a:t>      "visitors": {</a:t>
            </a:r>
          </a:p>
          <a:p xmlns:a="http://schemas.openxmlformats.org/drawingml/2006/main">
            <a:r>
              <a:t>        "selected_model": "RandomForestRegressor",</a:t>
            </a:r>
          </a:p>
          <a:p xmlns:a="http://schemas.openxmlformats.org/drawingml/2006/main">
            <a:r>
              <a:t>        "test_mae": 183762.22,</a:t>
            </a:r>
          </a:p>
          <a:p xmlns:a="http://schemas.openxmlformats.org/drawingml/2006/main">
            <a:r>
              <a:t>        "baseline_test_mae": 219359.25,</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"1"</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265459.0,</a:t>
            </a:r>
          </a:p>
          <a:p xmlns:a="http://schemas.openxmlformats.org/drawingml/2006/main">
            <a:r>
              <a:t>            "baseline": 141219.0,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136814.0,</a:t>
            </a:r>
          </a:p>
          <a:p xmlns:a="http://schemas.openxmlformats.org/drawingml/2006/main">
            <a:r>
              <a:t>            "baseline": 144459.5,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180437.5,</a:t>
            </a:r>
          </a:p>
          <a:p xmlns:a="http://schemas.openxmlformats.org/drawingml/2006/main">
            <a:r>
              <a:t>            "baseline": 297499.5,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"spending_krw": {</a:t>
            </a:r>
          </a:p>
          <a:p xmlns:a="http://schemas.openxmlformats.org/drawingml/2006/main">
            <a:r>
              <a:t>        "selected_model": "LinearRegression",</a:t>
            </a:r>
          </a:p>
          <a:p xmlns:a="http://schemas.openxmlformats.org/drawingml/2006/main">
            <a:r>
              <a:t>        "test_mae": 7866027889.97,</a:t>
            </a:r>
          </a:p>
          <a:p xmlns:a="http://schemas.openxmlformats.org/drawingml/2006/main">
            <a:r>
              <a:t>        "baseline_test_mae": 8640464250.0,</a:t>
            </a:r>
          </a:p>
          <a:p xmlns:a="http://schemas.openxmlformats.org/drawingml/2006/main">
            <a:r>
              <a:t>        "beats_baseline_on_test": true,</a:t>
            </a:r>
          </a:p>
          <a:p xmlns:a="http://schemas.openxmlformats.org/drawingml/2006/main">
            <a:r>
              <a:t>        "model_reliability": "mixed_recursive_performance",</a:t>
            </a:r>
          </a:p>
          <a:p xmlns:a="http://schemas.openxmlformats.org/drawingml/2006/main">
            <a:r>
              <a:t>        "recursive_horizons_worse_than_baseline": [</a:t>
            </a:r>
          </a:p>
          <a:p xmlns:a="http://schemas.openxmlformats.org/drawingml/2006/main">
            <a:r>
              <a:t>          "3"</a:t>
            </a:r>
          </a:p>
          <a:p xmlns:a="http://schemas.openxmlformats.org/drawingml/2006/main">
            <a:r>
              <a:t>        ],</a:t>
            </a:r>
          </a:p>
          <a:p xmlns:a="http://schemas.openxmlformats.org/drawingml/2006/main">
            <a:r>
              <a:t>        "recursive_mae": {</a:t>
            </a:r>
          </a:p>
          <a:p xmlns:a="http://schemas.openxmlformats.org/drawingml/2006/main">
            <a:r>
              <a:t>          "1": {</a:t>
            </a:r>
          </a:p>
          <a:p xmlns:a="http://schemas.openxmlformats.org/drawingml/2006/main">
            <a:r>
              <a:t>            "selected": 5070058833.0,</a:t>
            </a:r>
          </a:p>
          <a:p xmlns:a="http://schemas.openxmlformats.org/drawingml/2006/main">
            <a:r>
              <a:t>            "baseline": 11633402000.0,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2754801694.5,</a:t>
            </a:r>
          </a:p>
          <a:p xmlns:a="http://schemas.openxmlformats.org/drawingml/2006/main">
            <a:r>
              <a:t>            "baseline": 5588447000.0,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11586732430.5,</a:t>
            </a:r>
          </a:p>
          <a:p xmlns:a="http://schemas.openxmlformats.org/drawingml/2006/main">
            <a:r>
              <a:t>            "baseline": 5647526500.0,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"lodging_nights": {</a:t>
            </a:r>
          </a:p>
          <a:p xmlns:a="http://schemas.openxmlformats.org/drawingml/2006/main">
            <a:r>
              <a:t>        "selected_model": "seasonal_naive_previous_year_same_month",</a:t>
            </a:r>
          </a:p>
          <a:p xmlns:a="http://schemas.openxmlformats.org/drawingml/2006/main">
            <a:r>
              <a:t>        "test_mae": 0.03,</a:t>
            </a:r>
          </a:p>
          <a:p xmlns:a="http://schemas.openxmlformats.org/drawingml/2006/main">
            <a:r>
              <a:t>        "baseline_test_mae": 0.03,</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0.02,</a:t>
            </a:r>
          </a:p>
          <a:p xmlns:a="http://schemas.openxmlformats.org/drawingml/2006/main">
            <a:r>
              <a:t>            "baseline": 0.02,</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0.04,</a:t>
            </a:r>
          </a:p>
          <a:p xmlns:a="http://schemas.openxmlformats.org/drawingml/2006/main">
            <a:r>
              <a:t>            "baseline": 0.04,</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"lodging_rate_pct": {</a:t>
            </a:r>
          </a:p>
          <a:p xmlns:a="http://schemas.openxmlformats.org/drawingml/2006/main">
            <a:r>
              <a:t>        "selected_model": "seasonal_naive_previous_year_same_month",</a:t>
            </a:r>
          </a:p>
          <a:p xmlns:a="http://schemas.openxmlformats.org/drawingml/2006/main">
            <a:r>
              <a:t>        "test_mae": 0.5,</a:t>
            </a:r>
          </a:p>
          <a:p xmlns:a="http://schemas.openxmlformats.org/drawingml/2006/main">
            <a:r>
              <a:t>        "baseline_test_mae": 0.5,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0.7,</a:t>
            </a:r>
          </a:p>
          <a:p xmlns:a="http://schemas.openxmlformats.org/drawingml/2006/main">
            <a:r>
              <a:t>            "baseline": 0.7,</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0.55,</a:t>
            </a:r>
          </a:p>
          <a:p xmlns:a="http://schemas.openxmlformats.org/drawingml/2006/main">
            <a:r>
              <a:t>            "baseline": 0.55,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0.3,</a:t>
            </a:r>
          </a:p>
          <a:p xmlns:a="http://schemas.openxmlformats.org/drawingml/2006/main">
            <a:r>
              <a:t>            "baseline": 0.3,</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"stay_minutes": {</a:t>
            </a:r>
          </a:p>
          <a:p xmlns:a="http://schemas.openxmlformats.org/drawingml/2006/main">
            <a:r>
              <a:t>        "selected_model": "seasonal_naive_previous_year_same_month",</a:t>
            </a:r>
          </a:p>
          <a:p xmlns:a="http://schemas.openxmlformats.org/drawingml/2006/main">
            <a:r>
              <a:t>        "test_mae": 138.75,</a:t>
            </a:r>
          </a:p>
          <a:p xmlns:a="http://schemas.openxmlformats.org/drawingml/2006/main">
            <a:r>
              <a:t>        "baseline_test_mae": 138.75,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41.0,</a:t>
            </a:r>
          </a:p>
          <a:p xmlns:a="http://schemas.openxmlformats.org/drawingml/2006/main">
            <a:r>
              <a:t>            "baseline": 41.0,</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208.5,</a:t>
            </a:r>
          </a:p>
          <a:p xmlns:a="http://schemas.openxmlformats.org/drawingml/2006/main">
            <a:r>
              <a:t>            "baseline": 208.5,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236.5,</a:t>
            </a:r>
          </a:p>
          <a:p xmlns:a="http://schemas.openxmlformats.org/drawingml/2006/main">
            <a:r>
              <a:t>            "baseline": 236.5,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"navigation_searches": {</a:t>
            </a:r>
          </a:p>
          <a:p xmlns:a="http://schemas.openxmlformats.org/drawingml/2006/main">
            <a:r>
              <a:t>        "selected_model": "seasonal_naive_previous_year_same_month",</a:t>
            </a:r>
          </a:p>
          <a:p xmlns:a="http://schemas.openxmlformats.org/drawingml/2006/main">
            <a:r>
              <a:t>        "test_mae": 29189.5,</a:t>
            </a:r>
          </a:p>
          <a:p xmlns:a="http://schemas.openxmlformats.org/drawingml/2006/main">
            <a:r>
              <a:t>        "baseline_test_mae": 29189.5,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11165.5,</a:t>
            </a:r>
          </a:p>
          <a:p xmlns:a="http://schemas.openxmlformats.org/drawingml/2006/main">
            <a:r>
              <a:t>            "baseline": 11165.5,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19541.0,</a:t>
            </a:r>
          </a:p>
          <a:p xmlns:a="http://schemas.openxmlformats.org/drawingml/2006/main">
            <a:r>
              <a:t>            "baseline": 19541.0,</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47213.5,</a:t>
            </a:r>
          </a:p>
          <a:p xmlns:a="http://schemas.openxmlformats.org/drawingml/2006/main">
            <a:r>
              <a:t>            "baseline": 47213.5,</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"lodging_searches": {</a:t>
            </a:r>
          </a:p>
          <a:p xmlns:a="http://schemas.openxmlformats.org/drawingml/2006/main">
            <a:r>
              <a:t>        "selected_model": "seasonal_naive_previous_year_same_month",</a:t>
            </a:r>
          </a:p>
          <a:p xmlns:a="http://schemas.openxmlformats.org/drawingml/2006/main">
            <a:r>
              <a:t>        "test_mae": 5915.25,</a:t>
            </a:r>
          </a:p>
          <a:p xmlns:a="http://schemas.openxmlformats.org/drawingml/2006/main">
            <a:r>
              <a:t>        "baseline_test_mae": 5915.25,</a:t>
            </a:r>
          </a:p>
          <a:p xmlns:a="http://schemas.openxmlformats.org/drawingml/2006/main">
            <a:r>
              <a:t>        "beats_baseline_on_test": false,</a:t>
            </a:r>
          </a:p>
          <a:p xmlns:a="http://schemas.openxmlformats.org/drawingml/2006/main">
            <a:r>
              <a:t>        "model_reliability": "seasonal_baseline",</a:t>
            </a:r>
          </a:p>
          <a:p xmlns:a="http://schemas.openxmlformats.org/drawingml/2006/main">
            <a:r>
              <a:t>        "recursive_horizons_worse_than_baseline": [],</a:t>
            </a:r>
          </a:p>
          <a:p xmlns:a="http://schemas.openxmlformats.org/drawingml/2006/main">
            <a:r>
              <a:t>        "recursive_mae": {</a:t>
            </a:r>
          </a:p>
          <a:p xmlns:a="http://schemas.openxmlformats.org/drawingml/2006/main">
            <a:r>
              <a:t>          "1": {</a:t>
            </a:r>
          </a:p>
          <a:p xmlns:a="http://schemas.openxmlformats.org/drawingml/2006/main">
            <a:r>
              <a:t>            "selected": 2259.5,</a:t>
            </a:r>
          </a:p>
          <a:p xmlns:a="http://schemas.openxmlformats.org/drawingml/2006/main">
            <a:r>
              <a:t>            "baseline": 2259.5,</a:t>
            </a:r>
          </a:p>
          <a:p xmlns:a="http://schemas.openxmlformats.org/drawingml/2006/main">
            <a:r>
              <a:t>            "sample_count": 2</a:t>
            </a:r>
          </a:p>
          <a:p xmlns:a="http://schemas.openxmlformats.org/drawingml/2006/main">
            <a:r>
              <a:t>          },</a:t>
            </a:r>
          </a:p>
          <a:p xmlns:a="http://schemas.openxmlformats.org/drawingml/2006/main">
            <a:r>
              <a:t>          "2": {</a:t>
            </a:r>
          </a:p>
          <a:p xmlns:a="http://schemas.openxmlformats.org/drawingml/2006/main">
            <a:r>
              <a:t>            "selected": 5253.5,</a:t>
            </a:r>
          </a:p>
          <a:p xmlns:a="http://schemas.openxmlformats.org/drawingml/2006/main">
            <a:r>
              <a:t>            "baseline": 5253.5,</a:t>
            </a:r>
          </a:p>
          <a:p xmlns:a="http://schemas.openxmlformats.org/drawingml/2006/main">
            <a:r>
              <a:t>            "sample_count": 2</a:t>
            </a:r>
          </a:p>
          <a:p xmlns:a="http://schemas.openxmlformats.org/drawingml/2006/main">
            <a:r>
              <a:t>          },</a:t>
            </a:r>
          </a:p>
          <a:p xmlns:a="http://schemas.openxmlformats.org/drawingml/2006/main">
            <a:r>
              <a:t>          "3": {</a:t>
            </a:r>
          </a:p>
          <a:p xmlns:a="http://schemas.openxmlformats.org/drawingml/2006/main">
            <a:r>
              <a:t>            "selected": 9571.0,</a:t>
            </a:r>
          </a:p>
          <a:p xmlns:a="http://schemas.openxmlformats.org/drawingml/2006/main">
            <a:r>
              <a:t>            "baseline": 9571.0,</a:t>
            </a:r>
          </a:p>
          <a:p xmlns:a="http://schemas.openxmlformats.org/drawingml/2006/main">
            <a:r>
              <a:t>            "sample_count": 2</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a:t>
            </a:r>
          </a:p>
          <a:p xmlns:a="http://schemas.openxmlformats.org/drawingml/2006/main">
            <a:r>
              <a:t>  "execution_scenario": {</a:t>
            </a:r>
          </a:p>
          <a:p xmlns:a="http://schemas.openxmlformats.org/drawingml/2006/main">
            <a:r>
              <a:t>    "visitor_target_pct": 5.0,</a:t>
            </a:r>
          </a:p>
          <a:p xmlns:a="http://schemas.openxmlformats.org/drawingml/2006/main">
            <a:r>
              <a:t>    "spending_target_pct": 5.0</a:t>
            </a:r>
          </a:p>
          <a:p xmlns:a="http://schemas.openxmlformats.org/drawingml/2006/main">
            <a:r>
              <a:t>  },</a:t>
            </a:r>
          </a:p>
          <a:p xmlns:a="http://schemas.openxmlformats.org/drawingml/2006/main">
            <a:r>
              <a:t>  "reference_estimate": {</a:t>
            </a:r>
          </a:p>
          <a:p xmlns:a="http://schemas.openxmlformats.org/drawingml/2006/main">
            <a:r>
              <a:t>    "status": "saved_report_budget",</a:t>
            </a:r>
          </a:p>
          <a:p xmlns:a="http://schemas.openxmlformats.org/drawingml/2006/main">
            <a:r>
              <a:t>    "total_label": "총액 미확정",</a:t>
            </a:r>
          </a:p>
          <a:p xmlns:a="http://schemas.openxmlformats.org/drawingml/2006/main">
            <a:r>
              <a:t>    "rows": [</a:t>
            </a:r>
          </a:p>
          <a:p xmlns:a="http://schemas.openxmlformats.org/drawingml/2006/main">
            <a:r>
              <a:t>      [</a:t>
            </a:r>
          </a:p>
          <a:p xmlns:a="http://schemas.openxmlformats.org/drawingml/2006/main">
            <a:r>
              <a:t>        "산정 내역 1",</a:t>
            </a:r>
          </a:p>
          <a:p xmlns:a="http://schemas.openxmlformats.org/drawingml/2006/main">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"본문 기준"</a:t>
            </a:r>
          </a:p>
          <a:p xmlns:a="http://schemas.openxmlformats.org/drawingml/2006/main">
            <a:r>
              <a:t>      ]</a:t>
            </a:r>
          </a:p>
          <a:p xmlns:a="http://schemas.openxmlformats.org/drawingml/2006/main">
            <a:r>
              <a:t>    ],</a:t>
            </a:r>
          </a:p>
          <a:p xmlns:a="http://schemas.openxmlformats.org/drawingml/2006/main">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xmlns:a="http://schemas.openxmlformats.org/drawingml/2006/main">
            <a:r>
              <a:t>    "sources": [],</a:t>
            </a:r>
          </a:p>
          <a:p xmlns:a="http://schemas.openxmlformats.org/drawingml/2006/main">
            <a:r>
              <a:t>    "note": "저장 기획안의 예산 산정 내용을 그대로 표시합니다. 확정 견적이 아니며 계약 전 수량·단가·세금과 합계를 확인합니다."</a:t>
            </a:r>
          </a:p>
          <a:p xmlns:a="http://schemas.openxmlformats.org/drawingml/2006/main">
            <a:r>
              <a:t>  }</a:t>
            </a:r>
          </a:p>
          <a:p xmlns:a="http://schemas.openxmlformats.org/drawingml/2006/main">
            <a:r>
              <a:t>}</a:t>
            </a:r>
          </a:p>
          <a:p xmlns:a="http://schemas.openxmlformats.org/drawingml/2006/main">
            <a:r>
              <a:t>표지 사진 출처: {"source_id": "tour-api:2791433", "source_type": "open_api", "title": "고내포구", "source_url": "https://apis.data.go.kr/B551011/KorService2", "content_id": "2791433", "content_type_id": "12", "address": "제주특별자치도 제주시 애월읍 고내리 1111-4", "image_url": "http://tong.visitkorea.or.kr/cms/resource/19/3589219_image2_1.jpg", "summary": "한국관광공사 국문관광정보 API가 반환한 선택 지역 관광자원"}</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관측값·저장 예측·계획 목표는 별개입니다. 문서용 참고 견적이며 원 보고서의 검수 결과를 변경하지 않습니다.</a:t>
            </a:r>
          </a:p>
          <a:p>
            <a:r>
              <a:t>[Sources]</a:t>
            </a:r>
          </a:p>
          <a:p>
            <a:r>
              <a:t>dataset:50110:1 | 한국관광 데이터랩 · 제주특별자치도 제주시 순 방문자 수 및 숙박 비율 (이동통신 기반 외지인) | https://datalab.visitkorea.or.kr/</a:t>
            </a:r>
          </a:p>
          <a:p>
            <a:r>
              <a:t>dataset:50110:2 | 한국관광 데이터랩 · 제주특별자치도 제주시 월간 순 방문자 수 (이동통신 기반 외지인) | https://datalab.visitkorea.or.kr/</a:t>
            </a:r>
          </a:p>
          <a:p>
            <a:r>
              <a:t>dataset:50110:3 | 한국관광 데이터랩 · 제주특별자치도 제주시 관광소비 추이_외지인 | https://datalab.visitkorea.or.kr/</a:t>
            </a:r>
          </a:p>
          <a:p>
            <a:r>
              <a:t>dataset:50110:4 | 한국관광 데이터랩 · 제주특별자치도 제주시 숙박방문자 비율 추이 (이동통신 기반 외지인) | https://datalab.visitkorea.or.kr/</a:t>
            </a:r>
          </a:p>
          <a:p>
            <a:r>
              <a:t>dataset:50110:5 | 한국관광 데이터랩 · 제주특별자치도 제주시 평균 숙박일 (이동통신 기반 외지인) | https://datalab.visitkorea.or.kr/</a:t>
            </a:r>
          </a:p>
          <a:p>
            <a:r>
              <a:t>dataset:50110:6 | 한국관광 데이터랩 · 제주특별자치도 제주시 내비게이션 목적지 유형별 검색량 | https://datalab.visitkorea.or.kr/</a:t>
            </a:r>
          </a:p>
          <a:p>
            <a:r>
              <a:t>dataset:50110:7 | 한국관광 데이터랩 · 제주특별자치도 제주시 SNS 언급량 | https://datalab.visitkorea.or.kr/</a:t>
            </a:r>
          </a:p>
          <a:p>
            <a:r>
              <a:t>datalab:3ec866bde028:27b141591f10 | 한국관광 데이터랩 공식 다운로드 · 제주특별자치도_제주시/방문자/2026_01_06.zip | https://datalab.visitkorea.or.kr/</a:t>
            </a:r>
          </a:p>
          <a:p>
            <a:r>
              <a:t>datalab:4833a91757b2:5c2efa032440 | 한국관광 데이터랩 공식 다운로드 · 제주특별자치도_제주시/숙박_체류시간/2026_01_06.zip | https://datalab.visitkorea.or.kr/</a:t>
            </a:r>
          </a:p>
          <a:p>
            <a:r>
              <a:t>datalab:5d9f73f9fe47:2904d99e7279 | 한국관광 데이터랩 공식 다운로드 · 제주특별자치도_제주시/숙박_체류시간/2025_01_12.zip | https://datalab.visitkorea.or.kr/</a:t>
            </a:r>
          </a:p>
          <a:p>
            <a:r>
              <a:t>datalab:95122c38b4fc:522e2d839300 | 한국관광 데이터랩 공식 다운로드 · 제주특별자치도_제주시/관광소비/2026_01_06.zip | https://datalab.visitkorea.or.kr/</a:t>
            </a:r>
          </a:p>
          <a:p>
            <a:r>
              <a:t>datalab:d73227708014:f4517115deb9 | 한국관광 데이터랩 공식 다운로드 · 제주특별자치도_제주시/방문자/2025_01_12.zip | https://datalab.visitkorea.or.kr/</a:t>
            </a:r>
          </a:p>
          <a:p>
            <a:r>
              <a:t>datalab:f07ad8a73d99:ed1b998de1b3 | 한국관광 데이터랩 공식 다운로드 · 제주특별자치도_제주시/관광소비/2025_01_12.zip | https://datalab.visitkorea.or.kr/</a:t>
            </a:r>
          </a:p>
          <a:p>
            <a:r>
              <a:t>team-bigdata:23ea68053684:6bfbcf8aabf6 | 한국관광 데이터랩 전국 빅데이터 다운로드 · 이동통신/내국인/지역별 방문자수/20260820140607__202601-202606_데이터랩_다운로드.zip | https://datalab.visitkorea.or.kr/</a:t>
            </a:r>
          </a:p>
          <a:p>
            <a:r>
              <a:t>team-bigdata:98d4ae590d9a:3be52dd54323 | 한국관광 데이터랩 전국 빅데이터 다운로드 · 이동통신/외국인/20260820141710_전국_202601-202606_데이터랩_다운로드.zip | https://datalab.visitkorea.or.kr/</a:t>
            </a:r>
          </a:p>
          <a:p>
            <a:r>
              <a:t>team-bigdata:367cd0294ec4:873930d645e5 | 한국관광 데이터랩 전국 빅데이터 다운로드 · 신용카드/내국인/지역별 관광지출액/20260820140046__202601-202606_데이터랩_다운로드.zip | https://datalab.visitkorea.or.kr/</a:t>
            </a:r>
          </a:p>
          <a:p>
            <a:r>
              <a:t>team-bigdata:553a0dad4bb4:5a31355dffe8 | 한국관광 데이터랩 전국 빅데이터 다운로드 · 신용카드/외국인/지역별 관광지출액/20260820140355__202601-202606_데이터랩_다운로드.zip | https://datalab.visitkorea.or.kr/</a:t>
            </a:r>
          </a:p>
          <a:p>
            <a:r>
              <a:t>team-bigdata:a53dbe1c21df:77a052de41d5 | 한국관광 데이터랩 전국 빅데이터 다운로드 · 네비게이션/지역별 검색건수/20260820195507__202601-202606_데이터랩_다운로드.zip | https://datalab.visitkorea.or.kr/</a:t>
            </a:r>
          </a:p>
          <a:p>
            <a:r>
              <a:t>team-bigdata:823a38d1d61c:5385261d02e5 | 한국관광 데이터랩 전국 빅데이터 다운로드 · 이동통신/내국인/지역별 방문자수/20260820140614__202501-202512_데이터랩_다운로드.zip | https://datalab.visitkorea.or.kr/</a:t>
            </a:r>
          </a:p>
          <a:p>
            <a:r>
              <a:t>team-bigdata:2723bdb0d589:1666a34058ed | 한국관광 데이터랩 전국 빅데이터 다운로드 · 이동통신/외국인/20260820141649_전국_202501-202512_데이터랩_다운로드.zip | https://datalab.visitkorea.or.kr/</a:t>
            </a:r>
          </a:p>
          <a:p>
            <a:r>
              <a:t>team-bigdata:83177a234971:c02cb7972e0f | 한국관광 데이터랩 전국 빅데이터 다운로드 · 신용카드/내국인/지역별 관광지출액/20260820135957__202501-202512_데이터랩_다운로드.zip | https://datalab.visitkorea.or.kr/</a:t>
            </a:r>
          </a:p>
          <a:p>
            <a:r>
              <a:t>team-bigdata:58ded7732251:589c76395cbc | 한국관광 데이터랩 전국 빅데이터 다운로드 · 신용카드/외국인/지역별 관광지출액/20260820140409__202501-202512_데이터랩_다운로드.zip | https://datalab.visitkorea.or.kr/</a:t>
            </a:r>
          </a:p>
          <a:p>
            <a:r>
              <a:t>team-bigdata:e28c947cb52f:bb4cb344a6ba | 한국관광 데이터랩 전국 빅데이터 다운로드 · 네비게이션/지역별 검색건수/20260820132007__202501-202512_데이터랩_다운로드.zip | https://datalab.visitkorea.or.kr/</a:t>
            </a:r>
          </a:p>
          <a:p>
            <a:r>
              <a:t>team-bigdata:8815bbb11a39:1a5988f5f8ec | 한국관광 데이터랩 전국 빅데이터 다운로드 · 이동통신/내국인/지역별 방문자수/20260820140624__202401-202412_데이터랩_다운로드.zip | https://datalab.visitkorea.or.kr/</a:t>
            </a:r>
          </a:p>
          <a:p>
            <a:r>
              <a:t>team-bigdata:19fd67fbb73d:afa4f0f54a2f | 한국관광 데이터랩 전국 빅데이터 다운로드 · 이동통신/외국인/20260820141639_전국_202401-202412_데이터랩_다운로드.zip | https://datalab.visitkorea.or.kr/</a:t>
            </a:r>
          </a:p>
          <a:p>
            <a:r>
              <a:t>regional-status:9ac27e83f27b:e998409010f6 | 한국관광 데이터랩 지역별 관광 현황 · 제주특별자치도 제주시 · 유입유출 | https://datalab.visitkorea.or.kr/</a:t>
            </a:r>
          </a:p>
          <a:p>
            <a:r>
              <a:t>regional-status:daecd5ff8069:00c8b971be40 | 한국관광 데이터랩 지역별 관광 현황 · 제주특별자치도 제주시 · 인기관광지 | https://datalab.visitkorea.or.kr/</a:t>
            </a:r>
          </a:p>
          <a:p>
            <a:r>
              <a:t>regional-status:dd0eaa9c763f:3aadcdcac2c5 | 한국관광 데이터랩 지역별 관광 현황 · 제주특별자치도 제주시 · 지역집중률 | https://datalab.visitkorea.or.kr/</a:t>
            </a:r>
          </a:p>
          <a:p>
            <a:r>
              <a:t>ml:50110:regional-demand-v3.1:202606 | 지역 관광수요 ML 전망 · 공식 관측값 아님 | URL 미기록</a:t>
            </a:r>
          </a:p>
          <a:p>
            <a:r>
              <a:t>tour-api:2850913 | 가는곶 세화 | https://apis.data.go.kr/B551011/KorService2</a:t>
            </a:r>
          </a:p>
          <a:p>
            <a:r>
              <a:t>tour-api:1884191 | 가마오름 | https://apis.data.go.kr/B551011/KorService2</a:t>
            </a:r>
          </a:p>
          <a:p>
            <a:r>
              <a:t>tour-api:1884521 | 가새기오름 | https://apis.data.go.kr/B551011/KorService2</a:t>
            </a:r>
          </a:p>
          <a:p>
            <a:r>
              <a:t>tour-api:2837181 | 가시어멍김밥 | https://apis.data.go.kr/B551011/KorService2</a:t>
            </a:r>
          </a:p>
          <a:p>
            <a:r>
              <a:t>tour-api:2853435 | 갈치공장 | https://apis.data.go.kr/B551011/KorService2</a:t>
            </a:r>
          </a:p>
          <a:p>
            <a:r>
              <a:t>tour-api:1889809 | 개오리오름 | https://apis.data.go.kr/B551011/KorService2</a:t>
            </a:r>
          </a:p>
          <a:p>
            <a:r>
              <a:t>tour-api:1918646 | 거슨새미오름 | https://apis.data.go.kr/B551011/KorService2</a:t>
            </a:r>
          </a:p>
          <a:p>
            <a:r>
              <a:t>tour-api:2870515 | 경성수산 | https://apis.data.go.kr/B551011/KorService2</a:t>
            </a:r>
          </a:p>
          <a:p>
            <a:r>
              <a:t>tour-api:2791433 | 고내포구 | https://apis.data.go.kr/B551011/KorService2</a:t>
            </a:r>
          </a:p>
          <a:p>
            <a:r>
              <a:t>tour-api:2863927 | 고사리커피 | https://apis.data.go.kr/B551011/KorService2</a:t>
            </a:r>
          </a:p>
          <a:p>
            <a:r>
              <a:t>tour-api:2759120 | 고스트타운 | https://apis.data.go.kr/B551011/KorService2</a:t>
            </a:r>
          </a:p>
          <a:p>
            <a:r>
              <a:t>tour-api:2759061 | 고이정 | https://apis.data.go.kr/B551011/KorService2</a:t>
            </a:r>
          </a:p>
          <a:p>
            <a:r>
              <a:t>tour-api:2863913 | 고토커피바 | https://apis.data.go.kr/B551011/KorService2</a:t>
            </a:r>
          </a:p>
          <a:p>
            <a:r>
              <a:t>tour-api:2857289 | 골목식당 | https://apis.data.go.kr/B551011/KorService2</a:t>
            </a:r>
          </a:p>
          <a:p>
            <a:r>
              <a:t>tour-api:2852311 | 골목카페옥수 | https://apis.data.go.kr/B551011/KorService2</a:t>
            </a:r>
          </a:p>
          <a:p>
            <a:r>
              <a:t>tour-api:2739395 | 골체오름캠핑 | https://apis.data.go.kr/B551011/KorService2</a:t>
            </a:r>
          </a:p>
          <a:p>
            <a:r>
              <a:t>tour-api:2759096 | 곰막식당/곰막 | https://apis.data.go.kr/B551011/KorService2</a:t>
            </a:r>
          </a:p>
          <a:p>
            <a:r>
              <a:t>tour-api:127870 | 곽지해수욕장 | https://apis.data.go.kr/B551011/KorService2</a:t>
            </a:r>
          </a:p>
          <a:p>
            <a:r>
              <a:t>tour-api:1918950 | 괴오름 | https://apis.data.go.kr/B551011/KorService2</a:t>
            </a:r>
          </a:p>
          <a:p>
            <a:r>
              <a:t>tour-api:128443 | 교래 삼다수마을 | https://apis.data.go.kr/B551011/KorService2</a:t>
            </a:r>
          </a:p>
          <a:p>
            <a:r>
              <a:t>reference:kto:2026:local-airport | 요즘, 한국관광 2호 - 지방공항 연계 지역관광 활성화 방안 | PDF 44쪽, PDF 40쪽, PDF 41쪽, PDF 41쪽, PDF 43쪽, PDF 36쪽, PDF 43쪽, PDF 43쪽 | https://datalab.visitkorea.or.kr/site/portal/ex/bbs/View.do?bcIdx=311068&amp;cbIdx=1135&amp;pageIndex=1</a:t>
            </a:r>
          </a:p>
          <a:p>
            <a:r>
              <a:t>case:4bac3530eca721 | 2024년 문화재야행 사업 예산 확정자료 | https://culture.seoul.go.kr/culture/cmmn/file/fileDown.do?atchFileId=c4638ecc9ce84bba9e51ecc2e11293e2&amp;bbsId=&amp;fileSn=2&amp;menuNo=200050</a:t>
            </a:r>
          </a:p>
          <a:p>
            <a:r>
              <a:t>case:gangjin_half_price_2024 | 강진 반값여행 지역경제 효과 소개 | https://jnfarm.jeonnam.go.kr/board/FARM_BOARD_008/boardView.do?bdId=BD_00000000000011721&amp;menuCd=farm004002</a:t>
            </a:r>
          </a:p>
          <a:p>
            <a:r>
              <a:t>case:digital_tourism_resident_2024 | 2024년 6월 여행가는 달 추진 보도자료 | https://mcst.go.kr/servlets/eduport/front/upload/UplDownloadFile?pFileName=%280514%29%EB%AC%B8%EC%B2%B4%EB%B6%80%EB%B3%B4%EB%8F%84%EC%9E%90%EB%A3%8C-6%EC%9B%94_%EC%97%AC%ED%96%89%EA%B0%80%EB%8A%94_%EB%8B%AC_%EC%B6%94%EC%A7%84.pdf&amp;pPath=0302000000&amp;pRealName=20240514083202149235802932_PRESS20240514083202456506.pdf</a:t>
            </a:r>
          </a:p>
          <a:p>
            <a:r>
              <a:t>case:kto_stay_discount_2022 | 2022 대한민국 숙박대전 경제파급효과 공개자료 | https://kto.visitkorea.or.kr/upload/flexer/upload/ktobiz/20220928/b623b5f9-3ec0-11ed-9832-ddf31964842e.hwp.files/Sections1.html</a:t>
            </a:r>
          </a:p>
          <a:p>
            <a:r>
              <a:t>case:night_festival_2025 | 2025 대한민국 밤밤페스타 개최 도시 및 일정 | https://korean.visitkorea.or.kr/detail/rem_detail.do?cotid=f9c636b2-dd7c-4f09-af3d-6af43b33d371</a:t>
            </a:r>
          </a:p>
          <a:p>
            <a:r>
              <a:t>case:night_tourism_cities_2024 | 2024년도 정부업무평가 관광분야 성과자료 | https://www.evaluation.go.kr/upload2/atch/eval/20250429095846463.pdf</a:t>
            </a:r>
          </a:p>
          <a:p>
            <a:r>
              <a:t>[/Sources]</a:t>
            </a:r>
          </a:p>
          <a:p>
            <a:r>
              <a:t>[Calculation audit]</a:t>
            </a:r>
          </a:p>
          <a:p>
            <a:r>
              <a:t>{</a:t>
            </a:r>
          </a:p>
          <a:p>
            <a:r>
              <a:t>  "source_inventory": [</a:t>
            </a:r>
          </a:p>
          <a:p>
            <a:r>
              <a:t>    {</a:t>
            </a:r>
          </a:p>
          <a:p>
            <a:r>
              <a:t>      "source_id": "dataset:50110:1",</a:t>
            </a:r>
          </a:p>
          <a:p>
            <a:r>
              <a:t>      "source_type": "dataset",</a:t>
            </a:r>
          </a:p>
          <a:p>
            <a:r>
              <a:t>      "title": "한국관광 데이터랩 · 제주특별자치도 제주시 순 방문자 수 및 숙박 비율 (이동통신 기반 외지인)",</a:t>
            </a:r>
          </a:p>
          <a:p>
            <a:r>
              <a:t>      "source_url": "https://datalab.visitkorea.or.kr/",</a:t>
            </a:r>
          </a:p>
          <a:p>
            <a:r>
              <a:t>      "summary": "월간 순 방문자 수: 3,131,476명 (관측 기준월: 2026-06)",</a:t>
            </a:r>
          </a:p>
          <a:p>
            <a:r>
              <a:t>      "observation_period": "2026-06",</a:t>
            </a:r>
          </a:p>
          <a:p>
            <a:r>
              <a:t>      "published_or_updated_at": "2026-06"</a:t>
            </a:r>
          </a:p>
          <a:p>
            <a:r>
              <a:t>    },</a:t>
            </a:r>
          </a:p>
          <a:p>
            <a:r>
              <a:t>    {</a:t>
            </a:r>
          </a:p>
          <a:p>
            <a:r>
              <a:t>      "source_id": "dataset:50110:2",</a:t>
            </a:r>
          </a:p>
          <a:p>
            <a:r>
              <a:t>      "source_type": "dataset",</a:t>
            </a:r>
          </a:p>
          <a:p>
            <a:r>
              <a:t>      "title": "한국관광 데이터랩 · 제주특별자치도 제주시 월간 순 방문자 수 (이동통신 기반 외지인)",</a:t>
            </a:r>
          </a:p>
          <a:p>
            <a:r>
              <a:t>      "source_url": "https://datalab.visitkorea.or.kr/",</a:t>
            </a:r>
          </a:p>
          <a:p>
            <a:r>
              <a:t>      "summary": "전년동월 외지인 방문자 증감률: -8.9% (관측 기준월: 2026-06)",</a:t>
            </a:r>
          </a:p>
          <a:p>
            <a:r>
              <a:t>      "observation_period": "2026-06",</a:t>
            </a:r>
          </a:p>
          <a:p>
            <a:r>
              <a:t>      "published_or_updated_at": "2026-06"</a:t>
            </a:r>
          </a:p>
          <a:p>
            <a:r>
              <a:t>    },</a:t>
            </a:r>
          </a:p>
          <a:p>
            <a:r>
              <a:t>    {</a:t>
            </a:r>
          </a:p>
          <a:p>
            <a:r>
              <a:t>      "source_id": "dataset:50110:3",</a:t>
            </a:r>
          </a:p>
          <a:p>
            <a:r>
              <a:t>      "source_type": "dataset",</a:t>
            </a:r>
          </a:p>
          <a:p>
            <a:r>
              <a:t>      "title": "한국관광 데이터랩 · 제주특별자치도 제주시 관광소비 추이_외지인",</a:t>
            </a:r>
          </a:p>
          <a:p>
            <a:r>
              <a:t>      "source_url": "https://datalab.visitkorea.or.kr/",</a:t>
            </a:r>
          </a:p>
          <a:p>
            <a:r>
              <a:t>      "summary": "월간 외지인 관광소비 총액: 129,503,828,000원 (관측 기준월: 2026-06)",</a:t>
            </a:r>
          </a:p>
          <a:p>
            <a:r>
              <a:t>      "observation_period": "2026-06",</a:t>
            </a:r>
          </a:p>
          <a:p>
            <a:r>
              <a:t>      "published_or_updated_at": "2026-06"</a:t>
            </a:r>
          </a:p>
          <a:p>
            <a:r>
              <a:t>    },</a:t>
            </a:r>
          </a:p>
          <a:p>
            <a:r>
              <a:t>    {</a:t>
            </a:r>
          </a:p>
          <a:p>
            <a:r>
              <a:t>      "source_id": "dataset:50110:4",</a:t>
            </a:r>
          </a:p>
          <a:p>
            <a:r>
              <a:t>      "source_type": "dataset",</a:t>
            </a:r>
          </a:p>
          <a:p>
            <a:r>
              <a:t>      "title": "한국관광 데이터랩 · 제주특별자치도 제주시 숙박방문자 비율 추이 (이동통신 기반 외지인)",</a:t>
            </a:r>
          </a:p>
          <a:p>
            <a:r>
              <a:t>      "source_url": "https://datalab.visitkorea.or.kr/",</a:t>
            </a:r>
          </a:p>
          <a:p>
            <a:r>
              <a:t>      "summary": "외지인 숙박 방문 비율: 21.0% (관측 기준월: 2026-06)",</a:t>
            </a:r>
          </a:p>
          <a:p>
            <a:r>
              <a:t>      "observation_period": "2026-06",</a:t>
            </a:r>
          </a:p>
          <a:p>
            <a:r>
              <a:t>      "published_or_updated_at": "2026-06"</a:t>
            </a:r>
          </a:p>
          <a:p>
            <a:r>
              <a:t>    },</a:t>
            </a:r>
          </a:p>
          <a:p>
            <a:r>
              <a:t>    {</a:t>
            </a:r>
          </a:p>
          <a:p>
            <a:r>
              <a:t>      "source_id": "dataset:50110:5",</a:t>
            </a:r>
          </a:p>
          <a:p>
            <a:r>
              <a:t>      "source_type": "dataset",</a:t>
            </a:r>
          </a:p>
          <a:p>
            <a:r>
              <a:t>      "title": "한국관광 데이터랩 · 제주특별자치도 제주시 평균 숙박일 (이동통신 기반 외지인)",</a:t>
            </a:r>
          </a:p>
          <a:p>
            <a:r>
              <a:t>      "source_url": "https://datalab.visitkorea.or.kr/",</a:t>
            </a:r>
          </a:p>
          <a:p>
            <a:r>
              <a:t>      "summary": "외지인 평균 숙박일수: 3.13일 (관측 기준월: 2026-06)",</a:t>
            </a:r>
          </a:p>
          <a:p>
            <a:r>
              <a:t>      "observation_period": "2026-06",</a:t>
            </a:r>
          </a:p>
          <a:p>
            <a:r>
              <a:t>      "published_or_updated_at": "2026-06"</a:t>
            </a:r>
          </a:p>
          <a:p>
            <a:r>
              <a:t>    },</a:t>
            </a:r>
          </a:p>
          <a:p>
            <a:r>
              <a:t>    {</a:t>
            </a:r>
          </a:p>
          <a:p>
            <a:r>
              <a:t>      "source_id": "dataset:50110:6",</a:t>
            </a:r>
          </a:p>
          <a:p>
            <a:r>
              <a:t>      "source_type": "dataset",</a:t>
            </a:r>
          </a:p>
          <a:p>
            <a:r>
              <a:t>      "title": "한국관광 데이터랩 · 제주특별자치도 제주시 내비게이션 목적지 유형별 검색량",</a:t>
            </a:r>
          </a:p>
          <a:p>
            <a:r>
              <a:t>      "source_url": "https://datalab.visitkorea.or.kr/",</a:t>
            </a:r>
          </a:p>
          <a:p>
            <a:r>
              <a:t>      "summary": "내비게이션 목적지 검색량: 580,380건 (관측 기준월: 2026-06)",</a:t>
            </a:r>
          </a:p>
          <a:p>
            <a:r>
              <a:t>      "observation_period": "2026-06",</a:t>
            </a:r>
          </a:p>
          <a:p>
            <a:r>
              <a:t>      "published_or_updated_at": "2026-06"</a:t>
            </a:r>
          </a:p>
          <a:p>
            <a:r>
              <a:t>    },</a:t>
            </a:r>
          </a:p>
          <a:p>
            <a:r>
              <a:t>    {</a:t>
            </a:r>
          </a:p>
          <a:p>
            <a:r>
              <a:t>      "source_id": "dataset:50110:7",</a:t>
            </a:r>
          </a:p>
          <a:p>
            <a:r>
              <a:t>      "source_type": "dataset",</a:t>
            </a:r>
          </a:p>
          <a:p>
            <a:r>
              <a:t>      "title": "한국관광 데이터랩 · 제주특별자치도 제주시 SNS 언급량",</a:t>
            </a:r>
          </a:p>
          <a:p>
            <a:r>
              <a:t>      "source_url": "https://datalab.visitkorea.or.kr/",</a:t>
            </a:r>
          </a:p>
          <a:p>
            <a:r>
              <a:t>      "summary": "SNS 언급량: 138,652건 (관측 기준월: 2026-06)",</a:t>
            </a:r>
          </a:p>
          <a:p>
            <a:r>
              <a:t>      "observation_period": "2026-06",</a:t>
            </a:r>
          </a:p>
          <a:p>
            <a:r>
              <a:t>      "published_or_updated_at": "2026-06"</a:t>
            </a:r>
          </a:p>
          <a:p>
            <a:r>
              <a:t>    },</a:t>
            </a:r>
          </a:p>
          <a:p>
            <a:r>
              <a:t>    {</a:t>
            </a:r>
          </a:p>
          <a:p>
            <a:r>
              <a:t>      "source_id": "datalab:3ec866bde028:27b141591f10",</a:t>
            </a:r>
          </a:p>
          <a:p>
            <a:r>
              <a:t>      "source_type": "nationwide_dataset",</a:t>
            </a:r>
          </a:p>
          <a:p>
            <a:r>
              <a:t>      "title": "한국관광 데이터랩 공식 다운로드 · 제주특별자치도_제주시/방문자/2026_01_06.zip",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"datalab:4833a91757b2:5c2efa032440",</a:t>
            </a:r>
          </a:p>
          <a:p>
            <a:r>
              <a:t>      "source_type": "nationwide_dataset",</a:t>
            </a:r>
          </a:p>
          <a:p>
            <a:r>
              <a:t>      "title": "한국관광 데이터랩 공식 다운로드 · 제주특별자치도_제주시/숙박_체류시간/2026_01_06.zip",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"datalab:5d9f73f9fe47:2904d99e7279",</a:t>
            </a:r>
          </a:p>
          <a:p>
            <a:r>
              <a:t>      "source_type": "nationwide_dataset",</a:t>
            </a:r>
          </a:p>
          <a:p>
            <a:r>
              <a:t>      "title": "한국관광 데이터랩 공식 다운로드 · 제주특별자치도_제주시/숙박_체류시간/2025_01_12.zip",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"datalab:95122c38b4fc:522e2d839300",</a:t>
            </a:r>
          </a:p>
          <a:p>
            <a:r>
              <a:t>      "source_type": "nationwide_dataset",</a:t>
            </a:r>
          </a:p>
          <a:p>
            <a:r>
              <a:t>      "title": "한국관광 데이터랩 공식 다운로드 · 제주특별자치도_제주시/관광소비/2026_01_06.zip",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"datalab:d73227708014:f4517115deb9",</a:t>
            </a:r>
          </a:p>
          <a:p>
            <a:r>
              <a:t>      "source_type": "nationwide_dataset",</a:t>
            </a:r>
          </a:p>
          <a:p>
            <a:r>
              <a:t>      "title": "한국관광 데이터랩 공식 다운로드 · 제주특별자치도_제주시/방문자/2025_01_12.zip",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"datalab:f07ad8a73d99:ed1b998de1b3",</a:t>
            </a:r>
          </a:p>
          <a:p>
            <a:r>
              <a:t>      "source_type": "nationwide_dataset",</a:t>
            </a:r>
          </a:p>
          <a:p>
            <a:r>
              <a:t>      "title": "한국관광 데이터랩 공식 다운로드 · 제주특별자치도_제주시/관광소비/2025_01_12.zip",</a:t>
            </a:r>
          </a:p>
          <a:p>
            <a:r>
              <a:t>      "source_url": "https://datalab.visitkorea.or.kr/",</a:t>
            </a:r>
          </a:p>
          <a:p>
            <a:r>
              <a:t>      "summary": "전국 비교 기준 기간: 2025-07 ~ 2026-06",</a:t>
            </a:r>
          </a:p>
          <a:p>
            <a:r>
              <a:t>      "observation_period": "2025-07 ~ 2026-06",</a:t>
            </a:r>
          </a:p>
          <a:p>
            <a:r>
              <a:t>      "published_or_updated_at": "2024-07 ~ 2025-06"</a:t>
            </a:r>
          </a:p>
          <a:p>
            <a:r>
              <a:t>    },</a:t>
            </a:r>
          </a:p>
          <a:p>
            <a:r>
              <a:t>    {</a:t>
            </a:r>
          </a:p>
          <a:p>
            <a:r>
              <a:t>      "source_id": "team-bigdata:23ea68053684:6bfbcf8aabf6",</a:t>
            </a:r>
          </a:p>
          <a:p>
            <a:r>
              <a:t>      "source_type": "nationwide_bigdata_dataset",</a:t>
            </a:r>
          </a:p>
          <a:p>
            <a:r>
              <a:t>      "title": "한국관광 데이터랩 전국 빅데이터 다운로드 · 이동통신/내국인/지역별 방문자수/20260820140607__202601-202606_데이터랩_다운로드.zip",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"team-bigdata:98d4ae590d9a:3be52dd54323",</a:t>
            </a:r>
          </a:p>
          <a:p>
            <a:r>
              <a:t>      "source_type": "nationwide_bigdata_dataset",</a:t>
            </a:r>
          </a:p>
          <a:p>
            <a:r>
              <a:t>      "title": "한국관광 데이터랩 전국 빅데이터 다운로드 · 이동통신/외국인/20260820141710_전국_202601-202606_데이터랩_다운로드.zip",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"team-bigdata:367cd0294ec4:873930d645e5",</a:t>
            </a:r>
          </a:p>
          <a:p>
            <a:r>
              <a:t>      "source_type": "nationwide_bigdata_dataset",</a:t>
            </a:r>
          </a:p>
          <a:p>
            <a:r>
              <a:t>      "title": "한국관광 데이터랩 전국 빅데이터 다운로드 · 신용카드/내국인/지역별 관광지출액/20260820140046__202601-202606_데이터랩_다운로드.zip",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"team-bigdata:553a0dad4bb4:5a31355dffe8",</a:t>
            </a:r>
          </a:p>
          <a:p>
            <a:r>
              <a:t>      "source_type": "nationwide_bigdata_dataset",</a:t>
            </a:r>
          </a:p>
          <a:p>
            <a:r>
              <a:t>      "title": "한국관광 데이터랩 전국 빅데이터 다운로드 · 신용카드/외국인/지역별 관광지출액/20260820140355__202601-202606_데이터랩_다운로드.zip",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"team-bigdata:a53dbe1c21df:77a052de41d5",</a:t>
            </a:r>
          </a:p>
          <a:p>
            <a:r>
              <a:t>      "source_type": "nationwide_bigdata_dataset",</a:t>
            </a:r>
          </a:p>
          <a:p>
            <a:r>
              <a:t>      "title": "한국관광 데이터랩 전국 빅데이터 다운로드 · 네비게이션/지역별 검색건수/20260820195507__202601-202606_데이터랩_다운로드.zip",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"team-bigdata:823a38d1d61c:5385261d02e5",</a:t>
            </a:r>
          </a:p>
          <a:p>
            <a:r>
              <a:t>      "source_type": "nationwide_bigdata_dataset",</a:t>
            </a:r>
          </a:p>
          <a:p>
            <a:r>
              <a:t>      "title": "한국관광 데이터랩 전국 빅데이터 다운로드 · 이동통신/내국인/지역별 방문자수/20260820140614__202501-202512_데이터랩_다운로드.zip",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"team-bigdata:2723bdb0d589:1666a34058ed",</a:t>
            </a:r>
          </a:p>
          <a:p>
            <a:r>
              <a:t>      "source_type": "nationwide_bigdata_dataset",</a:t>
            </a:r>
          </a:p>
          <a:p>
            <a:r>
              <a:t>      "title": "한국관광 데이터랩 전국 빅데이터 다운로드 · 이동통신/외국인/20260820141649_전국_202501-202512_데이터랩_다운로드.zip",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"team-bigdata:83177a234971:c02cb7972e0f",</a:t>
            </a:r>
          </a:p>
          <a:p>
            <a:r>
              <a:t>      "source_type": "nationwide_bigdata_dataset",</a:t>
            </a:r>
          </a:p>
          <a:p>
            <a:r>
              <a:t>      "title": "한국관광 데이터랩 전국 빅데이터 다운로드 · 신용카드/내국인/지역별 관광지출액/20260820135957__202501-202512_데이터랩_다운로드.zip",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"team-bigdata:58ded7732251:589c76395cbc",</a:t>
            </a:r>
          </a:p>
          <a:p>
            <a:r>
              <a:t>      "source_type": "nationwide_bigdata_dataset",</a:t>
            </a:r>
          </a:p>
          <a:p>
            <a:r>
              <a:t>      "title": "한국관광 데이터랩 전국 빅데이터 다운로드 · 신용카드/외국인/지역별 관광지출액/20260820140409__202501-202512_데이터랩_다운로드.zip",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"team-bigdata:e28c947cb52f:bb4cb344a6ba",</a:t>
            </a:r>
          </a:p>
          <a:p>
            <a:r>
              <a:t>      "source_type": "nationwide_bigdata_dataset",</a:t>
            </a:r>
          </a:p>
          <a:p>
            <a:r>
              <a:t>      "title": "한국관광 데이터랩 전국 빅데이터 다운로드 · 네비게이션/지역별 검색건수/20260820132007__202501-202512_데이터랩_다운로드.zip",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"team-bigdata:8815bbb11a39:1a5988f5f8ec",</a:t>
            </a:r>
          </a:p>
          <a:p>
            <a:r>
              <a:t>      "source_type": "nationwide_bigdata_dataset",</a:t>
            </a:r>
          </a:p>
          <a:p>
            <a:r>
              <a:t>      "title": "한국관광 데이터랩 전국 빅데이터 다운로드 · 이동통신/내국인/지역별 방문자수/20260820140624__202401-202412_데이터랩_다운로드.zip",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"team-bigdata:19fd67fbb73d:afa4f0f54a2f",</a:t>
            </a:r>
          </a:p>
          <a:p>
            <a:r>
              <a:t>      "source_type": "nationwide_bigdata_dataset",</a:t>
            </a:r>
          </a:p>
          <a:p>
            <a:r>
              <a:t>      "title": "한국관광 데이터랩 전국 빅데이터 다운로드 · 이동통신/외국인/20260820141639_전국_202401-202412_데이터랩_다운로드.zip",</a:t>
            </a:r>
          </a:p>
          <a:p>
            <a:r>
              <a:t>      "source_url": "https://datalab.visitkorea.or.kr/",</a:t>
            </a:r>
          </a:p>
          <a:p>
            <a:r>
              <a:t>      "summary": "시군구 기간합계·비중 또는 전국 월별 추이. 지역 월별 ML·정책 효과가 아닌 보조 근거.",</a:t>
            </a:r>
          </a:p>
          <a:p>
            <a:r>
              <a:t>      "observation_period": "2026-01 ~ 2026-06",</a:t>
            </a:r>
          </a:p>
          <a:p>
            <a:r>
              <a:t>      "published_or_updated_at": "",</a:t>
            </a:r>
          </a:p>
          <a:p>
            <a:r>
              <a:t>      "source_review_status": "needs_exact_download_url"</a:t>
            </a:r>
          </a:p>
          <a:p>
            <a:r>
              <a:t>    },</a:t>
            </a:r>
          </a:p>
          <a:p>
            <a:r>
              <a:t>    {</a:t>
            </a:r>
          </a:p>
          <a:p>
            <a:r>
              <a:t>      "source_id": "regional-status:9ac27e83f27b:e998409010f6",</a:t>
            </a:r>
          </a:p>
          <a:p>
            <a:r>
              <a:t>      "source_type": "regional_tourism_status",</a:t>
            </a:r>
          </a:p>
          <a:p>
            <a:r>
              <a:t>      "title": "한국관광 데이터랩 지역별 관광 현황 · 제주특별자치도 제주시 · 유입유출",</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"regional-status:daecd5ff8069:00c8b971be40",</a:t>
            </a:r>
          </a:p>
          <a:p>
            <a:r>
              <a:t>      "source_type": "regional_tourism_status",</a:t>
            </a:r>
          </a:p>
          <a:p>
            <a:r>
              <a:t>      "title": "한국관광 데이터랩 지역별 관광 현황 · 제주특별자치도 제주시 · 인기관광지",</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"regional-status:dd0eaa9c763f:3aadcdcac2c5",</a:t>
            </a:r>
          </a:p>
          <a:p>
            <a:r>
              <a:t>      "source_type": "regional_tourism_status",</a:t>
            </a:r>
          </a:p>
          <a:p>
            <a:r>
              <a:t>      "title": "한국관광 데이터랩 지역별 관광 현황 · 제주특별자치도 제주시 · 지역집중률",</a:t>
            </a:r>
          </a:p>
          <a:p>
            <a:r>
              <a:t>      "source_url": "https://datalab.visitkorea.or.kr/",</a:t>
            </a:r>
          </a:p>
          <a:p>
            <a:r>
              <a:t>      "summary": "관측 기간: 2025-07 ~ 2026-06. 유입·유출·인기장소 또는 30일 집중 운영 신호.",</a:t>
            </a:r>
          </a:p>
          <a:p>
            <a:r>
              <a:t>      "observation_period": "2025-07 ~ 2026-06",</a:t>
            </a:r>
          </a:p>
          <a:p>
            <a:r>
              <a:t>      "published_or_updated_at": ""</a:t>
            </a:r>
          </a:p>
          <a:p>
            <a:r>
              <a:t>    },</a:t>
            </a:r>
          </a:p>
          <a:p>
            <a:r>
              <a:t>    {</a:t>
            </a:r>
          </a:p>
          <a:p>
            <a:r>
              <a:t>      "source_id": "ml:50110:regional-demand-v3.1:202606",</a:t>
            </a:r>
          </a:p>
          <a:p>
            <a:r>
              <a:t>      "source_type": "model_forecast",</a:t>
            </a:r>
          </a:p>
          <a:p>
            <a:r>
              <a:t>      "title": "지역 관광수요 ML 전망 · 공식 관측값 아님",</a:t>
            </a:r>
          </a:p>
          <a:p>
            <a:r>
              <a:t>      "source_url": "",</a:t>
            </a:r>
          </a:p>
          <a:p>
            <a:r>
              <a:t>      "summary": "학습 202401~202606 · 모델 regional-demand-v3.1 · 자연 추세 예측",</a:t>
            </a:r>
          </a:p>
          <a:p>
            <a:r>
              <a:t>      "model_version": "regional-demand-v3.1",</a:t>
            </a:r>
          </a:p>
          <a:p>
            <a:r>
              <a:t>      "data_fingerprint": "8dcb136b0c95a2203f9b656937018f103a98363535f21f24b40b6f2ab16842e6"</a:t>
            </a:r>
          </a:p>
          <a:p>
            <a:r>
              <a:t>    },</a:t>
            </a:r>
          </a:p>
          <a:p>
            <a:r>
              <a:t>    {</a:t>
            </a:r>
          </a:p>
          <a:p>
            <a:r>
              <a:t>      "source_id": "tour-api:2850913",</a:t>
            </a:r>
          </a:p>
          <a:p>
            <a:r>
              <a:t>      "source_type": "open_api",</a:t>
            </a:r>
          </a:p>
          <a:p>
            <a:r>
              <a:t>      "title": "가는곶 세화",</a:t>
            </a:r>
          </a:p>
          <a:p>
            <a:r>
              <a:t>      "source_url": "https://apis.data.go.kr/B551011/KorService2",</a:t>
            </a:r>
          </a:p>
          <a:p>
            <a:r>
              <a:t>      "content_id": "2850913",</a:t>
            </a:r>
          </a:p>
          <a:p>
            <a:r>
              <a:t>      "content_type_id": "39",</a:t>
            </a:r>
          </a:p>
          <a:p>
            <a:r>
              <a:t>      "address": "제주특별자치도 제주시 구좌읍 세화14길 3",</a:t>
            </a:r>
          </a:p>
          <a:p>
            <a:r>
              <a:t>      "image_url": "http://tong.visitkorea.or.kr/cms/resource/05/2850905_image2_1.jpg",</a:t>
            </a:r>
          </a:p>
          <a:p>
            <a:r>
              <a:t>      "summary": "한국관광공사 국문관광정보 API가 반환한 선택 지역 관광자원"</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"source_id": "tour-api:1884521",</a:t>
            </a:r>
          </a:p>
          <a:p>
            <a:r>
              <a:t>      "source_type": "open_api",</a:t>
            </a:r>
          </a:p>
          <a:p>
            <a:r>
              <a:t>      "title": "가새기오름",</a:t>
            </a:r>
          </a:p>
          <a:p>
            <a:r>
              <a:t>      "source_url": "https://apis.data.go.kr/B551011/KorService2",</a:t>
            </a:r>
          </a:p>
          <a:p>
            <a:r>
              <a:t>      "content_id": "1884521",</a:t>
            </a:r>
          </a:p>
          <a:p>
            <a:r>
              <a:t>      "content_type_id": "12",</a:t>
            </a:r>
          </a:p>
          <a:p>
            <a:r>
              <a:t>      "address": "제주특별자치도 제주시 오라삼동",</a:t>
            </a:r>
          </a:p>
          <a:p>
            <a:r>
              <a:t>      "image_url": "http://tong.visitkorea.or.kr/cms/resource/82/3477882_image2_1.jpg",</a:t>
            </a:r>
          </a:p>
          <a:p>
            <a:r>
              <a:t>      "summary": "한국관광공사 국문관광정보 API가 반환한 선택 지역 관광자원"</a:t>
            </a:r>
          </a:p>
          <a:p>
            <a:r>
              <a:t>    },</a:t>
            </a:r>
          </a:p>
          <a:p>
            <a:r>
              <a:t>    {</a:t>
            </a:r>
          </a:p>
          <a:p>
            <a:r>
              <a:t>      "source_id": "tour-api:2837181",</a:t>
            </a:r>
          </a:p>
          <a:p>
            <a:r>
              <a:t>      "source_type": "open_api",</a:t>
            </a:r>
          </a:p>
          <a:p>
            <a:r>
              <a:t>      "title": "가시어멍김밥",</a:t>
            </a:r>
          </a:p>
          <a:p>
            <a:r>
              <a:t>      "source_url": "https://apis.data.go.kr/B551011/KorService2",</a:t>
            </a:r>
          </a:p>
          <a:p>
            <a:r>
              <a:t>      "content_id": "2837181",</a:t>
            </a:r>
          </a:p>
          <a:p>
            <a:r>
              <a:t>      "content_type_id": "39",</a:t>
            </a:r>
          </a:p>
          <a:p>
            <a:r>
              <a:t>      "address": "제주특별자치도 제주시 월랑로 36",</a:t>
            </a:r>
          </a:p>
          <a:p>
            <a:r>
              <a:t>      "image_url": "http://tong.visitkorea.or.kr/cms/resource/75/2837175_image2_1.jpg",</a:t>
            </a:r>
          </a:p>
          <a:p>
            <a:r>
              <a:t>      "summary": "한국관광공사 국문관광정보 API가 반환한 선택 지역 관광자원"</a:t>
            </a:r>
          </a:p>
          <a:p>
            <a:r>
              <a:t>    },</a:t>
            </a:r>
          </a:p>
          <a:p>
            <a:r>
              <a:t>    {</a:t>
            </a:r>
          </a:p>
          <a:p>
            <a:r>
              <a:t>      "source_id": "tour-api:2853435",</a:t>
            </a:r>
          </a:p>
          <a:p>
            <a:r>
              <a:t>      "source_type": "open_api",</a:t>
            </a:r>
          </a:p>
          <a:p>
            <a:r>
              <a:t>      "title": "갈치공장",</a:t>
            </a:r>
          </a:p>
          <a:p>
            <a:r>
              <a:t>      "source_url": "https://apis.data.go.kr/B551011/KorService2",</a:t>
            </a:r>
          </a:p>
          <a:p>
            <a:r>
              <a:t>      "content_id": "2853435",</a:t>
            </a:r>
          </a:p>
          <a:p>
            <a:r>
              <a:t>      "content_type_id": "39",</a:t>
            </a:r>
          </a:p>
          <a:p>
            <a:r>
              <a:t>      "address": "제주특별자치도 제주시 해맞이해안로 1296",</a:t>
            </a:r>
          </a:p>
          <a:p>
            <a:r>
              <a:t>      "image_url": "http://tong.visitkorea.or.kr/cms/resource/24/2853424_image2_1.jpg",</a:t>
            </a:r>
          </a:p>
          <a:p>
            <a:r>
              <a:t>      "summary": "한국관광공사 국문관광정보 API가 반환한 선택 지역 관광자원"</a:t>
            </a:r>
          </a:p>
          <a:p>
            <a:r>
              <a:t>    },</a:t>
            </a:r>
          </a:p>
          <a:p>
            <a:r>
              <a:t>    {</a:t>
            </a:r>
          </a:p>
          <a:p>
            <a:r>
              <a:t>      "source_id": "tour-api:1889809",</a:t>
            </a:r>
          </a:p>
          <a:p>
            <a:r>
              <a:t>      "source_type": "open_api",</a:t>
            </a:r>
          </a:p>
          <a:p>
            <a:r>
              <a:t>      "title": "개오리오름",</a:t>
            </a:r>
          </a:p>
          <a:p>
            <a:r>
              <a:t>      "source_url": "https://apis.data.go.kr/B551011/KorService2",</a:t>
            </a:r>
          </a:p>
          <a:p>
            <a:r>
              <a:t>      "content_id": "1889809",</a:t>
            </a:r>
          </a:p>
          <a:p>
            <a:r>
              <a:t>      "content_type_id": "12",</a:t>
            </a:r>
          </a:p>
          <a:p>
            <a:r>
              <a:t>      "address": "제주특별자치도 제주시 봉개동",</a:t>
            </a:r>
          </a:p>
          <a:p>
            <a:r>
              <a:t>      "image_url": "http://tong.visitkorea.or.kr/cms/resource/47/3478047_image2_1.jpg",</a:t>
            </a:r>
          </a:p>
          <a:p>
            <a:r>
              <a:t>      "summary": "한국관광공사 국문관광정보 API가 반환한 선택 지역 관광자원"</a:t>
            </a:r>
          </a:p>
          <a:p>
            <a:r>
              <a:t>    },</a:t>
            </a:r>
          </a:p>
          <a:p>
            <a:r>
              <a:t>    {</a:t>
            </a:r>
          </a:p>
          <a:p>
            <a:r>
              <a:t>      "source_id": "tour-api:1918646",</a:t>
            </a:r>
          </a:p>
          <a:p>
            <a:r>
              <a:t>      "source_type": "open_api",</a:t>
            </a:r>
          </a:p>
          <a:p>
            <a:r>
              <a:t>      "title": "거슨새미오름",</a:t>
            </a:r>
          </a:p>
          <a:p>
            <a:r>
              <a:t>      "source_url": "https://apis.data.go.kr/B551011/KorService2",</a:t>
            </a:r>
          </a:p>
          <a:p>
            <a:r>
              <a:t>      "content_id": "1918646",</a:t>
            </a:r>
          </a:p>
          <a:p>
            <a:r>
              <a:t>      "content_type_id": "12",</a:t>
            </a:r>
          </a:p>
          <a:p>
            <a:r>
              <a:t>      "address": "제주특별자치도 제주시 구좌읍 송당리",</a:t>
            </a:r>
          </a:p>
          <a:p>
            <a:r>
              <a:t>      "image_url": "http://tong.visitkorea.or.kr/cms/resource/04/3477804_image2_1.jpg",</a:t>
            </a:r>
          </a:p>
          <a:p>
            <a:r>
              <a:t>      "summary": "한국관광공사 국문관광정보 API가 반환한 선택 지역 관광자원"</a:t>
            </a:r>
          </a:p>
          <a:p>
            <a:r>
              <a:t>    },</a:t>
            </a:r>
          </a:p>
          <a:p>
            <a:r>
              <a:t>    {</a:t>
            </a:r>
          </a:p>
          <a:p>
            <a:r>
              <a:t>      "source_id": "tour-api:2870515",</a:t>
            </a:r>
          </a:p>
          <a:p>
            <a:r>
              <a:t>      "source_type": "open_api",</a:t>
            </a:r>
          </a:p>
          <a:p>
            <a:r>
              <a:t>      "title": "경성수산",</a:t>
            </a:r>
          </a:p>
          <a:p>
            <a:r>
              <a:t>      "source_url": "https://apis.data.go.kr/B551011/KorService2",</a:t>
            </a:r>
          </a:p>
          <a:p>
            <a:r>
              <a:t>      "content_id": "2870515",</a:t>
            </a:r>
          </a:p>
          <a:p>
            <a:r>
              <a:t>      "content_type_id": "39",</a:t>
            </a:r>
          </a:p>
          <a:p>
            <a:r>
              <a:t>      "address": "제주특별자치도 제주시 한림상로 111",</a:t>
            </a:r>
          </a:p>
          <a:p>
            <a:r>
              <a:t>      "image_url": "http://tong.visitkorea.or.kr/cms/resource/09/2870509_image2_1.jpg",</a:t>
            </a:r>
          </a:p>
          <a:p>
            <a:r>
              <a:t>      "summary": "한국관광공사 국문관광정보 API가 반환한 선택 지역 관광자원"</a:t>
            </a:r>
          </a:p>
          <a:p>
            <a:r>
              <a:t>    },</a:t>
            </a:r>
          </a:p>
          <a:p>
            <a:r>
              <a:t>    {</a:t>
            </a:r>
          </a:p>
          <a:p>
            <a:r>
              <a:t>      "source_id": "tour-api:2791433",</a:t>
            </a:r>
          </a:p>
          <a:p>
            <a:r>
              <a:t>      "source_type": "open_api",</a:t>
            </a:r>
          </a:p>
          <a:p>
            <a:r>
              <a:t>      "title": "고내포구",</a:t>
            </a:r>
          </a:p>
          <a:p>
            <a:r>
              <a:t>      "source_url": "https://apis.data.go.kr/B551011/KorService2",</a:t>
            </a:r>
          </a:p>
          <a:p>
            <a:r>
              <a:t>      "content_id": "2791433",</a:t>
            </a:r>
          </a:p>
          <a:p>
            <a:r>
              <a:t>      "content_type_id": "12",</a:t>
            </a:r>
          </a:p>
          <a:p>
            <a:r>
              <a:t>      "address": "제주특별자치도 제주시 애월읍 고내리 1111-4",</a:t>
            </a:r>
          </a:p>
          <a:p>
            <a:r>
              <a:t>      "image_url": "http://tong.visitkorea.or.kr/cms/resource/19/3589219_image2_1.jpg",</a:t>
            </a:r>
          </a:p>
          <a:p>
            <a:r>
              <a:t>      "summary": "한국관광공사 국문관광정보 API가 반환한 선택 지역 관광자원"</a:t>
            </a:r>
          </a:p>
          <a:p>
            <a:r>
              <a:t>    },</a:t>
            </a:r>
          </a:p>
          <a:p>
            <a:r>
              <a:t>    {</a:t>
            </a:r>
          </a:p>
          <a:p>
            <a:r>
              <a:t>      "source_id": "tour-api:2863927",</a:t>
            </a:r>
          </a:p>
          <a:p>
            <a:r>
              <a:t>      "source_type": "open_api",</a:t>
            </a:r>
          </a:p>
          <a:p>
            <a:r>
              <a:t>      "title": "고사리커피",</a:t>
            </a:r>
          </a:p>
          <a:p>
            <a:r>
              <a:t>      "source_url": "https://apis.data.go.kr/B551011/KorService2",</a:t>
            </a:r>
          </a:p>
          <a:p>
            <a:r>
              <a:t>      "content_id": "2863927",</a:t>
            </a:r>
          </a:p>
          <a:p>
            <a:r>
              <a:t>      "content_type_id": "39",</a:t>
            </a:r>
          </a:p>
          <a:p>
            <a:r>
              <a:t>      "address": "제주특별자치도 제주시 구좌읍 중산간동로 2064",</a:t>
            </a:r>
          </a:p>
          <a:p>
            <a:r>
              <a:t>      "image_url": "http://tong.visitkorea.or.kr/cms/resource/18/2863918_image2_1.JPG",</a:t>
            </a:r>
          </a:p>
          <a:p>
            <a:r>
              <a:t>      "summary": "한국관광공사 국문관광정보 API가 반환한 선택 지역 관광자원"</a:t>
            </a:r>
          </a:p>
          <a:p>
            <a:r>
              <a:t>    },</a:t>
            </a:r>
          </a:p>
          <a:p>
            <a:r>
              <a:t>    {</a:t>
            </a:r>
          </a:p>
          <a:p>
            <a:r>
              <a:t>      "source_id": "tour-api:2759120",</a:t>
            </a:r>
          </a:p>
          <a:p>
            <a:r>
              <a:t>      "source_type": "open_api",</a:t>
            </a:r>
          </a:p>
          <a:p>
            <a:r>
              <a:t>      "title": "고스트타운",</a:t>
            </a:r>
          </a:p>
          <a:p>
            <a:r>
              <a:t>      "source_url": "https://apis.data.go.kr/B551011/KorService2",</a:t>
            </a:r>
          </a:p>
          <a:p>
            <a:r>
              <a:t>      "content_id": "2759120",</a:t>
            </a:r>
          </a:p>
          <a:p>
            <a:r>
              <a:t>      "content_type_id": "12",</a:t>
            </a:r>
          </a:p>
          <a:p>
            <a:r>
              <a:t>      "address": "제주특별자치도 제주시 애월읍 부룡수길 35-14",</a:t>
            </a:r>
          </a:p>
          <a:p>
            <a:r>
              <a:t>      "image_url": "http://tong.visitkorea.or.kr/cms/resource/81/3396881_image2_1.jpg",</a:t>
            </a:r>
          </a:p>
          <a:p>
            <a:r>
              <a:t>      "summary": "한국관광공사 국문관광정보 API가 반환한 선택 지역 관광자원"</a:t>
            </a:r>
          </a:p>
          <a:p>
            <a:r>
              <a:t>    },</a:t>
            </a:r>
          </a:p>
          <a:p>
            <a:r>
              <a:t>    {</a:t>
            </a:r>
          </a:p>
          <a:p>
            <a:r>
              <a:t>      "source_id": "tour-api:2759061",</a:t>
            </a:r>
          </a:p>
          <a:p>
            <a:r>
              <a:t>      "source_type": "open_api",</a:t>
            </a:r>
          </a:p>
          <a:p>
            <a:r>
              <a:t>      "title": "고이정",</a:t>
            </a:r>
          </a:p>
          <a:p>
            <a:r>
              <a:t>      "source_url": "https://apis.data.go.kr/B551011/KorService2",</a:t>
            </a:r>
          </a:p>
          <a:p>
            <a:r>
              <a:t>      "content_id": "2759061",</a:t>
            </a:r>
          </a:p>
          <a:p>
            <a:r>
              <a:t>      "content_type_id": "39",</a:t>
            </a:r>
          </a:p>
          <a:p>
            <a:r>
              <a:t>      "address": "제주특별자치도 제주시 애월읍 애월로 6",</a:t>
            </a:r>
          </a:p>
          <a:p>
            <a:r>
              <a:t>      "image_url": "http://tong.visitkorea.or.kr/cms/resource/08/2759208_image2_1.jpg",</a:t>
            </a:r>
          </a:p>
          <a:p>
            <a:r>
              <a:t>      "summary": "한국관광공사 국문관광정보 API가 반환한 선택 지역 관광자원"</a:t>
            </a:r>
          </a:p>
          <a:p>
            <a:r>
              <a:t>    },</a:t>
            </a:r>
          </a:p>
          <a:p>
            <a:r>
              <a:t>    {</a:t>
            </a:r>
          </a:p>
          <a:p>
            <a:r>
              <a:t>      "source_id": "tour-api:2863913",</a:t>
            </a:r>
          </a:p>
          <a:p>
            <a:r>
              <a:t>      "source_type": "open_api",</a:t>
            </a:r>
          </a:p>
          <a:p>
            <a:r>
              <a:t>      "title": "고토커피바",</a:t>
            </a:r>
          </a:p>
          <a:p>
            <a:r>
              <a:t>      "source_url": "https://apis.data.go.kr/B551011/KorService2",</a:t>
            </a:r>
          </a:p>
          <a:p>
            <a:r>
              <a:t>      "content_id": "2863913",</a:t>
            </a:r>
          </a:p>
          <a:p>
            <a:r>
              <a:t>      "content_type_id": "39",</a:t>
            </a:r>
          </a:p>
          <a:p>
            <a:r>
              <a:t>      "address": "제주특별자치도 제주시 애월읍 구엄동3길 56",</a:t>
            </a:r>
          </a:p>
          <a:p>
            <a:r>
              <a:t>      "image_url": "http://tong.visitkorea.or.kr/cms/resource/07/2863907_image2_1.jpg",</a:t>
            </a:r>
          </a:p>
          <a:p>
            <a:r>
              <a:t>      "summary": "한국관광공사 국문관광정보 API가 반환한 선택 지역 관광자원"</a:t>
            </a:r>
          </a:p>
          <a:p>
            <a:r>
              <a:t>    },</a:t>
            </a:r>
          </a:p>
          <a:p>
            <a:r>
              <a:t>    {</a:t>
            </a:r>
          </a:p>
          <a:p>
            <a:r>
              <a:t>      "source_id": "tour-api:2857289",</a:t>
            </a:r>
          </a:p>
          <a:p>
            <a:r>
              <a:t>      "source_type": "open_api",</a:t>
            </a:r>
          </a:p>
          <a:p>
            <a:r>
              <a:t>      "title": "골목식당",</a:t>
            </a:r>
          </a:p>
          <a:p>
            <a:r>
              <a:t>      "source_url": "https://apis.data.go.kr/B551011/KorService2",</a:t>
            </a:r>
          </a:p>
          <a:p>
            <a:r>
              <a:t>      "content_id": "2857289",</a:t>
            </a:r>
          </a:p>
          <a:p>
            <a:r>
              <a:t>      "content_type_id": "39",</a:t>
            </a:r>
          </a:p>
          <a:p>
            <a:r>
              <a:t>      "address": "제주특별자치도 제주시 중앙로 63-9 (이도일동)",</a:t>
            </a:r>
          </a:p>
          <a:p>
            <a:r>
              <a:t>      "image_url": "http://tong.visitkorea.or.kr/cms/resource/79/2857279_image2_1.JPG",</a:t>
            </a:r>
          </a:p>
          <a:p>
            <a:r>
              <a:t>      "summary": "한국관광공사 국문관광정보 API가 반환한 선택 지역 관광자원"</a:t>
            </a:r>
          </a:p>
          <a:p>
            <a:r>
              <a:t>    },</a:t>
            </a:r>
          </a:p>
          <a:p>
            <a:r>
              <a:t>    {</a:t>
            </a:r>
          </a:p>
          <a:p>
            <a:r>
              <a:t>      "source_id": "tour-api:2852311",</a:t>
            </a:r>
          </a:p>
          <a:p>
            <a:r>
              <a:t>      "source_type": "open_api",</a:t>
            </a:r>
          </a:p>
          <a:p>
            <a:r>
              <a:t>      "title": "골목카페옥수",</a:t>
            </a:r>
          </a:p>
          <a:p>
            <a:r>
              <a:t>      "source_url": "https://apis.data.go.kr/B551011/KorService2",</a:t>
            </a:r>
          </a:p>
          <a:p>
            <a:r>
              <a:t>      "content_id": "2852311",</a:t>
            </a:r>
          </a:p>
          <a:p>
            <a:r>
              <a:t>      "content_type_id": "39",</a:t>
            </a:r>
          </a:p>
          <a:p>
            <a:r>
              <a:t>      "address": "제주특별자치도 제주시 소길1길 19",</a:t>
            </a:r>
          </a:p>
          <a:p>
            <a:r>
              <a:t>      "image_url": "http://tong.visitkorea.or.kr/cms/resource/03/2852303_image2_1.jpg",</a:t>
            </a:r>
          </a:p>
          <a:p>
            <a:r>
              <a:t>      "summary": "한국관광공사 국문관광정보 API가 반환한 선택 지역 관광자원"</a:t>
            </a:r>
          </a:p>
          <a:p>
            <a:r>
              <a:t>    },</a:t>
            </a:r>
          </a:p>
          <a:p>
            <a:r>
              <a:t>    {</a:t>
            </a:r>
          </a:p>
          <a:p>
            <a:r>
              <a:t>      "source_id": "tour-api:2739395",</a:t>
            </a:r>
          </a:p>
          <a:p>
            <a:r>
              <a:t>      "source_type": "open_api",</a:t>
            </a:r>
          </a:p>
          <a:p>
            <a:r>
              <a:t>      "title": "골체오름캠핑",</a:t>
            </a:r>
          </a:p>
          <a:p>
            <a:r>
              <a:t>      "source_url": "https://apis.data.go.kr/B551011/KorService2",</a:t>
            </a:r>
          </a:p>
          <a:p>
            <a:r>
              <a:t>      "content_id": "2739395",</a:t>
            </a:r>
          </a:p>
          <a:p>
            <a:r>
              <a:t>      "content_type_id": "28",</a:t>
            </a:r>
          </a:p>
          <a:p>
            <a:r>
              <a:t>      "address": "제주특별자치도 제주시 조천읍 번영로 1648-41",</a:t>
            </a:r>
          </a:p>
          <a:p>
            <a:r>
              <a:t>      "image_url": "http://tong.visitkorea.or.kr/cms/resource/74/2739574_image2_1.jpg",</a:t>
            </a:r>
          </a:p>
          <a:p>
            <a:r>
              <a:t>      "summary": "한국관광공사 국문관광정보 API가 반환한 선택 지역 관광자원"</a:t>
            </a:r>
          </a:p>
          <a:p>
            <a:r>
              <a:t>    },</a:t>
            </a:r>
          </a:p>
          <a:p>
            <a:r>
              <a:t>    {</a:t>
            </a:r>
          </a:p>
          <a:p>
            <a:r>
              <a:t>      "source_id": "tour-api:2759096",</a:t>
            </a:r>
          </a:p>
          <a:p>
            <a:r>
              <a:t>      "source_type": "open_api",</a:t>
            </a:r>
          </a:p>
          <a:p>
            <a:r>
              <a:t>      "title": "곰막식당/곰막",</a:t>
            </a:r>
          </a:p>
          <a:p>
            <a:r>
              <a:t>      "source_url": "https://apis.data.go.kr/B551011/KorService2",</a:t>
            </a:r>
          </a:p>
          <a:p>
            <a:r>
              <a:t>      "content_id": "2759096",</a:t>
            </a:r>
          </a:p>
          <a:p>
            <a:r>
              <a:t>      "content_type_id": "39",</a:t>
            </a:r>
          </a:p>
          <a:p>
            <a:r>
              <a:t>      "address": "제주특별자치도 제주시 구좌읍 구좌해안로 64",</a:t>
            </a:r>
          </a:p>
          <a:p>
            <a:r>
              <a:t>      "image_url": "http://tong.visitkorea.or.kr/cms/resource/21/2759221_image2_1.jpg",</a:t>
            </a:r>
          </a:p>
          <a:p>
            <a:r>
              <a:t>      "summary": "한국관광공사 국문관광정보 API가 반환한 선택 지역 관광자원"</a:t>
            </a:r>
          </a:p>
          <a:p>
            <a:r>
              <a:t>    },</a:t>
            </a:r>
          </a:p>
          <a:p>
            <a:r>
              <a:t>    {</a:t>
            </a:r>
          </a:p>
          <a:p>
            <a:r>
              <a:t>      "source_id": "tour-api:127870",</a:t>
            </a:r>
          </a:p>
          <a:p>
            <a:r>
              <a:t>      "source_type": "open_api",</a:t>
            </a:r>
          </a:p>
          <a:p>
            <a:r>
              <a:t>      "title": "곽지해수욕장",</a:t>
            </a:r>
          </a:p>
          <a:p>
            <a:r>
              <a:t>      "source_url": "https://apis.data.go.kr/B551011/KorService2",</a:t>
            </a:r>
          </a:p>
          <a:p>
            <a:r>
              <a:t>      "content_id": "127870",</a:t>
            </a:r>
          </a:p>
          <a:p>
            <a:r>
              <a:t>      "content_type_id": "12",</a:t>
            </a:r>
          </a:p>
          <a:p>
            <a:r>
              <a:t>      "address": "제주특별자치도 제주시 애월읍 곽지리 1565",</a:t>
            </a:r>
          </a:p>
          <a:p>
            <a:r>
              <a:t>      "image_url": "http://tong.visitkorea.or.kr/cms/resource/30/3053130_image2_1.jpg",</a:t>
            </a:r>
          </a:p>
          <a:p>
            <a:r>
              <a:t>      "summary": "한국관광공사 국문관광정보 API가 반환한 선택 지역 관광자원"</a:t>
            </a:r>
          </a:p>
          <a:p>
            <a:r>
              <a:t>    },</a:t>
            </a:r>
          </a:p>
          <a:p>
            <a:r>
              <a:t>    {</a:t>
            </a:r>
          </a:p>
          <a:p>
            <a:r>
              <a:t>      "source_id": "tour-api:1918950",</a:t>
            </a:r>
          </a:p>
          <a:p>
            <a:r>
              <a:t>      "source_type": "open_api",</a:t>
            </a:r>
          </a:p>
          <a:p>
            <a:r>
              <a:t>      "title": "괴오름",</a:t>
            </a:r>
          </a:p>
          <a:p>
            <a:r>
              <a:t>      "source_url": "https://apis.data.go.kr/B551011/KorService2",</a:t>
            </a:r>
          </a:p>
          <a:p>
            <a:r>
              <a:t>      "content_id": "1918950",</a:t>
            </a:r>
          </a:p>
          <a:p>
            <a:r>
              <a:t>      "content_type_id": "12",</a:t>
            </a:r>
          </a:p>
          <a:p>
            <a:r>
              <a:t>      "address": "제주특별자치도 제주시 애월읍 봉성리 산41",</a:t>
            </a:r>
          </a:p>
          <a:p>
            <a:r>
              <a:t>      "image_url": "http://tong.visitkorea.or.kr/cms/resource/40/3585540_image2_1.jpg",</a:t>
            </a:r>
          </a:p>
          <a:p>
            <a:r>
              <a:t>      "summary": "한국관광공사 국문관광정보 API가 반환한 선택 지역 관광자원"</a:t>
            </a:r>
          </a:p>
          <a:p>
            <a:r>
              <a:t>    },</a:t>
            </a:r>
          </a:p>
          <a:p>
            <a:r>
              <a:t>    {</a:t>
            </a:r>
          </a:p>
          <a:p>
            <a:r>
              <a:t>      "source_id": "tour-api:128443",</a:t>
            </a:r>
          </a:p>
          <a:p>
            <a:r>
              <a:t>      "source_type": "open_api",</a:t>
            </a:r>
          </a:p>
          <a:p>
            <a:r>
              <a:t>      "title": "교래 삼다수마을",</a:t>
            </a:r>
          </a:p>
          <a:p>
            <a:r>
              <a:t>      "source_url": "https://apis.data.go.kr/B551011/KorService2",</a:t>
            </a:r>
          </a:p>
          <a:p>
            <a:r>
              <a:t>      "content_id": "128443",</a:t>
            </a:r>
          </a:p>
          <a:p>
            <a:r>
              <a:t>      "content_type_id": "12",</a:t>
            </a:r>
          </a:p>
          <a:p>
            <a:r>
              <a:t>      "address": "제주특별자치도 제주시 조천읍 교래3길 98",</a:t>
            </a:r>
          </a:p>
          <a:p>
            <a:r>
              <a:t>      "image_url": "http://tong.visitkorea.or.kr/cms/resource/18/3586318_image2_1.jpg",</a:t>
            </a:r>
          </a:p>
          <a:p>
            <a:r>
              <a:t>      "summary": "한국관광공사 국문관광정보 API가 반환한 선택 지역 관광자원"</a:t>
            </a:r>
          </a:p>
          <a:p>
            <a:r>
              <a:t>    },</a:t>
            </a:r>
          </a:p>
          <a:p>
            <a:r>
              <a:t>    {</a:t>
            </a:r>
          </a:p>
          <a:p>
            <a:r>
              <a:t>      "source_id": "reference:kto:2026:local-airport",</a:t>
            </a:r>
          </a:p>
          <a:p>
            <a:r>
              <a:t>      "source_type": "rag",</a:t>
            </a:r>
          </a:p>
          <a:p>
            <a:r>
              <a:t>      "title": "요즘, 한국관광 2호 - 지방공항 연계 지역관광 활성화 방안",</a:t>
            </a:r>
          </a:p>
          <a:p>
            <a:r>
              <a:t>      "source_url": "https://datalab.visitkorea.or.kr/site/portal/ex/bbs/View.do?bcIdx=311068&amp;cbIdx=1135&amp;pageIndex=1",</a:t>
            </a:r>
          </a:p>
          <a:p>
            <a:r>
              <a:t>      "published_or_updated_at": "2026-08",</a:t>
            </a:r>
          </a:p>
          <a:p>
            <a:r>
              <a:t>      "document_type": "policy",</a:t>
            </a:r>
          </a:p>
          <a:p>
            <a:r>
              <a:t>      "region_code": "ALL",</a:t>
            </a:r>
          </a:p>
          <a:p>
            <a:r>
              <a:t>      "region_name": "전국 공통",</a:t>
            </a:r>
          </a:p>
          <a:p>
            <a:r>
              <a:t>      "case_region": "",</a:t>
            </a:r>
          </a:p>
          <a:p>
            <a:r>
              <a:t>      "intervention": "",</a:t>
            </a:r>
          </a:p>
          <a:p>
            <a:r>
              <a:t>      "evidence_strength": "medium",</a:t>
            </a:r>
          </a:p>
          <a:p>
            <a:r>
              <a:t>      "summary": "44제 2장 지방공항 연계 지역관광 활성화 방안 요즘, 한국관광 한국관광공사는 본래의 기능인 해외 홍보마케팅을 통한 인지 형성, 지역 관광생태계 육성, 관광사업 추진을 여정 단계에 맞춰 재배치해야 한다. 해외지사와 국내지사를 연결한 중점지사제를 '관문-연계도시' 단위로 운영하고, 글로벌 OTA 와 현지 여행사가 실제 상품을 만들 수 있도록 상품화 모듈과 전세·임시편 유치를 고도화하며, 선상 마케팅처럼 항공사 기내·LCC 채널을 활용한 권역 홍보를 확대할 수 있어야 할 것이다. 특히 성과지표를 입국자 수와 공급석 중심에서 '입국객의 권역 내 첫 숙박률이나, 1인당 권역 내 소비, 지방 이동 비중' 중심으로 전환하고, 통신·카드 데이터에 소셜 담론 데이터를 결합한 공항-권역 대시보드를 상시 운영해 데이터 기반 성과관리를 지속적으로 보여주는 데이터 기반의 지방공항 중심 관광권 상황실을 구축하여야 한다. 지방자치단체와 한국공항공사는 공항에서 지역 상권까지 이어지는 현장 수용태세를 보다 면밀히 고려하는 정책과 사업이 필요하다. 공항 접근 교통과 안내·결제, 다국어 환경, 터미널과 도심·거점 관광지를 잇는 셔틀, 권역 내 숙박과 야간 콘텐츠는 지자체의 실행력이 좌우하는 영역이다. 공항 소재 지자체 단위 협의를 넘어 청주는 대전·세종·충남, 대구는 경북과 함께 상품·교통·마케팅 예산을 묶는 관광권 협의체를 구성하고, 중장기적으로는 일본의 광역연계 DMO처럼 권역 단위의 상설 조직과 재원으로 발전시켜야 한다. 민관협력은 이 체계를 지속 가능하게 만드는 가장 중요한 동인이라 할 수 있다. 항공사·LCC에는 신규 노선의 초기 리스크를 지방정부·공사와 분담하는 노선 개발 협약과 기내 권역 홍보를, 글로벌 OTA·현지 여행사에는 권역 루트 상품의",</a:t>
            </a:r>
          </a:p>
          <a:p>
            <a:r>
              <a:t>      "retrieval_method": "local_curated_chunk",</a:t>
            </a:r>
          </a:p>
          <a:p>
            <a:r>
              <a:t>      "matched_terms": [</a:t>
            </a:r>
          </a:p>
          <a:p>
            <a:r>
              <a:t>        "결제",</a:t>
            </a:r>
          </a:p>
          <a:p>
            <a:r>
              <a:t>        "관광사업",</a:t>
            </a:r>
          </a:p>
          <a:p>
            <a:r>
              <a:t>        "상권",</a:t>
            </a:r>
          </a:p>
          <a:p>
            <a:r>
              <a:t>        "성과",</a:t>
            </a:r>
          </a:p>
          <a:p>
            <a:r>
              <a:t>        "소비",</a:t>
            </a:r>
          </a:p>
          <a:p>
            <a:r>
              <a:t>        "수와",</a:t>
            </a:r>
          </a:p>
          <a:p>
            <a:r>
              <a:t>        "숙박",</a:t>
            </a:r>
          </a:p>
          <a:p>
            <a:r>
              <a:t>        "실제",</a:t>
            </a:r>
          </a:p>
          <a:p>
            <a:r>
              <a:t>        "연결한",</a:t>
            </a:r>
          </a:p>
          <a:p>
            <a:r>
              <a:t>        "예산",</a:t>
            </a:r>
          </a:p>
          <a:p>
            <a:r>
              <a:t>        "운영",</a:t>
            </a:r>
          </a:p>
          <a:p>
            <a:r>
              <a:t>        "이어지는",</a:t>
            </a:r>
          </a:p>
          <a:p>
            <a:r>
              <a:t>        "전환",</a:t>
            </a:r>
          </a:p>
          <a:p>
            <a:r>
              <a:t>        "중심으로",</a:t>
            </a:r>
          </a:p>
          <a:p>
            <a:r>
              <a:t>        "지역",</a:t>
            </a:r>
          </a:p>
          <a:p>
            <a:r>
              <a:t>        "체류",</a:t>
            </a:r>
          </a:p>
          <a:p>
            <a:r>
              <a:t>        "함께",</a:t>
            </a:r>
          </a:p>
          <a:p>
            <a:r>
              <a:t>        "현장",</a:t>
            </a:r>
          </a:p>
          <a:p>
            <a:r>
              <a:t>        "협약"</a:t>
            </a:r>
          </a:p>
          <a:p>
            <a:r>
              <a:t>      ],</a:t>
            </a:r>
          </a:p>
          <a:p>
            <a:r>
              <a:t>      "page_references": "PDF 44쪽, PDF 40쪽, PDF 41쪽, PDF 41쪽, PDF 43쪽, PDF 36쪽, PDF 43쪽, PDF 43쪽",</a:t>
            </a:r>
          </a:p>
          <a:p>
            <a:r>
              <a:t>      "source_note": "지방공항·연계 지역에 관한 자료입니다. 다른 시군구의 사업 효과·예산을 보장하는 근거로 사용하지 않습니다.",</a:t>
            </a:r>
          </a:p>
          <a:p>
            <a:r>
              <a:t>      "chunk_id": "reference:kto:2026:local-airport:page:044:chunk:01",</a:t>
            </a:r>
          </a:p>
          <a:p>
            <a:r>
              <a:t>      "parent_source_id": "reference:kto:2026:local-airport",</a:t>
            </a:r>
          </a:p>
          <a:p>
            <a:r>
              <a:t>      "chunk_ids": [</a:t>
            </a:r>
          </a:p>
          <a:p>
            <a:r>
              <a:t>        "reference:kto:2026:local-airport:page:036:chunk:01",</a:t>
            </a:r>
          </a:p>
          <a:p>
            <a:r>
              <a:t>        "reference:kto:2026:local-airport:page:040:chunk:02",</a:t>
            </a:r>
          </a:p>
          <a:p>
            <a:r>
              <a:t>        "reference:kto:2026:local-airport:page:041:chunk:01",</a:t>
            </a:r>
          </a:p>
          <a:p>
            <a:r>
              <a:t>        "reference:kto:2026:local-airport:page:041:chunk:02",</a:t>
            </a:r>
          </a:p>
          <a:p>
            <a:r>
              <a:t>        "reference:kto:2026:local-airport:page:043:chunk:01",</a:t>
            </a:r>
          </a:p>
          <a:p>
            <a:r>
              <a:t>        "reference:kto:2026:local-airport:page:043:chunk:02",</a:t>
            </a:r>
          </a:p>
          <a:p>
            <a:r>
              <a:t>        "reference:kto:2026:local-airport:page:043:chunk:03",</a:t>
            </a:r>
          </a:p>
          <a:p>
            <a:r>
              <a:t>        "reference:kto:2026:local-airport:page:044:chunk:01"</a:t>
            </a:r>
          </a:p>
          <a:p>
            <a:r>
              <a:t>      ],</a:t>
            </a:r>
          </a:p>
          <a:p>
            <a:r>
              <a:t>      "source_chunk_count": 8</a:t>
            </a:r>
          </a:p>
          <a:p>
            <a:r>
              <a:t>    },</a:t>
            </a:r>
          </a:p>
          <a:p>
            <a:r>
              <a:t>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a:t>
            </a:r>
          </a:p>
          <a:p>
            <a:r>
              <a:t>      "source_id": "case:gangjin_half_price_2024",</a:t>
            </a:r>
          </a:p>
          <a:p>
            <a:r>
              <a:t>      "source_type": "benchmark_case",</a:t>
            </a:r>
          </a:p>
          <a:p>
            <a:r>
              <a:t>      "title": "강진 반값여행 지역경제 효과 소개",</a:t>
            </a:r>
          </a:p>
          <a:p>
            <a:r>
              <a:t>      "source_url": "https://jnfarm.jeonnam.go.kr/board/FARM_BOARD_008/boardView.do?bdId=BD_00000000000011721&amp;menuCd=farm004002",</a:t>
            </a:r>
          </a:p>
          <a:p>
            <a:r>
              <a:t>      "published_or_updated_at": "2025-01-02",</a:t>
            </a:r>
          </a:p>
          <a:p>
            <a:r>
              <a:t>      "summary": "전라남도 강진군 · 반값여행 지역환급 · 상품권 결제 변화에 관한 소개 자료는 있으나, 사업 참여자 범위·정확한 비교 기간·원자료를 확인하지 못해 성과 수치 인용을 보류한다.",</a:t>
            </a:r>
          </a:p>
          <a:p>
            <a:r>
              <a:t>      "case_region": "전라남도 강진군",</a:t>
            </a:r>
          </a:p>
          <a:p>
            <a:r>
              <a:t>      "intervention": "반값여행 지역환급",</a:t>
            </a:r>
          </a:p>
          <a:p>
            <a:r>
              <a:t>      "operating_model": "여행자가 지역에서 지출한 비용의 일부를 지역상품권으로 돌려받게 하여 혜택이 다시 지역 상점에서 사용되도록 설계",</a:t>
            </a:r>
          </a:p>
          <a:p>
            <a:r>
              <a:t>      "evidence_strength": "low",</a:t>
            </a:r>
          </a:p>
          <a:p>
            <a:r>
              <a:t>      "quantitative_result_approved": false,</a:t>
            </a:r>
          </a:p>
          <a:p>
            <a:r>
              <a:t>      "document_type": "case_study",</a:t>
            </a:r>
          </a:p>
          <a:p>
            <a:r>
              <a:t>      "retrieval_method": "curated_registry",</a:t>
            </a:r>
          </a:p>
          <a:p>
            <a:r>
              <a:t>      "retrieval_context": {</a:t>
            </a:r>
          </a:p>
          <a:p>
            <a:r>
              <a:t>        "scope": "cross_province",</a:t>
            </a:r>
          </a:p>
          <a:p>
            <a:r>
              <a:t>        "peer_region_code": null</a:t>
            </a:r>
          </a:p>
          <a:p>
            <a:r>
              <a:t>      },</a:t>
            </a:r>
          </a:p>
          <a:p>
            <a:r>
              <a:t>      "observed_result": "상품권 결제 변화에 관한 소개 자료는 있으나, 사업 참여자 범위·정확한 비교 기간·원자료를 확인하지 못해 성과 수치 인용을 보류한다.",</a:t>
            </a:r>
          </a:p>
          <a:p>
            <a:r>
              <a:t>      "measurement_period": "게시일과 사업 측정기간은 다르며, 비교기간과 집계범위 원자료 확인 필요",</a:t>
            </a:r>
          </a:p>
          <a:p>
            <a:r>
              <a:t>      "transfer_conditions": [</a:t>
            </a:r>
          </a:p>
          <a:p>
            <a:r>
              <a:t>        "지역상품권 사용처와 관광업체 참여 기준 필요",</a:t>
            </a:r>
          </a:p>
          <a:p>
            <a:r>
              <a:t>        "여행 지출 증빙과 중복수혜 방지 절차 필요",</a:t>
            </a:r>
          </a:p>
          <a:p>
            <a:r>
              <a:t>        "지원금보다 추가 지역소비가 큰지 사후 측정 필요"</a:t>
            </a:r>
          </a:p>
          <a:p>
            <a:r>
              <a:t>      ]</a:t>
            </a:r>
          </a:p>
          <a:p>
            <a:r>
              <a:t>    },</a:t>
            </a:r>
          </a:p>
          <a:p>
            <a:r>
              <a:t>    {</a:t>
            </a:r>
          </a:p>
          <a:p>
            <a:r>
              <a:t>      "source_id": "case:digital_tourism_resident_2024",</a:t>
            </a:r>
          </a:p>
          <a:p>
            <a:r>
              <a:t>      "source_type": "benchmark_case",</a:t>
            </a:r>
          </a:p>
          <a:p>
            <a:r>
              <a:t>      "title": "2024년 6월 여행가는 달 추진 보도자료",</a:t>
            </a:r>
          </a:p>
          <a:p>
            <a:r>
              <a:t>      "source_url": "https://mcst.go.kr/servlets/eduport/front/upload/UplDownloadFile?pFileName=%280514%29%EB%AC%B8%EC%B2%B4%EB%B6%80%EB%B3%B4%EB%8F%84%EC%9E%90%EB%A3%8C-6%EC%9B%94_%EC%97%AC%ED%96%89%EA%B0%80%EB%8A%94_%EB%8B%AC_%EC%B6%94%EC%A7%84.pdf&amp;pPath=0302000000&amp;pRealName=20240514083202149235802932_PRESS20240514083202456506.pdf",</a:t>
            </a:r>
          </a:p>
          <a:p>
            <a:r>
              <a:t>      "published_or_updated_at": "2024-05-14",</a:t>
            </a:r>
          </a:p>
          <a:p>
            <a:r>
              <a:t>      "summary": "전국 인구감소지역 34곳 · 디지털 관광주민증과 교통·숙박·상점 할인 결합 · 2024년 34개 지역 약 800개 관광업체에 혜택 구조를 적용",</a:t>
            </a:r>
          </a:p>
          <a:p>
            <a:r>
              <a:t>      "case_region": "전국 인구감소지역 34곳",</a:t>
            </a:r>
          </a:p>
          <a:p>
            <a:r>
              <a:t>      "intervention": "디지털 관광주민증과 교통·숙박·상점 할인 결합",</a:t>
            </a:r>
          </a:p>
          <a:p>
            <a:r>
              <a:t>      "operating_model": "디지털 관광주민증 참여업체 현장 인증과 숙박·식음·관람·체험 할인, 특정 시간대 KTX 할인과 방문 후 교통 할인권을 결합",</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"2024년 34개 지역 약 800개 관광업체에 혜택 구조를 적용",</a:t>
            </a:r>
          </a:p>
          <a:p>
            <a:r>
              <a:t>      "measurement_period": "2024년 6월 운영 계획",</a:t>
            </a:r>
          </a:p>
          <a:p>
            <a:r>
              <a:t>      "transfer_conditions": [</a:t>
            </a:r>
          </a:p>
          <a:p>
            <a:r>
              <a:t>        "지역 내 참여업체 수와 혜택 매력도 확보",</a:t>
            </a:r>
          </a:p>
          <a:p>
            <a:r>
              <a:t>        "QR 또는 위치인증과 실제 사용기록 수집",</a:t>
            </a:r>
          </a:p>
          <a:p>
            <a:r>
              <a:t>        "교통 할인 제공기관과 협약 필요"</a:t>
            </a:r>
          </a:p>
          <a:p>
            <a:r>
              <a:t>      ]</a:t>
            </a:r>
          </a:p>
          <a:p>
            <a:r>
              <a:t>    },</a:t>
            </a:r>
          </a:p>
          <a:p>
            <a:r>
              <a:t>    {</a:t>
            </a:r>
          </a:p>
          <a:p>
            <a:r>
              <a:t>      "source_id": "case:kto_stay_discount_2022",</a:t>
            </a:r>
          </a:p>
          <a:p>
            <a:r>
              <a:t>      "source_type": "benchmark_case",</a:t>
            </a:r>
          </a:p>
          <a:p>
            <a:r>
              <a:t>      "title": "2022 대한민국 숙박대전 경제파급효과 공개자료",</a:t>
            </a:r>
          </a:p>
          <a:p>
            <a:r>
              <a:t>      "source_url": "https://kto.visitkorea.or.kr/upload/flexer/upload/ktobiz/20220928/b623b5f9-3ec0-11ed-9832-ddf31964842e.hwp.files/Sections1.html",</a:t>
            </a:r>
          </a:p>
          <a:p>
            <a:r>
              <a:t>      "published_or_updated_at": "2022-09-28",</a:t>
            </a:r>
          </a:p>
          <a:p>
            <a:r>
              <a:t>      "summary": "전국 숙박할인쿠폰 지원사업 · 온라인 예약 채널 숙박할인쿠폰 · 한국관광공사 자료는 약 104만 명이 할인혜택을 이용했고 서울·제주를 제외한 지역 사용 비율이 76%였다고 소개함",</a:t>
            </a:r>
          </a:p>
          <a:p>
            <a:r>
              <a:t>      "case_region": "전국 숙박할인쿠폰 지원사업",</a:t>
            </a:r>
          </a:p>
          <a:p>
            <a:r>
              <a:t>      "intervention": "온라인 예약 채널 숙박할인쿠폰",</a:t>
            </a:r>
          </a:p>
          <a:p>
            <a:r>
              <a:t>      "operating_model": "온라인 여행사 예약 단계에서 할인쿠폰을 제공하고, 지역 숙소에서 사용할 수 있도록 참여 채널과 기간을 통합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"한국관광공사 자료는 약 104만 명이 할인혜택을 이용했고 서울·제주를 제외한 지역 사용 비율이 76%였다고 소개함",</a:t>
            </a:r>
          </a:p>
          <a:p>
            <a:r>
              <a:t>      "measurement_period": "2022년 사업 종료 후 한국관광공사 공개 자료",</a:t>
            </a:r>
          </a:p>
          <a:p>
            <a:r>
              <a:t>      "transfer_conditions": [</a:t>
            </a:r>
          </a:p>
          <a:p>
            <a:r>
              <a:t>        "참여 숙소·예약 채널·쿠폰 조건을 사전에 확정",</a:t>
            </a:r>
          </a:p>
          <a:p>
            <a:r>
              <a:t>        "주말과 성수기 쏠림을 막을 사용 가능일 설계",</a:t>
            </a:r>
          </a:p>
          <a:p>
            <a:r>
              <a:t>        "쿠폰 발급량이 아니라 실제 숙박 완료·지역소비를 함께 측정"</a:t>
            </a:r>
          </a:p>
          <a:p>
            <a:r>
              <a:t>      ]</a:t>
            </a:r>
          </a:p>
          <a:p>
            <a:r>
              <a:t>    },</a:t>
            </a:r>
          </a:p>
          <a:p>
            <a:r>
              <a:t>    {</a:t>
            </a:r>
          </a:p>
          <a:p>
            <a:r>
              <a:t>      "source_id": "case:night_festival_2025",</a:t>
            </a:r>
          </a:p>
          <a:p>
            <a:r>
              <a:t>      "source_type": "benchmark_case",</a:t>
            </a:r>
          </a:p>
          <a:p>
            <a:r>
              <a:t>      "title": "2025 대한민국 밤밤페스타 개최 도시 및 일정",</a:t>
            </a:r>
          </a:p>
          <a:p>
            <a:r>
              <a:t>      "source_url": "https://korean.visitkorea.or.kr/detail/rem_detail.do?cotid=f9c636b2-dd7c-4f09-af3d-6af43b33d371",</a:t>
            </a:r>
          </a:p>
          <a:p>
            <a:r>
              <a:t>      "published_or_updated_at": "2025",</a:t>
            </a:r>
          </a:p>
          <a:p>
            <a:r>
              <a:t>      "summary": "야간관광 특화도시 10곳 · 도시별 야간 콘텐츠를 순회형 축제로 묶는 운영 · 공식 여행기사는 개최 도시·장소·운영 시간과 콘텐츠만 제시하며 방문·소비 성과 수치는 제시하지 않음",</a:t>
            </a:r>
          </a:p>
          <a:p>
            <a:r>
              <a:t>      "case_region": "야간관광 특화도시 10곳",</a:t>
            </a:r>
          </a:p>
          <a:p>
            <a:r>
              <a:t>      "intervention": "도시별 야간 콘텐츠를 순회형 축제로 묶는 운영",</a:t>
            </a:r>
          </a:p>
          <a:p>
            <a:r>
              <a:t>      "operating_model": "10개 야간관광 특화도시의 대표 장소와 시간대를 연결하고, 공연·체험·지역 디저트·판매상품 등 도시별 콘텐츠를 순회 일정으로 운영",</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"공식 여행기사는 개최 도시·장소·운영 시간과 콘텐츠만 제시하며 방문·소비 성과 수치는 제시하지 않음",</a:t>
            </a:r>
          </a:p>
          <a:p>
            <a:r>
              <a:t>      "measurement_period": "2025년 행사 일정",</a:t>
            </a:r>
          </a:p>
          <a:p>
            <a:r>
              <a:t>      "transfer_conditions": [</a:t>
            </a:r>
          </a:p>
          <a:p>
            <a:r>
              <a:t>        "야간에도 이용 가능한 교통·안전·식음 운영을 함께 설계",</a:t>
            </a:r>
          </a:p>
          <a:p>
            <a:r>
              <a:t>        "하나의 행사보다 지역별 대표 콘텐츠와 상점 참여를 연결",</a:t>
            </a:r>
          </a:p>
          <a:p>
            <a:r>
              <a:t>        "행사일과 비행사일을 분리해 방문·결제·숙박 변화를 측정"</a:t>
            </a:r>
          </a:p>
          <a:p>
            <a:r>
              <a:t>      ]</a:t>
            </a:r>
          </a:p>
          <a:p>
            <a:r>
              <a:t>    },</a:t>
            </a:r>
          </a:p>
          <a:p>
            <a:r>
              <a:t>    {</a:t>
            </a:r>
          </a:p>
          <a:p>
            <a:r>
              <a:t>      "source_id": "case:night_tourism_cities_2024",</a:t>
            </a:r>
          </a:p>
          <a:p>
            <a:r>
              <a:t>      "source_type": "benchmark_case",</a:t>
            </a:r>
          </a:p>
          <a:p>
            <a:r>
              <a:t>      "title": "2024년도 정부업무평가 관광분야 성과자료",</a:t>
            </a:r>
          </a:p>
          <a:p>
            <a:r>
              <a:t>      "source_url": "https://www.evaluation.go.kr/upload2/atch/eval/20250429095846463.pdf",</a:t>
            </a:r>
          </a:p>
          <a:p>
            <a:r>
              <a:t>      "published_or_updated_at": "2025-04-29",</a:t>
            </a:r>
          </a:p>
          <a:p>
            <a:r>
              <a:t>      "summary": "야간관광 특화도시 10곳 · 상설 야간 콘텐츠와 경관·교통·안전 운영 · 정부업무평가 자료는 특화도시 10곳 방문객이 2023년 같은 기간보다 3% 증가했다고 기록",</a:t>
            </a:r>
          </a:p>
          <a:p>
            <a:r>
              <a:t>      "case_region": "야간관광 특화도시 10곳",</a:t>
            </a:r>
          </a:p>
          <a:p>
            <a:r>
              <a:t>      "intervention": "상설 야간 콘텐츠와 경관·교통·안전 운영",</a:t>
            </a:r>
          </a:p>
          <a:p>
            <a:r>
              <a:t>      "operating_model": "지역 스토리를 반영한 야간 프로그램을 상설·행사형으로 운영하고 야간 경관, 이동, 식음, 안전 여건을 함께 구성",</a:t>
            </a:r>
          </a:p>
          <a:p>
            <a:r>
              <a:t>      "evidence_strength": "medium",</a:t>
            </a:r>
          </a:p>
          <a:p>
            <a:r>
              <a:t>      "quantitative_result_approved": null,</a:t>
            </a:r>
          </a:p>
          <a:p>
            <a:r>
              <a:t>      "document_type": "case_study",</a:t>
            </a:r>
          </a:p>
          <a:p>
            <a:r>
              <a:t>      "retrieval_method": "curated_registry",</a:t>
            </a:r>
          </a:p>
          <a:p>
            <a:r>
              <a:t>      "retrieval_context": {</a:t>
            </a:r>
          </a:p>
          <a:p>
            <a:r>
              <a:t>        "scope": "national_or_unresolved",</a:t>
            </a:r>
          </a:p>
          <a:p>
            <a:r>
              <a:t>        "peer_region_code": null</a:t>
            </a:r>
          </a:p>
          <a:p>
            <a:r>
              <a:t>      },</a:t>
            </a:r>
          </a:p>
          <a:p>
            <a:r>
              <a:t>      "observed_result": "정부업무평가 자료는 특화도시 10곳 방문객이 2023년 같은 기간보다 3% 증가했다고 기록",</a:t>
            </a:r>
          </a:p>
          <a:p>
            <a:r>
              <a:t>      "measurement_period": "2023년 동기 대비 2024년 사업 평가 기간",</a:t>
            </a:r>
          </a:p>
          <a:p>
            <a:r>
              <a:t>      "transfer_conditions": [</a:t>
            </a:r>
          </a:p>
          <a:p>
            <a:r>
              <a:t>        "야간에 실제 이용 가능한 식음·교통·안전 운영 필요",</a:t>
            </a:r>
          </a:p>
          <a:p>
            <a:r>
              <a:t>        "일회성 행사보다 상설 운영일 확보",</a:t>
            </a:r>
          </a:p>
          <a:p>
            <a:r>
              <a:t>        "숙박 또는 야간 결제 데이터로 성과 측정"</a:t>
            </a:r>
          </a:p>
          <a:p>
            <a:r>
              <a:t>      ]</a:t>
            </a:r>
          </a:p>
          <a:p>
            <a:r>
              <a:t>    },</a:t>
            </a:r>
          </a:p>
          <a:p>
            <a:r>
              <a:t>    {</a:t>
            </a:r>
          </a:p>
          <a:p>
            <a:r>
              <a:t>      "source_id": "tour-api:1884191",</a:t>
            </a:r>
          </a:p>
          <a:p>
            <a:r>
              <a:t>      "source_type": "open_api",</a:t>
            </a:r>
          </a:p>
          <a:p>
            <a:r>
              <a:t>      "title": "가마오름",</a:t>
            </a:r>
          </a:p>
          <a:p>
            <a:r>
              <a:t>      "source_url": "https://apis.data.go.kr/B551011/KorService2",</a:t>
            </a:r>
          </a:p>
          <a:p>
            <a:r>
              <a:t>      "content_id": "1884191",</a:t>
            </a:r>
          </a:p>
          <a:p>
            <a:r>
              <a:t>      "content_type_id": "12",</a:t>
            </a:r>
          </a:p>
          <a:p>
            <a:r>
              <a:t>      "address": "제주특별자치도 제주시 한경면 청수리",</a:t>
            </a:r>
          </a:p>
          <a:p>
            <a:r>
              <a:t>      "image_url": "http://tong.visitkorea.or.kr/cms/resource/72/3477972_image2_1.jpg",</a:t>
            </a:r>
          </a:p>
          <a:p>
            <a:r>
              <a:t>      "summary": "한국관광공사 국문관광정보 API가 반환한 선택 지역 관광자원"</a:t>
            </a:r>
          </a:p>
          <a:p>
            <a:r>
              <a:t>    }</a:t>
            </a:r>
          </a:p>
          <a:p>
            <a:r>
              <a:t>  ],</a:t>
            </a:r>
          </a:p>
          <a:p>
            <a:r>
              <a:t>  "selected_forecast": {</a:t>
            </a:r>
          </a:p>
          <a:p>
            <a:r>
              <a:t>    "rows": [</a:t>
            </a:r>
          </a:p>
          <a:p>
            <a:r>
              <a:t>      {</a:t>
            </a:r>
          </a:p>
          <a:p>
            <a:r>
              <a:t>        "month": "202610",</a:t>
            </a:r>
          </a:p>
          <a:p>
            <a:r>
              <a:t>        "visitors": 3615062.0,</a:t>
            </a:r>
          </a:p>
          <a:p>
            <a:r>
              <a:t>        "spending_krw": 150467072839.0,</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3594310.0,</a:t>
            </a:r>
          </a:p>
          <a:p>
            <a:r>
              <a:t>        "spending_krw": 145085139974.0,</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3370793.0,</a:t>
            </a:r>
          </a:p>
          <a:p>
            <a:r>
              <a:t>        "spending_krw": 149366639508.0,</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"period": "202610~202612",</a:t>
            </a:r>
          </a:p>
          <a:p>
            <a:r>
              <a:t>    "complete": true,</a:t>
            </a:r>
          </a:p>
          <a:p>
            <a:r>
              <a:t>    "notes": [</a:t>
            </a:r>
          </a:p>
          <a:p>
            <a:r>
              <a:t>      "3개월 초과 예측 거리는 재귀 검증 범위 밖의 탐색 전망입니다."</a:t>
            </a:r>
          </a:p>
          <a:p>
            <a:r>
              <a:t>    ],</a:t>
            </a:r>
          </a:p>
          <a:p>
            <a:r>
              <a:t>    "selection_basis": "next_three_months_at_generation",</a:t>
            </a:r>
          </a:p>
          <a:p>
            <a:r>
              <a:t>    "requested_period": "202610~202612"</a:t>
            </a:r>
          </a:p>
          <a:p>
            <a:r>
              <a:t>  },</a:t>
            </a:r>
          </a:p>
          <a:p>
            <a:r>
              <a:t>  "all_ml_forecasts": [</a:t>
            </a:r>
          </a:p>
          <a:p>
            <a:r>
              <a:t>    {</a:t>
            </a:r>
          </a:p>
          <a:p>
            <a:r>
              <a:t>      "month": "202607",</a:t>
            </a:r>
          </a:p>
          <a:p>
            <a:r>
              <a:t>      "visitors": 3517935,</a:t>
            </a:r>
          </a:p>
          <a:p>
            <a:r>
              <a:t>      "spending_krw": 140803668431,</a:t>
            </a:r>
          </a:p>
          <a:p>
            <a:r>
              <a:t>      "previous_year_visitors": 3628591,</a:t>
            </a:r>
          </a:p>
          <a:p>
            <a:r>
              <a:t>      "previous_year_spending_krw": 147121716000,</a:t>
            </a:r>
          </a:p>
          <a:p>
            <a:r>
              <a:t>      "visitor_yoy_percent": -3.05,</a:t>
            </a:r>
          </a:p>
          <a:p>
            <a:r>
              <a:t>      "spending_yoy_percent": -4.29,</a:t>
            </a:r>
          </a:p>
          <a:p>
            <a:r>
              <a:t>      "lodging_nights": 3.2,</a:t>
            </a:r>
          </a:p>
          <a:p>
            <a:r>
              <a:t>      "previous_year_lodging_nights": 3.2,</a:t>
            </a:r>
          </a:p>
          <a:p>
            <a:r>
              <a:t>      "lodging_rate_pct": 21.7,</a:t>
            </a:r>
          </a:p>
          <a:p>
            <a:r>
              <a:t>      "previous_year_lodging_rate_pct": 21.7,</a:t>
            </a:r>
          </a:p>
          <a:p>
            <a:r>
              <a:t>      "stay_minutes": 2599.0,</a:t>
            </a:r>
          </a:p>
          <a:p>
            <a:r>
              <a:t>      "previous_year_stay_minutes": 2599.0,</a:t>
            </a:r>
          </a:p>
          <a:p>
            <a:r>
              <a:t>      "navigation_searches": 710719,</a:t>
            </a:r>
          </a:p>
          <a:p>
            <a:r>
              <a:t>      "previous_year_navigation_searches": 710719,</a:t>
            </a:r>
          </a:p>
          <a:p>
            <a:r>
              <a:t>      "lodging_searches": 99946,</a:t>
            </a:r>
          </a:p>
          <a:p>
            <a:r>
              <a:t>      "previous_year_lodging_searches": 99946,</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"202608",</a:t>
            </a:r>
          </a:p>
          <a:p>
            <a:r>
              <a:t>      "visitors": 3630250,</a:t>
            </a:r>
          </a:p>
          <a:p>
            <a:r>
              <a:t>      "spending_krw": 147968744557,</a:t>
            </a:r>
          </a:p>
          <a:p>
            <a:r>
              <a:t>      "previous_year_visitors": 3874804,</a:t>
            </a:r>
          </a:p>
          <a:p>
            <a:r>
              <a:t>      "previous_year_spending_krw": 159605711000,</a:t>
            </a:r>
          </a:p>
          <a:p>
            <a:r>
              <a:t>      "visitor_yoy_percent": -6.31,</a:t>
            </a:r>
          </a:p>
          <a:p>
            <a:r>
              <a:t>      "spending_yoy_percent": -7.29,</a:t>
            </a:r>
          </a:p>
          <a:p>
            <a:r>
              <a:t>      "lodging_nights": 3.15,</a:t>
            </a:r>
          </a:p>
          <a:p>
            <a:r>
              <a:t>      "previous_year_lodging_nights": 3.15,</a:t>
            </a:r>
          </a:p>
          <a:p>
            <a:r>
              <a:t>      "lodging_rate_pct": 22.1,</a:t>
            </a:r>
          </a:p>
          <a:p>
            <a:r>
              <a:t>      "previous_year_lodging_rate_pct": 22.1,</a:t>
            </a:r>
          </a:p>
          <a:p>
            <a:r>
              <a:t>      "stay_minutes": 2361.0,</a:t>
            </a:r>
          </a:p>
          <a:p>
            <a:r>
              <a:t>      "previous_year_stay_minutes": 2361.0,</a:t>
            </a:r>
          </a:p>
          <a:p>
            <a:r>
              <a:t>      "navigation_searches": 832625,</a:t>
            </a:r>
          </a:p>
          <a:p>
            <a:r>
              <a:t>      "previous_year_navigation_searches": 832625,</a:t>
            </a:r>
          </a:p>
          <a:p>
            <a:r>
              <a:t>      "lodging_searches": 114775,</a:t>
            </a:r>
          </a:p>
          <a:p>
            <a:r>
              <a:t>      "previous_year_lodging_searches": 114775,</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"202609",</a:t>
            </a:r>
          </a:p>
          <a:p>
            <a:r>
              <a:t>      "visitors": 3508574,</a:t>
            </a:r>
          </a:p>
          <a:p>
            <a:r>
              <a:t>      "spending_krw": 128844309211,</a:t>
            </a:r>
          </a:p>
          <a:p>
            <a:r>
              <a:t>      "previous_year_visitors": 3482583,</a:t>
            </a:r>
          </a:p>
          <a:p>
            <a:r>
              <a:t>      "previous_year_spending_krw": 133843940000,</a:t>
            </a:r>
          </a:p>
          <a:p>
            <a:r>
              <a:t>      "visitor_yoy_percent": 0.75,</a:t>
            </a:r>
          </a:p>
          <a:p>
            <a:r>
              <a:t>      "spending_yoy_percent": -3.74,</a:t>
            </a:r>
          </a:p>
          <a:p>
            <a:r>
              <a:t>      "lodging_nights": 3.04,</a:t>
            </a:r>
          </a:p>
          <a:p>
            <a:r>
              <a:t>      "previous_year_lodging_nights": 3.04,</a:t>
            </a:r>
          </a:p>
          <a:p>
            <a:r>
              <a:t>      "lodging_rate_pct": 21.3,</a:t>
            </a:r>
          </a:p>
          <a:p>
            <a:r>
              <a:t>      "previous_year_lodging_rate_pct": 21.3,</a:t>
            </a:r>
          </a:p>
          <a:p>
            <a:r>
              <a:t>      "stay_minutes": 2331.0,</a:t>
            </a:r>
          </a:p>
          <a:p>
            <a:r>
              <a:t>      "previous_year_stay_minutes": 2331.0,</a:t>
            </a:r>
          </a:p>
          <a:p>
            <a:r>
              <a:t>      "navigation_searches": 625924,</a:t>
            </a:r>
          </a:p>
          <a:p>
            <a:r>
              <a:t>      "previous_year_navigation_searches": 625924,</a:t>
            </a:r>
          </a:p>
          <a:p>
            <a:r>
              <a:t>      "lodging_searches": 83147,</a:t>
            </a:r>
          </a:p>
          <a:p>
            <a:r>
              <a:t>      "previous_year_lodging_searches": 83147,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"202610",</a:t>
            </a:r>
          </a:p>
          <a:p>
            <a:r>
              <a:t>      "visitors": 3615062,</a:t>
            </a:r>
          </a:p>
          <a:p>
            <a:r>
              <a:t>      "spending_krw": 150467072839,</a:t>
            </a:r>
          </a:p>
          <a:p>
            <a:r>
              <a:t>      "previous_year_visitors": 3904808,</a:t>
            </a:r>
          </a:p>
          <a:p>
            <a:r>
              <a:t>      "previous_year_spending_krw": 154337552000,</a:t>
            </a:r>
          </a:p>
          <a:p>
            <a:r>
              <a:t>      "visitor_yoy_percent": -7.42,</a:t>
            </a:r>
          </a:p>
          <a:p>
            <a:r>
              <a:t>      "spending_yoy_percent": -2.51,</a:t>
            </a:r>
          </a:p>
          <a:p>
            <a:r>
              <a:t>      "lodging_nights": 3.3,</a:t>
            </a:r>
          </a:p>
          <a:p>
            <a:r>
              <a:t>      "previous_year_lodging_nights": 3.3,</a:t>
            </a:r>
          </a:p>
          <a:p>
            <a:r>
              <a:t>      "lodging_rate_pct": 22.1,</a:t>
            </a:r>
          </a:p>
          <a:p>
            <a:r>
              <a:t>      "previous_year_lodging_rate_pct": 22.1,</a:t>
            </a:r>
          </a:p>
          <a:p>
            <a:r>
              <a:t>      "stay_minutes": 2601.0,</a:t>
            </a:r>
          </a:p>
          <a:p>
            <a:r>
              <a:t>      "previous_year_stay_minutes": 2601.0,</a:t>
            </a:r>
          </a:p>
          <a:p>
            <a:r>
              <a:t>      "navigation_searches": 1120126,</a:t>
            </a:r>
          </a:p>
          <a:p>
            <a:r>
              <a:t>      "previous_year_navigation_searches": 1120126,</a:t>
            </a:r>
          </a:p>
          <a:p>
            <a:r>
              <a:t>      "lodging_searches": 146458,</a:t>
            </a:r>
          </a:p>
          <a:p>
            <a:r>
              <a:t>      "previous_year_lodging_searches": 146458,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"202611",</a:t>
            </a:r>
          </a:p>
          <a:p>
            <a:r>
              <a:t>      "visitors": 3594310,</a:t>
            </a:r>
          </a:p>
          <a:p>
            <a:r>
              <a:t>      "spending_krw": 145085139974,</a:t>
            </a:r>
          </a:p>
          <a:p>
            <a:r>
              <a:t>      "previous_year_visitors": 3591286,</a:t>
            </a:r>
          </a:p>
          <a:p>
            <a:r>
              <a:t>      "previous_year_spending_krw": 143894918000,</a:t>
            </a:r>
          </a:p>
          <a:p>
            <a:r>
              <a:t>      "visitor_yoy_percent": 0.08,</a:t>
            </a:r>
          </a:p>
          <a:p>
            <a:r>
              <a:t>      "spending_yoy_percent": 0.83,</a:t>
            </a:r>
          </a:p>
          <a:p>
            <a:r>
              <a:t>      "lodging_nights": 3.0,</a:t>
            </a:r>
          </a:p>
          <a:p>
            <a:r>
              <a:t>      "previous_year_lodging_nights": 3.0,</a:t>
            </a:r>
          </a:p>
          <a:p>
            <a:r>
              <a:t>      "lodging_rate_pct": 22.0,</a:t>
            </a:r>
          </a:p>
          <a:p>
            <a:r>
              <a:t>      "previous_year_lodging_rate_pct": 22.0,</a:t>
            </a:r>
          </a:p>
          <a:p>
            <a:r>
              <a:t>      "stay_minutes": 2044.0,</a:t>
            </a:r>
          </a:p>
          <a:p>
            <a:r>
              <a:t>      "previous_year_stay_minutes": 2044.0,</a:t>
            </a:r>
          </a:p>
          <a:p>
            <a:r>
              <a:t>      "navigation_searches": 657481,</a:t>
            </a:r>
          </a:p>
          <a:p>
            <a:r>
              <a:t>      "previous_year_navigation_searches": 657481,</a:t>
            </a:r>
          </a:p>
          <a:p>
            <a:r>
              <a:t>      "lodging_searches": 87867,</a:t>
            </a:r>
          </a:p>
          <a:p>
            <a:r>
              <a:t>      "previous_year_lodging_searches": 87867,</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"month": "202612",</a:t>
            </a:r>
          </a:p>
          <a:p>
            <a:r>
              <a:t>      "visitors": 3370793,</a:t>
            </a:r>
          </a:p>
          <a:p>
            <a:r>
              <a:t>      "spending_krw": 149366639508,</a:t>
            </a:r>
          </a:p>
          <a:p>
            <a:r>
              <a:t>      "previous_year_visitors": 3410959,</a:t>
            </a:r>
          </a:p>
          <a:p>
            <a:r>
              <a:t>      "previous_year_spending_krw": 148223154000,</a:t>
            </a:r>
          </a:p>
          <a:p>
            <a:r>
              <a:t>      "visitor_yoy_percent": -1.18,</a:t>
            </a:r>
          </a:p>
          <a:p>
            <a:r>
              <a:t>      "spending_yoy_percent": 0.77,</a:t>
            </a:r>
          </a:p>
          <a:p>
            <a:r>
              <a:t>      "lodging_nights": 3.03,</a:t>
            </a:r>
          </a:p>
          <a:p>
            <a:r>
              <a:t>      "previous_year_lodging_nights": 3.03,</a:t>
            </a:r>
          </a:p>
          <a:p>
            <a:r>
              <a:t>      "lodging_rate_pct": 22.3,</a:t>
            </a:r>
          </a:p>
          <a:p>
            <a:r>
              <a:t>      "previous_year_lodging_rate_pct": 22.3,</a:t>
            </a:r>
          </a:p>
          <a:p>
            <a:r>
              <a:t>      "stay_minutes": 2289.0,</a:t>
            </a:r>
          </a:p>
          <a:p>
            <a:r>
              <a:t>      "previous_year_stay_minutes": 2289.0,</a:t>
            </a:r>
          </a:p>
          <a:p>
            <a:r>
              <a:t>      "navigation_searches": 556973,</a:t>
            </a:r>
          </a:p>
          <a:p>
            <a:r>
              <a:t>      "previous_year_navigation_searches": 556973,</a:t>
            </a:r>
          </a:p>
          <a:p>
            <a:r>
              <a:t>      "lodging_searches": 75858,</a:t>
            </a:r>
          </a:p>
          <a:p>
            <a:r>
              <a:t>      "previous_year_lodging_searches": 75858,</a:t>
            </a:r>
          </a:p>
          <a:p>
            <a:r>
              <a:t>      "metric_changes_percent": {</a:t>
            </a:r>
          </a:p>
          <a:p>
            <a:r>
              <a:t>        "lodging_nights": 0.0,</a:t>
            </a:r>
          </a:p>
          <a:p>
            <a:r>
              <a:t>        "lodging_rate_pct": 0.0,</a:t>
            </a:r>
          </a:p>
          <a:p>
            <a:r>
              <a:t>        "stay_minutes": 0.0,</a:t>
            </a:r>
          </a:p>
          <a:p>
            <a:r>
              <a:t>        "navigation_searches": 0.0,</a:t>
            </a:r>
          </a:p>
          <a:p>
            <a:r>
              <a:t>        "lodging_searches": 0.0</a:t>
            </a:r>
          </a:p>
          <a:p>
            <a:r>
              <a:t>      },</a:t>
            </a:r>
          </a:p>
          <a:p>
            <a:r>
              <a:t>      "is_forecast": true</a:t>
            </a:r>
          </a:p>
          <a:p>
            <a:r>
              <a:t>    }</a:t>
            </a:r>
          </a:p>
          <a:p>
            <a:r>
              <a:t>  ],</a:t>
            </a:r>
          </a:p>
          <a:p>
            <a:r>
              <a:t>  "evaluation": {</a:t>
            </a:r>
          </a:p>
          <a:p>
            <a:r>
              <a:t>    "validation_period": "202512~202602",</a:t>
            </a:r>
          </a:p>
          <a:p>
            <a:r>
              <a:t>    "test_period": "202603~202606",</a:t>
            </a:r>
          </a:p>
          <a:p>
            <a:r>
              <a:t>    "selection_basis": "validation_mae_only",</a:t>
            </a:r>
          </a:p>
          <a:p>
            <a:r>
              <a:t>    "recursive_backtest_horizon_months": [</a:t>
            </a:r>
          </a:p>
          <a:p>
            <a:r>
              <a:t>      1,</a:t>
            </a:r>
          </a:p>
          <a:p>
            <a:r>
              <a:t>      2,</a:t>
            </a:r>
          </a:p>
          <a:p>
            <a:r>
              <a:t>      3</a:t>
            </a:r>
          </a:p>
          <a:p>
            <a:r>
              <a:t>    ],</a:t>
            </a:r>
          </a:p>
          <a:p>
            <a:r>
              <a:t>    "forecast_horizon_months": 6,</a:t>
            </a:r>
          </a:p>
          <a:p>
            <a:r>
              <a:t>    "longer_horizon_status": "exploratory_not_recursively_backtested",</a:t>
            </a:r>
          </a:p>
          <a:p>
            <a:r>
              <a:t>    "metrics": {</a:t>
            </a:r>
          </a:p>
          <a:p>
            <a:r>
              <a:t>      "visitors": {</a:t>
            </a:r>
          </a:p>
          <a:p>
            <a:r>
              <a:t>        "selected_model": "RandomForestRegressor",</a:t>
            </a:r>
          </a:p>
          <a:p>
            <a:r>
              <a:t>        "test_mae": 183762.22,</a:t>
            </a:r>
          </a:p>
          <a:p>
            <a:r>
              <a:t>        "baseline_test_mae": 219359.25,</a:t>
            </a:r>
          </a:p>
          <a:p>
            <a:r>
              <a:t>        "beats_baseline_on_test": true,</a:t>
            </a:r>
          </a:p>
          <a:p>
            <a:r>
              <a:t>        "model_reliability": "mixed_recursive_performance",</a:t>
            </a:r>
          </a:p>
          <a:p>
            <a:r>
              <a:t>        "recursive_horizons_worse_than_baseline": [</a:t>
            </a:r>
          </a:p>
          <a:p>
            <a:r>
              <a:t>          "1"</a:t>
            </a:r>
          </a:p>
          <a:p>
            <a:r>
              <a:t>        ],</a:t>
            </a:r>
          </a:p>
          <a:p>
            <a:r>
              <a:t>        "recursive_mae": {</a:t>
            </a:r>
          </a:p>
          <a:p>
            <a:r>
              <a:t>          "1": {</a:t>
            </a:r>
          </a:p>
          <a:p>
            <a:r>
              <a:t>            "selected": 265459.0,</a:t>
            </a:r>
          </a:p>
          <a:p>
            <a:r>
              <a:t>            "baseline": 141219.0,</a:t>
            </a:r>
          </a:p>
          <a:p>
            <a:r>
              <a:t>            "sample_count": 2</a:t>
            </a:r>
          </a:p>
          <a:p>
            <a:r>
              <a:t>          },</a:t>
            </a:r>
          </a:p>
          <a:p>
            <a:r>
              <a:t>          "2": {</a:t>
            </a:r>
          </a:p>
          <a:p>
            <a:r>
              <a:t>            "selected": 136814.0,</a:t>
            </a:r>
          </a:p>
          <a:p>
            <a:r>
              <a:t>            "baseline": 144459.5,</a:t>
            </a:r>
          </a:p>
          <a:p>
            <a:r>
              <a:t>            "sample_count": 2</a:t>
            </a:r>
          </a:p>
          <a:p>
            <a:r>
              <a:t>          },</a:t>
            </a:r>
          </a:p>
          <a:p>
            <a:r>
              <a:t>          "3": {</a:t>
            </a:r>
          </a:p>
          <a:p>
            <a:r>
              <a:t>            "selected": 180437.5,</a:t>
            </a:r>
          </a:p>
          <a:p>
            <a:r>
              <a:t>            "baseline": 297499.5,</a:t>
            </a:r>
          </a:p>
          <a:p>
            <a:r>
              <a:t>            "sample_count": 2</a:t>
            </a:r>
          </a:p>
          <a:p>
            <a:r>
              <a:t>          }</a:t>
            </a:r>
          </a:p>
          <a:p>
            <a:r>
              <a:t>        }</a:t>
            </a:r>
          </a:p>
          <a:p>
            <a:r>
              <a:t>      },</a:t>
            </a:r>
          </a:p>
          <a:p>
            <a:r>
              <a:t>      "spending_krw": {</a:t>
            </a:r>
          </a:p>
          <a:p>
            <a:r>
              <a:t>        "selected_model": "LinearRegression",</a:t>
            </a:r>
          </a:p>
          <a:p>
            <a:r>
              <a:t>        "test_mae": 7866027889.97,</a:t>
            </a:r>
          </a:p>
          <a:p>
            <a:r>
              <a:t>        "baseline_test_mae": 8640464250.0,</a:t>
            </a:r>
          </a:p>
          <a:p>
            <a:r>
              <a:t>        "beats_baseline_on_test": true,</a:t>
            </a:r>
          </a:p>
          <a:p>
            <a:r>
              <a:t>        "model_reliability": "mixed_recursive_performance",</a:t>
            </a:r>
          </a:p>
          <a:p>
            <a:r>
              <a:t>        "recursive_horizons_worse_than_baseline": [</a:t>
            </a:r>
          </a:p>
          <a:p>
            <a:r>
              <a:t>          "3"</a:t>
            </a:r>
          </a:p>
          <a:p>
            <a:r>
              <a:t>        ],</a:t>
            </a:r>
          </a:p>
          <a:p>
            <a:r>
              <a:t>        "recursive_mae": {</a:t>
            </a:r>
          </a:p>
          <a:p>
            <a:r>
              <a:t>          "1": {</a:t>
            </a:r>
          </a:p>
          <a:p>
            <a:r>
              <a:t>            "selected": 5070058833.0,</a:t>
            </a:r>
          </a:p>
          <a:p>
            <a:r>
              <a:t>            "baseline": 11633402000.0,</a:t>
            </a:r>
          </a:p>
          <a:p>
            <a:r>
              <a:t>            "sample_count": 2</a:t>
            </a:r>
          </a:p>
          <a:p>
            <a:r>
              <a:t>          },</a:t>
            </a:r>
          </a:p>
          <a:p>
            <a:r>
              <a:t>          "2": {</a:t>
            </a:r>
          </a:p>
          <a:p>
            <a:r>
              <a:t>            "selected": 2754801694.5,</a:t>
            </a:r>
          </a:p>
          <a:p>
            <a:r>
              <a:t>            "baseline": 5588447000.0,</a:t>
            </a:r>
          </a:p>
          <a:p>
            <a:r>
              <a:t>            "sample_count": 2</a:t>
            </a:r>
          </a:p>
          <a:p>
            <a:r>
              <a:t>          },</a:t>
            </a:r>
          </a:p>
          <a:p>
            <a:r>
              <a:t>          "3": {</a:t>
            </a:r>
          </a:p>
          <a:p>
            <a:r>
              <a:t>            "selected": 11586732430.5,</a:t>
            </a:r>
          </a:p>
          <a:p>
            <a:r>
              <a:t>            "baseline": 5647526500.0,</a:t>
            </a:r>
          </a:p>
          <a:p>
            <a:r>
              <a:t>            "sample_count": 2</a:t>
            </a:r>
          </a:p>
          <a:p>
            <a:r>
              <a:t>          }</a:t>
            </a:r>
          </a:p>
          <a:p>
            <a:r>
              <a:t>        }</a:t>
            </a:r>
          </a:p>
          <a:p>
            <a:r>
              <a:t>      },</a:t>
            </a:r>
          </a:p>
          <a:p>
            <a:r>
              <a:t>      "lodging_nights": {</a:t>
            </a:r>
          </a:p>
          <a:p>
            <a:r>
              <a:t>        "selected_model": "seasonal_naive_previous_year_same_month",</a:t>
            </a:r>
          </a:p>
          <a:p>
            <a:r>
              <a:t>        "test_mae": 0.03,</a:t>
            </a:r>
          </a:p>
          <a:p>
            <a:r>
              <a:t>        "baseline_test_mae": 0.03,</a:t>
            </a:r>
          </a:p>
          <a:p>
            <a:r>
              <a:t>        "beats_baseline_on_test": false,</a:t>
            </a:r>
          </a:p>
          <a:p>
            <a:r>
              <a:t>        "model_reliability": "seasonal_baseline",</a:t>
            </a:r>
          </a:p>
          <a:p>
            <a:r>
              <a:t>        "recursive_horizons_worse_than_baseline": [],</a:t>
            </a:r>
          </a:p>
          <a:p>
            <a:r>
              <a:t>        "recursive_mae": {</a:t>
            </a:r>
          </a:p>
          <a:p>
            <a:r>
              <a:t>          "1": {</a:t>
            </a:r>
          </a:p>
          <a:p>
            <a:r>
              <a:t>            "selected": 0.02,</a:t>
            </a:r>
          </a:p>
          <a:p>
            <a:r>
              <a:t>            "baseline": 0.02,</a:t>
            </a:r>
          </a:p>
          <a:p>
            <a:r>
              <a:t>            "sample_count": 2</a:t>
            </a:r>
          </a:p>
          <a:p>
            <a:r>
              <a:t>          },</a:t>
            </a:r>
          </a:p>
          <a:p>
            <a:r>
              <a:t>          "2": {</a:t>
            </a:r>
          </a:p>
          <a:p>
            <a:r>
              <a:t>            "selected": 0.02,</a:t>
            </a:r>
          </a:p>
          <a:p>
            <a:r>
              <a:t>            "baseline": 0.02,</a:t>
            </a:r>
          </a:p>
          <a:p>
            <a:r>
              <a:t>            "sample_count": 2</a:t>
            </a:r>
          </a:p>
          <a:p>
            <a:r>
              <a:t>          },</a:t>
            </a:r>
          </a:p>
          <a:p>
            <a:r>
              <a:t>          "3": {</a:t>
            </a:r>
          </a:p>
          <a:p>
            <a:r>
              <a:t>            "selected": 0.04,</a:t>
            </a:r>
          </a:p>
          <a:p>
            <a:r>
              <a:t>            "baseline": 0.04,</a:t>
            </a:r>
          </a:p>
          <a:p>
            <a:r>
              <a:t>            "sample_count": 2</a:t>
            </a:r>
          </a:p>
          <a:p>
            <a:r>
              <a:t>          }</a:t>
            </a:r>
          </a:p>
          <a:p>
            <a:r>
              <a:t>        }</a:t>
            </a:r>
          </a:p>
          <a:p>
            <a:r>
              <a:t>      },</a:t>
            </a:r>
          </a:p>
          <a:p>
            <a:r>
              <a:t>      "lodging_rate_pct": {</a:t>
            </a:r>
          </a:p>
          <a:p>
            <a:r>
              <a:t>        "selected_model": "seasonal_naive_previous_year_same_month",</a:t>
            </a:r>
          </a:p>
          <a:p>
            <a:r>
              <a:t>        "test_mae": 0.5,</a:t>
            </a:r>
          </a:p>
          <a:p>
            <a:r>
              <a:t>        "baseline_test_mae": 0.5,</a:t>
            </a:r>
          </a:p>
          <a:p>
            <a:r>
              <a:t>        "beats_baseline_on_test": false,</a:t>
            </a:r>
          </a:p>
          <a:p>
            <a:r>
              <a:t>        "model_reliability": "seasonal_baseline",</a:t>
            </a:r>
          </a:p>
          <a:p>
            <a:r>
              <a:t>        "recursive_horizons_worse_than_baseline": [],</a:t>
            </a:r>
          </a:p>
          <a:p>
            <a:r>
              <a:t>        "recursive_mae": {</a:t>
            </a:r>
          </a:p>
          <a:p>
            <a:r>
              <a:t>          "1": {</a:t>
            </a:r>
          </a:p>
          <a:p>
            <a:r>
              <a:t>            "selected": 0.7,</a:t>
            </a:r>
          </a:p>
          <a:p>
            <a:r>
              <a:t>            "baseline": 0.7,</a:t>
            </a:r>
          </a:p>
          <a:p>
            <a:r>
              <a:t>            "sample_count": 2</a:t>
            </a:r>
          </a:p>
          <a:p>
            <a:r>
              <a:t>          },</a:t>
            </a:r>
          </a:p>
          <a:p>
            <a:r>
              <a:t>          "2": {</a:t>
            </a:r>
          </a:p>
          <a:p>
            <a:r>
              <a:t>            "selected": 0.55,</a:t>
            </a:r>
          </a:p>
          <a:p>
            <a:r>
              <a:t>            "baseline": 0.55,</a:t>
            </a:r>
          </a:p>
          <a:p>
            <a:r>
              <a:t>            "sample_count": 2</a:t>
            </a:r>
          </a:p>
          <a:p>
            <a:r>
              <a:t>          },</a:t>
            </a:r>
          </a:p>
          <a:p>
            <a:r>
              <a:t>          "3": {</a:t>
            </a:r>
          </a:p>
          <a:p>
            <a:r>
              <a:t>            "selected": 0.3,</a:t>
            </a:r>
          </a:p>
          <a:p>
            <a:r>
              <a:t>            "baseline": 0.3,</a:t>
            </a:r>
          </a:p>
          <a:p>
            <a:r>
              <a:t>            "sample_count": 2</a:t>
            </a:r>
          </a:p>
          <a:p>
            <a:r>
              <a:t>          }</a:t>
            </a:r>
          </a:p>
          <a:p>
            <a:r>
              <a:t>        }</a:t>
            </a:r>
          </a:p>
          <a:p>
            <a:r>
              <a:t>      },</a:t>
            </a:r>
          </a:p>
          <a:p>
            <a:r>
              <a:t>      "stay_minutes": {</a:t>
            </a:r>
          </a:p>
          <a:p>
            <a:r>
              <a:t>        "selected_model": "seasonal_naive_previous_year_same_month",</a:t>
            </a:r>
          </a:p>
          <a:p>
            <a:r>
              <a:t>        "test_mae": 138.75,</a:t>
            </a:r>
          </a:p>
          <a:p>
            <a:r>
              <a:t>        "baseline_test_mae": 138.75,</a:t>
            </a:r>
          </a:p>
          <a:p>
            <a:r>
              <a:t>        "beats_baseline_on_test": false,</a:t>
            </a:r>
          </a:p>
          <a:p>
            <a:r>
              <a:t>        "model_reliability": "seasonal_baseline",</a:t>
            </a:r>
          </a:p>
          <a:p>
            <a:r>
              <a:t>        "recursive_horizons_worse_than_baseline": [],</a:t>
            </a:r>
          </a:p>
          <a:p>
            <a:r>
              <a:t>        "recursive_mae": {</a:t>
            </a:r>
          </a:p>
          <a:p>
            <a:r>
              <a:t>          "1": {</a:t>
            </a:r>
          </a:p>
          <a:p>
            <a:r>
              <a:t>            "selected": 41.0,</a:t>
            </a:r>
          </a:p>
          <a:p>
            <a:r>
              <a:t>            "baseline": 41.0,</a:t>
            </a:r>
          </a:p>
          <a:p>
            <a:r>
              <a:t>            "sample_count": 2</a:t>
            </a:r>
          </a:p>
          <a:p>
            <a:r>
              <a:t>          },</a:t>
            </a:r>
          </a:p>
          <a:p>
            <a:r>
              <a:t>          "2": {</a:t>
            </a:r>
          </a:p>
          <a:p>
            <a:r>
              <a:t>            "selected": 208.5,</a:t>
            </a:r>
          </a:p>
          <a:p>
            <a:r>
              <a:t>            "baseline": 208.5,</a:t>
            </a:r>
          </a:p>
          <a:p>
            <a:r>
              <a:t>            "sample_count": 2</a:t>
            </a:r>
          </a:p>
          <a:p>
            <a:r>
              <a:t>          },</a:t>
            </a:r>
          </a:p>
          <a:p>
            <a:r>
              <a:t>          "3": {</a:t>
            </a:r>
          </a:p>
          <a:p>
            <a:r>
              <a:t>            "selected": 236.5,</a:t>
            </a:r>
          </a:p>
          <a:p>
            <a:r>
              <a:t>            "baseline": 236.5,</a:t>
            </a:r>
          </a:p>
          <a:p>
            <a:r>
              <a:t>            "sample_count": 2</a:t>
            </a:r>
          </a:p>
          <a:p>
            <a:r>
              <a:t>          }</a:t>
            </a:r>
          </a:p>
          <a:p>
            <a:r>
              <a:t>        }</a:t>
            </a:r>
          </a:p>
          <a:p>
            <a:r>
              <a:t>      },</a:t>
            </a:r>
          </a:p>
          <a:p>
            <a:r>
              <a:t>      "navigation_searches": {</a:t>
            </a:r>
          </a:p>
          <a:p>
            <a:r>
              <a:t>        "selected_model": "seasonal_naive_previous_year_same_month",</a:t>
            </a:r>
          </a:p>
          <a:p>
            <a:r>
              <a:t>        "test_mae": 29189.5,</a:t>
            </a:r>
          </a:p>
          <a:p>
            <a:r>
              <a:t>        "baseline_test_mae": 29189.5,</a:t>
            </a:r>
          </a:p>
          <a:p>
            <a:r>
              <a:t>        "beats_baseline_on_test": false,</a:t>
            </a:r>
          </a:p>
          <a:p>
            <a:r>
              <a:t>        "model_reliability": "seasonal_baseline",</a:t>
            </a:r>
          </a:p>
          <a:p>
            <a:r>
              <a:t>        "recursive_horizons_worse_than_baseline": [],</a:t>
            </a:r>
          </a:p>
          <a:p>
            <a:r>
              <a:t>        "recursive_mae": {</a:t>
            </a:r>
          </a:p>
          <a:p>
            <a:r>
              <a:t>          "1": {</a:t>
            </a:r>
          </a:p>
          <a:p>
            <a:r>
              <a:t>            "selected": 11165.5,</a:t>
            </a:r>
          </a:p>
          <a:p>
            <a:r>
              <a:t>            "baseline": 11165.5,</a:t>
            </a:r>
          </a:p>
          <a:p>
            <a:r>
              <a:t>            "sample_count": 2</a:t>
            </a:r>
          </a:p>
          <a:p>
            <a:r>
              <a:t>          },</a:t>
            </a:r>
          </a:p>
          <a:p>
            <a:r>
              <a:t>          "2": {</a:t>
            </a:r>
          </a:p>
          <a:p>
            <a:r>
              <a:t>            "selected": 19541.0,</a:t>
            </a:r>
          </a:p>
          <a:p>
            <a:r>
              <a:t>            "baseline": 19541.0,</a:t>
            </a:r>
          </a:p>
          <a:p>
            <a:r>
              <a:t>            "sample_count": 2</a:t>
            </a:r>
          </a:p>
          <a:p>
            <a:r>
              <a:t>          },</a:t>
            </a:r>
          </a:p>
          <a:p>
            <a:r>
              <a:t>          "3": {</a:t>
            </a:r>
          </a:p>
          <a:p>
            <a:r>
              <a:t>            "selected": 47213.5,</a:t>
            </a:r>
          </a:p>
          <a:p>
            <a:r>
              <a:t>            "baseline": 47213.5,</a:t>
            </a:r>
          </a:p>
          <a:p>
            <a:r>
              <a:t>            "sample_count": 2</a:t>
            </a:r>
          </a:p>
          <a:p>
            <a:r>
              <a:t>          }</a:t>
            </a:r>
          </a:p>
          <a:p>
            <a:r>
              <a:t>        }</a:t>
            </a:r>
          </a:p>
          <a:p>
            <a:r>
              <a:t>      },</a:t>
            </a:r>
          </a:p>
          <a:p>
            <a:r>
              <a:t>      "lodging_searches": {</a:t>
            </a:r>
          </a:p>
          <a:p>
            <a:r>
              <a:t>        "selected_model": "seasonal_naive_previous_year_same_month",</a:t>
            </a:r>
          </a:p>
          <a:p>
            <a:r>
              <a:t>        "test_mae": 5915.25,</a:t>
            </a:r>
          </a:p>
          <a:p>
            <a:r>
              <a:t>        "baseline_test_mae": 5915.25,</a:t>
            </a:r>
          </a:p>
          <a:p>
            <a:r>
              <a:t>        "beats_baseline_on_test": false,</a:t>
            </a:r>
          </a:p>
          <a:p>
            <a:r>
              <a:t>        "model_reliability": "seasonal_baseline",</a:t>
            </a:r>
          </a:p>
          <a:p>
            <a:r>
              <a:t>        "recursive_horizons_worse_than_baseline": [],</a:t>
            </a:r>
          </a:p>
          <a:p>
            <a:r>
              <a:t>        "recursive_mae": {</a:t>
            </a:r>
          </a:p>
          <a:p>
            <a:r>
              <a:t>          "1": {</a:t>
            </a:r>
          </a:p>
          <a:p>
            <a:r>
              <a:t>            "selected": 2259.5,</a:t>
            </a:r>
          </a:p>
          <a:p>
            <a:r>
              <a:t>            "baseline": 2259.5,</a:t>
            </a:r>
          </a:p>
          <a:p>
            <a:r>
              <a:t>            "sample_count": 2</a:t>
            </a:r>
          </a:p>
          <a:p>
            <a:r>
              <a:t>          },</a:t>
            </a:r>
          </a:p>
          <a:p>
            <a:r>
              <a:t>          "2": {</a:t>
            </a:r>
          </a:p>
          <a:p>
            <a:r>
              <a:t>            "selected": 5253.5,</a:t>
            </a:r>
          </a:p>
          <a:p>
            <a:r>
              <a:t>            "baseline": 5253.5,</a:t>
            </a:r>
          </a:p>
          <a:p>
            <a:r>
              <a:t>            "sample_count": 2</a:t>
            </a:r>
          </a:p>
          <a:p>
            <a:r>
              <a:t>          },</a:t>
            </a:r>
          </a:p>
          <a:p>
            <a:r>
              <a:t>          "3": {</a:t>
            </a:r>
          </a:p>
          <a:p>
            <a:r>
              <a:t>            "selected": 9571.0,</a:t>
            </a:r>
          </a:p>
          <a:p>
            <a:r>
              <a:t>            "baseline": 9571.0,</a:t>
            </a:r>
          </a:p>
          <a:p>
            <a:r>
              <a:t>            "sample_count": 2</a:t>
            </a:r>
          </a:p>
          <a:p>
            <a:r>
              <a:t>          }</a:t>
            </a:r>
          </a:p>
          <a:p>
            <a:r>
              <a:t>        }</a:t>
            </a:r>
          </a:p>
          <a:p>
            <a:r>
              <a:t>      }</a:t>
            </a:r>
          </a:p>
          <a:p>
            <a:r>
              <a:t>    }</a:t>
            </a:r>
          </a:p>
          <a:p>
            <a:r>
              <a:t>  },</a:t>
            </a:r>
          </a:p>
          <a:p>
            <a:r>
              <a:t>  "execution_scenario": {</a:t>
            </a:r>
          </a:p>
          <a:p>
            <a:r>
              <a:t>    "visitor_target_pct": 5.0,</a:t>
            </a:r>
          </a:p>
          <a:p>
            <a:r>
              <a:t>    "spending_target_pct": 5.0</a:t>
            </a:r>
          </a:p>
          <a:p>
            <a:r>
              <a:t>  },</a:t>
            </a:r>
          </a:p>
          <a:p>
            <a:r>
              <a:t>  "reference_estimate": {</a:t>
            </a:r>
          </a:p>
          <a:p>
            <a:r>
              <a:t>    "status": "saved_report_budget",</a:t>
            </a:r>
          </a:p>
          <a:p>
            <a:r>
              <a:t>    "total_label": "총액 미확정",</a:t>
            </a:r>
          </a:p>
          <a:p>
            <a:r>
              <a:t>    "rows": [</a:t>
            </a:r>
          </a:p>
          <a:p>
            <a:r>
              <a:t>      [</a:t>
            </a:r>
          </a:p>
          <a:p>
            <a:r>
              <a:t>        "산정 내역 1",</a:t>
            </a:r>
          </a:p>
          <a:p>
            <a:r>
              <a: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"본문 기준"</a:t>
            </a:r>
          </a:p>
          <a:p>
            <a:r>
              <a:t>      ]</a:t>
            </a:r>
          </a:p>
          <a:p>
            <a:r>
              <a:t>    ],</a:t>
            </a:r>
          </a:p>
          <a:p>
            <a:r>
              <a:t>    "original_text": "기획 가정/미확정 참고 견적: 운영 콘텐츠 수×콘텐츠별 비교견적 + 운영일수×일일 운영·안전 견적 + 참여업체 수×업체 준비비 견적 + 측정 원장 1식×구축 견적. 사업 담당자가 착수 전 수량을 정하고 회계 담당자가 같은 조건의 비교견적 2건 이상으로 단가·부가세·총액을 확정함",</a:t>
            </a:r>
          </a:p>
          <a:p>
            <a:r>
              <a:t>    "sources": [],</a:t>
            </a:r>
          </a:p>
          <a:p>
            <a:r>
              <a:t>    "note": "저장 기획안의 예산 산정 내용을 그대로 표시합니다. 확정 견적이 아니며 계약 전 수량·단가·세금과 합계를 확인합니다."</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
            </a:r>
          </a:p>
          <a:p>
            <a:r>
              <a:t>  "method": "operation-document-v2",</a:t>
            </a:r>
          </a:p>
          <a:p>
            <a:r>
              <a:t>  "selected_source":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"observed_findings": [</a:t>
            </a:r>
          </a:p>
          <a:p>
            <a:r>
              <a:t>    {</a:t>
            </a:r>
          </a:p>
          <a:p>
            <a:r>
              <a:t>      "metric": "월간 순 방문자 수",</a:t>
            </a:r>
          </a:p>
          <a:p>
            <a:r>
              <a:t>      "value": "3,131,476명",</a:t>
            </a:r>
          </a:p>
          <a:p>
            <a:r>
              <a:t>      "interpretation": "2026년 6월 기준, 전년 동월 대비 -8.9% 감소하며 방문객 감소 추세가 관측됨",</a:t>
            </a:r>
          </a:p>
          <a:p>
            <a:r>
              <a:t>      "source": "dataset:50110:1"</a:t>
            </a:r>
          </a:p>
          <a:p>
            <a:r>
              <a:t>    },</a:t>
            </a:r>
          </a:p>
          <a:p>
            <a:r>
              <a:t>    {</a:t>
            </a:r>
          </a:p>
          <a:p>
            <a:r>
              <a:t>      "metric": "내비게이션 목적지 검색량",</a:t>
            </a:r>
          </a:p>
          <a:p>
            <a:r>
              <a:t>      "value": "580,380건",</a:t>
            </a:r>
          </a:p>
          <a:p>
            <a:r>
              <a:t>      "interpretation": "제주시 내 관광 목적지에 대한 높은 관심이 확인되어 야간 프로그램 운영을 위한 잠재 수요로 판단됨",</a:t>
            </a:r>
          </a:p>
          <a:p>
            <a:r>
              <a:t>      "source": "dataset:50110:6"</a:t>
            </a:r>
          </a:p>
          <a:p>
            <a:r>
              <a:t>    },</a:t>
            </a:r>
          </a:p>
          <a:p>
            <a:r>
              <a:t>    {</a:t>
            </a:r>
          </a:p>
          <a:p>
            <a:r>
              <a:t>      "metric": "외지인 숙박 방문 비율",</a:t>
            </a:r>
          </a:p>
          <a:p>
            <a:r>
              <a:t>      "value": "21.0%",</a:t>
            </a:r>
          </a:p>
          <a:p>
            <a:r>
              <a:t>      "interpretation": "전체 방문객 중 숙박객 비중이 낮아 야간 체류 프로그램이 숙박 전환의 핵심 기제가 될 수 있음",</a:t>
            </a:r>
          </a:p>
          <a:p>
            <a:r>
              <a:t>      "source": "dataset:50110:4"</a:t>
            </a:r>
          </a:p>
          <a:p>
            <a:r>
              <a:t>    }</a:t>
            </a:r>
          </a:p>
          <a:p>
            <a:r>
              <a:t>  ],</a:t>
            </a:r>
          </a:p>
          <a:p>
            <a:r>
              <a:t>  "interpretation": "7개 예측값으로 학습한 추천 모델 없음. 관측 지표는 지역 설계 입력이고 공식 운영 문서가 사례 연결 기준."</a:t>
            </a:r>
          </a:p>
          <a:p>
            <a:r>
              <a:t>}</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발표 설명</a:t>
            </a:r>
          </a:p>
          <a:p>
            <a:r>
              <a:t>우리 ML은 7개 관광지표의 전망을 계산합니다. 방문자와 소비액은 그래프·목표 규모를 계산하는 기준선입니다. 체류·숙박·검색 관련 5개 전망은 지역의 관광 흐름을 검토할 입력입니다. 서버가 이 수치와 모델 평가를 공식 사례와 함께 Qwen에 제공합니다. Qwen은 지역 조건과 사례의 운영 방식을 비교하고 Gemma는 선택안을 본문으로 구성합니다. 따라서 ML은 수치 전망을 담당하고 사업 선택은 근거 문서와 LLM 판단을 결합합니다. 지표별로 전년 동월 기준모델이 선택될 수 있으며, 이를 고도화 모델의 성능 개선이라고 설명하지 않습니다.</a:t>
            </a:r>
          </a:p>
          <a:p/>
          <a:p>
            <a:r>
              <a:t>{</a:t>
            </a:r>
          </a:p>
          <a:p>
            <a:r>
              <a:t>  "sections": [</a:t>
            </a:r>
          </a:p>
          <a:p>
            <a:r>
              <a:t>    [</a:t>
            </a:r>
          </a:p>
          <a:p>
            <a:r>
              <a:t>      "월별 기준 전망",</a:t>
            </a:r>
          </a:p>
          <a:p>
            <a:r>
              <a:t>      "202401~202606 월별 데이터에서 1·3·12개월 전 값과 계절 정보를 구성합니다. 방문은 랜덤 포레스트, 소비는 선형 회귀로 산출합니다. 전년 동월 기준모델이 선택된 지표는 해당 월의 전년 값을 사용합니다. 최신 관측월 이후를 순차 계산한 뒤 사업기간의 3개월을 표시합니다."</a:t>
            </a:r>
          </a:p>
          <a:p>
            <a:r>
              <a:t>    ],</a:t>
            </a:r>
          </a:p>
          <a:p>
            <a:r>
              <a:t>    [</a:t>
            </a:r>
          </a:p>
          <a:p>
            <a:r>
              <a:t>      "3개월 목표 계산",</a:t>
            </a:r>
          </a:p>
          <a:p>
            <a:r>
              <a:t>      "방문자 수: 기준 10,580,165명 → 목표 10,928,766명 (추가 348,601명, +3.29%)\n관광소비액: 기준 444,918,852,321원 → 목표 459,731,140,176원 (추가 14,812,287,855원, +3.33%)\n월별 목표 = 월별 기준 전망 × (1 + 최종월 목표율 × 경과월/전체월). 합계 증가율 = (월별 목표 합계 ÷ 월별 기준 합계 − 1) × 100. 방문 합계는 월간 순 방문 수의 합계로, 3개월 고유 인원과 다릅니다."</a:t>
            </a:r>
          </a:p>
          <a:p>
            <a:r>
              <a:t>    ],</a:t>
            </a:r>
          </a:p>
          <a:p>
            <a:r>
              <a:t>    [</a:t>
            </a:r>
          </a:p>
          <a:p>
            <a:r>
              <a:t>      "공식 사례에서 사업 후보까지",</a:t>
            </a:r>
          </a:p>
          <a:p>
            <a:r>
              <a:t>      "저장 보고서의 공식 사례 6건 → 설계 후보 3개 → 선정 사업의 운영 근거와 추가 참고 사례 3건 표시. 지역 원자료·7개 전망·공식 사례를 읽은 Qwen이 후보를 비교하고, 같은 운영 방식의 공식 문서를 함수로 연결합니다. 방문·소비 전망은 그래프와 목표 규모의 기준값입니다. 체류시간·숙박일수·숙박방문 비율·내비게이션 검색·숙박 검색 전망은 관광 흐름을 진단하고 조사·설계 방향을 검토하는 입력입니다. 7개 예측값으로 학습한 지역 추천 모델이나 주민 인구 비례 순위가 아닙니다. 표시 건수는 보고서에 남은 기록 기준입니다."</a:t>
            </a:r>
          </a:p>
          <a:p>
            <a:r>
              <a:t>    ],</a:t>
            </a:r>
          </a:p>
          <a:p>
            <a:r>
              <a:t>    [</a:t>
            </a:r>
          </a:p>
          <a:p>
            <a:r>
              <a:t>      "목표율과 운영 예산의 연결",</a:t>
            </a:r>
          </a:p>
          <a:p>
            <a:r>
              <a:t>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아니다.\n사업기간 추가 방문 목표 348,601명 × 시범 담당 비중 1% → 3,487건(올림). 1%는 직접 운영할 참여량 배분 가정이며 전환율 예측이 아닙니다.\n참여량·단가·운영 처리량은 기획 가정입니다. 운영 예산이 지역 전체 목표 증가를 발생시킨다는 인과 계산은 아닙니다."</a:t>
            </a:r>
          </a:p>
          <a:p>
            <a:r>
              <a:t>    ]</a:t>
            </a:r>
          </a:p>
          <a:p>
            <a:r>
              <a:t>  ],</a:t>
            </a:r>
          </a:p>
          <a:p>
            <a:r>
              <a:t>  "basis": {</a:t>
            </a:r>
          </a:p>
          <a:p>
            <a:r>
              <a:t>    "totals": [</a:t>
            </a:r>
          </a:p>
          <a:p>
            <a:r>
              <a:t>      {</a:t>
            </a:r>
          </a:p>
          <a:p>
            <a:r>
              <a:t>        "key": "visitors",</a:t>
            </a:r>
          </a:p>
          <a:p>
            <a:r>
              <a:t>        "label": "방문자 수",</a:t>
            </a:r>
          </a:p>
          <a:p>
            <a:r>
              <a:t>        "unit": "명",</a:t>
            </a:r>
          </a:p>
          <a:p>
            <a:r>
              <a:t>        "baseline": 10580165.0,</a:t>
            </a:r>
          </a:p>
          <a:p>
            <a:r>
              <a:t>        "target": 10928766.016666668,</a:t>
            </a:r>
          </a:p>
          <a:p>
            <a:r>
              <a:t>        "additional": 348601.01666666754,</a:t>
            </a:r>
          </a:p>
          <a:p>
            <a:r>
              <a:t>        "pct": 3.2948542547934556</a:t>
            </a:r>
          </a:p>
          <a:p>
            <a:r>
              <a:t>      },</a:t>
            </a:r>
          </a:p>
          <a:p>
            <a:r>
              <a:t>      {</a:t>
            </a:r>
          </a:p>
          <a:p>
            <a:r>
              <a:t>        "key": "spending",</a:t>
            </a:r>
          </a:p>
          <a:p>
            <a:r>
              <a:t>        "label": "관광소비액",</a:t>
            </a:r>
          </a:p>
          <a:p>
            <a:r>
              <a:t>        "unit": "원",</a:t>
            </a:r>
          </a:p>
          <a:p>
            <a:r>
              <a:t>        "baseline": 444918852321.0,</a:t>
            </a:r>
          </a:p>
          <a:p>
            <a:r>
              <a:t>        "target": 459731140176.18335,</a:t>
            </a:r>
          </a:p>
          <a:p>
            <a:r>
              <a:t>        "additional": 14812287855.18335,</a:t>
            </a:r>
          </a:p>
          <a:p>
            <a:r>
              <a:t>        "pct": 3.3292111084779474</a:t>
            </a:r>
          </a:p>
          <a:p>
            <a:r>
              <a:t>      }</a:t>
            </a:r>
          </a:p>
          <a:p>
            <a:r>
              <a:t>    ],</a:t>
            </a:r>
          </a:p>
          <a:p>
            <a:r>
              <a:t>    "demo": false,</a:t>
            </a:r>
          </a:p>
          <a:p>
            <a:r>
              <a:t>    "models": {</a:t>
            </a:r>
          </a:p>
          <a:p>
            <a:r>
              <a:t>      "visitors": "랜덤 포레스트",</a:t>
            </a:r>
          </a:p>
          <a:p>
            <a:r>
              <a:t>      "spending_krw": "선형 회귀",</a:t>
            </a:r>
          </a:p>
          <a:p>
            <a:r>
              <a:t>      "lodging_nights": "전년 동월 기준모델",</a:t>
            </a:r>
          </a:p>
          <a:p>
            <a:r>
              <a:t>      "lodging_rate_pct": "전년 동월 기준모델",</a:t>
            </a:r>
          </a:p>
          <a:p>
            <a:r>
              <a:t>      "stay_minutes": "전년 동월 기준모델",</a:t>
            </a:r>
          </a:p>
          <a:p>
            <a:r>
              <a:t>      "navigation_searches": "전년 동월 기준모델",</a:t>
            </a:r>
          </a:p>
          <a:p>
            <a:r>
              <a:t>      "lodging_searches": "전년 동월 기준모델"</a:t>
            </a:r>
          </a:p>
          <a:p>
            <a:r>
              <a:t>    },</a:t>
            </a:r>
          </a:p>
          <a:p>
            <a:r>
              <a:t>    "source_period": "202401~202606",</a:t>
            </a:r>
          </a:p>
          <a:p>
            <a:r>
              <a:t>    "months": [</a:t>
            </a:r>
          </a:p>
          <a:p>
            <a:r>
              <a:t>      "26.10",</a:t>
            </a:r>
          </a:p>
          <a:p>
            <a:r>
              <a:t>      "26.11",</a:t>
            </a:r>
          </a:p>
          <a:p>
            <a:r>
              <a:t>      "26.12"</a:t>
            </a:r>
          </a:p>
          <a:p>
            <a:r>
              <a:t>    ],</a:t>
            </a:r>
          </a:p>
          <a:p>
            <a:r>
              <a:t>    "case_count": 6,</a:t>
            </a:r>
          </a:p>
          <a:p>
            <a:r>
              <a:t>    "case_region_count": 5,</a:t>
            </a:r>
          </a:p>
          <a:p>
            <a:r>
              <a:t>    "candidate_count": 3,</a:t>
            </a:r>
          </a:p>
          <a:p>
            <a:r>
              <a:t>    "displayed_count": 3,</a:t>
            </a:r>
          </a:p>
          <a:p>
            <a:r>
              <a:t>    "primary": {</a:t>
            </a:r>
          </a:p>
          <a:p>
            <a:r>
              <a:t>      "source_id": "case:4bac3530eca721",</a:t>
            </a:r>
          </a:p>
          <a:p>
            <a:r>
              <a:t>      "source_type": "benchmark_case",</a:t>
            </a:r>
          </a:p>
          <a:p>
            <a:r>
              <a:t>      "title": "2024년 문화재야행 사업 예산 확정자료",</a:t>
            </a:r>
          </a:p>
          <a:p>
            <a:r>
              <a:t>      "source_url": "https://culture.seoul.go.kr/culture/cmmn/file/fileDown.do?atchFileId=c4638ecc9ce84bba9e51ecc2e11293e2&amp;bbsId=&amp;fileSn=2&amp;menuNo=200050",</a:t>
            </a:r>
          </a:p>
          <a:p>
            <a:r>
              <a:t>      "published_or_updated_at": "2024",</a:t>
            </a:r>
          </a:p>
          <a:p>
            <a:r>
              <a:t>      "summary": "서울특별시 문화유산 집적지역 · 기존 문화유산을 활용한 야간 개방·체험 프로그램 · 공식 예산자료에서는 사업 목적, 운영구조와 예산은 확인되지만 방문객·결제·숙박 증가 결과는 확인되지 않는다. 따라서 성과가 입증된 성공사례가 아니라 예산·운영규모 비교 사례로만 사용한다.",</a:t>
            </a:r>
          </a:p>
          <a:p>
            <a:r>
              <a:t>      "case_region": "서울특별시 문화유산 집적지역",</a:t>
            </a:r>
          </a:p>
          <a:p>
            <a:r>
              <a:t>      "intervention": "기존 문화유산을 활용한 야간 개방·체험 프로그램",</a:t>
            </a:r>
          </a:p>
          <a:p>
            <a:r>
              <a:t>      "operating_model": "문화유산이 모인 거점을 중심으로 야간 개방, 해설, 공연과 체험프로그램을 구성하고 국비와 지방비를 결합해 운영했다.",</a:t>
            </a:r>
          </a:p>
          <a:p>
            <a:r>
              <a:t>      "evidence_strength": "low",</a:t>
            </a:r>
          </a:p>
          <a:p>
            <a:r>
              <a:t>      "quantitative_result_approved": null,</a:t>
            </a:r>
          </a:p>
          <a:p>
            <a:r>
              <a:t>      "document_type": null,</a:t>
            </a:r>
          </a:p>
          <a:p>
            <a:r>
              <a:t>      "retrieval_method": "official_web_search",</a:t>
            </a:r>
          </a:p>
          <a:p>
            <a:r>
              <a:t>      "retrieval_context": {</a:t>
            </a:r>
          </a:p>
          <a:p>
            <a:r>
              <a:t>        "scope": "cross_province",</a:t>
            </a:r>
          </a:p>
          <a:p>
            <a:r>
              <a:t>        "peer_region_code": null</a:t>
            </a:r>
          </a:p>
          <a:p>
            <a:r>
              <a:t>      },</a:t>
            </a:r>
          </a:p>
          <a:p>
            <a:r>
              <a:t>      "observed_result": "공식 예산자료에서는 사업 목적, 운영구조와 예산은 확인되지만 방문객·결제·숙박 증가 결과는 확인되지 않는다. 따라서 성과가 입증된 성공사례가 아니라 예산·운영규모 비교 사례로만 사용한다.",</a:t>
            </a:r>
          </a:p>
          <a:p>
            <a:r>
              <a:t>      "measurement_period": "2024년 예산 및 운영계획; 사후 성과 측정기간은 공식 자료에서 확인되지 않음",</a:t>
            </a:r>
          </a:p>
          <a:p>
            <a:r>
              <a:t>      "transfer_conditions": [</a:t>
            </a:r>
          </a:p>
          <a:p>
            <a:r>
              <a:t>        "제주시 기존 박물관·공연장·시장·문화유산 가운데 야간 개방 가능한 시설을 먼저 조사",</a:t>
            </a:r>
          </a:p>
          <a:p>
            <a:r>
              <a:t>        "신규 시설비보다 프로그램, 예약시스템, 현장인력, 안전과 이동에 예산을 배분",</a:t>
            </a:r>
          </a:p>
          <a:p>
            <a:r>
              <a:t>        "인근 식음·상점과 협약해 예약 전후 이용 동선을 설계하되 참여가 확정된 것으로 미리 표현하지 않음",</a:t>
            </a:r>
          </a:p>
          <a:p>
            <a:r>
              <a:t>        "유료 예약률, 노쇼율, 야간 체류시간, 인근 참여업체 결제를 별도로 측정"</a:t>
            </a:r>
          </a:p>
          <a:p>
            <a:r>
              <a:t>      ]</a:t>
            </a:r>
          </a:p>
          <a:p>
            <a:r>
              <a:t>    },</a:t>
            </a:r>
          </a:p>
          <a:p>
            <a:r>
              <a:t>    "selection_reason": "야간 체류 프로그램 확대는 제주시의 특성에 맞게 조정할 수 있으며, 관측 자료에 따르면, 제주시의 내비게이션 목적지 검색량이 580,380건으로 나타나고 있어, 야간 체류 프로그램을 통해 방문자 수 증가를 유도할 수 있는 잠재력이 있습니다. 또한, 서울특별시 문화유산 집적지역의 사례를 참고하여, 제주시의 특성에 맞게 프로그램을 조정할 수 있습니다. 이는 다른 후보와 비교하여, 제주시의 특성에 맞는 프로그램으로, 방문자 수 증가, 체류 시간 증가, 숙박 방문 비율 증가 등을 측정할 수 있습니다.",</a:t>
            </a:r>
          </a:p>
          <a:p>
            <a:r>
              <a:t>    "target_explanation": "선정 사례의 운영 방식을 참고하여 최종월 방문·소비 +5%를 초기 계획 목표로 제안한다. 이 비율은 사례의 검증된 효과율이나 ML 결과가 아니라 조정 가능한 기획 가정이다. 방문 수가 0보다 큰 월은 ML 소비액÷ML 방문 수를 추가 방문 수에 곱한다. 같은 월의 두 증가율은 같으며, 이 비율은 실제 1인당 소비액이 아니다.",</a:t>
            </a:r>
          </a:p>
          <a:p>
            <a:r>
              <a:t>    "estimate": {</a:t>
            </a:r>
          </a:p>
          <a:p>
            <a:r>
              <a:t>      "version": "reference-estimate-v2",</a:t>
            </a:r>
          </a:p>
          <a:p>
            <a:r>
              <a:t>      "scale_basis": "사업기간 추가 방문 목표 348,601명 × 시범 담당 비중 1% → 3,487건(올림). 1%는 직접 운영할 참여량 배분 가정이며 전환율 예측이 아닙니다.",</a:t>
            </a:r>
          </a:p>
          <a:p>
            <a:r>
              <a:t>      "additional_visitors_target": 348601.01666666754,</a:t>
            </a:r>
          </a:p>
          <a:p>
            <a:r>
              <a:t>      "pilot_share_pct": 1,</a:t>
            </a:r>
          </a:p>
          <a:p>
            <a:r>
              <a:t>      "status": "planning_assumption_not_quote",</a:t>
            </a:r>
          </a:p>
          <a:p>
            <a:r>
              <a:t>      "months": 3,</a:t>
            </a:r>
          </a:p>
          <a:p>
            <a:r>
              <a:t>      "refund": false,</a:t>
            </a:r>
          </a:p>
          <a:p>
            <a:r>
              <a:t>      "quantity": 3487,</a:t>
            </a:r>
          </a:p>
          <a:p>
            <a:r>
              <a:t>      "unit_krw": 10000,</a:t>
            </a:r>
          </a:p>
          <a:p>
            <a:r>
              <a:t>      "redemption_target_pct": 80,</a:t>
            </a:r>
          </a:p>
          <a:p>
            <a:r>
              <a:t>      "redemption_count": 2789,</a:t>
            </a:r>
          </a:p>
          <a:p>
            <a:r>
              <a:t>      "qualifying_spend_krw": null,</a:t>
            </a:r>
          </a:p>
          <a:p>
            <a:r>
              <a:t>      "subtotal_krw": 71870000,</a:t>
            </a:r>
          </a:p>
          <a:p>
            <a:r>
              <a:t>      "reserve_krw": 7187000,</a:t>
            </a:r>
          </a:p>
          <a:p>
            <a:r>
              <a:t>      "total_krw": 79057000,</a:t>
            </a:r>
          </a:p>
          <a:p>
            <a:r>
              <a:t>      "within_hard_budget": true,</a:t>
            </a:r>
          </a:p>
          <a:p>
            <a:r>
              <a:t>      "items": [</a:t>
            </a:r>
          </a:p>
          <a:p>
            <a:r>
              <a:t>        {</a:t>
            </a:r>
          </a:p>
          <a:p>
            <a:r>
              <a:t>          "name": "참여 혜택",</a:t>
            </a:r>
          </a:p>
          <a:p>
            <a:r>
              <a:t>          "basis": "3,487건 × 10,000원",</a:t>
            </a:r>
          </a:p>
          <a:p>
            <a:r>
              <a:t>          "amount": 34870000</a:t>
            </a:r>
          </a:p>
          <a:p>
            <a:r>
              <a:t>        },</a:t>
            </a:r>
          </a:p>
          <a:p>
            <a:r>
              <a:t>        {</a:t>
            </a:r>
          </a:p>
          <a:p>
            <a:r>
              <a:t>          "name": "현장 운영·정산",</a:t>
            </a:r>
          </a:p>
          <a:p>
            <a:r>
              <a:t>          "basis": "max(월 20인일 × 3, 3,487건 ÷ 25건/인일 올림) = 140인일 × 150,000원",</a:t>
            </a:r>
          </a:p>
          <a:p>
            <a:r>
              <a:t>          "amount": 21000000</a:t>
            </a:r>
          </a:p>
          <a:p>
            <a:r>
              <a:t>        },</a:t>
            </a:r>
          </a:p>
          <a:p>
            <a:r>
              <a:t>        {</a:t>
            </a:r>
          </a:p>
          <a:p>
            <a:r>
              <a:t>          "name": "신청·증빙 시스템",</a:t>
            </a:r>
          </a:p>
          <a:p>
            <a:r>
              <a:t>          "basis": "기존 시스템 설정 1식 × 800만원",</a:t>
            </a:r>
          </a:p>
          <a:p>
            <a:r>
              <a:t>          "amount": 8000000</a:t>
            </a:r>
          </a:p>
          <a:p>
            <a:r>
              <a:t>        },</a:t>
            </a:r>
          </a:p>
          <a:p>
            <a:r>
              <a:t>        {</a:t>
            </a:r>
          </a:p>
          <a:p>
            <a:r>
              <a:t>          "name": "홍보·참여처 안내",</a:t>
            </a:r>
          </a:p>
          <a:p>
            <a:r>
              <a:t>          "basis": "콘텐츠·안내물 1식 × 500만원",</a:t>
            </a:r>
          </a:p>
          <a:p>
            <a:r>
              <a:t>          "amount": 5000000</a:t>
            </a:r>
          </a:p>
          <a:p>
            <a:r>
              <a:t>        },</a:t>
            </a:r>
          </a:p>
          <a:p>
            <a:r>
              <a:t>        {</a:t>
            </a:r>
          </a:p>
          <a:p>
            <a:r>
              <a:t>          "name": "성과 집계·검토",</a:t>
            </a:r>
          </a:p>
          <a:p>
            <a:r>
              <a:t>          "basis": "자료 정리·평가 1식 × 300만원",</a:t>
            </a:r>
          </a:p>
          <a:p>
            <a:r>
              <a:t>          "amount": 3000000</a:t>
            </a:r>
          </a:p>
          <a:p>
            <a:r>
              <a:t>        },</a:t>
            </a:r>
          </a:p>
          <a:p>
            <a:r>
              <a:t>        {</a:t>
            </a:r>
          </a:p>
          <a:p>
            <a:r>
              <a:t>          "name": "예비비",</a:t>
            </a:r>
          </a:p>
          <a:p>
            <a:r>
              <a:t>          "basis": "직접비 7,187만원 × 10%",</a:t>
            </a:r>
          </a:p>
          <a:p>
            <a:r>
              <a:t>          "amount": 7187000</a:t>
            </a:r>
          </a:p>
          <a:p>
            <a:r>
              <a:t>        }</a:t>
            </a:r>
          </a:p>
          <a:p>
            <a:r>
              <a:t>      ],</a:t>
            </a:r>
          </a:p>
          <a:p>
            <a:r>
              <a:t>      "sources": [],</a:t>
            </a:r>
          </a:p>
          <a:p>
            <a:r>
              <a:t>      "assumptions": [</a:t>
            </a:r>
          </a:p>
          <a:p>
            <a:r>
              <a:t>        "전 항목은 기획용 가정 단가이며 확정 견적·공식 표준단가가 아닙니다.",</a:t>
            </a:r>
          </a:p>
          <a:p>
            <a:r>
              <a:t>        "인력 15만원/인일은 현장 용역 예산 가정입니다. 근로계약 임금 산정값이 아닙니다.",</a:t>
            </a:r>
          </a:p>
          <a:p>
            <a:r>
              <a:t>        "시스템은 기존 신청·정산 수단의 설정·운영 범위입니다. 신규 앱·키오스크 구축비는 제외합니다.",</a:t>
            </a:r>
          </a:p>
          <a:p>
            <a:r>
              <a:t>        "용역비는 세금 포함 예산 한도로 가정합니다. 환급금 과세·수수료·계약조건은 착수 전 확인합니다.",</a:t>
            </a:r>
          </a:p>
          <a:p>
            <a:r>
              <a:t>        "지원 건수·평균 지원액·80% 후속 사용 목표는 운영 제안이며 관측값 또는 ML 산출값이 아닙니다."</a:t>
            </a:r>
          </a:p>
          <a:p>
            <a:r>
              <a:t>      ]</a:t>
            </a:r>
          </a:p>
          <a:p>
            <a:r>
              <a:t>    }</a:t>
            </a:r>
          </a:p>
          <a:p>
            <a:r>
              <a:t>  },</a:t>
            </a:r>
          </a:p>
          <a:p>
            <a:r>
              <a:t>  "icons": {</a:t>
            </a:r>
          </a:p>
          <a:p>
            <a:r>
              <a:t>    "library": "Lucide 0.468.0",</a:t>
            </a:r>
          </a:p>
          <a:p>
            <a:r>
              <a:t>    "source": "https://github.com/lucide-icons/lucide/tree/0.468.0",</a:t>
            </a:r>
          </a:p>
          <a:p>
            <a:r>
              <a:t>    "license": "ISC / Feather MIT; ai_server/assets/proposal_icons/LICENSE"</a:t>
            </a:r>
          </a:p>
          <a:p>
            <a:r>
              <a:t>  },</a:t>
            </a:r>
          </a:p>
          <a:p>
            <a:r>
              <a:t>  "pipeline": {</a:t>
            </a:r>
          </a:p>
          <a:p>
            <a:r>
              <a:t>    "agents": [</a:t>
            </a:r>
          </a:p>
          <a:p>
            <a:r>
              <a:t>      "Evidence",</a:t>
            </a:r>
          </a:p>
          <a:p>
            <a:r>
              <a:t>      "Case Scout",</a:t>
            </a:r>
          </a:p>
          <a:p>
            <a:r>
              <a:t>      "Transferability",</a:t>
            </a:r>
          </a:p>
          <a:p>
            <a:r>
              <a:t>      "Planner",</a:t>
            </a:r>
          </a:p>
          <a:p>
            <a:r>
              <a:t>      "Reviewer"</a:t>
            </a:r>
          </a:p>
          <a:p>
            <a:r>
              <a:t>    ],</a:t>
            </a:r>
          </a:p>
          <a:p>
            <a:r>
              <a:t>    "implementation": "app/agents/report_orchestrator.py; Evidence + Case Scout gathered together",</a:t>
            </a:r>
          </a:p>
          <a:p>
            <a:r>
              <a:t>    "provider_labels": "Completed provider records in this report, otherwise saved evidence / configured model"</a:t>
            </a:r>
          </a:p>
          <a:p>
            <a:r>
              <a:t>  },</a:t>
            </a:r>
          </a:p>
          <a:p>
            <a:r>
              <a:t>  "functions": [</a:t>
            </a:r>
          </a:p>
          <a:p>
            <a:r>
              <a:t>    "planning_evidence.build_planning_ml_evidence",</a:t>
            </a:r>
          </a:p>
          <a:p>
            <a:r>
              <a:t>    "case_recommendation.link_decision",</a:t>
            </a:r>
          </a:p>
          <a:p>
            <a:r>
              <a:t>    "report_projection.execution_target",</a:t>
            </a:r>
          </a:p>
          <a:p>
            <a:r>
              <a:t>    "proposal_evidence.build_reference_estimate"</a:t>
            </a:r>
          </a:p>
          <a:p>
            <a:r>
              <a:t>  ]</a:t>
            </a:r>
          </a:p>
          <a:p>
            <a:r>
              <a: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c3a5f6510e4e49ba" Type="http://schemas.openxmlformats.org/officeDocument/2006/relationships/slideMaster" Target="../slideMasters/slideMaster1.xml"/></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xml version='1.0' encoding='UTF-8' standalone='yes'?>
<Relationships xmlns="http://schemas.openxmlformats.org/package/2006/relationships"><Relationship Id="R032212eb627044e2" Type="http://schemas.openxmlformats.org/officeDocument/2006/relationships/slideLayout" Target="../slideLayouts/slideLayout1.xml"/><Relationship Id="Rc23d06999bd7418f" Type="http://schemas.openxmlformats.org/officeDocument/2006/relationships/theme" Target="theme/theme2.xml"/></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032212eb627044e2"/>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xml version='1.0' encoding='UTF-8' standalone='yes'?>
<Relationships xmlns="http://schemas.openxmlformats.org/package/2006/relationships"><Relationship Id="R23aa0b3f3fe84ab1" Type="http://schemas.openxmlformats.org/officeDocument/2006/relationships/notesSlide" Target="../notesSlides/notesSlide1.xml"/><Relationship Id="Rfe2d442cc9394c75" Type="http://schemas.openxmlformats.org/officeDocument/2006/relationships/slideLayout" Target="../slideLayouts/slideLayout1.xml"/><Relationship Id="rId3" Type="http://schemas.openxmlformats.org/officeDocument/2006/relationships/image" Target="../media/image36.jpg"/><Relationship Id="rId4" Type="http://schemas.openxmlformats.org/officeDocument/2006/relationships/hyperlink" Target="https://apis.data.go.kr/B551011/KorService2" TargetMode="External"/></Relationships>
</file>

<file path=ppt/slides/_rels/slide2.xml.rels><?xml version='1.0' encoding='UTF-8' standalone='yes'?>
<Relationships xmlns="http://schemas.openxmlformats.org/package/2006/relationships"><Relationship Id="Ra91e1cfda5554f8e" Type="http://schemas.openxmlformats.org/officeDocument/2006/relationships/notesSlide" Target="../notesSlides/notesSlide2.xml"/><Relationship Id="Rcfdb7c120e7d4793"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40bfe741e78644e3" Type="http://schemas.openxmlformats.org/officeDocument/2006/relationships/slideLayout" Target="../slideLayouts/slideLayout1.xml"/><Relationship Id="R9925e0cf7f4b4a11" Type="http://schemas.openxmlformats.org/officeDocument/2006/relationships/notesSlide" Target="../notesSlides/notesSlide3.xml"/><Relationship Id="Re0802ea4bb724ca1" Type="http://schemas.openxmlformats.org/officeDocument/2006/relationships/image" Target="../media/image.png"/><Relationship Id="rId4" Type="http://schemas.openxmlformats.org/officeDocument/2006/relationships/chart" Target="../charts/chart3.xml"/><Relationship Id="rId5" Type="http://schemas.openxmlformats.org/officeDocument/2006/relationships/chart" Target="../charts/chart4.xml"/></Relationships>
</file>

<file path=ppt/slides/_rels/slide4.xml.rels><?xml version='1.0' encoding='UTF-8' standalone='yes'?>
<Relationships xmlns="http://schemas.openxmlformats.org/package/2006/relationships"><Relationship Id="R4f2ce5977e6c41d3" Type="http://schemas.openxmlformats.org/officeDocument/2006/relationships/slideLayout" Target="../slideLayouts/slideLayout1.xml"/><Relationship Id="Reab760d5cc7545a2" Type="http://schemas.openxmlformats.org/officeDocument/2006/relationships/notesSlide" Target="../notesSlides/notesSlide4.xml"/><Relationship Id="rId3" Type="http://schemas.openxmlformats.org/officeDocument/2006/relationships/chart" Target="../charts/chart1.xml"/><Relationship Id="rId4" Type="http://schemas.openxmlformats.org/officeDocument/2006/relationships/chart" Target="../charts/chart2.xml"/></Relationships>
</file>

<file path=ppt/slides/_rels/slide5.xml.rels><?xml version='1.0' encoding='UTF-8' standalone='yes'?>
<Relationships xmlns="http://schemas.openxmlformats.org/package/2006/relationships"><Relationship Id="R08a1a66771e34c37" Type="http://schemas.openxmlformats.org/officeDocument/2006/relationships/chart" Target="charts/chart3.xml"/><Relationship Id="R92c25c991d43491c" Type="http://schemas.openxmlformats.org/officeDocument/2006/relationships/slideLayout" Target="../slideLayouts/slideLayout1.xml"/><Relationship Id="Rf95ef34647d642a0" Type="http://schemas.openxmlformats.org/officeDocument/2006/relationships/notesSlide" Target="../notesSlides/notesSlide6.xml"/><Relationship Id="rId4" Type="http://schemas.openxmlformats.org/officeDocument/2006/relationships/image" Target="../media/image1.jpg"/><Relationship Id="rId5" Type="http://schemas.openxmlformats.org/officeDocument/2006/relationships/hyperlink" Target="https://culture.seoul.go.kr/culture/culture/cultureEvent/view.do?cultcode=146365&amp;menuNo=200009" TargetMode="External"/><Relationship Id="rId6" Type="http://schemas.openxmlformats.org/officeDocument/2006/relationships/hyperlink" Target="https://culture.seoul.go.kr/culture/cmmn/file/fileDown.do?atchFileId=c4638ecc9ce84bba9e51ecc2e11293e2&amp;bbsId=&amp;fileSn=2&amp;menuNo=200050" TargetMode="External"/><Relationship Id="rId7" Type="http://schemas.openxmlformats.org/officeDocument/2006/relationships/image" Target="../media/image2.jpg"/><Relationship Id="rId8" Type="http://schemas.openxmlformats.org/officeDocument/2006/relationships/hyperlink" Target="https://www.gangjintour.com/" TargetMode="External"/><Relationship Id="rId9" Type="http://schemas.openxmlformats.org/officeDocument/2006/relationships/hyperlink" Target="https://jnfarm.jeonnam.go.kr/board/FARM_BOARD_008/boardView.do?bdId=BD_00000000000011721&amp;menuCd=farm004002" TargetMode="External"/><Relationship Id="rId10" Type="http://schemas.openxmlformats.org/officeDocument/2006/relationships/image" Target="../media/image3.jpg"/><Relationship Id="rId11" Type="http://schemas.openxmlformats.org/officeDocument/2006/relationships/hyperlink" Target="https://www.korea.kr/news/policyNewsView.do?newsId=148947084" TargetMode="External"/><Relationship Id="rId12"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culture.seoul.go.kr/culture/cmmn/file/fileDown.do?atchFileId=c4638ecc9ce84bba9e51ecc2e11293e2&amp;bbsId=&amp;fileSn=2&amp;menuNo=200050" TargetMode="External"/><Relationship Id="rId3"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41faa7af3ee946e3" Type="http://schemas.openxmlformats.org/officeDocument/2006/relationships/notesSlide" Target="../notesSlides/notesSlide7.xml"/><Relationship Id="Rdd777a48420b4e2a"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1be757d81be54559"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hyperlink" Target="https://culture.seoul.go.kr/culture/culture/cultureEvent/view.do?cultcode=146365&amp;menuNo=200009" TargetMode="External"/></Relationships>
</file>

<file path=ppt/slides/_rels/slide10.xml.rels><?xml version='1.0' encoding='UTF-8' standalone='yes'?>
<Relationships xmlns="http://schemas.openxmlformats.org/package/2006/relationships"><Relationship Id="R3a927cda51254bd6"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1.xml.rels><?xml version='1.0' encoding='UTF-8' standalone='yes'?>
<Relationships xmlns="http://schemas.openxmlformats.org/package/2006/relationships"><Relationship Id="R304ac80f13724322"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notesSlide" Target="../notesSlides/notesSlide5.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hyperlink" Target="https://datalab.visitkorea.or.kr/" TargetMode="External"/><Relationship Id="rId3" Type="http://schemas.openxmlformats.org/officeDocument/2006/relationships/hyperlink" Target="https://datalab.visitkorea.or.kr/site/portal/ex/bbs/View.do?bcIdx=311068&amp;cbIdx=1135&amp;pageIndex=1" TargetMode="External"/><Relationship Id="rId4" Type="http://schemas.openxmlformats.org/officeDocument/2006/relationships/hyperlink" Target="https://culture.seoul.go.kr/culture/cmmn/file/fileDown.do?atchFileId=c4638ecc9ce84bba9e51ecc2e11293e2&amp;bbsId=&amp;fileSn=2&amp;menuNo=200050" TargetMode="External"/><Relationship Id="rId5" Type="http://schemas.openxmlformats.org/officeDocument/2006/relationships/hyperlink" Target="https://jnfarm.jeonnam.go.kr/board/FARM_BOARD_008/boardView.do?bdId=BD_00000000000011721&amp;menuCd=farm004002" TargetMode="External"/><Relationship Id="rId6" Type="http://schemas.openxmlformats.org/officeDocument/2006/relationships/hyperlink" Target="https://mcst.go.kr/servlets/eduport/front/upload/UplDownloadFile?pFileName=%280514%29%EB%AC%B8%EC%B2%B4%EB%B6%80%EB%B3%B4%EB%8F%84%EC%9E%90%EB%A3%8C-6%EC%9B%94_%EC%97%AC%ED%96%89%EA%B0%80%EB%8A%94_%EB%8B%AC_%EC%B6%94%EC%A7%84.pdf&amp;pPath=0302000000&amp;pRealName=20240514083202149235802932_PRESS20240514083202456506.pdf" TargetMode="External"/><Relationship Id="rId7" Type="http://schemas.openxmlformats.org/officeDocument/2006/relationships/hyperlink" Target="https://kto.visitkorea.or.kr/upload/flexer/upload/ktobiz/20220928/b623b5f9-3ec0-11ed-9832-ddf31964842e.hwp.files/Sections1.html" TargetMode="External"/><Relationship Id="rId8" Type="http://schemas.openxmlformats.org/officeDocument/2006/relationships/hyperlink" Target="https://korean.visitkorea.or.kr/detail/rem_detail.do?cotid=f9c636b2-dd7c-4f09-af3d-6af43b33d371" TargetMode="External"/><Relationship Id="rId9" Type="http://schemas.openxmlformats.org/officeDocument/2006/relationships/hyperlink" Target="https://www.evaluation.go.kr/upload2/atch/eval/20250429095846463.pdf" TargetMode="External"/><Relationship Id="rId10" Type="http://schemas.openxmlformats.org/officeDocument/2006/relationships/hyperlink" Target="https://apis.data.go.kr/B551011/KorService2" TargetMode="External"/><Relationship Id="rId11" Type="http://schemas.openxmlformats.org/officeDocument/2006/relationships/hyperlink" Target="https://www.junggu.seoul.kr/content.do?cid=1235161279&amp;cmsid=14390&amp;mode=view" TargetMode="External"/><Relationship Id="rId12" Type="http://schemas.openxmlformats.org/officeDocument/2006/relationships/hyperlink" Target="https://www.junggu.seoul.kr/content.do?cid=1280957763&amp;cmsid=14390&amp;mode=view" TargetMode="External"/><Relationship Id="rId13" Type="http://schemas.openxmlformats.org/officeDocument/2006/relationships/hyperlink" Target="https://culture.seoul.go.kr/culture/culture/cultureEvent/view.do?cultcode=146365&amp;menuNo=200009" TargetMode="External"/><Relationship Id="rId14" Type="http://schemas.openxmlformats.org/officeDocument/2006/relationships/notesSlide" Target="../notesSlides/notesSlide13.xml"/></Relationships>
</file>

<file path=ppt/slides/_rels/slide13.xml.rels><?xml version='1.0' encoding='UTF-8' standalone='yes'?>
<Relationships xmlns="http://schemas.openxmlformats.org/package/2006/relationships"><Relationship Id="R3ae7c5de0f064511" Type="http://schemas.openxmlformats.org/officeDocument/2006/relationships/slideLayout" Target="../slideLayouts/slideLayout1.xml"/><Relationship Id="R9f79db7a81fa4a26" Type="http://schemas.openxmlformats.org/officeDocument/2006/relationships/notesSlide" Target="../notesSlides/notesSlide12.xml"/><Relationship Id="rId3" Type="http://schemas.openxmlformats.org/officeDocument/2006/relationships/image" Target="../media/image37.jpg"/><Relationship Id="rId4" Type="http://schemas.openxmlformats.org/officeDocument/2006/relationships/hyperlink" Target="https://apis.data.go.kr/B551011/KorService2" TargetMode="Externa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notesSlide" Target="../notesSlides/notesSlide10.xml"/><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0" Type="http://schemas.openxmlformats.org/officeDocument/2006/relationships/image" Target="../media/image1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6" Type="http://schemas.openxmlformats.org/officeDocument/2006/relationships/image" Target="../media/image11.png"/><Relationship Id="rId7" Type="http://schemas.openxmlformats.org/officeDocument/2006/relationships/image" Target="../media/image12.png"/><Relationship Id="rId8" Type="http://schemas.openxmlformats.org/officeDocument/2006/relationships/image" Target="../media/image13.png"/><Relationship Id="rId9" Type="http://schemas.openxmlformats.org/officeDocument/2006/relationships/image" Target="../media/image14.png"/><Relationship Id="rId10" Type="http://schemas.openxmlformats.org/officeDocument/2006/relationships/notesSlide" Target="../notesSlides/notesSlide15.xml"/><Relationship Id="rId11" Type="http://schemas.openxmlformats.org/officeDocument/2006/relationships/image" Target="../media/image20.png"/><Relationship Id="rId12" Type="http://schemas.openxmlformats.org/officeDocument/2006/relationships/image" Target="../media/image21.png"/><Relationship Id="rId13" Type="http://schemas.openxmlformats.org/officeDocument/2006/relationships/image" Target="../media/image22.png"/><Relationship Id="rId14" Type="http://schemas.openxmlformats.org/officeDocument/2006/relationships/image" Target="../media/image23.png"/><Relationship Id="rId15" Type="http://schemas.openxmlformats.org/officeDocument/2006/relationships/image" Target="../media/image24.png"/><Relationship Id="rId16" Type="http://schemas.openxmlformats.org/officeDocument/2006/relationships/image" Target="../media/image25.png"/><Relationship Id="rId17" Type="http://schemas.openxmlformats.org/officeDocument/2006/relationships/image" Target="../media/image26.png"/><Relationship Id="rId18" Type="http://schemas.openxmlformats.org/officeDocument/2006/relationships/image" Target="../media/image27.png"/><Relationship Id="rId19" Type="http://schemas.openxmlformats.org/officeDocument/2006/relationships/image" Target="../media/image28.png"/><Relationship Id="rId20" Type="http://schemas.openxmlformats.org/officeDocument/2006/relationships/image" Target="../media/image29.png"/><Relationship Id="rId21" Type="http://schemas.openxmlformats.org/officeDocument/2006/relationships/image" Target="../media/image30.png"/><Relationship Id="rId22" Type="http://schemas.openxmlformats.org/officeDocument/2006/relationships/image" Target="../media/image31.png"/><Relationship Id="rId23" Type="http://schemas.openxmlformats.org/officeDocument/2006/relationships/image" Target="../media/image32.png"/><Relationship Id="rId24" Type="http://schemas.openxmlformats.org/officeDocument/2006/relationships/image" Target="../media/image33.png"/><Relationship Id="rId25" Type="http://schemas.openxmlformats.org/officeDocument/2006/relationships/image" Target="../media/image34.png"/><Relationship Id="rId26" Type="http://schemas.openxmlformats.org/officeDocument/2006/relationships/image" Target="../media/image35.png"/></Relationships>
</file>

<file path=ppt/slides/charts/chart3.xml><?xml version="1.0" encoding="utf-8"?>
<c:chartSpace xmlns:c="http://schemas.openxmlformats.org/drawingml/2006/chart">
  <c:lang val="en-US"/>
  <c:chart>
    <c:plotArea>
      <c:barChart>
        <c:barDir val="bar"/>
        <c:grouping val="clustered"/>
        <c:varyColors val="0"/>
        <c:ser>
          <c:idx val="0"/>
          <c:order val="0"/>
          <c:tx>
            <c:v>방문 지수</c:v>
          </c:tx>
          <c:spPr>
            <a:solidFill xmlns:a="http://schemas.openxmlformats.org/drawingml/2006/main">
              <a:srgbClr val="004EA2"/>
            </a:solidFill>
          </c:spPr>
          <c:dPt>
            <c:idx val="0"/>
            <c:invertIfNegative val="0"/>
            <c:spPr>
              <a:solidFill xmlns:a="http://schemas.openxmlformats.org/drawingml/2006/main">
                <a:srgbClr val="BFD0E3"/>
              </a:solidFill>
            </c:spPr>
          </c:dPt>
          <c:dPt>
            <c:idx val="1"/>
            <c:invertIfNegative val="0"/>
            <c:spPr>
              <a:solidFill xmlns:a="http://schemas.openxmlformats.org/drawingml/2006/main">
                <a:srgbClr val="004EA2"/>
              </a:solidFill>
            </c:spPr>
          </c:dPt>
          <c:cat>
            <c:strLit>
              <c:ptCount val="2"/>
              <c:pt idx="0">
                <c:v>전년</c:v>
              </c:pt>
              <c:pt idx="1">
                <c:v>현재</c:v>
              </c:pt>
            </c:strLit>
          </c:cat>
          <c:val>
            <c:numLit>
              <c:formatCode>General</c:formatCode>
              <c:ptCount val="2"/>
              <c:pt idx="0">
                <c:v>100</c:v>
              </c:pt>
              <c:pt idx="1">
                <c:v>91.7</c:v>
              </c:pt>
            </c:numLit>
          </c:val>
        </c:ser>
        <c:dLbls>
          <c:txPr>
            <a:bodyPr xmlns:a="http://schemas.openxmlformats.org/drawingml/2006/main" anchorCtr="1"/>
            <a:lstStyle xmlns:a="http://schemas.openxmlformats.org/drawingml/2006/main"/>
            <a:p xmlns:a="http://schemas.openxmlformats.org/drawingml/2006/main">
              <a:pPr>
                <a:defRPr sz="1200" b="1">
                  <a:solidFill>
                    <a:srgbClr val="FFFFFF"/>
                  </a:solidFill>
                </a:defRPr>
              </a:pPr>
            </a:p>
          </c:txPr>
          <c:dLblPos val="inEnd"/>
          <c:showLegendKey val="0"/>
          <c:showVal val="1"/>
          <c:showCatName val="0"/>
          <c:showSerName val="0"/>
          <c:showPercent val="0"/>
          <c:showBubbleSize val="0"/>
          <c:showLeaderLines val="0"/>
        </c:dLbls>
        <c:gapWidth val="42"/>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72768"/>
      </c:catAx>
      <c:valAx>
        <c:axId val="48672768"/>
        <c:scaling>
          <c:orientation val="minMax"/>
        </c:scaling>
        <c:delete val="1"/>
        <c:axPos val="b"/>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a:solidFill>
                  <a:srgbClr val="666666"/>
                </a:solidFill>
              </a:defRPr>
            </a:pPr>
          </a:p>
        </c:txPr>
        <c:crossAx val="48650112"/>
        <c:crossBetween val="between"/>
      </c:valAx>
      <c:spPr>
        <a:solidFill xmlns:a="http://schemas.openxmlformats.org/drawingml/2006/main">
          <a:srgbClr val="FFFFFF"/>
        </a:solidFill>
      </c:spPr>
    </c:plotArea>
    <c:plotVisOnly val="1"/>
  </c:chart>
  <c:spPr>
    <a:solidFill xmlns:a="http://schemas.openxmlformats.org/drawingml/2006/main">
      <a:srgbClr val="FFFFFF"/>
    </a:solidFill>
  </c:spPr>
</c:chartSpace>
</file>

<file path=ppt/slides/slide1.xml><?xml version="1.0" encoding="utf-8"?>
<p:sld xmlns:p="http://schemas.openxmlformats.org/presentationml/2006/main">
  <p:cSld>
    <p:bg>
      <p:bgPr>
        <a:solidFill xmlns:a="http://schemas.openxmlformats.org/drawingml/2006/main">
          <a:srgbClr val="F50045"/>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43" r="25543"/>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781050"/>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cover-title-line1"/>
          <p:cNvSpPr txBox="1"/>
          <p:nvPr/>
        </p:nvSpPr>
        <p:spPr>
          <a:xfrm>
            <a:off x="704850" y="2981325"/>
            <a:ext cx="7524750" cy="2047875"/>
          </a:xfrm>
          <a:prstGeom prst="rect">
            <a:avLst/>
          </a:prstGeom>
          <a:noFill/>
        </p:spPr>
        <p:txBody>
          <a:bodyPr wrap="none" lIns="57150" rIns="57150" tIns="38100" bIns="38100" anchor="t">
            <a:noAutofit/>
          </a:bodyPr>
          <a:lstStyle/>
          <a:p>
            <a:pPr eaLnBrk="0">
              <a:lnSpc>
                <a:spcPts val="4031"/>
              </a:lnSpc>
              <a:spcBef>
                <a:spcPts val="0"/>
              </a:spcBef>
              <a:spcAft>
                <a:spcPts val="0"/>
              </a:spcAft>
            </a:pPr>
            <a:r>
              <a:rPr sz="3225" b="1">
                <a:solidFill>
                  <a:srgbClr val="FFFFFF"/>
                </a:solidFill>
                <a:latin typeface="Noto Sans KR"/>
              </a:rPr>
              <a:t>제주시 야간 문화유산 및 시설 개방</a:t>
            </a:r>
          </a:p>
          <a:p>
            <a:pPr eaLnBrk="0">
              <a:lnSpc>
                <a:spcPts val="4031"/>
              </a:lnSpc>
              <a:spcBef>
                <a:spcPts val="0"/>
              </a:spcBef>
              <a:spcAft>
                <a:spcPts val="0"/>
              </a:spcAft>
            </a:pPr>
            <a:r>
              <a:rPr sz="3225" b="1">
                <a:solidFill>
                  <a:srgbClr val="FFFFFF"/>
                </a:solidFill>
                <a:latin typeface="Noto Sans KR"/>
              </a:rPr>
              <a:t>프로그램 실행 기획안</a:t>
            </a:r>
          </a:p>
        </p:txBody>
      </p:sp>
      <p:sp xmlns:a="http://schemas.openxmlformats.org/drawingml/2006/main">
        <p:nvSpPr>
          <p:cNvPr id="7" name="cover-date"/>
          <p:cNvSpPr txBox="1"/>
          <p:nvPr/>
        </p:nvSpPr>
        <p:spPr>
          <a:xfrm>
            <a:off x="762000" y="7038975"/>
            <a:ext cx="7524750" cy="49530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0">
                <a:solidFill>
                  <a:srgbClr val="FFFFFF"/>
                </a:solidFill>
                <a:latin typeface="Noto Sans KR"/>
              </a:rPr>
              <a:t>사업기간 2026.10 ~ 2026.12</a:t>
            </a:r>
          </a:p>
        </p:txBody>
      </p:sp>
      <p:sp xmlns:a="http://schemas.openxmlformats.org/drawingml/2006/main">
        <p:nvSpPr>
          <p:cNvPr id="9" name="cover-issued-date"/>
          <p:cNvSpPr txBox="1"/>
          <p:nvPr/>
        </p:nvSpPr>
        <p:spPr>
          <a:xfrm>
            <a:off x="800100" y="1304925"/>
            <a:ext cx="7143750" cy="43815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2026.09.15</a:t>
            </a:r>
          </a:p>
        </p:txBody>
      </p:sp>
      <p:sp xmlns:a="http://schemas.openxmlformats.org/drawingml/2006/main">
        <p:nvSpPr>
          <p:cNvPr id="10" name="cover-province-ribbon"/>
          <p:cNvSpPr/>
          <p:nvPr/>
        </p:nvSpPr>
        <p:spPr>
          <a:xfrm>
            <a:off x="0" y="1866900"/>
            <a:ext cx="8953500" cy="6858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ribbon-light"/>
          <p:cNvSpPr/>
          <p:nvPr/>
        </p:nvSpPr>
        <p:spPr>
          <a:xfrm>
            <a:off x="4619625" y="1866900"/>
            <a:ext cx="4333875" cy="685800"/>
          </a:xfrm>
          <a:custGeom>
            <a:avLst/>
            <a:gdLst/>
            <a:ahLst/>
            <a:cxnLst/>
            <a:rect l="l" t="t" r="r" b="b"/>
            <a:pathLst>
              <a:path w="4333875" h="685800">
                <a:moveTo>
                  <a:pt x="0" y="685800"/>
                </a:moveTo>
                <a:lnTo>
                  <a:pt x="1076325" y="0"/>
                </a:lnTo>
                <a:lnTo>
                  <a:pt x="4333875" y="0"/>
                </a:lnTo>
                <a:lnTo>
                  <a:pt x="4333875" y="685800"/>
                </a:lnTo>
                <a:close/>
              </a:path>
            </a:pathLst>
          </a:custGeom>
          <a:solidFill>
            <a:srgbClr val="FA9AB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over-ribbon-pink"/>
          <p:cNvSpPr/>
          <p:nvPr/>
        </p:nvSpPr>
        <p:spPr>
          <a:xfrm>
            <a:off x="5334000" y="1866900"/>
            <a:ext cx="3619500" cy="685800"/>
          </a:xfrm>
          <a:custGeom>
            <a:avLst/>
            <a:gdLst/>
            <a:ahLst/>
            <a:cxnLst/>
            <a:rect l="l" t="t" r="r" b="b"/>
            <a:pathLst>
              <a:path w="3619500" h="685800">
                <a:moveTo>
                  <a:pt x="0" y="685800"/>
                </a:moveTo>
                <a:lnTo>
                  <a:pt x="1028700" y="0"/>
                </a:lnTo>
                <a:lnTo>
                  <a:pt x="3619500" y="0"/>
                </a:lnTo>
                <a:lnTo>
                  <a:pt x="3619500" y="685800"/>
                </a:lnTo>
                <a:close/>
              </a:path>
            </a:pathLst>
          </a:custGeom>
          <a:solidFill>
            <a:srgbClr val="F67EA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8" name="org-title"/>
          <p:cNvSpPr txBox="1"/>
          <p:nvPr/>
        </p:nvSpPr>
        <p:spPr>
          <a:xfrm>
            <a:off x="609600" y="1914525"/>
            <a:ext cx="4857750" cy="571500"/>
          </a:xfrm>
          <a:prstGeom prst="rect">
            <a:avLst/>
          </a:prstGeom>
          <a:noFill/>
        </p:spPr>
        <p:txBody>
          <a:bodyPr wrap="none" lIns="57150" rIns="57150" tIns="38100" bIns="38100" anchor="t">
            <a:noAutofit/>
          </a:bodyPr>
          <a:lstStyle/>
          <a:p>
            <a:pPr eaLnBrk="0">
              <a:lnSpc>
                <a:spcPts val="3750"/>
              </a:lnSpc>
              <a:spcBef>
                <a:spcPts val="0"/>
              </a:spcBef>
              <a:spcAft>
                <a:spcPts val="0"/>
              </a:spcAft>
            </a:pPr>
            <a:r>
              <a:rPr sz="3000" b="1">
                <a:solidFill>
                  <a:srgbClr val="202124"/>
                </a:solidFill>
                <a:latin typeface="Noto Sans KR"/>
              </a:rPr>
              <a:t>제주특별자치도</a:t>
            </a:r>
          </a:p>
        </p:txBody>
      </p:sp>
      <p:sp xmlns:a="http://schemas.openxmlformats.org/drawingml/2006/main">
        <p:nvSpPr>
          <p:cNvPr id="11" name="cover-title-rule"/>
          <p:cNvSpPr/>
          <p:nvPr/>
        </p:nvSpPr>
        <p:spPr>
          <a:xfrm>
            <a:off x="762000" y="4371975"/>
            <a:ext cx="1619250" cy="381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2" name="cover-source-bg"/>
          <p:cNvSpPr/>
          <p:nvPr/>
        </p:nvSpPr>
        <p:spPr>
          <a:xfrm>
            <a:off x="9258300" y="7829550"/>
            <a:ext cx="567690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ver-source-label">
            <a:hlinkClick xmlns:ns0="http://schemas.openxmlformats.org/officeDocument/2006/relationships" ns0:id="rId4"/>
          </p:cNvPr>
          <p:cNvSpPr txBox="1"/>
          <p:nvPr/>
        </p:nvSpPr>
        <p:spPr>
          <a:xfrm>
            <a:off x="9363075" y="7867650"/>
            <a:ext cx="54673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곽지해수욕장</a:t>
            </a:r>
          </a:p>
          <a:p>
            <a:pPr eaLnBrk="0" algn="ctr">
              <a:lnSpc>
                <a:spcPts val="1593"/>
              </a:lnSpc>
              <a:spcBef>
                <a:spcPts val="0"/>
              </a:spcBef>
              <a:spcAft>
                <a:spcPts val="0"/>
              </a:spcAft>
            </a:pPr>
            <a:r>
              <a:rPr sz="1275" b="0">
                <a:solidFill>
                  <a:srgbClr val="FFFFFF"/>
                </a:solidFill>
                <a:latin typeface="Noto Sans KR"/>
              </a:rPr>
              <a:t>출처: 한국관광공사 TourAPI</a:t>
            </a:r>
          </a:p>
        </p:txBody>
      </p:sp>
    </p:spTree>
    <p:extLst>
      <p:ext uri="{BB962C8B-B14F-4D97-AF65-F5344CB8AC3E}">
        <p14:creationId xmlns:p14="http://schemas.microsoft.com/office/powerpoint/2010/main" val="655411831"/>
      </p:ext>
    </p:extLst>
  </p:cSld>
</p:sld>
</file>

<file path=ppt/slides/slide2.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5" name="contents-panel-6"/>
          <p:cNvSpPr/>
          <p:nvPr/>
        </p:nvSpPr>
        <p:spPr>
          <a:xfrm>
            <a:off x="5095875" y="70294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ntents-panel-5"/>
          <p:cNvSpPr/>
          <p:nvPr/>
        </p:nvSpPr>
        <p:spPr>
          <a:xfrm>
            <a:off x="5095875" y="59912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9" name="contents-panel-4"/>
          <p:cNvSpPr/>
          <p:nvPr/>
        </p:nvSpPr>
        <p:spPr>
          <a:xfrm>
            <a:off x="5095875" y="49530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ontents-panel-3"/>
          <p:cNvSpPr/>
          <p:nvPr/>
        </p:nvSpPr>
        <p:spPr>
          <a:xfrm>
            <a:off x="5095875" y="391477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3" name="contents-panel-2"/>
          <p:cNvSpPr/>
          <p:nvPr/>
        </p:nvSpPr>
        <p:spPr>
          <a:xfrm>
            <a:off x="5095875" y="287655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contents-panel-1"/>
          <p:cNvSpPr/>
          <p:nvPr/>
        </p:nvSpPr>
        <p:spPr>
          <a:xfrm>
            <a:off x="5095875" y="1838325"/>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7" name="contents-panel-0"/>
          <p:cNvSpPr/>
          <p:nvPr/>
        </p:nvSpPr>
        <p:spPr>
          <a:xfrm>
            <a:off x="5095875" y="800100"/>
            <a:ext cx="9239250" cy="8667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 name="contents-rail"/>
          <p:cNvSpPr/>
          <p:nvPr/>
        </p:nvSpPr>
        <p:spPr>
          <a:xfrm>
            <a:off x="0" y="0"/>
            <a:ext cx="4476750" cy="8572500"/>
          </a:xfrm>
          <a:prstGeom prst="rect">
            <a:avLst/>
          </a:prstGeom>
          <a:gradFill rotWithShape="1">
            <a:gsLst>
              <a:gs pos="0">
                <a:srgbClr val="ECEEF1"/>
              </a:gs>
              <a:gs pos="100000">
                <a:srgbClr val="BCC3CC"/>
              </a:gs>
            </a:gsLst>
            <a:lin scaled="0" ang="5400000"/>
          </a:gra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3" name="contents-en"/>
          <p:cNvSpPr txBox="1"/>
          <p:nvPr/>
        </p:nvSpPr>
        <p:spPr>
          <a:xfrm>
            <a:off x="619125" y="3048000"/>
            <a:ext cx="3524250" cy="619125"/>
          </a:xfrm>
          <a:prstGeom prst="rect">
            <a:avLst/>
          </a:prstGeom>
          <a:noFill/>
        </p:spPr>
        <p:txBody>
          <a:bodyPr wrap="none" lIns="57150" rIns="57150" tIns="38100" bIns="38100" anchor="t">
            <a:noAutofit/>
          </a:bodyPr>
          <a:lstStyle/>
          <a:p>
            <a:pPr eaLnBrk="0">
              <a:lnSpc>
                <a:spcPts val="4265"/>
              </a:lnSpc>
              <a:spcBef>
                <a:spcPts val="0"/>
              </a:spcBef>
              <a:spcAft>
                <a:spcPts val="0"/>
              </a:spcAft>
            </a:pPr>
            <a:r>
              <a:rPr sz="3412" b="1">
                <a:solidFill>
                  <a:srgbClr val="202124"/>
                </a:solidFill>
                <a:latin typeface="Noto Sans KR"/>
              </a:rPr>
              <a:t>CONTENTS</a:t>
            </a:r>
          </a:p>
        </p:txBody>
      </p:sp>
      <p:sp xmlns:a="http://schemas.openxmlformats.org/drawingml/2006/main">
        <p:nvSpPr>
          <p:cNvPr id="4" name="contents-ko"/>
          <p:cNvSpPr txBox="1"/>
          <p:nvPr/>
        </p:nvSpPr>
        <p:spPr>
          <a:xfrm>
            <a:off x="619125" y="3800475"/>
            <a:ext cx="3333750" cy="666750"/>
          </a:xfrm>
          <a:prstGeom prst="rect">
            <a:avLst/>
          </a:prstGeom>
          <a:noFill/>
        </p:spPr>
        <p:txBody>
          <a:bodyPr wrap="none" lIns="57150" rIns="57150" tIns="38100" bIns="38100" anchor="t">
            <a:noAutofit/>
          </a:bodyPr>
          <a:lstStyle/>
          <a:p>
            <a:pPr eaLnBrk="0">
              <a:lnSpc>
                <a:spcPts val="4312"/>
              </a:lnSpc>
              <a:spcBef>
                <a:spcPts val="0"/>
              </a:spcBef>
              <a:spcAft>
                <a:spcPts val="0"/>
              </a:spcAft>
            </a:pPr>
            <a:r>
              <a:rPr sz="3450" b="1">
                <a:solidFill>
                  <a:srgbClr val="202124"/>
                </a:solidFill>
                <a:latin typeface="Noto Sans KR"/>
              </a:rPr>
              <a:t>목차 안내</a:t>
            </a:r>
          </a:p>
        </p:txBody>
      </p:sp>
      <p:sp xmlns:a="http://schemas.openxmlformats.org/drawingml/2006/main">
        <p:nvSpPr>
          <p:cNvPr id="5" name="top-brand"/>
          <p:cNvSpPr txBox="1"/>
          <p:nvPr/>
        </p:nvSpPr>
        <p:spPr>
          <a:xfrm>
            <a:off x="619125" y="6858000"/>
            <a:ext cx="3286125" cy="1143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495565"/>
                </a:solidFill>
                <a:latin typeface="Noto Sans KR"/>
              </a:rPr>
              <a:t>제주특별자치도 제주시</a:t>
            </a:r>
          </a:p>
          <a:p>
            <a:pPr eaLnBrk="0">
              <a:lnSpc>
                <a:spcPts val="2156"/>
              </a:lnSpc>
              <a:spcBef>
                <a:spcPts val="0"/>
              </a:spcBef>
              <a:spcAft>
                <a:spcPts val="0"/>
              </a:spcAft>
            </a:pPr>
            <a:r>
              <a:rPr sz="1725" b="0">
                <a:solidFill>
                  <a:srgbClr val="495565"/>
                </a:solidFill>
                <a:latin typeface="Noto Sans KR"/>
              </a:rPr>
              <a:t>관광 전략기획안</a:t>
            </a:r>
          </a:p>
        </p:txBody>
      </p:sp>
      <p:sp xmlns:a="http://schemas.openxmlformats.org/drawingml/2006/main">
        <p:nvSpPr>
          <p:cNvPr id="6" name="top-date"/>
          <p:cNvSpPr txBox="1"/>
          <p:nvPr/>
        </p:nvSpPr>
        <p:spPr>
          <a:xfrm>
            <a:off x="619125" y="8001000"/>
            <a:ext cx="3333750" cy="3333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495565"/>
                </a:solidFill>
                <a:latin typeface="Noto Sans KR"/>
              </a:rPr>
              <a:t>2026. 09. 15</a:t>
            </a:r>
          </a:p>
        </p:txBody>
      </p:sp>
      <p:sp xmlns:a="http://schemas.openxmlformats.org/drawingml/2006/main">
        <p:nvSpPr>
          <p:cNvPr id="8" name="toc-0-number"/>
          <p:cNvSpPr txBox="1"/>
          <p:nvPr/>
        </p:nvSpPr>
        <p:spPr>
          <a:xfrm>
            <a:off x="5353050" y="9334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0</a:t>
            </a:r>
          </a:p>
        </p:txBody>
      </p:sp>
      <p:sp xmlns:a="http://schemas.openxmlformats.org/drawingml/2006/main">
        <p:nvSpPr>
          <p:cNvPr id="9" name="toc-0-label"/>
          <p:cNvSpPr txBox="1"/>
          <p:nvPr/>
        </p:nvSpPr>
        <p:spPr>
          <a:xfrm>
            <a:off x="6296025" y="10191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 의도 · 지역 성장 비교</a:t>
            </a:r>
          </a:p>
        </p:txBody>
      </p:sp>
      <p:sp xmlns:a="http://schemas.openxmlformats.org/drawingml/2006/main">
        <p:nvSpPr>
          <p:cNvPr id="11" name="toc-1-number"/>
          <p:cNvSpPr txBox="1"/>
          <p:nvPr/>
        </p:nvSpPr>
        <p:spPr>
          <a:xfrm>
            <a:off x="5353050" y="19716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1</a:t>
            </a:r>
          </a:p>
        </p:txBody>
      </p:sp>
      <p:sp xmlns:a="http://schemas.openxmlformats.org/drawingml/2006/main">
        <p:nvSpPr>
          <p:cNvPr id="12" name="toc-1-label"/>
          <p:cNvSpPr txBox="1"/>
          <p:nvPr/>
        </p:nvSpPr>
        <p:spPr>
          <a:xfrm>
            <a:off x="6296025" y="20574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지역별 사례와 실적</a:t>
            </a:r>
          </a:p>
        </p:txBody>
      </p:sp>
      <p:sp xmlns:a="http://schemas.openxmlformats.org/drawingml/2006/main">
        <p:nvSpPr>
          <p:cNvPr id="14" name="toc-2-number"/>
          <p:cNvSpPr txBox="1"/>
          <p:nvPr/>
        </p:nvSpPr>
        <p:spPr>
          <a:xfrm>
            <a:off x="5353050" y="30099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2</a:t>
            </a:r>
          </a:p>
        </p:txBody>
      </p:sp>
      <p:sp xmlns:a="http://schemas.openxmlformats.org/drawingml/2006/main">
        <p:nvSpPr>
          <p:cNvPr id="15" name="toc-2-label"/>
          <p:cNvSpPr txBox="1"/>
          <p:nvPr/>
        </p:nvSpPr>
        <p:spPr>
          <a:xfrm>
            <a:off x="6296025" y="30956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사업 목표와 KPI 산출근거</a:t>
            </a:r>
          </a:p>
        </p:txBody>
      </p:sp>
      <p:sp xmlns:a="http://schemas.openxmlformats.org/drawingml/2006/main">
        <p:nvSpPr>
          <p:cNvPr id="17" name="toc-3-number"/>
          <p:cNvSpPr txBox="1"/>
          <p:nvPr/>
        </p:nvSpPr>
        <p:spPr>
          <a:xfrm>
            <a:off x="5353050" y="404812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3</a:t>
            </a:r>
          </a:p>
        </p:txBody>
      </p:sp>
      <p:sp xmlns:a="http://schemas.openxmlformats.org/drawingml/2006/main">
        <p:nvSpPr>
          <p:cNvPr id="18" name="toc-3-label"/>
          <p:cNvSpPr txBox="1"/>
          <p:nvPr/>
        </p:nvSpPr>
        <p:spPr>
          <a:xfrm>
            <a:off x="6296025" y="413385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지역 적용과 실행</a:t>
            </a:r>
          </a:p>
        </p:txBody>
      </p:sp>
      <p:sp xmlns:a="http://schemas.openxmlformats.org/drawingml/2006/main">
        <p:nvSpPr>
          <p:cNvPr id="20" name="toc-4-number"/>
          <p:cNvSpPr txBox="1"/>
          <p:nvPr/>
        </p:nvSpPr>
        <p:spPr>
          <a:xfrm>
            <a:off x="5353050" y="508635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4</a:t>
            </a:r>
          </a:p>
        </p:txBody>
      </p:sp>
      <p:sp xmlns:a="http://schemas.openxmlformats.org/drawingml/2006/main">
        <p:nvSpPr>
          <p:cNvPr id="21" name="toc-4-label"/>
          <p:cNvSpPr txBox="1"/>
          <p:nvPr/>
        </p:nvSpPr>
        <p:spPr>
          <a:xfrm>
            <a:off x="6296025" y="517207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견적 예시안</a:t>
            </a:r>
          </a:p>
        </p:txBody>
      </p:sp>
      <p:sp xmlns:a="http://schemas.openxmlformats.org/drawingml/2006/main">
        <p:nvSpPr>
          <p:cNvPr id="23" name="toc-5-number"/>
          <p:cNvSpPr txBox="1"/>
          <p:nvPr/>
        </p:nvSpPr>
        <p:spPr>
          <a:xfrm>
            <a:off x="5353050" y="6124575"/>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5</a:t>
            </a:r>
          </a:p>
        </p:txBody>
      </p:sp>
      <p:sp xmlns:a="http://schemas.openxmlformats.org/drawingml/2006/main">
        <p:nvSpPr>
          <p:cNvPr id="24" name="toc-5-label"/>
          <p:cNvSpPr txBox="1"/>
          <p:nvPr/>
        </p:nvSpPr>
        <p:spPr>
          <a:xfrm>
            <a:off x="6296025" y="6210300"/>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기획서 생성 과정</a:t>
            </a:r>
          </a:p>
        </p:txBody>
      </p:sp>
      <p:sp xmlns:a="http://schemas.openxmlformats.org/drawingml/2006/main">
        <p:nvSpPr>
          <p:cNvPr id="26" name="toc-6-number"/>
          <p:cNvSpPr txBox="1"/>
          <p:nvPr/>
        </p:nvSpPr>
        <p:spPr>
          <a:xfrm>
            <a:off x="5353050" y="7162800"/>
            <a:ext cx="695325" cy="542925"/>
          </a:xfrm>
          <a:prstGeom prst="rect">
            <a:avLst/>
          </a:prstGeom>
          <a:noFill/>
        </p:spPr>
        <p:txBody>
          <a:bodyPr wrap="none" lIns="57150" rIns="57150" tIns="38100" bIns="38100" anchor="ctr">
            <a:noAutofit/>
          </a:bodyPr>
          <a:lstStyle/>
          <a:p>
            <a:pPr eaLnBrk="0" algn="ctr">
              <a:lnSpc>
                <a:spcPts val="3000"/>
              </a:lnSpc>
              <a:spcBef>
                <a:spcPts val="0"/>
              </a:spcBef>
              <a:spcAft>
                <a:spcPts val="0"/>
              </a:spcAft>
            </a:pPr>
            <a:r>
              <a:rPr sz="2400" b="1">
                <a:solidFill>
                  <a:srgbClr val="F50045"/>
                </a:solidFill>
                <a:latin typeface="Noto Sans KR"/>
              </a:rPr>
              <a:t>6</a:t>
            </a:r>
          </a:p>
        </p:txBody>
      </p:sp>
      <p:sp xmlns:a="http://schemas.openxmlformats.org/drawingml/2006/main">
        <p:nvSpPr>
          <p:cNvPr id="27" name="toc-6-label"/>
          <p:cNvSpPr txBox="1"/>
          <p:nvPr/>
        </p:nvSpPr>
        <p:spPr>
          <a:xfrm>
            <a:off x="6296025" y="7248525"/>
            <a:ext cx="7715250" cy="542925"/>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202124"/>
                </a:solidFill>
                <a:latin typeface="Noto Sans KR"/>
              </a:rPr>
              <a:t>근거·데이터·출처</a:t>
            </a:r>
          </a:p>
        </p:txBody>
      </p:sp>
    </p:spTree>
    <p:extLst>
      <p:ext uri="{BB962C8B-B14F-4D97-AF65-F5344CB8AC3E}">
        <p14:creationId xmlns:p14="http://schemas.microsoft.com/office/powerpoint/2010/main" val="70192671"/>
      </p:ext>
    </p:extLst>
  </p:cSld>
</p:sld>
</file>

<file path=ppt/slides/slide3.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51" name="growth-card-1"/>
          <p:cNvSpPr/>
          <p:nvPr/>
        </p:nvSpPr>
        <p:spPr>
          <a:xfrm>
            <a:off x="5248275" y="531495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0" name="growth-card-0"/>
          <p:cNvSpPr/>
          <p:nvPr/>
        </p:nvSpPr>
        <p:spPr>
          <a:xfrm>
            <a:off x="5248275" y="2971800"/>
            <a:ext cx="9048750" cy="21812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3" name="visitor-photo"/>
          <p:cNvPicPr>
            <a:picLocks xmlns:a="http://schemas.openxmlformats.org/drawingml/2006/main" noChangeAspect="1"/>
          </p:cNvPicPr>
          <p:nvPr/>
        </p:nvPicPr>
        <p:blipFill>
          <a:blip xmlns:r="http://schemas.openxmlformats.org/officeDocument/2006/relationships" xmlns:a="http://schemas.openxmlformats.org/drawingml/2006/main" r:embed="Re0802ea4bb724ca1"/>
          <a:srcRect xmlns:a="http://schemas.openxmlformats.org/drawingml/2006/main" l="31360" r="31360"/>
          <a:stretch xmlns:a="http://schemas.openxmlformats.org/drawingml/2006/main">
            <a:fillRect l="0" t="0" r="0" b="0"/>
          </a:stretch>
        </p:blipFill>
        <p:spPr>
          <a:xfrm xmlns:a="http://schemas.openxmlformats.org/drawingml/2006/main">
            <a:off x="0" y="0"/>
            <a:ext cx="4791075" cy="8572500"/>
          </a:xfrm>
          <a:prstGeom xmlns:a="http://schemas.openxmlformats.org/drawingml/2006/main" prst="rect">
            <a:avLst/>
          </a:prstGeom>
        </p:spPr>
      </p:pic>
      <p:sp>
        <p:nvSpPr>
          <p:cNvPr id="15" name="hero-source-bg">
            <a:extLst xmlns:a="http://schemas.openxmlformats.org/drawingml/2006/main">
              <a:ext uri="{FF2B5EF4-FFF2-40B4-BE49-F238E27FC236}">
                <a16:creationId xmlns:a16="http://schemas.microsoft.com/office/drawing/2014/main" id="{CDA4A852-90A1-4F7A-85C3-CC9CF369CFEA}"/>
              </a:ext>
            </a:extLst>
          </p:cNvPr>
          <p:cNvSpPr>
            <a:spLocks xmlns:a="http://schemas.openxmlformats.org/drawingml/2006/main" noGrp="1"/>
          </p:cNvSpPr>
          <p:nvPr/>
        </p:nvSpPr>
        <p:spPr>
          <a:xfrm xmlns:a="http://schemas.openxmlformats.org/drawingml/2006/main">
            <a:off x="323850" y="8103394"/>
            <a:ext cx="4143375" cy="392906"/>
          </a:xfrm>
          <a:prstGeom xmlns:a="http://schemas.openxmlformats.org/drawingml/2006/main" prst="roundRect">
            <a:avLst>
              <a:gd name="adj" fmla="val 5000"/>
            </a:avLst>
          </a:prstGeom>
          <a:solidFill xmlns:a="http://schemas.openxmlformats.org/drawingml/2006/main">
            <a:srgbClr val="0F315B"/>
          </a:solidFill>
          <a:ln xmlns:a="http://schemas.openxmlformats.org/drawingml/2006/main" w="9525">
            <a:noFill/>
            <a:prstDash val="solid"/>
          </a:ln>
        </p:spPr>
        <p:txBody>
          <a:bodyPr xmlns:a="http://schemas.openxmlformats.org/drawingml/2006/main"/>
          <a:lstStyle xmlns:a="http://schemas.openxmlformats.org/drawingml/2006/main"/>
          <a:p xmlns:a="http://schemas.openxmlformats.org/drawingml/2006/main">
            <a:endParaRPr/>
          </a:p>
        </p:txBody>
      </p:sp>
      <p:sp>
        <p:nvSpPr>
          <p:cNvPr id="16" name="hero-source-label">
            <a:extLst xmlns:a="http://schemas.openxmlformats.org/drawingml/2006/main">
              <a:ext uri="{FF2B5EF4-FFF2-40B4-BE49-F238E27FC236}">
                <a16:creationId xmlns:a16="http://schemas.microsoft.com/office/drawing/2014/main" id="{D1920FBE-F92C-4035-AAA5-C13D7F354553}"/>
              </a:ext>
            </a:extLst>
          </p:cNvPr>
          <p:cNvSpPr>
            <a:spLocks xmlns:a="http://schemas.openxmlformats.org/drawingml/2006/main" noGrp="1"/>
          </p:cNvSpPr>
          <p:nvPr/>
        </p:nvSpPr>
        <p:spPr>
          <a:xfrm xmlns:a="http://schemas.openxmlformats.org/drawingml/2006/main">
            <a:off x="323850" y="8160544"/>
            <a:ext cx="4143375" cy="278606"/>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anchor="ctr" wrap="none" lIns="57150" rIns="57150" tIns="38100" bIns="38100">
            <a:noAutofit/>
          </a:bodyPr>
          <a:lstStyle xmlns:a="http://schemas.openxmlformats.org/drawingml/2006/main"/>
          <a:p xmlns:a="http://schemas.openxmlformats.org/drawingml/2006/main">
            <a:pPr algn="ctr" eaLnBrk="0">
              <a:lnSpc>
                <a:spcPts val="1546"/>
              </a:lnSpc>
              <a:spcBef>
                <a:spcPts val="0"/>
              </a:spcBef>
              <a:spcAft>
                <a:spcPts val="0"/>
              </a:spcAft>
              <a:buNone/>
              <a:defRPr sz="825" b="0" i="0">
                <a:solidFill>
                  <a:srgbClr val="FFFFFF"/>
                </a:solidFill>
                <a:latin typeface="Noto Sans KR"/>
                <a:ea typeface="Noto Sans KR"/>
                <a:cs typeface="Noto Sans KR"/>
              </a:defRPr>
            </a:pPr>
            <a:r>
              <a:rPr sz="1237" b="0">
                <a:solidFill>
                  <a:srgbClr val="FFFFFF"/>
                </a:solidFill>
                <a:latin typeface="Noto Sans KR"/>
              </a:rPr>
              <a:t>제주특별자치도 제주시 한경면 청수리 · 가마오름</a:t>
            </a:r>
          </a:p>
        </p:txBody>
      </p:sp>
      <p:sp xmlns:a="http://schemas.openxmlformats.org/drawingml/2006/main">
        <p:nvSpPr>
          <p:cNvPr id="34" name="title"/>
          <p:cNvSpPr txBox="1"/>
          <p:nvPr/>
        </p:nvSpPr>
        <p:spPr>
          <a:xfrm>
            <a:off x="5257800" y="828675"/>
            <a:ext cx="8972550" cy="762000"/>
          </a:xfrm>
          <a:prstGeom prst="rect">
            <a:avLst/>
          </a:prstGeom>
          <a:noFill/>
        </p:spPr>
        <p:txBody>
          <a:bodyPr wrap="none" lIns="57150" rIns="57150" tIns="38100" bIns="38100" anchor="ctr">
            <a:noAutofit/>
          </a:bodyPr>
          <a:lstStyle/>
          <a:p>
            <a:pPr eaLnBrk="0" algn="ctr">
              <a:lnSpc>
                <a:spcPts val="3937"/>
              </a:lnSpc>
              <a:spcBef>
                <a:spcPts val="0"/>
              </a:spcBef>
              <a:spcAft>
                <a:spcPts val="0"/>
              </a:spcAft>
            </a:pPr>
            <a:r>
              <a:rPr sz="3150" b="1">
                <a:solidFill>
                  <a:srgbClr val="202124"/>
                </a:solidFill>
                <a:latin typeface="Noto Sans KR"/>
              </a:rPr>
              <a:t>제주시 관광 발전 기획안</a:t>
            </a:r>
          </a:p>
        </p:txBody>
      </p:sp>
      <p:sp xmlns:a="http://schemas.openxmlformats.org/drawingml/2006/main">
        <p:nvSpPr>
          <p:cNvPr id="36" name="purpose-period"/>
          <p:cNvSpPr txBox="1"/>
          <p:nvPr/>
        </p:nvSpPr>
        <p:spPr>
          <a:xfrm>
            <a:off x="5391150" y="1952625"/>
            <a:ext cx="8763000" cy="42862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0">
                <a:solidFill>
                  <a:srgbClr val="62666C"/>
                </a:solidFill>
                <a:latin typeface="Noto Sans KR"/>
              </a:rPr>
              <a:t>향후 3개월 전망 · 2026년 10–12월</a:t>
            </a:r>
          </a:p>
        </p:txBody>
      </p:sp>
      <p:sp xmlns:a="http://schemas.openxmlformats.org/drawingml/2006/main">
        <p:nvSpPr>
          <p:cNvPr id="37" name="purpose-comparison"/>
          <p:cNvSpPr txBox="1"/>
          <p:nvPr/>
        </p:nvSpPr>
        <p:spPr>
          <a:xfrm>
            <a:off x="5391150" y="2409825"/>
            <a:ext cx="8763000" cy="38100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전년 같은 기간 대비 증가율을 전국 비교 평균과 비교합니다.</a:t>
            </a:r>
          </a:p>
        </p:txBody>
      </p:sp>
      <p:sp xmlns:a="http://schemas.openxmlformats.org/drawingml/2006/main">
        <p:nvSpPr>
          <p:cNvPr id="38" name="growth-label-0"/>
          <p:cNvSpPr txBox="1"/>
          <p:nvPr/>
        </p:nvSpPr>
        <p:spPr>
          <a:xfrm>
            <a:off x="5505450" y="309562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관광객 방문자 수</a:t>
            </a:r>
          </a:p>
        </p:txBody>
      </p:sp>
      <p:sp xmlns:a="http://schemas.openxmlformats.org/drawingml/2006/main">
        <p:nvSpPr>
          <p:cNvPr id="39" name="growth-total-0"/>
          <p:cNvSpPr txBox="1"/>
          <p:nvPr/>
        </p:nvSpPr>
        <p:spPr>
          <a:xfrm>
            <a:off x="9525000" y="313372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1,058.0만 명</a:t>
            </a:r>
          </a:p>
        </p:txBody>
      </p:sp>
      <p:graphicFrame xmlns:a="http://schemas.openxmlformats.org/drawingml/2006/main">
        <p:nvGraphicFramePr>
          <p:cNvPr id="40" name="growth-chart-0"/>
          <p:cNvGraphicFramePr>
            <a:graphicFrameLocks noGrp="1"/>
          </p:cNvGraphicFramePr>
          <p:nvPr/>
        </p:nvGraphicFramePr>
        <p:xfrm>
          <a:off x="5505450" y="3543300"/>
          <a:ext cx="8534400" cy="1066800"/>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41" name="growth-gap-0"/>
          <p:cNvSpPr txBox="1"/>
          <p:nvPr/>
        </p:nvSpPr>
        <p:spPr>
          <a:xfrm>
            <a:off x="5505450" y="466725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2.60%p 낮습니다.</a:t>
            </a:r>
          </a:p>
        </p:txBody>
      </p:sp>
      <p:sp xmlns:a="http://schemas.openxmlformats.org/drawingml/2006/main">
        <p:nvSpPr>
          <p:cNvPr id="42" name="growth-label-1"/>
          <p:cNvSpPr txBox="1"/>
          <p:nvPr/>
        </p:nvSpPr>
        <p:spPr>
          <a:xfrm>
            <a:off x="5505450" y="5438775"/>
            <a:ext cx="4095750" cy="4191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202124"/>
                </a:solidFill>
                <a:latin typeface="Noto Sans KR"/>
              </a:rPr>
              <a:t>관광소비액</a:t>
            </a:r>
          </a:p>
        </p:txBody>
      </p:sp>
      <p:sp xmlns:a="http://schemas.openxmlformats.org/drawingml/2006/main">
        <p:nvSpPr>
          <p:cNvPr id="43" name="growth-total-1"/>
          <p:cNvSpPr txBox="1"/>
          <p:nvPr/>
        </p:nvSpPr>
        <p:spPr>
          <a:xfrm>
            <a:off x="9525000" y="5476875"/>
            <a:ext cx="4514850" cy="361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3개월 예측 합계 4,449.2억 원</a:t>
            </a:r>
          </a:p>
        </p:txBody>
      </p:sp>
      <p:graphicFrame xmlns:a="http://schemas.openxmlformats.org/drawingml/2006/main">
        <p:nvGraphicFramePr>
          <p:cNvPr id="44" name="growth-chart-1"/>
          <p:cNvGraphicFramePr>
            <a:graphicFrameLocks noGrp="1"/>
          </p:cNvGraphicFramePr>
          <p:nvPr/>
        </p:nvGraphicFramePr>
        <p:xfrm>
          <a:off x="5505450" y="5886450"/>
          <a:ext cx="8534400" cy="1066800"/>
        </p:xfrm>
        <a:graphic>
          <a:graphicData uri="http://schemas.openxmlformats.org/drawingml/2006/chart">
            <c:chart xmlns:c="http://schemas.openxmlformats.org/drawingml/2006/chart" xmlns:r="http://schemas.openxmlformats.org/officeDocument/2006/relationships" r:id="rId5"/>
          </a:graphicData>
        </a:graphic>
      </p:graphicFrame>
      <p:sp xmlns:a="http://schemas.openxmlformats.org/drawingml/2006/main">
        <p:nvSpPr>
          <p:cNvPr id="45" name="growth-gap-1"/>
          <p:cNvSpPr txBox="1"/>
          <p:nvPr/>
        </p:nvSpPr>
        <p:spPr>
          <a:xfrm>
            <a:off x="5505450" y="7010400"/>
            <a:ext cx="8524875" cy="371475"/>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1">
                <a:solidFill>
                  <a:srgbClr val="F50045"/>
                </a:solidFill>
                <a:latin typeface="Noto Sans KR"/>
              </a:rPr>
              <a:t>제주시의 예상 증가율은 전국 비교 평균보다 6.99%p 낮습니다.</a:t>
            </a:r>
          </a:p>
        </p:txBody>
      </p:sp>
      <p:sp xmlns:a="http://schemas.openxmlformats.org/drawingml/2006/main">
        <p:nvSpPr>
          <p:cNvPr id="46" name="purpose-note"/>
          <p:cNvSpPr txBox="1"/>
          <p:nvPr/>
        </p:nvSpPr>
        <p:spPr>
          <a:xfrm>
            <a:off x="5391150" y="7886700"/>
            <a:ext cx="8772525" cy="6477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62666C"/>
                </a:solidFill>
                <a:latin typeface="Noto Sans KR"/>
              </a:rPr>
              <a:t>비교 대상 249개 지역 · 한국관광 데이터랩 2026.06까지의 관측값과 저장 ML 모델</a:t>
            </a:r>
          </a:p>
          <a:p>
            <a:pPr eaLnBrk="0">
              <a:lnSpc>
                <a:spcPts val="1500"/>
              </a:lnSpc>
              <a:spcBef>
                <a:spcPts val="0"/>
              </a:spcBef>
              <a:spcAft>
                <a:spcPts val="0"/>
              </a:spcAft>
            </a:pPr>
            <a:r>
              <a:rPr sz="1200" b="0">
                <a:solidFill>
                  <a:srgbClr val="62666C"/>
                </a:solidFill>
                <a:latin typeface="Noto Sans KR"/>
              </a:rPr>
              <a:t>비교 평균 = 지역별 전년 동기 대비 증가율의 단순평균. 인구 보정 전 탐색 전망입니다.</a:t>
            </a:r>
          </a:p>
        </p:txBody>
      </p:sp>
      <p:sp xmlns:a="http://schemas.openxmlformats.org/drawingml/2006/main">
        <p:nvSpPr>
          <p:cNvPr id="48" name="editorial-kicker"/>
          <p:cNvSpPr txBox="1"/>
          <p:nvPr/>
        </p:nvSpPr>
        <p:spPr>
          <a:xfrm>
            <a:off x="5343525"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0. 기획 의도</a:t>
            </a:r>
          </a:p>
        </p:txBody>
      </p:sp>
      <p:sp xmlns:a="http://schemas.openxmlformats.org/drawingml/2006/main">
        <p:nvSpPr>
          <p:cNvPr id="4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03 / 15</a:t>
            </a:r>
          </a:p>
        </p:txBody>
      </p:sp>
    </p:spTree>
    <p:extLst>
      <p:ext uri="{BB962C8B-B14F-4D97-AF65-F5344CB8AC3E}">
        <p14:creationId xmlns:p14="http://schemas.microsoft.com/office/powerpoint/2010/main" val="1308887362"/>
      </p:ext>
    </p:extLst>
  </p:cSld>
</p:sld>
</file>

<file path=ppt/slides/slide4.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2.1 사업 목표</a:t>
            </a:r>
          </a:p>
        </p:txBody>
      </p:sp>
      <p:sp xmlns:a="http://schemas.openxmlformats.org/drawingml/2006/main">
        <p:nvSpPr>
          <p:cNvPr id="4" name="block-0"/>
          <p:cNvSpPr/>
          <p:nvPr/>
        </p:nvSpPr>
        <p:spPr>
          <a:xfrm>
            <a:off x="10096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block-title-0"/>
          <p:cNvSpPr txBox="1"/>
          <p:nvPr/>
        </p:nvSpPr>
        <p:spPr>
          <a:xfrm>
            <a:off x="11811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사업내용</a:t>
            </a:r>
          </a:p>
        </p:txBody>
      </p:sp>
      <p:sp xmlns:a="http://schemas.openxmlformats.org/drawingml/2006/main">
        <p:nvSpPr>
          <p:cNvPr id="7" name="block-body-0"/>
          <p:cNvSpPr txBox="1"/>
          <p:nvPr/>
        </p:nvSpPr>
        <p:spPr>
          <a:xfrm>
            <a:off x="11811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제주시 내 박물관, 공연장, 문화유산 등</a:t>
            </a:r>
          </a:p>
          <a:p>
            <a:pPr eaLnBrk="0">
              <a:lnSpc>
                <a:spcPts val="2156"/>
              </a:lnSpc>
              <a:spcBef>
                <a:spcPts val="0"/>
              </a:spcBef>
              <a:spcAft>
                <a:spcPts val="0"/>
              </a:spcAft>
            </a:pPr>
            <a:r>
              <a:rPr sz="1725" b="0">
                <a:solidFill>
                  <a:srgbClr val="62666C"/>
                </a:solidFill>
                <a:latin typeface="Noto Sans KR"/>
              </a:rPr>
              <a:t>기존 시설을 활용하여 야간 개방 및 체험</a:t>
            </a:r>
          </a:p>
          <a:p>
            <a:pPr eaLnBrk="0">
              <a:lnSpc>
                <a:spcPts val="2156"/>
              </a:lnSpc>
              <a:spcBef>
                <a:spcPts val="0"/>
              </a:spcBef>
              <a:spcAft>
                <a:spcPts val="0"/>
              </a:spcAft>
            </a:pPr>
            <a:r>
              <a:rPr sz="1725" b="0">
                <a:solidFill>
                  <a:srgbClr val="62666C"/>
                </a:solidFill>
                <a:latin typeface="Noto Sans KR"/>
              </a:rPr>
              <a:t>프로그램을 확대 운영</a:t>
            </a:r>
          </a:p>
        </p:txBody>
      </p:sp>
      <p:sp xmlns:a="http://schemas.openxmlformats.org/drawingml/2006/main">
        <p:nvSpPr>
          <p:cNvPr id="8" name="block-1"/>
          <p:cNvSpPr/>
          <p:nvPr/>
        </p:nvSpPr>
        <p:spPr>
          <a:xfrm>
            <a:off x="548640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0" name="block-title-1"/>
          <p:cNvSpPr txBox="1"/>
          <p:nvPr/>
        </p:nvSpPr>
        <p:spPr>
          <a:xfrm>
            <a:off x="565785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사업기간</a:t>
            </a:r>
          </a:p>
        </p:txBody>
      </p:sp>
      <p:sp xmlns:a="http://schemas.openxmlformats.org/drawingml/2006/main">
        <p:nvSpPr>
          <p:cNvPr id="11" name="block-body-1"/>
          <p:cNvSpPr txBox="1"/>
          <p:nvPr/>
        </p:nvSpPr>
        <p:spPr>
          <a:xfrm>
            <a:off x="565785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2026-10 ~ 2026-12, 3개월</a:t>
            </a:r>
          </a:p>
          <a:p>
            <a:pPr eaLnBrk="0">
              <a:lnSpc>
                <a:spcPts val="2156"/>
              </a:lnSpc>
              <a:spcBef>
                <a:spcPts val="0"/>
              </a:spcBef>
              <a:spcAft>
                <a:spcPts val="0"/>
              </a:spcAft>
            </a:pPr>
            <a:r>
              <a:rPr sz="1725" b="0">
                <a:solidFill>
                  <a:srgbClr val="62666C"/>
                </a:solidFill>
                <a:latin typeface="Noto Sans KR"/>
              </a:rPr>
              <a:t>준비·협의 → 시범 운영 → 성과 확인</a:t>
            </a:r>
          </a:p>
        </p:txBody>
      </p:sp>
      <p:sp xmlns:a="http://schemas.openxmlformats.org/drawingml/2006/main">
        <p:nvSpPr>
          <p:cNvPr id="12" name="block-2"/>
          <p:cNvSpPr/>
          <p:nvPr/>
        </p:nvSpPr>
        <p:spPr>
          <a:xfrm>
            <a:off x="9963150" y="2057400"/>
            <a:ext cx="4267200" cy="19716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4" name="block-title-2"/>
          <p:cNvSpPr txBox="1"/>
          <p:nvPr/>
        </p:nvSpPr>
        <p:spPr>
          <a:xfrm>
            <a:off x="10134600" y="2200275"/>
            <a:ext cx="3943350" cy="3810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목표 KPI</a:t>
            </a:r>
          </a:p>
        </p:txBody>
      </p:sp>
      <p:sp xmlns:a="http://schemas.openxmlformats.org/drawingml/2006/main">
        <p:nvSpPr>
          <p:cNvPr id="15" name="block-body-2"/>
          <p:cNvSpPr txBox="1"/>
          <p:nvPr/>
        </p:nvSpPr>
        <p:spPr>
          <a:xfrm>
            <a:off x="10134600" y="2676525"/>
            <a:ext cx="3943350" cy="1257300"/>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3개월 월별 합계</a:t>
            </a:r>
          </a:p>
          <a:p>
            <a:pPr eaLnBrk="0">
              <a:lnSpc>
                <a:spcPts val="2156"/>
              </a:lnSpc>
              <a:spcBef>
                <a:spcPts val="0"/>
              </a:spcBef>
              <a:spcAft>
                <a:spcPts val="0"/>
              </a:spcAft>
            </a:pPr>
            <a:r>
              <a:rPr sz="1725" b="0">
                <a:solidFill>
                  <a:srgbClr val="62666C"/>
                </a:solidFill>
                <a:latin typeface="Noto Sans KR"/>
              </a:rPr>
              <a:t>방문자 1,093만 명</a:t>
            </a:r>
          </a:p>
          <a:p>
            <a:pPr eaLnBrk="0">
              <a:lnSpc>
                <a:spcPts val="2156"/>
              </a:lnSpc>
              <a:spcBef>
                <a:spcPts val="0"/>
              </a:spcBef>
              <a:spcAft>
                <a:spcPts val="0"/>
              </a:spcAft>
            </a:pPr>
            <a:r>
              <a:rPr sz="1725" b="0">
                <a:solidFill>
                  <a:srgbClr val="62666C"/>
                </a:solidFill>
                <a:latin typeface="Noto Sans KR"/>
              </a:rPr>
              <a:t>관광소비액 4,597억 원</a:t>
            </a:r>
          </a:p>
        </p:txBody>
      </p:sp>
      <p:sp xmlns:a="http://schemas.openxmlformats.org/drawingml/2006/main">
        <p:nvSpPr>
          <p:cNvPr id="16" name="chart-panel-0"/>
          <p:cNvSpPr/>
          <p:nvPr/>
        </p:nvSpPr>
        <p:spPr>
          <a:xfrm>
            <a:off x="100965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chart-title-0"/>
          <p:cNvSpPr txBox="1"/>
          <p:nvPr/>
        </p:nvSpPr>
        <p:spPr>
          <a:xfrm>
            <a:off x="120015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관광객 방문자 수</a:t>
            </a:r>
          </a:p>
        </p:txBody>
      </p:sp>
      <p:graphicFrame xmlns:a="http://schemas.openxmlformats.org/drawingml/2006/main">
        <p:nvGraphicFramePr>
          <p:cNvPr id="18" name="comparison-chart-0"/>
          <p:cNvGraphicFramePr>
            <a:graphicFrameLocks noGrp="1"/>
          </p:cNvGraphicFramePr>
          <p:nvPr/>
        </p:nvGraphicFramePr>
        <p:xfrm>
          <a:off x="1123950" y="4857750"/>
          <a:ext cx="6191250" cy="2200275"/>
        </p:xfrm>
        <a:graphic>
          <a:graphicData uri="http://schemas.openxmlformats.org/drawingml/2006/chart">
            <c:chart xmlns:c="http://schemas.openxmlformats.org/drawingml/2006/chart" xmlns:r="http://schemas.openxmlformats.org/officeDocument/2006/relationships" r:id="rId3"/>
          </a:graphicData>
        </a:graphic>
      </p:graphicFrame>
      <p:sp xmlns:a="http://schemas.openxmlformats.org/drawingml/2006/main">
        <p:nvSpPr>
          <p:cNvPr id="19" name="comparison-chart-0-legend-line-0"/>
          <p:cNvSpPr/>
          <p:nvPr/>
        </p:nvSpPr>
        <p:spPr>
          <a:xfrm>
            <a:off x="268605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0" name="comparison-chart-0-legend-label-0"/>
          <p:cNvSpPr txBox="1"/>
          <p:nvPr/>
        </p:nvSpPr>
        <p:spPr>
          <a:xfrm>
            <a:off x="297180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1" name="comparison-chart-0-legend-line-1"/>
          <p:cNvSpPr/>
          <p:nvPr/>
        </p:nvSpPr>
        <p:spPr>
          <a:xfrm>
            <a:off x="441007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2" name="comparison-chart-0-legend-label-1"/>
          <p:cNvSpPr txBox="1"/>
          <p:nvPr/>
        </p:nvSpPr>
        <p:spPr>
          <a:xfrm>
            <a:off x="469582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23" name="chart-panel-1"/>
          <p:cNvSpPr/>
          <p:nvPr/>
        </p:nvSpPr>
        <p:spPr>
          <a:xfrm>
            <a:off x="7810500" y="4248150"/>
            <a:ext cx="6419850" cy="3333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hart-title-1"/>
          <p:cNvSpPr txBox="1"/>
          <p:nvPr/>
        </p:nvSpPr>
        <p:spPr>
          <a:xfrm>
            <a:off x="8001000" y="4343400"/>
            <a:ext cx="6038850" cy="409575"/>
          </a:xfrm>
          <a:prstGeom prst="rect">
            <a:avLst/>
          </a:prstGeom>
          <a:noFill/>
        </p:spPr>
        <p:txBody>
          <a:bodyPr wrap="none" lIns="57150" rIns="57150" tIns="38100" bIns="38100" anchor="t">
            <a:noAutofit/>
          </a:bodyPr>
          <a:lstStyle/>
          <a:p>
            <a:pPr eaLnBrk="0" algn="ctr">
              <a:lnSpc>
                <a:spcPts val="2437"/>
              </a:lnSpc>
              <a:spcBef>
                <a:spcPts val="0"/>
              </a:spcBef>
              <a:spcAft>
                <a:spcPts val="0"/>
              </a:spcAft>
            </a:pPr>
            <a:r>
              <a:rPr sz="1950" b="1">
                <a:solidFill>
                  <a:srgbClr val="F50045"/>
                </a:solidFill>
                <a:latin typeface="Noto Sans KR"/>
              </a:rPr>
              <a:t>관광소비액</a:t>
            </a:r>
          </a:p>
        </p:txBody>
      </p:sp>
      <p:graphicFrame xmlns:a="http://schemas.openxmlformats.org/drawingml/2006/main">
        <p:nvGraphicFramePr>
          <p:cNvPr id="25" name="comparison-chart-1"/>
          <p:cNvGraphicFramePr>
            <a:graphicFrameLocks noGrp="1"/>
          </p:cNvGraphicFramePr>
          <p:nvPr/>
        </p:nvGraphicFramePr>
        <p:xfrm>
          <a:off x="7924800" y="4857750"/>
          <a:ext cx="6191250" cy="2200275"/>
        </p:xfrm>
        <a:graphic>
          <a:graphicData uri="http://schemas.openxmlformats.org/drawingml/2006/chart">
            <c:chart xmlns:c="http://schemas.openxmlformats.org/drawingml/2006/chart" xmlns:r="http://schemas.openxmlformats.org/officeDocument/2006/relationships" r:id="rId4"/>
          </a:graphicData>
        </a:graphic>
      </p:graphicFrame>
      <p:sp xmlns:a="http://schemas.openxmlformats.org/drawingml/2006/main">
        <p:nvSpPr>
          <p:cNvPr id="26" name="comparison-chart-1-legend-line-0"/>
          <p:cNvSpPr/>
          <p:nvPr/>
        </p:nvSpPr>
        <p:spPr>
          <a:xfrm>
            <a:off x="9486900" y="7343775"/>
            <a:ext cx="238125" cy="28575"/>
          </a:xfrm>
          <a:prstGeom prst="rect">
            <a:avLst/>
          </a:prstGeom>
          <a:solidFill>
            <a:srgbClr val="36A69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7" name="comparison-chart-1-legend-label-0"/>
          <p:cNvSpPr txBox="1"/>
          <p:nvPr/>
        </p:nvSpPr>
        <p:spPr>
          <a:xfrm>
            <a:off x="9772650"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ML 기준 전망</a:t>
            </a:r>
          </a:p>
        </p:txBody>
      </p:sp>
      <p:sp xmlns:a="http://schemas.openxmlformats.org/drawingml/2006/main">
        <p:nvSpPr>
          <p:cNvPr id="28" name="comparison-chart-1-legend-line-1"/>
          <p:cNvSpPr/>
          <p:nvPr/>
        </p:nvSpPr>
        <p:spPr>
          <a:xfrm>
            <a:off x="11210925" y="7343775"/>
            <a:ext cx="238125" cy="28575"/>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9" name="comparison-chart-1-legend-label-1"/>
          <p:cNvSpPr txBox="1"/>
          <p:nvPr/>
        </p:nvSpPr>
        <p:spPr>
          <a:xfrm>
            <a:off x="11496675" y="7229475"/>
            <a:ext cx="1476375" cy="285750"/>
          </a:xfrm>
          <a:prstGeom prst="rect">
            <a:avLst/>
          </a:prstGeom>
          <a:noFill/>
        </p:spPr>
        <p:txBody>
          <a:bodyPr wrap="none" lIns="57150" rIns="57150" tIns="38100" bIns="38100" anchor="t">
            <a:noAutofit/>
          </a:bodyPr>
          <a:lstStyle/>
          <a:p>
            <a:pPr eaLnBrk="0">
              <a:lnSpc>
                <a:spcPts val="1640"/>
              </a:lnSpc>
              <a:spcBef>
                <a:spcPts val="0"/>
              </a:spcBef>
              <a:spcAft>
                <a:spcPts val="0"/>
              </a:spcAft>
            </a:pPr>
            <a:r>
              <a:rPr sz="1312" b="0">
                <a:solidFill>
                  <a:srgbClr val="62666C"/>
                </a:solidFill>
                <a:latin typeface="Noto Sans KR"/>
              </a:rPr>
              <a:t>목표 KPI</a:t>
            </a:r>
          </a:p>
        </p:txBody>
      </p:sp>
      <p:sp xmlns:a="http://schemas.openxmlformats.org/drawingml/2006/main">
        <p:nvSpPr>
          <p:cNvPr id="30" name="comparison-note"/>
          <p:cNvSpPr txBox="1"/>
          <p:nvPr/>
        </p:nvSpPr>
        <p:spPr>
          <a:xfrm>
            <a:off x="1009650" y="7724775"/>
            <a:ext cx="13220700" cy="6572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청록선: 한국관광 데이터랩의 과거 월별 방문·소비 기록과 계절 흐름을 바탕으로 계산한 전망입니다.</a:t>
            </a:r>
          </a:p>
          <a:p>
            <a:pPr eaLnBrk="0">
              <a:lnSpc>
                <a:spcPts val="1781"/>
              </a:lnSpc>
              <a:spcBef>
                <a:spcPts val="0"/>
              </a:spcBef>
              <a:spcAft>
                <a:spcPts val="0"/>
              </a:spcAft>
            </a:pPr>
            <a:r>
              <a:rPr sz="1425" b="0">
                <a:solidFill>
                  <a:srgbClr val="62666C"/>
                </a:solidFill>
                <a:latin typeface="Noto Sans KR"/>
              </a:rPr>
              <a:t>빨간선: 공식 사례를 참고해 정한 사업 목표입니다. 목표율은 조정할 수 있으며, 산출 근거 페이지에서 설명합니다.</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06 / 15</a:t>
            </a:r>
          </a:p>
        </p:txBody>
      </p:sp>
    </p:spTree>
    <p:extLst>
      <p:ext uri="{BB962C8B-B14F-4D97-AF65-F5344CB8AC3E}">
        <p14:creationId xmlns:p14="http://schemas.microsoft.com/office/powerpoint/2010/main" val="380383987"/>
      </p:ext>
    </p:extLst>
  </p:cSld>
</p:sld>
</file>

<file path=ppt/slides/slide5.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1.1 지역별 참고 사례</a:t>
            </a:r>
          </a:p>
        </p:txBody>
      </p:sp>
      <p:sp xmlns:a="http://schemas.openxmlformats.org/drawingml/2006/main">
        <p:nvSpPr>
          <p:cNvPr id="4" name="case-intro"/>
          <p:cNvSpPr txBox="1"/>
          <p:nvPr/>
        </p:nvSpPr>
        <p:spPr>
          <a:xfrm>
            <a:off x="1009650" y="1790700"/>
            <a:ext cx="13220700" cy="447675"/>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운영 방식이 맞는 공식 사례를 연결합니다. 지역 자체의 유사도 순위와는 구분합니다.</a:t>
            </a:r>
          </a:p>
        </p:txBody>
      </p:sp>
      <p:sp xmlns:a="http://schemas.openxmlformats.org/drawingml/2006/main">
        <p:nvSpPr>
          <p:cNvPr id="5" name="case-panel-0"/>
          <p:cNvSpPr/>
          <p:nvPr/>
        </p:nvSpPr>
        <p:spPr>
          <a:xfrm>
            <a:off x="10096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6" name="case-number-0"/>
          <p:cNvSpPr txBox="1"/>
          <p:nvPr/>
        </p:nvSpPr>
        <p:spPr>
          <a:xfrm>
            <a:off x="12382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01</a:t>
            </a:r>
          </a:p>
        </p:txBody>
      </p:sp>
      <p:sp xmlns:a="http://schemas.openxmlformats.org/drawingml/2006/main">
        <p:nvSpPr>
          <p:cNvPr id="7" name="case-badge-0"/>
          <p:cNvSpPr txBox="1"/>
          <p:nvPr/>
        </p:nvSpPr>
        <p:spPr>
          <a:xfrm>
            <a:off x="1952625" y="2647950"/>
            <a:ext cx="2362200" cy="419100"/>
          </a:xfrm>
          <a:prstGeom prst="roundRect">
            <a:avLst>
              <a:gd name="adj" fmla="val 40000"/>
            </a:avLst>
          </a:prstGeom>
          <a:solidFill>
            <a:srgbClr val="F50045"/>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FFFFF"/>
                </a:solidFill>
                <a:latin typeface="Noto Sans KR"/>
              </a:rPr>
              <a:t>적용 사례</a:t>
            </a:r>
          </a:p>
        </p:txBody>
      </p:sp>
      <p:sp xmlns:a="http://schemas.openxmlformats.org/drawingml/2006/main">
        <p:nvSpPr>
          <p:cNvPr id="8" name="case-selected-tick-0"/>
          <p:cNvSpPr/>
          <p:nvPr/>
        </p:nvSpPr>
        <p:spPr>
          <a:xfrm>
            <a:off x="4486275" y="2686050"/>
            <a:ext cx="409575" cy="409575"/>
          </a:xfrm>
          <a:prstGeom prst="ellipse">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9" name="case-selected-mark-0"/>
          <p:cNvSpPr txBox="1"/>
          <p:nvPr/>
        </p:nvSpPr>
        <p:spPr>
          <a:xfrm>
            <a:off x="4486275" y="2676525"/>
            <a:ext cx="409575" cy="409575"/>
          </a:xfrm>
          <a:prstGeom prst="rect">
            <a:avLst/>
          </a:prstGeom>
          <a:noFill/>
        </p:spPr>
        <p:txBody>
          <a:bodyPr wrap="none" lIns="57150" rIns="57150" tIns="38100" bIns="38100" anchor="ctr">
            <a:noAutofit/>
          </a:bodyPr>
          <a:lstStyle/>
          <a:p>
            <a:pPr eaLnBrk="0" algn="ctr">
              <a:lnSpc>
                <a:spcPts val="2437"/>
              </a:lnSpc>
              <a:spcBef>
                <a:spcPts val="0"/>
              </a:spcBef>
              <a:spcAft>
                <a:spcPts val="0"/>
              </a:spcAft>
            </a:pPr>
            <a:r>
              <a:rPr sz="1950" b="1">
                <a:solidFill>
                  <a:srgbClr val="FFFFFF"/>
                </a:solidFill>
                <a:latin typeface="Noto Sans KR"/>
              </a:rPr>
              <a:t>✓</a:t>
            </a:r>
          </a:p>
        </p:txBody>
      </p:sp>
      <p:sp xmlns:a="http://schemas.openxmlformats.org/drawingml/2006/main">
        <p:nvSpPr>
          <p:cNvPr id="10" name="case-title-0"/>
          <p:cNvSpPr txBox="1"/>
          <p:nvPr/>
        </p:nvSpPr>
        <p:spPr>
          <a:xfrm>
            <a:off x="12382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서울특별시 문화유산 집적지역 ·</a:t>
            </a:r>
          </a:p>
          <a:p>
            <a:pPr eaLnBrk="0">
              <a:lnSpc>
                <a:spcPts val="2250"/>
              </a:lnSpc>
              <a:spcBef>
                <a:spcPts val="0"/>
              </a:spcBef>
              <a:spcAft>
                <a:spcPts val="0"/>
              </a:spcAft>
            </a:pPr>
            <a:r>
              <a:rPr sz="1800" b="1">
                <a:solidFill>
                  <a:srgbClr val="202124"/>
                </a:solidFill>
                <a:latin typeface="Noto Sans KR"/>
              </a:rPr>
              <a:t>기존 문화유산을 활용한 야간</a:t>
            </a:r>
          </a:p>
          <a:p>
            <a:pPr eaLnBrk="0">
              <a:lnSpc>
                <a:spcPts val="2250"/>
              </a:lnSpc>
              <a:spcBef>
                <a:spcPts val="0"/>
              </a:spcBef>
              <a:spcAft>
                <a:spcPts val="0"/>
              </a:spcAft>
            </a:pPr>
            <a:r>
              <a:rPr sz="1800" b="1">
                <a:solidFill>
                  <a:srgbClr val="202124"/>
                </a:solidFill>
                <a:latin typeface="Noto Sans KR"/>
              </a:rPr>
              <a:t>개방·체험 프로그램</a:t>
            </a:r>
          </a:p>
        </p:txBody>
      </p:sp>
      <p:sp xmlns:a="http://schemas.openxmlformats.org/drawingml/2006/main">
        <p:nvSpPr>
          <p:cNvPr id="11" name="case-body-0"/>
          <p:cNvSpPr txBox="1"/>
          <p:nvPr/>
        </p:nvSpPr>
        <p:spPr>
          <a:xfrm>
            <a:off x="12382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문화유산이 모인 거점을 중심으로</a:t>
            </a:r>
          </a:p>
          <a:p>
            <a:pPr eaLnBrk="0">
              <a:lnSpc>
                <a:spcPts val="1968"/>
              </a:lnSpc>
              <a:spcBef>
                <a:spcPts val="0"/>
              </a:spcBef>
              <a:spcAft>
                <a:spcPts val="0"/>
              </a:spcAft>
            </a:pPr>
            <a:r>
              <a:rPr sz="1575" b="0">
                <a:solidFill>
                  <a:srgbClr val="62666C"/>
                </a:solidFill>
                <a:latin typeface="Noto Sans KR"/>
              </a:rPr>
              <a:t>야간 개방, 해설, 공연과</a:t>
            </a:r>
          </a:p>
          <a:p>
            <a:pPr eaLnBrk="0">
              <a:lnSpc>
                <a:spcPts val="1968"/>
              </a:lnSpc>
              <a:spcBef>
                <a:spcPts val="0"/>
              </a:spcBef>
              <a:spcAft>
                <a:spcPts val="0"/>
              </a:spcAft>
            </a:pPr>
            <a:r>
              <a:rPr sz="1575" b="0">
                <a:solidFill>
                  <a:srgbClr val="62666C"/>
                </a:solidFill>
                <a:latin typeface="Noto Sans KR"/>
              </a:rPr>
              <a:t>체험프로그램을 구성하고 국비와</a:t>
            </a:r>
          </a:p>
          <a:p>
            <a:pPr eaLnBrk="0">
              <a:lnSpc>
                <a:spcPts val="1968"/>
              </a:lnSpc>
              <a:spcBef>
                <a:spcPts val="0"/>
              </a:spcBef>
              <a:spcAft>
                <a:spcPts val="0"/>
              </a:spcAft>
            </a:pPr>
            <a:r>
              <a:rPr sz="1575" b="0">
                <a:solidFill>
                  <a:srgbClr val="62666C"/>
                </a:solidFill>
                <a:latin typeface="Noto Sans KR"/>
              </a:rPr>
              <a:t>지방비를 결합해 운영했다.</a:t>
            </a:r>
          </a:p>
        </p:txBody>
      </p:sp>
      <p:pic xmlns:a="http://schemas.openxmlformats.org/drawingml/2006/main" xmlns:r="http://schemas.openxmlformats.org/officeDocument/2006/relationships">
        <p:nvPicPr>
          <p:cNvPr id="12" name="case-photo-0" descr="jeongdong_2024.jpg"/>
          <p:cNvPicPr>
            <a:picLocks noChangeAspect="1"/>
          </p:cNvPicPr>
          <p:nvPr/>
        </p:nvPicPr>
        <p:blipFill>
          <a:blip r:embed="rId4"/>
          <a:stretch>
            <a:fillRect/>
          </a:stretch>
        </p:blipFill>
        <p:spPr>
          <a:xfrm>
            <a:off x="1835102" y="5857875"/>
            <a:ext cx="2578195" cy="1714500"/>
          </a:xfrm>
          <a:prstGeom prst="rect">
            <a:avLst/>
          </a:prstGeom>
        </p:spPr>
      </p:pic>
      <p:sp xmlns:a="http://schemas.openxmlformats.org/drawingml/2006/main">
        <p:nvSpPr>
          <p:cNvPr id="13" name="case-image-caption-0"/>
          <p:cNvSpPr txBox="1"/>
          <p:nvPr/>
        </p:nvSpPr>
        <p:spPr>
          <a:xfrm>
            <a:off x="12382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0="http://schemas.openxmlformats.org/officeDocument/2006/relationships" ns0:id="rId5"/>
              </a:rPr>
              <a:t>서울 중구 정동 · 정동야행 행사 사진</a:t>
            </a:r>
          </a:p>
          <a:p>
            <a:pPr eaLnBrk="0">
              <a:lnSpc>
                <a:spcPts val="1500"/>
              </a:lnSpc>
              <a:spcBef>
                <a:spcPts val="0"/>
              </a:spcBef>
              <a:spcAft>
                <a:spcPts val="0"/>
              </a:spcAft>
            </a:pPr>
            <a:r>
              <a:rPr sz="1200" b="0" u="none">
                <a:solidFill>
                  <a:srgbClr val="62666C"/>
                </a:solidFill>
                <a:latin typeface="Noto Sans KR"/>
                <a:hlinkClick xmlns:ns1="http://schemas.openxmlformats.org/officeDocument/2006/relationships" ns1:id="rId5"/>
              </a:rPr>
              <a:t>출처: 서울문화포털 · 2024 정동야행</a:t>
            </a:r>
          </a:p>
        </p:txBody>
      </p:sp>
      <p:sp xmlns:a="http://schemas.openxmlformats.org/drawingml/2006/main">
        <p:nvSpPr>
          <p:cNvPr id="14" name="case-source-0"/>
          <p:cNvSpPr txBox="1"/>
          <p:nvPr/>
        </p:nvSpPr>
        <p:spPr>
          <a:xfrm>
            <a:off x="12382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2="http://schemas.openxmlformats.org/officeDocument/2006/relationships" ns2:id="rId6"/>
              </a:rPr>
              <a:t>사업 원문 보기 ↗</a:t>
            </a:r>
          </a:p>
        </p:txBody>
      </p:sp>
      <p:sp xmlns:a="http://schemas.openxmlformats.org/drawingml/2006/main">
        <p:nvSpPr>
          <p:cNvPr id="15" name="case-panel-1"/>
          <p:cNvSpPr/>
          <p:nvPr/>
        </p:nvSpPr>
        <p:spPr>
          <a:xfrm>
            <a:off x="55054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6" name="case-number-1"/>
          <p:cNvSpPr txBox="1"/>
          <p:nvPr/>
        </p:nvSpPr>
        <p:spPr>
          <a:xfrm>
            <a:off x="57340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02</a:t>
            </a:r>
          </a:p>
        </p:txBody>
      </p:sp>
      <p:sp xmlns:a="http://schemas.openxmlformats.org/drawingml/2006/main">
        <p:nvSpPr>
          <p:cNvPr id="17" name="case-badge-1"/>
          <p:cNvSpPr txBox="1"/>
          <p:nvPr/>
        </p:nvSpPr>
        <p:spPr>
          <a:xfrm>
            <a:off x="64484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18" name="case-title-1"/>
          <p:cNvSpPr txBox="1"/>
          <p:nvPr/>
        </p:nvSpPr>
        <p:spPr>
          <a:xfrm>
            <a:off x="57340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전라남도 강진군 ·</a:t>
            </a:r>
          </a:p>
          <a:p>
            <a:pPr eaLnBrk="0">
              <a:lnSpc>
                <a:spcPts val="2250"/>
              </a:lnSpc>
              <a:spcBef>
                <a:spcPts val="0"/>
              </a:spcBef>
              <a:spcAft>
                <a:spcPts val="0"/>
              </a:spcAft>
            </a:pPr>
            <a:r>
              <a:rPr sz="1800" b="1">
                <a:solidFill>
                  <a:srgbClr val="202124"/>
                </a:solidFill>
                <a:latin typeface="Noto Sans KR"/>
              </a:rPr>
              <a:t>반값여행 지역환급</a:t>
            </a:r>
          </a:p>
        </p:txBody>
      </p:sp>
      <p:sp xmlns:a="http://schemas.openxmlformats.org/drawingml/2006/main">
        <p:nvSpPr>
          <p:cNvPr id="19" name="case-body-1"/>
          <p:cNvSpPr txBox="1"/>
          <p:nvPr/>
        </p:nvSpPr>
        <p:spPr>
          <a:xfrm>
            <a:off x="57340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여행자가 지역에서 지출한 비용의</a:t>
            </a:r>
          </a:p>
          <a:p>
            <a:pPr eaLnBrk="0">
              <a:lnSpc>
                <a:spcPts val="1968"/>
              </a:lnSpc>
              <a:spcBef>
                <a:spcPts val="0"/>
              </a:spcBef>
              <a:spcAft>
                <a:spcPts val="0"/>
              </a:spcAft>
            </a:pPr>
            <a:r>
              <a:rPr sz="1575" b="0">
                <a:solidFill>
                  <a:srgbClr val="62666C"/>
                </a:solidFill>
                <a:latin typeface="Noto Sans KR"/>
              </a:rPr>
              <a:t>일부를 지역상품권으로 돌려받게 하여</a:t>
            </a:r>
          </a:p>
          <a:p>
            <a:pPr eaLnBrk="0">
              <a:lnSpc>
                <a:spcPts val="1968"/>
              </a:lnSpc>
              <a:spcBef>
                <a:spcPts val="0"/>
              </a:spcBef>
              <a:spcAft>
                <a:spcPts val="0"/>
              </a:spcAft>
            </a:pPr>
            <a:r>
              <a:rPr sz="1575" b="0">
                <a:solidFill>
                  <a:srgbClr val="62666C"/>
                </a:solidFill>
                <a:latin typeface="Noto Sans KR"/>
              </a:rPr>
              <a:t>혜택이 다시 지역 상점에서</a:t>
            </a:r>
          </a:p>
          <a:p>
            <a:pPr eaLnBrk="0">
              <a:lnSpc>
                <a:spcPts val="1968"/>
              </a:lnSpc>
              <a:spcBef>
                <a:spcPts val="0"/>
              </a:spcBef>
              <a:spcAft>
                <a:spcPts val="0"/>
              </a:spcAft>
            </a:pPr>
            <a:r>
              <a:rPr sz="1575" b="0">
                <a:solidFill>
                  <a:srgbClr val="62666C"/>
                </a:solidFill>
                <a:latin typeface="Noto Sans KR"/>
              </a:rPr>
              <a:t>사용되도록 설계</a:t>
            </a:r>
          </a:p>
        </p:txBody>
      </p:sp>
      <p:pic xmlns:a="http://schemas.openxmlformats.org/drawingml/2006/main" xmlns:r="http://schemas.openxmlformats.org/officeDocument/2006/relationships">
        <p:nvPicPr>
          <p:cNvPr id="20" name="case-photo-1" descr="gangjin_official.jpg"/>
          <p:cNvPicPr>
            <a:picLocks noChangeAspect="1"/>
          </p:cNvPicPr>
          <p:nvPr/>
        </p:nvPicPr>
        <p:blipFill>
          <a:blip r:embed="rId7"/>
          <a:stretch>
            <a:fillRect/>
          </a:stretch>
        </p:blipFill>
        <p:spPr>
          <a:xfrm>
            <a:off x="6014436" y="5857875"/>
            <a:ext cx="3211126" cy="1714500"/>
          </a:xfrm>
          <a:prstGeom prst="rect">
            <a:avLst/>
          </a:prstGeom>
        </p:spPr>
      </p:pic>
      <p:sp xmlns:a="http://schemas.openxmlformats.org/drawingml/2006/main">
        <p:nvSpPr>
          <p:cNvPr id="21" name="case-image-caption-1"/>
          <p:cNvSpPr txBox="1"/>
          <p:nvPr/>
        </p:nvSpPr>
        <p:spPr>
          <a:xfrm>
            <a:off x="57340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3="http://schemas.openxmlformats.org/officeDocument/2006/relationships" ns3:id="rId8"/>
              </a:rPr>
              <a:t>강진군 · 반값여행 공식 홍보물</a:t>
            </a:r>
          </a:p>
          <a:p>
            <a:pPr eaLnBrk="0">
              <a:lnSpc>
                <a:spcPts val="1500"/>
              </a:lnSpc>
              <a:spcBef>
                <a:spcPts val="0"/>
              </a:spcBef>
              <a:spcAft>
                <a:spcPts val="0"/>
              </a:spcAft>
            </a:pPr>
            <a:r>
              <a:rPr sz="1200" b="0" u="none">
                <a:solidFill>
                  <a:srgbClr val="62666C"/>
                </a:solidFill>
                <a:latin typeface="Noto Sans KR"/>
                <a:hlinkClick xmlns:ns4="http://schemas.openxmlformats.org/officeDocument/2006/relationships" ns4:id="rId8"/>
              </a:rPr>
              <a:t>출처: 강진 반값여행 공식 홈페이지</a:t>
            </a:r>
          </a:p>
        </p:txBody>
      </p:sp>
      <p:sp xmlns:a="http://schemas.openxmlformats.org/drawingml/2006/main">
        <p:nvSpPr>
          <p:cNvPr id="22" name="case-source-1"/>
          <p:cNvSpPr txBox="1"/>
          <p:nvPr/>
        </p:nvSpPr>
        <p:spPr>
          <a:xfrm>
            <a:off x="57340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5="http://schemas.openxmlformats.org/officeDocument/2006/relationships" ns5:id="rId9"/>
              </a:rPr>
              <a:t>사업 원문 보기 ↗</a:t>
            </a:r>
          </a:p>
        </p:txBody>
      </p:sp>
      <p:sp xmlns:a="http://schemas.openxmlformats.org/drawingml/2006/main">
        <p:nvSpPr>
          <p:cNvPr id="23" name="case-panel-2"/>
          <p:cNvSpPr/>
          <p:nvPr/>
        </p:nvSpPr>
        <p:spPr>
          <a:xfrm>
            <a:off x="10001250" y="2457450"/>
            <a:ext cx="4229100" cy="60007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4" name="case-number-2"/>
          <p:cNvSpPr txBox="1"/>
          <p:nvPr/>
        </p:nvSpPr>
        <p:spPr>
          <a:xfrm>
            <a:off x="10229850" y="2638425"/>
            <a:ext cx="609600" cy="419100"/>
          </a:xfrm>
          <a:prstGeom prst="rect">
            <a:avLst/>
          </a:prstGeom>
          <a:noFill/>
        </p:spPr>
        <p:txBody>
          <a:bodyPr wrap="none" lIns="57150" rIns="57150" tIns="38100" bIns="38100" anchor="t">
            <a:noAutofit/>
          </a:bodyPr>
          <a:lstStyle/>
          <a:p>
            <a:pPr eaLnBrk="0">
              <a:lnSpc>
                <a:spcPts val="2671"/>
              </a:lnSpc>
              <a:spcBef>
                <a:spcPts val="0"/>
              </a:spcBef>
              <a:spcAft>
                <a:spcPts val="0"/>
              </a:spcAft>
            </a:pPr>
            <a:r>
              <a:rPr sz="2137" b="1">
                <a:solidFill>
                  <a:srgbClr val="36A69C"/>
                </a:solidFill>
                <a:latin typeface="Noto Sans KR"/>
              </a:rPr>
              <a:t>03</a:t>
            </a:r>
          </a:p>
        </p:txBody>
      </p:sp>
      <p:sp xmlns:a="http://schemas.openxmlformats.org/drawingml/2006/main">
        <p:nvSpPr>
          <p:cNvPr id="25" name="case-badge-2"/>
          <p:cNvSpPr txBox="1"/>
          <p:nvPr/>
        </p:nvSpPr>
        <p:spPr>
          <a:xfrm>
            <a:off x="10944225" y="2647950"/>
            <a:ext cx="2362200" cy="419100"/>
          </a:xfrm>
          <a:prstGeom prst="roundRect">
            <a:avLst>
              <a:gd name="adj" fmla="val 40000"/>
            </a:avLst>
          </a:prstGeom>
          <a:solidFill>
            <a:srgbClr val="FBE2E9"/>
          </a:solidFill>
          <a:ln>
            <a:noFill/>
          </a:ln>
        </p:spPr>
        <p:txBody>
          <a:bodyPr wrap="none" lIns="57150" rIns="57150" tIns="38100" bIns="38100" anchor="ctr">
            <a:noAutofit/>
          </a:bodyPr>
          <a:lstStyle/>
          <a:p>
            <a:pPr eaLnBrk="0" algn="ctr">
              <a:lnSpc>
                <a:spcPts val="2343"/>
              </a:lnSpc>
              <a:spcBef>
                <a:spcPts val="0"/>
              </a:spcBef>
              <a:spcAft>
                <a:spcPts val="0"/>
              </a:spcAft>
            </a:pPr>
            <a:r>
              <a:rPr sz="1875" b="1">
                <a:solidFill>
                  <a:srgbClr val="F50045"/>
                </a:solidFill>
                <a:latin typeface="Noto Sans KR"/>
              </a:rPr>
              <a:t>후보 사례</a:t>
            </a:r>
          </a:p>
        </p:txBody>
      </p:sp>
      <p:sp xmlns:a="http://schemas.openxmlformats.org/drawingml/2006/main">
        <p:nvSpPr>
          <p:cNvPr id="26" name="case-title-2"/>
          <p:cNvSpPr txBox="1"/>
          <p:nvPr/>
        </p:nvSpPr>
        <p:spPr>
          <a:xfrm>
            <a:off x="10229850" y="3228975"/>
            <a:ext cx="3771900" cy="9334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202124"/>
                </a:solidFill>
                <a:latin typeface="Noto Sans KR"/>
              </a:rPr>
              <a:t>전국 인구감소지역 34곳 ·</a:t>
            </a:r>
          </a:p>
          <a:p>
            <a:pPr eaLnBrk="0">
              <a:lnSpc>
                <a:spcPts val="2250"/>
              </a:lnSpc>
              <a:spcBef>
                <a:spcPts val="0"/>
              </a:spcBef>
              <a:spcAft>
                <a:spcPts val="0"/>
              </a:spcAft>
            </a:pPr>
            <a:r>
              <a:rPr sz="1800" b="1">
                <a:solidFill>
                  <a:srgbClr val="202124"/>
                </a:solidFill>
                <a:latin typeface="Noto Sans KR"/>
              </a:rPr>
              <a:t>디지털 관광주민증과</a:t>
            </a:r>
          </a:p>
          <a:p>
            <a:pPr eaLnBrk="0">
              <a:lnSpc>
                <a:spcPts val="2250"/>
              </a:lnSpc>
              <a:spcBef>
                <a:spcPts val="0"/>
              </a:spcBef>
              <a:spcAft>
                <a:spcPts val="0"/>
              </a:spcAft>
            </a:pPr>
            <a:r>
              <a:rPr sz="1800" b="1">
                <a:solidFill>
                  <a:srgbClr val="202124"/>
                </a:solidFill>
                <a:latin typeface="Noto Sans KR"/>
              </a:rPr>
              <a:t>교통·숙박·상점 할인 결합</a:t>
            </a:r>
          </a:p>
        </p:txBody>
      </p:sp>
      <p:sp xmlns:a="http://schemas.openxmlformats.org/drawingml/2006/main">
        <p:nvSpPr>
          <p:cNvPr id="27" name="case-body-2"/>
          <p:cNvSpPr txBox="1"/>
          <p:nvPr/>
        </p:nvSpPr>
        <p:spPr>
          <a:xfrm>
            <a:off x="10229850" y="4305300"/>
            <a:ext cx="3771900" cy="150495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62666C"/>
                </a:solidFill>
                <a:latin typeface="Noto Sans KR"/>
              </a:rPr>
              <a:t>디지털 관광주민증 참여업체 현장</a:t>
            </a:r>
          </a:p>
          <a:p>
            <a:pPr eaLnBrk="0">
              <a:lnSpc>
                <a:spcPts val="1968"/>
              </a:lnSpc>
              <a:spcBef>
                <a:spcPts val="0"/>
              </a:spcBef>
              <a:spcAft>
                <a:spcPts val="0"/>
              </a:spcAft>
            </a:pPr>
            <a:r>
              <a:rPr sz="1575" b="0">
                <a:solidFill>
                  <a:srgbClr val="62666C"/>
                </a:solidFill>
                <a:latin typeface="Noto Sans KR"/>
              </a:rPr>
              <a:t>인증과 숙박·식음·관람·체험 할인,</a:t>
            </a:r>
          </a:p>
          <a:p>
            <a:pPr eaLnBrk="0">
              <a:lnSpc>
                <a:spcPts val="1968"/>
              </a:lnSpc>
              <a:spcBef>
                <a:spcPts val="0"/>
              </a:spcBef>
              <a:spcAft>
                <a:spcPts val="0"/>
              </a:spcAft>
            </a:pPr>
            <a:r>
              <a:rPr sz="1575" b="0">
                <a:solidFill>
                  <a:srgbClr val="62666C"/>
                </a:solidFill>
                <a:latin typeface="Noto Sans KR"/>
              </a:rPr>
              <a:t>특정 시간대 KTX 할인과 방문 후 교통</a:t>
            </a:r>
          </a:p>
          <a:p>
            <a:pPr eaLnBrk="0">
              <a:lnSpc>
                <a:spcPts val="1968"/>
              </a:lnSpc>
              <a:spcBef>
                <a:spcPts val="0"/>
              </a:spcBef>
              <a:spcAft>
                <a:spcPts val="0"/>
              </a:spcAft>
            </a:pPr>
            <a:r>
              <a:rPr sz="1575" b="0">
                <a:solidFill>
                  <a:srgbClr val="62666C"/>
                </a:solidFill>
                <a:latin typeface="Noto Sans KR"/>
              </a:rPr>
              <a:t>할인권을 결합</a:t>
            </a:r>
          </a:p>
        </p:txBody>
      </p:sp>
      <p:pic xmlns:a="http://schemas.openxmlformats.org/drawingml/2006/main" xmlns:r="http://schemas.openxmlformats.org/officeDocument/2006/relationships">
        <p:nvPicPr>
          <p:cNvPr id="28" name="case-photo-2" descr="digital_official.jpg"/>
          <p:cNvPicPr>
            <a:picLocks noChangeAspect="1"/>
          </p:cNvPicPr>
          <p:nvPr/>
        </p:nvPicPr>
        <p:blipFill>
          <a:blip r:embed="rId10"/>
          <a:stretch>
            <a:fillRect/>
          </a:stretch>
        </p:blipFill>
        <p:spPr>
          <a:xfrm>
            <a:off x="11430000" y="5857875"/>
            <a:ext cx="1371600" cy="1714500"/>
          </a:xfrm>
          <a:prstGeom prst="rect">
            <a:avLst/>
          </a:prstGeom>
        </p:spPr>
      </p:pic>
      <p:sp xmlns:a="http://schemas.openxmlformats.org/drawingml/2006/main">
        <p:nvSpPr>
          <p:cNvPr id="29" name="case-image-caption-2"/>
          <p:cNvSpPr txBox="1"/>
          <p:nvPr/>
        </p:nvSpPr>
        <p:spPr>
          <a:xfrm>
            <a:off x="10229850" y="7667625"/>
            <a:ext cx="3771900" cy="504825"/>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u="none">
                <a:solidFill>
                  <a:srgbClr val="62666C"/>
                </a:solidFill>
                <a:latin typeface="Noto Sans KR"/>
                <a:hlinkClick xmlns:ns6="http://schemas.openxmlformats.org/officeDocument/2006/relationships" ns6:id="rId11"/>
              </a:rPr>
              <a:t>전국 · 디지털 관광주민증 홍보물</a:t>
            </a:r>
          </a:p>
          <a:p>
            <a:pPr eaLnBrk="0">
              <a:lnSpc>
                <a:spcPts val="1500"/>
              </a:lnSpc>
              <a:spcBef>
                <a:spcPts val="0"/>
              </a:spcBef>
              <a:spcAft>
                <a:spcPts val="0"/>
              </a:spcAft>
            </a:pPr>
            <a:r>
              <a:rPr sz="1200" b="0" u="none">
                <a:solidFill>
                  <a:srgbClr val="62666C"/>
                </a:solidFill>
                <a:latin typeface="Noto Sans KR"/>
                <a:hlinkClick xmlns:ns7="http://schemas.openxmlformats.org/officeDocument/2006/relationships" ns7:id="rId11"/>
              </a:rPr>
              <a:t>출처: 대한민국 정책브리핑 (2025)</a:t>
            </a:r>
          </a:p>
        </p:txBody>
      </p:sp>
      <p:sp xmlns:a="http://schemas.openxmlformats.org/drawingml/2006/main">
        <p:nvSpPr>
          <p:cNvPr id="30" name="case-source-2"/>
          <p:cNvSpPr txBox="1"/>
          <p:nvPr/>
        </p:nvSpPr>
        <p:spPr>
          <a:xfrm>
            <a:off x="10229850" y="8267700"/>
            <a:ext cx="3771900" cy="228600"/>
          </a:xfrm>
          <a:prstGeom prst="rect">
            <a:avLst/>
          </a:prstGeom>
          <a:noFill/>
        </p:spPr>
        <p:txBody>
          <a:bodyPr wrap="none" lIns="57150" rIns="57150" tIns="38100" bIns="38100" anchor="t">
            <a:noAutofit/>
          </a:bodyPr>
          <a:lstStyle/>
          <a:p>
            <a:pPr eaLnBrk="0">
              <a:lnSpc>
                <a:spcPts val="1171"/>
              </a:lnSpc>
              <a:spcBef>
                <a:spcPts val="0"/>
              </a:spcBef>
              <a:spcAft>
                <a:spcPts val="0"/>
              </a:spcAft>
            </a:pPr>
            <a:r>
              <a:rPr sz="937" b="0" u="none">
                <a:solidFill>
                  <a:srgbClr val="62666C"/>
                </a:solidFill>
                <a:latin typeface="Noto Sans KR"/>
                <a:hlinkClick xmlns:ns8="http://schemas.openxmlformats.org/officeDocument/2006/relationships" ns8:id="rId12"/>
              </a:rPr>
              <a:t>사업 원문 보기 ↗</a:t>
            </a:r>
          </a:p>
        </p:txBody>
      </p:sp>
      <p:sp xmlns:a="http://schemas.openxmlformats.org/drawingml/2006/main">
        <p:nvSpPr>
          <p:cNvPr id="3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xmlns:a="http://schemas.openxmlformats.org/drawingml/2006/main">
        <p:nvSpPr>
          <p:cNvPr id="3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04 / 15</a:t>
            </a:r>
          </a:p>
        </p:txBody>
      </p:sp>
    </p:spTree>
    <p:extLst>
      <p:ext uri="{BB962C8B-B14F-4D97-AF65-F5344CB8AC3E}">
        <p14:creationId xmlns:p14="http://schemas.microsoft.com/office/powerpoint/2010/main" val="930694367"/>
      </p:ext>
    </p:extLst>
  </p:cSld>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3.1 사례 선정과 지역 적용</a:t>
            </a:r>
          </a:p>
        </p:txBody>
      </p:sp>
      <p:sp>
        <p:nvSpPr>
          <p:cNvPr id="4" name="selection-case"/>
          <p:cNvSpPr txBox="1"/>
          <p:nvPr/>
        </p:nvSpPr>
        <p:spPr>
          <a:xfrm>
            <a:off x="1009650" y="1885950"/>
            <a:ext cx="13220700" cy="666750"/>
          </a:xfrm>
          <a:prstGeom prst="rect">
            <a:avLst/>
          </a:prstGeom>
          <a:noFill/>
        </p:spPr>
        <p:txBody>
          <a:bodyPr wrap="none" lIns="57150" rIns="57150" tIns="38100" bIns="38100" anchor="t">
            <a:noAutofit/>
          </a:bodyPr>
          <a:lstStyle/>
          <a:p>
            <a:pPr eaLnBrk="0">
              <a:lnSpc>
                <a:spcPts val="2531"/>
              </a:lnSpc>
              <a:spcBef>
                <a:spcPts val="0"/>
              </a:spcBef>
              <a:spcAft>
                <a:spcPts val="0"/>
              </a:spcAft>
            </a:pPr>
            <a:r>
              <a:rPr sz="2025" b="1">
                <a:solidFill>
                  <a:srgbClr val="202124"/>
                </a:solidFill>
                <a:latin typeface="Noto Sans KR"/>
              </a:rPr>
              <a:t>서울특별시 문화유산 집적지역 · 기존 문화유산을 활용한 야간 개방·체험 프로그램</a:t>
            </a:r>
          </a:p>
        </p:txBody>
      </p:sp>
      <p:graphicFrame>
        <p:nvGraphicFramePr>
          <p:cNvPr id="5" name="selection-matrix"/>
          <p:cNvGraphicFramePr>
            <a:graphicFrameLocks noGrp="1"/>
          </p:cNvGraphicFramePr>
          <p:nvPr/>
        </p:nvGraphicFramePr>
        <p:xfrm>
          <a:off x="1009650" y="2809875"/>
          <a:ext cx="13220700" cy="3429000"/>
        </p:xfrm>
        <a:graphic>
          <a:graphicData uri="http://schemas.openxmlformats.org/drawingml/2006/table">
            <a:tbl>
              <a:tblPr firstRow="1" bandRow="1">
                <a:tableStyleId>{5C22544A-7EE6-4342-B048-85BDC9FD1C3A}</a:tableStyleId>
              </a:tblPr>
              <a:tblGrid>
                <a:gridCol w="2209800"/>
                <a:gridCol w="5505450"/>
                <a:gridCol w="5505450"/>
              </a:tblGrid>
              <a:tr h="495300">
                <a:tc>
                  <a:txBody>
                    <a:bodyPr wrap="none"/>
                    <a:lstStyle/>
                    <a:p>
                      <a:pPr eaLnBrk="0">
                        <a:lnSpc>
                          <a:spcPct val="112000"/>
                        </a:lnSpc>
                        <a:spcBef>
                          <a:spcPts val="0"/>
                        </a:spcBef>
                        <a:spcAft>
                          <a:spcPts val="0"/>
                        </a:spcAft>
                      </a:pPr>
                      <a:r>
                        <a:rPr sz="1575" b="1">
                          <a:solidFill>
                            <a:srgbClr val="FFFFFF"/>
                          </a:solidFill>
                          <a:latin typeface="Noto Sans KR"/>
                        </a:rPr>
                        <a:t>비교 기준</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확인한 근거</a:t>
                      </a:r>
                    </a:p>
                  </a:txBody>
                  <a:tcPr marL="95250" marR="95250" marT="66675" marB="66675" anchor="ctr">
                    <a:solidFill>
                      <a:srgbClr val="495565"/>
                    </a:solidFill>
                  </a:tcPr>
                </a:tc>
                <a:tc>
                  <a:txBody>
                    <a:bodyPr wrap="none"/>
                    <a:lstStyle/>
                    <a:p>
                      <a:pPr eaLnBrk="0">
                        <a:lnSpc>
                          <a:spcPct val="112000"/>
                        </a:lnSpc>
                        <a:spcBef>
                          <a:spcPts val="0"/>
                        </a:spcBef>
                        <a:spcAft>
                          <a:spcPts val="0"/>
                        </a:spcAft>
                      </a:pPr>
                      <a:r>
                        <a:rPr sz="1575" b="1">
                          <a:solidFill>
                            <a:srgbClr val="FFFFFF"/>
                          </a:solidFill>
                          <a:latin typeface="Noto Sans KR"/>
                        </a:rPr>
                        <a:t>이번 기획에 연결한 판단</a:t>
                      </a:r>
                    </a:p>
                  </a:txBody>
                  <a:tcPr marL="95250" marR="95250" marT="66675" marB="66675" anchor="ctr">
                    <a:solidFill>
                      <a:srgbClr val="495565"/>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사업의 이용 흐름</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문화유산이 모인 거점을 중심으로 야간 개방, 해설, 공연과</a:t>
                      </a:r>
                    </a:p>
                    <a:p>
                      <a:pPr eaLnBrk="0">
                        <a:lnSpc>
                          <a:spcPct val="112000"/>
                        </a:lnSpc>
                        <a:spcBef>
                          <a:spcPts val="0"/>
                        </a:spcBef>
                        <a:spcAft>
                          <a:spcPts val="0"/>
                        </a:spcAft>
                      </a:pPr>
                      <a:r>
                        <a:rPr sz="1575" b="0">
                          <a:solidFill>
                            <a:srgbClr val="202124"/>
                          </a:solidFill>
                          <a:latin typeface="Noto Sans KR"/>
                        </a:rPr>
                        <a:t>체험프로그램을 구성하고 국비와 지방비를 결합해 운영했다.</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결제·혜택·재이용 또는 예약·체류 등 실제 이용</a:t>
                      </a:r>
                    </a:p>
                    <a:p>
                      <a:pPr eaLnBrk="0">
                        <a:lnSpc>
                          <a:spcPct val="112000"/>
                        </a:lnSpc>
                        <a:spcBef>
                          <a:spcPts val="0"/>
                        </a:spcBef>
                        <a:spcAft>
                          <a:spcPts val="0"/>
                        </a:spcAft>
                      </a:pPr>
                      <a:r>
                        <a:rPr sz="1575" b="0">
                          <a:solidFill>
                            <a:srgbClr val="202124"/>
                          </a:solidFill>
                          <a:latin typeface="Noto Sans KR"/>
                        </a:rPr>
                        <a:t>흐름이 같은 사례만 연결</a:t>
                      </a:r>
                    </a:p>
                  </a:txBody>
                  <a:tcPr marL="95250" marR="95250" marT="66675" marB="66675" anchor="ctr">
                    <a:solidFill>
                      <a:srgbClr val="FFFFFF"/>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선택 지역의</a:t>
                      </a:r>
                    </a:p>
                    <a:p>
                      <a:pPr eaLnBrk="0">
                        <a:lnSpc>
                          <a:spcPct val="112000"/>
                        </a:lnSpc>
                        <a:spcBef>
                          <a:spcPts val="0"/>
                        </a:spcBef>
                        <a:spcAft>
                          <a:spcPts val="0"/>
                        </a:spcAft>
                      </a:pPr>
                      <a:r>
                        <a:rPr sz="1575" b="1">
                          <a:solidFill>
                            <a:srgbClr val="202124"/>
                          </a:solidFill>
                          <a:latin typeface="Noto Sans KR"/>
                        </a:rPr>
                        <a:t>소비·체류</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월간 순 방문자 수: 3,131,476명 / 내비게이션 목적지 검색량:</a:t>
                      </a:r>
                    </a:p>
                    <a:p>
                      <a:pPr eaLnBrk="0">
                        <a:lnSpc>
                          <a:spcPct val="112000"/>
                        </a:lnSpc>
                        <a:spcBef>
                          <a:spcPts val="0"/>
                        </a:spcBef>
                        <a:spcAft>
                          <a:spcPts val="0"/>
                        </a:spcAft>
                      </a:pPr>
                      <a:r>
                        <a:rPr sz="1575" b="0">
                          <a:solidFill>
                            <a:srgbClr val="202124"/>
                          </a:solidFill>
                          <a:latin typeface="Noto Sans KR"/>
                        </a:rPr>
                        <a:t>580,380건 / 외지인 숙박 방문 비율: 21.0%</a:t>
                      </a:r>
                    </a:p>
                  </a:txBody>
                  <a:tcPr marL="95250" marR="95250" marT="66675" marB="66675" anchor="ctr">
                    <a:solidFill>
                      <a:srgbClr val="F0F2F4"/>
                    </a:solidFill>
                  </a:tcPr>
                </a:tc>
                <a:tc>
                  <a:txBody>
                    <a:bodyPr wrap="none"/>
                    <a:lstStyle/>
                    <a:p>
                      <a:pPr eaLnBrk="0">
                        <a:lnSpc>
                          <a:spcPct val="112000"/>
                        </a:lnSpc>
                        <a:spcBef>
                          <a:spcPts val="0"/>
                        </a:spcBef>
                        <a:spcAft>
                          <a:spcPts val="0"/>
                        </a:spcAft>
                      </a:pPr>
                      <a:r>
                        <a:rPr sz="1575" b="0">
                          <a:solidFill>
                            <a:srgbClr val="202124"/>
                          </a:solidFill>
                          <a:latin typeface="Noto Sans KR"/>
                        </a:rPr>
                        <a:t>지역 소비·체류 지표를 보고 참여 업종과 이용</a:t>
                      </a:r>
                    </a:p>
                    <a:p>
                      <a:pPr eaLnBrk="0">
                        <a:lnSpc>
                          <a:spcPct val="112000"/>
                        </a:lnSpc>
                        <a:spcBef>
                          <a:spcPts val="0"/>
                        </a:spcBef>
                        <a:spcAft>
                          <a:spcPts val="0"/>
                        </a:spcAft>
                      </a:pPr>
                      <a:r>
                        <a:rPr sz="1575" b="0">
                          <a:solidFill>
                            <a:srgbClr val="202124"/>
                          </a:solidFill>
                          <a:latin typeface="Noto Sans KR"/>
                        </a:rPr>
                        <a:t>대상을 정합니다.</a:t>
                      </a:r>
                    </a:p>
                  </a:txBody>
                  <a:tcPr marL="95250" marR="95250" marT="66675" marB="66675" anchor="ctr">
                    <a:solidFill>
                      <a:srgbClr val="F0F2F4"/>
                    </a:solidFill>
                  </a:tcPr>
                </a:tc>
              </a:tr>
              <a:tr h="977900">
                <a:tc>
                  <a:txBody>
                    <a:bodyPr wrap="none"/>
                    <a:lstStyle/>
                    <a:p>
                      <a:pPr eaLnBrk="0">
                        <a:lnSpc>
                          <a:spcPct val="112000"/>
                        </a:lnSpc>
                        <a:spcBef>
                          <a:spcPts val="0"/>
                        </a:spcBef>
                        <a:spcAft>
                          <a:spcPts val="0"/>
                        </a:spcAft>
                      </a:pPr>
                      <a:r>
                        <a:rPr sz="1575" b="1">
                          <a:solidFill>
                            <a:srgbClr val="202124"/>
                          </a:solidFill>
                          <a:latin typeface="Noto Sans KR"/>
                        </a:rPr>
                        <a:t>시범 운영 규모</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추가 방문 목표 348,601명 × 1%</a:t>
                      </a:r>
                    </a:p>
                    <a:p>
                      <a:pPr eaLnBrk="0">
                        <a:lnSpc>
                          <a:spcPct val="112000"/>
                        </a:lnSpc>
                        <a:spcBef>
                          <a:spcPts val="0"/>
                        </a:spcBef>
                        <a:spcAft>
                          <a:spcPts val="0"/>
                        </a:spcAft>
                      </a:pPr>
                      <a:r>
                        <a:rPr sz="1575" b="0">
                          <a:solidFill>
                            <a:srgbClr val="202124"/>
                          </a:solidFill>
                          <a:latin typeface="Noto Sans KR"/>
                        </a:rPr>
                        <a:t>시범 참여 3,487건(올림·계획 가정)</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참여량 × 건별 혜택과 운영 인일로 견적을 계산합니다.</a:t>
                      </a:r>
                    </a:p>
                  </a:txBody>
                  <a:tcPr marL="95250" marR="95250" marT="66675" marB="66675" anchor="ctr">
                    <a:solidFill>
                      <a:srgbClr val="FFFFFF"/>
                    </a:solidFill>
                  </a:tcPr>
                </a:tc>
              </a:tr>
            </a:tbl>
          </a:graphicData>
        </a:graphic>
      </p:graphicFrame>
      <p:sp>
        <p:nvSpPr>
          <p:cNvPr id="6" name="adaptation-panel"/>
          <p:cNvSpPr/>
          <p:nvPr/>
        </p:nvSpPr>
        <p:spPr>
          <a:xfrm>
            <a:off x="1009650" y="6477000"/>
            <a:ext cx="13220700" cy="14763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adaptation-label"/>
          <p:cNvSpPr txBox="1"/>
          <p:nvPr/>
        </p:nvSpPr>
        <p:spPr>
          <a:xfrm>
            <a:off x="1219200" y="6696075"/>
            <a:ext cx="3048000" cy="6191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187C70"/>
                </a:solidFill>
                <a:latin typeface="Noto Sans KR"/>
              </a:rPr>
              <a:t>사례 → 우리 지역의 제안</a:t>
            </a:r>
          </a:p>
        </p:txBody>
      </p:sp>
      <p:sp>
        <p:nvSpPr>
          <p:cNvPr id="8" name="adaptation-body"/>
          <p:cNvSpPr txBox="1"/>
          <p:nvPr/>
        </p:nvSpPr>
        <p:spPr>
          <a:xfrm>
            <a:off x="4552950" y="6638925"/>
            <a:ext cx="9163050" cy="1181100"/>
          </a:xfrm>
          <a:prstGeom prst="rect">
            <a:avLst/>
          </a:prstGeom>
          <a:noFill/>
        </p:spPr>
        <p:txBody>
          <a:bodyPr wrap="none" lIns="57150" rIns="57150" tIns="38100" bIns="38100" anchor="t">
            <a:noAutofit/>
          </a:bodyPr>
          <a:lstStyle/>
          <a:p>
            <a:pPr eaLnBrk="0">
              <a:lnSpc>
                <a:spcPts val="1968"/>
              </a:lnSpc>
              <a:spcBef>
                <a:spcPts val="0"/>
              </a:spcBef>
              <a:spcAft>
                <a:spcPts val="0"/>
              </a:spcAft>
            </a:pPr>
            <a:r>
              <a:rPr sz="1575" b="0">
                <a:solidFill>
                  <a:srgbClr val="202124"/>
                </a:solidFill>
                <a:latin typeface="Noto Sans KR"/>
              </a:rPr>
              <a:t>제주시 내 박물관, 공연장, 문화유산 등 기존 시설을 활용하여 야간 개방 및 체험 프로그램을 확대 운영</a:t>
            </a:r>
          </a:p>
        </p:txBody>
      </p:sp>
      <p:sp>
        <p:nvSpPr>
          <p:cNvPr id="9" name="selection-sourc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u="none">
                <a:solidFill>
                  <a:srgbClr val="62666C"/>
                </a:solidFill>
                <a:latin typeface="Noto Sans KR"/>
                <a:hlinkClick r:id="rId2"/>
              </a:rPr>
              <a:t>문서 기반 함수 연결 · 2024년 문화재야행 사업 예산 확정자료</a:t>
            </a:r>
          </a:p>
        </p:txBody>
      </p:sp>
      <p:sp>
        <p:nvSpPr>
          <p:cNvPr id="11"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p:nvSpPr>
          <p:cNvPr id="12"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08 / 15</a:t>
            </a:r>
          </a:p>
        </p:txBody>
      </p:sp>
    </p:spTree>
  </p:cSld>
  <p:clrMapOvr>
    <a:masterClrMapping/>
  </p:clrMapOvr>
</p:sld>
</file>

<file path=ppt/slides/slide7.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3.2 4단계 실행 가이드 예시안</a:t>
            </a:r>
          </a:p>
        </p:txBody>
      </p:sp>
      <p:sp xmlns:a="http://schemas.openxmlformats.org/drawingml/2006/main">
        <p:nvSpPr>
          <p:cNvPr id="4" name="execution-panel-0"/>
          <p:cNvSpPr/>
          <p:nvPr/>
        </p:nvSpPr>
        <p:spPr>
          <a:xfrm>
            <a:off x="1009650" y="209550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5" name="flow-node-0"/>
          <p:cNvSpPr txBox="1"/>
          <p:nvPr/>
        </p:nvSpPr>
        <p:spPr>
          <a:xfrm>
            <a:off x="1219200" y="2305050"/>
            <a:ext cx="714375" cy="485775"/>
          </a:xfrm>
          <a:prstGeom prst="roundRect">
            <a:avLst>
              <a:gd name="adj" fmla="val 50000"/>
            </a:avLst>
          </a:prstGeom>
          <a:solidFill>
            <a:srgbClr val="27649B"/>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01</a:t>
            </a:r>
          </a:p>
        </p:txBody>
      </p:sp>
      <p:sp xmlns:a="http://schemas.openxmlformats.org/drawingml/2006/main">
        <p:nvSpPr>
          <p:cNvPr id="6" name="execution-stage-0"/>
          <p:cNvSpPr txBox="1"/>
          <p:nvPr/>
        </p:nvSpPr>
        <p:spPr>
          <a:xfrm>
            <a:off x="2209800" y="221932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준비와 협의</a:t>
            </a:r>
          </a:p>
        </p:txBody>
      </p:sp>
      <p:sp xmlns:a="http://schemas.openxmlformats.org/drawingml/2006/main">
        <p:nvSpPr>
          <p:cNvPr id="7" name="execution-period-0"/>
          <p:cNvSpPr txBox="1"/>
          <p:nvPr/>
        </p:nvSpPr>
        <p:spPr>
          <a:xfrm>
            <a:off x="2209800" y="2686050"/>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사업 총괄</a:t>
            </a:r>
          </a:p>
        </p:txBody>
      </p:sp>
      <p:sp xmlns:a="http://schemas.openxmlformats.org/drawingml/2006/main">
        <p:nvSpPr>
          <p:cNvPr id="8" name="execution-lead-0"/>
          <p:cNvSpPr txBox="1"/>
          <p:nvPr/>
        </p:nvSpPr>
        <p:spPr>
          <a:xfrm>
            <a:off x="5314950" y="219075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함께 운영할 곳과 업무 범위를 정합니다.</a:t>
            </a:r>
          </a:p>
        </p:txBody>
      </p:sp>
      <p:sp xmlns:a="http://schemas.openxmlformats.org/drawingml/2006/main">
        <p:nvSpPr>
          <p:cNvPr id="9" name="execution-body-0"/>
          <p:cNvSpPr txBox="1"/>
          <p:nvPr/>
        </p:nvSpPr>
        <p:spPr>
          <a:xfrm>
            <a:off x="5314950" y="260985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계획에 나온 참여처와 운영 가능 시간을 확인합니다. 누가 이용자를 안내하고 문의에 답할지 정한 뒤, 신청</a:t>
            </a:r>
          </a:p>
          <a:p>
            <a:pPr eaLnBrk="0">
              <a:lnSpc>
                <a:spcPts val="1875"/>
              </a:lnSpc>
              <a:spcBef>
                <a:spcPts val="0"/>
              </a:spcBef>
              <a:spcAft>
                <a:spcPts val="0"/>
              </a:spcAft>
            </a:pPr>
            <a:r>
              <a:rPr sz="1500" b="0">
                <a:solidFill>
                  <a:srgbClr val="62666C"/>
                </a:solidFill>
                <a:latin typeface="Noto Sans KR"/>
              </a:rPr>
              <a:t>대상과 이용 조건을 하나의 안내문으로 정리합니다.</a:t>
            </a:r>
          </a:p>
        </p:txBody>
      </p:sp>
      <p:sp xmlns:a="http://schemas.openxmlformats.org/drawingml/2006/main">
        <p:nvSpPr>
          <p:cNvPr id="10" name="execution-panel-1"/>
          <p:cNvSpPr/>
          <p:nvPr/>
        </p:nvSpPr>
        <p:spPr>
          <a:xfrm>
            <a:off x="1009650" y="345757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flow-node-1"/>
          <p:cNvSpPr txBox="1"/>
          <p:nvPr/>
        </p:nvSpPr>
        <p:spPr>
          <a:xfrm>
            <a:off x="1219200" y="3667125"/>
            <a:ext cx="714375" cy="485775"/>
          </a:xfrm>
          <a:prstGeom prst="roundRect">
            <a:avLst>
              <a:gd name="adj" fmla="val 50000"/>
            </a:avLst>
          </a:prstGeom>
          <a:solidFill>
            <a:srgbClr val="187C70"/>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02</a:t>
            </a:r>
          </a:p>
        </p:txBody>
      </p:sp>
      <p:sp xmlns:a="http://schemas.openxmlformats.org/drawingml/2006/main">
        <p:nvSpPr>
          <p:cNvPr id="12" name="execution-stage-1"/>
          <p:cNvSpPr txBox="1"/>
          <p:nvPr/>
        </p:nvSpPr>
        <p:spPr>
          <a:xfrm>
            <a:off x="2209800" y="358140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운영 절차 점검</a:t>
            </a:r>
          </a:p>
        </p:txBody>
      </p:sp>
      <p:sp xmlns:a="http://schemas.openxmlformats.org/drawingml/2006/main">
        <p:nvSpPr>
          <p:cNvPr id="13" name="execution-period-1"/>
          <p:cNvSpPr txBox="1"/>
          <p:nvPr/>
        </p:nvSpPr>
        <p:spPr>
          <a:xfrm>
            <a:off x="2209800" y="404812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2026-10 · 운영·정산 담당</a:t>
            </a:r>
          </a:p>
        </p:txBody>
      </p:sp>
      <p:sp xmlns:a="http://schemas.openxmlformats.org/drawingml/2006/main">
        <p:nvSpPr>
          <p:cNvPr id="14" name="execution-lead-1"/>
          <p:cNvSpPr txBox="1"/>
          <p:nvPr/>
        </p:nvSpPr>
        <p:spPr>
          <a:xfrm>
            <a:off x="5314950" y="355282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이용자 입장에서 전 과정을 시험합니다.</a:t>
            </a:r>
          </a:p>
        </p:txBody>
      </p:sp>
      <p:sp xmlns:a="http://schemas.openxmlformats.org/drawingml/2006/main">
        <p:nvSpPr>
          <p:cNvPr id="15" name="execution-body-1"/>
          <p:cNvSpPr txBox="1"/>
          <p:nvPr/>
        </p:nvSpPr>
        <p:spPr>
          <a:xfrm>
            <a:off x="5314950" y="397192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안내를 보고 신청한 뒤 현장에서 이용을 마칠 때까지 직접 따라가 봅니다. 예약이 안 되거나 취소가 생겼을</a:t>
            </a:r>
          </a:p>
          <a:p>
            <a:pPr eaLnBrk="0">
              <a:lnSpc>
                <a:spcPts val="1875"/>
              </a:lnSpc>
              <a:spcBef>
                <a:spcPts val="0"/>
              </a:spcBef>
              <a:spcAft>
                <a:spcPts val="0"/>
              </a:spcAft>
            </a:pPr>
            <a:r>
              <a:rPr sz="1500" b="0">
                <a:solidFill>
                  <a:srgbClr val="62666C"/>
                </a:solidFill>
                <a:latin typeface="Noto Sans KR"/>
              </a:rPr>
              <a:t>때의 처리 방법을 정하고 담당자에게 공유합니다.</a:t>
            </a:r>
          </a:p>
        </p:txBody>
      </p:sp>
      <p:sp xmlns:a="http://schemas.openxmlformats.org/drawingml/2006/main">
        <p:nvSpPr>
          <p:cNvPr id="16" name="execution-panel-2"/>
          <p:cNvSpPr/>
          <p:nvPr/>
        </p:nvSpPr>
        <p:spPr>
          <a:xfrm>
            <a:off x="1009650" y="4819650"/>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7" name="flow-node-2"/>
          <p:cNvSpPr txBox="1"/>
          <p:nvPr/>
        </p:nvSpPr>
        <p:spPr>
          <a:xfrm>
            <a:off x="1219200" y="5029200"/>
            <a:ext cx="714375" cy="485775"/>
          </a:xfrm>
          <a:prstGeom prst="roundRect">
            <a:avLst>
              <a:gd name="adj" fmla="val 50000"/>
            </a:avLst>
          </a:prstGeom>
          <a:solidFill>
            <a:srgbClr val="7556A5"/>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03</a:t>
            </a:r>
          </a:p>
        </p:txBody>
      </p:sp>
      <p:sp xmlns:a="http://schemas.openxmlformats.org/drawingml/2006/main">
        <p:nvSpPr>
          <p:cNvPr id="18" name="execution-stage-2"/>
          <p:cNvSpPr txBox="1"/>
          <p:nvPr/>
        </p:nvSpPr>
        <p:spPr>
          <a:xfrm>
            <a:off x="2209800" y="4943475"/>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시범 운영</a:t>
            </a:r>
          </a:p>
        </p:txBody>
      </p:sp>
      <p:sp xmlns:a="http://schemas.openxmlformats.org/drawingml/2006/main">
        <p:nvSpPr>
          <p:cNvPr id="19" name="execution-period-2"/>
          <p:cNvSpPr txBox="1"/>
          <p:nvPr/>
        </p:nvSpPr>
        <p:spPr>
          <a:xfrm>
            <a:off x="2209800" y="5410200"/>
            <a:ext cx="2724150" cy="476250"/>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2026-11 ~ 2026-12 · 현장 운영 담당</a:t>
            </a:r>
          </a:p>
        </p:txBody>
      </p:sp>
      <p:sp xmlns:a="http://schemas.openxmlformats.org/drawingml/2006/main">
        <p:nvSpPr>
          <p:cNvPr id="20" name="execution-lead-2"/>
          <p:cNvSpPr txBox="1"/>
          <p:nvPr/>
        </p:nvSpPr>
        <p:spPr>
          <a:xfrm>
            <a:off x="5314950" y="4914900"/>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제한된 범위에서 먼저 운영합니다.</a:t>
            </a:r>
          </a:p>
        </p:txBody>
      </p:sp>
      <p:sp xmlns:a="http://schemas.openxmlformats.org/drawingml/2006/main">
        <p:nvSpPr>
          <p:cNvPr id="21" name="execution-body-2"/>
          <p:cNvSpPr txBox="1"/>
          <p:nvPr/>
        </p:nvSpPr>
        <p:spPr>
          <a:xfrm>
            <a:off x="5314950" y="5334000"/>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협의된 참여처와 시간대로 시작합니다. 현장 담당자가 안내와 안전 상태를 확인하고, 매일 신청 수와 실제</a:t>
            </a:r>
          </a:p>
          <a:p>
            <a:pPr eaLnBrk="0">
              <a:lnSpc>
                <a:spcPts val="1875"/>
              </a:lnSpc>
              <a:spcBef>
                <a:spcPts val="0"/>
              </a:spcBef>
              <a:spcAft>
                <a:spcPts val="0"/>
              </a:spcAft>
            </a:pPr>
            <a:r>
              <a:rPr sz="1500" b="0">
                <a:solidFill>
                  <a:srgbClr val="62666C"/>
                </a:solidFill>
                <a:latin typeface="Noto Sans KR"/>
              </a:rPr>
              <a:t>이용 수를 기록합니다. 반복되는 문의는 안내문에 반영합니다.</a:t>
            </a:r>
          </a:p>
        </p:txBody>
      </p:sp>
      <p:sp xmlns:a="http://schemas.openxmlformats.org/drawingml/2006/main">
        <p:nvSpPr>
          <p:cNvPr id="22" name="execution-panel-3"/>
          <p:cNvSpPr/>
          <p:nvPr/>
        </p:nvSpPr>
        <p:spPr>
          <a:xfrm>
            <a:off x="1009650" y="6181725"/>
            <a:ext cx="13220700" cy="12001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23" name="flow-node-3"/>
          <p:cNvSpPr txBox="1"/>
          <p:nvPr/>
        </p:nvSpPr>
        <p:spPr>
          <a:xfrm>
            <a:off x="1219200" y="6391275"/>
            <a:ext cx="714375" cy="485775"/>
          </a:xfrm>
          <a:prstGeom prst="roundRect">
            <a:avLst>
              <a:gd name="adj" fmla="val 50000"/>
            </a:avLst>
          </a:prstGeom>
          <a:solidFill>
            <a:srgbClr val="AE2349"/>
          </a:solidFill>
          <a:ln>
            <a:noFill/>
          </a:ln>
        </p:spPr>
        <p:txBody>
          <a:bodyPr wrap="none" lIns="57150" rIns="57150" tIns="38100" bIns="38100" anchor="ctr">
            <a:noAutofit/>
          </a:bodyPr>
          <a:lstStyle/>
          <a:p>
            <a:pPr eaLnBrk="0" algn="ctr">
              <a:lnSpc>
                <a:spcPts val="2718"/>
              </a:lnSpc>
              <a:spcBef>
                <a:spcPts val="0"/>
              </a:spcBef>
              <a:spcAft>
                <a:spcPts val="0"/>
              </a:spcAft>
            </a:pPr>
            <a:r>
              <a:rPr sz="2175" b="1">
                <a:solidFill>
                  <a:srgbClr val="FFFFFF"/>
                </a:solidFill>
                <a:latin typeface="Noto Sans KR"/>
              </a:rPr>
              <a:t>04</a:t>
            </a:r>
          </a:p>
        </p:txBody>
      </p:sp>
      <p:sp xmlns:a="http://schemas.openxmlformats.org/drawingml/2006/main">
        <p:nvSpPr>
          <p:cNvPr id="24" name="execution-stage-3"/>
          <p:cNvSpPr txBox="1"/>
          <p:nvPr/>
        </p:nvSpPr>
        <p:spPr>
          <a:xfrm>
            <a:off x="2209800" y="6305550"/>
            <a:ext cx="2724150" cy="3905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실적 확인과 평가</a:t>
            </a:r>
          </a:p>
        </p:txBody>
      </p:sp>
      <p:sp xmlns:a="http://schemas.openxmlformats.org/drawingml/2006/main">
        <p:nvSpPr>
          <p:cNvPr id="25" name="execution-period-3"/>
          <p:cNvSpPr txBox="1"/>
          <p:nvPr/>
        </p:nvSpPr>
        <p:spPr>
          <a:xfrm>
            <a:off x="2209800" y="6772275"/>
            <a:ext cx="2724150" cy="4762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2026-12 · 사업·평가 담당</a:t>
            </a:r>
          </a:p>
        </p:txBody>
      </p:sp>
      <p:sp xmlns:a="http://schemas.openxmlformats.org/drawingml/2006/main">
        <p:nvSpPr>
          <p:cNvPr id="26" name="execution-lead-3"/>
          <p:cNvSpPr txBox="1"/>
          <p:nvPr/>
        </p:nvSpPr>
        <p:spPr>
          <a:xfrm>
            <a:off x="5314950" y="6276975"/>
            <a:ext cx="862965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202124"/>
                </a:solidFill>
                <a:latin typeface="Noto Sans KR"/>
              </a:rPr>
              <a:t>이용 실적과 비용을 함께 정리합니다.</a:t>
            </a:r>
          </a:p>
        </p:txBody>
      </p:sp>
      <p:sp xmlns:a="http://schemas.openxmlformats.org/drawingml/2006/main">
        <p:nvSpPr>
          <p:cNvPr id="27" name="execution-body-3"/>
          <p:cNvSpPr txBox="1"/>
          <p:nvPr/>
        </p:nvSpPr>
        <p:spPr>
          <a:xfrm>
            <a:off x="5314950" y="6696075"/>
            <a:ext cx="8629650" cy="609600"/>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매주 이용 기록과 지출 내역을 확인하고 불편이 생긴 원인을 정리합니다. 종료 후 같은 기준의 운영 전 자료와</a:t>
            </a:r>
          </a:p>
          <a:p>
            <a:pPr eaLnBrk="0">
              <a:lnSpc>
                <a:spcPts val="1875"/>
              </a:lnSpc>
              <a:spcBef>
                <a:spcPts val="0"/>
              </a:spcBef>
              <a:spcAft>
                <a:spcPts val="0"/>
              </a:spcAft>
            </a:pPr>
            <a:r>
              <a:rPr sz="1500" b="0">
                <a:solidFill>
                  <a:srgbClr val="62666C"/>
                </a:solidFill>
                <a:latin typeface="Noto Sans KR"/>
              </a:rPr>
              <a:t>비교하되, 계절 변화와 사업 효과를 구분해 보고합니다.</a:t>
            </a:r>
          </a:p>
        </p:txBody>
      </p:sp>
      <p:sp xmlns:a="http://schemas.openxmlformats.org/drawingml/2006/main">
        <p:nvSpPr>
          <p:cNvPr id="28" name="execution-origin"/>
          <p:cNvSpPr txBox="1"/>
          <p:nvPr/>
        </p:nvSpPr>
        <p:spPr>
          <a:xfrm>
            <a:off x="1009650" y="7829550"/>
            <a:ext cx="13220700" cy="5715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작성 기준: 저장된 일정 + 사업 유형별 운영 안내 함수. 공식 협약·법정 절차를 인용한 내용이 아니라 조정 가능한 실행 예시입니다.</a:t>
            </a:r>
          </a:p>
        </p:txBody>
      </p:sp>
      <p:sp xmlns:a="http://schemas.openxmlformats.org/drawingml/2006/main">
        <p:nvSpPr>
          <p:cNvPr id="3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3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09 / 15</a:t>
            </a:r>
          </a:p>
        </p:txBody>
      </p:sp>
    </p:spTree>
    <p:extLst>
      <p:ext uri="{BB962C8B-B14F-4D97-AF65-F5344CB8AC3E}">
        <p14:creationId xmlns:p14="http://schemas.microsoft.com/office/powerpoint/2010/main" val="380383987"/>
      </p:ext>
    </p:extLst>
  </p:cSld>
</p:sld>
</file>

<file path=ppt/slides/slide8.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3.3 머신러닝 예측값과 목표 KPI</a:t>
            </a:r>
          </a:p>
        </p:txBody>
      </p:sp>
      <p:sp xmlns:a="http://schemas.openxmlformats.org/drawingml/2006/main">
        <p:nvSpPr>
          <p:cNvPr id="4" name="kpi-title-0"/>
          <p:cNvSpPr txBox="1"/>
          <p:nvPr/>
        </p:nvSpPr>
        <p:spPr>
          <a:xfrm>
            <a:off x="1009650" y="2047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관광객 방문자 수</a:t>
            </a:r>
          </a:p>
        </p:txBody>
      </p:sp>
      <p:graphicFrame xmlns:a="http://schemas.openxmlformats.org/drawingml/2006/main">
        <p:nvGraphicFramePr>
          <p:cNvPr id="5" name="kpi-visitors-table"/>
          <p:cNvGraphicFramePr>
            <a:graphicFrameLocks noGrp="1"/>
          </p:cNvGraphicFramePr>
          <p:nvPr/>
        </p:nvGraphicFramePr>
        <p:xfrm>
          <a:off x="1009650" y="2514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27649B"/>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27649B"/>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3,615,062명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3,675,313명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60,251명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3,594,310명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3,714,120명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119,810명 · 3.33%</a:t>
                      </a:r>
                    </a:p>
                  </a:txBody>
                  <a:tcPr marL="95250" marR="95250" marT="66675" marB="66675" anchor="ctr">
                    <a:solidFill>
                      <a:srgbClr val="EDF3F8"/>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3,370,793명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3,539,333명</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168,540명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10,580,165명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0">
                          <a:solidFill>
                            <a:srgbClr val="202124"/>
                          </a:solidFill>
                          <a:latin typeface="Noto Sans KR"/>
                        </a:rPr>
                        <a:t>10,928,766명</a:t>
                      </a:r>
                    </a:p>
                  </a:txBody>
                  <a:tcPr marL="95250" marR="95250" marT="66675" marB="66675" anchor="ctr">
                    <a:solidFill>
                      <a:srgbClr val="EDF3F8"/>
                    </a:solidFill>
                  </a:tcPr>
                </a:tc>
                <a:tc>
                  <a:txBody>
                    <a:bodyPr wrap="none"/>
                    <a:lstStyle/>
                    <a:p>
                      <a:pPr eaLnBrk="0">
                        <a:lnSpc>
                          <a:spcPct val="112000"/>
                        </a:lnSpc>
                        <a:spcBef>
                          <a:spcPts val="0"/>
                        </a:spcBef>
                        <a:spcAft>
                          <a:spcPts val="0"/>
                        </a:spcAft>
                      </a:pPr>
                      <a:r>
                        <a:rPr sz="1537" b="1">
                          <a:solidFill>
                            <a:srgbClr val="202124"/>
                          </a:solidFill>
                          <a:latin typeface="Noto Sans KR"/>
                        </a:rPr>
                        <a:t>↑ 348,601명 · 3.29%</a:t>
                      </a:r>
                    </a:p>
                  </a:txBody>
                  <a:tcPr marL="95250" marR="95250" marT="66675" marB="66675" anchor="ctr">
                    <a:solidFill>
                      <a:srgbClr val="EDF3F8"/>
                    </a:solidFill>
                  </a:tcPr>
                </a:tc>
              </a:tr>
            </a:tbl>
          </a:graphicData>
        </a:graphic>
      </p:graphicFrame>
      <p:sp xmlns:a="http://schemas.openxmlformats.org/drawingml/2006/main">
        <p:nvSpPr>
          <p:cNvPr id="6" name="kpi-total-0"/>
          <p:cNvSpPr txBox="1"/>
          <p:nvPr/>
        </p:nvSpPr>
        <p:spPr>
          <a:xfrm>
            <a:off x="8743950" y="2047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27649B"/>
                </a:solidFill>
                <a:latin typeface="Noto Sans KR"/>
              </a:rPr>
              <a:t>3개월 목표 추가 규모 ↑ 348,601명</a:t>
            </a:r>
          </a:p>
        </p:txBody>
      </p:sp>
      <p:sp xmlns:a="http://schemas.openxmlformats.org/drawingml/2006/main">
        <p:nvSpPr>
          <p:cNvPr id="7" name="kpi-title-1"/>
          <p:cNvSpPr txBox="1"/>
          <p:nvPr/>
        </p:nvSpPr>
        <p:spPr>
          <a:xfrm>
            <a:off x="1009650" y="4714875"/>
            <a:ext cx="8096250" cy="371475"/>
          </a:xfrm>
          <a:prstGeom prst="rect">
            <a:avLst/>
          </a:prstGeom>
          <a:noFill/>
        </p:spPr>
        <p:txBody>
          <a:bodyPr wrap="none" lIns="57150" rIns="57150" tIns="38100" bIns="38100" anchor="t">
            <a:noAutofit/>
          </a:bodyPr>
          <a:lstStyle/>
          <a:p>
            <a:pPr eaLnBrk="0">
              <a:lnSpc>
                <a:spcPts val="2296"/>
              </a:lnSpc>
              <a:spcBef>
                <a:spcPts val="0"/>
              </a:spcBef>
              <a:spcAft>
                <a:spcPts val="0"/>
              </a:spcAft>
            </a:pPr>
            <a:r>
              <a:rPr sz="1837" b="1">
                <a:solidFill>
                  <a:srgbClr val="202124"/>
                </a:solidFill>
                <a:latin typeface="Noto Sans KR"/>
              </a:rPr>
              <a:t>관광소비액</a:t>
            </a:r>
          </a:p>
        </p:txBody>
      </p:sp>
      <p:graphicFrame xmlns:a="http://schemas.openxmlformats.org/drawingml/2006/main">
        <p:nvGraphicFramePr>
          <p:cNvPr id="8" name="kpi-spending-table"/>
          <p:cNvGraphicFramePr>
            <a:graphicFrameLocks noGrp="1"/>
          </p:cNvGraphicFramePr>
          <p:nvPr/>
        </p:nvGraphicFramePr>
        <p:xfrm>
          <a:off x="1009650" y="5181600"/>
          <a:ext cx="13220700" cy="2019300"/>
        </p:xfrm>
        <a:graphic>
          <a:graphicData uri="http://schemas.openxmlformats.org/drawingml/2006/table">
            <a:tbl>
              <a:tblPr firstRow="1" bandRow="1">
                <a:tableStyleId>{5C22544A-7EE6-4342-B048-85BDC9FD1C3A}</a:tableStyleId>
              </a:tblPr>
              <a:tblGrid>
                <a:gridCol w="2143125"/>
                <a:gridCol w="3333750"/>
                <a:gridCol w="3333750"/>
                <a:gridCol w="4410075"/>
              </a:tblGrid>
              <a:tr h="495300">
                <a:tc>
                  <a:txBody>
                    <a:bodyPr wrap="none"/>
                    <a:lstStyle/>
                    <a:p>
                      <a:pPr eaLnBrk="0">
                        <a:lnSpc>
                          <a:spcPct val="112000"/>
                        </a:lnSpc>
                        <a:spcBef>
                          <a:spcPts val="0"/>
                        </a:spcBef>
                        <a:spcAft>
                          <a:spcPts val="0"/>
                        </a:spcAft>
                      </a:pPr>
                      <a:r>
                        <a:rPr sz="1575" b="1">
                          <a:solidFill>
                            <a:srgbClr val="FFFFFF"/>
                          </a:solidFill>
                          <a:latin typeface="Noto Sans KR"/>
                        </a:rPr>
                        <a:t>기준월</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머신러닝 예측값</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목표 KPI</a:t>
                      </a:r>
                    </a:p>
                  </a:txBody>
                  <a:tcPr marL="95250" marR="95250" marT="66675" marB="66675" anchor="ctr">
                    <a:solidFill>
                      <a:srgbClr val="187C70"/>
                    </a:solidFill>
                  </a:tcPr>
                </a:tc>
                <a:tc>
                  <a:txBody>
                    <a:bodyPr wrap="none"/>
                    <a:lstStyle/>
                    <a:p>
                      <a:pPr eaLnBrk="0">
                        <a:lnSpc>
                          <a:spcPct val="112000"/>
                        </a:lnSpc>
                        <a:spcBef>
                          <a:spcPts val="0"/>
                        </a:spcBef>
                        <a:spcAft>
                          <a:spcPts val="0"/>
                        </a:spcAft>
                      </a:pPr>
                      <a:r>
                        <a:rPr sz="1575" b="1">
                          <a:solidFill>
                            <a:srgbClr val="FFFFFF"/>
                          </a:solidFill>
                          <a:latin typeface="Noto Sans KR"/>
                        </a:rPr>
                        <a:t>기준 대비 증가</a:t>
                      </a:r>
                    </a:p>
                  </a:txBody>
                  <a:tcPr marL="95250" marR="95250" marT="66675" marB="66675" anchor="ctr">
                    <a:solidFill>
                      <a:srgbClr val="187C70"/>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26.10</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1,504.67억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1,529.75억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25.08억 원 · 1.67%</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26.11</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1,450.85억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1,499.21억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48.36억 원 · 3.33%</a:t>
                      </a:r>
                    </a:p>
                  </a:txBody>
                  <a:tcPr marL="95250" marR="95250" marT="66675" marB="66675" anchor="ctr">
                    <a:solidFill>
                      <a:srgbClr val="EDF5F3"/>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26.12</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1,493.67억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0">
                          <a:solidFill>
                            <a:srgbClr val="202124"/>
                          </a:solidFill>
                          <a:latin typeface="Noto Sans KR"/>
                        </a:rPr>
                        <a:t>1,568.35억 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37" b="1">
                          <a:solidFill>
                            <a:srgbClr val="202124"/>
                          </a:solidFill>
                          <a:latin typeface="Noto Sans KR"/>
                        </a:rPr>
                        <a:t>↑ 74.68억 원 · 5.00%</a:t>
                      </a:r>
                    </a:p>
                  </a:txBody>
                  <a:tcPr marL="95250" marR="95250" marT="66675" marB="66675" anchor="ctr">
                    <a:solidFill>
                      <a:srgbClr val="FFFFFF"/>
                    </a:solidFill>
                  </a:tcPr>
                </a:tc>
              </a:tr>
              <a:tr h="381000">
                <a:tc>
                  <a:txBody>
                    <a:bodyPr wrap="none"/>
                    <a:lstStyle/>
                    <a:p>
                      <a:pPr eaLnBrk="0">
                        <a:lnSpc>
                          <a:spcPct val="112000"/>
                        </a:lnSpc>
                        <a:spcBef>
                          <a:spcPts val="0"/>
                        </a:spcBef>
                        <a:spcAft>
                          <a:spcPts val="0"/>
                        </a:spcAft>
                      </a:pPr>
                      <a:r>
                        <a:rPr sz="1537" b="1">
                          <a:solidFill>
                            <a:srgbClr val="202124"/>
                          </a:solidFill>
                          <a:latin typeface="Noto Sans KR"/>
                        </a:rPr>
                        <a:t>3개월 월별 합계</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4,449.19억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0">
                          <a:solidFill>
                            <a:srgbClr val="202124"/>
                          </a:solidFill>
                          <a:latin typeface="Noto Sans KR"/>
                        </a:rPr>
                        <a:t>4,597.31억 원</a:t>
                      </a:r>
                    </a:p>
                  </a:txBody>
                  <a:tcPr marL="95250" marR="95250" marT="66675" marB="66675" anchor="ctr">
                    <a:solidFill>
                      <a:srgbClr val="EDF5F3"/>
                    </a:solidFill>
                  </a:tcPr>
                </a:tc>
                <a:tc>
                  <a:txBody>
                    <a:bodyPr wrap="none"/>
                    <a:lstStyle/>
                    <a:p>
                      <a:pPr eaLnBrk="0">
                        <a:lnSpc>
                          <a:spcPct val="112000"/>
                        </a:lnSpc>
                        <a:spcBef>
                          <a:spcPts val="0"/>
                        </a:spcBef>
                        <a:spcAft>
                          <a:spcPts val="0"/>
                        </a:spcAft>
                      </a:pPr>
                      <a:r>
                        <a:rPr sz="1537" b="1">
                          <a:solidFill>
                            <a:srgbClr val="202124"/>
                          </a:solidFill>
                          <a:latin typeface="Noto Sans KR"/>
                        </a:rPr>
                        <a:t>↑ 148.12억 원 · 3.33%</a:t>
                      </a:r>
                    </a:p>
                  </a:txBody>
                  <a:tcPr marL="95250" marR="95250" marT="66675" marB="66675" anchor="ctr">
                    <a:solidFill>
                      <a:srgbClr val="EDF5F3"/>
                    </a:solidFill>
                  </a:tcPr>
                </a:tc>
              </a:tr>
            </a:tbl>
          </a:graphicData>
        </a:graphic>
      </p:graphicFrame>
      <p:sp xmlns:a="http://schemas.openxmlformats.org/drawingml/2006/main">
        <p:nvSpPr>
          <p:cNvPr id="9" name="kpi-total-1"/>
          <p:cNvSpPr txBox="1"/>
          <p:nvPr/>
        </p:nvSpPr>
        <p:spPr>
          <a:xfrm>
            <a:off x="8743950" y="4714875"/>
            <a:ext cx="5486400" cy="409575"/>
          </a:xfrm>
          <a:prstGeom prst="rect">
            <a:avLst/>
          </a:prstGeom>
          <a:noFill/>
        </p:spPr>
        <p:txBody>
          <a:bodyPr wrap="none" lIns="57150" rIns="57150" tIns="38100" bIns="38100" anchor="t">
            <a:noAutofit/>
          </a:bodyPr>
          <a:lstStyle/>
          <a:p>
            <a:pPr eaLnBrk="0" algn="ctr">
              <a:lnSpc>
                <a:spcPts val="2156"/>
              </a:lnSpc>
              <a:spcBef>
                <a:spcPts val="0"/>
              </a:spcBef>
              <a:spcAft>
                <a:spcPts val="0"/>
              </a:spcAft>
            </a:pPr>
            <a:r>
              <a:rPr sz="1725" b="1">
                <a:solidFill>
                  <a:srgbClr val="187C70"/>
                </a:solidFill>
                <a:latin typeface="Noto Sans KR"/>
              </a:rPr>
              <a:t>3개월 목표 추가 규모 ↑ 148.12억 원</a:t>
            </a:r>
          </a:p>
        </p:txBody>
      </p:sp>
      <p:sp xmlns:a="http://schemas.openxmlformats.org/drawingml/2006/main">
        <p:nvSpPr>
          <p:cNvPr id="10" name="kpi-calculation"/>
          <p:cNvSpPr txBox="1"/>
          <p:nvPr/>
        </p:nvSpPr>
        <p:spPr>
          <a:xfrm>
            <a:off x="1009650" y="7429500"/>
            <a:ext cx="13220700" cy="106680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월별 소비/방문 비율 = ML 소비액 ÷ ML 방문 수 | 26.10 41,622원 · 26.11 40,365원 · 26.12 44,312원</a:t>
            </a:r>
          </a:p>
          <a:p>
            <a:pPr eaLnBrk="0">
              <a:lnSpc>
                <a:spcPts val="1687"/>
              </a:lnSpc>
              <a:spcBef>
                <a:spcPts val="0"/>
              </a:spcBef>
              <a:spcAft>
                <a:spcPts val="0"/>
              </a:spcAft>
            </a:pPr>
            <a:r>
              <a:rPr sz="1350" b="0">
                <a:solidFill>
                  <a:srgbClr val="62666C"/>
                </a:solidFill>
                <a:latin typeface="Noto Sans KR"/>
              </a:rPr>
              <a:t>목표 소비액 = ML 소비액 + (목표 방문 수 − ML 방문 수) × 해당 월 소비/방문 비율</a:t>
            </a:r>
          </a:p>
          <a:p>
            <a:pPr eaLnBrk="0">
              <a:lnSpc>
                <a:spcPts val="1687"/>
              </a:lnSpc>
              <a:spcBef>
                <a:spcPts val="0"/>
              </a:spcBef>
              <a:spcAft>
                <a:spcPts val="0"/>
              </a:spcAft>
            </a:pPr>
            <a:r>
              <a:rPr sz="1350" b="0">
                <a:solidFill>
                  <a:srgbClr val="62666C"/>
                </a:solidFill>
                <a:latin typeface="Noto Sans KR"/>
              </a:rPr>
              <a:t>월별 증가율은 방문·소비가 같습니다. 합계 증가율 = (목표 합계 ÷ ML 합계 − 1) × 100; 월별 가중치에 따라 달라집니다.</a:t>
            </a:r>
          </a:p>
          <a:p>
            <a:pPr eaLnBrk="0">
              <a:lnSpc>
                <a:spcPts val="1687"/>
              </a:lnSpc>
              <a:spcBef>
                <a:spcPts val="0"/>
              </a:spcBef>
              <a:spcAft>
                <a:spcPts val="0"/>
              </a:spcAft>
            </a:pPr>
            <a:r>
              <a:rPr sz="1350" b="0">
                <a:solidFill>
                  <a:srgbClr val="62666C"/>
                </a:solidFill>
                <a:latin typeface="Noto Sans KR"/>
              </a:rPr>
              <a:t>비율은 기획용 가정이며 실제 객단가·보장 효과가 아닙니다. 방문 합계는 월 간 중복을 포함합니다.</a:t>
            </a:r>
          </a:p>
        </p:txBody>
      </p:sp>
      <p:sp xmlns:a="http://schemas.openxmlformats.org/drawingml/2006/main">
        <p:nvSpPr>
          <p:cNvPr id="12"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3. 지역 적용과 실행</a:t>
            </a:r>
          </a:p>
        </p:txBody>
      </p:sp>
      <p:sp xmlns:a="http://schemas.openxmlformats.org/drawingml/2006/main">
        <p:nvSpPr>
          <p:cNvPr id="13"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10 / 15</a:t>
            </a:r>
          </a:p>
        </p:txBody>
      </p:sp>
    </p:spTree>
    <p:extLst>
      <p:ext uri="{BB962C8B-B14F-4D97-AF65-F5344CB8AC3E}">
        <p14:creationId xmlns:p14="http://schemas.microsoft.com/office/powerpoint/2010/main" val="553742078"/>
      </p:ext>
    </p:extLst>
  </p:cSld>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5" name="result-evidence-card"/>
          <p:cNvSpPr/>
          <p:nvPr/>
        </p:nvSpPr>
        <p:spPr>
          <a:xfrm>
            <a:off x="6905625" y="3143250"/>
            <a:ext cx="7524750" cy="4362450"/>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1.2 사례 실적</a:t>
            </a:r>
          </a:p>
        </p:txBody>
      </p:sp>
      <p:sp>
        <p:nvSpPr>
          <p:cNvPr id="4" name="result-title"/>
          <p:cNvSpPr txBox="1"/>
          <p:nvPr/>
        </p:nvSpPr>
        <p:spPr>
          <a:xfrm>
            <a:off x="1009650" y="2009775"/>
            <a:ext cx="13220700" cy="552450"/>
          </a:xfrm>
          <a:prstGeom prst="rect">
            <a:avLst/>
          </a:prstGeom>
          <a:noFill/>
        </p:spPr>
        <p:txBody>
          <a:bodyPr wrap="none" lIns="57150" rIns="57150" tIns="38100" bIns="38100" anchor="ctr">
            <a:noAutofit/>
          </a:bodyPr>
          <a:lstStyle/>
          <a:p>
            <a:pPr eaLnBrk="0" algn="ctr">
              <a:lnSpc>
                <a:spcPts val="2812"/>
              </a:lnSpc>
              <a:spcBef>
                <a:spcPts val="0"/>
              </a:spcBef>
              <a:spcAft>
                <a:spcPts val="0"/>
              </a:spcAft>
            </a:pPr>
            <a:r>
              <a:rPr sz="2250" b="1">
                <a:solidFill>
                  <a:srgbClr val="F50045"/>
                </a:solidFill>
                <a:latin typeface="Noto Sans KR"/>
              </a:rPr>
              <a:t>서울 중구 · 정동야행</a:t>
            </a:r>
          </a:p>
        </p:txBody>
      </p:sp>
      <p:sp>
        <p:nvSpPr>
          <p:cNvPr id="5" name="result-scope"/>
          <p:cNvSpPr txBox="1"/>
          <p:nvPr/>
        </p:nvSpPr>
        <p:spPr>
          <a:xfrm>
            <a:off x="1009650" y="2638425"/>
            <a:ext cx="13220700" cy="400050"/>
          </a:xfrm>
          <a:prstGeom prst="rect">
            <a:avLst/>
          </a:prstGeom>
          <a:noFill/>
        </p:spPr>
        <p:txBody>
          <a:bodyPr wrap="none" lIns="57150" rIns="57150" tIns="38100" bIns="38100" anchor="ctr">
            <a:noAutofit/>
          </a:bodyPr>
          <a:lstStyle/>
          <a:p>
            <a:pPr eaLnBrk="0" algn="ctr">
              <a:lnSpc>
                <a:spcPts val="2062"/>
              </a:lnSpc>
              <a:spcBef>
                <a:spcPts val="0"/>
              </a:spcBef>
              <a:spcAft>
                <a:spcPts val="0"/>
              </a:spcAft>
            </a:pPr>
            <a:r>
              <a:rPr sz="1650" b="0">
                <a:solidFill>
                  <a:srgbClr val="62666C"/>
                </a:solidFill>
                <a:latin typeface="Noto Sans KR"/>
              </a:rPr>
              <a:t>선정한 서울 문화재야행 사업에 포함된 정동야행</a:t>
            </a:r>
          </a:p>
        </p:txBody>
      </p:sp>
      <p:sp>
        <p:nvSpPr>
          <p:cNvPr id="6" name="result-photo-panel"/>
          <p:cNvSpPr/>
          <p:nvPr/>
        </p:nvSpPr>
        <p:spPr>
          <a:xfrm>
            <a:off x="1009650" y="3333750"/>
            <a:ext cx="5581650" cy="337185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result-photo" descr="jeongdong_2024.jpg"/>
          <p:cNvPicPr>
            <a:picLocks noChangeAspect="1"/>
          </p:cNvPicPr>
          <p:nvPr/>
        </p:nvPicPr>
        <p:blipFill>
          <a:blip r:embed="rId3"/>
          <a:stretch>
            <a:fillRect/>
          </a:stretch>
        </p:blipFill>
        <p:spPr>
          <a:xfrm>
            <a:off x="1265249" y="3333750"/>
            <a:ext cx="5070451" cy="3371850"/>
          </a:xfrm>
          <a:prstGeom prst="rect">
            <a:avLst/>
          </a:prstGeom>
        </p:spPr>
      </p:pic>
      <p:sp>
        <p:nvSpPr>
          <p:cNvPr id="8" name="result-photo-source"/>
          <p:cNvSpPr txBox="1"/>
          <p:nvPr/>
        </p:nvSpPr>
        <p:spPr>
          <a:xfrm>
            <a:off x="1009650" y="6810375"/>
            <a:ext cx="5581650" cy="6000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u="none">
                <a:solidFill>
                  <a:srgbClr val="62666C"/>
                </a:solidFill>
                <a:latin typeface="Noto Sans KR"/>
                <a:hlinkClick r:id="rId4"/>
              </a:rPr>
              <a:t>서울 중구 정동 · 정동야행 행사 사진</a:t>
            </a:r>
          </a:p>
          <a:p>
            <a:pPr eaLnBrk="0">
              <a:lnSpc>
                <a:spcPts val="1781"/>
              </a:lnSpc>
              <a:spcBef>
                <a:spcPts val="0"/>
              </a:spcBef>
              <a:spcAft>
                <a:spcPts val="0"/>
              </a:spcAft>
            </a:pPr>
            <a:r>
              <a:rPr sz="1425" b="0" u="none">
                <a:solidFill>
                  <a:srgbClr val="62666C"/>
                </a:solidFill>
                <a:latin typeface="Noto Sans KR"/>
                <a:hlinkClick r:id="rId4"/>
              </a:rPr>
              <a:t>출처: 서울문화포털 · 2024 정동야행</a:t>
            </a:r>
          </a:p>
        </p:txBody>
      </p:sp>
      <p:sp>
        <p:nvSpPr>
          <p:cNvPr id="9" name="result-metric"/>
          <p:cNvSpPr txBox="1"/>
          <p:nvPr/>
        </p:nvSpPr>
        <p:spPr>
          <a:xfrm>
            <a:off x="7172325" y="3238500"/>
            <a:ext cx="7058025" cy="361950"/>
          </a:xfrm>
          <a:prstGeom prst="rect">
            <a:avLst/>
          </a:prstGeom>
          <a:noFill/>
        </p:spPr>
        <p:txBody>
          <a:bodyPr wrap="none" lIns="57150" rIns="57150" tIns="38100" bIns="38100" anchor="t">
            <a:noAutofit/>
          </a:bodyPr>
          <a:lstStyle/>
          <a:p>
            <a:pPr eaLnBrk="0">
              <a:lnSpc>
                <a:spcPts val="2250"/>
              </a:lnSpc>
              <a:spcBef>
                <a:spcPts val="0"/>
              </a:spcBef>
              <a:spcAft>
                <a:spcPts val="0"/>
              </a:spcAft>
            </a:pPr>
            <a:r>
              <a:rPr sz="1800" b="1">
                <a:solidFill>
                  <a:srgbClr val="F50045"/>
                </a:solidFill>
                <a:latin typeface="Noto Sans KR"/>
              </a:rPr>
              <a:t>행사 방문객</a:t>
            </a:r>
          </a:p>
        </p:txBody>
      </p:sp>
      <p:sp>
        <p:nvSpPr>
          <p:cNvPr id="10" name="result-year-0"/>
          <p:cNvSpPr txBox="1"/>
          <p:nvPr/>
        </p:nvSpPr>
        <p:spPr>
          <a:xfrm>
            <a:off x="7172325" y="3733800"/>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2023년 · 10월 13–14일</a:t>
            </a:r>
          </a:p>
        </p:txBody>
      </p:sp>
      <p:sp>
        <p:nvSpPr>
          <p:cNvPr id="11" name="result-bar-0"/>
          <p:cNvSpPr/>
          <p:nvPr/>
        </p:nvSpPr>
        <p:spPr>
          <a:xfrm>
            <a:off x="7172325" y="4191000"/>
            <a:ext cx="3516923" cy="228600"/>
          </a:xfrm>
          <a:prstGeom prst="rect">
            <a:avLst/>
          </a:prstGeom>
          <a:solidFill>
            <a:srgbClr val="8097B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sult-count-0"/>
          <p:cNvSpPr txBox="1"/>
          <p:nvPr/>
        </p:nvSpPr>
        <p:spPr>
          <a:xfrm>
            <a:off x="11906250" y="4038600"/>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10.0만 명</a:t>
            </a:r>
          </a:p>
        </p:txBody>
      </p:sp>
      <p:sp>
        <p:nvSpPr>
          <p:cNvPr id="13" name="result-year-1"/>
          <p:cNvSpPr txBox="1"/>
          <p:nvPr/>
        </p:nvSpPr>
        <p:spPr>
          <a:xfrm>
            <a:off x="7172325" y="4676775"/>
            <a:ext cx="4191000" cy="35242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2024년 · 5월 24–25일</a:t>
            </a:r>
          </a:p>
        </p:txBody>
      </p:sp>
      <p:sp>
        <p:nvSpPr>
          <p:cNvPr id="14" name="result-bar-1"/>
          <p:cNvSpPr/>
          <p:nvPr/>
        </p:nvSpPr>
        <p:spPr>
          <a:xfrm>
            <a:off x="7172325" y="5133975"/>
            <a:ext cx="4572000" cy="228600"/>
          </a:xfrm>
          <a:prstGeom prst="rect">
            <a:avLst/>
          </a:prstGeom>
          <a:solidFill>
            <a:srgbClr val="F5004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sult-count-1"/>
          <p:cNvSpPr txBox="1"/>
          <p:nvPr/>
        </p:nvSpPr>
        <p:spPr>
          <a:xfrm>
            <a:off x="11906250" y="4981575"/>
            <a:ext cx="23241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F50045"/>
                </a:solidFill>
                <a:latin typeface="Noto Sans KR"/>
              </a:rPr>
              <a:t>약 13.0만 명</a:t>
            </a:r>
          </a:p>
        </p:txBody>
      </p:sp>
      <p:sp>
        <p:nvSpPr>
          <p:cNvPr id="16" name="result-change-band"/>
          <p:cNvSpPr/>
          <p:nvPr/>
        </p:nvSpPr>
        <p:spPr>
          <a:xfrm>
            <a:off x="7172325" y="5857875"/>
            <a:ext cx="7058025" cy="1057275"/>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sult-change"/>
          <p:cNvSpPr txBox="1"/>
          <p:nvPr/>
        </p:nvSpPr>
        <p:spPr>
          <a:xfrm>
            <a:off x="7381875" y="6000750"/>
            <a:ext cx="6619875" cy="552450"/>
          </a:xfrm>
          <a:prstGeom prst="rect">
            <a:avLst/>
          </a:prstGeom>
          <a:noFill/>
        </p:spPr>
        <p:txBody>
          <a:bodyPr wrap="none" lIns="57150" rIns="57150" tIns="38100" bIns="38100" anchor="t">
            <a:noAutofit/>
          </a:bodyPr>
          <a:lstStyle/>
          <a:p>
            <a:pPr eaLnBrk="0">
              <a:lnSpc>
                <a:spcPts val="3562"/>
              </a:lnSpc>
              <a:spcBef>
                <a:spcPts val="0"/>
              </a:spcBef>
              <a:spcAft>
                <a:spcPts val="0"/>
              </a:spcAft>
            </a:pPr>
            <a:r>
              <a:rPr sz="2850" b="1">
                <a:solidFill>
                  <a:srgbClr val="F50045"/>
                </a:solidFill>
                <a:latin typeface="Noto Sans KR"/>
              </a:rPr>
              <a:t>↑ 약 3.0만 명 | +30%</a:t>
            </a:r>
          </a:p>
        </p:txBody>
      </p:sp>
      <p:sp>
        <p:nvSpPr>
          <p:cNvPr id="18" name="result-change-formula"/>
          <p:cNvSpPr txBox="1"/>
          <p:nvPr/>
        </p:nvSpPr>
        <p:spPr>
          <a:xfrm>
            <a:off x="7381875" y="6543675"/>
            <a:ext cx="6619875" cy="276225"/>
          </a:xfrm>
          <a:prstGeom prst="rect">
            <a:avLst/>
          </a:prstGeom>
          <a:noFill/>
        </p:spPr>
        <p:txBody>
          <a:bodyPr wrap="none" lIns="57150" rIns="57150" tIns="38100" bIns="38100" anchor="t">
            <a:noAutofit/>
          </a:bodyPr>
          <a:lstStyle/>
          <a:p>
            <a:pPr eaLnBrk="0">
              <a:lnSpc>
                <a:spcPts val="1546"/>
              </a:lnSpc>
              <a:spcBef>
                <a:spcPts val="0"/>
              </a:spcBef>
              <a:spcAft>
                <a:spcPts val="0"/>
              </a:spcAft>
            </a:pPr>
            <a:r>
              <a:rPr sz="1237" b="0">
                <a:solidFill>
                  <a:srgbClr val="62666C"/>
                </a:solidFill>
                <a:latin typeface="Noto Sans KR"/>
              </a:rPr>
              <a:t>(13만 − 10만) ÷ 10만 × 100</a:t>
            </a:r>
          </a:p>
        </p:txBody>
      </p:sp>
      <p:sp>
        <p:nvSpPr>
          <p:cNvPr id="19" name="result-data-labels"/>
          <p:cNvSpPr txBox="1"/>
          <p:nvPr/>
        </p:nvSpPr>
        <p:spPr>
          <a:xfrm>
            <a:off x="7172325" y="7038975"/>
            <a:ext cx="7058025" cy="485775"/>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62666C"/>
                </a:solidFill>
                <a:latin typeface="Noto Sans KR"/>
              </a:rPr>
              <a:t>중구청 발표 · 약 10만 명 / 중구청 발표 · 13만 명</a:t>
            </a:r>
          </a:p>
        </p:txBody>
      </p:sp>
      <p:sp>
        <p:nvSpPr>
          <p:cNvPr id="20" name="result-action"/>
          <p:cNvSpPr txBox="1"/>
          <p:nvPr/>
        </p:nvSpPr>
        <p:spPr>
          <a:xfrm>
            <a:off x="1009650" y="7610475"/>
            <a:ext cx="13220700" cy="40957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50045"/>
                </a:solidFill>
                <a:latin typeface="Noto Sans KR"/>
              </a:rPr>
              <a:t>역사·문화시설을 밤에도 개방하고, 공연과 체험을 함께 운영</a:t>
            </a:r>
          </a:p>
        </p:txBody>
      </p:sp>
      <p:sp>
        <p:nvSpPr>
          <p:cNvPr id="21" name="result-interpretation"/>
          <p:cNvSpPr txBox="1"/>
          <p:nvPr/>
        </p:nvSpPr>
        <p:spPr>
          <a:xfrm>
            <a:off x="1009650" y="8105775"/>
            <a:ext cx="13220700" cy="34290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두 해의 행사 방문객 비교입니다. 개최 계절이 달라 사업 단독 효과로 해석하지 않습니다.</a:t>
            </a:r>
          </a:p>
        </p:txBody>
      </p:sp>
      <p:sp>
        <p:nvSpPr>
          <p:cNvPr id="2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1. 지역별 사례</a:t>
            </a:r>
          </a:p>
        </p:txBody>
      </p:sp>
      <p:sp>
        <p:nvSpPr>
          <p:cNvPr id="2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05 / 15</a:t>
            </a:r>
          </a:p>
        </p:txBody>
      </p:sp>
    </p:spTree>
  </p:cSld>
  <p:clrMapOvr>
    <a:masterClrMapping/>
  </p:clrMapOvr>
</p:sld>
</file>

<file path=ppt/slides/slide10.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4.1 견적 예시안</a:t>
            </a:r>
          </a:p>
        </p:txBody>
      </p:sp>
      <p:sp xmlns:a="http://schemas.openxmlformats.org/drawingml/2006/main">
        <p:nvSpPr>
          <p:cNvPr id="4" name="estimate-label"/>
          <p:cNvSpPr txBox="1"/>
          <p:nvPr/>
        </p:nvSpPr>
        <p:spPr>
          <a:xfrm>
            <a:off x="1009650" y="1933575"/>
            <a:ext cx="8477250" cy="47625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62666C"/>
                </a:solidFill>
                <a:latin typeface="Noto Sans KR"/>
              </a:rPr>
              <a:t>운영 규모를 가정한 시범 예산</a:t>
            </a:r>
          </a:p>
        </p:txBody>
      </p:sp>
      <p:sp xmlns:a="http://schemas.openxmlformats.org/drawingml/2006/main">
        <p:nvSpPr>
          <p:cNvPr id="5" name="estimate-total"/>
          <p:cNvSpPr txBox="1"/>
          <p:nvPr/>
        </p:nvSpPr>
        <p:spPr>
          <a:xfrm>
            <a:off x="9620250" y="1876425"/>
            <a:ext cx="4610100" cy="590550"/>
          </a:xfrm>
          <a:prstGeom prst="rect">
            <a:avLst/>
          </a:prstGeom>
          <a:noFill/>
        </p:spPr>
        <p:txBody>
          <a:bodyPr wrap="none" lIns="57150" rIns="57150" tIns="38100" bIns="38100" anchor="t">
            <a:noAutofit/>
          </a:bodyPr>
          <a:lstStyle/>
          <a:p>
            <a:pPr eaLnBrk="0">
              <a:lnSpc>
                <a:spcPts val="3281"/>
              </a:lnSpc>
              <a:spcBef>
                <a:spcPts val="0"/>
              </a:spcBef>
              <a:spcAft>
                <a:spcPts val="0"/>
              </a:spcAft>
            </a:pPr>
            <a:r>
              <a:rPr sz="2625" b="1">
                <a:solidFill>
                  <a:srgbClr val="F50045"/>
                </a:solidFill>
                <a:latin typeface="Noto Sans KR"/>
              </a:rPr>
              <a:t>총 7,906만 원</a:t>
            </a:r>
          </a:p>
        </p:txBody>
      </p:sp>
      <p:graphicFrame xmlns:a="http://schemas.openxmlformats.org/drawingml/2006/main">
        <p:nvGraphicFramePr>
          <p:cNvPr id="6" name="estimate-table"/>
          <p:cNvGraphicFramePr>
            <a:graphicFrameLocks noGrp="1"/>
          </p:cNvGraphicFramePr>
          <p:nvPr/>
        </p:nvGraphicFramePr>
        <p:xfrm>
          <a:off x="1009650" y="2771775"/>
          <a:ext cx="13220700" cy="3829050"/>
        </p:xfrm>
        <a:graphic>
          <a:graphicData uri="http://schemas.openxmlformats.org/drawingml/2006/table">
            <a:tbl>
              <a:tblPr firstRow="1" bandRow="1">
                <a:tableStyleId>{5C22544A-7EE6-4342-B048-85BDC9FD1C3A}</a:tableStyleId>
              </a:tblPr>
              <a:tblGrid>
                <a:gridCol w="2762250"/>
                <a:gridCol w="2667000"/>
                <a:gridCol w="7791450"/>
              </a:tblGrid>
              <a:tr h="495300">
                <a:tc>
                  <a:txBody>
                    <a:bodyPr wrap="none"/>
                    <a:lstStyle/>
                    <a:p>
                      <a:pPr eaLnBrk="0">
                        <a:lnSpc>
                          <a:spcPct val="112000"/>
                        </a:lnSpc>
                        <a:spcBef>
                          <a:spcPts val="0"/>
                        </a:spcBef>
                        <a:spcAft>
                          <a:spcPts val="0"/>
                        </a:spcAft>
                      </a:pPr>
                      <a:r>
                        <a:rPr sz="1575" b="1">
                          <a:solidFill>
                            <a:srgbClr val="FFFFFF"/>
                          </a:solidFill>
                          <a:latin typeface="Noto Sans KR"/>
                        </a:rPr>
                        <a:t>항목</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금액</a:t>
                      </a:r>
                    </a:p>
                  </a:txBody>
                  <a:tcPr marL="95250" marR="95250" marT="66675" marB="66675" anchor="ctr">
                    <a:solidFill>
                      <a:srgbClr val="F50045"/>
                    </a:solidFill>
                  </a:tcPr>
                </a:tc>
                <a:tc>
                  <a:txBody>
                    <a:bodyPr wrap="none"/>
                    <a:lstStyle/>
                    <a:p>
                      <a:pPr eaLnBrk="0">
                        <a:lnSpc>
                          <a:spcPct val="112000"/>
                        </a:lnSpc>
                        <a:spcBef>
                          <a:spcPts val="0"/>
                        </a:spcBef>
                        <a:spcAft>
                          <a:spcPts val="0"/>
                        </a:spcAft>
                      </a:pPr>
                      <a:r>
                        <a:rPr sz="1575" b="1">
                          <a:solidFill>
                            <a:srgbClr val="FFFFFF"/>
                          </a:solidFill>
                          <a:latin typeface="Noto Sans KR"/>
                        </a:rPr>
                        <a:t>산출근거</a:t>
                      </a:r>
                    </a:p>
                  </a:txBody>
                  <a:tcPr marL="95250" marR="95250" marT="66675" marB="66675" anchor="ctr">
                    <a:solidFill>
                      <a:srgbClr val="36A69C"/>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참여 혜택</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3,487건 × 10,000원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현장 운영·정산</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21,000,000원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max(월 20인일 × 3, 3,487건 ÷ 25건/인일 올림) = 140인일 × 150,000원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신청·증빙 시스템</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8,000,000원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기존 시스템 설정 1식 × 800만원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홍보·참여처 안내</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5,000,000원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콘텐츠·안내물 1식 × 500만원</a:t>
                      </a:r>
                    </a:p>
                  </a:txBody>
                  <a:tcPr marL="95250" marR="95250" marT="66675" marB="66675" anchor="ctr">
                    <a:solidFill>
                      <a:srgbClr val="FBEFF2"/>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성과 집계·검토</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3,000,000원</a:t>
                      </a:r>
                    </a:p>
                  </a:txBody>
                  <a:tcPr marL="95250" marR="95250" marT="66675" marB="66675" anchor="ctr">
                    <a:solidFill>
                      <a:srgbClr val="FFFFFF"/>
                    </a:solidFill>
                  </a:tcPr>
                </a:tc>
                <a:tc>
                  <a:txBody>
                    <a:bodyPr wrap="none"/>
                    <a:lstStyle/>
                    <a:p>
                      <a:pPr eaLnBrk="0">
                        <a:lnSpc>
                          <a:spcPct val="112000"/>
                        </a:lnSpc>
                        <a:spcBef>
                          <a:spcPts val="0"/>
                        </a:spcBef>
                        <a:spcAft>
                          <a:spcPts val="0"/>
                        </a:spcAft>
                      </a:pPr>
                      <a:r>
                        <a:rPr sz="1575" b="0">
                          <a:solidFill>
                            <a:srgbClr val="202124"/>
                          </a:solidFill>
                          <a:latin typeface="Noto Sans KR"/>
                        </a:rPr>
                        <a:t>자료 정리·평가 1식 × 300만원</a:t>
                      </a:r>
                    </a:p>
                  </a:txBody>
                  <a:tcPr marL="95250" marR="95250" marT="66675" marB="66675" anchor="ctr">
                    <a:solidFill>
                      <a:srgbClr val="FFFFFF"/>
                    </a:solidFill>
                  </a:tcPr>
                </a:tc>
              </a:tr>
              <a:tr h="555625">
                <a:tc>
                  <a:txBody>
                    <a:bodyPr wrap="none"/>
                    <a:lstStyle/>
                    <a:p>
                      <a:pPr eaLnBrk="0">
                        <a:lnSpc>
                          <a:spcPct val="112000"/>
                        </a:lnSpc>
                        <a:spcBef>
                          <a:spcPts val="0"/>
                        </a:spcBef>
                        <a:spcAft>
                          <a:spcPts val="0"/>
                        </a:spcAft>
                      </a:pPr>
                      <a:r>
                        <a:rPr sz="1575" b="1">
                          <a:solidFill>
                            <a:srgbClr val="202124"/>
                          </a:solidFill>
                          <a:latin typeface="Noto Sans KR"/>
                        </a:rPr>
                        <a:t>예비비</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7,187,000원</a:t>
                      </a:r>
                    </a:p>
                  </a:txBody>
                  <a:tcPr marL="95250" marR="95250" marT="66675" marB="66675" anchor="ctr">
                    <a:solidFill>
                      <a:srgbClr val="FBEFF2"/>
                    </a:solidFill>
                  </a:tcPr>
                </a:tc>
                <a:tc>
                  <a:txBody>
                    <a:bodyPr wrap="none"/>
                    <a:lstStyle/>
                    <a:p>
                      <a:pPr eaLnBrk="0">
                        <a:lnSpc>
                          <a:spcPct val="112000"/>
                        </a:lnSpc>
                        <a:spcBef>
                          <a:spcPts val="0"/>
                        </a:spcBef>
                        <a:spcAft>
                          <a:spcPts val="0"/>
                        </a:spcAft>
                      </a:pPr>
                      <a:r>
                        <a:rPr sz="1575" b="0">
                          <a:solidFill>
                            <a:srgbClr val="202124"/>
                          </a:solidFill>
                          <a:latin typeface="Noto Sans KR"/>
                        </a:rPr>
                        <a:t>직접비 7,187만원 × 10%</a:t>
                      </a:r>
                    </a:p>
                  </a:txBody>
                  <a:tcPr marL="95250" marR="95250" marT="66675" marB="66675" anchor="ctr">
                    <a:solidFill>
                      <a:srgbClr val="FBEFF2"/>
                    </a:solidFill>
                  </a:tcPr>
                </a:tc>
              </a:tr>
            </a:tbl>
          </a:graphicData>
        </a:graphic>
      </p:graphicFrame>
      <p:sp xmlns:a="http://schemas.openxmlformats.org/drawingml/2006/main">
        <p:nvSpPr>
          <p:cNvPr id="7" name="estimate-method"/>
          <p:cNvSpPr txBox="1"/>
          <p:nvPr/>
        </p:nvSpPr>
        <p:spPr>
          <a:xfrm>
            <a:off x="1009650" y="6858000"/>
            <a:ext cx="13220700" cy="1009650"/>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사업기간 추가 방문 목표 348,601명 × 시범 담당 비중 1% → 3,487건(올림). 1%는 직접 운영할 참여량 배분 가정이며 전환율 예측이 아닙니다.</a:t>
            </a:r>
          </a:p>
          <a:p>
            <a:pPr eaLnBrk="0">
              <a:lnSpc>
                <a:spcPts val="1781"/>
              </a:lnSpc>
              <a:spcBef>
                <a:spcPts val="0"/>
              </a:spcBef>
              <a:spcAft>
                <a:spcPts val="0"/>
              </a:spcAft>
            </a:pPr>
            <a:r>
              <a:rPr sz="1425" b="0">
                <a:solidFill>
                  <a:srgbClr val="62666C"/>
                </a:solidFill>
                <a:latin typeface="Noto Sans KR"/>
              </a:rPr>
              <a:t>직접비 = 혜택 + 운영·정산 + 시스템 + 홍보 + 평가; 예비비 = 직접비 × 10%. 단가와 처리량은 기획 가정입니다.</a:t>
            </a:r>
          </a:p>
        </p:txBody>
      </p:sp>
      <p:sp xmlns:a="http://schemas.openxmlformats.org/drawingml/2006/main">
        <p:nvSpPr>
          <p:cNvPr id="8" name="estimate-note"/>
          <p:cNvSpPr txBox="1"/>
          <p:nvPr/>
        </p:nvSpPr>
        <p:spPr>
          <a:xfrm>
            <a:off x="1009650" y="8077200"/>
            <a:ext cx="13220700" cy="361950"/>
          </a:xfrm>
          <a:prstGeom prst="rect">
            <a:avLst/>
          </a:prstGeom>
          <a:noFill/>
        </p:spPr>
        <p:txBody>
          <a:bodyPr wrap="none" lIns="57150" rIns="57150" tIns="38100" bIns="38100" anchor="t">
            <a:noAutofit/>
          </a:bodyPr>
          <a:lstStyle/>
          <a:p>
            <a:pPr eaLnBrk="0">
              <a:lnSpc>
                <a:spcPts val="1687"/>
              </a:lnSpc>
              <a:spcBef>
                <a:spcPts val="0"/>
              </a:spcBef>
              <a:spcAft>
                <a:spcPts val="0"/>
              </a:spcAft>
            </a:pPr>
            <a:r>
              <a:rPr sz="1350" b="0">
                <a:solidFill>
                  <a:srgbClr val="F50045"/>
                </a:solidFill>
                <a:latin typeface="Noto Sans KR"/>
              </a:rPr>
              <a:t>예상 견적이며 실제 액수와 다를 수 있습니다. 세금 포함 여부·업무 범위·수량·단가는 계약 전에 조정합니다.</a:t>
            </a:r>
          </a:p>
        </p:txBody>
      </p:sp>
      <p:sp xmlns:a="http://schemas.openxmlformats.org/drawingml/2006/main">
        <p:nvSpPr>
          <p:cNvPr id="10"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4. 예상 견적</a:t>
            </a:r>
          </a:p>
        </p:txBody>
      </p:sp>
      <p:sp xmlns:a="http://schemas.openxmlformats.org/drawingml/2006/main">
        <p:nvSpPr>
          <p:cNvPr id="11"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11 / 15</a:t>
            </a:r>
          </a:p>
        </p:txBody>
      </p:sp>
    </p:spTree>
    <p:extLst>
      <p:ext uri="{BB962C8B-B14F-4D97-AF65-F5344CB8AC3E}">
        <p14:creationId xmlns:p14="http://schemas.microsoft.com/office/powerpoint/2010/main" val="1823133345"/>
      </p:ext>
    </p:extLst>
  </p:cSld>
</p:sld>
</file>

<file path=ppt/slides/slide11.xml><?xml version="1.0" encoding="utf-8"?>
<p:sld xmlns:p="http://schemas.openxmlformats.org/presentationml/2006/main">
  <p:cSld>
    <p:bg>
      <p:bgPr>
        <a:solidFill xmlns:a="http://schemas.openxmlformats.org/drawingml/2006/main">
          <a:srgbClr val="F3F3F3"/>
        </a:solidFill>
      </p:bgPr>
    </p:bg>
    <p:spTree>
      <p:nvGrpSpPr>
        <p:cNvPr id="1" name=""/>
        <p:cNvGrpSpPr/>
        <p:nvPr/>
      </p:nvGrpSpPr>
      <p:grpSpPr>
        <a:xfrm xmlns:a="http://schemas.openxmlformats.org/drawingml/2006/main"/>
      </p:grpSpPr>
      <p:sp xmlns:a="http://schemas.openxmlformats.org/drawingml/2006/main">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6.1 근거·데이터·출처</a:t>
            </a:r>
          </a:p>
        </p:txBody>
      </p:sp>
      <p:sp xmlns:a="http://schemas.openxmlformats.org/drawingml/2006/main">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1/2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xmlns:a="http://schemas.openxmlformats.org/drawingml/2006/main">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0="http://schemas.openxmlformats.org/officeDocument/2006/relationships" ns0:id="rId2"/>
              </a:rPr>
              <a:t>관측 데이터 D01 순 방문자 수 및 숙박 비율 (이동통신</a:t>
            </a:r>
          </a:p>
          <a:p>
            <a:pPr eaLnBrk="0">
              <a:lnSpc>
                <a:spcPts val="1265"/>
              </a:lnSpc>
              <a:spcBef>
                <a:spcPts val="0"/>
              </a:spcBef>
              <a:spcAft>
                <a:spcPts val="0"/>
              </a:spcAft>
            </a:pPr>
            <a:r>
              <a:rPr sz="1012" b="0" u="none">
                <a:solidFill>
                  <a:srgbClr val="62666C"/>
                </a:solidFill>
                <a:latin typeface="Noto Sans KR"/>
                <a:hlinkClick xmlns:ns1="http://schemas.openxmlformats.org/officeDocument/2006/relationships" ns1:id="rId2"/>
              </a:rPr>
              <a:t>기반 외지인) 2026-06</a:t>
            </a:r>
          </a:p>
        </p:txBody>
      </p:sp>
      <p:sp xmlns:a="http://schemas.openxmlformats.org/drawingml/2006/main">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http://schemas.openxmlformats.org/officeDocument/2006/relationships" ns2:id="rId2"/>
              </a:rPr>
              <a:t>관측 데이터 D02 월간 순 방문자 수 (이동통신 기반 외지인) 2026-06</a:t>
            </a:r>
          </a:p>
        </p:txBody>
      </p:sp>
      <p:sp xmlns:a="http://schemas.openxmlformats.org/drawingml/2006/main">
        <p:nvSpPr>
          <p:cNvPr id="7" name="reference-2"/>
          <p:cNvSpPr txBox="1"/>
          <p:nvPr/>
        </p:nvSpPr>
        <p:spPr>
          <a:xfrm>
            <a:off x="1009650" y="3343275"/>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3="http://schemas.openxmlformats.org/officeDocument/2006/relationships" ns3:id="rId2"/>
              </a:rPr>
              <a:t>관측 데이터 D03 관광소비 추이_외지인 2026-06</a:t>
            </a:r>
          </a:p>
        </p:txBody>
      </p:sp>
      <p:sp xmlns:a="http://schemas.openxmlformats.org/drawingml/2006/main">
        <p:nvSpPr>
          <p:cNvPr id="8" name="reference-3"/>
          <p:cNvSpPr txBox="1"/>
          <p:nvPr/>
        </p:nvSpPr>
        <p:spPr>
          <a:xfrm>
            <a:off x="1009650" y="36480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4="http://schemas.openxmlformats.org/officeDocument/2006/relationships" ns4:id="rId2"/>
              </a:rPr>
              <a:t>관측 데이터 D04 숙박방문자 비율 추이 (이동통신</a:t>
            </a:r>
          </a:p>
          <a:p>
            <a:pPr eaLnBrk="0">
              <a:lnSpc>
                <a:spcPts val="1265"/>
              </a:lnSpc>
              <a:spcBef>
                <a:spcPts val="0"/>
              </a:spcBef>
              <a:spcAft>
                <a:spcPts val="0"/>
              </a:spcAft>
            </a:pPr>
            <a:r>
              <a:rPr sz="1012" b="0" u="none">
                <a:solidFill>
                  <a:srgbClr val="62666C"/>
                </a:solidFill>
                <a:latin typeface="Noto Sans KR"/>
                <a:hlinkClick xmlns:ns5="http://schemas.openxmlformats.org/officeDocument/2006/relationships" ns5:id="rId2"/>
              </a:rPr>
              <a:t>기반 외지인) 2026-06</a:t>
            </a:r>
          </a:p>
        </p:txBody>
      </p:sp>
      <p:sp xmlns:a="http://schemas.openxmlformats.org/drawingml/2006/main">
        <p:nvSpPr>
          <p:cNvPr id="9" name="reference-4"/>
          <p:cNvSpPr txBox="1"/>
          <p:nvPr/>
        </p:nvSpPr>
        <p:spPr>
          <a:xfrm>
            <a:off x="100965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6="http://schemas.openxmlformats.org/officeDocument/2006/relationships" ns6:id="rId2"/>
              </a:rPr>
              <a:t>관측 데이터 D05 평균 숙박일 (이동통신 기반 외지인) 2026-06</a:t>
            </a:r>
          </a:p>
        </p:txBody>
      </p:sp>
      <p:sp xmlns:a="http://schemas.openxmlformats.org/drawingml/2006/main">
        <p:nvSpPr>
          <p:cNvPr id="10" name="reference-5"/>
          <p:cNvSpPr txBox="1"/>
          <p:nvPr/>
        </p:nvSpPr>
        <p:spPr>
          <a:xfrm>
            <a:off x="100965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7="http://schemas.openxmlformats.org/officeDocument/2006/relationships" ns7:id="rId2"/>
              </a:rPr>
              <a:t>관측 데이터 D06 내비게이션 목적지 유형별 검색량 2026-06</a:t>
            </a:r>
          </a:p>
        </p:txBody>
      </p:sp>
      <p:sp xmlns:a="http://schemas.openxmlformats.org/drawingml/2006/main">
        <p:nvSpPr>
          <p:cNvPr id="11" name="reference-6"/>
          <p:cNvSpPr txBox="1"/>
          <p:nvPr/>
        </p:nvSpPr>
        <p:spPr>
          <a:xfrm>
            <a:off x="100965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xmlns:ns8="http://schemas.openxmlformats.org/officeDocument/2006/relationships" ns8:id="rId2"/>
              </a:rPr>
              <a:t>관측 데이터 D07 SNS 언급량 2026-06</a:t>
            </a:r>
          </a:p>
        </p:txBody>
      </p:sp>
      <p:sp xmlns:a="http://schemas.openxmlformats.org/drawingml/2006/main">
        <p:nvSpPr>
          <p:cNvPr id="12" name="reference-7"/>
          <p:cNvSpPr txBox="1"/>
          <p:nvPr/>
        </p:nvSpPr>
        <p:spPr>
          <a:xfrm>
            <a:off x="1009650" y="4995862"/>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9="http://schemas.openxmlformats.org/officeDocument/2006/relationships" ns9:id="rId2"/>
              </a:rPr>
              <a:t>관측 데이터 D08 한국관광 데이터랩 공식 다운로드 ·</a:t>
            </a:r>
          </a:p>
          <a:p>
            <a:pPr eaLnBrk="0">
              <a:lnSpc>
                <a:spcPts val="1359"/>
              </a:lnSpc>
              <a:spcBef>
                <a:spcPts val="0"/>
              </a:spcBef>
              <a:spcAft>
                <a:spcPts val="0"/>
              </a:spcAft>
            </a:pPr>
            <a:r>
              <a:rPr sz="1087" b="0" u="none">
                <a:solidFill>
                  <a:srgbClr val="62666C"/>
                </a:solidFill>
                <a:latin typeface="Noto Sans KR"/>
                <a:hlinkClick xmlns:ns10="http://schemas.openxmlformats.org/officeDocument/2006/relationships" ns10:id="rId2"/>
              </a:rPr>
              <a:t>제주특별자치도_제주시/방문자/2026_01_06.zip 2025-07 ~ 2026-06</a:t>
            </a:r>
          </a:p>
        </p:txBody>
      </p:sp>
      <p:sp xmlns:a="http://schemas.openxmlformats.org/drawingml/2006/main">
        <p:nvSpPr>
          <p:cNvPr id="13" name="reference-8"/>
          <p:cNvSpPr txBox="1"/>
          <p:nvPr/>
        </p:nvSpPr>
        <p:spPr>
          <a:xfrm>
            <a:off x="1009650" y="5607844"/>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1="http://schemas.openxmlformats.org/officeDocument/2006/relationships" ns11:id="rId2"/>
              </a:rPr>
              <a:t>관측 데이터 D09 한국관광 데이터랩 공식 다운로드 ·</a:t>
            </a:r>
          </a:p>
          <a:p>
            <a:pPr eaLnBrk="0">
              <a:lnSpc>
                <a:spcPts val="1312"/>
              </a:lnSpc>
              <a:spcBef>
                <a:spcPts val="0"/>
              </a:spcBef>
              <a:spcAft>
                <a:spcPts val="0"/>
              </a:spcAft>
            </a:pPr>
            <a:r>
              <a:rPr sz="1050" b="0" u="none">
                <a:solidFill>
                  <a:srgbClr val="62666C"/>
                </a:solidFill>
                <a:latin typeface="Noto Sans KR"/>
                <a:hlinkClick xmlns:ns12="http://schemas.openxmlformats.org/officeDocument/2006/relationships" ns12:id="rId2"/>
              </a:rPr>
              <a:t>제주특별자치도_제주시/숙박_체류시간/2026_01_06.zip</a:t>
            </a:r>
          </a:p>
          <a:p>
            <a:pPr eaLnBrk="0">
              <a:lnSpc>
                <a:spcPts val="1312"/>
              </a:lnSpc>
              <a:spcBef>
                <a:spcPts val="0"/>
              </a:spcBef>
              <a:spcAft>
                <a:spcPts val="0"/>
              </a:spcAft>
            </a:pPr>
            <a:r>
              <a:rPr sz="1050" b="0" u="none">
                <a:solidFill>
                  <a:srgbClr val="62666C"/>
                </a:solidFill>
                <a:latin typeface="Noto Sans KR"/>
                <a:hlinkClick xmlns:ns13="http://schemas.openxmlformats.org/officeDocument/2006/relationships" ns13:id="rId2"/>
              </a:rPr>
              <a:t>2025-07 ~ 2026-06</a:t>
            </a:r>
          </a:p>
        </p:txBody>
      </p:sp>
      <p:sp xmlns:a="http://schemas.openxmlformats.org/drawingml/2006/main">
        <p:nvSpPr>
          <p:cNvPr id="14" name="reference-9"/>
          <p:cNvSpPr txBox="1"/>
          <p:nvPr/>
        </p:nvSpPr>
        <p:spPr>
          <a:xfrm>
            <a:off x="1009650" y="6219825"/>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4="http://schemas.openxmlformats.org/officeDocument/2006/relationships" ns14:id="rId2"/>
              </a:rPr>
              <a:t>관측 데이터 D10 한국관광 데이터랩 공식 다운로드 ·</a:t>
            </a:r>
          </a:p>
          <a:p>
            <a:pPr eaLnBrk="0">
              <a:lnSpc>
                <a:spcPts val="1312"/>
              </a:lnSpc>
              <a:spcBef>
                <a:spcPts val="0"/>
              </a:spcBef>
              <a:spcAft>
                <a:spcPts val="0"/>
              </a:spcAft>
            </a:pPr>
            <a:r>
              <a:rPr sz="1050" b="0" u="none">
                <a:solidFill>
                  <a:srgbClr val="62666C"/>
                </a:solidFill>
                <a:latin typeface="Noto Sans KR"/>
                <a:hlinkClick xmlns:ns15="http://schemas.openxmlformats.org/officeDocument/2006/relationships" ns15:id="rId2"/>
              </a:rPr>
              <a:t>제주특별자치도_제주시/숙박_체류시간/2025_01_12.zip</a:t>
            </a:r>
          </a:p>
          <a:p>
            <a:pPr eaLnBrk="0">
              <a:lnSpc>
                <a:spcPts val="1312"/>
              </a:lnSpc>
              <a:spcBef>
                <a:spcPts val="0"/>
              </a:spcBef>
              <a:spcAft>
                <a:spcPts val="0"/>
              </a:spcAft>
            </a:pPr>
            <a:r>
              <a:rPr sz="1050" b="0" u="none">
                <a:solidFill>
                  <a:srgbClr val="62666C"/>
                </a:solidFill>
                <a:latin typeface="Noto Sans KR"/>
                <a:hlinkClick xmlns:ns16="http://schemas.openxmlformats.org/officeDocument/2006/relationships" ns16:id="rId2"/>
              </a:rPr>
              <a:t>2025-07 ~ 2026-06</a:t>
            </a:r>
          </a:p>
        </p:txBody>
      </p:sp>
      <p:sp xmlns:a="http://schemas.openxmlformats.org/drawingml/2006/main">
        <p:nvSpPr>
          <p:cNvPr id="15" name="reference-10"/>
          <p:cNvSpPr txBox="1"/>
          <p:nvPr/>
        </p:nvSpPr>
        <p:spPr>
          <a:xfrm>
            <a:off x="1009650" y="683180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17="http://schemas.openxmlformats.org/officeDocument/2006/relationships" ns17:id="rId2"/>
              </a:rPr>
              <a:t>관측 데이터 D11 한국관광 데이터랩 공식 다운로드 ·</a:t>
            </a:r>
          </a:p>
          <a:p>
            <a:pPr eaLnBrk="0">
              <a:lnSpc>
                <a:spcPts val="1312"/>
              </a:lnSpc>
              <a:spcBef>
                <a:spcPts val="0"/>
              </a:spcBef>
              <a:spcAft>
                <a:spcPts val="0"/>
              </a:spcAft>
            </a:pPr>
            <a:r>
              <a:rPr sz="1050" b="0" u="none">
                <a:solidFill>
                  <a:srgbClr val="62666C"/>
                </a:solidFill>
                <a:latin typeface="Noto Sans KR"/>
                <a:hlinkClick xmlns:ns18="http://schemas.openxmlformats.org/officeDocument/2006/relationships" ns18:id="rId2"/>
              </a:rPr>
              <a:t>제주특별자치도_제주시/관광소비/2026_01_06.zip</a:t>
            </a:r>
          </a:p>
          <a:p>
            <a:pPr eaLnBrk="0">
              <a:lnSpc>
                <a:spcPts val="1312"/>
              </a:lnSpc>
              <a:spcBef>
                <a:spcPts val="0"/>
              </a:spcBef>
              <a:spcAft>
                <a:spcPts val="0"/>
              </a:spcAft>
            </a:pPr>
            <a:r>
              <a:rPr sz="1050" b="0" u="none">
                <a:solidFill>
                  <a:srgbClr val="62666C"/>
                </a:solidFill>
                <a:latin typeface="Noto Sans KR"/>
                <a:hlinkClick xmlns:ns19="http://schemas.openxmlformats.org/officeDocument/2006/relationships" ns19:id="rId2"/>
              </a:rPr>
              <a:t>2025-07 ~ 2026-06</a:t>
            </a:r>
          </a:p>
        </p:txBody>
      </p:sp>
      <p:sp xmlns:a="http://schemas.openxmlformats.org/drawingml/2006/main">
        <p:nvSpPr>
          <p:cNvPr id="16" name="reference-11"/>
          <p:cNvSpPr txBox="1"/>
          <p:nvPr/>
        </p:nvSpPr>
        <p:spPr>
          <a:xfrm>
            <a:off x="1009650" y="7443788"/>
            <a:ext cx="4248150" cy="583406"/>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u="none">
                <a:solidFill>
                  <a:srgbClr val="62666C"/>
                </a:solidFill>
                <a:latin typeface="Noto Sans KR"/>
                <a:hlinkClick xmlns:ns20="http://schemas.openxmlformats.org/officeDocument/2006/relationships" ns20:id="rId2"/>
              </a:rPr>
              <a:t>관측 데이터 D12 한국관광 데이터랩 공식 다운로드 ·</a:t>
            </a:r>
          </a:p>
          <a:p>
            <a:pPr eaLnBrk="0">
              <a:lnSpc>
                <a:spcPts val="1359"/>
              </a:lnSpc>
              <a:spcBef>
                <a:spcPts val="0"/>
              </a:spcBef>
              <a:spcAft>
                <a:spcPts val="0"/>
              </a:spcAft>
            </a:pPr>
            <a:r>
              <a:rPr sz="1087" b="0" u="none">
                <a:solidFill>
                  <a:srgbClr val="62666C"/>
                </a:solidFill>
                <a:latin typeface="Noto Sans KR"/>
                <a:hlinkClick xmlns:ns21="http://schemas.openxmlformats.org/officeDocument/2006/relationships" ns21:id="rId2"/>
              </a:rPr>
              <a:t>제주특별자치도_제주시/방문자/2025_01_12.zip 2025-07 ~ 2026-06</a:t>
            </a:r>
          </a:p>
        </p:txBody>
      </p:sp>
      <p:sp xmlns:a="http://schemas.openxmlformats.org/drawingml/2006/main">
        <p:nvSpPr>
          <p:cNvPr id="17" name="reference-12"/>
          <p:cNvSpPr txBox="1"/>
          <p:nvPr/>
        </p:nvSpPr>
        <p:spPr>
          <a:xfrm>
            <a:off x="548640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2="http://schemas.openxmlformats.org/officeDocument/2006/relationships" ns22:id="rId2"/>
              </a:rPr>
              <a:t>관측 데이터 D13 한국관광 데이터랩 공식 다운로드 ·</a:t>
            </a:r>
          </a:p>
          <a:p>
            <a:pPr eaLnBrk="0">
              <a:lnSpc>
                <a:spcPts val="1312"/>
              </a:lnSpc>
              <a:spcBef>
                <a:spcPts val="0"/>
              </a:spcBef>
              <a:spcAft>
                <a:spcPts val="0"/>
              </a:spcAft>
            </a:pPr>
            <a:r>
              <a:rPr sz="1050" b="0" u="none">
                <a:solidFill>
                  <a:srgbClr val="62666C"/>
                </a:solidFill>
                <a:latin typeface="Noto Sans KR"/>
                <a:hlinkClick xmlns:ns23="http://schemas.openxmlformats.org/officeDocument/2006/relationships" ns23:id="rId2"/>
              </a:rPr>
              <a:t>제주특별자치도_제주시/관광소비/2025_01_12.zip</a:t>
            </a:r>
          </a:p>
          <a:p>
            <a:pPr eaLnBrk="0">
              <a:lnSpc>
                <a:spcPts val="1312"/>
              </a:lnSpc>
              <a:spcBef>
                <a:spcPts val="0"/>
              </a:spcBef>
              <a:spcAft>
                <a:spcPts val="0"/>
              </a:spcAft>
            </a:pPr>
            <a:r>
              <a:rPr sz="1050" b="0" u="none">
                <a:solidFill>
                  <a:srgbClr val="62666C"/>
                </a:solidFill>
                <a:latin typeface="Noto Sans KR"/>
                <a:hlinkClick xmlns:ns24="http://schemas.openxmlformats.org/officeDocument/2006/relationships" ns24:id="rId2"/>
              </a:rPr>
              <a:t>2025-07 ~ 2026-06</a:t>
            </a:r>
          </a:p>
        </p:txBody>
      </p:sp>
      <p:sp xmlns:a="http://schemas.openxmlformats.org/drawingml/2006/main">
        <p:nvSpPr>
          <p:cNvPr id="18" name="reference-13"/>
          <p:cNvSpPr txBox="1"/>
          <p:nvPr/>
        </p:nvSpPr>
        <p:spPr>
          <a:xfrm>
            <a:off x="548640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5="http://schemas.openxmlformats.org/officeDocument/2006/relationships" ns25:id="rId2"/>
              </a:rPr>
              <a:t>관측 데이터 D14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26="http://schemas.openxmlformats.org/officeDocument/2006/relationships" ns26:id="rId2"/>
              </a:rPr>
              <a:t>이동통신/내국인/지역별</a:t>
            </a:r>
          </a:p>
          <a:p>
            <a:pPr eaLnBrk="0">
              <a:lnSpc>
                <a:spcPts val="1312"/>
              </a:lnSpc>
              <a:spcBef>
                <a:spcPts val="0"/>
              </a:spcBef>
              <a:spcAft>
                <a:spcPts val="0"/>
              </a:spcAft>
            </a:pPr>
            <a:r>
              <a:rPr sz="1050" b="0" u="none">
                <a:solidFill>
                  <a:srgbClr val="62666C"/>
                </a:solidFill>
                <a:latin typeface="Noto Sans KR"/>
                <a:hlinkClick xmlns:ns27="http://schemas.openxmlformats.org/officeDocument/2006/relationships" ns27:id="rId2"/>
              </a:rPr>
              <a:t>방문자수/20260820140607__202601-202606_데이터랩_다운로드.zi</a:t>
            </a:r>
          </a:p>
          <a:p>
            <a:pPr eaLnBrk="0">
              <a:lnSpc>
                <a:spcPts val="1312"/>
              </a:lnSpc>
              <a:spcBef>
                <a:spcPts val="0"/>
              </a:spcBef>
              <a:spcAft>
                <a:spcPts val="0"/>
              </a:spcAft>
            </a:pPr>
            <a:r>
              <a:rPr sz="1050" b="0" u="none">
                <a:solidFill>
                  <a:srgbClr val="62666C"/>
                </a:solidFill>
                <a:latin typeface="Noto Sans KR"/>
                <a:hlinkClick xmlns:ns28="http://schemas.openxmlformats.org/officeDocument/2006/relationships" ns28:id="rId2"/>
              </a:rPr>
              <a:t>p 2026-01 ~ 2026-06</a:t>
            </a:r>
          </a:p>
        </p:txBody>
      </p:sp>
      <p:sp xmlns:a="http://schemas.openxmlformats.org/drawingml/2006/main">
        <p:nvSpPr>
          <p:cNvPr id="19" name="reference-14"/>
          <p:cNvSpPr txBox="1"/>
          <p:nvPr/>
        </p:nvSpPr>
        <p:spPr>
          <a:xfrm>
            <a:off x="5486400" y="3879056"/>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29="http://schemas.openxmlformats.org/officeDocument/2006/relationships" ns29:id="rId2"/>
              </a:rPr>
              <a:t>관측 데이터 D15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0="http://schemas.openxmlformats.org/officeDocument/2006/relationships" ns30:id="rId2"/>
              </a:rPr>
              <a:t>이동통신/외국인/20260820141710_전국_202601-202606_데이터랩_</a:t>
            </a:r>
          </a:p>
          <a:p>
            <a:pPr eaLnBrk="0">
              <a:lnSpc>
                <a:spcPts val="1312"/>
              </a:lnSpc>
              <a:spcBef>
                <a:spcPts val="0"/>
              </a:spcBef>
              <a:spcAft>
                <a:spcPts val="0"/>
              </a:spcAft>
            </a:pPr>
            <a:r>
              <a:rPr sz="1050" b="0" u="none">
                <a:solidFill>
                  <a:srgbClr val="62666C"/>
                </a:solidFill>
                <a:latin typeface="Noto Sans KR"/>
                <a:hlinkClick xmlns:ns31="http://schemas.openxmlformats.org/officeDocument/2006/relationships" ns31:id="rId2"/>
              </a:rPr>
              <a:t>다운로드.zip 2026-01 ~ 2026-06</a:t>
            </a:r>
          </a:p>
        </p:txBody>
      </p:sp>
      <p:sp xmlns:a="http://schemas.openxmlformats.org/drawingml/2006/main">
        <p:nvSpPr>
          <p:cNvPr id="20" name="reference-15"/>
          <p:cNvSpPr txBox="1"/>
          <p:nvPr/>
        </p:nvSpPr>
        <p:spPr>
          <a:xfrm>
            <a:off x="5486400" y="449103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2="http://schemas.openxmlformats.org/officeDocument/2006/relationships" ns32:id="rId2"/>
              </a:rPr>
              <a:t>관측 데이터 D16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3="http://schemas.openxmlformats.org/officeDocument/2006/relationships" ns33:id="rId2"/>
              </a:rPr>
              <a:t>신용카드/내국인/지역별</a:t>
            </a:r>
          </a:p>
          <a:p>
            <a:pPr eaLnBrk="0">
              <a:lnSpc>
                <a:spcPts val="1312"/>
              </a:lnSpc>
              <a:spcBef>
                <a:spcPts val="0"/>
              </a:spcBef>
              <a:spcAft>
                <a:spcPts val="0"/>
              </a:spcAft>
            </a:pPr>
            <a:r>
              <a:rPr sz="1050" b="0" u="none">
                <a:solidFill>
                  <a:srgbClr val="62666C"/>
                </a:solidFill>
                <a:latin typeface="Noto Sans KR"/>
                <a:hlinkClick xmlns:ns34="http://schemas.openxmlformats.org/officeDocument/2006/relationships" ns34:id="rId2"/>
              </a:rPr>
              <a:t>관광지출액/20260820140046__202601-202606_데이터랩_다운로드.</a:t>
            </a:r>
          </a:p>
          <a:p>
            <a:pPr eaLnBrk="0">
              <a:lnSpc>
                <a:spcPts val="1312"/>
              </a:lnSpc>
              <a:spcBef>
                <a:spcPts val="0"/>
              </a:spcBef>
              <a:spcAft>
                <a:spcPts val="0"/>
              </a:spcAft>
            </a:pPr>
            <a:r>
              <a:rPr sz="1050" b="0" u="none">
                <a:solidFill>
                  <a:srgbClr val="62666C"/>
                </a:solidFill>
                <a:latin typeface="Noto Sans KR"/>
                <a:hlinkClick xmlns:ns35="http://schemas.openxmlformats.org/officeDocument/2006/relationships" ns35:id="rId2"/>
              </a:rPr>
              <a:t>zip 2026-01 ~ 2026-06</a:t>
            </a:r>
          </a:p>
        </p:txBody>
      </p:sp>
      <p:sp xmlns:a="http://schemas.openxmlformats.org/drawingml/2006/main">
        <p:nvSpPr>
          <p:cNvPr id="21" name="reference-16"/>
          <p:cNvSpPr txBox="1"/>
          <p:nvPr/>
        </p:nvSpPr>
        <p:spPr>
          <a:xfrm>
            <a:off x="5486400" y="528161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36="http://schemas.openxmlformats.org/officeDocument/2006/relationships" ns36:id="rId2"/>
              </a:rPr>
              <a:t>관측 데이터 D17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37="http://schemas.openxmlformats.org/officeDocument/2006/relationships" ns37:id="rId2"/>
              </a:rPr>
              <a:t>신용카드/외국인/지역별</a:t>
            </a:r>
          </a:p>
          <a:p>
            <a:pPr eaLnBrk="0">
              <a:lnSpc>
                <a:spcPts val="1312"/>
              </a:lnSpc>
              <a:spcBef>
                <a:spcPts val="0"/>
              </a:spcBef>
              <a:spcAft>
                <a:spcPts val="0"/>
              </a:spcAft>
            </a:pPr>
            <a:r>
              <a:rPr sz="1050" b="0" u="none">
                <a:solidFill>
                  <a:srgbClr val="62666C"/>
                </a:solidFill>
                <a:latin typeface="Noto Sans KR"/>
                <a:hlinkClick xmlns:ns38="http://schemas.openxmlformats.org/officeDocument/2006/relationships" ns38:id="rId2"/>
              </a:rPr>
              <a:t>관광지출액/20260820140355__202601-202606_데이터랩_다운로드.</a:t>
            </a:r>
          </a:p>
          <a:p>
            <a:pPr eaLnBrk="0">
              <a:lnSpc>
                <a:spcPts val="1312"/>
              </a:lnSpc>
              <a:spcBef>
                <a:spcPts val="0"/>
              </a:spcBef>
              <a:spcAft>
                <a:spcPts val="0"/>
              </a:spcAft>
            </a:pPr>
            <a:r>
              <a:rPr sz="1050" b="0" u="none">
                <a:solidFill>
                  <a:srgbClr val="62666C"/>
                </a:solidFill>
                <a:latin typeface="Noto Sans KR"/>
                <a:hlinkClick xmlns:ns39="http://schemas.openxmlformats.org/officeDocument/2006/relationships" ns39:id="rId2"/>
              </a:rPr>
              <a:t>zip 2026-01 ~ 2026-06</a:t>
            </a:r>
          </a:p>
        </p:txBody>
      </p:sp>
      <p:sp xmlns:a="http://schemas.openxmlformats.org/drawingml/2006/main">
        <p:nvSpPr>
          <p:cNvPr id="22" name="reference-17"/>
          <p:cNvSpPr txBox="1"/>
          <p:nvPr/>
        </p:nvSpPr>
        <p:spPr>
          <a:xfrm>
            <a:off x="5486400" y="6072188"/>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0="http://schemas.openxmlformats.org/officeDocument/2006/relationships" ns40:id="rId2"/>
              </a:rPr>
              <a:t>관측 데이터 D18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1="http://schemas.openxmlformats.org/officeDocument/2006/relationships" ns41:id="rId2"/>
              </a:rPr>
              <a:t>네비게이션/지역별</a:t>
            </a:r>
          </a:p>
          <a:p>
            <a:pPr eaLnBrk="0">
              <a:lnSpc>
                <a:spcPts val="1312"/>
              </a:lnSpc>
              <a:spcBef>
                <a:spcPts val="0"/>
              </a:spcBef>
              <a:spcAft>
                <a:spcPts val="0"/>
              </a:spcAft>
            </a:pPr>
            <a:r>
              <a:rPr sz="1050" b="0" u="none">
                <a:solidFill>
                  <a:srgbClr val="62666C"/>
                </a:solidFill>
                <a:latin typeface="Noto Sans KR"/>
                <a:hlinkClick xmlns:ns42="http://schemas.openxmlformats.org/officeDocument/2006/relationships" ns42:id="rId2"/>
              </a:rPr>
              <a:t>검색건수/20260820195507__202601-202606_데이터랩_다운로드.zi</a:t>
            </a:r>
          </a:p>
          <a:p>
            <a:pPr eaLnBrk="0">
              <a:lnSpc>
                <a:spcPts val="1312"/>
              </a:lnSpc>
              <a:spcBef>
                <a:spcPts val="0"/>
              </a:spcBef>
              <a:spcAft>
                <a:spcPts val="0"/>
              </a:spcAft>
            </a:pPr>
            <a:r>
              <a:rPr sz="1050" b="0" u="none">
                <a:solidFill>
                  <a:srgbClr val="62666C"/>
                </a:solidFill>
                <a:latin typeface="Noto Sans KR"/>
                <a:hlinkClick xmlns:ns43="http://schemas.openxmlformats.org/officeDocument/2006/relationships" ns43:id="rId2"/>
              </a:rPr>
              <a:t>p 2026-01 ~ 2026-06</a:t>
            </a:r>
          </a:p>
        </p:txBody>
      </p:sp>
      <p:sp xmlns:a="http://schemas.openxmlformats.org/drawingml/2006/main">
        <p:nvSpPr>
          <p:cNvPr id="23" name="reference-18"/>
          <p:cNvSpPr txBox="1"/>
          <p:nvPr/>
        </p:nvSpPr>
        <p:spPr>
          <a:xfrm>
            <a:off x="5486400" y="6862762"/>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4="http://schemas.openxmlformats.org/officeDocument/2006/relationships" ns44:id="rId2"/>
              </a:rPr>
              <a:t>관측 데이터 D19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5="http://schemas.openxmlformats.org/officeDocument/2006/relationships" ns45:id="rId2"/>
              </a:rPr>
              <a:t>이동통신/내국인/지역별</a:t>
            </a:r>
          </a:p>
          <a:p>
            <a:pPr eaLnBrk="0">
              <a:lnSpc>
                <a:spcPts val="1312"/>
              </a:lnSpc>
              <a:spcBef>
                <a:spcPts val="0"/>
              </a:spcBef>
              <a:spcAft>
                <a:spcPts val="0"/>
              </a:spcAft>
            </a:pPr>
            <a:r>
              <a:rPr sz="1050" b="0" u="none">
                <a:solidFill>
                  <a:srgbClr val="62666C"/>
                </a:solidFill>
                <a:latin typeface="Noto Sans KR"/>
                <a:hlinkClick xmlns:ns46="http://schemas.openxmlformats.org/officeDocument/2006/relationships" ns46:id="rId2"/>
              </a:rPr>
              <a:t>방문자수/20260820140614__202501-202512_데이터랩_다운로드.zi</a:t>
            </a:r>
          </a:p>
          <a:p>
            <a:pPr eaLnBrk="0">
              <a:lnSpc>
                <a:spcPts val="1312"/>
              </a:lnSpc>
              <a:spcBef>
                <a:spcPts val="0"/>
              </a:spcBef>
              <a:spcAft>
                <a:spcPts val="0"/>
              </a:spcAft>
            </a:pPr>
            <a:r>
              <a:rPr sz="1050" b="0" u="none">
                <a:solidFill>
                  <a:srgbClr val="62666C"/>
                </a:solidFill>
                <a:latin typeface="Noto Sans KR"/>
                <a:hlinkClick xmlns:ns47="http://schemas.openxmlformats.org/officeDocument/2006/relationships" ns47:id="rId2"/>
              </a:rPr>
              <a:t>p 2026-01 ~ 2026-06</a:t>
            </a:r>
          </a:p>
        </p:txBody>
      </p:sp>
      <p:sp xmlns:a="http://schemas.openxmlformats.org/drawingml/2006/main">
        <p:nvSpPr>
          <p:cNvPr id="24" name="reference-19"/>
          <p:cNvSpPr txBox="1"/>
          <p:nvPr/>
        </p:nvSpPr>
        <p:spPr>
          <a:xfrm>
            <a:off x="9963150" y="2476500"/>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48="http://schemas.openxmlformats.org/officeDocument/2006/relationships" ns48:id="rId2"/>
              </a:rPr>
              <a:t>관측 데이터 D20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49="http://schemas.openxmlformats.org/officeDocument/2006/relationships" ns49:id="rId2"/>
              </a:rPr>
              <a:t>이동통신/외국인/20260820141649_전국_202501-202512_데이터랩_</a:t>
            </a:r>
          </a:p>
          <a:p>
            <a:pPr eaLnBrk="0">
              <a:lnSpc>
                <a:spcPts val="1312"/>
              </a:lnSpc>
              <a:spcBef>
                <a:spcPts val="0"/>
              </a:spcBef>
              <a:spcAft>
                <a:spcPts val="0"/>
              </a:spcAft>
            </a:pPr>
            <a:r>
              <a:rPr sz="1050" b="0" u="none">
                <a:solidFill>
                  <a:srgbClr val="62666C"/>
                </a:solidFill>
                <a:latin typeface="Noto Sans KR"/>
                <a:hlinkClick xmlns:ns50="http://schemas.openxmlformats.org/officeDocument/2006/relationships" ns50:id="rId2"/>
              </a:rPr>
              <a:t>다운로드.zip 2026-01 ~ 2026-06</a:t>
            </a:r>
          </a:p>
        </p:txBody>
      </p:sp>
      <p:sp xmlns:a="http://schemas.openxmlformats.org/drawingml/2006/main">
        <p:nvSpPr>
          <p:cNvPr id="25" name="reference-20"/>
          <p:cNvSpPr txBox="1"/>
          <p:nvPr/>
        </p:nvSpPr>
        <p:spPr>
          <a:xfrm>
            <a:off x="9963150" y="308848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1="http://schemas.openxmlformats.org/officeDocument/2006/relationships" ns51:id="rId2"/>
              </a:rPr>
              <a:t>관측 데이터 D21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2="http://schemas.openxmlformats.org/officeDocument/2006/relationships" ns52:id="rId2"/>
              </a:rPr>
              <a:t>신용카드/내국인/지역별</a:t>
            </a:r>
          </a:p>
          <a:p>
            <a:pPr eaLnBrk="0">
              <a:lnSpc>
                <a:spcPts val="1312"/>
              </a:lnSpc>
              <a:spcBef>
                <a:spcPts val="0"/>
              </a:spcBef>
              <a:spcAft>
                <a:spcPts val="0"/>
              </a:spcAft>
            </a:pPr>
            <a:r>
              <a:rPr sz="1050" b="0" u="none">
                <a:solidFill>
                  <a:srgbClr val="62666C"/>
                </a:solidFill>
                <a:latin typeface="Noto Sans KR"/>
                <a:hlinkClick xmlns:ns53="http://schemas.openxmlformats.org/officeDocument/2006/relationships" ns53:id="rId2"/>
              </a:rPr>
              <a:t>관광지출액/20260820135957__202501-202512_데이터랩_다운로드.</a:t>
            </a:r>
          </a:p>
          <a:p>
            <a:pPr eaLnBrk="0">
              <a:lnSpc>
                <a:spcPts val="1312"/>
              </a:lnSpc>
              <a:spcBef>
                <a:spcPts val="0"/>
              </a:spcBef>
              <a:spcAft>
                <a:spcPts val="0"/>
              </a:spcAft>
            </a:pPr>
            <a:r>
              <a:rPr sz="1050" b="0" u="none">
                <a:solidFill>
                  <a:srgbClr val="62666C"/>
                </a:solidFill>
                <a:latin typeface="Noto Sans KR"/>
                <a:hlinkClick xmlns:ns54="http://schemas.openxmlformats.org/officeDocument/2006/relationships" ns54:id="rId2"/>
              </a:rPr>
              <a:t>zip 2026-01 ~ 2026-06</a:t>
            </a:r>
          </a:p>
        </p:txBody>
      </p:sp>
      <p:sp xmlns:a="http://schemas.openxmlformats.org/drawingml/2006/main">
        <p:nvSpPr>
          <p:cNvPr id="26" name="reference-21"/>
          <p:cNvSpPr txBox="1"/>
          <p:nvPr/>
        </p:nvSpPr>
        <p:spPr>
          <a:xfrm>
            <a:off x="9963150" y="387905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5="http://schemas.openxmlformats.org/officeDocument/2006/relationships" ns55:id="rId2"/>
              </a:rPr>
              <a:t>관측 데이터 D22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56="http://schemas.openxmlformats.org/officeDocument/2006/relationships" ns56:id="rId2"/>
              </a:rPr>
              <a:t>신용카드/외국인/지역별</a:t>
            </a:r>
          </a:p>
          <a:p>
            <a:pPr eaLnBrk="0">
              <a:lnSpc>
                <a:spcPts val="1312"/>
              </a:lnSpc>
              <a:spcBef>
                <a:spcPts val="0"/>
              </a:spcBef>
              <a:spcAft>
                <a:spcPts val="0"/>
              </a:spcAft>
            </a:pPr>
            <a:r>
              <a:rPr sz="1050" b="0" u="none">
                <a:solidFill>
                  <a:srgbClr val="62666C"/>
                </a:solidFill>
                <a:latin typeface="Noto Sans KR"/>
                <a:hlinkClick xmlns:ns57="http://schemas.openxmlformats.org/officeDocument/2006/relationships" ns57:id="rId2"/>
              </a:rPr>
              <a:t>관광지출액/20260820140409__202501-202512_데이터랩_다운로드.</a:t>
            </a:r>
          </a:p>
          <a:p>
            <a:pPr eaLnBrk="0">
              <a:lnSpc>
                <a:spcPts val="1312"/>
              </a:lnSpc>
              <a:spcBef>
                <a:spcPts val="0"/>
              </a:spcBef>
              <a:spcAft>
                <a:spcPts val="0"/>
              </a:spcAft>
            </a:pPr>
            <a:r>
              <a:rPr sz="1050" b="0" u="none">
                <a:solidFill>
                  <a:srgbClr val="62666C"/>
                </a:solidFill>
                <a:latin typeface="Noto Sans KR"/>
                <a:hlinkClick xmlns:ns58="http://schemas.openxmlformats.org/officeDocument/2006/relationships" ns58:id="rId2"/>
              </a:rPr>
              <a:t>zip 2026-01 ~ 2026-06</a:t>
            </a:r>
          </a:p>
        </p:txBody>
      </p:sp>
      <p:sp xmlns:a="http://schemas.openxmlformats.org/drawingml/2006/main">
        <p:nvSpPr>
          <p:cNvPr id="27" name="reference-22"/>
          <p:cNvSpPr txBox="1"/>
          <p:nvPr/>
        </p:nvSpPr>
        <p:spPr>
          <a:xfrm>
            <a:off x="9963150" y="4669631"/>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59="http://schemas.openxmlformats.org/officeDocument/2006/relationships" ns59:id="rId2"/>
              </a:rPr>
              <a:t>관측 데이터 D23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0="http://schemas.openxmlformats.org/officeDocument/2006/relationships" ns60:id="rId2"/>
              </a:rPr>
              <a:t>네비게이션/지역별</a:t>
            </a:r>
          </a:p>
          <a:p>
            <a:pPr eaLnBrk="0">
              <a:lnSpc>
                <a:spcPts val="1312"/>
              </a:lnSpc>
              <a:spcBef>
                <a:spcPts val="0"/>
              </a:spcBef>
              <a:spcAft>
                <a:spcPts val="0"/>
              </a:spcAft>
            </a:pPr>
            <a:r>
              <a:rPr sz="1050" b="0" u="none">
                <a:solidFill>
                  <a:srgbClr val="62666C"/>
                </a:solidFill>
                <a:latin typeface="Noto Sans KR"/>
                <a:hlinkClick xmlns:ns61="http://schemas.openxmlformats.org/officeDocument/2006/relationships" ns61:id="rId2"/>
              </a:rPr>
              <a:t>검색건수/20260820132007__202501-202512_데이터랩_다운로드.zi</a:t>
            </a:r>
          </a:p>
          <a:p>
            <a:pPr eaLnBrk="0">
              <a:lnSpc>
                <a:spcPts val="1312"/>
              </a:lnSpc>
              <a:spcBef>
                <a:spcPts val="0"/>
              </a:spcBef>
              <a:spcAft>
                <a:spcPts val="0"/>
              </a:spcAft>
            </a:pPr>
            <a:r>
              <a:rPr sz="1050" b="0" u="none">
                <a:solidFill>
                  <a:srgbClr val="62666C"/>
                </a:solidFill>
                <a:latin typeface="Noto Sans KR"/>
                <a:hlinkClick xmlns:ns62="http://schemas.openxmlformats.org/officeDocument/2006/relationships" ns62:id="rId2"/>
              </a:rPr>
              <a:t>p 2026-01 ~ 2026-06</a:t>
            </a:r>
          </a:p>
        </p:txBody>
      </p:sp>
      <p:sp xmlns:a="http://schemas.openxmlformats.org/drawingml/2006/main">
        <p:nvSpPr>
          <p:cNvPr id="28" name="reference-23"/>
          <p:cNvSpPr txBox="1"/>
          <p:nvPr/>
        </p:nvSpPr>
        <p:spPr>
          <a:xfrm>
            <a:off x="9963150" y="5460206"/>
            <a:ext cx="4248150" cy="762000"/>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3="http://schemas.openxmlformats.org/officeDocument/2006/relationships" ns63:id="rId2"/>
              </a:rPr>
              <a:t>관측 데이터 D24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4="http://schemas.openxmlformats.org/officeDocument/2006/relationships" ns64:id="rId2"/>
              </a:rPr>
              <a:t>이동통신/내국인/지역별</a:t>
            </a:r>
          </a:p>
          <a:p>
            <a:pPr eaLnBrk="0">
              <a:lnSpc>
                <a:spcPts val="1312"/>
              </a:lnSpc>
              <a:spcBef>
                <a:spcPts val="0"/>
              </a:spcBef>
              <a:spcAft>
                <a:spcPts val="0"/>
              </a:spcAft>
            </a:pPr>
            <a:r>
              <a:rPr sz="1050" b="0" u="none">
                <a:solidFill>
                  <a:srgbClr val="62666C"/>
                </a:solidFill>
                <a:latin typeface="Noto Sans KR"/>
                <a:hlinkClick xmlns:ns65="http://schemas.openxmlformats.org/officeDocument/2006/relationships" ns65:id="rId2"/>
              </a:rPr>
              <a:t>방문자수/20260820140624__202401-202412_데이터랩_다운로드.zi</a:t>
            </a:r>
          </a:p>
          <a:p>
            <a:pPr eaLnBrk="0">
              <a:lnSpc>
                <a:spcPts val="1312"/>
              </a:lnSpc>
              <a:spcBef>
                <a:spcPts val="0"/>
              </a:spcBef>
              <a:spcAft>
                <a:spcPts val="0"/>
              </a:spcAft>
            </a:pPr>
            <a:r>
              <a:rPr sz="1050" b="0" u="none">
                <a:solidFill>
                  <a:srgbClr val="62666C"/>
                </a:solidFill>
                <a:latin typeface="Noto Sans KR"/>
                <a:hlinkClick xmlns:ns66="http://schemas.openxmlformats.org/officeDocument/2006/relationships" ns66:id="rId2"/>
              </a:rPr>
              <a:t>p 2026-01 ~ 2026-06</a:t>
            </a:r>
          </a:p>
        </p:txBody>
      </p:sp>
      <p:sp xmlns:a="http://schemas.openxmlformats.org/drawingml/2006/main">
        <p:nvSpPr>
          <p:cNvPr id="29" name="reference-24"/>
          <p:cNvSpPr txBox="1"/>
          <p:nvPr/>
        </p:nvSpPr>
        <p:spPr>
          <a:xfrm>
            <a:off x="9963150" y="6250781"/>
            <a:ext cx="4248150" cy="583406"/>
          </a:xfrm>
          <a:prstGeom prst="rect">
            <a:avLst/>
          </a:prstGeom>
          <a:noFill/>
        </p:spPr>
        <p:txBody>
          <a:bodyPr wrap="none" lIns="57150" rIns="57150" tIns="38100" bIns="38100" anchor="t">
            <a:noAutofit/>
          </a:bodyPr>
          <a:lstStyle/>
          <a:p>
            <a:pPr eaLnBrk="0">
              <a:lnSpc>
                <a:spcPts val="1312"/>
              </a:lnSpc>
              <a:spcBef>
                <a:spcPts val="0"/>
              </a:spcBef>
              <a:spcAft>
                <a:spcPts val="0"/>
              </a:spcAft>
            </a:pPr>
            <a:r>
              <a:rPr sz="1050" b="0" u="none">
                <a:solidFill>
                  <a:srgbClr val="62666C"/>
                </a:solidFill>
                <a:latin typeface="Noto Sans KR"/>
                <a:hlinkClick xmlns:ns67="http://schemas.openxmlformats.org/officeDocument/2006/relationships" ns67:id="rId2"/>
              </a:rPr>
              <a:t>관측 데이터 D25 한국관광 데이터랩 전국 빅데이터 다운로드 ·</a:t>
            </a:r>
          </a:p>
          <a:p>
            <a:pPr eaLnBrk="0">
              <a:lnSpc>
                <a:spcPts val="1312"/>
              </a:lnSpc>
              <a:spcBef>
                <a:spcPts val="0"/>
              </a:spcBef>
              <a:spcAft>
                <a:spcPts val="0"/>
              </a:spcAft>
            </a:pPr>
            <a:r>
              <a:rPr sz="1050" b="0" u="none">
                <a:solidFill>
                  <a:srgbClr val="62666C"/>
                </a:solidFill>
                <a:latin typeface="Noto Sans KR"/>
                <a:hlinkClick xmlns:ns68="http://schemas.openxmlformats.org/officeDocument/2006/relationships" ns68:id="rId2"/>
              </a:rPr>
              <a:t>이동통신/외국인/20260820141639_전국_202401-202412_데이터랩_</a:t>
            </a:r>
          </a:p>
          <a:p>
            <a:pPr eaLnBrk="0">
              <a:lnSpc>
                <a:spcPts val="1312"/>
              </a:lnSpc>
              <a:spcBef>
                <a:spcPts val="0"/>
              </a:spcBef>
              <a:spcAft>
                <a:spcPts val="0"/>
              </a:spcAft>
            </a:pPr>
            <a:r>
              <a:rPr sz="1050" b="0" u="none">
                <a:solidFill>
                  <a:srgbClr val="62666C"/>
                </a:solidFill>
                <a:latin typeface="Noto Sans KR"/>
                <a:hlinkClick xmlns:ns69="http://schemas.openxmlformats.org/officeDocument/2006/relationships" ns69:id="rId2"/>
              </a:rPr>
              <a:t>다운로드.zip 2026-01 ~ 2026-06</a:t>
            </a:r>
          </a:p>
        </p:txBody>
      </p:sp>
      <p:sp xmlns:a="http://schemas.openxmlformats.org/drawingml/2006/main">
        <p:nvSpPr>
          <p:cNvPr id="30" name="reference-25"/>
          <p:cNvSpPr txBox="1"/>
          <p:nvPr/>
        </p:nvSpPr>
        <p:spPr>
          <a:xfrm>
            <a:off x="9963150" y="6862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0="http://schemas.openxmlformats.org/officeDocument/2006/relationships" ns70:id="rId2"/>
              </a:rPr>
              <a:t>관측 데이터 D26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1="http://schemas.openxmlformats.org/officeDocument/2006/relationships" ns71:id="rId2"/>
              </a:rPr>
              <a:t>유입유출 2025-07 ~ 2026-06</a:t>
            </a:r>
          </a:p>
        </p:txBody>
      </p:sp>
      <p:sp xmlns:a="http://schemas.openxmlformats.org/drawingml/2006/main">
        <p:nvSpPr>
          <p:cNvPr id="31" name="reference-26"/>
          <p:cNvSpPr txBox="1"/>
          <p:nvPr/>
        </p:nvSpPr>
        <p:spPr>
          <a:xfrm>
            <a:off x="9963150" y="729615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xmlns:ns72="http://schemas.openxmlformats.org/officeDocument/2006/relationships" ns72:id="rId2"/>
              </a:rPr>
              <a:t>관측 데이터 D27 한국관광 데이터랩 지역별 관광 현황 · ·</a:t>
            </a:r>
          </a:p>
          <a:p>
            <a:pPr eaLnBrk="0">
              <a:lnSpc>
                <a:spcPts val="1265"/>
              </a:lnSpc>
              <a:spcBef>
                <a:spcPts val="0"/>
              </a:spcBef>
              <a:spcAft>
                <a:spcPts val="0"/>
              </a:spcAft>
            </a:pPr>
            <a:r>
              <a:rPr sz="1012" b="0" u="none">
                <a:solidFill>
                  <a:srgbClr val="62666C"/>
                </a:solidFill>
                <a:latin typeface="Noto Sans KR"/>
                <a:hlinkClick xmlns:ns73="http://schemas.openxmlformats.org/officeDocument/2006/relationships" ns73:id="rId2"/>
              </a:rPr>
              <a:t>인기관광지 2025-07 ~ 2026-06</a:t>
            </a:r>
          </a:p>
        </p:txBody>
      </p:sp>
      <p:sp xmlns:a="http://schemas.openxmlformats.org/drawingml/2006/main">
        <p:nvSpPr>
          <p:cNvPr id="33"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xmlns:a="http://schemas.openxmlformats.org/drawingml/2006/main">
        <p:nvSpPr>
          <p:cNvPr id="34"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13 / 15</a:t>
            </a:r>
          </a:p>
        </p:txBody>
      </p:sp>
    </p:spTree>
    <p:extLst>
      <p:ext uri="{BB962C8B-B14F-4D97-AF65-F5344CB8AC3E}">
        <p14:creationId xmlns:p14="http://schemas.microsoft.com/office/powerpoint/2010/main" val="930694367"/>
      </p:ext>
    </p:extLst>
  </p:cSld>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6.2 근거·데이터·출처 계속</a:t>
            </a:r>
          </a:p>
        </p:txBody>
      </p:sp>
      <p:sp>
        <p:nvSpPr>
          <p:cNvPr id="4" name="subtitle"/>
          <p:cNvSpPr txBox="1"/>
          <p:nvPr/>
        </p:nvSpPr>
        <p:spPr>
          <a:xfrm>
            <a:off x="1009650" y="1885950"/>
            <a:ext cx="13220700" cy="61912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전체 자료명과 머신러닝 모델 2/2 · 파란 자료명을 누르면 원문으로 이동합니다.</a:t>
            </a:r>
          </a:p>
          <a:p>
            <a:pPr eaLnBrk="0">
              <a:lnSpc>
                <a:spcPts val="1781"/>
              </a:lnSpc>
              <a:spcBef>
                <a:spcPts val="0"/>
              </a:spcBef>
              <a:spcAft>
                <a:spcPts val="0"/>
              </a:spcAft>
            </a:pPr>
            <a:r>
              <a:rPr sz="1425" b="0">
                <a:solidFill>
                  <a:srgbClr val="62666C"/>
                </a:solidFill>
                <a:latin typeface="Noto Sans KR"/>
              </a:rPr>
              <a:t>예측거리·누락 범위의 해석 주의가 필요합니다.</a:t>
            </a:r>
          </a:p>
        </p:txBody>
      </p:sp>
      <p:sp>
        <p:nvSpPr>
          <p:cNvPr id="5" name="reference-0"/>
          <p:cNvSpPr txBox="1"/>
          <p:nvPr/>
        </p:nvSpPr>
        <p:spPr>
          <a:xfrm>
            <a:off x="100965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2"/>
              </a:rPr>
              <a:t>관측 데이터 D28 한국관광 데이터랩 지역별 관광 현황 · ·</a:t>
            </a:r>
          </a:p>
          <a:p>
            <a:pPr eaLnBrk="0">
              <a:lnSpc>
                <a:spcPts val="1265"/>
              </a:lnSpc>
              <a:spcBef>
                <a:spcPts val="0"/>
              </a:spcBef>
              <a:spcAft>
                <a:spcPts val="0"/>
              </a:spcAft>
            </a:pPr>
            <a:r>
              <a:rPr sz="1012" b="0" u="none">
                <a:solidFill>
                  <a:srgbClr val="62666C"/>
                </a:solidFill>
                <a:latin typeface="Noto Sans KR"/>
                <a:hlinkClick r:id="rId2"/>
              </a:rPr>
              <a:t>지역집중률 2025-07 ~ 2026-06</a:t>
            </a:r>
          </a:p>
        </p:txBody>
      </p:sp>
      <p:sp>
        <p:nvSpPr>
          <p:cNvPr id="6" name="reference-1"/>
          <p:cNvSpPr txBox="1"/>
          <p:nvPr/>
        </p:nvSpPr>
        <p:spPr>
          <a:xfrm>
            <a:off x="100965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방문자 수 RandomForestRegressor</a:t>
            </a:r>
          </a:p>
          <a:p>
            <a:pPr eaLnBrk="0">
              <a:lnSpc>
                <a:spcPts val="1265"/>
              </a:lnSpc>
              <a:spcBef>
                <a:spcPts val="0"/>
              </a:spcBef>
              <a:spcAft>
                <a:spcPts val="0"/>
              </a:spcAft>
            </a:pPr>
            <a:r>
              <a:rPr sz="1012" b="0">
                <a:solidFill>
                  <a:srgbClr val="F50045"/>
                </a:solidFill>
                <a:latin typeface="Noto Sans KR"/>
              </a:rPr>
              <a:t>최종 월 3,370,793명</a:t>
            </a:r>
          </a:p>
        </p:txBody>
      </p:sp>
      <p:sp>
        <p:nvSpPr>
          <p:cNvPr id="7" name="reference-2"/>
          <p:cNvSpPr txBox="1"/>
          <p:nvPr/>
        </p:nvSpPr>
        <p:spPr>
          <a:xfrm>
            <a:off x="1009650" y="3343275"/>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관광소비액 LinearRegression 최종 월 1,493.67억 원</a:t>
            </a:r>
          </a:p>
        </p:txBody>
      </p:sp>
      <p:sp>
        <p:nvSpPr>
          <p:cNvPr id="8" name="reference-3"/>
          <p:cNvSpPr txBox="1"/>
          <p:nvPr/>
        </p:nvSpPr>
        <p:spPr>
          <a:xfrm>
            <a:off x="1009650" y="3776662"/>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숙박일수 전년동월 계절 기준선 최종 월 3.03일</a:t>
            </a:r>
          </a:p>
        </p:txBody>
      </p:sp>
      <p:sp>
        <p:nvSpPr>
          <p:cNvPr id="9" name="reference-4"/>
          <p:cNvSpPr txBox="1"/>
          <p:nvPr/>
        </p:nvSpPr>
        <p:spPr>
          <a:xfrm>
            <a:off x="1009650" y="4210050"/>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숙박방문자 비율 전년동월 계절 기준선 최종 월 22%</a:t>
            </a:r>
          </a:p>
        </p:txBody>
      </p:sp>
      <p:sp>
        <p:nvSpPr>
          <p:cNvPr id="10" name="reference-5"/>
          <p:cNvSpPr txBox="1"/>
          <p:nvPr/>
        </p:nvSpPr>
        <p:spPr>
          <a:xfrm>
            <a:off x="1009650" y="4643438"/>
            <a:ext cx="4248150" cy="404812"/>
          </a:xfrm>
          <a:prstGeom prst="rect">
            <a:avLst/>
          </a:prstGeom>
          <a:noFill/>
        </p:spPr>
        <p:txBody>
          <a:bodyPr wrap="none" lIns="57150" rIns="57150" tIns="38100" bIns="38100" anchor="t">
            <a:noAutofit/>
          </a:bodyPr>
          <a:lstStyle/>
          <a:p>
            <a:pPr eaLnBrk="0">
              <a:lnSpc>
                <a:spcPts val="1359"/>
              </a:lnSpc>
              <a:spcBef>
                <a:spcPts val="0"/>
              </a:spcBef>
              <a:spcAft>
                <a:spcPts val="0"/>
              </a:spcAft>
            </a:pPr>
            <a:r>
              <a:rPr sz="1087" b="0">
                <a:solidFill>
                  <a:srgbClr val="F50045"/>
                </a:solidFill>
                <a:latin typeface="Noto Sans KR"/>
              </a:rPr>
              <a:t>머신러닝 예측치 평균 체류시간 전년동월 계절 기준선 최종 월 2,289분</a:t>
            </a:r>
          </a:p>
        </p:txBody>
      </p:sp>
      <p:sp>
        <p:nvSpPr>
          <p:cNvPr id="11" name="reference-6"/>
          <p:cNvSpPr txBox="1"/>
          <p:nvPr/>
        </p:nvSpPr>
        <p:spPr>
          <a:xfrm>
            <a:off x="1009650" y="507682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내비게이션 검색량 전년동월 계절</a:t>
            </a:r>
          </a:p>
          <a:p>
            <a:pPr eaLnBrk="0">
              <a:lnSpc>
                <a:spcPts val="1265"/>
              </a:lnSpc>
              <a:spcBef>
                <a:spcPts val="0"/>
              </a:spcBef>
              <a:spcAft>
                <a:spcPts val="0"/>
              </a:spcAft>
            </a:pPr>
            <a:r>
              <a:rPr sz="1012" b="0">
                <a:solidFill>
                  <a:srgbClr val="F50045"/>
                </a:solidFill>
                <a:latin typeface="Noto Sans KR"/>
              </a:rPr>
              <a:t>기준선 최종 월 556,973건</a:t>
            </a:r>
          </a:p>
        </p:txBody>
      </p:sp>
      <p:sp>
        <p:nvSpPr>
          <p:cNvPr id="12" name="reference-7"/>
          <p:cNvSpPr txBox="1"/>
          <p:nvPr/>
        </p:nvSpPr>
        <p:spPr>
          <a:xfrm>
            <a:off x="1009650" y="551021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a:solidFill>
                  <a:srgbClr val="F50045"/>
                </a:solidFill>
                <a:latin typeface="Noto Sans KR"/>
              </a:rPr>
              <a:t>머신러닝 예측치 숙박 목적지 검색량 전년동월 계절</a:t>
            </a:r>
          </a:p>
          <a:p>
            <a:pPr eaLnBrk="0">
              <a:lnSpc>
                <a:spcPts val="1265"/>
              </a:lnSpc>
              <a:spcBef>
                <a:spcPts val="0"/>
              </a:spcBef>
              <a:spcAft>
                <a:spcPts val="0"/>
              </a:spcAft>
            </a:pPr>
            <a:r>
              <a:rPr sz="1012" b="0">
                <a:solidFill>
                  <a:srgbClr val="F50045"/>
                </a:solidFill>
                <a:latin typeface="Noto Sans KR"/>
              </a:rPr>
              <a:t>기준선 최종 월 75,858건</a:t>
            </a:r>
          </a:p>
        </p:txBody>
      </p:sp>
      <p:sp>
        <p:nvSpPr>
          <p:cNvPr id="13" name="reference-8"/>
          <p:cNvSpPr txBox="1"/>
          <p:nvPr/>
        </p:nvSpPr>
        <p:spPr>
          <a:xfrm>
            <a:off x="1009650" y="59436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3"/>
              </a:rPr>
              <a:t>공식 사례·문서 D50 요즘, 한국관광 2호 - 지방공항 연계 지역관광</a:t>
            </a:r>
          </a:p>
          <a:p>
            <a:pPr eaLnBrk="0">
              <a:lnSpc>
                <a:spcPts val="1265"/>
              </a:lnSpc>
              <a:spcBef>
                <a:spcPts val="0"/>
              </a:spcBef>
              <a:spcAft>
                <a:spcPts val="0"/>
              </a:spcAft>
            </a:pPr>
            <a:r>
              <a:rPr sz="1012" b="0" u="none">
                <a:solidFill>
                  <a:srgbClr val="62666C"/>
                </a:solidFill>
                <a:latin typeface="Noto Sans KR"/>
                <a:hlinkClick r:id="rId3"/>
              </a:rPr>
              <a:t>활성화 방안 · PDF 44쪽 외 7쪽 (8개 청크) datalab.visitkorea.or.kr</a:t>
            </a:r>
          </a:p>
        </p:txBody>
      </p:sp>
      <p:sp>
        <p:nvSpPr>
          <p:cNvPr id="14" name="reference-9"/>
          <p:cNvSpPr txBox="1"/>
          <p:nvPr/>
        </p:nvSpPr>
        <p:spPr>
          <a:xfrm>
            <a:off x="1009650" y="63769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4"/>
              </a:rPr>
              <a:t>공식 사례·문서 D51 2024년 문화재야행 사업 예산</a:t>
            </a:r>
          </a:p>
          <a:p>
            <a:pPr eaLnBrk="0">
              <a:lnSpc>
                <a:spcPts val="1265"/>
              </a:lnSpc>
              <a:spcBef>
                <a:spcPts val="0"/>
              </a:spcBef>
              <a:spcAft>
                <a:spcPts val="0"/>
              </a:spcAft>
            </a:pPr>
            <a:r>
              <a:rPr sz="1012" b="0" u="none">
                <a:solidFill>
                  <a:srgbClr val="62666C"/>
                </a:solidFill>
                <a:latin typeface="Noto Sans KR"/>
                <a:hlinkClick r:id="rId4"/>
              </a:rPr>
              <a:t>확정자료 culture.seoul.go.kr</a:t>
            </a:r>
          </a:p>
        </p:txBody>
      </p:sp>
      <p:sp>
        <p:nvSpPr>
          <p:cNvPr id="15" name="reference-10"/>
          <p:cNvSpPr txBox="1"/>
          <p:nvPr/>
        </p:nvSpPr>
        <p:spPr>
          <a:xfrm>
            <a:off x="1009650" y="68103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5"/>
              </a:rPr>
              <a:t>공식 사례·문서 D52 강진 반값여행 지역경제 효과</a:t>
            </a:r>
          </a:p>
          <a:p>
            <a:pPr eaLnBrk="0">
              <a:lnSpc>
                <a:spcPts val="1265"/>
              </a:lnSpc>
              <a:spcBef>
                <a:spcPts val="0"/>
              </a:spcBef>
              <a:spcAft>
                <a:spcPts val="0"/>
              </a:spcAft>
            </a:pPr>
            <a:r>
              <a:rPr sz="1012" b="0" u="none">
                <a:solidFill>
                  <a:srgbClr val="62666C"/>
                </a:solidFill>
                <a:latin typeface="Noto Sans KR"/>
                <a:hlinkClick r:id="rId5"/>
              </a:rPr>
              <a:t>소개 jnfarm.jeonnam.go.kr</a:t>
            </a:r>
          </a:p>
        </p:txBody>
      </p:sp>
      <p:sp>
        <p:nvSpPr>
          <p:cNvPr id="16" name="reference-11"/>
          <p:cNvSpPr txBox="1"/>
          <p:nvPr/>
        </p:nvSpPr>
        <p:spPr>
          <a:xfrm>
            <a:off x="1009650" y="7243762"/>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6"/>
              </a:rPr>
              <a:t>공식 사례·문서 D53 2024년 6월 여행가는 달 추진</a:t>
            </a:r>
          </a:p>
          <a:p>
            <a:pPr eaLnBrk="0">
              <a:lnSpc>
                <a:spcPts val="1265"/>
              </a:lnSpc>
              <a:spcBef>
                <a:spcPts val="0"/>
              </a:spcBef>
              <a:spcAft>
                <a:spcPts val="0"/>
              </a:spcAft>
            </a:pPr>
            <a:r>
              <a:rPr sz="1012" b="0" u="none">
                <a:solidFill>
                  <a:srgbClr val="62666C"/>
                </a:solidFill>
                <a:latin typeface="Noto Sans KR"/>
                <a:hlinkClick r:id="rId6"/>
              </a:rPr>
              <a:t>보도자료 mcst.go.kr</a:t>
            </a:r>
          </a:p>
        </p:txBody>
      </p:sp>
      <p:sp>
        <p:nvSpPr>
          <p:cNvPr id="17" name="reference-12"/>
          <p:cNvSpPr txBox="1"/>
          <p:nvPr/>
        </p:nvSpPr>
        <p:spPr>
          <a:xfrm>
            <a:off x="5486400" y="2476500"/>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7"/>
              </a:rPr>
              <a:t>공식 사례·문서 D54 2022 대한민국 숙박대전 경제파급효과</a:t>
            </a:r>
          </a:p>
          <a:p>
            <a:pPr eaLnBrk="0">
              <a:lnSpc>
                <a:spcPts val="1265"/>
              </a:lnSpc>
              <a:spcBef>
                <a:spcPts val="0"/>
              </a:spcBef>
              <a:spcAft>
                <a:spcPts val="0"/>
              </a:spcAft>
            </a:pPr>
            <a:r>
              <a:rPr sz="1012" b="0" u="none">
                <a:solidFill>
                  <a:srgbClr val="62666C"/>
                </a:solidFill>
                <a:latin typeface="Noto Sans KR"/>
                <a:hlinkClick r:id="rId7"/>
              </a:rPr>
              <a:t>공개자료 kto.visitkorea.or.kr</a:t>
            </a:r>
          </a:p>
        </p:txBody>
      </p:sp>
      <p:sp>
        <p:nvSpPr>
          <p:cNvPr id="18" name="reference-13"/>
          <p:cNvSpPr txBox="1"/>
          <p:nvPr/>
        </p:nvSpPr>
        <p:spPr>
          <a:xfrm>
            <a:off x="5486400" y="2909888"/>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8"/>
              </a:rPr>
              <a:t>공식 사례·문서 D55 2025 대한민국 밤밤페스타 개최 도시 및</a:t>
            </a:r>
          </a:p>
          <a:p>
            <a:pPr eaLnBrk="0">
              <a:lnSpc>
                <a:spcPts val="1265"/>
              </a:lnSpc>
              <a:spcBef>
                <a:spcPts val="0"/>
              </a:spcBef>
              <a:spcAft>
                <a:spcPts val="0"/>
              </a:spcAft>
            </a:pPr>
            <a:r>
              <a:rPr sz="1012" b="0" u="none">
                <a:solidFill>
                  <a:srgbClr val="62666C"/>
                </a:solidFill>
                <a:latin typeface="Noto Sans KR"/>
                <a:hlinkClick r:id="rId8"/>
              </a:rPr>
              <a:t>일정 korean.visitkorea.or.kr</a:t>
            </a:r>
          </a:p>
        </p:txBody>
      </p:sp>
      <p:sp>
        <p:nvSpPr>
          <p:cNvPr id="19" name="reference-14"/>
          <p:cNvSpPr txBox="1"/>
          <p:nvPr/>
        </p:nvSpPr>
        <p:spPr>
          <a:xfrm>
            <a:off x="5486400" y="3343275"/>
            <a:ext cx="4248150" cy="404812"/>
          </a:xfrm>
          <a:prstGeom prst="rect">
            <a:avLst/>
          </a:prstGeom>
          <a:noFill/>
        </p:spPr>
        <p:txBody>
          <a:bodyPr wrap="none" lIns="57150" rIns="57150" tIns="38100" bIns="38100" anchor="t">
            <a:noAutofit/>
          </a:bodyPr>
          <a:lstStyle/>
          <a:p>
            <a:pPr eaLnBrk="0">
              <a:lnSpc>
                <a:spcPts val="1265"/>
              </a:lnSpc>
              <a:spcBef>
                <a:spcPts val="0"/>
              </a:spcBef>
              <a:spcAft>
                <a:spcPts val="0"/>
              </a:spcAft>
            </a:pPr>
            <a:r>
              <a:rPr sz="1012" b="0" u="none">
                <a:solidFill>
                  <a:srgbClr val="62666C"/>
                </a:solidFill>
                <a:latin typeface="Noto Sans KR"/>
                <a:hlinkClick r:id="rId9"/>
              </a:rPr>
              <a:t>공식 사례·문서 D56 2024년도 정부업무평가 관광분야</a:t>
            </a:r>
          </a:p>
          <a:p>
            <a:pPr eaLnBrk="0">
              <a:lnSpc>
                <a:spcPts val="1265"/>
              </a:lnSpc>
              <a:spcBef>
                <a:spcPts val="0"/>
              </a:spcBef>
              <a:spcAft>
                <a:spcPts val="0"/>
              </a:spcAft>
            </a:pPr>
            <a:r>
              <a:rPr sz="1012" b="0" u="none">
                <a:solidFill>
                  <a:srgbClr val="62666C"/>
                </a:solidFill>
                <a:latin typeface="Noto Sans KR"/>
                <a:hlinkClick r:id="rId9"/>
              </a:rPr>
              <a:t>성과자료 www.evaluation.go.kr</a:t>
            </a:r>
          </a:p>
        </p:txBody>
      </p:sp>
      <p:sp>
        <p:nvSpPr>
          <p:cNvPr id="20" name="reference-15"/>
          <p:cNvSpPr txBox="1"/>
          <p:nvPr/>
        </p:nvSpPr>
        <p:spPr>
          <a:xfrm>
            <a:off x="5486400" y="3776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D30 가는곶 세화</a:t>
            </a:r>
          </a:p>
        </p:txBody>
      </p:sp>
      <p:sp>
        <p:nvSpPr>
          <p:cNvPr id="21" name="reference-16"/>
          <p:cNvSpPr txBox="1"/>
          <p:nvPr/>
        </p:nvSpPr>
        <p:spPr>
          <a:xfrm>
            <a:off x="5486400" y="4081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D31 가마오름</a:t>
            </a:r>
          </a:p>
        </p:txBody>
      </p:sp>
      <p:sp>
        <p:nvSpPr>
          <p:cNvPr id="22" name="reference-17"/>
          <p:cNvSpPr txBox="1"/>
          <p:nvPr/>
        </p:nvSpPr>
        <p:spPr>
          <a:xfrm>
            <a:off x="5486400" y="4386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D32 가새기오름</a:t>
            </a:r>
          </a:p>
        </p:txBody>
      </p:sp>
      <p:sp>
        <p:nvSpPr>
          <p:cNvPr id="23" name="reference-18"/>
          <p:cNvSpPr txBox="1"/>
          <p:nvPr/>
        </p:nvSpPr>
        <p:spPr>
          <a:xfrm>
            <a:off x="5486400" y="4691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D33 가시어멍김밥</a:t>
            </a:r>
          </a:p>
        </p:txBody>
      </p:sp>
      <p:sp>
        <p:nvSpPr>
          <p:cNvPr id="24" name="reference-19"/>
          <p:cNvSpPr txBox="1"/>
          <p:nvPr/>
        </p:nvSpPr>
        <p:spPr>
          <a:xfrm>
            <a:off x="5486400" y="4995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D34 갈치공장</a:t>
            </a:r>
          </a:p>
        </p:txBody>
      </p:sp>
      <p:sp>
        <p:nvSpPr>
          <p:cNvPr id="25" name="reference-20"/>
          <p:cNvSpPr txBox="1"/>
          <p:nvPr/>
        </p:nvSpPr>
        <p:spPr>
          <a:xfrm>
            <a:off x="5486400" y="5300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D35 개오리오름</a:t>
            </a:r>
          </a:p>
        </p:txBody>
      </p:sp>
      <p:sp>
        <p:nvSpPr>
          <p:cNvPr id="26" name="reference-21"/>
          <p:cNvSpPr txBox="1"/>
          <p:nvPr/>
        </p:nvSpPr>
        <p:spPr>
          <a:xfrm>
            <a:off x="5486400" y="5605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D36 거슨새미오름</a:t>
            </a:r>
          </a:p>
        </p:txBody>
      </p:sp>
      <p:sp>
        <p:nvSpPr>
          <p:cNvPr id="27" name="reference-22"/>
          <p:cNvSpPr txBox="1"/>
          <p:nvPr/>
        </p:nvSpPr>
        <p:spPr>
          <a:xfrm>
            <a:off x="5486400" y="5910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D37 경성수산</a:t>
            </a:r>
          </a:p>
        </p:txBody>
      </p:sp>
      <p:sp>
        <p:nvSpPr>
          <p:cNvPr id="28" name="reference-23"/>
          <p:cNvSpPr txBox="1"/>
          <p:nvPr/>
        </p:nvSpPr>
        <p:spPr>
          <a:xfrm>
            <a:off x="5486400" y="6215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D38 고내포구</a:t>
            </a:r>
          </a:p>
        </p:txBody>
      </p:sp>
      <p:sp>
        <p:nvSpPr>
          <p:cNvPr id="29" name="reference-24"/>
          <p:cNvSpPr txBox="1"/>
          <p:nvPr/>
        </p:nvSpPr>
        <p:spPr>
          <a:xfrm>
            <a:off x="5486400" y="65198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D39 고사리커피</a:t>
            </a:r>
          </a:p>
        </p:txBody>
      </p:sp>
      <p:sp>
        <p:nvSpPr>
          <p:cNvPr id="30" name="reference-25"/>
          <p:cNvSpPr txBox="1"/>
          <p:nvPr/>
        </p:nvSpPr>
        <p:spPr>
          <a:xfrm>
            <a:off x="5486400" y="68246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D40 고스트타운</a:t>
            </a:r>
          </a:p>
        </p:txBody>
      </p:sp>
      <p:sp>
        <p:nvSpPr>
          <p:cNvPr id="31" name="reference-26"/>
          <p:cNvSpPr txBox="1"/>
          <p:nvPr/>
        </p:nvSpPr>
        <p:spPr>
          <a:xfrm>
            <a:off x="5486400" y="71294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D41 고이정</a:t>
            </a:r>
          </a:p>
        </p:txBody>
      </p:sp>
      <p:sp>
        <p:nvSpPr>
          <p:cNvPr id="32" name="reference-27"/>
          <p:cNvSpPr txBox="1"/>
          <p:nvPr/>
        </p:nvSpPr>
        <p:spPr>
          <a:xfrm>
            <a:off x="5486400" y="74342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D42 고토커피바</a:t>
            </a:r>
          </a:p>
        </p:txBody>
      </p:sp>
      <p:sp>
        <p:nvSpPr>
          <p:cNvPr id="33" name="reference-28"/>
          <p:cNvSpPr txBox="1"/>
          <p:nvPr/>
        </p:nvSpPr>
        <p:spPr>
          <a:xfrm>
            <a:off x="5486400" y="7739062"/>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D43 골목식당</a:t>
            </a:r>
          </a:p>
        </p:txBody>
      </p:sp>
      <p:sp>
        <p:nvSpPr>
          <p:cNvPr id="34" name="reference-29"/>
          <p:cNvSpPr txBox="1"/>
          <p:nvPr/>
        </p:nvSpPr>
        <p:spPr>
          <a:xfrm>
            <a:off x="9963150" y="2476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D44 골목카페옥수</a:t>
            </a:r>
          </a:p>
        </p:txBody>
      </p:sp>
      <p:sp>
        <p:nvSpPr>
          <p:cNvPr id="35" name="reference-30"/>
          <p:cNvSpPr txBox="1"/>
          <p:nvPr/>
        </p:nvSpPr>
        <p:spPr>
          <a:xfrm>
            <a:off x="9963150" y="2781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D45 골체오름캠핑</a:t>
            </a:r>
          </a:p>
        </p:txBody>
      </p:sp>
      <p:sp>
        <p:nvSpPr>
          <p:cNvPr id="36" name="reference-31"/>
          <p:cNvSpPr txBox="1"/>
          <p:nvPr/>
        </p:nvSpPr>
        <p:spPr>
          <a:xfrm>
            <a:off x="9963150" y="3086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D46 곰막식당/곰막</a:t>
            </a:r>
          </a:p>
        </p:txBody>
      </p:sp>
      <p:sp>
        <p:nvSpPr>
          <p:cNvPr id="37" name="reference-32"/>
          <p:cNvSpPr txBox="1"/>
          <p:nvPr/>
        </p:nvSpPr>
        <p:spPr>
          <a:xfrm>
            <a:off x="9963150" y="3390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D47 곽지해수욕장</a:t>
            </a:r>
          </a:p>
        </p:txBody>
      </p:sp>
      <p:sp>
        <p:nvSpPr>
          <p:cNvPr id="38" name="reference-33"/>
          <p:cNvSpPr txBox="1"/>
          <p:nvPr/>
        </p:nvSpPr>
        <p:spPr>
          <a:xfrm>
            <a:off x="9963150" y="36957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D48 괴오름</a:t>
            </a:r>
          </a:p>
        </p:txBody>
      </p:sp>
      <p:sp>
        <p:nvSpPr>
          <p:cNvPr id="39" name="reference-34"/>
          <p:cNvSpPr txBox="1"/>
          <p:nvPr/>
        </p:nvSpPr>
        <p:spPr>
          <a:xfrm>
            <a:off x="9963150" y="40005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0"/>
              </a:rPr>
              <a:t>관광자원·사진 D49 교래 삼다수마을</a:t>
            </a:r>
          </a:p>
        </p:txBody>
      </p:sp>
      <p:sp>
        <p:nvSpPr>
          <p:cNvPr id="40" name="reference-35"/>
          <p:cNvSpPr txBox="1"/>
          <p:nvPr/>
        </p:nvSpPr>
        <p:spPr>
          <a:xfrm>
            <a:off x="9963150" y="43053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1"/>
              </a:rPr>
              <a:t>사례 실적 중구청 · 2023 정동야행 성공적 개최 (2023.10.15)</a:t>
            </a:r>
          </a:p>
        </p:txBody>
      </p:sp>
      <p:sp>
        <p:nvSpPr>
          <p:cNvPr id="41" name="reference-36"/>
          <p:cNvSpPr txBox="1"/>
          <p:nvPr/>
        </p:nvSpPr>
        <p:spPr>
          <a:xfrm>
            <a:off x="9963150" y="46101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2"/>
              </a:rPr>
              <a:t>사례 실적 중구청 · 2024 정동야행, 봄밤의 낭만 활짝 (2024.05.27)</a:t>
            </a:r>
          </a:p>
        </p:txBody>
      </p:sp>
      <p:sp>
        <p:nvSpPr>
          <p:cNvPr id="42" name="reference-37"/>
          <p:cNvSpPr txBox="1"/>
          <p:nvPr/>
        </p:nvSpPr>
        <p:spPr>
          <a:xfrm>
            <a:off x="9963150" y="4914900"/>
            <a:ext cx="4248150" cy="276225"/>
          </a:xfrm>
          <a:prstGeom prst="rect">
            <a:avLst/>
          </a:prstGeom>
          <a:noFill/>
        </p:spPr>
        <p:txBody>
          <a:bodyPr wrap="none" lIns="57150" rIns="57150" tIns="38100" bIns="38100" anchor="t">
            <a:noAutofit/>
          </a:bodyPr>
          <a:lstStyle/>
          <a:p>
            <a:pPr eaLnBrk="0">
              <a:lnSpc>
                <a:spcPts val="1406"/>
              </a:lnSpc>
              <a:spcBef>
                <a:spcPts val="0"/>
              </a:spcBef>
              <a:spcAft>
                <a:spcPts val="0"/>
              </a:spcAft>
            </a:pPr>
            <a:r>
              <a:rPr sz="1125" b="0" u="none">
                <a:solidFill>
                  <a:srgbClr val="62666C"/>
                </a:solidFill>
                <a:latin typeface="Noto Sans KR"/>
                <a:hlinkClick r:id="rId13"/>
              </a:rPr>
              <a:t>사례 실적 서울문화포털 · 2024 정동야행 행사 내용과 사진</a:t>
            </a:r>
          </a:p>
        </p:txBody>
      </p:sp>
      <p:sp>
        <p:nvSpPr>
          <p:cNvPr id="4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6. 근거와 출처</a:t>
            </a:r>
          </a:p>
        </p:txBody>
      </p:sp>
      <p:sp>
        <p:nvSpPr>
          <p:cNvPr id="4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14 / 15</a:t>
            </a:r>
          </a:p>
        </p:txBody>
      </p:sp>
    </p:spTree>
  </p:cSld>
  <p:clrMapOvr>
    <a:masterClrMapping/>
  </p:clrMapOvr>
</p:sld>
</file>

<file path=ppt/slides/slide13.xml><?xml version="1.0" encoding="utf-8"?>
<p:sld xmlns:p="http://schemas.openxmlformats.org/presentationml/2006/main">
  <p:cSld>
    <p:bg>
      <p:bgPr>
        <a:solidFill xmlns:a="http://schemas.openxmlformats.org/drawingml/2006/main">
          <a:srgbClr val="202124"/>
        </a:solidFill>
      </p:bgPr>
    </p:bg>
    <p:spTree>
      <p:nvGrpSpPr>
        <p:cNvPr id="1" name=""/>
        <p:cNvGrpSpPr/>
        <p:nvPr/>
      </p:nvGrpSpPr>
      <p:grpSpPr>
        <a:xfrm xmlns:a="http://schemas.openxmlformats.org/drawingml/2006/main"/>
      </p:grpSpPr>
      <p:pic xmlns:a="http://schemas.openxmlformats.org/drawingml/2006/main" xmlns:r="http://schemas.openxmlformats.org/officeDocument/2006/relationships">
        <p:nvPicPr>
          <p:cNvPr id="2" name="cover-regional-photo" descr="image.jpg"/>
          <p:cNvPicPr>
            <a:picLocks noChangeAspect="1"/>
          </p:cNvPicPr>
          <p:nvPr/>
        </p:nvPicPr>
        <p:blipFill>
          <a:blip r:embed="rId3"/>
          <a:srcRect l="25582" r="25582"/>
          <a:stretch>
            <a:fillRect/>
          </a:stretch>
        </p:blipFill>
        <p:spPr>
          <a:xfrm>
            <a:off x="8953500" y="0"/>
            <a:ext cx="6286500" cy="8572500"/>
          </a:xfrm>
          <a:prstGeom prst="rect">
            <a:avLst/>
          </a:prstGeom>
        </p:spPr>
      </p:pic>
      <p:sp xmlns:a="http://schemas.openxmlformats.org/drawingml/2006/main">
        <p:nvSpPr>
          <p:cNvPr id="3" name="cover-top-rule"/>
          <p:cNvSpPr/>
          <p:nvPr/>
        </p:nvSpPr>
        <p:spPr>
          <a:xfrm>
            <a:off x="762000" y="904875"/>
            <a:ext cx="666750" cy="47625"/>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4" name="cover-category"/>
          <p:cNvSpPr txBox="1"/>
          <p:nvPr/>
        </p:nvSpPr>
        <p:spPr>
          <a:xfrm>
            <a:off x="762000" y="1238250"/>
            <a:ext cx="7429500" cy="457200"/>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1">
                <a:solidFill>
                  <a:srgbClr val="FFFFFF"/>
                </a:solidFill>
                <a:latin typeface="Noto Sans KR"/>
              </a:rPr>
              <a:t>지역 관광 전략기획안</a:t>
            </a:r>
          </a:p>
        </p:txBody>
      </p:sp>
      <p:sp xmlns:a="http://schemas.openxmlformats.org/drawingml/2006/main">
        <p:nvSpPr>
          <p:cNvPr id="5" name="cover-title-line1"/>
          <p:cNvSpPr txBox="1"/>
          <p:nvPr/>
        </p:nvSpPr>
        <p:spPr>
          <a:xfrm>
            <a:off x="762000" y="2619375"/>
            <a:ext cx="7715250" cy="1190625"/>
          </a:xfrm>
          <a:prstGeom prst="rect">
            <a:avLst/>
          </a:prstGeom>
          <a:noFill/>
        </p:spPr>
        <p:txBody>
          <a:bodyPr wrap="none" lIns="57150" rIns="57150" tIns="38100" bIns="38100" anchor="t">
            <a:noAutofit/>
          </a:bodyPr>
          <a:lstStyle/>
          <a:p>
            <a:pPr eaLnBrk="0">
              <a:lnSpc>
                <a:spcPts val="5437"/>
              </a:lnSpc>
              <a:spcBef>
                <a:spcPts val="0"/>
              </a:spcBef>
              <a:spcAft>
                <a:spcPts val="0"/>
              </a:spcAft>
            </a:pPr>
            <a:r>
              <a:rPr sz="4350" b="1">
                <a:solidFill>
                  <a:srgbClr val="FFFFFF"/>
                </a:solidFill>
                <a:latin typeface="Noto Sans KR"/>
              </a:rPr>
              <a:t>감사합니다</a:t>
            </a:r>
          </a:p>
        </p:txBody>
      </p:sp>
      <p:sp xmlns:a="http://schemas.openxmlformats.org/drawingml/2006/main">
        <p:nvSpPr>
          <p:cNvPr id="6" name="cover-title-line2"/>
          <p:cNvSpPr txBox="1"/>
          <p:nvPr/>
        </p:nvSpPr>
        <p:spPr>
          <a:xfrm>
            <a:off x="762000" y="3943350"/>
            <a:ext cx="7715250" cy="1352550"/>
          </a:xfrm>
          <a:prstGeom prst="rect">
            <a:avLst/>
          </a:prstGeom>
          <a:noFill/>
        </p:spPr>
        <p:txBody>
          <a:bodyPr wrap="none" lIns="57150" rIns="57150" tIns="38100" bIns="38100" anchor="t">
            <a:noAutofit/>
          </a:bodyPr>
          <a:lstStyle/>
          <a:p>
            <a:pPr eaLnBrk="0">
              <a:lnSpc>
                <a:spcPts val="4500"/>
              </a:lnSpc>
              <a:spcBef>
                <a:spcPts val="0"/>
              </a:spcBef>
              <a:spcAft>
                <a:spcPts val="0"/>
              </a:spcAft>
            </a:pPr>
            <a:r>
              <a:rPr sz="3600" b="1">
                <a:solidFill>
                  <a:srgbClr val="FFFFFF"/>
                </a:solidFill>
                <a:latin typeface="Noto Sans KR"/>
              </a:rPr>
              <a:t>데이터로 확인하고,</a:t>
            </a:r>
          </a:p>
          <a:p>
            <a:pPr eaLnBrk="0">
              <a:lnSpc>
                <a:spcPts val="4500"/>
              </a:lnSpc>
              <a:spcBef>
                <a:spcPts val="0"/>
              </a:spcBef>
              <a:spcAft>
                <a:spcPts val="0"/>
              </a:spcAft>
            </a:pPr>
            <a:r>
              <a:rPr sz="3600" b="1">
                <a:solidFill>
                  <a:srgbClr val="FFFFFF"/>
                </a:solidFill>
                <a:latin typeface="Noto Sans KR"/>
              </a:rPr>
              <a:t>현장에서 완성합니다</a:t>
            </a:r>
          </a:p>
        </p:txBody>
      </p:sp>
      <p:sp xmlns:a="http://schemas.openxmlformats.org/drawingml/2006/main">
        <p:nvSpPr>
          <p:cNvPr id="7" name="cover-date"/>
          <p:cNvSpPr txBox="1"/>
          <p:nvPr/>
        </p:nvSpPr>
        <p:spPr>
          <a:xfrm>
            <a:off x="762000" y="5810250"/>
            <a:ext cx="7620000" cy="419100"/>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0">
                <a:solidFill>
                  <a:srgbClr val="FFFFFF"/>
                </a:solidFill>
                <a:latin typeface="Noto Sans KR"/>
              </a:rPr>
              <a:t>지역 관광 전략기획안</a:t>
            </a:r>
          </a:p>
        </p:txBody>
      </p:sp>
      <p:sp xmlns:a="http://schemas.openxmlformats.org/drawingml/2006/main">
        <p:nvSpPr>
          <p:cNvPr id="8" name="org-title"/>
          <p:cNvSpPr txBox="1"/>
          <p:nvPr/>
        </p:nvSpPr>
        <p:spPr>
          <a:xfrm>
            <a:off x="762000" y="7239000"/>
            <a:ext cx="7429500" cy="457200"/>
          </a:xfrm>
          <a:prstGeom prst="rect">
            <a:avLst/>
          </a:prstGeom>
          <a:noFill/>
        </p:spPr>
        <p:txBody>
          <a:bodyPr wrap="none" lIns="57150" rIns="57150" tIns="38100" bIns="38100" anchor="t">
            <a:noAutofit/>
          </a:bodyPr>
          <a:lstStyle/>
          <a:p>
            <a:pPr eaLnBrk="0">
              <a:lnSpc>
                <a:spcPts val="2625"/>
              </a:lnSpc>
              <a:spcBef>
                <a:spcPts val="0"/>
              </a:spcBef>
              <a:spcAft>
                <a:spcPts val="0"/>
              </a:spcAft>
            </a:pPr>
            <a:r>
              <a:rPr sz="2100" b="1">
                <a:solidFill>
                  <a:srgbClr val="FFFFFF"/>
                </a:solidFill>
                <a:latin typeface="Noto Sans KR"/>
              </a:rPr>
              <a:t>제주특별자치도 제주시</a:t>
            </a:r>
          </a:p>
        </p:txBody>
      </p:sp>
      <p:sp xmlns:a="http://schemas.openxmlformats.org/drawingml/2006/main">
        <p:nvSpPr>
          <p:cNvPr id="9" name="cover-meta"/>
          <p:cNvSpPr txBox="1"/>
          <p:nvPr/>
        </p:nvSpPr>
        <p:spPr>
          <a:xfrm>
            <a:off x="762000" y="7753350"/>
            <a:ext cx="7524750" cy="571500"/>
          </a:xfrm>
          <a:prstGeom prst="rect">
            <a:avLst/>
          </a:prstGeom>
          <a:noFill/>
        </p:spPr>
        <p:txBody>
          <a:bodyPr wrap="none" lIns="57150" rIns="57150" tIns="38100" bIns="38100" anchor="t">
            <a:noAutofit/>
          </a:bodyPr>
          <a:lstStyle/>
          <a:p>
            <a:pPr eaLnBrk="0">
              <a:lnSpc>
                <a:spcPts val="1500"/>
              </a:lnSpc>
              <a:spcBef>
                <a:spcPts val="0"/>
              </a:spcBef>
              <a:spcAft>
                <a:spcPts val="0"/>
              </a:spcAft>
            </a:pPr>
            <a:r>
              <a:rPr sz="1200" b="0">
                <a:solidFill>
                  <a:srgbClr val="FFFFFF"/>
                </a:solidFill>
                <a:latin typeface="Noto Sans KR"/>
              </a:rPr>
              <a:t>제주시 야간 문화유산 및 시설 개방 프로그램</a:t>
            </a:r>
          </a:p>
        </p:txBody>
      </p:sp>
      <p:sp xmlns:a="http://schemas.openxmlformats.org/drawingml/2006/main">
        <p:nvSpPr>
          <p:cNvPr id="10" name="cover-source-bg"/>
          <p:cNvSpPr/>
          <p:nvPr/>
        </p:nvSpPr>
        <p:spPr>
          <a:xfrm>
            <a:off x="9258300" y="7829550"/>
            <a:ext cx="5676900" cy="571500"/>
          </a:xfrm>
          <a:prstGeom prst="rect">
            <a:avLst/>
          </a:prstGeom>
          <a:solidFill>
            <a:srgbClr val="0F315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xmlns:a="http://schemas.openxmlformats.org/drawingml/2006/main">
        <p:nvSpPr>
          <p:cNvPr id="11" name="cover-source-label">
            <a:hlinkClick xmlns:ns0="http://schemas.openxmlformats.org/officeDocument/2006/relationships" ns0:id="rId4"/>
          </p:cNvPr>
          <p:cNvSpPr txBox="1"/>
          <p:nvPr/>
        </p:nvSpPr>
        <p:spPr>
          <a:xfrm>
            <a:off x="9363075" y="7867650"/>
            <a:ext cx="5467350" cy="495300"/>
          </a:xfrm>
          <a:prstGeom prst="rect">
            <a:avLst/>
          </a:prstGeom>
          <a:noFill/>
        </p:spPr>
        <p:txBody>
          <a:bodyPr wrap="none" lIns="57150" rIns="57150" tIns="38100" bIns="38100" anchor="ctr">
            <a:noAutofit/>
          </a:bodyPr>
          <a:lstStyle/>
          <a:p>
            <a:pPr eaLnBrk="0" algn="ctr">
              <a:lnSpc>
                <a:spcPts val="1593"/>
              </a:lnSpc>
              <a:spcBef>
                <a:spcPts val="0"/>
              </a:spcBef>
              <a:spcAft>
                <a:spcPts val="0"/>
              </a:spcAft>
            </a:pPr>
            <a:r>
              <a:rPr sz="1275" b="0">
                <a:solidFill>
                  <a:srgbClr val="FFFFFF"/>
                </a:solidFill>
                <a:latin typeface="Noto Sans KR"/>
              </a:rPr>
              <a:t>제주특별자치도 제주시 · 고내포구</a:t>
            </a:r>
          </a:p>
          <a:p>
            <a:pPr eaLnBrk="0" algn="ctr">
              <a:lnSpc>
                <a:spcPts val="1593"/>
              </a:lnSpc>
              <a:spcBef>
                <a:spcPts val="0"/>
              </a:spcBef>
              <a:spcAft>
                <a:spcPts val="0"/>
              </a:spcAft>
            </a:pPr>
            <a:r>
              <a:rPr sz="1275" b="0">
                <a:solidFill>
                  <a:srgbClr val="FFFFFF"/>
                </a:solidFill>
                <a:latin typeface="Noto Sans KR"/>
              </a:rPr>
              <a:t>출처: 한국관광공사 TourAPI</a:t>
            </a:r>
          </a:p>
        </p:txBody>
      </p:sp>
    </p:spTree>
    <p:extLst>
      <p:ext uri="{BB962C8B-B14F-4D97-AF65-F5344CB8AC3E}">
        <p14:creationId xmlns:p14="http://schemas.microsoft.com/office/powerpoint/2010/main" val="655411831"/>
      </p:ext>
    </p:extLst>
  </p:cSld>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33" name="kpi-reason-card"/>
          <p:cNvSpPr/>
          <p:nvPr/>
        </p:nvSpPr>
        <p:spPr>
          <a:xfrm>
            <a:off x="1009650" y="2714625"/>
            <a:ext cx="6762750" cy="4981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2.2 목표 KPI 산출근거</a:t>
            </a:r>
          </a:p>
        </p:txBody>
      </p:sp>
      <p:sp>
        <p:nvSpPr>
          <p:cNvPr id="4" name="kpi-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목표율을 정한 이유와 3개월 동안 추가로 달성할 규모</a:t>
            </a:r>
          </a:p>
        </p:txBody>
      </p:sp>
      <p:pic>
        <p:nvPicPr>
          <p:cNvPr id="30" name="kpi-reason-icon" descr="target-red.png"/>
          <p:cNvPicPr>
            <a:picLocks noChangeAspect="1"/>
          </p:cNvPicPr>
          <p:nvPr/>
        </p:nvPicPr>
        <p:blipFill>
          <a:blip r:embed="rId6"/>
          <a:stretch>
            <a:fillRect/>
          </a:stretch>
        </p:blipFill>
        <p:spPr>
          <a:xfrm>
            <a:off x="1200150" y="2895600"/>
            <a:ext cx="809625" cy="809625"/>
          </a:xfrm>
          <a:prstGeom prst="rect">
            <a:avLst/>
          </a:prstGeom>
        </p:spPr>
      </p:pic>
      <p:sp>
        <p:nvSpPr>
          <p:cNvPr id="6" name="kpi-reason-title"/>
          <p:cNvSpPr txBox="1"/>
          <p:nvPr/>
        </p:nvSpPr>
        <p:spPr>
          <a:xfrm>
            <a:off x="2247900" y="2952750"/>
            <a:ext cx="5410200" cy="533400"/>
          </a:xfrm>
          <a:prstGeom prst="rect">
            <a:avLst/>
          </a:prstGeom>
          <a:noFill/>
        </p:spPr>
        <p:txBody>
          <a:bodyPr wrap="none" lIns="57150" rIns="57150" tIns="38100" bIns="38100" anchor="t">
            <a:noAutofit/>
          </a:bodyPr>
          <a:lstStyle/>
          <a:p>
            <a:pPr eaLnBrk="0">
              <a:lnSpc>
                <a:spcPts val="2718"/>
              </a:lnSpc>
              <a:spcBef>
                <a:spcPts val="0"/>
              </a:spcBef>
              <a:spcAft>
                <a:spcPts val="0"/>
              </a:spcAft>
            </a:pPr>
            <a:r>
              <a:rPr sz="2175" b="1">
                <a:solidFill>
                  <a:srgbClr val="202124"/>
                </a:solidFill>
                <a:latin typeface="Noto Sans KR"/>
              </a:rPr>
              <a:t>목표를 정한 이유</a:t>
            </a:r>
          </a:p>
        </p:txBody>
      </p:sp>
      <p:sp>
        <p:nvSpPr>
          <p:cNvPr id="7" name="kpi-reason"/>
          <p:cNvSpPr txBox="1"/>
          <p:nvPr/>
        </p:nvSpPr>
        <p:spPr>
          <a:xfrm>
            <a:off x="1200150" y="3886200"/>
            <a:ext cx="6648450" cy="1076325"/>
          </a:xfrm>
          <a:prstGeom prst="rect">
            <a:avLst/>
          </a:prstGeom>
          <a:noFill/>
        </p:spPr>
        <p:txBody>
          <a:bodyPr wrap="none" lIns="57150" rIns="57150" tIns="38100" bIns="38100" anchor="t">
            <a:noAutofit/>
          </a:bodyPr>
          <a:lstStyle/>
          <a:p>
            <a:pPr eaLnBrk="0">
              <a:lnSpc>
                <a:spcPts val="2437"/>
              </a:lnSpc>
              <a:spcBef>
                <a:spcPts val="0"/>
              </a:spcBef>
              <a:spcAft>
                <a:spcPts val="0"/>
              </a:spcAft>
            </a:pPr>
            <a:r>
              <a:rPr sz="1950" b="0">
                <a:solidFill>
                  <a:srgbClr val="62666C"/>
                </a:solidFill>
                <a:latin typeface="Noto Sans KR"/>
              </a:rPr>
              <a:t>사례의 운영 방식은 참고하되, 성장률을</a:t>
            </a:r>
          </a:p>
          <a:p>
            <a:pPr eaLnBrk="0">
              <a:lnSpc>
                <a:spcPts val="2437"/>
              </a:lnSpc>
              <a:spcBef>
                <a:spcPts val="0"/>
              </a:spcBef>
              <a:spcAft>
                <a:spcPts val="0"/>
              </a:spcAft>
            </a:pPr>
            <a:r>
              <a:rPr sz="1950" b="0">
                <a:solidFill>
                  <a:srgbClr val="62666C"/>
                </a:solidFill>
                <a:latin typeface="Noto Sans KR"/>
              </a:rPr>
              <a:t>그대로 옮기지 않고 초기 목표 5%를 채택했습니다.</a:t>
            </a:r>
          </a:p>
        </p:txBody>
      </p:sp>
      <p:sp>
        <p:nvSpPr>
          <p:cNvPr id="8" name="kpi-decision-band"/>
          <p:cNvSpPr/>
          <p:nvPr/>
        </p:nvSpPr>
        <p:spPr>
          <a:xfrm>
            <a:off x="1200150" y="5238750"/>
            <a:ext cx="6391275" cy="1047750"/>
          </a:xfrm>
          <a:prstGeom prst="roundRect">
            <a:avLst>
              <a:gd name="adj" fmla="val 10000"/>
            </a:avLst>
          </a:prstGeom>
          <a:solidFill>
            <a:srgbClr val="FFF0F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kpi-decision"/>
          <p:cNvSpPr txBox="1"/>
          <p:nvPr/>
        </p:nvSpPr>
        <p:spPr>
          <a:xfrm>
            <a:off x="1409700" y="5457825"/>
            <a:ext cx="5972175" cy="600075"/>
          </a:xfrm>
          <a:prstGeom prst="rect">
            <a:avLst/>
          </a:prstGeom>
          <a:noFill/>
        </p:spPr>
        <p:txBody>
          <a:bodyPr wrap="none" lIns="57150" rIns="57150" tIns="38100" bIns="38100" anchor="t">
            <a:noAutofit/>
          </a:bodyPr>
          <a:lstStyle/>
          <a:p>
            <a:pPr eaLnBrk="0">
              <a:lnSpc>
                <a:spcPts val="2812"/>
              </a:lnSpc>
              <a:spcBef>
                <a:spcPts val="0"/>
              </a:spcBef>
              <a:spcAft>
                <a:spcPts val="0"/>
              </a:spcAft>
            </a:pPr>
            <a:r>
              <a:rPr sz="2250" b="1">
                <a:solidFill>
                  <a:srgbClr val="AE2349"/>
                </a:solidFill>
                <a:latin typeface="Noto Sans KR"/>
              </a:rPr>
              <a:t>조정 가능한 최종월 목표 +5%</a:t>
            </a:r>
          </a:p>
        </p:txBody>
      </p:sp>
      <p:sp>
        <p:nvSpPr>
          <p:cNvPr id="10" name="kpi-step-explanation"/>
          <p:cNvSpPr txBox="1"/>
          <p:nvPr/>
        </p:nvSpPr>
        <p:spPr>
          <a:xfrm>
            <a:off x="1200150" y="6724650"/>
            <a:ext cx="6391275" cy="800100"/>
          </a:xfrm>
          <a:prstGeom prst="rect">
            <a:avLst/>
          </a:prstGeom>
          <a:noFill/>
        </p:spPr>
        <p:txBody>
          <a:bodyPr wrap="none" lIns="57150" rIns="57150" tIns="38100" bIns="38100" anchor="t">
            <a:noAutofit/>
          </a:bodyPr>
          <a:lstStyle/>
          <a:p>
            <a:pPr eaLnBrk="0">
              <a:lnSpc>
                <a:spcPts val="2062"/>
              </a:lnSpc>
              <a:spcBef>
                <a:spcPts val="0"/>
              </a:spcBef>
              <a:spcAft>
                <a:spcPts val="0"/>
              </a:spcAft>
            </a:pPr>
            <a:r>
              <a:rPr sz="1650" b="0">
                <a:solidFill>
                  <a:srgbClr val="62666C"/>
                </a:solidFill>
                <a:latin typeface="Noto Sans KR"/>
              </a:rPr>
              <a:t>첫 달부터 마지막 달까지 목표율을</a:t>
            </a:r>
          </a:p>
          <a:p>
            <a:pPr eaLnBrk="0">
              <a:lnSpc>
                <a:spcPts val="2062"/>
              </a:lnSpc>
              <a:spcBef>
                <a:spcPts val="0"/>
              </a:spcBef>
              <a:spcAft>
                <a:spcPts val="0"/>
              </a:spcAft>
            </a:pPr>
            <a:r>
              <a:rPr sz="1650" b="0">
                <a:solidFill>
                  <a:srgbClr val="62666C"/>
                </a:solidFill>
                <a:latin typeface="Noto Sans KR"/>
              </a:rPr>
              <a:t>단계적으로 높여 3개월 추가 목표를 합산합니다.</a:t>
            </a:r>
          </a:p>
        </p:txBody>
      </p:sp>
      <p:cxnSp>
        <p:nvCxnSpPr>
          <p:cNvPr id="11" name="kpi-to-visitors-0"/>
          <p:cNvCxnSpPr/>
          <p:nvPr/>
        </p:nvCxnSpPr>
        <p:spPr>
          <a:xfrm>
            <a:off x="7762875" y="5334000"/>
            <a:ext cx="4667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kpi-to-visitors-1"/>
          <p:cNvCxnSpPr/>
          <p:nvPr/>
        </p:nvCxnSpPr>
        <p:spPr>
          <a:xfrm flipV="1">
            <a:off x="8229600" y="3895725"/>
            <a:ext cx="0" cy="1438275"/>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kpi-to-visitors-2"/>
          <p:cNvCxnSpPr/>
          <p:nvPr/>
        </p:nvCxnSpPr>
        <p:spPr>
          <a:xfrm>
            <a:off x="8229600" y="3895725"/>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4" name="kpi-to-spending-0"/>
          <p:cNvCxnSpPr/>
          <p:nvPr/>
        </p:nvCxnSpPr>
        <p:spPr>
          <a:xfrm>
            <a:off x="8229600" y="5334000"/>
            <a:ext cx="0" cy="104775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5" name="kpi-to-spending-1"/>
          <p:cNvCxnSpPr/>
          <p:nvPr/>
        </p:nvCxnSpPr>
        <p:spPr>
          <a:xfrm>
            <a:off x="8229600" y="6381750"/>
            <a:ext cx="4667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6" name="kpi-impact-panel-0"/>
          <p:cNvSpPr/>
          <p:nvPr/>
        </p:nvSpPr>
        <p:spPr>
          <a:xfrm>
            <a:off x="8696325" y="2781300"/>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4" name="kpi-impact-icon-0" descr="users-ocean.png"/>
          <p:cNvPicPr>
            <a:picLocks noChangeAspect="1"/>
          </p:cNvPicPr>
          <p:nvPr/>
        </p:nvPicPr>
        <p:blipFill>
          <a:blip r:embed="rId9"/>
          <a:stretch>
            <a:fillRect/>
          </a:stretch>
        </p:blipFill>
        <p:spPr>
          <a:xfrm>
            <a:off x="8943975" y="3009900"/>
            <a:ext cx="523875" cy="523875"/>
          </a:xfrm>
          <a:prstGeom prst="rect">
            <a:avLst/>
          </a:prstGeom>
        </p:spPr>
      </p:pic>
      <p:sp>
        <p:nvSpPr>
          <p:cNvPr id="18" name="kpi-impact-title-0"/>
          <p:cNvSpPr txBox="1"/>
          <p:nvPr/>
        </p:nvSpPr>
        <p:spPr>
          <a:xfrm>
            <a:off x="9629775" y="3019425"/>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방문 목표</a:t>
            </a:r>
          </a:p>
        </p:txBody>
      </p:sp>
      <p:sp>
        <p:nvSpPr>
          <p:cNvPr id="19" name="kpi-impact-value-0"/>
          <p:cNvSpPr txBox="1"/>
          <p:nvPr/>
        </p:nvSpPr>
        <p:spPr>
          <a:xfrm>
            <a:off x="8934450" y="3686175"/>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27649B"/>
                </a:solidFill>
                <a:latin typeface="Noto Sans KR"/>
              </a:rPr>
              <a:t>↑ 348,601명</a:t>
            </a:r>
          </a:p>
        </p:txBody>
      </p:sp>
      <p:sp>
        <p:nvSpPr>
          <p:cNvPr id="20" name="kpi-impact-period-0"/>
          <p:cNvSpPr txBox="1"/>
          <p:nvPr/>
        </p:nvSpPr>
        <p:spPr>
          <a:xfrm>
            <a:off x="8953500" y="4505325"/>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+3.29%</a:t>
            </a:r>
          </a:p>
        </p:txBody>
      </p:sp>
      <p:sp>
        <p:nvSpPr>
          <p:cNvPr id="21" name="kpi-impact-panel-1"/>
          <p:cNvSpPr/>
          <p:nvPr/>
        </p:nvSpPr>
        <p:spPr>
          <a:xfrm>
            <a:off x="8696325" y="5267325"/>
            <a:ext cx="5534025" cy="2219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5" name="kpi-impact-icon-1" descr="coins-jade.png"/>
          <p:cNvPicPr>
            <a:picLocks noChangeAspect="1"/>
          </p:cNvPicPr>
          <p:nvPr/>
        </p:nvPicPr>
        <p:blipFill>
          <a:blip r:embed="rId10"/>
          <a:stretch>
            <a:fillRect/>
          </a:stretch>
        </p:blipFill>
        <p:spPr>
          <a:xfrm>
            <a:off x="8943975" y="5495925"/>
            <a:ext cx="523875" cy="523875"/>
          </a:xfrm>
          <a:prstGeom prst="rect">
            <a:avLst/>
          </a:prstGeom>
        </p:spPr>
      </p:pic>
      <p:sp>
        <p:nvSpPr>
          <p:cNvPr id="23" name="kpi-impact-title-1"/>
          <p:cNvSpPr txBox="1"/>
          <p:nvPr/>
        </p:nvSpPr>
        <p:spPr>
          <a:xfrm>
            <a:off x="9629775" y="5505450"/>
            <a:ext cx="4314825" cy="466725"/>
          </a:xfrm>
          <a:prstGeom prst="rect">
            <a:avLst/>
          </a:prstGeom>
          <a:noFill/>
        </p:spPr>
        <p:txBody>
          <a:bodyPr wrap="none" lIns="57150" rIns="57150" tIns="38100" bIns="38100" anchor="t">
            <a:noAutofit/>
          </a:bodyPr>
          <a:lstStyle/>
          <a:p>
            <a:pPr eaLnBrk="0">
              <a:lnSpc>
                <a:spcPts val="2343"/>
              </a:lnSpc>
              <a:spcBef>
                <a:spcPts val="0"/>
              </a:spcBef>
              <a:spcAft>
                <a:spcPts val="0"/>
              </a:spcAft>
            </a:pPr>
            <a:r>
              <a:rPr sz="1875" b="1">
                <a:solidFill>
                  <a:srgbClr val="202124"/>
                </a:solidFill>
                <a:latin typeface="Noto Sans KR"/>
              </a:rPr>
              <a:t>추가 소비 목표</a:t>
            </a:r>
          </a:p>
        </p:txBody>
      </p:sp>
      <p:sp>
        <p:nvSpPr>
          <p:cNvPr id="24" name="kpi-impact-value-1"/>
          <p:cNvSpPr txBox="1"/>
          <p:nvPr/>
        </p:nvSpPr>
        <p:spPr>
          <a:xfrm>
            <a:off x="8934450" y="6172200"/>
            <a:ext cx="5095875" cy="742950"/>
          </a:xfrm>
          <a:prstGeom prst="rect">
            <a:avLst/>
          </a:prstGeom>
          <a:noFill/>
        </p:spPr>
        <p:txBody>
          <a:bodyPr wrap="none" lIns="57150" rIns="57150" tIns="38100" bIns="38100" anchor="t">
            <a:noAutofit/>
          </a:bodyPr>
          <a:lstStyle/>
          <a:p>
            <a:pPr eaLnBrk="0">
              <a:lnSpc>
                <a:spcPts val="3843"/>
              </a:lnSpc>
              <a:spcBef>
                <a:spcPts val="0"/>
              </a:spcBef>
              <a:spcAft>
                <a:spcPts val="0"/>
              </a:spcAft>
            </a:pPr>
            <a:r>
              <a:rPr sz="3075" b="1">
                <a:solidFill>
                  <a:srgbClr val="187C70"/>
                </a:solidFill>
                <a:latin typeface="Noto Sans KR"/>
              </a:rPr>
              <a:t>↑ 148.12억 원</a:t>
            </a:r>
          </a:p>
        </p:txBody>
      </p:sp>
      <p:sp>
        <p:nvSpPr>
          <p:cNvPr id="25" name="kpi-impact-period-1"/>
          <p:cNvSpPr txBox="1"/>
          <p:nvPr/>
        </p:nvSpPr>
        <p:spPr>
          <a:xfrm>
            <a:off x="8953500" y="6991350"/>
            <a:ext cx="5048250" cy="3333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3개월 월별 합계 · +3.33%</a:t>
            </a:r>
          </a:p>
        </p:txBody>
      </p:sp>
      <p:sp>
        <p:nvSpPr>
          <p:cNvPr id="26" name="kpi-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목표는 계획 가정입니다. 사례의 사업 효과를 예측한 값이 아니며, 방문 합계에는 월간 중복이 포함됩니다.</a:t>
            </a:r>
          </a:p>
        </p:txBody>
      </p:sp>
      <p:sp>
        <p:nvSpPr>
          <p:cNvPr id="28"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2. 사업 목표</a:t>
            </a:r>
          </a:p>
        </p:txBody>
      </p:sp>
      <p:sp>
        <p:nvSpPr>
          <p:cNvPr id="29"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07 / 15</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3F3F3"/>
        </a:solidFill>
        <a:effectLst/>
      </p:bgPr>
    </p:bg>
    <p:spTree>
      <p:nvGrpSpPr>
        <p:cNvPr id="1" name=""/>
        <p:cNvGrpSpPr/>
        <p:nvPr/>
      </p:nvGrpSpPr>
      <p:grpSpPr/>
      <p:sp>
        <p:nvSpPr>
          <p:cNvPr id="66" name="pipeline-agent-card-1086"/>
          <p:cNvSpPr/>
          <p:nvPr/>
        </p:nvSpPr>
        <p:spPr>
          <a:xfrm>
            <a:off x="103441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pipeline-agent-card-864"/>
          <p:cNvSpPr/>
          <p:nvPr/>
        </p:nvSpPr>
        <p:spPr>
          <a:xfrm>
            <a:off x="822960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pipeline-agent-card-642"/>
          <p:cNvSpPr/>
          <p:nvPr/>
        </p:nvSpPr>
        <p:spPr>
          <a:xfrm>
            <a:off x="6115050" y="2686050"/>
            <a:ext cx="1905000" cy="33623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 name="title"/>
          <p:cNvSpPr txBox="1"/>
          <p:nvPr/>
        </p:nvSpPr>
        <p:spPr>
          <a:xfrm>
            <a:off x="952500" y="819150"/>
            <a:ext cx="13335000" cy="733425"/>
          </a:xfrm>
          <a:prstGeom prst="rect">
            <a:avLst/>
          </a:prstGeom>
          <a:noFill/>
        </p:spPr>
        <p:txBody>
          <a:bodyPr wrap="none" lIns="57150" rIns="57150" tIns="38100" bIns="38100" anchor="ctr">
            <a:noAutofit/>
          </a:bodyPr>
          <a:lstStyle/>
          <a:p>
            <a:pPr eaLnBrk="0" algn="ctr">
              <a:lnSpc>
                <a:spcPts val="3750"/>
              </a:lnSpc>
              <a:spcBef>
                <a:spcPts val="0"/>
              </a:spcBef>
              <a:spcAft>
                <a:spcPts val="0"/>
              </a:spcAft>
            </a:pPr>
            <a:r>
              <a:rPr sz="3000" b="1">
                <a:solidFill>
                  <a:srgbClr val="202124"/>
                </a:solidFill>
                <a:latin typeface="Noto Sans KR"/>
              </a:rPr>
              <a:t>5.1 기획서 생성 파이프라인</a:t>
            </a:r>
          </a:p>
        </p:txBody>
      </p:sp>
      <p:sp>
        <p:nvSpPr>
          <p:cNvPr id="4" name="pipeline-intro"/>
          <p:cNvSpPr txBox="1"/>
          <p:nvPr/>
        </p:nvSpPr>
        <p:spPr>
          <a:xfrm>
            <a:off x="1009650" y="2009775"/>
            <a:ext cx="13220700" cy="447675"/>
          </a:xfrm>
          <a:prstGeom prst="rect">
            <a:avLst/>
          </a:prstGeom>
          <a:noFill/>
        </p:spPr>
        <p:txBody>
          <a:bodyPr wrap="none" lIns="57150" rIns="57150" tIns="38100" bIns="38100" anchor="ctr">
            <a:noAutofit/>
          </a:bodyPr>
          <a:lstStyle/>
          <a:p>
            <a:pPr eaLnBrk="0" algn="ctr">
              <a:lnSpc>
                <a:spcPts val="2250"/>
              </a:lnSpc>
              <a:spcBef>
                <a:spcPts val="0"/>
              </a:spcBef>
              <a:spcAft>
                <a:spcPts val="0"/>
              </a:spcAft>
            </a:pPr>
            <a:r>
              <a:rPr sz="1800" b="0">
                <a:solidFill>
                  <a:srgbClr val="62666C"/>
                </a:solidFill>
                <a:latin typeface="Noto Sans KR"/>
              </a:rPr>
              <a:t>5개 전문 에이전트가 조사·비교·작성·검수를 나누어 수행합니다</a:t>
            </a:r>
          </a:p>
        </p:txBody>
      </p:sp>
      <p:cxnSp>
        <p:nvCxnSpPr>
          <p:cNvPr id="5" name="start-to-fork-0"/>
          <p:cNvCxnSpPr/>
          <p:nvPr/>
        </p:nvCxnSpPr>
        <p:spPr>
          <a:xfrm>
            <a:off x="2457450" y="4324350"/>
            <a:ext cx="238125"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6" name="fork-evidence-0"/>
          <p:cNvCxnSpPr/>
          <p:nvPr/>
        </p:nvCxnSpPr>
        <p:spPr>
          <a:xfrm flipV="1">
            <a:off x="2695575"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7" name="fork-evidence-1"/>
          <p:cNvCxnSpPr/>
          <p:nvPr/>
        </p:nvCxnSpPr>
        <p:spPr>
          <a:xfrm>
            <a:off x="2695575" y="3371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8" name="fork-case-0"/>
          <p:cNvCxnSpPr/>
          <p:nvPr/>
        </p:nvCxnSpPr>
        <p:spPr>
          <a:xfrm>
            <a:off x="2695575"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9" name="fork-case-1"/>
          <p:cNvCxnSpPr/>
          <p:nvPr/>
        </p:nvCxnSpPr>
        <p:spPr>
          <a:xfrm>
            <a:off x="2695575" y="5276850"/>
            <a:ext cx="25717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0" name="join-evidence-0"/>
          <p:cNvCxnSpPr/>
          <p:nvPr/>
        </p:nvCxnSpPr>
        <p:spPr>
          <a:xfrm>
            <a:off x="5715000" y="3371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1" name="join-evidence-1"/>
          <p:cNvCxnSpPr/>
          <p:nvPr/>
        </p:nvCxnSpPr>
        <p:spPr>
          <a:xfrm>
            <a:off x="5924550" y="33718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2" name="join-case-0"/>
          <p:cNvCxnSpPr/>
          <p:nvPr/>
        </p:nvCxnSpPr>
        <p:spPr>
          <a:xfrm>
            <a:off x="5715000" y="5276850"/>
            <a:ext cx="209550" cy="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3" name="join-case-1"/>
          <p:cNvCxnSpPr/>
          <p:nvPr/>
        </p:nvCxnSpPr>
        <p:spPr>
          <a:xfrm flipV="1">
            <a:off x="5924550" y="4324350"/>
            <a:ext cx="0" cy="952500"/>
          </a:xfrm>
          <a:prstGeom prst="line">
            <a:avLst/>
          </a:prstGeom>
          <a:ln w="21590">
            <a:solidFill>
              <a:srgbClr val="98A2AD"/>
            </a:solidFill>
          </a:ln>
        </p:spPr>
        <p:style>
          <a:lnRef idx="2">
            <a:schemeClr val="accent1"/>
          </a:lnRef>
          <a:fillRef idx="0">
            <a:schemeClr val="accent1"/>
          </a:fillRef>
          <a:effectRef idx="1">
            <a:schemeClr val="accent1"/>
          </a:effectRef>
          <a:fontRef idx="minor">
            <a:schemeClr val="tx1"/>
          </a:fontRef>
        </p:style>
      </p:cxnSp>
      <p:cxnSp>
        <p:nvCxnSpPr>
          <p:cNvPr id="14" name="join-compare-0"/>
          <p:cNvCxnSpPr/>
          <p:nvPr/>
        </p:nvCxnSpPr>
        <p:spPr>
          <a:xfrm>
            <a:off x="5924550" y="4324350"/>
            <a:ext cx="276225"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5" name="pipeline-next-0-0"/>
          <p:cNvCxnSpPr/>
          <p:nvPr/>
        </p:nvCxnSpPr>
        <p:spPr>
          <a:xfrm>
            <a:off x="790575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6" name="pipeline-next-1-0"/>
          <p:cNvCxnSpPr/>
          <p:nvPr/>
        </p:nvCxnSpPr>
        <p:spPr>
          <a:xfrm>
            <a:off x="10020300" y="4324350"/>
            <a:ext cx="41910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17" name="pipeline-next-2-0"/>
          <p:cNvCxnSpPr/>
          <p:nvPr/>
        </p:nvCxnSpPr>
        <p:spPr>
          <a:xfrm>
            <a:off x="12134850" y="4324350"/>
            <a:ext cx="628650" cy="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18" name="research-background"/>
          <p:cNvSpPr/>
          <p:nvPr/>
        </p:nvSpPr>
        <p:spPr>
          <a:xfrm>
            <a:off x="2952750" y="2647950"/>
            <a:ext cx="2762250" cy="345757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7" name="pipeline-evidence-icon" descr="map-pinned-ocean.png"/>
          <p:cNvPicPr>
            <a:picLocks noChangeAspect="1"/>
          </p:cNvPicPr>
          <p:nvPr/>
        </p:nvPicPr>
        <p:blipFill>
          <a:blip r:embed="rId19"/>
          <a:stretch>
            <a:fillRect/>
          </a:stretch>
        </p:blipFill>
        <p:spPr>
          <a:xfrm>
            <a:off x="3143250" y="2981325"/>
            <a:ext cx="542925" cy="542925"/>
          </a:xfrm>
          <a:prstGeom prst="rect">
            <a:avLst/>
          </a:prstGeom>
        </p:spPr>
      </p:pic>
      <p:sp>
        <p:nvSpPr>
          <p:cNvPr id="20" name="pipeline-evidence-title"/>
          <p:cNvSpPr txBox="1"/>
          <p:nvPr/>
        </p:nvSpPr>
        <p:spPr>
          <a:xfrm>
            <a:off x="3800475" y="290512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① 지역</a:t>
            </a:r>
          </a:p>
          <a:p>
            <a:pPr eaLnBrk="0">
              <a:lnSpc>
                <a:spcPts val="2203"/>
              </a:lnSpc>
              <a:spcBef>
                <a:spcPts val="0"/>
              </a:spcBef>
              <a:spcAft>
                <a:spcPts val="0"/>
              </a:spcAft>
            </a:pPr>
            <a:r>
              <a:rPr sz="1762" b="1">
                <a:solidFill>
                  <a:srgbClr val="202124"/>
                </a:solidFill>
                <a:latin typeface="Noto Sans KR"/>
              </a:rPr>
              <a:t>근거 정리</a:t>
            </a:r>
          </a:p>
        </p:txBody>
      </p:sp>
      <p:sp>
        <p:nvSpPr>
          <p:cNvPr id="21" name="pipeline-evidence-subtitle"/>
          <p:cNvSpPr txBox="1"/>
          <p:nvPr/>
        </p:nvSpPr>
        <p:spPr>
          <a:xfrm>
            <a:off x="3086100" y="368617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SQL · 공식 관광자료</a:t>
            </a:r>
          </a:p>
        </p:txBody>
      </p:sp>
      <p:pic>
        <p:nvPicPr>
          <p:cNvPr id="68" name="pipeline-case-icon" descr="search-check-violet.png"/>
          <p:cNvPicPr>
            <a:picLocks noChangeAspect="1"/>
          </p:cNvPicPr>
          <p:nvPr/>
        </p:nvPicPr>
        <p:blipFill>
          <a:blip r:embed="rId20"/>
          <a:stretch>
            <a:fillRect/>
          </a:stretch>
        </p:blipFill>
        <p:spPr>
          <a:xfrm>
            <a:off x="3143250" y="4867275"/>
            <a:ext cx="542925" cy="542925"/>
          </a:xfrm>
          <a:prstGeom prst="rect">
            <a:avLst/>
          </a:prstGeom>
        </p:spPr>
      </p:pic>
      <p:sp>
        <p:nvSpPr>
          <p:cNvPr id="23" name="pipeline-case-title"/>
          <p:cNvSpPr txBox="1"/>
          <p:nvPr/>
        </p:nvSpPr>
        <p:spPr>
          <a:xfrm>
            <a:off x="3800475" y="4791075"/>
            <a:ext cx="1800225" cy="638175"/>
          </a:xfrm>
          <a:prstGeom prst="rect">
            <a:avLst/>
          </a:prstGeom>
          <a:noFill/>
        </p:spPr>
        <p:txBody>
          <a:bodyPr wrap="none" lIns="57150" rIns="57150" tIns="38100" bIns="38100" anchor="t">
            <a:noAutofit/>
          </a:bodyPr>
          <a:lstStyle/>
          <a:p>
            <a:pPr eaLnBrk="0">
              <a:lnSpc>
                <a:spcPts val="2203"/>
              </a:lnSpc>
              <a:spcBef>
                <a:spcPts val="0"/>
              </a:spcBef>
              <a:spcAft>
                <a:spcPts val="0"/>
              </a:spcAft>
            </a:pPr>
            <a:r>
              <a:rPr sz="1762" b="1">
                <a:solidFill>
                  <a:srgbClr val="202124"/>
                </a:solidFill>
                <a:latin typeface="Noto Sans KR"/>
              </a:rPr>
              <a:t>② 타지역</a:t>
            </a:r>
          </a:p>
          <a:p>
            <a:pPr eaLnBrk="0">
              <a:lnSpc>
                <a:spcPts val="2203"/>
              </a:lnSpc>
              <a:spcBef>
                <a:spcPts val="0"/>
              </a:spcBef>
              <a:spcAft>
                <a:spcPts val="0"/>
              </a:spcAft>
            </a:pPr>
            <a:r>
              <a:rPr sz="1762" b="1">
                <a:solidFill>
                  <a:srgbClr val="202124"/>
                </a:solidFill>
                <a:latin typeface="Noto Sans KR"/>
              </a:rPr>
              <a:t>사례 조사</a:t>
            </a:r>
          </a:p>
        </p:txBody>
      </p:sp>
      <p:sp>
        <p:nvSpPr>
          <p:cNvPr id="24" name="pipeline-case-subtitle"/>
          <p:cNvSpPr txBox="1"/>
          <p:nvPr/>
        </p:nvSpPr>
        <p:spPr>
          <a:xfrm>
            <a:off x="3086100" y="5572125"/>
            <a:ext cx="2486025" cy="485775"/>
          </a:xfrm>
          <a:prstGeom prst="rect">
            <a:avLst/>
          </a:prstGeom>
          <a:noFill/>
        </p:spPr>
        <p:txBody>
          <a:bodyPr wrap="none" lIns="57150" rIns="57150" tIns="38100" bIns="38100" anchor="t">
            <a:noAutofit/>
          </a:bodyPr>
          <a:lstStyle/>
          <a:p>
            <a:pPr eaLnBrk="0" algn="ctr">
              <a:lnSpc>
                <a:spcPts val="1875"/>
              </a:lnSpc>
              <a:spcBef>
                <a:spcPts val="0"/>
              </a:spcBef>
              <a:spcAft>
                <a:spcPts val="0"/>
              </a:spcAft>
            </a:pPr>
            <a:r>
              <a:rPr sz="1500" b="0">
                <a:solidFill>
                  <a:srgbClr val="62666C"/>
                </a:solidFill>
                <a:latin typeface="Noto Sans KR"/>
              </a:rPr>
              <a:t>OpenAI · 공식 사업·성과</a:t>
            </a:r>
          </a:p>
        </p:txBody>
      </p:sp>
      <p:pic>
        <p:nvPicPr>
          <p:cNvPr id="69" name="pipeline-click-icon" descr="mouse-pointer-click-slate.png"/>
          <p:cNvPicPr>
            <a:picLocks noChangeAspect="1"/>
          </p:cNvPicPr>
          <p:nvPr/>
        </p:nvPicPr>
        <p:blipFill>
          <a:blip r:embed="rId21"/>
          <a:stretch>
            <a:fillRect/>
          </a:stretch>
        </p:blipFill>
        <p:spPr>
          <a:xfrm>
            <a:off x="1352550" y="3476625"/>
            <a:ext cx="819150" cy="819150"/>
          </a:xfrm>
          <a:prstGeom prst="rect">
            <a:avLst/>
          </a:prstGeom>
        </p:spPr>
      </p:pic>
      <p:sp>
        <p:nvSpPr>
          <p:cNvPr id="26" name="pipeline-click"/>
          <p:cNvSpPr txBox="1"/>
          <p:nvPr/>
        </p:nvSpPr>
        <p:spPr>
          <a:xfrm>
            <a:off x="1009650" y="4600575"/>
            <a:ext cx="1428750" cy="866775"/>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02124"/>
                </a:solidFill>
                <a:latin typeface="Noto Sans KR"/>
              </a:rPr>
              <a:t>기획서 생성</a:t>
            </a:r>
          </a:p>
          <a:p>
            <a:pPr eaLnBrk="0" algn="ctr">
              <a:lnSpc>
                <a:spcPts val="2531"/>
              </a:lnSpc>
              <a:spcBef>
                <a:spcPts val="0"/>
              </a:spcBef>
              <a:spcAft>
                <a:spcPts val="0"/>
              </a:spcAft>
            </a:pPr>
            <a:r>
              <a:rPr sz="2025" b="1">
                <a:solidFill>
                  <a:srgbClr val="202124"/>
                </a:solidFill>
                <a:latin typeface="Noto Sans KR"/>
              </a:rPr>
              <a:t>클릭</a:t>
            </a:r>
          </a:p>
        </p:txBody>
      </p:sp>
      <p:sp>
        <p:nvSpPr>
          <p:cNvPr id="27" name="pipeline-model-652"/>
          <p:cNvSpPr txBox="1"/>
          <p:nvPr/>
        </p:nvSpPr>
        <p:spPr>
          <a:xfrm>
            <a:off x="62103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27649B"/>
                </a:solidFill>
                <a:latin typeface="Noto Sans KR"/>
              </a:rPr>
              <a:t>Qwen</a:t>
            </a:r>
          </a:p>
        </p:txBody>
      </p:sp>
      <p:pic>
        <p:nvPicPr>
          <p:cNvPr id="70" name="pipeline-icon-652" descr="git-compare-arrows-ocean.png"/>
          <p:cNvPicPr>
            <a:picLocks noChangeAspect="1"/>
          </p:cNvPicPr>
          <p:nvPr/>
        </p:nvPicPr>
        <p:blipFill>
          <a:blip r:embed="rId22"/>
          <a:stretch>
            <a:fillRect/>
          </a:stretch>
        </p:blipFill>
        <p:spPr>
          <a:xfrm>
            <a:off x="6677025" y="3705225"/>
            <a:ext cx="762000" cy="762000"/>
          </a:xfrm>
          <a:prstGeom prst="rect">
            <a:avLst/>
          </a:prstGeom>
        </p:spPr>
      </p:pic>
      <p:sp>
        <p:nvSpPr>
          <p:cNvPr id="29" name="pipeline-title-652"/>
          <p:cNvSpPr txBox="1"/>
          <p:nvPr/>
        </p:nvSpPr>
        <p:spPr>
          <a:xfrm>
            <a:off x="61626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③ 후보 비교</a:t>
            </a:r>
          </a:p>
        </p:txBody>
      </p:sp>
      <p:sp>
        <p:nvSpPr>
          <p:cNvPr id="30" name="pipeline-body-652"/>
          <p:cNvSpPr txBox="1"/>
          <p:nvPr/>
        </p:nvSpPr>
        <p:spPr>
          <a:xfrm>
            <a:off x="61626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지역에 맞는</a:t>
            </a:r>
          </a:p>
          <a:p>
            <a:pPr eaLnBrk="0" algn="ctr">
              <a:lnSpc>
                <a:spcPts val="2062"/>
              </a:lnSpc>
              <a:spcBef>
                <a:spcPts val="0"/>
              </a:spcBef>
              <a:spcAft>
                <a:spcPts val="0"/>
              </a:spcAft>
            </a:pPr>
            <a:r>
              <a:rPr sz="1650" b="0">
                <a:solidFill>
                  <a:srgbClr val="62666C"/>
                </a:solidFill>
                <a:latin typeface="Noto Sans KR"/>
              </a:rPr>
              <a:t>사업 선택</a:t>
            </a:r>
          </a:p>
        </p:txBody>
      </p:sp>
      <p:sp>
        <p:nvSpPr>
          <p:cNvPr id="31" name="pipeline-model-874"/>
          <p:cNvSpPr txBox="1"/>
          <p:nvPr/>
        </p:nvSpPr>
        <p:spPr>
          <a:xfrm>
            <a:off x="832485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A96924"/>
                </a:solidFill>
                <a:latin typeface="Noto Sans KR"/>
              </a:rPr>
              <a:t>Gemma</a:t>
            </a:r>
          </a:p>
        </p:txBody>
      </p:sp>
      <p:pic>
        <p:nvPicPr>
          <p:cNvPr id="71" name="pipeline-icon-874" descr="notebook-pen-ochre.png"/>
          <p:cNvPicPr>
            <a:picLocks noChangeAspect="1"/>
          </p:cNvPicPr>
          <p:nvPr/>
        </p:nvPicPr>
        <p:blipFill>
          <a:blip r:embed="rId23"/>
          <a:stretch>
            <a:fillRect/>
          </a:stretch>
        </p:blipFill>
        <p:spPr>
          <a:xfrm>
            <a:off x="8791575" y="3705225"/>
            <a:ext cx="762000" cy="762000"/>
          </a:xfrm>
          <a:prstGeom prst="rect">
            <a:avLst/>
          </a:prstGeom>
        </p:spPr>
      </p:pic>
      <p:sp>
        <p:nvSpPr>
          <p:cNvPr id="33" name="pipeline-title-874"/>
          <p:cNvSpPr txBox="1"/>
          <p:nvPr/>
        </p:nvSpPr>
        <p:spPr>
          <a:xfrm>
            <a:off x="827722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④ 본문 작성</a:t>
            </a:r>
          </a:p>
        </p:txBody>
      </p:sp>
      <p:sp>
        <p:nvSpPr>
          <p:cNvPr id="34" name="pipeline-body-874"/>
          <p:cNvSpPr txBox="1"/>
          <p:nvPr/>
        </p:nvSpPr>
        <p:spPr>
          <a:xfrm>
            <a:off x="827722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선정 근거로</a:t>
            </a:r>
          </a:p>
          <a:p>
            <a:pPr eaLnBrk="0" algn="ctr">
              <a:lnSpc>
                <a:spcPts val="2062"/>
              </a:lnSpc>
              <a:spcBef>
                <a:spcPts val="0"/>
              </a:spcBef>
              <a:spcAft>
                <a:spcPts val="0"/>
              </a:spcAft>
            </a:pPr>
            <a:r>
              <a:rPr sz="1650" b="0">
                <a:solidFill>
                  <a:srgbClr val="62666C"/>
                </a:solidFill>
                <a:latin typeface="Noto Sans KR"/>
              </a:rPr>
              <a:t>실행 계획 작성</a:t>
            </a:r>
          </a:p>
        </p:txBody>
      </p:sp>
      <p:sp>
        <p:nvSpPr>
          <p:cNvPr id="35" name="pipeline-model-1096"/>
          <p:cNvSpPr txBox="1"/>
          <p:nvPr/>
        </p:nvSpPr>
        <p:spPr>
          <a:xfrm>
            <a:off x="10439400" y="2933700"/>
            <a:ext cx="1695450" cy="457200"/>
          </a:xfrm>
          <a:prstGeom prst="rect">
            <a:avLst/>
          </a:prstGeom>
          <a:noFill/>
        </p:spPr>
        <p:txBody>
          <a:bodyPr wrap="none" lIns="57150" rIns="57150" tIns="38100" bIns="38100" anchor="t">
            <a:noAutofit/>
          </a:bodyPr>
          <a:lstStyle/>
          <a:p>
            <a:pPr eaLnBrk="0" algn="ctr">
              <a:lnSpc>
                <a:spcPts val="2531"/>
              </a:lnSpc>
              <a:spcBef>
                <a:spcPts val="0"/>
              </a:spcBef>
              <a:spcAft>
                <a:spcPts val="0"/>
              </a:spcAft>
            </a:pPr>
            <a:r>
              <a:rPr sz="2025" b="1">
                <a:solidFill>
                  <a:srgbClr val="187C70"/>
                </a:solidFill>
                <a:latin typeface="Noto Sans KR"/>
              </a:rPr>
              <a:t>Qwen</a:t>
            </a:r>
          </a:p>
        </p:txBody>
      </p:sp>
      <p:pic>
        <p:nvPicPr>
          <p:cNvPr id="72" name="pipeline-icon-1096" descr="shield-check-jade.png"/>
          <p:cNvPicPr>
            <a:picLocks noChangeAspect="1"/>
          </p:cNvPicPr>
          <p:nvPr/>
        </p:nvPicPr>
        <p:blipFill>
          <a:blip r:embed="rId24"/>
          <a:stretch>
            <a:fillRect/>
          </a:stretch>
        </p:blipFill>
        <p:spPr>
          <a:xfrm>
            <a:off x="10906125" y="3705225"/>
            <a:ext cx="762000" cy="762000"/>
          </a:xfrm>
          <a:prstGeom prst="rect">
            <a:avLst/>
          </a:prstGeom>
        </p:spPr>
      </p:pic>
      <p:sp>
        <p:nvSpPr>
          <p:cNvPr id="37" name="pipeline-title-1096"/>
          <p:cNvSpPr txBox="1"/>
          <p:nvPr/>
        </p:nvSpPr>
        <p:spPr>
          <a:xfrm>
            <a:off x="10391775" y="4724400"/>
            <a:ext cx="179070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⑤ 품질 검수</a:t>
            </a:r>
          </a:p>
        </p:txBody>
      </p:sp>
      <p:sp>
        <p:nvSpPr>
          <p:cNvPr id="38" name="pipeline-body-1096"/>
          <p:cNvSpPr txBox="1"/>
          <p:nvPr/>
        </p:nvSpPr>
        <p:spPr>
          <a:xfrm>
            <a:off x="10391775" y="5276850"/>
            <a:ext cx="179070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수치·출처와</a:t>
            </a:r>
          </a:p>
          <a:p>
            <a:pPr eaLnBrk="0" algn="ctr">
              <a:lnSpc>
                <a:spcPts val="2062"/>
              </a:lnSpc>
              <a:spcBef>
                <a:spcPts val="0"/>
              </a:spcBef>
              <a:spcAft>
                <a:spcPts val="0"/>
              </a:spcAft>
            </a:pPr>
            <a:r>
              <a:rPr sz="1650" b="0">
                <a:solidFill>
                  <a:srgbClr val="62666C"/>
                </a:solidFill>
                <a:latin typeface="Noto Sans KR"/>
              </a:rPr>
              <a:t>본문 연결 확인</a:t>
            </a:r>
          </a:p>
        </p:txBody>
      </p:sp>
      <p:pic>
        <p:nvPicPr>
          <p:cNvPr id="73" name="pipeline-output-icon" descr="files-slate.png"/>
          <p:cNvPicPr>
            <a:picLocks noChangeAspect="1"/>
          </p:cNvPicPr>
          <p:nvPr/>
        </p:nvPicPr>
        <p:blipFill>
          <a:blip r:embed="rId25"/>
          <a:stretch>
            <a:fillRect/>
          </a:stretch>
        </p:blipFill>
        <p:spPr>
          <a:xfrm>
            <a:off x="13068300" y="3705225"/>
            <a:ext cx="723900" cy="723900"/>
          </a:xfrm>
          <a:prstGeom prst="rect">
            <a:avLst/>
          </a:prstGeom>
        </p:spPr>
      </p:pic>
      <p:sp>
        <p:nvSpPr>
          <p:cNvPr id="40" name="pipeline-output-title"/>
          <p:cNvSpPr txBox="1"/>
          <p:nvPr/>
        </p:nvSpPr>
        <p:spPr>
          <a:xfrm>
            <a:off x="12763500" y="4724400"/>
            <a:ext cx="1466850" cy="457200"/>
          </a:xfrm>
          <a:prstGeom prst="rect">
            <a:avLst/>
          </a:prstGeom>
          <a:noFill/>
        </p:spPr>
        <p:txBody>
          <a:bodyPr wrap="none" lIns="57150" rIns="57150" tIns="38100" bIns="38100" anchor="t">
            <a:noAutofit/>
          </a:bodyPr>
          <a:lstStyle/>
          <a:p>
            <a:pPr eaLnBrk="0" algn="ctr">
              <a:lnSpc>
                <a:spcPts val="2343"/>
              </a:lnSpc>
              <a:spcBef>
                <a:spcPts val="0"/>
              </a:spcBef>
              <a:spcAft>
                <a:spcPts val="0"/>
              </a:spcAft>
            </a:pPr>
            <a:r>
              <a:rPr sz="1875" b="1">
                <a:solidFill>
                  <a:srgbClr val="202124"/>
                </a:solidFill>
                <a:latin typeface="Noto Sans KR"/>
              </a:rPr>
              <a:t>저장·출력</a:t>
            </a:r>
          </a:p>
        </p:txBody>
      </p:sp>
      <p:sp>
        <p:nvSpPr>
          <p:cNvPr id="41" name="pipeline-output-body"/>
          <p:cNvSpPr txBox="1"/>
          <p:nvPr/>
        </p:nvSpPr>
        <p:spPr>
          <a:xfrm>
            <a:off x="12763500" y="5276850"/>
            <a:ext cx="1466850" cy="733425"/>
          </a:xfrm>
          <a:prstGeom prst="rect">
            <a:avLst/>
          </a:prstGeom>
          <a:noFill/>
        </p:spPr>
        <p:txBody>
          <a:bodyPr wrap="none" lIns="57150" rIns="57150" tIns="38100" bIns="38100" anchor="t">
            <a:noAutofit/>
          </a:bodyPr>
          <a:lstStyle/>
          <a:p>
            <a:pPr eaLnBrk="0" algn="ctr">
              <a:lnSpc>
                <a:spcPts val="2062"/>
              </a:lnSpc>
              <a:spcBef>
                <a:spcPts val="0"/>
              </a:spcBef>
              <a:spcAft>
                <a:spcPts val="0"/>
              </a:spcAft>
            </a:pPr>
            <a:r>
              <a:rPr sz="1650" b="0">
                <a:solidFill>
                  <a:srgbClr val="62666C"/>
                </a:solidFill>
                <a:latin typeface="Noto Sans KR"/>
              </a:rPr>
              <a:t>웹</a:t>
            </a:r>
          </a:p>
          <a:p>
            <a:pPr eaLnBrk="0" algn="ctr">
              <a:lnSpc>
                <a:spcPts val="2062"/>
              </a:lnSpc>
              <a:spcBef>
                <a:spcPts val="0"/>
              </a:spcBef>
              <a:spcAft>
                <a:spcPts val="0"/>
              </a:spcAft>
            </a:pPr>
            <a:r>
              <a:rPr sz="1650" b="0">
                <a:solidFill>
                  <a:srgbClr val="62666C"/>
                </a:solidFill>
                <a:latin typeface="Noto Sans KR"/>
              </a:rPr>
              <a:t>PPT · Word</a:t>
            </a:r>
          </a:p>
        </p:txBody>
      </p:sp>
      <p:sp>
        <p:nvSpPr>
          <p:cNvPr id="42" name="pipeline-data-band"/>
          <p:cNvSpPr/>
          <p:nvPr/>
        </p:nvSpPr>
        <p:spPr>
          <a:xfrm>
            <a:off x="1009650" y="6762750"/>
            <a:ext cx="6610350" cy="962025"/>
          </a:xfrm>
          <a:prstGeom prst="roundRect">
            <a:avLst>
              <a:gd name="adj" fmla="val 10000"/>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4" name="pipeline-data-icon" descr="database-ocean.png"/>
          <p:cNvPicPr>
            <a:picLocks noChangeAspect="1"/>
          </p:cNvPicPr>
          <p:nvPr/>
        </p:nvPicPr>
        <p:blipFill>
          <a:blip r:embed="rId26"/>
          <a:stretch>
            <a:fillRect/>
          </a:stretch>
        </p:blipFill>
        <p:spPr>
          <a:xfrm>
            <a:off x="1219200" y="6962775"/>
            <a:ext cx="552450" cy="552450"/>
          </a:xfrm>
          <a:prstGeom prst="rect">
            <a:avLst/>
          </a:prstGeom>
        </p:spPr>
      </p:pic>
      <p:sp>
        <p:nvSpPr>
          <p:cNvPr id="44" name="pipeline-data-label"/>
          <p:cNvSpPr txBox="1"/>
          <p:nvPr/>
        </p:nvSpPr>
        <p:spPr>
          <a:xfrm>
            <a:off x="1971675" y="6886575"/>
            <a:ext cx="5391150" cy="381000"/>
          </a:xfrm>
          <a:prstGeom prst="rect">
            <a:avLst/>
          </a:prstGeom>
          <a:noFill/>
        </p:spPr>
        <p:txBody>
          <a:bodyPr wrap="none" lIns="57150" rIns="57150" tIns="38100" bIns="38100" anchor="t">
            <a:noAutofit/>
          </a:bodyPr>
          <a:lstStyle/>
          <a:p>
            <a:pPr eaLnBrk="0">
              <a:lnSpc>
                <a:spcPts val="2390"/>
              </a:lnSpc>
              <a:spcBef>
                <a:spcPts val="0"/>
              </a:spcBef>
              <a:spcAft>
                <a:spcPts val="0"/>
              </a:spcAft>
            </a:pPr>
            <a:r>
              <a:rPr sz="1912" b="1">
                <a:solidFill>
                  <a:srgbClr val="202124"/>
                </a:solidFill>
                <a:latin typeface="Noto Sans KR"/>
              </a:rPr>
              <a:t>지역 관측값 + 7개 ML 전망</a:t>
            </a:r>
          </a:p>
        </p:txBody>
      </p:sp>
      <p:sp>
        <p:nvSpPr>
          <p:cNvPr id="45" name="pipeline-data-use"/>
          <p:cNvSpPr txBox="1"/>
          <p:nvPr/>
        </p:nvSpPr>
        <p:spPr>
          <a:xfrm>
            <a:off x="1971675" y="7286625"/>
            <a:ext cx="5391150" cy="314325"/>
          </a:xfrm>
          <a:prstGeom prst="rect">
            <a:avLst/>
          </a:prstGeom>
          <a:noFill/>
        </p:spPr>
        <p:txBody>
          <a:bodyPr wrap="none" lIns="57150" rIns="57150" tIns="38100" bIns="38100" anchor="t">
            <a:noAutofit/>
          </a:bodyPr>
          <a:lstStyle/>
          <a:p>
            <a:pPr eaLnBrk="0">
              <a:lnSpc>
                <a:spcPts val="1875"/>
              </a:lnSpc>
              <a:spcBef>
                <a:spcPts val="0"/>
              </a:spcBef>
              <a:spcAft>
                <a:spcPts val="0"/>
              </a:spcAft>
            </a:pPr>
            <a:r>
              <a:rPr sz="1500" b="0">
                <a:solidFill>
                  <a:srgbClr val="62666C"/>
                </a:solidFill>
                <a:latin typeface="Noto Sans KR"/>
              </a:rPr>
              <a:t>조사 방향과 후보 비교에 함께 전달</a:t>
            </a:r>
          </a:p>
        </p:txBody>
      </p:sp>
      <p:cxnSp>
        <p:nvCxnSpPr>
          <p:cNvPr id="46" name="data-to-research-0"/>
          <p:cNvCxnSpPr/>
          <p:nvPr/>
        </p:nvCxnSpPr>
        <p:spPr>
          <a:xfrm flipV="1">
            <a:off x="4333875" y="6267450"/>
            <a:ext cx="0" cy="485775"/>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cxnSp>
        <p:nvCxnSpPr>
          <p:cNvPr id="47" name="data-to-compare-0"/>
          <p:cNvCxnSpPr/>
          <p:nvPr/>
        </p:nvCxnSpPr>
        <p:spPr>
          <a:xfrm flipV="1">
            <a:off x="7058025" y="6162675"/>
            <a:ext cx="0" cy="590550"/>
          </a:xfrm>
          <a:prstGeom prst="line">
            <a:avLst/>
          </a:prstGeom>
          <a:ln w="21590">
            <a:solidFill>
              <a:srgbClr val="98A2AD"/>
            </a:solidFill>
            <a:tailEnd type="triangle"/>
          </a:ln>
        </p:spPr>
        <p:style>
          <a:lnRef idx="2">
            <a:schemeClr val="accent1"/>
          </a:lnRef>
          <a:fillRef idx="0">
            <a:schemeClr val="accent1"/>
          </a:fillRef>
          <a:effectRef idx="1">
            <a:schemeClr val="accent1"/>
          </a:effectRef>
          <a:fontRef idx="minor">
            <a:schemeClr val="tx1"/>
          </a:fontRef>
        </p:style>
      </p:cxnSp>
      <p:sp>
        <p:nvSpPr>
          <p:cNvPr id="48" name="pipeline-revision"/>
          <p:cNvSpPr txBox="1"/>
          <p:nvPr/>
        </p:nvSpPr>
        <p:spPr>
          <a:xfrm>
            <a:off x="8162925" y="6924675"/>
            <a:ext cx="6067425" cy="3714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0">
                <a:solidFill>
                  <a:srgbClr val="62666C"/>
                </a:solidFill>
                <a:latin typeface="Noto Sans KR"/>
              </a:rPr>
              <a:t>필요한 부분은 보완 작성 후 다시 검수</a:t>
            </a:r>
          </a:p>
        </p:txBody>
      </p:sp>
      <p:cxnSp>
        <p:nvCxnSpPr>
          <p:cNvPr id="49" name="review-return-0"/>
          <p:cNvCxnSpPr/>
          <p:nvPr/>
        </p:nvCxnSpPr>
        <p:spPr>
          <a:xfrm>
            <a:off x="11287125" y="6115050"/>
            <a:ext cx="0" cy="43815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0" name="review-return-1"/>
          <p:cNvCxnSpPr/>
          <p:nvPr/>
        </p:nvCxnSpPr>
        <p:spPr>
          <a:xfrm flipH="1">
            <a:off x="9172575" y="6553200"/>
            <a:ext cx="2114550" cy="0"/>
          </a:xfrm>
          <a:prstGeom prst="line">
            <a:avLst/>
          </a:prstGeom>
          <a:ln w="21590">
            <a:solidFill>
              <a:srgbClr val="8CA4BF"/>
            </a:solidFill>
          </a:ln>
        </p:spPr>
        <p:style>
          <a:lnRef idx="2">
            <a:schemeClr val="accent1"/>
          </a:lnRef>
          <a:fillRef idx="0">
            <a:schemeClr val="accent1"/>
          </a:fillRef>
          <a:effectRef idx="1">
            <a:schemeClr val="accent1"/>
          </a:effectRef>
          <a:fontRef idx="minor">
            <a:schemeClr val="tx1"/>
          </a:fontRef>
        </p:style>
      </p:cxnSp>
      <p:cxnSp>
        <p:nvCxnSpPr>
          <p:cNvPr id="51" name="review-return-2"/>
          <p:cNvCxnSpPr/>
          <p:nvPr/>
        </p:nvCxnSpPr>
        <p:spPr>
          <a:xfrm flipV="1">
            <a:off x="9172575" y="6115050"/>
            <a:ext cx="0" cy="438150"/>
          </a:xfrm>
          <a:prstGeom prst="line">
            <a:avLst/>
          </a:prstGeom>
          <a:ln w="21590">
            <a:solidFill>
              <a:srgbClr val="8CA4BF"/>
            </a:solidFill>
            <a:tailEnd type="triangle"/>
          </a:ln>
        </p:spPr>
        <p:style>
          <a:lnRef idx="2">
            <a:schemeClr val="accent1"/>
          </a:lnRef>
          <a:fillRef idx="0">
            <a:schemeClr val="accent1"/>
          </a:fillRef>
          <a:effectRef idx="1">
            <a:schemeClr val="accent1"/>
          </a:effectRef>
          <a:fontRef idx="minor">
            <a:schemeClr val="tx1"/>
          </a:fontRef>
        </p:style>
      </p:cxnSp>
      <p:sp>
        <p:nvSpPr>
          <p:cNvPr id="52" name="pipeline-footnote"/>
          <p:cNvSpPr txBox="1"/>
          <p:nvPr/>
        </p:nvSpPr>
        <p:spPr>
          <a:xfrm>
            <a:off x="1009650" y="8096250"/>
            <a:ext cx="13220700" cy="371475"/>
          </a:xfrm>
          <a:prstGeom prst="rect">
            <a:avLst/>
          </a:prstGeom>
          <a:noFill/>
        </p:spPr>
        <p:txBody>
          <a:bodyPr wrap="none" lIns="57150" rIns="57150" tIns="38100" bIns="38100" anchor="t">
            <a:noAutofit/>
          </a:bodyPr>
          <a:lstStyle/>
          <a:p>
            <a:pPr eaLnBrk="0">
              <a:lnSpc>
                <a:spcPts val="1781"/>
              </a:lnSpc>
              <a:spcBef>
                <a:spcPts val="0"/>
              </a:spcBef>
              <a:spcAft>
                <a:spcPts val="0"/>
              </a:spcAft>
            </a:pPr>
            <a:r>
              <a:rPr sz="1425" b="0">
                <a:solidFill>
                  <a:srgbClr val="62666C"/>
                </a:solidFill>
                <a:latin typeface="Noto Sans KR"/>
              </a:rPr>
              <a:t>OpenAI는 공식 웹에서 사업 사례와 출처를 조사합니다. 이미 확보한 공식 근거는 재사용합니다.</a:t>
            </a:r>
          </a:p>
        </p:txBody>
      </p:sp>
      <p:sp>
        <p:nvSpPr>
          <p:cNvPr id="54" name="editorial-kicker"/>
          <p:cNvSpPr txBox="1"/>
          <p:nvPr/>
        </p:nvSpPr>
        <p:spPr>
          <a:xfrm>
            <a:off x="1009650" y="333375"/>
            <a:ext cx="6477000" cy="409575"/>
          </a:xfrm>
          <a:prstGeom prst="rect">
            <a:avLst/>
          </a:prstGeom>
          <a:noFill/>
        </p:spPr>
        <p:txBody>
          <a:bodyPr wrap="none" lIns="57150" rIns="57150" tIns="38100" bIns="38100" anchor="t">
            <a:noAutofit/>
          </a:bodyPr>
          <a:lstStyle/>
          <a:p>
            <a:pPr eaLnBrk="0">
              <a:lnSpc>
                <a:spcPts val="2156"/>
              </a:lnSpc>
              <a:spcBef>
                <a:spcPts val="0"/>
              </a:spcBef>
              <a:spcAft>
                <a:spcPts val="0"/>
              </a:spcAft>
            </a:pPr>
            <a:r>
              <a:rPr sz="1725" b="1">
                <a:solidFill>
                  <a:srgbClr val="F50045"/>
                </a:solidFill>
                <a:latin typeface="Noto Sans KR"/>
              </a:rPr>
              <a:t>5. 생성 과정</a:t>
            </a:r>
          </a:p>
        </p:txBody>
      </p:sp>
      <p:sp>
        <p:nvSpPr>
          <p:cNvPr id="55" name="editorial-page"/>
          <p:cNvSpPr txBox="1"/>
          <p:nvPr/>
        </p:nvSpPr>
        <p:spPr>
          <a:xfrm>
            <a:off x="13268325" y="428625"/>
            <a:ext cx="962025" cy="266700"/>
          </a:xfrm>
          <a:prstGeom prst="rect">
            <a:avLst/>
          </a:prstGeom>
          <a:noFill/>
        </p:spPr>
        <p:txBody>
          <a:bodyPr wrap="none" lIns="57150" rIns="57150" tIns="38100" bIns="38100" anchor="t">
            <a:noAutofit/>
          </a:bodyPr>
          <a:lstStyle/>
          <a:p>
            <a:pPr eaLnBrk="0" algn="r">
              <a:lnSpc>
                <a:spcPts val="1406"/>
              </a:lnSpc>
              <a:spcBef>
                <a:spcPts val="0"/>
              </a:spcBef>
              <a:spcAft>
                <a:spcPts val="0"/>
              </a:spcAft>
            </a:pPr>
            <a:r>
              <a:rPr sz="1125" b="0">
                <a:solidFill>
                  <a:srgbClr val="62666C"/>
                </a:solidFill>
                <a:latin typeface="Noto Sans KR"/>
              </a:rPr>
              <a:t>12 / 15</a:t>
            </a:r>
          </a:p>
        </p:txBody>
      </p:sp>
    </p:spTree>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2026-09-04T04:44:41.2670000Z</dcterms:created>
  <dcterms:modified xsi:type="dcterms:W3CDTF">2026-09-04T04:44:41.2670000Z</dcterms:modified>
</coreProperties>
</file>