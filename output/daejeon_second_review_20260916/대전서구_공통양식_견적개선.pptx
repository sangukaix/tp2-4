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720.0</c:v>
                </c:pt>
                <c:pt idx="1">
                  <c:v>1440.0</c:v>
                </c:pt>
                <c:pt idx="2">
                  <c:v>2591.0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4554.82</c:v>
                </c:pt>
                <c:pt idx="1">
                  <c:v>5148.93</c:v>
                </c:pt>
                <c:pt idx="2">
                  <c:v>6890.82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 (분자: 환급 후 서구 내 적격 재결제액 합계 / 분모: 지급된 환급액 합계). 측정 주기: 매주. 비교 집단: 사업 미참여 상권의 결제 추이(단, 인과관계 단정은 지양).",</a:t>
            </a:r>
          </a:p>
          <a:p xmlns:a="http://schemas.openxmlformats.org/drawingml/2006/main">
            <a:r>
              <a:t>    "title": "대전 서구 외지인 지역 상품권 환급 프로그램",</a:t>
            </a:r>
          </a:p>
          <a:p xmlns:a="http://schemas.openxmlformats.org/drawingml/2006/main">
            <a:r>
              <a:t>    "budget": "지역 상품권 환급액 = 적격 신청의 min(증빙 인정 지출액 × 10%, 건별 상한 50,000원)의 합산 (단가 및 총 예산은 참여 업체 수와 예상 신청 건수에 따라 확정 필요)",</a:t>
            </a:r>
          </a:p>
          <a:p xmlns:a="http://schemas.openxmlformats.org/drawingml/2006/main">
            <a:r>
              <a:t>    "evidence": "dataset:30170:3, case:gangjin_half_price_2024",</a:t>
            </a:r>
          </a:p>
          <a:p xmlns:a="http://schemas.openxmlformats.org/drawingml/2006/main">
            <a:r>
              <a:t>    "priority": 1,</a:t>
            </a:r>
          </a:p>
          <a:p xmlns:a="http://schemas.openxmlformats.org/drawingml/2006/main">
            <a:r>
              <a:t>    "solution": "외지인 방문객이 서구 내 지정된 사용처에서 일정 금액 이상 소비 시, 지출액의 일부를 지역 상품권으로 즉시 또는 사후 환급하여 지역 내 재결제를 유도합니다.",</a:t>
            </a:r>
          </a:p>
          <a:p xmlns:a="http://schemas.openxmlformats.org/drawingml/2006/main">
            <a:r>
              <a:t>    "timeframe": "2026-10 ~ 2026-12, 3개월",</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"problem_to_solve": "외지인 관광객의 지역 내 소비 유도 및 재소비 촉진",</a:t>
            </a:r>
          </a:p>
          <a:p xmlns:a="http://schemas.openxmlformats.org/drawingml/2006/main">
            <a:r>
              <a:t>    "comparison_analysis": "강진군의 '반값여행 지역환급' 사례(case:gangjin_half_price_2024)와 유사한 운영 방식을 채택하되, 대전 서구의 쇼핑 및 식음료업 비중(각 43.0%, 39.7%)을 고려하여 참여 업종을 설계합니다. 다만, 강진 사례의 정확한 성과 수치는 미확인되었으므로 운영 방식만을 벤치마킹합니다.",</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및 환급 기준 확정",</a:t>
            </a:r>
          </a:p>
          <a:p xmlns:a="http://schemas.openxmlformats.org/drawingml/2006/main">
            <a:r>
              <a:t>        "schedule": "2026-10",</a:t>
            </a:r>
          </a:p>
          <a:p xmlns:a="http://schemas.openxmlformats.org/drawingml/2006/main">
            <a:r>
              <a:t>        "deliverable": "참여 업체 명단 및 운영 지침(안) 확보 필요 (기획 가정 단계)"</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"증빙 및 환급 시스템 점검",</a:t>
            </a:r>
          </a:p>
          <a:p xmlns:a="http://schemas.openxmlformats.org/drawingml/2006/main">
            <a:r>
              <a:t>        "schedule": "2026-10",</a:t>
            </a:r>
          </a:p>
          <a:p xmlns:a="http://schemas.openxmlformats.org/drawingml/2006/main">
            <a:r>
              <a:t>        "deliverable": "지출 증빙(영수증 등) 확인 절차 및 중복 수혜 방지 로직 검증"</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운영 및 모니터링",</a:t>
            </a:r>
          </a:p>
          <a:p xmlns:a="http://schemas.openxmlformats.org/drawingml/2006/main">
            <a:r>
              <a:t>        "schedule": "2026-11",</a:t>
            </a:r>
          </a:p>
          <a:p xmlns:a="http://schemas.openxmlformats.org/drawingml/2006/main">
            <a:r>
              <a:t>        "deliverable": "주간 단위 신청·승인·결제 원장 집계"</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"성과 데이터 수집 및 분석",</a:t>
            </a:r>
          </a:p>
          <a:p xmlns:a="http://schemas.openxmlformats.org/drawingml/2006/main">
            <a:r>
              <a:t>        "schedule": "2026-12",</a:t>
            </a:r>
          </a:p>
          <a:p xmlns:a="http://schemas.openxmlformats.org/drawingml/2006/main">
            <a:r>
              <a:t>        "deliverable": "환급액 대비 재결제액 및 이용률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지속 여부 검토",</a:t>
            </a:r>
          </a:p>
          <a:p xmlns:a="http://schemas.openxmlformats.org/drawingml/2006/main">
            <a:r>
              <a:t>        "schedule": "2026-12",</a:t>
            </a:r>
          </a:p>
          <a:p xmlns:a="http://schemas.openxmlformats.org/drawingml/2006/main">
            <a:r>
              <a:t>        "deliverable": "기준선 대비 성과 비교를 통한 확대/중단 결정"</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"유사 사업 참고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"참여 업체 및 환급 기준 확정", "schedule": "2026-10", "deliverable": "참여 업체 명단 및 운영 지침(안) 확보 필요 (기획 가정 단계)"}, {"step": 2, "task": "증빙 및 환급 시스템 점검", "schedule": "2026-10", "deliverable": "지출 증빙(영수증 등) 확인 절차 및 중복 수혜 방지 로직 검증"}, {"step": 3, "task": "시범 운영 및 모니터링", "schedule": "2026-11", "deliverable": "주간 단위 신청·승인·결제 원장 집계"}, {"step": 4, "task": "성과 데이터 수집 및 분석", "schedule": "2026-12", "deliverable": "환급액 대비 재결제액 및 이용률 보고서"}, {"step": 5, "task": "사업 지속 여부 검토", "schedule": "2026-12", "deliverable": "기준선 대비 성과 비교를 통한 확대/중단 결정"}]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안동탈춤축제 방문자 추이",</a:t>
            </a:r>
          </a:p>
          <a:p xmlns:a="http://schemas.openxmlformats.org/drawingml/2006/main">
            <a:r>
              <a:t>      "summary": "경상북도 안동시 · 안동탈춤축제 · 2024→2025년 전체 504,573→554,494명 (+9.89%). 개최 10→10일, 일평균 +9.89%, 외지인 +10.75%.",</a:t>
            </a:r>
          </a:p>
          <a:p xmlns:a="http://schemas.openxmlformats.org/drawingml/2006/main">
            <a:r>
              <a:t>      "source_id": "case:festival:0e9c7c065555b0",</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"안동탈춤축제",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504,573→554,494명 (+9.89%). 개최 10→10일, 일평균 +9.89%, 외지인 +10.75%.",</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"operating_statistics":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진도신비의바닷길축제 방문자 추이",</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"source_id": "case:festival:1ff9d11d3ee0ee",</a:t>
            </a:r>
          </a:p>
          <a:p xmlns:a="http://schemas.openxmlformats.org/drawingml/2006/main">
            <a:r>
              <a:t>      "source_url": "https://datalab.visitkorea.or.kr/",</a:t>
            </a:r>
          </a:p>
          <a:p xmlns:a="http://schemas.openxmlformats.org/drawingml/2006/main">
            <a:r>
              <a:t>      "case_region": "전라남도 진도군",</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"진도신비의바닷길축제",</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28,171→43,973명 (+56.09%). 개최 3→4일, 일평균 +17.07%, 외지인 +89.98%.",</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"자연·야외",</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"진도신비의바닷길축제",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a:t>
            </a:r>
          </a:p>
          <a:p xmlns:a="http://schemas.openxmlformats.org/drawingml/2006/main">
            <a:r>
              <a:t>            "total": 33556,</a:t>
            </a:r>
          </a:p>
          <a:p xmlns:a="http://schemas.openxmlformats.org/drawingml/2006/main">
            <a:r>
              <a:t>            "foreign": 278,</a:t>
            </a:r>
          </a:p>
          <a:p xmlns:a="http://schemas.openxmlformats.org/drawingml/2006/main">
            <a:r>
              <a:t>            "outside": 21158,</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a:t>
            </a:r>
          </a:p>
          <a:p xmlns:a="http://schemas.openxmlformats.org/drawingml/2006/main">
            <a:r>
              <a:t>            "total": 28171,</a:t>
            </a:r>
          </a:p>
          <a:p xmlns:a="http://schemas.openxmlformats.org/drawingml/2006/main">
            <a:r>
              <a:t>            "foreign": 223,</a:t>
            </a:r>
          </a:p>
          <a:p xmlns:a="http://schemas.openxmlformats.org/drawingml/2006/main">
            <a:r>
              <a:t>            "outside": 14880,</a:t>
            </a:r>
          </a:p>
          <a:p xmlns:a="http://schemas.openxmlformats.org/drawingml/2006/main">
            <a:r>
              <a:t>            "outside_daily": 4960,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a:t>
            </a:r>
          </a:p>
          <a:p xmlns:a="http://schemas.openxmlformats.org/drawingml/2006/main">
            <a:r>
              <a:t>            "total": 43973,</a:t>
            </a:r>
          </a:p>
          <a:p xmlns:a="http://schemas.openxmlformats.org/drawingml/2006/main">
            <a:r>
              <a:t>            "foreign": 359,</a:t>
            </a:r>
          </a:p>
          <a:p xmlns:a="http://schemas.openxmlformats.org/drawingml/2006/main">
            <a:r>
              <a:t>            "outside": 28269,</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a:t>
            </a:r>
          </a:p>
          <a:p xmlns:a="http://schemas.openxmlformats.org/drawingml/2006/main">
            <a:r>
              <a:t>            "before": 28171,</a:t>
            </a:r>
          </a:p>
          <a:p xmlns:a="http://schemas.openxmlformats.org/drawingml/2006/main">
            <a:r>
              <a:t>            "change_pct": 56.093145433246946,</a:t>
            </a:r>
          </a:p>
          <a:p xmlns:a="http://schemas.openxmlformats.org/drawingml/2006/main">
            <a:r>
              <a:t>            "difference": 15802</a:t>
            </a:r>
          </a:p>
          <a:p xmlns:a="http://schemas.openxmlformats.org/drawingml/2006/main">
            <a:r>
              <a:t>          },</a:t>
            </a:r>
          </a:p>
          <a:p xmlns:a="http://schemas.openxmlformats.org/drawingml/2006/main">
            <a:r>
              <a:t>          "outside": {</a:t>
            </a:r>
          </a:p>
          <a:p xmlns:a="http://schemas.openxmlformats.org/drawingml/2006/main">
            <a:r>
              <a:t>            "after": 28269,</a:t>
            </a:r>
          </a:p>
          <a:p xmlns:a="http://schemas.openxmlformats.org/drawingml/2006/main">
            <a:r>
              <a:t>            "before": 14880,</a:t>
            </a:r>
          </a:p>
          <a:p xmlns:a="http://schemas.openxmlformats.org/drawingml/2006/main">
            <a:r>
              <a:t>            "change_pct": 89.97983870967742,</a:t>
            </a:r>
          </a:p>
          <a:p xmlns:a="http://schemas.openxmlformats.org/drawingml/2006/main">
            <a:r>
              <a:t>            "difference": 13389</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"카테고리": "기타문화관광지",</a:t>
            </a:r>
          </a:p>
          <a:p xmlns:a="http://schemas.openxmlformats.org/drawingml/2006/main">
            <a:r>
              <a:t>            "도로명주소": "전남 진도군 신비의바닷길 74-0"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"카테고리": "테마공원",</a:t>
            </a:r>
          </a:p>
          <a:p xmlns:a="http://schemas.openxmlformats.org/drawingml/2006/main">
            <a:r>
              <a:t>            "도로명주소": "전남 진도군"</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"카테고리": "자연경관(하천/해양)",</a:t>
            </a:r>
          </a:p>
          <a:p xmlns:a="http://schemas.openxmlformats.org/drawingml/2006/main">
            <a:r>
              <a:t>            "도로명주소": "전남 진도군 신비의바닷길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통영한산대첩축제 방문자 추이",</a:t>
            </a:r>
          </a:p>
          <a:p xmlns:a="http://schemas.openxmlformats.org/drawingml/2006/main">
            <a:r>
              <a:t>      "summary": "경상남도 통영시 · 통영한산대첩축제 · 2024→2025년 전체 93,221→124,718명 (+33.79%). 개최 6→7일, 일평균 +14.67%, 외지인 +33.21%.",</a:t>
            </a:r>
          </a:p>
          <a:p xmlns:a="http://schemas.openxmlformats.org/drawingml/2006/main">
            <a:r>
              <a:t>      "source_id": "case:festival:1ffc3eec28956a",</a:t>
            </a:r>
          </a:p>
          <a:p xmlns:a="http://schemas.openxmlformats.org/drawingml/2006/main">
            <a:r>
              <a:t>      "source_url": "https://datalab.visitkorea.or.kr/",</a:t>
            </a:r>
          </a:p>
          <a:p xmlns:a="http://schemas.openxmlformats.org/drawingml/2006/main">
            <a:r>
              <a:t>      "case_region": "경상남도 통영시",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"통영한산대첩축제",</a:t>
            </a:r>
          </a:p>
          <a:p xmlns:a="http://schemas.openxmlformats.org/drawingml/2006/main">
            <a:r>
              <a:t>      "source_files": [</a:t>
            </a:r>
          </a:p>
          <a:p xmlns:a="http://schemas.openxmlformats.org/drawingml/2006/main">
            <a:r>
              <a:t>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"77b41103f7ab3a48a3a94baa36227391bc47069fafcf8cc68a36662ec60fd43d",</a:t>
            </a:r>
          </a:p>
          <a:p xmlns:a="http://schemas.openxmlformats.org/drawingml/2006/main">
            <a:r>
              <a:t>          "provider": "한국관광 데이터랩",</a:t>
            </a:r>
          </a:p>
          <a:p xmlns:a="http://schemas.openxmlformats.org/drawingml/2006/main">
            <a:r>
              <a:t>          "file_name": "20260820183544_통영한산대첩축제_성_연령별 내국인 방문자.csv",</a:t>
            </a:r>
          </a:p>
          <a:p xmlns:a="http://schemas.openxmlformats.org/drawingml/2006/main">
            <a:r>
              <a:t>          "source_id": "festival-file:77b41103f7ab3a48a3a9",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"5457f819bd8704a9d5b81a24337c2a40c45bbcf7435e0a751139a5457627bdd4",</a:t>
            </a:r>
          </a:p>
          <a:p xmlns:a="http://schemas.openxmlformats.org/drawingml/2006/main">
            <a:r>
              <a:t>          "provider": "한국관광 데이터랩",</a:t>
            </a:r>
          </a:p>
          <a:p xmlns:a="http://schemas.openxmlformats.org/drawingml/2006/main">
            <a:r>
              <a:t>          "file_name": "20260820183544_통영한산대첩축제_문화관광축제 주요 지표.csv",</a:t>
            </a:r>
          </a:p>
          <a:p xmlns:a="http://schemas.openxmlformats.org/drawingml/2006/main">
            <a:r>
              <a:t>          "source_id": "festival-file:5457f819bd8704a9d5b8",</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"3b2a6e862dd8337a7616d3cdb3f568c6fdb24be706918eb7f02d965d625ca746",</a:t>
            </a:r>
          </a:p>
          <a:p xmlns:a="http://schemas.openxmlformats.org/drawingml/2006/main">
            <a:r>
              <a:t>          "provider": "한국관광 데이터랩",</a:t>
            </a:r>
          </a:p>
          <a:p xmlns:a="http://schemas.openxmlformats.org/drawingml/2006/main">
            <a:r>
              <a:t>          "file_name": "20260820183544_통영한산대첩축제_목적지 검색순위.csv",</a:t>
            </a:r>
          </a:p>
          <a:p xmlns:a="http://schemas.openxmlformats.org/drawingml/2006/main">
            <a:r>
              <a:t>          "source_id": "festival-file:3b2a6e862dd8337a7616",</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93,221→124,718명 (+33.79%). 개최 6→7일, 일평균 +14.67%, 외지인 +33.21%.",</a:t>
            </a:r>
          </a:p>
          <a:p xmlns:a="http://schemas.openxmlformats.org/drawingml/2006/main">
            <a:r>
              <a:t>      "operating_model": "통영한산대첩축제를 2025년 7일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"지역문화",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"통영한산대첩축제",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11745.444444444443,</a:t>
            </a:r>
          </a:p>
          <a:p xmlns:a="http://schemas.openxmlformats.org/drawingml/2006/main">
            <a:r>
              <a:t>            "local": 57810,</a:t>
            </a:r>
          </a:p>
          <a:p xmlns:a="http://schemas.openxmlformats.org/drawingml/2006/main">
            <a:r>
              <a:t>            "total": 105709,</a:t>
            </a:r>
          </a:p>
          <a:p xmlns:a="http://schemas.openxmlformats.org/drawingml/2006/main">
            <a:r>
              <a:t>            "foreign": 455,</a:t>
            </a:r>
          </a:p>
          <a:p xmlns:a="http://schemas.openxmlformats.org/drawingml/2006/main">
            <a:r>
              <a:t>            "outside": 47444,</a:t>
            </a:r>
          </a:p>
          <a:p xmlns:a="http://schemas.openxmlformats.org/drawingml/2006/main">
            <a:r>
              <a:t>            "outside_daily": 5271.555555555556,</a:t>
            </a:r>
          </a:p>
          <a:p xmlns:a="http://schemas.openxmlformats.org/drawingml/2006/main">
            <a:r>
              <a:t>            "outside_share_pct": 44.88170354463669</a:t>
            </a:r>
          </a:p>
          <a:p xmlns:a="http://schemas.openxmlformats.org/drawingml/2006/main">
            <a:r>
              <a:t>          },</a:t>
            </a:r>
          </a:p>
          <a:p xmlns:a="http://schemas.openxmlformats.org/drawingml/2006/main">
            <a:r>
              <a:t>          {</a:t>
            </a:r>
          </a:p>
          <a:p xmlns:a="http://schemas.openxmlformats.org/drawingml/2006/main">
            <a:r>
              <a:t>            "days": 6,</a:t>
            </a:r>
          </a:p>
          <a:p xmlns:a="http://schemas.openxmlformats.org/drawingml/2006/main">
            <a:r>
              <a:t>            "year": 2024,</a:t>
            </a:r>
          </a:p>
          <a:p xmlns:a="http://schemas.openxmlformats.org/drawingml/2006/main">
            <a:r>
              <a:t>            "daily": 15536.833333333334,</a:t>
            </a:r>
          </a:p>
          <a:p xmlns:a="http://schemas.openxmlformats.org/drawingml/2006/main">
            <a:r>
              <a:t>            "local": 52493,</a:t>
            </a:r>
          </a:p>
          <a:p xmlns:a="http://schemas.openxmlformats.org/drawingml/2006/main">
            <a:r>
              <a:t>            "total": 93221,</a:t>
            </a:r>
          </a:p>
          <a:p xmlns:a="http://schemas.openxmlformats.org/drawingml/2006/main">
            <a:r>
              <a:t>            "foreign": 394,</a:t>
            </a:r>
          </a:p>
          <a:p xmlns:a="http://schemas.openxmlformats.org/drawingml/2006/main">
            <a:r>
              <a:t>            "outside": 40334,</a:t>
            </a:r>
          </a:p>
          <a:p xmlns:a="http://schemas.openxmlformats.org/drawingml/2006/main">
            <a:r>
              <a:t>            "outside_daily": 6722.333333333333,</a:t>
            </a:r>
          </a:p>
          <a:p xmlns:a="http://schemas.openxmlformats.org/drawingml/2006/main">
            <a:r>
              <a:t>            "outside_share_pct": 43.26707501528625</a:t>
            </a:r>
          </a:p>
          <a:p xmlns:a="http://schemas.openxmlformats.org/drawingml/2006/main">
            <a:r>
              <a:t>          },</a:t>
            </a:r>
          </a:p>
          <a:p xmlns:a="http://schemas.openxmlformats.org/drawingml/2006/main">
            <a:r>
              <a:t>          {</a:t>
            </a:r>
          </a:p>
          <a:p xmlns:a="http://schemas.openxmlformats.org/drawingml/2006/main">
            <a:r>
              <a:t>            "days": 7,</a:t>
            </a:r>
          </a:p>
          <a:p xmlns:a="http://schemas.openxmlformats.org/drawingml/2006/main">
            <a:r>
              <a:t>            "year": 2025,</a:t>
            </a:r>
          </a:p>
          <a:p xmlns:a="http://schemas.openxmlformats.org/drawingml/2006/main">
            <a:r>
              <a:t>            "daily": 17816.85714285714,</a:t>
            </a:r>
          </a:p>
          <a:p xmlns:a="http://schemas.openxmlformats.org/drawingml/2006/main">
            <a:r>
              <a:t>            "local": 70201,</a:t>
            </a:r>
          </a:p>
          <a:p xmlns:a="http://schemas.openxmlformats.org/drawingml/2006/main">
            <a:r>
              <a:t>            "total": 124718,</a:t>
            </a:r>
          </a:p>
          <a:p xmlns:a="http://schemas.openxmlformats.org/drawingml/2006/main">
            <a:r>
              <a:t>            "foreign": 787,</a:t>
            </a:r>
          </a:p>
          <a:p xmlns:a="http://schemas.openxmlformats.org/drawingml/2006/main">
            <a:r>
              <a:t>            "outside": 53730,</a:t>
            </a:r>
          </a:p>
          <a:p xmlns:a="http://schemas.openxmlformats.org/drawingml/2006/main">
            <a:r>
              <a:t>            "outside_daily": 7675.714285714285,</a:t>
            </a:r>
          </a:p>
          <a:p xmlns:a="http://schemas.openxmlformats.org/drawingml/2006/main">
            <a:r>
              <a:t>            "outside_share_pct": 43.08119116727337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"통영한산대첩축제",</a:t>
            </a:r>
          </a:p>
          <a:p xmlns:a="http://schemas.openxmlformats.org/drawingml/2006/main">
            <a:r>
              <a:t>            "남성비율": "5.2",</a:t>
            </a:r>
          </a:p>
          <a:p xmlns:a="http://schemas.openxmlformats.org/drawingml/2006/main">
            <a:r>
              <a:t>            "여성비율": "5.7"</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"통영한산대첩축제",</a:t>
            </a:r>
          </a:p>
          <a:p xmlns:a="http://schemas.openxmlformats.org/drawingml/2006/main">
            <a:r>
              <a:t>            "남성비율": "11.0",</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"통영한산대첩축제",</a:t>
            </a:r>
          </a:p>
          <a:p xmlns:a="http://schemas.openxmlformats.org/drawingml/2006/main">
            <a:r>
              <a:t>            "남성비율": "11.1",</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"통영한산대첩축제",</a:t>
            </a:r>
          </a:p>
          <a:p xmlns:a="http://schemas.openxmlformats.org/drawingml/2006/main">
            <a:r>
              <a:t>            "남성비율": "8.0",</a:t>
            </a:r>
          </a:p>
          <a:p xmlns:a="http://schemas.openxmlformats.org/drawingml/2006/main">
            <a:r>
              <a:t>            "여성비율": "7.7"</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"통영한산대첩축제",</a:t>
            </a:r>
          </a:p>
          <a:p xmlns:a="http://schemas.openxmlformats.org/drawingml/2006/main">
            <a:r>
              <a:t>            "남성비율": "6.3",</a:t>
            </a:r>
          </a:p>
          <a:p xmlns:a="http://schemas.openxmlformats.org/drawingml/2006/main">
            <a:r>
              <a:t>            "여성비율": "5.6"</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"통영한산대첩축제",</a:t>
            </a:r>
          </a:p>
          <a:p xmlns:a="http://schemas.openxmlformats.org/drawingml/2006/main">
            <a:r>
              <a:t>            "남성비율": "5.4",</a:t>
            </a:r>
          </a:p>
          <a:p xmlns:a="http://schemas.openxmlformats.org/drawingml/2006/main">
            <a:r>
              <a:t>            "여성비율": "4.4"</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"통영한산대첩축제",</a:t>
            </a:r>
          </a:p>
          <a:p xmlns:a="http://schemas.openxmlformats.org/drawingml/2006/main">
            <a:r>
              <a:t>            "남성비율": "2.8",</a:t>
            </a:r>
          </a:p>
          <a:p xmlns:a="http://schemas.openxmlformats.org/drawingml/2006/main">
            <a:r>
              <a:t>            "여성비율": "3.1"</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"통영한산대첩축제",</a:t>
            </a:r>
          </a:p>
          <a:p xmlns:a="http://schemas.openxmlformats.org/drawingml/2006/main">
            <a:r>
              <a:t>            "남성비율": "0.5",</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17816.85714285714,</a:t>
            </a:r>
          </a:p>
          <a:p xmlns:a="http://schemas.openxmlformats.org/drawingml/2006/main">
            <a:r>
              <a:t>            "before": 15536.833333333334,</a:t>
            </a:r>
          </a:p>
          <a:p xmlns:a="http://schemas.openxmlformats.org/drawingml/2006/main">
            <a:r>
              <a:t>            "change_pct": 14.674958278867244,</a:t>
            </a:r>
          </a:p>
          <a:p xmlns:a="http://schemas.openxmlformats.org/drawingml/2006/main">
            <a:r>
              <a:t>            "difference": 2280.0238095238074</a:t>
            </a:r>
          </a:p>
          <a:p xmlns:a="http://schemas.openxmlformats.org/drawingml/2006/main">
            <a:r>
              <a:t>          },</a:t>
            </a:r>
          </a:p>
          <a:p xmlns:a="http://schemas.openxmlformats.org/drawingml/2006/main">
            <a:r>
              <a:t>          "total": {</a:t>
            </a:r>
          </a:p>
          <a:p xmlns:a="http://schemas.openxmlformats.org/drawingml/2006/main">
            <a:r>
              <a:t>            "after": 124718,</a:t>
            </a:r>
          </a:p>
          <a:p xmlns:a="http://schemas.openxmlformats.org/drawingml/2006/main">
            <a:r>
              <a:t>            "before": 93221,</a:t>
            </a:r>
          </a:p>
          <a:p xmlns:a="http://schemas.openxmlformats.org/drawingml/2006/main">
            <a:r>
              <a:t>            "change_pct": 33.78745132534515,</a:t>
            </a:r>
          </a:p>
          <a:p xmlns:a="http://schemas.openxmlformats.org/drawingml/2006/main">
            <a:r>
              <a:t>            "difference": 31497</a:t>
            </a:r>
          </a:p>
          <a:p xmlns:a="http://schemas.openxmlformats.org/drawingml/2006/main">
            <a:r>
              <a:t>          },</a:t>
            </a:r>
          </a:p>
          <a:p xmlns:a="http://schemas.openxmlformats.org/drawingml/2006/main">
            <a:r>
              <a:t>          "outside": {</a:t>
            </a:r>
          </a:p>
          <a:p xmlns:a="http://schemas.openxmlformats.org/drawingml/2006/main">
            <a:r>
              <a:t>            "after": 53730,</a:t>
            </a:r>
          </a:p>
          <a:p xmlns:a="http://schemas.openxmlformats.org/drawingml/2006/main">
            <a:r>
              <a:t>            "before": 40334,</a:t>
            </a:r>
          </a:p>
          <a:p xmlns:a="http://schemas.openxmlformats.org/drawingml/2006/main">
            <a:r>
              <a:t>            "change_pct": 33.21267417067486,</a:t>
            </a:r>
          </a:p>
          <a:p xmlns:a="http://schemas.openxmlformats.org/drawingml/2006/main">
            <a:r>
              <a:t>            "difference": 13396</a:t>
            </a:r>
          </a:p>
          <a:p xmlns:a="http://schemas.openxmlformats.org/drawingml/2006/main">
            <a:r>
              <a:t>          },</a:t>
            </a:r>
          </a:p>
          <a:p xmlns:a="http://schemas.openxmlformats.org/drawingml/2006/main">
            <a:r>
              <a:t>          "after_days": 7,</a:t>
            </a:r>
          </a:p>
          <a:p xmlns:a="http://schemas.openxmlformats.org/drawingml/2006/main">
            <a:r>
              <a:t>          "after_year": 2025,</a:t>
            </a:r>
          </a:p>
          <a:p xmlns:a="http://schemas.openxmlformats.org/drawingml/2006/main">
            <a:r>
              <a:t>          "before_days": 6,</a:t>
            </a:r>
          </a:p>
          <a:p xmlns:a="http://schemas.openxmlformats.org/drawingml/2006/main">
            <a:r>
              <a:t>          "before_year": 2024,</a:t>
            </a:r>
          </a:p>
          <a:p xmlns:a="http://schemas.openxmlformats.org/drawingml/2006/main">
            <a:r>
              <a:t>          "outside_daily": {</a:t>
            </a:r>
          </a:p>
          <a:p xmlns:a="http://schemas.openxmlformats.org/drawingml/2006/main">
            <a:r>
              <a:t>            "after": 7675.714285714285,</a:t>
            </a:r>
          </a:p>
          <a:p xmlns:a="http://schemas.openxmlformats.org/drawingml/2006/main">
            <a:r>
              <a:t>            "before": 6722.333333333333,</a:t>
            </a:r>
          </a:p>
          <a:p xmlns:a="http://schemas.openxmlformats.org/drawingml/2006/main">
            <a:r>
              <a:t>            "change_pct": 14.182292146292742,</a:t>
            </a:r>
          </a:p>
          <a:p xmlns:a="http://schemas.openxmlformats.org/drawingml/2006/main">
            <a:r>
              <a:t>            "difference": 953.3809523809524</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"0.309",</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"0.731",</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"0.228",</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"0.313",</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"0.766",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"0.244",</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"0.586",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"0.206",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"0.312",</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"0.595",</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"통영중앙전통시장",</a:t>
            </a:r>
          </a:p>
          <a:p xmlns:a="http://schemas.openxmlformats.org/drawingml/2006/main">
            <a:r>
              <a:t>            "카테고리": "시장",</a:t>
            </a:r>
          </a:p>
          <a:p xmlns:a="http://schemas.openxmlformats.org/drawingml/2006/main">
            <a:r>
              <a:t>            "도로명주소": "경남 통영시 중앙시장1길 14-16"</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"동피랑벽화마을",</a:t>
            </a:r>
          </a:p>
          <a:p xmlns:a="http://schemas.openxmlformats.org/drawingml/2006/main">
            <a:r>
              <a:t>            "카테고리": "기타관광",</a:t>
            </a:r>
          </a:p>
          <a:p xmlns:a="http://schemas.openxmlformats.org/drawingml/2006/main">
            <a:r>
              <a:t>            "도로명주소": "경남 통영시 동피랑1길 6-18"</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"통영한산대첩축제(한산대첩광장)",</a:t>
            </a:r>
          </a:p>
          <a:p xmlns:a="http://schemas.openxmlformats.org/drawingml/2006/main">
            <a:r>
              <a:t>            "카테고리": "기타문화관광지",</a:t>
            </a:r>
          </a:p>
          <a:p xmlns:a="http://schemas.openxmlformats.org/drawingml/2006/main">
            <a:r>
              <a:t>            "도로명주소": "경남 통영시 통영해안로 267-0"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a:t>
            </a:r>
          </a:p>
          <a:p xmlns:a="http://schemas.openxmlformats.org/drawingml/2006/main">
            <a:r>
              <a:t>            "selected": 332727,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a:t>
            </a:r>
          </a:p>
          <a:p xmlns:a="http://schemas.openxmlformats.org/drawingml/2006/main">
            <a:r>
              <a:t>            "selected": 3237755191,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a:t>
            </a:r>
          </a:p>
          <a:p xmlns:a="http://schemas.openxmlformats.org/drawingml/2006/main">
            <a:r>
              <a:t>            "selected":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a:t>
            </a:r>
          </a:p>
          <a:p xmlns:a="http://schemas.openxmlformats.org/drawingml/2006/main">
            <a:r>
              <a:t>            "selected":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a:t>
            </a:r>
          </a:p>
          <a:p xmlns:a="http://schemas.openxmlformats.org/drawingml/2006/main">
            <a:r>
              <a:t>            "selected":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a:t>
            </a:r>
          </a:p>
          <a:p xmlns:a="http://schemas.openxmlformats.org/drawingml/2006/main">
            <a:r>
              <a:t>            "selected":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a:t>
            </a:r>
          </a:p>
          <a:p xmlns:a="http://schemas.openxmlformats.org/drawingml/2006/main">
            <a:r>
              <a:t>            "selected": 20785,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a:t>
            </a:r>
          </a:p>
          <a:p xmlns:a="http://schemas.openxmlformats.org/drawingml/2006/main">
            <a:r>
              <a:t>            "selected": 18839,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"지역 상품권 환급액 = 적격 신청의 min(증빙 인정 지출액 × 10%, 건별 상한 50,000원)의 합산 (단가 및 총 예산은 참여 업체 수와 예상 신청 건수에 따라 확정 필요)",</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"지역 상품권 환급액 = 적격 신청의 min(증빙 인정 지출액 × 10%, 건별 상한 50,000원)의 합산 (단가 및 총 예산은 참여 업체 수와 예상 신청 건수에 따라 확정 필요)",</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안동탈춤축제 방문자 추이",</a:t>
            </a:r>
          </a:p>
          <a:p>
            <a:r>
              <a:t>      "summary": "경상북도 안동시 · 안동탈춤축제 · 2024→2025년 전체 504,573→554,494명 (+9.89%). 개최 10→10일, 일평균 +9.89%, 외지인 +10.75%.",</a:t>
            </a:r>
          </a:p>
          <a:p>
            <a:r>
              <a:t>      "source_id": "case:festival:0e9c7c065555b0",</a:t>
            </a:r>
          </a:p>
          <a:p>
            <a:r>
              <a:t>      "source_url": "https://datalab.visitkorea.or.kr/",</a:t>
            </a:r>
          </a:p>
          <a:p>
            <a:r>
              <a:t>      "case_region": "경상북도 안동시",</a:t>
            </a:r>
          </a:p>
          <a:p>
            <a:r>
              <a:t>      "source_type": "benchmark_case",</a:t>
            </a:r>
          </a:p>
          <a:p>
            <a:r>
              <a:t>      "dataset_hash": "ad20e3daf70fd44fd481d672398c07bb9c96fce77acb450784065a568735e2e2",</a:t>
            </a:r>
          </a:p>
          <a:p>
            <a:r>
              <a:t>      "intervention": "안동탈춤축제",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504,573→554,494명 (+9.89%). 개최 10→10일, 일평균 +9.89%, 외지인 +10.75%.",</a:t>
            </a:r>
          </a:p>
          <a:p>
            <a:r>
              <a:t>      "operating_model": "안동탈춤축제를 2025년 10일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"한국관광 데이터랩 · 진도신비의바닷길축제 방문자 추이",</a:t>
            </a:r>
          </a:p>
          <a:p>
            <a:r>
              <a:t>      "summary": "전라남도 진도군 · 진도신비의바닷길축제 · 2024→2025년 전체 28,171→43,973명 (+56.09%). 개최 3→4일, 일평균 +17.07%, 외지인 +89.98%.",</a:t>
            </a:r>
          </a:p>
          <a:p>
            <a:r>
              <a:t>      "source_id": "case:festival:1ff9d11d3ee0ee",</a:t>
            </a:r>
          </a:p>
          <a:p>
            <a:r>
              <a:t>      "source_url": "https://datalab.visitkorea.or.kr/",</a:t>
            </a:r>
          </a:p>
          <a:p>
            <a:r>
              <a:t>      "case_region": "전라남도 진도군",</a:t>
            </a:r>
          </a:p>
          <a:p>
            <a:r>
              <a:t>      "source_type": "benchmark_case",</a:t>
            </a:r>
          </a:p>
          <a:p>
            <a:r>
              <a:t>      "dataset_hash": "ad20e3daf70fd44fd481d672398c07bb9c96fce77acb450784065a568735e2e2",</a:t>
            </a:r>
          </a:p>
          <a:p>
            <a:r>
              <a:t>      "intervention": "진도신비의바닷길축제",</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28,171→43,973명 (+56.09%). 개최 3→4일, 일평균 +17.07%, 외지인 +89.98%.",</a:t>
            </a:r>
          </a:p>
          <a:p>
            <a:r>
              <a:t>      "operating_model": "진도신비의바닷길축제를 2025년 4일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"자연·야외",</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"진도신비의바닷길축제",</a:t>
            </a:r>
          </a:p>
          <a:p>
            <a:r>
              <a:t>        "scope": "축제 관측구역 방문 지표. 도시 전체·순증 관광객·입장권 실구매자 수가 아님.",</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"진도신비의바닷길축제",</a:t>
            </a:r>
          </a:p>
          <a:p>
            <a:r>
              <a:t>            "카테고리": "기타문화관광지",</a:t>
            </a:r>
          </a:p>
          <a:p>
            <a:r>
              <a:t>            "도로명주소": "전남 진도군 신비의바닷길 74-0"</a:t>
            </a:r>
          </a:p>
          <a:p>
            <a:r>
              <a:t>          },</a:t>
            </a:r>
          </a:p>
          <a:p>
            <a:r>
              <a:t>          {</a:t>
            </a:r>
          </a:p>
          <a:p>
            <a:r>
              <a:t>            "구분": "외지인",</a:t>
            </a:r>
          </a:p>
          <a:p>
            <a:r>
              <a:t>            "순위": "2",</a:t>
            </a:r>
          </a:p>
          <a:p>
            <a:r>
              <a:t>            "목적지명": "진도신비의바닷길",</a:t>
            </a:r>
          </a:p>
          <a:p>
            <a:r>
              <a:t>            "카테고리": "테마공원",</a:t>
            </a:r>
          </a:p>
          <a:p>
            <a:r>
              <a:t>            "도로명주소": "전남 진도군"</a:t>
            </a:r>
          </a:p>
          <a:p>
            <a:r>
              <a:t>          },</a:t>
            </a:r>
          </a:p>
          <a:p>
            <a:r>
              <a:t>          {</a:t>
            </a:r>
          </a:p>
          <a:p>
            <a:r>
              <a:t>            "구분": "외지인",</a:t>
            </a:r>
          </a:p>
          <a:p>
            <a:r>
              <a:t>            "순위": "3",</a:t>
            </a:r>
          </a:p>
          <a:p>
            <a:r>
              <a:t>            "목적지명": "가계해변",</a:t>
            </a:r>
          </a:p>
          <a:p>
            <a:r>
              <a:t>            "카테고리": "자연경관(하천/해양)",</a:t>
            </a:r>
          </a:p>
          <a:p>
            <a:r>
              <a:t>            "도로명주소": "전남 진도군 신비의바닷길 0-0"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"한국관광 데이터랩 · 통영한산대첩축제 방문자 추이",</a:t>
            </a:r>
          </a:p>
          <a:p>
            <a:r>
              <a:t>      "summary": "경상남도 통영시 · 통영한산대첩축제 · 2024→2025년 전체 93,221→124,718명 (+33.79%). 개최 6→7일, 일평균 +14.67%, 외지인 +33.21%.",</a:t>
            </a:r>
          </a:p>
          <a:p>
            <a:r>
              <a:t>      "source_id": "case:festival:1ffc3eec28956a",</a:t>
            </a:r>
          </a:p>
          <a:p>
            <a:r>
              <a:t>      "source_url": "https://datalab.visitkorea.or.kr/",</a:t>
            </a:r>
          </a:p>
          <a:p>
            <a:r>
              <a:t>      "case_region": "경상남도 통영시",</a:t>
            </a:r>
          </a:p>
          <a:p>
            <a:r>
              <a:t>      "source_type": "benchmark_case",</a:t>
            </a:r>
          </a:p>
          <a:p>
            <a:r>
              <a:t>      "dataset_hash": "ad20e3daf70fd44fd481d672398c07bb9c96fce77acb450784065a568735e2e2",</a:t>
            </a:r>
          </a:p>
          <a:p>
            <a:r>
              <a:t>      "intervention": "통영한산대첩축제",</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93,221→124,718명 (+33.79%). 개최 6→7일, 일평균 +14.67%, 외지인 +33.21%.",</a:t>
            </a:r>
          </a:p>
          <a:p>
            <a:r>
              <a:t>      "operating_model": "통영한산대첩축제를 2025년 7일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"지역문화",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"통영한산대첩축제",</a:t>
            </a:r>
          </a:p>
          <a:p>
            <a:r>
              <a:t>        "scope": "축제 관측구역 방문 지표. 도시 전체·순증 관광객·입장권 실구매자 수가 아님.",</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"통영중앙전통시장",</a:t>
            </a:r>
          </a:p>
          <a:p>
            <a:r>
              <a:t>            "카테고리": "시장",</a:t>
            </a:r>
          </a:p>
          <a:p>
            <a:r>
              <a:t>            "도로명주소": "경남 통영시 중앙시장1길 14-16"</a:t>
            </a:r>
          </a:p>
          <a:p>
            <a:r>
              <a:t>          },</a:t>
            </a:r>
          </a:p>
          <a:p>
            <a:r>
              <a:t>          {</a:t>
            </a:r>
          </a:p>
          <a:p>
            <a:r>
              <a:t>            "구분": "외지인",</a:t>
            </a:r>
          </a:p>
          <a:p>
            <a:r>
              <a:t>            "순위": "2",</a:t>
            </a:r>
          </a:p>
          <a:p>
            <a:r>
              <a:t>            "목적지명": "동피랑벽화마을",</a:t>
            </a:r>
          </a:p>
          <a:p>
            <a:r>
              <a:t>            "카테고리": "기타관광",</a:t>
            </a:r>
          </a:p>
          <a:p>
            <a:r>
              <a:t>            "도로명주소": "경남 통영시 동피랑1길 6-18"</a:t>
            </a:r>
          </a:p>
          <a:p>
            <a:r>
              <a:t>          },</a:t>
            </a:r>
          </a:p>
          <a:p>
            <a:r>
              <a:t>          {</a:t>
            </a:r>
          </a:p>
          <a:p>
            <a:r>
              <a:t>            "구분": "외지인",</a:t>
            </a:r>
          </a:p>
          <a:p>
            <a:r>
              <a:t>            "순위": "3",</a:t>
            </a:r>
          </a:p>
          <a:p>
            <a:r>
              <a:t>            "목적지명": "통영한산대첩축제(한산대첩광장)",</a:t>
            </a:r>
          </a:p>
          <a:p>
            <a:r>
              <a:t>            "카테고리": "기타문화관광지",</a:t>
            </a:r>
          </a:p>
          <a:p>
            <a:r>
              <a:t>            "도로명주소": "경남 통영시 통영해안로 267-0"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"지역 상품권 환급액 = 적격 신청의 min(증빙 인정 지출액 × 10%, 건별 상한 50,000원)의 합산 (단가 및 총 예산은 참여 업체 수와 예상 신청 건수에 따라 확정 필요)",</a:t>
            </a:r>
          </a:p>
          <a:p>
            <a:r>
              <a:t>        "본문 기준"</a:t>
            </a:r>
          </a:p>
          <a:p>
            <a:r>
              <a:t>      ]</a:t>
            </a:r>
          </a:p>
          <a:p>
            <a:r>
              <a:t>    ],</a:t>
            </a:r>
          </a:p>
          <a:p>
            <a:r>
              <a:t>    "original_text": "지역 상품권 환급액 = 적격 신청의 min(증빙 인정 지출액 × 10%, 건별 상한 50,000원)의 합산 (단가 및 총 예산은 참여 업체 수와 예상 신청 건수에 따라 확정 필요)",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"observed_findings": [</a:t>
            </a:r>
          </a:p>
          <a:p>
            <a:r>
              <a:t>    {</a:t>
            </a:r>
          </a:p>
          <a:p>
            <a:r>
              <a:t>      "value": "4,619,168명",</a:t>
            </a:r>
          </a:p>
          <a:p>
            <a:r>
              <a:t>      "metric": "월간 순 방문자 수",</a:t>
            </a:r>
          </a:p>
          <a:p>
            <a:r>
              <a:t>      "source": "dataset:30170:1",</a:t>
            </a:r>
          </a:p>
          <a:p>
            <a:r>
              <a:t>      "interpretation": "2026년 6월 기준 관측치이며, 전년 동월 대비 -3.5% 감소 추세입니다."</a:t>
            </a:r>
          </a:p>
          <a:p>
            <a:r>
              <a:t>    },</a:t>
            </a:r>
          </a:p>
          <a:p>
            <a:r>
              <a:t>    {</a:t>
            </a:r>
          </a:p>
          <a:p>
            <a:r>
              <a:t>      "value": "76,758,413,000원",</a:t>
            </a:r>
          </a:p>
          <a:p>
            <a:r>
              <a:t>      "metric": "외지인 관광소비 총액",</a:t>
            </a:r>
          </a:p>
          <a:p>
            <a:r>
              <a:t>      "source": "dataset:30170:3",</a:t>
            </a:r>
          </a:p>
          <a:p>
            <a:r>
              <a:t>      "interpretation": "2026년 6월 기준 외지인 소비 규모로, 지역 내 소비 유도를 위한 잠재적 기반입니다."</a:t>
            </a:r>
          </a:p>
          <a:p>
            <a:r>
              <a:t>    },</a:t>
            </a:r>
          </a:p>
          <a:p>
            <a:r>
              <a:t>    {</a:t>
            </a:r>
          </a:p>
          <a:p>
            <a:r>
              <a:t>      "value": "6.7%",</a:t>
            </a:r>
          </a:p>
          <a:p>
            <a:r>
              <a:t>      "metric": "외지인 숙박 방문 비율",</a:t>
            </a:r>
          </a:p>
          <a:p>
            <a:r>
              <a:t>      "source": "dataset:30170:4",</a:t>
            </a:r>
          </a:p>
          <a:p>
            <a:r>
              <a:t>      "interpretation": "숙박 방문 비중이 낮아 체류형 관광 확대를 위한 전략적 개입이 필요할 수 있습니다."</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"operating_statistics": [],</a:t>
            </a:r>
          </a:p>
          <a:p>
            <a:r>
              <a:t>      "published_or_updated_at": "2025-01-02",</a:t>
            </a:r>
          </a:p>
          <a:p>
            <a:r>
              <a:t>      "quantitative_result_approved": false</a:t>
            </a:r>
          </a:p>
          <a:p>
            <a:r>
              <a:t>    },</a:t>
            </a:r>
          </a:p>
          <a:p>
            <a:r>
              <a:t>    "selection_reason": "지역 상품권 환급 프로그램은 'case:gangjin_half_price_2024' 사례와 유사한 방식으로, 대전광역시 서구의 외지인 관광소비 총액을 기반으로 설계할 수 있으며, 지역 내 소비를 유도할 수 있는 잠재력이 있습니다. 이는 'case:kto_stay_discount_2022' 사례와 비교하여, 지역 상품권 환급 방식이 더 적합하다고 판단됩니다.",</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"operating-capacity-v4-linked-cost",</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7920000,</a:t>
            </a:r>
          </a:p>
          <a:p>
            <a:r>
              <a:t>      "expected_budget_krw": 39512000,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9504000,</a:t>
            </a:r>
          </a:p>
          <a:p>
            <a:r>
              <a:t>      "expected_budget_krw": 41254400,</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7920000,</a:t>
            </a:r>
          </a:p>
          <a:p>
            <a:r>
              <a:t>    "expected_budget_krw": 39512000,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"case:gangjin_half_price_2024",</a:t>
            </a:r>
          </a:p>
          <a:p>
            <a:r>
              <a:t>      "title": "강진 반값여행 지역경제 효과 소개",</a:t>
            </a:r>
          </a:p>
          <a:p>
            <a:r>
              <a:t>      "source_url": "https://jnfarm.jeonnam.go.kr/board/FARM_BOARD_008/boardView.do?bdId=BD_00000000000011721&amp;menuCd=farm004002",</a:t>
            </a:r>
          </a:p>
          <a:p>
            <a:r>
              <a:t>      "operating_model": "여행자가 지역에서 지출한 비용의 일부를 지역상품권으로 돌려받게 하여 혜택이 다시 지역 상점에서 사용되도록 설계",</a:t>
            </a:r>
          </a:p>
          <a:p>
            <a:r>
              <a:t>      "observed_result": "상품권 결제 변화에 관한 소개 자료는 있으나, 사업 참여자 범위·정확한 비교 기간·원자료를 확인하지 못해 성과 수치 인용을 보류한다."</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"operating-capacity-v4-linked-cost",</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1650,</a:t>
            </a:r>
          </a:p>
          <a:p>
            <a:r>
              <a:t>    "capacity_quantity": 6400,</a:t>
            </a:r>
          </a:p>
          <a:p>
            <a:r>
              <a:t>    "per_claim_cap_krw": 50000,</a:t>
            </a:r>
          </a:p>
          <a:p>
            <a:r>
              <a:t>    "refund_rate_pct": 10.0,</a:t>
            </a:r>
          </a:p>
          <a:p>
            <a:r>
              <a:t>    "redemption_target_pct": 75.0,</a:t>
            </a:r>
          </a:p>
          <a:p>
            <a:r>
              <a:t>    "redemption_count": 4800,</a:t>
            </a:r>
          </a:p>
          <a:p>
            <a:r>
              <a:t>    "purchase_per_participant_krw": 16503,</a:t>
            </a:r>
          </a:p>
          <a:p>
            <a:r>
              <a:t>    "qualifying_spend_krw": 79214400,</a:t>
            </a:r>
          </a:p>
          <a:p>
            <a:r>
              <a:t>    "subtotal_krw": 35920000,</a:t>
            </a:r>
          </a:p>
          <a:p>
            <a:r>
              <a:t>    "reserve_krw": 3592000,</a:t>
            </a:r>
          </a:p>
          <a:p>
            <a:r>
              <a:t>    "total_krw": 39512000,</a:t>
            </a:r>
          </a:p>
          <a:p>
            <a:r>
              <a:t>    "within_hard_budget": true,</a:t>
            </a:r>
          </a:p>
          <a:p>
            <a:r>
              <a:t>    "full_participation_budget_krw": 42416000,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10%, 건별 상한 50,000원) = 건당 1,650원",</a:t>
            </a:r>
          </a:p>
          <a:p>
            <a:r>
              <a:t>        "amount": 7920000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35,920,000원 × 10%",</a:t>
            </a:r>
          </a:p>
          <a:p>
            <a:r>
              <a:t>        "amount": 3592000</a:t>
            </a:r>
          </a:p>
          <a:p>
            <a:r>
              <a:t>      }</a:t>
            </a:r>
          </a:p>
          <a:p>
            <a:r>
              <a:t>    ],</a:t>
            </a:r>
          </a:p>
          <a:p>
            <a:r>
              <a:t>    "sources": [],</a:t>
            </a:r>
          </a:p>
          <a:p>
            <a:r>
              <a:t>    "assumptions": [</a:t>
            </a:r>
          </a:p>
          <a:p>
            <a:r>
              <a:t>      "기획용 예상 견적이며 실제 액수와 다를 수 있습니다.",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10%,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image" Target="../media/image2.jpg"/><Relationship Id="rId8" Type="http://schemas.openxmlformats.org/officeDocument/2006/relationships/hyperlink" Target="https://isum.incheon.go.kr/theme/themeContent.do?key=2407020018" TargetMode="External"/><Relationship Id="rId9" Type="http://schemas.openxmlformats.org/officeDocument/2006/relationships/hyperlink" Target="https://kto.visitkorea.or.kr/upload/flexer/upload/ktobiz/20220928/b623b5f9-3ec0-11ed-9832-ddf31964842e.hwp.files/Sections1.html" TargetMode="External"/><Relationship Id="rId10" Type="http://schemas.openxmlformats.org/officeDocument/2006/relationships/image" Target="../media/image3.jpg"/><Relationship Id="rId11" Type="http://schemas.openxmlformats.org/officeDocument/2006/relationships/hyperlink" Target="https://culture.seoul.go.kr/culture/culture/cultureEvent/view.do?cultcode=146365&amp;menuNo=200009" TargetMode="External"/><Relationship Id="rId12" Type="http://schemas.openxmlformats.org/officeDocument/2006/relationships/hyperlink" Target="https://datalab.visitkorea.or.k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datalab.visitkorea.or.kr/" TargetMode="External"/><Relationship Id="rId4" Type="http://schemas.openxmlformats.org/officeDocument/2006/relationships/hyperlink" Target="https://jnfarm.jeonnam.go.kr/board/FARM_BOARD_008/boardView.do?bdId=BD_00000000000011721&amp;menuCd=farm004002" TargetMode="External"/><Relationship Id="rId5"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6" Type="http://schemas.openxmlformats.org/officeDocument/2006/relationships/hyperlink" Target="https://kto.visitkorea.or.kr/upload/flexer/upload/ktobiz/20220928/b623b5f9-3ec0-11ed-9832-ddf31964842e.hwp.files/Sections1.html" TargetMode="External"/><Relationship Id="rId7" Type="http://schemas.openxmlformats.org/officeDocument/2006/relationships/hyperlink" Target="https://korean.visitkorea.or.kr/detail/rem_detail.do?cotid=f9c636b2-dd7c-4f09-af3d-6af43b33d371" TargetMode="External"/><Relationship Id="rId8" Type="http://schemas.openxmlformats.org/officeDocument/2006/relationships/hyperlink" Target="https://apis.data.go.kr/B551011/KorService2" TargetMode="External"/><Relationship Id="rId9"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외지인 지역 상품권 환급</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2026.09.16</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숙박할인쿠폰 지원사업 · 온라인</a:t>
            </a:r>
          </a:p>
          <a:p>
            <a:pPr eaLnBrk="0">
              <a:lnSpc>
                <a:spcPts val="2125"/>
              </a:lnSpc>
              <a:spcBef>
                <a:spcPts val="0"/>
              </a:spcBef>
              <a:spcAft>
                <a:spcPts val="0"/>
              </a:spcAft>
            </a:pPr>
            <a:r>
              <a:rPr sz="1700" b="1">
                <a:solidFill>
                  <a:srgbClr val="202124"/>
                </a:solidFill>
                <a:latin typeface="Century Gothic"/>
                <a:ea typeface="맑은 고딕"/>
              </a:rPr>
              <a:t>예약 채널 숙박할인쿠폰</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온라인 여행사 예약 단계에서 할인쿠폰을</a:t>
            </a:r>
          </a:p>
          <a:p>
            <a:pPr eaLnBrk="0">
              <a:lnSpc>
                <a:spcPts val="1875"/>
              </a:lnSpc>
              <a:spcBef>
                <a:spcPts val="0"/>
              </a:spcBef>
              <a:spcAft>
                <a:spcPts val="0"/>
              </a:spcAft>
            </a:pPr>
            <a:r>
              <a:rPr sz="1500" b="0">
                <a:solidFill>
                  <a:srgbClr val="62666C"/>
                </a:solidFill>
                <a:latin typeface="Century Gothic"/>
                <a:ea typeface="맑은 고딕"/>
              </a:rPr>
              <a:t>제공하고, 지역 숙소에서 사용할 수 있도록</a:t>
            </a:r>
          </a:p>
          <a:p>
            <a:pPr eaLnBrk="0">
              <a:lnSpc>
                <a:spcPts val="1875"/>
              </a:lnSpc>
              <a:spcBef>
                <a:spcPts val="0"/>
              </a:spcBef>
              <a:spcAft>
                <a:spcPts val="0"/>
              </a:spcAft>
            </a:pPr>
            <a:r>
              <a:rPr sz="1500" b="0">
                <a:solidFill>
                  <a:srgbClr val="62666C"/>
                </a:solidFill>
                <a:latin typeface="Century Gothic"/>
                <a:ea typeface="맑은 고딕"/>
              </a:rPr>
              <a:t>참여 채널과 기간을 통합 운영</a:t>
            </a:r>
          </a:p>
        </p:txBody>
      </p:sp>
      <p:pic xmlns:a="http://schemas.openxmlformats.org/drawingml/2006/main" xmlns:r="http://schemas.openxmlformats.org/officeDocument/2006/relationships">
        <p:nvPicPr>
          <p:cNvPr id="20" name="case-photo-1" descr="incheon_official.jpg"/>
          <p:cNvPicPr>
            <a:picLocks noChangeAspect="1"/>
          </p:cNvPicPr>
          <p:nvPr/>
        </p:nvPicPr>
        <p:blipFill>
          <a:blip r:embed="rId7"/>
          <a:stretch>
            <a:fillRect/>
          </a:stretch>
        </p:blipFill>
        <p:spPr>
          <a:xfrm>
            <a:off x="6094440" y="5457825"/>
            <a:ext cx="3051119"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유사 사업 참고 · 인천 섬 · 로컬체험 여행 소개 사진</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인천광역시 섬포털</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문경시 · 문경찻사발축제</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245,750→256,570명</a:t>
            </a:r>
          </a:p>
          <a:p>
            <a:pPr eaLnBrk="0">
              <a:lnSpc>
                <a:spcPts val="1875"/>
              </a:lnSpc>
              <a:spcBef>
                <a:spcPts val="0"/>
              </a:spcBef>
              <a:spcAft>
                <a:spcPts val="0"/>
              </a:spcAft>
            </a:pPr>
            <a:r>
              <a:rPr sz="1500" b="0">
                <a:solidFill>
                  <a:srgbClr val="62666C"/>
                </a:solidFill>
                <a:latin typeface="Century Gothic"/>
                <a:ea typeface="맑은 고딕"/>
              </a:rPr>
              <a:t>(+4.40%). 개최 10→9일, 일평균 +16.00%,</a:t>
            </a:r>
          </a:p>
          <a:p>
            <a:pPr eaLnBrk="0">
              <a:lnSpc>
                <a:spcPts val="1875"/>
              </a:lnSpc>
              <a:spcBef>
                <a:spcPts val="0"/>
              </a:spcBef>
              <a:spcAft>
                <a:spcPts val="0"/>
              </a:spcAft>
            </a:pPr>
            <a:r>
              <a:rPr sz="1500" b="0">
                <a:solidFill>
                  <a:srgbClr val="62666C"/>
                </a:solidFill>
                <a:latin typeface="Century Gothic"/>
                <a:ea typeface="맑은 고딕"/>
              </a:rPr>
              <a:t>외지인 +9.28%.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8" name="case-photo-2" descr="jeongdong_2024.jpg"/>
          <p:cNvPicPr>
            <a:picLocks noChangeAspect="1"/>
          </p:cNvPicPr>
          <p:nvPr/>
        </p:nvPicPr>
        <p:blipFill>
          <a:blip r:embed="rId10"/>
          <a:stretch>
            <a:fillRect/>
          </a:stretch>
        </p:blipFill>
        <p:spPr>
          <a:xfrm>
            <a:off x="10826702" y="5457825"/>
            <a:ext cx="2578195"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유사 사업 참고 · 서울 중구 정동야행 · 문화행사 참고 사진</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서울문화포털 · 2024 정동야행</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1"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반값여행 지역환급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3224784"/>
            <a:ext cx="5581650" cy="2980181"/>
          </a:xfrm>
          <a:prstGeom prst="rect">
            <a:avLst/>
          </a:prstGeom>
        </p:spPr>
      </p:pic>
      <p:sp>
        <p:nvSpPr>
          <p:cNvPr id="9" name="result-operation-label"/>
          <p:cNvSpPr txBox="1"/>
          <p:nvPr/>
        </p:nvSpPr>
        <p:spPr>
          <a:xfrm>
            <a:off x="7172325" y="298132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6004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62825" y="3743325"/>
            <a:ext cx="457200" cy="457200"/>
          </a:xfrm>
          <a:prstGeom prst="rect">
            <a:avLst/>
          </a:prstGeom>
        </p:spPr>
      </p:pic>
      <p:sp>
        <p:nvSpPr>
          <p:cNvPr id="12" name="result-flow-title-0"/>
          <p:cNvSpPr txBox="1"/>
          <p:nvPr/>
        </p:nvSpPr>
        <p:spPr>
          <a:xfrm>
            <a:off x="7981950" y="36957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40290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39102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53390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8"/>
          <a:stretch>
            <a:fillRect/>
          </a:stretch>
        </p:blipFill>
        <p:spPr>
          <a:xfrm>
            <a:off x="7362825" y="4676775"/>
            <a:ext cx="457200" cy="457200"/>
          </a:xfrm>
          <a:prstGeom prst="rect">
            <a:avLst/>
          </a:prstGeom>
        </p:spPr>
      </p:pic>
      <p:sp>
        <p:nvSpPr>
          <p:cNvPr id="17" name="result-flow-title-1"/>
          <p:cNvSpPr txBox="1"/>
          <p:nvPr/>
        </p:nvSpPr>
        <p:spPr>
          <a:xfrm>
            <a:off x="7981950" y="462915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96252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5324475"/>
            <a:ext cx="0" cy="133350"/>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467350"/>
            <a:ext cx="7058025" cy="781050"/>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62825" y="5610225"/>
            <a:ext cx="457200" cy="457200"/>
          </a:xfrm>
          <a:prstGeom prst="rect">
            <a:avLst/>
          </a:prstGeom>
        </p:spPr>
      </p:pic>
      <p:sp>
        <p:nvSpPr>
          <p:cNvPr id="22" name="result-flow-title-2"/>
          <p:cNvSpPr txBox="1"/>
          <p:nvPr/>
        </p:nvSpPr>
        <p:spPr>
          <a:xfrm>
            <a:off x="7981950" y="5562600"/>
            <a:ext cx="59817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895975"/>
            <a:ext cx="5981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4" name="result-operation"/>
          <p:cNvSpPr txBox="1"/>
          <p:nvPr/>
        </p:nvSpPr>
        <p:spPr>
          <a:xfrm>
            <a:off x="7172325" y="6524625"/>
            <a:ext cx="7058025" cy="695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여행자가 지역에서 지출한 비용의 일부를 지역상품권으로 돌려받게 하여 혜택이</a:t>
            </a:r>
          </a:p>
          <a:p>
            <a:pPr eaLnBrk="0">
              <a:lnSpc>
                <a:spcPts val="1875"/>
              </a:lnSpc>
              <a:spcBef>
                <a:spcPts val="0"/>
              </a:spcBef>
              <a:spcAft>
                <a:spcPts val="0"/>
              </a:spcAft>
            </a:pPr>
            <a:r>
              <a:rPr sz="1500" b="0">
                <a:solidFill>
                  <a:srgbClr val="62666C"/>
                </a:solidFill>
                <a:latin typeface="Noto Sans KR"/>
              </a:rPr>
              <a:t>다시 지역 상점에서 사용되도록 설계</a:t>
            </a:r>
          </a:p>
        </p:txBody>
      </p:sp>
      <p:sp>
        <p:nvSpPr>
          <p:cNvPr id="25"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26"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32" name="result-photo-source-bg"/>
          <p:cNvSpPr/>
          <p:nvPr/>
        </p:nvSpPr>
        <p:spPr>
          <a:xfrm>
            <a:off x="1123950" y="5519165"/>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557265"/>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외지인 방문객이 서구 내 지정된 사용처에서</a:t>
            </a:r>
          </a:p>
          <a:p>
            <a:pPr eaLnBrk="0">
              <a:lnSpc>
                <a:spcPts val="1781"/>
              </a:lnSpc>
              <a:spcBef>
                <a:spcPts val="0"/>
              </a:spcBef>
              <a:spcAft>
                <a:spcPts val="0"/>
              </a:spcAft>
            </a:pPr>
            <a:r>
              <a:rPr sz="1425" b="0">
                <a:solidFill>
                  <a:srgbClr val="202124"/>
                </a:solidFill>
                <a:latin typeface="Noto Sans KR"/>
              </a:rPr>
              <a:t>일정 금액 이상 소비 시, 지출액의 일부를</a:t>
            </a:r>
          </a:p>
          <a:p>
            <a:pPr eaLnBrk="0">
              <a:lnSpc>
                <a:spcPts val="1781"/>
              </a:lnSpc>
              <a:spcBef>
                <a:spcPts val="0"/>
              </a:spcBef>
              <a:spcAft>
                <a:spcPts val="0"/>
              </a:spcAft>
            </a:pPr>
            <a:r>
              <a:rPr sz="1425" b="0">
                <a:solidFill>
                  <a:srgbClr val="202124"/>
                </a:solidFill>
                <a:latin typeface="Noto Sans KR"/>
              </a:rPr>
              <a:t>지역 상품권으로 즉시 또는 사후 환급하여</a:t>
            </a:r>
          </a:p>
          <a:p>
            <a:pPr eaLnBrk="0">
              <a:lnSpc>
                <a:spcPts val="1781"/>
              </a:lnSpc>
              <a:spcBef>
                <a:spcPts val="0"/>
              </a:spcBef>
              <a:spcAft>
                <a:spcPts val="0"/>
              </a:spcAft>
            </a:pPr>
            <a:r>
              <a:rPr sz="1425" b="0">
                <a:solidFill>
                  <a:srgbClr val="202124"/>
                </a:solidFill>
                <a:latin typeface="Noto Sans KR"/>
              </a:rPr>
              <a:t>지역 내 재결제를 유도합니다.</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여행자가 지역에서 지출한 비용의 일부를 지역상품권으로</a:t>
                      </a:r>
                    </a:p>
                    <a:p>
                      <a:pPr eaLnBrk="0">
                        <a:lnSpc>
                          <a:spcPct val="112000"/>
                        </a:lnSpc>
                        <a:spcBef>
                          <a:spcPts val="0"/>
                        </a:spcBef>
                        <a:spcAft>
                          <a:spcPts val="0"/>
                        </a:spcAft>
                      </a:pPr>
                      <a:r>
                        <a:rPr sz="1575" b="0">
                          <a:solidFill>
                            <a:srgbClr val="202124"/>
                          </a:solidFill>
                          <a:latin typeface="Noto Sans KR"/>
                        </a:rPr>
                        <a:t>돌려받게 하여 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4,619,168명 / 외지인 관광소비 총액:</a:t>
                      </a:r>
                    </a:p>
                    <a:p>
                      <a:pPr eaLnBrk="0">
                        <a:lnSpc>
                          <a:spcPct val="112000"/>
                        </a:lnSpc>
                        <a:spcBef>
                          <a:spcPts val="0"/>
                        </a:spcBef>
                        <a:spcAft>
                          <a:spcPts val="0"/>
                        </a:spcAft>
                      </a:pPr>
                      <a:r>
                        <a:rPr sz="1575" b="0">
                          <a:solidFill>
                            <a:srgbClr val="202124"/>
                          </a:solidFill>
                          <a:latin typeface="Noto Sans KR"/>
                        </a:rPr>
                        <a:t>76,758,413,000원 / 외지인 숙박 방문 비율: 6.7%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외지인 방문객이 서구 내 지정된 사용처에서 일정 금액 이상 소비 시, 지출액의 일부를 지역 상품권으로</a:t>
            </a:r>
          </a:p>
          <a:p>
            <a:pPr eaLnBrk="0">
              <a:lnSpc>
                <a:spcPts val="1968"/>
              </a:lnSpc>
              <a:spcBef>
                <a:spcPts val="0"/>
              </a:spcBef>
              <a:spcAft>
                <a:spcPts val="0"/>
              </a:spcAft>
            </a:pPr>
            <a:r>
              <a:rPr sz="1575" b="0">
                <a:solidFill>
                  <a:srgbClr val="202124"/>
                </a:solidFill>
                <a:latin typeface="Noto Sans KR"/>
              </a:rPr>
              <a:t>즉시 또는 사후 환급하여 지역 내 재결제를 유도합니다.</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강진 반값여행 지역경제 효과 소개</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3,951만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7,920,000원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10%, 건별 상한 50,000원) = 건당 1,650원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3,592,000원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35,920,000원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42,416,000원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저장 근거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검수 모델</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7쪽 (8개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강진 반값여행 지역경제 효과</a:t>
            </a:r>
          </a:p>
          <a:p>
            <a:pPr eaLnBrk="0">
              <a:lnSpc>
                <a:spcPts val="1265"/>
              </a:lnSpc>
              <a:spcBef>
                <a:spcPts val="0"/>
              </a:spcBef>
              <a:spcAft>
                <a:spcPts val="0"/>
              </a:spcAft>
            </a:pPr>
            <a:r>
              <a:rPr sz="1012" b="0" u="none">
                <a:solidFill>
                  <a:srgbClr val="62666C"/>
                </a:solidFill>
                <a:latin typeface="Noto Sans KR"/>
                <a:hlinkClick r:id="rId4"/>
              </a:rPr>
              <a:t>소개 jnfarm.jeonnam.go.kr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2024년 6월 여행가는 달 추진</a:t>
            </a:r>
          </a:p>
          <a:p>
            <a:pPr eaLnBrk="0">
              <a:lnSpc>
                <a:spcPts val="1265"/>
              </a:lnSpc>
              <a:spcBef>
                <a:spcPts val="0"/>
              </a:spcBef>
              <a:spcAft>
                <a:spcPts val="0"/>
              </a:spcAft>
            </a:pPr>
            <a:r>
              <a:rPr sz="1012" b="0" u="none">
                <a:solidFill>
                  <a:srgbClr val="62666C"/>
                </a:solidFill>
                <a:latin typeface="Noto Sans KR"/>
                <a:hlinkClick r:id="rId5"/>
              </a:rPr>
              <a:t>보도자료 mcst.go.kr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6"/>
              </a:rPr>
              <a:t>공개자료 kto.visitkorea.or.kr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7"/>
              </a:rPr>
              <a:t>일정 korean.visitkorea.or.kr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D57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3"/>
              </a:rPr>
              <a:t>방문자 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D58 한국관광 데이터랩 · 통영한산대첩축제 방문자</a:t>
            </a:r>
          </a:p>
          <a:p>
            <a:pPr eaLnBrk="0">
              <a:lnSpc>
                <a:spcPts val="1265"/>
              </a:lnSpc>
              <a:spcBef>
                <a:spcPts val="0"/>
              </a:spcBef>
              <a:spcAft>
                <a:spcPts val="0"/>
              </a:spcAft>
            </a:pPr>
            <a:r>
              <a:rPr sz="1012" b="0" u="none">
                <a:solidFill>
                  <a:srgbClr val="62666C"/>
                </a:solidFill>
                <a:latin typeface="Noto Sans KR"/>
                <a:hlinkClick r:id="rId3"/>
              </a:rPr>
              <a:t>추이 datalab.visitkorea.or.kr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D30 갈마짬뽕</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D31 관저당</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D32 굿모닝레지던스호텔휴</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D33 귀빈돌솥밥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D34 남선공원</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D35 내원사(대전)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D36 노크노크</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D37 대성콩국수</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D38 대전 가수원도서관</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D39 대전광역시청 시민잔디광장</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D40 대전서구문화원</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D41 델빠네</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D42 도마큰시장</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D43 도산서원(대전)</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D44 둔산꽃시장</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D45 둔산전자타운</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D46 롯데백화점 (대전점)</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D47 마치광장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D48 몽뜨</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8"/>
              </a:rPr>
              <a:t>관광자원·사진 D49 미세노센세</a:t>
            </a:r>
          </a:p>
        </p:txBody>
      </p:sp>
      <p:sp>
        <p:nvSpPr>
          <p:cNvPr id="4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외지인 지역 상품권 환급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3,951만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+0.01%</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+0.02%</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추가 방문 × 계획 결제 16,503원 + 기존 방문 참여 × 추가 구매 8,251원</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