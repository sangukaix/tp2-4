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61" r:id="Rbf371966fa964fc8"/>
    <p:sldId xmlns:r="http://schemas.openxmlformats.org/officeDocument/2006/relationships" id="270" r:id="rId17"/>
    <p:sldId xmlns:r="http://schemas.openxmlformats.org/officeDocument/2006/relationships" id="259" r:id="R5b6702ccd7664af1"/>
    <p:sldId xmlns:r="http://schemas.openxmlformats.org/officeDocument/2006/relationships" id="272" r:id="rId18"/>
    <p:sldId xmlns:r="http://schemas.openxmlformats.org/officeDocument/2006/relationships" id="274" r:id="rId22"/>
    <p:sldId xmlns:r="http://schemas.openxmlformats.org/officeDocument/2006/relationships" id="275" r:id="rId23"/>
    <p:sldId xmlns:r="http://schemas.openxmlformats.org/officeDocument/2006/relationships" id="271" r: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r="http://schemas.openxmlformats.org/officeDocument/2006/relationships" id="273" r:id="rId21"/>
    <p:sldId xmlns:r="http://schemas.openxmlformats.org/officeDocument/2006/relationships" id="266" r:id="R029df0519ade4c8b"/>
    <p:sldId xmlns:r="http://schemas.openxmlformats.org/officeDocument/2006/relationships" id="268" r: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3.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5.xml"/><Relationship Id="R4c9d0e3030fa4c5f" Type="http://schemas.openxmlformats.org/officeDocument/2006/relationships/slide" Target="slides/slide9.xml"/><Relationship Id="R5b6702ccd7664af1" Type="http://schemas.openxmlformats.org/officeDocument/2006/relationships/slide" Target="slides/slide6.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1.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10.xml"/><Relationship Id="Rbf371966fa964fc8" Type="http://schemas.openxmlformats.org/officeDocument/2006/relationships/slide" Target="slides/slide4.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5.xml"/><Relationship Id="rId18" Type="http://schemas.openxmlformats.org/officeDocument/2006/relationships/slide" Target="slides/slide7.xml"/><Relationship Id="rId19" Type="http://schemas.openxmlformats.org/officeDocument/2006/relationships/slide" Target="slides/slide14.xml"/><Relationship Id="rId20" Type="http://schemas.openxmlformats.org/officeDocument/2006/relationships/slide" Target="slides/slide8.xml"/><Relationship Id="rId21" Type="http://schemas.openxmlformats.org/officeDocument/2006/relationships/slide" Target="slides/slide12.xml"/><Relationship Id="rId22" Type="http://schemas.openxmlformats.org/officeDocument/2006/relationships/slide" Target="slides/slide16.xml"/><Relationship Id="rId23"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499.8578</c:v>
                </c:pt>
                <c:pt idx="1">
                  <c:v>494.0348</c:v>
                </c:pt>
                <c:pt idx="2">
                  <c:v>498.9633</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499.8578</c:v>
                </c:pt>
                <c:pt idx="1">
                  <c:v>494.08248288</c:v>
                </c:pt>
                <c:pt idx="2">
                  <c:v>499.05961712</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520.0"/>
          <c:min val="46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793.5937471</c:v>
                </c:pt>
                <c:pt idx="1">
                  <c:v>859.71975908</c:v>
                </c:pt>
                <c:pt idx="2">
                  <c:v>810.33922052</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793.5937471</c:v>
                </c:pt>
                <c:pt idx="1">
                  <c:v>859.89822377</c:v>
                </c:pt>
                <c:pt idx="2">
                  <c:v>810.6756486</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900.0"/>
          <c:min val="7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-1.766149</c:v>
                </c:pt>
                <c:pt idx="1">
                  <c:v>-0.394767</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0.49452172000000005"/>
          <c:min val="-2.2606707200000002"/>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4.485906</c:v>
                </c:pt>
                <c:pt idx="1">
                  <c:v>6.640909</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8.50036352"/>
          <c:min val="-1.85945452"/>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27649B"/>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720.0</c:v>
                </c:pt>
                <c:pt idx="1">
                  <c:v>1440.0</c:v>
                </c:pt>
                <c:pt idx="2">
                  <c:v>2591.0</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187C70"/>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4554.82</c:v>
                </c:pt>
                <c:pt idx="1">
                  <c:v>5148.93</c:v>
                </c:pt>
                <c:pt idx="2">
                  <c:v>6890.82</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6.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4.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9.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5.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방문자/2025_01_12.zip | https://datalab.visitkorea.or.kr/</a:t>
            </a:r>
          </a:p>
          <a:p xmlns:a="http://schemas.openxmlformats.org/drawingml/2006/main">
            <a:r>
              <a:t>datalab:162285800b98:dbba3ac2e220 | 관광소비/2025_01_12.zip | https://datalab.visitkorea.or.kr/</a:t>
            </a:r>
          </a:p>
          <a:p xmlns:a="http://schemas.openxmlformats.org/drawingml/2006/main">
            <a:r>
              <a:t>datalab:1bec5b4405e1:6c5494eef7c6 | 숙박_체류시간/2025_01_12.zip | https://datalab.visitkorea.or.kr/</a:t>
            </a:r>
          </a:p>
          <a:p xmlns:a="http://schemas.openxmlformats.org/drawingml/2006/main">
            <a:r>
              <a:t>datalab:7a4db91d6ba9:d81294f3e5a0 | 관광소비/2026_01_06.zip | https://datalab.visitkorea.or.kr/</a:t>
            </a:r>
          </a:p>
          <a:p xmlns:a="http://schemas.openxmlformats.org/drawingml/2006/main">
            <a:r>
              <a:t>datalab:cc1dc8fb5607:77f3b69cfb89 | 방문자/2026_01_06.zip | https://datalab.visitkorea.or.kr/</a:t>
            </a:r>
          </a:p>
          <a:p xmlns:a="http://schemas.openxmlformats.org/drawingml/2006/main">
            <a:r>
              <a:t>datalab:e53d144382ee:fc025995a6df | 숙박_체류시간/2026_01_06.zip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case:festival:01474ef75569b1 | 한국관광 데이터랩 · 문경찻사발축제 방문자 추이 | https://datalab.visitkorea.or.kr/</a:t>
            </a:r>
          </a:p>
          <a:p xmlns:a="http://schemas.openxmlformats.org/drawingml/2006/main">
            <a:r>
              <a:t>case:festival:0e9c7c065555b0 | 한국관광 데이터랩 · 안동탈춤축제 방문자 추이 | https://datalab.visitkorea.or.kr/</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case:festival:1ff9d11d3ee0ee | 한국관광 데이터랩 · 진도신비의바닷길축제 방문자 추이 | https://datalab.visitkorea.or.kr/</a:t>
            </a:r>
          </a:p>
          <a:p xmlns:a="http://schemas.openxmlformats.org/drawingml/2006/main">
            <a:r>
              <a:t>case:festival:1ffc3eec28956a | 한국관광 데이터랩 · 통영한산대첩축제 방문자 추이 | https://datalab.visitkorea.or.kr/</a:t>
            </a:r>
          </a:p>
          <a:p xmlns:a="http://schemas.openxmlformats.org/drawingml/2006/main">
            <a:r>
              <a:t>[/Sources]</a:t>
            </a:r>
          </a:p>
          <a:p xmlns:a="http://schemas.openxmlformats.org/drawingml/2006/main">
            <a:r>
              <a:t>표지 사진 출처: {"title": "도산서원(대전)", "address": "대전광역시 서구 남선로 8", "summary": "한국관광공사 국문관광정보 API가 반환한 선택 지역 관광자원", "image_url": "http://tong.visitkorea.or.kr/cms/resource/24/3035024_image2_1.JPG", "source_id": "tour-api:1955818", "content_id": "1955818", "source_url": "https://apis.data.go.kr/B551011/KorService2", "source_type": "open_api", "content_type_id":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방문자/2025_01_12.zip | https://datalab.visitkorea.or.kr/</a:t>
            </a:r>
          </a:p>
          <a:p xmlns:a="http://schemas.openxmlformats.org/drawingml/2006/main">
            <a:r>
              <a:t>datalab:162285800b98:dbba3ac2e220 | 관광소비/2025_01_12.zip | https://datalab.visitkorea.or.kr/</a:t>
            </a:r>
          </a:p>
          <a:p xmlns:a="http://schemas.openxmlformats.org/drawingml/2006/main">
            <a:r>
              <a:t>datalab:1bec5b4405e1:6c5494eef7c6 | 숙박_체류시간/2025_01_12.zip | https://datalab.visitkorea.or.kr/</a:t>
            </a:r>
          </a:p>
          <a:p xmlns:a="http://schemas.openxmlformats.org/drawingml/2006/main">
            <a:r>
              <a:t>datalab:7a4db91d6ba9:d81294f3e5a0 | 관광소비/2026_01_06.zip | https://datalab.visitkorea.or.kr/</a:t>
            </a:r>
          </a:p>
          <a:p xmlns:a="http://schemas.openxmlformats.org/drawingml/2006/main">
            <a:r>
              <a:t>datalab:cc1dc8fb5607:77f3b69cfb89 | 방문자/2026_01_06.zip | https://datalab.visitkorea.or.kr/</a:t>
            </a:r>
          </a:p>
          <a:p xmlns:a="http://schemas.openxmlformats.org/drawingml/2006/main">
            <a:r>
              <a:t>datalab:e53d144382ee:fc025995a6df | 숙박_체류시간/2026_01_06.zip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case:festival:01474ef75569b1 | 한국관광 데이터랩 · 문경찻사발축제 방문자 추이 | https://datalab.visitkorea.or.kr/</a:t>
            </a:r>
          </a:p>
          <a:p xmlns:a="http://schemas.openxmlformats.org/drawingml/2006/main">
            <a:r>
              <a:t>case:festival:0e9c7c065555b0 | 한국관광 데이터랩 · 안동탈춤축제 방문자 추이 | https://datalab.visitkorea.or.kr/</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case:festival:1ff9d11d3ee0ee | 한국관광 데이터랩 · 진도신비의바닷길축제 방문자 추이 | https://datalab.visitkorea.or.kr/</a:t>
            </a:r>
          </a:p>
          <a:p xmlns:a="http://schemas.openxmlformats.org/drawingml/2006/main">
            <a:r>
              <a:t>case:festival:1ffc3eec28956a | 한국관광 데이터랩 · 통영한산대첩축제 방문자 추이 | https://datalab.visitkorea.or.kr/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"202610",</a:t>
            </a:r>
          </a:p>
          <a:p xmlns:a="http://schemas.openxmlformats.org/drawingml/2006/main">
            <a:r>
              <a:t>      "202611",</a:t>
            </a:r>
          </a:p>
          <a:p xmlns:a="http://schemas.openxmlformats.org/drawingml/2006/main">
            <a:r>
              <a:t>      "202612"</a:t>
            </a:r>
          </a:p>
          <a:p xmlns:a="http://schemas.openxmlformats.org/drawingml/2006/main">
            <a:r>
              <a:t>    ],</a:t>
            </a:r>
          </a:p>
          <a:p xmlns:a="http://schemas.openxmlformats.org/drawingml/2006/main">
            <a:r>
              <a:t>    "origin": "202606",</a:t>
            </a:r>
          </a:p>
          <a:p xmlns:a="http://schemas.openxmlformats.org/drawingml/2006/main">
            <a:r>
              <a:t>    "signature": "9da8906bc18ad5ed9a1f620a997c40557df67be2a658dc8a337d675d2ed7fe0e",</a:t>
            </a:r>
          </a:p>
          <a:p xmlns:a="http://schemas.openxmlformats.org/drawingml/2006/main">
            <a:r>
              <a:t>    "region_code": "30170",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4998578,</a:t>
            </a:r>
          </a:p>
          <a:p xmlns:a="http://schemas.openxmlformats.org/drawingml/2006/main">
            <a:r>
              <a:t>          4940348,</a:t>
            </a:r>
          </a:p>
          <a:p xmlns:a="http://schemas.openxmlformats.org/drawingml/2006/main">
            <a:r>
              <a:t>          4989633</a:t>
            </a:r>
          </a:p>
          <a:p xmlns:a="http://schemas.openxmlformats.org/drawingml/2006/main">
            <a:r>
              <a:t>        ],</a:t>
            </a:r>
          </a:p>
          <a:p xmlns:a="http://schemas.openxmlformats.org/drawingml/2006/main">
            <a:r>
              <a:t>        "previous": [</a:t>
            </a:r>
          </a:p>
          <a:p xmlns:a="http://schemas.openxmlformats.org/drawingml/2006/main">
            <a:r>
              <a:t>          4949394.0,</a:t>
            </a:r>
          </a:p>
          <a:p xmlns:a="http://schemas.openxmlformats.org/drawingml/2006/main">
            <a:r>
              <a:t>          5167969.0,</a:t>
            </a:r>
          </a:p>
          <a:p xmlns:a="http://schemas.openxmlformats.org/drawingml/2006/main">
            <a:r>
              <a:t>          5079597.0</a:t>
            </a:r>
          </a:p>
          <a:p xmlns:a="http://schemas.openxmlformats.org/drawingml/2006/main">
            <a:r>
              <a:t>        ],</a:t>
            </a:r>
          </a:p>
          <a:p xmlns:a="http://schemas.openxmlformats.org/drawingml/2006/main">
            <a:r>
              <a:t>        "growth_pct": -1.766149282488072,</a:t>
            </a:r>
          </a:p>
          <a:p xmlns:a="http://schemas.openxmlformats.org/drawingml/2006/main">
            <a:r>
              <a:t>        "national_mean_pct": -0.394766937691683,</a:t>
            </a:r>
          </a:p>
          <a:p xmlns:a="http://schemas.openxmlformats.org/drawingml/2006/main">
            <a:r>
              <a:t>        "gap_pp": -1.371382344796389,</a:t>
            </a:r>
          </a:p>
          <a:p xmlns:a="http://schemas.openxmlformats.org/drawingml/2006/main">
            <a:r>
              <a:t>        "rank": 185,</a:t>
            </a:r>
          </a:p>
          <a:p xmlns:a="http://schemas.openxmlformats.org/drawingml/2006/main">
            <a:r>
              <a:t>        "target_growth_pct": -1.756673703161682,</a:t>
            </a:r>
          </a:p>
          <a:p xmlns:a="http://schemas.openxmlformats.org/drawingml/2006/main">
            <a:r>
              <a:t>        "target_rank": 185,</a:t>
            </a:r>
          </a:p>
          <a:p xmlns:a="http://schemas.openxmlformats.org/drawingml/2006/main">
            <a:r>
              <a:t>        "target": [</a:t>
            </a:r>
          </a:p>
          <a:p xmlns:a="http://schemas.openxmlformats.org/drawingml/2006/main">
            <a:r>
              <a:t>          4998578.0,</a:t>
            </a:r>
          </a:p>
          <a:p xmlns:a="http://schemas.openxmlformats.org/drawingml/2006/main">
            <a:r>
              <a:t>          4940824.828765141,</a:t>
            </a:r>
          </a:p>
          <a:p xmlns:a="http://schemas.openxmlformats.org/drawingml/2006/main">
            <a:r>
              <a:t>          4990596.171234859</a:t>
            </a:r>
          </a:p>
          <a:p xmlns:a="http://schemas.openxmlformats.org/drawingml/2006/main">
            <a:r>
              <a:t>        ],</a:t>
            </a:r>
          </a:p>
          <a:p xmlns:a="http://schemas.openxmlformats.org/drawingml/2006/main">
            <a:r>
              <a:t>        "additional": 1440.0</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79359374710,</a:t>
            </a:r>
          </a:p>
          <a:p xmlns:a="http://schemas.openxmlformats.org/drawingml/2006/main">
            <a:r>
              <a:t>          85971975908,</a:t>
            </a:r>
          </a:p>
          <a:p xmlns:a="http://schemas.openxmlformats.org/drawingml/2006/main">
            <a:r>
              <a:t>          81033922052</a:t>
            </a:r>
          </a:p>
          <a:p xmlns:a="http://schemas.openxmlformats.org/drawingml/2006/main">
            <a:r>
              <a:t>        ],</a:t>
            </a:r>
          </a:p>
          <a:p xmlns:a="http://schemas.openxmlformats.org/drawingml/2006/main">
            <a:r>
              <a:t>        "previous": [</a:t>
            </a:r>
          </a:p>
          <a:p xmlns:a="http://schemas.openxmlformats.org/drawingml/2006/main">
            <a:r>
              <a:t>          78158272000.0,</a:t>
            </a:r>
          </a:p>
          <a:p xmlns:a="http://schemas.openxmlformats.org/drawingml/2006/main">
            <a:r>
              <a:t>          76509918000.0,</a:t>
            </a:r>
          </a:p>
          <a:p xmlns:a="http://schemas.openxmlformats.org/drawingml/2006/main">
            <a:r>
              <a:t>          81119852000.0</a:t>
            </a:r>
          </a:p>
          <a:p xmlns:a="http://schemas.openxmlformats.org/drawingml/2006/main">
            <a:r>
              <a:t>        ],</a:t>
            </a:r>
          </a:p>
          <a:p xmlns:a="http://schemas.openxmlformats.org/drawingml/2006/main">
            <a:r>
              <a:t>        "growth_pct": 4.485906316657062,</a:t>
            </a:r>
          </a:p>
          <a:p xmlns:a="http://schemas.openxmlformats.org/drawingml/2006/main">
            <a:r>
              <a:t>        "national_mean_pct": 6.640909128955906,</a:t>
            </a:r>
          </a:p>
          <a:p xmlns:a="http://schemas.openxmlformats.org/drawingml/2006/main">
            <a:r>
              <a:t>        "gap_pp": -2.155002812298844,</a:t>
            </a:r>
          </a:p>
          <a:p xmlns:a="http://schemas.openxmlformats.org/drawingml/2006/main">
            <a:r>
              <a:t>        "rank": 60,</a:t>
            </a:r>
          </a:p>
          <a:p xmlns:a="http://schemas.openxmlformats.org/drawingml/2006/main">
            <a:r>
              <a:t>        "target_growth_pct": 4.507743419405474,</a:t>
            </a:r>
          </a:p>
          <a:p xmlns:a="http://schemas.openxmlformats.org/drawingml/2006/main">
            <a:r>
              <a:t>        "target_rank": 60,</a:t>
            </a:r>
          </a:p>
          <a:p xmlns:a="http://schemas.openxmlformats.org/drawingml/2006/main">
            <a:r>
              <a:t>        "target": [</a:t>
            </a:r>
          </a:p>
          <a:p xmlns:a="http://schemas.openxmlformats.org/drawingml/2006/main">
            <a:r>
              <a:t>          79359374710.0,</a:t>
            </a:r>
          </a:p>
          <a:p xmlns:a="http://schemas.openxmlformats.org/drawingml/2006/main">
            <a:r>
              <a:t>          85989822376.69019,</a:t>
            </a:r>
          </a:p>
          <a:p xmlns:a="http://schemas.openxmlformats.org/drawingml/2006/main">
            <a:r>
              <a:t>          81067564860.30981</a:t>
            </a:r>
          </a:p>
          <a:p xmlns:a="http://schemas.openxmlformats.org/drawingml/2006/main">
            <a:r>
              <a:t>        ],</a:t>
            </a:r>
          </a:p>
          <a:p xmlns:a="http://schemas.openxmlformats.org/drawingml/2006/main">
            <a:r>
              <a:t>        "additional": 51489277.0</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-0.181730776849387,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0.22058697128235494,</a:t>
            </a:r>
          </a:p>
          <a:p xmlns:a="http://schemas.openxmlformats.org/drawingml/2006/main">
            <a:r>
              <a:t>        "spending_yoy_pct": 4.580217217936977</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-4.979614214123506,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-0.3378475483719168,</a:t>
            </a:r>
          </a:p>
          <a:p xmlns:a="http://schemas.openxmlformats.org/drawingml/2006/main">
            <a:r>
              <a:t>        "spending_yoy_pct": 17.74232531130686</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2.5969573020728554,</a:t>
            </a:r>
          </a:p>
          <a:p xmlns:a="http://schemas.openxmlformats.org/drawingml/2006/main">
            <a:r>
              <a:t>        "spending_yoy_pct": 5.2897098661769615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3.8434435752205065,</a:t>
            </a:r>
          </a:p>
          <a:p xmlns:a="http://schemas.openxmlformats.org/drawingml/2006/main">
            <a:r>
              <a:t>        "spending_yoy_pct": 15.750677281894143</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3.9319477713267714,</a:t>
            </a:r>
          </a:p>
          <a:p xmlns:a="http://schemas.openxmlformats.org/drawingml/2006/main">
            <a:r>
              <a:t>        "spending_yoy_pct": 4.008665139200995</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0.06390882102844664,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6.491412818941056,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-0.31553169799538594,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1.9885852169564178,</a:t>
            </a:r>
          </a:p>
          <a:p xmlns:a="http://schemas.openxmlformats.org/drawingml/2006/main">
            <a:r>
              <a:t>        "spending_yoy_pct": -3.9398837471920745</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2.6732126130347034,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-1.5414900930146969,</a:t>
            </a:r>
          </a:p>
          <a:p xmlns:a="http://schemas.openxmlformats.org/drawingml/2006/main">
            <a:r>
              <a:t>        "spending_yoy_pct": 9.742111155875799</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0.26100209122330575,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-0.42315356265129056,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0.2040172459361056,</a:t>
            </a:r>
          </a:p>
          <a:p xmlns:a="http://schemas.openxmlformats.org/drawingml/2006/main">
            <a:r>
              <a:t>        "spending_yoy_pct": 7.8308763097921785</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-2.5203770541048165,</a:t>
            </a:r>
          </a:p>
          <a:p xmlns:a="http://schemas.openxmlformats.org/drawingml/2006/main">
            <a:r>
              <a:t>        "spending_yoy_pct": 1.0661216099866477</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-5.084948743139006,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-0.004729088367683154,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-2.159738232477182,</a:t>
            </a:r>
          </a:p>
          <a:p xmlns:a="http://schemas.openxmlformats.org/drawingml/2006/main">
            <a:r>
              <a:t>        "spending_yoy_pct": 6.658745677758771</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3.416171684213065,</a:t>
            </a:r>
          </a:p>
          <a:p xmlns:a="http://schemas.openxmlformats.org/drawingml/2006/main">
            <a:r>
              <a:t>        "spending_yoy_pct": 2.78161019702714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-3.3407180053658725,</a:t>
            </a:r>
          </a:p>
          <a:p xmlns:a="http://schemas.openxmlformats.org/drawingml/2006/main">
            <a:r>
              <a:t>        "spending_yoy_pct": 7.659458813227693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0.1917648649844672,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-0.13711943373028168,</a:t>
            </a:r>
          </a:p>
          <a:p xmlns:a="http://schemas.openxmlformats.org/drawingml/2006/main">
            <a:r>
              <a:t>        "spending_yoy_pct": 4.933893018036728</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-1.9664957516168258,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-0.8330123914969678,</a:t>
            </a:r>
          </a:p>
          <a:p xmlns:a="http://schemas.openxmlformats.org/drawingml/2006/main">
            <a:r>
              <a:t>        "spending_yoy_pct": 37.640108864536415</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7.745107525681205,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2.6814404526349644,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-11.738262349313622,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0.7982735908174332,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3.9292214795380698,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1.016923718387308,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1.1475336925274693,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0.02309067516510499,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1.1752424903732184,</a:t>
            </a:r>
          </a:p>
          <a:p xmlns:a="http://schemas.openxmlformats.org/drawingml/2006/main">
            <a:r>
              <a:t>        "spending_yoy_pct": 5.784673016796771</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0.6512867290074942,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2.5103800143091215,</a:t>
            </a:r>
          </a:p>
          <a:p xmlns:a="http://schemas.openxmlformats.org/drawingml/2006/main">
            <a:r>
              <a:t>        "spending_yoy_pct": 9.520113178780786</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15.517585713868876</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-0.021831037261310637,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-1.8020937666352155,</a:t>
            </a:r>
          </a:p>
          <a:p xmlns:a="http://schemas.openxmlformats.org/drawingml/2006/main">
            <a:r>
              <a:t>        "spending_yoy_pct": 4.387608388035358</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2.161627087729401,</a:t>
            </a:r>
          </a:p>
          <a:p xmlns:a="http://schemas.openxmlformats.org/drawingml/2006/main">
            <a:r>
              <a:t>        "spending_yoy_pct": 0.7681955241102489</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1.4376074623922541,</a:t>
            </a:r>
          </a:p>
          <a:p xmlns:a="http://schemas.openxmlformats.org/drawingml/2006/main">
            <a:r>
              <a:t>        "spending_yoy_pct": -0.5252023407957496</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-1.9824476603583885</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-1.094635619559492,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-0.4157538524296678,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-0.03909969108389921,</a:t>
            </a:r>
          </a:p>
          <a:p xmlns:a="http://schemas.openxmlformats.org/drawingml/2006/main">
            <a:r>
              <a:t>        "spending_yoy_pct": 24.268928579775473</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-2.7650328166700766,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3.17645200245269,</a:t>
            </a:r>
          </a:p>
          <a:p xmlns:a="http://schemas.openxmlformats.org/drawingml/2006/main">
            <a:r>
              <a:t>        "spending_yoy_pct": 15.490271744531281</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2.126429602344748,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2.446276459112906,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2.5971124765787224,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4.5266599226026605,</a:t>
            </a:r>
          </a:p>
          <a:p xmlns:a="http://schemas.openxmlformats.org/drawingml/2006/main">
            <a:r>
              <a:t>        "spending_yoy_pct": 27.301280740216516</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-0.12423394404349475,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4.565492258559134,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1.0039353259585715,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1.1493001597324914,</a:t>
            </a:r>
          </a:p>
          <a:p xmlns:a="http://schemas.openxmlformats.org/drawingml/2006/main">
            <a:r>
              <a:t>        "spending_yoy_pct": 0.7152053675203662</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0.8549389592575896,</a:t>
            </a:r>
          </a:p>
          <a:p xmlns:a="http://schemas.openxmlformats.org/drawingml/2006/main">
            <a:r>
              <a:t>        "spending_yoy_pct": 54.515586744429825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0.6696990720158169,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-1.2265414627372073,</a:t>
            </a:r>
          </a:p>
          <a:p xmlns:a="http://schemas.openxmlformats.org/drawingml/2006/main">
            <a:r>
              <a:t>        "spending_yoy_pct": 2.819393017454064</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4.418720080278593,</a:t>
            </a:r>
          </a:p>
          <a:p xmlns:a="http://schemas.openxmlformats.org/drawingml/2006/main">
            <a:r>
              <a:t>        "spending_yoy_pct": 80.10191905439277</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8.438700210446726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2.3706895536131256,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-2.196919183444135,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-0.20943825484315282,</a:t>
            </a:r>
          </a:p>
          <a:p xmlns:a="http://schemas.openxmlformats.org/drawingml/2006/main">
            <a:r>
              <a:t>        "spending_yoy_pct": 90.16980699536094</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1.4931429611678482,</a:t>
            </a:r>
          </a:p>
          <a:p xmlns:a="http://schemas.openxmlformats.org/drawingml/2006/main">
            <a:r>
              <a:t>        "spending_yoy_pct": 164.41633132776067</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0.5725787983204667,</a:t>
            </a:r>
          </a:p>
          <a:p xmlns:a="http://schemas.openxmlformats.org/drawingml/2006/main">
            <a:r>
              <a:t>        "spending_yoy_pct": 2.9201707509641794</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1.9080906230178662,</a:t>
            </a:r>
          </a:p>
          <a:p xmlns:a="http://schemas.openxmlformats.org/drawingml/2006/main">
            <a:r>
              <a:t>        "spending_yoy_pct": 93.29406351350364</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8.779900218563274</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-0.1543004095628131,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-4.9845806071294625,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0.4443307513116945,</a:t>
            </a:r>
          </a:p>
          <a:p xmlns:a="http://schemas.openxmlformats.org/drawingml/2006/main">
            <a:r>
              <a:t>        "spending_yoy_pct": 11.522133499214316</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-0.5533626758409849,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-5.682902364697629,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-6.197087223670394,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1.532627270013709,</a:t>
            </a:r>
          </a:p>
          <a:p xmlns:a="http://schemas.openxmlformats.org/drawingml/2006/main">
            <a:r>
              <a:t>        "spending_yoy_pct": 11.550184318092782</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-0.19569437562877434,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-0.9188809536138209,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-0.013909531225120286,</a:t>
            </a:r>
          </a:p>
          <a:p xmlns:a="http://schemas.openxmlformats.org/drawingml/2006/main">
            <a:r>
              <a:t>        "spending_yoy_pct": 2.9088830140476807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-0.15207888510152534,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-1.3899560482204198,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-7.2910216851574505,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-5.515868609397323,</a:t>
            </a:r>
          </a:p>
          <a:p xmlns:a="http://schemas.openxmlformats.org/drawingml/2006/main">
            <a:r>
              <a:t>        "spending_yoy_pct": -1.7817730383349328</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2.1795297362594557,</a:t>
            </a:r>
          </a:p>
          <a:p xmlns:a="http://schemas.openxmlformats.org/drawingml/2006/main">
            <a:r>
              <a:t>        "spending_yoy_pct": 28.383514181768852</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-3.7906092926320967,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-0.12463356717037355,</a:t>
            </a:r>
          </a:p>
          <a:p xmlns:a="http://schemas.openxmlformats.org/drawingml/2006/main">
            <a:r>
              <a:t>        "spending_yoy_pct": 15.444220129143616</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-0.3368063498548568,</a:t>
            </a:r>
          </a:p>
          <a:p xmlns:a="http://schemas.openxmlformats.org/drawingml/2006/main">
            <a:r>
              <a:t>        "spending_yoy_pct": 13.970563515910307</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1.010200811824924,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5.772683047324012,</a:t>
            </a:r>
          </a:p>
          <a:p xmlns:a="http://schemas.openxmlformats.org/drawingml/2006/main">
            <a:r>
              <a:t>        "spending_yoy_pct": 16.64700605789211</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7.0968608639590425,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8.91384142916214,</a:t>
            </a:r>
          </a:p>
          <a:p xmlns:a="http://schemas.openxmlformats.org/drawingml/2006/main">
            <a:r>
              <a:t>        "spending_yoy_pct": 51.42963050638678</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-4.5613101360050035,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4.65529590507352,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0.31874615966416275,</a:t>
            </a:r>
          </a:p>
          <a:p xmlns:a="http://schemas.openxmlformats.org/drawingml/2006/main">
            <a:r>
              <a:t>        "spending_yoy_pct": 199.8299142834811</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-3.899263505165773,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-1.8883975251061003,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0.11812466942986433,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-4.449903676617362,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-4.529772428896173,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-3.967948727511972,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-0.2007651826217982,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-3.204974055201437,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21.98935102974735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-23.845377664211888</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77.2454788529685</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-2.975129590969039,</a:t>
            </a:r>
          </a:p>
          <a:p xmlns:a="http://schemas.openxmlformats.org/drawingml/2006/main">
            <a:r>
              <a:t>        "spending_yoy_pct": -1.629426609535689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13.71754848584239</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2.817683783685676,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2.4821537544526873,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-8.388009807135566,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1.1946114274143271,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-0.8521609077245751,</a:t>
            </a:r>
          </a:p>
          <a:p xmlns:a="http://schemas.openxmlformats.org/drawingml/2006/main">
            <a:r>
              <a:t>        "spending_yoy_pct": 11.610152246182537</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-0.7214500007304392,</a:t>
            </a:r>
          </a:p>
          <a:p xmlns:a="http://schemas.openxmlformats.org/drawingml/2006/main">
            <a:r>
              <a:t>        "spending_yoy_pct": 7.591638703469283</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-0.9553189898898751,</a:t>
            </a:r>
          </a:p>
          <a:p xmlns:a="http://schemas.openxmlformats.org/drawingml/2006/main">
            <a:r>
              <a:t>        "spending_yoy_pct": -1.8532051877563682</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4.555014466689378,</a:t>
            </a:r>
          </a:p>
          <a:p xmlns:a="http://schemas.openxmlformats.org/drawingml/2006/main">
            <a:r>
              <a:t>        "spending_yoy_pct": 12.98517569147155</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2.6888462104591726,</a:t>
            </a:r>
          </a:p>
          <a:p xmlns:a="http://schemas.openxmlformats.org/drawingml/2006/main">
            <a:r>
              <a:t>        "spending_yoy_pct": 1.7726236280316332</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-0.9873473880396388,</a:t>
            </a:r>
          </a:p>
          <a:p xmlns:a="http://schemas.openxmlformats.org/drawingml/2006/main">
            <a:r>
              <a:t>        "spending_yoy_pct": 4.430062438540672</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-5.749236240423238,</a:t>
            </a:r>
          </a:p>
          <a:p xmlns:a="http://schemas.openxmlformats.org/drawingml/2006/main">
            <a:r>
              <a:t>        "spending_yoy_pct": -3.869100627733313</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1.3969318106962447,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-0.22657328637972762,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1.5620618810417541,</a:t>
            </a:r>
          </a:p>
          <a:p xmlns:a="http://schemas.openxmlformats.org/drawingml/2006/main">
            <a:r>
              <a:t>        "spending_yoy_pct": 18.180566393295393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-2.906227538650663,</a:t>
            </a:r>
          </a:p>
          <a:p xmlns:a="http://schemas.openxmlformats.org/drawingml/2006/main">
            <a:r>
              <a:t>        "spending_yoy_pct": 4.35084627396245</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0.7014064474913484,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-3.2244991634435616,</a:t>
            </a:r>
          </a:p>
          <a:p xmlns:a="http://schemas.openxmlformats.org/drawingml/2006/main">
            <a:r>
              <a:t>        "spending_yoy_pct": 9.438557404688797</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0.652448528912597,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4.100821235547691,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0.403969457144826,</a:t>
            </a:r>
          </a:p>
          <a:p xmlns:a="http://schemas.openxmlformats.org/drawingml/2006/main">
            <a:r>
              <a:t>        "spending_yoy_pct": 8.655919147978096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-1.766149282488072,</a:t>
            </a:r>
          </a:p>
          <a:p xmlns:a="http://schemas.openxmlformats.org/drawingml/2006/main">
            <a:r>
              <a:t>        "spending_yoy_pct": 4.485906316657062</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0.9780077525350483,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4.733581858819513,</a:t>
            </a:r>
          </a:p>
          <a:p xmlns:a="http://schemas.openxmlformats.org/drawingml/2006/main">
            <a:r>
              <a:t>        "spending_yoy_pct": 11.04932382073196</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-0.9787440386389679,</a:t>
            </a:r>
          </a:p>
          <a:p xmlns:a="http://schemas.openxmlformats.org/drawingml/2006/main">
            <a:r>
              <a:t>        "spending_yoy_pct": 33.77418347740544</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4.408676083206853,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-3.5195344542938822,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3.68077924608996,</a:t>
            </a:r>
          </a:p>
          <a:p xmlns:a="http://schemas.openxmlformats.org/drawingml/2006/main">
            <a:r>
              <a:t>        "spending_yoy_pct": 24.203541185743948</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2.091306262979553,</a:t>
            </a:r>
          </a:p>
          <a:p xmlns:a="http://schemas.openxmlformats.org/drawingml/2006/main">
            <a:r>
              <a:t>        "spending_yoy_pct": 19.094327547078937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-0.5303591349263614,</a:t>
            </a:r>
          </a:p>
          <a:p xmlns:a="http://schemas.openxmlformats.org/drawingml/2006/main">
            <a:r>
              <a:t>        "spending_yoy_pct": 2.817126268224812</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-0.7135985449665094,</a:t>
            </a:r>
          </a:p>
          <a:p xmlns:a="http://schemas.openxmlformats.org/drawingml/2006/main">
            <a:r>
              <a:t>        "spending_yoy_pct": 12.440013216896407</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-0.826923040419314,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3.2552629691459556,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1.544310172085006,</a:t>
            </a:r>
          </a:p>
          <a:p xmlns:a="http://schemas.openxmlformats.org/drawingml/2006/main">
            <a:r>
              <a:t>        "spending_yoy_pct": 13.269352912248976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-0.5690410799997103,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2.036957530408534,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-1.8008178398181807,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-1.424513143058459,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-0.5564090965809787,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2.294602584905081,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-4.281167592593893,</a:t>
            </a:r>
          </a:p>
          <a:p xmlns:a="http://schemas.openxmlformats.org/drawingml/2006/main">
            <a:r>
              <a:t>        "spending_yoy_pct": 7.363366661362503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0.9016050829677491</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2.6030321555469804,</a:t>
            </a:r>
          </a:p>
          <a:p xmlns:a="http://schemas.openxmlformats.org/drawingml/2006/main">
            <a:r>
              <a:t>        "spending_yoy_pct": 62.52152140018454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-1.869977091489472,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-0.30452048491245165,</a:t>
            </a:r>
          </a:p>
          <a:p xmlns:a="http://schemas.openxmlformats.org/drawingml/2006/main">
            <a:r>
              <a:t>        "spending_yoy_pct": 9.128785699086993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4.253574353563128,</a:t>
            </a:r>
          </a:p>
          <a:p xmlns:a="http://schemas.openxmlformats.org/drawingml/2006/main">
            <a:r>
              <a:t>        "spending_yoy_pct": -0.39307051850207</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-2.147594135319486,</a:t>
            </a:r>
          </a:p>
          <a:p xmlns:a="http://schemas.openxmlformats.org/drawingml/2006/main">
            <a:r>
              <a:t>        "spending_yoy_pct": -3.236192328869203</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0.9935772294742629,</a:t>
            </a:r>
          </a:p>
          <a:p xmlns:a="http://schemas.openxmlformats.org/drawingml/2006/main">
            <a:r>
              <a:t>        "spending_yoy_pct": 10.485707821897062</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1.487521488159138,</a:t>
            </a:r>
          </a:p>
          <a:p xmlns:a="http://schemas.openxmlformats.org/drawingml/2006/main">
            <a:r>
              <a:t>        "spending_yoy_pct": 1.2888193298384865</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-1.40416628182366,</a:t>
            </a:r>
          </a:p>
          <a:p xmlns:a="http://schemas.openxmlformats.org/drawingml/2006/main">
            <a:r>
              <a:t>        "spending_yoy_pct": -2.588345108767043</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-2.5168617337829824,</a:t>
            </a:r>
          </a:p>
          <a:p xmlns:a="http://schemas.openxmlformats.org/drawingml/2006/main">
            <a:r>
              <a:t>        "spending_yoy_pct": -4.482092207211219</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-11.306522531093933,</a:t>
            </a:r>
          </a:p>
          <a:p xmlns:a="http://schemas.openxmlformats.org/drawingml/2006/main">
            <a:r>
              <a:t>        "spending_yoy_pct": -11.57250799849544</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5.339277215525051,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3.917907343849847,</a:t>
            </a:r>
          </a:p>
          <a:p xmlns:a="http://schemas.openxmlformats.org/drawingml/2006/main">
            <a:r>
              <a:t>        "spending_yoy_pct": 37.63030093728903</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-1.8552327862504048,</a:t>
            </a:r>
          </a:p>
          <a:p xmlns:a="http://schemas.openxmlformats.org/drawingml/2006/main">
            <a:r>
              <a:t>        "spending_yoy_pct": 17.91727578060309</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-2.5922628029858785,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-3.8050913694334665,</a:t>
            </a:r>
          </a:p>
          <a:p xmlns:a="http://schemas.openxmlformats.org/drawingml/2006/main">
            <a:r>
              <a:t>        "spending_yoy_pct": -2.829737192897619</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-4.470951871747653,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-4.022517360300859,</a:t>
            </a:r>
          </a:p>
          <a:p xmlns:a="http://schemas.openxmlformats.org/drawingml/2006/main">
            <a:r>
              <a:t>        "spending_yoy_pct": -1.9999763950737104</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-3.942188474476893,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-2.7943796052375403,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-3.3897637721457707,</a:t>
            </a:r>
          </a:p>
          <a:p xmlns:a="http://schemas.openxmlformats.org/drawingml/2006/main">
            <a:r>
              <a:t>        "spending_yoy_pct": 0.633656482224243</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-0.04349507838015132,</a:t>
            </a:r>
          </a:p>
          <a:p xmlns:a="http://schemas.openxmlformats.org/drawingml/2006/main">
            <a:r>
              <a:t>        "spending_yoy_pct": 27.22182967008513</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-5.909742520692795,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-7.053620032661945,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-6.648802559754008,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-4.343147418429072,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-3.47720564034385,</a:t>
            </a:r>
          </a:p>
          <a:p xmlns:a="http://schemas.openxmlformats.org/drawingml/2006/main">
            <a:r>
              <a:t>        "spending_yoy_pct": -19.459853142577387</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-7.594166067586816,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-0.4638258656956218,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-6.627616864286345,</a:t>
            </a:r>
          </a:p>
          <a:p xmlns:a="http://schemas.openxmlformats.org/drawingml/2006/main">
            <a:r>
              <a:t>        "spending_yoy_pct": 1.7686019122850727</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-0.6758954076027224,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4.597012440752213,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0.2262425995711581,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-9.68958471728848,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-2.186202233151302,</a:t>
            </a:r>
          </a:p>
          <a:p xmlns:a="http://schemas.openxmlformats.org/drawingml/2006/main">
            <a:r>
              <a:t>        "spending_yoy_pct": -1.7467930855516123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-6.611276395036647,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-16.028109986249916</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4.291963563452361,</a:t>
            </a:r>
          </a:p>
          <a:p xmlns:a="http://schemas.openxmlformats.org/drawingml/2006/main">
            <a:r>
              <a:t>        "spending_yoy_pct": 3.429187439863446</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-0.77126243208957,</a:t>
            </a:r>
          </a:p>
          <a:p xmlns:a="http://schemas.openxmlformats.org/drawingml/2006/main">
            <a:r>
              <a:t>        "spending_yoy_pct": -1.6686228105042833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-8.113949274469512,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-1.9404077647184215,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-2.9970332041111325,</a:t>
            </a:r>
          </a:p>
          <a:p xmlns:a="http://schemas.openxmlformats.org/drawingml/2006/main">
            <a:r>
              <a:t>        "spending_yoy_pct": -0.344215997377606</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-3.253411379185267,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0.9396432003732524,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0.2564369450511528,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-0.20290858416329716,</a:t>
            </a:r>
          </a:p>
          <a:p xmlns:a="http://schemas.openxmlformats.org/drawingml/2006/main">
            <a:r>
              <a:t>        "spending_yoy_pct": 107.12602440650927</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-4.419836099319118,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-1.5360538235401844,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0.24478534850893574,</a:t>
            </a:r>
          </a:p>
          <a:p xmlns:a="http://schemas.openxmlformats.org/drawingml/2006/main">
            <a:r>
              <a:t>        "spending_yoy_pct": -3.5472930631496813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-6.101401347839364,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1.6381359427136033,</a:t>
            </a:r>
          </a:p>
          <a:p xmlns:a="http://schemas.openxmlformats.org/drawingml/2006/main">
            <a:r>
              <a:t>        "spending_yoy_pct": 21.67555151294014</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-2.7921566891576433,</a:t>
            </a:r>
          </a:p>
          <a:p xmlns:a="http://schemas.openxmlformats.org/drawingml/2006/main">
            <a:r>
              <a:t>        "spending_yoy_pct": 3.2182000713773418</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1.9721057822461585,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0.2612705243280944,</a:t>
            </a:r>
          </a:p>
          <a:p xmlns:a="http://schemas.openxmlformats.org/drawingml/2006/main">
            <a:r>
              <a:t>        "spending_yoy_pct": 7.768108787176065</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-2.2014068292360522,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-1.926036252205876,</a:t>
            </a:r>
          </a:p>
          <a:p xmlns:a="http://schemas.openxmlformats.org/drawingml/2006/main">
            <a:r>
              <a:t>        "spending_yoy_pct": 17.440281108802136</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-7.112510215020695,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1.8046777943435899,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1.3354637153798476,</a:t>
            </a:r>
          </a:p>
          <a:p xmlns:a="http://schemas.openxmlformats.org/drawingml/2006/main">
            <a:r>
              <a:t>        "spending_yoy_pct": 4.336507996980998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3.43009996565109,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0.8598805391942577,</a:t>
            </a:r>
          </a:p>
          <a:p xmlns:a="http://schemas.openxmlformats.org/drawingml/2006/main">
            <a:r>
              <a:t>        "spending_yoy_pct": 6.441991433916305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0.21217211529411806,</a:t>
            </a:r>
          </a:p>
          <a:p xmlns:a="http://schemas.openxmlformats.org/drawingml/2006/main">
            <a:r>
              <a:t>        "spending_yoy_pct": -3.405545347488803</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2.511238291733453,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0.18077100821116687,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0.18973668636870222,</a:t>
            </a:r>
          </a:p>
          <a:p xmlns:a="http://schemas.openxmlformats.org/drawingml/2006/main">
            <a:r>
              <a:t>        "spending_yoy_pct": 18.335822536892167</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-1.9728604465589328,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방문자/2025_01_12.zip | https://datalab.visitkorea.or.kr/</a:t>
            </a:r>
          </a:p>
          <a:p xmlns:a="http://schemas.openxmlformats.org/drawingml/2006/main">
            <a:r>
              <a:t>datalab:162285800b98:dbba3ac2e220 | 관광소비/2025_01_12.zip | https://datalab.visitkorea.or.kr/</a:t>
            </a:r>
          </a:p>
          <a:p xmlns:a="http://schemas.openxmlformats.org/drawingml/2006/main">
            <a:r>
              <a:t>datalab:1bec5b4405e1:6c5494eef7c6 | 숙박_체류시간/2025_01_12.zip | https://datalab.visitkorea.or.kr/</a:t>
            </a:r>
          </a:p>
          <a:p xmlns:a="http://schemas.openxmlformats.org/drawingml/2006/main">
            <a:r>
              <a:t>datalab:7a4db91d6ba9:d81294f3e5a0 | 관광소비/2026_01_06.zip | https://datalab.visitkorea.or.kr/</a:t>
            </a:r>
          </a:p>
          <a:p xmlns:a="http://schemas.openxmlformats.org/drawingml/2006/main">
            <a:r>
              <a:t>datalab:cc1dc8fb5607:77f3b69cfb89 | 방문자/2026_01_06.zip | https://datalab.visitkorea.or.kr/</a:t>
            </a:r>
          </a:p>
          <a:p xmlns:a="http://schemas.openxmlformats.org/drawingml/2006/main">
            <a:r>
              <a:t>datalab:e53d144382ee:fc025995a6df | 숙박_체류시간/2026_01_06.zip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case:festival:01474ef75569b1 | 한국관광 데이터랩 · 문경찻사발축제 방문자 추이 | https://datalab.visitkorea.or.kr/</a:t>
            </a:r>
          </a:p>
          <a:p xmlns:a="http://schemas.openxmlformats.org/drawingml/2006/main">
            <a:r>
              <a:t>case:festival:0e9c7c065555b0 | 한국관광 데이터랩 · 안동탈춤축제 방문자 추이 | https://datalab.visitkorea.or.kr/</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case:festival:1ff9d11d3ee0ee | 한국관광 데이터랩 · 진도신비의바닷길축제 방문자 추이 | https://datalab.visitkorea.or.kr/</a:t>
            </a:r>
          </a:p>
          <a:p xmlns:a="http://schemas.openxmlformats.org/drawingml/2006/main">
            <a:r>
              <a:t>case:festival:1ffc3eec28956a | 한국관광 데이터랩 · 통영한산대첩축제 방문자 추이 | https://datalab.visitkorea.or.kr/</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"환급 후 재사용률 (분자: 환급 후 서구 내 적격 재결제액 합계 / 분모: 지급된 환급액 합계). 측정 주기: 매주. 비교 집단: 사업 미참여 상권의 결제 추이(단, 인과관계 단정은 지양).",</a:t>
            </a:r>
          </a:p>
          <a:p xmlns:a="http://schemas.openxmlformats.org/drawingml/2006/main">
            <a:r>
              <a:t>    "title": "대전 서구 외지인 지역 상품권 환급 프로그램",</a:t>
            </a:r>
          </a:p>
          <a:p xmlns:a="http://schemas.openxmlformats.org/drawingml/2006/main">
            <a:r>
              <a:t>    "budget": "지역 상품권 환급액 = 적격 신청의 min(증빙 인정 지출액 × 10%, 건별 상한 50,000원)의 합산 (단가 및 총 예산은 참여 업체 수와 예상 신청 건수에 따라 확정 필요)",</a:t>
            </a:r>
          </a:p>
          <a:p xmlns:a="http://schemas.openxmlformats.org/drawingml/2006/main">
            <a:r>
              <a:t>    "evidence": "dataset:30170:3, case:gangjin_half_price_2024",</a:t>
            </a:r>
          </a:p>
          <a:p xmlns:a="http://schemas.openxmlformats.org/drawingml/2006/main">
            <a:r>
              <a:t>    "priority": 1,</a:t>
            </a:r>
          </a:p>
          <a:p xmlns:a="http://schemas.openxmlformats.org/drawingml/2006/main">
            <a:r>
              <a:t>    "solution": "외지인 방문객이 서구 내 지정된 사용처에서 일정 금액 이상 소비 시, 지출액의 일부를 지역 상품권으로 즉시 또는 사후 환급하여 지역 내 재결제를 유도합니다.",</a:t>
            </a:r>
          </a:p>
          <a:p xmlns:a="http://schemas.openxmlformats.org/drawingml/2006/main">
            <a:r>
              <a:t>    "timeframe": "2026-10 ~ 2026-12, 3개월",</a:t>
            </a:r>
          </a:p>
          <a:p xmlns:a="http://schemas.openxmlformats.org/drawingml/2006/main">
            <a:r>
              <a:t>    "expected_effect": "계획 목표: 최종월 ML 전망 대비 방문 +0.02%, 소비 +0.04%. 운영 규모와 참여 가정으로 산정하며 실제 성과는 별도 집계합니다.",</a:t>
            </a:r>
          </a:p>
          <a:p xmlns:a="http://schemas.openxmlformats.org/drawingml/2006/main">
            <a:r>
              <a:t>    "problem_to_solve": "외지인 관광객의 지역 내 소비 유도 및 재소비 촉진",</a:t>
            </a:r>
          </a:p>
          <a:p xmlns:a="http://schemas.openxmlformats.org/drawingml/2006/main">
            <a:r>
              <a:t>    "comparison_analysis": "강진군의 '반값여행 지역환급' 사례(case:gangjin_half_price_2024)와 유사한 운영 방식을 채택하되, 대전 서구의 쇼핑 및 식음료업 비중(각 43.0%, 39.7%)을 고려하여 참여 업종을 설계합니다. 다만, 강진 사례의 정확한 성과 수치는 미확인되었으므로 운영 방식만을 벤치마킹합니다.",</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"참여 업체 및 환급 기준 확정",</a:t>
            </a:r>
          </a:p>
          <a:p xmlns:a="http://schemas.openxmlformats.org/drawingml/2006/main">
            <a:r>
              <a:t>        "schedule": "2026-10",</a:t>
            </a:r>
          </a:p>
          <a:p xmlns:a="http://schemas.openxmlformats.org/drawingml/2006/main">
            <a:r>
              <a:t>        "deliverable": "참여 업체 명단 및 운영 지침(안) 확보 필요 (기획 가정 단계)"</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"증빙 및 환급 시스템 점검",</a:t>
            </a:r>
          </a:p>
          <a:p xmlns:a="http://schemas.openxmlformats.org/drawingml/2006/main">
            <a:r>
              <a:t>        "schedule": "2026-10",</a:t>
            </a:r>
          </a:p>
          <a:p xmlns:a="http://schemas.openxmlformats.org/drawingml/2006/main">
            <a:r>
              <a:t>        "deliverable": "지출 증빙(영수증 등) 확인 절차 및 중복 수혜 방지 로직 검증"</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"시범 운영 및 모니터링",</a:t>
            </a:r>
          </a:p>
          <a:p xmlns:a="http://schemas.openxmlformats.org/drawingml/2006/main">
            <a:r>
              <a:t>        "schedule": "2026-11",</a:t>
            </a:r>
          </a:p>
          <a:p xmlns:a="http://schemas.openxmlformats.org/drawingml/2006/main">
            <a:r>
              <a:t>        "deliverable": "주간 단위 신청·승인·결제 원장 집계"</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"성과 데이터 수집 및 분석",</a:t>
            </a:r>
          </a:p>
          <a:p xmlns:a="http://schemas.openxmlformats.org/drawingml/2006/main">
            <a:r>
              <a:t>        "schedule": "2026-12",</a:t>
            </a:r>
          </a:p>
          <a:p xmlns:a="http://schemas.openxmlformats.org/drawingml/2006/main">
            <a:r>
              <a:t>        "deliverable": "환급액 대비 재결제액 및 이용률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"사업 지속 여부 검토",</a:t>
            </a:r>
          </a:p>
          <a:p xmlns:a="http://schemas.openxmlformats.org/drawingml/2006/main">
            <a:r>
              <a:t>        "schedule": "2026-12",</a:t>
            </a:r>
          </a:p>
          <a:p xmlns:a="http://schemas.openxmlformats.org/drawingml/2006/main">
            <a:r>
              <a:t>        "deliverable": "기준선 대비 성과 비교를 통한 확대/중단 결정"</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"case:gangjin_half_price_2024"</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방문자/2025_01_12.zip | https://datalab.visitkorea.or.kr/</a:t>
            </a:r>
          </a:p>
          <a:p>
            <a:r>
              <a:t>datalab:162285800b98:dbba3ac2e220 | 관광소비/2025_01_12.zip | https://datalab.visitkorea.or.kr/</a:t>
            </a:r>
          </a:p>
          <a:p>
            <a:r>
              <a:t>datalab:1bec5b4405e1:6c5494eef7c6 | 숙박_체류시간/2025_01_12.zip | https://datalab.visitkorea.or.kr/</a:t>
            </a:r>
          </a:p>
          <a:p>
            <a:r>
              <a:t>datalab:7a4db91d6ba9:d81294f3e5a0 | 관광소비/2026_01_06.zip | https://datalab.visitkorea.or.kr/</a:t>
            </a:r>
          </a:p>
          <a:p>
            <a:r>
              <a:t>datalab:cc1dc8fb5607:77f3b69cfb89 | 방문자/2026_01_06.zip | https://datalab.visitkorea.or.kr/</a:t>
            </a:r>
          </a:p>
          <a:p>
            <a:r>
              <a:t>datalab:e53d144382ee:fc025995a6df | 숙박_체류시간/2026_01_06.zip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case:festival:01474ef75569b1 | 한국관광 데이터랩 · 문경찻사발축제 방문자 추이 | https://datalab.visitkorea.or.kr/</a:t>
            </a:r>
          </a:p>
          <a:p>
            <a:r>
              <a:t>case:festival:0e9c7c065555b0 | 한국관광 데이터랩 · 안동탈춤축제 방문자 추이 | https://datalab.visitkorea.or.kr/</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case:festival:1ff9d11d3ee0ee | 한국관광 데이터랩 · 진도신비의바닷길축제 방문자 추이 | https://datalab.visitkorea.or.kr/</a:t>
            </a:r>
          </a:p>
          <a:p>
            <a:r>
              <a:t>case:festival:1ffc3eec28956a | 한국관광 데이터랩 · 통영한산대첩축제 방문자 추이 | https://datalab.visitkorea.or.kr/</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"source_file_name": "대전광역시_서구/방문자/2025_01_12.zip"</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"source_file_name": "대전광역시_서구/관광소비/2025_01_12.zip"</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"source_file_name": "대전광역시_서구/숙박_체류시간/2025_01_12.zip"</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"source_file_name": "대전광역시_서구/관광소비/2026_01_06.zip"</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"source_file_name": "대전광역시_서구/방문자/2026_01_06.zip"</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"source_file_name": "대전광역시_서구/숙박_체류시간/2026_01_06.zip"</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방문자수/20260820140607__202601-202606_데이터랩_다운로드.zip"</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"이동통신/외국인/20260820141710_전국_202601-202606_데이터랩_다운로드.zip"</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"신용카드/내국인/지역별 관광지출액/20260820140046__202601-202606_데이터랩_다운로드.zip"</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"신용카드/외국인/지역별 관광지출액/20260820140355__202601-202606_데이터랩_다운로드.zip"</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"네비게이션/지역별 검색건수/20260820195507__202601-202606_데이터랩_다운로드.zip"</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방문자수/20260820140614__202501-202512_데이터랩_다운로드.zip"</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"이동통신/외국인/20260820141649_전국_202501-202512_데이터랩_다운로드.zip"</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"신용카드/내국인/지역별 관광지출액/20260820135957__202501-202512_데이터랩_다운로드.zip"</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"신용카드/외국인/지역별 관광지출액/20260820140409__202501-202512_데이터랩_다운로드.zip"</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"네비게이션/지역별 검색건수/20260820132007__202501-202512_데이터랩_다운로드.zip"</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방문자수/20260820140624__202401-202412_데이터랩_다운로드.zip"</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"이동통신/외국인/20260820141639_전국_202401-202412_데이터랩_다운로드.zip"</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"한국관광 데이터랩 · 안동탈춤축제 방문자 추이",</a:t>
            </a:r>
          </a:p>
          <a:p>
            <a:r>
              <a:t>      "summary": "경상북도 안동시 · 안동탈춤축제 · 2024→2025년 전체 504,573→554,494명 (+9.89%). 개최 10→10일, 일평균 +9.89%, 외지인 +10.75%.",</a:t>
            </a:r>
          </a:p>
          <a:p>
            <a:r>
              <a:t>      "source_id": "case:festival:0e9c7c065555b0",</a:t>
            </a:r>
          </a:p>
          <a:p>
            <a:r>
              <a:t>      "source_url": "https://datalab.visitkorea.or.kr/",</a:t>
            </a:r>
          </a:p>
          <a:p>
            <a:r>
              <a:t>      "case_region": "경상북도 안동시",</a:t>
            </a:r>
          </a:p>
          <a:p>
            <a:r>
              <a:t>      "source_type": "benchmark_case",</a:t>
            </a:r>
          </a:p>
          <a:p>
            <a:r>
              <a:t>      "dataset_hash": "ad20e3daf70fd44fd481d672398c07bb9c96fce77acb450784065a568735e2e2",</a:t>
            </a:r>
          </a:p>
          <a:p>
            <a:r>
              <a:t>      "intervention": "안동탈춤축제",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504,573→554,494명 (+9.89%). 개최 10→10일, 일평균 +9.89%, 외지인 +10.75%.",</a:t>
            </a:r>
          </a:p>
          <a:p>
            <a:r>
              <a:t>      "operating_model": "안동탈춤축제를 2025년 10일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"operating_statistics": [],</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"한국관광 데이터랩 · 진도신비의바닷길축제 방문자 추이",</a:t>
            </a:r>
          </a:p>
          <a:p>
            <a:r>
              <a:t>      "summary": "전라남도 진도군 · 진도신비의바닷길축제 · 2024→2025년 전체 28,171→43,973명 (+56.09%). 개최 3→4일, 일평균 +17.07%, 외지인 +89.98%.",</a:t>
            </a:r>
          </a:p>
          <a:p>
            <a:r>
              <a:t>      "source_id": "case:festival:1ff9d11d3ee0ee",</a:t>
            </a:r>
          </a:p>
          <a:p>
            <a:r>
              <a:t>      "source_url": "https://datalab.visitkorea.or.kr/",</a:t>
            </a:r>
          </a:p>
          <a:p>
            <a:r>
              <a:t>      "case_region": "전라남도 진도군",</a:t>
            </a:r>
          </a:p>
          <a:p>
            <a:r>
              <a:t>      "source_type": "benchmark_case",</a:t>
            </a:r>
          </a:p>
          <a:p>
            <a:r>
              <a:t>      "dataset_hash": "ad20e3daf70fd44fd481d672398c07bb9c96fce77acb450784065a568735e2e2",</a:t>
            </a:r>
          </a:p>
          <a:p>
            <a:r>
              <a:t>      "intervention": "진도신비의바닷길축제",</a:t>
            </a:r>
          </a:p>
          <a:p>
            <a:r>
              <a:t>      "source_files": [</a:t>
            </a:r>
          </a:p>
          <a:p>
            <a:r>
              <a:t>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a:t>
            </a:r>
          </a:p>
          <a:p>
            <a:r>
              <a:t>          "sha256": "cb3424e725c84352d81fdb987f6d3ade162f54f63a9590ac8730dddcfcc48ed7",</a:t>
            </a:r>
          </a:p>
          <a:p>
            <a:r>
              <a:t>          "provider": "한국관광 데이터랩",</a:t>
            </a:r>
          </a:p>
          <a:p>
            <a:r>
              <a:t>          "file_name": "20260820182448_진도신비의바닷길축제_성_연령별 내국인 방문자.csv",</a:t>
            </a:r>
          </a:p>
          <a:p>
            <a:r>
              <a:t>          "source_id": "festival-file:cb3424e725c84352d81f",</a:t>
            </a:r>
          </a:p>
          <a:p>
            <a:r>
              <a:t>          "source_url": "https://datalab.visitkorea.or.kr/",</a:t>
            </a:r>
          </a:p>
          <a:p>
            <a:r>
              <a:t>          "downloaded_at": "2026-08-20",</a:t>
            </a:r>
          </a:p>
          <a:p>
            <a:r>
              <a:t>          "relative_path": "data/source_snapshots/festivals_20260820/69. 진도신비의바닷길축제_2023-2025/20260820182448_진도신비의바닷길축제_성_연령별 내국인 방문자.csv",</a:t>
            </a:r>
          </a:p>
          <a:p>
            <a:r>
              <a:t>          "provenance_status": "team_download_exact_query_url_unrecorded"</a:t>
            </a:r>
          </a:p>
          <a:p>
            <a:r>
              <a:t>        },</a:t>
            </a:r>
          </a:p>
          <a:p>
            <a:r>
              <a:t>        {</a:t>
            </a:r>
          </a:p>
          <a:p>
            <a:r>
              <a:t>          "sha256": "c9332a0e0d15d1550b1b545b8b739cc6a919a13ca701800d87203b06b2fecd46",</a:t>
            </a:r>
          </a:p>
          <a:p>
            <a:r>
              <a:t>          "provider": "한국관광 데이터랩",</a:t>
            </a:r>
          </a:p>
          <a:p>
            <a:r>
              <a:t>          "file_name": "20260820182448_진도신비의바닷길축제_문화관광축제 주요 지표.csv",</a:t>
            </a:r>
          </a:p>
          <a:p>
            <a:r>
              <a:t>          "source_id": "festival-file:c9332a0e0d15d1550b1b",</a:t>
            </a:r>
          </a:p>
          <a:p>
            <a:r>
              <a:t>          "source_url": "https://datalab.visitkorea.or.kr/",</a:t>
            </a:r>
          </a:p>
          <a:p>
            <a:r>
              <a:t>          "downloaded_at": "2026-08-20",</a:t>
            </a:r>
          </a:p>
          <a:p>
            <a:r>
              <a:t>          "relative_path": "data/source_snapshots/festivals_20260820/69. 진도신비의바닷길축제_2023-2025/20260820182448_진도신비의바닷길축제_문화관광축제 주요 지표.csv",</a:t>
            </a:r>
          </a:p>
          <a:p>
            <a:r>
              <a:t>          "provenance_status": "team_download_exact_query_url_unrecorded"</a:t>
            </a:r>
          </a:p>
          <a:p>
            <a:r>
              <a:t>        },</a:t>
            </a:r>
          </a:p>
          <a:p>
            <a:r>
              <a:t>        {</a:t>
            </a:r>
          </a:p>
          <a:p>
            <a:r>
              <a:t>          "sha256": "b8aa76a62ac8159da3b9234363c8c0026f70875997af88b4e750f2f6154c65ae",</a:t>
            </a:r>
          </a:p>
          <a:p>
            <a:r>
              <a:t>          "provider": "한국관광 데이터랩",</a:t>
            </a:r>
          </a:p>
          <a:p>
            <a:r>
              <a:t>          "file_name": "20260820182448_진도신비의바닷길축제_목적지 검색순위.csv",</a:t>
            </a:r>
          </a:p>
          <a:p>
            <a:r>
              <a:t>          "source_id": "festival-file:b8aa76a62ac8159da3b9",</a:t>
            </a:r>
          </a:p>
          <a:p>
            <a:r>
              <a:t>          "source_url": "https://datalab.visitkorea.or.kr/",</a:t>
            </a:r>
          </a:p>
          <a:p>
            <a:r>
              <a:t>          "downloaded_at": "2026-08-20",</a:t>
            </a:r>
          </a:p>
          <a:p>
            <a:r>
              <a:t>          "relative_path": "data/source_snapshots/festivals_20260820/69. 진도신비의바닷길축제_2023-2025/20260820182448_진도신비의바닷길축제_목적지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28,171→43,973명 (+56.09%). 개최 3→4일, 일평균 +17.07%, 외지인 +89.98%.",</a:t>
            </a:r>
          </a:p>
          <a:p>
            <a:r>
              <a:t>      "operating_model": "진도신비의바닷길축제를 2025년 4일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"자연·야외",</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"진도신비의바닷길축제",</a:t>
            </a:r>
          </a:p>
          <a:p>
            <a:r>
              <a:t>        "scope": "축제 관측구역 방문 지표. 도시 전체·순증 관광객·입장권 실구매자 수가 아님.",</a:t>
            </a:r>
          </a:p>
          <a:p>
            <a:r>
              <a:t>        "annual": [</a:t>
            </a:r>
          </a:p>
          <a:p>
            <a:r>
              <a:t>          {</a:t>
            </a:r>
          </a:p>
          <a:p>
            <a:r>
              <a:t>            "days": 3,</a:t>
            </a:r>
          </a:p>
          <a:p>
            <a:r>
              <a:t>            "year": 2023,</a:t>
            </a:r>
          </a:p>
          <a:p>
            <a:r>
              <a:t>            "daily": 11185.333333333334,</a:t>
            </a:r>
          </a:p>
          <a:p>
            <a:r>
              <a:t>            "local": 12120,</a:t>
            </a:r>
          </a:p>
          <a:p>
            <a:r>
              <a:t>            "total": 33556,</a:t>
            </a:r>
          </a:p>
          <a:p>
            <a:r>
              <a:t>            "foreign": 278,</a:t>
            </a:r>
          </a:p>
          <a:p>
            <a:r>
              <a:t>            "outside": 21158,</a:t>
            </a:r>
          </a:p>
          <a:p>
            <a:r>
              <a:t>            "outside_daily": 7052.666666666667,</a:t>
            </a:r>
          </a:p>
          <a:p>
            <a:r>
              <a:t>            "outside_share_pct": 63.05280724758613</a:t>
            </a:r>
          </a:p>
          <a:p>
            <a:r>
              <a:t>          },</a:t>
            </a:r>
          </a:p>
          <a:p>
            <a:r>
              <a:t>          {</a:t>
            </a:r>
          </a:p>
          <a:p>
            <a:r>
              <a:t>            "days": 3,</a:t>
            </a:r>
          </a:p>
          <a:p>
            <a:r>
              <a:t>            "year": 2024,</a:t>
            </a:r>
          </a:p>
          <a:p>
            <a:r>
              <a:t>            "daily": 9390.333333333334,</a:t>
            </a:r>
          </a:p>
          <a:p>
            <a:r>
              <a:t>            "local": 13068,</a:t>
            </a:r>
          </a:p>
          <a:p>
            <a:r>
              <a:t>            "total": 28171,</a:t>
            </a:r>
          </a:p>
          <a:p>
            <a:r>
              <a:t>            "foreign": 223,</a:t>
            </a:r>
          </a:p>
          <a:p>
            <a:r>
              <a:t>            "outside": 14880,</a:t>
            </a:r>
          </a:p>
          <a:p>
            <a:r>
              <a:t>            "outside_daily": 4960,</a:t>
            </a:r>
          </a:p>
          <a:p>
            <a:r>
              <a:t>            "outside_share_pct": 52.82027617052998</a:t>
            </a:r>
          </a:p>
          <a:p>
            <a:r>
              <a:t>          },</a:t>
            </a:r>
          </a:p>
          <a:p>
            <a:r>
              <a:t>          {</a:t>
            </a:r>
          </a:p>
          <a:p>
            <a:r>
              <a:t>            "days": 4,</a:t>
            </a:r>
          </a:p>
          <a:p>
            <a:r>
              <a:t>            "year": 2025,</a:t>
            </a:r>
          </a:p>
          <a:p>
            <a:r>
              <a:t>            "daily": 10993.25,</a:t>
            </a:r>
          </a:p>
          <a:p>
            <a:r>
              <a:t>            "local": 15345,</a:t>
            </a:r>
          </a:p>
          <a:p>
            <a:r>
              <a:t>            "total": 43973,</a:t>
            </a:r>
          </a:p>
          <a:p>
            <a:r>
              <a:t>            "foreign": 359,</a:t>
            </a:r>
          </a:p>
          <a:p>
            <a:r>
              <a:t>            "outside": 28269,</a:t>
            </a:r>
          </a:p>
          <a:p>
            <a:r>
              <a:t>            "outside_daily": 7067.25,</a:t>
            </a:r>
          </a:p>
          <a:p>
            <a:r>
              <a:t>            "outside_share_pct": 64.28717622177244</a:t>
            </a:r>
          </a:p>
          <a:p>
            <a:r>
              <a:t>          }</a:t>
            </a:r>
          </a:p>
          <a:p>
            <a:r>
              <a:t>        ],</a:t>
            </a:r>
          </a:p>
          <a:p>
            <a:r>
              <a:t>        "audience": [</a:t>
            </a:r>
          </a:p>
          <a:p>
            <a:r>
              <a:t>          {</a:t>
            </a:r>
          </a:p>
          <a:p>
            <a:r>
              <a:t>            "연령대": "70세 이상",</a:t>
            </a:r>
          </a:p>
          <a:p>
            <a:r>
              <a:t>            "축제명": "진도신비의바닷길축제",</a:t>
            </a:r>
          </a:p>
          <a:p>
            <a:r>
              <a:t>            "남성비율": "7.4",</a:t>
            </a:r>
          </a:p>
          <a:p>
            <a:r>
              <a:t>            "여성비율": "6.8"</a:t>
            </a:r>
          </a:p>
          <a:p>
            <a:r>
              <a:t>          },</a:t>
            </a:r>
          </a:p>
          <a:p>
            <a:r>
              <a:t>          {</a:t>
            </a:r>
          </a:p>
          <a:p>
            <a:r>
              <a:t>            "연령대": "60~69세",</a:t>
            </a:r>
          </a:p>
          <a:p>
            <a:r>
              <a:t>            "축제명": "진도신비의바닷길축제",</a:t>
            </a:r>
          </a:p>
          <a:p>
            <a:r>
              <a:t>            "남성비율": "13.8",</a:t>
            </a:r>
          </a:p>
          <a:p>
            <a:r>
              <a:t>            "여성비율": "14.3"</a:t>
            </a:r>
          </a:p>
          <a:p>
            <a:r>
              <a:t>          },</a:t>
            </a:r>
          </a:p>
          <a:p>
            <a:r>
              <a:t>          {</a:t>
            </a:r>
          </a:p>
          <a:p>
            <a:r>
              <a:t>            "연령대": "50~59세",</a:t>
            </a:r>
          </a:p>
          <a:p>
            <a:r>
              <a:t>            "축제명": "진도신비의바닷길축제",</a:t>
            </a:r>
          </a:p>
          <a:p>
            <a:r>
              <a:t>            "남성비율": "10.7",</a:t>
            </a:r>
          </a:p>
          <a:p>
            <a:r>
              <a:t>            "여성비율": "11.5"</a:t>
            </a:r>
          </a:p>
          <a:p>
            <a:r>
              <a:t>          },</a:t>
            </a:r>
          </a:p>
          <a:p>
            <a:r>
              <a:t>          {</a:t>
            </a:r>
          </a:p>
          <a:p>
            <a:r>
              <a:t>            "연령대": "40~49세",</a:t>
            </a:r>
          </a:p>
          <a:p>
            <a:r>
              <a:t>            "축제명": "진도신비의바닷길축제",</a:t>
            </a:r>
          </a:p>
          <a:p>
            <a:r>
              <a:t>            "남성비율": "7.7",</a:t>
            </a:r>
          </a:p>
          <a:p>
            <a:r>
              <a:t>            "여성비율": "4.9"</a:t>
            </a:r>
          </a:p>
          <a:p>
            <a:r>
              <a:t>          },</a:t>
            </a:r>
          </a:p>
          <a:p>
            <a:r>
              <a:t>          {</a:t>
            </a:r>
          </a:p>
          <a:p>
            <a:r>
              <a:t>            "연령대": "30~39세",</a:t>
            </a:r>
          </a:p>
          <a:p>
            <a:r>
              <a:t>            "축제명": "진도신비의바닷길축제",</a:t>
            </a:r>
          </a:p>
          <a:p>
            <a:r>
              <a:t>            "남성비율": "6.8",</a:t>
            </a:r>
          </a:p>
          <a:p>
            <a:r>
              <a:t>            "여성비율": "4.2"</a:t>
            </a:r>
          </a:p>
          <a:p>
            <a:r>
              <a:t>          },</a:t>
            </a:r>
          </a:p>
          <a:p>
            <a:r>
              <a:t>          {</a:t>
            </a:r>
          </a:p>
          <a:p>
            <a:r>
              <a:t>            "연령대": "20~29세",</a:t>
            </a:r>
          </a:p>
          <a:p>
            <a:r>
              <a:t>            "축제명": "진도신비의바닷길축제",</a:t>
            </a:r>
          </a:p>
          <a:p>
            <a:r>
              <a:t>            "남성비율": "5.3",</a:t>
            </a:r>
          </a:p>
          <a:p>
            <a:r>
              <a:t>            "여성비율": "3.0"</a:t>
            </a:r>
          </a:p>
          <a:p>
            <a:r>
              <a:t>          },</a:t>
            </a:r>
          </a:p>
          <a:p>
            <a:r>
              <a:t>          {</a:t>
            </a:r>
          </a:p>
          <a:p>
            <a:r>
              <a:t>            "연령대": "10~19세",</a:t>
            </a:r>
          </a:p>
          <a:p>
            <a:r>
              <a:t>            "축제명": "진도신비의바닷길축제",</a:t>
            </a:r>
          </a:p>
          <a:p>
            <a:r>
              <a:t>            "남성비율": "1.3",</a:t>
            </a:r>
          </a:p>
          <a:p>
            <a:r>
              <a:t>            "여성비율": "1.3"</a:t>
            </a:r>
          </a:p>
          <a:p>
            <a:r>
              <a:t>          },</a:t>
            </a:r>
          </a:p>
          <a:p>
            <a:r>
              <a:t>          {</a:t>
            </a:r>
          </a:p>
          <a:p>
            <a:r>
              <a:t>            "연령대": "0~9세",</a:t>
            </a:r>
          </a:p>
          <a:p>
            <a:r>
              <a:t>            "축제명": "진도신비의바닷길축제",</a:t>
            </a:r>
          </a:p>
          <a:p>
            <a:r>
              <a:t>            "남성비율": "0.5",</a:t>
            </a:r>
          </a:p>
          <a:p>
            <a:r>
              <a:t>            "여성비율": "0.4"</a:t>
            </a:r>
          </a:p>
          <a:p>
            <a:r>
              <a:t>          }</a:t>
            </a:r>
          </a:p>
          <a:p>
            <a:r>
              <a:t>        ],</a:t>
            </a:r>
          </a:p>
          <a:p>
            <a:r>
              <a:t>        "comparison": {</a:t>
            </a:r>
          </a:p>
          <a:p>
            <a:r>
              <a:t>          "daily": {</a:t>
            </a:r>
          </a:p>
          <a:p>
            <a:r>
              <a:t>            "after": 10993.25,</a:t>
            </a:r>
          </a:p>
          <a:p>
            <a:r>
              <a:t>            "before": 9390.333333333334,</a:t>
            </a:r>
          </a:p>
          <a:p>
            <a:r>
              <a:t>            "change_pct": 17.069859074935213,</a:t>
            </a:r>
          </a:p>
          <a:p>
            <a:r>
              <a:t>            "difference": 1602.916666666666</a:t>
            </a:r>
          </a:p>
          <a:p>
            <a:r>
              <a:t>          },</a:t>
            </a:r>
          </a:p>
          <a:p>
            <a:r>
              <a:t>          "total": {</a:t>
            </a:r>
          </a:p>
          <a:p>
            <a:r>
              <a:t>            "after": 43973,</a:t>
            </a:r>
          </a:p>
          <a:p>
            <a:r>
              <a:t>            "before": 28171,</a:t>
            </a:r>
          </a:p>
          <a:p>
            <a:r>
              <a:t>            "change_pct": 56.093145433246946,</a:t>
            </a:r>
          </a:p>
          <a:p>
            <a:r>
              <a:t>            "difference": 15802</a:t>
            </a:r>
          </a:p>
          <a:p>
            <a:r>
              <a:t>          },</a:t>
            </a:r>
          </a:p>
          <a:p>
            <a:r>
              <a:t>          "outside": {</a:t>
            </a:r>
          </a:p>
          <a:p>
            <a:r>
              <a:t>            "after": 28269,</a:t>
            </a:r>
          </a:p>
          <a:p>
            <a:r>
              <a:t>            "before": 14880,</a:t>
            </a:r>
          </a:p>
          <a:p>
            <a:r>
              <a:t>            "change_pct": 89.97983870967742,</a:t>
            </a:r>
          </a:p>
          <a:p>
            <a:r>
              <a:t>            "difference": 13389</a:t>
            </a:r>
          </a:p>
          <a:p>
            <a:r>
              <a:t>          },</a:t>
            </a:r>
          </a:p>
          <a:p>
            <a:r>
              <a:t>          "after_days": 4,</a:t>
            </a:r>
          </a:p>
          <a:p>
            <a:r>
              <a:t>          "after_year": 2025,</a:t>
            </a:r>
          </a:p>
          <a:p>
            <a:r>
              <a:t>          "before_days": 3,</a:t>
            </a:r>
          </a:p>
          <a:p>
            <a:r>
              <a:t>          "before_year": 2024,</a:t>
            </a:r>
          </a:p>
          <a:p>
            <a:r>
              <a:t>          "outside_daily": {</a:t>
            </a:r>
          </a:p>
          <a:p>
            <a:r>
              <a:t>            "after": 7067.25,</a:t>
            </a:r>
          </a:p>
          <a:p>
            <a:r>
              <a:t>            "before": 4960,</a:t>
            </a:r>
          </a:p>
          <a:p>
            <a:r>
              <a:t>            "change_pct": 42.484879032258064,</a:t>
            </a:r>
          </a:p>
          <a:p>
            <a:r>
              <a:t>            "difference": 2107.25</a:t>
            </a:r>
          </a:p>
          <a:p>
            <a:r>
              <a:t>          }</a:t>
            </a:r>
          </a:p>
          <a:p>
            <a:r>
              <a:t>        },</a:t>
            </a:r>
          </a:p>
          <a:p>
            <a:r>
              <a:t>        "source_file":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"0.568",</a:t>
            </a:r>
          </a:p>
          <a:p>
            <a:r>
              <a:t>            "축제명": "진도신비의바닷길축제",</a:t>
            </a:r>
          </a:p>
          <a:p>
            <a:r>
              <a:t>            "개최년도": "2025"</a:t>
            </a:r>
          </a:p>
          <a:p>
            <a:r>
              <a:t>          },</a:t>
            </a:r>
          </a:p>
          <a:p>
            <a:r>
              <a:t>          {</a:t>
            </a:r>
          </a:p>
          <a:p>
            <a:r>
              <a:t>            "구분명": "현지인방문자 유입",</a:t>
            </a:r>
          </a:p>
          <a:p>
            <a:r>
              <a:t>            "그룹명": "축제기간",</a:t>
            </a:r>
          </a:p>
          <a:p>
            <a:r>
              <a:t>            "지표값": "0.858",</a:t>
            </a:r>
          </a:p>
          <a:p>
            <a:r>
              <a:t>            "축제명": "진도신비의바닷길축제",</a:t>
            </a:r>
          </a:p>
          <a:p>
            <a:r>
              <a:t>            "개최년도": "2025"</a:t>
            </a:r>
          </a:p>
          <a:p>
            <a:r>
              <a:t>          },</a:t>
            </a:r>
          </a:p>
          <a:p>
            <a:r>
              <a:t>          {</a:t>
            </a:r>
          </a:p>
          <a:p>
            <a:r>
              <a:t>            "구분명": "내비게이션 검색량",</a:t>
            </a:r>
          </a:p>
          <a:p>
            <a:r>
              <a:t>            "그룹명": "축제기간",</a:t>
            </a:r>
          </a:p>
          <a:p>
            <a:r>
              <a:t>            "지표값": "0.513",</a:t>
            </a:r>
          </a:p>
          <a:p>
            <a:r>
              <a:t>            "축제명": "진도신비의바닷길축제",</a:t>
            </a:r>
          </a:p>
          <a:p>
            <a:r>
              <a:t>            "개최년도": "2025"</a:t>
            </a:r>
          </a:p>
          <a:p>
            <a:r>
              <a:t>          },</a:t>
            </a:r>
          </a:p>
          <a:p>
            <a:r>
              <a:t>          {</a:t>
            </a:r>
          </a:p>
          <a:p>
            <a:r>
              <a:t>            "구분명": "관광소비",</a:t>
            </a:r>
          </a:p>
          <a:p>
            <a:r>
              <a:t>            "그룹명": "축제기간",</a:t>
            </a:r>
          </a:p>
          <a:p>
            <a:r>
              <a:t>            "지표값": "0.283",</a:t>
            </a:r>
          </a:p>
          <a:p>
            <a:r>
              <a:t>            "축제명": "진도신비의바닷길축제",</a:t>
            </a:r>
          </a:p>
          <a:p>
            <a:r>
              <a:t>            "개최년도": "2025"</a:t>
            </a:r>
          </a:p>
          <a:p>
            <a:r>
              <a:t>          },</a:t>
            </a:r>
          </a:p>
          <a:p>
            <a:r>
              <a:t>          {</a:t>
            </a:r>
          </a:p>
          <a:p>
            <a:r>
              <a:t>            "구분명": "축제지 집중률",</a:t>
            </a:r>
          </a:p>
          <a:p>
            <a:r>
              <a:t>            "그룹명": "축제기간",</a:t>
            </a:r>
          </a:p>
          <a:p>
            <a:r>
              <a:t>            "지표값": "0.791",</a:t>
            </a:r>
          </a:p>
          <a:p>
            <a:r>
              <a:t>            "축제명": "진도신비의바닷길축제",</a:t>
            </a:r>
          </a:p>
          <a:p>
            <a:r>
              <a:t>            "개최년도": "2025"</a:t>
            </a:r>
          </a:p>
          <a:p>
            <a:r>
              <a:t>          },</a:t>
            </a:r>
          </a:p>
          <a:p>
            <a:r>
              <a:t>          {</a:t>
            </a:r>
          </a:p>
          <a:p>
            <a:r>
              <a:t>            "구분명": "외부방문자 유입",</a:t>
            </a:r>
          </a:p>
          <a:p>
            <a:r>
              <a:t>            "그룹명": "비축제기간",</a:t>
            </a:r>
          </a:p>
          <a:p>
            <a:r>
              <a:t>            "지표값": "0.137",</a:t>
            </a:r>
          </a:p>
          <a:p>
            <a:r>
              <a:t>            "축제명": "진도신비의바닷길축제",</a:t>
            </a:r>
          </a:p>
          <a:p>
            <a:r>
              <a:t>            "개최년도": "2025"</a:t>
            </a:r>
          </a:p>
          <a:p>
            <a:r>
              <a:t>          },</a:t>
            </a:r>
          </a:p>
          <a:p>
            <a:r>
              <a:t>          {</a:t>
            </a:r>
          </a:p>
          <a:p>
            <a:r>
              <a:t>            "구분명": "현지인방문자 유입",</a:t>
            </a:r>
          </a:p>
          <a:p>
            <a:r>
              <a:t>            "그룹명": "비축제기간",</a:t>
            </a:r>
          </a:p>
          <a:p>
            <a:r>
              <a:t>            "지표값": "0.472",</a:t>
            </a:r>
          </a:p>
          <a:p>
            <a:r>
              <a:t>            "축제명": "진도신비의바닷길축제",</a:t>
            </a:r>
          </a:p>
          <a:p>
            <a:r>
              <a:t>            "개최년도": "2025"</a:t>
            </a:r>
          </a:p>
          <a:p>
            <a:r>
              <a:t>          },</a:t>
            </a:r>
          </a:p>
          <a:p>
            <a:r>
              <a:t>          {</a:t>
            </a:r>
          </a:p>
          <a:p>
            <a:r>
              <a:t>            "구분명": "내비게이션 검색량",</a:t>
            </a:r>
          </a:p>
          <a:p>
            <a:r>
              <a:t>            "그룹명": "비축제기간",</a:t>
            </a:r>
          </a:p>
          <a:p>
            <a:r>
              <a:t>            "지표값": "0.06",</a:t>
            </a:r>
          </a:p>
          <a:p>
            <a:r>
              <a:t>            "축제명": "진도신비의바닷길축제",</a:t>
            </a:r>
          </a:p>
          <a:p>
            <a:r>
              <a:t>            "개최년도": "2025"</a:t>
            </a:r>
          </a:p>
          <a:p>
            <a:r>
              <a:t>          },</a:t>
            </a:r>
          </a:p>
          <a:p>
            <a:r>
              <a:t>          {</a:t>
            </a:r>
          </a:p>
          <a:p>
            <a:r>
              <a:t>            "구분명": "관광소비",</a:t>
            </a:r>
          </a:p>
          <a:p>
            <a:r>
              <a:t>            "그룹명": "비축제기간",</a:t>
            </a:r>
          </a:p>
          <a:p>
            <a:r>
              <a:t>            "지표값": "0.212",</a:t>
            </a:r>
          </a:p>
          <a:p>
            <a:r>
              <a:t>            "축제명": "진도신비의바닷길축제",</a:t>
            </a:r>
          </a:p>
          <a:p>
            <a:r>
              <a:t>            "개최년도": "2025"</a:t>
            </a:r>
          </a:p>
          <a:p>
            <a:r>
              <a:t>          },</a:t>
            </a:r>
          </a:p>
          <a:p>
            <a:r>
              <a:t>          {</a:t>
            </a:r>
          </a:p>
          <a:p>
            <a:r>
              <a:t>            "구분명": "축제지 집중률",</a:t>
            </a:r>
          </a:p>
          <a:p>
            <a:r>
              <a:t>            "그룹명": "비축제기간",</a:t>
            </a:r>
          </a:p>
          <a:p>
            <a:r>
              <a:t>            "지표값": "0.269",</a:t>
            </a:r>
          </a:p>
          <a:p>
            <a:r>
              <a:t>            "축제명": "진도신비의바닷길축제",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"진도신비의바닷길축제",</a:t>
            </a:r>
          </a:p>
          <a:p>
            <a:r>
              <a:t>            "카테고리": "기타문화관광지",</a:t>
            </a:r>
          </a:p>
          <a:p>
            <a:r>
              <a:t>            "도로명주소": "전남 진도군 신비의바닷길 74-0"</a:t>
            </a:r>
          </a:p>
          <a:p>
            <a:r>
              <a:t>          },</a:t>
            </a:r>
          </a:p>
          <a:p>
            <a:r>
              <a:t>          {</a:t>
            </a:r>
          </a:p>
          <a:p>
            <a:r>
              <a:t>            "구분": "외지인",</a:t>
            </a:r>
          </a:p>
          <a:p>
            <a:r>
              <a:t>            "순위": "2",</a:t>
            </a:r>
          </a:p>
          <a:p>
            <a:r>
              <a:t>            "목적지명": "진도신비의바닷길",</a:t>
            </a:r>
          </a:p>
          <a:p>
            <a:r>
              <a:t>            "카테고리": "테마공원",</a:t>
            </a:r>
          </a:p>
          <a:p>
            <a:r>
              <a:t>            "도로명주소": "전남 진도군"</a:t>
            </a:r>
          </a:p>
          <a:p>
            <a:r>
              <a:t>          },</a:t>
            </a:r>
          </a:p>
          <a:p>
            <a:r>
              <a:t>          {</a:t>
            </a:r>
          </a:p>
          <a:p>
            <a:r>
              <a:t>            "구분": "외지인",</a:t>
            </a:r>
          </a:p>
          <a:p>
            <a:r>
              <a:t>            "순위": "3",</a:t>
            </a:r>
          </a:p>
          <a:p>
            <a:r>
              <a:t>            "목적지명": "가계해변",</a:t>
            </a:r>
          </a:p>
          <a:p>
            <a:r>
              <a:t>            "카테고리": "자연경관(하천/해양)",</a:t>
            </a:r>
          </a:p>
          <a:p>
            <a:r>
              <a:t>            "도로명주소": "전남 진도군 신비의바닷길 0-0"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"한국관광 데이터랩 · 통영한산대첩축제 방문자 추이",</a:t>
            </a:r>
          </a:p>
          <a:p>
            <a:r>
              <a:t>      "summary": "경상남도 통영시 · 통영한산대첩축제 · 2024→2025년 전체 93,221→124,718명 (+33.79%). 개최 6→7일, 일평균 +14.67%, 외지인 +33.21%.",</a:t>
            </a:r>
          </a:p>
          <a:p>
            <a:r>
              <a:t>      "source_id": "case:festival:1ffc3eec28956a",</a:t>
            </a:r>
          </a:p>
          <a:p>
            <a:r>
              <a:t>      "source_url": "https://datalab.visitkorea.or.kr/",</a:t>
            </a:r>
          </a:p>
          <a:p>
            <a:r>
              <a:t>      "case_region": "경상남도 통영시",</a:t>
            </a:r>
          </a:p>
          <a:p>
            <a:r>
              <a:t>      "source_type": "benchmark_case",</a:t>
            </a:r>
          </a:p>
          <a:p>
            <a:r>
              <a:t>      "dataset_hash": "ad20e3daf70fd44fd481d672398c07bb9c96fce77acb450784065a568735e2e2",</a:t>
            </a:r>
          </a:p>
          <a:p>
            <a:r>
              <a:t>      "intervention": "통영한산대첩축제",</a:t>
            </a:r>
          </a:p>
          <a:p>
            <a:r>
              <a:t>      "source_files": [</a:t>
            </a:r>
          </a:p>
          <a:p>
            <a:r>
              <a:t>        {</a:t>
            </a:r>
          </a:p>
          <a:p>
            <a:r>
              <a:t>          "sha256": "ec35e7537d4da1ed72dd60617fec143558f280299aeb303bc8b7a1036ecc73f0",</a:t>
            </a:r>
          </a:p>
          <a:p>
            <a:r>
              <a:t>          "provider": "한국관광 데이터랩",</a:t>
            </a:r>
          </a:p>
          <a:p>
            <a:r>
              <a:t>          "file_name": "20260820183544_통영한산대첩축제_연도별 방문자 추이.csv",</a:t>
            </a:r>
          </a:p>
          <a:p>
            <a:r>
              <a:t>          "source_id": "festival-file:ec35e7537d4da1ed72dd",</a:t>
            </a:r>
          </a:p>
          <a:p>
            <a:r>
              <a:t>          "source_url": "https://datalab.visitkorea.or.kr/",</a:t>
            </a:r>
          </a:p>
          <a:p>
            <a:r>
              <a:t>          "downloaded_at": "2026-08-20",</a:t>
            </a:r>
          </a:p>
          <a:p>
            <a:r>
              <a:t>          "relative_path": "data/source_snapshots/festivals_20260820/81. 통영한산대첩축제_2023-2025/20260820183544_통영한산대첩축제_연도별 방문자 추이.csv",</a:t>
            </a:r>
          </a:p>
          <a:p>
            <a:r>
              <a:t>          "provenance_status": "team_download_exact_query_url_unrecorded"</a:t>
            </a:r>
          </a:p>
          <a:p>
            <a:r>
              <a:t>        },</a:t>
            </a:r>
          </a:p>
          <a:p>
            <a:r>
              <a:t>        {</a:t>
            </a:r>
          </a:p>
          <a:p>
            <a:r>
              <a:t>          "sha256": "77b41103f7ab3a48a3a94baa36227391bc47069fafcf8cc68a36662ec60fd43d",</a:t>
            </a:r>
          </a:p>
          <a:p>
            <a:r>
              <a:t>          "provider": "한국관광 데이터랩",</a:t>
            </a:r>
          </a:p>
          <a:p>
            <a:r>
              <a:t>          "file_name": "20260820183544_통영한산대첩축제_성_연령별 내국인 방문자.csv",</a:t>
            </a:r>
          </a:p>
          <a:p>
            <a:r>
              <a:t>          "source_id": "festival-file:77b41103f7ab3a48a3a9",</a:t>
            </a:r>
          </a:p>
          <a:p>
            <a:r>
              <a:t>          "source_url": "https://datalab.visitkorea.or.kr/",</a:t>
            </a:r>
          </a:p>
          <a:p>
            <a:r>
              <a:t>          "downloaded_at": "2026-08-20",</a:t>
            </a:r>
          </a:p>
          <a:p>
            <a:r>
              <a:t>          "relative_path": "data/source_snapshots/festivals_20260820/81. 통영한산대첩축제_2023-2025/20260820183544_통영한산대첩축제_성_연령별 내국인 방문자.csv",</a:t>
            </a:r>
          </a:p>
          <a:p>
            <a:r>
              <a:t>          "provenance_status": "team_download_exact_query_url_unrecorded"</a:t>
            </a:r>
          </a:p>
          <a:p>
            <a:r>
              <a:t>        },</a:t>
            </a:r>
          </a:p>
          <a:p>
            <a:r>
              <a:t>        {</a:t>
            </a:r>
          </a:p>
          <a:p>
            <a:r>
              <a:t>          "sha256": "5457f819bd8704a9d5b81a24337c2a40c45bbcf7435e0a751139a5457627bdd4",</a:t>
            </a:r>
          </a:p>
          <a:p>
            <a:r>
              <a:t>          "provider": "한국관광 데이터랩",</a:t>
            </a:r>
          </a:p>
          <a:p>
            <a:r>
              <a:t>          "file_name": "20260820183544_통영한산대첩축제_문화관광축제 주요 지표.csv",</a:t>
            </a:r>
          </a:p>
          <a:p>
            <a:r>
              <a:t>          "source_id": "festival-file:5457f819bd8704a9d5b8",</a:t>
            </a:r>
          </a:p>
          <a:p>
            <a:r>
              <a:t>          "source_url": "https://datalab.visitkorea.or.kr/",</a:t>
            </a:r>
          </a:p>
          <a:p>
            <a:r>
              <a:t>          "downloaded_at": "2026-08-20",</a:t>
            </a:r>
          </a:p>
          <a:p>
            <a:r>
              <a:t>          "relative_path": "data/source_snapshots/festivals_20260820/81. 통영한산대첩축제_2023-2025/20260820183544_통영한산대첩축제_문화관광축제 주요 지표.csv",</a:t>
            </a:r>
          </a:p>
          <a:p>
            <a:r>
              <a:t>          "provenance_status": "team_download_exact_query_url_unrecorded"</a:t>
            </a:r>
          </a:p>
          <a:p>
            <a:r>
              <a:t>        },</a:t>
            </a:r>
          </a:p>
          <a:p>
            <a:r>
              <a:t>        {</a:t>
            </a:r>
          </a:p>
          <a:p>
            <a:r>
              <a:t>          "sha256": "3b2a6e862dd8337a7616d3cdb3f568c6fdb24be706918eb7f02d965d625ca746",</a:t>
            </a:r>
          </a:p>
          <a:p>
            <a:r>
              <a:t>          "provider": "한국관광 데이터랩",</a:t>
            </a:r>
          </a:p>
          <a:p>
            <a:r>
              <a:t>          "file_name": "20260820183544_통영한산대첩축제_목적지 검색순위.csv",</a:t>
            </a:r>
          </a:p>
          <a:p>
            <a:r>
              <a:t>          "source_id": "festival-file:3b2a6e862dd8337a7616",</a:t>
            </a:r>
          </a:p>
          <a:p>
            <a:r>
              <a:t>          "source_url": "https://datalab.visitkorea.or.kr/",</a:t>
            </a:r>
          </a:p>
          <a:p>
            <a:r>
              <a:t>          "downloaded_at": "2026-08-20",</a:t>
            </a:r>
          </a:p>
          <a:p>
            <a:r>
              <a:t>          "relative_path": "data/source_snapshots/festivals_20260820/81. 통영한산대첩축제_2023-2025/20260820183544_통영한산대첩축제_목적지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93,221→124,718명 (+33.79%). 개최 6→7일, 일평균 +14.67%, 외지인 +33.21%.",</a:t>
            </a:r>
          </a:p>
          <a:p>
            <a:r>
              <a:t>      "operating_model": "통영한산대첩축제를 2025년 7일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"지역문화",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"통영한산대첩축제",</a:t>
            </a:r>
          </a:p>
          <a:p>
            <a:r>
              <a:t>        "scope": "축제 관측구역 방문 지표. 도시 전체·순증 관광객·입장권 실구매자 수가 아님.",</a:t>
            </a:r>
          </a:p>
          <a:p>
            <a:r>
              <a:t>        "annual": [</a:t>
            </a:r>
          </a:p>
          <a:p>
            <a:r>
              <a:t>          {</a:t>
            </a:r>
          </a:p>
          <a:p>
            <a:r>
              <a:t>            "days": 9,</a:t>
            </a:r>
          </a:p>
          <a:p>
            <a:r>
              <a:t>            "year": 2023,</a:t>
            </a:r>
          </a:p>
          <a:p>
            <a:r>
              <a:t>            "daily": 11745.444444444443,</a:t>
            </a:r>
          </a:p>
          <a:p>
            <a:r>
              <a:t>            "local": 57810,</a:t>
            </a:r>
          </a:p>
          <a:p>
            <a:r>
              <a:t>            "total": 105709,</a:t>
            </a:r>
          </a:p>
          <a:p>
            <a:r>
              <a:t>            "foreign": 455,</a:t>
            </a:r>
          </a:p>
          <a:p>
            <a:r>
              <a:t>            "outside": 47444,</a:t>
            </a:r>
          </a:p>
          <a:p>
            <a:r>
              <a:t>            "outside_daily": 5271.555555555556,</a:t>
            </a:r>
          </a:p>
          <a:p>
            <a:r>
              <a:t>            "outside_share_pct": 44.88170354463669</a:t>
            </a:r>
          </a:p>
          <a:p>
            <a:r>
              <a:t>          },</a:t>
            </a:r>
          </a:p>
          <a:p>
            <a:r>
              <a:t>          {</a:t>
            </a:r>
          </a:p>
          <a:p>
            <a:r>
              <a:t>            "days": 6,</a:t>
            </a:r>
          </a:p>
          <a:p>
            <a:r>
              <a:t>            "year": 2024,</a:t>
            </a:r>
          </a:p>
          <a:p>
            <a:r>
              <a:t>            "daily": 15536.833333333334,</a:t>
            </a:r>
          </a:p>
          <a:p>
            <a:r>
              <a:t>            "local": 52493,</a:t>
            </a:r>
          </a:p>
          <a:p>
            <a:r>
              <a:t>            "total": 93221,</a:t>
            </a:r>
          </a:p>
          <a:p>
            <a:r>
              <a:t>            "foreign": 394,</a:t>
            </a:r>
          </a:p>
          <a:p>
            <a:r>
              <a:t>            "outside": 40334,</a:t>
            </a:r>
          </a:p>
          <a:p>
            <a:r>
              <a:t>            "outside_daily": 6722.333333333333,</a:t>
            </a:r>
          </a:p>
          <a:p>
            <a:r>
              <a:t>            "outside_share_pct": 43.26707501528625</a:t>
            </a:r>
          </a:p>
          <a:p>
            <a:r>
              <a:t>          },</a:t>
            </a:r>
          </a:p>
          <a:p>
            <a:r>
              <a:t>          {</a:t>
            </a:r>
          </a:p>
          <a:p>
            <a:r>
              <a:t>            "days": 7,</a:t>
            </a:r>
          </a:p>
          <a:p>
            <a:r>
              <a:t>            "year": 2025,</a:t>
            </a:r>
          </a:p>
          <a:p>
            <a:r>
              <a:t>            "daily": 17816.85714285714,</a:t>
            </a:r>
          </a:p>
          <a:p>
            <a:r>
              <a:t>            "local": 70201,</a:t>
            </a:r>
          </a:p>
          <a:p>
            <a:r>
              <a:t>            "total": 124718,</a:t>
            </a:r>
          </a:p>
          <a:p>
            <a:r>
              <a:t>            "foreign": 787,</a:t>
            </a:r>
          </a:p>
          <a:p>
            <a:r>
              <a:t>            "outside": 53730,</a:t>
            </a:r>
          </a:p>
          <a:p>
            <a:r>
              <a:t>            "outside_daily": 7675.714285714285,</a:t>
            </a:r>
          </a:p>
          <a:p>
            <a:r>
              <a:t>            "outside_share_pct": 43.08119116727337</a:t>
            </a:r>
          </a:p>
          <a:p>
            <a:r>
              <a:t>          }</a:t>
            </a:r>
          </a:p>
          <a:p>
            <a:r>
              <a:t>        ],</a:t>
            </a:r>
          </a:p>
          <a:p>
            <a:r>
              <a:t>        "audience": [</a:t>
            </a:r>
          </a:p>
          <a:p>
            <a:r>
              <a:t>          {</a:t>
            </a:r>
          </a:p>
          <a:p>
            <a:r>
              <a:t>            "연령대": "70세 이상",</a:t>
            </a:r>
          </a:p>
          <a:p>
            <a:r>
              <a:t>            "축제명": "통영한산대첩축제",</a:t>
            </a:r>
          </a:p>
          <a:p>
            <a:r>
              <a:t>            "남성비율": "5.2",</a:t>
            </a:r>
          </a:p>
          <a:p>
            <a:r>
              <a:t>            "여성비율": "5.7"</a:t>
            </a:r>
          </a:p>
          <a:p>
            <a:r>
              <a:t>          },</a:t>
            </a:r>
          </a:p>
          <a:p>
            <a:r>
              <a:t>          {</a:t>
            </a:r>
          </a:p>
          <a:p>
            <a:r>
              <a:t>            "연령대": "60~69세",</a:t>
            </a:r>
          </a:p>
          <a:p>
            <a:r>
              <a:t>            "축제명": "통영한산대첩축제",</a:t>
            </a:r>
          </a:p>
          <a:p>
            <a:r>
              <a:t>            "남성비율": "11.0",</a:t>
            </a:r>
          </a:p>
          <a:p>
            <a:r>
              <a:t>            "여성비율": "11.5"</a:t>
            </a:r>
          </a:p>
          <a:p>
            <a:r>
              <a:t>          },</a:t>
            </a:r>
          </a:p>
          <a:p>
            <a:r>
              <a:t>          {</a:t>
            </a:r>
          </a:p>
          <a:p>
            <a:r>
              <a:t>            "연령대": "50~59세",</a:t>
            </a:r>
          </a:p>
          <a:p>
            <a:r>
              <a:t>            "축제명": "통영한산대첩축제",</a:t>
            </a:r>
          </a:p>
          <a:p>
            <a:r>
              <a:t>            "남성비율": "11.1",</a:t>
            </a:r>
          </a:p>
          <a:p>
            <a:r>
              <a:t>            "여성비율": "10.9"</a:t>
            </a:r>
          </a:p>
          <a:p>
            <a:r>
              <a:t>          },</a:t>
            </a:r>
          </a:p>
          <a:p>
            <a:r>
              <a:t>          {</a:t>
            </a:r>
          </a:p>
          <a:p>
            <a:r>
              <a:t>            "연령대": "40~49세",</a:t>
            </a:r>
          </a:p>
          <a:p>
            <a:r>
              <a:t>            "축제명": "통영한산대첩축제",</a:t>
            </a:r>
          </a:p>
          <a:p>
            <a:r>
              <a:t>            "남성비율": "8.0",</a:t>
            </a:r>
          </a:p>
          <a:p>
            <a:r>
              <a:t>            "여성비율": "7.7"</a:t>
            </a:r>
          </a:p>
          <a:p>
            <a:r>
              <a:t>          },</a:t>
            </a:r>
          </a:p>
          <a:p>
            <a:r>
              <a:t>          {</a:t>
            </a:r>
          </a:p>
          <a:p>
            <a:r>
              <a:t>            "연령대": "30~39세",</a:t>
            </a:r>
          </a:p>
          <a:p>
            <a:r>
              <a:t>            "축제명": "통영한산대첩축제",</a:t>
            </a:r>
          </a:p>
          <a:p>
            <a:r>
              <a:t>            "남성비율": "6.3",</a:t>
            </a:r>
          </a:p>
          <a:p>
            <a:r>
              <a:t>            "여성비율": "5.6"</a:t>
            </a:r>
          </a:p>
          <a:p>
            <a:r>
              <a:t>          },</a:t>
            </a:r>
          </a:p>
          <a:p>
            <a:r>
              <a:t>          {</a:t>
            </a:r>
          </a:p>
          <a:p>
            <a:r>
              <a:t>            "연령대": "20~29세",</a:t>
            </a:r>
          </a:p>
          <a:p>
            <a:r>
              <a:t>            "축제명": "통영한산대첩축제",</a:t>
            </a:r>
          </a:p>
          <a:p>
            <a:r>
              <a:t>            "남성비율": "5.4",</a:t>
            </a:r>
          </a:p>
          <a:p>
            <a:r>
              <a:t>            "여성비율": "4.4"</a:t>
            </a:r>
          </a:p>
          <a:p>
            <a:r>
              <a:t>          },</a:t>
            </a:r>
          </a:p>
          <a:p>
            <a:r>
              <a:t>          {</a:t>
            </a:r>
          </a:p>
          <a:p>
            <a:r>
              <a:t>            "연령대": "10~19세",</a:t>
            </a:r>
          </a:p>
          <a:p>
            <a:r>
              <a:t>            "축제명": "통영한산대첩축제",</a:t>
            </a:r>
          </a:p>
          <a:p>
            <a:r>
              <a:t>            "남성비율": "2.8",</a:t>
            </a:r>
          </a:p>
          <a:p>
            <a:r>
              <a:t>            "여성비율": "3.1"</a:t>
            </a:r>
          </a:p>
          <a:p>
            <a:r>
              <a:t>          },</a:t>
            </a:r>
          </a:p>
          <a:p>
            <a:r>
              <a:t>          {</a:t>
            </a:r>
          </a:p>
          <a:p>
            <a:r>
              <a:t>            "연령대": "0~9세",</a:t>
            </a:r>
          </a:p>
          <a:p>
            <a:r>
              <a:t>            "축제명": "통영한산대첩축제",</a:t>
            </a:r>
          </a:p>
          <a:p>
            <a:r>
              <a:t>            "남성비율": "0.5",</a:t>
            </a:r>
          </a:p>
          <a:p>
            <a:r>
              <a:t>            "여성비율": "0.6"</a:t>
            </a:r>
          </a:p>
          <a:p>
            <a:r>
              <a:t>          }</a:t>
            </a:r>
          </a:p>
          <a:p>
            <a:r>
              <a:t>        ],</a:t>
            </a:r>
          </a:p>
          <a:p>
            <a:r>
              <a:t>        "comparison": {</a:t>
            </a:r>
          </a:p>
          <a:p>
            <a:r>
              <a:t>          "daily": {</a:t>
            </a:r>
          </a:p>
          <a:p>
            <a:r>
              <a:t>            "after": 17816.85714285714,</a:t>
            </a:r>
          </a:p>
          <a:p>
            <a:r>
              <a:t>            "before": 15536.833333333334,</a:t>
            </a:r>
          </a:p>
          <a:p>
            <a:r>
              <a:t>            "change_pct": 14.674958278867244,</a:t>
            </a:r>
          </a:p>
          <a:p>
            <a:r>
              <a:t>            "difference": 2280.0238095238074</a:t>
            </a:r>
          </a:p>
          <a:p>
            <a:r>
              <a:t>          },</a:t>
            </a:r>
          </a:p>
          <a:p>
            <a:r>
              <a:t>          "total": {</a:t>
            </a:r>
          </a:p>
          <a:p>
            <a:r>
              <a:t>            "after": 124718,</a:t>
            </a:r>
          </a:p>
          <a:p>
            <a:r>
              <a:t>            "before": 93221,</a:t>
            </a:r>
          </a:p>
          <a:p>
            <a:r>
              <a:t>            "change_pct": 33.78745132534515,</a:t>
            </a:r>
          </a:p>
          <a:p>
            <a:r>
              <a:t>            "difference": 31497</a:t>
            </a:r>
          </a:p>
          <a:p>
            <a:r>
              <a:t>          },</a:t>
            </a:r>
          </a:p>
          <a:p>
            <a:r>
              <a:t>          "outside": {</a:t>
            </a:r>
          </a:p>
          <a:p>
            <a:r>
              <a:t>            "after": 53730,</a:t>
            </a:r>
          </a:p>
          <a:p>
            <a:r>
              <a:t>            "before": 40334,</a:t>
            </a:r>
          </a:p>
          <a:p>
            <a:r>
              <a:t>            "change_pct": 33.21267417067486,</a:t>
            </a:r>
          </a:p>
          <a:p>
            <a:r>
              <a:t>            "difference": 13396</a:t>
            </a:r>
          </a:p>
          <a:p>
            <a:r>
              <a:t>          },</a:t>
            </a:r>
          </a:p>
          <a:p>
            <a:r>
              <a:t>          "after_days": 7,</a:t>
            </a:r>
          </a:p>
          <a:p>
            <a:r>
              <a:t>          "after_year": 2025,</a:t>
            </a:r>
          </a:p>
          <a:p>
            <a:r>
              <a:t>          "before_days": 6,</a:t>
            </a:r>
          </a:p>
          <a:p>
            <a:r>
              <a:t>          "before_year": 2024,</a:t>
            </a:r>
          </a:p>
          <a:p>
            <a:r>
              <a:t>          "outside_daily": {</a:t>
            </a:r>
          </a:p>
          <a:p>
            <a:r>
              <a:t>            "after": 7675.714285714285,</a:t>
            </a:r>
          </a:p>
          <a:p>
            <a:r>
              <a:t>            "before": 6722.333333333333,</a:t>
            </a:r>
          </a:p>
          <a:p>
            <a:r>
              <a:t>            "change_pct": 14.182292146292742,</a:t>
            </a:r>
          </a:p>
          <a:p>
            <a:r>
              <a:t>            "difference": 953.3809523809524</a:t>
            </a:r>
          </a:p>
          <a:p>
            <a:r>
              <a:t>          }</a:t>
            </a:r>
          </a:p>
          <a:p>
            <a:r>
              <a:t>        },</a:t>
            </a:r>
          </a:p>
          <a:p>
            <a:r>
              <a:t>        "source_file": {</a:t>
            </a:r>
          </a:p>
          <a:p>
            <a:r>
              <a:t>          "sha256": "ec35e7537d4da1ed72dd60617fec143558f280299aeb303bc8b7a1036ecc73f0",</a:t>
            </a:r>
          </a:p>
          <a:p>
            <a:r>
              <a:t>          "provider": "한국관광 데이터랩",</a:t>
            </a:r>
          </a:p>
          <a:p>
            <a:r>
              <a:t>          "file_name": "20260820183544_통영한산대첩축제_연도별 방문자 추이.csv",</a:t>
            </a:r>
          </a:p>
          <a:p>
            <a:r>
              <a:t>          "source_id": "festival-file:ec35e7537d4da1ed72dd",</a:t>
            </a:r>
          </a:p>
          <a:p>
            <a:r>
              <a:t>          "source_url": "https://datalab.visitkorea.or.kr/",</a:t>
            </a:r>
          </a:p>
          <a:p>
            <a:r>
              <a:t>          "downloaded_at": "2026-08-20",</a:t>
            </a:r>
          </a:p>
          <a:p>
            <a:r>
              <a:t>          "relative_path": "data/source_snapshots/festivals_20260820/81. 통영한산대첩축제_2023-2025/20260820183544_통영한산대첩축제_연도별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"0.309",</a:t>
            </a:r>
          </a:p>
          <a:p>
            <a:r>
              <a:t>            "축제명": "통영한산대첩축제",</a:t>
            </a:r>
          </a:p>
          <a:p>
            <a:r>
              <a:t>            "개최년도": "2025"</a:t>
            </a:r>
          </a:p>
          <a:p>
            <a:r>
              <a:t>          },</a:t>
            </a:r>
          </a:p>
          <a:p>
            <a:r>
              <a:t>          {</a:t>
            </a:r>
          </a:p>
          <a:p>
            <a:r>
              <a:t>            "구분명": "현지인방문자 유입",</a:t>
            </a:r>
          </a:p>
          <a:p>
            <a:r>
              <a:t>            "그룹명": "축제기간",</a:t>
            </a:r>
          </a:p>
          <a:p>
            <a:r>
              <a:t>            "지표값": "0.731",</a:t>
            </a:r>
          </a:p>
          <a:p>
            <a:r>
              <a:t>            "축제명": "통영한산대첩축제",</a:t>
            </a:r>
          </a:p>
          <a:p>
            <a:r>
              <a:t>            "개최년도": "2025"</a:t>
            </a:r>
          </a:p>
          <a:p>
            <a:r>
              <a:t>          },</a:t>
            </a:r>
          </a:p>
          <a:p>
            <a:r>
              <a:t>          {</a:t>
            </a:r>
          </a:p>
          <a:p>
            <a:r>
              <a:t>            "구분명": "내비게이션 검색량",</a:t>
            </a:r>
          </a:p>
          <a:p>
            <a:r>
              <a:t>            "그룹명": "축제기간",</a:t>
            </a:r>
          </a:p>
          <a:p>
            <a:r>
              <a:t>            "지표값": "0.228",</a:t>
            </a:r>
          </a:p>
          <a:p>
            <a:r>
              <a:t>            "축제명": "통영한산대첩축제",</a:t>
            </a:r>
          </a:p>
          <a:p>
            <a:r>
              <a:t>            "개최년도": "2025"</a:t>
            </a:r>
          </a:p>
          <a:p>
            <a:r>
              <a:t>          },</a:t>
            </a:r>
          </a:p>
          <a:p>
            <a:r>
              <a:t>          {</a:t>
            </a:r>
          </a:p>
          <a:p>
            <a:r>
              <a:t>            "구분명": "관광소비",</a:t>
            </a:r>
          </a:p>
          <a:p>
            <a:r>
              <a:t>            "그룹명": "축제기간",</a:t>
            </a:r>
          </a:p>
          <a:p>
            <a:r>
              <a:t>            "지표값": "0.313",</a:t>
            </a:r>
          </a:p>
          <a:p>
            <a:r>
              <a:t>            "축제명": "통영한산대첩축제",</a:t>
            </a:r>
          </a:p>
          <a:p>
            <a:r>
              <a:t>            "개최년도": "2025"</a:t>
            </a:r>
          </a:p>
          <a:p>
            <a:r>
              <a:t>          },</a:t>
            </a:r>
          </a:p>
          <a:p>
            <a:r>
              <a:t>          {</a:t>
            </a:r>
          </a:p>
          <a:p>
            <a:r>
              <a:t>            "구분명": "축제지 집중률",</a:t>
            </a:r>
          </a:p>
          <a:p>
            <a:r>
              <a:t>            "그룹명": "축제기간",</a:t>
            </a:r>
          </a:p>
          <a:p>
            <a:r>
              <a:t>            "지표값": "0.766",</a:t>
            </a:r>
          </a:p>
          <a:p>
            <a:r>
              <a:t>            "축제명": "통영한산대첩축제",</a:t>
            </a:r>
          </a:p>
          <a:p>
            <a:r>
              <a:t>            "개최년도": "2025"</a:t>
            </a:r>
          </a:p>
          <a:p>
            <a:r>
              <a:t>          },</a:t>
            </a:r>
          </a:p>
          <a:p>
            <a:r>
              <a:t>          {</a:t>
            </a:r>
          </a:p>
          <a:p>
            <a:r>
              <a:t>            "구분명": "외부방문자 유입",</a:t>
            </a:r>
          </a:p>
          <a:p>
            <a:r>
              <a:t>            "그룹명": "비축제기간",</a:t>
            </a:r>
          </a:p>
          <a:p>
            <a:r>
              <a:t>            "지표값": "0.244",</a:t>
            </a:r>
          </a:p>
          <a:p>
            <a:r>
              <a:t>            "축제명": "통영한산대첩축제",</a:t>
            </a:r>
          </a:p>
          <a:p>
            <a:r>
              <a:t>            "개최년도": "2025"</a:t>
            </a:r>
          </a:p>
          <a:p>
            <a:r>
              <a:t>          },</a:t>
            </a:r>
          </a:p>
          <a:p>
            <a:r>
              <a:t>          {</a:t>
            </a:r>
          </a:p>
          <a:p>
            <a:r>
              <a:t>            "구분명": "현지인방문자 유입",</a:t>
            </a:r>
          </a:p>
          <a:p>
            <a:r>
              <a:t>            "그룹명": "비축제기간",</a:t>
            </a:r>
          </a:p>
          <a:p>
            <a:r>
              <a:t>            "지표값": "0.586",</a:t>
            </a:r>
          </a:p>
          <a:p>
            <a:r>
              <a:t>            "축제명": "통영한산대첩축제",</a:t>
            </a:r>
          </a:p>
          <a:p>
            <a:r>
              <a:t>            "개최년도": "2025"</a:t>
            </a:r>
          </a:p>
          <a:p>
            <a:r>
              <a:t>          },</a:t>
            </a:r>
          </a:p>
          <a:p>
            <a:r>
              <a:t>          {</a:t>
            </a:r>
          </a:p>
          <a:p>
            <a:r>
              <a:t>            "구분명": "내비게이션 검색량",</a:t>
            </a:r>
          </a:p>
          <a:p>
            <a:r>
              <a:t>            "그룹명": "비축제기간",</a:t>
            </a:r>
          </a:p>
          <a:p>
            <a:r>
              <a:t>            "지표값": "0.206",</a:t>
            </a:r>
          </a:p>
          <a:p>
            <a:r>
              <a:t>            "축제명": "통영한산대첩축제",</a:t>
            </a:r>
          </a:p>
          <a:p>
            <a:r>
              <a:t>            "개최년도": "2025"</a:t>
            </a:r>
          </a:p>
          <a:p>
            <a:r>
              <a:t>          },</a:t>
            </a:r>
          </a:p>
          <a:p>
            <a:r>
              <a:t>          {</a:t>
            </a:r>
          </a:p>
          <a:p>
            <a:r>
              <a:t>            "구분명": "관광소비",</a:t>
            </a:r>
          </a:p>
          <a:p>
            <a:r>
              <a:t>            "그룹명": "비축제기간",</a:t>
            </a:r>
          </a:p>
          <a:p>
            <a:r>
              <a:t>            "지표값": "0.312",</a:t>
            </a:r>
          </a:p>
          <a:p>
            <a:r>
              <a:t>            "축제명": "통영한산대첩축제",</a:t>
            </a:r>
          </a:p>
          <a:p>
            <a:r>
              <a:t>            "개최년도": "2025"</a:t>
            </a:r>
          </a:p>
          <a:p>
            <a:r>
              <a:t>          },</a:t>
            </a:r>
          </a:p>
          <a:p>
            <a:r>
              <a:t>          {</a:t>
            </a:r>
          </a:p>
          <a:p>
            <a:r>
              <a:t>            "구분명": "축제지 집중률",</a:t>
            </a:r>
          </a:p>
          <a:p>
            <a:r>
              <a:t>            "그룹명": "비축제기간",</a:t>
            </a:r>
          </a:p>
          <a:p>
            <a:r>
              <a:t>            "지표값": "0.595",</a:t>
            </a:r>
          </a:p>
          <a:p>
            <a:r>
              <a:t>            "축제명": "통영한산대첩축제",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"통영중앙전통시장",</a:t>
            </a:r>
          </a:p>
          <a:p>
            <a:r>
              <a:t>            "카테고리": "시장",</a:t>
            </a:r>
          </a:p>
          <a:p>
            <a:r>
              <a:t>            "도로명주소": "경남 통영시 중앙시장1길 14-16"</a:t>
            </a:r>
          </a:p>
          <a:p>
            <a:r>
              <a:t>          },</a:t>
            </a:r>
          </a:p>
          <a:p>
            <a:r>
              <a:t>          {</a:t>
            </a:r>
          </a:p>
          <a:p>
            <a:r>
              <a:t>            "구분": "외지인",</a:t>
            </a:r>
          </a:p>
          <a:p>
            <a:r>
              <a:t>            "순위": "2",</a:t>
            </a:r>
          </a:p>
          <a:p>
            <a:r>
              <a:t>            "목적지명": "동피랑벽화마을",</a:t>
            </a:r>
          </a:p>
          <a:p>
            <a:r>
              <a:t>            "카테고리": "기타관광",</a:t>
            </a:r>
          </a:p>
          <a:p>
            <a:r>
              <a:t>            "도로명주소": "경남 통영시 동피랑1길 6-18"</a:t>
            </a:r>
          </a:p>
          <a:p>
            <a:r>
              <a:t>          },</a:t>
            </a:r>
          </a:p>
          <a:p>
            <a:r>
              <a:t>          {</a:t>
            </a:r>
          </a:p>
          <a:p>
            <a:r>
              <a:t>            "구분": "외지인",</a:t>
            </a:r>
          </a:p>
          <a:p>
            <a:r>
              <a:t>            "순위": "3",</a:t>
            </a:r>
          </a:p>
          <a:p>
            <a:r>
              <a:t>            "목적지명": "통영한산대첩축제(한산대첩광장)",</a:t>
            </a:r>
          </a:p>
          <a:p>
            <a:r>
              <a:t>            "카테고리": "기타문화관광지",</a:t>
            </a:r>
          </a:p>
          <a:p>
            <a:r>
              <a:t>            "도로명주소": "경남 통영시 통영해안로 267-0"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4998578.0,</a:t>
            </a:r>
          </a:p>
          <a:p>
            <a:r>
              <a:t>        "is_forecast": true,</a:t>
            </a:r>
          </a:p>
          <a:p>
            <a:r>
              <a:t>        "spending_krw": 79359374710.0,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4940348.0,</a:t>
            </a:r>
          </a:p>
          <a:p>
            <a:r>
              <a:t>        "is_forecast": true,</a:t>
            </a:r>
          </a:p>
          <a:p>
            <a:r>
              <a:t>        "spending_krw": 85971975908.0,</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4989633.0,</a:t>
            </a:r>
          </a:p>
          <a:p>
            <a:r>
              <a:t>        "is_forecast": true,</a:t>
            </a:r>
          </a:p>
          <a:p>
            <a:r>
              <a:t>        "spending_krw": 81033922052.0,</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4982887,</a:t>
            </a:r>
          </a:p>
          <a:p>
            <a:r>
              <a:t>      "is_forecast": true,</a:t>
            </a:r>
          </a:p>
          <a:p>
            <a:r>
              <a:t>      "spending_krw": 80283647550,</a:t>
            </a:r>
          </a:p>
          <a:p>
            <a:r>
              <a:t>      "stay_minutes": 1223.0,</a:t>
            </a:r>
          </a:p>
          <a:p>
            <a:r>
              <a:t>      "lodging_nights": 2.91,</a:t>
            </a:r>
          </a:p>
          <a:p>
            <a:r>
              <a:t>      "lodging_rate_pct": 7.3,</a:t>
            </a:r>
          </a:p>
          <a:p>
            <a:r>
              <a:t>      "lodging_searches": 12843,</a:t>
            </a:r>
          </a:p>
          <a:p>
            <a:r>
              <a:t>      "navigation_searches": 209722,</a:t>
            </a:r>
          </a:p>
          <a:p>
            <a:r>
              <a:t>      "visitor_yoy_percent": 0.64,</a:t>
            </a:r>
          </a:p>
          <a:p>
            <a:r>
              <a:t>      "spending_yoy_percent": 6.85,</a:t>
            </a:r>
          </a:p>
          <a:p>
            <a:r>
              <a:t>      "metric_changes_percent": {</a:t>
            </a:r>
          </a:p>
          <a:p>
            <a:r>
              <a:t>        "stay_minutes": 0.0,</a:t>
            </a:r>
          </a:p>
          <a:p>
            <a:r>
              <a:t>        "lodging_nights": 0.0,</a:t>
            </a:r>
          </a:p>
          <a:p>
            <a:r>
              <a:t>        "lodging_rate_pct": 0.0,</a:t>
            </a:r>
          </a:p>
          <a:p>
            <a:r>
              <a:t>        "lodging_searches": 0.0,</a:t>
            </a:r>
          </a:p>
          <a:p>
            <a:r>
              <a:t>        "navigation_searches": -0.44</a:t>
            </a:r>
          </a:p>
          <a:p>
            <a:r>
              <a:t>      },</a:t>
            </a:r>
          </a:p>
          <a:p>
            <a:r>
              <a:t>      "previous_year_visitors": 4951150,</a:t>
            </a:r>
          </a:p>
          <a:p>
            <a:r>
              <a:t>      "previous_year_spending_krw": 75135145000,</a:t>
            </a:r>
          </a:p>
          <a:p>
            <a:r>
              <a:t>      "previous_year_stay_minutes": 1223.0,</a:t>
            </a:r>
          </a:p>
          <a:p>
            <a:r>
              <a:t>      "previous_year_lodging_nights": 2.91,</a:t>
            </a:r>
          </a:p>
          <a:p>
            <a:r>
              <a:t>      "previous_year_lodging_rate_pct": 7.3,</a:t>
            </a:r>
          </a:p>
          <a:p>
            <a:r>
              <a:t>      "previous_year_lodging_searches": 12843,</a:t>
            </a:r>
          </a:p>
          <a:p>
            <a:r>
              <a:t>      "previous_year_navigation_searches": 210646</a:t>
            </a:r>
          </a:p>
          <a:p>
            <a:r>
              <a:t>    },</a:t>
            </a:r>
          </a:p>
          <a:p>
            <a:r>
              <a:t>    {</a:t>
            </a:r>
          </a:p>
          <a:p>
            <a:r>
              <a:t>      "month": "202608",</a:t>
            </a:r>
          </a:p>
          <a:p>
            <a:r>
              <a:t>      "visitors": 4852547,</a:t>
            </a:r>
          </a:p>
          <a:p>
            <a:r>
              <a:t>      "is_forecast": true,</a:t>
            </a:r>
          </a:p>
          <a:p>
            <a:r>
              <a:t>      "spending_krw": 76665340753,</a:t>
            </a:r>
          </a:p>
          <a:p>
            <a:r>
              <a:t>      "stay_minutes": 1218.0,</a:t>
            </a:r>
          </a:p>
          <a:p>
            <a:r>
              <a:t>      "lodging_nights": 2.84,</a:t>
            </a:r>
          </a:p>
          <a:p>
            <a:r>
              <a:t>      "lodging_rate_pct": 7.9,</a:t>
            </a:r>
          </a:p>
          <a:p>
            <a:r>
              <a:t>      "lodging_searches": 13272,</a:t>
            </a:r>
          </a:p>
          <a:p>
            <a:r>
              <a:t>      "navigation_searches": 225159,</a:t>
            </a:r>
          </a:p>
          <a:p>
            <a:r>
              <a:t>      "visitor_yoy_percent": -1.76,</a:t>
            </a:r>
          </a:p>
          <a:p>
            <a:r>
              <a:t>      "spending_yoy_percent": 0.49,</a:t>
            </a:r>
          </a:p>
          <a:p>
            <a:r>
              <a:t>      "metric_changes_percent": {</a:t>
            </a:r>
          </a:p>
          <a:p>
            <a:r>
              <a:t>        "stay_minutes": 0.0,</a:t>
            </a:r>
          </a:p>
          <a:p>
            <a:r>
              <a:t>        "lodging_nights": 0.0,</a:t>
            </a:r>
          </a:p>
          <a:p>
            <a:r>
              <a:t>        "lodging_rate_pct": 0.0,</a:t>
            </a:r>
          </a:p>
          <a:p>
            <a:r>
              <a:t>        "lodging_searches": 0.0,</a:t>
            </a:r>
          </a:p>
          <a:p>
            <a:r>
              <a:t>        "navigation_searches": 2.0</a:t>
            </a:r>
          </a:p>
          <a:p>
            <a:r>
              <a:t>      },</a:t>
            </a:r>
          </a:p>
          <a:p>
            <a:r>
              <a:t>      "previous_year_visitors": 4939438,</a:t>
            </a:r>
          </a:p>
          <a:p>
            <a:r>
              <a:t>      "previous_year_spending_krw": 76291079000,</a:t>
            </a:r>
          </a:p>
          <a:p>
            <a:r>
              <a:t>      "previous_year_stay_minutes": 1218.0,</a:t>
            </a:r>
          </a:p>
          <a:p>
            <a:r>
              <a:t>      "previous_year_lodging_nights": 2.84,</a:t>
            </a:r>
          </a:p>
          <a:p>
            <a:r>
              <a:t>      "previous_year_lodging_rate_pct": 7.9,</a:t>
            </a:r>
          </a:p>
          <a:p>
            <a:r>
              <a:t>      "previous_year_lodging_searches": 13272,</a:t>
            </a:r>
          </a:p>
          <a:p>
            <a:r>
              <a:t>      "previous_year_navigation_searches": 220742</a:t>
            </a:r>
          </a:p>
          <a:p>
            <a:r>
              <a:t>    },</a:t>
            </a:r>
          </a:p>
          <a:p>
            <a:r>
              <a:t>    {</a:t>
            </a:r>
          </a:p>
          <a:p>
            <a:r>
              <a:t>      "month": "202609",</a:t>
            </a:r>
          </a:p>
          <a:p>
            <a:r>
              <a:t>      "visitors": 4823300,</a:t>
            </a:r>
          </a:p>
          <a:p>
            <a:r>
              <a:t>      "is_forecast": true,</a:t>
            </a:r>
          </a:p>
          <a:p>
            <a:r>
              <a:t>      "spending_krw": 80194062490,</a:t>
            </a:r>
          </a:p>
          <a:p>
            <a:r>
              <a:t>      "stay_minutes": 1281.0,</a:t>
            </a:r>
          </a:p>
          <a:p>
            <a:r>
              <a:t>      "lodging_nights": 2.93,</a:t>
            </a:r>
          </a:p>
          <a:p>
            <a:r>
              <a:t>      "lodging_rate_pct": 6.7,</a:t>
            </a:r>
          </a:p>
          <a:p>
            <a:r>
              <a:t>      "lodging_searches": 11464,</a:t>
            </a:r>
          </a:p>
          <a:p>
            <a:r>
              <a:t>      "navigation_searches": 206180,</a:t>
            </a:r>
          </a:p>
          <a:p>
            <a:r>
              <a:t>      "visitor_yoy_percent": -0.39,</a:t>
            </a:r>
          </a:p>
          <a:p>
            <a:r>
              <a:t>      "spending_yoy_percent": 13.32,</a:t>
            </a:r>
          </a:p>
          <a:p>
            <a:r>
              <a:t>      "metric_changes_percent": {</a:t>
            </a:r>
          </a:p>
          <a:p>
            <a:r>
              <a:t>        "stay_minutes": 0.0,</a:t>
            </a:r>
          </a:p>
          <a:p>
            <a:r>
              <a:t>        "lodging_nights": 0.0,</a:t>
            </a:r>
          </a:p>
          <a:p>
            <a:r>
              <a:t>        "lodging_rate_pct": 0.0,</a:t>
            </a:r>
          </a:p>
          <a:p>
            <a:r>
              <a:t>        "lodging_searches": 0.0,</a:t>
            </a:r>
          </a:p>
          <a:p>
            <a:r>
              <a:t>        "navigation_searches": 7.4</a:t>
            </a:r>
          </a:p>
          <a:p>
            <a:r>
              <a:t>      },</a:t>
            </a:r>
          </a:p>
          <a:p>
            <a:r>
              <a:t>      "previous_year_visitors": 4842196,</a:t>
            </a:r>
          </a:p>
          <a:p>
            <a:r>
              <a:t>      "previous_year_spending_krw": 70764730000,</a:t>
            </a:r>
          </a:p>
          <a:p>
            <a:r>
              <a:t>      "previous_year_stay_minutes": 1281.0,</a:t>
            </a:r>
          </a:p>
          <a:p>
            <a:r>
              <a:t>      "previous_year_lodging_nights": 2.93,</a:t>
            </a:r>
          </a:p>
          <a:p>
            <a:r>
              <a:t>      "previous_year_lodging_rate_pct": 6.7,</a:t>
            </a:r>
          </a:p>
          <a:p>
            <a:r>
              <a:t>      "previous_year_lodging_searches": 11464,</a:t>
            </a:r>
          </a:p>
          <a:p>
            <a:r>
              <a:t>      "previous_year_navigation_searches": 191971</a:t>
            </a:r>
          </a:p>
          <a:p>
            <a:r>
              <a:t>    },</a:t>
            </a:r>
          </a:p>
          <a:p>
            <a:r>
              <a:t>    {</a:t>
            </a:r>
          </a:p>
          <a:p>
            <a:r>
              <a:t>      "month": "202610",</a:t>
            </a:r>
          </a:p>
          <a:p>
            <a:r>
              <a:t>      "visitors": 4998578,</a:t>
            </a:r>
          </a:p>
          <a:p>
            <a:r>
              <a:t>      "is_forecast": true,</a:t>
            </a:r>
          </a:p>
          <a:p>
            <a:r>
              <a:t>      "spending_krw": 79359374710,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a:t>
            </a:r>
          </a:p>
          <a:p>
            <a:r>
              <a:t>      "is_forecast": true,</a:t>
            </a:r>
          </a:p>
          <a:p>
            <a:r>
              <a:t>      "spending_krw": 85971975908,</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a:t>
            </a:r>
          </a:p>
          <a:p>
            <a:r>
              <a:t>      "is_forecast": true,</a:t>
            </a:r>
          </a:p>
          <a:p>
            <a:r>
              <a:t>      "spending_krw": 81033922052,</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"evaluation": {</a:t>
            </a:r>
          </a:p>
          <a:p>
            <a:r>
              <a:t>    "metrics": {</a:t>
            </a:r>
          </a:p>
          <a:p>
            <a:r>
              <a:t>      "visitors": {</a:t>
            </a:r>
          </a:p>
          <a:p>
            <a:r>
              <a:t>        "test_mae": 237105.53,</a:t>
            </a:r>
          </a:p>
          <a:p>
            <a:r>
              <a:t>        "recursive_mae": {</a:t>
            </a:r>
          </a:p>
          <a:p>
            <a:r>
              <a:t>          "1": {</a:t>
            </a:r>
          </a:p>
          <a:p>
            <a:r>
              <a:t>            "baseline": 211072,</a:t>
            </a:r>
          </a:p>
          <a:p>
            <a:r>
              <a:t>            "selected": 332727,</a:t>
            </a:r>
          </a:p>
          <a:p>
            <a:r>
              <a:t>            "sample_count": 2</a:t>
            </a:r>
          </a:p>
          <a:p>
            <a:r>
              <a:t>          },</a:t>
            </a:r>
          </a:p>
          <a:p>
            <a:r>
              <a:t>          "2": {</a:t>
            </a:r>
          </a:p>
          <a:p>
            <a:r>
              <a:t>            "baseline": 97043,</a:t>
            </a:r>
          </a:p>
          <a:p>
            <a:r>
              <a:t>            "selected": 141143.5,</a:t>
            </a:r>
          </a:p>
          <a:p>
            <a:r>
              <a:t>            "sample_count": 2</a:t>
            </a:r>
          </a:p>
          <a:p>
            <a:r>
              <a:t>          },</a:t>
            </a:r>
          </a:p>
          <a:p>
            <a:r>
              <a:t>          "3": {</a:t>
            </a:r>
          </a:p>
          <a:p>
            <a:r>
              <a:t>            "baseline": 174799,</a:t>
            </a:r>
          </a:p>
          <a:p>
            <a:r>
              <a:t>            "selected": 168591.5,</a:t>
            </a:r>
          </a:p>
          <a:p>
            <a:r>
              <a:t>            "sample_count": 2</a:t>
            </a:r>
          </a:p>
          <a:p>
            <a:r>
              <a:t>          }</a:t>
            </a:r>
          </a:p>
          <a:p>
            <a:r>
              <a:t>        },</a:t>
            </a:r>
          </a:p>
          <a:p>
            <a:r>
              <a:t>        "selected_model": "RandomForestRegressor",</a:t>
            </a:r>
          </a:p>
          <a:p>
            <a:r>
              <a:t>        "baseline_test_mae": 192935.5,</a:t>
            </a:r>
          </a:p>
          <a:p>
            <a:r>
              <a:t>        "model_reliability": "below_baseline_on_test",</a:t>
            </a:r>
          </a:p>
          <a:p>
            <a:r>
              <a:t>        "beats_baseline_on_test": false,</a:t>
            </a:r>
          </a:p>
          <a:p>
            <a:r>
              <a:t>        "recursive_horizons_worse_than_baseline": [</a:t>
            </a:r>
          </a:p>
          <a:p>
            <a:r>
              <a:t>          "1",</a:t>
            </a:r>
          </a:p>
          <a:p>
            <a:r>
              <a:t>          "2"</a:t>
            </a:r>
          </a:p>
          <a:p>
            <a:r>
              <a:t>        ]</a:t>
            </a:r>
          </a:p>
          <a:p>
            <a:r>
              <a:t>      },</a:t>
            </a:r>
          </a:p>
          <a:p>
            <a:r>
              <a:t>      "spending_krw": {</a:t>
            </a:r>
          </a:p>
          <a:p>
            <a:r>
              <a:t>        "test_mae": 4927867951.9,</a:t>
            </a:r>
          </a:p>
          <a:p>
            <a:r>
              <a:t>        "recursive_mae": {</a:t>
            </a:r>
          </a:p>
          <a:p>
            <a:r>
              <a:t>          "1": {</a:t>
            </a:r>
          </a:p>
          <a:p>
            <a:r>
              <a:t>            "baseline": 1944140500,</a:t>
            </a:r>
          </a:p>
          <a:p>
            <a:r>
              <a:t>            "selected": 3237755191,</a:t>
            </a:r>
          </a:p>
          <a:p>
            <a:r>
              <a:t>            "sample_count": 2</a:t>
            </a:r>
          </a:p>
          <a:p>
            <a:r>
              <a:t>          },</a:t>
            </a:r>
          </a:p>
          <a:p>
            <a:r>
              <a:t>          "2": {</a:t>
            </a:r>
          </a:p>
          <a:p>
            <a:r>
              <a:t>            "baseline": 3984052500,</a:t>
            </a:r>
          </a:p>
          <a:p>
            <a:r>
              <a:t>            "selected": 1581504765.5,</a:t>
            </a:r>
          </a:p>
          <a:p>
            <a:r>
              <a:t>            "sample_count": 2</a:t>
            </a:r>
          </a:p>
          <a:p>
            <a:r>
              <a:t>          },</a:t>
            </a:r>
          </a:p>
          <a:p>
            <a:r>
              <a:t>          "3": {</a:t>
            </a:r>
          </a:p>
          <a:p>
            <a:r>
              <a:t>            "baseline": 2878173500,</a:t>
            </a:r>
          </a:p>
          <a:p>
            <a:r>
              <a:t>            "selected": 4493524184.5,</a:t>
            </a:r>
          </a:p>
          <a:p>
            <a:r>
              <a:t>            "sample_count": 2</a:t>
            </a:r>
          </a:p>
          <a:p>
            <a:r>
              <a:t>          }</a:t>
            </a:r>
          </a:p>
          <a:p>
            <a:r>
              <a:t>        },</a:t>
            </a:r>
          </a:p>
          <a:p>
            <a:r>
              <a:t>        "selected_model": "LinearRegression",</a:t>
            </a:r>
          </a:p>
          <a:p>
            <a:r>
              <a:t>        "baseline_test_mae": 2411157000,</a:t>
            </a:r>
          </a:p>
          <a:p>
            <a:r>
              <a:t>        "model_reliability": "below_baseline_on_test",</a:t>
            </a:r>
          </a:p>
          <a:p>
            <a:r>
              <a:t>        "beats_baseline_on_test": false,</a:t>
            </a:r>
          </a:p>
          <a:p>
            <a:r>
              <a:t>        "recursive_horizons_worse_than_baseline": [</a:t>
            </a:r>
          </a:p>
          <a:p>
            <a:r>
              <a:t>          "1",</a:t>
            </a:r>
          </a:p>
          <a:p>
            <a:r>
              <a:t>          "3"</a:t>
            </a:r>
          </a:p>
          <a:p>
            <a:r>
              <a:t>        ]</a:t>
            </a:r>
          </a:p>
          <a:p>
            <a:r>
              <a:t>      },</a:t>
            </a:r>
          </a:p>
          <a:p>
            <a:r>
              <a:t>      "stay_minutes": {</a:t>
            </a:r>
          </a:p>
          <a:p>
            <a:r>
              <a:t>        "test_mae": 113.5,</a:t>
            </a:r>
          </a:p>
          <a:p>
            <a:r>
              <a:t>        "recursive_mae": {</a:t>
            </a:r>
          </a:p>
          <a:p>
            <a:r>
              <a:t>          "1": {</a:t>
            </a:r>
          </a:p>
          <a:p>
            <a:r>
              <a:t>            "baseline": 52,</a:t>
            </a:r>
          </a:p>
          <a:p>
            <a:r>
              <a:t>            "selected": 52,</a:t>
            </a:r>
          </a:p>
          <a:p>
            <a:r>
              <a:t>            "sample_count": 2</a:t>
            </a:r>
          </a:p>
          <a:p>
            <a:r>
              <a:t>          },</a:t>
            </a:r>
          </a:p>
          <a:p>
            <a:r>
              <a:t>          "2": {</a:t>
            </a:r>
          </a:p>
          <a:p>
            <a:r>
              <a:t>            "baseline": 218.5,</a:t>
            </a:r>
          </a:p>
          <a:p>
            <a:r>
              <a:t>            "selected": 218.5,</a:t>
            </a:r>
          </a:p>
          <a:p>
            <a:r>
              <a:t>            "sample_count": 2</a:t>
            </a:r>
          </a:p>
          <a:p>
            <a:r>
              <a:t>          },</a:t>
            </a:r>
          </a:p>
          <a:p>
            <a:r>
              <a:t>          "3": {</a:t>
            </a:r>
          </a:p>
          <a:p>
            <a:r>
              <a:t>            "baseline": 175,</a:t>
            </a:r>
          </a:p>
          <a:p>
            <a:r>
              <a:t>            "selected": 175,</a:t>
            </a:r>
          </a:p>
          <a:p>
            <a:r>
              <a:t>            "sample_count": 2</a:t>
            </a:r>
          </a:p>
          <a:p>
            <a:r>
              <a:t>          }</a:t>
            </a:r>
          </a:p>
          <a:p>
            <a:r>
              <a:t>        },</a:t>
            </a:r>
          </a:p>
          <a:p>
            <a:r>
              <a:t>        "selected_model": "seasonal_naive_previous_year_same_month",</a:t>
            </a:r>
          </a:p>
          <a:p>
            <a:r>
              <a:t>        "baseline_test_mae": 113.5,</a:t>
            </a:r>
          </a:p>
          <a:p>
            <a:r>
              <a:t>        "model_reliability": "seasonal_baseline",</a:t>
            </a:r>
          </a:p>
          <a:p>
            <a:r>
              <a:t>        "beats_baseline_on_test": false,</a:t>
            </a:r>
          </a:p>
          <a:p>
            <a:r>
              <a:t>        "recursive_horizons_worse_than_baseline": []</a:t>
            </a:r>
          </a:p>
          <a:p>
            <a:r>
              <a:t>      },</a:t>
            </a:r>
          </a:p>
          <a:p>
            <a:r>
              <a:t>      "lodging_nights": {</a:t>
            </a:r>
          </a:p>
          <a:p>
            <a:r>
              <a:t>        "test_mae": 0.07,</a:t>
            </a:r>
          </a:p>
          <a:p>
            <a:r>
              <a:t>        "recursive_mae": {</a:t>
            </a:r>
          </a:p>
          <a:p>
            <a:r>
              <a:t>          "1": {</a:t>
            </a:r>
          </a:p>
          <a:p>
            <a:r>
              <a:t>            "baseline": 0.06,</a:t>
            </a:r>
          </a:p>
          <a:p>
            <a:r>
              <a:t>            "selected": 0.06,</a:t>
            </a:r>
          </a:p>
          <a:p>
            <a:r>
              <a:t>            "sample_count": 2</a:t>
            </a:r>
          </a:p>
          <a:p>
            <a:r>
              <a:t>          },</a:t>
            </a:r>
          </a:p>
          <a:p>
            <a:r>
              <a:t>          "2": {</a:t>
            </a:r>
          </a:p>
          <a:p>
            <a:r>
              <a:t>            "baseline": 0.11,</a:t>
            </a:r>
          </a:p>
          <a:p>
            <a:r>
              <a:t>            "selected": 0.11,</a:t>
            </a:r>
          </a:p>
          <a:p>
            <a:r>
              <a:t>            "sample_count": 2</a:t>
            </a:r>
          </a:p>
          <a:p>
            <a:r>
              <a:t>          },</a:t>
            </a:r>
          </a:p>
          <a:p>
            <a:r>
              <a:t>          "3": {</a:t>
            </a:r>
          </a:p>
          <a:p>
            <a:r>
              <a:t>            "baseline": 0.08,</a:t>
            </a:r>
          </a:p>
          <a:p>
            <a:r>
              <a:t>            "selected": 0.08,</a:t>
            </a:r>
          </a:p>
          <a:p>
            <a:r>
              <a:t>            "sample_count": 2</a:t>
            </a:r>
          </a:p>
          <a:p>
            <a:r>
              <a:t>          }</a:t>
            </a:r>
          </a:p>
          <a:p>
            <a:r>
              <a:t>        },</a:t>
            </a:r>
          </a:p>
          <a:p>
            <a:r>
              <a:t>        "selected_model": "seasonal_naive_previous_year_same_month",</a:t>
            </a:r>
          </a:p>
          <a:p>
            <a:r>
              <a:t>        "baseline_test_mae": 0.07,</a:t>
            </a:r>
          </a:p>
          <a:p>
            <a:r>
              <a:t>        "model_reliability": "seasonal_baseline",</a:t>
            </a:r>
          </a:p>
          <a:p>
            <a:r>
              <a:t>        "beats_baseline_on_test": false,</a:t>
            </a:r>
          </a:p>
          <a:p>
            <a:r>
              <a:t>        "recursive_horizons_worse_than_baseline": []</a:t>
            </a:r>
          </a:p>
          <a:p>
            <a:r>
              <a:t>      },</a:t>
            </a:r>
          </a:p>
          <a:p>
            <a:r>
              <a:t>      "lodging_rate_pct": {</a:t>
            </a:r>
          </a:p>
          <a:p>
            <a:r>
              <a:t>        "test_mae": 0.3,</a:t>
            </a:r>
          </a:p>
          <a:p>
            <a:r>
              <a:t>        "recursive_mae": {</a:t>
            </a:r>
          </a:p>
          <a:p>
            <a:r>
              <a:t>          "1": {</a:t>
            </a:r>
          </a:p>
          <a:p>
            <a:r>
              <a:t>            "baseline": 0.4,</a:t>
            </a:r>
          </a:p>
          <a:p>
            <a:r>
              <a:t>            "selected": 0.4,</a:t>
            </a:r>
          </a:p>
          <a:p>
            <a:r>
              <a:t>            "sample_count": 2</a:t>
            </a:r>
          </a:p>
          <a:p>
            <a:r>
              <a:t>          },</a:t>
            </a:r>
          </a:p>
          <a:p>
            <a:r>
              <a:t>          "2": {</a:t>
            </a:r>
          </a:p>
          <a:p>
            <a:r>
              <a:t>            "baseline": 0.2,</a:t>
            </a:r>
          </a:p>
          <a:p>
            <a:r>
              <a:t>            "selected": 0.2,</a:t>
            </a:r>
          </a:p>
          <a:p>
            <a:r>
              <a:t>            "sample_count": 2</a:t>
            </a:r>
          </a:p>
          <a:p>
            <a:r>
              <a:t>          },</a:t>
            </a:r>
          </a:p>
          <a:p>
            <a:r>
              <a:t>          "3": {</a:t>
            </a:r>
          </a:p>
          <a:p>
            <a:r>
              <a:t>            "baseline": 0.2,</a:t>
            </a:r>
          </a:p>
          <a:p>
            <a:r>
              <a:t>            "selected": 0.2,</a:t>
            </a:r>
          </a:p>
          <a:p>
            <a:r>
              <a:t>            "sample_count": 2</a:t>
            </a:r>
          </a:p>
          <a:p>
            <a:r>
              <a:t>          }</a:t>
            </a:r>
          </a:p>
          <a:p>
            <a:r>
              <a:t>        },</a:t>
            </a:r>
          </a:p>
          <a:p>
            <a:r>
              <a:t>        "selected_model": "seasonal_naive_previous_year_same_month",</a:t>
            </a:r>
          </a:p>
          <a:p>
            <a:r>
              <a:t>        "baseline_test_mae": 0.3,</a:t>
            </a:r>
          </a:p>
          <a:p>
            <a:r>
              <a:t>        "model_reliability": "seasonal_baseline",</a:t>
            </a:r>
          </a:p>
          <a:p>
            <a:r>
              <a:t>        "beats_baseline_on_test": false,</a:t>
            </a:r>
          </a:p>
          <a:p>
            <a:r>
              <a:t>        "recursive_horizons_worse_than_baseline": []</a:t>
            </a:r>
          </a:p>
          <a:p>
            <a:r>
              <a:t>      },</a:t>
            </a:r>
          </a:p>
          <a:p>
            <a:r>
              <a:t>      "lodging_searches": {</a:t>
            </a:r>
          </a:p>
          <a:p>
            <a:r>
              <a:t>        "test_mae": 526.5,</a:t>
            </a:r>
          </a:p>
          <a:p>
            <a:r>
              <a:t>        "recursive_mae": {</a:t>
            </a:r>
          </a:p>
          <a:p>
            <a:r>
              <a:t>          "1": {</a:t>
            </a:r>
          </a:p>
          <a:p>
            <a:r>
              <a:t>            "baseline": 779,</a:t>
            </a:r>
          </a:p>
          <a:p>
            <a:r>
              <a:t>            "selected": 779,</a:t>
            </a:r>
          </a:p>
          <a:p>
            <a:r>
              <a:t>            "sample_count": 2</a:t>
            </a:r>
          </a:p>
          <a:p>
            <a:r>
              <a:t>          },</a:t>
            </a:r>
          </a:p>
          <a:p>
            <a:r>
              <a:t>          "2": {</a:t>
            </a:r>
          </a:p>
          <a:p>
            <a:r>
              <a:t>            "baseline": 391.5,</a:t>
            </a:r>
          </a:p>
          <a:p>
            <a:r>
              <a:t>            "selected": 391.5,</a:t>
            </a:r>
          </a:p>
          <a:p>
            <a:r>
              <a:t>            "sample_count": 2</a:t>
            </a:r>
          </a:p>
          <a:p>
            <a:r>
              <a:t>          },</a:t>
            </a:r>
          </a:p>
          <a:p>
            <a:r>
              <a:t>          "3": {</a:t>
            </a:r>
          </a:p>
          <a:p>
            <a:r>
              <a:t>            "baseline": 274,</a:t>
            </a:r>
          </a:p>
          <a:p>
            <a:r>
              <a:t>            "selected": 274,</a:t>
            </a:r>
          </a:p>
          <a:p>
            <a:r>
              <a:t>            "sample_count": 2</a:t>
            </a:r>
          </a:p>
          <a:p>
            <a:r>
              <a:t>          }</a:t>
            </a:r>
          </a:p>
          <a:p>
            <a:r>
              <a:t>        },</a:t>
            </a:r>
          </a:p>
          <a:p>
            <a:r>
              <a:t>        "selected_model": "seasonal_naive_previous_year_same_month",</a:t>
            </a:r>
          </a:p>
          <a:p>
            <a:r>
              <a:t>        "baseline_test_mae": 526.5,</a:t>
            </a:r>
          </a:p>
          <a:p>
            <a:r>
              <a:t>        "model_reliability": "seasonal_baseline",</a:t>
            </a:r>
          </a:p>
          <a:p>
            <a:r>
              <a:t>        "beats_baseline_on_test": false,</a:t>
            </a:r>
          </a:p>
          <a:p>
            <a:r>
              <a:t>        "recursive_horizons_worse_than_baseline": []</a:t>
            </a:r>
          </a:p>
          <a:p>
            <a:r>
              <a:t>      },</a:t>
            </a:r>
          </a:p>
          <a:p>
            <a:r>
              <a:t>      "navigation_searches": {</a:t>
            </a:r>
          </a:p>
          <a:p>
            <a:r>
              <a:t>        "test_mae": 20482.57,</a:t>
            </a:r>
          </a:p>
          <a:p>
            <a:r>
              <a:t>        "recursive_mae": {</a:t>
            </a:r>
          </a:p>
          <a:p>
            <a:r>
              <a:t>          "1": {</a:t>
            </a:r>
          </a:p>
          <a:p>
            <a:r>
              <a:t>            "baseline": 9487,</a:t>
            </a:r>
          </a:p>
          <a:p>
            <a:r>
              <a:t>            "selected": 20785,</a:t>
            </a:r>
          </a:p>
          <a:p>
            <a:r>
              <a:t>            "sample_count": 2</a:t>
            </a:r>
          </a:p>
          <a:p>
            <a:r>
              <a:t>          },</a:t>
            </a:r>
          </a:p>
          <a:p>
            <a:r>
              <a:t>          "2": {</a:t>
            </a:r>
          </a:p>
          <a:p>
            <a:r>
              <a:t>            "baseline": 6758.5,</a:t>
            </a:r>
          </a:p>
          <a:p>
            <a:r>
              <a:t>            "selected": 14198,</a:t>
            </a:r>
          </a:p>
          <a:p>
            <a:r>
              <a:t>            "sample_count": 2</a:t>
            </a:r>
          </a:p>
          <a:p>
            <a:r>
              <a:t>          },</a:t>
            </a:r>
          </a:p>
          <a:p>
            <a:r>
              <a:t>          "3": {</a:t>
            </a:r>
          </a:p>
          <a:p>
            <a:r>
              <a:t>            "baseline": 14633,</a:t>
            </a:r>
          </a:p>
          <a:p>
            <a:r>
              <a:t>            "selected": 18839,</a:t>
            </a:r>
          </a:p>
          <a:p>
            <a:r>
              <a:t>            "sample_count": 2</a:t>
            </a:r>
          </a:p>
          <a:p>
            <a:r>
              <a:t>          }</a:t>
            </a:r>
          </a:p>
          <a:p>
            <a:r>
              <a:t>        },</a:t>
            </a:r>
          </a:p>
          <a:p>
            <a:r>
              <a:t>        "selected_model": "RandomForestRegressor",</a:t>
            </a:r>
          </a:p>
          <a:p>
            <a:r>
              <a:t>        "baseline_test_mae": 12060,</a:t>
            </a:r>
          </a:p>
          <a:p>
            <a:r>
              <a:t>        "model_reliability": "below_baseline_on_test",</a:t>
            </a:r>
          </a:p>
          <a:p>
            <a:r>
              <a:t>        "beats_baseline_on_test": false,</a:t>
            </a:r>
          </a:p>
          <a:p>
            <a:r>
              <a:t>        "recursive_horizons_worse_than_baseline": [</a:t>
            </a:r>
          </a:p>
          <a:p>
            <a:r>
              <a:t>          "1",</a:t>
            </a:r>
          </a:p>
          <a:p>
            <a:r>
              <a:t>          "2",</a:t>
            </a:r>
          </a:p>
          <a:p>
            <a:r>
              <a:t>          "3"</a:t>
            </a:r>
          </a:p>
          <a:p>
            <a:r>
              <a:t>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0.019303448467232462,</a:t>
            </a:r>
          </a:p>
          <a:p>
            <a:r>
              <a:t>    "spending_target_pct": 0.04151694433378397,</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"지역 상품권 환급액 = 적격 신청의 min(증빙 인정 지출액 × 10%, 건별 상한 50,000원)의 합산 (단가 및 총 예산은 참여 업체 수와 예상 신청 건수에 따라 확정 필요)",</a:t>
            </a:r>
          </a:p>
          <a:p>
            <a:r>
              <a:t>        "본문 기준"</a:t>
            </a:r>
          </a:p>
          <a:p>
            <a:r>
              <a:t>      ]</a:t>
            </a:r>
          </a:p>
          <a:p>
            <a:r>
              <a:t>    ],</a:t>
            </a:r>
          </a:p>
          <a:p>
            <a:r>
              <a:t>    "original_text": "지역 상품권 환급액 = 적격 신청의 min(증빙 인정 지출액 × 10%, 건별 상한 50,000원)의 합산 (단가 및 총 예산은 참여 업체 수와 예상 신청 건수에 따라 확정 필요)",</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"title": "강진 반값여행 지역경제 효과 소개",</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"source_id": "case:gangjin_half_price_2024",</a:t>
            </a:r>
          </a:p>
          <a:p xmlns:a="http://schemas.openxmlformats.org/drawingml/2006/main">
            <a:r>
              <a:t>      "source_url": "https://jnfarm.jeonnam.go.kr/board/FARM_BOARD_008/boardView.do?bdId=BD_00000000000011721&amp;menuCd=farm004002",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"반값여행 지역환급",</a:t>
            </a:r>
          </a:p>
          <a:p xmlns:a="http://schemas.openxmlformats.org/drawingml/2006/main">
            <a:r>
              <a:t>      "document_type": "case_study",</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"retrieval_method": "curated_registry",</a:t>
            </a:r>
          </a:p>
          <a:p xmlns:a="http://schemas.openxmlformats.org/drawingml/2006/main">
            <a:r>
              <a:t>      "evidence_strength": "low",</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"operating_statistics": [],</a:t>
            </a:r>
          </a:p>
          <a:p xmlns:a="http://schemas.openxmlformats.org/drawingml/2006/main">
            <a:r>
              <a:t>      "published_or_updated_at": "2025-01-02",</a:t>
            </a:r>
          </a:p>
          <a:p xmlns:a="http://schemas.openxmlformats.org/drawingml/2006/main">
            <a:r>
              <a:t>      "quantitative_result_approved": false</a:t>
            </a:r>
          </a:p>
          <a:p xmlns:a="http://schemas.openxmlformats.org/drawingml/2006/main">
            <a:r>
              <a:t>    },</a:t>
            </a:r>
          </a:p>
          <a:p xmlns:a="http://schemas.openxmlformats.org/drawingml/2006/main">
            <a:r>
              <a:t>    {</a:t>
            </a:r>
          </a:p>
          <a:p xmlns:a="http://schemas.openxmlformats.org/drawingml/2006/main">
            <a:r>
              <a:t>      "title": "2022 대한민국 숙박대전 경제파급효과 공개자료",</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"source_id": "case:kto_stay_discount_2022",</a:t>
            </a:r>
          </a:p>
          <a:p xmlns:a="http://schemas.openxmlformats.org/drawingml/2006/main">
            <a:r>
              <a:t>      "source_url": "https://kto.visitkorea.or.kr/upload/flexer/upload/ktobiz/20220928/b623b5f9-3ec0-11ed-9832-ddf31964842e.hwp.files/Sections1.html",</a:t>
            </a:r>
          </a:p>
          <a:p xmlns:a="http://schemas.openxmlformats.org/drawingml/2006/main">
            <a:r>
              <a:t>      "case_region": "전국 숙박할인쿠폰 지원사업",</a:t>
            </a:r>
          </a:p>
          <a:p xmlns:a="http://schemas.openxmlformats.org/drawingml/2006/main">
            <a:r>
              <a:t>      "source_type": "benchmark_case",</a:t>
            </a:r>
          </a:p>
          <a:p xmlns:a="http://schemas.openxmlformats.org/drawingml/2006/main">
            <a:r>
              <a:t>      "intervention": "온라인 예약 채널 숙박할인쿠폰",</a:t>
            </a:r>
          </a:p>
          <a:p xmlns:a="http://schemas.openxmlformats.org/drawingml/2006/main">
            <a:r>
              <a:t>      "document_type": "case_study",</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"operating_statistics": [],</a:t>
            </a:r>
          </a:p>
          <a:p xmlns:a="http://schemas.openxmlformats.org/drawingml/2006/main">
            <a:r>
              <a:t>      "published_or_updated_at": "2022-09-28",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"한국관광 데이터랩 · 문경찻사발축제 방문자 추이",</a:t>
            </a:r>
          </a:p>
          <a:p xmlns:a="http://schemas.openxmlformats.org/drawingml/2006/main">
            <a:r>
              <a:t>      "summary": "경상북도 문경시 · 문경찻사발축제 · 2024→2025년 전체 245,750→256,570명 (+4.40%). 개최 10→9일, 일평균 +16.00%, 외지인 +9.28%.",</a:t>
            </a:r>
          </a:p>
          <a:p xmlns:a="http://schemas.openxmlformats.org/drawingml/2006/main">
            <a:r>
              <a:t>      "source_id": "case:festival:01474ef75569b1",</a:t>
            </a:r>
          </a:p>
          <a:p xmlns:a="http://schemas.openxmlformats.org/drawingml/2006/main">
            <a:r>
              <a:t>      "source_url": "https://datalab.visitkorea.or.kr/",</a:t>
            </a:r>
          </a:p>
          <a:p xmlns:a="http://schemas.openxmlformats.org/drawingml/2006/main">
            <a:r>
              <a:t>      "case_region": "경상북도 문경시",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"문경찻사발축제",</a:t>
            </a:r>
          </a:p>
          <a:p xmlns:a="http://schemas.openxmlformats.org/drawingml/2006/main">
            <a:r>
              <a:t>      "source_files": [</a:t>
            </a:r>
          </a:p>
          <a:p xmlns:a="http://schemas.openxmlformats.org/drawingml/2006/main">
            <a:r>
              <a:t>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"44238aecdfa68974febce93cd262e119492da76910929b96da438d8b6ee7a9b3",</a:t>
            </a:r>
          </a:p>
          <a:p xmlns:a="http://schemas.openxmlformats.org/drawingml/2006/main">
            <a:r>
              <a:t>          "provider": "한국관광 데이터랩",</a:t>
            </a:r>
          </a:p>
          <a:p xmlns:a="http://schemas.openxmlformats.org/drawingml/2006/main">
            <a:r>
              <a:t>          "file_name": "20260820160334_문경찻사발축제_성_연령별 내국인 방문자.csv",</a:t>
            </a:r>
          </a:p>
          <a:p xmlns:a="http://schemas.openxmlformats.org/drawingml/2006/main">
            <a:r>
              <a:t>          "source_id": "festival-file:44238aecdfa68974febc",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"eadf4622620ddb1575df5f358ec588aeed8718c09e0998a19494cf0f3cfe0f16",</a:t>
            </a:r>
          </a:p>
          <a:p xmlns:a="http://schemas.openxmlformats.org/drawingml/2006/main">
            <a:r>
              <a:t>          "provider": "한국관광 데이터랩",</a:t>
            </a:r>
          </a:p>
          <a:p xmlns:a="http://schemas.openxmlformats.org/drawingml/2006/main">
            <a:r>
              <a:t>          "file_name": "20260820160334_문경찻사발축제_문화관광축제 주요 지표.csv",</a:t>
            </a:r>
          </a:p>
          <a:p xmlns:a="http://schemas.openxmlformats.org/drawingml/2006/main">
            <a:r>
              <a:t>          "source_id": "festival-file:eadf4622620ddb1575df",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"343671c431cfa7e76ba333ca2ea221803e111e0db5e9a51c6d387b0ba5d7eeaf",</a:t>
            </a:r>
          </a:p>
          <a:p xmlns:a="http://schemas.openxmlformats.org/drawingml/2006/main">
            <a:r>
              <a:t>          "provider": "한국관광 데이터랩",</a:t>
            </a:r>
          </a:p>
          <a:p xmlns:a="http://schemas.openxmlformats.org/drawingml/2006/main">
            <a:r>
              <a:t>          "file_name": "20260820160334_문경찻사발축제_목적지 검색순위.csv",</a:t>
            </a:r>
          </a:p>
          <a:p xmlns:a="http://schemas.openxmlformats.org/drawingml/2006/main">
            <a:r>
              <a:t>          "source_id": "festival-file:343671c431cfa7e76ba3",</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"case_study",</a:t>
            </a:r>
          </a:p>
          <a:p xmlns:a="http://schemas.openxmlformats.org/drawingml/2006/main">
            <a:r>
              <a:t>      "evidence_kind": "festival_statistics",</a:t>
            </a:r>
          </a:p>
          <a:p xmlns:a="http://schemas.openxmlformats.org/drawingml/2006/main">
            <a:r>
              <a:t>      "observed_result": "2024→2025년 전체 245,750→256,570명 (+4.40%). 개최 10→9일, 일평균 +16.00%, 외지인 +9.28%.",</a:t>
            </a:r>
          </a:p>
          <a:p xmlns:a="http://schemas.openxmlformats.org/drawingml/2006/main">
            <a:r>
              <a:t>      "operating_model": "문경찻사발축제를 2025년 9일 개최한 문화관광축제 운영 사례. 세부 프로그램·예약·혜택은 이 CSV에 기록되어 있지 않으며 새로운 운영안은 제안으로 구분한다.",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"역사·공예",</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"datalab_festival_table",</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"2023~2025년 각 축제 개최기간",</a:t>
            </a:r>
          </a:p>
          <a:p xmlns:a="http://schemas.openxmlformats.org/drawingml/2006/main">
            <a:r>
              <a:t>      "festival_statistics": {</a:t>
            </a:r>
          </a:p>
          <a:p xmlns:a="http://schemas.openxmlformats.org/drawingml/2006/main">
            <a:r>
              <a:t>        "name": "문경찻사발축제",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9,</a:t>
            </a:r>
          </a:p>
          <a:p xmlns:a="http://schemas.openxmlformats.org/drawingml/2006/main">
            <a:r>
              <a:t>            "year": 2023,</a:t>
            </a:r>
          </a:p>
          <a:p xmlns:a="http://schemas.openxmlformats.org/drawingml/2006/main">
            <a:r>
              <a:t>            "daily": 23055.333333333332,</a:t>
            </a:r>
          </a:p>
          <a:p xmlns:a="http://schemas.openxmlformats.org/drawingml/2006/main">
            <a:r>
              <a:t>            "local": 59726,</a:t>
            </a:r>
          </a:p>
          <a:p xmlns:a="http://schemas.openxmlformats.org/drawingml/2006/main">
            <a:r>
              <a:t>            "total": 207498,</a:t>
            </a:r>
          </a:p>
          <a:p xmlns:a="http://schemas.openxmlformats.org/drawingml/2006/main">
            <a:r>
              <a:t>            "foreign": 1241,</a:t>
            </a:r>
          </a:p>
          <a:p xmlns:a="http://schemas.openxmlformats.org/drawingml/2006/main">
            <a:r>
              <a:t>            "outside": 146531,</a:t>
            </a:r>
          </a:p>
          <a:p xmlns:a="http://schemas.openxmlformats.org/drawingml/2006/main">
            <a:r>
              <a:t>            "outside_daily": 16281.222222222224,</a:t>
            </a:r>
          </a:p>
          <a:p xmlns:a="http://schemas.openxmlformats.org/drawingml/2006/main">
            <a:r>
              <a:t>            "outside_share_pct": 70.61803005330172</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24575,</a:t>
            </a:r>
          </a:p>
          <a:p xmlns:a="http://schemas.openxmlformats.org/drawingml/2006/main">
            <a:r>
              <a:t>            "local": 64582,</a:t>
            </a:r>
          </a:p>
          <a:p xmlns:a="http://schemas.openxmlformats.org/drawingml/2006/main">
            <a:r>
              <a:t>            "total": 245750,</a:t>
            </a:r>
          </a:p>
          <a:p xmlns:a="http://schemas.openxmlformats.org/drawingml/2006/main">
            <a:r>
              <a:t>            "foreign": 1170,</a:t>
            </a:r>
          </a:p>
          <a:p xmlns:a="http://schemas.openxmlformats.org/drawingml/2006/main">
            <a:r>
              <a:t>            "outside": 179998,</a:t>
            </a:r>
          </a:p>
          <a:p xmlns:a="http://schemas.openxmlformats.org/drawingml/2006/main">
            <a:r>
              <a:t>            "outside_daily": 17999.8,</a:t>
            </a:r>
          </a:p>
          <a:p xmlns:a="http://schemas.openxmlformats.org/drawingml/2006/main">
            <a:r>
              <a:t>            "outside_share_pct": 73.2443540183113</a:t>
            </a:r>
          </a:p>
          <a:p xmlns:a="http://schemas.openxmlformats.org/drawingml/2006/main">
            <a:r>
              <a:t>          },</a:t>
            </a:r>
          </a:p>
          <a:p xmlns:a="http://schemas.openxmlformats.org/drawingml/2006/main">
            <a:r>
              <a:t>          {</a:t>
            </a:r>
          </a:p>
          <a:p xmlns:a="http://schemas.openxmlformats.org/drawingml/2006/main">
            <a:r>
              <a:t>            "days": 9,</a:t>
            </a:r>
          </a:p>
          <a:p xmlns:a="http://schemas.openxmlformats.org/drawingml/2006/main">
            <a:r>
              <a:t>            "year": 2025,</a:t>
            </a:r>
          </a:p>
          <a:p xmlns:a="http://schemas.openxmlformats.org/drawingml/2006/main">
            <a:r>
              <a:t>            "daily": 28507.777777777777,</a:t>
            </a:r>
          </a:p>
          <a:p xmlns:a="http://schemas.openxmlformats.org/drawingml/2006/main">
            <a:r>
              <a:t>            "local": 58704,</a:t>
            </a:r>
          </a:p>
          <a:p xmlns:a="http://schemas.openxmlformats.org/drawingml/2006/main">
            <a:r>
              <a:t>            "total": 256570,</a:t>
            </a:r>
          </a:p>
          <a:p xmlns:a="http://schemas.openxmlformats.org/drawingml/2006/main">
            <a:r>
              <a:t>            "foreign": 1166,</a:t>
            </a:r>
          </a:p>
          <a:p xmlns:a="http://schemas.openxmlformats.org/drawingml/2006/main">
            <a:r>
              <a:t>            "outside": 196700,</a:t>
            </a:r>
          </a:p>
          <a:p xmlns:a="http://schemas.openxmlformats.org/drawingml/2006/main">
            <a:r>
              <a:t>            "outside_daily": 21855.555555555555,</a:t>
            </a:r>
          </a:p>
          <a:p xmlns:a="http://schemas.openxmlformats.org/drawingml/2006/main">
            <a:r>
              <a:t>            "outside_share_pct": 76.66523755700199</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"문경찻사발축제",</a:t>
            </a:r>
          </a:p>
          <a:p xmlns:a="http://schemas.openxmlformats.org/drawingml/2006/main">
            <a:r>
              <a:t>            "남성비율": "4.0",</a:t>
            </a:r>
          </a:p>
          <a:p xmlns:a="http://schemas.openxmlformats.org/drawingml/2006/main">
            <a:r>
              <a:t>            "여성비율": "3.8"</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"문경찻사발축제",</a:t>
            </a:r>
          </a:p>
          <a:p xmlns:a="http://schemas.openxmlformats.org/drawingml/2006/main">
            <a:r>
              <a:t>            "남성비율": "12.3",</a:t>
            </a:r>
          </a:p>
          <a:p xmlns:a="http://schemas.openxmlformats.org/drawingml/2006/main">
            <a:r>
              <a:t>            "여성비율": "10.0"</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"문경찻사발축제",</a:t>
            </a:r>
          </a:p>
          <a:p xmlns:a="http://schemas.openxmlformats.org/drawingml/2006/main">
            <a:r>
              <a:t>            "남성비율": "13.0",</a:t>
            </a:r>
          </a:p>
          <a:p xmlns:a="http://schemas.openxmlformats.org/drawingml/2006/main">
            <a:r>
              <a:t>            "여성비율": "11.7"</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"문경찻사발축제",</a:t>
            </a:r>
          </a:p>
          <a:p xmlns:a="http://schemas.openxmlformats.org/drawingml/2006/main">
            <a:r>
              <a:t>            "남성비율": "9.3",</a:t>
            </a:r>
          </a:p>
          <a:p xmlns:a="http://schemas.openxmlformats.org/drawingml/2006/main">
            <a:r>
              <a:t>            "여성비율": "7.6"</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"문경찻사발축제",</a:t>
            </a:r>
          </a:p>
          <a:p xmlns:a="http://schemas.openxmlformats.org/drawingml/2006/main">
            <a:r>
              <a:t>            "남성비율": "7.2",</a:t>
            </a:r>
          </a:p>
          <a:p xmlns:a="http://schemas.openxmlformats.org/drawingml/2006/main">
            <a:r>
              <a:t>            "여성비율": "6.1"</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"문경찻사발축제",</a:t>
            </a:r>
          </a:p>
          <a:p xmlns:a="http://schemas.openxmlformats.org/drawingml/2006/main">
            <a:r>
              <a:t>            "남성비율": "4.6",</a:t>
            </a:r>
          </a:p>
          <a:p xmlns:a="http://schemas.openxmlformats.org/drawingml/2006/main">
            <a:r>
              <a:t>            "여성비율": "4.1"</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"문경찻사발축제",</a:t>
            </a:r>
          </a:p>
          <a:p xmlns:a="http://schemas.openxmlformats.org/drawingml/2006/main">
            <a:r>
              <a:t>            "남성비율": "2.5",</a:t>
            </a:r>
          </a:p>
          <a:p xmlns:a="http://schemas.openxmlformats.org/drawingml/2006/main">
            <a:r>
              <a:t>            "여성비율": "2.5"</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"문경찻사발축제",</a:t>
            </a:r>
          </a:p>
          <a:p xmlns:a="http://schemas.openxmlformats.org/drawingml/2006/main">
            <a:r>
              <a:t>            "남성비율": "0.6",</a:t>
            </a:r>
          </a:p>
          <a:p xmlns:a="http://schemas.openxmlformats.org/drawingml/2006/main">
            <a:r>
              <a:t>            "여성비율": "0.6"</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28507.777777777777,</a:t>
            </a:r>
          </a:p>
          <a:p xmlns:a="http://schemas.openxmlformats.org/drawingml/2006/main">
            <a:r>
              <a:t>            "before": 24575,</a:t>
            </a:r>
          </a:p>
          <a:p xmlns:a="http://schemas.openxmlformats.org/drawingml/2006/main">
            <a:r>
              <a:t>            "change_pct": 16.00316491466034,</a:t>
            </a:r>
          </a:p>
          <a:p xmlns:a="http://schemas.openxmlformats.org/drawingml/2006/main">
            <a:r>
              <a:t>            "difference": 3932.7777777777774</a:t>
            </a:r>
          </a:p>
          <a:p xmlns:a="http://schemas.openxmlformats.org/drawingml/2006/main">
            <a:r>
              <a:t>          },</a:t>
            </a:r>
          </a:p>
          <a:p xmlns:a="http://schemas.openxmlformats.org/drawingml/2006/main">
            <a:r>
              <a:t>          "total": {</a:t>
            </a:r>
          </a:p>
          <a:p xmlns:a="http://schemas.openxmlformats.org/drawingml/2006/main">
            <a:r>
              <a:t>            "after": 256570,</a:t>
            </a:r>
          </a:p>
          <a:p xmlns:a="http://schemas.openxmlformats.org/drawingml/2006/main">
            <a:r>
              <a:t>            "before": 245750,</a:t>
            </a:r>
          </a:p>
          <a:p xmlns:a="http://schemas.openxmlformats.org/drawingml/2006/main">
            <a:r>
              <a:t>            "change_pct": 4.402848423194294,</a:t>
            </a:r>
          </a:p>
          <a:p xmlns:a="http://schemas.openxmlformats.org/drawingml/2006/main">
            <a:r>
              <a:t>            "difference": 10820</a:t>
            </a:r>
          </a:p>
          <a:p xmlns:a="http://schemas.openxmlformats.org/drawingml/2006/main">
            <a:r>
              <a:t>          },</a:t>
            </a:r>
          </a:p>
          <a:p xmlns:a="http://schemas.openxmlformats.org/drawingml/2006/main">
            <a:r>
              <a:t>          "outside": {</a:t>
            </a:r>
          </a:p>
          <a:p xmlns:a="http://schemas.openxmlformats.org/drawingml/2006/main">
            <a:r>
              <a:t>            "after": 196700,</a:t>
            </a:r>
          </a:p>
          <a:p xmlns:a="http://schemas.openxmlformats.org/drawingml/2006/main">
            <a:r>
              <a:t>            "before": 179998,</a:t>
            </a:r>
          </a:p>
          <a:p xmlns:a="http://schemas.openxmlformats.org/drawingml/2006/main">
            <a:r>
              <a:t>            "change_pct": 9.278991988799866,</a:t>
            </a:r>
          </a:p>
          <a:p xmlns:a="http://schemas.openxmlformats.org/drawingml/2006/main">
            <a:r>
              <a:t>            "difference": 16702</a:t>
            </a:r>
          </a:p>
          <a:p xmlns:a="http://schemas.openxmlformats.org/drawingml/2006/main">
            <a:r>
              <a:t>          },</a:t>
            </a:r>
          </a:p>
          <a:p xmlns:a="http://schemas.openxmlformats.org/drawingml/2006/main">
            <a:r>
              <a:t>          "after_days": 9,</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21855.555555555555,</a:t>
            </a:r>
          </a:p>
          <a:p xmlns:a="http://schemas.openxmlformats.org/drawingml/2006/main">
            <a:r>
              <a:t>            "before": 17999.8,</a:t>
            </a:r>
          </a:p>
          <a:p xmlns:a="http://schemas.openxmlformats.org/drawingml/2006/main">
            <a:r>
              <a:t>            "change_pct": 21.421102209777644,</a:t>
            </a:r>
          </a:p>
          <a:p xmlns:a="http://schemas.openxmlformats.org/drawingml/2006/main">
            <a:r>
              <a:t>            "difference": 3855.755555555555</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"0.414",</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"0.273",</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"0.536",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"0.716",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"0.217",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"0.725",</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"0.148",</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"0.381",</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"0.607",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"문경새재",</a:t>
            </a:r>
          </a:p>
          <a:p xmlns:a="http://schemas.openxmlformats.org/drawingml/2006/main">
            <a:r>
              <a:t>            "카테고리": "역사유적지",</a:t>
            </a:r>
          </a:p>
          <a:p xmlns:a="http://schemas.openxmlformats.org/drawingml/2006/main">
            <a:r>
              <a:t>            "도로명주소": "경북 문경시 새재로 932-0"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"문경종합온천",</a:t>
            </a:r>
          </a:p>
          <a:p xmlns:a="http://schemas.openxmlformats.org/drawingml/2006/main">
            <a:r>
              <a:t>            "카테고리": "웰니스관광",</a:t>
            </a:r>
          </a:p>
          <a:p xmlns:a="http://schemas.openxmlformats.org/drawingml/2006/main">
            <a:r>
              <a:t>            "도로명주소": "경북 문경시 온천2길 24-0"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"문경찻사발축제",</a:t>
            </a:r>
          </a:p>
          <a:p xmlns:a="http://schemas.openxmlformats.org/drawingml/2006/main">
            <a:r>
              <a:t>            "카테고리": "기타문화관광지",</a:t>
            </a:r>
          </a:p>
          <a:p xmlns:a="http://schemas.openxmlformats.org/drawingml/2006/main">
            <a:r>
              <a:t>            "도로명주소": "경북 문경시 새재로 933-0"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"operating_statistics":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"incheon_official.jpg",</a:t>
            </a:r>
          </a:p>
          <a:p xmlns:a="http://schemas.openxmlformats.org/drawingml/2006/main">
            <a:r>
              <a:t>      "caption": "유사 사업 참고 · 인천 섬 · 로컬체험 여행 소개 사진",</a:t>
            </a:r>
          </a:p>
          <a:p xmlns:a="http://schemas.openxmlformats.org/drawingml/2006/main">
            <a:r>
              <a:t>      "credit": "인천광역시 섬포털",</a:t>
            </a:r>
          </a:p>
          <a:p xmlns:a="http://schemas.openxmlformats.org/drawingml/2006/main">
            <a:r>
              <a:t>      "page_url": "https://isum.incheon.go.kr/theme/themeContent.do?key=2407020018",</a:t>
            </a:r>
          </a:p>
          <a:p xmlns:a="http://schemas.openxmlformats.org/drawingml/2006/main">
            <a:r>
              <a:t>      "image_url": "https://isum.incheon.go.kr/resource/www/images/sub/theme_local.jpg",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"jeongdong_2024.jpg",</a:t>
            </a:r>
          </a:p>
          <a:p xmlns:a="http://schemas.openxmlformats.org/drawingml/2006/main">
            <a:r>
              <a:t>      "caption": "유사 사업 참고 · 서울 중구 정동야행 · 문화행사 참고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"task": "참여 업체 및 환급 기준 확정", "schedule": "2026-10", "deliverable": "참여 업체 명단 및 운영 지침(안) 확보 필요 (기획 가정 단계)"}, {"step": 2, "task": "증빙 및 환급 시스템 점검", "schedule": "2026-10", "deliverable": "지출 증빙(영수증 등) 확인 절차 및 중복 수혜 방지 로직 검증"}, {"step": 3, "task": "시범 운영 및 모니터링", "schedule": "2026-11", "deliverable": "주간 단위 신청·승인·결제 원장 집계"}, {"step": 4, "task": "성과 데이터 수집 및 분석", "schedule": "2026-12", "deliverable": "환급액 대비 재결제액 및 이용률 보고서"}, {"step": 5, "task": "사업 지속 여부 검토", "schedule": "2026-12", "deliverable": "기준선 대비 성과 비교를 통한 확대/중단 결정"}]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방문자/2025_01_12.zip | https://datalab.visitkorea.or.kr/</a:t>
            </a:r>
          </a:p>
          <a:p>
            <a:r>
              <a:t>datalab:162285800b98:dbba3ac2e220 | 관광소비/2025_01_12.zip | https://datalab.visitkorea.or.kr/</a:t>
            </a:r>
          </a:p>
          <a:p>
            <a:r>
              <a:t>datalab:1bec5b4405e1:6c5494eef7c6 | 숙박_체류시간/2025_01_12.zip | https://datalab.visitkorea.or.kr/</a:t>
            </a:r>
          </a:p>
          <a:p>
            <a:r>
              <a:t>datalab:7a4db91d6ba9:d81294f3e5a0 | 관광소비/2026_01_06.zip | https://datalab.visitkorea.or.kr/</a:t>
            </a:r>
          </a:p>
          <a:p>
            <a:r>
              <a:t>datalab:cc1dc8fb5607:77f3b69cfb89 | 방문자/2026_01_06.zip | https://datalab.visitkorea.or.kr/</a:t>
            </a:r>
          </a:p>
          <a:p>
            <a:r>
              <a:t>datalab:e53d144382ee:fc025995a6df | 숙박_체류시간/2026_01_06.zip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case:festival:01474ef75569b1 | 한국관광 데이터랩 · 문경찻사발축제 방문자 추이 | https://datalab.visitkorea.or.kr/</a:t>
            </a:r>
          </a:p>
          <a:p>
            <a:r>
              <a:t>case:festival:0e9c7c065555b0 | 한국관광 데이터랩 · 안동탈춤축제 방문자 추이 | https://datalab.visitkorea.or.kr/</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case:festival:1ff9d11d3ee0ee | 한국관광 데이터랩 · 진도신비의바닷길축제 방문자 추이 | https://datalab.visitkorea.or.kr/</a:t>
            </a:r>
          </a:p>
          <a:p>
            <a:r>
              <a:t>case:festival:1ffc3eec28956a | 한국관광 데이터랩 · 통영한산대첩축제 방문자 추이 | https://datalab.visitkorea.or.kr/</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"source_file_name": "대전광역시_서구/방문자/2025_01_12.zip"</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"source_file_name": "대전광역시_서구/관광소비/2025_01_12.zip"</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"source_file_name": "대전광역시_서구/숙박_체류시간/2025_01_12.zip"</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"source_file_name": "대전광역시_서구/관광소비/2026_01_06.zip"</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"source_file_name": "대전광역시_서구/방문자/2026_01_06.zip"</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"source_file_name": "대전광역시_서구/숙박_체류시간/2026_01_06.zip"</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방문자수/20260820140607__202601-202606_데이터랩_다운로드.zip"</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"이동통신/외국인/20260820141710_전국_202601-202606_데이터랩_다운로드.zip"</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"신용카드/내국인/지역별 관광지출액/20260820140046__202601-202606_데이터랩_다운로드.zip"</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"신용카드/외국인/지역별 관광지출액/20260820140355__202601-202606_데이터랩_다운로드.zip"</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"네비게이션/지역별 검색건수/20260820195507__202601-202606_데이터랩_다운로드.zip"</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방문자수/20260820140614__202501-202512_데이터랩_다운로드.zip"</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"이동통신/외국인/20260820141649_전국_202501-202512_데이터랩_다운로드.zip"</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"신용카드/내국인/지역별 관광지출액/20260820135957__202501-202512_데이터랩_다운로드.zip"</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"신용카드/외국인/지역별 관광지출액/20260820140409__202501-202512_데이터랩_다운로드.zip"</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"네비게이션/지역별 검색건수/20260820132007__202501-202512_데이터랩_다운로드.zip"</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방문자수/20260820140624__202401-202412_데이터랩_다운로드.zip"</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"이동통신/외국인/20260820141639_전국_202401-202412_데이터랩_다운로드.zip"</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"한국관광 데이터랩 · 안동탈춤축제 방문자 추이",</a:t>
            </a:r>
          </a:p>
          <a:p>
            <a:r>
              <a:t>      "summary": "경상북도 안동시 · 안동탈춤축제 · 2024→2025년 전체 504,573→554,494명 (+9.89%). 개최 10→10일, 일평균 +9.89%, 외지인 +10.75%.",</a:t>
            </a:r>
          </a:p>
          <a:p>
            <a:r>
              <a:t>      "source_id": "case:festival:0e9c7c065555b0",</a:t>
            </a:r>
          </a:p>
          <a:p>
            <a:r>
              <a:t>      "source_url": "https://datalab.visitkorea.or.kr/",</a:t>
            </a:r>
          </a:p>
          <a:p>
            <a:r>
              <a:t>      "case_region": "경상북도 안동시",</a:t>
            </a:r>
          </a:p>
          <a:p>
            <a:r>
              <a:t>      "source_type": "benchmark_case",</a:t>
            </a:r>
          </a:p>
          <a:p>
            <a:r>
              <a:t>      "dataset_hash": "ad20e3daf70fd44fd481d672398c07bb9c96fce77acb450784065a568735e2e2",</a:t>
            </a:r>
          </a:p>
          <a:p>
            <a:r>
              <a:t>      "intervention": "안동탈춤축제",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504,573→554,494명 (+9.89%). 개최 10→10일, 일평균 +9.89%, 외지인 +10.75%.",</a:t>
            </a:r>
          </a:p>
          <a:p>
            <a:r>
              <a:t>      "operating_model": "안동탈춤축제를 2025년 10일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"operating_statistics": [],</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"한국관광 데이터랩 · 진도신비의바닷길축제 방문자 추이",</a:t>
            </a:r>
          </a:p>
          <a:p>
            <a:r>
              <a:t>      "summary": "전라남도 진도군 · 진도신비의바닷길축제 · 2024→2025년 전체 28,171→43,973명 (+56.09%). 개최 3→4일, 일평균 +17.07%, 외지인 +89.98%.",</a:t>
            </a:r>
          </a:p>
          <a:p>
            <a:r>
              <a:t>      "source_id": "case:festival:1ff9d11d3ee0ee",</a:t>
            </a:r>
          </a:p>
          <a:p>
            <a:r>
              <a:t>      "source_url": "https://datalab.visitkorea.or.kr/",</a:t>
            </a:r>
          </a:p>
          <a:p>
            <a:r>
              <a:t>      "case_region": "전라남도 진도군",</a:t>
            </a:r>
          </a:p>
          <a:p>
            <a:r>
              <a:t>      "source_type": "benchmark_case",</a:t>
            </a:r>
          </a:p>
          <a:p>
            <a:r>
              <a:t>      "dataset_hash": "ad20e3daf70fd44fd481d672398c07bb9c96fce77acb450784065a568735e2e2",</a:t>
            </a:r>
          </a:p>
          <a:p>
            <a:r>
              <a:t>      "intervention": "진도신비의바닷길축제",</a:t>
            </a:r>
          </a:p>
          <a:p>
            <a:r>
              <a:t>      "source_files": [</a:t>
            </a:r>
          </a:p>
          <a:p>
            <a:r>
              <a:t>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a:t>
            </a:r>
          </a:p>
          <a:p>
            <a:r>
              <a:t>          "sha256": "cb3424e725c84352d81fdb987f6d3ade162f54f63a9590ac8730dddcfcc48ed7",</a:t>
            </a:r>
          </a:p>
          <a:p>
            <a:r>
              <a:t>          "provider": "한국관광 데이터랩",</a:t>
            </a:r>
          </a:p>
          <a:p>
            <a:r>
              <a:t>          "file_name": "20260820182448_진도신비의바닷길축제_성_연령별 내국인 방문자.csv",</a:t>
            </a:r>
          </a:p>
          <a:p>
            <a:r>
              <a:t>          "source_id": "festival-file:cb3424e725c84352d81f",</a:t>
            </a:r>
          </a:p>
          <a:p>
            <a:r>
              <a:t>          "source_url": "https://datalab.visitkorea.or.kr/",</a:t>
            </a:r>
          </a:p>
          <a:p>
            <a:r>
              <a:t>          "downloaded_at": "2026-08-20",</a:t>
            </a:r>
          </a:p>
          <a:p>
            <a:r>
              <a:t>          "relative_path": "data/source_snapshots/festivals_20260820/69. 진도신비의바닷길축제_2023-2025/20260820182448_진도신비의바닷길축제_성_연령별 내국인 방문자.csv",</a:t>
            </a:r>
          </a:p>
          <a:p>
            <a:r>
              <a:t>          "provenance_status": "team_download_exact_query_url_unrecorded"</a:t>
            </a:r>
          </a:p>
          <a:p>
            <a:r>
              <a:t>        },</a:t>
            </a:r>
          </a:p>
          <a:p>
            <a:r>
              <a:t>        {</a:t>
            </a:r>
          </a:p>
          <a:p>
            <a:r>
              <a:t>          "sha256": "c9332a0e0d15d1550b1b545b8b739cc6a919a13ca701800d87203b06b2fecd46",</a:t>
            </a:r>
          </a:p>
          <a:p>
            <a:r>
              <a:t>          "provider": "한국관광 데이터랩",</a:t>
            </a:r>
          </a:p>
          <a:p>
            <a:r>
              <a:t>          "file_name": "20260820182448_진도신비의바닷길축제_문화관광축제 주요 지표.csv",</a:t>
            </a:r>
          </a:p>
          <a:p>
            <a:r>
              <a:t>          "source_id": "festival-file:c9332a0e0d15d1550b1b",</a:t>
            </a:r>
          </a:p>
          <a:p>
            <a:r>
              <a:t>          "source_url": "https://datalab.visitkorea.or.kr/",</a:t>
            </a:r>
          </a:p>
          <a:p>
            <a:r>
              <a:t>          "downloaded_at": "2026-08-20",</a:t>
            </a:r>
          </a:p>
          <a:p>
            <a:r>
              <a:t>          "relative_path": "data/source_snapshots/festivals_20260820/69. 진도신비의바닷길축제_2023-2025/20260820182448_진도신비의바닷길축제_문화관광축제 주요 지표.csv",</a:t>
            </a:r>
          </a:p>
          <a:p>
            <a:r>
              <a:t>          "provenance_status": "team_download_exact_query_url_unrecorded"</a:t>
            </a:r>
          </a:p>
          <a:p>
            <a:r>
              <a:t>        },</a:t>
            </a:r>
          </a:p>
          <a:p>
            <a:r>
              <a:t>        {</a:t>
            </a:r>
          </a:p>
          <a:p>
            <a:r>
              <a:t>          "sha256": "b8aa76a62ac8159da3b9234363c8c0026f70875997af88b4e750f2f6154c65ae",</a:t>
            </a:r>
          </a:p>
          <a:p>
            <a:r>
              <a:t>          "provider": "한국관광 데이터랩",</a:t>
            </a:r>
          </a:p>
          <a:p>
            <a:r>
              <a:t>          "file_name": "20260820182448_진도신비의바닷길축제_목적지 검색순위.csv",</a:t>
            </a:r>
          </a:p>
          <a:p>
            <a:r>
              <a:t>          "source_id": "festival-file:b8aa76a62ac8159da3b9",</a:t>
            </a:r>
          </a:p>
          <a:p>
            <a:r>
              <a:t>          "source_url": "https://datalab.visitkorea.or.kr/",</a:t>
            </a:r>
          </a:p>
          <a:p>
            <a:r>
              <a:t>          "downloaded_at": "2026-08-20",</a:t>
            </a:r>
          </a:p>
          <a:p>
            <a:r>
              <a:t>          "relative_path": "data/source_snapshots/festivals_20260820/69. 진도신비의바닷길축제_2023-2025/20260820182448_진도신비의바닷길축제_목적지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28,171→43,973명 (+56.09%). 개최 3→4일, 일평균 +17.07%, 외지인 +89.98%.",</a:t>
            </a:r>
          </a:p>
          <a:p>
            <a:r>
              <a:t>      "operating_model": "진도신비의바닷길축제를 2025년 4일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"자연·야외",</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"진도신비의바닷길축제",</a:t>
            </a:r>
          </a:p>
          <a:p>
            <a:r>
              <a:t>        "scope": "축제 관측구역 방문 지표. 도시 전체·순증 관광객·입장권 실구매자 수가 아님.",</a:t>
            </a:r>
          </a:p>
          <a:p>
            <a:r>
              <a:t>        "annual": [</a:t>
            </a:r>
          </a:p>
          <a:p>
            <a:r>
              <a:t>          {</a:t>
            </a:r>
          </a:p>
          <a:p>
            <a:r>
              <a:t>            "days": 3,</a:t>
            </a:r>
          </a:p>
          <a:p>
            <a:r>
              <a:t>            "year": 2023,</a:t>
            </a:r>
          </a:p>
          <a:p>
            <a:r>
              <a:t>            "daily": 11185.333333333334,</a:t>
            </a:r>
          </a:p>
          <a:p>
            <a:r>
              <a:t>            "local": 12120,</a:t>
            </a:r>
          </a:p>
          <a:p>
            <a:r>
              <a:t>            "total": 33556,</a:t>
            </a:r>
          </a:p>
          <a:p>
            <a:r>
              <a:t>            "foreign": 278,</a:t>
            </a:r>
          </a:p>
          <a:p>
            <a:r>
              <a:t>            "outside": 21158,</a:t>
            </a:r>
          </a:p>
          <a:p>
            <a:r>
              <a:t>            "outside_daily": 7052.666666666667,</a:t>
            </a:r>
          </a:p>
          <a:p>
            <a:r>
              <a:t>            "outside_share_pct": 63.05280724758613</a:t>
            </a:r>
          </a:p>
          <a:p>
            <a:r>
              <a:t>          },</a:t>
            </a:r>
          </a:p>
          <a:p>
            <a:r>
              <a:t>          {</a:t>
            </a:r>
          </a:p>
          <a:p>
            <a:r>
              <a:t>            "days": 3,</a:t>
            </a:r>
          </a:p>
          <a:p>
            <a:r>
              <a:t>            "year": 2024,</a:t>
            </a:r>
          </a:p>
          <a:p>
            <a:r>
              <a:t>            "daily": 9390.333333333334,</a:t>
            </a:r>
          </a:p>
          <a:p>
            <a:r>
              <a:t>            "local": 13068,</a:t>
            </a:r>
          </a:p>
          <a:p>
            <a:r>
              <a:t>            "total": 28171,</a:t>
            </a:r>
          </a:p>
          <a:p>
            <a:r>
              <a:t>            "foreign": 223,</a:t>
            </a:r>
          </a:p>
          <a:p>
            <a:r>
              <a:t>            "outside": 14880,</a:t>
            </a:r>
          </a:p>
          <a:p>
            <a:r>
              <a:t>            "outside_daily": 4960,</a:t>
            </a:r>
          </a:p>
          <a:p>
            <a:r>
              <a:t>            "outside_share_pct": 52.82027617052998</a:t>
            </a:r>
          </a:p>
          <a:p>
            <a:r>
              <a:t>          },</a:t>
            </a:r>
          </a:p>
          <a:p>
            <a:r>
              <a:t>          {</a:t>
            </a:r>
          </a:p>
          <a:p>
            <a:r>
              <a:t>            "days": 4,</a:t>
            </a:r>
          </a:p>
          <a:p>
            <a:r>
              <a:t>            "year": 2025,</a:t>
            </a:r>
          </a:p>
          <a:p>
            <a:r>
              <a:t>            "daily": 10993.25,</a:t>
            </a:r>
          </a:p>
          <a:p>
            <a:r>
              <a:t>            "local": 15345,</a:t>
            </a:r>
          </a:p>
          <a:p>
            <a:r>
              <a:t>            "total": 43973,</a:t>
            </a:r>
          </a:p>
          <a:p>
            <a:r>
              <a:t>            "foreign": 359,</a:t>
            </a:r>
          </a:p>
          <a:p>
            <a:r>
              <a:t>            "outside": 28269,</a:t>
            </a:r>
          </a:p>
          <a:p>
            <a:r>
              <a:t>            "outside_daily": 7067.25,</a:t>
            </a:r>
          </a:p>
          <a:p>
            <a:r>
              <a:t>            "outside_share_pct": 64.28717622177244</a:t>
            </a:r>
          </a:p>
          <a:p>
            <a:r>
              <a:t>          }</a:t>
            </a:r>
          </a:p>
          <a:p>
            <a:r>
              <a:t>        ],</a:t>
            </a:r>
          </a:p>
          <a:p>
            <a:r>
              <a:t>        "audience": [</a:t>
            </a:r>
          </a:p>
          <a:p>
            <a:r>
              <a:t>          {</a:t>
            </a:r>
          </a:p>
          <a:p>
            <a:r>
              <a:t>            "연령대": "70세 이상",</a:t>
            </a:r>
          </a:p>
          <a:p>
            <a:r>
              <a:t>            "축제명": "진도신비의바닷길축제",</a:t>
            </a:r>
          </a:p>
          <a:p>
            <a:r>
              <a:t>            "남성비율": "7.4",</a:t>
            </a:r>
          </a:p>
          <a:p>
            <a:r>
              <a:t>            "여성비율": "6.8"</a:t>
            </a:r>
          </a:p>
          <a:p>
            <a:r>
              <a:t>          },</a:t>
            </a:r>
          </a:p>
          <a:p>
            <a:r>
              <a:t>          {</a:t>
            </a:r>
          </a:p>
          <a:p>
            <a:r>
              <a:t>            "연령대": "60~69세",</a:t>
            </a:r>
          </a:p>
          <a:p>
            <a:r>
              <a:t>            "축제명": "진도신비의바닷길축제",</a:t>
            </a:r>
          </a:p>
          <a:p>
            <a:r>
              <a:t>            "남성비율": "13.8",</a:t>
            </a:r>
          </a:p>
          <a:p>
            <a:r>
              <a:t>            "여성비율": "14.3"</a:t>
            </a:r>
          </a:p>
          <a:p>
            <a:r>
              <a:t>          },</a:t>
            </a:r>
          </a:p>
          <a:p>
            <a:r>
              <a:t>          {</a:t>
            </a:r>
          </a:p>
          <a:p>
            <a:r>
              <a:t>            "연령대": "50~59세",</a:t>
            </a:r>
          </a:p>
          <a:p>
            <a:r>
              <a:t>            "축제명": "진도신비의바닷길축제",</a:t>
            </a:r>
          </a:p>
          <a:p>
            <a:r>
              <a:t>            "남성비율": "10.7",</a:t>
            </a:r>
          </a:p>
          <a:p>
            <a:r>
              <a:t>            "여성비율": "11.5"</a:t>
            </a:r>
          </a:p>
          <a:p>
            <a:r>
              <a:t>          },</a:t>
            </a:r>
          </a:p>
          <a:p>
            <a:r>
              <a:t>          {</a:t>
            </a:r>
          </a:p>
          <a:p>
            <a:r>
              <a:t>            "연령대": "40~49세",</a:t>
            </a:r>
          </a:p>
          <a:p>
            <a:r>
              <a:t>            "축제명": "진도신비의바닷길축제",</a:t>
            </a:r>
          </a:p>
          <a:p>
            <a:r>
              <a:t>            "남성비율": "7.7",</a:t>
            </a:r>
          </a:p>
          <a:p>
            <a:r>
              <a:t>            "여성비율": "4.9"</a:t>
            </a:r>
          </a:p>
          <a:p>
            <a:r>
              <a:t>          },</a:t>
            </a:r>
          </a:p>
          <a:p>
            <a:r>
              <a:t>          {</a:t>
            </a:r>
          </a:p>
          <a:p>
            <a:r>
              <a:t>            "연령대": "30~39세",</a:t>
            </a:r>
          </a:p>
          <a:p>
            <a:r>
              <a:t>            "축제명": "진도신비의바닷길축제",</a:t>
            </a:r>
          </a:p>
          <a:p>
            <a:r>
              <a:t>            "남성비율": "6.8",</a:t>
            </a:r>
          </a:p>
          <a:p>
            <a:r>
              <a:t>            "여성비율": "4.2"</a:t>
            </a:r>
          </a:p>
          <a:p>
            <a:r>
              <a:t>          },</a:t>
            </a:r>
          </a:p>
          <a:p>
            <a:r>
              <a:t>          {</a:t>
            </a:r>
          </a:p>
          <a:p>
            <a:r>
              <a:t>            "연령대": "20~29세",</a:t>
            </a:r>
          </a:p>
          <a:p>
            <a:r>
              <a:t>            "축제명": "진도신비의바닷길축제",</a:t>
            </a:r>
          </a:p>
          <a:p>
            <a:r>
              <a:t>            "남성비율": "5.3",</a:t>
            </a:r>
          </a:p>
          <a:p>
            <a:r>
              <a:t>            "여성비율": "3.0"</a:t>
            </a:r>
          </a:p>
          <a:p>
            <a:r>
              <a:t>          },</a:t>
            </a:r>
          </a:p>
          <a:p>
            <a:r>
              <a:t>          {</a:t>
            </a:r>
          </a:p>
          <a:p>
            <a:r>
              <a:t>            "연령대": "10~19세",</a:t>
            </a:r>
          </a:p>
          <a:p>
            <a:r>
              <a:t>            "축제명": "진도신비의바닷길축제",</a:t>
            </a:r>
          </a:p>
          <a:p>
            <a:r>
              <a:t>            "남성비율": "1.3",</a:t>
            </a:r>
          </a:p>
          <a:p>
            <a:r>
              <a:t>            "여성비율": "1.3"</a:t>
            </a:r>
          </a:p>
          <a:p>
            <a:r>
              <a:t>          },</a:t>
            </a:r>
          </a:p>
          <a:p>
            <a:r>
              <a:t>          {</a:t>
            </a:r>
          </a:p>
          <a:p>
            <a:r>
              <a:t>            "연령대": "0~9세",</a:t>
            </a:r>
          </a:p>
          <a:p>
            <a:r>
              <a:t>            "축제명": "진도신비의바닷길축제",</a:t>
            </a:r>
          </a:p>
          <a:p>
            <a:r>
              <a:t>            "남성비율": "0.5",</a:t>
            </a:r>
          </a:p>
          <a:p>
            <a:r>
              <a:t>            "여성비율": "0.4"</a:t>
            </a:r>
          </a:p>
          <a:p>
            <a:r>
              <a:t>          }</a:t>
            </a:r>
          </a:p>
          <a:p>
            <a:r>
              <a:t>        ],</a:t>
            </a:r>
          </a:p>
          <a:p>
            <a:r>
              <a:t>        "comparison": {</a:t>
            </a:r>
          </a:p>
          <a:p>
            <a:r>
              <a:t>          "daily": {</a:t>
            </a:r>
          </a:p>
          <a:p>
            <a:r>
              <a:t>            "after": 10993.25,</a:t>
            </a:r>
          </a:p>
          <a:p>
            <a:r>
              <a:t>            "before": 9390.333333333334,</a:t>
            </a:r>
          </a:p>
          <a:p>
            <a:r>
              <a:t>            "change_pct": 17.069859074935213,</a:t>
            </a:r>
          </a:p>
          <a:p>
            <a:r>
              <a:t>            "difference": 1602.916666666666</a:t>
            </a:r>
          </a:p>
          <a:p>
            <a:r>
              <a:t>          },</a:t>
            </a:r>
          </a:p>
          <a:p>
            <a:r>
              <a:t>          "total": {</a:t>
            </a:r>
          </a:p>
          <a:p>
            <a:r>
              <a:t>            "after": 43973,</a:t>
            </a:r>
          </a:p>
          <a:p>
            <a:r>
              <a:t>            "before": 28171,</a:t>
            </a:r>
          </a:p>
          <a:p>
            <a:r>
              <a:t>            "change_pct": 56.093145433246946,</a:t>
            </a:r>
          </a:p>
          <a:p>
            <a:r>
              <a:t>            "difference": 15802</a:t>
            </a:r>
          </a:p>
          <a:p>
            <a:r>
              <a:t>          },</a:t>
            </a:r>
          </a:p>
          <a:p>
            <a:r>
              <a:t>          "outside": {</a:t>
            </a:r>
          </a:p>
          <a:p>
            <a:r>
              <a:t>            "after": 28269,</a:t>
            </a:r>
          </a:p>
          <a:p>
            <a:r>
              <a:t>            "before": 14880,</a:t>
            </a:r>
          </a:p>
          <a:p>
            <a:r>
              <a:t>            "change_pct": 89.97983870967742,</a:t>
            </a:r>
          </a:p>
          <a:p>
            <a:r>
              <a:t>            "difference": 13389</a:t>
            </a:r>
          </a:p>
          <a:p>
            <a:r>
              <a:t>          },</a:t>
            </a:r>
          </a:p>
          <a:p>
            <a:r>
              <a:t>          "after_days": 4,</a:t>
            </a:r>
          </a:p>
          <a:p>
            <a:r>
              <a:t>          "after_year": 2025,</a:t>
            </a:r>
          </a:p>
          <a:p>
            <a:r>
              <a:t>          "before_days": 3,</a:t>
            </a:r>
          </a:p>
          <a:p>
            <a:r>
              <a:t>          "before_year": 2024,</a:t>
            </a:r>
          </a:p>
          <a:p>
            <a:r>
              <a:t>          "outside_daily": {</a:t>
            </a:r>
          </a:p>
          <a:p>
            <a:r>
              <a:t>            "after": 7067.25,</a:t>
            </a:r>
          </a:p>
          <a:p>
            <a:r>
              <a:t>            "before": 4960,</a:t>
            </a:r>
          </a:p>
          <a:p>
            <a:r>
              <a:t>            "change_pct": 42.484879032258064,</a:t>
            </a:r>
          </a:p>
          <a:p>
            <a:r>
              <a:t>            "difference": 2107.25</a:t>
            </a:r>
          </a:p>
          <a:p>
            <a:r>
              <a:t>          }</a:t>
            </a:r>
          </a:p>
          <a:p>
            <a:r>
              <a:t>        },</a:t>
            </a:r>
          </a:p>
          <a:p>
            <a:r>
              <a:t>        "source_file":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"0.568",</a:t>
            </a:r>
          </a:p>
          <a:p>
            <a:r>
              <a:t>            "축제명": "진도신비의바닷길축제",</a:t>
            </a:r>
          </a:p>
          <a:p>
            <a:r>
              <a:t>            "개최년도": "2025"</a:t>
            </a:r>
          </a:p>
          <a:p>
            <a:r>
              <a:t>          },</a:t>
            </a:r>
          </a:p>
          <a:p>
            <a:r>
              <a:t>          {</a:t>
            </a:r>
          </a:p>
          <a:p>
            <a:r>
              <a:t>            "구분명": "현지인방문자 유입",</a:t>
            </a:r>
          </a:p>
          <a:p>
            <a:r>
              <a:t>            "그룹명": "축제기간",</a:t>
            </a:r>
          </a:p>
          <a:p>
            <a:r>
              <a:t>            "지표값": "0.858",</a:t>
            </a:r>
          </a:p>
          <a:p>
            <a:r>
              <a:t>            "축제명": "진도신비의바닷길축제",</a:t>
            </a:r>
          </a:p>
          <a:p>
            <a:r>
              <a:t>            "개최년도": "2025"</a:t>
            </a:r>
          </a:p>
          <a:p>
            <a:r>
              <a:t>          },</a:t>
            </a:r>
          </a:p>
          <a:p>
            <a:r>
              <a:t>          {</a:t>
            </a:r>
          </a:p>
          <a:p>
            <a:r>
              <a:t>            "구분명": "내비게이션 검색량",</a:t>
            </a:r>
          </a:p>
          <a:p>
            <a:r>
              <a:t>            "그룹명": "축제기간",</a:t>
            </a:r>
          </a:p>
          <a:p>
            <a:r>
              <a:t>            "지표값": "0.513",</a:t>
            </a:r>
          </a:p>
          <a:p>
            <a:r>
              <a:t>            "축제명": "진도신비의바닷길축제",</a:t>
            </a:r>
          </a:p>
          <a:p>
            <a:r>
              <a:t>            "개최년도": "2025"</a:t>
            </a:r>
          </a:p>
          <a:p>
            <a:r>
              <a:t>          },</a:t>
            </a:r>
          </a:p>
          <a:p>
            <a:r>
              <a:t>          {</a:t>
            </a:r>
          </a:p>
          <a:p>
            <a:r>
              <a:t>            "구분명": "관광소비",</a:t>
            </a:r>
          </a:p>
          <a:p>
            <a:r>
              <a:t>            "그룹명": "축제기간",</a:t>
            </a:r>
          </a:p>
          <a:p>
            <a:r>
              <a:t>            "지표값": "0.283",</a:t>
            </a:r>
          </a:p>
          <a:p>
            <a:r>
              <a:t>            "축제명": "진도신비의바닷길축제",</a:t>
            </a:r>
          </a:p>
          <a:p>
            <a:r>
              <a:t>            "개최년도": "2025"</a:t>
            </a:r>
          </a:p>
          <a:p>
            <a:r>
              <a:t>          },</a:t>
            </a:r>
          </a:p>
          <a:p>
            <a:r>
              <a:t>          {</a:t>
            </a:r>
          </a:p>
          <a:p>
            <a:r>
              <a:t>            "구분명": "축제지 집중률",</a:t>
            </a:r>
          </a:p>
          <a:p>
            <a:r>
              <a:t>            "그룹명": "축제기간",</a:t>
            </a:r>
          </a:p>
          <a:p>
            <a:r>
              <a:t>            "지표값": "0.791",</a:t>
            </a:r>
          </a:p>
          <a:p>
            <a:r>
              <a:t>            "축제명": "진도신비의바닷길축제",</a:t>
            </a:r>
          </a:p>
          <a:p>
            <a:r>
              <a:t>            "개최년도": "2025"</a:t>
            </a:r>
          </a:p>
          <a:p>
            <a:r>
              <a:t>          },</a:t>
            </a:r>
          </a:p>
          <a:p>
            <a:r>
              <a:t>          {</a:t>
            </a:r>
          </a:p>
          <a:p>
            <a:r>
              <a:t>            "구분명": "외부방문자 유입",</a:t>
            </a:r>
          </a:p>
          <a:p>
            <a:r>
              <a:t>            "그룹명": "비축제기간",</a:t>
            </a:r>
          </a:p>
          <a:p>
            <a:r>
              <a:t>            "지표값": "0.137",</a:t>
            </a:r>
          </a:p>
          <a:p>
            <a:r>
              <a:t>            "축제명": "진도신비의바닷길축제",</a:t>
            </a:r>
          </a:p>
          <a:p>
            <a:r>
              <a:t>            "개최년도": "2025"</a:t>
            </a:r>
          </a:p>
          <a:p>
            <a:r>
              <a:t>          },</a:t>
            </a:r>
          </a:p>
          <a:p>
            <a:r>
              <a:t>          {</a:t>
            </a:r>
          </a:p>
          <a:p>
            <a:r>
              <a:t>            "구분명": "현지인방문자 유입",</a:t>
            </a:r>
          </a:p>
          <a:p>
            <a:r>
              <a:t>            "그룹명": "비축제기간",</a:t>
            </a:r>
          </a:p>
          <a:p>
            <a:r>
              <a:t>            "지표값": "0.472",</a:t>
            </a:r>
          </a:p>
          <a:p>
            <a:r>
              <a:t>            "축제명": "진도신비의바닷길축제",</a:t>
            </a:r>
          </a:p>
          <a:p>
            <a:r>
              <a:t>            "개최년도": "2025"</a:t>
            </a:r>
          </a:p>
          <a:p>
            <a:r>
              <a:t>          },</a:t>
            </a:r>
          </a:p>
          <a:p>
            <a:r>
              <a:t>          {</a:t>
            </a:r>
          </a:p>
          <a:p>
            <a:r>
              <a:t>            "구분명": "내비게이션 검색량",</a:t>
            </a:r>
          </a:p>
          <a:p>
            <a:r>
              <a:t>            "그룹명": "비축제기간",</a:t>
            </a:r>
          </a:p>
          <a:p>
            <a:r>
              <a:t>            "지표값": "0.06",</a:t>
            </a:r>
          </a:p>
          <a:p>
            <a:r>
              <a:t>            "축제명": "진도신비의바닷길축제",</a:t>
            </a:r>
          </a:p>
          <a:p>
            <a:r>
              <a:t>            "개최년도": "2025"</a:t>
            </a:r>
          </a:p>
          <a:p>
            <a:r>
              <a:t>          },</a:t>
            </a:r>
          </a:p>
          <a:p>
            <a:r>
              <a:t>          {</a:t>
            </a:r>
          </a:p>
          <a:p>
            <a:r>
              <a:t>            "구분명": "관광소비",</a:t>
            </a:r>
          </a:p>
          <a:p>
            <a:r>
              <a:t>            "그룹명": "비축제기간",</a:t>
            </a:r>
          </a:p>
          <a:p>
            <a:r>
              <a:t>            "지표값": "0.212",</a:t>
            </a:r>
          </a:p>
          <a:p>
            <a:r>
              <a:t>            "축제명": "진도신비의바닷길축제",</a:t>
            </a:r>
          </a:p>
          <a:p>
            <a:r>
              <a:t>            "개최년도": "2025"</a:t>
            </a:r>
          </a:p>
          <a:p>
            <a:r>
              <a:t>          },</a:t>
            </a:r>
          </a:p>
          <a:p>
            <a:r>
              <a:t>          {</a:t>
            </a:r>
          </a:p>
          <a:p>
            <a:r>
              <a:t>            "구분명": "축제지 집중률",</a:t>
            </a:r>
          </a:p>
          <a:p>
            <a:r>
              <a:t>            "그룹명": "비축제기간",</a:t>
            </a:r>
          </a:p>
          <a:p>
            <a:r>
              <a:t>            "지표값": "0.269",</a:t>
            </a:r>
          </a:p>
          <a:p>
            <a:r>
              <a:t>            "축제명": "진도신비의바닷길축제",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"진도신비의바닷길축제",</a:t>
            </a:r>
          </a:p>
          <a:p>
            <a:r>
              <a:t>            "카테고리": "기타문화관광지",</a:t>
            </a:r>
          </a:p>
          <a:p>
            <a:r>
              <a:t>            "도로명주소": "전남 진도군 신비의바닷길 74-0"</a:t>
            </a:r>
          </a:p>
          <a:p>
            <a:r>
              <a:t>          },</a:t>
            </a:r>
          </a:p>
          <a:p>
            <a:r>
              <a:t>          {</a:t>
            </a:r>
          </a:p>
          <a:p>
            <a:r>
              <a:t>            "구분": "외지인",</a:t>
            </a:r>
          </a:p>
          <a:p>
            <a:r>
              <a:t>            "순위": "2",</a:t>
            </a:r>
          </a:p>
          <a:p>
            <a:r>
              <a:t>            "목적지명": "진도신비의바닷길",</a:t>
            </a:r>
          </a:p>
          <a:p>
            <a:r>
              <a:t>            "카테고리": "테마공원",</a:t>
            </a:r>
          </a:p>
          <a:p>
            <a:r>
              <a:t>            "도로명주소": "전남 진도군"</a:t>
            </a:r>
          </a:p>
          <a:p>
            <a:r>
              <a:t>          },</a:t>
            </a:r>
          </a:p>
          <a:p>
            <a:r>
              <a:t>          {</a:t>
            </a:r>
          </a:p>
          <a:p>
            <a:r>
              <a:t>            "구분": "외지인",</a:t>
            </a:r>
          </a:p>
          <a:p>
            <a:r>
              <a:t>            "순위": "3",</a:t>
            </a:r>
          </a:p>
          <a:p>
            <a:r>
              <a:t>            "목적지명": "가계해변",</a:t>
            </a:r>
          </a:p>
          <a:p>
            <a:r>
              <a:t>            "카테고리": "자연경관(하천/해양)",</a:t>
            </a:r>
          </a:p>
          <a:p>
            <a:r>
              <a:t>            "도로명주소": "전남 진도군 신비의바닷길 0-0"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"한국관광 데이터랩 · 통영한산대첩축제 방문자 추이",</a:t>
            </a:r>
          </a:p>
          <a:p>
            <a:r>
              <a:t>      "summary": "경상남도 통영시 · 통영한산대첩축제 · 2024→2025년 전체 93,221→124,718명 (+33.79%). 개최 6→7일, 일평균 +14.67%, 외지인 +33.21%.",</a:t>
            </a:r>
          </a:p>
          <a:p>
            <a:r>
              <a:t>      "source_id": "case:festival:1ffc3eec28956a",</a:t>
            </a:r>
          </a:p>
          <a:p>
            <a:r>
              <a:t>      "source_url": "https://datalab.visitkorea.or.kr/",</a:t>
            </a:r>
          </a:p>
          <a:p>
            <a:r>
              <a:t>      "case_region": "경상남도 통영시",</a:t>
            </a:r>
          </a:p>
          <a:p>
            <a:r>
              <a:t>      "source_type": "benchmark_case",</a:t>
            </a:r>
          </a:p>
          <a:p>
            <a:r>
              <a:t>      "dataset_hash": "ad20e3daf70fd44fd481d672398c07bb9c96fce77acb450784065a568735e2e2",</a:t>
            </a:r>
          </a:p>
          <a:p>
            <a:r>
              <a:t>      "intervention": "통영한산대첩축제",</a:t>
            </a:r>
          </a:p>
          <a:p>
            <a:r>
              <a:t>      "source_files": [</a:t>
            </a:r>
          </a:p>
          <a:p>
            <a:r>
              <a:t>        {</a:t>
            </a:r>
          </a:p>
          <a:p>
            <a:r>
              <a:t>          "sha256": "ec35e7537d4da1ed72dd60617fec143558f280299aeb303bc8b7a1036ecc73f0",</a:t>
            </a:r>
          </a:p>
          <a:p>
            <a:r>
              <a:t>          "provider": "한국관광 데이터랩",</a:t>
            </a:r>
          </a:p>
          <a:p>
            <a:r>
              <a:t>          "file_name": "20260820183544_통영한산대첩축제_연도별 방문자 추이.csv",</a:t>
            </a:r>
          </a:p>
          <a:p>
            <a:r>
              <a:t>          "source_id": "festival-file:ec35e7537d4da1ed72dd",</a:t>
            </a:r>
          </a:p>
          <a:p>
            <a:r>
              <a:t>          "source_url": "https://datalab.visitkorea.or.kr/",</a:t>
            </a:r>
          </a:p>
          <a:p>
            <a:r>
              <a:t>          "downloaded_at": "2026-08-20",</a:t>
            </a:r>
          </a:p>
          <a:p>
            <a:r>
              <a:t>          "relative_path": "data/source_snapshots/festivals_20260820/81. 통영한산대첩축제_2023-2025/20260820183544_통영한산대첩축제_연도별 방문자 추이.csv",</a:t>
            </a:r>
          </a:p>
          <a:p>
            <a:r>
              <a:t>          "provenance_status": "team_download_exact_query_url_unrecorded"</a:t>
            </a:r>
          </a:p>
          <a:p>
            <a:r>
              <a:t>        },</a:t>
            </a:r>
          </a:p>
          <a:p>
            <a:r>
              <a:t>        {</a:t>
            </a:r>
          </a:p>
          <a:p>
            <a:r>
              <a:t>          "sha256": "77b41103f7ab3a48a3a94baa36227391bc47069fafcf8cc68a36662ec60fd43d",</a:t>
            </a:r>
          </a:p>
          <a:p>
            <a:r>
              <a:t>          "provider": "한국관광 데이터랩",</a:t>
            </a:r>
          </a:p>
          <a:p>
            <a:r>
              <a:t>          "file_name": "20260820183544_통영한산대첩축제_성_연령별 내국인 방문자.csv",</a:t>
            </a:r>
          </a:p>
          <a:p>
            <a:r>
              <a:t>          "source_id": "festival-file:77b41103f7ab3a48a3a9",</a:t>
            </a:r>
          </a:p>
          <a:p>
            <a:r>
              <a:t>          "source_url": "https://datalab.visitkorea.or.kr/",</a:t>
            </a:r>
          </a:p>
          <a:p>
            <a:r>
              <a:t>          "downloaded_at": "2026-08-20",</a:t>
            </a:r>
          </a:p>
          <a:p>
            <a:r>
              <a:t>          "relative_path": "data/source_snapshots/festivals_20260820/81. 통영한산대첩축제_2023-2025/20260820183544_통영한산대첩축제_성_연령별 내국인 방문자.csv",</a:t>
            </a:r>
          </a:p>
          <a:p>
            <a:r>
              <a:t>          "provenance_status": "team_download_exact_query_url_unrecorded"</a:t>
            </a:r>
          </a:p>
          <a:p>
            <a:r>
              <a:t>        },</a:t>
            </a:r>
          </a:p>
          <a:p>
            <a:r>
              <a:t>        {</a:t>
            </a:r>
          </a:p>
          <a:p>
            <a:r>
              <a:t>          "sha256": "5457f819bd8704a9d5b81a24337c2a40c45bbcf7435e0a751139a5457627bdd4",</a:t>
            </a:r>
          </a:p>
          <a:p>
            <a:r>
              <a:t>          "provider": "한국관광 데이터랩",</a:t>
            </a:r>
          </a:p>
          <a:p>
            <a:r>
              <a:t>          "file_name": "20260820183544_통영한산대첩축제_문화관광축제 주요 지표.csv",</a:t>
            </a:r>
          </a:p>
          <a:p>
            <a:r>
              <a:t>          "source_id": "festival-file:5457f819bd8704a9d5b8",</a:t>
            </a:r>
          </a:p>
          <a:p>
            <a:r>
              <a:t>          "source_url": "https://datalab.visitkorea.or.kr/",</a:t>
            </a:r>
          </a:p>
          <a:p>
            <a:r>
              <a:t>          "downloaded_at": "2026-08-20",</a:t>
            </a:r>
          </a:p>
          <a:p>
            <a:r>
              <a:t>          "relative_path": "data/source_snapshots/festivals_20260820/81. 통영한산대첩축제_2023-2025/20260820183544_통영한산대첩축제_문화관광축제 주요 지표.csv",</a:t>
            </a:r>
          </a:p>
          <a:p>
            <a:r>
              <a:t>          "provenance_status": "team_download_exact_query_url_unrecorded"</a:t>
            </a:r>
          </a:p>
          <a:p>
            <a:r>
              <a:t>        },</a:t>
            </a:r>
          </a:p>
          <a:p>
            <a:r>
              <a:t>        {</a:t>
            </a:r>
          </a:p>
          <a:p>
            <a:r>
              <a:t>          "sha256": "3b2a6e862dd8337a7616d3cdb3f568c6fdb24be706918eb7f02d965d625ca746",</a:t>
            </a:r>
          </a:p>
          <a:p>
            <a:r>
              <a:t>          "provider": "한국관광 데이터랩",</a:t>
            </a:r>
          </a:p>
          <a:p>
            <a:r>
              <a:t>          "file_name": "20260820183544_통영한산대첩축제_목적지 검색순위.csv",</a:t>
            </a:r>
          </a:p>
          <a:p>
            <a:r>
              <a:t>          "source_id": "festival-file:3b2a6e862dd8337a7616",</a:t>
            </a:r>
          </a:p>
          <a:p>
            <a:r>
              <a:t>          "source_url": "https://datalab.visitkorea.or.kr/",</a:t>
            </a:r>
          </a:p>
          <a:p>
            <a:r>
              <a:t>          "downloaded_at": "2026-08-20",</a:t>
            </a:r>
          </a:p>
          <a:p>
            <a:r>
              <a:t>          "relative_path": "data/source_snapshots/festivals_20260820/81. 통영한산대첩축제_2023-2025/20260820183544_통영한산대첩축제_목적지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93,221→124,718명 (+33.79%). 개최 6→7일, 일평균 +14.67%, 외지인 +33.21%.",</a:t>
            </a:r>
          </a:p>
          <a:p>
            <a:r>
              <a:t>      "operating_model": "통영한산대첩축제를 2025년 7일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"지역문화",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"통영한산대첩축제",</a:t>
            </a:r>
          </a:p>
          <a:p>
            <a:r>
              <a:t>        "scope": "축제 관측구역 방문 지표. 도시 전체·순증 관광객·입장권 실구매자 수가 아님.",</a:t>
            </a:r>
          </a:p>
          <a:p>
            <a:r>
              <a:t>        "annual": [</a:t>
            </a:r>
          </a:p>
          <a:p>
            <a:r>
              <a:t>          {</a:t>
            </a:r>
          </a:p>
          <a:p>
            <a:r>
              <a:t>            "days": 9,</a:t>
            </a:r>
          </a:p>
          <a:p>
            <a:r>
              <a:t>            "year": 2023,</a:t>
            </a:r>
          </a:p>
          <a:p>
            <a:r>
              <a:t>            "daily": 11745.444444444443,</a:t>
            </a:r>
          </a:p>
          <a:p>
            <a:r>
              <a:t>            "local": 57810,</a:t>
            </a:r>
          </a:p>
          <a:p>
            <a:r>
              <a:t>            "total": 105709,</a:t>
            </a:r>
          </a:p>
          <a:p>
            <a:r>
              <a:t>            "foreign": 455,</a:t>
            </a:r>
          </a:p>
          <a:p>
            <a:r>
              <a:t>            "outside": 47444,</a:t>
            </a:r>
          </a:p>
          <a:p>
            <a:r>
              <a:t>            "outside_daily": 5271.555555555556,</a:t>
            </a:r>
          </a:p>
          <a:p>
            <a:r>
              <a:t>            "outside_share_pct": 44.88170354463669</a:t>
            </a:r>
          </a:p>
          <a:p>
            <a:r>
              <a:t>          },</a:t>
            </a:r>
          </a:p>
          <a:p>
            <a:r>
              <a:t>          {</a:t>
            </a:r>
          </a:p>
          <a:p>
            <a:r>
              <a:t>            "days": 6,</a:t>
            </a:r>
          </a:p>
          <a:p>
            <a:r>
              <a:t>            "year": 2024,</a:t>
            </a:r>
          </a:p>
          <a:p>
            <a:r>
              <a:t>            "daily": 15536.833333333334,</a:t>
            </a:r>
          </a:p>
          <a:p>
            <a:r>
              <a:t>            "local": 52493,</a:t>
            </a:r>
          </a:p>
          <a:p>
            <a:r>
              <a:t>            "total": 93221,</a:t>
            </a:r>
          </a:p>
          <a:p>
            <a:r>
              <a:t>            "foreign": 394,</a:t>
            </a:r>
          </a:p>
          <a:p>
            <a:r>
              <a:t>            "outside": 40334,</a:t>
            </a:r>
          </a:p>
          <a:p>
            <a:r>
              <a:t>            "outside_daily": 6722.333333333333,</a:t>
            </a:r>
          </a:p>
          <a:p>
            <a:r>
              <a:t>            "outside_share_pct": 43.26707501528625</a:t>
            </a:r>
          </a:p>
          <a:p>
            <a:r>
              <a:t>          },</a:t>
            </a:r>
          </a:p>
          <a:p>
            <a:r>
              <a:t>          {</a:t>
            </a:r>
          </a:p>
          <a:p>
            <a:r>
              <a:t>            "days": 7,</a:t>
            </a:r>
          </a:p>
          <a:p>
            <a:r>
              <a:t>            "year": 2025,</a:t>
            </a:r>
          </a:p>
          <a:p>
            <a:r>
              <a:t>            "daily": 17816.85714285714,</a:t>
            </a:r>
          </a:p>
          <a:p>
            <a:r>
              <a:t>            "local": 70201,</a:t>
            </a:r>
          </a:p>
          <a:p>
            <a:r>
              <a:t>            "total": 124718,</a:t>
            </a:r>
          </a:p>
          <a:p>
            <a:r>
              <a:t>            "foreign": 787,</a:t>
            </a:r>
          </a:p>
          <a:p>
            <a:r>
              <a:t>            "outside": 53730,</a:t>
            </a:r>
          </a:p>
          <a:p>
            <a:r>
              <a:t>            "outside_daily": 7675.714285714285,</a:t>
            </a:r>
          </a:p>
          <a:p>
            <a:r>
              <a:t>            "outside_share_pct": 43.08119116727337</a:t>
            </a:r>
          </a:p>
          <a:p>
            <a:r>
              <a:t>          }</a:t>
            </a:r>
          </a:p>
          <a:p>
            <a:r>
              <a:t>        ],</a:t>
            </a:r>
          </a:p>
          <a:p>
            <a:r>
              <a:t>        "audience": [</a:t>
            </a:r>
          </a:p>
          <a:p>
            <a:r>
              <a:t>          {</a:t>
            </a:r>
          </a:p>
          <a:p>
            <a:r>
              <a:t>            "연령대": "70세 이상",</a:t>
            </a:r>
          </a:p>
          <a:p>
            <a:r>
              <a:t>            "축제명": "통영한산대첩축제",</a:t>
            </a:r>
          </a:p>
          <a:p>
            <a:r>
              <a:t>            "남성비율": "5.2",</a:t>
            </a:r>
          </a:p>
          <a:p>
            <a:r>
              <a:t>            "여성비율": "5.7"</a:t>
            </a:r>
          </a:p>
          <a:p>
            <a:r>
              <a:t>          },</a:t>
            </a:r>
          </a:p>
          <a:p>
            <a:r>
              <a:t>          {</a:t>
            </a:r>
          </a:p>
          <a:p>
            <a:r>
              <a:t>            "연령대": "60~69세",</a:t>
            </a:r>
          </a:p>
          <a:p>
            <a:r>
              <a:t>            "축제명": "통영한산대첩축제",</a:t>
            </a:r>
          </a:p>
          <a:p>
            <a:r>
              <a:t>            "남성비율": "11.0",</a:t>
            </a:r>
          </a:p>
          <a:p>
            <a:r>
              <a:t>            "여성비율": "11.5"</a:t>
            </a:r>
          </a:p>
          <a:p>
            <a:r>
              <a:t>          },</a:t>
            </a:r>
          </a:p>
          <a:p>
            <a:r>
              <a:t>          {</a:t>
            </a:r>
          </a:p>
          <a:p>
            <a:r>
              <a:t>            "연령대": "50~59세",</a:t>
            </a:r>
          </a:p>
          <a:p>
            <a:r>
              <a:t>            "축제명": "통영한산대첩축제",</a:t>
            </a:r>
          </a:p>
          <a:p>
            <a:r>
              <a:t>            "남성비율": "11.1",</a:t>
            </a:r>
          </a:p>
          <a:p>
            <a:r>
              <a:t>            "여성비율": "10.9"</a:t>
            </a:r>
          </a:p>
          <a:p>
            <a:r>
              <a:t>          },</a:t>
            </a:r>
          </a:p>
          <a:p>
            <a:r>
              <a:t>          {</a:t>
            </a:r>
          </a:p>
          <a:p>
            <a:r>
              <a:t>            "연령대": "40~49세",</a:t>
            </a:r>
          </a:p>
          <a:p>
            <a:r>
              <a:t>            "축제명": "통영한산대첩축제",</a:t>
            </a:r>
          </a:p>
          <a:p>
            <a:r>
              <a:t>            "남성비율": "8.0",</a:t>
            </a:r>
          </a:p>
          <a:p>
            <a:r>
              <a:t>            "여성비율": "7.7"</a:t>
            </a:r>
          </a:p>
          <a:p>
            <a:r>
              <a:t>          },</a:t>
            </a:r>
          </a:p>
          <a:p>
            <a:r>
              <a:t>          {</a:t>
            </a:r>
          </a:p>
          <a:p>
            <a:r>
              <a:t>            "연령대": "30~39세",</a:t>
            </a:r>
          </a:p>
          <a:p>
            <a:r>
              <a:t>            "축제명": "통영한산대첩축제",</a:t>
            </a:r>
          </a:p>
          <a:p>
            <a:r>
              <a:t>            "남성비율": "6.3",</a:t>
            </a:r>
          </a:p>
          <a:p>
            <a:r>
              <a:t>            "여성비율": "5.6"</a:t>
            </a:r>
          </a:p>
          <a:p>
            <a:r>
              <a:t>          },</a:t>
            </a:r>
          </a:p>
          <a:p>
            <a:r>
              <a:t>          {</a:t>
            </a:r>
          </a:p>
          <a:p>
            <a:r>
              <a:t>            "연령대": "20~29세",</a:t>
            </a:r>
          </a:p>
          <a:p>
            <a:r>
              <a:t>            "축제명": "통영한산대첩축제",</a:t>
            </a:r>
          </a:p>
          <a:p>
            <a:r>
              <a:t>            "남성비율": "5.4",</a:t>
            </a:r>
          </a:p>
          <a:p>
            <a:r>
              <a:t>            "여성비율": "4.4"</a:t>
            </a:r>
          </a:p>
          <a:p>
            <a:r>
              <a:t>          },</a:t>
            </a:r>
          </a:p>
          <a:p>
            <a:r>
              <a:t>          {</a:t>
            </a:r>
          </a:p>
          <a:p>
            <a:r>
              <a:t>            "연령대": "10~19세",</a:t>
            </a:r>
          </a:p>
          <a:p>
            <a:r>
              <a:t>            "축제명": "통영한산대첩축제",</a:t>
            </a:r>
          </a:p>
          <a:p>
            <a:r>
              <a:t>            "남성비율": "2.8",</a:t>
            </a:r>
          </a:p>
          <a:p>
            <a:r>
              <a:t>            "여성비율": "3.1"</a:t>
            </a:r>
          </a:p>
          <a:p>
            <a:r>
              <a:t>          },</a:t>
            </a:r>
          </a:p>
          <a:p>
            <a:r>
              <a:t>          {</a:t>
            </a:r>
          </a:p>
          <a:p>
            <a:r>
              <a:t>            "연령대": "0~9세",</a:t>
            </a:r>
          </a:p>
          <a:p>
            <a:r>
              <a:t>            "축제명": "통영한산대첩축제",</a:t>
            </a:r>
          </a:p>
          <a:p>
            <a:r>
              <a:t>            "남성비율": "0.5",</a:t>
            </a:r>
          </a:p>
          <a:p>
            <a:r>
              <a:t>            "여성비율": "0.6"</a:t>
            </a:r>
          </a:p>
          <a:p>
            <a:r>
              <a:t>          }</a:t>
            </a:r>
          </a:p>
          <a:p>
            <a:r>
              <a:t>        ],</a:t>
            </a:r>
          </a:p>
          <a:p>
            <a:r>
              <a:t>        "comparison": {</a:t>
            </a:r>
          </a:p>
          <a:p>
            <a:r>
              <a:t>          "daily": {</a:t>
            </a:r>
          </a:p>
          <a:p>
            <a:r>
              <a:t>            "after": 17816.85714285714,</a:t>
            </a:r>
          </a:p>
          <a:p>
            <a:r>
              <a:t>            "before": 15536.833333333334,</a:t>
            </a:r>
          </a:p>
          <a:p>
            <a:r>
              <a:t>            "change_pct": 14.674958278867244,</a:t>
            </a:r>
          </a:p>
          <a:p>
            <a:r>
              <a:t>            "difference": 2280.0238095238074</a:t>
            </a:r>
          </a:p>
          <a:p>
            <a:r>
              <a:t>          },</a:t>
            </a:r>
          </a:p>
          <a:p>
            <a:r>
              <a:t>          "total": {</a:t>
            </a:r>
          </a:p>
          <a:p>
            <a:r>
              <a:t>            "after": 124718,</a:t>
            </a:r>
          </a:p>
          <a:p>
            <a:r>
              <a:t>            "before": 93221,</a:t>
            </a:r>
          </a:p>
          <a:p>
            <a:r>
              <a:t>            "change_pct": 33.78745132534515,</a:t>
            </a:r>
          </a:p>
          <a:p>
            <a:r>
              <a:t>            "difference": 31497</a:t>
            </a:r>
          </a:p>
          <a:p>
            <a:r>
              <a:t>          },</a:t>
            </a:r>
          </a:p>
          <a:p>
            <a:r>
              <a:t>          "outside": {</a:t>
            </a:r>
          </a:p>
          <a:p>
            <a:r>
              <a:t>            "after": 53730,</a:t>
            </a:r>
          </a:p>
          <a:p>
            <a:r>
              <a:t>            "before": 40334,</a:t>
            </a:r>
          </a:p>
          <a:p>
            <a:r>
              <a:t>            "change_pct": 33.21267417067486,</a:t>
            </a:r>
          </a:p>
          <a:p>
            <a:r>
              <a:t>            "difference": 13396</a:t>
            </a:r>
          </a:p>
          <a:p>
            <a:r>
              <a:t>          },</a:t>
            </a:r>
          </a:p>
          <a:p>
            <a:r>
              <a:t>          "after_days": 7,</a:t>
            </a:r>
          </a:p>
          <a:p>
            <a:r>
              <a:t>          "after_year": 2025,</a:t>
            </a:r>
          </a:p>
          <a:p>
            <a:r>
              <a:t>          "before_days": 6,</a:t>
            </a:r>
          </a:p>
          <a:p>
            <a:r>
              <a:t>          "before_year": 2024,</a:t>
            </a:r>
          </a:p>
          <a:p>
            <a:r>
              <a:t>          "outside_daily": {</a:t>
            </a:r>
          </a:p>
          <a:p>
            <a:r>
              <a:t>            "after": 7675.714285714285,</a:t>
            </a:r>
          </a:p>
          <a:p>
            <a:r>
              <a:t>            "before": 6722.333333333333,</a:t>
            </a:r>
          </a:p>
          <a:p>
            <a:r>
              <a:t>            "change_pct": 14.182292146292742,</a:t>
            </a:r>
          </a:p>
          <a:p>
            <a:r>
              <a:t>            "difference": 953.3809523809524</a:t>
            </a:r>
          </a:p>
          <a:p>
            <a:r>
              <a:t>          }</a:t>
            </a:r>
          </a:p>
          <a:p>
            <a:r>
              <a:t>        },</a:t>
            </a:r>
          </a:p>
          <a:p>
            <a:r>
              <a:t>        "source_file": {</a:t>
            </a:r>
          </a:p>
          <a:p>
            <a:r>
              <a:t>          "sha256": "ec35e7537d4da1ed72dd60617fec143558f280299aeb303bc8b7a1036ecc73f0",</a:t>
            </a:r>
          </a:p>
          <a:p>
            <a:r>
              <a:t>          "provider": "한국관광 데이터랩",</a:t>
            </a:r>
          </a:p>
          <a:p>
            <a:r>
              <a:t>          "file_name": "20260820183544_통영한산대첩축제_연도별 방문자 추이.csv",</a:t>
            </a:r>
          </a:p>
          <a:p>
            <a:r>
              <a:t>          "source_id": "festival-file:ec35e7537d4da1ed72dd",</a:t>
            </a:r>
          </a:p>
          <a:p>
            <a:r>
              <a:t>          "source_url": "https://datalab.visitkorea.or.kr/",</a:t>
            </a:r>
          </a:p>
          <a:p>
            <a:r>
              <a:t>          "downloaded_at": "2026-08-20",</a:t>
            </a:r>
          </a:p>
          <a:p>
            <a:r>
              <a:t>          "relative_path": "data/source_snapshots/festivals_20260820/81. 통영한산대첩축제_2023-2025/20260820183544_통영한산대첩축제_연도별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"0.309",</a:t>
            </a:r>
          </a:p>
          <a:p>
            <a:r>
              <a:t>            "축제명": "통영한산대첩축제",</a:t>
            </a:r>
          </a:p>
          <a:p>
            <a:r>
              <a:t>            "개최년도": "2025"</a:t>
            </a:r>
          </a:p>
          <a:p>
            <a:r>
              <a:t>          },</a:t>
            </a:r>
          </a:p>
          <a:p>
            <a:r>
              <a:t>          {</a:t>
            </a:r>
          </a:p>
          <a:p>
            <a:r>
              <a:t>            "구분명": "현지인방문자 유입",</a:t>
            </a:r>
          </a:p>
          <a:p>
            <a:r>
              <a:t>            "그룹명": "축제기간",</a:t>
            </a:r>
          </a:p>
          <a:p>
            <a:r>
              <a:t>            "지표값": "0.731",</a:t>
            </a:r>
          </a:p>
          <a:p>
            <a:r>
              <a:t>            "축제명": "통영한산대첩축제",</a:t>
            </a:r>
          </a:p>
          <a:p>
            <a:r>
              <a:t>            "개최년도": "2025"</a:t>
            </a:r>
          </a:p>
          <a:p>
            <a:r>
              <a:t>          },</a:t>
            </a:r>
          </a:p>
          <a:p>
            <a:r>
              <a:t>          {</a:t>
            </a:r>
          </a:p>
          <a:p>
            <a:r>
              <a:t>            "구분명": "내비게이션 검색량",</a:t>
            </a:r>
          </a:p>
          <a:p>
            <a:r>
              <a:t>            "그룹명": "축제기간",</a:t>
            </a:r>
          </a:p>
          <a:p>
            <a:r>
              <a:t>            "지표값": "0.228",</a:t>
            </a:r>
          </a:p>
          <a:p>
            <a:r>
              <a:t>            "축제명": "통영한산대첩축제",</a:t>
            </a:r>
          </a:p>
          <a:p>
            <a:r>
              <a:t>            "개최년도": "2025"</a:t>
            </a:r>
          </a:p>
          <a:p>
            <a:r>
              <a:t>          },</a:t>
            </a:r>
          </a:p>
          <a:p>
            <a:r>
              <a:t>          {</a:t>
            </a:r>
          </a:p>
          <a:p>
            <a:r>
              <a:t>            "구분명": "관광소비",</a:t>
            </a:r>
          </a:p>
          <a:p>
            <a:r>
              <a:t>            "그룹명": "축제기간",</a:t>
            </a:r>
          </a:p>
          <a:p>
            <a:r>
              <a:t>            "지표값": "0.313",</a:t>
            </a:r>
          </a:p>
          <a:p>
            <a:r>
              <a:t>            "축제명": "통영한산대첩축제",</a:t>
            </a:r>
          </a:p>
          <a:p>
            <a:r>
              <a:t>            "개최년도": "2025"</a:t>
            </a:r>
          </a:p>
          <a:p>
            <a:r>
              <a:t>          },</a:t>
            </a:r>
          </a:p>
          <a:p>
            <a:r>
              <a:t>          {</a:t>
            </a:r>
          </a:p>
          <a:p>
            <a:r>
              <a:t>            "구분명": "축제지 집중률",</a:t>
            </a:r>
          </a:p>
          <a:p>
            <a:r>
              <a:t>            "그룹명": "축제기간",</a:t>
            </a:r>
          </a:p>
          <a:p>
            <a:r>
              <a:t>            "지표값": "0.766",</a:t>
            </a:r>
          </a:p>
          <a:p>
            <a:r>
              <a:t>            "축제명": "통영한산대첩축제",</a:t>
            </a:r>
          </a:p>
          <a:p>
            <a:r>
              <a:t>            "개최년도": "2025"</a:t>
            </a:r>
          </a:p>
          <a:p>
            <a:r>
              <a:t>          },</a:t>
            </a:r>
          </a:p>
          <a:p>
            <a:r>
              <a:t>          {</a:t>
            </a:r>
          </a:p>
          <a:p>
            <a:r>
              <a:t>            "구분명": "외부방문자 유입",</a:t>
            </a:r>
          </a:p>
          <a:p>
            <a:r>
              <a:t>            "그룹명": "비축제기간",</a:t>
            </a:r>
          </a:p>
          <a:p>
            <a:r>
              <a:t>            "지표값": "0.244",</a:t>
            </a:r>
          </a:p>
          <a:p>
            <a:r>
              <a:t>            "축제명": "통영한산대첩축제",</a:t>
            </a:r>
          </a:p>
          <a:p>
            <a:r>
              <a:t>            "개최년도": "2025"</a:t>
            </a:r>
          </a:p>
          <a:p>
            <a:r>
              <a:t>          },</a:t>
            </a:r>
          </a:p>
          <a:p>
            <a:r>
              <a:t>          {</a:t>
            </a:r>
          </a:p>
          <a:p>
            <a:r>
              <a:t>            "구분명": "현지인방문자 유입",</a:t>
            </a:r>
          </a:p>
          <a:p>
            <a:r>
              <a:t>            "그룹명": "비축제기간",</a:t>
            </a:r>
          </a:p>
          <a:p>
            <a:r>
              <a:t>            "지표값": "0.586",</a:t>
            </a:r>
          </a:p>
          <a:p>
            <a:r>
              <a:t>            "축제명": "통영한산대첩축제",</a:t>
            </a:r>
          </a:p>
          <a:p>
            <a:r>
              <a:t>            "개최년도": "2025"</a:t>
            </a:r>
          </a:p>
          <a:p>
            <a:r>
              <a:t>          },</a:t>
            </a:r>
          </a:p>
          <a:p>
            <a:r>
              <a:t>          {</a:t>
            </a:r>
          </a:p>
          <a:p>
            <a:r>
              <a:t>            "구분명": "내비게이션 검색량",</a:t>
            </a:r>
          </a:p>
          <a:p>
            <a:r>
              <a:t>            "그룹명": "비축제기간",</a:t>
            </a:r>
          </a:p>
          <a:p>
            <a:r>
              <a:t>            "지표값": "0.206",</a:t>
            </a:r>
          </a:p>
          <a:p>
            <a:r>
              <a:t>            "축제명": "통영한산대첩축제",</a:t>
            </a:r>
          </a:p>
          <a:p>
            <a:r>
              <a:t>            "개최년도": "2025"</a:t>
            </a:r>
          </a:p>
          <a:p>
            <a:r>
              <a:t>          },</a:t>
            </a:r>
          </a:p>
          <a:p>
            <a:r>
              <a:t>          {</a:t>
            </a:r>
          </a:p>
          <a:p>
            <a:r>
              <a:t>            "구분명": "관광소비",</a:t>
            </a:r>
          </a:p>
          <a:p>
            <a:r>
              <a:t>            "그룹명": "비축제기간",</a:t>
            </a:r>
          </a:p>
          <a:p>
            <a:r>
              <a:t>            "지표값": "0.312",</a:t>
            </a:r>
          </a:p>
          <a:p>
            <a:r>
              <a:t>            "축제명": "통영한산대첩축제",</a:t>
            </a:r>
          </a:p>
          <a:p>
            <a:r>
              <a:t>            "개최년도": "2025"</a:t>
            </a:r>
          </a:p>
          <a:p>
            <a:r>
              <a:t>          },</a:t>
            </a:r>
          </a:p>
          <a:p>
            <a:r>
              <a:t>          {</a:t>
            </a:r>
          </a:p>
          <a:p>
            <a:r>
              <a:t>            "구분명": "축제지 집중률",</a:t>
            </a:r>
          </a:p>
          <a:p>
            <a:r>
              <a:t>            "그룹명": "비축제기간",</a:t>
            </a:r>
          </a:p>
          <a:p>
            <a:r>
              <a:t>            "지표값": "0.595",</a:t>
            </a:r>
          </a:p>
          <a:p>
            <a:r>
              <a:t>            "축제명": "통영한산대첩축제",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"통영중앙전통시장",</a:t>
            </a:r>
          </a:p>
          <a:p>
            <a:r>
              <a:t>            "카테고리": "시장",</a:t>
            </a:r>
          </a:p>
          <a:p>
            <a:r>
              <a:t>            "도로명주소": "경남 통영시 중앙시장1길 14-16"</a:t>
            </a:r>
          </a:p>
          <a:p>
            <a:r>
              <a:t>          },</a:t>
            </a:r>
          </a:p>
          <a:p>
            <a:r>
              <a:t>          {</a:t>
            </a:r>
          </a:p>
          <a:p>
            <a:r>
              <a:t>            "구분": "외지인",</a:t>
            </a:r>
          </a:p>
          <a:p>
            <a:r>
              <a:t>            "순위": "2",</a:t>
            </a:r>
          </a:p>
          <a:p>
            <a:r>
              <a:t>            "목적지명": "동피랑벽화마을",</a:t>
            </a:r>
          </a:p>
          <a:p>
            <a:r>
              <a:t>            "카테고리": "기타관광",</a:t>
            </a:r>
          </a:p>
          <a:p>
            <a:r>
              <a:t>            "도로명주소": "경남 통영시 동피랑1길 6-18"</a:t>
            </a:r>
          </a:p>
          <a:p>
            <a:r>
              <a:t>          },</a:t>
            </a:r>
          </a:p>
          <a:p>
            <a:r>
              <a:t>          {</a:t>
            </a:r>
          </a:p>
          <a:p>
            <a:r>
              <a:t>            "구분": "외지인",</a:t>
            </a:r>
          </a:p>
          <a:p>
            <a:r>
              <a:t>            "순위": "3",</a:t>
            </a:r>
          </a:p>
          <a:p>
            <a:r>
              <a:t>            "목적지명": "통영한산대첩축제(한산대첩광장)",</a:t>
            </a:r>
          </a:p>
          <a:p>
            <a:r>
              <a:t>            "카테고리": "기타문화관광지",</a:t>
            </a:r>
          </a:p>
          <a:p>
            <a:r>
              <a:t>            "도로명주소": "경남 통영시 통영해안로 267-0"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4998578.0,</a:t>
            </a:r>
          </a:p>
          <a:p>
            <a:r>
              <a:t>        "is_forecast": true,</a:t>
            </a:r>
          </a:p>
          <a:p>
            <a:r>
              <a:t>        "spending_krw": 79359374710.0,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4940348.0,</a:t>
            </a:r>
          </a:p>
          <a:p>
            <a:r>
              <a:t>        "is_forecast": true,</a:t>
            </a:r>
          </a:p>
          <a:p>
            <a:r>
              <a:t>        "spending_krw": 85971975908.0,</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4989633.0,</a:t>
            </a:r>
          </a:p>
          <a:p>
            <a:r>
              <a:t>        "is_forecast": true,</a:t>
            </a:r>
          </a:p>
          <a:p>
            <a:r>
              <a:t>        "spending_krw": 81033922052.0,</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4982887,</a:t>
            </a:r>
          </a:p>
          <a:p>
            <a:r>
              <a:t>      "is_forecast": true,</a:t>
            </a:r>
          </a:p>
          <a:p>
            <a:r>
              <a:t>      "spending_krw": 80283647550,</a:t>
            </a:r>
          </a:p>
          <a:p>
            <a:r>
              <a:t>      "stay_minutes": 1223.0,</a:t>
            </a:r>
          </a:p>
          <a:p>
            <a:r>
              <a:t>      "lodging_nights": 2.91,</a:t>
            </a:r>
          </a:p>
          <a:p>
            <a:r>
              <a:t>      "lodging_rate_pct": 7.3,</a:t>
            </a:r>
          </a:p>
          <a:p>
            <a:r>
              <a:t>      "lodging_searches": 12843,</a:t>
            </a:r>
          </a:p>
          <a:p>
            <a:r>
              <a:t>      "navigation_searches": 209722,</a:t>
            </a:r>
          </a:p>
          <a:p>
            <a:r>
              <a:t>      "visitor_yoy_percent": 0.64,</a:t>
            </a:r>
          </a:p>
          <a:p>
            <a:r>
              <a:t>      "spending_yoy_percent": 6.85,</a:t>
            </a:r>
          </a:p>
          <a:p>
            <a:r>
              <a:t>      "metric_changes_percent": {</a:t>
            </a:r>
          </a:p>
          <a:p>
            <a:r>
              <a:t>        "stay_minutes": 0.0,</a:t>
            </a:r>
          </a:p>
          <a:p>
            <a:r>
              <a:t>        "lodging_nights": 0.0,</a:t>
            </a:r>
          </a:p>
          <a:p>
            <a:r>
              <a:t>        "lodging_rate_pct": 0.0,</a:t>
            </a:r>
          </a:p>
          <a:p>
            <a:r>
              <a:t>        "lodging_searches": 0.0,</a:t>
            </a:r>
          </a:p>
          <a:p>
            <a:r>
              <a:t>        "navigation_searches": -0.44</a:t>
            </a:r>
          </a:p>
          <a:p>
            <a:r>
              <a:t>      },</a:t>
            </a:r>
          </a:p>
          <a:p>
            <a:r>
              <a:t>      "previous_year_visitors": 4951150,</a:t>
            </a:r>
          </a:p>
          <a:p>
            <a:r>
              <a:t>      "previous_year_spending_krw": 75135145000,</a:t>
            </a:r>
          </a:p>
          <a:p>
            <a:r>
              <a:t>      "previous_year_stay_minutes": 1223.0,</a:t>
            </a:r>
          </a:p>
          <a:p>
            <a:r>
              <a:t>      "previous_year_lodging_nights": 2.91,</a:t>
            </a:r>
          </a:p>
          <a:p>
            <a:r>
              <a:t>      "previous_year_lodging_rate_pct": 7.3,</a:t>
            </a:r>
          </a:p>
          <a:p>
            <a:r>
              <a:t>      "previous_year_lodging_searches": 12843,</a:t>
            </a:r>
          </a:p>
          <a:p>
            <a:r>
              <a:t>      "previous_year_navigation_searches": 210646</a:t>
            </a:r>
          </a:p>
          <a:p>
            <a:r>
              <a:t>    },</a:t>
            </a:r>
          </a:p>
          <a:p>
            <a:r>
              <a:t>    {</a:t>
            </a:r>
          </a:p>
          <a:p>
            <a:r>
              <a:t>      "month": "202608",</a:t>
            </a:r>
          </a:p>
          <a:p>
            <a:r>
              <a:t>      "visitors": 4852547,</a:t>
            </a:r>
          </a:p>
          <a:p>
            <a:r>
              <a:t>      "is_forecast": true,</a:t>
            </a:r>
          </a:p>
          <a:p>
            <a:r>
              <a:t>      "spending_krw": 76665340753,</a:t>
            </a:r>
          </a:p>
          <a:p>
            <a:r>
              <a:t>      "stay_minutes": 1218.0,</a:t>
            </a:r>
          </a:p>
          <a:p>
            <a:r>
              <a:t>      "lodging_nights": 2.84,</a:t>
            </a:r>
          </a:p>
          <a:p>
            <a:r>
              <a:t>      "lodging_rate_pct": 7.9,</a:t>
            </a:r>
          </a:p>
          <a:p>
            <a:r>
              <a:t>      "lodging_searches": 13272,</a:t>
            </a:r>
          </a:p>
          <a:p>
            <a:r>
              <a:t>      "navigation_searches": 225159,</a:t>
            </a:r>
          </a:p>
          <a:p>
            <a:r>
              <a:t>      "visitor_yoy_percent": -1.76,</a:t>
            </a:r>
          </a:p>
          <a:p>
            <a:r>
              <a:t>      "spending_yoy_percent": 0.49,</a:t>
            </a:r>
          </a:p>
          <a:p>
            <a:r>
              <a:t>      "metric_changes_percent": {</a:t>
            </a:r>
          </a:p>
          <a:p>
            <a:r>
              <a:t>        "stay_minutes": 0.0,</a:t>
            </a:r>
          </a:p>
          <a:p>
            <a:r>
              <a:t>        "lodging_nights": 0.0,</a:t>
            </a:r>
          </a:p>
          <a:p>
            <a:r>
              <a:t>        "lodging_rate_pct": 0.0,</a:t>
            </a:r>
          </a:p>
          <a:p>
            <a:r>
              <a:t>        "lodging_searches": 0.0,</a:t>
            </a:r>
          </a:p>
          <a:p>
            <a:r>
              <a:t>        "navigation_searches": 2.0</a:t>
            </a:r>
          </a:p>
          <a:p>
            <a:r>
              <a:t>      },</a:t>
            </a:r>
          </a:p>
          <a:p>
            <a:r>
              <a:t>      "previous_year_visitors": 4939438,</a:t>
            </a:r>
          </a:p>
          <a:p>
            <a:r>
              <a:t>      "previous_year_spending_krw": 76291079000,</a:t>
            </a:r>
          </a:p>
          <a:p>
            <a:r>
              <a:t>      "previous_year_stay_minutes": 1218.0,</a:t>
            </a:r>
          </a:p>
          <a:p>
            <a:r>
              <a:t>      "previous_year_lodging_nights": 2.84,</a:t>
            </a:r>
          </a:p>
          <a:p>
            <a:r>
              <a:t>      "previous_year_lodging_rate_pct": 7.9,</a:t>
            </a:r>
          </a:p>
          <a:p>
            <a:r>
              <a:t>      "previous_year_lodging_searches": 13272,</a:t>
            </a:r>
          </a:p>
          <a:p>
            <a:r>
              <a:t>      "previous_year_navigation_searches": 220742</a:t>
            </a:r>
          </a:p>
          <a:p>
            <a:r>
              <a:t>    },</a:t>
            </a:r>
          </a:p>
          <a:p>
            <a:r>
              <a:t>    {</a:t>
            </a:r>
          </a:p>
          <a:p>
            <a:r>
              <a:t>      "month": "202609",</a:t>
            </a:r>
          </a:p>
          <a:p>
            <a:r>
              <a:t>      "visitors": 4823300,</a:t>
            </a:r>
          </a:p>
          <a:p>
            <a:r>
              <a:t>      "is_forecast": true,</a:t>
            </a:r>
          </a:p>
          <a:p>
            <a:r>
              <a:t>      "spending_krw": 80194062490,</a:t>
            </a:r>
          </a:p>
          <a:p>
            <a:r>
              <a:t>      "stay_minutes": 1281.0,</a:t>
            </a:r>
          </a:p>
          <a:p>
            <a:r>
              <a:t>      "lodging_nights": 2.93,</a:t>
            </a:r>
          </a:p>
          <a:p>
            <a:r>
              <a:t>      "lodging_rate_pct": 6.7,</a:t>
            </a:r>
          </a:p>
          <a:p>
            <a:r>
              <a:t>      "lodging_searches": 11464,</a:t>
            </a:r>
          </a:p>
          <a:p>
            <a:r>
              <a:t>      "navigation_searches": 206180,</a:t>
            </a:r>
          </a:p>
          <a:p>
            <a:r>
              <a:t>      "visitor_yoy_percent": -0.39,</a:t>
            </a:r>
          </a:p>
          <a:p>
            <a:r>
              <a:t>      "spending_yoy_percent": 13.32,</a:t>
            </a:r>
          </a:p>
          <a:p>
            <a:r>
              <a:t>      "metric_changes_percent": {</a:t>
            </a:r>
          </a:p>
          <a:p>
            <a:r>
              <a:t>        "stay_minutes": 0.0,</a:t>
            </a:r>
          </a:p>
          <a:p>
            <a:r>
              <a:t>        "lodging_nights": 0.0,</a:t>
            </a:r>
          </a:p>
          <a:p>
            <a:r>
              <a:t>        "lodging_rate_pct": 0.0,</a:t>
            </a:r>
          </a:p>
          <a:p>
            <a:r>
              <a:t>        "lodging_searches": 0.0,</a:t>
            </a:r>
          </a:p>
          <a:p>
            <a:r>
              <a:t>        "navigation_searches": 7.4</a:t>
            </a:r>
          </a:p>
          <a:p>
            <a:r>
              <a:t>      },</a:t>
            </a:r>
          </a:p>
          <a:p>
            <a:r>
              <a:t>      "previous_year_visitors": 4842196,</a:t>
            </a:r>
          </a:p>
          <a:p>
            <a:r>
              <a:t>      "previous_year_spending_krw": 70764730000,</a:t>
            </a:r>
          </a:p>
          <a:p>
            <a:r>
              <a:t>      "previous_year_stay_minutes": 1281.0,</a:t>
            </a:r>
          </a:p>
          <a:p>
            <a:r>
              <a:t>      "previous_year_lodging_nights": 2.93,</a:t>
            </a:r>
          </a:p>
          <a:p>
            <a:r>
              <a:t>      "previous_year_lodging_rate_pct": 6.7,</a:t>
            </a:r>
          </a:p>
          <a:p>
            <a:r>
              <a:t>      "previous_year_lodging_searches": 11464,</a:t>
            </a:r>
          </a:p>
          <a:p>
            <a:r>
              <a:t>      "previous_year_navigation_searches": 191971</a:t>
            </a:r>
          </a:p>
          <a:p>
            <a:r>
              <a:t>    },</a:t>
            </a:r>
          </a:p>
          <a:p>
            <a:r>
              <a:t>    {</a:t>
            </a:r>
          </a:p>
          <a:p>
            <a:r>
              <a:t>      "month": "202610",</a:t>
            </a:r>
          </a:p>
          <a:p>
            <a:r>
              <a:t>      "visitors": 4998578,</a:t>
            </a:r>
          </a:p>
          <a:p>
            <a:r>
              <a:t>      "is_forecast": true,</a:t>
            </a:r>
          </a:p>
          <a:p>
            <a:r>
              <a:t>      "spending_krw": 79359374710,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a:t>
            </a:r>
          </a:p>
          <a:p>
            <a:r>
              <a:t>      "is_forecast": true,</a:t>
            </a:r>
          </a:p>
          <a:p>
            <a:r>
              <a:t>      "spending_krw": 85971975908,</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a:t>
            </a:r>
          </a:p>
          <a:p>
            <a:r>
              <a:t>      "is_forecast": true,</a:t>
            </a:r>
          </a:p>
          <a:p>
            <a:r>
              <a:t>      "spending_krw": 81033922052,</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"evaluation": {</a:t>
            </a:r>
          </a:p>
          <a:p>
            <a:r>
              <a:t>    "metrics": {</a:t>
            </a:r>
          </a:p>
          <a:p>
            <a:r>
              <a:t>      "visitors": {</a:t>
            </a:r>
          </a:p>
          <a:p>
            <a:r>
              <a:t>        "test_mae": 237105.53,</a:t>
            </a:r>
          </a:p>
          <a:p>
            <a:r>
              <a:t>        "recursive_mae": {</a:t>
            </a:r>
          </a:p>
          <a:p>
            <a:r>
              <a:t>          "1": {</a:t>
            </a:r>
          </a:p>
          <a:p>
            <a:r>
              <a:t>            "baseline": 211072,</a:t>
            </a:r>
          </a:p>
          <a:p>
            <a:r>
              <a:t>            "selected": 332727,</a:t>
            </a:r>
          </a:p>
          <a:p>
            <a:r>
              <a:t>            "sample_count": 2</a:t>
            </a:r>
          </a:p>
          <a:p>
            <a:r>
              <a:t>          },</a:t>
            </a:r>
          </a:p>
          <a:p>
            <a:r>
              <a:t>          "2": {</a:t>
            </a:r>
          </a:p>
          <a:p>
            <a:r>
              <a:t>            "baseline": 97043,</a:t>
            </a:r>
          </a:p>
          <a:p>
            <a:r>
              <a:t>            "selected": 141143.5,</a:t>
            </a:r>
          </a:p>
          <a:p>
            <a:r>
              <a:t>            "sample_count": 2</a:t>
            </a:r>
          </a:p>
          <a:p>
            <a:r>
              <a:t>          },</a:t>
            </a:r>
          </a:p>
          <a:p>
            <a:r>
              <a:t>          "3": {</a:t>
            </a:r>
          </a:p>
          <a:p>
            <a:r>
              <a:t>            "baseline": 174799,</a:t>
            </a:r>
          </a:p>
          <a:p>
            <a:r>
              <a:t>            "selected": 168591.5,</a:t>
            </a:r>
          </a:p>
          <a:p>
            <a:r>
              <a:t>            "sample_count": 2</a:t>
            </a:r>
          </a:p>
          <a:p>
            <a:r>
              <a:t>          }</a:t>
            </a:r>
          </a:p>
          <a:p>
            <a:r>
              <a:t>        },</a:t>
            </a:r>
          </a:p>
          <a:p>
            <a:r>
              <a:t>        "selected_model": "RandomForestRegressor",</a:t>
            </a:r>
          </a:p>
          <a:p>
            <a:r>
              <a:t>        "baseline_test_mae": 192935.5,</a:t>
            </a:r>
          </a:p>
          <a:p>
            <a:r>
              <a:t>        "model_reliability": "below_baseline_on_test",</a:t>
            </a:r>
          </a:p>
          <a:p>
            <a:r>
              <a:t>        "beats_baseline_on_test": false,</a:t>
            </a:r>
          </a:p>
          <a:p>
            <a:r>
              <a:t>        "recursive_horizons_worse_than_baseline": [</a:t>
            </a:r>
          </a:p>
          <a:p>
            <a:r>
              <a:t>          "1",</a:t>
            </a:r>
          </a:p>
          <a:p>
            <a:r>
              <a:t>          "2"</a:t>
            </a:r>
          </a:p>
          <a:p>
            <a:r>
              <a:t>        ]</a:t>
            </a:r>
          </a:p>
          <a:p>
            <a:r>
              <a:t>      },</a:t>
            </a:r>
          </a:p>
          <a:p>
            <a:r>
              <a:t>      "spending_krw": {</a:t>
            </a:r>
          </a:p>
          <a:p>
            <a:r>
              <a:t>        "test_mae": 4927867951.9,</a:t>
            </a:r>
          </a:p>
          <a:p>
            <a:r>
              <a:t>        "recursive_mae": {</a:t>
            </a:r>
          </a:p>
          <a:p>
            <a:r>
              <a:t>          "1": {</a:t>
            </a:r>
          </a:p>
          <a:p>
            <a:r>
              <a:t>            "baseline": 1944140500,</a:t>
            </a:r>
          </a:p>
          <a:p>
            <a:r>
              <a:t>            "selected": 3237755191,</a:t>
            </a:r>
          </a:p>
          <a:p>
            <a:r>
              <a:t>            "sample_count": 2</a:t>
            </a:r>
          </a:p>
          <a:p>
            <a:r>
              <a:t>          },</a:t>
            </a:r>
          </a:p>
          <a:p>
            <a:r>
              <a:t>          "2": {</a:t>
            </a:r>
          </a:p>
          <a:p>
            <a:r>
              <a:t>            "baseline": 3984052500,</a:t>
            </a:r>
          </a:p>
          <a:p>
            <a:r>
              <a:t>            "selected": 1581504765.5,</a:t>
            </a:r>
          </a:p>
          <a:p>
            <a:r>
              <a:t>            "sample_count": 2</a:t>
            </a:r>
          </a:p>
          <a:p>
            <a:r>
              <a:t>          },</a:t>
            </a:r>
          </a:p>
          <a:p>
            <a:r>
              <a:t>          "3": {</a:t>
            </a:r>
          </a:p>
          <a:p>
            <a:r>
              <a:t>            "baseline": 2878173500,</a:t>
            </a:r>
          </a:p>
          <a:p>
            <a:r>
              <a:t>            "selected": 4493524184.5,</a:t>
            </a:r>
          </a:p>
          <a:p>
            <a:r>
              <a:t>            "sample_count": 2</a:t>
            </a:r>
          </a:p>
          <a:p>
            <a:r>
              <a:t>          }</a:t>
            </a:r>
          </a:p>
          <a:p>
            <a:r>
              <a:t>        },</a:t>
            </a:r>
          </a:p>
          <a:p>
            <a:r>
              <a:t>        "selected_model": "LinearRegression",</a:t>
            </a:r>
          </a:p>
          <a:p>
            <a:r>
              <a:t>        "baseline_test_mae": 2411157000,</a:t>
            </a:r>
          </a:p>
          <a:p>
            <a:r>
              <a:t>        "model_reliability": "below_baseline_on_test",</a:t>
            </a:r>
          </a:p>
          <a:p>
            <a:r>
              <a:t>        "beats_baseline_on_test": false,</a:t>
            </a:r>
          </a:p>
          <a:p>
            <a:r>
              <a:t>        "recursive_horizons_worse_than_baseline": [</a:t>
            </a:r>
          </a:p>
          <a:p>
            <a:r>
              <a:t>          "1",</a:t>
            </a:r>
          </a:p>
          <a:p>
            <a:r>
              <a:t>          "3"</a:t>
            </a:r>
          </a:p>
          <a:p>
            <a:r>
              <a:t>        ]</a:t>
            </a:r>
          </a:p>
          <a:p>
            <a:r>
              <a:t>      },</a:t>
            </a:r>
          </a:p>
          <a:p>
            <a:r>
              <a:t>      "stay_minutes": {</a:t>
            </a:r>
          </a:p>
          <a:p>
            <a:r>
              <a:t>        "test_mae": 113.5,</a:t>
            </a:r>
          </a:p>
          <a:p>
            <a:r>
              <a:t>        "recursive_mae": {</a:t>
            </a:r>
          </a:p>
          <a:p>
            <a:r>
              <a:t>          "1": {</a:t>
            </a:r>
          </a:p>
          <a:p>
            <a:r>
              <a:t>            "baseline": 52,</a:t>
            </a:r>
          </a:p>
          <a:p>
            <a:r>
              <a:t>            "selected": 52,</a:t>
            </a:r>
          </a:p>
          <a:p>
            <a:r>
              <a:t>            "sample_count": 2</a:t>
            </a:r>
          </a:p>
          <a:p>
            <a:r>
              <a:t>          },</a:t>
            </a:r>
          </a:p>
          <a:p>
            <a:r>
              <a:t>          "2": {</a:t>
            </a:r>
          </a:p>
          <a:p>
            <a:r>
              <a:t>            "baseline": 218.5,</a:t>
            </a:r>
          </a:p>
          <a:p>
            <a:r>
              <a:t>            "selected": 218.5,</a:t>
            </a:r>
          </a:p>
          <a:p>
            <a:r>
              <a:t>            "sample_count": 2</a:t>
            </a:r>
          </a:p>
          <a:p>
            <a:r>
              <a:t>          },</a:t>
            </a:r>
          </a:p>
          <a:p>
            <a:r>
              <a:t>          "3": {</a:t>
            </a:r>
          </a:p>
          <a:p>
            <a:r>
              <a:t>            "baseline": 175,</a:t>
            </a:r>
          </a:p>
          <a:p>
            <a:r>
              <a:t>            "selected": 175,</a:t>
            </a:r>
          </a:p>
          <a:p>
            <a:r>
              <a:t>            "sample_count": 2</a:t>
            </a:r>
          </a:p>
          <a:p>
            <a:r>
              <a:t>          }</a:t>
            </a:r>
          </a:p>
          <a:p>
            <a:r>
              <a:t>        },</a:t>
            </a:r>
          </a:p>
          <a:p>
            <a:r>
              <a:t>        "selected_model": "seasonal_naive_previous_year_same_month",</a:t>
            </a:r>
          </a:p>
          <a:p>
            <a:r>
              <a:t>        "baseline_test_mae": 113.5,</a:t>
            </a:r>
          </a:p>
          <a:p>
            <a:r>
              <a:t>        "model_reliability": "seasonal_baseline",</a:t>
            </a:r>
          </a:p>
          <a:p>
            <a:r>
              <a:t>        "beats_baseline_on_test": false,</a:t>
            </a:r>
          </a:p>
          <a:p>
            <a:r>
              <a:t>        "recursive_horizons_worse_than_baseline": []</a:t>
            </a:r>
          </a:p>
          <a:p>
            <a:r>
              <a:t>      },</a:t>
            </a:r>
          </a:p>
          <a:p>
            <a:r>
              <a:t>      "lodging_nights": {</a:t>
            </a:r>
          </a:p>
          <a:p>
            <a:r>
              <a:t>        "test_mae": 0.07,</a:t>
            </a:r>
          </a:p>
          <a:p>
            <a:r>
              <a:t>        "recursive_mae": {</a:t>
            </a:r>
          </a:p>
          <a:p>
            <a:r>
              <a:t>          "1": {</a:t>
            </a:r>
          </a:p>
          <a:p>
            <a:r>
              <a:t>            "baseline": 0.06,</a:t>
            </a:r>
          </a:p>
          <a:p>
            <a:r>
              <a:t>            "selected": 0.06,</a:t>
            </a:r>
          </a:p>
          <a:p>
            <a:r>
              <a:t>            "sample_count": 2</a:t>
            </a:r>
          </a:p>
          <a:p>
            <a:r>
              <a:t>          },</a:t>
            </a:r>
          </a:p>
          <a:p>
            <a:r>
              <a:t>          "2": {</a:t>
            </a:r>
          </a:p>
          <a:p>
            <a:r>
              <a:t>            "baseline": 0.11,</a:t>
            </a:r>
          </a:p>
          <a:p>
            <a:r>
              <a:t>            "selected": 0.11,</a:t>
            </a:r>
          </a:p>
          <a:p>
            <a:r>
              <a:t>            "sample_count": 2</a:t>
            </a:r>
          </a:p>
          <a:p>
            <a:r>
              <a:t>          },</a:t>
            </a:r>
          </a:p>
          <a:p>
            <a:r>
              <a:t>          "3": {</a:t>
            </a:r>
          </a:p>
          <a:p>
            <a:r>
              <a:t>            "baseline": 0.08,</a:t>
            </a:r>
          </a:p>
          <a:p>
            <a:r>
              <a:t>            "selected": 0.08,</a:t>
            </a:r>
          </a:p>
          <a:p>
            <a:r>
              <a:t>            "sample_count": 2</a:t>
            </a:r>
          </a:p>
          <a:p>
            <a:r>
              <a:t>          }</a:t>
            </a:r>
          </a:p>
          <a:p>
            <a:r>
              <a:t>        },</a:t>
            </a:r>
          </a:p>
          <a:p>
            <a:r>
              <a:t>        "selected_model": "seasonal_naive_previous_year_same_month",</a:t>
            </a:r>
          </a:p>
          <a:p>
            <a:r>
              <a:t>        "baseline_test_mae": 0.07,</a:t>
            </a:r>
          </a:p>
          <a:p>
            <a:r>
              <a:t>        "model_reliability": "seasonal_baseline",</a:t>
            </a:r>
          </a:p>
          <a:p>
            <a:r>
              <a:t>        "beats_baseline_on_test": false,</a:t>
            </a:r>
          </a:p>
          <a:p>
            <a:r>
              <a:t>        "recursive_horizons_worse_than_baseline": []</a:t>
            </a:r>
          </a:p>
          <a:p>
            <a:r>
              <a:t>      },</a:t>
            </a:r>
          </a:p>
          <a:p>
            <a:r>
              <a:t>      "lodging_rate_pct": {</a:t>
            </a:r>
          </a:p>
          <a:p>
            <a:r>
              <a:t>        "test_mae": 0.3,</a:t>
            </a:r>
          </a:p>
          <a:p>
            <a:r>
              <a:t>        "recursive_mae": {</a:t>
            </a:r>
          </a:p>
          <a:p>
            <a:r>
              <a:t>          "1": {</a:t>
            </a:r>
          </a:p>
          <a:p>
            <a:r>
              <a:t>            "baseline": 0.4,</a:t>
            </a:r>
          </a:p>
          <a:p>
            <a:r>
              <a:t>            "selected": 0.4,</a:t>
            </a:r>
          </a:p>
          <a:p>
            <a:r>
              <a:t>            "sample_count": 2</a:t>
            </a:r>
          </a:p>
          <a:p>
            <a:r>
              <a:t>          },</a:t>
            </a:r>
          </a:p>
          <a:p>
            <a:r>
              <a:t>          "2": {</a:t>
            </a:r>
          </a:p>
          <a:p>
            <a:r>
              <a:t>            "baseline": 0.2,</a:t>
            </a:r>
          </a:p>
          <a:p>
            <a:r>
              <a:t>            "selected": 0.2,</a:t>
            </a:r>
          </a:p>
          <a:p>
            <a:r>
              <a:t>            "sample_count": 2</a:t>
            </a:r>
          </a:p>
          <a:p>
            <a:r>
              <a:t>          },</a:t>
            </a:r>
          </a:p>
          <a:p>
            <a:r>
              <a:t>          "3": {</a:t>
            </a:r>
          </a:p>
          <a:p>
            <a:r>
              <a:t>            "baseline": 0.2,</a:t>
            </a:r>
          </a:p>
          <a:p>
            <a:r>
              <a:t>            "selected": 0.2,</a:t>
            </a:r>
          </a:p>
          <a:p>
            <a:r>
              <a:t>            "sample_count": 2</a:t>
            </a:r>
          </a:p>
          <a:p>
            <a:r>
              <a:t>          }</a:t>
            </a:r>
          </a:p>
          <a:p>
            <a:r>
              <a:t>        },</a:t>
            </a:r>
          </a:p>
          <a:p>
            <a:r>
              <a:t>        "selected_model": "seasonal_naive_previous_year_same_month",</a:t>
            </a:r>
          </a:p>
          <a:p>
            <a:r>
              <a:t>        "baseline_test_mae": 0.3,</a:t>
            </a:r>
          </a:p>
          <a:p>
            <a:r>
              <a:t>        "model_reliability": "seasonal_baseline",</a:t>
            </a:r>
          </a:p>
          <a:p>
            <a:r>
              <a:t>        "beats_baseline_on_test": false,</a:t>
            </a:r>
          </a:p>
          <a:p>
            <a:r>
              <a:t>        "recursive_horizons_worse_than_baseline": []</a:t>
            </a:r>
          </a:p>
          <a:p>
            <a:r>
              <a:t>      },</a:t>
            </a:r>
          </a:p>
          <a:p>
            <a:r>
              <a:t>      "lodging_searches": {</a:t>
            </a:r>
          </a:p>
          <a:p>
            <a:r>
              <a:t>        "test_mae": 526.5,</a:t>
            </a:r>
          </a:p>
          <a:p>
            <a:r>
              <a:t>        "recursive_mae": {</a:t>
            </a:r>
          </a:p>
          <a:p>
            <a:r>
              <a:t>          "1": {</a:t>
            </a:r>
          </a:p>
          <a:p>
            <a:r>
              <a:t>            "baseline": 779,</a:t>
            </a:r>
          </a:p>
          <a:p>
            <a:r>
              <a:t>            "selected": 779,</a:t>
            </a:r>
          </a:p>
          <a:p>
            <a:r>
              <a:t>            "sample_count": 2</a:t>
            </a:r>
          </a:p>
          <a:p>
            <a:r>
              <a:t>          },</a:t>
            </a:r>
          </a:p>
          <a:p>
            <a:r>
              <a:t>          "2": {</a:t>
            </a:r>
          </a:p>
          <a:p>
            <a:r>
              <a:t>            "baseline": 391.5,</a:t>
            </a:r>
          </a:p>
          <a:p>
            <a:r>
              <a:t>            "selected": 391.5,</a:t>
            </a:r>
          </a:p>
          <a:p>
            <a:r>
              <a:t>            "sample_count": 2</a:t>
            </a:r>
          </a:p>
          <a:p>
            <a:r>
              <a:t>          },</a:t>
            </a:r>
          </a:p>
          <a:p>
            <a:r>
              <a:t>          "3": {</a:t>
            </a:r>
          </a:p>
          <a:p>
            <a:r>
              <a:t>            "baseline": 274,</a:t>
            </a:r>
          </a:p>
          <a:p>
            <a:r>
              <a:t>            "selected": 274,</a:t>
            </a:r>
          </a:p>
          <a:p>
            <a:r>
              <a:t>            "sample_count": 2</a:t>
            </a:r>
          </a:p>
          <a:p>
            <a:r>
              <a:t>          }</a:t>
            </a:r>
          </a:p>
          <a:p>
            <a:r>
              <a:t>        },</a:t>
            </a:r>
          </a:p>
          <a:p>
            <a:r>
              <a:t>        "selected_model": "seasonal_naive_previous_year_same_month",</a:t>
            </a:r>
          </a:p>
          <a:p>
            <a:r>
              <a:t>        "baseline_test_mae": 526.5,</a:t>
            </a:r>
          </a:p>
          <a:p>
            <a:r>
              <a:t>        "model_reliability": "seasonal_baseline",</a:t>
            </a:r>
          </a:p>
          <a:p>
            <a:r>
              <a:t>        "beats_baseline_on_test": false,</a:t>
            </a:r>
          </a:p>
          <a:p>
            <a:r>
              <a:t>        "recursive_horizons_worse_than_baseline": []</a:t>
            </a:r>
          </a:p>
          <a:p>
            <a:r>
              <a:t>      },</a:t>
            </a:r>
          </a:p>
          <a:p>
            <a:r>
              <a:t>      "navigation_searches": {</a:t>
            </a:r>
          </a:p>
          <a:p>
            <a:r>
              <a:t>        "test_mae": 20482.57,</a:t>
            </a:r>
          </a:p>
          <a:p>
            <a:r>
              <a:t>        "recursive_mae": {</a:t>
            </a:r>
          </a:p>
          <a:p>
            <a:r>
              <a:t>          "1": {</a:t>
            </a:r>
          </a:p>
          <a:p>
            <a:r>
              <a:t>            "baseline": 9487,</a:t>
            </a:r>
          </a:p>
          <a:p>
            <a:r>
              <a:t>            "selected": 20785,</a:t>
            </a:r>
          </a:p>
          <a:p>
            <a:r>
              <a:t>            "sample_count": 2</a:t>
            </a:r>
          </a:p>
          <a:p>
            <a:r>
              <a:t>          },</a:t>
            </a:r>
          </a:p>
          <a:p>
            <a:r>
              <a:t>          "2": {</a:t>
            </a:r>
          </a:p>
          <a:p>
            <a:r>
              <a:t>            "baseline": 6758.5,</a:t>
            </a:r>
          </a:p>
          <a:p>
            <a:r>
              <a:t>            "selected": 14198,</a:t>
            </a:r>
          </a:p>
          <a:p>
            <a:r>
              <a:t>            "sample_count": 2</a:t>
            </a:r>
          </a:p>
          <a:p>
            <a:r>
              <a:t>          },</a:t>
            </a:r>
          </a:p>
          <a:p>
            <a:r>
              <a:t>          "3": {</a:t>
            </a:r>
          </a:p>
          <a:p>
            <a:r>
              <a:t>            "baseline": 14633,</a:t>
            </a:r>
          </a:p>
          <a:p>
            <a:r>
              <a:t>            "selected": 18839,</a:t>
            </a:r>
          </a:p>
          <a:p>
            <a:r>
              <a:t>            "sample_count": 2</a:t>
            </a:r>
          </a:p>
          <a:p>
            <a:r>
              <a:t>          }</a:t>
            </a:r>
          </a:p>
          <a:p>
            <a:r>
              <a:t>        },</a:t>
            </a:r>
          </a:p>
          <a:p>
            <a:r>
              <a:t>        "selected_model": "RandomForestRegressor",</a:t>
            </a:r>
          </a:p>
          <a:p>
            <a:r>
              <a:t>        "baseline_test_mae": 12060,</a:t>
            </a:r>
          </a:p>
          <a:p>
            <a:r>
              <a:t>        "model_reliability": "below_baseline_on_test",</a:t>
            </a:r>
          </a:p>
          <a:p>
            <a:r>
              <a:t>        "beats_baseline_on_test": false,</a:t>
            </a:r>
          </a:p>
          <a:p>
            <a:r>
              <a:t>        "recursive_horizons_worse_than_baseline": [</a:t>
            </a:r>
          </a:p>
          <a:p>
            <a:r>
              <a:t>          "1",</a:t>
            </a:r>
          </a:p>
          <a:p>
            <a:r>
              <a:t>          "2",</a:t>
            </a:r>
          </a:p>
          <a:p>
            <a:r>
              <a:t>          "3"</a:t>
            </a:r>
          </a:p>
          <a:p>
            <a:r>
              <a:t>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0.019303448467232462,</a:t>
            </a:r>
          </a:p>
          <a:p>
            <a:r>
              <a:t>    "spending_target_pct": 0.04151694433378397,</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"지역 상품권 환급액 = 적격 신청의 min(증빙 인정 지출액 × 10%, 건별 상한 50,000원)의 합산 (단가 및 총 예산은 참여 업체 수와 예상 신청 건수에 따라 확정 필요)",</a:t>
            </a:r>
          </a:p>
          <a:p>
            <a:r>
              <a:t>        "본문 기준"</a:t>
            </a:r>
          </a:p>
          <a:p>
            <a:r>
              <a:t>      ]</a:t>
            </a:r>
          </a:p>
          <a:p>
            <a:r>
              <a:t>    ],</a:t>
            </a:r>
          </a:p>
          <a:p>
            <a:r>
              <a:t>    "original_text": "지역 상품권 환급액 = 적격 신청의 min(증빙 인정 지출액 × 10%, 건별 상한 50,000원)의 합산 (단가 및 총 예산은 참여 업체 수와 예상 신청 건수에 따라 확정 필요)",</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"operating_statistics": [],</a:t>
            </a:r>
          </a:p>
          <a:p>
            <a:r>
              <a:t>    "published_or_updated_at": "2025-01-02",</a:t>
            </a:r>
          </a:p>
          <a:p>
            <a:r>
              <a:t>    "quantitative_result_approved": false</a:t>
            </a:r>
          </a:p>
          <a:p>
            <a:r>
              <a:t>  },</a:t>
            </a:r>
          </a:p>
          <a:p>
            <a:r>
              <a:t>  "export_evidence": null,</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운영 규모와 참여 가정에서 추가 방문·소비를 계산합니다. 지역 전체 사례 증가율이나 인구 비율을 신규 사업의 효과로 복사하지 않습니다. 운영량과 단가를 곱해 예상 견적을 산정합니다. 자동 제안과 사용자 수정 목표는 구분하며 계획 시나리오는 통계적 신뢰구간이 아닙니다.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14,928,559명 → 목표 14,929,999명 (추가 1,440명, +0.01%)\n관광소비액: 기준 246,365,272,670원 → 목표 246,416,761,947원 (추가 51,489,277원, +0.02%)\n준비월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실제 운영 산정: 2026-11~2026-12, 2개월. 준비 기간에는 추가 방문·소비 목표를 배분하지 않습니다.\n8개 × 월 20일 × 2개월 × 하루 1회 × 회당 20명 = 6,400명분 → 참여 목표 4,800건의 예상 집행액.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14928559.0,</a:t>
            </a:r>
          </a:p>
          <a:p>
            <a:r>
              <a:t>        "target": 14929999.0,</a:t>
            </a:r>
          </a:p>
          <a:p>
            <a:r>
              <a:t>        "additional": 1440.0,</a:t>
            </a:r>
          </a:p>
          <a:p>
            <a:r>
              <a:t>        "pct": 0.009645941044955642</a:t>
            </a:r>
          </a:p>
          <a:p>
            <a:r>
              <a:t>      },</a:t>
            </a:r>
          </a:p>
          <a:p>
            <a:r>
              <a:t>      {</a:t>
            </a:r>
          </a:p>
          <a:p>
            <a:r>
              <a:t>        "key": "spending",</a:t>
            </a:r>
          </a:p>
          <a:p>
            <a:r>
              <a:t>        "label": "관광소비액",</a:t>
            </a:r>
          </a:p>
          <a:p>
            <a:r>
              <a:t>        "unit": "원",</a:t>
            </a:r>
          </a:p>
          <a:p>
            <a:r>
              <a:t>        "baseline": 246365272670.0,</a:t>
            </a:r>
          </a:p>
          <a:p>
            <a:r>
              <a:t>        "target": 246416761947.0,</a:t>
            </a:r>
          </a:p>
          <a:p>
            <a:r>
              <a:t>        "additional": 51489277.0,</a:t>
            </a:r>
          </a:p>
          <a:p>
            <a:r>
              <a:t>        "pct": 0.02089956771991197</a:t>
            </a:r>
          </a:p>
          <a:p>
            <a:r>
              <a:t>      }</a:t>
            </a:r>
          </a:p>
          <a:p>
            <a:r>
              <a:t>    ],</a:t>
            </a:r>
          </a:p>
          <a:p>
            <a:r>
              <a:t>    "demo": false,</a:t>
            </a:r>
          </a:p>
          <a:p>
            <a:r>
              <a:t>    "models": {</a:t>
            </a:r>
          </a:p>
          <a:p>
            <a:r>
              <a:t>      "visitors": "랜덤 포레스트",</a:t>
            </a:r>
          </a:p>
          <a:p>
            <a:r>
              <a:t>      "spending_krw": "선형 회귀",</a:t>
            </a:r>
          </a:p>
          <a:p>
            <a:r>
              <a:t>      "stay_minutes": "전년 동월 기준모델",</a:t>
            </a:r>
          </a:p>
          <a:p>
            <a:r>
              <a:t>      "lodging_nights": "전년 동월 기준모델",</a:t>
            </a:r>
          </a:p>
          <a:p>
            <a:r>
              <a:t>      "lodging_rate_pct": "전년 동월 기준모델",</a:t>
            </a:r>
          </a:p>
          <a:p>
            <a:r>
              <a:t>      "lodging_searches": "전년 동월 기준모델",</a:t>
            </a:r>
          </a:p>
          <a:p>
            <a:r>
              <a:t>      "navigation_searches": "랜덤 포레스트"</a:t>
            </a:r>
          </a:p>
          <a:p>
            <a:r>
              <a:t>    },</a:t>
            </a:r>
          </a:p>
          <a:p>
            <a:r>
              <a:t>    "source_period": "202401~202606",</a:t>
            </a:r>
          </a:p>
          <a:p>
            <a:r>
              <a:t>    "months": [</a:t>
            </a:r>
          </a:p>
          <a:p>
            <a:r>
              <a:t>      "26.10",</a:t>
            </a:r>
          </a:p>
          <a:p>
            <a:r>
              <a:t>      "26.11",</a:t>
            </a:r>
          </a:p>
          <a:p>
            <a:r>
              <a:t>      "26.12"</a:t>
            </a:r>
          </a:p>
          <a:p>
            <a:r>
              <a:t>    ],</a:t>
            </a:r>
          </a:p>
          <a:p>
            <a:r>
              <a:t>    "case_count": 8,</a:t>
            </a:r>
          </a:p>
          <a:p>
            <a:r>
              <a:t>    "case_region_count": 8,</a:t>
            </a:r>
          </a:p>
          <a:p>
            <a:r>
              <a:t>    "candidate_count": 2,</a:t>
            </a:r>
          </a:p>
          <a:p>
            <a:r>
              <a:t>    "displayed_count": 3,</a:t>
            </a:r>
          </a:p>
          <a:p>
            <a:r>
              <a:t>    "primary":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"operating_statistics": [],</a:t>
            </a:r>
          </a:p>
          <a:p>
            <a:r>
              <a:t>      "published_or_updated_at": "2025-01-02",</a:t>
            </a:r>
          </a:p>
          <a:p>
            <a:r>
              <a:t>      "quantitative_result_approved": false</a:t>
            </a:r>
          </a:p>
          <a:p>
            <a:r>
              <a:t>    },</a:t>
            </a:r>
          </a:p>
          <a:p>
            <a:r>
              <a:t>    "selection_reason": "지역 상품권 환급 프로그램은 'case:gangjin_half_price_2024' 사례와 유사한 방식으로, 대전광역시 서구의 외지인 관광소비 총액을 기반으로 설계할 수 있으며, 지역 내 소비를 유도할 수 있는 잠재력이 있습니다. 이는 'case:kto_stay_discount_2022' 사례와 비교하여, 지역 상품권 환급 방식이 더 적합하다고 판단됩니다.",</a:t>
            </a:r>
          </a:p>
          <a:p>
            <a:r>
              <a:t>    "target_explanation":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실제 운영 산정: 2026-11~2026-12, 2개월. 준비 기간에는 추가 방문·소비 목표를 배분하지 않습니다.",</a:t>
            </a:r>
          </a:p>
          <a:p>
            <a:r>
              <a:t>    "estimate": {</a:t>
            </a:r>
          </a:p>
          <a:p>
            <a:r>
              <a:t>      "version": "operating-capacity-v4-linked-cost",</a:t>
            </a:r>
          </a:p>
          <a:p>
            <a:r>
              <a:t>      "status": "planning_assumption_not_quote",</a:t>
            </a:r>
          </a:p>
          <a:p>
            <a:r>
              <a:t>      "scale_basis": "8개 × 월 20일 × 2개월 × 하루 1회 × 회당 20명 = 6,400명분 → 참여 목표 4,800건의 예상 집행액. 모든 단가는 기획 가정.",</a:t>
            </a:r>
          </a:p>
          <a:p>
            <a:r>
              <a:t>      "months": 2,</a:t>
            </a:r>
          </a:p>
          <a:p>
            <a:r>
              <a:t>      "refund": true,</a:t>
            </a:r>
          </a:p>
          <a:p>
            <a:r>
              <a:t>      "quantity": 4800,</a:t>
            </a:r>
          </a:p>
          <a:p>
            <a:r>
              <a:t>      "unit_krw": 1650,</a:t>
            </a:r>
          </a:p>
          <a:p>
            <a:r>
              <a:t>      "capacity_quantity": 6400,</a:t>
            </a:r>
          </a:p>
          <a:p>
            <a:r>
              <a:t>      "per_claim_cap_krw": 50000,</a:t>
            </a:r>
          </a:p>
          <a:p>
            <a:r>
              <a:t>      "refund_rate_pct": 10.0,</a:t>
            </a:r>
          </a:p>
          <a:p>
            <a:r>
              <a:t>      "redemption_target_pct": 75.0,</a:t>
            </a:r>
          </a:p>
          <a:p>
            <a:r>
              <a:t>      "redemption_count": 4800,</a:t>
            </a:r>
          </a:p>
          <a:p>
            <a:r>
              <a:t>      "purchase_per_participant_krw": 16503,</a:t>
            </a:r>
          </a:p>
          <a:p>
            <a:r>
              <a:t>      "qualifying_spend_krw": 79214400,</a:t>
            </a:r>
          </a:p>
          <a:p>
            <a:r>
              <a:t>      "subtotal_krw": 35920000,</a:t>
            </a:r>
          </a:p>
          <a:p>
            <a:r>
              <a:t>      "reserve_krw": 3592000,</a:t>
            </a:r>
          </a:p>
          <a:p>
            <a:r>
              <a:t>      "total_krw": 39512000,</a:t>
            </a:r>
          </a:p>
          <a:p>
            <a:r>
              <a:t>      "within_hard_budget": true,</a:t>
            </a:r>
          </a:p>
          <a:p>
            <a:r>
              <a:t>      "full_participation_budget_krw": 42416000,</a:t>
            </a:r>
          </a:p>
          <a:p>
            <a:r>
              <a:t>      "participant_purchases_krw": 79214400,</a:t>
            </a:r>
          </a:p>
          <a:p>
            <a:r>
              <a:t>      "additional_spending_krw": 51489277,</a:t>
            </a:r>
          </a:p>
          <a:p>
            <a:r>
              <a:t>      "scenario_note": "참여자 결제 79,214,400원 중 추가 소비 목표 51,489,277원. 견적은 같은 참여 목표의 사업비이며, 결제액 전체를 신규 소비나 사업 수익으로 계산하지 않습니다.",</a:t>
            </a:r>
          </a:p>
          <a:p>
            <a:r>
              <a:t>      "items": [</a:t>
            </a:r>
          </a:p>
          <a:p>
            <a:r>
              <a:t>        {</a:t>
            </a:r>
          </a:p>
          <a:p>
            <a:r>
              <a:t>          "name": "여행비 환급 지원",</a:t>
            </a:r>
          </a:p>
          <a:p>
            <a:r>
              <a:t>          "basis": "참여 목표 4,800건 × min(계획 결제 16,503원 × 10%, 건별 상한 50,000원) = 건당 1,650원",</a:t>
            </a:r>
          </a:p>
          <a:p>
            <a:r>
              <a:t>          "amount": 7920000</a:t>
            </a:r>
          </a:p>
          <a:p>
            <a:r>
              <a:t>        },</a:t>
            </a:r>
          </a:p>
          <a:p>
            <a:r>
              <a:t>        {</a:t>
            </a:r>
          </a:p>
          <a:p>
            <a:r>
              <a:t>          "name": "현장 운영·정산",</a:t>
            </a:r>
          </a:p>
          <a:p>
            <a:r>
              <a:t>          "basis": "2개 운영팀 × 월 20일 × 2개월 × 150,000원 (점포 묶음 8개, 최대 4개당 공동 정산팀 1개)",</a:t>
            </a:r>
          </a:p>
          <a:p>
            <a:r>
              <a:t>          "amount": 12000000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35,920,000원 × 10%",</a:t>
            </a:r>
          </a:p>
          <a:p>
            <a:r>
              <a:t>          "amount": 3592000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10%, 건별 상한 50,000원 및 점포 묶음 최대 4개당 정산팀 1개는 계획 설정입니다. 지급 총액은 편성 예산 내에서 운영합니다."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operating_target.build_operating_target; 사용자 재배분: idea_proposal.scale_estimate; 전망 없는 기존 견적: proposal_evidence.build_reference_estimate.</a:t>
            </a:r>
          </a:p>
          <a:p>
            <a:r>
              <a:t>{</a:t>
            </a:r>
          </a:p>
          <a:p>
            <a:r>
              <a:t>  "version": "operating-capacity-v4-linked-cost",</a:t>
            </a:r>
          </a:p>
          <a:p>
            <a:r>
              <a:t>  "status": "planning_assumption_not_quote",</a:t>
            </a:r>
          </a:p>
          <a:p>
            <a:r>
              <a:t>  "scale_basis": "8개 × 월 20일 × 2개월 × 하루 1회 × 회당 20명 = 6,400명분 → 참여 목표 4,800건의 예상 집행액. 모든 단가는 기획 가정.",</a:t>
            </a:r>
          </a:p>
          <a:p>
            <a:r>
              <a:t>  "months": 2,</a:t>
            </a:r>
          </a:p>
          <a:p>
            <a:r>
              <a:t>  "refund": true,</a:t>
            </a:r>
          </a:p>
          <a:p>
            <a:r>
              <a:t>  "quantity": 4800,</a:t>
            </a:r>
          </a:p>
          <a:p>
            <a:r>
              <a:t>  "unit_krw": 1650,</a:t>
            </a:r>
          </a:p>
          <a:p>
            <a:r>
              <a:t>  "capacity_quantity": 6400,</a:t>
            </a:r>
          </a:p>
          <a:p>
            <a:r>
              <a:t>  "per_claim_cap_krw": 50000,</a:t>
            </a:r>
          </a:p>
          <a:p>
            <a:r>
              <a:t>  "refund_rate_pct": 10.0,</a:t>
            </a:r>
          </a:p>
          <a:p>
            <a:r>
              <a:t>  "redemption_target_pct": 75.0,</a:t>
            </a:r>
          </a:p>
          <a:p>
            <a:r>
              <a:t>  "redemption_count": 4800,</a:t>
            </a:r>
          </a:p>
          <a:p>
            <a:r>
              <a:t>  "purchase_per_participant_krw": 16503,</a:t>
            </a:r>
          </a:p>
          <a:p>
            <a:r>
              <a:t>  "qualifying_spend_krw": 79214400,</a:t>
            </a:r>
          </a:p>
          <a:p>
            <a:r>
              <a:t>  "subtotal_krw": 35920000,</a:t>
            </a:r>
          </a:p>
          <a:p>
            <a:r>
              <a:t>  "reserve_krw": 3592000,</a:t>
            </a:r>
          </a:p>
          <a:p>
            <a:r>
              <a:t>  "total_krw": 39512000,</a:t>
            </a:r>
          </a:p>
          <a:p>
            <a:r>
              <a:t>  "within_hard_budget": true,</a:t>
            </a:r>
          </a:p>
          <a:p>
            <a:r>
              <a:t>  "full_participation_budget_krw": 42416000,</a:t>
            </a:r>
          </a:p>
          <a:p>
            <a:r>
              <a:t>  "participant_purchases_krw": 79214400,</a:t>
            </a:r>
          </a:p>
          <a:p>
            <a:r>
              <a:t>  "additional_spending_krw": 51489277,</a:t>
            </a:r>
          </a:p>
          <a:p>
            <a:r>
              <a:t>  "scenario_note": "참여자 결제 79,214,400원 중 추가 소비 목표 51,489,277원. 견적은 같은 참여 목표의 사업비이며, 결제액 전체를 신규 소비나 사업 수익으로 계산하지 않습니다.",</a:t>
            </a:r>
          </a:p>
          <a:p>
            <a:r>
              <a:t>  "items": [</a:t>
            </a:r>
          </a:p>
          <a:p>
            <a:r>
              <a:t>    {</a:t>
            </a:r>
          </a:p>
          <a:p>
            <a:r>
              <a:t>      "name": "여행비 환급 지원",</a:t>
            </a:r>
          </a:p>
          <a:p>
            <a:r>
              <a:t>      "basis": "참여 목표 4,800건 × min(계획 결제 16,503원 × 10%, 건별 상한 50,000원) = 건당 1,650원",</a:t>
            </a:r>
          </a:p>
          <a:p>
            <a:r>
              <a:t>      "amount": 7920000</a:t>
            </a:r>
          </a:p>
          <a:p>
            <a:r>
              <a:t>    },</a:t>
            </a:r>
          </a:p>
          <a:p>
            <a:r>
              <a:t>    {</a:t>
            </a:r>
          </a:p>
          <a:p>
            <a:r>
              <a:t>      "name": "현장 운영·정산",</a:t>
            </a:r>
          </a:p>
          <a:p>
            <a:r>
              <a:t>      "basis": "2개 운영팀 × 월 20일 × 2개월 × 150,000원 (점포 묶음 8개, 최대 4개당 공동 정산팀 1개)",</a:t>
            </a:r>
          </a:p>
          <a:p>
            <a:r>
              <a:t>      "amount": 12000000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35,920,000원 × 10%",</a:t>
            </a:r>
          </a:p>
          <a:p>
            <a:r>
              <a:t>      "amount": 3592000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10%, 건별 상한 50,000원 및 점포 묶음 최대 4개당 정산팀 1개는 계획 설정입니다. 지급 총액은 편성 예산 내에서 운영합니다."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방문자/2025_01_12.zip | https://datalab.visitkorea.or.kr/</a:t>
            </a:r>
          </a:p>
          <a:p xmlns:a="http://schemas.openxmlformats.org/drawingml/2006/main">
            <a:r>
              <a:t>datalab:162285800b98:dbba3ac2e220 | 관광소비/2025_01_12.zip | https://datalab.visitkorea.or.kr/</a:t>
            </a:r>
          </a:p>
          <a:p xmlns:a="http://schemas.openxmlformats.org/drawingml/2006/main">
            <a:r>
              <a:t>datalab:1bec5b4405e1:6c5494eef7c6 | 숙박_체류시간/2025_01_12.zip | https://datalab.visitkorea.or.kr/</a:t>
            </a:r>
          </a:p>
          <a:p xmlns:a="http://schemas.openxmlformats.org/drawingml/2006/main">
            <a:r>
              <a:t>datalab:7a4db91d6ba9:d81294f3e5a0 | 관광소비/2026_01_06.zip | https://datalab.visitkorea.or.kr/</a:t>
            </a:r>
          </a:p>
          <a:p xmlns:a="http://schemas.openxmlformats.org/drawingml/2006/main">
            <a:r>
              <a:t>datalab:cc1dc8fb5607:77f3b69cfb89 | 방문자/2026_01_06.zip | https://datalab.visitkorea.or.kr/</a:t>
            </a:r>
          </a:p>
          <a:p xmlns:a="http://schemas.openxmlformats.org/drawingml/2006/main">
            <a:r>
              <a:t>datalab:e53d144382ee:fc025995a6df | 숙박_체류시간/2026_01_06.zip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case:festival:01474ef75569b1 | 한국관광 데이터랩 · 문경찻사발축제 방문자 추이 | https://datalab.visitkorea.or.kr/</a:t>
            </a:r>
          </a:p>
          <a:p xmlns:a="http://schemas.openxmlformats.org/drawingml/2006/main">
            <a:r>
              <a:t>case:festival:0e9c7c065555b0 | 한국관광 데이터랩 · 안동탈춤축제 방문자 추이 | https://datalab.visitkorea.or.kr/</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case:festival:1ff9d11d3ee0ee | 한국관광 데이터랩 · 진도신비의바닷길축제 방문자 추이 | https://datalab.visitkorea.or.kr/</a:t>
            </a:r>
          </a:p>
          <a:p xmlns:a="http://schemas.openxmlformats.org/drawingml/2006/main">
            <a:r>
              <a:t>case:festival:1ffc3eec28956a | 한국관광 데이터랩 · 통영한산대첩축제 방문자 추이 | https://datalab.visitkorea.or.kr/</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"title": "한국관광 데이터랩 · 대전광역시 서구 순 방문자 수 및 숙박 비율 (이동통신 기반 외지인)",</a:t>
            </a:r>
          </a:p>
          <a:p xmlns:a="http://schemas.openxmlformats.org/drawingml/2006/main">
            <a:r>
              <a:t>      "summary": "월간 순 방문자 수: 4,619,168명 (관측 기준월: 2026-06)",</a:t>
            </a:r>
          </a:p>
          <a:p xmlns:a="http://schemas.openxmlformats.org/drawingml/2006/main">
            <a:r>
              <a:t>      "source_id": "dataset:30170:1",</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월간 순 방문자 수 (이동통신 기반 외지인)",</a:t>
            </a:r>
          </a:p>
          <a:p xmlns:a="http://schemas.openxmlformats.org/drawingml/2006/main">
            <a:r>
              <a:t>      "summary": "전년동월 외지인 방문자 증감률: -3.5% (관측 기준월: 2026-06)",</a:t>
            </a:r>
          </a:p>
          <a:p xmlns:a="http://schemas.openxmlformats.org/drawingml/2006/main">
            <a:r>
              <a:t>      "source_id": "dataset:30170:2",</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관광소비 추이_외지인",</a:t>
            </a:r>
          </a:p>
          <a:p xmlns:a="http://schemas.openxmlformats.org/drawingml/2006/main">
            <a:r>
              <a:t>      "summary": "월간 외지인 관광소비 총액: 76,758,413,000원 (관측 기준월: 2026-06)",</a:t>
            </a:r>
          </a:p>
          <a:p xmlns:a="http://schemas.openxmlformats.org/drawingml/2006/main">
            <a:r>
              <a:t>      "source_id": "dataset:30170:3",</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숙박방문자 비율 추이 (이동통신 기반 외지인)",</a:t>
            </a:r>
          </a:p>
          <a:p xmlns:a="http://schemas.openxmlformats.org/drawingml/2006/main">
            <a:r>
              <a:t>      "summary": "외지인 숙박 방문 비율: 6.7% (관측 기준월: 2026-06)",</a:t>
            </a:r>
          </a:p>
          <a:p xmlns:a="http://schemas.openxmlformats.org/drawingml/2006/main">
            <a:r>
              <a:t>      "source_id": "dataset:30170:4",</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평균 숙박일 (이동통신 기반 외지인)",</a:t>
            </a:r>
          </a:p>
          <a:p xmlns:a="http://schemas.openxmlformats.org/drawingml/2006/main">
            <a:r>
              <a:t>      "summary": "외지인 평균 숙박일수: 2.81일 (관측 기준월: 2026-06)",</a:t>
            </a:r>
          </a:p>
          <a:p xmlns:a="http://schemas.openxmlformats.org/drawingml/2006/main">
            <a:r>
              <a:t>      "source_id": "dataset:30170:5",</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내비게이션 목적지 유형별 검색량",</a:t>
            </a:r>
          </a:p>
          <a:p xmlns:a="http://schemas.openxmlformats.org/drawingml/2006/main">
            <a:r>
              <a:t>      "summary": "내비게이션 목적지 검색량: 191,346건 (관측 기준월: 2026-06)",</a:t>
            </a:r>
          </a:p>
          <a:p xmlns:a="http://schemas.openxmlformats.org/drawingml/2006/main">
            <a:r>
              <a:t>      "source_id": "dataset:30170:6",</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SNS 언급량",</a:t>
            </a:r>
          </a:p>
          <a:p xmlns:a="http://schemas.openxmlformats.org/drawingml/2006/main">
            <a:r>
              <a:t>      "summary": "SNS 언급량: 54,388건 (관측 기준월: 2026-06)",</a:t>
            </a:r>
          </a:p>
          <a:p xmlns:a="http://schemas.openxmlformats.org/drawingml/2006/main">
            <a:r>
              <a:t>      "source_id": "dataset:30170:7",</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대전광역시_서구/방문자/2025_01_12.zip",</a:t>
            </a:r>
          </a:p>
          <a:p xmlns:a="http://schemas.openxmlformats.org/drawingml/2006/main">
            <a:r>
              <a:t>      "summary": "전국 비교 기준 기간: 2025-07 ~ 2026-06",</a:t>
            </a:r>
          </a:p>
          <a:p xmlns:a="http://schemas.openxmlformats.org/drawingml/2006/main">
            <a:r>
              <a:t>      "source_id": "datalab:12c41f8a3e52:f92921dca662",</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"대전광역시_서구/방문자/2025_01_12.zip"</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대전광역시_서구/관광소비/2025_01_12.zip",</a:t>
            </a:r>
          </a:p>
          <a:p xmlns:a="http://schemas.openxmlformats.org/drawingml/2006/main">
            <a:r>
              <a:t>      "summary": "전국 비교 기준 기간: 2025-07 ~ 2026-06",</a:t>
            </a:r>
          </a:p>
          <a:p xmlns:a="http://schemas.openxmlformats.org/drawingml/2006/main">
            <a:r>
              <a:t>      "source_id": "datalab:162285800b98:dbba3ac2e220",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"대전광역시_서구/관광소비/2025_01_12.zip"</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대전광역시_서구/숙박_체류시간/2025_01_12.zip",</a:t>
            </a:r>
          </a:p>
          <a:p xmlns:a="http://schemas.openxmlformats.org/drawingml/2006/main">
            <a:r>
              <a:t>      "summary": "전국 비교 기준 기간: 2025-07 ~ 2026-06",</a:t>
            </a:r>
          </a:p>
          <a:p xmlns:a="http://schemas.openxmlformats.org/drawingml/2006/main">
            <a:r>
              <a:t>      "source_id": "datalab:1bec5b4405e1:6c5494eef7c6",</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"대전광역시_서구/숙박_체류시간/2025_01_12.zip"</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대전광역시_서구/관광소비/2026_01_06.zip",</a:t>
            </a:r>
          </a:p>
          <a:p xmlns:a="http://schemas.openxmlformats.org/drawingml/2006/main">
            <a:r>
              <a:t>      "summary": "전국 비교 기준 기간: 2025-07 ~ 2026-06",</a:t>
            </a:r>
          </a:p>
          <a:p xmlns:a="http://schemas.openxmlformats.org/drawingml/2006/main">
            <a:r>
              <a:t>      "source_id": "datalab:7a4db91d6ba9:d81294f3e5a0",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"대전광역시_서구/관광소비/2026_01_06.zip"</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대전광역시_서구/방문자/2026_01_06.zip",</a:t>
            </a:r>
          </a:p>
          <a:p xmlns:a="http://schemas.openxmlformats.org/drawingml/2006/main">
            <a:r>
              <a:t>      "summary": "전국 비교 기준 기간: 2025-07 ~ 2026-06",</a:t>
            </a:r>
          </a:p>
          <a:p xmlns:a="http://schemas.openxmlformats.org/drawingml/2006/main">
            <a:r>
              <a:t>      "source_id": "datalab:cc1dc8fb5607:77f3b69cfb89",</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"대전광역시_서구/방문자/2026_01_06.zip"</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대전광역시_서구/숙박_체류시간/2026_01_06.zip",</a:t>
            </a:r>
          </a:p>
          <a:p xmlns:a="http://schemas.openxmlformats.org/drawingml/2006/main">
            <a:r>
              <a:t>      "summary": "전국 비교 기준 기간: 2025-07 ~ 2026-06",</a:t>
            </a:r>
          </a:p>
          <a:p xmlns:a="http://schemas.openxmlformats.org/drawingml/2006/main">
            <a:r>
              <a:t>      "source_id": "datalab:e53d144382ee:fc025995a6df",</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"대전광역시_서구/숙박_체류시간/2026_01_06.zip"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"team-bigdata:23ea68053684:6bfbcf8aabf6",</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"이동통신/내국인/지역별 방문자수/20260820140607__202601-202606_데이터랩_다운로드.zip"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"team-bigdata:98d4ae590d9a:3be52dd54323",</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"이동통신/외국인/20260820141710_전국_202601-202606_데이터랩_다운로드.zip"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"team-bigdata:367cd0294ec4:873930d645e5",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"신용카드/내국인/지역별 관광지출액/20260820140046__202601-202606_데이터랩_다운로드.zip"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"team-bigdata:553a0dad4bb4:5a31355dffe8",</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"신용카드/외국인/지역별 관광지출액/20260820140355__202601-202606_데이터랩_다운로드.zip"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"team-bigdata:a53dbe1c21df:77a052de41d5",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"네비게이션/지역별 검색건수/20260820195507__202601-202606_데이터랩_다운로드.zip"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"team-bigdata:823a38d1d61c:5385261d02e5",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"이동통신/내국인/지역별 방문자수/20260820140614__202501-202512_데이터랩_다운로드.zip"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"team-bigdata:2723bdb0d589:1666a34058ed",</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"이동통신/외국인/20260820141649_전국_202501-202512_데이터랩_다운로드.zip"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"team-bigdata:83177a234971:c02cb7972e0f",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"신용카드/내국인/지역별 관광지출액/20260820135957__202501-202512_데이터랩_다운로드.zip"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"team-bigdata:58ded7732251:589c76395cbc",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"신용카드/외국인/지역별 관광지출액/20260820140409__202501-202512_데이터랩_다운로드.zip"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"team-bigdata:e28c947cb52f:bb4cb344a6ba",</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"네비게이션/지역별 검색건수/20260820132007__202501-202512_데이터랩_다운로드.zip"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"team-bigdata:8815bbb11a39:1a5988f5f8ec",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"이동통신/내국인/지역별 방문자수/20260820140624__202401-202412_데이터랩_다운로드.zip"</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"team-bigdata:19fd67fbb73d:afa4f0f54a2f",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"source_file_name": "이동통신/외국인/20260820141639_전국_202401-202412_데이터랩_다운로드.zip"</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지역집중률",</a:t>
            </a:r>
          </a:p>
          <a:p xmlns:a="http://schemas.openxmlformats.org/drawingml/2006/main">
            <a:r>
              <a:t>      "summary": "관측 기간: 2025-07 ~ 2026-06. 유입·유출·인기장소 또는 30일 집중 운영 신호.",</a:t>
            </a:r>
          </a:p>
          <a:p xmlns:a="http://schemas.openxmlformats.org/drawingml/2006/main">
            <a:r>
              <a:t>      "source_id": "regional-status:0c68fedc2071:0ad82310f803",</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유입유출",</a:t>
            </a:r>
          </a:p>
          <a:p xmlns:a="http://schemas.openxmlformats.org/drawingml/2006/main">
            <a:r>
              <a:t>      "summary": "관측 기간: 2025-07 ~ 2026-06. 유입·유출·인기장소 또는 30일 집중 운영 신호.",</a:t>
            </a:r>
          </a:p>
          <a:p xmlns:a="http://schemas.openxmlformats.org/drawingml/2006/main">
            <a:r>
              <a:t>      "source_id": "regional-status:4cddd6aa75d4:be8b01ec64e2",</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인기관광지",</a:t>
            </a:r>
          </a:p>
          <a:p xmlns:a="http://schemas.openxmlformats.org/drawingml/2006/main">
            <a:r>
              <a:t>      "summary": "관측 기간: 2025-07 ~ 2026-06. 유입·유출·인기장소 또는 30일 집중 운영 신호.",</a:t>
            </a:r>
          </a:p>
          <a:p xmlns:a="http://schemas.openxmlformats.org/drawingml/2006/main">
            <a:r>
              <a:t>      "source_id": "regional-status:8c9a813e95eb:5e0cc3f56b73",</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"지역 관광수요 ML 전망 · 공식 관측값 아님",</a:t>
            </a:r>
          </a:p>
          <a:p xmlns:a="http://schemas.openxmlformats.org/drawingml/2006/main">
            <a:r>
              <a:t>      "summary": "학습 202401~202606 · 모델 regional-demand-v3.1 · 자연 추세 예측",</a:t>
            </a:r>
          </a:p>
          <a:p xmlns:a="http://schemas.openxmlformats.org/drawingml/2006/main">
            <a:r>
              <a:t>      "source_id": "ml:30170:regional-demand-v3.1:202606",</a:t>
            </a:r>
          </a:p>
          <a:p xmlns:a="http://schemas.openxmlformats.org/drawingml/2006/main">
            <a:r>
              <a:t>      "source_url": "",</a:t>
            </a:r>
          </a:p>
          <a:p xmlns:a="http://schemas.openxmlformats.org/drawingml/2006/main">
            <a:r>
              <a:t>      "source_type": "model_forecast",</a:t>
            </a:r>
          </a:p>
          <a:p xmlns:a="http://schemas.openxmlformats.org/drawingml/2006/main">
            <a:r>
              <a:t>      "model_version": "regional-demand-v3.1",</a:t>
            </a:r>
          </a:p>
          <a:p xmlns:a="http://schemas.openxmlformats.org/drawingml/2006/main">
            <a:r>
              <a:t>      "data_fingerprint": "edea7fa8270d3b72aee15e6816efec3fce699e1bab55ebd844a10870c2f0e0a0"</a:t>
            </a:r>
          </a:p>
          <a:p xmlns:a="http://schemas.openxmlformats.org/drawingml/2006/main">
            <a:r>
              <a:t>    },</a:t>
            </a:r>
          </a:p>
          <a:p xmlns:a="http://schemas.openxmlformats.org/drawingml/2006/main">
            <a:r>
              <a:t>    {</a:t>
            </a:r>
          </a:p>
          <a:p xmlns:a="http://schemas.openxmlformats.org/drawingml/2006/main">
            <a:r>
              <a:t>      "title": "갈마짬뽕",</a:t>
            </a:r>
          </a:p>
          <a:p xmlns:a="http://schemas.openxmlformats.org/drawingml/2006/main">
            <a:r>
              <a:t>      "address": "대전광역시 서구 월평동로 5-11 (갈마동)",</a:t>
            </a:r>
          </a:p>
          <a:p xmlns:a="http://schemas.openxmlformats.org/drawingml/2006/main">
            <a:r>
              <a:t>      "summary": "한국관광공사 국문관광정보 API가 반환한 선택 지역 관광자원",</a:t>
            </a:r>
          </a:p>
          <a:p xmlns:a="http://schemas.openxmlformats.org/drawingml/2006/main">
            <a:r>
              <a:t>      "image_url": "http://tong.visitkorea.or.kr/cms/resource/38/2899638_image2_1.jpg",</a:t>
            </a:r>
          </a:p>
          <a:p xmlns:a="http://schemas.openxmlformats.org/drawingml/2006/main">
            <a:r>
              <a:t>      "source_id": "tour-api:2899643",</a:t>
            </a:r>
          </a:p>
          <a:p xmlns:a="http://schemas.openxmlformats.org/drawingml/2006/main">
            <a:r>
              <a:t>      "content_id": "2899643",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"관저당",</a:t>
            </a:r>
          </a:p>
          <a:p xmlns:a="http://schemas.openxmlformats.org/drawingml/2006/main">
            <a:r>
              <a:t>      "address": "대전광역시 서구 구봉산북로21번길 11 (관저동)",</a:t>
            </a:r>
          </a:p>
          <a:p xmlns:a="http://schemas.openxmlformats.org/drawingml/2006/main">
            <a:r>
              <a:t>      "summary": "한국관광공사 국문관광정보 API가 반환한 선택 지역 관광자원",</a:t>
            </a:r>
          </a:p>
          <a:p xmlns:a="http://schemas.openxmlformats.org/drawingml/2006/main">
            <a:r>
              <a:t>      "image_url": "http://tong.visitkorea.or.kr/cms/resource/36/2899636_image2_1.jpg",</a:t>
            </a:r>
          </a:p>
          <a:p xmlns:a="http://schemas.openxmlformats.org/drawingml/2006/main">
            <a:r>
              <a:t>      "source_id": "tour-api:2899637",</a:t>
            </a:r>
          </a:p>
          <a:p xmlns:a="http://schemas.openxmlformats.org/drawingml/2006/main">
            <a:r>
              <a:t>      "content_id": "2899637",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"굿모닝레지던스호텔휴",</a:t>
            </a:r>
          </a:p>
          <a:p xmlns:a="http://schemas.openxmlformats.org/drawingml/2006/main">
            <a:r>
              <a:t>      "address": "대전광역시 서구 둔산로73번길 21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"http://tong.visitkorea.or.kr/cms/resource/87/2584687_image2_1.jpg",</a:t>
            </a:r>
          </a:p>
          <a:p xmlns:a="http://schemas.openxmlformats.org/drawingml/2006/main">
            <a:r>
              <a:t>      "source_id": "tour-api:1932079",</a:t>
            </a:r>
          </a:p>
          <a:p xmlns:a="http://schemas.openxmlformats.org/drawingml/2006/main">
            <a:r>
              <a:t>      "content_id": "1932079",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"32"</a:t>
            </a:r>
          </a:p>
          <a:p xmlns:a="http://schemas.openxmlformats.org/drawingml/2006/main">
            <a:r>
              <a:t>    },</a:t>
            </a:r>
          </a:p>
          <a:p xmlns:a="http://schemas.openxmlformats.org/drawingml/2006/main">
            <a:r>
              <a:t>    {</a:t>
            </a:r>
          </a:p>
          <a:p xmlns:a="http://schemas.openxmlformats.org/drawingml/2006/main">
            <a:r>
              <a:t>      "title": "귀빈돌솥밥",</a:t>
            </a:r>
          </a:p>
          <a:p xmlns:a="http://schemas.openxmlformats.org/drawingml/2006/main">
            <a:r>
              <a:t>      "address": "대전광역시 서구 만년로68번길 21",</a:t>
            </a:r>
          </a:p>
          <a:p xmlns:a="http://schemas.openxmlformats.org/drawingml/2006/main">
            <a:r>
              <a:t>      "summary": "한국관광공사 국문관광정보 API가 반환한 선택 지역 관광자원",</a:t>
            </a:r>
          </a:p>
          <a:p xmlns:a="http://schemas.openxmlformats.org/drawingml/2006/main">
            <a:r>
              <a:t>      "image_url": "http://tong.visitkorea.or.kr/cms/resource/72/3060272_image2_1.JPG",</a:t>
            </a:r>
          </a:p>
          <a:p xmlns:a="http://schemas.openxmlformats.org/drawingml/2006/main">
            <a:r>
              <a:t>      "source_id": "tour-api:133881",</a:t>
            </a:r>
          </a:p>
          <a:p xmlns:a="http://schemas.openxmlformats.org/drawingml/2006/main">
            <a:r>
              <a:t>      "content_id": "133881",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"남선공원",</a:t>
            </a:r>
          </a:p>
          <a:p xmlns:a="http://schemas.openxmlformats.org/drawingml/2006/main">
            <a:r>
              <a:t>      "address": "대전광역시 서구 남선로 66",</a:t>
            </a:r>
          </a:p>
          <a:p xmlns:a="http://schemas.openxmlformats.org/drawingml/2006/main">
            <a:r>
              <a:t>      "summary": "한국관광공사 국문관광정보 API가 반환한 선택 지역 관광자원",</a:t>
            </a:r>
          </a:p>
          <a:p xmlns:a="http://schemas.openxmlformats.org/drawingml/2006/main">
            <a:r>
              <a:t>      "image_url": "http://tong.visitkorea.or.kr/cms/resource/24/3565624_image2_1.jpg",</a:t>
            </a:r>
          </a:p>
          <a:p xmlns:a="http://schemas.openxmlformats.org/drawingml/2006/main">
            <a:r>
              <a:t>      "source_id": "tour-api:2758252",</a:t>
            </a:r>
          </a:p>
          <a:p xmlns:a="http://schemas.openxmlformats.org/drawingml/2006/main">
            <a:r>
              <a:t>      "content_id": "2758252",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"내원사(대전)",</a:t>
            </a:r>
          </a:p>
          <a:p xmlns:a="http://schemas.openxmlformats.org/drawingml/2006/main">
            <a:r>
              <a:t>      "address": "대전광역시 서구 배재로197번길 200",</a:t>
            </a:r>
          </a:p>
          <a:p xmlns:a="http://schemas.openxmlformats.org/drawingml/2006/main">
            <a:r>
              <a:t>      "summary": "한국관광공사 국문관광정보 API가 반환한 선택 지역 관광자원",</a:t>
            </a:r>
          </a:p>
          <a:p xmlns:a="http://schemas.openxmlformats.org/drawingml/2006/main">
            <a:r>
              <a:t>      "image_url": "http://tong.visitkorea.or.kr/cms/resource/79/3034979_image2_1.JPG",</a:t>
            </a:r>
          </a:p>
          <a:p xmlns:a="http://schemas.openxmlformats.org/drawingml/2006/main">
            <a:r>
              <a:t>      "source_id": "tour-api:298208",</a:t>
            </a:r>
          </a:p>
          <a:p xmlns:a="http://schemas.openxmlformats.org/drawingml/2006/main">
            <a:r>
              <a:t>      "content_id": "298208",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"노크노크",</a:t>
            </a:r>
          </a:p>
          <a:p xmlns:a="http://schemas.openxmlformats.org/drawingml/2006/main">
            <a:r>
              <a:t>      "address": "대전광역시 서구 둔산로 68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"http://tong.visitkorea.or.kr/cms/resource/59/3453059_image2_1.jpg",</a:t>
            </a:r>
          </a:p>
          <a:p xmlns:a="http://schemas.openxmlformats.org/drawingml/2006/main">
            <a:r>
              <a:t>      "source_id": "tour-api:3452550",</a:t>
            </a:r>
          </a:p>
          <a:p xmlns:a="http://schemas.openxmlformats.org/drawingml/2006/main">
            <a:r>
              <a:t>      "content_id": "3452550",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"대성콩국수",</a:t>
            </a:r>
          </a:p>
          <a:p xmlns:a="http://schemas.openxmlformats.org/drawingml/2006/main">
            <a:r>
              <a:t>      "address": "대전광역시 서구 도산로 141",</a:t>
            </a:r>
          </a:p>
          <a:p xmlns:a="http://schemas.openxmlformats.org/drawingml/2006/main">
            <a:r>
              <a:t>      "summary": "한국관광공사 국문관광정보 API가 반환한 선택 지역 관광자원",</a:t>
            </a:r>
          </a:p>
          <a:p xmlns:a="http://schemas.openxmlformats.org/drawingml/2006/main">
            <a:r>
              <a:t>      "image_url": "http://tong.visitkorea.or.kr/cms/resource/69/2899569_image2_1.jpg",</a:t>
            </a:r>
          </a:p>
          <a:p xmlns:a="http://schemas.openxmlformats.org/drawingml/2006/main">
            <a:r>
              <a:t>      "source_id": "tour-api:2899585",</a:t>
            </a:r>
          </a:p>
          <a:p xmlns:a="http://schemas.openxmlformats.org/drawingml/2006/main">
            <a:r>
              <a:t>      "content_id": "2899585",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"대전 가수원도서관",</a:t>
            </a:r>
          </a:p>
          <a:p xmlns:a="http://schemas.openxmlformats.org/drawingml/2006/main">
            <a:r>
              <a:t>      "address": "대전광역시 서구 가수원로 91-11 (가수원동)",</a:t>
            </a:r>
          </a:p>
          <a:p xmlns:a="http://schemas.openxmlformats.org/drawingml/2006/main">
            <a:r>
              <a:t>      "summary": "한국관광공사 국문관광정보 API가 반환한 선택 지역 관광자원",</a:t>
            </a:r>
          </a:p>
          <a:p xmlns:a="http://schemas.openxmlformats.org/drawingml/2006/main">
            <a:r>
              <a:t>      "image_url": "http://tong.visitkorea.or.kr/cms/resource/58/3033558_image2_1.JPG",</a:t>
            </a:r>
          </a:p>
          <a:p xmlns:a="http://schemas.openxmlformats.org/drawingml/2006/main">
            <a:r>
              <a:t>      "source_id": "tour-api:130802",</a:t>
            </a:r>
          </a:p>
          <a:p xmlns:a="http://schemas.openxmlformats.org/drawingml/2006/main">
            <a:r>
              <a:t>      "content_id": "130802",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"대전광역시청 시민잔디광장",</a:t>
            </a:r>
          </a:p>
          <a:p xmlns:a="http://schemas.openxmlformats.org/drawingml/2006/main">
            <a:r>
              <a:t>      "address": "대전광역시 서구 둔산로 100",</a:t>
            </a:r>
          </a:p>
          <a:p xmlns:a="http://schemas.openxmlformats.org/drawingml/2006/main">
            <a:r>
              <a:t>      "summary": "한국관광공사 국문관광정보 API가 반환한 선택 지역 관광자원",</a:t>
            </a:r>
          </a:p>
          <a:p xmlns:a="http://schemas.openxmlformats.org/drawingml/2006/main">
            <a:r>
              <a:t>      "image_url": "http://tong.visitkorea.or.kr/cms/resource/86/3565586_image2_1.jpg",</a:t>
            </a:r>
          </a:p>
          <a:p xmlns:a="http://schemas.openxmlformats.org/drawingml/2006/main">
            <a:r>
              <a:t>      "source_id": "tour-api:2743325",</a:t>
            </a:r>
          </a:p>
          <a:p xmlns:a="http://schemas.openxmlformats.org/drawingml/2006/main">
            <a:r>
              <a:t>      "content_id": "2743325",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"대전서구문화원",</a:t>
            </a:r>
          </a:p>
          <a:p xmlns:a="http://schemas.openxmlformats.org/drawingml/2006/main">
            <a:r>
              <a:t>      "address": "대전광역시 서구 계룡로553번길 38",</a:t>
            </a:r>
          </a:p>
          <a:p xmlns:a="http://schemas.openxmlformats.org/drawingml/2006/main">
            <a:r>
              <a:t>      "summary": "한국관광공사 국문관광정보 API가 반환한 선택 지역 관광자원",</a:t>
            </a:r>
          </a:p>
          <a:p xmlns:a="http://schemas.openxmlformats.org/drawingml/2006/main">
            <a:r>
              <a:t>      "image_url": "http://tong.visitkorea.or.kr/cms/resource/43/3585043_image2_1.jpg",</a:t>
            </a:r>
          </a:p>
          <a:p xmlns:a="http://schemas.openxmlformats.org/drawingml/2006/main">
            <a:r>
              <a:t>      "source_id": "tour-api:130197",</a:t>
            </a:r>
          </a:p>
          <a:p xmlns:a="http://schemas.openxmlformats.org/drawingml/2006/main">
            <a:r>
              <a:t>      "content_id": "130197",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"델빠네",</a:t>
            </a:r>
          </a:p>
          <a:p xmlns:a="http://schemas.openxmlformats.org/drawingml/2006/main">
            <a:r>
              <a:t>      "address": "대전광역시 서구 원도안로207번길 16-61 (도안동)",</a:t>
            </a:r>
          </a:p>
          <a:p xmlns:a="http://schemas.openxmlformats.org/drawingml/2006/main">
            <a:r>
              <a:t>      "summary": "한국관광공사 국문관광정보 API가 반환한 선택 지역 관광자원",</a:t>
            </a:r>
          </a:p>
          <a:p xmlns:a="http://schemas.openxmlformats.org/drawingml/2006/main">
            <a:r>
              <a:t>      "image_url": "http://tong.visitkorea.or.kr/cms/resource/36/2865836_image2_1.jpg",</a:t>
            </a:r>
          </a:p>
          <a:p xmlns:a="http://schemas.openxmlformats.org/drawingml/2006/main">
            <a:r>
              <a:t>      "source_id": "tour-api:2865847",</a:t>
            </a:r>
          </a:p>
          <a:p xmlns:a="http://schemas.openxmlformats.org/drawingml/2006/main">
            <a:r>
              <a:t>      "content_id": "2865847",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"도마큰시장",</a:t>
            </a:r>
          </a:p>
          <a:p xmlns:a="http://schemas.openxmlformats.org/drawingml/2006/main">
            <a:r>
              <a:t>      "address": "대전광역시 서구 도마4길 69 (도마동)",</a:t>
            </a:r>
          </a:p>
          <a:p xmlns:a="http://schemas.openxmlformats.org/drawingml/2006/main">
            <a:r>
              <a:t>      "summary": "한국관광공사 국문관광정보 API가 반환한 선택 지역 관광자원",</a:t>
            </a:r>
          </a:p>
          <a:p xmlns:a="http://schemas.openxmlformats.org/drawingml/2006/main">
            <a:r>
              <a:t>      "image_url": "http://tong.visitkorea.or.kr/cms/resource/34/3565534_image2_1.jpg",</a:t>
            </a:r>
          </a:p>
          <a:p xmlns:a="http://schemas.openxmlformats.org/drawingml/2006/main">
            <a:r>
              <a:t>      "source_id": "tour-api:2758334",</a:t>
            </a:r>
          </a:p>
          <a:p xmlns:a="http://schemas.openxmlformats.org/drawingml/2006/main">
            <a:r>
              <a:t>      "content_id": "2758334",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"도산서원(대전)",</a:t>
            </a:r>
          </a:p>
          <a:p xmlns:a="http://schemas.openxmlformats.org/drawingml/2006/main">
            <a:r>
              <a:t>      "address": "대전광역시 서구 남선로 8",</a:t>
            </a:r>
          </a:p>
          <a:p xmlns:a="http://schemas.openxmlformats.org/drawingml/2006/main">
            <a:r>
              <a:t>      "summary": "한국관광공사 국문관광정보 API가 반환한 선택 지역 관광자원",</a:t>
            </a:r>
          </a:p>
          <a:p xmlns:a="http://schemas.openxmlformats.org/drawingml/2006/main">
            <a:r>
              <a:t>      "image_url": "http://tong.visitkorea.or.kr/cms/resource/24/3035024_image2_1.JPG",</a:t>
            </a:r>
          </a:p>
          <a:p xmlns:a="http://schemas.openxmlformats.org/drawingml/2006/main">
            <a:r>
              <a:t>      "source_id": "tour-api:1955818",</a:t>
            </a:r>
          </a:p>
          <a:p xmlns:a="http://schemas.openxmlformats.org/drawingml/2006/main">
            <a:r>
              <a:t>      "content_id": "1955818",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"둔산꽃시장",</a:t>
            </a:r>
          </a:p>
          <a:p xmlns:a="http://schemas.openxmlformats.org/drawingml/2006/main">
            <a:r>
              <a:t>      "address": "대전광역시 서구 둔산북로 22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"http://tong.visitkorea.or.kr/cms/resource/31/2758631_image2_1.jpg",</a:t>
            </a:r>
          </a:p>
          <a:p xmlns:a="http://schemas.openxmlformats.org/drawingml/2006/main">
            <a:r>
              <a:t>      "source_id": "tour-api:2758341",</a:t>
            </a:r>
          </a:p>
          <a:p xmlns:a="http://schemas.openxmlformats.org/drawingml/2006/main">
            <a:r>
              <a:t>      "content_id": "2758341",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"둔산전자타운",</a:t>
            </a:r>
          </a:p>
          <a:p xmlns:a="http://schemas.openxmlformats.org/drawingml/2006/main">
            <a:r>
              <a:t>      "address": "대전광역시 서구 도산로403번길 21",</a:t>
            </a:r>
          </a:p>
          <a:p xmlns:a="http://schemas.openxmlformats.org/drawingml/2006/main">
            <a:r>
              <a:t>      "summary": "한국관광공사 국문관광정보 API가 반환한 선택 지역 관광자원",</a:t>
            </a:r>
          </a:p>
          <a:p xmlns:a="http://schemas.openxmlformats.org/drawingml/2006/main">
            <a:r>
              <a:t>      "image_url": "http://tong.visitkorea.or.kr/cms/resource/60/3565560_image2_1.jpg",</a:t>
            </a:r>
          </a:p>
          <a:p xmlns:a="http://schemas.openxmlformats.org/drawingml/2006/main">
            <a:r>
              <a:t>      "source_id": "tour-api:1623725",</a:t>
            </a:r>
          </a:p>
          <a:p xmlns:a="http://schemas.openxmlformats.org/drawingml/2006/main">
            <a:r>
              <a:t>      "content_id": "1623725",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"롯데백화점 (대전점)",</a:t>
            </a:r>
          </a:p>
          <a:p xmlns:a="http://schemas.openxmlformats.org/drawingml/2006/main">
            <a:r>
              <a:t>      "address": "대전광역시 서구 계룡로 598 (괴정동)",</a:t>
            </a:r>
          </a:p>
          <a:p xmlns:a="http://schemas.openxmlformats.org/drawingml/2006/main">
            <a:r>
              <a:t>      "summary": "한국관광공사 국문관광정보 API가 반환한 선택 지역 관광자원",</a:t>
            </a:r>
          </a:p>
          <a:p xmlns:a="http://schemas.openxmlformats.org/drawingml/2006/main">
            <a:r>
              <a:t>      "image_url": "http://tong.visitkorea.or.kr/cms/resource/21/3443221_image2_1.jpg",</a:t>
            </a:r>
          </a:p>
          <a:p xmlns:a="http://schemas.openxmlformats.org/drawingml/2006/main">
            <a:r>
              <a:t>      "source_id": "tour-api:132661",</a:t>
            </a:r>
          </a:p>
          <a:p xmlns:a="http://schemas.openxmlformats.org/drawingml/2006/main">
            <a:r>
              <a:t>      "content_id": "132661",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"마치광장",</a:t>
            </a:r>
          </a:p>
          <a:p xmlns:a="http://schemas.openxmlformats.org/drawingml/2006/main">
            <a:r>
              <a:t>      "address": "대전광역시 서구 구봉로131번길 27",</a:t>
            </a:r>
          </a:p>
          <a:p xmlns:a="http://schemas.openxmlformats.org/drawingml/2006/main">
            <a:r>
              <a:t>      "summary": "한국관광공사 국문관광정보 API가 반환한 선택 지역 관광자원",</a:t>
            </a:r>
          </a:p>
          <a:p xmlns:a="http://schemas.openxmlformats.org/drawingml/2006/main">
            <a:r>
              <a:t>      "image_url": "http://tong.visitkorea.or.kr/cms/resource/16/3542516_image2_1.jpg",</a:t>
            </a:r>
          </a:p>
          <a:p xmlns:a="http://schemas.openxmlformats.org/drawingml/2006/main">
            <a:r>
              <a:t>      "source_id": "tour-api:2758646",</a:t>
            </a:r>
          </a:p>
          <a:p xmlns:a="http://schemas.openxmlformats.org/drawingml/2006/main">
            <a:r>
              <a:t>      "content_id": "2758646",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"몽뜨",</a:t>
            </a:r>
          </a:p>
          <a:p xmlns:a="http://schemas.openxmlformats.org/drawingml/2006/main">
            <a:r>
              <a:t>      "address": "대전광역시 서구 원도안로257번길 48 (도안동)",</a:t>
            </a:r>
          </a:p>
          <a:p xmlns:a="http://schemas.openxmlformats.org/drawingml/2006/main">
            <a:r>
              <a:t>      "summary": "한국관광공사 국문관광정보 API가 반환한 선택 지역 관광자원",</a:t>
            </a:r>
          </a:p>
          <a:p xmlns:a="http://schemas.openxmlformats.org/drawingml/2006/main">
            <a:r>
              <a:t>      "image_url": "http://tong.visitkorea.or.kr/cms/resource/35/2899535_image2_1.jpg",</a:t>
            </a:r>
          </a:p>
          <a:p xmlns:a="http://schemas.openxmlformats.org/drawingml/2006/main">
            <a:r>
              <a:t>      "source_id": "tour-api:2899544",</a:t>
            </a:r>
          </a:p>
          <a:p xmlns:a="http://schemas.openxmlformats.org/drawingml/2006/main">
            <a:r>
              <a:t>      "content_id": "2899544",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"미세노센세",</a:t>
            </a:r>
          </a:p>
          <a:p xmlns:a="http://schemas.openxmlformats.org/drawingml/2006/main">
            <a:r>
              <a:t>      "address": "대전광역시 서구 계룡로553번안길 65 (탄방동)",</a:t>
            </a:r>
          </a:p>
          <a:p xmlns:a="http://schemas.openxmlformats.org/drawingml/2006/main">
            <a:r>
              <a:t>      "summary": "한국관광공사 국문관광정보 API가 반환한 선택 지역 관광자원",</a:t>
            </a:r>
          </a:p>
          <a:p xmlns:a="http://schemas.openxmlformats.org/drawingml/2006/main">
            <a:r>
              <a:t>      "image_url": "http://tong.visitkorea.or.kr/cms/resource/05/2865905_image2_1.jpg",</a:t>
            </a:r>
          </a:p>
          <a:p xmlns:a="http://schemas.openxmlformats.org/drawingml/2006/main">
            <a:r>
              <a:t>      "source_id": "tour-api:2865914",</a:t>
            </a:r>
          </a:p>
          <a:p xmlns:a="http://schemas.openxmlformats.org/drawingml/2006/main">
            <a:r>
              <a:t>      "content_id": "2865914",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"chunk_id": "reference:kto:2026:local-airport:page:044:chunk:01",</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"title": "한국관광 데이터랩 · 문경찻사발축제 방문자 추이",</a:t>
            </a:r>
          </a:p>
          <a:p xmlns:a="http://schemas.openxmlformats.org/drawingml/2006/main">
            <a:r>
              <a:t>      "summary": "경상북도 문경시 · 문경찻사발축제 · 2024→2025년 전체 245,750→256,570명 (+4.40%). 개최 10→9일, 일평균 +16.00%, 외지인 +9.28%.",</a:t>
            </a:r>
          </a:p>
          <a:p xmlns:a="http://schemas.openxmlformats.org/drawingml/2006/main">
            <a:r>
              <a:t>      "source_id": "case:festival:01474ef75569b1",</a:t>
            </a:r>
          </a:p>
          <a:p xmlns:a="http://schemas.openxmlformats.org/drawingml/2006/main">
            <a:r>
              <a:t>      "source_url": "https://datalab.visitkorea.or.kr/",</a:t>
            </a:r>
          </a:p>
          <a:p xmlns:a="http://schemas.openxmlformats.org/drawingml/2006/main">
            <a:r>
              <a:t>      "case_region": "경상북도 문경시",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"문경찻사발축제",</a:t>
            </a:r>
          </a:p>
          <a:p xmlns:a="http://schemas.openxmlformats.org/drawingml/2006/main">
            <a:r>
              <a:t>      "source_files": [</a:t>
            </a:r>
          </a:p>
          <a:p xmlns:a="http://schemas.openxmlformats.org/drawingml/2006/main">
            <a:r>
              <a:t>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"44238aecdfa68974febce93cd262e119492da76910929b96da438d8b6ee7a9b3",</a:t>
            </a:r>
          </a:p>
          <a:p xmlns:a="http://schemas.openxmlformats.org/drawingml/2006/main">
            <a:r>
              <a:t>          "provider": "한국관광 데이터랩",</a:t>
            </a:r>
          </a:p>
          <a:p xmlns:a="http://schemas.openxmlformats.org/drawingml/2006/main">
            <a:r>
              <a:t>          "file_name": "20260820160334_문경찻사발축제_성_연령별 내국인 방문자.csv",</a:t>
            </a:r>
          </a:p>
          <a:p xmlns:a="http://schemas.openxmlformats.org/drawingml/2006/main">
            <a:r>
              <a:t>          "source_id": "festival-file:44238aecdfa68974febc",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"eadf4622620ddb1575df5f358ec588aeed8718c09e0998a19494cf0f3cfe0f16",</a:t>
            </a:r>
          </a:p>
          <a:p xmlns:a="http://schemas.openxmlformats.org/drawingml/2006/main">
            <a:r>
              <a:t>          "provider": "한국관광 데이터랩",</a:t>
            </a:r>
          </a:p>
          <a:p xmlns:a="http://schemas.openxmlformats.org/drawingml/2006/main">
            <a:r>
              <a:t>          "file_name": "20260820160334_문경찻사발축제_문화관광축제 주요 지표.csv",</a:t>
            </a:r>
          </a:p>
          <a:p xmlns:a="http://schemas.openxmlformats.org/drawingml/2006/main">
            <a:r>
              <a:t>          "source_id": "festival-file:eadf4622620ddb1575df",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"343671c431cfa7e76ba333ca2ea221803e111e0db5e9a51c6d387b0ba5d7eeaf",</a:t>
            </a:r>
          </a:p>
          <a:p xmlns:a="http://schemas.openxmlformats.org/drawingml/2006/main">
            <a:r>
              <a:t>          "provider": "한국관광 데이터랩",</a:t>
            </a:r>
          </a:p>
          <a:p xmlns:a="http://schemas.openxmlformats.org/drawingml/2006/main">
            <a:r>
              <a:t>          "file_name": "20260820160334_문경찻사발축제_목적지 검색순위.csv",</a:t>
            </a:r>
          </a:p>
          <a:p xmlns:a="http://schemas.openxmlformats.org/drawingml/2006/main">
            <a:r>
              <a:t>          "source_id": "festival-file:343671c431cfa7e76ba3",</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"case_study",</a:t>
            </a:r>
          </a:p>
          <a:p xmlns:a="http://schemas.openxmlformats.org/drawingml/2006/main">
            <a:r>
              <a:t>      "evidence_kind": "festival_statistics",</a:t>
            </a:r>
          </a:p>
          <a:p xmlns:a="http://schemas.openxmlformats.org/drawingml/2006/main">
            <a:r>
              <a:t>      "observed_result": "2024→2025년 전체 245,750→256,570명 (+4.40%). 개최 10→9일, 일평균 +16.00%, 외지인 +9.28%.",</a:t>
            </a:r>
          </a:p>
          <a:p xmlns:a="http://schemas.openxmlformats.org/drawingml/2006/main">
            <a:r>
              <a:t>      "operating_model": "문경찻사발축제를 2025년 9일 개최한 문화관광축제 운영 사례. 세부 프로그램·예약·혜택은 이 CSV에 기록되어 있지 않으며 새로운 운영안은 제안으로 구분한다.",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"역사·공예",</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"datalab_festival_table",</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"2023~2025년 각 축제 개최기간",</a:t>
            </a:r>
          </a:p>
          <a:p xmlns:a="http://schemas.openxmlformats.org/drawingml/2006/main">
            <a:r>
              <a:t>      "festival_statistics": {</a:t>
            </a:r>
          </a:p>
          <a:p xmlns:a="http://schemas.openxmlformats.org/drawingml/2006/main">
            <a:r>
              <a:t>        "name": "문경찻사발축제",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9,</a:t>
            </a:r>
          </a:p>
          <a:p xmlns:a="http://schemas.openxmlformats.org/drawingml/2006/main">
            <a:r>
              <a:t>            "year": 2023,</a:t>
            </a:r>
          </a:p>
          <a:p xmlns:a="http://schemas.openxmlformats.org/drawingml/2006/main">
            <a:r>
              <a:t>            "daily": 23055.333333333332,</a:t>
            </a:r>
          </a:p>
          <a:p xmlns:a="http://schemas.openxmlformats.org/drawingml/2006/main">
            <a:r>
              <a:t>            "local": 59726,</a:t>
            </a:r>
          </a:p>
          <a:p xmlns:a="http://schemas.openxmlformats.org/drawingml/2006/main">
            <a:r>
              <a:t>            "total": 207498,</a:t>
            </a:r>
          </a:p>
          <a:p xmlns:a="http://schemas.openxmlformats.org/drawingml/2006/main">
            <a:r>
              <a:t>            "foreign": 1241,</a:t>
            </a:r>
          </a:p>
          <a:p xmlns:a="http://schemas.openxmlformats.org/drawingml/2006/main">
            <a:r>
              <a:t>            "outside": 146531,</a:t>
            </a:r>
          </a:p>
          <a:p xmlns:a="http://schemas.openxmlformats.org/drawingml/2006/main">
            <a:r>
              <a:t>            "outside_daily": 16281.222222222224,</a:t>
            </a:r>
          </a:p>
          <a:p xmlns:a="http://schemas.openxmlformats.org/drawingml/2006/main">
            <a:r>
              <a:t>            "outside_share_pct": 70.61803005330172</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24575,</a:t>
            </a:r>
          </a:p>
          <a:p xmlns:a="http://schemas.openxmlformats.org/drawingml/2006/main">
            <a:r>
              <a:t>            "local": 64582,</a:t>
            </a:r>
          </a:p>
          <a:p xmlns:a="http://schemas.openxmlformats.org/drawingml/2006/main">
            <a:r>
              <a:t>            "total": 245750,</a:t>
            </a:r>
          </a:p>
          <a:p xmlns:a="http://schemas.openxmlformats.org/drawingml/2006/main">
            <a:r>
              <a:t>            "foreign": 1170,</a:t>
            </a:r>
          </a:p>
          <a:p xmlns:a="http://schemas.openxmlformats.org/drawingml/2006/main">
            <a:r>
              <a:t>            "outside": 179998,</a:t>
            </a:r>
          </a:p>
          <a:p xmlns:a="http://schemas.openxmlformats.org/drawingml/2006/main">
            <a:r>
              <a:t>            "outside_daily": 17999.8,</a:t>
            </a:r>
          </a:p>
          <a:p xmlns:a="http://schemas.openxmlformats.org/drawingml/2006/main">
            <a:r>
              <a:t>            "outside_share_pct": 73.2443540183113</a:t>
            </a:r>
          </a:p>
          <a:p xmlns:a="http://schemas.openxmlformats.org/drawingml/2006/main">
            <a:r>
              <a:t>          },</a:t>
            </a:r>
          </a:p>
          <a:p xmlns:a="http://schemas.openxmlformats.org/drawingml/2006/main">
            <a:r>
              <a:t>          {</a:t>
            </a:r>
          </a:p>
          <a:p xmlns:a="http://schemas.openxmlformats.org/drawingml/2006/main">
            <a:r>
              <a:t>            "days": 9,</a:t>
            </a:r>
          </a:p>
          <a:p xmlns:a="http://schemas.openxmlformats.org/drawingml/2006/main">
            <a:r>
              <a:t>            "year": 2025,</a:t>
            </a:r>
          </a:p>
          <a:p xmlns:a="http://schemas.openxmlformats.org/drawingml/2006/main">
            <a:r>
              <a:t>            "daily": 28507.777777777777,</a:t>
            </a:r>
          </a:p>
          <a:p xmlns:a="http://schemas.openxmlformats.org/drawingml/2006/main">
            <a:r>
              <a:t>            "local": 58704,</a:t>
            </a:r>
          </a:p>
          <a:p xmlns:a="http://schemas.openxmlformats.org/drawingml/2006/main">
            <a:r>
              <a:t>            "total": 256570,</a:t>
            </a:r>
          </a:p>
          <a:p xmlns:a="http://schemas.openxmlformats.org/drawingml/2006/main">
            <a:r>
              <a:t>            "foreign": 1166,</a:t>
            </a:r>
          </a:p>
          <a:p xmlns:a="http://schemas.openxmlformats.org/drawingml/2006/main">
            <a:r>
              <a:t>            "outside": 196700,</a:t>
            </a:r>
          </a:p>
          <a:p xmlns:a="http://schemas.openxmlformats.org/drawingml/2006/main">
            <a:r>
              <a:t>            "outside_daily": 21855.555555555555,</a:t>
            </a:r>
          </a:p>
          <a:p xmlns:a="http://schemas.openxmlformats.org/drawingml/2006/main">
            <a:r>
              <a:t>            "outside_share_pct": 76.66523755700199</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"문경찻사발축제",</a:t>
            </a:r>
          </a:p>
          <a:p xmlns:a="http://schemas.openxmlformats.org/drawingml/2006/main">
            <a:r>
              <a:t>            "남성비율": "4.0",</a:t>
            </a:r>
          </a:p>
          <a:p xmlns:a="http://schemas.openxmlformats.org/drawingml/2006/main">
            <a:r>
              <a:t>            "여성비율": "3.8"</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"문경찻사발축제",</a:t>
            </a:r>
          </a:p>
          <a:p xmlns:a="http://schemas.openxmlformats.org/drawingml/2006/main">
            <a:r>
              <a:t>            "남성비율": "12.3",</a:t>
            </a:r>
          </a:p>
          <a:p xmlns:a="http://schemas.openxmlformats.org/drawingml/2006/main">
            <a:r>
              <a:t>            "여성비율": "10.0"</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"문경찻사발축제",</a:t>
            </a:r>
          </a:p>
          <a:p xmlns:a="http://schemas.openxmlformats.org/drawingml/2006/main">
            <a:r>
              <a:t>            "남성비율": "13.0",</a:t>
            </a:r>
          </a:p>
          <a:p xmlns:a="http://schemas.openxmlformats.org/drawingml/2006/main">
            <a:r>
              <a:t>            "여성비율": "11.7"</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"문경찻사발축제",</a:t>
            </a:r>
          </a:p>
          <a:p xmlns:a="http://schemas.openxmlformats.org/drawingml/2006/main">
            <a:r>
              <a:t>            "남성비율": "9.3",</a:t>
            </a:r>
          </a:p>
          <a:p xmlns:a="http://schemas.openxmlformats.org/drawingml/2006/main">
            <a:r>
              <a:t>            "여성비율": "7.6"</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"문경찻사발축제",</a:t>
            </a:r>
          </a:p>
          <a:p xmlns:a="http://schemas.openxmlformats.org/drawingml/2006/main">
            <a:r>
              <a:t>            "남성비율": "7.2",</a:t>
            </a:r>
          </a:p>
          <a:p xmlns:a="http://schemas.openxmlformats.org/drawingml/2006/main">
            <a:r>
              <a:t>            "여성비율": "6.1"</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"문경찻사발축제",</a:t>
            </a:r>
          </a:p>
          <a:p xmlns:a="http://schemas.openxmlformats.org/drawingml/2006/main">
            <a:r>
              <a:t>            "남성비율": "4.6",</a:t>
            </a:r>
          </a:p>
          <a:p xmlns:a="http://schemas.openxmlformats.org/drawingml/2006/main">
            <a:r>
              <a:t>            "여성비율": "4.1"</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"문경찻사발축제",</a:t>
            </a:r>
          </a:p>
          <a:p xmlns:a="http://schemas.openxmlformats.org/drawingml/2006/main">
            <a:r>
              <a:t>            "남성비율": "2.5",</a:t>
            </a:r>
          </a:p>
          <a:p xmlns:a="http://schemas.openxmlformats.org/drawingml/2006/main">
            <a:r>
              <a:t>            "여성비율": "2.5"</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"문경찻사발축제",</a:t>
            </a:r>
          </a:p>
          <a:p xmlns:a="http://schemas.openxmlformats.org/drawingml/2006/main">
            <a:r>
              <a:t>            "남성비율": "0.6",</a:t>
            </a:r>
          </a:p>
          <a:p xmlns:a="http://schemas.openxmlformats.org/drawingml/2006/main">
            <a:r>
              <a:t>            "여성비율": "0.6"</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28507.777777777777,</a:t>
            </a:r>
          </a:p>
          <a:p xmlns:a="http://schemas.openxmlformats.org/drawingml/2006/main">
            <a:r>
              <a:t>            "before": 24575,</a:t>
            </a:r>
          </a:p>
          <a:p xmlns:a="http://schemas.openxmlformats.org/drawingml/2006/main">
            <a:r>
              <a:t>            "change_pct": 16.00316491466034,</a:t>
            </a:r>
          </a:p>
          <a:p xmlns:a="http://schemas.openxmlformats.org/drawingml/2006/main">
            <a:r>
              <a:t>            "difference": 3932.7777777777774</a:t>
            </a:r>
          </a:p>
          <a:p xmlns:a="http://schemas.openxmlformats.org/drawingml/2006/main">
            <a:r>
              <a:t>          },</a:t>
            </a:r>
          </a:p>
          <a:p xmlns:a="http://schemas.openxmlformats.org/drawingml/2006/main">
            <a:r>
              <a:t>          "total": {</a:t>
            </a:r>
          </a:p>
          <a:p xmlns:a="http://schemas.openxmlformats.org/drawingml/2006/main">
            <a:r>
              <a:t>            "after": 256570,</a:t>
            </a:r>
          </a:p>
          <a:p xmlns:a="http://schemas.openxmlformats.org/drawingml/2006/main">
            <a:r>
              <a:t>            "before": 245750,</a:t>
            </a:r>
          </a:p>
          <a:p xmlns:a="http://schemas.openxmlformats.org/drawingml/2006/main">
            <a:r>
              <a:t>            "change_pct": 4.402848423194294,</a:t>
            </a:r>
          </a:p>
          <a:p xmlns:a="http://schemas.openxmlformats.org/drawingml/2006/main">
            <a:r>
              <a:t>            "difference": 10820</a:t>
            </a:r>
          </a:p>
          <a:p xmlns:a="http://schemas.openxmlformats.org/drawingml/2006/main">
            <a:r>
              <a:t>          },</a:t>
            </a:r>
          </a:p>
          <a:p xmlns:a="http://schemas.openxmlformats.org/drawingml/2006/main">
            <a:r>
              <a:t>          "outside": {</a:t>
            </a:r>
          </a:p>
          <a:p xmlns:a="http://schemas.openxmlformats.org/drawingml/2006/main">
            <a:r>
              <a:t>            "after": 196700,</a:t>
            </a:r>
          </a:p>
          <a:p xmlns:a="http://schemas.openxmlformats.org/drawingml/2006/main">
            <a:r>
              <a:t>            "before": 179998,</a:t>
            </a:r>
          </a:p>
          <a:p xmlns:a="http://schemas.openxmlformats.org/drawingml/2006/main">
            <a:r>
              <a:t>            "change_pct": 9.278991988799866,</a:t>
            </a:r>
          </a:p>
          <a:p xmlns:a="http://schemas.openxmlformats.org/drawingml/2006/main">
            <a:r>
              <a:t>            "difference": 16702</a:t>
            </a:r>
          </a:p>
          <a:p xmlns:a="http://schemas.openxmlformats.org/drawingml/2006/main">
            <a:r>
              <a:t>          },</a:t>
            </a:r>
          </a:p>
          <a:p xmlns:a="http://schemas.openxmlformats.org/drawingml/2006/main">
            <a:r>
              <a:t>          "after_days": 9,</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21855.555555555555,</a:t>
            </a:r>
          </a:p>
          <a:p xmlns:a="http://schemas.openxmlformats.org/drawingml/2006/main">
            <a:r>
              <a:t>            "before": 17999.8,</a:t>
            </a:r>
          </a:p>
          <a:p xmlns:a="http://schemas.openxmlformats.org/drawingml/2006/main">
            <a:r>
              <a:t>            "change_pct": 21.421102209777644,</a:t>
            </a:r>
          </a:p>
          <a:p xmlns:a="http://schemas.openxmlformats.org/drawingml/2006/main">
            <a:r>
              <a:t>            "difference": 3855.755555555555</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"0.414",</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"0.273",</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"0.536",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"0.716",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"0.217",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"0.725",</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"0.148",</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"0.381",</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"0.607",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"문경새재",</a:t>
            </a:r>
          </a:p>
          <a:p xmlns:a="http://schemas.openxmlformats.org/drawingml/2006/main">
            <a:r>
              <a:t>            "카테고리": "역사유적지",</a:t>
            </a:r>
          </a:p>
          <a:p xmlns:a="http://schemas.openxmlformats.org/drawingml/2006/main">
            <a:r>
              <a:t>            "도로명주소": "경북 문경시 새재로 932-0"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"문경종합온천",</a:t>
            </a:r>
          </a:p>
          <a:p xmlns:a="http://schemas.openxmlformats.org/drawingml/2006/main">
            <a:r>
              <a:t>            "카테고리": "웰니스관광",</a:t>
            </a:r>
          </a:p>
          <a:p xmlns:a="http://schemas.openxmlformats.org/drawingml/2006/main">
            <a:r>
              <a:t>            "도로명주소": "경북 문경시 온천2길 24-0"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"문경찻사발축제",</a:t>
            </a:r>
          </a:p>
          <a:p xmlns:a="http://schemas.openxmlformats.org/drawingml/2006/main">
            <a:r>
              <a:t>            "카테고리": "기타문화관광지",</a:t>
            </a:r>
          </a:p>
          <a:p xmlns:a="http://schemas.openxmlformats.org/drawingml/2006/main">
            <a:r>
              <a:t>            "도로명주소": "경북 문경시 새재로 933-0"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"operating_statistics":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"한국관광 데이터랩 · 안동탈춤축제 방문자 추이",</a:t>
            </a:r>
          </a:p>
          <a:p xmlns:a="http://schemas.openxmlformats.org/drawingml/2006/main">
            <a:r>
              <a:t>      "summary": "경상북도 안동시 · 안동탈춤축제 · 2024→2025년 전체 504,573→554,494명 (+9.89%). 개최 10→10일, 일평균 +9.89%, 외지인 +10.75%.",</a:t>
            </a:r>
          </a:p>
          <a:p xmlns:a="http://schemas.openxmlformats.org/drawingml/2006/main">
            <a:r>
              <a:t>      "source_id": "case:festival:0e9c7c065555b0",</a:t>
            </a:r>
          </a:p>
          <a:p xmlns:a="http://schemas.openxmlformats.org/drawingml/2006/main">
            <a:r>
              <a:t>      "source_url": "https://datalab.visitkorea.or.kr/",</a:t>
            </a:r>
          </a:p>
          <a:p xmlns:a="http://schemas.openxmlformats.org/drawingml/2006/main">
            <a:r>
              <a:t>      "case_region": "경상북도 안동시",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"안동탈춤축제",</a:t>
            </a:r>
          </a:p>
          <a:p xmlns:a="http://schemas.openxmlformats.org/drawingml/2006/main">
            <a:r>
              <a:t>      "source_files": [</a:t>
            </a:r>
          </a:p>
          <a:p xmlns:a="http://schemas.openxmlformats.org/drawingml/2006/main">
            <a:r>
              <a:t>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"c0b34e003112bda1f5afa06dcb153cc870d61730036ef23f1b3e7aed39ca5458",</a:t>
            </a:r>
          </a:p>
          <a:p xmlns:a="http://schemas.openxmlformats.org/drawingml/2006/main">
            <a:r>
              <a:t>          "provider": "한국관광 데이터랩",</a:t>
            </a:r>
          </a:p>
          <a:p xmlns:a="http://schemas.openxmlformats.org/drawingml/2006/main">
            <a:r>
              <a:t>          "file_name": "20260820175023_안동탈춤축제_성_연령별 내국인 방문자.csv",</a:t>
            </a:r>
          </a:p>
          <a:p xmlns:a="http://schemas.openxmlformats.org/drawingml/2006/main">
            <a:r>
              <a:t>          "source_id": "festival-file:c0b34e003112bda1f5af",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"40ddabd2e46fcb12bc9cc2361174e1a5ebe80f169611896b6d4b5e60d9fda352",</a:t>
            </a:r>
          </a:p>
          <a:p xmlns:a="http://schemas.openxmlformats.org/drawingml/2006/main">
            <a:r>
              <a:t>          "provider": "한국관광 데이터랩",</a:t>
            </a:r>
          </a:p>
          <a:p xmlns:a="http://schemas.openxmlformats.org/drawingml/2006/main">
            <a:r>
              <a:t>          "file_name": "20260820175023_안동탈춤축제_문화관광축제 주요 지표.csv",</a:t>
            </a:r>
          </a:p>
          <a:p xmlns:a="http://schemas.openxmlformats.org/drawingml/2006/main">
            <a:r>
              <a:t>          "source_id": "festival-file:40ddabd2e46fcb12bc9c",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"11de7e20288dde00f7f18e353a24b5a95c511a7dc354ec9cc2c7a3a2436712f6",</a:t>
            </a:r>
          </a:p>
          <a:p xmlns:a="http://schemas.openxmlformats.org/drawingml/2006/main">
            <a:r>
              <a:t>          "provider": "한국관광 데이터랩",</a:t>
            </a:r>
          </a:p>
          <a:p xmlns:a="http://schemas.openxmlformats.org/drawingml/2006/main">
            <a:r>
              <a:t>          "file_name": "20260820175023_안동탈춤축제_목적지 검색순위.csv",</a:t>
            </a:r>
          </a:p>
          <a:p xmlns:a="http://schemas.openxmlformats.org/drawingml/2006/main">
            <a:r>
              <a:t>          "source_id": "festival-file:11de7e20288dde00f7f1",</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"case_study",</a:t>
            </a:r>
          </a:p>
          <a:p xmlns:a="http://schemas.openxmlformats.org/drawingml/2006/main">
            <a:r>
              <a:t>      "evidence_kind": "festival_statistics",</a:t>
            </a:r>
          </a:p>
          <a:p xmlns:a="http://schemas.openxmlformats.org/drawingml/2006/main">
            <a:r>
              <a:t>      "observed_result": "2024→2025년 전체 504,573→554,494명 (+9.89%). 개최 10→10일, 일평균 +9.89%, 외지인 +10.75%.",</a:t>
            </a:r>
          </a:p>
          <a:p xmlns:a="http://schemas.openxmlformats.org/drawingml/2006/main">
            <a:r>
              <a:t>      "operating_model": "안동탈춤축제를 2025년 10일 개최한 문화관광축제 운영 사례. 세부 프로그램·예약·혜택은 이 CSV에 기록되어 있지 않으며 새로운 운영안은 제안으로 구분한다.",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"공연·문화",</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"datalab_festival_table",</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"2023~2025년 각 축제 개최기간",</a:t>
            </a:r>
          </a:p>
          <a:p xmlns:a="http://schemas.openxmlformats.org/drawingml/2006/main">
            <a:r>
              <a:t>      "festival_statistics": {</a:t>
            </a:r>
          </a:p>
          <a:p xmlns:a="http://schemas.openxmlformats.org/drawingml/2006/main">
            <a:r>
              <a:t>        "name": "안동탈춤축제",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8,</a:t>
            </a:r>
          </a:p>
          <a:p xmlns:a="http://schemas.openxmlformats.org/drawingml/2006/main">
            <a:r>
              <a:t>            "year": 2023,</a:t>
            </a:r>
          </a:p>
          <a:p xmlns:a="http://schemas.openxmlformats.org/drawingml/2006/main">
            <a:r>
              <a:t>            "daily": 45517.125,</a:t>
            </a:r>
          </a:p>
          <a:p xmlns:a="http://schemas.openxmlformats.org/drawingml/2006/main">
            <a:r>
              <a:t>            "local": 233513,</a:t>
            </a:r>
          </a:p>
          <a:p xmlns:a="http://schemas.openxmlformats.org/drawingml/2006/main">
            <a:r>
              <a:t>            "total": 364137,</a:t>
            </a:r>
          </a:p>
          <a:p xmlns:a="http://schemas.openxmlformats.org/drawingml/2006/main">
            <a:r>
              <a:t>            "foreign": 3319,</a:t>
            </a:r>
          </a:p>
          <a:p xmlns:a="http://schemas.openxmlformats.org/drawingml/2006/main">
            <a:r>
              <a:t>            "outside": 127305,</a:t>
            </a:r>
          </a:p>
          <a:p xmlns:a="http://schemas.openxmlformats.org/drawingml/2006/main">
            <a:r>
              <a:t>            "outside_daily": 15913.125,</a:t>
            </a:r>
          </a:p>
          <a:p xmlns:a="http://schemas.openxmlformats.org/drawingml/2006/main">
            <a:r>
              <a:t>            "outside_share_pct": 34.960742797353745</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50457.3,</a:t>
            </a:r>
          </a:p>
          <a:p xmlns:a="http://schemas.openxmlformats.org/drawingml/2006/main">
            <a:r>
              <a:t>            "local": 317925,</a:t>
            </a:r>
          </a:p>
          <a:p xmlns:a="http://schemas.openxmlformats.org/drawingml/2006/main">
            <a:r>
              <a:t>            "total": 504573,</a:t>
            </a:r>
          </a:p>
          <a:p xmlns:a="http://schemas.openxmlformats.org/drawingml/2006/main">
            <a:r>
              <a:t>            "foreign": 4684,</a:t>
            </a:r>
          </a:p>
          <a:p xmlns:a="http://schemas.openxmlformats.org/drawingml/2006/main">
            <a:r>
              <a:t>            "outside": 181964,</a:t>
            </a:r>
          </a:p>
          <a:p xmlns:a="http://schemas.openxmlformats.org/drawingml/2006/main">
            <a:r>
              <a:t>            "outside_daily": 18196.4,</a:t>
            </a:r>
          </a:p>
          <a:p xmlns:a="http://schemas.openxmlformats.org/drawingml/2006/main">
            <a:r>
              <a:t>            "outside_share_pct": 36.06296809381398</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2025,</a:t>
            </a:r>
          </a:p>
          <a:p xmlns:a="http://schemas.openxmlformats.org/drawingml/2006/main">
            <a:r>
              <a:t>            "daily": 55449.4,</a:t>
            </a:r>
          </a:p>
          <a:p xmlns:a="http://schemas.openxmlformats.org/drawingml/2006/main">
            <a:r>
              <a:t>            "local": 347269,</a:t>
            </a:r>
          </a:p>
          <a:p xmlns:a="http://schemas.openxmlformats.org/drawingml/2006/main">
            <a:r>
              <a:t>            "total": 554494,</a:t>
            </a:r>
          </a:p>
          <a:p xmlns:a="http://schemas.openxmlformats.org/drawingml/2006/main">
            <a:r>
              <a:t>            "foreign": 5702,</a:t>
            </a:r>
          </a:p>
          <a:p xmlns:a="http://schemas.openxmlformats.org/drawingml/2006/main">
            <a:r>
              <a:t>            "outside": 201523,</a:t>
            </a:r>
          </a:p>
          <a:p xmlns:a="http://schemas.openxmlformats.org/drawingml/2006/main">
            <a:r>
              <a:t>            "outside_daily": 20152.3,</a:t>
            </a:r>
          </a:p>
          <a:p xmlns:a="http://schemas.openxmlformats.org/drawingml/2006/main">
            <a:r>
              <a:t>            "outside_share_pct": 36.34358532283487</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"안동탈춤축제",</a:t>
            </a:r>
          </a:p>
          <a:p xmlns:a="http://schemas.openxmlformats.org/drawingml/2006/main">
            <a:r>
              <a:t>            "남성비율": "4.4",</a:t>
            </a:r>
          </a:p>
          <a:p xmlns:a="http://schemas.openxmlformats.org/drawingml/2006/main">
            <a:r>
              <a:t>            "여성비율": "5.0"</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"안동탈춤축제",</a:t>
            </a:r>
          </a:p>
          <a:p xmlns:a="http://schemas.openxmlformats.org/drawingml/2006/main">
            <a:r>
              <a:t>            "남성비율": "8.0",</a:t>
            </a:r>
          </a:p>
          <a:p xmlns:a="http://schemas.openxmlformats.org/drawingml/2006/main">
            <a:r>
              <a:t>            "여성비율": "8.5"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"안동탈춤축제",</a:t>
            </a:r>
          </a:p>
          <a:p xmlns:a="http://schemas.openxmlformats.org/drawingml/2006/main">
            <a:r>
              <a:t>            "남성비율": "9.2",</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"안동탈춤축제",</a:t>
            </a:r>
          </a:p>
          <a:p xmlns:a="http://schemas.openxmlformats.org/drawingml/2006/main">
            <a:r>
              <a:t>            "남성비율": "7.5",</a:t>
            </a:r>
          </a:p>
          <a:p xmlns:a="http://schemas.openxmlformats.org/drawingml/2006/main">
            <a:r>
              <a:t>            "여성비율": "7.9"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"안동탈춤축제",</a:t>
            </a:r>
          </a:p>
          <a:p xmlns:a="http://schemas.openxmlformats.org/drawingml/2006/main">
            <a:r>
              <a:t>            "남성비율": "7.9",</a:t>
            </a:r>
          </a:p>
          <a:p xmlns:a="http://schemas.openxmlformats.org/drawingml/2006/main">
            <a:r>
              <a:t>            "여성비율": "7.2"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"안동탈춤축제",</a:t>
            </a:r>
          </a:p>
          <a:p xmlns:a="http://schemas.openxmlformats.org/drawingml/2006/main">
            <a:r>
              <a:t>            "남성비율": "7.1",</a:t>
            </a:r>
          </a:p>
          <a:p xmlns:a="http://schemas.openxmlformats.org/drawingml/2006/main">
            <a:r>
              <a:t>            "여성비율": "8.2"</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"안동탈춤축제",</a:t>
            </a:r>
          </a:p>
          <a:p xmlns:a="http://schemas.openxmlformats.org/drawingml/2006/main">
            <a:r>
              <a:t>            "남성비율": "3.2",</a:t>
            </a:r>
          </a:p>
          <a:p xmlns:a="http://schemas.openxmlformats.org/drawingml/2006/main">
            <a:r>
              <a:t>            "여성비율": "3.9"</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"안동탈춤축제",</a:t>
            </a:r>
          </a:p>
          <a:p xmlns:a="http://schemas.openxmlformats.org/drawingml/2006/main">
            <a:r>
              <a:t>            "남성비율": "0.5",</a:t>
            </a:r>
          </a:p>
          <a:p xmlns:a="http://schemas.openxmlformats.org/drawingml/2006/main">
            <a:r>
              <a:t>            "여성비율": "0.7"</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4992.0999999999985</a:t>
            </a:r>
          </a:p>
          <a:p xmlns:a="http://schemas.openxmlformats.org/drawingml/2006/main">
            <a:r>
              <a:t>          },</a:t>
            </a:r>
          </a:p>
          <a:p xmlns:a="http://schemas.openxmlformats.org/drawingml/2006/main">
            <a:r>
              <a:t>          "total":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49921</a:t>
            </a:r>
          </a:p>
          <a:p xmlns:a="http://schemas.openxmlformats.org/drawingml/2006/main">
            <a:r>
              <a:t>          },</a:t>
            </a:r>
          </a:p>
          <a:p xmlns:a="http://schemas.openxmlformats.org/drawingml/2006/main">
            <a:r>
              <a:t>          "outside": {</a:t>
            </a:r>
          </a:p>
          <a:p xmlns:a="http://schemas.openxmlformats.org/drawingml/2006/main">
            <a:r>
              <a:t>            "after": 201523,</a:t>
            </a:r>
          </a:p>
          <a:p xmlns:a="http://schemas.openxmlformats.org/drawingml/2006/main">
            <a:r>
              <a:t>            "before": 181964,</a:t>
            </a:r>
          </a:p>
          <a:p xmlns:a="http://schemas.openxmlformats.org/drawingml/2006/main">
            <a:r>
              <a:t>            "change_pct": 10.748829438790096,</a:t>
            </a:r>
          </a:p>
          <a:p xmlns:a="http://schemas.openxmlformats.org/drawingml/2006/main">
            <a:r>
              <a:t>            "difference": 19559</a:t>
            </a:r>
          </a:p>
          <a:p xmlns:a="http://schemas.openxmlformats.org/drawingml/2006/main">
            <a:r>
              <a:t>          },</a:t>
            </a:r>
          </a:p>
          <a:p xmlns:a="http://schemas.openxmlformats.org/drawingml/2006/main">
            <a:r>
              <a:t>          "after_days": 10,</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20152.3,</a:t>
            </a:r>
          </a:p>
          <a:p xmlns:a="http://schemas.openxmlformats.org/drawingml/2006/main">
            <a:r>
              <a:t>            "before": 18196.4,</a:t>
            </a:r>
          </a:p>
          <a:p xmlns:a="http://schemas.openxmlformats.org/drawingml/2006/main">
            <a:r>
              <a:t>            "change_pct": 10.748829438790075,</a:t>
            </a:r>
          </a:p>
          <a:p xmlns:a="http://schemas.openxmlformats.org/drawingml/2006/main">
            <a:r>
              <a:t>            "difference": 1955.8999999999976</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"0.515",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"0.434",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"0.544",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"0.879",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"0.258",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"0.618",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"0.252",</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"0.375",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"안동구시장",</a:t>
            </a:r>
          </a:p>
          <a:p xmlns:a="http://schemas.openxmlformats.org/drawingml/2006/main">
            <a:r>
              <a:t>            "카테고리": "시장",</a:t>
            </a:r>
          </a:p>
          <a:p xmlns:a="http://schemas.openxmlformats.org/drawingml/2006/main">
            <a:r>
              <a:t>            "도로명주소": "경북 안동시 번영1길 47-0"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"안동국제탈춤페스티벌",</a:t>
            </a:r>
          </a:p>
          <a:p xmlns:a="http://schemas.openxmlformats.org/drawingml/2006/main">
            <a:r>
              <a:t>            "카테고리": "기타문화관광지",</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"탈춤공원",</a:t>
            </a:r>
          </a:p>
          <a:p xmlns:a="http://schemas.openxmlformats.org/drawingml/2006/main">
            <a:r>
              <a:t>            "카테고리": "도시공원",</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"operating_statistics":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"강진 반값여행 지역경제 효과 소개",</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"source_id": "case:gangjin_half_price_2024",</a:t>
            </a:r>
          </a:p>
          <a:p xmlns:a="http://schemas.openxmlformats.org/drawingml/2006/main">
            <a:r>
              <a:t>      "source_url": "https://jnfarm.jeonnam.go.kr/board/FARM_BOARD_008/boardView.do?bdId=BD_00000000000011721&amp;menuCd=farm004002",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"반값여행 지역환급",</a:t>
            </a:r>
          </a:p>
          <a:p xmlns:a="http://schemas.openxmlformats.org/drawingml/2006/main">
            <a:r>
              <a:t>      "document_type": "case_study",</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"retrieval_method": "curated_registry",</a:t>
            </a:r>
          </a:p>
          <a:p xmlns:a="http://schemas.openxmlformats.org/drawingml/2006/main">
            <a:r>
              <a:t>      "evidence_strength": "low",</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"operating_statistics": [],</a:t>
            </a:r>
          </a:p>
          <a:p xmlns:a="http://schemas.openxmlformats.org/drawingml/2006/main">
            <a:r>
              <a:t>      "published_or_updated_at": "2025-01-02",</a:t>
            </a:r>
          </a:p>
          <a:p xmlns:a="http://schemas.openxmlformats.org/drawingml/2006/main">
            <a:r>
              <a:t>      "quantitative_result_approved": false</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"document_type": "case_study",</a:t>
            </a:r>
          </a:p>
          <a:p xmlns:a="http://schemas.openxmlformats.org/drawingml/2006/main">
            <a:r>
              <a:t>      "observed_result": "2024년 34개 지역 약 800개 관광업체에 혜택 구조를 적용",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"operating_statistics": [],</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"2022 대한민국 숙박대전 경제파급효과 공개자료",</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"source_id": "case:kto_stay_discount_2022",</a:t>
            </a:r>
          </a:p>
          <a:p xmlns:a="http://schemas.openxmlformats.org/drawingml/2006/main">
            <a:r>
              <a:t>      "source_url": "https://kto.visitkorea.or.kr/upload/flexer/upload/ktobiz/20220928/b623b5f9-3ec0-11ed-9832-ddf31964842e.hwp.files/Sections1.html",</a:t>
            </a:r>
          </a:p>
          <a:p xmlns:a="http://schemas.openxmlformats.org/drawingml/2006/main">
            <a:r>
              <a:t>      "case_region": "전국 숙박할인쿠폰 지원사업",</a:t>
            </a:r>
          </a:p>
          <a:p xmlns:a="http://schemas.openxmlformats.org/drawingml/2006/main">
            <a:r>
              <a:t>      "source_type": "benchmark_case",</a:t>
            </a:r>
          </a:p>
          <a:p xmlns:a="http://schemas.openxmlformats.org/drawingml/2006/main">
            <a:r>
              <a:t>      "intervention": "온라인 예약 채널 숙박할인쿠폰",</a:t>
            </a:r>
          </a:p>
          <a:p xmlns:a="http://schemas.openxmlformats.org/drawingml/2006/main">
            <a:r>
              <a:t>      "document_type": "case_study",</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"operating_statistics": [],</a:t>
            </a:r>
          </a:p>
          <a:p xmlns:a="http://schemas.openxmlformats.org/drawingml/2006/main">
            <a:r>
              <a:t>      "published_or_updated_at": "2022-09-28",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"2025 대한민국 밤밤페스타 개최 도시 및 일정",</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"source_id": "case:night_festival_2025",</a:t>
            </a:r>
          </a:p>
          <a:p xmlns:a="http://schemas.openxmlformats.org/drawingml/2006/main">
            <a:r>
              <a:t>      "source_url": "https://korean.visitkorea.or.kr/detail/rem_detail.do?cotid=f9c636b2-dd7c-4f09-af3d-6af43b33d371",</a:t>
            </a:r>
          </a:p>
          <a:p xmlns:a="http://schemas.openxmlformats.org/drawingml/2006/main">
            <a:r>
              <a:t>      "case_region": "야간관광 특화도시 10곳",</a:t>
            </a:r>
          </a:p>
          <a:p xmlns:a="http://schemas.openxmlformats.org/drawingml/2006/main">
            <a:r>
              <a:t>      "source_type": "benchmark_case",</a:t>
            </a:r>
          </a:p>
          <a:p xmlns:a="http://schemas.openxmlformats.org/drawingml/2006/main">
            <a:r>
              <a:t>      "intervention": "도시별 야간 콘텐츠를 순회형 축제로 묶는 운영",</a:t>
            </a:r>
          </a:p>
          <a:p xmlns:a="http://schemas.openxmlformats.org/drawingml/2006/main">
            <a:r>
              <a:t>      "document_type": "case_study",</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"operating_statistics": [],</a:t>
            </a:r>
          </a:p>
          <a:p xmlns:a="http://schemas.openxmlformats.org/drawingml/2006/main">
            <a:r>
              <a:t>      "published_or_updated_at": "2025",</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"한국관광 데이터랩 · 진도신비의바닷길축제 방문자 추이",</a:t>
            </a:r>
          </a:p>
          <a:p xmlns:a="http://schemas.openxmlformats.org/drawingml/2006/main">
            <a:r>
              <a:t>      "summary": "전라남도 진도군 · 진도신비의바닷길축제 · 2024→2025년 전체 28,171→43,973명 (+56.09%). 개최 3→4일, 일평균 +17.07%, 외지인 +89.98%.",</a:t>
            </a:r>
          </a:p>
          <a:p xmlns:a="http://schemas.openxmlformats.org/drawingml/2006/main">
            <a:r>
              <a:t>      "source_id": "case:festival:1ff9d11d3ee0ee",</a:t>
            </a:r>
          </a:p>
          <a:p xmlns:a="http://schemas.openxmlformats.org/drawingml/2006/main">
            <a:r>
              <a:t>      "source_url": "https://datalab.visitkorea.or.kr/",</a:t>
            </a:r>
          </a:p>
          <a:p xmlns:a="http://schemas.openxmlformats.org/drawingml/2006/main">
            <a:r>
              <a:t>      "case_region": "전라남도 진도군",</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"진도신비의바닷길축제",</a:t>
            </a:r>
          </a:p>
          <a:p xmlns:a="http://schemas.openxmlformats.org/drawingml/2006/main">
            <a:r>
              <a:t>      "source_files": [</a:t>
            </a:r>
          </a:p>
          <a:p xmlns:a="http://schemas.openxmlformats.org/drawingml/2006/main">
            <a:r>
              <a:t>        {</a:t>
            </a:r>
          </a:p>
          <a:p xmlns:a="http://schemas.openxmlformats.org/drawingml/2006/main">
            <a:r>
              <a:t>          "sha256": "3cf7484d808e807aeffda7504a3d316839b9220f0f7a72550f5387af3ee3f8d9",</a:t>
            </a:r>
          </a:p>
          <a:p xmlns:a="http://schemas.openxmlformats.org/drawingml/2006/main">
            <a:r>
              <a:t>          "provider": "한국관광 데이터랩",</a:t>
            </a:r>
          </a:p>
          <a:p xmlns:a="http://schemas.openxmlformats.org/drawingml/2006/main">
            <a:r>
              <a:t>          "file_name": "20260820182448_진도신비의바닷길축제_연도별 방문자 추이.csv",</a:t>
            </a:r>
          </a:p>
          <a:p xmlns:a="http://schemas.openxmlformats.org/drawingml/2006/main">
            <a:r>
              <a:t>          "source_id": "festival-file:3cf7484d808e807aeffd",</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"data/source_snapshots/festivals_20260820/69. 진도신비의바닷길축제_2023-2025/20260820182448_진도신비의바닷길축제_연도별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"cb3424e725c84352d81fdb987f6d3ade162f54f63a9590ac8730dddcfcc48ed7",</a:t>
            </a:r>
          </a:p>
          <a:p xmlns:a="http://schemas.openxmlformats.org/drawingml/2006/main">
            <a:r>
              <a:t>          "provider": "한국관광 데이터랩",</a:t>
            </a:r>
          </a:p>
          <a:p xmlns:a="http://schemas.openxmlformats.org/drawingml/2006/main">
            <a:r>
              <a:t>          "file_name": "20260820182448_진도신비의바닷길축제_성_연령별 내국인 방문자.csv",</a:t>
            </a:r>
          </a:p>
          <a:p xmlns:a="http://schemas.openxmlformats.org/drawingml/2006/main">
            <a:r>
              <a:t>          "source_id": "festival-file:cb3424e725c84352d81f",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"data/source_snapshots/festivals_20260820/69. 진도신비의바닷길축제_2023-2025/20260820182448_진도신비의바닷길축제_성_연령별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"c9332a0e0d15d1550b1b545b8b739cc6a919a13ca701800d87203b06b2fecd46",</a:t>
            </a:r>
          </a:p>
          <a:p xmlns:a="http://schemas.openxmlformats.org/drawingml/2006/main">
            <a:r>
              <a:t>          "provider": "한국관광 데이터랩",</a:t>
            </a:r>
          </a:p>
          <a:p xmlns:a="http://schemas.openxmlformats.org/drawingml/2006/main">
            <a:r>
              <a:t>          "file_name": "20260820182448_진도신비의바닷길축제_문화관광축제 주요 지표.csv",</a:t>
            </a:r>
          </a:p>
          <a:p xmlns:a="http://schemas.openxmlformats.org/drawingml/2006/main">
            <a:r>
              <a:t>          "source_id": "festival-file:c9332a0e0d15d1550b1b",</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"data/source_snapshots/festivals_20260820/69. 진도신비의바닷길축제_2023-2025/20260820182448_진도신비의바닷길축제_문화관광축제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"b8aa76a62ac8159da3b9234363c8c0026f70875997af88b4e750f2f6154c65ae",</a:t>
            </a:r>
          </a:p>
          <a:p xmlns:a="http://schemas.openxmlformats.org/drawingml/2006/main">
            <a:r>
              <a:t>          "provider": "한국관광 데이터랩",</a:t>
            </a:r>
          </a:p>
          <a:p xmlns:a="http://schemas.openxmlformats.org/drawingml/2006/main">
            <a:r>
              <a:t>          "file_name": "20260820182448_진도신비의바닷길축제_목적지 검색순위.csv",</a:t>
            </a:r>
          </a:p>
          <a:p xmlns:a="http://schemas.openxmlformats.org/drawingml/2006/main">
            <a:r>
              <a:t>          "source_id": "festival-file:b8aa76a62ac8159da3b9",</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"data/source_snapshots/festivals_20260820/69. 진도신비의바닷길축제_2023-2025/20260820182448_진도신비의바닷길축제_목적지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"case_study",</a:t>
            </a:r>
          </a:p>
          <a:p xmlns:a="http://schemas.openxmlformats.org/drawingml/2006/main">
            <a:r>
              <a:t>      "evidence_kind": "festival_statistics",</a:t>
            </a:r>
          </a:p>
          <a:p xmlns:a="http://schemas.openxmlformats.org/drawingml/2006/main">
            <a:r>
              <a:t>      "observed_result": "2024→2025년 전체 28,171→43,973명 (+56.09%). 개최 3→4일, 일평균 +17.07%, 외지인 +89.98%.",</a:t>
            </a:r>
          </a:p>
          <a:p xmlns:a="http://schemas.openxmlformats.org/drawingml/2006/main">
            <a:r>
              <a:t>      "operating_model": "진도신비의바닷길축제를 2025년 4일 개최한 문화관광축제 운영 사례. 세부 프로그램·예약·혜택은 이 CSV에 기록되어 있지 않으며 새로운 운영안은 제안으로 구분한다.",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"자연·야외",</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"datalab_festival_table",</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"2023~2025년 각 축제 개최기간",</a:t>
            </a:r>
          </a:p>
          <a:p xmlns:a="http://schemas.openxmlformats.org/drawingml/2006/main">
            <a:r>
              <a:t>      "festival_statistics": {</a:t>
            </a:r>
          </a:p>
          <a:p xmlns:a="http://schemas.openxmlformats.org/drawingml/2006/main">
            <a:r>
              <a:t>        "name": "진도신비의바닷길축제",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3,</a:t>
            </a:r>
          </a:p>
          <a:p xmlns:a="http://schemas.openxmlformats.org/drawingml/2006/main">
            <a:r>
              <a:t>            "year": 2023,</a:t>
            </a:r>
          </a:p>
          <a:p xmlns:a="http://schemas.openxmlformats.org/drawingml/2006/main">
            <a:r>
              <a:t>            "daily": 11185.333333333334,</a:t>
            </a:r>
          </a:p>
          <a:p xmlns:a="http://schemas.openxmlformats.org/drawingml/2006/main">
            <a:r>
              <a:t>            "local": 12120,</a:t>
            </a:r>
          </a:p>
          <a:p xmlns:a="http://schemas.openxmlformats.org/drawingml/2006/main">
            <a:r>
              <a:t>            "total": 33556,</a:t>
            </a:r>
          </a:p>
          <a:p xmlns:a="http://schemas.openxmlformats.org/drawingml/2006/main">
            <a:r>
              <a:t>            "foreign": 278,</a:t>
            </a:r>
          </a:p>
          <a:p xmlns:a="http://schemas.openxmlformats.org/drawingml/2006/main">
            <a:r>
              <a:t>            "outside": 21158,</a:t>
            </a:r>
          </a:p>
          <a:p xmlns:a="http://schemas.openxmlformats.org/drawingml/2006/main">
            <a:r>
              <a:t>            "outside_daily": 7052.666666666667,</a:t>
            </a:r>
          </a:p>
          <a:p xmlns:a="http://schemas.openxmlformats.org/drawingml/2006/main">
            <a:r>
              <a:t>            "outside_share_pct": 63.05280724758613</a:t>
            </a:r>
          </a:p>
          <a:p xmlns:a="http://schemas.openxmlformats.org/drawingml/2006/main">
            <a:r>
              <a:t>          },</a:t>
            </a:r>
          </a:p>
          <a:p xmlns:a="http://schemas.openxmlformats.org/drawingml/2006/main">
            <a:r>
              <a:t>          {</a:t>
            </a:r>
          </a:p>
          <a:p xmlns:a="http://schemas.openxmlformats.org/drawingml/2006/main">
            <a:r>
              <a:t>            "days": 3,</a:t>
            </a:r>
          </a:p>
          <a:p xmlns:a="http://schemas.openxmlformats.org/drawingml/2006/main">
            <a:r>
              <a:t>            "year": 2024,</a:t>
            </a:r>
          </a:p>
          <a:p xmlns:a="http://schemas.openxmlformats.org/drawingml/2006/main">
            <a:r>
              <a:t>            "daily": 9390.333333333334,</a:t>
            </a:r>
          </a:p>
          <a:p xmlns:a="http://schemas.openxmlformats.org/drawingml/2006/main">
            <a:r>
              <a:t>            "local": 13068,</a:t>
            </a:r>
          </a:p>
          <a:p xmlns:a="http://schemas.openxmlformats.org/drawingml/2006/main">
            <a:r>
              <a:t>            "total": 28171,</a:t>
            </a:r>
          </a:p>
          <a:p xmlns:a="http://schemas.openxmlformats.org/drawingml/2006/main">
            <a:r>
              <a:t>            "foreign": 223,</a:t>
            </a:r>
          </a:p>
          <a:p xmlns:a="http://schemas.openxmlformats.org/drawingml/2006/main">
            <a:r>
              <a:t>            "outside": 14880,</a:t>
            </a:r>
          </a:p>
          <a:p xmlns:a="http://schemas.openxmlformats.org/drawingml/2006/main">
            <a:r>
              <a:t>            "outside_daily": 4960,</a:t>
            </a:r>
          </a:p>
          <a:p xmlns:a="http://schemas.openxmlformats.org/drawingml/2006/main">
            <a:r>
              <a:t>            "outside_share_pct": 52.82027617052998</a:t>
            </a:r>
          </a:p>
          <a:p xmlns:a="http://schemas.openxmlformats.org/drawingml/2006/main">
            <a:r>
              <a:t>          },</a:t>
            </a:r>
          </a:p>
          <a:p xmlns:a="http://schemas.openxmlformats.org/drawingml/2006/main">
            <a:r>
              <a:t>          {</a:t>
            </a:r>
          </a:p>
          <a:p xmlns:a="http://schemas.openxmlformats.org/drawingml/2006/main">
            <a:r>
              <a:t>            "days": 4,</a:t>
            </a:r>
          </a:p>
          <a:p xmlns:a="http://schemas.openxmlformats.org/drawingml/2006/main">
            <a:r>
              <a:t>            "year": 2025,</a:t>
            </a:r>
          </a:p>
          <a:p xmlns:a="http://schemas.openxmlformats.org/drawingml/2006/main">
            <a:r>
              <a:t>            "daily": 10993.25,</a:t>
            </a:r>
          </a:p>
          <a:p xmlns:a="http://schemas.openxmlformats.org/drawingml/2006/main">
            <a:r>
              <a:t>            "local": 15345,</a:t>
            </a:r>
          </a:p>
          <a:p xmlns:a="http://schemas.openxmlformats.org/drawingml/2006/main">
            <a:r>
              <a:t>            "total": 43973,</a:t>
            </a:r>
          </a:p>
          <a:p xmlns:a="http://schemas.openxmlformats.org/drawingml/2006/main">
            <a:r>
              <a:t>            "foreign": 359,</a:t>
            </a:r>
          </a:p>
          <a:p xmlns:a="http://schemas.openxmlformats.org/drawingml/2006/main">
            <a:r>
              <a:t>            "outside": 28269,</a:t>
            </a:r>
          </a:p>
          <a:p xmlns:a="http://schemas.openxmlformats.org/drawingml/2006/main">
            <a:r>
              <a:t>            "outside_daily": 7067.25,</a:t>
            </a:r>
          </a:p>
          <a:p xmlns:a="http://schemas.openxmlformats.org/drawingml/2006/main">
            <a:r>
              <a:t>            "outside_share_pct": 64.28717622177244</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"진도신비의바닷길축제",</a:t>
            </a:r>
          </a:p>
          <a:p xmlns:a="http://schemas.openxmlformats.org/drawingml/2006/main">
            <a:r>
              <a:t>            "남성비율": "7.4",</a:t>
            </a:r>
          </a:p>
          <a:p xmlns:a="http://schemas.openxmlformats.org/drawingml/2006/main">
            <a:r>
              <a:t>            "여성비율": "6.8"</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"진도신비의바닷길축제",</a:t>
            </a:r>
          </a:p>
          <a:p xmlns:a="http://schemas.openxmlformats.org/drawingml/2006/main">
            <a:r>
              <a:t>            "남성비율": "13.8",</a:t>
            </a:r>
          </a:p>
          <a:p xmlns:a="http://schemas.openxmlformats.org/drawingml/2006/main">
            <a:r>
              <a:t>            "여성비율": "14.3"</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"진도신비의바닷길축제",</a:t>
            </a:r>
          </a:p>
          <a:p xmlns:a="http://schemas.openxmlformats.org/drawingml/2006/main">
            <a:r>
              <a:t>            "남성비율": "10.7",</a:t>
            </a:r>
          </a:p>
          <a:p xmlns:a="http://schemas.openxmlformats.org/drawingml/2006/main">
            <a:r>
              <a:t>            "여성비율": "11.5"</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"진도신비의바닷길축제",</a:t>
            </a:r>
          </a:p>
          <a:p xmlns:a="http://schemas.openxmlformats.org/drawingml/2006/main">
            <a:r>
              <a:t>            "남성비율": "7.7",</a:t>
            </a:r>
          </a:p>
          <a:p xmlns:a="http://schemas.openxmlformats.org/drawingml/2006/main">
            <a:r>
              <a:t>            "여성비율": "4.9"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"진도신비의바닷길축제",</a:t>
            </a:r>
          </a:p>
          <a:p xmlns:a="http://schemas.openxmlformats.org/drawingml/2006/main">
            <a:r>
              <a:t>            "남성비율": "6.8",</a:t>
            </a:r>
          </a:p>
          <a:p xmlns:a="http://schemas.openxmlformats.org/drawingml/2006/main">
            <a:r>
              <a:t>            "여성비율": "4.2"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"진도신비의바닷길축제",</a:t>
            </a:r>
          </a:p>
          <a:p xmlns:a="http://schemas.openxmlformats.org/drawingml/2006/main">
            <a:r>
              <a:t>            "남성비율": "5.3",</a:t>
            </a:r>
          </a:p>
          <a:p xmlns:a="http://schemas.openxmlformats.org/drawingml/2006/main">
            <a:r>
              <a:t>            "여성비율": "3.0"</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"진도신비의바닷길축제",</a:t>
            </a:r>
          </a:p>
          <a:p xmlns:a="http://schemas.openxmlformats.org/drawingml/2006/main">
            <a:r>
              <a:t>            "남성비율": "1.3",</a:t>
            </a:r>
          </a:p>
          <a:p xmlns:a="http://schemas.openxmlformats.org/drawingml/2006/main">
            <a:r>
              <a:t>            "여성비율": "1.3"</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"진도신비의바닷길축제",</a:t>
            </a:r>
          </a:p>
          <a:p xmlns:a="http://schemas.openxmlformats.org/drawingml/2006/main">
            <a:r>
              <a:t>            "남성비율": "0.5",</a:t>
            </a:r>
          </a:p>
          <a:p xmlns:a="http://schemas.openxmlformats.org/drawingml/2006/main">
            <a:r>
              <a:t>            "여성비율": "0.4"</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10993.25,</a:t>
            </a:r>
          </a:p>
          <a:p xmlns:a="http://schemas.openxmlformats.org/drawingml/2006/main">
            <a:r>
              <a:t>            "before": 9390.333333333334,</a:t>
            </a:r>
          </a:p>
          <a:p xmlns:a="http://schemas.openxmlformats.org/drawingml/2006/main">
            <a:r>
              <a:t>            "change_pct": 17.069859074935213,</a:t>
            </a:r>
          </a:p>
          <a:p xmlns:a="http://schemas.openxmlformats.org/drawingml/2006/main">
            <a:r>
              <a:t>            "difference": 1602.916666666666</a:t>
            </a:r>
          </a:p>
          <a:p xmlns:a="http://schemas.openxmlformats.org/drawingml/2006/main">
            <a:r>
              <a:t>          },</a:t>
            </a:r>
          </a:p>
          <a:p xmlns:a="http://schemas.openxmlformats.org/drawingml/2006/main">
            <a:r>
              <a:t>          "total": {</a:t>
            </a:r>
          </a:p>
          <a:p xmlns:a="http://schemas.openxmlformats.org/drawingml/2006/main">
            <a:r>
              <a:t>            "after": 43973,</a:t>
            </a:r>
          </a:p>
          <a:p xmlns:a="http://schemas.openxmlformats.org/drawingml/2006/main">
            <a:r>
              <a:t>            "before": 28171,</a:t>
            </a:r>
          </a:p>
          <a:p xmlns:a="http://schemas.openxmlformats.org/drawingml/2006/main">
            <a:r>
              <a:t>            "change_pct": 56.093145433246946,</a:t>
            </a:r>
          </a:p>
          <a:p xmlns:a="http://schemas.openxmlformats.org/drawingml/2006/main">
            <a:r>
              <a:t>            "difference": 15802</a:t>
            </a:r>
          </a:p>
          <a:p xmlns:a="http://schemas.openxmlformats.org/drawingml/2006/main">
            <a:r>
              <a:t>          },</a:t>
            </a:r>
          </a:p>
          <a:p xmlns:a="http://schemas.openxmlformats.org/drawingml/2006/main">
            <a:r>
              <a:t>          "outside": {</a:t>
            </a:r>
          </a:p>
          <a:p xmlns:a="http://schemas.openxmlformats.org/drawingml/2006/main">
            <a:r>
              <a:t>            "after": 28269,</a:t>
            </a:r>
          </a:p>
          <a:p xmlns:a="http://schemas.openxmlformats.org/drawingml/2006/main">
            <a:r>
              <a:t>            "before": 14880,</a:t>
            </a:r>
          </a:p>
          <a:p xmlns:a="http://schemas.openxmlformats.org/drawingml/2006/main">
            <a:r>
              <a:t>            "change_pct": 89.97983870967742,</a:t>
            </a:r>
          </a:p>
          <a:p xmlns:a="http://schemas.openxmlformats.org/drawingml/2006/main">
            <a:r>
              <a:t>            "difference": 13389</a:t>
            </a:r>
          </a:p>
          <a:p xmlns:a="http://schemas.openxmlformats.org/drawingml/2006/main">
            <a:r>
              <a:t>          },</a:t>
            </a:r>
          </a:p>
          <a:p xmlns:a="http://schemas.openxmlformats.org/drawingml/2006/main">
            <a:r>
              <a:t>          "after_days": 4,</a:t>
            </a:r>
          </a:p>
          <a:p xmlns:a="http://schemas.openxmlformats.org/drawingml/2006/main">
            <a:r>
              <a:t>          "after_year": 2025,</a:t>
            </a:r>
          </a:p>
          <a:p xmlns:a="http://schemas.openxmlformats.org/drawingml/2006/main">
            <a:r>
              <a:t>          "before_days": 3,</a:t>
            </a:r>
          </a:p>
          <a:p xmlns:a="http://schemas.openxmlformats.org/drawingml/2006/main">
            <a:r>
              <a:t>          "before_year": 2024,</a:t>
            </a:r>
          </a:p>
          <a:p xmlns:a="http://schemas.openxmlformats.org/drawingml/2006/main">
            <a:r>
              <a:t>          "outside_daily": {</a:t>
            </a:r>
          </a:p>
          <a:p xmlns:a="http://schemas.openxmlformats.org/drawingml/2006/main">
            <a:r>
              <a:t>            "after": 7067.25,</a:t>
            </a:r>
          </a:p>
          <a:p xmlns:a="http://schemas.openxmlformats.org/drawingml/2006/main">
            <a:r>
              <a:t>            "before": 4960,</a:t>
            </a:r>
          </a:p>
          <a:p xmlns:a="http://schemas.openxmlformats.org/drawingml/2006/main">
            <a:r>
              <a:t>            "change_pct": 42.484879032258064,</a:t>
            </a:r>
          </a:p>
          <a:p xmlns:a="http://schemas.openxmlformats.org/drawingml/2006/main">
            <a:r>
              <a:t>            "difference": 2107.25</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"3cf7484d808e807aeffda7504a3d316839b9220f0f7a72550f5387af3ee3f8d9",</a:t>
            </a:r>
          </a:p>
          <a:p xmlns:a="http://schemas.openxmlformats.org/drawingml/2006/main">
            <a:r>
              <a:t>          "provider": "한국관광 데이터랩",</a:t>
            </a:r>
          </a:p>
          <a:p xmlns:a="http://schemas.openxmlformats.org/drawingml/2006/main">
            <a:r>
              <a:t>          "file_name": "20260820182448_진도신비의바닷길축제_연도별 방문자 추이.csv",</a:t>
            </a:r>
          </a:p>
          <a:p xmlns:a="http://schemas.openxmlformats.org/drawingml/2006/main">
            <a:r>
              <a:t>          "source_id": "festival-file:3cf7484d808e807aeffd",</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"data/source_snapshots/festivals_20260820/69. 진도신비의바닷길축제_2023-2025/20260820182448_진도신비의바닷길축제_연도별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"0.568",</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"0.858",</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"0.513",</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"0.283",</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"0.791",</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"0.137",</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"0.472",</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"0.06",</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"0.212",</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"0.269",</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"진도신비의바닷길축제",</a:t>
            </a:r>
          </a:p>
          <a:p xmlns:a="http://schemas.openxmlformats.org/drawingml/2006/main">
            <a:r>
              <a:t>            "카테고리": "기타문화관광지",</a:t>
            </a:r>
          </a:p>
          <a:p xmlns:a="http://schemas.openxmlformats.org/drawingml/2006/main">
            <a:r>
              <a:t>            "도로명주소": "전남 진도군 신비의바닷길 74-0"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"진도신비의바닷길",</a:t>
            </a:r>
          </a:p>
          <a:p xmlns:a="http://schemas.openxmlformats.org/drawingml/2006/main">
            <a:r>
              <a:t>            "카테고리": "테마공원",</a:t>
            </a:r>
          </a:p>
          <a:p xmlns:a="http://schemas.openxmlformats.org/drawingml/2006/main">
            <a:r>
              <a:t>            "도로명주소": "전남 진도군"</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"가계해변",</a:t>
            </a:r>
          </a:p>
          <a:p xmlns:a="http://schemas.openxmlformats.org/drawingml/2006/main">
            <a:r>
              <a:t>            "카테고리": "자연경관(하천/해양)",</a:t>
            </a:r>
          </a:p>
          <a:p xmlns:a="http://schemas.openxmlformats.org/drawingml/2006/main">
            <a:r>
              <a:t>            "도로명주소": "전남 진도군 신비의바닷길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"operating_statistics":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"한국관광 데이터랩 · 통영한산대첩축제 방문자 추이",</a:t>
            </a:r>
          </a:p>
          <a:p xmlns:a="http://schemas.openxmlformats.org/drawingml/2006/main">
            <a:r>
              <a:t>      "summary": "경상남도 통영시 · 통영한산대첩축제 · 2024→2025년 전체 93,221→124,718명 (+33.79%). 개최 6→7일, 일평균 +14.67%, 외지인 +33.21%.",</a:t>
            </a:r>
          </a:p>
          <a:p xmlns:a="http://schemas.openxmlformats.org/drawingml/2006/main">
            <a:r>
              <a:t>      "source_id": "case:festival:1ffc3eec28956a",</a:t>
            </a:r>
          </a:p>
          <a:p xmlns:a="http://schemas.openxmlformats.org/drawingml/2006/main">
            <a:r>
              <a:t>      "source_url": "https://datalab.visitkorea.or.kr/",</a:t>
            </a:r>
          </a:p>
          <a:p xmlns:a="http://schemas.openxmlformats.org/drawingml/2006/main">
            <a:r>
              <a:t>      "case_region": "경상남도 통영시",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"통영한산대첩축제",</a:t>
            </a:r>
          </a:p>
          <a:p xmlns:a="http://schemas.openxmlformats.org/drawingml/2006/main">
            <a:r>
              <a:t>      "source_files": [</a:t>
            </a:r>
          </a:p>
          <a:p xmlns:a="http://schemas.openxmlformats.org/drawingml/2006/main">
            <a:r>
              <a:t>        {</a:t>
            </a:r>
          </a:p>
          <a:p xmlns:a="http://schemas.openxmlformats.org/drawingml/2006/main">
            <a:r>
              <a:t>          "sha256": "ec35e7537d4da1ed72dd60617fec143558f280299aeb303bc8b7a1036ecc73f0",</a:t>
            </a:r>
          </a:p>
          <a:p xmlns:a="http://schemas.openxmlformats.org/drawingml/2006/main">
            <a:r>
              <a:t>          "provider": "한국관광 데이터랩",</a:t>
            </a:r>
          </a:p>
          <a:p xmlns:a="http://schemas.openxmlformats.org/drawingml/2006/main">
            <a:r>
              <a:t>          "file_name": "20260820183544_통영한산대첩축제_연도별 방문자 추이.csv",</a:t>
            </a:r>
          </a:p>
          <a:p xmlns:a="http://schemas.openxmlformats.org/drawingml/2006/main">
            <a:r>
              <a:t>          "source_id": "festival-file:ec35e7537d4da1ed72dd",</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"data/source_snapshots/festivals_20260820/81. 통영한산대첩축제_2023-2025/20260820183544_통영한산대첩축제_연도별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"77b41103f7ab3a48a3a94baa36227391bc47069fafcf8cc68a36662ec60fd43d",</a:t>
            </a:r>
          </a:p>
          <a:p xmlns:a="http://schemas.openxmlformats.org/drawingml/2006/main">
            <a:r>
              <a:t>          "provider": "한국관광 데이터랩",</a:t>
            </a:r>
          </a:p>
          <a:p xmlns:a="http://schemas.openxmlformats.org/drawingml/2006/main">
            <a:r>
              <a:t>          "file_name": "20260820183544_통영한산대첩축제_성_연령별 내국인 방문자.csv",</a:t>
            </a:r>
          </a:p>
          <a:p xmlns:a="http://schemas.openxmlformats.org/drawingml/2006/main">
            <a:r>
              <a:t>          "source_id": "festival-file:77b41103f7ab3a48a3a9",</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"data/source_snapshots/festivals_20260820/81. 통영한산대첩축제_2023-2025/20260820183544_통영한산대첩축제_성_연령별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"5457f819bd8704a9d5b81a24337c2a40c45bbcf7435e0a751139a5457627bdd4",</a:t>
            </a:r>
          </a:p>
          <a:p xmlns:a="http://schemas.openxmlformats.org/drawingml/2006/main">
            <a:r>
              <a:t>          "provider": "한국관광 데이터랩",</a:t>
            </a:r>
          </a:p>
          <a:p xmlns:a="http://schemas.openxmlformats.org/drawingml/2006/main">
            <a:r>
              <a:t>          "file_name": "20260820183544_통영한산대첩축제_문화관광축제 주요 지표.csv",</a:t>
            </a:r>
          </a:p>
          <a:p xmlns:a="http://schemas.openxmlformats.org/drawingml/2006/main">
            <a:r>
              <a:t>          "source_id": "festival-file:5457f819bd8704a9d5b8",</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"data/source_snapshots/festivals_20260820/81. 통영한산대첩축제_2023-2025/20260820183544_통영한산대첩축제_문화관광축제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"3b2a6e862dd8337a7616d3cdb3f568c6fdb24be706918eb7f02d965d625ca746",</a:t>
            </a:r>
          </a:p>
          <a:p xmlns:a="http://schemas.openxmlformats.org/drawingml/2006/main">
            <a:r>
              <a:t>          "provider": "한국관광 데이터랩",</a:t>
            </a:r>
          </a:p>
          <a:p xmlns:a="http://schemas.openxmlformats.org/drawingml/2006/main">
            <a:r>
              <a:t>          "file_name": "20260820183544_통영한산대첩축제_목적지 검색순위.csv",</a:t>
            </a:r>
          </a:p>
          <a:p xmlns:a="http://schemas.openxmlformats.org/drawingml/2006/main">
            <a:r>
              <a:t>          "source_id": "festival-file:3b2a6e862dd8337a7616",</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"data/source_snapshots/festivals_20260820/81. 통영한산대첩축제_2023-2025/20260820183544_통영한산대첩축제_목적지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"case_study",</a:t>
            </a:r>
          </a:p>
          <a:p xmlns:a="http://schemas.openxmlformats.org/drawingml/2006/main">
            <a:r>
              <a:t>      "evidence_kind": "festival_statistics",</a:t>
            </a:r>
          </a:p>
          <a:p xmlns:a="http://schemas.openxmlformats.org/drawingml/2006/main">
            <a:r>
              <a:t>      "observed_result": "2024→2025년 전체 93,221→124,718명 (+33.79%). 개최 6→7일, 일평균 +14.67%, 외지인 +33.21%.",</a:t>
            </a:r>
          </a:p>
          <a:p xmlns:a="http://schemas.openxmlformats.org/drawingml/2006/main">
            <a:r>
              <a:t>      "operating_model": "통영한산대첩축제를 2025년 7일 개최한 문화관광축제 운영 사례. 세부 프로그램·예약·혜택은 이 CSV에 기록되어 있지 않으며 새로운 운영안은 제안으로 구분한다.",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"지역문화",</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"datalab_festival_table",</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"2023~2025년 각 축제 개최기간",</a:t>
            </a:r>
          </a:p>
          <a:p xmlns:a="http://schemas.openxmlformats.org/drawingml/2006/main">
            <a:r>
              <a:t>      "festival_statistics": {</a:t>
            </a:r>
          </a:p>
          <a:p xmlns:a="http://schemas.openxmlformats.org/drawingml/2006/main">
            <a:r>
              <a:t>        "name": "통영한산대첩축제",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9,</a:t>
            </a:r>
          </a:p>
          <a:p xmlns:a="http://schemas.openxmlformats.org/drawingml/2006/main">
            <a:r>
              <a:t>            "year": 2023,</a:t>
            </a:r>
          </a:p>
          <a:p xmlns:a="http://schemas.openxmlformats.org/drawingml/2006/main">
            <a:r>
              <a:t>            "daily": 11745.444444444443,</a:t>
            </a:r>
          </a:p>
          <a:p xmlns:a="http://schemas.openxmlformats.org/drawingml/2006/main">
            <a:r>
              <a:t>            "local": 57810,</a:t>
            </a:r>
          </a:p>
          <a:p xmlns:a="http://schemas.openxmlformats.org/drawingml/2006/main">
            <a:r>
              <a:t>            "total": 105709,</a:t>
            </a:r>
          </a:p>
          <a:p xmlns:a="http://schemas.openxmlformats.org/drawingml/2006/main">
            <a:r>
              <a:t>            "foreign": 455,</a:t>
            </a:r>
          </a:p>
          <a:p xmlns:a="http://schemas.openxmlformats.org/drawingml/2006/main">
            <a:r>
              <a:t>            "outside": 47444,</a:t>
            </a:r>
          </a:p>
          <a:p xmlns:a="http://schemas.openxmlformats.org/drawingml/2006/main">
            <a:r>
              <a:t>            "outside_daily": 5271.555555555556,</a:t>
            </a:r>
          </a:p>
          <a:p xmlns:a="http://schemas.openxmlformats.org/drawingml/2006/main">
            <a:r>
              <a:t>            "outside_share_pct": 44.88170354463669</a:t>
            </a:r>
          </a:p>
          <a:p xmlns:a="http://schemas.openxmlformats.org/drawingml/2006/main">
            <a:r>
              <a:t>          },</a:t>
            </a:r>
          </a:p>
          <a:p xmlns:a="http://schemas.openxmlformats.org/drawingml/2006/main">
            <a:r>
              <a:t>          {</a:t>
            </a:r>
          </a:p>
          <a:p xmlns:a="http://schemas.openxmlformats.org/drawingml/2006/main">
            <a:r>
              <a:t>            "days": 6,</a:t>
            </a:r>
          </a:p>
          <a:p xmlns:a="http://schemas.openxmlformats.org/drawingml/2006/main">
            <a:r>
              <a:t>            "year": 2024,</a:t>
            </a:r>
          </a:p>
          <a:p xmlns:a="http://schemas.openxmlformats.org/drawingml/2006/main">
            <a:r>
              <a:t>            "daily": 15536.833333333334,</a:t>
            </a:r>
          </a:p>
          <a:p xmlns:a="http://schemas.openxmlformats.org/drawingml/2006/main">
            <a:r>
              <a:t>            "local": 52493,</a:t>
            </a:r>
          </a:p>
          <a:p xmlns:a="http://schemas.openxmlformats.org/drawingml/2006/main">
            <a:r>
              <a:t>            "total": 93221,</a:t>
            </a:r>
          </a:p>
          <a:p xmlns:a="http://schemas.openxmlformats.org/drawingml/2006/main">
            <a:r>
              <a:t>            "foreign": 394,</a:t>
            </a:r>
          </a:p>
          <a:p xmlns:a="http://schemas.openxmlformats.org/drawingml/2006/main">
            <a:r>
              <a:t>            "outside": 40334,</a:t>
            </a:r>
          </a:p>
          <a:p xmlns:a="http://schemas.openxmlformats.org/drawingml/2006/main">
            <a:r>
              <a:t>            "outside_daily": 6722.333333333333,</a:t>
            </a:r>
          </a:p>
          <a:p xmlns:a="http://schemas.openxmlformats.org/drawingml/2006/main">
            <a:r>
              <a:t>            "outside_share_pct": 43.26707501528625</a:t>
            </a:r>
          </a:p>
          <a:p xmlns:a="http://schemas.openxmlformats.org/drawingml/2006/main">
            <a:r>
              <a:t>          },</a:t>
            </a:r>
          </a:p>
          <a:p xmlns:a="http://schemas.openxmlformats.org/drawingml/2006/main">
            <a:r>
              <a:t>          {</a:t>
            </a:r>
          </a:p>
          <a:p xmlns:a="http://schemas.openxmlformats.org/drawingml/2006/main">
            <a:r>
              <a:t>            "days": 7,</a:t>
            </a:r>
          </a:p>
          <a:p xmlns:a="http://schemas.openxmlformats.org/drawingml/2006/main">
            <a:r>
              <a:t>            "year": 2025,</a:t>
            </a:r>
          </a:p>
          <a:p xmlns:a="http://schemas.openxmlformats.org/drawingml/2006/main">
            <a:r>
              <a:t>            "daily": 17816.85714285714,</a:t>
            </a:r>
          </a:p>
          <a:p xmlns:a="http://schemas.openxmlformats.org/drawingml/2006/main">
            <a:r>
              <a:t>            "local": 70201,</a:t>
            </a:r>
          </a:p>
          <a:p xmlns:a="http://schemas.openxmlformats.org/drawingml/2006/main">
            <a:r>
              <a:t>            "total": 124718,</a:t>
            </a:r>
          </a:p>
          <a:p xmlns:a="http://schemas.openxmlformats.org/drawingml/2006/main">
            <a:r>
              <a:t>            "foreign": 787,</a:t>
            </a:r>
          </a:p>
          <a:p xmlns:a="http://schemas.openxmlformats.org/drawingml/2006/main">
            <a:r>
              <a:t>            "outside": 53730,</a:t>
            </a:r>
          </a:p>
          <a:p xmlns:a="http://schemas.openxmlformats.org/drawingml/2006/main">
            <a:r>
              <a:t>            "outside_daily": 7675.714285714285,</a:t>
            </a:r>
          </a:p>
          <a:p xmlns:a="http://schemas.openxmlformats.org/drawingml/2006/main">
            <a:r>
              <a:t>            "outside_share_pct": 43.08119116727337</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"통영한산대첩축제",</a:t>
            </a:r>
          </a:p>
          <a:p xmlns:a="http://schemas.openxmlformats.org/drawingml/2006/main">
            <a:r>
              <a:t>            "남성비율": "5.2",</a:t>
            </a:r>
          </a:p>
          <a:p xmlns:a="http://schemas.openxmlformats.org/drawingml/2006/main">
            <a:r>
              <a:t>            "여성비율": "5.7"</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"통영한산대첩축제",</a:t>
            </a:r>
          </a:p>
          <a:p xmlns:a="http://schemas.openxmlformats.org/drawingml/2006/main">
            <a:r>
              <a:t>            "남성비율": "11.0",</a:t>
            </a:r>
          </a:p>
          <a:p xmlns:a="http://schemas.openxmlformats.org/drawingml/2006/main">
            <a:r>
              <a:t>            "여성비율": "11.5"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"통영한산대첩축제",</a:t>
            </a:r>
          </a:p>
          <a:p xmlns:a="http://schemas.openxmlformats.org/drawingml/2006/main">
            <a:r>
              <a:t>            "남성비율": "11.1",</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"통영한산대첩축제",</a:t>
            </a:r>
          </a:p>
          <a:p xmlns:a="http://schemas.openxmlformats.org/drawingml/2006/main">
            <a:r>
              <a:t>            "남성비율": "8.0",</a:t>
            </a:r>
          </a:p>
          <a:p xmlns:a="http://schemas.openxmlformats.org/drawingml/2006/main">
            <a:r>
              <a:t>            "여성비율": "7.7"</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"통영한산대첩축제",</a:t>
            </a:r>
          </a:p>
          <a:p xmlns:a="http://schemas.openxmlformats.org/drawingml/2006/main">
            <a:r>
              <a:t>            "남성비율": "6.3",</a:t>
            </a:r>
          </a:p>
          <a:p xmlns:a="http://schemas.openxmlformats.org/drawingml/2006/main">
            <a:r>
              <a:t>            "여성비율": "5.6"</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"통영한산대첩축제",</a:t>
            </a:r>
          </a:p>
          <a:p xmlns:a="http://schemas.openxmlformats.org/drawingml/2006/main">
            <a:r>
              <a:t>            "남성비율": "5.4",</a:t>
            </a:r>
          </a:p>
          <a:p xmlns:a="http://schemas.openxmlformats.org/drawingml/2006/main">
            <a:r>
              <a:t>            "여성비율": "4.4"</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"통영한산대첩축제",</a:t>
            </a:r>
          </a:p>
          <a:p xmlns:a="http://schemas.openxmlformats.org/drawingml/2006/main">
            <a:r>
              <a:t>            "남성비율": "2.8",</a:t>
            </a:r>
          </a:p>
          <a:p xmlns:a="http://schemas.openxmlformats.org/drawingml/2006/main">
            <a:r>
              <a:t>            "여성비율": "3.1"</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"통영한산대첩축제",</a:t>
            </a:r>
          </a:p>
          <a:p xmlns:a="http://schemas.openxmlformats.org/drawingml/2006/main">
            <a:r>
              <a:t>            "남성비율": "0.5",</a:t>
            </a:r>
          </a:p>
          <a:p xmlns:a="http://schemas.openxmlformats.org/drawingml/2006/main">
            <a:r>
              <a:t>            "여성비율": "0.6"</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17816.85714285714,</a:t>
            </a:r>
          </a:p>
          <a:p xmlns:a="http://schemas.openxmlformats.org/drawingml/2006/main">
            <a:r>
              <a:t>            "before": 15536.833333333334,</a:t>
            </a:r>
          </a:p>
          <a:p xmlns:a="http://schemas.openxmlformats.org/drawingml/2006/main">
            <a:r>
              <a:t>            "change_pct": 14.674958278867244,</a:t>
            </a:r>
          </a:p>
          <a:p xmlns:a="http://schemas.openxmlformats.org/drawingml/2006/main">
            <a:r>
              <a:t>            "difference": 2280.0238095238074</a:t>
            </a:r>
          </a:p>
          <a:p xmlns:a="http://schemas.openxmlformats.org/drawingml/2006/main">
            <a:r>
              <a:t>          },</a:t>
            </a:r>
          </a:p>
          <a:p xmlns:a="http://schemas.openxmlformats.org/drawingml/2006/main">
            <a:r>
              <a:t>          "total": {</a:t>
            </a:r>
          </a:p>
          <a:p xmlns:a="http://schemas.openxmlformats.org/drawingml/2006/main">
            <a:r>
              <a:t>            "after": 124718,</a:t>
            </a:r>
          </a:p>
          <a:p xmlns:a="http://schemas.openxmlformats.org/drawingml/2006/main">
            <a:r>
              <a:t>            "before": 93221,</a:t>
            </a:r>
          </a:p>
          <a:p xmlns:a="http://schemas.openxmlformats.org/drawingml/2006/main">
            <a:r>
              <a:t>            "change_pct": 33.78745132534515,</a:t>
            </a:r>
          </a:p>
          <a:p xmlns:a="http://schemas.openxmlformats.org/drawingml/2006/main">
            <a:r>
              <a:t>            "difference": 31497</a:t>
            </a:r>
          </a:p>
          <a:p xmlns:a="http://schemas.openxmlformats.org/drawingml/2006/main">
            <a:r>
              <a:t>          },</a:t>
            </a:r>
          </a:p>
          <a:p xmlns:a="http://schemas.openxmlformats.org/drawingml/2006/main">
            <a:r>
              <a:t>          "outside": {</a:t>
            </a:r>
          </a:p>
          <a:p xmlns:a="http://schemas.openxmlformats.org/drawingml/2006/main">
            <a:r>
              <a:t>            "after": 53730,</a:t>
            </a:r>
          </a:p>
          <a:p xmlns:a="http://schemas.openxmlformats.org/drawingml/2006/main">
            <a:r>
              <a:t>            "before": 40334,</a:t>
            </a:r>
          </a:p>
          <a:p xmlns:a="http://schemas.openxmlformats.org/drawingml/2006/main">
            <a:r>
              <a:t>            "change_pct": 33.21267417067486,</a:t>
            </a:r>
          </a:p>
          <a:p xmlns:a="http://schemas.openxmlformats.org/drawingml/2006/main">
            <a:r>
              <a:t>            "difference": 13396</a:t>
            </a:r>
          </a:p>
          <a:p xmlns:a="http://schemas.openxmlformats.org/drawingml/2006/main">
            <a:r>
              <a:t>          },</a:t>
            </a:r>
          </a:p>
          <a:p xmlns:a="http://schemas.openxmlformats.org/drawingml/2006/main">
            <a:r>
              <a:t>          "after_days": 7,</a:t>
            </a:r>
          </a:p>
          <a:p xmlns:a="http://schemas.openxmlformats.org/drawingml/2006/main">
            <a:r>
              <a:t>          "after_year": 2025,</a:t>
            </a:r>
          </a:p>
          <a:p xmlns:a="http://schemas.openxmlformats.org/drawingml/2006/main">
            <a:r>
              <a:t>          "before_days": 6,</a:t>
            </a:r>
          </a:p>
          <a:p xmlns:a="http://schemas.openxmlformats.org/drawingml/2006/main">
            <a:r>
              <a:t>          "before_year": 2024,</a:t>
            </a:r>
          </a:p>
          <a:p xmlns:a="http://schemas.openxmlformats.org/drawingml/2006/main">
            <a:r>
              <a:t>          "outside_daily": {</a:t>
            </a:r>
          </a:p>
          <a:p xmlns:a="http://schemas.openxmlformats.org/drawingml/2006/main">
            <a:r>
              <a:t>            "after": 7675.714285714285,</a:t>
            </a:r>
          </a:p>
          <a:p xmlns:a="http://schemas.openxmlformats.org/drawingml/2006/main">
            <a:r>
              <a:t>            "before": 6722.333333333333,</a:t>
            </a:r>
          </a:p>
          <a:p xmlns:a="http://schemas.openxmlformats.org/drawingml/2006/main">
            <a:r>
              <a:t>            "change_pct": 14.182292146292742,</a:t>
            </a:r>
          </a:p>
          <a:p xmlns:a="http://schemas.openxmlformats.org/drawingml/2006/main">
            <a:r>
              <a:t>            "difference": 953.3809523809524</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"ec35e7537d4da1ed72dd60617fec143558f280299aeb303bc8b7a1036ecc73f0",</a:t>
            </a:r>
          </a:p>
          <a:p xmlns:a="http://schemas.openxmlformats.org/drawingml/2006/main">
            <a:r>
              <a:t>          "provider": "한국관광 데이터랩",</a:t>
            </a:r>
          </a:p>
          <a:p xmlns:a="http://schemas.openxmlformats.org/drawingml/2006/main">
            <a:r>
              <a:t>          "file_name": "20260820183544_통영한산대첩축제_연도별 방문자 추이.csv",</a:t>
            </a:r>
          </a:p>
          <a:p xmlns:a="http://schemas.openxmlformats.org/drawingml/2006/main">
            <a:r>
              <a:t>          "source_id": "festival-file:ec35e7537d4da1ed72dd",</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"data/source_snapshots/festivals_20260820/81. 통영한산대첩축제_2023-2025/20260820183544_통영한산대첩축제_연도별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"0.309",</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"0.731",</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"0.228",</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"0.313",</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"0.766",</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"0.244",</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"0.586",</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"0.206",</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"0.312",</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"0.595",</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"통영중앙전통시장",</a:t>
            </a:r>
          </a:p>
          <a:p xmlns:a="http://schemas.openxmlformats.org/drawingml/2006/main">
            <a:r>
              <a:t>            "카테고리": "시장",</a:t>
            </a:r>
          </a:p>
          <a:p xmlns:a="http://schemas.openxmlformats.org/drawingml/2006/main">
            <a:r>
              <a:t>            "도로명주소": "경남 통영시 중앙시장1길 14-16"</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"동피랑벽화마을",</a:t>
            </a:r>
          </a:p>
          <a:p xmlns:a="http://schemas.openxmlformats.org/drawingml/2006/main">
            <a:r>
              <a:t>            "카테고리": "기타관광",</a:t>
            </a:r>
          </a:p>
          <a:p xmlns:a="http://schemas.openxmlformats.org/drawingml/2006/main">
            <a:r>
              <a:t>            "도로명주소": "경남 통영시 동피랑1길 6-18"</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"통영한산대첩축제(한산대첩광장)",</a:t>
            </a:r>
          </a:p>
          <a:p xmlns:a="http://schemas.openxmlformats.org/drawingml/2006/main">
            <a:r>
              <a:t>            "카테고리": "기타문화관광지",</a:t>
            </a:r>
          </a:p>
          <a:p xmlns:a="http://schemas.openxmlformats.org/drawingml/2006/main">
            <a:r>
              <a:t>            "도로명주소": "경남 통영시 통영해안로 267-0"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"operating_statistics":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"남선공원",</a:t>
            </a:r>
          </a:p>
          <a:p xmlns:a="http://schemas.openxmlformats.org/drawingml/2006/main">
            <a:r>
              <a:t>      "address": "대전광역시 서구 남선로 66",</a:t>
            </a:r>
          </a:p>
          <a:p xmlns:a="http://schemas.openxmlformats.org/drawingml/2006/main">
            <a:r>
              <a:t>      "summary": "한국관광공사 국문관광정보 API가 반환한 선택 지역 관광자원",</a:t>
            </a:r>
          </a:p>
          <a:p xmlns:a="http://schemas.openxmlformats.org/drawingml/2006/main">
            <a:r>
              <a:t>      "image_url": "http://tong.visitkorea.or.kr/cms/resource/24/3565624_image2_1.jpg",</a:t>
            </a:r>
          </a:p>
          <a:p xmlns:a="http://schemas.openxmlformats.org/drawingml/2006/main">
            <a:r>
              <a:t>      "source_id": "tour-api:2758252",</a:t>
            </a:r>
          </a:p>
          <a:p xmlns:a="http://schemas.openxmlformats.org/drawingml/2006/main">
            <a:r>
              <a:t>      "content_id": "2758252",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4998578.0,</a:t>
            </a:r>
          </a:p>
          <a:p xmlns:a="http://schemas.openxmlformats.org/drawingml/2006/main">
            <a:r>
              <a:t>        "is_forecast": true,</a:t>
            </a:r>
          </a:p>
          <a:p xmlns:a="http://schemas.openxmlformats.org/drawingml/2006/main">
            <a:r>
              <a:t>        "spending_krw": 79359374710.0,</a:t>
            </a:r>
          </a:p>
          <a:p xmlns:a="http://schemas.openxmlformats.org/drawingml/2006/main">
            <a:r>
              <a:t>        "stay_minutes": 1170.0,</a:t>
            </a:r>
          </a:p>
          <a:p xmlns:a="http://schemas.openxmlformats.org/drawingml/2006/main">
            <a:r>
              <a:t>        "lodging_nights": 2.85,</a:t>
            </a:r>
          </a:p>
          <a:p xmlns:a="http://schemas.openxmlformats.org/drawingml/2006/main">
            <a:r>
              <a:t>        "lodging_rate_pct": 8.9,</a:t>
            </a:r>
          </a:p>
          <a:p xmlns:a="http://schemas.openxmlformats.org/drawingml/2006/main">
            <a:r>
              <a:t>        "lodging_searches": 19187,</a:t>
            </a:r>
          </a:p>
          <a:p xmlns:a="http://schemas.openxmlformats.org/drawingml/2006/main">
            <a:r>
              <a:t>        "navigation_searches": 237779,</a:t>
            </a:r>
          </a:p>
          <a:p xmlns:a="http://schemas.openxmlformats.org/drawingml/2006/main">
            <a:r>
              <a:t>        "visitor_yoy_percent": 0.99,</a:t>
            </a:r>
          </a:p>
          <a:p xmlns:a="http://schemas.openxmlformats.org/drawingml/2006/main">
            <a:r>
              <a:t>        "spending_yoy_percent": 1.54,</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-26.82</a:t>
            </a:r>
          </a:p>
          <a:p xmlns:a="http://schemas.openxmlformats.org/drawingml/2006/main">
            <a:r>
              <a:t>        },</a:t>
            </a:r>
          </a:p>
          <a:p xmlns:a="http://schemas.openxmlformats.org/drawingml/2006/main">
            <a:r>
              <a:t>        "previous_year_visitors": 4949394,</a:t>
            </a:r>
          </a:p>
          <a:p xmlns:a="http://schemas.openxmlformats.org/drawingml/2006/main">
            <a:r>
              <a:t>        "previous_year_spending_krw": 78158272000,</a:t>
            </a:r>
          </a:p>
          <a:p xmlns:a="http://schemas.openxmlformats.org/drawingml/2006/main">
            <a:r>
              <a:t>        "previous_year_stay_minutes": 1170.0,</a:t>
            </a:r>
          </a:p>
          <a:p xmlns:a="http://schemas.openxmlformats.org/drawingml/2006/main">
            <a:r>
              <a:t>        "previous_year_lodging_nights": 2.85,</a:t>
            </a:r>
          </a:p>
          <a:p xmlns:a="http://schemas.openxmlformats.org/drawingml/2006/main">
            <a:r>
              <a:t>        "previous_year_lodging_rate_pct": 8.9,</a:t>
            </a:r>
          </a:p>
          <a:p xmlns:a="http://schemas.openxmlformats.org/drawingml/2006/main">
            <a:r>
              <a:t>        "previous_year_lodging_searches": 19187,</a:t>
            </a:r>
          </a:p>
          <a:p xmlns:a="http://schemas.openxmlformats.org/drawingml/2006/main">
            <a:r>
              <a:t>        "previous_year_navigation_searches": 324902</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4940348.0,</a:t>
            </a:r>
          </a:p>
          <a:p xmlns:a="http://schemas.openxmlformats.org/drawingml/2006/main">
            <a:r>
              <a:t>        "is_forecast": true,</a:t>
            </a:r>
          </a:p>
          <a:p xmlns:a="http://schemas.openxmlformats.org/drawingml/2006/main">
            <a:r>
              <a:t>        "spending_krw": 85971975908.0,</a:t>
            </a:r>
          </a:p>
          <a:p xmlns:a="http://schemas.openxmlformats.org/drawingml/2006/main">
            <a:r>
              <a:t>        "stay_minutes": 987.0,</a:t>
            </a:r>
          </a:p>
          <a:p xmlns:a="http://schemas.openxmlformats.org/drawingml/2006/main">
            <a:r>
              <a:t>        "lodging_nights": 2.79,</a:t>
            </a:r>
          </a:p>
          <a:p xmlns:a="http://schemas.openxmlformats.org/drawingml/2006/main">
            <a:r>
              <a:t>        "lodging_rate_pct": 6.5,</a:t>
            </a:r>
          </a:p>
          <a:p xmlns:a="http://schemas.openxmlformats.org/drawingml/2006/main">
            <a:r>
              <a:t>        "lodging_searches": 14379,</a:t>
            </a:r>
          </a:p>
          <a:p xmlns:a="http://schemas.openxmlformats.org/drawingml/2006/main">
            <a:r>
              <a:t>        "navigation_searches": 231894,</a:t>
            </a:r>
          </a:p>
          <a:p xmlns:a="http://schemas.openxmlformats.org/drawingml/2006/main">
            <a:r>
              <a:t>        "visitor_yoy_percent": -4.4,</a:t>
            </a:r>
          </a:p>
          <a:p xmlns:a="http://schemas.openxmlformats.org/drawingml/2006/main">
            <a:r>
              <a:t>        "spending_yoy_percent": 12.37,</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-2.86</a:t>
            </a:r>
          </a:p>
          <a:p xmlns:a="http://schemas.openxmlformats.org/drawingml/2006/main">
            <a:r>
              <a:t>        },</a:t>
            </a:r>
          </a:p>
          <a:p xmlns:a="http://schemas.openxmlformats.org/drawingml/2006/main">
            <a:r>
              <a:t>        "previous_year_visitors": 5167969,</a:t>
            </a:r>
          </a:p>
          <a:p xmlns:a="http://schemas.openxmlformats.org/drawingml/2006/main">
            <a:r>
              <a:t>        "previous_year_spending_krw": 76509918000,</a:t>
            </a:r>
          </a:p>
          <a:p xmlns:a="http://schemas.openxmlformats.org/drawingml/2006/main">
            <a:r>
              <a:t>        "previous_year_stay_minutes": 987.0,</a:t>
            </a:r>
          </a:p>
          <a:p xmlns:a="http://schemas.openxmlformats.org/drawingml/2006/main">
            <a:r>
              <a:t>        "previous_year_lodging_nights": 2.79,</a:t>
            </a:r>
          </a:p>
          <a:p xmlns:a="http://schemas.openxmlformats.org/drawingml/2006/main">
            <a:r>
              <a:t>        "previous_year_lodging_rate_pct": 6.5,</a:t>
            </a:r>
          </a:p>
          <a:p xmlns:a="http://schemas.openxmlformats.org/drawingml/2006/main">
            <a:r>
              <a:t>        "previous_year_lodging_searches": 14379,</a:t>
            </a:r>
          </a:p>
          <a:p xmlns:a="http://schemas.openxmlformats.org/drawingml/2006/main">
            <a:r>
              <a:t>        "previous_year_navigation_searches": 238728</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4989633.0,</a:t>
            </a:r>
          </a:p>
          <a:p xmlns:a="http://schemas.openxmlformats.org/drawingml/2006/main">
            <a:r>
              <a:t>        "is_forecast": true,</a:t>
            </a:r>
          </a:p>
          <a:p xmlns:a="http://schemas.openxmlformats.org/drawingml/2006/main">
            <a:r>
              <a:t>        "spending_krw": 81033922052.0,</a:t>
            </a:r>
          </a:p>
          <a:p xmlns:a="http://schemas.openxmlformats.org/drawingml/2006/main">
            <a:r>
              <a:t>        "stay_minutes": 1118.0,</a:t>
            </a:r>
          </a:p>
          <a:p xmlns:a="http://schemas.openxmlformats.org/drawingml/2006/main">
            <a:r>
              <a:t>        "lodging_nights": 2.81,</a:t>
            </a:r>
          </a:p>
          <a:p xmlns:a="http://schemas.openxmlformats.org/drawingml/2006/main">
            <a:r>
              <a:t>        "lodging_rate_pct": 7.3,</a:t>
            </a:r>
          </a:p>
          <a:p xmlns:a="http://schemas.openxmlformats.org/drawingml/2006/main">
            <a:r>
              <a:t>        "lodging_searches": 12004,</a:t>
            </a:r>
          </a:p>
          <a:p xmlns:a="http://schemas.openxmlformats.org/drawingml/2006/main">
            <a:r>
              <a:t>        "navigation_searches": 225518,</a:t>
            </a:r>
          </a:p>
          <a:p xmlns:a="http://schemas.openxmlformats.org/drawingml/2006/main">
            <a:r>
              <a:t>        "visitor_yoy_percent": -1.77,</a:t>
            </a:r>
          </a:p>
          <a:p xmlns:a="http://schemas.openxmlformats.org/drawingml/2006/main">
            <a:r>
              <a:t>        "spending_yoy_percent": -0.11,</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2.41</a:t>
            </a:r>
          </a:p>
          <a:p xmlns:a="http://schemas.openxmlformats.org/drawingml/2006/main">
            <a:r>
              <a:t>        },</a:t>
            </a:r>
          </a:p>
          <a:p xmlns:a="http://schemas.openxmlformats.org/drawingml/2006/main">
            <a:r>
              <a:t>        "previous_year_visitors": 5079597,</a:t>
            </a:r>
          </a:p>
          <a:p xmlns:a="http://schemas.openxmlformats.org/drawingml/2006/main">
            <a:r>
              <a:t>        "previous_year_spending_krw": 81119852000,</a:t>
            </a:r>
          </a:p>
          <a:p xmlns:a="http://schemas.openxmlformats.org/drawingml/2006/main">
            <a:r>
              <a:t>        "previous_year_stay_minutes": 1118.0,</a:t>
            </a:r>
          </a:p>
          <a:p xmlns:a="http://schemas.openxmlformats.org/drawingml/2006/main">
            <a:r>
              <a:t>        "previous_year_lodging_nights": 2.81,</a:t>
            </a:r>
          </a:p>
          <a:p xmlns:a="http://schemas.openxmlformats.org/drawingml/2006/main">
            <a:r>
              <a:t>        "previous_year_lodging_rate_pct": 7.3,</a:t>
            </a:r>
          </a:p>
          <a:p xmlns:a="http://schemas.openxmlformats.org/drawingml/2006/main">
            <a:r>
              <a:t>        "previous_year_lodging_searches": 12004,</a:t>
            </a:r>
          </a:p>
          <a:p xmlns:a="http://schemas.openxmlformats.org/drawingml/2006/main">
            <a:r>
              <a:t>        "previous_year_navigation_searches": 220205</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4982887,</a:t>
            </a:r>
          </a:p>
          <a:p xmlns:a="http://schemas.openxmlformats.org/drawingml/2006/main">
            <a:r>
              <a:t>      "is_forecast": true,</a:t>
            </a:r>
          </a:p>
          <a:p xmlns:a="http://schemas.openxmlformats.org/drawingml/2006/main">
            <a:r>
              <a:t>      "spending_krw": 80283647550,</a:t>
            </a:r>
          </a:p>
          <a:p xmlns:a="http://schemas.openxmlformats.org/drawingml/2006/main">
            <a:r>
              <a:t>      "stay_minutes": 1223.0,</a:t>
            </a:r>
          </a:p>
          <a:p xmlns:a="http://schemas.openxmlformats.org/drawingml/2006/main">
            <a:r>
              <a:t>      "lodging_nights": 2.91,</a:t>
            </a:r>
          </a:p>
          <a:p xmlns:a="http://schemas.openxmlformats.org/drawingml/2006/main">
            <a:r>
              <a:t>      "lodging_rate_pct": 7.3,</a:t>
            </a:r>
          </a:p>
          <a:p xmlns:a="http://schemas.openxmlformats.org/drawingml/2006/main">
            <a:r>
              <a:t>      "lodging_searches": 12843,</a:t>
            </a:r>
          </a:p>
          <a:p xmlns:a="http://schemas.openxmlformats.org/drawingml/2006/main">
            <a:r>
              <a:t>      "navigation_searches": 209722,</a:t>
            </a:r>
          </a:p>
          <a:p xmlns:a="http://schemas.openxmlformats.org/drawingml/2006/main">
            <a:r>
              <a:t>      "visitor_yoy_percent": 0.64,</a:t>
            </a:r>
          </a:p>
          <a:p xmlns:a="http://schemas.openxmlformats.org/drawingml/2006/main">
            <a:r>
              <a:t>      "spending_yoy_percent": 6.85,</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-0.44</a:t>
            </a:r>
          </a:p>
          <a:p xmlns:a="http://schemas.openxmlformats.org/drawingml/2006/main">
            <a:r>
              <a:t>      },</a:t>
            </a:r>
          </a:p>
          <a:p xmlns:a="http://schemas.openxmlformats.org/drawingml/2006/main">
            <a:r>
              <a:t>      "previous_year_visitors": 4951150,</a:t>
            </a:r>
          </a:p>
          <a:p xmlns:a="http://schemas.openxmlformats.org/drawingml/2006/main">
            <a:r>
              <a:t>      "previous_year_spending_krw": 75135145000,</a:t>
            </a:r>
          </a:p>
          <a:p xmlns:a="http://schemas.openxmlformats.org/drawingml/2006/main">
            <a:r>
              <a:t>      "previous_year_stay_minutes": 1223.0,</a:t>
            </a:r>
          </a:p>
          <a:p xmlns:a="http://schemas.openxmlformats.org/drawingml/2006/main">
            <a:r>
              <a:t>      "previous_year_lodging_nights": 2.91,</a:t>
            </a:r>
          </a:p>
          <a:p xmlns:a="http://schemas.openxmlformats.org/drawingml/2006/main">
            <a:r>
              <a:t>      "previous_year_lodging_rate_pct": 7.3,</a:t>
            </a:r>
          </a:p>
          <a:p xmlns:a="http://schemas.openxmlformats.org/drawingml/2006/main">
            <a:r>
              <a:t>      "previous_year_lodging_searches": 12843,</a:t>
            </a:r>
          </a:p>
          <a:p xmlns:a="http://schemas.openxmlformats.org/drawingml/2006/main">
            <a:r>
              <a:t>      "previous_year_navigation_searches": 210646</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4852547,</a:t>
            </a:r>
          </a:p>
          <a:p xmlns:a="http://schemas.openxmlformats.org/drawingml/2006/main">
            <a:r>
              <a:t>      "is_forecast": true,</a:t>
            </a:r>
          </a:p>
          <a:p xmlns:a="http://schemas.openxmlformats.org/drawingml/2006/main">
            <a:r>
              <a:t>      "spending_krw": 76665340753,</a:t>
            </a:r>
          </a:p>
          <a:p xmlns:a="http://schemas.openxmlformats.org/drawingml/2006/main">
            <a:r>
              <a:t>      "stay_minutes": 1218.0,</a:t>
            </a:r>
          </a:p>
          <a:p xmlns:a="http://schemas.openxmlformats.org/drawingml/2006/main">
            <a:r>
              <a:t>      "lodging_nights": 2.84,</a:t>
            </a:r>
          </a:p>
          <a:p xmlns:a="http://schemas.openxmlformats.org/drawingml/2006/main">
            <a:r>
              <a:t>      "lodging_rate_pct": 7.9,</a:t>
            </a:r>
          </a:p>
          <a:p xmlns:a="http://schemas.openxmlformats.org/drawingml/2006/main">
            <a:r>
              <a:t>      "lodging_searches": 13272,</a:t>
            </a:r>
          </a:p>
          <a:p xmlns:a="http://schemas.openxmlformats.org/drawingml/2006/main">
            <a:r>
              <a:t>      "navigation_searches": 225159,</a:t>
            </a:r>
          </a:p>
          <a:p xmlns:a="http://schemas.openxmlformats.org/drawingml/2006/main">
            <a:r>
              <a:t>      "visitor_yoy_percent": -1.76,</a:t>
            </a:r>
          </a:p>
          <a:p xmlns:a="http://schemas.openxmlformats.org/drawingml/2006/main">
            <a:r>
              <a:t>      "spending_yoy_percent": 0.49,</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2.0</a:t>
            </a:r>
          </a:p>
          <a:p xmlns:a="http://schemas.openxmlformats.org/drawingml/2006/main">
            <a:r>
              <a:t>      },</a:t>
            </a:r>
          </a:p>
          <a:p xmlns:a="http://schemas.openxmlformats.org/drawingml/2006/main">
            <a:r>
              <a:t>      "previous_year_visitors": 4939438,</a:t>
            </a:r>
          </a:p>
          <a:p xmlns:a="http://schemas.openxmlformats.org/drawingml/2006/main">
            <a:r>
              <a:t>      "previous_year_spending_krw": 76291079000,</a:t>
            </a:r>
          </a:p>
          <a:p xmlns:a="http://schemas.openxmlformats.org/drawingml/2006/main">
            <a:r>
              <a:t>      "previous_year_stay_minutes": 1218.0,</a:t>
            </a:r>
          </a:p>
          <a:p xmlns:a="http://schemas.openxmlformats.org/drawingml/2006/main">
            <a:r>
              <a:t>      "previous_year_lodging_nights": 2.84,</a:t>
            </a:r>
          </a:p>
          <a:p xmlns:a="http://schemas.openxmlformats.org/drawingml/2006/main">
            <a:r>
              <a:t>      "previous_year_lodging_rate_pct": 7.9,</a:t>
            </a:r>
          </a:p>
          <a:p xmlns:a="http://schemas.openxmlformats.org/drawingml/2006/main">
            <a:r>
              <a:t>      "previous_year_lodging_searches": 13272,</a:t>
            </a:r>
          </a:p>
          <a:p xmlns:a="http://schemas.openxmlformats.org/drawingml/2006/main">
            <a:r>
              <a:t>      "previous_year_navigation_searches": 220742</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4823300,</a:t>
            </a:r>
          </a:p>
          <a:p xmlns:a="http://schemas.openxmlformats.org/drawingml/2006/main">
            <a:r>
              <a:t>      "is_forecast": true,</a:t>
            </a:r>
          </a:p>
          <a:p xmlns:a="http://schemas.openxmlformats.org/drawingml/2006/main">
            <a:r>
              <a:t>      "spending_krw": 80194062490,</a:t>
            </a:r>
          </a:p>
          <a:p xmlns:a="http://schemas.openxmlformats.org/drawingml/2006/main">
            <a:r>
              <a:t>      "stay_minutes": 1281.0,</a:t>
            </a:r>
          </a:p>
          <a:p xmlns:a="http://schemas.openxmlformats.org/drawingml/2006/main">
            <a:r>
              <a:t>      "lodging_nights": 2.93,</a:t>
            </a:r>
          </a:p>
          <a:p xmlns:a="http://schemas.openxmlformats.org/drawingml/2006/main">
            <a:r>
              <a:t>      "lodging_rate_pct": 6.7,</a:t>
            </a:r>
          </a:p>
          <a:p xmlns:a="http://schemas.openxmlformats.org/drawingml/2006/main">
            <a:r>
              <a:t>      "lodging_searches": 11464,</a:t>
            </a:r>
          </a:p>
          <a:p xmlns:a="http://schemas.openxmlformats.org/drawingml/2006/main">
            <a:r>
              <a:t>      "navigation_searches": 206180,</a:t>
            </a:r>
          </a:p>
          <a:p xmlns:a="http://schemas.openxmlformats.org/drawingml/2006/main">
            <a:r>
              <a:t>      "visitor_yoy_percent": -0.39,</a:t>
            </a:r>
          </a:p>
          <a:p xmlns:a="http://schemas.openxmlformats.org/drawingml/2006/main">
            <a:r>
              <a:t>      "spending_yoy_percent": 13.32,</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7.4</a:t>
            </a:r>
          </a:p>
          <a:p xmlns:a="http://schemas.openxmlformats.org/drawingml/2006/main">
            <a:r>
              <a:t>      },</a:t>
            </a:r>
          </a:p>
          <a:p xmlns:a="http://schemas.openxmlformats.org/drawingml/2006/main">
            <a:r>
              <a:t>      "previous_year_visitors": 4842196,</a:t>
            </a:r>
          </a:p>
          <a:p xmlns:a="http://schemas.openxmlformats.org/drawingml/2006/main">
            <a:r>
              <a:t>      "previous_year_spending_krw": 70764730000,</a:t>
            </a:r>
          </a:p>
          <a:p xmlns:a="http://schemas.openxmlformats.org/drawingml/2006/main">
            <a:r>
              <a:t>      "previous_year_stay_minutes": 1281.0,</a:t>
            </a:r>
          </a:p>
          <a:p xmlns:a="http://schemas.openxmlformats.org/drawingml/2006/main">
            <a:r>
              <a:t>      "previous_year_lodging_nights": 2.93,</a:t>
            </a:r>
          </a:p>
          <a:p xmlns:a="http://schemas.openxmlformats.org/drawingml/2006/main">
            <a:r>
              <a:t>      "previous_year_lodging_rate_pct": 6.7,</a:t>
            </a:r>
          </a:p>
          <a:p xmlns:a="http://schemas.openxmlformats.org/drawingml/2006/main">
            <a:r>
              <a:t>      "previous_year_lodging_searches": 11464,</a:t>
            </a:r>
          </a:p>
          <a:p xmlns:a="http://schemas.openxmlformats.org/drawingml/2006/main">
            <a:r>
              <a:t>      "previous_year_navigation_searches": 191971</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4998578,</a:t>
            </a:r>
          </a:p>
          <a:p xmlns:a="http://schemas.openxmlformats.org/drawingml/2006/main">
            <a:r>
              <a:t>      "is_forecast": true,</a:t>
            </a:r>
          </a:p>
          <a:p xmlns:a="http://schemas.openxmlformats.org/drawingml/2006/main">
            <a:r>
              <a:t>      "spending_krw": 79359374710,</a:t>
            </a:r>
          </a:p>
          <a:p xmlns:a="http://schemas.openxmlformats.org/drawingml/2006/main">
            <a:r>
              <a:t>      "stay_minutes": 1170.0,</a:t>
            </a:r>
          </a:p>
          <a:p xmlns:a="http://schemas.openxmlformats.org/drawingml/2006/main">
            <a:r>
              <a:t>      "lodging_nights": 2.85,</a:t>
            </a:r>
          </a:p>
          <a:p xmlns:a="http://schemas.openxmlformats.org/drawingml/2006/main">
            <a:r>
              <a:t>      "lodging_rate_pct": 8.9,</a:t>
            </a:r>
          </a:p>
          <a:p xmlns:a="http://schemas.openxmlformats.org/drawingml/2006/main">
            <a:r>
              <a:t>      "lodging_searches": 19187,</a:t>
            </a:r>
          </a:p>
          <a:p xmlns:a="http://schemas.openxmlformats.org/drawingml/2006/main">
            <a:r>
              <a:t>      "navigation_searches": 237779,</a:t>
            </a:r>
          </a:p>
          <a:p xmlns:a="http://schemas.openxmlformats.org/drawingml/2006/main">
            <a:r>
              <a:t>      "visitor_yoy_percent": 0.99,</a:t>
            </a:r>
          </a:p>
          <a:p xmlns:a="http://schemas.openxmlformats.org/drawingml/2006/main">
            <a:r>
              <a:t>      "spending_yoy_percent": 1.54,</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-26.82</a:t>
            </a:r>
          </a:p>
          <a:p xmlns:a="http://schemas.openxmlformats.org/drawingml/2006/main">
            <a:r>
              <a:t>      },</a:t>
            </a:r>
          </a:p>
          <a:p xmlns:a="http://schemas.openxmlformats.org/drawingml/2006/main">
            <a:r>
              <a:t>      "previous_year_visitors": 4949394,</a:t>
            </a:r>
          </a:p>
          <a:p xmlns:a="http://schemas.openxmlformats.org/drawingml/2006/main">
            <a:r>
              <a:t>      "previous_year_spending_krw": 78158272000,</a:t>
            </a:r>
          </a:p>
          <a:p xmlns:a="http://schemas.openxmlformats.org/drawingml/2006/main">
            <a:r>
              <a:t>      "previous_year_stay_minutes": 1170.0,</a:t>
            </a:r>
          </a:p>
          <a:p xmlns:a="http://schemas.openxmlformats.org/drawingml/2006/main">
            <a:r>
              <a:t>      "previous_year_lodging_nights": 2.85,</a:t>
            </a:r>
          </a:p>
          <a:p xmlns:a="http://schemas.openxmlformats.org/drawingml/2006/main">
            <a:r>
              <a:t>      "previous_year_lodging_rate_pct": 8.9,</a:t>
            </a:r>
          </a:p>
          <a:p xmlns:a="http://schemas.openxmlformats.org/drawingml/2006/main">
            <a:r>
              <a:t>      "previous_year_lodging_searches": 19187,</a:t>
            </a:r>
          </a:p>
          <a:p xmlns:a="http://schemas.openxmlformats.org/drawingml/2006/main">
            <a:r>
              <a:t>      "previous_year_navigation_searches": 324902</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4940348,</a:t>
            </a:r>
          </a:p>
          <a:p xmlns:a="http://schemas.openxmlformats.org/drawingml/2006/main">
            <a:r>
              <a:t>      "is_forecast": true,</a:t>
            </a:r>
          </a:p>
          <a:p xmlns:a="http://schemas.openxmlformats.org/drawingml/2006/main">
            <a:r>
              <a:t>      "spending_krw": 85971975908,</a:t>
            </a:r>
          </a:p>
          <a:p xmlns:a="http://schemas.openxmlformats.org/drawingml/2006/main">
            <a:r>
              <a:t>      "stay_minutes": 987.0,</a:t>
            </a:r>
          </a:p>
          <a:p xmlns:a="http://schemas.openxmlformats.org/drawingml/2006/main">
            <a:r>
              <a:t>      "lodging_nights": 2.79,</a:t>
            </a:r>
          </a:p>
          <a:p xmlns:a="http://schemas.openxmlformats.org/drawingml/2006/main">
            <a:r>
              <a:t>      "lodging_rate_pct": 6.5,</a:t>
            </a:r>
          </a:p>
          <a:p xmlns:a="http://schemas.openxmlformats.org/drawingml/2006/main">
            <a:r>
              <a:t>      "lodging_searches": 14379,</a:t>
            </a:r>
          </a:p>
          <a:p xmlns:a="http://schemas.openxmlformats.org/drawingml/2006/main">
            <a:r>
              <a:t>      "navigation_searches": 231894,</a:t>
            </a:r>
          </a:p>
          <a:p xmlns:a="http://schemas.openxmlformats.org/drawingml/2006/main">
            <a:r>
              <a:t>      "visitor_yoy_percent": -4.4,</a:t>
            </a:r>
          </a:p>
          <a:p xmlns:a="http://schemas.openxmlformats.org/drawingml/2006/main">
            <a:r>
              <a:t>      "spending_yoy_percent": 12.37,</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-2.86</a:t>
            </a:r>
          </a:p>
          <a:p xmlns:a="http://schemas.openxmlformats.org/drawingml/2006/main">
            <a:r>
              <a:t>      },</a:t>
            </a:r>
          </a:p>
          <a:p xmlns:a="http://schemas.openxmlformats.org/drawingml/2006/main">
            <a:r>
              <a:t>      "previous_year_visitors": 5167969,</a:t>
            </a:r>
          </a:p>
          <a:p xmlns:a="http://schemas.openxmlformats.org/drawingml/2006/main">
            <a:r>
              <a:t>      "previous_year_spending_krw": 76509918000,</a:t>
            </a:r>
          </a:p>
          <a:p xmlns:a="http://schemas.openxmlformats.org/drawingml/2006/main">
            <a:r>
              <a:t>      "previous_year_stay_minutes": 987.0,</a:t>
            </a:r>
          </a:p>
          <a:p xmlns:a="http://schemas.openxmlformats.org/drawingml/2006/main">
            <a:r>
              <a:t>      "previous_year_lodging_nights": 2.79,</a:t>
            </a:r>
          </a:p>
          <a:p xmlns:a="http://schemas.openxmlformats.org/drawingml/2006/main">
            <a:r>
              <a:t>      "previous_year_lodging_rate_pct": 6.5,</a:t>
            </a:r>
          </a:p>
          <a:p xmlns:a="http://schemas.openxmlformats.org/drawingml/2006/main">
            <a:r>
              <a:t>      "previous_year_lodging_searches": 14379,</a:t>
            </a:r>
          </a:p>
          <a:p xmlns:a="http://schemas.openxmlformats.org/drawingml/2006/main">
            <a:r>
              <a:t>      "previous_year_navigation_searches": 238728</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a:t>
            </a:r>
          </a:p>
          <a:p xmlns:a="http://schemas.openxmlformats.org/drawingml/2006/main">
            <a:r>
              <a:t>      "is_forecast": true,</a:t>
            </a:r>
          </a:p>
          <a:p xmlns:a="http://schemas.openxmlformats.org/drawingml/2006/main">
            <a:r>
              <a:t>      "spending_krw": 81033922052,</a:t>
            </a:r>
          </a:p>
          <a:p xmlns:a="http://schemas.openxmlformats.org/drawingml/2006/main">
            <a:r>
              <a:t>      "stay_minutes": 1118.0,</a:t>
            </a:r>
          </a:p>
          <a:p xmlns:a="http://schemas.openxmlformats.org/drawingml/2006/main">
            <a:r>
              <a:t>      "lodging_nights": 2.81,</a:t>
            </a:r>
          </a:p>
          <a:p xmlns:a="http://schemas.openxmlformats.org/drawingml/2006/main">
            <a:r>
              <a:t>      "lodging_rate_pct": 7.3,</a:t>
            </a:r>
          </a:p>
          <a:p xmlns:a="http://schemas.openxmlformats.org/drawingml/2006/main">
            <a:r>
              <a:t>      "lodging_searches": 12004,</a:t>
            </a:r>
          </a:p>
          <a:p xmlns:a="http://schemas.openxmlformats.org/drawingml/2006/main">
            <a:r>
              <a:t>      "navigation_searches": 225518,</a:t>
            </a:r>
          </a:p>
          <a:p xmlns:a="http://schemas.openxmlformats.org/drawingml/2006/main">
            <a:r>
              <a:t>      "visitor_yoy_percent": -1.77,</a:t>
            </a:r>
          </a:p>
          <a:p xmlns:a="http://schemas.openxmlformats.org/drawingml/2006/main">
            <a:r>
              <a:t>      "spending_yoy_percent": -0.11,</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2.41</a:t>
            </a:r>
          </a:p>
          <a:p xmlns:a="http://schemas.openxmlformats.org/drawingml/2006/main">
            <a:r>
              <a:t>      },</a:t>
            </a:r>
          </a:p>
          <a:p xmlns:a="http://schemas.openxmlformats.org/drawingml/2006/main">
            <a:r>
              <a:t>      "previous_year_visitors": 5079597,</a:t>
            </a:r>
          </a:p>
          <a:p xmlns:a="http://schemas.openxmlformats.org/drawingml/2006/main">
            <a:r>
              <a:t>      "previous_year_spending_krw": 81119852000,</a:t>
            </a:r>
          </a:p>
          <a:p xmlns:a="http://schemas.openxmlformats.org/drawingml/2006/main">
            <a:r>
              <a:t>      "previous_year_stay_minutes": 1118.0,</a:t>
            </a:r>
          </a:p>
          <a:p xmlns:a="http://schemas.openxmlformats.org/drawingml/2006/main">
            <a:r>
              <a:t>      "previous_year_lodging_nights": 2.81,</a:t>
            </a:r>
          </a:p>
          <a:p xmlns:a="http://schemas.openxmlformats.org/drawingml/2006/main">
            <a:r>
              <a:t>      "previous_year_lodging_rate_pct": 7.3,</a:t>
            </a:r>
          </a:p>
          <a:p xmlns:a="http://schemas.openxmlformats.org/drawingml/2006/main">
            <a:r>
              <a:t>      "previous_year_lodging_searches": 12004,</a:t>
            </a:r>
          </a:p>
          <a:p xmlns:a="http://schemas.openxmlformats.org/drawingml/2006/main">
            <a:r>
              <a:t>      "previous_year_navigation_searches": 220205</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"metrics": {</a:t>
            </a:r>
          </a:p>
          <a:p xmlns:a="http://schemas.openxmlformats.org/drawingml/2006/main">
            <a:r>
              <a:t>      "visitors": {</a:t>
            </a:r>
          </a:p>
          <a:p xmlns:a="http://schemas.openxmlformats.org/drawingml/2006/main">
            <a:r>
              <a:t>        "test_mae": 237105.53,</a:t>
            </a:r>
          </a:p>
          <a:p xmlns:a="http://schemas.openxmlformats.org/drawingml/2006/main">
            <a:r>
              <a:t>        "recursive_mae": {</a:t>
            </a:r>
          </a:p>
          <a:p xmlns:a="http://schemas.openxmlformats.org/drawingml/2006/main">
            <a:r>
              <a:t>          "1": {</a:t>
            </a:r>
          </a:p>
          <a:p xmlns:a="http://schemas.openxmlformats.org/drawingml/2006/main">
            <a:r>
              <a:t>            "baseline": 211072,</a:t>
            </a:r>
          </a:p>
          <a:p xmlns:a="http://schemas.openxmlformats.org/drawingml/2006/main">
            <a:r>
              <a:t>            "selected": 332727,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97043,</a:t>
            </a:r>
          </a:p>
          <a:p xmlns:a="http://schemas.openxmlformats.org/drawingml/2006/main">
            <a:r>
              <a:t>            "selected": 141143.5,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174799,</a:t>
            </a:r>
          </a:p>
          <a:p xmlns:a="http://schemas.openxmlformats.org/drawingml/2006/main">
            <a:r>
              <a:t>            "selected": 168591.5,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192935.5,</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"test_mae": 4927867951.9,</a:t>
            </a:r>
          </a:p>
          <a:p xmlns:a="http://schemas.openxmlformats.org/drawingml/2006/main">
            <a:r>
              <a:t>        "recursive_mae": {</a:t>
            </a:r>
          </a:p>
          <a:p xmlns:a="http://schemas.openxmlformats.org/drawingml/2006/main">
            <a:r>
              <a:t>          "1": {</a:t>
            </a:r>
          </a:p>
          <a:p xmlns:a="http://schemas.openxmlformats.org/drawingml/2006/main">
            <a:r>
              <a:t>            "baseline": 1944140500,</a:t>
            </a:r>
          </a:p>
          <a:p xmlns:a="http://schemas.openxmlformats.org/drawingml/2006/main">
            <a:r>
              <a:t>            "selected": 3237755191,</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3984052500,</a:t>
            </a:r>
          </a:p>
          <a:p xmlns:a="http://schemas.openxmlformats.org/drawingml/2006/main">
            <a:r>
              <a:t>            "selected": 1581504765.5,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2878173500,</a:t>
            </a:r>
          </a:p>
          <a:p xmlns:a="http://schemas.openxmlformats.org/drawingml/2006/main">
            <a:r>
              <a:t>            "selected": 4493524184.5,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"LinearRegression",</a:t>
            </a:r>
          </a:p>
          <a:p xmlns:a="http://schemas.openxmlformats.org/drawingml/2006/main">
            <a:r>
              <a:t>        "baseline_test_mae": 2411157000,</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"test_mae": 113.5,</a:t>
            </a:r>
          </a:p>
          <a:p xmlns:a="http://schemas.openxmlformats.org/drawingml/2006/main">
            <a:r>
              <a:t>        "recursive_mae": {</a:t>
            </a:r>
          </a:p>
          <a:p xmlns:a="http://schemas.openxmlformats.org/drawingml/2006/main">
            <a:r>
              <a:t>          "1": {</a:t>
            </a:r>
          </a:p>
          <a:p xmlns:a="http://schemas.openxmlformats.org/drawingml/2006/main">
            <a:r>
              <a:t>            "baseline": 52,</a:t>
            </a:r>
          </a:p>
          <a:p xmlns:a="http://schemas.openxmlformats.org/drawingml/2006/main">
            <a:r>
              <a:t>            "selected": 52,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218.5,</a:t>
            </a:r>
          </a:p>
          <a:p xmlns:a="http://schemas.openxmlformats.org/drawingml/2006/main">
            <a:r>
              <a:t>            "selected": 218.5,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175,</a:t>
            </a:r>
          </a:p>
          <a:p xmlns:a="http://schemas.openxmlformats.org/drawingml/2006/main">
            <a:r>
              <a:t>            "selected": 175,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113.5,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"lodging_nights": {</a:t>
            </a:r>
          </a:p>
          <a:p xmlns:a="http://schemas.openxmlformats.org/drawingml/2006/main">
            <a:r>
              <a:t>        "test_mae": 0.07,</a:t>
            </a:r>
          </a:p>
          <a:p xmlns:a="http://schemas.openxmlformats.org/drawingml/2006/main">
            <a:r>
              <a:t>        "recursive_mae": {</a:t>
            </a:r>
          </a:p>
          <a:p xmlns:a="http://schemas.openxmlformats.org/drawingml/2006/main">
            <a:r>
              <a:t>          "1": {</a:t>
            </a:r>
          </a:p>
          <a:p xmlns:a="http://schemas.openxmlformats.org/drawingml/2006/main">
            <a:r>
              <a:t>            "baseline": 0.06,</a:t>
            </a:r>
          </a:p>
          <a:p xmlns:a="http://schemas.openxmlformats.org/drawingml/2006/main">
            <a:r>
              <a:t>            "selected": 0.06,</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0.11,</a:t>
            </a:r>
          </a:p>
          <a:p xmlns:a="http://schemas.openxmlformats.org/drawingml/2006/main">
            <a:r>
              <a:t>            "selected": 0.11,</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0.08,</a:t>
            </a:r>
          </a:p>
          <a:p xmlns:a="http://schemas.openxmlformats.org/drawingml/2006/main">
            <a:r>
              <a:t>            "selected": 0.08,</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0.07,</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"lodging_rate_pct": {</a:t>
            </a:r>
          </a:p>
          <a:p xmlns:a="http://schemas.openxmlformats.org/drawingml/2006/main">
            <a:r>
              <a:t>        "test_mae": 0.3,</a:t>
            </a:r>
          </a:p>
          <a:p xmlns:a="http://schemas.openxmlformats.org/drawingml/2006/main">
            <a:r>
              <a:t>        "recursive_mae": {</a:t>
            </a:r>
          </a:p>
          <a:p xmlns:a="http://schemas.openxmlformats.org/drawingml/2006/main">
            <a:r>
              <a:t>          "1": {</a:t>
            </a:r>
          </a:p>
          <a:p xmlns:a="http://schemas.openxmlformats.org/drawingml/2006/main">
            <a:r>
              <a:t>            "baseline": 0.4,</a:t>
            </a:r>
          </a:p>
          <a:p xmlns:a="http://schemas.openxmlformats.org/drawingml/2006/main">
            <a:r>
              <a:t>            "selected": 0.4,</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0.2,</a:t>
            </a:r>
          </a:p>
          <a:p xmlns:a="http://schemas.openxmlformats.org/drawingml/2006/main">
            <a:r>
              <a:t>            "selected": 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0.2,</a:t>
            </a:r>
          </a:p>
          <a:p xmlns:a="http://schemas.openxmlformats.org/drawingml/2006/main">
            <a:r>
              <a:t>            "selected": 0.2,</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0.3,</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"lodging_searches": {</a:t>
            </a:r>
          </a:p>
          <a:p xmlns:a="http://schemas.openxmlformats.org/drawingml/2006/main">
            <a:r>
              <a:t>        "test_mae": 526.5,</a:t>
            </a:r>
          </a:p>
          <a:p xmlns:a="http://schemas.openxmlformats.org/drawingml/2006/main">
            <a:r>
              <a:t>        "recursive_mae": {</a:t>
            </a:r>
          </a:p>
          <a:p xmlns:a="http://schemas.openxmlformats.org/drawingml/2006/main">
            <a:r>
              <a:t>          "1": {</a:t>
            </a:r>
          </a:p>
          <a:p xmlns:a="http://schemas.openxmlformats.org/drawingml/2006/main">
            <a:r>
              <a:t>            "baseline": 779,</a:t>
            </a:r>
          </a:p>
          <a:p xmlns:a="http://schemas.openxmlformats.org/drawingml/2006/main">
            <a:r>
              <a:t>            "selected": 779,</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391.5,</a:t>
            </a:r>
          </a:p>
          <a:p xmlns:a="http://schemas.openxmlformats.org/drawingml/2006/main">
            <a:r>
              <a:t>            "selected": 391.5,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274,</a:t>
            </a:r>
          </a:p>
          <a:p xmlns:a="http://schemas.openxmlformats.org/drawingml/2006/main">
            <a:r>
              <a:t>            "selected": 274,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526.5,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"navigation_searches": {</a:t>
            </a:r>
          </a:p>
          <a:p xmlns:a="http://schemas.openxmlformats.org/drawingml/2006/main">
            <a:r>
              <a:t>        "test_mae": 20482.57,</a:t>
            </a:r>
          </a:p>
          <a:p xmlns:a="http://schemas.openxmlformats.org/drawingml/2006/main">
            <a:r>
              <a:t>        "recursive_mae": {</a:t>
            </a:r>
          </a:p>
          <a:p xmlns:a="http://schemas.openxmlformats.org/drawingml/2006/main">
            <a:r>
              <a:t>          "1": {</a:t>
            </a:r>
          </a:p>
          <a:p xmlns:a="http://schemas.openxmlformats.org/drawingml/2006/main">
            <a:r>
              <a:t>            "baseline": 9487,</a:t>
            </a:r>
          </a:p>
          <a:p xmlns:a="http://schemas.openxmlformats.org/drawingml/2006/main">
            <a:r>
              <a:t>            "selected": 20785,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6758.5,</a:t>
            </a:r>
          </a:p>
          <a:p xmlns:a="http://schemas.openxmlformats.org/drawingml/2006/main">
            <a:r>
              <a:t>            "selected": 14198,</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14633,</a:t>
            </a:r>
          </a:p>
          <a:p xmlns:a="http://schemas.openxmlformats.org/drawingml/2006/main">
            <a:r>
              <a:t>            "selected": 18839,</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12060,</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"test_period": "202603~202606",</a:t>
            </a:r>
          </a:p>
          <a:p xmlns:a="http://schemas.openxmlformats.org/drawingml/2006/main">
            <a:r>
              <a:t>    "selection_basis": "validation_mae_only",</a:t>
            </a:r>
          </a:p>
          <a:p xmlns:a="http://schemas.openxmlformats.org/drawingml/2006/main">
            <a:r>
              <a:t>    "validation_period": "202512~202602",</a:t>
            </a:r>
          </a:p>
          <a:p xmlns:a="http://schemas.openxmlformats.org/drawingml/2006/main">
            <a:r>
              <a:t>    "longer_horizon_status": "exploratory_not_recursively_backtested",</a:t>
            </a:r>
          </a:p>
          <a:p xmlns:a="http://schemas.openxmlformats.org/drawingml/2006/main">
            <a:r>
              <a:t>    "forecast_horizon_months": 6,</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0.019303448467232462,</a:t>
            </a:r>
          </a:p>
          <a:p xmlns:a="http://schemas.openxmlformats.org/drawingml/2006/main">
            <a:r>
              <a:t>    "spending_target_pct": 0.04151694433378397,</a:t>
            </a:r>
          </a:p>
          <a:p xmlns:a="http://schemas.openxmlformats.org/drawingml/2006/main">
            <a:r>
              <a:t>    "target_origin": "operating_capacity"</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"지역 상품권 환급액 = 적격 신청의 min(증빙 인정 지출액 × 10%, 건별 상한 50,000원)의 합산 (단가 및 총 예산은 참여 업체 수와 예상 신청 건수에 따라 확정 필요)",</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"지역 상품권 환급액 = 적격 신청의 min(증빙 인정 지출액 × 10%, 건별 상한 50,000원)의 합산 (단가 및 총 예산은 참여 업체 수와 예상 신청 건수에 따라 확정 필요)",</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{"title": "내원사(대전)", "address": "대전광역시 서구 배재로197번길 200", "summary": "한국관광공사 국문관광정보 API가 반환한 선택 지역 관광자원", "image_url": "http://tong.visitkorea.or.kr/cms/resource/79/3034979_image2_1.JPG", "source_id": "tour-api:298208", "content_id": "298208", "source_url": "https://apis.data.go.kr/B551011/KorService2", "source_type": "open_api", "content_type_id":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방문자/2025_01_12.zip | https://datalab.visitkorea.or.kr/</a:t>
            </a:r>
          </a:p>
          <a:p>
            <a:r>
              <a:t>datalab:162285800b98:dbba3ac2e220 | 관광소비/2025_01_12.zip | https://datalab.visitkorea.or.kr/</a:t>
            </a:r>
          </a:p>
          <a:p>
            <a:r>
              <a:t>datalab:1bec5b4405e1:6c5494eef7c6 | 숙박_체류시간/2025_01_12.zip | https://datalab.visitkorea.or.kr/</a:t>
            </a:r>
          </a:p>
          <a:p>
            <a:r>
              <a:t>datalab:7a4db91d6ba9:d81294f3e5a0 | 관광소비/2026_01_06.zip | https://datalab.visitkorea.or.kr/</a:t>
            </a:r>
          </a:p>
          <a:p>
            <a:r>
              <a:t>datalab:cc1dc8fb5607:77f3b69cfb89 | 방문자/2026_01_06.zip | https://datalab.visitkorea.or.kr/</a:t>
            </a:r>
          </a:p>
          <a:p>
            <a:r>
              <a:t>datalab:e53d144382ee:fc025995a6df | 숙박_체류시간/2026_01_06.zip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case:festival:01474ef75569b1 | 한국관광 데이터랩 · 문경찻사발축제 방문자 추이 | https://datalab.visitkorea.or.kr/</a:t>
            </a:r>
          </a:p>
          <a:p>
            <a:r>
              <a:t>case:festival:0e9c7c065555b0 | 한국관광 데이터랩 · 안동탈춤축제 방문자 추이 | https://datalab.visitkorea.or.kr/</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case:festival:1ff9d11d3ee0ee | 한국관광 데이터랩 · 진도신비의바닷길축제 방문자 추이 | https://datalab.visitkorea.or.kr/</a:t>
            </a:r>
          </a:p>
          <a:p>
            <a:r>
              <a:t>case:festival:1ffc3eec28956a | 한국관광 데이터랩 · 통영한산대첩축제 방문자 추이 | https://datalab.visitkorea.or.kr/</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"source_file_name": "대전광역시_서구/방문자/2025_01_12.zip"</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"source_file_name": "대전광역시_서구/관광소비/2025_01_12.zip"</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"source_file_name": "대전광역시_서구/숙박_체류시간/2025_01_12.zip"</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"source_file_name": "대전광역시_서구/관광소비/2026_01_06.zip"</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"source_file_name": "대전광역시_서구/방문자/2026_01_06.zip"</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"source_file_name": "대전광역시_서구/숙박_체류시간/2026_01_06.zip"</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방문자수/20260820140607__202601-202606_데이터랩_다운로드.zip"</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"이동통신/외국인/20260820141710_전국_202601-202606_데이터랩_다운로드.zip"</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"신용카드/내국인/지역별 관광지출액/20260820140046__202601-202606_데이터랩_다운로드.zip"</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"신용카드/외국인/지역별 관광지출액/20260820140355__202601-202606_데이터랩_다운로드.zip"</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"네비게이션/지역별 검색건수/20260820195507__202601-202606_데이터랩_다운로드.zip"</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방문자수/20260820140614__202501-202512_데이터랩_다운로드.zip"</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"이동통신/외국인/20260820141649_전국_202501-202512_데이터랩_다운로드.zip"</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"신용카드/내국인/지역별 관광지출액/20260820135957__202501-202512_데이터랩_다운로드.zip"</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"신용카드/외국인/지역별 관광지출액/20260820140409__202501-202512_데이터랩_다운로드.zip"</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"네비게이션/지역별 검색건수/20260820132007__202501-202512_데이터랩_다운로드.zip"</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"이동통신/내국인/지역별 방문자수/20260820140624__202401-202412_데이터랩_다운로드.zip"</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"source_file_name": "이동통신/외국인/20260820141639_전국_202401-202412_데이터랩_다운로드.zip"</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"한국관광 데이터랩 · 안동탈춤축제 방문자 추이",</a:t>
            </a:r>
          </a:p>
          <a:p>
            <a:r>
              <a:t>      "summary": "경상북도 안동시 · 안동탈춤축제 · 2024→2025년 전체 504,573→554,494명 (+9.89%). 개최 10→10일, 일평균 +9.89%, 외지인 +10.75%.",</a:t>
            </a:r>
          </a:p>
          <a:p>
            <a:r>
              <a:t>      "source_id": "case:festival:0e9c7c065555b0",</a:t>
            </a:r>
          </a:p>
          <a:p>
            <a:r>
              <a:t>      "source_url": "https://datalab.visitkorea.or.kr/",</a:t>
            </a:r>
          </a:p>
          <a:p>
            <a:r>
              <a:t>      "case_region": "경상북도 안동시",</a:t>
            </a:r>
          </a:p>
          <a:p>
            <a:r>
              <a:t>      "source_type": "benchmark_case",</a:t>
            </a:r>
          </a:p>
          <a:p>
            <a:r>
              <a:t>      "dataset_hash": "ad20e3daf70fd44fd481d672398c07bb9c96fce77acb450784065a568735e2e2",</a:t>
            </a:r>
          </a:p>
          <a:p>
            <a:r>
              <a:t>      "intervention": "안동탈춤축제",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504,573→554,494명 (+9.89%). 개최 10→10일, 일평균 +9.89%, 외지인 +10.75%.",</a:t>
            </a:r>
          </a:p>
          <a:p>
            <a:r>
              <a:t>      "operating_model": "안동탈춤축제를 2025년 10일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"operating_statistics": [],</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"한국관광 데이터랩 · 진도신비의바닷길축제 방문자 추이",</a:t>
            </a:r>
          </a:p>
          <a:p>
            <a:r>
              <a:t>      "summary": "전라남도 진도군 · 진도신비의바닷길축제 · 2024→2025년 전체 28,171→43,973명 (+56.09%). 개최 3→4일, 일평균 +17.07%, 외지인 +89.98%.",</a:t>
            </a:r>
          </a:p>
          <a:p>
            <a:r>
              <a:t>      "source_id": "case:festival:1ff9d11d3ee0ee",</a:t>
            </a:r>
          </a:p>
          <a:p>
            <a:r>
              <a:t>      "source_url": "https://datalab.visitkorea.or.kr/",</a:t>
            </a:r>
          </a:p>
          <a:p>
            <a:r>
              <a:t>      "case_region": "전라남도 진도군",</a:t>
            </a:r>
          </a:p>
          <a:p>
            <a:r>
              <a:t>      "source_type": "benchmark_case",</a:t>
            </a:r>
          </a:p>
          <a:p>
            <a:r>
              <a:t>      "dataset_hash": "ad20e3daf70fd44fd481d672398c07bb9c96fce77acb450784065a568735e2e2",</a:t>
            </a:r>
          </a:p>
          <a:p>
            <a:r>
              <a:t>      "intervention": "진도신비의바닷길축제",</a:t>
            </a:r>
          </a:p>
          <a:p>
            <a:r>
              <a:t>      "source_files": [</a:t>
            </a:r>
          </a:p>
          <a:p>
            <a:r>
              <a:t>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a:t>
            </a:r>
          </a:p>
          <a:p>
            <a:r>
              <a:t>          "sha256": "cb3424e725c84352d81fdb987f6d3ade162f54f63a9590ac8730dddcfcc48ed7",</a:t>
            </a:r>
          </a:p>
          <a:p>
            <a:r>
              <a:t>          "provider": "한국관광 데이터랩",</a:t>
            </a:r>
          </a:p>
          <a:p>
            <a:r>
              <a:t>          "file_name": "20260820182448_진도신비의바닷길축제_성_연령별 내국인 방문자.csv",</a:t>
            </a:r>
          </a:p>
          <a:p>
            <a:r>
              <a:t>          "source_id": "festival-file:cb3424e725c84352d81f",</a:t>
            </a:r>
          </a:p>
          <a:p>
            <a:r>
              <a:t>          "source_url": "https://datalab.visitkorea.or.kr/",</a:t>
            </a:r>
          </a:p>
          <a:p>
            <a:r>
              <a:t>          "downloaded_at": "2026-08-20",</a:t>
            </a:r>
          </a:p>
          <a:p>
            <a:r>
              <a:t>          "relative_path": "data/source_snapshots/festivals_20260820/69. 진도신비의바닷길축제_2023-2025/20260820182448_진도신비의바닷길축제_성_연령별 내국인 방문자.csv",</a:t>
            </a:r>
          </a:p>
          <a:p>
            <a:r>
              <a:t>          "provenance_status": "team_download_exact_query_url_unrecorded"</a:t>
            </a:r>
          </a:p>
          <a:p>
            <a:r>
              <a:t>        },</a:t>
            </a:r>
          </a:p>
          <a:p>
            <a:r>
              <a:t>        {</a:t>
            </a:r>
          </a:p>
          <a:p>
            <a:r>
              <a:t>          "sha256": "c9332a0e0d15d1550b1b545b8b739cc6a919a13ca701800d87203b06b2fecd46",</a:t>
            </a:r>
          </a:p>
          <a:p>
            <a:r>
              <a:t>          "provider": "한국관광 데이터랩",</a:t>
            </a:r>
          </a:p>
          <a:p>
            <a:r>
              <a:t>          "file_name": "20260820182448_진도신비의바닷길축제_문화관광축제 주요 지표.csv",</a:t>
            </a:r>
          </a:p>
          <a:p>
            <a:r>
              <a:t>          "source_id": "festival-file:c9332a0e0d15d1550b1b",</a:t>
            </a:r>
          </a:p>
          <a:p>
            <a:r>
              <a:t>          "source_url": "https://datalab.visitkorea.or.kr/",</a:t>
            </a:r>
          </a:p>
          <a:p>
            <a:r>
              <a:t>          "downloaded_at": "2026-08-20",</a:t>
            </a:r>
          </a:p>
          <a:p>
            <a:r>
              <a:t>          "relative_path": "data/source_snapshots/festivals_20260820/69. 진도신비의바닷길축제_2023-2025/20260820182448_진도신비의바닷길축제_문화관광축제 주요 지표.csv",</a:t>
            </a:r>
          </a:p>
          <a:p>
            <a:r>
              <a:t>          "provenance_status": "team_download_exact_query_url_unrecorded"</a:t>
            </a:r>
          </a:p>
          <a:p>
            <a:r>
              <a:t>        },</a:t>
            </a:r>
          </a:p>
          <a:p>
            <a:r>
              <a:t>        {</a:t>
            </a:r>
          </a:p>
          <a:p>
            <a:r>
              <a:t>          "sha256": "b8aa76a62ac8159da3b9234363c8c0026f70875997af88b4e750f2f6154c65ae",</a:t>
            </a:r>
          </a:p>
          <a:p>
            <a:r>
              <a:t>          "provider": "한국관광 데이터랩",</a:t>
            </a:r>
          </a:p>
          <a:p>
            <a:r>
              <a:t>          "file_name": "20260820182448_진도신비의바닷길축제_목적지 검색순위.csv",</a:t>
            </a:r>
          </a:p>
          <a:p>
            <a:r>
              <a:t>          "source_id": "festival-file:b8aa76a62ac8159da3b9",</a:t>
            </a:r>
          </a:p>
          <a:p>
            <a:r>
              <a:t>          "source_url": "https://datalab.visitkorea.or.kr/",</a:t>
            </a:r>
          </a:p>
          <a:p>
            <a:r>
              <a:t>          "downloaded_at": "2026-08-20",</a:t>
            </a:r>
          </a:p>
          <a:p>
            <a:r>
              <a:t>          "relative_path": "data/source_snapshots/festivals_20260820/69. 진도신비의바닷길축제_2023-2025/20260820182448_진도신비의바닷길축제_목적지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28,171→43,973명 (+56.09%). 개최 3→4일, 일평균 +17.07%, 외지인 +89.98%.",</a:t>
            </a:r>
          </a:p>
          <a:p>
            <a:r>
              <a:t>      "operating_model": "진도신비의바닷길축제를 2025년 4일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"자연·야외",</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"진도신비의바닷길축제",</a:t>
            </a:r>
          </a:p>
          <a:p>
            <a:r>
              <a:t>        "scope": "축제 관측구역 방문 지표. 도시 전체·순증 관광객·입장권 실구매자 수가 아님.",</a:t>
            </a:r>
          </a:p>
          <a:p>
            <a:r>
              <a:t>        "annual": [</a:t>
            </a:r>
          </a:p>
          <a:p>
            <a:r>
              <a:t>          {</a:t>
            </a:r>
          </a:p>
          <a:p>
            <a:r>
              <a:t>            "days": 3,</a:t>
            </a:r>
          </a:p>
          <a:p>
            <a:r>
              <a:t>            "year": 2023,</a:t>
            </a:r>
          </a:p>
          <a:p>
            <a:r>
              <a:t>            "daily": 11185.333333333334,</a:t>
            </a:r>
          </a:p>
          <a:p>
            <a:r>
              <a:t>            "local": 12120,</a:t>
            </a:r>
          </a:p>
          <a:p>
            <a:r>
              <a:t>            "total": 33556,</a:t>
            </a:r>
          </a:p>
          <a:p>
            <a:r>
              <a:t>            "foreign": 278,</a:t>
            </a:r>
          </a:p>
          <a:p>
            <a:r>
              <a:t>            "outside": 21158,</a:t>
            </a:r>
          </a:p>
          <a:p>
            <a:r>
              <a:t>            "outside_daily": 7052.666666666667,</a:t>
            </a:r>
          </a:p>
          <a:p>
            <a:r>
              <a:t>            "outside_share_pct": 63.05280724758613</a:t>
            </a:r>
          </a:p>
          <a:p>
            <a:r>
              <a:t>          },</a:t>
            </a:r>
          </a:p>
          <a:p>
            <a:r>
              <a:t>          {</a:t>
            </a:r>
          </a:p>
          <a:p>
            <a:r>
              <a:t>            "days": 3,</a:t>
            </a:r>
          </a:p>
          <a:p>
            <a:r>
              <a:t>            "year": 2024,</a:t>
            </a:r>
          </a:p>
          <a:p>
            <a:r>
              <a:t>            "daily": 9390.333333333334,</a:t>
            </a:r>
          </a:p>
          <a:p>
            <a:r>
              <a:t>            "local": 13068,</a:t>
            </a:r>
          </a:p>
          <a:p>
            <a:r>
              <a:t>            "total": 28171,</a:t>
            </a:r>
          </a:p>
          <a:p>
            <a:r>
              <a:t>            "foreign": 223,</a:t>
            </a:r>
          </a:p>
          <a:p>
            <a:r>
              <a:t>            "outside": 14880,</a:t>
            </a:r>
          </a:p>
          <a:p>
            <a:r>
              <a:t>            "outside_daily": 4960,</a:t>
            </a:r>
          </a:p>
          <a:p>
            <a:r>
              <a:t>            "outside_share_pct": 52.82027617052998</a:t>
            </a:r>
          </a:p>
          <a:p>
            <a:r>
              <a:t>          },</a:t>
            </a:r>
          </a:p>
          <a:p>
            <a:r>
              <a:t>          {</a:t>
            </a:r>
          </a:p>
          <a:p>
            <a:r>
              <a:t>            "days": 4,</a:t>
            </a:r>
          </a:p>
          <a:p>
            <a:r>
              <a:t>            "year": 2025,</a:t>
            </a:r>
          </a:p>
          <a:p>
            <a:r>
              <a:t>            "daily": 10993.25,</a:t>
            </a:r>
          </a:p>
          <a:p>
            <a:r>
              <a:t>            "local": 15345,</a:t>
            </a:r>
          </a:p>
          <a:p>
            <a:r>
              <a:t>            "total": 43973,</a:t>
            </a:r>
          </a:p>
          <a:p>
            <a:r>
              <a:t>            "foreign": 359,</a:t>
            </a:r>
          </a:p>
          <a:p>
            <a:r>
              <a:t>            "outside": 28269,</a:t>
            </a:r>
          </a:p>
          <a:p>
            <a:r>
              <a:t>            "outside_daily": 7067.25,</a:t>
            </a:r>
          </a:p>
          <a:p>
            <a:r>
              <a:t>            "outside_share_pct": 64.28717622177244</a:t>
            </a:r>
          </a:p>
          <a:p>
            <a:r>
              <a:t>          }</a:t>
            </a:r>
          </a:p>
          <a:p>
            <a:r>
              <a:t>        ],</a:t>
            </a:r>
          </a:p>
          <a:p>
            <a:r>
              <a:t>        "audience": [</a:t>
            </a:r>
          </a:p>
          <a:p>
            <a:r>
              <a:t>          {</a:t>
            </a:r>
          </a:p>
          <a:p>
            <a:r>
              <a:t>            "연령대": "70세 이상",</a:t>
            </a:r>
          </a:p>
          <a:p>
            <a:r>
              <a:t>            "축제명": "진도신비의바닷길축제",</a:t>
            </a:r>
          </a:p>
          <a:p>
            <a:r>
              <a:t>            "남성비율": "7.4",</a:t>
            </a:r>
          </a:p>
          <a:p>
            <a:r>
              <a:t>            "여성비율": "6.8"</a:t>
            </a:r>
          </a:p>
          <a:p>
            <a:r>
              <a:t>          },</a:t>
            </a:r>
          </a:p>
          <a:p>
            <a:r>
              <a:t>          {</a:t>
            </a:r>
          </a:p>
          <a:p>
            <a:r>
              <a:t>            "연령대": "60~69세",</a:t>
            </a:r>
          </a:p>
          <a:p>
            <a:r>
              <a:t>            "축제명": "진도신비의바닷길축제",</a:t>
            </a:r>
          </a:p>
          <a:p>
            <a:r>
              <a:t>            "남성비율": "13.8",</a:t>
            </a:r>
          </a:p>
          <a:p>
            <a:r>
              <a:t>            "여성비율": "14.3"</a:t>
            </a:r>
          </a:p>
          <a:p>
            <a:r>
              <a:t>          },</a:t>
            </a:r>
          </a:p>
          <a:p>
            <a:r>
              <a:t>          {</a:t>
            </a:r>
          </a:p>
          <a:p>
            <a:r>
              <a:t>            "연령대": "50~59세",</a:t>
            </a:r>
          </a:p>
          <a:p>
            <a:r>
              <a:t>            "축제명": "진도신비의바닷길축제",</a:t>
            </a:r>
          </a:p>
          <a:p>
            <a:r>
              <a:t>            "남성비율": "10.7",</a:t>
            </a:r>
          </a:p>
          <a:p>
            <a:r>
              <a:t>            "여성비율": "11.5"</a:t>
            </a:r>
          </a:p>
          <a:p>
            <a:r>
              <a:t>          },</a:t>
            </a:r>
          </a:p>
          <a:p>
            <a:r>
              <a:t>          {</a:t>
            </a:r>
          </a:p>
          <a:p>
            <a:r>
              <a:t>            "연령대": "40~49세",</a:t>
            </a:r>
          </a:p>
          <a:p>
            <a:r>
              <a:t>            "축제명": "진도신비의바닷길축제",</a:t>
            </a:r>
          </a:p>
          <a:p>
            <a:r>
              <a:t>            "남성비율": "7.7",</a:t>
            </a:r>
          </a:p>
          <a:p>
            <a:r>
              <a:t>            "여성비율": "4.9"</a:t>
            </a:r>
          </a:p>
          <a:p>
            <a:r>
              <a:t>          },</a:t>
            </a:r>
          </a:p>
          <a:p>
            <a:r>
              <a:t>          {</a:t>
            </a:r>
          </a:p>
          <a:p>
            <a:r>
              <a:t>            "연령대": "30~39세",</a:t>
            </a:r>
          </a:p>
          <a:p>
            <a:r>
              <a:t>            "축제명": "진도신비의바닷길축제",</a:t>
            </a:r>
          </a:p>
          <a:p>
            <a:r>
              <a:t>            "남성비율": "6.8",</a:t>
            </a:r>
          </a:p>
          <a:p>
            <a:r>
              <a:t>            "여성비율": "4.2"</a:t>
            </a:r>
          </a:p>
          <a:p>
            <a:r>
              <a:t>          },</a:t>
            </a:r>
          </a:p>
          <a:p>
            <a:r>
              <a:t>          {</a:t>
            </a:r>
          </a:p>
          <a:p>
            <a:r>
              <a:t>            "연령대": "20~29세",</a:t>
            </a:r>
          </a:p>
          <a:p>
            <a:r>
              <a:t>            "축제명": "진도신비의바닷길축제",</a:t>
            </a:r>
          </a:p>
          <a:p>
            <a:r>
              <a:t>            "남성비율": "5.3",</a:t>
            </a:r>
          </a:p>
          <a:p>
            <a:r>
              <a:t>            "여성비율": "3.0"</a:t>
            </a:r>
          </a:p>
          <a:p>
            <a:r>
              <a:t>          },</a:t>
            </a:r>
          </a:p>
          <a:p>
            <a:r>
              <a:t>          {</a:t>
            </a:r>
          </a:p>
          <a:p>
            <a:r>
              <a:t>            "연령대": "10~19세",</a:t>
            </a:r>
          </a:p>
          <a:p>
            <a:r>
              <a:t>            "축제명": "진도신비의바닷길축제",</a:t>
            </a:r>
          </a:p>
          <a:p>
            <a:r>
              <a:t>            "남성비율": "1.3",</a:t>
            </a:r>
          </a:p>
          <a:p>
            <a:r>
              <a:t>            "여성비율": "1.3"</a:t>
            </a:r>
          </a:p>
          <a:p>
            <a:r>
              <a:t>          },</a:t>
            </a:r>
          </a:p>
          <a:p>
            <a:r>
              <a:t>          {</a:t>
            </a:r>
          </a:p>
          <a:p>
            <a:r>
              <a:t>            "연령대": "0~9세",</a:t>
            </a:r>
          </a:p>
          <a:p>
            <a:r>
              <a:t>            "축제명": "진도신비의바닷길축제",</a:t>
            </a:r>
          </a:p>
          <a:p>
            <a:r>
              <a:t>            "남성비율": "0.5",</a:t>
            </a:r>
          </a:p>
          <a:p>
            <a:r>
              <a:t>            "여성비율": "0.4"</a:t>
            </a:r>
          </a:p>
          <a:p>
            <a:r>
              <a:t>          }</a:t>
            </a:r>
          </a:p>
          <a:p>
            <a:r>
              <a:t>        ],</a:t>
            </a:r>
          </a:p>
          <a:p>
            <a:r>
              <a:t>        "comparison": {</a:t>
            </a:r>
          </a:p>
          <a:p>
            <a:r>
              <a:t>          "daily": {</a:t>
            </a:r>
          </a:p>
          <a:p>
            <a:r>
              <a:t>            "after": 10993.25,</a:t>
            </a:r>
          </a:p>
          <a:p>
            <a:r>
              <a:t>            "before": 9390.333333333334,</a:t>
            </a:r>
          </a:p>
          <a:p>
            <a:r>
              <a:t>            "change_pct": 17.069859074935213,</a:t>
            </a:r>
          </a:p>
          <a:p>
            <a:r>
              <a:t>            "difference": 1602.916666666666</a:t>
            </a:r>
          </a:p>
          <a:p>
            <a:r>
              <a:t>          },</a:t>
            </a:r>
          </a:p>
          <a:p>
            <a:r>
              <a:t>          "total": {</a:t>
            </a:r>
          </a:p>
          <a:p>
            <a:r>
              <a:t>            "after": 43973,</a:t>
            </a:r>
          </a:p>
          <a:p>
            <a:r>
              <a:t>            "before": 28171,</a:t>
            </a:r>
          </a:p>
          <a:p>
            <a:r>
              <a:t>            "change_pct": 56.093145433246946,</a:t>
            </a:r>
          </a:p>
          <a:p>
            <a:r>
              <a:t>            "difference": 15802</a:t>
            </a:r>
          </a:p>
          <a:p>
            <a:r>
              <a:t>          },</a:t>
            </a:r>
          </a:p>
          <a:p>
            <a:r>
              <a:t>          "outside": {</a:t>
            </a:r>
          </a:p>
          <a:p>
            <a:r>
              <a:t>            "after": 28269,</a:t>
            </a:r>
          </a:p>
          <a:p>
            <a:r>
              <a:t>            "before": 14880,</a:t>
            </a:r>
          </a:p>
          <a:p>
            <a:r>
              <a:t>            "change_pct": 89.97983870967742,</a:t>
            </a:r>
          </a:p>
          <a:p>
            <a:r>
              <a:t>            "difference": 13389</a:t>
            </a:r>
          </a:p>
          <a:p>
            <a:r>
              <a:t>          },</a:t>
            </a:r>
          </a:p>
          <a:p>
            <a:r>
              <a:t>          "after_days": 4,</a:t>
            </a:r>
          </a:p>
          <a:p>
            <a:r>
              <a:t>          "after_year": 2025,</a:t>
            </a:r>
          </a:p>
          <a:p>
            <a:r>
              <a:t>          "before_days": 3,</a:t>
            </a:r>
          </a:p>
          <a:p>
            <a:r>
              <a:t>          "before_year": 2024,</a:t>
            </a:r>
          </a:p>
          <a:p>
            <a:r>
              <a:t>          "outside_daily": {</a:t>
            </a:r>
          </a:p>
          <a:p>
            <a:r>
              <a:t>            "after": 7067.25,</a:t>
            </a:r>
          </a:p>
          <a:p>
            <a:r>
              <a:t>            "before": 4960,</a:t>
            </a:r>
          </a:p>
          <a:p>
            <a:r>
              <a:t>            "change_pct": 42.484879032258064,</a:t>
            </a:r>
          </a:p>
          <a:p>
            <a:r>
              <a:t>            "difference": 2107.25</a:t>
            </a:r>
          </a:p>
          <a:p>
            <a:r>
              <a:t>          }</a:t>
            </a:r>
          </a:p>
          <a:p>
            <a:r>
              <a:t>        },</a:t>
            </a:r>
          </a:p>
          <a:p>
            <a:r>
              <a:t>        "source_file":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"0.568",</a:t>
            </a:r>
          </a:p>
          <a:p>
            <a:r>
              <a:t>            "축제명": "진도신비의바닷길축제",</a:t>
            </a:r>
          </a:p>
          <a:p>
            <a:r>
              <a:t>            "개최년도": "2025"</a:t>
            </a:r>
          </a:p>
          <a:p>
            <a:r>
              <a:t>          },</a:t>
            </a:r>
          </a:p>
          <a:p>
            <a:r>
              <a:t>          {</a:t>
            </a:r>
          </a:p>
          <a:p>
            <a:r>
              <a:t>            "구분명": "현지인방문자 유입",</a:t>
            </a:r>
          </a:p>
          <a:p>
            <a:r>
              <a:t>            "그룹명": "축제기간",</a:t>
            </a:r>
          </a:p>
          <a:p>
            <a:r>
              <a:t>            "지표값": "0.858",</a:t>
            </a:r>
          </a:p>
          <a:p>
            <a:r>
              <a:t>            "축제명": "진도신비의바닷길축제",</a:t>
            </a:r>
          </a:p>
          <a:p>
            <a:r>
              <a:t>            "개최년도": "2025"</a:t>
            </a:r>
          </a:p>
          <a:p>
            <a:r>
              <a:t>          },</a:t>
            </a:r>
          </a:p>
          <a:p>
            <a:r>
              <a:t>          {</a:t>
            </a:r>
          </a:p>
          <a:p>
            <a:r>
              <a:t>            "구분명": "내비게이션 검색량",</a:t>
            </a:r>
          </a:p>
          <a:p>
            <a:r>
              <a:t>            "그룹명": "축제기간",</a:t>
            </a:r>
          </a:p>
          <a:p>
            <a:r>
              <a:t>            "지표값": "0.513",</a:t>
            </a:r>
          </a:p>
          <a:p>
            <a:r>
              <a:t>            "축제명": "진도신비의바닷길축제",</a:t>
            </a:r>
          </a:p>
          <a:p>
            <a:r>
              <a:t>            "개최년도": "2025"</a:t>
            </a:r>
          </a:p>
          <a:p>
            <a:r>
              <a:t>          },</a:t>
            </a:r>
          </a:p>
          <a:p>
            <a:r>
              <a:t>          {</a:t>
            </a:r>
          </a:p>
          <a:p>
            <a:r>
              <a:t>            "구분명": "관광소비",</a:t>
            </a:r>
          </a:p>
          <a:p>
            <a:r>
              <a:t>            "그룹명": "축제기간",</a:t>
            </a:r>
          </a:p>
          <a:p>
            <a:r>
              <a:t>            "지표값": "0.283",</a:t>
            </a:r>
          </a:p>
          <a:p>
            <a:r>
              <a:t>            "축제명": "진도신비의바닷길축제",</a:t>
            </a:r>
          </a:p>
          <a:p>
            <a:r>
              <a:t>            "개최년도": "2025"</a:t>
            </a:r>
          </a:p>
          <a:p>
            <a:r>
              <a:t>          },</a:t>
            </a:r>
          </a:p>
          <a:p>
            <a:r>
              <a:t>          {</a:t>
            </a:r>
          </a:p>
          <a:p>
            <a:r>
              <a:t>            "구분명": "축제지 집중률",</a:t>
            </a:r>
          </a:p>
          <a:p>
            <a:r>
              <a:t>            "그룹명": "축제기간",</a:t>
            </a:r>
          </a:p>
          <a:p>
            <a:r>
              <a:t>            "지표값": "0.791",</a:t>
            </a:r>
          </a:p>
          <a:p>
            <a:r>
              <a:t>            "축제명": "진도신비의바닷길축제",</a:t>
            </a:r>
          </a:p>
          <a:p>
            <a:r>
              <a:t>            "개최년도": "2025"</a:t>
            </a:r>
          </a:p>
          <a:p>
            <a:r>
              <a:t>          },</a:t>
            </a:r>
          </a:p>
          <a:p>
            <a:r>
              <a:t>          {</a:t>
            </a:r>
          </a:p>
          <a:p>
            <a:r>
              <a:t>            "구분명": "외부방문자 유입",</a:t>
            </a:r>
          </a:p>
          <a:p>
            <a:r>
              <a:t>            "그룹명": "비축제기간",</a:t>
            </a:r>
          </a:p>
          <a:p>
            <a:r>
              <a:t>            "지표값": "0.137",</a:t>
            </a:r>
          </a:p>
          <a:p>
            <a:r>
              <a:t>            "축제명": "진도신비의바닷길축제",</a:t>
            </a:r>
          </a:p>
          <a:p>
            <a:r>
              <a:t>            "개최년도": "2025"</a:t>
            </a:r>
          </a:p>
          <a:p>
            <a:r>
              <a:t>          },</a:t>
            </a:r>
          </a:p>
          <a:p>
            <a:r>
              <a:t>          {</a:t>
            </a:r>
          </a:p>
          <a:p>
            <a:r>
              <a:t>            "구분명": "현지인방문자 유입",</a:t>
            </a:r>
          </a:p>
          <a:p>
            <a:r>
              <a:t>            "그룹명": "비축제기간",</a:t>
            </a:r>
          </a:p>
          <a:p>
            <a:r>
              <a:t>            "지표값": "0.472",</a:t>
            </a:r>
          </a:p>
          <a:p>
            <a:r>
              <a:t>            "축제명": "진도신비의바닷길축제",</a:t>
            </a:r>
          </a:p>
          <a:p>
            <a:r>
              <a:t>            "개최년도": "2025"</a:t>
            </a:r>
          </a:p>
          <a:p>
            <a:r>
              <a:t>          },</a:t>
            </a:r>
          </a:p>
          <a:p>
            <a:r>
              <a:t>          {</a:t>
            </a:r>
          </a:p>
          <a:p>
            <a:r>
              <a:t>            "구분명": "내비게이션 검색량",</a:t>
            </a:r>
          </a:p>
          <a:p>
            <a:r>
              <a:t>            "그룹명": "비축제기간",</a:t>
            </a:r>
          </a:p>
          <a:p>
            <a:r>
              <a:t>            "지표값": "0.06",</a:t>
            </a:r>
          </a:p>
          <a:p>
            <a:r>
              <a:t>            "축제명": "진도신비의바닷길축제",</a:t>
            </a:r>
          </a:p>
          <a:p>
            <a:r>
              <a:t>            "개최년도": "2025"</a:t>
            </a:r>
          </a:p>
          <a:p>
            <a:r>
              <a:t>          },</a:t>
            </a:r>
          </a:p>
          <a:p>
            <a:r>
              <a:t>          {</a:t>
            </a:r>
          </a:p>
          <a:p>
            <a:r>
              <a:t>            "구분명": "관광소비",</a:t>
            </a:r>
          </a:p>
          <a:p>
            <a:r>
              <a:t>            "그룹명": "비축제기간",</a:t>
            </a:r>
          </a:p>
          <a:p>
            <a:r>
              <a:t>            "지표값": "0.212",</a:t>
            </a:r>
          </a:p>
          <a:p>
            <a:r>
              <a:t>            "축제명": "진도신비의바닷길축제",</a:t>
            </a:r>
          </a:p>
          <a:p>
            <a:r>
              <a:t>            "개최년도": "2025"</a:t>
            </a:r>
          </a:p>
          <a:p>
            <a:r>
              <a:t>          },</a:t>
            </a:r>
          </a:p>
          <a:p>
            <a:r>
              <a:t>          {</a:t>
            </a:r>
          </a:p>
          <a:p>
            <a:r>
              <a:t>            "구분명": "축제지 집중률",</a:t>
            </a:r>
          </a:p>
          <a:p>
            <a:r>
              <a:t>            "그룹명": "비축제기간",</a:t>
            </a:r>
          </a:p>
          <a:p>
            <a:r>
              <a:t>            "지표값": "0.269",</a:t>
            </a:r>
          </a:p>
          <a:p>
            <a:r>
              <a:t>            "축제명": "진도신비의바닷길축제",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"진도신비의바닷길축제",</a:t>
            </a:r>
          </a:p>
          <a:p>
            <a:r>
              <a:t>            "카테고리": "기타문화관광지",</a:t>
            </a:r>
          </a:p>
          <a:p>
            <a:r>
              <a:t>            "도로명주소": "전남 진도군 신비의바닷길 74-0"</a:t>
            </a:r>
          </a:p>
          <a:p>
            <a:r>
              <a:t>          },</a:t>
            </a:r>
          </a:p>
          <a:p>
            <a:r>
              <a:t>          {</a:t>
            </a:r>
          </a:p>
          <a:p>
            <a:r>
              <a:t>            "구분": "외지인",</a:t>
            </a:r>
          </a:p>
          <a:p>
            <a:r>
              <a:t>            "순위": "2",</a:t>
            </a:r>
          </a:p>
          <a:p>
            <a:r>
              <a:t>            "목적지명": "진도신비의바닷길",</a:t>
            </a:r>
          </a:p>
          <a:p>
            <a:r>
              <a:t>            "카테고리": "테마공원",</a:t>
            </a:r>
          </a:p>
          <a:p>
            <a:r>
              <a:t>            "도로명주소": "전남 진도군"</a:t>
            </a:r>
          </a:p>
          <a:p>
            <a:r>
              <a:t>          },</a:t>
            </a:r>
          </a:p>
          <a:p>
            <a:r>
              <a:t>          {</a:t>
            </a:r>
          </a:p>
          <a:p>
            <a:r>
              <a:t>            "구분": "외지인",</a:t>
            </a:r>
          </a:p>
          <a:p>
            <a:r>
              <a:t>            "순위": "3",</a:t>
            </a:r>
          </a:p>
          <a:p>
            <a:r>
              <a:t>            "목적지명": "가계해변",</a:t>
            </a:r>
          </a:p>
          <a:p>
            <a:r>
              <a:t>            "카테고리": "자연경관(하천/해양)",</a:t>
            </a:r>
          </a:p>
          <a:p>
            <a:r>
              <a:t>            "도로명주소": "전남 진도군 신비의바닷길 0-0"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"한국관광 데이터랩 · 통영한산대첩축제 방문자 추이",</a:t>
            </a:r>
          </a:p>
          <a:p>
            <a:r>
              <a:t>      "summary": "경상남도 통영시 · 통영한산대첩축제 · 2024→2025년 전체 93,221→124,718명 (+33.79%). 개최 6→7일, 일평균 +14.67%, 외지인 +33.21%.",</a:t>
            </a:r>
          </a:p>
          <a:p>
            <a:r>
              <a:t>      "source_id": "case:festival:1ffc3eec28956a",</a:t>
            </a:r>
          </a:p>
          <a:p>
            <a:r>
              <a:t>      "source_url": "https://datalab.visitkorea.or.kr/",</a:t>
            </a:r>
          </a:p>
          <a:p>
            <a:r>
              <a:t>      "case_region": "경상남도 통영시",</a:t>
            </a:r>
          </a:p>
          <a:p>
            <a:r>
              <a:t>      "source_type": "benchmark_case",</a:t>
            </a:r>
          </a:p>
          <a:p>
            <a:r>
              <a:t>      "dataset_hash": "ad20e3daf70fd44fd481d672398c07bb9c96fce77acb450784065a568735e2e2",</a:t>
            </a:r>
          </a:p>
          <a:p>
            <a:r>
              <a:t>      "intervention": "통영한산대첩축제",</a:t>
            </a:r>
          </a:p>
          <a:p>
            <a:r>
              <a:t>      "source_files": [</a:t>
            </a:r>
          </a:p>
          <a:p>
            <a:r>
              <a:t>        {</a:t>
            </a:r>
          </a:p>
          <a:p>
            <a:r>
              <a:t>          "sha256": "ec35e7537d4da1ed72dd60617fec143558f280299aeb303bc8b7a1036ecc73f0",</a:t>
            </a:r>
          </a:p>
          <a:p>
            <a:r>
              <a:t>          "provider": "한국관광 데이터랩",</a:t>
            </a:r>
          </a:p>
          <a:p>
            <a:r>
              <a:t>          "file_name": "20260820183544_통영한산대첩축제_연도별 방문자 추이.csv",</a:t>
            </a:r>
          </a:p>
          <a:p>
            <a:r>
              <a:t>          "source_id": "festival-file:ec35e7537d4da1ed72dd",</a:t>
            </a:r>
          </a:p>
          <a:p>
            <a:r>
              <a:t>          "source_url": "https://datalab.visitkorea.or.kr/",</a:t>
            </a:r>
          </a:p>
          <a:p>
            <a:r>
              <a:t>          "downloaded_at": "2026-08-20",</a:t>
            </a:r>
          </a:p>
          <a:p>
            <a:r>
              <a:t>          "relative_path": "data/source_snapshots/festivals_20260820/81. 통영한산대첩축제_2023-2025/20260820183544_통영한산대첩축제_연도별 방문자 추이.csv",</a:t>
            </a:r>
          </a:p>
          <a:p>
            <a:r>
              <a:t>          "provenance_status": "team_download_exact_query_url_unrecorded"</a:t>
            </a:r>
          </a:p>
          <a:p>
            <a:r>
              <a:t>        },</a:t>
            </a:r>
          </a:p>
          <a:p>
            <a:r>
              <a:t>        {</a:t>
            </a:r>
          </a:p>
          <a:p>
            <a:r>
              <a:t>          "sha256": "77b41103f7ab3a48a3a94baa36227391bc47069fafcf8cc68a36662ec60fd43d",</a:t>
            </a:r>
          </a:p>
          <a:p>
            <a:r>
              <a:t>          "provider": "한국관광 데이터랩",</a:t>
            </a:r>
          </a:p>
          <a:p>
            <a:r>
              <a:t>          "file_name": "20260820183544_통영한산대첩축제_성_연령별 내국인 방문자.csv",</a:t>
            </a:r>
          </a:p>
          <a:p>
            <a:r>
              <a:t>          "source_id": "festival-file:77b41103f7ab3a48a3a9",</a:t>
            </a:r>
          </a:p>
          <a:p>
            <a:r>
              <a:t>          "source_url": "https://datalab.visitkorea.or.kr/",</a:t>
            </a:r>
          </a:p>
          <a:p>
            <a:r>
              <a:t>          "downloaded_at": "2026-08-20",</a:t>
            </a:r>
          </a:p>
          <a:p>
            <a:r>
              <a:t>          "relative_path": "data/source_snapshots/festivals_20260820/81. 통영한산대첩축제_2023-2025/20260820183544_통영한산대첩축제_성_연령별 내국인 방문자.csv",</a:t>
            </a:r>
          </a:p>
          <a:p>
            <a:r>
              <a:t>          "provenance_status": "team_download_exact_query_url_unrecorded"</a:t>
            </a:r>
          </a:p>
          <a:p>
            <a:r>
              <a:t>        },</a:t>
            </a:r>
          </a:p>
          <a:p>
            <a:r>
              <a:t>        {</a:t>
            </a:r>
          </a:p>
          <a:p>
            <a:r>
              <a:t>          "sha256": "5457f819bd8704a9d5b81a24337c2a40c45bbcf7435e0a751139a5457627bdd4",</a:t>
            </a:r>
          </a:p>
          <a:p>
            <a:r>
              <a:t>          "provider": "한국관광 데이터랩",</a:t>
            </a:r>
          </a:p>
          <a:p>
            <a:r>
              <a:t>          "file_name": "20260820183544_통영한산대첩축제_문화관광축제 주요 지표.csv",</a:t>
            </a:r>
          </a:p>
          <a:p>
            <a:r>
              <a:t>          "source_id": "festival-file:5457f819bd8704a9d5b8",</a:t>
            </a:r>
          </a:p>
          <a:p>
            <a:r>
              <a:t>          "source_url": "https://datalab.visitkorea.or.kr/",</a:t>
            </a:r>
          </a:p>
          <a:p>
            <a:r>
              <a:t>          "downloaded_at": "2026-08-20",</a:t>
            </a:r>
          </a:p>
          <a:p>
            <a:r>
              <a:t>          "relative_path": "data/source_snapshots/festivals_20260820/81. 통영한산대첩축제_2023-2025/20260820183544_통영한산대첩축제_문화관광축제 주요 지표.csv",</a:t>
            </a:r>
          </a:p>
          <a:p>
            <a:r>
              <a:t>          "provenance_status": "team_download_exact_query_url_unrecorded"</a:t>
            </a:r>
          </a:p>
          <a:p>
            <a:r>
              <a:t>        },</a:t>
            </a:r>
          </a:p>
          <a:p>
            <a:r>
              <a:t>        {</a:t>
            </a:r>
          </a:p>
          <a:p>
            <a:r>
              <a:t>          "sha256": "3b2a6e862dd8337a7616d3cdb3f568c6fdb24be706918eb7f02d965d625ca746",</a:t>
            </a:r>
          </a:p>
          <a:p>
            <a:r>
              <a:t>          "provider": "한국관광 데이터랩",</a:t>
            </a:r>
          </a:p>
          <a:p>
            <a:r>
              <a:t>          "file_name": "20260820183544_통영한산대첩축제_목적지 검색순위.csv",</a:t>
            </a:r>
          </a:p>
          <a:p>
            <a:r>
              <a:t>          "source_id": "festival-file:3b2a6e862dd8337a7616",</a:t>
            </a:r>
          </a:p>
          <a:p>
            <a:r>
              <a:t>          "source_url": "https://datalab.visitkorea.or.kr/",</a:t>
            </a:r>
          </a:p>
          <a:p>
            <a:r>
              <a:t>          "downloaded_at": "2026-08-20",</a:t>
            </a:r>
          </a:p>
          <a:p>
            <a:r>
              <a:t>          "relative_path": "data/source_snapshots/festivals_20260820/81. 통영한산대첩축제_2023-2025/20260820183544_통영한산대첩축제_목적지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93,221→124,718명 (+33.79%). 개최 6→7일, 일평균 +14.67%, 외지인 +33.21%.",</a:t>
            </a:r>
          </a:p>
          <a:p>
            <a:r>
              <a:t>      "operating_model": "통영한산대첩축제를 2025년 7일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"지역문화",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"통영한산대첩축제",</a:t>
            </a:r>
          </a:p>
          <a:p>
            <a:r>
              <a:t>        "scope": "축제 관측구역 방문 지표. 도시 전체·순증 관광객·입장권 실구매자 수가 아님.",</a:t>
            </a:r>
          </a:p>
          <a:p>
            <a:r>
              <a:t>        "annual": [</a:t>
            </a:r>
          </a:p>
          <a:p>
            <a:r>
              <a:t>          {</a:t>
            </a:r>
          </a:p>
          <a:p>
            <a:r>
              <a:t>            "days": 9,</a:t>
            </a:r>
          </a:p>
          <a:p>
            <a:r>
              <a:t>            "year": 2023,</a:t>
            </a:r>
          </a:p>
          <a:p>
            <a:r>
              <a:t>            "daily": 11745.444444444443,</a:t>
            </a:r>
          </a:p>
          <a:p>
            <a:r>
              <a:t>            "local": 57810,</a:t>
            </a:r>
          </a:p>
          <a:p>
            <a:r>
              <a:t>            "total": 105709,</a:t>
            </a:r>
          </a:p>
          <a:p>
            <a:r>
              <a:t>            "foreign": 455,</a:t>
            </a:r>
          </a:p>
          <a:p>
            <a:r>
              <a:t>            "outside": 47444,</a:t>
            </a:r>
          </a:p>
          <a:p>
            <a:r>
              <a:t>            "outside_daily": 5271.555555555556,</a:t>
            </a:r>
          </a:p>
          <a:p>
            <a:r>
              <a:t>            "outside_share_pct": 44.88170354463669</a:t>
            </a:r>
          </a:p>
          <a:p>
            <a:r>
              <a:t>          },</a:t>
            </a:r>
          </a:p>
          <a:p>
            <a:r>
              <a:t>          {</a:t>
            </a:r>
          </a:p>
          <a:p>
            <a:r>
              <a:t>            "days": 6,</a:t>
            </a:r>
          </a:p>
          <a:p>
            <a:r>
              <a:t>            "year": 2024,</a:t>
            </a:r>
          </a:p>
          <a:p>
            <a:r>
              <a:t>            "daily": 15536.833333333334,</a:t>
            </a:r>
          </a:p>
          <a:p>
            <a:r>
              <a:t>            "local": 52493,</a:t>
            </a:r>
          </a:p>
          <a:p>
            <a:r>
              <a:t>            "total": 93221,</a:t>
            </a:r>
          </a:p>
          <a:p>
            <a:r>
              <a:t>            "foreign": 394,</a:t>
            </a:r>
          </a:p>
          <a:p>
            <a:r>
              <a:t>            "outside": 40334,</a:t>
            </a:r>
          </a:p>
          <a:p>
            <a:r>
              <a:t>            "outside_daily": 6722.333333333333,</a:t>
            </a:r>
          </a:p>
          <a:p>
            <a:r>
              <a:t>            "outside_share_pct": 43.26707501528625</a:t>
            </a:r>
          </a:p>
          <a:p>
            <a:r>
              <a:t>          },</a:t>
            </a:r>
          </a:p>
          <a:p>
            <a:r>
              <a:t>          {</a:t>
            </a:r>
          </a:p>
          <a:p>
            <a:r>
              <a:t>            "days": 7,</a:t>
            </a:r>
          </a:p>
          <a:p>
            <a:r>
              <a:t>            "year": 2025,</a:t>
            </a:r>
          </a:p>
          <a:p>
            <a:r>
              <a:t>            "daily": 17816.85714285714,</a:t>
            </a:r>
          </a:p>
          <a:p>
            <a:r>
              <a:t>            "local": 70201,</a:t>
            </a:r>
          </a:p>
          <a:p>
            <a:r>
              <a:t>            "total": 124718,</a:t>
            </a:r>
          </a:p>
          <a:p>
            <a:r>
              <a:t>            "foreign": 787,</a:t>
            </a:r>
          </a:p>
          <a:p>
            <a:r>
              <a:t>            "outside": 53730,</a:t>
            </a:r>
          </a:p>
          <a:p>
            <a:r>
              <a:t>            "outside_daily": 7675.714285714285,</a:t>
            </a:r>
          </a:p>
          <a:p>
            <a:r>
              <a:t>            "outside_share_pct": 43.08119116727337</a:t>
            </a:r>
          </a:p>
          <a:p>
            <a:r>
              <a:t>          }</a:t>
            </a:r>
          </a:p>
          <a:p>
            <a:r>
              <a:t>        ],</a:t>
            </a:r>
          </a:p>
          <a:p>
            <a:r>
              <a:t>        "audience": [</a:t>
            </a:r>
          </a:p>
          <a:p>
            <a:r>
              <a:t>          {</a:t>
            </a:r>
          </a:p>
          <a:p>
            <a:r>
              <a:t>            "연령대": "70세 이상",</a:t>
            </a:r>
          </a:p>
          <a:p>
            <a:r>
              <a:t>            "축제명": "통영한산대첩축제",</a:t>
            </a:r>
          </a:p>
          <a:p>
            <a:r>
              <a:t>            "남성비율": "5.2",</a:t>
            </a:r>
          </a:p>
          <a:p>
            <a:r>
              <a:t>            "여성비율": "5.7"</a:t>
            </a:r>
          </a:p>
          <a:p>
            <a:r>
              <a:t>          },</a:t>
            </a:r>
          </a:p>
          <a:p>
            <a:r>
              <a:t>          {</a:t>
            </a:r>
          </a:p>
          <a:p>
            <a:r>
              <a:t>            "연령대": "60~69세",</a:t>
            </a:r>
          </a:p>
          <a:p>
            <a:r>
              <a:t>            "축제명": "통영한산대첩축제",</a:t>
            </a:r>
          </a:p>
          <a:p>
            <a:r>
              <a:t>            "남성비율": "11.0",</a:t>
            </a:r>
          </a:p>
          <a:p>
            <a:r>
              <a:t>            "여성비율": "11.5"</a:t>
            </a:r>
          </a:p>
          <a:p>
            <a:r>
              <a:t>          },</a:t>
            </a:r>
          </a:p>
          <a:p>
            <a:r>
              <a:t>          {</a:t>
            </a:r>
          </a:p>
          <a:p>
            <a:r>
              <a:t>            "연령대": "50~59세",</a:t>
            </a:r>
          </a:p>
          <a:p>
            <a:r>
              <a:t>            "축제명": "통영한산대첩축제",</a:t>
            </a:r>
          </a:p>
          <a:p>
            <a:r>
              <a:t>            "남성비율": "11.1",</a:t>
            </a:r>
          </a:p>
          <a:p>
            <a:r>
              <a:t>            "여성비율": "10.9"</a:t>
            </a:r>
          </a:p>
          <a:p>
            <a:r>
              <a:t>          },</a:t>
            </a:r>
          </a:p>
          <a:p>
            <a:r>
              <a:t>          {</a:t>
            </a:r>
          </a:p>
          <a:p>
            <a:r>
              <a:t>            "연령대": "40~49세",</a:t>
            </a:r>
          </a:p>
          <a:p>
            <a:r>
              <a:t>            "축제명": "통영한산대첩축제",</a:t>
            </a:r>
          </a:p>
          <a:p>
            <a:r>
              <a:t>            "남성비율": "8.0",</a:t>
            </a:r>
          </a:p>
          <a:p>
            <a:r>
              <a:t>            "여성비율": "7.7"</a:t>
            </a:r>
          </a:p>
          <a:p>
            <a:r>
              <a:t>          },</a:t>
            </a:r>
          </a:p>
          <a:p>
            <a:r>
              <a:t>          {</a:t>
            </a:r>
          </a:p>
          <a:p>
            <a:r>
              <a:t>            "연령대": "30~39세",</a:t>
            </a:r>
          </a:p>
          <a:p>
            <a:r>
              <a:t>            "축제명": "통영한산대첩축제",</a:t>
            </a:r>
          </a:p>
          <a:p>
            <a:r>
              <a:t>            "남성비율": "6.3",</a:t>
            </a:r>
          </a:p>
          <a:p>
            <a:r>
              <a:t>            "여성비율": "5.6"</a:t>
            </a:r>
          </a:p>
          <a:p>
            <a:r>
              <a:t>          },</a:t>
            </a:r>
          </a:p>
          <a:p>
            <a:r>
              <a:t>          {</a:t>
            </a:r>
          </a:p>
          <a:p>
            <a:r>
              <a:t>            "연령대": "20~29세",</a:t>
            </a:r>
          </a:p>
          <a:p>
            <a:r>
              <a:t>            "축제명": "통영한산대첩축제",</a:t>
            </a:r>
          </a:p>
          <a:p>
            <a:r>
              <a:t>            "남성비율": "5.4",</a:t>
            </a:r>
          </a:p>
          <a:p>
            <a:r>
              <a:t>            "여성비율": "4.4"</a:t>
            </a:r>
          </a:p>
          <a:p>
            <a:r>
              <a:t>          },</a:t>
            </a:r>
          </a:p>
          <a:p>
            <a:r>
              <a:t>          {</a:t>
            </a:r>
          </a:p>
          <a:p>
            <a:r>
              <a:t>            "연령대": "10~19세",</a:t>
            </a:r>
          </a:p>
          <a:p>
            <a:r>
              <a:t>            "축제명": "통영한산대첩축제",</a:t>
            </a:r>
          </a:p>
          <a:p>
            <a:r>
              <a:t>            "남성비율": "2.8",</a:t>
            </a:r>
          </a:p>
          <a:p>
            <a:r>
              <a:t>            "여성비율": "3.1"</a:t>
            </a:r>
          </a:p>
          <a:p>
            <a:r>
              <a:t>          },</a:t>
            </a:r>
          </a:p>
          <a:p>
            <a:r>
              <a:t>          {</a:t>
            </a:r>
          </a:p>
          <a:p>
            <a:r>
              <a:t>            "연령대": "0~9세",</a:t>
            </a:r>
          </a:p>
          <a:p>
            <a:r>
              <a:t>            "축제명": "통영한산대첩축제",</a:t>
            </a:r>
          </a:p>
          <a:p>
            <a:r>
              <a:t>            "남성비율": "0.5",</a:t>
            </a:r>
          </a:p>
          <a:p>
            <a:r>
              <a:t>            "여성비율": "0.6"</a:t>
            </a:r>
          </a:p>
          <a:p>
            <a:r>
              <a:t>          }</a:t>
            </a:r>
          </a:p>
          <a:p>
            <a:r>
              <a:t>        ],</a:t>
            </a:r>
          </a:p>
          <a:p>
            <a:r>
              <a:t>        "comparison": {</a:t>
            </a:r>
          </a:p>
          <a:p>
            <a:r>
              <a:t>          "daily": {</a:t>
            </a:r>
          </a:p>
          <a:p>
            <a:r>
              <a:t>            "after": 17816.85714285714,</a:t>
            </a:r>
          </a:p>
          <a:p>
            <a:r>
              <a:t>            "before": 15536.833333333334,</a:t>
            </a:r>
          </a:p>
          <a:p>
            <a:r>
              <a:t>            "change_pct": 14.674958278867244,</a:t>
            </a:r>
          </a:p>
          <a:p>
            <a:r>
              <a:t>            "difference": 2280.0238095238074</a:t>
            </a:r>
          </a:p>
          <a:p>
            <a:r>
              <a:t>          },</a:t>
            </a:r>
          </a:p>
          <a:p>
            <a:r>
              <a:t>          "total": {</a:t>
            </a:r>
          </a:p>
          <a:p>
            <a:r>
              <a:t>            "after": 124718,</a:t>
            </a:r>
          </a:p>
          <a:p>
            <a:r>
              <a:t>            "before": 93221,</a:t>
            </a:r>
          </a:p>
          <a:p>
            <a:r>
              <a:t>            "change_pct": 33.78745132534515,</a:t>
            </a:r>
          </a:p>
          <a:p>
            <a:r>
              <a:t>            "difference": 31497</a:t>
            </a:r>
          </a:p>
          <a:p>
            <a:r>
              <a:t>          },</a:t>
            </a:r>
          </a:p>
          <a:p>
            <a:r>
              <a:t>          "outside": {</a:t>
            </a:r>
          </a:p>
          <a:p>
            <a:r>
              <a:t>            "after": 53730,</a:t>
            </a:r>
          </a:p>
          <a:p>
            <a:r>
              <a:t>            "before": 40334,</a:t>
            </a:r>
          </a:p>
          <a:p>
            <a:r>
              <a:t>            "change_pct": 33.21267417067486,</a:t>
            </a:r>
          </a:p>
          <a:p>
            <a:r>
              <a:t>            "difference": 13396</a:t>
            </a:r>
          </a:p>
          <a:p>
            <a:r>
              <a:t>          },</a:t>
            </a:r>
          </a:p>
          <a:p>
            <a:r>
              <a:t>          "after_days": 7,</a:t>
            </a:r>
          </a:p>
          <a:p>
            <a:r>
              <a:t>          "after_year": 2025,</a:t>
            </a:r>
          </a:p>
          <a:p>
            <a:r>
              <a:t>          "before_days": 6,</a:t>
            </a:r>
          </a:p>
          <a:p>
            <a:r>
              <a:t>          "before_year": 2024,</a:t>
            </a:r>
          </a:p>
          <a:p>
            <a:r>
              <a:t>          "outside_daily": {</a:t>
            </a:r>
          </a:p>
          <a:p>
            <a:r>
              <a:t>            "after": 7675.714285714285,</a:t>
            </a:r>
          </a:p>
          <a:p>
            <a:r>
              <a:t>            "before": 6722.333333333333,</a:t>
            </a:r>
          </a:p>
          <a:p>
            <a:r>
              <a:t>            "change_pct": 14.182292146292742,</a:t>
            </a:r>
          </a:p>
          <a:p>
            <a:r>
              <a:t>            "difference": 953.3809523809524</a:t>
            </a:r>
          </a:p>
          <a:p>
            <a:r>
              <a:t>          }</a:t>
            </a:r>
          </a:p>
          <a:p>
            <a:r>
              <a:t>        },</a:t>
            </a:r>
          </a:p>
          <a:p>
            <a:r>
              <a:t>        "source_file": {</a:t>
            </a:r>
          </a:p>
          <a:p>
            <a:r>
              <a:t>          "sha256": "ec35e7537d4da1ed72dd60617fec143558f280299aeb303bc8b7a1036ecc73f0",</a:t>
            </a:r>
          </a:p>
          <a:p>
            <a:r>
              <a:t>          "provider": "한국관광 데이터랩",</a:t>
            </a:r>
          </a:p>
          <a:p>
            <a:r>
              <a:t>          "file_name": "20260820183544_통영한산대첩축제_연도별 방문자 추이.csv",</a:t>
            </a:r>
          </a:p>
          <a:p>
            <a:r>
              <a:t>          "source_id": "festival-file:ec35e7537d4da1ed72dd",</a:t>
            </a:r>
          </a:p>
          <a:p>
            <a:r>
              <a:t>          "source_url": "https://datalab.visitkorea.or.kr/",</a:t>
            </a:r>
          </a:p>
          <a:p>
            <a:r>
              <a:t>          "downloaded_at": "2026-08-20",</a:t>
            </a:r>
          </a:p>
          <a:p>
            <a:r>
              <a:t>          "relative_path": "data/source_snapshots/festivals_20260820/81. 통영한산대첩축제_2023-2025/20260820183544_통영한산대첩축제_연도별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"0.309",</a:t>
            </a:r>
          </a:p>
          <a:p>
            <a:r>
              <a:t>            "축제명": "통영한산대첩축제",</a:t>
            </a:r>
          </a:p>
          <a:p>
            <a:r>
              <a:t>            "개최년도": "2025"</a:t>
            </a:r>
          </a:p>
          <a:p>
            <a:r>
              <a:t>          },</a:t>
            </a:r>
          </a:p>
          <a:p>
            <a:r>
              <a:t>          {</a:t>
            </a:r>
          </a:p>
          <a:p>
            <a:r>
              <a:t>            "구분명": "현지인방문자 유입",</a:t>
            </a:r>
          </a:p>
          <a:p>
            <a:r>
              <a:t>            "그룹명": "축제기간",</a:t>
            </a:r>
          </a:p>
          <a:p>
            <a:r>
              <a:t>            "지표값": "0.731",</a:t>
            </a:r>
          </a:p>
          <a:p>
            <a:r>
              <a:t>            "축제명": "통영한산대첩축제",</a:t>
            </a:r>
          </a:p>
          <a:p>
            <a:r>
              <a:t>            "개최년도": "2025"</a:t>
            </a:r>
          </a:p>
          <a:p>
            <a:r>
              <a:t>          },</a:t>
            </a:r>
          </a:p>
          <a:p>
            <a:r>
              <a:t>          {</a:t>
            </a:r>
          </a:p>
          <a:p>
            <a:r>
              <a:t>            "구분명": "내비게이션 검색량",</a:t>
            </a:r>
          </a:p>
          <a:p>
            <a:r>
              <a:t>            "그룹명": "축제기간",</a:t>
            </a:r>
          </a:p>
          <a:p>
            <a:r>
              <a:t>            "지표값": "0.228",</a:t>
            </a:r>
          </a:p>
          <a:p>
            <a:r>
              <a:t>            "축제명": "통영한산대첩축제",</a:t>
            </a:r>
          </a:p>
          <a:p>
            <a:r>
              <a:t>            "개최년도": "2025"</a:t>
            </a:r>
          </a:p>
          <a:p>
            <a:r>
              <a:t>          },</a:t>
            </a:r>
          </a:p>
          <a:p>
            <a:r>
              <a:t>          {</a:t>
            </a:r>
          </a:p>
          <a:p>
            <a:r>
              <a:t>            "구분명": "관광소비",</a:t>
            </a:r>
          </a:p>
          <a:p>
            <a:r>
              <a:t>            "그룹명": "축제기간",</a:t>
            </a:r>
          </a:p>
          <a:p>
            <a:r>
              <a:t>            "지표값": "0.313",</a:t>
            </a:r>
          </a:p>
          <a:p>
            <a:r>
              <a:t>            "축제명": "통영한산대첩축제",</a:t>
            </a:r>
          </a:p>
          <a:p>
            <a:r>
              <a:t>            "개최년도": "2025"</a:t>
            </a:r>
          </a:p>
          <a:p>
            <a:r>
              <a:t>          },</a:t>
            </a:r>
          </a:p>
          <a:p>
            <a:r>
              <a:t>          {</a:t>
            </a:r>
          </a:p>
          <a:p>
            <a:r>
              <a:t>            "구분명": "축제지 집중률",</a:t>
            </a:r>
          </a:p>
          <a:p>
            <a:r>
              <a:t>            "그룹명": "축제기간",</a:t>
            </a:r>
          </a:p>
          <a:p>
            <a:r>
              <a:t>            "지표값": "0.766",</a:t>
            </a:r>
          </a:p>
          <a:p>
            <a:r>
              <a:t>            "축제명": "통영한산대첩축제",</a:t>
            </a:r>
          </a:p>
          <a:p>
            <a:r>
              <a:t>            "개최년도": "2025"</a:t>
            </a:r>
          </a:p>
          <a:p>
            <a:r>
              <a:t>          },</a:t>
            </a:r>
          </a:p>
          <a:p>
            <a:r>
              <a:t>          {</a:t>
            </a:r>
          </a:p>
          <a:p>
            <a:r>
              <a:t>            "구분명": "외부방문자 유입",</a:t>
            </a:r>
          </a:p>
          <a:p>
            <a:r>
              <a:t>            "그룹명": "비축제기간",</a:t>
            </a:r>
          </a:p>
          <a:p>
            <a:r>
              <a:t>            "지표값": "0.244",</a:t>
            </a:r>
          </a:p>
          <a:p>
            <a:r>
              <a:t>            "축제명": "통영한산대첩축제",</a:t>
            </a:r>
          </a:p>
          <a:p>
            <a:r>
              <a:t>            "개최년도": "2025"</a:t>
            </a:r>
          </a:p>
          <a:p>
            <a:r>
              <a:t>          },</a:t>
            </a:r>
          </a:p>
          <a:p>
            <a:r>
              <a:t>          {</a:t>
            </a:r>
          </a:p>
          <a:p>
            <a:r>
              <a:t>            "구분명": "현지인방문자 유입",</a:t>
            </a:r>
          </a:p>
          <a:p>
            <a:r>
              <a:t>            "그룹명": "비축제기간",</a:t>
            </a:r>
          </a:p>
          <a:p>
            <a:r>
              <a:t>            "지표값": "0.586",</a:t>
            </a:r>
          </a:p>
          <a:p>
            <a:r>
              <a:t>            "축제명": "통영한산대첩축제",</a:t>
            </a:r>
          </a:p>
          <a:p>
            <a:r>
              <a:t>            "개최년도": "2025"</a:t>
            </a:r>
          </a:p>
          <a:p>
            <a:r>
              <a:t>          },</a:t>
            </a:r>
          </a:p>
          <a:p>
            <a:r>
              <a:t>          {</a:t>
            </a:r>
          </a:p>
          <a:p>
            <a:r>
              <a:t>            "구분명": "내비게이션 검색량",</a:t>
            </a:r>
          </a:p>
          <a:p>
            <a:r>
              <a:t>            "그룹명": "비축제기간",</a:t>
            </a:r>
          </a:p>
          <a:p>
            <a:r>
              <a:t>            "지표값": "0.206",</a:t>
            </a:r>
          </a:p>
          <a:p>
            <a:r>
              <a:t>            "축제명": "통영한산대첩축제",</a:t>
            </a:r>
          </a:p>
          <a:p>
            <a:r>
              <a:t>            "개최년도": "2025"</a:t>
            </a:r>
          </a:p>
          <a:p>
            <a:r>
              <a:t>          },</a:t>
            </a:r>
          </a:p>
          <a:p>
            <a:r>
              <a:t>          {</a:t>
            </a:r>
          </a:p>
          <a:p>
            <a:r>
              <a:t>            "구분명": "관광소비",</a:t>
            </a:r>
          </a:p>
          <a:p>
            <a:r>
              <a:t>            "그룹명": "비축제기간",</a:t>
            </a:r>
          </a:p>
          <a:p>
            <a:r>
              <a:t>            "지표값": "0.312",</a:t>
            </a:r>
          </a:p>
          <a:p>
            <a:r>
              <a:t>            "축제명": "통영한산대첩축제",</a:t>
            </a:r>
          </a:p>
          <a:p>
            <a:r>
              <a:t>            "개최년도": "2025"</a:t>
            </a:r>
          </a:p>
          <a:p>
            <a:r>
              <a:t>          },</a:t>
            </a:r>
          </a:p>
          <a:p>
            <a:r>
              <a:t>          {</a:t>
            </a:r>
          </a:p>
          <a:p>
            <a:r>
              <a:t>            "구분명": "축제지 집중률",</a:t>
            </a:r>
          </a:p>
          <a:p>
            <a:r>
              <a:t>            "그룹명": "비축제기간",</a:t>
            </a:r>
          </a:p>
          <a:p>
            <a:r>
              <a:t>            "지표값": "0.595",</a:t>
            </a:r>
          </a:p>
          <a:p>
            <a:r>
              <a:t>            "축제명": "통영한산대첩축제",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"통영중앙전통시장",</a:t>
            </a:r>
          </a:p>
          <a:p>
            <a:r>
              <a:t>            "카테고리": "시장",</a:t>
            </a:r>
          </a:p>
          <a:p>
            <a:r>
              <a:t>            "도로명주소": "경남 통영시 중앙시장1길 14-16"</a:t>
            </a:r>
          </a:p>
          <a:p>
            <a:r>
              <a:t>          },</a:t>
            </a:r>
          </a:p>
          <a:p>
            <a:r>
              <a:t>          {</a:t>
            </a:r>
          </a:p>
          <a:p>
            <a:r>
              <a:t>            "구분": "외지인",</a:t>
            </a:r>
          </a:p>
          <a:p>
            <a:r>
              <a:t>            "순위": "2",</a:t>
            </a:r>
          </a:p>
          <a:p>
            <a:r>
              <a:t>            "목적지명": "동피랑벽화마을",</a:t>
            </a:r>
          </a:p>
          <a:p>
            <a:r>
              <a:t>            "카테고리": "기타관광",</a:t>
            </a:r>
          </a:p>
          <a:p>
            <a:r>
              <a:t>            "도로명주소": "경남 통영시 동피랑1길 6-18"</a:t>
            </a:r>
          </a:p>
          <a:p>
            <a:r>
              <a:t>          },</a:t>
            </a:r>
          </a:p>
          <a:p>
            <a:r>
              <a:t>          {</a:t>
            </a:r>
          </a:p>
          <a:p>
            <a:r>
              <a:t>            "구분": "외지인",</a:t>
            </a:r>
          </a:p>
          <a:p>
            <a:r>
              <a:t>            "순위": "3",</a:t>
            </a:r>
          </a:p>
          <a:p>
            <a:r>
              <a:t>            "목적지명": "통영한산대첩축제(한산대첩광장)",</a:t>
            </a:r>
          </a:p>
          <a:p>
            <a:r>
              <a:t>            "카테고리": "기타문화관광지",</a:t>
            </a:r>
          </a:p>
          <a:p>
            <a:r>
              <a:t>            "도로명주소": "경남 통영시 통영해안로 267-0"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4998578.0,</a:t>
            </a:r>
          </a:p>
          <a:p>
            <a:r>
              <a:t>        "is_forecast": true,</a:t>
            </a:r>
          </a:p>
          <a:p>
            <a:r>
              <a:t>        "spending_krw": 79359374710.0,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4940348.0,</a:t>
            </a:r>
          </a:p>
          <a:p>
            <a:r>
              <a:t>        "is_forecast": true,</a:t>
            </a:r>
          </a:p>
          <a:p>
            <a:r>
              <a:t>        "spending_krw": 85971975908.0,</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4989633.0,</a:t>
            </a:r>
          </a:p>
          <a:p>
            <a:r>
              <a:t>        "is_forecast": true,</a:t>
            </a:r>
          </a:p>
          <a:p>
            <a:r>
              <a:t>        "spending_krw": 81033922052.0,</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4982887,</a:t>
            </a:r>
          </a:p>
          <a:p>
            <a:r>
              <a:t>      "is_forecast": true,</a:t>
            </a:r>
          </a:p>
          <a:p>
            <a:r>
              <a:t>      "spending_krw": 80283647550,</a:t>
            </a:r>
          </a:p>
          <a:p>
            <a:r>
              <a:t>      "stay_minutes": 1223.0,</a:t>
            </a:r>
          </a:p>
          <a:p>
            <a:r>
              <a:t>      "lodging_nights": 2.91,</a:t>
            </a:r>
          </a:p>
          <a:p>
            <a:r>
              <a:t>      "lodging_rate_pct": 7.3,</a:t>
            </a:r>
          </a:p>
          <a:p>
            <a:r>
              <a:t>      "lodging_searches": 12843,</a:t>
            </a:r>
          </a:p>
          <a:p>
            <a:r>
              <a:t>      "navigation_searches": 209722,</a:t>
            </a:r>
          </a:p>
          <a:p>
            <a:r>
              <a:t>      "visitor_yoy_percent": 0.64,</a:t>
            </a:r>
          </a:p>
          <a:p>
            <a:r>
              <a:t>      "spending_yoy_percent": 6.85,</a:t>
            </a:r>
          </a:p>
          <a:p>
            <a:r>
              <a:t>      "metric_changes_percent": {</a:t>
            </a:r>
          </a:p>
          <a:p>
            <a:r>
              <a:t>        "stay_minutes": 0.0,</a:t>
            </a:r>
          </a:p>
          <a:p>
            <a:r>
              <a:t>        "lodging_nights": 0.0,</a:t>
            </a:r>
          </a:p>
          <a:p>
            <a:r>
              <a:t>        "lodging_rate_pct": 0.0,</a:t>
            </a:r>
          </a:p>
          <a:p>
            <a:r>
              <a:t>        "lodging_searches": 0.0,</a:t>
            </a:r>
          </a:p>
          <a:p>
            <a:r>
              <a:t>        "navigation_searches": -0.44</a:t>
            </a:r>
          </a:p>
          <a:p>
            <a:r>
              <a:t>      },</a:t>
            </a:r>
          </a:p>
          <a:p>
            <a:r>
              <a:t>      "previous_year_visitors": 4951150,</a:t>
            </a:r>
          </a:p>
          <a:p>
            <a:r>
              <a:t>      "previous_year_spending_krw": 75135145000,</a:t>
            </a:r>
          </a:p>
          <a:p>
            <a:r>
              <a:t>      "previous_year_stay_minutes": 1223.0,</a:t>
            </a:r>
          </a:p>
          <a:p>
            <a:r>
              <a:t>      "previous_year_lodging_nights": 2.91,</a:t>
            </a:r>
          </a:p>
          <a:p>
            <a:r>
              <a:t>      "previous_year_lodging_rate_pct": 7.3,</a:t>
            </a:r>
          </a:p>
          <a:p>
            <a:r>
              <a:t>      "previous_year_lodging_searches": 12843,</a:t>
            </a:r>
          </a:p>
          <a:p>
            <a:r>
              <a:t>      "previous_year_navigation_searches": 210646</a:t>
            </a:r>
          </a:p>
          <a:p>
            <a:r>
              <a:t>    },</a:t>
            </a:r>
          </a:p>
          <a:p>
            <a:r>
              <a:t>    {</a:t>
            </a:r>
          </a:p>
          <a:p>
            <a:r>
              <a:t>      "month": "202608",</a:t>
            </a:r>
          </a:p>
          <a:p>
            <a:r>
              <a:t>      "visitors": 4852547,</a:t>
            </a:r>
          </a:p>
          <a:p>
            <a:r>
              <a:t>      "is_forecast": true,</a:t>
            </a:r>
          </a:p>
          <a:p>
            <a:r>
              <a:t>      "spending_krw": 76665340753,</a:t>
            </a:r>
          </a:p>
          <a:p>
            <a:r>
              <a:t>      "stay_minutes": 1218.0,</a:t>
            </a:r>
          </a:p>
          <a:p>
            <a:r>
              <a:t>      "lodging_nights": 2.84,</a:t>
            </a:r>
          </a:p>
          <a:p>
            <a:r>
              <a:t>      "lodging_rate_pct": 7.9,</a:t>
            </a:r>
          </a:p>
          <a:p>
            <a:r>
              <a:t>      "lodging_searches": 13272,</a:t>
            </a:r>
          </a:p>
          <a:p>
            <a:r>
              <a:t>      "navigation_searches": 225159,</a:t>
            </a:r>
          </a:p>
          <a:p>
            <a:r>
              <a:t>      "visitor_yoy_percent": -1.76,</a:t>
            </a:r>
          </a:p>
          <a:p>
            <a:r>
              <a:t>      "spending_yoy_percent": 0.49,</a:t>
            </a:r>
          </a:p>
          <a:p>
            <a:r>
              <a:t>      "metric_changes_percent": {</a:t>
            </a:r>
          </a:p>
          <a:p>
            <a:r>
              <a:t>        "stay_minutes": 0.0,</a:t>
            </a:r>
          </a:p>
          <a:p>
            <a:r>
              <a:t>        "lodging_nights": 0.0,</a:t>
            </a:r>
          </a:p>
          <a:p>
            <a:r>
              <a:t>        "lodging_rate_pct": 0.0,</a:t>
            </a:r>
          </a:p>
          <a:p>
            <a:r>
              <a:t>        "lodging_searches": 0.0,</a:t>
            </a:r>
          </a:p>
          <a:p>
            <a:r>
              <a:t>        "navigation_searches": 2.0</a:t>
            </a:r>
          </a:p>
          <a:p>
            <a:r>
              <a:t>      },</a:t>
            </a:r>
          </a:p>
          <a:p>
            <a:r>
              <a:t>      "previous_year_visitors": 4939438,</a:t>
            </a:r>
          </a:p>
          <a:p>
            <a:r>
              <a:t>      "previous_year_spending_krw": 76291079000,</a:t>
            </a:r>
          </a:p>
          <a:p>
            <a:r>
              <a:t>      "previous_year_stay_minutes": 1218.0,</a:t>
            </a:r>
          </a:p>
          <a:p>
            <a:r>
              <a:t>      "previous_year_lodging_nights": 2.84,</a:t>
            </a:r>
          </a:p>
          <a:p>
            <a:r>
              <a:t>      "previous_year_lodging_rate_pct": 7.9,</a:t>
            </a:r>
          </a:p>
          <a:p>
            <a:r>
              <a:t>      "previous_year_lodging_searches": 13272,</a:t>
            </a:r>
          </a:p>
          <a:p>
            <a:r>
              <a:t>      "previous_year_navigation_searches": 220742</a:t>
            </a:r>
          </a:p>
          <a:p>
            <a:r>
              <a:t>    },</a:t>
            </a:r>
          </a:p>
          <a:p>
            <a:r>
              <a:t>    {</a:t>
            </a:r>
          </a:p>
          <a:p>
            <a:r>
              <a:t>      "month": "202609",</a:t>
            </a:r>
          </a:p>
          <a:p>
            <a:r>
              <a:t>      "visitors": 4823300,</a:t>
            </a:r>
          </a:p>
          <a:p>
            <a:r>
              <a:t>      "is_forecast": true,</a:t>
            </a:r>
          </a:p>
          <a:p>
            <a:r>
              <a:t>      "spending_krw": 80194062490,</a:t>
            </a:r>
          </a:p>
          <a:p>
            <a:r>
              <a:t>      "stay_minutes": 1281.0,</a:t>
            </a:r>
          </a:p>
          <a:p>
            <a:r>
              <a:t>      "lodging_nights": 2.93,</a:t>
            </a:r>
          </a:p>
          <a:p>
            <a:r>
              <a:t>      "lodging_rate_pct": 6.7,</a:t>
            </a:r>
          </a:p>
          <a:p>
            <a:r>
              <a:t>      "lodging_searches": 11464,</a:t>
            </a:r>
          </a:p>
          <a:p>
            <a:r>
              <a:t>      "navigation_searches": 206180,</a:t>
            </a:r>
          </a:p>
          <a:p>
            <a:r>
              <a:t>      "visitor_yoy_percent": -0.39,</a:t>
            </a:r>
          </a:p>
          <a:p>
            <a:r>
              <a:t>      "spending_yoy_percent": 13.32,</a:t>
            </a:r>
          </a:p>
          <a:p>
            <a:r>
              <a:t>      "metric_changes_percent": {</a:t>
            </a:r>
          </a:p>
          <a:p>
            <a:r>
              <a:t>        "stay_minutes": 0.0,</a:t>
            </a:r>
          </a:p>
          <a:p>
            <a:r>
              <a:t>        "lodging_nights": 0.0,</a:t>
            </a:r>
          </a:p>
          <a:p>
            <a:r>
              <a:t>        "lodging_rate_pct": 0.0,</a:t>
            </a:r>
          </a:p>
          <a:p>
            <a:r>
              <a:t>        "lodging_searches": 0.0,</a:t>
            </a:r>
          </a:p>
          <a:p>
            <a:r>
              <a:t>        "navigation_searches": 7.4</a:t>
            </a:r>
          </a:p>
          <a:p>
            <a:r>
              <a:t>      },</a:t>
            </a:r>
          </a:p>
          <a:p>
            <a:r>
              <a:t>      "previous_year_visitors": 4842196,</a:t>
            </a:r>
          </a:p>
          <a:p>
            <a:r>
              <a:t>      "previous_year_spending_krw": 70764730000,</a:t>
            </a:r>
          </a:p>
          <a:p>
            <a:r>
              <a:t>      "previous_year_stay_minutes": 1281.0,</a:t>
            </a:r>
          </a:p>
          <a:p>
            <a:r>
              <a:t>      "previous_year_lodging_nights": 2.93,</a:t>
            </a:r>
          </a:p>
          <a:p>
            <a:r>
              <a:t>      "previous_year_lodging_rate_pct": 6.7,</a:t>
            </a:r>
          </a:p>
          <a:p>
            <a:r>
              <a:t>      "previous_year_lodging_searches": 11464,</a:t>
            </a:r>
          </a:p>
          <a:p>
            <a:r>
              <a:t>      "previous_year_navigation_searches": 191971</a:t>
            </a:r>
          </a:p>
          <a:p>
            <a:r>
              <a:t>    },</a:t>
            </a:r>
          </a:p>
          <a:p>
            <a:r>
              <a:t>    {</a:t>
            </a:r>
          </a:p>
          <a:p>
            <a:r>
              <a:t>      "month": "202610",</a:t>
            </a:r>
          </a:p>
          <a:p>
            <a:r>
              <a:t>      "visitors": 4998578,</a:t>
            </a:r>
          </a:p>
          <a:p>
            <a:r>
              <a:t>      "is_forecast": true,</a:t>
            </a:r>
          </a:p>
          <a:p>
            <a:r>
              <a:t>      "spending_krw": 79359374710,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a:t>
            </a:r>
          </a:p>
          <a:p>
            <a:r>
              <a:t>      "is_forecast": true,</a:t>
            </a:r>
          </a:p>
          <a:p>
            <a:r>
              <a:t>      "spending_krw": 85971975908,</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a:t>
            </a:r>
          </a:p>
          <a:p>
            <a:r>
              <a:t>      "is_forecast": true,</a:t>
            </a:r>
          </a:p>
          <a:p>
            <a:r>
              <a:t>      "spending_krw": 81033922052,</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"evaluation": {</a:t>
            </a:r>
          </a:p>
          <a:p>
            <a:r>
              <a:t>    "metrics": {</a:t>
            </a:r>
          </a:p>
          <a:p>
            <a:r>
              <a:t>      "visitors": {</a:t>
            </a:r>
          </a:p>
          <a:p>
            <a:r>
              <a:t>        "test_mae": 237105.53,</a:t>
            </a:r>
          </a:p>
          <a:p>
            <a:r>
              <a:t>        "recursive_mae": {</a:t>
            </a:r>
          </a:p>
          <a:p>
            <a:r>
              <a:t>          "1": {</a:t>
            </a:r>
          </a:p>
          <a:p>
            <a:r>
              <a:t>            "baseline": 211072,</a:t>
            </a:r>
          </a:p>
          <a:p>
            <a:r>
              <a:t>            "selected": 332727,</a:t>
            </a:r>
          </a:p>
          <a:p>
            <a:r>
              <a:t>            "sample_count": 2</a:t>
            </a:r>
          </a:p>
          <a:p>
            <a:r>
              <a:t>          },</a:t>
            </a:r>
          </a:p>
          <a:p>
            <a:r>
              <a:t>          "2": {</a:t>
            </a:r>
          </a:p>
          <a:p>
            <a:r>
              <a:t>            "baseline": 97043,</a:t>
            </a:r>
          </a:p>
          <a:p>
            <a:r>
              <a:t>            "selected": 141143.5,</a:t>
            </a:r>
          </a:p>
          <a:p>
            <a:r>
              <a:t>            "sample_count": 2</a:t>
            </a:r>
          </a:p>
          <a:p>
            <a:r>
              <a:t>          },</a:t>
            </a:r>
          </a:p>
          <a:p>
            <a:r>
              <a:t>          "3": {</a:t>
            </a:r>
          </a:p>
          <a:p>
            <a:r>
              <a:t>            "baseline": 174799,</a:t>
            </a:r>
          </a:p>
          <a:p>
            <a:r>
              <a:t>            "selected": 168591.5,</a:t>
            </a:r>
          </a:p>
          <a:p>
            <a:r>
              <a:t>            "sample_count": 2</a:t>
            </a:r>
          </a:p>
          <a:p>
            <a:r>
              <a:t>          }</a:t>
            </a:r>
          </a:p>
          <a:p>
            <a:r>
              <a:t>        },</a:t>
            </a:r>
          </a:p>
          <a:p>
            <a:r>
              <a:t>        "selected_model": "RandomForestRegressor",</a:t>
            </a:r>
          </a:p>
          <a:p>
            <a:r>
              <a:t>        "baseline_test_mae": 192935.5,</a:t>
            </a:r>
          </a:p>
          <a:p>
            <a:r>
              <a:t>        "model_reliability": "below_baseline_on_test",</a:t>
            </a:r>
          </a:p>
          <a:p>
            <a:r>
              <a:t>        "beats_baseline_on_test": false,</a:t>
            </a:r>
          </a:p>
          <a:p>
            <a:r>
              <a:t>        "recursive_horizons_worse_than_baseline": [</a:t>
            </a:r>
          </a:p>
          <a:p>
            <a:r>
              <a:t>          "1",</a:t>
            </a:r>
          </a:p>
          <a:p>
            <a:r>
              <a:t>          "2"</a:t>
            </a:r>
          </a:p>
          <a:p>
            <a:r>
              <a:t>        ]</a:t>
            </a:r>
          </a:p>
          <a:p>
            <a:r>
              <a:t>      },</a:t>
            </a:r>
          </a:p>
          <a:p>
            <a:r>
              <a:t>      "spending_krw": {</a:t>
            </a:r>
          </a:p>
          <a:p>
            <a:r>
              <a:t>        "test_mae": 4927867951.9,</a:t>
            </a:r>
          </a:p>
          <a:p>
            <a:r>
              <a:t>        "recursive_mae": {</a:t>
            </a:r>
          </a:p>
          <a:p>
            <a:r>
              <a:t>          "1": {</a:t>
            </a:r>
          </a:p>
          <a:p>
            <a:r>
              <a:t>            "baseline": 1944140500,</a:t>
            </a:r>
          </a:p>
          <a:p>
            <a:r>
              <a:t>            "selected": 3237755191,</a:t>
            </a:r>
          </a:p>
          <a:p>
            <a:r>
              <a:t>            "sample_count": 2</a:t>
            </a:r>
          </a:p>
          <a:p>
            <a:r>
              <a:t>          },</a:t>
            </a:r>
          </a:p>
          <a:p>
            <a:r>
              <a:t>          "2": {</a:t>
            </a:r>
          </a:p>
          <a:p>
            <a:r>
              <a:t>            "baseline": 3984052500,</a:t>
            </a:r>
          </a:p>
          <a:p>
            <a:r>
              <a:t>            "selected": 1581504765.5,</a:t>
            </a:r>
          </a:p>
          <a:p>
            <a:r>
              <a:t>            "sample_count": 2</a:t>
            </a:r>
          </a:p>
          <a:p>
            <a:r>
              <a:t>          },</a:t>
            </a:r>
          </a:p>
          <a:p>
            <a:r>
              <a:t>          "3": {</a:t>
            </a:r>
          </a:p>
          <a:p>
            <a:r>
              <a:t>            "baseline": 2878173500,</a:t>
            </a:r>
          </a:p>
          <a:p>
            <a:r>
              <a:t>            "selected": 4493524184.5,</a:t>
            </a:r>
          </a:p>
          <a:p>
            <a:r>
              <a:t>            "sample_count": 2</a:t>
            </a:r>
          </a:p>
          <a:p>
            <a:r>
              <a:t>          }</a:t>
            </a:r>
          </a:p>
          <a:p>
            <a:r>
              <a:t>        },</a:t>
            </a:r>
          </a:p>
          <a:p>
            <a:r>
              <a:t>        "selected_model": "LinearRegression",</a:t>
            </a:r>
          </a:p>
          <a:p>
            <a:r>
              <a:t>        "baseline_test_mae": 2411157000,</a:t>
            </a:r>
          </a:p>
          <a:p>
            <a:r>
              <a:t>        "model_reliability": "below_baseline_on_test",</a:t>
            </a:r>
          </a:p>
          <a:p>
            <a:r>
              <a:t>        "beats_baseline_on_test": false,</a:t>
            </a:r>
          </a:p>
          <a:p>
            <a:r>
              <a:t>        "recursive_horizons_worse_than_baseline": [</a:t>
            </a:r>
          </a:p>
          <a:p>
            <a:r>
              <a:t>          "1",</a:t>
            </a:r>
          </a:p>
          <a:p>
            <a:r>
              <a:t>          "3"</a:t>
            </a:r>
          </a:p>
          <a:p>
            <a:r>
              <a:t>        ]</a:t>
            </a:r>
          </a:p>
          <a:p>
            <a:r>
              <a:t>      },</a:t>
            </a:r>
          </a:p>
          <a:p>
            <a:r>
              <a:t>      "stay_minutes": {</a:t>
            </a:r>
          </a:p>
          <a:p>
            <a:r>
              <a:t>        "test_mae": 113.5,</a:t>
            </a:r>
          </a:p>
          <a:p>
            <a:r>
              <a:t>        "recursive_mae": {</a:t>
            </a:r>
          </a:p>
          <a:p>
            <a:r>
              <a:t>          "1": {</a:t>
            </a:r>
          </a:p>
          <a:p>
            <a:r>
              <a:t>            "baseline": 52,</a:t>
            </a:r>
          </a:p>
          <a:p>
            <a:r>
              <a:t>            "selected": 52,</a:t>
            </a:r>
          </a:p>
          <a:p>
            <a:r>
              <a:t>            "sample_count": 2</a:t>
            </a:r>
          </a:p>
          <a:p>
            <a:r>
              <a:t>          },</a:t>
            </a:r>
          </a:p>
          <a:p>
            <a:r>
              <a:t>          "2": {</a:t>
            </a:r>
          </a:p>
          <a:p>
            <a:r>
              <a:t>            "baseline": 218.5,</a:t>
            </a:r>
          </a:p>
          <a:p>
            <a:r>
              <a:t>            "selected": 218.5,</a:t>
            </a:r>
          </a:p>
          <a:p>
            <a:r>
              <a:t>            "sample_count": 2</a:t>
            </a:r>
          </a:p>
          <a:p>
            <a:r>
              <a:t>          },</a:t>
            </a:r>
          </a:p>
          <a:p>
            <a:r>
              <a:t>          "3": {</a:t>
            </a:r>
          </a:p>
          <a:p>
            <a:r>
              <a:t>            "baseline": 175,</a:t>
            </a:r>
          </a:p>
          <a:p>
            <a:r>
              <a:t>            "selected": 175,</a:t>
            </a:r>
          </a:p>
          <a:p>
            <a:r>
              <a:t>            "sample_count": 2</a:t>
            </a:r>
          </a:p>
          <a:p>
            <a:r>
              <a:t>          }</a:t>
            </a:r>
          </a:p>
          <a:p>
            <a:r>
              <a:t>        },</a:t>
            </a:r>
          </a:p>
          <a:p>
            <a:r>
              <a:t>        "selected_model": "seasonal_naive_previous_year_same_month",</a:t>
            </a:r>
          </a:p>
          <a:p>
            <a:r>
              <a:t>        "baseline_test_mae": 113.5,</a:t>
            </a:r>
          </a:p>
          <a:p>
            <a:r>
              <a:t>        "model_reliability": "seasonal_baseline",</a:t>
            </a:r>
          </a:p>
          <a:p>
            <a:r>
              <a:t>        "beats_baseline_on_test": false,</a:t>
            </a:r>
          </a:p>
          <a:p>
            <a:r>
              <a:t>        "recursive_horizons_worse_than_baseline": []</a:t>
            </a:r>
          </a:p>
          <a:p>
            <a:r>
              <a:t>      },</a:t>
            </a:r>
          </a:p>
          <a:p>
            <a:r>
              <a:t>      "lodging_nights": {</a:t>
            </a:r>
          </a:p>
          <a:p>
            <a:r>
              <a:t>        "test_mae": 0.07,</a:t>
            </a:r>
          </a:p>
          <a:p>
            <a:r>
              <a:t>        "recursive_mae": {</a:t>
            </a:r>
          </a:p>
          <a:p>
            <a:r>
              <a:t>          "1": {</a:t>
            </a:r>
          </a:p>
          <a:p>
            <a:r>
              <a:t>            "baseline": 0.06,</a:t>
            </a:r>
          </a:p>
          <a:p>
            <a:r>
              <a:t>            "selected": 0.06,</a:t>
            </a:r>
          </a:p>
          <a:p>
            <a:r>
              <a:t>            "sample_count": 2</a:t>
            </a:r>
          </a:p>
          <a:p>
            <a:r>
              <a:t>          },</a:t>
            </a:r>
          </a:p>
          <a:p>
            <a:r>
              <a:t>          "2": {</a:t>
            </a:r>
          </a:p>
          <a:p>
            <a:r>
              <a:t>            "baseline": 0.11,</a:t>
            </a:r>
          </a:p>
          <a:p>
            <a:r>
              <a:t>            "selected": 0.11,</a:t>
            </a:r>
          </a:p>
          <a:p>
            <a:r>
              <a:t>            "sample_count": 2</a:t>
            </a:r>
          </a:p>
          <a:p>
            <a:r>
              <a:t>          },</a:t>
            </a:r>
          </a:p>
          <a:p>
            <a:r>
              <a:t>          "3": {</a:t>
            </a:r>
          </a:p>
          <a:p>
            <a:r>
              <a:t>            "baseline": 0.08,</a:t>
            </a:r>
          </a:p>
          <a:p>
            <a:r>
              <a:t>            "selected": 0.08,</a:t>
            </a:r>
          </a:p>
          <a:p>
            <a:r>
              <a:t>            "sample_count": 2</a:t>
            </a:r>
          </a:p>
          <a:p>
            <a:r>
              <a:t>          }</a:t>
            </a:r>
          </a:p>
          <a:p>
            <a:r>
              <a:t>        },</a:t>
            </a:r>
          </a:p>
          <a:p>
            <a:r>
              <a:t>        "selected_model": "seasonal_naive_previous_year_same_month",</a:t>
            </a:r>
          </a:p>
          <a:p>
            <a:r>
              <a:t>        "baseline_test_mae": 0.07,</a:t>
            </a:r>
          </a:p>
          <a:p>
            <a:r>
              <a:t>        "model_reliability": "seasonal_baseline",</a:t>
            </a:r>
          </a:p>
          <a:p>
            <a:r>
              <a:t>        "beats_baseline_on_test": false,</a:t>
            </a:r>
          </a:p>
          <a:p>
            <a:r>
              <a:t>        "recursive_horizons_worse_than_baseline": []</a:t>
            </a:r>
          </a:p>
          <a:p>
            <a:r>
              <a:t>      },</a:t>
            </a:r>
          </a:p>
          <a:p>
            <a:r>
              <a:t>      "lodging_rate_pct": {</a:t>
            </a:r>
          </a:p>
          <a:p>
            <a:r>
              <a:t>        "test_mae": 0.3,</a:t>
            </a:r>
          </a:p>
          <a:p>
            <a:r>
              <a:t>        "recursive_mae": {</a:t>
            </a:r>
          </a:p>
          <a:p>
            <a:r>
              <a:t>          "1": {</a:t>
            </a:r>
          </a:p>
          <a:p>
            <a:r>
              <a:t>            "baseline": 0.4,</a:t>
            </a:r>
          </a:p>
          <a:p>
            <a:r>
              <a:t>            "selected": 0.4,</a:t>
            </a:r>
          </a:p>
          <a:p>
            <a:r>
              <a:t>            "sample_count": 2</a:t>
            </a:r>
          </a:p>
          <a:p>
            <a:r>
              <a:t>          },</a:t>
            </a:r>
          </a:p>
          <a:p>
            <a:r>
              <a:t>          "2": {</a:t>
            </a:r>
          </a:p>
          <a:p>
            <a:r>
              <a:t>            "baseline": 0.2,</a:t>
            </a:r>
          </a:p>
          <a:p>
            <a:r>
              <a:t>            "selected": 0.2,</a:t>
            </a:r>
          </a:p>
          <a:p>
            <a:r>
              <a:t>            "sample_count": 2</a:t>
            </a:r>
          </a:p>
          <a:p>
            <a:r>
              <a:t>          },</a:t>
            </a:r>
          </a:p>
          <a:p>
            <a:r>
              <a:t>          "3": {</a:t>
            </a:r>
          </a:p>
          <a:p>
            <a:r>
              <a:t>            "baseline": 0.2,</a:t>
            </a:r>
          </a:p>
          <a:p>
            <a:r>
              <a:t>            "selected": 0.2,</a:t>
            </a:r>
          </a:p>
          <a:p>
            <a:r>
              <a:t>            "sample_count": 2</a:t>
            </a:r>
          </a:p>
          <a:p>
            <a:r>
              <a:t>          }</a:t>
            </a:r>
          </a:p>
          <a:p>
            <a:r>
              <a:t>        },</a:t>
            </a:r>
          </a:p>
          <a:p>
            <a:r>
              <a:t>        "selected_model": "seasonal_naive_previous_year_same_month",</a:t>
            </a:r>
          </a:p>
          <a:p>
            <a:r>
              <a:t>        "baseline_test_mae": 0.3,</a:t>
            </a:r>
          </a:p>
          <a:p>
            <a:r>
              <a:t>        "model_reliability": "seasonal_baseline",</a:t>
            </a:r>
          </a:p>
          <a:p>
            <a:r>
              <a:t>        "beats_baseline_on_test": false,</a:t>
            </a:r>
          </a:p>
          <a:p>
            <a:r>
              <a:t>        "recursive_horizons_worse_than_baseline": []</a:t>
            </a:r>
          </a:p>
          <a:p>
            <a:r>
              <a:t>      },</a:t>
            </a:r>
          </a:p>
          <a:p>
            <a:r>
              <a:t>      "lodging_searches": {</a:t>
            </a:r>
          </a:p>
          <a:p>
            <a:r>
              <a:t>        "test_mae": 526.5,</a:t>
            </a:r>
          </a:p>
          <a:p>
            <a:r>
              <a:t>        "recursive_mae": {</a:t>
            </a:r>
          </a:p>
          <a:p>
            <a:r>
              <a:t>          "1": {</a:t>
            </a:r>
          </a:p>
          <a:p>
            <a:r>
              <a:t>            "baseline": 779,</a:t>
            </a:r>
          </a:p>
          <a:p>
            <a:r>
              <a:t>            "selected": 779,</a:t>
            </a:r>
          </a:p>
          <a:p>
            <a:r>
              <a:t>            "sample_count": 2</a:t>
            </a:r>
          </a:p>
          <a:p>
            <a:r>
              <a:t>          },</a:t>
            </a:r>
          </a:p>
          <a:p>
            <a:r>
              <a:t>          "2": {</a:t>
            </a:r>
          </a:p>
          <a:p>
            <a:r>
              <a:t>            "baseline": 391.5,</a:t>
            </a:r>
          </a:p>
          <a:p>
            <a:r>
              <a:t>            "selected": 391.5,</a:t>
            </a:r>
          </a:p>
          <a:p>
            <a:r>
              <a:t>            "sample_count": 2</a:t>
            </a:r>
          </a:p>
          <a:p>
            <a:r>
              <a:t>          },</a:t>
            </a:r>
          </a:p>
          <a:p>
            <a:r>
              <a:t>          "3": {</a:t>
            </a:r>
          </a:p>
          <a:p>
            <a:r>
              <a:t>            "baseline": 274,</a:t>
            </a:r>
          </a:p>
          <a:p>
            <a:r>
              <a:t>            "selected": 274,</a:t>
            </a:r>
          </a:p>
          <a:p>
            <a:r>
              <a:t>            "sample_count": 2</a:t>
            </a:r>
          </a:p>
          <a:p>
            <a:r>
              <a:t>          }</a:t>
            </a:r>
          </a:p>
          <a:p>
            <a:r>
              <a:t>        },</a:t>
            </a:r>
          </a:p>
          <a:p>
            <a:r>
              <a:t>        "selected_model": "seasonal_naive_previous_year_same_month",</a:t>
            </a:r>
          </a:p>
          <a:p>
            <a:r>
              <a:t>        "baseline_test_mae": 526.5,</a:t>
            </a:r>
          </a:p>
          <a:p>
            <a:r>
              <a:t>        "model_reliability": "seasonal_baseline",</a:t>
            </a:r>
          </a:p>
          <a:p>
            <a:r>
              <a:t>        "beats_baseline_on_test": false,</a:t>
            </a:r>
          </a:p>
          <a:p>
            <a:r>
              <a:t>        "recursive_horizons_worse_than_baseline": []</a:t>
            </a:r>
          </a:p>
          <a:p>
            <a:r>
              <a:t>      },</a:t>
            </a:r>
          </a:p>
          <a:p>
            <a:r>
              <a:t>      "navigation_searches": {</a:t>
            </a:r>
          </a:p>
          <a:p>
            <a:r>
              <a:t>        "test_mae": 20482.57,</a:t>
            </a:r>
          </a:p>
          <a:p>
            <a:r>
              <a:t>        "recursive_mae": {</a:t>
            </a:r>
          </a:p>
          <a:p>
            <a:r>
              <a:t>          "1": {</a:t>
            </a:r>
          </a:p>
          <a:p>
            <a:r>
              <a:t>            "baseline": 9487,</a:t>
            </a:r>
          </a:p>
          <a:p>
            <a:r>
              <a:t>            "selected": 20785,</a:t>
            </a:r>
          </a:p>
          <a:p>
            <a:r>
              <a:t>            "sample_count": 2</a:t>
            </a:r>
          </a:p>
          <a:p>
            <a:r>
              <a:t>          },</a:t>
            </a:r>
          </a:p>
          <a:p>
            <a:r>
              <a:t>          "2": {</a:t>
            </a:r>
          </a:p>
          <a:p>
            <a:r>
              <a:t>            "baseline": 6758.5,</a:t>
            </a:r>
          </a:p>
          <a:p>
            <a:r>
              <a:t>            "selected": 14198,</a:t>
            </a:r>
          </a:p>
          <a:p>
            <a:r>
              <a:t>            "sample_count": 2</a:t>
            </a:r>
          </a:p>
          <a:p>
            <a:r>
              <a:t>          },</a:t>
            </a:r>
          </a:p>
          <a:p>
            <a:r>
              <a:t>          "3": {</a:t>
            </a:r>
          </a:p>
          <a:p>
            <a:r>
              <a:t>            "baseline": 14633,</a:t>
            </a:r>
          </a:p>
          <a:p>
            <a:r>
              <a:t>            "selected": 18839,</a:t>
            </a:r>
          </a:p>
          <a:p>
            <a:r>
              <a:t>            "sample_count": 2</a:t>
            </a:r>
          </a:p>
          <a:p>
            <a:r>
              <a:t>          }</a:t>
            </a:r>
          </a:p>
          <a:p>
            <a:r>
              <a:t>        },</a:t>
            </a:r>
          </a:p>
          <a:p>
            <a:r>
              <a:t>        "selected_model": "RandomForestRegressor",</a:t>
            </a:r>
          </a:p>
          <a:p>
            <a:r>
              <a:t>        "baseline_test_mae": 12060,</a:t>
            </a:r>
          </a:p>
          <a:p>
            <a:r>
              <a:t>        "model_reliability": "below_baseline_on_test",</a:t>
            </a:r>
          </a:p>
          <a:p>
            <a:r>
              <a:t>        "beats_baseline_on_test": false,</a:t>
            </a:r>
          </a:p>
          <a:p>
            <a:r>
              <a:t>        "recursive_horizons_worse_than_baseline": [</a:t>
            </a:r>
          </a:p>
          <a:p>
            <a:r>
              <a:t>          "1",</a:t>
            </a:r>
          </a:p>
          <a:p>
            <a:r>
              <a:t>          "2",</a:t>
            </a:r>
          </a:p>
          <a:p>
            <a:r>
              <a:t>          "3"</a:t>
            </a:r>
          </a:p>
          <a:p>
            <a:r>
              <a:t>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0.019303448467232462,</a:t>
            </a:r>
          </a:p>
          <a:p>
            <a:r>
              <a:t>    "spending_target_pct": 0.04151694433378397,</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"지역 상품권 환급액 = 적격 신청의 min(증빙 인정 지출액 × 10%, 건별 상한 50,000원)의 합산 (단가 및 총 예산은 참여 업체 수와 예상 신청 건수에 따라 확정 필요)",</a:t>
            </a:r>
          </a:p>
          <a:p>
            <a:r>
              <a:t>        "본문 기준"</a:t>
            </a:r>
          </a:p>
          <a:p>
            <a:r>
              <a:t>      ]</a:t>
            </a:r>
          </a:p>
          <a:p>
            <a:r>
              <a:t>    ],</a:t>
            </a:r>
          </a:p>
          <a:p>
            <a:r>
              <a:t>    "original_text": "지역 상품권 환급액 = 적격 신청의 min(증빙 인정 지출액 × 10%, 건별 상한 50,000원)의 합산 (단가 및 총 예산은 참여 업체 수와 예상 신청 건수에 따라 확정 필요)",</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"operating_statistics": [],</a:t>
            </a:r>
          </a:p>
          <a:p>
            <a:r>
              <a:t>    "published_or_updated_at": "2025-01-02",</a:t>
            </a:r>
          </a:p>
          <a:p>
            <a:r>
              <a:t>    "quantitative_result_approved": false</a:t>
            </a:r>
          </a:p>
          <a:p>
            <a:r>
              <a:t>  },</a:t>
            </a:r>
          </a:p>
          <a:p>
            <a:r>
              <a:t>  "observed_findings": [</a:t>
            </a:r>
          </a:p>
          <a:p>
            <a:r>
              <a:t>    {</a:t>
            </a:r>
          </a:p>
          <a:p>
            <a:r>
              <a:t>      "value": "4,619,168명",</a:t>
            </a:r>
          </a:p>
          <a:p>
            <a:r>
              <a:t>      "metric": "월간 순 방문자 수",</a:t>
            </a:r>
          </a:p>
          <a:p>
            <a:r>
              <a:t>      "source": "dataset:30170:1",</a:t>
            </a:r>
          </a:p>
          <a:p>
            <a:r>
              <a:t>      "interpretation": "2026년 6월 기준 관측치이며, 전년 동월 대비 -3.5% 감소 추세입니다."</a:t>
            </a:r>
          </a:p>
          <a:p>
            <a:r>
              <a:t>    },</a:t>
            </a:r>
          </a:p>
          <a:p>
            <a:r>
              <a:t>    {</a:t>
            </a:r>
          </a:p>
          <a:p>
            <a:r>
              <a:t>      "value": "76,758,413,000원",</a:t>
            </a:r>
          </a:p>
          <a:p>
            <a:r>
              <a:t>      "metric": "외지인 관광소비 총액",</a:t>
            </a:r>
          </a:p>
          <a:p>
            <a:r>
              <a:t>      "source": "dataset:30170:3",</a:t>
            </a:r>
          </a:p>
          <a:p>
            <a:r>
              <a:t>      "interpretation": "2026년 6월 기준 외지인 소비 규모로, 지역 내 소비 유도를 위한 잠재적 기반입니다."</a:t>
            </a:r>
          </a:p>
          <a:p>
            <a:r>
              <a:t>    },</a:t>
            </a:r>
          </a:p>
          <a:p>
            <a:r>
              <a:t>    {</a:t>
            </a:r>
          </a:p>
          <a:p>
            <a:r>
              <a:t>      "value": "6.7%",</a:t>
            </a:r>
          </a:p>
          <a:p>
            <a:r>
              <a:t>      "metric": "외지인 숙박 방문 비율",</a:t>
            </a:r>
          </a:p>
          <a:p>
            <a:r>
              <a:t>      "source": "dataset:30170:4",</a:t>
            </a:r>
          </a:p>
          <a:p>
            <a:r>
              <a:t>      "interpretation": "숙박 방문 비중이 낮아 체류형 관광 확대를 위한 전략적 개입이 필요할 수 있습니다."</a:t>
            </a:r>
          </a:p>
          <a:p>
            <a:r>
              <a:t>    }</a:t>
            </a:r>
          </a:p>
          <a:p>
            <a:r>
              <a:t>  ],</a:t>
            </a:r>
          </a:p>
          <a:p>
            <a:r>
              <a:t>  "interpretation": "7개 예측값으로 학습한 추천 모델 없음. 관측 지표는 지역 설계 입력이고 공식 운영 문서가 사례 연결 기준."</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14,928,559명 → 목표 14,929,999명 (추가 1,440명, +0.01%)\n관광소비액: 기준 246,365,272,670원 → 목표 246,416,761,947원 (추가 51,489,277원, +0.02%)\n준비월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실제 운영 산정: 2026-11~2026-12, 2개월. 준비 기간에는 추가 방문·소비 목표를 배분하지 않습니다.\n8개 × 월 20일 × 2개월 × 하루 1회 × 회당 20명 = 6,400명분 → 참여 목표 4,800건의 예상 집행액.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14928559.0,</a:t>
            </a:r>
          </a:p>
          <a:p>
            <a:r>
              <a:t>        "target": 14929999.0,</a:t>
            </a:r>
          </a:p>
          <a:p>
            <a:r>
              <a:t>        "additional": 1440.0,</a:t>
            </a:r>
          </a:p>
          <a:p>
            <a:r>
              <a:t>        "pct": 0.009645941044955642</a:t>
            </a:r>
          </a:p>
          <a:p>
            <a:r>
              <a:t>      },</a:t>
            </a:r>
          </a:p>
          <a:p>
            <a:r>
              <a:t>      {</a:t>
            </a:r>
          </a:p>
          <a:p>
            <a:r>
              <a:t>        "key": "spending",</a:t>
            </a:r>
          </a:p>
          <a:p>
            <a:r>
              <a:t>        "label": "관광소비액",</a:t>
            </a:r>
          </a:p>
          <a:p>
            <a:r>
              <a:t>        "unit": "원",</a:t>
            </a:r>
          </a:p>
          <a:p>
            <a:r>
              <a:t>        "baseline": 246365272670.0,</a:t>
            </a:r>
          </a:p>
          <a:p>
            <a:r>
              <a:t>        "target": 246416761947.0,</a:t>
            </a:r>
          </a:p>
          <a:p>
            <a:r>
              <a:t>        "additional": 51489277.0,</a:t>
            </a:r>
          </a:p>
          <a:p>
            <a:r>
              <a:t>        "pct": 0.02089956771991197</a:t>
            </a:r>
          </a:p>
          <a:p>
            <a:r>
              <a:t>      }</a:t>
            </a:r>
          </a:p>
          <a:p>
            <a:r>
              <a:t>    ],</a:t>
            </a:r>
          </a:p>
          <a:p>
            <a:r>
              <a:t>    "demo": false,</a:t>
            </a:r>
          </a:p>
          <a:p>
            <a:r>
              <a:t>    "models": {</a:t>
            </a:r>
          </a:p>
          <a:p>
            <a:r>
              <a:t>      "visitors": "랜덤 포레스트",</a:t>
            </a:r>
          </a:p>
          <a:p>
            <a:r>
              <a:t>      "spending_krw": "선형 회귀",</a:t>
            </a:r>
          </a:p>
          <a:p>
            <a:r>
              <a:t>      "stay_minutes": "전년 동월 기준모델",</a:t>
            </a:r>
          </a:p>
          <a:p>
            <a:r>
              <a:t>      "lodging_nights": "전년 동월 기준모델",</a:t>
            </a:r>
          </a:p>
          <a:p>
            <a:r>
              <a:t>      "lodging_rate_pct": "전년 동월 기준모델",</a:t>
            </a:r>
          </a:p>
          <a:p>
            <a:r>
              <a:t>      "lodging_searches": "전년 동월 기준모델",</a:t>
            </a:r>
          </a:p>
          <a:p>
            <a:r>
              <a:t>      "navigation_searches": "랜덤 포레스트"</a:t>
            </a:r>
          </a:p>
          <a:p>
            <a:r>
              <a:t>    },</a:t>
            </a:r>
          </a:p>
          <a:p>
            <a:r>
              <a:t>    "source_period": "202401~202606",</a:t>
            </a:r>
          </a:p>
          <a:p>
            <a:r>
              <a:t>    "months": [</a:t>
            </a:r>
          </a:p>
          <a:p>
            <a:r>
              <a:t>      "26.10",</a:t>
            </a:r>
          </a:p>
          <a:p>
            <a:r>
              <a:t>      "26.11",</a:t>
            </a:r>
          </a:p>
          <a:p>
            <a:r>
              <a:t>      "26.12"</a:t>
            </a:r>
          </a:p>
          <a:p>
            <a:r>
              <a:t>    ],</a:t>
            </a:r>
          </a:p>
          <a:p>
            <a:r>
              <a:t>    "case_count": 8,</a:t>
            </a:r>
          </a:p>
          <a:p>
            <a:r>
              <a:t>    "case_region_count": 8,</a:t>
            </a:r>
          </a:p>
          <a:p>
            <a:r>
              <a:t>    "candidate_count": 2,</a:t>
            </a:r>
          </a:p>
          <a:p>
            <a:r>
              <a:t>    "displayed_count": 3,</a:t>
            </a:r>
          </a:p>
          <a:p>
            <a:r>
              <a:t>    "primary":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"operating_statistics": [],</a:t>
            </a:r>
          </a:p>
          <a:p>
            <a:r>
              <a:t>      "published_or_updated_at": "2025-01-02",</a:t>
            </a:r>
          </a:p>
          <a:p>
            <a:r>
              <a:t>      "quantitative_result_approved": false</a:t>
            </a:r>
          </a:p>
          <a:p>
            <a:r>
              <a:t>    },</a:t>
            </a:r>
          </a:p>
          <a:p>
            <a:r>
              <a:t>    "selection_reason": "지역 상품권 환급 프로그램은 'case:gangjin_half_price_2024' 사례와 유사한 방식으로, 대전광역시 서구의 외지인 관광소비 총액을 기반으로 설계할 수 있으며, 지역 내 소비를 유도할 수 있는 잠재력이 있습니다. 이는 'case:kto_stay_discount_2022' 사례와 비교하여, 지역 상품권 환급 방식이 더 적합하다고 판단됩니다.",</a:t>
            </a:r>
          </a:p>
          <a:p>
            <a:r>
              <a:t>    "target_explanation":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실제 운영 산정: 2026-11~2026-12, 2개월. 준비 기간에는 추가 방문·소비 목표를 배분하지 않습니다.",</a:t>
            </a:r>
          </a:p>
          <a:p>
            <a:r>
              <a:t>    "estimate": {</a:t>
            </a:r>
          </a:p>
          <a:p>
            <a:r>
              <a:t>      "version": "operating-capacity-v4-linked-cost",</a:t>
            </a:r>
          </a:p>
          <a:p>
            <a:r>
              <a:t>      "status": "planning_assumption_not_quote",</a:t>
            </a:r>
          </a:p>
          <a:p>
            <a:r>
              <a:t>      "scale_basis": "8개 × 월 20일 × 2개월 × 하루 1회 × 회당 20명 = 6,400명분 → 참여 목표 4,800건의 예상 집행액. 모든 단가는 기획 가정.",</a:t>
            </a:r>
          </a:p>
          <a:p>
            <a:r>
              <a:t>      "months": 2,</a:t>
            </a:r>
          </a:p>
          <a:p>
            <a:r>
              <a:t>      "refund": true,</a:t>
            </a:r>
          </a:p>
          <a:p>
            <a:r>
              <a:t>      "quantity": 4800,</a:t>
            </a:r>
          </a:p>
          <a:p>
            <a:r>
              <a:t>      "unit_krw": 1650,</a:t>
            </a:r>
          </a:p>
          <a:p>
            <a:r>
              <a:t>      "capacity_quantity": 6400,</a:t>
            </a:r>
          </a:p>
          <a:p>
            <a:r>
              <a:t>      "per_claim_cap_krw": 50000,</a:t>
            </a:r>
          </a:p>
          <a:p>
            <a:r>
              <a:t>      "refund_rate_pct": 10.0,</a:t>
            </a:r>
          </a:p>
          <a:p>
            <a:r>
              <a:t>      "redemption_target_pct": 75.0,</a:t>
            </a:r>
          </a:p>
          <a:p>
            <a:r>
              <a:t>      "redemption_count": 4800,</a:t>
            </a:r>
          </a:p>
          <a:p>
            <a:r>
              <a:t>      "purchase_per_participant_krw": 16503,</a:t>
            </a:r>
          </a:p>
          <a:p>
            <a:r>
              <a:t>      "qualifying_spend_krw": 79214400,</a:t>
            </a:r>
          </a:p>
          <a:p>
            <a:r>
              <a:t>      "subtotal_krw": 35920000,</a:t>
            </a:r>
          </a:p>
          <a:p>
            <a:r>
              <a:t>      "reserve_krw": 3592000,</a:t>
            </a:r>
          </a:p>
          <a:p>
            <a:r>
              <a:t>      "total_krw": 39512000,</a:t>
            </a:r>
          </a:p>
          <a:p>
            <a:r>
              <a:t>      "within_hard_budget": true,</a:t>
            </a:r>
          </a:p>
          <a:p>
            <a:r>
              <a:t>      "full_participation_budget_krw": 42416000,</a:t>
            </a:r>
          </a:p>
          <a:p>
            <a:r>
              <a:t>      "participant_purchases_krw": 79214400,</a:t>
            </a:r>
          </a:p>
          <a:p>
            <a:r>
              <a:t>      "additional_spending_krw": 51489277,</a:t>
            </a:r>
          </a:p>
          <a:p>
            <a:r>
              <a:t>      "scenario_note": "참여자 결제 79,214,400원 중 추가 소비 목표 51,489,277원. 견적은 같은 참여 목표의 사업비이며, 결제액 전체를 신규 소비나 사업 수익으로 계산하지 않습니다.",</a:t>
            </a:r>
          </a:p>
          <a:p>
            <a:r>
              <a:t>      "items": [</a:t>
            </a:r>
          </a:p>
          <a:p>
            <a:r>
              <a:t>        {</a:t>
            </a:r>
          </a:p>
          <a:p>
            <a:r>
              <a:t>          "name": "여행비 환급 지원",</a:t>
            </a:r>
          </a:p>
          <a:p>
            <a:r>
              <a:t>          "basis": "참여 목표 4,800건 × min(계획 결제 16,503원 × 10%, 건별 상한 50,000원) = 건당 1,650원",</a:t>
            </a:r>
          </a:p>
          <a:p>
            <a:r>
              <a:t>          "amount": 7920000</a:t>
            </a:r>
          </a:p>
          <a:p>
            <a:r>
              <a:t>        },</a:t>
            </a:r>
          </a:p>
          <a:p>
            <a:r>
              <a:t>        {</a:t>
            </a:r>
          </a:p>
          <a:p>
            <a:r>
              <a:t>          "name": "현장 운영·정산",</a:t>
            </a:r>
          </a:p>
          <a:p>
            <a:r>
              <a:t>          "basis": "2개 운영팀 × 월 20일 × 2개월 × 150,000원 (점포 묶음 8개, 최대 4개당 공동 정산팀 1개)",</a:t>
            </a:r>
          </a:p>
          <a:p>
            <a:r>
              <a:t>          "amount": 12000000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35,920,000원 × 10%",</a:t>
            </a:r>
          </a:p>
          <a:p>
            <a:r>
              <a:t>          "amount": 3592000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10%, 건별 상한 50,000원 및 점포 묶음 최대 4개당 정산팀 1개는 계획 설정입니다. 지급 총액은 편성 예산 내에서 운영합니다."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"operating-capacity-v4-linked-cost",</a:t>
            </a:r>
          </a:p>
          <a:p>
            <a:r>
              <a:t>  "status": "proposed",</a:t>
            </a:r>
          </a:p>
          <a:p>
            <a:r>
              <a:t>  "minimum_operating_budget_krw": 30800000,</a:t>
            </a:r>
          </a:p>
          <a:p>
            <a:r>
              <a:t>  "family": "spend_conversion",</a:t>
            </a:r>
          </a:p>
          <a:p>
            <a:r>
              <a:t>  "program_label": "지역 소비·환급",</a:t>
            </a:r>
          </a:p>
          <a:p>
            <a:r>
              <a:t>  "site_label": "참여 점포 묶음",</a:t>
            </a:r>
          </a:p>
          <a:p>
            <a:r>
              <a:t>  "months": 2,</a:t>
            </a:r>
          </a:p>
          <a:p>
            <a:r>
              <a:t>  "active_months": [</a:t>
            </a:r>
          </a:p>
          <a:p>
            <a:r>
              <a:t>    "202611",</a:t>
            </a:r>
          </a:p>
          <a:p>
            <a:r>
              <a:t>    "202612"</a:t>
            </a:r>
          </a:p>
          <a:p>
            <a:r>
              <a:t>  ],</a:t>
            </a:r>
          </a:p>
          <a:p>
            <a:r>
              <a:t>  "monthly_weights": [</a:t>
            </a:r>
          </a:p>
          <a:p>
            <a:r>
              <a:t>    0,</a:t>
            </a:r>
          </a:p>
          <a:p>
            <a:r>
              <a:t>    0.5,</a:t>
            </a:r>
          </a:p>
          <a:p>
            <a:r>
              <a:t>    1.0</a:t>
            </a:r>
          </a:p>
          <a:p>
            <a:r>
              <a:t>  ],</a:t>
            </a:r>
          </a:p>
          <a:p>
            <a:r>
              <a:t>  "schedule_basis": "dated_launch_step",</a:t>
            </a:r>
          </a:p>
          <a:p>
            <a:r>
              <a:t>  "forecast_period": "202610~202612",</a:t>
            </a:r>
          </a:p>
          <a:p>
            <a:r>
              <a:t>  "baseline_visitors": 14928559.0,</a:t>
            </a:r>
          </a:p>
          <a:p>
            <a:r>
              <a:t>  "baseline_spending_krw": 246365272670.0,</a:t>
            </a:r>
          </a:p>
          <a:p>
            <a:r>
              <a:t>  "mean_monthly_visitors": 4976186.333333333,</a:t>
            </a:r>
          </a:p>
          <a:p>
            <a:r>
              <a:t>  "sites": 8,</a:t>
            </a:r>
          </a:p>
          <a:p>
            <a:r>
              <a:t>  "days_per_month": 20,</a:t>
            </a:r>
          </a:p>
          <a:p>
            <a:r>
              <a:t>  "sessions_per_day": 1,</a:t>
            </a:r>
          </a:p>
          <a:p>
            <a:r>
              <a:t>  "capacity_per_session": 20,</a:t>
            </a:r>
          </a:p>
          <a:p>
            <a:r>
              <a:t>  "capacity": 6400,</a:t>
            </a:r>
          </a:p>
          <a:p>
            <a:r>
              <a:t>  "funded_capacity": 6400,</a:t>
            </a:r>
          </a:p>
          <a:p>
            <a:r>
              <a:t>  "scale_rule": "운영 거점 = ceil(√(월평균 ML 방문 전망 ÷ 100,000)), 최소 1·최대 12개",</a:t>
            </a:r>
          </a:p>
          <a:p>
            <a:r>
              <a:t>  "capacity_formula": "8개 × 월 20일 × 2개월 × 하루 1회 × 회당 20명 = 6,400명분",</a:t>
            </a:r>
          </a:p>
          <a:p>
            <a:r>
              <a:t>  "scale_kind": "planning_rule_not_population_model",</a:t>
            </a:r>
          </a:p>
          <a:p>
            <a:r>
              <a:t>  "spending_per_visit_proxy_krw": 16502.9506645618,</a:t>
            </a:r>
          </a:p>
          <a:p>
            <a:r>
              <a:t>  "program_purchase_krw": 16503,</a:t>
            </a:r>
          </a:p>
          <a:p>
            <a:r>
              <a:t>  "existing_participant_extra_spend_krw": 8251.4753322809,</a:t>
            </a:r>
          </a:p>
          <a:p>
            <a:r>
              <a:t>  "spending_formula": "추가 방문 × 계획 결제 16,503원 + 기존 방문 참여 × 추가 구매 8,251원",</a:t>
            </a:r>
          </a:p>
          <a:p>
            <a:r>
              <a:t>  "purchase_basis": "계획 결제액은 3개월 ML 소비 합계 ÷ ML 방문 합계를 참고한 기획값입니다. 실제 객단가가 아닙니다.",</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4800,</a:t>
            </a:r>
          </a:p>
          <a:p>
            <a:r>
              <a:t>      "additional_visitors": 720,</a:t>
            </a:r>
          </a:p>
          <a:p>
            <a:r>
              <a:t>      "additional_spending_krw": 45548179,</a:t>
            </a:r>
          </a:p>
          <a:p>
            <a:r>
              <a:t>      "participant_purchases_krw": 79214400,</a:t>
            </a:r>
          </a:p>
          <a:p>
            <a:r>
              <a:t>      "expected_support_krw": 7920000,</a:t>
            </a:r>
          </a:p>
          <a:p>
            <a:r>
              <a:t>      "expected_budget_krw": 39512000,</a:t>
            </a:r>
          </a:p>
          <a:p>
            <a:r>
              <a:t>      "visitor_growth_pct": 0.004822970522473067,</a:t>
            </a:r>
          </a:p>
          <a:p>
            <a:r>
              <a:t>      "spending_growth_pct": 0.018488067943330074,</a:t>
            </a:r>
          </a:p>
          <a:p>
            <a:r>
              <a:t>      "visitor_target_pct": 0.009651724233616231,</a:t>
            </a:r>
          </a:p>
          <a:p>
            <a:r>
              <a:t>      "spending_target_pct": 0.03672650544400202</a:t>
            </a:r>
          </a:p>
          <a:p>
            <a:r>
              <a:t>    },</a:t>
            </a:r>
          </a:p>
          <a:p>
            <a:r>
              <a:t>    {</a:t>
            </a:r>
          </a:p>
          <a:p>
            <a:r>
              <a:t>      "label": "기준",</a:t>
            </a:r>
          </a:p>
          <a:p>
            <a:r>
              <a:t>      "utilization_pct": 75.0,</a:t>
            </a:r>
          </a:p>
          <a:p>
            <a:r>
              <a:t>      "additional_visitor_share_pct": 30.0,</a:t>
            </a:r>
          </a:p>
          <a:p>
            <a:r>
              <a:t>      "participants": 4800,</a:t>
            </a:r>
          </a:p>
          <a:p>
            <a:r>
              <a:t>      "additional_visitors": 1440,</a:t>
            </a:r>
          </a:p>
          <a:p>
            <a:r>
              <a:t>      "additional_spending_krw": 51489277,</a:t>
            </a:r>
          </a:p>
          <a:p>
            <a:r>
              <a:t>      "participant_purchases_krw": 79214400,</a:t>
            </a:r>
          </a:p>
          <a:p>
            <a:r>
              <a:t>      "expected_support_krw": 7920000,</a:t>
            </a:r>
          </a:p>
          <a:p>
            <a:r>
              <a:t>      "expected_budget_krw": 39512000,</a:t>
            </a:r>
          </a:p>
          <a:p>
            <a:r>
              <a:t>      "visitor_growth_pct": 0.009645941044946134,</a:t>
            </a:r>
          </a:p>
          <a:p>
            <a:r>
              <a:t>      "spending_growth_pct": 0.020899567719906927,</a:t>
            </a:r>
          </a:p>
          <a:p>
            <a:r>
              <a:t>      "visitor_target_pct": 0.019303448467232462,</a:t>
            </a:r>
          </a:p>
          <a:p>
            <a:r>
              <a:t>      "spending_target_pct": 0.04151694433378397</a:t>
            </a:r>
          </a:p>
          <a:p>
            <a:r>
              <a:t>    },</a:t>
            </a:r>
          </a:p>
          <a:p>
            <a:r>
              <a:t>    {</a:t>
            </a:r>
          </a:p>
          <a:p>
            <a:r>
              <a:t>      "label": "확대",</a:t>
            </a:r>
          </a:p>
          <a:p>
            <a:r>
              <a:t>      "utilization_pct": 90.0,</a:t>
            </a:r>
          </a:p>
          <a:p>
            <a:r>
              <a:t>      "additional_visitor_share_pct": 44.99999999999999,</a:t>
            </a:r>
          </a:p>
          <a:p>
            <a:r>
              <a:t>      "participants": 5760,</a:t>
            </a:r>
          </a:p>
          <a:p>
            <a:r>
              <a:t>      "additional_visitors": 2591,</a:t>
            </a:r>
          </a:p>
          <a:p>
            <a:r>
              <a:t>      "additional_spending_krw": 68908198,</a:t>
            </a:r>
          </a:p>
          <a:p>
            <a:r>
              <a:t>      "participant_purchases_krw": 95057280,</a:t>
            </a:r>
          </a:p>
          <a:p>
            <a:r>
              <a:t>      "expected_support_krw": 9504000,</a:t>
            </a:r>
          </a:p>
          <a:p>
            <a:r>
              <a:t>      "expected_budget_krw": 41254400,</a:t>
            </a:r>
          </a:p>
          <a:p>
            <a:r>
              <a:t>      "visitor_growth_pct": 0.01735599531073294,</a:t>
            </a:r>
          </a:p>
          <a:p>
            <a:r>
              <a:t>      "spending_growth_pct": 0.02796993149773214,</a:t>
            </a:r>
          </a:p>
          <a:p>
            <a:r>
              <a:t>      "visitor_target_pct": 0.03473280206847174,</a:t>
            </a:r>
          </a:p>
          <a:p>
            <a:r>
              <a:t>      "spending_target_pct": 0.05556220609792917</a:t>
            </a:r>
          </a:p>
          <a:p>
            <a:r>
              <a:t>    }</a:t>
            </a:r>
          </a:p>
          <a:p>
            <a:r>
              <a:t>  ],</a:t>
            </a:r>
          </a:p>
          <a:p>
            <a:r>
              <a:t>  "central": {</a:t>
            </a:r>
          </a:p>
          <a:p>
            <a:r>
              <a:t>    "label": "기준",</a:t>
            </a:r>
          </a:p>
          <a:p>
            <a:r>
              <a:t>    "utilization_pct": 75.0,</a:t>
            </a:r>
          </a:p>
          <a:p>
            <a:r>
              <a:t>    "additional_visitor_share_pct": 30.0,</a:t>
            </a:r>
          </a:p>
          <a:p>
            <a:r>
              <a:t>    "participants": 4800,</a:t>
            </a:r>
          </a:p>
          <a:p>
            <a:r>
              <a:t>    "additional_visitors": 1440,</a:t>
            </a:r>
          </a:p>
          <a:p>
            <a:r>
              <a:t>    "additional_spending_krw": 51489277,</a:t>
            </a:r>
          </a:p>
          <a:p>
            <a:r>
              <a:t>    "participant_purchases_krw": 79214400,</a:t>
            </a:r>
          </a:p>
          <a:p>
            <a:r>
              <a:t>    "expected_support_krw": 7920000,</a:t>
            </a:r>
          </a:p>
          <a:p>
            <a:r>
              <a:t>    "expected_budget_krw": 39512000,</a:t>
            </a:r>
          </a:p>
          <a:p>
            <a:r>
              <a:t>    "visitor_growth_pct": 0.009645941044946134,</a:t>
            </a:r>
          </a:p>
          <a:p>
            <a:r>
              <a:t>    "spending_growth_pct": 0.020899567719906927,</a:t>
            </a:r>
          </a:p>
          <a:p>
            <a:r>
              <a:t>    "visitor_target_pct": 0.019303448467232462,</a:t>
            </a:r>
          </a:p>
          <a:p>
            <a:r>
              <a:t>    "spending_target_pct": 0.04151694433378397</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"case:gangjin_half_price_2024",</a:t>
            </a:r>
          </a:p>
          <a:p>
            <a:r>
              <a:t>      "title": "강진 반값여행 지역경제 효과 소개",</a:t>
            </a:r>
          </a:p>
          <a:p>
            <a:r>
              <a:t>      "source_url": "https://jnfarm.jeonnam.go.kr/board/FARM_BOARD_008/boardView.do?bdId=BD_00000000000011721&amp;menuCd=farm004002",</a:t>
            </a:r>
          </a:p>
          <a:p>
            <a:r>
              <a:t>      "operating_model": "여행자가 지역에서 지출한 비용의 일부를 지역상품권으로 돌려받게 하여 혜택이 다시 지역 상점에서 사용되도록 설계",</a:t>
            </a:r>
          </a:p>
          <a:p>
            <a:r>
              <a:t>      "observed_result": "상품권 결제 변화에 관한 소개 자료는 있으나, 사업 참여자 범위·정확한 비교 기간·원자료를 확인하지 못해 성과 수치 인용을 보류한다."</a:t>
            </a:r>
          </a:p>
          <a:p>
            <a:r>
              <a:t>    }</a:t>
            </a:r>
          </a:p>
          <a:p>
            <a:r>
              <a:t>  ],</a:t>
            </a:r>
          </a:p>
          <a:p>
            <a:r>
              <a:t>  "explanation":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실제 운영 산정: 2026-11~2026-12, 2개월.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"2026-11~2026-12",</a:t>
            </a:r>
          </a:p>
          <a:p>
            <a:r>
              <a:t>  "schedule_note": "실제 운영 산정: 2026-11~2026-12, 2개월. 준비 기간에는 추가 방문·소비 목표를 배분하지 않습니다.",</a:t>
            </a:r>
          </a:p>
          <a:p>
            <a:r>
              <a:t>  "estimate": {</a:t>
            </a:r>
          </a:p>
          <a:p>
            <a:r>
              <a:t>    "version": "operating-capacity-v4-linked-cost",</a:t>
            </a:r>
          </a:p>
          <a:p>
            <a:r>
              <a:t>    "status": "planning_assumption_not_quote",</a:t>
            </a:r>
          </a:p>
          <a:p>
            <a:r>
              <a:t>    "scale_basis": "8개 × 월 20일 × 2개월 × 하루 1회 × 회당 20명 = 6,400명분 → 참여 목표 4,800건의 예상 집행액. 모든 단가는 기획 가정.",</a:t>
            </a:r>
          </a:p>
          <a:p>
            <a:r>
              <a:t>    "months": 2,</a:t>
            </a:r>
          </a:p>
          <a:p>
            <a:r>
              <a:t>    "refund": true,</a:t>
            </a:r>
          </a:p>
          <a:p>
            <a:r>
              <a:t>    "quantity": 4800,</a:t>
            </a:r>
          </a:p>
          <a:p>
            <a:r>
              <a:t>    "unit_krw": 1650,</a:t>
            </a:r>
          </a:p>
          <a:p>
            <a:r>
              <a:t>    "capacity_quantity": 6400,</a:t>
            </a:r>
          </a:p>
          <a:p>
            <a:r>
              <a:t>    "per_claim_cap_krw": 50000,</a:t>
            </a:r>
          </a:p>
          <a:p>
            <a:r>
              <a:t>    "refund_rate_pct": 10.0,</a:t>
            </a:r>
          </a:p>
          <a:p>
            <a:r>
              <a:t>    "redemption_target_pct": 75.0,</a:t>
            </a:r>
          </a:p>
          <a:p>
            <a:r>
              <a:t>    "redemption_count": 4800,</a:t>
            </a:r>
          </a:p>
          <a:p>
            <a:r>
              <a:t>    "purchase_per_participant_krw": 16503,</a:t>
            </a:r>
          </a:p>
          <a:p>
            <a:r>
              <a:t>    "qualifying_spend_krw": 79214400,</a:t>
            </a:r>
          </a:p>
          <a:p>
            <a:r>
              <a:t>    "subtotal_krw": 35920000,</a:t>
            </a:r>
          </a:p>
          <a:p>
            <a:r>
              <a:t>    "reserve_krw": 3592000,</a:t>
            </a:r>
          </a:p>
          <a:p>
            <a:r>
              <a:t>    "total_krw": 39512000,</a:t>
            </a:r>
          </a:p>
          <a:p>
            <a:r>
              <a:t>    "within_hard_budget": true,</a:t>
            </a:r>
          </a:p>
          <a:p>
            <a:r>
              <a:t>    "full_participation_budget_krw": 42416000,</a:t>
            </a:r>
          </a:p>
          <a:p>
            <a:r>
              <a:t>    "participant_purchases_krw": 79214400,</a:t>
            </a:r>
          </a:p>
          <a:p>
            <a:r>
              <a:t>    "additional_spending_krw": 51489277,</a:t>
            </a:r>
          </a:p>
          <a:p>
            <a:r>
              <a:t>    "scenario_note": "참여자 결제 79,214,400원 중 추가 소비 목표 51,489,277원. 견적은 같은 참여 목표의 사업비이며, 결제액 전체를 신규 소비나 사업 수익으로 계산하지 않습니다.",</a:t>
            </a:r>
          </a:p>
          <a:p>
            <a:r>
              <a:t>    "items": [</a:t>
            </a:r>
          </a:p>
          <a:p>
            <a:r>
              <a:t>      {</a:t>
            </a:r>
          </a:p>
          <a:p>
            <a:r>
              <a:t>        "name": "여행비 환급 지원",</a:t>
            </a:r>
          </a:p>
          <a:p>
            <a:r>
              <a:t>        "basis": "참여 목표 4,800건 × min(계획 결제 16,503원 × 10%, 건별 상한 50,000원) = 건당 1,650원",</a:t>
            </a:r>
          </a:p>
          <a:p>
            <a:r>
              <a:t>        "amount": 7920000</a:t>
            </a:r>
          </a:p>
          <a:p>
            <a:r>
              <a:t>      },</a:t>
            </a:r>
          </a:p>
          <a:p>
            <a:r>
              <a:t>      {</a:t>
            </a:r>
          </a:p>
          <a:p>
            <a:r>
              <a:t>        "name": "현장 운영·정산",</a:t>
            </a:r>
          </a:p>
          <a:p>
            <a:r>
              <a:t>        "basis": "2개 운영팀 × 월 20일 × 2개월 × 150,000원 (점포 묶음 8개, 최대 4개당 공동 정산팀 1개)",</a:t>
            </a:r>
          </a:p>
          <a:p>
            <a:r>
              <a:t>        "amount": 12000000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35,920,000원 × 10%",</a:t>
            </a:r>
          </a:p>
          <a:p>
            <a:r>
              <a:t>        "amount": 3592000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10%, 건별 상한 50,000원 및 점포 묶음 최대 4개당 정산팀 1개는 계획 설정입니다. 지급 총액은 편성 예산 내에서 운영합니다."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"operating-capacity-v4-linked-cost",</a:t>
            </a:r>
          </a:p>
          <a:p>
            <a:r>
              <a:t>  "status": "proposed",</a:t>
            </a:r>
          </a:p>
          <a:p>
            <a:r>
              <a:t>  "minimum_operating_budget_krw": 30800000,</a:t>
            </a:r>
          </a:p>
          <a:p>
            <a:r>
              <a:t>  "family": "spend_conversion",</a:t>
            </a:r>
          </a:p>
          <a:p>
            <a:r>
              <a:t>  "program_label": "지역 소비·환급",</a:t>
            </a:r>
          </a:p>
          <a:p>
            <a:r>
              <a:t>  "site_label": "참여 점포 묶음",</a:t>
            </a:r>
          </a:p>
          <a:p>
            <a:r>
              <a:t>  "months": 2,</a:t>
            </a:r>
          </a:p>
          <a:p>
            <a:r>
              <a:t>  "active_months": [</a:t>
            </a:r>
          </a:p>
          <a:p>
            <a:r>
              <a:t>    "202611",</a:t>
            </a:r>
          </a:p>
          <a:p>
            <a:r>
              <a:t>    "202612"</a:t>
            </a:r>
          </a:p>
          <a:p>
            <a:r>
              <a:t>  ],</a:t>
            </a:r>
          </a:p>
          <a:p>
            <a:r>
              <a:t>  "monthly_weights": [</a:t>
            </a:r>
          </a:p>
          <a:p>
            <a:r>
              <a:t>    0,</a:t>
            </a:r>
          </a:p>
          <a:p>
            <a:r>
              <a:t>    0.5,</a:t>
            </a:r>
          </a:p>
          <a:p>
            <a:r>
              <a:t>    1.0</a:t>
            </a:r>
          </a:p>
          <a:p>
            <a:r>
              <a:t>  ],</a:t>
            </a:r>
          </a:p>
          <a:p>
            <a:r>
              <a:t>  "schedule_basis": "dated_launch_step",</a:t>
            </a:r>
          </a:p>
          <a:p>
            <a:r>
              <a:t>  "forecast_period": "202610~202612",</a:t>
            </a:r>
          </a:p>
          <a:p>
            <a:r>
              <a:t>  "baseline_visitors": 14928559.0,</a:t>
            </a:r>
          </a:p>
          <a:p>
            <a:r>
              <a:t>  "baseline_spending_krw": 246365272670.0,</a:t>
            </a:r>
          </a:p>
          <a:p>
            <a:r>
              <a:t>  "mean_monthly_visitors": 4976186.333333333,</a:t>
            </a:r>
          </a:p>
          <a:p>
            <a:r>
              <a:t>  "sites": 8,</a:t>
            </a:r>
          </a:p>
          <a:p>
            <a:r>
              <a:t>  "days_per_month": 20,</a:t>
            </a:r>
          </a:p>
          <a:p>
            <a:r>
              <a:t>  "sessions_per_day": 1,</a:t>
            </a:r>
          </a:p>
          <a:p>
            <a:r>
              <a:t>  "capacity_per_session": 20,</a:t>
            </a:r>
          </a:p>
          <a:p>
            <a:r>
              <a:t>  "capacity": 6400,</a:t>
            </a:r>
          </a:p>
          <a:p>
            <a:r>
              <a:t>  "funded_capacity": 6400,</a:t>
            </a:r>
          </a:p>
          <a:p>
            <a:r>
              <a:t>  "scale_rule": "운영 거점 = ceil(√(월평균 ML 방문 전망 ÷ 100,000)), 최소 1·최대 12개",</a:t>
            </a:r>
          </a:p>
          <a:p>
            <a:r>
              <a:t>  "capacity_formula": "8개 × 월 20일 × 2개월 × 하루 1회 × 회당 20명 = 6,400명분",</a:t>
            </a:r>
          </a:p>
          <a:p>
            <a:r>
              <a:t>  "scale_kind": "planning_rule_not_population_model",</a:t>
            </a:r>
          </a:p>
          <a:p>
            <a:r>
              <a:t>  "spending_per_visit_proxy_krw": 16502.9506645618,</a:t>
            </a:r>
          </a:p>
          <a:p>
            <a:r>
              <a:t>  "program_purchase_krw": 16503,</a:t>
            </a:r>
          </a:p>
          <a:p>
            <a:r>
              <a:t>  "existing_participant_extra_spend_krw": 8251.4753322809,</a:t>
            </a:r>
          </a:p>
          <a:p>
            <a:r>
              <a:t>  "spending_formula": "추가 방문 × 계획 결제 16,503원 + 기존 방문 참여 × 추가 구매 8,251원",</a:t>
            </a:r>
          </a:p>
          <a:p>
            <a:r>
              <a:t>  "purchase_basis": "계획 결제액은 3개월 ML 소비 합계 ÷ ML 방문 합계를 참고한 기획값입니다. 실제 객단가가 아닙니다.",</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4800,</a:t>
            </a:r>
          </a:p>
          <a:p>
            <a:r>
              <a:t>      "additional_visitors": 720,</a:t>
            </a:r>
          </a:p>
          <a:p>
            <a:r>
              <a:t>      "additional_spending_krw": 45548179,</a:t>
            </a:r>
          </a:p>
          <a:p>
            <a:r>
              <a:t>      "participant_purchases_krw": 79214400,</a:t>
            </a:r>
          </a:p>
          <a:p>
            <a:r>
              <a:t>      "expected_support_krw": 7920000,</a:t>
            </a:r>
          </a:p>
          <a:p>
            <a:r>
              <a:t>      "expected_budget_krw": 39512000,</a:t>
            </a:r>
          </a:p>
          <a:p>
            <a:r>
              <a:t>      "visitor_growth_pct": 0.004822970522473067,</a:t>
            </a:r>
          </a:p>
          <a:p>
            <a:r>
              <a:t>      "spending_growth_pct": 0.018488067943330074,</a:t>
            </a:r>
          </a:p>
          <a:p>
            <a:r>
              <a:t>      "visitor_target_pct": 0.009651724233616231,</a:t>
            </a:r>
          </a:p>
          <a:p>
            <a:r>
              <a:t>      "spending_target_pct": 0.03672650544400202</a:t>
            </a:r>
          </a:p>
          <a:p>
            <a:r>
              <a:t>    },</a:t>
            </a:r>
          </a:p>
          <a:p>
            <a:r>
              <a:t>    {</a:t>
            </a:r>
          </a:p>
          <a:p>
            <a:r>
              <a:t>      "label": "기준",</a:t>
            </a:r>
          </a:p>
          <a:p>
            <a:r>
              <a:t>      "utilization_pct": 75.0,</a:t>
            </a:r>
          </a:p>
          <a:p>
            <a:r>
              <a:t>      "additional_visitor_share_pct": 30.0,</a:t>
            </a:r>
          </a:p>
          <a:p>
            <a:r>
              <a:t>      "participants": 4800,</a:t>
            </a:r>
          </a:p>
          <a:p>
            <a:r>
              <a:t>      "additional_visitors": 1440,</a:t>
            </a:r>
          </a:p>
          <a:p>
            <a:r>
              <a:t>      "additional_spending_krw": 51489277,</a:t>
            </a:r>
          </a:p>
          <a:p>
            <a:r>
              <a:t>      "participant_purchases_krw": 79214400,</a:t>
            </a:r>
          </a:p>
          <a:p>
            <a:r>
              <a:t>      "expected_support_krw": 7920000,</a:t>
            </a:r>
          </a:p>
          <a:p>
            <a:r>
              <a:t>      "expected_budget_krw": 39512000,</a:t>
            </a:r>
          </a:p>
          <a:p>
            <a:r>
              <a:t>      "visitor_growth_pct": 0.009645941044946134,</a:t>
            </a:r>
          </a:p>
          <a:p>
            <a:r>
              <a:t>      "spending_growth_pct": 0.020899567719906927,</a:t>
            </a:r>
          </a:p>
          <a:p>
            <a:r>
              <a:t>      "visitor_target_pct": 0.019303448467232462,</a:t>
            </a:r>
          </a:p>
          <a:p>
            <a:r>
              <a:t>      "spending_target_pct": 0.04151694433378397</a:t>
            </a:r>
          </a:p>
          <a:p>
            <a:r>
              <a:t>    },</a:t>
            </a:r>
          </a:p>
          <a:p>
            <a:r>
              <a:t>    {</a:t>
            </a:r>
          </a:p>
          <a:p>
            <a:r>
              <a:t>      "label": "확대",</a:t>
            </a:r>
          </a:p>
          <a:p>
            <a:r>
              <a:t>      "utilization_pct": 90.0,</a:t>
            </a:r>
          </a:p>
          <a:p>
            <a:r>
              <a:t>      "additional_visitor_share_pct": 44.99999999999999,</a:t>
            </a:r>
          </a:p>
          <a:p>
            <a:r>
              <a:t>      "participants": 5760,</a:t>
            </a:r>
          </a:p>
          <a:p>
            <a:r>
              <a:t>      "additional_visitors": 2591,</a:t>
            </a:r>
          </a:p>
          <a:p>
            <a:r>
              <a:t>      "additional_spending_krw": 68908198,</a:t>
            </a:r>
          </a:p>
          <a:p>
            <a:r>
              <a:t>      "participant_purchases_krw": 95057280,</a:t>
            </a:r>
          </a:p>
          <a:p>
            <a:r>
              <a:t>      "expected_support_krw": 9504000,</a:t>
            </a:r>
          </a:p>
          <a:p>
            <a:r>
              <a:t>      "expected_budget_krw": 41254400,</a:t>
            </a:r>
          </a:p>
          <a:p>
            <a:r>
              <a:t>      "visitor_growth_pct": 0.01735599531073294,</a:t>
            </a:r>
          </a:p>
          <a:p>
            <a:r>
              <a:t>      "spending_growth_pct": 0.02796993149773214,</a:t>
            </a:r>
          </a:p>
          <a:p>
            <a:r>
              <a:t>      "visitor_target_pct": 0.03473280206847174,</a:t>
            </a:r>
          </a:p>
          <a:p>
            <a:r>
              <a:t>      "spending_target_pct": 0.05556220609792917</a:t>
            </a:r>
          </a:p>
          <a:p>
            <a:r>
              <a:t>    }</a:t>
            </a:r>
          </a:p>
          <a:p>
            <a:r>
              <a:t>  ],</a:t>
            </a:r>
          </a:p>
          <a:p>
            <a:r>
              <a:t>  "central": {</a:t>
            </a:r>
          </a:p>
          <a:p>
            <a:r>
              <a:t>    "label": "기준",</a:t>
            </a:r>
          </a:p>
          <a:p>
            <a:r>
              <a:t>    "utilization_pct": 75.0,</a:t>
            </a:r>
          </a:p>
          <a:p>
            <a:r>
              <a:t>    "additional_visitor_share_pct": 30.0,</a:t>
            </a:r>
          </a:p>
          <a:p>
            <a:r>
              <a:t>    "participants": 4800,</a:t>
            </a:r>
          </a:p>
          <a:p>
            <a:r>
              <a:t>    "additional_visitors": 1440,</a:t>
            </a:r>
          </a:p>
          <a:p>
            <a:r>
              <a:t>    "additional_spending_krw": 51489277,</a:t>
            </a:r>
          </a:p>
          <a:p>
            <a:r>
              <a:t>    "participant_purchases_krw": 79214400,</a:t>
            </a:r>
          </a:p>
          <a:p>
            <a:r>
              <a:t>    "expected_support_krw": 7920000,</a:t>
            </a:r>
          </a:p>
          <a:p>
            <a:r>
              <a:t>    "expected_budget_krw": 39512000,</a:t>
            </a:r>
          </a:p>
          <a:p>
            <a:r>
              <a:t>    "visitor_growth_pct": 0.009645941044946134,</a:t>
            </a:r>
          </a:p>
          <a:p>
            <a:r>
              <a:t>    "spending_growth_pct": 0.020899567719906927,</a:t>
            </a:r>
          </a:p>
          <a:p>
            <a:r>
              <a:t>    "visitor_target_pct": 0.019303448467232462,</a:t>
            </a:r>
          </a:p>
          <a:p>
            <a:r>
              <a:t>    "spending_target_pct": 0.04151694433378397</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"case:gangjin_half_price_2024",</a:t>
            </a:r>
          </a:p>
          <a:p>
            <a:r>
              <a:t>      "title": "강진 반값여행 지역경제 효과 소개",</a:t>
            </a:r>
          </a:p>
          <a:p>
            <a:r>
              <a:t>      "source_url": "https://jnfarm.jeonnam.go.kr/board/FARM_BOARD_008/boardView.do?bdId=BD_00000000000011721&amp;menuCd=farm004002",</a:t>
            </a:r>
          </a:p>
          <a:p>
            <a:r>
              <a:t>      "operating_model": "여행자가 지역에서 지출한 비용의 일부를 지역상품권으로 돌려받게 하여 혜택이 다시 지역 상점에서 사용되도록 설계",</a:t>
            </a:r>
          </a:p>
          <a:p>
            <a:r>
              <a:t>      "observed_result": "상품권 결제 변화에 관한 소개 자료는 있으나, 사업 참여자 범위·정확한 비교 기간·원자료를 확인하지 못해 성과 수치 인용을 보류한다."</a:t>
            </a:r>
          </a:p>
          <a:p>
            <a:r>
              <a:t>    }</a:t>
            </a:r>
          </a:p>
          <a:p>
            <a:r>
              <a:t>  ],</a:t>
            </a:r>
          </a:p>
          <a:p>
            <a:r>
              <a:t>  "explanation":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실제 운영 산정: 2026-11~2026-12, 2개월.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"2026-11~2026-12",</a:t>
            </a:r>
          </a:p>
          <a:p>
            <a:r>
              <a:t>  "schedule_note": "실제 운영 산정: 2026-11~2026-12, 2개월. 준비 기간에는 추가 방문·소비 목표를 배분하지 않습니다.",</a:t>
            </a:r>
          </a:p>
          <a:p>
            <a:r>
              <a:t>  "estimate": {</a:t>
            </a:r>
          </a:p>
          <a:p>
            <a:r>
              <a:t>    "version": "operating-capacity-v4-linked-cost",</a:t>
            </a:r>
          </a:p>
          <a:p>
            <a:r>
              <a:t>    "status": "planning_assumption_not_quote",</a:t>
            </a:r>
          </a:p>
          <a:p>
            <a:r>
              <a:t>    "scale_basis": "8개 × 월 20일 × 2개월 × 하루 1회 × 회당 20명 = 6,400명분 → 참여 목표 4,800건의 예상 집행액. 모든 단가는 기획 가정.",</a:t>
            </a:r>
          </a:p>
          <a:p>
            <a:r>
              <a:t>    "months": 2,</a:t>
            </a:r>
          </a:p>
          <a:p>
            <a:r>
              <a:t>    "refund": true,</a:t>
            </a:r>
          </a:p>
          <a:p>
            <a:r>
              <a:t>    "quantity": 4800,</a:t>
            </a:r>
          </a:p>
          <a:p>
            <a:r>
              <a:t>    "unit_krw": 1650,</a:t>
            </a:r>
          </a:p>
          <a:p>
            <a:r>
              <a:t>    "capacity_quantity": 6400,</a:t>
            </a:r>
          </a:p>
          <a:p>
            <a:r>
              <a:t>    "per_claim_cap_krw": 50000,</a:t>
            </a:r>
          </a:p>
          <a:p>
            <a:r>
              <a:t>    "refund_rate_pct": 10.0,</a:t>
            </a:r>
          </a:p>
          <a:p>
            <a:r>
              <a:t>    "redemption_target_pct": 75.0,</a:t>
            </a:r>
          </a:p>
          <a:p>
            <a:r>
              <a:t>    "redemption_count": 4800,</a:t>
            </a:r>
          </a:p>
          <a:p>
            <a:r>
              <a:t>    "purchase_per_participant_krw": 16503,</a:t>
            </a:r>
          </a:p>
          <a:p>
            <a:r>
              <a:t>    "qualifying_spend_krw": 79214400,</a:t>
            </a:r>
          </a:p>
          <a:p>
            <a:r>
              <a:t>    "subtotal_krw": 35920000,</a:t>
            </a:r>
          </a:p>
          <a:p>
            <a:r>
              <a:t>    "reserve_krw": 3592000,</a:t>
            </a:r>
          </a:p>
          <a:p>
            <a:r>
              <a:t>    "total_krw": 39512000,</a:t>
            </a:r>
          </a:p>
          <a:p>
            <a:r>
              <a:t>    "within_hard_budget": true,</a:t>
            </a:r>
          </a:p>
          <a:p>
            <a:r>
              <a:t>    "full_participation_budget_krw": 42416000,</a:t>
            </a:r>
          </a:p>
          <a:p>
            <a:r>
              <a:t>    "participant_purchases_krw": 79214400,</a:t>
            </a:r>
          </a:p>
          <a:p>
            <a:r>
              <a:t>    "additional_spending_krw": 51489277,</a:t>
            </a:r>
          </a:p>
          <a:p>
            <a:r>
              <a:t>    "scenario_note": "참여자 결제 79,214,400원 중 추가 소비 목표 51,489,277원. 견적은 같은 참여 목표의 사업비이며, 결제액 전체를 신규 소비나 사업 수익으로 계산하지 않습니다.",</a:t>
            </a:r>
          </a:p>
          <a:p>
            <a:r>
              <a:t>    "items": [</a:t>
            </a:r>
          </a:p>
          <a:p>
            <a:r>
              <a:t>      {</a:t>
            </a:r>
          </a:p>
          <a:p>
            <a:r>
              <a:t>        "name": "여행비 환급 지원",</a:t>
            </a:r>
          </a:p>
          <a:p>
            <a:r>
              <a:t>        "basis": "참여 목표 4,800건 × min(계획 결제 16,503원 × 10%, 건별 상한 50,000원) = 건당 1,650원",</a:t>
            </a:r>
          </a:p>
          <a:p>
            <a:r>
              <a:t>        "amount": 7920000</a:t>
            </a:r>
          </a:p>
          <a:p>
            <a:r>
              <a:t>      },</a:t>
            </a:r>
          </a:p>
          <a:p>
            <a:r>
              <a:t>      {</a:t>
            </a:r>
          </a:p>
          <a:p>
            <a:r>
              <a:t>        "name": "현장 운영·정산",</a:t>
            </a:r>
          </a:p>
          <a:p>
            <a:r>
              <a:t>        "basis": "2개 운영팀 × 월 20일 × 2개월 × 150,000원 (점포 묶음 8개, 최대 4개당 공동 정산팀 1개)",</a:t>
            </a:r>
          </a:p>
          <a:p>
            <a:r>
              <a:t>        "amount": 12000000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35,920,000원 × 10%",</a:t>
            </a:r>
          </a:p>
          <a:p>
            <a:r>
              <a:t>        "amount": 3592000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10%, 건별 상한 50,000원 및 점포 묶음 최대 4개당 정산팀 1개는 계획 설정입니다. 지급 총액은 편성 예산 내에서 운영합니다."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36.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www.gangjintour.com/" TargetMode="External"/><Relationship Id="rId6" Type="http://schemas.openxmlformats.org/officeDocument/2006/relationships/hyperlink" Target="https://jnfarm.jeonnam.go.kr/board/FARM_BOARD_008/boardView.do?bdId=BD_00000000000011721&amp;menuCd=farm004002" TargetMode="External"/><Relationship Id="rId7" Type="http://schemas.openxmlformats.org/officeDocument/2006/relationships/image" Target="../media/image2.jpg"/><Relationship Id="rId8" Type="http://schemas.openxmlformats.org/officeDocument/2006/relationships/hyperlink" Target="https://isum.incheon.go.kr/theme/themeContent.do?key=2407020018" TargetMode="External"/><Relationship Id="rId9" Type="http://schemas.openxmlformats.org/officeDocument/2006/relationships/hyperlink" Target="https://kto.visitkorea.or.kr/upload/flexer/upload/ktobiz/20220928/b623b5f9-3ec0-11ed-9832-ddf31964842e.hwp.files/Sections1.html" TargetMode="External"/><Relationship Id="rId10" Type="http://schemas.openxmlformats.org/officeDocument/2006/relationships/image" Target="../media/image3.jpg"/><Relationship Id="rId11" Type="http://schemas.openxmlformats.org/officeDocument/2006/relationships/hyperlink" Target="https://culture.seoul.go.kr/culture/culture/cultureEvent/view.do?cultcode=146365&amp;menuNo=200009" TargetMode="External"/><Relationship Id="rId12" Type="http://schemas.openxmlformats.org/officeDocument/2006/relationships/hyperlink" Target="https://datalab.visitkorea.or.kr/"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www.gangjintour.com/" TargetMode="External"/><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17.png"/></Relationships>
</file>

<file path=ppt/slides/_rels/slide6.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10.xml"/><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jnfarm.jeonnam.go.kr/board/FARM_BOARD_008/boardView.do?bdId=BD_00000000000011721&amp;menuCd=farm004002" TargetMode="External"/><Relationship Id="rId3" Type="http://schemas.openxmlformats.org/officeDocument/2006/relationships/notesSlide" Target="../notesSlides/notesSlide14.xml"/></Relationships>
</file>

<file path=ppt/slides/_rels/slide9.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5.png"/><Relationship Id="rId9" Type="http://schemas.openxmlformats.org/officeDocument/2006/relationships/image" Target="../media/image16.png"/><Relationship Id="rId10" Type="http://schemas.openxmlformats.org/officeDocument/2006/relationships/notesSlide" Target="../notesSlides/notesSlide15.xml"/><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17.png"/><Relationship Id="rId18" Type="http://schemas.openxmlformats.org/officeDocument/2006/relationships/image" Target="../media/image28.png"/><Relationship Id="rId19" Type="http://schemas.openxmlformats.org/officeDocument/2006/relationships/image" Target="../media/image6.png"/><Relationship Id="rId20" Type="http://schemas.openxmlformats.org/officeDocument/2006/relationships/image" Target="../media/image29.png"/><Relationship Id="rId21" Type="http://schemas.openxmlformats.org/officeDocument/2006/relationships/image" Target="../media/image30.png"/><Relationship Id="rId22" Type="http://schemas.openxmlformats.org/officeDocument/2006/relationships/image" Target="../media/image31.png"/><Relationship Id="rId23" Type="http://schemas.openxmlformats.org/officeDocument/2006/relationships/image" Target="../media/image32.png"/><Relationship Id="rId24" Type="http://schemas.openxmlformats.org/officeDocument/2006/relationships/image" Target="../media/image33.png"/><Relationship Id="rId25" Type="http://schemas.openxmlformats.org/officeDocument/2006/relationships/image" Target="../media/image34.png"/><Relationship Id="rId26" Type="http://schemas.openxmlformats.org/officeDocument/2006/relationships/image" Target="../media/image35.png"/></Relationships>
</file>

<file path=ppt/slides/_rels/slide13.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jnfarm.jeonnam.go.kr/board/FARM_BOARD_008/boardView.do?bdId=BD_00000000000011721&amp;menuCd=farm004002" TargetMode="External"/><Relationship Id="rId4"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5" Type="http://schemas.openxmlformats.org/officeDocument/2006/relationships/hyperlink" Target="https://kto.visitkorea.or.kr/upload/flexer/upload/ktobiz/20220928/b623b5f9-3ec0-11ed-9832-ddf31964842e.hwp.files/Sections1.html" TargetMode="External"/><Relationship Id="rId6" Type="http://schemas.openxmlformats.org/officeDocument/2006/relationships/hyperlink" Target="https://korean.visitkorea.or.kr/detail/rem_detail.do?cotid=f9c636b2-dd7c-4f09-af3d-6af43b33d371" TargetMode="External"/><Relationship Id="rId7" Type="http://schemas.openxmlformats.org/officeDocument/2006/relationships/hyperlink" Target="https://apis.data.go.kr/B551011/KorService2" TargetMode="External"/><Relationship Id="rId8"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37.jpg"/><Relationship Id="rId4" Type="http://schemas.openxmlformats.org/officeDocument/2006/relationships/hyperlink" Target="https://apis.data.go.kr/B551011/KorService2"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hyperlink" Target="https://jnfarm.jeonnam.go.kr/board/FARM_BOARD_008/boardView.do?bdId=BD_00000000000011721&amp;menuCd=farm004002" TargetMode="Externa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17.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203B4B"/>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t="7835" b="7835"/>
          <a:stretch>
            <a:fillRect/>
          </a:stretch>
        </p:blipFill>
        <p:spPr>
          <a:xfrm>
            <a:off x="0" y="0"/>
            <a:ext cx="15240000" cy="8572500"/>
          </a:xfrm>
          <a:prstGeom prst="rect">
            <a:avLst/>
          </a:prstGeom>
        </p:spPr>
      </p:pic>
      <p:sp xmlns:a="http://schemas.openxmlformats.org/drawingml/2006/main">
        <p:nvSpPr>
          <p:cNvPr id="14" name="cover-photo-blend"/>
          <p:cNvSpPr/>
          <p:nvPr/>
        </p:nvSpPr>
        <p:spPr>
          <a:xfrm>
            <a:off x="0" y="0"/>
            <a:ext cx="15240000" cy="8572500"/>
          </a:xfrm>
          <a:prstGeom prst="rect">
            <a:avLst/>
          </a:prstGeom>
          <a:gradFill rotWithShape="1">
            <a:gsLst>
              <a:gs pos="0">
                <a:srgbClr val="203B4B">
                  <a:alpha val="100000"/>
                </a:srgbClr>
              </a:gs>
              <a:gs pos="40000">
                <a:srgbClr val="203B4B">
                  <a:alpha val="98000"/>
                </a:srgbClr>
              </a:gs>
              <a:gs pos="64000">
                <a:srgbClr val="203B4B">
                  <a:alpha val="75000"/>
                </a:srgbClr>
              </a:gs>
              <a:gs pos="82000">
                <a:srgbClr val="203B4B">
                  <a:alpha val="24000"/>
                </a:srgbClr>
              </a:gs>
              <a:gs pos="100000">
                <a:srgbClr val="203B4B">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ver-top-rule"/>
          <p:cNvSpPr/>
          <p:nvPr/>
        </p:nvSpPr>
        <p:spPr>
          <a:xfrm>
            <a:off x="762000" y="7810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대전 서구 외지인 지역 상품권 환급</a:t>
            </a:r>
          </a:p>
          <a:p>
            <a:pPr eaLnBrk="0">
              <a:lnSpc>
                <a:spcPts val="4031"/>
              </a:lnSpc>
              <a:spcBef>
                <a:spcPts val="0"/>
              </a:spcBef>
              <a:spcAft>
                <a:spcPts val="0"/>
              </a:spcAft>
            </a:pPr>
            <a:r>
              <a:rPr sz="3225" b="1">
                <a:solidFill>
                  <a:srgbClr val="FFFFFF"/>
                </a:solidFill>
                <a:latin typeface="Noto Sans KR"/>
              </a:rPr>
              <a:t>프로그램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2026.10 ~ 2026.12</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2026.09.17</a:t>
            </a:r>
          </a:p>
        </p:txBody>
      </p:sp>
      <p:sp xmlns:a="http://schemas.openxmlformats.org/drawingml/2006/main">
        <p:nvSpPr>
          <p:cNvPr id="10" name="cover-province-ribbon"/>
          <p:cNvSpPr/>
          <p:nvPr/>
        </p:nvSpPr>
        <p:spPr>
          <a:xfrm>
            <a:off x="0" y="1866900"/>
            <a:ext cx="8953500" cy="685800"/>
          </a:xfrm>
          <a:prstGeom prst="rect">
            <a:avLst/>
          </a:prstGeom>
          <a:gradFill rotWithShape="1">
            <a:gsLst>
              <a:gs pos="0">
                <a:srgbClr val="DBE8EC">
                  <a:alpha val="13000"/>
                </a:srgbClr>
              </a:gs>
              <a:gs pos="60000">
                <a:srgbClr val="DBE8EC">
                  <a:alpha val="8000"/>
                </a:srgbClr>
              </a:gs>
              <a:gs pos="100000">
                <a:srgbClr val="DBE8EC">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FFFFFF"/>
                </a:solidFill>
                <a:latin typeface="Noto Sans KR"/>
              </a:rPr>
              <a:t>대전광역시</a:t>
            </a:r>
          </a:p>
        </p:txBody>
      </p:sp>
      <p:sp xmlns:a="http://schemas.openxmlformats.org/drawingml/2006/main">
        <p:nvSpPr>
          <p:cNvPr id="11" name="cover-title-rule"/>
          <p:cNvSpPr/>
          <p:nvPr/>
        </p:nvSpPr>
        <p:spPr>
          <a:xfrm>
            <a:off x="762000" y="4371975"/>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r="http://schemas.openxmlformats.org/officeDocument/2006/relationships" r: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도산서원(대전)</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contents-rail"/>
          <p:cNvSpPr/>
          <p:nvPr/>
        </p:nvSpPr>
        <p:spPr>
          <a:xfrm>
            <a:off x="0" y="0"/>
            <a:ext cx="15240000" cy="8572500"/>
          </a:xfrm>
          <a:prstGeom prst="rect">
            <a:avLst/>
          </a:prstGeom>
          <a:gradFill rotWithShape="1">
            <a:gsLst>
              <a:gs pos="0">
                <a:srgbClr val="E7E9ED"/>
              </a:gs>
              <a:gs pos="100000">
                <a:srgbClr val="FAFAF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1009650" y="971550"/>
            <a:ext cx="3333750" cy="3238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495565"/>
                </a:solidFill>
                <a:latin typeface="Noto Sans KR"/>
              </a:rPr>
              <a:t>CONTENTS</a:t>
            </a:r>
          </a:p>
        </p:txBody>
      </p:sp>
      <p:sp xmlns:a="http://schemas.openxmlformats.org/drawingml/2006/main">
        <p:nvSpPr>
          <p:cNvPr id="4" name="contents-ko"/>
          <p:cNvSpPr txBox="1"/>
          <p:nvPr/>
        </p:nvSpPr>
        <p:spPr>
          <a:xfrm>
            <a:off x="1009650" y="1409700"/>
            <a:ext cx="8572500" cy="71437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02124"/>
                </a:solidFill>
                <a:latin typeface="Noto Sans KR"/>
              </a:rPr>
              <a:t>목차</a:t>
            </a:r>
          </a:p>
        </p:txBody>
      </p:sp>
      <p:sp xmlns:a="http://schemas.openxmlformats.org/drawingml/2006/main">
        <p:nvSpPr>
          <p:cNvPr id="5" name="contents-short-rule"/>
          <p:cNvSpPr/>
          <p:nvPr/>
        </p:nvSpPr>
        <p:spPr>
          <a:xfrm>
            <a:off x="1066800" y="2324100"/>
            <a:ext cx="552450"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op-brand"/>
          <p:cNvSpPr txBox="1"/>
          <p:nvPr/>
        </p:nvSpPr>
        <p:spPr>
          <a:xfrm>
            <a:off x="1009650" y="7610475"/>
            <a:ext cx="11430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대전광역시 서구 관광 전략기획안</a:t>
            </a:r>
          </a:p>
        </p:txBody>
      </p:sp>
      <p:sp xmlns:a="http://schemas.openxmlformats.org/drawingml/2006/main">
        <p:nvSpPr>
          <p:cNvPr id="7" name="toc-0-number"/>
          <p:cNvSpPr txBox="1"/>
          <p:nvPr/>
        </p:nvSpPr>
        <p:spPr>
          <a:xfrm>
            <a:off x="1009650"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0</a:t>
            </a:r>
          </a:p>
        </p:txBody>
      </p:sp>
      <p:sp xmlns:a="http://schemas.openxmlformats.org/drawingml/2006/main">
        <p:nvSpPr>
          <p:cNvPr id="8" name="toc-0-label"/>
          <p:cNvSpPr txBox="1"/>
          <p:nvPr/>
        </p:nvSpPr>
        <p:spPr>
          <a:xfrm>
            <a:off x="1657350"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개요</a:t>
            </a:r>
          </a:p>
        </p:txBody>
      </p:sp>
      <p:sp xmlns:a="http://schemas.openxmlformats.org/drawingml/2006/main">
        <p:nvSpPr>
          <p:cNvPr id="9" name="contents-rule-0"/>
          <p:cNvSpPr/>
          <p:nvPr/>
        </p:nvSpPr>
        <p:spPr>
          <a:xfrm>
            <a:off x="1066800"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oc-1-number"/>
          <p:cNvSpPr txBox="1"/>
          <p:nvPr/>
        </p:nvSpPr>
        <p:spPr>
          <a:xfrm>
            <a:off x="1009650"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1</a:t>
            </a:r>
          </a:p>
        </p:txBody>
      </p:sp>
      <p:sp xmlns:a="http://schemas.openxmlformats.org/drawingml/2006/main">
        <p:nvSpPr>
          <p:cNvPr id="11" name="toc-1-label"/>
          <p:cNvSpPr txBox="1"/>
          <p:nvPr/>
        </p:nvSpPr>
        <p:spPr>
          <a:xfrm>
            <a:off x="1657350"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지역별 사례와 실적</a:t>
            </a:r>
          </a:p>
        </p:txBody>
      </p:sp>
      <p:sp xmlns:a="http://schemas.openxmlformats.org/drawingml/2006/main">
        <p:nvSpPr>
          <p:cNvPr id="12" name="contents-rule-1"/>
          <p:cNvSpPr/>
          <p:nvPr/>
        </p:nvSpPr>
        <p:spPr>
          <a:xfrm>
            <a:off x="1066800"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oc-2-number"/>
          <p:cNvSpPr txBox="1"/>
          <p:nvPr/>
        </p:nvSpPr>
        <p:spPr>
          <a:xfrm>
            <a:off x="1009650"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2</a:t>
            </a:r>
          </a:p>
        </p:txBody>
      </p:sp>
      <p:sp xmlns:a="http://schemas.openxmlformats.org/drawingml/2006/main">
        <p:nvSpPr>
          <p:cNvPr id="14" name="toc-2-label"/>
          <p:cNvSpPr txBox="1"/>
          <p:nvPr/>
        </p:nvSpPr>
        <p:spPr>
          <a:xfrm>
            <a:off x="1657350"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사업 목표와 KPI 산출근거</a:t>
            </a:r>
          </a:p>
        </p:txBody>
      </p:sp>
      <p:sp xmlns:a="http://schemas.openxmlformats.org/drawingml/2006/main">
        <p:nvSpPr>
          <p:cNvPr id="15" name="contents-rule-2"/>
          <p:cNvSpPr/>
          <p:nvPr/>
        </p:nvSpPr>
        <p:spPr>
          <a:xfrm>
            <a:off x="1066800"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oc-3-number"/>
          <p:cNvSpPr txBox="1"/>
          <p:nvPr/>
        </p:nvSpPr>
        <p:spPr>
          <a:xfrm>
            <a:off x="1009650" y="588645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3</a:t>
            </a:r>
          </a:p>
        </p:txBody>
      </p:sp>
      <p:sp xmlns:a="http://schemas.openxmlformats.org/drawingml/2006/main">
        <p:nvSpPr>
          <p:cNvPr id="17" name="toc-3-label"/>
          <p:cNvSpPr txBox="1"/>
          <p:nvPr/>
        </p:nvSpPr>
        <p:spPr>
          <a:xfrm>
            <a:off x="1657350" y="589597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 적용과 실행</a:t>
            </a:r>
          </a:p>
        </p:txBody>
      </p:sp>
      <p:sp xmlns:a="http://schemas.openxmlformats.org/drawingml/2006/main">
        <p:nvSpPr>
          <p:cNvPr id="18" name="contents-rule-3"/>
          <p:cNvSpPr/>
          <p:nvPr/>
        </p:nvSpPr>
        <p:spPr>
          <a:xfrm>
            <a:off x="1066800" y="654367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oc-4-number"/>
          <p:cNvSpPr txBox="1"/>
          <p:nvPr/>
        </p:nvSpPr>
        <p:spPr>
          <a:xfrm>
            <a:off x="8239125"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4</a:t>
            </a:r>
          </a:p>
        </p:txBody>
      </p:sp>
      <p:sp xmlns:a="http://schemas.openxmlformats.org/drawingml/2006/main">
        <p:nvSpPr>
          <p:cNvPr id="20" name="toc-4-label"/>
          <p:cNvSpPr txBox="1"/>
          <p:nvPr/>
        </p:nvSpPr>
        <p:spPr>
          <a:xfrm>
            <a:off x="8886825"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견적 예시안</a:t>
            </a:r>
          </a:p>
        </p:txBody>
      </p:sp>
      <p:sp xmlns:a="http://schemas.openxmlformats.org/drawingml/2006/main">
        <p:nvSpPr>
          <p:cNvPr id="21" name="contents-rule-4"/>
          <p:cNvSpPr/>
          <p:nvPr/>
        </p:nvSpPr>
        <p:spPr>
          <a:xfrm>
            <a:off x="8296275"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oc-5-number"/>
          <p:cNvSpPr txBox="1"/>
          <p:nvPr/>
        </p:nvSpPr>
        <p:spPr>
          <a:xfrm>
            <a:off x="8239125"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5</a:t>
            </a:r>
          </a:p>
        </p:txBody>
      </p:sp>
      <p:sp xmlns:a="http://schemas.openxmlformats.org/drawingml/2006/main">
        <p:nvSpPr>
          <p:cNvPr id="23" name="toc-5-label"/>
          <p:cNvSpPr txBox="1"/>
          <p:nvPr/>
        </p:nvSpPr>
        <p:spPr>
          <a:xfrm>
            <a:off x="8886825"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기획서 생성 과정</a:t>
            </a:r>
          </a:p>
        </p:txBody>
      </p:sp>
      <p:sp xmlns:a="http://schemas.openxmlformats.org/drawingml/2006/main">
        <p:nvSpPr>
          <p:cNvPr id="24" name="contents-rule-5"/>
          <p:cNvSpPr/>
          <p:nvPr/>
        </p:nvSpPr>
        <p:spPr>
          <a:xfrm>
            <a:off x="8296275"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oc-6-number"/>
          <p:cNvSpPr txBox="1"/>
          <p:nvPr/>
        </p:nvSpPr>
        <p:spPr>
          <a:xfrm>
            <a:off x="8239125"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6</a:t>
            </a:r>
          </a:p>
        </p:txBody>
      </p:sp>
      <p:sp xmlns:a="http://schemas.openxmlformats.org/drawingml/2006/main">
        <p:nvSpPr>
          <p:cNvPr id="26" name="toc-6-label"/>
          <p:cNvSpPr txBox="1"/>
          <p:nvPr/>
        </p:nvSpPr>
        <p:spPr>
          <a:xfrm>
            <a:off x="8886825"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근거·데이터·출처</a:t>
            </a:r>
          </a:p>
        </p:txBody>
      </p:sp>
      <p:sp xmlns:a="http://schemas.openxmlformats.org/drawingml/2006/main">
        <p:nvSpPr>
          <p:cNvPr id="27" name="contents-rule-6"/>
          <p:cNvSpPr/>
          <p:nvPr/>
        </p:nvSpPr>
        <p:spPr>
          <a:xfrm>
            <a:off x="8296275"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90" r="3139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대전광역시 서구 남선로 66 · 남선공원</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t">
            <a:noAutofit/>
          </a:bodyPr>
          <a:lstStyle/>
          <a:p>
            <a:pPr eaLnBrk="0" algn="l">
              <a:lnSpc>
                <a:spcPts val="3937"/>
              </a:lnSpc>
              <a:spcBef>
                <a:spcPts val="0"/>
              </a:spcBef>
              <a:spcAft>
                <a:spcPts val="0"/>
              </a:spcAft>
            </a:pPr>
            <a:r>
              <a:rPr sz="3150" b="1">
                <a:solidFill>
                  <a:srgbClr val="202124"/>
                </a:solidFill>
                <a:latin typeface="Noto Sans KR"/>
              </a:rPr>
              <a:t>서구 관광 발전 기획안</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10–12월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1,492.9만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서구의 예상 증가율은 전국 비교 평균보다 1.37%p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2,463.7억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서구의 예상 증가율은 전국 비교 평균보다 2.16%p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0. 개요</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03 / 17</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2600" b="1">
                <a:solidFill>
                  <a:srgbClr val="202124"/>
                </a:solidFill>
                <a:latin typeface="Century Gothic"/>
                <a:ea typeface="맑은 고딕"/>
              </a:rPr>
              <a:t>1.1 지역별 참고 사례</a:t>
            </a:r>
          </a:p>
        </p:txBody>
      </p:sp>
      <p:sp xmlns:a="http://schemas.openxmlformats.org/drawingml/2006/main">
        <p:nvSpPr>
          <p:cNvPr id="5" name="case-panel-0"/>
          <p:cNvSpPr/>
          <p:nvPr/>
        </p:nvSpPr>
        <p:spPr>
          <a:xfrm>
            <a:off x="10096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01</a:t>
            </a:r>
          </a:p>
        </p:txBody>
      </p:sp>
      <p:sp xmlns:a="http://schemas.openxmlformats.org/drawingml/2006/main">
        <p:nvSpPr>
          <p:cNvPr id="7" name="case-badge-0"/>
          <p:cNvSpPr txBox="1"/>
          <p:nvPr/>
        </p:nvSpPr>
        <p:spPr>
          <a:xfrm>
            <a:off x="1952625" y="224790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FFFFF"/>
                </a:solidFill>
                <a:latin typeface="Century Gothic"/>
                <a:ea typeface="맑은 고딕"/>
              </a:rPr>
              <a:t>적용 사례</a:t>
            </a:r>
          </a:p>
        </p:txBody>
      </p:sp>
      <p:sp xmlns:a="http://schemas.openxmlformats.org/drawingml/2006/main">
        <p:nvSpPr>
          <p:cNvPr id="8" name="case-selected-tick-0"/>
          <p:cNvSpPr/>
          <p:nvPr/>
        </p:nvSpPr>
        <p:spPr>
          <a:xfrm>
            <a:off x="4486275" y="228600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27647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전라남도 강진군 · 반값여행 지역환급</a:t>
            </a:r>
          </a:p>
        </p:txBody>
      </p:sp>
      <p:sp xmlns:a="http://schemas.openxmlformats.org/drawingml/2006/main">
        <p:nvSpPr>
          <p:cNvPr id="11" name="case-body-0"/>
          <p:cNvSpPr txBox="1"/>
          <p:nvPr/>
        </p:nvSpPr>
        <p:spPr>
          <a:xfrm>
            <a:off x="12382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여행자가 지역에서 지출한 비용의 일부를</a:t>
            </a:r>
          </a:p>
          <a:p>
            <a:pPr eaLnBrk="0">
              <a:lnSpc>
                <a:spcPts val="1875"/>
              </a:lnSpc>
              <a:spcBef>
                <a:spcPts val="0"/>
              </a:spcBef>
              <a:spcAft>
                <a:spcPts val="0"/>
              </a:spcAft>
            </a:pPr>
            <a:r>
              <a:rPr sz="1500" b="0">
                <a:solidFill>
                  <a:srgbClr val="62666C"/>
                </a:solidFill>
                <a:latin typeface="Century Gothic"/>
                <a:ea typeface="맑은 고딕"/>
              </a:rPr>
              <a:t>지역상품권으로 돌려받게 하여 혜택이 다시</a:t>
            </a:r>
          </a:p>
          <a:p>
            <a:pPr eaLnBrk="0">
              <a:lnSpc>
                <a:spcPts val="1875"/>
              </a:lnSpc>
              <a:spcBef>
                <a:spcPts val="0"/>
              </a:spcBef>
              <a:spcAft>
                <a:spcPts val="0"/>
              </a:spcAft>
            </a:pPr>
            <a:r>
              <a:rPr sz="1500" b="0">
                <a:solidFill>
                  <a:srgbClr val="62666C"/>
                </a:solidFill>
                <a:latin typeface="Century Gothic"/>
                <a:ea typeface="맑은 고딕"/>
              </a:rPr>
              <a:t>지역 상점에서 사용되도록 설계</a:t>
            </a:r>
          </a:p>
        </p:txBody>
      </p:sp>
      <p:pic xmlns:a="http://schemas.openxmlformats.org/drawingml/2006/main" xmlns:r="http://schemas.openxmlformats.org/officeDocument/2006/relationships">
        <p:nvPicPr>
          <p:cNvPr id="12" name="case-photo-0" descr="gangjin_official.jpg"/>
          <p:cNvPicPr>
            <a:picLocks noChangeAspect="1"/>
          </p:cNvPicPr>
          <p:nvPr/>
        </p:nvPicPr>
        <p:blipFill>
          <a:blip r:embed="rId4"/>
          <a:stretch>
            <a:fillRect/>
          </a:stretch>
        </p:blipFill>
        <p:spPr>
          <a:xfrm>
            <a:off x="1518636" y="5457825"/>
            <a:ext cx="3211126" cy="1714500"/>
          </a:xfrm>
          <a:prstGeom prst="rect">
            <a:avLst/>
          </a:prstGeom>
        </p:spPr>
      </p:pic>
      <p:sp xmlns:a="http://schemas.openxmlformats.org/drawingml/2006/main">
        <p:nvSpPr>
          <p:cNvPr id="13" name="case-image-caption-0"/>
          <p:cNvSpPr txBox="1"/>
          <p:nvPr/>
        </p:nvSpPr>
        <p:spPr>
          <a:xfrm>
            <a:off x="12382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r="http://schemas.openxmlformats.org/officeDocument/2006/relationships" r:id="rId5"/>
                <a:ea typeface="맑은 고딕"/>
              </a:rPr>
              <a:t>강진군 · 반값여행 공식 홍보물</a:t>
            </a:r>
          </a:p>
          <a:p>
            <a:pPr eaLnBrk="0">
              <a:lnSpc>
                <a:spcPts val="1500"/>
              </a:lnSpc>
              <a:spcBef>
                <a:spcPts val="0"/>
              </a:spcBef>
              <a:spcAft>
                <a:spcPts val="0"/>
              </a:spcAft>
            </a:pPr>
            <a:r>
              <a:rPr sz="1050" b="0" u="none">
                <a:solidFill>
                  <a:srgbClr val="62666C"/>
                </a:solidFill>
                <a:latin typeface="Century Gothic"/>
                <a:hlinkClick xmlns:r="http://schemas.openxmlformats.org/officeDocument/2006/relationships" r:id="rId5"/>
                <a:ea typeface="맑은 고딕"/>
              </a:rPr>
              <a:t>출처: 강진 반값여행 공식 홈페이지</a:t>
            </a:r>
          </a:p>
        </p:txBody>
      </p:sp>
      <p:sp xmlns:a="http://schemas.openxmlformats.org/drawingml/2006/main">
        <p:nvSpPr>
          <p:cNvPr id="14" name="case-source-0"/>
          <p:cNvSpPr txBox="1"/>
          <p:nvPr/>
        </p:nvSpPr>
        <p:spPr>
          <a:xfrm>
            <a:off x="12382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r="http://schemas.openxmlformats.org/officeDocument/2006/relationships" r:id="rId6"/>
                <a:ea typeface="맑은 고딕"/>
              </a:rPr>
              <a:t>사업 원문 보기 ↗</a:t>
            </a:r>
          </a:p>
        </p:txBody>
      </p:sp>
      <p:sp xmlns:a="http://schemas.openxmlformats.org/drawingml/2006/main">
        <p:nvSpPr>
          <p:cNvPr id="15" name="case-panel-1"/>
          <p:cNvSpPr/>
          <p:nvPr/>
        </p:nvSpPr>
        <p:spPr>
          <a:xfrm>
            <a:off x="55054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02</a:t>
            </a:r>
          </a:p>
        </p:txBody>
      </p:sp>
      <p:sp xmlns:a="http://schemas.openxmlformats.org/drawingml/2006/main">
        <p:nvSpPr>
          <p:cNvPr id="17" name="case-badge-1"/>
          <p:cNvSpPr txBox="1"/>
          <p:nvPr/>
        </p:nvSpPr>
        <p:spPr>
          <a:xfrm>
            <a:off x="64484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18" name="case-title-1"/>
          <p:cNvSpPr txBox="1"/>
          <p:nvPr/>
        </p:nvSpPr>
        <p:spPr>
          <a:xfrm>
            <a:off x="57340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전국 숙박할인쿠폰 지원사업 · 온라인</a:t>
            </a:r>
          </a:p>
          <a:p>
            <a:pPr eaLnBrk="0">
              <a:lnSpc>
                <a:spcPts val="2125"/>
              </a:lnSpc>
              <a:spcBef>
                <a:spcPts val="0"/>
              </a:spcBef>
              <a:spcAft>
                <a:spcPts val="0"/>
              </a:spcAft>
            </a:pPr>
            <a:r>
              <a:rPr sz="1700" b="1">
                <a:solidFill>
                  <a:srgbClr val="202124"/>
                </a:solidFill>
                <a:latin typeface="Century Gothic"/>
                <a:ea typeface="맑은 고딕"/>
              </a:rPr>
              <a:t>예약 채널 숙박할인쿠폰</a:t>
            </a:r>
          </a:p>
        </p:txBody>
      </p:sp>
      <p:sp xmlns:a="http://schemas.openxmlformats.org/drawingml/2006/main">
        <p:nvSpPr>
          <p:cNvPr id="19" name="case-body-1"/>
          <p:cNvSpPr txBox="1"/>
          <p:nvPr/>
        </p:nvSpPr>
        <p:spPr>
          <a:xfrm>
            <a:off x="57340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온라인 여행사 예약 단계에서 할인쿠폰을</a:t>
            </a:r>
          </a:p>
          <a:p>
            <a:pPr eaLnBrk="0">
              <a:lnSpc>
                <a:spcPts val="1875"/>
              </a:lnSpc>
              <a:spcBef>
                <a:spcPts val="0"/>
              </a:spcBef>
              <a:spcAft>
                <a:spcPts val="0"/>
              </a:spcAft>
            </a:pPr>
            <a:r>
              <a:rPr sz="1500" b="0">
                <a:solidFill>
                  <a:srgbClr val="62666C"/>
                </a:solidFill>
                <a:latin typeface="Century Gothic"/>
                <a:ea typeface="맑은 고딕"/>
              </a:rPr>
              <a:t>제공하고, 지역 숙소에서 사용할 수 있도록</a:t>
            </a:r>
          </a:p>
          <a:p>
            <a:pPr eaLnBrk="0">
              <a:lnSpc>
                <a:spcPts val="1875"/>
              </a:lnSpc>
              <a:spcBef>
                <a:spcPts val="0"/>
              </a:spcBef>
              <a:spcAft>
                <a:spcPts val="0"/>
              </a:spcAft>
            </a:pPr>
            <a:r>
              <a:rPr sz="1500" b="0">
                <a:solidFill>
                  <a:srgbClr val="62666C"/>
                </a:solidFill>
                <a:latin typeface="Century Gothic"/>
                <a:ea typeface="맑은 고딕"/>
              </a:rPr>
              <a:t>참여 채널과 기간을 통합 운영</a:t>
            </a:r>
          </a:p>
        </p:txBody>
      </p:sp>
      <p:pic xmlns:a="http://schemas.openxmlformats.org/drawingml/2006/main" xmlns:r="http://schemas.openxmlformats.org/officeDocument/2006/relationships">
        <p:nvPicPr>
          <p:cNvPr id="20" name="case-photo-1" descr="incheon_official.jpg"/>
          <p:cNvPicPr>
            <a:picLocks noChangeAspect="1"/>
          </p:cNvPicPr>
          <p:nvPr/>
        </p:nvPicPr>
        <p:blipFill>
          <a:blip r:embed="rId7"/>
          <a:stretch>
            <a:fillRect/>
          </a:stretch>
        </p:blipFill>
        <p:spPr>
          <a:xfrm>
            <a:off x="6094440" y="5457825"/>
            <a:ext cx="3051119" cy="1714500"/>
          </a:xfrm>
          <a:prstGeom prst="rect">
            <a:avLst/>
          </a:prstGeom>
        </p:spPr>
      </p:pic>
      <p:sp xmlns:a="http://schemas.openxmlformats.org/drawingml/2006/main">
        <p:nvSpPr>
          <p:cNvPr id="21" name="case-image-caption-1"/>
          <p:cNvSpPr txBox="1"/>
          <p:nvPr/>
        </p:nvSpPr>
        <p:spPr>
          <a:xfrm>
            <a:off x="57340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r="http://schemas.openxmlformats.org/officeDocument/2006/relationships" r:id="rId8"/>
                <a:ea typeface="맑은 고딕"/>
              </a:rPr>
              <a:t>유사 사업 참고 · 인천 섬 · 로컬체험 여행 소개 사진</a:t>
            </a:r>
          </a:p>
          <a:p>
            <a:pPr eaLnBrk="0">
              <a:lnSpc>
                <a:spcPts val="1500"/>
              </a:lnSpc>
              <a:spcBef>
                <a:spcPts val="0"/>
              </a:spcBef>
              <a:spcAft>
                <a:spcPts val="0"/>
              </a:spcAft>
            </a:pPr>
            <a:r>
              <a:rPr sz="1050" b="0" u="none">
                <a:solidFill>
                  <a:srgbClr val="62666C"/>
                </a:solidFill>
                <a:latin typeface="Century Gothic"/>
                <a:hlinkClick xmlns:r="http://schemas.openxmlformats.org/officeDocument/2006/relationships" r:id="rId8"/>
                <a:ea typeface="맑은 고딕"/>
              </a:rPr>
              <a:t>출처: 인천광역시 섬포털</a:t>
            </a:r>
          </a:p>
        </p:txBody>
      </p:sp>
      <p:sp xmlns:a="http://schemas.openxmlformats.org/drawingml/2006/main">
        <p:nvSpPr>
          <p:cNvPr id="22" name="case-source-1"/>
          <p:cNvSpPr txBox="1"/>
          <p:nvPr/>
        </p:nvSpPr>
        <p:spPr>
          <a:xfrm>
            <a:off x="57340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r="http://schemas.openxmlformats.org/officeDocument/2006/relationships" r:id="rId9"/>
                <a:ea typeface="맑은 고딕"/>
              </a:rPr>
              <a:t>사업 원문 보기 ↗</a:t>
            </a:r>
          </a:p>
        </p:txBody>
      </p:sp>
      <p:sp xmlns:a="http://schemas.openxmlformats.org/drawingml/2006/main">
        <p:nvSpPr>
          <p:cNvPr id="23" name="case-panel-2"/>
          <p:cNvSpPr/>
          <p:nvPr/>
        </p:nvSpPr>
        <p:spPr>
          <a:xfrm>
            <a:off x="100012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03</a:t>
            </a:r>
          </a:p>
        </p:txBody>
      </p:sp>
      <p:sp xmlns:a="http://schemas.openxmlformats.org/drawingml/2006/main">
        <p:nvSpPr>
          <p:cNvPr id="25" name="case-badge-2"/>
          <p:cNvSpPr txBox="1"/>
          <p:nvPr/>
        </p:nvSpPr>
        <p:spPr>
          <a:xfrm>
            <a:off x="109442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26" name="case-title-2"/>
          <p:cNvSpPr txBox="1"/>
          <p:nvPr/>
        </p:nvSpPr>
        <p:spPr>
          <a:xfrm>
            <a:off x="102298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경상북도 문경시 · 문경찻사발축제</a:t>
            </a:r>
          </a:p>
        </p:txBody>
      </p:sp>
      <p:sp xmlns:a="http://schemas.openxmlformats.org/drawingml/2006/main">
        <p:nvSpPr>
          <p:cNvPr id="27" name="case-body-2"/>
          <p:cNvSpPr txBox="1"/>
          <p:nvPr/>
        </p:nvSpPr>
        <p:spPr>
          <a:xfrm>
            <a:off x="102298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2024→2025년 전체 245,750→256,570명</a:t>
            </a:r>
          </a:p>
          <a:p>
            <a:pPr eaLnBrk="0">
              <a:lnSpc>
                <a:spcPts val="1875"/>
              </a:lnSpc>
              <a:spcBef>
                <a:spcPts val="0"/>
              </a:spcBef>
              <a:spcAft>
                <a:spcPts val="0"/>
              </a:spcAft>
            </a:pPr>
            <a:r>
              <a:rPr sz="1500" b="0">
                <a:solidFill>
                  <a:srgbClr val="62666C"/>
                </a:solidFill>
                <a:latin typeface="Century Gothic"/>
                <a:ea typeface="맑은 고딕"/>
              </a:rPr>
              <a:t>(+4.40%). 개최 10→9일, 일평균 +16.00%,</a:t>
            </a:r>
          </a:p>
          <a:p>
            <a:pPr eaLnBrk="0">
              <a:lnSpc>
                <a:spcPts val="1875"/>
              </a:lnSpc>
              <a:spcBef>
                <a:spcPts val="0"/>
              </a:spcBef>
              <a:spcAft>
                <a:spcPts val="0"/>
              </a:spcAft>
            </a:pPr>
            <a:r>
              <a:rPr sz="1500" b="0">
                <a:solidFill>
                  <a:srgbClr val="62666C"/>
                </a:solidFill>
                <a:latin typeface="Century Gothic"/>
                <a:ea typeface="맑은 고딕"/>
              </a:rPr>
              <a:t>외지인 +9.28%. 축제 개최기간의 방문</a:t>
            </a:r>
          </a:p>
          <a:p>
            <a:pPr eaLnBrk="0">
              <a:lnSpc>
                <a:spcPts val="1875"/>
              </a:lnSpc>
              <a:spcBef>
                <a:spcPts val="0"/>
              </a:spcBef>
              <a:spcAft>
                <a:spcPts val="0"/>
              </a:spcAft>
            </a:pPr>
            <a:r>
              <a:rPr sz="1500" b="0">
                <a:solidFill>
                  <a:srgbClr val="62666C"/>
                </a:solidFill>
                <a:latin typeface="Century Gothic"/>
                <a:ea typeface="맑은 고딕"/>
              </a:rPr>
              <a:t>실적을 참고합니다.</a:t>
            </a:r>
          </a:p>
        </p:txBody>
      </p:sp>
      <p:pic xmlns:a="http://schemas.openxmlformats.org/drawingml/2006/main" xmlns:r="http://schemas.openxmlformats.org/officeDocument/2006/relationships">
        <p:nvPicPr>
          <p:cNvPr id="28" name="case-photo-2" descr="jeongdong_2024.jpg"/>
          <p:cNvPicPr>
            <a:picLocks noChangeAspect="1"/>
          </p:cNvPicPr>
          <p:nvPr/>
        </p:nvPicPr>
        <p:blipFill>
          <a:blip r:embed="rId10"/>
          <a:stretch>
            <a:fillRect/>
          </a:stretch>
        </p:blipFill>
        <p:spPr>
          <a:xfrm>
            <a:off x="10826702" y="5457825"/>
            <a:ext cx="2578195" cy="1714500"/>
          </a:xfrm>
          <a:prstGeom prst="rect">
            <a:avLst/>
          </a:prstGeom>
        </p:spPr>
      </p:pic>
      <p:sp xmlns:a="http://schemas.openxmlformats.org/drawingml/2006/main">
        <p:nvSpPr>
          <p:cNvPr id="29" name="case-image-caption-2"/>
          <p:cNvSpPr txBox="1"/>
          <p:nvPr/>
        </p:nvSpPr>
        <p:spPr>
          <a:xfrm>
            <a:off x="10229850" y="7353300"/>
            <a:ext cx="3771900" cy="552450"/>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050" b="0" u="none">
                <a:solidFill>
                  <a:srgbClr val="62666C"/>
                </a:solidFill>
                <a:latin typeface="Century Gothic"/>
                <a:hlinkClick xmlns:r="http://schemas.openxmlformats.org/officeDocument/2006/relationships" r:id="rId11"/>
                <a:ea typeface="맑은 고딕"/>
              </a:rPr>
              <a:t>유사 사업 참고 · 서울 중구 정동야행 · 문화행사 참고 사진</a:t>
            </a:r>
          </a:p>
          <a:p>
            <a:pPr eaLnBrk="0">
              <a:lnSpc>
                <a:spcPts val="1406"/>
              </a:lnSpc>
              <a:spcBef>
                <a:spcPts val="0"/>
              </a:spcBef>
              <a:spcAft>
                <a:spcPts val="0"/>
              </a:spcAft>
            </a:pPr>
            <a:r>
              <a:rPr sz="1050" b="0" u="none">
                <a:solidFill>
                  <a:srgbClr val="62666C"/>
                </a:solidFill>
                <a:latin typeface="Century Gothic"/>
                <a:hlinkClick xmlns:r="http://schemas.openxmlformats.org/officeDocument/2006/relationships" r:id="rId11"/>
                <a:ea typeface="맑은 고딕"/>
              </a:rPr>
              <a:t>출처: 서울문화포털 · 2024 정동야행</a:t>
            </a:r>
          </a:p>
        </p:txBody>
      </p:sp>
      <p:sp xmlns:a="http://schemas.openxmlformats.org/drawingml/2006/main">
        <p:nvSpPr>
          <p:cNvPr id="30" name="case-source-2"/>
          <p:cNvSpPr txBox="1"/>
          <p:nvPr/>
        </p:nvSpPr>
        <p:spPr>
          <a:xfrm>
            <a:off x="102298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r="http://schemas.openxmlformats.org/officeDocument/2006/relationships" r:id="rId12"/>
                <a:ea typeface="맑은 고딕"/>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000" b="1">
                <a:solidFill>
                  <a:srgbClr val="F50045"/>
                </a:solidFill>
                <a:latin typeface="Century Gothic"/>
                <a:ea typeface="맑은 고딕"/>
              </a:rPr>
              <a:t>1.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04 / 17</a:t>
            </a:r>
          </a:p>
        </p:txBody>
      </p:sp>
    </p:spTree>
    <p:extLst>
      <p:ext uri="{BB962C8B-B14F-4D97-AF65-F5344CB8AC3E}">
        <p14:creationId xmlns:p14="http://schemas.microsoft.com/office/powerpoint/2010/main" val="930694367"/>
      </p:ext>
    </p:extLst>
  </p:cSld>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1" name="result-evidence-card"/>
          <p:cNvSpPr/>
          <p:nvPr/>
        </p:nvSpPr>
        <p:spPr>
          <a:xfrm>
            <a:off x="6905625" y="2838450"/>
            <a:ext cx="7524750" cy="43624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1.2 참고 사례 실적</a:t>
            </a:r>
          </a:p>
        </p:txBody>
      </p:sp>
      <p:sp>
        <p:nvSpPr>
          <p:cNvPr id="4" name="result-title"/>
          <p:cNvSpPr txBox="1"/>
          <p:nvPr/>
        </p:nvSpPr>
        <p:spPr>
          <a:xfrm>
            <a:off x="1009650" y="1543050"/>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전라남도 강진군 · 반값여행 지역환급</a:t>
            </a:r>
          </a:p>
        </p:txBody>
      </p:sp>
      <p:sp>
        <p:nvSpPr>
          <p:cNvPr id="5" name="result-scope"/>
          <p:cNvSpPr txBox="1"/>
          <p:nvPr/>
        </p:nvSpPr>
        <p:spPr>
          <a:xfrm>
            <a:off x="1009650" y="21526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공식 자료에서 확인한 운영 사례</a:t>
            </a:r>
          </a:p>
        </p:txBody>
      </p:sp>
      <p:sp>
        <p:nvSpPr>
          <p:cNvPr id="6" name="result-photo-panel"/>
          <p:cNvSpPr/>
          <p:nvPr/>
        </p:nvSpPr>
        <p:spPr>
          <a:xfrm>
            <a:off x="1009650" y="30289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gangjin_official.jpg"/>
          <p:cNvPicPr>
            <a:picLocks noChangeAspect="1"/>
          </p:cNvPicPr>
          <p:nvPr/>
        </p:nvPicPr>
        <p:blipFill>
          <a:blip r:embed="rId3"/>
          <a:stretch>
            <a:fillRect/>
          </a:stretch>
        </p:blipFill>
        <p:spPr>
          <a:xfrm>
            <a:off x="1009650" y="3224784"/>
            <a:ext cx="5581650" cy="2980181"/>
          </a:xfrm>
          <a:prstGeom prst="rect">
            <a:avLst/>
          </a:prstGeom>
        </p:spPr>
      </p:pic>
      <p:sp>
        <p:nvSpPr>
          <p:cNvPr id="9" name="result-operation-label"/>
          <p:cNvSpPr txBox="1"/>
          <p:nvPr/>
        </p:nvSpPr>
        <p:spPr>
          <a:xfrm>
            <a:off x="7172325" y="2981325"/>
            <a:ext cx="7058025" cy="46672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26323C"/>
                </a:solidFill>
                <a:latin typeface="Noto Sans KR"/>
              </a:rPr>
              <a:t>사례에서 참고한 이용 흐름</a:t>
            </a:r>
          </a:p>
        </p:txBody>
      </p:sp>
      <p:sp>
        <p:nvSpPr>
          <p:cNvPr id="10" name="result-flow-panel-0"/>
          <p:cNvSpPr/>
          <p:nvPr/>
        </p:nvSpPr>
        <p:spPr>
          <a:xfrm>
            <a:off x="7172325" y="3600450"/>
            <a:ext cx="7058025" cy="781050"/>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result-flow-icon-0" descr="coins-jade.png"/>
          <p:cNvPicPr>
            <a:picLocks noChangeAspect="1"/>
          </p:cNvPicPr>
          <p:nvPr/>
        </p:nvPicPr>
        <p:blipFill>
          <a:blip r:embed="rId5"/>
          <a:stretch>
            <a:fillRect/>
          </a:stretch>
        </p:blipFill>
        <p:spPr>
          <a:xfrm>
            <a:off x="7362825" y="3743325"/>
            <a:ext cx="457200" cy="457200"/>
          </a:xfrm>
          <a:prstGeom prst="rect">
            <a:avLst/>
          </a:prstGeom>
        </p:spPr>
      </p:pic>
      <p:sp>
        <p:nvSpPr>
          <p:cNvPr id="12" name="result-flow-title-0"/>
          <p:cNvSpPr txBox="1"/>
          <p:nvPr/>
        </p:nvSpPr>
        <p:spPr>
          <a:xfrm>
            <a:off x="7981950" y="3695700"/>
            <a:ext cx="59817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26323C"/>
                </a:solidFill>
                <a:latin typeface="Noto Sans KR"/>
              </a:rPr>
              <a:t>지역에서 소비</a:t>
            </a:r>
          </a:p>
        </p:txBody>
      </p:sp>
      <p:sp>
        <p:nvSpPr>
          <p:cNvPr id="13" name="result-flow-detail-0"/>
          <p:cNvSpPr txBox="1"/>
          <p:nvPr/>
        </p:nvSpPr>
        <p:spPr>
          <a:xfrm>
            <a:off x="7981950" y="4029075"/>
            <a:ext cx="5981700" cy="266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여행자가 지역 내에서 지출</a:t>
            </a:r>
          </a:p>
        </p:txBody>
      </p:sp>
      <p:cxnSp>
        <p:nvCxnSpPr>
          <p:cNvPr id="14" name="result-flow-arrow-0-0"/>
          <p:cNvCxnSpPr/>
          <p:nvPr/>
        </p:nvCxnSpPr>
        <p:spPr>
          <a:xfrm>
            <a:off x="7591425" y="4391025"/>
            <a:ext cx="0" cy="133350"/>
          </a:xfrm>
          <a:prstGeom prst="line">
            <a:avLst/>
          </a:prstGeom>
          <a:ln w="21590">
            <a:solidFill>
              <a:srgbClr val="839BA7"/>
            </a:solidFill>
            <a:tailEnd type="triangle"/>
          </a:ln>
        </p:spPr>
        <p:style>
          <a:lnRef idx="2">
            <a:schemeClr val="accent1"/>
          </a:lnRef>
          <a:fillRef idx="0">
            <a:schemeClr val="accent1"/>
          </a:fillRef>
          <a:effectRef idx="1">
            <a:schemeClr val="accent1"/>
          </a:effectRef>
          <a:fontRef idx="minor">
            <a:schemeClr val="tx1"/>
          </a:fontRef>
        </p:style>
      </p:cxnSp>
      <p:sp>
        <p:nvSpPr>
          <p:cNvPr id="15" name="result-flow-panel-1"/>
          <p:cNvSpPr/>
          <p:nvPr/>
        </p:nvSpPr>
        <p:spPr>
          <a:xfrm>
            <a:off x="7172325" y="4533900"/>
            <a:ext cx="7058025" cy="781050"/>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result-flow-icon-1" descr="files-red.png"/>
          <p:cNvPicPr>
            <a:picLocks noChangeAspect="1"/>
          </p:cNvPicPr>
          <p:nvPr/>
        </p:nvPicPr>
        <p:blipFill>
          <a:blip r:embed="rId8"/>
          <a:stretch>
            <a:fillRect/>
          </a:stretch>
        </p:blipFill>
        <p:spPr>
          <a:xfrm>
            <a:off x="7362825" y="4676775"/>
            <a:ext cx="457200" cy="457200"/>
          </a:xfrm>
          <a:prstGeom prst="rect">
            <a:avLst/>
          </a:prstGeom>
        </p:spPr>
      </p:pic>
      <p:sp>
        <p:nvSpPr>
          <p:cNvPr id="17" name="result-flow-title-1"/>
          <p:cNvSpPr txBox="1"/>
          <p:nvPr/>
        </p:nvSpPr>
        <p:spPr>
          <a:xfrm>
            <a:off x="7981950" y="4629150"/>
            <a:ext cx="59817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26323C"/>
                </a:solidFill>
                <a:latin typeface="Noto Sans KR"/>
              </a:rPr>
              <a:t>혜택을 환급</a:t>
            </a:r>
          </a:p>
        </p:txBody>
      </p:sp>
      <p:sp>
        <p:nvSpPr>
          <p:cNvPr id="18" name="result-flow-detail-1"/>
          <p:cNvSpPr txBox="1"/>
          <p:nvPr/>
        </p:nvSpPr>
        <p:spPr>
          <a:xfrm>
            <a:off x="7981950" y="4962525"/>
            <a:ext cx="5981700" cy="266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지출 일부를 상품권으로 지급</a:t>
            </a:r>
          </a:p>
        </p:txBody>
      </p:sp>
      <p:cxnSp>
        <p:nvCxnSpPr>
          <p:cNvPr id="19" name="result-flow-arrow-1-0"/>
          <p:cNvCxnSpPr/>
          <p:nvPr/>
        </p:nvCxnSpPr>
        <p:spPr>
          <a:xfrm>
            <a:off x="7591425" y="5324475"/>
            <a:ext cx="0" cy="133350"/>
          </a:xfrm>
          <a:prstGeom prst="line">
            <a:avLst/>
          </a:prstGeom>
          <a:ln w="21590">
            <a:solidFill>
              <a:srgbClr val="839BA7"/>
            </a:solidFill>
            <a:tailEnd type="triangle"/>
          </a:ln>
        </p:spPr>
        <p:style>
          <a:lnRef idx="2">
            <a:schemeClr val="accent1"/>
          </a:lnRef>
          <a:fillRef idx="0">
            <a:schemeClr val="accent1"/>
          </a:fillRef>
          <a:effectRef idx="1">
            <a:schemeClr val="accent1"/>
          </a:effectRef>
          <a:fontRef idx="minor">
            <a:schemeClr val="tx1"/>
          </a:fontRef>
        </p:style>
      </p:cxnSp>
      <p:sp>
        <p:nvSpPr>
          <p:cNvPr id="20" name="result-flow-panel-2"/>
          <p:cNvSpPr/>
          <p:nvPr/>
        </p:nvSpPr>
        <p:spPr>
          <a:xfrm>
            <a:off x="7172325" y="5467350"/>
            <a:ext cx="7058025" cy="781050"/>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result-flow-icon-2" descr="map-pinned-ocean.png"/>
          <p:cNvPicPr>
            <a:picLocks noChangeAspect="1"/>
          </p:cNvPicPr>
          <p:nvPr/>
        </p:nvPicPr>
        <p:blipFill>
          <a:blip r:embed="rId7"/>
          <a:stretch>
            <a:fillRect/>
          </a:stretch>
        </p:blipFill>
        <p:spPr>
          <a:xfrm>
            <a:off x="7362825" y="5610225"/>
            <a:ext cx="457200" cy="457200"/>
          </a:xfrm>
          <a:prstGeom prst="rect">
            <a:avLst/>
          </a:prstGeom>
        </p:spPr>
      </p:pic>
      <p:sp>
        <p:nvSpPr>
          <p:cNvPr id="22" name="result-flow-title-2"/>
          <p:cNvSpPr txBox="1"/>
          <p:nvPr/>
        </p:nvSpPr>
        <p:spPr>
          <a:xfrm>
            <a:off x="7981950" y="5562600"/>
            <a:ext cx="59817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26323C"/>
                </a:solidFill>
                <a:latin typeface="Noto Sans KR"/>
              </a:rPr>
              <a:t>지역 상점 재이용</a:t>
            </a:r>
          </a:p>
        </p:txBody>
      </p:sp>
      <p:sp>
        <p:nvSpPr>
          <p:cNvPr id="23" name="result-flow-detail-2"/>
          <p:cNvSpPr txBox="1"/>
          <p:nvPr/>
        </p:nvSpPr>
        <p:spPr>
          <a:xfrm>
            <a:off x="7981950" y="5895975"/>
            <a:ext cx="5981700" cy="266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받은 혜택을 지역에서 다시 사용</a:t>
            </a:r>
          </a:p>
        </p:txBody>
      </p:sp>
      <p:sp>
        <p:nvSpPr>
          <p:cNvPr id="24" name="result-operation"/>
          <p:cNvSpPr txBox="1"/>
          <p:nvPr/>
        </p:nvSpPr>
        <p:spPr>
          <a:xfrm>
            <a:off x="7172325" y="6524625"/>
            <a:ext cx="7058025" cy="695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여행자가 지역에서 지출한 비용의 일부를 지역상품권으로 돌려받게 하여 혜택이</a:t>
            </a:r>
          </a:p>
          <a:p>
            <a:pPr eaLnBrk="0">
              <a:lnSpc>
                <a:spcPts val="1875"/>
              </a:lnSpc>
              <a:spcBef>
                <a:spcPts val="0"/>
              </a:spcBef>
              <a:spcAft>
                <a:spcPts val="0"/>
              </a:spcAft>
            </a:pPr>
            <a:r>
              <a:rPr sz="1500" b="0">
                <a:solidFill>
                  <a:srgbClr val="62666C"/>
                </a:solidFill>
                <a:latin typeface="Noto Sans KR"/>
              </a:rPr>
              <a:t>다시 지역 상점에서 사용되도록 설계</a:t>
            </a:r>
          </a:p>
        </p:txBody>
      </p:sp>
      <p:sp>
        <p:nvSpPr>
          <p:cNvPr id="25" name="result-action"/>
          <p:cNvSpPr txBox="1"/>
          <p:nvPr/>
        </p:nvSpPr>
        <p:spPr>
          <a:xfrm>
            <a:off x="1009650" y="73056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50045"/>
                </a:solidFill>
                <a:latin typeface="Noto Sans KR"/>
              </a:rPr>
              <a:t>사례의 운영 내용 → 지역 조건에 맞춘 실행 계획</a:t>
            </a:r>
          </a:p>
        </p:txBody>
      </p:sp>
      <p:sp>
        <p:nvSpPr>
          <p:cNvPr id="26" name="result-interpretation"/>
          <p:cNvSpPr txBox="1"/>
          <p:nvPr/>
        </p:nvSpPr>
        <p:spPr>
          <a:xfrm>
            <a:off x="1009650" y="78009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자료 구분: 운영 사례. 수치 목표와 견적은 뒤의 산출 근거에서 제시합니다.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지역별 사례</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05 / 17</a:t>
            </a:r>
          </a:p>
        </p:txBody>
      </p:sp>
      <p:sp>
        <p:nvSpPr>
          <p:cNvPr id="32" name="result-photo-source-bg"/>
          <p:cNvSpPr/>
          <p:nvPr/>
        </p:nvSpPr>
        <p:spPr>
          <a:xfrm>
            <a:off x="1123950" y="5519165"/>
            <a:ext cx="5353050" cy="57150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sult-photo-source">
            <a:hlinkClick r:id="rId4"/>
          </p:cNvPr>
          <p:cNvSpPr txBox="1"/>
          <p:nvPr/>
        </p:nvSpPr>
        <p:spPr>
          <a:xfrm>
            <a:off x="1238250" y="5557265"/>
            <a:ext cx="5124450" cy="49530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강진군 · 반값여행 공식 홍보물</a:t>
            </a:r>
          </a:p>
          <a:p>
            <a:pPr eaLnBrk="0" algn="ctr">
              <a:lnSpc>
                <a:spcPts val="1593"/>
              </a:lnSpc>
              <a:spcBef>
                <a:spcPts val="0"/>
              </a:spcBef>
              <a:spcAft>
                <a:spcPts val="0"/>
              </a:spcAft>
            </a:pPr>
            <a:r>
              <a:rPr sz="1275" b="0">
                <a:solidFill>
                  <a:srgbClr val="FFFFFF"/>
                </a:solidFill>
                <a:latin typeface="Noto Sans KR"/>
              </a:rPr>
              <a:t>출처: 강진 반값여행 공식 홈페이지</a:t>
            </a:r>
          </a:p>
        </p:txBody>
      </p:sp>
    </p:spTree>
  </p:cSld>
  <p:clrMapOvr>
    <a:masterClrMapping/>
  </p:clrMapOvr>
</p:sld>
</file>

<file path=ppt/slides/slide6.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2.1 사업 목표</a:t>
            </a:r>
          </a:p>
        </p:txBody>
      </p:sp>
      <p:sp xmlns:a="http://schemas.openxmlformats.org/drawingml/2006/main">
        <p:nvSpPr>
          <p:cNvPr id="4" name="block-0"/>
          <p:cNvSpPr/>
          <p:nvPr/>
        </p:nvSpPr>
        <p:spPr>
          <a:xfrm>
            <a:off x="10096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3009900"/>
            <a:ext cx="3943350" cy="9906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202124"/>
                </a:solidFill>
                <a:latin typeface="Noto Sans KR"/>
              </a:rPr>
              <a:t>외지인 방문객이 서구 내 지정된 사용처에서</a:t>
            </a:r>
          </a:p>
          <a:p>
            <a:pPr eaLnBrk="0">
              <a:lnSpc>
                <a:spcPts val="1781"/>
              </a:lnSpc>
              <a:spcBef>
                <a:spcPts val="0"/>
              </a:spcBef>
              <a:spcAft>
                <a:spcPts val="0"/>
              </a:spcAft>
            </a:pPr>
            <a:r>
              <a:rPr sz="1425" b="0">
                <a:solidFill>
                  <a:srgbClr val="202124"/>
                </a:solidFill>
                <a:latin typeface="Noto Sans KR"/>
              </a:rPr>
              <a:t>일정 금액 이상 소비 시, 지출액의 일부를</a:t>
            </a:r>
          </a:p>
          <a:p>
            <a:pPr eaLnBrk="0">
              <a:lnSpc>
                <a:spcPts val="1781"/>
              </a:lnSpc>
              <a:spcBef>
                <a:spcPts val="0"/>
              </a:spcBef>
              <a:spcAft>
                <a:spcPts val="0"/>
              </a:spcAft>
            </a:pPr>
            <a:r>
              <a:rPr sz="1425" b="0">
                <a:solidFill>
                  <a:srgbClr val="202124"/>
                </a:solidFill>
                <a:latin typeface="Noto Sans KR"/>
              </a:rPr>
              <a:t>지역 상품권으로 즉시 또는 사후 환급하여</a:t>
            </a:r>
          </a:p>
          <a:p>
            <a:pPr eaLnBrk="0">
              <a:lnSpc>
                <a:spcPts val="1781"/>
              </a:lnSpc>
              <a:spcBef>
                <a:spcPts val="0"/>
              </a:spcBef>
              <a:spcAft>
                <a:spcPts val="0"/>
              </a:spcAft>
            </a:pPr>
            <a:r>
              <a:rPr sz="1425" b="0">
                <a:solidFill>
                  <a:srgbClr val="202124"/>
                </a:solidFill>
                <a:latin typeface="Noto Sans KR"/>
              </a:rPr>
              <a:t>지역 내 재결제를 유도합니다.</a:t>
            </a:r>
          </a:p>
        </p:txBody>
      </p:sp>
      <p:sp xmlns:a="http://schemas.openxmlformats.org/drawingml/2006/main">
        <p:nvSpPr>
          <p:cNvPr id="8" name="block-1"/>
          <p:cNvSpPr/>
          <p:nvPr/>
        </p:nvSpPr>
        <p:spPr>
          <a:xfrm>
            <a:off x="548640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2026-10 ~ 2026-12, 3개월</a:t>
            </a:r>
          </a:p>
          <a:p>
            <a:pPr eaLnBrk="0">
              <a:lnSpc>
                <a:spcPts val="2156"/>
              </a:lnSpc>
              <a:spcBef>
                <a:spcPts val="0"/>
              </a:spcBef>
              <a:spcAft>
                <a:spcPts val="0"/>
              </a:spcAft>
            </a:pPr>
            <a:r>
              <a:rPr sz="1725" b="0">
                <a:solidFill>
                  <a:srgbClr val="202124"/>
                </a:solidFill>
                <a:latin typeface="Noto Sans KR"/>
              </a:rPr>
              <a:t>준비·협의 → 시범 운영 → 성과 확인</a:t>
            </a:r>
          </a:p>
        </p:txBody>
      </p:sp>
      <p:sp xmlns:a="http://schemas.openxmlformats.org/drawingml/2006/main">
        <p:nvSpPr>
          <p:cNvPr id="12" name="block-2"/>
          <p:cNvSpPr/>
          <p:nvPr/>
        </p:nvSpPr>
        <p:spPr>
          <a:xfrm>
            <a:off x="99631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3개월 월별 합계</a:t>
            </a:r>
          </a:p>
          <a:p>
            <a:pPr eaLnBrk="0">
              <a:lnSpc>
                <a:spcPts val="2156"/>
              </a:lnSpc>
              <a:spcBef>
                <a:spcPts val="0"/>
              </a:spcBef>
              <a:spcAft>
                <a:spcPts val="0"/>
              </a:spcAft>
            </a:pPr>
            <a:r>
              <a:rPr sz="1725" b="0">
                <a:solidFill>
                  <a:srgbClr val="202124"/>
                </a:solidFill>
                <a:latin typeface="Noto Sans KR"/>
              </a:rPr>
              <a:t>방문자 1,493만 명</a:t>
            </a:r>
          </a:p>
          <a:p>
            <a:pPr eaLnBrk="0">
              <a:lnSpc>
                <a:spcPts val="2156"/>
              </a:lnSpc>
              <a:spcBef>
                <a:spcPts val="0"/>
              </a:spcBef>
              <a:spcAft>
                <a:spcPts val="0"/>
              </a:spcAft>
            </a:pPr>
            <a:r>
              <a:rPr sz="1725" b="0">
                <a:solidFill>
                  <a:srgbClr val="202124"/>
                </a:solidFill>
                <a:latin typeface="Noto Sans KR"/>
              </a:rPr>
              <a:t>관광소비액 2,464억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06 / 17</a:t>
            </a:r>
          </a:p>
        </p:txBody>
      </p:sp>
      <p:sp xmlns:a="http://schemas.openxmlformats.org/drawingml/2006/main">
        <p:nvSpPr>
          <p:cNvPr id="34" name="business-goal-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3개월 목표: ML 전망 대비 방문자 +1,440명, 관광소비액 약 +5,149만 원</a:t>
            </a:r>
          </a:p>
        </p:txBody>
      </p:sp>
    </p:spTree>
    <p:extLst>
      <p:ext uri="{BB962C8B-B14F-4D97-AF65-F5344CB8AC3E}">
        <p14:creationId xmlns:p14="http://schemas.microsoft.com/office/powerpoint/2010/main" val="380383987"/>
      </p:ext>
    </p:extLst>
  </p:cSld>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54317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2.2 목표 KPI 산출근거</a:t>
            </a:r>
          </a:p>
        </p:txBody>
      </p:sp>
      <p:sp>
        <p:nvSpPr>
          <p:cNvPr id="4" name="kpi-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724150"/>
            <a:ext cx="809625" cy="809625"/>
          </a:xfrm>
          <a:prstGeom prst="rect">
            <a:avLst/>
          </a:prstGeom>
        </p:spPr>
      </p:pic>
      <p:sp>
        <p:nvSpPr>
          <p:cNvPr id="6" name="kpi-reason-title"/>
          <p:cNvSpPr txBox="1"/>
          <p:nvPr/>
        </p:nvSpPr>
        <p:spPr>
          <a:xfrm>
            <a:off x="2247900" y="278130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02124"/>
                </a:solidFill>
                <a:latin typeface="Noto Sans KR"/>
              </a:rPr>
              <a:t>목표를 정한 이유</a:t>
            </a:r>
          </a:p>
        </p:txBody>
      </p:sp>
      <p:sp>
        <p:nvSpPr>
          <p:cNvPr id="7" name="kpi-reason"/>
          <p:cNvSpPr txBox="1"/>
          <p:nvPr/>
        </p:nvSpPr>
        <p:spPr>
          <a:xfrm>
            <a:off x="1200150" y="3619500"/>
            <a:ext cx="6648450" cy="131445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대전광역시 서구의 2개월 운영안</a:t>
            </a:r>
          </a:p>
          <a:p>
            <a:pPr eaLnBrk="0">
              <a:lnSpc>
                <a:spcPts val="2437"/>
              </a:lnSpc>
              <a:spcBef>
                <a:spcPts val="0"/>
              </a:spcBef>
              <a:spcAft>
                <a:spcPts val="0"/>
              </a:spcAft>
            </a:pPr>
            <a:r>
              <a:rPr sz="1950" b="0">
                <a:solidFill>
                  <a:srgbClr val="62666C"/>
                </a:solidFill>
                <a:latin typeface="Noto Sans KR"/>
              </a:rPr>
              <a:t>운영 산정 기간 2026-11 ~ 2026-12</a:t>
            </a:r>
          </a:p>
          <a:p>
            <a:pPr eaLnBrk="0">
              <a:lnSpc>
                <a:spcPts val="2437"/>
              </a:lnSpc>
              <a:spcBef>
                <a:spcPts val="0"/>
              </a:spcBef>
              <a:spcAft>
                <a:spcPts val="0"/>
              </a:spcAft>
            </a:pPr>
            <a:r>
              <a:rPr sz="1950" b="0">
                <a:solidFill>
                  <a:srgbClr val="62666C"/>
                </a:solidFill>
                <a:latin typeface="Noto Sans KR"/>
              </a:rPr>
              <a:t>편성 정원 6,400명분 × 이용률 75%</a:t>
            </a:r>
          </a:p>
          <a:p>
            <a:pPr eaLnBrk="0">
              <a:lnSpc>
                <a:spcPts val="2437"/>
              </a:lnSpc>
              <a:spcBef>
                <a:spcPts val="0"/>
              </a:spcBef>
              <a:spcAft>
                <a:spcPts val="0"/>
              </a:spcAft>
            </a:pPr>
            <a:r>
              <a:rPr sz="1950" b="0">
                <a:solidFill>
                  <a:srgbClr val="62666C"/>
                </a:solidFill>
                <a:latin typeface="Noto Sans KR"/>
              </a:rPr>
              <a:t>예상 참여 4,800명 중 추가 방문 30% 가정</a:t>
            </a:r>
          </a:p>
        </p:txBody>
      </p:sp>
      <p:sp>
        <p:nvSpPr>
          <p:cNvPr id="8" name="kpi-decision-band"/>
          <p:cNvSpPr/>
          <p:nvPr/>
        </p:nvSpPr>
        <p:spPr>
          <a:xfrm>
            <a:off x="1200150" y="506730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28637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AE2349"/>
                </a:solidFill>
                <a:latin typeface="Noto Sans KR"/>
              </a:rPr>
              <a:t>추가 방문 목표 1,440명</a:t>
            </a:r>
          </a:p>
        </p:txBody>
      </p:sp>
      <p:sp>
        <p:nvSpPr>
          <p:cNvPr id="10" name="kpi-step-explanation"/>
          <p:cNvSpPr txBox="1"/>
          <p:nvPr/>
        </p:nvSpPr>
        <p:spPr>
          <a:xfrm>
            <a:off x="1200150" y="6448425"/>
            <a:ext cx="6391275" cy="9810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운영 정원 = 8개 거점 × 월 20일 × 2개월</a:t>
            </a:r>
          </a:p>
          <a:p>
            <a:pPr eaLnBrk="0">
              <a:lnSpc>
                <a:spcPts val="2062"/>
              </a:lnSpc>
              <a:spcBef>
                <a:spcPts val="0"/>
              </a:spcBef>
              <a:spcAft>
                <a:spcPts val="0"/>
              </a:spcAft>
            </a:pPr>
            <a:r>
              <a:rPr sz="1650" b="0">
                <a:solidFill>
                  <a:srgbClr val="62666C"/>
                </a:solidFill>
                <a:latin typeface="Noto Sans KR"/>
              </a:rPr>
              <a:t>× 하루 1회 × 회당 20명 = 6,400명분</a:t>
            </a:r>
          </a:p>
          <a:p>
            <a:pPr eaLnBrk="0">
              <a:lnSpc>
                <a:spcPts val="2062"/>
              </a:lnSpc>
              <a:spcBef>
                <a:spcPts val="0"/>
              </a:spcBef>
              <a:spcAft>
                <a:spcPts val="0"/>
              </a:spcAft>
            </a:pPr>
            <a:r>
              <a:rPr sz="1650" b="0">
                <a:solidFill>
                  <a:srgbClr val="62666C"/>
                </a:solidFill>
                <a:latin typeface="Noto Sans KR"/>
              </a:rPr>
              <a:t>운영량은 기획 가정이며 참여 비율의 근거는 다음 장에 표시합니다.</a:t>
            </a:r>
          </a:p>
        </p:txBody>
      </p:sp>
      <p:cxnSp>
        <p:nvCxnSpPr>
          <p:cNvPr id="11" name="kpi-to-visitors-0"/>
          <p:cNvCxnSpPr/>
          <p:nvPr/>
        </p:nvCxnSpPr>
        <p:spPr>
          <a:xfrm>
            <a:off x="7762875" y="5162550"/>
            <a:ext cx="4667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724275"/>
            <a:ext cx="0" cy="1438275"/>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724275"/>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162550"/>
            <a:ext cx="0" cy="104775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210300"/>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60985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kpi-impact-icon-0" descr="users-ocean.png"/>
          <p:cNvPicPr>
            <a:picLocks noChangeAspect="1"/>
          </p:cNvPicPr>
          <p:nvPr/>
        </p:nvPicPr>
        <p:blipFill>
          <a:blip r:embed="rId9"/>
          <a:stretch>
            <a:fillRect/>
          </a:stretch>
        </p:blipFill>
        <p:spPr>
          <a:xfrm>
            <a:off x="8943975" y="2838450"/>
            <a:ext cx="523875" cy="523875"/>
          </a:xfrm>
          <a:prstGeom prst="rect">
            <a:avLst/>
          </a:prstGeom>
        </p:spPr>
      </p:pic>
      <p:sp>
        <p:nvSpPr>
          <p:cNvPr id="18" name="kpi-impact-title-0"/>
          <p:cNvSpPr txBox="1"/>
          <p:nvPr/>
        </p:nvSpPr>
        <p:spPr>
          <a:xfrm>
            <a:off x="9629775" y="284797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방문 목표</a:t>
            </a:r>
          </a:p>
        </p:txBody>
      </p:sp>
      <p:sp>
        <p:nvSpPr>
          <p:cNvPr id="19" name="kpi-impact-value-0"/>
          <p:cNvSpPr txBox="1"/>
          <p:nvPr/>
        </p:nvSpPr>
        <p:spPr>
          <a:xfrm>
            <a:off x="8934450" y="351472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27649B"/>
                </a:solidFill>
                <a:latin typeface="Noto Sans KR"/>
              </a:rPr>
              <a:t>↑ 1,440명</a:t>
            </a:r>
          </a:p>
        </p:txBody>
      </p:sp>
      <p:sp>
        <p:nvSpPr>
          <p:cNvPr id="20" name="kpi-impact-period-0"/>
          <p:cNvSpPr txBox="1"/>
          <p:nvPr/>
        </p:nvSpPr>
        <p:spPr>
          <a:xfrm>
            <a:off x="8953500" y="433387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+0.01%</a:t>
            </a:r>
          </a:p>
        </p:txBody>
      </p:sp>
      <p:sp>
        <p:nvSpPr>
          <p:cNvPr id="21" name="kpi-impact-panel-1"/>
          <p:cNvSpPr/>
          <p:nvPr/>
        </p:nvSpPr>
        <p:spPr>
          <a:xfrm>
            <a:off x="8696325" y="509587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kpi-impact-icon-1" descr="coins-jade.png"/>
          <p:cNvPicPr>
            <a:picLocks noChangeAspect="1"/>
          </p:cNvPicPr>
          <p:nvPr/>
        </p:nvPicPr>
        <p:blipFill>
          <a:blip r:embed="rId10"/>
          <a:stretch>
            <a:fillRect/>
          </a:stretch>
        </p:blipFill>
        <p:spPr>
          <a:xfrm>
            <a:off x="8943975" y="5324475"/>
            <a:ext cx="523875" cy="523875"/>
          </a:xfrm>
          <a:prstGeom prst="rect">
            <a:avLst/>
          </a:prstGeom>
        </p:spPr>
      </p:pic>
      <p:sp>
        <p:nvSpPr>
          <p:cNvPr id="23" name="kpi-impact-title-1"/>
          <p:cNvSpPr txBox="1"/>
          <p:nvPr/>
        </p:nvSpPr>
        <p:spPr>
          <a:xfrm>
            <a:off x="9629775" y="533400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소비 목표</a:t>
            </a:r>
          </a:p>
        </p:txBody>
      </p:sp>
      <p:sp>
        <p:nvSpPr>
          <p:cNvPr id="24" name="kpi-impact-value-1"/>
          <p:cNvSpPr txBox="1"/>
          <p:nvPr/>
        </p:nvSpPr>
        <p:spPr>
          <a:xfrm>
            <a:off x="8934450" y="600075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187C70"/>
                </a:solidFill>
                <a:latin typeface="Noto Sans KR"/>
              </a:rPr>
              <a:t>↑ 0.51억 원</a:t>
            </a:r>
          </a:p>
        </p:txBody>
      </p:sp>
      <p:sp>
        <p:nvSpPr>
          <p:cNvPr id="25" name="kpi-impact-period-1"/>
          <p:cNvSpPr txBox="1"/>
          <p:nvPr/>
        </p:nvSpPr>
        <p:spPr>
          <a:xfrm>
            <a:off x="8953500" y="681990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+0.02%</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3.1 사례 선정과 지역 적용</a:t>
            </a:r>
          </a:p>
        </p:txBody>
      </p:sp>
      <p:sp>
        <p:nvSpPr>
          <p:cNvPr id="4" name="selection-case"/>
          <p:cNvSpPr txBox="1"/>
          <p:nvPr/>
        </p:nvSpPr>
        <p:spPr>
          <a:xfrm>
            <a:off x="1009650" y="1885950"/>
            <a:ext cx="13220700" cy="6667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전라남도 강진군 · 반값여행 지역환급</a:t>
            </a:r>
          </a:p>
        </p:txBody>
      </p:sp>
      <p:graphicFrame>
        <p:nvGraphicFramePr>
          <p:cNvPr id="5" name="selection-matrix"/>
          <p:cNvGraphicFramePr>
            <a:graphicFrameLocks noGrp="1"/>
          </p:cNvGraphicFramePr>
          <p:nvPr/>
        </p:nvGraphicFramePr>
        <p:xfrm>
          <a:off x="1009650" y="2809875"/>
          <a:ext cx="13220700" cy="3429000"/>
        </p:xfrm>
        <a:graphic>
          <a:graphicData uri="http://schemas.openxmlformats.org/drawingml/2006/table">
            <a:tbl>
              <a:tblPr firstRow="1" bandRow="1">
                <a:tableStyleId>{5C22544A-7EE6-4342-B048-85BDC9FD1C3A}</a:tableStyleId>
              </a:tblPr>
              <a:tblGrid>
                <a:gridCol w="2209800"/>
                <a:gridCol w="5505450"/>
                <a:gridCol w="5505450"/>
              </a:tblGrid>
              <a:tr h="49530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495565"/>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여행자가 지역에서 지출한 비용의 일부를 지역상품권으로</a:t>
                      </a:r>
                    </a:p>
                    <a:p>
                      <a:pPr eaLnBrk="0">
                        <a:lnSpc>
                          <a:spcPct val="112000"/>
                        </a:lnSpc>
                        <a:spcBef>
                          <a:spcPts val="0"/>
                        </a:spcBef>
                        <a:spcAft>
                          <a:spcPts val="0"/>
                        </a:spcAft>
                      </a:pPr>
                      <a:r>
                        <a:rPr sz="1575" b="0">
                          <a:solidFill>
                            <a:srgbClr val="202124"/>
                          </a:solidFill>
                          <a:latin typeface="Noto Sans KR"/>
                        </a:rPr>
                        <a:t>돌려받게 하여 혜택이 다시 지역 상점에서 사용되도록 설계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결제·혜택·재이용 또는 예약·체류 등 실제 이용</a:t>
                      </a:r>
                    </a:p>
                    <a:p>
                      <a:pPr eaLnBrk="0">
                        <a:lnSpc>
                          <a:spcPct val="112000"/>
                        </a:lnSpc>
                        <a:spcBef>
                          <a:spcPts val="0"/>
                        </a:spcBef>
                        <a:spcAft>
                          <a:spcPts val="0"/>
                        </a:spcAft>
                      </a:pPr>
                      <a:r>
                        <a:rPr sz="1575" b="0">
                          <a:solidFill>
                            <a:srgbClr val="202124"/>
                          </a:solidFill>
                          <a:latin typeface="Noto Sans KR"/>
                        </a:rPr>
                        <a:t>흐름이 같은 사례만 연결</a:t>
                      </a:r>
                    </a:p>
                  </a:txBody>
                  <a:tcPr marL="95250" marR="95250" marT="66675" marB="66675" anchor="ctr">
                    <a:solidFill>
                      <a:srgbClr val="FFFFFF"/>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선택 지역의</a:t>
                      </a:r>
                    </a:p>
                    <a:p>
                      <a:pPr eaLnBrk="0">
                        <a:lnSpc>
                          <a:spcPct val="112000"/>
                        </a:lnSpc>
                        <a:spcBef>
                          <a:spcPts val="0"/>
                        </a:spcBef>
                        <a:spcAft>
                          <a:spcPts val="0"/>
                        </a:spcAft>
                      </a:pPr>
                      <a:r>
                        <a:rPr sz="1575" b="1">
                          <a:solidFill>
                            <a:srgbClr val="202124"/>
                          </a:solidFill>
                          <a:latin typeface="Noto Sans KR"/>
                        </a:rPr>
                        <a:t>소비·체류</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월간 순 방문자 수: 4,619,168명 / 외지인 관광소비 총액:</a:t>
                      </a:r>
                    </a:p>
                    <a:p>
                      <a:pPr eaLnBrk="0">
                        <a:lnSpc>
                          <a:spcPct val="112000"/>
                        </a:lnSpc>
                        <a:spcBef>
                          <a:spcPts val="0"/>
                        </a:spcBef>
                        <a:spcAft>
                          <a:spcPts val="0"/>
                        </a:spcAft>
                      </a:pPr>
                      <a:r>
                        <a:rPr sz="1575" b="0">
                          <a:solidFill>
                            <a:srgbClr val="202124"/>
                          </a:solidFill>
                          <a:latin typeface="Noto Sans KR"/>
                        </a:rPr>
                        <a:t>76,758,413,000원 / 외지인 숙박 방문 비율: 6.7%</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지역 소비·체류 지표를 보고 참여 업종과 이용</a:t>
                      </a:r>
                    </a:p>
                    <a:p>
                      <a:pPr eaLnBrk="0">
                        <a:lnSpc>
                          <a:spcPct val="112000"/>
                        </a:lnSpc>
                        <a:spcBef>
                          <a:spcPts val="0"/>
                        </a:spcBef>
                        <a:spcAft>
                          <a:spcPts val="0"/>
                        </a:spcAft>
                      </a:pPr>
                      <a:r>
                        <a:rPr sz="1575" b="0">
                          <a:solidFill>
                            <a:srgbClr val="202124"/>
                          </a:solidFill>
                          <a:latin typeface="Noto Sans KR"/>
                        </a:rPr>
                        <a:t>대상을 정합니다.</a:t>
                      </a:r>
                    </a:p>
                  </a:txBody>
                  <a:tcPr marL="95250" marR="95250" marT="66675" marB="66675" anchor="ctr">
                    <a:solidFill>
                      <a:srgbClr val="F0F2F4"/>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입력 예산 총액 안에서 참여량과 운영 인력을 배분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647700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696075"/>
            <a:ext cx="3048000" cy="6191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87C70"/>
                </a:solidFill>
                <a:latin typeface="Noto Sans KR"/>
              </a:rPr>
              <a:t>사례 → 우리 지역의 제안</a:t>
            </a:r>
          </a:p>
        </p:txBody>
      </p:sp>
      <p:sp>
        <p:nvSpPr>
          <p:cNvPr id="8" name="adaptation-body"/>
          <p:cNvSpPr txBox="1"/>
          <p:nvPr/>
        </p:nvSpPr>
        <p:spPr>
          <a:xfrm>
            <a:off x="4552950" y="6638925"/>
            <a:ext cx="9163050" cy="9048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외지인 방문객이 서구 내 지정된 사용처에서 일정 금액 이상 소비 시, 지출액의 일부를 지역 상품권으로</a:t>
            </a:r>
          </a:p>
          <a:p>
            <a:pPr eaLnBrk="0">
              <a:lnSpc>
                <a:spcPts val="1968"/>
              </a:lnSpc>
              <a:spcBef>
                <a:spcPts val="0"/>
              </a:spcBef>
              <a:spcAft>
                <a:spcPts val="0"/>
              </a:spcAft>
            </a:pPr>
            <a:r>
              <a:rPr sz="1575" b="0">
                <a:solidFill>
                  <a:srgbClr val="202124"/>
                </a:solidFill>
                <a:latin typeface="Noto Sans KR"/>
              </a:rPr>
              <a:t>즉시 또는 사후 환급하여 지역 내 재결제를 유도합니다.</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62666C"/>
                </a:solidFill>
                <a:latin typeface="Noto Sans KR"/>
                <a:hlinkClick r:id="rId2"/>
              </a:rPr>
              <a:t>문서 기반 함수 연결 · 강진 반값여행 지역경제 효과 소개</a:t>
            </a:r>
          </a:p>
        </p:txBody>
      </p:sp>
      <p:sp>
        <p:nvSpPr>
          <p:cNvPr id="11"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p:nvSpPr>
          <p:cNvPr id="12"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10 / 17</a:t>
            </a:r>
          </a:p>
        </p:txBody>
      </p:sp>
    </p:spTree>
  </p:cSld>
  <p:clrMapOvr>
    <a:masterClrMapping/>
  </p:clrMapOvr>
</p:sld>
</file>

<file path=ppt/slides/slide9.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3.2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27649B"/>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참여 가게와 지원 기준을 먼저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참여를 희망하는 가게에 사용 가능한 상품권과 정산 방법을 확인합니다. 지원 대상, 인정할 지출, 신청</a:t>
            </a:r>
          </a:p>
          <a:p>
            <a:pPr eaLnBrk="0">
              <a:lnSpc>
                <a:spcPts val="1875"/>
              </a:lnSpc>
              <a:spcBef>
                <a:spcPts val="0"/>
              </a:spcBef>
              <a:spcAft>
                <a:spcPts val="0"/>
              </a:spcAft>
            </a:pPr>
            <a:r>
              <a:rPr sz="1500" b="0">
                <a:solidFill>
                  <a:srgbClr val="62666C"/>
                </a:solidFill>
                <a:latin typeface="Noto Sans KR"/>
              </a:rPr>
              <a:t>마감일과 1인당 한도를 정해 같은 안내문을 배포합니다.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187C70"/>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신청부터 지급까지 직접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시험 신청서를 넣고 영수증의 날짜·가게·금액을 확인합니다. 취소 결제와 중복 신청을 걸러내고, 서류가</a:t>
            </a:r>
          </a:p>
          <a:p>
            <a:pPr eaLnBrk="0">
              <a:lnSpc>
                <a:spcPts val="1875"/>
              </a:lnSpc>
              <a:spcBef>
                <a:spcPts val="0"/>
              </a:spcBef>
              <a:spcAft>
                <a:spcPts val="0"/>
              </a:spcAft>
            </a:pPr>
            <a:r>
              <a:rPr sz="1500" b="0">
                <a:solidFill>
                  <a:srgbClr val="62666C"/>
                </a:solidFill>
                <a:latin typeface="Noto Sans KR"/>
              </a:rPr>
              <a:t>부족할 때 누구에게 보완을 요청할지도 정합니다.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7556A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2026-11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작게 시작하고 확인된 신청부터 지급합니다.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가게를 한정해 먼저 운영합니다. 담당자가 지출 증빙을 확인한 뒤 정해진 기준에 따라 환급하고,</a:t>
            </a:r>
          </a:p>
          <a:p>
            <a:pPr eaLnBrk="0">
              <a:lnSpc>
                <a:spcPts val="1875"/>
              </a:lnSpc>
              <a:spcBef>
                <a:spcPts val="0"/>
              </a:spcBef>
              <a:spcAft>
                <a:spcPts val="0"/>
              </a:spcAft>
            </a:pPr>
            <a:r>
              <a:rPr sz="1500" b="0">
                <a:solidFill>
                  <a:srgbClr val="62666C"/>
                </a:solidFill>
                <a:latin typeface="Noto Sans KR"/>
              </a:rPr>
              <a:t>신청자에게 지급일과 상품권 사용 방법을 알려줍니다.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AE2349"/>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지급 기록과 실제 사용 결과를 확인합니다.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신청·승인·지급 건수와 비용을 맞춰 봅니다. 상품권 사용 집계가 가능한지 운영사에 확인하고, 종료 후</a:t>
            </a:r>
          </a:p>
          <a:p>
            <a:pPr eaLnBrk="0">
              <a:lnSpc>
                <a:spcPts val="1875"/>
              </a:lnSpc>
              <a:spcBef>
                <a:spcPts val="0"/>
              </a:spcBef>
              <a:spcAft>
                <a:spcPts val="0"/>
              </a:spcAft>
            </a:pPr>
            <a:r>
              <a:rPr sz="1500" b="0">
                <a:solidFill>
                  <a:srgbClr val="62666C"/>
                </a:solidFill>
                <a:latin typeface="Noto Sans KR"/>
              </a:rPr>
              <a:t>취소를 뺀 실적을 정리합니다. 전체 관광소비 증가를 전부 사업 성과로 보지는 않습니다.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11 / 17</a:t>
            </a:r>
          </a:p>
        </p:txBody>
      </p:sp>
    </p:spTree>
    <p:extLst>
      <p:ext uri="{BB962C8B-B14F-4D97-AF65-F5344CB8AC3E}">
        <p14:creationId xmlns:p14="http://schemas.microsoft.com/office/powerpoint/2010/main" val="380383987"/>
      </p:ext>
    </p:extLst>
  </p:cSld>
</p:sld>
</file>

<file path=ppt/slides/slide10.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3.3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27649B"/>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4,998,578명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4,998,578명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0명 · 0.00%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4,940,348명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4,940,825명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477명 · 0.01%</a:t>
                      </a:r>
                    </a:p>
                  </a:txBody>
                  <a:tcPr marL="95250" marR="95250" marT="66675" marB="66675" anchor="ctr">
                    <a:solidFill>
                      <a:srgbClr val="EDF3F8"/>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4,989,633명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4,990,596명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963명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14,928,559명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14,929,999명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1,440명 · 0.01%</a:t>
                      </a:r>
                    </a:p>
                  </a:txBody>
                  <a:tcPr marL="95250" marR="95250" marT="66675" marB="66675" anchor="ctr">
                    <a:solidFill>
                      <a:srgbClr val="EDF3F8"/>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27649B"/>
                </a:solidFill>
                <a:latin typeface="Noto Sans KR"/>
              </a:rPr>
              <a:t>3개월 목표 추가 규모 ↑ 1,440명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187C70"/>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793.59억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793.59억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0만 원 · 0.00%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859.72억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859.90억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1,785만 원 · 0.02%</a:t>
                      </a:r>
                    </a:p>
                  </a:txBody>
                  <a:tcPr marL="95250" marR="95250" marT="66675" marB="66675" anchor="ctr">
                    <a:solidFill>
                      <a:srgbClr val="EDF5F3"/>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810.34억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810.68억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3,364만 원 · 0.04%</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2,463.65억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2,464.17억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5,149만 원 · 0.02%</a:t>
                      </a:r>
                    </a:p>
                  </a:txBody>
                  <a:tcPr marL="95250" marR="95250" marT="66675" marB="66675" anchor="ctr">
                    <a:solidFill>
                      <a:srgbClr val="EDF5F3"/>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187C70"/>
                </a:solidFill>
                <a:latin typeface="Noto Sans KR"/>
              </a:rPr>
              <a:t>3개월 목표 추가 규모 ↑ 5,149만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준비월의 추가 목표는 0명·0원입니다. 운영월에는 ML 전망 × 최종월 목표율 × (경과 운영월 ÷ 전체 운영월)을 더합니다.</a:t>
            </a:r>
          </a:p>
          <a:p>
            <a:pPr eaLnBrk="0">
              <a:lnSpc>
                <a:spcPts val="1687"/>
              </a:lnSpc>
              <a:spcBef>
                <a:spcPts val="0"/>
              </a:spcBef>
              <a:spcAft>
                <a:spcPts val="0"/>
              </a:spcAft>
            </a:pPr>
            <a:r>
              <a:rPr sz="1350" b="0">
                <a:solidFill>
                  <a:srgbClr val="62666C"/>
                </a:solidFill>
                <a:latin typeface="Noto Sans KR"/>
              </a:rPr>
              <a:t>합계 증가율 = (목표 합계 ÷ ML 합계 − 1) × 100. 방문 합계는 월 간 중복을 포함하며, 보장된 사업 효과가 아닙니다.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12 / 17</a:t>
            </a:r>
          </a:p>
        </p:txBody>
      </p:sp>
    </p:spTree>
    <p:extLst>
      <p:ext uri="{BB962C8B-B14F-4D97-AF65-F5344CB8AC3E}">
        <p14:creationId xmlns:p14="http://schemas.microsoft.com/office/powerpoint/2010/main" val="553742078"/>
      </p:ext>
    </p:extLst>
  </p:cSld>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4.1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참여 목표에 따른 예상 사업비</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3,951만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여행비 환급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7,920,000원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참여 목표 4,800건 × min(계획 결제 16,503원 × 10%, 건별 상한 50,000원) = 건당 1,650원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12,000,000원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2개 운영팀 × 월 20일 × 2개월 × 150,000원 (점포 묶음 8개, 최대 4개당 공동 정산팀 1개)</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신청·운영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수단 설정 1식 × 가정 단가 8,000,000원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안내 콘텐츠 1식 × 가정 단가 5,000,000원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실적 정리 1식 × 가정 단가 3,000,000원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3,592,000원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35,920,000원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참여자 결제 79,214,400원 중 추가 소비 목표 51,489,277원. 견적은 같은 참여 목표의 사업비이며, 결제액 전체를 신규 소비나 사업 수익으로 계산하지 않습니다.</a:t>
            </a:r>
          </a:p>
          <a:p>
            <a:pPr eaLnBrk="0">
              <a:lnSpc>
                <a:spcPts val="1781"/>
              </a:lnSpc>
              <a:spcBef>
                <a:spcPts val="0"/>
              </a:spcBef>
              <a:spcAft>
                <a:spcPts val="0"/>
              </a:spcAft>
            </a:pPr>
            <a:r>
              <a:rPr sz="1425" b="0">
                <a:solidFill>
                  <a:srgbClr val="62666C"/>
                </a:solidFill>
                <a:latin typeface="Noto Sans KR"/>
              </a:rPr>
              <a:t>100% 참여 시 참고예산 42,416,000원 · 같은 계획 결제·단가 기준, 지급 상한 총액은 아님. 예비비는 직접비의 10%.</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13 / 17</a:t>
            </a:r>
          </a:p>
        </p:txBody>
      </p:sp>
    </p:spTree>
    <p:extLst>
      <p:ext uri="{BB962C8B-B14F-4D97-AF65-F5344CB8AC3E}">
        <p14:creationId xmlns:p14="http://schemas.microsoft.com/office/powerpoint/2010/main" val="1823133345"/>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86"/>
          <p:cNvSpPr/>
          <p:nvPr/>
        </p:nvSpPr>
        <p:spPr>
          <a:xfrm>
            <a:off x="103441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64"/>
          <p:cNvSpPr/>
          <p:nvPr/>
        </p:nvSpPr>
        <p:spPr>
          <a:xfrm>
            <a:off x="822960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42"/>
          <p:cNvSpPr/>
          <p:nvPr/>
        </p:nvSpPr>
        <p:spPr>
          <a:xfrm>
            <a:off x="61150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5.1 기획서 생성 파이프라인</a:t>
            </a:r>
          </a:p>
        </p:txBody>
      </p:sp>
      <p:sp>
        <p:nvSpPr>
          <p:cNvPr id="4" name="pipeline-intro"/>
          <p:cNvSpPr txBox="1"/>
          <p:nvPr/>
        </p:nvSpPr>
        <p:spPr>
          <a:xfrm>
            <a:off x="1009650" y="18097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0575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2030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34850" y="4324350"/>
            <a:ext cx="6286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peline-evidence-icon" descr="map-pinned-ocean.png"/>
          <p:cNvPicPr>
            <a:picLocks noChangeAspect="1"/>
          </p:cNvPicPr>
          <p:nvPr/>
        </p:nvPicPr>
        <p:blipFill>
          <a:blip r:embed="rId19"/>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① 지역</a:t>
            </a:r>
          </a:p>
          <a:p>
            <a:pPr eaLnBrk="0">
              <a:lnSpc>
                <a:spcPts val="2203"/>
              </a:lnSpc>
              <a:spcBef>
                <a:spcPts val="0"/>
              </a:spcBef>
              <a:spcAft>
                <a:spcPts val="0"/>
              </a:spcAft>
            </a:pPr>
            <a:r>
              <a:rPr sz="1762" b="1">
                <a:solidFill>
                  <a:srgbClr val="202124"/>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68" name="pipeline-case-icon" descr="search-check-violet.png"/>
          <p:cNvPicPr>
            <a:picLocks noChangeAspect="1"/>
          </p:cNvPicPr>
          <p:nvPr/>
        </p:nvPicPr>
        <p:blipFill>
          <a:blip r:embed="rId20"/>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② 타지역</a:t>
            </a:r>
          </a:p>
          <a:p>
            <a:pPr eaLnBrk="0">
              <a:lnSpc>
                <a:spcPts val="2203"/>
              </a:lnSpc>
              <a:spcBef>
                <a:spcPts val="0"/>
              </a:spcBef>
              <a:spcAft>
                <a:spcPts val="0"/>
              </a:spcAft>
            </a:pPr>
            <a:r>
              <a:rPr sz="1762" b="1">
                <a:solidFill>
                  <a:srgbClr val="202124"/>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저장 근거 · 공식 사업·성과</a:t>
            </a:r>
          </a:p>
        </p:txBody>
      </p:sp>
      <p:pic>
        <p:nvPicPr>
          <p:cNvPr id="69" name="pipeline-click-icon" descr="mouse-pointer-click-slate.png"/>
          <p:cNvPicPr>
            <a:picLocks noChangeAspect="1"/>
          </p:cNvPicPr>
          <p:nvPr/>
        </p:nvPicPr>
        <p:blipFill>
          <a:blip r:embed="rId21"/>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02124"/>
                </a:solidFill>
                <a:latin typeface="Noto Sans KR"/>
              </a:rPr>
              <a:t>기획서 생성</a:t>
            </a:r>
          </a:p>
          <a:p>
            <a:pPr eaLnBrk="0" algn="ctr">
              <a:lnSpc>
                <a:spcPts val="2531"/>
              </a:lnSpc>
              <a:spcBef>
                <a:spcPts val="0"/>
              </a:spcBef>
              <a:spcAft>
                <a:spcPts val="0"/>
              </a:spcAft>
            </a:pPr>
            <a:r>
              <a:rPr sz="2025" b="1">
                <a:solidFill>
                  <a:srgbClr val="202124"/>
                </a:solidFill>
                <a:latin typeface="Noto Sans KR"/>
              </a:rPr>
              <a:t>클릭</a:t>
            </a:r>
          </a:p>
        </p:txBody>
      </p:sp>
      <p:sp>
        <p:nvSpPr>
          <p:cNvPr id="27" name="pipeline-model-652"/>
          <p:cNvSpPr txBox="1"/>
          <p:nvPr/>
        </p:nvSpPr>
        <p:spPr>
          <a:xfrm>
            <a:off x="62103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7649B"/>
                </a:solidFill>
                <a:latin typeface="Noto Sans KR"/>
              </a:rPr>
              <a:t>Qwen</a:t>
            </a:r>
          </a:p>
        </p:txBody>
      </p:sp>
      <p:pic>
        <p:nvPicPr>
          <p:cNvPr id="70" name="pipeline-icon-652" descr="git-compare-arrows-ocean.png"/>
          <p:cNvPicPr>
            <a:picLocks noChangeAspect="1"/>
          </p:cNvPicPr>
          <p:nvPr/>
        </p:nvPicPr>
        <p:blipFill>
          <a:blip r:embed="rId22"/>
          <a:stretch>
            <a:fillRect/>
          </a:stretch>
        </p:blipFill>
        <p:spPr>
          <a:xfrm>
            <a:off x="6677025" y="3705225"/>
            <a:ext cx="762000" cy="762000"/>
          </a:xfrm>
          <a:prstGeom prst="rect">
            <a:avLst/>
          </a:prstGeom>
        </p:spPr>
      </p:pic>
      <p:sp>
        <p:nvSpPr>
          <p:cNvPr id="29" name="pipeline-title-652"/>
          <p:cNvSpPr txBox="1"/>
          <p:nvPr/>
        </p:nvSpPr>
        <p:spPr>
          <a:xfrm>
            <a:off x="61626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③ 후보 비교</a:t>
            </a:r>
          </a:p>
        </p:txBody>
      </p:sp>
      <p:sp>
        <p:nvSpPr>
          <p:cNvPr id="30" name="pipeline-body-652"/>
          <p:cNvSpPr txBox="1"/>
          <p:nvPr/>
        </p:nvSpPr>
        <p:spPr>
          <a:xfrm>
            <a:off x="61626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32485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A96924"/>
                </a:solidFill>
                <a:latin typeface="Noto Sans KR"/>
              </a:rPr>
              <a:t>Gemma</a:t>
            </a:r>
          </a:p>
        </p:txBody>
      </p:sp>
      <p:pic>
        <p:nvPicPr>
          <p:cNvPr id="71" name="pipeline-icon-874" descr="notebook-pen-ochre.png"/>
          <p:cNvPicPr>
            <a:picLocks noChangeAspect="1"/>
          </p:cNvPicPr>
          <p:nvPr/>
        </p:nvPicPr>
        <p:blipFill>
          <a:blip r:embed="rId23"/>
          <a:stretch>
            <a:fillRect/>
          </a:stretch>
        </p:blipFill>
        <p:spPr>
          <a:xfrm>
            <a:off x="8791575" y="3705225"/>
            <a:ext cx="762000" cy="762000"/>
          </a:xfrm>
          <a:prstGeom prst="rect">
            <a:avLst/>
          </a:prstGeom>
        </p:spPr>
      </p:pic>
      <p:sp>
        <p:nvSpPr>
          <p:cNvPr id="33" name="pipeline-title-874"/>
          <p:cNvSpPr txBox="1"/>
          <p:nvPr/>
        </p:nvSpPr>
        <p:spPr>
          <a:xfrm>
            <a:off x="827722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④ 본문 작성</a:t>
            </a:r>
          </a:p>
        </p:txBody>
      </p:sp>
      <p:sp>
        <p:nvSpPr>
          <p:cNvPr id="34" name="pipeline-body-874"/>
          <p:cNvSpPr txBox="1"/>
          <p:nvPr/>
        </p:nvSpPr>
        <p:spPr>
          <a:xfrm>
            <a:off x="827722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4394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187C70"/>
                </a:solidFill>
                <a:latin typeface="Noto Sans KR"/>
              </a:rPr>
              <a:t>검수 모델</a:t>
            </a:r>
          </a:p>
        </p:txBody>
      </p:sp>
      <p:pic>
        <p:nvPicPr>
          <p:cNvPr id="72" name="pipeline-icon-1096" descr="shield-check-jade.png"/>
          <p:cNvPicPr>
            <a:picLocks noChangeAspect="1"/>
          </p:cNvPicPr>
          <p:nvPr/>
        </p:nvPicPr>
        <p:blipFill>
          <a:blip r:embed="rId24"/>
          <a:stretch>
            <a:fillRect/>
          </a:stretch>
        </p:blipFill>
        <p:spPr>
          <a:xfrm>
            <a:off x="10906125" y="3705225"/>
            <a:ext cx="762000" cy="762000"/>
          </a:xfrm>
          <a:prstGeom prst="rect">
            <a:avLst/>
          </a:prstGeom>
        </p:spPr>
      </p:pic>
      <p:sp>
        <p:nvSpPr>
          <p:cNvPr id="37" name="pipeline-title-1096"/>
          <p:cNvSpPr txBox="1"/>
          <p:nvPr/>
        </p:nvSpPr>
        <p:spPr>
          <a:xfrm>
            <a:off x="103917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⑤ 품질 검수</a:t>
            </a:r>
          </a:p>
        </p:txBody>
      </p:sp>
      <p:sp>
        <p:nvSpPr>
          <p:cNvPr id="38" name="pipeline-body-1096"/>
          <p:cNvSpPr txBox="1"/>
          <p:nvPr/>
        </p:nvSpPr>
        <p:spPr>
          <a:xfrm>
            <a:off x="103917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pic>
        <p:nvPicPr>
          <p:cNvPr id="73" name="pipeline-output-icon" descr="files-slate.png"/>
          <p:cNvPicPr>
            <a:picLocks noChangeAspect="1"/>
          </p:cNvPicPr>
          <p:nvPr/>
        </p:nvPicPr>
        <p:blipFill>
          <a:blip r:embed="rId25"/>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peline-data-icon" descr="database-ocean.png"/>
          <p:cNvPicPr>
            <a:picLocks noChangeAspect="1"/>
          </p:cNvPicPr>
          <p:nvPr/>
        </p:nvPicPr>
        <p:blipFill>
          <a:blip r:embed="rId26"/>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02124"/>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5.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14 / 17</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r="http://schemas.openxmlformats.org/officeDocument/2006/relationships" r: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D07 SNS 언급량 2026-06</a:t>
            </a:r>
          </a:p>
        </p:txBody>
      </p:sp>
      <p:sp xmlns:a="http://schemas.openxmlformats.org/drawingml/2006/main">
        <p:nvSpPr>
          <p:cNvPr id="12" name="reference-7"/>
          <p:cNvSpPr txBox="1"/>
          <p:nvPr/>
        </p:nvSpPr>
        <p:spPr>
          <a:xfrm>
            <a:off x="1009650" y="4995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D08 방문자/2025_01_12.zip</a:t>
            </a:r>
          </a:p>
        </p:txBody>
      </p:sp>
      <p:sp xmlns:a="http://schemas.openxmlformats.org/drawingml/2006/main">
        <p:nvSpPr>
          <p:cNvPr id="13" name="reference-8"/>
          <p:cNvSpPr txBox="1"/>
          <p:nvPr/>
        </p:nvSpPr>
        <p:spPr>
          <a:xfrm>
            <a:off x="1009650" y="5300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D09 관광소비/2025_01_12.zip</a:t>
            </a:r>
          </a:p>
        </p:txBody>
      </p:sp>
      <p:sp xmlns:a="http://schemas.openxmlformats.org/drawingml/2006/main">
        <p:nvSpPr>
          <p:cNvPr id="14" name="reference-9"/>
          <p:cNvSpPr txBox="1"/>
          <p:nvPr/>
        </p:nvSpPr>
        <p:spPr>
          <a:xfrm>
            <a:off x="1009650" y="5605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D10 숙박_체류시간/2025_01_12.zip</a:t>
            </a:r>
          </a:p>
        </p:txBody>
      </p:sp>
      <p:sp xmlns:a="http://schemas.openxmlformats.org/drawingml/2006/main">
        <p:nvSpPr>
          <p:cNvPr id="15" name="reference-10"/>
          <p:cNvSpPr txBox="1"/>
          <p:nvPr/>
        </p:nvSpPr>
        <p:spPr>
          <a:xfrm>
            <a:off x="1009650" y="5910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D11 관광소비/2026_01_06.zip</a:t>
            </a:r>
          </a:p>
        </p:txBody>
      </p:sp>
      <p:sp xmlns:a="http://schemas.openxmlformats.org/drawingml/2006/main">
        <p:nvSpPr>
          <p:cNvPr id="16" name="reference-11"/>
          <p:cNvSpPr txBox="1"/>
          <p:nvPr/>
        </p:nvSpPr>
        <p:spPr>
          <a:xfrm>
            <a:off x="1009650" y="6215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D12 방문자/2026_01_06.zip</a:t>
            </a:r>
          </a:p>
        </p:txBody>
      </p:sp>
      <p:sp xmlns:a="http://schemas.openxmlformats.org/drawingml/2006/main">
        <p:nvSpPr>
          <p:cNvPr id="17" name="reference-12"/>
          <p:cNvSpPr txBox="1"/>
          <p:nvPr/>
        </p:nvSpPr>
        <p:spPr>
          <a:xfrm>
            <a:off x="1009650" y="6519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D13 숙박_체류시간/2026_01_06.zip</a:t>
            </a:r>
          </a:p>
        </p:txBody>
      </p:sp>
      <p:sp xmlns:a="http://schemas.openxmlformats.org/drawingml/2006/main">
        <p:nvSpPr>
          <p:cNvPr id="18" name="reference-13"/>
          <p:cNvSpPr txBox="1"/>
          <p:nvPr/>
        </p:nvSpPr>
        <p:spPr>
          <a:xfrm>
            <a:off x="1009650" y="6824662"/>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D14 이동통신/내국인/지역별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p</a:t>
            </a:r>
          </a:p>
        </p:txBody>
      </p:sp>
      <p:sp xmlns:a="http://schemas.openxmlformats.org/drawingml/2006/main">
        <p:nvSpPr>
          <p:cNvPr id="19" name="reference-14"/>
          <p:cNvSpPr txBox="1"/>
          <p:nvPr/>
        </p:nvSpPr>
        <p:spPr>
          <a:xfrm>
            <a:off x="1009650" y="74366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D15</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다운로드.zip</a:t>
            </a:r>
          </a:p>
        </p:txBody>
      </p:sp>
      <p:sp xmlns:a="http://schemas.openxmlformats.org/drawingml/2006/main">
        <p:nvSpPr>
          <p:cNvPr id="20" name="reference-15"/>
          <p:cNvSpPr txBox="1"/>
          <p:nvPr/>
        </p:nvSpPr>
        <p:spPr>
          <a:xfrm>
            <a:off x="548640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D16 신용카드/내국인/지역별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zip</a:t>
            </a:r>
          </a:p>
        </p:txBody>
      </p:sp>
      <p:sp xmlns:a="http://schemas.openxmlformats.org/drawingml/2006/main">
        <p:nvSpPr>
          <p:cNvPr id="21" name="reference-16"/>
          <p:cNvSpPr txBox="1"/>
          <p:nvPr/>
        </p:nvSpPr>
        <p:spPr>
          <a:xfrm>
            <a:off x="5486400" y="3088481"/>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D17 신용카드/외국인/지역별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zip</a:t>
            </a:r>
          </a:p>
        </p:txBody>
      </p:sp>
      <p:sp xmlns:a="http://schemas.openxmlformats.org/drawingml/2006/main">
        <p:nvSpPr>
          <p:cNvPr id="22" name="reference-17"/>
          <p:cNvSpPr txBox="1"/>
          <p:nvPr/>
        </p:nvSpPr>
        <p:spPr>
          <a:xfrm>
            <a:off x="5486400" y="3700462"/>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D18 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p</a:t>
            </a:r>
          </a:p>
        </p:txBody>
      </p:sp>
      <p:sp xmlns:a="http://schemas.openxmlformats.org/drawingml/2006/main">
        <p:nvSpPr>
          <p:cNvPr id="23" name="reference-18"/>
          <p:cNvSpPr txBox="1"/>
          <p:nvPr/>
        </p:nvSpPr>
        <p:spPr>
          <a:xfrm>
            <a:off x="5486400" y="43124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D19 이동통신/내국인/지역별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p</a:t>
            </a:r>
          </a:p>
        </p:txBody>
      </p:sp>
      <p:sp xmlns:a="http://schemas.openxmlformats.org/drawingml/2006/main">
        <p:nvSpPr>
          <p:cNvPr id="24" name="reference-19"/>
          <p:cNvSpPr txBox="1"/>
          <p:nvPr/>
        </p:nvSpPr>
        <p:spPr>
          <a:xfrm>
            <a:off x="5486400" y="492442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D20</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다운로드.zip</a:t>
            </a:r>
          </a:p>
        </p:txBody>
      </p:sp>
      <p:sp xmlns:a="http://schemas.openxmlformats.org/drawingml/2006/main">
        <p:nvSpPr>
          <p:cNvPr id="25" name="reference-20"/>
          <p:cNvSpPr txBox="1"/>
          <p:nvPr/>
        </p:nvSpPr>
        <p:spPr>
          <a:xfrm>
            <a:off x="5486400" y="553640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D21 신용카드/내국인/지역별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zip</a:t>
            </a:r>
          </a:p>
        </p:txBody>
      </p:sp>
      <p:sp xmlns:a="http://schemas.openxmlformats.org/drawingml/2006/main">
        <p:nvSpPr>
          <p:cNvPr id="26" name="reference-21"/>
          <p:cNvSpPr txBox="1"/>
          <p:nvPr/>
        </p:nvSpPr>
        <p:spPr>
          <a:xfrm>
            <a:off x="5486400" y="6148388"/>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D22 신용카드/외국인/지역별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zip</a:t>
            </a:r>
          </a:p>
        </p:txBody>
      </p:sp>
      <p:sp xmlns:a="http://schemas.openxmlformats.org/drawingml/2006/main">
        <p:nvSpPr>
          <p:cNvPr id="27" name="reference-22"/>
          <p:cNvSpPr txBox="1"/>
          <p:nvPr/>
        </p:nvSpPr>
        <p:spPr>
          <a:xfrm>
            <a:off x="5486400" y="6760369"/>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D23 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p</a:t>
            </a:r>
          </a:p>
        </p:txBody>
      </p:sp>
      <p:sp xmlns:a="http://schemas.openxmlformats.org/drawingml/2006/main">
        <p:nvSpPr>
          <p:cNvPr id="28" name="reference-23"/>
          <p:cNvSpPr txBox="1"/>
          <p:nvPr/>
        </p:nvSpPr>
        <p:spPr>
          <a:xfrm>
            <a:off x="5486400" y="737235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D24 이동통신/내국인/지역별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p</a:t>
            </a:r>
          </a:p>
        </p:txBody>
      </p:sp>
      <p:sp xmlns:a="http://schemas.openxmlformats.org/drawingml/2006/main">
        <p:nvSpPr>
          <p:cNvPr id="29" name="reference-24"/>
          <p:cNvSpPr txBox="1"/>
          <p:nvPr/>
        </p:nvSpPr>
        <p:spPr>
          <a:xfrm>
            <a:off x="996315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D25</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다운로드.zip</a:t>
            </a:r>
          </a:p>
        </p:txBody>
      </p:sp>
      <p:sp xmlns:a="http://schemas.openxmlformats.org/drawingml/2006/main">
        <p:nvSpPr>
          <p:cNvPr id="30" name="reference-25"/>
          <p:cNvSpPr txBox="1"/>
          <p:nvPr/>
        </p:nvSpPr>
        <p:spPr>
          <a:xfrm>
            <a:off x="9963150" y="3088481"/>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지역집중률 2025-07 ~ 2026-06</a:t>
            </a:r>
          </a:p>
        </p:txBody>
      </p:sp>
      <p:sp xmlns:a="http://schemas.openxmlformats.org/drawingml/2006/main">
        <p:nvSpPr>
          <p:cNvPr id="31" name="reference-26"/>
          <p:cNvSpPr txBox="1"/>
          <p:nvPr/>
        </p:nvSpPr>
        <p:spPr>
          <a:xfrm>
            <a:off x="9963150" y="352186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유입유출 2025-07 ~ 2026-06</a:t>
            </a:r>
          </a:p>
        </p:txBody>
      </p:sp>
      <p:sp xmlns:a="http://schemas.openxmlformats.org/drawingml/2006/main">
        <p:nvSpPr>
          <p:cNvPr id="32" name="reference-27"/>
          <p:cNvSpPr txBox="1"/>
          <p:nvPr/>
        </p:nvSpPr>
        <p:spPr>
          <a:xfrm>
            <a:off x="9963150" y="395525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인기관광지 2025-07 ~ 2026-06</a:t>
            </a:r>
          </a:p>
        </p:txBody>
      </p:sp>
      <p:sp xmlns:a="http://schemas.openxmlformats.org/drawingml/2006/main">
        <p:nvSpPr>
          <p:cNvPr id="33" name="reference-28"/>
          <p:cNvSpPr txBox="1"/>
          <p:nvPr/>
        </p:nvSpPr>
        <p:spPr>
          <a:xfrm>
            <a:off x="9963150" y="4388644"/>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4,989,633명</a:t>
            </a:r>
          </a:p>
        </p:txBody>
      </p:sp>
      <p:sp xmlns:a="http://schemas.openxmlformats.org/drawingml/2006/main">
        <p:nvSpPr>
          <p:cNvPr id="34" name="reference-29"/>
          <p:cNvSpPr txBox="1"/>
          <p:nvPr/>
        </p:nvSpPr>
        <p:spPr>
          <a:xfrm>
            <a:off x="9963150" y="4822031"/>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810.34억 원</a:t>
            </a:r>
          </a:p>
        </p:txBody>
      </p:sp>
      <p:sp xmlns:a="http://schemas.openxmlformats.org/drawingml/2006/main">
        <p:nvSpPr>
          <p:cNvPr id="35" name="reference-30"/>
          <p:cNvSpPr txBox="1"/>
          <p:nvPr/>
        </p:nvSpPr>
        <p:spPr>
          <a:xfrm>
            <a:off x="9963150" y="5255419"/>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1,118분</a:t>
            </a:r>
          </a:p>
        </p:txBody>
      </p:sp>
      <p:sp xmlns:a="http://schemas.openxmlformats.org/drawingml/2006/main">
        <p:nvSpPr>
          <p:cNvPr id="36" name="reference-31"/>
          <p:cNvSpPr txBox="1"/>
          <p:nvPr/>
        </p:nvSpPr>
        <p:spPr>
          <a:xfrm>
            <a:off x="9963150" y="5688806"/>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2.81일</a:t>
            </a:r>
          </a:p>
        </p:txBody>
      </p:sp>
      <p:sp xmlns:a="http://schemas.openxmlformats.org/drawingml/2006/main">
        <p:nvSpPr>
          <p:cNvPr id="37" name="reference-32"/>
          <p:cNvSpPr txBox="1"/>
          <p:nvPr/>
        </p:nvSpPr>
        <p:spPr>
          <a:xfrm>
            <a:off x="9963150" y="6122194"/>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7%</a:t>
            </a:r>
          </a:p>
        </p:txBody>
      </p:sp>
      <p:sp xmlns:a="http://schemas.openxmlformats.org/drawingml/2006/main">
        <p:nvSpPr>
          <p:cNvPr id="38" name="reference-33"/>
          <p:cNvSpPr txBox="1"/>
          <p:nvPr/>
        </p:nvSpPr>
        <p:spPr>
          <a:xfrm>
            <a:off x="9963150" y="6555581"/>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12,004건</a:t>
            </a:r>
          </a:p>
        </p:txBody>
      </p:sp>
      <p:sp xmlns:a="http://schemas.openxmlformats.org/drawingml/2006/main">
        <p:nvSpPr>
          <p:cNvPr id="39" name="reference-34"/>
          <p:cNvSpPr txBox="1"/>
          <p:nvPr/>
        </p:nvSpPr>
        <p:spPr>
          <a:xfrm>
            <a:off x="9963150" y="698896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RandomForestRegressor</a:t>
            </a:r>
          </a:p>
          <a:p>
            <a:pPr eaLnBrk="0">
              <a:lnSpc>
                <a:spcPts val="1265"/>
              </a:lnSpc>
              <a:spcBef>
                <a:spcPts val="0"/>
              </a:spcBef>
              <a:spcAft>
                <a:spcPts val="0"/>
              </a:spcAft>
            </a:pPr>
            <a:r>
              <a:rPr sz="1012" b="0">
                <a:solidFill>
                  <a:srgbClr val="F50045"/>
                </a:solidFill>
                <a:latin typeface="Noto Sans KR"/>
              </a:rPr>
              <a:t>최종 월 225,518건</a:t>
            </a:r>
          </a:p>
        </p:txBody>
      </p:sp>
      <p:sp xmlns:a="http://schemas.openxmlformats.org/drawingml/2006/main">
        <p:nvSpPr>
          <p:cNvPr id="40" name="reference-35"/>
          <p:cNvSpPr txBox="1"/>
          <p:nvPr/>
        </p:nvSpPr>
        <p:spPr>
          <a:xfrm>
            <a:off x="9963150" y="742235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3"/>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3"/>
              </a:rPr>
              <a:t>활성화 방안 · PDF 44쪽 외 7쪽 (8개 청크) datalab.visitkorea.or.kr</a:t>
            </a:r>
          </a:p>
        </p:txBody>
      </p:sp>
      <p:sp xmlns:a="http://schemas.openxmlformats.org/drawingml/2006/main">
        <p:nvSpPr>
          <p:cNvPr id="4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xmlns:a="http://schemas.openxmlformats.org/drawingml/2006/main">
        <p:nvSpPr>
          <p:cNvPr id="4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15 / 17</a:t>
            </a:r>
          </a:p>
        </p:txBody>
      </p:sp>
    </p:spTree>
    <p:extLst>
      <p:ext uri="{BB962C8B-B14F-4D97-AF65-F5344CB8AC3E}">
        <p14:creationId xmlns:p14="http://schemas.microsoft.com/office/powerpoint/2010/main" val="930694367"/>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D51 한국관광 데이터랩 · 문경찻사발축제 방문자</a:t>
            </a:r>
          </a:p>
          <a:p>
            <a:pPr eaLnBrk="0">
              <a:lnSpc>
                <a:spcPts val="1265"/>
              </a:lnSpc>
              <a:spcBef>
                <a:spcPts val="0"/>
              </a:spcBef>
              <a:spcAft>
                <a:spcPts val="0"/>
              </a:spcAft>
            </a:pPr>
            <a:r>
              <a:rPr sz="1012" b="0" u="none">
                <a:solidFill>
                  <a:srgbClr val="62666C"/>
                </a:solidFill>
                <a:latin typeface="Noto Sans KR"/>
                <a:hlinkClick r:id="rId2"/>
              </a:rPr>
              <a:t>추이 datalab.visitkorea.or.kr</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D52 한국관광 데이터랩 · 안동탈춤축제 방문자</a:t>
            </a:r>
          </a:p>
          <a:p>
            <a:pPr eaLnBrk="0">
              <a:lnSpc>
                <a:spcPts val="1265"/>
              </a:lnSpc>
              <a:spcBef>
                <a:spcPts val="0"/>
              </a:spcBef>
              <a:spcAft>
                <a:spcPts val="0"/>
              </a:spcAft>
            </a:pPr>
            <a:r>
              <a:rPr sz="1012" b="0" u="none">
                <a:solidFill>
                  <a:srgbClr val="62666C"/>
                </a:solidFill>
                <a:latin typeface="Noto Sans KR"/>
                <a:hlinkClick r:id="rId2"/>
              </a:rPr>
              <a:t>추이 datalab.visitkorea.or.kr</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D53 강진 반값여행 지역경제 효과</a:t>
            </a:r>
          </a:p>
          <a:p>
            <a:pPr eaLnBrk="0">
              <a:lnSpc>
                <a:spcPts val="1265"/>
              </a:lnSpc>
              <a:spcBef>
                <a:spcPts val="0"/>
              </a:spcBef>
              <a:spcAft>
                <a:spcPts val="0"/>
              </a:spcAft>
            </a:pPr>
            <a:r>
              <a:rPr sz="1012" b="0" u="none">
                <a:solidFill>
                  <a:srgbClr val="62666C"/>
                </a:solidFill>
                <a:latin typeface="Noto Sans KR"/>
                <a:hlinkClick r:id="rId3"/>
              </a:rPr>
              <a:t>소개 jnfarm.jeonnam.go.kr</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D54 2024년 6월 여행가는 달 추진</a:t>
            </a:r>
          </a:p>
          <a:p>
            <a:pPr eaLnBrk="0">
              <a:lnSpc>
                <a:spcPts val="1265"/>
              </a:lnSpc>
              <a:spcBef>
                <a:spcPts val="0"/>
              </a:spcBef>
              <a:spcAft>
                <a:spcPts val="0"/>
              </a:spcAft>
            </a:pPr>
            <a:r>
              <a:rPr sz="1012" b="0" u="none">
                <a:solidFill>
                  <a:srgbClr val="62666C"/>
                </a:solidFill>
                <a:latin typeface="Noto Sans KR"/>
                <a:hlinkClick r:id="rId4"/>
              </a:rPr>
              <a:t>보도자료 mcst.go.kr</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D55 2022 대한민국 숙박대전 경제파급효과</a:t>
            </a:r>
          </a:p>
          <a:p>
            <a:pPr eaLnBrk="0">
              <a:lnSpc>
                <a:spcPts val="1265"/>
              </a:lnSpc>
              <a:spcBef>
                <a:spcPts val="0"/>
              </a:spcBef>
              <a:spcAft>
                <a:spcPts val="0"/>
              </a:spcAft>
            </a:pPr>
            <a:r>
              <a:rPr sz="1012" b="0" u="none">
                <a:solidFill>
                  <a:srgbClr val="62666C"/>
                </a:solidFill>
                <a:latin typeface="Noto Sans KR"/>
                <a:hlinkClick r:id="rId5"/>
              </a:rPr>
              <a:t>공개자료 kto.visitkorea.or.kr</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D56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6"/>
              </a:rPr>
              <a:t>일정 korean.visitkorea.or.kr</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D57 한국관광 데이터랩 · 진도신비의바닷길축제</a:t>
            </a:r>
          </a:p>
          <a:p>
            <a:pPr eaLnBrk="0">
              <a:lnSpc>
                <a:spcPts val="1265"/>
              </a:lnSpc>
              <a:spcBef>
                <a:spcPts val="0"/>
              </a:spcBef>
              <a:spcAft>
                <a:spcPts val="0"/>
              </a:spcAft>
            </a:pPr>
            <a:r>
              <a:rPr sz="1012" b="0" u="none">
                <a:solidFill>
                  <a:srgbClr val="62666C"/>
                </a:solidFill>
                <a:latin typeface="Noto Sans KR"/>
                <a:hlinkClick r:id="rId2"/>
              </a:rPr>
              <a:t>방문자 추이 datalab.visitkorea.or.kr</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D58 한국관광 데이터랩 · 통영한산대첩축제 방문자</a:t>
            </a:r>
          </a:p>
          <a:p>
            <a:pPr eaLnBrk="0">
              <a:lnSpc>
                <a:spcPts val="1265"/>
              </a:lnSpc>
              <a:spcBef>
                <a:spcPts val="0"/>
              </a:spcBef>
              <a:spcAft>
                <a:spcPts val="0"/>
              </a:spcAft>
            </a:pPr>
            <a:r>
              <a:rPr sz="1012" b="0" u="none">
                <a:solidFill>
                  <a:srgbClr val="62666C"/>
                </a:solidFill>
                <a:latin typeface="Noto Sans KR"/>
                <a:hlinkClick r:id="rId2"/>
              </a:rPr>
              <a:t>추이 datalab.visitkorea.or.kr</a:t>
            </a:r>
          </a:p>
        </p:txBody>
      </p:sp>
      <p:sp>
        <p:nvSpPr>
          <p:cNvPr id="13" name="reference-8"/>
          <p:cNvSpPr txBox="1"/>
          <p:nvPr/>
        </p:nvSpPr>
        <p:spPr>
          <a:xfrm>
            <a:off x="1009650" y="59436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7"/>
              </a:rPr>
              <a:t>관광자원·사진 D30 갈마짬뽕</a:t>
            </a:r>
          </a:p>
        </p:txBody>
      </p:sp>
      <p:sp>
        <p:nvSpPr>
          <p:cNvPr id="14" name="reference-9"/>
          <p:cNvSpPr txBox="1"/>
          <p:nvPr/>
        </p:nvSpPr>
        <p:spPr>
          <a:xfrm>
            <a:off x="1009650" y="62484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7"/>
              </a:rPr>
              <a:t>관광자원·사진 D31 관저당</a:t>
            </a:r>
          </a:p>
        </p:txBody>
      </p:sp>
      <p:sp>
        <p:nvSpPr>
          <p:cNvPr id="15" name="reference-10"/>
          <p:cNvSpPr txBox="1"/>
          <p:nvPr/>
        </p:nvSpPr>
        <p:spPr>
          <a:xfrm>
            <a:off x="1009650" y="65532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7"/>
              </a:rPr>
              <a:t>관광자원·사진 D32 굿모닝레지던스호텔휴</a:t>
            </a:r>
          </a:p>
        </p:txBody>
      </p:sp>
      <p:sp>
        <p:nvSpPr>
          <p:cNvPr id="16" name="reference-11"/>
          <p:cNvSpPr txBox="1"/>
          <p:nvPr/>
        </p:nvSpPr>
        <p:spPr>
          <a:xfrm>
            <a:off x="1009650" y="68580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7"/>
              </a:rPr>
              <a:t>관광자원·사진 D33 귀빈돌솥밥</a:t>
            </a:r>
          </a:p>
        </p:txBody>
      </p:sp>
      <p:sp>
        <p:nvSpPr>
          <p:cNvPr id="17" name="reference-12"/>
          <p:cNvSpPr txBox="1"/>
          <p:nvPr/>
        </p:nvSpPr>
        <p:spPr>
          <a:xfrm>
            <a:off x="1009650" y="71628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7"/>
              </a:rPr>
              <a:t>관광자원·사진 D34 남선공원</a:t>
            </a:r>
          </a:p>
        </p:txBody>
      </p:sp>
      <p:sp>
        <p:nvSpPr>
          <p:cNvPr id="18" name="reference-13"/>
          <p:cNvSpPr txBox="1"/>
          <p:nvPr/>
        </p:nvSpPr>
        <p:spPr>
          <a:xfrm>
            <a:off x="1009650" y="74676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7"/>
              </a:rPr>
              <a:t>관광자원·사진 D35 내원사(대전)</a:t>
            </a:r>
          </a:p>
        </p:txBody>
      </p:sp>
      <p:sp>
        <p:nvSpPr>
          <p:cNvPr id="19" name="reference-14"/>
          <p:cNvSpPr txBox="1"/>
          <p:nvPr/>
        </p:nvSpPr>
        <p:spPr>
          <a:xfrm>
            <a:off x="1009650" y="77724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7"/>
              </a:rPr>
              <a:t>관광자원·사진 D36 노크노크</a:t>
            </a:r>
          </a:p>
        </p:txBody>
      </p:sp>
      <p:sp>
        <p:nvSpPr>
          <p:cNvPr id="20" name="reference-15"/>
          <p:cNvSpPr txBox="1"/>
          <p:nvPr/>
        </p:nvSpPr>
        <p:spPr>
          <a:xfrm>
            <a:off x="548640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7"/>
              </a:rPr>
              <a:t>관광자원·사진 D37 대성콩국수</a:t>
            </a:r>
          </a:p>
        </p:txBody>
      </p:sp>
      <p:sp>
        <p:nvSpPr>
          <p:cNvPr id="21" name="reference-16"/>
          <p:cNvSpPr txBox="1"/>
          <p:nvPr/>
        </p:nvSpPr>
        <p:spPr>
          <a:xfrm>
            <a:off x="548640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7"/>
              </a:rPr>
              <a:t>관광자원·사진 D38 대전 가수원도서관</a:t>
            </a:r>
          </a:p>
        </p:txBody>
      </p:sp>
      <p:sp>
        <p:nvSpPr>
          <p:cNvPr id="22" name="reference-17"/>
          <p:cNvSpPr txBox="1"/>
          <p:nvPr/>
        </p:nvSpPr>
        <p:spPr>
          <a:xfrm>
            <a:off x="548640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7"/>
              </a:rPr>
              <a:t>관광자원·사진 D39 대전광역시청 시민잔디광장</a:t>
            </a:r>
          </a:p>
        </p:txBody>
      </p:sp>
      <p:sp>
        <p:nvSpPr>
          <p:cNvPr id="23" name="reference-18"/>
          <p:cNvSpPr txBox="1"/>
          <p:nvPr/>
        </p:nvSpPr>
        <p:spPr>
          <a:xfrm>
            <a:off x="548640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7"/>
              </a:rPr>
              <a:t>관광자원·사진 D40 대전서구문화원</a:t>
            </a:r>
          </a:p>
        </p:txBody>
      </p:sp>
      <p:sp>
        <p:nvSpPr>
          <p:cNvPr id="24" name="reference-19"/>
          <p:cNvSpPr txBox="1"/>
          <p:nvPr/>
        </p:nvSpPr>
        <p:spPr>
          <a:xfrm>
            <a:off x="548640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7"/>
              </a:rPr>
              <a:t>관광자원·사진 D41 델빠네</a:t>
            </a:r>
          </a:p>
        </p:txBody>
      </p:sp>
      <p:sp>
        <p:nvSpPr>
          <p:cNvPr id="25" name="reference-20"/>
          <p:cNvSpPr txBox="1"/>
          <p:nvPr/>
        </p:nvSpPr>
        <p:spPr>
          <a:xfrm>
            <a:off x="548640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7"/>
              </a:rPr>
              <a:t>관광자원·사진 D42 도마큰시장</a:t>
            </a:r>
          </a:p>
        </p:txBody>
      </p:sp>
      <p:sp>
        <p:nvSpPr>
          <p:cNvPr id="26" name="reference-21"/>
          <p:cNvSpPr txBox="1"/>
          <p:nvPr/>
        </p:nvSpPr>
        <p:spPr>
          <a:xfrm>
            <a:off x="548640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7"/>
              </a:rPr>
              <a:t>관광자원·사진 D43 도산서원(대전)</a:t>
            </a:r>
          </a:p>
        </p:txBody>
      </p:sp>
      <p:sp>
        <p:nvSpPr>
          <p:cNvPr id="27" name="reference-22"/>
          <p:cNvSpPr txBox="1"/>
          <p:nvPr/>
        </p:nvSpPr>
        <p:spPr>
          <a:xfrm>
            <a:off x="548640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7"/>
              </a:rPr>
              <a:t>관광자원·사진 D44 둔산꽃시장</a:t>
            </a:r>
          </a:p>
        </p:txBody>
      </p:sp>
      <p:sp>
        <p:nvSpPr>
          <p:cNvPr id="28" name="reference-23"/>
          <p:cNvSpPr txBox="1"/>
          <p:nvPr/>
        </p:nvSpPr>
        <p:spPr>
          <a:xfrm>
            <a:off x="548640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7"/>
              </a:rPr>
              <a:t>관광자원·사진 D45 둔산전자타운</a:t>
            </a:r>
          </a:p>
        </p:txBody>
      </p:sp>
      <p:sp>
        <p:nvSpPr>
          <p:cNvPr id="29" name="reference-24"/>
          <p:cNvSpPr txBox="1"/>
          <p:nvPr/>
        </p:nvSpPr>
        <p:spPr>
          <a:xfrm>
            <a:off x="5486400" y="5219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7"/>
              </a:rPr>
              <a:t>관광자원·사진 D46 롯데백화점 (대전점)</a:t>
            </a:r>
          </a:p>
        </p:txBody>
      </p:sp>
      <p:sp>
        <p:nvSpPr>
          <p:cNvPr id="30" name="reference-25"/>
          <p:cNvSpPr txBox="1"/>
          <p:nvPr/>
        </p:nvSpPr>
        <p:spPr>
          <a:xfrm>
            <a:off x="5486400" y="5524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7"/>
              </a:rPr>
              <a:t>관광자원·사진 D47 마치광장</a:t>
            </a:r>
          </a:p>
        </p:txBody>
      </p:sp>
      <p:sp>
        <p:nvSpPr>
          <p:cNvPr id="31" name="reference-26"/>
          <p:cNvSpPr txBox="1"/>
          <p:nvPr/>
        </p:nvSpPr>
        <p:spPr>
          <a:xfrm>
            <a:off x="5486400" y="5829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7"/>
              </a:rPr>
              <a:t>관광자원·사진 D48 몽뜨</a:t>
            </a:r>
          </a:p>
        </p:txBody>
      </p:sp>
      <p:sp>
        <p:nvSpPr>
          <p:cNvPr id="32" name="reference-27"/>
          <p:cNvSpPr txBox="1"/>
          <p:nvPr/>
        </p:nvSpPr>
        <p:spPr>
          <a:xfrm>
            <a:off x="5486400" y="6134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7"/>
              </a:rPr>
              <a:t>관광자원·사진 D49 미세노센세</a:t>
            </a:r>
          </a:p>
        </p:txBody>
      </p:sp>
      <p:sp>
        <p:nvSpPr>
          <p:cNvPr id="3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p:nvSpPr>
          <p:cNvPr id="35"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16 / 17</a:t>
            </a:r>
          </a:p>
        </p:txBody>
      </p:sp>
    </p:spTree>
  </p:cSld>
  <p:clrMapOvr>
    <a:masterClrMapping/>
  </p:clrMapOvr>
</p:sld>
</file>

<file path=ppt/slides/slide15.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대전광역시 서구</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대전 서구 외지인 지역 상품권 환급 프로그램</a:t>
            </a:r>
          </a:p>
        </p:txBody>
      </p:sp>
      <p:sp xmlns:a="http://schemas.openxmlformats.org/drawingml/2006/main">
        <p:nvSpPr>
          <p:cNvPr id="10"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r="http://schemas.openxmlformats.org/officeDocument/2006/relationships" r: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내원사(대전)</a:t>
            </a:r>
          </a:p>
        </p:txBody>
      </p:sp>
    </p:spTree>
    <p:extLst>
      <p:ext uri="{BB962C8B-B14F-4D97-AF65-F5344CB8AC3E}">
        <p14:creationId xmlns:p14="http://schemas.microsoft.com/office/powerpoint/2010/main" val="655411831"/>
      </p:ext>
    </p:extLst>
  </p:cSld>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2.3 운영 규모와 산출 근거</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운영량을 먼저 제안하고, 참여와 추가 방문을 차례로 계산합니다</a:t>
            </a:r>
          </a:p>
        </p:txBody>
      </p:sp>
      <p:sp>
        <p:nvSpPr>
          <p:cNvPr id="5" name="capacity-stage-0"/>
          <p:cNvSpPr/>
          <p:nvPr/>
        </p:nvSpPr>
        <p:spPr>
          <a:xfrm>
            <a:off x="100965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pacity-icon-0" descr="database-blue.png"/>
          <p:cNvPicPr>
            <a:picLocks noChangeAspect="1"/>
          </p:cNvPicPr>
          <p:nvPr/>
        </p:nvPicPr>
        <p:blipFill>
          <a:blip r:embed="rId2"/>
          <a:stretch>
            <a:fillRect/>
          </a:stretch>
        </p:blipFill>
        <p:spPr>
          <a:xfrm>
            <a:off x="1219200" y="2809875"/>
            <a:ext cx="438150" cy="438150"/>
          </a:xfrm>
          <a:prstGeom prst="rect">
            <a:avLst/>
          </a:prstGeom>
        </p:spPr>
      </p:pic>
      <p:sp>
        <p:nvSpPr>
          <p:cNvPr id="7" name="capacity-label-0"/>
          <p:cNvSpPr txBox="1"/>
          <p:nvPr/>
        </p:nvSpPr>
        <p:spPr>
          <a:xfrm>
            <a:off x="178117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지역 관광 규모</a:t>
            </a:r>
          </a:p>
        </p:txBody>
      </p:sp>
      <p:sp>
        <p:nvSpPr>
          <p:cNvPr id="8" name="capacity-value-0"/>
          <p:cNvSpPr txBox="1"/>
          <p:nvPr/>
        </p:nvSpPr>
        <p:spPr>
          <a:xfrm>
            <a:off x="120015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월평균 497.6만 명</a:t>
            </a:r>
          </a:p>
        </p:txBody>
      </p:sp>
      <p:sp>
        <p:nvSpPr>
          <p:cNvPr id="9" name="capacity-detail-0"/>
          <p:cNvSpPr txBox="1"/>
          <p:nvPr/>
        </p:nvSpPr>
        <p:spPr>
          <a:xfrm>
            <a:off x="120015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저장 ML 방문 전망</a:t>
            </a:r>
          </a:p>
        </p:txBody>
      </p:sp>
      <p:cxnSp>
        <p:nvCxnSpPr>
          <p:cNvPr id="10" name="capacity-arrow-0-0"/>
          <p:cNvCxnSpPr/>
          <p:nvPr/>
        </p:nvCxnSpPr>
        <p:spPr>
          <a:xfrm>
            <a:off x="414337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1" name="capacity-stage-1"/>
          <p:cNvSpPr/>
          <p:nvPr/>
        </p:nvSpPr>
        <p:spPr>
          <a:xfrm>
            <a:off x="439102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capacity-icon-1" descr="map-pinned-blue.png"/>
          <p:cNvPicPr>
            <a:picLocks noChangeAspect="1"/>
          </p:cNvPicPr>
          <p:nvPr/>
        </p:nvPicPr>
        <p:blipFill>
          <a:blip r:embed="rId3"/>
          <a:stretch>
            <a:fillRect/>
          </a:stretch>
        </p:blipFill>
        <p:spPr>
          <a:xfrm>
            <a:off x="4600575" y="2809875"/>
            <a:ext cx="438150" cy="438150"/>
          </a:xfrm>
          <a:prstGeom prst="rect">
            <a:avLst/>
          </a:prstGeom>
        </p:spPr>
      </p:pic>
      <p:sp>
        <p:nvSpPr>
          <p:cNvPr id="13" name="capacity-label-1"/>
          <p:cNvSpPr txBox="1"/>
          <p:nvPr/>
        </p:nvSpPr>
        <p:spPr>
          <a:xfrm>
            <a:off x="516255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제안 운영 규모</a:t>
            </a:r>
          </a:p>
        </p:txBody>
      </p:sp>
      <p:sp>
        <p:nvSpPr>
          <p:cNvPr id="14" name="capacity-value-1"/>
          <p:cNvSpPr txBox="1"/>
          <p:nvPr/>
        </p:nvSpPr>
        <p:spPr>
          <a:xfrm>
            <a:off x="458152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50045"/>
                </a:solidFill>
                <a:latin typeface="Noto Sans KR"/>
              </a:rPr>
              <a:t>8개 참여 점포 묶음</a:t>
            </a:r>
          </a:p>
        </p:txBody>
      </p:sp>
      <p:sp>
        <p:nvSpPr>
          <p:cNvPr id="15" name="capacity-detail-1"/>
          <p:cNvSpPr txBox="1"/>
          <p:nvPr/>
        </p:nvSpPr>
        <p:spPr>
          <a:xfrm>
            <a:off x="458152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월 20일 · 하루 1회</a:t>
            </a:r>
          </a:p>
        </p:txBody>
      </p:sp>
      <p:cxnSp>
        <p:nvCxnSpPr>
          <p:cNvPr id="16" name="capacity-arrow-1-0"/>
          <p:cNvCxnSpPr/>
          <p:nvPr/>
        </p:nvCxnSpPr>
        <p:spPr>
          <a:xfrm>
            <a:off x="7524750"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7" name="capacity-stage-2"/>
          <p:cNvSpPr/>
          <p:nvPr/>
        </p:nvSpPr>
        <p:spPr>
          <a:xfrm>
            <a:off x="777240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capacity-icon-2" descr="users-blue.png"/>
          <p:cNvPicPr>
            <a:picLocks noChangeAspect="1"/>
          </p:cNvPicPr>
          <p:nvPr/>
        </p:nvPicPr>
        <p:blipFill>
          <a:blip r:embed="rId4"/>
          <a:stretch>
            <a:fillRect/>
          </a:stretch>
        </p:blipFill>
        <p:spPr>
          <a:xfrm>
            <a:off x="7981950" y="2809875"/>
            <a:ext cx="438150" cy="438150"/>
          </a:xfrm>
          <a:prstGeom prst="rect">
            <a:avLst/>
          </a:prstGeom>
        </p:spPr>
      </p:pic>
      <p:sp>
        <p:nvSpPr>
          <p:cNvPr id="19" name="capacity-label-2"/>
          <p:cNvSpPr txBox="1"/>
          <p:nvPr/>
        </p:nvSpPr>
        <p:spPr>
          <a:xfrm>
            <a:off x="854392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참여 목표</a:t>
            </a:r>
          </a:p>
        </p:txBody>
      </p:sp>
      <p:sp>
        <p:nvSpPr>
          <p:cNvPr id="20" name="capacity-value-2"/>
          <p:cNvSpPr txBox="1"/>
          <p:nvPr/>
        </p:nvSpPr>
        <p:spPr>
          <a:xfrm>
            <a:off x="796290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187C70"/>
                </a:solidFill>
                <a:latin typeface="Noto Sans KR"/>
              </a:rPr>
              <a:t>4,800명</a:t>
            </a:r>
          </a:p>
        </p:txBody>
      </p:sp>
      <p:sp>
        <p:nvSpPr>
          <p:cNvPr id="21" name="capacity-detail-2"/>
          <p:cNvSpPr txBox="1"/>
          <p:nvPr/>
        </p:nvSpPr>
        <p:spPr>
          <a:xfrm>
            <a:off x="796290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편성 한도 6,400 × 이용률 75%</a:t>
            </a:r>
          </a:p>
        </p:txBody>
      </p:sp>
      <p:cxnSp>
        <p:nvCxnSpPr>
          <p:cNvPr id="22" name="capacity-arrow-2-0"/>
          <p:cNvCxnSpPr/>
          <p:nvPr/>
        </p:nvCxnSpPr>
        <p:spPr>
          <a:xfrm>
            <a:off x="1090612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23" name="capacity-stage-3"/>
          <p:cNvSpPr/>
          <p:nvPr/>
        </p:nvSpPr>
        <p:spPr>
          <a:xfrm>
            <a:off x="1115377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capacity-icon-3" descr="target-blue.png"/>
          <p:cNvPicPr>
            <a:picLocks noChangeAspect="1"/>
          </p:cNvPicPr>
          <p:nvPr/>
        </p:nvPicPr>
        <p:blipFill>
          <a:blip r:embed="rId5"/>
          <a:stretch>
            <a:fillRect/>
          </a:stretch>
        </p:blipFill>
        <p:spPr>
          <a:xfrm>
            <a:off x="11363325" y="2809875"/>
            <a:ext cx="438150" cy="438150"/>
          </a:xfrm>
          <a:prstGeom prst="rect">
            <a:avLst/>
          </a:prstGeom>
        </p:spPr>
      </p:pic>
      <p:sp>
        <p:nvSpPr>
          <p:cNvPr id="25" name="capacity-label-3"/>
          <p:cNvSpPr txBox="1"/>
          <p:nvPr/>
        </p:nvSpPr>
        <p:spPr>
          <a:xfrm>
            <a:off x="1192530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추가 방문 목표</a:t>
            </a:r>
          </a:p>
        </p:txBody>
      </p:sp>
      <p:sp>
        <p:nvSpPr>
          <p:cNvPr id="26" name="capacity-value-3"/>
          <p:cNvSpPr txBox="1"/>
          <p:nvPr/>
        </p:nvSpPr>
        <p:spPr>
          <a:xfrm>
            <a:off x="1134427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1,440명</a:t>
            </a:r>
          </a:p>
        </p:txBody>
      </p:sp>
      <p:sp>
        <p:nvSpPr>
          <p:cNvPr id="27" name="capacity-detail-3"/>
          <p:cNvSpPr txBox="1"/>
          <p:nvPr/>
        </p:nvSpPr>
        <p:spPr>
          <a:xfrm>
            <a:off x="1134427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목표 × 추가 방문</a:t>
            </a:r>
          </a:p>
          <a:p>
            <a:pPr eaLnBrk="0">
              <a:lnSpc>
                <a:spcPts val="1875"/>
              </a:lnSpc>
              <a:spcBef>
                <a:spcPts val="0"/>
              </a:spcBef>
              <a:spcAft>
                <a:spcPts val="0"/>
              </a:spcAft>
            </a:pPr>
            <a:r>
              <a:rPr sz="1500" b="0">
                <a:solidFill>
                  <a:srgbClr val="62666C"/>
                </a:solidFill>
                <a:latin typeface="Noto Sans KR"/>
              </a:rPr>
              <a:t>비중 30%</a:t>
            </a:r>
          </a:p>
        </p:txBody>
      </p:sp>
      <p:sp>
        <p:nvSpPr>
          <p:cNvPr id="28" name="capacity-formula-panel"/>
          <p:cNvSpPr/>
          <p:nvPr/>
        </p:nvSpPr>
        <p:spPr>
          <a:xfrm>
            <a:off x="1009650" y="523875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pacity-formula-label"/>
          <p:cNvSpPr txBox="1"/>
          <p:nvPr/>
        </p:nvSpPr>
        <p:spPr>
          <a:xfrm>
            <a:off x="1209675" y="5410200"/>
            <a:ext cx="23812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87C70"/>
                </a:solidFill>
                <a:latin typeface="Noto Sans KR"/>
              </a:rPr>
              <a:t>운영량 계산</a:t>
            </a:r>
          </a:p>
        </p:txBody>
      </p:sp>
      <p:sp>
        <p:nvSpPr>
          <p:cNvPr id="30" name="capacity-formula"/>
          <p:cNvSpPr txBox="1"/>
          <p:nvPr/>
        </p:nvSpPr>
        <p:spPr>
          <a:xfrm>
            <a:off x="3667125" y="5400675"/>
            <a:ext cx="10287000" cy="4572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8개 × 월 20일 × 2개월 × 하루 1회 × 회당 20명 = 6,400명분</a:t>
            </a:r>
          </a:p>
        </p:txBody>
      </p:sp>
      <p:sp>
        <p:nvSpPr>
          <p:cNvPr id="31" name="capacity-limit"/>
          <p:cNvSpPr txBox="1"/>
          <p:nvPr/>
        </p:nvSpPr>
        <p:spPr>
          <a:xfrm>
            <a:off x="3667125" y="5905500"/>
            <a:ext cx="10287000" cy="3619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2026-11~2026-12 운영 · 예상 견적 3,951만 원</a:t>
            </a:r>
          </a:p>
        </p:txBody>
      </p:sp>
      <p:sp>
        <p:nvSpPr>
          <p:cNvPr id="32" name="capacity-case"/>
          <p:cNvSpPr txBox="1"/>
          <p:nvPr/>
        </p:nvSpPr>
        <p:spPr>
          <a:xfrm>
            <a:off x="1009650" y="6667500"/>
            <a:ext cx="2190750" cy="3429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사례와의 차이</a:t>
            </a:r>
          </a:p>
        </p:txBody>
      </p:sp>
      <p:sp>
        <p:nvSpPr>
          <p:cNvPr id="33" name="capacity-case-name">
            <a:hlinkClick r:id="rId6"/>
          </p:cNvPr>
          <p:cNvSpPr txBox="1"/>
          <p:nvPr/>
        </p:nvSpPr>
        <p:spPr>
          <a:xfrm>
            <a:off x="3333750" y="6667500"/>
            <a:ext cx="10896600" cy="5905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공식 사례의 운영 방식을 참고하며, 발표 실적을 우리 지역 정원으로 환산하지 않습니다.</a:t>
            </a:r>
          </a:p>
        </p:txBody>
      </p:sp>
      <p:sp>
        <p:nvSpPr>
          <p:cNvPr id="34" name="capacity-scale-rule"/>
          <p:cNvSpPr txBox="1"/>
          <p:nvPr/>
        </p:nvSpPr>
        <p:spPr>
          <a:xfrm>
            <a:off x="1009650" y="7305675"/>
            <a:ext cx="13220700" cy="5715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대전광역시 서구: 월평균 ML 방문 497.6만 명을 규모 입력으로 사용.</a:t>
            </a:r>
          </a:p>
          <a:p>
            <a:pPr eaLnBrk="0">
              <a:lnSpc>
                <a:spcPts val="1875"/>
              </a:lnSpc>
              <a:spcBef>
                <a:spcPts val="0"/>
              </a:spcBef>
              <a:spcAft>
                <a:spcPts val="0"/>
              </a:spcAft>
            </a:pPr>
            <a:r>
              <a:rPr sz="1500" b="0">
                <a:solidFill>
                  <a:srgbClr val="62666C"/>
                </a:solidFill>
                <a:latin typeface="Noto Sans KR"/>
              </a:rPr>
              <a:t>거점은 √(월평균 방문 ÷ 10만)을 올려 1~12개로 제안한 뒤 예산을 반영합니다. 인구 보정·학습 모델의 결과는 아닙니다.</a:t>
            </a:r>
          </a:p>
        </p:txBody>
      </p:sp>
      <p:sp>
        <p:nvSpPr>
          <p:cNvPr id="35" name="capacity-disclosure"/>
          <p:cNvSpPr txBox="1"/>
          <p:nvPr/>
        </p:nvSpPr>
        <p:spPr>
          <a:xfrm>
            <a:off x="1009650" y="7924800"/>
            <a:ext cx="13220700" cy="5429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 목표 75%는 공통 최소 운영 목표입니다. 사례 참여율을 인용한 값이 아닙니다.</a:t>
            </a:r>
          </a:p>
        </p:txBody>
      </p:sp>
      <p:sp>
        <p:nvSpPr>
          <p:cNvPr id="36"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08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2.4 기대 변화의 시나리오</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같은 운영량에서 이용률과 추가 방문 비중을 달리한 계획 범위</a:t>
            </a:r>
          </a:p>
        </p:txBody>
      </p:sp>
      <p:sp>
        <p:nvSpPr>
          <p:cNvPr id="5" name="scenario-panel-0"/>
          <p:cNvSpPr/>
          <p:nvPr/>
        </p:nvSpPr>
        <p:spPr>
          <a:xfrm>
            <a:off x="100965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cenario-label-0"/>
          <p:cNvSpPr txBox="1"/>
          <p:nvPr/>
        </p:nvSpPr>
        <p:spPr>
          <a:xfrm>
            <a:off x="123825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7649B"/>
                </a:solidFill>
                <a:latin typeface="Noto Sans KR"/>
              </a:rPr>
              <a:t>추가 방문 목표 · 명</a:t>
            </a:r>
          </a:p>
        </p:txBody>
      </p:sp>
      <p:graphicFrame>
        <p:nvGraphicFramePr>
          <p:cNvPr id="7" name="operating-scenario-chart-0"/>
          <p:cNvGraphicFramePr>
            <a:graphicFrameLocks noGrp="1"/>
          </p:cNvGraphicFramePr>
          <p:nvPr/>
        </p:nvGraphicFramePr>
        <p:xfrm>
          <a:off x="1104900" y="3343275"/>
          <a:ext cx="6210300" cy="2857500"/>
        </p:xfrm>
        <a:graphic>
          <a:graphicData uri="http://schemas.openxmlformats.org/drawingml/2006/chart">
            <c:chart xmlns:c="http://schemas.openxmlformats.org/drawingml/2006/chart" r:id="rId2"/>
          </a:graphicData>
        </a:graphic>
      </p:graphicFrame>
      <p:sp>
        <p:nvSpPr>
          <p:cNvPr id="8" name="scenario-growth-0"/>
          <p:cNvSpPr txBox="1"/>
          <p:nvPr/>
        </p:nvSpPr>
        <p:spPr>
          <a:xfrm>
            <a:off x="123825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27649B"/>
                </a:solidFill>
                <a:latin typeface="Noto Sans KR"/>
              </a:rPr>
              <a:t>기준 시나리오 · 기간 합계 ML 전망 대비 +0.01%</a:t>
            </a:r>
          </a:p>
        </p:txBody>
      </p:sp>
      <p:sp>
        <p:nvSpPr>
          <p:cNvPr id="9" name="scenario-panel-1"/>
          <p:cNvSpPr/>
          <p:nvPr/>
        </p:nvSpPr>
        <p:spPr>
          <a:xfrm>
            <a:off x="781050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cenario-label-1"/>
          <p:cNvSpPr txBox="1"/>
          <p:nvPr/>
        </p:nvSpPr>
        <p:spPr>
          <a:xfrm>
            <a:off x="803910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187C70"/>
                </a:solidFill>
                <a:latin typeface="Noto Sans KR"/>
              </a:rPr>
              <a:t>추가 소비 목표 · 만 원</a:t>
            </a:r>
          </a:p>
        </p:txBody>
      </p:sp>
      <p:graphicFrame>
        <p:nvGraphicFramePr>
          <p:cNvPr id="11" name="operating-scenario-chart-1"/>
          <p:cNvGraphicFramePr>
            <a:graphicFrameLocks noGrp="1"/>
          </p:cNvGraphicFramePr>
          <p:nvPr/>
        </p:nvGraphicFramePr>
        <p:xfrm>
          <a:off x="7905750" y="3343275"/>
          <a:ext cx="6210300" cy="2857500"/>
        </p:xfrm>
        <a:graphic>
          <a:graphicData uri="http://schemas.openxmlformats.org/drawingml/2006/chart">
            <c:chart xmlns:c="http://schemas.openxmlformats.org/drawingml/2006/chart" r:id="rId3"/>
          </a:graphicData>
        </a:graphic>
      </p:graphicFrame>
      <p:sp>
        <p:nvSpPr>
          <p:cNvPr id="12" name="scenario-growth-1"/>
          <p:cNvSpPr txBox="1"/>
          <p:nvPr/>
        </p:nvSpPr>
        <p:spPr>
          <a:xfrm>
            <a:off x="803910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기준 시나리오 · 기간 합계 ML 전망 대비 +0.02%</a:t>
            </a:r>
          </a:p>
        </p:txBody>
      </p:sp>
      <p:sp>
        <p:nvSpPr>
          <p:cNvPr id="13" name="scenario-rates"/>
          <p:cNvSpPr txBox="1"/>
          <p:nvPr/>
        </p:nvSpPr>
        <p:spPr>
          <a:xfrm>
            <a:off x="1009650" y="6953250"/>
            <a:ext cx="13220700" cy="4286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이용률·추가 방문 비중 보수 75%·15% / 기준 75%·30% / 확대 90%·45%</a:t>
            </a:r>
          </a:p>
        </p:txBody>
      </p:sp>
      <p:sp>
        <p:nvSpPr>
          <p:cNvPr id="14" name="scenario-consumption-formula"/>
          <p:cNvSpPr txBox="1"/>
          <p:nvPr/>
        </p:nvSpPr>
        <p:spPr>
          <a:xfrm>
            <a:off x="1009650" y="7429500"/>
            <a:ext cx="13220700" cy="4572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추가 방문 × 계획 결제 16,503원 + 기존 방문 참여 × 추가 구매 8,251원</a:t>
            </a:r>
          </a:p>
        </p:txBody>
      </p:sp>
      <p:sp>
        <p:nvSpPr>
          <p:cNvPr id="15" name="scenario-disclaimer"/>
          <p:cNvSpPr txBox="1"/>
          <p:nvPr/>
        </p:nvSpPr>
        <p:spPr>
          <a:xfrm>
            <a:off x="1009650" y="8048625"/>
            <a:ext cx="13220700" cy="4000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계획 가정을 바꾼 범위이며 통계적 신뢰구간이 아닙니다. 소비/방문 비율은 실측 객단가가 아니며 사업 효과는 사후 확인합니다.</a:t>
            </a:r>
          </a:p>
        </p:txBody>
      </p:sp>
      <p:sp>
        <p:nvSpPr>
          <p:cNvPr id="16"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09 / 17</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