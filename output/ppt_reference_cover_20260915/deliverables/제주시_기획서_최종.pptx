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2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27.jpg"/><Relationship Id="rId4" Type="http://schemas.openxmlformats.org/officeDocument/2006/relationships/hyperlink" Target="https://apis.data.go.kr/B551011/KorService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24.png"/><Relationship Id="rId18" Type="http://schemas.openxmlformats.org/officeDocument/2006/relationships/image" Target="../media/image25.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7829550"/>
            <a:ext cx="567690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7867650"/>
            <a:ext cx="54673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a:p>
            <a:pPr eaLnBrk="0" algn="ctr">
              <a:lnSpc>
                <a:spcPts val="1593"/>
              </a:lnSpc>
              <a:spcBef>
                <a:spcPts val="0"/>
              </a:spcBef>
              <a:spcAft>
                <a:spcPts val="0"/>
              </a:spcAft>
            </a:pPr>
            <a:r>
              <a:rPr sz="1275" b="0">
                <a:solidFill>
                  <a:srgbClr val="FFFFFF"/>
                </a:solidFill>
                <a:latin typeface="Noto Sans KR"/>
              </a:rPr>
              <a:t>출처: 한국관광공사 TourAPI</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5" name="contents-panel-6"/>
          <p:cNvSpPr/>
          <p:nvPr/>
        </p:nvSpPr>
        <p:spPr>
          <a:xfrm>
            <a:off x="5095875" y="70294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ntents-panel-5"/>
          <p:cNvSpPr/>
          <p:nvPr/>
        </p:nvSpPr>
        <p:spPr>
          <a:xfrm>
            <a:off x="5095875" y="59912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contents-panel-4"/>
          <p:cNvSpPr/>
          <p:nvPr/>
        </p:nvSpPr>
        <p:spPr>
          <a:xfrm>
            <a:off x="5095875" y="49530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ontents-panel-3"/>
          <p:cNvSpPr/>
          <p:nvPr/>
        </p:nvSpPr>
        <p:spPr>
          <a:xfrm>
            <a:off x="5095875" y="391477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ntents-panel-2"/>
          <p:cNvSpPr/>
          <p:nvPr/>
        </p:nvSpPr>
        <p:spPr>
          <a:xfrm>
            <a:off x="5095875" y="28765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ontents-panel-1"/>
          <p:cNvSpPr/>
          <p:nvPr/>
        </p:nvSpPr>
        <p:spPr>
          <a:xfrm>
            <a:off x="5095875" y="18383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contents-panel-0"/>
          <p:cNvSpPr/>
          <p:nvPr/>
        </p:nvSpPr>
        <p:spPr>
          <a:xfrm>
            <a:off x="5095875" y="8001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 name="contents-rail"/>
          <p:cNvSpPr/>
          <p:nvPr/>
        </p:nvSpPr>
        <p:spPr>
          <a:xfrm>
            <a:off x="0" y="0"/>
            <a:ext cx="4476750" cy="85725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619125" y="3048000"/>
            <a:ext cx="3524250" cy="619125"/>
          </a:xfrm>
          <a:prstGeom prst="rect">
            <a:avLst/>
          </a:prstGeom>
          <a:noFill/>
        </p:spPr>
        <p:txBody>
          <a:bodyPr wrap="none" lIns="57150" rIns="57150" tIns="38100" bIns="38100" anchor="t">
            <a:noAutofit/>
          </a:bodyPr>
          <a:lstStyle/>
          <a:p>
            <a:pPr eaLnBrk="0">
              <a:lnSpc>
                <a:spcPts val="4265"/>
              </a:lnSpc>
              <a:spcBef>
                <a:spcPts val="0"/>
              </a:spcBef>
              <a:spcAft>
                <a:spcPts val="0"/>
              </a:spcAft>
            </a:pPr>
            <a:r>
              <a:rPr sz="3412" b="1">
                <a:solidFill>
                  <a:srgbClr val="FFFFFF"/>
                </a:solidFill>
                <a:latin typeface="Noto Sans KR"/>
              </a:rPr>
              <a:t>CONTENTS</a:t>
            </a:r>
          </a:p>
        </p:txBody>
      </p:sp>
      <p:sp xmlns:a="http://schemas.openxmlformats.org/drawingml/2006/main">
        <p:nvSpPr>
          <p:cNvPr id="4" name="contents-ko"/>
          <p:cNvSpPr txBox="1"/>
          <p:nvPr/>
        </p:nvSpPr>
        <p:spPr>
          <a:xfrm>
            <a:off x="619125" y="3800475"/>
            <a:ext cx="3333750" cy="666750"/>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FFFFFF"/>
                </a:solidFill>
                <a:latin typeface="Noto Sans KR"/>
              </a:rPr>
              <a:t>목차 안내</a:t>
            </a:r>
          </a:p>
        </p:txBody>
      </p:sp>
      <p:sp xmlns:a="http://schemas.openxmlformats.org/drawingml/2006/main">
        <p:nvSpPr>
          <p:cNvPr id="5" name="top-brand"/>
          <p:cNvSpPr txBox="1"/>
          <p:nvPr/>
        </p:nvSpPr>
        <p:spPr>
          <a:xfrm>
            <a:off x="619125" y="6858000"/>
            <a:ext cx="3286125" cy="1143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FFFFFF"/>
                </a:solidFill>
                <a:latin typeface="Noto Sans KR"/>
              </a:rPr>
              <a:t>제주특별자치도 제주시</a:t>
            </a:r>
          </a:p>
          <a:p>
            <a:pPr eaLnBrk="0">
              <a:lnSpc>
                <a:spcPts val="2156"/>
              </a:lnSpc>
              <a:spcBef>
                <a:spcPts val="0"/>
              </a:spcBef>
              <a:spcAft>
                <a:spcPts val="0"/>
              </a:spcAft>
            </a:pPr>
            <a:r>
              <a:rPr sz="1725" b="0">
                <a:solidFill>
                  <a:srgbClr val="FFFFFF"/>
                </a:solidFill>
                <a:latin typeface="Noto Sans KR"/>
              </a:rPr>
              <a:t>관광 전략기획안</a:t>
            </a:r>
          </a:p>
        </p:txBody>
      </p:sp>
      <p:sp xmlns:a="http://schemas.openxmlformats.org/drawingml/2006/main">
        <p:nvSpPr>
          <p:cNvPr id="6" name="top-date"/>
          <p:cNvSpPr txBox="1"/>
          <p:nvPr/>
        </p:nvSpPr>
        <p:spPr>
          <a:xfrm>
            <a:off x="619125" y="8001000"/>
            <a:ext cx="3333750" cy="3333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FFFFF"/>
                </a:solidFill>
                <a:latin typeface="Noto Sans KR"/>
              </a:rPr>
              <a:t>2026. 09. 15</a:t>
            </a:r>
          </a:p>
        </p:txBody>
      </p:sp>
      <p:sp xmlns:a="http://schemas.openxmlformats.org/drawingml/2006/main">
        <p:nvSpPr>
          <p:cNvPr id="8" name="toc-0-number"/>
          <p:cNvSpPr txBox="1"/>
          <p:nvPr/>
        </p:nvSpPr>
        <p:spPr>
          <a:xfrm>
            <a:off x="5353050" y="9334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0</a:t>
            </a:r>
          </a:p>
        </p:txBody>
      </p:sp>
      <p:sp xmlns:a="http://schemas.openxmlformats.org/drawingml/2006/main">
        <p:nvSpPr>
          <p:cNvPr id="9" name="toc-0-label"/>
          <p:cNvSpPr txBox="1"/>
          <p:nvPr/>
        </p:nvSpPr>
        <p:spPr>
          <a:xfrm>
            <a:off x="6296025" y="10191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 의도 · 지역 성장 비교</a:t>
            </a:r>
          </a:p>
        </p:txBody>
      </p:sp>
      <p:sp xmlns:a="http://schemas.openxmlformats.org/drawingml/2006/main">
        <p:nvSpPr>
          <p:cNvPr id="11" name="toc-1-number"/>
          <p:cNvSpPr txBox="1"/>
          <p:nvPr/>
        </p:nvSpPr>
        <p:spPr>
          <a:xfrm>
            <a:off x="5353050" y="19716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1</a:t>
            </a:r>
          </a:p>
        </p:txBody>
      </p:sp>
      <p:sp xmlns:a="http://schemas.openxmlformats.org/drawingml/2006/main">
        <p:nvSpPr>
          <p:cNvPr id="12" name="toc-1-label"/>
          <p:cNvSpPr txBox="1"/>
          <p:nvPr/>
        </p:nvSpPr>
        <p:spPr>
          <a:xfrm>
            <a:off x="6296025" y="20574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지역별 사례와 실적</a:t>
            </a:r>
          </a:p>
        </p:txBody>
      </p:sp>
      <p:sp xmlns:a="http://schemas.openxmlformats.org/drawingml/2006/main">
        <p:nvSpPr>
          <p:cNvPr id="14" name="toc-2-number"/>
          <p:cNvSpPr txBox="1"/>
          <p:nvPr/>
        </p:nvSpPr>
        <p:spPr>
          <a:xfrm>
            <a:off x="5353050" y="30099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2</a:t>
            </a:r>
          </a:p>
        </p:txBody>
      </p:sp>
      <p:sp xmlns:a="http://schemas.openxmlformats.org/drawingml/2006/main">
        <p:nvSpPr>
          <p:cNvPr id="15" name="toc-2-label"/>
          <p:cNvSpPr txBox="1"/>
          <p:nvPr/>
        </p:nvSpPr>
        <p:spPr>
          <a:xfrm>
            <a:off x="6296025" y="30956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사업 목표와 KPI 산출근거</a:t>
            </a:r>
          </a:p>
        </p:txBody>
      </p:sp>
      <p:sp xmlns:a="http://schemas.openxmlformats.org/drawingml/2006/main">
        <p:nvSpPr>
          <p:cNvPr id="17" name="toc-3-number"/>
          <p:cNvSpPr txBox="1"/>
          <p:nvPr/>
        </p:nvSpPr>
        <p:spPr>
          <a:xfrm>
            <a:off x="5353050" y="404812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3</a:t>
            </a:r>
          </a:p>
        </p:txBody>
      </p:sp>
      <p:sp xmlns:a="http://schemas.openxmlformats.org/drawingml/2006/main">
        <p:nvSpPr>
          <p:cNvPr id="18" name="toc-3-label"/>
          <p:cNvSpPr txBox="1"/>
          <p:nvPr/>
        </p:nvSpPr>
        <p:spPr>
          <a:xfrm>
            <a:off x="6296025" y="413385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 적용과 실행</a:t>
            </a:r>
          </a:p>
        </p:txBody>
      </p:sp>
      <p:sp xmlns:a="http://schemas.openxmlformats.org/drawingml/2006/main">
        <p:nvSpPr>
          <p:cNvPr id="20" name="toc-4-number"/>
          <p:cNvSpPr txBox="1"/>
          <p:nvPr/>
        </p:nvSpPr>
        <p:spPr>
          <a:xfrm>
            <a:off x="5353050" y="50863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4</a:t>
            </a:r>
          </a:p>
        </p:txBody>
      </p:sp>
      <p:sp xmlns:a="http://schemas.openxmlformats.org/drawingml/2006/main">
        <p:nvSpPr>
          <p:cNvPr id="21" name="toc-4-label"/>
          <p:cNvSpPr txBox="1"/>
          <p:nvPr/>
        </p:nvSpPr>
        <p:spPr>
          <a:xfrm>
            <a:off x="6296025" y="51720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견적 예시안</a:t>
            </a:r>
          </a:p>
        </p:txBody>
      </p:sp>
      <p:sp xmlns:a="http://schemas.openxmlformats.org/drawingml/2006/main">
        <p:nvSpPr>
          <p:cNvPr id="23" name="toc-5-number"/>
          <p:cNvSpPr txBox="1"/>
          <p:nvPr/>
        </p:nvSpPr>
        <p:spPr>
          <a:xfrm>
            <a:off x="5353050" y="61245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5</a:t>
            </a:r>
          </a:p>
        </p:txBody>
      </p:sp>
      <p:sp xmlns:a="http://schemas.openxmlformats.org/drawingml/2006/main">
        <p:nvSpPr>
          <p:cNvPr id="24" name="toc-5-label"/>
          <p:cNvSpPr txBox="1"/>
          <p:nvPr/>
        </p:nvSpPr>
        <p:spPr>
          <a:xfrm>
            <a:off x="6296025" y="62103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기획서 생성 과정</a:t>
            </a:r>
          </a:p>
        </p:txBody>
      </p:sp>
      <p:sp xmlns:a="http://schemas.openxmlformats.org/drawingml/2006/main">
        <p:nvSpPr>
          <p:cNvPr id="26" name="toc-6-number"/>
          <p:cNvSpPr txBox="1"/>
          <p:nvPr/>
        </p:nvSpPr>
        <p:spPr>
          <a:xfrm>
            <a:off x="5353050" y="71628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6</a:t>
            </a:r>
          </a:p>
        </p:txBody>
      </p:sp>
      <p:sp xmlns:a="http://schemas.openxmlformats.org/drawingml/2006/main">
        <p:nvSpPr>
          <p:cNvPr id="27" name="toc-6-label"/>
          <p:cNvSpPr txBox="1"/>
          <p:nvPr/>
        </p:nvSpPr>
        <p:spPr>
          <a:xfrm>
            <a:off x="6296025" y="72485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근거·데이터·출처</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ctr">
            <a:noAutofit/>
          </a:bodyPr>
          <a:lstStyle/>
          <a:p>
            <a:pPr eaLnBrk="0" algn="ctr">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기획 의도</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제주시 내 박물관, 공연장, 문화유산 등</a:t>
            </a:r>
          </a:p>
          <a:p>
            <a:pPr eaLnBrk="0">
              <a:lnSpc>
                <a:spcPts val="2156"/>
              </a:lnSpc>
              <a:spcBef>
                <a:spcPts val="0"/>
              </a:spcBef>
              <a:spcAft>
                <a:spcPts val="0"/>
              </a:spcAft>
            </a:pPr>
            <a:r>
              <a:rPr sz="1725" b="0">
                <a:solidFill>
                  <a:srgbClr val="62666C"/>
                </a:solidFill>
                <a:latin typeface="Noto Sans KR"/>
              </a:rPr>
              <a:t>기존 시설을 활용하여 야간 개방 및 체험</a:t>
            </a:r>
          </a:p>
          <a:p>
            <a:pPr eaLnBrk="0">
              <a:lnSpc>
                <a:spcPts val="2156"/>
              </a:lnSpc>
              <a:spcBef>
                <a:spcPts val="0"/>
              </a:spcBef>
              <a:spcAft>
                <a:spcPts val="0"/>
              </a:spcAft>
            </a:pPr>
            <a:r>
              <a:rPr sz="1725" b="0">
                <a:solidFill>
                  <a:srgbClr val="62666C"/>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 ~ 2026-12, 3개월</a:t>
            </a:r>
          </a:p>
          <a:p>
            <a:pPr eaLnBrk="0">
              <a:lnSpc>
                <a:spcPts val="2156"/>
              </a:lnSpc>
              <a:spcBef>
                <a:spcPts val="0"/>
              </a:spcBef>
              <a:spcAft>
                <a:spcPts val="0"/>
              </a:spcAft>
            </a:pPr>
            <a:r>
              <a:rPr sz="1725" b="0">
                <a:solidFill>
                  <a:srgbClr val="62666C"/>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3개월 월별 합계</a:t>
            </a:r>
          </a:p>
          <a:p>
            <a:pPr eaLnBrk="0">
              <a:lnSpc>
                <a:spcPts val="2156"/>
              </a:lnSpc>
              <a:spcBef>
                <a:spcPts val="0"/>
              </a:spcBef>
              <a:spcAft>
                <a:spcPts val="0"/>
              </a:spcAft>
            </a:pPr>
            <a:r>
              <a:rPr sz="1725" b="0">
                <a:solidFill>
                  <a:srgbClr val="62666C"/>
                </a:solidFill>
                <a:latin typeface="Noto Sans KR"/>
              </a:rPr>
              <a:t>방문자 1,093만 명</a:t>
            </a:r>
          </a:p>
          <a:p>
            <a:pPr eaLnBrk="0">
              <a:lnSpc>
                <a:spcPts val="2156"/>
              </a:lnSpc>
              <a:spcBef>
                <a:spcPts val="0"/>
              </a:spcBef>
              <a:spcAft>
                <a:spcPts val="0"/>
              </a:spcAft>
            </a:pPr>
            <a:r>
              <a:rPr sz="1725" b="0">
                <a:solidFill>
                  <a:srgbClr val="62666C"/>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1.1 지역별 참고 사례</a:t>
            </a: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01</a:t>
            </a:r>
          </a:p>
        </p:txBody>
      </p:sp>
      <p:sp xmlns:a="http://schemas.openxmlformats.org/drawingml/2006/main">
        <p:nvSpPr>
          <p:cNvPr id="7" name="case-badge-0"/>
          <p:cNvSpPr txBox="1"/>
          <p:nvPr/>
        </p:nvSpPr>
        <p:spPr>
          <a:xfrm>
            <a:off x="1952625" y="264795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FFFFF"/>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서울특별시 문화유산 집적지역 ·</a:t>
            </a:r>
          </a:p>
          <a:p>
            <a:pPr eaLnBrk="0">
              <a:lnSpc>
                <a:spcPts val="2250"/>
              </a:lnSpc>
              <a:spcBef>
                <a:spcPts val="0"/>
              </a:spcBef>
              <a:spcAft>
                <a:spcPts val="0"/>
              </a:spcAft>
            </a:pPr>
            <a:r>
              <a:rPr sz="1800" b="1">
                <a:solidFill>
                  <a:srgbClr val="202124"/>
                </a:solidFill>
                <a:latin typeface="Noto Sans KR"/>
              </a:rPr>
              <a:t>기존 문화유산을 활용한 야간</a:t>
            </a:r>
          </a:p>
          <a:p>
            <a:pPr eaLnBrk="0">
              <a:lnSpc>
                <a:spcPts val="2250"/>
              </a:lnSpc>
              <a:spcBef>
                <a:spcPts val="0"/>
              </a:spcBef>
              <a:spcAft>
                <a:spcPts val="0"/>
              </a:spcAft>
            </a:pPr>
            <a:r>
              <a:rPr sz="1800" b="1">
                <a:solidFill>
                  <a:srgbClr val="202124"/>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문화유산이 모인 거점을 중심으로</a:t>
            </a:r>
          </a:p>
          <a:p>
            <a:pPr eaLnBrk="0">
              <a:lnSpc>
                <a:spcPts val="1968"/>
              </a:lnSpc>
              <a:spcBef>
                <a:spcPts val="0"/>
              </a:spcBef>
              <a:spcAft>
                <a:spcPts val="0"/>
              </a:spcAft>
            </a:pPr>
            <a:r>
              <a:rPr sz="1575" b="0">
                <a:solidFill>
                  <a:srgbClr val="62666C"/>
                </a:solidFill>
                <a:latin typeface="Noto Sans KR"/>
              </a:rPr>
              <a:t>야간 개방, 해설, 공연과</a:t>
            </a:r>
          </a:p>
          <a:p>
            <a:pPr eaLnBrk="0">
              <a:lnSpc>
                <a:spcPts val="1968"/>
              </a:lnSpc>
              <a:spcBef>
                <a:spcPts val="0"/>
              </a:spcBef>
              <a:spcAft>
                <a:spcPts val="0"/>
              </a:spcAft>
            </a:pPr>
            <a:r>
              <a:rPr sz="1575" b="0">
                <a:solidFill>
                  <a:srgbClr val="62666C"/>
                </a:solidFill>
                <a:latin typeface="Noto Sans KR"/>
              </a:rPr>
              <a:t>체험프로그램을 구성하고 국비와</a:t>
            </a:r>
          </a:p>
          <a:p>
            <a:pPr eaLnBrk="0">
              <a:lnSpc>
                <a:spcPts val="1968"/>
              </a:lnSpc>
              <a:spcBef>
                <a:spcPts val="0"/>
              </a:spcBef>
              <a:spcAft>
                <a:spcPts val="0"/>
              </a:spcAft>
            </a:pPr>
            <a:r>
              <a:rPr sz="1575" b="0">
                <a:solidFill>
                  <a:srgbClr val="62666C"/>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u="none">
                <a:solidFill>
                  <a:srgbClr val="62666C"/>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02</a:t>
            </a:r>
          </a:p>
        </p:txBody>
      </p:sp>
      <p:sp xmlns:a="http://schemas.openxmlformats.org/drawingml/2006/main">
        <p:nvSpPr>
          <p:cNvPr id="17" name="case-badge-1"/>
          <p:cNvSpPr txBox="1"/>
          <p:nvPr/>
        </p:nvSpPr>
        <p:spPr>
          <a:xfrm>
            <a:off x="64484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전라남도 강진군 ·</a:t>
            </a:r>
          </a:p>
          <a:p>
            <a:pPr eaLnBrk="0">
              <a:lnSpc>
                <a:spcPts val="2250"/>
              </a:lnSpc>
              <a:spcBef>
                <a:spcPts val="0"/>
              </a:spcBef>
              <a:spcAft>
                <a:spcPts val="0"/>
              </a:spcAft>
            </a:pPr>
            <a:r>
              <a:rPr sz="1800" b="1">
                <a:solidFill>
                  <a:srgbClr val="202124"/>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여행자가 지역에서 지출한 비용의</a:t>
            </a:r>
          </a:p>
          <a:p>
            <a:pPr eaLnBrk="0">
              <a:lnSpc>
                <a:spcPts val="1968"/>
              </a:lnSpc>
              <a:spcBef>
                <a:spcPts val="0"/>
              </a:spcBef>
              <a:spcAft>
                <a:spcPts val="0"/>
              </a:spcAft>
            </a:pPr>
            <a:r>
              <a:rPr sz="1575" b="0">
                <a:solidFill>
                  <a:srgbClr val="62666C"/>
                </a:solidFill>
                <a:latin typeface="Noto Sans KR"/>
              </a:rPr>
              <a:t>일부를 지역상품권으로 돌려받게 하여</a:t>
            </a:r>
          </a:p>
          <a:p>
            <a:pPr eaLnBrk="0">
              <a:lnSpc>
                <a:spcPts val="1968"/>
              </a:lnSpc>
              <a:spcBef>
                <a:spcPts val="0"/>
              </a:spcBef>
              <a:spcAft>
                <a:spcPts val="0"/>
              </a:spcAft>
            </a:pPr>
            <a:r>
              <a:rPr sz="1575" b="0">
                <a:solidFill>
                  <a:srgbClr val="62666C"/>
                </a:solidFill>
                <a:latin typeface="Noto Sans KR"/>
              </a:rPr>
              <a:t>혜택이 다시 지역 상점에서</a:t>
            </a:r>
          </a:p>
          <a:p>
            <a:pPr eaLnBrk="0">
              <a:lnSpc>
                <a:spcPts val="1968"/>
              </a:lnSpc>
              <a:spcBef>
                <a:spcPts val="0"/>
              </a:spcBef>
              <a:spcAft>
                <a:spcPts val="0"/>
              </a:spcAft>
            </a:pPr>
            <a:r>
              <a:rPr sz="1575" b="0">
                <a:solidFill>
                  <a:srgbClr val="62666C"/>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u="none">
                <a:solidFill>
                  <a:srgbClr val="62666C"/>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03</a:t>
            </a:r>
          </a:p>
        </p:txBody>
      </p:sp>
      <p:sp xmlns:a="http://schemas.openxmlformats.org/drawingml/2006/main">
        <p:nvSpPr>
          <p:cNvPr id="25" name="case-badge-2"/>
          <p:cNvSpPr txBox="1"/>
          <p:nvPr/>
        </p:nvSpPr>
        <p:spPr>
          <a:xfrm>
            <a:off x="109442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전국 인구감소지역 34곳 ·</a:t>
            </a:r>
          </a:p>
          <a:p>
            <a:pPr eaLnBrk="0">
              <a:lnSpc>
                <a:spcPts val="2250"/>
              </a:lnSpc>
              <a:spcBef>
                <a:spcPts val="0"/>
              </a:spcBef>
              <a:spcAft>
                <a:spcPts val="0"/>
              </a:spcAft>
            </a:pPr>
            <a:r>
              <a:rPr sz="1800" b="1">
                <a:solidFill>
                  <a:srgbClr val="202124"/>
                </a:solidFill>
                <a:latin typeface="Noto Sans KR"/>
              </a:rPr>
              <a:t>디지털 관광주민증과</a:t>
            </a:r>
          </a:p>
          <a:p>
            <a:pPr eaLnBrk="0">
              <a:lnSpc>
                <a:spcPts val="2250"/>
              </a:lnSpc>
              <a:spcBef>
                <a:spcPts val="0"/>
              </a:spcBef>
              <a:spcAft>
                <a:spcPts val="0"/>
              </a:spcAft>
            </a:pPr>
            <a:r>
              <a:rPr sz="1800" b="1">
                <a:solidFill>
                  <a:srgbClr val="202124"/>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디지털 관광주민증 참여업체 현장</a:t>
            </a:r>
          </a:p>
          <a:p>
            <a:pPr eaLnBrk="0">
              <a:lnSpc>
                <a:spcPts val="1968"/>
              </a:lnSpc>
              <a:spcBef>
                <a:spcPts val="0"/>
              </a:spcBef>
              <a:spcAft>
                <a:spcPts val="0"/>
              </a:spcAft>
            </a:pPr>
            <a:r>
              <a:rPr sz="1575" b="0">
                <a:solidFill>
                  <a:srgbClr val="62666C"/>
                </a:solidFill>
                <a:latin typeface="Noto Sans KR"/>
              </a:rPr>
              <a:t>인증과 숙박·식음·관람·체험 할인,</a:t>
            </a:r>
          </a:p>
          <a:p>
            <a:pPr eaLnBrk="0">
              <a:lnSpc>
                <a:spcPts val="1968"/>
              </a:lnSpc>
              <a:spcBef>
                <a:spcPts val="0"/>
              </a:spcBef>
              <a:spcAft>
                <a:spcPts val="0"/>
              </a:spcAft>
            </a:pPr>
            <a:r>
              <a:rPr sz="1575" b="0">
                <a:solidFill>
                  <a:srgbClr val="62666C"/>
                </a:solidFill>
                <a:latin typeface="Noto Sans KR"/>
              </a:rPr>
              <a:t>특정 시간대 KTX 할인과 방문 후 교통</a:t>
            </a:r>
          </a:p>
          <a:p>
            <a:pPr eaLnBrk="0">
              <a:lnSpc>
                <a:spcPts val="1968"/>
              </a:lnSpc>
              <a:spcBef>
                <a:spcPts val="0"/>
              </a:spcBef>
              <a:spcAft>
                <a:spcPts val="0"/>
              </a:spcAft>
            </a:pPr>
            <a:r>
              <a:rPr sz="1575" b="0">
                <a:solidFill>
                  <a:srgbClr val="62666C"/>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u="none">
                <a:solidFill>
                  <a:srgbClr val="62666C"/>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8="http://schemas.openxmlformats.org/officeDocument/2006/relationships" ns8:id="rId12"/>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F50045"/>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F5004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BEFF2"/>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F50045"/>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F50045"/>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FBEFF2"/>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FBEFF2"/>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50045"/>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F50045"/>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F50045"/>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FBEFF2"/>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FBEFF2"/>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50045"/>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31432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1.2 사례 실적</a:t>
            </a:r>
          </a:p>
        </p:txBody>
      </p:sp>
      <p:sp>
        <p:nvSpPr>
          <p:cNvPr id="4" name="result-title"/>
          <p:cNvSpPr txBox="1"/>
          <p:nvPr/>
        </p:nvSpPr>
        <p:spPr>
          <a:xfrm>
            <a:off x="1009650" y="2009775"/>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62666C"/>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62666C"/>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51339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8578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category"/>
          <p:cNvSpPr txBox="1"/>
          <p:nvPr/>
        </p:nvSpPr>
        <p:spPr>
          <a:xfrm>
            <a:off x="762000" y="1238250"/>
            <a:ext cx="7429500" cy="4572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FFFF"/>
                </a:solidFill>
                <a:latin typeface="Noto Sans KR"/>
              </a:rPr>
              <a:t>지역 관광 전략기획안</a:t>
            </a: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7" name="cover-date"/>
          <p:cNvSpPr txBox="1"/>
          <p:nvPr/>
        </p:nvSpPr>
        <p:spPr>
          <a:xfrm>
            <a:off x="762000" y="5810250"/>
            <a:ext cx="7620000"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FFFFFF"/>
                </a:solidFill>
                <a:latin typeface="Noto Sans KR"/>
              </a:rPr>
              <a:t>지역 관광 전략기획안</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7829550"/>
            <a:ext cx="567690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7867650"/>
            <a:ext cx="54673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a:p>
            <a:pPr eaLnBrk="0" algn="ctr">
              <a:lnSpc>
                <a:spcPts val="1593"/>
              </a:lnSpc>
              <a:spcBef>
                <a:spcPts val="0"/>
              </a:spcBef>
              <a:spcAft>
                <a:spcPts val="0"/>
              </a:spcAft>
            </a:pPr>
            <a:r>
              <a:rPr sz="1275" b="0">
                <a:solidFill>
                  <a:srgbClr val="FFFFFF"/>
                </a:solidFill>
                <a:latin typeface="Noto Sans KR"/>
              </a:rPr>
              <a:t>출처: 한국관광공사 TourAPI</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71462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23875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F50045"/>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kpi-impact-icon-0" descr="users-red.png"/>
          <p:cNvPicPr>
            <a:picLocks noChangeAspect="1"/>
          </p:cNvPicPr>
          <p:nvPr/>
        </p:nvPicPr>
        <p:blipFill>
          <a:blip r:embed="rId7"/>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50045"/>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26732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kpi-impact-icon-1" descr="coins-red.png"/>
          <p:cNvPicPr>
            <a:picLocks noChangeAspect="1"/>
          </p:cNvPicPr>
          <p:nvPr/>
        </p:nvPicPr>
        <p:blipFill>
          <a:blip r:embed="rId8"/>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50045"/>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peline-evidence-icon" descr="map-pinned-red.png"/>
          <p:cNvPicPr>
            <a:picLocks noChangeAspect="1"/>
          </p:cNvPicPr>
          <p:nvPr/>
        </p:nvPicPr>
        <p:blipFill>
          <a:blip r:embed="rId11"/>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F50045"/>
                </a:solidFill>
                <a:latin typeface="Noto Sans KR"/>
              </a:rPr>
              <a:t>① 지역</a:t>
            </a:r>
          </a:p>
          <a:p>
            <a:pPr eaLnBrk="0">
              <a:lnSpc>
                <a:spcPts val="2203"/>
              </a:lnSpc>
              <a:spcBef>
                <a:spcPts val="0"/>
              </a:spcBef>
              <a:spcAft>
                <a:spcPts val="0"/>
              </a:spcAft>
            </a:pPr>
            <a:r>
              <a:rPr sz="1762" b="1">
                <a:solidFill>
                  <a:srgbClr val="F50045"/>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57" name="pipeline-case-icon" descr="search-check-red.png"/>
          <p:cNvPicPr>
            <a:picLocks noChangeAspect="1"/>
          </p:cNvPicPr>
          <p:nvPr/>
        </p:nvPicPr>
        <p:blipFill>
          <a:blip r:embed="rId12"/>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F50045"/>
                </a:solidFill>
                <a:latin typeface="Noto Sans KR"/>
              </a:rPr>
              <a:t>② 타지역</a:t>
            </a:r>
          </a:p>
          <a:p>
            <a:pPr eaLnBrk="0">
              <a:lnSpc>
                <a:spcPts val="2203"/>
              </a:lnSpc>
              <a:spcBef>
                <a:spcPts val="0"/>
              </a:spcBef>
              <a:spcAft>
                <a:spcPts val="0"/>
              </a:spcAft>
            </a:pPr>
            <a:r>
              <a:rPr sz="1762" b="1">
                <a:solidFill>
                  <a:srgbClr val="F50045"/>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58"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기획서 생성</a:t>
            </a:r>
          </a:p>
          <a:p>
            <a:pPr eaLnBrk="0" algn="ctr">
              <a:lnSpc>
                <a:spcPts val="2531"/>
              </a:lnSpc>
              <a:spcBef>
                <a:spcPts val="0"/>
              </a:spcBef>
              <a:spcAft>
                <a:spcPts val="0"/>
              </a:spcAft>
            </a:pPr>
            <a:r>
              <a:rPr sz="2025" b="1">
                <a:solidFill>
                  <a:srgbClr val="F50045"/>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Qwen</a:t>
            </a:r>
          </a:p>
        </p:txBody>
      </p:sp>
      <p:pic>
        <p:nvPicPr>
          <p:cNvPr id="59" name="pipeline-icon-652" descr="git-compare-arrows-red.png"/>
          <p:cNvPicPr>
            <a:picLocks noChangeAspect="1"/>
          </p:cNvPicPr>
          <p:nvPr/>
        </p:nvPicPr>
        <p:blipFill>
          <a:blip r:embed="rId14"/>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Gemma</a:t>
            </a:r>
          </a:p>
        </p:txBody>
      </p:sp>
      <p:pic>
        <p:nvPicPr>
          <p:cNvPr id="60" name="pipeline-icon-874" descr="notebook-pen-red.png"/>
          <p:cNvPicPr>
            <a:picLocks noChangeAspect="1"/>
          </p:cNvPicPr>
          <p:nvPr/>
        </p:nvPicPr>
        <p:blipFill>
          <a:blip r:embed="rId15"/>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Qwen</a:t>
            </a:r>
          </a:p>
        </p:txBody>
      </p:sp>
      <p:pic>
        <p:nvPicPr>
          <p:cNvPr id="61" name="pipeline-icon-1096" descr="shield-check-red.png"/>
          <p:cNvPicPr>
            <a:picLocks noChangeAspect="1"/>
          </p:cNvPicPr>
          <p:nvPr/>
        </p:nvPicPr>
        <p:blipFill>
          <a:blip r:embed="rId16"/>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62" name="pipeline-output-icon" descr="files-red.png"/>
          <p:cNvPicPr>
            <a:picLocks noChangeAspect="1"/>
          </p:cNvPicPr>
          <p:nvPr/>
        </p:nvPicPr>
        <p:blipFill>
          <a:blip r:embed="rId17"/>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peline-data-icon" descr="database-red.png"/>
          <p:cNvPicPr>
            <a:picLocks noChangeAspect="1"/>
          </p:cNvPicPr>
          <p:nvPr/>
        </p:nvPicPr>
        <p:blipFill>
          <a:blip r:embed="rId18"/>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F50045"/>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