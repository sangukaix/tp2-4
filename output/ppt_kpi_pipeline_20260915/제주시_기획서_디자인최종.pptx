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59" r:id="R5b6702ccd7664af1"/>
    <p:sldId xmlns:r="http://schemas.openxmlformats.org/officeDocument/2006/relationships" id="261" r:id="Rbf371966fa964fc8"/>
    <p:sldId xmlns:ns0="http://schemas.openxmlformats.org/officeDocument/2006/relationships" id="270" ns0:id="rId17"/>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2" ns0:id="rId18"/>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3.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4.xml"/><Relationship Id="rId19" Type="http://schemas.openxmlformats.org/officeDocument/2006/relationships/slide" Target="slides/slide12.xml"/><Relationship Id="rId20" Type="http://schemas.openxmlformats.org/officeDocument/2006/relationships/slide" Target="slides/slide6.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만&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만&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367.53130333</c:v>
                </c:pt>
                <c:pt idx="1">
                  <c:v>371.41203333</c:v>
                </c:pt>
                <c:pt idx="2">
                  <c:v>353.933265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40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8100">
              <a:solidFill>
                <a:srgbClr val="004EA2"/>
              </a:solidFill>
            </a:ln>
          </c:spPr>
          <c:marker>
            <c:symbol val="circle"/>
            <c:size val="7"/>
            <c:spPr>
              <a:solidFill>
                <a:srgbClr val="004EA2"/>
              </a:solidFill>
            </c:spPr>
          </c:marker>
          <c:dLbls>
            <c:numFmt formatCode="0&quot;억&quot;" sourceLinked="0"/>
            <c:txPr>
              <a:bodyPr/>
              <a:lstStyle/>
              <a:p>
                <a:pPr>
                  <a:defRPr sz="1200" b="1">
                    <a:solidFill>
                      <a:srgbClr val="004EA2"/>
                    </a:solidFill>
                    <a:latin typeface="맑은 고딕"/>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8100">
              <a:solidFill>
                <a:srgbClr val="FF6B00"/>
              </a:solidFill>
            </a:ln>
          </c:spPr>
          <c:marker>
            <c:symbol val="circle"/>
            <c:size val="7"/>
            <c:spPr>
              <a:solidFill>
                <a:srgbClr val="FF6B00"/>
              </a:solidFill>
            </c:spPr>
          </c:marker>
          <c:dLbls>
            <c:numFmt formatCode="0&quot;억&quot;" sourceLinked="0"/>
            <c:txPr>
              <a:bodyPr/>
              <a:lstStyle/>
              <a:p>
                <a:pPr>
                  <a:defRPr sz="1200" b="1">
                    <a:solidFill>
                      <a:srgbClr val="FF6B00"/>
                    </a:solidFill>
                    <a:latin typeface="맑은 고딕"/>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1529.74857386</c:v>
                </c:pt>
                <c:pt idx="1">
                  <c:v>1499.21311306</c:v>
                </c:pt>
                <c:pt idx="2">
                  <c:v>1568.34971483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맑은 고딕"/>
              </a:defRPr>
            </a:pPr>
          </a:p>
        </c:txPr>
        <c:crossAx val="2140495176"/>
        <c:crosses val="autoZero"/>
        <c:auto val="1"/>
        <c:lblAlgn val="ctr"/>
        <c:lblOffset val="100"/>
        <c:noMultiLvlLbl val="0"/>
      </c:catAx>
      <c:valAx>
        <c:axId val="2140495176"/>
        <c:scaling>
          <c:max val="165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맑은 고딕"/>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3.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security-label">
            <a:extLst xmlns:a="http://schemas.openxmlformats.org/drawingml/2006/main">
              <a:ext uri="{FF2B5EF4-FFF2-40B4-BE49-F238E27FC236}">
                <a16:creationId xmlns:a16="http://schemas.microsoft.com/office/drawing/2014/main" id="{EA7BB441-19DF-412D-93DE-6B5F825D6027}"/>
              </a:ext>
            </a:extLst>
          </p:cNvPr>
          <p:cNvSpPr>
            <a:spLocks xmlns:a="http://schemas.openxmlformats.org/drawingml/2006/main" noGrp="1"/>
          </p:cNvSpPr>
          <p:nvPr/>
        </p:nvSpPr>
        <p:spPr>
          <a:xfrm xmlns:a="http://schemas.openxmlformats.org/drawingml/2006/main">
            <a:off x="5829300" y="2943225"/>
            <a:ext cx="4048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200" b="1" i="0">
                <a:solidFill>
                  <a:srgbClr val="59636E"/>
                </a:solidFill>
                <a:latin typeface="Noto Sans KR"/>
                <a:ea typeface="Noto Sans KR"/>
                <a:cs typeface="Noto Sans KR"/>
              </a:defRPr>
            </a:pPr>
            <a:r>
              <a:rPr sz="1350" b="0" i="0">
                <a:solidFill>
                  <a:srgbClr val="59636E"/>
                </a:solidFill>
                <a:latin typeface="Noto Sans KR"/>
                <a:ea typeface="Noto Sans KR"/>
                <a:cs typeface="Noto Sans KR"/>
              </a:rPr>
              <a:t>관광사업 아이디어 제안</a:t>
            </a: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3525" b="1" i="0">
                <a:solidFill>
                  <a:srgbClr val="1B1F23"/>
                </a:solidFill>
                <a:latin typeface="Noto Sans KR"/>
                <a:ea typeface="Noto Sans KR"/>
                <a:cs typeface="Noto Sans KR"/>
              </a:rPr>
              <a:t>제주시 야간 문화유산 및 시설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4181475" y="4410075"/>
            <a:ext cx="69246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625" b="1">
                <a:solidFill>
                  <a:srgbClr val="1B1F23"/>
                </a:solidFill>
                <a:latin typeface="Noto Sans KR"/>
                <a:ea typeface="Noto Sans KR"/>
                <a:cs typeface="Noto Sans KR"/>
              </a:rPr>
              <a:t>개방 프로그램 실행 기획안</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6115050"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6343650" y="5334000"/>
            <a:ext cx="3067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650" b="0" i="0">
                <a:solidFill>
                  <a:srgbClr val="1B1F23"/>
                </a:solidFill>
                <a:latin typeface="Noto Sans KR"/>
                <a:ea typeface="Noto Sans KR"/>
                <a:cs typeface="Noto Sans KR"/>
              </a:rPr>
              <a:t>사업기간 2026.10 ~ 2026.12</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534525" y="5514975"/>
            <a:ext cx="46672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제주특별자치도 제주시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org-owner">
            <a:extLst xmlns:a="http://schemas.openxmlformats.org/drawingml/2006/main">
              <a:ext uri="{FF2B5EF4-FFF2-40B4-BE49-F238E27FC236}">
                <a16:creationId xmlns:a16="http://schemas.microsoft.com/office/drawing/2014/main" id="{2CD7CFDD-25BB-432C-BC3B-756F92EB8CFB}"/>
              </a:ext>
            </a:extLst>
          </p:cNvPr>
          <p:cNvSpPr>
            <a:spLocks xmlns:a="http://schemas.openxmlformats.org/drawingml/2006/main" noGrp="1"/>
          </p:cNvSpPr>
          <p:nvPr/>
        </p:nvSpPr>
        <p:spPr>
          <a:xfrm xmlns:a="http://schemas.openxmlformats.org/drawingml/2006/main">
            <a:off x="12334875" y="1581150"/>
            <a:ext cx="190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r" eaLnBrk="0">
              <a:lnSpc>
                <a:spcPts val="1687"/>
              </a:lnSpc>
              <a:spcBef>
                <a:spcPts val="0"/>
              </a:spcBef>
              <a:spcAft>
                <a:spcPts val="0"/>
              </a:spcAft>
              <a:buNone/>
              <a:defRPr sz="1050" b="0" i="0">
                <a:solidFill>
                  <a:srgbClr val="59636E"/>
                </a:solidFill>
                <a:latin typeface="Noto Sans KR"/>
                <a:ea typeface="Noto Sans KR"/>
                <a:cs typeface="Noto Sans KR"/>
              </a:defRPr>
            </a:pPr>
            <a:r>
              <a:rPr sz="1350" b="0">
                <a:solidFill>
                  <a:srgbClr val="59636E"/>
                </a:solidFill>
                <a:latin typeface="Noto Sans KR"/>
              </a:rPr>
              <a:t>관광 전략 검토용</a:t>
            </a:r>
          </a:p>
        </p:txBody>
      </p:sp>
      <p:sp>
        <p:nvSpPr>
          <p:cNvPr id="15" name="report-number">
            <a:extLst xmlns:a="http://schemas.openxmlformats.org/drawingml/2006/main">
              <a:ext uri="{FF2B5EF4-FFF2-40B4-BE49-F238E27FC236}">
                <a16:creationId xmlns:a16="http://schemas.microsoft.com/office/drawing/2014/main" id="{91C450AB-B31C-4B87-BDB0-6281DFDBCBBA}"/>
              </a:ext>
            </a:extLst>
          </p:cNvPr>
          <p:cNvSpPr>
            <a:spLocks xmlns:a="http://schemas.openxmlformats.org/drawingml/2006/main" noGrp="1"/>
          </p:cNvSpPr>
          <p:nvPr/>
        </p:nvSpPr>
        <p:spPr>
          <a:xfrm xmlns:a="http://schemas.openxmlformats.org/drawingml/2006/main">
            <a:off x="1047750" y="6315075"/>
            <a:ext cx="35147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050" b="1" i="0">
                <a:solidFill>
                  <a:srgbClr val="00B7C9"/>
                </a:solidFill>
                <a:latin typeface="Noto Sans KR"/>
                <a:ea typeface="Noto Sans KR"/>
                <a:cs typeface="Noto Sans KR"/>
              </a:defRPr>
            </a:pPr>
            <a:r>
              <a:rPr sz="1200" b="1" i="0">
                <a:solidFill>
                  <a:srgbClr val="00B7C9"/>
                </a:solidFill>
                <a:latin typeface="Noto Sans KR"/>
                <a:ea typeface="Noto Sans KR"/>
                <a:cs typeface="Noto Sans KR"/>
              </a:rPr>
              <a:t>보고서 출력일 2026-09-15</a:t>
            </a: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제주시 관광 활성화 실행안</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top-brand">
            <a:extLst xmlns:a="http://schemas.openxmlformats.org/drawingml/2006/main">
              <a:ext uri="{FF2B5EF4-FFF2-40B4-BE49-F238E27FC236}">
                <a16:creationId xmlns:a16="http://schemas.microsoft.com/office/drawing/2014/main" id="{BC511F59-C000-4ABE-8C07-978065167F95}"/>
              </a:ext>
            </a:extLst>
          </p:cNvPr>
          <p:cNvSpPr>
            <a:spLocks xmlns:a="http://schemas.openxmlformats.org/drawingml/2006/main" noGrp="1"/>
          </p:cNvSpPr>
          <p:nvPr/>
        </p:nvSpPr>
        <p:spPr>
          <a:xfrm xmlns:a="http://schemas.openxmlformats.org/drawingml/2006/main">
            <a:off x="857250" y="333375"/>
            <a:ext cx="523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eaLnBrk="0">
              <a:buNone/>
              <a:defRPr sz="1200" b="1" i="0">
                <a:solidFill>
                  <a:srgbClr val="004EA2"/>
                </a:solidFill>
                <a:latin typeface="Noto Sans KR"/>
                <a:ea typeface="Noto Sans KR"/>
                <a:cs typeface="Noto Sans KR"/>
              </a:defRPr>
            </a:pPr>
            <a:r>
              <a:rPr sz="1425" b="1" i="0">
                <a:solidFill>
                  <a:srgbClr val="004EA2"/>
                </a:solidFill>
                <a:latin typeface="Noto Sans KR"/>
                <a:ea typeface="Noto Sans KR"/>
                <a:cs typeface="Noto Sans KR"/>
              </a:rPr>
              <a:t>제주특별자치도 제주시 관광 전략기획안</a:t>
            </a:r>
          </a:p>
        </p:txBody>
      </p:sp>
      <p:sp>
        <p:nvSpPr>
          <p:cNvPr id="2" name="top-date">
            <a:extLst xmlns:a="http://schemas.openxmlformats.org/drawingml/2006/main">
              <a:ext uri="{FF2B5EF4-FFF2-40B4-BE49-F238E27FC236}">
                <a16:creationId xmlns:a16="http://schemas.microsoft.com/office/drawing/2014/main" id="{B2EA0AA8-9451-4577-B2DB-64FEA4AE440C}"/>
              </a:ext>
            </a:extLst>
          </p:cNvPr>
          <p:cNvSpPr>
            <a:spLocks xmlns:a="http://schemas.openxmlformats.org/drawingml/2006/main" noGrp="1"/>
          </p:cNvSpPr>
          <p:nvPr/>
        </p:nvSpPr>
        <p:spPr>
          <a:xfrm xmlns:a="http://schemas.openxmlformats.org/drawingml/2006/main">
            <a:off x="13049250" y="3238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200" b="1" i="0">
                <a:solidFill>
                  <a:srgbClr val="59636E"/>
                </a:solidFill>
                <a:latin typeface="Noto Sans KR"/>
                <a:ea typeface="Noto Sans KR"/>
                <a:cs typeface="Noto Sans KR"/>
              </a:defRPr>
            </a:pPr>
            <a:r>
              <a:rPr sz="1388" b="1" i="0">
                <a:solidFill>
                  <a:srgbClr val="59636E"/>
                </a:solidFill>
                <a:latin typeface="Noto Sans KR"/>
                <a:ea typeface="Noto Sans KR"/>
                <a:cs typeface="Noto Sans KR"/>
              </a:rPr>
              <a:t>2026. 09. 15</a:t>
            </a:r>
          </a:p>
        </p:txBody>
      </p:sp>
      <p:sp>
        <p:nvSpPr>
          <p:cNvPr id="3" name="top-rule">
            <a:extLst xmlns:a="http://schemas.openxmlformats.org/drawingml/2006/main">
              <a:ext uri="{FF2B5EF4-FFF2-40B4-BE49-F238E27FC236}">
                <a16:creationId xmlns:a16="http://schemas.microsoft.com/office/drawing/2014/main" id="{578AD546-B3C6-4345-964E-CA38D80C5C3B}"/>
              </a:ext>
            </a:extLst>
          </p:cNvPr>
          <p:cNvSpPr>
            <a:spLocks xmlns:a="http://schemas.openxmlformats.org/drawingml/2006/main" noGrp="1"/>
          </p:cNvSpPr>
          <p:nvPr/>
        </p:nvSpPr>
        <p:spPr>
          <a:xfrm xmlns:a="http://schemas.openxmlformats.org/drawingml/2006/main">
            <a:off x="28575" y="981075"/>
            <a:ext cx="15182850" cy="0"/>
          </a:xfrm>
          <a:prstGeom xmlns:a="http://schemas.openxmlformats.org/drawingml/2006/main" prst="line">
            <a:avLst/>
          </a:prstGeom>
          <a:noFill xmlns:a="http://schemas.openxmlformats.org/drawingml/2006/main"/>
          <a:ln xmlns:a="http://schemas.openxmlformats.org/drawingml/2006/main" w="9525">
            <a:solidFill>
              <a:srgbClr val="E5EAF0"/>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contents-rail">
            <a:extLst xmlns:a="http://schemas.openxmlformats.org/drawingml/2006/main">
              <a:ext uri="{FF2B5EF4-FFF2-40B4-BE49-F238E27FC236}">
                <a16:creationId xmlns:a16="http://schemas.microsoft.com/office/drawing/2014/main" id="{7FA9108D-F5FC-4EF8-882D-8BF062FDC348}"/>
              </a:ext>
            </a:extLst>
          </p:cNvPr>
          <p:cNvSpPr>
            <a:spLocks xmlns:a="http://schemas.openxmlformats.org/drawingml/2006/main" noGrp="1"/>
          </p:cNvSpPr>
          <p:nvPr/>
        </p:nvSpPr>
        <p:spPr>
          <a:xfrm xmlns:a="http://schemas.openxmlformats.org/drawingml/2006/main">
            <a:off x="28575" y="981075"/>
            <a:ext cx="4810125" cy="7591425"/>
          </a:xfrm>
          <a:prstGeom xmlns:a="http://schemas.openxmlformats.org/drawingml/2006/main" prst="rect">
            <a:avLst/>
          </a:prstGeom>
          <a:solidFill xmlns:a="http://schemas.openxmlformats.org/drawingml/2006/main">
            <a:srgbClr val="004EA2"/>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contents-vertical">
            <a:extLst xmlns:a="http://schemas.openxmlformats.org/drawingml/2006/main">
              <a:ext uri="{FF2B5EF4-FFF2-40B4-BE49-F238E27FC236}">
                <a16:creationId xmlns:a16="http://schemas.microsoft.com/office/drawing/2014/main" id="{8A649E8C-B469-49E6-9B71-2587FA310B95}"/>
              </a:ext>
            </a:extLst>
          </p:cNvPr>
          <p:cNvSpPr>
            <a:spLocks xmlns:a="http://schemas.openxmlformats.org/drawingml/2006/main" noGrp="1"/>
          </p:cNvSpPr>
          <p:nvPr/>
        </p:nvSpPr>
        <p:spPr>
          <a:xfrm xmlns:a="http://schemas.openxmlformats.org/drawingml/2006/main" rot="-5400000">
            <a:off x="-866775" y="4162425"/>
            <a:ext cx="676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91667" lnSpcReduction="10000"/>
          </a:bodyPr>
          <a:lstStyle xmlns:a="http://schemas.openxmlformats.org/drawingml/2006/main"/>
          <a:p xmlns:a="http://schemas.openxmlformats.org/drawingml/2006/main">
            <a:pPr algn="ctr" eaLnBrk="0">
              <a:buNone/>
              <a:defRPr sz="7500" b="1" i="0">
                <a:solidFill>
                  <a:srgbClr val="2B6CB2"/>
                </a:solidFill>
                <a:latin typeface="Noto Sans KR"/>
                <a:ea typeface="Noto Sans KR"/>
                <a:cs typeface="Noto Sans KR"/>
              </a:defRPr>
            </a:pPr>
            <a:r>
              <a:rPr sz="7500" b="1" i="0">
                <a:solidFill>
                  <a:srgbClr val="2B6CB2"/>
                </a:solidFill>
                <a:latin typeface="Noto Sans KR"/>
                <a:ea typeface="Noto Sans KR"/>
                <a:cs typeface="Noto Sans KR"/>
              </a:rPr>
              <a:t>CONTENTS</a:t>
            </a:r>
          </a:p>
        </p:txBody>
      </p:sp>
      <p:sp>
        <p:nvSpPr>
          <p:cNvPr id="6" name="contents-en">
            <a:extLst xmlns:a="http://schemas.openxmlformats.org/drawingml/2006/main">
              <a:ext uri="{FF2B5EF4-FFF2-40B4-BE49-F238E27FC236}">
                <a16:creationId xmlns:a16="http://schemas.microsoft.com/office/drawing/2014/main" id="{A4545508-3408-4837-8886-DBD8CE263FDE}"/>
              </a:ext>
            </a:extLst>
          </p:cNvPr>
          <p:cNvSpPr>
            <a:spLocks xmlns:a="http://schemas.openxmlformats.org/drawingml/2006/main" noGrp="1"/>
          </p:cNvSpPr>
          <p:nvPr/>
        </p:nvSpPr>
        <p:spPr>
          <a:xfrm xmlns:a="http://schemas.openxmlformats.org/drawingml/2006/main">
            <a:off x="419100" y="401955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1725" b="1" i="0">
                <a:solidFill>
                  <a:srgbClr val="00C1D4"/>
                </a:solidFill>
                <a:latin typeface="Noto Sans KR"/>
                <a:ea typeface="Noto Sans KR"/>
                <a:cs typeface="Noto Sans KR"/>
              </a:defRPr>
            </a:pPr>
            <a:r>
              <a:rPr sz="1725" b="1" i="0">
                <a:solidFill>
                  <a:srgbClr val="00B7C9"/>
                </a:solidFill>
                <a:latin typeface="Noto Sans KR"/>
                <a:ea typeface="Noto Sans KR"/>
                <a:cs typeface="Noto Sans KR"/>
              </a:rPr>
              <a:t>TABLE OF CONTENTS</a:t>
            </a:r>
          </a:p>
        </p:txBody>
      </p:sp>
      <p:sp>
        <p:nvSpPr>
          <p:cNvPr id="7" name="contents-ko">
            <a:extLst xmlns:a="http://schemas.openxmlformats.org/drawingml/2006/main">
              <a:ext uri="{FF2B5EF4-FFF2-40B4-BE49-F238E27FC236}">
                <a16:creationId xmlns:a16="http://schemas.microsoft.com/office/drawing/2014/main" id="{99A460E5-8765-444E-944E-1A8069ABC357}"/>
              </a:ext>
            </a:extLst>
          </p:cNvPr>
          <p:cNvSpPr>
            <a:spLocks xmlns:a="http://schemas.openxmlformats.org/drawingml/2006/main" noGrp="1"/>
          </p:cNvSpPr>
          <p:nvPr/>
        </p:nvSpPr>
        <p:spPr>
          <a:xfrm xmlns:a="http://schemas.openxmlformats.org/drawingml/2006/main">
            <a:off x="1257300" y="4600575"/>
            <a:ext cx="2381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925" b="1" i="0">
                <a:solidFill>
                  <a:srgbClr val="FFFFFF"/>
                </a:solidFill>
                <a:latin typeface="Noto Sans KR"/>
                <a:ea typeface="Noto Sans KR"/>
                <a:cs typeface="Noto Sans KR"/>
              </a:defRPr>
            </a:pPr>
            <a:r>
              <a:rPr sz="2925" b="1" i="0">
                <a:solidFill>
                  <a:srgbClr val="FFFFFF"/>
                </a:solidFill>
                <a:latin typeface="Noto Sans KR"/>
                <a:ea typeface="Noto Sans KR"/>
                <a:cs typeface="Noto Sans KR"/>
              </a:rPr>
              <a:t>목차 안내</a:t>
            </a:r>
          </a:p>
        </p:txBody>
      </p:sp>
      <p:sp>
        <p:nvSpPr>
          <p:cNvPr id="8" name="contents-orange">
            <a:extLst xmlns:a="http://schemas.openxmlformats.org/drawingml/2006/main">
              <a:ext uri="{FF2B5EF4-FFF2-40B4-BE49-F238E27FC236}">
                <a16:creationId xmlns:a16="http://schemas.microsoft.com/office/drawing/2014/main" id="{D5323B82-A54D-47BA-8350-BCD7E58DB666}"/>
              </a:ext>
            </a:extLst>
          </p:cNvPr>
          <p:cNvSpPr>
            <a:spLocks xmlns:a="http://schemas.openxmlformats.org/drawingml/2006/main" noGrp="1"/>
          </p:cNvSpPr>
          <p:nvPr/>
        </p:nvSpPr>
        <p:spPr>
          <a:xfrm xmlns:a="http://schemas.openxmlformats.org/drawingml/2006/main">
            <a:off x="2057400" y="5381625"/>
            <a:ext cx="704850" cy="0"/>
          </a:xfrm>
          <a:prstGeom xmlns:a="http://schemas.openxmlformats.org/drawingml/2006/main" prst="line">
            <a:avLst/>
          </a:prstGeom>
          <a:noFill xmlns:a="http://schemas.openxmlformats.org/drawingml/2006/main"/>
          <a:ln xmlns:a="http://schemas.openxmlformats.org/drawingml/2006/main" w="3810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xmlns:a="http://schemas.openxmlformats.org/drawingml/2006/main">
        <p:nvSpPr>
          <p:cNvPr id="40" name="toc-0-number"/>
          <p:cNvSpPr txBox="1"/>
          <p:nvPr/>
        </p:nvSpPr>
        <p:spPr>
          <a:xfrm>
            <a:off x="53530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01</a:t>
            </a:r>
          </a:p>
        </p:txBody>
      </p:sp>
      <p:sp xmlns:a="http://schemas.openxmlformats.org/drawingml/2006/main">
        <p:nvSpPr>
          <p:cNvPr id="41" name="toc-0-label"/>
          <p:cNvSpPr txBox="1"/>
          <p:nvPr/>
        </p:nvSpPr>
        <p:spPr>
          <a:xfrm>
            <a:off x="59721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프로젝트 개요</a:t>
            </a:r>
          </a:p>
        </p:txBody>
      </p:sp>
      <p:sp xmlns:a="http://schemas.openxmlformats.org/drawingml/2006/main">
        <p:nvSpPr>
          <p:cNvPr id="42" name="toc-1-number"/>
          <p:cNvSpPr txBox="1"/>
          <p:nvPr/>
        </p:nvSpPr>
        <p:spPr>
          <a:xfrm>
            <a:off x="53530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02</a:t>
            </a:r>
          </a:p>
        </p:txBody>
      </p:sp>
      <p:sp xmlns:a="http://schemas.openxmlformats.org/drawingml/2006/main">
        <p:nvSpPr>
          <p:cNvPr id="43" name="toc-1-label"/>
          <p:cNvSpPr txBox="1"/>
          <p:nvPr/>
        </p:nvSpPr>
        <p:spPr>
          <a:xfrm>
            <a:off x="59721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사업 목표</a:t>
            </a:r>
          </a:p>
        </p:txBody>
      </p:sp>
      <p:sp xmlns:a="http://schemas.openxmlformats.org/drawingml/2006/main">
        <p:nvSpPr>
          <p:cNvPr id="44" name="toc-2-number"/>
          <p:cNvSpPr txBox="1"/>
          <p:nvPr/>
        </p:nvSpPr>
        <p:spPr>
          <a:xfrm>
            <a:off x="53530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03</a:t>
            </a:r>
          </a:p>
        </p:txBody>
      </p:sp>
      <p:sp xmlns:a="http://schemas.openxmlformats.org/drawingml/2006/main">
        <p:nvSpPr>
          <p:cNvPr id="45" name="toc-2-label"/>
          <p:cNvSpPr txBox="1"/>
          <p:nvPr/>
        </p:nvSpPr>
        <p:spPr>
          <a:xfrm>
            <a:off x="59721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지역별 참고 사례</a:t>
            </a:r>
          </a:p>
        </p:txBody>
      </p:sp>
      <p:sp xmlns:a="http://schemas.openxmlformats.org/drawingml/2006/main">
        <p:nvSpPr>
          <p:cNvPr id="46" name="toc-3-number"/>
          <p:cNvSpPr txBox="1"/>
          <p:nvPr/>
        </p:nvSpPr>
        <p:spPr>
          <a:xfrm>
            <a:off x="53530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04</a:t>
            </a:r>
          </a:p>
        </p:txBody>
      </p:sp>
      <p:sp xmlns:a="http://schemas.openxmlformats.org/drawingml/2006/main">
        <p:nvSpPr>
          <p:cNvPr id="47" name="toc-3-label"/>
          <p:cNvSpPr txBox="1"/>
          <p:nvPr/>
        </p:nvSpPr>
        <p:spPr>
          <a:xfrm>
            <a:off x="59721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실적</a:t>
            </a:r>
          </a:p>
        </p:txBody>
      </p:sp>
      <p:sp xmlns:a="http://schemas.openxmlformats.org/drawingml/2006/main">
        <p:nvSpPr>
          <p:cNvPr id="48" name="toc-4-number"/>
          <p:cNvSpPr txBox="1"/>
          <p:nvPr/>
        </p:nvSpPr>
        <p:spPr>
          <a:xfrm>
            <a:off x="53530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05</a:t>
            </a:r>
          </a:p>
        </p:txBody>
      </p:sp>
      <p:sp xmlns:a="http://schemas.openxmlformats.org/drawingml/2006/main">
        <p:nvSpPr>
          <p:cNvPr id="49" name="toc-4-label"/>
          <p:cNvSpPr txBox="1"/>
          <p:nvPr/>
        </p:nvSpPr>
        <p:spPr>
          <a:xfrm>
            <a:off x="59721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사례 선정과 지역 적용</a:t>
            </a:r>
          </a:p>
        </p:txBody>
      </p:sp>
      <p:sp xmlns:a="http://schemas.openxmlformats.org/drawingml/2006/main">
        <p:nvSpPr>
          <p:cNvPr id="50" name="toc-5-number"/>
          <p:cNvSpPr txBox="1"/>
          <p:nvPr/>
        </p:nvSpPr>
        <p:spPr>
          <a:xfrm>
            <a:off x="10496550" y="28194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06</a:t>
            </a:r>
          </a:p>
        </p:txBody>
      </p:sp>
      <p:sp xmlns:a="http://schemas.openxmlformats.org/drawingml/2006/main">
        <p:nvSpPr>
          <p:cNvPr id="51" name="toc-5-label"/>
          <p:cNvSpPr txBox="1"/>
          <p:nvPr/>
        </p:nvSpPr>
        <p:spPr>
          <a:xfrm>
            <a:off x="11115675" y="28670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4단계 실행 가이드 예시안</a:t>
            </a:r>
          </a:p>
        </p:txBody>
      </p:sp>
      <p:sp xmlns:a="http://schemas.openxmlformats.org/drawingml/2006/main">
        <p:nvSpPr>
          <p:cNvPr id="52" name="toc-6-number"/>
          <p:cNvSpPr txBox="1"/>
          <p:nvPr/>
        </p:nvSpPr>
        <p:spPr>
          <a:xfrm>
            <a:off x="10496550" y="37147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07</a:t>
            </a:r>
          </a:p>
        </p:txBody>
      </p:sp>
      <p:sp xmlns:a="http://schemas.openxmlformats.org/drawingml/2006/main">
        <p:nvSpPr>
          <p:cNvPr id="53" name="toc-6-label"/>
          <p:cNvSpPr txBox="1"/>
          <p:nvPr/>
        </p:nvSpPr>
        <p:spPr>
          <a:xfrm>
            <a:off x="11115675" y="37623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ML 전망과 목표 KPI</a:t>
            </a:r>
          </a:p>
        </p:txBody>
      </p:sp>
      <p:sp xmlns:a="http://schemas.openxmlformats.org/drawingml/2006/main">
        <p:nvSpPr>
          <p:cNvPr id="54" name="toc-7-number"/>
          <p:cNvSpPr txBox="1"/>
          <p:nvPr/>
        </p:nvSpPr>
        <p:spPr>
          <a:xfrm>
            <a:off x="10496550" y="46101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08</a:t>
            </a:r>
          </a:p>
        </p:txBody>
      </p:sp>
      <p:sp xmlns:a="http://schemas.openxmlformats.org/drawingml/2006/main">
        <p:nvSpPr>
          <p:cNvPr id="55" name="toc-7-label"/>
          <p:cNvSpPr txBox="1"/>
          <p:nvPr/>
        </p:nvSpPr>
        <p:spPr>
          <a:xfrm>
            <a:off x="11115675" y="46577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견적 예시안</a:t>
            </a:r>
          </a:p>
        </p:txBody>
      </p:sp>
      <p:sp xmlns:a="http://schemas.openxmlformats.org/drawingml/2006/main">
        <p:nvSpPr>
          <p:cNvPr id="56" name="toc-8-number"/>
          <p:cNvSpPr txBox="1"/>
          <p:nvPr/>
        </p:nvSpPr>
        <p:spPr>
          <a:xfrm>
            <a:off x="10496550" y="550545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09</a:t>
            </a:r>
          </a:p>
        </p:txBody>
      </p:sp>
      <p:sp xmlns:a="http://schemas.openxmlformats.org/drawingml/2006/main">
        <p:nvSpPr>
          <p:cNvPr id="57" name="toc-8-label"/>
          <p:cNvSpPr txBox="1"/>
          <p:nvPr/>
        </p:nvSpPr>
        <p:spPr>
          <a:xfrm>
            <a:off x="11115675" y="555307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KPI 근거·생성 파이프라인</a:t>
            </a:r>
          </a:p>
        </p:txBody>
      </p:sp>
      <p:sp xmlns:a="http://schemas.openxmlformats.org/drawingml/2006/main">
        <p:nvSpPr>
          <p:cNvPr id="58" name="toc-9-number"/>
          <p:cNvSpPr txBox="1"/>
          <p:nvPr/>
        </p:nvSpPr>
        <p:spPr>
          <a:xfrm>
            <a:off x="10496550" y="6400800"/>
            <a:ext cx="581025"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B7C9"/>
                </a:solidFill>
                <a:latin typeface="Noto Sans KR"/>
              </a:rPr>
              <a:t>10</a:t>
            </a:r>
          </a:p>
        </p:txBody>
      </p:sp>
      <p:sp xmlns:a="http://schemas.openxmlformats.org/drawingml/2006/main">
        <p:nvSpPr>
          <p:cNvPr id="59" name="toc-9-label"/>
          <p:cNvSpPr txBox="1"/>
          <p:nvPr/>
        </p:nvSpPr>
        <p:spPr>
          <a:xfrm>
            <a:off x="11115675" y="6448425"/>
            <a:ext cx="3952875" cy="552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근거·데이터·출처 및 맺음말</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3" name="title-rule">
            <a:extLst xmlns:a="http://schemas.openxmlformats.org/drawingml/2006/main">
              <a:ext uri="{FF2B5EF4-FFF2-40B4-BE49-F238E27FC236}">
                <a16:creationId xmlns:a16="http://schemas.microsoft.com/office/drawing/2014/main" id="{7BB0242C-FDEC-4963-ABFB-596DC97C0148}"/>
              </a:ext>
            </a:extLst>
          </p:cNvPr>
          <p:cNvSpPr>
            <a:spLocks xmlns:a="http://schemas.openxmlformats.org/drawingml/2006/main" noGrp="1"/>
          </p:cNvSpPr>
          <p:nvPr/>
        </p:nvSpPr>
        <p:spPr>
          <a:xfrm xmlns:a="http://schemas.openxmlformats.org/drawingml/2006/main">
            <a:off x="4772025" y="2152650"/>
            <a:ext cx="104394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556"/>
            </a:avLst>
          </a:prstGeom>
          <a:solidFill xmlns:a="http://schemas.openxmlformats.org/drawingml/2006/main">
            <a:srgbClr val="0B2F5B"/>
          </a:solidFill>
          <a:ln xmlns:a="http://schemas.openxmlformats.org/drawingml/2006/main" w="9525">
            <a:solidFill>
              <a:srgbClr val="0B2F5B"/>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343525" y="762000"/>
            <a:ext cx="9048750" cy="1285875"/>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004EA2"/>
                </a:solidFill>
                <a:latin typeface="Noto Sans KR"/>
              </a:rPr>
              <a:t>제주시 야간 문화유산 및 시설 개방 프로그램</a:t>
            </a:r>
          </a:p>
        </p:txBody>
      </p:sp>
      <p:sp xmlns:a="http://schemas.openxmlformats.org/drawingml/2006/main">
        <p:nvSpPr>
          <p:cNvPr id="35" name="s3-thesis"/>
          <p:cNvSpPr txBox="1"/>
          <p:nvPr/>
        </p:nvSpPr>
        <p:spPr>
          <a:xfrm>
            <a:off x="5343525" y="2619375"/>
            <a:ext cx="8524875" cy="18097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1D2227"/>
                </a:solidFill>
                <a:latin typeface="Noto Sans KR"/>
              </a:rPr>
              <a:t>제주시 내 박물관, 공연장, 문화유산 등 기존 시설을 활용하여</a:t>
            </a:r>
          </a:p>
          <a:p>
            <a:pPr eaLnBrk="0">
              <a:lnSpc>
                <a:spcPts val="3187"/>
              </a:lnSpc>
              <a:spcBef>
                <a:spcPts val="0"/>
              </a:spcBef>
              <a:spcAft>
                <a:spcPts val="0"/>
              </a:spcAft>
            </a:pPr>
            <a:r>
              <a:rPr sz="2550" b="1">
                <a:solidFill>
                  <a:srgbClr val="1D2227"/>
                </a:solidFill>
                <a:latin typeface="Noto Sans KR"/>
              </a:rPr>
              <a:t>야간 개방 및 체험 프로그램을 확대 운영</a:t>
            </a:r>
          </a:p>
        </p:txBody>
      </p:sp>
      <p:sp xmlns:a="http://schemas.openxmlformats.org/drawingml/2006/main">
        <p:nvSpPr>
          <p:cNvPr id="36" name="s3-detail-label"/>
          <p:cNvSpPr txBox="1"/>
          <p:nvPr/>
        </p:nvSpPr>
        <p:spPr>
          <a:xfrm>
            <a:off x="5343525" y="4476750"/>
            <a:ext cx="8524875" cy="4286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사업 대상과 운영 범위</a:t>
            </a:r>
          </a:p>
        </p:txBody>
      </p:sp>
      <p:sp xmlns:a="http://schemas.openxmlformats.org/drawingml/2006/main">
        <p:nvSpPr>
          <p:cNvPr id="37" name="s3-detail"/>
          <p:cNvSpPr txBox="1"/>
          <p:nvPr/>
        </p:nvSpPr>
        <p:spPr>
          <a:xfrm>
            <a:off x="5343525" y="4991100"/>
            <a:ext cx="8524875" cy="9048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제주시 내 박물관, 공연장, 문화유산 등 기존 시설을 활용하여 야간 개방 및 체험 프로그램을 이용하는 방문객</a:t>
            </a:r>
          </a:p>
          <a:p>
            <a:pPr eaLnBrk="0">
              <a:lnSpc>
                <a:spcPts val="1781"/>
              </a:lnSpc>
              <a:spcBef>
                <a:spcPts val="0"/>
              </a:spcBef>
              <a:spcAft>
                <a:spcPts val="0"/>
              </a:spcAft>
            </a:pPr>
            <a:r>
              <a:rPr sz="1425" b="0">
                <a:solidFill>
                  <a:srgbClr val="59636E"/>
                </a:solidFill>
                <a:latin typeface="Noto Sans KR"/>
              </a:rPr>
              <a:t>제주시 내 박물관, 공연장, 문화유산 등 기존 시설을 활용하여 야간 개방 및 체험 프로그램을 확대 운영</a:t>
            </a:r>
          </a:p>
          <a:p>
            <a:pPr eaLnBrk="0">
              <a:lnSpc>
                <a:spcPts val="1781"/>
              </a:lnSpc>
              <a:spcBef>
                <a:spcPts val="0"/>
              </a:spcBef>
              <a:spcAft>
                <a:spcPts val="0"/>
              </a:spcAft>
            </a:pPr>
            <a:r>
              <a:rPr sz="1425" b="0">
                <a:solidFill>
                  <a:srgbClr val="59636E"/>
                </a:solidFill>
                <a:latin typeface="Noto Sans KR"/>
              </a:rPr>
              <a:t>2026-10 ~ 2026-12, 3개월</a:t>
            </a:r>
          </a:p>
        </p:txBody>
      </p:sp>
      <p:sp xmlns:a="http://schemas.openxmlformats.org/drawingml/2006/main">
        <p:nvSpPr>
          <p:cNvPr id="38" name="s3-goal-label"/>
          <p:cNvSpPr txBox="1"/>
          <p:nvPr/>
        </p:nvSpPr>
        <p:spPr>
          <a:xfrm>
            <a:off x="5343525" y="6429375"/>
            <a:ext cx="8524875" cy="38100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사업의 목표 · 3개월 월별 합계 기준</a:t>
            </a:r>
          </a:p>
        </p:txBody>
      </p:sp>
      <p:sp xmlns:a="http://schemas.openxmlformats.org/drawingml/2006/main">
        <p:nvSpPr>
          <p:cNvPr id="39" name="s3-goal-panel-0"/>
          <p:cNvSpPr/>
          <p:nvPr/>
        </p:nvSpPr>
        <p:spPr>
          <a:xfrm>
            <a:off x="5343525" y="6934200"/>
            <a:ext cx="4171950" cy="125730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0" name="s3-goal-name-0"/>
          <p:cNvSpPr txBox="1"/>
          <p:nvPr/>
        </p:nvSpPr>
        <p:spPr>
          <a:xfrm>
            <a:off x="5486400" y="7038975"/>
            <a:ext cx="38100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방문자 수</a:t>
            </a:r>
          </a:p>
        </p:txBody>
      </p:sp>
      <p:sp xmlns:a="http://schemas.openxmlformats.org/drawingml/2006/main">
        <p:nvSpPr>
          <p:cNvPr id="41" name="s3-goal-value-0"/>
          <p:cNvSpPr txBox="1"/>
          <p:nvPr/>
        </p:nvSpPr>
        <p:spPr>
          <a:xfrm>
            <a:off x="5486400" y="7391400"/>
            <a:ext cx="38481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6B00"/>
                </a:solidFill>
                <a:latin typeface="Noto Sans KR"/>
              </a:rPr>
              <a:t>↑ 348,601명</a:t>
            </a:r>
          </a:p>
        </p:txBody>
      </p:sp>
      <p:sp xmlns:a="http://schemas.openxmlformats.org/drawingml/2006/main">
        <p:nvSpPr>
          <p:cNvPr id="42" name="s3-goal-pct-0"/>
          <p:cNvSpPr txBox="1"/>
          <p:nvPr/>
        </p:nvSpPr>
        <p:spPr>
          <a:xfrm>
            <a:off x="5486400" y="7829550"/>
            <a:ext cx="38481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기준 전망 대비 +3.29% · 계획 목표</a:t>
            </a:r>
          </a:p>
        </p:txBody>
      </p:sp>
      <p:sp xmlns:a="http://schemas.openxmlformats.org/drawingml/2006/main">
        <p:nvSpPr>
          <p:cNvPr id="43" name="s3-goal-panel-1"/>
          <p:cNvSpPr/>
          <p:nvPr/>
        </p:nvSpPr>
        <p:spPr>
          <a:xfrm>
            <a:off x="9715500" y="6934200"/>
            <a:ext cx="4171950" cy="125730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4" name="s3-goal-name-1"/>
          <p:cNvSpPr txBox="1"/>
          <p:nvPr/>
        </p:nvSpPr>
        <p:spPr>
          <a:xfrm>
            <a:off x="9858375" y="7038975"/>
            <a:ext cx="38100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1">
                <a:solidFill>
                  <a:srgbClr val="004EA2"/>
                </a:solidFill>
                <a:latin typeface="Noto Sans KR"/>
              </a:rPr>
              <a:t>관광소비액</a:t>
            </a:r>
          </a:p>
        </p:txBody>
      </p:sp>
      <p:sp xmlns:a="http://schemas.openxmlformats.org/drawingml/2006/main">
        <p:nvSpPr>
          <p:cNvPr id="45" name="s3-goal-value-1"/>
          <p:cNvSpPr txBox="1"/>
          <p:nvPr/>
        </p:nvSpPr>
        <p:spPr>
          <a:xfrm>
            <a:off x="9858375" y="7391400"/>
            <a:ext cx="3848100" cy="3905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6B00"/>
                </a:solidFill>
                <a:latin typeface="Noto Sans KR"/>
              </a:rPr>
              <a:t>↑ 148.12억 원</a:t>
            </a:r>
          </a:p>
        </p:txBody>
      </p:sp>
      <p:sp xmlns:a="http://schemas.openxmlformats.org/drawingml/2006/main">
        <p:nvSpPr>
          <p:cNvPr id="46" name="s3-goal-pct-1"/>
          <p:cNvSpPr txBox="1"/>
          <p:nvPr/>
        </p:nvSpPr>
        <p:spPr>
          <a:xfrm>
            <a:off x="9858375" y="7829550"/>
            <a:ext cx="3848100"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기준 전망 대비 +3.33% · 계획 목표</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사업 목표</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block-0"/>
          <p:cNvSpPr/>
          <p:nvPr/>
        </p:nvSpPr>
        <p:spPr>
          <a:xfrm>
            <a:off x="10096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block-rail-0"/>
          <p:cNvSpPr/>
          <p:nvPr/>
        </p:nvSpPr>
        <p:spPr>
          <a:xfrm>
            <a:off x="10096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제주시 내 박물관, 공연장, 문화유산 등</a:t>
            </a:r>
          </a:p>
          <a:p>
            <a:pPr eaLnBrk="0">
              <a:lnSpc>
                <a:spcPts val="2156"/>
              </a:lnSpc>
              <a:spcBef>
                <a:spcPts val="0"/>
              </a:spcBef>
              <a:spcAft>
                <a:spcPts val="0"/>
              </a:spcAft>
            </a:pPr>
            <a:r>
              <a:rPr sz="1725" b="0">
                <a:solidFill>
                  <a:srgbClr val="59636E"/>
                </a:solidFill>
                <a:latin typeface="Noto Sans KR"/>
              </a:rPr>
              <a:t>기존 시설을 활용하여 야간 개방 및 체험</a:t>
            </a:r>
          </a:p>
          <a:p>
            <a:pPr eaLnBrk="0">
              <a:lnSpc>
                <a:spcPts val="2156"/>
              </a:lnSpc>
              <a:spcBef>
                <a:spcPts val="0"/>
              </a:spcBef>
              <a:spcAft>
                <a:spcPts val="0"/>
              </a:spcAft>
            </a:pPr>
            <a:r>
              <a:rPr sz="1725" b="0">
                <a:solidFill>
                  <a:srgbClr val="59636E"/>
                </a:solidFill>
                <a:latin typeface="Noto Sans KR"/>
              </a:rPr>
              <a:t>프로그램을 확대 운영</a:t>
            </a:r>
          </a:p>
        </p:txBody>
      </p:sp>
      <p:sp xmlns:a="http://schemas.openxmlformats.org/drawingml/2006/main">
        <p:nvSpPr>
          <p:cNvPr id="8" name="block-1"/>
          <p:cNvSpPr/>
          <p:nvPr/>
        </p:nvSpPr>
        <p:spPr>
          <a:xfrm>
            <a:off x="548640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block-rail-1"/>
          <p:cNvSpPr/>
          <p:nvPr/>
        </p:nvSpPr>
        <p:spPr>
          <a:xfrm>
            <a:off x="5486400" y="2057400"/>
            <a:ext cx="57150" cy="1971675"/>
          </a:xfrm>
          <a:prstGeom prst="rect">
            <a:avLst/>
          </a:prstGeom>
          <a:solidFill>
            <a:srgbClr val="00B7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2026-10 ~ 2026-12, 3개월</a:t>
            </a:r>
          </a:p>
          <a:p>
            <a:pPr eaLnBrk="0">
              <a:lnSpc>
                <a:spcPts val="2156"/>
              </a:lnSpc>
              <a:spcBef>
                <a:spcPts val="0"/>
              </a:spcBef>
              <a:spcAft>
                <a:spcPts val="0"/>
              </a:spcAft>
            </a:pPr>
            <a:r>
              <a:rPr sz="1725" b="0">
                <a:solidFill>
                  <a:srgbClr val="59636E"/>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block-rail-2"/>
          <p:cNvSpPr/>
          <p:nvPr/>
        </p:nvSpPr>
        <p:spPr>
          <a:xfrm>
            <a:off x="9963150" y="2057400"/>
            <a:ext cx="57150" cy="19716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3개월 월별 합계</a:t>
            </a:r>
          </a:p>
          <a:p>
            <a:pPr eaLnBrk="0">
              <a:lnSpc>
                <a:spcPts val="2156"/>
              </a:lnSpc>
              <a:spcBef>
                <a:spcPts val="0"/>
              </a:spcBef>
              <a:spcAft>
                <a:spcPts val="0"/>
              </a:spcAft>
            </a:pPr>
            <a:r>
              <a:rPr sz="1725" b="0">
                <a:solidFill>
                  <a:srgbClr val="59636E"/>
                </a:solidFill>
                <a:latin typeface="Noto Sans KR"/>
              </a:rPr>
              <a:t>방문자 1,093만 명</a:t>
            </a:r>
          </a:p>
          <a:p>
            <a:pPr eaLnBrk="0">
              <a:lnSpc>
                <a:spcPts val="2156"/>
              </a:lnSpc>
              <a:spcBef>
                <a:spcPts val="0"/>
              </a:spcBef>
              <a:spcAft>
                <a:spcPts val="0"/>
              </a:spcAft>
            </a:pPr>
            <a:r>
              <a:rPr sz="1725" b="0">
                <a:solidFill>
                  <a:srgbClr val="59636E"/>
                </a:solidFill>
                <a:latin typeface="Noto Sans KR"/>
              </a:rPr>
              <a:t>관광소비액 4,597억 원</a:t>
            </a:r>
          </a:p>
        </p:txBody>
      </p:sp>
      <p:sp xmlns:a="http://schemas.openxmlformats.org/drawingml/2006/main">
        <p:nvSpPr>
          <p:cNvPr id="16" name="chart-panel-0"/>
          <p:cNvSpPr/>
          <p:nvPr/>
        </p:nvSpPr>
        <p:spPr>
          <a:xfrm>
            <a:off x="100965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23" name="chart-panel-1"/>
          <p:cNvSpPr/>
          <p:nvPr/>
        </p:nvSpPr>
        <p:spPr>
          <a:xfrm>
            <a:off x="7810500" y="4248150"/>
            <a:ext cx="6419850" cy="33337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625"/>
              </a:lnSpc>
              <a:spcBef>
                <a:spcPts val="0"/>
              </a:spcBef>
              <a:spcAft>
                <a:spcPts val="0"/>
              </a:spcAft>
            </a:pPr>
            <a:r>
              <a:rPr sz="2100" b="1">
                <a:solidFill>
                  <a:srgbClr val="004EA2"/>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59636E"/>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파란선: 한국관광 데이터랩의 과거 월별 방문·소비 기록과 계절 흐름을 바탕으로 계산한 전망입니다.</a:t>
            </a:r>
          </a:p>
          <a:p>
            <a:pPr eaLnBrk="0">
              <a:lnSpc>
                <a:spcPts val="1968"/>
              </a:lnSpc>
              <a:spcBef>
                <a:spcPts val="0"/>
              </a:spcBef>
              <a:spcAft>
                <a:spcPts val="0"/>
              </a:spcAft>
            </a:pPr>
            <a:r>
              <a:rPr sz="1575" b="0">
                <a:solidFill>
                  <a:srgbClr val="59636E"/>
                </a:solidFill>
                <a:latin typeface="Noto Sans KR"/>
              </a:rPr>
              <a:t>주황선: 공식 사례를 참고해 정한 사업 목표입니다. 목표율은 조정할 수 있으며, 산출 근거 페이지에서 설명합니다.</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지역별 참고 사례</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51625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01</a:t>
            </a:r>
          </a:p>
        </p:txBody>
      </p:sp>
      <p:sp xmlns:a="http://schemas.openxmlformats.org/drawingml/2006/main">
        <p:nvSpPr>
          <p:cNvPr id="7" name="case-badge-0"/>
          <p:cNvSpPr txBox="1"/>
          <p:nvPr/>
        </p:nvSpPr>
        <p:spPr>
          <a:xfrm>
            <a:off x="1952625" y="2647950"/>
            <a:ext cx="23622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4EA2"/>
                </a:solidFill>
                <a:latin typeface="Noto Sans KR"/>
              </a:rPr>
              <a:t>적용 사례</a:t>
            </a:r>
          </a:p>
        </p:txBody>
      </p:sp>
      <p:sp xmlns:a="http://schemas.openxmlformats.org/drawingml/2006/main">
        <p:nvSpPr>
          <p:cNvPr id="8" name="case-selected-tick-0"/>
          <p:cNvSpPr/>
          <p:nvPr/>
        </p:nvSpPr>
        <p:spPr>
          <a:xfrm>
            <a:off x="4486275" y="2686050"/>
            <a:ext cx="409575" cy="409575"/>
          </a:xfrm>
          <a:prstGeom prst="ellipse">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67652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서울특별시 문화유산 집적지역 ·</a:t>
            </a:r>
          </a:p>
          <a:p>
            <a:pPr eaLnBrk="0">
              <a:lnSpc>
                <a:spcPts val="2250"/>
              </a:lnSpc>
              <a:spcBef>
                <a:spcPts val="0"/>
              </a:spcBef>
              <a:spcAft>
                <a:spcPts val="0"/>
              </a:spcAft>
            </a:pPr>
            <a:r>
              <a:rPr sz="1800" b="1">
                <a:solidFill>
                  <a:srgbClr val="1D2227"/>
                </a:solidFill>
                <a:latin typeface="Noto Sans KR"/>
              </a:rPr>
              <a:t>기존 문화유산을 활용한 야간</a:t>
            </a:r>
          </a:p>
          <a:p>
            <a:pPr eaLnBrk="0">
              <a:lnSpc>
                <a:spcPts val="2250"/>
              </a:lnSpc>
              <a:spcBef>
                <a:spcPts val="0"/>
              </a:spcBef>
              <a:spcAft>
                <a:spcPts val="0"/>
              </a:spcAft>
            </a:pPr>
            <a:r>
              <a:rPr sz="1800" b="1">
                <a:solidFill>
                  <a:srgbClr val="1D2227"/>
                </a:solidFill>
                <a:latin typeface="Noto Sans KR"/>
              </a:rPr>
              <a:t>개방·체험 프로그램</a:t>
            </a:r>
          </a:p>
        </p:txBody>
      </p:sp>
      <p:sp xmlns:a="http://schemas.openxmlformats.org/drawingml/2006/main">
        <p:nvSpPr>
          <p:cNvPr id="11"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문화유산이 모인 거점을 중심으로</a:t>
            </a:r>
          </a:p>
          <a:p>
            <a:pPr eaLnBrk="0">
              <a:lnSpc>
                <a:spcPts val="1968"/>
              </a:lnSpc>
              <a:spcBef>
                <a:spcPts val="0"/>
              </a:spcBef>
              <a:spcAft>
                <a:spcPts val="0"/>
              </a:spcAft>
            </a:pPr>
            <a:r>
              <a:rPr sz="1575" b="0">
                <a:solidFill>
                  <a:srgbClr val="59636E"/>
                </a:solidFill>
                <a:latin typeface="Noto Sans KR"/>
              </a:rPr>
              <a:t>야간 개방, 해설, 공연과</a:t>
            </a:r>
          </a:p>
          <a:p>
            <a:pPr eaLnBrk="0">
              <a:lnSpc>
                <a:spcPts val="1968"/>
              </a:lnSpc>
              <a:spcBef>
                <a:spcPts val="0"/>
              </a:spcBef>
              <a:spcAft>
                <a:spcPts val="0"/>
              </a:spcAft>
            </a:pPr>
            <a:r>
              <a:rPr sz="1575" b="0">
                <a:solidFill>
                  <a:srgbClr val="59636E"/>
                </a:solidFill>
                <a:latin typeface="Noto Sans KR"/>
              </a:rPr>
              <a:t>체험프로그램을 구성하고 국비와</a:t>
            </a:r>
          </a:p>
          <a:p>
            <a:pPr eaLnBrk="0">
              <a:lnSpc>
                <a:spcPts val="1968"/>
              </a:lnSpc>
              <a:spcBef>
                <a:spcPts val="0"/>
              </a:spcBef>
              <a:spcAft>
                <a:spcPts val="0"/>
              </a:spcAft>
            </a:pPr>
            <a:r>
              <a:rPr sz="1575" b="0">
                <a:solidFill>
                  <a:srgbClr val="59636E"/>
                </a:solidFill>
                <a:latin typeface="Noto Sans KR"/>
              </a:rPr>
              <a:t>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857875"/>
            <a:ext cx="2578195" cy="1714500"/>
          </a:xfrm>
          <a:prstGeom prst="rect">
            <a:avLst/>
          </a:prstGeom>
        </p:spPr>
      </p:pic>
      <p:sp xmlns:a="http://schemas.openxmlformats.org/drawingml/2006/main">
        <p:nvSpPr>
          <p:cNvPr id="13"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ns0="http://schemas.openxmlformats.org/officeDocument/2006/relationships" ns0:id="rId5"/>
              </a:rPr>
              <a:t>서울 중구 정동 · 정동야행 행사 사진</a:t>
            </a:r>
          </a:p>
          <a:p>
            <a:pPr eaLnBrk="0">
              <a:lnSpc>
                <a:spcPts val="1500"/>
              </a:lnSpc>
              <a:spcBef>
                <a:spcPts val="0"/>
              </a:spcBef>
              <a:spcAft>
                <a:spcPts val="0"/>
              </a:spcAft>
            </a:pPr>
            <a:r>
              <a:rPr sz="1200" b="0">
                <a:solidFill>
                  <a:srgbClr val="59636E"/>
                </a:solidFill>
                <a:latin typeface="Noto Sans KR"/>
                <a:hlinkClick xmlns:ns1="http://schemas.openxmlformats.org/officeDocument/2006/relationships" ns1:id="rId5"/>
              </a:rPr>
              <a:t>출처: 서울문화포털 · 2024 정동야행</a:t>
            </a:r>
          </a:p>
        </p:txBody>
      </p:sp>
      <p:sp xmlns:a="http://schemas.openxmlformats.org/drawingml/2006/main">
        <p:nvSpPr>
          <p:cNvPr id="14"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2="http://schemas.openxmlformats.org/officeDocument/2006/relationships" ns2:id="rId6"/>
              </a:rPr>
              <a:t>사업 원문 보기 ↗</a:t>
            </a:r>
          </a:p>
        </p:txBody>
      </p:sp>
      <p:sp xmlns:a="http://schemas.openxmlformats.org/drawingml/2006/main">
        <p:nvSpPr>
          <p:cNvPr id="15" name="case-panel-1"/>
          <p:cNvSpPr/>
          <p:nvPr/>
        </p:nvSpPr>
        <p:spPr>
          <a:xfrm>
            <a:off x="55054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02</a:t>
            </a:r>
          </a:p>
        </p:txBody>
      </p:sp>
      <p:sp xmlns:a="http://schemas.openxmlformats.org/drawingml/2006/main">
        <p:nvSpPr>
          <p:cNvPr id="17" name="case-badge-1"/>
          <p:cNvSpPr txBox="1"/>
          <p:nvPr/>
        </p:nvSpPr>
        <p:spPr>
          <a:xfrm>
            <a:off x="6448425" y="2647950"/>
            <a:ext cx="23622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4EA2"/>
                </a:solidFill>
                <a:latin typeface="Noto Sans KR"/>
              </a:rPr>
              <a:t>후보 사례</a:t>
            </a:r>
          </a:p>
        </p:txBody>
      </p:sp>
      <p:sp xmlns:a="http://schemas.openxmlformats.org/drawingml/2006/main">
        <p:nvSpPr>
          <p:cNvPr id="18"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1D2227"/>
                </a:solidFill>
                <a:latin typeface="Noto Sans KR"/>
              </a:rPr>
              <a:t>전라남도 강진군 ·</a:t>
            </a:r>
          </a:p>
          <a:p>
            <a:pPr eaLnBrk="0">
              <a:lnSpc>
                <a:spcPts val="2343"/>
              </a:lnSpc>
              <a:spcBef>
                <a:spcPts val="0"/>
              </a:spcBef>
              <a:spcAft>
                <a:spcPts val="0"/>
              </a:spcAft>
            </a:pPr>
            <a:r>
              <a:rPr sz="1875" b="1">
                <a:solidFill>
                  <a:srgbClr val="1D2227"/>
                </a:solidFill>
                <a:latin typeface="Noto Sans KR"/>
              </a:rPr>
              <a:t>반값여행 지역환급</a:t>
            </a:r>
          </a:p>
        </p:txBody>
      </p:sp>
      <p:sp xmlns:a="http://schemas.openxmlformats.org/drawingml/2006/main">
        <p:nvSpPr>
          <p:cNvPr id="19"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여행자가 지역에서 지출한 비용의</a:t>
            </a:r>
          </a:p>
          <a:p>
            <a:pPr eaLnBrk="0">
              <a:lnSpc>
                <a:spcPts val="1968"/>
              </a:lnSpc>
              <a:spcBef>
                <a:spcPts val="0"/>
              </a:spcBef>
              <a:spcAft>
                <a:spcPts val="0"/>
              </a:spcAft>
            </a:pPr>
            <a:r>
              <a:rPr sz="1575" b="0">
                <a:solidFill>
                  <a:srgbClr val="59636E"/>
                </a:solidFill>
                <a:latin typeface="Noto Sans KR"/>
              </a:rPr>
              <a:t>일부를 지역상품권으로 돌려받게 하여</a:t>
            </a:r>
          </a:p>
          <a:p>
            <a:pPr eaLnBrk="0">
              <a:lnSpc>
                <a:spcPts val="1968"/>
              </a:lnSpc>
              <a:spcBef>
                <a:spcPts val="0"/>
              </a:spcBef>
              <a:spcAft>
                <a:spcPts val="0"/>
              </a:spcAft>
            </a:pPr>
            <a:r>
              <a:rPr sz="1575" b="0">
                <a:solidFill>
                  <a:srgbClr val="59636E"/>
                </a:solidFill>
                <a:latin typeface="Noto Sans KR"/>
              </a:rPr>
              <a:t>혜택이 다시 지역 상점에서</a:t>
            </a:r>
          </a:p>
          <a:p>
            <a:pPr eaLnBrk="0">
              <a:lnSpc>
                <a:spcPts val="1968"/>
              </a:lnSpc>
              <a:spcBef>
                <a:spcPts val="0"/>
              </a:spcBef>
              <a:spcAft>
                <a:spcPts val="0"/>
              </a:spcAft>
            </a:pPr>
            <a:r>
              <a:rPr sz="1575" b="0">
                <a:solidFill>
                  <a:srgbClr val="59636E"/>
                </a:solidFill>
                <a:latin typeface="Noto Sans KR"/>
              </a:rPr>
              <a:t>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857875"/>
            <a:ext cx="3211126" cy="1714500"/>
          </a:xfrm>
          <a:prstGeom prst="rect">
            <a:avLst/>
          </a:prstGeom>
        </p:spPr>
      </p:pic>
      <p:sp xmlns:a="http://schemas.openxmlformats.org/drawingml/2006/main">
        <p:nvSpPr>
          <p:cNvPr id="21"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ns3="http://schemas.openxmlformats.org/officeDocument/2006/relationships" ns3:id="rId8"/>
              </a:rPr>
              <a:t>강진군 · 반값여행 공식 홍보물</a:t>
            </a:r>
          </a:p>
          <a:p>
            <a:pPr eaLnBrk="0">
              <a:lnSpc>
                <a:spcPts val="1500"/>
              </a:lnSpc>
              <a:spcBef>
                <a:spcPts val="0"/>
              </a:spcBef>
              <a:spcAft>
                <a:spcPts val="0"/>
              </a:spcAft>
            </a:pPr>
            <a:r>
              <a:rPr sz="1200" b="0">
                <a:solidFill>
                  <a:srgbClr val="59636E"/>
                </a:solidFill>
                <a:latin typeface="Noto Sans KR"/>
                <a:hlinkClick xmlns:ns4="http://schemas.openxmlformats.org/officeDocument/2006/relationships" ns4:id="rId8"/>
              </a:rPr>
              <a:t>출처: 강진 반값여행 공식 홈페이지</a:t>
            </a:r>
          </a:p>
        </p:txBody>
      </p:sp>
      <p:sp xmlns:a="http://schemas.openxmlformats.org/drawingml/2006/main">
        <p:nvSpPr>
          <p:cNvPr id="22"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5="http://schemas.openxmlformats.org/officeDocument/2006/relationships" ns5:id="rId9"/>
              </a:rPr>
              <a:t>사업 원문 보기 ↗</a:t>
            </a:r>
          </a:p>
        </p:txBody>
      </p:sp>
      <p:sp xmlns:a="http://schemas.openxmlformats.org/drawingml/2006/main">
        <p:nvSpPr>
          <p:cNvPr id="23" name="case-panel-2"/>
          <p:cNvSpPr/>
          <p:nvPr/>
        </p:nvSpPr>
        <p:spPr>
          <a:xfrm>
            <a:off x="10001250" y="2457450"/>
            <a:ext cx="4229100" cy="51625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B7C9"/>
                </a:solidFill>
                <a:latin typeface="Noto Sans KR"/>
              </a:rPr>
              <a:t>03</a:t>
            </a:r>
          </a:p>
        </p:txBody>
      </p:sp>
      <p:sp xmlns:a="http://schemas.openxmlformats.org/drawingml/2006/main">
        <p:nvSpPr>
          <p:cNvPr id="25" name="case-badge-2"/>
          <p:cNvSpPr txBox="1"/>
          <p:nvPr/>
        </p:nvSpPr>
        <p:spPr>
          <a:xfrm>
            <a:off x="10944225" y="2647950"/>
            <a:ext cx="23622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004EA2"/>
                </a:solidFill>
                <a:latin typeface="Noto Sans KR"/>
              </a:rPr>
              <a:t>후보 사례</a:t>
            </a:r>
          </a:p>
        </p:txBody>
      </p:sp>
      <p:sp xmlns:a="http://schemas.openxmlformats.org/drawingml/2006/main">
        <p:nvSpPr>
          <p:cNvPr id="26"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1D2227"/>
                </a:solidFill>
                <a:latin typeface="Noto Sans KR"/>
              </a:rPr>
              <a:t>전국 인구감소지역 34곳 ·</a:t>
            </a:r>
          </a:p>
          <a:p>
            <a:pPr eaLnBrk="0">
              <a:lnSpc>
                <a:spcPts val="2250"/>
              </a:lnSpc>
              <a:spcBef>
                <a:spcPts val="0"/>
              </a:spcBef>
              <a:spcAft>
                <a:spcPts val="0"/>
              </a:spcAft>
            </a:pPr>
            <a:r>
              <a:rPr sz="1800" b="1">
                <a:solidFill>
                  <a:srgbClr val="1D2227"/>
                </a:solidFill>
                <a:latin typeface="Noto Sans KR"/>
              </a:rPr>
              <a:t>디지털 관광주민증과</a:t>
            </a:r>
          </a:p>
          <a:p>
            <a:pPr eaLnBrk="0">
              <a:lnSpc>
                <a:spcPts val="2250"/>
              </a:lnSpc>
              <a:spcBef>
                <a:spcPts val="0"/>
              </a:spcBef>
              <a:spcAft>
                <a:spcPts val="0"/>
              </a:spcAft>
            </a:pPr>
            <a:r>
              <a:rPr sz="1800" b="1">
                <a:solidFill>
                  <a:srgbClr val="1D2227"/>
                </a:solidFill>
                <a:latin typeface="Noto Sans KR"/>
              </a:rPr>
              <a:t>교통·숙박·상점 할인 결합</a:t>
            </a:r>
          </a:p>
        </p:txBody>
      </p:sp>
      <p:sp xmlns:a="http://schemas.openxmlformats.org/drawingml/2006/main">
        <p:nvSpPr>
          <p:cNvPr id="27"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59636E"/>
                </a:solidFill>
                <a:latin typeface="Noto Sans KR"/>
              </a:rPr>
              <a:t>디지털 관광주민증 참여업체 현장</a:t>
            </a:r>
          </a:p>
          <a:p>
            <a:pPr eaLnBrk="0">
              <a:lnSpc>
                <a:spcPts val="1968"/>
              </a:lnSpc>
              <a:spcBef>
                <a:spcPts val="0"/>
              </a:spcBef>
              <a:spcAft>
                <a:spcPts val="0"/>
              </a:spcAft>
            </a:pPr>
            <a:r>
              <a:rPr sz="1575" b="0">
                <a:solidFill>
                  <a:srgbClr val="59636E"/>
                </a:solidFill>
                <a:latin typeface="Noto Sans KR"/>
              </a:rPr>
              <a:t>인증과 숙박·식음·관람·체험 할인,</a:t>
            </a:r>
          </a:p>
          <a:p>
            <a:pPr eaLnBrk="0">
              <a:lnSpc>
                <a:spcPts val="1968"/>
              </a:lnSpc>
              <a:spcBef>
                <a:spcPts val="0"/>
              </a:spcBef>
              <a:spcAft>
                <a:spcPts val="0"/>
              </a:spcAft>
            </a:pPr>
            <a:r>
              <a:rPr sz="1575" b="0">
                <a:solidFill>
                  <a:srgbClr val="59636E"/>
                </a:solidFill>
                <a:latin typeface="Noto Sans KR"/>
              </a:rPr>
              <a:t>특정 시간대 KTX 할인과 방문 후 교통</a:t>
            </a:r>
          </a:p>
          <a:p>
            <a:pPr eaLnBrk="0">
              <a:lnSpc>
                <a:spcPts val="1968"/>
              </a:lnSpc>
              <a:spcBef>
                <a:spcPts val="0"/>
              </a:spcBef>
              <a:spcAft>
                <a:spcPts val="0"/>
              </a:spcAft>
            </a:pPr>
            <a:r>
              <a:rPr sz="1575" b="0">
                <a:solidFill>
                  <a:srgbClr val="59636E"/>
                </a:solidFill>
                <a:latin typeface="Noto Sans KR"/>
              </a:rPr>
              <a:t>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857875"/>
            <a:ext cx="1371600" cy="1714500"/>
          </a:xfrm>
          <a:prstGeom prst="rect">
            <a:avLst/>
          </a:prstGeom>
        </p:spPr>
      </p:pic>
      <p:sp xmlns:a="http://schemas.openxmlformats.org/drawingml/2006/main">
        <p:nvSpPr>
          <p:cNvPr id="29"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59636E"/>
                </a:solidFill>
                <a:latin typeface="Noto Sans KR"/>
                <a:hlinkClick xmlns:ns6="http://schemas.openxmlformats.org/officeDocument/2006/relationships" ns6:id="rId11"/>
              </a:rPr>
              <a:t>전국 · 디지털 관광주민증 홍보물</a:t>
            </a:r>
          </a:p>
          <a:p>
            <a:pPr eaLnBrk="0">
              <a:lnSpc>
                <a:spcPts val="1500"/>
              </a:lnSpc>
              <a:spcBef>
                <a:spcPts val="0"/>
              </a:spcBef>
              <a:spcAft>
                <a:spcPts val="0"/>
              </a:spcAft>
            </a:pPr>
            <a:r>
              <a:rPr sz="1200" b="0">
                <a:solidFill>
                  <a:srgbClr val="59636E"/>
                </a:solidFill>
                <a:latin typeface="Noto Sans KR"/>
                <a:hlinkClick xmlns:ns7="http://schemas.openxmlformats.org/officeDocument/2006/relationships" ns7:id="rId11"/>
              </a:rPr>
              <a:t>출처: 대한민국 정책브리핑 (2025)</a:t>
            </a:r>
          </a:p>
        </p:txBody>
      </p:sp>
      <p:sp xmlns:a="http://schemas.openxmlformats.org/drawingml/2006/main">
        <p:nvSpPr>
          <p:cNvPr id="30"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a:solidFill>
                  <a:srgbClr val="004EA2"/>
                </a:solidFill>
                <a:latin typeface="Noto Sans KR"/>
                <a:hlinkClick xmlns:ns8="http://schemas.openxmlformats.org/officeDocument/2006/relationships" ns8:id="rId12"/>
              </a:rPr>
              <a:t>사업 원문 보기 ↗</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이 사업을 참고한 이유와 지역 적용 방법</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004EA2"/>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004EA2"/>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1D2227"/>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결제·혜택·재이용 또는 예약·체류 등 실제 이용</a:t>
                      </a:r>
                    </a:p>
                    <a:p>
                      <a:pPr eaLnBrk="0">
                        <a:lnSpc>
                          <a:spcPct val="112000"/>
                        </a:lnSpc>
                        <a:spcBef>
                          <a:spcPts val="0"/>
                        </a:spcBef>
                        <a:spcAft>
                          <a:spcPts val="0"/>
                        </a:spcAft>
                      </a:pPr>
                      <a:r>
                        <a:rPr sz="1575" b="0">
                          <a:solidFill>
                            <a:srgbClr val="1D2227"/>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선택 지역의</a:t>
                      </a:r>
                    </a:p>
                    <a:p>
                      <a:pPr eaLnBrk="0">
                        <a:lnSpc>
                          <a:spcPct val="112000"/>
                        </a:lnSpc>
                        <a:spcBef>
                          <a:spcPts val="0"/>
                        </a:spcBef>
                        <a:spcAft>
                          <a:spcPts val="0"/>
                        </a:spcAft>
                      </a:pPr>
                      <a:r>
                        <a:rPr sz="1575" b="1">
                          <a:solidFill>
                            <a:srgbClr val="1D2227"/>
                          </a:solidFill>
                          <a:latin typeface="Noto Sans KR"/>
                        </a:rPr>
                        <a:t>소비·체류</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1D2227"/>
                          </a:solidFill>
                          <a:latin typeface="Noto Sans KR"/>
                        </a:rPr>
                        <a:t>580,380건 / 외지인 숙박 방문 비율: 21.0%</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지역 소비·체류 지표를 보고 참여 업종과 이용</a:t>
                      </a:r>
                    </a:p>
                    <a:p>
                      <a:pPr eaLnBrk="0">
                        <a:lnSpc>
                          <a:spcPct val="112000"/>
                        </a:lnSpc>
                        <a:spcBef>
                          <a:spcPts val="0"/>
                        </a:spcBef>
                        <a:spcAft>
                          <a:spcPts val="0"/>
                        </a:spcAft>
                      </a:pPr>
                      <a:r>
                        <a:rPr sz="1575" b="0">
                          <a:solidFill>
                            <a:srgbClr val="1D2227"/>
                          </a:solidFill>
                          <a:latin typeface="Noto Sans KR"/>
                        </a:rPr>
                        <a:t>대상을 정합니다.</a:t>
                      </a:r>
                    </a:p>
                  </a:txBody>
                  <a:tcPr marL="95250" marR="95250" marT="66675" marB="66675" anchor="ctr">
                    <a:solidFill>
                      <a:srgbClr val="EAF1F6"/>
                    </a:solidFill>
                  </a:tcPr>
                </a:tc>
              </a:tr>
              <a:tr h="977900">
                <a:tc>
                  <a:txBody>
                    <a:bodyPr wrap="none"/>
                    <a:lstStyle/>
                    <a:p>
                      <a:pPr eaLnBrk="0">
                        <a:lnSpc>
                          <a:spcPct val="112000"/>
                        </a:lnSpc>
                        <a:spcBef>
                          <a:spcPts val="0"/>
                        </a:spcBef>
                        <a:spcAft>
                          <a:spcPts val="0"/>
                        </a:spcAft>
                      </a:pPr>
                      <a:r>
                        <a:rPr sz="1575" b="1">
                          <a:solidFill>
                            <a:srgbClr val="1D2227"/>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추가 방문 목표 348,601명 × 1%</a:t>
                      </a:r>
                    </a:p>
                    <a:p>
                      <a:pPr eaLnBrk="0">
                        <a:lnSpc>
                          <a:spcPct val="112000"/>
                        </a:lnSpc>
                        <a:spcBef>
                          <a:spcPts val="0"/>
                        </a:spcBef>
                        <a:spcAft>
                          <a:spcPts val="0"/>
                        </a:spcAft>
                      </a:pPr>
                      <a:r>
                        <a:rPr sz="1575" b="0">
                          <a:solidFill>
                            <a:srgbClr val="1D2227"/>
                          </a:solidFill>
                          <a:latin typeface="Noto Sans KR"/>
                        </a:rPr>
                        <a:t>시범 참여 3,487건(올림·계획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4763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004EA2"/>
                </a:solidFill>
                <a:latin typeface="Noto Sans KR"/>
              </a:rPr>
              <a:t>사례 → 우리 지역의 제안</a:t>
            </a:r>
          </a:p>
        </p:txBody>
      </p:sp>
      <p:sp>
        <p:nvSpPr>
          <p:cNvPr id="8" name="adaptation-body"/>
          <p:cNvSpPr txBox="1"/>
          <p:nvPr/>
        </p:nvSpPr>
        <p:spPr>
          <a:xfrm>
            <a:off x="4552950" y="6638925"/>
            <a:ext cx="9163050" cy="11811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1D2227"/>
                </a:solidFill>
                <a:latin typeface="Noto Sans KR"/>
              </a:rPr>
              <a:t>제주시 내 박물관, 공연장, 문화유산 등 기존 시설을 활용하여 야간 개방 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hlinkClick r:id="rId2"/>
              </a:rPr>
              <a:t>문서 기반 함수 연결 · 2024년 문화재야행 사업 예산 확정자료</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4단계 실행 가이드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xecution-panel-0"/>
          <p:cNvSpPr/>
          <p:nvPr/>
        </p:nvSpPr>
        <p:spPr>
          <a:xfrm>
            <a:off x="1009650" y="209550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59636E"/>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59636E"/>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59636E"/>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B7C9"/>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004EA2"/>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D2227"/>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59636E"/>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작성 기준: 저장된 일정 + 사업 유형별 운영 안내 함수. 공식 협약·법정 절차를 인용한 내용이 아니라 조정 가능한 실행 예시입니다.</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머신러닝 예측값과 목표 KPI</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3,675,313명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60,251명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3,594,310명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3,714,120명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119,810명 ·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3,539,333명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168,540명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10,580,165명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10,928,766명</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348,601명 · 3.29%</a:t>
                      </a:r>
                    </a:p>
                  </a:txBody>
                  <a:tcPr marL="95250" marR="95250" marT="66675" marB="66675" anchor="ctr">
                    <a:solidFill>
                      <a:srgbClr val="EAF1F6"/>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348,601명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004EA2"/>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004EA2"/>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1,529.75억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25.08억 원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26.11</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1,450.85억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1,499.21억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48.36억 원 · 3.33%</a:t>
                      </a:r>
                    </a:p>
                  </a:txBody>
                  <a:tcPr marL="95250" marR="95250" marT="66675" marB="66675" anchor="ctr">
                    <a:solidFill>
                      <a:srgbClr val="EAF1F6"/>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1D2227"/>
                          </a:solidFill>
                          <a:latin typeface="Noto Sans KR"/>
                        </a:rPr>
                        <a:t>1,568.35억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FF6B00"/>
                          </a:solidFill>
                          <a:latin typeface="Noto Sans KR"/>
                        </a:rPr>
                        <a:t>↑ 74.68억 원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1D2227"/>
                          </a:solidFill>
                          <a:latin typeface="Noto Sans KR"/>
                        </a:rPr>
                        <a:t>3개월 월별 합계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4,449.19억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0">
                          <a:solidFill>
                            <a:srgbClr val="1D2227"/>
                          </a:solidFill>
                          <a:latin typeface="Noto Sans KR"/>
                        </a:rPr>
                        <a:t>4,597.31억 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37" b="1">
                          <a:solidFill>
                            <a:srgbClr val="FF6B00"/>
                          </a:solidFill>
                          <a:latin typeface="Noto Sans KR"/>
                        </a:rPr>
                        <a:t>↑ 148.12억 원 · 3.33%</a:t>
                      </a:r>
                    </a:p>
                  </a:txBody>
                  <a:tcPr marL="95250" marR="95250" marT="66675" marB="66675" anchor="ctr">
                    <a:solidFill>
                      <a:srgbClr val="EAF1F6"/>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FF6B00"/>
                </a:solidFill>
                <a:latin typeface="Noto Sans KR"/>
              </a:rPr>
              <a:t>3개월 목표 추가 규모 ↑ 148.12억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월별 소비/방문 비율 = ML 소비액 ÷ ML 방문 수 | 26.10 41,622원 · 26.11 40,365원 · 26.12 44,312원</a:t>
            </a:r>
          </a:p>
          <a:p>
            <a:pPr eaLnBrk="0">
              <a:lnSpc>
                <a:spcPts val="1687"/>
              </a:lnSpc>
              <a:spcBef>
                <a:spcPts val="0"/>
              </a:spcBef>
              <a:spcAft>
                <a:spcPts val="0"/>
              </a:spcAft>
            </a:pPr>
            <a:r>
              <a:rPr sz="1350" b="0">
                <a:solidFill>
                  <a:srgbClr val="59636E"/>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59636E"/>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59636E"/>
                </a:solidFill>
                <a:latin typeface="Noto Sans KR"/>
              </a:rPr>
              <a:t>비율은 기획용 가정이며 실제 객단가·보장 효과가 아닙니다. 방문 합계는 월 간 중복을 포함합니다.</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사례 실적</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sult-title"/>
          <p:cNvSpPr txBox="1"/>
          <p:nvPr/>
        </p:nvSpPr>
        <p:spPr>
          <a:xfrm>
            <a:off x="1009650" y="2009775"/>
            <a:ext cx="13220700" cy="552450"/>
          </a:xfrm>
          <a:prstGeom prst="rect">
            <a:avLst/>
          </a:prstGeom>
          <a:noFill/>
        </p:spPr>
        <p:txBody>
          <a:bodyPr wrap="none" lIns="57150" rIns="57150" tIns="38100" bIns="38100" anchor="t">
            <a:noAutofit/>
          </a:bodyPr>
          <a:lstStyle/>
          <a:p>
            <a:pPr eaLnBrk="0">
              <a:lnSpc>
                <a:spcPts val="3187"/>
              </a:lnSpc>
              <a:spcBef>
                <a:spcPts val="0"/>
              </a:spcBef>
              <a:spcAft>
                <a:spcPts val="0"/>
              </a:spcAft>
            </a:pPr>
            <a:r>
              <a:rPr sz="2550" b="1">
                <a:solidFill>
                  <a:srgbClr val="004EA2"/>
                </a:solidFill>
                <a:latin typeface="Noto Sans KR"/>
              </a:rPr>
              <a:t>서울 중구 · 정동야행</a:t>
            </a:r>
          </a:p>
        </p:txBody>
      </p:sp>
      <p:sp>
        <p:nvSpPr>
          <p:cNvPr id="5" name="result-scope"/>
          <p:cNvSpPr txBox="1"/>
          <p:nvPr/>
        </p:nvSpPr>
        <p:spPr>
          <a:xfrm>
            <a:off x="1009650" y="2638425"/>
            <a:ext cx="13220700" cy="40005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59636E"/>
                </a:solidFill>
                <a:latin typeface="Noto Sans KR"/>
              </a:rPr>
              <a:t>선정한 서울 문화재야행 사업에 포함된 정동야행</a:t>
            </a:r>
          </a:p>
        </p:txBody>
      </p:sp>
      <p:sp>
        <p:nvSpPr>
          <p:cNvPr id="6" name="result-photo-panel"/>
          <p:cNvSpPr/>
          <p:nvPr/>
        </p:nvSpPr>
        <p:spPr>
          <a:xfrm>
            <a:off x="1009650" y="33337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333750"/>
            <a:ext cx="5070451" cy="3371850"/>
          </a:xfrm>
          <a:prstGeom prst="rect">
            <a:avLst/>
          </a:prstGeom>
        </p:spPr>
      </p:pic>
      <p:sp>
        <p:nvSpPr>
          <p:cNvPr id="8" name="result-photo-source"/>
          <p:cNvSpPr txBox="1"/>
          <p:nvPr/>
        </p:nvSpPr>
        <p:spPr>
          <a:xfrm>
            <a:off x="1009650" y="6810375"/>
            <a:ext cx="5581650" cy="6000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hlinkClick r:id="rId4"/>
              </a:rPr>
              <a:t>서울 중구 정동 · 정동야행 행사 사진</a:t>
            </a:r>
          </a:p>
          <a:p>
            <a:pPr eaLnBrk="0">
              <a:lnSpc>
                <a:spcPts val="1781"/>
              </a:lnSpc>
              <a:spcBef>
                <a:spcPts val="0"/>
              </a:spcBef>
              <a:spcAft>
                <a:spcPts val="0"/>
              </a:spcAft>
            </a:pPr>
            <a:r>
              <a:rPr sz="1425" b="0">
                <a:solidFill>
                  <a:srgbClr val="59636E"/>
                </a:solidFill>
                <a:latin typeface="Noto Sans KR"/>
                <a:hlinkClick r:id="rId4"/>
              </a:rPr>
              <a:t>출처: 서울문화포털 · 2024 정동야행</a:t>
            </a:r>
          </a:p>
        </p:txBody>
      </p:sp>
      <p:sp>
        <p:nvSpPr>
          <p:cNvPr id="9" name="result-metric"/>
          <p:cNvSpPr txBox="1"/>
          <p:nvPr/>
        </p:nvSpPr>
        <p:spPr>
          <a:xfrm>
            <a:off x="7172325" y="32385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004EA2"/>
                </a:solidFill>
                <a:latin typeface="Noto Sans KR"/>
              </a:rPr>
              <a:t>행사 방문객</a:t>
            </a:r>
          </a:p>
        </p:txBody>
      </p:sp>
      <p:sp>
        <p:nvSpPr>
          <p:cNvPr id="10" name="result-year-0"/>
          <p:cNvSpPr txBox="1"/>
          <p:nvPr/>
        </p:nvSpPr>
        <p:spPr>
          <a:xfrm>
            <a:off x="7172325" y="37338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2023년 · 10월 13–14일</a:t>
            </a:r>
          </a:p>
        </p:txBody>
      </p:sp>
      <p:sp>
        <p:nvSpPr>
          <p:cNvPr id="11" name="result-bar-0"/>
          <p:cNvSpPr/>
          <p:nvPr/>
        </p:nvSpPr>
        <p:spPr>
          <a:xfrm>
            <a:off x="7172325" y="41910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40386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004EA2"/>
                </a:solidFill>
                <a:latin typeface="Noto Sans KR"/>
              </a:rPr>
              <a:t>약 10.0만 명</a:t>
            </a:r>
          </a:p>
        </p:txBody>
      </p:sp>
      <p:sp>
        <p:nvSpPr>
          <p:cNvPr id="13" name="result-year-1"/>
          <p:cNvSpPr txBox="1"/>
          <p:nvPr/>
        </p:nvSpPr>
        <p:spPr>
          <a:xfrm>
            <a:off x="7172325" y="46767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2024년 · 5월 24–25일</a:t>
            </a:r>
          </a:p>
        </p:txBody>
      </p:sp>
      <p:sp>
        <p:nvSpPr>
          <p:cNvPr id="14" name="result-bar-1"/>
          <p:cNvSpPr/>
          <p:nvPr/>
        </p:nvSpPr>
        <p:spPr>
          <a:xfrm>
            <a:off x="7172325" y="5133975"/>
            <a:ext cx="4572000" cy="228600"/>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9815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004EA2"/>
                </a:solidFill>
                <a:latin typeface="Noto Sans KR"/>
              </a:rPr>
              <a:t>약 13.0만 명</a:t>
            </a:r>
          </a:p>
        </p:txBody>
      </p:sp>
      <p:sp>
        <p:nvSpPr>
          <p:cNvPr id="16" name="result-change-band"/>
          <p:cNvSpPr/>
          <p:nvPr/>
        </p:nvSpPr>
        <p:spPr>
          <a:xfrm>
            <a:off x="7172325" y="5857875"/>
            <a:ext cx="7058025" cy="10572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6000750"/>
            <a:ext cx="6619875" cy="55245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FF6B00"/>
                </a:solidFill>
                <a:latin typeface="Noto Sans KR"/>
              </a:rPr>
              <a:t>↑ 약 3.0만 명 | +30%</a:t>
            </a:r>
          </a:p>
        </p:txBody>
      </p:sp>
      <p:sp>
        <p:nvSpPr>
          <p:cNvPr id="18" name="result-change-formula"/>
          <p:cNvSpPr txBox="1"/>
          <p:nvPr/>
        </p:nvSpPr>
        <p:spPr>
          <a:xfrm>
            <a:off x="7381875" y="65436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59636E"/>
                </a:solidFill>
                <a:latin typeface="Noto Sans KR"/>
              </a:rPr>
              <a:t>(13만 − 10만) ÷ 10만 × 100</a:t>
            </a:r>
          </a:p>
        </p:txBody>
      </p:sp>
      <p:sp>
        <p:nvSpPr>
          <p:cNvPr id="19" name="result-data-labels"/>
          <p:cNvSpPr txBox="1"/>
          <p:nvPr/>
        </p:nvSpPr>
        <p:spPr>
          <a:xfrm>
            <a:off x="7172325" y="70389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59636E"/>
                </a:solidFill>
                <a:latin typeface="Noto Sans KR"/>
              </a:rPr>
              <a:t>중구청 발표 · 약 10만 명 / 중구청 발표 · 13만 명</a:t>
            </a:r>
          </a:p>
        </p:txBody>
      </p:sp>
      <p:sp>
        <p:nvSpPr>
          <p:cNvPr id="20" name="result-action"/>
          <p:cNvSpPr txBox="1"/>
          <p:nvPr/>
        </p:nvSpPr>
        <p:spPr>
          <a:xfrm>
            <a:off x="1009650" y="76104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004EA2"/>
                </a:solidFill>
                <a:latin typeface="Noto Sans KR"/>
              </a:rPr>
              <a:t>역사·문화시설을 밤에도 개방하고, 공연과 체험을 함께 운영</a:t>
            </a:r>
          </a:p>
        </p:txBody>
      </p:sp>
      <p:sp>
        <p:nvSpPr>
          <p:cNvPr id="21" name="result-interpretation"/>
          <p:cNvSpPr txBox="1"/>
          <p:nvPr/>
        </p:nvSpPr>
        <p:spPr>
          <a:xfrm>
            <a:off x="1009650" y="81057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두 해의 행사 방문객 비교입니다. 개최 계절이 달라 사업 단독 효과로 해석하지 않습니다.</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견적 예시안</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59636E"/>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656"/>
              </a:lnSpc>
              <a:spcBef>
                <a:spcPts val="0"/>
              </a:spcBef>
              <a:spcAft>
                <a:spcPts val="0"/>
              </a:spcAft>
            </a:pPr>
            <a:r>
              <a:rPr sz="2925" b="1">
                <a:solidFill>
                  <a:srgbClr val="004EA2"/>
                </a:solidFill>
                <a:latin typeface="Noto Sans KR"/>
              </a:rPr>
              <a:t>총 7,906만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004EA2"/>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16845B"/>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참여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34,870,000원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3,487건 ×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현장 운영·정산</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21,000,000원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max(월 20인일 × 3, 3,487건 ÷ 25건/인일 올림) = 140인일 × 150,000원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홍보·참여처 안내</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5,000,000원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콘텐츠·안내물 1식 × 500만원</a:t>
                      </a:r>
                    </a:p>
                  </a:txBody>
                  <a:tcPr marL="95250" marR="95250" marT="66675" marB="66675" anchor="ctr">
                    <a:solidFill>
                      <a:srgbClr val="EAF1F6"/>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1D2227"/>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1D2227"/>
                          </a:solidFill>
                          <a:latin typeface="Noto Sans KR"/>
                        </a:rPr>
                        <a:t>예비비</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7,187,000원</a:t>
                      </a:r>
                    </a:p>
                  </a:txBody>
                  <a:tcPr marL="95250" marR="95250" marT="66675" marB="66675" anchor="ctr">
                    <a:solidFill>
                      <a:srgbClr val="EAF1F6"/>
                    </a:solidFill>
                  </a:tcPr>
                </a:tc>
                <a:tc>
                  <a:txBody>
                    <a:bodyPr wrap="none"/>
                    <a:lstStyle/>
                    <a:p>
                      <a:pPr eaLnBrk="0">
                        <a:lnSpc>
                          <a:spcPct val="112000"/>
                        </a:lnSpc>
                        <a:spcBef>
                          <a:spcPts val="0"/>
                        </a:spcBef>
                        <a:spcAft>
                          <a:spcPts val="0"/>
                        </a:spcAft>
                      </a:pPr>
                      <a:r>
                        <a:rPr sz="1575" b="0">
                          <a:solidFill>
                            <a:srgbClr val="1D2227"/>
                          </a:solidFill>
                          <a:latin typeface="Noto Sans KR"/>
                        </a:rPr>
                        <a:t>직접비 7,187만원 × 10%</a:t>
                      </a:r>
                    </a:p>
                  </a:txBody>
                  <a:tcPr marL="95250" marR="95250" marT="66675" marB="66675" anchor="ctr">
                    <a:solidFill>
                      <a:srgbClr val="EAF1F6"/>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사업기간 추가 방문 목표 348,601명 × 시범 담당 비중 1% → 3,487건(올림). 1%는 직접 운영할 참여량 배분 가정이며 전환율 예측이 아닙니다.</a:t>
            </a:r>
          </a:p>
          <a:p>
            <a:pPr eaLnBrk="0">
              <a:lnSpc>
                <a:spcPts val="1781"/>
              </a:lnSpc>
              <a:spcBef>
                <a:spcPts val="0"/>
              </a:spcBef>
              <a:spcAft>
                <a:spcPts val="0"/>
              </a:spcAft>
            </a:pPr>
            <a:r>
              <a:rPr sz="1425" b="0">
                <a:solidFill>
                  <a:srgbClr val="59636E"/>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004EA2"/>
                </a:solidFill>
                <a:latin typeface="Noto Sans KR"/>
              </a:rPr>
              <a:t>예상 견적이며 실제 액수와 다를 수 있습니다. 세금 포함 여부·업무 범위·수량·단가는 계약 전에 조정합니다.</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xmlns:a="http://schemas.openxmlformats.org/drawingml/2006/main">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004EA2"/>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004EA2"/>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004EA2"/>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004EA2"/>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004EA2"/>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004EA2"/>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004EA2"/>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004EA2"/>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004EA2"/>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004EA2"/>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004EA2"/>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004EA2"/>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004EA2"/>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004EA2"/>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004EA2"/>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004EA2"/>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004EA2"/>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004EA2"/>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004EA2"/>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004EA2"/>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004EA2"/>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004EA2"/>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004EA2"/>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004EA2"/>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004EA2"/>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004EA2"/>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004EA2"/>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004EA2"/>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004EA2"/>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004EA2"/>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004EA2"/>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004EA2"/>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004EA2"/>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004EA2"/>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004EA2"/>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004EA2"/>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004EA2"/>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004EA2"/>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004EA2"/>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004EA2"/>
                </a:solidFill>
                <a:latin typeface="Noto Sans KR"/>
                <a:hlinkClick xmlns:ns73="http://schemas.openxmlformats.org/officeDocument/2006/relationships" ns73:id="rId2"/>
              </a:rPr>
              <a:t>인기관광지 2025-07 ~ 2026-06</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근거·데이터·출처</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59636E"/>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004EA2"/>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004EA2"/>
                </a:solidFill>
                <a:latin typeface="Noto Sans KR"/>
              </a:rPr>
              <a:t>머신러닝 예측치 방문자 수 RandomForestRegressor</a:t>
            </a:r>
          </a:p>
          <a:p>
            <a:pPr eaLnBrk="0">
              <a:lnSpc>
                <a:spcPts val="1265"/>
              </a:lnSpc>
              <a:spcBef>
                <a:spcPts val="0"/>
              </a:spcBef>
              <a:spcAft>
                <a:spcPts val="0"/>
              </a:spcAft>
            </a:pPr>
            <a:r>
              <a:rPr sz="1012" b="0">
                <a:solidFill>
                  <a:srgbClr val="004EA2"/>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004EA2"/>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004EA2"/>
                </a:solidFill>
                <a:latin typeface="Noto Sans KR"/>
              </a:rPr>
              <a:t>머신러닝 예측치 내비게이션 검색량 전년동월 계절</a:t>
            </a:r>
          </a:p>
          <a:p>
            <a:pPr eaLnBrk="0">
              <a:lnSpc>
                <a:spcPts val="1265"/>
              </a:lnSpc>
              <a:spcBef>
                <a:spcPts val="0"/>
              </a:spcBef>
              <a:spcAft>
                <a:spcPts val="0"/>
              </a:spcAft>
            </a:pPr>
            <a:r>
              <a:rPr sz="1012" b="0">
                <a:solidFill>
                  <a:srgbClr val="004EA2"/>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004EA2"/>
                </a:solidFill>
                <a:latin typeface="Noto Sans KR"/>
              </a:rPr>
              <a:t>머신러닝 예측치 숙박 목적지 검색량 전년동월 계절</a:t>
            </a:r>
          </a:p>
          <a:p>
            <a:pPr eaLnBrk="0">
              <a:lnSpc>
                <a:spcPts val="1265"/>
              </a:lnSpc>
              <a:spcBef>
                <a:spcPts val="0"/>
              </a:spcBef>
              <a:spcAft>
                <a:spcPts val="0"/>
              </a:spcAft>
            </a:pPr>
            <a:r>
              <a:rPr sz="1012" b="0">
                <a:solidFill>
                  <a:srgbClr val="004EA2"/>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004EA2"/>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004EA2"/>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004EA2"/>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004EA2"/>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004EA2"/>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004EA2"/>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004EA2"/>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004EA2"/>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004EA2"/>
                </a:solidFill>
                <a:latin typeface="Noto Sans KR"/>
                <a:hlinkClick r:id="rId13"/>
              </a:rPr>
              <a:t>사례 실적 서울문화포털 · 2024 정동야행 행사 내용과 사진</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1" name="background-wordmark">
            <a:extLst xmlns:a="http://schemas.openxmlformats.org/drawingml/2006/main">
              <a:ext uri="{FF2B5EF4-FFF2-40B4-BE49-F238E27FC236}">
                <a16:creationId xmlns:a16="http://schemas.microsoft.com/office/drawing/2014/main" id="{77FB509F-5920-492C-9117-3338D34B0670}"/>
              </a:ext>
            </a:extLst>
          </p:cNvPr>
          <p:cNvSpPr>
            <a:spLocks xmlns:a="http://schemas.openxmlformats.org/drawingml/2006/main" noGrp="1"/>
          </p:cNvSpPr>
          <p:nvPr/>
        </p:nvSpPr>
        <p:spPr>
          <a:xfrm xmlns:a="http://schemas.openxmlformats.org/drawingml/2006/main">
            <a:off x="-552450" y="2857500"/>
            <a:ext cx="16383000" cy="2952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rmAutofit fontScale="86111" lnSpcReduction="10000"/>
          </a:bodyPr>
          <a:lstStyle xmlns:a="http://schemas.openxmlformats.org/drawingml/2006/main"/>
          <a:p xmlns:a="http://schemas.openxmlformats.org/drawingml/2006/main">
            <a:pPr algn="ctr" eaLnBrk="0">
              <a:buNone/>
              <a:defRPr sz="22500" b="1" i="0">
                <a:solidFill>
                  <a:srgbClr val="E7EDF4"/>
                </a:solidFill>
                <a:latin typeface="Noto Sans KR"/>
                <a:ea typeface="Noto Sans KR"/>
                <a:cs typeface="Noto Sans KR"/>
              </a:defRPr>
            </a:pPr>
            <a:r>
              <a:rPr sz="22500" b="1" i="0">
                <a:solidFill>
                  <a:srgbClr val="E7EDF4"/>
                </a:solidFill>
                <a:latin typeface="Noto Sans KR"/>
                <a:ea typeface="Noto Sans KR"/>
                <a:cs typeface="Noto Sans KR"/>
              </a:rPr>
              <a:t>TOURISM AI</a:t>
            </a:r>
          </a:p>
        </p:txBody>
      </p:sp>
      <p:sp>
        <p:nvSpPr>
          <p:cNvPr id="2" name="center-top-vertical">
            <a:extLst xmlns:a="http://schemas.openxmlformats.org/drawingml/2006/main">
              <a:ext uri="{FF2B5EF4-FFF2-40B4-BE49-F238E27FC236}">
                <a16:creationId xmlns:a16="http://schemas.microsoft.com/office/drawing/2014/main" id="{B1DEDF35-13EE-406A-AC8E-214EDD2F24AC}"/>
              </a:ext>
            </a:extLst>
          </p:cNvPr>
          <p:cNvSpPr>
            <a:spLocks xmlns:a="http://schemas.openxmlformats.org/drawingml/2006/main" noGrp="1"/>
          </p:cNvSpPr>
          <p:nvPr/>
        </p:nvSpPr>
        <p:spPr>
          <a:xfrm xmlns:a="http://schemas.openxmlformats.org/drawingml/2006/main">
            <a:off x="7620000" y="895350"/>
            <a:ext cx="0" cy="1257300"/>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3" name="center-bottom-vertical">
            <a:extLst xmlns:a="http://schemas.openxmlformats.org/drawingml/2006/main">
              <a:ext uri="{FF2B5EF4-FFF2-40B4-BE49-F238E27FC236}">
                <a16:creationId xmlns:a16="http://schemas.microsoft.com/office/drawing/2014/main" id="{D3C6583A-243C-4B40-B28E-68DDCD8248EA}"/>
              </a:ext>
            </a:extLst>
          </p:cNvPr>
          <p:cNvSpPr>
            <a:spLocks xmlns:a="http://schemas.openxmlformats.org/drawingml/2006/main" noGrp="1"/>
          </p:cNvSpPr>
          <p:nvPr/>
        </p:nvSpPr>
        <p:spPr>
          <a:xfrm xmlns:a="http://schemas.openxmlformats.org/drawingml/2006/main">
            <a:off x="7620000" y="6410325"/>
            <a:ext cx="0" cy="1247775"/>
          </a:xfrm>
          <a:prstGeom xmlns:a="http://schemas.openxmlformats.org/drawingml/2006/main" prst="line">
            <a:avLst/>
          </a:prstGeom>
          <a:noFill xmlns:a="http://schemas.openxmlformats.org/drawingml/2006/main"/>
          <a:ln xmlns:a="http://schemas.openxmlformats.org/drawingml/2006/main" w="28575">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4" name="title-panel">
            <a:extLst xmlns:a="http://schemas.openxmlformats.org/drawingml/2006/main">
              <a:ext uri="{FF2B5EF4-FFF2-40B4-BE49-F238E27FC236}">
                <a16:creationId xmlns:a16="http://schemas.microsoft.com/office/drawing/2014/main" id="{EE1DECE5-AA5E-4E34-834B-AD62B1CB03F9}"/>
              </a:ext>
            </a:extLst>
          </p:cNvPr>
          <p:cNvSpPr>
            <a:spLocks xmlns:a="http://schemas.openxmlformats.org/drawingml/2006/main" noGrp="1"/>
          </p:cNvSpPr>
          <p:nvPr/>
        </p:nvSpPr>
        <p:spPr>
          <a:xfrm xmlns:a="http://schemas.openxmlformats.org/drawingml/2006/main">
            <a:off x="3495675" y="2114550"/>
            <a:ext cx="8267700" cy="42957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5" name="title-panel-top">
            <a:extLst xmlns:a="http://schemas.openxmlformats.org/drawingml/2006/main">
              <a:ext uri="{FF2B5EF4-FFF2-40B4-BE49-F238E27FC236}">
                <a16:creationId xmlns:a16="http://schemas.microsoft.com/office/drawing/2014/main" id="{6C123102-52FB-43EB-A3A5-744861F98965}"/>
              </a:ext>
            </a:extLst>
          </p:cNvPr>
          <p:cNvSpPr>
            <a:spLocks xmlns:a="http://schemas.openxmlformats.org/drawingml/2006/main" noGrp="1"/>
          </p:cNvSpPr>
          <p:nvPr/>
        </p:nvSpPr>
        <p:spPr>
          <a:xfrm xmlns:a="http://schemas.openxmlformats.org/drawingml/2006/main">
            <a:off x="3495675" y="2114550"/>
            <a:ext cx="8267700" cy="0"/>
          </a:xfrm>
          <a:prstGeom xmlns:a="http://schemas.openxmlformats.org/drawingml/2006/main" prst="line">
            <a:avLst/>
          </a:prstGeom>
          <a:noFill xmlns:a="http://schemas.openxmlformats.org/drawingml/2006/main"/>
          <a:ln xmlns:a="http://schemas.openxmlformats.org/drawingml/2006/main" w="38100">
            <a:solidFill>
              <a:srgbClr val="004EA2"/>
            </a:solidFill>
            <a:prstDash val="solid"/>
          </a:ln>
        </p:spPr>
        <p:txBody>
          <a:bodyPr xmlns:a="http://schemas.openxmlformats.org/drawingml/2006/main"/>
          <a:lstStyle xmlns:a="http://schemas.openxmlformats.org/drawingml/2006/main"/>
          <a:p xmlns:a="http://schemas.openxmlformats.org/drawingml/2006/main">
            <a:endParaRPr/>
          </a:p>
        </p:txBody>
      </p:sp>
      <p:sp>
        <p:nvSpPr>
          <p:cNvPr id="7" name="cover-title-line1">
            <a:extLst xmlns:a="http://schemas.openxmlformats.org/drawingml/2006/main">
              <a:ext uri="{FF2B5EF4-FFF2-40B4-BE49-F238E27FC236}">
                <a16:creationId xmlns:a16="http://schemas.microsoft.com/office/drawing/2014/main" id="{4D06E463-555F-4ED7-A555-6F2BBA28E48F}"/>
              </a:ext>
            </a:extLst>
          </p:cNvPr>
          <p:cNvSpPr>
            <a:spLocks xmlns:a="http://schemas.openxmlformats.org/drawingml/2006/main" noGrp="1"/>
          </p:cNvSpPr>
          <p:nvPr/>
        </p:nvSpPr>
        <p:spPr>
          <a:xfrm xmlns:a="http://schemas.openxmlformats.org/drawingml/2006/main">
            <a:off x="4267200" y="3638550"/>
            <a:ext cx="67341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eaLnBrk="0">
              <a:buNone/>
              <a:defRPr sz="3525" b="1" i="0">
                <a:solidFill>
                  <a:srgbClr val="1B1F23"/>
                </a:solidFill>
                <a:latin typeface="Noto Sans KR"/>
                <a:ea typeface="Noto Sans KR"/>
                <a:cs typeface="Noto Sans KR"/>
              </a:defRPr>
            </a:pPr>
            <a:r>
              <a:rPr sz="4500" b="1" i="0">
                <a:solidFill>
                  <a:srgbClr val="1B1F23"/>
                </a:solidFill>
                <a:latin typeface="Noto Sans KR"/>
                <a:ea typeface="Noto Sans KR"/>
                <a:cs typeface="Noto Sans KR"/>
              </a:rPr>
              <a:t>감사합니다</a:t>
            </a:r>
          </a:p>
        </p:txBody>
      </p:sp>
      <p:sp>
        <p:nvSpPr>
          <p:cNvPr id="8" name="cover-title-line2">
            <a:extLst xmlns:a="http://schemas.openxmlformats.org/drawingml/2006/main">
              <a:ext uri="{FF2B5EF4-FFF2-40B4-BE49-F238E27FC236}">
                <a16:creationId xmlns:a16="http://schemas.microsoft.com/office/drawing/2014/main" id="{055E2330-B51B-4A73-961A-2CE79A60AD37}"/>
              </a:ext>
            </a:extLst>
          </p:cNvPr>
          <p:cNvSpPr>
            <a:spLocks xmlns:a="http://schemas.openxmlformats.org/drawingml/2006/main" noGrp="1"/>
          </p:cNvSpPr>
          <p:nvPr/>
        </p:nvSpPr>
        <p:spPr>
          <a:xfrm xmlns:a="http://schemas.openxmlformats.org/drawingml/2006/main">
            <a:off x="3952875" y="4438650"/>
            <a:ext cx="7381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2625" b="1">
                <a:solidFill>
                  <a:srgbClr val="1B1F23"/>
                </a:solidFill>
                <a:latin typeface="Noto Sans KR"/>
                <a:ea typeface="Noto Sans KR"/>
                <a:cs typeface="Noto Sans KR"/>
              </a:defRPr>
            </a:pPr>
            <a:r>
              <a:rPr sz="2775" b="1">
                <a:solidFill>
                  <a:srgbClr val="004EA2"/>
                </a:solidFill>
                <a:latin typeface="Noto Sans KR"/>
                <a:ea typeface="Noto Sans KR"/>
                <a:cs typeface="Noto Sans KR"/>
              </a:rPr>
              <a:t>데이터로 확인하고, 현장에서 완성합니다</a:t>
            </a:r>
          </a:p>
        </p:txBody>
      </p:sp>
      <p:sp>
        <p:nvSpPr>
          <p:cNvPr id="9" name="date-rule-left">
            <a:extLst xmlns:a="http://schemas.openxmlformats.org/drawingml/2006/main">
              <a:ext uri="{FF2B5EF4-FFF2-40B4-BE49-F238E27FC236}">
                <a16:creationId xmlns:a16="http://schemas.microsoft.com/office/drawing/2014/main" id="{ADF95A54-AD3A-46B3-8204-A4A4C1780876}"/>
              </a:ext>
            </a:extLst>
          </p:cNvPr>
          <p:cNvSpPr>
            <a:spLocks xmlns:a="http://schemas.openxmlformats.org/drawingml/2006/main" noGrp="1"/>
          </p:cNvSpPr>
          <p:nvPr/>
        </p:nvSpPr>
        <p:spPr>
          <a:xfrm xmlns:a="http://schemas.openxmlformats.org/drawingml/2006/main">
            <a:off x="49720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cover-date">
            <a:extLst xmlns:a="http://schemas.openxmlformats.org/drawingml/2006/main">
              <a:ext uri="{FF2B5EF4-FFF2-40B4-BE49-F238E27FC236}">
                <a16:creationId xmlns:a16="http://schemas.microsoft.com/office/drawing/2014/main" id="{D9CF49F9-166E-4877-8903-09E88A51BFD0}"/>
              </a:ext>
            </a:extLst>
          </p:cNvPr>
          <p:cNvSpPr>
            <a:spLocks xmlns:a="http://schemas.openxmlformats.org/drawingml/2006/main" noGrp="1"/>
          </p:cNvSpPr>
          <p:nvPr/>
        </p:nvSpPr>
        <p:spPr>
          <a:xfrm xmlns:a="http://schemas.openxmlformats.org/drawingml/2006/main">
            <a:off x="5524500" y="5334000"/>
            <a:ext cx="419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eaLnBrk="0">
              <a:buNone/>
              <a:defRPr sz="1350" b="0" i="0">
                <a:solidFill>
                  <a:srgbClr val="1B1F23"/>
                </a:solidFill>
                <a:latin typeface="Noto Sans KR"/>
                <a:ea typeface="Noto Sans KR"/>
                <a:cs typeface="Noto Sans KR"/>
              </a:defRPr>
            </a:pPr>
            <a:r>
              <a:rPr sz="1575" b="0" i="0">
                <a:solidFill>
                  <a:srgbClr val="1B1F23"/>
                </a:solidFill>
                <a:latin typeface="Noto Sans KR"/>
                <a:ea typeface="Noto Sans KR"/>
                <a:cs typeface="Noto Sans KR"/>
              </a:rPr>
              <a:t>지역 관광 전략기획안</a:t>
            </a:r>
          </a:p>
        </p:txBody>
      </p:sp>
      <p:sp>
        <p:nvSpPr>
          <p:cNvPr id="11" name="date-rule-right">
            <a:extLst xmlns:a="http://schemas.openxmlformats.org/drawingml/2006/main">
              <a:ext uri="{FF2B5EF4-FFF2-40B4-BE49-F238E27FC236}">
                <a16:creationId xmlns:a16="http://schemas.microsoft.com/office/drawing/2014/main" id="{D63894DC-8857-4AFB-9D30-D40A61F1C100}"/>
              </a:ext>
            </a:extLst>
          </p:cNvPr>
          <p:cNvSpPr>
            <a:spLocks xmlns:a="http://schemas.openxmlformats.org/drawingml/2006/main" noGrp="1"/>
          </p:cNvSpPr>
          <p:nvPr/>
        </p:nvSpPr>
        <p:spPr>
          <a:xfrm xmlns:a="http://schemas.openxmlformats.org/drawingml/2006/main">
            <a:off x="9848850" y="5514975"/>
            <a:ext cx="419100"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org-title">
            <a:extLst xmlns:a="http://schemas.openxmlformats.org/drawingml/2006/main">
              <a:ext uri="{FF2B5EF4-FFF2-40B4-BE49-F238E27FC236}">
                <a16:creationId xmlns:a16="http://schemas.microsoft.com/office/drawing/2014/main" id="{BFAE34B7-AC7B-4526-88A3-D8CECFF061B0}"/>
              </a:ext>
            </a:extLst>
          </p:cNvPr>
          <p:cNvSpPr>
            <a:spLocks xmlns:a="http://schemas.openxmlformats.org/drawingml/2006/main" noGrp="1"/>
          </p:cNvSpPr>
          <p:nvPr/>
        </p:nvSpPr>
        <p:spPr>
          <a:xfrm xmlns:a="http://schemas.openxmlformats.org/drawingml/2006/main">
            <a:off x="11858625" y="10096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eaLnBrk="0">
              <a:buNone/>
              <a:defRPr sz="1350" b="1" i="0">
                <a:solidFill>
                  <a:srgbClr val="004EA2"/>
                </a:solidFill>
                <a:latin typeface="Noto Sans KR"/>
                <a:ea typeface="Noto Sans KR"/>
                <a:cs typeface="Noto Sans KR"/>
              </a:defRPr>
            </a:pPr>
            <a:r>
              <a:rPr sz="1500" b="1" i="0">
                <a:solidFill>
                  <a:srgbClr val="004EA2"/>
                </a:solidFill>
                <a:latin typeface="Noto Sans KR"/>
                <a:ea typeface="Noto Sans KR"/>
                <a:cs typeface="Noto Sans KR"/>
              </a:rPr>
              <a:t>제주특별자치도 제주시</a:t>
            </a:r>
          </a:p>
        </p:txBody>
      </p:sp>
      <p:sp>
        <p:nvSpPr>
          <p:cNvPr id="13" name="org-orange-rule">
            <a:extLst xmlns:a="http://schemas.openxmlformats.org/drawingml/2006/main">
              <a:ext uri="{FF2B5EF4-FFF2-40B4-BE49-F238E27FC236}">
                <a16:creationId xmlns:a16="http://schemas.microsoft.com/office/drawing/2014/main" id="{284EC6E3-1D8E-4934-8C5E-B43BDD643630}"/>
              </a:ext>
            </a:extLst>
          </p:cNvPr>
          <p:cNvSpPr>
            <a:spLocks xmlns:a="http://schemas.openxmlformats.org/drawingml/2006/main" noGrp="1"/>
          </p:cNvSpPr>
          <p:nvPr/>
        </p:nvSpPr>
        <p:spPr>
          <a:xfrm xmlns:a="http://schemas.openxmlformats.org/drawingml/2006/main">
            <a:off x="13592175" y="1390650"/>
            <a:ext cx="647700" cy="0"/>
          </a:xfrm>
          <a:prstGeom xmlns:a="http://schemas.openxmlformats.org/drawingml/2006/main" prst="line">
            <a:avLst/>
          </a:prstGeom>
          <a:noFill xmlns:a="http://schemas.openxmlformats.org/drawingml/2006/main"/>
          <a:ln xmlns:a="http://schemas.openxmlformats.org/drawingml/2006/main" w="19050">
            <a:solidFill>
              <a:srgbClr val="FF6B00"/>
            </a:solidFill>
            <a:prstDash val="solid"/>
          </a:ln>
        </p:spPr>
        <p:txBody>
          <a:bodyPr xmlns:a="http://schemas.openxmlformats.org/drawingml/2006/main"/>
          <a:lstStyle xmlns:a="http://schemas.openxmlformats.org/drawingml/2006/main"/>
          <a:p xmlns:a="http://schemas.openxmlformats.org/drawingml/2006/main">
            <a:endParaRPr/>
          </a:p>
        </p:txBody>
      </p:sp>
      <p:sp>
        <p:nvSpPr>
          <p:cNvPr id="16" name="report-topic">
            <a:extLst xmlns:a="http://schemas.openxmlformats.org/drawingml/2006/main">
              <a:ext uri="{FF2B5EF4-FFF2-40B4-BE49-F238E27FC236}">
                <a16:creationId xmlns:a16="http://schemas.microsoft.com/office/drawing/2014/main" id="{79974288-A39D-407D-8F48-874FFA4095C1}"/>
              </a:ext>
            </a:extLst>
          </p:cNvPr>
          <p:cNvSpPr>
            <a:spLocks xmlns:a="http://schemas.openxmlformats.org/drawingml/2006/main" noGrp="1"/>
          </p:cNvSpPr>
          <p:nvPr/>
        </p:nvSpPr>
        <p:spPr>
          <a:xfrm xmlns:a="http://schemas.openxmlformats.org/drawingml/2006/main">
            <a:off x="1047750" y="6724650"/>
            <a:ext cx="3514725"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57150" tIns="38100" rIns="57150" bIns="38100" anchor="t">
            <a:noAutofit/>
          </a:bodyPr>
          <a:lstStyle xmlns:a="http://schemas.openxmlformats.org/drawingml/2006/main"/>
          <a:p xmlns:a="http://schemas.openxmlformats.org/drawingml/2006/main">
            <a:pPr algn="l" eaLnBrk="0">
              <a:lnSpc>
                <a:spcPts val="2625"/>
              </a:lnSpc>
              <a:spcBef>
                <a:spcPts val="0"/>
              </a:spcBef>
              <a:spcAft>
                <a:spcPts val="0"/>
              </a:spcAft>
              <a:buNone/>
              <a:defRPr sz="2325" b="1" i="0">
                <a:solidFill>
                  <a:srgbClr val="004EA2"/>
                </a:solidFill>
                <a:latin typeface="Noto Sans KR"/>
                <a:ea typeface="Noto Sans KR"/>
                <a:cs typeface="Noto Sans KR"/>
              </a:defRPr>
            </a:pPr>
            <a:r>
              <a:rPr sz="2100" b="1">
                <a:solidFill>
                  <a:srgbClr val="004EA2"/>
                </a:solidFill>
                <a:latin typeface="Noto Sans KR"/>
              </a:rPr>
              <a:t>제주시 야간 문화유산 및</a:t>
            </a:r>
          </a:p>
          <a:p xmlns:a="http://schemas.openxmlformats.org/drawingml/2006/main">
            <a:pPr eaLnBrk="0">
              <a:lnSpc>
                <a:spcPts val="2625"/>
              </a:lnSpc>
              <a:spcBef>
                <a:spcPts val="0"/>
              </a:spcBef>
              <a:spcAft>
                <a:spcPts val="0"/>
              </a:spcAft>
            </a:pPr>
            <a:r>
              <a:rPr sz="2100" b="1">
                <a:solidFill>
                  <a:srgbClr val="004EA2"/>
                </a:solidFill>
                <a:latin typeface="Noto Sans KR"/>
              </a:rPr>
              <a:t>시설 개방 프로그램</a:t>
            </a:r>
          </a:p>
        </p:txBody>
      </p:sp>
      <p:sp>
        <p:nvSpPr>
          <p:cNvPr id="17" name="corner-tl-h">
            <a:extLst xmlns:a="http://schemas.openxmlformats.org/drawingml/2006/main">
              <a:ext uri="{FF2B5EF4-FFF2-40B4-BE49-F238E27FC236}">
                <a16:creationId xmlns:a16="http://schemas.microsoft.com/office/drawing/2014/main" id="{85098CA2-D674-4C13-AAED-97DC2B1668DD}"/>
              </a:ext>
            </a:extLst>
          </p:cNvPr>
          <p:cNvSpPr>
            <a:spLocks xmlns:a="http://schemas.openxmlformats.org/drawingml/2006/main" noGrp="1"/>
          </p:cNvSpPr>
          <p:nvPr/>
        </p:nvSpPr>
        <p:spPr>
          <a:xfrm xmlns:a="http://schemas.openxmlformats.org/drawingml/2006/main">
            <a:off x="647700" y="619125"/>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corner-tl-v">
            <a:extLst xmlns:a="http://schemas.openxmlformats.org/drawingml/2006/main">
              <a:ext uri="{FF2B5EF4-FFF2-40B4-BE49-F238E27FC236}">
                <a16:creationId xmlns:a16="http://schemas.microsoft.com/office/drawing/2014/main" id="{30186634-254F-4224-B08F-40BB6E5B3F86}"/>
              </a:ext>
            </a:extLst>
          </p:cNvPr>
          <p:cNvSpPr>
            <a:spLocks xmlns:a="http://schemas.openxmlformats.org/drawingml/2006/main" noGrp="1"/>
          </p:cNvSpPr>
          <p:nvPr/>
        </p:nvSpPr>
        <p:spPr>
          <a:xfrm xmlns:a="http://schemas.openxmlformats.org/drawingml/2006/main">
            <a:off x="647700" y="61912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19" name="corner-br-h">
            <a:extLst xmlns:a="http://schemas.openxmlformats.org/drawingml/2006/main">
              <a:ext uri="{FF2B5EF4-FFF2-40B4-BE49-F238E27FC236}">
                <a16:creationId xmlns:a16="http://schemas.microsoft.com/office/drawing/2014/main" id="{95077333-21E3-42BF-9CBB-698C3BEE5E88}"/>
              </a:ext>
            </a:extLst>
          </p:cNvPr>
          <p:cNvSpPr>
            <a:spLocks xmlns:a="http://schemas.openxmlformats.org/drawingml/2006/main" noGrp="1"/>
          </p:cNvSpPr>
          <p:nvPr/>
        </p:nvSpPr>
        <p:spPr>
          <a:xfrm xmlns:a="http://schemas.openxmlformats.org/drawingml/2006/main">
            <a:off x="14582775" y="7943850"/>
            <a:ext cx="295275" cy="0"/>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
        <p:nvSpPr>
          <p:cNvPr id="20" name="corner-br-v">
            <a:extLst xmlns:a="http://schemas.openxmlformats.org/drawingml/2006/main">
              <a:ext uri="{FF2B5EF4-FFF2-40B4-BE49-F238E27FC236}">
                <a16:creationId xmlns:a16="http://schemas.microsoft.com/office/drawing/2014/main" id="{81015BD6-64EA-4BC0-A2BD-BDDA9641DC61}"/>
              </a:ext>
            </a:extLst>
          </p:cNvPr>
          <p:cNvSpPr>
            <a:spLocks xmlns:a="http://schemas.openxmlformats.org/drawingml/2006/main" noGrp="1"/>
          </p:cNvSpPr>
          <p:nvPr/>
        </p:nvSpPr>
        <p:spPr>
          <a:xfrm xmlns:a="http://schemas.openxmlformats.org/drawingml/2006/main">
            <a:off x="14878050" y="7648575"/>
            <a:ext cx="0" cy="295275"/>
          </a:xfrm>
          <a:prstGeom xmlns:a="http://schemas.openxmlformats.org/drawingml/2006/main" prst="line">
            <a:avLst/>
          </a:prstGeom>
          <a:noFill xmlns:a="http://schemas.openxmlformats.org/drawingml/2006/main"/>
          <a:ln xmlns:a="http://schemas.openxmlformats.org/drawingml/2006/main" w="19050">
            <a:solidFill>
              <a:srgbClr val="00C1D4"/>
            </a:solidFill>
            <a:prstDash val="solid"/>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655411831"/>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목표 KPI 산출근거</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pi-intro"/>
          <p:cNvSpPr txBox="1"/>
          <p:nvPr/>
        </p:nvSpPr>
        <p:spPr>
          <a:xfrm>
            <a:off x="1009650" y="2009775"/>
            <a:ext cx="13220700" cy="44767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59636E"/>
                </a:solidFill>
                <a:latin typeface="Noto Sans KR"/>
              </a:rPr>
              <a:t>목표율을 정한 이유와 3개월 동안 추가로 달성할 규모</a:t>
            </a:r>
          </a:p>
        </p:txBody>
      </p:sp>
      <p:pic>
        <p:nvPicPr>
          <p:cNvPr id="5" name="kpi-reason-icon" descr="target-blue.png"/>
          <p:cNvPicPr>
            <a:picLocks noChangeAspect="1"/>
          </p:cNvPicPr>
          <p:nvPr/>
        </p:nvPicPr>
        <p:blipFill>
          <a:blip r:embed="rId2"/>
          <a:stretch>
            <a:fillRect/>
          </a:stretch>
        </p:blipFill>
        <p:spPr>
          <a:xfrm>
            <a:off x="1200150" y="2895600"/>
            <a:ext cx="809625" cy="809625"/>
          </a:xfrm>
          <a:prstGeom prst="rect">
            <a:avLst/>
          </a:prstGeom>
        </p:spPr>
      </p:pic>
      <p:sp>
        <p:nvSpPr>
          <p:cNvPr id="6" name="kpi-reason-title"/>
          <p:cNvSpPr txBox="1"/>
          <p:nvPr/>
        </p:nvSpPr>
        <p:spPr>
          <a:xfrm>
            <a:off x="2247900" y="2952750"/>
            <a:ext cx="5410200" cy="533400"/>
          </a:xfrm>
          <a:prstGeom prst="rect">
            <a:avLst/>
          </a:prstGeom>
          <a:noFill/>
        </p:spPr>
        <p:txBody>
          <a:bodyPr wrap="none" lIns="57150" rIns="57150" tIns="38100" bIns="38100" anchor="t">
            <a:noAutofit/>
          </a:bodyPr>
          <a:lstStyle/>
          <a:p>
            <a:pPr eaLnBrk="0">
              <a:lnSpc>
                <a:spcPts val="3093"/>
              </a:lnSpc>
              <a:spcBef>
                <a:spcPts val="0"/>
              </a:spcBef>
              <a:spcAft>
                <a:spcPts val="0"/>
              </a:spcAft>
            </a:pPr>
            <a:r>
              <a:rPr sz="2475" b="1">
                <a:solidFill>
                  <a:srgbClr val="004EA2"/>
                </a:solidFill>
                <a:latin typeface="Noto Sans KR"/>
              </a:rPr>
              <a:t>목표를 정한 이유</a:t>
            </a:r>
          </a:p>
        </p:txBody>
      </p:sp>
      <p:sp>
        <p:nvSpPr>
          <p:cNvPr id="7" name="kpi-reason"/>
          <p:cNvSpPr txBox="1"/>
          <p:nvPr/>
        </p:nvSpPr>
        <p:spPr>
          <a:xfrm>
            <a:off x="1200150" y="3886200"/>
            <a:ext cx="6648450" cy="1076325"/>
          </a:xfrm>
          <a:prstGeom prst="rect">
            <a:avLst/>
          </a:prstGeom>
          <a:noFill/>
        </p:spPr>
        <p:txBody>
          <a:bodyPr wrap="none" lIns="57150" rIns="57150" tIns="38100" bIns="38100" anchor="t">
            <a:noAutofit/>
          </a:bodyPr>
          <a:lstStyle/>
          <a:p>
            <a:pPr eaLnBrk="0">
              <a:lnSpc>
                <a:spcPts val="2906"/>
              </a:lnSpc>
              <a:spcBef>
                <a:spcPts val="0"/>
              </a:spcBef>
              <a:spcAft>
                <a:spcPts val="0"/>
              </a:spcAft>
            </a:pPr>
            <a:r>
              <a:rPr sz="2325" b="0">
                <a:solidFill>
                  <a:srgbClr val="59636E"/>
                </a:solidFill>
                <a:latin typeface="Noto Sans KR"/>
              </a:rPr>
              <a:t>사례의 운영 방식은 참고하되, 성장률을</a:t>
            </a:r>
          </a:p>
          <a:p>
            <a:pPr eaLnBrk="0">
              <a:lnSpc>
                <a:spcPts val="2906"/>
              </a:lnSpc>
              <a:spcBef>
                <a:spcPts val="0"/>
              </a:spcBef>
              <a:spcAft>
                <a:spcPts val="0"/>
              </a:spcAft>
            </a:pPr>
            <a:r>
              <a:rPr sz="2325" b="0">
                <a:solidFill>
                  <a:srgbClr val="59636E"/>
                </a:solidFill>
                <a:latin typeface="Noto Sans KR"/>
              </a:rPr>
              <a:t>그대로 옮기지 않고 초기 목표 5%를 채택했습니다.</a:t>
            </a:r>
          </a:p>
        </p:txBody>
      </p:sp>
      <p:sp>
        <p:nvSpPr>
          <p:cNvPr id="8" name="kpi-decision-band"/>
          <p:cNvSpPr/>
          <p:nvPr/>
        </p:nvSpPr>
        <p:spPr>
          <a:xfrm>
            <a:off x="1200150" y="5238750"/>
            <a:ext cx="6391275" cy="1047750"/>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457825"/>
            <a:ext cx="5972175" cy="600075"/>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004EA2"/>
                </a:solidFill>
                <a:latin typeface="Noto Sans KR"/>
              </a:rPr>
              <a:t>조정 가능한 최종월 목표 +5%</a:t>
            </a:r>
          </a:p>
        </p:txBody>
      </p:sp>
      <p:sp>
        <p:nvSpPr>
          <p:cNvPr id="10" name="kpi-step-explanation"/>
          <p:cNvSpPr txBox="1"/>
          <p:nvPr/>
        </p:nvSpPr>
        <p:spPr>
          <a:xfrm>
            <a:off x="1200150" y="6724650"/>
            <a:ext cx="6391275" cy="800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59636E"/>
                </a:solidFill>
                <a:latin typeface="Noto Sans KR"/>
              </a:rPr>
              <a:t>첫 달부터 마지막 달까지 목표율을</a:t>
            </a:r>
          </a:p>
          <a:p>
            <a:pPr eaLnBrk="0">
              <a:lnSpc>
                <a:spcPts val="2343"/>
              </a:lnSpc>
              <a:spcBef>
                <a:spcPts val="0"/>
              </a:spcBef>
              <a:spcAft>
                <a:spcPts val="0"/>
              </a:spcAft>
            </a:pPr>
            <a:r>
              <a:rPr sz="1875" b="0">
                <a:solidFill>
                  <a:srgbClr val="59636E"/>
                </a:solidFill>
                <a:latin typeface="Noto Sans KR"/>
              </a:rPr>
              <a:t>단계적으로 높여 3개월 추가 목표를 합산합니다.</a:t>
            </a:r>
          </a:p>
        </p:txBody>
      </p:sp>
      <p:cxnSp>
        <p:nvCxnSpPr>
          <p:cNvPr id="11" name="kpi-to-visitors-0"/>
          <p:cNvCxnSpPr/>
          <p:nvPr/>
        </p:nvCxnSpPr>
        <p:spPr>
          <a:xfrm>
            <a:off x="7762875" y="5334000"/>
            <a:ext cx="466725" cy="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895725"/>
            <a:ext cx="0" cy="1438275"/>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895725"/>
            <a:ext cx="46672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334000"/>
            <a:ext cx="0" cy="104775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381750"/>
            <a:ext cx="46672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781300"/>
            <a:ext cx="5534025" cy="22193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kpi-impact-icon-0" descr="users-blue.png"/>
          <p:cNvPicPr>
            <a:picLocks noChangeAspect="1"/>
          </p:cNvPicPr>
          <p:nvPr/>
        </p:nvPicPr>
        <p:blipFill>
          <a:blip r:embed="rId3"/>
          <a:stretch>
            <a:fillRect/>
          </a:stretch>
        </p:blipFill>
        <p:spPr>
          <a:xfrm>
            <a:off x="8943975" y="3009900"/>
            <a:ext cx="523875" cy="523875"/>
          </a:xfrm>
          <a:prstGeom prst="rect">
            <a:avLst/>
          </a:prstGeom>
        </p:spPr>
      </p:pic>
      <p:sp>
        <p:nvSpPr>
          <p:cNvPr id="18" name="kpi-impact-title-0"/>
          <p:cNvSpPr txBox="1"/>
          <p:nvPr/>
        </p:nvSpPr>
        <p:spPr>
          <a:xfrm>
            <a:off x="9629775" y="3019425"/>
            <a:ext cx="4314825" cy="46672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004EA2"/>
                </a:solidFill>
                <a:latin typeface="Noto Sans KR"/>
              </a:rPr>
              <a:t>추가 방문 목표</a:t>
            </a:r>
          </a:p>
        </p:txBody>
      </p:sp>
      <p:sp>
        <p:nvSpPr>
          <p:cNvPr id="19" name="kpi-impact-value-0"/>
          <p:cNvSpPr txBox="1"/>
          <p:nvPr/>
        </p:nvSpPr>
        <p:spPr>
          <a:xfrm>
            <a:off x="8934450" y="3686175"/>
            <a:ext cx="5095875" cy="742950"/>
          </a:xfrm>
          <a:prstGeom prst="rect">
            <a:avLst/>
          </a:prstGeom>
          <a:noFill/>
        </p:spPr>
        <p:txBody>
          <a:bodyPr wrap="none" lIns="57150" rIns="57150" tIns="38100" bIns="38100" anchor="t">
            <a:noAutofit/>
          </a:bodyPr>
          <a:lstStyle/>
          <a:p>
            <a:pPr eaLnBrk="0">
              <a:lnSpc>
                <a:spcPts val="4593"/>
              </a:lnSpc>
              <a:spcBef>
                <a:spcPts val="0"/>
              </a:spcBef>
              <a:spcAft>
                <a:spcPts val="0"/>
              </a:spcAft>
            </a:pPr>
            <a:r>
              <a:rPr sz="3675" b="1">
                <a:solidFill>
                  <a:srgbClr val="FF6B00"/>
                </a:solidFill>
                <a:latin typeface="Noto Sans KR"/>
              </a:rPr>
              <a:t>↑ 348,601명</a:t>
            </a:r>
          </a:p>
        </p:txBody>
      </p:sp>
      <p:sp>
        <p:nvSpPr>
          <p:cNvPr id="20" name="kpi-impact-period-0"/>
          <p:cNvSpPr txBox="1"/>
          <p:nvPr/>
        </p:nvSpPr>
        <p:spPr>
          <a:xfrm>
            <a:off x="8953500" y="4505325"/>
            <a:ext cx="504825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0">
                <a:solidFill>
                  <a:srgbClr val="59636E"/>
                </a:solidFill>
                <a:latin typeface="Noto Sans KR"/>
              </a:rPr>
              <a:t>3개월 월별 합계 · +3.29%</a:t>
            </a:r>
          </a:p>
        </p:txBody>
      </p:sp>
      <p:sp>
        <p:nvSpPr>
          <p:cNvPr id="21" name="kpi-impact-panel-1"/>
          <p:cNvSpPr/>
          <p:nvPr/>
        </p:nvSpPr>
        <p:spPr>
          <a:xfrm>
            <a:off x="8696325" y="5267325"/>
            <a:ext cx="5534025" cy="22193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kpi-impact-icon-1" descr="coins-blue.png"/>
          <p:cNvPicPr>
            <a:picLocks noChangeAspect="1"/>
          </p:cNvPicPr>
          <p:nvPr/>
        </p:nvPicPr>
        <p:blipFill>
          <a:blip r:embed="rId4"/>
          <a:stretch>
            <a:fillRect/>
          </a:stretch>
        </p:blipFill>
        <p:spPr>
          <a:xfrm>
            <a:off x="8943975" y="5495925"/>
            <a:ext cx="523875" cy="523875"/>
          </a:xfrm>
          <a:prstGeom prst="rect">
            <a:avLst/>
          </a:prstGeom>
        </p:spPr>
      </p:pic>
      <p:sp>
        <p:nvSpPr>
          <p:cNvPr id="23" name="kpi-impact-title-1"/>
          <p:cNvSpPr txBox="1"/>
          <p:nvPr/>
        </p:nvSpPr>
        <p:spPr>
          <a:xfrm>
            <a:off x="9629775" y="5505450"/>
            <a:ext cx="4314825" cy="466725"/>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004EA2"/>
                </a:solidFill>
                <a:latin typeface="Noto Sans KR"/>
              </a:rPr>
              <a:t>추가 소비 목표</a:t>
            </a:r>
          </a:p>
        </p:txBody>
      </p:sp>
      <p:sp>
        <p:nvSpPr>
          <p:cNvPr id="24" name="kpi-impact-value-1"/>
          <p:cNvSpPr txBox="1"/>
          <p:nvPr/>
        </p:nvSpPr>
        <p:spPr>
          <a:xfrm>
            <a:off x="8934450" y="6172200"/>
            <a:ext cx="5095875" cy="742950"/>
          </a:xfrm>
          <a:prstGeom prst="rect">
            <a:avLst/>
          </a:prstGeom>
          <a:noFill/>
        </p:spPr>
        <p:txBody>
          <a:bodyPr wrap="none" lIns="57150" rIns="57150" tIns="38100" bIns="38100" anchor="t">
            <a:noAutofit/>
          </a:bodyPr>
          <a:lstStyle/>
          <a:p>
            <a:pPr eaLnBrk="0">
              <a:lnSpc>
                <a:spcPts val="4593"/>
              </a:lnSpc>
              <a:spcBef>
                <a:spcPts val="0"/>
              </a:spcBef>
              <a:spcAft>
                <a:spcPts val="0"/>
              </a:spcAft>
            </a:pPr>
            <a:r>
              <a:rPr sz="3675" b="1">
                <a:solidFill>
                  <a:srgbClr val="FF6B00"/>
                </a:solidFill>
                <a:latin typeface="Noto Sans KR"/>
              </a:rPr>
              <a:t>↑ 148.12억 원</a:t>
            </a:r>
          </a:p>
        </p:txBody>
      </p:sp>
      <p:sp>
        <p:nvSpPr>
          <p:cNvPr id="25" name="kpi-impact-period-1"/>
          <p:cNvSpPr txBox="1"/>
          <p:nvPr/>
        </p:nvSpPr>
        <p:spPr>
          <a:xfrm>
            <a:off x="8953500" y="6991350"/>
            <a:ext cx="5048250" cy="333375"/>
          </a:xfrm>
          <a:prstGeom prst="rect">
            <a:avLst/>
          </a:prstGeom>
          <a:noFill/>
        </p:spPr>
        <p:txBody>
          <a:bodyPr wrap="none" lIns="57150" rIns="57150" tIns="38100" bIns="38100" anchor="t">
            <a:noAutofit/>
          </a:bodyPr>
          <a:lstStyle/>
          <a:p>
            <a:pPr eaLnBrk="0">
              <a:lnSpc>
                <a:spcPts val="2015"/>
              </a:lnSpc>
              <a:spcBef>
                <a:spcPts val="0"/>
              </a:spcBef>
              <a:spcAft>
                <a:spcPts val="0"/>
              </a:spcAft>
            </a:pPr>
            <a:r>
              <a:rPr sz="1612" b="0">
                <a:solidFill>
                  <a:srgbClr val="59636E"/>
                </a:solidFill>
                <a:latin typeface="Noto Sans KR"/>
              </a:rPr>
              <a:t>3개월 월별 합계 · +3.33%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목표는 계획 가정입니다. 사례의 사업 효과를 예측한 값이 아니며, 방문 합계에는 월간 중복이 포함됩니다.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itle"/>
          <p:cNvSpPr txBox="1"/>
          <p:nvPr/>
        </p:nvSpPr>
        <p:spPr>
          <a:xfrm>
            <a:off x="952500" y="714375"/>
            <a:ext cx="13335000" cy="809625"/>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004EA2"/>
                </a:solidFill>
                <a:latin typeface="Noto Sans KR"/>
              </a:rPr>
              <a:t>기획서 생성 파이프라인</a:t>
            </a:r>
          </a:p>
        </p:txBody>
      </p:sp>
      <p:sp>
        <p:nvSpPr>
          <p:cNvPr id="3" name="title-rule"/>
          <p:cNvSpPr/>
          <p:nvPr/>
        </p:nvSpPr>
        <p:spPr>
          <a:xfrm>
            <a:off x="1009650" y="1724025"/>
            <a:ext cx="13220700" cy="28575"/>
          </a:xfrm>
          <a:prstGeom prst="rect">
            <a:avLst/>
          </a:prstGeom>
          <a:solidFill>
            <a:srgbClr val="004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ipeline-intro"/>
          <p:cNvSpPr txBox="1"/>
          <p:nvPr/>
        </p:nvSpPr>
        <p:spPr>
          <a:xfrm>
            <a:off x="1009650" y="2009775"/>
            <a:ext cx="13220700" cy="447675"/>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59636E"/>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00B7C9"/>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ect">
            <a:avLst/>
          </a:prstGeom>
          <a:solidFill>
            <a:srgbClr val="E6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peline-evidence-icon" descr="map-pinned-blue.png"/>
          <p:cNvPicPr>
            <a:picLocks noChangeAspect="1"/>
          </p:cNvPicPr>
          <p:nvPr/>
        </p:nvPicPr>
        <p:blipFill>
          <a:blip r:embed="rId2"/>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004EA2"/>
                </a:solidFill>
                <a:latin typeface="Noto Sans KR"/>
              </a:rPr>
              <a:t>① 지역</a:t>
            </a:r>
          </a:p>
          <a:p>
            <a:pPr eaLnBrk="0">
              <a:lnSpc>
                <a:spcPts val="2203"/>
              </a:lnSpc>
              <a:spcBef>
                <a:spcPts val="0"/>
              </a:spcBef>
              <a:spcAft>
                <a:spcPts val="0"/>
              </a:spcAft>
            </a:pPr>
            <a:r>
              <a:rPr sz="1762" b="1">
                <a:solidFill>
                  <a:srgbClr val="004EA2"/>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SQL · 공식 관광자료</a:t>
            </a:r>
          </a:p>
        </p:txBody>
      </p:sp>
      <p:pic>
        <p:nvPicPr>
          <p:cNvPr id="22" name="pipeline-case-icon" descr="search-check-blue.png"/>
          <p:cNvPicPr>
            <a:picLocks noChangeAspect="1"/>
          </p:cNvPicPr>
          <p:nvPr/>
        </p:nvPicPr>
        <p:blipFill>
          <a:blip r:embed="rId3"/>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004EA2"/>
                </a:solidFill>
                <a:latin typeface="Noto Sans KR"/>
              </a:rPr>
              <a:t>② 타지역</a:t>
            </a:r>
          </a:p>
          <a:p>
            <a:pPr eaLnBrk="0">
              <a:lnSpc>
                <a:spcPts val="2203"/>
              </a:lnSpc>
              <a:spcBef>
                <a:spcPts val="0"/>
              </a:spcBef>
              <a:spcAft>
                <a:spcPts val="0"/>
              </a:spcAft>
            </a:pPr>
            <a:r>
              <a:rPr sz="1762" b="1">
                <a:solidFill>
                  <a:srgbClr val="004EA2"/>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59636E"/>
                </a:solidFill>
                <a:latin typeface="Noto Sans KR"/>
              </a:rPr>
              <a:t>OpenAI · 공식 사업·성과</a:t>
            </a:r>
          </a:p>
        </p:txBody>
      </p:sp>
      <p:pic>
        <p:nvPicPr>
          <p:cNvPr id="25" name="pipeline-click-icon" descr="mouse-pointer-click-blue.png"/>
          <p:cNvPicPr>
            <a:picLocks noChangeAspect="1"/>
          </p:cNvPicPr>
          <p:nvPr/>
        </p:nvPicPr>
        <p:blipFill>
          <a:blip r:embed="rId4"/>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004EA2"/>
                </a:solidFill>
                <a:latin typeface="Noto Sans KR"/>
              </a:rPr>
              <a:t>기획서 생성</a:t>
            </a:r>
          </a:p>
          <a:p>
            <a:pPr eaLnBrk="0" algn="ctr">
              <a:lnSpc>
                <a:spcPts val="2531"/>
              </a:lnSpc>
              <a:spcBef>
                <a:spcPts val="0"/>
              </a:spcBef>
              <a:spcAft>
                <a:spcPts val="0"/>
              </a:spcAft>
            </a:pPr>
            <a:r>
              <a:rPr sz="2025" b="1">
                <a:solidFill>
                  <a:srgbClr val="004EA2"/>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004EA2"/>
                </a:solidFill>
                <a:latin typeface="Noto Sans KR"/>
              </a:rPr>
              <a:t>Qwen</a:t>
            </a:r>
          </a:p>
        </p:txBody>
      </p:sp>
      <p:pic>
        <p:nvPicPr>
          <p:cNvPr id="28" name="pipeline-icon-652" descr="git-compare-arrows-blue.png"/>
          <p:cNvPicPr>
            <a:picLocks noChangeAspect="1"/>
          </p:cNvPicPr>
          <p:nvPr/>
        </p:nvPicPr>
        <p:blipFill>
          <a:blip r:embed="rId5"/>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59636E"/>
                </a:solidFill>
                <a:latin typeface="Noto Sans KR"/>
              </a:rPr>
              <a:t>지역에 맞는</a:t>
            </a:r>
          </a:p>
          <a:p>
            <a:pPr eaLnBrk="0" algn="ctr">
              <a:lnSpc>
                <a:spcPts val="2062"/>
              </a:lnSpc>
              <a:spcBef>
                <a:spcPts val="0"/>
              </a:spcBef>
              <a:spcAft>
                <a:spcPts val="0"/>
              </a:spcAft>
            </a:pPr>
            <a:r>
              <a:rPr sz="1650" b="0">
                <a:solidFill>
                  <a:srgbClr val="59636E"/>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004EA2"/>
                </a:solidFill>
                <a:latin typeface="Noto Sans KR"/>
              </a:rPr>
              <a:t>Gemma</a:t>
            </a:r>
          </a:p>
        </p:txBody>
      </p:sp>
      <p:pic>
        <p:nvPicPr>
          <p:cNvPr id="32" name="pipeline-icon-874" descr="notebook-pen-blue.png"/>
          <p:cNvPicPr>
            <a:picLocks noChangeAspect="1"/>
          </p:cNvPicPr>
          <p:nvPr/>
        </p:nvPicPr>
        <p:blipFill>
          <a:blip r:embed="rId6"/>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59636E"/>
                </a:solidFill>
                <a:latin typeface="Noto Sans KR"/>
              </a:rPr>
              <a:t>선정 근거로</a:t>
            </a:r>
          </a:p>
          <a:p>
            <a:pPr eaLnBrk="0" algn="ctr">
              <a:lnSpc>
                <a:spcPts val="2062"/>
              </a:lnSpc>
              <a:spcBef>
                <a:spcPts val="0"/>
              </a:spcBef>
              <a:spcAft>
                <a:spcPts val="0"/>
              </a:spcAft>
            </a:pPr>
            <a:r>
              <a:rPr sz="1650" b="0">
                <a:solidFill>
                  <a:srgbClr val="59636E"/>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004EA2"/>
                </a:solidFill>
                <a:latin typeface="Noto Sans KR"/>
              </a:rPr>
              <a:t>Qwen</a:t>
            </a:r>
          </a:p>
        </p:txBody>
      </p:sp>
      <p:pic>
        <p:nvPicPr>
          <p:cNvPr id="36" name="pipeline-icon-1096" descr="shield-check-blue.png"/>
          <p:cNvPicPr>
            <a:picLocks noChangeAspect="1"/>
          </p:cNvPicPr>
          <p:nvPr/>
        </p:nvPicPr>
        <p:blipFill>
          <a:blip r:embed="rId7"/>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59636E"/>
                </a:solidFill>
                <a:latin typeface="Noto Sans KR"/>
              </a:rPr>
              <a:t>수치·출처와</a:t>
            </a:r>
          </a:p>
          <a:p>
            <a:pPr eaLnBrk="0" algn="ctr">
              <a:lnSpc>
                <a:spcPts val="2062"/>
              </a:lnSpc>
              <a:spcBef>
                <a:spcPts val="0"/>
              </a:spcBef>
              <a:spcAft>
                <a:spcPts val="0"/>
              </a:spcAft>
            </a:pPr>
            <a:r>
              <a:rPr sz="1650" b="0">
                <a:solidFill>
                  <a:srgbClr val="59636E"/>
                </a:solidFill>
                <a:latin typeface="Noto Sans KR"/>
              </a:rPr>
              <a:t>본문 연결 확인</a:t>
            </a:r>
          </a:p>
        </p:txBody>
      </p:sp>
      <p:pic>
        <p:nvPicPr>
          <p:cNvPr id="39" name="pipeline-output-icon" descr="files-blue.png"/>
          <p:cNvPicPr>
            <a:picLocks noChangeAspect="1"/>
          </p:cNvPicPr>
          <p:nvPr/>
        </p:nvPicPr>
        <p:blipFill>
          <a:blip r:embed="rId8"/>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004EA2"/>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59636E"/>
                </a:solidFill>
                <a:latin typeface="Noto Sans KR"/>
              </a:rPr>
              <a:t>웹</a:t>
            </a:r>
          </a:p>
          <a:p>
            <a:pPr eaLnBrk="0" algn="ctr">
              <a:lnSpc>
                <a:spcPts val="2062"/>
              </a:lnSpc>
              <a:spcBef>
                <a:spcPts val="0"/>
              </a:spcBef>
              <a:spcAft>
                <a:spcPts val="0"/>
              </a:spcAft>
            </a:pPr>
            <a:r>
              <a:rPr sz="1650" b="0">
                <a:solidFill>
                  <a:srgbClr val="59636E"/>
                </a:solidFill>
                <a:latin typeface="Noto Sans KR"/>
              </a:rPr>
              <a:t>PPT · Word</a:t>
            </a:r>
          </a:p>
        </p:txBody>
      </p:sp>
      <p:sp>
        <p:nvSpPr>
          <p:cNvPr id="42" name="pipeline-data-band"/>
          <p:cNvSpPr/>
          <p:nvPr/>
        </p:nvSpPr>
        <p:spPr>
          <a:xfrm>
            <a:off x="1009650" y="6762750"/>
            <a:ext cx="6610350" cy="9620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peline-data-icon" descr="database-blue.png"/>
          <p:cNvPicPr>
            <a:picLocks noChangeAspect="1"/>
          </p:cNvPicPr>
          <p:nvPr/>
        </p:nvPicPr>
        <p:blipFill>
          <a:blip r:embed="rId9"/>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004EA2"/>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59636E"/>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00B7C9"/>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59636E"/>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59636E"/>
                </a:solidFill>
                <a:latin typeface="Noto Sans KR"/>
              </a:rPr>
              <a:t>OpenAI는 공식 웹에서 사업 사례와 출처를 조사합니다. 이미 확보한 공식 근거는 재사용합니다.</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