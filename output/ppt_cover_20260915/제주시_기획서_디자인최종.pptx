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1" ns0: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1.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3.xml"/><Relationship Id="R4c9d0e3030fa4c5f" Type="http://schemas.openxmlformats.org/officeDocument/2006/relationships/slide" Target="slides/slide7.xml"/><Relationship Id="R5b6702ccd7664af1" Type="http://schemas.openxmlformats.org/officeDocument/2006/relationships/slide" Target="slides/slide4.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0.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8.xml"/><Relationship Id="Rbf371966fa964fc8" Type="http://schemas.openxmlformats.org/officeDocument/2006/relationships/slide" Target="slides/slide5.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9.xml"/><Relationship Id="rId18" Type="http://schemas.openxmlformats.org/officeDocument/2006/relationships/slide" Target="slides/slide14.xml"/><Relationship Id="rId19" Type="http://schemas.openxmlformats.org/officeDocument/2006/relationships/slide" Target="slides/slide12.xml"/><Relationship Id="rId20" Type="http://schemas.openxmlformats.org/officeDocument/2006/relationships/slide" Target="slides/slide6.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361.5062</c:v>
                </c:pt>
                <c:pt idx="1">
                  <c:v>359.431</c:v>
                </c:pt>
                <c:pt idx="2">
                  <c:v>337.0793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367.53130333</c:v>
                </c:pt>
                <c:pt idx="1">
                  <c:v>371.41203333</c:v>
                </c:pt>
                <c:pt idx="2">
                  <c:v>353.933265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400.0"/>
          <c:min val="3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1504.67072839</c:v>
                </c:pt>
                <c:pt idx="1">
                  <c:v>1450.85139974</c:v>
                </c:pt>
                <c:pt idx="2">
                  <c:v>1493.66639508</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1529.74857386</c:v>
                </c:pt>
                <c:pt idx="1">
                  <c:v>1499.21311306</c:v>
                </c:pt>
                <c:pt idx="2">
                  <c:v>1568.34971483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1650.0"/>
          <c:min val="13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-2.997033</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8391692400000001"/>
          <c:min val="-3.8362022400000004"/>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-0.344216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96744"/>
          <c:min val="-2.3000510000000003"/>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4.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5.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7.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3.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표지 사진 출처: {"source_id": "tour-api:127870", "source_type": "open_api", "title": "곽지해수욕장", "source_url": "https://apis.data.go.kr/B551011/KorService2", "content_id": "127870", "content_type_id": "12", "address": "제주특별자치도 제주시 애월읍 곽지리 1565", "image_url": "http://tong.visitkorea.or.kr/cms/resource/30/3053130_image2_1.jpg",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"2a35a8f6f8ef70b97e33e89bf2f4acd874752220ed520b852868587f35b8232f",</a:t>
            </a:r>
          </a:p>
          <a:p xmlns:a="http://schemas.openxmlformats.org/drawingml/2006/main">
            <a:r>
              <a:t>    "region_code": "50110",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3615062,</a:t>
            </a:r>
          </a:p>
          <a:p xmlns:a="http://schemas.openxmlformats.org/drawingml/2006/main">
            <a:r>
              <a:t>          3594310,</a:t>
            </a:r>
          </a:p>
          <a:p xmlns:a="http://schemas.openxmlformats.org/drawingml/2006/main">
            <a:r>
              <a:t>          3370793</a:t>
            </a:r>
          </a:p>
          <a:p xmlns:a="http://schemas.openxmlformats.org/drawingml/2006/main">
            <a:r>
              <a:t>        ],</a:t>
            </a:r>
          </a:p>
          <a:p xmlns:a="http://schemas.openxmlformats.org/drawingml/2006/main">
            <a:r>
              <a:t>        "previous": [</a:t>
            </a:r>
          </a:p>
          <a:p xmlns:a="http://schemas.openxmlformats.org/drawingml/2006/main">
            <a:r>
              <a:t>          3904808.0,</a:t>
            </a:r>
          </a:p>
          <a:p xmlns:a="http://schemas.openxmlformats.org/drawingml/2006/main">
            <a:r>
              <a:t>          3591286.0,</a:t>
            </a:r>
          </a:p>
          <a:p xmlns:a="http://schemas.openxmlformats.org/drawingml/2006/main">
            <a:r>
              <a:t>          3410959.0</a:t>
            </a:r>
          </a:p>
          <a:p xmlns:a="http://schemas.openxmlformats.org/drawingml/2006/main">
            <a:r>
              <a:t>        ],</a:t>
            </a:r>
          </a:p>
          <a:p xmlns:a="http://schemas.openxmlformats.org/drawingml/2006/main">
            <a:r>
              <a:t>        "growth_pct": -2.9970332041111325,</a:t>
            </a:r>
          </a:p>
          <a:p xmlns:a="http://schemas.openxmlformats.org/drawingml/2006/main">
            <a:r>
              <a:t>        "national_mean_pct": -0.394766937691683,</a:t>
            </a:r>
          </a:p>
          <a:p xmlns:a="http://schemas.openxmlformats.org/drawingml/2006/main">
            <a:r>
              <a:t>        "gap_pp": -2.6022662664194494,</a:t>
            </a:r>
          </a:p>
          <a:p xmlns:a="http://schemas.openxmlformats.org/drawingml/2006/main">
            <a:r>
              <a:t>        "rank": 208,</a:t>
            </a:r>
          </a:p>
          <a:p xmlns:a="http://schemas.openxmlformats.org/drawingml/2006/main">
            <a:r>
              <a:t>        "target_growth_pct": 0.19907317463907503,</a:t>
            </a:r>
          </a:p>
          <a:p xmlns:a="http://schemas.openxmlformats.org/drawingml/2006/main">
            <a:r>
              <a:t>        "target_rank": 87,</a:t>
            </a:r>
          </a:p>
          <a:p xmlns:a="http://schemas.openxmlformats.org/drawingml/2006/main">
            <a:r>
              <a:t>        "target": [</a:t>
            </a:r>
          </a:p>
          <a:p xmlns:a="http://schemas.openxmlformats.org/drawingml/2006/main">
            <a:r>
              <a:t>          3675313.033333333,</a:t>
            </a:r>
          </a:p>
          <a:p xmlns:a="http://schemas.openxmlformats.org/drawingml/2006/main">
            <a:r>
              <a:t>          3714120.3333333335,</a:t>
            </a:r>
          </a:p>
          <a:p xmlns:a="http://schemas.openxmlformats.org/drawingml/2006/main">
            <a:r>
              <a:t>          3539332.6500000004</a:t>
            </a:r>
          </a:p>
          <a:p xmlns:a="http://schemas.openxmlformats.org/drawingml/2006/main">
            <a:r>
              <a:t>        ],</a:t>
            </a:r>
          </a:p>
          <a:p xmlns:a="http://schemas.openxmlformats.org/drawingml/2006/main">
            <a:r>
              <a:t>        "additional": 348601.01666666754</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150467072839,</a:t>
            </a:r>
          </a:p>
          <a:p xmlns:a="http://schemas.openxmlformats.org/drawingml/2006/main">
            <a:r>
              <a:t>          145085139974,</a:t>
            </a:r>
          </a:p>
          <a:p xmlns:a="http://schemas.openxmlformats.org/drawingml/2006/main">
            <a:r>
              <a:t>          149366639508</a:t>
            </a:r>
          </a:p>
          <a:p xmlns:a="http://schemas.openxmlformats.org/drawingml/2006/main">
            <a:r>
              <a:t>        ],</a:t>
            </a:r>
          </a:p>
          <a:p xmlns:a="http://schemas.openxmlformats.org/drawingml/2006/main">
            <a:r>
              <a:t>        "previous": [</a:t>
            </a:r>
          </a:p>
          <a:p xmlns:a="http://schemas.openxmlformats.org/drawingml/2006/main">
            <a:r>
              <a:t>          154337552000.0,</a:t>
            </a:r>
          </a:p>
          <a:p xmlns:a="http://schemas.openxmlformats.org/drawingml/2006/main">
            <a:r>
              <a:t>          143894918000.0,</a:t>
            </a:r>
          </a:p>
          <a:p xmlns:a="http://schemas.openxmlformats.org/drawingml/2006/main">
            <a:r>
              <a:t>          148223154000.0</a:t>
            </a:r>
          </a:p>
          <a:p xmlns:a="http://schemas.openxmlformats.org/drawingml/2006/main">
            <a:r>
              <a:t>        ],</a:t>
            </a:r>
          </a:p>
          <a:p xmlns:a="http://schemas.openxmlformats.org/drawingml/2006/main">
            <a:r>
              <a:t>        "growth_pct": -0.344215997377606,</a:t>
            </a:r>
          </a:p>
          <a:p xmlns:a="http://schemas.openxmlformats.org/drawingml/2006/main">
            <a:r>
              <a:t>        "national_mean_pct": 6.640909128955906,</a:t>
            </a:r>
          </a:p>
          <a:p xmlns:a="http://schemas.openxmlformats.org/drawingml/2006/main">
            <a:r>
              <a:t>        "gap_pp": -6.985125126333513,</a:t>
            </a:r>
          </a:p>
          <a:p xmlns:a="http://schemas.openxmlformats.org/drawingml/2006/main">
            <a:r>
              <a:t>        "rank": 228,</a:t>
            </a:r>
          </a:p>
          <a:p xmlns:a="http://schemas.openxmlformats.org/drawingml/2006/main">
            <a:r>
              <a:t>        "target_growth_pct": 2.9735354338785047,</a:t>
            </a:r>
          </a:p>
          <a:p xmlns:a="http://schemas.openxmlformats.org/drawingml/2006/main">
            <a:r>
              <a:t>        "target_rank": 68,</a:t>
            </a:r>
          </a:p>
          <a:p xmlns:a="http://schemas.openxmlformats.org/drawingml/2006/main">
            <a:r>
              <a:t>        "target": [</a:t>
            </a:r>
          </a:p>
          <a:p xmlns:a="http://schemas.openxmlformats.org/drawingml/2006/main">
            <a:r>
              <a:t>          152974857386.31665,</a:t>
            </a:r>
          </a:p>
          <a:p xmlns:a="http://schemas.openxmlformats.org/drawingml/2006/main">
            <a:r>
              <a:t>          149921311306.46667,</a:t>
            </a:r>
          </a:p>
          <a:p xmlns:a="http://schemas.openxmlformats.org/drawingml/2006/main">
            <a:r>
              <a:t>          156834971483.40002</a:t>
            </a:r>
          </a:p>
          <a:p xmlns:a="http://schemas.openxmlformats.org/drawingml/2006/main">
            <a:r>
              <a:t>        ],</a:t>
            </a:r>
          </a:p>
          <a:p xmlns:a="http://schemas.openxmlformats.org/drawingml/2006/main">
            <a:r>
              <a:t>        "additional": 14812287855.18335</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"제주시 야간 문화유산 및 시설 개방 프로그램",</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"기획팀이 야간 프로그램 콘텐츠를 기획하고, 운영팀이 현장 인력 배치 및 안전 관리 계획을 수립함",</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"2026-10",</a:t>
            </a:r>
          </a:p>
          <a:p xmlns:a="http://schemas.openxmlformats.org/drawingml/2006/main">
            <a:r>
              <a:t>        "task": "운영팀이 예약 시스템 구축을 확인하고, 지역 상권 담당자가 인근 식음·상점 연계 프로모션을 설계함",</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"데이터 분석 담당자가 이용 완료율 및 인근 상권 결제 데이터를 집계하여 성과를 검증함",</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"expected_effect": "계획 목표: 최종월 ML 기준 전망 대비 방문 +5%, 소비 +5%. 월별 목표는 단계 적용하며 참여·이용 실적은 별도 집계합니다.",</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"evidence": "case:4bac3530eca721, dataset:50110:1, dataset:50110:2, dataset:50110:4, dataset:50110:6",</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"caption": "서울 중구 정동 · 정동야행 행사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"documented_constituent_event",</a:t>
            </a:r>
          </a:p>
          <a:p xmlns:a="http://schemas.openxmlformats.org/drawingml/2006/main">
            <a:r>
              <a:t>      "retrieved_at": "2026-09-15"</a:t>
            </a:r>
          </a:p>
          <a:p xmlns:a="http://schemas.openxmlformats.org/drawingml/2006/main">
            <a:r>
              <a:t>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"schedule": "2026-10", "task": "사업 담당자가 제주시 내 야간 개방 가능 시설(박물관, 문화유산 등)을 전수 조사하고 시설 관리 주체와 운영 협약을 체결함", "deliverable": "대상 시설 목록 및 운영 협약서(안)"}, {"step": 2, "schedule": "2026-10", "task": "기획팀이 야간 프로그램 콘텐츠를 기획하고, 운영팀이 현장 인력 배치 및 안전 관리 계획을 수립함", "deliverable": "프로그램 운영 매뉴얼 및 안전 관리 계획서"}, {"step": 3, "schedule": "2026-10", "task": "운영팀이 예약 시스템 구축을 확인하고, 지역 상권 담당자가 인근 식음·상점 연계 프로모션을 설계함", "deliverable": "예약 시스템 및 연계 상점 리스트"}, {"step": 4, "schedule": "2026-11 ~ 2026-12", "task": "현장 운영팀이 야간 체험 프로그램을 시범 운영하며, 사업 담당자가 주간 운영 결과 및 현장 모니터링을 수행함", "deliverable": "주간 운영 결과 보고서"}, {"step": 5, "schedule": "2026-12", "task": "데이터 분석 담당자가 이용 완료율 및 인근 상권 결제 데이터를 집계하여 성과를 검증함", "deliverable": "최종 사업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"export_evidence": {</a:t>
            </a:r>
          </a:p>
          <a:p>
            <a:r>
              <a:t>    "title": "서울 중구 · 정동야행",</a:t>
            </a:r>
          </a:p>
          <a:p>
            <a:r>
              <a:t>    "scope": "선정한 서울 문화재야행 사업에 포함된 정동야행",</a:t>
            </a:r>
          </a:p>
          <a:p>
            <a:r>
              <a:t>    "action": "역사·문화시설을 밤에도 개방하고, 공연과 체험을 함께 운영",</a:t>
            </a:r>
          </a:p>
          <a:p>
            <a:r>
              <a:t>    "metric": "행사 방문객",</a:t>
            </a:r>
          </a:p>
          <a:p>
            <a:r>
              <a:t>    "before": 100000,</a:t>
            </a:r>
          </a:p>
          <a:p>
            <a:r>
              <a:t>    "after": 130000,</a:t>
            </a:r>
          </a:p>
          <a:p>
            <a:r>
              <a:t>    "before_label": "2023년 · 10월 13–14일",</a:t>
            </a:r>
          </a:p>
          <a:p>
            <a:r>
              <a:t>    "after_label": "2024년 · 5월 24–25일",</a:t>
            </a:r>
          </a:p>
          <a:p>
            <a:r>
              <a:t>    "before_note": "중구청 발표 · 약 10만 명",</a:t>
            </a:r>
          </a:p>
          <a:p>
            <a:r>
              <a:t>    "after_note": "중구청 발표 · 13만 명",</a:t>
            </a:r>
          </a:p>
          <a:p>
            <a:r>
              <a:t>    "interpretation": "두 해의 행사 방문객 비교입니다. 개최 계절이 달라 사업 단독 효과로 해석하지 않습니다.",</a:t>
            </a:r>
          </a:p>
          <a:p>
            <a:r>
              <a:t>    "references": [</a:t>
            </a:r>
          </a:p>
          <a:p>
            <a:r>
              <a:t>      [</a:t>
            </a:r>
          </a:p>
          <a:p>
            <a:r>
              <a:t>        "중구청 · 2023 정동야행 성공적 개최 (2023.10.15)",</a:t>
            </a:r>
          </a:p>
          <a:p>
            <a:r>
              <a:t>        "https://www.junggu.seoul.kr/content.do?cid=1235161279&amp;cmsid=14390&amp;mode=view"</a:t>
            </a:r>
          </a:p>
          <a:p>
            <a:r>
              <a:t>      ],</a:t>
            </a:r>
          </a:p>
          <a:p>
            <a:r>
              <a:t>      [</a:t>
            </a:r>
          </a:p>
          <a:p>
            <a:r>
              <a:t>        "중구청 · 2024 정동야행, 봄밤의 낭만 활짝 (2024.05.27)",</a:t>
            </a:r>
          </a:p>
          <a:p>
            <a:r>
              <a:t>        "https://www.junggu.seoul.kr/content.do?cid=1280957763&amp;cmsid=14390&amp;mode=view"</a:t>
            </a:r>
          </a:p>
          <a:p>
            <a:r>
              <a:t>      ],</a:t>
            </a:r>
          </a:p>
          <a:p>
            <a:r>
              <a:t>      [</a:t>
            </a:r>
          </a:p>
          <a:p>
            <a:r>
              <a:t>        "서울문화포털 · 2024 정동야행 행사 내용과 사진",</a:t>
            </a:r>
          </a:p>
          <a:p>
            <a:r>
              <a:t>        "https://culture.seoul.go.kr/culture/culture/cultureEvent/view.do?cultcode=146365&amp;menuNo=200009"</a:t>
            </a:r>
          </a:p>
          <a:p>
            <a:r>
              <a:t>      ]</a:t>
            </a:r>
          </a:p>
          <a:p>
            <a:r>
              <a:t>    ],</a:t>
            </a:r>
          </a:p>
          <a:p>
            <a:r>
              <a:t>    "photo": {</a:t>
            </a:r>
          </a:p>
          <a:p>
            <a:r>
              <a:t>      "path": "C:\\Users\\Admin\\mbca\\TP2-3\\ai_server\\assets\\proposal_cases\\jeongdong_2024.jpg",</a:t>
            </a:r>
          </a:p>
          <a:p>
            <a:r>
              <a:t>      "caption": "서울 중구 정동 · 정동야행 행사 사진",</a:t>
            </a:r>
          </a:p>
          <a:p>
            <a:r>
              <a:t>      "credit": "서울문화포털 · 2024 정동야행",</a:t>
            </a:r>
          </a:p>
          <a:p>
            <a:r>
              <a:t>      "page_url": "https://culture.seoul.go.kr/culture/culture/cultureEvent/view.do?cultcode=146365&amp;menuNo=200009",</a:t>
            </a:r>
          </a:p>
          <a:p>
            <a:r>
              <a:t>      "image_url": "https://culture.seoul.go.kr/resources/culture/img/editor/culture/editor_20240530140505_47975.jpg",</a:t>
            </a:r>
          </a:p>
          <a:p>
            <a:r>
              <a:t>      "match_kind": "documented_constituent_event",</a:t>
            </a:r>
          </a:p>
          <a:p>
            <a:r>
              <a:t>      "retrieved_at": "2026-09-15"</a:t>
            </a:r>
          </a:p>
          <a:p>
            <a:r>
              <a:t>    },</a:t>
            </a:r>
          </a:p>
          <a:p>
            <a:r>
              <a:t>    "parent_source": "https://culture.seoul.go.kr/culture/cmmn/file/fileDown.do?atchFileId=c4638ecc9ce84bba9e51ecc2e11293e2&amp;bbsId=&amp;fileSn=2&amp;menuNo=200050",</a:t>
            </a:r>
          </a:p>
          <a:p>
            <a:r>
              <a:t>    "parent_page": 83,</a:t>
            </a:r>
          </a:p>
          <a:p>
            <a:r>
              <a:t>    "verified_at": "2026-09-15"</a:t>
            </a:r>
          </a:p>
          <a:p>
            <a:r>
              <a:t>  },</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여기에 공식 사례를 참고한 계획 목표율을 단계적으로 적용합니다. 강진을 참고한 경우 25%는 발표된 지역 증가율이고, 80%는 우리가 채택한 계획 가정입니다. 두 값을 곱한 20%는 신규 사업 효과의 ML 예측이 아닙니다. 추가 방문 목표의 일부를 직접 운영할 참여량으로 배분하고 가정 단가를 곱합니다. 상세 항목의 합계에 예비비를 더한 값이 견적입니다.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"source_id": "dataset:50110:1",</a:t>
            </a:r>
          </a:p>
          <a:p xmlns:a="http://schemas.openxmlformats.org/drawingml/2006/main">
            <a:r>
              <a:t>      "source_type": "dataset",</a:t>
            </a:r>
          </a:p>
          <a:p xmlns:a="http://schemas.openxmlformats.org/drawingml/2006/main">
            <a:r>
              <a:t>      "title": "한국관광 데이터랩 · 제주특별자치도 제주시 순 방문자 수 및 숙박 비율 (이동통신 기반 외지인)",</a:t>
            </a:r>
          </a:p>
          <a:p xmlns:a="http://schemas.openxmlformats.org/drawingml/2006/main">
            <a:r>
              <a:t>      "source_url": "https://datalab.visitkorea.or.kr/",</a:t>
            </a:r>
          </a:p>
          <a:p xmlns:a="http://schemas.openxmlformats.org/drawingml/2006/main">
            <a:r>
              <a:t>      "summary": "월간 순 방문자 수: 3,131,476명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"dataset:50110:2",</a:t>
            </a:r>
          </a:p>
          <a:p xmlns:a="http://schemas.openxmlformats.org/drawingml/2006/main">
            <a:r>
              <a:t>      "source_type": "dataset",</a:t>
            </a:r>
          </a:p>
          <a:p xmlns:a="http://schemas.openxmlformats.org/drawingml/2006/main">
            <a:r>
              <a:t>      "title": "한국관광 데이터랩 · 제주특별자치도 제주시 월간 순 방문자 수 (이동통신 기반 외지인)",</a:t>
            </a:r>
          </a:p>
          <a:p xmlns:a="http://schemas.openxmlformats.org/drawingml/2006/main">
            <a:r>
              <a:t>      "source_url": "https://datalab.visitkorea.or.kr/",</a:t>
            </a:r>
          </a:p>
          <a:p xmlns:a="http://schemas.openxmlformats.org/drawingml/2006/main">
            <a:r>
              <a:t>      "summary": "전년동월 외지인 방문자 증감률: -8.9%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"dataset:50110:3",</a:t>
            </a:r>
          </a:p>
          <a:p xmlns:a="http://schemas.openxmlformats.org/drawingml/2006/main">
            <a:r>
              <a:t>      "source_type": "dataset",</a:t>
            </a:r>
          </a:p>
          <a:p xmlns:a="http://schemas.openxmlformats.org/drawingml/2006/main">
            <a:r>
              <a:t>      "title": "한국관광 데이터랩 · 제주특별자치도 제주시 관광소비 추이_외지인",</a:t>
            </a:r>
          </a:p>
          <a:p xmlns:a="http://schemas.openxmlformats.org/drawingml/2006/main">
            <a:r>
              <a:t>      "source_url": "https://datalab.visitkorea.or.kr/",</a:t>
            </a:r>
          </a:p>
          <a:p xmlns:a="http://schemas.openxmlformats.org/drawingml/2006/main">
            <a:r>
              <a:t>      "summary": "월간 외지인 관광소비 총액: 129,503,828,000원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"dataset:50110:4",</a:t>
            </a:r>
          </a:p>
          <a:p xmlns:a="http://schemas.openxmlformats.org/drawingml/2006/main">
            <a:r>
              <a:t>      "source_type": "dataset",</a:t>
            </a:r>
          </a:p>
          <a:p xmlns:a="http://schemas.openxmlformats.org/drawingml/2006/main">
            <a:r>
              <a:t>      "title": "한국관광 데이터랩 · 제주특별자치도 제주시 숙박방문자 비율 추이 (이동통신 기반 외지인)",</a:t>
            </a:r>
          </a:p>
          <a:p xmlns:a="http://schemas.openxmlformats.org/drawingml/2006/main">
            <a:r>
              <a:t>      "source_url": "https://datalab.visitkorea.or.kr/",</a:t>
            </a:r>
          </a:p>
          <a:p xmlns:a="http://schemas.openxmlformats.org/drawingml/2006/main">
            <a:r>
              <a:t>      "summary": "외지인 숙박 방문 비율: 21.0%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"dataset:50110:5",</a:t>
            </a:r>
          </a:p>
          <a:p xmlns:a="http://schemas.openxmlformats.org/drawingml/2006/main">
            <a:r>
              <a:t>      "source_type": "dataset",</a:t>
            </a:r>
          </a:p>
          <a:p xmlns:a="http://schemas.openxmlformats.org/drawingml/2006/main">
            <a:r>
              <a:t>      "title": "한국관광 데이터랩 · 제주특별자치도 제주시 평균 숙박일 (이동통신 기반 외지인)",</a:t>
            </a:r>
          </a:p>
          <a:p xmlns:a="http://schemas.openxmlformats.org/drawingml/2006/main">
            <a:r>
              <a:t>      "source_url": "https://datalab.visitkorea.or.kr/",</a:t>
            </a:r>
          </a:p>
          <a:p xmlns:a="http://schemas.openxmlformats.org/drawingml/2006/main">
            <a:r>
              <a:t>      "summary": "외지인 평균 숙박일수: 3.13일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"dataset:50110:6",</a:t>
            </a:r>
          </a:p>
          <a:p xmlns:a="http://schemas.openxmlformats.org/drawingml/2006/main">
            <a:r>
              <a:t>      "source_type": "dataset",</a:t>
            </a:r>
          </a:p>
          <a:p xmlns:a="http://schemas.openxmlformats.org/drawingml/2006/main">
            <a:r>
              <a:t>      "title": "한국관광 데이터랩 · 제주특별자치도 제주시 내비게이션 목적지 유형별 검색량",</a:t>
            </a:r>
          </a:p>
          <a:p xmlns:a="http://schemas.openxmlformats.org/drawingml/2006/main">
            <a:r>
              <a:t>      "source_url": "https://datalab.visitkorea.or.kr/",</a:t>
            </a:r>
          </a:p>
          <a:p xmlns:a="http://schemas.openxmlformats.org/drawingml/2006/main">
            <a:r>
              <a:t>      "summary": "내비게이션 목적지 검색량: 580,380건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"dataset:50110:7",</a:t>
            </a:r>
          </a:p>
          <a:p xmlns:a="http://schemas.openxmlformats.org/drawingml/2006/main">
            <a:r>
              <a:t>      "source_type": "dataset",</a:t>
            </a:r>
          </a:p>
          <a:p xmlns:a="http://schemas.openxmlformats.org/drawingml/2006/main">
            <a:r>
              <a:t>      "title": "한국관광 데이터랩 · 제주특별자치도 제주시 SNS 언급량",</a:t>
            </a:r>
          </a:p>
          <a:p xmlns:a="http://schemas.openxmlformats.org/drawingml/2006/main">
            <a:r>
              <a:t>      "source_url": "https://datalab.visitkorea.or.kr/",</a:t>
            </a:r>
          </a:p>
          <a:p xmlns:a="http://schemas.openxmlformats.org/drawingml/2006/main">
            <a:r>
              <a:t>      "summary": "SNS 언급량: 138,652건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"datalab:3ec866bde028:27b141591f10",</a:t>
            </a:r>
          </a:p>
          <a:p xmlns:a="http://schemas.openxmlformats.org/drawingml/2006/main">
            <a:r>
              <a:t>      "source_type": "nationwide_dataset",</a:t>
            </a:r>
          </a:p>
          <a:p xmlns:a="http://schemas.openxmlformats.org/drawingml/2006/main">
            <a:r>
              <a:t>      "title": "한국관광 데이터랩 공식 다운로드 · 제주특별자치도_제주시/방문자/2026_01_06.zip",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"datalab:4833a91757b2:5c2efa032440",</a:t>
            </a:r>
          </a:p>
          <a:p xmlns:a="http://schemas.openxmlformats.org/drawingml/2006/main">
            <a:r>
              <a:t>      "source_type": "nationwide_dataset",</a:t>
            </a:r>
          </a:p>
          <a:p xmlns:a="http://schemas.openxmlformats.org/drawingml/2006/main">
            <a:r>
              <a:t>      "title": "한국관광 데이터랩 공식 다운로드 · 제주특별자치도_제주시/숙박_체류시간/2026_01_06.zip",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"datalab:5d9f73f9fe47:2904d99e7279",</a:t>
            </a:r>
          </a:p>
          <a:p xmlns:a="http://schemas.openxmlformats.org/drawingml/2006/main">
            <a:r>
              <a:t>      "source_type": "nationwide_dataset",</a:t>
            </a:r>
          </a:p>
          <a:p xmlns:a="http://schemas.openxmlformats.org/drawingml/2006/main">
            <a:r>
              <a:t>      "title": "한국관광 데이터랩 공식 다운로드 · 제주특별자치도_제주시/숙박_체류시간/2025_01_12.zip",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"datalab:95122c38b4fc:522e2d839300",</a:t>
            </a:r>
          </a:p>
          <a:p xmlns:a="http://schemas.openxmlformats.org/drawingml/2006/main">
            <a:r>
              <a:t>      "source_type": "nationwide_dataset",</a:t>
            </a:r>
          </a:p>
          <a:p xmlns:a="http://schemas.openxmlformats.org/drawingml/2006/main">
            <a:r>
              <a:t>      "title": "한국관광 데이터랩 공식 다운로드 · 제주특별자치도_제주시/관광소비/2026_01_06.zip",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"datalab:d73227708014:f4517115deb9",</a:t>
            </a:r>
          </a:p>
          <a:p xmlns:a="http://schemas.openxmlformats.org/drawingml/2006/main">
            <a:r>
              <a:t>      "source_type": "nationwide_dataset",</a:t>
            </a:r>
          </a:p>
          <a:p xmlns:a="http://schemas.openxmlformats.org/drawingml/2006/main">
            <a:r>
              <a:t>      "title": "한국관광 데이터랩 공식 다운로드 · 제주특별자치도_제주시/방문자/2025_01_12.zip",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"datalab:f07ad8a73d99:ed1b998de1b3",</a:t>
            </a:r>
          </a:p>
          <a:p xmlns:a="http://schemas.openxmlformats.org/drawingml/2006/main">
            <a:r>
              <a:t>      "source_type": "nationwide_dataset",</a:t>
            </a:r>
          </a:p>
          <a:p xmlns:a="http://schemas.openxmlformats.org/drawingml/2006/main">
            <a:r>
              <a:t>      "title": "한국관광 데이터랩 공식 다운로드 · 제주특별자치도_제주시/관광소비/2025_01_12.zip",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"team-bigdata:23ea68053684:6bfbcf8aabf6",</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"team-bigdata:98d4ae590d9a:3be52dd54323",</a:t>
            </a:r>
          </a:p>
          <a:p xmlns:a="http://schemas.openxmlformats.org/drawingml/2006/main">
            <a:r>
              <a:t>      "source_type": "nationwide_bigdata_dataset",</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"team-bigdata:367cd0294ec4:873930d645e5",</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"team-bigdata:553a0dad4bb4:5a31355dffe8",</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"team-bigdata:a53dbe1c21df:77a052de41d5",</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"team-bigdata:823a38d1d61c:5385261d02e5",</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"team-bigdata:2723bdb0d589:1666a34058ed",</a:t>
            </a:r>
          </a:p>
          <a:p xmlns:a="http://schemas.openxmlformats.org/drawingml/2006/main">
            <a:r>
              <a:t>      "source_type": "nationwide_bigdata_dataset",</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"team-bigdata:83177a234971:c02cb7972e0f",</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"team-bigdata:58ded7732251:589c76395cbc",</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"team-bigdata:e28c947cb52f:bb4cb344a6ba",</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"team-bigdata:8815bbb11a39:1a5988f5f8ec",</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"team-bigdata:19fd67fbb73d:afa4f0f54a2f",</a:t>
            </a:r>
          </a:p>
          <a:p xmlns:a="http://schemas.openxmlformats.org/drawingml/2006/main">
            <a:r>
              <a:t>      "source_type": "nationwide_bigdata_dataset",</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"regional-status:9ac27e83f27b:e998409010f6",</a:t>
            </a:r>
          </a:p>
          <a:p xmlns:a="http://schemas.openxmlformats.org/drawingml/2006/main">
            <a:r>
              <a:t>      "source_type": "regional_tourism_status",</a:t>
            </a:r>
          </a:p>
          <a:p xmlns:a="http://schemas.openxmlformats.org/drawingml/2006/main">
            <a:r>
              <a:t>      "title": "한국관광 데이터랩 지역별 관광 현황 · 제주특별자치도 제주시 · 유입유출",</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"regional-status:daecd5ff8069:00c8b971be40",</a:t>
            </a:r>
          </a:p>
          <a:p xmlns:a="http://schemas.openxmlformats.org/drawingml/2006/main">
            <a:r>
              <a:t>      "source_type": "regional_tourism_status",</a:t>
            </a:r>
          </a:p>
          <a:p xmlns:a="http://schemas.openxmlformats.org/drawingml/2006/main">
            <a:r>
              <a:t>      "title": "한국관광 데이터랩 지역별 관광 현황 · 제주특별자치도 제주시 · 인기관광지",</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"regional-status:dd0eaa9c763f:3aadcdcac2c5",</a:t>
            </a:r>
          </a:p>
          <a:p xmlns:a="http://schemas.openxmlformats.org/drawingml/2006/main">
            <a:r>
              <a:t>      "source_type": "regional_tourism_status",</a:t>
            </a:r>
          </a:p>
          <a:p xmlns:a="http://schemas.openxmlformats.org/drawingml/2006/main">
            <a:r>
              <a:t>      "title": "한국관광 데이터랩 지역별 관광 현황 · 제주특별자치도 제주시 · 지역집중률",</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"ml:50110:regional-demand-v3.1:202606",</a:t>
            </a:r>
          </a:p>
          <a:p xmlns:a="http://schemas.openxmlformats.org/drawingml/2006/main">
            <a:r>
              <a:t>      "source_type": "model_forecast",</a:t>
            </a:r>
          </a:p>
          <a:p xmlns:a="http://schemas.openxmlformats.org/drawingml/2006/main">
            <a:r>
              <a:t>      "title": "지역 관광수요 ML 전망 · 공식 관측값 아님",</a:t>
            </a:r>
          </a:p>
          <a:p xmlns:a="http://schemas.openxmlformats.org/drawingml/2006/main">
            <a:r>
              <a:t>      "source_url": "",</a:t>
            </a:r>
          </a:p>
          <a:p xmlns:a="http://schemas.openxmlformats.org/drawingml/2006/main">
            <a:r>
              <a:t>      "summary": "학습 202401~202606 · 모델 regional-demand-v3.1 · 자연 추세 예측",</a:t>
            </a:r>
          </a:p>
          <a:p xmlns:a="http://schemas.openxmlformats.org/drawingml/2006/main">
            <a:r>
              <a:t>      "model_version": "regional-demand-v3.1",</a:t>
            </a:r>
          </a:p>
          <a:p xmlns:a="http://schemas.openxmlformats.org/drawingml/2006/main">
            <a:r>
              <a:t>      "data_fingerprint": "8dcb136b0c95a2203f9b656937018f103a98363535f21f24b40b6f2ab16842e6"</a:t>
            </a:r>
          </a:p>
          <a:p xmlns:a="http://schemas.openxmlformats.org/drawingml/2006/main">
            <a:r>
              <a:t>    },</a:t>
            </a:r>
          </a:p>
          <a:p xmlns:a="http://schemas.openxmlformats.org/drawingml/2006/main">
            <a:r>
              <a:t>    {</a:t>
            </a:r>
          </a:p>
          <a:p xmlns:a="http://schemas.openxmlformats.org/drawingml/2006/main">
            <a:r>
              <a:t>      "source_id": "tour-api:2850913",</a:t>
            </a:r>
          </a:p>
          <a:p xmlns:a="http://schemas.openxmlformats.org/drawingml/2006/main">
            <a:r>
              <a:t>      "source_type": "open_api",</a:t>
            </a:r>
          </a:p>
          <a:p xmlns:a="http://schemas.openxmlformats.org/drawingml/2006/main">
            <a:r>
              <a:t>      "title": "가는곶 세화",</a:t>
            </a:r>
          </a:p>
          <a:p xmlns:a="http://schemas.openxmlformats.org/drawingml/2006/main">
            <a:r>
              <a:t>      "source_url": "https://apis.data.go.kr/B551011/KorService2",</a:t>
            </a:r>
          </a:p>
          <a:p xmlns:a="http://schemas.openxmlformats.org/drawingml/2006/main">
            <a:r>
              <a:t>      "content_id": "2850913",</a:t>
            </a:r>
          </a:p>
          <a:p xmlns:a="http://schemas.openxmlformats.org/drawingml/2006/main">
            <a:r>
              <a:t>      "content_type_id": "39",</a:t>
            </a:r>
          </a:p>
          <a:p xmlns:a="http://schemas.openxmlformats.org/drawingml/2006/main">
            <a:r>
              <a:t>      "address": "제주특별자치도 제주시 구좌읍 세화14길 3",</a:t>
            </a:r>
          </a:p>
          <a:p xmlns:a="http://schemas.openxmlformats.org/drawingml/2006/main">
            <a:r>
              <a:t>      "image_url": "http://tong.visitkorea.or.kr/cms/resource/05/2850905_image2_1.jpg",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"tour-api:1884521",</a:t>
            </a:r>
          </a:p>
          <a:p xmlns:a="http://schemas.openxmlformats.org/drawingml/2006/main">
            <a:r>
              <a:t>      "source_type": "open_api",</a:t>
            </a:r>
          </a:p>
          <a:p xmlns:a="http://schemas.openxmlformats.org/drawingml/2006/main">
            <a:r>
              <a:t>      "title": "가새기오름",</a:t>
            </a:r>
          </a:p>
          <a:p xmlns:a="http://schemas.openxmlformats.org/drawingml/2006/main">
            <a:r>
              <a:t>      "source_url": "https://apis.data.go.kr/B551011/KorService2",</a:t>
            </a:r>
          </a:p>
          <a:p xmlns:a="http://schemas.openxmlformats.org/drawingml/2006/main">
            <a:r>
              <a:t>      "content_id": "1884521",</a:t>
            </a:r>
          </a:p>
          <a:p xmlns:a="http://schemas.openxmlformats.org/drawingml/2006/main">
            <a:r>
              <a:t>      "content_type_id": "12",</a:t>
            </a:r>
          </a:p>
          <a:p xmlns:a="http://schemas.openxmlformats.org/drawingml/2006/main">
            <a:r>
              <a:t>      "address": "제주특별자치도 제주시 오라삼동",</a:t>
            </a:r>
          </a:p>
          <a:p xmlns:a="http://schemas.openxmlformats.org/drawingml/2006/main">
            <a:r>
              <a:t>      "image_url": "http://tong.visitkorea.or.kr/cms/resource/82/3477882_image2_1.jpg",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"tour-api:2837181",</a:t>
            </a:r>
          </a:p>
          <a:p xmlns:a="http://schemas.openxmlformats.org/drawingml/2006/main">
            <a:r>
              <a:t>      "source_type": "open_api",</a:t>
            </a:r>
          </a:p>
          <a:p xmlns:a="http://schemas.openxmlformats.org/drawingml/2006/main">
            <a:r>
              <a:t>      "title": "가시어멍김밥",</a:t>
            </a:r>
          </a:p>
          <a:p xmlns:a="http://schemas.openxmlformats.org/drawingml/2006/main">
            <a:r>
              <a:t>      "source_url": "https://apis.data.go.kr/B551011/KorService2",</a:t>
            </a:r>
          </a:p>
          <a:p xmlns:a="http://schemas.openxmlformats.org/drawingml/2006/main">
            <a:r>
              <a:t>      "content_id": "2837181",</a:t>
            </a:r>
          </a:p>
          <a:p xmlns:a="http://schemas.openxmlformats.org/drawingml/2006/main">
            <a:r>
              <a:t>      "content_type_id": "39",</a:t>
            </a:r>
          </a:p>
          <a:p xmlns:a="http://schemas.openxmlformats.org/drawingml/2006/main">
            <a:r>
              <a:t>      "address": "제주특별자치도 제주시 월랑로 36",</a:t>
            </a:r>
          </a:p>
          <a:p xmlns:a="http://schemas.openxmlformats.org/drawingml/2006/main">
            <a:r>
              <a:t>      "image_url": "http://tong.visitkorea.or.kr/cms/resource/75/2837175_image2_1.jpg",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"tour-api:2853435",</a:t>
            </a:r>
          </a:p>
          <a:p xmlns:a="http://schemas.openxmlformats.org/drawingml/2006/main">
            <a:r>
              <a:t>      "source_type": "open_api",</a:t>
            </a:r>
          </a:p>
          <a:p xmlns:a="http://schemas.openxmlformats.org/drawingml/2006/main">
            <a:r>
              <a:t>      "title": "갈치공장",</a:t>
            </a:r>
          </a:p>
          <a:p xmlns:a="http://schemas.openxmlformats.org/drawingml/2006/main">
            <a:r>
              <a:t>      "source_url": "https://apis.data.go.kr/B551011/KorService2",</a:t>
            </a:r>
          </a:p>
          <a:p xmlns:a="http://schemas.openxmlformats.org/drawingml/2006/main">
            <a:r>
              <a:t>      "content_id": "2853435",</a:t>
            </a:r>
          </a:p>
          <a:p xmlns:a="http://schemas.openxmlformats.org/drawingml/2006/main">
            <a:r>
              <a:t>      "content_type_id": "39",</a:t>
            </a:r>
          </a:p>
          <a:p xmlns:a="http://schemas.openxmlformats.org/drawingml/2006/main">
            <a:r>
              <a:t>      "address": "제주특별자치도 제주시 해맞이해안로 1296",</a:t>
            </a:r>
          </a:p>
          <a:p xmlns:a="http://schemas.openxmlformats.org/drawingml/2006/main">
            <a:r>
              <a:t>      "image_url": "http://tong.visitkorea.or.kr/cms/resource/24/2853424_image2_1.jpg",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"tour-api:1889809",</a:t>
            </a:r>
          </a:p>
          <a:p xmlns:a="http://schemas.openxmlformats.org/drawingml/2006/main">
            <a:r>
              <a:t>      "source_type": "open_api",</a:t>
            </a:r>
          </a:p>
          <a:p xmlns:a="http://schemas.openxmlformats.org/drawingml/2006/main">
            <a:r>
              <a:t>      "title": "개오리오름",</a:t>
            </a:r>
          </a:p>
          <a:p xmlns:a="http://schemas.openxmlformats.org/drawingml/2006/main">
            <a:r>
              <a:t>      "source_url": "https://apis.data.go.kr/B551011/KorService2",</a:t>
            </a:r>
          </a:p>
          <a:p xmlns:a="http://schemas.openxmlformats.org/drawingml/2006/main">
            <a:r>
              <a:t>      "content_id": "1889809",</a:t>
            </a:r>
          </a:p>
          <a:p xmlns:a="http://schemas.openxmlformats.org/drawingml/2006/main">
            <a:r>
              <a:t>      "content_type_id": "12",</a:t>
            </a:r>
          </a:p>
          <a:p xmlns:a="http://schemas.openxmlformats.org/drawingml/2006/main">
            <a:r>
              <a:t>      "address": "제주특별자치도 제주시 봉개동",</a:t>
            </a:r>
          </a:p>
          <a:p xmlns:a="http://schemas.openxmlformats.org/drawingml/2006/main">
            <a:r>
              <a:t>      "image_url": "http://tong.visitkorea.or.kr/cms/resource/47/3478047_image2_1.jpg",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"tour-api:1918646",</a:t>
            </a:r>
          </a:p>
          <a:p xmlns:a="http://schemas.openxmlformats.org/drawingml/2006/main">
            <a:r>
              <a:t>      "source_type": "open_api",</a:t>
            </a:r>
          </a:p>
          <a:p xmlns:a="http://schemas.openxmlformats.org/drawingml/2006/main">
            <a:r>
              <a:t>      "title": "거슨새미오름",</a:t>
            </a:r>
          </a:p>
          <a:p xmlns:a="http://schemas.openxmlformats.org/drawingml/2006/main">
            <a:r>
              <a:t>      "source_url": "https://apis.data.go.kr/B551011/KorService2",</a:t>
            </a:r>
          </a:p>
          <a:p xmlns:a="http://schemas.openxmlformats.org/drawingml/2006/main">
            <a:r>
              <a:t>      "content_id": "1918646",</a:t>
            </a:r>
          </a:p>
          <a:p xmlns:a="http://schemas.openxmlformats.org/drawingml/2006/main">
            <a:r>
              <a:t>      "content_type_id": "12",</a:t>
            </a:r>
          </a:p>
          <a:p xmlns:a="http://schemas.openxmlformats.org/drawingml/2006/main">
            <a:r>
              <a:t>      "address": "제주특별자치도 제주시 구좌읍 송당리",</a:t>
            </a:r>
          </a:p>
          <a:p xmlns:a="http://schemas.openxmlformats.org/drawingml/2006/main">
            <a:r>
              <a:t>      "image_url": "http://tong.visitkorea.or.kr/cms/resource/04/3477804_image2_1.jpg",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"tour-api:2870515",</a:t>
            </a:r>
          </a:p>
          <a:p xmlns:a="http://schemas.openxmlformats.org/drawingml/2006/main">
            <a:r>
              <a:t>      "source_type": "open_api",</a:t>
            </a:r>
          </a:p>
          <a:p xmlns:a="http://schemas.openxmlformats.org/drawingml/2006/main">
            <a:r>
              <a:t>      "title": "경성수산",</a:t>
            </a:r>
          </a:p>
          <a:p xmlns:a="http://schemas.openxmlformats.org/drawingml/2006/main">
            <a:r>
              <a:t>      "source_url": "https://apis.data.go.kr/B551011/KorService2",</a:t>
            </a:r>
          </a:p>
          <a:p xmlns:a="http://schemas.openxmlformats.org/drawingml/2006/main">
            <a:r>
              <a:t>      "content_id": "2870515",</a:t>
            </a:r>
          </a:p>
          <a:p xmlns:a="http://schemas.openxmlformats.org/drawingml/2006/main">
            <a:r>
              <a:t>      "content_type_id": "39",</a:t>
            </a:r>
          </a:p>
          <a:p xmlns:a="http://schemas.openxmlformats.org/drawingml/2006/main">
            <a:r>
              <a:t>      "address": "제주특별자치도 제주시 한림상로 111",</a:t>
            </a:r>
          </a:p>
          <a:p xmlns:a="http://schemas.openxmlformats.org/drawingml/2006/main">
            <a:r>
              <a:t>      "image_url": "http://tong.visitkorea.or.kr/cms/resource/09/2870509_image2_1.jpg",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"tour-api:2791433",</a:t>
            </a:r>
          </a:p>
          <a:p xmlns:a="http://schemas.openxmlformats.org/drawingml/2006/main">
            <a:r>
              <a:t>      "source_type": "open_api",</a:t>
            </a:r>
          </a:p>
          <a:p xmlns:a="http://schemas.openxmlformats.org/drawingml/2006/main">
            <a:r>
              <a:t>      "title": "고내포구",</a:t>
            </a:r>
          </a:p>
          <a:p xmlns:a="http://schemas.openxmlformats.org/drawingml/2006/main">
            <a:r>
              <a:t>      "source_url": "https://apis.data.go.kr/B551011/KorService2",</a:t>
            </a:r>
          </a:p>
          <a:p xmlns:a="http://schemas.openxmlformats.org/drawingml/2006/main">
            <a:r>
              <a:t>      "content_id": "2791433",</a:t>
            </a:r>
          </a:p>
          <a:p xmlns:a="http://schemas.openxmlformats.org/drawingml/2006/main">
            <a:r>
              <a:t>      "content_type_id": "12",</a:t>
            </a:r>
          </a:p>
          <a:p xmlns:a="http://schemas.openxmlformats.org/drawingml/2006/main">
            <a:r>
              <a:t>      "address": "제주특별자치도 제주시 애월읍 고내리 1111-4",</a:t>
            </a:r>
          </a:p>
          <a:p xmlns:a="http://schemas.openxmlformats.org/drawingml/2006/main">
            <a:r>
              <a:t>      "image_url": "http://tong.visitkorea.or.kr/cms/resource/19/3589219_image2_1.jpg",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"tour-api:2863927",</a:t>
            </a:r>
          </a:p>
          <a:p xmlns:a="http://schemas.openxmlformats.org/drawingml/2006/main">
            <a:r>
              <a:t>      "source_type": "open_api",</a:t>
            </a:r>
          </a:p>
          <a:p xmlns:a="http://schemas.openxmlformats.org/drawingml/2006/main">
            <a:r>
              <a:t>      "title": "고사리커피",</a:t>
            </a:r>
          </a:p>
          <a:p xmlns:a="http://schemas.openxmlformats.org/drawingml/2006/main">
            <a:r>
              <a:t>      "source_url": "https://apis.data.go.kr/B551011/KorService2",</a:t>
            </a:r>
          </a:p>
          <a:p xmlns:a="http://schemas.openxmlformats.org/drawingml/2006/main">
            <a:r>
              <a:t>      "content_id": "2863927",</a:t>
            </a:r>
          </a:p>
          <a:p xmlns:a="http://schemas.openxmlformats.org/drawingml/2006/main">
            <a:r>
              <a:t>      "content_type_id": "39",</a:t>
            </a:r>
          </a:p>
          <a:p xmlns:a="http://schemas.openxmlformats.org/drawingml/2006/main">
            <a:r>
              <a:t>      "address": "제주특별자치도 제주시 구좌읍 중산간동로 2064",</a:t>
            </a:r>
          </a:p>
          <a:p xmlns:a="http://schemas.openxmlformats.org/drawingml/2006/main">
            <a:r>
              <a:t>      "image_url": "http://tong.visitkorea.or.kr/cms/resource/18/2863918_image2_1.JPG",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"tour-api:2759120",</a:t>
            </a:r>
          </a:p>
          <a:p xmlns:a="http://schemas.openxmlformats.org/drawingml/2006/main">
            <a:r>
              <a:t>      "source_type": "open_api",</a:t>
            </a:r>
          </a:p>
          <a:p xmlns:a="http://schemas.openxmlformats.org/drawingml/2006/main">
            <a:r>
              <a:t>      "title": "고스트타운",</a:t>
            </a:r>
          </a:p>
          <a:p xmlns:a="http://schemas.openxmlformats.org/drawingml/2006/main">
            <a:r>
              <a:t>      "source_url": "https://apis.data.go.kr/B551011/KorService2",</a:t>
            </a:r>
          </a:p>
          <a:p xmlns:a="http://schemas.openxmlformats.org/drawingml/2006/main">
            <a:r>
              <a:t>      "content_id": "2759120",</a:t>
            </a:r>
          </a:p>
          <a:p xmlns:a="http://schemas.openxmlformats.org/drawingml/2006/main">
            <a:r>
              <a:t>      "content_type_id": "12",</a:t>
            </a:r>
          </a:p>
          <a:p xmlns:a="http://schemas.openxmlformats.org/drawingml/2006/main">
            <a:r>
              <a:t>      "address": "제주특별자치도 제주시 애월읍 부룡수길 35-14",</a:t>
            </a:r>
          </a:p>
          <a:p xmlns:a="http://schemas.openxmlformats.org/drawingml/2006/main">
            <a:r>
              <a:t>      "image_url": "http://tong.visitkorea.or.kr/cms/resource/81/3396881_image2_1.jpg",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"tour-api:2759061",</a:t>
            </a:r>
          </a:p>
          <a:p xmlns:a="http://schemas.openxmlformats.org/drawingml/2006/main">
            <a:r>
              <a:t>      "source_type": "open_api",</a:t>
            </a:r>
          </a:p>
          <a:p xmlns:a="http://schemas.openxmlformats.org/drawingml/2006/main">
            <a:r>
              <a:t>      "title": "고이정",</a:t>
            </a:r>
          </a:p>
          <a:p xmlns:a="http://schemas.openxmlformats.org/drawingml/2006/main">
            <a:r>
              <a:t>      "source_url": "https://apis.data.go.kr/B551011/KorService2",</a:t>
            </a:r>
          </a:p>
          <a:p xmlns:a="http://schemas.openxmlformats.org/drawingml/2006/main">
            <a:r>
              <a:t>      "content_id": "2759061",</a:t>
            </a:r>
          </a:p>
          <a:p xmlns:a="http://schemas.openxmlformats.org/drawingml/2006/main">
            <a:r>
              <a:t>      "content_type_id": "39",</a:t>
            </a:r>
          </a:p>
          <a:p xmlns:a="http://schemas.openxmlformats.org/drawingml/2006/main">
            <a:r>
              <a:t>      "address": "제주특별자치도 제주시 애월읍 애월로 6",</a:t>
            </a:r>
          </a:p>
          <a:p xmlns:a="http://schemas.openxmlformats.org/drawingml/2006/main">
            <a:r>
              <a:t>      "image_url": "http://tong.visitkorea.or.kr/cms/resource/08/2759208_image2_1.jpg",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"tour-api:2863913",</a:t>
            </a:r>
          </a:p>
          <a:p xmlns:a="http://schemas.openxmlformats.org/drawingml/2006/main">
            <a:r>
              <a:t>      "source_type": "open_api",</a:t>
            </a:r>
          </a:p>
          <a:p xmlns:a="http://schemas.openxmlformats.org/drawingml/2006/main">
            <a:r>
              <a:t>      "title": "고토커피바",</a:t>
            </a:r>
          </a:p>
          <a:p xmlns:a="http://schemas.openxmlformats.org/drawingml/2006/main">
            <a:r>
              <a:t>      "source_url": "https://apis.data.go.kr/B551011/KorService2",</a:t>
            </a:r>
          </a:p>
          <a:p xmlns:a="http://schemas.openxmlformats.org/drawingml/2006/main">
            <a:r>
              <a:t>      "content_id": "2863913",</a:t>
            </a:r>
          </a:p>
          <a:p xmlns:a="http://schemas.openxmlformats.org/drawingml/2006/main">
            <a:r>
              <a:t>      "content_type_id": "39",</a:t>
            </a:r>
          </a:p>
          <a:p xmlns:a="http://schemas.openxmlformats.org/drawingml/2006/main">
            <a:r>
              <a:t>      "address": "제주특별자치도 제주시 애월읍 구엄동3길 56",</a:t>
            </a:r>
          </a:p>
          <a:p xmlns:a="http://schemas.openxmlformats.org/drawingml/2006/main">
            <a:r>
              <a:t>      "image_url": "http://tong.visitkorea.or.kr/cms/resource/07/2863907_image2_1.jpg",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"tour-api:2857289",</a:t>
            </a:r>
          </a:p>
          <a:p xmlns:a="http://schemas.openxmlformats.org/drawingml/2006/main">
            <a:r>
              <a:t>      "source_type": "open_api",</a:t>
            </a:r>
          </a:p>
          <a:p xmlns:a="http://schemas.openxmlformats.org/drawingml/2006/main">
            <a:r>
              <a:t>      "title": "골목식당",</a:t>
            </a:r>
          </a:p>
          <a:p xmlns:a="http://schemas.openxmlformats.org/drawingml/2006/main">
            <a:r>
              <a:t>      "source_url": "https://apis.data.go.kr/B551011/KorService2",</a:t>
            </a:r>
          </a:p>
          <a:p xmlns:a="http://schemas.openxmlformats.org/drawingml/2006/main">
            <a:r>
              <a:t>      "content_id": "2857289",</a:t>
            </a:r>
          </a:p>
          <a:p xmlns:a="http://schemas.openxmlformats.org/drawingml/2006/main">
            <a:r>
              <a:t>      "content_type_id": "39",</a:t>
            </a:r>
          </a:p>
          <a:p xmlns:a="http://schemas.openxmlformats.org/drawingml/2006/main">
            <a:r>
              <a:t>      "address": "제주특별자치도 제주시 중앙로 63-9 (이도일동)",</a:t>
            </a:r>
          </a:p>
          <a:p xmlns:a="http://schemas.openxmlformats.org/drawingml/2006/main">
            <a:r>
              <a:t>      "image_url": "http://tong.visitkorea.or.kr/cms/resource/79/2857279_image2_1.JPG",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"tour-api:2852311",</a:t>
            </a:r>
          </a:p>
          <a:p xmlns:a="http://schemas.openxmlformats.org/drawingml/2006/main">
            <a:r>
              <a:t>      "source_type": "open_api",</a:t>
            </a:r>
          </a:p>
          <a:p xmlns:a="http://schemas.openxmlformats.org/drawingml/2006/main">
            <a:r>
              <a:t>      "title": "골목카페옥수",</a:t>
            </a:r>
          </a:p>
          <a:p xmlns:a="http://schemas.openxmlformats.org/drawingml/2006/main">
            <a:r>
              <a:t>      "source_url": "https://apis.data.go.kr/B551011/KorService2",</a:t>
            </a:r>
          </a:p>
          <a:p xmlns:a="http://schemas.openxmlformats.org/drawingml/2006/main">
            <a:r>
              <a:t>      "content_id": "2852311",</a:t>
            </a:r>
          </a:p>
          <a:p xmlns:a="http://schemas.openxmlformats.org/drawingml/2006/main">
            <a:r>
              <a:t>      "content_type_id": "39",</a:t>
            </a:r>
          </a:p>
          <a:p xmlns:a="http://schemas.openxmlformats.org/drawingml/2006/main">
            <a:r>
              <a:t>      "address": "제주특별자치도 제주시 소길1길 19",</a:t>
            </a:r>
          </a:p>
          <a:p xmlns:a="http://schemas.openxmlformats.org/drawingml/2006/main">
            <a:r>
              <a:t>      "image_url": "http://tong.visitkorea.or.kr/cms/resource/03/2852303_image2_1.jpg",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"tour-api:2739395",</a:t>
            </a:r>
          </a:p>
          <a:p xmlns:a="http://schemas.openxmlformats.org/drawingml/2006/main">
            <a:r>
              <a:t>      "source_type": "open_api",</a:t>
            </a:r>
          </a:p>
          <a:p xmlns:a="http://schemas.openxmlformats.org/drawingml/2006/main">
            <a:r>
              <a:t>      "title": "골체오름캠핑",</a:t>
            </a:r>
          </a:p>
          <a:p xmlns:a="http://schemas.openxmlformats.org/drawingml/2006/main">
            <a:r>
              <a:t>      "source_url": "https://apis.data.go.kr/B551011/KorService2",</a:t>
            </a:r>
          </a:p>
          <a:p xmlns:a="http://schemas.openxmlformats.org/drawingml/2006/main">
            <a:r>
              <a:t>      "content_id": "2739395",</a:t>
            </a:r>
          </a:p>
          <a:p xmlns:a="http://schemas.openxmlformats.org/drawingml/2006/main">
            <a:r>
              <a:t>      "content_type_id": "28",</a:t>
            </a:r>
          </a:p>
          <a:p xmlns:a="http://schemas.openxmlformats.org/drawingml/2006/main">
            <a:r>
              <a:t>      "address": "제주특별자치도 제주시 조천읍 번영로 1648-41",</a:t>
            </a:r>
          </a:p>
          <a:p xmlns:a="http://schemas.openxmlformats.org/drawingml/2006/main">
            <a:r>
              <a:t>      "image_url": "http://tong.visitkorea.or.kr/cms/resource/74/2739574_image2_1.jpg",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"tour-api:2759096",</a:t>
            </a:r>
          </a:p>
          <a:p xmlns:a="http://schemas.openxmlformats.org/drawingml/2006/main">
            <a:r>
              <a:t>      "source_type": "open_api",</a:t>
            </a:r>
          </a:p>
          <a:p xmlns:a="http://schemas.openxmlformats.org/drawingml/2006/main">
            <a:r>
              <a:t>      "title": "곰막식당/곰막",</a:t>
            </a:r>
          </a:p>
          <a:p xmlns:a="http://schemas.openxmlformats.org/drawingml/2006/main">
            <a:r>
              <a:t>      "source_url": "https://apis.data.go.kr/B551011/KorService2",</a:t>
            </a:r>
          </a:p>
          <a:p xmlns:a="http://schemas.openxmlformats.org/drawingml/2006/main">
            <a:r>
              <a:t>      "content_id": "2759096",</a:t>
            </a:r>
          </a:p>
          <a:p xmlns:a="http://schemas.openxmlformats.org/drawingml/2006/main">
            <a:r>
              <a:t>      "content_type_id": "39",</a:t>
            </a:r>
          </a:p>
          <a:p xmlns:a="http://schemas.openxmlformats.org/drawingml/2006/main">
            <a:r>
              <a:t>      "address": "제주특별자치도 제주시 구좌읍 구좌해안로 64",</a:t>
            </a:r>
          </a:p>
          <a:p xmlns:a="http://schemas.openxmlformats.org/drawingml/2006/main">
            <a:r>
              <a:t>      "image_url": "http://tong.visitkorea.or.kr/cms/resource/21/2759221_image2_1.jpg",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"tour-api:127870",</a:t>
            </a:r>
          </a:p>
          <a:p xmlns:a="http://schemas.openxmlformats.org/drawingml/2006/main">
            <a:r>
              <a:t>      "source_type": "open_api",</a:t>
            </a:r>
          </a:p>
          <a:p xmlns:a="http://schemas.openxmlformats.org/drawingml/2006/main">
            <a:r>
              <a:t>      "title": "곽지해수욕장",</a:t>
            </a:r>
          </a:p>
          <a:p xmlns:a="http://schemas.openxmlformats.org/drawingml/2006/main">
            <a:r>
              <a:t>      "source_url": "https://apis.data.go.kr/B551011/KorService2",</a:t>
            </a:r>
          </a:p>
          <a:p xmlns:a="http://schemas.openxmlformats.org/drawingml/2006/main">
            <a:r>
              <a:t>      "content_id": "127870",</a:t>
            </a:r>
          </a:p>
          <a:p xmlns:a="http://schemas.openxmlformats.org/drawingml/2006/main">
            <a:r>
              <a:t>      "content_type_id": "12",</a:t>
            </a:r>
          </a:p>
          <a:p xmlns:a="http://schemas.openxmlformats.org/drawingml/2006/main">
            <a:r>
              <a:t>      "address": "제주특별자치도 제주시 애월읍 곽지리 1565",</a:t>
            </a:r>
          </a:p>
          <a:p xmlns:a="http://schemas.openxmlformats.org/drawingml/2006/main">
            <a:r>
              <a:t>      "image_url": "http://tong.visitkorea.or.kr/cms/resource/30/3053130_image2_1.jpg",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"tour-api:1918950",</a:t>
            </a:r>
          </a:p>
          <a:p xmlns:a="http://schemas.openxmlformats.org/drawingml/2006/main">
            <a:r>
              <a:t>      "source_type": "open_api",</a:t>
            </a:r>
          </a:p>
          <a:p xmlns:a="http://schemas.openxmlformats.org/drawingml/2006/main">
            <a:r>
              <a:t>      "title": "괴오름",</a:t>
            </a:r>
          </a:p>
          <a:p xmlns:a="http://schemas.openxmlformats.org/drawingml/2006/main">
            <a:r>
              <a:t>      "source_url": "https://apis.data.go.kr/B551011/KorService2",</a:t>
            </a:r>
          </a:p>
          <a:p xmlns:a="http://schemas.openxmlformats.org/drawingml/2006/main">
            <a:r>
              <a:t>      "content_id": "1918950",</a:t>
            </a:r>
          </a:p>
          <a:p xmlns:a="http://schemas.openxmlformats.org/drawingml/2006/main">
            <a:r>
              <a:t>      "content_type_id": "12",</a:t>
            </a:r>
          </a:p>
          <a:p xmlns:a="http://schemas.openxmlformats.org/drawingml/2006/main">
            <a:r>
              <a:t>      "address": "제주특별자치도 제주시 애월읍 봉성리 산41",</a:t>
            </a:r>
          </a:p>
          <a:p xmlns:a="http://schemas.openxmlformats.org/drawingml/2006/main">
            <a:r>
              <a:t>      "image_url": "http://tong.visitkorea.or.kr/cms/resource/40/3585540_image2_1.jpg",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"tour-api:128443",</a:t>
            </a:r>
          </a:p>
          <a:p xmlns:a="http://schemas.openxmlformats.org/drawingml/2006/main">
            <a:r>
              <a:t>      "source_type": "open_api",</a:t>
            </a:r>
          </a:p>
          <a:p xmlns:a="http://schemas.openxmlformats.org/drawingml/2006/main">
            <a:r>
              <a:t>      "title": "교래 삼다수마을",</a:t>
            </a:r>
          </a:p>
          <a:p xmlns:a="http://schemas.openxmlformats.org/drawingml/2006/main">
            <a:r>
              <a:t>      "source_url": "https://apis.data.go.kr/B551011/KorService2",</a:t>
            </a:r>
          </a:p>
          <a:p xmlns:a="http://schemas.openxmlformats.org/drawingml/2006/main">
            <a:r>
              <a:t>      "content_id": "128443",</a:t>
            </a:r>
          </a:p>
          <a:p xmlns:a="http://schemas.openxmlformats.org/drawingml/2006/main">
            <a:r>
              <a:t>      "content_type_id": "12",</a:t>
            </a:r>
          </a:p>
          <a:p xmlns:a="http://schemas.openxmlformats.org/drawingml/2006/main">
            <a:r>
              <a:t>      "address": "제주특별자치도 제주시 조천읍 교래3길 98",</a:t>
            </a:r>
          </a:p>
          <a:p xmlns:a="http://schemas.openxmlformats.org/drawingml/2006/main">
            <a:r>
              <a:t>      "image_url": "http://tong.visitkorea.or.kr/cms/resource/18/3586318_image2_1.jpg",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"case:kto_stay_discount_2022",</a:t>
            </a:r>
          </a:p>
          <a:p xmlns:a="http://schemas.openxmlformats.org/drawingml/2006/main">
            <a:r>
              <a:t>      "source_type": "benchmark_case",</a:t>
            </a:r>
          </a:p>
          <a:p xmlns:a="http://schemas.openxmlformats.org/drawingml/2006/main">
            <a:r>
              <a:t>      "title": "2022 대한민국 숙박대전 경제파급효과 공개자료",</a:t>
            </a:r>
          </a:p>
          <a:p xmlns:a="http://schemas.openxmlformats.org/drawingml/2006/main">
            <a:r>
              <a:t>      "source_url": "https://kto.visitkorea.or.kr/upload/flexer/upload/ktobiz/20220928/b623b5f9-3ec0-11ed-9832-ddf31964842e.hwp.files/Sections1.html",</a:t>
            </a:r>
          </a:p>
          <a:p xmlns:a="http://schemas.openxmlformats.org/drawingml/2006/main">
            <a:r>
              <a:t>      "published_or_updated_at": "2022-09-28",</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"case_region": "전국 숙박할인쿠폰 지원사업",</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"case:night_tourism_cities_2024",</a:t>
            </a:r>
          </a:p>
          <a:p xmlns:a="http://schemas.openxmlformats.org/drawingml/2006/main">
            <a:r>
              <a:t>      "source_type": "benchmark_case",</a:t>
            </a:r>
          </a:p>
          <a:p xmlns:a="http://schemas.openxmlformats.org/drawingml/2006/main">
            <a:r>
              <a:t>      "title": "2024년도 정부업무평가 관광분야 성과자료",</a:t>
            </a:r>
          </a:p>
          <a:p xmlns:a="http://schemas.openxmlformats.org/drawingml/2006/main">
            <a:r>
              <a:t>      "source_url": "https://www.evaluation.go.kr/upload2/atch/eval/20250429095846463.pdf",</a:t>
            </a:r>
          </a:p>
          <a:p xmlns:a="http://schemas.openxmlformats.org/drawingml/2006/main">
            <a:r>
              <a:t>      "published_or_updated_at": "2025-04-29",</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"case_region": "야간관광 특화도시 10곳",</a:t>
            </a:r>
          </a:p>
          <a:p xmlns:a="http://schemas.openxmlformats.org/drawingml/2006/main">
            <a:r>
              <a:t>      "intervention": "상설 야간 콘텐츠와 경관·교통·안전 운영",</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"정부업무평가 자료는 특화도시 10곳 방문객이 2023년 같은 기간보다 3% 증가했다고 기록",</a:t>
            </a:r>
          </a:p>
          <a:p xmlns:a="http://schemas.openxmlformats.org/drawingml/2006/main">
            <a:r>
              <a:t>      "measurement_period": "2023년 동기 대비 2024년 사업 평가 기간",</a:t>
            </a:r>
          </a:p>
          <a:p xmlns:a="http://schemas.openxmlformats.org/drawingml/2006/main">
            <a:r>
              <a:t>      "transfer_conditions": [</a:t>
            </a:r>
          </a:p>
          <a:p xmlns:a="http://schemas.openxmlformats.org/drawingml/2006/main">
            <a:r>
              <a:t>        "야간에 실제 이용 가능한 식음·교통·안전 운영 필요",</a:t>
            </a:r>
          </a:p>
          <a:p xmlns:a="http://schemas.openxmlformats.org/drawingml/2006/main">
            <a:r>
              <a:t>        "일회성 행사보다 상설 운영일 확보",</a:t>
            </a:r>
          </a:p>
          <a:p xmlns:a="http://schemas.openxmlformats.org/drawingml/2006/main">
            <a:r>
              <a:t>        "숙박 또는 야간 결제 데이터로 성과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3615062.0,</a:t>
            </a:r>
          </a:p>
          <a:p xmlns:a="http://schemas.openxmlformats.org/drawingml/2006/main">
            <a:r>
              <a:t>        "spending_krw": 150467072839.0,</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3594310.0,</a:t>
            </a:r>
          </a:p>
          <a:p xmlns:a="http://schemas.openxmlformats.org/drawingml/2006/main">
            <a:r>
              <a:t>        "spending_krw": 145085139974.0,</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3370793.0,</a:t>
            </a:r>
          </a:p>
          <a:p xmlns:a="http://schemas.openxmlformats.org/drawingml/2006/main">
            <a:r>
              <a:t>        "spending_krw": 149366639508.0,</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3517935,</a:t>
            </a:r>
          </a:p>
          <a:p xmlns:a="http://schemas.openxmlformats.org/drawingml/2006/main">
            <a:r>
              <a:t>      "spending_krw": 140803668431,</a:t>
            </a:r>
          </a:p>
          <a:p xmlns:a="http://schemas.openxmlformats.org/drawingml/2006/main">
            <a:r>
              <a:t>      "previous_year_visitors": 3628591,</a:t>
            </a:r>
          </a:p>
          <a:p xmlns:a="http://schemas.openxmlformats.org/drawingml/2006/main">
            <a:r>
              <a:t>      "previous_year_spending_krw": 147121716000,</a:t>
            </a:r>
          </a:p>
          <a:p xmlns:a="http://schemas.openxmlformats.org/drawingml/2006/main">
            <a:r>
              <a:t>      "visitor_yoy_percent": -3.05,</a:t>
            </a:r>
          </a:p>
          <a:p xmlns:a="http://schemas.openxmlformats.org/drawingml/2006/main">
            <a:r>
              <a:t>      "spending_yoy_percent": -4.29,</a:t>
            </a:r>
          </a:p>
          <a:p xmlns:a="http://schemas.openxmlformats.org/drawingml/2006/main">
            <a:r>
              <a:t>      "lodging_nights": 3.2,</a:t>
            </a:r>
          </a:p>
          <a:p xmlns:a="http://schemas.openxmlformats.org/drawingml/2006/main">
            <a:r>
              <a:t>      "previous_year_lodging_nights": 3.2,</a:t>
            </a:r>
          </a:p>
          <a:p xmlns:a="http://schemas.openxmlformats.org/drawingml/2006/main">
            <a:r>
              <a:t>      "lodging_rate_pct": 21.7,</a:t>
            </a:r>
          </a:p>
          <a:p xmlns:a="http://schemas.openxmlformats.org/drawingml/2006/main">
            <a:r>
              <a:t>      "previous_year_lodging_rate_pct": 21.7,</a:t>
            </a:r>
          </a:p>
          <a:p xmlns:a="http://schemas.openxmlformats.org/drawingml/2006/main">
            <a:r>
              <a:t>      "stay_minutes": 2599.0,</a:t>
            </a:r>
          </a:p>
          <a:p xmlns:a="http://schemas.openxmlformats.org/drawingml/2006/main">
            <a:r>
              <a:t>      "previous_year_stay_minutes": 2599.0,</a:t>
            </a:r>
          </a:p>
          <a:p xmlns:a="http://schemas.openxmlformats.org/drawingml/2006/main">
            <a:r>
              <a:t>      "navigation_searches": 710719,</a:t>
            </a:r>
          </a:p>
          <a:p xmlns:a="http://schemas.openxmlformats.org/drawingml/2006/main">
            <a:r>
              <a:t>      "previous_year_navigation_searches": 710719,</a:t>
            </a:r>
          </a:p>
          <a:p xmlns:a="http://schemas.openxmlformats.org/drawingml/2006/main">
            <a:r>
              <a:t>      "lodging_searches": 99946,</a:t>
            </a:r>
          </a:p>
          <a:p xmlns:a="http://schemas.openxmlformats.org/drawingml/2006/main">
            <a:r>
              <a:t>      "previous_year_lodging_searches": 99946,</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3630250,</a:t>
            </a:r>
          </a:p>
          <a:p xmlns:a="http://schemas.openxmlformats.org/drawingml/2006/main">
            <a:r>
              <a:t>      "spending_krw": 147968744557,</a:t>
            </a:r>
          </a:p>
          <a:p xmlns:a="http://schemas.openxmlformats.org/drawingml/2006/main">
            <a:r>
              <a:t>      "previous_year_visitors": 3874804,</a:t>
            </a:r>
          </a:p>
          <a:p xmlns:a="http://schemas.openxmlformats.org/drawingml/2006/main">
            <a:r>
              <a:t>      "previous_year_spending_krw": 159605711000,</a:t>
            </a:r>
          </a:p>
          <a:p xmlns:a="http://schemas.openxmlformats.org/drawingml/2006/main">
            <a:r>
              <a:t>      "visitor_yoy_percent": -6.31,</a:t>
            </a:r>
          </a:p>
          <a:p xmlns:a="http://schemas.openxmlformats.org/drawingml/2006/main">
            <a:r>
              <a:t>      "spending_yoy_percent": -7.29,</a:t>
            </a:r>
          </a:p>
          <a:p xmlns:a="http://schemas.openxmlformats.org/drawingml/2006/main">
            <a:r>
              <a:t>      "lodging_nights": 3.15,</a:t>
            </a:r>
          </a:p>
          <a:p xmlns:a="http://schemas.openxmlformats.org/drawingml/2006/main">
            <a:r>
              <a:t>      "previous_year_lodging_nights": 3.15,</a:t>
            </a:r>
          </a:p>
          <a:p xmlns:a="http://schemas.openxmlformats.org/drawingml/2006/main">
            <a:r>
              <a:t>      "lodging_rate_pct": 22.1,</a:t>
            </a:r>
          </a:p>
          <a:p xmlns:a="http://schemas.openxmlformats.org/drawingml/2006/main">
            <a:r>
              <a:t>      "previous_year_lodging_rate_pct": 22.1,</a:t>
            </a:r>
          </a:p>
          <a:p xmlns:a="http://schemas.openxmlformats.org/drawingml/2006/main">
            <a:r>
              <a:t>      "stay_minutes": 2361.0,</a:t>
            </a:r>
          </a:p>
          <a:p xmlns:a="http://schemas.openxmlformats.org/drawingml/2006/main">
            <a:r>
              <a:t>      "previous_year_stay_minutes": 2361.0,</a:t>
            </a:r>
          </a:p>
          <a:p xmlns:a="http://schemas.openxmlformats.org/drawingml/2006/main">
            <a:r>
              <a:t>      "navigation_searches": 832625,</a:t>
            </a:r>
          </a:p>
          <a:p xmlns:a="http://schemas.openxmlformats.org/drawingml/2006/main">
            <a:r>
              <a:t>      "previous_year_navigation_searches": 832625,</a:t>
            </a:r>
          </a:p>
          <a:p xmlns:a="http://schemas.openxmlformats.org/drawingml/2006/main">
            <a:r>
              <a:t>      "lodging_searches": 114775,</a:t>
            </a:r>
          </a:p>
          <a:p xmlns:a="http://schemas.openxmlformats.org/drawingml/2006/main">
            <a:r>
              <a:t>      "previous_year_lodging_searches": 114775,</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3508574,</a:t>
            </a:r>
          </a:p>
          <a:p xmlns:a="http://schemas.openxmlformats.org/drawingml/2006/main">
            <a:r>
              <a:t>      "spending_krw": 128844309211,</a:t>
            </a:r>
          </a:p>
          <a:p xmlns:a="http://schemas.openxmlformats.org/drawingml/2006/main">
            <a:r>
              <a:t>      "previous_year_visitors": 3482583,</a:t>
            </a:r>
          </a:p>
          <a:p xmlns:a="http://schemas.openxmlformats.org/drawingml/2006/main">
            <a:r>
              <a:t>      "previous_year_spending_krw": 133843940000,</a:t>
            </a:r>
          </a:p>
          <a:p xmlns:a="http://schemas.openxmlformats.org/drawingml/2006/main">
            <a:r>
              <a:t>      "visitor_yoy_percent": 0.75,</a:t>
            </a:r>
          </a:p>
          <a:p xmlns:a="http://schemas.openxmlformats.org/drawingml/2006/main">
            <a:r>
              <a:t>      "spending_yoy_percent": -3.74,</a:t>
            </a:r>
          </a:p>
          <a:p xmlns:a="http://schemas.openxmlformats.org/drawingml/2006/main">
            <a:r>
              <a:t>      "lodging_nights": 3.04,</a:t>
            </a:r>
          </a:p>
          <a:p xmlns:a="http://schemas.openxmlformats.org/drawingml/2006/main">
            <a:r>
              <a:t>      "previous_year_lodging_nights": 3.04,</a:t>
            </a:r>
          </a:p>
          <a:p xmlns:a="http://schemas.openxmlformats.org/drawingml/2006/main">
            <a:r>
              <a:t>      "lodging_rate_pct": 21.3,</a:t>
            </a:r>
          </a:p>
          <a:p xmlns:a="http://schemas.openxmlformats.org/drawingml/2006/main">
            <a:r>
              <a:t>      "previous_year_lodging_rate_pct": 21.3,</a:t>
            </a:r>
          </a:p>
          <a:p xmlns:a="http://schemas.openxmlformats.org/drawingml/2006/main">
            <a:r>
              <a:t>      "stay_minutes": 2331.0,</a:t>
            </a:r>
          </a:p>
          <a:p xmlns:a="http://schemas.openxmlformats.org/drawingml/2006/main">
            <a:r>
              <a:t>      "previous_year_stay_minutes": 2331.0,</a:t>
            </a:r>
          </a:p>
          <a:p xmlns:a="http://schemas.openxmlformats.org/drawingml/2006/main">
            <a:r>
              <a:t>      "navigation_searches": 625924,</a:t>
            </a:r>
          </a:p>
          <a:p xmlns:a="http://schemas.openxmlformats.org/drawingml/2006/main">
            <a:r>
              <a:t>      "previous_year_navigation_searches": 625924,</a:t>
            </a:r>
          </a:p>
          <a:p xmlns:a="http://schemas.openxmlformats.org/drawingml/2006/main">
            <a:r>
              <a:t>      "lodging_searches": 83147,</a:t>
            </a:r>
          </a:p>
          <a:p xmlns:a="http://schemas.openxmlformats.org/drawingml/2006/main">
            <a:r>
              <a:t>      "previous_year_lodging_searches": 83147,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3615062,</a:t>
            </a:r>
          </a:p>
          <a:p xmlns:a="http://schemas.openxmlformats.org/drawingml/2006/main">
            <a:r>
              <a:t>      "spending_krw": 150467072839,</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a:t>
            </a:r>
          </a:p>
          <a:p xmlns:a="http://schemas.openxmlformats.org/drawingml/2006/main">
            <a:r>
              <a:t>      "spending_krw": 145085139974,</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a:t>
            </a:r>
          </a:p>
          <a:p xmlns:a="http://schemas.openxmlformats.org/drawingml/2006/main">
            <a:r>
              <a:t>      "spending_krw": 149366639508,</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6,</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183762.22,</a:t>
            </a:r>
          </a:p>
          <a:p xmlns:a="http://schemas.openxmlformats.org/drawingml/2006/main">
            <a:r>
              <a:t>        "baseline_test_mae": 219359.25,</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265459.0,</a:t>
            </a:r>
          </a:p>
          <a:p xmlns:a="http://schemas.openxmlformats.org/drawingml/2006/main">
            <a:r>
              <a:t>            "baseline": 141219.0,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136814.0,</a:t>
            </a:r>
          </a:p>
          <a:p xmlns:a="http://schemas.openxmlformats.org/drawingml/2006/main">
            <a:r>
              <a:t>            "baseline": 144459.5,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180437.5,</a:t>
            </a:r>
          </a:p>
          <a:p xmlns:a="http://schemas.openxmlformats.org/drawingml/2006/main">
            <a:r>
              <a:t>            "baseline": 297499.5,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7866027889.97,</a:t>
            </a:r>
          </a:p>
          <a:p xmlns:a="http://schemas.openxmlformats.org/drawingml/2006/main">
            <a:r>
              <a:t>        "baseline_test_mae": 8640464250.0,</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5070058833.0,</a:t>
            </a:r>
          </a:p>
          <a:p xmlns:a="http://schemas.openxmlformats.org/drawingml/2006/main">
            <a:r>
              <a:t>            "baseline": 11633402000.0,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2754801694.5,</a:t>
            </a:r>
          </a:p>
          <a:p xmlns:a="http://schemas.openxmlformats.org/drawingml/2006/main">
            <a:r>
              <a:t>            "baseline": 5588447000.0,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11586732430.5,</a:t>
            </a:r>
          </a:p>
          <a:p xmlns:a="http://schemas.openxmlformats.org/drawingml/2006/main">
            <a:r>
              <a:t>            "baseline": 5647526500.0,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0.03,</a:t>
            </a:r>
          </a:p>
          <a:p xmlns:a="http://schemas.openxmlformats.org/drawingml/2006/main">
            <a:r>
              <a:t>        "baseline_test_mae": 0.03,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0.04,</a:t>
            </a:r>
          </a:p>
          <a:p xmlns:a="http://schemas.openxmlformats.org/drawingml/2006/main">
            <a:r>
              <a:t>            "baseline": 0.04,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0.5,</a:t>
            </a:r>
          </a:p>
          <a:p xmlns:a="http://schemas.openxmlformats.org/drawingml/2006/main">
            <a:r>
              <a:t>        "baseline_test_mae": 0.5,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0.7,</a:t>
            </a:r>
          </a:p>
          <a:p xmlns:a="http://schemas.openxmlformats.org/drawingml/2006/main">
            <a:r>
              <a:t>            "baseline": 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0.55,</a:t>
            </a:r>
          </a:p>
          <a:p xmlns:a="http://schemas.openxmlformats.org/drawingml/2006/main">
            <a:r>
              <a:t>            "baseline": 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0.3,</a:t>
            </a:r>
          </a:p>
          <a:p xmlns:a="http://schemas.openxmlformats.org/drawingml/2006/main">
            <a:r>
              <a:t>            "baseline":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138.75,</a:t>
            </a:r>
          </a:p>
          <a:p xmlns:a="http://schemas.openxmlformats.org/drawingml/2006/main">
            <a:r>
              <a:t>        "baseline_test_mae": 138.75,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41.0,</a:t>
            </a:r>
          </a:p>
          <a:p xmlns:a="http://schemas.openxmlformats.org/drawingml/2006/main">
            <a:r>
              <a:t>            "baseline": 41.0,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208.5,</a:t>
            </a:r>
          </a:p>
          <a:p xmlns:a="http://schemas.openxmlformats.org/drawingml/2006/main">
            <a:r>
              <a:t>            "baseline": 208.5,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236.5,</a:t>
            </a:r>
          </a:p>
          <a:p xmlns:a="http://schemas.openxmlformats.org/drawingml/2006/main">
            <a:r>
              <a:t>            "baseline": 236.5,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"seasonal_naive_previous_year_same_month",</a:t>
            </a:r>
          </a:p>
          <a:p xmlns:a="http://schemas.openxmlformats.org/drawingml/2006/main">
            <a:r>
              <a:t>        "test_mae": 29189.5,</a:t>
            </a:r>
          </a:p>
          <a:p xmlns:a="http://schemas.openxmlformats.org/drawingml/2006/main">
            <a:r>
              <a:t>        "baseline_test_mae": 29189.5,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11165.5,</a:t>
            </a:r>
          </a:p>
          <a:p xmlns:a="http://schemas.openxmlformats.org/drawingml/2006/main">
            <a:r>
              <a:t>            "baseline": 11165.5,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19541.0,</a:t>
            </a:r>
          </a:p>
          <a:p xmlns:a="http://schemas.openxmlformats.org/drawingml/2006/main">
            <a:r>
              <a:t>            "baseline": 19541.0,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47213.5,</a:t>
            </a:r>
          </a:p>
          <a:p xmlns:a="http://schemas.openxmlformats.org/drawingml/2006/main">
            <a:r>
              <a:t>            "baseline": 47213.5,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5915.25,</a:t>
            </a:r>
          </a:p>
          <a:p xmlns:a="http://schemas.openxmlformats.org/drawingml/2006/main">
            <a:r>
              <a:t>        "baseline_test_mae": 5915.25,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2259.5,</a:t>
            </a:r>
          </a:p>
          <a:p xmlns:a="http://schemas.openxmlformats.org/drawingml/2006/main">
            <a:r>
              <a:t>            "baseline": 2259.5,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5253.5,</a:t>
            </a:r>
          </a:p>
          <a:p xmlns:a="http://schemas.openxmlformats.org/drawingml/2006/main">
            <a:r>
              <a:t>            "baseline": 5253.5,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9571.0,</a:t>
            </a:r>
          </a:p>
          <a:p xmlns:a="http://schemas.openxmlformats.org/drawingml/2006/main">
            <a:r>
              <a:t>            "baseline": 9571.0,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5.0,</a:t>
            </a:r>
          </a:p>
          <a:p xmlns:a="http://schemas.openxmlformats.org/drawingml/2006/main">
            <a:r>
              <a:t>    "spending_target_pct": 5.0</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사진: 제주특별자치도 제주시 한경면 청수리 · 가마오름; 3장 지역 사진 및 원래 출처 링크와 동일.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"observed_findings": [</a:t>
            </a:r>
          </a:p>
          <a:p>
            <a:r>
              <a:t>    {</a:t>
            </a:r>
          </a:p>
          <a:p>
            <a:r>
              <a:t>      "metric": "월간 순 방문자 수",</a:t>
            </a:r>
          </a:p>
          <a:p>
            <a:r>
              <a:t>      "value": "3,131,476명",</a:t>
            </a:r>
          </a:p>
          <a:p>
            <a:r>
              <a:t>      "interpretation": "2026년 6월 기준, 전년 동월 대비 -8.9% 감소하며 방문객 감소 추세가 관측됨",</a:t>
            </a:r>
          </a:p>
          <a:p>
            <a:r>
              <a:t>      "source": "dataset:50110:1"</a:t>
            </a:r>
          </a:p>
          <a:p>
            <a:r>
              <a:t>    },</a:t>
            </a:r>
          </a:p>
          <a:p>
            <a:r>
              <a:t>    {</a:t>
            </a:r>
          </a:p>
          <a:p>
            <a:r>
              <a:t>      "metric": "내비게이션 목적지 검색량",</a:t>
            </a:r>
          </a:p>
          <a:p>
            <a:r>
              <a:t>      "value": "580,380건",</a:t>
            </a:r>
          </a:p>
          <a:p>
            <a:r>
              <a:t>      "interpretation": "제주시 내 관광 목적지에 대한 높은 관심이 확인되어 야간 프로그램 운영을 위한 잠재 수요로 판단됨",</a:t>
            </a:r>
          </a:p>
          <a:p>
            <a:r>
              <a:t>      "source": "dataset:50110:6"</a:t>
            </a:r>
          </a:p>
          <a:p>
            <a:r>
              <a:t>    },</a:t>
            </a:r>
          </a:p>
          <a:p>
            <a:r>
              <a:t>    {</a:t>
            </a:r>
          </a:p>
          <a:p>
            <a:r>
              <a:t>      "metric": "외지인 숙박 방문 비율",</a:t>
            </a:r>
          </a:p>
          <a:p>
            <a:r>
              <a:t>      "value": "21.0%",</a:t>
            </a:r>
          </a:p>
          <a:p>
            <a:r>
              <a:t>      "interpretation": "전체 방문객 중 숙박객 비중이 낮아 야간 체류 프로그램이 숙박 전환의 핵심 기제가 될 수 있음",</a:t>
            </a:r>
          </a:p>
          <a:p>
            <a:r>
              <a:t>      "source": "dataset:50110:4"</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26.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culture.seoul.go.kr/culture/culture/cultureEvent/view.do?cultcode=146365&amp;menuNo=200009" TargetMode="External"/><Relationship Id="rId6" Type="http://schemas.openxmlformats.org/officeDocument/2006/relationships/hyperlink" Target="https://culture.seoul.go.kr/culture/cmmn/file/fileDown.do?atchFileId=c4638ecc9ce84bba9e51ecc2e11293e2&amp;bbsId=&amp;fileSn=2&amp;menuNo=200050" TargetMode="External"/><Relationship Id="rId7" Type="http://schemas.openxmlformats.org/officeDocument/2006/relationships/image" Target="../media/image2.jpg"/><Relationship Id="rId8" Type="http://schemas.openxmlformats.org/officeDocument/2006/relationships/hyperlink" Target="https://www.gangjintour.com/"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lture.seoul.go.kr/culture/cmmn/file/fileDown.do?atchFileId=c4638ecc9ce84bba9e51ecc2e11293e2&amp;bbsId=&amp;fileSn=2&amp;menuNo=200050" TargetMode="External"/><Relationship Id="rId3" Type="http://schemas.openxmlformats.org/officeDocument/2006/relationships/notesSlide" Target="../notesSlides/notesSlide14.xml"/></Relationships>
</file>

<file path=ppt/slides/_rels/slide7.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culture.seoul.go.kr/culture/culture/cultureEvent/view.do?cultcode=146365&amp;menuNo=200009" TargetMode="External"/></Relationships>
</file>

<file path=ppt/slides/_rels/slide10.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culture.seoul.go.kr/culture/cmmn/file/fileDown.do?atchFileId=c4638ecc9ce84bba9e51ecc2e11293e2&amp;bbsId=&amp;fileSn=2&amp;menuNo=200050" TargetMode="External"/><Relationship Id="rId5" Type="http://schemas.openxmlformats.org/officeDocument/2006/relationships/hyperlink" Target="https://jnfarm.jeonnam.go.kr/board/FARM_BOARD_008/boardView.do?bdId=BD_00000000000011721&amp;menuCd=farm004002"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hyperlink" Target="https://korean.visitkorea.or.kr/detail/rem_detail.do?cotid=f9c636b2-dd7c-4f09-af3d-6af43b33d371" TargetMode="External"/><Relationship Id="rId9" Type="http://schemas.openxmlformats.org/officeDocument/2006/relationships/hyperlink" Target="https://www.evaluation.go.kr/upload2/atch/eval/20250429095846463.pdf" TargetMode="External"/><Relationship Id="rId10" Type="http://schemas.openxmlformats.org/officeDocument/2006/relationships/hyperlink" Target="https://apis.data.go.kr/B551011/KorService2" TargetMode="External"/><Relationship Id="rId11" Type="http://schemas.openxmlformats.org/officeDocument/2006/relationships/hyperlink" Target="https://www.junggu.seoul.kr/content.do?cid=1235161279&amp;cmsid=14390&amp;mode=view" TargetMode="External"/><Relationship Id="rId12" Type="http://schemas.openxmlformats.org/officeDocument/2006/relationships/hyperlink" Target="https://www.junggu.seoul.kr/content.do?cid=1280957763&amp;cmsid=14390&amp;mode=view" TargetMode="External"/><Relationship Id="rId13" Type="http://schemas.openxmlformats.org/officeDocument/2006/relationships/hyperlink" Target="https://culture.seoul.go.kr/culture/culture/cultureEvent/view.do?cultcode=146365&amp;menuNo=200009" TargetMode="External"/><Relationship Id="rId14"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0.xml"/><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15.xml"/><Relationship Id="rId11" Type="http://schemas.openxmlformats.org/officeDocument/2006/relationships/image" Target="../media/image18.png"/><Relationship Id="rId12" Type="http://schemas.openxmlformats.org/officeDocument/2006/relationships/image" Target="../media/image19.png"/><Relationship Id="rId13" Type="http://schemas.openxmlformats.org/officeDocument/2006/relationships/image" Target="../media/image20.png"/><Relationship Id="rId14" Type="http://schemas.openxmlformats.org/officeDocument/2006/relationships/image" Target="../media/image21.png"/><Relationship Id="rId15" Type="http://schemas.openxmlformats.org/officeDocument/2006/relationships/image" Target="../media/image22.png"/><Relationship Id="rId16" Type="http://schemas.openxmlformats.org/officeDocument/2006/relationships/image" Target="../media/image23.png"/><Relationship Id="rId17" Type="http://schemas.openxmlformats.org/officeDocument/2006/relationships/image" Target="../media/image24.png"/><Relationship Id="rId18" Type="http://schemas.openxmlformats.org/officeDocument/2006/relationships/image" Target="../media/image25.png"/></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50045"/>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over-category"/>
          <p:cNvSpPr txBox="1"/>
          <p:nvPr/>
        </p:nvSpPr>
        <p:spPr>
          <a:xfrm>
            <a:off x="762000" y="1238250"/>
            <a:ext cx="7429500" cy="4572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FFFFF"/>
                </a:solidFill>
                <a:latin typeface="Noto Sans KR"/>
              </a:rPr>
              <a:t>관광사업 아이디어 제안</a:t>
            </a:r>
          </a:p>
        </p:txBody>
      </p:sp>
      <p:sp xmlns:a="http://schemas.openxmlformats.org/drawingml/2006/main">
        <p:nvSpPr>
          <p:cNvPr id="5" name="cover-title-line1"/>
          <p:cNvSpPr txBox="1"/>
          <p:nvPr/>
        </p:nvSpPr>
        <p:spPr>
          <a:xfrm>
            <a:off x="762000" y="4552950"/>
            <a:ext cx="7524750" cy="1495425"/>
          </a:xfrm>
          <a:prstGeom prst="rect">
            <a:avLst/>
          </a:prstGeom>
          <a:noFill/>
        </p:spPr>
        <p:txBody>
          <a:bodyPr wrap="none" lIns="57150" rIns="57150" tIns="38100" bIns="38100" anchor="ctr">
            <a:noAutofit/>
          </a:bodyPr>
          <a:lstStyle/>
          <a:p>
            <a:pPr eaLnBrk="0" algn="ctr">
              <a:lnSpc>
                <a:spcPts val="3468"/>
              </a:lnSpc>
              <a:spcBef>
                <a:spcPts val="0"/>
              </a:spcBef>
              <a:spcAft>
                <a:spcPts val="0"/>
              </a:spcAft>
            </a:pPr>
            <a:r>
              <a:rPr sz="2775" b="1">
                <a:solidFill>
                  <a:srgbClr val="FFFFFF"/>
                </a:solidFill>
                <a:latin typeface="Noto Sans KR"/>
              </a:rPr>
              <a:t>제주시 야간 문화유산 및 시설 개방</a:t>
            </a:r>
          </a:p>
          <a:p>
            <a:pPr eaLnBrk="0" algn="ctr">
              <a:lnSpc>
                <a:spcPts val="3468"/>
              </a:lnSpc>
              <a:spcBef>
                <a:spcPts val="0"/>
              </a:spcBef>
              <a:spcAft>
                <a:spcPts val="0"/>
              </a:spcAft>
            </a:pPr>
            <a:r>
              <a:rPr sz="2775" b="1">
                <a:solidFill>
                  <a:srgbClr val="FFFFFF"/>
                </a:solidFill>
                <a:latin typeface="Noto Sans KR"/>
              </a:rPr>
              <a:t>프로그램 실행 기획안</a:t>
            </a:r>
          </a:p>
        </p:txBody>
      </p:sp>
      <p:sp xmlns:a="http://schemas.openxmlformats.org/drawingml/2006/main">
        <p:nvSpPr>
          <p:cNvPr id="7" name="cover-date"/>
          <p:cNvSpPr txBox="1"/>
          <p:nvPr/>
        </p:nvSpPr>
        <p:spPr>
          <a:xfrm>
            <a:off x="762000" y="6486525"/>
            <a:ext cx="7524750" cy="457200"/>
          </a:xfrm>
          <a:prstGeom prst="rect">
            <a:avLst/>
          </a:prstGeom>
          <a:noFill/>
        </p:spPr>
        <p:txBody>
          <a:bodyPr wrap="none" lIns="57150" rIns="57150" tIns="38100" bIns="38100" anchor="ctr">
            <a:noAutofit/>
          </a:bodyPr>
          <a:lstStyle/>
          <a:p>
            <a:pPr eaLnBrk="0" algn="ctr">
              <a:lnSpc>
                <a:spcPts val="2343"/>
              </a:lnSpc>
              <a:spcBef>
                <a:spcPts val="0"/>
              </a:spcBef>
              <a:spcAft>
                <a:spcPts val="0"/>
              </a:spcAft>
            </a:pPr>
            <a:r>
              <a:rPr sz="1875" b="0">
                <a:solidFill>
                  <a:srgbClr val="FFFFFF"/>
                </a:solidFill>
                <a:latin typeface="Noto Sans KR"/>
              </a:rPr>
              <a:t>사업기간 2026.10 ~ 2026.12</a:t>
            </a:r>
          </a:p>
        </p:txBody>
      </p:sp>
      <p:sp xmlns:a="http://schemas.openxmlformats.org/drawingml/2006/main">
        <p:nvSpPr>
          <p:cNvPr id="8" name="org-title"/>
          <p:cNvSpPr txBox="1"/>
          <p:nvPr/>
        </p:nvSpPr>
        <p:spPr>
          <a:xfrm>
            <a:off x="762000" y="2600325"/>
            <a:ext cx="7524750" cy="552450"/>
          </a:xfrm>
          <a:prstGeom prst="rect">
            <a:avLst/>
          </a:prstGeom>
          <a:noFill/>
        </p:spPr>
        <p:txBody>
          <a:bodyPr wrap="none" lIns="57150" rIns="57150" tIns="38100" bIns="38100" anchor="ctr">
            <a:noAutofit/>
          </a:bodyPr>
          <a:lstStyle/>
          <a:p>
            <a:pPr eaLnBrk="0" algn="ctr">
              <a:lnSpc>
                <a:spcPts val="3281"/>
              </a:lnSpc>
              <a:spcBef>
                <a:spcPts val="0"/>
              </a:spcBef>
              <a:spcAft>
                <a:spcPts val="0"/>
              </a:spcAft>
            </a:pPr>
            <a:r>
              <a:rPr sz="2625" b="1">
                <a:solidFill>
                  <a:srgbClr val="FFFFFF"/>
                </a:solidFill>
                <a:latin typeface="Noto Sans KR"/>
              </a:rPr>
              <a:t>제주특별자치도</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관광 전략 검토용 · 보고서 출력일 2026-09-15 · 제주시 관광 활성화 실행안</a:t>
            </a:r>
          </a:p>
        </p:txBody>
      </p:sp>
      <p:sp xmlns:a="http://schemas.openxmlformats.org/drawingml/2006/main">
        <p:nvSpPr>
          <p:cNvPr id="10" name="cover-locality"/>
          <p:cNvSpPr txBox="1"/>
          <p:nvPr/>
        </p:nvSpPr>
        <p:spPr>
          <a:xfrm>
            <a:off x="762000" y="3257550"/>
            <a:ext cx="7524750" cy="1000125"/>
          </a:xfrm>
          <a:prstGeom prst="rect">
            <a:avLst/>
          </a:prstGeom>
          <a:noFill/>
        </p:spPr>
        <p:txBody>
          <a:bodyPr wrap="none" lIns="57150" rIns="57150" tIns="38100" bIns="38100" anchor="ctr">
            <a:noAutofit/>
          </a:bodyPr>
          <a:lstStyle/>
          <a:p>
            <a:pPr eaLnBrk="0" algn="ctr">
              <a:lnSpc>
                <a:spcPts val="6375"/>
              </a:lnSpc>
              <a:spcBef>
                <a:spcPts val="0"/>
              </a:spcBef>
              <a:spcAft>
                <a:spcPts val="0"/>
              </a:spcAft>
            </a:pPr>
            <a:r>
              <a:rPr sz="5100" b="1">
                <a:solidFill>
                  <a:srgbClr val="FFFFFF"/>
                </a:solidFill>
                <a:latin typeface="Noto Sans KR"/>
              </a:rPr>
              <a:t>제주시</a:t>
            </a:r>
          </a:p>
        </p:txBody>
      </p:sp>
      <p:sp xmlns:a="http://schemas.openxmlformats.org/drawingml/2006/main">
        <p:nvSpPr>
          <p:cNvPr id="11" name="cover-source-bg"/>
          <p:cNvSpPr/>
          <p:nvPr/>
        </p:nvSpPr>
        <p:spPr>
          <a:xfrm>
            <a:off x="9258300" y="7829550"/>
            <a:ext cx="5676900" cy="57150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label">
            <a:hlinkClick xmlns:ns0="http://schemas.openxmlformats.org/officeDocument/2006/relationships" ns0:id="rId4"/>
          </p:cNvPr>
          <p:cNvSpPr txBox="1"/>
          <p:nvPr/>
        </p:nvSpPr>
        <p:spPr>
          <a:xfrm>
            <a:off x="9363075" y="7867650"/>
            <a:ext cx="5467350" cy="49530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곽지해수욕장</a:t>
            </a:r>
          </a:p>
          <a:p>
            <a:pPr eaLnBrk="0" algn="ctr">
              <a:lnSpc>
                <a:spcPts val="1593"/>
              </a:lnSpc>
              <a:spcBef>
                <a:spcPts val="0"/>
              </a:spcBef>
              <a:spcAft>
                <a:spcPts val="0"/>
              </a:spcAft>
            </a:pPr>
            <a:r>
              <a:rPr sz="1275" b="0">
                <a:solidFill>
                  <a:srgbClr val="FFFFFF"/>
                </a:solidFill>
                <a:latin typeface="Noto Sans KR"/>
              </a:rPr>
              <a:t>출처: 한국관광공사 TourAPI</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5" name="contents-panel-6"/>
          <p:cNvSpPr/>
          <p:nvPr/>
        </p:nvSpPr>
        <p:spPr>
          <a:xfrm>
            <a:off x="5095875" y="7029450"/>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ntents-panel-5"/>
          <p:cNvSpPr/>
          <p:nvPr/>
        </p:nvSpPr>
        <p:spPr>
          <a:xfrm>
            <a:off x="5095875" y="5991225"/>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contents-panel-4"/>
          <p:cNvSpPr/>
          <p:nvPr/>
        </p:nvSpPr>
        <p:spPr>
          <a:xfrm>
            <a:off x="5095875" y="4953000"/>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ontents-panel-3"/>
          <p:cNvSpPr/>
          <p:nvPr/>
        </p:nvSpPr>
        <p:spPr>
          <a:xfrm>
            <a:off x="5095875" y="3914775"/>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ntents-panel-2"/>
          <p:cNvSpPr/>
          <p:nvPr/>
        </p:nvSpPr>
        <p:spPr>
          <a:xfrm>
            <a:off x="5095875" y="2876550"/>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contents-panel-1"/>
          <p:cNvSpPr/>
          <p:nvPr/>
        </p:nvSpPr>
        <p:spPr>
          <a:xfrm>
            <a:off x="5095875" y="1838325"/>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 name="contents-panel-0"/>
          <p:cNvSpPr/>
          <p:nvPr/>
        </p:nvSpPr>
        <p:spPr>
          <a:xfrm>
            <a:off x="5095875" y="800100"/>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 name="contents-rail"/>
          <p:cNvSpPr/>
          <p:nvPr/>
        </p:nvSpPr>
        <p:spPr>
          <a:xfrm>
            <a:off x="0" y="0"/>
            <a:ext cx="4476750" cy="8572500"/>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619125" y="3048000"/>
            <a:ext cx="3524250" cy="619125"/>
          </a:xfrm>
          <a:prstGeom prst="rect">
            <a:avLst/>
          </a:prstGeom>
          <a:noFill/>
        </p:spPr>
        <p:txBody>
          <a:bodyPr wrap="none" lIns="57150" rIns="57150" tIns="38100" bIns="38100" anchor="t">
            <a:noAutofit/>
          </a:bodyPr>
          <a:lstStyle/>
          <a:p>
            <a:pPr eaLnBrk="0">
              <a:lnSpc>
                <a:spcPts val="4265"/>
              </a:lnSpc>
              <a:spcBef>
                <a:spcPts val="0"/>
              </a:spcBef>
              <a:spcAft>
                <a:spcPts val="0"/>
              </a:spcAft>
            </a:pPr>
            <a:r>
              <a:rPr sz="3412" b="1">
                <a:solidFill>
                  <a:srgbClr val="FFFFFF"/>
                </a:solidFill>
                <a:latin typeface="Noto Sans KR"/>
              </a:rPr>
              <a:t>CONTENTS</a:t>
            </a:r>
          </a:p>
        </p:txBody>
      </p:sp>
      <p:sp xmlns:a="http://schemas.openxmlformats.org/drawingml/2006/main">
        <p:nvSpPr>
          <p:cNvPr id="4" name="contents-ko"/>
          <p:cNvSpPr txBox="1"/>
          <p:nvPr/>
        </p:nvSpPr>
        <p:spPr>
          <a:xfrm>
            <a:off x="619125" y="3800475"/>
            <a:ext cx="3333750" cy="666750"/>
          </a:xfrm>
          <a:prstGeom prst="rect">
            <a:avLst/>
          </a:prstGeom>
          <a:noFill/>
        </p:spPr>
        <p:txBody>
          <a:bodyPr wrap="none" lIns="57150" rIns="57150" tIns="38100" bIns="38100" anchor="t">
            <a:noAutofit/>
          </a:bodyPr>
          <a:lstStyle/>
          <a:p>
            <a:pPr eaLnBrk="0">
              <a:lnSpc>
                <a:spcPts val="4312"/>
              </a:lnSpc>
              <a:spcBef>
                <a:spcPts val="0"/>
              </a:spcBef>
              <a:spcAft>
                <a:spcPts val="0"/>
              </a:spcAft>
            </a:pPr>
            <a:r>
              <a:rPr sz="3450" b="1">
                <a:solidFill>
                  <a:srgbClr val="FFFFFF"/>
                </a:solidFill>
                <a:latin typeface="Noto Sans KR"/>
              </a:rPr>
              <a:t>목차 안내</a:t>
            </a:r>
          </a:p>
        </p:txBody>
      </p:sp>
      <p:sp xmlns:a="http://schemas.openxmlformats.org/drawingml/2006/main">
        <p:nvSpPr>
          <p:cNvPr id="5" name="top-brand"/>
          <p:cNvSpPr txBox="1"/>
          <p:nvPr/>
        </p:nvSpPr>
        <p:spPr>
          <a:xfrm>
            <a:off x="619125" y="6858000"/>
            <a:ext cx="3286125" cy="1143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FFFFFF"/>
                </a:solidFill>
                <a:latin typeface="Noto Sans KR"/>
              </a:rPr>
              <a:t>제주특별자치도 제주시</a:t>
            </a:r>
          </a:p>
          <a:p>
            <a:pPr eaLnBrk="0">
              <a:lnSpc>
                <a:spcPts val="2156"/>
              </a:lnSpc>
              <a:spcBef>
                <a:spcPts val="0"/>
              </a:spcBef>
              <a:spcAft>
                <a:spcPts val="0"/>
              </a:spcAft>
            </a:pPr>
            <a:r>
              <a:rPr sz="1725" b="0">
                <a:solidFill>
                  <a:srgbClr val="FFFFFF"/>
                </a:solidFill>
                <a:latin typeface="Noto Sans KR"/>
              </a:rPr>
              <a:t>관광 전략기획안</a:t>
            </a:r>
          </a:p>
        </p:txBody>
      </p:sp>
      <p:sp xmlns:a="http://schemas.openxmlformats.org/drawingml/2006/main">
        <p:nvSpPr>
          <p:cNvPr id="6" name="top-date"/>
          <p:cNvSpPr txBox="1"/>
          <p:nvPr/>
        </p:nvSpPr>
        <p:spPr>
          <a:xfrm>
            <a:off x="619125" y="8001000"/>
            <a:ext cx="3333750" cy="3333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FFFFF"/>
                </a:solidFill>
                <a:latin typeface="Noto Sans KR"/>
              </a:rPr>
              <a:t>2026. 09. 15</a:t>
            </a:r>
          </a:p>
        </p:txBody>
      </p:sp>
      <p:sp xmlns:a="http://schemas.openxmlformats.org/drawingml/2006/main">
        <p:nvSpPr>
          <p:cNvPr id="8" name="toc-0-number"/>
          <p:cNvSpPr txBox="1"/>
          <p:nvPr/>
        </p:nvSpPr>
        <p:spPr>
          <a:xfrm>
            <a:off x="5353050" y="933450"/>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0</a:t>
            </a:r>
          </a:p>
        </p:txBody>
      </p:sp>
      <p:sp xmlns:a="http://schemas.openxmlformats.org/drawingml/2006/main">
        <p:nvSpPr>
          <p:cNvPr id="9" name="toc-0-label"/>
          <p:cNvSpPr txBox="1"/>
          <p:nvPr/>
        </p:nvSpPr>
        <p:spPr>
          <a:xfrm>
            <a:off x="6296025" y="1019175"/>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기획 의도 · 지역 성장 비교</a:t>
            </a:r>
          </a:p>
        </p:txBody>
      </p:sp>
      <p:sp xmlns:a="http://schemas.openxmlformats.org/drawingml/2006/main">
        <p:nvSpPr>
          <p:cNvPr id="11" name="toc-1-number"/>
          <p:cNvSpPr txBox="1"/>
          <p:nvPr/>
        </p:nvSpPr>
        <p:spPr>
          <a:xfrm>
            <a:off x="5353050" y="1971675"/>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1</a:t>
            </a:r>
          </a:p>
        </p:txBody>
      </p:sp>
      <p:sp xmlns:a="http://schemas.openxmlformats.org/drawingml/2006/main">
        <p:nvSpPr>
          <p:cNvPr id="12" name="toc-1-label"/>
          <p:cNvSpPr txBox="1"/>
          <p:nvPr/>
        </p:nvSpPr>
        <p:spPr>
          <a:xfrm>
            <a:off x="6296025" y="2057400"/>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지역별 사례와 실적</a:t>
            </a:r>
          </a:p>
        </p:txBody>
      </p:sp>
      <p:sp xmlns:a="http://schemas.openxmlformats.org/drawingml/2006/main">
        <p:nvSpPr>
          <p:cNvPr id="14" name="toc-2-number"/>
          <p:cNvSpPr txBox="1"/>
          <p:nvPr/>
        </p:nvSpPr>
        <p:spPr>
          <a:xfrm>
            <a:off x="5353050" y="3009900"/>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2</a:t>
            </a:r>
          </a:p>
        </p:txBody>
      </p:sp>
      <p:sp xmlns:a="http://schemas.openxmlformats.org/drawingml/2006/main">
        <p:nvSpPr>
          <p:cNvPr id="15" name="toc-2-label"/>
          <p:cNvSpPr txBox="1"/>
          <p:nvPr/>
        </p:nvSpPr>
        <p:spPr>
          <a:xfrm>
            <a:off x="6296025" y="3095625"/>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사업 목표와 KPI 산출근거</a:t>
            </a:r>
          </a:p>
        </p:txBody>
      </p:sp>
      <p:sp xmlns:a="http://schemas.openxmlformats.org/drawingml/2006/main">
        <p:nvSpPr>
          <p:cNvPr id="17" name="toc-3-number"/>
          <p:cNvSpPr txBox="1"/>
          <p:nvPr/>
        </p:nvSpPr>
        <p:spPr>
          <a:xfrm>
            <a:off x="5353050" y="4048125"/>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3</a:t>
            </a:r>
          </a:p>
        </p:txBody>
      </p:sp>
      <p:sp xmlns:a="http://schemas.openxmlformats.org/drawingml/2006/main">
        <p:nvSpPr>
          <p:cNvPr id="18" name="toc-3-label"/>
          <p:cNvSpPr txBox="1"/>
          <p:nvPr/>
        </p:nvSpPr>
        <p:spPr>
          <a:xfrm>
            <a:off x="6296025" y="4133850"/>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지역 적용과 실행</a:t>
            </a:r>
          </a:p>
        </p:txBody>
      </p:sp>
      <p:sp xmlns:a="http://schemas.openxmlformats.org/drawingml/2006/main">
        <p:nvSpPr>
          <p:cNvPr id="20" name="toc-4-number"/>
          <p:cNvSpPr txBox="1"/>
          <p:nvPr/>
        </p:nvSpPr>
        <p:spPr>
          <a:xfrm>
            <a:off x="5353050" y="5086350"/>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4</a:t>
            </a:r>
          </a:p>
        </p:txBody>
      </p:sp>
      <p:sp xmlns:a="http://schemas.openxmlformats.org/drawingml/2006/main">
        <p:nvSpPr>
          <p:cNvPr id="21" name="toc-4-label"/>
          <p:cNvSpPr txBox="1"/>
          <p:nvPr/>
        </p:nvSpPr>
        <p:spPr>
          <a:xfrm>
            <a:off x="6296025" y="5172075"/>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견적 예시안</a:t>
            </a:r>
          </a:p>
        </p:txBody>
      </p:sp>
      <p:sp xmlns:a="http://schemas.openxmlformats.org/drawingml/2006/main">
        <p:nvSpPr>
          <p:cNvPr id="23" name="toc-5-number"/>
          <p:cNvSpPr txBox="1"/>
          <p:nvPr/>
        </p:nvSpPr>
        <p:spPr>
          <a:xfrm>
            <a:off x="5353050" y="6124575"/>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5</a:t>
            </a:r>
          </a:p>
        </p:txBody>
      </p:sp>
      <p:sp xmlns:a="http://schemas.openxmlformats.org/drawingml/2006/main">
        <p:nvSpPr>
          <p:cNvPr id="24" name="toc-5-label"/>
          <p:cNvSpPr txBox="1"/>
          <p:nvPr/>
        </p:nvSpPr>
        <p:spPr>
          <a:xfrm>
            <a:off x="6296025" y="6210300"/>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기획서 생성 과정</a:t>
            </a:r>
          </a:p>
        </p:txBody>
      </p:sp>
      <p:sp xmlns:a="http://schemas.openxmlformats.org/drawingml/2006/main">
        <p:nvSpPr>
          <p:cNvPr id="26" name="toc-6-number"/>
          <p:cNvSpPr txBox="1"/>
          <p:nvPr/>
        </p:nvSpPr>
        <p:spPr>
          <a:xfrm>
            <a:off x="5353050" y="7162800"/>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6</a:t>
            </a:r>
          </a:p>
        </p:txBody>
      </p:sp>
      <p:sp xmlns:a="http://schemas.openxmlformats.org/drawingml/2006/main">
        <p:nvSpPr>
          <p:cNvPr id="27" name="toc-6-label"/>
          <p:cNvSpPr txBox="1"/>
          <p:nvPr/>
        </p:nvSpPr>
        <p:spPr>
          <a:xfrm>
            <a:off x="6296025" y="7248525"/>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근거·데이터·출처</a:t>
            </a: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60" r="3136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제주특별자치도 제주시 한경면 청수리 · 가마오름</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ctr">
            <a:noAutofit/>
          </a:bodyPr>
          <a:lstStyle/>
          <a:p>
            <a:pPr eaLnBrk="0" algn="ctr">
              <a:lnSpc>
                <a:spcPts val="3937"/>
              </a:lnSpc>
              <a:spcBef>
                <a:spcPts val="0"/>
              </a:spcBef>
              <a:spcAft>
                <a:spcPts val="0"/>
              </a:spcAft>
            </a:pPr>
            <a:r>
              <a:rPr sz="3150" b="1">
                <a:solidFill>
                  <a:srgbClr val="202124"/>
                </a:solidFill>
                <a:latin typeface="Noto Sans KR"/>
              </a:rPr>
              <a:t>제주시 관광 발전 기획안</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1,058.0만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2.60%p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4,449.2억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6.99%p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0. 기획 의도</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03 / 15</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2.1 사업 목표</a:t>
            </a:r>
          </a:p>
        </p:txBody>
      </p:sp>
      <p:sp xmlns:a="http://schemas.openxmlformats.org/drawingml/2006/main">
        <p:nvSpPr>
          <p:cNvPr id="4" name="block-0"/>
          <p:cNvSpPr/>
          <p:nvPr/>
        </p:nvSpPr>
        <p:spPr>
          <a:xfrm>
            <a:off x="1009650" y="2057400"/>
            <a:ext cx="4267200" cy="1971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제주시 내 박물관, 공연장, 문화유산 등</a:t>
            </a:r>
          </a:p>
          <a:p>
            <a:pPr eaLnBrk="0">
              <a:lnSpc>
                <a:spcPts val="2156"/>
              </a:lnSpc>
              <a:spcBef>
                <a:spcPts val="0"/>
              </a:spcBef>
              <a:spcAft>
                <a:spcPts val="0"/>
              </a:spcAft>
            </a:pPr>
            <a:r>
              <a:rPr sz="1725" b="0">
                <a:solidFill>
                  <a:srgbClr val="62666C"/>
                </a:solidFill>
                <a:latin typeface="Noto Sans KR"/>
              </a:rPr>
              <a:t>기존 시설을 활용하여 야간 개방 및 체험</a:t>
            </a:r>
          </a:p>
          <a:p>
            <a:pPr eaLnBrk="0">
              <a:lnSpc>
                <a:spcPts val="2156"/>
              </a:lnSpc>
              <a:spcBef>
                <a:spcPts val="0"/>
              </a:spcBef>
              <a:spcAft>
                <a:spcPts val="0"/>
              </a:spcAft>
            </a:pPr>
            <a:r>
              <a:rPr sz="1725" b="0">
                <a:solidFill>
                  <a:srgbClr val="62666C"/>
                </a:solidFill>
                <a:latin typeface="Noto Sans KR"/>
              </a:rPr>
              <a:t>프로그램을 확대 운영</a:t>
            </a:r>
          </a:p>
        </p:txBody>
      </p:sp>
      <p:sp xmlns:a="http://schemas.openxmlformats.org/drawingml/2006/main">
        <p:nvSpPr>
          <p:cNvPr id="8" name="block-1"/>
          <p:cNvSpPr/>
          <p:nvPr/>
        </p:nvSpPr>
        <p:spPr>
          <a:xfrm>
            <a:off x="5486400" y="2057400"/>
            <a:ext cx="4267200" cy="1971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2026-10 ~ 2026-12, 3개월</a:t>
            </a:r>
          </a:p>
          <a:p>
            <a:pPr eaLnBrk="0">
              <a:lnSpc>
                <a:spcPts val="2156"/>
              </a:lnSpc>
              <a:spcBef>
                <a:spcPts val="0"/>
              </a:spcBef>
              <a:spcAft>
                <a:spcPts val="0"/>
              </a:spcAft>
            </a:pPr>
            <a:r>
              <a:rPr sz="1725" b="0">
                <a:solidFill>
                  <a:srgbClr val="62666C"/>
                </a:solidFill>
                <a:latin typeface="Noto Sans KR"/>
              </a:rPr>
              <a:t>준비·협의 → 시범 운영 → 성과 확인</a:t>
            </a:r>
          </a:p>
        </p:txBody>
      </p:sp>
      <p:sp xmlns:a="http://schemas.openxmlformats.org/drawingml/2006/main">
        <p:nvSpPr>
          <p:cNvPr id="12" name="block-2"/>
          <p:cNvSpPr/>
          <p:nvPr/>
        </p:nvSpPr>
        <p:spPr>
          <a:xfrm>
            <a:off x="9963150" y="2057400"/>
            <a:ext cx="4267200" cy="1971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3개월 월별 합계</a:t>
            </a:r>
          </a:p>
          <a:p>
            <a:pPr eaLnBrk="0">
              <a:lnSpc>
                <a:spcPts val="2156"/>
              </a:lnSpc>
              <a:spcBef>
                <a:spcPts val="0"/>
              </a:spcBef>
              <a:spcAft>
                <a:spcPts val="0"/>
              </a:spcAft>
            </a:pPr>
            <a:r>
              <a:rPr sz="1725" b="0">
                <a:solidFill>
                  <a:srgbClr val="62666C"/>
                </a:solidFill>
                <a:latin typeface="Noto Sans KR"/>
              </a:rPr>
              <a:t>방문자 1,093만 명</a:t>
            </a:r>
          </a:p>
          <a:p>
            <a:pPr eaLnBrk="0">
              <a:lnSpc>
                <a:spcPts val="2156"/>
              </a:lnSpc>
              <a:spcBef>
                <a:spcPts val="0"/>
              </a:spcBef>
              <a:spcAft>
                <a:spcPts val="0"/>
              </a:spcAft>
            </a:pPr>
            <a:r>
              <a:rPr sz="1725" b="0">
                <a:solidFill>
                  <a:srgbClr val="62666C"/>
                </a:solidFill>
                <a:latin typeface="Noto Sans KR"/>
              </a:rPr>
              <a:t>관광소비액 4,597억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06 / 15</a:t>
            </a:r>
          </a:p>
        </p:txBody>
      </p:sp>
    </p:spTree>
    <p:extLst>
      <p:ext uri="{BB962C8B-B14F-4D97-AF65-F5344CB8AC3E}">
        <p14:creationId xmlns:p14="http://schemas.microsoft.com/office/powerpoint/2010/main" val="380383987"/>
      </p:ext>
    </p:extLst>
  </p:cSld>
</p:sld>
</file>

<file path=ppt/slides/slide5.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1.1 지역별 참고 사례</a:t>
            </a:r>
          </a:p>
        </p:txBody>
      </p:sp>
      <p:sp xmlns:a="http://schemas.openxmlformats.org/drawingml/2006/main">
        <p:nvSpPr>
          <p:cNvPr id="4" name="case-intro"/>
          <p:cNvSpPr txBox="1"/>
          <p:nvPr/>
        </p:nvSpPr>
        <p:spPr>
          <a:xfrm>
            <a:off x="1009650" y="1790700"/>
            <a:ext cx="13220700" cy="447675"/>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운영 방식이 맞는 공식 사례를 연결합니다. 지역 자체의 유사도 순위와는 구분합니다.</a:t>
            </a:r>
          </a:p>
        </p:txBody>
      </p:sp>
      <p:sp xmlns:a="http://schemas.openxmlformats.org/drawingml/2006/main">
        <p:nvSpPr>
          <p:cNvPr id="5" name="case-panel-0"/>
          <p:cNvSpPr/>
          <p:nvPr/>
        </p:nvSpPr>
        <p:spPr>
          <a:xfrm>
            <a:off x="1009650" y="2457450"/>
            <a:ext cx="4229100" cy="6000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36A69C"/>
                </a:solidFill>
                <a:latin typeface="Noto Sans KR"/>
              </a:rPr>
              <a:t>01</a:t>
            </a:r>
          </a:p>
        </p:txBody>
      </p:sp>
      <p:sp xmlns:a="http://schemas.openxmlformats.org/drawingml/2006/main">
        <p:nvSpPr>
          <p:cNvPr id="7" name="case-badge-0"/>
          <p:cNvSpPr txBox="1"/>
          <p:nvPr/>
        </p:nvSpPr>
        <p:spPr>
          <a:xfrm>
            <a:off x="1952625" y="264795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875" b="1">
                <a:solidFill>
                  <a:srgbClr val="FFFFFF"/>
                </a:solidFill>
                <a:latin typeface="Noto Sans KR"/>
              </a:rPr>
              <a:t>적용 사례</a:t>
            </a:r>
          </a:p>
        </p:txBody>
      </p:sp>
      <p:sp xmlns:a="http://schemas.openxmlformats.org/drawingml/2006/main">
        <p:nvSpPr>
          <p:cNvPr id="8" name="case-selected-tick-0"/>
          <p:cNvSpPr/>
          <p:nvPr/>
        </p:nvSpPr>
        <p:spPr>
          <a:xfrm>
            <a:off x="4486275" y="268605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67652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서울특별시 문화유산 집적지역 ·</a:t>
            </a:r>
          </a:p>
          <a:p>
            <a:pPr eaLnBrk="0">
              <a:lnSpc>
                <a:spcPts val="2250"/>
              </a:lnSpc>
              <a:spcBef>
                <a:spcPts val="0"/>
              </a:spcBef>
              <a:spcAft>
                <a:spcPts val="0"/>
              </a:spcAft>
            </a:pPr>
            <a:r>
              <a:rPr sz="1800" b="1">
                <a:solidFill>
                  <a:srgbClr val="202124"/>
                </a:solidFill>
                <a:latin typeface="Noto Sans KR"/>
              </a:rPr>
              <a:t>기존 문화유산을 활용한 야간</a:t>
            </a:r>
          </a:p>
          <a:p>
            <a:pPr eaLnBrk="0">
              <a:lnSpc>
                <a:spcPts val="2250"/>
              </a:lnSpc>
              <a:spcBef>
                <a:spcPts val="0"/>
              </a:spcBef>
              <a:spcAft>
                <a:spcPts val="0"/>
              </a:spcAft>
            </a:pPr>
            <a:r>
              <a:rPr sz="1800" b="1">
                <a:solidFill>
                  <a:srgbClr val="202124"/>
                </a:solidFill>
                <a:latin typeface="Noto Sans KR"/>
              </a:rPr>
              <a:t>개방·체험 프로그램</a:t>
            </a:r>
          </a:p>
        </p:txBody>
      </p:sp>
      <p:sp xmlns:a="http://schemas.openxmlformats.org/drawingml/2006/main">
        <p:nvSpPr>
          <p:cNvPr id="11" name="case-body-0"/>
          <p:cNvSpPr txBox="1"/>
          <p:nvPr/>
        </p:nvSpPr>
        <p:spPr>
          <a:xfrm>
            <a:off x="12382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문화유산이 모인 거점을 중심으로</a:t>
            </a:r>
          </a:p>
          <a:p>
            <a:pPr eaLnBrk="0">
              <a:lnSpc>
                <a:spcPts val="1968"/>
              </a:lnSpc>
              <a:spcBef>
                <a:spcPts val="0"/>
              </a:spcBef>
              <a:spcAft>
                <a:spcPts val="0"/>
              </a:spcAft>
            </a:pPr>
            <a:r>
              <a:rPr sz="1575" b="0">
                <a:solidFill>
                  <a:srgbClr val="62666C"/>
                </a:solidFill>
                <a:latin typeface="Noto Sans KR"/>
              </a:rPr>
              <a:t>야간 개방, 해설, 공연과</a:t>
            </a:r>
          </a:p>
          <a:p>
            <a:pPr eaLnBrk="0">
              <a:lnSpc>
                <a:spcPts val="1968"/>
              </a:lnSpc>
              <a:spcBef>
                <a:spcPts val="0"/>
              </a:spcBef>
              <a:spcAft>
                <a:spcPts val="0"/>
              </a:spcAft>
            </a:pPr>
            <a:r>
              <a:rPr sz="1575" b="0">
                <a:solidFill>
                  <a:srgbClr val="62666C"/>
                </a:solidFill>
                <a:latin typeface="Noto Sans KR"/>
              </a:rPr>
              <a:t>체험프로그램을 구성하고 국비와</a:t>
            </a:r>
          </a:p>
          <a:p>
            <a:pPr eaLnBrk="0">
              <a:lnSpc>
                <a:spcPts val="1968"/>
              </a:lnSpc>
              <a:spcBef>
                <a:spcPts val="0"/>
              </a:spcBef>
              <a:spcAft>
                <a:spcPts val="0"/>
              </a:spcAft>
            </a:pPr>
            <a:r>
              <a:rPr sz="1575" b="0">
                <a:solidFill>
                  <a:srgbClr val="62666C"/>
                </a:solidFill>
                <a:latin typeface="Noto Sans KR"/>
              </a:rPr>
              <a:t>지방비를 결합해 운영했다.</a:t>
            </a:r>
          </a:p>
        </p:txBody>
      </p:sp>
      <p:pic xmlns:a="http://schemas.openxmlformats.org/drawingml/2006/main" xmlns:r="http://schemas.openxmlformats.org/officeDocument/2006/relationships">
        <p:nvPicPr>
          <p:cNvPr id="12" name="case-photo-0" descr="jeongdong_2024.jpg"/>
          <p:cNvPicPr>
            <a:picLocks noChangeAspect="1"/>
          </p:cNvPicPr>
          <p:nvPr/>
        </p:nvPicPr>
        <p:blipFill>
          <a:blip r:embed="rId4"/>
          <a:stretch>
            <a:fillRect/>
          </a:stretch>
        </p:blipFill>
        <p:spPr>
          <a:xfrm>
            <a:off x="1835102" y="5857875"/>
            <a:ext cx="2578195" cy="1714500"/>
          </a:xfrm>
          <a:prstGeom prst="rect">
            <a:avLst/>
          </a:prstGeom>
        </p:spPr>
      </p:pic>
      <p:sp xmlns:a="http://schemas.openxmlformats.org/drawingml/2006/main">
        <p:nvSpPr>
          <p:cNvPr id="13" name="case-image-caption-0"/>
          <p:cNvSpPr txBox="1"/>
          <p:nvPr/>
        </p:nvSpPr>
        <p:spPr>
          <a:xfrm>
            <a:off x="12382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u="none">
                <a:solidFill>
                  <a:srgbClr val="62666C"/>
                </a:solidFill>
                <a:latin typeface="Noto Sans KR"/>
                <a:hlinkClick xmlns:ns0="http://schemas.openxmlformats.org/officeDocument/2006/relationships" ns0:id="rId5"/>
              </a:rPr>
              <a:t>서울 중구 정동 · 정동야행 행사 사진</a:t>
            </a:r>
          </a:p>
          <a:p>
            <a:pPr eaLnBrk="0">
              <a:lnSpc>
                <a:spcPts val="1500"/>
              </a:lnSpc>
              <a:spcBef>
                <a:spcPts val="0"/>
              </a:spcBef>
              <a:spcAft>
                <a:spcPts val="0"/>
              </a:spcAft>
            </a:pPr>
            <a:r>
              <a:rPr sz="1200" b="0" u="none">
                <a:solidFill>
                  <a:srgbClr val="62666C"/>
                </a:solidFill>
                <a:latin typeface="Noto Sans KR"/>
                <a:hlinkClick xmlns:ns1="http://schemas.openxmlformats.org/officeDocument/2006/relationships" ns1:id="rId5"/>
              </a:rPr>
              <a:t>출처: 서울문화포털 · 2024 정동야행</a:t>
            </a:r>
          </a:p>
        </p:txBody>
      </p:sp>
      <p:sp xmlns:a="http://schemas.openxmlformats.org/drawingml/2006/main">
        <p:nvSpPr>
          <p:cNvPr id="14" name="case-source-0"/>
          <p:cNvSpPr txBox="1"/>
          <p:nvPr/>
        </p:nvSpPr>
        <p:spPr>
          <a:xfrm>
            <a:off x="12382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u="none">
                <a:solidFill>
                  <a:srgbClr val="62666C"/>
                </a:solidFill>
                <a:latin typeface="Noto Sans KR"/>
                <a:hlinkClick xmlns:ns2="http://schemas.openxmlformats.org/officeDocument/2006/relationships" ns2:id="rId6"/>
              </a:rPr>
              <a:t>사업 원문 보기 ↗</a:t>
            </a:r>
          </a:p>
        </p:txBody>
      </p:sp>
      <p:sp xmlns:a="http://schemas.openxmlformats.org/drawingml/2006/main">
        <p:nvSpPr>
          <p:cNvPr id="15" name="case-panel-1"/>
          <p:cNvSpPr/>
          <p:nvPr/>
        </p:nvSpPr>
        <p:spPr>
          <a:xfrm>
            <a:off x="5505450" y="2457450"/>
            <a:ext cx="4229100" cy="6000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36A69C"/>
                </a:solidFill>
                <a:latin typeface="Noto Sans KR"/>
              </a:rPr>
              <a:t>02</a:t>
            </a:r>
          </a:p>
        </p:txBody>
      </p:sp>
      <p:sp xmlns:a="http://schemas.openxmlformats.org/drawingml/2006/main">
        <p:nvSpPr>
          <p:cNvPr id="17" name="case-badge-1"/>
          <p:cNvSpPr txBox="1"/>
          <p:nvPr/>
        </p:nvSpPr>
        <p:spPr>
          <a:xfrm>
            <a:off x="6448425" y="264795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875" b="1">
                <a:solidFill>
                  <a:srgbClr val="F50045"/>
                </a:solidFill>
                <a:latin typeface="Noto Sans KR"/>
              </a:rPr>
              <a:t>후보 사례</a:t>
            </a:r>
          </a:p>
        </p:txBody>
      </p:sp>
      <p:sp xmlns:a="http://schemas.openxmlformats.org/drawingml/2006/main">
        <p:nvSpPr>
          <p:cNvPr id="18" name="case-title-1"/>
          <p:cNvSpPr txBox="1"/>
          <p:nvPr/>
        </p:nvSpPr>
        <p:spPr>
          <a:xfrm>
            <a:off x="57340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전라남도 강진군 ·</a:t>
            </a:r>
          </a:p>
          <a:p>
            <a:pPr eaLnBrk="0">
              <a:lnSpc>
                <a:spcPts val="2250"/>
              </a:lnSpc>
              <a:spcBef>
                <a:spcPts val="0"/>
              </a:spcBef>
              <a:spcAft>
                <a:spcPts val="0"/>
              </a:spcAft>
            </a:pPr>
            <a:r>
              <a:rPr sz="1800" b="1">
                <a:solidFill>
                  <a:srgbClr val="202124"/>
                </a:solidFill>
                <a:latin typeface="Noto Sans KR"/>
              </a:rPr>
              <a:t>반값여행 지역환급</a:t>
            </a:r>
          </a:p>
        </p:txBody>
      </p:sp>
      <p:sp xmlns:a="http://schemas.openxmlformats.org/drawingml/2006/main">
        <p:nvSpPr>
          <p:cNvPr id="19" name="case-body-1"/>
          <p:cNvSpPr txBox="1"/>
          <p:nvPr/>
        </p:nvSpPr>
        <p:spPr>
          <a:xfrm>
            <a:off x="57340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여행자가 지역에서 지출한 비용의</a:t>
            </a:r>
          </a:p>
          <a:p>
            <a:pPr eaLnBrk="0">
              <a:lnSpc>
                <a:spcPts val="1968"/>
              </a:lnSpc>
              <a:spcBef>
                <a:spcPts val="0"/>
              </a:spcBef>
              <a:spcAft>
                <a:spcPts val="0"/>
              </a:spcAft>
            </a:pPr>
            <a:r>
              <a:rPr sz="1575" b="0">
                <a:solidFill>
                  <a:srgbClr val="62666C"/>
                </a:solidFill>
                <a:latin typeface="Noto Sans KR"/>
              </a:rPr>
              <a:t>일부를 지역상품권으로 돌려받게 하여</a:t>
            </a:r>
          </a:p>
          <a:p>
            <a:pPr eaLnBrk="0">
              <a:lnSpc>
                <a:spcPts val="1968"/>
              </a:lnSpc>
              <a:spcBef>
                <a:spcPts val="0"/>
              </a:spcBef>
              <a:spcAft>
                <a:spcPts val="0"/>
              </a:spcAft>
            </a:pPr>
            <a:r>
              <a:rPr sz="1575" b="0">
                <a:solidFill>
                  <a:srgbClr val="62666C"/>
                </a:solidFill>
                <a:latin typeface="Noto Sans KR"/>
              </a:rPr>
              <a:t>혜택이 다시 지역 상점에서</a:t>
            </a:r>
          </a:p>
          <a:p>
            <a:pPr eaLnBrk="0">
              <a:lnSpc>
                <a:spcPts val="1968"/>
              </a:lnSpc>
              <a:spcBef>
                <a:spcPts val="0"/>
              </a:spcBef>
              <a:spcAft>
                <a:spcPts val="0"/>
              </a:spcAft>
            </a:pPr>
            <a:r>
              <a:rPr sz="1575" b="0">
                <a:solidFill>
                  <a:srgbClr val="62666C"/>
                </a:solidFill>
                <a:latin typeface="Noto Sans KR"/>
              </a:rPr>
              <a:t>사용되도록 설계</a:t>
            </a:r>
          </a:p>
        </p:txBody>
      </p:sp>
      <p:pic xmlns:a="http://schemas.openxmlformats.org/drawingml/2006/main" xmlns:r="http://schemas.openxmlformats.org/officeDocument/2006/relationships">
        <p:nvPicPr>
          <p:cNvPr id="20" name="case-photo-1" descr="gangjin_official.jpg"/>
          <p:cNvPicPr>
            <a:picLocks noChangeAspect="1"/>
          </p:cNvPicPr>
          <p:nvPr/>
        </p:nvPicPr>
        <p:blipFill>
          <a:blip r:embed="rId7"/>
          <a:stretch>
            <a:fillRect/>
          </a:stretch>
        </p:blipFill>
        <p:spPr>
          <a:xfrm>
            <a:off x="6014436" y="5857875"/>
            <a:ext cx="3211126" cy="1714500"/>
          </a:xfrm>
          <a:prstGeom prst="rect">
            <a:avLst/>
          </a:prstGeom>
        </p:spPr>
      </p:pic>
      <p:sp xmlns:a="http://schemas.openxmlformats.org/drawingml/2006/main">
        <p:nvSpPr>
          <p:cNvPr id="21" name="case-image-caption-1"/>
          <p:cNvSpPr txBox="1"/>
          <p:nvPr/>
        </p:nvSpPr>
        <p:spPr>
          <a:xfrm>
            <a:off x="57340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u="none">
                <a:solidFill>
                  <a:srgbClr val="62666C"/>
                </a:solidFill>
                <a:latin typeface="Noto Sans KR"/>
                <a:hlinkClick xmlns:ns3="http://schemas.openxmlformats.org/officeDocument/2006/relationships" ns3:id="rId8"/>
              </a:rPr>
              <a:t>강진군 · 반값여행 공식 홍보물</a:t>
            </a:r>
          </a:p>
          <a:p>
            <a:pPr eaLnBrk="0">
              <a:lnSpc>
                <a:spcPts val="1500"/>
              </a:lnSpc>
              <a:spcBef>
                <a:spcPts val="0"/>
              </a:spcBef>
              <a:spcAft>
                <a:spcPts val="0"/>
              </a:spcAft>
            </a:pPr>
            <a:r>
              <a:rPr sz="1200" b="0" u="none">
                <a:solidFill>
                  <a:srgbClr val="62666C"/>
                </a:solidFill>
                <a:latin typeface="Noto Sans KR"/>
                <a:hlinkClick xmlns:ns4="http://schemas.openxmlformats.org/officeDocument/2006/relationships" ns4:id="rId8"/>
              </a:rPr>
              <a:t>출처: 강진 반값여행 공식 홈페이지</a:t>
            </a:r>
          </a:p>
        </p:txBody>
      </p:sp>
      <p:sp xmlns:a="http://schemas.openxmlformats.org/drawingml/2006/main">
        <p:nvSpPr>
          <p:cNvPr id="22" name="case-source-1"/>
          <p:cNvSpPr txBox="1"/>
          <p:nvPr/>
        </p:nvSpPr>
        <p:spPr>
          <a:xfrm>
            <a:off x="57340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u="none">
                <a:solidFill>
                  <a:srgbClr val="62666C"/>
                </a:solidFill>
                <a:latin typeface="Noto Sans KR"/>
                <a:hlinkClick xmlns:ns5="http://schemas.openxmlformats.org/officeDocument/2006/relationships" ns5:id="rId9"/>
              </a:rPr>
              <a:t>사업 원문 보기 ↗</a:t>
            </a:r>
          </a:p>
        </p:txBody>
      </p:sp>
      <p:sp xmlns:a="http://schemas.openxmlformats.org/drawingml/2006/main">
        <p:nvSpPr>
          <p:cNvPr id="23" name="case-panel-2"/>
          <p:cNvSpPr/>
          <p:nvPr/>
        </p:nvSpPr>
        <p:spPr>
          <a:xfrm>
            <a:off x="10001250" y="2457450"/>
            <a:ext cx="4229100" cy="6000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36A69C"/>
                </a:solidFill>
                <a:latin typeface="Noto Sans KR"/>
              </a:rPr>
              <a:t>03</a:t>
            </a:r>
          </a:p>
        </p:txBody>
      </p:sp>
      <p:sp xmlns:a="http://schemas.openxmlformats.org/drawingml/2006/main">
        <p:nvSpPr>
          <p:cNvPr id="25" name="case-badge-2"/>
          <p:cNvSpPr txBox="1"/>
          <p:nvPr/>
        </p:nvSpPr>
        <p:spPr>
          <a:xfrm>
            <a:off x="10944225" y="264795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875" b="1">
                <a:solidFill>
                  <a:srgbClr val="F50045"/>
                </a:solidFill>
                <a:latin typeface="Noto Sans KR"/>
              </a:rPr>
              <a:t>후보 사례</a:t>
            </a:r>
          </a:p>
        </p:txBody>
      </p:sp>
      <p:sp xmlns:a="http://schemas.openxmlformats.org/drawingml/2006/main">
        <p:nvSpPr>
          <p:cNvPr id="26" name="case-title-2"/>
          <p:cNvSpPr txBox="1"/>
          <p:nvPr/>
        </p:nvSpPr>
        <p:spPr>
          <a:xfrm>
            <a:off x="102298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전국 인구감소지역 34곳 ·</a:t>
            </a:r>
          </a:p>
          <a:p>
            <a:pPr eaLnBrk="0">
              <a:lnSpc>
                <a:spcPts val="2250"/>
              </a:lnSpc>
              <a:spcBef>
                <a:spcPts val="0"/>
              </a:spcBef>
              <a:spcAft>
                <a:spcPts val="0"/>
              </a:spcAft>
            </a:pPr>
            <a:r>
              <a:rPr sz="1800" b="1">
                <a:solidFill>
                  <a:srgbClr val="202124"/>
                </a:solidFill>
                <a:latin typeface="Noto Sans KR"/>
              </a:rPr>
              <a:t>디지털 관광주민증과</a:t>
            </a:r>
          </a:p>
          <a:p>
            <a:pPr eaLnBrk="0">
              <a:lnSpc>
                <a:spcPts val="2250"/>
              </a:lnSpc>
              <a:spcBef>
                <a:spcPts val="0"/>
              </a:spcBef>
              <a:spcAft>
                <a:spcPts val="0"/>
              </a:spcAft>
            </a:pPr>
            <a:r>
              <a:rPr sz="1800" b="1">
                <a:solidFill>
                  <a:srgbClr val="202124"/>
                </a:solidFill>
                <a:latin typeface="Noto Sans KR"/>
              </a:rPr>
              <a:t>교통·숙박·상점 할인 결합</a:t>
            </a:r>
          </a:p>
        </p:txBody>
      </p:sp>
      <p:sp xmlns:a="http://schemas.openxmlformats.org/drawingml/2006/main">
        <p:nvSpPr>
          <p:cNvPr id="27" name="case-body-2"/>
          <p:cNvSpPr txBox="1"/>
          <p:nvPr/>
        </p:nvSpPr>
        <p:spPr>
          <a:xfrm>
            <a:off x="102298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디지털 관광주민증 참여업체 현장</a:t>
            </a:r>
          </a:p>
          <a:p>
            <a:pPr eaLnBrk="0">
              <a:lnSpc>
                <a:spcPts val="1968"/>
              </a:lnSpc>
              <a:spcBef>
                <a:spcPts val="0"/>
              </a:spcBef>
              <a:spcAft>
                <a:spcPts val="0"/>
              </a:spcAft>
            </a:pPr>
            <a:r>
              <a:rPr sz="1575" b="0">
                <a:solidFill>
                  <a:srgbClr val="62666C"/>
                </a:solidFill>
                <a:latin typeface="Noto Sans KR"/>
              </a:rPr>
              <a:t>인증과 숙박·식음·관람·체험 할인,</a:t>
            </a:r>
          </a:p>
          <a:p>
            <a:pPr eaLnBrk="0">
              <a:lnSpc>
                <a:spcPts val="1968"/>
              </a:lnSpc>
              <a:spcBef>
                <a:spcPts val="0"/>
              </a:spcBef>
              <a:spcAft>
                <a:spcPts val="0"/>
              </a:spcAft>
            </a:pPr>
            <a:r>
              <a:rPr sz="1575" b="0">
                <a:solidFill>
                  <a:srgbClr val="62666C"/>
                </a:solidFill>
                <a:latin typeface="Noto Sans KR"/>
              </a:rPr>
              <a:t>특정 시간대 KTX 할인과 방문 후 교통</a:t>
            </a:r>
          </a:p>
          <a:p>
            <a:pPr eaLnBrk="0">
              <a:lnSpc>
                <a:spcPts val="1968"/>
              </a:lnSpc>
              <a:spcBef>
                <a:spcPts val="0"/>
              </a:spcBef>
              <a:spcAft>
                <a:spcPts val="0"/>
              </a:spcAft>
            </a:pPr>
            <a:r>
              <a:rPr sz="1575" b="0">
                <a:solidFill>
                  <a:srgbClr val="62666C"/>
                </a:solidFill>
                <a:latin typeface="Noto Sans KR"/>
              </a:rPr>
              <a:t>할인권을 결합</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857875"/>
            <a:ext cx="1371600" cy="1714500"/>
          </a:xfrm>
          <a:prstGeom prst="rect">
            <a:avLst/>
          </a:prstGeom>
        </p:spPr>
      </p:pic>
      <p:sp xmlns:a="http://schemas.openxmlformats.org/drawingml/2006/main">
        <p:nvSpPr>
          <p:cNvPr id="29" name="case-image-caption-2"/>
          <p:cNvSpPr txBox="1"/>
          <p:nvPr/>
        </p:nvSpPr>
        <p:spPr>
          <a:xfrm>
            <a:off x="102298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u="none">
                <a:solidFill>
                  <a:srgbClr val="62666C"/>
                </a:solidFill>
                <a:latin typeface="Noto Sans KR"/>
                <a:hlinkClick xmlns:ns6="http://schemas.openxmlformats.org/officeDocument/2006/relationships" ns6:id="rId11"/>
              </a:rPr>
              <a:t>전국 · 디지털 관광주민증 홍보물</a:t>
            </a:r>
          </a:p>
          <a:p>
            <a:pPr eaLnBrk="0">
              <a:lnSpc>
                <a:spcPts val="1500"/>
              </a:lnSpc>
              <a:spcBef>
                <a:spcPts val="0"/>
              </a:spcBef>
              <a:spcAft>
                <a:spcPts val="0"/>
              </a:spcAft>
            </a:pPr>
            <a:r>
              <a:rPr sz="1200" b="0" u="none">
                <a:solidFill>
                  <a:srgbClr val="62666C"/>
                </a:solidFill>
                <a:latin typeface="Noto Sans KR"/>
                <a:hlinkClick xmlns:ns7="http://schemas.openxmlformats.org/officeDocument/2006/relationships" ns7:id="rId11"/>
              </a:rPr>
              <a:t>출처: 대한민국 정책브리핑 (2025)</a:t>
            </a:r>
          </a:p>
        </p:txBody>
      </p:sp>
      <p:sp xmlns:a="http://schemas.openxmlformats.org/drawingml/2006/main">
        <p:nvSpPr>
          <p:cNvPr id="30" name="case-source-2"/>
          <p:cNvSpPr txBox="1"/>
          <p:nvPr/>
        </p:nvSpPr>
        <p:spPr>
          <a:xfrm>
            <a:off x="102298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u="none">
                <a:solidFill>
                  <a:srgbClr val="62666C"/>
                </a:solidFill>
                <a:latin typeface="Noto Sans KR"/>
                <a:hlinkClick xmlns:ns8="http://schemas.openxmlformats.org/officeDocument/2006/relationships" ns8:id="rId12"/>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04 / 15</a:t>
            </a:r>
          </a:p>
        </p:txBody>
      </p:sp>
    </p:spTree>
    <p:extLst>
      <p:ext uri="{BB962C8B-B14F-4D97-AF65-F5344CB8AC3E}">
        <p14:creationId xmlns:p14="http://schemas.microsoft.com/office/powerpoint/2010/main" val="930694367"/>
      </p:ext>
    </p:extLst>
  </p:cSld>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3.1 사례 선정과 지역 적용</a:t>
            </a: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F50045"/>
                </a:solidFill>
                <a:latin typeface="Noto Sans KR"/>
              </a:rPr>
              <a:t>서울특별시 문화유산 집적지역 · 기존 문화유산을 활용한 야간 개방·체험 프로그램</a:t>
            </a:r>
          </a:p>
        </p:txBody>
      </p:sp>
      <p:graphicFrame>
        <p:nvGraphicFramePr>
          <p:cNvPr id="5" name="selection-matrix"/>
          <p:cNvGraphicFramePr>
            <a:graphicFrameLocks noGrp="1"/>
          </p:cNvGraphicFramePr>
          <p:nvPr/>
        </p:nvGraphicFramePr>
        <p:xfrm>
          <a:off x="1009650" y="2809875"/>
          <a:ext cx="13220700" cy="342900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F50045"/>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문화유산이 모인 거점을 중심으로 야간 개방, 해설, 공연과</a:t>
                      </a:r>
                    </a:p>
                    <a:p>
                      <a:pPr eaLnBrk="0">
                        <a:lnSpc>
                          <a:spcPct val="112000"/>
                        </a:lnSpc>
                        <a:spcBef>
                          <a:spcPts val="0"/>
                        </a:spcBef>
                        <a:spcAft>
                          <a:spcPts val="0"/>
                        </a:spcAft>
                      </a:pPr>
                      <a:r>
                        <a:rPr sz="1575" b="0">
                          <a:solidFill>
                            <a:srgbClr val="202124"/>
                          </a:solidFill>
                          <a:latin typeface="Noto Sans KR"/>
                        </a:rPr>
                        <a:t>체험프로그램을 구성하고 국비와 지방비를 결합해 운영했다.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결제·혜택·재이용 또는 예약·체류 등 실제 이용</a:t>
                      </a:r>
                    </a:p>
                    <a:p>
                      <a:pPr eaLnBrk="0">
                        <a:lnSpc>
                          <a:spcPct val="112000"/>
                        </a:lnSpc>
                        <a:spcBef>
                          <a:spcPts val="0"/>
                        </a:spcBef>
                        <a:spcAft>
                          <a:spcPts val="0"/>
                        </a:spcAft>
                      </a:pPr>
                      <a:r>
                        <a:rPr sz="1575" b="0">
                          <a:solidFill>
                            <a:srgbClr val="202124"/>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선택 지역의</a:t>
                      </a:r>
                    </a:p>
                    <a:p>
                      <a:pPr eaLnBrk="0">
                        <a:lnSpc>
                          <a:spcPct val="112000"/>
                        </a:lnSpc>
                        <a:spcBef>
                          <a:spcPts val="0"/>
                        </a:spcBef>
                        <a:spcAft>
                          <a:spcPts val="0"/>
                        </a:spcAft>
                      </a:pPr>
                      <a:r>
                        <a:rPr sz="1575" b="1">
                          <a:solidFill>
                            <a:srgbClr val="202124"/>
                          </a:solidFill>
                          <a:latin typeface="Noto Sans KR"/>
                        </a:rPr>
                        <a:t>소비·체류</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월간 순 방문자 수: 3,131,476명 / 내비게이션 목적지 검색량:</a:t>
                      </a:r>
                    </a:p>
                    <a:p>
                      <a:pPr eaLnBrk="0">
                        <a:lnSpc>
                          <a:spcPct val="112000"/>
                        </a:lnSpc>
                        <a:spcBef>
                          <a:spcPts val="0"/>
                        </a:spcBef>
                        <a:spcAft>
                          <a:spcPts val="0"/>
                        </a:spcAft>
                      </a:pPr>
                      <a:r>
                        <a:rPr sz="1575" b="0">
                          <a:solidFill>
                            <a:srgbClr val="202124"/>
                          </a:solidFill>
                          <a:latin typeface="Noto Sans KR"/>
                        </a:rPr>
                        <a:t>580,380건 / 외지인 숙박 방문 비율: 21.0%</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지역 소비·체류 지표를 보고 참여 업종과 이용</a:t>
                      </a:r>
                    </a:p>
                    <a:p>
                      <a:pPr eaLnBrk="0">
                        <a:lnSpc>
                          <a:spcPct val="112000"/>
                        </a:lnSpc>
                        <a:spcBef>
                          <a:spcPts val="0"/>
                        </a:spcBef>
                        <a:spcAft>
                          <a:spcPts val="0"/>
                        </a:spcAft>
                      </a:pPr>
                      <a:r>
                        <a:rPr sz="1575" b="0">
                          <a:solidFill>
                            <a:srgbClr val="202124"/>
                          </a:solidFill>
                          <a:latin typeface="Noto Sans KR"/>
                        </a:rPr>
                        <a:t>대상을 정합니다.</a:t>
                      </a:r>
                    </a:p>
                  </a:txBody>
                  <a:tcPr marL="95250" marR="95250" marT="66675" marB="66675" anchor="ctr">
                    <a:solidFill>
                      <a:srgbClr val="FBEFF2"/>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추가 방문 목표 348,601명 × 1%</a:t>
                      </a:r>
                    </a:p>
                    <a:p>
                      <a:pPr eaLnBrk="0">
                        <a:lnSpc>
                          <a:spcPct val="112000"/>
                        </a:lnSpc>
                        <a:spcBef>
                          <a:spcPts val="0"/>
                        </a:spcBef>
                        <a:spcAft>
                          <a:spcPts val="0"/>
                        </a:spcAft>
                      </a:pPr>
                      <a:r>
                        <a:rPr sz="1575" b="0">
                          <a:solidFill>
                            <a:srgbClr val="202124"/>
                          </a:solidFill>
                          <a:latin typeface="Noto Sans KR"/>
                        </a:rPr>
                        <a:t>시범 참여 3,487건(올림·계획 가정)</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6477000"/>
            <a:ext cx="13220700" cy="14763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사례 → 우리 지역의 제안</a:t>
            </a:r>
          </a:p>
        </p:txBody>
      </p:sp>
      <p:sp>
        <p:nvSpPr>
          <p:cNvPr id="8" name="adaptation-body"/>
          <p:cNvSpPr txBox="1"/>
          <p:nvPr/>
        </p:nvSpPr>
        <p:spPr>
          <a:xfrm>
            <a:off x="4552950" y="6638925"/>
            <a:ext cx="9163050" cy="11811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제주시 내 박물관, 공연장, 문화유산 등 기존 시설을 활용하여 야간 개방 및 체험 프로그램을 확대 운영</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62666C"/>
                </a:solidFill>
                <a:latin typeface="Noto Sans KR"/>
                <a:hlinkClick r:id="rId2"/>
              </a:rPr>
              <a:t>문서 기반 함수 연결 · 2024년 문화재야행 사업 예산 확정자료</a:t>
            </a:r>
          </a:p>
        </p:txBody>
      </p:sp>
      <p:sp>
        <p:nvSpPr>
          <p:cNvPr id="1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08 / 15</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3.2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F5004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F50045"/>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62666C"/>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F5004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F50045"/>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62666C"/>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F5004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F50045"/>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2026-11 ~ 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62666C"/>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F5004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F50045"/>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62666C"/>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09 / 15</a:t>
            </a:r>
          </a:p>
        </p:txBody>
      </p:sp>
    </p:spTree>
    <p:extLst>
      <p:ext uri="{BB962C8B-B14F-4D97-AF65-F5344CB8AC3E}">
        <p14:creationId xmlns:p14="http://schemas.microsoft.com/office/powerpoint/2010/main" val="380383987"/>
      </p:ext>
    </p:extLst>
  </p:cSld>
</p:sld>
</file>

<file path=ppt/slides/slide8.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3.3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F50045"/>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F50045"/>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3,675,313명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60,251명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3,594,310명</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3,714,120명</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1">
                          <a:solidFill>
                            <a:srgbClr val="202124"/>
                          </a:solidFill>
                          <a:latin typeface="Noto Sans KR"/>
                        </a:rPr>
                        <a:t>↑ 119,810명 · 3.33%</a:t>
                      </a:r>
                    </a:p>
                  </a:txBody>
                  <a:tcPr marL="95250" marR="95250" marT="66675" marB="66675" anchor="ctr">
                    <a:solidFill>
                      <a:srgbClr val="FBEFF2"/>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3,370,793명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3,539,333명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168,540명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10,580,165명</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10,928,766명</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1">
                          <a:solidFill>
                            <a:srgbClr val="202124"/>
                          </a:solidFill>
                          <a:latin typeface="Noto Sans KR"/>
                        </a:rPr>
                        <a:t>↑ 348,601명 · 3.29%</a:t>
                      </a:r>
                    </a:p>
                  </a:txBody>
                  <a:tcPr marL="95250" marR="95250" marT="66675" marB="66675" anchor="ctr">
                    <a:solidFill>
                      <a:srgbClr val="FBEFF2"/>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50045"/>
                </a:solidFill>
                <a:latin typeface="Noto Sans KR"/>
              </a:rPr>
              <a:t>3개월 목표 추가 규모 ↑ 348,601명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F50045"/>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F50045"/>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1,529.75억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25.08억 원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1,450.85억 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1,499.21억 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1">
                          <a:solidFill>
                            <a:srgbClr val="202124"/>
                          </a:solidFill>
                          <a:latin typeface="Noto Sans KR"/>
                        </a:rPr>
                        <a:t>↑ 48.36억 원 · 3.33%</a:t>
                      </a:r>
                    </a:p>
                  </a:txBody>
                  <a:tcPr marL="95250" marR="95250" marT="66675" marB="66675" anchor="ctr">
                    <a:solidFill>
                      <a:srgbClr val="FBEFF2"/>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1,493.67억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1,568.35억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74.68억 원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4,449.19억 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4,597.31억 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1">
                          <a:solidFill>
                            <a:srgbClr val="202124"/>
                          </a:solidFill>
                          <a:latin typeface="Noto Sans KR"/>
                        </a:rPr>
                        <a:t>↑ 148.12억 원 · 3.33%</a:t>
                      </a:r>
                    </a:p>
                  </a:txBody>
                  <a:tcPr marL="95250" marR="95250" marT="66675" marB="66675" anchor="ctr">
                    <a:solidFill>
                      <a:srgbClr val="FBEFF2"/>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50045"/>
                </a:solidFill>
                <a:latin typeface="Noto Sans KR"/>
              </a:rPr>
              <a:t>3개월 목표 추가 규모 ↑ 148.12억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월별 소비/방문 비율 = ML 소비액 ÷ ML 방문 수 | 26.10 41,622원 · 26.11 40,365원 · 26.12 44,312원</a:t>
            </a:r>
          </a:p>
          <a:p>
            <a:pPr eaLnBrk="0">
              <a:lnSpc>
                <a:spcPts val="1687"/>
              </a:lnSpc>
              <a:spcBef>
                <a:spcPts val="0"/>
              </a:spcBef>
              <a:spcAft>
                <a:spcPts val="0"/>
              </a:spcAft>
            </a:pPr>
            <a:r>
              <a:rPr sz="1350" b="0">
                <a:solidFill>
                  <a:srgbClr val="62666C"/>
                </a:solidFill>
                <a:latin typeface="Noto Sans KR"/>
              </a:rPr>
              <a:t>목표 소비액 = ML 소비액 + (목표 방문 수 − ML 방문 수) × 해당 월 소비/방문 비율</a:t>
            </a:r>
          </a:p>
          <a:p>
            <a:pPr eaLnBrk="0">
              <a:lnSpc>
                <a:spcPts val="1687"/>
              </a:lnSpc>
              <a:spcBef>
                <a:spcPts val="0"/>
              </a:spcBef>
              <a:spcAft>
                <a:spcPts val="0"/>
              </a:spcAft>
            </a:pPr>
            <a:r>
              <a:rPr sz="1350" b="0">
                <a:solidFill>
                  <a:srgbClr val="62666C"/>
                </a:solidFill>
                <a:latin typeface="Noto Sans KR"/>
              </a:rPr>
              <a:t>월별 증가율은 방문·소비가 같습니다. 합계 증가율 = (목표 합계 ÷ ML 합계 − 1) × 100; 월별 가중치에 따라 달라집니다.</a:t>
            </a:r>
          </a:p>
          <a:p>
            <a:pPr eaLnBrk="0">
              <a:lnSpc>
                <a:spcPts val="1687"/>
              </a:lnSpc>
              <a:spcBef>
                <a:spcPts val="0"/>
              </a:spcBef>
              <a:spcAft>
                <a:spcPts val="0"/>
              </a:spcAft>
            </a:pPr>
            <a:r>
              <a:rPr sz="1350" b="0">
                <a:solidFill>
                  <a:srgbClr val="62666C"/>
                </a:solidFill>
                <a:latin typeface="Noto Sans KR"/>
              </a:rPr>
              <a:t>비율은 기획용 가정이며 실제 객단가·보장 효과가 아닙니다. 방문 합계는 월 간 중복을 포함합니다.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10 / 15</a:t>
            </a:r>
          </a:p>
        </p:txBody>
      </p:sp>
    </p:spTree>
    <p:extLst>
      <p:ext uri="{BB962C8B-B14F-4D97-AF65-F5344CB8AC3E}">
        <p14:creationId xmlns:p14="http://schemas.microsoft.com/office/powerpoint/2010/main" val="553742078"/>
      </p:ext>
    </p:extLst>
  </p:cSld>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5" name="result-evidence-card"/>
          <p:cNvSpPr/>
          <p:nvPr/>
        </p:nvSpPr>
        <p:spPr>
          <a:xfrm>
            <a:off x="6905625" y="3143250"/>
            <a:ext cx="7524750" cy="43624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1.2 사례 실적</a:t>
            </a:r>
          </a:p>
        </p:txBody>
      </p:sp>
      <p:sp>
        <p:nvSpPr>
          <p:cNvPr id="4" name="result-title"/>
          <p:cNvSpPr txBox="1"/>
          <p:nvPr/>
        </p:nvSpPr>
        <p:spPr>
          <a:xfrm>
            <a:off x="1009650" y="2009775"/>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서울 중구 · 정동야행</a:t>
            </a:r>
          </a:p>
        </p:txBody>
      </p:sp>
      <p:sp>
        <p:nvSpPr>
          <p:cNvPr id="5" name="result-scope"/>
          <p:cNvSpPr txBox="1"/>
          <p:nvPr/>
        </p:nvSpPr>
        <p:spPr>
          <a:xfrm>
            <a:off x="1009650" y="2638425"/>
            <a:ext cx="13220700" cy="40005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선정한 서울 문화재야행 사업에 포함된 정동야행</a:t>
            </a:r>
          </a:p>
        </p:txBody>
      </p:sp>
      <p:sp>
        <p:nvSpPr>
          <p:cNvPr id="6" name="result-photo-panel"/>
          <p:cNvSpPr/>
          <p:nvPr/>
        </p:nvSpPr>
        <p:spPr>
          <a:xfrm>
            <a:off x="1009650" y="33337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jeongdong_2024.jpg"/>
          <p:cNvPicPr>
            <a:picLocks noChangeAspect="1"/>
          </p:cNvPicPr>
          <p:nvPr/>
        </p:nvPicPr>
        <p:blipFill>
          <a:blip r:embed="rId3"/>
          <a:stretch>
            <a:fillRect/>
          </a:stretch>
        </p:blipFill>
        <p:spPr>
          <a:xfrm>
            <a:off x="1265249" y="3333750"/>
            <a:ext cx="5070451" cy="3371850"/>
          </a:xfrm>
          <a:prstGeom prst="rect">
            <a:avLst/>
          </a:prstGeom>
        </p:spPr>
      </p:pic>
      <p:sp>
        <p:nvSpPr>
          <p:cNvPr id="8" name="result-photo-source"/>
          <p:cNvSpPr txBox="1"/>
          <p:nvPr/>
        </p:nvSpPr>
        <p:spPr>
          <a:xfrm>
            <a:off x="1009650" y="6810375"/>
            <a:ext cx="5581650" cy="6000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u="none">
                <a:solidFill>
                  <a:srgbClr val="62666C"/>
                </a:solidFill>
                <a:latin typeface="Noto Sans KR"/>
                <a:hlinkClick r:id="rId4"/>
              </a:rPr>
              <a:t>서울 중구 정동 · 정동야행 행사 사진</a:t>
            </a:r>
          </a:p>
          <a:p>
            <a:pPr eaLnBrk="0">
              <a:lnSpc>
                <a:spcPts val="1781"/>
              </a:lnSpc>
              <a:spcBef>
                <a:spcPts val="0"/>
              </a:spcBef>
              <a:spcAft>
                <a:spcPts val="0"/>
              </a:spcAft>
            </a:pPr>
            <a:r>
              <a:rPr sz="1425" b="0" u="none">
                <a:solidFill>
                  <a:srgbClr val="62666C"/>
                </a:solidFill>
                <a:latin typeface="Noto Sans KR"/>
                <a:hlinkClick r:id="rId4"/>
              </a:rPr>
              <a:t>출처: 서울문화포털 · 2024 정동야행</a:t>
            </a:r>
          </a:p>
        </p:txBody>
      </p:sp>
      <p:sp>
        <p:nvSpPr>
          <p:cNvPr id="9" name="result-metric"/>
          <p:cNvSpPr txBox="1"/>
          <p:nvPr/>
        </p:nvSpPr>
        <p:spPr>
          <a:xfrm>
            <a:off x="7172325" y="3238500"/>
            <a:ext cx="705802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행사 방문객</a:t>
            </a:r>
          </a:p>
        </p:txBody>
      </p:sp>
      <p:sp>
        <p:nvSpPr>
          <p:cNvPr id="10" name="result-year-0"/>
          <p:cNvSpPr txBox="1"/>
          <p:nvPr/>
        </p:nvSpPr>
        <p:spPr>
          <a:xfrm>
            <a:off x="7172325" y="3733800"/>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2023년 · 10월 13–14일</a:t>
            </a:r>
          </a:p>
        </p:txBody>
      </p:sp>
      <p:sp>
        <p:nvSpPr>
          <p:cNvPr id="11" name="result-bar-0"/>
          <p:cNvSpPr/>
          <p:nvPr/>
        </p:nvSpPr>
        <p:spPr>
          <a:xfrm>
            <a:off x="7172325" y="4191000"/>
            <a:ext cx="3516923" cy="228600"/>
          </a:xfrm>
          <a:prstGeom prst="rect">
            <a:avLst/>
          </a:prstGeom>
          <a:solidFill>
            <a:srgbClr val="809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ult-count-0"/>
          <p:cNvSpPr txBox="1"/>
          <p:nvPr/>
        </p:nvSpPr>
        <p:spPr>
          <a:xfrm>
            <a:off x="11906250" y="4038600"/>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10.0만 명</a:t>
            </a:r>
          </a:p>
        </p:txBody>
      </p:sp>
      <p:sp>
        <p:nvSpPr>
          <p:cNvPr id="13" name="result-year-1"/>
          <p:cNvSpPr txBox="1"/>
          <p:nvPr/>
        </p:nvSpPr>
        <p:spPr>
          <a:xfrm>
            <a:off x="7172325" y="4676775"/>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2024년 · 5월 24–25일</a:t>
            </a:r>
          </a:p>
        </p:txBody>
      </p:sp>
      <p:sp>
        <p:nvSpPr>
          <p:cNvPr id="14" name="result-bar-1"/>
          <p:cNvSpPr/>
          <p:nvPr/>
        </p:nvSpPr>
        <p:spPr>
          <a:xfrm>
            <a:off x="7172325" y="5133975"/>
            <a:ext cx="4572000" cy="228600"/>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sult-count-1"/>
          <p:cNvSpPr txBox="1"/>
          <p:nvPr/>
        </p:nvSpPr>
        <p:spPr>
          <a:xfrm>
            <a:off x="11906250" y="4981575"/>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13.0만 명</a:t>
            </a:r>
          </a:p>
        </p:txBody>
      </p:sp>
      <p:sp>
        <p:nvSpPr>
          <p:cNvPr id="16" name="result-change-band"/>
          <p:cNvSpPr/>
          <p:nvPr/>
        </p:nvSpPr>
        <p:spPr>
          <a:xfrm>
            <a:off x="7172325" y="5857875"/>
            <a:ext cx="7058025" cy="1057275"/>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ult-change"/>
          <p:cNvSpPr txBox="1"/>
          <p:nvPr/>
        </p:nvSpPr>
        <p:spPr>
          <a:xfrm>
            <a:off x="7381875" y="6000750"/>
            <a:ext cx="6619875" cy="55245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50045"/>
                </a:solidFill>
                <a:latin typeface="Noto Sans KR"/>
              </a:rPr>
              <a:t>↑ 약 3.0만 명 | +30%</a:t>
            </a:r>
          </a:p>
        </p:txBody>
      </p:sp>
      <p:sp>
        <p:nvSpPr>
          <p:cNvPr id="18" name="result-change-formula"/>
          <p:cNvSpPr txBox="1"/>
          <p:nvPr/>
        </p:nvSpPr>
        <p:spPr>
          <a:xfrm>
            <a:off x="7381875" y="6543675"/>
            <a:ext cx="6619875"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(13만 − 10만) ÷ 10만 × 100</a:t>
            </a:r>
          </a:p>
        </p:txBody>
      </p:sp>
      <p:sp>
        <p:nvSpPr>
          <p:cNvPr id="19" name="result-data-labels"/>
          <p:cNvSpPr txBox="1"/>
          <p:nvPr/>
        </p:nvSpPr>
        <p:spPr>
          <a:xfrm>
            <a:off x="7172325" y="7038975"/>
            <a:ext cx="7058025" cy="4857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중구청 발표 · 약 10만 명 / 중구청 발표 · 13만 명</a:t>
            </a:r>
          </a:p>
        </p:txBody>
      </p:sp>
      <p:sp>
        <p:nvSpPr>
          <p:cNvPr id="20" name="result-action"/>
          <p:cNvSpPr txBox="1"/>
          <p:nvPr/>
        </p:nvSpPr>
        <p:spPr>
          <a:xfrm>
            <a:off x="1009650" y="76104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50045"/>
                </a:solidFill>
                <a:latin typeface="Noto Sans KR"/>
              </a:rPr>
              <a:t>역사·문화시설을 밤에도 개방하고, 공연과 체험을 함께 운영</a:t>
            </a:r>
          </a:p>
        </p:txBody>
      </p:sp>
      <p:sp>
        <p:nvSpPr>
          <p:cNvPr id="21" name="result-interpretation"/>
          <p:cNvSpPr txBox="1"/>
          <p:nvPr/>
        </p:nvSpPr>
        <p:spPr>
          <a:xfrm>
            <a:off x="1009650" y="81057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두 해의 행사 방문객 비교입니다. 개최 계절이 달라 사업 단독 효과로 해석하지 않습니다.</a:t>
            </a:r>
          </a:p>
        </p:txBody>
      </p:sp>
      <p:sp>
        <p:nvSpPr>
          <p:cNvPr id="2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p:nvSpPr>
          <p:cNvPr id="24"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05 / 15</a:t>
            </a:r>
          </a:p>
        </p:txBody>
      </p:sp>
    </p:spTree>
  </p:cSld>
  <p:clrMapOvr>
    <a:masterClrMapping/>
  </p:clrMapOvr>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4.1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7,906만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참여 혜택</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34,870,000원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3,487건 × 10,000원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21,000,000원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max(월 20인일 × 3, 3,487건 ÷ 25건/인일 올림) = 140인일 × 150,000원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신청·증빙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시스템 설정 1식 × 800만원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콘텐츠·안내물 1식 × 500만원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자료 정리·평가 1식 × 300만원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7,187,000원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7,187만원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사업기간 추가 방문 목표 348,601명 × 시범 담당 비중 1% → 3,487건(올림). 1%는 직접 운영할 참여량 배분 가정이며 전환율 예측이 아닙니다.</a:t>
            </a:r>
          </a:p>
          <a:p>
            <a:pPr eaLnBrk="0">
              <a:lnSpc>
                <a:spcPts val="1781"/>
              </a:lnSpc>
              <a:spcBef>
                <a:spcPts val="0"/>
              </a:spcBef>
              <a:spcAft>
                <a:spcPts val="0"/>
              </a:spcAft>
            </a:pPr>
            <a:r>
              <a:rPr sz="1425" b="0">
                <a:solidFill>
                  <a:srgbClr val="62666C"/>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11 / 15</a:t>
            </a:r>
          </a:p>
        </p:txBody>
      </p:sp>
    </p:spTree>
    <p:extLst>
      <p:ext uri="{BB962C8B-B14F-4D97-AF65-F5344CB8AC3E}">
        <p14:creationId xmlns:p14="http://schemas.microsoft.com/office/powerpoint/2010/main" val="1823133345"/>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6.1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359"/>
              </a:lnSpc>
              <a:spcBef>
                <a:spcPts val="0"/>
              </a:spcBef>
              <a:spcAft>
                <a:spcPts val="0"/>
              </a:spcAft>
            </a:pPr>
            <a:r>
              <a:rPr sz="1087" b="0" u="none">
                <a:solidFill>
                  <a:srgbClr val="62666C"/>
                </a:solidFill>
                <a:latin typeface="Noto Sans KR"/>
                <a:hlinkClick xmlns:ns10="http://schemas.openxmlformats.org/officeDocument/2006/relationships" ns10:id="rId2"/>
              </a:rPr>
              <a:t>제주특별자치도_제주시/방문자/2026_01_06.zip 2025-07 ~ 2026-06</a:t>
            </a:r>
          </a:p>
        </p:txBody>
      </p:sp>
      <p:sp xmlns:a="http://schemas.openxmlformats.org/drawingml/2006/main">
        <p:nvSpPr>
          <p:cNvPr id="13" name="reference-8"/>
          <p:cNvSpPr txBox="1"/>
          <p:nvPr/>
        </p:nvSpPr>
        <p:spPr>
          <a:xfrm>
            <a:off x="1009650" y="56078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312"/>
              </a:lnSpc>
              <a:spcBef>
                <a:spcPts val="0"/>
              </a:spcBef>
              <a:spcAft>
                <a:spcPts val="0"/>
              </a:spcAft>
            </a:pPr>
            <a:r>
              <a:rPr sz="1050" b="0" u="none">
                <a:solidFill>
                  <a:srgbClr val="62666C"/>
                </a:solidFill>
                <a:latin typeface="Noto Sans KR"/>
                <a:hlinkClick xmlns:ns12="http://schemas.openxmlformats.org/officeDocument/2006/relationships" ns12:id="rId2"/>
              </a:rPr>
              <a:t>제주특별자치도_제주시/숙박_체류시간/2026_01_06.zip</a:t>
            </a:r>
          </a:p>
          <a:p>
            <a:pPr eaLnBrk="0">
              <a:lnSpc>
                <a:spcPts val="1312"/>
              </a:lnSpc>
              <a:spcBef>
                <a:spcPts val="0"/>
              </a:spcBef>
              <a:spcAft>
                <a:spcPts val="0"/>
              </a:spcAft>
            </a:pPr>
            <a:r>
              <a:rPr sz="1050" b="0" u="none">
                <a:solidFill>
                  <a:srgbClr val="62666C"/>
                </a:solidFill>
                <a:latin typeface="Noto Sans KR"/>
                <a:hlinkClick xmlns:ns13="http://schemas.openxmlformats.org/officeDocument/2006/relationships" ns13:id="rId2"/>
              </a:rPr>
              <a:t>2025-07 ~ 2026-06</a:t>
            </a:r>
          </a:p>
        </p:txBody>
      </p:sp>
      <p:sp xmlns:a="http://schemas.openxmlformats.org/drawingml/2006/main">
        <p:nvSpPr>
          <p:cNvPr id="14" name="reference-9"/>
          <p:cNvSpPr txBox="1"/>
          <p:nvPr/>
        </p:nvSpPr>
        <p:spPr>
          <a:xfrm>
            <a:off x="1009650" y="62198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4="http://schemas.openxmlformats.org/officeDocument/2006/relationships" ns14:id="rId2"/>
              </a:rPr>
              <a:t>관측 데이터 D10 한국관광 데이터랩 공식 다운로드 ·</a:t>
            </a:r>
          </a:p>
          <a:p>
            <a:pPr eaLnBrk="0">
              <a:lnSpc>
                <a:spcPts val="1312"/>
              </a:lnSpc>
              <a:spcBef>
                <a:spcPts val="0"/>
              </a:spcBef>
              <a:spcAft>
                <a:spcPts val="0"/>
              </a:spcAft>
            </a:pPr>
            <a:r>
              <a:rPr sz="1050" b="0" u="none">
                <a:solidFill>
                  <a:srgbClr val="62666C"/>
                </a:solidFill>
                <a:latin typeface="Noto Sans KR"/>
                <a:hlinkClick xmlns:ns15="http://schemas.openxmlformats.org/officeDocument/2006/relationships" ns15:id="rId2"/>
              </a:rPr>
              <a:t>제주특별자치도_제주시/숙박_체류시간/2025_01_12.zip</a:t>
            </a:r>
          </a:p>
          <a:p>
            <a:pPr eaLnBrk="0">
              <a:lnSpc>
                <a:spcPts val="1312"/>
              </a:lnSpc>
              <a:spcBef>
                <a:spcPts val="0"/>
              </a:spcBef>
              <a:spcAft>
                <a:spcPts val="0"/>
              </a:spcAft>
            </a:pPr>
            <a:r>
              <a:rPr sz="1050" b="0" u="none">
                <a:solidFill>
                  <a:srgbClr val="62666C"/>
                </a:solidFill>
                <a:latin typeface="Noto Sans KR"/>
                <a:hlinkClick xmlns:ns16="http://schemas.openxmlformats.org/officeDocument/2006/relationships" ns16:id="rId2"/>
              </a:rPr>
              <a:t>2025-07 ~ 2026-06</a:t>
            </a:r>
          </a:p>
        </p:txBody>
      </p:sp>
      <p:sp xmlns:a="http://schemas.openxmlformats.org/drawingml/2006/main">
        <p:nvSpPr>
          <p:cNvPr id="15" name="reference-10"/>
          <p:cNvSpPr txBox="1"/>
          <p:nvPr/>
        </p:nvSpPr>
        <p:spPr>
          <a:xfrm>
            <a:off x="1009650" y="68318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7="http://schemas.openxmlformats.org/officeDocument/2006/relationships" ns17:id="rId2"/>
              </a:rPr>
              <a:t>관측 데이터 D11 한국관광 데이터랩 공식 다운로드 ·</a:t>
            </a:r>
          </a:p>
          <a:p>
            <a:pPr eaLnBrk="0">
              <a:lnSpc>
                <a:spcPts val="1312"/>
              </a:lnSpc>
              <a:spcBef>
                <a:spcPts val="0"/>
              </a:spcBef>
              <a:spcAft>
                <a:spcPts val="0"/>
              </a:spcAft>
            </a:pPr>
            <a:r>
              <a:rPr sz="1050" b="0" u="none">
                <a:solidFill>
                  <a:srgbClr val="62666C"/>
                </a:solidFill>
                <a:latin typeface="Noto Sans KR"/>
                <a:hlinkClick xmlns:ns18="http://schemas.openxmlformats.org/officeDocument/2006/relationships" ns18:id="rId2"/>
              </a:rPr>
              <a:t>제주특별자치도_제주시/관광소비/2026_01_06.zip</a:t>
            </a:r>
          </a:p>
          <a:p>
            <a:pPr eaLnBrk="0">
              <a:lnSpc>
                <a:spcPts val="1312"/>
              </a:lnSpc>
              <a:spcBef>
                <a:spcPts val="0"/>
              </a:spcBef>
              <a:spcAft>
                <a:spcPts val="0"/>
              </a:spcAft>
            </a:pPr>
            <a:r>
              <a:rPr sz="1050" b="0" u="none">
                <a:solidFill>
                  <a:srgbClr val="62666C"/>
                </a:solidFill>
                <a:latin typeface="Noto Sans KR"/>
                <a:hlinkClick xmlns:ns19="http://schemas.openxmlformats.org/officeDocument/2006/relationships" ns19:id="rId2"/>
              </a:rPr>
              <a:t>2025-07 ~ 2026-06</a:t>
            </a:r>
          </a:p>
        </p:txBody>
      </p:sp>
      <p:sp xmlns:a="http://schemas.openxmlformats.org/drawingml/2006/main">
        <p:nvSpPr>
          <p:cNvPr id="16" name="reference-11"/>
          <p:cNvSpPr txBox="1"/>
          <p:nvPr/>
        </p:nvSpPr>
        <p:spPr>
          <a:xfrm>
            <a:off x="1009650" y="744378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관측 데이터 D12 한국관광 데이터랩 공식 다운로드 ·</a:t>
            </a:r>
          </a:p>
          <a:p>
            <a:pPr eaLnBrk="0">
              <a:lnSpc>
                <a:spcPts val="1359"/>
              </a:lnSpc>
              <a:spcBef>
                <a:spcPts val="0"/>
              </a:spcBef>
              <a:spcAft>
                <a:spcPts val="0"/>
              </a:spcAft>
            </a:pPr>
            <a:r>
              <a:rPr sz="1087" b="0" u="none">
                <a:solidFill>
                  <a:srgbClr val="62666C"/>
                </a:solidFill>
                <a:latin typeface="Noto Sans KR"/>
                <a:hlinkClick xmlns:ns21="http://schemas.openxmlformats.org/officeDocument/2006/relationships" ns21:id="rId2"/>
              </a:rPr>
              <a:t>제주특별자치도_제주시/방문자/2025_01_12.zip 2025-07 ~ 2026-06</a:t>
            </a:r>
          </a:p>
        </p:txBody>
      </p:sp>
      <p:sp xmlns:a="http://schemas.openxmlformats.org/drawingml/2006/main">
        <p:nvSpPr>
          <p:cNvPr id="17" name="reference-12"/>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관측 데이터 D13 한국관광 데이터랩 공식 다운로드 ·</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제주특별자치도_제주시/관광소비/2025_01_12.zip</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2025-07 ~ 2026-06</a:t>
            </a:r>
          </a:p>
        </p:txBody>
      </p:sp>
      <p:sp xmlns:a="http://schemas.openxmlformats.org/drawingml/2006/main">
        <p:nvSpPr>
          <p:cNvPr id="18" name="reference-13"/>
          <p:cNvSpPr txBox="1"/>
          <p:nvPr/>
        </p:nvSpPr>
        <p:spPr>
          <a:xfrm>
            <a:off x="548640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이동통신/내국인/지역별</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p 2026-01 ~ 2026-06</a:t>
            </a:r>
          </a:p>
        </p:txBody>
      </p:sp>
      <p:sp xmlns:a="http://schemas.openxmlformats.org/drawingml/2006/main">
        <p:nvSpPr>
          <p:cNvPr id="19" name="reference-14"/>
          <p:cNvSpPr txBox="1"/>
          <p:nvPr/>
        </p:nvSpPr>
        <p:spPr>
          <a:xfrm>
            <a:off x="5486400" y="38790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다운로드.zip 2026-01 ~ 2026-06</a:t>
            </a:r>
          </a:p>
        </p:txBody>
      </p:sp>
      <p:sp xmlns:a="http://schemas.openxmlformats.org/drawingml/2006/main">
        <p:nvSpPr>
          <p:cNvPr id="20" name="reference-15"/>
          <p:cNvSpPr txBox="1"/>
          <p:nvPr/>
        </p:nvSpPr>
        <p:spPr>
          <a:xfrm>
            <a:off x="5486400" y="449103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신용카드/내국인/지역별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1" name="reference-16"/>
          <p:cNvSpPr txBox="1"/>
          <p:nvPr/>
        </p:nvSpPr>
        <p:spPr>
          <a:xfrm>
            <a:off x="5486400" y="528161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신용카드/외국인/지역별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zip 2026-01 ~ 2026-06</a:t>
            </a:r>
          </a:p>
        </p:txBody>
      </p:sp>
      <p:sp xmlns:a="http://schemas.openxmlformats.org/drawingml/2006/main">
        <p:nvSpPr>
          <p:cNvPr id="22" name="reference-17"/>
          <p:cNvSpPr txBox="1"/>
          <p:nvPr/>
        </p:nvSpPr>
        <p:spPr>
          <a:xfrm>
            <a:off x="5486400" y="607218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네비게이션/지역별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3" name="reference-18"/>
          <p:cNvSpPr txBox="1"/>
          <p:nvPr/>
        </p:nvSpPr>
        <p:spPr>
          <a:xfrm>
            <a:off x="5486400" y="686276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이동통신/내국인/지역별</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p 2026-01 ~ 2026-06</a:t>
            </a:r>
          </a:p>
        </p:txBody>
      </p:sp>
      <p:sp xmlns:a="http://schemas.openxmlformats.org/drawingml/2006/main">
        <p:nvSpPr>
          <p:cNvPr id="24" name="reference-19"/>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다운로드.zip 2026-01 ~ 2026-06</a:t>
            </a:r>
          </a:p>
        </p:txBody>
      </p:sp>
      <p:sp xmlns:a="http://schemas.openxmlformats.org/drawingml/2006/main">
        <p:nvSpPr>
          <p:cNvPr id="25" name="reference-20"/>
          <p:cNvSpPr txBox="1"/>
          <p:nvPr/>
        </p:nvSpPr>
        <p:spPr>
          <a:xfrm>
            <a:off x="996315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신용카드/내국인/지역별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6" name="reference-21"/>
          <p:cNvSpPr txBox="1"/>
          <p:nvPr/>
        </p:nvSpPr>
        <p:spPr>
          <a:xfrm>
            <a:off x="996315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신용카드/외국인/지역별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zip 2026-01 ~ 2026-06</a:t>
            </a:r>
          </a:p>
        </p:txBody>
      </p:sp>
      <p:sp xmlns:a="http://schemas.openxmlformats.org/drawingml/2006/main">
        <p:nvSpPr>
          <p:cNvPr id="27" name="reference-22"/>
          <p:cNvSpPr txBox="1"/>
          <p:nvPr/>
        </p:nvSpPr>
        <p:spPr>
          <a:xfrm>
            <a:off x="996315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네비게이션/지역별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8" name="reference-23"/>
          <p:cNvSpPr txBox="1"/>
          <p:nvPr/>
        </p:nvSpPr>
        <p:spPr>
          <a:xfrm>
            <a:off x="996315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이동통신/내국인/지역별</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6="http://schemas.openxmlformats.org/officeDocument/2006/relationships" ns66:id="rId2"/>
              </a:rPr>
              <a:t>p 2026-01 ~ 2026-06</a:t>
            </a:r>
          </a:p>
        </p:txBody>
      </p:sp>
      <p:sp xmlns:a="http://schemas.openxmlformats.org/drawingml/2006/main">
        <p:nvSpPr>
          <p:cNvPr id="29" name="reference-24"/>
          <p:cNvSpPr txBox="1"/>
          <p:nvPr/>
        </p:nvSpPr>
        <p:spPr>
          <a:xfrm>
            <a:off x="9963150" y="62507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7="http://schemas.openxmlformats.org/officeDocument/2006/relationships" ns67: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8="http://schemas.openxmlformats.org/officeDocument/2006/relationships" ns68: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9="http://schemas.openxmlformats.org/officeDocument/2006/relationships" ns69:id="rId2"/>
              </a:rPr>
              <a:t>다운로드.zip 2026-01 ~ 2026-06</a:t>
            </a:r>
          </a:p>
        </p:txBody>
      </p:sp>
      <p:sp xmlns:a="http://schemas.openxmlformats.org/drawingml/2006/main">
        <p:nvSpPr>
          <p:cNvPr id="30" name="reference-25"/>
          <p:cNvSpPr txBox="1"/>
          <p:nvPr/>
        </p:nvSpPr>
        <p:spPr>
          <a:xfrm>
            <a:off x="9963150" y="6862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유입유출 2025-07 ~ 2026-06</a:t>
            </a:r>
          </a:p>
        </p:txBody>
      </p:sp>
      <p:sp xmlns:a="http://schemas.openxmlformats.org/drawingml/2006/main">
        <p:nvSpPr>
          <p:cNvPr id="31" name="reference-26"/>
          <p:cNvSpPr txBox="1"/>
          <p:nvPr/>
        </p:nvSpPr>
        <p:spPr>
          <a:xfrm>
            <a:off x="9963150" y="72961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2="http://schemas.openxmlformats.org/officeDocument/2006/relationships" ns72: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3="http://schemas.openxmlformats.org/officeDocument/2006/relationships" ns73:id="rId2"/>
              </a:rPr>
              <a:t>인기관광지 2025-07 ~ 2026-06</a:t>
            </a:r>
          </a:p>
        </p:txBody>
      </p:sp>
      <p:sp xmlns:a="http://schemas.openxmlformats.org/drawingml/2006/main">
        <p:nvSpPr>
          <p:cNvPr id="3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xmlns:a="http://schemas.openxmlformats.org/drawingml/2006/main">
        <p:nvSpPr>
          <p:cNvPr id="34"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13 / 15</a:t>
            </a:r>
          </a:p>
        </p:txBody>
      </p:sp>
    </p:spTree>
    <p:extLst>
      <p:ext uri="{BB962C8B-B14F-4D97-AF65-F5344CB8AC3E}">
        <p14:creationId xmlns:p14="http://schemas.microsoft.com/office/powerpoint/2010/main" val="930694367"/>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6.2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r:id="rId2"/>
              </a:rPr>
              <a:t>지역집중률 2025-07 ~ 2026-06</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3,370,793명</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1,493.67억 원</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3.03일</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22%</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2,289분</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전년동월 계절</a:t>
            </a:r>
          </a:p>
          <a:p>
            <a:pPr eaLnBrk="0">
              <a:lnSpc>
                <a:spcPts val="1265"/>
              </a:lnSpc>
              <a:spcBef>
                <a:spcPts val="0"/>
              </a:spcBef>
              <a:spcAft>
                <a:spcPts val="0"/>
              </a:spcAft>
            </a:pPr>
            <a:r>
              <a:rPr sz="1012" b="0">
                <a:solidFill>
                  <a:srgbClr val="F50045"/>
                </a:solidFill>
                <a:latin typeface="Noto Sans KR"/>
              </a:rPr>
              <a:t>기준선 최종 월 556,973건</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75,858건</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3"/>
              </a:rPr>
              <a:t>활성화 방안 · PDF 44쪽 외 7쪽 (8개 청크) datalab.visitkorea.or.kr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D51 2024년 문화재야행 사업 예산</a:t>
            </a:r>
          </a:p>
          <a:p>
            <a:pPr eaLnBrk="0">
              <a:lnSpc>
                <a:spcPts val="1265"/>
              </a:lnSpc>
              <a:spcBef>
                <a:spcPts val="0"/>
              </a:spcBef>
              <a:spcAft>
                <a:spcPts val="0"/>
              </a:spcAft>
            </a:pPr>
            <a:r>
              <a:rPr sz="1012" b="0" u="none">
                <a:solidFill>
                  <a:srgbClr val="62666C"/>
                </a:solidFill>
                <a:latin typeface="Noto Sans KR"/>
                <a:hlinkClick r:id="rId4"/>
              </a:rPr>
              <a:t>확정자료 culture.seoul.go.kr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D52 강진 반값여행 지역경제 효과</a:t>
            </a:r>
          </a:p>
          <a:p>
            <a:pPr eaLnBrk="0">
              <a:lnSpc>
                <a:spcPts val="1265"/>
              </a:lnSpc>
              <a:spcBef>
                <a:spcPts val="0"/>
              </a:spcBef>
              <a:spcAft>
                <a:spcPts val="0"/>
              </a:spcAft>
            </a:pPr>
            <a:r>
              <a:rPr sz="1012" b="0" u="none">
                <a:solidFill>
                  <a:srgbClr val="62666C"/>
                </a:solidFill>
                <a:latin typeface="Noto Sans KR"/>
                <a:hlinkClick r:id="rId5"/>
              </a:rPr>
              <a:t>소개 jnfarm.jeonnam.go.kr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D53 2024년 6월 여행가는 달 추진</a:t>
            </a:r>
          </a:p>
          <a:p>
            <a:pPr eaLnBrk="0">
              <a:lnSpc>
                <a:spcPts val="1265"/>
              </a:lnSpc>
              <a:spcBef>
                <a:spcPts val="0"/>
              </a:spcBef>
              <a:spcAft>
                <a:spcPts val="0"/>
              </a:spcAft>
            </a:pPr>
            <a:r>
              <a:rPr sz="1012" b="0" u="none">
                <a:solidFill>
                  <a:srgbClr val="62666C"/>
                </a:solidFill>
                <a:latin typeface="Noto Sans KR"/>
                <a:hlinkClick r:id="rId6"/>
              </a:rPr>
              <a:t>보도자료 mcst.go.kr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D54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7"/>
              </a:rPr>
              <a:t>공개자료 kto.visitkorea.or.kr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D55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8"/>
              </a:rPr>
              <a:t>일정 korean.visitkorea.or.kr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D56 2024년도 정부업무평가 관광분야</a:t>
            </a:r>
          </a:p>
          <a:p>
            <a:pPr eaLnBrk="0">
              <a:lnSpc>
                <a:spcPts val="1265"/>
              </a:lnSpc>
              <a:spcBef>
                <a:spcPts val="0"/>
              </a:spcBef>
              <a:spcAft>
                <a:spcPts val="0"/>
              </a:spcAft>
            </a:pPr>
            <a:r>
              <a:rPr sz="1012" b="0" u="none">
                <a:solidFill>
                  <a:srgbClr val="62666C"/>
                </a:solidFill>
                <a:latin typeface="Noto Sans KR"/>
                <a:hlinkClick r:id="rId9"/>
              </a:rPr>
              <a:t>성과자료 www.evaluation.go.kr</a:t>
            </a:r>
          </a:p>
        </p:txBody>
      </p:sp>
      <p:sp>
        <p:nvSpPr>
          <p:cNvPr id="20" name="reference-15"/>
          <p:cNvSpPr txBox="1"/>
          <p:nvPr/>
        </p:nvSpPr>
        <p:spPr>
          <a:xfrm>
            <a:off x="5486400" y="3776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D30 가는곶 세화</a:t>
            </a:r>
          </a:p>
        </p:txBody>
      </p:sp>
      <p:sp>
        <p:nvSpPr>
          <p:cNvPr id="21" name="reference-16"/>
          <p:cNvSpPr txBox="1"/>
          <p:nvPr/>
        </p:nvSpPr>
        <p:spPr>
          <a:xfrm>
            <a:off x="548640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D31 가마오름</a:t>
            </a:r>
          </a:p>
        </p:txBody>
      </p:sp>
      <p:sp>
        <p:nvSpPr>
          <p:cNvPr id="22" name="reference-17"/>
          <p:cNvSpPr txBox="1"/>
          <p:nvPr/>
        </p:nvSpPr>
        <p:spPr>
          <a:xfrm>
            <a:off x="548640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D32 가새기오름</a:t>
            </a:r>
          </a:p>
        </p:txBody>
      </p:sp>
      <p:sp>
        <p:nvSpPr>
          <p:cNvPr id="23" name="reference-18"/>
          <p:cNvSpPr txBox="1"/>
          <p:nvPr/>
        </p:nvSpPr>
        <p:spPr>
          <a:xfrm>
            <a:off x="548640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D33 가시어멍김밥</a:t>
            </a:r>
          </a:p>
        </p:txBody>
      </p:sp>
      <p:sp>
        <p:nvSpPr>
          <p:cNvPr id="24" name="reference-19"/>
          <p:cNvSpPr txBox="1"/>
          <p:nvPr/>
        </p:nvSpPr>
        <p:spPr>
          <a:xfrm>
            <a:off x="548640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D34 갈치공장</a:t>
            </a:r>
          </a:p>
        </p:txBody>
      </p:sp>
      <p:sp>
        <p:nvSpPr>
          <p:cNvPr id="25" name="reference-20"/>
          <p:cNvSpPr txBox="1"/>
          <p:nvPr/>
        </p:nvSpPr>
        <p:spPr>
          <a:xfrm>
            <a:off x="548640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D35 개오리오름</a:t>
            </a:r>
          </a:p>
        </p:txBody>
      </p:sp>
      <p:sp>
        <p:nvSpPr>
          <p:cNvPr id="26" name="reference-21"/>
          <p:cNvSpPr txBox="1"/>
          <p:nvPr/>
        </p:nvSpPr>
        <p:spPr>
          <a:xfrm>
            <a:off x="548640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D36 거슨새미오름</a:t>
            </a:r>
          </a:p>
        </p:txBody>
      </p:sp>
      <p:sp>
        <p:nvSpPr>
          <p:cNvPr id="27" name="reference-22"/>
          <p:cNvSpPr txBox="1"/>
          <p:nvPr/>
        </p:nvSpPr>
        <p:spPr>
          <a:xfrm>
            <a:off x="548640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D37 경성수산</a:t>
            </a:r>
          </a:p>
        </p:txBody>
      </p:sp>
      <p:sp>
        <p:nvSpPr>
          <p:cNvPr id="28" name="reference-23"/>
          <p:cNvSpPr txBox="1"/>
          <p:nvPr/>
        </p:nvSpPr>
        <p:spPr>
          <a:xfrm>
            <a:off x="548640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D38 고내포구</a:t>
            </a:r>
          </a:p>
        </p:txBody>
      </p:sp>
      <p:sp>
        <p:nvSpPr>
          <p:cNvPr id="29" name="reference-24"/>
          <p:cNvSpPr txBox="1"/>
          <p:nvPr/>
        </p:nvSpPr>
        <p:spPr>
          <a:xfrm>
            <a:off x="548640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D39 고사리커피</a:t>
            </a:r>
          </a:p>
        </p:txBody>
      </p:sp>
      <p:sp>
        <p:nvSpPr>
          <p:cNvPr id="30" name="reference-25"/>
          <p:cNvSpPr txBox="1"/>
          <p:nvPr/>
        </p:nvSpPr>
        <p:spPr>
          <a:xfrm>
            <a:off x="5486400" y="6824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D40 고스트타운</a:t>
            </a:r>
          </a:p>
        </p:txBody>
      </p:sp>
      <p:sp>
        <p:nvSpPr>
          <p:cNvPr id="31" name="reference-26"/>
          <p:cNvSpPr txBox="1"/>
          <p:nvPr/>
        </p:nvSpPr>
        <p:spPr>
          <a:xfrm>
            <a:off x="5486400" y="7129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D41 고이정</a:t>
            </a:r>
          </a:p>
        </p:txBody>
      </p:sp>
      <p:sp>
        <p:nvSpPr>
          <p:cNvPr id="32" name="reference-27"/>
          <p:cNvSpPr txBox="1"/>
          <p:nvPr/>
        </p:nvSpPr>
        <p:spPr>
          <a:xfrm>
            <a:off x="5486400" y="7434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D42 고토커피바</a:t>
            </a:r>
          </a:p>
        </p:txBody>
      </p:sp>
      <p:sp>
        <p:nvSpPr>
          <p:cNvPr id="33" name="reference-28"/>
          <p:cNvSpPr txBox="1"/>
          <p:nvPr/>
        </p:nvSpPr>
        <p:spPr>
          <a:xfrm>
            <a:off x="5486400" y="7739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D43 골목식당</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D44 골목카페옥수</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D45 골체오름캠핑</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D46 곰막식당/곰막</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D47 곽지해수욕장</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D48 괴오름</a:t>
            </a:r>
          </a:p>
        </p:txBody>
      </p:sp>
      <p:sp>
        <p:nvSpPr>
          <p:cNvPr id="39" name="reference-34"/>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D49 교래 삼다수마을</a:t>
            </a:r>
          </a:p>
        </p:txBody>
      </p:sp>
      <p:sp>
        <p:nvSpPr>
          <p:cNvPr id="40" name="reference-35"/>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1"/>
              </a:rPr>
              <a:t>사례 실적 중구청 · 2023 정동야행 성공적 개최 (2023.10.15)</a:t>
            </a:r>
          </a:p>
        </p:txBody>
      </p:sp>
      <p:sp>
        <p:nvSpPr>
          <p:cNvPr id="41" name="reference-36"/>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2"/>
              </a:rPr>
              <a:t>사례 실적 중구청 · 2024 정동야행, 봄밤의 낭만 활짝 (2024.05.27)</a:t>
            </a:r>
          </a:p>
        </p:txBody>
      </p:sp>
      <p:sp>
        <p:nvSpPr>
          <p:cNvPr id="42" name="reference-37"/>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사례 실적 서울문화포털 · 2024 정동야행 행사 내용과 사진</a:t>
            </a:r>
          </a:p>
        </p:txBody>
      </p:sp>
      <p:sp>
        <p:nvSpPr>
          <p:cNvPr id="4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p:nvSpPr>
          <p:cNvPr id="45"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14 / 15</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pn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over-category"/>
          <p:cNvSpPr txBox="1"/>
          <p:nvPr/>
        </p:nvSpPr>
        <p:spPr>
          <a:xfrm>
            <a:off x="762000" y="1238250"/>
            <a:ext cx="7429500" cy="4572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FFFFF"/>
                </a:solidFill>
                <a:latin typeface="Noto Sans KR"/>
              </a:rPr>
              <a:t>지역 관광 전략기획안</a:t>
            </a: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7" name="cover-date"/>
          <p:cNvSpPr txBox="1"/>
          <p:nvPr/>
        </p:nvSpPr>
        <p:spPr>
          <a:xfrm>
            <a:off x="762000" y="5810250"/>
            <a:ext cx="7620000"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FFFFFF"/>
                </a:solidFill>
                <a:latin typeface="Noto Sans KR"/>
              </a:rPr>
              <a:t>지역 관광 전략기획안</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제주특별자치도 제주시</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제주시 야간 문화유산 및 시설 개방 프로그램</a:t>
            </a:r>
          </a:p>
        </p:txBody>
      </p:sp>
    </p:spTree>
    <p:extLst>
      <p:ext uri="{BB962C8B-B14F-4D97-AF65-F5344CB8AC3E}">
        <p14:creationId xmlns:p14="http://schemas.microsoft.com/office/powerpoint/2010/main" val="655411831"/>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71462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2.2 목표 KPI 산출근거</a:t>
            </a:r>
          </a:p>
        </p:txBody>
      </p:sp>
      <p:sp>
        <p:nvSpPr>
          <p:cNvPr id="4" name="kpi-intro"/>
          <p:cNvSpPr txBox="1"/>
          <p:nvPr/>
        </p:nvSpPr>
        <p:spPr>
          <a:xfrm>
            <a:off x="1009650" y="2009775"/>
            <a:ext cx="13220700" cy="447675"/>
          </a:xfrm>
          <a:prstGeom prst="rect">
            <a:avLst/>
          </a:prstGeom>
          <a:noFill/>
        </p:spPr>
        <p:txBody>
          <a:bodyPr wrap="none" lIns="57150" rIns="57150" tIns="38100" bIns="38100" anchor="ctr">
            <a:noAutofit/>
          </a:bodyPr>
          <a:lstStyle/>
          <a:p>
            <a:pPr eaLnBrk="0" algn="ctr">
              <a:lnSpc>
                <a:spcPts val="2250"/>
              </a:lnSpc>
              <a:spcBef>
                <a:spcPts val="0"/>
              </a:spcBef>
              <a:spcAft>
                <a:spcPts val="0"/>
              </a:spcAft>
            </a:pPr>
            <a:r>
              <a:rPr sz="18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895600"/>
            <a:ext cx="809625" cy="809625"/>
          </a:xfrm>
          <a:prstGeom prst="rect">
            <a:avLst/>
          </a:prstGeom>
        </p:spPr>
      </p:pic>
      <p:sp>
        <p:nvSpPr>
          <p:cNvPr id="6" name="kpi-reason-title"/>
          <p:cNvSpPr txBox="1"/>
          <p:nvPr/>
        </p:nvSpPr>
        <p:spPr>
          <a:xfrm>
            <a:off x="2247900" y="295275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목표를 정한 이유</a:t>
            </a:r>
          </a:p>
        </p:txBody>
      </p:sp>
      <p:sp>
        <p:nvSpPr>
          <p:cNvPr id="7" name="kpi-reason"/>
          <p:cNvSpPr txBox="1"/>
          <p:nvPr/>
        </p:nvSpPr>
        <p:spPr>
          <a:xfrm>
            <a:off x="1200150" y="3886200"/>
            <a:ext cx="6648450" cy="10763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사례의 운영 방식은 참고하되, 성장률을</a:t>
            </a:r>
          </a:p>
          <a:p>
            <a:pPr eaLnBrk="0">
              <a:lnSpc>
                <a:spcPts val="2437"/>
              </a:lnSpc>
              <a:spcBef>
                <a:spcPts val="0"/>
              </a:spcBef>
              <a:spcAft>
                <a:spcPts val="0"/>
              </a:spcAft>
            </a:pPr>
            <a:r>
              <a:rPr sz="1950" b="0">
                <a:solidFill>
                  <a:srgbClr val="62666C"/>
                </a:solidFill>
                <a:latin typeface="Noto Sans KR"/>
              </a:rPr>
              <a:t>그대로 옮기지 않고 초기 목표 5%를 채택했습니다.</a:t>
            </a:r>
          </a:p>
        </p:txBody>
      </p:sp>
      <p:sp>
        <p:nvSpPr>
          <p:cNvPr id="8" name="kpi-decision-band"/>
          <p:cNvSpPr/>
          <p:nvPr/>
        </p:nvSpPr>
        <p:spPr>
          <a:xfrm>
            <a:off x="1200150" y="523875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45782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F50045"/>
                </a:solidFill>
                <a:latin typeface="Noto Sans KR"/>
              </a:rPr>
              <a:t>조정 가능한 최종월 목표 +5%</a:t>
            </a:r>
          </a:p>
        </p:txBody>
      </p:sp>
      <p:sp>
        <p:nvSpPr>
          <p:cNvPr id="10" name="kpi-step-explanation"/>
          <p:cNvSpPr txBox="1"/>
          <p:nvPr/>
        </p:nvSpPr>
        <p:spPr>
          <a:xfrm>
            <a:off x="1200150" y="6724650"/>
            <a:ext cx="6391275" cy="8001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첫 달부터 마지막 달까지 목표율을</a:t>
            </a:r>
          </a:p>
          <a:p>
            <a:pPr eaLnBrk="0">
              <a:lnSpc>
                <a:spcPts val="2062"/>
              </a:lnSpc>
              <a:spcBef>
                <a:spcPts val="0"/>
              </a:spcBef>
              <a:spcAft>
                <a:spcPts val="0"/>
              </a:spcAft>
            </a:pPr>
            <a:r>
              <a:rPr sz="1650" b="0">
                <a:solidFill>
                  <a:srgbClr val="62666C"/>
                </a:solidFill>
                <a:latin typeface="Noto Sans KR"/>
              </a:rPr>
              <a:t>단계적으로 높여 3개월 추가 목표를 합산합니다.</a:t>
            </a:r>
          </a:p>
        </p:txBody>
      </p:sp>
      <p:cxnSp>
        <p:nvCxnSpPr>
          <p:cNvPr id="11" name="kpi-to-visitors-0"/>
          <p:cNvCxnSpPr/>
          <p:nvPr/>
        </p:nvCxnSpPr>
        <p:spPr>
          <a:xfrm>
            <a:off x="7762875" y="5334000"/>
            <a:ext cx="466725" cy="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895725"/>
            <a:ext cx="0" cy="1438275"/>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895725"/>
            <a:ext cx="466725"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334000"/>
            <a:ext cx="0" cy="104775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381750"/>
            <a:ext cx="466725"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78130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kpi-impact-icon-0" descr="users-red.png"/>
          <p:cNvPicPr>
            <a:picLocks noChangeAspect="1"/>
          </p:cNvPicPr>
          <p:nvPr/>
        </p:nvPicPr>
        <p:blipFill>
          <a:blip r:embed="rId7"/>
          <a:stretch>
            <a:fillRect/>
          </a:stretch>
        </p:blipFill>
        <p:spPr>
          <a:xfrm>
            <a:off x="8943975" y="3009900"/>
            <a:ext cx="523875" cy="523875"/>
          </a:xfrm>
          <a:prstGeom prst="rect">
            <a:avLst/>
          </a:prstGeom>
        </p:spPr>
      </p:pic>
      <p:sp>
        <p:nvSpPr>
          <p:cNvPr id="18" name="kpi-impact-title-0"/>
          <p:cNvSpPr txBox="1"/>
          <p:nvPr/>
        </p:nvSpPr>
        <p:spPr>
          <a:xfrm>
            <a:off x="9629775" y="301942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F50045"/>
                </a:solidFill>
                <a:latin typeface="Noto Sans KR"/>
              </a:rPr>
              <a:t>추가 방문 목표</a:t>
            </a:r>
          </a:p>
        </p:txBody>
      </p:sp>
      <p:sp>
        <p:nvSpPr>
          <p:cNvPr id="19" name="kpi-impact-value-0"/>
          <p:cNvSpPr txBox="1"/>
          <p:nvPr/>
        </p:nvSpPr>
        <p:spPr>
          <a:xfrm>
            <a:off x="8934450" y="368617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F50045"/>
                </a:solidFill>
                <a:latin typeface="Noto Sans KR"/>
              </a:rPr>
              <a:t>↑ 348,601명</a:t>
            </a:r>
          </a:p>
        </p:txBody>
      </p:sp>
      <p:sp>
        <p:nvSpPr>
          <p:cNvPr id="20" name="kpi-impact-period-0"/>
          <p:cNvSpPr txBox="1"/>
          <p:nvPr/>
        </p:nvSpPr>
        <p:spPr>
          <a:xfrm>
            <a:off x="8953500" y="450532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+3.29%</a:t>
            </a:r>
          </a:p>
        </p:txBody>
      </p:sp>
      <p:sp>
        <p:nvSpPr>
          <p:cNvPr id="21" name="kpi-impact-panel-1"/>
          <p:cNvSpPr/>
          <p:nvPr/>
        </p:nvSpPr>
        <p:spPr>
          <a:xfrm>
            <a:off x="8696325" y="526732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kpi-impact-icon-1" descr="coins-red.png"/>
          <p:cNvPicPr>
            <a:picLocks noChangeAspect="1"/>
          </p:cNvPicPr>
          <p:nvPr/>
        </p:nvPicPr>
        <p:blipFill>
          <a:blip r:embed="rId8"/>
          <a:stretch>
            <a:fillRect/>
          </a:stretch>
        </p:blipFill>
        <p:spPr>
          <a:xfrm>
            <a:off x="8943975" y="5495925"/>
            <a:ext cx="523875" cy="523875"/>
          </a:xfrm>
          <a:prstGeom prst="rect">
            <a:avLst/>
          </a:prstGeom>
        </p:spPr>
      </p:pic>
      <p:sp>
        <p:nvSpPr>
          <p:cNvPr id="23" name="kpi-impact-title-1"/>
          <p:cNvSpPr txBox="1"/>
          <p:nvPr/>
        </p:nvSpPr>
        <p:spPr>
          <a:xfrm>
            <a:off x="9629775" y="550545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F50045"/>
                </a:solidFill>
                <a:latin typeface="Noto Sans KR"/>
              </a:rPr>
              <a:t>추가 소비 목표</a:t>
            </a:r>
          </a:p>
        </p:txBody>
      </p:sp>
      <p:sp>
        <p:nvSpPr>
          <p:cNvPr id="24" name="kpi-impact-value-1"/>
          <p:cNvSpPr txBox="1"/>
          <p:nvPr/>
        </p:nvSpPr>
        <p:spPr>
          <a:xfrm>
            <a:off x="8934450" y="617220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F50045"/>
                </a:solidFill>
                <a:latin typeface="Noto Sans KR"/>
              </a:rPr>
              <a:t>↑ 148.12억 원</a:t>
            </a:r>
          </a:p>
        </p:txBody>
      </p:sp>
      <p:sp>
        <p:nvSpPr>
          <p:cNvPr id="25" name="kpi-impact-period-1"/>
          <p:cNvSpPr txBox="1"/>
          <p:nvPr/>
        </p:nvSpPr>
        <p:spPr>
          <a:xfrm>
            <a:off x="8953500" y="699135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+3.33%</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07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86"/>
          <p:cNvSpPr/>
          <p:nvPr/>
        </p:nvSpPr>
        <p:spPr>
          <a:xfrm>
            <a:off x="103441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64"/>
          <p:cNvSpPr/>
          <p:nvPr/>
        </p:nvSpPr>
        <p:spPr>
          <a:xfrm>
            <a:off x="822960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42"/>
          <p:cNvSpPr/>
          <p:nvPr/>
        </p:nvSpPr>
        <p:spPr>
          <a:xfrm>
            <a:off x="61150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5.1 기획서 생성 파이프라인</a:t>
            </a:r>
          </a:p>
        </p:txBody>
      </p:sp>
      <p:sp>
        <p:nvSpPr>
          <p:cNvPr id="4" name="pipeline-intro"/>
          <p:cNvSpPr txBox="1"/>
          <p:nvPr/>
        </p:nvSpPr>
        <p:spPr>
          <a:xfrm>
            <a:off x="1009650" y="2009775"/>
            <a:ext cx="13220700" cy="447675"/>
          </a:xfrm>
          <a:prstGeom prst="rect">
            <a:avLst/>
          </a:prstGeom>
          <a:noFill/>
        </p:spPr>
        <p:txBody>
          <a:bodyPr wrap="none" lIns="57150" rIns="57150" tIns="38100" bIns="38100" anchor="ctr">
            <a:noAutofit/>
          </a:bodyPr>
          <a:lstStyle/>
          <a:p>
            <a:pPr eaLnBrk="0" algn="ctr">
              <a:lnSpc>
                <a:spcPts val="2250"/>
              </a:lnSpc>
              <a:spcBef>
                <a:spcPts val="0"/>
              </a:spcBef>
              <a:spcAft>
                <a:spcPts val="0"/>
              </a:spcAft>
            </a:pPr>
            <a:r>
              <a:rPr sz="18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36A69C"/>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peline-evidence-icon" descr="map-pinned-red.png"/>
          <p:cNvPicPr>
            <a:picLocks noChangeAspect="1"/>
          </p:cNvPicPr>
          <p:nvPr/>
        </p:nvPicPr>
        <p:blipFill>
          <a:blip r:embed="rId11"/>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F50045"/>
                </a:solidFill>
                <a:latin typeface="Noto Sans KR"/>
              </a:rPr>
              <a:t>① 지역</a:t>
            </a:r>
          </a:p>
          <a:p>
            <a:pPr eaLnBrk="0">
              <a:lnSpc>
                <a:spcPts val="2203"/>
              </a:lnSpc>
              <a:spcBef>
                <a:spcPts val="0"/>
              </a:spcBef>
              <a:spcAft>
                <a:spcPts val="0"/>
              </a:spcAft>
            </a:pPr>
            <a:r>
              <a:rPr sz="1762" b="1">
                <a:solidFill>
                  <a:srgbClr val="F50045"/>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57" name="pipeline-case-icon" descr="search-check-red.png"/>
          <p:cNvPicPr>
            <a:picLocks noChangeAspect="1"/>
          </p:cNvPicPr>
          <p:nvPr/>
        </p:nvPicPr>
        <p:blipFill>
          <a:blip r:embed="rId12"/>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F50045"/>
                </a:solidFill>
                <a:latin typeface="Noto Sans KR"/>
              </a:rPr>
              <a:t>② 타지역</a:t>
            </a:r>
          </a:p>
          <a:p>
            <a:pPr eaLnBrk="0">
              <a:lnSpc>
                <a:spcPts val="2203"/>
              </a:lnSpc>
              <a:spcBef>
                <a:spcPts val="0"/>
              </a:spcBef>
              <a:spcAft>
                <a:spcPts val="0"/>
              </a:spcAft>
            </a:pPr>
            <a:r>
              <a:rPr sz="1762" b="1">
                <a:solidFill>
                  <a:srgbClr val="F50045"/>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pic>
        <p:nvPicPr>
          <p:cNvPr id="58" name="pipeline-click-icon" descr="mouse-pointer-click-red.png"/>
          <p:cNvPicPr>
            <a:picLocks noChangeAspect="1"/>
          </p:cNvPicPr>
          <p:nvPr/>
        </p:nvPicPr>
        <p:blipFill>
          <a:blip r:embed="rId13"/>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F50045"/>
                </a:solidFill>
                <a:latin typeface="Noto Sans KR"/>
              </a:rPr>
              <a:t>기획서 생성</a:t>
            </a:r>
          </a:p>
          <a:p>
            <a:pPr eaLnBrk="0" algn="ctr">
              <a:lnSpc>
                <a:spcPts val="2531"/>
              </a:lnSpc>
              <a:spcBef>
                <a:spcPts val="0"/>
              </a:spcBef>
              <a:spcAft>
                <a:spcPts val="0"/>
              </a:spcAft>
            </a:pPr>
            <a:r>
              <a:rPr sz="2025" b="1">
                <a:solidFill>
                  <a:srgbClr val="F50045"/>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F50045"/>
                </a:solidFill>
                <a:latin typeface="Noto Sans KR"/>
              </a:rPr>
              <a:t>Qwen</a:t>
            </a:r>
          </a:p>
        </p:txBody>
      </p:sp>
      <p:pic>
        <p:nvPicPr>
          <p:cNvPr id="59" name="pipeline-icon-652" descr="git-compare-arrows-red.png"/>
          <p:cNvPicPr>
            <a:picLocks noChangeAspect="1"/>
          </p:cNvPicPr>
          <p:nvPr/>
        </p:nvPicPr>
        <p:blipFill>
          <a:blip r:embed="rId14"/>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F50045"/>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F50045"/>
                </a:solidFill>
                <a:latin typeface="Noto Sans KR"/>
              </a:rPr>
              <a:t>Gemma</a:t>
            </a:r>
          </a:p>
        </p:txBody>
      </p:sp>
      <p:pic>
        <p:nvPicPr>
          <p:cNvPr id="60" name="pipeline-icon-874" descr="notebook-pen-red.png"/>
          <p:cNvPicPr>
            <a:picLocks noChangeAspect="1"/>
          </p:cNvPicPr>
          <p:nvPr/>
        </p:nvPicPr>
        <p:blipFill>
          <a:blip r:embed="rId15"/>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F50045"/>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F50045"/>
                </a:solidFill>
                <a:latin typeface="Noto Sans KR"/>
              </a:rPr>
              <a:t>Qwen</a:t>
            </a:r>
          </a:p>
        </p:txBody>
      </p:sp>
      <p:pic>
        <p:nvPicPr>
          <p:cNvPr id="61" name="pipeline-icon-1096" descr="shield-check-red.png"/>
          <p:cNvPicPr>
            <a:picLocks noChangeAspect="1"/>
          </p:cNvPicPr>
          <p:nvPr/>
        </p:nvPicPr>
        <p:blipFill>
          <a:blip r:embed="rId16"/>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F50045"/>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62" name="pipeline-output-icon" descr="files-red.png"/>
          <p:cNvPicPr>
            <a:picLocks noChangeAspect="1"/>
          </p:cNvPicPr>
          <p:nvPr/>
        </p:nvPicPr>
        <p:blipFill>
          <a:blip r:embed="rId17"/>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F50045"/>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peline-data-icon" descr="database-red.png"/>
          <p:cNvPicPr>
            <a:picLocks noChangeAspect="1"/>
          </p:cNvPicPr>
          <p:nvPr/>
        </p:nvPicPr>
        <p:blipFill>
          <a:blip r:embed="rId18"/>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F50045"/>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36A69C"/>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12 / 15</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